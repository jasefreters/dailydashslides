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2">
  <p:sldMasterIdLst>
    <p:sldMasterId id="2147483660" r:id="rId4"/>
    <p:sldMasterId id="2147483755" r:id="rId5"/>
  </p:sldMasterIdLst>
  <p:notesMasterIdLst>
    <p:notesMasterId r:id="rId74"/>
  </p:notesMasterIdLst>
  <p:handoutMasterIdLst>
    <p:handoutMasterId r:id="rId75"/>
  </p:handoutMasterIdLst>
  <p:sldIdLst>
    <p:sldId id="26511" r:id="rId6"/>
    <p:sldId id="26505" r:id="rId7"/>
    <p:sldId id="26359" r:id="rId8"/>
    <p:sldId id="271" r:id="rId9"/>
    <p:sldId id="26510" r:id="rId10"/>
    <p:sldId id="26508" r:id="rId11"/>
    <p:sldId id="26528" r:id="rId12"/>
    <p:sldId id="26525" r:id="rId13"/>
    <p:sldId id="26519" r:id="rId14"/>
    <p:sldId id="26575" r:id="rId15"/>
    <p:sldId id="26512" r:id="rId16"/>
    <p:sldId id="26509" r:id="rId17"/>
    <p:sldId id="26523" r:id="rId18"/>
    <p:sldId id="26529" r:id="rId19"/>
    <p:sldId id="26530" r:id="rId20"/>
    <p:sldId id="26531" r:id="rId21"/>
    <p:sldId id="26576" r:id="rId22"/>
    <p:sldId id="26513" r:id="rId23"/>
    <p:sldId id="26581" r:id="rId24"/>
    <p:sldId id="26535" r:id="rId25"/>
    <p:sldId id="26524" r:id="rId26"/>
    <p:sldId id="26542" r:id="rId27"/>
    <p:sldId id="26536" r:id="rId28"/>
    <p:sldId id="26577" r:id="rId29"/>
    <p:sldId id="26514" r:id="rId30"/>
    <p:sldId id="26539" r:id="rId31"/>
    <p:sldId id="26540" r:id="rId32"/>
    <p:sldId id="26582" r:id="rId33"/>
    <p:sldId id="26583" r:id="rId34"/>
    <p:sldId id="26543" r:id="rId35"/>
    <p:sldId id="26578" r:id="rId36"/>
    <p:sldId id="26515" r:id="rId37"/>
    <p:sldId id="26507" r:id="rId38"/>
    <p:sldId id="26546" r:id="rId39"/>
    <p:sldId id="26547" r:id="rId40"/>
    <p:sldId id="26555" r:id="rId41"/>
    <p:sldId id="26549" r:id="rId42"/>
    <p:sldId id="26532" r:id="rId43"/>
    <p:sldId id="26516" r:id="rId44"/>
    <p:sldId id="26550" r:id="rId45"/>
    <p:sldId id="26553" r:id="rId46"/>
    <p:sldId id="26554" r:id="rId47"/>
    <p:sldId id="26548" r:id="rId48"/>
    <p:sldId id="26556" r:id="rId49"/>
    <p:sldId id="26533" r:id="rId50"/>
    <p:sldId id="26517" r:id="rId51"/>
    <p:sldId id="26574" r:id="rId52"/>
    <p:sldId id="26560" r:id="rId53"/>
    <p:sldId id="26567" r:id="rId54"/>
    <p:sldId id="26562" r:id="rId55"/>
    <p:sldId id="26563" r:id="rId56"/>
    <p:sldId id="26579" r:id="rId57"/>
    <p:sldId id="26518" r:id="rId58"/>
    <p:sldId id="26564" r:id="rId59"/>
    <p:sldId id="26584" r:id="rId60"/>
    <p:sldId id="26565" r:id="rId61"/>
    <p:sldId id="26561" r:id="rId62"/>
    <p:sldId id="26568" r:id="rId63"/>
    <p:sldId id="26580" r:id="rId64"/>
    <p:sldId id="26393" r:id="rId65"/>
    <p:sldId id="26387" r:id="rId66"/>
    <p:sldId id="26395" r:id="rId67"/>
    <p:sldId id="26391" r:id="rId68"/>
    <p:sldId id="26402" r:id="rId69"/>
    <p:sldId id="26527" r:id="rId70"/>
    <p:sldId id="26545" r:id="rId71"/>
    <p:sldId id="26569" r:id="rId72"/>
    <p:sldId id="361" r:id="rId73"/>
  </p:sldIdLst>
  <p:sldSz cx="12192000" cy="6858000"/>
  <p:notesSz cx="6858000" cy="9144000"/>
  <p:embeddedFontLst>
    <p:embeddedFont>
      <p:font typeface="Cambria Math" panose="02040503050406030204" pitchFamily="18" charset="0"/>
      <p:regular r:id="rId76"/>
    </p:embeddedFont>
    <p:embeddedFont>
      <p:font typeface="Edu NSW ACT Foundation" panose="020B0604020202020204" charset="0"/>
      <p:regular r:id="rId77"/>
      <p:bold r:id="rId78"/>
    </p:embeddedFont>
    <p:embeddedFont>
      <p:font typeface="Edu NSW ACT Foundation Medium" panose="020B0604020202020204" charset="0"/>
      <p:regular r:id="rId79"/>
    </p:embeddedFont>
    <p:embeddedFont>
      <p:font typeface="Montserrat" panose="00000500000000000000" pitchFamily="2" charset="0"/>
      <p:regular r:id="rId80"/>
      <p:bold r:id="rId81"/>
      <p:italic r:id="rId82"/>
      <p:boldItalic r:id="rId83"/>
    </p:embeddedFont>
    <p:embeddedFont>
      <p:font typeface="Public Sans" pitchFamily="2" charset="0"/>
      <p:regular r:id="rId84"/>
      <p:bold r:id="rId85"/>
      <p:italic r:id="rId86"/>
      <p:boldItalic r:id="rId87"/>
    </p:embeddedFont>
    <p:embeddedFont>
      <p:font typeface="Public Sans Light" pitchFamily="2" charset="0"/>
      <p:regular r:id="rId88"/>
      <p:italic r:id="rId89"/>
    </p:embeddedFont>
    <p:embeddedFont>
      <p:font typeface="Segoe UI" panose="020B0502040204020203" pitchFamily="34" charset="0"/>
      <p:regular r:id="rId90"/>
      <p:bold r:id="rId91"/>
      <p:italic r:id="rId92"/>
      <p:boldItalic r:id="rId93"/>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8"/>
            <p14:sldId id="26525"/>
            <p14:sldId id="26519"/>
            <p14:sldId id="26575"/>
            <p14:sldId id="26512"/>
            <p14:sldId id="26509"/>
            <p14:sldId id="26523"/>
            <p14:sldId id="26529"/>
            <p14:sldId id="26530"/>
            <p14:sldId id="26531"/>
            <p14:sldId id="26576"/>
            <p14:sldId id="26513"/>
            <p14:sldId id="26581"/>
            <p14:sldId id="26535"/>
            <p14:sldId id="26524"/>
            <p14:sldId id="26542"/>
            <p14:sldId id="26536"/>
            <p14:sldId id="26577"/>
            <p14:sldId id="26514"/>
            <p14:sldId id="26539"/>
            <p14:sldId id="26540"/>
            <p14:sldId id="26582"/>
            <p14:sldId id="26583"/>
            <p14:sldId id="26543"/>
            <p14:sldId id="26578"/>
            <p14:sldId id="26515"/>
            <p14:sldId id="26507"/>
            <p14:sldId id="26546"/>
            <p14:sldId id="26547"/>
            <p14:sldId id="26555"/>
            <p14:sldId id="26549"/>
            <p14:sldId id="26532"/>
            <p14:sldId id="26516"/>
            <p14:sldId id="26550"/>
            <p14:sldId id="26553"/>
            <p14:sldId id="26554"/>
            <p14:sldId id="26548"/>
            <p14:sldId id="26556"/>
            <p14:sldId id="26533"/>
            <p14:sldId id="26517"/>
            <p14:sldId id="26574"/>
            <p14:sldId id="26560"/>
            <p14:sldId id="26567"/>
            <p14:sldId id="26562"/>
            <p14:sldId id="26563"/>
            <p14:sldId id="26579"/>
            <p14:sldId id="26518"/>
            <p14:sldId id="26564"/>
            <p14:sldId id="26584"/>
            <p14:sldId id="26565"/>
            <p14:sldId id="26561"/>
            <p14:sldId id="26568"/>
            <p14:sldId id="26580"/>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26569"/>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 userId="S::Natalie.Hawkins7@det.nsw.edu.au::91d64da8-8826-47c8-b06a-208beda74d22" providerId="AD"/>
  <p188:author id="{76652228-BA2A-8E0F-B69D-752F252CA8C9}" name="Carolyn Matthews" initials="CM" userId="S::Carolyn.Matthews2@det.nsw.edu.au::7f53049a-bf0f-477a-aa49-60e3a8d71d98" providerId="AD"/>
  <p188:author id="{4021882F-C6B3-C55E-767D-27181BD16F2B}" name="Melinda Ojeda" initials="MO" userId="S::Melinda.Ojeda@det.nsw.edu.au::d90aca96-824c-4874-b48e-bcce1db91155"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0EB36D6E-3AE9-3B2C-28D2-8291BFBA4A39}" name="Christie Williams" initials="CW" userId="S::christie.williams2@det.nsw.edu.au::881f3a5c-b614-46db-a2f1-8ad4840e9c37" providerId="AD"/>
  <p188:author id="{95D16B7D-CADB-F2BF-AC29-D680545C75EE}" name="Carrie Webeck" initials="CW" userId="S::CARRIE-ANN.WEBECK@det.nsw.edu.au::e5c4b697-ca15-4f3a-a906-1289ddc2fc07" providerId="AD"/>
  <p188:author id="{3FDA68B6-B52B-FE76-39D1-E268A1C28951}" name="Phil HOLLINS (Phil Hollins)" initials="PH" userId="S::philip.hollins@det.nsw.edu.au::2b9063ba-35fe-4c7f-aa4d-5bf1098ac266"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7A8A"/>
    <a:srgbClr val="146CFD"/>
    <a:srgbClr val="FFFFFF"/>
    <a:srgbClr val="002664"/>
    <a:srgbClr val="EA9B0C"/>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69542" autoAdjust="0"/>
  </p:normalViewPr>
  <p:slideViewPr>
    <p:cSldViewPr snapToGrid="0">
      <p:cViewPr varScale="1">
        <p:scale>
          <a:sx n="68" d="100"/>
          <a:sy n="68" d="100"/>
        </p:scale>
        <p:origin x="1248" y="48"/>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Master" Target="slideMasters/slideMaster2.xml"/><Relationship Id="rId90" Type="http://schemas.openxmlformats.org/officeDocument/2006/relationships/font" Target="fonts/font15.fntdata"/><Relationship Id="rId95" Type="http://schemas.openxmlformats.org/officeDocument/2006/relationships/viewProps" Target="viewProp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1.fntdata"/><Relationship Id="rId97"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font" Target="fonts/font17.fnt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font" Target="fonts/font12.fntdata"/><Relationship Id="rId61" Type="http://schemas.openxmlformats.org/officeDocument/2006/relationships/slide" Target="slides/slide56.xml"/><Relationship Id="rId82" Type="http://schemas.openxmlformats.org/officeDocument/2006/relationships/font" Target="fonts/font7.fntdata"/><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font" Target="fonts/font2.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font" Target="fonts/font18.fntdata"/><Relationship Id="rId98"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3/09/2025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3/09/2025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dirty="0">
              <a:solidFill>
                <a:srgbClr val="444444"/>
              </a:solidFill>
              <a:latin typeface="Arial"/>
              <a:cs typeface="Arial"/>
            </a:endParaRPr>
          </a:p>
          <a:p>
            <a:endParaRPr lang="en-AU" dirty="0">
              <a:solidFill>
                <a:srgbClr val="000000"/>
              </a:solidFill>
            </a:endParaRPr>
          </a:p>
          <a:p>
            <a:r>
              <a:rPr lang="en-AU" dirty="0">
                <a:solidFill>
                  <a:srgbClr val="000000"/>
                </a:solidFill>
                <a:latin typeface="Arial"/>
                <a:cs typeface="Arial"/>
              </a:rPr>
              <a:t>This Review of Learning slide deck revisits key concepts from the following units:</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38</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37</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36</a:t>
            </a:r>
            <a:endParaRPr lang="en-US" dirty="0">
              <a:solidFill>
                <a:srgbClr val="444444"/>
              </a:solidFill>
              <a:latin typeface="Arial"/>
              <a:cs typeface="Arial"/>
            </a:endParaRPr>
          </a:p>
          <a:p>
            <a:r>
              <a:rPr lang="en-AU" dirty="0">
                <a:solidFill>
                  <a:srgbClr val="000000"/>
                </a:solidFill>
                <a:latin typeface="Arial"/>
                <a:cs typeface="Arial"/>
              </a:rPr>
              <a:t>It also includes opportunities to review prior learning in non-number content, supporting consolidation across focus areas.</a:t>
            </a:r>
            <a:endParaRPr lang="en-US" dirty="0">
              <a:solidFill>
                <a:srgbClr val="444444"/>
              </a:solidFill>
              <a:latin typeface="Arial"/>
              <a:cs typeface="Arial"/>
            </a:endParaRPr>
          </a:p>
          <a:p>
            <a:endParaRPr lang="en-AU" dirty="0">
              <a:solidFill>
                <a:srgbClr val="444444"/>
              </a:solidFill>
            </a:endParaRPr>
          </a:p>
          <a:p>
            <a:r>
              <a:rPr lang="en-AU" dirty="0">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dirty="0">
              <a:solidFill>
                <a:srgbClr val="444444"/>
              </a:solidFill>
              <a:latin typeface="Arial"/>
              <a:cs typeface="Arial"/>
            </a:endParaRPr>
          </a:p>
          <a:p>
            <a:endParaRPr lang="en-AU" dirty="0">
              <a:solidFill>
                <a:srgbClr val="444444"/>
              </a:solidFill>
            </a:endParaRPr>
          </a:p>
          <a:p>
            <a:pPr>
              <a:defRPr/>
            </a:pPr>
            <a:r>
              <a:rPr lang="en-AU" dirty="0">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latin typeface="Arial"/>
                <a:cs typeface="Arial"/>
              </a:rPr>
              <a:t>Multiple-choice questions/True or false:</a:t>
            </a:r>
            <a:r>
              <a:rPr lang="en-AU" dirty="0">
                <a:latin typeface="Arial"/>
                <a:cs typeface="Arial"/>
              </a:rPr>
              <a:t> Designed to promote active retrieval of key concepts and identify common misconceptions in number, supporting consolidation, understanding and fluency.</a:t>
            </a:r>
            <a:br>
              <a:rPr lang="en-AU" dirty="0">
                <a:latin typeface="Arial"/>
                <a:cs typeface="Arial"/>
              </a:rPr>
            </a:br>
            <a:r>
              <a:rPr lang="en-AU" sz="1600" b="0" i="0" dirty="0">
                <a:solidFill>
                  <a:schemeClr val="tx1"/>
                </a:solidFill>
                <a:latin typeface="Arial"/>
                <a:cs typeface="Arial"/>
              </a:rPr>
              <a:t>These questions: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dirty="0">
                <a:solidFill>
                  <a:schemeClr val="tx1"/>
                </a:solidFill>
                <a:latin typeface="Arial"/>
                <a:cs typeface="Arial"/>
              </a:rPr>
              <a:t>support spaced and interleaved practice</a:t>
            </a:r>
          </a:p>
          <a:p>
            <a:pPr marL="285750" indent="-285750" algn="l">
              <a:buFont typeface="Wingdings"/>
              <a:buChar char="ü"/>
            </a:pPr>
            <a:r>
              <a:rPr lang="en-AU" sz="1600" b="0" i="0" dirty="0">
                <a:solidFill>
                  <a:schemeClr val="tx1"/>
                </a:solidFill>
                <a:latin typeface="Arial"/>
                <a:cs typeface="Arial"/>
              </a:rPr>
              <a:t>help identify and address common misconceptions </a:t>
            </a:r>
          </a:p>
          <a:p>
            <a:pPr marL="285750" indent="-285750" algn="l">
              <a:buFont typeface="Wingdings"/>
              <a:buChar char="ü"/>
            </a:pPr>
            <a:r>
              <a:rPr lang="en-AU" sz="1600" b="0" i="0" dirty="0">
                <a:solidFill>
                  <a:schemeClr val="tx1"/>
                </a:solidFill>
                <a:latin typeface="Arial"/>
                <a:cs typeface="Arial"/>
              </a:rPr>
              <a:t>support active recall and immediate feedback</a:t>
            </a:r>
          </a:p>
          <a:p>
            <a:pPr marL="285750" indent="-285750" algn="l">
              <a:buFont typeface="Wingdings"/>
              <a:buChar char="ü"/>
            </a:pPr>
            <a:r>
              <a:rPr lang="en-AU" sz="1600" b="0" i="0" dirty="0">
                <a:solidFill>
                  <a:schemeClr val="tx1"/>
                </a:solidFill>
                <a:latin typeface="Arial"/>
                <a:cs typeface="Arial"/>
              </a:rPr>
              <a:t>support whole class participation</a:t>
            </a:r>
          </a:p>
          <a:p>
            <a:pPr marL="285750" indent="-285750">
              <a:buFont typeface="Wingdings"/>
              <a:buChar char="ü"/>
            </a:pPr>
            <a:r>
              <a:rPr lang="en-AU" sz="1600" b="0" i="0" dirty="0">
                <a:solidFill>
                  <a:schemeClr val="tx1"/>
                </a:solidFill>
                <a:latin typeface="Arial"/>
                <a:cs typeface="Arial"/>
              </a:rPr>
              <a:t>identify areas requiring reteach</a:t>
            </a:r>
            <a:endParaRPr lang="en-US" dirty="0">
              <a:solidFill>
                <a:srgbClr val="444444"/>
              </a:solidFill>
              <a:latin typeface="Arial"/>
              <a:cs typeface="Arial"/>
            </a:endParaRPr>
          </a:p>
          <a:p>
            <a:endParaRPr lang="en-AU" dirty="0">
              <a:latin typeface="Arial"/>
              <a:cs typeface="Arial"/>
            </a:endParaRPr>
          </a:p>
          <a:p>
            <a:pPr algn="l"/>
            <a:r>
              <a:rPr lang="en-AU" dirty="0">
                <a:latin typeface="Arial"/>
                <a:cs typeface="Arial"/>
              </a:rPr>
              <a:t>2.</a:t>
            </a:r>
            <a:br>
              <a:rPr lang="en-AU" dirty="0">
                <a:latin typeface="Arial"/>
                <a:cs typeface="Arial"/>
              </a:rPr>
            </a:br>
            <a:r>
              <a:rPr lang="en-AU" b="1" dirty="0">
                <a:latin typeface="Arial"/>
                <a:cs typeface="Arial"/>
              </a:rPr>
              <a:t>Short-response question sets:</a:t>
            </a:r>
            <a:r>
              <a:rPr lang="en-AU" dirty="0">
                <a:latin typeface="Arial"/>
                <a:cs typeface="Arial"/>
              </a:rPr>
              <a:t> Carefully grouped questions that encourage spaced and interleaved practice across multiple focus areas, helping students revisit and apply knowledge from different points in time.</a:t>
            </a:r>
            <a:br>
              <a:rPr lang="en-AU" dirty="0">
                <a:latin typeface="Arial"/>
                <a:cs typeface="Arial"/>
              </a:rPr>
            </a:br>
            <a:r>
              <a:rPr lang="en-AU" sz="1600" b="0" i="0" dirty="0">
                <a:solidFill>
                  <a:schemeClr val="tx1"/>
                </a:solidFill>
                <a:latin typeface="Arial"/>
                <a:cs typeface="Arial"/>
              </a:rPr>
              <a:t>These questions:</a:t>
            </a:r>
            <a:endParaRPr lang="en-US" sz="1600" b="0" i="0" dirty="0">
              <a:solidFill>
                <a:srgbClr val="444444"/>
              </a:solidFill>
              <a:latin typeface="Arial"/>
              <a:cs typeface="Arial"/>
            </a:endParaRPr>
          </a:p>
          <a:p>
            <a:pPr marL="0" indent="0" algn="l">
              <a:buFont typeface="Wingdings" panose="05000000000000000000" pitchFamily="2" charset="2"/>
              <a:buNone/>
            </a:pPr>
            <a:endParaRPr lang="en-AU" sz="1600" i="0" dirty="0"/>
          </a:p>
          <a:p>
            <a:pPr marL="285750" indent="-285750" algn="l">
              <a:buFont typeface="Wingdings"/>
              <a:buChar char="ü"/>
            </a:pPr>
            <a:r>
              <a:rPr lang="en-AU" sz="1600" i="0" dirty="0">
                <a:latin typeface="Arial"/>
                <a:cs typeface="Arial"/>
              </a:rPr>
              <a:t>have a combination of question types </a:t>
            </a:r>
          </a:p>
          <a:p>
            <a:pPr marL="285750" indent="-285750" algn="l">
              <a:buFont typeface="Wingdings"/>
              <a:buChar char="ü"/>
            </a:pPr>
            <a:r>
              <a:rPr lang="en-AU" sz="1600" i="0" dirty="0">
                <a:latin typeface="Arial"/>
                <a:cs typeface="Arial"/>
              </a:rPr>
              <a:t>address a range of focus areas</a:t>
            </a:r>
          </a:p>
          <a:p>
            <a:pPr marL="285750" indent="-285750">
              <a:buFont typeface="Wingdings"/>
              <a:buChar char="ü"/>
            </a:pPr>
            <a:r>
              <a:rPr lang="en-AU" sz="1600" i="0" dirty="0">
                <a:latin typeface="Arial"/>
                <a:cs typeface="Arial"/>
              </a:rPr>
              <a:t>build automaticity and fluency</a:t>
            </a:r>
          </a:p>
          <a:p>
            <a:pPr marL="285750" indent="-285750">
              <a:buFont typeface="Wingdings"/>
              <a:buChar char="ü"/>
            </a:pPr>
            <a:r>
              <a:rPr lang="en-AU" sz="1600" i="0" dirty="0">
                <a:latin typeface="Arial"/>
                <a:cs typeface="Arial"/>
              </a:rPr>
              <a:t>support active recall </a:t>
            </a:r>
          </a:p>
          <a:p>
            <a:pPr marL="285750" indent="-285750">
              <a:buFont typeface="Wingdings"/>
              <a:buChar char="ü"/>
            </a:pPr>
            <a:r>
              <a:rPr lang="en-AU" sz="1600" i="0" dirty="0">
                <a:latin typeface="Arial"/>
                <a:cs typeface="Arial"/>
              </a:rPr>
              <a:t>allow for immediate feedback</a:t>
            </a:r>
          </a:p>
          <a:p>
            <a:pPr marL="285750" indent="-285750" algn="l">
              <a:buFont typeface="Wingdings"/>
              <a:buChar char="ü"/>
            </a:pPr>
            <a:r>
              <a:rPr lang="en-AU" sz="1600" i="0" dirty="0">
                <a:latin typeface="Arial"/>
                <a:cs typeface="Arial"/>
              </a:rPr>
              <a:t>identify content requiring reteach</a:t>
            </a:r>
            <a:endParaRPr lang="en-AU" dirty="0">
              <a:latin typeface="Arial"/>
              <a:cs typeface="Arial"/>
            </a:endParaRPr>
          </a:p>
          <a:p>
            <a:pPr marL="285750" indent="-285750">
              <a:buFont typeface="Wingdings"/>
              <a:buChar char="ü"/>
            </a:pPr>
            <a:endParaRPr lang="en-AU" dirty="0">
              <a:latin typeface="Arial"/>
              <a:cs typeface="Arial"/>
            </a:endParaRPr>
          </a:p>
          <a:p>
            <a:r>
              <a:rPr lang="en-AU" dirty="0">
                <a:latin typeface="Arial"/>
                <a:cs typeface="Arial"/>
              </a:rPr>
              <a:t>3.</a:t>
            </a:r>
          </a:p>
          <a:p>
            <a:r>
              <a:rPr lang="en-AU" b="1" dirty="0">
                <a:latin typeface="Arial"/>
                <a:cs typeface="Arial"/>
              </a:rPr>
              <a:t>Developing number sense activities</a:t>
            </a:r>
            <a:r>
              <a:rPr lang="en-AU" dirty="0">
                <a:latin typeface="Arial"/>
                <a:cs typeface="Arial"/>
              </a:rPr>
              <a:t>: A variety of practical, purposeful tasks that reinforce current learning and build on prior knowledge. These activities promote reasoning, problem-solving and conceptual understanding.</a:t>
            </a:r>
            <a:br>
              <a:rPr lang="en-AU" dirty="0">
                <a:latin typeface="Arial"/>
                <a:cs typeface="Arial"/>
              </a:rPr>
            </a:br>
            <a:br>
              <a:rPr lang="en-AU" dirty="0">
                <a:latin typeface="Arial"/>
                <a:cs typeface="Arial"/>
              </a:rPr>
            </a:br>
            <a:endParaRPr lang="en-US" dirty="0">
              <a:solidFill>
                <a:srgbClr val="444444"/>
              </a:solidFill>
              <a:latin typeface="Arial"/>
              <a:cs typeface="Arial"/>
            </a:endParaRPr>
          </a:p>
          <a:p>
            <a:r>
              <a:rPr lang="en-AU" dirty="0">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dirty="0">
                <a:latin typeface="Arial"/>
                <a:cs typeface="Arial"/>
              </a:rPr>
            </a:br>
            <a:br>
              <a:rPr lang="en-AU" dirty="0"/>
            </a:br>
            <a:endParaRPr lang="en-AU" dirty="0">
              <a:highlight>
                <a:srgbClr val="FFFF00"/>
              </a:highlight>
            </a:endParaRP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Multiplicative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Geometric measure B: Angles</a:t>
            </a: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600" dirty="0">
                <a:latin typeface="Arial"/>
                <a:cs typeface="Arial"/>
              </a:rPr>
              <a:t>This is a developing number sense activity. </a:t>
            </a:r>
            <a:endParaRPr lang="en-US" sz="1600" dirty="0">
              <a:solidFill>
                <a:srgbClr val="444444"/>
              </a:solidFill>
              <a:latin typeface="Arial"/>
              <a:cs typeface="Arial"/>
            </a:endParaRPr>
          </a:p>
          <a:p>
            <a:pPr>
              <a:lnSpc>
                <a:spcPct val="150000"/>
              </a:lnSpc>
              <a:spcBef>
                <a:spcPts val="1200"/>
              </a:spcBef>
              <a:spcAft>
                <a:spcPts val="600"/>
              </a:spcAft>
            </a:pPr>
            <a:endParaRPr lang="en-AU" sz="1600" dirty="0">
              <a:solidFill>
                <a:srgbClr val="444444"/>
              </a:solidFill>
            </a:endParaRPr>
          </a:p>
          <a:p>
            <a:pPr>
              <a:lnSpc>
                <a:spcPct val="150000"/>
              </a:lnSpc>
              <a:spcBef>
                <a:spcPts val="1200"/>
              </a:spcBef>
              <a:spcAft>
                <a:spcPts val="600"/>
              </a:spcAft>
            </a:pPr>
            <a:r>
              <a:rPr lang="en-AU" sz="16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600" dirty="0">
              <a:solidFill>
                <a:srgbClr val="444444"/>
              </a:solidFill>
              <a:latin typeface="Arial"/>
              <a:cs typeface="Arial"/>
            </a:endParaRPr>
          </a:p>
          <a:p>
            <a:endParaRPr lang="en-AU" dirty="0">
              <a:latin typeface="Public San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dirty="0">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600" dirty="0">
                <a:solidFill>
                  <a:srgbClr val="444444"/>
                </a:solidFill>
                <a:latin typeface="Arial"/>
                <a:cs typeface="Arial"/>
              </a:rPr>
              <a:t>Additive relations B</a:t>
            </a:r>
          </a:p>
          <a:p>
            <a:endParaRPr lang="en-AU" dirty="0">
              <a:latin typeface="Public Sans"/>
            </a:endParaRPr>
          </a:p>
          <a:p>
            <a:r>
              <a:rPr lang="en-AU" sz="1600" dirty="0"/>
              <a:t>This resource corresponds to </a:t>
            </a:r>
            <a:r>
              <a:rPr lang="en-AU" sz="1600" b="1" dirty="0"/>
              <a:t>Activity 1 – estimating using money</a:t>
            </a:r>
            <a:r>
              <a:rPr lang="en-AU" sz="1600" dirty="0"/>
              <a:t> in Stage 2 Year B Unit 38</a:t>
            </a:r>
          </a:p>
          <a:p>
            <a:endParaRPr lang="en-AU" dirty="0">
              <a:latin typeface="Public Sans"/>
            </a:endParaRP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Pose the problem: You have $9 to spend at the canteen. A drink costs $2.60, a packet of popcorn costs $1.40, a sausage roll costs $4.55 and tomato sauce costs 50 cents. What items do you estimate that you could buy?</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Remind students to use rounding to estimate the cost of the items.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Students turn and talk to share their thinking.</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How did you estimate which items you could buy?</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Do you think $9 would be enough money to buy all the items listed? If not, what item would you choose not to purchase from the list given? Why?</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Can you estimate how much money you would need to purchase all the items listed?</a:t>
            </a:r>
          </a:p>
          <a:p>
            <a:pPr marL="342900" lvl="0" indent="-342900">
              <a:lnSpc>
                <a:spcPct val="150000"/>
              </a:lnSpc>
              <a:spcBef>
                <a:spcPts val="1200"/>
              </a:spcBef>
              <a:spcAft>
                <a:spcPts val="600"/>
              </a:spcAft>
              <a:buFont typeface="+mj-lt"/>
              <a:buAutoNum type="arabicPeriod" startAt="5"/>
            </a:pPr>
            <a:r>
              <a:rPr lang="en-AU" sz="1600" dirty="0">
                <a:effectLst/>
                <a:latin typeface="Arial" panose="020B0604020202020204" pitchFamily="34" charset="0"/>
                <a:ea typeface="Calibri" panose="020F0502020204030204" pitchFamily="34" charset="0"/>
              </a:rPr>
              <a:t>Provide students with individual whiteboards to check the validity of their calculations.</a:t>
            </a:r>
          </a:p>
          <a:p>
            <a:pPr marL="342900" lvl="0" indent="-342900">
              <a:lnSpc>
                <a:spcPct val="150000"/>
              </a:lnSpc>
              <a:spcBef>
                <a:spcPts val="1200"/>
              </a:spcBef>
              <a:spcAft>
                <a:spcPts val="600"/>
              </a:spcAft>
              <a:buFont typeface="+mj-lt"/>
              <a:buAutoNum type="arabicPeriod" startAt="5"/>
            </a:pPr>
            <a:r>
              <a:rPr lang="en-AU" sz="1600" dirty="0">
                <a:effectLst/>
                <a:latin typeface="Arial" panose="020B0604020202020204" pitchFamily="34" charset="0"/>
                <a:ea typeface="Calibri" panose="020F0502020204030204" pitchFamily="34" charset="0"/>
              </a:rPr>
              <a:t>Ask students to share the validity of their calculations.</a:t>
            </a: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685995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B</a:t>
            </a:r>
            <a:br>
              <a:rPr lang="en-AU" sz="1600" b="0" i="0" dirty="0">
                <a:latin typeface="Arial" panose="020B0604020202020204" pitchFamily="34" charset="0"/>
                <a:cs typeface="Arial" panose="020B0604020202020204" pitchFamily="34" charset="0"/>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Multiplicative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Geometric measure B: Length</a:t>
            </a:r>
            <a:endParaRPr lang="en-AU" dirty="0">
              <a:latin typeface="Public Sans"/>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defRPr/>
            </a:pPr>
            <a:endParaRPr lang="en-AU" sz="1800" dirty="0">
              <a:solidFill>
                <a:srgbClr val="444444"/>
              </a:solidFill>
            </a:endParaRPr>
          </a:p>
          <a:p>
            <a:pPr>
              <a:lnSpc>
                <a:spcPct val="150000"/>
              </a:lnSpc>
              <a:spcBef>
                <a:spcPts val="1200"/>
              </a:spcBef>
              <a:spcAft>
                <a:spcPts val="600"/>
              </a:spcAft>
              <a:defRPr/>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defRPr/>
            </a:pPr>
            <a:endParaRPr lang="en-AU" sz="1800" dirty="0">
              <a:solidFill>
                <a:srgbClr val="444444"/>
              </a:solidFill>
            </a:endParaRPr>
          </a:p>
          <a:p>
            <a:pPr>
              <a:defRPr/>
            </a:pPr>
            <a:r>
              <a:rPr lang="en-AU" sz="1800" b="1" dirty="0">
                <a:latin typeface="Arial"/>
                <a:cs typeface="Arial"/>
              </a:rPr>
              <a:t>Syllabus focus area:</a:t>
            </a:r>
          </a:p>
          <a:p>
            <a:pPr>
              <a:defRPr/>
            </a:pPr>
            <a:r>
              <a:rPr lang="en-AU" sz="1800" b="0" dirty="0">
                <a:latin typeface="Arial"/>
                <a:cs typeface="Arial"/>
              </a:rPr>
              <a:t>Additive relations B</a:t>
            </a:r>
          </a:p>
          <a:p>
            <a:pPr>
              <a:defRPr/>
            </a:pPr>
            <a:endParaRPr lang="en-AU" sz="1800" b="1" dirty="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dirty="0"/>
              <a:t>This resource corresponds to </a:t>
            </a:r>
            <a:r>
              <a:rPr lang="en-AU" sz="1800" b="1" dirty="0"/>
              <a:t>Activity 2 – rounding to help estimation</a:t>
            </a:r>
            <a:r>
              <a:rPr lang="en-AU" sz="1800" dirty="0"/>
              <a:t> in Stage 2 Year B Unit 38</a:t>
            </a:r>
            <a:endParaRPr lang="en-US" sz="1800" dirty="0">
              <a:solidFill>
                <a:srgbClr val="444444"/>
              </a:solidFill>
              <a:latin typeface="Arial"/>
              <a:cs typeface="Arial"/>
            </a:endParaRPr>
          </a:p>
          <a:p>
            <a:pPr marL="0" lvl="0" indent="0">
              <a:lnSpc>
                <a:spcPct val="150000"/>
              </a:lnSpc>
              <a:buFont typeface="+mj-lt"/>
              <a:buNone/>
            </a:pPr>
            <a:endParaRPr lang="en-AU" sz="1800" dirty="0">
              <a:effectLst/>
              <a:latin typeface="Arial" panose="020B0604020202020204" pitchFamily="34" charset="0"/>
              <a:ea typeface="Calibri" panose="020F0502020204030204" pitchFamily="34" charset="0"/>
              <a:cs typeface="Arial"/>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Pose the problem: Meggie’s friend gave her $30 for her birthday. Meggie wants to buy a pencil case for $4.50, a pair of sunglasses for $6.25, a boardgame for $15 and a lollipop for 75c. Can you estimate if Meggie has enough money to purchase these items?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Remind students to use rounding to estimate the cost of the items to find if Meggie has enough money.</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share their thinking.</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did you estimate the total of Meggie’s purchases?</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Would $30 be enough money to buy all the items listed?</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Can you estimate how much change Meggie would get from $30 if she purchased all the items listed?</a:t>
            </a:r>
          </a:p>
          <a:p>
            <a:pPr marL="342900" lvl="0" indent="-342900">
              <a:buFont typeface="+mj-lt"/>
              <a:buAutoNum type="arabicPeriod" startAt="5"/>
            </a:pPr>
            <a:r>
              <a:rPr lang="en-AU" sz="1600" kern="1200" dirty="0">
                <a:solidFill>
                  <a:schemeClr val="tx1"/>
                </a:solidFill>
                <a:effectLst/>
                <a:latin typeface="Arial" panose="020B0604020202020204" pitchFamily="34" charset="0"/>
                <a:ea typeface="+mn-ea"/>
                <a:cs typeface="Arial" panose="020B0604020202020204" pitchFamily="34" charset="0"/>
              </a:rPr>
              <a:t>Provide students with individual whiteboards to check the validity of their calculations.</a:t>
            </a:r>
          </a:p>
          <a:p>
            <a:pPr marL="342900" lvl="0" indent="-342900">
              <a:buFont typeface="+mj-lt"/>
              <a:buAutoNum type="arabicPeriod" startAt="5"/>
            </a:pPr>
            <a:r>
              <a:rPr lang="en-AU" sz="1600" kern="1200" dirty="0">
                <a:solidFill>
                  <a:schemeClr val="tx1"/>
                </a:solidFill>
                <a:effectLst/>
                <a:latin typeface="Arial" panose="020B0604020202020204" pitchFamily="34" charset="0"/>
                <a:ea typeface="+mn-ea"/>
                <a:cs typeface="Arial" panose="020B0604020202020204" pitchFamily="34" charset="0"/>
              </a:rPr>
              <a:t>Ask students to share the validity of their calculations.</a:t>
            </a: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518311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2C45-BAF2-5095-34CE-C9EB90BE6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CA261-8F51-3973-B060-E7E261AE4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84AD9-E5AD-E5A4-2148-D94FD39A063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DC4436A-9433-8E5F-625B-02235C42EC27}"/>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661102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Multiplicative relations A</a:t>
            </a: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494021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41797265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marL="0" indent="0" algn="l">
              <a:buFont typeface="Wingdings" panose="05000000000000000000" pitchFamily="2" charset="2"/>
              <a:buNone/>
            </a:pPr>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B: 2D Shapes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DFA1D-757D-78C7-5F6D-86DF4DA72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EEC0B-009C-CDA7-63B3-836ACF428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D59C66-1D77-9D41-8AF2-C7541BDDB1DA}"/>
              </a:ext>
            </a:extLst>
          </p:cNvPr>
          <p:cNvSpPr>
            <a:spLocks noGrp="1"/>
          </p:cNvSpPr>
          <p:nvPr>
            <p:ph type="body" idx="1"/>
          </p:nvPr>
        </p:nvSpPr>
        <p:spPr/>
        <p:txBody>
          <a:bodyPr/>
          <a:lstStyle/>
          <a:p>
            <a:pPr>
              <a:lnSpc>
                <a:spcPct val="150000"/>
              </a:lnSpc>
              <a:spcBef>
                <a:spcPts val="1200"/>
              </a:spcBef>
              <a:spcAft>
                <a:spcPts val="600"/>
              </a:spcAft>
              <a:defRPr/>
            </a:pPr>
            <a:r>
              <a:rPr lang="en-AU" sz="1800" dirty="0"/>
              <a:t>This is a developing number sense activity. </a:t>
            </a:r>
            <a:endParaRPr lang="en-US" sz="1800" dirty="0">
              <a:solidFill>
                <a:srgbClr val="444444"/>
              </a:solidFill>
            </a:endParaRPr>
          </a:p>
          <a:p>
            <a:pPr>
              <a:lnSpc>
                <a:spcPct val="150000"/>
              </a:lnSpc>
              <a:spcBef>
                <a:spcPts val="1200"/>
              </a:spcBef>
              <a:spcAft>
                <a:spcPts val="600"/>
              </a:spcAft>
              <a:defRPr/>
            </a:pPr>
            <a:endParaRPr lang="en-AU" sz="1800" dirty="0">
              <a:solidFill>
                <a:srgbClr val="444444"/>
              </a:solidFill>
            </a:endParaRPr>
          </a:p>
          <a:p>
            <a:pPr>
              <a:lnSpc>
                <a:spcPct val="150000"/>
              </a:lnSpc>
              <a:spcBef>
                <a:spcPts val="1200"/>
              </a:spcBef>
              <a:spcAft>
                <a:spcPts val="600"/>
              </a:spcAft>
              <a:defRPr/>
            </a:pPr>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endParaRPr>
          </a:p>
          <a:p>
            <a:pPr>
              <a:lnSpc>
                <a:spcPts val="1913"/>
              </a:lnSpc>
              <a:defRPr/>
            </a:pPr>
            <a:endParaRPr lang="en-AU" sz="1800" dirty="0">
              <a:solidFill>
                <a:srgbClr val="444444"/>
              </a:solidFill>
            </a:endParaRPr>
          </a:p>
          <a:p>
            <a:pPr>
              <a:defRPr/>
            </a:pPr>
            <a:r>
              <a:rPr lang="en-AU" sz="1800" b="1" dirty="0"/>
              <a:t>Syllabus focus area:</a:t>
            </a:r>
          </a:p>
          <a:p>
            <a:pPr>
              <a:defRPr/>
            </a:pPr>
            <a:r>
              <a:rPr lang="en-US" sz="1800" dirty="0">
                <a:solidFill>
                  <a:srgbClr val="444444"/>
                </a:solidFill>
              </a:rPr>
              <a:t>Additive relations B</a:t>
            </a:r>
          </a:p>
          <a:p>
            <a:endParaRPr lang="en-AU" sz="1800" dirty="0"/>
          </a:p>
          <a:p>
            <a:pPr lvl="0"/>
            <a:r>
              <a:rPr lang="en-AU" sz="1800" dirty="0"/>
              <a:t>This resource corresponds to </a:t>
            </a:r>
            <a:r>
              <a:rPr lang="en-AU" sz="1800" b="1" dirty="0"/>
              <a:t>Resource 25 – covered grid </a:t>
            </a:r>
            <a:r>
              <a:rPr lang="en-AU" sz="1800" dirty="0"/>
              <a:t>in Stage 2 Year B Unit 37.</a:t>
            </a:r>
            <a:endParaRPr lang="en-AU" sz="1800" dirty="0">
              <a:effectLst/>
              <a:latin typeface="Arial" panose="020B0604020202020204" pitchFamily="34" charset="0"/>
              <a:ea typeface="Calibri" panose="020F0502020204030204" pitchFamily="34" charset="0"/>
              <a:cs typeface="Arial"/>
            </a:endParaRPr>
          </a:p>
          <a:p>
            <a:endParaRPr lang="en-AU" dirty="0"/>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Pose the problem: Mike is helping his Mum and Dad for the day at the post office. Mike’s first customer is buying a birthday card for $4.25 and a set of stamps for $12. The customer gives Mike a $20 note. How much change does he needs to give back to the customer?</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Students record their thinking on individual whiteboards.</a:t>
            </a:r>
          </a:p>
          <a:p>
            <a:pPr>
              <a:lnSpc>
                <a:spcPct val="150000"/>
              </a:lnSpc>
              <a:spcBef>
                <a:spcPts val="1200"/>
              </a:spcBef>
              <a:spcAft>
                <a:spcPts val="600"/>
              </a:spcAft>
              <a:buNone/>
            </a:pP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monitor the different strategies that students use to solve the problem. For example, the shopkeeper’s method or other addition and subtraction methods. Make a note of the students who have used different strategies to share with the class in the next step.</a:t>
            </a:r>
          </a:p>
          <a:p>
            <a:pPr marL="342900" lvl="0" indent="-342900">
              <a:lnSpc>
                <a:spcPct val="150000"/>
              </a:lnSpc>
              <a:spcBef>
                <a:spcPts val="1200"/>
              </a:spcBef>
              <a:spcAft>
                <a:spcPts val="600"/>
              </a:spcAft>
              <a:buFont typeface="+mj-lt"/>
              <a:buAutoNum type="arabicPeriod" startAt="3"/>
            </a:pPr>
            <a:r>
              <a:rPr lang="en-AU" sz="1600" dirty="0">
                <a:effectLst/>
                <a:latin typeface="Arial" panose="020B0604020202020204" pitchFamily="34" charset="0"/>
                <a:ea typeface="Calibri" panose="020F0502020204030204" pitchFamily="34" charset="0"/>
              </a:rPr>
              <a:t>Students share the strategies they used to solve the problem.</a:t>
            </a:r>
          </a:p>
          <a:p>
            <a:pPr marL="342900" lvl="0" indent="-342900">
              <a:lnSpc>
                <a:spcPct val="150000"/>
              </a:lnSpc>
              <a:spcBef>
                <a:spcPts val="1200"/>
              </a:spcBef>
              <a:spcAft>
                <a:spcPts val="600"/>
              </a:spcAft>
              <a:buFont typeface="+mj-lt"/>
              <a:buAutoNum type="arabicPeriod" startAt="3"/>
            </a:pPr>
            <a:r>
              <a:rPr lang="en-AU" sz="1600" dirty="0">
                <a:effectLst/>
                <a:latin typeface="Arial" panose="020B0604020202020204" pitchFamily="34" charset="0"/>
                <a:ea typeface="Calibri" panose="020F0502020204030204" pitchFamily="34" charset="0"/>
              </a:rPr>
              <a:t>Students reflect on their chosen strategy. Encourage them to consider whether their strategy or a different strategy shared by a student would be more effective to solve the problem.</a:t>
            </a:r>
          </a:p>
          <a:p>
            <a:pPr marL="342900" lvl="0" indent="-342900">
              <a:lnSpc>
                <a:spcPct val="150000"/>
              </a:lnSpc>
              <a:spcBef>
                <a:spcPts val="1200"/>
              </a:spcBef>
              <a:spcAft>
                <a:spcPts val="600"/>
              </a:spcAft>
              <a:buFont typeface="+mj-lt"/>
              <a:buAutoNum type="arabicPeriod" startAt="3"/>
            </a:pPr>
            <a:r>
              <a:rPr lang="en-AU" sz="1600" kern="1200" dirty="0">
                <a:solidFill>
                  <a:schemeClr val="tx1"/>
                </a:solidFill>
                <a:effectLst/>
                <a:latin typeface="Arial" panose="020B0604020202020204" pitchFamily="34" charset="0"/>
                <a:ea typeface="+mn-ea"/>
                <a:cs typeface="Arial" panose="020B0604020202020204" pitchFamily="34" charset="0"/>
              </a:rPr>
              <a:t>Pose the problem: Mike’s next customer is buying a notepad for $2.90, coloured markers for $4.20 and a pair of scissors for $4.50. The customer gives Mike $15.</a:t>
            </a:r>
          </a:p>
          <a:p>
            <a:pPr marL="342900" lvl="0" indent="-342900">
              <a:lnSpc>
                <a:spcPct val="150000"/>
              </a:lnSpc>
              <a:spcBef>
                <a:spcPts val="1200"/>
              </a:spcBef>
              <a:spcAft>
                <a:spcPts val="600"/>
              </a:spcAft>
              <a:buFont typeface="+mj-lt"/>
              <a:buAutoNum type="arabicPeriod" startAt="3"/>
            </a:pPr>
            <a:r>
              <a:rPr lang="en-AU" sz="1600" kern="1200" dirty="0">
                <a:solidFill>
                  <a:schemeClr val="tx1"/>
                </a:solidFill>
                <a:effectLst/>
                <a:latin typeface="Arial" panose="020B0604020202020204" pitchFamily="34" charset="0"/>
                <a:ea typeface="+mn-ea"/>
                <a:cs typeface="Arial" panose="020B0604020202020204" pitchFamily="34" charset="0"/>
              </a:rPr>
              <a:t>Explain the ‘shopkeeper’ method of counting change from the price of an item to the value of the amount tendered to pay for it. Explain that this is a counting on strategy. For example, if a customer gave a $5 note for a packet of chips costing $2.75, a shopkeeper could count the $2.25 change as:</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$2.80 (providing 5c)</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$3.00 (providing 20c)</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$5.00 (providing $2).</a:t>
            </a:r>
          </a:p>
          <a:p>
            <a:pPr marL="342900" lvl="0" indent="-342900">
              <a:buFont typeface="+mj-lt"/>
              <a:buAutoNum type="arabicPeriod" startAt="7"/>
            </a:pPr>
            <a:r>
              <a:rPr lang="en-AU" sz="1600" kern="1200" dirty="0">
                <a:solidFill>
                  <a:schemeClr val="tx1"/>
                </a:solidFill>
                <a:effectLst/>
                <a:latin typeface="Arial" panose="020B0604020202020204" pitchFamily="34" charset="0"/>
                <a:ea typeface="+mn-ea"/>
                <a:cs typeface="Arial" panose="020B0604020202020204" pitchFamily="34" charset="0"/>
              </a:rPr>
              <a:t>Ask students to use the shopkeeper method to help Mike work out the change he needs to give back to the customer.</a:t>
            </a:r>
          </a:p>
          <a:p>
            <a:pPr marL="342900" lvl="0" indent="-342900">
              <a:buFont typeface="+mj-lt"/>
              <a:buAutoNum type="arabicPeriod" startAt="7"/>
            </a:pPr>
            <a:r>
              <a:rPr lang="en-AU" sz="1600" kern="1200" dirty="0">
                <a:solidFill>
                  <a:schemeClr val="tx1"/>
                </a:solidFill>
                <a:effectLst/>
                <a:latin typeface="Arial" panose="020B0604020202020204" pitchFamily="34" charset="0"/>
                <a:ea typeface="+mn-ea"/>
                <a:cs typeface="Arial" panose="020B0604020202020204" pitchFamily="34" charset="0"/>
              </a:rPr>
              <a:t>Remind students to consider whether to use the same strategy as before or if they are going to choose a more effective strategy.</a:t>
            </a:r>
          </a:p>
          <a:p>
            <a:pPr marL="342900" lvl="0" indent="-342900">
              <a:buFont typeface="+mj-lt"/>
              <a:buAutoNum type="arabicPeriod" startAt="7"/>
            </a:pPr>
            <a:r>
              <a:rPr lang="en-AU" sz="1600" kern="1200" dirty="0">
                <a:solidFill>
                  <a:schemeClr val="tx1"/>
                </a:solidFill>
                <a:effectLst/>
                <a:latin typeface="Arial" panose="020B0604020202020204" pitchFamily="34" charset="0"/>
                <a:ea typeface="+mn-ea"/>
                <a:cs typeface="Arial" panose="020B0604020202020204" pitchFamily="34" charset="0"/>
              </a:rPr>
              <a:t>Students record their thinking on individual whiteboards.</a:t>
            </a:r>
          </a:p>
          <a:p>
            <a:pPr marL="342900" indent="-342900">
              <a:buFont typeface="+mj-lt"/>
              <a:buAutoNum type="arabicPeriod" startAt="7"/>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share the strategy they chose to use and explain the reason for their choice.</a:t>
            </a:r>
            <a:endParaRPr lang="en-AU" sz="1600" dirty="0">
              <a:effectLst/>
              <a:latin typeface="Arial" panose="020B0604020202020204" pitchFamily="34" charset="0"/>
              <a:ea typeface="Calibri" panose="020F0502020204030204" pitchFamily="34" charset="0"/>
            </a:endParaRPr>
          </a:p>
          <a:p>
            <a:endParaRPr lang="en-AU" dirty="0"/>
          </a:p>
        </p:txBody>
      </p:sp>
      <p:sp>
        <p:nvSpPr>
          <p:cNvPr id="4" name="Slide Number Placeholder 3">
            <a:extLst>
              <a:ext uri="{FF2B5EF4-FFF2-40B4-BE49-F238E27FC236}">
                <a16:creationId xmlns:a16="http://schemas.microsoft.com/office/drawing/2014/main" id="{8F000AA2-D108-0BEE-D061-A2D0239A4CE8}"/>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3492094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a:t>
            </a:r>
            <a:r>
              <a:rPr lang="en-AU" dirty="0">
                <a:latin typeface="Arial"/>
                <a:cs typeface="Arial"/>
              </a:rPr>
              <a:t>4</a:t>
            </a:r>
            <a:r>
              <a:rPr lang="en-AU" sz="1600" b="0" i="0" dirty="0">
                <a:solidFill>
                  <a:schemeClr val="tx1"/>
                </a:solidFill>
                <a:latin typeface="Arial"/>
                <a:cs typeface="Arial"/>
              </a:rPr>
              <a:t>)</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B</a:t>
            </a:r>
            <a:br>
              <a:rPr lang="en-AU" sz="1600" b="0" i="0" dirty="0">
                <a:latin typeface="Arial" panose="020B0604020202020204" pitchFamily="34" charset="0"/>
                <a:cs typeface="Arial" panose="020B0604020202020204" pitchFamily="34" charset="0"/>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FDE9C-E149-B3BB-0FA3-7C2637C5B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6838F-583B-A0B9-3D4C-FE9C85643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DB5F4-2E25-A609-AB55-9EF639E842B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Area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C10BA2-80D1-8528-3862-BE7724A0D729}"/>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18300090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8E73A-32DB-03E1-D53E-E18B1F094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C7655-8222-9374-EC52-726948E58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0B7F4C-B04A-CC4A-8B77-21FF807E5DE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B60DC59-45CC-3F95-AA2F-A5A5B371269B}"/>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296889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Non-spatial measure B: Time</a:t>
            </a: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dirty="0">
                <a:solidFill>
                  <a:srgbClr val="000000"/>
                </a:solidFill>
              </a:rPr>
              <a:t>This is a developing number sense activity. </a:t>
            </a:r>
            <a:endParaRPr lang="en-US" sz="1800" dirty="0">
              <a:solidFill>
                <a:srgbClr val="444444"/>
              </a:solidFill>
            </a:endParaRPr>
          </a:p>
          <a:p>
            <a:pPr>
              <a:lnSpc>
                <a:spcPct val="150000"/>
              </a:lnSpc>
              <a:spcBef>
                <a:spcPts val="1200"/>
              </a:spcBef>
              <a:spcAft>
                <a:spcPts val="600"/>
              </a:spcAft>
              <a:defRPr/>
            </a:pPr>
            <a:endParaRPr lang="en-AU" sz="1800" dirty="0">
              <a:solidFill>
                <a:srgbClr val="444444"/>
              </a:solidFill>
            </a:endParaRPr>
          </a:p>
          <a:p>
            <a:pPr>
              <a:lnSpc>
                <a:spcPct val="150000"/>
              </a:lnSpc>
              <a:spcBef>
                <a:spcPts val="1200"/>
              </a:spcBef>
              <a:spcAft>
                <a:spcPts val="600"/>
              </a:spcAft>
              <a:defRPr/>
            </a:pPr>
            <a:r>
              <a:rPr lang="en-AU" sz="1800" dirty="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endParaRPr>
          </a:p>
          <a:p>
            <a:pPr>
              <a:lnSpc>
                <a:spcPts val="1913"/>
              </a:lnSpc>
              <a:defRPr/>
            </a:pPr>
            <a:endParaRPr lang="en-AU" sz="1800" dirty="0">
              <a:solidFill>
                <a:srgbClr val="444444"/>
              </a:solidFill>
            </a:endParaRPr>
          </a:p>
          <a:p>
            <a:pPr>
              <a:defRPr/>
            </a:pPr>
            <a:r>
              <a:rPr lang="en-AU" sz="1800" b="1" dirty="0">
                <a:solidFill>
                  <a:srgbClr val="000000"/>
                </a:solidFill>
              </a:rPr>
              <a:t>Syllabus focus area:</a:t>
            </a:r>
          </a:p>
          <a:p>
            <a:pPr>
              <a:defRPr/>
            </a:pPr>
            <a:r>
              <a:rPr lang="en-AU" sz="1800" b="0" dirty="0">
                <a:solidFill>
                  <a:srgbClr val="000000"/>
                </a:solidFill>
              </a:rPr>
              <a:t>Additive relations B</a:t>
            </a:r>
          </a:p>
          <a:p>
            <a:pPr>
              <a:defRPr/>
            </a:pPr>
            <a:endParaRPr lang="en-AU" sz="1800" b="0" dirty="0">
              <a:solidFill>
                <a:srgbClr val="000000"/>
              </a:solidFill>
            </a:endParaRPr>
          </a:p>
          <a:p>
            <a:pPr>
              <a:defRPr/>
            </a:pPr>
            <a:r>
              <a:rPr lang="en-AU" sz="1800" dirty="0"/>
              <a:t>This resource corresponds to </a:t>
            </a:r>
            <a:r>
              <a:rPr lang="en-AU" sz="1800" b="1" dirty="0"/>
              <a:t>Activity 4 – interpreting a problem involving money 2 </a:t>
            </a:r>
            <a:r>
              <a:rPr lang="en-AU" sz="1800" dirty="0"/>
              <a:t>in Stage 2 Year B Unit 38.</a:t>
            </a:r>
            <a:endParaRPr lang="en-AU" sz="1800" dirty="0">
              <a:effectLst/>
              <a:latin typeface="Arial" panose="020B0604020202020204" pitchFamily="34" charset="0"/>
              <a:ea typeface="Calibri" panose="020F0502020204030204" pitchFamily="34" charset="0"/>
              <a:cs typeface="Arial"/>
            </a:endParaRPr>
          </a:p>
          <a:p>
            <a:endParaRPr lang="en-AU" sz="1800" dirty="0"/>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Display the following scenario: A father bought balloons for his 4 children at the community fair. He paid for the balloons using 2 notes and 4 coins.</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Provide students with whiteboards to record responses.</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How much might the balloons have cost?</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What is the largest amount the father could have paid?</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What is the smallest amount the father could have paid?</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Imagine that he used 2 different notes and 2 different coins?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How much might the balloons cost now?</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Can you find all the possible prices?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How do you know you have found them all?</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Which of your answers seems a reasonable amount to pay for a balloon?</a:t>
            </a:r>
          </a:p>
          <a:p>
            <a:pPr marL="342900" lvl="0" indent="-342900">
              <a:lnSpc>
                <a:spcPct val="150000"/>
              </a:lnSpc>
              <a:spcBef>
                <a:spcPts val="1200"/>
              </a:spcBef>
              <a:spcAft>
                <a:spcPts val="600"/>
              </a:spcAft>
              <a:buFont typeface="+mj-lt"/>
              <a:buAutoNum type="arabicPeriod" startAt="4"/>
            </a:pPr>
            <a:r>
              <a:rPr lang="en-AU" sz="1800" dirty="0">
                <a:effectLst/>
                <a:latin typeface="Arial" panose="020B0604020202020204" pitchFamily="34" charset="0"/>
                <a:ea typeface="Calibri" panose="020F0502020204030204" pitchFamily="34" charset="0"/>
              </a:rPr>
              <a:t>Ask students to share their responses and explain the strategy they used.</a:t>
            </a:r>
          </a:p>
          <a:p>
            <a:endParaRPr lang="en-AU" dirty="0"/>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096836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dirty="0">
                <a:solidFill>
                  <a:schemeClr val="tx1"/>
                </a:solidFill>
                <a:latin typeface="Arial"/>
                <a:cs typeface="Arial"/>
              </a:rPr>
              <a:t>This question connects to the content in the developing number sense activity (Activity </a:t>
            </a:r>
            <a:r>
              <a:rPr lang="en-AU" dirty="0">
                <a:latin typeface="Arial"/>
                <a:cs typeface="Arial"/>
              </a:rPr>
              <a:t>5</a:t>
            </a:r>
            <a:r>
              <a:rPr lang="en-AU" sz="1600" b="0" i="0" dirty="0">
                <a:solidFill>
                  <a:schemeClr val="tx1"/>
                </a:solidFill>
                <a:latin typeface="Arial"/>
                <a:cs typeface="Arial"/>
              </a:rPr>
              <a:t>)</a:t>
            </a:r>
            <a:br>
              <a:rPr lang="en-AU" dirty="0">
                <a:latin typeface="Arial"/>
                <a:cs typeface="Arial"/>
              </a:rPr>
            </a:br>
            <a:br>
              <a:rPr lang="en-AU" dirty="0"/>
            </a:b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B: Decimals</a:t>
            </a:r>
            <a:endParaRPr lang="en-AU" dirty="0">
              <a:effectLst/>
              <a:ea typeface="Calibri" panose="020F0502020204030204" pitchFamily="34" charset="0"/>
              <a:cs typeface="Arial"/>
            </a:endParaRPr>
          </a:p>
          <a:p>
            <a:endParaRPr lang="en-US"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Chance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Area</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6561528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Multiplicative Relations B</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1292253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Non-spatial measure B: Mass</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dirty="0">
                <a:solidFill>
                  <a:srgbClr val="000000"/>
                </a:solidFill>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pPr>
            <a:endParaRPr lang="en-AU" dirty="0">
              <a:solidFill>
                <a:srgbClr val="444444"/>
              </a:solidFill>
            </a:endParaRPr>
          </a:p>
          <a:p>
            <a:pPr>
              <a:lnSpc>
                <a:spcPct val="150000"/>
              </a:lnSpc>
              <a:spcBef>
                <a:spcPts val="1200"/>
              </a:spcBef>
              <a:spcAft>
                <a:spcPts val="600"/>
              </a:spcAft>
            </a:pPr>
            <a:r>
              <a:rPr lang="en-AU" dirty="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pPr>
            <a:endParaRPr lang="en-AU" dirty="0">
              <a:solidFill>
                <a:srgbClr val="444444"/>
              </a:solidFill>
            </a:endParaRPr>
          </a:p>
          <a:p>
            <a:r>
              <a:rPr lang="en-AU" b="1" dirty="0">
                <a:solidFill>
                  <a:srgbClr val="000000"/>
                </a:solidFill>
                <a:latin typeface="Arial"/>
                <a:cs typeface="Arial"/>
              </a:rPr>
              <a:t>Syllabus focus area:</a:t>
            </a:r>
            <a:endParaRPr lang="en-US" sz="1600" b="1" dirty="0">
              <a:solidFill>
                <a:srgbClr val="444444"/>
              </a:solidFill>
              <a:latin typeface="Arial"/>
              <a:cs typeface="Arial"/>
            </a:endParaRPr>
          </a:p>
          <a:p>
            <a:pPr>
              <a:lnSpc>
                <a:spcPct val="150000"/>
              </a:lnSpc>
              <a:spcBef>
                <a:spcPts val="1200"/>
              </a:spcBef>
              <a:spcAft>
                <a:spcPts val="600"/>
              </a:spcAft>
              <a:buNone/>
            </a:pPr>
            <a:r>
              <a:rPr lang="en-AU" sz="1600" dirty="0"/>
              <a:t>Representing numbers using place value B</a:t>
            </a:r>
            <a:br>
              <a:rPr lang="en-AU" sz="1600" dirty="0"/>
            </a:br>
            <a:endParaRPr lang="en-AU" sz="1600" dirty="0"/>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dirty="0"/>
              <a:t>This resource corresponds to </a:t>
            </a:r>
            <a:r>
              <a:rPr lang="en-AU" sz="1600" b="1" dirty="0"/>
              <a:t>Resource 21 – place the digits </a:t>
            </a:r>
            <a:r>
              <a:rPr lang="en-AU" sz="1600" b="0" dirty="0"/>
              <a:t>and</a:t>
            </a:r>
            <a:r>
              <a:rPr lang="en-AU" sz="1600" b="1" dirty="0"/>
              <a:t> Resource 22 – number cards </a:t>
            </a:r>
            <a:r>
              <a:rPr lang="en-AU" sz="1600" dirty="0"/>
              <a:t>in Stage 2 Year B Unit 38.</a:t>
            </a:r>
          </a:p>
          <a:p>
            <a:pPr>
              <a:lnSpc>
                <a:spcPct val="150000"/>
              </a:lnSpc>
              <a:spcBef>
                <a:spcPts val="1200"/>
              </a:spcBef>
              <a:spcAft>
                <a:spcPts val="600"/>
              </a:spcAft>
              <a:buNone/>
            </a:pPr>
            <a:br>
              <a:rPr lang="en-AU" sz="1600" dirty="0"/>
            </a:br>
            <a:r>
              <a:rPr lang="en-AU" sz="1600" dirty="0">
                <a:effectLst/>
                <a:latin typeface="Arial" panose="020B0604020202020204" pitchFamily="34" charset="0"/>
                <a:ea typeface="Calibri" panose="020F0502020204030204" pitchFamily="34" charset="0"/>
              </a:rPr>
              <a:t>This activity is an adaptation of Place the Digits from </a:t>
            </a:r>
            <a:r>
              <a:rPr lang="en-AU" sz="1600" dirty="0" err="1">
                <a:effectLst/>
                <a:latin typeface="Arial" panose="020B0604020202020204" pitchFamily="34" charset="0"/>
                <a:ea typeface="Calibri" panose="020F0502020204030204" pitchFamily="34" charset="0"/>
              </a:rPr>
              <a:t>Tāhūrangi</a:t>
            </a:r>
            <a:r>
              <a:rPr lang="en-AU" sz="1600" dirty="0">
                <a:effectLst/>
                <a:latin typeface="Arial" panose="020B0604020202020204" pitchFamily="34" charset="0"/>
                <a:ea typeface="Calibri" panose="020F0502020204030204" pitchFamily="34" charset="0"/>
              </a:rPr>
              <a:t> - New Zealand Curriculum by New Zealand Ministry of Education.</a:t>
            </a:r>
          </a:p>
          <a:p>
            <a:pPr>
              <a:lnSpc>
                <a:spcPct val="150000"/>
              </a:lnSpc>
              <a:spcBef>
                <a:spcPts val="1200"/>
              </a:spcBef>
              <a:spcAft>
                <a:spcPts val="600"/>
              </a:spcAft>
              <a:buNone/>
            </a:pPr>
            <a:endParaRPr lang="en-AU" sz="16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Provide pairs of students with Resource 21 – place the digits and Resource 22 – number cards.</a:t>
            </a:r>
          </a:p>
          <a:p>
            <a:pPr>
              <a:lnSpc>
                <a:spcPct val="150000"/>
              </a:lnSpc>
              <a:spcBef>
                <a:spcPts val="1200"/>
              </a:spcBef>
              <a:spcAft>
                <a:spcPts val="600"/>
              </a:spcAft>
              <a:buNone/>
            </a:pP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revisit the impact zero has on a number when it is in different place value positions. The placement of the zero in these examples changes how we say, write and understand decimals. For example, 0.78, 7.08 or 7.80.</a:t>
            </a:r>
          </a:p>
          <a:p>
            <a:pPr marL="342900" lvl="0" indent="-342900">
              <a:lnSpc>
                <a:spcPct val="150000"/>
              </a:lnSpc>
              <a:spcBef>
                <a:spcPts val="1200"/>
              </a:spcBef>
              <a:spcAft>
                <a:spcPts val="600"/>
              </a:spcAft>
              <a:buFont typeface="+mj-lt"/>
              <a:buAutoNum type="arabicPeriod" startAt="2"/>
            </a:pPr>
            <a:r>
              <a:rPr lang="en-AU" sz="1600" dirty="0">
                <a:effectLst/>
                <a:latin typeface="Arial" panose="020B0604020202020204" pitchFamily="34" charset="0"/>
                <a:ea typeface="Calibri" panose="020F0502020204030204" pitchFamily="34" charset="0"/>
              </a:rPr>
              <a:t>Explain the objective of the game is to make the largest decimal after drawing 3 cards. </a:t>
            </a:r>
          </a:p>
          <a:p>
            <a:pPr marL="342900" lvl="0" indent="-342900">
              <a:lnSpc>
                <a:spcPct val="150000"/>
              </a:lnSpc>
              <a:spcBef>
                <a:spcPts val="1200"/>
              </a:spcBef>
              <a:spcAft>
                <a:spcPts val="600"/>
              </a:spcAft>
              <a:buFont typeface="+mj-lt"/>
              <a:buAutoNum type="arabicPeriod" startAt="2"/>
            </a:pPr>
            <a:r>
              <a:rPr lang="en-AU" sz="1600" dirty="0">
                <a:effectLst/>
                <a:latin typeface="Arial" panose="020B0604020202020204" pitchFamily="34" charset="0"/>
                <a:ea typeface="Calibri" panose="020F0502020204030204" pitchFamily="34" charset="0"/>
              </a:rPr>
              <a:t>To play the game:</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Player 1 draws a card from the deck and records the digit in the ones, tenths or hundredths column on Resource 20 – place the digits.</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Player 1 returns the drawn card to the bottom of the deck before the next player draws a card and records their digit. Repeat until each player has drawn 3 cards.</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Before concluding each round, players must say their decimal aloud. For example, 2.45 is read aloud as 2 and 45 hundredths.</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The winner gets one point for making the largest decimal.</a:t>
            </a:r>
          </a:p>
          <a:p>
            <a:pPr>
              <a:lnSpc>
                <a:spcPct val="150000"/>
              </a:lnSpc>
              <a:spcBef>
                <a:spcPts val="1200"/>
              </a:spcBef>
              <a:spcAft>
                <a:spcPts val="600"/>
              </a:spcAft>
            </a:pP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to allow for Resource 20 – place the digits to be used multiple times, place the game board in a plastic sleeve and provide students with non-permanent markers and an eraser.</a:t>
            </a:r>
          </a:p>
          <a:p>
            <a:pPr lvl="0">
              <a:lnSpc>
                <a:spcPct val="150000"/>
              </a:lnSpc>
              <a:spcBef>
                <a:spcPts val="1200"/>
              </a:spcBef>
              <a:spcAft>
                <a:spcPts val="600"/>
              </a:spcAft>
            </a:pPr>
            <a:endParaRPr lang="en-AU" sz="1800" dirty="0">
              <a:latin typeface="Arial"/>
              <a:ea typeface="Calibri"/>
              <a:cs typeface="Arial"/>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4705655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a:t>
            </a:r>
            <a:r>
              <a:rPr lang="en-AU" dirty="0">
                <a:latin typeface="Arial"/>
                <a:cs typeface="Arial"/>
              </a:rPr>
              <a:t>6</a:t>
            </a:r>
            <a:r>
              <a:rPr lang="en-AU" sz="1600" b="0" i="0" dirty="0">
                <a:solidFill>
                  <a:schemeClr val="tx1"/>
                </a:solidFill>
                <a:latin typeface="Arial"/>
                <a:cs typeface="Arial"/>
              </a:rPr>
              <a:t>)</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B: Decimals</a:t>
            </a: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Chance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2D shapes</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Representing numbers using place value B: Decimals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7338669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Three-dimensional spatial structure B: 3D Objects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sz="1600" dirty="0">
                <a:latin typeface="Arial"/>
                <a:cs typeface="Arial"/>
              </a:rPr>
              <a:t>This is a developing number sense activity. </a:t>
            </a:r>
            <a:endParaRPr lang="en-US" sz="1600" dirty="0">
              <a:solidFill>
                <a:srgbClr val="444444"/>
              </a:solidFill>
              <a:latin typeface="Arial"/>
              <a:cs typeface="Arial"/>
            </a:endParaRPr>
          </a:p>
          <a:p>
            <a:pPr defTabSz="914400">
              <a:lnSpc>
                <a:spcPct val="150000"/>
              </a:lnSpc>
              <a:spcBef>
                <a:spcPts val="1200"/>
              </a:spcBef>
              <a:spcAft>
                <a:spcPts val="600"/>
              </a:spcAft>
            </a:pPr>
            <a:endParaRPr lang="en-AU" sz="1600" dirty="0">
              <a:solidFill>
                <a:srgbClr val="444444"/>
              </a:solidFill>
            </a:endParaRPr>
          </a:p>
          <a:p>
            <a:pPr defTabSz="914400">
              <a:lnSpc>
                <a:spcPct val="150000"/>
              </a:lnSpc>
              <a:spcBef>
                <a:spcPts val="1200"/>
              </a:spcBef>
              <a:spcAft>
                <a:spcPts val="600"/>
              </a:spcAft>
            </a:pPr>
            <a:r>
              <a:rPr lang="en-AU" sz="16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600" dirty="0">
              <a:solidFill>
                <a:srgbClr val="444444"/>
              </a:solidFill>
              <a:latin typeface="Arial"/>
              <a:cs typeface="Arial"/>
            </a:endParaRPr>
          </a:p>
          <a:p>
            <a:pPr defTabSz="914400">
              <a:lnSpc>
                <a:spcPts val="1913"/>
              </a:lnSpc>
            </a:pPr>
            <a:endParaRPr lang="en-AU" sz="1600" dirty="0">
              <a:solidFill>
                <a:srgbClr val="444444"/>
              </a:solidFill>
            </a:endParaRPr>
          </a:p>
          <a:p>
            <a:pPr defTabSz="914400"/>
            <a:r>
              <a:rPr lang="en-AU" sz="1600" b="1" dirty="0">
                <a:latin typeface="Arial"/>
                <a:cs typeface="Arial"/>
              </a:rPr>
              <a:t>Syllabus focus area:</a:t>
            </a:r>
          </a:p>
          <a:p>
            <a:pPr defTabSz="914400"/>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sz="1600" b="0" dirty="0">
              <a:latin typeface="Arial"/>
              <a:cs typeface="Arial"/>
            </a:endParaRPr>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endParaRPr lang="en-AU" sz="1600" dirty="0"/>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r>
              <a:rPr lang="en-AU" sz="1600" dirty="0"/>
              <a:t>This resource corresponds </a:t>
            </a:r>
            <a:r>
              <a:rPr lang="en-AU" sz="1600" b="0" dirty="0"/>
              <a:t>to</a:t>
            </a:r>
            <a:r>
              <a:rPr lang="en-AU" sz="1600" b="1" dirty="0"/>
              <a:t> Resource 21 – place the digits </a:t>
            </a:r>
            <a:r>
              <a:rPr lang="en-AU" sz="1600" b="0" dirty="0"/>
              <a:t>and</a:t>
            </a:r>
            <a:r>
              <a:rPr lang="en-AU" sz="1600" b="1" dirty="0"/>
              <a:t> Resource 22 – number cards </a:t>
            </a:r>
            <a:r>
              <a:rPr lang="en-AU" sz="1600" dirty="0"/>
              <a:t>in Stage 2 Year B Unit 38.</a:t>
            </a:r>
          </a:p>
          <a:p>
            <a:endParaRPr lang="en-AU" dirty="0"/>
          </a:p>
          <a:p>
            <a:pPr>
              <a:lnSpc>
                <a:spcPct val="150000"/>
              </a:lnSpc>
              <a:spcBef>
                <a:spcPts val="1200"/>
              </a:spcBef>
              <a:spcAft>
                <a:spcPts val="600"/>
              </a:spcAft>
              <a:buNone/>
            </a:pPr>
            <a:r>
              <a:rPr lang="en-AU" sz="1600" dirty="0">
                <a:effectLst/>
                <a:latin typeface="Arial" panose="020B0604020202020204" pitchFamily="34" charset="0"/>
                <a:ea typeface="Calibri" panose="020F0502020204030204" pitchFamily="34" charset="0"/>
              </a:rPr>
              <a:t>This activity is an adaptation of Place the Digits from </a:t>
            </a:r>
            <a:r>
              <a:rPr lang="en-AU" sz="1600" dirty="0" err="1">
                <a:effectLst/>
                <a:latin typeface="Arial" panose="020B0604020202020204" pitchFamily="34" charset="0"/>
                <a:ea typeface="Calibri" panose="020F0502020204030204" pitchFamily="34" charset="0"/>
              </a:rPr>
              <a:t>from</a:t>
            </a:r>
            <a:r>
              <a:rPr lang="en-AU" sz="1600" dirty="0">
                <a:effectLst/>
                <a:latin typeface="Arial" panose="020B0604020202020204" pitchFamily="34" charset="0"/>
                <a:ea typeface="Calibri" panose="020F0502020204030204" pitchFamily="34" charset="0"/>
              </a:rPr>
              <a:t> </a:t>
            </a:r>
            <a:r>
              <a:rPr lang="en-AU" sz="1600" dirty="0" err="1">
                <a:effectLst/>
                <a:latin typeface="Arial" panose="020B0604020202020204" pitchFamily="34" charset="0"/>
                <a:ea typeface="Calibri" panose="020F0502020204030204" pitchFamily="34" charset="0"/>
              </a:rPr>
              <a:t>Tāhūrangi</a:t>
            </a:r>
            <a:r>
              <a:rPr lang="en-AU" sz="1600" dirty="0">
                <a:effectLst/>
                <a:latin typeface="Arial" panose="020B0604020202020204" pitchFamily="34" charset="0"/>
                <a:ea typeface="Calibri" panose="020F0502020204030204" pitchFamily="34" charset="0"/>
              </a:rPr>
              <a:t> - New Zealand Curriculum by New Zealand Ministry of Education.</a:t>
            </a:r>
          </a:p>
          <a:p>
            <a:pPr>
              <a:lnSpc>
                <a:spcPct val="150000"/>
              </a:lnSpc>
              <a:spcBef>
                <a:spcPts val="1200"/>
              </a:spcBef>
              <a:spcAft>
                <a:spcPts val="600"/>
              </a:spcAft>
              <a:buNone/>
            </a:pPr>
            <a:endParaRPr lang="en-AU" sz="16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Provide pairs of students with </a:t>
            </a:r>
            <a:r>
              <a:rPr lang="en-AU" sz="1600" dirty="0">
                <a:effectLst/>
                <a:highlight>
                  <a:srgbClr val="FFFF00"/>
                </a:highlight>
                <a:latin typeface="Arial" panose="020B0604020202020204" pitchFamily="34" charset="0"/>
                <a:ea typeface="Calibri" panose="020F0502020204030204" pitchFamily="34" charset="0"/>
              </a:rPr>
              <a:t>Resource 20 – place the digits</a:t>
            </a:r>
            <a:r>
              <a:rPr lang="en-AU" sz="1600" dirty="0">
                <a:effectLst/>
                <a:latin typeface="Arial" panose="020B0604020202020204" pitchFamily="34" charset="0"/>
                <a:ea typeface="Calibri" panose="020F0502020204030204" pitchFamily="34" charset="0"/>
              </a:rPr>
              <a:t> and </a:t>
            </a:r>
            <a:r>
              <a:rPr lang="en-AU" sz="1600" dirty="0">
                <a:effectLst/>
                <a:highlight>
                  <a:srgbClr val="FFFF00"/>
                </a:highlight>
                <a:latin typeface="Arial" panose="020B0604020202020204" pitchFamily="34" charset="0"/>
                <a:ea typeface="Calibri" panose="020F0502020204030204" pitchFamily="34" charset="0"/>
              </a:rPr>
              <a:t>Resource 21 – number cards</a:t>
            </a:r>
            <a:r>
              <a:rPr lang="en-AU" sz="1600" dirty="0">
                <a:effectLst/>
                <a:latin typeface="Arial" panose="020B0604020202020204" pitchFamily="34" charset="0"/>
                <a:ea typeface="Calibri" panose="020F0502020204030204" pitchFamily="34" charset="0"/>
              </a:rPr>
              <a:t>. </a:t>
            </a:r>
          </a:p>
          <a:p>
            <a:pPr>
              <a:lnSpc>
                <a:spcPct val="150000"/>
              </a:lnSpc>
              <a:spcBef>
                <a:spcPts val="1200"/>
              </a:spcBef>
              <a:spcAft>
                <a:spcPts val="600"/>
              </a:spcAft>
              <a:buNone/>
            </a:pP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revisit the impact zero has on a number when it is in different place value positions. The placement of the zero in these examples changes how we say, write and understand decimals. For example, 0.78, 7.08 or 7.80.</a:t>
            </a:r>
          </a:p>
          <a:p>
            <a:pPr marL="342900" lvl="0" indent="-342900">
              <a:lnSpc>
                <a:spcPct val="150000"/>
              </a:lnSpc>
              <a:spcBef>
                <a:spcPts val="1200"/>
              </a:spcBef>
              <a:spcAft>
                <a:spcPts val="600"/>
              </a:spcAft>
              <a:buFont typeface="+mj-lt"/>
              <a:buAutoNum type="arabicPeriod" startAt="2"/>
            </a:pPr>
            <a:r>
              <a:rPr lang="en-AU" sz="1600" dirty="0">
                <a:effectLst/>
                <a:latin typeface="Arial" panose="020B0604020202020204" pitchFamily="34" charset="0"/>
                <a:ea typeface="Calibri" panose="020F0502020204030204" pitchFamily="34" charset="0"/>
              </a:rPr>
              <a:t>Explain the objective of the game is to make the smallest decimal after drawing 3 cards.</a:t>
            </a:r>
          </a:p>
          <a:p>
            <a:pPr marL="342900" lvl="0" indent="-342900">
              <a:lnSpc>
                <a:spcPct val="150000"/>
              </a:lnSpc>
              <a:spcBef>
                <a:spcPts val="1200"/>
              </a:spcBef>
              <a:spcAft>
                <a:spcPts val="600"/>
              </a:spcAft>
              <a:buFont typeface="+mj-lt"/>
              <a:buAutoNum type="arabicPeriod" startAt="2"/>
            </a:pPr>
            <a:r>
              <a:rPr lang="en-AU" sz="1600" dirty="0">
                <a:effectLst/>
                <a:latin typeface="Arial" panose="020B0604020202020204" pitchFamily="34" charset="0"/>
                <a:ea typeface="Calibri" panose="020F0502020204030204" pitchFamily="34" charset="0"/>
              </a:rPr>
              <a:t> To play the game:</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Player 1 draws a card from the deck and records the digit in the ones, tenths or hundredths column on </a:t>
            </a:r>
            <a:r>
              <a:rPr lang="en-AU" sz="16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Resource 20 – place the digits</a:t>
            </a:r>
            <a:r>
              <a:rPr lang="en-AU" sz="1600" dirty="0">
                <a:effectLst/>
                <a:latin typeface="Arial" panose="020B0604020202020204" pitchFamily="34" charset="0"/>
                <a:ea typeface="Calibri" panose="020F0502020204030204" pitchFamily="34" charset="0"/>
                <a:cs typeface="Times New Roman" panose="02020603050405020304" pitchFamily="18" charset="0"/>
              </a:rPr>
              <a:t>.</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Player 1 returns the drawn card to the bottom of the deck before the next player draws a card and records their digit. Repeat until each player has drawn 3 cards.</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Before concluding each round, players must say their decimal aloud. For example, 2.45 is read aloud as 2 and 45 hundredths.</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The winner gets one point for making the smallest decimal.</a:t>
            </a: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1893137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401E-A733-1504-B028-B13200874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38FF-A950-5B76-C68D-9BD01FAEF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AD94C-AE68-F4EB-C719-5FD2B54BE1C2}"/>
              </a:ext>
            </a:extLst>
          </p:cNvPr>
          <p:cNvSpPr>
            <a:spLocks noGrp="1"/>
          </p:cNvSpPr>
          <p:nvPr>
            <p:ph type="body" idx="1"/>
          </p:nvPr>
        </p:nvSpPr>
        <p:spPr/>
        <p:txBody>
          <a:bodyPr/>
          <a:lstStyle/>
          <a:p>
            <a:r>
              <a:rPr lang="en-AU" sz="1600" b="0" i="0" dirty="0">
                <a:solidFill>
                  <a:schemeClr val="tx1"/>
                </a:solidFill>
                <a:latin typeface="Arial"/>
                <a:cs typeface="Arial"/>
              </a:rPr>
              <a:t>This question connects to the content in the developing number sense activity (Activity 7)</a:t>
            </a:r>
            <a:br>
              <a:rPr lang="en-AU" dirty="0">
                <a:latin typeface="Arial"/>
                <a:cs typeface="Arial"/>
              </a:rPr>
            </a:br>
            <a:br>
              <a:rPr lang="en-AU" dirty="0"/>
            </a:b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B: Decimals</a:t>
            </a:r>
            <a:endParaRPr lang="en-US" dirty="0"/>
          </a:p>
        </p:txBody>
      </p:sp>
      <p:sp>
        <p:nvSpPr>
          <p:cNvPr id="4" name="Slide Number Placeholder 3">
            <a:extLst>
              <a:ext uri="{FF2B5EF4-FFF2-40B4-BE49-F238E27FC236}">
                <a16:creationId xmlns:a16="http://schemas.microsoft.com/office/drawing/2014/main" id="{FCC49D05-E546-7611-8506-8D20FDB127B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5488654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Chance B</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Three-dimensional spatial structure B: 3D objects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Representing numbers using place value B: Decimals</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Geometric measure B: Length</a:t>
            </a:r>
            <a:endParaRPr lang="en-AU" sz="1600" b="0" i="0" dirty="0">
              <a:latin typeface="Public Sans"/>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600" dirty="0">
                <a:latin typeface="Arial"/>
                <a:cs typeface="Arial"/>
              </a:rPr>
              <a:t>This is a developing number sense activity. </a:t>
            </a:r>
            <a:endParaRPr lang="en-US" sz="1600" dirty="0">
              <a:solidFill>
                <a:srgbClr val="444444"/>
              </a:solidFill>
              <a:latin typeface="Arial"/>
              <a:cs typeface="Arial"/>
            </a:endParaRPr>
          </a:p>
          <a:p>
            <a:pPr>
              <a:lnSpc>
                <a:spcPct val="150000"/>
              </a:lnSpc>
              <a:spcBef>
                <a:spcPts val="1200"/>
              </a:spcBef>
              <a:spcAft>
                <a:spcPts val="600"/>
              </a:spcAft>
            </a:pPr>
            <a:endParaRPr lang="en-AU" sz="1600" dirty="0">
              <a:solidFill>
                <a:srgbClr val="444444"/>
              </a:solidFill>
            </a:endParaRPr>
          </a:p>
          <a:p>
            <a:pPr>
              <a:lnSpc>
                <a:spcPct val="150000"/>
              </a:lnSpc>
              <a:spcBef>
                <a:spcPts val="1200"/>
              </a:spcBef>
              <a:spcAft>
                <a:spcPts val="600"/>
              </a:spcAft>
            </a:pPr>
            <a:r>
              <a:rPr lang="en-AU" sz="16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600" dirty="0">
              <a:solidFill>
                <a:srgbClr val="444444"/>
              </a:solidFill>
              <a:latin typeface="Arial"/>
              <a:cs typeface="Arial"/>
            </a:endParaRPr>
          </a:p>
          <a:p>
            <a:pPr>
              <a:lnSpc>
                <a:spcPts val="1913"/>
              </a:lnSpc>
            </a:pPr>
            <a:endParaRPr lang="en-AU" sz="1600" dirty="0">
              <a:solidFill>
                <a:srgbClr val="444444"/>
              </a:solidFill>
            </a:endParaRPr>
          </a:p>
          <a:p>
            <a:r>
              <a:rPr lang="en-AU" sz="1600" b="1" dirty="0">
                <a:latin typeface="Arial"/>
                <a:cs typeface="Arial"/>
              </a:rPr>
              <a:t>Syllabus focus area:</a:t>
            </a:r>
            <a:endParaRPr lang="en-US" sz="1600" dirty="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B</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dirty="0"/>
              <a:t>This resource corresponds to </a:t>
            </a:r>
            <a:r>
              <a:rPr lang="en-AU" sz="1600" b="1" dirty="0"/>
              <a:t>Resource 23 – mixed-up decimals </a:t>
            </a:r>
            <a:r>
              <a:rPr lang="en-AU" sz="1600" dirty="0"/>
              <a:t>in Stage 2 Year B Unit 38.</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dirty="0"/>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Display Resource 23 – mixed-up decimals. Explain that the printer has broken and the decimal points did not print properly.</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Explain that the decimals need to be placed in ascending order on a number line.</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Provide students with Resource 23 – mixed-up decimals and individual whiteboards.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How many possibilities are there for where the decimal point can go in each of the numbers?</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How could the numbers be arranged on a number line? Explain.</a:t>
            </a:r>
          </a:p>
          <a:p>
            <a:pPr marL="342900" lvl="0" indent="-342900">
              <a:lnSpc>
                <a:spcPct val="150000"/>
              </a:lnSpc>
              <a:spcBef>
                <a:spcPts val="1200"/>
              </a:spcBef>
              <a:spcAft>
                <a:spcPts val="600"/>
              </a:spcAft>
              <a:buFont typeface="+mj-lt"/>
              <a:buAutoNum type="arabicPeriod" startAt="5"/>
            </a:pPr>
            <a:r>
              <a:rPr lang="en-AU" sz="1600" dirty="0">
                <a:effectLst/>
                <a:latin typeface="Arial" panose="020B0604020202020204" pitchFamily="34" charset="0"/>
                <a:ea typeface="Calibri" panose="020F0502020204030204" pitchFamily="34" charset="0"/>
              </a:rPr>
              <a:t>As a class, discuss possible strategies and solutions to arrange the decimals on a number line.</a:t>
            </a:r>
          </a:p>
          <a:p>
            <a:pPr marL="342900" lvl="0" indent="-342900">
              <a:lnSpc>
                <a:spcPct val="150000"/>
              </a:lnSpc>
              <a:spcBef>
                <a:spcPts val="1200"/>
              </a:spcBef>
              <a:spcAft>
                <a:spcPts val="600"/>
              </a:spcAft>
              <a:buFont typeface="+mj-lt"/>
              <a:buAutoNum type="arabicPeriod" startAt="5"/>
            </a:pPr>
            <a:r>
              <a:rPr lang="en-AU" sz="1600" dirty="0">
                <a:effectLst/>
                <a:latin typeface="Arial" panose="020B0604020202020204" pitchFamily="34" charset="0"/>
                <a:ea typeface="Calibri" panose="020F0502020204030204" pitchFamily="34" charset="0"/>
              </a:rPr>
              <a:t>Ensure students justify their reasoning by explaining:</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how the markers are equally spaced on the number line</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that the decimal point is consistently placed to show the place value for each digit</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that the decimals are recorded in ascending order.</a:t>
            </a:r>
          </a:p>
          <a:p>
            <a:pPr marL="342900" lvl="0" indent="-342900">
              <a:lnSpc>
                <a:spcPct val="150000"/>
              </a:lnSpc>
              <a:spcBef>
                <a:spcPts val="1200"/>
              </a:spcBef>
              <a:spcAft>
                <a:spcPts val="600"/>
              </a:spcAft>
              <a:buFont typeface="+mj-lt"/>
              <a:buAutoNum type="arabicPeriod" startAt="7"/>
            </a:pPr>
            <a:r>
              <a:rPr lang="en-AU" sz="1600" dirty="0">
                <a:effectLst/>
                <a:latin typeface="Arial" panose="020B0604020202020204" pitchFamily="34" charset="0"/>
                <a:ea typeface="Calibri" panose="020F0502020204030204" pitchFamily="34" charset="0"/>
              </a:rPr>
              <a:t>Each student selects a decimal on the number line and renames it in multiple ways. For example, 37.3 is 3 tens, 7 ones and 3 tenths or 37 and 3 tenths or 3.73 is 3 and 7 tenths and 3 hundredths or 3 and 73 hundredths.</a:t>
            </a: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4943457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Decimals</a:t>
            </a: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420CC-A91C-32C1-F3D1-FCFDD9ABB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B61EA-9172-D9F7-55A2-C78063068C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78945-5A85-A612-73B7-F0830EFF406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804C520-AED2-C641-A1E2-B040FB1D51BA}"/>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4861732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Three-dimensional spatial structure A</a:t>
            </a:r>
            <a:r>
              <a:rPr lang="en-AU" sz="1600" b="0" i="0" kern="1200" dirty="0">
                <a:solidFill>
                  <a:schemeClr val="tx1"/>
                </a:solidFill>
                <a:effectLst/>
                <a:latin typeface="Arial" panose="020B0604020202020204" pitchFamily="34" charset="0"/>
                <a:ea typeface="+mn-ea"/>
                <a:cs typeface="Arial" panose="020B0604020202020204" pitchFamily="34" charset="0"/>
              </a:rPr>
              <a:t>: Volume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Representing numbers using place value B: Decimals</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Non-spatial measure B: Time</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600" dirty="0">
                <a:latin typeface="Arial"/>
                <a:cs typeface="Arial"/>
              </a:rPr>
              <a:t>This is a developing number sense activity. </a:t>
            </a:r>
            <a:endParaRPr lang="en-US" sz="1600" dirty="0">
              <a:solidFill>
                <a:srgbClr val="444444"/>
              </a:solidFill>
              <a:latin typeface="Arial"/>
              <a:cs typeface="Arial"/>
            </a:endParaRPr>
          </a:p>
          <a:p>
            <a:pPr>
              <a:lnSpc>
                <a:spcPct val="150000"/>
              </a:lnSpc>
              <a:spcBef>
                <a:spcPts val="1200"/>
              </a:spcBef>
              <a:spcAft>
                <a:spcPts val="600"/>
              </a:spcAft>
            </a:pPr>
            <a:endParaRPr lang="en-AU" sz="1600" dirty="0">
              <a:solidFill>
                <a:srgbClr val="444444"/>
              </a:solidFill>
            </a:endParaRPr>
          </a:p>
          <a:p>
            <a:pPr>
              <a:lnSpc>
                <a:spcPct val="150000"/>
              </a:lnSpc>
              <a:spcBef>
                <a:spcPts val="1200"/>
              </a:spcBef>
              <a:spcAft>
                <a:spcPts val="600"/>
              </a:spcAft>
            </a:pPr>
            <a:r>
              <a:rPr lang="en-AU" sz="16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600" dirty="0">
              <a:solidFill>
                <a:srgbClr val="444444"/>
              </a:solidFill>
              <a:latin typeface="Arial"/>
              <a:cs typeface="Arial"/>
            </a:endParaRPr>
          </a:p>
          <a:p>
            <a:pPr>
              <a:lnSpc>
                <a:spcPts val="1913"/>
              </a:lnSpc>
            </a:pPr>
            <a:endParaRPr lang="en-AU" sz="1600" dirty="0">
              <a:solidFill>
                <a:srgbClr val="444444"/>
              </a:solidFill>
            </a:endParaRPr>
          </a:p>
          <a:p>
            <a:r>
              <a:rPr lang="en-AU" sz="1600" b="1" dirty="0">
                <a:latin typeface="Arial"/>
                <a:cs typeface="Arial"/>
              </a:rPr>
              <a:t>Syllabus focus area:</a:t>
            </a:r>
            <a:endParaRPr lang="en-US" sz="1600" dirty="0">
              <a:solidFill>
                <a:srgbClr val="444444"/>
              </a:solidFill>
              <a:latin typeface="Arial"/>
              <a:cs typeface="Arial"/>
            </a:endParaRP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r>
              <a:rPr lang="en-AU" sz="1600" dirty="0"/>
              <a:t>Representing numbers using place value B</a:t>
            </a: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endParaRPr lang="en-AU" sz="1600" dirty="0"/>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r>
              <a:rPr lang="en-AU" sz="1600" dirty="0"/>
              <a:t>This resource corresponds to </a:t>
            </a:r>
            <a:r>
              <a:rPr lang="en-AU" sz="1600" b="1" dirty="0"/>
              <a:t>Resource 24 – decimal cards </a:t>
            </a:r>
            <a:r>
              <a:rPr lang="en-AU" sz="1600" dirty="0"/>
              <a:t>in Stage 2 Year B Unit 38.</a:t>
            </a: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endParaRPr lang="en-AU" sz="1600" b="1" dirty="0"/>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Explain the aim of this activity is to practise locating and ordering decimals on a number line. It will also reinforce students’ understanding of relative sizes of decimals.</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In small groups provide students with Resource 23 – decimal cards.</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Using a whiteboard or paper, students draw a large number line and label key intervals. For example, 0, 1, 2, ..., 10.</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To play the game:</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Students shuffle the cards and split them in 2 equal piles.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Students turn a card over from their pile and record the decimal on their number line.</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For every correct placement, a student gets a point. If a student does not agree with the placement of the card, they ask their partner to justify their placements by explaining the relative size of the decimals.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Reshuffle the cards and play again.</a:t>
            </a:r>
          </a:p>
          <a:p>
            <a:pPr marL="342900" lvl="0" indent="-342900">
              <a:lnSpc>
                <a:spcPct val="150000"/>
              </a:lnSpc>
              <a:spcBef>
                <a:spcPts val="1200"/>
              </a:spcBef>
              <a:spcAft>
                <a:spcPts val="600"/>
              </a:spcAft>
              <a:buFont typeface="+mj-lt"/>
              <a:buAutoNum type="arabicPeriod" startAt="5"/>
            </a:pPr>
            <a:r>
              <a:rPr lang="en-AU" sz="1800" dirty="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What patterns did you notice while placing decimals on the number line?</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Can you share any strategies you used to accurately position the decimals?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What challenges did you encounter while placing decimals on the number line?</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How did you overcome these challenges during the game?</a:t>
            </a:r>
          </a:p>
          <a:p>
            <a:pPr>
              <a:lnSpc>
                <a:spcPct val="150000"/>
              </a:lnSpc>
              <a:spcBef>
                <a:spcPts val="1200"/>
              </a:spcBef>
              <a:spcAft>
                <a:spcPts val="600"/>
              </a:spcAft>
            </a:pPr>
            <a:endParaRPr lang="en-AU" sz="1800" dirty="0">
              <a:latin typeface="Arial"/>
              <a:ea typeface="Calibri"/>
              <a:cs typeface="Arial"/>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3178886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392228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350441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356354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9070415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4494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592638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87860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150548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000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597907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887820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3148812615"/>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19.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30.sv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19.xml"/><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36.svg"/><Relationship Id="rId4"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21.xml"/><Relationship Id="rId5" Type="http://schemas.openxmlformats.org/officeDocument/2006/relationships/image" Target="../media/image40.svg"/><Relationship Id="rId4" Type="http://schemas.openxmlformats.org/officeDocument/2006/relationships/image" Target="../media/image3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9.xml"/><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slide" Target="slide5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environment.nsw.gov.au/topics/animals-and-plants/native-animals/native-animal-fact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dirty="0">
                <a:latin typeface="Arial"/>
                <a:cs typeface="Arial"/>
              </a:rPr>
              <a:t>This resource aligns to the learning in Stage 2 Year B Unit 38 and revisits content from earlier sample units.</a:t>
            </a:r>
          </a:p>
          <a:p>
            <a:pPr marL="342900" indent="-342900">
              <a:buFont typeface="Arial"/>
              <a:buChar char="•"/>
            </a:pPr>
            <a:r>
              <a:rPr lang="en-AU" sz="1800" dirty="0">
                <a:solidFill>
                  <a:srgbClr val="22272B"/>
                </a:solidFill>
                <a:latin typeface="+mn-lt"/>
                <a:cs typeface="Arial"/>
              </a:rPr>
              <a:t>Classroom teachers are encouraged to </a:t>
            </a:r>
            <a:r>
              <a:rPr lang="en-AU" sz="1800" b="1" dirty="0">
                <a:solidFill>
                  <a:srgbClr val="22272B"/>
                </a:solidFill>
                <a:latin typeface="+mn-lt"/>
                <a:cs typeface="Arial"/>
              </a:rPr>
              <a:t>add, edit and adapt</a:t>
            </a:r>
            <a:r>
              <a:rPr lang="en-AU" sz="1800" dirty="0">
                <a:solidFill>
                  <a:srgbClr val="22272B"/>
                </a:solidFill>
                <a:latin typeface="+mn-lt"/>
                <a:cs typeface="Arial"/>
              </a:rPr>
              <a:t> to meet the needs of their students.</a:t>
            </a:r>
          </a:p>
          <a:p>
            <a:pPr marL="342900" indent="-342900">
              <a:lnSpc>
                <a:spcPct val="150000"/>
              </a:lnSpc>
              <a:buFont typeface="Arial"/>
              <a:buChar char="•"/>
            </a:pPr>
            <a:r>
              <a:rPr lang="en-AU" sz="1800" dirty="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cs typeface="Arial"/>
              </a:rPr>
              <a:t>To convert the PowerPoint to Google Slides:</a:t>
            </a:r>
          </a:p>
          <a:p>
            <a:pPr marL="913765" lvl="1" indent="-457200">
              <a:lnSpc>
                <a:spcPct val="150000"/>
              </a:lnSpc>
              <a:buFont typeface="+mj-lt"/>
              <a:buAutoNum type="arabicPeriod"/>
            </a:pPr>
            <a:r>
              <a:rPr lang="en-AU" dirty="0">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dirty="0">
                <a:solidFill>
                  <a:srgbClr val="22272B"/>
                </a:solidFill>
                <a:latin typeface="+mn-lt"/>
                <a:cs typeface="Arial"/>
              </a:rPr>
              <a:t>Go to File &gt; Save as Google Slides.</a:t>
            </a:r>
          </a:p>
          <a:p>
            <a:pPr marL="456565" lvl="1">
              <a:lnSpc>
                <a:spcPct val="150000"/>
              </a:lnSpc>
            </a:pPr>
            <a:r>
              <a:rPr lang="en-AU" dirty="0">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dirty="0">
                <a:latin typeface="+mj-lt"/>
                <a:cs typeface="Arial"/>
              </a:rPr>
              <a:t>Mathematics Stage 2 </a:t>
            </a:r>
            <a:r>
              <a:rPr lang="en-AU" sz="2400" dirty="0">
                <a:solidFill>
                  <a:srgbClr val="FFFFFF"/>
                </a:solidFill>
                <a:latin typeface="+mj-lt"/>
                <a:cs typeface="Arial"/>
              </a:rPr>
              <a:t>–</a:t>
            </a:r>
            <a:r>
              <a:rPr lang="en-AU" sz="2400" dirty="0">
                <a:latin typeface="+mj-lt"/>
                <a:cs typeface="Arial"/>
              </a:rPr>
              <a:t> Unit 38</a:t>
            </a:r>
          </a:p>
        </p:txBody>
      </p:sp>
      <p:pic>
        <p:nvPicPr>
          <p:cNvPr id="1026" name="Picture 2" descr="A group of dice on an orange surface&#10;&#10;Description automatically generated">
            <a:extLst>
              <a:ext uri="{FF2B5EF4-FFF2-40B4-BE49-F238E27FC236}">
                <a16:creationId xmlns:a16="http://schemas.microsoft.com/office/drawing/2014/main" id="{4C45AFD8-1A65-DE91-574E-A3BA8B7840B0}"/>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799" r="17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dirty="0">
                <a:latin typeface="Arial"/>
                <a:cs typeface="Arial"/>
              </a:rPr>
              <a:t>Multiple choice </a:t>
            </a:r>
            <a:r>
              <a:rPr lang="en-US" dirty="0">
                <a:solidFill>
                  <a:schemeClr val="bg1"/>
                </a:solidFill>
                <a:latin typeface="Arial"/>
                <a:cs typeface="Arial"/>
              </a:rPr>
              <a:t>(1)</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45931" y="1184018"/>
            <a:ext cx="11107316" cy="3406373"/>
          </a:xfrm>
        </p:spPr>
        <p:txBody>
          <a:bodyPr vert="horz" lIns="0" tIns="0" rIns="0" bIns="0" rtlCol="0" anchor="t">
            <a:noAutofit/>
          </a:bodyPr>
          <a:lstStyle/>
          <a:p>
            <a:r>
              <a:rPr lang="en-AU" sz="4000" dirty="0">
                <a:latin typeface="Arial"/>
                <a:cs typeface="Arial"/>
              </a:rPr>
              <a:t>An apple costs $2.50, a banana costs $1.20 and an orange costs $1.45. Which is the </a:t>
            </a:r>
            <a:r>
              <a:rPr lang="en-AU" sz="4000" b="1" dirty="0">
                <a:latin typeface="Arial"/>
                <a:cs typeface="Arial"/>
              </a:rPr>
              <a:t>closest estimate </a:t>
            </a:r>
            <a:r>
              <a:rPr lang="en-AU" sz="4000" dirty="0">
                <a:latin typeface="Arial"/>
                <a:cs typeface="Arial"/>
              </a:rPr>
              <a:t>of the </a:t>
            </a:r>
            <a:r>
              <a:rPr lang="en-AU" sz="4000" b="1" dirty="0">
                <a:latin typeface="Arial"/>
                <a:cs typeface="Arial"/>
              </a:rPr>
              <a:t>total cost</a:t>
            </a:r>
            <a:r>
              <a:rPr lang="en-AU" sz="4000" dirty="0">
                <a:latin typeface="Arial"/>
                <a:cs typeface="Arial"/>
              </a:rPr>
              <a:t>?</a:t>
            </a:r>
            <a:endParaRPr lang="en-US" sz="4400" dirty="0">
              <a:latin typeface="Arial"/>
              <a:cs typeface="Arial"/>
            </a:endParaRPr>
          </a:p>
        </p:txBody>
      </p:sp>
      <p:pic>
        <p:nvPicPr>
          <p:cNvPr id="4" name="Picture 3" descr="image of a finger selecting an option for a multiple choice or true and false">
            <a:extLst>
              <a:ext uri="{FF2B5EF4-FFF2-40B4-BE49-F238E27FC236}">
                <a16:creationId xmlns:a16="http://schemas.microsoft.com/office/drawing/2014/main" id="{213BF0C3-EA70-69CD-39F5-736545693249}"/>
              </a:ext>
            </a:extLst>
          </p:cNvPr>
          <p:cNvPicPr>
            <a:picLocks noChangeAspect="1"/>
          </p:cNvPicPr>
          <p:nvPr/>
        </p:nvPicPr>
        <p:blipFill>
          <a:blip r:embed="rId3"/>
          <a:stretch>
            <a:fillRect/>
          </a:stretch>
        </p:blipFill>
        <p:spPr>
          <a:xfrm>
            <a:off x="10807908" y="43303"/>
            <a:ext cx="1165786" cy="1140716"/>
          </a:xfrm>
          <a:prstGeom prst="rect">
            <a:avLst/>
          </a:prstGeom>
          <a:ln>
            <a:noFill/>
          </a:ln>
        </p:spPr>
      </p:pic>
      <p:graphicFrame>
        <p:nvGraphicFramePr>
          <p:cNvPr id="7" name="Table 6">
            <a:extLst>
              <a:ext uri="{FF2B5EF4-FFF2-40B4-BE49-F238E27FC236}">
                <a16:creationId xmlns:a16="http://schemas.microsoft.com/office/drawing/2014/main" id="{9E3575BA-C13C-C51A-85BD-9ACF8C4CE0F4}"/>
              </a:ext>
            </a:extLst>
          </p:cNvPr>
          <p:cNvGraphicFramePr>
            <a:graphicFrameLocks noGrp="1"/>
          </p:cNvGraphicFramePr>
          <p:nvPr>
            <p:extLst>
              <p:ext uri="{D42A27DB-BD31-4B8C-83A1-F6EECF244321}">
                <p14:modId xmlns:p14="http://schemas.microsoft.com/office/powerpoint/2010/main" val="3319105545"/>
              </p:ext>
            </p:extLst>
          </p:nvPr>
        </p:nvGraphicFramePr>
        <p:xfrm>
          <a:off x="572708" y="4791196"/>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dirty="0">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latin typeface="+mn-lt"/>
                          <a:cs typeface="Arial"/>
                        </a:rPr>
                        <a:t>$4.50</a:t>
                      </a:r>
                      <a:endParaRPr lang="en-AU" sz="4000" dirty="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latin typeface="+mn-lt"/>
                          <a:cs typeface="Arial"/>
                        </a:rPr>
                        <a:t>$5.00</a:t>
                      </a:r>
                      <a:endParaRPr lang="en-AU" sz="4000" dirty="0"/>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latin typeface="+mn-lt"/>
                          <a:cs typeface="Arial"/>
                        </a:rPr>
                        <a:t>$5.50</a:t>
                      </a:r>
                      <a:endParaRPr lang="en-AU" sz="4000" dirty="0"/>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latin typeface="+mn-lt"/>
                          <a:cs typeface="Arial"/>
                        </a:rPr>
                        <a:t>$6.00</a:t>
                      </a:r>
                      <a:endParaRPr lang="en-AU" sz="4000" dirty="0"/>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dirty="0">
                <a:latin typeface="Arial"/>
                <a:cs typeface="Arial"/>
              </a:rPr>
              <a:t>Short response</a:t>
            </a:r>
            <a:r>
              <a:rPr lang="en-US" dirty="0">
                <a:solidFill>
                  <a:schemeClr val="bg1"/>
                </a:solidFill>
                <a:latin typeface="Arial"/>
                <a:cs typeface="Arial"/>
              </a:rPr>
              <a:t> (1)</a:t>
            </a:r>
          </a:p>
        </p:txBody>
      </p:sp>
      <p:sp>
        <p:nvSpPr>
          <p:cNvPr id="11" name="Picture Placeholder 10" descr="Length of Australian animals (adult males) column graph. x-axis title animal. y-axis title length (centimetres). y-axis labels zero to ninety in multiples of ten. x-axis columns koala eighty, platypus fifty, bell frog eight, bandicoot forty four, kookaburra forty-eight.">
            <a:extLst>
              <a:ext uri="{FF2B5EF4-FFF2-40B4-BE49-F238E27FC236}">
                <a16:creationId xmlns:a16="http://schemas.microsoft.com/office/drawing/2014/main" id="{4F3FEFD7-8600-F68D-84BD-680FA1695628}"/>
              </a:ext>
            </a:extLst>
          </p:cNvPr>
          <p:cNvSpPr>
            <a:spLocks noGrp="1"/>
          </p:cNvSpPr>
          <p:nvPr>
            <p:ph type="pic" sz="quarter" idx="21"/>
          </p:nvPr>
        </p:nvSpPr>
        <p:spPr>
          <a:xfrm>
            <a:off x="360000" y="1161850"/>
            <a:ext cx="11484000" cy="4092718"/>
          </a:xfrm>
        </p:spPr>
        <p:txBody>
          <a:bodyPr/>
          <a:lstStyle/>
          <a:p>
            <a:pPr algn="ctr"/>
            <a:r>
              <a:rPr lang="en-AU" sz="4000" dirty="0"/>
              <a:t>What is the length of the adult male platypus?</a:t>
            </a:r>
            <a:br>
              <a:rPr lang="en-AU" sz="4400" dirty="0"/>
            </a:br>
            <a:endParaRPr lang="en-AU" sz="4400" dirty="0"/>
          </a:p>
          <a:p>
            <a:pPr algn="ctr"/>
            <a:endParaRPr lang="en-US" sz="54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CD9E655-ACD9-A77F-AC24-CF29796A279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Rectangle 2" descr="Length of Australian animals (adult males) column graph. x-axis title animal. y-axis title length (centimetres). y-axis labels zero to ninety in multiples of ten. x-axis columns koala eighty, platypus fifty, bell frog eight, bandicoot forty four, kookaburra forty-eight.">
            <a:extLst>
              <a:ext uri="{FF2B5EF4-FFF2-40B4-BE49-F238E27FC236}">
                <a16:creationId xmlns:a16="http://schemas.microsoft.com/office/drawing/2014/main" id="{83660239-0F43-0A55-AAD6-4FF5BC22C134}"/>
              </a:ext>
            </a:extLst>
          </p:cNvPr>
          <p:cNvSpPr>
            <a:spLocks noChangeArrowheads="1"/>
          </p:cNvSpPr>
          <p:nvPr/>
        </p:nvSpPr>
        <p:spPr bwMode="auto">
          <a:xfrm>
            <a:off x="922149" y="26872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pic>
        <p:nvPicPr>
          <p:cNvPr id="1025" name="Picture 679568119" descr="Length of Australian animals (adult males) column graph. x-axis title animal. y-axis title length (centimetres). y-axis labels zero to ninety in multiples of ten. x-axis columns koala eighty, platypus fifty, bell frog eight, bandicoot forty four, kookaburra forty-eight.">
            <a:extLst>
              <a:ext uri="{FF2B5EF4-FFF2-40B4-BE49-F238E27FC236}">
                <a16:creationId xmlns:a16="http://schemas.microsoft.com/office/drawing/2014/main" id="{2D70C2FC-3EA5-4182-09E1-D8D440E57A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3487" y="2199382"/>
            <a:ext cx="7185025" cy="38862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Rectangle 3" descr="Length of Australian animals (adult males) column graph. x-axis title animal. y-axis title length (centimetres). y-axis labels zero to ninety in multiples of ten. x-axis columns koala eighty, platypus fifty, bell frog eight, bandicoot forty four, kookaburra forty-eight.">
            <a:extLst>
              <a:ext uri="{FF2B5EF4-FFF2-40B4-BE49-F238E27FC236}">
                <a16:creationId xmlns:a16="http://schemas.microsoft.com/office/drawing/2014/main" id="{08FC7044-B060-9456-9FB7-0D08620F17CB}"/>
              </a:ext>
            </a:extLst>
          </p:cNvPr>
          <p:cNvSpPr>
            <a:spLocks noChangeArrowheads="1"/>
          </p:cNvSpPr>
          <p:nvPr/>
        </p:nvSpPr>
        <p:spPr bwMode="auto">
          <a:xfrm>
            <a:off x="2419872" y="6352084"/>
            <a:ext cx="5423473"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9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Data sourced from State of New South Wales (Department of Planning and Environment) 2020.</a:t>
            </a:r>
            <a:br>
              <a:rPr kumimoji="0" lang="en-AU" altLang="en-US" sz="9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b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dirty="0">
                <a:latin typeface="Arial"/>
                <a:cs typeface="Arial"/>
              </a:rPr>
              <a:t>Short response</a:t>
            </a:r>
            <a:r>
              <a:rPr lang="en-US" dirty="0">
                <a:solidFill>
                  <a:schemeClr val="bg1"/>
                </a:solidFill>
                <a:latin typeface="Arial"/>
                <a:cs typeface="Arial"/>
              </a:rPr>
              <a:t> (2)</a:t>
            </a:r>
          </a:p>
        </p:txBody>
      </p:sp>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702939" y="1184223"/>
            <a:ext cx="11243037" cy="3056398"/>
          </a:xfrm>
        </p:spPr>
        <p:txBody>
          <a:bodyPr/>
          <a:lstStyle/>
          <a:p>
            <a:pPr algn="ctr"/>
            <a:r>
              <a:rPr lang="en-US" sz="4400" dirty="0">
                <a:latin typeface="Arial"/>
                <a:cs typeface="Arial"/>
              </a:rPr>
              <a:t>Which number sequence doesn’t belong?</a:t>
            </a:r>
            <a:br>
              <a:rPr lang="en-US" sz="4400" dirty="0">
                <a:latin typeface="Arial"/>
                <a:cs typeface="Arial"/>
              </a:rPr>
            </a:br>
            <a:r>
              <a:rPr lang="en-AU" sz="4400" b="1" dirty="0">
                <a:ea typeface="Cambria Math" panose="02040503050406030204" pitchFamily="18" charset="0"/>
                <a:cs typeface="Arial"/>
              </a:rPr>
              <a:t>Explain </a:t>
            </a:r>
            <a:r>
              <a:rPr lang="en-AU" sz="4400" dirty="0">
                <a:ea typeface="Cambria Math" panose="02040503050406030204" pitchFamily="18" charset="0"/>
                <a:cs typeface="Arial"/>
              </a:rPr>
              <a:t>your</a:t>
            </a:r>
            <a:r>
              <a:rPr lang="en-AU" sz="4400" b="1" dirty="0">
                <a:ea typeface="Cambria Math" panose="02040503050406030204" pitchFamily="18" charset="0"/>
                <a:cs typeface="Arial"/>
              </a:rPr>
              <a:t> reasoning</a:t>
            </a:r>
            <a:r>
              <a:rPr lang="en-AU" sz="4400" dirty="0">
                <a:ea typeface="Cambria Math" panose="02040503050406030204" pitchFamily="18" charset="0"/>
                <a:cs typeface="Arial"/>
              </a:rPr>
              <a:t>.</a:t>
            </a:r>
            <a:endParaRPr lang="en-US" sz="4400" b="1"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3E03FFC0-6E0A-A05F-B9DA-60172F35794C}"/>
              </a:ext>
            </a:extLst>
          </p:cNvPr>
          <p:cNvPicPr>
            <a:picLocks noChangeAspect="1"/>
          </p:cNvPicPr>
          <p:nvPr/>
        </p:nvPicPr>
        <p:blipFill>
          <a:blip r:embed="rId3"/>
          <a:stretch>
            <a:fillRect/>
          </a:stretch>
        </p:blipFill>
        <p:spPr>
          <a:xfrm>
            <a:off x="11030476" y="268723"/>
            <a:ext cx="915500" cy="915500"/>
          </a:xfrm>
          <a:prstGeom prst="rect">
            <a:avLst/>
          </a:prstGeom>
          <a:ln>
            <a:noFill/>
          </a:ln>
        </p:spPr>
      </p:pic>
      <p:graphicFrame>
        <p:nvGraphicFramePr>
          <p:cNvPr id="5" name="Table 4">
            <a:extLst>
              <a:ext uri="{FF2B5EF4-FFF2-40B4-BE49-F238E27FC236}">
                <a16:creationId xmlns:a16="http://schemas.microsoft.com/office/drawing/2014/main" id="{B43842DA-09D9-12EE-A215-1A3737A6BC13}"/>
              </a:ext>
            </a:extLst>
          </p:cNvPr>
          <p:cNvGraphicFramePr>
            <a:graphicFrameLocks noGrp="1"/>
          </p:cNvGraphicFramePr>
          <p:nvPr>
            <p:extLst>
              <p:ext uri="{D42A27DB-BD31-4B8C-83A1-F6EECF244321}">
                <p14:modId xmlns:p14="http://schemas.microsoft.com/office/powerpoint/2010/main" val="1295009163"/>
              </p:ext>
            </p:extLst>
          </p:nvPr>
        </p:nvGraphicFramePr>
        <p:xfrm>
          <a:off x="572708" y="3760638"/>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dirty="0">
                          <a:solidFill>
                            <a:schemeClr val="tx1"/>
                          </a:solidFill>
                        </a:rPr>
                        <a:t>A</a:t>
                      </a:r>
                    </a:p>
                  </a:txBody>
                  <a:tcP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dirty="0">
                          <a:solidFill>
                            <a:schemeClr val="tx1"/>
                          </a:solidFill>
                        </a:rPr>
                        <a:t>B</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dirty="0">
                          <a:solidFill>
                            <a:schemeClr val="tx1"/>
                          </a:solidFill>
                        </a:rPr>
                        <a:t>C</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t>3, 6, 12</a:t>
                      </a:r>
                    </a:p>
                  </a:txBody>
                  <a:tcP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t>4, 8, 16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t>4, 8, 15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latin typeface="+mn-lt"/>
                          <a:cs typeface="Arial"/>
                        </a:rPr>
                        <a:t>6, 12, 24</a:t>
                      </a:r>
                      <a:endParaRPr lang="en-AU" sz="4000" dirty="0"/>
                    </a:p>
                  </a:txBody>
                  <a:tcP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a:t>
            </a:r>
          </a:p>
        </p:txBody>
      </p:sp>
      <p:sp>
        <p:nvSpPr>
          <p:cNvPr id="6" name="Picture Placeholder 10">
            <a:extLst>
              <a:ext uri="{FF2B5EF4-FFF2-40B4-BE49-F238E27FC236}">
                <a16:creationId xmlns:a16="http://schemas.microsoft.com/office/drawing/2014/main" id="{84B27F89-4220-CBB0-A2BD-DF8B45274182}"/>
              </a:ext>
            </a:extLst>
          </p:cNvPr>
          <p:cNvSpPr txBox="1">
            <a:spLocks/>
          </p:cNvSpPr>
          <p:nvPr/>
        </p:nvSpPr>
        <p:spPr>
          <a:xfrm>
            <a:off x="358319" y="1934308"/>
            <a:ext cx="11243037" cy="195911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r>
              <a:rPr lang="en-US" sz="4400" dirty="0">
                <a:latin typeface="Arial"/>
                <a:cs typeface="Arial"/>
              </a:rPr>
            </a:br>
            <a:endParaRPr lang="en-US" sz="4400" dirty="0">
              <a:solidFill>
                <a:srgbClr val="22272B"/>
              </a:solidFill>
            </a:endParaRPr>
          </a:p>
          <a:p>
            <a:endParaRPr lang="en-US" dirty="0">
              <a:latin typeface="Arial"/>
              <a:cs typeface="Arial"/>
            </a:endParaRPr>
          </a:p>
        </p:txBody>
      </p:sp>
      <mc:AlternateContent xmlns:mc="http://schemas.openxmlformats.org/markup-compatibility/2006" xmlns:a14="http://schemas.microsoft.com/office/drawing/2010/main">
        <mc:Choice Requires="a14">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742584" y="607605"/>
                <a:ext cx="10288355" cy="485020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latin typeface="Arial"/>
                    <a:cs typeface="Arial"/>
                  </a:rPr>
                  <a:t>Write the letter that </a:t>
                </a:r>
                <a:r>
                  <a:rPr lang="en-AU" sz="4400" b="1" dirty="0">
                    <a:latin typeface="Arial"/>
                    <a:cs typeface="Arial"/>
                  </a:rPr>
                  <a:t>represents </a:t>
                </a:r>
                <a:r>
                  <a:rPr lang="en-US" sz="4400" b="1" dirty="0">
                    <a:latin typeface="Arial"/>
                    <a:cs typeface="Arial"/>
                  </a:rPr>
                  <a:t> </a:t>
                </a:r>
                <a14:m>
                  <m:oMath xmlns:m="http://schemas.openxmlformats.org/officeDocument/2006/math">
                    <m:f>
                      <m:fPr>
                        <m:ctrlPr>
                          <a:rPr lang="en-AU" sz="4400" b="1" i="1">
                            <a:latin typeface="Cambria Math" panose="02040503050406030204" pitchFamily="18" charset="0"/>
                            <a:cs typeface="Arial"/>
                          </a:rPr>
                        </m:ctrlPr>
                      </m:fPr>
                      <m:num>
                        <m:r>
                          <a:rPr lang="en-AU" sz="4400" b="1" i="1">
                            <a:latin typeface="Cambria Math" panose="02040503050406030204" pitchFamily="18" charset="0"/>
                            <a:cs typeface="Arial"/>
                          </a:rPr>
                          <m:t>𝟏</m:t>
                        </m:r>
                      </m:num>
                      <m:den>
                        <m:r>
                          <a:rPr lang="en-AU" sz="4400" b="1" i="1" smtClean="0">
                            <a:latin typeface="Cambria Math" panose="02040503050406030204" pitchFamily="18" charset="0"/>
                            <a:cs typeface="Arial"/>
                          </a:rPr>
                          <m:t>𝟒</m:t>
                        </m:r>
                      </m:den>
                    </m:f>
                  </m:oMath>
                </a14:m>
                <a:r>
                  <a:rPr lang="en-AU" sz="4400" dirty="0">
                    <a:latin typeface="Arial"/>
                    <a:cs typeface="Arial"/>
                  </a:rPr>
                  <a:t> </a:t>
                </a:r>
              </a:p>
              <a:p>
                <a:pPr algn="ctr"/>
                <a:r>
                  <a:rPr lang="en-AU" sz="4400" dirty="0">
                    <a:latin typeface="Arial"/>
                    <a:cs typeface="Arial"/>
                  </a:rPr>
                  <a:t>on the </a:t>
                </a:r>
                <a:r>
                  <a:rPr lang="en-AU" sz="4400" b="1" dirty="0">
                    <a:latin typeface="Arial"/>
                    <a:cs typeface="Arial"/>
                  </a:rPr>
                  <a:t>number line</a:t>
                </a:r>
                <a:r>
                  <a:rPr lang="en-AU" sz="4400" dirty="0">
                    <a:latin typeface="Arial"/>
                    <a:cs typeface="Arial"/>
                  </a:rPr>
                  <a:t>.</a:t>
                </a:r>
                <a:endParaRPr lang="en-AU" sz="4400" dirty="0">
                  <a:latin typeface="+mj-lt"/>
                  <a:ea typeface="Cambria Math" panose="02040503050406030204" pitchFamily="18" charset="0"/>
                  <a:cs typeface="Arial"/>
                </a:endParaRPr>
              </a:p>
            </p:txBody>
          </p:sp>
        </mc:Choice>
        <mc:Fallback xmlns="">
          <p:sp>
            <p:nvSpPr>
              <p:cNvPr id="8" name="Picture Placeholder 10">
                <a:extLst>
                  <a:ext uri="{FF2B5EF4-FFF2-40B4-BE49-F238E27FC236}">
                    <a16:creationId xmlns:a16="http://schemas.microsoft.com/office/drawing/2014/main" id="{C71FA276-C5C1-DB90-3082-41EDC65E643E}"/>
                  </a:ext>
                </a:extLst>
              </p:cNvPr>
              <p:cNvSpPr txBox="1">
                <a:spLocks noRot="1" noChangeAspect="1" noMove="1" noResize="1" noEditPoints="1" noAdjustHandles="1" noChangeArrowheads="1" noChangeShapeType="1" noTextEdit="1"/>
              </p:cNvSpPr>
              <p:nvPr/>
            </p:nvSpPr>
            <p:spPr>
              <a:xfrm>
                <a:off x="742584" y="607605"/>
                <a:ext cx="10288355" cy="4850204"/>
              </a:xfrm>
              <a:prstGeom prst="rect">
                <a:avLst/>
              </a:prstGeom>
              <a:blipFill>
                <a:blip r:embed="rId3"/>
                <a:stretch>
                  <a:fillRect/>
                </a:stretch>
              </a:blipFill>
            </p:spPr>
            <p:txBody>
              <a:bodyPr/>
              <a:lstStyle/>
              <a:p>
                <a:r>
                  <a:rPr lang="en-AU">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668EA503-53FA-A948-785F-ED4A432D9FBB}"/>
              </a:ext>
            </a:extLst>
          </p:cNvPr>
          <p:cNvPicPr>
            <a:picLocks noChangeAspect="1"/>
          </p:cNvPicPr>
          <p:nvPr/>
        </p:nvPicPr>
        <p:blipFill>
          <a:blip r:embed="rId4"/>
          <a:stretch>
            <a:fillRect/>
          </a:stretch>
        </p:blipFill>
        <p:spPr>
          <a:xfrm>
            <a:off x="11030476" y="268723"/>
            <a:ext cx="915500" cy="915500"/>
          </a:xfrm>
          <a:prstGeom prst="rect">
            <a:avLst/>
          </a:prstGeom>
          <a:ln>
            <a:noFill/>
          </a:ln>
        </p:spPr>
      </p:pic>
      <p:pic>
        <p:nvPicPr>
          <p:cNvPr id="92" name="Picture 91" descr="A number line from zero to one. Markings are placed to represent eighths and are labelled A to G.">
            <a:extLst>
              <a:ext uri="{FF2B5EF4-FFF2-40B4-BE49-F238E27FC236}">
                <a16:creationId xmlns:a16="http://schemas.microsoft.com/office/drawing/2014/main" id="{76FE4284-C4B8-5D6B-AA33-4133D68C62A7}"/>
              </a:ext>
            </a:extLst>
          </p:cNvPr>
          <p:cNvPicPr>
            <a:picLocks noChangeAspect="1"/>
          </p:cNvPicPr>
          <p:nvPr/>
        </p:nvPicPr>
        <p:blipFill>
          <a:blip r:embed="rId5"/>
          <a:stretch>
            <a:fillRect/>
          </a:stretch>
        </p:blipFill>
        <p:spPr>
          <a:xfrm>
            <a:off x="1028024" y="3294298"/>
            <a:ext cx="10287892" cy="2446232"/>
          </a:xfrm>
          <a:prstGeom prst="rect">
            <a:avLst/>
          </a:prstGeom>
        </p:spPr>
      </p:pic>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(4)</a:t>
            </a:r>
          </a:p>
        </p:txBody>
      </p:sp>
      <p:sp>
        <p:nvSpPr>
          <p:cNvPr id="4" name="TextBox 3">
            <a:extLst>
              <a:ext uri="{FF2B5EF4-FFF2-40B4-BE49-F238E27FC236}">
                <a16:creationId xmlns:a16="http://schemas.microsoft.com/office/drawing/2014/main" id="{ACE368C0-314C-A403-7607-31BE895B3C86}"/>
              </a:ext>
            </a:extLst>
          </p:cNvPr>
          <p:cNvSpPr txBox="1"/>
          <p:nvPr/>
        </p:nvSpPr>
        <p:spPr>
          <a:xfrm>
            <a:off x="392466" y="1275961"/>
            <a:ext cx="10933567" cy="1011688"/>
          </a:xfrm>
          <a:prstGeom prst="rect">
            <a:avLst/>
          </a:prstGeom>
          <a:noFill/>
        </p:spPr>
        <p:txBody>
          <a:bodyPr wrap="square" lIns="0" tIns="0" rIns="0" bIns="0" rtlCol="0">
            <a:noAutofit/>
          </a:bodyPr>
          <a:lstStyle/>
          <a:p>
            <a:pPr algn="ctr"/>
            <a:r>
              <a:rPr lang="en-AU" sz="4400" dirty="0"/>
              <a:t>Which of these is </a:t>
            </a:r>
            <a:r>
              <a:rPr lang="en-AU" sz="4400" b="1" dirty="0"/>
              <a:t>not</a:t>
            </a:r>
            <a:r>
              <a:rPr lang="en-AU" sz="4400" dirty="0"/>
              <a:t> a </a:t>
            </a:r>
            <a:r>
              <a:rPr lang="en-AU" sz="4400" b="1" dirty="0"/>
              <a:t>right angle</a:t>
            </a:r>
            <a:r>
              <a:rPr lang="en-AU" sz="4400" dirty="0"/>
              <a:t>?</a:t>
            </a:r>
          </a:p>
          <a:p>
            <a:pPr algn="ctr"/>
            <a:endParaRPr lang="en-AU" sz="3200" dirty="0"/>
          </a:p>
        </p:txBody>
      </p:sp>
      <p:pic>
        <p:nvPicPr>
          <p:cNvPr id="5" name="Picture 4" descr="image of a clipboard with a pencil recording short answer responses">
            <a:extLst>
              <a:ext uri="{FF2B5EF4-FFF2-40B4-BE49-F238E27FC236}">
                <a16:creationId xmlns:a16="http://schemas.microsoft.com/office/drawing/2014/main" id="{67A30562-E1FE-0A17-E004-1B27CE78EE7A}"/>
              </a:ext>
            </a:extLst>
          </p:cNvPr>
          <p:cNvPicPr>
            <a:picLocks noChangeAspect="1"/>
          </p:cNvPicPr>
          <p:nvPr/>
        </p:nvPicPr>
        <p:blipFill>
          <a:blip r:embed="rId3"/>
          <a:stretch>
            <a:fillRect/>
          </a:stretch>
        </p:blipFill>
        <p:spPr>
          <a:xfrm>
            <a:off x="11030476" y="268723"/>
            <a:ext cx="915500" cy="915500"/>
          </a:xfrm>
          <a:prstGeom prst="rect">
            <a:avLst/>
          </a:prstGeom>
          <a:ln>
            <a:noFill/>
          </a:ln>
        </p:spPr>
      </p:pic>
      <p:graphicFrame>
        <p:nvGraphicFramePr>
          <p:cNvPr id="6" name="Table 5">
            <a:extLst>
              <a:ext uri="{FF2B5EF4-FFF2-40B4-BE49-F238E27FC236}">
                <a16:creationId xmlns:a16="http://schemas.microsoft.com/office/drawing/2014/main" id="{25C69E85-A015-A461-37F6-8A4737EA924A}"/>
              </a:ext>
            </a:extLst>
          </p:cNvPr>
          <p:cNvGraphicFramePr>
            <a:graphicFrameLocks noGrp="1"/>
          </p:cNvGraphicFramePr>
          <p:nvPr>
            <p:extLst>
              <p:ext uri="{D42A27DB-BD31-4B8C-83A1-F6EECF244321}">
                <p14:modId xmlns:p14="http://schemas.microsoft.com/office/powerpoint/2010/main" val="1029535521"/>
              </p:ext>
            </p:extLst>
          </p:nvPr>
        </p:nvGraphicFramePr>
        <p:xfrm>
          <a:off x="479184" y="3960247"/>
          <a:ext cx="10551292" cy="82296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dirty="0">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dirty="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dirty="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bl>
          </a:graphicData>
        </a:graphic>
      </p:graphicFrame>
      <p:sp>
        <p:nvSpPr>
          <p:cNvPr id="7" name="Freeform 2" descr="A right angle.">
            <a:extLst>
              <a:ext uri="{FF2B5EF4-FFF2-40B4-BE49-F238E27FC236}">
                <a16:creationId xmlns:a16="http://schemas.microsoft.com/office/drawing/2014/main" id="{A6B2B4ED-9406-B6DC-2929-9E17DEF844BB}"/>
              </a:ext>
            </a:extLst>
          </p:cNvPr>
          <p:cNvSpPr/>
          <p:nvPr/>
        </p:nvSpPr>
        <p:spPr>
          <a:xfrm rot="8260195">
            <a:off x="4183380" y="2772976"/>
            <a:ext cx="1419098" cy="1312047"/>
          </a:xfrm>
          <a:custGeom>
            <a:avLst/>
            <a:gdLst/>
            <a:ahLst/>
            <a:cxnLst/>
            <a:rect l="l" t="t" r="r" b="b"/>
            <a:pathLst>
              <a:path w="485318" h="484104">
                <a:moveTo>
                  <a:pt x="0" y="0"/>
                </a:moveTo>
                <a:lnTo>
                  <a:pt x="485317" y="0"/>
                </a:lnTo>
                <a:lnTo>
                  <a:pt x="485317" y="484104"/>
                </a:lnTo>
                <a:lnTo>
                  <a:pt x="0" y="4841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3" descr="An acute angle.">
            <a:extLst>
              <a:ext uri="{FF2B5EF4-FFF2-40B4-BE49-F238E27FC236}">
                <a16:creationId xmlns:a16="http://schemas.microsoft.com/office/drawing/2014/main" id="{EC06B0BF-A425-89AA-13B1-92A80C7C1065}"/>
              </a:ext>
            </a:extLst>
          </p:cNvPr>
          <p:cNvSpPr/>
          <p:nvPr/>
        </p:nvSpPr>
        <p:spPr>
          <a:xfrm>
            <a:off x="6784073" y="2308196"/>
            <a:ext cx="1330344" cy="1211698"/>
          </a:xfrm>
          <a:custGeom>
            <a:avLst/>
            <a:gdLst/>
            <a:ahLst/>
            <a:cxnLst/>
            <a:rect l="l" t="t" r="r" b="b"/>
            <a:pathLst>
              <a:path w="531468" h="404580">
                <a:moveTo>
                  <a:pt x="0" y="0"/>
                </a:moveTo>
                <a:lnTo>
                  <a:pt x="531468" y="0"/>
                </a:lnTo>
                <a:lnTo>
                  <a:pt x="531468" y="404580"/>
                </a:lnTo>
                <a:lnTo>
                  <a:pt x="0" y="4045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9" name="Freeform 4" descr="A right angle.">
            <a:extLst>
              <a:ext uri="{FF2B5EF4-FFF2-40B4-BE49-F238E27FC236}">
                <a16:creationId xmlns:a16="http://schemas.microsoft.com/office/drawing/2014/main" id="{CE422A8B-C93A-A1D8-D553-0CF3FD063AB0}"/>
              </a:ext>
            </a:extLst>
          </p:cNvPr>
          <p:cNvSpPr/>
          <p:nvPr/>
        </p:nvSpPr>
        <p:spPr>
          <a:xfrm>
            <a:off x="1436120" y="2308196"/>
            <a:ext cx="1580110" cy="1428428"/>
          </a:xfrm>
          <a:custGeom>
            <a:avLst/>
            <a:gdLst/>
            <a:ahLst/>
            <a:cxnLst/>
            <a:rect l="l" t="t" r="r" b="b"/>
            <a:pathLst>
              <a:path w="485318" h="484104">
                <a:moveTo>
                  <a:pt x="0" y="0"/>
                </a:moveTo>
                <a:lnTo>
                  <a:pt x="485318" y="0"/>
                </a:lnTo>
                <a:lnTo>
                  <a:pt x="485318" y="484104"/>
                </a:lnTo>
                <a:lnTo>
                  <a:pt x="0" y="48410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0" name="Freeform 5" descr="A right angle.">
            <a:extLst>
              <a:ext uri="{FF2B5EF4-FFF2-40B4-BE49-F238E27FC236}">
                <a16:creationId xmlns:a16="http://schemas.microsoft.com/office/drawing/2014/main" id="{E826C086-F372-75D4-FC00-DB8F2214EBFC}"/>
              </a:ext>
            </a:extLst>
          </p:cNvPr>
          <p:cNvSpPr/>
          <p:nvPr/>
        </p:nvSpPr>
        <p:spPr>
          <a:xfrm rot="-2416800">
            <a:off x="9209685" y="1808418"/>
            <a:ext cx="1610708" cy="1529914"/>
          </a:xfrm>
          <a:custGeom>
            <a:avLst/>
            <a:gdLst/>
            <a:ahLst/>
            <a:cxnLst/>
            <a:rect l="l" t="t" r="r" b="b"/>
            <a:pathLst>
              <a:path w="485318" h="484104">
                <a:moveTo>
                  <a:pt x="0" y="0"/>
                </a:moveTo>
                <a:lnTo>
                  <a:pt x="485317" y="0"/>
                </a:lnTo>
                <a:lnTo>
                  <a:pt x="485317" y="484104"/>
                </a:lnTo>
                <a:lnTo>
                  <a:pt x="0" y="48410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2" name="TextBox 11">
            <a:extLst>
              <a:ext uri="{FF2B5EF4-FFF2-40B4-BE49-F238E27FC236}">
                <a16:creationId xmlns:a16="http://schemas.microsoft.com/office/drawing/2014/main" id="{FD8A779A-78F6-E3DD-EE45-F35E565567A9}"/>
              </a:ext>
            </a:extLst>
          </p:cNvPr>
          <p:cNvSpPr txBox="1"/>
          <p:nvPr/>
        </p:nvSpPr>
        <p:spPr>
          <a:xfrm>
            <a:off x="864200" y="5459381"/>
            <a:ext cx="10463600" cy="769441"/>
          </a:xfrm>
          <a:prstGeom prst="rect">
            <a:avLst/>
          </a:prstGeom>
          <a:noFill/>
        </p:spPr>
        <p:txBody>
          <a:bodyPr wrap="square">
            <a:spAutoFit/>
          </a:bodyPr>
          <a:lstStyle/>
          <a:p>
            <a:pPr algn="ctr"/>
            <a:r>
              <a:rPr lang="en-US" sz="4400" b="1" dirty="0">
                <a:cs typeface="Arial"/>
              </a:rPr>
              <a:t>Communicate</a:t>
            </a:r>
            <a:r>
              <a:rPr lang="en-US" sz="4400" dirty="0">
                <a:cs typeface="Arial"/>
              </a:rPr>
              <a:t> your </a:t>
            </a:r>
            <a:r>
              <a:rPr lang="en-US" sz="4400" b="1" dirty="0">
                <a:cs typeface="Arial"/>
              </a:rPr>
              <a:t>reasoning</a:t>
            </a:r>
            <a:r>
              <a:rPr lang="en-US" sz="4400" dirty="0">
                <a:cs typeface="Arial"/>
              </a:rPr>
              <a:t>.</a:t>
            </a:r>
          </a:p>
        </p:txBody>
      </p:sp>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dirty="0"/>
              <a:t>Activity 1 – estimating using money</a:t>
            </a:r>
          </a:p>
        </p:txBody>
      </p:sp>
      <p:pic>
        <p:nvPicPr>
          <p:cNvPr id="36" name="Picture 35" descr="image of a head with cogs turning inside">
            <a:extLst>
              <a:ext uri="{FF2B5EF4-FFF2-40B4-BE49-F238E27FC236}">
                <a16:creationId xmlns:a16="http://schemas.microsoft.com/office/drawing/2014/main" id="{DB00CF0D-17EE-0648-0829-23417687735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9" name="TextBox 38">
            <a:extLst>
              <a:ext uri="{FF2B5EF4-FFF2-40B4-BE49-F238E27FC236}">
                <a16:creationId xmlns:a16="http://schemas.microsoft.com/office/drawing/2014/main" id="{9EEAF241-1CD7-CD4E-1D13-DC72875CB6E6}"/>
              </a:ext>
            </a:extLst>
          </p:cNvPr>
          <p:cNvSpPr txBox="1"/>
          <p:nvPr/>
        </p:nvSpPr>
        <p:spPr>
          <a:xfrm>
            <a:off x="360000" y="1024707"/>
            <a:ext cx="11358725" cy="5518242"/>
          </a:xfrm>
          <a:prstGeom prst="rect">
            <a:avLst/>
          </a:prstGeom>
          <a:noFill/>
        </p:spPr>
        <p:txBody>
          <a:bodyPr wrap="square" lIns="91440" tIns="45720" rIns="91440" bIns="45720" anchor="t">
            <a:spAutoFit/>
          </a:bodyPr>
          <a:lstStyle/>
          <a:p>
            <a:pPr algn="ctr">
              <a:lnSpc>
                <a:spcPct val="150000"/>
              </a:lnSpc>
            </a:pPr>
            <a:r>
              <a:rPr lang="en-AU" sz="4000" dirty="0">
                <a:effectLst/>
                <a:latin typeface="Arial"/>
                <a:ea typeface="Calibri"/>
                <a:cs typeface="Arial"/>
              </a:rPr>
              <a:t>You have </a:t>
            </a:r>
            <a:r>
              <a:rPr lang="en-AU" sz="4000" b="1" dirty="0">
                <a:effectLst/>
                <a:latin typeface="Arial"/>
                <a:ea typeface="Calibri"/>
                <a:cs typeface="Arial"/>
              </a:rPr>
              <a:t>$9</a:t>
            </a:r>
            <a:r>
              <a:rPr lang="en-AU" sz="4000" dirty="0">
                <a:effectLst/>
                <a:latin typeface="Arial"/>
                <a:ea typeface="Calibri"/>
                <a:cs typeface="Arial"/>
              </a:rPr>
              <a:t> to spend at the canteen.</a:t>
            </a:r>
          </a:p>
          <a:p>
            <a:pPr algn="ctr">
              <a:lnSpc>
                <a:spcPct val="150000"/>
              </a:lnSpc>
            </a:pPr>
            <a:r>
              <a:rPr lang="en-AU" sz="4000" dirty="0">
                <a:effectLst/>
                <a:latin typeface="Arial"/>
                <a:ea typeface="Calibri"/>
                <a:cs typeface="Arial"/>
              </a:rPr>
              <a:t>A drink costs </a:t>
            </a:r>
            <a:r>
              <a:rPr lang="en-AU" sz="4000" b="1" dirty="0">
                <a:effectLst/>
                <a:latin typeface="Arial"/>
                <a:ea typeface="Calibri"/>
                <a:cs typeface="Arial"/>
              </a:rPr>
              <a:t>$2.60</a:t>
            </a:r>
            <a:r>
              <a:rPr lang="en-AU" sz="4000" dirty="0">
                <a:effectLst/>
                <a:latin typeface="Arial"/>
                <a:ea typeface="Calibri"/>
                <a:cs typeface="Arial"/>
              </a:rPr>
              <a:t>, a packet of popcorn costs </a:t>
            </a:r>
            <a:r>
              <a:rPr lang="en-AU" sz="4000" b="1" dirty="0">
                <a:effectLst/>
                <a:latin typeface="Arial"/>
                <a:ea typeface="Calibri"/>
                <a:cs typeface="Arial"/>
              </a:rPr>
              <a:t>$1.40</a:t>
            </a:r>
            <a:r>
              <a:rPr lang="en-AU" sz="4000" dirty="0">
                <a:effectLst/>
                <a:latin typeface="Arial"/>
                <a:ea typeface="Calibri"/>
                <a:cs typeface="Arial"/>
              </a:rPr>
              <a:t>, a sausage roll costs </a:t>
            </a:r>
            <a:r>
              <a:rPr lang="en-AU" sz="4000" b="1" dirty="0">
                <a:effectLst/>
                <a:latin typeface="Arial"/>
                <a:ea typeface="Calibri"/>
                <a:cs typeface="Arial"/>
              </a:rPr>
              <a:t>$4.55</a:t>
            </a:r>
            <a:r>
              <a:rPr lang="en-AU" sz="4000" dirty="0">
                <a:effectLst/>
                <a:latin typeface="Arial"/>
                <a:ea typeface="Calibri"/>
                <a:cs typeface="Arial"/>
              </a:rPr>
              <a:t> and tomato sauce costs </a:t>
            </a:r>
            <a:r>
              <a:rPr lang="en-AU" sz="4000" b="1" dirty="0">
                <a:effectLst/>
                <a:latin typeface="Arial"/>
                <a:ea typeface="Calibri"/>
                <a:cs typeface="Arial"/>
              </a:rPr>
              <a:t>50 cents</a:t>
            </a:r>
            <a:r>
              <a:rPr lang="en-AU" sz="4000" dirty="0">
                <a:effectLst/>
                <a:latin typeface="Arial"/>
                <a:ea typeface="Calibri"/>
                <a:cs typeface="Arial"/>
              </a:rPr>
              <a:t>.</a:t>
            </a:r>
          </a:p>
          <a:p>
            <a:pPr algn="ctr">
              <a:lnSpc>
                <a:spcPct val="150000"/>
              </a:lnSpc>
            </a:pPr>
            <a:r>
              <a:rPr lang="en-AU" sz="4000" dirty="0">
                <a:effectLst/>
                <a:latin typeface="Arial"/>
                <a:ea typeface="Calibri"/>
                <a:cs typeface="Arial"/>
              </a:rPr>
              <a:t>What items do you </a:t>
            </a:r>
            <a:r>
              <a:rPr lang="en-AU" sz="4000" b="1" dirty="0">
                <a:effectLst/>
                <a:latin typeface="Arial"/>
                <a:ea typeface="Calibri"/>
                <a:cs typeface="Arial"/>
              </a:rPr>
              <a:t>estimate</a:t>
            </a:r>
            <a:r>
              <a:rPr lang="en-AU" sz="4000" dirty="0">
                <a:effectLst/>
                <a:latin typeface="Arial"/>
                <a:ea typeface="Calibri"/>
                <a:cs typeface="Arial"/>
              </a:rPr>
              <a:t> that </a:t>
            </a:r>
            <a:r>
              <a:rPr lang="en-AU" sz="4000" b="1" dirty="0">
                <a:effectLst/>
                <a:latin typeface="Arial"/>
                <a:ea typeface="Calibri"/>
                <a:cs typeface="Arial"/>
              </a:rPr>
              <a:t>you could buy?</a:t>
            </a:r>
            <a:endParaRPr lang="en-AU" sz="4000" b="1" dirty="0">
              <a:latin typeface="Arial"/>
              <a:ea typeface="Calibri"/>
              <a:cs typeface="Arial"/>
            </a:endParaRPr>
          </a:p>
        </p:txBody>
      </p:sp>
    </p:spTree>
    <p:extLst>
      <p:ext uri="{BB962C8B-B14F-4D97-AF65-F5344CB8AC3E}">
        <p14:creationId xmlns:p14="http://schemas.microsoft.com/office/powerpoint/2010/main" val="15815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dirty="0">
                <a:latin typeface="Arial"/>
                <a:cs typeface="Arial"/>
              </a:rPr>
              <a:t>True or false </a:t>
            </a:r>
            <a:r>
              <a:rPr lang="en-US" dirty="0">
                <a:solidFill>
                  <a:schemeClr val="bg1"/>
                </a:solidFill>
                <a:latin typeface="Arial"/>
                <a:cs typeface="Arial"/>
              </a:rPr>
              <a:t>(1)</a:t>
            </a:r>
          </a:p>
        </p:txBody>
      </p:sp>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360000" y="990795"/>
            <a:ext cx="10891769" cy="2783042"/>
          </a:xfrm>
        </p:spPr>
        <p:txBody>
          <a:bodyPr vert="horz" lIns="0" tIns="0" rIns="0" bIns="0" rtlCol="0" anchor="t">
            <a:noAutofit/>
          </a:bodyPr>
          <a:lstStyle/>
          <a:p>
            <a:pPr algn="ctr"/>
            <a:r>
              <a:rPr lang="en-AU" sz="4400" dirty="0">
                <a:latin typeface="Arial"/>
                <a:cs typeface="Arial"/>
              </a:rPr>
              <a:t>A movie ticket costs </a:t>
            </a:r>
            <a:r>
              <a:rPr lang="en-AU" sz="4400" b="1" dirty="0">
                <a:latin typeface="Arial"/>
                <a:cs typeface="Arial"/>
              </a:rPr>
              <a:t>$15.50</a:t>
            </a:r>
            <a:r>
              <a:rPr lang="en-AU" sz="4400" dirty="0">
                <a:latin typeface="Arial"/>
                <a:cs typeface="Arial"/>
              </a:rPr>
              <a:t>, a drink costs </a:t>
            </a:r>
            <a:r>
              <a:rPr lang="en-AU" sz="4400" b="1" dirty="0">
                <a:latin typeface="Arial"/>
                <a:cs typeface="Arial"/>
              </a:rPr>
              <a:t>$5.50</a:t>
            </a:r>
            <a:r>
              <a:rPr lang="en-AU" sz="4400" dirty="0">
                <a:latin typeface="Arial"/>
                <a:cs typeface="Arial"/>
              </a:rPr>
              <a:t> and a snack costs </a:t>
            </a:r>
            <a:r>
              <a:rPr lang="en-AU" sz="4400" b="1" dirty="0">
                <a:latin typeface="Arial"/>
                <a:cs typeface="Arial"/>
              </a:rPr>
              <a:t>$3.50</a:t>
            </a:r>
            <a:r>
              <a:rPr lang="en-AU" sz="4400" dirty="0">
                <a:latin typeface="Arial"/>
                <a:cs typeface="Arial"/>
              </a:rPr>
              <a:t>. Sienna has </a:t>
            </a:r>
            <a:r>
              <a:rPr lang="en-AU" sz="4400" b="1" dirty="0">
                <a:latin typeface="Arial"/>
                <a:cs typeface="Arial"/>
              </a:rPr>
              <a:t>$20.00 </a:t>
            </a:r>
            <a:r>
              <a:rPr lang="en-AU" sz="4400" dirty="0">
                <a:latin typeface="Arial"/>
                <a:cs typeface="Arial"/>
              </a:rPr>
              <a:t>and says she can buy one of each.</a:t>
            </a:r>
            <a:endParaRPr lang="en-US" sz="4800" dirty="0">
              <a:latin typeface="Arial"/>
              <a:cs typeface="Arial"/>
            </a:endParaRPr>
          </a:p>
          <a:p>
            <a:pPr algn="ctr"/>
            <a:r>
              <a:rPr lang="en-US" sz="4400" dirty="0">
                <a:latin typeface="Arial"/>
                <a:cs typeface="Arial"/>
              </a:rPr>
              <a:t> </a:t>
            </a:r>
            <a:endParaRPr lang="en-US" sz="4400" dirty="0"/>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2552052140"/>
              </p:ext>
            </p:extLst>
          </p:nvPr>
        </p:nvGraphicFramePr>
        <p:xfrm>
          <a:off x="2376586" y="531265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55E7DA3-5BC4-03A6-88A8-5BE8009F98DB}"/>
              </a:ext>
            </a:extLst>
          </p:cNvPr>
          <p:cNvPicPr>
            <a:picLocks noChangeAspect="1"/>
          </p:cNvPicPr>
          <p:nvPr/>
        </p:nvPicPr>
        <p:blipFill>
          <a:blip r:embed="rId3"/>
          <a:stretch>
            <a:fillRect/>
          </a:stretch>
        </p:blipFill>
        <p:spPr>
          <a:xfrm>
            <a:off x="10807908" y="43303"/>
            <a:ext cx="1165786" cy="1140716"/>
          </a:xfrm>
          <a:prstGeom prst="rect">
            <a:avLst/>
          </a:prstGeom>
          <a:ln>
            <a:noFill/>
          </a:ln>
        </p:spPr>
      </p:pic>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246024" y="996878"/>
            <a:ext cx="11284715" cy="2285067"/>
          </a:xfrm>
        </p:spPr>
        <p:txBody>
          <a:bodyPr/>
          <a:lstStyle/>
          <a:p>
            <a:pPr algn="ctr"/>
            <a:r>
              <a:rPr lang="en-AU" sz="4400" dirty="0"/>
              <a:t>Year 4 students are planning a </a:t>
            </a:r>
            <a:r>
              <a:rPr lang="en-AU" sz="4400" b="1" dirty="0"/>
              <a:t>survey</a:t>
            </a:r>
            <a:r>
              <a:rPr lang="en-AU" sz="4400" dirty="0"/>
              <a:t> </a:t>
            </a:r>
          </a:p>
          <a:p>
            <a:pPr algn="ctr"/>
            <a:r>
              <a:rPr lang="en-AU" sz="4400" dirty="0"/>
              <a:t>about a </a:t>
            </a:r>
            <a:r>
              <a:rPr lang="en-AU" sz="4400" b="1" dirty="0"/>
              <a:t>cake stall </a:t>
            </a:r>
            <a:r>
              <a:rPr lang="en-AU" sz="4400" dirty="0"/>
              <a:t>for the school fair.</a:t>
            </a:r>
          </a:p>
          <a:p>
            <a:pPr algn="ctr"/>
            <a:r>
              <a:rPr lang="en-AU" sz="4400" dirty="0"/>
              <a:t>Write an </a:t>
            </a:r>
            <a:r>
              <a:rPr lang="en-AU" sz="4400" b="1" dirty="0"/>
              <a:t>example</a:t>
            </a:r>
            <a:r>
              <a:rPr lang="en-AU" sz="4400" dirty="0"/>
              <a:t> of an </a:t>
            </a:r>
            <a:r>
              <a:rPr lang="en-AU" sz="4400" b="1" dirty="0"/>
              <a:t>open question </a:t>
            </a:r>
          </a:p>
          <a:p>
            <a:pPr algn="ctr"/>
            <a:r>
              <a:rPr lang="en-AU" sz="4400" dirty="0"/>
              <a:t>they could ask about the cake stall.</a:t>
            </a:r>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32CE01C-F128-827F-0720-032C31FF573A}"/>
              </a:ext>
            </a:extLst>
          </p:cNvPr>
          <p:cNvPicPr>
            <a:picLocks noChangeAspect="1"/>
          </p:cNvPicPr>
          <p:nvPr/>
        </p:nvPicPr>
        <p:blipFill>
          <a:blip r:embed="rId3"/>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(6)</a:t>
            </a:r>
          </a:p>
        </p:txBody>
      </p:sp>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240963" y="1500430"/>
            <a:ext cx="11243037" cy="3056398"/>
          </a:xfrm>
        </p:spPr>
        <p:txBody>
          <a:bodyPr/>
          <a:lstStyle/>
          <a:p>
            <a:pPr algn="ctr"/>
            <a:r>
              <a:rPr lang="en-US" sz="4400" dirty="0">
                <a:latin typeface="Arial"/>
                <a:cs typeface="Arial"/>
              </a:rPr>
              <a:t>Which </a:t>
            </a:r>
            <a:r>
              <a:rPr lang="en-US" sz="4400" b="1" dirty="0">
                <a:latin typeface="Arial"/>
                <a:cs typeface="Arial"/>
              </a:rPr>
              <a:t>number</a:t>
            </a:r>
            <a:r>
              <a:rPr lang="en-US" sz="4400" dirty="0">
                <a:latin typeface="Arial"/>
                <a:cs typeface="Arial"/>
              </a:rPr>
              <a:t> are these </a:t>
            </a:r>
            <a:r>
              <a:rPr lang="en-US" sz="4400" b="1" dirty="0">
                <a:latin typeface="Arial"/>
                <a:cs typeface="Arial"/>
              </a:rPr>
              <a:t>multiples</a:t>
            </a:r>
            <a:r>
              <a:rPr lang="en-US" sz="4400" dirty="0">
                <a:latin typeface="Arial"/>
                <a:cs typeface="Arial"/>
              </a:rPr>
              <a:t> of? </a:t>
            </a:r>
          </a:p>
          <a:p>
            <a:pPr algn="ctr"/>
            <a:r>
              <a:rPr lang="en-US" sz="4400" dirty="0">
                <a:latin typeface="Arial"/>
                <a:cs typeface="Arial"/>
              </a:rPr>
              <a:t>How do you know?</a:t>
            </a:r>
          </a:p>
          <a:p>
            <a:pPr algn="ctr"/>
            <a:r>
              <a:rPr lang="en-US" sz="6000" dirty="0">
                <a:latin typeface="Arial"/>
                <a:cs typeface="Arial"/>
              </a:rPr>
              <a:t>12, 18, 21, 36, 48</a:t>
            </a:r>
            <a:endParaRPr lang="en-US" sz="60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C26EDB88-E75C-9C64-B0FE-F9E4BF5A7005}"/>
              </a:ext>
            </a:extLst>
          </p:cNvPr>
          <p:cNvPicPr>
            <a:picLocks noChangeAspect="1"/>
          </p:cNvPicPr>
          <p:nvPr/>
        </p:nvPicPr>
        <p:blipFill>
          <a:blip r:embed="rId3"/>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(7)</a:t>
            </a:r>
          </a:p>
        </p:txBody>
      </p:sp>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795130" y="905601"/>
            <a:ext cx="10328870" cy="3056398"/>
          </a:xfrm>
        </p:spPr>
        <p:txBody>
          <a:bodyPr/>
          <a:lstStyle/>
          <a:p>
            <a:pPr algn="ctr"/>
            <a:r>
              <a:rPr lang="en-AU" sz="4400" b="1" dirty="0">
                <a:latin typeface="Arial"/>
                <a:cs typeface="Arial"/>
              </a:rPr>
              <a:t>Copy</a:t>
            </a:r>
            <a:r>
              <a:rPr lang="en-AU" sz="4400" dirty="0">
                <a:latin typeface="Arial"/>
                <a:cs typeface="Arial"/>
              </a:rPr>
              <a:t> the bar models on this fraction wall. </a:t>
            </a:r>
            <a:r>
              <a:rPr lang="en-AU" sz="4400" b="1" dirty="0">
                <a:latin typeface="Arial"/>
                <a:cs typeface="Arial"/>
              </a:rPr>
              <a:t>Draw</a:t>
            </a:r>
            <a:r>
              <a:rPr lang="en-AU" sz="4400" dirty="0">
                <a:latin typeface="Arial"/>
                <a:cs typeface="Arial"/>
              </a:rPr>
              <a:t> and </a:t>
            </a:r>
            <a:r>
              <a:rPr lang="en-AU" sz="4400" b="1" dirty="0">
                <a:latin typeface="Arial"/>
                <a:cs typeface="Arial"/>
              </a:rPr>
              <a:t>label</a:t>
            </a:r>
            <a:r>
              <a:rPr lang="en-AU" sz="4400" dirty="0">
                <a:latin typeface="Arial"/>
                <a:cs typeface="Arial"/>
              </a:rPr>
              <a:t> 2 more bars showing </a:t>
            </a:r>
            <a:r>
              <a:rPr lang="en-AU" sz="4400" b="1" dirty="0">
                <a:latin typeface="Arial"/>
                <a:cs typeface="Arial"/>
              </a:rPr>
              <a:t>quarters</a:t>
            </a:r>
            <a:r>
              <a:rPr lang="en-AU" sz="4400" dirty="0">
                <a:latin typeface="Arial"/>
                <a:cs typeface="Arial"/>
              </a:rPr>
              <a:t> and </a:t>
            </a:r>
            <a:r>
              <a:rPr lang="en-AU" sz="4400" b="1" dirty="0">
                <a:latin typeface="Arial"/>
                <a:cs typeface="Arial"/>
              </a:rPr>
              <a:t>eighths</a:t>
            </a:r>
            <a:r>
              <a:rPr lang="en-AU" sz="4400" dirty="0">
                <a:latin typeface="Arial"/>
                <a:cs typeface="Arial"/>
              </a:rPr>
              <a:t>.</a:t>
            </a:r>
          </a:p>
        </p:txBody>
      </p:sp>
      <p:pic>
        <p:nvPicPr>
          <p:cNvPr id="4" name="Picture 3" descr="image of a clipboard with a pencil recording short answer responses">
            <a:extLst>
              <a:ext uri="{FF2B5EF4-FFF2-40B4-BE49-F238E27FC236}">
                <a16:creationId xmlns:a16="http://schemas.microsoft.com/office/drawing/2014/main" id="{D740BC3B-2A7E-9512-84CA-DEBB92EFECD0}"/>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67" name="Picture 66" descr="2 bar models showing one whole and 2 halves.">
            <a:extLst>
              <a:ext uri="{FF2B5EF4-FFF2-40B4-BE49-F238E27FC236}">
                <a16:creationId xmlns:a16="http://schemas.microsoft.com/office/drawing/2014/main" id="{C0C8257B-CC6F-EA02-6C12-406BFA887D44}"/>
              </a:ext>
            </a:extLst>
          </p:cNvPr>
          <p:cNvPicPr>
            <a:picLocks noChangeAspect="1"/>
          </p:cNvPicPr>
          <p:nvPr/>
        </p:nvPicPr>
        <p:blipFill>
          <a:blip r:embed="rId4"/>
          <a:srcRect b="49785"/>
          <a:stretch>
            <a:fillRect/>
          </a:stretch>
        </p:blipFill>
        <p:spPr>
          <a:xfrm>
            <a:off x="2223092" y="4242713"/>
            <a:ext cx="7516854" cy="1709686"/>
          </a:xfrm>
          <a:prstGeom prst="rect">
            <a:avLst/>
          </a:prstGeom>
        </p:spPr>
      </p:pic>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16</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a:xfrm>
            <a:off x="360000" y="360000"/>
            <a:ext cx="11243038" cy="545601"/>
          </a:xfrm>
        </p:spPr>
        <p:txBody>
          <a:bodyPr/>
          <a:lstStyle/>
          <a:p>
            <a:r>
              <a:rPr lang="en-US" dirty="0">
                <a:latin typeface="Arial"/>
                <a:cs typeface="Arial"/>
              </a:rPr>
              <a:t>Short response</a:t>
            </a:r>
            <a:r>
              <a:rPr lang="en-US" dirty="0">
                <a:solidFill>
                  <a:schemeClr val="bg1"/>
                </a:solidFill>
                <a:latin typeface="Arial"/>
                <a:cs typeface="Arial"/>
              </a:rPr>
              <a:t> (8)</a:t>
            </a:r>
          </a:p>
        </p:txBody>
      </p:sp>
      <p:sp>
        <p:nvSpPr>
          <p:cNvPr id="4" name="TextBox 3">
            <a:extLst>
              <a:ext uri="{FF2B5EF4-FFF2-40B4-BE49-F238E27FC236}">
                <a16:creationId xmlns:a16="http://schemas.microsoft.com/office/drawing/2014/main" id="{37743E66-387B-D4F6-72FE-0CCB9557C3B3}"/>
              </a:ext>
            </a:extLst>
          </p:cNvPr>
          <p:cNvSpPr txBox="1"/>
          <p:nvPr/>
        </p:nvSpPr>
        <p:spPr>
          <a:xfrm>
            <a:off x="246024" y="1050734"/>
            <a:ext cx="11185949" cy="3126059"/>
          </a:xfrm>
          <a:prstGeom prst="rect">
            <a:avLst/>
          </a:prstGeom>
          <a:noFill/>
        </p:spPr>
        <p:txBody>
          <a:bodyPr wrap="square" lIns="0" tIns="0" rIns="0" bIns="0" rtlCol="0">
            <a:noAutofit/>
          </a:bodyPr>
          <a:lstStyle/>
          <a:p>
            <a:pPr algn="ctr">
              <a:lnSpc>
                <a:spcPct val="150000"/>
              </a:lnSpc>
            </a:pPr>
            <a:r>
              <a:rPr lang="en-AU" sz="4400" dirty="0"/>
              <a:t>Which </a:t>
            </a:r>
            <a:r>
              <a:rPr lang="en-AU" sz="4400" b="1" dirty="0"/>
              <a:t>unit </a:t>
            </a:r>
            <a:r>
              <a:rPr lang="en-AU" sz="4400" dirty="0"/>
              <a:t>of measure is most useful for </a:t>
            </a:r>
            <a:r>
              <a:rPr lang="en-AU" sz="4400" b="1" dirty="0"/>
              <a:t>measuring</a:t>
            </a:r>
            <a:r>
              <a:rPr lang="en-AU" sz="4400" dirty="0"/>
              <a:t> the </a:t>
            </a:r>
            <a:r>
              <a:rPr lang="en-AU" sz="4400" b="1" dirty="0"/>
              <a:t>perimeter</a:t>
            </a:r>
            <a:r>
              <a:rPr lang="en-AU" sz="4400" dirty="0"/>
              <a:t> of a </a:t>
            </a:r>
            <a:r>
              <a:rPr lang="en-AU" sz="4400" b="1" dirty="0"/>
              <a:t>playground</a:t>
            </a:r>
            <a:r>
              <a:rPr lang="en-AU" sz="4400" dirty="0"/>
              <a:t>?</a:t>
            </a:r>
          </a:p>
          <a:p>
            <a:pPr algn="ctr">
              <a:lnSpc>
                <a:spcPct val="150000"/>
              </a:lnSpc>
            </a:pPr>
            <a:r>
              <a:rPr lang="en-AU" sz="4400" b="1" dirty="0"/>
              <a:t>Explain </a:t>
            </a:r>
            <a:r>
              <a:rPr lang="en-AU" sz="4400" dirty="0"/>
              <a:t>your </a:t>
            </a:r>
            <a:r>
              <a:rPr lang="en-AU" sz="4400" b="1" dirty="0"/>
              <a:t>thinking</a:t>
            </a:r>
            <a:r>
              <a:rPr lang="en-AU" sz="4400" dirty="0"/>
              <a:t>.</a:t>
            </a:r>
            <a:br>
              <a:rPr lang="en-AU" sz="3600" dirty="0"/>
            </a:br>
            <a:br>
              <a:rPr lang="en-AU" sz="3600" dirty="0"/>
            </a:br>
            <a:endParaRPr lang="en-AU" sz="3600" dirty="0"/>
          </a:p>
          <a:p>
            <a:pPr algn="l"/>
            <a:endParaRPr lang="en-AU" sz="1800" dirty="0"/>
          </a:p>
        </p:txBody>
      </p:sp>
      <p:pic>
        <p:nvPicPr>
          <p:cNvPr id="5" name="Picture 4" descr="image of a clipboard with a pencil recording short answer responses">
            <a:extLst>
              <a:ext uri="{FF2B5EF4-FFF2-40B4-BE49-F238E27FC236}">
                <a16:creationId xmlns:a16="http://schemas.microsoft.com/office/drawing/2014/main" id="{3BEDD50C-91A1-3FFB-CBDD-0B6084F047AB}"/>
              </a:ext>
            </a:extLst>
          </p:cNvPr>
          <p:cNvPicPr>
            <a:picLocks noChangeAspect="1"/>
          </p:cNvPicPr>
          <p:nvPr/>
        </p:nvPicPr>
        <p:blipFill>
          <a:blip r:embed="rId3"/>
          <a:stretch>
            <a:fillRect/>
          </a:stretch>
        </p:blipFill>
        <p:spPr>
          <a:xfrm>
            <a:off x="11030476" y="268723"/>
            <a:ext cx="915500" cy="915500"/>
          </a:xfrm>
          <a:prstGeom prst="rect">
            <a:avLst/>
          </a:prstGeom>
          <a:ln>
            <a:noFill/>
          </a:ln>
        </p:spPr>
      </p:pic>
      <p:graphicFrame>
        <p:nvGraphicFramePr>
          <p:cNvPr id="6" name="Table 5">
            <a:extLst>
              <a:ext uri="{FF2B5EF4-FFF2-40B4-BE49-F238E27FC236}">
                <a16:creationId xmlns:a16="http://schemas.microsoft.com/office/drawing/2014/main" id="{0B1DEBCA-CB65-67BD-1F8A-72C129DE77D5}"/>
              </a:ext>
            </a:extLst>
          </p:cNvPr>
          <p:cNvGraphicFramePr>
            <a:graphicFrameLocks noGrp="1"/>
          </p:cNvGraphicFramePr>
          <p:nvPr>
            <p:extLst>
              <p:ext uri="{D42A27DB-BD31-4B8C-83A1-F6EECF244321}">
                <p14:modId xmlns:p14="http://schemas.microsoft.com/office/powerpoint/2010/main" val="1888695666"/>
              </p:ext>
            </p:extLst>
          </p:nvPr>
        </p:nvGraphicFramePr>
        <p:xfrm>
          <a:off x="545976" y="4865778"/>
          <a:ext cx="11298024" cy="1371600"/>
        </p:xfrm>
        <a:graphic>
          <a:graphicData uri="http://schemas.openxmlformats.org/drawingml/2006/table">
            <a:tbl>
              <a:tblPr firstRow="1" bandRow="1">
                <a:tableStyleId>{5A111915-BE36-4E01-A7E5-04B1672EAD32}</a:tableStyleId>
              </a:tblPr>
              <a:tblGrid>
                <a:gridCol w="2824506">
                  <a:extLst>
                    <a:ext uri="{9D8B030D-6E8A-4147-A177-3AD203B41FA5}">
                      <a16:colId xmlns:a16="http://schemas.microsoft.com/office/drawing/2014/main" val="1764535638"/>
                    </a:ext>
                  </a:extLst>
                </a:gridCol>
                <a:gridCol w="2824506">
                  <a:extLst>
                    <a:ext uri="{9D8B030D-6E8A-4147-A177-3AD203B41FA5}">
                      <a16:colId xmlns:a16="http://schemas.microsoft.com/office/drawing/2014/main" val="1542929608"/>
                    </a:ext>
                  </a:extLst>
                </a:gridCol>
                <a:gridCol w="2824506">
                  <a:extLst>
                    <a:ext uri="{9D8B030D-6E8A-4147-A177-3AD203B41FA5}">
                      <a16:colId xmlns:a16="http://schemas.microsoft.com/office/drawing/2014/main" val="4128396063"/>
                    </a:ext>
                  </a:extLst>
                </a:gridCol>
                <a:gridCol w="2824506">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3600" b="0">
                          <a:solidFill>
                            <a:schemeClr val="tx1"/>
                          </a:solidFill>
                        </a:rPr>
                        <a:t>centimetres</a:t>
                      </a:r>
                      <a:endParaRPr lang="en-US" sz="3600" b="0" dirty="0">
                        <a:solidFill>
                          <a:schemeClr val="tx1"/>
                        </a:solidFill>
                      </a:endParaRP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p>
                      <a:pPr algn="ctr"/>
                      <a:r>
                        <a:rPr lang="en-AU" sz="3600" b="0">
                          <a:solidFill>
                            <a:schemeClr val="tx1"/>
                          </a:solidFill>
                        </a:rPr>
                        <a:t>kilograms</a:t>
                      </a:r>
                      <a:endParaRPr lang="en-AU" sz="3600" b="0" dirty="0">
                        <a:solidFill>
                          <a:schemeClr val="tx1"/>
                        </a:solidFil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3600" b="0">
                          <a:solidFill>
                            <a:schemeClr val="tx1"/>
                          </a:solidFill>
                        </a:rPr>
                        <a:t>millimetres</a:t>
                      </a:r>
                      <a:endParaRPr lang="en-US" sz="3600" b="0" dirty="0">
                        <a:solidFill>
                          <a:schemeClr val="tx1"/>
                        </a:solidFil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3600" b="0">
                          <a:solidFill>
                            <a:schemeClr val="tx1"/>
                          </a:solidFill>
                        </a:rPr>
                        <a:t>metres</a:t>
                      </a:r>
                      <a:endParaRPr lang="en-US" sz="3600" b="0" dirty="0">
                        <a:solidFill>
                          <a:schemeClr val="tx1"/>
                        </a:solidFill>
                      </a:endParaRP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bl>
          </a:graphicData>
        </a:graphic>
      </p:graphicFrame>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C8A3CB-B224-208A-CFF5-B2EA6968C1C0}"/>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284E42B4-94D9-1D74-190B-2DFAC866DF5D}"/>
              </a:ext>
            </a:extLst>
          </p:cNvPr>
          <p:cNvSpPr>
            <a:spLocks noGrp="1"/>
          </p:cNvSpPr>
          <p:nvPr>
            <p:ph type="title"/>
          </p:nvPr>
        </p:nvSpPr>
        <p:spPr/>
        <p:txBody>
          <a:bodyPr/>
          <a:lstStyle/>
          <a:p>
            <a:r>
              <a:rPr lang="en-AU" dirty="0">
                <a:latin typeface="Arial"/>
                <a:cs typeface="Arial"/>
              </a:rPr>
              <a:t>Activity 2 – rounding to help estimation</a:t>
            </a:r>
            <a:endParaRPr lang="en-AU" dirty="0"/>
          </a:p>
        </p:txBody>
      </p:sp>
      <p:sp>
        <p:nvSpPr>
          <p:cNvPr id="5" name="Rectangle 2">
            <a:extLst>
              <a:ext uri="{FF2B5EF4-FFF2-40B4-BE49-F238E27FC236}">
                <a16:creationId xmlns:a16="http://schemas.microsoft.com/office/drawing/2014/main" id="{F429BB3E-7CFB-2B38-03AE-863DCB374359}"/>
              </a:ext>
            </a:extLst>
          </p:cNvPr>
          <p:cNvSpPr>
            <a:spLocks noChangeArrowheads="1"/>
          </p:cNvSpPr>
          <p:nvPr/>
        </p:nvSpPr>
        <p:spPr bwMode="auto">
          <a:xfrm>
            <a:off x="360000" y="1097258"/>
            <a:ext cx="10764000" cy="4975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defTabSz="914400" eaLnBrk="0" fontAlgn="base" hangingPunct="0">
              <a:lnSpc>
                <a:spcPct val="150000"/>
              </a:lnSpc>
              <a:spcBef>
                <a:spcPct val="0"/>
              </a:spcBef>
              <a:spcAft>
                <a:spcPct val="0"/>
              </a:spcAft>
            </a:pPr>
            <a:r>
              <a:rPr lang="en-AU" altLang="en-US" sz="3600" dirty="0">
                <a:latin typeface="Arial"/>
                <a:ea typeface="Calibri"/>
                <a:cs typeface="Arial"/>
              </a:rPr>
              <a:t>Meggie’s friend gave her $30 for her birthday.</a:t>
            </a:r>
          </a:p>
          <a:p>
            <a:pPr algn="ctr" defTabSz="914400" eaLnBrk="0" fontAlgn="base" hangingPunct="0">
              <a:lnSpc>
                <a:spcPct val="150000"/>
              </a:lnSpc>
              <a:spcBef>
                <a:spcPct val="0"/>
              </a:spcBef>
              <a:spcAft>
                <a:spcPct val="0"/>
              </a:spcAft>
            </a:pPr>
            <a:r>
              <a:rPr lang="en-AU" altLang="en-US" sz="3600" dirty="0">
                <a:latin typeface="Arial"/>
                <a:ea typeface="Calibri"/>
                <a:cs typeface="Arial"/>
              </a:rPr>
              <a:t>Meggie wants to buy a pencil case for $4.50, a pair of sunglasses for $6.25, a boardgame for $15 and a lollipop for 75c.</a:t>
            </a:r>
          </a:p>
          <a:p>
            <a:pPr algn="ctr" defTabSz="914400" eaLnBrk="0" fontAlgn="base" hangingPunct="0">
              <a:lnSpc>
                <a:spcPct val="150000"/>
              </a:lnSpc>
              <a:spcBef>
                <a:spcPct val="0"/>
              </a:spcBef>
              <a:spcAft>
                <a:spcPct val="0"/>
              </a:spcAft>
            </a:pPr>
            <a:r>
              <a:rPr lang="en-AU" altLang="en-US" sz="3600" dirty="0">
                <a:latin typeface="Arial"/>
                <a:ea typeface="Calibri"/>
                <a:cs typeface="Arial"/>
              </a:rPr>
              <a:t>Can you </a:t>
            </a:r>
            <a:r>
              <a:rPr lang="en-AU" altLang="en-US" sz="3600" b="1" dirty="0">
                <a:latin typeface="Arial"/>
                <a:ea typeface="Calibri"/>
                <a:cs typeface="Arial"/>
              </a:rPr>
              <a:t>estimate</a:t>
            </a:r>
            <a:r>
              <a:rPr lang="en-AU" altLang="en-US" sz="3600" dirty="0">
                <a:latin typeface="Arial"/>
                <a:ea typeface="Calibri"/>
                <a:cs typeface="Arial"/>
              </a:rPr>
              <a:t> if Meggie has </a:t>
            </a:r>
            <a:r>
              <a:rPr lang="en-AU" altLang="en-US" sz="3600" b="1" dirty="0">
                <a:latin typeface="Arial"/>
                <a:ea typeface="Calibri"/>
                <a:cs typeface="Arial"/>
              </a:rPr>
              <a:t>enough money</a:t>
            </a:r>
            <a:r>
              <a:rPr lang="en-AU" altLang="en-US" sz="3600" dirty="0">
                <a:latin typeface="Arial"/>
                <a:ea typeface="Calibri"/>
                <a:cs typeface="Arial"/>
              </a:rPr>
              <a:t> to purchase these items?</a:t>
            </a:r>
          </a:p>
        </p:txBody>
      </p:sp>
      <p:pic>
        <p:nvPicPr>
          <p:cNvPr id="6" name="Picture 5" descr="image of a head with cogs turning inside">
            <a:extLst>
              <a:ext uri="{FF2B5EF4-FFF2-40B4-BE49-F238E27FC236}">
                <a16:creationId xmlns:a16="http://schemas.microsoft.com/office/drawing/2014/main" id="{D1A521FE-2C89-50D9-FB18-ECAEEE3542C5}"/>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782889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7D692-EFE7-8598-6CC0-05CFC574BA0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DD1AC1-F88B-C25D-E1C0-4FDC0F650F6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050EB39E-FB14-C0C6-8414-9A19A9E1D598}"/>
              </a:ext>
            </a:extLst>
          </p:cNvPr>
          <p:cNvSpPr>
            <a:spLocks noGrp="1"/>
          </p:cNvSpPr>
          <p:nvPr>
            <p:ph type="title"/>
          </p:nvPr>
        </p:nvSpPr>
        <p:spPr/>
        <p:txBody>
          <a:bodyPr/>
          <a:lstStyle/>
          <a:p>
            <a:r>
              <a:rPr lang="en-US" dirty="0">
                <a:latin typeface="Arial"/>
                <a:cs typeface="Arial"/>
              </a:rPr>
              <a:t>Multiple choice </a:t>
            </a:r>
            <a:r>
              <a:rPr lang="en-US" dirty="0">
                <a:solidFill>
                  <a:schemeClr val="bg1"/>
                </a:solidFill>
                <a:latin typeface="Arial"/>
                <a:cs typeface="Arial"/>
              </a:rPr>
              <a:t>(2)</a:t>
            </a:r>
          </a:p>
        </p:txBody>
      </p:sp>
      <p:sp>
        <p:nvSpPr>
          <p:cNvPr id="15" name="Text Placeholder 14">
            <a:extLst>
              <a:ext uri="{FF2B5EF4-FFF2-40B4-BE49-F238E27FC236}">
                <a16:creationId xmlns:a16="http://schemas.microsoft.com/office/drawing/2014/main" id="{9A23AB31-22B6-7DD4-714B-1A855864C046}"/>
              </a:ext>
            </a:extLst>
          </p:cNvPr>
          <p:cNvSpPr>
            <a:spLocks noGrp="1"/>
          </p:cNvSpPr>
          <p:nvPr>
            <p:ph type="body" sz="quarter" idx="28"/>
          </p:nvPr>
        </p:nvSpPr>
        <p:spPr>
          <a:xfrm>
            <a:off x="360000" y="1222298"/>
            <a:ext cx="10853023" cy="2698762"/>
          </a:xfrm>
        </p:spPr>
        <p:txBody>
          <a:bodyPr vert="horz" lIns="0" tIns="0" rIns="0" bIns="0" rtlCol="0" anchor="t">
            <a:noAutofit/>
          </a:bodyPr>
          <a:lstStyle/>
          <a:p>
            <a:pPr algn="ctr"/>
            <a:r>
              <a:rPr lang="en-AU" sz="4000" dirty="0">
                <a:latin typeface="Arial"/>
                <a:cs typeface="Arial"/>
              </a:rPr>
              <a:t>A customer used a $10 note for 2 drinks costing $4.70. </a:t>
            </a:r>
            <a:r>
              <a:rPr lang="en-US" sz="4000" dirty="0">
                <a:latin typeface="Arial"/>
                <a:cs typeface="Arial"/>
              </a:rPr>
              <a:t>Which of these shows the correct change?</a:t>
            </a:r>
          </a:p>
        </p:txBody>
      </p:sp>
      <p:pic>
        <p:nvPicPr>
          <p:cNvPr id="4" name="Picture 3" descr="image of a finger selecting an option for a multiple choice or true and false">
            <a:extLst>
              <a:ext uri="{FF2B5EF4-FFF2-40B4-BE49-F238E27FC236}">
                <a16:creationId xmlns:a16="http://schemas.microsoft.com/office/drawing/2014/main" id="{BBC7B3D4-85CD-1F79-1311-C7E492C653DA}"/>
              </a:ext>
            </a:extLst>
          </p:cNvPr>
          <p:cNvPicPr>
            <a:picLocks noChangeAspect="1"/>
          </p:cNvPicPr>
          <p:nvPr/>
        </p:nvPicPr>
        <p:blipFill>
          <a:blip r:embed="rId3"/>
          <a:stretch>
            <a:fillRect/>
          </a:stretch>
        </p:blipFill>
        <p:spPr>
          <a:xfrm>
            <a:off x="10807908" y="43303"/>
            <a:ext cx="1165786" cy="1140716"/>
          </a:xfrm>
          <a:prstGeom prst="rect">
            <a:avLst/>
          </a:prstGeom>
          <a:ln>
            <a:noFill/>
          </a:ln>
        </p:spPr>
      </p:pic>
      <p:graphicFrame>
        <p:nvGraphicFramePr>
          <p:cNvPr id="7" name="Table 6">
            <a:extLst>
              <a:ext uri="{FF2B5EF4-FFF2-40B4-BE49-F238E27FC236}">
                <a16:creationId xmlns:a16="http://schemas.microsoft.com/office/drawing/2014/main" id="{E1426E90-8095-992D-4172-831910E16C83}"/>
              </a:ext>
            </a:extLst>
          </p:cNvPr>
          <p:cNvGraphicFramePr>
            <a:graphicFrameLocks noGrp="1"/>
          </p:cNvGraphicFramePr>
          <p:nvPr>
            <p:extLst>
              <p:ext uri="{D42A27DB-BD31-4B8C-83A1-F6EECF244321}">
                <p14:modId xmlns:p14="http://schemas.microsoft.com/office/powerpoint/2010/main" val="3300272130"/>
              </p:ext>
            </p:extLst>
          </p:nvPr>
        </p:nvGraphicFramePr>
        <p:xfrm>
          <a:off x="572708" y="4873702"/>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dirty="0">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52268">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t>50 cents</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t>60 cents</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t>70 cents</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dirty="0"/>
                        <a:t>80 cents</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Tree>
    <p:extLst>
      <p:ext uri="{BB962C8B-B14F-4D97-AF65-F5344CB8AC3E}">
        <p14:creationId xmlns:p14="http://schemas.microsoft.com/office/powerpoint/2010/main" val="3807988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(9)</a:t>
            </a:r>
          </a:p>
        </p:txBody>
      </p:sp>
      <p:pic>
        <p:nvPicPr>
          <p:cNvPr id="4" name="Picture 3" descr="image of a clipboard with a pencil recording short answer responses">
            <a:extLst>
              <a:ext uri="{FF2B5EF4-FFF2-40B4-BE49-F238E27FC236}">
                <a16:creationId xmlns:a16="http://schemas.microsoft.com/office/drawing/2014/main" id="{A7928AD0-FB0D-320D-A01E-AB930E8E6C3D}"/>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9" name="Picture Placeholder 10">
            <a:extLst>
              <a:ext uri="{FF2B5EF4-FFF2-40B4-BE49-F238E27FC236}">
                <a16:creationId xmlns:a16="http://schemas.microsoft.com/office/drawing/2014/main" id="{3E6E441B-A4DB-B27E-861D-05161EBDE833}"/>
              </a:ext>
            </a:extLst>
          </p:cNvPr>
          <p:cNvSpPr>
            <a:spLocks noGrp="1"/>
          </p:cNvSpPr>
          <p:nvPr>
            <p:ph type="pic" sz="quarter" idx="21"/>
          </p:nvPr>
        </p:nvSpPr>
        <p:spPr>
          <a:xfrm>
            <a:off x="0" y="1653339"/>
            <a:ext cx="11799220" cy="4298282"/>
          </a:xfrm>
        </p:spPr>
        <p:txBody>
          <a:bodyPr/>
          <a:lstStyle/>
          <a:p>
            <a:pPr algn="ctr"/>
            <a:r>
              <a:rPr lang="en-US" sz="3600" dirty="0">
                <a:latin typeface="Arial"/>
                <a:cs typeface="Arial"/>
              </a:rPr>
              <a:t>Students were </a:t>
            </a:r>
            <a:r>
              <a:rPr lang="en-US" sz="3600" b="1" dirty="0">
                <a:latin typeface="Arial"/>
                <a:cs typeface="Arial"/>
              </a:rPr>
              <a:t>surveyed</a:t>
            </a:r>
            <a:r>
              <a:rPr lang="en-US" sz="3600" dirty="0">
                <a:latin typeface="Arial"/>
                <a:cs typeface="Arial"/>
              </a:rPr>
              <a:t> about </a:t>
            </a:r>
            <a:r>
              <a:rPr lang="en-US" sz="3600" b="1" dirty="0">
                <a:latin typeface="Arial"/>
                <a:cs typeface="Arial"/>
              </a:rPr>
              <a:t>sports </a:t>
            </a:r>
            <a:r>
              <a:rPr lang="en-US" sz="3600" dirty="0">
                <a:latin typeface="Arial"/>
                <a:cs typeface="Arial"/>
              </a:rPr>
              <a:t>they play. </a:t>
            </a:r>
          </a:p>
          <a:p>
            <a:pPr algn="ctr"/>
            <a:r>
              <a:rPr lang="en-US" sz="3600" dirty="0">
                <a:latin typeface="Arial"/>
                <a:cs typeface="Arial"/>
              </a:rPr>
              <a:t>There were </a:t>
            </a:r>
            <a:r>
              <a:rPr lang="en-US" sz="3600" b="1" dirty="0">
                <a:latin typeface="Arial"/>
                <a:cs typeface="Arial"/>
              </a:rPr>
              <a:t>30 responses,</a:t>
            </a:r>
            <a:r>
              <a:rPr lang="en-US" sz="3600" dirty="0">
                <a:latin typeface="Arial"/>
                <a:cs typeface="Arial"/>
              </a:rPr>
              <a:t> and </a:t>
            </a:r>
            <a:r>
              <a:rPr lang="en-US" sz="3600" b="1" dirty="0">
                <a:latin typeface="Arial"/>
                <a:cs typeface="Arial"/>
              </a:rPr>
              <a:t>4 sports </a:t>
            </a:r>
            <a:r>
              <a:rPr lang="en-US" sz="3600" dirty="0">
                <a:latin typeface="Arial"/>
                <a:cs typeface="Arial"/>
              </a:rPr>
              <a:t>identified. </a:t>
            </a:r>
          </a:p>
          <a:p>
            <a:pPr algn="ctr"/>
            <a:r>
              <a:rPr lang="en-US" sz="3600" b="1" dirty="0">
                <a:latin typeface="Arial"/>
                <a:cs typeface="Arial"/>
              </a:rPr>
              <a:t>Create </a:t>
            </a:r>
            <a:r>
              <a:rPr lang="en-US" sz="3600" dirty="0">
                <a:latin typeface="Arial"/>
                <a:cs typeface="Arial"/>
              </a:rPr>
              <a:t>a </a:t>
            </a:r>
            <a:r>
              <a:rPr lang="en-US" sz="3600" b="1" dirty="0">
                <a:latin typeface="Arial"/>
                <a:cs typeface="Arial"/>
              </a:rPr>
              <a:t>table </a:t>
            </a:r>
            <a:r>
              <a:rPr lang="en-US" sz="3600" dirty="0">
                <a:latin typeface="Arial"/>
                <a:cs typeface="Arial"/>
              </a:rPr>
              <a:t>showing how the data might look using </a:t>
            </a:r>
            <a:r>
              <a:rPr lang="en-US" sz="3600" b="1" dirty="0">
                <a:latin typeface="Arial"/>
                <a:cs typeface="Arial"/>
              </a:rPr>
              <a:t>tally marks. </a:t>
            </a:r>
          </a:p>
        </p:txBody>
      </p:sp>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(10)</a:t>
            </a:r>
          </a:p>
        </p:txBody>
      </p:sp>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360000" y="1131820"/>
            <a:ext cx="11243037" cy="3979384"/>
          </a:xfrm>
        </p:spPr>
        <p:txBody>
          <a:bodyPr/>
          <a:lstStyle/>
          <a:p>
            <a:pPr algn="ctr"/>
            <a:r>
              <a:rPr lang="en-US" sz="4400" b="1" dirty="0">
                <a:latin typeface="Arial"/>
                <a:cs typeface="Arial"/>
              </a:rPr>
              <a:t>Complete</a:t>
            </a:r>
            <a:r>
              <a:rPr lang="en-US" sz="4400" dirty="0">
                <a:latin typeface="Arial"/>
                <a:cs typeface="Arial"/>
              </a:rPr>
              <a:t> the number sentences. </a:t>
            </a:r>
          </a:p>
          <a:p>
            <a:pPr algn="ctr"/>
            <a:r>
              <a:rPr lang="en-US" sz="4400" b="1" dirty="0">
                <a:latin typeface="Arial"/>
                <a:cs typeface="Arial"/>
              </a:rPr>
              <a:t>How</a:t>
            </a:r>
            <a:r>
              <a:rPr lang="en-US" sz="4400" dirty="0">
                <a:latin typeface="Arial"/>
                <a:cs typeface="Arial"/>
              </a:rPr>
              <a:t> did you find the </a:t>
            </a:r>
            <a:r>
              <a:rPr lang="en-US" sz="4400" b="1" dirty="0">
                <a:latin typeface="Arial"/>
                <a:cs typeface="Arial"/>
              </a:rPr>
              <a:t>solutions</a:t>
            </a:r>
            <a:r>
              <a:rPr lang="en-US" sz="4400" dirty="0">
                <a:latin typeface="Arial"/>
                <a:cs typeface="Arial"/>
              </a:rPr>
              <a:t>?</a:t>
            </a:r>
          </a:p>
          <a:p>
            <a:pPr algn="ctr"/>
            <a:r>
              <a:rPr lang="en-AU" sz="4400" dirty="0">
                <a:solidFill>
                  <a:srgbClr val="22272B"/>
                </a:solidFill>
              </a:rPr>
              <a:t>36 ÷ 2 = ?		? × 2 = 36</a:t>
            </a:r>
          </a:p>
          <a:p>
            <a:pPr algn="ctr"/>
            <a:r>
              <a:rPr lang="en-AU" sz="4400" dirty="0">
                <a:solidFill>
                  <a:srgbClr val="22272B"/>
                </a:solidFill>
              </a:rPr>
              <a:t>42 ÷ 2 = ?		? × 2 = 42</a:t>
            </a:r>
            <a:endParaRPr lang="en-US" sz="4400" dirty="0">
              <a:solidFill>
                <a:srgbClr val="22272B"/>
              </a:solidFill>
            </a:endParaRPr>
          </a:p>
          <a:p>
            <a:pPr algn="ctr"/>
            <a:endParaRPr lang="en-US" sz="4400" dirty="0">
              <a:solidFill>
                <a:srgbClr val="22272B"/>
              </a:solidFill>
            </a:endParaRP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A8AD6B3-D377-CD0C-D55B-8F006C042486}"/>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233306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a:xfrm>
            <a:off x="360000" y="402120"/>
            <a:ext cx="11243038" cy="545601"/>
          </a:xfrm>
        </p:spPr>
        <p:txBody>
          <a:bodyPr/>
          <a:lstStyle/>
          <a:p>
            <a:r>
              <a:rPr lang="en-US" dirty="0">
                <a:latin typeface="Arial"/>
                <a:cs typeface="Arial"/>
              </a:rPr>
              <a:t>Short response </a:t>
            </a:r>
            <a:r>
              <a:rPr lang="en-US" dirty="0">
                <a:solidFill>
                  <a:schemeClr val="bg1"/>
                </a:solidFill>
                <a:latin typeface="Arial"/>
                <a:cs typeface="Arial"/>
              </a:rPr>
              <a:t>(11) </a:t>
            </a:r>
          </a:p>
        </p:txBody>
      </p:sp>
      <p:pic>
        <p:nvPicPr>
          <p:cNvPr id="4" name="Picture 3" descr="image of a clipboard with a pencil recording short answer responses">
            <a:extLst>
              <a:ext uri="{FF2B5EF4-FFF2-40B4-BE49-F238E27FC236}">
                <a16:creationId xmlns:a16="http://schemas.microsoft.com/office/drawing/2014/main" id="{26FF086C-E9B9-CA71-EB91-C0AC0EA37979}"/>
              </a:ext>
            </a:extLst>
          </p:cNvPr>
          <p:cNvPicPr>
            <a:picLocks noChangeAspect="1"/>
          </p:cNvPicPr>
          <p:nvPr/>
        </p:nvPicPr>
        <p:blipFill>
          <a:blip r:embed="rId3"/>
          <a:stretch>
            <a:fillRect/>
          </a:stretch>
        </p:blipFill>
        <p:spPr>
          <a:xfrm>
            <a:off x="11026250" y="203403"/>
            <a:ext cx="915500" cy="915500"/>
          </a:xfrm>
          <a:prstGeom prst="rect">
            <a:avLst/>
          </a:prstGeom>
          <a:ln>
            <a:noFill/>
          </a:ln>
        </p:spPr>
      </p:pic>
      <p:pic>
        <p:nvPicPr>
          <p:cNvPr id="15" name="Picture 14" descr="3 bar models representing &#10;thirds, quarters and eighths.">
            <a:extLst>
              <a:ext uri="{FF2B5EF4-FFF2-40B4-BE49-F238E27FC236}">
                <a16:creationId xmlns:a16="http://schemas.microsoft.com/office/drawing/2014/main" id="{C6B3A340-F5A0-AC03-63AC-844147C08D3C}"/>
              </a:ext>
            </a:extLst>
          </p:cNvPr>
          <p:cNvPicPr>
            <a:picLocks noChangeAspect="1"/>
          </p:cNvPicPr>
          <p:nvPr/>
        </p:nvPicPr>
        <p:blipFill>
          <a:blip r:embed="rId4"/>
          <a:stretch>
            <a:fillRect/>
          </a:stretch>
        </p:blipFill>
        <p:spPr>
          <a:xfrm>
            <a:off x="1381416" y="3725800"/>
            <a:ext cx="4443653" cy="2790200"/>
          </a:xfrm>
          <a:prstGeom prst="rect">
            <a:avLst/>
          </a:prstGeom>
          <a:ln>
            <a:noFill/>
          </a:ln>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9B813D6-8552-0757-9C31-59DDF84AC3DA}"/>
                  </a:ext>
                </a:extLst>
              </p:cNvPr>
              <p:cNvSpPr txBox="1"/>
              <p:nvPr/>
            </p:nvSpPr>
            <p:spPr>
              <a:xfrm>
                <a:off x="250250" y="972286"/>
                <a:ext cx="11397164" cy="2674258"/>
              </a:xfrm>
              <a:prstGeom prst="rect">
                <a:avLst/>
              </a:prstGeom>
              <a:noFill/>
            </p:spPr>
            <p:txBody>
              <a:bodyPr wrap="square">
                <a:spAutoFit/>
              </a:bodyPr>
              <a:lstStyle/>
              <a:p>
                <a:pPr algn="ctr">
                  <a:spcAft>
                    <a:spcPts val="1800"/>
                  </a:spcAft>
                </a:pPr>
                <a:r>
                  <a:rPr lang="en-AU" sz="4000" b="1" dirty="0"/>
                  <a:t>Copy</a:t>
                </a:r>
                <a:r>
                  <a:rPr lang="en-AU" sz="4000" dirty="0"/>
                  <a:t> the </a:t>
                </a:r>
                <a:r>
                  <a:rPr lang="en-AU" sz="4000" b="1" dirty="0"/>
                  <a:t>bar models </a:t>
                </a:r>
                <a:r>
                  <a:rPr lang="en-AU" sz="4000" dirty="0"/>
                  <a:t>representing </a:t>
                </a:r>
              </a:p>
              <a:p>
                <a:pPr algn="ctr">
                  <a:spcAft>
                    <a:spcPts val="1800"/>
                  </a:spcAft>
                </a:pPr>
                <a:r>
                  <a:rPr lang="en-AU" sz="4000" b="1" dirty="0"/>
                  <a:t>thirds, quarters</a:t>
                </a:r>
                <a:r>
                  <a:rPr lang="en-AU" sz="4000" dirty="0"/>
                  <a:t> and </a:t>
                </a:r>
                <a:r>
                  <a:rPr lang="en-AU" sz="4000" b="1" dirty="0"/>
                  <a:t>fifths</a:t>
                </a:r>
                <a:r>
                  <a:rPr lang="en-AU" sz="4000" dirty="0"/>
                  <a:t>. </a:t>
                </a:r>
              </a:p>
              <a:p>
                <a:pPr algn="ctr">
                  <a:spcAft>
                    <a:spcPts val="1800"/>
                  </a:spcAft>
                </a:pPr>
                <a:r>
                  <a:rPr lang="en-AU" sz="4000" dirty="0"/>
                  <a:t>Which is </a:t>
                </a:r>
                <a:r>
                  <a:rPr lang="en-AU" sz="4000" b="1" dirty="0"/>
                  <a:t>larger</a:t>
                </a:r>
                <a:r>
                  <a:rPr lang="en-AU" sz="4000" dirty="0"/>
                  <a:t> out of </a:t>
                </a:r>
                <a14:m>
                  <m:oMath xmlns:m="http://schemas.openxmlformats.org/officeDocument/2006/math">
                    <m:f>
                      <m:fPr>
                        <m:ctrlPr>
                          <a:rPr lang="en-AU" sz="4000" b="1" i="1">
                            <a:latin typeface="Cambria Math" panose="02040503050406030204" pitchFamily="18" charset="0"/>
                            <a:cs typeface="Arial"/>
                          </a:rPr>
                        </m:ctrlPr>
                      </m:fPr>
                      <m:num>
                        <m:r>
                          <a:rPr lang="en-AU" sz="4000" b="1" i="1" smtClean="0">
                            <a:latin typeface="Cambria Math" panose="02040503050406030204" pitchFamily="18" charset="0"/>
                            <a:cs typeface="Arial"/>
                          </a:rPr>
                          <m:t>𝟐</m:t>
                        </m:r>
                      </m:num>
                      <m:den>
                        <m:r>
                          <a:rPr lang="en-AU" sz="4000" b="1" i="1" smtClean="0">
                            <a:latin typeface="Cambria Math" panose="02040503050406030204" pitchFamily="18" charset="0"/>
                            <a:cs typeface="Arial"/>
                          </a:rPr>
                          <m:t>𝟑</m:t>
                        </m:r>
                      </m:den>
                    </m:f>
                  </m:oMath>
                </a14:m>
                <a:r>
                  <a:rPr lang="en-AU" sz="4000" dirty="0"/>
                  <a:t> , </a:t>
                </a:r>
                <a14:m>
                  <m:oMath xmlns:m="http://schemas.openxmlformats.org/officeDocument/2006/math">
                    <m:f>
                      <m:fPr>
                        <m:ctrlPr>
                          <a:rPr lang="en-AU" sz="4000" b="1" i="1">
                            <a:latin typeface="Cambria Math" panose="02040503050406030204" pitchFamily="18" charset="0"/>
                            <a:cs typeface="Arial"/>
                          </a:rPr>
                        </m:ctrlPr>
                      </m:fPr>
                      <m:num>
                        <m:r>
                          <a:rPr lang="en-AU" sz="4000" b="1" i="1">
                            <a:latin typeface="Cambria Math" panose="02040503050406030204" pitchFamily="18" charset="0"/>
                            <a:cs typeface="Arial"/>
                          </a:rPr>
                          <m:t>𝟐</m:t>
                        </m:r>
                      </m:num>
                      <m:den>
                        <m:r>
                          <a:rPr lang="en-AU" sz="4000" b="1" i="1" smtClean="0">
                            <a:latin typeface="Cambria Math" panose="02040503050406030204" pitchFamily="18" charset="0"/>
                            <a:cs typeface="Arial"/>
                          </a:rPr>
                          <m:t>𝟒</m:t>
                        </m:r>
                      </m:den>
                    </m:f>
                    <m:r>
                      <a:rPr lang="en-AU" sz="4000" b="1" i="1">
                        <a:latin typeface="Cambria Math" panose="02040503050406030204" pitchFamily="18" charset="0"/>
                        <a:cs typeface="Arial"/>
                      </a:rPr>
                      <m:t> </m:t>
                    </m:r>
                  </m:oMath>
                </a14:m>
                <a:r>
                  <a:rPr lang="en-AU" sz="4000" dirty="0"/>
                  <a:t>or </a:t>
                </a:r>
                <a14:m>
                  <m:oMath xmlns:m="http://schemas.openxmlformats.org/officeDocument/2006/math">
                    <m:f>
                      <m:fPr>
                        <m:ctrlPr>
                          <a:rPr lang="en-AU" sz="4000" b="1" i="1">
                            <a:latin typeface="Cambria Math" panose="02040503050406030204" pitchFamily="18" charset="0"/>
                            <a:cs typeface="Arial"/>
                          </a:rPr>
                        </m:ctrlPr>
                      </m:fPr>
                      <m:num>
                        <m:r>
                          <a:rPr lang="en-AU" sz="4000" b="1" i="1" smtClean="0">
                            <a:latin typeface="Cambria Math" panose="02040503050406030204" pitchFamily="18" charset="0"/>
                            <a:cs typeface="Arial"/>
                          </a:rPr>
                          <m:t>𝟐</m:t>
                        </m:r>
                      </m:num>
                      <m:den>
                        <m:r>
                          <a:rPr lang="en-AU" sz="4000" b="1" i="1" smtClean="0">
                            <a:latin typeface="Cambria Math" panose="02040503050406030204" pitchFamily="18" charset="0"/>
                            <a:cs typeface="Arial"/>
                          </a:rPr>
                          <m:t>𝟓</m:t>
                        </m:r>
                      </m:den>
                    </m:f>
                  </m:oMath>
                </a14:m>
                <a:r>
                  <a:rPr lang="en-AU" sz="4400" dirty="0"/>
                  <a:t> ?</a:t>
                </a:r>
                <a:r>
                  <a:rPr lang="en-AU" sz="4000" dirty="0"/>
                  <a:t> </a:t>
                </a:r>
              </a:p>
            </p:txBody>
          </p:sp>
        </mc:Choice>
        <mc:Fallback xmlns="">
          <p:sp>
            <p:nvSpPr>
              <p:cNvPr id="17" name="TextBox 16">
                <a:extLst>
                  <a:ext uri="{FF2B5EF4-FFF2-40B4-BE49-F238E27FC236}">
                    <a16:creationId xmlns:a16="http://schemas.microsoft.com/office/drawing/2014/main" id="{39B813D6-8552-0757-9C31-59DDF84AC3DA}"/>
                  </a:ext>
                </a:extLst>
              </p:cNvPr>
              <p:cNvSpPr txBox="1">
                <a:spLocks noRot="1" noChangeAspect="1" noMove="1" noResize="1" noEditPoints="1" noAdjustHandles="1" noChangeArrowheads="1" noChangeShapeType="1" noTextEdit="1"/>
              </p:cNvSpPr>
              <p:nvPr/>
            </p:nvSpPr>
            <p:spPr>
              <a:xfrm>
                <a:off x="250250" y="972286"/>
                <a:ext cx="11397164" cy="2674258"/>
              </a:xfrm>
              <a:prstGeom prst="rect">
                <a:avLst/>
              </a:prstGeom>
              <a:blipFill>
                <a:blip r:embed="rId5"/>
                <a:stretch>
                  <a:fillRect t="-4100" b="-4784"/>
                </a:stretch>
              </a:blipFill>
            </p:spPr>
            <p:txBody>
              <a:bodyPr/>
              <a:lstStyle/>
              <a:p>
                <a:r>
                  <a:rPr lang="en-AU">
                    <a:noFill/>
                  </a:rPr>
                  <a:t> </a:t>
                </a:r>
              </a:p>
            </p:txBody>
          </p:sp>
        </mc:Fallback>
      </mc:AlternateContent>
      <p:sp>
        <p:nvSpPr>
          <p:cNvPr id="19" name="TextBox 18">
            <a:extLst>
              <a:ext uri="{FF2B5EF4-FFF2-40B4-BE49-F238E27FC236}">
                <a16:creationId xmlns:a16="http://schemas.microsoft.com/office/drawing/2014/main" id="{F0CE6741-30C3-18FF-5C0D-13B31748918C}"/>
              </a:ext>
            </a:extLst>
          </p:cNvPr>
          <p:cNvSpPr txBox="1"/>
          <p:nvPr/>
        </p:nvSpPr>
        <p:spPr>
          <a:xfrm>
            <a:off x="6366932" y="4261960"/>
            <a:ext cx="5574817" cy="1938992"/>
          </a:xfrm>
          <a:prstGeom prst="rect">
            <a:avLst/>
          </a:prstGeom>
          <a:noFill/>
        </p:spPr>
        <p:txBody>
          <a:bodyPr wrap="square">
            <a:spAutoFit/>
          </a:bodyPr>
          <a:lstStyle/>
          <a:p>
            <a:pPr algn="ctr">
              <a:spcAft>
                <a:spcPts val="1800"/>
              </a:spcAft>
            </a:pPr>
            <a:r>
              <a:rPr lang="en-AU" sz="4000" b="1" dirty="0"/>
              <a:t>Shade</a:t>
            </a:r>
            <a:r>
              <a:rPr lang="en-AU" sz="4000" dirty="0"/>
              <a:t> and </a:t>
            </a:r>
            <a:r>
              <a:rPr lang="en-AU" sz="4000" b="1" dirty="0"/>
              <a:t>label</a:t>
            </a:r>
            <a:r>
              <a:rPr lang="en-AU" sz="4000" dirty="0"/>
              <a:t> the bars to show your </a:t>
            </a:r>
            <a:r>
              <a:rPr lang="en-AU" sz="4000" b="1" dirty="0"/>
              <a:t>reasoning</a:t>
            </a:r>
            <a:r>
              <a:rPr lang="en-AU" sz="4000" dirty="0"/>
              <a:t>.</a:t>
            </a:r>
            <a:endParaRPr lang="en-AU" sz="4000" b="1" dirty="0"/>
          </a:p>
        </p:txBody>
      </p:sp>
    </p:spTree>
    <p:extLst>
      <p:ext uri="{BB962C8B-B14F-4D97-AF65-F5344CB8AC3E}">
        <p14:creationId xmlns:p14="http://schemas.microsoft.com/office/powerpoint/2010/main" val="1662412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(12)</a:t>
            </a:r>
          </a:p>
        </p:txBody>
      </p:sp>
      <p:pic>
        <p:nvPicPr>
          <p:cNvPr id="4" name="Picture 3" descr="image of a clipboard with a pencil recording short answer responses">
            <a:extLst>
              <a:ext uri="{FF2B5EF4-FFF2-40B4-BE49-F238E27FC236}">
                <a16:creationId xmlns:a16="http://schemas.microsoft.com/office/drawing/2014/main" id="{F6524755-11ED-9461-3FEF-45D126D2CF84}"/>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9" name="TextBox 8">
            <a:extLst>
              <a:ext uri="{FF2B5EF4-FFF2-40B4-BE49-F238E27FC236}">
                <a16:creationId xmlns:a16="http://schemas.microsoft.com/office/drawing/2014/main" id="{8ED251F4-6C98-5383-78C8-5867F85712AC}"/>
              </a:ext>
            </a:extLst>
          </p:cNvPr>
          <p:cNvSpPr txBox="1"/>
          <p:nvPr/>
        </p:nvSpPr>
        <p:spPr>
          <a:xfrm>
            <a:off x="660771" y="1839100"/>
            <a:ext cx="11125690" cy="3570208"/>
          </a:xfrm>
          <a:prstGeom prst="rect">
            <a:avLst/>
          </a:prstGeom>
          <a:noFill/>
        </p:spPr>
        <p:txBody>
          <a:bodyPr wrap="square" lIns="91440" tIns="45720" rIns="91440" bIns="45720" anchor="t">
            <a:spAutoFit/>
          </a:bodyPr>
          <a:lstStyle/>
          <a:p>
            <a:pPr marL="742950" indent="-742950">
              <a:spcBef>
                <a:spcPts val="1200"/>
              </a:spcBef>
              <a:spcAft>
                <a:spcPts val="1800"/>
              </a:spcAft>
              <a:buFont typeface="+mj-lt"/>
              <a:buAutoNum type="arabicPeriod"/>
            </a:pPr>
            <a:r>
              <a:rPr lang="en-AU" sz="4400" dirty="0">
                <a:latin typeface="Arial"/>
                <a:cs typeface="Arial"/>
              </a:rPr>
              <a:t>Draw a </a:t>
            </a:r>
            <a:r>
              <a:rPr lang="en-AU" sz="4400" b="1" dirty="0">
                <a:latin typeface="Arial"/>
                <a:cs typeface="Arial"/>
              </a:rPr>
              <a:t>regular hexagon</a:t>
            </a:r>
            <a:r>
              <a:rPr lang="en-AU" sz="4400" dirty="0">
                <a:latin typeface="Arial"/>
                <a:cs typeface="Arial"/>
              </a:rPr>
              <a:t>.</a:t>
            </a:r>
          </a:p>
          <a:p>
            <a:pPr marL="742950" indent="-742950">
              <a:spcBef>
                <a:spcPts val="1200"/>
              </a:spcBef>
              <a:spcAft>
                <a:spcPts val="1800"/>
              </a:spcAft>
              <a:buFont typeface="+mj-lt"/>
              <a:buAutoNum type="arabicPeriod"/>
            </a:pPr>
            <a:r>
              <a:rPr lang="en-AU" sz="4400" dirty="0">
                <a:latin typeface="Arial"/>
                <a:cs typeface="Arial"/>
              </a:rPr>
              <a:t>Draw </a:t>
            </a:r>
            <a:r>
              <a:rPr lang="en-AU" sz="4400" b="1" dirty="0">
                <a:latin typeface="Arial"/>
                <a:cs typeface="Arial"/>
              </a:rPr>
              <a:t>straight lines </a:t>
            </a:r>
            <a:r>
              <a:rPr lang="en-AU" sz="4400" dirty="0">
                <a:latin typeface="Arial"/>
                <a:cs typeface="Arial"/>
              </a:rPr>
              <a:t>to split your </a:t>
            </a:r>
            <a:r>
              <a:rPr lang="en-AU" sz="4400" b="1" dirty="0">
                <a:latin typeface="Arial"/>
                <a:cs typeface="Arial"/>
              </a:rPr>
              <a:t>hexagon</a:t>
            </a:r>
            <a:r>
              <a:rPr lang="en-AU" sz="4400" dirty="0">
                <a:latin typeface="Arial"/>
                <a:cs typeface="Arial"/>
              </a:rPr>
              <a:t> into smaller </a:t>
            </a:r>
            <a:r>
              <a:rPr lang="en-AU" sz="4400" b="1" dirty="0">
                <a:latin typeface="Arial"/>
                <a:cs typeface="Arial"/>
              </a:rPr>
              <a:t>shapes</a:t>
            </a:r>
            <a:r>
              <a:rPr lang="en-AU" sz="4400" dirty="0">
                <a:latin typeface="Arial"/>
                <a:cs typeface="Arial"/>
              </a:rPr>
              <a:t> you know.</a:t>
            </a:r>
          </a:p>
          <a:p>
            <a:pPr marL="742950" indent="-742950">
              <a:spcBef>
                <a:spcPts val="1200"/>
              </a:spcBef>
              <a:spcAft>
                <a:spcPts val="1800"/>
              </a:spcAft>
              <a:buFont typeface="+mj-lt"/>
              <a:buAutoNum type="arabicPeriod"/>
            </a:pPr>
            <a:r>
              <a:rPr lang="en-AU" sz="4400" dirty="0">
                <a:latin typeface="Arial"/>
                <a:cs typeface="Arial"/>
              </a:rPr>
              <a:t>What </a:t>
            </a:r>
            <a:r>
              <a:rPr lang="en-AU" sz="4400" b="1" dirty="0">
                <a:latin typeface="Arial"/>
                <a:cs typeface="Arial"/>
              </a:rPr>
              <a:t>shapes</a:t>
            </a:r>
            <a:r>
              <a:rPr lang="en-AU" sz="4400" dirty="0">
                <a:latin typeface="Arial"/>
                <a:cs typeface="Arial"/>
              </a:rPr>
              <a:t> did you make? </a:t>
            </a:r>
            <a:endParaRPr lang="en-US" sz="4400" dirty="0">
              <a:latin typeface="Arial"/>
              <a:cs typeface="Arial"/>
            </a:endParaRPr>
          </a:p>
        </p:txBody>
      </p:sp>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3B753-4884-9603-6E0B-9EB35E0636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26A967-3193-D2CF-8652-3CEBA99F1B30}"/>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14DFB8F4-ECDD-6FDE-CB51-17647FF8E5AD}"/>
              </a:ext>
            </a:extLst>
          </p:cNvPr>
          <p:cNvSpPr>
            <a:spLocks noGrp="1"/>
          </p:cNvSpPr>
          <p:nvPr>
            <p:ph type="title"/>
          </p:nvPr>
        </p:nvSpPr>
        <p:spPr/>
        <p:txBody>
          <a:bodyPr/>
          <a:lstStyle/>
          <a:p>
            <a:r>
              <a:rPr lang="en-AU" dirty="0">
                <a:latin typeface="Arial"/>
                <a:cs typeface="Arial"/>
              </a:rPr>
              <a:t>Activity 3 – interpreting a problem involving money 1</a:t>
            </a:r>
            <a:endParaRPr lang="en-AU" dirty="0"/>
          </a:p>
        </p:txBody>
      </p:sp>
      <p:pic>
        <p:nvPicPr>
          <p:cNvPr id="6" name="Picture 5" descr="image of a head with cogs turning inside">
            <a:extLst>
              <a:ext uri="{FF2B5EF4-FFF2-40B4-BE49-F238E27FC236}">
                <a16:creationId xmlns:a16="http://schemas.microsoft.com/office/drawing/2014/main" id="{9A58733D-2193-50A0-4542-7409202DD2D8}"/>
              </a:ext>
            </a:extLst>
          </p:cNvPr>
          <p:cNvPicPr>
            <a:picLocks noChangeAspect="1"/>
          </p:cNvPicPr>
          <p:nvPr/>
        </p:nvPicPr>
        <p:blipFill>
          <a:blip r:embed="rId3"/>
          <a:stretch>
            <a:fillRect/>
          </a:stretch>
        </p:blipFill>
        <p:spPr>
          <a:xfrm>
            <a:off x="11107003" y="240894"/>
            <a:ext cx="720000" cy="856364"/>
          </a:xfrm>
          <a:prstGeom prst="rect">
            <a:avLst/>
          </a:prstGeom>
          <a:ln>
            <a:noFill/>
          </a:ln>
        </p:spPr>
      </p:pic>
      <p:sp>
        <p:nvSpPr>
          <p:cNvPr id="14" name="TextBox 13">
            <a:extLst>
              <a:ext uri="{FF2B5EF4-FFF2-40B4-BE49-F238E27FC236}">
                <a16:creationId xmlns:a16="http://schemas.microsoft.com/office/drawing/2014/main" id="{8E1BDF96-C17D-F4D6-EFFF-717AAE071EF1}"/>
              </a:ext>
            </a:extLst>
          </p:cNvPr>
          <p:cNvSpPr txBox="1"/>
          <p:nvPr/>
        </p:nvSpPr>
        <p:spPr>
          <a:xfrm>
            <a:off x="360000" y="1097258"/>
            <a:ext cx="10764000" cy="5438092"/>
          </a:xfrm>
          <a:prstGeom prst="rect">
            <a:avLst/>
          </a:prstGeom>
          <a:noFill/>
        </p:spPr>
        <p:txBody>
          <a:bodyPr wrap="square" lIns="91440" tIns="45720" rIns="91440" bIns="45720" anchor="t">
            <a:spAutoFit/>
          </a:bodyPr>
          <a:lstStyle/>
          <a:p>
            <a:pPr algn="ctr">
              <a:lnSpc>
                <a:spcPct val="150000"/>
              </a:lnSpc>
              <a:spcAft>
                <a:spcPts val="3600"/>
              </a:spcAft>
            </a:pPr>
            <a:r>
              <a:rPr lang="en-AU" sz="3600" dirty="0">
                <a:latin typeface="Arial" panose="020B0604020202020204" pitchFamily="34" charset="0"/>
                <a:cs typeface="Arial" panose="020B0604020202020204" pitchFamily="34" charset="0"/>
              </a:rPr>
              <a:t>Mike is helping his Mum and Dad for the day at the post office. Mike’s first customer is buying a birthday card for $4.25 and a set of stamps for $12.</a:t>
            </a:r>
            <a:br>
              <a:rPr lang="en-AU" sz="3600" dirty="0">
                <a:latin typeface="Arial" panose="020B0604020202020204" pitchFamily="34" charset="0"/>
                <a:cs typeface="Arial" panose="020B0604020202020204" pitchFamily="34" charset="0"/>
              </a:rPr>
            </a:br>
            <a:r>
              <a:rPr lang="en-AU" sz="3600" dirty="0">
                <a:latin typeface="Arial" panose="020B0604020202020204" pitchFamily="34" charset="0"/>
                <a:cs typeface="Arial" panose="020B0604020202020204" pitchFamily="34" charset="0"/>
              </a:rPr>
              <a:t>The customer gives Mike a $20 note.</a:t>
            </a:r>
          </a:p>
          <a:p>
            <a:pPr algn="ctr">
              <a:lnSpc>
                <a:spcPct val="150000"/>
              </a:lnSpc>
              <a:spcAft>
                <a:spcPts val="3600"/>
              </a:spcAft>
            </a:pPr>
            <a:r>
              <a:rPr lang="en-AU" sz="3600" b="1" dirty="0">
                <a:latin typeface="Arial"/>
                <a:cs typeface="Arial"/>
              </a:rPr>
              <a:t>How much change</a:t>
            </a:r>
            <a:r>
              <a:rPr lang="en-AU" sz="3600" dirty="0">
                <a:latin typeface="Arial"/>
                <a:cs typeface="Arial"/>
              </a:rPr>
              <a:t> does he need to give back to the customer?</a:t>
            </a:r>
          </a:p>
        </p:txBody>
      </p:sp>
    </p:spTree>
    <p:extLst>
      <p:ext uri="{BB962C8B-B14F-4D97-AF65-F5344CB8AC3E}">
        <p14:creationId xmlns:p14="http://schemas.microsoft.com/office/powerpoint/2010/main" val="2321481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dirty="0">
                <a:latin typeface="Arial"/>
                <a:cs typeface="Arial"/>
              </a:rPr>
              <a:t>True or false </a:t>
            </a:r>
            <a:r>
              <a:rPr lang="en-US" dirty="0">
                <a:solidFill>
                  <a:schemeClr val="bg1"/>
                </a:solidFill>
                <a:latin typeface="Arial"/>
                <a:cs typeface="Arial"/>
              </a:rPr>
              <a:t>(2)</a:t>
            </a:r>
          </a:p>
        </p:txBody>
      </p:sp>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322422" y="1184019"/>
            <a:ext cx="10999090" cy="2877133"/>
          </a:xfrm>
        </p:spPr>
        <p:txBody>
          <a:bodyPr vert="horz" lIns="0" tIns="0" rIns="0" bIns="0" rtlCol="0" anchor="t">
            <a:noAutofit/>
          </a:bodyPr>
          <a:lstStyle/>
          <a:p>
            <a:pPr algn="ctr"/>
            <a:r>
              <a:rPr lang="en-AU" sz="4400" dirty="0"/>
              <a:t>Lina bought 8 lollies for 20 cents </a:t>
            </a:r>
            <a:r>
              <a:rPr lang="en-AU" sz="4400" b="1" dirty="0"/>
              <a:t>each</a:t>
            </a:r>
            <a:r>
              <a:rPr lang="en-AU" sz="4400" dirty="0"/>
              <a:t>.</a:t>
            </a:r>
          </a:p>
          <a:p>
            <a:pPr algn="ctr"/>
            <a:r>
              <a:rPr lang="en-AU" sz="4400" dirty="0"/>
              <a:t>She said she only needed </a:t>
            </a:r>
            <a:r>
              <a:rPr lang="en-AU" sz="4400" b="1" dirty="0"/>
              <a:t>3 coins </a:t>
            </a:r>
          </a:p>
          <a:p>
            <a:pPr algn="ctr"/>
            <a:r>
              <a:rPr lang="en-AU" sz="4400" dirty="0"/>
              <a:t>to pay for the lollies.</a:t>
            </a:r>
            <a:endParaRPr lang="en-US" sz="4400" dirty="0"/>
          </a:p>
        </p:txBody>
      </p:sp>
      <p:sp>
        <p:nvSpPr>
          <p:cNvPr id="4" name="Text Placeholder 11">
            <a:extLst>
              <a:ext uri="{FF2B5EF4-FFF2-40B4-BE49-F238E27FC236}">
                <a16:creationId xmlns:a16="http://schemas.microsoft.com/office/drawing/2014/main" id="{0349BF09-6F55-E125-B475-18E20F88B83B}"/>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3306730649"/>
              </p:ext>
            </p:extLst>
          </p:nvPr>
        </p:nvGraphicFramePr>
        <p:xfrm>
          <a:off x="2309631" y="533529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69530689-7807-BBD6-FD1B-040AA488A195}"/>
              </a:ext>
            </a:extLst>
          </p:cNvPr>
          <p:cNvPicPr>
            <a:picLocks noChangeAspect="1"/>
          </p:cNvPicPr>
          <p:nvPr/>
        </p:nvPicPr>
        <p:blipFill>
          <a:blip r:embed="rId3"/>
          <a:stretch>
            <a:fillRect/>
          </a:stretch>
        </p:blipFill>
        <p:spPr>
          <a:xfrm>
            <a:off x="10807908" y="43303"/>
            <a:ext cx="1165786" cy="1140716"/>
          </a:xfrm>
          <a:prstGeom prst="rect">
            <a:avLst/>
          </a:prstGeom>
          <a:ln>
            <a:noFill/>
          </a:ln>
        </p:spPr>
      </p:pic>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dirty="0">
                <a:latin typeface="Arial"/>
                <a:cs typeface="Arial"/>
              </a:rPr>
              <a:t>Short response</a:t>
            </a:r>
            <a:r>
              <a:rPr lang="en-US" dirty="0">
                <a:solidFill>
                  <a:schemeClr val="bg1"/>
                </a:solidFill>
                <a:latin typeface="Arial"/>
                <a:cs typeface="Arial"/>
              </a:rPr>
              <a:t> (13)</a:t>
            </a:r>
          </a:p>
        </p:txBody>
      </p:sp>
      <p:pic>
        <p:nvPicPr>
          <p:cNvPr id="4" name="Picture 3" descr="image of a clipboard with a pencil recording short answer responses">
            <a:extLst>
              <a:ext uri="{FF2B5EF4-FFF2-40B4-BE49-F238E27FC236}">
                <a16:creationId xmlns:a16="http://schemas.microsoft.com/office/drawing/2014/main" id="{6CBFAEF5-264E-AC66-53E9-1C49CB3F5B08}"/>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1028" name="Picture 4" descr="A column graph representing student votes for Year 6 Fundraiser Games. Game options and total votes are: Footy toss = 74, Obstacle circuit = 51, Ring toss = 36, Disco dance-off = 64, Jellybean jar guessing competition = 42, Matching teacher baby photos competition = 63, Lucky number = 38, Prize wheel = 65, Lucky dip = 64 and Coin toss = 43.">
            <a:extLst>
              <a:ext uri="{FF2B5EF4-FFF2-40B4-BE49-F238E27FC236}">
                <a16:creationId xmlns:a16="http://schemas.microsoft.com/office/drawing/2014/main" id="{D089612E-7020-8721-41B9-9DC2DC8C006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4400"/>
          <a:stretch>
            <a:fillRect/>
          </a:stretch>
        </p:blipFill>
        <p:spPr bwMode="auto">
          <a:xfrm>
            <a:off x="360000" y="2514600"/>
            <a:ext cx="10889080" cy="418140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0BA29F08-9A12-F00A-2E89-06FED8B6F773}"/>
              </a:ext>
            </a:extLst>
          </p:cNvPr>
          <p:cNvSpPr txBox="1"/>
          <p:nvPr/>
        </p:nvSpPr>
        <p:spPr>
          <a:xfrm>
            <a:off x="360000" y="1042737"/>
            <a:ext cx="10484463" cy="545601"/>
          </a:xfrm>
          <a:prstGeom prst="rect">
            <a:avLst/>
          </a:prstGeom>
          <a:noFill/>
        </p:spPr>
        <p:txBody>
          <a:bodyPr wrap="square" lIns="0" tIns="0" rIns="0" bIns="0" rtlCol="0">
            <a:noAutofit/>
          </a:bodyPr>
          <a:lstStyle/>
          <a:p>
            <a:pPr algn="ctr"/>
            <a:r>
              <a:rPr lang="en-AU" sz="4000" dirty="0"/>
              <a:t>What </a:t>
            </a:r>
            <a:r>
              <a:rPr lang="en-AU" sz="4000" b="1" dirty="0"/>
              <a:t>title</a:t>
            </a:r>
            <a:r>
              <a:rPr lang="en-AU" sz="4000" dirty="0"/>
              <a:t> could be given to this </a:t>
            </a:r>
            <a:r>
              <a:rPr lang="en-AU" sz="4000" b="1" dirty="0"/>
              <a:t>column graph? </a:t>
            </a:r>
          </a:p>
        </p:txBody>
      </p:sp>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9106A-42F6-0043-3C9B-189EB1458F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2FD6FD-2794-9F65-A735-2D6F3F496824}"/>
              </a:ext>
            </a:extLst>
          </p:cNvPr>
          <p:cNvSpPr>
            <a:spLocks noGrp="1"/>
          </p:cNvSpPr>
          <p:nvPr>
            <p:ph type="sldNum" sz="quarter" idx="12"/>
          </p:nvPr>
        </p:nvSpPr>
        <p:spPr>
          <a:xfrm>
            <a:off x="11124001" y="6430275"/>
            <a:ext cx="720000" cy="180000"/>
          </a:xfrm>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8CF2F279-43BE-7F77-8706-DC847D6CFBFE}"/>
              </a:ext>
            </a:extLst>
          </p:cNvPr>
          <p:cNvSpPr>
            <a:spLocks noGrp="1"/>
          </p:cNvSpPr>
          <p:nvPr>
            <p:ph type="title"/>
          </p:nvPr>
        </p:nvSpPr>
        <p:spPr/>
        <p:txBody>
          <a:bodyPr/>
          <a:lstStyle/>
          <a:p>
            <a:r>
              <a:rPr lang="en-US" dirty="0">
                <a:latin typeface="Arial"/>
                <a:cs typeface="Arial"/>
              </a:rPr>
              <a:t>Short response</a:t>
            </a:r>
            <a:r>
              <a:rPr lang="en-US" dirty="0">
                <a:solidFill>
                  <a:schemeClr val="bg1"/>
                </a:solidFill>
                <a:latin typeface="Arial"/>
                <a:cs typeface="Arial"/>
              </a:rPr>
              <a:t> (14)</a:t>
            </a:r>
          </a:p>
        </p:txBody>
      </p:sp>
      <p:pic>
        <p:nvPicPr>
          <p:cNvPr id="4" name="Picture 3" descr="image of a clipboard with a pencil recording short answer responses">
            <a:extLst>
              <a:ext uri="{FF2B5EF4-FFF2-40B4-BE49-F238E27FC236}">
                <a16:creationId xmlns:a16="http://schemas.microsoft.com/office/drawing/2014/main" id="{8DA252F2-F911-1115-8004-435D6057C80B}"/>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9" name="Picture Placeholder 10">
            <a:extLst>
              <a:ext uri="{FF2B5EF4-FFF2-40B4-BE49-F238E27FC236}">
                <a16:creationId xmlns:a16="http://schemas.microsoft.com/office/drawing/2014/main" id="{971A3AFB-6DFA-13E3-4977-58743A899023}"/>
              </a:ext>
            </a:extLst>
          </p:cNvPr>
          <p:cNvSpPr>
            <a:spLocks noGrp="1"/>
          </p:cNvSpPr>
          <p:nvPr>
            <p:ph type="pic" sz="quarter" idx="21"/>
          </p:nvPr>
        </p:nvSpPr>
        <p:spPr>
          <a:xfrm>
            <a:off x="360001" y="996878"/>
            <a:ext cx="11243037" cy="1753243"/>
          </a:xfrm>
        </p:spPr>
        <p:txBody>
          <a:bodyPr/>
          <a:lstStyle/>
          <a:p>
            <a:pPr algn="ctr"/>
            <a:r>
              <a:rPr lang="en-AU" sz="4400" dirty="0">
                <a:latin typeface="Arial"/>
                <a:cs typeface="Arial"/>
              </a:rPr>
              <a:t>This shape is made of </a:t>
            </a:r>
            <a:r>
              <a:rPr lang="en-AU" sz="4400" b="1" dirty="0">
                <a:latin typeface="Arial"/>
                <a:cs typeface="Arial"/>
              </a:rPr>
              <a:t>square centimetres</a:t>
            </a:r>
            <a:r>
              <a:rPr lang="en-AU" sz="4400" dirty="0">
                <a:latin typeface="Arial"/>
                <a:cs typeface="Arial"/>
              </a:rPr>
              <a:t>. What is the </a:t>
            </a:r>
            <a:r>
              <a:rPr lang="en-AU" sz="4400" b="1" dirty="0">
                <a:latin typeface="Arial"/>
                <a:cs typeface="Arial"/>
              </a:rPr>
              <a:t>area</a:t>
            </a:r>
            <a:r>
              <a:rPr lang="en-AU" sz="4400" dirty="0">
                <a:latin typeface="Arial"/>
                <a:cs typeface="Arial"/>
              </a:rPr>
              <a:t> of the shape?</a:t>
            </a:r>
            <a:endParaRPr lang="en-US" dirty="0">
              <a:latin typeface="Arial"/>
              <a:cs typeface="Arial"/>
            </a:endParaRPr>
          </a:p>
        </p:txBody>
      </p:sp>
      <p:sp>
        <p:nvSpPr>
          <p:cNvPr id="5" name="TextBox 4">
            <a:extLst>
              <a:ext uri="{FF2B5EF4-FFF2-40B4-BE49-F238E27FC236}">
                <a16:creationId xmlns:a16="http://schemas.microsoft.com/office/drawing/2014/main" id="{9B526FFE-F892-08E0-5861-11197DE08844}"/>
              </a:ext>
            </a:extLst>
          </p:cNvPr>
          <p:cNvSpPr txBox="1"/>
          <p:nvPr/>
        </p:nvSpPr>
        <p:spPr>
          <a:xfrm>
            <a:off x="557600" y="5751926"/>
            <a:ext cx="10566400" cy="707886"/>
          </a:xfrm>
          <a:prstGeom prst="rect">
            <a:avLst/>
          </a:prstGeom>
          <a:noFill/>
        </p:spPr>
        <p:txBody>
          <a:bodyPr wrap="square">
            <a:spAutoFit/>
          </a:bodyPr>
          <a:lstStyle/>
          <a:p>
            <a:pPr algn="ctr"/>
            <a:r>
              <a:rPr lang="en-AU" sz="4000" b="1" dirty="0"/>
              <a:t>Explain how you know.</a:t>
            </a:r>
            <a:endParaRPr lang="en-AU" sz="4000" b="0" dirty="0">
              <a:latin typeface="Arial"/>
              <a:cs typeface="Arial"/>
            </a:endParaRPr>
          </a:p>
        </p:txBody>
      </p:sp>
      <p:grpSp>
        <p:nvGrpSpPr>
          <p:cNvPr id="8" name="Group 6" descr="A grid of 3 rows of 8 pink squares.">
            <a:extLst>
              <a:ext uri="{FF2B5EF4-FFF2-40B4-BE49-F238E27FC236}">
                <a16:creationId xmlns:a16="http://schemas.microsoft.com/office/drawing/2014/main" id="{AFFFBC53-3C4C-1E03-FBFB-24B32B1E6020}"/>
              </a:ext>
            </a:extLst>
          </p:cNvPr>
          <p:cNvGrpSpPr/>
          <p:nvPr/>
        </p:nvGrpSpPr>
        <p:grpSpPr>
          <a:xfrm>
            <a:off x="3380562" y="3429000"/>
            <a:ext cx="5201914" cy="1965981"/>
            <a:chOff x="0" y="0"/>
            <a:chExt cx="6935886" cy="2621308"/>
          </a:xfrm>
        </p:grpSpPr>
        <p:grpSp>
          <p:nvGrpSpPr>
            <p:cNvPr id="9" name="Group 7">
              <a:extLst>
                <a:ext uri="{FF2B5EF4-FFF2-40B4-BE49-F238E27FC236}">
                  <a16:creationId xmlns:a16="http://schemas.microsoft.com/office/drawing/2014/main" id="{4D43B946-80D0-129E-088C-4BE22A05E297}"/>
                </a:ext>
              </a:extLst>
            </p:cNvPr>
            <p:cNvGrpSpPr/>
            <p:nvPr/>
          </p:nvGrpSpPr>
          <p:grpSpPr>
            <a:xfrm>
              <a:off x="0" y="0"/>
              <a:ext cx="897776" cy="897776"/>
              <a:chOff x="0" y="0"/>
              <a:chExt cx="327569" cy="327569"/>
            </a:xfrm>
          </p:grpSpPr>
          <p:sp>
            <p:nvSpPr>
              <p:cNvPr id="81" name="Freeform 8">
                <a:extLst>
                  <a:ext uri="{FF2B5EF4-FFF2-40B4-BE49-F238E27FC236}">
                    <a16:creationId xmlns:a16="http://schemas.microsoft.com/office/drawing/2014/main" id="{F9969DE5-7B12-7385-179C-544D17D6C0CB}"/>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82" name="TextBox 9">
                <a:extLst>
                  <a:ext uri="{FF2B5EF4-FFF2-40B4-BE49-F238E27FC236}">
                    <a16:creationId xmlns:a16="http://schemas.microsoft.com/office/drawing/2014/main" id="{77334E22-44BE-D9BC-D181-B340E4C0191D}"/>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0" name="Group 10">
              <a:extLst>
                <a:ext uri="{FF2B5EF4-FFF2-40B4-BE49-F238E27FC236}">
                  <a16:creationId xmlns:a16="http://schemas.microsoft.com/office/drawing/2014/main" id="{D60E137B-CE6B-B857-8E1D-5C0AA8888C0C}"/>
                </a:ext>
              </a:extLst>
            </p:cNvPr>
            <p:cNvGrpSpPr/>
            <p:nvPr/>
          </p:nvGrpSpPr>
          <p:grpSpPr>
            <a:xfrm>
              <a:off x="868560" y="0"/>
              <a:ext cx="897776" cy="897776"/>
              <a:chOff x="0" y="0"/>
              <a:chExt cx="327569" cy="327569"/>
            </a:xfrm>
          </p:grpSpPr>
          <p:sp>
            <p:nvSpPr>
              <p:cNvPr id="79" name="Freeform 11">
                <a:extLst>
                  <a:ext uri="{FF2B5EF4-FFF2-40B4-BE49-F238E27FC236}">
                    <a16:creationId xmlns:a16="http://schemas.microsoft.com/office/drawing/2014/main" id="{76BE05AD-219C-44FA-CFAB-6A37DBEDDA27}"/>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80" name="TextBox 12">
                <a:extLst>
                  <a:ext uri="{FF2B5EF4-FFF2-40B4-BE49-F238E27FC236}">
                    <a16:creationId xmlns:a16="http://schemas.microsoft.com/office/drawing/2014/main" id="{B6AE4E90-D2E7-164C-DB99-C50DF7A82197}"/>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2" name="Group 13">
              <a:extLst>
                <a:ext uri="{FF2B5EF4-FFF2-40B4-BE49-F238E27FC236}">
                  <a16:creationId xmlns:a16="http://schemas.microsoft.com/office/drawing/2014/main" id="{82733BBD-D5D8-9287-ADCF-1BB9CE615240}"/>
                </a:ext>
              </a:extLst>
            </p:cNvPr>
            <p:cNvGrpSpPr/>
            <p:nvPr/>
          </p:nvGrpSpPr>
          <p:grpSpPr>
            <a:xfrm>
              <a:off x="0" y="865495"/>
              <a:ext cx="897776" cy="897776"/>
              <a:chOff x="0" y="0"/>
              <a:chExt cx="327569" cy="327569"/>
            </a:xfrm>
          </p:grpSpPr>
          <p:sp>
            <p:nvSpPr>
              <p:cNvPr id="77" name="Freeform 14">
                <a:extLst>
                  <a:ext uri="{FF2B5EF4-FFF2-40B4-BE49-F238E27FC236}">
                    <a16:creationId xmlns:a16="http://schemas.microsoft.com/office/drawing/2014/main" id="{E20DFFCE-C9CD-D8CD-721C-BB05CBCE8932}"/>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78" name="TextBox 15">
                <a:extLst>
                  <a:ext uri="{FF2B5EF4-FFF2-40B4-BE49-F238E27FC236}">
                    <a16:creationId xmlns:a16="http://schemas.microsoft.com/office/drawing/2014/main" id="{4555BEA9-7B4E-6E27-21D3-27A0E5F6A4C2}"/>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 name="Group 16">
              <a:extLst>
                <a:ext uri="{FF2B5EF4-FFF2-40B4-BE49-F238E27FC236}">
                  <a16:creationId xmlns:a16="http://schemas.microsoft.com/office/drawing/2014/main" id="{DB0494FA-D967-2F65-3F92-01532198B892}"/>
                </a:ext>
              </a:extLst>
            </p:cNvPr>
            <p:cNvGrpSpPr/>
            <p:nvPr/>
          </p:nvGrpSpPr>
          <p:grpSpPr>
            <a:xfrm>
              <a:off x="868560" y="865495"/>
              <a:ext cx="897776" cy="897776"/>
              <a:chOff x="0" y="0"/>
              <a:chExt cx="327569" cy="327569"/>
            </a:xfrm>
          </p:grpSpPr>
          <p:sp>
            <p:nvSpPr>
              <p:cNvPr id="75" name="Freeform 17">
                <a:extLst>
                  <a:ext uri="{FF2B5EF4-FFF2-40B4-BE49-F238E27FC236}">
                    <a16:creationId xmlns:a16="http://schemas.microsoft.com/office/drawing/2014/main" id="{FF01EB39-1C4F-DC89-25B1-14B14EB2EE8A}"/>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76" name="TextBox 18">
                <a:extLst>
                  <a:ext uri="{FF2B5EF4-FFF2-40B4-BE49-F238E27FC236}">
                    <a16:creationId xmlns:a16="http://schemas.microsoft.com/office/drawing/2014/main" id="{58200539-0520-E2D7-7FBE-DDB3D0C8E612}"/>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4" name="Group 19">
              <a:extLst>
                <a:ext uri="{FF2B5EF4-FFF2-40B4-BE49-F238E27FC236}">
                  <a16:creationId xmlns:a16="http://schemas.microsoft.com/office/drawing/2014/main" id="{D2465B99-91FB-B7B3-B250-A15AF75F8717}"/>
                </a:ext>
              </a:extLst>
            </p:cNvPr>
            <p:cNvGrpSpPr/>
            <p:nvPr/>
          </p:nvGrpSpPr>
          <p:grpSpPr>
            <a:xfrm>
              <a:off x="1727383" y="0"/>
              <a:ext cx="897776" cy="897776"/>
              <a:chOff x="0" y="0"/>
              <a:chExt cx="327569" cy="327569"/>
            </a:xfrm>
          </p:grpSpPr>
          <p:sp>
            <p:nvSpPr>
              <p:cNvPr id="73" name="Freeform 20">
                <a:extLst>
                  <a:ext uri="{FF2B5EF4-FFF2-40B4-BE49-F238E27FC236}">
                    <a16:creationId xmlns:a16="http://schemas.microsoft.com/office/drawing/2014/main" id="{BE1C6A14-022D-AB64-AB7B-39DD10420172}"/>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74" name="TextBox 21">
                <a:extLst>
                  <a:ext uri="{FF2B5EF4-FFF2-40B4-BE49-F238E27FC236}">
                    <a16:creationId xmlns:a16="http://schemas.microsoft.com/office/drawing/2014/main" id="{C54A798E-D19F-2DD6-AE74-E1C002ED0900}"/>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5" name="Group 22">
              <a:extLst>
                <a:ext uri="{FF2B5EF4-FFF2-40B4-BE49-F238E27FC236}">
                  <a16:creationId xmlns:a16="http://schemas.microsoft.com/office/drawing/2014/main" id="{C7D74A3E-9C8A-19E0-0469-D17BAEFE616C}"/>
                </a:ext>
              </a:extLst>
            </p:cNvPr>
            <p:cNvGrpSpPr/>
            <p:nvPr/>
          </p:nvGrpSpPr>
          <p:grpSpPr>
            <a:xfrm>
              <a:off x="2595942" y="0"/>
              <a:ext cx="897776" cy="897776"/>
              <a:chOff x="0" y="0"/>
              <a:chExt cx="327569" cy="327569"/>
            </a:xfrm>
          </p:grpSpPr>
          <p:sp>
            <p:nvSpPr>
              <p:cNvPr id="71" name="Freeform 23">
                <a:extLst>
                  <a:ext uri="{FF2B5EF4-FFF2-40B4-BE49-F238E27FC236}">
                    <a16:creationId xmlns:a16="http://schemas.microsoft.com/office/drawing/2014/main" id="{25DBCB86-3173-D3C4-DAF2-35EC29D44EE3}"/>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72" name="TextBox 24">
                <a:extLst>
                  <a:ext uri="{FF2B5EF4-FFF2-40B4-BE49-F238E27FC236}">
                    <a16:creationId xmlns:a16="http://schemas.microsoft.com/office/drawing/2014/main" id="{A6C73AD7-5BCE-3C63-803B-4F8CA68EB00C}"/>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6" name="Group 25">
              <a:extLst>
                <a:ext uri="{FF2B5EF4-FFF2-40B4-BE49-F238E27FC236}">
                  <a16:creationId xmlns:a16="http://schemas.microsoft.com/office/drawing/2014/main" id="{899CFFAA-B3E5-2090-8E17-DAF1F03188A5}"/>
                </a:ext>
              </a:extLst>
            </p:cNvPr>
            <p:cNvGrpSpPr/>
            <p:nvPr/>
          </p:nvGrpSpPr>
          <p:grpSpPr>
            <a:xfrm>
              <a:off x="1727383" y="865495"/>
              <a:ext cx="897776" cy="897776"/>
              <a:chOff x="0" y="0"/>
              <a:chExt cx="327569" cy="327569"/>
            </a:xfrm>
          </p:grpSpPr>
          <p:sp>
            <p:nvSpPr>
              <p:cNvPr id="69" name="Freeform 26">
                <a:extLst>
                  <a:ext uri="{FF2B5EF4-FFF2-40B4-BE49-F238E27FC236}">
                    <a16:creationId xmlns:a16="http://schemas.microsoft.com/office/drawing/2014/main" id="{4D61DBF3-45B2-77BF-4A91-8F4CCBF1E0DE}"/>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70" name="TextBox 27">
                <a:extLst>
                  <a:ext uri="{FF2B5EF4-FFF2-40B4-BE49-F238E27FC236}">
                    <a16:creationId xmlns:a16="http://schemas.microsoft.com/office/drawing/2014/main" id="{AA82C86D-5D00-F864-3ED9-DBA91A56DB50}"/>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7" name="Group 28">
              <a:extLst>
                <a:ext uri="{FF2B5EF4-FFF2-40B4-BE49-F238E27FC236}">
                  <a16:creationId xmlns:a16="http://schemas.microsoft.com/office/drawing/2014/main" id="{D539D66E-DBF8-876B-0AC0-B8749AB634C3}"/>
                </a:ext>
              </a:extLst>
            </p:cNvPr>
            <p:cNvGrpSpPr/>
            <p:nvPr/>
          </p:nvGrpSpPr>
          <p:grpSpPr>
            <a:xfrm>
              <a:off x="2595942" y="865495"/>
              <a:ext cx="897776" cy="897776"/>
              <a:chOff x="0" y="0"/>
              <a:chExt cx="327569" cy="327569"/>
            </a:xfrm>
          </p:grpSpPr>
          <p:sp>
            <p:nvSpPr>
              <p:cNvPr id="67" name="Freeform 29">
                <a:extLst>
                  <a:ext uri="{FF2B5EF4-FFF2-40B4-BE49-F238E27FC236}">
                    <a16:creationId xmlns:a16="http://schemas.microsoft.com/office/drawing/2014/main" id="{3BBE5527-2692-CC99-A617-AB00A2AD8016}"/>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68" name="TextBox 30">
                <a:extLst>
                  <a:ext uri="{FF2B5EF4-FFF2-40B4-BE49-F238E27FC236}">
                    <a16:creationId xmlns:a16="http://schemas.microsoft.com/office/drawing/2014/main" id="{119AF755-E9B3-C54C-14CC-78884255D4C3}"/>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8" name="Group 31">
              <a:extLst>
                <a:ext uri="{FF2B5EF4-FFF2-40B4-BE49-F238E27FC236}">
                  <a16:creationId xmlns:a16="http://schemas.microsoft.com/office/drawing/2014/main" id="{9ED37C2C-CF23-E980-A946-475907D34BC1}"/>
                </a:ext>
              </a:extLst>
            </p:cNvPr>
            <p:cNvGrpSpPr/>
            <p:nvPr/>
          </p:nvGrpSpPr>
          <p:grpSpPr>
            <a:xfrm>
              <a:off x="0" y="1723532"/>
              <a:ext cx="897776" cy="897776"/>
              <a:chOff x="0" y="0"/>
              <a:chExt cx="327569" cy="327569"/>
            </a:xfrm>
          </p:grpSpPr>
          <p:sp>
            <p:nvSpPr>
              <p:cNvPr id="65" name="Freeform 32">
                <a:extLst>
                  <a:ext uri="{FF2B5EF4-FFF2-40B4-BE49-F238E27FC236}">
                    <a16:creationId xmlns:a16="http://schemas.microsoft.com/office/drawing/2014/main" id="{ABFAB193-E971-E8FD-D340-1514670FA60A}"/>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66" name="TextBox 33">
                <a:extLst>
                  <a:ext uri="{FF2B5EF4-FFF2-40B4-BE49-F238E27FC236}">
                    <a16:creationId xmlns:a16="http://schemas.microsoft.com/office/drawing/2014/main" id="{A828A6FE-C2C4-FCEA-C27A-AD1A51557AC1}"/>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20" name="Group 34">
              <a:extLst>
                <a:ext uri="{FF2B5EF4-FFF2-40B4-BE49-F238E27FC236}">
                  <a16:creationId xmlns:a16="http://schemas.microsoft.com/office/drawing/2014/main" id="{E437F6D6-5131-538F-83C2-B090FFBA4108}"/>
                </a:ext>
              </a:extLst>
            </p:cNvPr>
            <p:cNvGrpSpPr/>
            <p:nvPr/>
          </p:nvGrpSpPr>
          <p:grpSpPr>
            <a:xfrm>
              <a:off x="868560" y="1723532"/>
              <a:ext cx="897776" cy="897776"/>
              <a:chOff x="0" y="0"/>
              <a:chExt cx="327569" cy="327569"/>
            </a:xfrm>
          </p:grpSpPr>
          <p:sp>
            <p:nvSpPr>
              <p:cNvPr id="63" name="Freeform 35">
                <a:extLst>
                  <a:ext uri="{FF2B5EF4-FFF2-40B4-BE49-F238E27FC236}">
                    <a16:creationId xmlns:a16="http://schemas.microsoft.com/office/drawing/2014/main" id="{E5BC259D-C8B7-C7C0-8A91-5243C2527A7A}"/>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64" name="TextBox 36">
                <a:extLst>
                  <a:ext uri="{FF2B5EF4-FFF2-40B4-BE49-F238E27FC236}">
                    <a16:creationId xmlns:a16="http://schemas.microsoft.com/office/drawing/2014/main" id="{E672E074-10C7-DBD4-7170-629446710438}"/>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21" name="Group 37">
              <a:extLst>
                <a:ext uri="{FF2B5EF4-FFF2-40B4-BE49-F238E27FC236}">
                  <a16:creationId xmlns:a16="http://schemas.microsoft.com/office/drawing/2014/main" id="{3442B2D9-474E-E110-85F5-7114D0CCBB3B}"/>
                </a:ext>
              </a:extLst>
            </p:cNvPr>
            <p:cNvGrpSpPr/>
            <p:nvPr/>
          </p:nvGrpSpPr>
          <p:grpSpPr>
            <a:xfrm>
              <a:off x="1727383" y="1723532"/>
              <a:ext cx="897776" cy="897776"/>
              <a:chOff x="0" y="0"/>
              <a:chExt cx="327569" cy="327569"/>
            </a:xfrm>
          </p:grpSpPr>
          <p:sp>
            <p:nvSpPr>
              <p:cNvPr id="61" name="Freeform 38">
                <a:extLst>
                  <a:ext uri="{FF2B5EF4-FFF2-40B4-BE49-F238E27FC236}">
                    <a16:creationId xmlns:a16="http://schemas.microsoft.com/office/drawing/2014/main" id="{D4497F1E-4D70-8605-450F-7E03F18A7EE7}"/>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62" name="TextBox 39">
                <a:extLst>
                  <a:ext uri="{FF2B5EF4-FFF2-40B4-BE49-F238E27FC236}">
                    <a16:creationId xmlns:a16="http://schemas.microsoft.com/office/drawing/2014/main" id="{8374450F-9FF6-BB53-3FAC-263DA67CC24C}"/>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22" name="Group 40">
              <a:extLst>
                <a:ext uri="{FF2B5EF4-FFF2-40B4-BE49-F238E27FC236}">
                  <a16:creationId xmlns:a16="http://schemas.microsoft.com/office/drawing/2014/main" id="{D5BE1F80-7F08-BE52-C94F-7787F3363EB4}"/>
                </a:ext>
              </a:extLst>
            </p:cNvPr>
            <p:cNvGrpSpPr/>
            <p:nvPr/>
          </p:nvGrpSpPr>
          <p:grpSpPr>
            <a:xfrm>
              <a:off x="2595942" y="1723532"/>
              <a:ext cx="897776" cy="897776"/>
              <a:chOff x="0" y="0"/>
              <a:chExt cx="327569" cy="327569"/>
            </a:xfrm>
          </p:grpSpPr>
          <p:sp>
            <p:nvSpPr>
              <p:cNvPr id="59" name="Freeform 41">
                <a:extLst>
                  <a:ext uri="{FF2B5EF4-FFF2-40B4-BE49-F238E27FC236}">
                    <a16:creationId xmlns:a16="http://schemas.microsoft.com/office/drawing/2014/main" id="{B3F26CE6-FBAD-294A-36F9-BA19E06850E2}"/>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60" name="TextBox 42">
                <a:extLst>
                  <a:ext uri="{FF2B5EF4-FFF2-40B4-BE49-F238E27FC236}">
                    <a16:creationId xmlns:a16="http://schemas.microsoft.com/office/drawing/2014/main" id="{40ED8FB2-432A-1072-4934-4E6B14459FBB}"/>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23" name="Group 43">
              <a:extLst>
                <a:ext uri="{FF2B5EF4-FFF2-40B4-BE49-F238E27FC236}">
                  <a16:creationId xmlns:a16="http://schemas.microsoft.com/office/drawing/2014/main" id="{E48FBA05-8314-DC4E-7AED-3CAEDC61F6A0}"/>
                </a:ext>
              </a:extLst>
            </p:cNvPr>
            <p:cNvGrpSpPr/>
            <p:nvPr/>
          </p:nvGrpSpPr>
          <p:grpSpPr>
            <a:xfrm>
              <a:off x="3442167" y="0"/>
              <a:ext cx="897776" cy="897776"/>
              <a:chOff x="0" y="0"/>
              <a:chExt cx="327569" cy="327569"/>
            </a:xfrm>
          </p:grpSpPr>
          <p:sp>
            <p:nvSpPr>
              <p:cNvPr id="57" name="Freeform 44">
                <a:extLst>
                  <a:ext uri="{FF2B5EF4-FFF2-40B4-BE49-F238E27FC236}">
                    <a16:creationId xmlns:a16="http://schemas.microsoft.com/office/drawing/2014/main" id="{9EC71B10-DA38-862D-8A9C-E1DA77267BA0}"/>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58" name="TextBox 45">
                <a:extLst>
                  <a:ext uri="{FF2B5EF4-FFF2-40B4-BE49-F238E27FC236}">
                    <a16:creationId xmlns:a16="http://schemas.microsoft.com/office/drawing/2014/main" id="{3E0047FA-306B-B28A-E414-FF11CE245E4D}"/>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24" name="Group 46">
              <a:extLst>
                <a:ext uri="{FF2B5EF4-FFF2-40B4-BE49-F238E27FC236}">
                  <a16:creationId xmlns:a16="http://schemas.microsoft.com/office/drawing/2014/main" id="{4A8DE21D-5A58-72C6-5FFD-D4100F6E9B5B}"/>
                </a:ext>
              </a:extLst>
            </p:cNvPr>
            <p:cNvGrpSpPr/>
            <p:nvPr/>
          </p:nvGrpSpPr>
          <p:grpSpPr>
            <a:xfrm>
              <a:off x="4310727" y="0"/>
              <a:ext cx="897776" cy="897776"/>
              <a:chOff x="0" y="0"/>
              <a:chExt cx="327569" cy="327569"/>
            </a:xfrm>
          </p:grpSpPr>
          <p:sp>
            <p:nvSpPr>
              <p:cNvPr id="55" name="Freeform 47">
                <a:extLst>
                  <a:ext uri="{FF2B5EF4-FFF2-40B4-BE49-F238E27FC236}">
                    <a16:creationId xmlns:a16="http://schemas.microsoft.com/office/drawing/2014/main" id="{75C09EF1-11B5-9049-B604-047DB3AE00F5}"/>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56" name="TextBox 48">
                <a:extLst>
                  <a:ext uri="{FF2B5EF4-FFF2-40B4-BE49-F238E27FC236}">
                    <a16:creationId xmlns:a16="http://schemas.microsoft.com/office/drawing/2014/main" id="{2E4911A6-235B-33ED-EB12-11BD0EE94E62}"/>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25" name="Group 49">
              <a:extLst>
                <a:ext uri="{FF2B5EF4-FFF2-40B4-BE49-F238E27FC236}">
                  <a16:creationId xmlns:a16="http://schemas.microsoft.com/office/drawing/2014/main" id="{DD20A085-E17B-F81F-71A5-555618373023}"/>
                </a:ext>
              </a:extLst>
            </p:cNvPr>
            <p:cNvGrpSpPr/>
            <p:nvPr/>
          </p:nvGrpSpPr>
          <p:grpSpPr>
            <a:xfrm>
              <a:off x="3442167" y="865495"/>
              <a:ext cx="897776" cy="897776"/>
              <a:chOff x="0" y="0"/>
              <a:chExt cx="327569" cy="327569"/>
            </a:xfrm>
          </p:grpSpPr>
          <p:sp>
            <p:nvSpPr>
              <p:cNvPr id="53" name="Freeform 50">
                <a:extLst>
                  <a:ext uri="{FF2B5EF4-FFF2-40B4-BE49-F238E27FC236}">
                    <a16:creationId xmlns:a16="http://schemas.microsoft.com/office/drawing/2014/main" id="{047C3079-F497-585D-7D09-1D7B63A30AEA}"/>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54" name="TextBox 51">
                <a:extLst>
                  <a:ext uri="{FF2B5EF4-FFF2-40B4-BE49-F238E27FC236}">
                    <a16:creationId xmlns:a16="http://schemas.microsoft.com/office/drawing/2014/main" id="{826CE168-3011-7454-D0B7-55AC2EE2B14F}"/>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26" name="Group 52">
              <a:extLst>
                <a:ext uri="{FF2B5EF4-FFF2-40B4-BE49-F238E27FC236}">
                  <a16:creationId xmlns:a16="http://schemas.microsoft.com/office/drawing/2014/main" id="{DE9C1754-A0D8-F36B-20BF-01EDFD056122}"/>
                </a:ext>
              </a:extLst>
            </p:cNvPr>
            <p:cNvGrpSpPr/>
            <p:nvPr/>
          </p:nvGrpSpPr>
          <p:grpSpPr>
            <a:xfrm>
              <a:off x="4310727" y="865495"/>
              <a:ext cx="897776" cy="897776"/>
              <a:chOff x="0" y="0"/>
              <a:chExt cx="327569" cy="327569"/>
            </a:xfrm>
          </p:grpSpPr>
          <p:sp>
            <p:nvSpPr>
              <p:cNvPr id="51" name="Freeform 53">
                <a:extLst>
                  <a:ext uri="{FF2B5EF4-FFF2-40B4-BE49-F238E27FC236}">
                    <a16:creationId xmlns:a16="http://schemas.microsoft.com/office/drawing/2014/main" id="{703E92B1-6BD9-9119-7A4B-F90C4DBA459D}"/>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52" name="TextBox 54">
                <a:extLst>
                  <a:ext uri="{FF2B5EF4-FFF2-40B4-BE49-F238E27FC236}">
                    <a16:creationId xmlns:a16="http://schemas.microsoft.com/office/drawing/2014/main" id="{C687B4FF-12A4-6F1F-6DE9-CA18F9944B97}"/>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27" name="Group 55">
              <a:extLst>
                <a:ext uri="{FF2B5EF4-FFF2-40B4-BE49-F238E27FC236}">
                  <a16:creationId xmlns:a16="http://schemas.microsoft.com/office/drawing/2014/main" id="{F92C1A7E-40C2-046B-707A-A54E7BDED218}"/>
                </a:ext>
              </a:extLst>
            </p:cNvPr>
            <p:cNvGrpSpPr/>
            <p:nvPr/>
          </p:nvGrpSpPr>
          <p:grpSpPr>
            <a:xfrm>
              <a:off x="5169550" y="0"/>
              <a:ext cx="897776" cy="897776"/>
              <a:chOff x="0" y="0"/>
              <a:chExt cx="327569" cy="327569"/>
            </a:xfrm>
          </p:grpSpPr>
          <p:sp>
            <p:nvSpPr>
              <p:cNvPr id="49" name="Freeform 56">
                <a:extLst>
                  <a:ext uri="{FF2B5EF4-FFF2-40B4-BE49-F238E27FC236}">
                    <a16:creationId xmlns:a16="http://schemas.microsoft.com/office/drawing/2014/main" id="{6C522908-4EB3-5748-C7B4-0757C09953ED}"/>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50" name="TextBox 57">
                <a:extLst>
                  <a:ext uri="{FF2B5EF4-FFF2-40B4-BE49-F238E27FC236}">
                    <a16:creationId xmlns:a16="http://schemas.microsoft.com/office/drawing/2014/main" id="{8FF8E2FC-4E52-518F-D683-E042B9E918B4}"/>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28" name="Group 58">
              <a:extLst>
                <a:ext uri="{FF2B5EF4-FFF2-40B4-BE49-F238E27FC236}">
                  <a16:creationId xmlns:a16="http://schemas.microsoft.com/office/drawing/2014/main" id="{589C04D4-3D57-750E-5505-D448EF094F7A}"/>
                </a:ext>
              </a:extLst>
            </p:cNvPr>
            <p:cNvGrpSpPr/>
            <p:nvPr/>
          </p:nvGrpSpPr>
          <p:grpSpPr>
            <a:xfrm>
              <a:off x="6038110" y="0"/>
              <a:ext cx="897776" cy="897776"/>
              <a:chOff x="0" y="0"/>
              <a:chExt cx="327569" cy="327569"/>
            </a:xfrm>
          </p:grpSpPr>
          <p:sp>
            <p:nvSpPr>
              <p:cNvPr id="47" name="Freeform 59">
                <a:extLst>
                  <a:ext uri="{FF2B5EF4-FFF2-40B4-BE49-F238E27FC236}">
                    <a16:creationId xmlns:a16="http://schemas.microsoft.com/office/drawing/2014/main" id="{1F26DEA6-1174-84B7-9499-07E49E022FA8}"/>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48" name="TextBox 60">
                <a:extLst>
                  <a:ext uri="{FF2B5EF4-FFF2-40B4-BE49-F238E27FC236}">
                    <a16:creationId xmlns:a16="http://schemas.microsoft.com/office/drawing/2014/main" id="{D4C6F0E9-D7A7-A416-C90A-43A8D7CA49D6}"/>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29" name="Group 61">
              <a:extLst>
                <a:ext uri="{FF2B5EF4-FFF2-40B4-BE49-F238E27FC236}">
                  <a16:creationId xmlns:a16="http://schemas.microsoft.com/office/drawing/2014/main" id="{58409D8A-C1AE-6F29-0EAC-95DB03B1BC77}"/>
                </a:ext>
              </a:extLst>
            </p:cNvPr>
            <p:cNvGrpSpPr/>
            <p:nvPr/>
          </p:nvGrpSpPr>
          <p:grpSpPr>
            <a:xfrm>
              <a:off x="5169550" y="865495"/>
              <a:ext cx="897776" cy="897776"/>
              <a:chOff x="0" y="0"/>
              <a:chExt cx="327569" cy="327569"/>
            </a:xfrm>
          </p:grpSpPr>
          <p:sp>
            <p:nvSpPr>
              <p:cNvPr id="45" name="Freeform 62">
                <a:extLst>
                  <a:ext uri="{FF2B5EF4-FFF2-40B4-BE49-F238E27FC236}">
                    <a16:creationId xmlns:a16="http://schemas.microsoft.com/office/drawing/2014/main" id="{B6A76FC1-8C2E-D740-B704-A7B93222152E}"/>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46" name="TextBox 63">
                <a:extLst>
                  <a:ext uri="{FF2B5EF4-FFF2-40B4-BE49-F238E27FC236}">
                    <a16:creationId xmlns:a16="http://schemas.microsoft.com/office/drawing/2014/main" id="{DEAC58C2-2AA4-9776-BF7A-2BDC301BCD63}"/>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30" name="Group 64">
              <a:extLst>
                <a:ext uri="{FF2B5EF4-FFF2-40B4-BE49-F238E27FC236}">
                  <a16:creationId xmlns:a16="http://schemas.microsoft.com/office/drawing/2014/main" id="{CDE8ED1E-AAAB-0188-9EAB-2BF6812F6ED3}"/>
                </a:ext>
              </a:extLst>
            </p:cNvPr>
            <p:cNvGrpSpPr/>
            <p:nvPr/>
          </p:nvGrpSpPr>
          <p:grpSpPr>
            <a:xfrm>
              <a:off x="6038110" y="865495"/>
              <a:ext cx="897776" cy="897776"/>
              <a:chOff x="0" y="0"/>
              <a:chExt cx="327569" cy="327569"/>
            </a:xfrm>
          </p:grpSpPr>
          <p:sp>
            <p:nvSpPr>
              <p:cNvPr id="43" name="Freeform 65">
                <a:extLst>
                  <a:ext uri="{FF2B5EF4-FFF2-40B4-BE49-F238E27FC236}">
                    <a16:creationId xmlns:a16="http://schemas.microsoft.com/office/drawing/2014/main" id="{5E205F72-EF3E-B6A0-1B98-2AFB95FB5947}"/>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44" name="TextBox 66">
                <a:extLst>
                  <a:ext uri="{FF2B5EF4-FFF2-40B4-BE49-F238E27FC236}">
                    <a16:creationId xmlns:a16="http://schemas.microsoft.com/office/drawing/2014/main" id="{401561E9-904B-06A4-FF32-97FBD037DA85}"/>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31" name="Group 67">
              <a:extLst>
                <a:ext uri="{FF2B5EF4-FFF2-40B4-BE49-F238E27FC236}">
                  <a16:creationId xmlns:a16="http://schemas.microsoft.com/office/drawing/2014/main" id="{CC7FE345-0A09-6528-E6CA-C7D711461F57}"/>
                </a:ext>
              </a:extLst>
            </p:cNvPr>
            <p:cNvGrpSpPr/>
            <p:nvPr/>
          </p:nvGrpSpPr>
          <p:grpSpPr>
            <a:xfrm>
              <a:off x="3442167" y="1723532"/>
              <a:ext cx="897776" cy="897776"/>
              <a:chOff x="0" y="0"/>
              <a:chExt cx="327569" cy="327569"/>
            </a:xfrm>
          </p:grpSpPr>
          <p:sp>
            <p:nvSpPr>
              <p:cNvPr id="41" name="Freeform 68">
                <a:extLst>
                  <a:ext uri="{FF2B5EF4-FFF2-40B4-BE49-F238E27FC236}">
                    <a16:creationId xmlns:a16="http://schemas.microsoft.com/office/drawing/2014/main" id="{6CB5E0A5-A38F-6A16-9E13-85B77FF4E5AD}"/>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42" name="TextBox 69">
                <a:extLst>
                  <a:ext uri="{FF2B5EF4-FFF2-40B4-BE49-F238E27FC236}">
                    <a16:creationId xmlns:a16="http://schemas.microsoft.com/office/drawing/2014/main" id="{F16B8AA3-755C-7143-F087-0A9C2D6FAF67}"/>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32" name="Group 70">
              <a:extLst>
                <a:ext uri="{FF2B5EF4-FFF2-40B4-BE49-F238E27FC236}">
                  <a16:creationId xmlns:a16="http://schemas.microsoft.com/office/drawing/2014/main" id="{989ACA0C-9884-731B-791A-4E6C85D501A2}"/>
                </a:ext>
              </a:extLst>
            </p:cNvPr>
            <p:cNvGrpSpPr/>
            <p:nvPr/>
          </p:nvGrpSpPr>
          <p:grpSpPr>
            <a:xfrm>
              <a:off x="4310727" y="1723532"/>
              <a:ext cx="897776" cy="897776"/>
              <a:chOff x="0" y="0"/>
              <a:chExt cx="327569" cy="327569"/>
            </a:xfrm>
          </p:grpSpPr>
          <p:sp>
            <p:nvSpPr>
              <p:cNvPr id="39" name="Freeform 71">
                <a:extLst>
                  <a:ext uri="{FF2B5EF4-FFF2-40B4-BE49-F238E27FC236}">
                    <a16:creationId xmlns:a16="http://schemas.microsoft.com/office/drawing/2014/main" id="{AFC89E3F-0B90-80F5-CB3A-39E58722E224}"/>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40" name="TextBox 72">
                <a:extLst>
                  <a:ext uri="{FF2B5EF4-FFF2-40B4-BE49-F238E27FC236}">
                    <a16:creationId xmlns:a16="http://schemas.microsoft.com/office/drawing/2014/main" id="{040B2AD7-28E6-398D-3484-6DD8CB70DF48}"/>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33" name="Group 73">
              <a:extLst>
                <a:ext uri="{FF2B5EF4-FFF2-40B4-BE49-F238E27FC236}">
                  <a16:creationId xmlns:a16="http://schemas.microsoft.com/office/drawing/2014/main" id="{D925AEC8-E152-F4E8-499A-46338A1D8A47}"/>
                </a:ext>
              </a:extLst>
            </p:cNvPr>
            <p:cNvGrpSpPr/>
            <p:nvPr/>
          </p:nvGrpSpPr>
          <p:grpSpPr>
            <a:xfrm>
              <a:off x="5169550" y="1723532"/>
              <a:ext cx="897776" cy="897776"/>
              <a:chOff x="0" y="0"/>
              <a:chExt cx="327569" cy="327569"/>
            </a:xfrm>
          </p:grpSpPr>
          <p:sp>
            <p:nvSpPr>
              <p:cNvPr id="37" name="Freeform 74">
                <a:extLst>
                  <a:ext uri="{FF2B5EF4-FFF2-40B4-BE49-F238E27FC236}">
                    <a16:creationId xmlns:a16="http://schemas.microsoft.com/office/drawing/2014/main" id="{397F8343-2276-444D-4271-5DD4C25FD3E5}"/>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38" name="TextBox 75">
                <a:extLst>
                  <a:ext uri="{FF2B5EF4-FFF2-40B4-BE49-F238E27FC236}">
                    <a16:creationId xmlns:a16="http://schemas.microsoft.com/office/drawing/2014/main" id="{EA7F92BE-9956-AC02-511D-85874A4796BE}"/>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34" name="Group 76">
              <a:extLst>
                <a:ext uri="{FF2B5EF4-FFF2-40B4-BE49-F238E27FC236}">
                  <a16:creationId xmlns:a16="http://schemas.microsoft.com/office/drawing/2014/main" id="{F752FF24-27AA-7A60-9E6D-270BC8A2B381}"/>
                </a:ext>
              </a:extLst>
            </p:cNvPr>
            <p:cNvGrpSpPr/>
            <p:nvPr/>
          </p:nvGrpSpPr>
          <p:grpSpPr>
            <a:xfrm>
              <a:off x="6038110" y="1723532"/>
              <a:ext cx="897776" cy="897776"/>
              <a:chOff x="0" y="0"/>
              <a:chExt cx="327569" cy="327569"/>
            </a:xfrm>
          </p:grpSpPr>
          <p:sp>
            <p:nvSpPr>
              <p:cNvPr id="35" name="Freeform 77">
                <a:extLst>
                  <a:ext uri="{FF2B5EF4-FFF2-40B4-BE49-F238E27FC236}">
                    <a16:creationId xmlns:a16="http://schemas.microsoft.com/office/drawing/2014/main" id="{34AD26AB-7FAB-4BA2-E7E6-CC7C4477B5FC}"/>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FFB8C1"/>
              </a:solidFill>
              <a:ln w="38100" cap="sq">
                <a:solidFill>
                  <a:srgbClr val="000000"/>
                </a:solidFill>
                <a:prstDash val="solid"/>
                <a:miter/>
              </a:ln>
            </p:spPr>
            <p:txBody>
              <a:bodyPr/>
              <a:lstStyle/>
              <a:p>
                <a:endParaRPr lang="en-AU"/>
              </a:p>
            </p:txBody>
          </p:sp>
          <p:sp>
            <p:nvSpPr>
              <p:cNvPr id="36" name="TextBox 78">
                <a:extLst>
                  <a:ext uri="{FF2B5EF4-FFF2-40B4-BE49-F238E27FC236}">
                    <a16:creationId xmlns:a16="http://schemas.microsoft.com/office/drawing/2014/main" id="{593704D8-5026-A680-8AE6-4A9980515345}"/>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spTree>
    <p:extLst>
      <p:ext uri="{BB962C8B-B14F-4D97-AF65-F5344CB8AC3E}">
        <p14:creationId xmlns:p14="http://schemas.microsoft.com/office/powerpoint/2010/main" val="1640471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7DC4F-C95E-53E0-E0D5-8EB3DF4AD1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9E5C91-8D47-D735-FCA2-6E62150B2200}"/>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FF10CD5A-F664-8336-FE80-424BFB22F8E1}"/>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(15)</a:t>
            </a:r>
          </a:p>
        </p:txBody>
      </p:sp>
      <p:pic>
        <p:nvPicPr>
          <p:cNvPr id="4" name="Picture 3" descr="image of a clipboard with a pencil recording short answer responses">
            <a:extLst>
              <a:ext uri="{FF2B5EF4-FFF2-40B4-BE49-F238E27FC236}">
                <a16:creationId xmlns:a16="http://schemas.microsoft.com/office/drawing/2014/main" id="{215456BE-BEE7-2B3E-26C5-ABB7FED6F42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TextBox 7">
            <a:extLst>
              <a:ext uri="{FF2B5EF4-FFF2-40B4-BE49-F238E27FC236}">
                <a16:creationId xmlns:a16="http://schemas.microsoft.com/office/drawing/2014/main" id="{F9CAC0B7-EAD8-48F5-779E-F15F67699D82}"/>
              </a:ext>
            </a:extLst>
          </p:cNvPr>
          <p:cNvSpPr txBox="1"/>
          <p:nvPr/>
        </p:nvSpPr>
        <p:spPr>
          <a:xfrm>
            <a:off x="246024" y="971621"/>
            <a:ext cx="11397164" cy="1554272"/>
          </a:xfrm>
          <a:prstGeom prst="rect">
            <a:avLst/>
          </a:prstGeom>
          <a:noFill/>
        </p:spPr>
        <p:txBody>
          <a:bodyPr wrap="square">
            <a:spAutoFit/>
          </a:bodyPr>
          <a:lstStyle/>
          <a:p>
            <a:pPr algn="ctr">
              <a:spcAft>
                <a:spcPts val="1800"/>
              </a:spcAft>
            </a:pPr>
            <a:r>
              <a:rPr lang="en-AU" sz="4000" b="1" dirty="0"/>
              <a:t>Copy</a:t>
            </a:r>
            <a:r>
              <a:rPr lang="en-AU" sz="4000" dirty="0"/>
              <a:t> the </a:t>
            </a:r>
            <a:r>
              <a:rPr lang="en-AU" sz="4000" b="1" dirty="0"/>
              <a:t>bar models </a:t>
            </a:r>
            <a:r>
              <a:rPr lang="en-AU" sz="4000" dirty="0"/>
              <a:t>representing </a:t>
            </a:r>
          </a:p>
          <a:p>
            <a:pPr algn="ctr">
              <a:spcAft>
                <a:spcPts val="1800"/>
              </a:spcAft>
            </a:pPr>
            <a:r>
              <a:rPr lang="en-AU" sz="4000" b="1" dirty="0"/>
              <a:t>fifths</a:t>
            </a:r>
            <a:r>
              <a:rPr lang="en-AU" sz="4000" dirty="0"/>
              <a:t> and </a:t>
            </a:r>
            <a:r>
              <a:rPr lang="en-AU" sz="4000" b="1" dirty="0"/>
              <a:t>tenths</a:t>
            </a:r>
            <a:r>
              <a:rPr lang="en-AU" sz="4000" dirty="0"/>
              <a:t>.</a:t>
            </a:r>
          </a:p>
        </p:txBody>
      </p:sp>
      <p:pic>
        <p:nvPicPr>
          <p:cNvPr id="7" name="Picture 6" descr="2 bar models representing &#10;fifths and tenths.">
            <a:extLst>
              <a:ext uri="{FF2B5EF4-FFF2-40B4-BE49-F238E27FC236}">
                <a16:creationId xmlns:a16="http://schemas.microsoft.com/office/drawing/2014/main" id="{E60DD6A0-5637-D7BF-5F73-4C55821DED48}"/>
              </a:ext>
            </a:extLst>
          </p:cNvPr>
          <p:cNvPicPr>
            <a:picLocks noChangeAspect="1"/>
          </p:cNvPicPr>
          <p:nvPr/>
        </p:nvPicPr>
        <p:blipFill>
          <a:blip r:embed="rId4"/>
          <a:stretch>
            <a:fillRect/>
          </a:stretch>
        </p:blipFill>
        <p:spPr>
          <a:xfrm>
            <a:off x="2444044" y="2572643"/>
            <a:ext cx="6925734" cy="2139223"/>
          </a:xfrm>
          <a:prstGeom prst="rect">
            <a:avLst/>
          </a:prstGeom>
          <a:ln>
            <a:noFill/>
          </a:ln>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68465BE-79C6-E192-9956-FA9DB5AA94ED}"/>
                  </a:ext>
                </a:extLst>
              </p:cNvPr>
              <p:cNvSpPr txBox="1"/>
              <p:nvPr/>
            </p:nvSpPr>
            <p:spPr>
              <a:xfrm>
                <a:off x="246024" y="4711866"/>
                <a:ext cx="11519009" cy="1595309"/>
              </a:xfrm>
              <a:prstGeom prst="rect">
                <a:avLst/>
              </a:prstGeom>
              <a:noFill/>
            </p:spPr>
            <p:txBody>
              <a:bodyPr wrap="square">
                <a:spAutoFit/>
              </a:bodyPr>
              <a:lstStyle/>
              <a:p>
                <a:pPr algn="ctr">
                  <a:spcAft>
                    <a:spcPts val="1800"/>
                  </a:spcAft>
                </a:pPr>
                <a:r>
                  <a:rPr lang="en-AU" sz="4000" b="1" dirty="0"/>
                  <a:t>Shade</a:t>
                </a:r>
                <a:r>
                  <a:rPr lang="en-AU" sz="4000" dirty="0"/>
                  <a:t> and </a:t>
                </a:r>
                <a:r>
                  <a:rPr lang="en-AU" sz="4000" b="1" dirty="0"/>
                  <a:t>label</a:t>
                </a:r>
                <a:r>
                  <a:rPr lang="en-AU" sz="4000" dirty="0"/>
                  <a:t> the bars to find </a:t>
                </a:r>
                <a:br>
                  <a:rPr lang="en-AU" sz="4000" dirty="0"/>
                </a:br>
                <a:r>
                  <a:rPr lang="en-AU" sz="4000" dirty="0"/>
                  <a:t>which is </a:t>
                </a:r>
                <a:r>
                  <a:rPr lang="en-AU" sz="4000" b="1" dirty="0"/>
                  <a:t>greater</a:t>
                </a:r>
                <a:r>
                  <a:rPr lang="en-AU" sz="4000" dirty="0"/>
                  <a:t>: </a:t>
                </a:r>
                <a14:m>
                  <m:oMath xmlns:m="http://schemas.openxmlformats.org/officeDocument/2006/math">
                    <m:f>
                      <m:fPr>
                        <m:ctrlPr>
                          <a:rPr lang="en-AU" sz="4000" b="1" i="1">
                            <a:latin typeface="Cambria Math" panose="02040503050406030204" pitchFamily="18" charset="0"/>
                            <a:cs typeface="Arial"/>
                          </a:rPr>
                        </m:ctrlPr>
                      </m:fPr>
                      <m:num>
                        <m:r>
                          <a:rPr lang="en-AU" sz="4000" b="1" i="1" smtClean="0">
                            <a:latin typeface="Cambria Math" panose="02040503050406030204" pitchFamily="18" charset="0"/>
                            <a:cs typeface="Arial"/>
                          </a:rPr>
                          <m:t>𝟒</m:t>
                        </m:r>
                      </m:num>
                      <m:den>
                        <m:r>
                          <a:rPr lang="en-AU" sz="4000" b="1" i="1" smtClean="0">
                            <a:latin typeface="Cambria Math" panose="02040503050406030204" pitchFamily="18" charset="0"/>
                            <a:cs typeface="Arial"/>
                          </a:rPr>
                          <m:t>𝟓</m:t>
                        </m:r>
                      </m:den>
                    </m:f>
                  </m:oMath>
                </a14:m>
                <a:r>
                  <a:rPr lang="en-AU" sz="4000" dirty="0"/>
                  <a:t> or </a:t>
                </a:r>
                <a14:m>
                  <m:oMath xmlns:m="http://schemas.openxmlformats.org/officeDocument/2006/math">
                    <m:f>
                      <m:fPr>
                        <m:ctrlPr>
                          <a:rPr lang="en-AU" sz="4000" b="1" i="1">
                            <a:latin typeface="Cambria Math" panose="02040503050406030204" pitchFamily="18" charset="0"/>
                            <a:cs typeface="Arial"/>
                          </a:rPr>
                        </m:ctrlPr>
                      </m:fPr>
                      <m:num>
                        <m:r>
                          <a:rPr lang="en-AU" sz="4000" b="1" i="1" smtClean="0">
                            <a:latin typeface="Cambria Math" panose="02040503050406030204" pitchFamily="18" charset="0"/>
                            <a:cs typeface="Arial"/>
                          </a:rPr>
                          <m:t>𝟕</m:t>
                        </m:r>
                      </m:num>
                      <m:den>
                        <m:r>
                          <a:rPr lang="en-AU" sz="4000" b="1" i="1" smtClean="0">
                            <a:latin typeface="Cambria Math" panose="02040503050406030204" pitchFamily="18" charset="0"/>
                            <a:cs typeface="Arial"/>
                          </a:rPr>
                          <m:t>𝟏𝟎</m:t>
                        </m:r>
                      </m:den>
                    </m:f>
                  </m:oMath>
                </a14:m>
                <a:r>
                  <a:rPr lang="en-AU" sz="4400" dirty="0"/>
                  <a:t> ?</a:t>
                </a:r>
              </a:p>
            </p:txBody>
          </p:sp>
        </mc:Choice>
        <mc:Fallback xmlns="">
          <p:sp>
            <p:nvSpPr>
              <p:cNvPr id="11" name="TextBox 10">
                <a:extLst>
                  <a:ext uri="{FF2B5EF4-FFF2-40B4-BE49-F238E27FC236}">
                    <a16:creationId xmlns:a16="http://schemas.microsoft.com/office/drawing/2014/main" id="{468465BE-79C6-E192-9956-FA9DB5AA94ED}"/>
                  </a:ext>
                </a:extLst>
              </p:cNvPr>
              <p:cNvSpPr txBox="1">
                <a:spLocks noRot="1" noChangeAspect="1" noMove="1" noResize="1" noEditPoints="1" noAdjustHandles="1" noChangeArrowheads="1" noChangeShapeType="1" noTextEdit="1"/>
              </p:cNvSpPr>
              <p:nvPr/>
            </p:nvSpPr>
            <p:spPr>
              <a:xfrm>
                <a:off x="246024" y="4711866"/>
                <a:ext cx="11519009" cy="1595309"/>
              </a:xfrm>
              <a:prstGeom prst="rect">
                <a:avLst/>
              </a:prstGeom>
              <a:blipFill>
                <a:blip r:embed="rId5"/>
                <a:stretch>
                  <a:fillRect t="-6870" b="-8779"/>
                </a:stretch>
              </a:blipFill>
            </p:spPr>
            <p:txBody>
              <a:bodyPr/>
              <a:lstStyle/>
              <a:p>
                <a:r>
                  <a:rPr lang="en-AU">
                    <a:noFill/>
                  </a:rPr>
                  <a:t> </a:t>
                </a:r>
              </a:p>
            </p:txBody>
          </p:sp>
        </mc:Fallback>
      </mc:AlternateContent>
    </p:spTree>
    <p:extLst>
      <p:ext uri="{BB962C8B-B14F-4D97-AF65-F5344CB8AC3E}">
        <p14:creationId xmlns:p14="http://schemas.microsoft.com/office/powerpoint/2010/main" val="1816612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(16)</a:t>
            </a:r>
          </a:p>
        </p:txBody>
      </p:sp>
      <p:pic>
        <p:nvPicPr>
          <p:cNvPr id="4" name="Picture 3" descr="image of a clipboard with a pencil recording short answer responses">
            <a:extLst>
              <a:ext uri="{FF2B5EF4-FFF2-40B4-BE49-F238E27FC236}">
                <a16:creationId xmlns:a16="http://schemas.microsoft.com/office/drawing/2014/main" id="{A0B7D3FC-8755-D8E4-D7AC-203728BDEE26}"/>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8" name="Picture 7" descr="An analog clock with the minute hand pointing just before the 9, while the hour hand is pointing just before the 6 (signifying 5:44 or 16 to 6).">
            <a:extLst>
              <a:ext uri="{FF2B5EF4-FFF2-40B4-BE49-F238E27FC236}">
                <a16:creationId xmlns:a16="http://schemas.microsoft.com/office/drawing/2014/main" id="{70C49663-94B2-2FD4-6042-953FC2D247B0}"/>
              </a:ext>
            </a:extLst>
          </p:cNvPr>
          <p:cNvPicPr>
            <a:picLocks noChangeAspect="1"/>
          </p:cNvPicPr>
          <p:nvPr/>
        </p:nvPicPr>
        <p:blipFill>
          <a:blip r:embed="rId4"/>
          <a:stretch>
            <a:fillRect/>
          </a:stretch>
        </p:blipFill>
        <p:spPr>
          <a:xfrm>
            <a:off x="4106202" y="3257374"/>
            <a:ext cx="3367082" cy="3348626"/>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9105E459-EE5E-3E90-7416-7ACB9A691A28}"/>
              </a:ext>
            </a:extLst>
          </p:cNvPr>
          <p:cNvSpPr txBox="1"/>
          <p:nvPr/>
        </p:nvSpPr>
        <p:spPr>
          <a:xfrm>
            <a:off x="700682" y="991347"/>
            <a:ext cx="10561674" cy="19058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4400" b="1" dirty="0">
                <a:cs typeface="Arial"/>
              </a:rPr>
              <a:t>Record</a:t>
            </a:r>
            <a:r>
              <a:rPr lang="en-US" sz="4400" dirty="0">
                <a:cs typeface="Arial"/>
              </a:rPr>
              <a:t> this time using </a:t>
            </a:r>
            <a:r>
              <a:rPr lang="en-US" sz="4400" b="1" dirty="0">
                <a:cs typeface="Arial"/>
              </a:rPr>
              <a:t>digital notation</a:t>
            </a:r>
            <a:r>
              <a:rPr lang="en-US" sz="4400" dirty="0">
                <a:cs typeface="Arial"/>
              </a:rPr>
              <a:t>. How many </a:t>
            </a:r>
            <a:r>
              <a:rPr lang="en-US" sz="4400" b="1" dirty="0">
                <a:cs typeface="Arial"/>
              </a:rPr>
              <a:t>minutes </a:t>
            </a:r>
            <a:r>
              <a:rPr lang="en-US" sz="4400" dirty="0">
                <a:cs typeface="Arial"/>
              </a:rPr>
              <a:t>until 7 o’clock?</a:t>
            </a:r>
            <a:endParaRPr lang="en-US" dirty="0"/>
          </a:p>
        </p:txBody>
      </p:sp>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dirty="0">
                <a:latin typeface="Arial"/>
                <a:cs typeface="Arial"/>
              </a:rPr>
              <a:t>Activity 4 – interpreting a problem involving money 2</a:t>
            </a:r>
          </a:p>
        </p:txBody>
      </p:sp>
      <p:sp>
        <p:nvSpPr>
          <p:cNvPr id="4" name="Slide Number Placeholder 1">
            <a:extLst>
              <a:ext uri="{FF2B5EF4-FFF2-40B4-BE49-F238E27FC236}">
                <a16:creationId xmlns:a16="http://schemas.microsoft.com/office/drawing/2014/main" id="{AB5F4017-D09F-A8D0-3BCA-63A34448A195}"/>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solidFill>
                  <a:srgbClr val="22272B"/>
                </a:solidFill>
                <a:latin typeface="Arial" panose="020B0604020202020204"/>
              </a:rPr>
              <a:pPr/>
              <a:t>31</a:t>
            </a:fld>
            <a:endParaRPr lang="en-AU">
              <a:solidFill>
                <a:srgbClr val="22272B"/>
              </a:solidFill>
              <a:latin typeface="Arial" panose="020B0604020202020204"/>
            </a:endParaRPr>
          </a:p>
        </p:txBody>
      </p:sp>
      <p:pic>
        <p:nvPicPr>
          <p:cNvPr id="13" name="Picture 12" descr="image of a head with cogs turning inside">
            <a:extLst>
              <a:ext uri="{FF2B5EF4-FFF2-40B4-BE49-F238E27FC236}">
                <a16:creationId xmlns:a16="http://schemas.microsoft.com/office/drawing/2014/main" id="{8C45A9C0-0D91-3164-8258-AB9E8B3F195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8" name="TextBox 7">
            <a:extLst>
              <a:ext uri="{FF2B5EF4-FFF2-40B4-BE49-F238E27FC236}">
                <a16:creationId xmlns:a16="http://schemas.microsoft.com/office/drawing/2014/main" id="{65ACED45-BABA-8414-1435-3CCB3D97CF5D}"/>
              </a:ext>
            </a:extLst>
          </p:cNvPr>
          <p:cNvSpPr txBox="1"/>
          <p:nvPr/>
        </p:nvSpPr>
        <p:spPr>
          <a:xfrm>
            <a:off x="604585" y="1727154"/>
            <a:ext cx="10681036" cy="3013838"/>
          </a:xfrm>
          <a:prstGeom prst="rect">
            <a:avLst/>
          </a:prstGeom>
          <a:noFill/>
        </p:spPr>
        <p:txBody>
          <a:bodyPr wrap="square" lIns="91440" tIns="45720" rIns="91440" bIns="45720" anchor="t">
            <a:spAutoFit/>
          </a:bodyPr>
          <a:lstStyle/>
          <a:p>
            <a:pPr algn="ctr">
              <a:lnSpc>
                <a:spcPct val="150000"/>
              </a:lnSpc>
              <a:spcAft>
                <a:spcPts val="3600"/>
              </a:spcAft>
            </a:pPr>
            <a:r>
              <a:rPr lang="en-AU" sz="4400" dirty="0">
                <a:latin typeface="Arial"/>
                <a:cs typeface="Arial"/>
              </a:rPr>
              <a:t>A father bought balloons for his 4 children at the community fair. He paid for the balloons using 2 notes and 4 coins.</a:t>
            </a:r>
          </a:p>
        </p:txBody>
      </p:sp>
    </p:spTree>
    <p:extLst>
      <p:ext uri="{BB962C8B-B14F-4D97-AF65-F5344CB8AC3E}">
        <p14:creationId xmlns:p14="http://schemas.microsoft.com/office/powerpoint/2010/main" val="1191443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dirty="0">
                <a:latin typeface="Arial"/>
                <a:cs typeface="Arial"/>
              </a:rPr>
              <a:t>Multiple choice </a:t>
            </a:r>
            <a:r>
              <a:rPr lang="en-US" dirty="0">
                <a:solidFill>
                  <a:schemeClr val="bg1"/>
                </a:solidFill>
                <a:latin typeface="Arial"/>
                <a:cs typeface="Arial"/>
              </a:rPr>
              <a:t>(3)</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a:xfrm>
            <a:off x="9371920" y="3987103"/>
            <a:ext cx="2226583" cy="1312255"/>
          </a:xfrm>
        </p:spPr>
        <p:txBody>
          <a:bodyPr/>
          <a:lstStyle/>
          <a:p>
            <a:pPr algn="ctr"/>
            <a:r>
              <a:rPr lang="en-AU" sz="3600">
                <a:latin typeface="Arial"/>
                <a:cs typeface="Arial"/>
              </a:rPr>
              <a:t> </a:t>
            </a:r>
            <a:endParaRPr lang="en-AU" sz="3600"/>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355466" y="1449722"/>
            <a:ext cx="11243037" cy="893226"/>
          </a:xfrm>
        </p:spPr>
        <p:txBody>
          <a:bodyPr vert="horz" lIns="0" tIns="0" rIns="0" bIns="0" rtlCol="0" anchor="t">
            <a:noAutofit/>
          </a:bodyPr>
          <a:lstStyle/>
          <a:p>
            <a:pPr algn="ctr"/>
            <a:r>
              <a:rPr lang="en-US" sz="4400" dirty="0">
                <a:latin typeface="Arial"/>
                <a:cs typeface="Arial"/>
              </a:rPr>
              <a:t>Which </a:t>
            </a:r>
            <a:r>
              <a:rPr lang="en-US" sz="4400" b="1" dirty="0">
                <a:latin typeface="Arial"/>
                <a:cs typeface="Arial"/>
              </a:rPr>
              <a:t>decimal number </a:t>
            </a:r>
            <a:r>
              <a:rPr lang="en-US" sz="4400" dirty="0">
                <a:latin typeface="Arial"/>
                <a:cs typeface="Arial"/>
              </a:rPr>
              <a:t>is the largest?</a:t>
            </a:r>
          </a:p>
        </p:txBody>
      </p:sp>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1646037779"/>
              </p:ext>
            </p:extLst>
          </p:nvPr>
        </p:nvGraphicFramePr>
        <p:xfrm>
          <a:off x="114503" y="2767110"/>
          <a:ext cx="11484000" cy="158496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4400" dirty="0">
                          <a:latin typeface="+mn-lt"/>
                          <a:cs typeface="Arial"/>
                        </a:rPr>
                        <a:t>0.65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dirty="0">
                          <a:latin typeface="+mn-lt"/>
                          <a:cs typeface="Arial"/>
                        </a:rPr>
                        <a:t> 0.2</a:t>
                      </a:r>
                      <a:endParaRPr lang="en-AU" sz="4400" kern="1200" dirty="0">
                        <a:solidFill>
                          <a:schemeClr val="tx1"/>
                        </a:solidFill>
                        <a:latin typeface="+mn-lt"/>
                        <a:ea typeface="+mn-ea"/>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dirty="0">
                          <a:latin typeface="+mn-lt"/>
                          <a:cs typeface="Arial"/>
                        </a:rPr>
                        <a:t>0.03</a:t>
                      </a:r>
                      <a:endParaRPr lang="en-AU" sz="4400" kern="1200" dirty="0">
                        <a:solidFill>
                          <a:schemeClr val="tx1"/>
                        </a:solidFill>
                        <a:latin typeface="+mn-lt"/>
                        <a:ea typeface="+mn-ea"/>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dirty="0">
                          <a:latin typeface="+mn-lt"/>
                          <a:cs typeface="Arial"/>
                        </a:rPr>
                        <a:t>0.40</a:t>
                      </a:r>
                      <a:endParaRPr lang="en-AU" sz="4400" kern="1200" dirty="0">
                        <a:solidFill>
                          <a:schemeClr val="tx1"/>
                        </a:solidFill>
                        <a:latin typeface="+mn-lt"/>
                        <a:ea typeface="+mn-ea"/>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A82A1270-19CB-992D-68A3-CD35F91982EE}"/>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6" name="Text Placeholder 17">
            <a:extLst>
              <a:ext uri="{FF2B5EF4-FFF2-40B4-BE49-F238E27FC236}">
                <a16:creationId xmlns:a16="http://schemas.microsoft.com/office/drawing/2014/main" id="{D8BDC38B-22EE-042C-B97F-BC3B4CBB8D46}"/>
              </a:ext>
            </a:extLst>
          </p:cNvPr>
          <p:cNvSpPr txBox="1">
            <a:spLocks/>
          </p:cNvSpPr>
          <p:nvPr/>
        </p:nvSpPr>
        <p:spPr>
          <a:xfrm>
            <a:off x="240963" y="4961665"/>
            <a:ext cx="11243037" cy="89322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Explain</a:t>
            </a:r>
            <a:r>
              <a:rPr lang="en-US" sz="4400" dirty="0">
                <a:latin typeface="Arial"/>
                <a:cs typeface="Arial"/>
              </a:rPr>
              <a:t> your </a:t>
            </a:r>
            <a:r>
              <a:rPr lang="en-US" sz="4400" b="1" dirty="0">
                <a:latin typeface="Arial"/>
                <a:cs typeface="Arial"/>
              </a:rPr>
              <a:t>reasoning</a:t>
            </a:r>
            <a:r>
              <a:rPr lang="en-US" sz="4400" dirty="0">
                <a:latin typeface="Arial"/>
                <a:cs typeface="Arial"/>
              </a:rPr>
              <a:t>.</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(17)</a:t>
            </a:r>
          </a:p>
        </p:txBody>
      </p:sp>
      <p:pic>
        <p:nvPicPr>
          <p:cNvPr id="4" name="Picture 3" descr="image of a clipboard with a pencil recording short answer responses">
            <a:extLst>
              <a:ext uri="{FF2B5EF4-FFF2-40B4-BE49-F238E27FC236}">
                <a16:creationId xmlns:a16="http://schemas.microsoft.com/office/drawing/2014/main" id="{78965A65-E5BC-2C4E-B55B-9EF446DC1F3D}"/>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5" name="TextBox 44">
            <a:extLst>
              <a:ext uri="{FF2B5EF4-FFF2-40B4-BE49-F238E27FC236}">
                <a16:creationId xmlns:a16="http://schemas.microsoft.com/office/drawing/2014/main" id="{E1E640B4-C5B3-3A11-F98E-6472EAEAB146}"/>
              </a:ext>
            </a:extLst>
          </p:cNvPr>
          <p:cNvSpPr txBox="1"/>
          <p:nvPr/>
        </p:nvSpPr>
        <p:spPr>
          <a:xfrm>
            <a:off x="557600" y="1184223"/>
            <a:ext cx="11388376" cy="3510643"/>
          </a:xfrm>
          <a:prstGeom prst="rect">
            <a:avLst/>
          </a:prstGeom>
          <a:noFill/>
        </p:spPr>
        <p:txBody>
          <a:bodyPr wrap="square" lIns="0" tIns="0" rIns="0" bIns="0" rtlCol="0">
            <a:noAutofit/>
          </a:bodyPr>
          <a:lstStyle/>
          <a:p>
            <a:pPr algn="ctr"/>
            <a:r>
              <a:rPr lang="en-AU" sz="4400" dirty="0"/>
              <a:t>Jamilla </a:t>
            </a:r>
            <a:r>
              <a:rPr lang="en-AU" sz="4400" b="1" dirty="0"/>
              <a:t>randomly</a:t>
            </a:r>
            <a:r>
              <a:rPr lang="en-AU" sz="4400" dirty="0"/>
              <a:t> </a:t>
            </a:r>
            <a:r>
              <a:rPr lang="en-AU" sz="4400" b="1" dirty="0"/>
              <a:t>selected</a:t>
            </a:r>
            <a:r>
              <a:rPr lang="en-AU" sz="4400" dirty="0"/>
              <a:t> 3 of these pegs. What is the other </a:t>
            </a:r>
            <a:r>
              <a:rPr lang="en-AU" sz="4400" b="1" dirty="0"/>
              <a:t>possible combinations </a:t>
            </a:r>
          </a:p>
          <a:p>
            <a:pPr algn="ctr"/>
            <a:r>
              <a:rPr lang="en-AU" sz="4400" dirty="0"/>
              <a:t>of colours?</a:t>
            </a:r>
            <a:br>
              <a:rPr lang="en-AU" sz="4400" dirty="0"/>
            </a:br>
            <a:endParaRPr lang="en-AU" sz="4400" dirty="0"/>
          </a:p>
          <a:p>
            <a:pPr marL="5619628" lvl="8" indent="-742950">
              <a:buFont typeface="Arial" panose="020B0604020202020204" pitchFamily="34" charset="0"/>
              <a:buChar char="•"/>
            </a:pPr>
            <a:r>
              <a:rPr lang="en-AU" sz="4000" dirty="0"/>
              <a:t>3 blue pegs</a:t>
            </a:r>
          </a:p>
          <a:p>
            <a:pPr marL="5619628" lvl="8" indent="-742950">
              <a:buFont typeface="Arial" panose="020B0604020202020204" pitchFamily="34" charset="0"/>
              <a:buChar char="•"/>
            </a:pPr>
            <a:r>
              <a:rPr lang="en-AU" sz="4000" dirty="0"/>
              <a:t>2 blue and 1 green</a:t>
            </a:r>
          </a:p>
          <a:p>
            <a:pPr marL="5619628" lvl="8" indent="-742950">
              <a:buFont typeface="Arial" panose="020B0604020202020204" pitchFamily="34" charset="0"/>
              <a:buChar char="•"/>
            </a:pPr>
            <a:r>
              <a:rPr lang="en-AU" sz="4000" dirty="0"/>
              <a:t>1 blue and 2 green</a:t>
            </a:r>
          </a:p>
          <a:p>
            <a:pPr marL="5619628" lvl="8" indent="-742950">
              <a:buFont typeface="Arial" panose="020B0604020202020204" pitchFamily="34" charset="0"/>
              <a:buChar char="•"/>
            </a:pPr>
            <a:r>
              <a:rPr lang="en-AU" sz="4000" dirty="0"/>
              <a:t>?</a:t>
            </a:r>
          </a:p>
          <a:p>
            <a:pPr algn="ctr"/>
            <a:endParaRPr lang="en-AU" sz="4400" dirty="0"/>
          </a:p>
          <a:p>
            <a:pPr algn="ctr"/>
            <a:endParaRPr lang="en-AU" sz="4400" dirty="0"/>
          </a:p>
          <a:p>
            <a:pPr algn="ctr"/>
            <a:endParaRPr lang="en-AU" sz="4400" dirty="0"/>
          </a:p>
        </p:txBody>
      </p:sp>
      <p:grpSp>
        <p:nvGrpSpPr>
          <p:cNvPr id="9" name="Group 8" descr="10 clothes pegs. There are 5 blue and 5 red.">
            <a:extLst>
              <a:ext uri="{FF2B5EF4-FFF2-40B4-BE49-F238E27FC236}">
                <a16:creationId xmlns:a16="http://schemas.microsoft.com/office/drawing/2014/main" id="{01379316-E06C-F62C-2223-ED00A527C31F}"/>
              </a:ext>
            </a:extLst>
          </p:cNvPr>
          <p:cNvGrpSpPr/>
          <p:nvPr/>
        </p:nvGrpSpPr>
        <p:grpSpPr>
          <a:xfrm>
            <a:off x="758403" y="3586944"/>
            <a:ext cx="3703238" cy="2687732"/>
            <a:chOff x="15029" y="155942"/>
            <a:chExt cx="2688509" cy="1332328"/>
          </a:xfrm>
        </p:grpSpPr>
        <p:sp>
          <p:nvSpPr>
            <p:cNvPr id="10" name="Freeform 3">
              <a:extLst>
                <a:ext uri="{FF2B5EF4-FFF2-40B4-BE49-F238E27FC236}">
                  <a16:creationId xmlns:a16="http://schemas.microsoft.com/office/drawing/2014/main" id="{7E916D89-C710-484F-08C4-9E4399ED696A}"/>
                </a:ext>
              </a:extLst>
            </p:cNvPr>
            <p:cNvSpPr/>
            <p:nvPr/>
          </p:nvSpPr>
          <p:spPr>
            <a:xfrm rot="5400000">
              <a:off x="492264" y="316776"/>
              <a:ext cx="224863" cy="770731"/>
            </a:xfrm>
            <a:custGeom>
              <a:avLst/>
              <a:gdLst/>
              <a:ahLst/>
              <a:cxnLst/>
              <a:rect l="l" t="t" r="r" b="b"/>
              <a:pathLst>
                <a:path w="224863" h="770731">
                  <a:moveTo>
                    <a:pt x="0" y="0"/>
                  </a:moveTo>
                  <a:lnTo>
                    <a:pt x="224863" y="0"/>
                  </a:lnTo>
                  <a:lnTo>
                    <a:pt x="224863" y="770731"/>
                  </a:lnTo>
                  <a:lnTo>
                    <a:pt x="0" y="770731"/>
                  </a:lnTo>
                  <a:lnTo>
                    <a:pt x="0" y="0"/>
                  </a:lnTo>
                  <a:close/>
                </a:path>
              </a:pathLst>
            </a:custGeom>
            <a:blipFill>
              <a:blip r:embed="rId4">
                <a:extLst>
                  <a:ext uri="{96DAC541-7B7A-43D3-8B79-37D633B846F1}">
                    <asvg:svgBlip xmlns:asvg="http://schemas.microsoft.com/office/drawing/2016/SVG/main" r:embed="rId5"/>
                  </a:ext>
                </a:extLst>
              </a:blip>
              <a:stretch>
                <a:fillRect l="-316091"/>
              </a:stretch>
            </a:blipFill>
          </p:spPr>
          <p:txBody>
            <a:bodyPr/>
            <a:lstStyle/>
            <a:p>
              <a:endParaRPr lang="en-AU"/>
            </a:p>
          </p:txBody>
        </p:sp>
        <p:sp>
          <p:nvSpPr>
            <p:cNvPr id="11" name="Freeform 4">
              <a:extLst>
                <a:ext uri="{FF2B5EF4-FFF2-40B4-BE49-F238E27FC236}">
                  <a16:creationId xmlns:a16="http://schemas.microsoft.com/office/drawing/2014/main" id="{3DDEF9F6-F16C-B553-DDAD-1315080939D4}"/>
                </a:ext>
              </a:extLst>
            </p:cNvPr>
            <p:cNvSpPr/>
            <p:nvPr/>
          </p:nvSpPr>
          <p:spPr>
            <a:xfrm rot="5400000">
              <a:off x="1465729" y="246153"/>
              <a:ext cx="232125" cy="770731"/>
            </a:xfrm>
            <a:custGeom>
              <a:avLst/>
              <a:gdLst/>
              <a:ahLst/>
              <a:cxnLst/>
              <a:rect l="l" t="t" r="r" b="b"/>
              <a:pathLst>
                <a:path w="232125" h="770731">
                  <a:moveTo>
                    <a:pt x="0" y="0"/>
                  </a:moveTo>
                  <a:lnTo>
                    <a:pt x="232125" y="0"/>
                  </a:lnTo>
                  <a:lnTo>
                    <a:pt x="232125" y="770731"/>
                  </a:lnTo>
                  <a:lnTo>
                    <a:pt x="0" y="770731"/>
                  </a:lnTo>
                  <a:lnTo>
                    <a:pt x="0" y="0"/>
                  </a:lnTo>
                  <a:close/>
                </a:path>
              </a:pathLst>
            </a:custGeom>
            <a:blipFill>
              <a:blip r:embed="rId4">
                <a:extLst>
                  <a:ext uri="{96DAC541-7B7A-43D3-8B79-37D633B846F1}">
                    <asvg:svgBlip xmlns:asvg="http://schemas.microsoft.com/office/drawing/2016/SVG/main" r:embed="rId5"/>
                  </a:ext>
                </a:extLst>
              </a:blip>
              <a:stretch>
                <a:fillRect l="-204524" r="-98549"/>
              </a:stretch>
            </a:blipFill>
          </p:spPr>
          <p:txBody>
            <a:bodyPr/>
            <a:lstStyle/>
            <a:p>
              <a:endParaRPr lang="en-AU"/>
            </a:p>
          </p:txBody>
        </p:sp>
        <p:sp>
          <p:nvSpPr>
            <p:cNvPr id="12" name="Freeform 5">
              <a:extLst>
                <a:ext uri="{FF2B5EF4-FFF2-40B4-BE49-F238E27FC236}">
                  <a16:creationId xmlns:a16="http://schemas.microsoft.com/office/drawing/2014/main" id="{AF957CE5-085C-80A1-99AC-6DA6BF8F3AAF}"/>
                </a:ext>
              </a:extLst>
            </p:cNvPr>
            <p:cNvSpPr/>
            <p:nvPr/>
          </p:nvSpPr>
          <p:spPr>
            <a:xfrm rot="6754361">
              <a:off x="284332" y="-79090"/>
              <a:ext cx="232125" cy="770731"/>
            </a:xfrm>
            <a:custGeom>
              <a:avLst/>
              <a:gdLst/>
              <a:ahLst/>
              <a:cxnLst/>
              <a:rect l="l" t="t" r="r" b="b"/>
              <a:pathLst>
                <a:path w="232125" h="770731">
                  <a:moveTo>
                    <a:pt x="0" y="0"/>
                  </a:moveTo>
                  <a:lnTo>
                    <a:pt x="232126" y="0"/>
                  </a:lnTo>
                  <a:lnTo>
                    <a:pt x="232126" y="770731"/>
                  </a:lnTo>
                  <a:lnTo>
                    <a:pt x="0" y="770731"/>
                  </a:lnTo>
                  <a:lnTo>
                    <a:pt x="0" y="0"/>
                  </a:lnTo>
                  <a:close/>
                </a:path>
              </a:pathLst>
            </a:custGeom>
            <a:blipFill>
              <a:blip r:embed="rId4">
                <a:extLst>
                  <a:ext uri="{96DAC541-7B7A-43D3-8B79-37D633B846F1}">
                    <asvg:svgBlip xmlns:asvg="http://schemas.microsoft.com/office/drawing/2016/SVG/main" r:embed="rId5"/>
                  </a:ext>
                </a:extLst>
              </a:blip>
              <a:stretch>
                <a:fillRect l="-204524" r="-98549"/>
              </a:stretch>
            </a:blipFill>
          </p:spPr>
          <p:txBody>
            <a:bodyPr/>
            <a:lstStyle/>
            <a:p>
              <a:endParaRPr lang="en-AU"/>
            </a:p>
          </p:txBody>
        </p:sp>
        <p:sp>
          <p:nvSpPr>
            <p:cNvPr id="13" name="Freeform 6">
              <a:extLst>
                <a:ext uri="{FF2B5EF4-FFF2-40B4-BE49-F238E27FC236}">
                  <a16:creationId xmlns:a16="http://schemas.microsoft.com/office/drawing/2014/main" id="{B1EB7E10-3C58-C330-3D66-5D24BEF96689}"/>
                </a:ext>
              </a:extLst>
            </p:cNvPr>
            <p:cNvSpPr/>
            <p:nvPr/>
          </p:nvSpPr>
          <p:spPr>
            <a:xfrm rot="3793019">
              <a:off x="684728" y="706470"/>
              <a:ext cx="232125" cy="770731"/>
            </a:xfrm>
            <a:custGeom>
              <a:avLst/>
              <a:gdLst/>
              <a:ahLst/>
              <a:cxnLst/>
              <a:rect l="l" t="t" r="r" b="b"/>
              <a:pathLst>
                <a:path w="232125" h="770731">
                  <a:moveTo>
                    <a:pt x="0" y="0"/>
                  </a:moveTo>
                  <a:lnTo>
                    <a:pt x="232125" y="0"/>
                  </a:lnTo>
                  <a:lnTo>
                    <a:pt x="232125" y="770731"/>
                  </a:lnTo>
                  <a:lnTo>
                    <a:pt x="0" y="770731"/>
                  </a:lnTo>
                  <a:lnTo>
                    <a:pt x="0" y="0"/>
                  </a:lnTo>
                  <a:close/>
                </a:path>
              </a:pathLst>
            </a:custGeom>
            <a:blipFill>
              <a:blip r:embed="rId4">
                <a:extLst>
                  <a:ext uri="{96DAC541-7B7A-43D3-8B79-37D633B846F1}">
                    <asvg:svgBlip xmlns:asvg="http://schemas.microsoft.com/office/drawing/2016/SVG/main" r:embed="rId5"/>
                  </a:ext>
                </a:extLst>
              </a:blip>
              <a:stretch>
                <a:fillRect l="-204524" r="-98549"/>
              </a:stretch>
            </a:blipFill>
          </p:spPr>
          <p:txBody>
            <a:bodyPr/>
            <a:lstStyle/>
            <a:p>
              <a:endParaRPr lang="en-AU"/>
            </a:p>
          </p:txBody>
        </p:sp>
        <p:sp>
          <p:nvSpPr>
            <p:cNvPr id="14" name="Freeform 7">
              <a:extLst>
                <a:ext uri="{FF2B5EF4-FFF2-40B4-BE49-F238E27FC236}">
                  <a16:creationId xmlns:a16="http://schemas.microsoft.com/office/drawing/2014/main" id="{F223BEDE-6D44-DD1D-6291-8632546EF711}"/>
                </a:ext>
              </a:extLst>
            </p:cNvPr>
            <p:cNvSpPr/>
            <p:nvPr/>
          </p:nvSpPr>
          <p:spPr>
            <a:xfrm rot="6517993">
              <a:off x="1482612" y="644935"/>
              <a:ext cx="232125" cy="770731"/>
            </a:xfrm>
            <a:custGeom>
              <a:avLst/>
              <a:gdLst/>
              <a:ahLst/>
              <a:cxnLst/>
              <a:rect l="l" t="t" r="r" b="b"/>
              <a:pathLst>
                <a:path w="232125" h="770731">
                  <a:moveTo>
                    <a:pt x="0" y="0"/>
                  </a:moveTo>
                  <a:lnTo>
                    <a:pt x="232126" y="0"/>
                  </a:lnTo>
                  <a:lnTo>
                    <a:pt x="232126" y="770731"/>
                  </a:lnTo>
                  <a:lnTo>
                    <a:pt x="0" y="770731"/>
                  </a:lnTo>
                  <a:lnTo>
                    <a:pt x="0" y="0"/>
                  </a:lnTo>
                  <a:close/>
                </a:path>
              </a:pathLst>
            </a:custGeom>
            <a:blipFill>
              <a:blip r:embed="rId4">
                <a:extLst>
                  <a:ext uri="{96DAC541-7B7A-43D3-8B79-37D633B846F1}">
                    <asvg:svgBlip xmlns:asvg="http://schemas.microsoft.com/office/drawing/2016/SVG/main" r:embed="rId5"/>
                  </a:ext>
                </a:extLst>
              </a:blip>
              <a:stretch>
                <a:fillRect l="-204524" r="-98549"/>
              </a:stretch>
            </a:blipFill>
          </p:spPr>
          <p:txBody>
            <a:bodyPr/>
            <a:lstStyle/>
            <a:p>
              <a:endParaRPr lang="en-AU"/>
            </a:p>
          </p:txBody>
        </p:sp>
        <p:sp>
          <p:nvSpPr>
            <p:cNvPr id="15" name="Freeform 8">
              <a:extLst>
                <a:ext uri="{FF2B5EF4-FFF2-40B4-BE49-F238E27FC236}">
                  <a16:creationId xmlns:a16="http://schemas.microsoft.com/office/drawing/2014/main" id="{C62895F2-CFA1-80EB-119C-3F7CF77CCF19}"/>
                </a:ext>
              </a:extLst>
            </p:cNvPr>
            <p:cNvSpPr/>
            <p:nvPr/>
          </p:nvSpPr>
          <p:spPr>
            <a:xfrm rot="3419785">
              <a:off x="2202110" y="399230"/>
              <a:ext cx="232125" cy="770731"/>
            </a:xfrm>
            <a:custGeom>
              <a:avLst/>
              <a:gdLst/>
              <a:ahLst/>
              <a:cxnLst/>
              <a:rect l="l" t="t" r="r" b="b"/>
              <a:pathLst>
                <a:path w="232125" h="770731">
                  <a:moveTo>
                    <a:pt x="0" y="0"/>
                  </a:moveTo>
                  <a:lnTo>
                    <a:pt x="232125" y="0"/>
                  </a:lnTo>
                  <a:lnTo>
                    <a:pt x="232125" y="770731"/>
                  </a:lnTo>
                  <a:lnTo>
                    <a:pt x="0" y="770731"/>
                  </a:lnTo>
                  <a:lnTo>
                    <a:pt x="0" y="0"/>
                  </a:lnTo>
                  <a:close/>
                </a:path>
              </a:pathLst>
            </a:custGeom>
            <a:blipFill>
              <a:blip r:embed="rId4">
                <a:extLst>
                  <a:ext uri="{96DAC541-7B7A-43D3-8B79-37D633B846F1}">
                    <asvg:svgBlip xmlns:asvg="http://schemas.microsoft.com/office/drawing/2016/SVG/main" r:embed="rId5"/>
                  </a:ext>
                </a:extLst>
              </a:blip>
              <a:stretch>
                <a:fillRect l="-204524" r="-98549"/>
              </a:stretch>
            </a:blipFill>
          </p:spPr>
          <p:txBody>
            <a:bodyPr/>
            <a:lstStyle/>
            <a:p>
              <a:endParaRPr lang="en-AU"/>
            </a:p>
          </p:txBody>
        </p:sp>
        <p:sp>
          <p:nvSpPr>
            <p:cNvPr id="16" name="Freeform 9">
              <a:extLst>
                <a:ext uri="{FF2B5EF4-FFF2-40B4-BE49-F238E27FC236}">
                  <a16:creationId xmlns:a16="http://schemas.microsoft.com/office/drawing/2014/main" id="{931375C6-B1B4-2949-F845-93086935933D}"/>
                </a:ext>
              </a:extLst>
            </p:cNvPr>
            <p:cNvSpPr/>
            <p:nvPr/>
          </p:nvSpPr>
          <p:spPr>
            <a:xfrm rot="5400000">
              <a:off x="971490" y="990473"/>
              <a:ext cx="224863" cy="770731"/>
            </a:xfrm>
            <a:custGeom>
              <a:avLst/>
              <a:gdLst/>
              <a:ahLst/>
              <a:cxnLst/>
              <a:rect l="l" t="t" r="r" b="b"/>
              <a:pathLst>
                <a:path w="224863" h="770731">
                  <a:moveTo>
                    <a:pt x="0" y="0"/>
                  </a:moveTo>
                  <a:lnTo>
                    <a:pt x="224864" y="0"/>
                  </a:lnTo>
                  <a:lnTo>
                    <a:pt x="224864" y="770731"/>
                  </a:lnTo>
                  <a:lnTo>
                    <a:pt x="0" y="770731"/>
                  </a:lnTo>
                  <a:lnTo>
                    <a:pt x="0" y="0"/>
                  </a:lnTo>
                  <a:close/>
                </a:path>
              </a:pathLst>
            </a:custGeom>
            <a:blipFill>
              <a:blip r:embed="rId4">
                <a:extLst>
                  <a:ext uri="{96DAC541-7B7A-43D3-8B79-37D633B846F1}">
                    <asvg:svgBlip xmlns:asvg="http://schemas.microsoft.com/office/drawing/2016/SVG/main" r:embed="rId5"/>
                  </a:ext>
                </a:extLst>
              </a:blip>
              <a:stretch>
                <a:fillRect l="-316091"/>
              </a:stretch>
            </a:blipFill>
          </p:spPr>
          <p:txBody>
            <a:bodyPr/>
            <a:lstStyle/>
            <a:p>
              <a:endParaRPr lang="en-AU"/>
            </a:p>
          </p:txBody>
        </p:sp>
        <p:sp>
          <p:nvSpPr>
            <p:cNvPr id="17" name="Freeform 10">
              <a:extLst>
                <a:ext uri="{FF2B5EF4-FFF2-40B4-BE49-F238E27FC236}">
                  <a16:creationId xmlns:a16="http://schemas.microsoft.com/office/drawing/2014/main" id="{6213CF73-6944-E56A-169C-9090BB196EE5}"/>
                </a:ext>
              </a:extLst>
            </p:cNvPr>
            <p:cNvSpPr/>
            <p:nvPr/>
          </p:nvSpPr>
          <p:spPr>
            <a:xfrm rot="5400000">
              <a:off x="2167141" y="-20441"/>
              <a:ext cx="224863" cy="770731"/>
            </a:xfrm>
            <a:custGeom>
              <a:avLst/>
              <a:gdLst/>
              <a:ahLst/>
              <a:cxnLst/>
              <a:rect l="l" t="t" r="r" b="b"/>
              <a:pathLst>
                <a:path w="224863" h="770731">
                  <a:moveTo>
                    <a:pt x="0" y="0"/>
                  </a:moveTo>
                  <a:lnTo>
                    <a:pt x="224863" y="0"/>
                  </a:lnTo>
                  <a:lnTo>
                    <a:pt x="224863" y="770731"/>
                  </a:lnTo>
                  <a:lnTo>
                    <a:pt x="0" y="770731"/>
                  </a:lnTo>
                  <a:lnTo>
                    <a:pt x="0" y="0"/>
                  </a:lnTo>
                  <a:close/>
                </a:path>
              </a:pathLst>
            </a:custGeom>
            <a:blipFill>
              <a:blip r:embed="rId4">
                <a:extLst>
                  <a:ext uri="{96DAC541-7B7A-43D3-8B79-37D633B846F1}">
                    <asvg:svgBlip xmlns:asvg="http://schemas.microsoft.com/office/drawing/2016/SVG/main" r:embed="rId5"/>
                  </a:ext>
                </a:extLst>
              </a:blip>
              <a:stretch>
                <a:fillRect l="-316091"/>
              </a:stretch>
            </a:blipFill>
          </p:spPr>
          <p:txBody>
            <a:bodyPr/>
            <a:lstStyle/>
            <a:p>
              <a:endParaRPr lang="en-AU"/>
            </a:p>
          </p:txBody>
        </p:sp>
        <p:sp>
          <p:nvSpPr>
            <p:cNvPr id="18" name="Freeform 11">
              <a:extLst>
                <a:ext uri="{FF2B5EF4-FFF2-40B4-BE49-F238E27FC236}">
                  <a16:creationId xmlns:a16="http://schemas.microsoft.com/office/drawing/2014/main" id="{9385F761-DC4D-AFD1-3E73-C73BD0F69B07}"/>
                </a:ext>
              </a:extLst>
            </p:cNvPr>
            <p:cNvSpPr/>
            <p:nvPr/>
          </p:nvSpPr>
          <p:spPr>
            <a:xfrm rot="3858619">
              <a:off x="1170187" y="-116992"/>
              <a:ext cx="224863" cy="770731"/>
            </a:xfrm>
            <a:custGeom>
              <a:avLst/>
              <a:gdLst/>
              <a:ahLst/>
              <a:cxnLst/>
              <a:rect l="l" t="t" r="r" b="b"/>
              <a:pathLst>
                <a:path w="224863" h="770731">
                  <a:moveTo>
                    <a:pt x="0" y="0"/>
                  </a:moveTo>
                  <a:lnTo>
                    <a:pt x="224864" y="0"/>
                  </a:lnTo>
                  <a:lnTo>
                    <a:pt x="224864" y="770731"/>
                  </a:lnTo>
                  <a:lnTo>
                    <a:pt x="0" y="770731"/>
                  </a:lnTo>
                  <a:lnTo>
                    <a:pt x="0" y="0"/>
                  </a:lnTo>
                  <a:close/>
                </a:path>
              </a:pathLst>
            </a:custGeom>
            <a:blipFill>
              <a:blip r:embed="rId4">
                <a:extLst>
                  <a:ext uri="{96DAC541-7B7A-43D3-8B79-37D633B846F1}">
                    <asvg:svgBlip xmlns:asvg="http://schemas.microsoft.com/office/drawing/2016/SVG/main" r:embed="rId5"/>
                  </a:ext>
                </a:extLst>
              </a:blip>
              <a:stretch>
                <a:fillRect l="-316091"/>
              </a:stretch>
            </a:blipFill>
          </p:spPr>
          <p:txBody>
            <a:bodyPr/>
            <a:lstStyle/>
            <a:p>
              <a:endParaRPr lang="en-AU"/>
            </a:p>
          </p:txBody>
        </p:sp>
        <p:sp>
          <p:nvSpPr>
            <p:cNvPr id="19" name="Freeform 12">
              <a:extLst>
                <a:ext uri="{FF2B5EF4-FFF2-40B4-BE49-F238E27FC236}">
                  <a16:creationId xmlns:a16="http://schemas.microsoft.com/office/drawing/2014/main" id="{2ACD531F-CB6D-2D43-88D3-4BCCB2872E18}"/>
                </a:ext>
              </a:extLst>
            </p:cNvPr>
            <p:cNvSpPr/>
            <p:nvPr/>
          </p:nvSpPr>
          <p:spPr>
            <a:xfrm rot="-3319643">
              <a:off x="2111265" y="782711"/>
              <a:ext cx="224863" cy="770731"/>
            </a:xfrm>
            <a:custGeom>
              <a:avLst/>
              <a:gdLst/>
              <a:ahLst/>
              <a:cxnLst/>
              <a:rect l="l" t="t" r="r" b="b"/>
              <a:pathLst>
                <a:path w="224863" h="770731">
                  <a:moveTo>
                    <a:pt x="0" y="0"/>
                  </a:moveTo>
                  <a:lnTo>
                    <a:pt x="224863" y="0"/>
                  </a:lnTo>
                  <a:lnTo>
                    <a:pt x="224863" y="770731"/>
                  </a:lnTo>
                  <a:lnTo>
                    <a:pt x="0" y="770731"/>
                  </a:lnTo>
                  <a:lnTo>
                    <a:pt x="0" y="0"/>
                  </a:lnTo>
                  <a:close/>
                </a:path>
              </a:pathLst>
            </a:custGeom>
            <a:blipFill>
              <a:blip r:embed="rId4">
                <a:extLst>
                  <a:ext uri="{96DAC541-7B7A-43D3-8B79-37D633B846F1}">
                    <asvg:svgBlip xmlns:asvg="http://schemas.microsoft.com/office/drawing/2016/SVG/main" r:embed="rId5"/>
                  </a:ext>
                </a:extLst>
              </a:blip>
              <a:stretch>
                <a:fillRect l="-316091"/>
              </a:stretch>
            </a:blipFill>
          </p:spPr>
          <p:txBody>
            <a:bodyPr/>
            <a:lstStyle/>
            <a:p>
              <a:endParaRPr lang="en-AU"/>
            </a:p>
          </p:txBody>
        </p:sp>
      </p:grpSp>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35</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(18) </a:t>
            </a:r>
          </a:p>
        </p:txBody>
      </p:sp>
      <p:pic>
        <p:nvPicPr>
          <p:cNvPr id="4" name="Picture 3" descr="image of a clipboard with a pencil recording short answer responses">
            <a:extLst>
              <a:ext uri="{FF2B5EF4-FFF2-40B4-BE49-F238E27FC236}">
                <a16:creationId xmlns:a16="http://schemas.microsoft.com/office/drawing/2014/main" id="{79624517-4A6E-BCB0-BE3D-E100CB8DC04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Picture Placeholder 10">
            <a:extLst>
              <a:ext uri="{FF2B5EF4-FFF2-40B4-BE49-F238E27FC236}">
                <a16:creationId xmlns:a16="http://schemas.microsoft.com/office/drawing/2014/main" id="{E9A0CA25-1CF4-600D-3CCA-4A754A9E5A88}"/>
              </a:ext>
            </a:extLst>
          </p:cNvPr>
          <p:cNvSpPr txBox="1">
            <a:spLocks/>
          </p:cNvSpPr>
          <p:nvPr/>
        </p:nvSpPr>
        <p:spPr>
          <a:xfrm>
            <a:off x="474481" y="1029452"/>
            <a:ext cx="11243037" cy="1753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latin typeface="Arial"/>
                <a:cs typeface="Arial"/>
              </a:rPr>
              <a:t>This shape is made of </a:t>
            </a:r>
            <a:r>
              <a:rPr lang="en-AU" sz="4400" b="1" dirty="0">
                <a:latin typeface="Arial"/>
                <a:cs typeface="Arial"/>
              </a:rPr>
              <a:t>square metres</a:t>
            </a:r>
            <a:r>
              <a:rPr lang="en-AU" sz="4400" dirty="0">
                <a:latin typeface="Arial"/>
                <a:cs typeface="Arial"/>
              </a:rPr>
              <a:t>. </a:t>
            </a:r>
            <a:br>
              <a:rPr lang="en-AU" sz="4400" dirty="0">
                <a:latin typeface="Arial"/>
                <a:cs typeface="Arial"/>
              </a:rPr>
            </a:br>
            <a:r>
              <a:rPr lang="en-AU" sz="4400" dirty="0">
                <a:latin typeface="Arial"/>
                <a:cs typeface="Arial"/>
              </a:rPr>
              <a:t>What is the </a:t>
            </a:r>
            <a:r>
              <a:rPr lang="en-AU" sz="4400" b="1" dirty="0">
                <a:latin typeface="Arial"/>
                <a:cs typeface="Arial"/>
              </a:rPr>
              <a:t>area</a:t>
            </a:r>
            <a:r>
              <a:rPr lang="en-AU" sz="4400" dirty="0">
                <a:latin typeface="Arial"/>
                <a:cs typeface="Arial"/>
              </a:rPr>
              <a:t> of the shape?</a:t>
            </a:r>
            <a:endParaRPr lang="en-US" dirty="0">
              <a:latin typeface="Arial"/>
              <a:cs typeface="Arial"/>
            </a:endParaRPr>
          </a:p>
        </p:txBody>
      </p:sp>
      <p:sp>
        <p:nvSpPr>
          <p:cNvPr id="82" name="TextBox 81">
            <a:extLst>
              <a:ext uri="{FF2B5EF4-FFF2-40B4-BE49-F238E27FC236}">
                <a16:creationId xmlns:a16="http://schemas.microsoft.com/office/drawing/2014/main" id="{02CCA8AA-4D11-DB87-9185-CFB619A3EAFD}"/>
              </a:ext>
            </a:extLst>
          </p:cNvPr>
          <p:cNvSpPr txBox="1"/>
          <p:nvPr/>
        </p:nvSpPr>
        <p:spPr>
          <a:xfrm>
            <a:off x="717650" y="5790114"/>
            <a:ext cx="10566400" cy="707886"/>
          </a:xfrm>
          <a:prstGeom prst="rect">
            <a:avLst/>
          </a:prstGeom>
          <a:noFill/>
        </p:spPr>
        <p:txBody>
          <a:bodyPr wrap="square">
            <a:spAutoFit/>
          </a:bodyPr>
          <a:lstStyle/>
          <a:p>
            <a:pPr algn="ctr"/>
            <a:r>
              <a:rPr lang="en-AU" sz="4000" b="1" dirty="0"/>
              <a:t>Explain how you know.</a:t>
            </a:r>
            <a:endParaRPr lang="en-AU" sz="4000" b="0" dirty="0">
              <a:latin typeface="Arial"/>
              <a:cs typeface="Arial"/>
            </a:endParaRPr>
          </a:p>
        </p:txBody>
      </p:sp>
      <p:grpSp>
        <p:nvGrpSpPr>
          <p:cNvPr id="84" name="Group 83" descr="A grid of 5 rows of 8 blue squares.">
            <a:extLst>
              <a:ext uri="{FF2B5EF4-FFF2-40B4-BE49-F238E27FC236}">
                <a16:creationId xmlns:a16="http://schemas.microsoft.com/office/drawing/2014/main" id="{F49A86B3-BBC2-9076-8FA3-DE7157707E95}"/>
              </a:ext>
            </a:extLst>
          </p:cNvPr>
          <p:cNvGrpSpPr/>
          <p:nvPr/>
        </p:nvGrpSpPr>
        <p:grpSpPr>
          <a:xfrm>
            <a:off x="3996719" y="3349696"/>
            <a:ext cx="3969600" cy="2285124"/>
            <a:chOff x="4975375" y="1297498"/>
            <a:chExt cx="5201914" cy="3223734"/>
          </a:xfrm>
        </p:grpSpPr>
        <p:grpSp>
          <p:nvGrpSpPr>
            <p:cNvPr id="85" name="Group 6">
              <a:extLst>
                <a:ext uri="{FF2B5EF4-FFF2-40B4-BE49-F238E27FC236}">
                  <a16:creationId xmlns:a16="http://schemas.microsoft.com/office/drawing/2014/main" id="{FE5E0FA3-D964-BDD0-0556-8C09EA9D46E3}"/>
                </a:ext>
              </a:extLst>
            </p:cNvPr>
            <p:cNvGrpSpPr/>
            <p:nvPr/>
          </p:nvGrpSpPr>
          <p:grpSpPr>
            <a:xfrm>
              <a:off x="4975375" y="1297498"/>
              <a:ext cx="673332" cy="673332"/>
              <a:chOff x="0" y="0"/>
              <a:chExt cx="327569" cy="327569"/>
            </a:xfrm>
          </p:grpSpPr>
          <p:sp>
            <p:nvSpPr>
              <p:cNvPr id="203" name="Freeform 7">
                <a:extLst>
                  <a:ext uri="{FF2B5EF4-FFF2-40B4-BE49-F238E27FC236}">
                    <a16:creationId xmlns:a16="http://schemas.microsoft.com/office/drawing/2014/main" id="{C8D89A74-EC3F-0559-5BD4-FE266937D2DD}"/>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204" name="TextBox 8">
                <a:extLst>
                  <a:ext uri="{FF2B5EF4-FFF2-40B4-BE49-F238E27FC236}">
                    <a16:creationId xmlns:a16="http://schemas.microsoft.com/office/drawing/2014/main" id="{39B9D600-8F1D-A8B9-2CD1-E2FB340F6538}"/>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86" name="Group 9">
              <a:extLst>
                <a:ext uri="{FF2B5EF4-FFF2-40B4-BE49-F238E27FC236}">
                  <a16:creationId xmlns:a16="http://schemas.microsoft.com/office/drawing/2014/main" id="{2E1F8D92-267E-02AE-091C-E0260B5F975A}"/>
                </a:ext>
              </a:extLst>
            </p:cNvPr>
            <p:cNvGrpSpPr/>
            <p:nvPr/>
          </p:nvGrpSpPr>
          <p:grpSpPr>
            <a:xfrm>
              <a:off x="5626795" y="1297498"/>
              <a:ext cx="673332" cy="673332"/>
              <a:chOff x="0" y="0"/>
              <a:chExt cx="327569" cy="327569"/>
            </a:xfrm>
          </p:grpSpPr>
          <p:sp>
            <p:nvSpPr>
              <p:cNvPr id="201" name="Freeform 10">
                <a:extLst>
                  <a:ext uri="{FF2B5EF4-FFF2-40B4-BE49-F238E27FC236}">
                    <a16:creationId xmlns:a16="http://schemas.microsoft.com/office/drawing/2014/main" id="{24EE29BE-3215-00A7-0E55-1F9C486CF9BA}"/>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202" name="TextBox 11">
                <a:extLst>
                  <a:ext uri="{FF2B5EF4-FFF2-40B4-BE49-F238E27FC236}">
                    <a16:creationId xmlns:a16="http://schemas.microsoft.com/office/drawing/2014/main" id="{0C7E4157-80DD-595B-7B1B-683776AA33C9}"/>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87" name="Group 12">
              <a:extLst>
                <a:ext uri="{FF2B5EF4-FFF2-40B4-BE49-F238E27FC236}">
                  <a16:creationId xmlns:a16="http://schemas.microsoft.com/office/drawing/2014/main" id="{AE056101-D55D-912C-968B-8FD94A13D766}"/>
                </a:ext>
              </a:extLst>
            </p:cNvPr>
            <p:cNvGrpSpPr/>
            <p:nvPr/>
          </p:nvGrpSpPr>
          <p:grpSpPr>
            <a:xfrm>
              <a:off x="4975375" y="1946619"/>
              <a:ext cx="673332" cy="673332"/>
              <a:chOff x="0" y="0"/>
              <a:chExt cx="327569" cy="327569"/>
            </a:xfrm>
          </p:grpSpPr>
          <p:sp>
            <p:nvSpPr>
              <p:cNvPr id="199" name="Freeform 13">
                <a:extLst>
                  <a:ext uri="{FF2B5EF4-FFF2-40B4-BE49-F238E27FC236}">
                    <a16:creationId xmlns:a16="http://schemas.microsoft.com/office/drawing/2014/main" id="{3BDF3854-92FD-D7B6-EECC-BCC059C38148}"/>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200" name="TextBox 14">
                <a:extLst>
                  <a:ext uri="{FF2B5EF4-FFF2-40B4-BE49-F238E27FC236}">
                    <a16:creationId xmlns:a16="http://schemas.microsoft.com/office/drawing/2014/main" id="{98436692-446F-165A-D89F-E4F084B9313F}"/>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88" name="Group 15">
              <a:extLst>
                <a:ext uri="{FF2B5EF4-FFF2-40B4-BE49-F238E27FC236}">
                  <a16:creationId xmlns:a16="http://schemas.microsoft.com/office/drawing/2014/main" id="{AF51D6A7-2C78-9D88-B9F3-47E620A41C88}"/>
                </a:ext>
              </a:extLst>
            </p:cNvPr>
            <p:cNvGrpSpPr/>
            <p:nvPr/>
          </p:nvGrpSpPr>
          <p:grpSpPr>
            <a:xfrm>
              <a:off x="5626795" y="1946619"/>
              <a:ext cx="673332" cy="673332"/>
              <a:chOff x="0" y="0"/>
              <a:chExt cx="327569" cy="327569"/>
            </a:xfrm>
          </p:grpSpPr>
          <p:sp>
            <p:nvSpPr>
              <p:cNvPr id="197" name="Freeform 16">
                <a:extLst>
                  <a:ext uri="{FF2B5EF4-FFF2-40B4-BE49-F238E27FC236}">
                    <a16:creationId xmlns:a16="http://schemas.microsoft.com/office/drawing/2014/main" id="{A1326D41-FF6A-949A-E5BC-015B2B85AD7F}"/>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98" name="TextBox 17">
                <a:extLst>
                  <a:ext uri="{FF2B5EF4-FFF2-40B4-BE49-F238E27FC236}">
                    <a16:creationId xmlns:a16="http://schemas.microsoft.com/office/drawing/2014/main" id="{767762D4-05F3-AA0A-7CEC-006F19334BE9}"/>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89" name="Group 18">
              <a:extLst>
                <a:ext uri="{FF2B5EF4-FFF2-40B4-BE49-F238E27FC236}">
                  <a16:creationId xmlns:a16="http://schemas.microsoft.com/office/drawing/2014/main" id="{E251A07B-1CF9-3BBC-1D2E-E32296D9F3C7}"/>
                </a:ext>
              </a:extLst>
            </p:cNvPr>
            <p:cNvGrpSpPr/>
            <p:nvPr/>
          </p:nvGrpSpPr>
          <p:grpSpPr>
            <a:xfrm>
              <a:off x="6270912" y="1297498"/>
              <a:ext cx="673332" cy="673332"/>
              <a:chOff x="0" y="0"/>
              <a:chExt cx="327569" cy="327569"/>
            </a:xfrm>
          </p:grpSpPr>
          <p:sp>
            <p:nvSpPr>
              <p:cNvPr id="195" name="Freeform 19">
                <a:extLst>
                  <a:ext uri="{FF2B5EF4-FFF2-40B4-BE49-F238E27FC236}">
                    <a16:creationId xmlns:a16="http://schemas.microsoft.com/office/drawing/2014/main" id="{37E12622-23AC-7AF9-39FC-33AD8EF20238}"/>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96" name="TextBox 20">
                <a:extLst>
                  <a:ext uri="{FF2B5EF4-FFF2-40B4-BE49-F238E27FC236}">
                    <a16:creationId xmlns:a16="http://schemas.microsoft.com/office/drawing/2014/main" id="{94F2B69A-CC10-C3DC-BDF6-682DA6CC93E6}"/>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90" name="Group 21">
              <a:extLst>
                <a:ext uri="{FF2B5EF4-FFF2-40B4-BE49-F238E27FC236}">
                  <a16:creationId xmlns:a16="http://schemas.microsoft.com/office/drawing/2014/main" id="{192C7F04-47BC-9D09-DE0A-1DBF92617A52}"/>
                </a:ext>
              </a:extLst>
            </p:cNvPr>
            <p:cNvGrpSpPr/>
            <p:nvPr/>
          </p:nvGrpSpPr>
          <p:grpSpPr>
            <a:xfrm>
              <a:off x="6922332" y="1297498"/>
              <a:ext cx="673332" cy="673332"/>
              <a:chOff x="0" y="0"/>
              <a:chExt cx="327569" cy="327569"/>
            </a:xfrm>
          </p:grpSpPr>
          <p:sp>
            <p:nvSpPr>
              <p:cNvPr id="193" name="Freeform 22">
                <a:extLst>
                  <a:ext uri="{FF2B5EF4-FFF2-40B4-BE49-F238E27FC236}">
                    <a16:creationId xmlns:a16="http://schemas.microsoft.com/office/drawing/2014/main" id="{2C671B86-0BEF-DE1C-3D42-FF01F7A778D0}"/>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94" name="TextBox 23">
                <a:extLst>
                  <a:ext uri="{FF2B5EF4-FFF2-40B4-BE49-F238E27FC236}">
                    <a16:creationId xmlns:a16="http://schemas.microsoft.com/office/drawing/2014/main" id="{3B5F99AB-968A-C006-D0FA-BCA3A039BDC2}"/>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91" name="Group 24">
              <a:extLst>
                <a:ext uri="{FF2B5EF4-FFF2-40B4-BE49-F238E27FC236}">
                  <a16:creationId xmlns:a16="http://schemas.microsoft.com/office/drawing/2014/main" id="{8C95354C-87A8-FA0B-533C-7139685D70A4}"/>
                </a:ext>
              </a:extLst>
            </p:cNvPr>
            <p:cNvGrpSpPr/>
            <p:nvPr/>
          </p:nvGrpSpPr>
          <p:grpSpPr>
            <a:xfrm>
              <a:off x="6270912" y="1946619"/>
              <a:ext cx="673332" cy="673332"/>
              <a:chOff x="0" y="0"/>
              <a:chExt cx="327569" cy="327569"/>
            </a:xfrm>
          </p:grpSpPr>
          <p:sp>
            <p:nvSpPr>
              <p:cNvPr id="191" name="Freeform 25">
                <a:extLst>
                  <a:ext uri="{FF2B5EF4-FFF2-40B4-BE49-F238E27FC236}">
                    <a16:creationId xmlns:a16="http://schemas.microsoft.com/office/drawing/2014/main" id="{2E83AC51-9FF8-8FA9-31D0-E8970C92A8CF}"/>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92" name="TextBox 26">
                <a:extLst>
                  <a:ext uri="{FF2B5EF4-FFF2-40B4-BE49-F238E27FC236}">
                    <a16:creationId xmlns:a16="http://schemas.microsoft.com/office/drawing/2014/main" id="{69CE0DD5-113E-ADD0-2085-C19B7CAB901F}"/>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92" name="Group 27">
              <a:extLst>
                <a:ext uri="{FF2B5EF4-FFF2-40B4-BE49-F238E27FC236}">
                  <a16:creationId xmlns:a16="http://schemas.microsoft.com/office/drawing/2014/main" id="{5921BBE2-281F-A8DE-151B-3499C13361A2}"/>
                </a:ext>
              </a:extLst>
            </p:cNvPr>
            <p:cNvGrpSpPr/>
            <p:nvPr/>
          </p:nvGrpSpPr>
          <p:grpSpPr>
            <a:xfrm>
              <a:off x="6922332" y="1946619"/>
              <a:ext cx="673332" cy="673332"/>
              <a:chOff x="0" y="0"/>
              <a:chExt cx="327569" cy="327569"/>
            </a:xfrm>
          </p:grpSpPr>
          <p:sp>
            <p:nvSpPr>
              <p:cNvPr id="189" name="Freeform 28">
                <a:extLst>
                  <a:ext uri="{FF2B5EF4-FFF2-40B4-BE49-F238E27FC236}">
                    <a16:creationId xmlns:a16="http://schemas.microsoft.com/office/drawing/2014/main" id="{EB7A5263-39BD-7398-5E27-2AAB0AFAEC1C}"/>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90" name="TextBox 29">
                <a:extLst>
                  <a:ext uri="{FF2B5EF4-FFF2-40B4-BE49-F238E27FC236}">
                    <a16:creationId xmlns:a16="http://schemas.microsoft.com/office/drawing/2014/main" id="{5E78EA26-1921-C465-3C22-09904141700C}"/>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93" name="Group 30">
              <a:extLst>
                <a:ext uri="{FF2B5EF4-FFF2-40B4-BE49-F238E27FC236}">
                  <a16:creationId xmlns:a16="http://schemas.microsoft.com/office/drawing/2014/main" id="{3227AD14-B705-9C64-0C4F-F1475F45EDD7}"/>
                </a:ext>
              </a:extLst>
            </p:cNvPr>
            <p:cNvGrpSpPr/>
            <p:nvPr/>
          </p:nvGrpSpPr>
          <p:grpSpPr>
            <a:xfrm>
              <a:off x="4975375" y="2590146"/>
              <a:ext cx="673332" cy="673332"/>
              <a:chOff x="0" y="0"/>
              <a:chExt cx="327569" cy="327569"/>
            </a:xfrm>
          </p:grpSpPr>
          <p:sp>
            <p:nvSpPr>
              <p:cNvPr id="187" name="Freeform 31">
                <a:extLst>
                  <a:ext uri="{FF2B5EF4-FFF2-40B4-BE49-F238E27FC236}">
                    <a16:creationId xmlns:a16="http://schemas.microsoft.com/office/drawing/2014/main" id="{5418EA02-29FB-B309-FD02-ECD78A80321D}"/>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88" name="TextBox 32">
                <a:extLst>
                  <a:ext uri="{FF2B5EF4-FFF2-40B4-BE49-F238E27FC236}">
                    <a16:creationId xmlns:a16="http://schemas.microsoft.com/office/drawing/2014/main" id="{52F46CEA-DFC1-6152-CE62-7DA1FDA6B0AE}"/>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94" name="Group 33">
              <a:extLst>
                <a:ext uri="{FF2B5EF4-FFF2-40B4-BE49-F238E27FC236}">
                  <a16:creationId xmlns:a16="http://schemas.microsoft.com/office/drawing/2014/main" id="{6DAC86D2-DDBA-0C89-AE4A-EEDFACCCE5AF}"/>
                </a:ext>
              </a:extLst>
            </p:cNvPr>
            <p:cNvGrpSpPr/>
            <p:nvPr/>
          </p:nvGrpSpPr>
          <p:grpSpPr>
            <a:xfrm>
              <a:off x="5626795" y="2590146"/>
              <a:ext cx="673332" cy="673332"/>
              <a:chOff x="0" y="0"/>
              <a:chExt cx="327569" cy="327569"/>
            </a:xfrm>
          </p:grpSpPr>
          <p:sp>
            <p:nvSpPr>
              <p:cNvPr id="185" name="Freeform 34">
                <a:extLst>
                  <a:ext uri="{FF2B5EF4-FFF2-40B4-BE49-F238E27FC236}">
                    <a16:creationId xmlns:a16="http://schemas.microsoft.com/office/drawing/2014/main" id="{28999BB7-9092-580A-2415-9558DDB41207}"/>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86" name="TextBox 35">
                <a:extLst>
                  <a:ext uri="{FF2B5EF4-FFF2-40B4-BE49-F238E27FC236}">
                    <a16:creationId xmlns:a16="http://schemas.microsoft.com/office/drawing/2014/main" id="{BED56DF2-44F1-4004-FA65-6915F8E41170}"/>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95" name="Group 36">
              <a:extLst>
                <a:ext uri="{FF2B5EF4-FFF2-40B4-BE49-F238E27FC236}">
                  <a16:creationId xmlns:a16="http://schemas.microsoft.com/office/drawing/2014/main" id="{61C94702-C0C5-05C8-BDEC-09487DD88EB1}"/>
                </a:ext>
              </a:extLst>
            </p:cNvPr>
            <p:cNvGrpSpPr/>
            <p:nvPr/>
          </p:nvGrpSpPr>
          <p:grpSpPr>
            <a:xfrm>
              <a:off x="6270912" y="2590146"/>
              <a:ext cx="673332" cy="673332"/>
              <a:chOff x="0" y="0"/>
              <a:chExt cx="327569" cy="327569"/>
            </a:xfrm>
          </p:grpSpPr>
          <p:sp>
            <p:nvSpPr>
              <p:cNvPr id="183" name="Freeform 37">
                <a:extLst>
                  <a:ext uri="{FF2B5EF4-FFF2-40B4-BE49-F238E27FC236}">
                    <a16:creationId xmlns:a16="http://schemas.microsoft.com/office/drawing/2014/main" id="{07EB74BD-3204-FFCA-FB74-85E1E8201D10}"/>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84" name="TextBox 38">
                <a:extLst>
                  <a:ext uri="{FF2B5EF4-FFF2-40B4-BE49-F238E27FC236}">
                    <a16:creationId xmlns:a16="http://schemas.microsoft.com/office/drawing/2014/main" id="{CF77A966-64ED-D464-6DD8-4AC8C2095BCA}"/>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96" name="Group 39">
              <a:extLst>
                <a:ext uri="{FF2B5EF4-FFF2-40B4-BE49-F238E27FC236}">
                  <a16:creationId xmlns:a16="http://schemas.microsoft.com/office/drawing/2014/main" id="{39727027-0484-13D8-9EF8-9D9189AC45CF}"/>
                </a:ext>
              </a:extLst>
            </p:cNvPr>
            <p:cNvGrpSpPr/>
            <p:nvPr/>
          </p:nvGrpSpPr>
          <p:grpSpPr>
            <a:xfrm>
              <a:off x="6922332" y="2590146"/>
              <a:ext cx="673332" cy="673332"/>
              <a:chOff x="0" y="0"/>
              <a:chExt cx="327569" cy="327569"/>
            </a:xfrm>
          </p:grpSpPr>
          <p:sp>
            <p:nvSpPr>
              <p:cNvPr id="181" name="Freeform 40">
                <a:extLst>
                  <a:ext uri="{FF2B5EF4-FFF2-40B4-BE49-F238E27FC236}">
                    <a16:creationId xmlns:a16="http://schemas.microsoft.com/office/drawing/2014/main" id="{184B98C0-5ECD-39F5-C529-989D71F0D835}"/>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82" name="TextBox 41">
                <a:extLst>
                  <a:ext uri="{FF2B5EF4-FFF2-40B4-BE49-F238E27FC236}">
                    <a16:creationId xmlns:a16="http://schemas.microsoft.com/office/drawing/2014/main" id="{F6BB67F0-C08D-1BE2-BE45-A1539102C440}"/>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97" name="Group 42">
              <a:extLst>
                <a:ext uri="{FF2B5EF4-FFF2-40B4-BE49-F238E27FC236}">
                  <a16:creationId xmlns:a16="http://schemas.microsoft.com/office/drawing/2014/main" id="{C9D7A0CD-73E3-F881-783D-A1AF759E34C2}"/>
                </a:ext>
              </a:extLst>
            </p:cNvPr>
            <p:cNvGrpSpPr/>
            <p:nvPr/>
          </p:nvGrpSpPr>
          <p:grpSpPr>
            <a:xfrm>
              <a:off x="7557000" y="1297498"/>
              <a:ext cx="673332" cy="673332"/>
              <a:chOff x="0" y="0"/>
              <a:chExt cx="327569" cy="327569"/>
            </a:xfrm>
          </p:grpSpPr>
          <p:sp>
            <p:nvSpPr>
              <p:cNvPr id="179" name="Freeform 43">
                <a:extLst>
                  <a:ext uri="{FF2B5EF4-FFF2-40B4-BE49-F238E27FC236}">
                    <a16:creationId xmlns:a16="http://schemas.microsoft.com/office/drawing/2014/main" id="{6A6F46B1-FD98-B642-0CCB-4951DD25B40D}"/>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80" name="TextBox 44">
                <a:extLst>
                  <a:ext uri="{FF2B5EF4-FFF2-40B4-BE49-F238E27FC236}">
                    <a16:creationId xmlns:a16="http://schemas.microsoft.com/office/drawing/2014/main" id="{43464A77-AA12-7954-C682-8748FC83E05A}"/>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98" name="Group 45">
              <a:extLst>
                <a:ext uri="{FF2B5EF4-FFF2-40B4-BE49-F238E27FC236}">
                  <a16:creationId xmlns:a16="http://schemas.microsoft.com/office/drawing/2014/main" id="{889D3E8D-9A3C-CD2A-7027-62FD6DCA57F0}"/>
                </a:ext>
              </a:extLst>
            </p:cNvPr>
            <p:cNvGrpSpPr/>
            <p:nvPr/>
          </p:nvGrpSpPr>
          <p:grpSpPr>
            <a:xfrm>
              <a:off x="8208420" y="1297498"/>
              <a:ext cx="673332" cy="673332"/>
              <a:chOff x="0" y="0"/>
              <a:chExt cx="327569" cy="327569"/>
            </a:xfrm>
          </p:grpSpPr>
          <p:sp>
            <p:nvSpPr>
              <p:cNvPr id="177" name="Freeform 46">
                <a:extLst>
                  <a:ext uri="{FF2B5EF4-FFF2-40B4-BE49-F238E27FC236}">
                    <a16:creationId xmlns:a16="http://schemas.microsoft.com/office/drawing/2014/main" id="{2F01CFCE-0A8D-E412-B2AE-3BD18EF8A63B}"/>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78" name="TextBox 47">
                <a:extLst>
                  <a:ext uri="{FF2B5EF4-FFF2-40B4-BE49-F238E27FC236}">
                    <a16:creationId xmlns:a16="http://schemas.microsoft.com/office/drawing/2014/main" id="{3EE78167-7A7E-4E93-3336-D934975298DB}"/>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99" name="Group 48">
              <a:extLst>
                <a:ext uri="{FF2B5EF4-FFF2-40B4-BE49-F238E27FC236}">
                  <a16:creationId xmlns:a16="http://schemas.microsoft.com/office/drawing/2014/main" id="{147F5995-9F44-E660-0731-A4707AF0A38E}"/>
                </a:ext>
              </a:extLst>
            </p:cNvPr>
            <p:cNvGrpSpPr/>
            <p:nvPr/>
          </p:nvGrpSpPr>
          <p:grpSpPr>
            <a:xfrm>
              <a:off x="7557000" y="1946619"/>
              <a:ext cx="673332" cy="673332"/>
              <a:chOff x="0" y="0"/>
              <a:chExt cx="327569" cy="327569"/>
            </a:xfrm>
          </p:grpSpPr>
          <p:sp>
            <p:nvSpPr>
              <p:cNvPr id="175" name="Freeform 49">
                <a:extLst>
                  <a:ext uri="{FF2B5EF4-FFF2-40B4-BE49-F238E27FC236}">
                    <a16:creationId xmlns:a16="http://schemas.microsoft.com/office/drawing/2014/main" id="{2750D925-CCD6-C8B1-815B-FE5E6B9CBCCB}"/>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76" name="TextBox 50">
                <a:extLst>
                  <a:ext uri="{FF2B5EF4-FFF2-40B4-BE49-F238E27FC236}">
                    <a16:creationId xmlns:a16="http://schemas.microsoft.com/office/drawing/2014/main" id="{B44DACAF-09DD-F8D3-5A35-CA0E40EC0ADB}"/>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00" name="Group 51">
              <a:extLst>
                <a:ext uri="{FF2B5EF4-FFF2-40B4-BE49-F238E27FC236}">
                  <a16:creationId xmlns:a16="http://schemas.microsoft.com/office/drawing/2014/main" id="{CB96BE88-4F0F-152B-A9C3-D65A65BE2AE3}"/>
                </a:ext>
              </a:extLst>
            </p:cNvPr>
            <p:cNvGrpSpPr/>
            <p:nvPr/>
          </p:nvGrpSpPr>
          <p:grpSpPr>
            <a:xfrm>
              <a:off x="8208420" y="1946619"/>
              <a:ext cx="673332" cy="673332"/>
              <a:chOff x="0" y="0"/>
              <a:chExt cx="327569" cy="327569"/>
            </a:xfrm>
          </p:grpSpPr>
          <p:sp>
            <p:nvSpPr>
              <p:cNvPr id="173" name="Freeform 52">
                <a:extLst>
                  <a:ext uri="{FF2B5EF4-FFF2-40B4-BE49-F238E27FC236}">
                    <a16:creationId xmlns:a16="http://schemas.microsoft.com/office/drawing/2014/main" id="{F5B12A00-F378-8E6C-3466-C41AFCD08882}"/>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74" name="TextBox 53">
                <a:extLst>
                  <a:ext uri="{FF2B5EF4-FFF2-40B4-BE49-F238E27FC236}">
                    <a16:creationId xmlns:a16="http://schemas.microsoft.com/office/drawing/2014/main" id="{721FE126-FA32-37F6-B900-DD4249AB92AA}"/>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01" name="Group 54">
              <a:extLst>
                <a:ext uri="{FF2B5EF4-FFF2-40B4-BE49-F238E27FC236}">
                  <a16:creationId xmlns:a16="http://schemas.microsoft.com/office/drawing/2014/main" id="{586A8756-AEEC-CD91-7EC6-EB462CF17E73}"/>
                </a:ext>
              </a:extLst>
            </p:cNvPr>
            <p:cNvGrpSpPr/>
            <p:nvPr/>
          </p:nvGrpSpPr>
          <p:grpSpPr>
            <a:xfrm>
              <a:off x="8852537" y="1297498"/>
              <a:ext cx="673332" cy="673332"/>
              <a:chOff x="0" y="0"/>
              <a:chExt cx="327569" cy="327569"/>
            </a:xfrm>
          </p:grpSpPr>
          <p:sp>
            <p:nvSpPr>
              <p:cNvPr id="171" name="Freeform 55">
                <a:extLst>
                  <a:ext uri="{FF2B5EF4-FFF2-40B4-BE49-F238E27FC236}">
                    <a16:creationId xmlns:a16="http://schemas.microsoft.com/office/drawing/2014/main" id="{B16F72B3-1551-110B-636A-DE422E48F7AD}"/>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72" name="TextBox 56">
                <a:extLst>
                  <a:ext uri="{FF2B5EF4-FFF2-40B4-BE49-F238E27FC236}">
                    <a16:creationId xmlns:a16="http://schemas.microsoft.com/office/drawing/2014/main" id="{2B73895D-670E-8161-5A43-9CC4E9069625}"/>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02" name="Group 57">
              <a:extLst>
                <a:ext uri="{FF2B5EF4-FFF2-40B4-BE49-F238E27FC236}">
                  <a16:creationId xmlns:a16="http://schemas.microsoft.com/office/drawing/2014/main" id="{69BF852F-8F1D-0F12-C3E5-C7B430A79B8D}"/>
                </a:ext>
              </a:extLst>
            </p:cNvPr>
            <p:cNvGrpSpPr/>
            <p:nvPr/>
          </p:nvGrpSpPr>
          <p:grpSpPr>
            <a:xfrm>
              <a:off x="9503957" y="1297498"/>
              <a:ext cx="673332" cy="673332"/>
              <a:chOff x="0" y="0"/>
              <a:chExt cx="327569" cy="327569"/>
            </a:xfrm>
          </p:grpSpPr>
          <p:sp>
            <p:nvSpPr>
              <p:cNvPr id="169" name="Freeform 58">
                <a:extLst>
                  <a:ext uri="{FF2B5EF4-FFF2-40B4-BE49-F238E27FC236}">
                    <a16:creationId xmlns:a16="http://schemas.microsoft.com/office/drawing/2014/main" id="{F2EDE389-154C-7505-372D-347E324A1BDF}"/>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70" name="TextBox 59">
                <a:extLst>
                  <a:ext uri="{FF2B5EF4-FFF2-40B4-BE49-F238E27FC236}">
                    <a16:creationId xmlns:a16="http://schemas.microsoft.com/office/drawing/2014/main" id="{BA542092-DFBD-1BF5-9887-9539368B0A1C}"/>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03" name="Group 60">
              <a:extLst>
                <a:ext uri="{FF2B5EF4-FFF2-40B4-BE49-F238E27FC236}">
                  <a16:creationId xmlns:a16="http://schemas.microsoft.com/office/drawing/2014/main" id="{9A375981-93E3-8FE0-148A-EF412AF1761A}"/>
                </a:ext>
              </a:extLst>
            </p:cNvPr>
            <p:cNvGrpSpPr/>
            <p:nvPr/>
          </p:nvGrpSpPr>
          <p:grpSpPr>
            <a:xfrm>
              <a:off x="8852537" y="1946619"/>
              <a:ext cx="673332" cy="673332"/>
              <a:chOff x="0" y="0"/>
              <a:chExt cx="327569" cy="327569"/>
            </a:xfrm>
          </p:grpSpPr>
          <p:sp>
            <p:nvSpPr>
              <p:cNvPr id="167" name="Freeform 61">
                <a:extLst>
                  <a:ext uri="{FF2B5EF4-FFF2-40B4-BE49-F238E27FC236}">
                    <a16:creationId xmlns:a16="http://schemas.microsoft.com/office/drawing/2014/main" id="{CC4DBFD3-3355-6AB6-9335-313435639417}"/>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68" name="TextBox 62">
                <a:extLst>
                  <a:ext uri="{FF2B5EF4-FFF2-40B4-BE49-F238E27FC236}">
                    <a16:creationId xmlns:a16="http://schemas.microsoft.com/office/drawing/2014/main" id="{7872938B-4213-B1C4-0620-80D9CCEF8CCC}"/>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04" name="Group 63">
              <a:extLst>
                <a:ext uri="{FF2B5EF4-FFF2-40B4-BE49-F238E27FC236}">
                  <a16:creationId xmlns:a16="http://schemas.microsoft.com/office/drawing/2014/main" id="{9FDE69CE-059C-E320-5A91-84DA0BD7A4E0}"/>
                </a:ext>
              </a:extLst>
            </p:cNvPr>
            <p:cNvGrpSpPr/>
            <p:nvPr/>
          </p:nvGrpSpPr>
          <p:grpSpPr>
            <a:xfrm>
              <a:off x="9503957" y="1946619"/>
              <a:ext cx="673332" cy="673332"/>
              <a:chOff x="0" y="0"/>
              <a:chExt cx="327569" cy="327569"/>
            </a:xfrm>
          </p:grpSpPr>
          <p:sp>
            <p:nvSpPr>
              <p:cNvPr id="165" name="Freeform 64">
                <a:extLst>
                  <a:ext uri="{FF2B5EF4-FFF2-40B4-BE49-F238E27FC236}">
                    <a16:creationId xmlns:a16="http://schemas.microsoft.com/office/drawing/2014/main" id="{FB38F598-EB7F-38D1-CCF0-69DED48058F9}"/>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66" name="TextBox 65">
                <a:extLst>
                  <a:ext uri="{FF2B5EF4-FFF2-40B4-BE49-F238E27FC236}">
                    <a16:creationId xmlns:a16="http://schemas.microsoft.com/office/drawing/2014/main" id="{C5A0F11A-1C2F-EC0A-C09D-965D65083F9A}"/>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05" name="Group 66">
              <a:extLst>
                <a:ext uri="{FF2B5EF4-FFF2-40B4-BE49-F238E27FC236}">
                  <a16:creationId xmlns:a16="http://schemas.microsoft.com/office/drawing/2014/main" id="{759C0DFC-6645-D691-3DE6-BBCA765AF178}"/>
                </a:ext>
              </a:extLst>
            </p:cNvPr>
            <p:cNvGrpSpPr/>
            <p:nvPr/>
          </p:nvGrpSpPr>
          <p:grpSpPr>
            <a:xfrm>
              <a:off x="7557000" y="2590146"/>
              <a:ext cx="673332" cy="673332"/>
              <a:chOff x="0" y="0"/>
              <a:chExt cx="327569" cy="327569"/>
            </a:xfrm>
          </p:grpSpPr>
          <p:sp>
            <p:nvSpPr>
              <p:cNvPr id="163" name="Freeform 67">
                <a:extLst>
                  <a:ext uri="{FF2B5EF4-FFF2-40B4-BE49-F238E27FC236}">
                    <a16:creationId xmlns:a16="http://schemas.microsoft.com/office/drawing/2014/main" id="{C3EB4263-88BF-B2BE-7539-28CC568CDE54}"/>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64" name="TextBox 68">
                <a:extLst>
                  <a:ext uri="{FF2B5EF4-FFF2-40B4-BE49-F238E27FC236}">
                    <a16:creationId xmlns:a16="http://schemas.microsoft.com/office/drawing/2014/main" id="{165871FA-DC89-9698-818E-E4B30B0E5C77}"/>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06" name="Group 69">
              <a:extLst>
                <a:ext uri="{FF2B5EF4-FFF2-40B4-BE49-F238E27FC236}">
                  <a16:creationId xmlns:a16="http://schemas.microsoft.com/office/drawing/2014/main" id="{2B0FE1C4-59FA-673D-30AE-140F771B4AE6}"/>
                </a:ext>
              </a:extLst>
            </p:cNvPr>
            <p:cNvGrpSpPr/>
            <p:nvPr/>
          </p:nvGrpSpPr>
          <p:grpSpPr>
            <a:xfrm>
              <a:off x="8208420" y="2590146"/>
              <a:ext cx="673332" cy="673332"/>
              <a:chOff x="0" y="0"/>
              <a:chExt cx="327569" cy="327569"/>
            </a:xfrm>
          </p:grpSpPr>
          <p:sp>
            <p:nvSpPr>
              <p:cNvPr id="161" name="Freeform 70">
                <a:extLst>
                  <a:ext uri="{FF2B5EF4-FFF2-40B4-BE49-F238E27FC236}">
                    <a16:creationId xmlns:a16="http://schemas.microsoft.com/office/drawing/2014/main" id="{40A2AC19-7A89-A4EC-BD30-14370F581C81}"/>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62" name="TextBox 71">
                <a:extLst>
                  <a:ext uri="{FF2B5EF4-FFF2-40B4-BE49-F238E27FC236}">
                    <a16:creationId xmlns:a16="http://schemas.microsoft.com/office/drawing/2014/main" id="{D610E2B2-A1B4-6966-834D-41AA428DEE93}"/>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07" name="Group 72">
              <a:extLst>
                <a:ext uri="{FF2B5EF4-FFF2-40B4-BE49-F238E27FC236}">
                  <a16:creationId xmlns:a16="http://schemas.microsoft.com/office/drawing/2014/main" id="{C3F3799A-807A-BF3A-4F3B-AF3945724EB7}"/>
                </a:ext>
              </a:extLst>
            </p:cNvPr>
            <p:cNvGrpSpPr/>
            <p:nvPr/>
          </p:nvGrpSpPr>
          <p:grpSpPr>
            <a:xfrm>
              <a:off x="8852537" y="2590146"/>
              <a:ext cx="673332" cy="673332"/>
              <a:chOff x="0" y="0"/>
              <a:chExt cx="327569" cy="327569"/>
            </a:xfrm>
          </p:grpSpPr>
          <p:sp>
            <p:nvSpPr>
              <p:cNvPr id="159" name="Freeform 73">
                <a:extLst>
                  <a:ext uri="{FF2B5EF4-FFF2-40B4-BE49-F238E27FC236}">
                    <a16:creationId xmlns:a16="http://schemas.microsoft.com/office/drawing/2014/main" id="{D175D5E7-7A31-9FCA-F563-9F479D27ACAA}"/>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60" name="TextBox 74">
                <a:extLst>
                  <a:ext uri="{FF2B5EF4-FFF2-40B4-BE49-F238E27FC236}">
                    <a16:creationId xmlns:a16="http://schemas.microsoft.com/office/drawing/2014/main" id="{569A2C6A-43B5-098A-77B6-2685AD94D3CA}"/>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dirty="0"/>
              </a:p>
            </p:txBody>
          </p:sp>
        </p:grpSp>
        <p:grpSp>
          <p:nvGrpSpPr>
            <p:cNvPr id="108" name="Group 75">
              <a:extLst>
                <a:ext uri="{FF2B5EF4-FFF2-40B4-BE49-F238E27FC236}">
                  <a16:creationId xmlns:a16="http://schemas.microsoft.com/office/drawing/2014/main" id="{78C64A94-531D-9F73-CD3E-457F4CDECCFF}"/>
                </a:ext>
              </a:extLst>
            </p:cNvPr>
            <p:cNvGrpSpPr/>
            <p:nvPr/>
          </p:nvGrpSpPr>
          <p:grpSpPr>
            <a:xfrm>
              <a:off x="9503957" y="2590146"/>
              <a:ext cx="673332" cy="673332"/>
              <a:chOff x="0" y="0"/>
              <a:chExt cx="327569" cy="327569"/>
            </a:xfrm>
          </p:grpSpPr>
          <p:sp>
            <p:nvSpPr>
              <p:cNvPr id="157" name="Freeform 76">
                <a:extLst>
                  <a:ext uri="{FF2B5EF4-FFF2-40B4-BE49-F238E27FC236}">
                    <a16:creationId xmlns:a16="http://schemas.microsoft.com/office/drawing/2014/main" id="{976C06D4-02EE-48A0-1DC5-923FE03E5A78}"/>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58" name="TextBox 77">
                <a:extLst>
                  <a:ext uri="{FF2B5EF4-FFF2-40B4-BE49-F238E27FC236}">
                    <a16:creationId xmlns:a16="http://schemas.microsoft.com/office/drawing/2014/main" id="{8840477A-B532-9411-9F31-FA709EEF1B08}"/>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09" name="Group 78">
              <a:extLst>
                <a:ext uri="{FF2B5EF4-FFF2-40B4-BE49-F238E27FC236}">
                  <a16:creationId xmlns:a16="http://schemas.microsoft.com/office/drawing/2014/main" id="{E952BF19-8589-BC8F-D2EC-651825B3468E}"/>
                </a:ext>
              </a:extLst>
            </p:cNvPr>
            <p:cNvGrpSpPr/>
            <p:nvPr/>
          </p:nvGrpSpPr>
          <p:grpSpPr>
            <a:xfrm>
              <a:off x="4975375" y="3223434"/>
              <a:ext cx="673332" cy="673332"/>
              <a:chOff x="0" y="0"/>
              <a:chExt cx="327569" cy="327569"/>
            </a:xfrm>
          </p:grpSpPr>
          <p:sp>
            <p:nvSpPr>
              <p:cNvPr id="155" name="Freeform 79">
                <a:extLst>
                  <a:ext uri="{FF2B5EF4-FFF2-40B4-BE49-F238E27FC236}">
                    <a16:creationId xmlns:a16="http://schemas.microsoft.com/office/drawing/2014/main" id="{07AD8DA6-93C7-D5F2-4D9B-499362E806CB}"/>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56" name="TextBox 80">
                <a:extLst>
                  <a:ext uri="{FF2B5EF4-FFF2-40B4-BE49-F238E27FC236}">
                    <a16:creationId xmlns:a16="http://schemas.microsoft.com/office/drawing/2014/main" id="{5A0563C8-82A0-F818-7681-BE3B562A6725}"/>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0" name="Group 81">
              <a:extLst>
                <a:ext uri="{FF2B5EF4-FFF2-40B4-BE49-F238E27FC236}">
                  <a16:creationId xmlns:a16="http://schemas.microsoft.com/office/drawing/2014/main" id="{DC7A74C2-F0BE-8E64-0829-C497D53DAF7F}"/>
                </a:ext>
              </a:extLst>
            </p:cNvPr>
            <p:cNvGrpSpPr/>
            <p:nvPr/>
          </p:nvGrpSpPr>
          <p:grpSpPr>
            <a:xfrm>
              <a:off x="5626795" y="3223434"/>
              <a:ext cx="673332" cy="673332"/>
              <a:chOff x="0" y="0"/>
              <a:chExt cx="327569" cy="327569"/>
            </a:xfrm>
          </p:grpSpPr>
          <p:sp>
            <p:nvSpPr>
              <p:cNvPr id="153" name="Freeform 82">
                <a:extLst>
                  <a:ext uri="{FF2B5EF4-FFF2-40B4-BE49-F238E27FC236}">
                    <a16:creationId xmlns:a16="http://schemas.microsoft.com/office/drawing/2014/main" id="{58A72090-DECD-FD1A-0973-13CA183789EE}"/>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54" name="TextBox 83">
                <a:extLst>
                  <a:ext uri="{FF2B5EF4-FFF2-40B4-BE49-F238E27FC236}">
                    <a16:creationId xmlns:a16="http://schemas.microsoft.com/office/drawing/2014/main" id="{060CAFA4-3A91-54E4-1DEE-27500ABAD4EA}"/>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1" name="Group 84">
              <a:extLst>
                <a:ext uri="{FF2B5EF4-FFF2-40B4-BE49-F238E27FC236}">
                  <a16:creationId xmlns:a16="http://schemas.microsoft.com/office/drawing/2014/main" id="{07540F1B-6423-9D3E-4B4B-0ADA25CC2C41}"/>
                </a:ext>
              </a:extLst>
            </p:cNvPr>
            <p:cNvGrpSpPr/>
            <p:nvPr/>
          </p:nvGrpSpPr>
          <p:grpSpPr>
            <a:xfrm>
              <a:off x="6270912" y="3223434"/>
              <a:ext cx="673332" cy="673332"/>
              <a:chOff x="0" y="0"/>
              <a:chExt cx="327569" cy="327569"/>
            </a:xfrm>
          </p:grpSpPr>
          <p:sp>
            <p:nvSpPr>
              <p:cNvPr id="151" name="Freeform 85">
                <a:extLst>
                  <a:ext uri="{FF2B5EF4-FFF2-40B4-BE49-F238E27FC236}">
                    <a16:creationId xmlns:a16="http://schemas.microsoft.com/office/drawing/2014/main" id="{909915D3-1EA7-EBB7-A0C9-BF9D70E3CF44}"/>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52" name="TextBox 86">
                <a:extLst>
                  <a:ext uri="{FF2B5EF4-FFF2-40B4-BE49-F238E27FC236}">
                    <a16:creationId xmlns:a16="http://schemas.microsoft.com/office/drawing/2014/main" id="{4DDF0C15-68D9-1AFA-440E-3F06C38732D6}"/>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2" name="Group 87">
              <a:extLst>
                <a:ext uri="{FF2B5EF4-FFF2-40B4-BE49-F238E27FC236}">
                  <a16:creationId xmlns:a16="http://schemas.microsoft.com/office/drawing/2014/main" id="{671540CB-82CB-8C39-FFA4-69A7633A39B0}"/>
                </a:ext>
              </a:extLst>
            </p:cNvPr>
            <p:cNvGrpSpPr/>
            <p:nvPr/>
          </p:nvGrpSpPr>
          <p:grpSpPr>
            <a:xfrm>
              <a:off x="6922332" y="3223434"/>
              <a:ext cx="673332" cy="673332"/>
              <a:chOff x="0" y="0"/>
              <a:chExt cx="327569" cy="327569"/>
            </a:xfrm>
          </p:grpSpPr>
          <p:sp>
            <p:nvSpPr>
              <p:cNvPr id="149" name="Freeform 88">
                <a:extLst>
                  <a:ext uri="{FF2B5EF4-FFF2-40B4-BE49-F238E27FC236}">
                    <a16:creationId xmlns:a16="http://schemas.microsoft.com/office/drawing/2014/main" id="{5697741B-BECC-E782-D1DA-352029D74032}"/>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50" name="TextBox 89">
                <a:extLst>
                  <a:ext uri="{FF2B5EF4-FFF2-40B4-BE49-F238E27FC236}">
                    <a16:creationId xmlns:a16="http://schemas.microsoft.com/office/drawing/2014/main" id="{429BEF18-5DB2-3C93-1F8D-5BA3BA4A9A36}"/>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3" name="Group 90">
              <a:extLst>
                <a:ext uri="{FF2B5EF4-FFF2-40B4-BE49-F238E27FC236}">
                  <a16:creationId xmlns:a16="http://schemas.microsoft.com/office/drawing/2014/main" id="{0789727D-1B42-35AE-A207-4AEE8A197FA1}"/>
                </a:ext>
              </a:extLst>
            </p:cNvPr>
            <p:cNvGrpSpPr/>
            <p:nvPr/>
          </p:nvGrpSpPr>
          <p:grpSpPr>
            <a:xfrm>
              <a:off x="7557000" y="3223434"/>
              <a:ext cx="673332" cy="673332"/>
              <a:chOff x="0" y="0"/>
              <a:chExt cx="327569" cy="327569"/>
            </a:xfrm>
          </p:grpSpPr>
          <p:sp>
            <p:nvSpPr>
              <p:cNvPr id="147" name="Freeform 91">
                <a:extLst>
                  <a:ext uri="{FF2B5EF4-FFF2-40B4-BE49-F238E27FC236}">
                    <a16:creationId xmlns:a16="http://schemas.microsoft.com/office/drawing/2014/main" id="{3B121B2C-A198-D83A-D310-07C32DB0553C}"/>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48" name="TextBox 92">
                <a:extLst>
                  <a:ext uri="{FF2B5EF4-FFF2-40B4-BE49-F238E27FC236}">
                    <a16:creationId xmlns:a16="http://schemas.microsoft.com/office/drawing/2014/main" id="{A8A661B0-6685-340D-6382-823C16890395}"/>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4" name="Group 93">
              <a:extLst>
                <a:ext uri="{FF2B5EF4-FFF2-40B4-BE49-F238E27FC236}">
                  <a16:creationId xmlns:a16="http://schemas.microsoft.com/office/drawing/2014/main" id="{620536E9-9080-D5E4-D76E-11EA36498191}"/>
                </a:ext>
              </a:extLst>
            </p:cNvPr>
            <p:cNvGrpSpPr/>
            <p:nvPr/>
          </p:nvGrpSpPr>
          <p:grpSpPr>
            <a:xfrm>
              <a:off x="8208420" y="3223434"/>
              <a:ext cx="673332" cy="673332"/>
              <a:chOff x="0" y="0"/>
              <a:chExt cx="327569" cy="327569"/>
            </a:xfrm>
          </p:grpSpPr>
          <p:sp>
            <p:nvSpPr>
              <p:cNvPr id="145" name="Freeform 94">
                <a:extLst>
                  <a:ext uri="{FF2B5EF4-FFF2-40B4-BE49-F238E27FC236}">
                    <a16:creationId xmlns:a16="http://schemas.microsoft.com/office/drawing/2014/main" id="{C773A2E2-4924-0C17-F3B7-56538FC90C59}"/>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46" name="TextBox 95">
                <a:extLst>
                  <a:ext uri="{FF2B5EF4-FFF2-40B4-BE49-F238E27FC236}">
                    <a16:creationId xmlns:a16="http://schemas.microsoft.com/office/drawing/2014/main" id="{3EF750A3-CE3D-5F54-BDCB-86023ACB7801}"/>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5" name="Group 96">
              <a:extLst>
                <a:ext uri="{FF2B5EF4-FFF2-40B4-BE49-F238E27FC236}">
                  <a16:creationId xmlns:a16="http://schemas.microsoft.com/office/drawing/2014/main" id="{B55BD8D2-E6B3-F1D0-340D-3E82A1932C7F}"/>
                </a:ext>
              </a:extLst>
            </p:cNvPr>
            <p:cNvGrpSpPr/>
            <p:nvPr/>
          </p:nvGrpSpPr>
          <p:grpSpPr>
            <a:xfrm>
              <a:off x="8852537" y="3223434"/>
              <a:ext cx="673332" cy="673332"/>
              <a:chOff x="0" y="0"/>
              <a:chExt cx="327569" cy="327569"/>
            </a:xfrm>
          </p:grpSpPr>
          <p:sp>
            <p:nvSpPr>
              <p:cNvPr id="143" name="Freeform 97">
                <a:extLst>
                  <a:ext uri="{FF2B5EF4-FFF2-40B4-BE49-F238E27FC236}">
                    <a16:creationId xmlns:a16="http://schemas.microsoft.com/office/drawing/2014/main" id="{8EC13146-3D64-5D33-0B8E-40B4911AE744}"/>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44" name="TextBox 98">
                <a:extLst>
                  <a:ext uri="{FF2B5EF4-FFF2-40B4-BE49-F238E27FC236}">
                    <a16:creationId xmlns:a16="http://schemas.microsoft.com/office/drawing/2014/main" id="{04199840-176D-DCD7-D413-328D51F0D2E7}"/>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6" name="Group 99">
              <a:extLst>
                <a:ext uri="{FF2B5EF4-FFF2-40B4-BE49-F238E27FC236}">
                  <a16:creationId xmlns:a16="http://schemas.microsoft.com/office/drawing/2014/main" id="{5BB3C573-4C82-BD79-3FEF-FA93DACC609B}"/>
                </a:ext>
              </a:extLst>
            </p:cNvPr>
            <p:cNvGrpSpPr/>
            <p:nvPr/>
          </p:nvGrpSpPr>
          <p:grpSpPr>
            <a:xfrm>
              <a:off x="9503957" y="3223434"/>
              <a:ext cx="673332" cy="673332"/>
              <a:chOff x="0" y="0"/>
              <a:chExt cx="327569" cy="327569"/>
            </a:xfrm>
          </p:grpSpPr>
          <p:sp>
            <p:nvSpPr>
              <p:cNvPr id="141" name="Freeform 100">
                <a:extLst>
                  <a:ext uri="{FF2B5EF4-FFF2-40B4-BE49-F238E27FC236}">
                    <a16:creationId xmlns:a16="http://schemas.microsoft.com/office/drawing/2014/main" id="{7EEB54EB-D41A-8203-DC1B-05E3FB1097B7}"/>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42" name="TextBox 101">
                <a:extLst>
                  <a:ext uri="{FF2B5EF4-FFF2-40B4-BE49-F238E27FC236}">
                    <a16:creationId xmlns:a16="http://schemas.microsoft.com/office/drawing/2014/main" id="{414118DE-9EC7-FE87-8D71-67D6A9A07ABB}"/>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7" name="Group 102">
              <a:extLst>
                <a:ext uri="{FF2B5EF4-FFF2-40B4-BE49-F238E27FC236}">
                  <a16:creationId xmlns:a16="http://schemas.microsoft.com/office/drawing/2014/main" id="{2A65E58B-AB9D-3E2B-3069-0EB97A999989}"/>
                </a:ext>
              </a:extLst>
            </p:cNvPr>
            <p:cNvGrpSpPr/>
            <p:nvPr/>
          </p:nvGrpSpPr>
          <p:grpSpPr>
            <a:xfrm>
              <a:off x="4975375" y="3847900"/>
              <a:ext cx="673332" cy="673332"/>
              <a:chOff x="0" y="0"/>
              <a:chExt cx="327569" cy="327569"/>
            </a:xfrm>
          </p:grpSpPr>
          <p:sp>
            <p:nvSpPr>
              <p:cNvPr id="139" name="Freeform 103">
                <a:extLst>
                  <a:ext uri="{FF2B5EF4-FFF2-40B4-BE49-F238E27FC236}">
                    <a16:creationId xmlns:a16="http://schemas.microsoft.com/office/drawing/2014/main" id="{E78CBD34-9C20-CAB8-E336-CE4CFFDA4E51}"/>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40" name="TextBox 104">
                <a:extLst>
                  <a:ext uri="{FF2B5EF4-FFF2-40B4-BE49-F238E27FC236}">
                    <a16:creationId xmlns:a16="http://schemas.microsoft.com/office/drawing/2014/main" id="{96ECCF3D-CACB-EE84-D444-BB1198363C04}"/>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8" name="Group 105">
              <a:extLst>
                <a:ext uri="{FF2B5EF4-FFF2-40B4-BE49-F238E27FC236}">
                  <a16:creationId xmlns:a16="http://schemas.microsoft.com/office/drawing/2014/main" id="{DD264AF3-59B1-DDB2-1B14-08E7C2814603}"/>
                </a:ext>
              </a:extLst>
            </p:cNvPr>
            <p:cNvGrpSpPr/>
            <p:nvPr/>
          </p:nvGrpSpPr>
          <p:grpSpPr>
            <a:xfrm>
              <a:off x="5626795" y="3847900"/>
              <a:ext cx="673332" cy="673332"/>
              <a:chOff x="0" y="0"/>
              <a:chExt cx="327569" cy="327569"/>
            </a:xfrm>
          </p:grpSpPr>
          <p:sp>
            <p:nvSpPr>
              <p:cNvPr id="137" name="Freeform 106">
                <a:extLst>
                  <a:ext uri="{FF2B5EF4-FFF2-40B4-BE49-F238E27FC236}">
                    <a16:creationId xmlns:a16="http://schemas.microsoft.com/office/drawing/2014/main" id="{6E4E38D1-50A3-E1E0-949B-DEBE1A138E75}"/>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38" name="TextBox 107">
                <a:extLst>
                  <a:ext uri="{FF2B5EF4-FFF2-40B4-BE49-F238E27FC236}">
                    <a16:creationId xmlns:a16="http://schemas.microsoft.com/office/drawing/2014/main" id="{399E24BB-1E72-ACDA-92F2-0F6754AB22C3}"/>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19" name="Group 108">
              <a:extLst>
                <a:ext uri="{FF2B5EF4-FFF2-40B4-BE49-F238E27FC236}">
                  <a16:creationId xmlns:a16="http://schemas.microsoft.com/office/drawing/2014/main" id="{73818515-E67D-613F-5097-C7F16F23BF44}"/>
                </a:ext>
              </a:extLst>
            </p:cNvPr>
            <p:cNvGrpSpPr/>
            <p:nvPr/>
          </p:nvGrpSpPr>
          <p:grpSpPr>
            <a:xfrm>
              <a:off x="6270912" y="3847900"/>
              <a:ext cx="673332" cy="673332"/>
              <a:chOff x="0" y="0"/>
              <a:chExt cx="327569" cy="327569"/>
            </a:xfrm>
          </p:grpSpPr>
          <p:sp>
            <p:nvSpPr>
              <p:cNvPr id="135" name="Freeform 109">
                <a:extLst>
                  <a:ext uri="{FF2B5EF4-FFF2-40B4-BE49-F238E27FC236}">
                    <a16:creationId xmlns:a16="http://schemas.microsoft.com/office/drawing/2014/main" id="{4B58023E-4E06-7EE0-D495-8CED4FCFAF83}"/>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36" name="TextBox 110">
                <a:extLst>
                  <a:ext uri="{FF2B5EF4-FFF2-40B4-BE49-F238E27FC236}">
                    <a16:creationId xmlns:a16="http://schemas.microsoft.com/office/drawing/2014/main" id="{782CC16B-FDAC-6749-92FE-B7D479784748}"/>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20" name="Group 111">
              <a:extLst>
                <a:ext uri="{FF2B5EF4-FFF2-40B4-BE49-F238E27FC236}">
                  <a16:creationId xmlns:a16="http://schemas.microsoft.com/office/drawing/2014/main" id="{DB9FA6F6-D530-7519-DB66-847EA8BD00CE}"/>
                </a:ext>
              </a:extLst>
            </p:cNvPr>
            <p:cNvGrpSpPr/>
            <p:nvPr/>
          </p:nvGrpSpPr>
          <p:grpSpPr>
            <a:xfrm>
              <a:off x="6922332" y="3847900"/>
              <a:ext cx="673332" cy="673332"/>
              <a:chOff x="0" y="0"/>
              <a:chExt cx="327569" cy="327569"/>
            </a:xfrm>
          </p:grpSpPr>
          <p:sp>
            <p:nvSpPr>
              <p:cNvPr id="133" name="Freeform 112">
                <a:extLst>
                  <a:ext uri="{FF2B5EF4-FFF2-40B4-BE49-F238E27FC236}">
                    <a16:creationId xmlns:a16="http://schemas.microsoft.com/office/drawing/2014/main" id="{BAAD0159-23FE-1C88-D824-1BA33492B4EB}"/>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34" name="TextBox 113">
                <a:extLst>
                  <a:ext uri="{FF2B5EF4-FFF2-40B4-BE49-F238E27FC236}">
                    <a16:creationId xmlns:a16="http://schemas.microsoft.com/office/drawing/2014/main" id="{ACB44B3E-6621-C12B-C586-E32975345F37}"/>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21" name="Group 114">
              <a:extLst>
                <a:ext uri="{FF2B5EF4-FFF2-40B4-BE49-F238E27FC236}">
                  <a16:creationId xmlns:a16="http://schemas.microsoft.com/office/drawing/2014/main" id="{4AFD060D-1D9C-BDFD-280E-F1BC393F82AC}"/>
                </a:ext>
              </a:extLst>
            </p:cNvPr>
            <p:cNvGrpSpPr/>
            <p:nvPr/>
          </p:nvGrpSpPr>
          <p:grpSpPr>
            <a:xfrm>
              <a:off x="7557000" y="3847900"/>
              <a:ext cx="673332" cy="673332"/>
              <a:chOff x="0" y="0"/>
              <a:chExt cx="327569" cy="327569"/>
            </a:xfrm>
          </p:grpSpPr>
          <p:sp>
            <p:nvSpPr>
              <p:cNvPr id="131" name="Freeform 115">
                <a:extLst>
                  <a:ext uri="{FF2B5EF4-FFF2-40B4-BE49-F238E27FC236}">
                    <a16:creationId xmlns:a16="http://schemas.microsoft.com/office/drawing/2014/main" id="{F2EE3F11-BD74-11EC-6157-F085076F63C5}"/>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32" name="TextBox 116">
                <a:extLst>
                  <a:ext uri="{FF2B5EF4-FFF2-40B4-BE49-F238E27FC236}">
                    <a16:creationId xmlns:a16="http://schemas.microsoft.com/office/drawing/2014/main" id="{46AB764C-671D-F4A2-EFA3-50EF37FB4564}"/>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22" name="Group 117">
              <a:extLst>
                <a:ext uri="{FF2B5EF4-FFF2-40B4-BE49-F238E27FC236}">
                  <a16:creationId xmlns:a16="http://schemas.microsoft.com/office/drawing/2014/main" id="{3EFF8000-A33D-1CDE-020F-66F72B8B7BF4}"/>
                </a:ext>
              </a:extLst>
            </p:cNvPr>
            <p:cNvGrpSpPr/>
            <p:nvPr/>
          </p:nvGrpSpPr>
          <p:grpSpPr>
            <a:xfrm>
              <a:off x="8208420" y="3847900"/>
              <a:ext cx="673332" cy="673332"/>
              <a:chOff x="0" y="0"/>
              <a:chExt cx="327569" cy="327569"/>
            </a:xfrm>
          </p:grpSpPr>
          <p:sp>
            <p:nvSpPr>
              <p:cNvPr id="129" name="Freeform 118">
                <a:extLst>
                  <a:ext uri="{FF2B5EF4-FFF2-40B4-BE49-F238E27FC236}">
                    <a16:creationId xmlns:a16="http://schemas.microsoft.com/office/drawing/2014/main" id="{A795EF24-9E14-C9A7-B61C-CC251EBA0291}"/>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30" name="TextBox 119">
                <a:extLst>
                  <a:ext uri="{FF2B5EF4-FFF2-40B4-BE49-F238E27FC236}">
                    <a16:creationId xmlns:a16="http://schemas.microsoft.com/office/drawing/2014/main" id="{BB9DFE76-FB65-6DBE-4C11-348376C0AC88}"/>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23" name="Group 120">
              <a:extLst>
                <a:ext uri="{FF2B5EF4-FFF2-40B4-BE49-F238E27FC236}">
                  <a16:creationId xmlns:a16="http://schemas.microsoft.com/office/drawing/2014/main" id="{B7D9410A-5E5F-A5A3-D275-255137216B31}"/>
                </a:ext>
              </a:extLst>
            </p:cNvPr>
            <p:cNvGrpSpPr/>
            <p:nvPr/>
          </p:nvGrpSpPr>
          <p:grpSpPr>
            <a:xfrm>
              <a:off x="8852537" y="3847900"/>
              <a:ext cx="673332" cy="673332"/>
              <a:chOff x="0" y="0"/>
              <a:chExt cx="327569" cy="327569"/>
            </a:xfrm>
          </p:grpSpPr>
          <p:sp>
            <p:nvSpPr>
              <p:cNvPr id="127" name="Freeform 121">
                <a:extLst>
                  <a:ext uri="{FF2B5EF4-FFF2-40B4-BE49-F238E27FC236}">
                    <a16:creationId xmlns:a16="http://schemas.microsoft.com/office/drawing/2014/main" id="{62ACC657-BEDE-C7BE-0C2D-357C54618784}"/>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28" name="TextBox 122">
                <a:extLst>
                  <a:ext uri="{FF2B5EF4-FFF2-40B4-BE49-F238E27FC236}">
                    <a16:creationId xmlns:a16="http://schemas.microsoft.com/office/drawing/2014/main" id="{FCE2F211-6260-4836-8D56-D24B4BDB1F9B}"/>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nvGrpSpPr>
            <p:cNvPr id="124" name="Group 123">
              <a:extLst>
                <a:ext uri="{FF2B5EF4-FFF2-40B4-BE49-F238E27FC236}">
                  <a16:creationId xmlns:a16="http://schemas.microsoft.com/office/drawing/2014/main" id="{9F25626F-8787-3C85-3D6F-392F0B880067}"/>
                </a:ext>
              </a:extLst>
            </p:cNvPr>
            <p:cNvGrpSpPr/>
            <p:nvPr/>
          </p:nvGrpSpPr>
          <p:grpSpPr>
            <a:xfrm>
              <a:off x="9503957" y="3847900"/>
              <a:ext cx="673332" cy="673332"/>
              <a:chOff x="0" y="0"/>
              <a:chExt cx="327569" cy="327569"/>
            </a:xfrm>
          </p:grpSpPr>
          <p:sp>
            <p:nvSpPr>
              <p:cNvPr id="125" name="Freeform 124">
                <a:extLst>
                  <a:ext uri="{FF2B5EF4-FFF2-40B4-BE49-F238E27FC236}">
                    <a16:creationId xmlns:a16="http://schemas.microsoft.com/office/drawing/2014/main" id="{46598685-6D6F-726B-7E21-B7888D060D58}"/>
                  </a:ext>
                </a:extLst>
              </p:cNvPr>
              <p:cNvSpPr/>
              <p:nvPr/>
            </p:nvSpPr>
            <p:spPr>
              <a:xfrm>
                <a:off x="0" y="0"/>
                <a:ext cx="327569" cy="327569"/>
              </a:xfrm>
              <a:custGeom>
                <a:avLst/>
                <a:gdLst/>
                <a:ahLst/>
                <a:cxnLst/>
                <a:rect l="l" t="t" r="r" b="b"/>
                <a:pathLst>
                  <a:path w="327569" h="327569">
                    <a:moveTo>
                      <a:pt x="0" y="0"/>
                    </a:moveTo>
                    <a:lnTo>
                      <a:pt x="327569" y="0"/>
                    </a:lnTo>
                    <a:lnTo>
                      <a:pt x="327569" y="327569"/>
                    </a:lnTo>
                    <a:lnTo>
                      <a:pt x="0" y="327569"/>
                    </a:lnTo>
                    <a:close/>
                  </a:path>
                </a:pathLst>
              </a:custGeom>
              <a:solidFill>
                <a:srgbClr val="CBEDFD"/>
              </a:solidFill>
              <a:ln w="38100" cap="sq">
                <a:solidFill>
                  <a:srgbClr val="000000"/>
                </a:solidFill>
                <a:prstDash val="solid"/>
                <a:miter/>
              </a:ln>
            </p:spPr>
            <p:txBody>
              <a:bodyPr/>
              <a:lstStyle/>
              <a:p>
                <a:endParaRPr lang="en-AU"/>
              </a:p>
            </p:txBody>
          </p:sp>
          <p:sp>
            <p:nvSpPr>
              <p:cNvPr id="126" name="TextBox 125">
                <a:extLst>
                  <a:ext uri="{FF2B5EF4-FFF2-40B4-BE49-F238E27FC236}">
                    <a16:creationId xmlns:a16="http://schemas.microsoft.com/office/drawing/2014/main" id="{DB22DC2B-F989-F179-BCBF-809E4CA7A124}"/>
                  </a:ext>
                </a:extLst>
              </p:cNvPr>
              <p:cNvSpPr txBox="1"/>
              <p:nvPr/>
            </p:nvSpPr>
            <p:spPr>
              <a:xfrm>
                <a:off x="0" y="-28575"/>
                <a:ext cx="327569" cy="356144"/>
              </a:xfrm>
              <a:prstGeom prst="rect">
                <a:avLst/>
              </a:prstGeom>
            </p:spPr>
            <p:txBody>
              <a:bodyPr lIns="37422" tIns="37422" rIns="37422" bIns="37422" rtlCol="0" anchor="ctr"/>
              <a:lstStyle/>
              <a:p>
                <a:pPr algn="ctr">
                  <a:lnSpc>
                    <a:spcPts val="1960"/>
                  </a:lnSpc>
                </a:pPr>
                <a:endParaRPr/>
              </a:p>
            </p:txBody>
          </p:sp>
        </p:grpSp>
      </p:grpSp>
    </p:spTree>
    <p:extLst>
      <p:ext uri="{BB962C8B-B14F-4D97-AF65-F5344CB8AC3E}">
        <p14:creationId xmlns:p14="http://schemas.microsoft.com/office/powerpoint/2010/main" val="481695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(19) </a:t>
            </a:r>
          </a:p>
        </p:txBody>
      </p:sp>
      <p:pic>
        <p:nvPicPr>
          <p:cNvPr id="4" name="Picture 3" descr="image of a clipboard with a pencil recording short answer responses">
            <a:extLst>
              <a:ext uri="{FF2B5EF4-FFF2-40B4-BE49-F238E27FC236}">
                <a16:creationId xmlns:a16="http://schemas.microsoft.com/office/drawing/2014/main" id="{E1E55483-DDAD-9F28-32B5-EE0C91CE4FD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Picture Placeholder 10">
            <a:extLst>
              <a:ext uri="{FF2B5EF4-FFF2-40B4-BE49-F238E27FC236}">
                <a16:creationId xmlns:a16="http://schemas.microsoft.com/office/drawing/2014/main" id="{352E0507-6E6B-EB8A-88E2-35DDFC075B74}"/>
              </a:ext>
            </a:extLst>
          </p:cNvPr>
          <p:cNvSpPr txBox="1">
            <a:spLocks/>
          </p:cNvSpPr>
          <p:nvPr/>
        </p:nvSpPr>
        <p:spPr>
          <a:xfrm>
            <a:off x="146756" y="1760593"/>
            <a:ext cx="11930855" cy="333681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dirty="0">
                <a:latin typeface="Arial"/>
                <a:cs typeface="Arial"/>
              </a:rPr>
              <a:t>Write the </a:t>
            </a:r>
            <a:r>
              <a:rPr lang="en-AU" sz="4000" b="1" dirty="0">
                <a:latin typeface="Arial"/>
                <a:cs typeface="Arial"/>
              </a:rPr>
              <a:t>missing multiples</a:t>
            </a:r>
            <a:r>
              <a:rPr lang="en-AU" sz="4000" dirty="0">
                <a:latin typeface="Arial"/>
                <a:cs typeface="Arial"/>
              </a:rPr>
              <a:t> for each </a:t>
            </a:r>
            <a:r>
              <a:rPr lang="en-AU" sz="4000" b="1" dirty="0">
                <a:latin typeface="Arial"/>
                <a:cs typeface="Arial"/>
              </a:rPr>
              <a:t>sequence:</a:t>
            </a:r>
          </a:p>
          <a:p>
            <a:pPr algn="ctr"/>
            <a:r>
              <a:rPr lang="en-US" sz="4400" dirty="0">
                <a:latin typeface="Arial"/>
                <a:cs typeface="Arial"/>
              </a:rPr>
              <a:t>9, __ , 15, 18, __ , 24</a:t>
            </a:r>
          </a:p>
          <a:p>
            <a:pPr algn="ctr"/>
            <a:r>
              <a:rPr lang="en-US" sz="4400" dirty="0">
                <a:latin typeface="Arial"/>
                <a:cs typeface="Arial"/>
              </a:rPr>
              <a:t>12, __ , 24, 30, __ , 42</a:t>
            </a:r>
          </a:p>
          <a:p>
            <a:pPr algn="ctr"/>
            <a:r>
              <a:rPr lang="en-US" sz="4400" dirty="0">
                <a:latin typeface="Arial"/>
                <a:cs typeface="Arial"/>
              </a:rPr>
              <a:t>__ , 24, __ , 40, __ , 56</a:t>
            </a:r>
          </a:p>
          <a:p>
            <a:pPr algn="ctr"/>
            <a:endParaRPr lang="en-US" sz="4400" dirty="0">
              <a:latin typeface="Arial"/>
              <a:cs typeface="Arial"/>
            </a:endParaRPr>
          </a:p>
          <a:p>
            <a:pPr algn="ctr"/>
            <a:endParaRPr lang="en-US" sz="4400" dirty="0">
              <a:latin typeface="Arial"/>
              <a:cs typeface="Arial"/>
            </a:endParaRPr>
          </a:p>
        </p:txBody>
      </p:sp>
    </p:spTree>
    <p:extLst>
      <p:ext uri="{BB962C8B-B14F-4D97-AF65-F5344CB8AC3E}">
        <p14:creationId xmlns:p14="http://schemas.microsoft.com/office/powerpoint/2010/main" val="3464471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(20)</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273160" y="839248"/>
                <a:ext cx="11210840" cy="5582500"/>
              </a:xfrm>
            </p:spPr>
            <p:txBody>
              <a:bodyPr/>
              <a:lstStyle/>
              <a:p>
                <a:pPr algn="ctr"/>
                <a:r>
                  <a:rPr lang="en-US" sz="4400" dirty="0">
                    <a:latin typeface="Arial"/>
                    <a:cs typeface="Arial"/>
                  </a:rPr>
                  <a:t>How many grams in the following:</a:t>
                </a:r>
              </a:p>
              <a:p>
                <a:pPr algn="ctr"/>
                <a:r>
                  <a:rPr lang="en-US" sz="4400" dirty="0">
                    <a:latin typeface="Arial"/>
                    <a:cs typeface="Arial"/>
                  </a:rPr>
                  <a:t> </a:t>
                </a:r>
                <a14:m>
                  <m:oMath xmlns:m="http://schemas.openxmlformats.org/officeDocument/2006/math">
                    <m:f>
                      <m:fPr>
                        <m:ctrlPr>
                          <a:rPr lang="en-AU" sz="4400" i="1">
                            <a:latin typeface="Cambria Math" panose="02040503050406030204" pitchFamily="18" charset="0"/>
                            <a:cs typeface="Arial"/>
                          </a:rPr>
                        </m:ctrlPr>
                      </m:fPr>
                      <m:num>
                        <m:r>
                          <a:rPr lang="en-AU" sz="4400" i="1">
                            <a:latin typeface="Cambria Math" panose="02040503050406030204" pitchFamily="18" charset="0"/>
                            <a:cs typeface="Arial"/>
                          </a:rPr>
                          <m:t>1</m:t>
                        </m:r>
                      </m:num>
                      <m:den>
                        <m:r>
                          <a:rPr lang="en-AU" sz="4400" i="1">
                            <a:latin typeface="Cambria Math" panose="02040503050406030204" pitchFamily="18" charset="0"/>
                            <a:cs typeface="Arial"/>
                          </a:rPr>
                          <m:t>2</m:t>
                        </m:r>
                      </m:den>
                    </m:f>
                  </m:oMath>
                </a14:m>
                <a:r>
                  <a:rPr lang="en-US" sz="4400" dirty="0">
                    <a:latin typeface="Arial"/>
                    <a:cs typeface="Arial"/>
                  </a:rPr>
                  <a:t> kg </a:t>
                </a:r>
                <a:r>
                  <a:rPr lang="en-AU" sz="4400" dirty="0">
                    <a:latin typeface="Arial"/>
                    <a:cs typeface="Arial"/>
                  </a:rPr>
                  <a:t>=</a:t>
                </a:r>
              </a:p>
              <a:p>
                <a:pPr algn="ctr"/>
                <a:r>
                  <a:rPr lang="en-US" sz="4400" dirty="0">
                    <a:latin typeface="Arial"/>
                    <a:cs typeface="Arial"/>
                  </a:rPr>
                  <a:t> </a:t>
                </a:r>
                <a14:m>
                  <m:oMath xmlns:m="http://schemas.openxmlformats.org/officeDocument/2006/math">
                    <m:f>
                      <m:fPr>
                        <m:ctrlPr>
                          <a:rPr lang="en-AU" sz="4400" i="1">
                            <a:latin typeface="Cambria Math" panose="02040503050406030204" pitchFamily="18" charset="0"/>
                            <a:cs typeface="Arial"/>
                          </a:rPr>
                        </m:ctrlPr>
                      </m:fPr>
                      <m:num>
                        <m:r>
                          <a:rPr lang="en-AU" sz="4400" i="1">
                            <a:latin typeface="Cambria Math" panose="02040503050406030204" pitchFamily="18" charset="0"/>
                            <a:cs typeface="Arial"/>
                          </a:rPr>
                          <m:t>1</m:t>
                        </m:r>
                      </m:num>
                      <m:den>
                        <m:r>
                          <a:rPr lang="en-AU" sz="4400" b="0" i="1" smtClean="0">
                            <a:latin typeface="Cambria Math" panose="02040503050406030204" pitchFamily="18" charset="0"/>
                            <a:cs typeface="Arial"/>
                          </a:rPr>
                          <m:t>4</m:t>
                        </m:r>
                      </m:den>
                    </m:f>
                  </m:oMath>
                </a14:m>
                <a:r>
                  <a:rPr lang="en-US" sz="4400" dirty="0">
                    <a:latin typeface="Arial"/>
                    <a:cs typeface="Arial"/>
                  </a:rPr>
                  <a:t> kg </a:t>
                </a:r>
                <a:r>
                  <a:rPr lang="en-AU" sz="4400" dirty="0">
                    <a:latin typeface="Arial"/>
                    <a:cs typeface="Arial"/>
                  </a:rPr>
                  <a:t>=</a:t>
                </a:r>
              </a:p>
              <a:p>
                <a:pPr algn="ctr"/>
                <a:r>
                  <a:rPr lang="en-US" sz="4400" dirty="0">
                    <a:latin typeface="Arial"/>
                    <a:cs typeface="Arial"/>
                  </a:rPr>
                  <a:t> </a:t>
                </a:r>
                <a14:m>
                  <m:oMath xmlns:m="http://schemas.openxmlformats.org/officeDocument/2006/math">
                    <m:f>
                      <m:fPr>
                        <m:ctrlPr>
                          <a:rPr lang="en-AU" sz="4400" i="1">
                            <a:latin typeface="Cambria Math" panose="02040503050406030204" pitchFamily="18" charset="0"/>
                            <a:cs typeface="Arial"/>
                          </a:rPr>
                        </m:ctrlPr>
                      </m:fPr>
                      <m:num>
                        <m:r>
                          <a:rPr lang="en-AU" sz="4400" b="0" i="1" smtClean="0">
                            <a:latin typeface="Cambria Math" panose="02040503050406030204" pitchFamily="18" charset="0"/>
                            <a:cs typeface="Arial"/>
                          </a:rPr>
                          <m:t>3</m:t>
                        </m:r>
                      </m:num>
                      <m:den>
                        <m:r>
                          <a:rPr lang="en-AU" sz="4400" b="0" i="1" smtClean="0">
                            <a:latin typeface="Cambria Math" panose="02040503050406030204" pitchFamily="18" charset="0"/>
                            <a:cs typeface="Arial"/>
                          </a:rPr>
                          <m:t>4</m:t>
                        </m:r>
                      </m:den>
                    </m:f>
                  </m:oMath>
                </a14:m>
                <a:r>
                  <a:rPr lang="en-US" sz="4400" dirty="0">
                    <a:latin typeface="Arial"/>
                    <a:cs typeface="Arial"/>
                  </a:rPr>
                  <a:t> kg </a:t>
                </a:r>
                <a:r>
                  <a:rPr lang="en-AU" sz="4400" dirty="0">
                    <a:latin typeface="Arial"/>
                    <a:cs typeface="Arial"/>
                  </a:rPr>
                  <a:t>=</a:t>
                </a:r>
              </a:p>
              <a:p>
                <a:pPr algn="ctr"/>
                <a:endParaRPr lang="en-AU" sz="4400" dirty="0">
                  <a:latin typeface="Arial"/>
                  <a:cs typeface="Arial"/>
                </a:endParaRPr>
              </a:p>
              <a:p>
                <a:pPr algn="ctr"/>
                <a:endParaRPr lang="en-US" sz="4400" dirty="0">
                  <a:latin typeface="Arial"/>
                  <a:cs typeface="Arial"/>
                </a:endParaRPr>
              </a:p>
              <a:p>
                <a:pPr algn="ctr"/>
                <a:r>
                  <a:rPr lang="en-US" sz="4400" dirty="0">
                    <a:latin typeface="Arial"/>
                    <a:cs typeface="Arial"/>
                  </a:rPr>
                  <a:t>.</a:t>
                </a:r>
                <a:br>
                  <a:rPr lang="en-US" sz="4400" dirty="0">
                    <a:latin typeface="Arial"/>
                    <a:cs typeface="Arial"/>
                  </a:rPr>
                </a:br>
                <a:endParaRPr lang="en-US" sz="4400" dirty="0">
                  <a:latin typeface="Arial"/>
                  <a:cs typeface="Arial"/>
                </a:endParaRPr>
              </a:p>
              <a:p>
                <a:pPr algn="ctr"/>
                <a:endParaRPr lang="en-US" dirty="0"/>
              </a:p>
              <a:p>
                <a:endParaRPr lang="en-US" dirty="0">
                  <a:latin typeface="Arial"/>
                  <a:cs typeface="Arial"/>
                </a:endParaRPr>
              </a:p>
            </p:txBody>
          </p:sp>
        </mc:Choice>
        <mc:Fallback xmlns="">
          <p:sp>
            <p:nvSpPr>
              <p:cNvPr id="11" name="Picture Placeholder 10">
                <a:extLst>
                  <a:ext uri="{FF2B5EF4-FFF2-40B4-BE49-F238E27FC236}">
                    <a16:creationId xmlns:a16="http://schemas.microsoft.com/office/drawing/2014/main" id="{96CD0A12-6C4E-2A9C-E016-8C9F82325D04}"/>
                  </a:ext>
                </a:extLst>
              </p:cNvPr>
              <p:cNvSpPr>
                <a:spLocks noGrp="1" noRot="1" noChangeAspect="1" noMove="1" noResize="1" noEditPoints="1" noAdjustHandles="1" noChangeArrowheads="1" noChangeShapeType="1" noTextEdit="1"/>
              </p:cNvSpPr>
              <p:nvPr>
                <p:ph type="pic" sz="quarter" idx="21"/>
              </p:nvPr>
            </p:nvSpPr>
            <p:spPr>
              <a:xfrm>
                <a:off x="273160" y="839248"/>
                <a:ext cx="11210840" cy="5582500"/>
              </a:xfrm>
              <a:blipFill>
                <a:blip r:embed="rId3"/>
                <a:stretch>
                  <a:fillRect b="-68634"/>
                </a:stretch>
              </a:blipFill>
            </p:spPr>
            <p:txBody>
              <a:bodyPr/>
              <a:lstStyle/>
              <a:p>
                <a:r>
                  <a:rPr lang="en-AU">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55FD276A-C397-9187-758E-5683EDE3430B}"/>
              </a:ext>
            </a:extLst>
          </p:cNvPr>
          <p:cNvPicPr>
            <a:picLocks noChangeAspect="1"/>
          </p:cNvPicPr>
          <p:nvPr/>
        </p:nvPicPr>
        <p:blipFill>
          <a:blip r:embed="rId4"/>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dirty="0">
                <a:latin typeface="Arial"/>
                <a:cs typeface="Arial"/>
              </a:rPr>
              <a:t>Activity 5 – role of zero – largest number</a:t>
            </a:r>
            <a:endParaRPr lang="en-US" dirty="0"/>
          </a:p>
        </p:txBody>
      </p:sp>
      <p:pic>
        <p:nvPicPr>
          <p:cNvPr id="5" name="Picture 4" descr="image of a head with cogs turning inside">
            <a:extLst>
              <a:ext uri="{FF2B5EF4-FFF2-40B4-BE49-F238E27FC236}">
                <a16:creationId xmlns:a16="http://schemas.microsoft.com/office/drawing/2014/main" id="{965CA08C-8F43-155A-0F74-66A54B696D69}"/>
              </a:ext>
            </a:extLst>
          </p:cNvPr>
          <p:cNvPicPr>
            <a:picLocks noChangeAspect="1"/>
          </p:cNvPicPr>
          <p:nvPr/>
        </p:nvPicPr>
        <p:blipFill>
          <a:blip r:embed="rId3"/>
          <a:stretch>
            <a:fillRect/>
          </a:stretch>
        </p:blipFill>
        <p:spPr>
          <a:xfrm>
            <a:off x="11107003" y="240894"/>
            <a:ext cx="720000" cy="856364"/>
          </a:xfrm>
          <a:prstGeom prst="rect">
            <a:avLst/>
          </a:prstGeom>
          <a:ln>
            <a:noFill/>
          </a:ln>
        </p:spPr>
      </p:pic>
      <p:sp>
        <p:nvSpPr>
          <p:cNvPr id="6" name="TextBox 5">
            <a:extLst>
              <a:ext uri="{FF2B5EF4-FFF2-40B4-BE49-F238E27FC236}">
                <a16:creationId xmlns:a16="http://schemas.microsoft.com/office/drawing/2014/main" id="{4C56806C-4B8C-52AF-C6DE-A8EF74A69FED}"/>
              </a:ext>
            </a:extLst>
          </p:cNvPr>
          <p:cNvSpPr txBox="1"/>
          <p:nvPr/>
        </p:nvSpPr>
        <p:spPr>
          <a:xfrm>
            <a:off x="348001" y="905601"/>
            <a:ext cx="7983200" cy="5575309"/>
          </a:xfrm>
          <a:prstGeom prst="rect">
            <a:avLst/>
          </a:prstGeom>
          <a:noFill/>
        </p:spPr>
        <p:txBody>
          <a:bodyPr wrap="square">
            <a:spAutoFit/>
          </a:bodyPr>
          <a:lstStyle/>
          <a:p>
            <a:pPr>
              <a:lnSpc>
                <a:spcPct val="150000"/>
              </a:lnSpc>
            </a:pPr>
            <a:r>
              <a:rPr lang="en-AU" sz="2000" b="1" dirty="0">
                <a:latin typeface="Arial" panose="020B0604020202020204" pitchFamily="34" charset="0"/>
                <a:cs typeface="Arial" panose="020B0604020202020204" pitchFamily="34" charset="0"/>
              </a:rPr>
              <a:t>Aim of the game</a:t>
            </a:r>
          </a:p>
          <a:p>
            <a:pPr>
              <a:lnSpc>
                <a:spcPct val="150000"/>
              </a:lnSpc>
            </a:pPr>
            <a:r>
              <a:rPr lang="en-AU" sz="2000" dirty="0">
                <a:effectLst/>
                <a:latin typeface="Arial" panose="020B0604020202020204" pitchFamily="34" charset="0"/>
                <a:ea typeface="Calibri" panose="020F0502020204030204" pitchFamily="34" charset="0"/>
              </a:rPr>
              <a:t>The objective of the game is to make the largest decimal after drawing 3 cards. </a:t>
            </a:r>
            <a:endParaRPr lang="en-AU" sz="2000" b="1" dirty="0">
              <a:latin typeface="Arial" panose="020B0604020202020204" pitchFamily="34" charset="0"/>
              <a:cs typeface="Arial" panose="020B0604020202020204" pitchFamily="34" charset="0"/>
            </a:endParaRPr>
          </a:p>
          <a:p>
            <a:pPr>
              <a:lnSpc>
                <a:spcPct val="150000"/>
              </a:lnSpc>
            </a:pPr>
            <a:r>
              <a:rPr lang="en-AU" sz="2000" b="1" i="0" u="none" strike="noStrike" dirty="0">
                <a:solidFill>
                  <a:srgbClr val="22272B"/>
                </a:solidFill>
                <a:effectLst/>
                <a:latin typeface="Arial" panose="020B0604020202020204" pitchFamily="34" charset="0"/>
                <a:cs typeface="Arial" panose="020B0604020202020204" pitchFamily="34" charset="0"/>
              </a:rPr>
              <a:t>Rules:</a:t>
            </a:r>
          </a:p>
          <a:p>
            <a:pPr marL="342900" indent="-342900">
              <a:lnSpc>
                <a:spcPct val="150000"/>
              </a:lnSpc>
              <a:buFont typeface="Arial" panose="020B0604020202020204" pitchFamily="34" charset="0"/>
              <a:buChar char="•"/>
            </a:pPr>
            <a:r>
              <a:rPr lang="en-AU" sz="2000" dirty="0">
                <a:latin typeface="Arial" panose="020B0604020202020204" pitchFamily="34" charset="0"/>
                <a:cs typeface="Arial" panose="020B0604020202020204" pitchFamily="34" charset="0"/>
              </a:rPr>
              <a:t>each player takes turns drawing a card and places the digit in the ones, tenths, or hundredths column. </a:t>
            </a:r>
          </a:p>
          <a:p>
            <a:pPr marL="342900" indent="-342900">
              <a:lnSpc>
                <a:spcPct val="150000"/>
              </a:lnSpc>
              <a:buFont typeface="Arial" panose="020B0604020202020204" pitchFamily="34" charset="0"/>
              <a:buChar char="•"/>
            </a:pPr>
            <a:r>
              <a:rPr lang="en-AU" sz="2000" dirty="0">
                <a:latin typeface="Arial" panose="020B0604020202020204" pitchFamily="34" charset="0"/>
                <a:cs typeface="Arial" panose="020B0604020202020204" pitchFamily="34" charset="0"/>
              </a:rPr>
              <a:t>each player returns the drawn cards to the bottom of the deck</a:t>
            </a:r>
          </a:p>
          <a:p>
            <a:pPr marL="342900" indent="-342900">
              <a:lnSpc>
                <a:spcPct val="150000"/>
              </a:lnSpc>
              <a:buFont typeface="Arial" panose="020B0604020202020204" pitchFamily="34" charset="0"/>
              <a:buChar char="•"/>
            </a:pPr>
            <a:r>
              <a:rPr lang="en-AU" sz="2000" dirty="0">
                <a:latin typeface="Arial" panose="020B0604020202020204" pitchFamily="34" charset="0"/>
                <a:cs typeface="Arial" panose="020B0604020202020204" pitchFamily="34" charset="0"/>
              </a:rPr>
              <a:t>continue until both players have filled all three columns</a:t>
            </a:r>
          </a:p>
          <a:p>
            <a:pPr marL="342900" indent="-342900">
              <a:lnSpc>
                <a:spcPct val="150000"/>
              </a:lnSpc>
              <a:buFont typeface="Arial" panose="020B0604020202020204" pitchFamily="34" charset="0"/>
              <a:buChar char="•"/>
            </a:pPr>
            <a:r>
              <a:rPr lang="en-AU" sz="2000" dirty="0">
                <a:latin typeface="Arial" panose="020B0604020202020204" pitchFamily="34" charset="0"/>
                <a:cs typeface="Arial" panose="020B0604020202020204" pitchFamily="34" charset="0"/>
              </a:rPr>
              <a:t>players say their decimals aloud for example, 2.45 is read aloud as 2 and 45 hundredths</a:t>
            </a:r>
          </a:p>
          <a:p>
            <a:pPr marL="342900" indent="-342900">
              <a:lnSpc>
                <a:spcPct val="150000"/>
              </a:lnSpc>
              <a:buFont typeface="Arial" panose="020B0604020202020204" pitchFamily="34" charset="0"/>
              <a:buChar char="•"/>
            </a:pPr>
            <a:r>
              <a:rPr lang="en-AU" sz="2000" dirty="0">
                <a:latin typeface="Arial" panose="020B0604020202020204" pitchFamily="34" charset="0"/>
                <a:cs typeface="Arial" panose="020B0604020202020204" pitchFamily="34" charset="0"/>
              </a:rPr>
              <a:t>the player with the largest decimal wins the round and gets 1 point.</a:t>
            </a:r>
          </a:p>
        </p:txBody>
      </p:sp>
      <p:pic>
        <p:nvPicPr>
          <p:cNvPr id="4" name="Picture 3" descr="Blank game board to play ‘place the digits’ game. There is a game board for Player 1 and for Player 2. Each game board has columns labelled ones, decimal point, tenths and hundredths.">
            <a:extLst>
              <a:ext uri="{FF2B5EF4-FFF2-40B4-BE49-F238E27FC236}">
                <a16:creationId xmlns:a16="http://schemas.microsoft.com/office/drawing/2014/main" id="{1CCE6F6B-B5D9-3CDC-E071-BDFC5AF2DFFD}"/>
              </a:ext>
            </a:extLst>
          </p:cNvPr>
          <p:cNvPicPr>
            <a:picLocks noChangeAspect="1"/>
          </p:cNvPicPr>
          <p:nvPr/>
        </p:nvPicPr>
        <p:blipFill>
          <a:blip r:embed="rId4">
            <a:extLst>
              <a:ext uri="{28A0092B-C50C-407E-A947-70E740481C1C}">
                <a14:useLocalDpi xmlns:a14="http://schemas.microsoft.com/office/drawing/2010/main" val="0"/>
              </a:ext>
            </a:extLst>
          </a:blip>
          <a:srcRect r="52077"/>
          <a:stretch>
            <a:fillRect/>
          </a:stretch>
        </p:blipFill>
        <p:spPr>
          <a:xfrm>
            <a:off x="8106509" y="963818"/>
            <a:ext cx="3534508" cy="5360526"/>
          </a:xfrm>
          <a:prstGeom prst="rect">
            <a:avLst/>
          </a:prstGeom>
        </p:spPr>
      </p:pic>
    </p:spTree>
    <p:extLst>
      <p:ext uri="{BB962C8B-B14F-4D97-AF65-F5344CB8AC3E}">
        <p14:creationId xmlns:p14="http://schemas.microsoft.com/office/powerpoint/2010/main" val="107832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dirty="0">
                <a:latin typeface="Arial"/>
                <a:cs typeface="Arial"/>
              </a:rPr>
              <a:t>True or false </a:t>
            </a:r>
            <a:r>
              <a:rPr lang="en-US" dirty="0">
                <a:solidFill>
                  <a:schemeClr val="bg1"/>
                </a:solidFill>
                <a:latin typeface="Arial"/>
                <a:cs typeface="Arial"/>
              </a:rPr>
              <a:t>(3)</a:t>
            </a:r>
          </a:p>
        </p:txBody>
      </p:sp>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137023" y="1601800"/>
            <a:ext cx="11917953" cy="1212838"/>
          </a:xfrm>
        </p:spPr>
        <p:txBody>
          <a:bodyPr vert="horz" lIns="0" tIns="0" rIns="0" bIns="0" rtlCol="0" anchor="t">
            <a:noAutofit/>
          </a:bodyPr>
          <a:lstStyle/>
          <a:p>
            <a:pPr algn="ctr"/>
            <a:r>
              <a:rPr lang="en-US" sz="4400" dirty="0">
                <a:latin typeface="Arial"/>
                <a:cs typeface="Arial"/>
              </a:rPr>
              <a:t>0.78 is a </a:t>
            </a:r>
            <a:r>
              <a:rPr lang="en-US" sz="4400" b="1" dirty="0">
                <a:latin typeface="Arial"/>
                <a:cs typeface="Arial"/>
              </a:rPr>
              <a:t>smaller</a:t>
            </a:r>
            <a:r>
              <a:rPr lang="en-US" sz="4400" dirty="0">
                <a:latin typeface="Arial"/>
                <a:cs typeface="Arial"/>
              </a:rPr>
              <a:t> decimal than 0.09</a:t>
            </a:r>
            <a:endParaRPr lang="en-US" sz="4400" dirty="0"/>
          </a:p>
        </p:txBody>
      </p:sp>
      <p:sp>
        <p:nvSpPr>
          <p:cNvPr id="4" name="Text Placeholder 11">
            <a:extLst>
              <a:ext uri="{FF2B5EF4-FFF2-40B4-BE49-F238E27FC236}">
                <a16:creationId xmlns:a16="http://schemas.microsoft.com/office/drawing/2014/main" id="{D2DDFA34-F5E2-0F60-D99B-A9A9DBAF8E4D}"/>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0073" y="5388923"/>
            <a:ext cx="11243037" cy="1132790"/>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Communicate</a:t>
            </a:r>
            <a:r>
              <a:rPr lang="en-US" sz="4400" dirty="0">
                <a:latin typeface="Arial"/>
                <a:cs typeface="Arial"/>
              </a:rPr>
              <a:t> your </a:t>
            </a:r>
            <a:r>
              <a:rPr lang="en-US" sz="4400" b="1" dirty="0">
                <a:latin typeface="Arial"/>
                <a:cs typeface="Arial"/>
              </a:rPr>
              <a:t>reasoning</a:t>
            </a:r>
            <a:r>
              <a:rPr lang="en-US" sz="4400" dirty="0">
                <a:latin typeface="Arial"/>
                <a:cs typeface="Arial"/>
              </a:rPr>
              <a:t>. </a:t>
            </a:r>
            <a:endParaRPr lang="en-US" sz="4400" dirty="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3394507046"/>
              </p:ext>
            </p:extLst>
          </p:nvPr>
        </p:nvGraphicFramePr>
        <p:xfrm>
          <a:off x="2053759" y="367252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3E938BB2-3AD2-DA1B-E3B0-15AF957C979B}"/>
              </a:ext>
            </a:extLst>
          </p:cNvPr>
          <p:cNvPicPr>
            <a:picLocks noChangeAspect="1"/>
          </p:cNvPicPr>
          <p:nvPr/>
        </p:nvPicPr>
        <p:blipFill>
          <a:blip r:embed="rId3"/>
          <a:stretch>
            <a:fillRect/>
          </a:stretch>
        </p:blipFill>
        <p:spPr>
          <a:xfrm>
            <a:off x="10807908" y="43303"/>
            <a:ext cx="1165786" cy="1140716"/>
          </a:xfrm>
          <a:prstGeom prst="rect">
            <a:avLst/>
          </a:prstGeom>
          <a:ln>
            <a:noFill/>
          </a:ln>
        </p:spPr>
      </p:pic>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a:xfrm>
            <a:off x="11297685" y="6589277"/>
            <a:ext cx="720000" cy="180000"/>
          </a:xfrm>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dirty="0">
                <a:latin typeface="Arial"/>
                <a:cs typeface="Arial"/>
              </a:rPr>
              <a:t>Short response</a:t>
            </a:r>
            <a:r>
              <a:rPr lang="en-US" dirty="0">
                <a:solidFill>
                  <a:schemeClr val="bg1"/>
                </a:solidFill>
                <a:latin typeface="Arial"/>
                <a:cs typeface="Arial"/>
              </a:rPr>
              <a:t> (21)</a:t>
            </a:r>
          </a:p>
        </p:txBody>
      </p:sp>
      <p:sp>
        <p:nvSpPr>
          <p:cNvPr id="11" name="Picture Placeholder 10">
            <a:extLst>
              <a:ext uri="{FF2B5EF4-FFF2-40B4-BE49-F238E27FC236}">
                <a16:creationId xmlns:a16="http://schemas.microsoft.com/office/drawing/2014/main" id="{6AEDAC5B-7D79-7FBF-9542-5724B621995A}"/>
              </a:ext>
            </a:extLst>
          </p:cNvPr>
          <p:cNvSpPr>
            <a:spLocks noGrp="1"/>
          </p:cNvSpPr>
          <p:nvPr>
            <p:ph type="pic" sz="quarter" idx="21"/>
          </p:nvPr>
        </p:nvSpPr>
        <p:spPr>
          <a:xfrm>
            <a:off x="360000" y="1556533"/>
            <a:ext cx="6011771" cy="4168875"/>
          </a:xfrm>
        </p:spPr>
        <p:txBody>
          <a:bodyPr/>
          <a:lstStyle/>
          <a:p>
            <a:pPr algn="ctr"/>
            <a:r>
              <a:rPr lang="en-US" sz="4400" dirty="0">
                <a:latin typeface="Arial"/>
                <a:cs typeface="Arial"/>
              </a:rPr>
              <a:t> </a:t>
            </a:r>
            <a:endParaRPr lang="en-US" sz="4400" dirty="0"/>
          </a:p>
          <a:p>
            <a:endParaRPr lang="en-US" dirty="0">
              <a:latin typeface="Arial"/>
              <a:cs typeface="Arial"/>
            </a:endParaRPr>
          </a:p>
        </p:txBody>
      </p:sp>
      <p:pic>
        <p:nvPicPr>
          <p:cNvPr id="6" name="Picture 5" descr="image of a clipboard with a pencil recording short answer responses">
            <a:extLst>
              <a:ext uri="{FF2B5EF4-FFF2-40B4-BE49-F238E27FC236}">
                <a16:creationId xmlns:a16="http://schemas.microsoft.com/office/drawing/2014/main" id="{21E4E3D2-0BD0-2FBF-559D-EDC8BC549F4D}"/>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8" name="TextBox 47">
            <a:extLst>
              <a:ext uri="{FF2B5EF4-FFF2-40B4-BE49-F238E27FC236}">
                <a16:creationId xmlns:a16="http://schemas.microsoft.com/office/drawing/2014/main" id="{738072D2-8E02-A4E3-D6A9-E2E8A66827EE}"/>
              </a:ext>
            </a:extLst>
          </p:cNvPr>
          <p:cNvSpPr txBox="1"/>
          <p:nvPr/>
        </p:nvSpPr>
        <p:spPr>
          <a:xfrm>
            <a:off x="606232" y="1556533"/>
            <a:ext cx="10881994" cy="3785652"/>
          </a:xfrm>
          <a:prstGeom prst="rect">
            <a:avLst/>
          </a:prstGeom>
          <a:noFill/>
        </p:spPr>
        <p:txBody>
          <a:bodyPr wrap="square">
            <a:spAutoFit/>
          </a:bodyPr>
          <a:lstStyle/>
          <a:p>
            <a:pPr algn="ctr"/>
            <a:r>
              <a:rPr lang="en-AU" sz="4000" dirty="0">
                <a:latin typeface="Arial"/>
                <a:cs typeface="Arial"/>
              </a:rPr>
              <a:t>Write these words on a line in order of </a:t>
            </a:r>
          </a:p>
          <a:p>
            <a:pPr algn="ctr"/>
            <a:r>
              <a:rPr lang="en-AU" sz="4000" b="1" dirty="0">
                <a:latin typeface="Arial"/>
                <a:cs typeface="Arial"/>
              </a:rPr>
              <a:t>increasing likelihood</a:t>
            </a:r>
            <a:r>
              <a:rPr lang="en-AU" sz="4000" dirty="0">
                <a:latin typeface="Arial"/>
                <a:cs typeface="Arial"/>
              </a:rPr>
              <a:t>:</a:t>
            </a:r>
          </a:p>
          <a:p>
            <a:pPr algn="ctr"/>
            <a:endParaRPr lang="en-AU" sz="4000" dirty="0">
              <a:latin typeface="Arial"/>
              <a:cs typeface="Arial"/>
            </a:endParaRPr>
          </a:p>
          <a:p>
            <a:pPr algn="ctr"/>
            <a:endParaRPr lang="en-AU" sz="4000" dirty="0">
              <a:latin typeface="Arial"/>
              <a:cs typeface="Arial"/>
            </a:endParaRPr>
          </a:p>
          <a:p>
            <a:pPr algn="ctr"/>
            <a:endParaRPr lang="en-AU" sz="4000" dirty="0">
              <a:latin typeface="Arial"/>
              <a:cs typeface="Arial"/>
            </a:endParaRPr>
          </a:p>
          <a:p>
            <a:pPr algn="ctr"/>
            <a:r>
              <a:rPr lang="en-AU" sz="4000" dirty="0">
                <a:latin typeface="Arial"/>
                <a:cs typeface="Arial"/>
              </a:rPr>
              <a:t>impossible, certain, likely, unlikely, equally likely</a:t>
            </a:r>
            <a:endParaRPr lang="en-US" sz="4000" dirty="0"/>
          </a:p>
        </p:txBody>
      </p:sp>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(22)</a:t>
            </a:r>
          </a:p>
        </p:txBody>
      </p:sp>
      <p:sp>
        <p:nvSpPr>
          <p:cNvPr id="11" name="Picture Placeholder 10">
            <a:extLst>
              <a:ext uri="{FF2B5EF4-FFF2-40B4-BE49-F238E27FC236}">
                <a16:creationId xmlns:a16="http://schemas.microsoft.com/office/drawing/2014/main" id="{80B7212B-2801-5D27-0B76-52A657270CAF}"/>
              </a:ext>
            </a:extLst>
          </p:cNvPr>
          <p:cNvSpPr>
            <a:spLocks noGrp="1"/>
          </p:cNvSpPr>
          <p:nvPr>
            <p:ph type="pic" sz="quarter" idx="21"/>
          </p:nvPr>
        </p:nvSpPr>
        <p:spPr>
          <a:xfrm>
            <a:off x="6972300" y="1164870"/>
            <a:ext cx="4630738" cy="5091860"/>
          </a:xfrm>
        </p:spPr>
        <p:txBody>
          <a:bodyPr/>
          <a:lstStyle/>
          <a:p>
            <a:pPr algn="ctr"/>
            <a:endParaRPr lang="en-US" sz="32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4AF2FB9-0796-D0A5-0E5E-4B63AC091B60}"/>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6" name="Rectangle 1">
            <a:extLst>
              <a:ext uri="{FF2B5EF4-FFF2-40B4-BE49-F238E27FC236}">
                <a16:creationId xmlns:a16="http://schemas.microsoft.com/office/drawing/2014/main" id="{B0023F65-8620-7FD7-1EE0-E542BCEF53B5}"/>
              </a:ext>
            </a:extLst>
          </p:cNvPr>
          <p:cNvSpPr>
            <a:spLocks noChangeArrowheads="1"/>
          </p:cNvSpPr>
          <p:nvPr/>
        </p:nvSpPr>
        <p:spPr bwMode="auto">
          <a:xfrm>
            <a:off x="4543425" y="-7604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85579B4E-1AF2-14C2-5B38-ABDAC3FF18A5}"/>
              </a:ext>
            </a:extLst>
          </p:cNvPr>
          <p:cNvSpPr txBox="1"/>
          <p:nvPr/>
        </p:nvSpPr>
        <p:spPr>
          <a:xfrm>
            <a:off x="685108" y="1691764"/>
            <a:ext cx="10821783" cy="1446550"/>
          </a:xfrm>
          <a:prstGeom prst="rect">
            <a:avLst/>
          </a:prstGeom>
          <a:noFill/>
        </p:spPr>
        <p:txBody>
          <a:bodyPr wrap="square">
            <a:spAutoFit/>
          </a:bodyPr>
          <a:lstStyle/>
          <a:p>
            <a:pPr algn="ctr"/>
            <a:r>
              <a:rPr lang="en-AU" sz="4400" dirty="0"/>
              <a:t>Which </a:t>
            </a:r>
            <a:r>
              <a:rPr lang="en-AU" sz="4400" b="1" dirty="0"/>
              <a:t>4 shapes </a:t>
            </a:r>
            <a:r>
              <a:rPr lang="en-AU" sz="4400" dirty="0"/>
              <a:t>only have </a:t>
            </a:r>
            <a:r>
              <a:rPr lang="en-AU" sz="4400" b="1" dirty="0"/>
              <a:t>parallel lines</a:t>
            </a:r>
            <a:r>
              <a:rPr lang="en-AU" sz="4400" dirty="0"/>
              <a:t>?</a:t>
            </a:r>
          </a:p>
          <a:p>
            <a:pPr algn="ctr"/>
            <a:endParaRPr lang="en-AU" sz="4400" dirty="0"/>
          </a:p>
        </p:txBody>
      </p:sp>
      <p:pic>
        <p:nvPicPr>
          <p:cNvPr id="5" name="Picture 4" descr="A collection of seven blue 2D shapes, each labelled with its name. The shapes are: triangle, right-angled triangle, rectangle, trapezium, rhombus, square and hexagon.">
            <a:extLst>
              <a:ext uri="{FF2B5EF4-FFF2-40B4-BE49-F238E27FC236}">
                <a16:creationId xmlns:a16="http://schemas.microsoft.com/office/drawing/2014/main" id="{DB0C2A8D-39F4-4A80-3FE3-F40A70098E7F}"/>
              </a:ext>
            </a:extLst>
          </p:cNvPr>
          <p:cNvPicPr>
            <a:picLocks noChangeAspect="1"/>
          </p:cNvPicPr>
          <p:nvPr/>
        </p:nvPicPr>
        <p:blipFill>
          <a:blip r:embed="rId4"/>
          <a:stretch>
            <a:fillRect/>
          </a:stretch>
        </p:blipFill>
        <p:spPr>
          <a:xfrm>
            <a:off x="1936441" y="2983331"/>
            <a:ext cx="7836052" cy="31571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(23) </a:t>
            </a:r>
          </a:p>
        </p:txBody>
      </p:sp>
      <p:pic>
        <p:nvPicPr>
          <p:cNvPr id="4" name="Picture 3" descr="image of a clipboard with a pencil recording short answer responses">
            <a:extLst>
              <a:ext uri="{FF2B5EF4-FFF2-40B4-BE49-F238E27FC236}">
                <a16:creationId xmlns:a16="http://schemas.microsoft.com/office/drawing/2014/main" id="{DDE2B47A-8CF9-35B2-EC15-2BFADBD1573B}"/>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018E7AB2-C56E-C743-8B4D-E47735B865FA}"/>
              </a:ext>
            </a:extLst>
          </p:cNvPr>
          <p:cNvSpPr txBox="1"/>
          <p:nvPr/>
        </p:nvSpPr>
        <p:spPr>
          <a:xfrm>
            <a:off x="508612" y="1184223"/>
            <a:ext cx="10945813" cy="4832092"/>
          </a:xfrm>
          <a:prstGeom prst="rect">
            <a:avLst/>
          </a:prstGeom>
          <a:noFill/>
        </p:spPr>
        <p:txBody>
          <a:bodyPr wrap="square">
            <a:spAutoFit/>
          </a:bodyPr>
          <a:lstStyle/>
          <a:p>
            <a:pPr algn="ctr"/>
            <a:r>
              <a:rPr lang="en-AU" sz="4400" dirty="0"/>
              <a:t>How many </a:t>
            </a:r>
            <a:r>
              <a:rPr lang="en-AU" sz="4400" b="1" dirty="0"/>
              <a:t>whole numbers </a:t>
            </a:r>
            <a:r>
              <a:rPr lang="en-AU" sz="4400" dirty="0"/>
              <a:t>are represented in this model?</a:t>
            </a:r>
            <a:br>
              <a:rPr lang="en-AU" sz="4400" dirty="0"/>
            </a:br>
            <a:endParaRPr lang="en-AU" sz="4400" dirty="0"/>
          </a:p>
          <a:p>
            <a:pPr algn="ctr"/>
            <a:endParaRPr lang="en-AU" sz="4400" dirty="0"/>
          </a:p>
          <a:p>
            <a:pPr algn="ctr"/>
            <a:endParaRPr lang="en-AU" sz="4400" dirty="0"/>
          </a:p>
          <a:p>
            <a:pPr algn="ctr"/>
            <a:endParaRPr lang="en-AU" sz="4400" dirty="0"/>
          </a:p>
          <a:p>
            <a:pPr algn="ctr"/>
            <a:r>
              <a:rPr lang="en-AU" sz="4400" dirty="0"/>
              <a:t>How many </a:t>
            </a:r>
            <a:r>
              <a:rPr lang="en-AU" sz="4400" b="1" dirty="0"/>
              <a:t>tenths</a:t>
            </a:r>
            <a:r>
              <a:rPr lang="en-AU" sz="4400" dirty="0"/>
              <a:t> are represented?</a:t>
            </a:r>
          </a:p>
        </p:txBody>
      </p:sp>
      <p:pic>
        <p:nvPicPr>
          <p:cNvPr id="49" name="Picture 48" descr="A number line labelled from 0 to 3. Marks indicate where tenths are located.  ">
            <a:extLst>
              <a:ext uri="{FF2B5EF4-FFF2-40B4-BE49-F238E27FC236}">
                <a16:creationId xmlns:a16="http://schemas.microsoft.com/office/drawing/2014/main" id="{6CBB0785-B6CC-6F0C-2AC2-B94379626B83}"/>
              </a:ext>
            </a:extLst>
          </p:cNvPr>
          <p:cNvPicPr>
            <a:picLocks noChangeAspect="1"/>
          </p:cNvPicPr>
          <p:nvPr/>
        </p:nvPicPr>
        <p:blipFill>
          <a:blip r:embed="rId4"/>
          <a:stretch>
            <a:fillRect/>
          </a:stretch>
        </p:blipFill>
        <p:spPr>
          <a:xfrm>
            <a:off x="1313562" y="3114797"/>
            <a:ext cx="9335911" cy="17160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500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(24)</a:t>
            </a:r>
          </a:p>
        </p:txBody>
      </p:sp>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360000" y="1164870"/>
            <a:ext cx="11243037" cy="2404240"/>
          </a:xfrm>
        </p:spPr>
        <p:txBody>
          <a:bodyPr/>
          <a:lstStyle/>
          <a:p>
            <a:pPr algn="ctr"/>
            <a:r>
              <a:rPr lang="en-US" sz="4000" dirty="0"/>
              <a:t>How many </a:t>
            </a:r>
            <a:r>
              <a:rPr lang="en-US" sz="4000" b="1" dirty="0"/>
              <a:t>faces</a:t>
            </a:r>
            <a:r>
              <a:rPr lang="en-US" sz="4000" dirty="0"/>
              <a:t> does this </a:t>
            </a:r>
            <a:r>
              <a:rPr lang="en-US" sz="4000" b="1" dirty="0"/>
              <a:t>3D object </a:t>
            </a:r>
            <a:r>
              <a:rPr lang="en-US" sz="4000" dirty="0"/>
              <a:t>have?</a:t>
            </a:r>
          </a:p>
          <a:p>
            <a:pPr algn="ctr"/>
            <a:r>
              <a:rPr lang="en-US" sz="4000" dirty="0"/>
              <a:t>How many </a:t>
            </a:r>
            <a:r>
              <a:rPr lang="en-US" sz="4000" b="1" dirty="0"/>
              <a:t>edges</a:t>
            </a:r>
            <a:r>
              <a:rPr lang="en-US" sz="4000" dirty="0"/>
              <a:t> does it have?</a:t>
            </a:r>
            <a:endParaRPr lang="en-US" sz="5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B9A45D8-37E1-80DE-ED67-BEAF2EE15212}"/>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0" name="Freeform 8" descr="A pyramid with a pentagonal base.">
            <a:extLst>
              <a:ext uri="{FF2B5EF4-FFF2-40B4-BE49-F238E27FC236}">
                <a16:creationId xmlns:a16="http://schemas.microsoft.com/office/drawing/2014/main" id="{417368A0-85BF-919F-5B48-1D59CADE528B}"/>
              </a:ext>
            </a:extLst>
          </p:cNvPr>
          <p:cNvSpPr/>
          <p:nvPr/>
        </p:nvSpPr>
        <p:spPr>
          <a:xfrm>
            <a:off x="4262034" y="3334889"/>
            <a:ext cx="2814184" cy="3271111"/>
          </a:xfrm>
          <a:custGeom>
            <a:avLst/>
            <a:gdLst/>
            <a:ahLst/>
            <a:cxnLst/>
            <a:rect l="l" t="t" r="r" b="b"/>
            <a:pathLst>
              <a:path w="643080" h="800100">
                <a:moveTo>
                  <a:pt x="0" y="0"/>
                </a:moveTo>
                <a:lnTo>
                  <a:pt x="643081" y="0"/>
                </a:lnTo>
                <a:lnTo>
                  <a:pt x="643081" y="800100"/>
                </a:lnTo>
                <a:lnTo>
                  <a:pt x="0" y="8001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45</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dirty="0">
                <a:latin typeface="Arial"/>
                <a:cs typeface="Arial"/>
              </a:rPr>
              <a:t>Activity 6 – role of zero – smallest number</a:t>
            </a:r>
          </a:p>
        </p:txBody>
      </p:sp>
      <p:pic>
        <p:nvPicPr>
          <p:cNvPr id="4" name="Picture 3" descr="image of a head with cogs turning inside">
            <a:extLst>
              <a:ext uri="{FF2B5EF4-FFF2-40B4-BE49-F238E27FC236}">
                <a16:creationId xmlns:a16="http://schemas.microsoft.com/office/drawing/2014/main" id="{03F118B2-6045-7BDE-B794-B53D9D720651}"/>
              </a:ext>
            </a:extLst>
          </p:cNvPr>
          <p:cNvPicPr>
            <a:picLocks noChangeAspect="1"/>
          </p:cNvPicPr>
          <p:nvPr/>
        </p:nvPicPr>
        <p:blipFill>
          <a:blip r:embed="rId3"/>
          <a:stretch>
            <a:fillRect/>
          </a:stretch>
        </p:blipFill>
        <p:spPr>
          <a:xfrm>
            <a:off x="11107003" y="240894"/>
            <a:ext cx="720000" cy="856364"/>
          </a:xfrm>
          <a:prstGeom prst="rect">
            <a:avLst/>
          </a:prstGeom>
          <a:ln>
            <a:noFill/>
          </a:ln>
        </p:spPr>
      </p:pic>
      <p:sp>
        <p:nvSpPr>
          <p:cNvPr id="5" name="TextBox 4">
            <a:extLst>
              <a:ext uri="{FF2B5EF4-FFF2-40B4-BE49-F238E27FC236}">
                <a16:creationId xmlns:a16="http://schemas.microsoft.com/office/drawing/2014/main" id="{146CF6F6-7159-640B-7B20-3C4C4A7B6023}"/>
              </a:ext>
            </a:extLst>
          </p:cNvPr>
          <p:cNvSpPr txBox="1"/>
          <p:nvPr/>
        </p:nvSpPr>
        <p:spPr>
          <a:xfrm>
            <a:off x="348001" y="905601"/>
            <a:ext cx="7983200" cy="5575309"/>
          </a:xfrm>
          <a:prstGeom prst="rect">
            <a:avLst/>
          </a:prstGeom>
          <a:noFill/>
        </p:spPr>
        <p:txBody>
          <a:bodyPr wrap="square">
            <a:spAutoFit/>
          </a:bodyPr>
          <a:lstStyle/>
          <a:p>
            <a:pPr>
              <a:lnSpc>
                <a:spcPct val="150000"/>
              </a:lnSpc>
            </a:pPr>
            <a:r>
              <a:rPr lang="en-AU" sz="2000" b="1" dirty="0">
                <a:latin typeface="Arial" panose="020B0604020202020204" pitchFamily="34" charset="0"/>
                <a:cs typeface="Arial" panose="020B0604020202020204" pitchFamily="34" charset="0"/>
              </a:rPr>
              <a:t>Aim of the game</a:t>
            </a:r>
          </a:p>
          <a:p>
            <a:pPr>
              <a:lnSpc>
                <a:spcPct val="150000"/>
              </a:lnSpc>
            </a:pPr>
            <a:r>
              <a:rPr lang="en-AU" sz="2000" dirty="0">
                <a:effectLst/>
                <a:latin typeface="Arial" panose="020B0604020202020204" pitchFamily="34" charset="0"/>
                <a:ea typeface="Calibri" panose="020F0502020204030204" pitchFamily="34" charset="0"/>
              </a:rPr>
              <a:t>The objective of the game is to make the smallest decimal after drawing 3 cards. </a:t>
            </a:r>
            <a:endParaRPr lang="en-AU" sz="2000" b="1" dirty="0">
              <a:latin typeface="Arial" panose="020B0604020202020204" pitchFamily="34" charset="0"/>
              <a:cs typeface="Arial" panose="020B0604020202020204" pitchFamily="34" charset="0"/>
            </a:endParaRPr>
          </a:p>
          <a:p>
            <a:pPr>
              <a:lnSpc>
                <a:spcPct val="150000"/>
              </a:lnSpc>
            </a:pPr>
            <a:r>
              <a:rPr lang="en-AU" sz="2000" b="1" i="0" u="none" strike="noStrike" dirty="0">
                <a:solidFill>
                  <a:srgbClr val="22272B"/>
                </a:solidFill>
                <a:effectLst/>
                <a:latin typeface="Arial" panose="020B0604020202020204" pitchFamily="34" charset="0"/>
                <a:cs typeface="Arial" panose="020B0604020202020204" pitchFamily="34" charset="0"/>
              </a:rPr>
              <a:t>Rules:</a:t>
            </a:r>
          </a:p>
          <a:p>
            <a:pPr marL="342900" indent="-342900">
              <a:lnSpc>
                <a:spcPct val="150000"/>
              </a:lnSpc>
              <a:buFont typeface="Arial" panose="020B0604020202020204" pitchFamily="34" charset="0"/>
              <a:buChar char="•"/>
            </a:pPr>
            <a:r>
              <a:rPr lang="en-AU" sz="2000" dirty="0">
                <a:latin typeface="Arial" panose="020B0604020202020204" pitchFamily="34" charset="0"/>
                <a:cs typeface="Arial" panose="020B0604020202020204" pitchFamily="34" charset="0"/>
              </a:rPr>
              <a:t>each player takes turns drawing a card and places the digit in the ones, tenths, or hundredths column. </a:t>
            </a:r>
          </a:p>
          <a:p>
            <a:pPr marL="342900" indent="-342900">
              <a:lnSpc>
                <a:spcPct val="150000"/>
              </a:lnSpc>
              <a:buFont typeface="Arial" panose="020B0604020202020204" pitchFamily="34" charset="0"/>
              <a:buChar char="•"/>
            </a:pPr>
            <a:r>
              <a:rPr lang="en-AU" sz="2000" dirty="0">
                <a:latin typeface="Arial" panose="020B0604020202020204" pitchFamily="34" charset="0"/>
                <a:cs typeface="Arial" panose="020B0604020202020204" pitchFamily="34" charset="0"/>
              </a:rPr>
              <a:t>each player returns the drawn cards to the bottom of the deck</a:t>
            </a:r>
          </a:p>
          <a:p>
            <a:pPr marL="342900" indent="-342900">
              <a:lnSpc>
                <a:spcPct val="150000"/>
              </a:lnSpc>
              <a:buFont typeface="Arial" panose="020B0604020202020204" pitchFamily="34" charset="0"/>
              <a:buChar char="•"/>
            </a:pPr>
            <a:r>
              <a:rPr lang="en-AU" sz="2000" dirty="0">
                <a:latin typeface="Arial" panose="020B0604020202020204" pitchFamily="34" charset="0"/>
                <a:cs typeface="Arial" panose="020B0604020202020204" pitchFamily="34" charset="0"/>
              </a:rPr>
              <a:t>continue until both players have filled all three columns</a:t>
            </a:r>
          </a:p>
          <a:p>
            <a:pPr marL="342900" indent="-342900">
              <a:lnSpc>
                <a:spcPct val="150000"/>
              </a:lnSpc>
              <a:buFont typeface="Arial" panose="020B0604020202020204" pitchFamily="34" charset="0"/>
              <a:buChar char="•"/>
            </a:pPr>
            <a:r>
              <a:rPr lang="en-AU" sz="2000" dirty="0">
                <a:latin typeface="Arial" panose="020B0604020202020204" pitchFamily="34" charset="0"/>
                <a:cs typeface="Arial" panose="020B0604020202020204" pitchFamily="34" charset="0"/>
              </a:rPr>
              <a:t>players say their decimals aloud for example, 2.45 is read aloud as 2 and 45 hundredths</a:t>
            </a:r>
          </a:p>
          <a:p>
            <a:pPr marL="342900" indent="-342900">
              <a:lnSpc>
                <a:spcPct val="150000"/>
              </a:lnSpc>
              <a:buFont typeface="Arial" panose="020B0604020202020204" pitchFamily="34" charset="0"/>
              <a:buChar char="•"/>
            </a:pPr>
            <a:r>
              <a:rPr lang="en-AU" sz="2000" dirty="0">
                <a:latin typeface="Arial" panose="020B0604020202020204" pitchFamily="34" charset="0"/>
                <a:cs typeface="Arial" panose="020B0604020202020204" pitchFamily="34" charset="0"/>
              </a:rPr>
              <a:t>the player with the smallest decimal wins the round and gets 1 point.</a:t>
            </a:r>
          </a:p>
        </p:txBody>
      </p:sp>
      <p:pic>
        <p:nvPicPr>
          <p:cNvPr id="6" name="Picture 5" descr="Blank game board to play ‘place the digits’ game. There is a game board for Player 1 and for Player 2. Each game board has columns labelled ones, decimal point, tenths and hundredths.">
            <a:extLst>
              <a:ext uri="{FF2B5EF4-FFF2-40B4-BE49-F238E27FC236}">
                <a16:creationId xmlns:a16="http://schemas.microsoft.com/office/drawing/2014/main" id="{FED18B08-731E-189D-00DB-47E8D681CFD2}"/>
              </a:ext>
            </a:extLst>
          </p:cNvPr>
          <p:cNvPicPr>
            <a:picLocks noChangeAspect="1"/>
          </p:cNvPicPr>
          <p:nvPr/>
        </p:nvPicPr>
        <p:blipFill>
          <a:blip r:embed="rId4">
            <a:extLst>
              <a:ext uri="{28A0092B-C50C-407E-A947-70E740481C1C}">
                <a14:useLocalDpi xmlns:a14="http://schemas.microsoft.com/office/drawing/2010/main" val="0"/>
              </a:ext>
            </a:extLst>
          </a:blip>
          <a:srcRect r="52077"/>
          <a:stretch>
            <a:fillRect/>
          </a:stretch>
        </p:blipFill>
        <p:spPr>
          <a:xfrm>
            <a:off x="8529711" y="1216364"/>
            <a:ext cx="3111305" cy="4718685"/>
          </a:xfrm>
          <a:prstGeom prst="rect">
            <a:avLst/>
          </a:prstGeom>
        </p:spPr>
      </p:pic>
    </p:spTree>
    <p:extLst>
      <p:ext uri="{BB962C8B-B14F-4D97-AF65-F5344CB8AC3E}">
        <p14:creationId xmlns:p14="http://schemas.microsoft.com/office/powerpoint/2010/main" val="3255984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B09B2-7B41-D99D-EDEF-064F74DE02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6B9621-C224-299B-082B-E90BD81C5902}"/>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18" name="Text Placeholder 17">
            <a:extLst>
              <a:ext uri="{FF2B5EF4-FFF2-40B4-BE49-F238E27FC236}">
                <a16:creationId xmlns:a16="http://schemas.microsoft.com/office/drawing/2014/main" id="{46752A48-96D4-4039-44A3-719E3CD9A2E6}"/>
              </a:ext>
            </a:extLst>
          </p:cNvPr>
          <p:cNvSpPr>
            <a:spLocks noGrp="1"/>
          </p:cNvSpPr>
          <p:nvPr>
            <p:ph type="body" sz="quarter" idx="24"/>
          </p:nvPr>
        </p:nvSpPr>
        <p:spPr>
          <a:xfrm>
            <a:off x="196058" y="951453"/>
            <a:ext cx="11102206" cy="893226"/>
          </a:xfrm>
        </p:spPr>
        <p:txBody>
          <a:bodyPr vert="horz" lIns="0" tIns="0" rIns="0" bIns="0" rtlCol="0" anchor="t">
            <a:noAutofit/>
          </a:bodyPr>
          <a:lstStyle/>
          <a:p>
            <a:pPr algn="ctr"/>
            <a:r>
              <a:rPr lang="en-US" sz="4000" dirty="0">
                <a:latin typeface="+mn-lt"/>
                <a:cs typeface="Arial"/>
              </a:rPr>
              <a:t>Which </a:t>
            </a:r>
            <a:r>
              <a:rPr lang="en-AU" sz="4000" dirty="0">
                <a:latin typeface="+mn-lt"/>
                <a:cs typeface="Arial"/>
              </a:rPr>
              <a:t>has the </a:t>
            </a:r>
            <a:r>
              <a:rPr lang="en-AU" sz="4000" b="1" dirty="0">
                <a:latin typeface="+mn-lt"/>
                <a:cs typeface="Arial"/>
              </a:rPr>
              <a:t>decimal numbers </a:t>
            </a:r>
            <a:r>
              <a:rPr lang="en-AU" sz="4000" dirty="0">
                <a:latin typeface="+mn-lt"/>
                <a:cs typeface="Arial"/>
              </a:rPr>
              <a:t>in the correct </a:t>
            </a:r>
            <a:r>
              <a:rPr lang="en-AU" sz="4000" b="1" dirty="0">
                <a:latin typeface="+mn-lt"/>
                <a:cs typeface="Arial"/>
              </a:rPr>
              <a:t>ascending</a:t>
            </a:r>
            <a:r>
              <a:rPr lang="en-AU" sz="4000" dirty="0">
                <a:latin typeface="+mn-lt"/>
                <a:cs typeface="Arial"/>
              </a:rPr>
              <a:t> </a:t>
            </a:r>
            <a:r>
              <a:rPr lang="en-AU" sz="4000" b="1" dirty="0">
                <a:latin typeface="+mn-lt"/>
                <a:cs typeface="Arial"/>
              </a:rPr>
              <a:t>order</a:t>
            </a:r>
            <a:r>
              <a:rPr lang="en-AU" sz="4000" dirty="0">
                <a:latin typeface="+mn-lt"/>
              </a:rPr>
              <a:t>?</a:t>
            </a:r>
            <a:endParaRPr lang="en-US" sz="4000" dirty="0">
              <a:latin typeface="+mn-lt"/>
            </a:endParaRPr>
          </a:p>
        </p:txBody>
      </p:sp>
      <p:pic>
        <p:nvPicPr>
          <p:cNvPr id="5" name="Picture 4" descr="image of a finger selecting an option for a multiple choice or true and false">
            <a:extLst>
              <a:ext uri="{FF2B5EF4-FFF2-40B4-BE49-F238E27FC236}">
                <a16:creationId xmlns:a16="http://schemas.microsoft.com/office/drawing/2014/main" id="{3313E438-7F57-A13D-DE77-437CCD7BAF4C}"/>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13" name="Slide Number Placeholder 1">
            <a:extLst>
              <a:ext uri="{FF2B5EF4-FFF2-40B4-BE49-F238E27FC236}">
                <a16:creationId xmlns:a16="http://schemas.microsoft.com/office/drawing/2014/main" id="{FDC01D7D-4834-4A98-DC03-066D85B577E6}"/>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47</a:t>
            </a:fld>
            <a:endParaRPr lang="en-AU"/>
          </a:p>
        </p:txBody>
      </p:sp>
      <p:sp>
        <p:nvSpPr>
          <p:cNvPr id="14" name="Title 2">
            <a:extLst>
              <a:ext uri="{FF2B5EF4-FFF2-40B4-BE49-F238E27FC236}">
                <a16:creationId xmlns:a16="http://schemas.microsoft.com/office/drawing/2014/main" id="{7ABBB50B-437D-6CE2-BBD1-2EAD8DF0BDAF}"/>
              </a:ext>
            </a:extLst>
          </p:cNvPr>
          <p:cNvSpPr txBox="1">
            <a:spLocks/>
          </p:cNvSpPr>
          <p:nvPr/>
        </p:nvSpPr>
        <p:spPr>
          <a:xfrm>
            <a:off x="360000" y="360000"/>
            <a:ext cx="11243038" cy="545601"/>
          </a:xfrm>
          <a:prstGeom prst="rect">
            <a:avLst/>
          </a:prstGeom>
        </p:spPr>
        <p:txBody>
          <a:bodyPr vert="horz" lIns="0" tIns="0" rIns="0" bIns="0" rtlCol="0" anchor="t">
            <a:noAutofit/>
          </a:bodyPr>
          <a:lstStyle>
            <a:lvl1pPr algn="l" defTabSz="914377" rtl="0" eaLnBrk="1" latinLnBrk="0" hangingPunct="1">
              <a:lnSpc>
                <a:spcPct val="90000"/>
              </a:lnSpc>
              <a:spcBef>
                <a:spcPct val="0"/>
              </a:spcBef>
              <a:buNone/>
              <a:defRPr sz="3600" kern="1200">
                <a:solidFill>
                  <a:schemeClr val="accent1"/>
                </a:solidFill>
                <a:latin typeface="Arial" panose="020B0604020202020204" pitchFamily="34" charset="0"/>
                <a:ea typeface="+mj-ea"/>
                <a:cs typeface="Arial" panose="020B0604020202020204" pitchFamily="34" charset="0"/>
              </a:defRPr>
            </a:lvl1pPr>
          </a:lstStyle>
          <a:p>
            <a:r>
              <a:rPr lang="en-US" dirty="0"/>
              <a:t>Multiple choice </a:t>
            </a:r>
            <a:r>
              <a:rPr lang="en-US" dirty="0">
                <a:solidFill>
                  <a:schemeClr val="bg1"/>
                </a:solidFill>
              </a:rPr>
              <a:t>(4)</a:t>
            </a:r>
          </a:p>
        </p:txBody>
      </p:sp>
      <p:sp>
        <p:nvSpPr>
          <p:cNvPr id="17" name="TextBox 16">
            <a:extLst>
              <a:ext uri="{FF2B5EF4-FFF2-40B4-BE49-F238E27FC236}">
                <a16:creationId xmlns:a16="http://schemas.microsoft.com/office/drawing/2014/main" id="{3C29F5BB-CF33-B8F2-9688-10FB04ACE013}"/>
              </a:ext>
            </a:extLst>
          </p:cNvPr>
          <p:cNvSpPr txBox="1"/>
          <p:nvPr/>
        </p:nvSpPr>
        <p:spPr>
          <a:xfrm>
            <a:off x="2700833" y="3059668"/>
            <a:ext cx="6319182" cy="677108"/>
          </a:xfrm>
          <a:prstGeom prst="rect">
            <a:avLst/>
          </a:prstGeom>
          <a:noFill/>
          <a:ln w="12700">
            <a:solidFill>
              <a:schemeClr val="tx1"/>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400" b="1" dirty="0"/>
              <a:t> A  </a:t>
            </a:r>
            <a:r>
              <a:rPr lang="en-US" sz="4400" dirty="0">
                <a:cs typeface="Arial"/>
              </a:rPr>
              <a:t>3.57, 3.75, 5.75, 5.53 </a:t>
            </a:r>
          </a:p>
        </p:txBody>
      </p:sp>
      <p:sp>
        <p:nvSpPr>
          <p:cNvPr id="3" name="TextBox 2">
            <a:extLst>
              <a:ext uri="{FF2B5EF4-FFF2-40B4-BE49-F238E27FC236}">
                <a16:creationId xmlns:a16="http://schemas.microsoft.com/office/drawing/2014/main" id="{B0BF223B-C53F-D406-3429-BA2F82C178F8}"/>
              </a:ext>
            </a:extLst>
          </p:cNvPr>
          <p:cNvSpPr txBox="1"/>
          <p:nvPr/>
        </p:nvSpPr>
        <p:spPr>
          <a:xfrm>
            <a:off x="2700834" y="3982698"/>
            <a:ext cx="6319181" cy="738664"/>
          </a:xfrm>
          <a:prstGeom prst="rect">
            <a:avLst/>
          </a:prstGeom>
          <a:noFill/>
          <a:ln w="12700">
            <a:solidFill>
              <a:srgbClr val="000000"/>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dirty="0"/>
              <a:t> </a:t>
            </a:r>
            <a:r>
              <a:rPr lang="en-US" sz="4400" b="1" dirty="0"/>
              <a:t>B  </a:t>
            </a:r>
            <a:r>
              <a:rPr lang="en-US" sz="4400" dirty="0">
                <a:cs typeface="Arial"/>
              </a:rPr>
              <a:t>3.57, 3.75, 7.35, 7.73 </a:t>
            </a:r>
          </a:p>
        </p:txBody>
      </p:sp>
      <p:sp>
        <p:nvSpPr>
          <p:cNvPr id="4" name="TextBox 3">
            <a:extLst>
              <a:ext uri="{FF2B5EF4-FFF2-40B4-BE49-F238E27FC236}">
                <a16:creationId xmlns:a16="http://schemas.microsoft.com/office/drawing/2014/main" id="{60192394-2BCB-4AA4-9D00-4C12AE634E6D}"/>
              </a:ext>
            </a:extLst>
          </p:cNvPr>
          <p:cNvSpPr txBox="1"/>
          <p:nvPr/>
        </p:nvSpPr>
        <p:spPr>
          <a:xfrm>
            <a:off x="2700834" y="4905728"/>
            <a:ext cx="6319182" cy="738664"/>
          </a:xfrm>
          <a:prstGeom prst="rect">
            <a:avLst/>
          </a:prstGeom>
          <a:noFill/>
          <a:ln w="12700">
            <a:solidFill>
              <a:schemeClr val="tx1"/>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dirty="0"/>
              <a:t> </a:t>
            </a:r>
            <a:r>
              <a:rPr lang="en-US" sz="4400" b="1" dirty="0"/>
              <a:t>C  </a:t>
            </a:r>
            <a:r>
              <a:rPr lang="en-US" sz="4400" dirty="0">
                <a:cs typeface="Arial"/>
              </a:rPr>
              <a:t>3.57, 3.75, 5.73, 7.53 </a:t>
            </a:r>
          </a:p>
        </p:txBody>
      </p:sp>
      <p:sp>
        <p:nvSpPr>
          <p:cNvPr id="6" name="TextBox 5">
            <a:extLst>
              <a:ext uri="{FF2B5EF4-FFF2-40B4-BE49-F238E27FC236}">
                <a16:creationId xmlns:a16="http://schemas.microsoft.com/office/drawing/2014/main" id="{C431C343-C659-176E-7C24-39A1394892A2}"/>
              </a:ext>
            </a:extLst>
          </p:cNvPr>
          <p:cNvSpPr txBox="1"/>
          <p:nvPr/>
        </p:nvSpPr>
        <p:spPr>
          <a:xfrm>
            <a:off x="2700836" y="5828759"/>
            <a:ext cx="6319179" cy="738664"/>
          </a:xfrm>
          <a:prstGeom prst="rect">
            <a:avLst/>
          </a:prstGeom>
          <a:noFill/>
          <a:ln w="12700">
            <a:solidFill>
              <a:schemeClr val="tx1"/>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dirty="0"/>
              <a:t> </a:t>
            </a:r>
            <a:r>
              <a:rPr lang="en-US" sz="4400" b="1" dirty="0"/>
              <a:t>D  </a:t>
            </a:r>
            <a:r>
              <a:rPr lang="en-US" sz="4400" dirty="0">
                <a:cs typeface="Arial"/>
              </a:rPr>
              <a:t>3.57, 3.75, 5.37, 7.35 </a:t>
            </a:r>
          </a:p>
        </p:txBody>
      </p:sp>
    </p:spTree>
    <p:extLst>
      <p:ext uri="{BB962C8B-B14F-4D97-AF65-F5344CB8AC3E}">
        <p14:creationId xmlns:p14="http://schemas.microsoft.com/office/powerpoint/2010/main" val="425501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(25)</a:t>
            </a:r>
          </a:p>
        </p:txBody>
      </p:sp>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386831" y="779370"/>
            <a:ext cx="11189376" cy="2870482"/>
          </a:xfrm>
        </p:spPr>
        <p:txBody>
          <a:bodyPr/>
          <a:lstStyle/>
          <a:p>
            <a:pPr algn="ctr"/>
            <a:r>
              <a:rPr lang="en-AU" sz="4000" dirty="0"/>
              <a:t>Which </a:t>
            </a:r>
            <a:r>
              <a:rPr lang="en-AU" sz="4000" b="1" dirty="0"/>
              <a:t>colour</a:t>
            </a:r>
            <a:r>
              <a:rPr lang="en-AU" sz="4000" dirty="0"/>
              <a:t> of tennis ball has the </a:t>
            </a:r>
            <a:r>
              <a:rPr lang="en-AU" sz="4000" b="1" dirty="0"/>
              <a:t>second highest chance</a:t>
            </a:r>
            <a:r>
              <a:rPr lang="en-AU" sz="4000" dirty="0"/>
              <a:t> of being </a:t>
            </a:r>
            <a:r>
              <a:rPr lang="en-AU" sz="4000" b="1" dirty="0"/>
              <a:t>randomly</a:t>
            </a:r>
            <a:r>
              <a:rPr lang="en-AU" sz="4000" dirty="0"/>
              <a:t> selected? </a:t>
            </a:r>
            <a:r>
              <a:rPr lang="en-AU" sz="4000" b="1" dirty="0"/>
              <a:t>Explain your thinking.</a:t>
            </a:r>
            <a:r>
              <a:rPr lang="en-AU" sz="4000" dirty="0"/>
              <a:t> </a:t>
            </a:r>
            <a:endParaRPr lang="en-US" sz="4000" b="1"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C394F32-72F3-4115-FE74-3C0EFFCECDE5}"/>
              </a:ext>
            </a:extLst>
          </p:cNvPr>
          <p:cNvPicPr>
            <a:picLocks noChangeAspect="1"/>
          </p:cNvPicPr>
          <p:nvPr/>
        </p:nvPicPr>
        <p:blipFill>
          <a:blip r:embed="rId3"/>
          <a:stretch>
            <a:fillRect/>
          </a:stretch>
        </p:blipFill>
        <p:spPr>
          <a:xfrm>
            <a:off x="11030476" y="268723"/>
            <a:ext cx="915500" cy="915500"/>
          </a:xfrm>
          <a:prstGeom prst="rect">
            <a:avLst/>
          </a:prstGeom>
          <a:ln>
            <a:noFill/>
          </a:ln>
        </p:spPr>
      </p:pic>
      <p:grpSp>
        <p:nvGrpSpPr>
          <p:cNvPr id="5" name="Group 2" descr="15 tennis balls. There are 6 green, 4 blue, 3  yellow and 2 red.">
            <a:extLst>
              <a:ext uri="{FF2B5EF4-FFF2-40B4-BE49-F238E27FC236}">
                <a16:creationId xmlns:a16="http://schemas.microsoft.com/office/drawing/2014/main" id="{6F8E20B2-C089-87E8-F361-418AA5DDE75F}"/>
              </a:ext>
            </a:extLst>
          </p:cNvPr>
          <p:cNvGrpSpPr/>
          <p:nvPr/>
        </p:nvGrpSpPr>
        <p:grpSpPr>
          <a:xfrm>
            <a:off x="3757560" y="3726205"/>
            <a:ext cx="4676879" cy="2789795"/>
            <a:chOff x="0" y="0"/>
            <a:chExt cx="2130973" cy="1243887"/>
          </a:xfrm>
        </p:grpSpPr>
        <p:sp>
          <p:nvSpPr>
            <p:cNvPr id="6" name="Freeform 3">
              <a:extLst>
                <a:ext uri="{FF2B5EF4-FFF2-40B4-BE49-F238E27FC236}">
                  <a16:creationId xmlns:a16="http://schemas.microsoft.com/office/drawing/2014/main" id="{411FCCC4-7612-99CE-525B-28B1AA21DF4E}"/>
                </a:ext>
              </a:extLst>
            </p:cNvPr>
            <p:cNvSpPr/>
            <p:nvPr/>
          </p:nvSpPr>
          <p:spPr>
            <a:xfrm>
              <a:off x="0" y="0"/>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4"/>
              <a:stretch>
                <a:fillRect/>
              </a:stretch>
            </a:blipFill>
          </p:spPr>
          <p:txBody>
            <a:bodyPr/>
            <a:lstStyle/>
            <a:p>
              <a:endParaRPr lang="en-AU"/>
            </a:p>
          </p:txBody>
        </p:sp>
        <p:sp>
          <p:nvSpPr>
            <p:cNvPr id="7" name="Freeform 4">
              <a:extLst>
                <a:ext uri="{FF2B5EF4-FFF2-40B4-BE49-F238E27FC236}">
                  <a16:creationId xmlns:a16="http://schemas.microsoft.com/office/drawing/2014/main" id="{3558DC4A-7508-BB2D-8385-F0A5BECF673E}"/>
                </a:ext>
              </a:extLst>
            </p:cNvPr>
            <p:cNvSpPr/>
            <p:nvPr/>
          </p:nvSpPr>
          <p:spPr>
            <a:xfrm>
              <a:off x="0" y="893216"/>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5"/>
              <a:stretch>
                <a:fillRect/>
              </a:stretch>
            </a:blipFill>
          </p:spPr>
          <p:txBody>
            <a:bodyPr/>
            <a:lstStyle/>
            <a:p>
              <a:endParaRPr lang="en-AU"/>
            </a:p>
          </p:txBody>
        </p:sp>
        <p:sp>
          <p:nvSpPr>
            <p:cNvPr id="8" name="Freeform 5">
              <a:extLst>
                <a:ext uri="{FF2B5EF4-FFF2-40B4-BE49-F238E27FC236}">
                  <a16:creationId xmlns:a16="http://schemas.microsoft.com/office/drawing/2014/main" id="{107267F5-B071-DA2B-6DF5-1A2365509F7A}"/>
                </a:ext>
              </a:extLst>
            </p:cNvPr>
            <p:cNvSpPr/>
            <p:nvPr/>
          </p:nvSpPr>
          <p:spPr>
            <a:xfrm>
              <a:off x="446100" y="448482"/>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6"/>
              <a:stretch>
                <a:fillRect/>
              </a:stretch>
            </a:blipFill>
          </p:spPr>
          <p:txBody>
            <a:bodyPr/>
            <a:lstStyle/>
            <a:p>
              <a:endParaRPr lang="en-AU"/>
            </a:p>
          </p:txBody>
        </p:sp>
        <p:sp>
          <p:nvSpPr>
            <p:cNvPr id="9" name="Freeform 6">
              <a:extLst>
                <a:ext uri="{FF2B5EF4-FFF2-40B4-BE49-F238E27FC236}">
                  <a16:creationId xmlns:a16="http://schemas.microsoft.com/office/drawing/2014/main" id="{60D21494-106A-079B-01E8-371781BE3EAA}"/>
                </a:ext>
              </a:extLst>
            </p:cNvPr>
            <p:cNvSpPr/>
            <p:nvPr/>
          </p:nvSpPr>
          <p:spPr>
            <a:xfrm>
              <a:off x="0" y="448482"/>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7"/>
              <a:stretch>
                <a:fillRect/>
              </a:stretch>
            </a:blipFill>
          </p:spPr>
          <p:txBody>
            <a:bodyPr/>
            <a:lstStyle/>
            <a:p>
              <a:endParaRPr lang="en-AU"/>
            </a:p>
          </p:txBody>
        </p:sp>
        <p:sp>
          <p:nvSpPr>
            <p:cNvPr id="10" name="Freeform 7">
              <a:extLst>
                <a:ext uri="{FF2B5EF4-FFF2-40B4-BE49-F238E27FC236}">
                  <a16:creationId xmlns:a16="http://schemas.microsoft.com/office/drawing/2014/main" id="{194C1AC4-9A31-2988-AA91-65D0BA8F3041}"/>
                </a:ext>
              </a:extLst>
            </p:cNvPr>
            <p:cNvSpPr/>
            <p:nvPr/>
          </p:nvSpPr>
          <p:spPr>
            <a:xfrm>
              <a:off x="446100" y="0"/>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7"/>
              <a:stretch>
                <a:fillRect/>
              </a:stretch>
            </a:blipFill>
          </p:spPr>
          <p:txBody>
            <a:bodyPr/>
            <a:lstStyle/>
            <a:p>
              <a:endParaRPr lang="en-AU"/>
            </a:p>
          </p:txBody>
        </p:sp>
        <p:sp>
          <p:nvSpPr>
            <p:cNvPr id="12" name="Freeform 8">
              <a:extLst>
                <a:ext uri="{FF2B5EF4-FFF2-40B4-BE49-F238E27FC236}">
                  <a16:creationId xmlns:a16="http://schemas.microsoft.com/office/drawing/2014/main" id="{F47AD1E5-2ABE-B769-668F-683B82F3C084}"/>
                </a:ext>
              </a:extLst>
            </p:cNvPr>
            <p:cNvSpPr/>
            <p:nvPr/>
          </p:nvSpPr>
          <p:spPr>
            <a:xfrm>
              <a:off x="446100" y="893216"/>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7"/>
              <a:stretch>
                <a:fillRect/>
              </a:stretch>
            </a:blipFill>
          </p:spPr>
          <p:txBody>
            <a:bodyPr/>
            <a:lstStyle/>
            <a:p>
              <a:endParaRPr lang="en-AU"/>
            </a:p>
          </p:txBody>
        </p:sp>
        <p:sp>
          <p:nvSpPr>
            <p:cNvPr id="13" name="Freeform 9">
              <a:extLst>
                <a:ext uri="{FF2B5EF4-FFF2-40B4-BE49-F238E27FC236}">
                  <a16:creationId xmlns:a16="http://schemas.microsoft.com/office/drawing/2014/main" id="{10FC518F-5DEE-A0A9-C638-131CCDEC4719}"/>
                </a:ext>
              </a:extLst>
            </p:cNvPr>
            <p:cNvSpPr/>
            <p:nvPr/>
          </p:nvSpPr>
          <p:spPr>
            <a:xfrm>
              <a:off x="890834" y="0"/>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4"/>
              <a:stretch>
                <a:fillRect/>
              </a:stretch>
            </a:blipFill>
          </p:spPr>
          <p:txBody>
            <a:bodyPr/>
            <a:lstStyle/>
            <a:p>
              <a:endParaRPr lang="en-AU"/>
            </a:p>
          </p:txBody>
        </p:sp>
        <p:sp>
          <p:nvSpPr>
            <p:cNvPr id="14" name="Freeform 10">
              <a:extLst>
                <a:ext uri="{FF2B5EF4-FFF2-40B4-BE49-F238E27FC236}">
                  <a16:creationId xmlns:a16="http://schemas.microsoft.com/office/drawing/2014/main" id="{A229873A-B82C-1192-D9CF-2122EE0EE812}"/>
                </a:ext>
              </a:extLst>
            </p:cNvPr>
            <p:cNvSpPr/>
            <p:nvPr/>
          </p:nvSpPr>
          <p:spPr>
            <a:xfrm>
              <a:off x="890834" y="448482"/>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5"/>
              <a:stretch>
                <a:fillRect/>
              </a:stretch>
            </a:blipFill>
          </p:spPr>
          <p:txBody>
            <a:bodyPr/>
            <a:lstStyle/>
            <a:p>
              <a:endParaRPr lang="en-AU"/>
            </a:p>
          </p:txBody>
        </p:sp>
        <p:sp>
          <p:nvSpPr>
            <p:cNvPr id="15" name="Freeform 11">
              <a:extLst>
                <a:ext uri="{FF2B5EF4-FFF2-40B4-BE49-F238E27FC236}">
                  <a16:creationId xmlns:a16="http://schemas.microsoft.com/office/drawing/2014/main" id="{D40F00EC-664E-1294-5791-9AC9009A3712}"/>
                </a:ext>
              </a:extLst>
            </p:cNvPr>
            <p:cNvSpPr/>
            <p:nvPr/>
          </p:nvSpPr>
          <p:spPr>
            <a:xfrm>
              <a:off x="890834" y="893216"/>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5"/>
              <a:stretch>
                <a:fillRect/>
              </a:stretch>
            </a:blipFill>
          </p:spPr>
          <p:txBody>
            <a:bodyPr/>
            <a:lstStyle/>
            <a:p>
              <a:endParaRPr lang="en-AU"/>
            </a:p>
          </p:txBody>
        </p:sp>
        <p:sp>
          <p:nvSpPr>
            <p:cNvPr id="16" name="Freeform 12">
              <a:extLst>
                <a:ext uri="{FF2B5EF4-FFF2-40B4-BE49-F238E27FC236}">
                  <a16:creationId xmlns:a16="http://schemas.microsoft.com/office/drawing/2014/main" id="{EDA515CD-C5D8-C28E-8FEC-A80BD04C8707}"/>
                </a:ext>
              </a:extLst>
            </p:cNvPr>
            <p:cNvSpPr/>
            <p:nvPr/>
          </p:nvSpPr>
          <p:spPr>
            <a:xfrm>
              <a:off x="1335568" y="0"/>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6"/>
              <a:stretch>
                <a:fillRect/>
              </a:stretch>
            </a:blipFill>
          </p:spPr>
          <p:txBody>
            <a:bodyPr/>
            <a:lstStyle/>
            <a:p>
              <a:endParaRPr lang="en-AU"/>
            </a:p>
          </p:txBody>
        </p:sp>
        <p:sp>
          <p:nvSpPr>
            <p:cNvPr id="17" name="Freeform 13">
              <a:extLst>
                <a:ext uri="{FF2B5EF4-FFF2-40B4-BE49-F238E27FC236}">
                  <a16:creationId xmlns:a16="http://schemas.microsoft.com/office/drawing/2014/main" id="{5128D3BE-C0F3-7022-D743-08A9A9EE85DE}"/>
                </a:ext>
              </a:extLst>
            </p:cNvPr>
            <p:cNvSpPr/>
            <p:nvPr/>
          </p:nvSpPr>
          <p:spPr>
            <a:xfrm>
              <a:off x="1780302" y="0"/>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5"/>
              <a:stretch>
                <a:fillRect/>
              </a:stretch>
            </a:blipFill>
          </p:spPr>
          <p:txBody>
            <a:bodyPr/>
            <a:lstStyle/>
            <a:p>
              <a:endParaRPr lang="en-AU"/>
            </a:p>
          </p:txBody>
        </p:sp>
        <p:sp>
          <p:nvSpPr>
            <p:cNvPr id="18" name="Freeform 14">
              <a:extLst>
                <a:ext uri="{FF2B5EF4-FFF2-40B4-BE49-F238E27FC236}">
                  <a16:creationId xmlns:a16="http://schemas.microsoft.com/office/drawing/2014/main" id="{A62C29DF-7FC0-BBFF-1172-A69E8955043E}"/>
                </a:ext>
              </a:extLst>
            </p:cNvPr>
            <p:cNvSpPr/>
            <p:nvPr/>
          </p:nvSpPr>
          <p:spPr>
            <a:xfrm>
              <a:off x="1335568" y="893216"/>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7"/>
              <a:stretch>
                <a:fillRect/>
              </a:stretch>
            </a:blipFill>
          </p:spPr>
          <p:txBody>
            <a:bodyPr/>
            <a:lstStyle/>
            <a:p>
              <a:endParaRPr lang="en-AU"/>
            </a:p>
          </p:txBody>
        </p:sp>
        <p:sp>
          <p:nvSpPr>
            <p:cNvPr id="19" name="Freeform 15">
              <a:extLst>
                <a:ext uri="{FF2B5EF4-FFF2-40B4-BE49-F238E27FC236}">
                  <a16:creationId xmlns:a16="http://schemas.microsoft.com/office/drawing/2014/main" id="{7E3C4DDC-197D-335A-DDE4-CC235BD1D8DB}"/>
                </a:ext>
              </a:extLst>
            </p:cNvPr>
            <p:cNvSpPr/>
            <p:nvPr/>
          </p:nvSpPr>
          <p:spPr>
            <a:xfrm>
              <a:off x="1335568" y="421081"/>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4"/>
              <a:stretch>
                <a:fillRect/>
              </a:stretch>
            </a:blipFill>
          </p:spPr>
          <p:txBody>
            <a:bodyPr/>
            <a:lstStyle/>
            <a:p>
              <a:endParaRPr lang="en-AU"/>
            </a:p>
          </p:txBody>
        </p:sp>
        <p:sp>
          <p:nvSpPr>
            <p:cNvPr id="20" name="Freeform 16">
              <a:extLst>
                <a:ext uri="{FF2B5EF4-FFF2-40B4-BE49-F238E27FC236}">
                  <a16:creationId xmlns:a16="http://schemas.microsoft.com/office/drawing/2014/main" id="{25094D84-B6CB-B5AA-CAE2-234E981DA008}"/>
                </a:ext>
              </a:extLst>
            </p:cNvPr>
            <p:cNvSpPr/>
            <p:nvPr/>
          </p:nvSpPr>
          <p:spPr>
            <a:xfrm>
              <a:off x="1780302" y="421081"/>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7"/>
              <a:stretch>
                <a:fillRect/>
              </a:stretch>
            </a:blipFill>
          </p:spPr>
          <p:txBody>
            <a:bodyPr/>
            <a:lstStyle/>
            <a:p>
              <a:endParaRPr lang="en-AU"/>
            </a:p>
          </p:txBody>
        </p:sp>
        <p:sp>
          <p:nvSpPr>
            <p:cNvPr id="21" name="Freeform 17">
              <a:extLst>
                <a:ext uri="{FF2B5EF4-FFF2-40B4-BE49-F238E27FC236}">
                  <a16:creationId xmlns:a16="http://schemas.microsoft.com/office/drawing/2014/main" id="{DCEB3367-A777-4B13-FA59-CB6A8427C98F}"/>
                </a:ext>
              </a:extLst>
            </p:cNvPr>
            <p:cNvSpPr/>
            <p:nvPr/>
          </p:nvSpPr>
          <p:spPr>
            <a:xfrm>
              <a:off x="1780302" y="893216"/>
              <a:ext cx="350671" cy="350671"/>
            </a:xfrm>
            <a:custGeom>
              <a:avLst/>
              <a:gdLst/>
              <a:ahLst/>
              <a:cxnLst/>
              <a:rect l="l" t="t" r="r" b="b"/>
              <a:pathLst>
                <a:path w="350671" h="350671">
                  <a:moveTo>
                    <a:pt x="0" y="0"/>
                  </a:moveTo>
                  <a:lnTo>
                    <a:pt x="350671" y="0"/>
                  </a:lnTo>
                  <a:lnTo>
                    <a:pt x="350671" y="350671"/>
                  </a:lnTo>
                  <a:lnTo>
                    <a:pt x="0" y="350671"/>
                  </a:lnTo>
                  <a:lnTo>
                    <a:pt x="0" y="0"/>
                  </a:lnTo>
                  <a:close/>
                </a:path>
              </a:pathLst>
            </a:custGeom>
            <a:blipFill>
              <a:blip r:embed="rId7"/>
              <a:stretch>
                <a:fillRect/>
              </a:stretch>
            </a:blipFill>
          </p:spPr>
          <p:txBody>
            <a:bodyPr/>
            <a:lstStyle/>
            <a:p>
              <a:endParaRPr lang="en-AU"/>
            </a:p>
          </p:txBody>
        </p:sp>
      </p:grpSp>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(26)</a:t>
            </a:r>
          </a:p>
        </p:txBody>
      </p:sp>
      <p:pic>
        <p:nvPicPr>
          <p:cNvPr id="4" name="Picture 3" descr="image of a clipboard with a pencil recording short answer responses">
            <a:extLst>
              <a:ext uri="{FF2B5EF4-FFF2-40B4-BE49-F238E27FC236}">
                <a16:creationId xmlns:a16="http://schemas.microsoft.com/office/drawing/2014/main" id="{B2AACA3F-7A28-6CBF-E26B-3DD13855833C}"/>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TextBox 7">
            <a:extLst>
              <a:ext uri="{FF2B5EF4-FFF2-40B4-BE49-F238E27FC236}">
                <a16:creationId xmlns:a16="http://schemas.microsoft.com/office/drawing/2014/main" id="{BCB2A648-6BA5-0A0F-7606-9B8D4928F626}"/>
              </a:ext>
            </a:extLst>
          </p:cNvPr>
          <p:cNvSpPr txBox="1"/>
          <p:nvPr/>
        </p:nvSpPr>
        <p:spPr>
          <a:xfrm>
            <a:off x="587020" y="2705725"/>
            <a:ext cx="11469227" cy="1446550"/>
          </a:xfrm>
          <a:prstGeom prst="rect">
            <a:avLst/>
          </a:prstGeom>
          <a:noFill/>
        </p:spPr>
        <p:txBody>
          <a:bodyPr wrap="square">
            <a:spAutoFit/>
          </a:bodyPr>
          <a:lstStyle/>
          <a:p>
            <a:r>
              <a:rPr lang="en-AU" sz="4400" dirty="0">
                <a:latin typeface="+mj-lt"/>
              </a:rPr>
              <a:t>Which of these is </a:t>
            </a:r>
            <a:r>
              <a:rPr lang="en-AU" sz="4400" b="1" dirty="0">
                <a:latin typeface="+mj-lt"/>
              </a:rPr>
              <a:t>not</a:t>
            </a:r>
            <a:r>
              <a:rPr lang="en-AU" sz="4400" dirty="0">
                <a:latin typeface="+mj-lt"/>
              </a:rPr>
              <a:t> a </a:t>
            </a:r>
            <a:r>
              <a:rPr lang="en-AU" sz="4400" b="1" dirty="0">
                <a:latin typeface="+mj-lt"/>
              </a:rPr>
              <a:t>top</a:t>
            </a:r>
            <a:r>
              <a:rPr lang="en-AU" sz="4400" dirty="0">
                <a:latin typeface="+mj-lt"/>
              </a:rPr>
              <a:t>, </a:t>
            </a:r>
            <a:r>
              <a:rPr lang="en-AU" sz="4400" b="1" dirty="0">
                <a:latin typeface="+mj-lt"/>
              </a:rPr>
              <a:t>front</a:t>
            </a:r>
            <a:r>
              <a:rPr lang="en-AU" sz="4400" dirty="0">
                <a:latin typeface="+mj-lt"/>
              </a:rPr>
              <a:t> or </a:t>
            </a:r>
            <a:r>
              <a:rPr lang="en-AU" sz="4400" b="1" dirty="0">
                <a:latin typeface="+mj-lt"/>
              </a:rPr>
              <a:t>side</a:t>
            </a:r>
            <a:r>
              <a:rPr lang="en-AU" sz="4400" dirty="0">
                <a:latin typeface="+mj-lt"/>
              </a:rPr>
              <a:t> </a:t>
            </a:r>
            <a:r>
              <a:rPr lang="en-AU" sz="4400" b="1" dirty="0">
                <a:latin typeface="+mj-lt"/>
              </a:rPr>
              <a:t>view</a:t>
            </a:r>
            <a:r>
              <a:rPr lang="en-AU" sz="4400" dirty="0">
                <a:latin typeface="+mj-lt"/>
              </a:rPr>
              <a:t> of the 3D object?</a:t>
            </a:r>
          </a:p>
        </p:txBody>
      </p:sp>
      <p:grpSp>
        <p:nvGrpSpPr>
          <p:cNvPr id="5" name="Group 2" descr="A 3D object made of 4 cubic centimetre blocks.">
            <a:extLst>
              <a:ext uri="{FF2B5EF4-FFF2-40B4-BE49-F238E27FC236}">
                <a16:creationId xmlns:a16="http://schemas.microsoft.com/office/drawing/2014/main" id="{87CEBBB3-2909-8402-D640-99DEFBA49FF1}"/>
              </a:ext>
            </a:extLst>
          </p:cNvPr>
          <p:cNvGrpSpPr/>
          <p:nvPr/>
        </p:nvGrpSpPr>
        <p:grpSpPr>
          <a:xfrm>
            <a:off x="4585550" y="1193864"/>
            <a:ext cx="2710723" cy="1248429"/>
            <a:chOff x="0" y="0"/>
            <a:chExt cx="3614297" cy="1664572"/>
          </a:xfrm>
        </p:grpSpPr>
        <p:sp>
          <p:nvSpPr>
            <p:cNvPr id="6" name="Freeform 3">
              <a:extLst>
                <a:ext uri="{FF2B5EF4-FFF2-40B4-BE49-F238E27FC236}">
                  <a16:creationId xmlns:a16="http://schemas.microsoft.com/office/drawing/2014/main" id="{E5F708FE-3542-F600-457E-EEBEE852451E}"/>
                </a:ext>
              </a:extLst>
            </p:cNvPr>
            <p:cNvSpPr/>
            <p:nvPr/>
          </p:nvSpPr>
          <p:spPr>
            <a:xfrm>
              <a:off x="431716" y="0"/>
              <a:ext cx="1377030" cy="1306457"/>
            </a:xfrm>
            <a:custGeom>
              <a:avLst/>
              <a:gdLst/>
              <a:ahLst/>
              <a:cxnLst/>
              <a:rect l="l" t="t" r="r" b="b"/>
              <a:pathLst>
                <a:path w="1377030" h="1306457">
                  <a:moveTo>
                    <a:pt x="0" y="0"/>
                  </a:moveTo>
                  <a:lnTo>
                    <a:pt x="1377030" y="0"/>
                  </a:lnTo>
                  <a:lnTo>
                    <a:pt x="1377030" y="1306457"/>
                  </a:lnTo>
                  <a:lnTo>
                    <a:pt x="0" y="13064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4">
              <a:extLst>
                <a:ext uri="{FF2B5EF4-FFF2-40B4-BE49-F238E27FC236}">
                  <a16:creationId xmlns:a16="http://schemas.microsoft.com/office/drawing/2014/main" id="{8114A9D6-2903-5A5F-800F-84DFFDC47916}"/>
                </a:ext>
              </a:extLst>
            </p:cNvPr>
            <p:cNvSpPr/>
            <p:nvPr/>
          </p:nvSpPr>
          <p:spPr>
            <a:xfrm>
              <a:off x="0" y="358116"/>
              <a:ext cx="1377030" cy="1306457"/>
            </a:xfrm>
            <a:custGeom>
              <a:avLst/>
              <a:gdLst/>
              <a:ahLst/>
              <a:cxnLst/>
              <a:rect l="l" t="t" r="r" b="b"/>
              <a:pathLst>
                <a:path w="1377030" h="1306457">
                  <a:moveTo>
                    <a:pt x="0" y="0"/>
                  </a:moveTo>
                  <a:lnTo>
                    <a:pt x="1377030" y="0"/>
                  </a:lnTo>
                  <a:lnTo>
                    <a:pt x="1377030" y="1306456"/>
                  </a:lnTo>
                  <a:lnTo>
                    <a:pt x="0" y="13064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Freeform 5">
              <a:extLst>
                <a:ext uri="{FF2B5EF4-FFF2-40B4-BE49-F238E27FC236}">
                  <a16:creationId xmlns:a16="http://schemas.microsoft.com/office/drawing/2014/main" id="{DD1C1D5E-37DE-EDE0-F571-A9FDF7F2C57F}"/>
                </a:ext>
              </a:extLst>
            </p:cNvPr>
            <p:cNvSpPr/>
            <p:nvPr/>
          </p:nvSpPr>
          <p:spPr>
            <a:xfrm>
              <a:off x="1337990" y="0"/>
              <a:ext cx="1377030" cy="1306457"/>
            </a:xfrm>
            <a:custGeom>
              <a:avLst/>
              <a:gdLst/>
              <a:ahLst/>
              <a:cxnLst/>
              <a:rect l="l" t="t" r="r" b="b"/>
              <a:pathLst>
                <a:path w="1377030" h="1306457">
                  <a:moveTo>
                    <a:pt x="0" y="0"/>
                  </a:moveTo>
                  <a:lnTo>
                    <a:pt x="1377030" y="0"/>
                  </a:lnTo>
                  <a:lnTo>
                    <a:pt x="1377030" y="1306457"/>
                  </a:lnTo>
                  <a:lnTo>
                    <a:pt x="0" y="13064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0" name="Freeform 6">
              <a:extLst>
                <a:ext uri="{FF2B5EF4-FFF2-40B4-BE49-F238E27FC236}">
                  <a16:creationId xmlns:a16="http://schemas.microsoft.com/office/drawing/2014/main" id="{F91FEDCC-00EB-8BB1-A16C-348188A4F8A9}"/>
                </a:ext>
              </a:extLst>
            </p:cNvPr>
            <p:cNvSpPr/>
            <p:nvPr/>
          </p:nvSpPr>
          <p:spPr>
            <a:xfrm>
              <a:off x="2237267" y="0"/>
              <a:ext cx="1377030" cy="1306457"/>
            </a:xfrm>
            <a:custGeom>
              <a:avLst/>
              <a:gdLst/>
              <a:ahLst/>
              <a:cxnLst/>
              <a:rect l="l" t="t" r="r" b="b"/>
              <a:pathLst>
                <a:path w="1377030" h="1306457">
                  <a:moveTo>
                    <a:pt x="0" y="0"/>
                  </a:moveTo>
                  <a:lnTo>
                    <a:pt x="1377030" y="0"/>
                  </a:lnTo>
                  <a:lnTo>
                    <a:pt x="1377030" y="1306457"/>
                  </a:lnTo>
                  <a:lnTo>
                    <a:pt x="0" y="13064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11" name="Group 7" descr="3 connected squares in a line.">
            <a:extLst>
              <a:ext uri="{FF2B5EF4-FFF2-40B4-BE49-F238E27FC236}">
                <a16:creationId xmlns:a16="http://schemas.microsoft.com/office/drawing/2014/main" id="{6ECCE51E-8091-23B7-7D6D-69A482BA46F9}"/>
              </a:ext>
            </a:extLst>
          </p:cNvPr>
          <p:cNvGrpSpPr/>
          <p:nvPr/>
        </p:nvGrpSpPr>
        <p:grpSpPr>
          <a:xfrm>
            <a:off x="3478668" y="5037002"/>
            <a:ext cx="2488498" cy="829499"/>
            <a:chOff x="0" y="0"/>
            <a:chExt cx="3317997" cy="1105999"/>
          </a:xfrm>
        </p:grpSpPr>
        <p:grpSp>
          <p:nvGrpSpPr>
            <p:cNvPr id="12" name="Group 8">
              <a:extLst>
                <a:ext uri="{FF2B5EF4-FFF2-40B4-BE49-F238E27FC236}">
                  <a16:creationId xmlns:a16="http://schemas.microsoft.com/office/drawing/2014/main" id="{1979E099-BDDE-89C0-ECF9-E827FDA0095F}"/>
                </a:ext>
              </a:extLst>
            </p:cNvPr>
            <p:cNvGrpSpPr/>
            <p:nvPr/>
          </p:nvGrpSpPr>
          <p:grpSpPr>
            <a:xfrm>
              <a:off x="0" y="0"/>
              <a:ext cx="1105999" cy="1105999"/>
              <a:chOff x="0" y="0"/>
              <a:chExt cx="297274" cy="297274"/>
            </a:xfrm>
          </p:grpSpPr>
          <p:sp>
            <p:nvSpPr>
              <p:cNvPr id="19" name="Freeform 9">
                <a:extLst>
                  <a:ext uri="{FF2B5EF4-FFF2-40B4-BE49-F238E27FC236}">
                    <a16:creationId xmlns:a16="http://schemas.microsoft.com/office/drawing/2014/main" id="{80BB2CFD-2689-4CBA-5EAA-CA83D7CF5AC2}"/>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20" name="TextBox 10">
                <a:extLst>
                  <a:ext uri="{FF2B5EF4-FFF2-40B4-BE49-F238E27FC236}">
                    <a16:creationId xmlns:a16="http://schemas.microsoft.com/office/drawing/2014/main" id="{818B6132-CD95-CFE0-5BF7-11316DB471B4}"/>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nvGrpSpPr>
            <p:cNvPr id="13" name="Group 11">
              <a:extLst>
                <a:ext uri="{FF2B5EF4-FFF2-40B4-BE49-F238E27FC236}">
                  <a16:creationId xmlns:a16="http://schemas.microsoft.com/office/drawing/2014/main" id="{D204CCC5-2FE8-6F21-DFA0-A9323880D462}"/>
                </a:ext>
              </a:extLst>
            </p:cNvPr>
            <p:cNvGrpSpPr/>
            <p:nvPr/>
          </p:nvGrpSpPr>
          <p:grpSpPr>
            <a:xfrm>
              <a:off x="1105999" y="0"/>
              <a:ext cx="1105999" cy="1105999"/>
              <a:chOff x="0" y="0"/>
              <a:chExt cx="297274" cy="297274"/>
            </a:xfrm>
          </p:grpSpPr>
          <p:sp>
            <p:nvSpPr>
              <p:cNvPr id="17" name="Freeform 12">
                <a:extLst>
                  <a:ext uri="{FF2B5EF4-FFF2-40B4-BE49-F238E27FC236}">
                    <a16:creationId xmlns:a16="http://schemas.microsoft.com/office/drawing/2014/main" id="{830BCF89-525C-27B7-72CB-6BCC9C006EDB}"/>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18" name="TextBox 13">
                <a:extLst>
                  <a:ext uri="{FF2B5EF4-FFF2-40B4-BE49-F238E27FC236}">
                    <a16:creationId xmlns:a16="http://schemas.microsoft.com/office/drawing/2014/main" id="{79F929BD-6A5C-7A5D-2444-0256C5A01F15}"/>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nvGrpSpPr>
            <p:cNvPr id="14" name="Group 14">
              <a:extLst>
                <a:ext uri="{FF2B5EF4-FFF2-40B4-BE49-F238E27FC236}">
                  <a16:creationId xmlns:a16="http://schemas.microsoft.com/office/drawing/2014/main" id="{053FB26E-EE66-0BA3-DB12-B56D4C16FE5C}"/>
                </a:ext>
              </a:extLst>
            </p:cNvPr>
            <p:cNvGrpSpPr/>
            <p:nvPr/>
          </p:nvGrpSpPr>
          <p:grpSpPr>
            <a:xfrm>
              <a:off x="2211998" y="0"/>
              <a:ext cx="1105999" cy="1105999"/>
              <a:chOff x="0" y="0"/>
              <a:chExt cx="297274" cy="297274"/>
            </a:xfrm>
          </p:grpSpPr>
          <p:sp>
            <p:nvSpPr>
              <p:cNvPr id="15" name="Freeform 15">
                <a:extLst>
                  <a:ext uri="{FF2B5EF4-FFF2-40B4-BE49-F238E27FC236}">
                    <a16:creationId xmlns:a16="http://schemas.microsoft.com/office/drawing/2014/main" id="{218EFD26-81E3-7A13-8142-3000FC9AD2BE}"/>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16" name="TextBox 16">
                <a:extLst>
                  <a:ext uri="{FF2B5EF4-FFF2-40B4-BE49-F238E27FC236}">
                    <a16:creationId xmlns:a16="http://schemas.microsoft.com/office/drawing/2014/main" id="{0BC9D2D2-2F6B-AF85-99C4-DACE9BE58514}"/>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grpSp>
        <p:nvGrpSpPr>
          <p:cNvPr id="21" name="Group 17" descr="2 connected squares.">
            <a:extLst>
              <a:ext uri="{FF2B5EF4-FFF2-40B4-BE49-F238E27FC236}">
                <a16:creationId xmlns:a16="http://schemas.microsoft.com/office/drawing/2014/main" id="{A773C9D9-DB21-CFDB-76DF-CFC636A2B9C9}"/>
              </a:ext>
            </a:extLst>
          </p:cNvPr>
          <p:cNvGrpSpPr/>
          <p:nvPr/>
        </p:nvGrpSpPr>
        <p:grpSpPr>
          <a:xfrm>
            <a:off x="6329116" y="5037002"/>
            <a:ext cx="1658998" cy="829499"/>
            <a:chOff x="0" y="0"/>
            <a:chExt cx="2211998" cy="1105999"/>
          </a:xfrm>
        </p:grpSpPr>
        <p:grpSp>
          <p:nvGrpSpPr>
            <p:cNvPr id="22" name="Group 18">
              <a:extLst>
                <a:ext uri="{FF2B5EF4-FFF2-40B4-BE49-F238E27FC236}">
                  <a16:creationId xmlns:a16="http://schemas.microsoft.com/office/drawing/2014/main" id="{FB1725D4-D222-9858-4268-697C1DEFAA9D}"/>
                </a:ext>
              </a:extLst>
            </p:cNvPr>
            <p:cNvGrpSpPr/>
            <p:nvPr/>
          </p:nvGrpSpPr>
          <p:grpSpPr>
            <a:xfrm>
              <a:off x="0" y="0"/>
              <a:ext cx="1105999" cy="1105999"/>
              <a:chOff x="0" y="0"/>
              <a:chExt cx="297274" cy="297274"/>
            </a:xfrm>
          </p:grpSpPr>
          <p:sp>
            <p:nvSpPr>
              <p:cNvPr id="26" name="Freeform 19">
                <a:extLst>
                  <a:ext uri="{FF2B5EF4-FFF2-40B4-BE49-F238E27FC236}">
                    <a16:creationId xmlns:a16="http://schemas.microsoft.com/office/drawing/2014/main" id="{9B951D0A-EC32-10B2-DB1C-FC12EA1D002B}"/>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27" name="TextBox 20">
                <a:extLst>
                  <a:ext uri="{FF2B5EF4-FFF2-40B4-BE49-F238E27FC236}">
                    <a16:creationId xmlns:a16="http://schemas.microsoft.com/office/drawing/2014/main" id="{ED104113-B6B3-6C38-6672-81027682BAC8}"/>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nvGrpSpPr>
            <p:cNvPr id="23" name="Group 21">
              <a:extLst>
                <a:ext uri="{FF2B5EF4-FFF2-40B4-BE49-F238E27FC236}">
                  <a16:creationId xmlns:a16="http://schemas.microsoft.com/office/drawing/2014/main" id="{AC56458A-EE1C-D13A-2F53-32F706A06EBD}"/>
                </a:ext>
              </a:extLst>
            </p:cNvPr>
            <p:cNvGrpSpPr/>
            <p:nvPr/>
          </p:nvGrpSpPr>
          <p:grpSpPr>
            <a:xfrm>
              <a:off x="1105999" y="0"/>
              <a:ext cx="1105999" cy="1105999"/>
              <a:chOff x="0" y="0"/>
              <a:chExt cx="297274" cy="297274"/>
            </a:xfrm>
          </p:grpSpPr>
          <p:sp>
            <p:nvSpPr>
              <p:cNvPr id="24" name="Freeform 22">
                <a:extLst>
                  <a:ext uri="{FF2B5EF4-FFF2-40B4-BE49-F238E27FC236}">
                    <a16:creationId xmlns:a16="http://schemas.microsoft.com/office/drawing/2014/main" id="{701F0C49-378B-E122-980C-A4711B1D4410}"/>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25" name="TextBox 23">
                <a:extLst>
                  <a:ext uri="{FF2B5EF4-FFF2-40B4-BE49-F238E27FC236}">
                    <a16:creationId xmlns:a16="http://schemas.microsoft.com/office/drawing/2014/main" id="{5F156860-7E27-57E7-6745-1074F9FCCC4F}"/>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grpSp>
        <p:nvGrpSpPr>
          <p:cNvPr id="28" name="Group 24" descr="3 connected squares in an &quot;L&quot; shape.">
            <a:extLst>
              <a:ext uri="{FF2B5EF4-FFF2-40B4-BE49-F238E27FC236}">
                <a16:creationId xmlns:a16="http://schemas.microsoft.com/office/drawing/2014/main" id="{58B22420-ACD2-9F95-E24C-E9550AD76484}"/>
              </a:ext>
            </a:extLst>
          </p:cNvPr>
          <p:cNvGrpSpPr/>
          <p:nvPr/>
        </p:nvGrpSpPr>
        <p:grpSpPr>
          <a:xfrm>
            <a:off x="1457720" y="5037002"/>
            <a:ext cx="1658998" cy="1658998"/>
            <a:chOff x="0" y="0"/>
            <a:chExt cx="2211998" cy="2211998"/>
          </a:xfrm>
        </p:grpSpPr>
        <p:grpSp>
          <p:nvGrpSpPr>
            <p:cNvPr id="29" name="Group 25">
              <a:extLst>
                <a:ext uri="{FF2B5EF4-FFF2-40B4-BE49-F238E27FC236}">
                  <a16:creationId xmlns:a16="http://schemas.microsoft.com/office/drawing/2014/main" id="{EDD0963B-67ED-5576-371A-0EBEA268CDC1}"/>
                </a:ext>
              </a:extLst>
            </p:cNvPr>
            <p:cNvGrpSpPr/>
            <p:nvPr/>
          </p:nvGrpSpPr>
          <p:grpSpPr>
            <a:xfrm>
              <a:off x="0" y="0"/>
              <a:ext cx="1105999" cy="1105999"/>
              <a:chOff x="0" y="0"/>
              <a:chExt cx="297274" cy="297274"/>
            </a:xfrm>
          </p:grpSpPr>
          <p:sp>
            <p:nvSpPr>
              <p:cNvPr id="36" name="Freeform 26">
                <a:extLst>
                  <a:ext uri="{FF2B5EF4-FFF2-40B4-BE49-F238E27FC236}">
                    <a16:creationId xmlns:a16="http://schemas.microsoft.com/office/drawing/2014/main" id="{9EBF5B25-AC3B-2740-2171-931B21C9F31D}"/>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37" name="TextBox 27">
                <a:extLst>
                  <a:ext uri="{FF2B5EF4-FFF2-40B4-BE49-F238E27FC236}">
                    <a16:creationId xmlns:a16="http://schemas.microsoft.com/office/drawing/2014/main" id="{EBBA6012-5309-41D2-A373-8572E5DA811D}"/>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nvGrpSpPr>
            <p:cNvPr id="30" name="Group 28">
              <a:extLst>
                <a:ext uri="{FF2B5EF4-FFF2-40B4-BE49-F238E27FC236}">
                  <a16:creationId xmlns:a16="http://schemas.microsoft.com/office/drawing/2014/main" id="{9C11C0DB-2A8A-CB8E-38A9-D30815F11923}"/>
                </a:ext>
              </a:extLst>
            </p:cNvPr>
            <p:cNvGrpSpPr/>
            <p:nvPr/>
          </p:nvGrpSpPr>
          <p:grpSpPr>
            <a:xfrm>
              <a:off x="1105999" y="0"/>
              <a:ext cx="1105999" cy="1105999"/>
              <a:chOff x="0" y="0"/>
              <a:chExt cx="297274" cy="297274"/>
            </a:xfrm>
          </p:grpSpPr>
          <p:sp>
            <p:nvSpPr>
              <p:cNvPr id="34" name="Freeform 29">
                <a:extLst>
                  <a:ext uri="{FF2B5EF4-FFF2-40B4-BE49-F238E27FC236}">
                    <a16:creationId xmlns:a16="http://schemas.microsoft.com/office/drawing/2014/main" id="{8A757E4D-5D86-4F7D-48F7-F7E1E0CE6B9E}"/>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35" name="TextBox 30">
                <a:extLst>
                  <a:ext uri="{FF2B5EF4-FFF2-40B4-BE49-F238E27FC236}">
                    <a16:creationId xmlns:a16="http://schemas.microsoft.com/office/drawing/2014/main" id="{931FB760-4C1A-4E6D-A1E1-EAFC6F9A819F}"/>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nvGrpSpPr>
            <p:cNvPr id="31" name="Group 31">
              <a:extLst>
                <a:ext uri="{FF2B5EF4-FFF2-40B4-BE49-F238E27FC236}">
                  <a16:creationId xmlns:a16="http://schemas.microsoft.com/office/drawing/2014/main" id="{F6A936D5-F6CD-2FF9-D4FB-E7B257B356B7}"/>
                </a:ext>
              </a:extLst>
            </p:cNvPr>
            <p:cNvGrpSpPr/>
            <p:nvPr/>
          </p:nvGrpSpPr>
          <p:grpSpPr>
            <a:xfrm>
              <a:off x="0" y="1105999"/>
              <a:ext cx="1105999" cy="1105999"/>
              <a:chOff x="0" y="0"/>
              <a:chExt cx="297274" cy="297274"/>
            </a:xfrm>
          </p:grpSpPr>
          <p:sp>
            <p:nvSpPr>
              <p:cNvPr id="32" name="Freeform 32">
                <a:extLst>
                  <a:ext uri="{FF2B5EF4-FFF2-40B4-BE49-F238E27FC236}">
                    <a16:creationId xmlns:a16="http://schemas.microsoft.com/office/drawing/2014/main" id="{8405BE36-A6C6-98EE-C52B-E68AF4FED758}"/>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33" name="TextBox 33">
                <a:extLst>
                  <a:ext uri="{FF2B5EF4-FFF2-40B4-BE49-F238E27FC236}">
                    <a16:creationId xmlns:a16="http://schemas.microsoft.com/office/drawing/2014/main" id="{D408961F-D22F-1BB9-86AB-043D399F47C1}"/>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grpSp>
        <p:nvGrpSpPr>
          <p:cNvPr id="38" name="Group 34" descr="$ connected squares in an &quot;L&quot; shape.">
            <a:extLst>
              <a:ext uri="{FF2B5EF4-FFF2-40B4-BE49-F238E27FC236}">
                <a16:creationId xmlns:a16="http://schemas.microsoft.com/office/drawing/2014/main" id="{6DA0AAF2-5775-2F01-DEDA-9999932F109B}"/>
              </a:ext>
            </a:extLst>
          </p:cNvPr>
          <p:cNvGrpSpPr/>
          <p:nvPr/>
        </p:nvGrpSpPr>
        <p:grpSpPr>
          <a:xfrm>
            <a:off x="8348517" y="5037002"/>
            <a:ext cx="2488498" cy="1658998"/>
            <a:chOff x="0" y="0"/>
            <a:chExt cx="3317997" cy="2211998"/>
          </a:xfrm>
        </p:grpSpPr>
        <p:grpSp>
          <p:nvGrpSpPr>
            <p:cNvPr id="39" name="Group 35">
              <a:extLst>
                <a:ext uri="{FF2B5EF4-FFF2-40B4-BE49-F238E27FC236}">
                  <a16:creationId xmlns:a16="http://schemas.microsoft.com/office/drawing/2014/main" id="{A15B38DB-4250-A7FF-F491-89EF04A4AD8A}"/>
                </a:ext>
              </a:extLst>
            </p:cNvPr>
            <p:cNvGrpSpPr/>
            <p:nvPr/>
          </p:nvGrpSpPr>
          <p:grpSpPr>
            <a:xfrm>
              <a:off x="0" y="0"/>
              <a:ext cx="1105999" cy="1105999"/>
              <a:chOff x="0" y="0"/>
              <a:chExt cx="297274" cy="297274"/>
            </a:xfrm>
          </p:grpSpPr>
          <p:sp>
            <p:nvSpPr>
              <p:cNvPr id="49" name="Freeform 36">
                <a:extLst>
                  <a:ext uri="{FF2B5EF4-FFF2-40B4-BE49-F238E27FC236}">
                    <a16:creationId xmlns:a16="http://schemas.microsoft.com/office/drawing/2014/main" id="{23BAA812-11AB-EA0B-3BFE-794A68F8E253}"/>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50" name="TextBox 37">
                <a:extLst>
                  <a:ext uri="{FF2B5EF4-FFF2-40B4-BE49-F238E27FC236}">
                    <a16:creationId xmlns:a16="http://schemas.microsoft.com/office/drawing/2014/main" id="{ACA584CB-323B-445B-1333-A226F47FA0C4}"/>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nvGrpSpPr>
            <p:cNvPr id="40" name="Group 38">
              <a:extLst>
                <a:ext uri="{FF2B5EF4-FFF2-40B4-BE49-F238E27FC236}">
                  <a16:creationId xmlns:a16="http://schemas.microsoft.com/office/drawing/2014/main" id="{4B3DE2E4-B32C-5374-C8DA-DEBFA6F3BBAB}"/>
                </a:ext>
              </a:extLst>
            </p:cNvPr>
            <p:cNvGrpSpPr/>
            <p:nvPr/>
          </p:nvGrpSpPr>
          <p:grpSpPr>
            <a:xfrm>
              <a:off x="1105999" y="0"/>
              <a:ext cx="1105999" cy="1105999"/>
              <a:chOff x="0" y="0"/>
              <a:chExt cx="297274" cy="297274"/>
            </a:xfrm>
          </p:grpSpPr>
          <p:sp>
            <p:nvSpPr>
              <p:cNvPr id="47" name="Freeform 39">
                <a:extLst>
                  <a:ext uri="{FF2B5EF4-FFF2-40B4-BE49-F238E27FC236}">
                    <a16:creationId xmlns:a16="http://schemas.microsoft.com/office/drawing/2014/main" id="{C94422C8-78ED-3B9C-4EAB-D94328F6F68E}"/>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48" name="TextBox 40">
                <a:extLst>
                  <a:ext uri="{FF2B5EF4-FFF2-40B4-BE49-F238E27FC236}">
                    <a16:creationId xmlns:a16="http://schemas.microsoft.com/office/drawing/2014/main" id="{78C81155-EAA7-629D-E258-D14ED7D4485E}"/>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nvGrpSpPr>
            <p:cNvPr id="41" name="Group 41">
              <a:extLst>
                <a:ext uri="{FF2B5EF4-FFF2-40B4-BE49-F238E27FC236}">
                  <a16:creationId xmlns:a16="http://schemas.microsoft.com/office/drawing/2014/main" id="{22E3EDCD-38F5-5AF9-6CC6-6B65B528B9C1}"/>
                </a:ext>
              </a:extLst>
            </p:cNvPr>
            <p:cNvGrpSpPr/>
            <p:nvPr/>
          </p:nvGrpSpPr>
          <p:grpSpPr>
            <a:xfrm>
              <a:off x="2211998" y="0"/>
              <a:ext cx="1105999" cy="1105999"/>
              <a:chOff x="0" y="0"/>
              <a:chExt cx="297274" cy="297274"/>
            </a:xfrm>
          </p:grpSpPr>
          <p:sp>
            <p:nvSpPr>
              <p:cNvPr id="45" name="Freeform 42">
                <a:extLst>
                  <a:ext uri="{FF2B5EF4-FFF2-40B4-BE49-F238E27FC236}">
                    <a16:creationId xmlns:a16="http://schemas.microsoft.com/office/drawing/2014/main" id="{271C1ABD-3F3A-AA0E-6D41-470BE80B97DB}"/>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46" name="TextBox 43">
                <a:extLst>
                  <a:ext uri="{FF2B5EF4-FFF2-40B4-BE49-F238E27FC236}">
                    <a16:creationId xmlns:a16="http://schemas.microsoft.com/office/drawing/2014/main" id="{A986F645-CDE7-CE7E-7044-4DE722F8A0AF}"/>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nvGrpSpPr>
            <p:cNvPr id="42" name="Group 44">
              <a:extLst>
                <a:ext uri="{FF2B5EF4-FFF2-40B4-BE49-F238E27FC236}">
                  <a16:creationId xmlns:a16="http://schemas.microsoft.com/office/drawing/2014/main" id="{4DB3F365-D45B-40FB-2A09-E6C31EFD41CA}"/>
                </a:ext>
              </a:extLst>
            </p:cNvPr>
            <p:cNvGrpSpPr/>
            <p:nvPr/>
          </p:nvGrpSpPr>
          <p:grpSpPr>
            <a:xfrm>
              <a:off x="0" y="1105999"/>
              <a:ext cx="1105999" cy="1105999"/>
              <a:chOff x="0" y="0"/>
              <a:chExt cx="297274" cy="297274"/>
            </a:xfrm>
          </p:grpSpPr>
          <p:sp>
            <p:nvSpPr>
              <p:cNvPr id="43" name="Freeform 45">
                <a:extLst>
                  <a:ext uri="{FF2B5EF4-FFF2-40B4-BE49-F238E27FC236}">
                    <a16:creationId xmlns:a16="http://schemas.microsoft.com/office/drawing/2014/main" id="{FEBBDC97-DC1C-63F6-0DD7-A83A10E97EF7}"/>
                  </a:ext>
                </a:extLst>
              </p:cNvPr>
              <p:cNvSpPr/>
              <p:nvPr/>
            </p:nvSpPr>
            <p:spPr>
              <a:xfrm>
                <a:off x="0" y="0"/>
                <a:ext cx="297274" cy="297274"/>
              </a:xfrm>
              <a:custGeom>
                <a:avLst/>
                <a:gdLst/>
                <a:ahLst/>
                <a:cxnLst/>
                <a:rect l="l" t="t" r="r" b="b"/>
                <a:pathLst>
                  <a:path w="297274" h="297274">
                    <a:moveTo>
                      <a:pt x="0" y="0"/>
                    </a:moveTo>
                    <a:lnTo>
                      <a:pt x="297274" y="0"/>
                    </a:lnTo>
                    <a:lnTo>
                      <a:pt x="297274" y="297274"/>
                    </a:lnTo>
                    <a:lnTo>
                      <a:pt x="0" y="297274"/>
                    </a:lnTo>
                    <a:close/>
                  </a:path>
                </a:pathLst>
              </a:custGeom>
              <a:solidFill>
                <a:srgbClr val="FED420"/>
              </a:solidFill>
              <a:ln w="19050" cap="sq">
                <a:solidFill>
                  <a:srgbClr val="000000"/>
                </a:solidFill>
                <a:prstDash val="solid"/>
                <a:miter/>
              </a:ln>
            </p:spPr>
            <p:txBody>
              <a:bodyPr/>
              <a:lstStyle/>
              <a:p>
                <a:endParaRPr lang="en-AU"/>
              </a:p>
            </p:txBody>
          </p:sp>
          <p:sp>
            <p:nvSpPr>
              <p:cNvPr id="44" name="TextBox 46">
                <a:extLst>
                  <a:ext uri="{FF2B5EF4-FFF2-40B4-BE49-F238E27FC236}">
                    <a16:creationId xmlns:a16="http://schemas.microsoft.com/office/drawing/2014/main" id="{14CDF842-5B27-2119-DB4B-3783D922E473}"/>
                  </a:ext>
                </a:extLst>
              </p:cNvPr>
              <p:cNvSpPr txBox="1"/>
              <p:nvPr/>
            </p:nvSpPr>
            <p:spPr>
              <a:xfrm>
                <a:off x="0" y="-28575"/>
                <a:ext cx="297274" cy="325849"/>
              </a:xfrm>
              <a:prstGeom prst="rect">
                <a:avLst/>
              </a:prstGeom>
            </p:spPr>
            <p:txBody>
              <a:bodyPr lIns="50800" tIns="50800" rIns="50800" bIns="50800" rtlCol="0" anchor="ctr"/>
              <a:lstStyle/>
              <a:p>
                <a:pPr algn="ctr">
                  <a:lnSpc>
                    <a:spcPts val="1960"/>
                  </a:lnSpc>
                </a:pPr>
                <a:endParaRPr/>
              </a:p>
            </p:txBody>
          </p:sp>
        </p:grpSp>
      </p:grpSp>
      <p:graphicFrame>
        <p:nvGraphicFramePr>
          <p:cNvPr id="51" name="Table 50">
            <a:extLst>
              <a:ext uri="{FF2B5EF4-FFF2-40B4-BE49-F238E27FC236}">
                <a16:creationId xmlns:a16="http://schemas.microsoft.com/office/drawing/2014/main" id="{FEC2390F-9119-78D1-F697-86D3E011EDC6}"/>
              </a:ext>
            </a:extLst>
          </p:cNvPr>
          <p:cNvGraphicFramePr>
            <a:graphicFrameLocks noGrp="1"/>
          </p:cNvGraphicFramePr>
          <p:nvPr>
            <p:extLst>
              <p:ext uri="{D42A27DB-BD31-4B8C-83A1-F6EECF244321}">
                <p14:modId xmlns:p14="http://schemas.microsoft.com/office/powerpoint/2010/main" val="1281401931"/>
              </p:ext>
            </p:extLst>
          </p:nvPr>
        </p:nvGraphicFramePr>
        <p:xfrm>
          <a:off x="1050979" y="4094441"/>
          <a:ext cx="9786036" cy="822960"/>
        </p:xfrm>
        <a:graphic>
          <a:graphicData uri="http://schemas.openxmlformats.org/drawingml/2006/table">
            <a:tbl>
              <a:tblPr firstRow="1" bandRow="1">
                <a:tableStyleId>{5A111915-BE36-4E01-A7E5-04B1672EAD32}</a:tableStyleId>
              </a:tblPr>
              <a:tblGrid>
                <a:gridCol w="2446509">
                  <a:extLst>
                    <a:ext uri="{9D8B030D-6E8A-4147-A177-3AD203B41FA5}">
                      <a16:colId xmlns:a16="http://schemas.microsoft.com/office/drawing/2014/main" val="1764535638"/>
                    </a:ext>
                  </a:extLst>
                </a:gridCol>
                <a:gridCol w="2446509">
                  <a:extLst>
                    <a:ext uri="{9D8B030D-6E8A-4147-A177-3AD203B41FA5}">
                      <a16:colId xmlns:a16="http://schemas.microsoft.com/office/drawing/2014/main" val="1542929608"/>
                    </a:ext>
                  </a:extLst>
                </a:gridCol>
                <a:gridCol w="2446509">
                  <a:extLst>
                    <a:ext uri="{9D8B030D-6E8A-4147-A177-3AD203B41FA5}">
                      <a16:colId xmlns:a16="http://schemas.microsoft.com/office/drawing/2014/main" val="4128396063"/>
                    </a:ext>
                  </a:extLst>
                </a:gridCol>
                <a:gridCol w="2446509">
                  <a:extLst>
                    <a:ext uri="{9D8B030D-6E8A-4147-A177-3AD203B41FA5}">
                      <a16:colId xmlns:a16="http://schemas.microsoft.com/office/drawing/2014/main" val="684268156"/>
                    </a:ext>
                  </a:extLst>
                </a:gridCol>
              </a:tblGrid>
              <a:tr h="681547">
                <a:tc>
                  <a:txBody>
                    <a:bodyPr/>
                    <a:lstStyle/>
                    <a:p>
                      <a:pPr algn="ctr"/>
                      <a:r>
                        <a:rPr lang="en-US" sz="4800" b="1" dirty="0">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dirty="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dirty="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bl>
          </a:graphicData>
        </a:graphic>
      </p:graphicFrame>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(27)</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53365" y="1184223"/>
                <a:ext cx="11235949" cy="5331777"/>
              </a:xfrm>
            </p:spPr>
            <p:txBody>
              <a:bodyPr/>
              <a:lstStyle/>
              <a:p>
                <a:pPr algn="ctr"/>
                <a:r>
                  <a:rPr lang="en-AU" sz="3600" dirty="0"/>
                  <a:t>Write these in order from </a:t>
                </a:r>
                <a:r>
                  <a:rPr lang="en-AU" sz="3600" b="1" dirty="0"/>
                  <a:t>smallest</a:t>
                </a:r>
                <a:r>
                  <a:rPr lang="en-AU" sz="3600" dirty="0"/>
                  <a:t> to </a:t>
                </a:r>
                <a:r>
                  <a:rPr lang="en-AU" sz="3600" b="1" dirty="0"/>
                  <a:t>largest</a:t>
                </a:r>
                <a:r>
                  <a:rPr lang="en-AU" sz="3600" dirty="0"/>
                  <a:t>: </a:t>
                </a:r>
              </a:p>
              <a:p>
                <a:pPr algn="ctr"/>
                <a:r>
                  <a:rPr lang="en-AU" sz="5400" dirty="0"/>
                  <a:t>0.5</a:t>
                </a:r>
                <a:r>
                  <a:rPr lang="en-AU" sz="6600" dirty="0"/>
                  <a:t>,  </a:t>
                </a:r>
                <a14:m>
                  <m:oMath xmlns:m="http://schemas.openxmlformats.org/officeDocument/2006/math">
                    <m:f>
                      <m:fPr>
                        <m:ctrlPr>
                          <a:rPr lang="en-AU" sz="6600" i="1">
                            <a:latin typeface="Cambria Math" panose="02040503050406030204" pitchFamily="18" charset="0"/>
                          </a:rPr>
                        </m:ctrlPr>
                      </m:fPr>
                      <m:num>
                        <m:r>
                          <a:rPr lang="en-AU" sz="6600" b="0" i="1" smtClean="0">
                            <a:latin typeface="Cambria Math" panose="02040503050406030204" pitchFamily="18" charset="0"/>
                          </a:rPr>
                          <m:t>3</m:t>
                        </m:r>
                      </m:num>
                      <m:den>
                        <m:r>
                          <a:rPr lang="en-AU" sz="6600" i="1">
                            <a:latin typeface="Cambria Math" panose="02040503050406030204" pitchFamily="18" charset="0"/>
                          </a:rPr>
                          <m:t>4</m:t>
                        </m:r>
                      </m:den>
                    </m:f>
                  </m:oMath>
                </a14:m>
                <a:r>
                  <a:rPr lang="en-AU" sz="6600" dirty="0"/>
                  <a:t>,  </a:t>
                </a:r>
                <a:r>
                  <a:rPr lang="en-AU" sz="6000" dirty="0"/>
                  <a:t>0.25, </a:t>
                </a:r>
                <a14:m>
                  <m:oMath xmlns:m="http://schemas.openxmlformats.org/officeDocument/2006/math">
                    <m:f>
                      <m:fPr>
                        <m:ctrlPr>
                          <a:rPr lang="en-AU" sz="6000" i="1" smtClean="0">
                            <a:latin typeface="Cambria Math" panose="02040503050406030204" pitchFamily="18" charset="0"/>
                          </a:rPr>
                        </m:ctrlPr>
                      </m:fPr>
                      <m:num>
                        <m:r>
                          <a:rPr lang="en-AU" sz="6000" b="0" i="1" smtClean="0">
                            <a:latin typeface="Cambria Math" panose="02040503050406030204" pitchFamily="18" charset="0"/>
                          </a:rPr>
                          <m:t>1</m:t>
                        </m:r>
                      </m:num>
                      <m:den>
                        <m:r>
                          <a:rPr lang="en-AU" sz="6000" b="0" i="1" smtClean="0">
                            <a:latin typeface="Cambria Math" panose="02040503050406030204" pitchFamily="18" charset="0"/>
                          </a:rPr>
                          <m:t>1</m:t>
                        </m:r>
                      </m:den>
                    </m:f>
                  </m:oMath>
                </a14:m>
                <a:endParaRPr lang="en-US" sz="3600" dirty="0"/>
              </a:p>
              <a:p>
                <a:endParaRPr lang="en-US" dirty="0">
                  <a:latin typeface="Arial"/>
                  <a:cs typeface="Arial"/>
                </a:endParaRPr>
              </a:p>
            </p:txBody>
          </p:sp>
        </mc:Choice>
        <mc:Fallback xmlns="">
          <p:sp>
            <p:nvSpPr>
              <p:cNvPr id="11" name="Picture Placeholder 10">
                <a:extLst>
                  <a:ext uri="{FF2B5EF4-FFF2-40B4-BE49-F238E27FC236}">
                    <a16:creationId xmlns:a16="http://schemas.microsoft.com/office/drawing/2014/main" id="{AA232421-C8EE-55E7-3B48-FB94C1F70903}"/>
                  </a:ext>
                </a:extLst>
              </p:cNvPr>
              <p:cNvSpPr>
                <a:spLocks noGrp="1" noRot="1" noChangeAspect="1" noMove="1" noResize="1" noEditPoints="1" noAdjustHandles="1" noChangeArrowheads="1" noChangeShapeType="1" noTextEdit="1"/>
              </p:cNvSpPr>
              <p:nvPr>
                <p:ph type="pic" sz="quarter" idx="21"/>
              </p:nvPr>
            </p:nvSpPr>
            <p:spPr>
              <a:xfrm>
                <a:off x="353365" y="1184223"/>
                <a:ext cx="11235949" cy="5331777"/>
              </a:xfrm>
              <a:blipFill>
                <a:blip r:embed="rId3"/>
                <a:stretch>
                  <a:fillRect/>
                </a:stretch>
              </a:blipFill>
            </p:spPr>
            <p:txBody>
              <a:bodyPr/>
              <a:lstStyle/>
              <a:p>
                <a:r>
                  <a:rPr lang="en-AU">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78D0A315-9AFB-D549-2ACA-8A9D46BA0AFA}"/>
              </a:ext>
            </a:extLst>
          </p:cNvPr>
          <p:cNvPicPr>
            <a:picLocks noChangeAspect="1"/>
          </p:cNvPicPr>
          <p:nvPr/>
        </p:nvPicPr>
        <p:blipFill>
          <a:blip r:embed="rId4"/>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(28)</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485214" y="905601"/>
            <a:ext cx="11221572" cy="2523399"/>
          </a:xfrm>
        </p:spPr>
        <p:txBody>
          <a:bodyPr/>
          <a:lstStyle/>
          <a:p>
            <a:pPr algn="ctr"/>
            <a:r>
              <a:rPr lang="en-US" sz="4000" dirty="0">
                <a:latin typeface="Arial"/>
                <a:cs typeface="Arial"/>
              </a:rPr>
              <a:t>Jeremy needs to </a:t>
            </a:r>
            <a:r>
              <a:rPr lang="en-US" sz="4000" b="1" dirty="0">
                <a:latin typeface="Arial"/>
                <a:cs typeface="Arial"/>
              </a:rPr>
              <a:t>measure</a:t>
            </a:r>
            <a:r>
              <a:rPr lang="en-US" sz="4000" dirty="0">
                <a:latin typeface="Arial"/>
                <a:cs typeface="Arial"/>
              </a:rPr>
              <a:t> a paperclip with a broken ruler. What is the paperclip’s </a:t>
            </a:r>
            <a:r>
              <a:rPr lang="en-US" sz="4000" b="1" dirty="0">
                <a:latin typeface="Arial"/>
                <a:cs typeface="Arial"/>
              </a:rPr>
              <a:t>length</a:t>
            </a:r>
            <a:r>
              <a:rPr lang="en-US" sz="4000" dirty="0">
                <a:latin typeface="Arial"/>
                <a:cs typeface="Arial"/>
              </a:rPr>
              <a:t>? </a:t>
            </a:r>
            <a:r>
              <a:rPr lang="en-US" sz="4000" b="1" dirty="0">
                <a:latin typeface="Arial"/>
                <a:cs typeface="Arial"/>
              </a:rPr>
              <a:t>Explain</a:t>
            </a:r>
            <a:r>
              <a:rPr lang="en-US" sz="4000" dirty="0">
                <a:latin typeface="Arial"/>
                <a:cs typeface="Arial"/>
              </a:rPr>
              <a:t> how you </a:t>
            </a:r>
            <a:r>
              <a:rPr lang="en-US" sz="4000" b="1" dirty="0">
                <a:latin typeface="Arial"/>
                <a:cs typeface="Arial"/>
              </a:rPr>
              <a:t>measured</a:t>
            </a:r>
            <a:r>
              <a:rPr lang="en-US" sz="4000" dirty="0">
                <a:latin typeface="Arial"/>
                <a:cs typeface="Arial"/>
              </a:rPr>
              <a:t> it.</a:t>
            </a:r>
          </a:p>
        </p:txBody>
      </p:sp>
      <p:pic>
        <p:nvPicPr>
          <p:cNvPr id="4" name="Picture 3" descr="image of a clipboard with a pencil recording short answer responses">
            <a:extLst>
              <a:ext uri="{FF2B5EF4-FFF2-40B4-BE49-F238E27FC236}">
                <a16:creationId xmlns:a16="http://schemas.microsoft.com/office/drawing/2014/main" id="{E7E56417-0731-9933-4CBF-B3EE29B95C6A}"/>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6" name="Picture 5" descr="A broken ruler, showing measurements from 10 cm to 20 cm. A paperclip is aligned from 11 cm to 18 cm, showing it is 7 cm in length.">
            <a:extLst>
              <a:ext uri="{FF2B5EF4-FFF2-40B4-BE49-F238E27FC236}">
                <a16:creationId xmlns:a16="http://schemas.microsoft.com/office/drawing/2014/main" id="{450DC703-61F5-9E65-5F38-6ADAD1B1F5F7}"/>
              </a:ext>
            </a:extLst>
          </p:cNvPr>
          <p:cNvPicPr>
            <a:picLocks noChangeAspect="1"/>
          </p:cNvPicPr>
          <p:nvPr/>
        </p:nvPicPr>
        <p:blipFill>
          <a:blip r:embed="rId4"/>
          <a:stretch>
            <a:fillRect/>
          </a:stretch>
        </p:blipFill>
        <p:spPr>
          <a:xfrm>
            <a:off x="3478303" y="3967804"/>
            <a:ext cx="5235394" cy="27281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085B48-8E60-8299-3F41-E4CCF3571700}"/>
              </a:ext>
            </a:extLst>
          </p:cNvPr>
          <p:cNvSpPr>
            <a:spLocks noGrp="1"/>
          </p:cNvSpPr>
          <p:nvPr>
            <p:ph type="sldNum" sz="quarter" idx="12"/>
          </p:nvPr>
        </p:nvSpPr>
        <p:spPr/>
        <p:txBody>
          <a:bodyPr anchor="t">
            <a:normAutofit/>
          </a:bodyPr>
          <a:lstStyle/>
          <a:p>
            <a:pPr marL="0" marR="0" lvl="0" indent="0" algn="r" defTabSz="609585" rtl="0" eaLnBrk="1" fontAlgn="auto" latinLnBrk="0" hangingPunct="1">
              <a:lnSpc>
                <a:spcPct val="90000"/>
              </a:lnSpc>
              <a:spcBef>
                <a:spcPts val="0"/>
              </a:spcBef>
              <a:spcAft>
                <a:spcPts val="60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90000"/>
                </a:lnSpc>
                <a:spcBef>
                  <a:spcPts val="0"/>
                </a:spcBef>
                <a:spcAft>
                  <a:spcPts val="600"/>
                </a:spcAft>
                <a:buClrTx/>
                <a:buSzTx/>
                <a:buFontTx/>
                <a:buNone/>
                <a:tabLst/>
                <a:defRPr/>
              </a:pPr>
              <a:t>52</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1" name="Title 2">
            <a:extLst>
              <a:ext uri="{FF2B5EF4-FFF2-40B4-BE49-F238E27FC236}">
                <a16:creationId xmlns:a16="http://schemas.microsoft.com/office/drawing/2014/main" id="{71742C01-3446-D0EB-3852-C7FC3EDA2864}"/>
              </a:ext>
            </a:extLst>
          </p:cNvPr>
          <p:cNvSpPr>
            <a:spLocks noGrp="1"/>
          </p:cNvSpPr>
          <p:nvPr>
            <p:ph type="title"/>
          </p:nvPr>
        </p:nvSpPr>
        <p:spPr>
          <a:xfrm>
            <a:off x="360000" y="360000"/>
            <a:ext cx="10745014" cy="545601"/>
          </a:xfrm>
        </p:spPr>
        <p:txBody>
          <a:bodyPr/>
          <a:lstStyle/>
          <a:p>
            <a:r>
              <a:rPr lang="en-AU" dirty="0">
                <a:latin typeface="Arial"/>
                <a:cs typeface="Arial"/>
              </a:rPr>
              <a:t>Activity 7 – place value using whole numbers, tenths and hundredths</a:t>
            </a:r>
            <a:endParaRPr lang="en-US" dirty="0"/>
          </a:p>
        </p:txBody>
      </p:sp>
      <p:pic>
        <p:nvPicPr>
          <p:cNvPr id="3" name="Picture 2" descr="image of a head with cogs turning inside">
            <a:extLst>
              <a:ext uri="{FF2B5EF4-FFF2-40B4-BE49-F238E27FC236}">
                <a16:creationId xmlns:a16="http://schemas.microsoft.com/office/drawing/2014/main" id="{6D1515EA-A5DE-9A88-A2F5-E09907D8A2A4}"/>
              </a:ext>
            </a:extLst>
          </p:cNvPr>
          <p:cNvPicPr>
            <a:picLocks noChangeAspect="1"/>
          </p:cNvPicPr>
          <p:nvPr/>
        </p:nvPicPr>
        <p:blipFill>
          <a:blip r:embed="rId3"/>
          <a:stretch>
            <a:fillRect/>
          </a:stretch>
        </p:blipFill>
        <p:spPr>
          <a:xfrm>
            <a:off x="11107003" y="240894"/>
            <a:ext cx="720000" cy="856364"/>
          </a:xfrm>
          <a:prstGeom prst="rect">
            <a:avLst/>
          </a:prstGeom>
        </p:spPr>
      </p:pic>
      <p:sp>
        <p:nvSpPr>
          <p:cNvPr id="4" name="TextBox 3">
            <a:extLst>
              <a:ext uri="{FF2B5EF4-FFF2-40B4-BE49-F238E27FC236}">
                <a16:creationId xmlns:a16="http://schemas.microsoft.com/office/drawing/2014/main" id="{B7D10672-61CD-866D-C8F2-DC73B8D75A4E}"/>
              </a:ext>
            </a:extLst>
          </p:cNvPr>
          <p:cNvSpPr txBox="1"/>
          <p:nvPr/>
        </p:nvSpPr>
        <p:spPr>
          <a:xfrm>
            <a:off x="403556" y="1359559"/>
            <a:ext cx="11440444" cy="2217787"/>
          </a:xfrm>
          <a:prstGeom prst="rect">
            <a:avLst/>
          </a:prstGeom>
          <a:noFill/>
        </p:spPr>
        <p:txBody>
          <a:bodyPr wrap="square" lIns="91440" tIns="45720" rIns="91440" bIns="45720" anchor="t">
            <a:spAutoFit/>
          </a:bodyPr>
          <a:lstStyle/>
          <a:p>
            <a:pPr lvl="0">
              <a:lnSpc>
                <a:spcPct val="150000"/>
              </a:lnSpc>
              <a:spcBef>
                <a:spcPts val="1200"/>
              </a:spcBef>
              <a:spcAft>
                <a:spcPts val="600"/>
              </a:spcAft>
            </a:pPr>
            <a:r>
              <a:rPr lang="en-AU" sz="3200" dirty="0">
                <a:solidFill>
                  <a:schemeClr val="bg2">
                    <a:lumMod val="10000"/>
                  </a:schemeClr>
                </a:solidFill>
                <a:effectLst/>
                <a:latin typeface="Arial"/>
                <a:ea typeface="Calibri"/>
                <a:cs typeface="Arial"/>
              </a:rPr>
              <a:t>The printer has broken and the </a:t>
            </a:r>
            <a:r>
              <a:rPr lang="en-AU" sz="3200" b="1" dirty="0">
                <a:solidFill>
                  <a:schemeClr val="bg2">
                    <a:lumMod val="10000"/>
                  </a:schemeClr>
                </a:solidFill>
                <a:effectLst/>
                <a:latin typeface="Arial"/>
                <a:ea typeface="Calibri"/>
                <a:cs typeface="Arial"/>
              </a:rPr>
              <a:t>decimal points</a:t>
            </a:r>
            <a:r>
              <a:rPr lang="en-AU" sz="3200" dirty="0">
                <a:solidFill>
                  <a:schemeClr val="bg2">
                    <a:lumMod val="10000"/>
                  </a:schemeClr>
                </a:solidFill>
                <a:effectLst/>
                <a:latin typeface="Arial"/>
                <a:ea typeface="Calibri"/>
                <a:cs typeface="Arial"/>
              </a:rPr>
              <a:t> did not print properly. Place the </a:t>
            </a:r>
            <a:r>
              <a:rPr lang="en-AU" sz="3200" b="1" dirty="0">
                <a:solidFill>
                  <a:schemeClr val="bg2">
                    <a:lumMod val="10000"/>
                  </a:schemeClr>
                </a:solidFill>
                <a:effectLst/>
                <a:latin typeface="Arial"/>
                <a:ea typeface="Calibri"/>
                <a:cs typeface="Arial"/>
              </a:rPr>
              <a:t>decimals in ascending order</a:t>
            </a:r>
            <a:r>
              <a:rPr lang="en-AU" sz="3200" dirty="0">
                <a:solidFill>
                  <a:schemeClr val="bg2">
                    <a:lumMod val="10000"/>
                  </a:schemeClr>
                </a:solidFill>
                <a:effectLst/>
                <a:latin typeface="Arial"/>
                <a:ea typeface="Calibri"/>
                <a:cs typeface="Arial"/>
              </a:rPr>
              <a:t> on the</a:t>
            </a:r>
            <a:r>
              <a:rPr lang="en-AU" sz="3200" b="1" dirty="0">
                <a:solidFill>
                  <a:schemeClr val="bg2">
                    <a:lumMod val="10000"/>
                  </a:schemeClr>
                </a:solidFill>
                <a:effectLst/>
                <a:latin typeface="Arial"/>
                <a:ea typeface="Calibri"/>
                <a:cs typeface="Arial"/>
              </a:rPr>
              <a:t> number line.</a:t>
            </a:r>
            <a:endParaRPr lang="en-US">
              <a:solidFill>
                <a:schemeClr val="bg2">
                  <a:lumMod val="10000"/>
                </a:schemeClr>
              </a:solidFill>
            </a:endParaRPr>
          </a:p>
        </p:txBody>
      </p:sp>
      <p:cxnSp>
        <p:nvCxnSpPr>
          <p:cNvPr id="5" name="Straight Arrow Connector 4">
            <a:extLst>
              <a:ext uri="{FF2B5EF4-FFF2-40B4-BE49-F238E27FC236}">
                <a16:creationId xmlns:a16="http://schemas.microsoft.com/office/drawing/2014/main" id="{86047A3C-AFD2-DBBC-3116-B40757476F3D}"/>
              </a:ext>
              <a:ext uri="{C183D7F6-B498-43B3-948B-1728B52AA6E4}">
                <adec:decorative xmlns:adec="http://schemas.microsoft.com/office/drawing/2017/decorative" val="1"/>
              </a:ext>
            </a:extLst>
          </p:cNvPr>
          <p:cNvCxnSpPr/>
          <p:nvPr/>
        </p:nvCxnSpPr>
        <p:spPr>
          <a:xfrm>
            <a:off x="569956" y="4550253"/>
            <a:ext cx="11052088" cy="0"/>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Slide Number Placeholder 1">
            <a:extLst>
              <a:ext uri="{FF2B5EF4-FFF2-40B4-BE49-F238E27FC236}">
                <a16:creationId xmlns:a16="http://schemas.microsoft.com/office/drawing/2014/main" id="{A4357292-7AE2-FA13-8DC1-65BAE81B5D1B}"/>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52</a:t>
            </a:fld>
            <a:endParaRPr lang="en-AU"/>
          </a:p>
        </p:txBody>
      </p:sp>
      <p:grpSp>
        <p:nvGrpSpPr>
          <p:cNvPr id="7" name="Group 6">
            <a:extLst>
              <a:ext uri="{FF2B5EF4-FFF2-40B4-BE49-F238E27FC236}">
                <a16:creationId xmlns:a16="http://schemas.microsoft.com/office/drawing/2014/main" id="{ED1572D3-F71B-EA71-6623-60E2DDE3CE33}"/>
              </a:ext>
              <a:ext uri="{C183D7F6-B498-43B3-948B-1728B52AA6E4}">
                <adec:decorative xmlns:adec="http://schemas.microsoft.com/office/drawing/2017/decorative" val="1"/>
              </a:ext>
            </a:extLst>
          </p:cNvPr>
          <p:cNvGrpSpPr/>
          <p:nvPr/>
        </p:nvGrpSpPr>
        <p:grpSpPr>
          <a:xfrm>
            <a:off x="8801649" y="6081560"/>
            <a:ext cx="1154166" cy="537632"/>
            <a:chOff x="8457369" y="3023896"/>
            <a:chExt cx="1154166" cy="537632"/>
          </a:xfrm>
        </p:grpSpPr>
        <p:sp>
          <p:nvSpPr>
            <p:cNvPr id="13" name="Freeform 33">
              <a:extLst>
                <a:ext uri="{FF2B5EF4-FFF2-40B4-BE49-F238E27FC236}">
                  <a16:creationId xmlns:a16="http://schemas.microsoft.com/office/drawing/2014/main" id="{04995B4E-660C-E207-7915-B237FC4D4E40}"/>
                </a:ext>
              </a:extLst>
            </p:cNvPr>
            <p:cNvSpPr/>
            <p:nvPr/>
          </p:nvSpPr>
          <p:spPr>
            <a:xfrm>
              <a:off x="8457369" y="3023896"/>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15" name="TextBox 14">
              <a:extLst>
                <a:ext uri="{FF2B5EF4-FFF2-40B4-BE49-F238E27FC236}">
                  <a16:creationId xmlns:a16="http://schemas.microsoft.com/office/drawing/2014/main" id="{FEBDA7ED-FD41-D253-7267-3AF4220086F6}"/>
                </a:ext>
              </a:extLst>
            </p:cNvPr>
            <p:cNvSpPr txBox="1"/>
            <p:nvPr/>
          </p:nvSpPr>
          <p:spPr>
            <a:xfrm>
              <a:off x="8604768" y="3110612"/>
              <a:ext cx="859367" cy="344666"/>
            </a:xfrm>
            <a:prstGeom prst="rect">
              <a:avLst/>
            </a:prstGeom>
            <a:noFill/>
          </p:spPr>
          <p:txBody>
            <a:bodyPr wrap="square" lIns="0" tIns="0" rIns="0" bIns="0" rtlCol="0">
              <a:noAutofit/>
            </a:bodyPr>
            <a:lstStyle/>
            <a:p>
              <a:pPr algn="ctr"/>
              <a:r>
                <a:rPr lang="en-AU" spc="500">
                  <a:latin typeface="Edu NSW ACT Foundation Medium" pitchFamily="2" charset="0"/>
                </a:rPr>
                <a:t>380</a:t>
              </a:r>
              <a:endParaRPr lang="en-AU" sz="1800" spc="500">
                <a:latin typeface="Edu NSW ACT Foundation Medium" pitchFamily="2" charset="0"/>
              </a:endParaRPr>
            </a:p>
          </p:txBody>
        </p:sp>
      </p:grpSp>
      <p:grpSp>
        <p:nvGrpSpPr>
          <p:cNvPr id="18" name="Group 17">
            <a:extLst>
              <a:ext uri="{FF2B5EF4-FFF2-40B4-BE49-F238E27FC236}">
                <a16:creationId xmlns:a16="http://schemas.microsoft.com/office/drawing/2014/main" id="{873ABCA6-4FFB-96C5-1D37-A9968251B9F6}"/>
              </a:ext>
              <a:ext uri="{C183D7F6-B498-43B3-948B-1728B52AA6E4}">
                <adec:decorative xmlns:adec="http://schemas.microsoft.com/office/drawing/2017/decorative" val="1"/>
              </a:ext>
            </a:extLst>
          </p:cNvPr>
          <p:cNvGrpSpPr/>
          <p:nvPr/>
        </p:nvGrpSpPr>
        <p:grpSpPr>
          <a:xfrm>
            <a:off x="10906917" y="5367286"/>
            <a:ext cx="1154166" cy="537632"/>
            <a:chOff x="9614837" y="1498609"/>
            <a:chExt cx="1154166" cy="537632"/>
          </a:xfrm>
        </p:grpSpPr>
        <p:sp>
          <p:nvSpPr>
            <p:cNvPr id="26" name="Freeform 24">
              <a:extLst>
                <a:ext uri="{FF2B5EF4-FFF2-40B4-BE49-F238E27FC236}">
                  <a16:creationId xmlns:a16="http://schemas.microsoft.com/office/drawing/2014/main" id="{90343943-26A7-07B3-2729-01C8AC77144F}"/>
                </a:ext>
              </a:extLst>
            </p:cNvPr>
            <p:cNvSpPr/>
            <p:nvPr/>
          </p:nvSpPr>
          <p:spPr>
            <a:xfrm>
              <a:off x="9614837" y="1498609"/>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43" name="TextBox 42">
              <a:extLst>
                <a:ext uri="{FF2B5EF4-FFF2-40B4-BE49-F238E27FC236}">
                  <a16:creationId xmlns:a16="http://schemas.microsoft.com/office/drawing/2014/main" id="{EC1FE2D5-086E-FB03-8E3F-3FE9240784A0}"/>
                </a:ext>
              </a:extLst>
            </p:cNvPr>
            <p:cNvSpPr txBox="1"/>
            <p:nvPr/>
          </p:nvSpPr>
          <p:spPr>
            <a:xfrm>
              <a:off x="9762237" y="1595092"/>
              <a:ext cx="859367" cy="344666"/>
            </a:xfrm>
            <a:prstGeom prst="rect">
              <a:avLst/>
            </a:prstGeom>
            <a:noFill/>
          </p:spPr>
          <p:txBody>
            <a:bodyPr wrap="square" lIns="0" tIns="0" rIns="0" bIns="0" rtlCol="0">
              <a:noAutofit/>
            </a:bodyPr>
            <a:lstStyle/>
            <a:p>
              <a:pPr algn="ctr"/>
              <a:r>
                <a:rPr lang="en-AU" spc="500">
                  <a:latin typeface="Edu NSW ACT Foundation Medium" pitchFamily="2" charset="0"/>
                </a:rPr>
                <a:t>374</a:t>
              </a:r>
              <a:endParaRPr lang="en-AU" sz="1800" spc="500">
                <a:latin typeface="Edu NSW ACT Foundation Medium" pitchFamily="2" charset="0"/>
              </a:endParaRPr>
            </a:p>
          </p:txBody>
        </p:sp>
      </p:grpSp>
      <p:grpSp>
        <p:nvGrpSpPr>
          <p:cNvPr id="51" name="Group 50">
            <a:extLst>
              <a:ext uri="{FF2B5EF4-FFF2-40B4-BE49-F238E27FC236}">
                <a16:creationId xmlns:a16="http://schemas.microsoft.com/office/drawing/2014/main" id="{D5242D20-DBA6-4019-3255-5FC494D3DA93}"/>
              </a:ext>
              <a:ext uri="{C183D7F6-B498-43B3-948B-1728B52AA6E4}">
                <adec:decorative xmlns:adec="http://schemas.microsoft.com/office/drawing/2017/decorative" val="1"/>
              </a:ext>
            </a:extLst>
          </p:cNvPr>
          <p:cNvGrpSpPr/>
          <p:nvPr/>
        </p:nvGrpSpPr>
        <p:grpSpPr>
          <a:xfrm>
            <a:off x="7589666" y="5449903"/>
            <a:ext cx="1154166" cy="537632"/>
            <a:chOff x="5829252" y="1792106"/>
            <a:chExt cx="1154166" cy="537632"/>
          </a:xfrm>
        </p:grpSpPr>
        <p:sp>
          <p:nvSpPr>
            <p:cNvPr id="57" name="Freeform 12">
              <a:extLst>
                <a:ext uri="{FF2B5EF4-FFF2-40B4-BE49-F238E27FC236}">
                  <a16:creationId xmlns:a16="http://schemas.microsoft.com/office/drawing/2014/main" id="{7FF7CA49-5EB4-4286-DB76-6C06A660099F}"/>
                </a:ext>
              </a:extLst>
            </p:cNvPr>
            <p:cNvSpPr/>
            <p:nvPr/>
          </p:nvSpPr>
          <p:spPr>
            <a:xfrm>
              <a:off x="5829252" y="1792106"/>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65" name="TextBox 64">
              <a:extLst>
                <a:ext uri="{FF2B5EF4-FFF2-40B4-BE49-F238E27FC236}">
                  <a16:creationId xmlns:a16="http://schemas.microsoft.com/office/drawing/2014/main" id="{6A8EDEA5-C04B-3BC1-E646-0F9D39C16830}"/>
                </a:ext>
              </a:extLst>
            </p:cNvPr>
            <p:cNvSpPr txBox="1"/>
            <p:nvPr/>
          </p:nvSpPr>
          <p:spPr>
            <a:xfrm>
              <a:off x="5976652" y="1888589"/>
              <a:ext cx="859367" cy="344666"/>
            </a:xfrm>
            <a:prstGeom prst="rect">
              <a:avLst/>
            </a:prstGeom>
            <a:noFill/>
          </p:spPr>
          <p:txBody>
            <a:bodyPr wrap="square" lIns="0" tIns="0" rIns="0" bIns="0" rtlCol="0">
              <a:noAutofit/>
            </a:bodyPr>
            <a:lstStyle/>
            <a:p>
              <a:pPr algn="ctr"/>
              <a:r>
                <a:rPr lang="en-AU" spc="500">
                  <a:latin typeface="Edu NSW ACT Foundation Medium" pitchFamily="2" charset="0"/>
                </a:rPr>
                <a:t>370</a:t>
              </a:r>
              <a:endParaRPr lang="en-AU" sz="1800" spc="500">
                <a:latin typeface="Edu NSW ACT Foundation Medium" pitchFamily="2" charset="0"/>
              </a:endParaRPr>
            </a:p>
          </p:txBody>
        </p:sp>
      </p:grpSp>
      <p:grpSp>
        <p:nvGrpSpPr>
          <p:cNvPr id="82" name="Group 81">
            <a:extLst>
              <a:ext uri="{FF2B5EF4-FFF2-40B4-BE49-F238E27FC236}">
                <a16:creationId xmlns:a16="http://schemas.microsoft.com/office/drawing/2014/main" id="{FA8B6D66-4DB2-5A65-D3DB-942D6CA4F239}"/>
              </a:ext>
              <a:ext uri="{C183D7F6-B498-43B3-948B-1728B52AA6E4}">
                <adec:decorative xmlns:adec="http://schemas.microsoft.com/office/drawing/2017/decorative" val="1"/>
              </a:ext>
            </a:extLst>
          </p:cNvPr>
          <p:cNvGrpSpPr/>
          <p:nvPr/>
        </p:nvGrpSpPr>
        <p:grpSpPr>
          <a:xfrm>
            <a:off x="3384502" y="5960368"/>
            <a:ext cx="1154166" cy="537632"/>
            <a:chOff x="3251927" y="2462212"/>
            <a:chExt cx="1154166" cy="537632"/>
          </a:xfrm>
        </p:grpSpPr>
        <p:sp>
          <p:nvSpPr>
            <p:cNvPr id="88" name="Freeform 3">
              <a:extLst>
                <a:ext uri="{FF2B5EF4-FFF2-40B4-BE49-F238E27FC236}">
                  <a16:creationId xmlns:a16="http://schemas.microsoft.com/office/drawing/2014/main" id="{302CAE06-4B57-3120-18C0-5373E2565625}"/>
                </a:ext>
              </a:extLst>
            </p:cNvPr>
            <p:cNvSpPr/>
            <p:nvPr/>
          </p:nvSpPr>
          <p:spPr>
            <a:xfrm>
              <a:off x="3251927" y="2462212"/>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94" name="TextBox 93">
              <a:extLst>
                <a:ext uri="{FF2B5EF4-FFF2-40B4-BE49-F238E27FC236}">
                  <a16:creationId xmlns:a16="http://schemas.microsoft.com/office/drawing/2014/main" id="{D7FBF489-B2D0-C42A-4E5A-3CC9BE94DF31}"/>
                </a:ext>
              </a:extLst>
            </p:cNvPr>
            <p:cNvSpPr txBox="1"/>
            <p:nvPr/>
          </p:nvSpPr>
          <p:spPr>
            <a:xfrm>
              <a:off x="3399327" y="2558695"/>
              <a:ext cx="859367" cy="344666"/>
            </a:xfrm>
            <a:prstGeom prst="rect">
              <a:avLst/>
            </a:prstGeom>
            <a:noFill/>
          </p:spPr>
          <p:txBody>
            <a:bodyPr wrap="square" lIns="0" tIns="0" rIns="0" bIns="0" rtlCol="0">
              <a:noAutofit/>
            </a:bodyPr>
            <a:lstStyle/>
            <a:p>
              <a:pPr algn="ctr"/>
              <a:r>
                <a:rPr lang="en-AU" spc="500">
                  <a:latin typeface="Edu NSW ACT Foundation Medium" pitchFamily="2" charset="0"/>
                </a:rPr>
                <a:t>371</a:t>
              </a:r>
              <a:endParaRPr lang="en-AU" sz="1800" spc="500">
                <a:latin typeface="Edu NSW ACT Foundation Medium" pitchFamily="2" charset="0"/>
              </a:endParaRPr>
            </a:p>
          </p:txBody>
        </p:sp>
      </p:grpSp>
      <p:grpSp>
        <p:nvGrpSpPr>
          <p:cNvPr id="100" name="Group 99">
            <a:extLst>
              <a:ext uri="{FF2B5EF4-FFF2-40B4-BE49-F238E27FC236}">
                <a16:creationId xmlns:a16="http://schemas.microsoft.com/office/drawing/2014/main" id="{8E0C4F7B-3F2A-D886-700F-2DD0A2F5B1A8}"/>
              </a:ext>
              <a:ext uri="{C183D7F6-B498-43B3-948B-1728B52AA6E4}">
                <adec:decorative xmlns:adec="http://schemas.microsoft.com/office/drawing/2017/decorative" val="1"/>
              </a:ext>
            </a:extLst>
          </p:cNvPr>
          <p:cNvGrpSpPr/>
          <p:nvPr/>
        </p:nvGrpSpPr>
        <p:grpSpPr>
          <a:xfrm>
            <a:off x="299888" y="5376150"/>
            <a:ext cx="1154166" cy="537632"/>
            <a:chOff x="1498060" y="3152007"/>
            <a:chExt cx="1154166" cy="537632"/>
          </a:xfrm>
        </p:grpSpPr>
        <p:sp>
          <p:nvSpPr>
            <p:cNvPr id="108" name="Freeform 6">
              <a:extLst>
                <a:ext uri="{FF2B5EF4-FFF2-40B4-BE49-F238E27FC236}">
                  <a16:creationId xmlns:a16="http://schemas.microsoft.com/office/drawing/2014/main" id="{00446438-9C23-74F4-329E-DB7CB34486C3}"/>
                </a:ext>
              </a:extLst>
            </p:cNvPr>
            <p:cNvSpPr/>
            <p:nvPr/>
          </p:nvSpPr>
          <p:spPr>
            <a:xfrm>
              <a:off x="1498060" y="3152007"/>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114" name="TextBox 113">
              <a:extLst>
                <a:ext uri="{FF2B5EF4-FFF2-40B4-BE49-F238E27FC236}">
                  <a16:creationId xmlns:a16="http://schemas.microsoft.com/office/drawing/2014/main" id="{9A11CFB9-6550-E0B5-6636-06DCCDBE4286}"/>
                </a:ext>
              </a:extLst>
            </p:cNvPr>
            <p:cNvSpPr txBox="1"/>
            <p:nvPr/>
          </p:nvSpPr>
          <p:spPr>
            <a:xfrm>
              <a:off x="1645460" y="3248490"/>
              <a:ext cx="859367" cy="344666"/>
            </a:xfrm>
            <a:prstGeom prst="rect">
              <a:avLst/>
            </a:prstGeom>
            <a:noFill/>
          </p:spPr>
          <p:txBody>
            <a:bodyPr wrap="square" lIns="0" tIns="0" rIns="0" bIns="0" rtlCol="0">
              <a:noAutofit/>
            </a:bodyPr>
            <a:lstStyle/>
            <a:p>
              <a:pPr algn="ctr"/>
              <a:r>
                <a:rPr lang="en-AU" spc="500" dirty="0">
                  <a:latin typeface="Edu NSW ACT Foundation Medium" pitchFamily="2" charset="0"/>
                </a:rPr>
                <a:t>375</a:t>
              </a:r>
              <a:endParaRPr lang="en-AU" sz="1800" spc="500" dirty="0">
                <a:latin typeface="Edu NSW ACT Foundation Medium" pitchFamily="2" charset="0"/>
              </a:endParaRPr>
            </a:p>
          </p:txBody>
        </p:sp>
      </p:grpSp>
      <p:grpSp>
        <p:nvGrpSpPr>
          <p:cNvPr id="122" name="Group 121">
            <a:extLst>
              <a:ext uri="{FF2B5EF4-FFF2-40B4-BE49-F238E27FC236}">
                <a16:creationId xmlns:a16="http://schemas.microsoft.com/office/drawing/2014/main" id="{3BEBD35F-EB11-F9F8-B628-37B394AF1460}"/>
              </a:ext>
              <a:ext uri="{C183D7F6-B498-43B3-948B-1728B52AA6E4}">
                <adec:decorative xmlns:adec="http://schemas.microsoft.com/office/drawing/2017/decorative" val="1"/>
              </a:ext>
            </a:extLst>
          </p:cNvPr>
          <p:cNvGrpSpPr/>
          <p:nvPr/>
        </p:nvGrpSpPr>
        <p:grpSpPr>
          <a:xfrm>
            <a:off x="2230336" y="5161745"/>
            <a:ext cx="1154166" cy="537632"/>
            <a:chOff x="3333050" y="4472499"/>
            <a:chExt cx="1154166" cy="537632"/>
          </a:xfrm>
        </p:grpSpPr>
        <p:sp>
          <p:nvSpPr>
            <p:cNvPr id="130" name="Freeform 9">
              <a:extLst>
                <a:ext uri="{FF2B5EF4-FFF2-40B4-BE49-F238E27FC236}">
                  <a16:creationId xmlns:a16="http://schemas.microsoft.com/office/drawing/2014/main" id="{45359F35-C6D4-0F94-F5FB-39DB9D9E30DD}"/>
                </a:ext>
              </a:extLst>
            </p:cNvPr>
            <p:cNvSpPr/>
            <p:nvPr/>
          </p:nvSpPr>
          <p:spPr>
            <a:xfrm>
              <a:off x="3333050" y="4472499"/>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147" name="TextBox 146">
              <a:extLst>
                <a:ext uri="{FF2B5EF4-FFF2-40B4-BE49-F238E27FC236}">
                  <a16:creationId xmlns:a16="http://schemas.microsoft.com/office/drawing/2014/main" id="{19640709-A9D2-E3C3-3E0E-A73F2016F430}"/>
                </a:ext>
              </a:extLst>
            </p:cNvPr>
            <p:cNvSpPr txBox="1"/>
            <p:nvPr/>
          </p:nvSpPr>
          <p:spPr>
            <a:xfrm>
              <a:off x="3480450" y="4568982"/>
              <a:ext cx="859367" cy="344666"/>
            </a:xfrm>
            <a:prstGeom prst="rect">
              <a:avLst/>
            </a:prstGeom>
            <a:noFill/>
          </p:spPr>
          <p:txBody>
            <a:bodyPr wrap="square" lIns="0" tIns="0" rIns="0" bIns="0" rtlCol="0">
              <a:noAutofit/>
            </a:bodyPr>
            <a:lstStyle/>
            <a:p>
              <a:pPr algn="ctr"/>
              <a:r>
                <a:rPr lang="en-AU" spc="500">
                  <a:latin typeface="Edu NSW ACT Foundation Medium" pitchFamily="2" charset="0"/>
                </a:rPr>
                <a:t>378</a:t>
              </a:r>
              <a:endParaRPr lang="en-AU" sz="1800" spc="500">
                <a:latin typeface="Edu NSW ACT Foundation Medium" pitchFamily="2" charset="0"/>
              </a:endParaRPr>
            </a:p>
          </p:txBody>
        </p:sp>
      </p:grpSp>
      <p:grpSp>
        <p:nvGrpSpPr>
          <p:cNvPr id="165" name="Group 164">
            <a:extLst>
              <a:ext uri="{FF2B5EF4-FFF2-40B4-BE49-F238E27FC236}">
                <a16:creationId xmlns:a16="http://schemas.microsoft.com/office/drawing/2014/main" id="{BAD94F77-DD6C-C93C-213F-6B8AF5A75925}"/>
              </a:ext>
              <a:ext uri="{C183D7F6-B498-43B3-948B-1728B52AA6E4}">
                <adec:decorative xmlns:adec="http://schemas.microsoft.com/office/drawing/2017/decorative" val="1"/>
              </a:ext>
            </a:extLst>
          </p:cNvPr>
          <p:cNvGrpSpPr/>
          <p:nvPr/>
        </p:nvGrpSpPr>
        <p:grpSpPr>
          <a:xfrm>
            <a:off x="5352517" y="6077251"/>
            <a:ext cx="1154166" cy="537632"/>
            <a:chOff x="5827243" y="5531347"/>
            <a:chExt cx="1154166" cy="537632"/>
          </a:xfrm>
        </p:grpSpPr>
        <p:sp>
          <p:nvSpPr>
            <p:cNvPr id="166" name="Freeform 18">
              <a:extLst>
                <a:ext uri="{FF2B5EF4-FFF2-40B4-BE49-F238E27FC236}">
                  <a16:creationId xmlns:a16="http://schemas.microsoft.com/office/drawing/2014/main" id="{6D105147-B25A-4FC4-5906-F7866C0020EC}"/>
                </a:ext>
              </a:extLst>
            </p:cNvPr>
            <p:cNvSpPr/>
            <p:nvPr/>
          </p:nvSpPr>
          <p:spPr>
            <a:xfrm>
              <a:off x="5827243" y="5531347"/>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167" name="TextBox 166">
              <a:extLst>
                <a:ext uri="{FF2B5EF4-FFF2-40B4-BE49-F238E27FC236}">
                  <a16:creationId xmlns:a16="http://schemas.microsoft.com/office/drawing/2014/main" id="{BA22AB8E-28A8-F6BF-D8F1-A62D9D7239C4}"/>
                </a:ext>
              </a:extLst>
            </p:cNvPr>
            <p:cNvSpPr txBox="1"/>
            <p:nvPr/>
          </p:nvSpPr>
          <p:spPr>
            <a:xfrm>
              <a:off x="5974643" y="5627830"/>
              <a:ext cx="859367" cy="344666"/>
            </a:xfrm>
            <a:prstGeom prst="rect">
              <a:avLst/>
            </a:prstGeom>
            <a:noFill/>
          </p:spPr>
          <p:txBody>
            <a:bodyPr wrap="square" lIns="0" tIns="0" rIns="0" bIns="0" rtlCol="0">
              <a:noAutofit/>
            </a:bodyPr>
            <a:lstStyle/>
            <a:p>
              <a:pPr algn="ctr"/>
              <a:r>
                <a:rPr lang="en-AU" spc="500">
                  <a:latin typeface="Edu NSW ACT Foundation Medium" pitchFamily="2" charset="0"/>
                </a:rPr>
                <a:t>376</a:t>
              </a:r>
              <a:endParaRPr lang="en-AU" sz="1800" spc="500">
                <a:latin typeface="Edu NSW ACT Foundation Medium" pitchFamily="2" charset="0"/>
              </a:endParaRPr>
            </a:p>
          </p:txBody>
        </p:sp>
      </p:grpSp>
      <p:grpSp>
        <p:nvGrpSpPr>
          <p:cNvPr id="168" name="Group 167">
            <a:extLst>
              <a:ext uri="{FF2B5EF4-FFF2-40B4-BE49-F238E27FC236}">
                <a16:creationId xmlns:a16="http://schemas.microsoft.com/office/drawing/2014/main" id="{02D0930B-4EF7-4B77-95A6-D7595E623867}"/>
              </a:ext>
              <a:ext uri="{C183D7F6-B498-43B3-948B-1728B52AA6E4}">
                <adec:decorative xmlns:adec="http://schemas.microsoft.com/office/drawing/2017/decorative" val="1"/>
              </a:ext>
            </a:extLst>
          </p:cNvPr>
          <p:cNvGrpSpPr/>
          <p:nvPr/>
        </p:nvGrpSpPr>
        <p:grpSpPr>
          <a:xfrm>
            <a:off x="7303203" y="6173734"/>
            <a:ext cx="1154166" cy="537632"/>
            <a:chOff x="8502452" y="5546386"/>
            <a:chExt cx="1154166" cy="537632"/>
          </a:xfrm>
        </p:grpSpPr>
        <p:sp>
          <p:nvSpPr>
            <p:cNvPr id="169" name="Freeform 30">
              <a:extLst>
                <a:ext uri="{FF2B5EF4-FFF2-40B4-BE49-F238E27FC236}">
                  <a16:creationId xmlns:a16="http://schemas.microsoft.com/office/drawing/2014/main" id="{174FCE32-0480-9DF2-4914-9B3C7A6A71B0}"/>
                </a:ext>
              </a:extLst>
            </p:cNvPr>
            <p:cNvSpPr/>
            <p:nvPr/>
          </p:nvSpPr>
          <p:spPr>
            <a:xfrm>
              <a:off x="8502452" y="5546386"/>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170" name="TextBox 169">
              <a:extLst>
                <a:ext uri="{FF2B5EF4-FFF2-40B4-BE49-F238E27FC236}">
                  <a16:creationId xmlns:a16="http://schemas.microsoft.com/office/drawing/2014/main" id="{AA95613C-3779-9F47-F93E-CF14974172A4}"/>
                </a:ext>
              </a:extLst>
            </p:cNvPr>
            <p:cNvSpPr txBox="1"/>
            <p:nvPr/>
          </p:nvSpPr>
          <p:spPr>
            <a:xfrm>
              <a:off x="8649852" y="5642869"/>
              <a:ext cx="859367" cy="344666"/>
            </a:xfrm>
            <a:prstGeom prst="rect">
              <a:avLst/>
            </a:prstGeom>
            <a:noFill/>
          </p:spPr>
          <p:txBody>
            <a:bodyPr wrap="square" lIns="0" tIns="0" rIns="0" bIns="0" rtlCol="0">
              <a:noAutofit/>
            </a:bodyPr>
            <a:lstStyle/>
            <a:p>
              <a:pPr algn="ctr"/>
              <a:r>
                <a:rPr lang="en-AU" spc="500">
                  <a:latin typeface="Edu NSW ACT Foundation Medium" pitchFamily="2" charset="0"/>
                </a:rPr>
                <a:t>379</a:t>
              </a:r>
              <a:endParaRPr lang="en-AU" sz="1800" spc="500">
                <a:latin typeface="Edu NSW ACT Foundation Medium" pitchFamily="2" charset="0"/>
              </a:endParaRPr>
            </a:p>
          </p:txBody>
        </p:sp>
      </p:grpSp>
      <p:grpSp>
        <p:nvGrpSpPr>
          <p:cNvPr id="171" name="Group 170">
            <a:extLst>
              <a:ext uri="{FF2B5EF4-FFF2-40B4-BE49-F238E27FC236}">
                <a16:creationId xmlns:a16="http://schemas.microsoft.com/office/drawing/2014/main" id="{AFF10BD7-9974-7890-C2B1-467E2AD0A076}"/>
              </a:ext>
              <a:ext uri="{C183D7F6-B498-43B3-948B-1728B52AA6E4}">
                <adec:decorative xmlns:adec="http://schemas.microsoft.com/office/drawing/2017/decorative" val="1"/>
              </a:ext>
            </a:extLst>
          </p:cNvPr>
          <p:cNvGrpSpPr/>
          <p:nvPr/>
        </p:nvGrpSpPr>
        <p:grpSpPr>
          <a:xfrm>
            <a:off x="4665672" y="5319045"/>
            <a:ext cx="1154166" cy="537632"/>
            <a:chOff x="5827243" y="3735387"/>
            <a:chExt cx="1154166" cy="537632"/>
          </a:xfrm>
        </p:grpSpPr>
        <p:sp>
          <p:nvSpPr>
            <p:cNvPr id="172" name="Freeform 21">
              <a:extLst>
                <a:ext uri="{FF2B5EF4-FFF2-40B4-BE49-F238E27FC236}">
                  <a16:creationId xmlns:a16="http://schemas.microsoft.com/office/drawing/2014/main" id="{D799558B-8248-91B1-B966-3C6E52794A49}"/>
                </a:ext>
              </a:extLst>
            </p:cNvPr>
            <p:cNvSpPr/>
            <p:nvPr/>
          </p:nvSpPr>
          <p:spPr>
            <a:xfrm>
              <a:off x="5827243" y="3735387"/>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173" name="TextBox 172">
              <a:extLst>
                <a:ext uri="{FF2B5EF4-FFF2-40B4-BE49-F238E27FC236}">
                  <a16:creationId xmlns:a16="http://schemas.microsoft.com/office/drawing/2014/main" id="{282C2D61-F1BA-7670-CB07-E8A84D4BD913}"/>
                </a:ext>
              </a:extLst>
            </p:cNvPr>
            <p:cNvSpPr txBox="1"/>
            <p:nvPr/>
          </p:nvSpPr>
          <p:spPr>
            <a:xfrm>
              <a:off x="5974643" y="3831870"/>
              <a:ext cx="859367" cy="344666"/>
            </a:xfrm>
            <a:prstGeom prst="rect">
              <a:avLst/>
            </a:prstGeom>
            <a:noFill/>
          </p:spPr>
          <p:txBody>
            <a:bodyPr wrap="square" lIns="0" tIns="0" rIns="0" bIns="0" rtlCol="0">
              <a:noAutofit/>
            </a:bodyPr>
            <a:lstStyle/>
            <a:p>
              <a:pPr algn="ctr"/>
              <a:r>
                <a:rPr lang="en-AU" spc="500">
                  <a:latin typeface="Edu NSW ACT Foundation Medium" pitchFamily="2" charset="0"/>
                </a:rPr>
                <a:t>372</a:t>
              </a:r>
              <a:endParaRPr lang="en-AU" sz="1800" spc="500">
                <a:latin typeface="Edu NSW ACT Foundation Medium" pitchFamily="2" charset="0"/>
              </a:endParaRPr>
            </a:p>
          </p:txBody>
        </p:sp>
      </p:grpSp>
      <p:grpSp>
        <p:nvGrpSpPr>
          <p:cNvPr id="174" name="Group 173">
            <a:extLst>
              <a:ext uri="{FF2B5EF4-FFF2-40B4-BE49-F238E27FC236}">
                <a16:creationId xmlns:a16="http://schemas.microsoft.com/office/drawing/2014/main" id="{BA1AE0A6-9404-9E4E-1572-FF15DFE55260}"/>
              </a:ext>
              <a:ext uri="{C183D7F6-B498-43B3-948B-1728B52AA6E4}">
                <adec:decorative xmlns:adec="http://schemas.microsoft.com/office/drawing/2017/decorative" val="1"/>
              </a:ext>
            </a:extLst>
          </p:cNvPr>
          <p:cNvGrpSpPr/>
          <p:nvPr/>
        </p:nvGrpSpPr>
        <p:grpSpPr>
          <a:xfrm>
            <a:off x="1337558" y="6158368"/>
            <a:ext cx="1154166" cy="537632"/>
            <a:chOff x="1269442" y="5818036"/>
            <a:chExt cx="1154166" cy="537632"/>
          </a:xfrm>
        </p:grpSpPr>
        <p:sp>
          <p:nvSpPr>
            <p:cNvPr id="175" name="Freeform 15">
              <a:extLst>
                <a:ext uri="{FF2B5EF4-FFF2-40B4-BE49-F238E27FC236}">
                  <a16:creationId xmlns:a16="http://schemas.microsoft.com/office/drawing/2014/main" id="{B1AF3E6A-F018-B931-EAC8-DFC9271483D5}"/>
                </a:ext>
              </a:extLst>
            </p:cNvPr>
            <p:cNvSpPr/>
            <p:nvPr/>
          </p:nvSpPr>
          <p:spPr>
            <a:xfrm>
              <a:off x="1269442" y="5818036"/>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176" name="TextBox 175">
              <a:extLst>
                <a:ext uri="{FF2B5EF4-FFF2-40B4-BE49-F238E27FC236}">
                  <a16:creationId xmlns:a16="http://schemas.microsoft.com/office/drawing/2014/main" id="{5E15B6B9-6A29-9906-92B7-2BD81BC34563}"/>
                </a:ext>
              </a:extLst>
            </p:cNvPr>
            <p:cNvSpPr txBox="1"/>
            <p:nvPr/>
          </p:nvSpPr>
          <p:spPr>
            <a:xfrm>
              <a:off x="1416842" y="5914519"/>
              <a:ext cx="859367" cy="344666"/>
            </a:xfrm>
            <a:prstGeom prst="rect">
              <a:avLst/>
            </a:prstGeom>
            <a:noFill/>
          </p:spPr>
          <p:txBody>
            <a:bodyPr wrap="square" lIns="0" tIns="0" rIns="0" bIns="0" rtlCol="0">
              <a:noAutofit/>
            </a:bodyPr>
            <a:lstStyle/>
            <a:p>
              <a:pPr algn="ctr"/>
              <a:r>
                <a:rPr lang="en-AU" spc="500">
                  <a:latin typeface="Edu NSW ACT Foundation Medium" pitchFamily="2" charset="0"/>
                </a:rPr>
                <a:t>373</a:t>
              </a:r>
              <a:endParaRPr lang="en-AU" sz="1800" spc="500">
                <a:latin typeface="Edu NSW ACT Foundation Medium" pitchFamily="2" charset="0"/>
              </a:endParaRPr>
            </a:p>
          </p:txBody>
        </p:sp>
      </p:grpSp>
      <p:grpSp>
        <p:nvGrpSpPr>
          <p:cNvPr id="177" name="Group 176">
            <a:extLst>
              <a:ext uri="{FF2B5EF4-FFF2-40B4-BE49-F238E27FC236}">
                <a16:creationId xmlns:a16="http://schemas.microsoft.com/office/drawing/2014/main" id="{8F004907-555F-5C4E-4180-47E7035720B9}"/>
              </a:ext>
              <a:ext uri="{C183D7F6-B498-43B3-948B-1728B52AA6E4}">
                <adec:decorative xmlns:adec="http://schemas.microsoft.com/office/drawing/2017/decorative" val="1"/>
              </a:ext>
            </a:extLst>
          </p:cNvPr>
          <p:cNvGrpSpPr/>
          <p:nvPr/>
        </p:nvGrpSpPr>
        <p:grpSpPr>
          <a:xfrm>
            <a:off x="10345210" y="6158368"/>
            <a:ext cx="1154166" cy="537632"/>
            <a:chOff x="10468701" y="4499049"/>
            <a:chExt cx="1154166" cy="537632"/>
          </a:xfrm>
        </p:grpSpPr>
        <p:sp>
          <p:nvSpPr>
            <p:cNvPr id="178" name="Freeform 27">
              <a:extLst>
                <a:ext uri="{FF2B5EF4-FFF2-40B4-BE49-F238E27FC236}">
                  <a16:creationId xmlns:a16="http://schemas.microsoft.com/office/drawing/2014/main" id="{DFA31535-9902-7510-AA38-82487B732F26}"/>
                </a:ext>
              </a:extLst>
            </p:cNvPr>
            <p:cNvSpPr/>
            <p:nvPr/>
          </p:nvSpPr>
          <p:spPr>
            <a:xfrm>
              <a:off x="10468701" y="4499049"/>
              <a:ext cx="1154166" cy="537632"/>
            </a:xfrm>
            <a:custGeom>
              <a:avLst/>
              <a:gdLst/>
              <a:ahLst/>
              <a:cxnLst/>
              <a:rect l="l" t="t" r="r" b="b"/>
              <a:pathLst>
                <a:path w="2276971" h="1526253">
                  <a:moveTo>
                    <a:pt x="0" y="0"/>
                  </a:moveTo>
                  <a:lnTo>
                    <a:pt x="2276971" y="0"/>
                  </a:lnTo>
                  <a:lnTo>
                    <a:pt x="2276971" y="1526253"/>
                  </a:lnTo>
                  <a:lnTo>
                    <a:pt x="0" y="1526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2000">
                <a:latin typeface="Edu NSW ACT Foundation" panose="020B0604020202020204" charset="0"/>
              </a:endParaRPr>
            </a:p>
          </p:txBody>
        </p:sp>
        <p:sp>
          <p:nvSpPr>
            <p:cNvPr id="179" name="TextBox 178">
              <a:extLst>
                <a:ext uri="{FF2B5EF4-FFF2-40B4-BE49-F238E27FC236}">
                  <a16:creationId xmlns:a16="http://schemas.microsoft.com/office/drawing/2014/main" id="{75E5938E-53ED-FEC1-EF54-A28DBECD8F57}"/>
                </a:ext>
              </a:extLst>
            </p:cNvPr>
            <p:cNvSpPr txBox="1"/>
            <p:nvPr/>
          </p:nvSpPr>
          <p:spPr>
            <a:xfrm>
              <a:off x="10616101" y="4595532"/>
              <a:ext cx="859367" cy="344666"/>
            </a:xfrm>
            <a:prstGeom prst="rect">
              <a:avLst/>
            </a:prstGeom>
            <a:noFill/>
          </p:spPr>
          <p:txBody>
            <a:bodyPr wrap="square" lIns="0" tIns="0" rIns="0" bIns="0" rtlCol="0">
              <a:noAutofit/>
            </a:bodyPr>
            <a:lstStyle/>
            <a:p>
              <a:pPr algn="ctr"/>
              <a:r>
                <a:rPr lang="en-AU" spc="500">
                  <a:latin typeface="Edu NSW ACT Foundation Medium" pitchFamily="2" charset="0"/>
                </a:rPr>
                <a:t>377</a:t>
              </a:r>
              <a:endParaRPr lang="en-AU" sz="1800" spc="500">
                <a:latin typeface="Edu NSW ACT Foundation Medium" pitchFamily="2" charset="0"/>
              </a:endParaRPr>
            </a:p>
          </p:txBody>
        </p:sp>
      </p:grpSp>
    </p:spTree>
    <p:extLst>
      <p:ext uri="{BB962C8B-B14F-4D97-AF65-F5344CB8AC3E}">
        <p14:creationId xmlns:p14="http://schemas.microsoft.com/office/powerpoint/2010/main" val="3094769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dirty="0">
                <a:latin typeface="Arial"/>
                <a:cs typeface="Arial"/>
              </a:rPr>
              <a:t>True or false </a:t>
            </a:r>
            <a:r>
              <a:rPr lang="en-US" dirty="0">
                <a:solidFill>
                  <a:schemeClr val="bg1"/>
                </a:solidFill>
                <a:latin typeface="Arial"/>
                <a:cs typeface="Arial"/>
              </a:rPr>
              <a:t>(4) </a:t>
            </a:r>
          </a:p>
        </p:txBody>
      </p:sp>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482728" y="1251247"/>
            <a:ext cx="11217725" cy="2410885"/>
          </a:xfrm>
        </p:spPr>
        <p:txBody>
          <a:bodyPr vert="horz" lIns="0" tIns="0" rIns="0" bIns="0" rtlCol="0" anchor="t">
            <a:noAutofit/>
          </a:bodyPr>
          <a:lstStyle/>
          <a:p>
            <a:pPr algn="ctr"/>
            <a:r>
              <a:rPr lang="en-AU" sz="4400" dirty="0">
                <a:latin typeface="Arial"/>
                <a:cs typeface="Arial"/>
              </a:rPr>
              <a:t>Adding a </a:t>
            </a:r>
            <a:r>
              <a:rPr lang="en-AU" sz="4400" b="1" dirty="0">
                <a:latin typeface="Arial"/>
                <a:cs typeface="Arial"/>
              </a:rPr>
              <a:t>zero</a:t>
            </a:r>
            <a:r>
              <a:rPr lang="en-AU" sz="4400" dirty="0">
                <a:latin typeface="Arial"/>
                <a:cs typeface="Arial"/>
              </a:rPr>
              <a:t> to the end of a </a:t>
            </a:r>
            <a:r>
              <a:rPr lang="en-AU" sz="4400" b="1" dirty="0">
                <a:latin typeface="Arial"/>
                <a:cs typeface="Arial"/>
              </a:rPr>
              <a:t>decimal</a:t>
            </a:r>
            <a:r>
              <a:rPr lang="en-AU" sz="4400" dirty="0">
                <a:latin typeface="Arial"/>
                <a:cs typeface="Arial"/>
              </a:rPr>
              <a:t> number makes it </a:t>
            </a:r>
            <a:r>
              <a:rPr lang="en-AU" sz="4400" b="1" dirty="0">
                <a:latin typeface="Arial"/>
                <a:cs typeface="Arial"/>
              </a:rPr>
              <a:t>10 times larger</a:t>
            </a:r>
            <a:r>
              <a:rPr lang="en-AU" sz="4400" dirty="0">
                <a:latin typeface="Arial"/>
                <a:cs typeface="Arial"/>
              </a:rPr>
              <a:t>.  </a:t>
            </a:r>
            <a:br>
              <a:rPr lang="en-US" sz="5400" dirty="0">
                <a:latin typeface="Arial"/>
                <a:cs typeface="Arial"/>
              </a:rPr>
            </a:br>
            <a:endParaRPr lang="en-US" sz="5400" b="1" dirty="0"/>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1573663020"/>
              </p:ext>
            </p:extLst>
          </p:nvPr>
        </p:nvGraphicFramePr>
        <p:xfrm>
          <a:off x="2553052" y="400456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29097C5B-0822-B31F-6039-50D23FFACD33}"/>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4" name="Text Placeholder 6">
            <a:extLst>
              <a:ext uri="{FF2B5EF4-FFF2-40B4-BE49-F238E27FC236}">
                <a16:creationId xmlns:a16="http://schemas.microsoft.com/office/drawing/2014/main" id="{CDE2D93B-9828-8628-4313-C7365E2F627B}"/>
              </a:ext>
            </a:extLst>
          </p:cNvPr>
          <p:cNvSpPr txBox="1">
            <a:spLocks/>
          </p:cNvSpPr>
          <p:nvPr/>
        </p:nvSpPr>
        <p:spPr>
          <a:xfrm>
            <a:off x="470073" y="509813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Communicate</a:t>
            </a:r>
            <a:r>
              <a:rPr lang="en-US" sz="4400" dirty="0">
                <a:latin typeface="Arial"/>
                <a:cs typeface="Arial"/>
              </a:rPr>
              <a:t> your </a:t>
            </a:r>
            <a:r>
              <a:rPr lang="en-US" sz="4400" b="1" dirty="0">
                <a:latin typeface="Arial"/>
                <a:cs typeface="Arial"/>
              </a:rPr>
              <a:t>reasoning</a:t>
            </a:r>
            <a:r>
              <a:rPr lang="en-US" sz="4400" dirty="0">
                <a:latin typeface="Arial"/>
                <a:cs typeface="Arial"/>
              </a:rPr>
              <a:t>. </a:t>
            </a:r>
            <a:endParaRPr lang="en-US" sz="4400" dirty="0"/>
          </a:p>
        </p:txBody>
      </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74F8C-67CD-6F7C-6C16-86483C2F43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DB23D2-214D-1713-0B3E-6E670134EDA7}"/>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F775F482-9B39-B744-119C-058F7857CBC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(29)</a:t>
            </a:r>
          </a:p>
        </p:txBody>
      </p:sp>
      <p:sp>
        <p:nvSpPr>
          <p:cNvPr id="11" name="Picture Placeholder 10">
            <a:extLst>
              <a:ext uri="{FF2B5EF4-FFF2-40B4-BE49-F238E27FC236}">
                <a16:creationId xmlns:a16="http://schemas.microsoft.com/office/drawing/2014/main" id="{BC3A7E34-2CD4-CF15-2044-243D33661BED}"/>
              </a:ext>
            </a:extLst>
          </p:cNvPr>
          <p:cNvSpPr>
            <a:spLocks noGrp="1"/>
          </p:cNvSpPr>
          <p:nvPr>
            <p:ph type="pic" sz="quarter" idx="21"/>
          </p:nvPr>
        </p:nvSpPr>
        <p:spPr>
          <a:xfrm>
            <a:off x="246024" y="996878"/>
            <a:ext cx="11284715" cy="2285067"/>
          </a:xfrm>
        </p:spPr>
        <p:txBody>
          <a:bodyPr/>
          <a:lstStyle/>
          <a:p>
            <a:pPr algn="ctr"/>
            <a:r>
              <a:rPr lang="en-AU" sz="4400" dirty="0"/>
              <a:t>Is the </a:t>
            </a:r>
            <a:r>
              <a:rPr lang="en-AU" sz="4400" b="1" dirty="0"/>
              <a:t>table</a:t>
            </a:r>
            <a:r>
              <a:rPr lang="en-AU" sz="4400" dirty="0"/>
              <a:t> or </a:t>
            </a:r>
            <a:r>
              <a:rPr lang="en-AU" sz="4400" b="1" dirty="0"/>
              <a:t>dot plot</a:t>
            </a:r>
            <a:r>
              <a:rPr lang="en-AU" sz="4400" dirty="0"/>
              <a:t> easier to </a:t>
            </a:r>
            <a:r>
              <a:rPr lang="en-AU" sz="4400" b="1" dirty="0"/>
              <a:t>interpret</a:t>
            </a:r>
            <a:r>
              <a:rPr lang="en-AU" sz="4400" dirty="0"/>
              <a:t>? </a:t>
            </a:r>
            <a:r>
              <a:rPr lang="en-AU" sz="4400" b="1" dirty="0"/>
              <a:t>Explain</a:t>
            </a:r>
            <a:r>
              <a:rPr lang="en-AU" sz="4400" dirty="0"/>
              <a:t> your thinking.</a:t>
            </a:r>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D0D6E87-CAE8-D792-AFA5-8026CE64EFBE}"/>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n example of a table for a class. mystery 6, fairytale 2, factual 8, science fiction 5.">
            <a:extLst>
              <a:ext uri="{FF2B5EF4-FFF2-40B4-BE49-F238E27FC236}">
                <a16:creationId xmlns:a16="http://schemas.microsoft.com/office/drawing/2014/main" id="{AFC65CC1-18AC-59BE-30F7-149D4CF766B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5741" r="30416" b="12001"/>
          <a:stretch/>
        </p:blipFill>
        <p:spPr bwMode="auto">
          <a:xfrm>
            <a:off x="528525" y="3281945"/>
            <a:ext cx="4353442" cy="3192958"/>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6" name="Picture 5" descr="An example of a favourite book genre dot plot for a class. mystery 5, fairytale 2, factual 8, science fiction 5.">
            <a:extLst>
              <a:ext uri="{FF2B5EF4-FFF2-40B4-BE49-F238E27FC236}">
                <a16:creationId xmlns:a16="http://schemas.microsoft.com/office/drawing/2014/main" id="{8ADF8E0B-5C3E-7AB0-2F8A-BCC25725CAC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083" t="23493" r="14725" b="19895"/>
          <a:stretch>
            <a:fillRect/>
          </a:stretch>
        </p:blipFill>
        <p:spPr bwMode="auto">
          <a:xfrm>
            <a:off x="5602637" y="3307035"/>
            <a:ext cx="5596237" cy="3142778"/>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81020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descr="Fractions represented (shaded) on a number line.&#10;3/4, 1/2, 5/8, 2/4, 3/10, 7/8">
            <a:extLst>
              <a:ext uri="{FF2B5EF4-FFF2-40B4-BE49-F238E27FC236}">
                <a16:creationId xmlns:a16="http://schemas.microsoft.com/office/drawing/2014/main" id="{5249BC38-5AE6-D002-8CF1-C81FA6A0F702}"/>
              </a:ext>
            </a:extLst>
          </p:cNvPr>
          <p:cNvSpPr>
            <a:spLocks noGrp="1"/>
          </p:cNvSpPr>
          <p:nvPr>
            <p:ph type="sldNum" sz="quarter" idx="12"/>
          </p:nvPr>
        </p:nvSpPr>
        <p:spPr>
          <a:xfrm>
            <a:off x="11320446" y="6589277"/>
            <a:ext cx="720000" cy="180000"/>
          </a:xfrm>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(30)</a:t>
            </a:r>
          </a:p>
        </p:txBody>
      </p:sp>
      <p:sp>
        <p:nvSpPr>
          <p:cNvPr id="11" name="Picture Placeholder 10" descr="A prism has been made using cubic-centimetre blocks">
            <a:extLst>
              <a:ext uri="{FF2B5EF4-FFF2-40B4-BE49-F238E27FC236}">
                <a16:creationId xmlns:a16="http://schemas.microsoft.com/office/drawing/2014/main" id="{FF54730D-1797-6F6B-C3B2-591C858320E8}"/>
              </a:ext>
            </a:extLst>
          </p:cNvPr>
          <p:cNvSpPr>
            <a:spLocks noGrp="1"/>
          </p:cNvSpPr>
          <p:nvPr>
            <p:ph type="pic" sz="quarter" idx="21"/>
          </p:nvPr>
        </p:nvSpPr>
        <p:spPr>
          <a:xfrm>
            <a:off x="188362" y="1080077"/>
            <a:ext cx="11655638" cy="1887543"/>
          </a:xfrm>
        </p:spPr>
        <p:txBody>
          <a:bodyPr/>
          <a:lstStyle/>
          <a:p>
            <a:pPr algn="ctr"/>
            <a:r>
              <a:rPr lang="en-US" sz="3600" dirty="0">
                <a:latin typeface="Arial"/>
                <a:cs typeface="Arial"/>
              </a:rPr>
              <a:t>This prism has been made using cubic-</a:t>
            </a:r>
            <a:r>
              <a:rPr lang="en-US" sz="3600" dirty="0" err="1">
                <a:latin typeface="Arial"/>
                <a:cs typeface="Arial"/>
              </a:rPr>
              <a:t>centimetre</a:t>
            </a:r>
            <a:r>
              <a:rPr lang="en-US" sz="3600" dirty="0">
                <a:latin typeface="Arial"/>
                <a:cs typeface="Arial"/>
              </a:rPr>
              <a:t> blocks. </a:t>
            </a:r>
          </a:p>
        </p:txBody>
      </p:sp>
      <p:pic>
        <p:nvPicPr>
          <p:cNvPr id="5" name="Picture 4" descr="image of a clipboard with a pencil recording short answer responses">
            <a:extLst>
              <a:ext uri="{FF2B5EF4-FFF2-40B4-BE49-F238E27FC236}">
                <a16:creationId xmlns:a16="http://schemas.microsoft.com/office/drawing/2014/main" id="{95BB9EF2-5D8F-1356-E26C-32FA516928A6}"/>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6" name="TextBox 5">
            <a:extLst>
              <a:ext uri="{FF2B5EF4-FFF2-40B4-BE49-F238E27FC236}">
                <a16:creationId xmlns:a16="http://schemas.microsoft.com/office/drawing/2014/main" id="{EF2917A4-B5B8-E74D-97EA-EF203C60C874}"/>
              </a:ext>
            </a:extLst>
          </p:cNvPr>
          <p:cNvSpPr txBox="1"/>
          <p:nvPr/>
        </p:nvSpPr>
        <p:spPr>
          <a:xfrm>
            <a:off x="258503" y="2371339"/>
            <a:ext cx="6698999" cy="4144661"/>
          </a:xfrm>
          <a:prstGeom prst="rect">
            <a:avLst/>
          </a:prstGeom>
          <a:noFill/>
        </p:spPr>
        <p:txBody>
          <a:bodyPr wrap="square">
            <a:spAutoFit/>
          </a:bodyPr>
          <a:lstStyle/>
          <a:p>
            <a:pPr algn="ctr">
              <a:lnSpc>
                <a:spcPct val="150000"/>
              </a:lnSpc>
            </a:pPr>
            <a:r>
              <a:rPr lang="en-US" sz="3600" b="1" dirty="0">
                <a:cs typeface="Arial"/>
              </a:rPr>
              <a:t>Describe</a:t>
            </a:r>
            <a:r>
              <a:rPr lang="en-US" sz="3600" dirty="0">
                <a:cs typeface="Arial"/>
              </a:rPr>
              <a:t> this prism using the term </a:t>
            </a:r>
            <a:r>
              <a:rPr lang="en-US" sz="3600" b="1" dirty="0">
                <a:cs typeface="Arial"/>
              </a:rPr>
              <a:t>layers</a:t>
            </a:r>
            <a:r>
              <a:rPr lang="en-US" sz="3600" dirty="0">
                <a:cs typeface="Arial"/>
              </a:rPr>
              <a:t>. </a:t>
            </a:r>
          </a:p>
          <a:p>
            <a:pPr algn="ctr">
              <a:lnSpc>
                <a:spcPct val="150000"/>
              </a:lnSpc>
            </a:pPr>
            <a:endParaRPr lang="en-US" sz="3600" dirty="0">
              <a:cs typeface="Arial"/>
            </a:endParaRPr>
          </a:p>
          <a:p>
            <a:pPr algn="ctr">
              <a:lnSpc>
                <a:spcPct val="150000"/>
              </a:lnSpc>
            </a:pPr>
            <a:r>
              <a:rPr lang="en-US" sz="3600" dirty="0">
                <a:latin typeface="Arial"/>
                <a:cs typeface="Arial"/>
              </a:rPr>
              <a:t>What is the </a:t>
            </a:r>
            <a:r>
              <a:rPr lang="en-US" sz="3600" b="1" dirty="0">
                <a:latin typeface="Arial"/>
                <a:cs typeface="Arial"/>
              </a:rPr>
              <a:t>volume</a:t>
            </a:r>
            <a:r>
              <a:rPr lang="en-US" sz="3600" dirty="0">
                <a:latin typeface="Arial"/>
                <a:cs typeface="Arial"/>
              </a:rPr>
              <a:t> of this prism in cubic centimetres?</a:t>
            </a:r>
          </a:p>
        </p:txBody>
      </p:sp>
      <p:grpSp>
        <p:nvGrpSpPr>
          <p:cNvPr id="4" name="Group 2" descr="A prism made using 54 cubic-centimetre blocks. It has 3 layers, each with 3 rows of 6 blocks.">
            <a:extLst>
              <a:ext uri="{FF2B5EF4-FFF2-40B4-BE49-F238E27FC236}">
                <a16:creationId xmlns:a16="http://schemas.microsoft.com/office/drawing/2014/main" id="{9EBD4F65-EA8F-B9D8-1AC7-DEE28EC4A17E}"/>
              </a:ext>
            </a:extLst>
          </p:cNvPr>
          <p:cNvGrpSpPr/>
          <p:nvPr/>
        </p:nvGrpSpPr>
        <p:grpSpPr>
          <a:xfrm>
            <a:off x="6908117" y="2234557"/>
            <a:ext cx="4694921" cy="4076098"/>
            <a:chOff x="0" y="0"/>
            <a:chExt cx="7633139" cy="7253447"/>
          </a:xfrm>
        </p:grpSpPr>
        <p:sp>
          <p:nvSpPr>
            <p:cNvPr id="8" name="Freeform 3">
              <a:extLst>
                <a:ext uri="{FF2B5EF4-FFF2-40B4-BE49-F238E27FC236}">
                  <a16:creationId xmlns:a16="http://schemas.microsoft.com/office/drawing/2014/main" id="{3A8DB442-DCDE-9CF8-1B5A-92BAD3693E83}"/>
                </a:ext>
              </a:extLst>
            </p:cNvPr>
            <p:cNvSpPr/>
            <p:nvPr/>
          </p:nvSpPr>
          <p:spPr>
            <a:xfrm>
              <a:off x="3392506" y="1394307"/>
              <a:ext cx="1696253" cy="1955335"/>
            </a:xfrm>
            <a:custGeom>
              <a:avLst/>
              <a:gdLst/>
              <a:ahLst/>
              <a:cxnLst/>
              <a:rect l="l" t="t" r="r" b="b"/>
              <a:pathLst>
                <a:path w="1696253" h="1955335">
                  <a:moveTo>
                    <a:pt x="0" y="0"/>
                  </a:moveTo>
                  <a:lnTo>
                    <a:pt x="1696254" y="0"/>
                  </a:lnTo>
                  <a:lnTo>
                    <a:pt x="1696254" y="1955335"/>
                  </a:lnTo>
                  <a:lnTo>
                    <a:pt x="0" y="19553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Freeform 4">
              <a:extLst>
                <a:ext uri="{FF2B5EF4-FFF2-40B4-BE49-F238E27FC236}">
                  <a16:creationId xmlns:a16="http://schemas.microsoft.com/office/drawing/2014/main" id="{FFA4B856-BF52-40FB-C937-9A9512974433}"/>
                </a:ext>
              </a:extLst>
            </p:cNvPr>
            <p:cNvSpPr/>
            <p:nvPr/>
          </p:nvSpPr>
          <p:spPr>
            <a:xfrm>
              <a:off x="4240633" y="1886573"/>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0" name="Freeform 5">
              <a:extLst>
                <a:ext uri="{FF2B5EF4-FFF2-40B4-BE49-F238E27FC236}">
                  <a16:creationId xmlns:a16="http://schemas.microsoft.com/office/drawing/2014/main" id="{E71785BD-01D7-B3FD-E7EE-95A6F875C498}"/>
                </a:ext>
              </a:extLst>
            </p:cNvPr>
            <p:cNvSpPr/>
            <p:nvPr/>
          </p:nvSpPr>
          <p:spPr>
            <a:xfrm>
              <a:off x="5088760" y="2371974"/>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2" name="Freeform 6">
              <a:extLst>
                <a:ext uri="{FF2B5EF4-FFF2-40B4-BE49-F238E27FC236}">
                  <a16:creationId xmlns:a16="http://schemas.microsoft.com/office/drawing/2014/main" id="{4CEFC781-EA21-570D-15B0-FA33B909039A}"/>
                </a:ext>
              </a:extLst>
            </p:cNvPr>
            <p:cNvSpPr/>
            <p:nvPr/>
          </p:nvSpPr>
          <p:spPr>
            <a:xfrm>
              <a:off x="5936886" y="2857375"/>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3" name="Freeform 7">
              <a:extLst>
                <a:ext uri="{FF2B5EF4-FFF2-40B4-BE49-F238E27FC236}">
                  <a16:creationId xmlns:a16="http://schemas.microsoft.com/office/drawing/2014/main" id="{ECCD7B34-73EF-BB53-32FB-7EE0271E339A}"/>
                </a:ext>
              </a:extLst>
            </p:cNvPr>
            <p:cNvSpPr/>
            <p:nvPr/>
          </p:nvSpPr>
          <p:spPr>
            <a:xfrm>
              <a:off x="4240633" y="902040"/>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4" name="Freeform 8">
              <a:extLst>
                <a:ext uri="{FF2B5EF4-FFF2-40B4-BE49-F238E27FC236}">
                  <a16:creationId xmlns:a16="http://schemas.microsoft.com/office/drawing/2014/main" id="{418C7C52-1987-607A-B020-656BA3576DC1}"/>
                </a:ext>
              </a:extLst>
            </p:cNvPr>
            <p:cNvSpPr/>
            <p:nvPr/>
          </p:nvSpPr>
          <p:spPr>
            <a:xfrm>
              <a:off x="5088760" y="1387441"/>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5" name="Freeform 9">
              <a:extLst>
                <a:ext uri="{FF2B5EF4-FFF2-40B4-BE49-F238E27FC236}">
                  <a16:creationId xmlns:a16="http://schemas.microsoft.com/office/drawing/2014/main" id="{C3ECB69A-4B87-5F91-1AD8-CF665E93CDD3}"/>
                </a:ext>
              </a:extLst>
            </p:cNvPr>
            <p:cNvSpPr/>
            <p:nvPr/>
          </p:nvSpPr>
          <p:spPr>
            <a:xfrm>
              <a:off x="5936886" y="1872842"/>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6" name="Freeform 10">
              <a:extLst>
                <a:ext uri="{FF2B5EF4-FFF2-40B4-BE49-F238E27FC236}">
                  <a16:creationId xmlns:a16="http://schemas.microsoft.com/office/drawing/2014/main" id="{7793D6FA-9BE3-35F6-A732-DAB68002C476}"/>
                </a:ext>
              </a:extLst>
            </p:cNvPr>
            <p:cNvSpPr/>
            <p:nvPr/>
          </p:nvSpPr>
          <p:spPr>
            <a:xfrm>
              <a:off x="2544380" y="1879708"/>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7" name="Freeform 11">
              <a:extLst>
                <a:ext uri="{FF2B5EF4-FFF2-40B4-BE49-F238E27FC236}">
                  <a16:creationId xmlns:a16="http://schemas.microsoft.com/office/drawing/2014/main" id="{2BD76ECE-7209-49F3-1E80-20EB6F14CC17}"/>
                </a:ext>
              </a:extLst>
            </p:cNvPr>
            <p:cNvSpPr/>
            <p:nvPr/>
          </p:nvSpPr>
          <p:spPr>
            <a:xfrm>
              <a:off x="3392506" y="2371974"/>
              <a:ext cx="1696253" cy="1955335"/>
            </a:xfrm>
            <a:custGeom>
              <a:avLst/>
              <a:gdLst/>
              <a:ahLst/>
              <a:cxnLst/>
              <a:rect l="l" t="t" r="r" b="b"/>
              <a:pathLst>
                <a:path w="1696253" h="1955335">
                  <a:moveTo>
                    <a:pt x="0" y="0"/>
                  </a:moveTo>
                  <a:lnTo>
                    <a:pt x="1696254" y="0"/>
                  </a:lnTo>
                  <a:lnTo>
                    <a:pt x="1696254"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8" name="Freeform 12">
              <a:extLst>
                <a:ext uri="{FF2B5EF4-FFF2-40B4-BE49-F238E27FC236}">
                  <a16:creationId xmlns:a16="http://schemas.microsoft.com/office/drawing/2014/main" id="{DFEFEA38-974D-BDB8-5914-C5D61BF50521}"/>
                </a:ext>
              </a:extLst>
            </p:cNvPr>
            <p:cNvSpPr/>
            <p:nvPr/>
          </p:nvSpPr>
          <p:spPr>
            <a:xfrm>
              <a:off x="4240633" y="2857375"/>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9" name="Freeform 13">
              <a:extLst>
                <a:ext uri="{FF2B5EF4-FFF2-40B4-BE49-F238E27FC236}">
                  <a16:creationId xmlns:a16="http://schemas.microsoft.com/office/drawing/2014/main" id="{8680379A-F074-179B-B3E9-CAB16D6C3161}"/>
                </a:ext>
              </a:extLst>
            </p:cNvPr>
            <p:cNvSpPr/>
            <p:nvPr/>
          </p:nvSpPr>
          <p:spPr>
            <a:xfrm>
              <a:off x="5088760" y="3342776"/>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0" name="Freeform 14">
              <a:extLst>
                <a:ext uri="{FF2B5EF4-FFF2-40B4-BE49-F238E27FC236}">
                  <a16:creationId xmlns:a16="http://schemas.microsoft.com/office/drawing/2014/main" id="{E454405F-51E3-3DC0-8397-05ED3E9CA1DA}"/>
                </a:ext>
              </a:extLst>
            </p:cNvPr>
            <p:cNvSpPr/>
            <p:nvPr/>
          </p:nvSpPr>
          <p:spPr>
            <a:xfrm>
              <a:off x="3392506" y="1387441"/>
              <a:ext cx="1696253" cy="1955335"/>
            </a:xfrm>
            <a:custGeom>
              <a:avLst/>
              <a:gdLst/>
              <a:ahLst/>
              <a:cxnLst/>
              <a:rect l="l" t="t" r="r" b="b"/>
              <a:pathLst>
                <a:path w="1696253" h="1955335">
                  <a:moveTo>
                    <a:pt x="0" y="0"/>
                  </a:moveTo>
                  <a:lnTo>
                    <a:pt x="1696254" y="0"/>
                  </a:lnTo>
                  <a:lnTo>
                    <a:pt x="1696254"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1" name="Freeform 15">
              <a:extLst>
                <a:ext uri="{FF2B5EF4-FFF2-40B4-BE49-F238E27FC236}">
                  <a16:creationId xmlns:a16="http://schemas.microsoft.com/office/drawing/2014/main" id="{12D0A081-FF63-C4B8-C2D6-EB6A97CCB589}"/>
                </a:ext>
              </a:extLst>
            </p:cNvPr>
            <p:cNvSpPr/>
            <p:nvPr/>
          </p:nvSpPr>
          <p:spPr>
            <a:xfrm>
              <a:off x="4240633" y="1872842"/>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2" name="Freeform 16">
              <a:extLst>
                <a:ext uri="{FF2B5EF4-FFF2-40B4-BE49-F238E27FC236}">
                  <a16:creationId xmlns:a16="http://schemas.microsoft.com/office/drawing/2014/main" id="{D438BF7A-78F4-54E9-EAD5-C7854653D00D}"/>
                </a:ext>
              </a:extLst>
            </p:cNvPr>
            <p:cNvSpPr/>
            <p:nvPr/>
          </p:nvSpPr>
          <p:spPr>
            <a:xfrm>
              <a:off x="5088760" y="2358243"/>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3" name="Freeform 17">
              <a:extLst>
                <a:ext uri="{FF2B5EF4-FFF2-40B4-BE49-F238E27FC236}">
                  <a16:creationId xmlns:a16="http://schemas.microsoft.com/office/drawing/2014/main" id="{D2F2B938-5E57-DCB5-A25C-59020758AC51}"/>
                </a:ext>
              </a:extLst>
            </p:cNvPr>
            <p:cNvSpPr/>
            <p:nvPr/>
          </p:nvSpPr>
          <p:spPr>
            <a:xfrm>
              <a:off x="1696253" y="2365109"/>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4" name="Freeform 18">
              <a:extLst>
                <a:ext uri="{FF2B5EF4-FFF2-40B4-BE49-F238E27FC236}">
                  <a16:creationId xmlns:a16="http://schemas.microsoft.com/office/drawing/2014/main" id="{BF56CD11-8317-94A3-9A90-B864D22ABB0F}"/>
                </a:ext>
              </a:extLst>
            </p:cNvPr>
            <p:cNvSpPr/>
            <p:nvPr/>
          </p:nvSpPr>
          <p:spPr>
            <a:xfrm>
              <a:off x="2544380" y="2857375"/>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5" name="Freeform 19">
              <a:extLst>
                <a:ext uri="{FF2B5EF4-FFF2-40B4-BE49-F238E27FC236}">
                  <a16:creationId xmlns:a16="http://schemas.microsoft.com/office/drawing/2014/main" id="{0483DC0F-1763-5AE3-A950-F4F88726C556}"/>
                </a:ext>
              </a:extLst>
            </p:cNvPr>
            <p:cNvSpPr/>
            <p:nvPr/>
          </p:nvSpPr>
          <p:spPr>
            <a:xfrm>
              <a:off x="3392506" y="3342776"/>
              <a:ext cx="1696253" cy="1955335"/>
            </a:xfrm>
            <a:custGeom>
              <a:avLst/>
              <a:gdLst/>
              <a:ahLst/>
              <a:cxnLst/>
              <a:rect l="l" t="t" r="r" b="b"/>
              <a:pathLst>
                <a:path w="1696253" h="1955335">
                  <a:moveTo>
                    <a:pt x="0" y="0"/>
                  </a:moveTo>
                  <a:lnTo>
                    <a:pt x="1696254" y="0"/>
                  </a:lnTo>
                  <a:lnTo>
                    <a:pt x="1696254"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6" name="Freeform 20">
              <a:extLst>
                <a:ext uri="{FF2B5EF4-FFF2-40B4-BE49-F238E27FC236}">
                  <a16:creationId xmlns:a16="http://schemas.microsoft.com/office/drawing/2014/main" id="{B5A996B4-ED16-7EEF-62BF-90EBDF0AB688}"/>
                </a:ext>
              </a:extLst>
            </p:cNvPr>
            <p:cNvSpPr/>
            <p:nvPr/>
          </p:nvSpPr>
          <p:spPr>
            <a:xfrm>
              <a:off x="4240633" y="3828177"/>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7" name="Freeform 21">
              <a:extLst>
                <a:ext uri="{FF2B5EF4-FFF2-40B4-BE49-F238E27FC236}">
                  <a16:creationId xmlns:a16="http://schemas.microsoft.com/office/drawing/2014/main" id="{5C0D3163-D4C3-5C02-E37A-9FB71AEC4172}"/>
                </a:ext>
              </a:extLst>
            </p:cNvPr>
            <p:cNvSpPr/>
            <p:nvPr/>
          </p:nvSpPr>
          <p:spPr>
            <a:xfrm>
              <a:off x="2544380" y="1872842"/>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8" name="Freeform 22">
              <a:extLst>
                <a:ext uri="{FF2B5EF4-FFF2-40B4-BE49-F238E27FC236}">
                  <a16:creationId xmlns:a16="http://schemas.microsoft.com/office/drawing/2014/main" id="{411878EF-234F-FBAC-FC21-022E87CE8872}"/>
                </a:ext>
              </a:extLst>
            </p:cNvPr>
            <p:cNvSpPr/>
            <p:nvPr/>
          </p:nvSpPr>
          <p:spPr>
            <a:xfrm>
              <a:off x="3392506" y="2358243"/>
              <a:ext cx="1696253" cy="1955335"/>
            </a:xfrm>
            <a:custGeom>
              <a:avLst/>
              <a:gdLst/>
              <a:ahLst/>
              <a:cxnLst/>
              <a:rect l="l" t="t" r="r" b="b"/>
              <a:pathLst>
                <a:path w="1696253" h="1955335">
                  <a:moveTo>
                    <a:pt x="0" y="0"/>
                  </a:moveTo>
                  <a:lnTo>
                    <a:pt x="1696254" y="0"/>
                  </a:lnTo>
                  <a:lnTo>
                    <a:pt x="1696254"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9" name="Freeform 23">
              <a:extLst>
                <a:ext uri="{FF2B5EF4-FFF2-40B4-BE49-F238E27FC236}">
                  <a16:creationId xmlns:a16="http://schemas.microsoft.com/office/drawing/2014/main" id="{E438A66F-5B8D-7450-7683-0086C8BDEC27}"/>
                </a:ext>
              </a:extLst>
            </p:cNvPr>
            <p:cNvSpPr/>
            <p:nvPr/>
          </p:nvSpPr>
          <p:spPr>
            <a:xfrm>
              <a:off x="4240633" y="2843644"/>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0" name="Freeform 24">
              <a:extLst>
                <a:ext uri="{FF2B5EF4-FFF2-40B4-BE49-F238E27FC236}">
                  <a16:creationId xmlns:a16="http://schemas.microsoft.com/office/drawing/2014/main" id="{6500382D-7BBF-81FC-2F86-77E3B03204DC}"/>
                </a:ext>
              </a:extLst>
            </p:cNvPr>
            <p:cNvSpPr/>
            <p:nvPr/>
          </p:nvSpPr>
          <p:spPr>
            <a:xfrm>
              <a:off x="848127" y="2864241"/>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1" name="Freeform 25">
              <a:extLst>
                <a:ext uri="{FF2B5EF4-FFF2-40B4-BE49-F238E27FC236}">
                  <a16:creationId xmlns:a16="http://schemas.microsoft.com/office/drawing/2014/main" id="{CE4001F6-A5BF-7B3D-F2C3-F4022995BF20}"/>
                </a:ext>
              </a:extLst>
            </p:cNvPr>
            <p:cNvSpPr/>
            <p:nvPr/>
          </p:nvSpPr>
          <p:spPr>
            <a:xfrm>
              <a:off x="1696253" y="3356508"/>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2" name="Freeform 26">
              <a:extLst>
                <a:ext uri="{FF2B5EF4-FFF2-40B4-BE49-F238E27FC236}">
                  <a16:creationId xmlns:a16="http://schemas.microsoft.com/office/drawing/2014/main" id="{E7D844D9-0F14-6715-848F-E6EE49394E24}"/>
                </a:ext>
              </a:extLst>
            </p:cNvPr>
            <p:cNvSpPr/>
            <p:nvPr/>
          </p:nvSpPr>
          <p:spPr>
            <a:xfrm>
              <a:off x="2544380" y="3841909"/>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3" name="Freeform 27">
              <a:extLst>
                <a:ext uri="{FF2B5EF4-FFF2-40B4-BE49-F238E27FC236}">
                  <a16:creationId xmlns:a16="http://schemas.microsoft.com/office/drawing/2014/main" id="{D90AA5BE-E982-46C1-DB98-72DF2512FC9D}"/>
                </a:ext>
              </a:extLst>
            </p:cNvPr>
            <p:cNvSpPr/>
            <p:nvPr/>
          </p:nvSpPr>
          <p:spPr>
            <a:xfrm>
              <a:off x="3392506" y="4327310"/>
              <a:ext cx="1696253" cy="1955335"/>
            </a:xfrm>
            <a:custGeom>
              <a:avLst/>
              <a:gdLst/>
              <a:ahLst/>
              <a:cxnLst/>
              <a:rect l="l" t="t" r="r" b="b"/>
              <a:pathLst>
                <a:path w="1696253" h="1955335">
                  <a:moveTo>
                    <a:pt x="0" y="0"/>
                  </a:moveTo>
                  <a:lnTo>
                    <a:pt x="1696254" y="0"/>
                  </a:lnTo>
                  <a:lnTo>
                    <a:pt x="1696254"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4" name="Freeform 28">
              <a:extLst>
                <a:ext uri="{FF2B5EF4-FFF2-40B4-BE49-F238E27FC236}">
                  <a16:creationId xmlns:a16="http://schemas.microsoft.com/office/drawing/2014/main" id="{BB15E9B4-5A86-AAEC-1586-5244CB1A7E9C}"/>
                </a:ext>
              </a:extLst>
            </p:cNvPr>
            <p:cNvSpPr/>
            <p:nvPr/>
          </p:nvSpPr>
          <p:spPr>
            <a:xfrm>
              <a:off x="1696253" y="2371974"/>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5" name="Freeform 29">
              <a:extLst>
                <a:ext uri="{FF2B5EF4-FFF2-40B4-BE49-F238E27FC236}">
                  <a16:creationId xmlns:a16="http://schemas.microsoft.com/office/drawing/2014/main" id="{3B8A4D15-BE61-C985-05D7-1BBC42FED128}"/>
                </a:ext>
              </a:extLst>
            </p:cNvPr>
            <p:cNvSpPr/>
            <p:nvPr/>
          </p:nvSpPr>
          <p:spPr>
            <a:xfrm>
              <a:off x="2544380" y="2857375"/>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6" name="Freeform 30">
              <a:extLst>
                <a:ext uri="{FF2B5EF4-FFF2-40B4-BE49-F238E27FC236}">
                  <a16:creationId xmlns:a16="http://schemas.microsoft.com/office/drawing/2014/main" id="{65189EE7-A056-147A-A19C-0A03F792820D}"/>
                </a:ext>
              </a:extLst>
            </p:cNvPr>
            <p:cNvSpPr/>
            <p:nvPr/>
          </p:nvSpPr>
          <p:spPr>
            <a:xfrm>
              <a:off x="3392506" y="3342776"/>
              <a:ext cx="1696253" cy="1955335"/>
            </a:xfrm>
            <a:custGeom>
              <a:avLst/>
              <a:gdLst/>
              <a:ahLst/>
              <a:cxnLst/>
              <a:rect l="l" t="t" r="r" b="b"/>
              <a:pathLst>
                <a:path w="1696253" h="1955335">
                  <a:moveTo>
                    <a:pt x="0" y="0"/>
                  </a:moveTo>
                  <a:lnTo>
                    <a:pt x="1696254" y="0"/>
                  </a:lnTo>
                  <a:lnTo>
                    <a:pt x="1696254"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7" name="Freeform 31">
              <a:extLst>
                <a:ext uri="{FF2B5EF4-FFF2-40B4-BE49-F238E27FC236}">
                  <a16:creationId xmlns:a16="http://schemas.microsoft.com/office/drawing/2014/main" id="{508FF4C4-A5BA-0007-2BCB-83D002296CAA}"/>
                </a:ext>
              </a:extLst>
            </p:cNvPr>
            <p:cNvSpPr/>
            <p:nvPr/>
          </p:nvSpPr>
          <p:spPr>
            <a:xfrm>
              <a:off x="0" y="3349642"/>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8" name="Freeform 32">
              <a:extLst>
                <a:ext uri="{FF2B5EF4-FFF2-40B4-BE49-F238E27FC236}">
                  <a16:creationId xmlns:a16="http://schemas.microsoft.com/office/drawing/2014/main" id="{E605D9BD-E582-2CC6-5EF1-986C06A9A77B}"/>
                </a:ext>
              </a:extLst>
            </p:cNvPr>
            <p:cNvSpPr/>
            <p:nvPr/>
          </p:nvSpPr>
          <p:spPr>
            <a:xfrm>
              <a:off x="848127" y="3841909"/>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9" name="Freeform 33">
              <a:extLst>
                <a:ext uri="{FF2B5EF4-FFF2-40B4-BE49-F238E27FC236}">
                  <a16:creationId xmlns:a16="http://schemas.microsoft.com/office/drawing/2014/main" id="{F49A0F91-3152-49B1-C1C4-079EB869A893}"/>
                </a:ext>
              </a:extLst>
            </p:cNvPr>
            <p:cNvSpPr/>
            <p:nvPr/>
          </p:nvSpPr>
          <p:spPr>
            <a:xfrm>
              <a:off x="1696253" y="4327310"/>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0" name="Freeform 34">
              <a:extLst>
                <a:ext uri="{FF2B5EF4-FFF2-40B4-BE49-F238E27FC236}">
                  <a16:creationId xmlns:a16="http://schemas.microsoft.com/office/drawing/2014/main" id="{13C4E53E-8A6E-5678-0070-8AE28CC97B32}"/>
                </a:ext>
              </a:extLst>
            </p:cNvPr>
            <p:cNvSpPr/>
            <p:nvPr/>
          </p:nvSpPr>
          <p:spPr>
            <a:xfrm>
              <a:off x="2544380" y="4812711"/>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1" name="Freeform 35">
              <a:extLst>
                <a:ext uri="{FF2B5EF4-FFF2-40B4-BE49-F238E27FC236}">
                  <a16:creationId xmlns:a16="http://schemas.microsoft.com/office/drawing/2014/main" id="{474BBE83-F6E7-0B28-1D31-F97EE4658768}"/>
                </a:ext>
              </a:extLst>
            </p:cNvPr>
            <p:cNvSpPr/>
            <p:nvPr/>
          </p:nvSpPr>
          <p:spPr>
            <a:xfrm>
              <a:off x="848127" y="2857375"/>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2" name="Freeform 36">
              <a:extLst>
                <a:ext uri="{FF2B5EF4-FFF2-40B4-BE49-F238E27FC236}">
                  <a16:creationId xmlns:a16="http://schemas.microsoft.com/office/drawing/2014/main" id="{7BA53171-BC1D-B98E-D674-4816FC36B759}"/>
                </a:ext>
              </a:extLst>
            </p:cNvPr>
            <p:cNvSpPr/>
            <p:nvPr/>
          </p:nvSpPr>
          <p:spPr>
            <a:xfrm>
              <a:off x="1696253" y="3342776"/>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3" name="Freeform 37">
              <a:extLst>
                <a:ext uri="{FF2B5EF4-FFF2-40B4-BE49-F238E27FC236}">
                  <a16:creationId xmlns:a16="http://schemas.microsoft.com/office/drawing/2014/main" id="{92646860-17C4-9039-1785-25E02F6C35F2}"/>
                </a:ext>
              </a:extLst>
            </p:cNvPr>
            <p:cNvSpPr/>
            <p:nvPr/>
          </p:nvSpPr>
          <p:spPr>
            <a:xfrm>
              <a:off x="2544380" y="3828177"/>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4" name="Freeform 38">
              <a:extLst>
                <a:ext uri="{FF2B5EF4-FFF2-40B4-BE49-F238E27FC236}">
                  <a16:creationId xmlns:a16="http://schemas.microsoft.com/office/drawing/2014/main" id="{C40CDD27-7712-4A7B-3FBE-B4C9D9771CE0}"/>
                </a:ext>
              </a:extLst>
            </p:cNvPr>
            <p:cNvSpPr/>
            <p:nvPr/>
          </p:nvSpPr>
          <p:spPr>
            <a:xfrm>
              <a:off x="0" y="4327310"/>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5" name="Freeform 39">
              <a:extLst>
                <a:ext uri="{FF2B5EF4-FFF2-40B4-BE49-F238E27FC236}">
                  <a16:creationId xmlns:a16="http://schemas.microsoft.com/office/drawing/2014/main" id="{28D637FF-783D-44E7-BC94-A582DD5B4E5E}"/>
                </a:ext>
              </a:extLst>
            </p:cNvPr>
            <p:cNvSpPr/>
            <p:nvPr/>
          </p:nvSpPr>
          <p:spPr>
            <a:xfrm>
              <a:off x="848127" y="4812711"/>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6" name="Freeform 40">
              <a:extLst>
                <a:ext uri="{FF2B5EF4-FFF2-40B4-BE49-F238E27FC236}">
                  <a16:creationId xmlns:a16="http://schemas.microsoft.com/office/drawing/2014/main" id="{A6EC21E8-1547-D328-2E2F-3633290086E1}"/>
                </a:ext>
              </a:extLst>
            </p:cNvPr>
            <p:cNvSpPr/>
            <p:nvPr/>
          </p:nvSpPr>
          <p:spPr>
            <a:xfrm>
              <a:off x="1696253" y="5298112"/>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7" name="Freeform 41">
              <a:extLst>
                <a:ext uri="{FF2B5EF4-FFF2-40B4-BE49-F238E27FC236}">
                  <a16:creationId xmlns:a16="http://schemas.microsoft.com/office/drawing/2014/main" id="{C50D26AF-7D9B-470E-3954-96478490A6DA}"/>
                </a:ext>
              </a:extLst>
            </p:cNvPr>
            <p:cNvSpPr/>
            <p:nvPr/>
          </p:nvSpPr>
          <p:spPr>
            <a:xfrm>
              <a:off x="0" y="3342776"/>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8" name="Freeform 42">
              <a:extLst>
                <a:ext uri="{FF2B5EF4-FFF2-40B4-BE49-F238E27FC236}">
                  <a16:creationId xmlns:a16="http://schemas.microsoft.com/office/drawing/2014/main" id="{3BE9E6AC-CEB9-1CEF-32BD-EED6352ABB88}"/>
                </a:ext>
              </a:extLst>
            </p:cNvPr>
            <p:cNvSpPr/>
            <p:nvPr/>
          </p:nvSpPr>
          <p:spPr>
            <a:xfrm>
              <a:off x="848127" y="3828177"/>
              <a:ext cx="1696253" cy="1955335"/>
            </a:xfrm>
            <a:custGeom>
              <a:avLst/>
              <a:gdLst/>
              <a:ahLst/>
              <a:cxnLst/>
              <a:rect l="l" t="t" r="r" b="b"/>
              <a:pathLst>
                <a:path w="1696253" h="1955335">
                  <a:moveTo>
                    <a:pt x="0" y="0"/>
                  </a:moveTo>
                  <a:lnTo>
                    <a:pt x="1696253" y="0"/>
                  </a:lnTo>
                  <a:lnTo>
                    <a:pt x="1696253" y="1955336"/>
                  </a:lnTo>
                  <a:lnTo>
                    <a:pt x="0" y="1955336"/>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9" name="Freeform 43">
              <a:extLst>
                <a:ext uri="{FF2B5EF4-FFF2-40B4-BE49-F238E27FC236}">
                  <a16:creationId xmlns:a16="http://schemas.microsoft.com/office/drawing/2014/main" id="{46F46766-AB6A-BD5E-170B-9FAC0694547E}"/>
                </a:ext>
              </a:extLst>
            </p:cNvPr>
            <p:cNvSpPr/>
            <p:nvPr/>
          </p:nvSpPr>
          <p:spPr>
            <a:xfrm>
              <a:off x="1696253" y="4313579"/>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0" name="Freeform 44">
              <a:extLst>
                <a:ext uri="{FF2B5EF4-FFF2-40B4-BE49-F238E27FC236}">
                  <a16:creationId xmlns:a16="http://schemas.microsoft.com/office/drawing/2014/main" id="{E05A232C-ED7D-C966-9584-09AECAF9776B}"/>
                </a:ext>
              </a:extLst>
            </p:cNvPr>
            <p:cNvSpPr/>
            <p:nvPr/>
          </p:nvSpPr>
          <p:spPr>
            <a:xfrm>
              <a:off x="4240633" y="0"/>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1" name="Freeform 45">
              <a:extLst>
                <a:ext uri="{FF2B5EF4-FFF2-40B4-BE49-F238E27FC236}">
                  <a16:creationId xmlns:a16="http://schemas.microsoft.com/office/drawing/2014/main" id="{95F77C50-847B-B47B-203F-C4973F18EEB4}"/>
                </a:ext>
              </a:extLst>
            </p:cNvPr>
            <p:cNvSpPr/>
            <p:nvPr/>
          </p:nvSpPr>
          <p:spPr>
            <a:xfrm>
              <a:off x="5088760" y="485401"/>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2" name="Freeform 46">
              <a:extLst>
                <a:ext uri="{FF2B5EF4-FFF2-40B4-BE49-F238E27FC236}">
                  <a16:creationId xmlns:a16="http://schemas.microsoft.com/office/drawing/2014/main" id="{BB20798E-E3DF-D084-AE08-03C3E1758AD0}"/>
                </a:ext>
              </a:extLst>
            </p:cNvPr>
            <p:cNvSpPr/>
            <p:nvPr/>
          </p:nvSpPr>
          <p:spPr>
            <a:xfrm>
              <a:off x="5936886" y="970802"/>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3" name="Freeform 47">
              <a:extLst>
                <a:ext uri="{FF2B5EF4-FFF2-40B4-BE49-F238E27FC236}">
                  <a16:creationId xmlns:a16="http://schemas.microsoft.com/office/drawing/2014/main" id="{3EB6B77F-4748-3F72-340E-EABC4DC74D91}"/>
                </a:ext>
              </a:extLst>
            </p:cNvPr>
            <p:cNvSpPr/>
            <p:nvPr/>
          </p:nvSpPr>
          <p:spPr>
            <a:xfrm>
              <a:off x="3392506" y="485401"/>
              <a:ext cx="1696253" cy="1955335"/>
            </a:xfrm>
            <a:custGeom>
              <a:avLst/>
              <a:gdLst/>
              <a:ahLst/>
              <a:cxnLst/>
              <a:rect l="l" t="t" r="r" b="b"/>
              <a:pathLst>
                <a:path w="1696253" h="1955335">
                  <a:moveTo>
                    <a:pt x="0" y="0"/>
                  </a:moveTo>
                  <a:lnTo>
                    <a:pt x="1696254" y="0"/>
                  </a:lnTo>
                  <a:lnTo>
                    <a:pt x="1696254"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4" name="Freeform 48">
              <a:extLst>
                <a:ext uri="{FF2B5EF4-FFF2-40B4-BE49-F238E27FC236}">
                  <a16:creationId xmlns:a16="http://schemas.microsoft.com/office/drawing/2014/main" id="{7F5E18D8-50EF-DFD3-30C8-05390AFC00F7}"/>
                </a:ext>
              </a:extLst>
            </p:cNvPr>
            <p:cNvSpPr/>
            <p:nvPr/>
          </p:nvSpPr>
          <p:spPr>
            <a:xfrm>
              <a:off x="4240633" y="970802"/>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5" name="Freeform 49">
              <a:extLst>
                <a:ext uri="{FF2B5EF4-FFF2-40B4-BE49-F238E27FC236}">
                  <a16:creationId xmlns:a16="http://schemas.microsoft.com/office/drawing/2014/main" id="{FDAC75A2-D2B6-1B3E-AED7-D5B6DABD285A}"/>
                </a:ext>
              </a:extLst>
            </p:cNvPr>
            <p:cNvSpPr/>
            <p:nvPr/>
          </p:nvSpPr>
          <p:spPr>
            <a:xfrm>
              <a:off x="5088760" y="1456203"/>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6" name="Freeform 50">
              <a:extLst>
                <a:ext uri="{FF2B5EF4-FFF2-40B4-BE49-F238E27FC236}">
                  <a16:creationId xmlns:a16="http://schemas.microsoft.com/office/drawing/2014/main" id="{8FF75D8F-6620-A588-7A8E-2F7DAD5E0EA2}"/>
                </a:ext>
              </a:extLst>
            </p:cNvPr>
            <p:cNvSpPr/>
            <p:nvPr/>
          </p:nvSpPr>
          <p:spPr>
            <a:xfrm>
              <a:off x="2544380" y="970802"/>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7" name="Freeform 51">
              <a:extLst>
                <a:ext uri="{FF2B5EF4-FFF2-40B4-BE49-F238E27FC236}">
                  <a16:creationId xmlns:a16="http://schemas.microsoft.com/office/drawing/2014/main" id="{456623A7-C8CD-AAFB-17C6-4694F9E3B38F}"/>
                </a:ext>
              </a:extLst>
            </p:cNvPr>
            <p:cNvSpPr/>
            <p:nvPr/>
          </p:nvSpPr>
          <p:spPr>
            <a:xfrm>
              <a:off x="3392506" y="1456203"/>
              <a:ext cx="1696253" cy="1955335"/>
            </a:xfrm>
            <a:custGeom>
              <a:avLst/>
              <a:gdLst/>
              <a:ahLst/>
              <a:cxnLst/>
              <a:rect l="l" t="t" r="r" b="b"/>
              <a:pathLst>
                <a:path w="1696253" h="1955335">
                  <a:moveTo>
                    <a:pt x="0" y="0"/>
                  </a:moveTo>
                  <a:lnTo>
                    <a:pt x="1696254" y="0"/>
                  </a:lnTo>
                  <a:lnTo>
                    <a:pt x="1696254"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8" name="Freeform 52">
              <a:extLst>
                <a:ext uri="{FF2B5EF4-FFF2-40B4-BE49-F238E27FC236}">
                  <a16:creationId xmlns:a16="http://schemas.microsoft.com/office/drawing/2014/main" id="{82F7CD27-F688-9745-86FF-4A87C473596E}"/>
                </a:ext>
              </a:extLst>
            </p:cNvPr>
            <p:cNvSpPr/>
            <p:nvPr/>
          </p:nvSpPr>
          <p:spPr>
            <a:xfrm>
              <a:off x="4240633" y="1941604"/>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9" name="Freeform 53">
              <a:extLst>
                <a:ext uri="{FF2B5EF4-FFF2-40B4-BE49-F238E27FC236}">
                  <a16:creationId xmlns:a16="http://schemas.microsoft.com/office/drawing/2014/main" id="{C5403BC7-C70F-70A7-DEFC-28E001A0E5BF}"/>
                </a:ext>
              </a:extLst>
            </p:cNvPr>
            <p:cNvSpPr/>
            <p:nvPr/>
          </p:nvSpPr>
          <p:spPr>
            <a:xfrm>
              <a:off x="1696253" y="1469934"/>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60" name="Freeform 54">
              <a:extLst>
                <a:ext uri="{FF2B5EF4-FFF2-40B4-BE49-F238E27FC236}">
                  <a16:creationId xmlns:a16="http://schemas.microsoft.com/office/drawing/2014/main" id="{B2427ECD-ACFA-DA9A-C485-CD4F88AC65B5}"/>
                </a:ext>
              </a:extLst>
            </p:cNvPr>
            <p:cNvSpPr/>
            <p:nvPr/>
          </p:nvSpPr>
          <p:spPr>
            <a:xfrm>
              <a:off x="2544380" y="1955335"/>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61" name="Freeform 55">
              <a:extLst>
                <a:ext uri="{FF2B5EF4-FFF2-40B4-BE49-F238E27FC236}">
                  <a16:creationId xmlns:a16="http://schemas.microsoft.com/office/drawing/2014/main" id="{1965F95E-E94C-57B3-6727-251C6B53F753}"/>
                </a:ext>
              </a:extLst>
            </p:cNvPr>
            <p:cNvSpPr/>
            <p:nvPr/>
          </p:nvSpPr>
          <p:spPr>
            <a:xfrm>
              <a:off x="3392506" y="2440736"/>
              <a:ext cx="1696253" cy="1955335"/>
            </a:xfrm>
            <a:custGeom>
              <a:avLst/>
              <a:gdLst/>
              <a:ahLst/>
              <a:cxnLst/>
              <a:rect l="l" t="t" r="r" b="b"/>
              <a:pathLst>
                <a:path w="1696253" h="1955335">
                  <a:moveTo>
                    <a:pt x="0" y="0"/>
                  </a:moveTo>
                  <a:lnTo>
                    <a:pt x="1696254" y="0"/>
                  </a:lnTo>
                  <a:lnTo>
                    <a:pt x="1696254"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62" name="Freeform 56">
              <a:extLst>
                <a:ext uri="{FF2B5EF4-FFF2-40B4-BE49-F238E27FC236}">
                  <a16:creationId xmlns:a16="http://schemas.microsoft.com/office/drawing/2014/main" id="{0BF7F3E5-E5AA-2163-B656-492DA4642E5D}"/>
                </a:ext>
              </a:extLst>
            </p:cNvPr>
            <p:cNvSpPr/>
            <p:nvPr/>
          </p:nvSpPr>
          <p:spPr>
            <a:xfrm>
              <a:off x="848127" y="1955335"/>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63" name="Freeform 57">
              <a:extLst>
                <a:ext uri="{FF2B5EF4-FFF2-40B4-BE49-F238E27FC236}">
                  <a16:creationId xmlns:a16="http://schemas.microsoft.com/office/drawing/2014/main" id="{C6E39D64-5E30-F593-BF63-FC9053B8D34B}"/>
                </a:ext>
              </a:extLst>
            </p:cNvPr>
            <p:cNvSpPr/>
            <p:nvPr/>
          </p:nvSpPr>
          <p:spPr>
            <a:xfrm>
              <a:off x="1696253" y="2440736"/>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64" name="Freeform 58">
              <a:extLst>
                <a:ext uri="{FF2B5EF4-FFF2-40B4-BE49-F238E27FC236}">
                  <a16:creationId xmlns:a16="http://schemas.microsoft.com/office/drawing/2014/main" id="{9A5DA1D3-D9E7-BD46-0C40-1A1B95C3B1F1}"/>
                </a:ext>
              </a:extLst>
            </p:cNvPr>
            <p:cNvSpPr/>
            <p:nvPr/>
          </p:nvSpPr>
          <p:spPr>
            <a:xfrm>
              <a:off x="2544380" y="2926137"/>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65" name="Freeform 59">
              <a:extLst>
                <a:ext uri="{FF2B5EF4-FFF2-40B4-BE49-F238E27FC236}">
                  <a16:creationId xmlns:a16="http://schemas.microsoft.com/office/drawing/2014/main" id="{FE60E6D7-0071-8A6F-BFB7-B54DBDE112A1}"/>
                </a:ext>
              </a:extLst>
            </p:cNvPr>
            <p:cNvSpPr/>
            <p:nvPr/>
          </p:nvSpPr>
          <p:spPr>
            <a:xfrm>
              <a:off x="0" y="2440736"/>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66" name="Freeform 60">
              <a:extLst>
                <a:ext uri="{FF2B5EF4-FFF2-40B4-BE49-F238E27FC236}">
                  <a16:creationId xmlns:a16="http://schemas.microsoft.com/office/drawing/2014/main" id="{E113967E-5230-83C7-9723-58BE20A75E44}"/>
                </a:ext>
              </a:extLst>
            </p:cNvPr>
            <p:cNvSpPr/>
            <p:nvPr/>
          </p:nvSpPr>
          <p:spPr>
            <a:xfrm>
              <a:off x="848127" y="2926137"/>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sp>
          <p:nvSpPr>
            <p:cNvPr id="67" name="Freeform 61">
              <a:extLst>
                <a:ext uri="{FF2B5EF4-FFF2-40B4-BE49-F238E27FC236}">
                  <a16:creationId xmlns:a16="http://schemas.microsoft.com/office/drawing/2014/main" id="{9B507222-C827-0DFC-8C1C-93D7F508E85E}"/>
                </a:ext>
              </a:extLst>
            </p:cNvPr>
            <p:cNvSpPr/>
            <p:nvPr/>
          </p:nvSpPr>
          <p:spPr>
            <a:xfrm>
              <a:off x="1696253" y="3411538"/>
              <a:ext cx="1696253" cy="1955335"/>
            </a:xfrm>
            <a:custGeom>
              <a:avLst/>
              <a:gdLst/>
              <a:ahLst/>
              <a:cxnLst/>
              <a:rect l="l" t="t" r="r" b="b"/>
              <a:pathLst>
                <a:path w="1696253" h="1955335">
                  <a:moveTo>
                    <a:pt x="0" y="0"/>
                  </a:moveTo>
                  <a:lnTo>
                    <a:pt x="1696253" y="0"/>
                  </a:lnTo>
                  <a:lnTo>
                    <a:pt x="1696253" y="1955335"/>
                  </a:lnTo>
                  <a:lnTo>
                    <a:pt x="0" y="1955335"/>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AU"/>
            </a:p>
          </p:txBody>
        </p:sp>
      </p:grpSp>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(31) </a:t>
            </a:r>
          </a:p>
        </p:txBody>
      </p:sp>
      <p:sp>
        <p:nvSpPr>
          <p:cNvPr id="11" name="Picture Placeholder 10">
            <a:extLst>
              <a:ext uri="{FF2B5EF4-FFF2-40B4-BE49-F238E27FC236}">
                <a16:creationId xmlns:a16="http://schemas.microsoft.com/office/drawing/2014/main" id="{21E9C82F-FE72-F379-EE54-EC40C9DE00C1}"/>
              </a:ext>
            </a:extLst>
          </p:cNvPr>
          <p:cNvSpPr>
            <a:spLocks noGrp="1"/>
          </p:cNvSpPr>
          <p:nvPr>
            <p:ph type="pic" sz="quarter" idx="21"/>
          </p:nvPr>
        </p:nvSpPr>
        <p:spPr>
          <a:xfrm>
            <a:off x="359999" y="2225040"/>
            <a:ext cx="11210840" cy="3587166"/>
          </a:xfrm>
        </p:spPr>
        <p:txBody>
          <a:bodyPr/>
          <a:lstStyle/>
          <a:p>
            <a:pPr algn="ctr"/>
            <a:r>
              <a:rPr lang="en-AU" sz="4400" dirty="0"/>
              <a:t>Is </a:t>
            </a:r>
            <a:r>
              <a:rPr lang="en-AU" sz="4400" b="1" dirty="0"/>
              <a:t>3.7</a:t>
            </a:r>
            <a:r>
              <a:rPr lang="en-AU" sz="4400" dirty="0"/>
              <a:t> larger or smaller than </a:t>
            </a:r>
            <a:r>
              <a:rPr lang="en-AU" sz="4400" b="1" dirty="0"/>
              <a:t>3.58</a:t>
            </a:r>
            <a:r>
              <a:rPr lang="en-AU" sz="4400" dirty="0"/>
              <a:t>?</a:t>
            </a:r>
          </a:p>
          <a:p>
            <a:pPr algn="ctr"/>
            <a:r>
              <a:rPr lang="en-AU" sz="4400" b="1" dirty="0"/>
              <a:t>Explain </a:t>
            </a:r>
            <a:r>
              <a:rPr lang="en-AU" sz="4400" dirty="0"/>
              <a:t>your</a:t>
            </a:r>
            <a:r>
              <a:rPr lang="en-AU" sz="4400" b="1" dirty="0"/>
              <a:t> reasoning</a:t>
            </a:r>
            <a:r>
              <a:rPr lang="en-AU" sz="4400" dirty="0"/>
              <a:t>.</a:t>
            </a:r>
            <a:endParaRPr lang="en-US" sz="8000" dirty="0">
              <a:latin typeface="Arial"/>
              <a:cs typeface="Arial"/>
            </a:endParaRPr>
          </a:p>
        </p:txBody>
      </p:sp>
      <p:pic>
        <p:nvPicPr>
          <p:cNvPr id="6" name="Picture 5" descr="image of a clipboard with a pencil recording short answer responses">
            <a:extLst>
              <a:ext uri="{FF2B5EF4-FFF2-40B4-BE49-F238E27FC236}">
                <a16:creationId xmlns:a16="http://schemas.microsoft.com/office/drawing/2014/main" id="{A9F3431B-545B-ECD1-F62F-EC0981F0CA3F}"/>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Rectangle 1">
            <a:extLst>
              <a:ext uri="{FF2B5EF4-FFF2-40B4-BE49-F238E27FC236}">
                <a16:creationId xmlns:a16="http://schemas.microsoft.com/office/drawing/2014/main" id="{8D73BCA5-EB99-5FBA-61EC-C685AF9795EE}"/>
              </a:ext>
            </a:extLst>
          </p:cNvPr>
          <p:cNvSpPr>
            <a:spLocks noChangeArrowheads="1"/>
          </p:cNvSpPr>
          <p:nvPr/>
        </p:nvSpPr>
        <p:spPr bwMode="auto">
          <a:xfrm>
            <a:off x="-10192218" y="996878"/>
            <a:ext cx="265161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(32)</a:t>
            </a:r>
          </a:p>
        </p:txBody>
      </p:sp>
      <p:sp>
        <p:nvSpPr>
          <p:cNvPr id="8" name="Rectangle 1">
            <a:extLst>
              <a:ext uri="{FF2B5EF4-FFF2-40B4-BE49-F238E27FC236}">
                <a16:creationId xmlns:a16="http://schemas.microsoft.com/office/drawing/2014/main" id="{5AC34F0C-28B1-3022-A067-304B23CEDBC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14" name="TextBox 13">
            <a:extLst>
              <a:ext uri="{FF2B5EF4-FFF2-40B4-BE49-F238E27FC236}">
                <a16:creationId xmlns:a16="http://schemas.microsoft.com/office/drawing/2014/main" id="{51BCFBB5-7824-F17B-5948-CE18B7EDA9D7}"/>
              </a:ext>
            </a:extLst>
          </p:cNvPr>
          <p:cNvSpPr txBox="1"/>
          <p:nvPr/>
        </p:nvSpPr>
        <p:spPr>
          <a:xfrm>
            <a:off x="7598352" y="3069824"/>
            <a:ext cx="1385454" cy="717341"/>
          </a:xfrm>
          <a:prstGeom prst="rect">
            <a:avLst/>
          </a:prstGeom>
          <a:noFill/>
        </p:spPr>
        <p:txBody>
          <a:bodyPr wrap="square" lIns="0" tIns="0" rIns="0" bIns="0" rtlCol="0">
            <a:noAutofit/>
          </a:bodyPr>
          <a:lstStyle/>
          <a:p>
            <a:pPr algn="l"/>
            <a:r>
              <a:rPr lang="en-AU" b="1">
                <a:solidFill>
                  <a:schemeClr val="bg1"/>
                </a:solidFill>
              </a:rPr>
              <a:t>Shape B</a:t>
            </a:r>
          </a:p>
        </p:txBody>
      </p:sp>
      <p:sp>
        <p:nvSpPr>
          <p:cNvPr id="10" name="TextBox 9">
            <a:extLst>
              <a:ext uri="{FF2B5EF4-FFF2-40B4-BE49-F238E27FC236}">
                <a16:creationId xmlns:a16="http://schemas.microsoft.com/office/drawing/2014/main" id="{6F141943-82E3-9EF3-4E0A-961E3AE7383C}"/>
              </a:ext>
            </a:extLst>
          </p:cNvPr>
          <p:cNvSpPr txBox="1"/>
          <p:nvPr/>
        </p:nvSpPr>
        <p:spPr>
          <a:xfrm>
            <a:off x="451691" y="1265600"/>
            <a:ext cx="10672309" cy="1446550"/>
          </a:xfrm>
          <a:prstGeom prst="rect">
            <a:avLst/>
          </a:prstGeom>
          <a:noFill/>
        </p:spPr>
        <p:txBody>
          <a:bodyPr wrap="square">
            <a:spAutoFit/>
          </a:bodyPr>
          <a:lstStyle/>
          <a:p>
            <a:pPr algn="ctr"/>
            <a:r>
              <a:rPr lang="en-AU" sz="4400" dirty="0"/>
              <a:t>Which of these </a:t>
            </a:r>
            <a:r>
              <a:rPr lang="en-AU" sz="4400" b="1" dirty="0"/>
              <a:t>times</a:t>
            </a:r>
            <a:r>
              <a:rPr lang="en-AU" sz="4400" dirty="0"/>
              <a:t> is </a:t>
            </a:r>
            <a:r>
              <a:rPr lang="en-AU" sz="4400" b="1" dirty="0"/>
              <a:t>closest</a:t>
            </a:r>
            <a:r>
              <a:rPr lang="en-AU" sz="4400" dirty="0"/>
              <a:t> to </a:t>
            </a:r>
            <a:r>
              <a:rPr lang="en-AU" sz="4400" b="1" dirty="0"/>
              <a:t>midday</a:t>
            </a:r>
            <a:r>
              <a:rPr lang="en-AU" sz="4400" dirty="0"/>
              <a:t>? How do you know?</a:t>
            </a:r>
          </a:p>
        </p:txBody>
      </p:sp>
      <p:pic>
        <p:nvPicPr>
          <p:cNvPr id="4" name="Picture 3" descr="image of a clipboard with a pencil recording short answer responses">
            <a:extLst>
              <a:ext uri="{FF2B5EF4-FFF2-40B4-BE49-F238E27FC236}">
                <a16:creationId xmlns:a16="http://schemas.microsoft.com/office/drawing/2014/main" id="{539E078C-9C47-DE07-91D4-DB47EA04B8A3}"/>
              </a:ext>
            </a:extLst>
          </p:cNvPr>
          <p:cNvPicPr>
            <a:picLocks noChangeAspect="1"/>
          </p:cNvPicPr>
          <p:nvPr/>
        </p:nvPicPr>
        <p:blipFill>
          <a:blip r:embed="rId3"/>
          <a:stretch>
            <a:fillRect/>
          </a:stretch>
        </p:blipFill>
        <p:spPr>
          <a:xfrm>
            <a:off x="11030476" y="268723"/>
            <a:ext cx="915500" cy="915500"/>
          </a:xfrm>
          <a:prstGeom prst="rect">
            <a:avLst/>
          </a:prstGeom>
          <a:ln>
            <a:noFill/>
          </a:ln>
        </p:spPr>
      </p:pic>
      <p:graphicFrame>
        <p:nvGraphicFramePr>
          <p:cNvPr id="5" name="Table 4">
            <a:extLst>
              <a:ext uri="{FF2B5EF4-FFF2-40B4-BE49-F238E27FC236}">
                <a16:creationId xmlns:a16="http://schemas.microsoft.com/office/drawing/2014/main" id="{95738748-7E01-B1D4-8598-68C5F2EA5FB4}"/>
              </a:ext>
            </a:extLst>
          </p:cNvPr>
          <p:cNvGraphicFramePr>
            <a:graphicFrameLocks noGrp="1"/>
          </p:cNvGraphicFramePr>
          <p:nvPr>
            <p:extLst>
              <p:ext uri="{D42A27DB-BD31-4B8C-83A1-F6EECF244321}">
                <p14:modId xmlns:p14="http://schemas.microsoft.com/office/powerpoint/2010/main" val="1186919782"/>
              </p:ext>
            </p:extLst>
          </p:nvPr>
        </p:nvGraphicFramePr>
        <p:xfrm>
          <a:off x="545976" y="3960178"/>
          <a:ext cx="11298024" cy="1371600"/>
        </p:xfrm>
        <a:graphic>
          <a:graphicData uri="http://schemas.openxmlformats.org/drawingml/2006/table">
            <a:tbl>
              <a:tblPr firstRow="1" bandRow="1">
                <a:tableStyleId>{5A111915-BE36-4E01-A7E5-04B1672EAD32}</a:tableStyleId>
              </a:tblPr>
              <a:tblGrid>
                <a:gridCol w="2824506">
                  <a:extLst>
                    <a:ext uri="{9D8B030D-6E8A-4147-A177-3AD203B41FA5}">
                      <a16:colId xmlns:a16="http://schemas.microsoft.com/office/drawing/2014/main" val="1764535638"/>
                    </a:ext>
                  </a:extLst>
                </a:gridCol>
                <a:gridCol w="2824506">
                  <a:extLst>
                    <a:ext uri="{9D8B030D-6E8A-4147-A177-3AD203B41FA5}">
                      <a16:colId xmlns:a16="http://schemas.microsoft.com/office/drawing/2014/main" val="1542929608"/>
                    </a:ext>
                  </a:extLst>
                </a:gridCol>
                <a:gridCol w="2824506">
                  <a:extLst>
                    <a:ext uri="{9D8B030D-6E8A-4147-A177-3AD203B41FA5}">
                      <a16:colId xmlns:a16="http://schemas.microsoft.com/office/drawing/2014/main" val="4128396063"/>
                    </a:ext>
                  </a:extLst>
                </a:gridCol>
                <a:gridCol w="2824506">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3600" b="0">
                          <a:solidFill>
                            <a:schemeClr val="tx1"/>
                          </a:solidFill>
                        </a:rPr>
                        <a:t>9:15 am</a:t>
                      </a:r>
                      <a:endParaRPr lang="en-US" sz="3600" b="0" dirty="0">
                        <a:solidFill>
                          <a:schemeClr val="tx1"/>
                        </a:solidFill>
                      </a:endParaRP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p>
                      <a:pPr algn="ctr"/>
                      <a:r>
                        <a:rPr lang="en-AU" sz="3600" b="0">
                          <a:solidFill>
                            <a:schemeClr val="tx1"/>
                          </a:solidFill>
                        </a:rPr>
                        <a:t>12:35 pm</a:t>
                      </a:r>
                      <a:endParaRPr lang="en-AU" sz="3600" b="0" dirty="0">
                        <a:solidFill>
                          <a:schemeClr val="tx1"/>
                        </a:solidFil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3600" b="0">
                          <a:solidFill>
                            <a:schemeClr val="tx1"/>
                          </a:solidFill>
                        </a:rPr>
                        <a:t>1:07 pm</a:t>
                      </a:r>
                      <a:endParaRPr lang="en-US" sz="3600" b="0" dirty="0">
                        <a:solidFill>
                          <a:schemeClr val="tx1"/>
                        </a:solidFil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3600" b="0">
                          <a:solidFill>
                            <a:schemeClr val="tx1"/>
                          </a:solidFill>
                        </a:rPr>
                        <a:t>11:45 pm</a:t>
                      </a:r>
                      <a:endParaRPr lang="en-US" sz="3600" b="0" dirty="0">
                        <a:solidFill>
                          <a:schemeClr val="tx1"/>
                        </a:solidFill>
                      </a:endParaRP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bl>
          </a:graphicData>
        </a:graphic>
      </p:graphicFrame>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0516547" cy="545601"/>
          </a:xfrm>
        </p:spPr>
        <p:txBody>
          <a:bodyPr/>
          <a:lstStyle/>
          <a:p>
            <a:r>
              <a:rPr lang="en-AU" dirty="0">
                <a:latin typeface="Arial"/>
                <a:cs typeface="Arial"/>
              </a:rPr>
              <a:t>Activity 8 – locating and ordering decimals on a number line</a:t>
            </a:r>
          </a:p>
        </p:txBody>
      </p:sp>
      <p:pic>
        <p:nvPicPr>
          <p:cNvPr id="5" name="Picture 4" descr="image of a head with cogs turning inside">
            <a:extLst>
              <a:ext uri="{FF2B5EF4-FFF2-40B4-BE49-F238E27FC236}">
                <a16:creationId xmlns:a16="http://schemas.microsoft.com/office/drawing/2014/main" id="{AE7BE727-F503-36B5-A57C-91D29951BC3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6" name="TextBox 5">
            <a:extLst>
              <a:ext uri="{FF2B5EF4-FFF2-40B4-BE49-F238E27FC236}">
                <a16:creationId xmlns:a16="http://schemas.microsoft.com/office/drawing/2014/main" id="{CB84DE2F-1C09-BA90-0FB1-410074B40E3D}"/>
              </a:ext>
            </a:extLst>
          </p:cNvPr>
          <p:cNvSpPr txBox="1"/>
          <p:nvPr/>
        </p:nvSpPr>
        <p:spPr>
          <a:xfrm>
            <a:off x="755028" y="1379577"/>
            <a:ext cx="10728972" cy="5478423"/>
          </a:xfrm>
          <a:prstGeom prst="rect">
            <a:avLst/>
          </a:prstGeom>
          <a:noFill/>
        </p:spPr>
        <p:txBody>
          <a:bodyPr wrap="square" lIns="91440" tIns="45720" rIns="91440" bIns="45720" anchor="t">
            <a:spAutoFit/>
          </a:bodyPr>
          <a:lstStyle/>
          <a:p>
            <a:pPr algn="l" rtl="0" fontAlgn="base">
              <a:spcAft>
                <a:spcPts val="1200"/>
              </a:spcAft>
            </a:pPr>
            <a:r>
              <a:rPr lang="en-AU" sz="2000" b="1" i="0" u="none" strike="noStrike" dirty="0">
                <a:solidFill>
                  <a:srgbClr val="22272B"/>
                </a:solidFill>
                <a:effectLst/>
                <a:latin typeface="Arial" panose="020B0604020202020204" pitchFamily="34" charset="0"/>
              </a:rPr>
              <a:t>Aim of the game</a:t>
            </a:r>
            <a:r>
              <a:rPr lang="en-US" sz="2000" b="0" i="0" dirty="0">
                <a:solidFill>
                  <a:srgbClr val="22272B"/>
                </a:solidFill>
                <a:effectLst/>
                <a:latin typeface="Arial" panose="020B0604020202020204" pitchFamily="34" charset="0"/>
              </a:rPr>
              <a:t>​</a:t>
            </a:r>
            <a:endParaRPr lang="en-US" sz="2000" b="0" i="0" dirty="0">
              <a:solidFill>
                <a:srgbClr val="22272B"/>
              </a:solidFill>
              <a:effectLst/>
              <a:latin typeface="Segoe UI" panose="020B0502040204020203" pitchFamily="34" charset="0"/>
            </a:endParaRPr>
          </a:p>
          <a:p>
            <a:pPr algn="l" rtl="0" fontAlgn="base">
              <a:spcAft>
                <a:spcPts val="1200"/>
              </a:spcAft>
            </a:pPr>
            <a:r>
              <a:rPr lang="en-AU" sz="2000" b="0" i="0" u="none" strike="noStrike" dirty="0">
                <a:solidFill>
                  <a:srgbClr val="22272B"/>
                </a:solidFill>
                <a:effectLst/>
                <a:latin typeface="Arial" panose="020B0604020202020204" pitchFamily="34" charset="0"/>
              </a:rPr>
              <a:t>The objective of Decimal Dash is to practise locating and ordering decimals on a number line while reinforcing an understanding of the relative sizes of decimals.</a:t>
            </a:r>
            <a:r>
              <a:rPr lang="en-AU" sz="2000" b="0" i="0" dirty="0">
                <a:solidFill>
                  <a:srgbClr val="22272B"/>
                </a:solidFill>
                <a:effectLst/>
                <a:latin typeface="Arial" panose="020B0604020202020204" pitchFamily="34" charset="0"/>
              </a:rPr>
              <a:t>​</a:t>
            </a:r>
            <a:endParaRPr lang="en-AU" sz="2000" b="0" i="0" dirty="0">
              <a:solidFill>
                <a:srgbClr val="22272B"/>
              </a:solidFill>
              <a:effectLst/>
              <a:latin typeface="Segoe UI" panose="020B0502040204020203" pitchFamily="34" charset="0"/>
            </a:endParaRPr>
          </a:p>
          <a:p>
            <a:pPr algn="l" rtl="0" fontAlgn="base">
              <a:spcAft>
                <a:spcPts val="1200"/>
              </a:spcAft>
            </a:pPr>
            <a:r>
              <a:rPr lang="en-AU" sz="2000" b="1" i="0" u="none" strike="noStrike" dirty="0">
                <a:solidFill>
                  <a:srgbClr val="22272B"/>
                </a:solidFill>
                <a:effectLst/>
                <a:latin typeface="Arial" panose="020B0604020202020204" pitchFamily="34" charset="0"/>
              </a:rPr>
              <a:t>Rules</a:t>
            </a:r>
            <a:r>
              <a:rPr lang="en-AU" sz="2000" b="0" i="0" dirty="0">
                <a:solidFill>
                  <a:srgbClr val="22272B"/>
                </a:solidFill>
                <a:effectLst/>
                <a:latin typeface="Arial" panose="020B0604020202020204" pitchFamily="34" charset="0"/>
              </a:rPr>
              <a:t>​:</a:t>
            </a:r>
            <a:endParaRPr lang="en-AU" sz="2000" b="0" i="0" dirty="0">
              <a:solidFill>
                <a:srgbClr val="22272B"/>
              </a:solidFill>
              <a:effectLst/>
              <a:latin typeface="Segoe UI" panose="020B0502040204020203" pitchFamily="34" charset="0"/>
            </a:endParaRPr>
          </a:p>
          <a:p>
            <a:pPr marL="285750" indent="-285750" algn="l" rtl="0" fontAlgn="base">
              <a:spcAft>
                <a:spcPts val="1200"/>
              </a:spcAft>
              <a:buFont typeface="Arial" panose="020B0604020202020204" pitchFamily="34" charset="0"/>
              <a:buChar char="•"/>
            </a:pPr>
            <a:r>
              <a:rPr lang="en-AU" sz="2000" dirty="0">
                <a:solidFill>
                  <a:srgbClr val="22272B"/>
                </a:solidFill>
                <a:latin typeface="Arial" panose="020B0604020202020204" pitchFamily="34" charset="0"/>
              </a:rPr>
              <a:t>form</a:t>
            </a:r>
            <a:r>
              <a:rPr lang="en-AU" sz="2000" b="0" i="0" u="none" strike="noStrike" dirty="0">
                <a:solidFill>
                  <a:srgbClr val="22272B"/>
                </a:solidFill>
                <a:effectLst/>
                <a:latin typeface="Arial" panose="020B0604020202020204" pitchFamily="34" charset="0"/>
              </a:rPr>
              <a:t> small groups and each group has a set of decimal cards</a:t>
            </a:r>
          </a:p>
          <a:p>
            <a:pPr marL="285750" indent="-285750" algn="l" rtl="0" fontAlgn="base">
              <a:spcAft>
                <a:spcPts val="1200"/>
              </a:spcAft>
              <a:buFont typeface="Arial" panose="020B0604020202020204" pitchFamily="34" charset="0"/>
              <a:buChar char="•"/>
            </a:pPr>
            <a:r>
              <a:rPr lang="en-AU" sz="2000" dirty="0">
                <a:solidFill>
                  <a:srgbClr val="22272B"/>
                </a:solidFill>
                <a:latin typeface="Arial" panose="020B0604020202020204" pitchFamily="34" charset="0"/>
              </a:rPr>
              <a:t>each student</a:t>
            </a:r>
            <a:r>
              <a:rPr lang="en-AU" sz="2000" b="0" i="0" u="none" strike="noStrike" dirty="0">
                <a:solidFill>
                  <a:srgbClr val="22272B"/>
                </a:solidFill>
                <a:effectLst/>
                <a:latin typeface="Arial" panose="020B0604020202020204" pitchFamily="34" charset="0"/>
              </a:rPr>
              <a:t> draws a large number line on a whiteboard or paper and labels key intervals (for example, 0, 1, 2, ..., 10)</a:t>
            </a:r>
            <a:endParaRPr lang="en-AU" sz="2000" dirty="0">
              <a:solidFill>
                <a:srgbClr val="22272B"/>
              </a:solidFill>
              <a:latin typeface="Arial" panose="020B0604020202020204" pitchFamily="34" charset="0"/>
            </a:endParaRPr>
          </a:p>
          <a:p>
            <a:pPr marL="285750" indent="-285750" algn="l" rtl="0" fontAlgn="base">
              <a:spcAft>
                <a:spcPts val="1200"/>
              </a:spcAft>
              <a:buFont typeface="Arial" panose="020B0604020202020204" pitchFamily="34" charset="0"/>
              <a:buChar char="•"/>
            </a:pPr>
            <a:r>
              <a:rPr lang="en-AU" sz="2000" dirty="0">
                <a:solidFill>
                  <a:srgbClr val="22272B"/>
                </a:solidFill>
                <a:latin typeface="Arial" panose="020B0604020202020204" pitchFamily="34" charset="0"/>
              </a:rPr>
              <a:t>shuffle the cards and split them in 2 equal piles</a:t>
            </a:r>
          </a:p>
          <a:p>
            <a:pPr marL="285750" indent="-285750" fontAlgn="base">
              <a:spcAft>
                <a:spcPts val="1200"/>
              </a:spcAft>
              <a:buFont typeface="Arial" panose="020B0604020202020204" pitchFamily="34" charset="0"/>
              <a:buChar char="•"/>
            </a:pPr>
            <a:r>
              <a:rPr lang="en-AU" sz="2000" dirty="0">
                <a:solidFill>
                  <a:srgbClr val="22272B"/>
                </a:solidFill>
                <a:latin typeface="Arial"/>
                <a:cs typeface="Arial"/>
              </a:rPr>
              <a:t>turn a card over from their pile and record the decimal on your number line</a:t>
            </a:r>
          </a:p>
          <a:p>
            <a:pPr marL="285750" indent="-285750" algn="l" rtl="0" fontAlgn="base">
              <a:spcAft>
                <a:spcPts val="1200"/>
              </a:spcAft>
              <a:buFont typeface="Arial" panose="020B0604020202020204" pitchFamily="34" charset="0"/>
              <a:buChar char="•"/>
            </a:pPr>
            <a:r>
              <a:rPr lang="en-AU" sz="2000" dirty="0">
                <a:solidFill>
                  <a:srgbClr val="22272B"/>
                </a:solidFill>
                <a:latin typeface="Arial" panose="020B0604020202020204" pitchFamily="34" charset="0"/>
              </a:rPr>
              <a:t>for every correct placement, a point is given</a:t>
            </a:r>
          </a:p>
          <a:p>
            <a:pPr fontAlgn="base">
              <a:spcAft>
                <a:spcPts val="1200"/>
              </a:spcAft>
            </a:pPr>
            <a:r>
              <a:rPr lang="en-AU" sz="2000" b="1" dirty="0">
                <a:solidFill>
                  <a:srgbClr val="22272B"/>
                </a:solidFill>
                <a:latin typeface="Arial"/>
                <a:cs typeface="Arial"/>
              </a:rPr>
              <a:t>Note: </a:t>
            </a:r>
            <a:r>
              <a:rPr lang="en-AU" sz="2000" dirty="0">
                <a:solidFill>
                  <a:srgbClr val="22272B"/>
                </a:solidFill>
                <a:latin typeface="Arial"/>
                <a:cs typeface="Arial"/>
              </a:rPr>
              <a:t>If you do not agree with the placement of the card, ask your peer to justify their placements by explaining the relative size of the decimals.</a:t>
            </a:r>
          </a:p>
          <a:p>
            <a:pPr marL="285750" indent="-285750" algn="l" rtl="0" fontAlgn="base">
              <a:spcAft>
                <a:spcPts val="1200"/>
              </a:spcAft>
              <a:buFont typeface="Arial" panose="020B0604020202020204" pitchFamily="34" charset="0"/>
              <a:buChar char="•"/>
            </a:pPr>
            <a:r>
              <a:rPr lang="en-AU" sz="2000" dirty="0">
                <a:solidFill>
                  <a:srgbClr val="22272B"/>
                </a:solidFill>
                <a:latin typeface="Arial" panose="020B0604020202020204" pitchFamily="34" charset="0"/>
              </a:rPr>
              <a:t>reshuffle the cards and play again.</a:t>
            </a:r>
          </a:p>
        </p:txBody>
      </p:sp>
    </p:spTree>
    <p:extLst>
      <p:ext uri="{BB962C8B-B14F-4D97-AF65-F5344CB8AC3E}">
        <p14:creationId xmlns:p14="http://schemas.microsoft.com/office/powerpoint/2010/main" val="266973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dirty="0"/>
              <a:t>Multiple choice </a:t>
            </a:r>
            <a:r>
              <a:rPr lang="en-US" dirty="0">
                <a:solidFill>
                  <a:schemeClr val="bg1"/>
                </a:solidFill>
              </a:rPr>
              <a:t>(1)</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dirty="0"/>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dirty="0"/>
              <a:t>Multiple choice </a:t>
            </a:r>
            <a:r>
              <a:rPr lang="en-US" dirty="0">
                <a:solidFill>
                  <a:schemeClr val="bg1"/>
                </a:solidFill>
              </a:rPr>
              <a:t>(2)</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dirty="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latin typeface="Public Sans Light"/>
                <a:ea typeface="+mn-ea"/>
                <a:cs typeface="+mn-cs"/>
              </a:rPr>
              <a:t>.</a:t>
            </a:r>
          </a:p>
        </p:txBody>
      </p:sp>
      <p:sp>
        <p:nvSpPr>
          <p:cNvPr id="8" name="Content Placeholder 3">
            <a:extLst>
              <a:ext uri="{FF2B5EF4-FFF2-40B4-BE49-F238E27FC236}">
                <a16:creationId xmlns:a16="http://schemas.microsoft.com/office/drawing/2014/main" id="{EAF9BCC2-8518-393B-C370-9042DC181375}"/>
              </a:ext>
            </a:extLst>
          </p:cNvPr>
          <p:cNvSpPr>
            <a:spLocks noGrp="1"/>
          </p:cNvSpPr>
          <p:nvPr>
            <p:ph idx="1"/>
          </p:nvPr>
        </p:nvSpPr>
        <p:spPr>
          <a:xfrm>
            <a:off x="360000" y="3428999"/>
            <a:ext cx="11484000" cy="2927351"/>
          </a:xfrm>
        </p:spPr>
        <p:txBody>
          <a:bodyPr/>
          <a:lstStyle/>
          <a:p>
            <a:pPr>
              <a:lnSpc>
                <a:spcPct val="150000"/>
              </a:lnSpc>
              <a:spcBef>
                <a:spcPts val="1200"/>
              </a:spcBef>
              <a:spcAft>
                <a:spcPts val="600"/>
              </a:spcAft>
            </a:pPr>
            <a:r>
              <a:rPr lang="en-AU" sz="1200" u="sng" dirty="0">
                <a:solidFill>
                  <a:srgbClr val="2F5496"/>
                </a:solidFill>
                <a:effectLst/>
                <a:ea typeface="Calibri" panose="020F0502020204030204" pitchFamily="34" charset="0"/>
                <a:hlinkClick r:id="rId6"/>
              </a:rPr>
              <a:t>Mathematics K–10 Syllabus</a:t>
            </a:r>
            <a:r>
              <a:rPr lang="en-AU" sz="1200" dirty="0">
                <a:effectLst/>
                <a:ea typeface="Calibri" panose="020F0502020204030204" pitchFamily="34" charset="0"/>
              </a:rPr>
              <a:t> © NSW Education Standards Authority (NESA) for and on behalf of the Crown in right of the State of New South Wales, 2022.</a:t>
            </a:r>
          </a:p>
          <a:p>
            <a:r>
              <a:rPr lang="en-AU" dirty="0"/>
              <a:t>State of New South Wales (Department of Planning and Environment) (2020) ‘</a:t>
            </a:r>
            <a:r>
              <a:rPr lang="en-AU" u="sng" dirty="0">
                <a:hlinkClick r:id="rId7"/>
              </a:rPr>
              <a:t>Native animal facts</a:t>
            </a:r>
            <a:r>
              <a:rPr lang="en-AU" dirty="0"/>
              <a:t>’, </a:t>
            </a:r>
            <a:r>
              <a:rPr lang="en-AU" i="1" dirty="0"/>
              <a:t>Native animals</a:t>
            </a:r>
            <a:r>
              <a:rPr lang="en-AU" dirty="0"/>
              <a:t>, NSW Department of Planning and Environment website, accessed 24 June 2023.</a:t>
            </a:r>
            <a:endParaRPr lang="en-AU" sz="1200" dirty="0">
              <a:effectLst/>
              <a:ea typeface="Calibri" panose="020F0502020204030204" pitchFamily="34" charset="0"/>
            </a:endParaRP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template" id="{199D4273-0580-424B-B855-9A8BB1348783}" vid="{B38BF3CA-A6F3-4BBC-8CF4-5E0B855A47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24F4DA-5415-43D4-8474-C9BE68919175}">
  <ds:schemaRefs>
    <ds:schemaRef ds:uri="http://schemas.microsoft.com/office/2006/documentManagement/types"/>
    <ds:schemaRef ds:uri="http://purl.org/dc/terms/"/>
    <ds:schemaRef ds:uri="http://schemas.openxmlformats.org/package/2006/metadata/core-properties"/>
    <ds:schemaRef ds:uri="http://schemas.microsoft.com/office/infopath/2007/PartnerControls"/>
    <ds:schemaRef ds:uri="7e763d47-3c66-4c58-9425-1477fd3ccd1e"/>
    <ds:schemaRef ds:uri="http://www.w3.org/XML/1998/namespace"/>
    <ds:schemaRef ds:uri="60129b06-f64b-40a8-96e2-c5b2f86112b1"/>
    <ds:schemaRef ds:uri="http://schemas.microsoft.com/office/2006/metadata/properties"/>
    <ds:schemaRef ds:uri="http://purl.org/dc/dcmitype/"/>
    <ds:schemaRef ds:uri="http://purl.org/dc/elements/1.1/"/>
  </ds:schemaRefs>
</ds:datastoreItem>
</file>

<file path=customXml/itemProps2.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3.xml><?xml version="1.0" encoding="utf-8"?>
<ds:datastoreItem xmlns:ds="http://schemas.openxmlformats.org/officeDocument/2006/customXml" ds:itemID="{7C3649AB-9E78-496B-B71A-6BD35C56D5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763d47-3c66-4c58-9425-1477fd3ccd1e"/>
    <ds:schemaRef ds:uri="60129b06-f64b-40a8-96e2-c5b2f86112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6202</TotalTime>
  <Words>7051</Words>
  <Application>Microsoft Office PowerPoint</Application>
  <PresentationFormat>Widescreen</PresentationFormat>
  <Paragraphs>869</Paragraphs>
  <Slides>68</Slides>
  <Notes>68</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68</vt:i4>
      </vt:variant>
    </vt:vector>
  </HeadingPairs>
  <TitlesOfParts>
    <vt:vector size="82" baseType="lpstr">
      <vt:lpstr>Public Sans</vt:lpstr>
      <vt:lpstr>Edu NSW ACT Foundation</vt:lpstr>
      <vt:lpstr>Wingdings</vt:lpstr>
      <vt:lpstr>Calibri</vt:lpstr>
      <vt:lpstr>Segoe UI</vt:lpstr>
      <vt:lpstr>Arial,Sans-Serif</vt:lpstr>
      <vt:lpstr>Cambria Math</vt:lpstr>
      <vt:lpstr>Edu NSW ACT Foundation Medium</vt:lpstr>
      <vt:lpstr>Public Sans Light</vt:lpstr>
      <vt:lpstr>Times New Roman</vt:lpstr>
      <vt:lpstr>Montserrat</vt:lpstr>
      <vt:lpstr>Arial</vt:lpstr>
      <vt:lpstr>NSWG Corporate</vt:lpstr>
      <vt:lpstr>1_NSWG Corporate</vt:lpstr>
      <vt:lpstr>Instructions for use</vt:lpstr>
      <vt:lpstr>Review of Learning </vt:lpstr>
      <vt:lpstr>Lessons</vt:lpstr>
      <vt:lpstr>Review of learning 1</vt:lpstr>
      <vt:lpstr>Multiple choice (1)</vt:lpstr>
      <vt:lpstr>Short response (1)</vt:lpstr>
      <vt:lpstr>Short response (2)</vt:lpstr>
      <vt:lpstr>Short response (3)</vt:lpstr>
      <vt:lpstr>Short response (4)</vt:lpstr>
      <vt:lpstr>Activity 1 – estimating using money</vt:lpstr>
      <vt:lpstr>Review of learning  2</vt:lpstr>
      <vt:lpstr>True or false (1)</vt:lpstr>
      <vt:lpstr>Short response (5)</vt:lpstr>
      <vt:lpstr>Short response (6)</vt:lpstr>
      <vt:lpstr>Short response (7)</vt:lpstr>
      <vt:lpstr>Short response (8)</vt:lpstr>
      <vt:lpstr>Activity 2 – rounding to help estimation</vt:lpstr>
      <vt:lpstr>Review of learning 3</vt:lpstr>
      <vt:lpstr>Multiple choice (2)</vt:lpstr>
      <vt:lpstr>Short response (9)</vt:lpstr>
      <vt:lpstr>Short response (10)</vt:lpstr>
      <vt:lpstr>Short response (11) </vt:lpstr>
      <vt:lpstr>Short response (12)</vt:lpstr>
      <vt:lpstr>Activity 3 – interpreting a problem involving money 1</vt:lpstr>
      <vt:lpstr>Review of learning 4</vt:lpstr>
      <vt:lpstr>True or false (2)</vt:lpstr>
      <vt:lpstr>Short response (13)</vt:lpstr>
      <vt:lpstr>Short response (14)</vt:lpstr>
      <vt:lpstr>Short response (15)</vt:lpstr>
      <vt:lpstr>Short response (16)</vt:lpstr>
      <vt:lpstr>Activity 4 – interpreting a problem involving money 2</vt:lpstr>
      <vt:lpstr>Review of learning 5</vt:lpstr>
      <vt:lpstr>Multiple choice (3)</vt:lpstr>
      <vt:lpstr>Short response (17)</vt:lpstr>
      <vt:lpstr>Short response (18) </vt:lpstr>
      <vt:lpstr>Short response (19) </vt:lpstr>
      <vt:lpstr>Short response (20)</vt:lpstr>
      <vt:lpstr>Activity 5 – role of zero – largest number</vt:lpstr>
      <vt:lpstr>Review of learning 6</vt:lpstr>
      <vt:lpstr>True or false (3)</vt:lpstr>
      <vt:lpstr>Short response (21)</vt:lpstr>
      <vt:lpstr>Short response (22)</vt:lpstr>
      <vt:lpstr>Short response (23) </vt:lpstr>
      <vt:lpstr>Short response (24)</vt:lpstr>
      <vt:lpstr>Activity 6 – role of zero – smallest number</vt:lpstr>
      <vt:lpstr>Review of learning  7</vt:lpstr>
      <vt:lpstr>PowerPoint Presentation</vt:lpstr>
      <vt:lpstr>Short response (25)</vt:lpstr>
      <vt:lpstr>Short response (26)</vt:lpstr>
      <vt:lpstr>Short response (27)</vt:lpstr>
      <vt:lpstr>Short response (28)</vt:lpstr>
      <vt:lpstr>Activity 7 – place value using whole numbers, tenths and hundredths</vt:lpstr>
      <vt:lpstr>Review of learning 8</vt:lpstr>
      <vt:lpstr>True or false (4) </vt:lpstr>
      <vt:lpstr>Short response (29)</vt:lpstr>
      <vt:lpstr>Short response (30)</vt:lpstr>
      <vt:lpstr>Short response (31) </vt:lpstr>
      <vt:lpstr>Short response (32)</vt:lpstr>
      <vt:lpstr>Activity 8 – locating and ordering decimals on a number line</vt:lpstr>
      <vt:lpstr>Double Venn diagram</vt:lpstr>
      <vt:lpstr>Frayer</vt:lpstr>
      <vt:lpstr>Spider map</vt:lpstr>
      <vt:lpstr>Cline</vt:lpstr>
      <vt:lpstr>Compare and contrast</vt:lpstr>
      <vt:lpstr>Multiple choice (1)</vt:lpstr>
      <vt:lpstr>Multiple choice (2)</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115</cp:revision>
  <dcterms:created xsi:type="dcterms:W3CDTF">2025-07-07T07:05:15Z</dcterms:created>
  <dcterms:modified xsi:type="dcterms:W3CDTF">2025-09-03T02:58:55Z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