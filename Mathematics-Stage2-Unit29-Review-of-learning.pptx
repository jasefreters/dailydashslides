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67"/>
  </p:notesMasterIdLst>
  <p:handoutMasterIdLst>
    <p:handoutMasterId r:id="rId68"/>
  </p:handoutMasterIdLst>
  <p:sldIdLst>
    <p:sldId id="365" r:id="rId5"/>
    <p:sldId id="26505" r:id="rId6"/>
    <p:sldId id="26359" r:id="rId7"/>
    <p:sldId id="271" r:id="rId8"/>
    <p:sldId id="26577" r:id="rId9"/>
    <p:sldId id="358" r:id="rId10"/>
    <p:sldId id="26580" r:id="rId11"/>
    <p:sldId id="26581" r:id="rId12"/>
    <p:sldId id="26582" r:id="rId13"/>
    <p:sldId id="26651"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598" r:id="rId26"/>
    <p:sldId id="26599" r:id="rId27"/>
    <p:sldId id="26653" r:id="rId28"/>
    <p:sldId id="26601" r:id="rId29"/>
    <p:sldId id="26604" r:id="rId30"/>
    <p:sldId id="26656" r:id="rId31"/>
    <p:sldId id="26606" r:id="rId32"/>
    <p:sldId id="26607" r:id="rId33"/>
    <p:sldId id="26608" r:id="rId34"/>
    <p:sldId id="26609" r:id="rId35"/>
    <p:sldId id="26610" r:id="rId36"/>
    <p:sldId id="26611" r:id="rId37"/>
    <p:sldId id="26614" r:id="rId38"/>
    <p:sldId id="26615" r:id="rId39"/>
    <p:sldId id="26616" r:id="rId40"/>
    <p:sldId id="26659" r:id="rId41"/>
    <p:sldId id="26510" r:id="rId42"/>
    <p:sldId id="26619" r:id="rId43"/>
    <p:sldId id="26622" r:id="rId44"/>
    <p:sldId id="26657" r:id="rId45"/>
    <p:sldId id="26624" r:id="rId46"/>
    <p:sldId id="26625" r:id="rId47"/>
    <p:sldId id="26661" r:id="rId48"/>
    <p:sldId id="26512" r:id="rId49"/>
    <p:sldId id="26628" r:id="rId50"/>
    <p:sldId id="26648" r:id="rId51"/>
    <p:sldId id="26632" r:id="rId52"/>
    <p:sldId id="26633" r:id="rId53"/>
    <p:sldId id="26634" r:id="rId54"/>
    <p:sldId id="26635" r:id="rId55"/>
    <p:sldId id="26654" r:id="rId56"/>
    <p:sldId id="26637" r:id="rId57"/>
    <p:sldId id="26640" r:id="rId58"/>
    <p:sldId id="26641" r:id="rId59"/>
    <p:sldId id="26642" r:id="rId60"/>
    <p:sldId id="26643" r:id="rId61"/>
    <p:sldId id="26644" r:id="rId62"/>
    <p:sldId id="26645" r:id="rId63"/>
    <p:sldId id="360" r:id="rId64"/>
    <p:sldId id="26660" r:id="rId65"/>
    <p:sldId id="361" r:id="rId66"/>
  </p:sldIdLst>
  <p:sldSz cx="12192000" cy="6858000"/>
  <p:notesSz cx="6858000" cy="9144000"/>
  <p:embeddedFontLst>
    <p:embeddedFont>
      <p:font typeface="Edu NSW ACT Foundation" panose="020B0604020202020204" charset="0"/>
      <p:regular r:id="rId69"/>
      <p:bold r:id="rId70"/>
    </p:embeddedFont>
    <p:embeddedFont>
      <p:font typeface="Public Sans" pitchFamily="2" charset="0"/>
      <p:regular r:id="rId71"/>
      <p:bold r:id="rId72"/>
      <p:italic r:id="rId73"/>
      <p:boldItalic r:id="rId74"/>
    </p:embeddedFont>
    <p:embeddedFont>
      <p:font typeface="Public Sans Bold" pitchFamily="2" charset="0"/>
      <p:bold r:id="rId75"/>
    </p:embeddedFont>
    <p:embeddedFont>
      <p:font typeface="Public Sans Light" pitchFamily="2" charset="0"/>
      <p:regular r:id="rId76"/>
      <p:italic r:id="rId77"/>
    </p:embeddedFont>
    <p:embeddedFont>
      <p:font typeface="Segoe UI" panose="020B0502040204020203" pitchFamily="34" charset="0"/>
      <p:regular r:id="rId78"/>
      <p:bold r:id="rId79"/>
      <p:italic r:id="rId80"/>
      <p:boldItalic r:id="rId8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651"/>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53"/>
          </p14:sldIdLst>
        </p14:section>
        <p14:section name="Review of learning 4" id="{6EB8E1CE-ED7B-4635-88AB-9D1D052BB011}">
          <p14:sldIdLst>
            <p14:sldId id="26601"/>
            <p14:sldId id="26604"/>
            <p14:sldId id="26656"/>
            <p14:sldId id="26606"/>
            <p14:sldId id="26607"/>
            <p14:sldId id="26608"/>
            <p14:sldId id="26609"/>
          </p14:sldIdLst>
        </p14:section>
        <p14:section name="Review of learning 5" id="{E365C8CF-14E0-4F5A-BCE8-2E930DEEA864}">
          <p14:sldIdLst>
            <p14:sldId id="26610"/>
            <p14:sldId id="26611"/>
            <p14:sldId id="26614"/>
            <p14:sldId id="26615"/>
            <p14:sldId id="26616"/>
            <p14:sldId id="26659"/>
            <p14:sldId id="26510"/>
          </p14:sldIdLst>
        </p14:section>
        <p14:section name="Review of learning 6" id="{6721D3DC-F7BB-49CA-9E61-8454C104591D}">
          <p14:sldIdLst>
            <p14:sldId id="26619"/>
            <p14:sldId id="26622"/>
            <p14:sldId id="26657"/>
            <p14:sldId id="26624"/>
            <p14:sldId id="26625"/>
            <p14:sldId id="26661"/>
            <p14:sldId id="26512"/>
          </p14:sldIdLst>
        </p14:section>
        <p14:section name="Review of learning 7" id="{CF63834E-0BE9-495B-9761-037C836F185E}">
          <p14:sldIdLst>
            <p14:sldId id="26628"/>
            <p14:sldId id="26648"/>
            <p14:sldId id="26632"/>
            <p14:sldId id="26633"/>
            <p14:sldId id="26634"/>
            <p14:sldId id="26635"/>
            <p14:sldId id="26654"/>
          </p14:sldIdLst>
        </p14:section>
        <p14:section name="Review of learning 8" id="{6FF8F7EC-803E-4F84-BA41-6B3ED673D597}">
          <p14:sldIdLst>
            <p14:sldId id="26637"/>
            <p14:sldId id="26640"/>
            <p14:sldId id="26641"/>
            <p14:sldId id="26642"/>
            <p14:sldId id="26643"/>
            <p14:sldId id="26644"/>
            <p14:sldId id="26645"/>
          </p14:sldIdLst>
        </p14:section>
        <p14:section name="References &amp; copyright" id="{DBC31484-F5F8-4CB1-8DB4-A562A9780899}">
          <p14:sldIdLst>
            <p14:sldId id="360"/>
            <p14:sldId id="266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SN" userId="S::Sundren.Naicker@det.nsw.edu.au::a553bd6d-fc4b-4438-a461-744bbb36d97b" providerId="AD"/>
  <p188:author id="{95D16B7D-CADB-F2BF-AC29-D680545C75EE}" name="Carrie Webeck" initials="CW" userId="S::CARRIE-ANN.WEBECK@det.nsw.edu.au::e5c4b697-ca15-4f3a-a906-1289ddc2fc07" providerId="AD"/>
  <p188:author id="{CC2CF4BE-5B9A-35CA-4C1B-CB063A10B965}" name="Sundren Naicker" initials="SN" userId="S::sundren.naicker@det.nsw.edu.au::a553bd6d-fc4b-4438-a461-744bbb36d97b" providerId="AD"/>
  <p188:author id="{D9FAB2E2-FCDC-C762-1ECD-0FBBF02124FD}" name="Annette Price" initials=""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F2F"/>
    <a:srgbClr val="B51458"/>
    <a:srgbClr val="EA9B0C"/>
    <a:srgbClr val="007A8A"/>
    <a:srgbClr val="9B6808"/>
    <a:srgbClr val="427B2D"/>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01E80-4555-A797-A5BD-9C82CAF98F32}" v="117" dt="2026-04-01T06:40:26.50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43" autoAdjust="0"/>
  </p:normalViewPr>
  <p:slideViewPr>
    <p:cSldViewPr snapToGrid="0">
      <p:cViewPr varScale="1">
        <p:scale>
          <a:sx n="21" d="100"/>
          <a:sy n="21" d="100"/>
        </p:scale>
        <p:origin x="732" y="28"/>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handoutMaster" Target="handoutMasters/handoutMaster1.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4.fntdata"/><Relationship Id="rId80" Type="http://schemas.openxmlformats.org/officeDocument/2006/relationships/font" Target="fonts/font12.fntdata"/><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font" Target="fonts/font13.fntdata"/><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8.fntdata"/><Relationship Id="rId7" Type="http://schemas.openxmlformats.org/officeDocument/2006/relationships/slide" Target="slides/slide3.xml"/><Relationship Id="rId71" Type="http://schemas.openxmlformats.org/officeDocument/2006/relationships/font" Target="fonts/font3.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8/10/relationships/authors" Target="authors.xml"/><Relationship Id="rId61" Type="http://schemas.openxmlformats.org/officeDocument/2006/relationships/slide" Target="slides/slide57.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nrich.maths.org/10426"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nrich.maths.org/"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nrich.maths.org/6342"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nrich.maths.org/"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1-s2-counting-game-by-multiples-of-10"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education.nsw.gov.au/teaching-and-learning/curriculum/mathematics/mathematics-curriculum-resources-k-12/mathematics-k-6-resources"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2-multiples-madness"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education.nsw.gov.au/teaching-and-learning/curriculum/mathematics/mathematics-curriculum-resources-k-12/mathematics-k-6-resources"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a:t>
            </a:r>
            <a:r>
              <a:rPr lang="en-AU" dirty="0"/>
              <a:t>2 </a:t>
            </a:r>
            <a:r>
              <a:rPr lang="en-AU"/>
              <a:t>Year </a:t>
            </a:r>
            <a:r>
              <a:rPr lang="en-AU" dirty="0"/>
              <a:t>B </a:t>
            </a:r>
            <a:r>
              <a:rPr lang="en-AU"/>
              <a:t>Unit </a:t>
            </a:r>
            <a:r>
              <a:rPr lang="en-AU" dirty="0"/>
              <a:t>29</a:t>
            </a:r>
            <a:endParaRPr lang="en-AU"/>
          </a:p>
          <a:p>
            <a:pPr marL="285750" indent="-285750">
              <a:buFont typeface="Arial" panose="020B0604020202020204" pitchFamily="34" charset="0"/>
              <a:buChar char="•"/>
            </a:pPr>
            <a:r>
              <a:rPr lang="en-AU"/>
              <a:t>Stage </a:t>
            </a:r>
            <a:r>
              <a:rPr lang="en-AU" dirty="0"/>
              <a:t>2 </a:t>
            </a:r>
            <a:r>
              <a:rPr lang="en-AU"/>
              <a:t>Year </a:t>
            </a:r>
            <a:r>
              <a:rPr lang="en-AU" dirty="0"/>
              <a:t>B </a:t>
            </a:r>
            <a:r>
              <a:rPr lang="en-AU"/>
              <a:t>Unit </a:t>
            </a:r>
            <a:r>
              <a:rPr lang="en-AU" dirty="0"/>
              <a:t>28</a:t>
            </a:r>
            <a:endParaRPr lang="en-AU"/>
          </a:p>
          <a:p>
            <a:pPr marL="285750" indent="-285750">
              <a:buFont typeface="Arial" panose="020B0604020202020204" pitchFamily="34" charset="0"/>
              <a:buChar char="•"/>
            </a:pPr>
            <a:r>
              <a:rPr lang="en-AU"/>
              <a:t>Stage </a:t>
            </a:r>
            <a:r>
              <a:rPr lang="en-AU" dirty="0"/>
              <a:t>2 </a:t>
            </a:r>
            <a:r>
              <a:rPr lang="en-AU"/>
              <a:t>Year </a:t>
            </a:r>
            <a:r>
              <a:rPr lang="en-AU" dirty="0"/>
              <a:t>B </a:t>
            </a:r>
            <a:r>
              <a:rPr lang="en-AU"/>
              <a:t>Unit </a:t>
            </a:r>
            <a:r>
              <a:rPr lang="en-AU" dirty="0"/>
              <a:t>27</a:t>
            </a:r>
            <a:endParaRPr lang="en-AU"/>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titles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Three-dimensional </a:t>
            </a:r>
            <a:r>
              <a:rPr lang="en-AU" sz="1600" i="0">
                <a:solidFill>
                  <a:schemeClr val="tx1"/>
                </a:solidFill>
                <a:latin typeface="Arial"/>
                <a:cs typeface="Arial"/>
              </a:rPr>
              <a:t>spatial structure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AU"/>
              <a:t>This is a developing number sense activity. </a:t>
            </a:r>
            <a:endParaRPr lang="en-US">
              <a:solidFill>
                <a:srgbClr val="444444"/>
              </a:solidFill>
            </a:endParaRPr>
          </a:p>
          <a:p>
            <a:pPr>
              <a:defRPr/>
            </a:pPr>
            <a:endParaRPr lang="en-AU">
              <a:solidFill>
                <a:srgbClr val="444444"/>
              </a:solidFill>
            </a:endParaRPr>
          </a:p>
          <a:p>
            <a:pPr>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defRPr/>
            </a:pPr>
            <a:endParaRPr lang="en-AU">
              <a:solidFill>
                <a:srgbClr val="444444"/>
              </a:solidFill>
            </a:endParaRPr>
          </a:p>
          <a:p>
            <a:pPr>
              <a:defRPr/>
            </a:pPr>
            <a:r>
              <a:rPr lang="en-AU" b="1"/>
              <a:t>Syllabus focus area:</a:t>
            </a:r>
            <a:endParaRPr lang="en-US">
              <a:solidFill>
                <a:srgbClr val="444444"/>
              </a:solidFill>
            </a:endParaRPr>
          </a:p>
          <a:p>
            <a:pPr>
              <a:defRPr/>
            </a:pPr>
            <a:r>
              <a:rPr lang="en-AU">
                <a:solidFill>
                  <a:srgbClr val="000000"/>
                </a:solidFill>
                <a:latin typeface="Arial"/>
                <a:cs typeface="Arial"/>
              </a:rPr>
              <a:t>Representing numbers using place value B</a:t>
            </a:r>
            <a:endParaRPr lang="en-AU">
              <a:latin typeface="Arial"/>
              <a:cs typeface="Arial"/>
            </a:endParaRPr>
          </a:p>
          <a:p>
            <a:pPr>
              <a:defRPr/>
            </a:pPr>
            <a:endParaRPr lang="en-AU"/>
          </a:p>
          <a:p>
            <a:pPr>
              <a:defRPr/>
            </a:pPr>
            <a:r>
              <a:rPr lang="en-AU" b="1">
                <a:latin typeface="Arial"/>
                <a:cs typeface="Arial"/>
              </a:rPr>
              <a:t>Activity 1– dice combinations</a:t>
            </a:r>
          </a:p>
          <a:p>
            <a:pPr>
              <a:defRPr/>
            </a:pPr>
            <a:r>
              <a:rPr lang="en-AU">
                <a:latin typeface="Arial"/>
                <a:cs typeface="Arial"/>
              </a:rPr>
              <a:t>This resource corresponds to </a:t>
            </a:r>
            <a:r>
              <a:rPr lang="en-AU" b="1">
                <a:latin typeface="Arial"/>
                <a:cs typeface="Arial"/>
              </a:rPr>
              <a:t>Resource 14 – dice combinations </a:t>
            </a:r>
            <a:r>
              <a:rPr lang="en-AU">
                <a:latin typeface="Arial"/>
                <a:cs typeface="Arial"/>
              </a:rPr>
              <a:t>in Stage 2 Year B Unit 29.</a:t>
            </a:r>
            <a:endParaRPr lang="en-AU">
              <a:solidFill>
                <a:srgbClr val="444444"/>
              </a:solidFill>
            </a:endParaRPr>
          </a:p>
          <a:p>
            <a:pPr>
              <a:defRPr/>
            </a:pPr>
            <a:endParaRPr lang="en-AU" sz="1800">
              <a:latin typeface="Arial"/>
              <a:ea typeface="Calibri"/>
              <a:cs typeface="Arial"/>
            </a:endParaRPr>
          </a:p>
          <a:p>
            <a:pPr marL="0" marR="0" lvl="0" indent="0" algn="l" defTabSz="1219170">
              <a:lnSpc>
                <a:spcPct val="100000"/>
              </a:lnSpc>
              <a:spcBef>
                <a:spcPts val="0"/>
              </a:spcBef>
              <a:spcAft>
                <a:spcPts val="0"/>
              </a:spcAft>
              <a:buClrTx/>
              <a:buSzTx/>
              <a:buFontTx/>
              <a:buNone/>
              <a:tabLst/>
              <a:defRPr/>
            </a:pPr>
            <a:r>
              <a:rPr lang="en-AU" sz="1800">
                <a:latin typeface="Arial"/>
                <a:ea typeface="Calibri"/>
                <a:cs typeface="Arial"/>
              </a:rPr>
              <a:t>This</a:t>
            </a:r>
            <a:r>
              <a:rPr lang="en-AU" sz="1800">
                <a:effectLst/>
                <a:latin typeface="Arial"/>
                <a:ea typeface="Calibri"/>
                <a:cs typeface="Arial"/>
              </a:rPr>
              <a:t> activity is an adaptation of ‘</a:t>
            </a:r>
            <a:r>
              <a:rPr lang="en-AU" sz="1800" u="sng">
                <a:solidFill>
                  <a:srgbClr val="2F5496"/>
                </a:solidFill>
                <a:effectLst/>
                <a:latin typeface="Arial"/>
                <a:ea typeface="Calibri"/>
                <a:cs typeface="Arial"/>
                <a:hlinkClick r:id="rId3"/>
              </a:rPr>
              <a:t>Round the Four Dice</a:t>
            </a:r>
            <a:r>
              <a:rPr lang="en-AU" sz="1800">
                <a:effectLst/>
                <a:latin typeface="Arial"/>
                <a:ea typeface="Calibri"/>
                <a:cs typeface="Arial"/>
              </a:rPr>
              <a:t>’ from </a:t>
            </a:r>
            <a:r>
              <a:rPr lang="en-AU" sz="1800" u="sng">
                <a:solidFill>
                  <a:srgbClr val="2F5496"/>
                </a:solidFill>
                <a:effectLst/>
                <a:latin typeface="Arial"/>
                <a:ea typeface="Calibri"/>
                <a:cs typeface="Arial"/>
                <a:hlinkClick r:id="rId4"/>
              </a:rPr>
              <a:t>NRICH</a:t>
            </a:r>
            <a:r>
              <a:rPr lang="en-AU" sz="1800">
                <a:effectLst/>
                <a:latin typeface="Arial"/>
                <a:ea typeface="Calibri"/>
                <a:cs typeface="Arial"/>
              </a:rPr>
              <a:t> by the University of Cambridge (Faculty of Mathematics).</a:t>
            </a:r>
            <a:endParaRPr lang="en-AU">
              <a:latin typeface="Arial"/>
              <a:ea typeface="Calibri"/>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effectLst/>
                <a:latin typeface="Arial" panose="020B0604020202020204" pitchFamily="34" charset="0"/>
                <a:ea typeface="Calibri" panose="020F0502020204030204" pitchFamily="34" charset="0"/>
              </a:rPr>
              <a:t>Students choose 4 numbers from the dice combinations and round them to the nearest 1000.</a:t>
            </a:r>
          </a:p>
          <a:p>
            <a:pPr>
              <a:defRPr/>
            </a:pPr>
            <a:endParaRPr lang="en-AU" sz="1800">
              <a:solidFill>
                <a:srgbClr val="000000"/>
              </a:solidFill>
              <a:highlight>
                <a:srgbClr val="FFFFFF"/>
              </a:highlight>
              <a:latin typeface="Arial"/>
              <a:cs typeface="Arial"/>
            </a:endParaRPr>
          </a:p>
          <a:p>
            <a:pPr marL="0" marR="0" lvl="0" indent="0" algn="l" defTabSz="1219170">
              <a:lnSpc>
                <a:spcPct val="100000"/>
              </a:lnSpc>
              <a:spcBef>
                <a:spcPts val="0"/>
              </a:spcBef>
              <a:spcAft>
                <a:spcPts val="0"/>
              </a:spcAft>
              <a:buClrTx/>
              <a:buSzTx/>
              <a:buFontTx/>
              <a:buNone/>
              <a:tabLst/>
              <a:defRPr/>
            </a:pPr>
            <a:r>
              <a:rPr lang="en-AU" sz="1800" b="0" i="0">
                <a:solidFill>
                  <a:srgbClr val="000000"/>
                </a:solidFill>
                <a:effectLst/>
                <a:highlight>
                  <a:srgbClr val="FFFFFF"/>
                </a:highlight>
                <a:latin typeface="Arial"/>
                <a:cs typeface="Arial"/>
              </a:rPr>
              <a:t>Ask: </a:t>
            </a:r>
            <a:endParaRPr lang="en-AU">
              <a:latin typeface="Arial"/>
              <a:cs typeface="Arial"/>
            </a:endParaRP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How did you work out whether to round up or round down to the nearest multiple of 1000?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Did you round up to the nearest thousand or round down to the nearest thousand more often? Why?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Did any of the four 4-digit numbers you chose round to the same multiple of 1000? </a:t>
            </a:r>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004909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a:t>
            </a:r>
          </a:p>
          <a:p>
            <a:br>
              <a:rPr lang="en-AU"/>
            </a:br>
            <a:endParaRPr lang="en-AU"/>
          </a:p>
          <a:p>
            <a:pPr>
              <a:defRPr/>
            </a:pPr>
            <a:br>
              <a:rPr lang="en-AU"/>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latin typeface="Arial"/>
                <a:cs typeface="Arial"/>
              </a:rPr>
              <a:t>Representing numbers using place value B</a:t>
            </a:r>
          </a:p>
          <a:p>
            <a:endParaRPr lang="en-AU"/>
          </a:p>
          <a:p>
            <a:r>
              <a:rPr lang="en-AU" b="1">
                <a:solidFill>
                  <a:srgbClr val="002664"/>
                </a:solidFill>
                <a:latin typeface="Arial"/>
                <a:cs typeface="Arial"/>
              </a:rPr>
              <a:t>Activity 2 – to the nearest thousand</a:t>
            </a:r>
            <a:endParaRPr lang="en-AU" b="1">
              <a:latin typeface="Arial"/>
              <a:cs typeface="Arial"/>
            </a:endParaRPr>
          </a:p>
          <a:p>
            <a:r>
              <a:rPr lang="en-AU">
                <a:latin typeface="Arial"/>
                <a:cs typeface="Arial"/>
              </a:rPr>
              <a:t>Students write the target numbers 20 000, 40 000, 60 000 and 80 000 on individual whiteboards.</a:t>
            </a:r>
            <a:endParaRPr lang="en-US">
              <a:solidFill>
                <a:srgbClr val="444444"/>
              </a:solidFill>
              <a:latin typeface="Arial"/>
              <a:cs typeface="Arial"/>
            </a:endParaRPr>
          </a:p>
          <a:p>
            <a:pPr>
              <a:lnSpc>
                <a:spcPct val="150000"/>
              </a:lnSpc>
              <a:spcBef>
                <a:spcPts val="1200"/>
              </a:spcBef>
              <a:spcAft>
                <a:spcPts val="600"/>
              </a:spcAft>
            </a:pPr>
            <a:r>
              <a:rPr lang="en-AU">
                <a:latin typeface="Arial"/>
                <a:cs typeface="Arial"/>
              </a:rPr>
              <a:t>Students roll five 0–9 dice and arrange them to make a 5-digit number as close as possible to one of the target numbers. Students say their chosen number aloud and record it next to the desired target number in any order. Repeat the process 7 times.</a:t>
            </a:r>
            <a:endParaRPr lang="en-US">
              <a:solidFill>
                <a:srgbClr val="444444"/>
              </a:solidFill>
              <a:latin typeface="Arial"/>
              <a:cs typeface="Arial"/>
            </a:endParaRPr>
          </a:p>
          <a:p>
            <a:pPr>
              <a:lnSpc>
                <a:spcPct val="150000"/>
              </a:lnSpc>
              <a:spcBef>
                <a:spcPts val="1200"/>
              </a:spcBef>
              <a:spcAft>
                <a:spcPts val="600"/>
              </a:spcAft>
            </a:pPr>
            <a:endParaRPr lang="en-AU">
              <a:latin typeface="Arial"/>
              <a:cs typeface="Arial"/>
            </a:endParaRPr>
          </a:p>
          <a:p>
            <a:pPr>
              <a:lnSpc>
                <a:spcPct val="150000"/>
              </a:lnSpc>
              <a:spcBef>
                <a:spcPts val="1200"/>
              </a:spcBef>
              <a:spcAft>
                <a:spcPts val="600"/>
              </a:spcAft>
            </a:pPr>
            <a:r>
              <a:rPr lang="en-AU">
                <a:latin typeface="Arial"/>
                <a:cs typeface="Arial"/>
              </a:rPr>
              <a:t>Ask:</a:t>
            </a:r>
            <a:endParaRPr lang="en-US">
              <a:solidFill>
                <a:srgbClr val="444444"/>
              </a:solidFill>
              <a:latin typeface="Arial"/>
              <a:cs typeface="Arial"/>
            </a:endParaRPr>
          </a:p>
          <a:p>
            <a:pPr marL="342900" indent="-342900">
              <a:lnSpc>
                <a:spcPct val="150000"/>
              </a:lnSpc>
              <a:spcBef>
                <a:spcPts val="1200"/>
              </a:spcBef>
              <a:spcAft>
                <a:spcPts val="600"/>
              </a:spcAft>
              <a:buFont typeface="Symbol,Sans-Serif"/>
              <a:buChar char=""/>
            </a:pPr>
            <a:r>
              <a:rPr lang="en-AU"/>
              <a:t>Who got nearest to a target number? How do you know?</a:t>
            </a:r>
            <a:endParaRPr lang="en-US">
              <a:solidFill>
                <a:srgbClr val="444444"/>
              </a:solidFill>
            </a:endParaRPr>
          </a:p>
          <a:p>
            <a:pPr marL="342900" indent="-342900">
              <a:lnSpc>
                <a:spcPct val="150000"/>
              </a:lnSpc>
              <a:spcBef>
                <a:spcPts val="1200"/>
              </a:spcBef>
              <a:spcAft>
                <a:spcPts val="600"/>
              </a:spcAft>
              <a:buFont typeface="Symbol,Sans-Serif"/>
              <a:buChar char=""/>
            </a:pPr>
            <a:r>
              <a:rPr lang="en-AU">
                <a:latin typeface="Arial"/>
                <a:cs typeface="Arial"/>
              </a:rPr>
              <a:t>Is there a 5-digit number you noticed that if the arrangement of numbers was changed, it would create a number closer to one of the target numbers? Explain your reasoning.</a:t>
            </a:r>
            <a:endParaRPr lang="en-US">
              <a:solidFill>
                <a:srgbClr val="444444"/>
              </a:solidFill>
              <a:latin typeface="Arial"/>
              <a:cs typeface="Arial"/>
            </a:endParaRPr>
          </a:p>
          <a:p>
            <a:pPr marL="342900" indent="-342900">
              <a:lnSpc>
                <a:spcPct val="150000"/>
              </a:lnSpc>
              <a:spcBef>
                <a:spcPts val="1200"/>
              </a:spcBef>
              <a:spcAft>
                <a:spcPts val="600"/>
              </a:spcAft>
              <a:buFont typeface="Symbol,Sans-Serif"/>
              <a:buChar char=""/>
            </a:pPr>
            <a:r>
              <a:rPr lang="en-AU"/>
              <a:t>Can you select one of your rolled numbers and rearrange it to be the smallest number possible?</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000000"/>
                </a:solidFill>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Three-dimensional spatial structure B</a:t>
            </a: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Volume</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AU"/>
              <a:t>This is a developing number sense activity. </a:t>
            </a:r>
            <a:endParaRPr lang="en-US">
              <a:solidFill>
                <a:srgbClr val="444444"/>
              </a:solidFill>
            </a:endParaRPr>
          </a:p>
          <a:p>
            <a:pPr>
              <a:defRPr/>
            </a:pPr>
            <a:endParaRPr lang="en-AU">
              <a:solidFill>
                <a:srgbClr val="444444"/>
              </a:solidFill>
            </a:endParaRPr>
          </a:p>
          <a:p>
            <a:pPr>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defRPr/>
            </a:pPr>
            <a:endParaRPr lang="en-AU">
              <a:solidFill>
                <a:srgbClr val="444444"/>
              </a:solidFill>
            </a:endParaRPr>
          </a:p>
          <a:p>
            <a:pPr>
              <a:defRPr/>
            </a:pPr>
            <a:r>
              <a:rPr lang="en-AU" b="1"/>
              <a:t>Syllabus focus area:</a:t>
            </a:r>
            <a:endParaRPr lang="en-US">
              <a:solidFill>
                <a:srgbClr val="444444"/>
              </a:solidFill>
            </a:endParaRPr>
          </a:p>
          <a:p>
            <a:pPr>
              <a:defRPr/>
            </a:pPr>
            <a:r>
              <a:rPr lang="en-AU">
                <a:latin typeface="Arial"/>
                <a:cs typeface="Arial"/>
              </a:rPr>
              <a:t>Representing numbers using place value B</a:t>
            </a:r>
            <a:endParaRPr lang="en-US">
              <a:solidFill>
                <a:srgbClr val="444444"/>
              </a:solidFill>
              <a:latin typeface="Arial"/>
              <a:cs typeface="Arial"/>
            </a:endParaRPr>
          </a:p>
          <a:p>
            <a:pPr>
              <a:defRPr/>
            </a:pPr>
            <a:endParaRPr lang="en-AU">
              <a:solidFill>
                <a:srgbClr val="444444"/>
              </a:solidFill>
            </a:endParaRPr>
          </a:p>
          <a:p>
            <a:pPr>
              <a:defRPr/>
            </a:pPr>
            <a:r>
              <a:rPr lang="en-AU" b="1">
                <a:latin typeface="Arial"/>
                <a:cs typeface="Arial"/>
              </a:rPr>
              <a:t>Activity 3 – 20 numbers</a:t>
            </a:r>
            <a:endParaRPr lang="en-US">
              <a:solidFill>
                <a:srgbClr val="444444"/>
              </a:solidFill>
            </a:endParaRPr>
          </a:p>
          <a:p>
            <a:pPr>
              <a:defRPr/>
            </a:pPr>
            <a:r>
              <a:rPr lang="en-AU">
                <a:latin typeface="Arial"/>
                <a:cs typeface="Arial"/>
              </a:rPr>
              <a:t>This resource corresponds to Resource 15 – 20 numbers in Stage 2 Year B Unit 29. </a:t>
            </a:r>
          </a:p>
          <a:p>
            <a:pPr>
              <a:lnSpc>
                <a:spcPct val="150000"/>
              </a:lnSpc>
              <a:spcBef>
                <a:spcPts val="1200"/>
              </a:spcBef>
              <a:spcAft>
                <a:spcPts val="600"/>
              </a:spcAft>
              <a:defRPr/>
            </a:pPr>
            <a:endParaRPr lang="en-AU" sz="1800">
              <a:latin typeface="Arial"/>
              <a:ea typeface="Calibri"/>
              <a:cs typeface="Arial"/>
            </a:endParaRPr>
          </a:p>
          <a:p>
            <a:pPr marL="0" marR="0" lvl="0" indent="0" algn="l" defTabSz="1219170">
              <a:lnSpc>
                <a:spcPct val="150000"/>
              </a:lnSpc>
              <a:spcBef>
                <a:spcPts val="1200"/>
              </a:spcBef>
              <a:spcAft>
                <a:spcPts val="600"/>
              </a:spcAft>
              <a:buClrTx/>
              <a:buSzTx/>
              <a:buFont typeface="+mj-lt"/>
              <a:buNone/>
              <a:tabLst/>
              <a:defRPr/>
            </a:pPr>
            <a:r>
              <a:rPr lang="en-AU" sz="1800">
                <a:effectLst/>
                <a:latin typeface="Arial"/>
                <a:ea typeface="Calibri"/>
                <a:cs typeface="Arial"/>
              </a:rPr>
              <a:t>This activity is an adaptation of ‘</a:t>
            </a:r>
            <a:r>
              <a:rPr lang="en-AU" sz="1800" u="sng">
                <a:solidFill>
                  <a:srgbClr val="2F5496"/>
                </a:solidFill>
                <a:effectLst/>
                <a:latin typeface="Arial"/>
                <a:ea typeface="Calibri"/>
                <a:cs typeface="Arial"/>
                <a:hlinkClick r:id="rId3"/>
              </a:rPr>
              <a:t>Four-digit Targets</a:t>
            </a:r>
            <a:r>
              <a:rPr lang="en-AU" sz="1800">
                <a:effectLst/>
                <a:latin typeface="Arial"/>
                <a:ea typeface="Calibri"/>
                <a:cs typeface="Arial"/>
              </a:rPr>
              <a:t>’ from </a:t>
            </a:r>
            <a:r>
              <a:rPr lang="en-AU" sz="1800" u="sng">
                <a:solidFill>
                  <a:srgbClr val="2F5496"/>
                </a:solidFill>
                <a:effectLst/>
                <a:latin typeface="Arial"/>
                <a:ea typeface="Calibri"/>
                <a:cs typeface="Arial"/>
                <a:hlinkClick r:id="rId4"/>
              </a:rPr>
              <a:t>NRICH</a:t>
            </a:r>
            <a:r>
              <a:rPr lang="en-AU" sz="1800">
                <a:effectLst/>
                <a:latin typeface="Arial"/>
                <a:ea typeface="Calibri"/>
                <a:cs typeface="Arial"/>
              </a:rPr>
              <a:t> by the University of Cambridge (Faculty of Mathematics).</a:t>
            </a:r>
            <a:endParaRPr lang="en-AU">
              <a:latin typeface="Arial"/>
              <a:ea typeface="Calibri"/>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pPr>
            <a:r>
              <a:rPr lang="en-AU" sz="1800">
                <a:latin typeface="Arial"/>
                <a:ea typeface="Calibri"/>
                <a:cs typeface="Arial"/>
              </a:rPr>
              <a:t>Tell students</a:t>
            </a:r>
            <a:r>
              <a:rPr lang="en-AU" sz="1800">
                <a:effectLst/>
                <a:latin typeface="Arial"/>
                <a:ea typeface="Calibri"/>
                <a:cs typeface="Arial"/>
              </a:rPr>
              <a:t> they need to arrange the digits to make five 4-digit numbers as close to the target numbers as possible. Explain to students that they can use each digit only once.</a:t>
            </a:r>
          </a:p>
          <a:p>
            <a:r>
              <a:rPr lang="en-AU" sz="1800">
                <a:effectLst/>
                <a:latin typeface="Arial" panose="020B0604020202020204" pitchFamily="34" charset="0"/>
                <a:ea typeface="Calibri" panose="020F0502020204030204" pitchFamily="34" charset="0"/>
              </a:rPr>
              <a:t>Encourage small groups of students to work strategically and systematically to get numbers nearest to the target numbers. Remind students they can adjust their answers as they progress with the problem.</a:t>
            </a: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a:effectLst/>
                <a:latin typeface="Arial"/>
                <a:ea typeface="Calibri"/>
                <a:cs typeface="Arial"/>
              </a:rPr>
              <a:t>Ask:</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Who recorded the 4-digit number nearest to each target number? How do you know?</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Does your 4-digit number round up or down to the target number?</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were the challenges in this task?</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40857207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51FA-3BFA-F333-B885-4926A1D33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CB5B3-AC19-FC65-339F-827CF5E79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5D6BC-233B-97AC-ABD1-2A513B845FA5}"/>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Three-dimensional spatial structure B</a:t>
            </a:r>
          </a:p>
        </p:txBody>
      </p:sp>
      <p:sp>
        <p:nvSpPr>
          <p:cNvPr id="4" name="Slide Number Placeholder 3">
            <a:extLst>
              <a:ext uri="{FF2B5EF4-FFF2-40B4-BE49-F238E27FC236}">
                <a16:creationId xmlns:a16="http://schemas.microsoft.com/office/drawing/2014/main" id="{D73914D5-78D3-E1FB-8875-D582A789D0FD}"/>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1599963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 </a:t>
            </a: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Representing numbers using place value B</a:t>
            </a:r>
            <a:endParaRPr lang="en-AU" dirty="0"/>
          </a:p>
          <a:p>
            <a:endParaRPr lang="en-AU" dirty="0"/>
          </a:p>
          <a:p>
            <a:r>
              <a:rPr lang="en-AU" b="1" dirty="0">
                <a:latin typeface="Arial"/>
                <a:cs typeface="Arial"/>
              </a:rPr>
              <a:t>Activity 4 – Quick fire- call it out</a:t>
            </a:r>
          </a:p>
          <a:p>
            <a:r>
              <a:rPr lang="en-AU" dirty="0">
                <a:latin typeface="Arial"/>
                <a:cs typeface="Arial"/>
              </a:rPr>
              <a:t>Ask:</a:t>
            </a:r>
            <a:endParaRPr lang="en-AU" b="0" dirty="0"/>
          </a:p>
          <a:p>
            <a:pPr marL="285750" indent="-285750">
              <a:buFont typeface="Arial"/>
              <a:buChar char="•"/>
            </a:pPr>
            <a:r>
              <a:rPr lang="en-AU" dirty="0"/>
              <a:t>What two thousands is this number between? </a:t>
            </a:r>
          </a:p>
          <a:p>
            <a:pPr marL="285750" indent="-285750">
              <a:buFont typeface="Arial"/>
              <a:buChar char="•"/>
            </a:pPr>
            <a:r>
              <a:rPr lang="en-AU" dirty="0">
                <a:latin typeface="Arial"/>
                <a:cs typeface="Arial"/>
              </a:rPr>
              <a:t>Which thousand is it closest to? </a:t>
            </a:r>
          </a:p>
          <a:p>
            <a:pPr marL="285750" indent="-285750">
              <a:buFont typeface="Arial"/>
              <a:buChar char="•"/>
            </a:pPr>
            <a:r>
              <a:rPr lang="en-AU" dirty="0">
                <a:latin typeface="Arial"/>
                <a:cs typeface="Arial"/>
              </a:rPr>
              <a:t>How do you know?</a:t>
            </a:r>
          </a:p>
          <a:p>
            <a:pPr marL="285750" indent="-285750">
              <a:buFont typeface="Arial"/>
              <a:buChar char="•"/>
            </a:pPr>
            <a:endParaRPr lang="en-AU" dirty="0"/>
          </a:p>
          <a:p>
            <a:r>
              <a:rPr lang="en-AU" dirty="0">
                <a:latin typeface="Arial"/>
                <a:cs typeface="Arial"/>
              </a:rPr>
              <a:t>Repeat the process with students working in pairs.</a:t>
            </a:r>
            <a:endParaRPr lang="en-AU" dirty="0"/>
          </a:p>
          <a:p>
            <a:r>
              <a:rPr lang="en-AU" dirty="0">
                <a:latin typeface="Arial"/>
                <a:cs typeface="Arial"/>
              </a:rPr>
              <a:t>Provide students with example of 4-digit numbers. </a:t>
            </a:r>
            <a:endParaRPr lang="en-AU" dirty="0"/>
          </a:p>
          <a:p>
            <a:r>
              <a:rPr lang="en-AU" dirty="0">
                <a:latin typeface="Arial"/>
                <a:cs typeface="Arial"/>
              </a:rPr>
              <a:t>Ask them to draw a number line from the lower to the higher thousand ( for example 2 000 – 3 000), estimate where their number lies and then discuss and compare answers with each other.</a:t>
            </a:r>
            <a:endParaRPr lang="en-AU" dirty="0"/>
          </a:p>
          <a:p>
            <a:endParaRPr lang="en-AU" dirty="0"/>
          </a:p>
          <a:p>
            <a:pPr marL="285750" indent="-285750">
              <a:buFont typeface="Arial"/>
              <a:buChar char="•"/>
            </a:pPr>
            <a:endParaRPr lang="en-AU" dirty="0"/>
          </a:p>
          <a:p>
            <a:endParaRPr lang="en-AU" dirty="0"/>
          </a:p>
          <a:p>
            <a:endParaRPr lang="en-AU" b="1" dirty="0"/>
          </a:p>
          <a:p>
            <a:pPr marL="342900" indent="-342900">
              <a:buFont typeface="Arial"/>
              <a:buChar char="•"/>
            </a:pPr>
            <a:endParaRPr lang="en-AU" dirty="0"/>
          </a:p>
          <a:p>
            <a:endParaRPr lang="en-AU" b="1" dirty="0"/>
          </a:p>
          <a:p>
            <a:pPr marL="342900" indent="-342900">
              <a:buFont typeface="Arial"/>
              <a:buChar char="•"/>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Three-dimensional spatial structure B</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67542-5DF8-B202-A981-9E19E41AE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CD3EF-25C8-9751-5B55-28C957B6A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2C7FE-9212-AFDC-5911-AC02CA3333F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A411416-F93B-9093-6CB4-366C04B5C2A4}"/>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4538527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dirty="0">
                <a:solidFill>
                  <a:schemeClr val="tx1"/>
                </a:solidFill>
                <a:effectLst/>
                <a:latin typeface="Arial" panose="020B0604020202020204" pitchFamily="34" charset="0"/>
                <a:ea typeface="+mn-ea"/>
                <a:cs typeface="Arial" panose="020B0604020202020204" pitchFamily="34" charset="0"/>
              </a:rPr>
              <a:t>Multiplicative relations B </a:t>
            </a:r>
          </a:p>
          <a:p>
            <a:endParaRPr lang="en-AU" dirty="0"/>
          </a:p>
          <a:p>
            <a:endParaRPr lang="en-AU" dirty="0"/>
          </a:p>
          <a:p>
            <a:r>
              <a:rPr lang="en-AU" b="1" dirty="0"/>
              <a:t>Activity 5 – counting by 10s</a:t>
            </a:r>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600" dirty="0">
                <a:solidFill>
                  <a:srgbClr val="000000"/>
                </a:solidFill>
                <a:effectLst/>
                <a:latin typeface="Arial"/>
                <a:ea typeface="Arial" panose="020B0604020202020204" pitchFamily="34" charset="0"/>
                <a:cs typeface="Arial"/>
              </a:rPr>
              <a:t>This </a:t>
            </a:r>
            <a:r>
              <a:rPr lang="en-AU" sz="1600" dirty="0">
                <a:effectLst/>
                <a:latin typeface="Arial"/>
                <a:ea typeface="Calibri"/>
                <a:cs typeface="Arial"/>
              </a:rPr>
              <a:t>activity</a:t>
            </a:r>
            <a:r>
              <a:rPr lang="en-AU" sz="1600" dirty="0">
                <a:solidFill>
                  <a:srgbClr val="000000"/>
                </a:solidFill>
                <a:effectLst/>
                <a:latin typeface="Arial"/>
                <a:ea typeface="Arial" panose="020B0604020202020204" pitchFamily="34" charset="0"/>
                <a:cs typeface="Arial"/>
              </a:rPr>
              <a:t> is an adaptation of ‘</a:t>
            </a:r>
            <a:r>
              <a:rPr lang="en-AU" sz="1600" u="sng" dirty="0">
                <a:solidFill>
                  <a:srgbClr val="2F5496"/>
                </a:solidFill>
                <a:effectLst/>
                <a:latin typeface="Arial"/>
                <a:ea typeface="Arial" panose="020B0604020202020204" pitchFamily="34" charset="0"/>
                <a:cs typeface="Arial"/>
                <a:hlinkClick r:id="rId3"/>
              </a:rPr>
              <a:t>Counting game (by multiples of 10)</a:t>
            </a:r>
            <a:r>
              <a:rPr lang="en-AU" sz="1600" dirty="0">
                <a:effectLst/>
                <a:latin typeface="Arial"/>
                <a:ea typeface="Calibri"/>
                <a:cs typeface="Arial"/>
              </a:rPr>
              <a:t>’</a:t>
            </a:r>
            <a:r>
              <a:rPr lang="en-AU" sz="1600" dirty="0">
                <a:solidFill>
                  <a:srgbClr val="000000"/>
                </a:solidFill>
                <a:effectLst/>
                <a:latin typeface="Arial"/>
                <a:ea typeface="Arial" panose="020B0604020202020204" pitchFamily="34" charset="0"/>
                <a:cs typeface="Arial"/>
              </a:rPr>
              <a:t> from </a:t>
            </a:r>
            <a:r>
              <a:rPr lang="en-AU" sz="1600" u="sng" dirty="0">
                <a:solidFill>
                  <a:srgbClr val="2F5496"/>
                </a:solidFill>
                <a:effectLst/>
                <a:latin typeface="Arial"/>
                <a:ea typeface="Arial" panose="020B0604020202020204" pitchFamily="34" charset="0"/>
                <a:cs typeface="Arial"/>
                <a:hlinkClick r:id="rId4"/>
              </a:rPr>
              <a:t>K–6 Mathematics resources</a:t>
            </a:r>
            <a:r>
              <a:rPr lang="en-AU" sz="1600" dirty="0">
                <a:solidFill>
                  <a:srgbClr val="000000"/>
                </a:solidFill>
                <a:effectLst/>
                <a:latin typeface="Arial"/>
                <a:ea typeface="Arial" panose="020B0604020202020204" pitchFamily="34" charset="0"/>
                <a:cs typeface="Arial"/>
              </a:rPr>
              <a:t> by the State of New South Wales (Department of Education).</a:t>
            </a: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600" dirty="0">
              <a:solidFill>
                <a:srgbClr val="000000"/>
              </a:solidFill>
              <a:effectLst/>
              <a:latin typeface="Arial"/>
              <a:ea typeface="Calibri" panose="020F0502020204030204" pitchFamily="34" charset="0"/>
              <a:cs typeface="Arial"/>
            </a:endParaRPr>
          </a:p>
          <a:p>
            <a:pPr algn="l">
              <a:lnSpc>
                <a:spcPct val="150000"/>
              </a:lnSpc>
            </a:pPr>
            <a:r>
              <a:rPr lang="en-AU" sz="1600" b="1" dirty="0">
                <a:latin typeface="Arial" panose="020B0604020202020204" pitchFamily="34" charset="0"/>
                <a:cs typeface="Arial" panose="020B0604020202020204" pitchFamily="34" charset="0"/>
              </a:rPr>
              <a:t>Aim of the game</a:t>
            </a:r>
          </a:p>
          <a:p>
            <a:pPr algn="l">
              <a:lnSpc>
                <a:spcPct val="150000"/>
              </a:lnSpc>
            </a:pPr>
            <a:r>
              <a:rPr lang="en-AU" sz="1600" dirty="0">
                <a:latin typeface="Arial" panose="020B0604020202020204" pitchFamily="34" charset="0"/>
                <a:cs typeface="Arial" panose="020B0604020202020204" pitchFamily="34" charset="0"/>
              </a:rPr>
              <a:t>Use multiples of 10 to reach a target number</a:t>
            </a: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600" dirty="0">
              <a:effectLst/>
              <a:latin typeface="Arial"/>
              <a:ea typeface="Calibri" panose="020F0502020204030204" pitchFamily="34" charset="0"/>
              <a:cs typeface="Arial"/>
            </a:endParaRPr>
          </a:p>
          <a:p>
            <a:pPr marL="0" lvl="0" indent="0">
              <a:lnSpc>
                <a:spcPct val="150000"/>
              </a:lnSpc>
              <a:spcBef>
                <a:spcPts val="1200"/>
              </a:spcBef>
              <a:spcAft>
                <a:spcPts val="600"/>
              </a:spcAft>
              <a:buFont typeface="+mj-lt"/>
              <a:buNone/>
            </a:pPr>
            <a:r>
              <a:rPr lang="en-AU" b="0" i="0" dirty="0">
                <a:solidFill>
                  <a:srgbClr val="000000"/>
                </a:solidFill>
                <a:effectLst/>
                <a:latin typeface="Times New Roman"/>
                <a:cs typeface="Times New Roman"/>
              </a:rPr>
              <a:t> </a:t>
            </a:r>
          </a:p>
          <a:p>
            <a:pPr marL="342900" lvl="0" indent="-342900">
              <a:lnSpc>
                <a:spcPct val="150000"/>
              </a:lnSpc>
              <a:spcBef>
                <a:spcPts val="1200"/>
              </a:spcBef>
              <a:spcAft>
                <a:spcPts val="600"/>
              </a:spcAft>
              <a:buFont typeface="+mj-lt"/>
              <a:buAutoNum type="arabicPeriod"/>
            </a:pPr>
            <a:r>
              <a:rPr lang="en-AU" sz="1600" dirty="0">
                <a:effectLst/>
                <a:latin typeface="Arial"/>
                <a:ea typeface="Calibri"/>
                <a:cs typeface="Arial"/>
              </a:rPr>
              <a:t>In pairs, students roll a 6-sided die 5 times. Each time, the number rolled is multiplied by 10. The totals are then added together to determine a target number.</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Ask students how they know that the target number is a multiple of 10.</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Explain that the object of the game is to be the person who gets to the target number first.</a:t>
            </a:r>
          </a:p>
          <a:p>
            <a:pPr marL="342900" lvl="0" indent="-342900">
              <a:lnSpc>
                <a:spcPct val="150000"/>
              </a:lnSpc>
              <a:spcBef>
                <a:spcPts val="1200"/>
              </a:spcBef>
              <a:spcAft>
                <a:spcPts val="600"/>
              </a:spcAft>
              <a:buFont typeface="+mj-lt"/>
              <a:buAutoNum type="arabicPeriod"/>
            </a:pPr>
            <a:r>
              <a:rPr lang="en-AU" sz="1600" dirty="0">
                <a:solidFill>
                  <a:srgbClr val="000000"/>
                </a:solidFill>
                <a:effectLst/>
                <a:latin typeface="Arial" panose="020B0604020202020204" pitchFamily="34" charset="0"/>
                <a:ea typeface="Arial" panose="020B0604020202020204" pitchFamily="34" charset="0"/>
              </a:rPr>
              <a:t>Starting at zero, players take turns to roll the die and count on in tens. For example, player A rolls a 5 and counts by 10 five times; 10, 20, 30, 40, 50. Player B rolls a 2 and counts 60, 70. This continues until an exact throw is rolled to land on the target number.</a:t>
            </a:r>
            <a:endParaRPr lang="en-AU" sz="1600" dirty="0">
              <a:effectLst/>
              <a:latin typeface="Arial" panose="020B0604020202020204" pitchFamily="34" charset="0"/>
              <a:ea typeface="Calibri" panose="020F0502020204030204" pitchFamily="34" charset="0"/>
            </a:endParaRPr>
          </a:p>
          <a:p>
            <a:pPr marL="342900" indent="-342900">
              <a:lnSpc>
                <a:spcPct val="150000"/>
              </a:lnSpc>
              <a:spcBef>
                <a:spcPts val="1200"/>
              </a:spcBef>
              <a:spcAft>
                <a:spcPts val="600"/>
              </a:spcAft>
              <a:buAutoNum type="arabicPeriod"/>
            </a:pPr>
            <a:r>
              <a:rPr lang="en-AU" dirty="0">
                <a:solidFill>
                  <a:srgbClr val="000000"/>
                </a:solidFill>
              </a:rPr>
              <a:t>Pairs record their dice throw and counting on each turn.</a:t>
            </a:r>
            <a:endParaRPr lang="en-AU" sz="1600" dirty="0">
              <a:solidFill>
                <a:srgbClr val="000000"/>
              </a:solidFill>
              <a:effectLst/>
              <a:latin typeface="Arial" panose="020B0604020202020204" pitchFamily="34" charset="0"/>
              <a:ea typeface="Arial" panose="020B0604020202020204" pitchFamily="34" charset="0"/>
            </a:endParaRPr>
          </a:p>
          <a:p>
            <a:pPr marL="342900" indent="-342900">
              <a:lnSpc>
                <a:spcPct val="150000"/>
              </a:lnSpc>
              <a:spcBef>
                <a:spcPts val="1200"/>
              </a:spcBef>
              <a:spcAft>
                <a:spcPts val="600"/>
              </a:spcAft>
              <a:buAutoNum type="arabicPeriod"/>
            </a:pPr>
            <a:endParaRPr lang="en-AU" dirty="0">
              <a:solidFill>
                <a:srgbClr val="000000"/>
              </a:solidFill>
              <a:ea typeface="Arial" panose="020B0604020202020204" pitchFamily="34" charset="0"/>
            </a:endParaRPr>
          </a:p>
          <a:p>
            <a:endParaRPr lang="en-AU" dirty="0">
              <a:solidFill>
                <a:srgbClr val="000000"/>
              </a:solidFill>
              <a:ea typeface="Arial" panose="020B0604020202020204" pitchFamily="34" charset="0"/>
            </a:endParaRPr>
          </a:p>
          <a:p>
            <a:r>
              <a:rPr lang="en-AU" sz="1600" dirty="0">
                <a:solidFill>
                  <a:srgbClr val="000000"/>
                </a:solidFill>
                <a:effectLst/>
                <a:latin typeface="Arial"/>
                <a:ea typeface="Arial" panose="020B0604020202020204" pitchFamily="34" charset="0"/>
                <a:cs typeface="Arial"/>
              </a:rPr>
              <a:t> </a:t>
            </a:r>
            <a:endParaRPr lang="en-AU" dirty="0">
              <a:latin typeface="Arial"/>
              <a:cs typeface="Arial"/>
            </a:endParaRP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681567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2A6A-A537-2684-3DC6-6B2CBA91A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59A8F-7FF0-FE0A-55C5-2A6743501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C14D8-4139-71D2-12ED-08D57C74B1BF}"/>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2EEAEB-0620-D005-D6F8-35D0708D1B9A}"/>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41085953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CC2A0-F078-F2D0-D22D-5359ECD4C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2A2BB-1098-F964-0992-DA2AF0D7E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BD5CA-F0C7-EEFD-380B-434BBFD64C3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p>
        </p:txBody>
      </p:sp>
      <p:sp>
        <p:nvSpPr>
          <p:cNvPr id="4" name="Slide Number Placeholder 3">
            <a:extLst>
              <a:ext uri="{FF2B5EF4-FFF2-40B4-BE49-F238E27FC236}">
                <a16:creationId xmlns:a16="http://schemas.microsoft.com/office/drawing/2014/main" id="{1120A816-92C6-D8D9-8A88-1A1EF0B6FFB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8683083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Multiplicative relations B</a:t>
            </a:r>
          </a:p>
          <a:p>
            <a:endParaRPr lang="en-AU" sz="1800"/>
          </a:p>
          <a:p>
            <a:r>
              <a:rPr lang="en-AU" sz="1800" b="1"/>
              <a:t>Activity 6 – multiples madness</a:t>
            </a:r>
          </a:p>
          <a:p>
            <a:r>
              <a:rPr lang="en-AU" sz="1800" b="0"/>
              <a:t>This resource corresponds to Resource 16 – multiples madness gameboard in Stage 2 Year B Unit 29. </a:t>
            </a:r>
          </a:p>
          <a:p>
            <a:pPr>
              <a:lnSpc>
                <a:spcPct val="150000"/>
              </a:lnSpc>
              <a:spcBef>
                <a:spcPts val="1200"/>
              </a:spcBef>
              <a:spcAft>
                <a:spcPts val="600"/>
              </a:spcAft>
            </a:pPr>
            <a:endParaRPr lang="en-AU" sz="1800">
              <a:solidFill>
                <a:srgbClr val="000000"/>
              </a:solidFill>
              <a:effectLst/>
              <a:latin typeface="Arial"/>
              <a:ea typeface="Arial" panose="020B0604020202020204" pitchFamily="34" charset="0"/>
              <a:cs typeface="Arial"/>
            </a:endParaRPr>
          </a:p>
          <a:p>
            <a:pPr>
              <a:lnSpc>
                <a:spcPct val="150000"/>
              </a:lnSpc>
              <a:spcBef>
                <a:spcPts val="1200"/>
              </a:spcBef>
              <a:spcAft>
                <a:spcPts val="600"/>
              </a:spcAft>
            </a:pPr>
            <a:r>
              <a:rPr lang="en-AU" sz="1800">
                <a:solidFill>
                  <a:srgbClr val="000000"/>
                </a:solidFill>
                <a:effectLst/>
                <a:latin typeface="Arial"/>
                <a:ea typeface="Arial" panose="020B0604020202020204" pitchFamily="34" charset="0"/>
                <a:cs typeface="Arial"/>
              </a:rPr>
              <a:t>This activity is an adaptation of </a:t>
            </a:r>
            <a:r>
              <a:rPr lang="en-AU" sz="1800">
                <a:solidFill>
                  <a:srgbClr val="000000"/>
                </a:solidFill>
                <a:effectLst/>
                <a:latin typeface="Arial"/>
                <a:ea typeface="Arial" panose="020B0604020202020204" pitchFamily="34" charset="0"/>
                <a:cs typeface="Arial"/>
                <a:hlinkClick r:id="rId3"/>
              </a:rPr>
              <a:t>‘</a:t>
            </a:r>
            <a:r>
              <a:rPr lang="en-AU" sz="1800" u="sng">
                <a:solidFill>
                  <a:srgbClr val="2F5496"/>
                </a:solidFill>
                <a:effectLst/>
                <a:latin typeface="Arial"/>
                <a:ea typeface="Arial" panose="020B0604020202020204" pitchFamily="34" charset="0"/>
                <a:cs typeface="Arial"/>
                <a:hlinkClick r:id="rId3"/>
              </a:rPr>
              <a:t>Multiples madness (fives)</a:t>
            </a:r>
            <a:r>
              <a:rPr lang="en-AU" sz="1800">
                <a:solidFill>
                  <a:srgbClr val="000000"/>
                </a:solidFill>
                <a:effectLst/>
                <a:latin typeface="Arial"/>
                <a:ea typeface="Arial" panose="020B0604020202020204" pitchFamily="34" charset="0"/>
                <a:cs typeface="Arial"/>
              </a:rPr>
              <a:t>’ at </a:t>
            </a:r>
            <a:r>
              <a:rPr lang="en-AU" sz="1800" u="sng">
                <a:solidFill>
                  <a:srgbClr val="2F5496"/>
                </a:solidFill>
                <a:effectLst/>
                <a:latin typeface="Arial"/>
                <a:ea typeface="Arial" panose="020B0604020202020204" pitchFamily="34" charset="0"/>
                <a:cs typeface="Arial"/>
                <a:hlinkClick r:id="rId4"/>
              </a:rPr>
              <a:t>Mathematics K–6 resources</a:t>
            </a:r>
            <a:r>
              <a:rPr lang="en-AU" sz="1800">
                <a:solidFill>
                  <a:srgbClr val="000000"/>
                </a:solidFill>
                <a:effectLst/>
                <a:latin typeface="Arial"/>
                <a:ea typeface="Arial" panose="020B0604020202020204" pitchFamily="34" charset="0"/>
                <a:cs typeface="Arial"/>
              </a:rPr>
              <a:t> by the State of New South Wales (Department of Education).</a:t>
            </a:r>
            <a:endParaRPr lang="en-AU" sz="1800">
              <a:effectLst/>
              <a:latin typeface="Arial"/>
              <a:ea typeface="Calibri" panose="020F0502020204030204" pitchFamily="34" charset="0"/>
              <a:cs typeface="Arial"/>
            </a:endParaRPr>
          </a:p>
          <a:p>
            <a:pPr marL="0" lvl="0" indent="0">
              <a:lnSpc>
                <a:spcPct val="150000"/>
              </a:lnSpc>
              <a:spcBef>
                <a:spcPts val="1200"/>
              </a:spcBef>
              <a:spcAft>
                <a:spcPts val="600"/>
              </a:spcAft>
              <a:buFont typeface="+mj-lt"/>
              <a:buNone/>
            </a:pPr>
            <a:r>
              <a:rPr lang="en-AU" b="0" i="0">
                <a:solidFill>
                  <a:srgbClr val="000000"/>
                </a:solidFill>
                <a:effectLst/>
                <a:latin typeface="Times New Roman"/>
                <a:cs typeface="Times New Roman"/>
              </a:rPr>
              <a:t> </a:t>
            </a:r>
          </a:p>
          <a:p>
            <a:pPr>
              <a:lnSpc>
                <a:spcPct val="150000"/>
              </a:lnSpc>
            </a:pPr>
            <a:r>
              <a:rPr lang="en-AU" b="1">
                <a:solidFill>
                  <a:srgbClr val="22272B"/>
                </a:solidFill>
              </a:rPr>
              <a:t>Aim of the game</a:t>
            </a:r>
            <a:endParaRPr lang="en-US">
              <a:solidFill>
                <a:srgbClr val="22272B"/>
              </a:solidFill>
            </a:endParaRPr>
          </a:p>
          <a:p>
            <a:pPr>
              <a:lnSpc>
                <a:spcPct val="150000"/>
              </a:lnSpc>
            </a:pPr>
            <a:r>
              <a:rPr lang="en-AU">
                <a:solidFill>
                  <a:srgbClr val="22272B"/>
                </a:solidFill>
                <a:latin typeface="Arial"/>
                <a:cs typeface="Arial"/>
              </a:rPr>
              <a:t>Multiply numbers by 10 to get 3 counters in a row on a gameboard.</a:t>
            </a:r>
            <a:endParaRPr lang="en-US">
              <a:solidFill>
                <a:srgbClr val="22272B"/>
              </a:solidFill>
            </a:endParaRPr>
          </a:p>
          <a:p>
            <a:pPr>
              <a:lnSpc>
                <a:spcPct val="150000"/>
              </a:lnSpc>
            </a:pPr>
            <a:endParaRPr lang="en-AU">
              <a:solidFill>
                <a:srgbClr val="22272B"/>
              </a:solidFill>
              <a:latin typeface="Arial"/>
              <a:ea typeface="Arial" panose="020B0604020202020204" pitchFamily="34" charset="0"/>
              <a:cs typeface="Arial"/>
            </a:endParaRPr>
          </a:p>
          <a:p>
            <a:pPr>
              <a:lnSpc>
                <a:spcPct val="150000"/>
              </a:lnSpc>
            </a:pPr>
            <a:r>
              <a:rPr lang="en-AU" b="1">
                <a:solidFill>
                  <a:srgbClr val="22272B"/>
                </a:solidFill>
                <a:latin typeface="Arial"/>
                <a:cs typeface="Arial"/>
              </a:rPr>
              <a:t>Rules:</a:t>
            </a:r>
            <a:endParaRPr lang="en-US">
              <a:solidFill>
                <a:srgbClr val="22272B"/>
              </a:solidFill>
              <a:latin typeface="Arial"/>
              <a:cs typeface="Arial"/>
            </a:endParaRPr>
          </a:p>
          <a:p>
            <a:pPr marL="285750" indent="-285750">
              <a:lnSpc>
                <a:spcPct val="150000"/>
              </a:lnSpc>
              <a:buFont typeface="Arial,Sans-Serif"/>
              <a:buChar char="•"/>
            </a:pPr>
            <a:r>
              <a:rPr lang="en-AU">
                <a:solidFill>
                  <a:srgbClr val="22272B"/>
                </a:solidFill>
              </a:rPr>
              <a:t>in pairs, take turns to roll a dice and multiply the number by 10</a:t>
            </a:r>
            <a:endParaRPr lang="en-US">
              <a:solidFill>
                <a:srgbClr val="22272B"/>
              </a:solidFill>
            </a:endParaRPr>
          </a:p>
          <a:p>
            <a:pPr marL="285750" indent="-285750">
              <a:lnSpc>
                <a:spcPct val="150000"/>
              </a:lnSpc>
              <a:buFont typeface="Arial,Sans-Serif"/>
              <a:buChar char="•"/>
            </a:pPr>
            <a:r>
              <a:rPr lang="en-AU">
                <a:solidFill>
                  <a:srgbClr val="22272B"/>
                </a:solidFill>
              </a:rPr>
              <a:t>place one of your 3 counters over the number on your gameboard</a:t>
            </a:r>
            <a:endParaRPr lang="en-US">
              <a:solidFill>
                <a:srgbClr val="22272B"/>
              </a:solidFill>
            </a:endParaRPr>
          </a:p>
          <a:p>
            <a:pPr marL="285750" indent="-285750">
              <a:lnSpc>
                <a:spcPct val="150000"/>
              </a:lnSpc>
              <a:buFont typeface="Arial,Sans-Serif"/>
              <a:buChar char="•"/>
            </a:pPr>
            <a:r>
              <a:rPr lang="en-AU">
                <a:solidFill>
                  <a:srgbClr val="22272B"/>
                </a:solidFill>
              </a:rPr>
              <a:t>if the number is not available, miss a turn</a:t>
            </a:r>
            <a:endParaRPr lang="en-US">
              <a:solidFill>
                <a:srgbClr val="22272B"/>
              </a:solidFill>
            </a:endParaRPr>
          </a:p>
          <a:p>
            <a:pPr marL="285750" indent="-285750">
              <a:lnSpc>
                <a:spcPct val="150000"/>
              </a:lnSpc>
              <a:buFont typeface="Arial,Sans-Serif"/>
              <a:buChar char="•"/>
            </a:pPr>
            <a:r>
              <a:rPr lang="en-AU">
                <a:solidFill>
                  <a:srgbClr val="22272B"/>
                </a:solidFill>
              </a:rPr>
              <a:t>continue until you have 3 counters in a row in any orientation.</a:t>
            </a:r>
            <a:endParaRPr lang="en-US">
              <a:solidFill>
                <a:srgbClr val="22272B"/>
              </a:solidFill>
            </a:endParaRPr>
          </a:p>
          <a:p>
            <a:pPr>
              <a:lnSpc>
                <a:spcPct val="150000"/>
              </a:lnSpc>
            </a:pPr>
            <a:endParaRPr lang="en-AU">
              <a:solidFill>
                <a:srgbClr val="22272B"/>
              </a:solidFill>
              <a:latin typeface="Arial"/>
              <a:ea typeface="Arial" panose="020B0604020202020204" pitchFamily="34" charset="0"/>
              <a:cs typeface="Arial"/>
            </a:endParaRPr>
          </a:p>
          <a:p>
            <a:pPr>
              <a:lnSpc>
                <a:spcPct val="150000"/>
              </a:lnSpc>
              <a:spcBef>
                <a:spcPts val="1200"/>
              </a:spcBef>
              <a:spcAft>
                <a:spcPts val="600"/>
              </a:spcAft>
            </a:pPr>
            <a:endParaRPr lang="en-AU">
              <a:solidFill>
                <a:srgbClr val="000000"/>
              </a:solidFill>
              <a:latin typeface="Times New Roman"/>
              <a:ea typeface="Arial" panose="020B0604020202020204" pitchFamily="34" charset="0"/>
              <a:cs typeface="Times New Roman"/>
            </a:endParaRPr>
          </a:p>
          <a:p>
            <a:pPr marL="0" lvl="0" indent="0">
              <a:lnSpc>
                <a:spcPct val="150000"/>
              </a:lnSpc>
              <a:spcBef>
                <a:spcPts val="1200"/>
              </a:spcBef>
              <a:spcAft>
                <a:spcPts val="600"/>
              </a:spcAft>
              <a:buFont typeface="+mj-lt"/>
              <a:buNone/>
            </a:pPr>
            <a:r>
              <a:rPr lang="en-AU" sz="1800">
                <a:solidFill>
                  <a:srgbClr val="000000"/>
                </a:solidFill>
                <a:effectLst/>
                <a:latin typeface="Arial" panose="020B0604020202020204" pitchFamily="34" charset="0"/>
                <a:ea typeface="Arial" panose="020B0604020202020204" pitchFamily="34" charset="0"/>
              </a:rPr>
              <a:t>Support students to reflect on the activity by asking:</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Did you prefer going first or second? Why?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strategy did you use? How successful was it and why?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might the game change if you multiplied by 20?</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Would it</a:t>
            </a:r>
            <a:r>
              <a:rPr lang="en-AU" sz="1800">
                <a:solidFill>
                  <a:srgbClr val="000000"/>
                </a:solidFill>
                <a:effectLst/>
                <a:latin typeface="Arial" panose="020B0604020202020204" pitchFamily="34" charset="0"/>
                <a:ea typeface="Arial" panose="020B0604020202020204" pitchFamily="34" charset="0"/>
              </a:rPr>
              <a:t> be easier if you had more counters? Why?</a:t>
            </a:r>
            <a:endParaRPr lang="en-AU" sz="1800">
              <a:effectLst/>
              <a:latin typeface="Arial" panose="020B0604020202020204" pitchFamily="34" charset="0"/>
              <a:ea typeface="Calibri" panose="020F050202020403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24981096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FF"/>
                </a:highlight>
                <a:latin typeface="Arial"/>
                <a:cs typeface="Arial"/>
              </a:rPr>
              <a:t>Representing numbers using place value B</a:t>
            </a:r>
            <a:endParaRPr lang="en-AU">
              <a:latin typeface="Arial"/>
              <a:cs typeface="Arial"/>
            </a:endParaRP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endParaRPr lang="en-US">
              <a:solidFill>
                <a:srgbClr val="444444"/>
              </a:solidFill>
            </a:endParaRPr>
          </a:p>
          <a:p>
            <a:endParaRPr lang="en-AU">
              <a:solidFill>
                <a:srgbClr val="444444"/>
              </a:solidFill>
            </a:endParaRPr>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endParaRPr lang="en-AU">
              <a:solidFill>
                <a:srgbClr val="444444"/>
              </a:solidFill>
            </a:endParaRPr>
          </a:p>
          <a:p>
            <a:r>
              <a:rPr lang="en-AU" b="1"/>
              <a:t>Syllabus focus area:</a:t>
            </a:r>
            <a:endParaRPr lang="en-US">
              <a:solidFill>
                <a:srgbClr val="444444"/>
              </a:solidFill>
            </a:endParaRPr>
          </a:p>
          <a:p>
            <a:r>
              <a:rPr lang="en-AU">
                <a:latin typeface="Arial"/>
                <a:cs typeface="Arial"/>
              </a:rPr>
              <a:t>Representing numbers using place value B</a:t>
            </a:r>
            <a:endParaRPr lang="en-AU">
              <a:solidFill>
                <a:srgbClr val="444444"/>
              </a:solidFill>
              <a:latin typeface="Arial"/>
              <a:cs typeface="Arial"/>
            </a:endParaRPr>
          </a:p>
          <a:p>
            <a:endParaRPr lang="en-AU">
              <a:solidFill>
                <a:srgbClr val="444444"/>
              </a:solidFill>
            </a:endParaRPr>
          </a:p>
          <a:p>
            <a:endParaRPr lang="en-AU">
              <a:solidFill>
                <a:srgbClr val="444444"/>
              </a:solidFill>
            </a:endParaRPr>
          </a:p>
          <a:p>
            <a:r>
              <a:rPr lang="en-AU" b="1"/>
              <a:t>Activity 7</a:t>
            </a:r>
            <a:endParaRPr lang="en-US">
              <a:solidFill>
                <a:srgbClr val="444444"/>
              </a:solidFill>
            </a:endParaRPr>
          </a:p>
          <a:p>
            <a:r>
              <a:rPr lang="en-AU"/>
              <a:t>This resource corresponds to Resource 17 – multiplying multiples in Stage 2 Year B Unit 29. </a:t>
            </a:r>
            <a:endParaRPr lang="en-US">
              <a:solidFill>
                <a:srgbClr val="444444"/>
              </a:solidFill>
            </a:endParaRPr>
          </a:p>
          <a:p>
            <a:endParaRPr lang="en-AU">
              <a:solidFill>
                <a:srgbClr val="444444"/>
              </a:solidFill>
            </a:endParaRPr>
          </a:p>
          <a:p>
            <a:pPr>
              <a:lnSpc>
                <a:spcPct val="150000"/>
              </a:lnSpc>
              <a:spcBef>
                <a:spcPts val="1200"/>
              </a:spcBef>
              <a:spcAft>
                <a:spcPts val="600"/>
              </a:spcAft>
            </a:pPr>
            <a:r>
              <a:rPr lang="en-AU">
                <a:latin typeface="Arial"/>
                <a:cs typeface="Arial"/>
              </a:rPr>
              <a:t>Provide pairs of students with a 10-sided die and 2 copies of Resource 17 – multiplying multiples </a:t>
            </a:r>
            <a:endParaRPr lang="en-AU">
              <a:solidFill>
                <a:srgbClr val="444444"/>
              </a:solidFill>
            </a:endParaRPr>
          </a:p>
          <a:p>
            <a:pPr>
              <a:lnSpc>
                <a:spcPct val="150000"/>
              </a:lnSpc>
              <a:spcBef>
                <a:spcPts val="1200"/>
              </a:spcBef>
              <a:spcAft>
                <a:spcPts val="600"/>
              </a:spcAft>
            </a:pPr>
            <a:endParaRPr lang="en-AU">
              <a:latin typeface="Arial"/>
              <a:cs typeface="Arial"/>
            </a:endParaRPr>
          </a:p>
          <a:p>
            <a:pPr>
              <a:lnSpc>
                <a:spcPct val="150000"/>
              </a:lnSpc>
            </a:pPr>
            <a:r>
              <a:rPr lang="en-AU" b="1">
                <a:solidFill>
                  <a:srgbClr val="22272B"/>
                </a:solidFill>
              </a:rPr>
              <a:t>Aim of the game</a:t>
            </a:r>
            <a:endParaRPr lang="en-US">
              <a:solidFill>
                <a:srgbClr val="22272B"/>
              </a:solidFill>
            </a:endParaRPr>
          </a:p>
          <a:p>
            <a:pPr>
              <a:lnSpc>
                <a:spcPct val="150000"/>
              </a:lnSpc>
            </a:pPr>
            <a:r>
              <a:rPr lang="en-AU">
                <a:solidFill>
                  <a:srgbClr val="22272B"/>
                </a:solidFill>
              </a:rPr>
              <a:t>Place the product of dice rolls in ascending order.</a:t>
            </a:r>
            <a:endParaRPr lang="en-US">
              <a:solidFill>
                <a:srgbClr val="22272B"/>
              </a:solidFill>
            </a:endParaRPr>
          </a:p>
          <a:p>
            <a:pPr>
              <a:lnSpc>
                <a:spcPct val="150000"/>
              </a:lnSpc>
            </a:pPr>
            <a:endParaRPr lang="en-AU">
              <a:solidFill>
                <a:srgbClr val="22272B"/>
              </a:solidFill>
              <a:latin typeface="Arial"/>
              <a:cs typeface="Arial"/>
            </a:endParaRPr>
          </a:p>
          <a:p>
            <a:pPr>
              <a:lnSpc>
                <a:spcPct val="150000"/>
              </a:lnSpc>
            </a:pPr>
            <a:r>
              <a:rPr lang="en-AU" b="1">
                <a:solidFill>
                  <a:srgbClr val="22272B"/>
                </a:solidFill>
              </a:rPr>
              <a:t>Rules:</a:t>
            </a:r>
            <a:endParaRPr lang="en-US">
              <a:solidFill>
                <a:srgbClr val="22272B"/>
              </a:solidFill>
            </a:endParaRPr>
          </a:p>
          <a:p>
            <a:pPr marL="342900" indent="-342900">
              <a:lnSpc>
                <a:spcPct val="150000"/>
              </a:lnSpc>
              <a:buFont typeface="Arial"/>
              <a:buChar char="•"/>
            </a:pPr>
            <a:r>
              <a:rPr lang="en-AU">
                <a:solidFill>
                  <a:srgbClr val="22272B"/>
                </a:solidFill>
              </a:rPr>
              <a:t>in pairs, take turns to roll a dice twice</a:t>
            </a:r>
            <a:endParaRPr lang="en-US">
              <a:solidFill>
                <a:srgbClr val="22272B"/>
              </a:solidFill>
            </a:endParaRPr>
          </a:p>
          <a:p>
            <a:pPr marL="342900" indent="-342900">
              <a:lnSpc>
                <a:spcPct val="150000"/>
              </a:lnSpc>
              <a:buFont typeface="Arial"/>
              <a:buChar char="•"/>
            </a:pPr>
            <a:r>
              <a:rPr lang="en-AU">
                <a:solidFill>
                  <a:srgbClr val="22272B"/>
                </a:solidFill>
              </a:rPr>
              <a:t>the first number is the multiplier and the second becomes a multiple of 10 </a:t>
            </a:r>
            <a:endParaRPr lang="en-US">
              <a:solidFill>
                <a:srgbClr val="22272B"/>
              </a:solidFill>
            </a:endParaRPr>
          </a:p>
          <a:p>
            <a:pPr marL="342900" indent="-342900">
              <a:lnSpc>
                <a:spcPct val="150000"/>
              </a:lnSpc>
              <a:buFont typeface="Arial"/>
              <a:buChar char="•"/>
            </a:pPr>
            <a:r>
              <a:rPr lang="en-AU">
                <a:solidFill>
                  <a:srgbClr val="22272B"/>
                </a:solidFill>
              </a:rPr>
              <a:t>multiply these 2 numbers</a:t>
            </a:r>
            <a:endParaRPr lang="en-US">
              <a:solidFill>
                <a:srgbClr val="22272B"/>
              </a:solidFill>
            </a:endParaRPr>
          </a:p>
          <a:p>
            <a:pPr marL="342900" indent="-342900">
              <a:lnSpc>
                <a:spcPct val="150000"/>
              </a:lnSpc>
              <a:buFont typeface="Arial"/>
              <a:buChar char="•"/>
            </a:pPr>
            <a:r>
              <a:rPr lang="en-AU">
                <a:solidFill>
                  <a:srgbClr val="22272B"/>
                </a:solidFill>
              </a:rPr>
              <a:t>decide where to place your number on the multiplying multiples gameboard. The aim is to have the final products in ascending order after 5 turns. </a:t>
            </a:r>
            <a:endParaRPr lang="en-US">
              <a:solidFill>
                <a:srgbClr val="22272B"/>
              </a:solidFill>
            </a:endParaRPr>
          </a:p>
          <a:p>
            <a:pPr marL="342900" indent="-342900">
              <a:lnSpc>
                <a:spcPct val="150000"/>
              </a:lnSpc>
              <a:buFont typeface="Arial"/>
              <a:buChar char="•"/>
            </a:pPr>
            <a:r>
              <a:rPr lang="en-AU">
                <a:solidFill>
                  <a:srgbClr val="22272B"/>
                </a:solidFill>
              </a:rPr>
              <a:t>At the end of the game, score a point for each correct placement.</a:t>
            </a:r>
            <a:endParaRPr lang="en-AU"/>
          </a:p>
          <a:p>
            <a:pPr>
              <a:lnSpc>
                <a:spcPct val="150000"/>
              </a:lnSpc>
              <a:spcBef>
                <a:spcPts val="1200"/>
              </a:spcBef>
              <a:spcAft>
                <a:spcPts val="600"/>
              </a:spcAft>
            </a:pPr>
            <a:endParaRPr lang="en-AU">
              <a:latin typeface="Arial"/>
              <a:cs typeface="Arial"/>
            </a:endParaRPr>
          </a:p>
          <a:p>
            <a:pPr>
              <a:lnSpc>
                <a:spcPct val="150000"/>
              </a:lnSpc>
              <a:spcBef>
                <a:spcPts val="1200"/>
              </a:spcBef>
              <a:spcAft>
                <a:spcPts val="600"/>
              </a:spcAft>
            </a:pPr>
            <a:endParaRPr lang="en-AU">
              <a:latin typeface="Arial"/>
              <a:cs typeface="Arial"/>
            </a:endParaRPr>
          </a:p>
          <a:p>
            <a:pPr>
              <a:lnSpc>
                <a:spcPct val="150000"/>
              </a:lnSpc>
              <a:spcBef>
                <a:spcPts val="1200"/>
              </a:spcBef>
              <a:spcAft>
                <a:spcPts val="600"/>
              </a:spcAft>
            </a:pPr>
            <a:r>
              <a:rPr lang="en-AU"/>
              <a:t>When students have played the game, encourage reflection by asking:</a:t>
            </a:r>
            <a:endParaRPr lang="en-US">
              <a:solidFill>
                <a:srgbClr val="444444"/>
              </a:solidFill>
            </a:endParaRPr>
          </a:p>
          <a:p>
            <a:pPr marL="342900" indent="-342900">
              <a:lnSpc>
                <a:spcPct val="150000"/>
              </a:lnSpc>
              <a:spcBef>
                <a:spcPts val="1200"/>
              </a:spcBef>
              <a:spcAft>
                <a:spcPts val="600"/>
              </a:spcAft>
              <a:buFont typeface="Arial"/>
              <a:buChar char="•"/>
            </a:pPr>
            <a:r>
              <a:rPr lang="en-AU"/>
              <a:t>How did you decide where to place each answer?</a:t>
            </a:r>
            <a:endParaRPr lang="en-US">
              <a:solidFill>
                <a:srgbClr val="444444"/>
              </a:solidFill>
            </a:endParaRPr>
          </a:p>
          <a:p>
            <a:pPr marL="342900" indent="-342900">
              <a:lnSpc>
                <a:spcPct val="150000"/>
              </a:lnSpc>
              <a:spcBef>
                <a:spcPts val="1200"/>
              </a:spcBef>
              <a:spcAft>
                <a:spcPts val="600"/>
              </a:spcAft>
              <a:buFont typeface="Arial"/>
              <a:buChar char="•"/>
            </a:pPr>
            <a:r>
              <a:rPr lang="en-AU"/>
              <a:t>Did you change your strategy after the first round? Why or why not?</a:t>
            </a:r>
            <a:endParaRPr lang="en-US">
              <a:solidFill>
                <a:srgbClr val="444444"/>
              </a:solidFill>
            </a:endParaRPr>
          </a:p>
          <a:p>
            <a:pPr marL="342900" indent="-342900">
              <a:lnSpc>
                <a:spcPct val="150000"/>
              </a:lnSpc>
              <a:spcBef>
                <a:spcPts val="1200"/>
              </a:spcBef>
              <a:spcAft>
                <a:spcPts val="600"/>
              </a:spcAft>
              <a:buFont typeface="Arial"/>
              <a:buChar char="•"/>
            </a:pPr>
            <a:r>
              <a:rPr lang="en-AU"/>
              <a:t>What modifications could you suggest for the game?</a:t>
            </a:r>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8482202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p>
          <a:p>
            <a:pPr>
              <a:defRPr/>
            </a:pPr>
            <a:r>
              <a:rPr lang="en-AU">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Three-dimensional spatial structure B</a:t>
            </a: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Representing number using place value B</a:t>
            </a:r>
          </a:p>
          <a:p>
            <a:endParaRPr lang="en-AU" dirty="0"/>
          </a:p>
          <a:p>
            <a:r>
              <a:rPr lang="en-AU" b="1" dirty="0">
                <a:latin typeface="Arial"/>
                <a:cs typeface="Arial"/>
              </a:rPr>
              <a:t>Activity 8</a:t>
            </a:r>
            <a:endParaRPr lang="en-AU" b="1" dirty="0"/>
          </a:p>
          <a:p>
            <a:r>
              <a:rPr lang="en-AU" b="0" dirty="0">
                <a:latin typeface="Arial"/>
                <a:cs typeface="Arial"/>
              </a:rPr>
              <a:t>This resource corresponds to Resource </a:t>
            </a:r>
            <a:r>
              <a:rPr lang="en-AU" dirty="0">
                <a:latin typeface="Arial"/>
                <a:cs typeface="Arial"/>
              </a:rPr>
              <a:t>18 </a:t>
            </a:r>
            <a:r>
              <a:rPr lang="en-AU" b="0" dirty="0">
                <a:latin typeface="Arial"/>
                <a:cs typeface="Arial"/>
              </a:rPr>
              <a:t>– </a:t>
            </a:r>
            <a:r>
              <a:rPr lang="en-AU" dirty="0">
                <a:latin typeface="Arial"/>
                <a:cs typeface="Arial"/>
              </a:rPr>
              <a:t>favourite transport in</a:t>
            </a:r>
            <a:r>
              <a:rPr lang="en-AU" b="0" dirty="0">
                <a:latin typeface="Arial"/>
                <a:cs typeface="Arial"/>
              </a:rPr>
              <a:t> Stage </a:t>
            </a:r>
            <a:r>
              <a:rPr lang="en-AU" dirty="0">
                <a:latin typeface="Arial"/>
                <a:cs typeface="Arial"/>
              </a:rPr>
              <a:t>2 Year</a:t>
            </a:r>
            <a:r>
              <a:rPr lang="en-AU" b="0" dirty="0">
                <a:latin typeface="Arial"/>
                <a:cs typeface="Arial"/>
              </a:rPr>
              <a:t> B Unit </a:t>
            </a:r>
            <a:r>
              <a:rPr lang="en-AU" dirty="0">
                <a:latin typeface="Arial"/>
                <a:cs typeface="Arial"/>
              </a:rPr>
              <a:t>29</a:t>
            </a:r>
            <a:r>
              <a:rPr lang="en-AU" b="0" dirty="0">
                <a:latin typeface="Arial"/>
                <a:cs typeface="Arial"/>
              </a:rPr>
              <a:t>.</a:t>
            </a:r>
            <a:endParaRPr lang="en-AU" dirty="0">
              <a:latin typeface="Arial"/>
              <a:cs typeface="Arial"/>
            </a:endParaRPr>
          </a:p>
          <a:p>
            <a:endParaRPr lang="en-AU" dirty="0">
              <a:latin typeface="Arial"/>
              <a:cs typeface="Arial"/>
            </a:endParaRPr>
          </a:p>
          <a:p>
            <a:pPr marL="285750" indent="-285750">
              <a:buFont typeface="Arial"/>
              <a:buChar char="•"/>
            </a:pPr>
            <a:r>
              <a:rPr lang="en-AU" dirty="0">
                <a:latin typeface="Arial"/>
                <a:cs typeface="Arial"/>
              </a:rPr>
              <a:t>Cut  Resource 18 – favourite transport into individual cards</a:t>
            </a:r>
          </a:p>
          <a:p>
            <a:pPr marL="285750" indent="-285750">
              <a:buFont typeface="Arial"/>
              <a:buChar char="•"/>
            </a:pPr>
            <a:r>
              <a:rPr lang="en-AU" dirty="0"/>
              <a:t>Show a few cards and read the numbers aloud with the class.</a:t>
            </a:r>
          </a:p>
          <a:p>
            <a:pPr marL="285750" indent="-285750">
              <a:buFont typeface="Arial"/>
              <a:buChar char="•"/>
            </a:pPr>
            <a:r>
              <a:rPr lang="en-AU" dirty="0">
                <a:latin typeface="Arial"/>
                <a:cs typeface="Arial"/>
              </a:rPr>
              <a:t>Ask students to identify the place value of digits (e.g., “What does the 4 represent in 4,875?”).</a:t>
            </a:r>
          </a:p>
          <a:p>
            <a:pPr marL="285750" indent="-285750">
              <a:buFont typeface="Arial"/>
              <a:buChar char="•"/>
            </a:pPr>
            <a:r>
              <a:rPr lang="en-AU" dirty="0"/>
              <a:t>Divide students into small groups and give each group a set of cards.</a:t>
            </a:r>
          </a:p>
          <a:p>
            <a:pPr marL="285750" indent="-285750">
              <a:buFont typeface="Arial"/>
              <a:buChar char="•"/>
            </a:pPr>
            <a:r>
              <a:rPr lang="en-AU" dirty="0"/>
              <a:t>Instruct groups to:</a:t>
            </a:r>
          </a:p>
          <a:p>
            <a:pPr marL="894715" lvl="1" indent="-285750">
              <a:buFont typeface="Arial"/>
              <a:buChar char="•"/>
            </a:pPr>
            <a:r>
              <a:rPr lang="en-AU" dirty="0"/>
              <a:t>read each number aloud together.</a:t>
            </a:r>
          </a:p>
          <a:p>
            <a:pPr marL="894715" lvl="1" indent="-285750">
              <a:buFont typeface="Arial"/>
              <a:buChar char="•"/>
            </a:pPr>
            <a:r>
              <a:rPr lang="en-AU" dirty="0"/>
              <a:t>arrange the numbers in ascending order (smallest to largest).</a:t>
            </a:r>
          </a:p>
          <a:p>
            <a:pPr marL="894715" lvl="1" indent="-285750">
              <a:buFont typeface="Arial"/>
              <a:buChar char="•"/>
            </a:pPr>
            <a:r>
              <a:rPr lang="en-AU" dirty="0"/>
              <a:t>rearrange them in descending order (largest to smallest).</a:t>
            </a:r>
          </a:p>
          <a:p>
            <a:pPr marL="285750" indent="-285750">
              <a:buFont typeface="Arial"/>
              <a:buChar char="•"/>
            </a:pPr>
            <a:r>
              <a:rPr lang="en-AU" dirty="0"/>
              <a:t>Regroup class and invite groups to read their sequences aloud and ask: “How did you decide which came first? What did you look at?”</a:t>
            </a:r>
          </a:p>
          <a:p>
            <a:pPr marL="285750" indent="-285750">
              <a:buFont typeface="Arial"/>
              <a:buChar char="•"/>
            </a:pPr>
            <a:r>
              <a:rPr lang="en-AU" dirty="0"/>
              <a:t>Discuss strategies (compare thousands first, then hundreds, etc.).</a:t>
            </a:r>
          </a:p>
          <a:p>
            <a:endParaRPr lang="en-AU" dirty="0">
              <a:latin typeface="Arial"/>
              <a:cs typeface="Arial"/>
            </a:endParaRPr>
          </a:p>
          <a:p>
            <a:endParaRPr lang="en-AU" dirty="0">
              <a:latin typeface="Arial"/>
              <a:cs typeface="Arial"/>
            </a:endParaRPr>
          </a:p>
          <a:p>
            <a:endParaRPr lang="en-AU" dirty="0">
              <a:latin typeface="Arial"/>
              <a:cs typeface="Arial"/>
            </a:endParaRPr>
          </a:p>
          <a:p>
            <a:endParaRPr lang="en-AU" dirty="0">
              <a:latin typeface="Arial"/>
              <a:cs typeface="Arial"/>
            </a:endParaRPr>
          </a:p>
          <a:p>
            <a:r>
              <a:rPr lang="en-AU" dirty="0">
                <a:latin typeface="Arial"/>
                <a:cs typeface="Arial"/>
              </a:rPr>
              <a:t> </a:t>
            </a:r>
            <a:endParaRPr lang="en-AU"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C691-50F0-EF05-F7DE-14BA226E1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9FBB2-702A-822F-96D6-E95A4EDD5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A879D-1952-690D-EE1A-C18208E2AE9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6F9AF49-E36F-1C76-4204-A5F1D6CC6517}"/>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1421492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7.png"/><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4.png"/><Relationship Id="rId5" Type="http://schemas.microsoft.com/office/2007/relationships/hdphoto" Target="../media/hdphoto2.wdp"/><Relationship Id="rId4" Type="http://schemas.openxmlformats.org/officeDocument/2006/relationships/image" Target="../media/image23.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png"/><Relationship Id="rId7" Type="http://schemas.openxmlformats.org/officeDocument/2006/relationships/image" Target="../media/image34.sv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australiancurriculum.edu.au/resources/national-literacy-and-numeracy-learning-progressions/version-3-of-national-literacy-and-numeracy-learning-progressions/" TargetMode="External"/><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mathematics/mathematics-curriculum-resources-k-12/thinking-mathematically-resources/mathematics-s2-multiples-madnes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thinking-mathematically-resources/mathematics-s1-s2-counting-game-by-multiples-of-10"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nrich.maths.org/10426" TargetMode="External"/><Relationship Id="rId2" Type="http://schemas.openxmlformats.org/officeDocument/2006/relationships/notesSlide" Target="../notesSlides/notesSlide61.xml"/><Relationship Id="rId1" Type="http://schemas.openxmlformats.org/officeDocument/2006/relationships/slideLayout" Target="../slideLayouts/slideLayout13.xml"/><Relationship Id="rId6" Type="http://schemas.openxmlformats.org/officeDocument/2006/relationships/hyperlink" Target="https://nrich.maths.org/6342"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B Unit 29.</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29</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83450" y="1651346"/>
            <a:ext cx="11460550" cy="893226"/>
          </a:xfrm>
        </p:spPr>
        <p:txBody>
          <a:bodyPr vert="horz" lIns="0" tIns="0" rIns="0" bIns="0" rtlCol="0" anchor="t">
            <a:noAutofit/>
          </a:bodyPr>
          <a:lstStyle/>
          <a:p>
            <a:pPr algn="ctr"/>
            <a:r>
              <a:rPr lang="en-US" sz="4400" b="1" dirty="0">
                <a:latin typeface="Arial"/>
                <a:cs typeface="Arial"/>
              </a:rPr>
              <a:t>4321</a:t>
            </a:r>
            <a:r>
              <a:rPr lang="en-US" sz="4400" dirty="0">
                <a:latin typeface="Arial"/>
                <a:cs typeface="Arial"/>
              </a:rPr>
              <a:t> </a:t>
            </a:r>
            <a:r>
              <a:rPr lang="en-US" sz="4400" b="1" dirty="0">
                <a:latin typeface="Arial"/>
                <a:cs typeface="Arial"/>
              </a:rPr>
              <a:t>rounded</a:t>
            </a:r>
            <a:r>
              <a:rPr lang="en-US" sz="4400" dirty="0">
                <a:latin typeface="Arial"/>
                <a:cs typeface="Arial"/>
              </a:rPr>
              <a:t> to the </a:t>
            </a:r>
            <a:r>
              <a:rPr lang="en-US" sz="4400" b="1" dirty="0">
                <a:latin typeface="Arial"/>
                <a:cs typeface="Arial"/>
              </a:rPr>
              <a:t>nearest multiple </a:t>
            </a:r>
            <a:r>
              <a:rPr lang="en-US" sz="4400" dirty="0">
                <a:latin typeface="Arial"/>
                <a:cs typeface="Arial"/>
              </a:rPr>
              <a:t>of</a:t>
            </a:r>
            <a:r>
              <a:rPr lang="en-US" sz="4400" b="1" dirty="0">
                <a:latin typeface="Arial"/>
                <a:cs typeface="Arial"/>
              </a:rPr>
              <a:t> 1000 </a:t>
            </a:r>
            <a:r>
              <a:rPr lang="en-US" sz="4400" dirty="0">
                <a:latin typeface="Arial"/>
                <a:cs typeface="Arial"/>
              </a:rPr>
              <a:t>is:</a:t>
            </a:r>
            <a:endParaRPr lang="en-US" sz="4400" dirty="0"/>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48373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5" name="TextBox 4">
            <a:extLst>
              <a:ext uri="{FF2B5EF4-FFF2-40B4-BE49-F238E27FC236}">
                <a16:creationId xmlns:a16="http://schemas.microsoft.com/office/drawing/2014/main" id="{B7B06702-4E45-E709-489D-1643E87250DE}"/>
              </a:ext>
            </a:extLst>
          </p:cNvPr>
          <p:cNvSpPr txBox="1"/>
          <p:nvPr/>
        </p:nvSpPr>
        <p:spPr>
          <a:xfrm>
            <a:off x="937190" y="5524905"/>
            <a:ext cx="1457325" cy="89018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50000"/>
              </a:lnSpc>
            </a:pPr>
            <a:r>
              <a:rPr lang="en-US" sz="4400" dirty="0">
                <a:cs typeface="Arial"/>
              </a:rPr>
              <a:t>4000</a:t>
            </a:r>
            <a:endParaRPr lang="en-US" sz="4400" dirty="0"/>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48373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Box 12">
            <a:extLst>
              <a:ext uri="{FF2B5EF4-FFF2-40B4-BE49-F238E27FC236}">
                <a16:creationId xmlns:a16="http://schemas.microsoft.com/office/drawing/2014/main" id="{D646CD08-5B6B-F907-2274-7353D91019DE}"/>
              </a:ext>
            </a:extLst>
          </p:cNvPr>
          <p:cNvSpPr txBox="1"/>
          <p:nvPr/>
        </p:nvSpPr>
        <p:spPr>
          <a:xfrm>
            <a:off x="3918895" y="5522035"/>
            <a:ext cx="2400300" cy="129266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4400" dirty="0">
                <a:solidFill>
                  <a:srgbClr val="22272B"/>
                </a:solidFill>
                <a:latin typeface="Arial"/>
              </a:rPr>
              <a:t>4300</a:t>
            </a:r>
            <a:r>
              <a:rPr sz="4400" dirty="0">
                <a:latin typeface="Arial"/>
                <a:ea typeface="Arial"/>
                <a:cs typeface="Arial"/>
              </a:rPr>
              <a:t>​</a:t>
            </a:r>
            <a:endParaRPr lang="en-US" dirty="0"/>
          </a:p>
          <a:p>
            <a:pPr algn="l"/>
            <a:endParaRPr lang="en-US" sz="1800" dirty="0"/>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48373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Box 13">
            <a:extLst>
              <a:ext uri="{FF2B5EF4-FFF2-40B4-BE49-F238E27FC236}">
                <a16:creationId xmlns:a16="http://schemas.microsoft.com/office/drawing/2014/main" id="{7360F1DE-72CD-F26C-FAD3-E033BD7CB87F}"/>
              </a:ext>
            </a:extLst>
          </p:cNvPr>
          <p:cNvSpPr txBox="1"/>
          <p:nvPr/>
        </p:nvSpPr>
        <p:spPr>
          <a:xfrm>
            <a:off x="6852595" y="5522035"/>
            <a:ext cx="1981200" cy="129266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4400" dirty="0">
                <a:solidFill>
                  <a:srgbClr val="22272B"/>
                </a:solidFill>
                <a:latin typeface="Arial"/>
              </a:rPr>
              <a:t>5000</a:t>
            </a:r>
            <a:r>
              <a:rPr sz="4400" dirty="0">
                <a:latin typeface="Arial"/>
                <a:ea typeface="Arial"/>
                <a:cs typeface="Arial"/>
              </a:rPr>
              <a:t>​</a:t>
            </a:r>
            <a:endParaRPr lang="en-US" dirty="0"/>
          </a:p>
          <a:p>
            <a:pPr algn="l"/>
            <a:endParaRPr lang="en-US" sz="1800" dirty="0"/>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48373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5" name="TextBox 14">
            <a:extLst>
              <a:ext uri="{FF2B5EF4-FFF2-40B4-BE49-F238E27FC236}">
                <a16:creationId xmlns:a16="http://schemas.microsoft.com/office/drawing/2014/main" id="{A6F7AB32-FE13-DA1F-CBD2-8A836D8029C1}"/>
              </a:ext>
            </a:extLst>
          </p:cNvPr>
          <p:cNvSpPr txBox="1"/>
          <p:nvPr/>
        </p:nvSpPr>
        <p:spPr>
          <a:xfrm>
            <a:off x="9900595" y="5522035"/>
            <a:ext cx="1695450" cy="129266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4400" dirty="0">
                <a:solidFill>
                  <a:srgbClr val="22272B"/>
                </a:solidFill>
                <a:latin typeface="Arial"/>
              </a:rPr>
              <a:t>4330</a:t>
            </a:r>
            <a:r>
              <a:rPr sz="4400" dirty="0">
                <a:latin typeface="Arial"/>
                <a:ea typeface="Arial"/>
                <a:cs typeface="Arial"/>
              </a:rPr>
              <a:t>​</a:t>
            </a:r>
            <a:endParaRPr lang="en-US" dirty="0"/>
          </a:p>
          <a:p>
            <a:pPr algn="l"/>
            <a:endParaRPr lang="en-US" sz="1800" dirty="0"/>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3EA513F-AD4B-AD7C-C4C8-B4295B7583B5}"/>
              </a:ext>
            </a:extLst>
          </p:cNvPr>
          <p:cNvSpPr txBox="1"/>
          <p:nvPr/>
        </p:nvSpPr>
        <p:spPr>
          <a:xfrm>
            <a:off x="360589" y="2217964"/>
            <a:ext cx="5832020" cy="265592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cs typeface="Arial"/>
              </a:rPr>
              <a:t>This is a cube. </a:t>
            </a:r>
            <a:r>
              <a:rPr lang="en-US" sz="4000" b="1" dirty="0">
                <a:cs typeface="Arial"/>
              </a:rPr>
              <a:t>How many faces, edges and vertices </a:t>
            </a:r>
            <a:r>
              <a:rPr lang="en-US" sz="4000" dirty="0">
                <a:cs typeface="Arial"/>
              </a:rPr>
              <a:t>does it have?</a:t>
            </a:r>
            <a:endParaRPr lang="en-US" sz="4000"/>
          </a:p>
        </p:txBody>
      </p:sp>
      <p:pic>
        <p:nvPicPr>
          <p:cNvPr id="4" name="Picture 3" descr="A cube with black lines and white faces. &#10;&#10;&#10;">
            <a:extLst>
              <a:ext uri="{FF2B5EF4-FFF2-40B4-BE49-F238E27FC236}">
                <a16:creationId xmlns:a16="http://schemas.microsoft.com/office/drawing/2014/main" id="{22820512-1B9B-16AA-71E9-30CEC5C3F08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 r="-2" b="30021"/>
          <a:stretch>
            <a:fillRect/>
          </a:stretch>
        </p:blipFill>
        <p:spPr>
          <a:xfrm>
            <a:off x="7081018" y="1354690"/>
            <a:ext cx="3646249" cy="3611010"/>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right angle with the vertical arm labelled A and the horizontal arm labelled B.">
            <a:extLst>
              <a:ext uri="{FF2B5EF4-FFF2-40B4-BE49-F238E27FC236}">
                <a16:creationId xmlns:a16="http://schemas.microsoft.com/office/drawing/2014/main" id="{8E11400E-FB2C-0591-5867-11A92E2E6013}"/>
              </a:ext>
            </a:extLst>
          </p:cNvPr>
          <p:cNvPicPr>
            <a:picLocks noChangeAspect="1"/>
          </p:cNvPicPr>
          <p:nvPr/>
        </p:nvPicPr>
        <p:blipFill>
          <a:blip r:embed="rId4"/>
          <a:stretch>
            <a:fillRect/>
          </a:stretch>
        </p:blipFill>
        <p:spPr>
          <a:xfrm>
            <a:off x="4418844" y="905601"/>
            <a:ext cx="3311251" cy="3156036"/>
          </a:xfrm>
          <a:prstGeom prst="rect">
            <a:avLst/>
          </a:prstGeom>
        </p:spPr>
      </p:pic>
      <p:sp>
        <p:nvSpPr>
          <p:cNvPr id="5" name="TextBox 4">
            <a:extLst>
              <a:ext uri="{FF2B5EF4-FFF2-40B4-BE49-F238E27FC236}">
                <a16:creationId xmlns:a16="http://schemas.microsoft.com/office/drawing/2014/main" id="{6B074DA0-5093-4820-ABB6-63CA6B4302C6}"/>
              </a:ext>
            </a:extLst>
          </p:cNvPr>
          <p:cNvSpPr txBox="1"/>
          <p:nvPr/>
        </p:nvSpPr>
        <p:spPr>
          <a:xfrm>
            <a:off x="348000" y="3980548"/>
            <a:ext cx="11484000" cy="265592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a:cs typeface="Arial"/>
              </a:rPr>
              <a:t>A </a:t>
            </a:r>
            <a:r>
              <a:rPr lang="en-US" sz="4000" b="1">
                <a:cs typeface="Arial"/>
              </a:rPr>
              <a:t>quarter turn </a:t>
            </a:r>
            <a:r>
              <a:rPr lang="en-US" sz="4000">
                <a:cs typeface="Arial"/>
              </a:rPr>
              <a:t>from A to B </a:t>
            </a:r>
            <a:r>
              <a:rPr lang="en-US" sz="4000" b="1">
                <a:cs typeface="Arial"/>
              </a:rPr>
              <a:t>forms a right angle</a:t>
            </a:r>
            <a:r>
              <a:rPr lang="en-US" sz="4000">
                <a:cs typeface="Arial"/>
              </a:rPr>
              <a:t>.</a:t>
            </a:r>
          </a:p>
          <a:p>
            <a:pPr algn="ctr">
              <a:lnSpc>
                <a:spcPct val="150000"/>
              </a:lnSpc>
            </a:pPr>
            <a:r>
              <a:rPr lang="en-US" sz="4000" b="1">
                <a:cs typeface="Arial"/>
              </a:rPr>
              <a:t>How many </a:t>
            </a:r>
            <a:r>
              <a:rPr lang="en-US" sz="4000">
                <a:cs typeface="Arial"/>
              </a:rPr>
              <a:t>right angles would be needed to perform 2 quarter turns?</a:t>
            </a:r>
            <a:endParaRPr lang="en-US" sz="3000">
              <a:cs typeface="Arial" panose="020B0604020202020204"/>
            </a:endParaRP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B62AAC4-67FF-50F2-2FDF-1B23A9BAA049}"/>
              </a:ext>
            </a:extLst>
          </p:cNvPr>
          <p:cNvSpPr txBox="1"/>
          <p:nvPr/>
        </p:nvSpPr>
        <p:spPr>
          <a:xfrm>
            <a:off x="484802" y="2136234"/>
            <a:ext cx="6172197" cy="239033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3600" dirty="0">
                <a:cs typeface="Arial"/>
              </a:rPr>
              <a:t>Use the fact family tria</a:t>
            </a:r>
            <a:r>
              <a:rPr lang="en-US" sz="3600" dirty="0"/>
              <a:t>ngle to </a:t>
            </a:r>
            <a:r>
              <a:rPr lang="en-US" sz="3600" b="1" dirty="0"/>
              <a:t>create 2 multiplication and 2 division number sentences</a:t>
            </a:r>
            <a:r>
              <a:rPr lang="en-US" sz="3600" dirty="0"/>
              <a:t>.</a:t>
            </a:r>
          </a:p>
        </p:txBody>
      </p:sp>
      <p:pic>
        <p:nvPicPr>
          <p:cNvPr id="4" name="Picture 3" descr="A white triangle with black numbers. The base has the numbers 6 and 3. The number 18 is in the apex.">
            <a:extLst>
              <a:ext uri="{FF2B5EF4-FFF2-40B4-BE49-F238E27FC236}">
                <a16:creationId xmlns:a16="http://schemas.microsoft.com/office/drawing/2014/main" id="{729C5B99-98A9-9CAB-3A80-96D629648D4D}"/>
              </a:ext>
            </a:extLst>
          </p:cNvPr>
          <p:cNvPicPr>
            <a:picLocks noChangeAspect="1"/>
          </p:cNvPicPr>
          <p:nvPr/>
        </p:nvPicPr>
        <p:blipFill>
          <a:blip r:embed="rId4"/>
          <a:srcRect l="28853" t="24762" r="41435" b="15724"/>
          <a:stretch>
            <a:fillRect/>
          </a:stretch>
        </p:blipFill>
        <p:spPr>
          <a:xfrm>
            <a:off x="6781800" y="720607"/>
            <a:ext cx="4247432" cy="5885814"/>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B334C3BD-AB23-8389-D15F-BA61F3AD18EF}"/>
              </a:ext>
            </a:extLst>
          </p:cNvPr>
          <p:cNvSpPr txBox="1">
            <a:spLocks/>
          </p:cNvSpPr>
          <p:nvPr/>
        </p:nvSpPr>
        <p:spPr>
          <a:xfrm>
            <a:off x="360000" y="1104950"/>
            <a:ext cx="11243037" cy="89322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latin typeface="Arial"/>
                <a:cs typeface="Arial"/>
              </a:rPr>
              <a:t>Use</a:t>
            </a:r>
            <a:r>
              <a:rPr lang="en-US" sz="4400" b="1" dirty="0">
                <a:latin typeface="Arial"/>
                <a:cs typeface="Arial"/>
              </a:rPr>
              <a:t> minutes </a:t>
            </a:r>
            <a:r>
              <a:rPr lang="en-US" sz="4400" dirty="0">
                <a:latin typeface="Arial"/>
                <a:cs typeface="Arial"/>
              </a:rPr>
              <a:t>to</a:t>
            </a:r>
            <a:r>
              <a:rPr lang="en-US" sz="4400" b="1" dirty="0">
                <a:latin typeface="Arial"/>
                <a:cs typeface="Arial"/>
              </a:rPr>
              <a:t> describe </a:t>
            </a:r>
            <a:r>
              <a:rPr lang="en-US" sz="4400" dirty="0">
                <a:latin typeface="Arial"/>
                <a:cs typeface="Arial"/>
              </a:rPr>
              <a:t>the</a:t>
            </a:r>
            <a:r>
              <a:rPr lang="en-US" sz="4400" b="1" dirty="0">
                <a:latin typeface="Arial"/>
                <a:cs typeface="Arial"/>
              </a:rPr>
              <a:t> duration </a:t>
            </a:r>
            <a:r>
              <a:rPr lang="en-US" sz="4400" dirty="0">
                <a:latin typeface="Arial"/>
                <a:cs typeface="Arial"/>
              </a:rPr>
              <a:t>of</a:t>
            </a:r>
            <a:r>
              <a:rPr lang="en-US" sz="4400" b="1" dirty="0">
                <a:latin typeface="Arial"/>
                <a:cs typeface="Arial"/>
              </a:rPr>
              <a:t> </a:t>
            </a:r>
            <a:r>
              <a:rPr lang="en-US" sz="4400" dirty="0">
                <a:latin typeface="Arial"/>
                <a:cs typeface="Arial"/>
              </a:rPr>
              <a:t>these</a:t>
            </a:r>
            <a:r>
              <a:rPr lang="en-US" sz="4400" b="1" dirty="0">
                <a:latin typeface="Arial"/>
                <a:cs typeface="Arial"/>
              </a:rPr>
              <a:t> events.</a:t>
            </a:r>
            <a:endParaRPr lang="en-US" sz="4400" dirty="0"/>
          </a:p>
        </p:txBody>
      </p:sp>
      <p:sp>
        <p:nvSpPr>
          <p:cNvPr id="5" name="Rectangle: Rounded Corners 4">
            <a:extLst>
              <a:ext uri="{FF2B5EF4-FFF2-40B4-BE49-F238E27FC236}">
                <a16:creationId xmlns:a16="http://schemas.microsoft.com/office/drawing/2014/main" id="{D0D1AD68-FB1D-30CA-A403-EDD5443F00E7}"/>
              </a:ext>
            </a:extLst>
          </p:cNvPr>
          <p:cNvSpPr/>
          <p:nvPr/>
        </p:nvSpPr>
        <p:spPr>
          <a:xfrm>
            <a:off x="2378150" y="3914927"/>
            <a:ext cx="1750828" cy="1318764"/>
          </a:xfrm>
          <a:prstGeom prst="roundRect">
            <a:avLst/>
          </a:prstGeom>
          <a:solidFill>
            <a:schemeClr val="accent4"/>
          </a:solidFill>
          <a:ln w="38100">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AU" sz="4400">
                <a:solidFill>
                  <a:schemeClr val="accent1"/>
                </a:solidFill>
                <a:latin typeface="Edu NSW ACT Foundation" pitchFamily="2" charset="0"/>
              </a:rPr>
              <a:t>recess</a:t>
            </a:r>
            <a:endParaRPr lang="en-AU" sz="3600" b="1">
              <a:solidFill>
                <a:schemeClr val="accent1"/>
              </a:solidFill>
              <a:latin typeface="Edu NSW ACT Foundation" pitchFamily="2" charset="0"/>
            </a:endParaRPr>
          </a:p>
        </p:txBody>
      </p:sp>
      <p:sp>
        <p:nvSpPr>
          <p:cNvPr id="7" name="Rectangle: Rounded Corners 6">
            <a:extLst>
              <a:ext uri="{FF2B5EF4-FFF2-40B4-BE49-F238E27FC236}">
                <a16:creationId xmlns:a16="http://schemas.microsoft.com/office/drawing/2014/main" id="{F48E2B02-7620-1333-F454-15EDA5518009}"/>
              </a:ext>
            </a:extLst>
          </p:cNvPr>
          <p:cNvSpPr/>
          <p:nvPr/>
        </p:nvSpPr>
        <p:spPr>
          <a:xfrm>
            <a:off x="6939231" y="3916222"/>
            <a:ext cx="2806995" cy="1318764"/>
          </a:xfrm>
          <a:prstGeom prst="roundRect">
            <a:avLst/>
          </a:prstGeom>
          <a:solidFill>
            <a:schemeClr val="accent4"/>
          </a:solidFill>
          <a:ln w="38100">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AU" sz="4400">
                <a:solidFill>
                  <a:schemeClr val="accent1"/>
                </a:solidFill>
                <a:latin typeface="Edu NSW ACT Foundation" pitchFamily="2" charset="0"/>
              </a:rPr>
              <a:t>soccer game</a:t>
            </a:r>
            <a:endParaRPr lang="en-AU" sz="3600" b="1">
              <a:solidFill>
                <a:schemeClr val="accent1"/>
              </a:solidFill>
              <a:latin typeface="Edu NSW ACT Foundation" pitchFamily="2" charset="0"/>
            </a:endParaRP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17" y="358080"/>
            <a:ext cx="11484000" cy="545601"/>
          </a:xfrm>
        </p:spPr>
        <p:txBody>
          <a:bodyPr/>
          <a:lstStyle/>
          <a:p>
            <a:r>
              <a:rPr lang="en-AU">
                <a:latin typeface="Arial"/>
                <a:cs typeface="Arial"/>
              </a:rPr>
              <a:t>Activity 1– round the four dice</a:t>
            </a:r>
          </a:p>
        </p:txBody>
      </p:sp>
      <p:pic>
        <p:nvPicPr>
          <p:cNvPr id="12" name="Picture 11">
            <a:extLst>
              <a:ext uri="{FF2B5EF4-FFF2-40B4-BE49-F238E27FC236}">
                <a16:creationId xmlns:a16="http://schemas.microsoft.com/office/drawing/2014/main" id="{93758D04-E98A-0C64-2FD1-6A1C31B6C2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9" name="Table 8">
            <a:extLst>
              <a:ext uri="{FF2B5EF4-FFF2-40B4-BE49-F238E27FC236}">
                <a16:creationId xmlns:a16="http://schemas.microsoft.com/office/drawing/2014/main" id="{1072AFC6-EBEA-A222-9817-6B21BCF438C7}"/>
              </a:ext>
            </a:extLst>
          </p:cNvPr>
          <p:cNvGraphicFramePr>
            <a:graphicFrameLocks noGrp="1"/>
          </p:cNvGraphicFramePr>
          <p:nvPr>
            <p:extLst>
              <p:ext uri="{D42A27DB-BD31-4B8C-83A1-F6EECF244321}">
                <p14:modId xmlns:p14="http://schemas.microsoft.com/office/powerpoint/2010/main" val="1432829426"/>
              </p:ext>
            </p:extLst>
          </p:nvPr>
        </p:nvGraphicFramePr>
        <p:xfrm>
          <a:off x="741760" y="1199497"/>
          <a:ext cx="8402241" cy="3967926"/>
        </p:xfrm>
        <a:graphic>
          <a:graphicData uri="http://schemas.openxmlformats.org/drawingml/2006/table">
            <a:tbl>
              <a:tblPr firstRow="1" bandRow="1">
                <a:tableStyleId>{5A111915-BE36-4E01-A7E5-04B1672EAD32}</a:tableStyleId>
              </a:tblPr>
              <a:tblGrid>
                <a:gridCol w="2800747">
                  <a:extLst>
                    <a:ext uri="{9D8B030D-6E8A-4147-A177-3AD203B41FA5}">
                      <a16:colId xmlns:a16="http://schemas.microsoft.com/office/drawing/2014/main" val="3640553115"/>
                    </a:ext>
                  </a:extLst>
                </a:gridCol>
                <a:gridCol w="2800747">
                  <a:extLst>
                    <a:ext uri="{9D8B030D-6E8A-4147-A177-3AD203B41FA5}">
                      <a16:colId xmlns:a16="http://schemas.microsoft.com/office/drawing/2014/main" val="3136964194"/>
                    </a:ext>
                  </a:extLst>
                </a:gridCol>
                <a:gridCol w="2800747">
                  <a:extLst>
                    <a:ext uri="{9D8B030D-6E8A-4147-A177-3AD203B41FA5}">
                      <a16:colId xmlns:a16="http://schemas.microsoft.com/office/drawing/2014/main" val="2023357531"/>
                    </a:ext>
                  </a:extLst>
                </a:gridCol>
              </a:tblGrid>
              <a:tr h="1103889">
                <a:tc>
                  <a:txBody>
                    <a:bodyPr/>
                    <a:lstStyle/>
                    <a:p>
                      <a:pPr algn="ctr"/>
                      <a:r>
                        <a:rPr lang="en-AU" sz="3200" b="0" dirty="0">
                          <a:solidFill>
                            <a:schemeClr val="tx1"/>
                          </a:solidFill>
                          <a:latin typeface="Arial"/>
                          <a:cs typeface="Arial"/>
                        </a:rPr>
                        <a:t>1243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3200" b="0">
                          <a:solidFill>
                            <a:schemeClr val="tx1"/>
                          </a:solidFill>
                          <a:latin typeface="Arial"/>
                          <a:cs typeface="Arial"/>
                        </a:rPr>
                        <a:t>1324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3200" b="0">
                          <a:solidFill>
                            <a:schemeClr val="tx1"/>
                          </a:solidFill>
                          <a:latin typeface="Arial"/>
                          <a:cs typeface="Arial"/>
                        </a:rPr>
                        <a:t>1342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934066"/>
                  </a:ext>
                </a:extLst>
              </a:tr>
              <a:tr h="954679">
                <a:tc>
                  <a:txBody>
                    <a:bodyPr/>
                    <a:lstStyle/>
                    <a:p>
                      <a:pPr algn="ctr"/>
                      <a:r>
                        <a:rPr lang="en-AU" sz="3200" dirty="0">
                          <a:solidFill>
                            <a:schemeClr val="tx1"/>
                          </a:solidFill>
                          <a:latin typeface="Arial"/>
                          <a:cs typeface="Arial"/>
                        </a:rPr>
                        <a:t>2341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dirty="0">
                          <a:solidFill>
                            <a:schemeClr val="tx1"/>
                          </a:solidFill>
                          <a:latin typeface="Arial"/>
                          <a:cs typeface="Arial"/>
                        </a:rPr>
                        <a:t>2413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a:solidFill>
                            <a:schemeClr val="tx1"/>
                          </a:solidFill>
                          <a:latin typeface="Arial"/>
                          <a:cs typeface="Arial"/>
                        </a:rPr>
                        <a:t>2431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6438569"/>
                  </a:ext>
                </a:extLst>
              </a:tr>
              <a:tr h="954679">
                <a:tc>
                  <a:txBody>
                    <a:bodyPr/>
                    <a:lstStyle/>
                    <a:p>
                      <a:pPr algn="ctr"/>
                      <a:r>
                        <a:rPr lang="en-AU" sz="3200">
                          <a:solidFill>
                            <a:schemeClr val="tx1"/>
                          </a:solidFill>
                          <a:latin typeface="Arial"/>
                          <a:cs typeface="Arial"/>
                        </a:rPr>
                        <a:t>3142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dirty="0">
                          <a:solidFill>
                            <a:schemeClr val="tx1"/>
                          </a:solidFill>
                          <a:latin typeface="Arial"/>
                          <a:cs typeface="Arial"/>
                        </a:rPr>
                        <a:t>3214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dirty="0">
                          <a:solidFill>
                            <a:schemeClr val="tx1"/>
                          </a:solidFill>
                          <a:latin typeface="Arial"/>
                          <a:cs typeface="Arial"/>
                        </a:rPr>
                        <a:t>3241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0992831"/>
                  </a:ext>
                </a:extLst>
              </a:tr>
              <a:tr h="954679">
                <a:tc>
                  <a:txBody>
                    <a:bodyPr/>
                    <a:lstStyle/>
                    <a:p>
                      <a:pPr algn="ctr"/>
                      <a:r>
                        <a:rPr lang="en-AU" sz="3200">
                          <a:solidFill>
                            <a:schemeClr val="tx1"/>
                          </a:solidFill>
                          <a:latin typeface="Arial"/>
                          <a:cs typeface="Arial"/>
                        </a:rPr>
                        <a:t>4231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a:solidFill>
                            <a:schemeClr val="tx1"/>
                          </a:solidFill>
                          <a:latin typeface="Arial"/>
                          <a:cs typeface="Arial"/>
                        </a:rPr>
                        <a:t>4312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200" dirty="0">
                          <a:solidFill>
                            <a:schemeClr val="tx1"/>
                          </a:solidFill>
                          <a:latin typeface="Arial"/>
                          <a:cs typeface="Arial"/>
                        </a:rPr>
                        <a:t>4321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8675370"/>
                  </a:ext>
                </a:extLst>
              </a:tr>
            </a:tbl>
          </a:graphicData>
        </a:graphic>
      </p:graphicFrame>
      <p:grpSp>
        <p:nvGrpSpPr>
          <p:cNvPr id="4" name="Group 2" descr="4 orange dice showing 1, 2, 3, and 4 dots. ">
            <a:extLst>
              <a:ext uri="{FF2B5EF4-FFF2-40B4-BE49-F238E27FC236}">
                <a16:creationId xmlns:a16="http://schemas.microsoft.com/office/drawing/2014/main" id="{941743C6-D911-3BBA-2A0F-5C736B0A7457}"/>
              </a:ext>
              <a:ext uri="{C183D7F6-B498-43B3-948B-1728B52AA6E4}">
                <adec:decorative xmlns:adec="http://schemas.microsoft.com/office/drawing/2017/decorative" val="0"/>
              </a:ext>
            </a:extLst>
          </p:cNvPr>
          <p:cNvGrpSpPr/>
          <p:nvPr/>
        </p:nvGrpSpPr>
        <p:grpSpPr>
          <a:xfrm rot="10800000">
            <a:off x="9706616" y="907355"/>
            <a:ext cx="1122170" cy="4695245"/>
            <a:chOff x="0" y="0"/>
            <a:chExt cx="2275417" cy="9403795"/>
          </a:xfrm>
          <a:effectLst>
            <a:outerShdw blurRad="63500" sx="102000" sy="102000" algn="ctr" rotWithShape="0">
              <a:prstClr val="black">
                <a:alpha val="40000"/>
              </a:prstClr>
            </a:outerShdw>
          </a:effectLst>
        </p:grpSpPr>
        <p:sp>
          <p:nvSpPr>
            <p:cNvPr id="5" name="Freeform 3">
              <a:extLst>
                <a:ext uri="{FF2B5EF4-FFF2-40B4-BE49-F238E27FC236}">
                  <a16:creationId xmlns:a16="http://schemas.microsoft.com/office/drawing/2014/main" id="{9045B03C-1562-E9A8-27CA-F863A6AB8DC0}"/>
                </a:ext>
              </a:extLst>
            </p:cNvPr>
            <p:cNvSpPr/>
            <p:nvPr/>
          </p:nvSpPr>
          <p:spPr>
            <a:xfrm>
              <a:off x="48420" y="0"/>
              <a:ext cx="2226997" cy="2226997"/>
            </a:xfrm>
            <a:custGeom>
              <a:avLst/>
              <a:gdLst/>
              <a:ahLst/>
              <a:cxnLst/>
              <a:rect l="l" t="t" r="r" b="b"/>
              <a:pathLst>
                <a:path w="2226997" h="2226997">
                  <a:moveTo>
                    <a:pt x="0" y="0"/>
                  </a:moveTo>
                  <a:lnTo>
                    <a:pt x="2226997" y="0"/>
                  </a:lnTo>
                  <a:lnTo>
                    <a:pt x="2226997" y="2226997"/>
                  </a:lnTo>
                  <a:lnTo>
                    <a:pt x="0" y="22269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 name="Freeform 4">
              <a:extLst>
                <a:ext uri="{FF2B5EF4-FFF2-40B4-BE49-F238E27FC236}">
                  <a16:creationId xmlns:a16="http://schemas.microsoft.com/office/drawing/2014/main" id="{7B7E8124-51AA-CBA5-5F92-32D981116A3B}"/>
                </a:ext>
              </a:extLst>
            </p:cNvPr>
            <p:cNvSpPr/>
            <p:nvPr/>
          </p:nvSpPr>
          <p:spPr>
            <a:xfrm>
              <a:off x="48420" y="2366172"/>
              <a:ext cx="2178577" cy="2178577"/>
            </a:xfrm>
            <a:custGeom>
              <a:avLst/>
              <a:gdLst/>
              <a:ahLst/>
              <a:cxnLst/>
              <a:rect l="l" t="t" r="r" b="b"/>
              <a:pathLst>
                <a:path w="2178577" h="2178577">
                  <a:moveTo>
                    <a:pt x="0" y="0"/>
                  </a:moveTo>
                  <a:lnTo>
                    <a:pt x="2178577" y="0"/>
                  </a:lnTo>
                  <a:lnTo>
                    <a:pt x="2178577" y="2178576"/>
                  </a:lnTo>
                  <a:lnTo>
                    <a:pt x="0" y="21785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7" name="Freeform 5">
              <a:extLst>
                <a:ext uri="{FF2B5EF4-FFF2-40B4-BE49-F238E27FC236}">
                  <a16:creationId xmlns:a16="http://schemas.microsoft.com/office/drawing/2014/main" id="{63531D40-3C0D-29B7-1D95-D2F59405C572}"/>
                </a:ext>
              </a:extLst>
            </p:cNvPr>
            <p:cNvSpPr/>
            <p:nvPr/>
          </p:nvSpPr>
          <p:spPr>
            <a:xfrm>
              <a:off x="0" y="4735248"/>
              <a:ext cx="2226998" cy="2226997"/>
            </a:xfrm>
            <a:custGeom>
              <a:avLst/>
              <a:gdLst/>
              <a:ahLst/>
              <a:cxnLst/>
              <a:rect l="l" t="t" r="r" b="b"/>
              <a:pathLst>
                <a:path w="2226997" h="2226997">
                  <a:moveTo>
                    <a:pt x="0" y="0"/>
                  </a:moveTo>
                  <a:lnTo>
                    <a:pt x="2226997" y="0"/>
                  </a:lnTo>
                  <a:lnTo>
                    <a:pt x="2226997" y="2226997"/>
                  </a:lnTo>
                  <a:lnTo>
                    <a:pt x="0" y="222699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8" name="Freeform 6">
              <a:extLst>
                <a:ext uri="{FF2B5EF4-FFF2-40B4-BE49-F238E27FC236}">
                  <a16:creationId xmlns:a16="http://schemas.microsoft.com/office/drawing/2014/main" id="{B11C3108-F221-D504-A5AD-3B0F32C48304}"/>
                </a:ext>
              </a:extLst>
            </p:cNvPr>
            <p:cNvSpPr/>
            <p:nvPr/>
          </p:nvSpPr>
          <p:spPr>
            <a:xfrm>
              <a:off x="24367" y="7152744"/>
              <a:ext cx="2251050" cy="2251051"/>
            </a:xfrm>
            <a:custGeom>
              <a:avLst/>
              <a:gdLst/>
              <a:ahLst/>
              <a:cxnLst/>
              <a:rect l="l" t="t" r="r" b="b"/>
              <a:pathLst>
                <a:path w="2251050" h="2251050">
                  <a:moveTo>
                    <a:pt x="0" y="0"/>
                  </a:moveTo>
                  <a:lnTo>
                    <a:pt x="2251050" y="0"/>
                  </a:lnTo>
                  <a:lnTo>
                    <a:pt x="2251050" y="2251050"/>
                  </a:lnTo>
                  <a:lnTo>
                    <a:pt x="0" y="22510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grpSp>
      <p:sp>
        <p:nvSpPr>
          <p:cNvPr id="10" name="TextBox 9">
            <a:extLst>
              <a:ext uri="{FF2B5EF4-FFF2-40B4-BE49-F238E27FC236}">
                <a16:creationId xmlns:a16="http://schemas.microsoft.com/office/drawing/2014/main" id="{00E8D661-3C4D-51E5-C49A-3A3AC7401B87}"/>
              </a:ext>
            </a:extLst>
          </p:cNvPr>
          <p:cNvSpPr txBox="1"/>
          <p:nvPr/>
        </p:nvSpPr>
        <p:spPr>
          <a:xfrm>
            <a:off x="785792" y="5375293"/>
            <a:ext cx="9370005" cy="1554144"/>
          </a:xfrm>
          <a:prstGeom prst="rect">
            <a:avLst/>
          </a:prstGeom>
          <a:noFill/>
        </p:spPr>
        <p:txBody>
          <a:bodyPr wrap="none" lIns="0" tIns="0" rIns="0" bIns="0" rtlCol="0">
            <a:noAutofit/>
          </a:bodyPr>
          <a:lstStyle/>
          <a:p>
            <a:pPr marL="457200" indent="-457200" algn="l">
              <a:lnSpc>
                <a:spcPct val="150000"/>
              </a:lnSpc>
              <a:buFont typeface="Arial" panose="020B0604020202020204" pitchFamily="34" charset="0"/>
              <a:buChar char="•"/>
            </a:pPr>
            <a:r>
              <a:rPr lang="en-AU" sz="2800" dirty="0"/>
              <a:t>Choose and </a:t>
            </a:r>
            <a:r>
              <a:rPr lang="en-AU" sz="2800" b="1" dirty="0"/>
              <a:t>record 4 numbers</a:t>
            </a:r>
            <a:r>
              <a:rPr lang="en-AU" sz="2800" dirty="0"/>
              <a:t>.</a:t>
            </a:r>
          </a:p>
          <a:p>
            <a:pPr marL="457200" indent="-457200" algn="l">
              <a:lnSpc>
                <a:spcPct val="150000"/>
              </a:lnSpc>
              <a:buFont typeface="Arial" panose="020B0604020202020204" pitchFamily="34" charset="0"/>
              <a:buChar char="•"/>
            </a:pPr>
            <a:r>
              <a:rPr lang="en-AU" sz="2800" b="1" dirty="0"/>
              <a:t>Round </a:t>
            </a:r>
            <a:r>
              <a:rPr lang="en-AU" sz="2800" dirty="0"/>
              <a:t>each number to the </a:t>
            </a:r>
            <a:r>
              <a:rPr lang="en-AU" sz="2800" b="1" dirty="0"/>
              <a:t>nearest multiple of 1000.</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4172435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240963" y="1184019"/>
            <a:ext cx="11243037" cy="3352407"/>
          </a:xfrm>
        </p:spPr>
        <p:txBody>
          <a:bodyPr vert="horz" lIns="0" tIns="0" rIns="0" bIns="0" rtlCol="0" anchor="t">
            <a:noAutofit/>
          </a:bodyPr>
          <a:lstStyle/>
          <a:p>
            <a:pPr algn="ctr"/>
            <a:r>
              <a:rPr lang="en-AU" sz="4000" dirty="0">
                <a:latin typeface="Arial"/>
                <a:cs typeface="Arial"/>
              </a:rPr>
              <a:t>Emily rolled five 0-9 dice. </a:t>
            </a:r>
            <a:endParaRPr lang="en-AU" sz="4000" dirty="0"/>
          </a:p>
          <a:p>
            <a:pPr algn="ctr"/>
            <a:r>
              <a:rPr lang="en-AU" sz="4000" dirty="0">
                <a:latin typeface="Arial"/>
                <a:cs typeface="Arial"/>
              </a:rPr>
              <a:t>Her digits were: </a:t>
            </a:r>
            <a:r>
              <a:rPr lang="en-AU" sz="4000" b="1" dirty="0">
                <a:latin typeface="Arial"/>
                <a:cs typeface="Arial"/>
              </a:rPr>
              <a:t>7, 3, 1, 4, 9</a:t>
            </a:r>
            <a:r>
              <a:rPr lang="en-AU" sz="4000" dirty="0">
                <a:latin typeface="Arial"/>
                <a:cs typeface="Arial"/>
              </a:rPr>
              <a:t>. </a:t>
            </a:r>
          </a:p>
          <a:p>
            <a:pPr algn="ctr"/>
            <a:r>
              <a:rPr lang="en-AU" sz="4000" dirty="0">
                <a:latin typeface="Arial"/>
                <a:cs typeface="Arial"/>
              </a:rPr>
              <a:t>The </a:t>
            </a:r>
            <a:r>
              <a:rPr lang="en-AU" sz="4000" b="1" dirty="0">
                <a:latin typeface="Arial"/>
                <a:cs typeface="Arial"/>
              </a:rPr>
              <a:t>smallest number</a:t>
            </a:r>
            <a:r>
              <a:rPr lang="en-AU" sz="4000" dirty="0">
                <a:latin typeface="Arial"/>
                <a:cs typeface="Arial"/>
              </a:rPr>
              <a:t> she could make by arranging the digits is 14 379.</a:t>
            </a:r>
            <a:endParaRPr lang="en-AU" sz="3200" dirty="0"/>
          </a:p>
          <a:p>
            <a:endParaRPr lang="en-AU" sz="3200" dirty="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386278778"/>
              </p:ext>
            </p:extLst>
          </p:nvPr>
        </p:nvGraphicFramePr>
        <p:xfrm>
          <a:off x="2323943" y="567398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1D44343-3D6C-8A49-C035-DD62A3C28733}"/>
              </a:ext>
            </a:extLst>
          </p:cNvPr>
          <p:cNvSpPr txBox="1"/>
          <p:nvPr/>
        </p:nvSpPr>
        <p:spPr>
          <a:xfrm>
            <a:off x="360000" y="1184223"/>
            <a:ext cx="11484000" cy="49528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I have a </a:t>
            </a:r>
            <a:r>
              <a:rPr lang="en-US" sz="4400" b="1" dirty="0">
                <a:cs typeface="Arial"/>
              </a:rPr>
              <a:t>three-dimensional object </a:t>
            </a:r>
            <a:r>
              <a:rPr lang="en-US" sz="4400" dirty="0">
                <a:cs typeface="Arial"/>
              </a:rPr>
              <a:t>with the following features:</a:t>
            </a:r>
          </a:p>
          <a:p>
            <a:pPr algn="ctr">
              <a:lnSpc>
                <a:spcPct val="150000"/>
              </a:lnSpc>
            </a:pPr>
            <a:r>
              <a:rPr lang="en-US" sz="4400" b="1" dirty="0">
                <a:cs typeface="Arial"/>
              </a:rPr>
              <a:t>Faces:</a:t>
            </a:r>
            <a:r>
              <a:rPr lang="en-US" sz="4400" dirty="0">
                <a:cs typeface="Arial"/>
              </a:rPr>
              <a:t> 5   </a:t>
            </a:r>
            <a:r>
              <a:rPr lang="en-US" sz="4400" b="1" dirty="0">
                <a:cs typeface="Arial"/>
              </a:rPr>
              <a:t>Edges:</a:t>
            </a:r>
            <a:r>
              <a:rPr lang="en-US" sz="4400" dirty="0">
                <a:cs typeface="Arial"/>
              </a:rPr>
              <a:t> 8   </a:t>
            </a:r>
            <a:r>
              <a:rPr lang="en-US" sz="4400" b="1" dirty="0">
                <a:cs typeface="Arial"/>
              </a:rPr>
              <a:t>Vertices: </a:t>
            </a:r>
            <a:r>
              <a:rPr lang="en-US" sz="4400" dirty="0">
                <a:cs typeface="Arial"/>
              </a:rPr>
              <a:t>5</a:t>
            </a:r>
          </a:p>
          <a:p>
            <a:pPr algn="ctr">
              <a:lnSpc>
                <a:spcPct val="150000"/>
              </a:lnSpc>
            </a:pPr>
            <a:r>
              <a:rPr lang="en-US" sz="4400" dirty="0">
                <a:cs typeface="Arial"/>
              </a:rPr>
              <a:t>Use the information to </a:t>
            </a:r>
            <a:r>
              <a:rPr lang="en-US" sz="4400" b="1" dirty="0">
                <a:cs typeface="Arial"/>
              </a:rPr>
              <a:t>draw a simple sketch </a:t>
            </a:r>
            <a:r>
              <a:rPr lang="en-US" sz="4400" dirty="0">
                <a:cs typeface="Arial"/>
              </a:rPr>
              <a:t>of this object</a:t>
            </a:r>
            <a:r>
              <a:rPr lang="en-US" sz="3200" dirty="0">
                <a:cs typeface="Arial"/>
              </a:rPr>
              <a:t>.</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FCF4659-4F1D-FF7E-53C4-BED2279084DB}"/>
              </a:ext>
            </a:extLst>
          </p:cNvPr>
          <p:cNvSpPr txBox="1"/>
          <p:nvPr/>
        </p:nvSpPr>
        <p:spPr>
          <a:xfrm>
            <a:off x="229582" y="958852"/>
            <a:ext cx="5390929" cy="573714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457200" indent="-457200">
              <a:lnSpc>
                <a:spcPct val="150000"/>
              </a:lnSpc>
              <a:buFont typeface="Arial" panose="020B0604020202020204" pitchFamily="34" charset="0"/>
              <a:buChar char="•"/>
            </a:pPr>
            <a:r>
              <a:rPr lang="en-US" sz="2800">
                <a:cs typeface="Arial"/>
              </a:rPr>
              <a:t>Start at the bookstore facing the welcome sign.</a:t>
            </a:r>
          </a:p>
          <a:p>
            <a:pPr marL="457200" indent="-457200">
              <a:lnSpc>
                <a:spcPct val="150000"/>
              </a:lnSpc>
              <a:buFont typeface="Arial" panose="020B0604020202020204" pitchFamily="34" charset="0"/>
              <a:buChar char="•"/>
            </a:pPr>
            <a:r>
              <a:rPr lang="en-US" sz="2800">
                <a:cs typeface="Arial"/>
              </a:rPr>
              <a:t>Move forward 1 square.</a:t>
            </a:r>
          </a:p>
          <a:p>
            <a:pPr marL="457200" indent="-457200">
              <a:lnSpc>
                <a:spcPct val="150000"/>
              </a:lnSpc>
              <a:buFont typeface="Arial" panose="020B0604020202020204" pitchFamily="34" charset="0"/>
              <a:buChar char="•"/>
            </a:pPr>
            <a:r>
              <a:rPr lang="en-US" sz="2800">
                <a:cs typeface="Arial"/>
              </a:rPr>
              <a:t>Make a right-angled turn to face the post office.</a:t>
            </a:r>
          </a:p>
          <a:p>
            <a:pPr marL="457200" indent="-457200">
              <a:lnSpc>
                <a:spcPct val="150000"/>
              </a:lnSpc>
              <a:buFont typeface="Arial" panose="020B0604020202020204" pitchFamily="34" charset="0"/>
              <a:buChar char="•"/>
            </a:pPr>
            <a:r>
              <a:rPr lang="en-US" sz="2800">
                <a:cs typeface="Arial"/>
              </a:rPr>
              <a:t>Move forward 4 squares.</a:t>
            </a:r>
          </a:p>
          <a:p>
            <a:pPr marL="457200" indent="-457200">
              <a:lnSpc>
                <a:spcPct val="150000"/>
              </a:lnSpc>
              <a:buFont typeface="Arial" panose="020B0604020202020204" pitchFamily="34" charset="0"/>
              <a:buChar char="•"/>
            </a:pPr>
            <a:r>
              <a:rPr lang="en-US" sz="2800">
                <a:cs typeface="Arial"/>
              </a:rPr>
              <a:t>Make a quarter turn to the right and move forward 1 square. </a:t>
            </a:r>
          </a:p>
          <a:p>
            <a:pPr>
              <a:lnSpc>
                <a:spcPct val="150000"/>
              </a:lnSpc>
            </a:pPr>
            <a:r>
              <a:rPr lang="en-US" sz="2800" b="1">
                <a:cs typeface="Arial"/>
              </a:rPr>
              <a:t>Which building is on the left?</a:t>
            </a:r>
            <a:endParaRPr lang="en-US" sz="2800" b="1"/>
          </a:p>
        </p:txBody>
      </p:sp>
      <p:pic>
        <p:nvPicPr>
          <p:cNvPr id="4" name="Picture 3" descr="A town map divided into grids with buildings and trees. It is a 5X5 grid. The first column has a welcome gate in bottom square, a town hall building in the second square, a library in the third square, a school in the fourth square, a playground in the fifth square and a soccer field in the top square. The second column on the map has 4 squares of road and the top square is the post office. The third column has a bookstore at the bottom, followed by a square of road, then 2 squares with a central park space. The fourth column shows a toy shop and 4 squares covered in road surface. The fifth column shows an animal rescue centre for the first square, road for the second square, a supermarket, pizza shop, a hardware store and finally a fire station at the top right corner.&#10;&#10;">
            <a:extLst>
              <a:ext uri="{FF2B5EF4-FFF2-40B4-BE49-F238E27FC236}">
                <a16:creationId xmlns:a16="http://schemas.microsoft.com/office/drawing/2014/main" id="{6C9E273C-7ED7-1C28-11C6-BD681B12235F}"/>
              </a:ext>
            </a:extLst>
          </p:cNvPr>
          <p:cNvPicPr>
            <a:picLocks noChangeAspect="1"/>
          </p:cNvPicPr>
          <p:nvPr/>
        </p:nvPicPr>
        <p:blipFill>
          <a:blip r:embed="rId4"/>
          <a:srcRect l="9316" t="-33" r="15086" b="3151"/>
          <a:stretch>
            <a:fillRect/>
          </a:stretch>
        </p:blipFill>
        <p:spPr>
          <a:xfrm>
            <a:off x="5829137" y="1179724"/>
            <a:ext cx="6014863" cy="5409553"/>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The image on the left is an array with a pair of 4 x 3 smaller arrays forming a 4 x 6 array.  ">
            <a:extLst>
              <a:ext uri="{FF2B5EF4-FFF2-40B4-BE49-F238E27FC236}">
                <a16:creationId xmlns:a16="http://schemas.microsoft.com/office/drawing/2014/main" id="{953FE71A-5D8C-2AF9-0A70-AFCB6FF668A4}"/>
              </a:ext>
            </a:extLst>
          </p:cNvPr>
          <p:cNvPicPr>
            <a:picLocks noChangeAspect="1"/>
          </p:cNvPicPr>
          <p:nvPr/>
        </p:nvPicPr>
        <p:blipFill>
          <a:blip r:embed="rId4"/>
          <a:srcRect l="6195" t="16179" r="51525" b="2238"/>
          <a:stretch>
            <a:fillRect/>
          </a:stretch>
        </p:blipFill>
        <p:spPr>
          <a:xfrm>
            <a:off x="723900" y="1402080"/>
            <a:ext cx="4197350" cy="4555389"/>
          </a:xfrm>
          <a:prstGeom prst="rect">
            <a:avLst/>
          </a:prstGeom>
        </p:spPr>
      </p:pic>
      <p:pic>
        <p:nvPicPr>
          <p:cNvPr id="7" name="Picture 6" descr="The second image is a 5 x 4 array joined to a second 5 x 4 array resulting in a 5 x 8 array.">
            <a:extLst>
              <a:ext uri="{FF2B5EF4-FFF2-40B4-BE49-F238E27FC236}">
                <a16:creationId xmlns:a16="http://schemas.microsoft.com/office/drawing/2014/main" id="{B2B4EDC2-B421-A988-8852-798BBAD4A2FD}"/>
              </a:ext>
            </a:extLst>
          </p:cNvPr>
          <p:cNvPicPr>
            <a:picLocks noChangeAspect="1"/>
          </p:cNvPicPr>
          <p:nvPr/>
        </p:nvPicPr>
        <p:blipFill>
          <a:blip r:embed="rId4"/>
          <a:srcRect l="47531" t="15146" r="3969" b="1893"/>
          <a:stretch>
            <a:fillRect/>
          </a:stretch>
        </p:blipFill>
        <p:spPr>
          <a:xfrm>
            <a:off x="5992313" y="1304544"/>
            <a:ext cx="4734955" cy="4555389"/>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44E5C2B-3B20-2D14-666A-BC638DBD79D7}"/>
              </a:ext>
            </a:extLst>
          </p:cNvPr>
          <p:cNvSpPr txBox="1"/>
          <p:nvPr/>
        </p:nvSpPr>
        <p:spPr>
          <a:xfrm>
            <a:off x="354000" y="1123952"/>
            <a:ext cx="11484000" cy="707886"/>
          </a:xfrm>
          <a:prstGeom prst="rect">
            <a:avLst/>
          </a:prstGeom>
          <a:noFill/>
        </p:spPr>
        <p:txBody>
          <a:bodyPr wrap="square">
            <a:spAutoFit/>
          </a:bodyPr>
          <a:lstStyle/>
          <a:p>
            <a:pPr algn="ctr">
              <a:buNone/>
            </a:pPr>
            <a:r>
              <a:rPr lang="en-AU" sz="4000" b="1" i="0" dirty="0">
                <a:solidFill>
                  <a:srgbClr val="000000"/>
                </a:solidFill>
                <a:effectLst/>
              </a:rPr>
              <a:t>Sketch </a:t>
            </a:r>
            <a:r>
              <a:rPr lang="en-AU" sz="4000" i="0" dirty="0">
                <a:solidFill>
                  <a:srgbClr val="000000"/>
                </a:solidFill>
                <a:effectLst/>
              </a:rPr>
              <a:t>the</a:t>
            </a:r>
            <a:r>
              <a:rPr lang="en-AU" sz="4000" b="1" i="0" dirty="0">
                <a:solidFill>
                  <a:srgbClr val="000000"/>
                </a:solidFill>
                <a:effectLst/>
              </a:rPr>
              <a:t> top</a:t>
            </a:r>
            <a:r>
              <a:rPr lang="en-AU" sz="4000" b="1" dirty="0">
                <a:solidFill>
                  <a:srgbClr val="000000"/>
                </a:solidFill>
              </a:rPr>
              <a:t> </a:t>
            </a:r>
            <a:r>
              <a:rPr lang="en-AU" sz="4000" b="1" i="0" dirty="0">
                <a:solidFill>
                  <a:srgbClr val="000000"/>
                </a:solidFill>
                <a:effectLst/>
              </a:rPr>
              <a:t>and side view.</a:t>
            </a:r>
            <a:endParaRPr lang="en-AU" sz="4000" b="0" i="0" dirty="0">
              <a:solidFill>
                <a:srgbClr val="000000"/>
              </a:solidFill>
              <a:effectLst/>
            </a:endParaRPr>
          </a:p>
        </p:txBody>
      </p:sp>
      <p:sp>
        <p:nvSpPr>
          <p:cNvPr id="7" name="Freeform 2" descr="A hexagonal prism with edges visible.">
            <a:extLst>
              <a:ext uri="{FF2B5EF4-FFF2-40B4-BE49-F238E27FC236}">
                <a16:creationId xmlns:a16="http://schemas.microsoft.com/office/drawing/2014/main" id="{97C00D2A-3BE1-94A0-0B52-A648361D95CC}"/>
              </a:ext>
            </a:extLst>
          </p:cNvPr>
          <p:cNvSpPr>
            <a:spLocks noChangeAspect="1"/>
          </p:cNvSpPr>
          <p:nvPr/>
        </p:nvSpPr>
        <p:spPr>
          <a:xfrm>
            <a:off x="4861895" y="2254376"/>
            <a:ext cx="2468209" cy="3839085"/>
          </a:xfrm>
          <a:custGeom>
            <a:avLst/>
            <a:gdLst/>
            <a:ahLst/>
            <a:cxnLst/>
            <a:rect l="l" t="t" r="r" b="b"/>
            <a:pathLst>
              <a:path w="493642" h="767817">
                <a:moveTo>
                  <a:pt x="0" y="0"/>
                </a:moveTo>
                <a:lnTo>
                  <a:pt x="493643" y="0"/>
                </a:lnTo>
                <a:lnTo>
                  <a:pt x="493643" y="767817"/>
                </a:lnTo>
                <a:lnTo>
                  <a:pt x="0" y="767817"/>
                </a:lnTo>
                <a:lnTo>
                  <a:pt x="0" y="0"/>
                </a:lnTo>
                <a:close/>
              </a:path>
            </a:pathLst>
          </a:custGeom>
          <a:blipFill>
            <a:blip r:embed="rId4"/>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latin typeface="Arial"/>
                <a:cs typeface="Arial"/>
              </a:rPr>
              <a:t>Activity 2 – to the nearest thousand</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6DA25FCF-91EC-3790-F7CC-7FACC1A85D1A}"/>
              </a:ext>
            </a:extLst>
          </p:cNvPr>
          <p:cNvSpPr txBox="1"/>
          <p:nvPr/>
        </p:nvSpPr>
        <p:spPr>
          <a:xfrm>
            <a:off x="360000" y="1461078"/>
            <a:ext cx="10596188" cy="553997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457200" indent="-457200" rtl="0">
              <a:lnSpc>
                <a:spcPct val="150000"/>
              </a:lnSpc>
              <a:buFont typeface="Arial" panose="020B0604020202020204" pitchFamily="34" charset="0"/>
              <a:buChar char="•"/>
            </a:pPr>
            <a:r>
              <a:rPr lang="en-AU" sz="2800" b="1" baseline="0" dirty="0">
                <a:solidFill>
                  <a:srgbClr val="22272B"/>
                </a:solidFill>
                <a:latin typeface="Public Sans Light"/>
                <a:ea typeface="Segoe UI"/>
                <a:cs typeface="Segoe UI"/>
              </a:rPr>
              <a:t>Record</a:t>
            </a:r>
            <a:r>
              <a:rPr lang="en-AU" sz="2800" baseline="0" dirty="0">
                <a:solidFill>
                  <a:srgbClr val="22272B"/>
                </a:solidFill>
                <a:latin typeface="Public Sans Light"/>
                <a:ea typeface="Segoe UI"/>
                <a:cs typeface="Segoe UI"/>
              </a:rPr>
              <a:t> these target numbers:</a:t>
            </a:r>
            <a:r>
              <a:rPr lang="en-US" sz="2800" dirty="0">
                <a:solidFill>
                  <a:srgbClr val="22272B"/>
                </a:solidFill>
                <a:latin typeface="Public Sans Light"/>
                <a:ea typeface="Segoe UI"/>
                <a:cs typeface="Segoe UI"/>
              </a:rPr>
              <a:t>​</a:t>
            </a:r>
          </a:p>
          <a:p>
            <a:pPr algn="ctr" rtl="0">
              <a:lnSpc>
                <a:spcPct val="150000"/>
              </a:lnSpc>
            </a:pPr>
            <a:r>
              <a:rPr lang="en-AU" sz="3600" baseline="0" dirty="0">
                <a:solidFill>
                  <a:srgbClr val="22272B"/>
                </a:solidFill>
                <a:latin typeface="Public Sans Light"/>
                <a:ea typeface="Segoe UI"/>
                <a:cs typeface="Segoe UI"/>
              </a:rPr>
              <a:t>20 000</a:t>
            </a:r>
            <a:r>
              <a:rPr lang="en-US" sz="3600" dirty="0">
                <a:solidFill>
                  <a:srgbClr val="22272B"/>
                </a:solidFill>
                <a:latin typeface="Public Sans Light"/>
                <a:ea typeface="Segoe UI"/>
                <a:cs typeface="Segoe UI"/>
              </a:rPr>
              <a:t>​</a:t>
            </a:r>
          </a:p>
          <a:p>
            <a:pPr algn="ctr" rtl="0">
              <a:lnSpc>
                <a:spcPct val="150000"/>
              </a:lnSpc>
            </a:pPr>
            <a:r>
              <a:rPr lang="en-AU" sz="3600" baseline="0" dirty="0">
                <a:solidFill>
                  <a:srgbClr val="22272B"/>
                </a:solidFill>
                <a:latin typeface="Public Sans Light"/>
                <a:ea typeface="Segoe UI"/>
                <a:cs typeface="Segoe UI"/>
              </a:rPr>
              <a:t>40 000</a:t>
            </a:r>
            <a:r>
              <a:rPr lang="en-US" sz="3600" dirty="0">
                <a:solidFill>
                  <a:srgbClr val="22272B"/>
                </a:solidFill>
                <a:latin typeface="Public Sans Light"/>
                <a:ea typeface="Segoe UI"/>
                <a:cs typeface="Segoe UI"/>
              </a:rPr>
              <a:t>​</a:t>
            </a:r>
          </a:p>
          <a:p>
            <a:pPr algn="ctr" rtl="0">
              <a:lnSpc>
                <a:spcPct val="150000"/>
              </a:lnSpc>
            </a:pPr>
            <a:r>
              <a:rPr lang="en-AU" sz="3600" baseline="0" dirty="0">
                <a:solidFill>
                  <a:srgbClr val="22272B"/>
                </a:solidFill>
                <a:latin typeface="Public Sans Light"/>
                <a:ea typeface="Segoe UI"/>
                <a:cs typeface="Segoe UI"/>
              </a:rPr>
              <a:t>60 000</a:t>
            </a:r>
            <a:r>
              <a:rPr lang="en-US" sz="3600" dirty="0">
                <a:solidFill>
                  <a:srgbClr val="22272B"/>
                </a:solidFill>
                <a:latin typeface="Public Sans Light"/>
                <a:ea typeface="Segoe UI"/>
                <a:cs typeface="Segoe UI"/>
              </a:rPr>
              <a:t>​</a:t>
            </a:r>
          </a:p>
          <a:p>
            <a:pPr algn="ctr" rtl="0">
              <a:lnSpc>
                <a:spcPct val="150000"/>
              </a:lnSpc>
            </a:pPr>
            <a:r>
              <a:rPr lang="en-AU" sz="3600" baseline="0" dirty="0">
                <a:solidFill>
                  <a:srgbClr val="22272B"/>
                </a:solidFill>
                <a:latin typeface="Public Sans Light"/>
                <a:ea typeface="Segoe UI"/>
                <a:cs typeface="Segoe UI"/>
              </a:rPr>
              <a:t>80 000</a:t>
            </a:r>
            <a:r>
              <a:rPr lang="en-US" sz="3600" dirty="0">
                <a:solidFill>
                  <a:srgbClr val="22272B"/>
                </a:solidFill>
                <a:latin typeface="Public Sans Light"/>
                <a:ea typeface="Segoe UI"/>
                <a:cs typeface="Segoe UI"/>
              </a:rPr>
              <a:t>​</a:t>
            </a:r>
            <a:endParaRPr lang="en-AU" sz="3600" dirty="0">
              <a:solidFill>
                <a:srgbClr val="22272B"/>
              </a:solidFill>
              <a:latin typeface="Public Sans Light"/>
              <a:ea typeface="Segoe UI"/>
              <a:cs typeface="Segoe UI"/>
            </a:endParaRPr>
          </a:p>
          <a:p>
            <a:pPr marL="457200" indent="-457200">
              <a:lnSpc>
                <a:spcPct val="150000"/>
              </a:lnSpc>
              <a:buFont typeface="Arial" panose="020B0604020202020204" pitchFamily="34" charset="0"/>
              <a:buChar char="•"/>
            </a:pPr>
            <a:r>
              <a:rPr lang="en-AU" sz="2800" b="1" baseline="0" dirty="0">
                <a:solidFill>
                  <a:srgbClr val="22272B"/>
                </a:solidFill>
                <a:latin typeface="Public Sans Light"/>
                <a:ea typeface="Segoe UI"/>
                <a:cs typeface="Segoe UI"/>
              </a:rPr>
              <a:t>Roll </a:t>
            </a:r>
            <a:r>
              <a:rPr lang="en-AU" sz="2800" b="1" dirty="0">
                <a:solidFill>
                  <a:srgbClr val="22272B"/>
                </a:solidFill>
                <a:latin typeface="Public Sans Light"/>
                <a:ea typeface="Segoe UI"/>
                <a:cs typeface="Segoe UI"/>
              </a:rPr>
              <a:t>five 0-9 dice</a:t>
            </a:r>
            <a:r>
              <a:rPr lang="en-AU" sz="2800" baseline="0" dirty="0">
                <a:solidFill>
                  <a:srgbClr val="22272B"/>
                </a:solidFill>
                <a:latin typeface="Public Sans Light"/>
                <a:ea typeface="Segoe UI"/>
                <a:cs typeface="Segoe UI"/>
              </a:rPr>
              <a:t> to </a:t>
            </a:r>
            <a:r>
              <a:rPr lang="en-AU" sz="2800" b="1" baseline="0" dirty="0">
                <a:solidFill>
                  <a:srgbClr val="22272B"/>
                </a:solidFill>
                <a:latin typeface="Public Sans Light"/>
                <a:ea typeface="Segoe UI"/>
                <a:cs typeface="Segoe UI"/>
              </a:rPr>
              <a:t>make a 5-digit number</a:t>
            </a:r>
            <a:r>
              <a:rPr lang="en-AU" sz="2800" baseline="0" dirty="0">
                <a:solidFill>
                  <a:srgbClr val="22272B"/>
                </a:solidFill>
                <a:latin typeface="Public Sans Light"/>
                <a:ea typeface="Segoe UI"/>
                <a:cs typeface="Segoe UI"/>
              </a:rPr>
              <a:t> as close as possible</a:t>
            </a:r>
            <a:r>
              <a:rPr lang="en-US" sz="2800" dirty="0">
                <a:solidFill>
                  <a:srgbClr val="22272B"/>
                </a:solidFill>
                <a:latin typeface="Public Sans Light"/>
                <a:ea typeface="Segoe UI"/>
                <a:cs typeface="Segoe UI"/>
              </a:rPr>
              <a:t>​ </a:t>
            </a:r>
            <a:r>
              <a:rPr lang="en-AU" sz="2800" baseline="0" dirty="0">
                <a:solidFill>
                  <a:srgbClr val="22272B"/>
                </a:solidFill>
                <a:latin typeface="Public Sans Light"/>
                <a:ea typeface="Segoe UI"/>
                <a:cs typeface="Segoe UI"/>
              </a:rPr>
              <a:t>to each target number.</a:t>
            </a:r>
          </a:p>
          <a:p>
            <a:pPr algn="l"/>
            <a:endParaRPr lang="en-US" sz="1800" dirty="0"/>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a:xfrm>
            <a:off x="11130578" y="6522578"/>
            <a:ext cx="720000" cy="180000"/>
          </a:xfrm>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(2)</a:t>
            </a:r>
          </a:p>
        </p:txBody>
      </p:sp>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600963" y="1492336"/>
            <a:ext cx="11243037" cy="1481606"/>
          </a:xfrm>
        </p:spPr>
        <p:txBody>
          <a:bodyPr vert="horz" lIns="0" tIns="0" rIns="0" bIns="0" rtlCol="0" anchor="t">
            <a:noAutofit/>
          </a:bodyPr>
          <a:lstStyle/>
          <a:p>
            <a:r>
              <a:rPr lang="en-US" sz="3600" dirty="0">
                <a:latin typeface="Arial"/>
                <a:cs typeface="Arial"/>
              </a:rPr>
              <a:t>Which is the </a:t>
            </a:r>
            <a:r>
              <a:rPr lang="en-US" sz="3600" b="1" dirty="0">
                <a:latin typeface="Arial"/>
                <a:cs typeface="Arial"/>
              </a:rPr>
              <a:t>closest thousand</a:t>
            </a:r>
            <a:r>
              <a:rPr lang="en-US" sz="3600" dirty="0">
                <a:latin typeface="Arial"/>
                <a:cs typeface="Arial"/>
              </a:rPr>
              <a:t> to 7492?</a:t>
            </a:r>
            <a:endParaRPr lang="en-US" sz="3600" dirty="0"/>
          </a:p>
        </p:txBody>
      </p:sp>
      <p:sp>
        <p:nvSpPr>
          <p:cNvPr id="9" name="B">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415117" y="2852647"/>
            <a:ext cx="10175920" cy="641396"/>
          </a:xfrm>
        </p:spPr>
        <p:txBody>
          <a:bodyPr anchor="ctr"/>
          <a:lstStyle/>
          <a:p>
            <a:r>
              <a:rPr lang="en-US" sz="3600" dirty="0">
                <a:cs typeface="Arial"/>
              </a:rPr>
              <a:t>7490</a:t>
            </a:r>
            <a:endParaRPr lang="en-US" sz="3600" dirty="0"/>
          </a:p>
        </p:txBody>
      </p:sp>
      <p:sp>
        <p:nvSpPr>
          <p:cNvPr id="10" name="B">
            <a:extLst>
              <a:ext uri="{FF2B5EF4-FFF2-40B4-BE49-F238E27FC236}">
                <a16:creationId xmlns:a16="http://schemas.microsoft.com/office/drawing/2014/main" id="{CA9D5B15-A13C-EE8B-176F-3B4E3454A1A2}"/>
              </a:ext>
            </a:extLst>
          </p:cNvPr>
          <p:cNvSpPr txBox="1"/>
          <p:nvPr/>
        </p:nvSpPr>
        <p:spPr>
          <a:xfrm>
            <a:off x="670559" y="38058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415117" y="3854459"/>
            <a:ext cx="10175920" cy="641396"/>
          </a:xfrm>
        </p:spPr>
        <p:txBody>
          <a:bodyPr anchor="ctr"/>
          <a:lstStyle/>
          <a:p>
            <a:r>
              <a:rPr lang="en-US" sz="3600">
                <a:cs typeface="Arial"/>
              </a:rPr>
              <a:t>7000</a:t>
            </a:r>
            <a:endParaRPr lang="en-US" sz="3600"/>
          </a:p>
        </p:txBody>
      </p:sp>
      <p:sp>
        <p:nvSpPr>
          <p:cNvPr id="12" name="C">
            <a:extLst>
              <a:ext uri="{FF2B5EF4-FFF2-40B4-BE49-F238E27FC236}">
                <a16:creationId xmlns:a16="http://schemas.microsoft.com/office/drawing/2014/main" id="{B4746450-E4E2-359C-DFCA-0532E811BD1E}"/>
              </a:ext>
            </a:extLst>
          </p:cNvPr>
          <p:cNvSpPr txBox="1"/>
          <p:nvPr/>
        </p:nvSpPr>
        <p:spPr>
          <a:xfrm>
            <a:off x="670558" y="47825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415117" y="4767769"/>
            <a:ext cx="10175920" cy="641396"/>
          </a:xfrm>
        </p:spPr>
        <p:txBody>
          <a:bodyPr anchor="ctr"/>
          <a:lstStyle/>
          <a:p>
            <a:r>
              <a:rPr lang="en-US" sz="3600">
                <a:cs typeface="Arial"/>
              </a:rPr>
              <a:t>8000</a:t>
            </a:r>
            <a:endParaRPr lang="en-US" sz="3600"/>
          </a:p>
        </p:txBody>
      </p:sp>
      <p:sp>
        <p:nvSpPr>
          <p:cNvPr id="11" name="D">
            <a:extLst>
              <a:ext uri="{FF2B5EF4-FFF2-40B4-BE49-F238E27FC236}">
                <a16:creationId xmlns:a16="http://schemas.microsoft.com/office/drawing/2014/main" id="{9B8955CE-78C1-2F30-7505-4CA44A86BDFF}"/>
              </a:ext>
            </a:extLst>
          </p:cNvPr>
          <p:cNvSpPr txBox="1"/>
          <p:nvPr/>
        </p:nvSpPr>
        <p:spPr>
          <a:xfrm>
            <a:off x="670558"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415117" y="5807970"/>
            <a:ext cx="10175920" cy="641396"/>
          </a:xfrm>
        </p:spPr>
        <p:txBody>
          <a:bodyPr anchor="ctr"/>
          <a:lstStyle/>
          <a:p>
            <a:r>
              <a:rPr lang="en-US" sz="3600">
                <a:cs typeface="Arial"/>
              </a:rPr>
              <a:t>7500</a:t>
            </a:r>
            <a:endParaRPr lang="en-US" sz="3600"/>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6C6C065-A57E-CE87-CE69-D5E8B1BB9696}"/>
              </a:ext>
            </a:extLst>
          </p:cNvPr>
          <p:cNvSpPr txBox="1"/>
          <p:nvPr/>
        </p:nvSpPr>
        <p:spPr>
          <a:xfrm>
            <a:off x="1527821" y="2065092"/>
            <a:ext cx="9136357"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AU" sz="4400" dirty="0"/>
              <a:t>Sketch a </a:t>
            </a:r>
            <a:r>
              <a:rPr lang="en-AU" sz="4400" b="1" dirty="0"/>
              <a:t>rectangular prism </a:t>
            </a:r>
            <a:r>
              <a:rPr lang="en-AU" sz="4400" dirty="0"/>
              <a:t>showing </a:t>
            </a:r>
            <a:r>
              <a:rPr lang="en-AU" sz="4400" b="1" dirty="0"/>
              <a:t>depth.</a:t>
            </a:r>
            <a:r>
              <a:rPr lang="en-AU" sz="4400" dirty="0"/>
              <a:t> Think about the </a:t>
            </a:r>
            <a:r>
              <a:rPr lang="en-AU" sz="4400" b="1" dirty="0"/>
              <a:t>2D shapes </a:t>
            </a:r>
            <a:r>
              <a:rPr lang="en-AU" sz="4400" dirty="0"/>
              <a:t>that can be seen. </a:t>
            </a:r>
            <a:endParaRPr lang="en-US" sz="440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87C2DE7-6328-772A-9289-B232F458A0DF}"/>
              </a:ext>
            </a:extLst>
          </p:cNvPr>
          <p:cNvSpPr txBox="1"/>
          <p:nvPr/>
        </p:nvSpPr>
        <p:spPr>
          <a:xfrm>
            <a:off x="500815" y="1058453"/>
            <a:ext cx="4426785" cy="550657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spcBef>
                <a:spcPts val="1200"/>
              </a:spcBef>
              <a:spcAft>
                <a:spcPts val="600"/>
              </a:spcAft>
            </a:pPr>
            <a:r>
              <a:rPr lang="en-US" sz="3600" b="1">
                <a:cs typeface="Arial"/>
              </a:rPr>
              <a:t>Record</a:t>
            </a:r>
            <a:r>
              <a:rPr lang="en-US" sz="3600">
                <a:cs typeface="Arial"/>
              </a:rPr>
              <a:t> the grid references for the: </a:t>
            </a:r>
          </a:p>
          <a:p>
            <a:pPr marL="342900" indent="-342900">
              <a:lnSpc>
                <a:spcPct val="200000"/>
              </a:lnSpc>
              <a:spcBef>
                <a:spcPts val="1200"/>
              </a:spcBef>
              <a:spcAft>
                <a:spcPts val="600"/>
              </a:spcAft>
              <a:buFont typeface="Arial" panose="020B0604020202020204" pitchFamily="34" charset="0"/>
              <a:buChar char="•"/>
            </a:pPr>
            <a:r>
              <a:rPr lang="en-US" sz="3600" b="1">
                <a:cs typeface="Arial" panose="020B0604020202020204"/>
              </a:rPr>
              <a:t>mountains </a:t>
            </a:r>
            <a:endParaRPr lang="en-US" sz="3600">
              <a:cs typeface="Arial" panose="020B0604020202020204"/>
            </a:endParaRPr>
          </a:p>
          <a:p>
            <a:pPr marL="342900" indent="-342900">
              <a:lnSpc>
                <a:spcPct val="200000"/>
              </a:lnSpc>
              <a:spcBef>
                <a:spcPts val="1200"/>
              </a:spcBef>
              <a:spcAft>
                <a:spcPts val="600"/>
              </a:spcAft>
              <a:buFont typeface="Arial" panose="020B0604020202020204" pitchFamily="34" charset="0"/>
              <a:buChar char="•"/>
            </a:pPr>
            <a:r>
              <a:rPr lang="en-US" sz="3600" b="1">
                <a:cs typeface="Arial" panose="020B0604020202020204"/>
              </a:rPr>
              <a:t>mermaid</a:t>
            </a:r>
            <a:endParaRPr lang="en-US" sz="3600">
              <a:cs typeface="Arial" panose="020B0604020202020204"/>
            </a:endParaRPr>
          </a:p>
          <a:p>
            <a:pPr marL="342900" indent="-342900">
              <a:lnSpc>
                <a:spcPct val="200000"/>
              </a:lnSpc>
              <a:spcBef>
                <a:spcPts val="1200"/>
              </a:spcBef>
              <a:spcAft>
                <a:spcPts val="600"/>
              </a:spcAft>
              <a:buFont typeface="Arial" panose="020B0604020202020204" pitchFamily="34" charset="0"/>
              <a:buChar char="•"/>
            </a:pPr>
            <a:r>
              <a:rPr lang="en-US" sz="3600" b="1">
                <a:cs typeface="Arial" panose="020B0604020202020204"/>
              </a:rPr>
              <a:t>treasure chest</a:t>
            </a:r>
            <a:endParaRPr lang="en-US" sz="3600">
              <a:cs typeface="Arial" panose="020B0604020202020204"/>
            </a:endParaRPr>
          </a:p>
        </p:txBody>
      </p:sp>
      <p:pic>
        <p:nvPicPr>
          <p:cNvPr id="15" name="Picture 14" descr="An image of two mountains.">
            <a:extLst>
              <a:ext uri="{FF2B5EF4-FFF2-40B4-BE49-F238E27FC236}">
                <a16:creationId xmlns:a16="http://schemas.microsoft.com/office/drawing/2014/main" id="{77DBE822-C835-9422-B45E-FFC9AC6A3E3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402506" y="3023278"/>
            <a:ext cx="1047207" cy="729398"/>
          </a:xfrm>
          <a:prstGeom prst="rect">
            <a:avLst/>
          </a:prstGeom>
        </p:spPr>
      </p:pic>
      <p:pic>
        <p:nvPicPr>
          <p:cNvPr id="16" name="Picture 15" descr="An image of a mermaid.">
            <a:extLst>
              <a:ext uri="{FF2B5EF4-FFF2-40B4-BE49-F238E27FC236}">
                <a16:creationId xmlns:a16="http://schemas.microsoft.com/office/drawing/2014/main" id="{4974B483-DCC2-7563-44BE-7A3CF278A59D}"/>
              </a:ext>
            </a:extLst>
          </p:cNvPr>
          <p:cNvPicPr>
            <a:picLocks noChangeAspect="1"/>
          </p:cNvPicPr>
          <p:nvPr/>
        </p:nvPicPr>
        <p:blipFill>
          <a:blip r:embed="rId6"/>
          <a:stretch>
            <a:fillRect/>
          </a:stretch>
        </p:blipFill>
        <p:spPr>
          <a:xfrm>
            <a:off x="2934180" y="4189502"/>
            <a:ext cx="634039" cy="969348"/>
          </a:xfrm>
          <a:prstGeom prst="rect">
            <a:avLst/>
          </a:prstGeom>
        </p:spPr>
      </p:pic>
      <p:sp>
        <p:nvSpPr>
          <p:cNvPr id="13" name="Freeform 4" descr="An image of an open treasure chest.">
            <a:extLst>
              <a:ext uri="{FF2B5EF4-FFF2-40B4-BE49-F238E27FC236}">
                <a16:creationId xmlns:a16="http://schemas.microsoft.com/office/drawing/2014/main" id="{571585F2-905B-8678-C600-A3B983360E43}"/>
              </a:ext>
            </a:extLst>
          </p:cNvPr>
          <p:cNvSpPr/>
          <p:nvPr/>
        </p:nvSpPr>
        <p:spPr>
          <a:xfrm>
            <a:off x="4110736" y="5754401"/>
            <a:ext cx="677953" cy="696229"/>
          </a:xfrm>
          <a:custGeom>
            <a:avLst/>
            <a:gdLst/>
            <a:ahLst/>
            <a:cxnLst/>
            <a:rect l="l" t="t" r="r" b="b"/>
            <a:pathLst>
              <a:path w="677953" h="696229">
                <a:moveTo>
                  <a:pt x="0" y="0"/>
                </a:moveTo>
                <a:lnTo>
                  <a:pt x="677953" y="0"/>
                </a:lnTo>
                <a:lnTo>
                  <a:pt x="677953" y="696229"/>
                </a:lnTo>
                <a:lnTo>
                  <a:pt x="0" y="69622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pic>
        <p:nvPicPr>
          <p:cNvPr id="4" name="Picture 3" descr="A map divided into a grid, A-F on the horizontal axis and 1-4 on the vertical axis. Objects in column 1: sharks in square 1, water in square 2 and 3, and a pirate ship in square 4. Column 2: water square 1, volcano on a small island square 2. The big island goes from column 2 to column 6. Column 3 has mountains. Column 4: Land in most squares with 2 palm trees in square 3. Column 5: Rock at square 1. Column 6: Mermaid in square 2, treasure chest in column 6.">
            <a:extLst>
              <a:ext uri="{FF2B5EF4-FFF2-40B4-BE49-F238E27FC236}">
                <a16:creationId xmlns:a16="http://schemas.microsoft.com/office/drawing/2014/main" id="{77EE67AC-4481-46CC-2869-4E9C4E1CE032}"/>
              </a:ext>
            </a:extLst>
          </p:cNvPr>
          <p:cNvPicPr>
            <a:picLocks noChangeAspect="1"/>
          </p:cNvPicPr>
          <p:nvPr/>
        </p:nvPicPr>
        <p:blipFill>
          <a:blip r:embed="rId9"/>
          <a:srcRect l="9793" t="8333" r="13118" b="9487"/>
          <a:stretch>
            <a:fillRect/>
          </a:stretch>
        </p:blipFill>
        <p:spPr>
          <a:xfrm>
            <a:off x="5543634" y="1402836"/>
            <a:ext cx="6224832" cy="4699680"/>
          </a:xfrm>
          <a:prstGeom prst="rect">
            <a:avLst/>
          </a:prstGeom>
          <a:effectLst/>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130F477-08C0-BD4A-9DE3-553327F7A981}"/>
              </a:ext>
            </a:extLst>
          </p:cNvPr>
          <p:cNvSpPr txBox="1"/>
          <p:nvPr/>
        </p:nvSpPr>
        <p:spPr>
          <a:xfrm>
            <a:off x="603850" y="1375195"/>
            <a:ext cx="10984300" cy="477053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rtl="0">
              <a:lnSpc>
                <a:spcPct val="150000"/>
              </a:lnSpc>
              <a:spcBef>
                <a:spcPts val="1200"/>
              </a:spcBef>
              <a:spcAft>
                <a:spcPts val="600"/>
              </a:spcAft>
            </a:pPr>
            <a:r>
              <a:rPr lang="en-US" sz="4400" baseline="0" dirty="0">
                <a:solidFill>
                  <a:srgbClr val="22272B"/>
                </a:solidFill>
                <a:latin typeface="Arial"/>
                <a:ea typeface="Segoe UI"/>
                <a:cs typeface="Segoe UI"/>
              </a:rPr>
              <a:t>Use this fact </a:t>
            </a:r>
            <a:r>
              <a:rPr lang="en-US" sz="4400" b="1" baseline="0" dirty="0">
                <a:solidFill>
                  <a:srgbClr val="22272B"/>
                </a:solidFill>
                <a:latin typeface="Arial"/>
                <a:ea typeface="Segoe UI"/>
                <a:cs typeface="Segoe UI"/>
              </a:rPr>
              <a:t>3 x 7 = 21 </a:t>
            </a:r>
            <a:r>
              <a:rPr lang="en-US" sz="4400" baseline="0" dirty="0">
                <a:solidFill>
                  <a:srgbClr val="22272B"/>
                </a:solidFill>
                <a:latin typeface="Arial"/>
                <a:ea typeface="Segoe UI"/>
                <a:cs typeface="Segoe UI"/>
              </a:rPr>
              <a:t>to solve:</a:t>
            </a:r>
            <a:r>
              <a:rPr lang="en-US" sz="4400" dirty="0">
                <a:solidFill>
                  <a:srgbClr val="22272B"/>
                </a:solidFill>
                <a:latin typeface="Arial"/>
                <a:ea typeface="Segoe UI"/>
                <a:cs typeface="Segoe UI"/>
              </a:rPr>
              <a:t>​</a:t>
            </a:r>
            <a:endParaRPr lang="en-US" sz="4400">
              <a:solidFill>
                <a:srgbClr val="22272B"/>
              </a:solidFill>
              <a:latin typeface="Arial"/>
              <a:ea typeface="Segoe UI"/>
              <a:cs typeface="Segoe UI"/>
            </a:endParaRPr>
          </a:p>
          <a:p>
            <a:pPr marL="571500" indent="-571500" algn="ctr" rtl="0">
              <a:spcBef>
                <a:spcPts val="1200"/>
              </a:spcBef>
              <a:spcAft>
                <a:spcPts val="600"/>
              </a:spcAft>
              <a:buFont typeface="Arial" panose="020B0604020202020204" pitchFamily="34" charset="0"/>
              <a:buChar char="•"/>
            </a:pPr>
            <a:r>
              <a:rPr lang="en-US" sz="4400" dirty="0">
                <a:solidFill>
                  <a:srgbClr val="22272B"/>
                </a:solidFill>
                <a:latin typeface="Arial"/>
                <a:ea typeface="Segoe UI"/>
                <a:cs typeface="Segoe UI"/>
              </a:rPr>
              <a:t>​</a:t>
            </a:r>
            <a:r>
              <a:rPr lang="en-US" sz="4400" baseline="0" dirty="0">
                <a:solidFill>
                  <a:srgbClr val="22272B"/>
                </a:solidFill>
                <a:latin typeface="Arial"/>
                <a:ea typeface="Segoe UI"/>
                <a:cs typeface="Segoe UI"/>
              </a:rPr>
              <a:t>6 x 7</a:t>
            </a:r>
            <a:r>
              <a:rPr lang="en-US" sz="4400" dirty="0">
                <a:solidFill>
                  <a:srgbClr val="22272B"/>
                </a:solidFill>
                <a:latin typeface="Arial"/>
                <a:ea typeface="Segoe UI"/>
                <a:cs typeface="Segoe UI"/>
              </a:rPr>
              <a:t>​</a:t>
            </a:r>
            <a:endParaRPr lang="en-US" sz="4400">
              <a:solidFill>
                <a:srgbClr val="22272B"/>
              </a:solidFill>
              <a:latin typeface="Arial"/>
              <a:ea typeface="Segoe UI"/>
              <a:cs typeface="Segoe UI"/>
            </a:endParaRPr>
          </a:p>
          <a:p>
            <a:pPr marL="571500" indent="-571500" algn="ctr" rtl="0">
              <a:lnSpc>
                <a:spcPct val="150000"/>
              </a:lnSpc>
              <a:spcBef>
                <a:spcPts val="1200"/>
              </a:spcBef>
              <a:spcAft>
                <a:spcPts val="600"/>
              </a:spcAft>
              <a:buFont typeface="Arial" panose="020B0604020202020204" pitchFamily="34" charset="0"/>
              <a:buChar char="•"/>
            </a:pPr>
            <a:r>
              <a:rPr lang="en-US" sz="4400" baseline="0" dirty="0">
                <a:solidFill>
                  <a:srgbClr val="22272B"/>
                </a:solidFill>
                <a:latin typeface="Arial"/>
                <a:ea typeface="Segoe UI"/>
                <a:cs typeface="Segoe UI"/>
              </a:rPr>
              <a:t>9 x 7</a:t>
            </a:r>
            <a:r>
              <a:rPr lang="en-US" sz="4400" dirty="0">
                <a:solidFill>
                  <a:srgbClr val="22272B"/>
                </a:solidFill>
                <a:latin typeface="Arial"/>
                <a:ea typeface="Segoe UI"/>
                <a:cs typeface="Segoe UI"/>
              </a:rPr>
              <a:t>​</a:t>
            </a:r>
            <a:endParaRPr lang="en-US" sz="4400">
              <a:solidFill>
                <a:srgbClr val="22272B"/>
              </a:solidFill>
              <a:latin typeface="Arial"/>
              <a:ea typeface="Segoe UI"/>
              <a:cs typeface="Segoe UI"/>
            </a:endParaRPr>
          </a:p>
          <a:p>
            <a:pPr marL="571500" indent="-571500" algn="ctr" rtl="0">
              <a:lnSpc>
                <a:spcPct val="150000"/>
              </a:lnSpc>
              <a:spcBef>
                <a:spcPts val="1200"/>
              </a:spcBef>
              <a:spcAft>
                <a:spcPts val="600"/>
              </a:spcAft>
              <a:buFont typeface="Arial" panose="020B0604020202020204" pitchFamily="34" charset="0"/>
              <a:buChar char="•"/>
            </a:pPr>
            <a:r>
              <a:rPr lang="en-US" sz="4400" baseline="0" dirty="0">
                <a:solidFill>
                  <a:srgbClr val="22272B"/>
                </a:solidFill>
                <a:latin typeface="Arial"/>
                <a:ea typeface="Segoe UI"/>
                <a:cs typeface="Segoe UI"/>
              </a:rPr>
              <a:t>12 x 7</a:t>
            </a:r>
            <a:r>
              <a:rPr lang="en-US" sz="4400" dirty="0">
                <a:solidFill>
                  <a:srgbClr val="22272B"/>
                </a:solidFill>
                <a:latin typeface="Arial"/>
                <a:ea typeface="Segoe UI"/>
                <a:cs typeface="Segoe UI"/>
              </a:rPr>
              <a:t>​</a:t>
            </a:r>
            <a:endParaRPr lang="en-US" sz="4400">
              <a:solidFill>
                <a:srgbClr val="22272B"/>
              </a:solidFill>
              <a:latin typeface="Arial"/>
              <a:ea typeface="Segoe UI"/>
              <a:cs typeface="Segoe UI"/>
            </a:endParaRPr>
          </a:p>
          <a:p>
            <a:pPr algn="l"/>
            <a:endParaRPr lang="en-US" sz="1800" dirty="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ECA59E3-DD74-8BEF-0575-A6CF318DEE31}"/>
              </a:ext>
            </a:extLst>
          </p:cNvPr>
          <p:cNvSpPr txBox="1"/>
          <p:nvPr/>
        </p:nvSpPr>
        <p:spPr>
          <a:xfrm>
            <a:off x="239700" y="2146341"/>
            <a:ext cx="11484000" cy="769441"/>
          </a:xfrm>
          <a:prstGeom prst="rect">
            <a:avLst/>
          </a:prstGeom>
          <a:noFill/>
        </p:spPr>
        <p:txBody>
          <a:bodyPr wrap="square">
            <a:spAutoFit/>
          </a:bodyPr>
          <a:lstStyle/>
          <a:p>
            <a:pPr algn="ctr">
              <a:buNone/>
            </a:pPr>
            <a:r>
              <a:rPr lang="en-AU" sz="4400" b="1" i="0">
                <a:solidFill>
                  <a:srgbClr val="000000"/>
                </a:solidFill>
                <a:effectLst/>
              </a:rPr>
              <a:t>Record </a:t>
            </a:r>
            <a:r>
              <a:rPr lang="en-AU" sz="4400" i="0">
                <a:solidFill>
                  <a:srgbClr val="000000"/>
                </a:solidFill>
                <a:effectLst/>
              </a:rPr>
              <a:t>the</a:t>
            </a:r>
            <a:r>
              <a:rPr lang="en-AU" sz="4400" b="1" i="0">
                <a:solidFill>
                  <a:srgbClr val="000000"/>
                </a:solidFill>
                <a:effectLst/>
              </a:rPr>
              <a:t> capacity </a:t>
            </a:r>
            <a:r>
              <a:rPr lang="en-AU" sz="4400" i="0">
                <a:solidFill>
                  <a:srgbClr val="000000"/>
                </a:solidFill>
                <a:effectLst/>
              </a:rPr>
              <a:t>in</a:t>
            </a:r>
            <a:r>
              <a:rPr lang="en-AU" sz="4400" b="1" i="0">
                <a:solidFill>
                  <a:srgbClr val="000000"/>
                </a:solidFill>
                <a:effectLst/>
              </a:rPr>
              <a:t> L </a:t>
            </a:r>
            <a:r>
              <a:rPr lang="en-AU" sz="4400">
                <a:solidFill>
                  <a:srgbClr val="000000"/>
                </a:solidFill>
              </a:rPr>
              <a:t>and</a:t>
            </a:r>
            <a:r>
              <a:rPr lang="en-AU" sz="4400" b="1">
                <a:solidFill>
                  <a:srgbClr val="000000"/>
                </a:solidFill>
              </a:rPr>
              <a:t> </a:t>
            </a:r>
            <a:r>
              <a:rPr lang="en-AU" sz="4400" b="1" err="1">
                <a:solidFill>
                  <a:srgbClr val="000000"/>
                </a:solidFill>
              </a:rPr>
              <a:t>mL</a:t>
            </a:r>
            <a:r>
              <a:rPr lang="en-AU" sz="4400" b="1" i="0" err="1">
                <a:solidFill>
                  <a:srgbClr val="000000"/>
                </a:solidFill>
                <a:effectLst/>
              </a:rPr>
              <a:t>.</a:t>
            </a:r>
            <a:endParaRPr lang="en-AU" sz="4400" b="0" i="0">
              <a:solidFill>
                <a:srgbClr val="000000"/>
              </a:solidFill>
              <a:effectLst/>
            </a:endParaRPr>
          </a:p>
        </p:txBody>
      </p:sp>
      <p:sp>
        <p:nvSpPr>
          <p:cNvPr id="7" name="TextBox 6">
            <a:extLst>
              <a:ext uri="{FF2B5EF4-FFF2-40B4-BE49-F238E27FC236}">
                <a16:creationId xmlns:a16="http://schemas.microsoft.com/office/drawing/2014/main" id="{03C5C303-63A6-BE0E-C056-039F944DD79C}"/>
              </a:ext>
            </a:extLst>
          </p:cNvPr>
          <p:cNvSpPr txBox="1"/>
          <p:nvPr/>
        </p:nvSpPr>
        <p:spPr>
          <a:xfrm>
            <a:off x="1857417" y="3561729"/>
            <a:ext cx="8477166" cy="923330"/>
          </a:xfrm>
          <a:prstGeom prst="rect">
            <a:avLst/>
          </a:prstGeom>
          <a:noFill/>
        </p:spPr>
        <p:txBody>
          <a:bodyPr wrap="square">
            <a:spAutoFit/>
          </a:bodyPr>
          <a:lstStyle/>
          <a:p>
            <a:pPr algn="ctr">
              <a:buNone/>
            </a:pPr>
            <a:r>
              <a:rPr lang="en-AU" sz="5400" i="0">
                <a:solidFill>
                  <a:srgbClr val="000000"/>
                </a:solidFill>
                <a:effectLst/>
              </a:rPr>
              <a:t>3250 mL = ___ L ___ mL</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3 – 4-digit targets</a:t>
            </a:r>
          </a:p>
        </p:txBody>
      </p:sp>
      <p:pic>
        <p:nvPicPr>
          <p:cNvPr id="8" name="Picture 7">
            <a:extLst>
              <a:ext uri="{FF2B5EF4-FFF2-40B4-BE49-F238E27FC236}">
                <a16:creationId xmlns:a16="http://schemas.microsoft.com/office/drawing/2014/main" id="{893C9E4D-AFC0-0A73-6FCD-044F7E6B36D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double grid each with numbers from 0 to 9.  Another grid below has target numbers labelled with number closest to: 1000, 3000, 5000, 7000 and 9000.">
            <a:extLst>
              <a:ext uri="{FF2B5EF4-FFF2-40B4-BE49-F238E27FC236}">
                <a16:creationId xmlns:a16="http://schemas.microsoft.com/office/drawing/2014/main" id="{96421188-C7E0-6BE2-E43B-14F6F3ED27DD}"/>
              </a:ext>
            </a:extLst>
          </p:cNvPr>
          <p:cNvPicPr>
            <a:picLocks noChangeAspect="1"/>
          </p:cNvPicPr>
          <p:nvPr/>
        </p:nvPicPr>
        <p:blipFill>
          <a:blip r:embed="rId4"/>
          <a:srcRect l="946" r="1893" b="7712"/>
          <a:stretch>
            <a:fillRect/>
          </a:stretch>
        </p:blipFill>
        <p:spPr>
          <a:xfrm>
            <a:off x="1699704" y="1001731"/>
            <a:ext cx="8424453" cy="560883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397274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1625946"/>
            <a:ext cx="11243037" cy="2174771"/>
          </a:xfrm>
        </p:spPr>
        <p:txBody>
          <a:bodyPr vert="horz" lIns="0" tIns="0" rIns="0" bIns="0" rtlCol="0" anchor="t">
            <a:noAutofit/>
          </a:bodyPr>
          <a:lstStyle/>
          <a:p>
            <a:pPr algn="ctr"/>
            <a:r>
              <a:rPr lang="en-AU" sz="4400" dirty="0">
                <a:latin typeface="Arial"/>
                <a:cs typeface="Arial"/>
              </a:rPr>
              <a:t>2780 is 780 </a:t>
            </a:r>
            <a:r>
              <a:rPr lang="en-AU" sz="4400" b="1" dirty="0">
                <a:latin typeface="Arial"/>
                <a:cs typeface="Arial"/>
              </a:rPr>
              <a:t>more than</a:t>
            </a:r>
            <a:r>
              <a:rPr lang="en-AU" sz="4400" dirty="0">
                <a:latin typeface="Arial"/>
                <a:cs typeface="Arial"/>
              </a:rPr>
              <a:t> 2000 and 220 l</a:t>
            </a:r>
            <a:r>
              <a:rPr lang="en-AU" sz="4400" b="1" dirty="0">
                <a:latin typeface="Arial"/>
                <a:cs typeface="Arial"/>
              </a:rPr>
              <a:t>ess than</a:t>
            </a:r>
            <a:r>
              <a:rPr lang="en-AU" sz="4400" dirty="0">
                <a:latin typeface="Arial"/>
                <a:cs typeface="Arial"/>
              </a:rPr>
              <a:t> 3000.</a:t>
            </a:r>
            <a:endParaRPr lang="en-AU" sz="4400" dirty="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2F2B9-05A5-2A02-EB0F-D097F359BD7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30CD809-0F3C-ABB8-8082-F195B2882AD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pic>
        <p:nvPicPr>
          <p:cNvPr id="3" name="Picture 2">
            <a:extLst>
              <a:ext uri="{FF2B5EF4-FFF2-40B4-BE49-F238E27FC236}">
                <a16:creationId xmlns:a16="http://schemas.microsoft.com/office/drawing/2014/main" id="{863E291D-25CC-6527-063D-B598A6E4CE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C418949-4ED2-710D-DED5-B03D9590215E}"/>
              </a:ext>
            </a:extLst>
          </p:cNvPr>
          <p:cNvSpPr txBox="1"/>
          <p:nvPr/>
        </p:nvSpPr>
        <p:spPr>
          <a:xfrm>
            <a:off x="1012723" y="2474892"/>
            <a:ext cx="10166554" cy="200054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sz="3200" dirty="0">
              <a:cs typeface="Arial"/>
            </a:endParaRPr>
          </a:p>
          <a:p>
            <a:pPr algn="ctr">
              <a:lnSpc>
                <a:spcPct val="150000"/>
              </a:lnSpc>
            </a:pPr>
            <a:r>
              <a:rPr lang="en-US" sz="4400" b="1" dirty="0">
                <a:cs typeface="Arial"/>
              </a:rPr>
              <a:t>Sketch</a:t>
            </a:r>
            <a:r>
              <a:rPr lang="en-US" sz="4400" dirty="0">
                <a:cs typeface="Arial"/>
              </a:rPr>
              <a:t> a </a:t>
            </a:r>
            <a:r>
              <a:rPr lang="en-US" sz="4400" b="1">
                <a:cs typeface="Arial"/>
              </a:rPr>
              <a:t>triangular prism</a:t>
            </a:r>
            <a:r>
              <a:rPr lang="en-US" sz="4000">
                <a:cs typeface="Arial"/>
              </a:rPr>
              <a:t>. </a:t>
            </a:r>
            <a:endParaRPr lang="en-US" sz="4000"/>
          </a:p>
          <a:p>
            <a:endParaRPr lang="en-US" sz="3200" dirty="0">
              <a:cs typeface="Arial"/>
            </a:endParaRPr>
          </a:p>
        </p:txBody>
      </p:sp>
      <p:sp>
        <p:nvSpPr>
          <p:cNvPr id="2" name="Slide Number Placeholder 1">
            <a:extLst>
              <a:ext uri="{FF2B5EF4-FFF2-40B4-BE49-F238E27FC236}">
                <a16:creationId xmlns:a16="http://schemas.microsoft.com/office/drawing/2014/main" id="{0FC7A579-C5B6-C9BA-1D44-F5D04A27CE2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698211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0B1A84A-3A71-4322-7182-30651F75D112}"/>
              </a:ext>
            </a:extLst>
          </p:cNvPr>
          <p:cNvSpPr txBox="1"/>
          <p:nvPr/>
        </p:nvSpPr>
        <p:spPr>
          <a:xfrm>
            <a:off x="246024" y="832504"/>
            <a:ext cx="6205576" cy="52868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spcBef>
                <a:spcPts val="1200"/>
              </a:spcBef>
              <a:spcAft>
                <a:spcPts val="600"/>
              </a:spcAft>
            </a:pPr>
            <a:r>
              <a:rPr lang="en-US">
                <a:cs typeface="Arial"/>
              </a:rPr>
              <a:t>Follow these directions:</a:t>
            </a:r>
          </a:p>
          <a:p>
            <a:pPr marL="342900" indent="-342900">
              <a:lnSpc>
                <a:spcPct val="150000"/>
              </a:lnSpc>
              <a:spcBef>
                <a:spcPts val="600"/>
              </a:spcBef>
              <a:spcAft>
                <a:spcPts val="600"/>
              </a:spcAft>
              <a:buFont typeface="Arial" panose="020B0604020202020204" pitchFamily="34" charset="0"/>
              <a:buChar char="•"/>
            </a:pPr>
            <a:r>
              <a:rPr lang="en-US">
                <a:cs typeface="Arial"/>
              </a:rPr>
              <a:t>Starting </a:t>
            </a:r>
            <a:r>
              <a:rPr lang="en-US" dirty="0">
                <a:cs typeface="Arial"/>
              </a:rPr>
              <a:t>at </a:t>
            </a:r>
            <a:r>
              <a:rPr lang="en-US" b="1">
                <a:cs typeface="Arial"/>
              </a:rPr>
              <a:t>D2</a:t>
            </a:r>
            <a:r>
              <a:rPr lang="en-US">
                <a:cs typeface="Arial"/>
              </a:rPr>
              <a:t> </a:t>
            </a:r>
            <a:r>
              <a:rPr lang="en-US" dirty="0">
                <a:cs typeface="Arial"/>
              </a:rPr>
              <a:t>move </a:t>
            </a:r>
            <a:r>
              <a:rPr lang="en-US" b="1">
                <a:cs typeface="Arial"/>
              </a:rPr>
              <a:t>north</a:t>
            </a:r>
            <a:r>
              <a:rPr lang="en-US" dirty="0">
                <a:cs typeface="Arial"/>
              </a:rPr>
              <a:t> 1 square. </a:t>
            </a:r>
            <a:endParaRPr lang="en-US">
              <a:cs typeface="Arial"/>
            </a:endParaRPr>
          </a:p>
          <a:p>
            <a:pPr marL="342900" indent="-342900">
              <a:lnSpc>
                <a:spcPct val="150000"/>
              </a:lnSpc>
              <a:spcBef>
                <a:spcPts val="600"/>
              </a:spcBef>
              <a:spcAft>
                <a:spcPts val="600"/>
              </a:spcAft>
              <a:buFont typeface="Arial" panose="020B0604020202020204" pitchFamily="34" charset="0"/>
              <a:buChar char="•"/>
            </a:pPr>
            <a:r>
              <a:rPr lang="en-US" dirty="0">
                <a:cs typeface="Arial"/>
              </a:rPr>
              <a:t>Turn </a:t>
            </a:r>
            <a:r>
              <a:rPr lang="en-US" b="1">
                <a:cs typeface="Arial"/>
              </a:rPr>
              <a:t>west</a:t>
            </a:r>
            <a:r>
              <a:rPr lang="en-US" dirty="0">
                <a:cs typeface="Arial"/>
              </a:rPr>
              <a:t> and head to </a:t>
            </a:r>
            <a:r>
              <a:rPr lang="en-US" b="1">
                <a:cs typeface="Arial"/>
              </a:rPr>
              <a:t>C3.</a:t>
            </a:r>
          </a:p>
          <a:p>
            <a:pPr marL="342900" indent="-342900">
              <a:lnSpc>
                <a:spcPct val="150000"/>
              </a:lnSpc>
              <a:spcBef>
                <a:spcPts val="600"/>
              </a:spcBef>
              <a:spcAft>
                <a:spcPts val="600"/>
              </a:spcAft>
              <a:buFont typeface="Arial" panose="020B0604020202020204" pitchFamily="34" charset="0"/>
              <a:buChar char="•"/>
            </a:pPr>
            <a:r>
              <a:rPr lang="en-US" dirty="0">
                <a:cs typeface="Arial"/>
              </a:rPr>
              <a:t>Turn </a:t>
            </a:r>
            <a:r>
              <a:rPr lang="en-US" b="1">
                <a:cs typeface="Arial"/>
              </a:rPr>
              <a:t>north</a:t>
            </a:r>
            <a:r>
              <a:rPr lang="en-US" dirty="0">
                <a:cs typeface="Arial"/>
              </a:rPr>
              <a:t>. </a:t>
            </a:r>
            <a:endParaRPr lang="en-US">
              <a:cs typeface="Arial"/>
            </a:endParaRPr>
          </a:p>
          <a:p>
            <a:pPr marL="342900" indent="-342900">
              <a:lnSpc>
                <a:spcPct val="150000"/>
              </a:lnSpc>
              <a:spcBef>
                <a:spcPts val="600"/>
              </a:spcBef>
              <a:spcAft>
                <a:spcPts val="600"/>
              </a:spcAft>
              <a:buFont typeface="Arial" panose="020B0604020202020204" pitchFamily="34" charset="0"/>
              <a:buChar char="•"/>
            </a:pPr>
            <a:r>
              <a:rPr lang="en-US" dirty="0">
                <a:cs typeface="Arial"/>
              </a:rPr>
              <a:t>Head 2 squares up to </a:t>
            </a:r>
            <a:r>
              <a:rPr lang="en-US" b="1">
                <a:cs typeface="Arial"/>
              </a:rPr>
              <a:t>C5</a:t>
            </a:r>
            <a:r>
              <a:rPr lang="en-US" dirty="0">
                <a:cs typeface="Arial"/>
              </a:rPr>
              <a:t>. </a:t>
            </a:r>
            <a:endParaRPr lang="en-US">
              <a:cs typeface="Arial"/>
            </a:endParaRPr>
          </a:p>
          <a:p>
            <a:pPr marL="342900" indent="-342900">
              <a:lnSpc>
                <a:spcPct val="150000"/>
              </a:lnSpc>
              <a:spcBef>
                <a:spcPts val="600"/>
              </a:spcBef>
              <a:spcAft>
                <a:spcPts val="600"/>
              </a:spcAft>
              <a:buFont typeface="Arial" panose="020B0604020202020204" pitchFamily="34" charset="0"/>
              <a:buChar char="•"/>
            </a:pPr>
            <a:r>
              <a:rPr lang="en-US">
                <a:cs typeface="Arial"/>
              </a:rPr>
              <a:t>What animal are you</a:t>
            </a:r>
            <a:r>
              <a:rPr lang="en-US" b="1">
                <a:cs typeface="Arial"/>
              </a:rPr>
              <a:t> viewing</a:t>
            </a:r>
            <a:r>
              <a:rPr lang="en-US">
                <a:cs typeface="Arial"/>
              </a:rPr>
              <a:t>?</a:t>
            </a:r>
          </a:p>
          <a:p>
            <a:pPr marL="342900" indent="-342900">
              <a:lnSpc>
                <a:spcPct val="150000"/>
              </a:lnSpc>
              <a:spcBef>
                <a:spcPts val="600"/>
              </a:spcBef>
              <a:spcAft>
                <a:spcPts val="600"/>
              </a:spcAft>
              <a:buFont typeface="Arial" panose="020B0604020202020204" pitchFamily="34" charset="0"/>
              <a:buChar char="•"/>
            </a:pPr>
            <a:r>
              <a:rPr lang="en-US">
                <a:cs typeface="Arial"/>
              </a:rPr>
              <a:t>What </a:t>
            </a:r>
            <a:r>
              <a:rPr lang="en-US" b="1">
                <a:cs typeface="Arial"/>
              </a:rPr>
              <a:t>direction</a:t>
            </a:r>
            <a:r>
              <a:rPr lang="en-US">
                <a:cs typeface="Arial"/>
              </a:rPr>
              <a:t> do you need to head to see the </a:t>
            </a:r>
            <a:r>
              <a:rPr lang="en-US" b="1">
                <a:cs typeface="Arial"/>
              </a:rPr>
              <a:t>zebra</a:t>
            </a:r>
            <a:r>
              <a:rPr lang="en-US" dirty="0">
                <a:cs typeface="Arial"/>
              </a:rPr>
              <a:t>?</a:t>
            </a:r>
            <a:endParaRPr lang="en-US">
              <a:cs typeface="Arial"/>
            </a:endParaRPr>
          </a:p>
        </p:txBody>
      </p:sp>
      <p:pic>
        <p:nvPicPr>
          <p:cNvPr id="4" name="Picture 3" descr="The image depicts a detailed map of a zoo surrounded by dense green trees and divided into a grid system. The enclosure is octagonal with multiple paths leading to different animal exhibits. The top half features animals such as a giraffe,  zebra and a tiger in- in separate enclosures, with a pool and rocky landscape present. In the centre, an elephant is in C2, and the macaws(D2) are displayed. Various enclosures with animals like an emu(B3), snake(B4), and koala(A3) are scattered throughout. Monkeys are in B2, hippos in E3, echidnas(D3), eagles (C4, turtles(B2) and bears(C3). The bottom centre displays an entrance labelled &quot;Zoo&quot; with a dirt path leading inward. A compass indicating cardinal directions is in the top-right corner. Below the map is a grid with images of animals and their corresponding grid positions, such as a spider located at C2 and a koala at A3.">
            <a:extLst>
              <a:ext uri="{FF2B5EF4-FFF2-40B4-BE49-F238E27FC236}">
                <a16:creationId xmlns:a16="http://schemas.microsoft.com/office/drawing/2014/main" id="{28B51A81-6B15-4979-7846-4200897DEEC6}"/>
              </a:ext>
            </a:extLst>
          </p:cNvPr>
          <p:cNvPicPr>
            <a:picLocks noChangeAspect="1"/>
          </p:cNvPicPr>
          <p:nvPr/>
        </p:nvPicPr>
        <p:blipFill>
          <a:blip r:embed="rId4"/>
          <a:srcRect l="3784" t="7224" r="8288" b="2647"/>
          <a:stretch>
            <a:fillRect/>
          </a:stretch>
        </p:blipFill>
        <p:spPr>
          <a:xfrm>
            <a:off x="6638418" y="286675"/>
            <a:ext cx="4392058" cy="6409325"/>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9639E3B2-A8B5-6505-6733-503675A44431}"/>
              </a:ext>
            </a:extLst>
          </p:cNvPr>
          <p:cNvSpPr txBox="1"/>
          <p:nvPr/>
        </p:nvSpPr>
        <p:spPr>
          <a:xfrm>
            <a:off x="4035942" y="726473"/>
            <a:ext cx="4120115" cy="56650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2800" b="1" dirty="0">
                <a:cs typeface="Arial"/>
              </a:rPr>
              <a:t>Partially covered array</a:t>
            </a:r>
          </a:p>
        </p:txBody>
      </p:sp>
      <p:pic>
        <p:nvPicPr>
          <p:cNvPr id="11" name="Picture 10" descr="An array with a hidden section behind a blue sheet of paper. Visible are 9 dots in a row at the top and 5 dots in a column on the left.&#10;&#10;">
            <a:extLst>
              <a:ext uri="{FF2B5EF4-FFF2-40B4-BE49-F238E27FC236}">
                <a16:creationId xmlns:a16="http://schemas.microsoft.com/office/drawing/2014/main" id="{C80B29F5-8E26-DB0E-866C-77C47C6CF7E3}"/>
              </a:ext>
            </a:extLst>
          </p:cNvPr>
          <p:cNvPicPr>
            <a:picLocks noChangeAspect="1"/>
          </p:cNvPicPr>
          <p:nvPr/>
        </p:nvPicPr>
        <p:blipFill>
          <a:blip r:embed="rId4"/>
          <a:srcRect l="16773" t="9074" r="7962" b="11720"/>
          <a:stretch>
            <a:fillRect/>
          </a:stretch>
        </p:blipFill>
        <p:spPr>
          <a:xfrm>
            <a:off x="2476500" y="1618189"/>
            <a:ext cx="5887189" cy="3476282"/>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B94492C9-9DA2-5130-7BF0-EA1FDC2EF11F}"/>
              </a:ext>
            </a:extLst>
          </p:cNvPr>
          <p:cNvSpPr txBox="1"/>
          <p:nvPr/>
        </p:nvSpPr>
        <p:spPr>
          <a:xfrm>
            <a:off x="2187575" y="5094471"/>
            <a:ext cx="7816850" cy="193899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lnSpc>
                <a:spcPct val="150000"/>
              </a:lnSpc>
              <a:buAutoNum type="arabicPeriod"/>
            </a:pPr>
            <a:r>
              <a:rPr lang="en-US" dirty="0">
                <a:cs typeface="Arial"/>
              </a:rPr>
              <a:t>How many </a:t>
            </a:r>
            <a:r>
              <a:rPr lang="en-US" b="1" dirty="0">
                <a:cs typeface="Arial"/>
              </a:rPr>
              <a:t>rows </a:t>
            </a:r>
            <a:r>
              <a:rPr lang="en-US" dirty="0">
                <a:cs typeface="Arial"/>
              </a:rPr>
              <a:t>are there in </a:t>
            </a:r>
            <a:r>
              <a:rPr lang="en-US">
                <a:cs typeface="Arial"/>
              </a:rPr>
              <a:t>this </a:t>
            </a:r>
            <a:r>
              <a:rPr lang="en-US" dirty="0">
                <a:cs typeface="Arial"/>
              </a:rPr>
              <a:t>array?</a:t>
            </a:r>
            <a:endParaRPr lang="en-US" dirty="0"/>
          </a:p>
          <a:p>
            <a:pPr marL="342900" indent="-342900">
              <a:lnSpc>
                <a:spcPct val="150000"/>
              </a:lnSpc>
              <a:buAutoNum type="arabicPeriod"/>
            </a:pPr>
            <a:r>
              <a:rPr lang="en-US" dirty="0">
                <a:cs typeface="Arial"/>
              </a:rPr>
              <a:t>How many </a:t>
            </a:r>
            <a:r>
              <a:rPr lang="en-US" b="1" dirty="0">
                <a:cs typeface="Arial"/>
              </a:rPr>
              <a:t>dots</a:t>
            </a:r>
            <a:r>
              <a:rPr lang="en-US" dirty="0">
                <a:cs typeface="Arial"/>
              </a:rPr>
              <a:t> are </a:t>
            </a:r>
            <a:r>
              <a:rPr lang="en-US">
                <a:cs typeface="Arial"/>
              </a:rPr>
              <a:t>in each row</a:t>
            </a:r>
            <a:r>
              <a:rPr lang="en-US" dirty="0">
                <a:cs typeface="Arial"/>
              </a:rPr>
              <a:t>?</a:t>
            </a:r>
          </a:p>
          <a:p>
            <a:pPr marL="342900" indent="-342900">
              <a:lnSpc>
                <a:spcPct val="150000"/>
              </a:lnSpc>
              <a:buAutoNum type="arabicPeriod"/>
            </a:pPr>
            <a:r>
              <a:rPr lang="en-US" dirty="0">
                <a:cs typeface="Arial"/>
              </a:rPr>
              <a:t>What is the </a:t>
            </a:r>
            <a:r>
              <a:rPr lang="en-US" b="1" dirty="0">
                <a:cs typeface="Arial"/>
              </a:rPr>
              <a:t>total number of dots </a:t>
            </a:r>
            <a:r>
              <a:rPr lang="en-US" dirty="0">
                <a:cs typeface="Arial"/>
              </a:rPr>
              <a:t>in the array?</a:t>
            </a:r>
          </a:p>
          <a:p>
            <a:endParaRPr lang="en-US" sz="1800" dirty="0">
              <a:cs typeface="Arial"/>
            </a:endParaRP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EA185DA-ABA7-35B2-539F-3BDDEFB65355}"/>
              </a:ext>
            </a:extLst>
          </p:cNvPr>
          <p:cNvSpPr txBox="1"/>
          <p:nvPr/>
        </p:nvSpPr>
        <p:spPr>
          <a:xfrm>
            <a:off x="360000" y="1078771"/>
            <a:ext cx="11484000" cy="1323439"/>
          </a:xfrm>
          <a:prstGeom prst="rect">
            <a:avLst/>
          </a:prstGeom>
          <a:noFill/>
        </p:spPr>
        <p:txBody>
          <a:bodyPr wrap="square">
            <a:spAutoFit/>
          </a:bodyPr>
          <a:lstStyle/>
          <a:p>
            <a:pPr algn="ctr">
              <a:buNone/>
            </a:pPr>
            <a:r>
              <a:rPr lang="en-AU" sz="4000" b="1" i="0">
                <a:solidFill>
                  <a:srgbClr val="000000"/>
                </a:solidFill>
                <a:effectLst/>
              </a:rPr>
              <a:t>Compare </a:t>
            </a:r>
            <a:r>
              <a:rPr lang="en-AU" sz="4000" i="0">
                <a:solidFill>
                  <a:srgbClr val="000000"/>
                </a:solidFill>
                <a:effectLst/>
              </a:rPr>
              <a:t>and</a:t>
            </a:r>
            <a:r>
              <a:rPr lang="en-AU" sz="4000" b="1" i="0">
                <a:solidFill>
                  <a:srgbClr val="000000"/>
                </a:solidFill>
                <a:effectLst/>
              </a:rPr>
              <a:t> order </a:t>
            </a:r>
            <a:r>
              <a:rPr lang="en-AU" sz="4000" i="0">
                <a:solidFill>
                  <a:srgbClr val="000000"/>
                </a:solidFill>
                <a:effectLst/>
              </a:rPr>
              <a:t>the</a:t>
            </a:r>
            <a:r>
              <a:rPr lang="en-AU" sz="4000" b="1" i="0">
                <a:solidFill>
                  <a:srgbClr val="000000"/>
                </a:solidFill>
                <a:effectLst/>
              </a:rPr>
              <a:t> lengths </a:t>
            </a:r>
            <a:r>
              <a:rPr lang="en-AU" sz="4000" i="0">
                <a:solidFill>
                  <a:srgbClr val="000000"/>
                </a:solidFill>
                <a:effectLst/>
              </a:rPr>
              <a:t>in</a:t>
            </a:r>
            <a:r>
              <a:rPr lang="en-AU" sz="4000" b="1" i="0">
                <a:solidFill>
                  <a:srgbClr val="000000"/>
                </a:solidFill>
                <a:effectLst/>
              </a:rPr>
              <a:t> metres </a:t>
            </a:r>
            <a:r>
              <a:rPr lang="en-AU" sz="4000" i="0">
                <a:solidFill>
                  <a:srgbClr val="000000"/>
                </a:solidFill>
                <a:effectLst/>
              </a:rPr>
              <a:t>and</a:t>
            </a:r>
            <a:r>
              <a:rPr lang="en-AU" sz="4000" b="1" i="0">
                <a:solidFill>
                  <a:srgbClr val="000000"/>
                </a:solidFill>
                <a:effectLst/>
              </a:rPr>
              <a:t> centimetres. </a:t>
            </a:r>
            <a:endParaRPr lang="en-AU" sz="4000" b="0" i="0">
              <a:solidFill>
                <a:srgbClr val="000000"/>
              </a:solidFill>
              <a:effectLst/>
            </a:endParaRPr>
          </a:p>
        </p:txBody>
      </p:sp>
      <p:grpSp>
        <p:nvGrpSpPr>
          <p:cNvPr id="22" name="Group 21" descr="Picture of a rectangular garden bed measuring 2m 75cm long.">
            <a:extLst>
              <a:ext uri="{FF2B5EF4-FFF2-40B4-BE49-F238E27FC236}">
                <a16:creationId xmlns:a16="http://schemas.microsoft.com/office/drawing/2014/main" id="{708B4528-69FA-BCD3-207B-3713EEAE609F}"/>
              </a:ext>
            </a:extLst>
          </p:cNvPr>
          <p:cNvGrpSpPr/>
          <p:nvPr/>
        </p:nvGrpSpPr>
        <p:grpSpPr>
          <a:xfrm>
            <a:off x="354000" y="3235057"/>
            <a:ext cx="3756662" cy="2144554"/>
            <a:chOff x="354000" y="3235057"/>
            <a:chExt cx="3756662" cy="2144554"/>
          </a:xfrm>
        </p:grpSpPr>
        <p:grpSp>
          <p:nvGrpSpPr>
            <p:cNvPr id="7" name="Group 3">
              <a:extLst>
                <a:ext uri="{FF2B5EF4-FFF2-40B4-BE49-F238E27FC236}">
                  <a16:creationId xmlns:a16="http://schemas.microsoft.com/office/drawing/2014/main" id="{0BCDC68B-31EC-4946-9856-BD636CE6207F}"/>
                </a:ext>
              </a:extLst>
            </p:cNvPr>
            <p:cNvGrpSpPr/>
            <p:nvPr/>
          </p:nvGrpSpPr>
          <p:grpSpPr>
            <a:xfrm>
              <a:off x="354000" y="3695986"/>
              <a:ext cx="3756662" cy="1683625"/>
              <a:chOff x="0" y="25400"/>
              <a:chExt cx="5702400" cy="2555646"/>
            </a:xfrm>
            <a:effectLst>
              <a:outerShdw blurRad="63500" sx="102000" sy="102000" algn="ctr" rotWithShape="0">
                <a:prstClr val="black">
                  <a:alpha val="40000"/>
                </a:prstClr>
              </a:outerShdw>
            </a:effectLst>
          </p:grpSpPr>
          <p:sp>
            <p:nvSpPr>
              <p:cNvPr id="8" name="Freeform 4">
                <a:extLst>
                  <a:ext uri="{FF2B5EF4-FFF2-40B4-BE49-F238E27FC236}">
                    <a16:creationId xmlns:a16="http://schemas.microsoft.com/office/drawing/2014/main" id="{6313FE89-94C3-61AB-C43B-6CE946F795D7}"/>
                  </a:ext>
                </a:extLst>
              </p:cNvPr>
              <p:cNvSpPr/>
              <p:nvPr/>
            </p:nvSpPr>
            <p:spPr>
              <a:xfrm>
                <a:off x="0" y="300086"/>
                <a:ext cx="5702400" cy="2280960"/>
              </a:xfrm>
              <a:custGeom>
                <a:avLst/>
                <a:gdLst/>
                <a:ahLst/>
                <a:cxnLst/>
                <a:rect l="l" t="t" r="r" b="b"/>
                <a:pathLst>
                  <a:path w="5702400" h="2280960">
                    <a:moveTo>
                      <a:pt x="0" y="0"/>
                    </a:moveTo>
                    <a:lnTo>
                      <a:pt x="5702400" y="0"/>
                    </a:lnTo>
                    <a:lnTo>
                      <a:pt x="5702400" y="2280960"/>
                    </a:lnTo>
                    <a:lnTo>
                      <a:pt x="0" y="22809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AutoShape 5">
                <a:extLst>
                  <a:ext uri="{FF2B5EF4-FFF2-40B4-BE49-F238E27FC236}">
                    <a16:creationId xmlns:a16="http://schemas.microsoft.com/office/drawing/2014/main" id="{5B76E351-6660-ED14-E14C-D1CA0CC39E67}"/>
                  </a:ext>
                </a:extLst>
              </p:cNvPr>
              <p:cNvSpPr/>
              <p:nvPr/>
            </p:nvSpPr>
            <p:spPr>
              <a:xfrm>
                <a:off x="0" y="25400"/>
                <a:ext cx="5702400" cy="0"/>
              </a:xfrm>
              <a:prstGeom prst="line">
                <a:avLst/>
              </a:prstGeom>
              <a:ln w="50800" cap="flat">
                <a:solidFill>
                  <a:srgbClr val="000000"/>
                </a:solidFill>
                <a:prstDash val="solid"/>
                <a:headEnd type="triangle" w="lg" len="med"/>
                <a:tailEnd type="triangle" w="lg" len="med"/>
              </a:ln>
            </p:spPr>
            <p:txBody>
              <a:bodyPr/>
              <a:lstStyle/>
              <a:p>
                <a:endParaRPr lang="en-AU"/>
              </a:p>
            </p:txBody>
          </p:sp>
        </p:grpSp>
        <p:sp>
          <p:nvSpPr>
            <p:cNvPr id="10" name="TextBox 11">
              <a:extLst>
                <a:ext uri="{FF2B5EF4-FFF2-40B4-BE49-F238E27FC236}">
                  <a16:creationId xmlns:a16="http://schemas.microsoft.com/office/drawing/2014/main" id="{5D8E6A4E-AEDC-585F-0EB9-2D2C87F3651F}"/>
                </a:ext>
              </a:extLst>
            </p:cNvPr>
            <p:cNvSpPr txBox="1"/>
            <p:nvPr/>
          </p:nvSpPr>
          <p:spPr>
            <a:xfrm>
              <a:off x="1466121" y="3235057"/>
              <a:ext cx="1532420" cy="385427"/>
            </a:xfrm>
            <a:prstGeom prst="rect">
              <a:avLst/>
            </a:prstGeom>
          </p:spPr>
          <p:txBody>
            <a:bodyPr wrap="square" lIns="0" tIns="0" rIns="0" bIns="0" rtlCol="0" anchor="t">
              <a:spAutoFit/>
            </a:bodyPr>
            <a:lstStyle/>
            <a:p>
              <a:pPr algn="ctr">
                <a:lnSpc>
                  <a:spcPts val="3359"/>
                </a:lnSpc>
              </a:pPr>
              <a:r>
                <a:rPr lang="en-US" sz="2000" b="1">
                  <a:solidFill>
                    <a:srgbClr val="000000"/>
                  </a:solidFill>
                  <a:latin typeface="Public Sans Bold" pitchFamily="2" charset="0"/>
                  <a:ea typeface="Public Sans Semi-Bold"/>
                  <a:cs typeface="Public Sans Semi-Bold"/>
                  <a:sym typeface="Public Sans Semi-Bold"/>
                </a:rPr>
                <a:t>2 m  75 cm</a:t>
              </a:r>
            </a:p>
          </p:txBody>
        </p:sp>
      </p:grpSp>
      <p:grpSp>
        <p:nvGrpSpPr>
          <p:cNvPr id="23" name="Group 22" descr="A students deck 82cm long.">
            <a:extLst>
              <a:ext uri="{FF2B5EF4-FFF2-40B4-BE49-F238E27FC236}">
                <a16:creationId xmlns:a16="http://schemas.microsoft.com/office/drawing/2014/main" id="{46C36CB9-8446-E8C5-0704-57E2BDB0615F}"/>
              </a:ext>
            </a:extLst>
          </p:cNvPr>
          <p:cNvGrpSpPr/>
          <p:nvPr/>
        </p:nvGrpSpPr>
        <p:grpSpPr>
          <a:xfrm>
            <a:off x="4752171" y="3210252"/>
            <a:ext cx="2687658" cy="2290179"/>
            <a:chOff x="4752171" y="3235057"/>
            <a:chExt cx="2687658" cy="2290179"/>
          </a:xfrm>
        </p:grpSpPr>
        <p:sp>
          <p:nvSpPr>
            <p:cNvPr id="12" name="Freeform 6">
              <a:extLst>
                <a:ext uri="{FF2B5EF4-FFF2-40B4-BE49-F238E27FC236}">
                  <a16:creationId xmlns:a16="http://schemas.microsoft.com/office/drawing/2014/main" id="{C3102C75-9E50-6E83-5792-E55CCE1D86EE}"/>
                </a:ext>
              </a:extLst>
            </p:cNvPr>
            <p:cNvSpPr/>
            <p:nvPr/>
          </p:nvSpPr>
          <p:spPr>
            <a:xfrm>
              <a:off x="4752171" y="3909281"/>
              <a:ext cx="2687658" cy="1615955"/>
            </a:xfrm>
            <a:custGeom>
              <a:avLst/>
              <a:gdLst/>
              <a:ahLst/>
              <a:cxnLst/>
              <a:rect l="l" t="t" r="r" b="b"/>
              <a:pathLst>
                <a:path w="2979793" h="1791601">
                  <a:moveTo>
                    <a:pt x="0" y="0"/>
                  </a:moveTo>
                  <a:lnTo>
                    <a:pt x="2979793" y="0"/>
                  </a:lnTo>
                  <a:lnTo>
                    <a:pt x="2979793" y="1791601"/>
                  </a:lnTo>
                  <a:lnTo>
                    <a:pt x="0" y="179160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3" name="AutoShape 7">
              <a:extLst>
                <a:ext uri="{FF2B5EF4-FFF2-40B4-BE49-F238E27FC236}">
                  <a16:creationId xmlns:a16="http://schemas.microsoft.com/office/drawing/2014/main" id="{B1428F4D-4D27-2606-617C-3AE7B2A3AF91}"/>
                </a:ext>
              </a:extLst>
            </p:cNvPr>
            <p:cNvSpPr/>
            <p:nvPr/>
          </p:nvSpPr>
          <p:spPr>
            <a:xfrm>
              <a:off x="4951170" y="3712800"/>
              <a:ext cx="2488659" cy="0"/>
            </a:xfrm>
            <a:prstGeom prst="line">
              <a:avLst/>
            </a:prstGeom>
            <a:ln w="38100" cap="flat">
              <a:solidFill>
                <a:srgbClr val="000000"/>
              </a:solidFill>
              <a:prstDash val="solid"/>
              <a:headEnd type="triangle" w="lg" len="med"/>
              <a:tailEnd type="triangle" w="lg" len="med"/>
            </a:ln>
            <a:effectLst>
              <a:outerShdw blurRad="63500" sx="102000" sy="102000" algn="ctr" rotWithShape="0">
                <a:prstClr val="black">
                  <a:alpha val="40000"/>
                </a:prstClr>
              </a:outerShdw>
            </a:effectLst>
          </p:spPr>
          <p:txBody>
            <a:bodyPr/>
            <a:lstStyle/>
            <a:p>
              <a:endParaRPr lang="en-AU"/>
            </a:p>
          </p:txBody>
        </p:sp>
        <p:sp>
          <p:nvSpPr>
            <p:cNvPr id="14" name="TextBox 12">
              <a:extLst>
                <a:ext uri="{FF2B5EF4-FFF2-40B4-BE49-F238E27FC236}">
                  <a16:creationId xmlns:a16="http://schemas.microsoft.com/office/drawing/2014/main" id="{12252F18-BA62-E55D-7CFD-003DAFB91976}"/>
                </a:ext>
              </a:extLst>
            </p:cNvPr>
            <p:cNvSpPr txBox="1"/>
            <p:nvPr/>
          </p:nvSpPr>
          <p:spPr>
            <a:xfrm>
              <a:off x="5622201" y="3235057"/>
              <a:ext cx="1134518" cy="397738"/>
            </a:xfrm>
            <a:prstGeom prst="rect">
              <a:avLst/>
            </a:prstGeom>
          </p:spPr>
          <p:txBody>
            <a:bodyPr wrap="square" lIns="0" tIns="0" rIns="0" bIns="0" rtlCol="0" anchor="t">
              <a:spAutoFit/>
            </a:bodyPr>
            <a:lstStyle/>
            <a:p>
              <a:pPr algn="ctr">
                <a:lnSpc>
                  <a:spcPts val="3359"/>
                </a:lnSpc>
              </a:pPr>
              <a:r>
                <a:rPr lang="en-US" sz="2000" b="1">
                  <a:solidFill>
                    <a:srgbClr val="000000"/>
                  </a:solidFill>
                  <a:latin typeface="Public Sans Bold"/>
                  <a:ea typeface="Public Sans Bold"/>
                  <a:cs typeface="Public Sans Bold"/>
                  <a:sym typeface="Public Sans Bold"/>
                </a:rPr>
                <a:t>82 cm</a:t>
              </a:r>
            </a:p>
          </p:txBody>
        </p:sp>
      </p:grpSp>
      <p:grpSp>
        <p:nvGrpSpPr>
          <p:cNvPr id="24" name="Group 23" descr="A door 130cm tall.">
            <a:extLst>
              <a:ext uri="{FF2B5EF4-FFF2-40B4-BE49-F238E27FC236}">
                <a16:creationId xmlns:a16="http://schemas.microsoft.com/office/drawing/2014/main" id="{ABAA5D6B-09AE-1D1F-82E8-22373305839C}"/>
              </a:ext>
            </a:extLst>
          </p:cNvPr>
          <p:cNvGrpSpPr/>
          <p:nvPr/>
        </p:nvGrpSpPr>
        <p:grpSpPr>
          <a:xfrm>
            <a:off x="7938721" y="2238840"/>
            <a:ext cx="3276000" cy="3403716"/>
            <a:chOff x="7938721" y="2238840"/>
            <a:chExt cx="3276000" cy="3403716"/>
          </a:xfrm>
        </p:grpSpPr>
        <p:grpSp>
          <p:nvGrpSpPr>
            <p:cNvPr id="16" name="Group 8">
              <a:extLst>
                <a:ext uri="{FF2B5EF4-FFF2-40B4-BE49-F238E27FC236}">
                  <a16:creationId xmlns:a16="http://schemas.microsoft.com/office/drawing/2014/main" id="{3434FAC7-91E3-B7A5-8C3C-3459C61F05C6}"/>
                </a:ext>
              </a:extLst>
            </p:cNvPr>
            <p:cNvGrpSpPr/>
            <p:nvPr/>
          </p:nvGrpSpPr>
          <p:grpSpPr>
            <a:xfrm>
              <a:off x="9048971" y="2238840"/>
              <a:ext cx="2165750" cy="3403716"/>
              <a:chOff x="25400" y="0"/>
              <a:chExt cx="3115279" cy="4896000"/>
            </a:xfrm>
            <a:effectLst>
              <a:outerShdw blurRad="63500" sx="102000" sy="102000" algn="ctr" rotWithShape="0">
                <a:prstClr val="black">
                  <a:alpha val="40000"/>
                </a:prstClr>
              </a:outerShdw>
            </a:effectLst>
          </p:grpSpPr>
          <p:sp>
            <p:nvSpPr>
              <p:cNvPr id="17" name="Freeform 9">
                <a:extLst>
                  <a:ext uri="{FF2B5EF4-FFF2-40B4-BE49-F238E27FC236}">
                    <a16:creationId xmlns:a16="http://schemas.microsoft.com/office/drawing/2014/main" id="{AC3BADE3-BBDF-4677-CE99-696F877A119A}"/>
                  </a:ext>
                </a:extLst>
              </p:cNvPr>
              <p:cNvSpPr/>
              <p:nvPr/>
            </p:nvSpPr>
            <p:spPr>
              <a:xfrm>
                <a:off x="318672" y="0"/>
                <a:ext cx="2822007" cy="4813658"/>
              </a:xfrm>
              <a:custGeom>
                <a:avLst/>
                <a:gdLst/>
                <a:ahLst/>
                <a:cxnLst/>
                <a:rect l="l" t="t" r="r" b="b"/>
                <a:pathLst>
                  <a:path w="2822007" h="4813658">
                    <a:moveTo>
                      <a:pt x="0" y="0"/>
                    </a:moveTo>
                    <a:lnTo>
                      <a:pt x="2822007" y="0"/>
                    </a:lnTo>
                    <a:lnTo>
                      <a:pt x="2822007" y="4813658"/>
                    </a:lnTo>
                    <a:lnTo>
                      <a:pt x="0" y="4813658"/>
                    </a:lnTo>
                    <a:lnTo>
                      <a:pt x="0" y="0"/>
                    </a:lnTo>
                    <a:close/>
                  </a:path>
                </a:pathLst>
              </a:custGeom>
              <a:blipFill>
                <a:blip r:embed="rId8"/>
                <a:stretch>
                  <a:fillRect/>
                </a:stretch>
              </a:blipFill>
            </p:spPr>
            <p:txBody>
              <a:bodyPr/>
              <a:lstStyle/>
              <a:p>
                <a:endParaRPr lang="en-AU"/>
              </a:p>
            </p:txBody>
          </p:sp>
          <p:sp>
            <p:nvSpPr>
              <p:cNvPr id="18" name="AutoShape 10">
                <a:extLst>
                  <a:ext uri="{FF2B5EF4-FFF2-40B4-BE49-F238E27FC236}">
                    <a16:creationId xmlns:a16="http://schemas.microsoft.com/office/drawing/2014/main" id="{D3F182C7-DC86-7B75-2D72-8CFF5B6FE9C8}"/>
                  </a:ext>
                </a:extLst>
              </p:cNvPr>
              <p:cNvSpPr/>
              <p:nvPr/>
            </p:nvSpPr>
            <p:spPr>
              <a:xfrm>
                <a:off x="25400" y="0"/>
                <a:ext cx="0" cy="4896000"/>
              </a:xfrm>
              <a:prstGeom prst="line">
                <a:avLst/>
              </a:prstGeom>
              <a:ln w="50800" cap="flat">
                <a:solidFill>
                  <a:srgbClr val="000000"/>
                </a:solidFill>
                <a:prstDash val="solid"/>
                <a:headEnd type="triangle" w="lg" len="med"/>
                <a:tailEnd type="triangle" w="lg" len="med"/>
              </a:ln>
            </p:spPr>
            <p:txBody>
              <a:bodyPr/>
              <a:lstStyle/>
              <a:p>
                <a:endParaRPr lang="en-AU"/>
              </a:p>
            </p:txBody>
          </p:sp>
        </p:grpSp>
        <p:sp>
          <p:nvSpPr>
            <p:cNvPr id="19" name="TextBox 13">
              <a:extLst>
                <a:ext uri="{FF2B5EF4-FFF2-40B4-BE49-F238E27FC236}">
                  <a16:creationId xmlns:a16="http://schemas.microsoft.com/office/drawing/2014/main" id="{50CC45CC-C58A-AF1C-8245-08E3F2C80DFC}"/>
                </a:ext>
              </a:extLst>
            </p:cNvPr>
            <p:cNvSpPr txBox="1"/>
            <p:nvPr/>
          </p:nvSpPr>
          <p:spPr>
            <a:xfrm>
              <a:off x="7938721" y="3756358"/>
              <a:ext cx="1025966" cy="385939"/>
            </a:xfrm>
            <a:prstGeom prst="rect">
              <a:avLst/>
            </a:prstGeom>
          </p:spPr>
          <p:txBody>
            <a:bodyPr lIns="0" tIns="0" rIns="0" bIns="0" rtlCol="0" anchor="t">
              <a:spAutoFit/>
            </a:bodyPr>
            <a:lstStyle/>
            <a:p>
              <a:pPr algn="ctr">
                <a:lnSpc>
                  <a:spcPts val="3359"/>
                </a:lnSpc>
              </a:pPr>
              <a:r>
                <a:rPr lang="en-US" sz="2000" b="1">
                  <a:solidFill>
                    <a:srgbClr val="000000"/>
                  </a:solidFill>
                  <a:latin typeface="Public Sans Bold"/>
                  <a:ea typeface="Public Sans Bold"/>
                  <a:cs typeface="Public Sans Bold"/>
                  <a:sym typeface="Public Sans Bold"/>
                </a:rPr>
                <a:t>130 cm</a:t>
              </a:r>
            </a:p>
          </p:txBody>
        </p:sp>
      </p:grpSp>
      <p:sp>
        <p:nvSpPr>
          <p:cNvPr id="5" name="TextBox 4">
            <a:extLst>
              <a:ext uri="{FF2B5EF4-FFF2-40B4-BE49-F238E27FC236}">
                <a16:creationId xmlns:a16="http://schemas.microsoft.com/office/drawing/2014/main" id="{EE5EE374-2480-2F32-8695-07DDB9E3921B}"/>
              </a:ext>
            </a:extLst>
          </p:cNvPr>
          <p:cNvSpPr txBox="1"/>
          <p:nvPr/>
        </p:nvSpPr>
        <p:spPr>
          <a:xfrm>
            <a:off x="1302889" y="5713487"/>
            <a:ext cx="9586222" cy="901593"/>
          </a:xfrm>
          <a:prstGeom prst="rect">
            <a:avLst/>
          </a:prstGeom>
          <a:noFill/>
        </p:spPr>
        <p:txBody>
          <a:bodyPr wrap="square">
            <a:spAutoFit/>
          </a:bodyPr>
          <a:lstStyle/>
          <a:p>
            <a:pPr algn="ctr" rtl="0">
              <a:lnSpc>
                <a:spcPct val="150000"/>
              </a:lnSpc>
            </a:pPr>
            <a:r>
              <a:rPr lang="en-AU" sz="4000" b="1" i="0">
                <a:solidFill>
                  <a:srgbClr val="000000"/>
                </a:solidFill>
                <a:effectLst/>
              </a:rPr>
              <a:t>Communicate </a:t>
            </a:r>
            <a:r>
              <a:rPr lang="en-AU" sz="4000" i="0">
                <a:solidFill>
                  <a:srgbClr val="000000"/>
                </a:solidFill>
                <a:effectLst/>
              </a:rPr>
              <a:t>your </a:t>
            </a:r>
            <a:r>
              <a:rPr lang="en-AU" sz="4000" b="1" i="0">
                <a:solidFill>
                  <a:srgbClr val="000000"/>
                </a:solidFill>
                <a:effectLst/>
              </a:rPr>
              <a:t>thinking</a:t>
            </a:r>
            <a:r>
              <a:rPr lang="en-AU" sz="4000" i="0">
                <a:solidFill>
                  <a:srgbClr val="000000"/>
                </a:solidFill>
                <a:effectLst/>
              </a:rPr>
              <a:t>. </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latin typeface="Arial"/>
                <a:cs typeface="Arial"/>
              </a:rPr>
              <a:t>Activity 4 – quick fire - call it out!</a:t>
            </a:r>
            <a:endParaRPr lang="en-AU" dirty="0"/>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BC4D2651-A7CF-C999-0BDE-FEB92BF72192}"/>
              </a:ext>
            </a:extLst>
          </p:cNvPr>
          <p:cNvSpPr txBox="1"/>
          <p:nvPr/>
        </p:nvSpPr>
        <p:spPr>
          <a:xfrm>
            <a:off x="1097908" y="2012255"/>
            <a:ext cx="2743199" cy="92333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6000" dirty="0">
                <a:cs typeface="Arial"/>
              </a:rPr>
              <a:t>3520</a:t>
            </a:r>
          </a:p>
        </p:txBody>
      </p:sp>
      <p:grpSp>
        <p:nvGrpSpPr>
          <p:cNvPr id="10" name="Group 9" descr="A number line divided into 2 equal sections, showing 3 equidistant points and the number 3520.">
            <a:extLst>
              <a:ext uri="{FF2B5EF4-FFF2-40B4-BE49-F238E27FC236}">
                <a16:creationId xmlns:a16="http://schemas.microsoft.com/office/drawing/2014/main" id="{C96234EA-1AF2-A059-684F-8F8550E96548}"/>
              </a:ext>
            </a:extLst>
          </p:cNvPr>
          <p:cNvGrpSpPr/>
          <p:nvPr/>
        </p:nvGrpSpPr>
        <p:grpSpPr>
          <a:xfrm>
            <a:off x="4310724" y="1388737"/>
            <a:ext cx="7089169" cy="1874138"/>
            <a:chOff x="4310724" y="1388737"/>
            <a:chExt cx="7089169" cy="1874138"/>
          </a:xfrm>
        </p:grpSpPr>
        <p:pic>
          <p:nvPicPr>
            <p:cNvPr id="5" name="Picture 4" descr="A blank number line with a left point, a middle point and a right point shown.">
              <a:extLst>
                <a:ext uri="{FF2B5EF4-FFF2-40B4-BE49-F238E27FC236}">
                  <a16:creationId xmlns:a16="http://schemas.microsoft.com/office/drawing/2014/main" id="{C9CBFE88-D727-C2F7-CE10-55FE6CC1DBB1}"/>
                </a:ext>
              </a:extLst>
            </p:cNvPr>
            <p:cNvPicPr>
              <a:picLocks noChangeAspect="1"/>
            </p:cNvPicPr>
            <p:nvPr/>
          </p:nvPicPr>
          <p:blipFill>
            <a:blip r:embed="rId4"/>
            <a:srcRect b="64988"/>
            <a:stretch>
              <a:fillRect/>
            </a:stretch>
          </p:blipFill>
          <p:spPr>
            <a:xfrm>
              <a:off x="4310724" y="1388737"/>
              <a:ext cx="7089169" cy="1247036"/>
            </a:xfrm>
            <a:prstGeom prst="rect">
              <a:avLst/>
            </a:prstGeom>
          </p:spPr>
        </p:pic>
        <p:sp>
          <p:nvSpPr>
            <p:cNvPr id="8" name="TextBox 7">
              <a:extLst>
                <a:ext uri="{FF2B5EF4-FFF2-40B4-BE49-F238E27FC236}">
                  <a16:creationId xmlns:a16="http://schemas.microsoft.com/office/drawing/2014/main" id="{FD3949D0-48C7-F4D0-E777-9F87276FD622}"/>
                </a:ext>
              </a:extLst>
            </p:cNvPr>
            <p:cNvSpPr txBox="1"/>
            <p:nvPr/>
          </p:nvSpPr>
          <p:spPr>
            <a:xfrm>
              <a:off x="4858677" y="2647322"/>
              <a:ext cx="55137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a:cs typeface="Arial"/>
                </a:rPr>
                <a:t>?</a:t>
              </a:r>
            </a:p>
          </p:txBody>
        </p:sp>
        <p:sp>
          <p:nvSpPr>
            <p:cNvPr id="9" name="TextBox 8">
              <a:extLst>
                <a:ext uri="{FF2B5EF4-FFF2-40B4-BE49-F238E27FC236}">
                  <a16:creationId xmlns:a16="http://schemas.microsoft.com/office/drawing/2014/main" id="{5C7F2CDF-7C91-48E4-7CF7-CDEE2AF751C0}"/>
                </a:ext>
              </a:extLst>
            </p:cNvPr>
            <p:cNvSpPr txBox="1"/>
            <p:nvPr/>
          </p:nvSpPr>
          <p:spPr>
            <a:xfrm>
              <a:off x="10449531" y="2647322"/>
              <a:ext cx="55137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a:cs typeface="Arial"/>
                </a:rPr>
                <a:t>?</a:t>
              </a:r>
              <a:endParaRPr lang="en-US" sz="4000"/>
            </a:p>
          </p:txBody>
        </p:sp>
      </p:grpSp>
      <p:sp>
        <p:nvSpPr>
          <p:cNvPr id="7" name="TextBox 6">
            <a:extLst>
              <a:ext uri="{FF2B5EF4-FFF2-40B4-BE49-F238E27FC236}">
                <a16:creationId xmlns:a16="http://schemas.microsoft.com/office/drawing/2014/main" id="{FCF5181E-E902-A4D9-0E7C-E72D7C87AB62}"/>
              </a:ext>
            </a:extLst>
          </p:cNvPr>
          <p:cNvSpPr txBox="1"/>
          <p:nvPr/>
        </p:nvSpPr>
        <p:spPr>
          <a:xfrm>
            <a:off x="415244" y="3746011"/>
            <a:ext cx="11411759" cy="27699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gn="ctr">
              <a:lnSpc>
                <a:spcPct val="150000"/>
              </a:lnSpc>
              <a:buFont typeface="Arial,Sans-Serif"/>
              <a:buChar char="•"/>
            </a:pPr>
            <a:r>
              <a:rPr lang="en-AU" sz="3600">
                <a:solidFill>
                  <a:srgbClr val="444444"/>
                </a:solidFill>
                <a:latin typeface="+mj-lt"/>
                <a:ea typeface="Arial"/>
                <a:cs typeface="Arial"/>
              </a:rPr>
              <a:t>Which two </a:t>
            </a:r>
            <a:r>
              <a:rPr lang="en-AU" sz="3600" b="1">
                <a:solidFill>
                  <a:srgbClr val="444444"/>
                </a:solidFill>
                <a:latin typeface="+mj-lt"/>
                <a:ea typeface="Arial"/>
                <a:cs typeface="Arial"/>
              </a:rPr>
              <a:t>thousands</a:t>
            </a:r>
            <a:r>
              <a:rPr lang="en-AU" sz="3600">
                <a:solidFill>
                  <a:srgbClr val="444444"/>
                </a:solidFill>
                <a:latin typeface="+mj-lt"/>
                <a:ea typeface="Arial"/>
                <a:cs typeface="Arial"/>
              </a:rPr>
              <a:t> is this number between?</a:t>
            </a:r>
            <a:endParaRPr lang="en-AU" sz="3600">
              <a:latin typeface="+mj-lt"/>
            </a:endParaRPr>
          </a:p>
          <a:p>
            <a:pPr marL="285750" indent="-285750" algn="ctr">
              <a:lnSpc>
                <a:spcPct val="150000"/>
              </a:lnSpc>
              <a:buFont typeface="Arial,Sans-Serif"/>
              <a:buChar char="•"/>
            </a:pPr>
            <a:r>
              <a:rPr lang="en-AU" sz="3600">
                <a:solidFill>
                  <a:srgbClr val="444444"/>
                </a:solidFill>
                <a:latin typeface="+mj-lt"/>
                <a:ea typeface="Arial"/>
                <a:cs typeface="Arial"/>
              </a:rPr>
              <a:t>Which thousand is it </a:t>
            </a:r>
            <a:r>
              <a:rPr lang="en-AU" sz="3600" b="1">
                <a:solidFill>
                  <a:srgbClr val="444444"/>
                </a:solidFill>
                <a:latin typeface="+mj-lt"/>
                <a:ea typeface="Arial"/>
                <a:cs typeface="Arial"/>
              </a:rPr>
              <a:t>closest</a:t>
            </a:r>
            <a:r>
              <a:rPr lang="en-AU" sz="3600">
                <a:solidFill>
                  <a:srgbClr val="444444"/>
                </a:solidFill>
                <a:latin typeface="+mj-lt"/>
                <a:ea typeface="Arial"/>
                <a:cs typeface="Arial"/>
              </a:rPr>
              <a:t> to? </a:t>
            </a:r>
          </a:p>
          <a:p>
            <a:pPr marL="285750" indent="-285750" algn="ctr">
              <a:lnSpc>
                <a:spcPct val="150000"/>
              </a:lnSpc>
              <a:buFont typeface="Arial"/>
              <a:buChar char="•"/>
            </a:pPr>
            <a:r>
              <a:rPr lang="en-AU" sz="3600" b="1">
                <a:latin typeface="+mj-lt"/>
                <a:cs typeface="Arial"/>
              </a:rPr>
              <a:t>How </a:t>
            </a:r>
            <a:r>
              <a:rPr lang="en-AU" sz="3600">
                <a:latin typeface="+mj-lt"/>
                <a:cs typeface="Arial"/>
              </a:rPr>
              <a:t>do you </a:t>
            </a:r>
            <a:r>
              <a:rPr lang="en-AU" sz="3600" b="1">
                <a:latin typeface="+mj-lt"/>
                <a:cs typeface="Arial"/>
              </a:rPr>
              <a:t>know</a:t>
            </a:r>
            <a:r>
              <a:rPr lang="en-AU" sz="3600">
                <a:latin typeface="+mj-lt"/>
                <a:cs typeface="Arial"/>
              </a:rPr>
              <a:t>?</a:t>
            </a:r>
          </a:p>
          <a:p>
            <a:pPr algn="l"/>
            <a:endParaRPr lang="en-US" sz="1800" dirty="0"/>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(3)</a:t>
            </a: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367326"/>
            <a:ext cx="11243037" cy="2679553"/>
          </a:xfrm>
        </p:spPr>
        <p:txBody>
          <a:bodyPr vert="horz" lIns="0" tIns="0" rIns="0" bIns="0" rtlCol="0" anchor="t">
            <a:noAutofit/>
          </a:bodyPr>
          <a:lstStyle/>
          <a:p>
            <a:pPr algn="ctr"/>
            <a:r>
              <a:rPr lang="en-US" sz="3600" dirty="0">
                <a:latin typeface="Arial"/>
                <a:cs typeface="Arial"/>
              </a:rPr>
              <a:t>These are the </a:t>
            </a:r>
            <a:r>
              <a:rPr lang="en-US" sz="3600" b="1" dirty="0">
                <a:latin typeface="Arial"/>
                <a:cs typeface="Arial"/>
              </a:rPr>
              <a:t>first 3 terms</a:t>
            </a:r>
            <a:r>
              <a:rPr lang="en-US" sz="3600" dirty="0">
                <a:latin typeface="Arial"/>
                <a:cs typeface="Arial"/>
              </a:rPr>
              <a:t> in a sequence.</a:t>
            </a:r>
            <a:endParaRPr lang="en-US" sz="3600">
              <a:latin typeface="Arial"/>
              <a:cs typeface="Arial"/>
            </a:endParaRPr>
          </a:p>
          <a:p>
            <a:pPr algn="ctr"/>
            <a:r>
              <a:rPr lang="en-US" sz="5400" b="1">
                <a:latin typeface="Arial"/>
                <a:cs typeface="Arial"/>
              </a:rPr>
              <a:t>1423, 1323, 1223</a:t>
            </a:r>
          </a:p>
          <a:p>
            <a:pPr algn="ctr"/>
            <a:r>
              <a:rPr lang="en-US" sz="3600" dirty="0">
                <a:latin typeface="Arial"/>
                <a:cs typeface="Arial"/>
              </a:rPr>
              <a:t>What is the </a:t>
            </a:r>
            <a:r>
              <a:rPr lang="en-US" sz="3600" b="1" dirty="0">
                <a:latin typeface="Arial"/>
                <a:cs typeface="Arial"/>
              </a:rPr>
              <a:t>sixth term</a:t>
            </a:r>
            <a:r>
              <a:rPr lang="en-US" sz="3600" dirty="0">
                <a:latin typeface="Arial"/>
                <a:cs typeface="Arial"/>
              </a:rPr>
              <a:t> in this sequence?</a:t>
            </a:r>
            <a:endParaRPr lang="en-US" sz="3600">
              <a:latin typeface="Arial"/>
              <a:cs typeface="Arial"/>
            </a:endParaRPr>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50185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3CB60B72-209F-BCC5-7407-9EDCFFEA1613}"/>
              </a:ext>
            </a:extLst>
          </p:cNvPr>
          <p:cNvSpPr txBox="1"/>
          <p:nvPr/>
        </p:nvSpPr>
        <p:spPr>
          <a:xfrm>
            <a:off x="917457" y="5758905"/>
            <a:ext cx="1119266"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600">
                <a:cs typeface="Arial"/>
              </a:rPr>
              <a:t>1123</a:t>
            </a:r>
            <a:endParaRPr lang="en-US" sz="3600"/>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50185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6144E6F8-51F2-E481-ADF2-2669A9E5E251}"/>
              </a:ext>
            </a:extLst>
          </p:cNvPr>
          <p:cNvSpPr txBox="1"/>
          <p:nvPr/>
        </p:nvSpPr>
        <p:spPr>
          <a:xfrm>
            <a:off x="4059837" y="5756261"/>
            <a:ext cx="1374097" cy="8622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600">
                <a:cs typeface="Arial"/>
              </a:rPr>
              <a:t>923</a:t>
            </a:r>
          </a:p>
          <a:p>
            <a:pPr algn="l"/>
            <a:endParaRPr lang="en-US" sz="1800"/>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50185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0CE1B727-99A2-4F61-E96E-3989F25EBD58}"/>
              </a:ext>
            </a:extLst>
          </p:cNvPr>
          <p:cNvSpPr txBox="1"/>
          <p:nvPr/>
        </p:nvSpPr>
        <p:spPr>
          <a:xfrm>
            <a:off x="7158372" y="5757586"/>
            <a:ext cx="1192968" cy="83099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600">
                <a:cs typeface="Arial"/>
              </a:rPr>
              <a:t>823</a:t>
            </a:r>
          </a:p>
          <a:p>
            <a:pPr algn="l"/>
            <a:endParaRPr lang="en-US" sz="1800"/>
          </a:p>
        </p:txBody>
      </p:sp>
      <p:sp>
        <p:nvSpPr>
          <p:cNvPr id="11" name="TextBox 10">
            <a:extLst>
              <a:ext uri="{FF2B5EF4-FFF2-40B4-BE49-F238E27FC236}">
                <a16:creationId xmlns:a16="http://schemas.microsoft.com/office/drawing/2014/main" id="{C22AC239-77AC-A298-F7CD-0F89091EC017}"/>
              </a:ext>
            </a:extLst>
          </p:cNvPr>
          <p:cNvSpPr txBox="1"/>
          <p:nvPr/>
        </p:nvSpPr>
        <p:spPr>
          <a:xfrm>
            <a:off x="10123777" y="50185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Box 12">
            <a:extLst>
              <a:ext uri="{FF2B5EF4-FFF2-40B4-BE49-F238E27FC236}">
                <a16:creationId xmlns:a16="http://schemas.microsoft.com/office/drawing/2014/main" id="{D116FDF9-D4CE-41A3-3584-6FF5B1DC0CDB}"/>
              </a:ext>
            </a:extLst>
          </p:cNvPr>
          <p:cNvSpPr txBox="1"/>
          <p:nvPr/>
        </p:nvSpPr>
        <p:spPr>
          <a:xfrm>
            <a:off x="9792438" y="5779351"/>
            <a:ext cx="1192967" cy="83099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600">
                <a:solidFill>
                  <a:srgbClr val="22272B"/>
                </a:solidFill>
                <a:latin typeface="Arial"/>
              </a:rPr>
              <a:t>1523</a:t>
            </a:r>
            <a:endParaRPr lang="en-US" sz="3600"/>
          </a:p>
          <a:p>
            <a:pPr algn="l"/>
            <a:endParaRPr lang="en-US" sz="1800"/>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Isometric paper with a shape made up of linked cubes. ">
            <a:extLst>
              <a:ext uri="{FF2B5EF4-FFF2-40B4-BE49-F238E27FC236}">
                <a16:creationId xmlns:a16="http://schemas.microsoft.com/office/drawing/2014/main" id="{F80875F0-2422-2D3D-A375-BFBD972B60A4}"/>
              </a:ext>
            </a:extLst>
          </p:cNvPr>
          <p:cNvPicPr>
            <a:picLocks noChangeAspect="1"/>
          </p:cNvPicPr>
          <p:nvPr/>
        </p:nvPicPr>
        <p:blipFill>
          <a:blip r:embed="rId4"/>
          <a:srcRect l="53563" t="29412" r="13268" b="33564"/>
          <a:stretch>
            <a:fillRect/>
          </a:stretch>
        </p:blipFill>
        <p:spPr>
          <a:xfrm>
            <a:off x="3827922" y="2824972"/>
            <a:ext cx="4869511" cy="3596518"/>
          </a:xfrm>
          <a:prstGeom prst="rect">
            <a:avLst/>
          </a:prstGeom>
        </p:spPr>
      </p:pic>
      <p:sp>
        <p:nvSpPr>
          <p:cNvPr id="5" name="TextBox 4">
            <a:extLst>
              <a:ext uri="{FF2B5EF4-FFF2-40B4-BE49-F238E27FC236}">
                <a16:creationId xmlns:a16="http://schemas.microsoft.com/office/drawing/2014/main" id="{98985F53-7B2D-3285-4873-735BAFAD5E2D}"/>
              </a:ext>
            </a:extLst>
          </p:cNvPr>
          <p:cNvSpPr txBox="1"/>
          <p:nvPr/>
        </p:nvSpPr>
        <p:spPr>
          <a:xfrm>
            <a:off x="1768636" y="1088013"/>
            <a:ext cx="7609280" cy="161691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spcBef>
                <a:spcPts val="1200"/>
              </a:spcBef>
              <a:spcAft>
                <a:spcPts val="600"/>
              </a:spcAft>
            </a:pPr>
            <a:r>
              <a:rPr lang="en-US" sz="3200" dirty="0">
                <a:cs typeface="Arial"/>
              </a:rPr>
              <a:t>How many cubes make up this object? </a:t>
            </a:r>
            <a:endParaRPr lang="en-US" sz="3200">
              <a:cs typeface="Arial"/>
            </a:endParaRPr>
          </a:p>
          <a:p>
            <a:pPr>
              <a:lnSpc>
                <a:spcPct val="150000"/>
              </a:lnSpc>
              <a:spcBef>
                <a:spcPts val="1200"/>
              </a:spcBef>
              <a:spcAft>
                <a:spcPts val="600"/>
              </a:spcAft>
            </a:pPr>
            <a:r>
              <a:rPr lang="en-US" sz="3200" dirty="0">
                <a:cs typeface="Arial"/>
              </a:rPr>
              <a:t>How many </a:t>
            </a:r>
            <a:r>
              <a:rPr lang="en-US" sz="3200" b="1" dirty="0">
                <a:cs typeface="Arial"/>
              </a:rPr>
              <a:t>hidden faces</a:t>
            </a:r>
            <a:r>
              <a:rPr lang="en-US" sz="3200" dirty="0">
                <a:cs typeface="Arial"/>
              </a:rPr>
              <a:t> are there?</a:t>
            </a:r>
            <a:endParaRPr lang="en-US" sz="3200"/>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2AB330B-DCCB-5E2F-634A-421F923CBC90}"/>
              </a:ext>
            </a:extLst>
          </p:cNvPr>
          <p:cNvSpPr txBox="1"/>
          <p:nvPr/>
        </p:nvSpPr>
        <p:spPr>
          <a:xfrm>
            <a:off x="763364" y="1024064"/>
            <a:ext cx="10203388" cy="110799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3600">
                <a:cs typeface="Arial"/>
              </a:rPr>
              <a:t>In this set of 16 cards, I am more likely to draw a red card than a black card. </a:t>
            </a:r>
          </a:p>
        </p:txBody>
      </p:sp>
      <p:pic>
        <p:nvPicPr>
          <p:cNvPr id="5" name="Picture 4" descr="A set of 16 cards with 8 black cards and 8 red cards.">
            <a:extLst>
              <a:ext uri="{FF2B5EF4-FFF2-40B4-BE49-F238E27FC236}">
                <a16:creationId xmlns:a16="http://schemas.microsoft.com/office/drawing/2014/main" id="{D00543D6-EC82-A9A0-5E8D-9B4177F06F26}"/>
              </a:ext>
            </a:extLst>
          </p:cNvPr>
          <p:cNvPicPr>
            <a:picLocks noChangeAspect="1"/>
          </p:cNvPicPr>
          <p:nvPr/>
        </p:nvPicPr>
        <p:blipFill>
          <a:blip r:embed="rId4"/>
          <a:srcRect b="47532"/>
          <a:stretch>
            <a:fillRect/>
          </a:stretch>
        </p:blipFill>
        <p:spPr>
          <a:xfrm>
            <a:off x="2034091" y="2248580"/>
            <a:ext cx="7955280" cy="2950570"/>
          </a:xfrm>
          <a:prstGeom prst="rect">
            <a:avLst/>
          </a:prstGeom>
        </p:spPr>
      </p:pic>
      <p:sp>
        <p:nvSpPr>
          <p:cNvPr id="8" name="TextBox 7">
            <a:extLst>
              <a:ext uri="{FF2B5EF4-FFF2-40B4-BE49-F238E27FC236}">
                <a16:creationId xmlns:a16="http://schemas.microsoft.com/office/drawing/2014/main" id="{F86B8933-9E0B-CFE4-5A0C-D69F9802928A}"/>
              </a:ext>
            </a:extLst>
          </p:cNvPr>
          <p:cNvSpPr txBox="1"/>
          <p:nvPr/>
        </p:nvSpPr>
        <p:spPr>
          <a:xfrm>
            <a:off x="360000" y="5315671"/>
            <a:ext cx="11303463" cy="1200329"/>
          </a:xfrm>
          <a:prstGeom prst="rect">
            <a:avLst/>
          </a:prstGeom>
          <a:noFill/>
        </p:spPr>
        <p:txBody>
          <a:bodyPr wrap="square">
            <a:spAutoFit/>
          </a:bodyPr>
          <a:lstStyle/>
          <a:p>
            <a:pPr algn="ctr"/>
            <a:r>
              <a:rPr lang="en-US" sz="3600">
                <a:cs typeface="Arial"/>
              </a:rPr>
              <a:t>Do you agree with this statement? </a:t>
            </a:r>
          </a:p>
          <a:p>
            <a:pPr algn="ctr"/>
            <a:r>
              <a:rPr lang="en-US" sz="3600" b="1">
                <a:cs typeface="Arial"/>
              </a:rPr>
              <a:t>Communicate</a:t>
            </a:r>
            <a:r>
              <a:rPr lang="en-US" sz="3600">
                <a:cs typeface="Arial"/>
              </a:rPr>
              <a:t> your </a:t>
            </a:r>
            <a:r>
              <a:rPr lang="en-US" sz="3600" b="1">
                <a:cs typeface="Arial"/>
              </a:rPr>
              <a:t>reasoning</a:t>
            </a:r>
            <a:r>
              <a:rPr lang="en-US" sz="3600">
                <a:cs typeface="Arial"/>
              </a:rPr>
              <a:t>.</a:t>
            </a:r>
            <a:endParaRPr lang="en-AU" sz="3600"/>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8B88BF3-AA14-E988-DC5D-460D2D1C12FD}"/>
              </a:ext>
            </a:extLst>
          </p:cNvPr>
          <p:cNvSpPr txBox="1"/>
          <p:nvPr/>
        </p:nvSpPr>
        <p:spPr>
          <a:xfrm>
            <a:off x="767844" y="1037748"/>
            <a:ext cx="10878056" cy="53860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rtl="0">
              <a:lnSpc>
                <a:spcPct val="150000"/>
              </a:lnSpc>
              <a:spcBef>
                <a:spcPts val="1200"/>
              </a:spcBef>
              <a:spcAft>
                <a:spcPts val="600"/>
              </a:spcAft>
            </a:pPr>
            <a:r>
              <a:rPr lang="en-US" sz="3600" baseline="0">
                <a:solidFill>
                  <a:srgbClr val="22272B"/>
                </a:solidFill>
                <a:ea typeface="Segoe UI"/>
                <a:cs typeface="Segoe UI"/>
              </a:rPr>
              <a:t>Use </a:t>
            </a:r>
            <a:r>
              <a:rPr lang="en-US" sz="3600" b="1" baseline="0">
                <a:solidFill>
                  <a:srgbClr val="22272B"/>
                </a:solidFill>
                <a:ea typeface="Segoe UI"/>
                <a:cs typeface="Segoe UI"/>
              </a:rPr>
              <a:t>5 x 9 = 45</a:t>
            </a:r>
            <a:r>
              <a:rPr lang="en-US" sz="3600" baseline="0">
                <a:solidFill>
                  <a:srgbClr val="22272B"/>
                </a:solidFill>
                <a:ea typeface="Segoe UI"/>
                <a:cs typeface="Segoe UI"/>
              </a:rPr>
              <a:t> to complete the following number sentences:</a:t>
            </a:r>
            <a:r>
              <a:rPr lang="en-US" sz="3600">
                <a:solidFill>
                  <a:srgbClr val="22272B"/>
                </a:solidFill>
                <a:ea typeface="Segoe UI"/>
                <a:cs typeface="Segoe UI"/>
              </a:rPr>
              <a:t>​</a:t>
            </a:r>
          </a:p>
          <a:p>
            <a:pPr algn="ctr" rtl="0">
              <a:lnSpc>
                <a:spcPct val="150000"/>
              </a:lnSpc>
              <a:spcBef>
                <a:spcPts val="1200"/>
              </a:spcBef>
              <a:spcAft>
                <a:spcPts val="600"/>
              </a:spcAft>
            </a:pPr>
            <a:r>
              <a:rPr lang="en-US" sz="4000">
                <a:solidFill>
                  <a:srgbClr val="22272B"/>
                </a:solidFill>
                <a:ea typeface="Segoe UI"/>
                <a:cs typeface="Segoe UI"/>
              </a:rPr>
              <a:t>​</a:t>
            </a:r>
            <a:r>
              <a:rPr lang="en-US" sz="4000" baseline="0">
                <a:solidFill>
                  <a:srgbClr val="22272B"/>
                </a:solidFill>
                <a:ea typeface="Segoe UI"/>
                <a:cs typeface="Segoe UI"/>
              </a:rPr>
              <a:t>45 ÷ 9 = </a:t>
            </a:r>
            <a:r>
              <a:rPr lang="en-US" sz="4000">
                <a:solidFill>
                  <a:srgbClr val="22272B"/>
                </a:solidFill>
                <a:ea typeface="Segoe UI"/>
                <a:cs typeface="Segoe UI"/>
              </a:rPr>
              <a:t>​</a:t>
            </a:r>
            <a:r>
              <a:rPr lang="en-US" sz="4000">
                <a:solidFill>
                  <a:srgbClr val="22272B"/>
                </a:solidFill>
                <a:ea typeface="Segoe UI"/>
                <a:cs typeface="Segoe UI"/>
                <a:sym typeface="Wingdings" panose="05000000000000000000" pitchFamily="2" charset="2"/>
              </a:rPr>
              <a:t></a:t>
            </a:r>
            <a:endParaRPr lang="en-US" sz="4000">
              <a:solidFill>
                <a:srgbClr val="22272B"/>
              </a:solidFill>
              <a:ea typeface="Segoe UI"/>
              <a:cs typeface="Segoe UI"/>
            </a:endParaRPr>
          </a:p>
          <a:p>
            <a:pPr algn="ctr" rtl="0">
              <a:lnSpc>
                <a:spcPct val="150000"/>
              </a:lnSpc>
              <a:spcBef>
                <a:spcPts val="1200"/>
              </a:spcBef>
              <a:spcAft>
                <a:spcPts val="600"/>
              </a:spcAft>
            </a:pPr>
            <a:r>
              <a:rPr lang="en-US" sz="4000">
                <a:solidFill>
                  <a:srgbClr val="22272B"/>
                </a:solidFill>
                <a:ea typeface="Segoe UI"/>
                <a:cs typeface="Segoe UI"/>
              </a:rPr>
              <a:t>​</a:t>
            </a:r>
            <a:r>
              <a:rPr lang="en-US" sz="4000" baseline="0">
                <a:solidFill>
                  <a:srgbClr val="22272B"/>
                </a:solidFill>
                <a:ea typeface="Segoe UI"/>
                <a:cs typeface="Segoe UI"/>
              </a:rPr>
              <a:t>45 ÷</a:t>
            </a:r>
            <a:r>
              <a:rPr lang="en-US" sz="4000" baseline="0">
                <a:solidFill>
                  <a:srgbClr val="22272B"/>
                </a:solidFill>
                <a:ea typeface="Segoe UI"/>
                <a:cs typeface="Segoe UI"/>
                <a:sym typeface="Wingdings" panose="05000000000000000000" pitchFamily="2" charset="2"/>
              </a:rPr>
              <a:t></a:t>
            </a:r>
            <a:r>
              <a:rPr lang="en-US" sz="4000" baseline="0">
                <a:solidFill>
                  <a:srgbClr val="22272B"/>
                </a:solidFill>
                <a:ea typeface="Segoe UI"/>
                <a:cs typeface="Segoe UI"/>
              </a:rPr>
              <a:t>  = 9</a:t>
            </a:r>
            <a:r>
              <a:rPr lang="en-US" sz="4000">
                <a:solidFill>
                  <a:srgbClr val="22272B"/>
                </a:solidFill>
                <a:ea typeface="Segoe UI"/>
                <a:cs typeface="Segoe UI"/>
              </a:rPr>
              <a:t>​</a:t>
            </a:r>
          </a:p>
          <a:p>
            <a:pPr algn="ctr" rtl="0">
              <a:lnSpc>
                <a:spcPct val="150000"/>
              </a:lnSpc>
              <a:spcBef>
                <a:spcPts val="1200"/>
              </a:spcBef>
              <a:spcAft>
                <a:spcPts val="600"/>
              </a:spcAft>
            </a:pPr>
            <a:r>
              <a:rPr lang="en-US" sz="3600">
                <a:solidFill>
                  <a:srgbClr val="22272B"/>
                </a:solidFill>
                <a:ea typeface="Segoe UI"/>
                <a:cs typeface="Segoe UI"/>
              </a:rPr>
              <a:t>​</a:t>
            </a:r>
            <a:r>
              <a:rPr lang="en-US" sz="3600" baseline="0">
                <a:solidFill>
                  <a:srgbClr val="22272B"/>
                </a:solidFill>
                <a:ea typeface="Segoe UI"/>
                <a:cs typeface="Segoe UI"/>
              </a:rPr>
              <a:t>Show these numbers in a </a:t>
            </a:r>
            <a:r>
              <a:rPr lang="en-US" sz="3600" b="1" baseline="0">
                <a:solidFill>
                  <a:srgbClr val="22272B"/>
                </a:solidFill>
                <a:ea typeface="Segoe UI"/>
                <a:cs typeface="Segoe UI"/>
              </a:rPr>
              <a:t>fact family triangle</a:t>
            </a:r>
            <a:r>
              <a:rPr lang="en-US" sz="3600" baseline="0">
                <a:solidFill>
                  <a:srgbClr val="22272B"/>
                </a:solidFill>
                <a:ea typeface="Segoe UI"/>
                <a:cs typeface="Segoe UI"/>
              </a:rPr>
              <a:t>.</a:t>
            </a:r>
          </a:p>
          <a:p>
            <a:pPr algn="l"/>
            <a:endParaRPr lang="en-US" sz="1800" dirty="0"/>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210C2-C2C4-AF59-1080-36055F115E2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2937C0-90A4-D881-B70D-BC030B11CB05}"/>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(20)</a:t>
            </a:r>
          </a:p>
        </p:txBody>
      </p:sp>
      <p:pic>
        <p:nvPicPr>
          <p:cNvPr id="3" name="Picture 2">
            <a:extLst>
              <a:ext uri="{FF2B5EF4-FFF2-40B4-BE49-F238E27FC236}">
                <a16:creationId xmlns:a16="http://schemas.microsoft.com/office/drawing/2014/main" id="{F332AE61-159F-3020-6002-404DD11CBB5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B0ADBBF-293B-DCD5-B935-78C6BC0B0221}"/>
              </a:ext>
            </a:extLst>
          </p:cNvPr>
          <p:cNvSpPr txBox="1"/>
          <p:nvPr/>
        </p:nvSpPr>
        <p:spPr>
          <a:xfrm>
            <a:off x="360000" y="1167064"/>
            <a:ext cx="11484000" cy="1323439"/>
          </a:xfrm>
          <a:prstGeom prst="rect">
            <a:avLst/>
          </a:prstGeom>
          <a:noFill/>
        </p:spPr>
        <p:txBody>
          <a:bodyPr wrap="square" lIns="91440" tIns="45720" rIns="91440" bIns="45720" anchor="t">
            <a:spAutoFit/>
          </a:bodyPr>
          <a:lstStyle/>
          <a:p>
            <a:pPr algn="ctr"/>
            <a:r>
              <a:rPr lang="en-AU" sz="4000" b="1" i="0">
                <a:solidFill>
                  <a:srgbClr val="000000"/>
                </a:solidFill>
                <a:effectLst/>
              </a:rPr>
              <a:t>Record </a:t>
            </a:r>
            <a:r>
              <a:rPr lang="en-AU" sz="4000" i="0">
                <a:solidFill>
                  <a:srgbClr val="000000"/>
                </a:solidFill>
                <a:effectLst/>
              </a:rPr>
              <a:t>3 familiar objects that </a:t>
            </a:r>
            <a:r>
              <a:rPr lang="en-AU" sz="4000">
                <a:solidFill>
                  <a:srgbClr val="000000"/>
                </a:solidFill>
              </a:rPr>
              <a:t>each have</a:t>
            </a:r>
            <a:r>
              <a:rPr lang="en-AU" sz="4000" i="0">
                <a:solidFill>
                  <a:srgbClr val="000000"/>
                </a:solidFill>
                <a:effectLst/>
              </a:rPr>
              <a:t> a </a:t>
            </a:r>
            <a:r>
              <a:rPr lang="en-AU" sz="4000" b="1" i="0">
                <a:solidFill>
                  <a:srgbClr val="000000"/>
                </a:solidFill>
                <a:effectLst/>
              </a:rPr>
              <a:t>mass</a:t>
            </a:r>
            <a:r>
              <a:rPr lang="en-AU" sz="4000" i="0">
                <a:solidFill>
                  <a:srgbClr val="000000"/>
                </a:solidFill>
                <a:effectLst/>
              </a:rPr>
              <a:t> of about </a:t>
            </a:r>
            <a:r>
              <a:rPr lang="en-AU" sz="4000" b="1" i="0">
                <a:solidFill>
                  <a:srgbClr val="000000"/>
                </a:solidFill>
                <a:effectLst/>
              </a:rPr>
              <a:t>one kilogram </a:t>
            </a:r>
            <a:r>
              <a:rPr lang="en-AU" sz="4000" i="0">
                <a:solidFill>
                  <a:srgbClr val="000000"/>
                </a:solidFill>
                <a:effectLst/>
              </a:rPr>
              <a:t>(kg).</a:t>
            </a:r>
            <a:r>
              <a:rPr lang="en-AU" sz="4000" b="1" i="0">
                <a:solidFill>
                  <a:srgbClr val="000000"/>
                </a:solidFill>
                <a:effectLst/>
              </a:rPr>
              <a:t> </a:t>
            </a:r>
            <a:endParaRPr lang="en-AU" sz="4000" b="0" i="0">
              <a:solidFill>
                <a:srgbClr val="000000"/>
              </a:solidFill>
              <a:effectLst/>
            </a:endParaRPr>
          </a:p>
        </p:txBody>
      </p:sp>
      <p:pic>
        <p:nvPicPr>
          <p:cNvPr id="10" name="Picture 9" descr="A set of scales with a 1kg weight on it.&#10;&#10;">
            <a:extLst>
              <a:ext uri="{FF2B5EF4-FFF2-40B4-BE49-F238E27FC236}">
                <a16:creationId xmlns:a16="http://schemas.microsoft.com/office/drawing/2014/main" id="{D3713BDE-25E4-BE43-5059-A47030B811CF}"/>
              </a:ext>
            </a:extLst>
          </p:cNvPr>
          <p:cNvPicPr>
            <a:picLocks noChangeAspect="1"/>
          </p:cNvPicPr>
          <p:nvPr/>
        </p:nvPicPr>
        <p:blipFill>
          <a:blip r:embed="rId4">
            <a:extLst>
              <a:ext uri="{28A0092B-C50C-407E-A947-70E740481C1C}">
                <a14:useLocalDpi xmlns:a14="http://schemas.microsoft.com/office/drawing/2010/main" val="0"/>
              </a:ext>
            </a:extLst>
          </a:blip>
          <a:srcRect l="2148" t="26489" r="73571" b="28992"/>
          <a:stretch>
            <a:fillRect/>
          </a:stretch>
        </p:blipFill>
        <p:spPr>
          <a:xfrm>
            <a:off x="4918363" y="2751966"/>
            <a:ext cx="2355273" cy="2916421"/>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7D0A11F0-507A-56A9-DCEC-E4B4E7F0585F}"/>
              </a:ext>
            </a:extLst>
          </p:cNvPr>
          <p:cNvSpPr txBox="1"/>
          <p:nvPr/>
        </p:nvSpPr>
        <p:spPr>
          <a:xfrm>
            <a:off x="1302889" y="5704407"/>
            <a:ext cx="9586222" cy="901593"/>
          </a:xfrm>
          <a:prstGeom prst="rect">
            <a:avLst/>
          </a:prstGeom>
          <a:noFill/>
        </p:spPr>
        <p:txBody>
          <a:bodyPr wrap="square" lIns="91440" tIns="45720" rIns="91440" bIns="45720" anchor="t">
            <a:spAutoFit/>
          </a:bodyPr>
          <a:lstStyle/>
          <a:p>
            <a:pPr algn="ctr" rtl="0">
              <a:lnSpc>
                <a:spcPct val="150000"/>
              </a:lnSpc>
            </a:pPr>
            <a:r>
              <a:rPr lang="en-AU" sz="4000" b="1" i="0">
                <a:solidFill>
                  <a:srgbClr val="000000"/>
                </a:solidFill>
                <a:effectLst/>
              </a:rPr>
              <a:t>Communicate </a:t>
            </a:r>
            <a:r>
              <a:rPr lang="en-AU" sz="4000" i="0">
                <a:solidFill>
                  <a:srgbClr val="000000"/>
                </a:solidFill>
                <a:effectLst/>
              </a:rPr>
              <a:t>your </a:t>
            </a:r>
            <a:r>
              <a:rPr lang="en-AU" sz="4000">
                <a:solidFill>
                  <a:srgbClr val="000000"/>
                </a:solidFill>
              </a:rPr>
              <a:t>reasoning</a:t>
            </a:r>
            <a:r>
              <a:rPr lang="en-AU" sz="4000" i="0">
                <a:solidFill>
                  <a:srgbClr val="000000"/>
                </a:solidFill>
                <a:effectLst/>
              </a:rPr>
              <a:t>. </a:t>
            </a:r>
          </a:p>
        </p:txBody>
      </p:sp>
      <p:sp>
        <p:nvSpPr>
          <p:cNvPr id="2" name="Slide Number Placeholder 1">
            <a:extLst>
              <a:ext uri="{FF2B5EF4-FFF2-40B4-BE49-F238E27FC236}">
                <a16:creationId xmlns:a16="http://schemas.microsoft.com/office/drawing/2014/main" id="{5AFB61EC-9E70-F97C-FE0E-D0694655632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52210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counting by tens</a:t>
            </a:r>
            <a:endParaRPr lang="en-AU"/>
          </a:p>
        </p:txBody>
      </p:sp>
      <p:pic>
        <p:nvPicPr>
          <p:cNvPr id="5" name="Picture 4">
            <a:extLst>
              <a:ext uri="{FF2B5EF4-FFF2-40B4-BE49-F238E27FC236}">
                <a16:creationId xmlns:a16="http://schemas.microsoft.com/office/drawing/2014/main" id="{182BDA00-BB74-712E-E52A-80A7568B990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 name="Picture 3" descr="An image revealing 5 dice rolls. A box labelled target number with each dice rolled being multiplied by 10. There is an image of a boy and a girl with speech bubbles.">
            <a:extLst>
              <a:ext uri="{FF2B5EF4-FFF2-40B4-BE49-F238E27FC236}">
                <a16:creationId xmlns:a16="http://schemas.microsoft.com/office/drawing/2014/main" id="{291E78E6-DBDB-7252-38A0-8C52DD66FF61}"/>
              </a:ext>
            </a:extLst>
          </p:cNvPr>
          <p:cNvPicPr>
            <a:picLocks noChangeAspect="1"/>
          </p:cNvPicPr>
          <p:nvPr/>
        </p:nvPicPr>
        <p:blipFill>
          <a:blip r:embed="rId4"/>
          <a:srcRect l="6459" t="18076" r="628" b="27949"/>
          <a:stretch>
            <a:fillRect/>
          </a:stretch>
        </p:blipFill>
        <p:spPr>
          <a:xfrm>
            <a:off x="393531" y="1433196"/>
            <a:ext cx="11090469" cy="4555208"/>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50709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1" y="2197446"/>
            <a:ext cx="11243037" cy="893226"/>
          </a:xfrm>
        </p:spPr>
        <p:txBody>
          <a:bodyPr vert="horz" lIns="0" tIns="0" rIns="0" bIns="0" rtlCol="0" anchor="t">
            <a:noAutofit/>
          </a:bodyPr>
          <a:lstStyle/>
          <a:p>
            <a:pPr algn="ctr"/>
            <a:r>
              <a:rPr lang="en-AU" sz="4400" b="1" dirty="0">
                <a:latin typeface="Arial"/>
                <a:cs typeface="Arial"/>
              </a:rPr>
              <a:t>3 groups </a:t>
            </a:r>
            <a:r>
              <a:rPr lang="en-AU" sz="4400" dirty="0">
                <a:latin typeface="Arial"/>
                <a:cs typeface="Arial"/>
              </a:rPr>
              <a:t>of 5 tens = </a:t>
            </a:r>
            <a:r>
              <a:rPr lang="en-AU" sz="4400" b="1" dirty="0">
                <a:latin typeface="Arial"/>
                <a:cs typeface="Arial"/>
              </a:rPr>
              <a:t>5 groups </a:t>
            </a:r>
            <a:r>
              <a:rPr lang="en-AU" sz="4400" dirty="0">
                <a:latin typeface="Arial"/>
                <a:cs typeface="Arial"/>
              </a:rPr>
              <a:t>of 3 tens</a:t>
            </a:r>
            <a:endParaRPr lang="en-AU" sz="4400" dirty="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0019E-FE4A-8810-2816-D289DFCE1D1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3508A4-B168-88A3-E1DF-A6CBC3195365}"/>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(21)</a:t>
            </a:r>
          </a:p>
        </p:txBody>
      </p:sp>
      <p:pic>
        <p:nvPicPr>
          <p:cNvPr id="3" name="Picture 2">
            <a:extLst>
              <a:ext uri="{FF2B5EF4-FFF2-40B4-BE49-F238E27FC236}">
                <a16:creationId xmlns:a16="http://schemas.microsoft.com/office/drawing/2014/main" id="{0D9CFB88-E32F-6BE9-D69F-AD6076DC5C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a:extLst>
              <a:ext uri="{FF2B5EF4-FFF2-40B4-BE49-F238E27FC236}">
                <a16:creationId xmlns:a16="http://schemas.microsoft.com/office/drawing/2014/main" id="{2622B21A-8DDA-7D63-F8AF-383F6F588354}"/>
              </a:ext>
              <a:ext uri="{C183D7F6-B498-43B3-948B-1728B52AA6E4}">
                <adec:decorative xmlns:adec="http://schemas.microsoft.com/office/drawing/2017/decorative" val="1"/>
              </a:ext>
            </a:extLst>
          </p:cNvPr>
          <p:cNvPicPr>
            <a:picLocks noChangeAspect="1"/>
          </p:cNvPicPr>
          <p:nvPr/>
        </p:nvPicPr>
        <p:blipFill>
          <a:blip r:embed="rId4"/>
          <a:srcRect t="2046" r="73897" b="33760"/>
          <a:stretch>
            <a:fillRect/>
          </a:stretch>
        </p:blipFill>
        <p:spPr>
          <a:xfrm>
            <a:off x="4939512" y="3184858"/>
            <a:ext cx="1900676" cy="3331142"/>
          </a:xfrm>
          <a:prstGeom prst="rect">
            <a:avLst/>
          </a:prstGeom>
        </p:spPr>
      </p:pic>
      <p:sp>
        <p:nvSpPr>
          <p:cNvPr id="5" name="TextBox 4">
            <a:extLst>
              <a:ext uri="{FF2B5EF4-FFF2-40B4-BE49-F238E27FC236}">
                <a16:creationId xmlns:a16="http://schemas.microsoft.com/office/drawing/2014/main" id="{B6DAB296-809A-C6EE-A09F-59A649D90D7A}"/>
              </a:ext>
            </a:extLst>
          </p:cNvPr>
          <p:cNvSpPr txBox="1"/>
          <p:nvPr/>
        </p:nvSpPr>
        <p:spPr>
          <a:xfrm>
            <a:off x="360000" y="1125459"/>
            <a:ext cx="11344498" cy="17325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a:cs typeface="Arial"/>
              </a:rPr>
              <a:t>Record the capacity of a </a:t>
            </a:r>
            <a:r>
              <a:rPr lang="en-US" sz="4000" b="1">
                <a:cs typeface="Arial"/>
              </a:rPr>
              <a:t>1-litre </a:t>
            </a:r>
            <a:r>
              <a:rPr lang="en-US" sz="4000">
                <a:cs typeface="Arial"/>
              </a:rPr>
              <a:t>milk container using the abbreviation for </a:t>
            </a:r>
            <a:r>
              <a:rPr lang="en-US" sz="4000" err="1">
                <a:cs typeface="Arial"/>
              </a:rPr>
              <a:t>litres</a:t>
            </a:r>
            <a:r>
              <a:rPr lang="en-US" sz="4000">
                <a:cs typeface="Arial"/>
              </a:rPr>
              <a:t>. </a:t>
            </a:r>
          </a:p>
        </p:txBody>
      </p:sp>
      <p:sp>
        <p:nvSpPr>
          <p:cNvPr id="2" name="Slide Number Placeholder 1">
            <a:extLst>
              <a:ext uri="{FF2B5EF4-FFF2-40B4-BE49-F238E27FC236}">
                <a16:creationId xmlns:a16="http://schemas.microsoft.com/office/drawing/2014/main" id="{E46881BD-3D1F-4D8A-334C-0EE4119B50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915933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a:extLst>
              <a:ext uri="{FF2B5EF4-FFF2-40B4-BE49-F238E27FC236}">
                <a16:creationId xmlns:a16="http://schemas.microsoft.com/office/drawing/2014/main" id="{27F352D7-5C88-8286-36B9-38DF68840D61}"/>
              </a:ext>
              <a:ext uri="{C183D7F6-B498-43B3-948B-1728B52AA6E4}">
                <adec:decorative xmlns:adec="http://schemas.microsoft.com/office/drawing/2017/decorative" val="1"/>
              </a:ext>
            </a:extLst>
          </p:cNvPr>
          <p:cNvPicPr>
            <a:picLocks noChangeAspect="1"/>
          </p:cNvPicPr>
          <p:nvPr/>
        </p:nvPicPr>
        <p:blipFill>
          <a:blip r:embed="rId4"/>
          <a:srcRect l="5977" t="7899" r="65566" b="66983"/>
          <a:stretch>
            <a:fillRect/>
          </a:stretch>
        </p:blipFill>
        <p:spPr>
          <a:xfrm>
            <a:off x="7960417" y="5167296"/>
            <a:ext cx="3163583" cy="1569305"/>
          </a:xfrm>
          <a:prstGeom prst="rect">
            <a:avLst/>
          </a:prstGeom>
          <a:effectLst/>
        </p:spPr>
      </p:pic>
      <p:sp>
        <p:nvSpPr>
          <p:cNvPr id="5" name="TextBox 4">
            <a:extLst>
              <a:ext uri="{FF2B5EF4-FFF2-40B4-BE49-F238E27FC236}">
                <a16:creationId xmlns:a16="http://schemas.microsoft.com/office/drawing/2014/main" id="{13110BD7-3337-23A8-F1A7-765D0FD64B01}"/>
              </a:ext>
            </a:extLst>
          </p:cNvPr>
          <p:cNvSpPr txBox="1"/>
          <p:nvPr/>
        </p:nvSpPr>
        <p:spPr>
          <a:xfrm>
            <a:off x="560732" y="1090091"/>
            <a:ext cx="10894667" cy="265592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800">
                <a:cs typeface="Arial"/>
              </a:rPr>
              <a:t>Taran tossed a coin </a:t>
            </a:r>
            <a:r>
              <a:rPr lang="en-US" sz="3800" b="1">
                <a:cs typeface="Arial"/>
              </a:rPr>
              <a:t>20 times</a:t>
            </a:r>
            <a:r>
              <a:rPr lang="en-US" sz="3800">
                <a:cs typeface="Arial"/>
              </a:rPr>
              <a:t> and recorded her findings. She had tossed </a:t>
            </a:r>
            <a:r>
              <a:rPr lang="en-US" sz="3800" b="1">
                <a:cs typeface="Arial"/>
              </a:rPr>
              <a:t>15 hea</a:t>
            </a:r>
            <a:r>
              <a:rPr lang="en-US" sz="3800" b="1"/>
              <a:t>ds</a:t>
            </a:r>
            <a:r>
              <a:rPr lang="en-US" sz="3800" b="1">
                <a:cs typeface="Arial"/>
              </a:rPr>
              <a:t> </a:t>
            </a:r>
            <a:r>
              <a:rPr lang="en-US" sz="3800">
                <a:cs typeface="Arial"/>
              </a:rPr>
              <a:t>and </a:t>
            </a:r>
            <a:r>
              <a:rPr lang="en-US" sz="3800" b="1">
                <a:cs typeface="Arial"/>
              </a:rPr>
              <a:t>5 tails</a:t>
            </a:r>
            <a:r>
              <a:rPr lang="en-US" sz="3800">
                <a:cs typeface="Arial"/>
              </a:rPr>
              <a:t>. </a:t>
            </a:r>
          </a:p>
          <a:p>
            <a:pPr>
              <a:lnSpc>
                <a:spcPct val="150000"/>
              </a:lnSpc>
            </a:pPr>
            <a:endParaRPr lang="en-US" sz="4000">
              <a:cs typeface="Arial"/>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8" name="TextBox 7">
            <a:extLst>
              <a:ext uri="{FF2B5EF4-FFF2-40B4-BE49-F238E27FC236}">
                <a16:creationId xmlns:a16="http://schemas.microsoft.com/office/drawing/2014/main" id="{A5900837-50BF-2D7F-5D03-4C711EBE7D70}"/>
              </a:ext>
            </a:extLst>
          </p:cNvPr>
          <p:cNvSpPr txBox="1"/>
          <p:nvPr/>
        </p:nvSpPr>
        <p:spPr>
          <a:xfrm>
            <a:off x="736600" y="3429000"/>
            <a:ext cx="11209376" cy="1738296"/>
          </a:xfrm>
          <a:prstGeom prst="rect">
            <a:avLst/>
          </a:prstGeom>
          <a:noFill/>
        </p:spPr>
        <p:txBody>
          <a:bodyPr wrap="square">
            <a:spAutoFit/>
          </a:bodyPr>
          <a:lstStyle/>
          <a:p>
            <a:pPr algn="ctr">
              <a:lnSpc>
                <a:spcPct val="150000"/>
              </a:lnSpc>
            </a:pPr>
            <a:r>
              <a:rPr lang="en-US" sz="3800">
                <a:cs typeface="Arial"/>
              </a:rPr>
              <a:t>What is the </a:t>
            </a:r>
            <a:r>
              <a:rPr lang="en-US" sz="3800" b="1">
                <a:cs typeface="Arial"/>
              </a:rPr>
              <a:t>chance </a:t>
            </a:r>
            <a:r>
              <a:rPr lang="en-US" sz="3800">
                <a:cs typeface="Arial"/>
              </a:rPr>
              <a:t>that the next toss will be tails? </a:t>
            </a:r>
          </a:p>
          <a:p>
            <a:pPr algn="ctr">
              <a:lnSpc>
                <a:spcPct val="150000"/>
              </a:lnSpc>
            </a:pPr>
            <a:r>
              <a:rPr lang="en-US" sz="3800" b="1">
                <a:cs typeface="Arial"/>
              </a:rPr>
              <a:t>Communicate</a:t>
            </a:r>
            <a:r>
              <a:rPr lang="en-US" sz="3800">
                <a:cs typeface="Arial"/>
              </a:rPr>
              <a:t> your </a:t>
            </a:r>
            <a:r>
              <a:rPr lang="en-US" sz="3800" b="1">
                <a:cs typeface="Arial"/>
              </a:rPr>
              <a:t>reasoning.</a:t>
            </a:r>
            <a:endParaRPr lang="en-US" sz="3800" b="1"/>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white triangle with black numbers showing the number 48 in the apex, with 8 and 6 in the base.&#10;&#10;">
            <a:extLst>
              <a:ext uri="{FF2B5EF4-FFF2-40B4-BE49-F238E27FC236}">
                <a16:creationId xmlns:a16="http://schemas.microsoft.com/office/drawing/2014/main" id="{F60BA0EC-3129-4FFA-F82C-72413B52A753}"/>
              </a:ext>
            </a:extLst>
          </p:cNvPr>
          <p:cNvPicPr>
            <a:picLocks noChangeAspect="1"/>
          </p:cNvPicPr>
          <p:nvPr/>
        </p:nvPicPr>
        <p:blipFill>
          <a:blip r:embed="rId4"/>
          <a:srcRect l="28660" t="25998" r="41848" b="28925"/>
          <a:stretch>
            <a:fillRect/>
          </a:stretch>
        </p:blipFill>
        <p:spPr>
          <a:xfrm>
            <a:off x="2564566" y="905601"/>
            <a:ext cx="2125833" cy="1817796"/>
          </a:xfrm>
          <a:prstGeom prst="rect">
            <a:avLst/>
          </a:prstGeom>
        </p:spPr>
      </p:pic>
      <p:sp>
        <p:nvSpPr>
          <p:cNvPr id="4" name="Arrow: Right 3">
            <a:extLst>
              <a:ext uri="{FF2B5EF4-FFF2-40B4-BE49-F238E27FC236}">
                <a16:creationId xmlns:a16="http://schemas.microsoft.com/office/drawing/2014/main" id="{E3302CA7-3DC3-7217-8D9E-C123D366D68B}"/>
              </a:ext>
              <a:ext uri="{C183D7F6-B498-43B3-948B-1728B52AA6E4}">
                <adec:decorative xmlns:adec="http://schemas.microsoft.com/office/drawing/2017/decorative" val="1"/>
              </a:ext>
            </a:extLst>
          </p:cNvPr>
          <p:cNvSpPr/>
          <p:nvPr/>
        </p:nvSpPr>
        <p:spPr>
          <a:xfrm>
            <a:off x="4844548" y="1592860"/>
            <a:ext cx="1596752" cy="484632"/>
          </a:xfrm>
          <a:prstGeom prst="rightArrow">
            <a:avLst/>
          </a:prstGeom>
          <a:solidFill>
            <a:srgbClr val="0070C0"/>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85C0E36-9FBC-4D8E-1D94-70E62953E663}"/>
              </a:ext>
            </a:extLst>
          </p:cNvPr>
          <p:cNvSpPr txBox="1"/>
          <p:nvPr/>
        </p:nvSpPr>
        <p:spPr>
          <a:xfrm>
            <a:off x="6890744" y="360559"/>
            <a:ext cx="2743200" cy="323165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200" b="1" dirty="0">
                <a:cs typeface="Arial"/>
              </a:rPr>
              <a:t>Fact </a:t>
            </a:r>
            <a:r>
              <a:rPr lang="en-US" sz="3200" b="1">
                <a:cs typeface="Arial"/>
              </a:rPr>
              <a:t>families</a:t>
            </a:r>
            <a:r>
              <a:rPr lang="en-US" sz="3200" b="1" dirty="0">
                <a:cs typeface="Arial"/>
              </a:rPr>
              <a:t>:</a:t>
            </a:r>
            <a:endParaRPr lang="en-US" sz="3200" b="1">
              <a:cs typeface="Arial"/>
            </a:endParaRPr>
          </a:p>
          <a:p>
            <a:pPr algn="ctr">
              <a:lnSpc>
                <a:spcPct val="150000"/>
              </a:lnSpc>
            </a:pPr>
            <a:r>
              <a:rPr lang="en-US">
                <a:cs typeface="Arial"/>
              </a:rPr>
              <a:t>8 x 6 = 48</a:t>
            </a:r>
          </a:p>
          <a:p>
            <a:pPr algn="ctr">
              <a:lnSpc>
                <a:spcPct val="150000"/>
              </a:lnSpc>
            </a:pPr>
            <a:r>
              <a:rPr lang="en-US">
                <a:cs typeface="Arial"/>
              </a:rPr>
              <a:t>6 x 8 = 48</a:t>
            </a:r>
          </a:p>
          <a:p>
            <a:pPr algn="ctr">
              <a:lnSpc>
                <a:spcPct val="150000"/>
              </a:lnSpc>
            </a:pPr>
            <a:r>
              <a:rPr lang="en-US">
                <a:cs typeface="Arial"/>
              </a:rPr>
              <a:t>48 ÷ 8 = 6</a:t>
            </a:r>
          </a:p>
          <a:p>
            <a:pPr algn="ctr">
              <a:lnSpc>
                <a:spcPct val="150000"/>
              </a:lnSpc>
            </a:pPr>
            <a:r>
              <a:rPr lang="en-US">
                <a:cs typeface="Arial"/>
              </a:rPr>
              <a:t>48 ÷ 6 = 8</a:t>
            </a:r>
            <a:endParaRPr lang="en-US"/>
          </a:p>
          <a:p>
            <a:endParaRPr lang="en-US" sz="1800" dirty="0">
              <a:cs typeface="Arial" panose="020B0604020202020204"/>
            </a:endParaRPr>
          </a:p>
        </p:txBody>
      </p:sp>
      <p:sp>
        <p:nvSpPr>
          <p:cNvPr id="10" name="TextBox 9">
            <a:extLst>
              <a:ext uri="{FF2B5EF4-FFF2-40B4-BE49-F238E27FC236}">
                <a16:creationId xmlns:a16="http://schemas.microsoft.com/office/drawing/2014/main" id="{98468C08-2FDB-86FD-76A1-D2760BBBF943}"/>
              </a:ext>
            </a:extLst>
          </p:cNvPr>
          <p:cNvSpPr txBox="1"/>
          <p:nvPr/>
        </p:nvSpPr>
        <p:spPr>
          <a:xfrm>
            <a:off x="1322224" y="3429000"/>
            <a:ext cx="9547552" cy="286341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3200" b="1" dirty="0">
                <a:cs typeface="Arial"/>
              </a:rPr>
              <a:t>Create your own fact families </a:t>
            </a:r>
            <a:r>
              <a:rPr lang="en-US" sz="3200" dirty="0">
                <a:cs typeface="Arial"/>
              </a:rPr>
              <a:t>for these numbers:</a:t>
            </a:r>
          </a:p>
          <a:p>
            <a:pPr marL="457200" indent="-457200" algn="ctr">
              <a:lnSpc>
                <a:spcPct val="150000"/>
              </a:lnSpc>
              <a:buFont typeface="Arial"/>
              <a:buChar char="•"/>
            </a:pPr>
            <a:r>
              <a:rPr lang="en-US" sz="3200">
                <a:cs typeface="Arial"/>
              </a:rPr>
              <a:t>24</a:t>
            </a:r>
          </a:p>
          <a:p>
            <a:pPr marL="457200" indent="-457200" algn="ctr">
              <a:lnSpc>
                <a:spcPct val="150000"/>
              </a:lnSpc>
              <a:buFont typeface="Arial"/>
              <a:buChar char="•"/>
            </a:pPr>
            <a:r>
              <a:rPr lang="en-US" sz="3200">
                <a:cs typeface="Arial"/>
              </a:rPr>
              <a:t>55</a:t>
            </a:r>
          </a:p>
          <a:p>
            <a:pPr marL="457200" indent="-457200" algn="ctr">
              <a:lnSpc>
                <a:spcPct val="150000"/>
              </a:lnSpc>
              <a:buFont typeface="Arial"/>
              <a:buChar char="•"/>
            </a:pPr>
            <a:r>
              <a:rPr lang="en-US" sz="3200">
                <a:cs typeface="Arial"/>
              </a:rPr>
              <a:t>72</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1D954-C03C-F2DB-C354-E70F7A11B69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585A0CA-3945-6843-F5F7-8D751DC5BFA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EA61B11F-69B0-3076-57DC-D7700A9283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B25E6896-A2CF-B40A-3C03-5B249FD9E245}"/>
              </a:ext>
            </a:extLst>
          </p:cNvPr>
          <p:cNvSpPr txBox="1"/>
          <p:nvPr/>
        </p:nvSpPr>
        <p:spPr>
          <a:xfrm>
            <a:off x="419315" y="1124624"/>
            <a:ext cx="11484000" cy="646331"/>
          </a:xfrm>
          <a:prstGeom prst="rect">
            <a:avLst/>
          </a:prstGeom>
          <a:noFill/>
        </p:spPr>
        <p:txBody>
          <a:bodyPr wrap="square">
            <a:spAutoFit/>
          </a:bodyPr>
          <a:lstStyle/>
          <a:p>
            <a:pPr algn="ctr">
              <a:buNone/>
            </a:pPr>
            <a:r>
              <a:rPr lang="en-AU" sz="3600" i="0">
                <a:solidFill>
                  <a:srgbClr val="000000"/>
                </a:solidFill>
                <a:effectLst/>
              </a:rPr>
              <a:t>Record the </a:t>
            </a:r>
            <a:r>
              <a:rPr lang="en-AU" sz="3600" b="1" i="0">
                <a:solidFill>
                  <a:srgbClr val="000000"/>
                </a:solidFill>
                <a:effectLst/>
              </a:rPr>
              <a:t>chance terms </a:t>
            </a:r>
            <a:r>
              <a:rPr lang="en-AU" sz="3600" i="0">
                <a:solidFill>
                  <a:srgbClr val="000000"/>
                </a:solidFill>
                <a:effectLst/>
              </a:rPr>
              <a:t>to complete each sentence:</a:t>
            </a:r>
            <a:endParaRPr lang="en-AU" sz="3600" b="0" i="0">
              <a:solidFill>
                <a:srgbClr val="000000"/>
              </a:solidFill>
              <a:effectLst/>
            </a:endParaRPr>
          </a:p>
        </p:txBody>
      </p:sp>
      <p:sp>
        <p:nvSpPr>
          <p:cNvPr id="7" name="TextBox 6">
            <a:extLst>
              <a:ext uri="{FF2B5EF4-FFF2-40B4-BE49-F238E27FC236}">
                <a16:creationId xmlns:a16="http://schemas.microsoft.com/office/drawing/2014/main" id="{13115F55-C19C-7F7D-2A03-8F80B4B12EF5}"/>
              </a:ext>
            </a:extLst>
          </p:cNvPr>
          <p:cNvSpPr txBox="1"/>
          <p:nvPr/>
        </p:nvSpPr>
        <p:spPr>
          <a:xfrm>
            <a:off x="993102" y="2048314"/>
            <a:ext cx="2654998" cy="778557"/>
          </a:xfrm>
          <a:prstGeom prst="rect">
            <a:avLst/>
          </a:prstGeom>
          <a:ln w="28575">
            <a:solidFill>
              <a:schemeClr val="accent1"/>
            </a:solidFill>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likely</a:t>
            </a:r>
            <a:endParaRPr lang="en-AU" sz="1800">
              <a:latin typeface="Edu NSW ACT Foundation" pitchFamily="2" charset="0"/>
            </a:endParaRPr>
          </a:p>
        </p:txBody>
      </p:sp>
      <p:sp>
        <p:nvSpPr>
          <p:cNvPr id="5" name="TextBox 4">
            <a:extLst>
              <a:ext uri="{FF2B5EF4-FFF2-40B4-BE49-F238E27FC236}">
                <a16:creationId xmlns:a16="http://schemas.microsoft.com/office/drawing/2014/main" id="{546C4CAE-BC93-D34C-2155-7984468E4F60}"/>
              </a:ext>
            </a:extLst>
          </p:cNvPr>
          <p:cNvSpPr txBox="1"/>
          <p:nvPr/>
        </p:nvSpPr>
        <p:spPr>
          <a:xfrm>
            <a:off x="4916340" y="1989978"/>
            <a:ext cx="2654998" cy="778557"/>
          </a:xfrm>
          <a:prstGeom prst="rect">
            <a:avLst/>
          </a:prstGeom>
          <a:ln w="28575">
            <a:solidFill>
              <a:schemeClr val="accent1"/>
            </a:solidFill>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equally likely</a:t>
            </a:r>
            <a:endParaRPr lang="en-AU" sz="1800">
              <a:latin typeface="Edu NSW ACT Foundation" pitchFamily="2" charset="0"/>
            </a:endParaRPr>
          </a:p>
        </p:txBody>
      </p:sp>
      <p:sp>
        <p:nvSpPr>
          <p:cNvPr id="8" name="TextBox 7">
            <a:extLst>
              <a:ext uri="{FF2B5EF4-FFF2-40B4-BE49-F238E27FC236}">
                <a16:creationId xmlns:a16="http://schemas.microsoft.com/office/drawing/2014/main" id="{0256219B-135F-B6D0-34D1-8BC9C238DC18}"/>
              </a:ext>
            </a:extLst>
          </p:cNvPr>
          <p:cNvSpPr txBox="1"/>
          <p:nvPr/>
        </p:nvSpPr>
        <p:spPr>
          <a:xfrm>
            <a:off x="8663902" y="2048313"/>
            <a:ext cx="2654998" cy="778557"/>
          </a:xfrm>
          <a:prstGeom prst="rect">
            <a:avLst/>
          </a:prstGeom>
          <a:ln w="28575">
            <a:solidFill>
              <a:schemeClr val="accent1"/>
            </a:solidFill>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unlikely</a:t>
            </a:r>
            <a:endParaRPr lang="en-AU" sz="1800">
              <a:latin typeface="Edu NSW ACT Foundation" pitchFamily="2" charset="0"/>
            </a:endParaRPr>
          </a:p>
        </p:txBody>
      </p:sp>
      <p:sp>
        <p:nvSpPr>
          <p:cNvPr id="2" name="Slide Number Placeholder 1">
            <a:extLst>
              <a:ext uri="{FF2B5EF4-FFF2-40B4-BE49-F238E27FC236}">
                <a16:creationId xmlns:a16="http://schemas.microsoft.com/office/drawing/2014/main" id="{DCBCC23D-7839-6E76-2D65-694F5BB7B83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13" name="TextBox 12">
            <a:extLst>
              <a:ext uri="{FF2B5EF4-FFF2-40B4-BE49-F238E27FC236}">
                <a16:creationId xmlns:a16="http://schemas.microsoft.com/office/drawing/2014/main" id="{4128EEB4-413E-7254-9EA2-ADBEBA012DDD}"/>
              </a:ext>
            </a:extLst>
          </p:cNvPr>
          <p:cNvSpPr txBox="1"/>
          <p:nvPr/>
        </p:nvSpPr>
        <p:spPr>
          <a:xfrm>
            <a:off x="124039" y="3286728"/>
            <a:ext cx="12315800" cy="3785652"/>
          </a:xfrm>
          <a:prstGeom prst="rect">
            <a:avLst/>
          </a:prstGeom>
          <a:noFill/>
        </p:spPr>
        <p:txBody>
          <a:bodyPr wrap="square" lIns="91440" tIns="45720" rIns="91440" bIns="45720" anchor="t">
            <a:spAutoFit/>
          </a:bodyPr>
          <a:lstStyle/>
          <a:p>
            <a:pPr marL="742950" indent="-742950">
              <a:lnSpc>
                <a:spcPct val="150000"/>
              </a:lnSpc>
              <a:buAutoNum type="alphaLcPeriod"/>
            </a:pPr>
            <a:r>
              <a:rPr lang="en-AU" sz="3600"/>
              <a:t> It is ______ it will snow in Sydney during Summer.</a:t>
            </a:r>
            <a:endParaRPr lang="en-US">
              <a:cs typeface="Arial" panose="020B0604020202020204"/>
            </a:endParaRPr>
          </a:p>
          <a:p>
            <a:pPr marL="571500" indent="-571500">
              <a:lnSpc>
                <a:spcPct val="150000"/>
              </a:lnSpc>
              <a:buAutoNum type="alphaLcPeriod"/>
            </a:pPr>
            <a:r>
              <a:rPr lang="en-AU" sz="3600"/>
              <a:t>  It is _______ will see your classmates at school.</a:t>
            </a:r>
            <a:endParaRPr lang="en-AU" sz="3600">
              <a:cs typeface="Arial" panose="020B0604020202020204"/>
            </a:endParaRPr>
          </a:p>
          <a:p>
            <a:pPr marL="571500" indent="-571500">
              <a:lnSpc>
                <a:spcPct val="150000"/>
              </a:lnSpc>
              <a:buAutoNum type="alphaLcPeriod"/>
            </a:pPr>
            <a:r>
              <a:rPr lang="en-AU" sz="3600"/>
              <a:t>  It is ________ that when you flip a coin, it will land on</a:t>
            </a:r>
          </a:p>
          <a:p>
            <a:pPr>
              <a:lnSpc>
                <a:spcPct val="150000"/>
              </a:lnSpc>
            </a:pPr>
            <a:r>
              <a:rPr lang="en-AU" sz="3600"/>
              <a:t>       heads or tails.</a:t>
            </a:r>
            <a:endParaRPr lang="en-AU" sz="3600">
              <a:cs typeface="Arial" panose="020B0604020202020204"/>
            </a:endParaRPr>
          </a:p>
          <a:p>
            <a:pPr algn="ctr"/>
            <a:endParaRPr lang="en-AU" sz="2400">
              <a:solidFill>
                <a:schemeClr val="accent1"/>
              </a:solidFill>
              <a:latin typeface="+mj-lt"/>
            </a:endParaRPr>
          </a:p>
        </p:txBody>
      </p:sp>
    </p:spTree>
    <p:extLst>
      <p:ext uri="{BB962C8B-B14F-4D97-AF65-F5344CB8AC3E}">
        <p14:creationId xmlns:p14="http://schemas.microsoft.com/office/powerpoint/2010/main" val="126289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6 – multiples madness</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graphicFrame>
        <p:nvGraphicFramePr>
          <p:cNvPr id="6" name="Table 5">
            <a:extLst>
              <a:ext uri="{FF2B5EF4-FFF2-40B4-BE49-F238E27FC236}">
                <a16:creationId xmlns:a16="http://schemas.microsoft.com/office/drawing/2014/main" id="{8B26D215-561A-DB4B-2633-65CB6EBD28EF}"/>
              </a:ext>
            </a:extLst>
          </p:cNvPr>
          <p:cNvGraphicFramePr>
            <a:graphicFrameLocks noGrp="1"/>
          </p:cNvGraphicFramePr>
          <p:nvPr>
            <p:extLst>
              <p:ext uri="{D42A27DB-BD31-4B8C-83A1-F6EECF244321}">
                <p14:modId xmlns:p14="http://schemas.microsoft.com/office/powerpoint/2010/main" val="3892865982"/>
              </p:ext>
            </p:extLst>
          </p:nvPr>
        </p:nvGraphicFramePr>
        <p:xfrm>
          <a:off x="1397493" y="1648721"/>
          <a:ext cx="9239250" cy="3606485"/>
        </p:xfrm>
        <a:graphic>
          <a:graphicData uri="http://schemas.openxmlformats.org/drawingml/2006/table">
            <a:tbl>
              <a:tblPr firstRow="1" firstCol="1" bandRow="1"/>
              <a:tblGrid>
                <a:gridCol w="1847850">
                  <a:extLst>
                    <a:ext uri="{9D8B030D-6E8A-4147-A177-3AD203B41FA5}">
                      <a16:colId xmlns:a16="http://schemas.microsoft.com/office/drawing/2014/main" val="1907392328"/>
                    </a:ext>
                  </a:extLst>
                </a:gridCol>
                <a:gridCol w="1847850">
                  <a:extLst>
                    <a:ext uri="{9D8B030D-6E8A-4147-A177-3AD203B41FA5}">
                      <a16:colId xmlns:a16="http://schemas.microsoft.com/office/drawing/2014/main" val="3405085393"/>
                    </a:ext>
                  </a:extLst>
                </a:gridCol>
                <a:gridCol w="1847850">
                  <a:extLst>
                    <a:ext uri="{9D8B030D-6E8A-4147-A177-3AD203B41FA5}">
                      <a16:colId xmlns:a16="http://schemas.microsoft.com/office/drawing/2014/main" val="4245710276"/>
                    </a:ext>
                  </a:extLst>
                </a:gridCol>
                <a:gridCol w="1847850">
                  <a:extLst>
                    <a:ext uri="{9D8B030D-6E8A-4147-A177-3AD203B41FA5}">
                      <a16:colId xmlns:a16="http://schemas.microsoft.com/office/drawing/2014/main" val="1554780824"/>
                    </a:ext>
                  </a:extLst>
                </a:gridCol>
                <a:gridCol w="1847850">
                  <a:extLst>
                    <a:ext uri="{9D8B030D-6E8A-4147-A177-3AD203B41FA5}">
                      <a16:colId xmlns:a16="http://schemas.microsoft.com/office/drawing/2014/main" val="2714383202"/>
                    </a:ext>
                  </a:extLst>
                </a:gridCol>
              </a:tblGrid>
              <a:tr h="190500">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10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40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80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60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1638740"/>
                  </a:ext>
                </a:extLst>
              </a:tr>
              <a:tr h="190500">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70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20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50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1598144"/>
                  </a:ext>
                </a:extLst>
              </a:tr>
              <a:tr h="190500">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50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dirty="0">
                          <a:effectLst/>
                          <a:latin typeface="Arial" panose="020B0604020202020204" pitchFamily="34" charset="0"/>
                          <a:ea typeface="Times New Roman" panose="02020603050405020304" pitchFamily="18" charset="0"/>
                          <a:cs typeface="Arial" panose="020B0604020202020204" pitchFamily="34" charset="0"/>
                        </a:rPr>
                        <a:t>20</a:t>
                      </a:r>
                      <a:endParaRPr lang="en-AU" sz="11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40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60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204918"/>
                  </a:ext>
                </a:extLst>
              </a:tr>
              <a:tr h="190500">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90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10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70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80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50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9457999"/>
                  </a:ext>
                </a:extLst>
              </a:tr>
              <a:tr h="190500">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40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60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a:effectLst/>
                          <a:latin typeface="Arial" panose="020B0604020202020204" pitchFamily="34" charset="0"/>
                          <a:ea typeface="Times New Roman" panose="02020603050405020304" pitchFamily="18" charset="0"/>
                          <a:cs typeface="Arial" panose="020B0604020202020204" pitchFamily="34" charset="0"/>
                        </a:rPr>
                        <a:t>90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ct val="150000"/>
                        </a:lnSpc>
                        <a:spcBef>
                          <a:spcPts val="1200"/>
                        </a:spcBef>
                        <a:spcAft>
                          <a:spcPts val="600"/>
                        </a:spcAft>
                        <a:buNone/>
                      </a:pPr>
                      <a:r>
                        <a:rPr lang="en-AU" sz="3600" dirty="0">
                          <a:effectLst/>
                          <a:latin typeface="Arial" panose="020B0604020202020204" pitchFamily="34" charset="0"/>
                          <a:ea typeface="Times New Roman" panose="02020603050405020304" pitchFamily="18" charset="0"/>
                          <a:cs typeface="Arial" panose="020B0604020202020204" pitchFamily="34" charset="0"/>
                        </a:rPr>
                        <a:t>20</a:t>
                      </a:r>
                      <a:endParaRPr lang="en-AU" sz="11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3879279"/>
                  </a:ext>
                </a:extLst>
              </a:tr>
            </a:tbl>
          </a:graphicData>
        </a:graphic>
      </p:graphicFrame>
    </p:spTree>
    <p:extLst>
      <p:ext uri="{BB962C8B-B14F-4D97-AF65-F5344CB8AC3E}">
        <p14:creationId xmlns:p14="http://schemas.microsoft.com/office/powerpoint/2010/main" val="10511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1062065"/>
            <a:ext cx="11243037" cy="1493383"/>
          </a:xfrm>
        </p:spPr>
        <p:txBody>
          <a:bodyPr vert="horz" lIns="0" tIns="0" rIns="0" bIns="0" rtlCol="0" anchor="t">
            <a:noAutofit/>
          </a:bodyPr>
          <a:lstStyle/>
          <a:p>
            <a:r>
              <a:rPr lang="en-US" sz="3600" dirty="0">
                <a:latin typeface="Arial"/>
                <a:cs typeface="Arial"/>
              </a:rPr>
              <a:t>What is the </a:t>
            </a:r>
            <a:r>
              <a:rPr lang="en-US" sz="3600" b="1" dirty="0">
                <a:latin typeface="Arial"/>
                <a:cs typeface="Arial"/>
              </a:rPr>
              <a:t>second smallest number</a:t>
            </a:r>
            <a:r>
              <a:rPr lang="en-US" sz="3600" dirty="0">
                <a:latin typeface="Arial"/>
                <a:cs typeface="Arial"/>
              </a:rPr>
              <a:t> formed by </a:t>
            </a:r>
            <a:r>
              <a:rPr lang="en-US" sz="3600" b="1" dirty="0">
                <a:latin typeface="Arial"/>
                <a:cs typeface="Arial"/>
              </a:rPr>
              <a:t>rearranging</a:t>
            </a:r>
            <a:r>
              <a:rPr lang="en-US" sz="3600" dirty="0">
                <a:latin typeface="Arial"/>
                <a:cs typeface="Arial"/>
              </a:rPr>
              <a:t> the digits within </a:t>
            </a:r>
            <a:r>
              <a:rPr lang="en-US" sz="3600" b="1" dirty="0">
                <a:latin typeface="Arial"/>
                <a:cs typeface="Arial"/>
              </a:rPr>
              <a:t>54 321</a:t>
            </a:r>
            <a:r>
              <a:rPr lang="en-US" sz="3600" dirty="0">
                <a:latin typeface="Arial"/>
                <a:cs typeface="Arial"/>
              </a:rPr>
              <a:t>?</a:t>
            </a:r>
          </a:p>
        </p:txBody>
      </p:sp>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877704"/>
            <a:ext cx="10175920" cy="641396"/>
          </a:xfrm>
        </p:spPr>
        <p:txBody>
          <a:bodyPr anchor="ctr"/>
          <a:lstStyle/>
          <a:p>
            <a:r>
              <a:rPr lang="en-US" sz="3600" dirty="0">
                <a:cs typeface="Arial"/>
              </a:rPr>
              <a:t>54 312</a:t>
            </a:r>
            <a:endParaRPr lang="en-US" sz="3600" dirty="0"/>
          </a:p>
        </p:txBody>
      </p:sp>
      <p:sp>
        <p:nvSpPr>
          <p:cNvPr id="10" name="B">
            <a:extLst>
              <a:ext uri="{FF2B5EF4-FFF2-40B4-BE49-F238E27FC236}">
                <a16:creationId xmlns:a16="http://schemas.microsoft.com/office/drawing/2014/main" id="{E50622FB-E2C3-695B-EB8A-A6DCC20CB21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725617"/>
            <a:ext cx="10175920" cy="641396"/>
          </a:xfrm>
        </p:spPr>
        <p:txBody>
          <a:bodyPr anchor="ctr"/>
          <a:lstStyle/>
          <a:p>
            <a:r>
              <a:rPr lang="en-US" sz="3600">
                <a:cs typeface="Arial"/>
              </a:rPr>
              <a:t>12 345</a:t>
            </a:r>
            <a:endParaRPr lang="en-US" sz="3600"/>
          </a:p>
        </p:txBody>
      </p:sp>
      <p:sp>
        <p:nvSpPr>
          <p:cNvPr id="12" name="C">
            <a:extLst>
              <a:ext uri="{FF2B5EF4-FFF2-40B4-BE49-F238E27FC236}">
                <a16:creationId xmlns:a16="http://schemas.microsoft.com/office/drawing/2014/main" id="{0C258EAC-2959-18FA-F510-CFBA4E15CEE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575670"/>
            <a:ext cx="10175920" cy="641396"/>
          </a:xfrm>
        </p:spPr>
        <p:txBody>
          <a:bodyPr anchor="ctr"/>
          <a:lstStyle/>
          <a:p>
            <a:r>
              <a:rPr lang="en-US" sz="3600">
                <a:cs typeface="Arial"/>
              </a:rPr>
              <a:t>12 354</a:t>
            </a:r>
            <a:endParaRPr lang="en-US" sz="3600"/>
          </a:p>
        </p:txBody>
      </p:sp>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425723"/>
            <a:ext cx="10175920" cy="641396"/>
          </a:xfrm>
        </p:spPr>
        <p:txBody>
          <a:bodyPr anchor="ctr"/>
          <a:lstStyle/>
          <a:p>
            <a:r>
              <a:rPr lang="en-US" sz="3600" dirty="0">
                <a:cs typeface="Arial"/>
              </a:rPr>
              <a:t>54 123</a:t>
            </a:r>
            <a:endParaRPr lang="en-US" sz="3600" dirty="0"/>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5817F3C-B276-909F-C996-09CAFAA7C1B8}"/>
              </a:ext>
            </a:extLst>
          </p:cNvPr>
          <p:cNvSpPr txBox="1"/>
          <p:nvPr/>
        </p:nvSpPr>
        <p:spPr>
          <a:xfrm>
            <a:off x="663208" y="767035"/>
            <a:ext cx="11282768" cy="335476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sz="2800" dirty="0">
              <a:cs typeface="Arial"/>
            </a:endParaRPr>
          </a:p>
          <a:p>
            <a:pPr>
              <a:lnSpc>
                <a:spcPct val="150000"/>
              </a:lnSpc>
            </a:pPr>
            <a:r>
              <a:rPr lang="en-US" sz="3600">
                <a:cs typeface="Arial"/>
              </a:rPr>
              <a:t>The milk carton has a </a:t>
            </a:r>
            <a:r>
              <a:rPr lang="en-US" sz="3600" b="1">
                <a:cs typeface="Arial"/>
              </a:rPr>
              <a:t>capacity of 1L</a:t>
            </a:r>
            <a:r>
              <a:rPr lang="en-US" sz="3600">
                <a:cs typeface="Arial"/>
              </a:rPr>
              <a:t>. Use this information to </a:t>
            </a:r>
            <a:r>
              <a:rPr lang="en-US" sz="3600" b="1">
                <a:cs typeface="Arial"/>
              </a:rPr>
              <a:t>estimate the capacities</a:t>
            </a:r>
            <a:r>
              <a:rPr lang="en-US" sz="3600">
                <a:cs typeface="Arial"/>
              </a:rPr>
              <a:t> of the other objects.</a:t>
            </a:r>
            <a:endParaRPr lang="en-US" sz="3600"/>
          </a:p>
          <a:p>
            <a:endParaRPr lang="en-US" sz="2800" dirty="0">
              <a:cs typeface="Arial"/>
            </a:endParaRPr>
          </a:p>
        </p:txBody>
      </p:sp>
      <p:pic>
        <p:nvPicPr>
          <p:cNvPr id="8" name="Picture 7" descr="A group of objects: milk carton, mug, yogurt pot, soft drink can, large water bottle.">
            <a:extLst>
              <a:ext uri="{FF2B5EF4-FFF2-40B4-BE49-F238E27FC236}">
                <a16:creationId xmlns:a16="http://schemas.microsoft.com/office/drawing/2014/main" id="{1D8F72F4-29D1-6C95-CFBD-83B4C456106A}"/>
              </a:ext>
            </a:extLst>
          </p:cNvPr>
          <p:cNvPicPr>
            <a:picLocks noChangeAspect="1"/>
          </p:cNvPicPr>
          <p:nvPr/>
        </p:nvPicPr>
        <p:blipFill>
          <a:blip r:embed="rId4"/>
          <a:srcRect l="5331" t="13286" r="720" b="2828"/>
          <a:stretch>
            <a:fillRect/>
          </a:stretch>
        </p:blipFill>
        <p:spPr>
          <a:xfrm>
            <a:off x="2953910" y="2862015"/>
            <a:ext cx="5945541" cy="3775506"/>
          </a:xfrm>
          <a:prstGeom prst="rect">
            <a:avLst/>
          </a:prstGeom>
          <a:effectLst/>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7DA9824-E274-E464-1DFC-2364EC6EA600}"/>
              </a:ext>
            </a:extLst>
          </p:cNvPr>
          <p:cNvSpPr txBox="1"/>
          <p:nvPr/>
        </p:nvSpPr>
        <p:spPr>
          <a:xfrm>
            <a:off x="816964" y="1447831"/>
            <a:ext cx="5279036" cy="424731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200" dirty="0">
                <a:cs typeface="Arial"/>
              </a:rPr>
              <a:t>I have a bag of pink and blue marbles. </a:t>
            </a:r>
          </a:p>
          <a:p>
            <a:pPr algn="ctr">
              <a:lnSpc>
                <a:spcPct val="150000"/>
              </a:lnSpc>
            </a:pPr>
            <a:r>
              <a:rPr lang="en-US" sz="3200" dirty="0">
                <a:cs typeface="Arial"/>
              </a:rPr>
              <a:t>List </a:t>
            </a:r>
            <a:r>
              <a:rPr lang="en-US" sz="3200" b="1" dirty="0">
                <a:cs typeface="Arial"/>
              </a:rPr>
              <a:t>all the possible outcomes</a:t>
            </a:r>
            <a:r>
              <a:rPr lang="en-US" sz="3200" dirty="0">
                <a:cs typeface="Arial"/>
              </a:rPr>
              <a:t> for randomly picking any 3 marbles.</a:t>
            </a:r>
          </a:p>
          <a:p>
            <a:endParaRPr lang="en-US" sz="3600" dirty="0">
              <a:cs typeface="Arial" panose="020B0604020202020204"/>
            </a:endParaRPr>
          </a:p>
        </p:txBody>
      </p:sp>
      <p:pic>
        <p:nvPicPr>
          <p:cNvPr id="4" name="Picture 3" descr="A drawing of a bag of blue and pink balls- six each.&#10;&#10;">
            <a:extLst>
              <a:ext uri="{FF2B5EF4-FFF2-40B4-BE49-F238E27FC236}">
                <a16:creationId xmlns:a16="http://schemas.microsoft.com/office/drawing/2014/main" id="{B585AFC7-6581-21C5-B61E-4C6150AF315E}"/>
              </a:ext>
            </a:extLst>
          </p:cNvPr>
          <p:cNvPicPr>
            <a:picLocks noChangeAspect="1"/>
          </p:cNvPicPr>
          <p:nvPr/>
        </p:nvPicPr>
        <p:blipFill>
          <a:blip r:embed="rId4"/>
          <a:srcRect l="18165" t="-1629" r="38624" b="10423"/>
          <a:stretch>
            <a:fillRect/>
          </a:stretch>
        </p:blipFill>
        <p:spPr>
          <a:xfrm>
            <a:off x="6569312" y="1125414"/>
            <a:ext cx="4309560" cy="5111963"/>
          </a:xfrm>
          <a:prstGeom prst="rect">
            <a:avLst/>
          </a:prstGeom>
        </p:spPr>
      </p:pic>
      <p:sp>
        <p:nvSpPr>
          <p:cNvPr id="2" name="Slide Number Placeholder 1" descr="There is an image of a bag with 6 blue marbles and 6 pink marbles.">
            <a:extLst>
              <a:ext uri="{FF2B5EF4-FFF2-40B4-BE49-F238E27FC236}">
                <a16:creationId xmlns:a16="http://schemas.microsoft.com/office/drawing/2014/main" id="{7272EA4F-3F06-6846-819D-1E1E70AD9111}"/>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9B26FCB-0FB2-446E-68B8-151D243BD2A9}"/>
              </a:ext>
            </a:extLst>
          </p:cNvPr>
          <p:cNvSpPr txBox="1"/>
          <p:nvPr/>
        </p:nvSpPr>
        <p:spPr>
          <a:xfrm>
            <a:off x="1080445" y="909610"/>
            <a:ext cx="9517380" cy="581806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200">
                <a:cs typeface="Arial"/>
              </a:rPr>
              <a:t>Sophie solved </a:t>
            </a:r>
            <a:r>
              <a:rPr lang="en-US" sz="3200" b="1">
                <a:cs typeface="Arial"/>
              </a:rPr>
              <a:t>60 x 4 </a:t>
            </a:r>
            <a:r>
              <a:rPr lang="en-US" sz="3200">
                <a:cs typeface="Arial"/>
              </a:rPr>
              <a:t>using the following strategy:</a:t>
            </a:r>
          </a:p>
          <a:p>
            <a:pPr algn="ctr">
              <a:lnSpc>
                <a:spcPct val="150000"/>
              </a:lnSpc>
            </a:pPr>
            <a:r>
              <a:rPr lang="en-US" sz="3200">
                <a:cs typeface="Arial"/>
              </a:rPr>
              <a:t>6 x 10 x 4</a:t>
            </a:r>
          </a:p>
          <a:p>
            <a:pPr algn="ctr">
              <a:lnSpc>
                <a:spcPct val="150000"/>
              </a:lnSpc>
            </a:pPr>
            <a:r>
              <a:rPr lang="en-US" sz="3200">
                <a:cs typeface="Arial"/>
              </a:rPr>
              <a:t>= 6 x 4 x 10</a:t>
            </a:r>
          </a:p>
          <a:p>
            <a:pPr algn="ctr">
              <a:lnSpc>
                <a:spcPct val="150000"/>
              </a:lnSpc>
            </a:pPr>
            <a:r>
              <a:rPr lang="en-US" sz="3200">
                <a:cs typeface="Arial"/>
              </a:rPr>
              <a:t>= 24 x 10</a:t>
            </a:r>
          </a:p>
          <a:p>
            <a:pPr algn="ctr">
              <a:lnSpc>
                <a:spcPct val="150000"/>
              </a:lnSpc>
            </a:pPr>
            <a:r>
              <a:rPr lang="en-US" sz="3200">
                <a:cs typeface="Arial"/>
              </a:rPr>
              <a:t>= 240</a:t>
            </a:r>
          </a:p>
          <a:p>
            <a:pPr marL="457200" indent="-457200" algn="ctr">
              <a:lnSpc>
                <a:spcPct val="150000"/>
              </a:lnSpc>
              <a:buFont typeface="Arial" panose="020B0604020202020204" pitchFamily="34" charset="0"/>
              <a:buChar char="•"/>
            </a:pPr>
            <a:r>
              <a:rPr lang="en-US" sz="3200">
                <a:cs typeface="Arial"/>
              </a:rPr>
              <a:t>Do you think this </a:t>
            </a:r>
            <a:r>
              <a:rPr lang="en-US" sz="3200" b="1">
                <a:cs typeface="Arial"/>
              </a:rPr>
              <a:t>is an efficient strategy</a:t>
            </a:r>
            <a:r>
              <a:rPr lang="en-US" sz="3200">
                <a:cs typeface="Arial"/>
              </a:rPr>
              <a:t>?</a:t>
            </a:r>
          </a:p>
          <a:p>
            <a:pPr algn="ctr">
              <a:lnSpc>
                <a:spcPct val="150000"/>
              </a:lnSpc>
            </a:pPr>
            <a:r>
              <a:rPr lang="en-US" sz="3200" b="1">
                <a:cs typeface="Arial"/>
              </a:rPr>
              <a:t>Communicate</a:t>
            </a:r>
            <a:r>
              <a:rPr lang="en-US" sz="3200">
                <a:cs typeface="Arial"/>
              </a:rPr>
              <a:t> your </a:t>
            </a:r>
            <a:r>
              <a:rPr lang="en-US" sz="3200" b="1">
                <a:cs typeface="Arial"/>
              </a:rPr>
              <a:t>reasoning</a:t>
            </a:r>
            <a:r>
              <a:rPr lang="en-US" sz="3200">
                <a:cs typeface="Arial"/>
              </a:rPr>
              <a:t>.</a:t>
            </a:r>
          </a:p>
          <a:p>
            <a:pPr marL="457200" indent="-457200" algn="ctr">
              <a:lnSpc>
                <a:spcPct val="150000"/>
              </a:lnSpc>
              <a:buFont typeface="Arial" panose="020B0604020202020204" pitchFamily="34" charset="0"/>
              <a:buChar char="•"/>
            </a:pPr>
            <a:r>
              <a:rPr lang="en-US" sz="3200" b="1">
                <a:cs typeface="Arial"/>
              </a:rPr>
              <a:t>Solve 70 x 5 </a:t>
            </a:r>
            <a:r>
              <a:rPr lang="en-US" sz="3200">
                <a:cs typeface="Arial"/>
              </a:rPr>
              <a:t>using the same strategy.</a:t>
            </a:r>
            <a:endParaRPr lang="en-US">
              <a:cs typeface="Arial"/>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Rectangle 6" descr="A dark pink rectangle">
            <a:extLst>
              <a:ext uri="{FF2B5EF4-FFF2-40B4-BE49-F238E27FC236}">
                <a16:creationId xmlns:a16="http://schemas.microsoft.com/office/drawing/2014/main" id="{0BFE76D5-1FB7-D183-C884-FB9D9730BCB8}"/>
              </a:ext>
            </a:extLst>
          </p:cNvPr>
          <p:cNvSpPr/>
          <p:nvPr/>
        </p:nvSpPr>
        <p:spPr>
          <a:xfrm>
            <a:off x="1743740" y="1240153"/>
            <a:ext cx="1668481" cy="2520000"/>
          </a:xfrm>
          <a:prstGeom prst="rect">
            <a:avLst/>
          </a:prstGeom>
          <a:solidFill>
            <a:srgbClr val="B514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Isosceles Triangle 7" descr="A green triangle.">
            <a:extLst>
              <a:ext uri="{FF2B5EF4-FFF2-40B4-BE49-F238E27FC236}">
                <a16:creationId xmlns:a16="http://schemas.microsoft.com/office/drawing/2014/main" id="{1F8E2F64-72D5-7C62-3DD8-9A8740D37952}"/>
              </a:ext>
            </a:extLst>
          </p:cNvPr>
          <p:cNvSpPr/>
          <p:nvPr/>
        </p:nvSpPr>
        <p:spPr>
          <a:xfrm>
            <a:off x="4315902" y="1369819"/>
            <a:ext cx="3198629" cy="2390334"/>
          </a:xfrm>
          <a:prstGeom prst="triangle">
            <a:avLst/>
          </a:prstGeom>
          <a:solidFill>
            <a:srgbClr val="447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descr="A blue square.">
            <a:extLst>
              <a:ext uri="{FF2B5EF4-FFF2-40B4-BE49-F238E27FC236}">
                <a16:creationId xmlns:a16="http://schemas.microsoft.com/office/drawing/2014/main" id="{9C55720E-EF28-E46B-5260-9E352251E21B}"/>
              </a:ext>
            </a:extLst>
          </p:cNvPr>
          <p:cNvSpPr/>
          <p:nvPr/>
        </p:nvSpPr>
        <p:spPr>
          <a:xfrm>
            <a:off x="8207268" y="1240153"/>
            <a:ext cx="2520000" cy="2520000"/>
          </a:xfrm>
          <a:prstGeom prst="rect">
            <a:avLst/>
          </a:prstGeom>
          <a:solidFill>
            <a:schemeClr val="accent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487F9D61-2E4D-7FC0-F6C4-1A0355B0EC04}"/>
              </a:ext>
            </a:extLst>
          </p:cNvPr>
          <p:cNvSpPr txBox="1"/>
          <p:nvPr/>
        </p:nvSpPr>
        <p:spPr>
          <a:xfrm>
            <a:off x="158496" y="4094706"/>
            <a:ext cx="12033504" cy="1905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What is </a:t>
            </a:r>
            <a:r>
              <a:rPr lang="en-US" sz="4400" b="1">
                <a:cs typeface="Arial"/>
              </a:rPr>
              <a:t>similar</a:t>
            </a:r>
            <a:r>
              <a:rPr lang="en-US" sz="4400">
                <a:cs typeface="Arial"/>
              </a:rPr>
              <a:t> and </a:t>
            </a:r>
            <a:r>
              <a:rPr lang="en-US" sz="4400" b="1">
                <a:cs typeface="Arial"/>
              </a:rPr>
              <a:t>different</a:t>
            </a:r>
            <a:r>
              <a:rPr lang="en-US" sz="4400">
                <a:cs typeface="Arial"/>
              </a:rPr>
              <a:t> about these two-dimensional shapes?</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multiplying by multiples</a:t>
            </a:r>
          </a:p>
        </p:txBody>
      </p:sp>
      <p:pic>
        <p:nvPicPr>
          <p:cNvPr id="6" name="Picture 5" descr="A table with five columns, and the following titles: column 1- Order, column 2- Roll 1, column 3- Roll 2, column 4- number sentence, column 5- actual order">
            <a:extLst>
              <a:ext uri="{FF2B5EF4-FFF2-40B4-BE49-F238E27FC236}">
                <a16:creationId xmlns:a16="http://schemas.microsoft.com/office/drawing/2014/main" id="{6814A7AF-F8AE-906F-FC41-D6BAA6F9EDE3}"/>
              </a:ext>
            </a:extLst>
          </p:cNvPr>
          <p:cNvPicPr>
            <a:picLocks noChangeAspect="1"/>
          </p:cNvPicPr>
          <p:nvPr/>
        </p:nvPicPr>
        <p:blipFill>
          <a:blip r:embed="rId3"/>
          <a:srcRect t="12447"/>
          <a:stretch/>
        </p:blipFill>
        <p:spPr>
          <a:xfrm>
            <a:off x="110490" y="1133520"/>
            <a:ext cx="11971020" cy="5364480"/>
          </a:xfrm>
          <a:prstGeom prst="rect">
            <a:avLst/>
          </a:prstGeom>
        </p:spPr>
      </p:pic>
      <p:pic>
        <p:nvPicPr>
          <p:cNvPr id="5" name="Picture 4">
            <a:extLst>
              <a:ext uri="{FF2B5EF4-FFF2-40B4-BE49-F238E27FC236}">
                <a16:creationId xmlns:a16="http://schemas.microsoft.com/office/drawing/2014/main" id="{66BD3866-DD39-AB37-5A87-714F0607FA5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73911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293817" y="1600298"/>
            <a:ext cx="9375403" cy="893226"/>
          </a:xfrm>
        </p:spPr>
        <p:txBody>
          <a:bodyPr vert="horz" lIns="0" tIns="0" rIns="0" bIns="0" rtlCol="0" anchor="t">
            <a:noAutofit/>
          </a:bodyPr>
          <a:lstStyle/>
          <a:p>
            <a:pPr algn="ctr">
              <a:spcBef>
                <a:spcPts val="600"/>
              </a:spcBef>
              <a:spcAft>
                <a:spcPts val="1200"/>
              </a:spcAft>
            </a:pPr>
            <a:r>
              <a:rPr lang="en-AU" sz="3600" dirty="0">
                <a:latin typeface="Arial"/>
                <a:cs typeface="Arial"/>
              </a:rPr>
              <a:t>Pick </a:t>
            </a:r>
            <a:r>
              <a:rPr lang="en-AU" sz="3600" b="1" dirty="0">
                <a:latin typeface="Arial"/>
                <a:cs typeface="Arial"/>
              </a:rPr>
              <a:t>4 consecutive digits</a:t>
            </a:r>
            <a:r>
              <a:rPr lang="en-AU" sz="3600" b="1">
                <a:latin typeface="Arial"/>
                <a:cs typeface="Arial"/>
              </a:rPr>
              <a:t> </a:t>
            </a:r>
            <a:r>
              <a:rPr lang="en-AU" sz="3600" dirty="0">
                <a:latin typeface="Arial"/>
                <a:cs typeface="Arial"/>
              </a:rPr>
              <a:t>(1-9). Form the </a:t>
            </a:r>
            <a:r>
              <a:rPr lang="en-AU" sz="3600" b="1" dirty="0">
                <a:latin typeface="Arial"/>
                <a:cs typeface="Arial"/>
              </a:rPr>
              <a:t>largest </a:t>
            </a:r>
            <a:r>
              <a:rPr lang="en-AU" sz="3600">
                <a:latin typeface="Arial"/>
                <a:cs typeface="Arial"/>
              </a:rPr>
              <a:t>and</a:t>
            </a:r>
            <a:r>
              <a:rPr lang="en-AU" sz="3600" b="1" dirty="0">
                <a:latin typeface="Arial"/>
                <a:cs typeface="Arial"/>
              </a:rPr>
              <a:t> smallest possible </a:t>
            </a:r>
            <a:r>
              <a:rPr lang="en-AU" sz="3600">
                <a:latin typeface="Arial"/>
                <a:cs typeface="Arial"/>
              </a:rPr>
              <a:t>numbers</a:t>
            </a:r>
            <a:r>
              <a:rPr lang="en-AU" sz="3600" dirty="0">
                <a:latin typeface="Arial"/>
                <a:cs typeface="Arial"/>
              </a:rPr>
              <a:t>. The difference </a:t>
            </a:r>
            <a:r>
              <a:rPr lang="en-AU" sz="3600">
                <a:latin typeface="Arial"/>
                <a:cs typeface="Arial"/>
              </a:rPr>
              <a:t>between those numbers </a:t>
            </a:r>
            <a:r>
              <a:rPr lang="en-AU" sz="3600" dirty="0">
                <a:latin typeface="Arial"/>
                <a:cs typeface="Arial"/>
              </a:rPr>
              <a:t>is 3087.</a:t>
            </a:r>
            <a:endParaRPr lang="en-AU" sz="360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group of objects: milk carton, mug, yogurt pot, soft drink can, large water bottle.">
            <a:extLst>
              <a:ext uri="{FF2B5EF4-FFF2-40B4-BE49-F238E27FC236}">
                <a16:creationId xmlns:a16="http://schemas.microsoft.com/office/drawing/2014/main" id="{08FEA08F-6AC4-F79D-5927-50D1C64037D6}"/>
              </a:ext>
            </a:extLst>
          </p:cNvPr>
          <p:cNvPicPr>
            <a:picLocks noChangeAspect="1"/>
          </p:cNvPicPr>
          <p:nvPr/>
        </p:nvPicPr>
        <p:blipFill>
          <a:blip r:embed="rId4"/>
          <a:srcRect l="5331" t="13286" r="720" b="2828"/>
          <a:stretch>
            <a:fillRect/>
          </a:stretch>
        </p:blipFill>
        <p:spPr>
          <a:xfrm>
            <a:off x="2855548" y="905522"/>
            <a:ext cx="5385024" cy="3419570"/>
          </a:xfrm>
          <a:prstGeom prst="rect">
            <a:avLst/>
          </a:prstGeom>
        </p:spPr>
      </p:pic>
      <p:sp>
        <p:nvSpPr>
          <p:cNvPr id="7" name="TextBox 6">
            <a:extLst>
              <a:ext uri="{FF2B5EF4-FFF2-40B4-BE49-F238E27FC236}">
                <a16:creationId xmlns:a16="http://schemas.microsoft.com/office/drawing/2014/main" id="{4DB8B2A5-79C2-A9A7-798D-BE12C1037CE7}"/>
              </a:ext>
            </a:extLst>
          </p:cNvPr>
          <p:cNvSpPr txBox="1"/>
          <p:nvPr/>
        </p:nvSpPr>
        <p:spPr>
          <a:xfrm>
            <a:off x="482923" y="4492662"/>
            <a:ext cx="11136053" cy="155933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a:cs typeface="Arial"/>
              </a:rPr>
              <a:t>Sort these containers in order </a:t>
            </a:r>
            <a:r>
              <a:rPr lang="en-US" sz="3600" b="1">
                <a:cs typeface="Arial"/>
              </a:rPr>
              <a:t>from smallest</a:t>
            </a:r>
            <a:r>
              <a:rPr lang="en-US" sz="3600">
                <a:cs typeface="Arial"/>
              </a:rPr>
              <a:t> estimated capacity </a:t>
            </a:r>
            <a:r>
              <a:rPr lang="en-US" sz="3600" b="1">
                <a:cs typeface="Arial"/>
              </a:rPr>
              <a:t>to largest</a:t>
            </a:r>
            <a:r>
              <a:rPr lang="en-US" sz="3600">
                <a:cs typeface="Arial"/>
              </a:rPr>
              <a:t> estimated capacity.</a:t>
            </a:r>
            <a:endParaRPr lang="en-US" sz="3600"/>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EC040FB-5800-299E-29FF-E7E52AD89CF8}"/>
              </a:ext>
            </a:extLst>
          </p:cNvPr>
          <p:cNvSpPr txBox="1"/>
          <p:nvPr/>
        </p:nvSpPr>
        <p:spPr>
          <a:xfrm>
            <a:off x="480227" y="1395821"/>
            <a:ext cx="6711360" cy="40523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b="1">
                <a:cs typeface="Arial"/>
              </a:rPr>
              <a:t>Remove 1 blue marble</a:t>
            </a:r>
            <a:r>
              <a:rPr lang="en-US" sz="3600">
                <a:cs typeface="Arial"/>
              </a:rPr>
              <a:t> from this bag. Has this action </a:t>
            </a:r>
            <a:r>
              <a:rPr lang="en-US" sz="3600" b="1">
                <a:cs typeface="Arial"/>
              </a:rPr>
              <a:t>changed the chance </a:t>
            </a:r>
            <a:r>
              <a:rPr lang="en-US" sz="3600">
                <a:cs typeface="Arial"/>
              </a:rPr>
              <a:t>of picking a pink marble next?</a:t>
            </a:r>
          </a:p>
          <a:p>
            <a:pPr algn="ctr">
              <a:lnSpc>
                <a:spcPct val="150000"/>
              </a:lnSpc>
            </a:pPr>
            <a:r>
              <a:rPr lang="en-US" sz="3600" b="1">
                <a:cs typeface="Arial"/>
              </a:rPr>
              <a:t>Communicate</a:t>
            </a:r>
            <a:r>
              <a:rPr lang="en-US" sz="3600">
                <a:cs typeface="Arial"/>
              </a:rPr>
              <a:t> your </a:t>
            </a:r>
            <a:r>
              <a:rPr lang="en-US" sz="3600" b="1">
                <a:cs typeface="Arial"/>
              </a:rPr>
              <a:t>reasoning</a:t>
            </a:r>
            <a:r>
              <a:rPr lang="en-US" sz="3600">
                <a:cs typeface="Arial"/>
              </a:rPr>
              <a:t>.</a:t>
            </a:r>
          </a:p>
        </p:txBody>
      </p:sp>
      <p:pic>
        <p:nvPicPr>
          <p:cNvPr id="5" name="Picture 4" descr="A drawing of a bag of blue and pink balls- 6 of each type.&#10;&#10;">
            <a:extLst>
              <a:ext uri="{FF2B5EF4-FFF2-40B4-BE49-F238E27FC236}">
                <a16:creationId xmlns:a16="http://schemas.microsoft.com/office/drawing/2014/main" id="{D0CA0A73-0747-769E-00E3-128F9E740BF2}"/>
              </a:ext>
            </a:extLst>
          </p:cNvPr>
          <p:cNvPicPr>
            <a:picLocks noChangeAspect="1"/>
          </p:cNvPicPr>
          <p:nvPr/>
        </p:nvPicPr>
        <p:blipFill>
          <a:blip r:embed="rId4"/>
          <a:srcRect l="18165" t="-1629" r="38624" b="10423"/>
          <a:stretch>
            <a:fillRect/>
          </a:stretch>
        </p:blipFill>
        <p:spPr>
          <a:xfrm>
            <a:off x="7951733" y="1395821"/>
            <a:ext cx="3760040" cy="4460127"/>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7C31293-8390-EECC-5C1F-00A2143FA947}"/>
              </a:ext>
            </a:extLst>
          </p:cNvPr>
          <p:cNvSpPr txBox="1"/>
          <p:nvPr/>
        </p:nvSpPr>
        <p:spPr>
          <a:xfrm>
            <a:off x="632459" y="1386840"/>
            <a:ext cx="10789920" cy="30469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dirty="0">
                <a:cs typeface="Arial"/>
              </a:rPr>
              <a:t>Kieran solved </a:t>
            </a:r>
            <a:r>
              <a:rPr lang="en-US" sz="3600" b="1" dirty="0">
                <a:cs typeface="Arial"/>
              </a:rPr>
              <a:t>25 x 8</a:t>
            </a:r>
            <a:r>
              <a:rPr lang="en-US" sz="3600" dirty="0">
                <a:cs typeface="Arial"/>
              </a:rPr>
              <a:t> using 2 strategies</a:t>
            </a:r>
            <a:r>
              <a:rPr lang="en-US" sz="3600">
                <a:cs typeface="Arial"/>
              </a:rPr>
              <a:t>.</a:t>
            </a:r>
          </a:p>
          <a:p>
            <a:pPr algn="ctr">
              <a:lnSpc>
                <a:spcPct val="150000"/>
              </a:lnSpc>
            </a:pPr>
            <a:r>
              <a:rPr lang="en-US" sz="3600">
                <a:cs typeface="Arial"/>
              </a:rPr>
              <a:t>Which</a:t>
            </a:r>
            <a:r>
              <a:rPr lang="en-US" sz="3600" b="1">
                <a:cs typeface="Arial"/>
              </a:rPr>
              <a:t> strategy </a:t>
            </a:r>
            <a:r>
              <a:rPr lang="en-US" sz="3600">
                <a:cs typeface="Arial"/>
              </a:rPr>
              <a:t>do you prefer? Why?</a:t>
            </a:r>
            <a:endParaRPr lang="en-US" sz="3600"/>
          </a:p>
          <a:p>
            <a:pPr>
              <a:lnSpc>
                <a:spcPct val="150000"/>
              </a:lnSpc>
            </a:pPr>
            <a:endParaRPr lang="en-US" sz="3600" dirty="0">
              <a:cs typeface="Arial"/>
            </a:endParaRPr>
          </a:p>
          <a:p>
            <a:endParaRPr lang="en-US" sz="1800" dirty="0">
              <a:cs typeface="Arial" panose="020B0604020202020204"/>
            </a:endParaRPr>
          </a:p>
          <a:p>
            <a:endParaRPr lang="en-US" sz="1800" dirty="0">
              <a:cs typeface="Arial" panose="020B0604020202020204"/>
            </a:endParaRPr>
          </a:p>
        </p:txBody>
      </p:sp>
      <p:sp>
        <p:nvSpPr>
          <p:cNvPr id="9" name="TextBox 8">
            <a:extLst>
              <a:ext uri="{FF2B5EF4-FFF2-40B4-BE49-F238E27FC236}">
                <a16:creationId xmlns:a16="http://schemas.microsoft.com/office/drawing/2014/main" id="{21FA0FA2-1DAB-051D-7381-35FA9487FDF9}"/>
              </a:ext>
            </a:extLst>
          </p:cNvPr>
          <p:cNvSpPr txBox="1"/>
          <p:nvPr/>
        </p:nvSpPr>
        <p:spPr>
          <a:xfrm>
            <a:off x="1161524" y="3548652"/>
            <a:ext cx="3337560"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rtl="0">
              <a:lnSpc>
                <a:spcPct val="150000"/>
              </a:lnSpc>
            </a:pPr>
            <a:r>
              <a:rPr lang="en-US" sz="2800" b="1" dirty="0"/>
              <a:t>Strategy 1:​</a:t>
            </a:r>
            <a:endParaRPr lang="en-US" sz="2800" b="1" dirty="0">
              <a:cs typeface="Arial"/>
            </a:endParaRPr>
          </a:p>
          <a:p>
            <a:pPr rtl="0">
              <a:lnSpc>
                <a:spcPct val="150000"/>
              </a:lnSpc>
            </a:pPr>
            <a:r>
              <a:rPr lang="en-US" sz="2800" dirty="0"/>
              <a:t>25 x 8 = 25 x 4 x 2​</a:t>
            </a:r>
            <a:endParaRPr lang="en-US" sz="2800" dirty="0">
              <a:cs typeface="Arial"/>
            </a:endParaRPr>
          </a:p>
          <a:p>
            <a:pPr>
              <a:lnSpc>
                <a:spcPct val="150000"/>
              </a:lnSpc>
            </a:pPr>
            <a:r>
              <a:rPr lang="en-US" sz="2800" dirty="0"/>
              <a:t>           = 100 x 2 ​</a:t>
            </a:r>
            <a:endParaRPr lang="en-US" sz="2800" dirty="0">
              <a:cs typeface="Arial"/>
            </a:endParaRPr>
          </a:p>
          <a:p>
            <a:pPr rtl="0">
              <a:lnSpc>
                <a:spcPct val="150000"/>
              </a:lnSpc>
            </a:pPr>
            <a:r>
              <a:rPr lang="en-US" sz="2800" dirty="0"/>
              <a:t>           = 200​</a:t>
            </a:r>
            <a:endParaRPr lang="en-US" sz="2800" dirty="0">
              <a:cs typeface="Arial"/>
            </a:endParaRPr>
          </a:p>
          <a:p>
            <a:pPr rtl="0"/>
            <a:r>
              <a:rPr lang="en-US" dirty="0"/>
              <a:t>           </a:t>
            </a:r>
            <a:endParaRPr lang="en-US" dirty="0">
              <a:cs typeface="Arial"/>
            </a:endParaRPr>
          </a:p>
          <a:p>
            <a:pPr rtl="0"/>
            <a:r>
              <a:rPr lang="en-US" dirty="0"/>
              <a:t>           </a:t>
            </a:r>
            <a:endParaRPr lang="en-US" dirty="0">
              <a:cs typeface="Arial"/>
            </a:endParaRPr>
          </a:p>
          <a:p>
            <a:pPr algn="l"/>
            <a:endParaRPr lang="en-US" sz="1800" dirty="0"/>
          </a:p>
        </p:txBody>
      </p:sp>
      <p:sp>
        <p:nvSpPr>
          <p:cNvPr id="11" name="TextBox 10">
            <a:extLst>
              <a:ext uri="{FF2B5EF4-FFF2-40B4-BE49-F238E27FC236}">
                <a16:creationId xmlns:a16="http://schemas.microsoft.com/office/drawing/2014/main" id="{3B063EFA-C4BD-74DD-4923-0179E3B9A1CD}"/>
              </a:ext>
            </a:extLst>
          </p:cNvPr>
          <p:cNvSpPr txBox="1"/>
          <p:nvPr/>
        </p:nvSpPr>
        <p:spPr>
          <a:xfrm>
            <a:off x="7692916" y="3548652"/>
            <a:ext cx="3337560" cy="393954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rtl="0">
              <a:lnSpc>
                <a:spcPct val="150000"/>
              </a:lnSpc>
            </a:pPr>
            <a:r>
              <a:rPr lang="en-US" sz="2800" b="1" dirty="0"/>
              <a:t>Strategy 2:​</a:t>
            </a:r>
            <a:endParaRPr lang="en-US" sz="2800" b="1" dirty="0">
              <a:cs typeface="Arial"/>
            </a:endParaRPr>
          </a:p>
          <a:p>
            <a:pPr rtl="0">
              <a:lnSpc>
                <a:spcPct val="150000"/>
              </a:lnSpc>
            </a:pPr>
            <a:r>
              <a:rPr lang="en-US" sz="2800" dirty="0"/>
              <a:t>25 x 8 = 25 x 4 x 2​</a:t>
            </a:r>
            <a:endParaRPr lang="en-US" sz="2800" dirty="0">
              <a:cs typeface="Arial"/>
            </a:endParaRPr>
          </a:p>
          <a:p>
            <a:pPr rtl="0">
              <a:lnSpc>
                <a:spcPct val="150000"/>
              </a:lnSpc>
            </a:pPr>
            <a:r>
              <a:rPr lang="en-US" sz="2800" dirty="0"/>
              <a:t>           = 25 x 2 x 4​</a:t>
            </a:r>
            <a:endParaRPr lang="en-US" sz="2800" dirty="0">
              <a:cs typeface="Arial"/>
            </a:endParaRPr>
          </a:p>
          <a:p>
            <a:pPr rtl="0">
              <a:lnSpc>
                <a:spcPct val="150000"/>
              </a:lnSpc>
            </a:pPr>
            <a:r>
              <a:rPr lang="en-US" sz="2800" dirty="0"/>
              <a:t>           = 50 x 4 ​</a:t>
            </a:r>
            <a:endParaRPr lang="en-US" sz="2800" dirty="0">
              <a:cs typeface="Arial"/>
            </a:endParaRPr>
          </a:p>
          <a:p>
            <a:pPr rtl="0">
              <a:lnSpc>
                <a:spcPct val="150000"/>
              </a:lnSpc>
            </a:pPr>
            <a:r>
              <a:rPr lang="en-US" sz="2800" dirty="0"/>
              <a:t>           = 200</a:t>
            </a:r>
            <a:endParaRPr lang="en-US" sz="2800" dirty="0">
              <a:cs typeface="Arial"/>
            </a:endParaRPr>
          </a:p>
          <a:p>
            <a:pPr rtl="0"/>
            <a:r>
              <a:rPr lang="en-US" sz="2800" dirty="0"/>
              <a:t>           </a:t>
            </a:r>
            <a:endParaRPr lang="en-US" sz="2800" dirty="0">
              <a:cs typeface="Arial"/>
            </a:endParaRPr>
          </a:p>
          <a:p>
            <a:pPr algn="l"/>
            <a:endParaRPr lang="en-US" sz="1800" dirty="0"/>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577F4C09-B73C-E617-3984-9CC2D6575B0A}"/>
              </a:ext>
            </a:extLst>
          </p:cNvPr>
          <p:cNvSpPr txBox="1"/>
          <p:nvPr/>
        </p:nvSpPr>
        <p:spPr>
          <a:xfrm>
            <a:off x="360000" y="1184223"/>
            <a:ext cx="11212061" cy="239033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a:cs typeface="Arial"/>
              </a:rPr>
              <a:t> A </a:t>
            </a:r>
            <a:r>
              <a:rPr lang="en-US" sz="3600" b="1">
                <a:cs typeface="Arial"/>
              </a:rPr>
              <a:t>line of symmetry </a:t>
            </a:r>
            <a:r>
              <a:rPr lang="en-US" sz="3600">
                <a:cs typeface="Arial"/>
              </a:rPr>
              <a:t>is a line that divides a shape into </a:t>
            </a:r>
            <a:r>
              <a:rPr lang="en-US" sz="3600" b="1">
                <a:cs typeface="Arial"/>
              </a:rPr>
              <a:t>2 halves</a:t>
            </a:r>
            <a:r>
              <a:rPr lang="en-US" sz="3600">
                <a:cs typeface="Arial"/>
              </a:rPr>
              <a:t>. </a:t>
            </a:r>
          </a:p>
          <a:p>
            <a:pPr algn="ctr">
              <a:lnSpc>
                <a:spcPct val="150000"/>
              </a:lnSpc>
            </a:pPr>
            <a:r>
              <a:rPr lang="en-US" sz="3600">
                <a:cs typeface="Arial"/>
              </a:rPr>
              <a:t>How many </a:t>
            </a:r>
            <a:r>
              <a:rPr lang="en-US" sz="3600" b="1">
                <a:cs typeface="Arial"/>
              </a:rPr>
              <a:t>lines of symmetry </a:t>
            </a:r>
            <a:r>
              <a:rPr lang="en-US" sz="3600">
                <a:cs typeface="Arial"/>
              </a:rPr>
              <a:t>does each shape have? </a:t>
            </a:r>
          </a:p>
        </p:txBody>
      </p:sp>
      <p:sp>
        <p:nvSpPr>
          <p:cNvPr id="5" name="Rectangle 4" descr="A dark pink rectangle.">
            <a:extLst>
              <a:ext uri="{FF2B5EF4-FFF2-40B4-BE49-F238E27FC236}">
                <a16:creationId xmlns:a16="http://schemas.microsoft.com/office/drawing/2014/main" id="{16272349-7D2D-1BAB-0031-07704BEA9FE7}"/>
              </a:ext>
            </a:extLst>
          </p:cNvPr>
          <p:cNvSpPr/>
          <p:nvPr/>
        </p:nvSpPr>
        <p:spPr>
          <a:xfrm>
            <a:off x="1743740" y="3889441"/>
            <a:ext cx="1668481" cy="2520000"/>
          </a:xfrm>
          <a:prstGeom prst="rect">
            <a:avLst/>
          </a:prstGeom>
          <a:solidFill>
            <a:srgbClr val="B514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Isosceles Triangle 6" descr="A green triangle.">
            <a:extLst>
              <a:ext uri="{FF2B5EF4-FFF2-40B4-BE49-F238E27FC236}">
                <a16:creationId xmlns:a16="http://schemas.microsoft.com/office/drawing/2014/main" id="{BDAB3CE1-AC95-C9B9-01FC-FDD2A007584F}"/>
              </a:ext>
            </a:extLst>
          </p:cNvPr>
          <p:cNvSpPr/>
          <p:nvPr/>
        </p:nvSpPr>
        <p:spPr>
          <a:xfrm>
            <a:off x="4315902" y="4019107"/>
            <a:ext cx="3198629" cy="2390334"/>
          </a:xfrm>
          <a:prstGeom prst="triangle">
            <a:avLst/>
          </a:prstGeom>
          <a:solidFill>
            <a:srgbClr val="447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descr="A blue square.">
            <a:extLst>
              <a:ext uri="{FF2B5EF4-FFF2-40B4-BE49-F238E27FC236}">
                <a16:creationId xmlns:a16="http://schemas.microsoft.com/office/drawing/2014/main" id="{A9423C34-B6FC-4164-4B0E-69670F96F2E4}"/>
              </a:ext>
            </a:extLst>
          </p:cNvPr>
          <p:cNvSpPr/>
          <p:nvPr/>
        </p:nvSpPr>
        <p:spPr>
          <a:xfrm>
            <a:off x="8207268" y="3889441"/>
            <a:ext cx="2520000" cy="2520000"/>
          </a:xfrm>
          <a:prstGeom prst="rect">
            <a:avLst/>
          </a:prstGeom>
          <a:solidFill>
            <a:schemeClr val="accent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latin typeface="Arial"/>
                <a:cs typeface="Arial"/>
              </a:rPr>
              <a:t>Activity 8 – number arranging</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09EC706-EC16-1532-4EF3-68211763FAB9}"/>
              </a:ext>
            </a:extLst>
          </p:cNvPr>
          <p:cNvSpPr txBox="1"/>
          <p:nvPr/>
        </p:nvSpPr>
        <p:spPr>
          <a:xfrm>
            <a:off x="-377753" y="1488642"/>
            <a:ext cx="4341881" cy="512448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894715" lvl="1" indent="-285750">
              <a:lnSpc>
                <a:spcPct val="150000"/>
              </a:lnSpc>
              <a:buFont typeface="Arial"/>
              <a:buChar char="•"/>
            </a:pPr>
            <a:r>
              <a:rPr lang="en-US" sz="1800" dirty="0">
                <a:ea typeface="+mn-lt"/>
                <a:cs typeface="+mn-lt"/>
              </a:rPr>
              <a:t>read each number aloud together.</a:t>
            </a:r>
            <a:endParaRPr lang="en-US" sz="1800" dirty="0">
              <a:cs typeface="Arial" panose="020B0604020202020204"/>
            </a:endParaRPr>
          </a:p>
          <a:p>
            <a:pPr marL="894715" lvl="1" indent="-285750">
              <a:lnSpc>
                <a:spcPct val="150000"/>
              </a:lnSpc>
              <a:buFont typeface="Arial"/>
              <a:buChar char="•"/>
            </a:pPr>
            <a:endParaRPr lang="en-US" sz="1800" dirty="0">
              <a:ea typeface="+mn-lt"/>
              <a:cs typeface="+mn-lt"/>
            </a:endParaRPr>
          </a:p>
          <a:p>
            <a:pPr marL="894715" lvl="1" indent="-285750">
              <a:lnSpc>
                <a:spcPct val="150000"/>
              </a:lnSpc>
              <a:buFont typeface="Arial"/>
              <a:buChar char="•"/>
            </a:pPr>
            <a:r>
              <a:rPr lang="en-US" sz="1800" dirty="0">
                <a:ea typeface="+mn-lt"/>
                <a:cs typeface="+mn-lt"/>
              </a:rPr>
              <a:t>arrange the numbers in ascending order (smallest to largest).</a:t>
            </a:r>
            <a:endParaRPr lang="en-US" sz="1800" dirty="0">
              <a:cs typeface="Arial" panose="020B0604020202020204"/>
            </a:endParaRPr>
          </a:p>
          <a:p>
            <a:pPr marL="894715" lvl="1" indent="-285750">
              <a:lnSpc>
                <a:spcPct val="150000"/>
              </a:lnSpc>
              <a:buFont typeface="Arial"/>
              <a:buChar char="•"/>
            </a:pPr>
            <a:endParaRPr lang="en-US" sz="1800" dirty="0">
              <a:ea typeface="+mn-lt"/>
              <a:cs typeface="+mn-lt"/>
            </a:endParaRPr>
          </a:p>
          <a:p>
            <a:pPr marL="894715" lvl="1" indent="-285750">
              <a:lnSpc>
                <a:spcPct val="150000"/>
              </a:lnSpc>
              <a:buFont typeface="Arial"/>
              <a:buChar char="•"/>
            </a:pPr>
            <a:r>
              <a:rPr lang="en-US" sz="1800" dirty="0">
                <a:ea typeface="+mn-lt"/>
                <a:cs typeface="+mn-lt"/>
              </a:rPr>
              <a:t>rearrange them in descending order (largest to smallest).</a:t>
            </a:r>
            <a:endParaRPr lang="en-US" dirty="0"/>
          </a:p>
          <a:p>
            <a:pPr marL="894715" lvl="1" indent="-285750">
              <a:lnSpc>
                <a:spcPct val="150000"/>
              </a:lnSpc>
              <a:buFont typeface="Arial"/>
              <a:buChar char="•"/>
            </a:pPr>
            <a:endParaRPr lang="en-US" sz="1800" dirty="0">
              <a:ea typeface="+mn-lt"/>
              <a:cs typeface="+mn-lt"/>
            </a:endParaRPr>
          </a:p>
          <a:p>
            <a:pPr marL="894715" lvl="1" indent="-285750">
              <a:lnSpc>
                <a:spcPct val="150000"/>
              </a:lnSpc>
              <a:buFont typeface="Arial"/>
              <a:buChar char="•"/>
            </a:pPr>
            <a:r>
              <a:rPr lang="en-US" sz="1800" dirty="0">
                <a:ea typeface="+mn-lt"/>
                <a:cs typeface="+mn-lt"/>
              </a:rPr>
              <a:t>How did you decide which came first? What did you look at?”</a:t>
            </a:r>
          </a:p>
          <a:p>
            <a:pPr marL="894715" lvl="1" indent="-285750">
              <a:buFont typeface="Arial"/>
              <a:buChar char="•"/>
            </a:pPr>
            <a:endParaRPr lang="en-US" sz="1800" dirty="0">
              <a:cs typeface="Arial"/>
            </a:endParaRPr>
          </a:p>
          <a:p>
            <a:endParaRPr lang="en-US" sz="1800" dirty="0">
              <a:cs typeface="Arial"/>
            </a:endParaRPr>
          </a:p>
        </p:txBody>
      </p:sp>
      <p:pic>
        <p:nvPicPr>
          <p:cNvPr id="3" name="Picture 2" descr="A collage of images of vehicles with numbers: train 9432, truck 1263, bus 4352, rickshaw 7685, helicopter 8302, car 8203, hot air balloons 8793, motor bike 7659, scooter 18 621.">
            <a:extLst>
              <a:ext uri="{FF2B5EF4-FFF2-40B4-BE49-F238E27FC236}">
                <a16:creationId xmlns:a16="http://schemas.microsoft.com/office/drawing/2014/main" id="{252ACEDF-1A75-4F55-E827-D941EAC630BF}"/>
              </a:ext>
            </a:extLst>
          </p:cNvPr>
          <p:cNvPicPr>
            <a:picLocks noChangeAspect="1"/>
          </p:cNvPicPr>
          <p:nvPr/>
        </p:nvPicPr>
        <p:blipFill>
          <a:blip r:embed="rId4"/>
          <a:stretch>
            <a:fillRect/>
          </a:stretch>
        </p:blipFill>
        <p:spPr>
          <a:xfrm>
            <a:off x="4056636" y="1339632"/>
            <a:ext cx="7547057" cy="5351681"/>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212651" y="3428999"/>
            <a:ext cx="11631349" cy="3429001"/>
          </a:xfrm>
        </p:spPr>
        <p:txBody>
          <a:bodyPr/>
          <a:lstStyle/>
          <a:p>
            <a:r>
              <a:rPr lang="en-AU" dirty="0">
                <a:hlinkClick r:id="rId6"/>
              </a:rPr>
              <a:t>Mathematics K-10 Syllabus</a:t>
            </a:r>
            <a:r>
              <a:rPr lang="en-AU" dirty="0"/>
              <a:t> © Syllabus NSW Education Standards Authority (NESA) for and on behalf of the Crown in right of the State of New South Wales, 2022.</a:t>
            </a:r>
          </a:p>
          <a:p>
            <a:r>
              <a:rPr lang="en-AU" u="sng" dirty="0">
                <a:solidFill>
                  <a:srgbClr val="2F5496"/>
                </a:solidFill>
                <a:latin typeface="Arial" panose="020B0604020202020204" pitchFamily="34" charset="0"/>
                <a:hlinkClick r:id="rId7"/>
              </a:rPr>
              <a:t>National Numeracy Learning Progression</a:t>
            </a:r>
            <a:r>
              <a:rPr lang="en-AU" dirty="0">
                <a:solidFill>
                  <a:srgbClr val="000000"/>
                </a:solidFill>
                <a:latin typeface="Arial" panose="020B0604020202020204" pitchFamily="34" charset="0"/>
              </a:rPr>
              <a:t> © Australian Curriculum, Assessment and Reporting Authority (ACARA) 2010 to present, unless otherwise indicated. This material was downloaded from the </a:t>
            </a:r>
            <a:r>
              <a:rPr lang="en-AU" u="sng" dirty="0">
                <a:solidFill>
                  <a:srgbClr val="2F5496"/>
                </a:solidFill>
                <a:latin typeface="Arial" panose="020B0604020202020204" pitchFamily="34" charset="0"/>
                <a:hlinkClick r:id="rId8"/>
              </a:rPr>
              <a:t>Australian Curriculum</a:t>
            </a:r>
            <a:r>
              <a:rPr lang="en-AU" dirty="0">
                <a:solidFill>
                  <a:srgbClr val="000000"/>
                </a:solidFill>
                <a:latin typeface="Arial" panose="020B0604020202020204" pitchFamily="34" charset="0"/>
              </a:rPr>
              <a:t> website (National Literacy Learning Progression) (accessed 8 April 2024 and was not modified. </a:t>
            </a:r>
          </a:p>
          <a:p>
            <a:pPr>
              <a:lnSpc>
                <a:spcPct val="150000"/>
              </a:lnSpc>
              <a:spcBef>
                <a:spcPts val="1200"/>
              </a:spcBef>
              <a:spcAft>
                <a:spcPts val="600"/>
              </a:spcAft>
              <a:buNone/>
            </a:pPr>
            <a:r>
              <a:rPr lang="en-AU" sz="1200" dirty="0">
                <a:effectLst/>
                <a:latin typeface="Arial" panose="020B0604020202020204" pitchFamily="34" charset="0"/>
                <a:ea typeface="Calibri" panose="020F0502020204030204" pitchFamily="34" charset="0"/>
              </a:rPr>
              <a:t>State of New South Wales (Department of Education) (2023) ‘ </a:t>
            </a:r>
            <a:r>
              <a:rPr lang="en-AU" dirty="0">
                <a:hlinkClick r:id="rId9"/>
              </a:rPr>
              <a:t>Counting game (by multiples of 10) </a:t>
            </a:r>
            <a:r>
              <a:rPr lang="en-AU" dirty="0"/>
              <a:t> ‘</a:t>
            </a:r>
            <a:r>
              <a:rPr lang="en-AU" sz="1200" i="1" dirty="0">
                <a:effectLst/>
                <a:latin typeface="Arial" panose="020B0604020202020204" pitchFamily="34" charset="0"/>
                <a:ea typeface="Calibri" panose="020F0502020204030204" pitchFamily="34" charset="0"/>
              </a:rPr>
              <a:t>K–6 Mathematics Resources</a:t>
            </a:r>
            <a:r>
              <a:rPr lang="en-AU" sz="1200" dirty="0">
                <a:effectLst/>
                <a:latin typeface="Arial" panose="020B0604020202020204" pitchFamily="34" charset="0"/>
                <a:ea typeface="Calibri" panose="020F0502020204030204" pitchFamily="34" charset="0"/>
              </a:rPr>
              <a:t>, NSW Department of Education website, accessed 10 March 2026.</a:t>
            </a:r>
          </a:p>
          <a:p>
            <a:pPr>
              <a:lnSpc>
                <a:spcPct val="150000"/>
              </a:lnSpc>
              <a:spcBef>
                <a:spcPts val="1200"/>
              </a:spcBef>
              <a:spcAft>
                <a:spcPts val="600"/>
              </a:spcAft>
              <a:buNone/>
            </a:pPr>
            <a:r>
              <a:rPr lang="en-AU" sz="1200" dirty="0">
                <a:effectLst/>
                <a:latin typeface="Arial" panose="020B0604020202020204" pitchFamily="34" charset="0"/>
                <a:ea typeface="Calibri" panose="020F0502020204030204" pitchFamily="34" charset="0"/>
              </a:rPr>
              <a:t>State of New South Wales (Department of Education) (2023) ‘</a:t>
            </a:r>
            <a:r>
              <a:rPr lang="en-AU" sz="1200" u="sng" dirty="0">
                <a:solidFill>
                  <a:srgbClr val="2F5496"/>
                </a:solidFill>
                <a:effectLst/>
                <a:latin typeface="Arial" panose="020B0604020202020204" pitchFamily="34" charset="0"/>
                <a:ea typeface="Arial" panose="020B0604020202020204" pitchFamily="34" charset="0"/>
                <a:hlinkClick r:id="rId10"/>
              </a:rPr>
              <a:t>Multiples madness (fives)</a:t>
            </a:r>
            <a:r>
              <a:rPr lang="en-AU" sz="1200" dirty="0">
                <a:effectLst/>
                <a:latin typeface="Arial" panose="020B0604020202020204" pitchFamily="34" charset="0"/>
                <a:ea typeface="Calibri" panose="020F0502020204030204" pitchFamily="34" charset="0"/>
              </a:rPr>
              <a:t>’, </a:t>
            </a:r>
            <a:r>
              <a:rPr lang="en-AU" sz="1200" i="1" dirty="0">
                <a:effectLst/>
                <a:latin typeface="Arial" panose="020B0604020202020204" pitchFamily="34" charset="0"/>
                <a:ea typeface="Calibri" panose="020F0502020204030204" pitchFamily="34" charset="0"/>
              </a:rPr>
              <a:t>K–6 Mathematics Resources</a:t>
            </a:r>
            <a:r>
              <a:rPr lang="en-AU" sz="1200" dirty="0">
                <a:effectLst/>
                <a:latin typeface="Arial" panose="020B0604020202020204" pitchFamily="34" charset="0"/>
                <a:ea typeface="Calibri" panose="020F0502020204030204" pitchFamily="34" charset="0"/>
              </a:rPr>
              <a:t>, NSW Department of Education website, accessed 10 March 2026.</a:t>
            </a:r>
          </a:p>
          <a:p>
            <a:pPr>
              <a:lnSpc>
                <a:spcPct val="150000"/>
              </a:lnSpc>
              <a:spcBef>
                <a:spcPts val="1200"/>
              </a:spcBef>
              <a:spcAft>
                <a:spcPts val="600"/>
              </a:spcAft>
              <a:buNone/>
            </a:pPr>
            <a:r>
              <a:rPr lang="en-AU" sz="1200" dirty="0">
                <a:effectLst/>
                <a:latin typeface="Arial" panose="020B0604020202020204" pitchFamily="34" charset="0"/>
                <a:ea typeface="Calibri" panose="020F0502020204030204" pitchFamily="34" charset="0"/>
              </a:rPr>
              <a:t>Sullivan P and Lilburn P (2017) </a:t>
            </a:r>
            <a:r>
              <a:rPr lang="en-AU" sz="1200" i="1" dirty="0">
                <a:effectLst/>
                <a:latin typeface="Arial" panose="020B0604020202020204" pitchFamily="34" charset="0"/>
                <a:ea typeface="Calibri" panose="020F0502020204030204" pitchFamily="34" charset="0"/>
              </a:rPr>
              <a:t>Open-ended Maths Activities: Using ‘Good’ Questions to Enhance Learning in Mathematics</a:t>
            </a:r>
            <a:r>
              <a:rPr lang="en-AU" sz="1200" dirty="0">
                <a:effectLst/>
                <a:latin typeface="Arial" panose="020B0604020202020204" pitchFamily="34" charset="0"/>
                <a:ea typeface="Calibri" panose="020F0502020204030204" pitchFamily="34" charset="0"/>
              </a:rPr>
              <a:t>, Revised </a:t>
            </a:r>
            <a:r>
              <a:rPr lang="en-AU" sz="1200" dirty="0" err="1">
                <a:effectLst/>
                <a:latin typeface="Arial" panose="020B0604020202020204" pitchFamily="34" charset="0"/>
                <a:ea typeface="Calibri" panose="020F0502020204030204" pitchFamily="34" charset="0"/>
              </a:rPr>
              <a:t>edn</a:t>
            </a:r>
            <a:r>
              <a:rPr lang="en-AU" sz="1200" dirty="0">
                <a:effectLst/>
                <a:latin typeface="Arial" panose="020B0604020202020204" pitchFamily="34" charset="0"/>
                <a:ea typeface="Calibri" panose="020F0502020204030204" pitchFamily="34" charset="0"/>
              </a:rPr>
              <a:t>, Oxford University Press ANZ, Great Britain.</a:t>
            </a:r>
          </a:p>
          <a:p>
            <a:endParaRPr lang="en-AU" dirty="0">
              <a:solidFill>
                <a:srgbClr val="000000"/>
              </a:solidFill>
              <a:latin typeface="Arial" panose="020B0604020202020204" pitchFamily="34" charset="0"/>
            </a:endParaRPr>
          </a:p>
          <a:p>
            <a:endParaRPr lang="en-AU" dirty="0">
              <a:solidFill>
                <a:srgbClr val="000000"/>
              </a:solidFill>
              <a:latin typeface="Arial" panose="020B0604020202020204" pitchFamily="34" charset="0"/>
            </a:endParaRPr>
          </a:p>
          <a:p>
            <a:endParaRPr lang="en-AU"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60</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59D98-C201-046B-BDDF-9C4D0A852B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2C9A03-7A8C-6008-2AF1-4D91C2115D30}"/>
              </a:ext>
            </a:extLst>
          </p:cNvPr>
          <p:cNvSpPr>
            <a:spLocks noGrp="1"/>
          </p:cNvSpPr>
          <p:nvPr>
            <p:ph type="title"/>
          </p:nvPr>
        </p:nvSpPr>
        <p:spPr>
          <a:xfrm>
            <a:off x="360000" y="360001"/>
            <a:ext cx="11559098" cy="521412"/>
          </a:xfrm>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D0DE06C4-EF99-E942-A5F9-05C17ABF47D3}"/>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E249E8F3-BAFE-B689-BCDA-F1CB7110C267}"/>
              </a:ext>
            </a:extLst>
          </p:cNvPr>
          <p:cNvSpPr>
            <a:spLocks noGrp="1"/>
          </p:cNvSpPr>
          <p:nvPr>
            <p:ph idx="1"/>
          </p:nvPr>
        </p:nvSpPr>
        <p:spPr/>
        <p:txBody>
          <a:bodyPr/>
          <a:lstStyle/>
          <a:p>
            <a:pPr>
              <a:spcBef>
                <a:spcPts val="1200"/>
              </a:spcBef>
              <a:spcAft>
                <a:spcPts val="600"/>
              </a:spcAft>
            </a:pPr>
            <a:r>
              <a:rPr lang="en-AU" dirty="0">
                <a:latin typeface="Arial" panose="020B0604020202020204" pitchFamily="34" charset="0"/>
                <a:ea typeface="Calibri" panose="020F0502020204030204" pitchFamily="34" charset="0"/>
              </a:rPr>
              <a:t>University of Cambridge (n.d.) </a:t>
            </a:r>
            <a:r>
              <a:rPr lang="en-AU" i="1" u="sng" dirty="0">
                <a:solidFill>
                  <a:srgbClr val="2F5496"/>
                </a:solidFill>
                <a:latin typeface="Arial" panose="020B0604020202020204" pitchFamily="34" charset="0"/>
                <a:ea typeface="Arial" panose="020B0604020202020204" pitchFamily="34" charset="0"/>
                <a:hlinkClick r:id="rId6"/>
              </a:rPr>
              <a:t>Four-digit Targets</a:t>
            </a:r>
            <a:r>
              <a:rPr lang="en-AU" dirty="0">
                <a:latin typeface="Arial" panose="020B0604020202020204" pitchFamily="34" charset="0"/>
                <a:ea typeface="Calibri" panose="020F0502020204030204" pitchFamily="34" charset="0"/>
              </a:rPr>
              <a:t>, NRICH website, accessed 10 March 2026.</a:t>
            </a:r>
          </a:p>
          <a:p>
            <a:pPr>
              <a:spcBef>
                <a:spcPts val="1200"/>
              </a:spcBef>
              <a:spcAft>
                <a:spcPts val="600"/>
              </a:spcAft>
            </a:pPr>
            <a:r>
              <a:rPr lang="en-AU" dirty="0">
                <a:latin typeface="Arial" panose="020B0604020202020204" pitchFamily="34" charset="0"/>
                <a:ea typeface="Calibri" panose="020F0502020204030204" pitchFamily="34" charset="0"/>
              </a:rPr>
              <a:t>University of Cambridge (n.d.) </a:t>
            </a:r>
            <a:r>
              <a:rPr lang="en-AU" u="sng" dirty="0">
                <a:solidFill>
                  <a:srgbClr val="2F5496"/>
                </a:solidFill>
                <a:latin typeface="Arial" panose="020B0604020202020204" pitchFamily="34" charset="0"/>
                <a:ea typeface="Arial" panose="020B0604020202020204" pitchFamily="34" charset="0"/>
                <a:hlinkClick r:id="rId7"/>
              </a:rPr>
              <a:t>Round the Four Dice</a:t>
            </a:r>
            <a:r>
              <a:rPr lang="en-AU" dirty="0">
                <a:latin typeface="Arial" panose="020B0604020202020204" pitchFamily="34" charset="0"/>
                <a:ea typeface="Calibri" panose="020F0502020204030204" pitchFamily="34" charset="0"/>
              </a:rPr>
              <a:t>, NRICH website, accessed 10 March 2026.</a:t>
            </a:r>
          </a:p>
          <a:p>
            <a:endParaRPr lang="en-AU" dirty="0">
              <a:solidFill>
                <a:srgbClr val="000000"/>
              </a:solidFill>
              <a:latin typeface="Arial" panose="020B0604020202020204" pitchFamily="34" charset="0"/>
            </a:endParaRPr>
          </a:p>
          <a:p>
            <a:endParaRPr lang="en-AU" dirty="0"/>
          </a:p>
          <a:p>
            <a:r>
              <a:rPr lang="en-AU" dirty="0"/>
              <a:t>[</a:t>
            </a:r>
          </a:p>
        </p:txBody>
      </p:sp>
      <p:sp>
        <p:nvSpPr>
          <p:cNvPr id="2" name="Slide Number Placeholder 1">
            <a:extLst>
              <a:ext uri="{FF2B5EF4-FFF2-40B4-BE49-F238E27FC236}">
                <a16:creationId xmlns:a16="http://schemas.microsoft.com/office/drawing/2014/main" id="{C11E72BC-8E3F-BB20-0AF4-EFE70C4356B8}"/>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61</a:t>
            </a:fld>
            <a:endParaRPr lang="en-AU"/>
          </a:p>
        </p:txBody>
      </p:sp>
    </p:spTree>
    <p:extLst>
      <p:ext uri="{BB962C8B-B14F-4D97-AF65-F5344CB8AC3E}">
        <p14:creationId xmlns:p14="http://schemas.microsoft.com/office/powerpoint/2010/main" val="409819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DDA9063-C607-4056-935F-A01FA75D24F1}"/>
</file>

<file path=customXml/itemProps3.xml><?xml version="1.0" encoding="utf-8"?>
<ds:datastoreItem xmlns:ds="http://schemas.openxmlformats.org/officeDocument/2006/customXml" ds:itemID="{CE555570-2BD4-426B-AA32-0A79CB6508A8}">
  <ds:schemaRefs>
    <ds:schemaRef ds:uri="http://purl.org/dc/terms/"/>
    <ds:schemaRef ds:uri="7e763d47-3c66-4c58-9425-1477fd3ccd1e"/>
    <ds:schemaRef ds:uri="60129b06-f64b-40a8-96e2-c5b2f86112b1"/>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schemas.microsoft.com/office/infopath/2007/PartnerControls"/>
    <ds:schemaRef ds:uri="http://purl.org/dc/dcmitype/"/>
    <ds:schemaRef ds:uri="http://purl.org/dc/elements/1.1/"/>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605</TotalTime>
  <Words>6102</Words>
  <Application>Microsoft Office PowerPoint</Application>
  <PresentationFormat>Widescreen</PresentationFormat>
  <Paragraphs>828</Paragraphs>
  <Slides>62</Slides>
  <Notes>62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62</vt:i4>
      </vt:variant>
    </vt:vector>
  </HeadingPairs>
  <TitlesOfParts>
    <vt:vector size="75" baseType="lpstr">
      <vt:lpstr>Public Sans</vt:lpstr>
      <vt:lpstr>Times New Roman</vt:lpstr>
      <vt:lpstr>Segoe UI</vt:lpstr>
      <vt:lpstr>Wingdings</vt:lpstr>
      <vt:lpstr>Public Sans Bold</vt:lpstr>
      <vt:lpstr>Edu NSW ACT Foundation</vt:lpstr>
      <vt:lpstr>Symbol,Sans-Serif</vt:lpstr>
      <vt:lpstr>Public Sans Light</vt:lpstr>
      <vt:lpstr>Symbol</vt:lpstr>
      <vt:lpstr>Calibri</vt:lpstr>
      <vt:lpstr>Arial,Sans-Serif</vt:lpstr>
      <vt:lpstr>Arial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round the four dice</vt:lpstr>
      <vt:lpstr>Review of learning 2</vt:lpstr>
      <vt:lpstr>True or false (1)</vt:lpstr>
      <vt:lpstr>Short response (5)</vt:lpstr>
      <vt:lpstr>Short response (6)</vt:lpstr>
      <vt:lpstr>Short response (7)</vt:lpstr>
      <vt:lpstr>Short response (8)</vt:lpstr>
      <vt:lpstr>Activity 2 – to the nearest thousand</vt:lpstr>
      <vt:lpstr>Review of learning 3</vt:lpstr>
      <vt:lpstr>Multiple choice (2)</vt:lpstr>
      <vt:lpstr>Short response (9)</vt:lpstr>
      <vt:lpstr>Short response (10)</vt:lpstr>
      <vt:lpstr>Short response (11)</vt:lpstr>
      <vt:lpstr>Short response (12)</vt:lpstr>
      <vt:lpstr>Activity 3 – 4-digit targets</vt:lpstr>
      <vt:lpstr>Review of learning 4</vt:lpstr>
      <vt:lpstr>True or false (2)</vt:lpstr>
      <vt:lpstr>Short response (13)</vt:lpstr>
      <vt:lpstr>Short response (14)</vt:lpstr>
      <vt:lpstr>Short response (15)</vt:lpstr>
      <vt:lpstr>Short response (16)</vt:lpstr>
      <vt:lpstr>Activity 4 – quick fire - call it out!</vt:lpstr>
      <vt:lpstr>Review of learning 5</vt:lpstr>
      <vt:lpstr>Multiple choice (3)</vt:lpstr>
      <vt:lpstr>Short response (17)</vt:lpstr>
      <vt:lpstr>Short response (18)</vt:lpstr>
      <vt:lpstr>Short response (19)</vt:lpstr>
      <vt:lpstr>Short response (20)</vt:lpstr>
      <vt:lpstr>Activity 5 – counting by tens</vt:lpstr>
      <vt:lpstr>Review of learning 6</vt:lpstr>
      <vt:lpstr>True or false (3)</vt:lpstr>
      <vt:lpstr>Short response (21)</vt:lpstr>
      <vt:lpstr>Short response (22)</vt:lpstr>
      <vt:lpstr>Short response (23)</vt:lpstr>
      <vt:lpstr>Short response (24)</vt:lpstr>
      <vt:lpstr>Activity 6 – multiples madness</vt:lpstr>
      <vt:lpstr>Review of learning 7</vt:lpstr>
      <vt:lpstr>Multiple choice (4)</vt:lpstr>
      <vt:lpstr>Short response (25)</vt:lpstr>
      <vt:lpstr>Short response (26)</vt:lpstr>
      <vt:lpstr>Short response (27)</vt:lpstr>
      <vt:lpstr>Short response (28)</vt:lpstr>
      <vt:lpstr>Activity 7 – multiplying by multiples</vt:lpstr>
      <vt:lpstr>Review of learning 8</vt:lpstr>
      <vt:lpstr>True or false (4)</vt:lpstr>
      <vt:lpstr>Short response (29)</vt:lpstr>
      <vt:lpstr>Short response (30)</vt:lpstr>
      <vt:lpstr>Short response (31)</vt:lpstr>
      <vt:lpstr>Short response (32)</vt:lpstr>
      <vt:lpstr>Activity 8 – number arranging</vt:lpstr>
      <vt:lpstr>References</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21</cp:revision>
  <dcterms:created xsi:type="dcterms:W3CDTF">2025-10-28T21:34:25Z</dcterms:created>
  <dcterms:modified xsi:type="dcterms:W3CDTF">2026-04-01T21:50:35Z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