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bookmarkIdSeed="2">
  <p:sldMasterIdLst>
    <p:sldMasterId id="2147483660" r:id="rId4"/>
  </p:sldMasterIdLst>
  <p:notesMasterIdLst>
    <p:notesMasterId r:id="rId74"/>
  </p:notesMasterIdLst>
  <p:handoutMasterIdLst>
    <p:handoutMasterId r:id="rId75"/>
  </p:handoutMasterIdLst>
  <p:sldIdLst>
    <p:sldId id="26511" r:id="rId5"/>
    <p:sldId id="26505" r:id="rId6"/>
    <p:sldId id="26359" r:id="rId7"/>
    <p:sldId id="271" r:id="rId8"/>
    <p:sldId id="26510" r:id="rId9"/>
    <p:sldId id="26508" r:id="rId10"/>
    <p:sldId id="26524" r:id="rId11"/>
    <p:sldId id="26525" r:id="rId12"/>
    <p:sldId id="26519" r:id="rId13"/>
    <p:sldId id="26544" r:id="rId14"/>
    <p:sldId id="26512" r:id="rId15"/>
    <p:sldId id="26509" r:id="rId16"/>
    <p:sldId id="26523" r:id="rId17"/>
    <p:sldId id="26585" r:id="rId18"/>
    <p:sldId id="26530" r:id="rId19"/>
    <p:sldId id="26531" r:id="rId20"/>
    <p:sldId id="26575" r:id="rId21"/>
    <p:sldId id="26513" r:id="rId22"/>
    <p:sldId id="26534" r:id="rId23"/>
    <p:sldId id="26535" r:id="rId24"/>
    <p:sldId id="26583" r:id="rId25"/>
    <p:sldId id="26537" r:id="rId26"/>
    <p:sldId id="26536" r:id="rId27"/>
    <p:sldId id="26576" r:id="rId28"/>
    <p:sldId id="26514" r:id="rId29"/>
    <p:sldId id="26539" r:id="rId30"/>
    <p:sldId id="26540" r:id="rId31"/>
    <p:sldId id="26541" r:id="rId32"/>
    <p:sldId id="26542" r:id="rId33"/>
    <p:sldId id="26543" r:id="rId34"/>
    <p:sldId id="26533" r:id="rId35"/>
    <p:sldId id="26515" r:id="rId36"/>
    <p:sldId id="26507" r:id="rId37"/>
    <p:sldId id="26546" r:id="rId38"/>
    <p:sldId id="26547" r:id="rId39"/>
    <p:sldId id="26548" r:id="rId40"/>
    <p:sldId id="26549" r:id="rId41"/>
    <p:sldId id="26577" r:id="rId42"/>
    <p:sldId id="26516" r:id="rId43"/>
    <p:sldId id="26581" r:id="rId44"/>
    <p:sldId id="26553" r:id="rId45"/>
    <p:sldId id="26554" r:id="rId46"/>
    <p:sldId id="26555" r:id="rId47"/>
    <p:sldId id="26556" r:id="rId48"/>
    <p:sldId id="26578" r:id="rId49"/>
    <p:sldId id="26517" r:id="rId50"/>
    <p:sldId id="26574" r:id="rId51"/>
    <p:sldId id="26560" r:id="rId52"/>
    <p:sldId id="26561" r:id="rId53"/>
    <p:sldId id="26562" r:id="rId54"/>
    <p:sldId id="26563" r:id="rId55"/>
    <p:sldId id="26579" r:id="rId56"/>
    <p:sldId id="26518" r:id="rId57"/>
    <p:sldId id="26582" r:id="rId58"/>
    <p:sldId id="26564" r:id="rId59"/>
    <p:sldId id="26567" r:id="rId60"/>
    <p:sldId id="26566" r:id="rId61"/>
    <p:sldId id="26568" r:id="rId62"/>
    <p:sldId id="26580" r:id="rId63"/>
    <p:sldId id="26393" r:id="rId64"/>
    <p:sldId id="26387" r:id="rId65"/>
    <p:sldId id="26395" r:id="rId66"/>
    <p:sldId id="26391" r:id="rId67"/>
    <p:sldId id="26402" r:id="rId68"/>
    <p:sldId id="26527" r:id="rId69"/>
    <p:sldId id="26545" r:id="rId70"/>
    <p:sldId id="360" r:id="rId71"/>
    <p:sldId id="26461" r:id="rId72"/>
    <p:sldId id="26584" r:id="rId73"/>
  </p:sldIdLst>
  <p:sldSz cx="12192000" cy="6858000"/>
  <p:notesSz cx="6858000" cy="9144000"/>
  <p:embeddedFontLst>
    <p:embeddedFont>
      <p:font typeface="Cambria Math" panose="02040503050406030204" pitchFamily="18" charset="0"/>
      <p:regular r:id="rId76"/>
    </p:embeddedFont>
    <p:embeddedFont>
      <p:font typeface="Montserrat" panose="00000500000000000000" pitchFamily="2" charset="0"/>
      <p:regular r:id="rId77"/>
      <p:bold r:id="rId78"/>
      <p:italic r:id="rId79"/>
      <p:boldItalic r:id="rId80"/>
    </p:embeddedFont>
    <p:embeddedFont>
      <p:font typeface="Public Sans" pitchFamily="2" charset="0"/>
      <p:regular r:id="rId81"/>
      <p:bold r:id="rId82"/>
      <p:italic r:id="rId83"/>
      <p:boldItalic r:id="rId84"/>
    </p:embeddedFont>
    <p:embeddedFont>
      <p:font typeface="Public Sans Light" pitchFamily="2" charset="0"/>
      <p:regular r:id="rId85"/>
      <p:italic r:id="rId86"/>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10"/>
            <p14:sldId id="26508"/>
            <p14:sldId id="26524"/>
            <p14:sldId id="26525"/>
            <p14:sldId id="26519"/>
            <p14:sldId id="26544"/>
            <p14:sldId id="26512"/>
            <p14:sldId id="26509"/>
            <p14:sldId id="26523"/>
            <p14:sldId id="26585"/>
            <p14:sldId id="26530"/>
            <p14:sldId id="26531"/>
            <p14:sldId id="26575"/>
            <p14:sldId id="26513"/>
            <p14:sldId id="26534"/>
            <p14:sldId id="26535"/>
            <p14:sldId id="26583"/>
            <p14:sldId id="26537"/>
            <p14:sldId id="26536"/>
            <p14:sldId id="26576"/>
            <p14:sldId id="26514"/>
            <p14:sldId id="26539"/>
            <p14:sldId id="26540"/>
            <p14:sldId id="26541"/>
            <p14:sldId id="26542"/>
            <p14:sldId id="26543"/>
            <p14:sldId id="26533"/>
            <p14:sldId id="26515"/>
            <p14:sldId id="26507"/>
            <p14:sldId id="26546"/>
            <p14:sldId id="26547"/>
            <p14:sldId id="26548"/>
            <p14:sldId id="26549"/>
            <p14:sldId id="26577"/>
            <p14:sldId id="26516"/>
            <p14:sldId id="26581"/>
            <p14:sldId id="26553"/>
            <p14:sldId id="26554"/>
            <p14:sldId id="26555"/>
            <p14:sldId id="26556"/>
            <p14:sldId id="26578"/>
            <p14:sldId id="26517"/>
            <p14:sldId id="26574"/>
            <p14:sldId id="26560"/>
            <p14:sldId id="26561"/>
            <p14:sldId id="26562"/>
            <p14:sldId id="26563"/>
            <p14:sldId id="26579"/>
            <p14:sldId id="26518"/>
            <p14:sldId id="26582"/>
            <p14:sldId id="26564"/>
            <p14:sldId id="26567"/>
            <p14:sldId id="26566"/>
            <p14:sldId id="26568"/>
            <p14:sldId id="26580"/>
          </p14:sldIdLst>
        </p14:section>
        <p14:section name="Assets for teachers to create own reviews" id="{ACCADEBA-79DB-4F18-8F19-E4DF86159DFB}">
          <p14:sldIdLst>
            <p14:sldId id="26393"/>
            <p14:sldId id="26387"/>
            <p14:sldId id="26395"/>
            <p14:sldId id="26391"/>
            <p14:sldId id="26402"/>
            <p14:sldId id="26527"/>
            <p14:sldId id="26545"/>
          </p14:sldIdLst>
        </p14:section>
        <p14:section name="References &amp; copyright" id="{DBC31484-F5F8-4CB1-8DB4-A562A9780899}">
          <p14:sldIdLst>
            <p14:sldId id="360"/>
            <p14:sldId id="26461"/>
            <p14:sldId id="26584"/>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1B1BAE1E-6EF3-DBA4-64B9-54D7242E20D4}" name="Stacey Makila" initials="SM" userId="S::Stacey.Wolfenden@det.nsw.edu.au::1f90aada-aa7f-459b-b23b-17275cc27e9e" providerId="AD"/>
  <p188:author id="{76652228-BA2A-8E0F-B69D-752F252CA8C9}" name="Carolyn Matthews" initials="CM" userId="S::Carolyn.Matthews2@det.nsw.edu.au::7f53049a-bf0f-477a-aa49-60e3a8d71d98" providerId="AD"/>
  <p188:author id="{4021882F-C6B3-C55E-767D-27181BD16F2B}" name="Melinda Ojeda" initials="MO" userId="S::Melinda.Ojeda@det.nsw.edu.au::d90aca96-824c-4874-b48e-bcce1db91155" providerId="AD"/>
  <p188:author id="{EFE0D832-A787-7C24-CE1D-8029495EEA77}" name="Stacey Makila" initials="SM" userId="S::stacey.wolfenden@det.nsw.edu.au::1f90aada-aa7f-459b-b23b-17275cc27e9e" providerId="AD"/>
  <p188:author id="{38A50444-57C2-0ED5-4EF0-B001B3687B58}" name="Nadia Walker" initials="NW" userId="S::Nadia.Walker2@det.nsw.edu.au::1d1c495c-8f87-451e-994f-64d576866b6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EB0CFDCC-08A1-9074-770E-495A3601BA1E}" name="Erin Grassedonio" initials="EG" userId="S::Erin.Grassedonio@det.nsw.edu.au::f14128a2-caca-48df-bd38-2aa49a1abe0e"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46CFD"/>
    <a:srgbClr val="000000"/>
    <a:srgbClr val="002664"/>
    <a:srgbClr val="EA9B0C"/>
    <a:srgbClr val="007A8A"/>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5505B4-3A1B-4A1C-934F-62ED845AAF9C}" v="43" dt="2025-09-07T04:09:23.585"/>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1895" autoAdjust="0"/>
  </p:normalViewPr>
  <p:slideViewPr>
    <p:cSldViewPr snapToGrid="0">
      <p:cViewPr varScale="1">
        <p:scale>
          <a:sx n="50" d="100"/>
          <a:sy n="50" d="100"/>
        </p:scale>
        <p:origin x="1828" y="44"/>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viewProps" Target="viewProps.xml"/><Relationship Id="rId9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92" Type="http://schemas.microsoft.com/office/2018/10/relationships/authors" Target="author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15/09/2025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15/09/2025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_Resource_23_&#8211;"/><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_Resource_23_&#8211;"/><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_Resource_24_&#8211;"/><Relationship Id="rId2" Type="http://schemas.openxmlformats.org/officeDocument/2006/relationships/slide" Target="../slides/slide31.xml"/><Relationship Id="rId1" Type="http://schemas.openxmlformats.org/officeDocument/2006/relationships/notesMaster" Target="../notesMasters/notesMaster1.xml"/><Relationship Id="rId4" Type="http://schemas.openxmlformats.org/officeDocument/2006/relationships/hyperlink" Target="#_Resource_25_&#8211;"/></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_Resource_26_&#8211;"/><Relationship Id="rId2" Type="http://schemas.openxmlformats.org/officeDocument/2006/relationships/slide" Target="../slides/slide38.xml"/><Relationship Id="rId1" Type="http://schemas.openxmlformats.org/officeDocument/2006/relationships/notesMaster" Target="../notesMasters/notesMaster1.xml"/><Relationship Id="rId4" Type="http://schemas.openxmlformats.org/officeDocument/2006/relationships/hyperlink" Target="#_Resource_26_&#8211;"/></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_Resource_27_&#8211;"/><Relationship Id="rId2" Type="http://schemas.openxmlformats.org/officeDocument/2006/relationships/slide" Target="../slides/slide45.xml"/><Relationship Id="rId1" Type="http://schemas.openxmlformats.org/officeDocument/2006/relationships/notesMaster" Target="../notesMasters/notesMaster1.xml"/><Relationship Id="rId4" Type="http://schemas.openxmlformats.org/officeDocument/2006/relationships/hyperlink" Target="#_Resource_27_&#8211;"/></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_Resource_28_&#8211;"/><Relationship Id="rId2" Type="http://schemas.openxmlformats.org/officeDocument/2006/relationships/slide" Target="../slides/slide52.xml"/><Relationship Id="rId1" Type="http://schemas.openxmlformats.org/officeDocument/2006/relationships/notesMaster" Target="../notesMasters/notesMaster1.xml"/><Relationship Id="rId4" Type="http://schemas.openxmlformats.org/officeDocument/2006/relationships/hyperlink" Target="#_Resource_28_&#8211;"/></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3" Type="http://schemas.openxmlformats.org/officeDocument/2006/relationships/hyperlink" Target="#_Resource_29_&#8211;"/><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dirty="0">
              <a:solidFill>
                <a:srgbClr val="444444"/>
              </a:solidFill>
              <a:latin typeface="Arial"/>
              <a:cs typeface="Arial"/>
            </a:endParaRPr>
          </a:p>
          <a:p>
            <a:endParaRPr lang="en-AU" dirty="0">
              <a:solidFill>
                <a:srgbClr val="000000"/>
              </a:solidFill>
            </a:endParaRPr>
          </a:p>
          <a:p>
            <a:r>
              <a:rPr lang="en-AU" dirty="0">
                <a:solidFill>
                  <a:srgbClr val="000000"/>
                </a:solidFill>
                <a:latin typeface="Arial"/>
                <a:cs typeface="Arial"/>
              </a:rPr>
              <a:t>This Review of Learning slide deck revisits key concepts from the following units:</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B Unit 37</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B Unit 38</a:t>
            </a:r>
            <a:endParaRPr lang="en-US" dirty="0">
              <a:solidFill>
                <a:srgbClr val="444444"/>
              </a:solidFill>
              <a:latin typeface="Arial"/>
              <a:cs typeface="Arial"/>
            </a:endParaRPr>
          </a:p>
          <a:p>
            <a:pPr marL="285750" indent="-285750">
              <a:buFont typeface="Arial,Sans-Serif"/>
              <a:buChar char="•"/>
            </a:pPr>
            <a:r>
              <a:rPr lang="en-AU" dirty="0">
                <a:solidFill>
                  <a:srgbClr val="000000"/>
                </a:solidFill>
                <a:latin typeface="Arial"/>
                <a:cs typeface="Arial"/>
              </a:rPr>
              <a:t>Stage 2 Year B Unit 39</a:t>
            </a:r>
            <a:endParaRPr lang="en-US" dirty="0">
              <a:solidFill>
                <a:srgbClr val="444444"/>
              </a:solidFill>
              <a:latin typeface="Arial"/>
              <a:cs typeface="Arial"/>
            </a:endParaRPr>
          </a:p>
          <a:p>
            <a:r>
              <a:rPr lang="en-AU" dirty="0">
                <a:solidFill>
                  <a:srgbClr val="000000"/>
                </a:solidFill>
                <a:latin typeface="Arial"/>
                <a:cs typeface="Arial"/>
              </a:rPr>
              <a:t>It also includes opportunities to review prior learning in non-number content, supporting consolidation across focus areas.</a:t>
            </a:r>
            <a:endParaRPr lang="en-US" dirty="0">
              <a:solidFill>
                <a:srgbClr val="444444"/>
              </a:solidFill>
              <a:latin typeface="Arial"/>
              <a:cs typeface="Arial"/>
            </a:endParaRPr>
          </a:p>
          <a:p>
            <a:endParaRPr lang="en-AU" dirty="0">
              <a:solidFill>
                <a:srgbClr val="444444"/>
              </a:solidFill>
            </a:endParaRPr>
          </a:p>
          <a:p>
            <a:r>
              <a:rPr lang="en-AU" dirty="0">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dirty="0">
              <a:solidFill>
                <a:srgbClr val="444444"/>
              </a:solidFill>
              <a:latin typeface="Arial"/>
              <a:cs typeface="Arial"/>
            </a:endParaRPr>
          </a:p>
          <a:p>
            <a:endParaRPr lang="en-AU" dirty="0">
              <a:solidFill>
                <a:srgbClr val="444444"/>
              </a:solidFill>
            </a:endParaRPr>
          </a:p>
          <a:p>
            <a:pPr>
              <a:defRPr/>
            </a:pPr>
            <a:r>
              <a:rPr lang="en-AU" dirty="0">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dirty="0">
                <a:latin typeface="Arial"/>
                <a:cs typeface="Arial"/>
              </a:rPr>
              <a:t>Multiple-choice questions/True or false:</a:t>
            </a:r>
            <a:r>
              <a:rPr lang="en-AU" dirty="0">
                <a:latin typeface="Arial"/>
                <a:cs typeface="Arial"/>
              </a:rPr>
              <a:t> Designed to promote active retrieval of key concepts and identify common misconceptions in number, supporting consolidation, understanding and fluency.</a:t>
            </a:r>
            <a:br>
              <a:rPr lang="en-AU" dirty="0">
                <a:latin typeface="Arial"/>
                <a:cs typeface="Arial"/>
              </a:rPr>
            </a:br>
            <a:r>
              <a:rPr lang="en-AU" sz="1600" b="0" i="0" dirty="0">
                <a:solidFill>
                  <a:schemeClr val="tx1"/>
                </a:solidFill>
                <a:latin typeface="Arial"/>
                <a:cs typeface="Arial"/>
              </a:rPr>
              <a:t>These questions:</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dirty="0">
                <a:solidFill>
                  <a:schemeClr val="tx1"/>
                </a:solidFill>
                <a:latin typeface="Arial"/>
                <a:cs typeface="Arial"/>
              </a:rPr>
              <a:t>support spaced and interleaved practice</a:t>
            </a:r>
          </a:p>
          <a:p>
            <a:pPr marL="285750" indent="-285750" algn="l">
              <a:buFont typeface="Wingdings"/>
              <a:buChar char="ü"/>
            </a:pPr>
            <a:r>
              <a:rPr lang="en-AU" sz="1600" b="0" i="0" dirty="0">
                <a:solidFill>
                  <a:schemeClr val="tx1"/>
                </a:solidFill>
                <a:latin typeface="Arial"/>
                <a:cs typeface="Arial"/>
              </a:rPr>
              <a:t>help identify and address common misconceptions </a:t>
            </a:r>
          </a:p>
          <a:p>
            <a:pPr marL="285750" indent="-285750" algn="l">
              <a:buFont typeface="Wingdings"/>
              <a:buChar char="ü"/>
            </a:pPr>
            <a:r>
              <a:rPr lang="en-AU" sz="1600" b="0" i="0" dirty="0">
                <a:solidFill>
                  <a:schemeClr val="tx1"/>
                </a:solidFill>
                <a:latin typeface="Arial"/>
                <a:cs typeface="Arial"/>
              </a:rPr>
              <a:t>support active recall and immediate feedback</a:t>
            </a:r>
          </a:p>
          <a:p>
            <a:pPr marL="285750" indent="-285750" algn="l">
              <a:buFont typeface="Wingdings"/>
              <a:buChar char="ü"/>
            </a:pPr>
            <a:r>
              <a:rPr lang="en-AU" sz="1600" b="0" i="0" dirty="0">
                <a:solidFill>
                  <a:schemeClr val="tx1"/>
                </a:solidFill>
                <a:latin typeface="Arial"/>
                <a:cs typeface="Arial"/>
              </a:rPr>
              <a:t>support whole class participation</a:t>
            </a:r>
          </a:p>
          <a:p>
            <a:pPr marL="285750" indent="-285750">
              <a:buFont typeface="Wingdings"/>
              <a:buChar char="ü"/>
            </a:pPr>
            <a:r>
              <a:rPr lang="en-AU" sz="1600" b="0" i="0" dirty="0">
                <a:solidFill>
                  <a:schemeClr val="tx1"/>
                </a:solidFill>
                <a:latin typeface="Arial"/>
                <a:cs typeface="Arial"/>
              </a:rPr>
              <a:t>identify areas requiring reteach</a:t>
            </a:r>
            <a:endParaRPr lang="en-US" dirty="0">
              <a:solidFill>
                <a:srgbClr val="444444"/>
              </a:solidFill>
              <a:latin typeface="Arial"/>
              <a:cs typeface="Arial"/>
            </a:endParaRPr>
          </a:p>
          <a:p>
            <a:endParaRPr lang="en-AU" dirty="0">
              <a:latin typeface="Arial"/>
              <a:cs typeface="Arial"/>
            </a:endParaRPr>
          </a:p>
          <a:p>
            <a:pPr algn="l"/>
            <a:r>
              <a:rPr lang="en-AU" dirty="0">
                <a:latin typeface="Arial"/>
                <a:cs typeface="Arial"/>
              </a:rPr>
              <a:t>2.</a:t>
            </a:r>
            <a:br>
              <a:rPr lang="en-AU" dirty="0">
                <a:latin typeface="Arial"/>
                <a:cs typeface="Arial"/>
              </a:rPr>
            </a:br>
            <a:r>
              <a:rPr lang="en-AU" b="1" dirty="0">
                <a:latin typeface="Arial"/>
                <a:cs typeface="Arial"/>
              </a:rPr>
              <a:t>Short-response question sets:</a:t>
            </a:r>
            <a:r>
              <a:rPr lang="en-AU" dirty="0">
                <a:latin typeface="Arial"/>
                <a:cs typeface="Arial"/>
              </a:rPr>
              <a:t> Carefully grouped questions that encourage spaced and interleaved practice across multiple focus areas, helping students revisit and apply knowledge from different points in time.</a:t>
            </a:r>
            <a:br>
              <a:rPr lang="en-AU" dirty="0">
                <a:latin typeface="Arial"/>
                <a:cs typeface="Arial"/>
              </a:rPr>
            </a:br>
            <a:r>
              <a:rPr lang="en-AU" sz="1600" b="0" i="0" dirty="0">
                <a:solidFill>
                  <a:schemeClr val="tx1"/>
                </a:solidFill>
                <a:latin typeface="Arial"/>
                <a:cs typeface="Arial"/>
              </a:rPr>
              <a:t>These questions:</a:t>
            </a:r>
            <a:endParaRPr lang="en-US" sz="1600" b="0" i="0" dirty="0">
              <a:solidFill>
                <a:srgbClr val="444444"/>
              </a:solidFill>
              <a:latin typeface="Arial"/>
              <a:cs typeface="Arial"/>
            </a:endParaRPr>
          </a:p>
          <a:p>
            <a:pPr marL="0" indent="0" algn="l">
              <a:buFont typeface="Wingdings" panose="05000000000000000000" pitchFamily="2" charset="2"/>
              <a:buNone/>
            </a:pPr>
            <a:endParaRPr lang="en-AU" sz="1600" i="0" dirty="0"/>
          </a:p>
          <a:p>
            <a:pPr marL="285750" indent="-285750" algn="l">
              <a:buFont typeface="Wingdings"/>
              <a:buChar char="ü"/>
            </a:pPr>
            <a:r>
              <a:rPr lang="en-AU" sz="1600" i="0" dirty="0">
                <a:latin typeface="Arial"/>
                <a:cs typeface="Arial"/>
              </a:rPr>
              <a:t>have a combination of question types </a:t>
            </a:r>
          </a:p>
          <a:p>
            <a:pPr marL="285750" indent="-285750" algn="l">
              <a:buFont typeface="Wingdings"/>
              <a:buChar char="ü"/>
            </a:pPr>
            <a:r>
              <a:rPr lang="en-AU" sz="1600" i="0" dirty="0">
                <a:latin typeface="Arial"/>
                <a:cs typeface="Arial"/>
              </a:rPr>
              <a:t>address a range of focus areas</a:t>
            </a:r>
          </a:p>
          <a:p>
            <a:pPr marL="285750" indent="-285750">
              <a:buFont typeface="Wingdings"/>
              <a:buChar char="ü"/>
            </a:pPr>
            <a:r>
              <a:rPr lang="en-AU" sz="1600" i="0" dirty="0">
                <a:latin typeface="Arial"/>
                <a:cs typeface="Arial"/>
              </a:rPr>
              <a:t>build automaticity and fluency</a:t>
            </a:r>
          </a:p>
          <a:p>
            <a:pPr marL="285750" indent="-285750">
              <a:buFont typeface="Wingdings"/>
              <a:buChar char="ü"/>
            </a:pPr>
            <a:r>
              <a:rPr lang="en-AU" sz="1600" i="0" dirty="0">
                <a:latin typeface="Arial"/>
                <a:cs typeface="Arial"/>
              </a:rPr>
              <a:t>support active recall </a:t>
            </a:r>
          </a:p>
          <a:p>
            <a:pPr marL="285750" indent="-285750">
              <a:buFont typeface="Wingdings"/>
              <a:buChar char="ü"/>
            </a:pPr>
            <a:r>
              <a:rPr lang="en-AU" sz="1600" i="0" dirty="0">
                <a:latin typeface="Arial"/>
                <a:cs typeface="Arial"/>
              </a:rPr>
              <a:t>allow for immediate feedback</a:t>
            </a:r>
          </a:p>
          <a:p>
            <a:pPr marL="285750" indent="-285750" algn="l">
              <a:buFont typeface="Wingdings"/>
              <a:buChar char="ü"/>
            </a:pPr>
            <a:r>
              <a:rPr lang="en-AU" sz="1600" i="0" dirty="0">
                <a:latin typeface="Arial"/>
                <a:cs typeface="Arial"/>
              </a:rPr>
              <a:t>identify content requiring reteach</a:t>
            </a:r>
            <a:endParaRPr lang="en-AU" dirty="0">
              <a:latin typeface="Arial"/>
              <a:cs typeface="Arial"/>
            </a:endParaRPr>
          </a:p>
          <a:p>
            <a:pPr marL="285750" indent="-285750">
              <a:buFont typeface="Wingdings"/>
              <a:buChar char="ü"/>
            </a:pPr>
            <a:endParaRPr lang="en-AU" dirty="0">
              <a:latin typeface="Arial"/>
              <a:cs typeface="Arial"/>
            </a:endParaRPr>
          </a:p>
          <a:p>
            <a:r>
              <a:rPr lang="en-AU" dirty="0">
                <a:latin typeface="Arial"/>
                <a:cs typeface="Arial"/>
              </a:rPr>
              <a:t>3.</a:t>
            </a:r>
          </a:p>
          <a:p>
            <a:r>
              <a:rPr lang="en-AU" b="1" dirty="0">
                <a:latin typeface="Arial"/>
                <a:cs typeface="Arial"/>
              </a:rPr>
              <a:t>Developing number sense activities</a:t>
            </a:r>
            <a:r>
              <a:rPr lang="en-AU" dirty="0">
                <a:latin typeface="Arial"/>
                <a:cs typeface="Arial"/>
              </a:rPr>
              <a:t>: A variety of practical, purposeful tasks that reinforce current learning and build on prior knowledge. These activities promote reasoning, problem-solving and conceptual understanding.</a:t>
            </a:r>
            <a:br>
              <a:rPr lang="en-AU" dirty="0">
                <a:latin typeface="Arial"/>
                <a:cs typeface="Arial"/>
              </a:rPr>
            </a:br>
            <a:br>
              <a:rPr lang="en-AU" dirty="0">
                <a:latin typeface="Arial"/>
                <a:cs typeface="Arial"/>
              </a:rPr>
            </a:br>
            <a:endParaRPr lang="en-US" dirty="0">
              <a:solidFill>
                <a:srgbClr val="444444"/>
              </a:solidFill>
              <a:latin typeface="Arial"/>
              <a:cs typeface="Arial"/>
            </a:endParaRPr>
          </a:p>
          <a:p>
            <a:r>
              <a:rPr lang="en-AU" dirty="0">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dirty="0">
                <a:latin typeface="Arial"/>
                <a:cs typeface="Arial"/>
              </a:rPr>
            </a:br>
            <a:br>
              <a:rPr lang="en-AU" dirty="0"/>
            </a:br>
            <a:endParaRPr lang="en-AU" dirty="0">
              <a:highlight>
                <a:srgbClr val="FFFF00"/>
              </a:highlight>
            </a:endParaRP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B: Time</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Data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94391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B</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Geometric measure B: Position</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A93DD-2E0B-B33A-7DD6-FDCAEFEC8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3B04B9-0DCB-4158-762D-B9E151B47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792E75-1288-B119-6C20-03007C9083BF}"/>
              </a:ext>
            </a:extLst>
          </p:cNvPr>
          <p:cNvSpPr>
            <a:spLocks noGrp="1"/>
          </p:cNvSpPr>
          <p:nvPr>
            <p:ph type="body" idx="1"/>
          </p:nvPr>
        </p:nvSpPr>
        <p:spPr/>
        <p:txBody>
          <a:bodyPr/>
          <a:lstStyle/>
          <a:p>
            <a:pPr>
              <a:lnSpc>
                <a:spcPct val="150000"/>
              </a:lnSpc>
              <a:spcBef>
                <a:spcPts val="1200"/>
              </a:spcBef>
              <a:spcAft>
                <a:spcPts val="600"/>
              </a:spcAft>
            </a:pPr>
            <a:r>
              <a:rPr lang="en-AU" sz="1800" dirty="0">
                <a:latin typeface="Arial"/>
                <a:cs typeface="Arial"/>
              </a:rPr>
              <a:t>This is a developing number sense activity. </a:t>
            </a:r>
            <a:endParaRPr lang="en-US" sz="1800" dirty="0">
              <a:solidFill>
                <a:srgbClr val="444444"/>
              </a:solidFill>
              <a:latin typeface="Arial"/>
              <a:cs typeface="Arial"/>
            </a:endParaRPr>
          </a:p>
          <a:p>
            <a:pPr>
              <a:lnSpc>
                <a:spcPct val="150000"/>
              </a:lnSpc>
              <a:spcBef>
                <a:spcPts val="1200"/>
              </a:spcBef>
              <a:spcAft>
                <a:spcPts val="600"/>
              </a:spcAft>
            </a:pPr>
            <a:endParaRPr lang="en-AU" sz="1800" dirty="0">
              <a:solidFill>
                <a:srgbClr val="444444"/>
              </a:solidFill>
            </a:endParaRPr>
          </a:p>
          <a:p>
            <a:pPr>
              <a:lnSpc>
                <a:spcPct val="150000"/>
              </a:lnSpc>
              <a:spcBef>
                <a:spcPts val="1200"/>
              </a:spcBef>
              <a:spcAft>
                <a:spcPts val="600"/>
              </a:spcAft>
            </a:pPr>
            <a:r>
              <a:rPr lang="en-AU" sz="18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a:lnSpc>
                <a:spcPts val="1913"/>
              </a:lnSpc>
            </a:pPr>
            <a:endParaRPr lang="en-AU" sz="1800" dirty="0">
              <a:solidFill>
                <a:srgbClr val="444444"/>
              </a:solidFill>
            </a:endParaRPr>
          </a:p>
          <a:p>
            <a:r>
              <a:rPr lang="en-AU" sz="1800" b="1" dirty="0">
                <a:latin typeface="Arial"/>
                <a:cs typeface="Arial"/>
              </a:rPr>
              <a:t>Syllabus focus area:</a:t>
            </a:r>
            <a:endParaRPr lang="en-US" sz="1800" dirty="0">
              <a:solidFill>
                <a:srgbClr val="444444"/>
              </a:solidFill>
              <a:latin typeface="Arial"/>
              <a:cs typeface="Arial"/>
            </a:endParaRPr>
          </a:p>
          <a:p>
            <a:pPr marL="0" lvl="0" indent="0">
              <a:lnSpc>
                <a:spcPct val="150000"/>
              </a:lnSpc>
              <a:spcBef>
                <a:spcPts val="1200"/>
              </a:spcBef>
              <a:spcAft>
                <a:spcPts val="600"/>
              </a:spcAft>
              <a:buSzPts val="1100"/>
              <a:buFont typeface="Arial" panose="020B0604020202020204" pitchFamily="34" charset="0"/>
              <a:buNone/>
            </a:pPr>
            <a:r>
              <a:rPr lang="en-AU" sz="1800" dirty="0"/>
              <a:t>Representing numbers using place value B </a:t>
            </a:r>
            <a:endParaRPr lang="en-AU" sz="18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endParaRPr lang="en-AU" sz="18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r>
              <a:rPr lang="en-AU" sz="1800" dirty="0">
                <a:effectLst/>
                <a:latin typeface="Arial" panose="020B0604020202020204" pitchFamily="34" charset="0"/>
                <a:ea typeface="Calibri" panose="020F0502020204030204" pitchFamily="34" charset="0"/>
              </a:rPr>
              <a:t>Record the number 285 379 on the board. Ask students to turn and talk to verbally expand the number using standard partitioning.</a:t>
            </a:r>
          </a:p>
          <a:p>
            <a:pPr marL="342900" lvl="0" indent="-342900">
              <a:lnSpc>
                <a:spcPct val="150000"/>
              </a:lnSpc>
              <a:spcBef>
                <a:spcPts val="1200"/>
              </a:spcBef>
              <a:spcAft>
                <a:spcPts val="600"/>
              </a:spcAft>
              <a:buFont typeface="+mj-lt"/>
              <a:buAutoNum type="arabicPeriod"/>
              <a:tabLst>
                <a:tab pos="228600" algn="l"/>
              </a:tabLst>
            </a:pPr>
            <a:r>
              <a:rPr lang="en-AU" sz="1800" dirty="0">
                <a:effectLst/>
                <a:latin typeface="Arial" panose="020B0604020202020204" pitchFamily="34" charset="0"/>
                <a:ea typeface="Calibri" panose="020F0502020204030204" pitchFamily="34" charset="0"/>
              </a:rPr>
              <a:t>Record the number sentence 400 000 + 30 000 + 2000 + 500 + 50 + 2 on the board. Students turn and talk to regroup and rename the 6-digit number.</a:t>
            </a:r>
          </a:p>
          <a:p>
            <a:pPr marL="342900" lvl="0" indent="-342900">
              <a:lnSpc>
                <a:spcPct val="150000"/>
              </a:lnSpc>
              <a:spcBef>
                <a:spcPts val="1200"/>
              </a:spcBef>
              <a:spcAft>
                <a:spcPts val="600"/>
              </a:spcAft>
              <a:buFont typeface="+mj-lt"/>
              <a:buAutoNum type="arabicPeriod"/>
              <a:tabLst>
                <a:tab pos="228600" algn="l"/>
              </a:tabLst>
            </a:pPr>
            <a:r>
              <a:rPr lang="en-AU" sz="1800" dirty="0">
                <a:effectLst/>
                <a:latin typeface="Arial" panose="020B0604020202020204" pitchFamily="34" charset="0"/>
                <a:ea typeface="Calibri" panose="020F0502020204030204" pitchFamily="34" charset="0"/>
              </a:rPr>
              <a:t>Explain that students will play a memory game, matching each number to its corresponding expanded notation.</a:t>
            </a:r>
          </a:p>
          <a:p>
            <a:pPr marL="342900" lvl="0" indent="-342900">
              <a:lnSpc>
                <a:spcPct val="150000"/>
              </a:lnSpc>
              <a:spcBef>
                <a:spcPts val="1200"/>
              </a:spcBef>
              <a:spcAft>
                <a:spcPts val="600"/>
              </a:spcAft>
              <a:buFont typeface="+mj-lt"/>
              <a:buAutoNum type="arabicPeriod"/>
              <a:tabLst>
                <a:tab pos="228600" algn="l"/>
              </a:tabLst>
            </a:pPr>
            <a:r>
              <a:rPr lang="en-AU" sz="1800" dirty="0">
                <a:effectLst/>
                <a:latin typeface="Arial" panose="020B0604020202020204" pitchFamily="34" charset="0"/>
                <a:ea typeface="Calibri" panose="020F0502020204030204" pitchFamily="34" charset="0"/>
              </a:rPr>
              <a:t>Provide pairs with </a:t>
            </a:r>
            <a:r>
              <a:rPr lang="en-AU" sz="1800" u="sng" dirty="0">
                <a:solidFill>
                  <a:srgbClr val="2F5496"/>
                </a:solidFill>
                <a:effectLst/>
                <a:latin typeface="Arial" panose="020B0604020202020204" pitchFamily="34" charset="0"/>
                <a:ea typeface="Calibri" panose="020F0502020204030204" pitchFamily="34" charset="0"/>
                <a:hlinkClick r:id="rId3"/>
              </a:rPr>
              <a:t>Resource 23 – expanded form memory</a:t>
            </a:r>
            <a:r>
              <a:rPr lang="en-AU" sz="1800" u="sng" dirty="0">
                <a:solidFill>
                  <a:srgbClr val="2F5496"/>
                </a:solidFill>
                <a:effectLst/>
                <a:latin typeface="Arial" panose="020B0604020202020204" pitchFamily="34" charset="0"/>
                <a:ea typeface="Calibri" panose="020F0502020204030204" pitchFamily="34" charset="0"/>
              </a:rPr>
              <a:t> </a:t>
            </a:r>
            <a:r>
              <a:rPr lang="en-AU" sz="1800" dirty="0"/>
              <a:t>(this resource corresponds to Resource 23 – expanded form memory in Stage 2, Year B Unit 39)</a:t>
            </a:r>
            <a:r>
              <a:rPr lang="en-AU" sz="1800" u="sng" dirty="0">
                <a:solidFill>
                  <a:srgbClr val="2F5496"/>
                </a:solidFill>
                <a:effectLst/>
                <a:latin typeface="Arial" panose="020B0604020202020204" pitchFamily="34" charset="0"/>
                <a:ea typeface="Calibri" panose="020F0502020204030204" pitchFamily="34" charset="0"/>
              </a:rPr>
              <a:t>.</a:t>
            </a:r>
            <a:r>
              <a:rPr lang="en-AU" sz="1800" dirty="0">
                <a:effectLst/>
                <a:latin typeface="Arial" panose="020B0604020202020204" pitchFamily="34" charset="0"/>
                <a:ea typeface="Calibri" panose="020F0502020204030204" pitchFamily="34" charset="0"/>
              </a:rPr>
              <a:t> Students cut out the cards, shuffle them and place them face down.</a:t>
            </a:r>
          </a:p>
          <a:p>
            <a:pPr marL="342900" lvl="0" indent="-342900">
              <a:lnSpc>
                <a:spcPct val="150000"/>
              </a:lnSpc>
              <a:spcBef>
                <a:spcPts val="1200"/>
              </a:spcBef>
              <a:spcAft>
                <a:spcPts val="600"/>
              </a:spcAft>
              <a:buFont typeface="+mj-lt"/>
              <a:buAutoNum type="arabicPeriod"/>
              <a:tabLst>
                <a:tab pos="228600" algn="l"/>
              </a:tabLst>
            </a:pPr>
            <a:r>
              <a:rPr lang="en-AU" sz="1800" dirty="0">
                <a:effectLst/>
                <a:latin typeface="Arial" panose="020B0604020202020204" pitchFamily="34" charset="0"/>
                <a:ea typeface="Calibri" panose="020F0502020204030204" pitchFamily="34" charset="0"/>
              </a:rPr>
              <a:t>Student A selects 2 cards. If the cards match, the student keeps them and has another turn. If there is no match the student returns the cards face down and Student B takes a turn.</a:t>
            </a:r>
          </a:p>
          <a:p>
            <a:pPr marL="342900" lvl="0" indent="-342900">
              <a:lnSpc>
                <a:spcPct val="150000"/>
              </a:lnSpc>
              <a:spcBef>
                <a:spcPts val="1200"/>
              </a:spcBef>
              <a:spcAft>
                <a:spcPts val="600"/>
              </a:spcAft>
              <a:buFont typeface="+mj-lt"/>
              <a:buAutoNum type="arabicPeriod"/>
              <a:tabLst>
                <a:tab pos="228600" algn="l"/>
              </a:tabLst>
            </a:pPr>
            <a:r>
              <a:rPr lang="en-AU" sz="1800" dirty="0">
                <a:effectLst/>
                <a:latin typeface="Arial" panose="020B0604020202020204" pitchFamily="34" charset="0"/>
                <a:ea typeface="Calibri" panose="020F0502020204030204" pitchFamily="34" charset="0"/>
              </a:rPr>
              <a:t>Play continues until there are no cards left. The student with the greatest number of cards at the end of the game wins.</a:t>
            </a:r>
          </a:p>
          <a:p>
            <a:pPr marL="0" lvl="0" indent="0">
              <a:lnSpc>
                <a:spcPct val="150000"/>
              </a:lnSpc>
              <a:spcBef>
                <a:spcPts val="1200"/>
              </a:spcBef>
              <a:spcAft>
                <a:spcPts val="600"/>
              </a:spcAft>
              <a:buFont typeface="+mj-lt"/>
              <a:buNone/>
              <a:tabLst>
                <a:tab pos="228600" algn="l"/>
                <a:tab pos="457200" algn="l"/>
              </a:tabLst>
            </a:pPr>
            <a:endParaRPr lang="en-AU" sz="1800" dirty="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1DC757CD-9AB2-9A85-7C2A-88A949B89DC7}"/>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33010435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B: Time</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dirty="0">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dirty="0">
                <a:latin typeface="Public Sans"/>
              </a:rPr>
              <a:t>Multiplicative relations A</a:t>
            </a: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Geometric measure B: Length</a:t>
            </a:r>
            <a:endParaRPr lang="en-AU">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002C6-FB31-15BF-F7D6-CEC0212DB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6C17F-5194-FFC5-B1F8-A5883F1B59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D670C5-D3F2-D361-D184-B63C0D95F650}"/>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pPr marL="0" lvl="0" indent="0">
              <a:lnSpc>
                <a:spcPct val="150000"/>
              </a:lnSpc>
              <a:spcBef>
                <a:spcPts val="1200"/>
              </a:spcBef>
              <a:spcAft>
                <a:spcPts val="600"/>
              </a:spcAft>
              <a:buSzPts val="1100"/>
              <a:buFont typeface="Arial" panose="020B0604020202020204" pitchFamily="34" charset="0"/>
              <a:buNone/>
            </a:pPr>
            <a:r>
              <a:rPr lang="en-AU" sz="1800"/>
              <a:t>Representing numbers using place value B </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Record the number 694 258 on the board. Ask students to turn and talk to verbally expand the number using standard partitioning.</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Record the number sentence 300 000 + 20 000 + 2000 + 700 + 20 + 6 on the board. Students turn and talk to regroup and rename the 6-digit number.</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Explain that students will use the cards from activity one and record the expanded number notation on their whiteboards.</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Provide pairs with </a:t>
            </a:r>
            <a:r>
              <a:rPr lang="en-AU" sz="1800" u="sng">
                <a:solidFill>
                  <a:srgbClr val="2F5496"/>
                </a:solidFill>
                <a:effectLst/>
                <a:latin typeface="Arial" panose="020B0604020202020204" pitchFamily="34" charset="0"/>
                <a:ea typeface="Calibri" panose="020F0502020204030204" pitchFamily="34" charset="0"/>
                <a:hlinkClick r:id="rId3"/>
              </a:rPr>
              <a:t>Resource 23 – expanded form memory</a:t>
            </a:r>
            <a:r>
              <a:rPr lang="en-AU" sz="1800" u="sng">
                <a:solidFill>
                  <a:srgbClr val="2F5496"/>
                </a:solidFill>
                <a:effectLst/>
                <a:latin typeface="Arial" panose="020B0604020202020204" pitchFamily="34" charset="0"/>
                <a:ea typeface="Calibri" panose="020F0502020204030204" pitchFamily="34" charset="0"/>
              </a:rPr>
              <a:t> </a:t>
            </a:r>
            <a:r>
              <a:rPr lang="en-AU" sz="1800"/>
              <a:t>(this resource corresponds to Resource 23 – expanded form memory in Stage 2, Year B Unit 39)</a:t>
            </a:r>
            <a:r>
              <a:rPr lang="en-AU" sz="1800">
                <a:effectLst/>
                <a:latin typeface="Arial" panose="020B0604020202020204" pitchFamily="34" charset="0"/>
                <a:ea typeface="Calibri" panose="020F0502020204030204" pitchFamily="34" charset="0"/>
              </a:rPr>
              <a:t>. Students use the number cards. The expanded notation cards can be placed in a pile.</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Student A selects a number card and records the expanded notation on their whiteboard. Student B finds the notation card to match and marks their partner’s work.</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Partner A and B swap roles. </a:t>
            </a:r>
          </a:p>
          <a:p>
            <a:pPr marL="0" lvl="0" indent="0">
              <a:lnSpc>
                <a:spcPct val="150000"/>
              </a:lnSpc>
              <a:spcBef>
                <a:spcPts val="1200"/>
              </a:spcBef>
              <a:spcAft>
                <a:spcPts val="600"/>
              </a:spcAft>
              <a:buFont typeface="+mj-lt"/>
              <a:buNone/>
              <a:tabLst>
                <a:tab pos="228600" algn="l"/>
                <a:tab pos="457200" algn="l"/>
              </a:tabLst>
            </a:pPr>
            <a:endParaRPr lang="en-AU" sz="180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A6D6E86D-D767-BBBB-D6CB-3C24653A9CD7}"/>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28939402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E296-D174-FB8B-35EA-66D7217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C1EB-654B-1945-6DC6-4F75C008A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A8029-49D7-F860-D388-7DB8DFAC341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3</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891F9216-63F2-70E7-9AA0-9B87A3C3F854}"/>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442195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Non-spatial measure B: Time</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B055F-9A93-E849-DFDF-84C9AD23C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F737B4-FFA3-142E-1293-B0FE4EDD7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319645-6BBB-D85D-F514-7BD67D49EB9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Data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FA1090A-22C1-9046-780C-3C1898F8EC20}"/>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24215542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892-37C1-7E8B-D57D-13BF6E21E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D4BA3-81C1-0652-24A7-E708D088E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C95F-17AF-78D0-6712-4C5F6FD6B3DF}"/>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Multiplicative relations B</a:t>
            </a: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82EEE-5CCA-87F3-1525-8A772D6341B6}"/>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504843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Chance B</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55646-7B89-692A-0340-DF6436DF7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6B4642-045E-9473-21A1-CBF3AA8286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26FFA2-A524-E48B-1920-35116ED45FEA}"/>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pPr marL="0" lvl="0" indent="0">
              <a:lnSpc>
                <a:spcPct val="150000"/>
              </a:lnSpc>
              <a:spcBef>
                <a:spcPts val="1200"/>
              </a:spcBef>
              <a:spcAft>
                <a:spcPts val="600"/>
              </a:spcAft>
              <a:buSzPts val="1100"/>
              <a:buFont typeface="Arial" panose="020B0604020202020204" pitchFamily="34" charset="0"/>
              <a:buNone/>
            </a:pPr>
            <a:r>
              <a:rPr lang="en-AU" sz="1800"/>
              <a:t>Representing numbers using place value B </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Provide students with a 10-sided (0–9) die and a whiteboard.</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Students roll the die 5 times to generate a 5-digit number.</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Students record their 5-digit number on their whiteboard in expanded notation.</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Students then use non-standard partitioning to regroup and rename their number in 2 different ways </a:t>
            </a:r>
          </a:p>
          <a:p>
            <a:pPr marL="342900" marR="0" lvl="0" indent="-342900" algn="l" defTabSz="1219170" rtl="0" eaLnBrk="1" fontAlgn="auto" latinLnBrk="0" hangingPunct="1">
              <a:lnSpc>
                <a:spcPct val="150000"/>
              </a:lnSpc>
              <a:spcBef>
                <a:spcPts val="1200"/>
              </a:spcBef>
              <a:spcAft>
                <a:spcPts val="600"/>
              </a:spcAft>
              <a:buClrTx/>
              <a:buSzTx/>
              <a:buFont typeface="+mj-lt"/>
              <a:buAutoNum type="arabicPeriod"/>
              <a:tabLst>
                <a:tab pos="228600" algn="l"/>
              </a:tabLst>
              <a:defRPr/>
            </a:pPr>
            <a:r>
              <a:rPr lang="en-AU" sz="1800">
                <a:effectLst/>
                <a:latin typeface="Arial" panose="020B0604020202020204" pitchFamily="34" charset="0"/>
                <a:ea typeface="Calibri" panose="020F0502020204030204" pitchFamily="34" charset="0"/>
              </a:rPr>
              <a:t>Students think pair share to see if they can identify another way to partition their partner’s number using non-standard partitioning.</a:t>
            </a:r>
          </a:p>
          <a:p>
            <a:pPr marL="0" lvl="0" indent="0">
              <a:lnSpc>
                <a:spcPct val="150000"/>
              </a:lnSpc>
              <a:spcBef>
                <a:spcPts val="1200"/>
              </a:spcBef>
              <a:spcAft>
                <a:spcPts val="600"/>
              </a:spcAft>
              <a:buFont typeface="+mj-lt"/>
              <a:buNone/>
              <a:tabLst>
                <a:tab pos="228600" algn="l"/>
              </a:tabLst>
            </a:pPr>
            <a:endParaRPr lang="en-AU"/>
          </a:p>
        </p:txBody>
      </p:sp>
      <p:sp>
        <p:nvSpPr>
          <p:cNvPr id="4" name="Slide Number Placeholder 3">
            <a:extLst>
              <a:ext uri="{FF2B5EF4-FFF2-40B4-BE49-F238E27FC236}">
                <a16:creationId xmlns:a16="http://schemas.microsoft.com/office/drawing/2014/main" id="{9FE4CD4E-8B34-CCC7-CE78-AD5E8D32FC07}"/>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40000649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4</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B: 2D shape</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1B36-47E4-7D54-B38D-6E3A12D5F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441C-B175-9310-62E4-2BDB84343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07E7-BCD7-BF66-1FD5-F66F83E9A55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Chance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727C7-CC8D-698F-7170-D71A46934120}"/>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2644537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B: Area</a:t>
            </a:r>
            <a:endParaRPr lang="en-AU" sz="1600" b="0" i="0" dirty="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Non-spatial measure B: Mass</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pPr marL="0" lvl="0" indent="0">
              <a:lnSpc>
                <a:spcPct val="150000"/>
              </a:lnSpc>
              <a:spcBef>
                <a:spcPts val="1200"/>
              </a:spcBef>
              <a:spcAft>
                <a:spcPts val="600"/>
              </a:spcAft>
              <a:buSzPts val="1100"/>
              <a:buFont typeface="Arial" panose="020B0604020202020204" pitchFamily="34" charset="0"/>
              <a:buNone/>
            </a:pPr>
            <a:r>
              <a:rPr lang="en-AU" sz="1800"/>
              <a:t>Representing numbers using place value B </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Display </a:t>
            </a:r>
            <a:r>
              <a:rPr lang="en-AU" sz="1800">
                <a:solidFill>
                  <a:srgbClr val="2F5496"/>
                </a:solidFill>
                <a:effectLst/>
                <a:latin typeface="Arial" panose="020B0604020202020204" pitchFamily="34" charset="0"/>
                <a:ea typeface="Calibri" panose="020F0502020204030204" pitchFamily="34" charset="0"/>
                <a:hlinkClick r:id="rId3"/>
              </a:rPr>
              <a:t>Resource 24 – student number expander</a:t>
            </a:r>
            <a:r>
              <a:rPr lang="en-AU" sz="1800">
                <a:effectLst/>
                <a:latin typeface="Arial" panose="020B0604020202020204" pitchFamily="34" charset="0"/>
                <a:ea typeface="Calibri" panose="020F0502020204030204" pitchFamily="34" charset="0"/>
              </a:rPr>
              <a:t> </a:t>
            </a:r>
            <a:r>
              <a:rPr lang="en-AU" sz="1800"/>
              <a:t>(this resource corresponds to Resource 49 – student number expander in Stage 2, Year B Unit 39)</a:t>
            </a:r>
            <a:r>
              <a:rPr lang="en-AU" sz="1800">
                <a:effectLst/>
                <a:latin typeface="Arial" panose="020B0604020202020204" pitchFamily="34" charset="0"/>
                <a:ea typeface="Calibri" panose="020F0502020204030204" pitchFamily="34" charset="0"/>
              </a:rPr>
              <a:t> and explain to students that Mark used a number expander to partition a 6-digit number in a standard and non-standard form.</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Ask:</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What do you notice?</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Can you think of another way Mark could partition his number in non-standard forms?</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Provide students with a 10-sided (0–9) die, writing materials and </a:t>
            </a:r>
            <a:r>
              <a:rPr lang="en-AU" sz="1800">
                <a:solidFill>
                  <a:srgbClr val="2F5496"/>
                </a:solidFill>
                <a:effectLst/>
                <a:latin typeface="Arial" panose="020B0604020202020204" pitchFamily="34" charset="0"/>
                <a:ea typeface="Calibri" panose="020F0502020204030204" pitchFamily="34" charset="0"/>
                <a:hlinkClick r:id="rId4"/>
              </a:rPr>
              <a:t>Resource 25 – number expander worksheet</a:t>
            </a:r>
            <a:r>
              <a:rPr lang="en-AU" sz="1800">
                <a:solidFill>
                  <a:srgbClr val="2F5496"/>
                </a:solidFill>
                <a:effectLst/>
                <a:latin typeface="Arial" panose="020B0604020202020204" pitchFamily="34" charset="0"/>
                <a:ea typeface="Calibri" panose="020F0502020204030204" pitchFamily="34" charset="0"/>
              </a:rPr>
              <a:t> </a:t>
            </a:r>
            <a:r>
              <a:rPr lang="en-AU" sz="1800"/>
              <a:t>(this resource corresponds to Resource 25 – number expander worksheet in Stage 2, Year B Unit 39)</a:t>
            </a:r>
            <a:r>
              <a:rPr lang="en-AU" sz="1800">
                <a:effectLst/>
                <a:latin typeface="Arial" panose="020B0604020202020204" pitchFamily="34" charset="0"/>
                <a:ea typeface="Calibri" panose="020F0502020204030204" pitchFamily="34" charset="0"/>
              </a:rPr>
              <a:t>. </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Students roll the die 6 times to generate a 6-digit number.</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Students use the 6-digit number to complete </a:t>
            </a:r>
            <a:r>
              <a:rPr lang="en-AU" sz="1800">
                <a:solidFill>
                  <a:srgbClr val="2F5496"/>
                </a:solidFill>
                <a:effectLst/>
                <a:latin typeface="Arial" panose="020B0604020202020204" pitchFamily="34" charset="0"/>
                <a:ea typeface="Calibri" panose="020F0502020204030204" pitchFamily="34" charset="0"/>
                <a:hlinkClick r:id="rId4"/>
              </a:rPr>
              <a:t>Resource 25 – number expander worksheet</a:t>
            </a:r>
            <a:r>
              <a:rPr lang="en-AU" sz="1800">
                <a:solidFill>
                  <a:srgbClr val="2F5496"/>
                </a:solidFill>
                <a:effectLst/>
                <a:latin typeface="Arial" panose="020B0604020202020204" pitchFamily="34" charset="0"/>
                <a:ea typeface="Calibri" panose="020F0502020204030204" pitchFamily="34" charset="0"/>
              </a:rPr>
              <a:t> </a:t>
            </a:r>
            <a:r>
              <a:rPr lang="en-AU" sz="1800"/>
              <a:t>(this resource corresponds to Resource 25 – number expander worksheet in Stage 2, Year B Unit 39)</a:t>
            </a:r>
            <a:r>
              <a:rPr lang="en-AU" sz="1800">
                <a:effectLst/>
                <a:latin typeface="Arial" panose="020B0604020202020204" pitchFamily="34" charset="0"/>
                <a:ea typeface="Calibri" panose="020F0502020204030204" pitchFamily="34" charset="0"/>
              </a:rPr>
              <a:t>.</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Students think pair share with a partner to see if they can identify another way to partition their partner’s number using non-standard partitioning.</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9302231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5</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Partitioned Fractions B</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B: 2D shape</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Chance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593475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A :2D shape</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B: Volume</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F9944-D78F-7404-97F1-748A74B83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8375C-8D35-1415-6438-796961F5860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4878E57-8516-3283-864A-ED108062A182}"/>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pPr marL="0" lvl="0" indent="0">
                  <a:lnSpc>
                    <a:spcPct val="150000"/>
                  </a:lnSpc>
                  <a:spcBef>
                    <a:spcPts val="1200"/>
                  </a:spcBef>
                  <a:spcAft>
                    <a:spcPts val="600"/>
                  </a:spcAft>
                  <a:buSzPts val="1100"/>
                  <a:buFont typeface="Arial" panose="020B0604020202020204" pitchFamily="34" charset="0"/>
                  <a:buNone/>
                </a:pPr>
                <a:r>
                  <a:rPr lang="en-AU" sz="1800"/>
                  <a:t>Partitioned fractions B </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Display </a:t>
                </a:r>
                <a:r>
                  <a:rPr lang="en-AU" sz="1800">
                    <a:solidFill>
                      <a:srgbClr val="2F5496"/>
                    </a:solidFill>
                    <a:effectLst/>
                    <a:latin typeface="Arial" panose="020B0604020202020204" pitchFamily="34" charset="0"/>
                    <a:ea typeface="Calibri" panose="020F0502020204030204" pitchFamily="34" charset="0"/>
                    <a:hlinkClick r:id="rId3"/>
                  </a:rPr>
                  <a:t>Resource 26 – blank number lines</a:t>
                </a:r>
                <a:r>
                  <a:rPr lang="en-AU" sz="1800">
                    <a:solidFill>
                      <a:srgbClr val="2F5496"/>
                    </a:solidFill>
                    <a:effectLst/>
                    <a:latin typeface="Arial" panose="020B0604020202020204" pitchFamily="34" charset="0"/>
                    <a:ea typeface="Calibri" panose="020F0502020204030204" pitchFamily="34" charset="0"/>
                  </a:rPr>
                  <a:t> </a:t>
                </a:r>
                <a:r>
                  <a:rPr lang="en-AU" sz="1800"/>
                  <a:t>(this resource corresponds to Resource 26 – blank number lines in Stage 2, Year B Unit 39)</a:t>
                </a:r>
                <a:r>
                  <a:rPr lang="en-AU" sz="1800">
                    <a:effectLst/>
                    <a:latin typeface="Arial" panose="020B0604020202020204" pitchFamily="34" charset="0"/>
                    <a:ea typeface="Calibri" panose="020F0502020204030204" pitchFamily="34" charset="0"/>
                  </a:rPr>
                  <a:t>. </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Draw students attention to the 3 different-sized number lines, as indicated by the position of the 1 on each line which represents one whole.</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DengXian" panose="02010600030101010101" pitchFamily="2" charset="-122"/>
                  </a:rPr>
                  <a:t>Pose the following scenario: Two students were dividing their number lines into quarters. Jack said he would draw 4 lines in between each whole number and Harriet said she would draw 3. Ask the following questions:</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Who is correct and why?</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How many quarters are there in 2 wholes?</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Can you</a:t>
                </a:r>
                <a:r>
                  <a:rPr lang="en-AU" sz="1800">
                    <a:effectLst/>
                    <a:latin typeface="Arial" panose="020B0604020202020204" pitchFamily="34" charset="0"/>
                    <a:ea typeface="DengXian" panose="02010600030101010101" pitchFamily="2" charset="-122"/>
                  </a:rPr>
                  <a:t> draw a number line to prove it?</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Students copy the 3 number lines from the board and partition each number line into quarters by marking equal spaces between each whole number.</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Students label the following fractions on each number line (see Figure 12):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a:effectLst/>
                            <a:latin typeface="Cambria Math" panose="02040503050406030204" pitchFamily="18" charset="0"/>
                            <a:ea typeface="Calibri" panose="020F0502020204030204" pitchFamily="34" charset="0"/>
                          </a:rPr>
                          <m:t>1</m:t>
                        </m:r>
                      </m:num>
                      <m:den>
                        <m:r>
                          <a:rPr lang="en-AU" sz="1800">
                            <a:effectLst/>
                            <a:latin typeface="Cambria Math" panose="02040503050406030204" pitchFamily="18" charset="0"/>
                            <a:ea typeface="Calibri" panose="020F0502020204030204" pitchFamily="34" charset="0"/>
                          </a:rPr>
                          <m:t>4</m:t>
                        </m:r>
                      </m:den>
                    </m:f>
                  </m:oMath>
                </a14:m>
                <a:r>
                  <a:rPr lang="en-AU" sz="1800">
                    <a:effectLst/>
                    <a:latin typeface="Arial" panose="020B0604020202020204" pitchFamily="34" charset="0"/>
                    <a:ea typeface="Calibri" panose="020F0502020204030204" pitchFamily="34" charset="0"/>
                  </a:rPr>
                  <a:t>, </a:t>
                </a:r>
                <a14:m>
                  <m:oMath xmlns:m="http://schemas.openxmlformats.org/officeDocument/2006/math">
                    <m:r>
                      <a:rPr lang="en-AU" sz="1800">
                        <a:effectLst/>
                        <a:latin typeface="Cambria Math" panose="02040503050406030204" pitchFamily="18" charset="0"/>
                        <a:ea typeface="Calibri" panose="020F0502020204030204" pitchFamily="34" charset="0"/>
                      </a:rPr>
                      <m:t>1 </m:t>
                    </m:r>
                    <m:f>
                      <m:fPr>
                        <m:ctrlPr>
                          <a:rPr lang="en-AU" sz="1800" i="1">
                            <a:effectLst/>
                            <a:latin typeface="Cambria Math" panose="02040503050406030204" pitchFamily="18" charset="0"/>
                            <a:ea typeface="Calibri" panose="020F0502020204030204" pitchFamily="34" charset="0"/>
                          </a:rPr>
                        </m:ctrlPr>
                      </m:fPr>
                      <m:num>
                        <m:r>
                          <a:rPr lang="en-AU" sz="1800">
                            <a:effectLst/>
                            <a:latin typeface="Cambria Math" panose="02040503050406030204" pitchFamily="18" charset="0"/>
                            <a:ea typeface="Calibri" panose="020F0502020204030204" pitchFamily="34" charset="0"/>
                          </a:rPr>
                          <m:t>3</m:t>
                        </m:r>
                      </m:num>
                      <m:den>
                        <m:r>
                          <a:rPr lang="en-AU" sz="1800">
                            <a:effectLst/>
                            <a:latin typeface="Cambria Math" panose="02040503050406030204" pitchFamily="18" charset="0"/>
                            <a:ea typeface="Calibri" panose="020F0502020204030204" pitchFamily="34" charset="0"/>
                          </a:rPr>
                          <m:t>4</m:t>
                        </m:r>
                      </m:den>
                    </m:f>
                  </m:oMath>
                </a14:m>
                <a:r>
                  <a:rPr lang="en-AU" sz="1800">
                    <a:effectLst/>
                    <a:latin typeface="Arial" panose="020B0604020202020204" pitchFamily="34" charset="0"/>
                    <a:ea typeface="Calibri" panose="020F0502020204030204" pitchFamily="34" charset="0"/>
                  </a:rPr>
                  <a:t>, </a:t>
                </a:r>
                <a14:m>
                  <m:oMath xmlns:m="http://schemas.openxmlformats.org/officeDocument/2006/math">
                    <m:r>
                      <a:rPr lang="en-AU" sz="1800">
                        <a:effectLst/>
                        <a:latin typeface="Cambria Math" panose="02040503050406030204" pitchFamily="18" charset="0"/>
                        <a:ea typeface="Calibri" panose="020F0502020204030204" pitchFamily="34" charset="0"/>
                      </a:rPr>
                      <m:t>1 </m:t>
                    </m:r>
                    <m:f>
                      <m:fPr>
                        <m:ctrlPr>
                          <a:rPr lang="en-AU" sz="1800" i="1">
                            <a:effectLst/>
                            <a:latin typeface="Cambria Math" panose="02040503050406030204" pitchFamily="18" charset="0"/>
                            <a:ea typeface="Calibri" panose="020F0502020204030204" pitchFamily="34" charset="0"/>
                          </a:rPr>
                        </m:ctrlPr>
                      </m:fPr>
                      <m:num>
                        <m:r>
                          <a:rPr lang="en-AU" sz="1800">
                            <a:effectLst/>
                            <a:latin typeface="Cambria Math" panose="02040503050406030204" pitchFamily="18" charset="0"/>
                            <a:ea typeface="Calibri" panose="020F0502020204030204" pitchFamily="34" charset="0"/>
                          </a:rPr>
                          <m:t>1</m:t>
                        </m:r>
                      </m:num>
                      <m:den>
                        <m:r>
                          <a:rPr lang="en-AU" sz="1800">
                            <a:effectLst/>
                            <a:latin typeface="Cambria Math" panose="02040503050406030204" pitchFamily="18" charset="0"/>
                            <a:ea typeface="Calibri" panose="020F0502020204030204" pitchFamily="34" charset="0"/>
                          </a:rPr>
                          <m:t>4</m:t>
                        </m:r>
                      </m:den>
                    </m:f>
                  </m:oMath>
                </a14:m>
                <a:r>
                  <a:rPr lang="en-AU" sz="1800">
                    <a:effectLst/>
                    <a:latin typeface="Arial" panose="020B0604020202020204" pitchFamily="34" charset="0"/>
                    <a:ea typeface="Calibri" panose="020F0502020204030204" pitchFamily="34" charset="0"/>
                  </a:rPr>
                  <a:t>,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a:effectLst/>
                            <a:latin typeface="Cambria Math" panose="02040503050406030204" pitchFamily="18" charset="0"/>
                            <a:ea typeface="Calibri" panose="020F0502020204030204" pitchFamily="34" charset="0"/>
                          </a:rPr>
                          <m:t>7</m:t>
                        </m:r>
                      </m:num>
                      <m:den>
                        <m:r>
                          <a:rPr lang="en-AU" sz="1800">
                            <a:effectLst/>
                            <a:latin typeface="Cambria Math" panose="02040503050406030204" pitchFamily="18" charset="0"/>
                            <a:ea typeface="Calibri" panose="020F0502020204030204" pitchFamily="34" charset="0"/>
                          </a:rPr>
                          <m:t>4</m:t>
                        </m:r>
                      </m:den>
                    </m:f>
                  </m:oMath>
                </a14:m>
                <a:r>
                  <a:rPr lang="en-AU" sz="1800">
                    <a:effectLst/>
                    <a:latin typeface="Arial" panose="020B0604020202020204" pitchFamily="34" charset="0"/>
                    <a:ea typeface="Calibri" panose="020F0502020204030204" pitchFamily="34" charset="0"/>
                  </a:rPr>
                  <a:t>,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a:effectLst/>
                            <a:latin typeface="Cambria Math" panose="02040503050406030204" pitchFamily="18" charset="0"/>
                            <a:ea typeface="Calibri" panose="020F0502020204030204" pitchFamily="34" charset="0"/>
                          </a:rPr>
                          <m:t>3</m:t>
                        </m:r>
                      </m:num>
                      <m:den>
                        <m:r>
                          <a:rPr lang="en-AU" sz="1800">
                            <a:effectLst/>
                            <a:latin typeface="Cambria Math" panose="02040503050406030204" pitchFamily="18" charset="0"/>
                            <a:ea typeface="Calibri" panose="020F0502020204030204" pitchFamily="34" charset="0"/>
                          </a:rPr>
                          <m:t>4</m:t>
                        </m:r>
                      </m:den>
                    </m:f>
                  </m:oMath>
                </a14:m>
                <a:r>
                  <a:rPr lang="en-AU" sz="1800">
                    <a:effectLst/>
                    <a:latin typeface="Arial" panose="020B0604020202020204" pitchFamily="34" charset="0"/>
                    <a:ea typeface="DengXian" panose="02010600030101010101" pitchFamily="2" charset="-122"/>
                  </a:rPr>
                  <a:t>.</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Regroup and ask students to compare their fraction number lines with a partner.</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Ask:</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Did you place the fractions at the same points on the number lines as your partner?</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How could 2 be renamed as a fraction?</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How can </a:t>
                </a:r>
                <a14:m>
                  <m:oMath xmlns:m="http://schemas.openxmlformats.org/officeDocument/2006/math">
                    <m:r>
                      <a:rPr lang="en-AU" sz="1800" i="1">
                        <a:effectLst/>
                        <a:latin typeface="Cambria Math" panose="02040503050406030204" pitchFamily="18" charset="0"/>
                        <a:ea typeface="Calibri" panose="020F0502020204030204" pitchFamily="34" charset="0"/>
                        <a:cs typeface="Times New Roman" panose="02020603050405020304" pitchFamily="18" charset="0"/>
                      </a:rPr>
                      <m:t>1 </m:t>
                    </m:r>
                    <m:f>
                      <m:fPr>
                        <m:ctrlPr>
                          <a:rPr lang="en-AU"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8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n-AU" sz="1800" i="1">
                            <a:effectLst/>
                            <a:latin typeface="Cambria Math" panose="02040503050406030204" pitchFamily="18" charset="0"/>
                            <a:ea typeface="Calibri" panose="020F0502020204030204" pitchFamily="34" charset="0"/>
                            <a:cs typeface="Times New Roman" panose="02020603050405020304" pitchFamily="18" charset="0"/>
                          </a:rPr>
                          <m:t>4</m:t>
                        </m:r>
                      </m:den>
                    </m:f>
                  </m:oMath>
                </a14:m>
                <a:r>
                  <a:rPr lang="en-AU" sz="1800">
                    <a:effectLst/>
                    <a:latin typeface="Arial" panose="020B0604020202020204" pitchFamily="34" charset="0"/>
                    <a:ea typeface="Calibri" panose="020F0502020204030204" pitchFamily="34" charset="0"/>
                    <a:cs typeface="Times New Roman" panose="02020603050405020304" pitchFamily="18" charset="0"/>
                  </a:rPr>
                  <a:t> be renamed? ( </a:t>
                </a:r>
                <a14:m>
                  <m:oMath xmlns:m="http://schemas.openxmlformats.org/officeDocument/2006/math">
                    <m:f>
                      <m:fPr>
                        <m:ctrlPr>
                          <a:rPr lang="en-AU"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800" i="1">
                            <a:effectLst/>
                            <a:latin typeface="Cambria Math" panose="02040503050406030204" pitchFamily="18" charset="0"/>
                            <a:ea typeface="Calibri" panose="020F0502020204030204" pitchFamily="34" charset="0"/>
                            <a:cs typeface="Times New Roman" panose="02020603050405020304" pitchFamily="18" charset="0"/>
                          </a:rPr>
                          <m:t>7</m:t>
                        </m:r>
                      </m:num>
                      <m:den>
                        <m:r>
                          <a:rPr lang="en-AU" sz="1800" i="1">
                            <a:effectLst/>
                            <a:latin typeface="Cambria Math" panose="02040503050406030204" pitchFamily="18" charset="0"/>
                            <a:ea typeface="Calibri" panose="020F0502020204030204" pitchFamily="34" charset="0"/>
                            <a:cs typeface="Times New Roman" panose="02020603050405020304" pitchFamily="18" charset="0"/>
                          </a:rPr>
                          <m:t>4</m:t>
                        </m:r>
                      </m:den>
                    </m:f>
                    <m:r>
                      <a:rPr lang="en-AU" sz="18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n-AU" sz="1800">
                    <a:effectLst/>
                    <a:latin typeface="Arial" panose="020B0604020202020204" pitchFamily="34" charset="0"/>
                    <a:ea typeface="Calibri" panose="020F0502020204030204" pitchFamily="34" charset="0"/>
                    <a:cs typeface="Times New Roman" panose="02020603050405020304" pitchFamily="18" charset="0"/>
                  </a:rPr>
                  <a:t>).</a:t>
                </a:r>
              </a:p>
              <a:p>
                <a:endParaRPr lang="en-AU"/>
              </a:p>
            </p:txBody>
          </p:sp>
        </mc:Choice>
        <mc:Fallback xmlns="">
          <p:sp>
            <p:nvSpPr>
              <p:cNvPr id="3" name="Notes Placeholder 2">
                <a:extLst>
                  <a:ext uri="{FF2B5EF4-FFF2-40B4-BE49-F238E27FC236}">
                    <a16:creationId xmlns:a16="http://schemas.microsoft.com/office/drawing/2014/main" id="{84878E57-8516-3283-864A-ED108062A182}"/>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pPr marL="0" lvl="0" indent="0">
                  <a:lnSpc>
                    <a:spcPct val="150000"/>
                  </a:lnSpc>
                  <a:spcBef>
                    <a:spcPts val="1200"/>
                  </a:spcBef>
                  <a:spcAft>
                    <a:spcPts val="600"/>
                  </a:spcAft>
                  <a:buSzPts val="1100"/>
                  <a:buFont typeface="Arial" panose="020B0604020202020204" pitchFamily="34" charset="0"/>
                  <a:buNone/>
                </a:pPr>
                <a:r>
                  <a:rPr lang="en-AU" sz="1800"/>
                  <a:t>Partitioned fractions B </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Display </a:t>
                </a:r>
                <a:r>
                  <a:rPr lang="en-AU" sz="1800">
                    <a:solidFill>
                      <a:srgbClr val="2F5496"/>
                    </a:solidFill>
                    <a:effectLst/>
                    <a:latin typeface="Arial" panose="020B0604020202020204" pitchFamily="34" charset="0"/>
                    <a:ea typeface="Calibri" panose="020F0502020204030204" pitchFamily="34" charset="0"/>
                    <a:hlinkClick r:id="rId4"/>
                  </a:rPr>
                  <a:t>Resource 26 – blank number lines</a:t>
                </a:r>
                <a:r>
                  <a:rPr lang="en-AU" sz="1800">
                    <a:solidFill>
                      <a:srgbClr val="2F5496"/>
                    </a:solidFill>
                    <a:effectLst/>
                    <a:latin typeface="Arial" panose="020B0604020202020204" pitchFamily="34" charset="0"/>
                    <a:ea typeface="Calibri" panose="020F0502020204030204" pitchFamily="34" charset="0"/>
                  </a:rPr>
                  <a:t> </a:t>
                </a:r>
                <a:r>
                  <a:rPr lang="en-AU" sz="1800"/>
                  <a:t>(this resource corresponds to Resource 26 – blank number lines in Stage 2, Year B Unit 39)</a:t>
                </a:r>
                <a:r>
                  <a:rPr lang="en-AU" sz="1800">
                    <a:effectLst/>
                    <a:latin typeface="Arial" panose="020B0604020202020204" pitchFamily="34" charset="0"/>
                    <a:ea typeface="Calibri" panose="020F0502020204030204" pitchFamily="34" charset="0"/>
                  </a:rPr>
                  <a:t>. </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Draw students attention to the 3 different-sized number lines, as indicated by the position of the 1 on each line which represents one whole.</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DengXian" panose="02010600030101010101" pitchFamily="2" charset="-122"/>
                  </a:rPr>
                  <a:t>Pose the following scenario: Two students were dividing their number lines into quarters. Jack said he would draw 4 lines in between each whole number and Harriet said she would draw 3. Ask the following questions:</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Who is correct and why?</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How many quarters are there in 2 wholes?</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Can you</a:t>
                </a:r>
                <a:r>
                  <a:rPr lang="en-AU" sz="1800">
                    <a:effectLst/>
                    <a:latin typeface="Arial" panose="020B0604020202020204" pitchFamily="34" charset="0"/>
                    <a:ea typeface="DengXian" panose="02010600030101010101" pitchFamily="2" charset="-122"/>
                  </a:rPr>
                  <a:t> draw a number line to prove it?</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Students copy the 3 number lines from the board and partition each number line into quarters by marking equal spaces between each whole number.</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Students label the following fractions on each number line (see Figure 12): </a:t>
                </a:r>
                <a:r>
                  <a:rPr lang="en-AU" sz="1800" i="0">
                    <a:effectLst/>
                    <a:latin typeface="Cambria Math" panose="02040503050406030204" pitchFamily="18" charset="0"/>
                    <a:ea typeface="Calibri" panose="020F0502020204030204" pitchFamily="34" charset="0"/>
                  </a:rPr>
                  <a:t>1/4</a:t>
                </a:r>
                <a:r>
                  <a:rPr lang="en-AU" sz="1800">
                    <a:effectLst/>
                    <a:latin typeface="Arial" panose="020B0604020202020204" pitchFamily="34" charset="0"/>
                    <a:ea typeface="Calibri" panose="020F0502020204030204" pitchFamily="34" charset="0"/>
                  </a:rPr>
                  <a:t>, </a:t>
                </a:r>
                <a:r>
                  <a:rPr lang="en-AU" sz="1800" i="0">
                    <a:effectLst/>
                    <a:latin typeface="Cambria Math" panose="02040503050406030204" pitchFamily="18" charset="0"/>
                    <a:ea typeface="Calibri" panose="020F0502020204030204" pitchFamily="34" charset="0"/>
                  </a:rPr>
                  <a:t>1 3/4</a:t>
                </a:r>
                <a:r>
                  <a:rPr lang="en-AU" sz="1800">
                    <a:effectLst/>
                    <a:latin typeface="Arial" panose="020B0604020202020204" pitchFamily="34" charset="0"/>
                    <a:ea typeface="Calibri" panose="020F0502020204030204" pitchFamily="34" charset="0"/>
                  </a:rPr>
                  <a:t>, </a:t>
                </a:r>
                <a:r>
                  <a:rPr lang="en-AU" sz="1800" i="0">
                    <a:effectLst/>
                    <a:latin typeface="Cambria Math" panose="02040503050406030204" pitchFamily="18" charset="0"/>
                    <a:ea typeface="Calibri" panose="020F0502020204030204" pitchFamily="34" charset="0"/>
                  </a:rPr>
                  <a:t>1 1/4</a:t>
                </a:r>
                <a:r>
                  <a:rPr lang="en-AU" sz="1800">
                    <a:effectLst/>
                    <a:latin typeface="Arial" panose="020B0604020202020204" pitchFamily="34" charset="0"/>
                    <a:ea typeface="Calibri" panose="020F0502020204030204" pitchFamily="34" charset="0"/>
                  </a:rPr>
                  <a:t>, </a:t>
                </a:r>
                <a:r>
                  <a:rPr lang="en-AU" sz="1800" i="0">
                    <a:effectLst/>
                    <a:latin typeface="Cambria Math" panose="02040503050406030204" pitchFamily="18" charset="0"/>
                    <a:ea typeface="Calibri" panose="020F0502020204030204" pitchFamily="34" charset="0"/>
                  </a:rPr>
                  <a:t>7/4</a:t>
                </a:r>
                <a:r>
                  <a:rPr lang="en-AU" sz="1800">
                    <a:effectLst/>
                    <a:latin typeface="Arial" panose="020B0604020202020204" pitchFamily="34" charset="0"/>
                    <a:ea typeface="Calibri" panose="020F0502020204030204" pitchFamily="34" charset="0"/>
                  </a:rPr>
                  <a:t>, </a:t>
                </a:r>
                <a:r>
                  <a:rPr lang="en-AU" sz="1800" i="0">
                    <a:effectLst/>
                    <a:latin typeface="Cambria Math" panose="02040503050406030204" pitchFamily="18" charset="0"/>
                    <a:ea typeface="Calibri" panose="020F0502020204030204" pitchFamily="34" charset="0"/>
                  </a:rPr>
                  <a:t>3/4</a:t>
                </a:r>
                <a:r>
                  <a:rPr lang="en-AU" sz="1800">
                    <a:effectLst/>
                    <a:latin typeface="Arial" panose="020B0604020202020204" pitchFamily="34" charset="0"/>
                    <a:ea typeface="DengXian" panose="02010600030101010101" pitchFamily="2" charset="-122"/>
                  </a:rPr>
                  <a:t>.</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Regroup and ask students to compare their fraction number lines with a partner.</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Ask:</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Did you place the fractions at the same points on the number lines as your partner?</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How could 2 be renamed as a fraction?</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How can </a:t>
                </a:r>
                <a:r>
                  <a:rPr lang="en-AU" sz="1800" i="0">
                    <a:effectLst/>
                    <a:latin typeface="Cambria Math" panose="02040503050406030204" pitchFamily="18" charset="0"/>
                    <a:ea typeface="Calibri" panose="020F0502020204030204" pitchFamily="34" charset="0"/>
                    <a:cs typeface="Times New Roman" panose="02020603050405020304" pitchFamily="18" charset="0"/>
                  </a:rPr>
                  <a:t>1 3/4</a:t>
                </a:r>
                <a:r>
                  <a:rPr lang="en-AU" sz="1800">
                    <a:effectLst/>
                    <a:latin typeface="Arial" panose="020B0604020202020204" pitchFamily="34" charset="0"/>
                    <a:ea typeface="Calibri" panose="020F0502020204030204" pitchFamily="34" charset="0"/>
                    <a:cs typeface="Times New Roman" panose="02020603050405020304" pitchFamily="18" charset="0"/>
                  </a:rPr>
                  <a:t> be renamed? ( </a:t>
                </a:r>
                <a:r>
                  <a:rPr lang="en-AU" sz="1800" i="0">
                    <a:effectLst/>
                    <a:latin typeface="Cambria Math" panose="02040503050406030204" pitchFamily="18" charset="0"/>
                    <a:ea typeface="Calibri" panose="020F0502020204030204" pitchFamily="34" charset="0"/>
                    <a:cs typeface="Times New Roman" panose="02020603050405020304" pitchFamily="18" charset="0"/>
                  </a:rPr>
                  <a:t>7/4  </a:t>
                </a:r>
                <a:r>
                  <a:rPr lang="en-AU" sz="1800">
                    <a:effectLst/>
                    <a:latin typeface="Arial" panose="020B0604020202020204" pitchFamily="34" charset="0"/>
                    <a:ea typeface="Calibri" panose="020F0502020204030204" pitchFamily="34" charset="0"/>
                    <a:cs typeface="Times New Roman" panose="02020603050405020304" pitchFamily="18" charset="0"/>
                  </a:rPr>
                  <a:t>).</a:t>
                </a:r>
              </a:p>
              <a:p>
                <a:endParaRPr lang="en-AU"/>
              </a:p>
            </p:txBody>
          </p:sp>
        </mc:Fallback>
      </mc:AlternateContent>
      <p:sp>
        <p:nvSpPr>
          <p:cNvPr id="4" name="Slide Number Placeholder 3">
            <a:extLst>
              <a:ext uri="{FF2B5EF4-FFF2-40B4-BE49-F238E27FC236}">
                <a16:creationId xmlns:a16="http://schemas.microsoft.com/office/drawing/2014/main" id="{D550B9B7-41FB-2C96-57B0-BDF846636F84}"/>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649358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19A27-9FE4-84C6-284F-81BF879B4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F781F-9436-D7C7-4559-18C6812126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B6B6B1-F8DD-A6B0-710A-48480D0E52B2}"/>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5</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Partitioned Fractions B</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839B904A-1F26-9430-987D-692124B68AA6}"/>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24559408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Geometric Measure B: Angles</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B</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Three-dimensional spatial structure B</a:t>
            </a:r>
            <a:br>
              <a:rPr lang="en-AU" dirty="0">
                <a:latin typeface="Public Sans"/>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B: Area</a:t>
            </a:r>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EBB3F-C560-291F-AFEB-4773F1A74B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BAB6A2-7261-D3F1-0DFE-E24FBF34B0E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68B1C48-52DE-95D5-683E-D7E2214DDE4B}"/>
                  </a:ext>
                </a:extLst>
              </p:cNvPr>
              <p:cNvSpPr>
                <a:spLocks noGrp="1"/>
              </p:cNvSpPr>
              <p:nvPr>
                <p:ph type="body" idx="1"/>
              </p:nvPr>
            </p:nvSpPr>
            <p:spPr/>
            <p:txBody>
              <a:bodyPr/>
              <a:lstStyle/>
              <a:p>
                <a:pPr>
                  <a:lnSpc>
                    <a:spcPct val="150000"/>
                  </a:lnSpc>
                  <a:spcBef>
                    <a:spcPts val="1200"/>
                  </a:spcBef>
                  <a:spcAft>
                    <a:spcPts val="600"/>
                  </a:spcAft>
                </a:pPr>
                <a:r>
                  <a:rPr lang="en-AU" sz="1800" dirty="0">
                    <a:latin typeface="Arial"/>
                    <a:cs typeface="Arial"/>
                  </a:rPr>
                  <a:t>This is a developing number sense activity. </a:t>
                </a:r>
                <a:endParaRPr lang="en-US" sz="1800" dirty="0">
                  <a:solidFill>
                    <a:srgbClr val="444444"/>
                  </a:solidFill>
                  <a:latin typeface="Arial"/>
                  <a:cs typeface="Arial"/>
                </a:endParaRPr>
              </a:p>
              <a:p>
                <a:pPr>
                  <a:lnSpc>
                    <a:spcPct val="150000"/>
                  </a:lnSpc>
                  <a:spcBef>
                    <a:spcPts val="1200"/>
                  </a:spcBef>
                  <a:spcAft>
                    <a:spcPts val="600"/>
                  </a:spcAft>
                </a:pPr>
                <a:endParaRPr lang="en-AU" sz="1800" dirty="0">
                  <a:solidFill>
                    <a:srgbClr val="444444"/>
                  </a:solidFill>
                </a:endParaRPr>
              </a:p>
              <a:p>
                <a:pPr>
                  <a:lnSpc>
                    <a:spcPct val="150000"/>
                  </a:lnSpc>
                  <a:spcBef>
                    <a:spcPts val="1200"/>
                  </a:spcBef>
                  <a:spcAft>
                    <a:spcPts val="600"/>
                  </a:spcAft>
                </a:pPr>
                <a:r>
                  <a:rPr lang="en-AU" sz="1800"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dirty="0">
                  <a:solidFill>
                    <a:srgbClr val="444444"/>
                  </a:solidFill>
                  <a:latin typeface="Arial"/>
                  <a:cs typeface="Arial"/>
                </a:endParaRPr>
              </a:p>
              <a:p>
                <a:pPr>
                  <a:lnSpc>
                    <a:spcPts val="1913"/>
                  </a:lnSpc>
                </a:pPr>
                <a:endParaRPr lang="en-AU" sz="1800" dirty="0">
                  <a:solidFill>
                    <a:srgbClr val="444444"/>
                  </a:solidFill>
                </a:endParaRPr>
              </a:p>
              <a:p>
                <a:r>
                  <a:rPr lang="en-AU" sz="1800" b="1" dirty="0">
                    <a:latin typeface="Arial"/>
                    <a:cs typeface="Arial"/>
                  </a:rPr>
                  <a:t>Syllabus focus area:</a:t>
                </a:r>
                <a:endParaRPr lang="en-US" sz="1800" dirty="0">
                  <a:solidFill>
                    <a:srgbClr val="444444"/>
                  </a:solidFill>
                  <a:latin typeface="Arial"/>
                  <a:cs typeface="Arial"/>
                </a:endParaRPr>
              </a:p>
              <a:p>
                <a:pPr marL="0" lvl="0" indent="0">
                  <a:lnSpc>
                    <a:spcPct val="150000"/>
                  </a:lnSpc>
                  <a:spcBef>
                    <a:spcPts val="1200"/>
                  </a:spcBef>
                  <a:spcAft>
                    <a:spcPts val="600"/>
                  </a:spcAft>
                  <a:buSzPts val="1100"/>
                  <a:buFont typeface="Arial" panose="020B0604020202020204" pitchFamily="34" charset="0"/>
                  <a:buNone/>
                </a:pPr>
                <a:r>
                  <a:rPr lang="en-AU" sz="1800" dirty="0"/>
                  <a:t>Partitioned fractions B </a:t>
                </a:r>
                <a:endParaRPr lang="en-AU" sz="18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endParaRPr lang="en-AU" sz="1800" dirty="0">
                  <a:solidFill>
                    <a:srgbClr val="000000"/>
                  </a:solidFill>
                  <a:effectLst/>
                  <a:latin typeface="Arial" panose="020B0604020202020204" pitchFamily="34" charset="0"/>
                  <a:ea typeface="Arial" panose="020B0604020202020204" pitchFamily="34" charset="0"/>
                </a:endParaRPr>
              </a:p>
              <a:p>
                <a:pPr marL="342900" lvl="0" indent="-342900">
                  <a:lnSpc>
                    <a:spcPct val="150000"/>
                  </a:lnSpc>
                  <a:spcBef>
                    <a:spcPts val="1200"/>
                  </a:spcBef>
                  <a:spcAft>
                    <a:spcPts val="600"/>
                  </a:spcAft>
                  <a:buFont typeface="+mj-lt"/>
                  <a:buAutoNum type="arabicPeriod"/>
                </a:pPr>
                <a:r>
                  <a:rPr lang="en-AU" sz="1800" dirty="0">
                    <a:solidFill>
                      <a:srgbClr val="000000"/>
                    </a:solidFill>
                    <a:effectLst/>
                    <a:latin typeface="Arial" panose="020B0604020202020204" pitchFamily="34" charset="0"/>
                    <a:ea typeface="Arial" panose="020B0604020202020204" pitchFamily="34" charset="0"/>
                  </a:rPr>
                  <a:t>Provide students with a copy of </a:t>
                </a:r>
                <a:r>
                  <a:rPr lang="en-AU" sz="1800" dirty="0">
                    <a:solidFill>
                      <a:srgbClr val="2F5496"/>
                    </a:solidFill>
                    <a:effectLst/>
                    <a:latin typeface="Arial" panose="020B0604020202020204" pitchFamily="34" charset="0"/>
                    <a:ea typeface="Arial" panose="020B0604020202020204" pitchFamily="34" charset="0"/>
                    <a:hlinkClick r:id="rId3"/>
                  </a:rPr>
                  <a:t>Resource 27 </a:t>
                </a:r>
                <a:r>
                  <a:rPr lang="en-AU" sz="1800" dirty="0">
                    <a:solidFill>
                      <a:srgbClr val="2F5496"/>
                    </a:solidFill>
                    <a:effectLst/>
                    <a:latin typeface="Arial" panose="020B0604020202020204" pitchFamily="34" charset="0"/>
                    <a:ea typeface="Calibri" panose="020F0502020204030204" pitchFamily="34" charset="0"/>
                    <a:hlinkClick r:id="rId3"/>
                  </a:rPr>
                  <a:t>– number line</a:t>
                </a:r>
                <a:r>
                  <a:rPr lang="en-AU" sz="1800" dirty="0">
                    <a:solidFill>
                      <a:srgbClr val="2F5496"/>
                    </a:solidFill>
                    <a:effectLst/>
                    <a:latin typeface="Arial" panose="020B0604020202020204" pitchFamily="34" charset="0"/>
                    <a:ea typeface="Calibri" panose="020F0502020204030204" pitchFamily="34" charset="0"/>
                  </a:rPr>
                  <a:t> </a:t>
                </a:r>
                <a:r>
                  <a:rPr lang="en-AU" sz="1800" dirty="0"/>
                  <a:t>(this resource corresponds to Resource 27 – number line in Stage 2, Year B Unit 39)</a:t>
                </a:r>
                <a:r>
                  <a:rPr lang="en-AU" sz="1800" dirty="0">
                    <a:effectLst/>
                    <a:latin typeface="Arial" panose="020B0604020202020204" pitchFamily="34" charset="0"/>
                    <a:ea typeface="Calibri" panose="020F0502020204030204" pitchFamily="34" charset="0"/>
                  </a:rPr>
                  <a:t>.</a:t>
                </a:r>
              </a:p>
              <a:p>
                <a:pPr marL="342900" lvl="0" indent="-342900">
                  <a:lnSpc>
                    <a:spcPct val="150000"/>
                  </a:lnSpc>
                  <a:spcBef>
                    <a:spcPts val="1200"/>
                  </a:spcBef>
                  <a:spcAft>
                    <a:spcPts val="600"/>
                  </a:spcAft>
                  <a:buFont typeface="+mj-lt"/>
                  <a:buAutoNum type="arabicPeriod"/>
                </a:pPr>
                <a:r>
                  <a:rPr lang="en-AU" sz="1800" dirty="0">
                    <a:solidFill>
                      <a:srgbClr val="000000"/>
                    </a:solidFill>
                    <a:effectLst/>
                    <a:latin typeface="Arial" panose="020B0604020202020204" pitchFamily="34" charset="0"/>
                    <a:ea typeface="Arial" panose="020B0604020202020204" pitchFamily="34" charset="0"/>
                  </a:rPr>
                  <a:t>Ask students to use the numbers provided on the number line to determine the location of the following fractions: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a:effectLst/>
                            <a:latin typeface="Cambria Math" panose="02040503050406030204" pitchFamily="18" charset="0"/>
                            <a:ea typeface="Calibri" panose="020F0502020204030204" pitchFamily="34" charset="0"/>
                          </a:rPr>
                          <m:t>1</m:t>
                        </m:r>
                      </m:num>
                      <m:den>
                        <m:r>
                          <a:rPr lang="en-AU" sz="1800">
                            <a:effectLst/>
                            <a:latin typeface="Cambria Math" panose="02040503050406030204" pitchFamily="18" charset="0"/>
                            <a:ea typeface="Calibri" panose="020F0502020204030204" pitchFamily="34" charset="0"/>
                          </a:rPr>
                          <m:t>4</m:t>
                        </m:r>
                      </m:den>
                    </m:f>
                  </m:oMath>
                </a14:m>
                <a:r>
                  <a:rPr lang="en-AU" sz="1800" dirty="0">
                    <a:effectLst/>
                    <a:latin typeface="Arial" panose="020B0604020202020204" pitchFamily="34" charset="0"/>
                    <a:ea typeface="Calibri" panose="020F0502020204030204" pitchFamily="34" charset="0"/>
                  </a:rPr>
                  <a:t>, </a:t>
                </a:r>
                <a14:m>
                  <m:oMath xmlns:m="http://schemas.openxmlformats.org/officeDocument/2006/math">
                    <m:r>
                      <a:rPr lang="en-AU" sz="1800">
                        <a:effectLst/>
                        <a:latin typeface="Cambria Math" panose="02040503050406030204" pitchFamily="18" charset="0"/>
                        <a:ea typeface="Calibri" panose="020F0502020204030204" pitchFamily="34" charset="0"/>
                      </a:rPr>
                      <m:t>1</m:t>
                    </m:r>
                    <m:f>
                      <m:fPr>
                        <m:ctrlPr>
                          <a:rPr lang="en-AU" sz="1800" i="1">
                            <a:effectLst/>
                            <a:latin typeface="Cambria Math" panose="02040503050406030204" pitchFamily="18" charset="0"/>
                            <a:ea typeface="Calibri" panose="020F0502020204030204" pitchFamily="34" charset="0"/>
                          </a:rPr>
                        </m:ctrlPr>
                      </m:fPr>
                      <m:num>
                        <m:r>
                          <a:rPr lang="en-AU" sz="1800">
                            <a:effectLst/>
                            <a:latin typeface="Cambria Math" panose="02040503050406030204" pitchFamily="18" charset="0"/>
                            <a:ea typeface="Calibri" panose="020F0502020204030204" pitchFamily="34" charset="0"/>
                          </a:rPr>
                          <m:t>3</m:t>
                        </m:r>
                      </m:num>
                      <m:den>
                        <m:r>
                          <a:rPr lang="en-AU" sz="1800">
                            <a:effectLst/>
                            <a:latin typeface="Cambria Math" panose="02040503050406030204" pitchFamily="18" charset="0"/>
                            <a:ea typeface="Calibri" panose="020F0502020204030204" pitchFamily="34" charset="0"/>
                          </a:rPr>
                          <m:t>4</m:t>
                        </m:r>
                      </m:den>
                    </m:f>
                  </m:oMath>
                </a14:m>
                <a:r>
                  <a:rPr lang="en-AU" sz="1800" dirty="0">
                    <a:effectLst/>
                    <a:latin typeface="Arial" panose="020B0604020202020204" pitchFamily="34" charset="0"/>
                    <a:ea typeface="Calibri" panose="020F0502020204030204" pitchFamily="34" charset="0"/>
                  </a:rPr>
                  <a:t>,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a:effectLst/>
                            <a:latin typeface="Cambria Math" panose="02040503050406030204" pitchFamily="18" charset="0"/>
                            <a:ea typeface="Calibri" panose="020F0502020204030204" pitchFamily="34" charset="0"/>
                          </a:rPr>
                          <m:t>1</m:t>
                        </m:r>
                      </m:num>
                      <m:den>
                        <m:r>
                          <a:rPr lang="en-AU" sz="1800">
                            <a:effectLst/>
                            <a:latin typeface="Cambria Math" panose="02040503050406030204" pitchFamily="18" charset="0"/>
                            <a:ea typeface="Calibri" panose="020F0502020204030204" pitchFamily="34" charset="0"/>
                          </a:rPr>
                          <m:t>2</m:t>
                        </m:r>
                      </m:den>
                    </m:f>
                  </m:oMath>
                </a14:m>
                <a:r>
                  <a:rPr lang="en-AU" sz="1800" dirty="0">
                    <a:effectLst/>
                    <a:latin typeface="Arial" panose="020B0604020202020204" pitchFamily="34" charset="0"/>
                    <a:ea typeface="Calibri" panose="020F0502020204030204" pitchFamily="34" charset="0"/>
                  </a:rPr>
                  <a:t>, </a:t>
                </a:r>
                <a14:m>
                  <m:oMath xmlns:m="http://schemas.openxmlformats.org/officeDocument/2006/math">
                    <m:r>
                      <a:rPr lang="en-AU" sz="1800">
                        <a:effectLst/>
                        <a:latin typeface="Cambria Math" panose="02040503050406030204" pitchFamily="18" charset="0"/>
                        <a:ea typeface="Calibri" panose="020F0502020204030204" pitchFamily="34" charset="0"/>
                      </a:rPr>
                      <m:t>1</m:t>
                    </m:r>
                    <m:f>
                      <m:fPr>
                        <m:ctrlPr>
                          <a:rPr lang="en-AU" sz="1800" i="1">
                            <a:effectLst/>
                            <a:latin typeface="Cambria Math" panose="02040503050406030204" pitchFamily="18" charset="0"/>
                            <a:ea typeface="Calibri" panose="020F0502020204030204" pitchFamily="34" charset="0"/>
                          </a:rPr>
                        </m:ctrlPr>
                      </m:fPr>
                      <m:num>
                        <m:r>
                          <a:rPr lang="en-AU" sz="1800">
                            <a:effectLst/>
                            <a:latin typeface="Cambria Math" panose="02040503050406030204" pitchFamily="18" charset="0"/>
                            <a:ea typeface="Calibri" panose="020F0502020204030204" pitchFamily="34" charset="0"/>
                          </a:rPr>
                          <m:t>2</m:t>
                        </m:r>
                      </m:num>
                      <m:den>
                        <m:r>
                          <a:rPr lang="en-AU" sz="1800">
                            <a:effectLst/>
                            <a:latin typeface="Cambria Math" panose="02040503050406030204" pitchFamily="18" charset="0"/>
                            <a:ea typeface="Calibri" panose="020F0502020204030204" pitchFamily="34" charset="0"/>
                          </a:rPr>
                          <m:t>4</m:t>
                        </m:r>
                      </m:den>
                    </m:f>
                  </m:oMath>
                </a14:m>
                <a:r>
                  <a:rPr lang="en-AU" sz="1800" dirty="0">
                    <a:effectLst/>
                    <a:latin typeface="Arial" panose="020B0604020202020204" pitchFamily="34" charset="0"/>
                    <a:ea typeface="Calibri" panose="020F0502020204030204" pitchFamily="34" charset="0"/>
                  </a:rPr>
                  <a:t>,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i="1">
                            <a:effectLst/>
                            <a:latin typeface="Cambria Math" panose="02040503050406030204" pitchFamily="18" charset="0"/>
                            <a:ea typeface="Calibri" panose="020F0502020204030204" pitchFamily="34" charset="0"/>
                          </a:rPr>
                          <m:t>5</m:t>
                        </m:r>
                      </m:num>
                      <m:den>
                        <m:r>
                          <a:rPr lang="en-AU" sz="1800" i="1">
                            <a:effectLst/>
                            <a:latin typeface="Cambria Math" panose="02040503050406030204" pitchFamily="18" charset="0"/>
                            <a:ea typeface="Calibri" panose="020F0502020204030204" pitchFamily="34" charset="0"/>
                          </a:rPr>
                          <m:t>4</m:t>
                        </m:r>
                      </m:den>
                    </m:f>
                  </m:oMath>
                </a14:m>
                <a:r>
                  <a:rPr lang="en-AU" sz="1800" dirty="0">
                    <a:effectLst/>
                    <a:latin typeface="Arial" panose="020B0604020202020204" pitchFamily="34" charset="0"/>
                    <a:ea typeface="DengXian" panose="02010600030101010101" pitchFamily="2" charset="-122"/>
                  </a:rPr>
                  <a:t>.</a:t>
                </a:r>
                <a:endParaRPr lang="en-AU" sz="1800" dirty="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dirty="0">
                    <a:solidFill>
                      <a:srgbClr val="000000"/>
                    </a:solidFill>
                    <a:effectLst/>
                    <a:latin typeface="Arial" panose="020B0604020202020204" pitchFamily="34" charset="0"/>
                    <a:ea typeface="Arial" panose="020B0604020202020204" pitchFamily="34" charset="0"/>
                  </a:rPr>
                  <a:t>Students record the fractions on their number line. </a:t>
                </a:r>
                <a:r>
                  <a:rPr lang="en-AU" sz="1800" dirty="0">
                    <a:effectLst/>
                    <a:latin typeface="Arial" panose="020B0604020202020204" pitchFamily="34" charset="0"/>
                    <a:ea typeface="Calibri" panose="020F0502020204030204" pitchFamily="34" charset="0"/>
                  </a:rPr>
                  <a:t>Ask:</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How did you place these fractions on the number line? (First identifying where 1 is placed on the number line, visualising half and half again to find quarters.)</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What knowledge did you need to draw on to identify and label </a:t>
                </a:r>
                <a14:m>
                  <m:oMath xmlns:m="http://schemas.openxmlformats.org/officeDocument/2006/math">
                    <m:f>
                      <m:fPr>
                        <m:ctrlPr>
                          <a:rPr lang="en-AU"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800">
                            <a:effectLst/>
                            <a:latin typeface="Cambria Math" panose="02040503050406030204" pitchFamily="18" charset="0"/>
                            <a:ea typeface="Calibri" panose="020F0502020204030204" pitchFamily="34" charset="0"/>
                            <a:cs typeface="Times New Roman" panose="02020603050405020304" pitchFamily="18" charset="0"/>
                          </a:rPr>
                          <m:t>5</m:t>
                        </m:r>
                      </m:num>
                      <m:den>
                        <m:r>
                          <a:rPr lang="en-AU" sz="1800">
                            <a:effectLst/>
                            <a:latin typeface="Cambria Math" panose="02040503050406030204" pitchFamily="18" charset="0"/>
                            <a:ea typeface="Calibri" panose="020F0502020204030204" pitchFamily="34" charset="0"/>
                            <a:cs typeface="Times New Roman" panose="02020603050405020304" pitchFamily="18" charset="0"/>
                          </a:rPr>
                          <m:t>4</m:t>
                        </m:r>
                      </m:den>
                    </m:f>
                  </m:oMath>
                </a14:m>
                <a:r>
                  <a:rPr lang="en-AU" sz="1800" dirty="0">
                    <a:effectLst/>
                    <a:latin typeface="Arial" panose="020B0604020202020204" pitchFamily="34" charset="0"/>
                    <a:ea typeface="Calibri" panose="020F0502020204030204" pitchFamily="34" charset="0"/>
                    <a:cs typeface="Times New Roman" panose="02020603050405020304" pitchFamily="18" charset="0"/>
                  </a:rPr>
                  <a:t>? (Renaming and regrouping fractions equal to and greater than one.)</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How could the fraction </a:t>
                </a:r>
                <a14:m>
                  <m:oMath xmlns:m="http://schemas.openxmlformats.org/officeDocument/2006/math">
                    <m:f>
                      <m:fPr>
                        <m:ctrlPr>
                          <a:rPr lang="en-AU"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800">
                            <a:effectLst/>
                            <a:latin typeface="Cambria Math" panose="02040503050406030204" pitchFamily="18" charset="0"/>
                            <a:ea typeface="Calibri" panose="020F0502020204030204" pitchFamily="34" charset="0"/>
                            <a:cs typeface="Times New Roman" panose="02020603050405020304" pitchFamily="18" charset="0"/>
                          </a:rPr>
                          <m:t>5</m:t>
                        </m:r>
                      </m:num>
                      <m:den>
                        <m:r>
                          <a:rPr lang="en-AU" sz="1800">
                            <a:effectLst/>
                            <a:latin typeface="Cambria Math" panose="02040503050406030204" pitchFamily="18" charset="0"/>
                            <a:ea typeface="Calibri" panose="020F0502020204030204" pitchFamily="34" charset="0"/>
                            <a:cs typeface="Times New Roman" panose="02020603050405020304" pitchFamily="18" charset="0"/>
                          </a:rPr>
                          <m:t>4</m:t>
                        </m:r>
                      </m:den>
                    </m:f>
                  </m:oMath>
                </a14:m>
                <a:r>
                  <a:rPr lang="en-AU" sz="1800" dirty="0">
                    <a:effectLst/>
                    <a:latin typeface="Arial" panose="020B0604020202020204" pitchFamily="34" charset="0"/>
                    <a:ea typeface="Calibri" panose="020F0502020204030204" pitchFamily="34" charset="0"/>
                    <a:cs typeface="Times New Roman" panose="02020603050405020304" pitchFamily="18" charset="0"/>
                  </a:rPr>
                  <a:t> be renamed? (</a:t>
                </a:r>
                <a14:m>
                  <m:oMath xmlns:m="http://schemas.openxmlformats.org/officeDocument/2006/math">
                    <m:r>
                      <a:rPr lang="en-AU" sz="1800">
                        <a:effectLst/>
                        <a:latin typeface="Cambria Math" panose="02040503050406030204" pitchFamily="18" charset="0"/>
                        <a:ea typeface="Calibri" panose="020F0502020204030204" pitchFamily="34" charset="0"/>
                        <a:cs typeface="Times New Roman" panose="02020603050405020304" pitchFamily="18" charset="0"/>
                      </a:rPr>
                      <m:t>1</m:t>
                    </m:r>
                    <m:f>
                      <m:fPr>
                        <m:ctrlPr>
                          <a:rPr lang="en-AU"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AU" sz="1800">
                            <a:effectLst/>
                            <a:latin typeface="Cambria Math" panose="02040503050406030204" pitchFamily="18" charset="0"/>
                            <a:ea typeface="Calibri" panose="020F0502020204030204" pitchFamily="34" charset="0"/>
                            <a:cs typeface="Times New Roman" panose="02020603050405020304" pitchFamily="18" charset="0"/>
                          </a:rPr>
                          <m:t>1</m:t>
                        </m:r>
                      </m:num>
                      <m:den>
                        <m:r>
                          <a:rPr lang="en-AU" sz="1800">
                            <a:effectLst/>
                            <a:latin typeface="Cambria Math" panose="02040503050406030204" pitchFamily="18" charset="0"/>
                            <a:ea typeface="Calibri" panose="020F0502020204030204" pitchFamily="34" charset="0"/>
                            <a:cs typeface="Times New Roman" panose="02020603050405020304" pitchFamily="18" charset="0"/>
                          </a:rPr>
                          <m:t>4</m:t>
                        </m:r>
                      </m:den>
                    </m:f>
                  </m:oMath>
                </a14:m>
                <a:r>
                  <a:rPr lang="en-AU" sz="1800" dirty="0">
                    <a:effectLst/>
                    <a:latin typeface="Arial" panose="020B0604020202020204" pitchFamily="34" charset="0"/>
                    <a:ea typeface="Calibri" panose="020F0502020204030204" pitchFamily="34" charset="0"/>
                    <a:cs typeface="Times New Roman" panose="02020603050405020304" pitchFamily="18" charset="0"/>
                  </a:rPr>
                  <a:t>)</a:t>
                </a:r>
              </a:p>
              <a:p>
                <a:pPr marL="342900" lvl="0" indent="-342900">
                  <a:lnSpc>
                    <a:spcPct val="150000"/>
                  </a:lnSpc>
                  <a:spcBef>
                    <a:spcPts val="1200"/>
                  </a:spcBef>
                  <a:spcAft>
                    <a:spcPts val="600"/>
                  </a:spcAft>
                  <a:buFont typeface="Arial" panose="020B0604020202020204" pitchFamily="34" charset="0"/>
                  <a:buChar char="•"/>
                </a:pPr>
                <a:r>
                  <a:rPr lang="en-AU" sz="1800" dirty="0">
                    <a:effectLst/>
                    <a:latin typeface="Arial" panose="020B0604020202020204" pitchFamily="34" charset="0"/>
                    <a:ea typeface="Calibri" panose="020F0502020204030204" pitchFamily="34" charset="0"/>
                    <a:cs typeface="Times New Roman" panose="02020603050405020304" pitchFamily="18" charset="0"/>
                  </a:rPr>
                  <a:t>Can you place any additional fractions on this number line?</a:t>
                </a:r>
              </a:p>
              <a:p>
                <a:pPr marL="342900" lvl="0" indent="-342900">
                  <a:lnSpc>
                    <a:spcPct val="150000"/>
                  </a:lnSpc>
                  <a:spcBef>
                    <a:spcPts val="1200"/>
                  </a:spcBef>
                  <a:spcAft>
                    <a:spcPts val="600"/>
                  </a:spcAft>
                  <a:buFont typeface="+mj-lt"/>
                  <a:buAutoNum type="arabicPeriod"/>
                </a:pPr>
                <a:r>
                  <a:rPr lang="en-AU" sz="1800" dirty="0">
                    <a:effectLst/>
                    <a:latin typeface="Arial" panose="020B0604020202020204" pitchFamily="34" charset="0"/>
                    <a:ea typeface="Calibri" panose="020F0502020204030204" pitchFamily="34" charset="0"/>
                  </a:rPr>
                  <a:t>Regroup and ask students to compare the position of the fractions on their number lines with a partner. </a:t>
                </a:r>
              </a:p>
              <a:p>
                <a:endParaRPr lang="en-AU" dirty="0"/>
              </a:p>
            </p:txBody>
          </p:sp>
        </mc:Choice>
        <mc:Fallback xmlns="">
          <p:sp>
            <p:nvSpPr>
              <p:cNvPr id="3" name="Notes Placeholder 2">
                <a:extLst>
                  <a:ext uri="{FF2B5EF4-FFF2-40B4-BE49-F238E27FC236}">
                    <a16:creationId xmlns:a16="http://schemas.microsoft.com/office/drawing/2014/main" id="{268B1C48-52DE-95D5-683E-D7E2214DDE4B}"/>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pPr marL="0" lvl="0" indent="0">
                  <a:lnSpc>
                    <a:spcPct val="150000"/>
                  </a:lnSpc>
                  <a:spcBef>
                    <a:spcPts val="1200"/>
                  </a:spcBef>
                  <a:spcAft>
                    <a:spcPts val="600"/>
                  </a:spcAft>
                  <a:buSzPts val="1100"/>
                  <a:buFont typeface="Arial" panose="020B0604020202020204" pitchFamily="34" charset="0"/>
                  <a:buNone/>
                </a:pPr>
                <a:r>
                  <a:rPr lang="en-AU" sz="1800"/>
                  <a:t>Partitioned fractions B </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endParaRPr lang="en-AU" sz="1800">
                  <a:solidFill>
                    <a:srgbClr val="000000"/>
                  </a:solidFill>
                  <a:effectLst/>
                  <a:latin typeface="Arial" panose="020B0604020202020204" pitchFamily="34" charset="0"/>
                  <a:ea typeface="Arial" panose="020B0604020202020204" pitchFamily="34" charset="0"/>
                </a:endParaRPr>
              </a:p>
              <a:p>
                <a:pPr marL="342900" lvl="0" indent="-342900">
                  <a:lnSpc>
                    <a:spcPct val="150000"/>
                  </a:lnSpc>
                  <a:spcBef>
                    <a:spcPts val="1200"/>
                  </a:spcBef>
                  <a:spcAft>
                    <a:spcPts val="600"/>
                  </a:spcAft>
                  <a:buFont typeface="+mj-lt"/>
                  <a:buAutoNum type="arabicPeriod"/>
                </a:pPr>
                <a:r>
                  <a:rPr lang="en-AU" sz="1800">
                    <a:solidFill>
                      <a:srgbClr val="000000"/>
                    </a:solidFill>
                    <a:effectLst/>
                    <a:latin typeface="Arial" panose="020B0604020202020204" pitchFamily="34" charset="0"/>
                    <a:ea typeface="Arial" panose="020B0604020202020204" pitchFamily="34" charset="0"/>
                  </a:rPr>
                  <a:t>Provide students with a copy of </a:t>
                </a:r>
                <a:r>
                  <a:rPr lang="en-AU" sz="1800">
                    <a:solidFill>
                      <a:srgbClr val="2F5496"/>
                    </a:solidFill>
                    <a:effectLst/>
                    <a:latin typeface="Arial" panose="020B0604020202020204" pitchFamily="34" charset="0"/>
                    <a:ea typeface="Arial" panose="020B0604020202020204" pitchFamily="34" charset="0"/>
                    <a:hlinkClick r:id="rId4"/>
                  </a:rPr>
                  <a:t>Resource 27 </a:t>
                </a:r>
                <a:r>
                  <a:rPr lang="en-AU" sz="1800">
                    <a:solidFill>
                      <a:srgbClr val="2F5496"/>
                    </a:solidFill>
                    <a:effectLst/>
                    <a:latin typeface="Arial" panose="020B0604020202020204" pitchFamily="34" charset="0"/>
                    <a:ea typeface="Calibri" panose="020F0502020204030204" pitchFamily="34" charset="0"/>
                    <a:hlinkClick r:id="rId4"/>
                  </a:rPr>
                  <a:t>– number line</a:t>
                </a:r>
                <a:r>
                  <a:rPr lang="en-AU" sz="1800">
                    <a:solidFill>
                      <a:srgbClr val="2F5496"/>
                    </a:solidFill>
                    <a:effectLst/>
                    <a:latin typeface="Arial" panose="020B0604020202020204" pitchFamily="34" charset="0"/>
                    <a:ea typeface="Calibri" panose="020F0502020204030204" pitchFamily="34" charset="0"/>
                  </a:rPr>
                  <a:t> </a:t>
                </a:r>
                <a:r>
                  <a:rPr lang="en-AU" sz="1800"/>
                  <a:t>(this resource corresponds to Resource 27 – number line in Stage 2, Year B Unit 39)</a:t>
                </a:r>
                <a:r>
                  <a:rPr lang="en-AU" sz="1800">
                    <a:effectLst/>
                    <a:latin typeface="Arial" panose="020B0604020202020204" pitchFamily="34" charset="0"/>
                    <a:ea typeface="Calibri" panose="020F0502020204030204" pitchFamily="34" charset="0"/>
                  </a:rPr>
                  <a:t>.</a:t>
                </a:r>
              </a:p>
              <a:p>
                <a:pPr marL="342900" lvl="0" indent="-342900">
                  <a:lnSpc>
                    <a:spcPct val="150000"/>
                  </a:lnSpc>
                  <a:spcBef>
                    <a:spcPts val="1200"/>
                  </a:spcBef>
                  <a:spcAft>
                    <a:spcPts val="600"/>
                  </a:spcAft>
                  <a:buFont typeface="+mj-lt"/>
                  <a:buAutoNum type="arabicPeriod"/>
                </a:pPr>
                <a:r>
                  <a:rPr lang="en-AU" sz="1800">
                    <a:solidFill>
                      <a:srgbClr val="000000"/>
                    </a:solidFill>
                    <a:effectLst/>
                    <a:latin typeface="Arial" panose="020B0604020202020204" pitchFamily="34" charset="0"/>
                    <a:ea typeface="Arial" panose="020B0604020202020204" pitchFamily="34" charset="0"/>
                  </a:rPr>
                  <a:t>Ask students to use the numbers provided on the number line to determine the location of the following fractions: </a:t>
                </a:r>
                <a:r>
                  <a:rPr lang="en-AU" sz="1800" i="0">
                    <a:effectLst/>
                    <a:latin typeface="Cambria Math" panose="02040503050406030204" pitchFamily="18" charset="0"/>
                    <a:ea typeface="Calibri" panose="020F0502020204030204" pitchFamily="34" charset="0"/>
                  </a:rPr>
                  <a:t>1/4</a:t>
                </a:r>
                <a:r>
                  <a:rPr lang="en-AU" sz="1800">
                    <a:effectLst/>
                    <a:latin typeface="Arial" panose="020B0604020202020204" pitchFamily="34" charset="0"/>
                    <a:ea typeface="Calibri" panose="020F0502020204030204" pitchFamily="34" charset="0"/>
                  </a:rPr>
                  <a:t>, </a:t>
                </a:r>
                <a:r>
                  <a:rPr lang="en-AU" sz="1800" i="0">
                    <a:effectLst/>
                    <a:latin typeface="Cambria Math" panose="02040503050406030204" pitchFamily="18" charset="0"/>
                    <a:ea typeface="Calibri" panose="020F0502020204030204" pitchFamily="34" charset="0"/>
                  </a:rPr>
                  <a:t>1</a:t>
                </a:r>
                <a:r>
                  <a:rPr lang="en-AU" sz="1800" i="0">
                    <a:effectLst/>
                    <a:latin typeface="Cambria Math" panose="02040503050406030204" pitchFamily="18" charset="0"/>
                  </a:rPr>
                  <a:t> </a:t>
                </a:r>
                <a:r>
                  <a:rPr lang="en-AU" sz="1800" i="0">
                    <a:effectLst/>
                    <a:latin typeface="Cambria Math" panose="02040503050406030204" pitchFamily="18" charset="0"/>
                    <a:ea typeface="Calibri" panose="020F0502020204030204" pitchFamily="34" charset="0"/>
                  </a:rPr>
                  <a:t>3/4</a:t>
                </a:r>
                <a:r>
                  <a:rPr lang="en-AU" sz="1800">
                    <a:effectLst/>
                    <a:latin typeface="Arial" panose="020B0604020202020204" pitchFamily="34" charset="0"/>
                    <a:ea typeface="Calibri" panose="020F0502020204030204" pitchFamily="34" charset="0"/>
                  </a:rPr>
                  <a:t>, </a:t>
                </a:r>
                <a:r>
                  <a:rPr lang="en-AU" sz="1800" i="0">
                    <a:effectLst/>
                    <a:latin typeface="Cambria Math" panose="02040503050406030204" pitchFamily="18" charset="0"/>
                    <a:ea typeface="Calibri" panose="020F0502020204030204" pitchFamily="34" charset="0"/>
                  </a:rPr>
                  <a:t>1/2</a:t>
                </a:r>
                <a:r>
                  <a:rPr lang="en-AU" sz="1800">
                    <a:effectLst/>
                    <a:latin typeface="Arial" panose="020B0604020202020204" pitchFamily="34" charset="0"/>
                    <a:ea typeface="Calibri" panose="020F0502020204030204" pitchFamily="34" charset="0"/>
                  </a:rPr>
                  <a:t>, </a:t>
                </a:r>
                <a:r>
                  <a:rPr lang="en-AU" sz="1800" i="0">
                    <a:effectLst/>
                    <a:latin typeface="Cambria Math" panose="02040503050406030204" pitchFamily="18" charset="0"/>
                    <a:ea typeface="Calibri" panose="020F0502020204030204" pitchFamily="34" charset="0"/>
                  </a:rPr>
                  <a:t>1</a:t>
                </a:r>
                <a:r>
                  <a:rPr lang="en-AU" sz="1800" i="0">
                    <a:effectLst/>
                    <a:latin typeface="Cambria Math" panose="02040503050406030204" pitchFamily="18" charset="0"/>
                  </a:rPr>
                  <a:t> </a:t>
                </a:r>
                <a:r>
                  <a:rPr lang="en-AU" sz="1800" i="0">
                    <a:effectLst/>
                    <a:latin typeface="Cambria Math" panose="02040503050406030204" pitchFamily="18" charset="0"/>
                    <a:ea typeface="Calibri" panose="020F0502020204030204" pitchFamily="34" charset="0"/>
                  </a:rPr>
                  <a:t>2/4</a:t>
                </a:r>
                <a:r>
                  <a:rPr lang="en-AU" sz="1800">
                    <a:effectLst/>
                    <a:latin typeface="Arial" panose="020B0604020202020204" pitchFamily="34" charset="0"/>
                    <a:ea typeface="Calibri" panose="020F0502020204030204" pitchFamily="34" charset="0"/>
                  </a:rPr>
                  <a:t>, </a:t>
                </a:r>
                <a:r>
                  <a:rPr lang="en-AU" sz="1800" i="0">
                    <a:effectLst/>
                    <a:latin typeface="Cambria Math" panose="02040503050406030204" pitchFamily="18" charset="0"/>
                    <a:ea typeface="Calibri" panose="020F0502020204030204" pitchFamily="34" charset="0"/>
                  </a:rPr>
                  <a:t>5/4</a:t>
                </a:r>
                <a:r>
                  <a:rPr lang="en-AU" sz="1800">
                    <a:effectLst/>
                    <a:latin typeface="Arial" panose="020B0604020202020204" pitchFamily="34" charset="0"/>
                    <a:ea typeface="DengXian" panose="02010600030101010101" pitchFamily="2" charset="-122"/>
                  </a:rPr>
                  <a:t>.</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a:solidFill>
                      <a:srgbClr val="000000"/>
                    </a:solidFill>
                    <a:effectLst/>
                    <a:latin typeface="Arial" panose="020B0604020202020204" pitchFamily="34" charset="0"/>
                    <a:ea typeface="Arial" panose="020B0604020202020204" pitchFamily="34" charset="0"/>
                  </a:rPr>
                  <a:t>Students record the fractions on their number line. </a:t>
                </a:r>
                <a:r>
                  <a:rPr lang="en-AU" sz="1800">
                    <a:effectLst/>
                    <a:latin typeface="Arial" panose="020B0604020202020204" pitchFamily="34" charset="0"/>
                    <a:ea typeface="Calibri" panose="020F0502020204030204" pitchFamily="34" charset="0"/>
                  </a:rPr>
                  <a:t>Ask:</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How did you place these fractions on the number line? (First identifying where 1 is placed on the number line, visualising half and half again to find quarters.)</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What knowledge did you need to draw on to identify and label </a:t>
                </a:r>
                <a:r>
                  <a:rPr lang="en-AU" sz="1800" i="0">
                    <a:effectLst/>
                    <a:latin typeface="Cambria Math" panose="02040503050406030204" pitchFamily="18" charset="0"/>
                    <a:ea typeface="Calibri" panose="020F0502020204030204" pitchFamily="34" charset="0"/>
                    <a:cs typeface="Times New Roman" panose="02020603050405020304" pitchFamily="18" charset="0"/>
                  </a:rPr>
                  <a:t>5/4</a:t>
                </a:r>
                <a:r>
                  <a:rPr lang="en-AU" sz="1800">
                    <a:effectLst/>
                    <a:latin typeface="Arial" panose="020B0604020202020204" pitchFamily="34" charset="0"/>
                    <a:ea typeface="Calibri" panose="020F0502020204030204" pitchFamily="34" charset="0"/>
                    <a:cs typeface="Times New Roman" panose="02020603050405020304" pitchFamily="18" charset="0"/>
                  </a:rPr>
                  <a:t>? (Renaming and regrouping fractions equal to and greater than one.)</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How could the fraction </a:t>
                </a:r>
                <a:r>
                  <a:rPr lang="en-AU" sz="1800" i="0">
                    <a:effectLst/>
                    <a:latin typeface="Cambria Math" panose="02040503050406030204" pitchFamily="18" charset="0"/>
                    <a:ea typeface="Calibri" panose="020F0502020204030204" pitchFamily="34" charset="0"/>
                    <a:cs typeface="Times New Roman" panose="02020603050405020304" pitchFamily="18" charset="0"/>
                  </a:rPr>
                  <a:t>5/4</a:t>
                </a:r>
                <a:r>
                  <a:rPr lang="en-AU" sz="1800">
                    <a:effectLst/>
                    <a:latin typeface="Arial" panose="020B0604020202020204" pitchFamily="34" charset="0"/>
                    <a:ea typeface="Calibri" panose="020F0502020204030204" pitchFamily="34" charset="0"/>
                    <a:cs typeface="Times New Roman" panose="02020603050405020304" pitchFamily="18" charset="0"/>
                  </a:rPr>
                  <a:t> be renamed? (</a:t>
                </a:r>
                <a:r>
                  <a:rPr lang="en-AU" sz="1800" i="0">
                    <a:effectLst/>
                    <a:latin typeface="Cambria Math" panose="02040503050406030204" pitchFamily="18" charset="0"/>
                    <a:ea typeface="Calibri" panose="020F0502020204030204" pitchFamily="34" charset="0"/>
                    <a:cs typeface="Times New Roman" panose="02020603050405020304" pitchFamily="18" charset="0"/>
                  </a:rPr>
                  <a:t>1</a:t>
                </a:r>
                <a:r>
                  <a:rPr lang="en-AU" sz="1800" i="0">
                    <a:effectLst/>
                    <a:latin typeface="Cambria Math" panose="02040503050406030204" pitchFamily="18" charset="0"/>
                    <a:cs typeface="Times New Roman" panose="02020603050405020304" pitchFamily="18" charset="0"/>
                  </a:rPr>
                  <a:t> </a:t>
                </a:r>
                <a:r>
                  <a:rPr lang="en-AU" sz="1800" i="0">
                    <a:effectLst/>
                    <a:latin typeface="Cambria Math" panose="02040503050406030204" pitchFamily="18" charset="0"/>
                    <a:ea typeface="Calibri" panose="020F0502020204030204" pitchFamily="34" charset="0"/>
                    <a:cs typeface="Times New Roman" panose="02020603050405020304" pitchFamily="18" charset="0"/>
                  </a:rPr>
                  <a:t>1/4</a:t>
                </a:r>
                <a:r>
                  <a:rPr lang="en-AU" sz="1800">
                    <a:effectLst/>
                    <a:latin typeface="Arial" panose="020B0604020202020204" pitchFamily="34" charset="0"/>
                    <a:ea typeface="Calibri" panose="020F0502020204030204" pitchFamily="34" charset="0"/>
                    <a:cs typeface="Times New Roman" panose="02020603050405020304" pitchFamily="18" charset="0"/>
                  </a:rPr>
                  <a:t>)</a:t>
                </a:r>
              </a:p>
              <a:p>
                <a:pPr marL="342900" lvl="0" indent="-342900">
                  <a:lnSpc>
                    <a:spcPct val="150000"/>
                  </a:lnSpc>
                  <a:spcBef>
                    <a:spcPts val="1200"/>
                  </a:spcBef>
                  <a:spcAft>
                    <a:spcPts val="600"/>
                  </a:spcAft>
                  <a:buFont typeface="Arial" panose="020B0604020202020204" pitchFamily="34" charset="0"/>
                  <a:buChar char="•"/>
                </a:pPr>
                <a:r>
                  <a:rPr lang="en-AU" sz="1800">
                    <a:effectLst/>
                    <a:latin typeface="Arial" panose="020B0604020202020204" pitchFamily="34" charset="0"/>
                    <a:ea typeface="Calibri" panose="020F0502020204030204" pitchFamily="34" charset="0"/>
                    <a:cs typeface="Times New Roman" panose="02020603050405020304" pitchFamily="18" charset="0"/>
                  </a:rPr>
                  <a:t>Can you place any additional fractions on this number line?</a:t>
                </a: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Regroup and ask students to compare the position of the fractions on their number lines with a partner. </a:t>
                </a:r>
              </a:p>
              <a:p>
                <a:endParaRPr lang="en-AU"/>
              </a:p>
            </p:txBody>
          </p:sp>
        </mc:Fallback>
      </mc:AlternateContent>
      <p:sp>
        <p:nvSpPr>
          <p:cNvPr id="4" name="Slide Number Placeholder 3">
            <a:extLst>
              <a:ext uri="{FF2B5EF4-FFF2-40B4-BE49-F238E27FC236}">
                <a16:creationId xmlns:a16="http://schemas.microsoft.com/office/drawing/2014/main" id="{896F700E-D565-3E0F-1967-96DC5B999BF6}"/>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9678604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3401E-A733-1504-B028-B13200874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138FF-A950-5B76-C68D-9BD01FAEF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AD94C-AE68-F4EB-C719-5FD2B54BE1C2}"/>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7)</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Partitioned Fractions B</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FCC49D05-E546-7611-8506-8D20FDB127B6}"/>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5488654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Geometric Measure B: Angles</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0979500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B</a:t>
            </a:r>
            <a:r>
              <a:rPr lang="en-AU">
                <a:latin typeface="Public Sans"/>
              </a:rPr>
              <a:t>: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Non-spatial measure B: Time</a:t>
            </a:r>
            <a:endParaRPr lang="en-AU" sz="1600" b="0" i="0">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46D7F-83C3-E1A1-6CA7-E8BBFDD05D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154E31-7EC1-A922-A316-F1008930B19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EC502BB-0D07-CD9E-1A23-B1CEB2F85911}"/>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pPr marL="0" lvl="0" indent="0">
                  <a:lnSpc>
                    <a:spcPct val="150000"/>
                  </a:lnSpc>
                  <a:spcBef>
                    <a:spcPts val="1200"/>
                  </a:spcBef>
                  <a:spcAft>
                    <a:spcPts val="600"/>
                  </a:spcAft>
                  <a:buSzPts val="1100"/>
                  <a:buFont typeface="Arial" panose="020B0604020202020204" pitchFamily="34" charset="0"/>
                  <a:buNone/>
                </a:pPr>
                <a:r>
                  <a:rPr lang="en-AU" sz="1800"/>
                  <a:t>Partitioned fractions B </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endParaRPr lang="en-AU" sz="1800">
                  <a:solidFill>
                    <a:srgbClr val="000000"/>
                  </a:solidFill>
                  <a:effectLst/>
                  <a:latin typeface="Arial" panose="020B0604020202020204" pitchFamily="34" charset="0"/>
                  <a:ea typeface="Arial" panose="020B0604020202020204" pitchFamily="34" charset="0"/>
                </a:endParaRPr>
              </a:p>
              <a:p>
                <a:pPr marL="342900" lvl="0" indent="-342900">
                  <a:lnSpc>
                    <a:spcPct val="150000"/>
                  </a:lnSpc>
                  <a:spcBef>
                    <a:spcPts val="1200"/>
                  </a:spcBef>
                  <a:spcAft>
                    <a:spcPts val="600"/>
                  </a:spcAft>
                  <a:buFont typeface="+mj-lt"/>
                  <a:buAutoNum type="arabicPeriod"/>
                  <a:tabLst>
                    <a:tab pos="228600" algn="l"/>
                  </a:tabLst>
                </a:pPr>
                <a:r>
                  <a:rPr lang="en-AU" sz="1800">
                    <a:solidFill>
                      <a:srgbClr val="000000"/>
                    </a:solidFill>
                    <a:effectLst/>
                    <a:latin typeface="Arial" panose="020B0604020202020204" pitchFamily="34" charset="0"/>
                    <a:ea typeface="Arial" panose="020B0604020202020204" pitchFamily="34" charset="0"/>
                  </a:rPr>
                  <a:t>Display </a:t>
                </a:r>
                <a:r>
                  <a:rPr lang="en-AU" sz="1800">
                    <a:solidFill>
                      <a:srgbClr val="2F5496"/>
                    </a:solidFill>
                    <a:effectLst/>
                    <a:latin typeface="Arial" panose="020B0604020202020204" pitchFamily="34" charset="0"/>
                    <a:ea typeface="Arial" panose="020B0604020202020204" pitchFamily="34" charset="0"/>
                    <a:hlinkClick r:id="rId3"/>
                  </a:rPr>
                  <a:t>Resource 28 – Ollie’s misconceptions</a:t>
                </a:r>
                <a:r>
                  <a:rPr lang="en-AU" sz="1800">
                    <a:solidFill>
                      <a:srgbClr val="2F5496"/>
                    </a:solidFill>
                    <a:effectLst/>
                    <a:latin typeface="Arial" panose="020B0604020202020204" pitchFamily="34" charset="0"/>
                    <a:ea typeface="Arial" panose="020B0604020202020204" pitchFamily="34" charset="0"/>
                  </a:rPr>
                  <a:t> </a:t>
                </a:r>
                <a:r>
                  <a:rPr lang="en-AU" sz="1800"/>
                  <a:t>(this resource corresponds to Resource 28 – Ollie’s misconceptions in Stage 2, Year B Unit 39)</a:t>
                </a:r>
                <a:r>
                  <a:rPr lang="en-AU" sz="1800">
                    <a:effectLst/>
                    <a:latin typeface="Arial" panose="020B0604020202020204" pitchFamily="34" charset="0"/>
                    <a:ea typeface="Calibri" panose="020F0502020204030204" pitchFamily="34" charset="0"/>
                  </a:rPr>
                  <a:t>. Explain that a teacher asked their class to label a 0–2 number line with as many fractions as they could. Ollie completed the task however he made some mistakes.</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Students think pair share to discuss what they notice. Ask students prompting questions from the table below to generate discussion.</a:t>
                </a:r>
              </a:p>
              <a:p>
                <a:pPr>
                  <a:lnSpc>
                    <a:spcPct val="150000"/>
                  </a:lnSpc>
                  <a:spcBef>
                    <a:spcPts val="1200"/>
                  </a:spcBef>
                  <a:spcAft>
                    <a:spcPts val="600"/>
                  </a:spcAft>
                  <a:buNone/>
                </a:pPr>
                <a:r>
                  <a:rPr lang="en-AU" sz="1800" b="1">
                    <a:solidFill>
                      <a:srgbClr val="FFFFFF"/>
                    </a:solidFill>
                    <a:effectLst/>
                    <a:latin typeface="Arial" panose="020B0604020202020204" pitchFamily="34" charset="0"/>
                    <a:ea typeface="Calibri" panose="020F0502020204030204" pitchFamily="34" charset="0"/>
                  </a:rPr>
                  <a:t>Prompts</a:t>
                </a:r>
                <a:endParaRPr lang="en-AU" sz="1800">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800" b="1">
                    <a:solidFill>
                      <a:srgbClr val="FFFFFF"/>
                    </a:solidFill>
                    <a:effectLst/>
                    <a:latin typeface="Arial" panose="020B0604020202020204" pitchFamily="34" charset="0"/>
                    <a:ea typeface="Calibri" panose="020F0502020204030204" pitchFamily="34" charset="0"/>
                  </a:rPr>
                  <a:t>Anticipated student responses</a:t>
                </a:r>
                <a:endParaRPr lang="en-AU" sz="1800">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800">
                    <a:solidFill>
                      <a:srgbClr val="000000"/>
                    </a:solidFill>
                    <a:effectLst/>
                    <a:latin typeface="Arial" panose="020B0604020202020204" pitchFamily="34" charset="0"/>
                    <a:ea typeface="Calibri" panose="020F0502020204030204" pitchFamily="34" charset="0"/>
                  </a:rPr>
                  <a:t>What mistakes did Ollie make and why do you think he made them? </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r>
                  <a:rPr lang="en-AU" sz="1800">
                    <a:solidFill>
                      <a:srgbClr val="000000"/>
                    </a:solidFill>
                    <a:effectLst/>
                    <a:latin typeface="Arial" panose="020B0604020202020204" pitchFamily="34" charset="0"/>
                    <a:ea typeface="Calibri" panose="020F0502020204030204" pitchFamily="34" charset="0"/>
                  </a:rPr>
                  <a:t>Ollie has incorrectly labelled the fractions as quarters rather than fifths. It looks like he was confused by the 4 equal-spaced marks that were recorded between the whole numbers.</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r>
                  <a:rPr lang="en-AU" sz="1800">
                    <a:solidFill>
                      <a:srgbClr val="000000"/>
                    </a:solidFill>
                    <a:effectLst/>
                    <a:latin typeface="Arial" panose="020B0604020202020204" pitchFamily="34" charset="0"/>
                    <a:ea typeface="Calibri" panose="020F0502020204030204" pitchFamily="34" charset="0"/>
                  </a:rPr>
                  <a:t>Ollie wrote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i="1">
                            <a:solidFill>
                              <a:srgbClr val="000000"/>
                            </a:solidFill>
                            <a:effectLst/>
                            <a:latin typeface="Cambria Math" panose="02040503050406030204" pitchFamily="18" charset="0"/>
                            <a:ea typeface="Calibri" panose="020F0502020204030204" pitchFamily="34" charset="0"/>
                          </a:rPr>
                          <m:t>5</m:t>
                        </m:r>
                      </m:num>
                      <m:den>
                        <m:r>
                          <a:rPr lang="en-AU" sz="1800" i="1">
                            <a:solidFill>
                              <a:srgbClr val="000000"/>
                            </a:solidFill>
                            <a:effectLst/>
                            <a:latin typeface="Cambria Math" panose="02040503050406030204" pitchFamily="18" charset="0"/>
                            <a:ea typeface="Calibri" panose="020F0502020204030204" pitchFamily="34" charset="0"/>
                          </a:rPr>
                          <m:t>4</m:t>
                        </m:r>
                      </m:den>
                    </m:f>
                  </m:oMath>
                </a14:m>
                <a:r>
                  <a:rPr lang="en-AU" sz="1800">
                    <a:solidFill>
                      <a:srgbClr val="000000"/>
                    </a:solidFill>
                    <a:effectLst/>
                    <a:latin typeface="Arial" panose="020B0604020202020204" pitchFamily="34" charset="0"/>
                    <a:ea typeface="Calibri" panose="020F0502020204030204" pitchFamily="34" charset="0"/>
                  </a:rPr>
                  <a:t> instead of </a:t>
                </a:r>
                <a14:m>
                  <m:oMath xmlns:m="http://schemas.openxmlformats.org/officeDocument/2006/math">
                    <m:r>
                      <a:rPr lang="en-AU" sz="1800" i="1">
                        <a:solidFill>
                          <a:srgbClr val="000000"/>
                        </a:solidFill>
                        <a:effectLst/>
                        <a:latin typeface="Cambria Math" panose="02040503050406030204" pitchFamily="18" charset="0"/>
                        <a:ea typeface="Calibri" panose="020F0502020204030204" pitchFamily="34" charset="0"/>
                      </a:rPr>
                      <m:t>1</m:t>
                    </m:r>
                    <m:f>
                      <m:fPr>
                        <m:ctrlPr>
                          <a:rPr lang="en-AU" sz="1800" i="1">
                            <a:effectLst/>
                            <a:latin typeface="Cambria Math" panose="02040503050406030204" pitchFamily="18" charset="0"/>
                            <a:ea typeface="Calibri" panose="020F0502020204030204" pitchFamily="34" charset="0"/>
                          </a:rPr>
                        </m:ctrlPr>
                      </m:fPr>
                      <m:num>
                        <m:r>
                          <a:rPr lang="en-AU" sz="1800" i="1">
                            <a:solidFill>
                              <a:srgbClr val="000000"/>
                            </a:solidFill>
                            <a:effectLst/>
                            <a:latin typeface="Cambria Math" panose="02040503050406030204" pitchFamily="18" charset="0"/>
                            <a:ea typeface="Calibri" panose="020F0502020204030204" pitchFamily="34" charset="0"/>
                          </a:rPr>
                          <m:t>1</m:t>
                        </m:r>
                      </m:num>
                      <m:den>
                        <m:r>
                          <a:rPr lang="en-AU" sz="1800" i="1">
                            <a:solidFill>
                              <a:srgbClr val="000000"/>
                            </a:solidFill>
                            <a:effectLst/>
                            <a:latin typeface="Cambria Math" panose="02040503050406030204" pitchFamily="18" charset="0"/>
                            <a:ea typeface="Calibri" panose="020F0502020204030204" pitchFamily="34" charset="0"/>
                          </a:rPr>
                          <m:t>5</m:t>
                        </m:r>
                      </m:den>
                    </m:f>
                  </m:oMath>
                </a14:m>
                <a:r>
                  <a:rPr lang="en-AU" sz="1800">
                    <a:solidFill>
                      <a:srgbClr val="000000"/>
                    </a:solidFill>
                    <a:effectLst/>
                    <a:latin typeface="Arial" panose="020B0604020202020204" pitchFamily="34" charset="0"/>
                    <a:ea typeface="Calibri" panose="020F0502020204030204" pitchFamily="34" charset="0"/>
                  </a:rPr>
                  <a:t> or </a:t>
                </a:r>
                <a14:m>
                  <m:oMath xmlns:m="http://schemas.openxmlformats.org/officeDocument/2006/math">
                    <m:f>
                      <m:fPr>
                        <m:ctrlPr>
                          <a:rPr lang="en-AU" sz="1800" i="1">
                            <a:effectLst/>
                            <a:latin typeface="Cambria Math" panose="02040503050406030204" pitchFamily="18" charset="0"/>
                            <a:ea typeface="Calibri" panose="020F0502020204030204" pitchFamily="34" charset="0"/>
                          </a:rPr>
                        </m:ctrlPr>
                      </m:fPr>
                      <m:num>
                        <m:r>
                          <a:rPr lang="en-AU" sz="1800" i="1">
                            <a:solidFill>
                              <a:srgbClr val="000000"/>
                            </a:solidFill>
                            <a:effectLst/>
                            <a:latin typeface="Cambria Math" panose="02040503050406030204" pitchFamily="18" charset="0"/>
                            <a:ea typeface="Calibri" panose="020F0502020204030204" pitchFamily="34" charset="0"/>
                          </a:rPr>
                          <m:t>6</m:t>
                        </m:r>
                      </m:num>
                      <m:den>
                        <m:r>
                          <a:rPr lang="en-AU" sz="1800" i="1">
                            <a:solidFill>
                              <a:srgbClr val="000000"/>
                            </a:solidFill>
                            <a:effectLst/>
                            <a:latin typeface="Cambria Math" panose="02040503050406030204" pitchFamily="18" charset="0"/>
                            <a:ea typeface="Calibri" panose="020F0502020204030204" pitchFamily="34" charset="0"/>
                          </a:rPr>
                          <m:t>5</m:t>
                        </m:r>
                      </m:den>
                    </m:f>
                  </m:oMath>
                </a14:m>
                <a:r>
                  <a:rPr lang="en-AU" sz="1800">
                    <a:solidFill>
                      <a:srgbClr val="000000"/>
                    </a:solidFill>
                    <a:effectLst/>
                    <a:latin typeface="Arial" panose="020B0604020202020204" pitchFamily="34" charset="0"/>
                    <a:ea typeface="Calibri" panose="020F0502020204030204" pitchFamily="34" charset="0"/>
                  </a:rPr>
                  <a:t>. Ollie may not realise how to rename five-fifths as one whole.</a:t>
                </a:r>
                <a:endParaRPr lang="en-AU" sz="1800">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800">
                    <a:solidFill>
                      <a:srgbClr val="000000"/>
                    </a:solidFill>
                    <a:effectLst/>
                    <a:latin typeface="Arial" panose="020B0604020202020204" pitchFamily="34" charset="0"/>
                    <a:ea typeface="Calibri" panose="020F0502020204030204" pitchFamily="34" charset="0"/>
                  </a:rPr>
                  <a:t>If you were the teacher, how would you explain and support Ollie to correct his mistakes?</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r>
                  <a:rPr lang="en-AU" sz="1800">
                    <a:solidFill>
                      <a:srgbClr val="000000"/>
                    </a:solidFill>
                    <a:effectLst/>
                    <a:latin typeface="Arial" panose="020B0604020202020204" pitchFamily="34" charset="0"/>
                    <a:ea typeface="Calibri" panose="020F0502020204030204" pitchFamily="34" charset="0"/>
                  </a:rPr>
                  <a:t>Ollie may need help to identify fifths as fractional parts created when a number line is partitioned into 5 equal parts.</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r>
                  <a:rPr lang="en-AU" sz="1800">
                    <a:solidFill>
                      <a:srgbClr val="000000"/>
                    </a:solidFill>
                    <a:effectLst/>
                    <a:latin typeface="Arial" panose="020B0604020202020204" pitchFamily="34" charset="0"/>
                    <a:ea typeface="Calibri" panose="020F0502020204030204" pitchFamily="34" charset="0"/>
                  </a:rPr>
                  <a:t>He may need help representing fractional quantities greater than one.</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Ask students to correctly draw and label the 0–2 number line on their whiteboard.</a:t>
                </a:r>
              </a:p>
              <a:p>
                <a:endParaRPr lang="en-AU"/>
              </a:p>
            </p:txBody>
          </p:sp>
        </mc:Choice>
        <mc:Fallback xmlns="">
          <p:sp>
            <p:nvSpPr>
              <p:cNvPr id="3" name="Notes Placeholder 2">
                <a:extLst>
                  <a:ext uri="{FF2B5EF4-FFF2-40B4-BE49-F238E27FC236}">
                    <a16:creationId xmlns:a16="http://schemas.microsoft.com/office/drawing/2014/main" id="{8EC502BB-0D07-CD9E-1A23-B1CEB2F85911}"/>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pPr marL="0" lvl="0" indent="0">
                  <a:lnSpc>
                    <a:spcPct val="150000"/>
                  </a:lnSpc>
                  <a:spcBef>
                    <a:spcPts val="1200"/>
                  </a:spcBef>
                  <a:spcAft>
                    <a:spcPts val="600"/>
                  </a:spcAft>
                  <a:buSzPts val="1100"/>
                  <a:buFont typeface="Arial" panose="020B0604020202020204" pitchFamily="34" charset="0"/>
                  <a:buNone/>
                </a:pPr>
                <a:r>
                  <a:rPr lang="en-AU" sz="1800"/>
                  <a:t>Partitioned fractions B </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endParaRPr lang="en-AU" sz="1800">
                  <a:solidFill>
                    <a:srgbClr val="000000"/>
                  </a:solidFill>
                  <a:effectLst/>
                  <a:latin typeface="Arial" panose="020B0604020202020204" pitchFamily="34" charset="0"/>
                  <a:ea typeface="Arial" panose="020B0604020202020204" pitchFamily="34" charset="0"/>
                </a:endParaRPr>
              </a:p>
              <a:p>
                <a:pPr marL="342900" lvl="0" indent="-342900">
                  <a:lnSpc>
                    <a:spcPct val="150000"/>
                  </a:lnSpc>
                  <a:spcBef>
                    <a:spcPts val="1200"/>
                  </a:spcBef>
                  <a:spcAft>
                    <a:spcPts val="600"/>
                  </a:spcAft>
                  <a:buFont typeface="+mj-lt"/>
                  <a:buAutoNum type="arabicPeriod"/>
                  <a:tabLst>
                    <a:tab pos="228600" algn="l"/>
                  </a:tabLst>
                </a:pPr>
                <a:r>
                  <a:rPr lang="en-AU" sz="1800">
                    <a:solidFill>
                      <a:srgbClr val="000000"/>
                    </a:solidFill>
                    <a:effectLst/>
                    <a:latin typeface="Arial" panose="020B0604020202020204" pitchFamily="34" charset="0"/>
                    <a:ea typeface="Arial" panose="020B0604020202020204" pitchFamily="34" charset="0"/>
                  </a:rPr>
                  <a:t>Display </a:t>
                </a:r>
                <a:r>
                  <a:rPr lang="en-AU" sz="1800">
                    <a:solidFill>
                      <a:srgbClr val="2F5496"/>
                    </a:solidFill>
                    <a:effectLst/>
                    <a:latin typeface="Arial" panose="020B0604020202020204" pitchFamily="34" charset="0"/>
                    <a:ea typeface="Arial" panose="020B0604020202020204" pitchFamily="34" charset="0"/>
                    <a:hlinkClick r:id="rId4"/>
                  </a:rPr>
                  <a:t>Resource 28 – Ollie’s misconceptions</a:t>
                </a:r>
                <a:r>
                  <a:rPr lang="en-AU" sz="1800">
                    <a:solidFill>
                      <a:srgbClr val="2F5496"/>
                    </a:solidFill>
                    <a:effectLst/>
                    <a:latin typeface="Arial" panose="020B0604020202020204" pitchFamily="34" charset="0"/>
                    <a:ea typeface="Arial" panose="020B0604020202020204" pitchFamily="34" charset="0"/>
                  </a:rPr>
                  <a:t> </a:t>
                </a:r>
                <a:r>
                  <a:rPr lang="en-AU" sz="1800"/>
                  <a:t>(this resource corresponds to Resource 28 – Ollie’s misconceptions in Stage 2, Year B Unit 39)</a:t>
                </a:r>
                <a:r>
                  <a:rPr lang="en-AU" sz="1800">
                    <a:effectLst/>
                    <a:latin typeface="Arial" panose="020B0604020202020204" pitchFamily="34" charset="0"/>
                    <a:ea typeface="Calibri" panose="020F0502020204030204" pitchFamily="34" charset="0"/>
                  </a:rPr>
                  <a:t>. Explain that a teacher asked their class to label a 0–2 number line with as many fractions as they could. Ollie completed the task however he made some mistakes.</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Students think pair share to discuss what they notice. Ask students prompting questions from the table below to generate discussion.</a:t>
                </a:r>
              </a:p>
              <a:p>
                <a:pPr>
                  <a:lnSpc>
                    <a:spcPct val="150000"/>
                  </a:lnSpc>
                  <a:spcBef>
                    <a:spcPts val="1200"/>
                  </a:spcBef>
                  <a:spcAft>
                    <a:spcPts val="600"/>
                  </a:spcAft>
                  <a:buNone/>
                </a:pPr>
                <a:r>
                  <a:rPr lang="en-AU" sz="1800" b="1">
                    <a:solidFill>
                      <a:srgbClr val="FFFFFF"/>
                    </a:solidFill>
                    <a:effectLst/>
                    <a:latin typeface="Arial" panose="020B0604020202020204" pitchFamily="34" charset="0"/>
                    <a:ea typeface="Calibri" panose="020F0502020204030204" pitchFamily="34" charset="0"/>
                  </a:rPr>
                  <a:t>Prompts</a:t>
                </a:r>
                <a:endParaRPr lang="en-AU" sz="1800">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800" b="1">
                    <a:solidFill>
                      <a:srgbClr val="FFFFFF"/>
                    </a:solidFill>
                    <a:effectLst/>
                    <a:latin typeface="Arial" panose="020B0604020202020204" pitchFamily="34" charset="0"/>
                    <a:ea typeface="Calibri" panose="020F0502020204030204" pitchFamily="34" charset="0"/>
                  </a:rPr>
                  <a:t>Anticipated student responses</a:t>
                </a:r>
                <a:endParaRPr lang="en-AU" sz="1800">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800">
                    <a:solidFill>
                      <a:srgbClr val="000000"/>
                    </a:solidFill>
                    <a:effectLst/>
                    <a:latin typeface="Arial" panose="020B0604020202020204" pitchFamily="34" charset="0"/>
                    <a:ea typeface="Calibri" panose="020F0502020204030204" pitchFamily="34" charset="0"/>
                  </a:rPr>
                  <a:t>What mistakes did Ollie make and why do you think he made them? </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r>
                  <a:rPr lang="en-AU" sz="1800">
                    <a:solidFill>
                      <a:srgbClr val="000000"/>
                    </a:solidFill>
                    <a:effectLst/>
                    <a:latin typeface="Arial" panose="020B0604020202020204" pitchFamily="34" charset="0"/>
                    <a:ea typeface="Calibri" panose="020F0502020204030204" pitchFamily="34" charset="0"/>
                  </a:rPr>
                  <a:t>Ollie has incorrectly labelled the fractions as quarters rather than fifths. It looks like he was confused by the 4 equal-spaced marks that were recorded between the whole numbers.</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r>
                  <a:rPr lang="en-AU" sz="1800">
                    <a:solidFill>
                      <a:srgbClr val="000000"/>
                    </a:solidFill>
                    <a:effectLst/>
                    <a:latin typeface="Arial" panose="020B0604020202020204" pitchFamily="34" charset="0"/>
                    <a:ea typeface="Calibri" panose="020F0502020204030204" pitchFamily="34" charset="0"/>
                  </a:rPr>
                  <a:t>Ollie wrote </a:t>
                </a:r>
                <a:r>
                  <a:rPr lang="en-AU" sz="1800" i="0">
                    <a:solidFill>
                      <a:srgbClr val="000000"/>
                    </a:solidFill>
                    <a:effectLst/>
                    <a:latin typeface="Cambria Math" panose="02040503050406030204" pitchFamily="18" charset="0"/>
                    <a:ea typeface="Calibri" panose="020F0502020204030204" pitchFamily="34" charset="0"/>
                  </a:rPr>
                  <a:t>5/4</a:t>
                </a:r>
                <a:r>
                  <a:rPr lang="en-AU" sz="1800">
                    <a:solidFill>
                      <a:srgbClr val="000000"/>
                    </a:solidFill>
                    <a:effectLst/>
                    <a:latin typeface="Arial" panose="020B0604020202020204" pitchFamily="34" charset="0"/>
                    <a:ea typeface="Calibri" panose="020F0502020204030204" pitchFamily="34" charset="0"/>
                  </a:rPr>
                  <a:t> instead of </a:t>
                </a:r>
                <a:r>
                  <a:rPr lang="en-AU" sz="1800" i="0">
                    <a:solidFill>
                      <a:srgbClr val="000000"/>
                    </a:solidFill>
                    <a:effectLst/>
                    <a:latin typeface="Cambria Math" panose="02040503050406030204" pitchFamily="18" charset="0"/>
                    <a:ea typeface="Calibri" panose="020F0502020204030204" pitchFamily="34" charset="0"/>
                  </a:rPr>
                  <a:t>1</a:t>
                </a:r>
                <a:r>
                  <a:rPr lang="en-AU" sz="1800" i="0">
                    <a:solidFill>
                      <a:srgbClr val="000000"/>
                    </a:solidFill>
                    <a:effectLst/>
                    <a:latin typeface="Cambria Math" panose="02040503050406030204" pitchFamily="18" charset="0"/>
                  </a:rPr>
                  <a:t> </a:t>
                </a:r>
                <a:r>
                  <a:rPr lang="en-AU" sz="1800" i="0">
                    <a:solidFill>
                      <a:srgbClr val="000000"/>
                    </a:solidFill>
                    <a:effectLst/>
                    <a:latin typeface="Cambria Math" panose="02040503050406030204" pitchFamily="18" charset="0"/>
                    <a:ea typeface="Calibri" panose="020F0502020204030204" pitchFamily="34" charset="0"/>
                  </a:rPr>
                  <a:t>1/5</a:t>
                </a:r>
                <a:r>
                  <a:rPr lang="en-AU" sz="1800">
                    <a:solidFill>
                      <a:srgbClr val="000000"/>
                    </a:solidFill>
                    <a:effectLst/>
                    <a:latin typeface="Arial" panose="020B0604020202020204" pitchFamily="34" charset="0"/>
                    <a:ea typeface="Calibri" panose="020F0502020204030204" pitchFamily="34" charset="0"/>
                  </a:rPr>
                  <a:t> or </a:t>
                </a:r>
                <a:r>
                  <a:rPr lang="en-AU" sz="1800" i="0">
                    <a:solidFill>
                      <a:srgbClr val="000000"/>
                    </a:solidFill>
                    <a:effectLst/>
                    <a:latin typeface="Cambria Math" panose="02040503050406030204" pitchFamily="18" charset="0"/>
                    <a:ea typeface="Calibri" panose="020F0502020204030204" pitchFamily="34" charset="0"/>
                  </a:rPr>
                  <a:t>6/5</a:t>
                </a:r>
                <a:r>
                  <a:rPr lang="en-AU" sz="1800">
                    <a:solidFill>
                      <a:srgbClr val="000000"/>
                    </a:solidFill>
                    <a:effectLst/>
                    <a:latin typeface="Arial" panose="020B0604020202020204" pitchFamily="34" charset="0"/>
                    <a:ea typeface="Calibri" panose="020F0502020204030204" pitchFamily="34" charset="0"/>
                  </a:rPr>
                  <a:t>. Ollie may not realise how to rename five-fifths as one whole.</a:t>
                </a:r>
                <a:endParaRPr lang="en-AU" sz="1800">
                  <a:effectLst/>
                  <a:latin typeface="Arial" panose="020B0604020202020204" pitchFamily="34" charset="0"/>
                  <a:ea typeface="Calibri" panose="020F0502020204030204" pitchFamily="34" charset="0"/>
                </a:endParaRPr>
              </a:p>
              <a:p>
                <a:pPr>
                  <a:lnSpc>
                    <a:spcPct val="150000"/>
                  </a:lnSpc>
                  <a:spcBef>
                    <a:spcPts val="1200"/>
                  </a:spcBef>
                  <a:spcAft>
                    <a:spcPts val="600"/>
                  </a:spcAft>
                  <a:buNone/>
                </a:pPr>
                <a:r>
                  <a:rPr lang="en-AU" sz="1800">
                    <a:solidFill>
                      <a:srgbClr val="000000"/>
                    </a:solidFill>
                    <a:effectLst/>
                    <a:latin typeface="Arial" panose="020B0604020202020204" pitchFamily="34" charset="0"/>
                    <a:ea typeface="Calibri" panose="020F0502020204030204" pitchFamily="34" charset="0"/>
                  </a:rPr>
                  <a:t>If you were the teacher, how would you explain and support Ollie to correct his mistakes?</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r>
                  <a:rPr lang="en-AU" sz="1800">
                    <a:solidFill>
                      <a:srgbClr val="000000"/>
                    </a:solidFill>
                    <a:effectLst/>
                    <a:latin typeface="Arial" panose="020B0604020202020204" pitchFamily="34" charset="0"/>
                    <a:ea typeface="Calibri" panose="020F0502020204030204" pitchFamily="34" charset="0"/>
                  </a:rPr>
                  <a:t>Ollie may need help to identify fifths as fractional parts created when a number line is partitioned into 5 equal parts.</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Symbol" panose="05050102010706020507" pitchFamily="18" charset="2"/>
                  <a:buChar char=""/>
                </a:pPr>
                <a:r>
                  <a:rPr lang="en-AU" sz="1800">
                    <a:solidFill>
                      <a:srgbClr val="000000"/>
                    </a:solidFill>
                    <a:effectLst/>
                    <a:latin typeface="Arial" panose="020B0604020202020204" pitchFamily="34" charset="0"/>
                    <a:ea typeface="Calibri" panose="020F0502020204030204" pitchFamily="34" charset="0"/>
                  </a:rPr>
                  <a:t>He may need help representing fractional quantities greater than one.</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pPr>
                <a:r>
                  <a:rPr lang="en-AU" sz="1800">
                    <a:effectLst/>
                    <a:latin typeface="Arial" panose="020B0604020202020204" pitchFamily="34" charset="0"/>
                    <a:ea typeface="Calibri" panose="020F0502020204030204" pitchFamily="34" charset="0"/>
                  </a:rPr>
                  <a:t>Ask students to correctly draw and label the 0–2 number line on their whiteboard.</a:t>
                </a:r>
              </a:p>
              <a:p>
                <a:endParaRPr lang="en-AU"/>
              </a:p>
            </p:txBody>
          </p:sp>
        </mc:Fallback>
      </mc:AlternateContent>
      <p:sp>
        <p:nvSpPr>
          <p:cNvPr id="4" name="Slide Number Placeholder 3">
            <a:extLst>
              <a:ext uri="{FF2B5EF4-FFF2-40B4-BE49-F238E27FC236}">
                <a16:creationId xmlns:a16="http://schemas.microsoft.com/office/drawing/2014/main" id="{DF85D717-AA2E-D15C-0C51-E89432E1C6A5}"/>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2809135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1466B-F40F-847E-734B-098B48F05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42556-2CD0-5A3D-36CA-A6C907616B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CDF7F-B8A4-E5C5-F722-9C95BD290659}"/>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7)</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Partitioned Fractions B</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3B787504-C461-7AD8-D4DE-E3D1662A5A4D}"/>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4997319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dirty="0">
                <a:solidFill>
                  <a:schemeClr val="tx1"/>
                </a:solidFill>
                <a:latin typeface="Arial"/>
                <a:cs typeface="Arial"/>
              </a:rPr>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Geometric Measure B: Angles</a:t>
            </a:r>
            <a:br>
              <a:rPr lang="en-AU" sz="1600" b="0" i="0" dirty="0">
                <a:latin typeface="Arial" panose="020B0604020202020204" pitchFamily="34" charset="0"/>
                <a:cs typeface="Arial" panose="020B0604020202020204" pitchFamily="34" charset="0"/>
              </a:rPr>
            </a:br>
            <a:endParaRPr lang="en-AU" sz="1600" b="0" i="0" dirty="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dirty="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B </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993A-B0EC-5958-6F66-C545E0BE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EA9FF-B123-5F5A-0CCF-31A0BAF3D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5045E-1C4C-8CA0-E96F-0AF9A3F0ABB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B: Volume</a:t>
            </a:r>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68A08A-0379-056A-4ADA-5D3F78B00160}"/>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5506083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E264-FD26-1A93-B2BD-52E567F5A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E50FF-7BD6-9625-55D4-41B34C434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7923A-C2D1-8735-1567-89B089B0E5F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B: 2D shape</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B998A2-AF59-C506-C149-1C00BC7EDBA9}"/>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2374680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8AF7A-7786-0154-0130-1B9E53840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BB3DF3-8098-2867-C4FC-93D1A411E6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D6D02D-DE8E-589A-553D-D123DE885D82}"/>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pPr marL="0" lvl="0" indent="0">
              <a:lnSpc>
                <a:spcPct val="150000"/>
              </a:lnSpc>
              <a:spcBef>
                <a:spcPts val="1200"/>
              </a:spcBef>
              <a:spcAft>
                <a:spcPts val="600"/>
              </a:spcAft>
              <a:buSzPts val="1100"/>
              <a:buFont typeface="Arial" panose="020B0604020202020204" pitchFamily="34" charset="0"/>
              <a:buNone/>
            </a:pPr>
            <a:r>
              <a:rPr lang="en-AU" sz="1800"/>
              <a:t>Partitioned fractions B </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Display </a:t>
            </a:r>
            <a:r>
              <a:rPr lang="en-AU" sz="1800">
                <a:solidFill>
                  <a:srgbClr val="2F5496"/>
                </a:solidFill>
                <a:effectLst/>
                <a:latin typeface="Arial" panose="020B0604020202020204" pitchFamily="34" charset="0"/>
                <a:ea typeface="Calibri" panose="020F0502020204030204" pitchFamily="34" charset="0"/>
                <a:hlinkClick r:id="rId3"/>
              </a:rPr>
              <a:t>Resource 29 – Charlie’s misconceptions</a:t>
            </a:r>
            <a:r>
              <a:rPr lang="en-AU" sz="1800">
                <a:solidFill>
                  <a:srgbClr val="2F5496"/>
                </a:solidFill>
                <a:effectLst/>
                <a:latin typeface="Arial" panose="020B0604020202020204" pitchFamily="34" charset="0"/>
                <a:ea typeface="Calibri" panose="020F0502020204030204" pitchFamily="34" charset="0"/>
              </a:rPr>
              <a:t> </a:t>
            </a:r>
            <a:r>
              <a:rPr lang="en-AU" sz="1800"/>
              <a:t>(this resource corresponds to Resource 29 – Charlie’s misconceptions in Stage 2, Year B Unit 39)</a:t>
            </a:r>
            <a:r>
              <a:rPr lang="en-AU" sz="1800">
                <a:effectLst/>
                <a:latin typeface="Arial" panose="020B0604020202020204" pitchFamily="34" charset="0"/>
                <a:ea typeface="Calibri" panose="020F0502020204030204" pitchFamily="34" charset="0"/>
              </a:rPr>
              <a:t>. Explain that Charlie labelled a 0–3 number line with as many fractions as she could but made some mistakes.</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Prompt students to turn and talk to identify Charlie’s mistakes. </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Ask students to record the correct way of labelling the 0–3 number line on an individual whiteboard.</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Regroup and select students to correctly add their fractions to the 0–3 number line on the teacher board.</a:t>
            </a:r>
          </a:p>
          <a:p>
            <a:pPr marL="342900" lvl="0" indent="-342900">
              <a:lnSpc>
                <a:spcPct val="150000"/>
              </a:lnSpc>
              <a:spcBef>
                <a:spcPts val="1200"/>
              </a:spcBef>
              <a:spcAft>
                <a:spcPts val="600"/>
              </a:spcAft>
              <a:buFont typeface="+mj-lt"/>
              <a:buAutoNum type="arabicPeriod"/>
              <a:tabLst>
                <a:tab pos="228600" algn="l"/>
              </a:tabLst>
            </a:pPr>
            <a:r>
              <a:rPr lang="en-AU" sz="1800">
                <a:effectLst/>
                <a:latin typeface="Arial" panose="020B0604020202020204" pitchFamily="34" charset="0"/>
                <a:ea typeface="Calibri" panose="020F0502020204030204" pitchFamily="34" charset="0"/>
              </a:rPr>
              <a:t>Students contribute and check their own work</a:t>
            </a:r>
          </a:p>
          <a:p>
            <a:endParaRPr lang="en-AU"/>
          </a:p>
        </p:txBody>
      </p:sp>
      <p:sp>
        <p:nvSpPr>
          <p:cNvPr id="4" name="Slide Number Placeholder 3">
            <a:extLst>
              <a:ext uri="{FF2B5EF4-FFF2-40B4-BE49-F238E27FC236}">
                <a16:creationId xmlns:a16="http://schemas.microsoft.com/office/drawing/2014/main" id="{47D97191-A83F-2A6C-BD7B-6409775AFA9C}"/>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19776608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220898705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5433774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7.png"/><Relationship Id="rId7"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2.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svg"/><Relationship Id="rId18" Type="http://schemas.openxmlformats.org/officeDocument/2006/relationships/image" Target="../media/image37.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svg"/><Relationship Id="rId2" Type="http://schemas.openxmlformats.org/officeDocument/2006/relationships/notesSlide" Target="../notesSlides/notesSlide31.xml"/><Relationship Id="rId16" Type="http://schemas.openxmlformats.org/officeDocument/2006/relationships/image" Target="../media/image35.png"/><Relationship Id="rId20" Type="http://schemas.openxmlformats.org/officeDocument/2006/relationships/image" Target="../media/image12.jpeg"/><Relationship Id="rId1" Type="http://schemas.openxmlformats.org/officeDocument/2006/relationships/slideLayout" Target="../slideLayouts/slideLayout4.xml"/><Relationship Id="rId6" Type="http://schemas.openxmlformats.org/officeDocument/2006/relationships/image" Target="../media/image25.svg"/><Relationship Id="rId11" Type="http://schemas.openxmlformats.org/officeDocument/2006/relationships/image" Target="../media/image30.svg"/><Relationship Id="rId5" Type="http://schemas.openxmlformats.org/officeDocument/2006/relationships/image" Target="../media/image24.png"/><Relationship Id="rId15" Type="http://schemas.openxmlformats.org/officeDocument/2006/relationships/image" Target="../media/image34.svg"/><Relationship Id="rId10" Type="http://schemas.openxmlformats.org/officeDocument/2006/relationships/image" Target="../media/image29.png"/><Relationship Id="rId19" Type="http://schemas.openxmlformats.org/officeDocument/2006/relationships/image" Target="../media/image38.svg"/><Relationship Id="rId4" Type="http://schemas.openxmlformats.org/officeDocument/2006/relationships/image" Target="../media/image23.svg"/><Relationship Id="rId9" Type="http://schemas.openxmlformats.org/officeDocument/2006/relationships/image" Target="../media/image28.svg"/><Relationship Id="rId1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5.xml"/><Relationship Id="rId5" Type="http://schemas.openxmlformats.org/officeDocument/2006/relationships/image" Target="../media/image40.pn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9.png"/><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12.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0.xml"/><Relationship Id="rId1" Type="http://schemas.openxmlformats.org/officeDocument/2006/relationships/slideLayout" Target="../slideLayouts/slideLayout5.xml"/><Relationship Id="rId5" Type="http://schemas.openxmlformats.org/officeDocument/2006/relationships/image" Target="../media/image51.pn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44.png"/><Relationship Id="rId7" Type="http://schemas.openxmlformats.org/officeDocument/2006/relationships/image" Target="../media/image57.png"/><Relationship Id="rId2" Type="http://schemas.openxmlformats.org/officeDocument/2006/relationships/notesSlide" Target="../notesSlides/notesSlide45.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45.png"/><Relationship Id="rId9" Type="http://schemas.openxmlformats.org/officeDocument/2006/relationships/image" Target="../media/image12.jpe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7.xml"/><Relationship Id="rId1" Type="http://schemas.openxmlformats.org/officeDocument/2006/relationships/slideLayout" Target="../slideLayouts/slideLayout5.xml"/><Relationship Id="rId5" Type="http://schemas.openxmlformats.org/officeDocument/2006/relationships/image" Target="../media/image60.png"/><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12.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4.xml"/><Relationship Id="rId1" Type="http://schemas.openxmlformats.org/officeDocument/2006/relationships/slideLayout" Target="../slideLayouts/slideLayout5.xml"/><Relationship Id="rId5" Type="http://schemas.openxmlformats.org/officeDocument/2006/relationships/image" Target="../media/image64.png"/><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8.xml"/><Relationship Id="rId4" Type="http://schemas.openxmlformats.org/officeDocument/2006/relationships/image" Target="../media/image66.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68.png"/></Relationships>
</file>

<file path=ppt/slides/_rels/slide5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12.jpe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71.svg"/><Relationship Id="rId5" Type="http://schemas.openxmlformats.org/officeDocument/2006/relationships/image" Target="../media/image70.png"/><Relationship Id="rId4" Type="http://schemas.openxmlformats.org/officeDocument/2006/relationships/slide" Target="slide5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8" Type="http://schemas.openxmlformats.org/officeDocument/2006/relationships/hyperlink" Target="https://kids.kiddle.co/High_Roller_(Ferris_wheel)" TargetMode="External"/><Relationship Id="rId13" Type="http://schemas.openxmlformats.org/officeDocument/2006/relationships/hyperlink" Target="https://curriculum.nsw.edu.au/" TargetMode="External"/><Relationship Id="rId3" Type="http://schemas.openxmlformats.org/officeDocument/2006/relationships/hyperlink" Target="https://curriculum.nsw.edu.au/learning-areas/mathematics/mathematics-k-10-2022/overview" TargetMode="External"/><Relationship Id="rId7" Type="http://schemas.openxmlformats.org/officeDocument/2006/relationships/hyperlink" Target="https://kids.kiddle.co/George_Washington_Gale_Ferris_Jr." TargetMode="External"/><Relationship Id="rId12" Type="http://schemas.openxmlformats.org/officeDocument/2006/relationships/hyperlink" Target="https://educationstandards.nsw.edu.au/wps/portal/nesa/home"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www.london-tickets.co.uk/london-eye-facts/" TargetMode="External"/><Relationship Id="rId11" Type="http://schemas.openxmlformats.org/officeDocument/2006/relationships/hyperlink" Target="https://educationstandards.nsw.edu.au/wps/portal/nesa/mini-footer/copyright" TargetMode="External"/><Relationship Id="rId5" Type="http://schemas.openxmlformats.org/officeDocument/2006/relationships/hyperlink" Target="http://www.australiancurriculum.edu.au/" TargetMode="External"/><Relationship Id="rId10" Type="http://schemas.openxmlformats.org/officeDocument/2006/relationships/hyperlink" Target="https://kids.kiddle.co/Melbourne_Star" TargetMode="External"/><Relationship Id="rId4" Type="http://schemas.openxmlformats.org/officeDocument/2006/relationships/hyperlink" Target="https://education.nsw.gov.au/teaching-and-learning/curriculum/literacy-and-numeracy/resources-for-schools/learning-progressions" TargetMode="External"/><Relationship Id="rId9" Type="http://schemas.openxmlformats.org/officeDocument/2006/relationships/hyperlink" Target="https://kids.kiddle.co/Luna_Park_Sydney"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nrich.maths.org/4965" TargetMode="External"/><Relationship Id="rId3" Type="http://schemas.openxmlformats.org/officeDocument/2006/relationships/hyperlink" Target="https://www.oxfordlearnersdictionaries.com/" TargetMode="External"/><Relationship Id="rId7" Type="http://schemas.openxmlformats.org/officeDocument/2006/relationships/hyperlink" Target="https://www.travelchinaguide.com/attraction/tianjin/eye.htm" TargetMode="External"/><Relationship Id="rId2" Type="http://schemas.openxmlformats.org/officeDocument/2006/relationships/hyperlink" Target="https://kids.kiddle.co/Singapore_Flyer" TargetMode="External"/><Relationship Id="rId1" Type="http://schemas.openxmlformats.org/officeDocument/2006/relationships/slideLayout" Target="../slideLayouts/slideLayout13.xml"/><Relationship Id="rId6" Type="http://schemas.openxmlformats.org/officeDocument/2006/relationships/hyperlink" Target="https://toytheater.com/clock/" TargetMode="External"/><Relationship Id="rId11" Type="http://schemas.openxmlformats.org/officeDocument/2006/relationships/hyperlink" Target="https://curriculum.nsw.edu.au/" TargetMode="External"/><Relationship Id="rId5" Type="http://schemas.openxmlformats.org/officeDocument/2006/relationships/hyperlink" Target="https://apps.mathlearningcenter.org/pattern-shapes/" TargetMode="External"/><Relationship Id="rId10" Type="http://schemas.openxmlformats.org/officeDocument/2006/relationships/hyperlink" Target="https://educationstandards.nsw.edu.au/wps/portal/nesa/home" TargetMode="External"/><Relationship Id="rId4" Type="http://schemas.openxmlformats.org/officeDocument/2006/relationships/hyperlink" Target="https://sunrise-sunset.org/" TargetMode="External"/><Relationship Id="rId9" Type="http://schemas.openxmlformats.org/officeDocument/2006/relationships/hyperlink" Target="https://educationstandards.nsw.edu.au/wps/portal/nesa/mini-footer/copyright"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6" name="Text Placeholder 5">
            <a:extLst>
              <a:ext uri="{FF2B5EF4-FFF2-40B4-BE49-F238E27FC236}">
                <a16:creationId xmlns:a16="http://schemas.microsoft.com/office/drawing/2014/main" id="{64121D11-9F8F-CC35-54B7-C6925E267FA9}"/>
              </a:ext>
            </a:extLst>
          </p:cNvPr>
          <p:cNvSpPr>
            <a:spLocks noGrp="1"/>
          </p:cNvSpPr>
          <p:nvPr>
            <p:ph type="body" sz="quarter" idx="18"/>
          </p:nvPr>
        </p:nvSpPr>
        <p:spPr/>
        <p:txBody>
          <a:bodyPr/>
          <a:lstStyle/>
          <a:p>
            <a:endParaRPr lang="en-AU"/>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2 Year B Unit 39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edit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a:latin typeface="+mj-lt"/>
                <a:cs typeface="Arial"/>
              </a:rPr>
              <a:t>Mathematics Stage 2 </a:t>
            </a:r>
            <a:r>
              <a:rPr lang="en-AU" sz="2400">
                <a:solidFill>
                  <a:srgbClr val="FFFFFF"/>
                </a:solidFill>
                <a:latin typeface="+mj-lt"/>
                <a:cs typeface="Arial"/>
              </a:rPr>
              <a:t>–</a:t>
            </a:r>
            <a:r>
              <a:rPr lang="en-AU" sz="2400">
                <a:latin typeface="+mj-lt"/>
                <a:cs typeface="Arial"/>
              </a:rPr>
              <a:t> Unit 39</a:t>
            </a:r>
          </a:p>
        </p:txBody>
      </p:sp>
      <p:pic>
        <p:nvPicPr>
          <p:cNvPr id="1026" name="Picture 2" descr="A group of dice on an orange surface">
            <a:extLst>
              <a:ext uri="{FF2B5EF4-FFF2-40B4-BE49-F238E27FC236}">
                <a16:creationId xmlns:a16="http://schemas.microsoft.com/office/drawing/2014/main" id="{4C45AFD8-1A65-DE91-574E-A3BA8B7840B0}"/>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1799" r="179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(1)</a:t>
            </a:r>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967577"/>
            <a:ext cx="11358861" cy="754243"/>
          </a:xfrm>
        </p:spPr>
        <p:txBody>
          <a:bodyPr vert="horz" lIns="0" tIns="0" rIns="0" bIns="0" rtlCol="0" anchor="t">
            <a:noAutofit/>
          </a:bodyPr>
          <a:lstStyle/>
          <a:p>
            <a:r>
              <a:rPr lang="en-US" sz="4400" dirty="0">
                <a:latin typeface="Arial"/>
                <a:cs typeface="Arial"/>
              </a:rPr>
              <a:t>The </a:t>
            </a:r>
            <a:r>
              <a:rPr lang="en-US" sz="4400" b="1" dirty="0">
                <a:latin typeface="Arial"/>
                <a:cs typeface="Arial"/>
              </a:rPr>
              <a:t>expanded form </a:t>
            </a:r>
            <a:r>
              <a:rPr lang="en-US" sz="4400" dirty="0">
                <a:latin typeface="Arial"/>
                <a:cs typeface="Arial"/>
              </a:rPr>
              <a:t>for 3678 is:</a:t>
            </a:r>
          </a:p>
        </p:txBody>
      </p:sp>
      <p:sp>
        <p:nvSpPr>
          <p:cNvPr id="9" name="TextBox 8">
            <a:extLst>
              <a:ext uri="{FF2B5EF4-FFF2-40B4-BE49-F238E27FC236}">
                <a16:creationId xmlns:a16="http://schemas.microsoft.com/office/drawing/2014/main" id="{17539DAC-4E92-AFE5-86E8-50C88518EFAD}"/>
              </a:ext>
            </a:extLst>
          </p:cNvPr>
          <p:cNvSpPr txBox="1"/>
          <p:nvPr/>
        </p:nvSpPr>
        <p:spPr>
          <a:xfrm>
            <a:off x="679889" y="228416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89607" y="336334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99132"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89609" y="4297903"/>
            <a:ext cx="52942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213BF0C3-EA70-69CD-39F5-736545693249}"/>
              </a:ext>
            </a:extLst>
          </p:cNvPr>
          <p:cNvPicPr>
            <a:picLocks noChangeAspect="1"/>
          </p:cNvPicPr>
          <p:nvPr/>
        </p:nvPicPr>
        <p:blipFill>
          <a:blip r:embed="rId3"/>
          <a:stretch>
            <a:fillRect/>
          </a:stretch>
        </p:blipFill>
        <p:spPr>
          <a:xfrm>
            <a:off x="10807908" y="43303"/>
            <a:ext cx="1165786" cy="1140716"/>
          </a:xfrm>
          <a:prstGeom prst="rect">
            <a:avLst/>
          </a:prstGeom>
          <a:ln>
            <a:noFill/>
          </a:ln>
        </p:spPr>
      </p:pic>
      <p:sp>
        <p:nvSpPr>
          <p:cNvPr id="5" name="TextBox 4">
            <a:extLst>
              <a:ext uri="{FF2B5EF4-FFF2-40B4-BE49-F238E27FC236}">
                <a16:creationId xmlns:a16="http://schemas.microsoft.com/office/drawing/2014/main" id="{92693564-EB07-1ABC-32E9-8FB92F2E4F70}"/>
              </a:ext>
            </a:extLst>
          </p:cNvPr>
          <p:cNvSpPr txBox="1"/>
          <p:nvPr/>
        </p:nvSpPr>
        <p:spPr>
          <a:xfrm>
            <a:off x="1247804" y="2322077"/>
            <a:ext cx="5848100" cy="712739"/>
          </a:xfrm>
          <a:prstGeom prst="rect">
            <a:avLst/>
          </a:prstGeom>
          <a:noFill/>
        </p:spPr>
        <p:txBody>
          <a:bodyPr wrap="square" lIns="0" tIns="0" rIns="0" bIns="0" rtlCol="0">
            <a:noAutofit/>
          </a:bodyPr>
          <a:lstStyle/>
          <a:p>
            <a:pPr algn="l"/>
            <a:r>
              <a:rPr lang="en-AU" sz="4400"/>
              <a:t>3000 + 7000 + 60 + 8</a:t>
            </a:r>
          </a:p>
        </p:txBody>
      </p:sp>
      <p:sp>
        <p:nvSpPr>
          <p:cNvPr id="6" name="TextBox 5">
            <a:extLst>
              <a:ext uri="{FF2B5EF4-FFF2-40B4-BE49-F238E27FC236}">
                <a16:creationId xmlns:a16="http://schemas.microsoft.com/office/drawing/2014/main" id="{87A46AD5-66D9-EE08-A72F-4B00B88F07AB}"/>
              </a:ext>
            </a:extLst>
          </p:cNvPr>
          <p:cNvSpPr txBox="1"/>
          <p:nvPr/>
        </p:nvSpPr>
        <p:spPr>
          <a:xfrm>
            <a:off x="1247804" y="3429000"/>
            <a:ext cx="5848100" cy="712739"/>
          </a:xfrm>
          <a:prstGeom prst="rect">
            <a:avLst/>
          </a:prstGeom>
          <a:noFill/>
        </p:spPr>
        <p:txBody>
          <a:bodyPr wrap="square" lIns="0" tIns="0" rIns="0" bIns="0" rtlCol="0">
            <a:noAutofit/>
          </a:bodyPr>
          <a:lstStyle/>
          <a:p>
            <a:pPr algn="l"/>
            <a:r>
              <a:rPr lang="en-AU" sz="4400"/>
              <a:t>8000 + 7000 + 60 + 3</a:t>
            </a:r>
          </a:p>
        </p:txBody>
      </p:sp>
      <p:sp>
        <p:nvSpPr>
          <p:cNvPr id="7" name="TextBox 6">
            <a:extLst>
              <a:ext uri="{FF2B5EF4-FFF2-40B4-BE49-F238E27FC236}">
                <a16:creationId xmlns:a16="http://schemas.microsoft.com/office/drawing/2014/main" id="{1A704762-5F29-4336-6B00-952738D92663}"/>
              </a:ext>
            </a:extLst>
          </p:cNvPr>
          <p:cNvSpPr txBox="1"/>
          <p:nvPr/>
        </p:nvSpPr>
        <p:spPr>
          <a:xfrm>
            <a:off x="1247804" y="4328027"/>
            <a:ext cx="5848100" cy="712739"/>
          </a:xfrm>
          <a:prstGeom prst="rect">
            <a:avLst/>
          </a:prstGeom>
          <a:noFill/>
        </p:spPr>
        <p:txBody>
          <a:bodyPr wrap="square" lIns="0" tIns="0" rIns="0" bIns="0" rtlCol="0">
            <a:noAutofit/>
          </a:bodyPr>
          <a:lstStyle/>
          <a:p>
            <a:pPr algn="l"/>
            <a:r>
              <a:rPr lang="en-AU" sz="4400"/>
              <a:t>3000 + 6000 + 70 + 7</a:t>
            </a:r>
          </a:p>
        </p:txBody>
      </p:sp>
      <p:sp>
        <p:nvSpPr>
          <p:cNvPr id="8" name="TextBox 7">
            <a:extLst>
              <a:ext uri="{FF2B5EF4-FFF2-40B4-BE49-F238E27FC236}">
                <a16:creationId xmlns:a16="http://schemas.microsoft.com/office/drawing/2014/main" id="{1FF21DAB-4AF7-71DD-60BC-B1A51A01C241}"/>
              </a:ext>
            </a:extLst>
          </p:cNvPr>
          <p:cNvSpPr txBox="1"/>
          <p:nvPr/>
        </p:nvSpPr>
        <p:spPr>
          <a:xfrm>
            <a:off x="1247804" y="5416818"/>
            <a:ext cx="5848100" cy="712739"/>
          </a:xfrm>
          <a:prstGeom prst="rect">
            <a:avLst/>
          </a:prstGeom>
          <a:noFill/>
        </p:spPr>
        <p:txBody>
          <a:bodyPr wrap="square" lIns="0" tIns="0" rIns="0" bIns="0" rtlCol="0">
            <a:noAutofit/>
          </a:bodyPr>
          <a:lstStyle/>
          <a:p>
            <a:pPr algn="l"/>
            <a:r>
              <a:rPr lang="en-AU" sz="4400"/>
              <a:t>3000 + 6000 + 70 + 8</a:t>
            </a: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(1)</a:t>
            </a:r>
          </a:p>
        </p:txBody>
      </p:sp>
      <p:sp>
        <p:nvSpPr>
          <p:cNvPr id="11" name="Picture Placeholder 10">
            <a:extLst>
              <a:ext uri="{FF2B5EF4-FFF2-40B4-BE49-F238E27FC236}">
                <a16:creationId xmlns:a16="http://schemas.microsoft.com/office/drawing/2014/main" id="{4F3FEFD7-8600-F68D-84BD-680FA1695628}"/>
              </a:ext>
            </a:extLst>
          </p:cNvPr>
          <p:cNvSpPr>
            <a:spLocks noGrp="1"/>
          </p:cNvSpPr>
          <p:nvPr>
            <p:ph type="pic" sz="quarter" idx="21"/>
          </p:nvPr>
        </p:nvSpPr>
        <p:spPr>
          <a:xfrm>
            <a:off x="283635" y="1382641"/>
            <a:ext cx="11200365" cy="4092718"/>
          </a:xfrm>
        </p:spPr>
        <p:txBody>
          <a:bodyPr/>
          <a:lstStyle/>
          <a:p>
            <a:pPr algn="ctr"/>
            <a:r>
              <a:rPr lang="en-US" sz="4400" b="1">
                <a:latin typeface="Arial"/>
                <a:cs typeface="Arial"/>
              </a:rPr>
              <a:t>Explain</a:t>
            </a:r>
            <a:r>
              <a:rPr lang="en-US" sz="4400">
                <a:latin typeface="Arial"/>
                <a:cs typeface="Arial"/>
              </a:rPr>
              <a:t> why these </a:t>
            </a:r>
            <a:r>
              <a:rPr lang="en-US" sz="4400" b="1">
                <a:latin typeface="Arial"/>
                <a:cs typeface="Arial"/>
              </a:rPr>
              <a:t>times</a:t>
            </a:r>
            <a:r>
              <a:rPr lang="en-US" sz="4400">
                <a:latin typeface="Arial"/>
                <a:cs typeface="Arial"/>
              </a:rPr>
              <a:t> are </a:t>
            </a:r>
            <a:r>
              <a:rPr lang="en-US" sz="4400" b="1">
                <a:latin typeface="Arial"/>
                <a:cs typeface="Arial"/>
              </a:rPr>
              <a:t>incorrect.</a:t>
            </a: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5CD9E655-ACD9-A77F-AC24-CF29796A2798}"/>
              </a:ext>
            </a:extLst>
          </p:cNvPr>
          <p:cNvPicPr>
            <a:picLocks noChangeAspect="1"/>
          </p:cNvPicPr>
          <p:nvPr/>
        </p:nvPicPr>
        <p:blipFill>
          <a:blip r:embed="rId3"/>
          <a:stretch>
            <a:fillRect/>
          </a:stretch>
        </p:blipFill>
        <p:spPr>
          <a:xfrm>
            <a:off x="11030476" y="268723"/>
            <a:ext cx="915500" cy="915500"/>
          </a:xfrm>
          <a:prstGeom prst="rect">
            <a:avLst/>
          </a:prstGeom>
          <a:ln>
            <a:noFill/>
          </a:ln>
        </p:spPr>
      </p:pic>
      <p:pic>
        <p:nvPicPr>
          <p:cNvPr id="6" name="Picture 5" descr="Two digital clock faces. Clock A reads 06:75 and clock B reads 55:10.">
            <a:extLst>
              <a:ext uri="{FF2B5EF4-FFF2-40B4-BE49-F238E27FC236}">
                <a16:creationId xmlns:a16="http://schemas.microsoft.com/office/drawing/2014/main" id="{4D1BFB59-E21C-514A-13D6-3B8E3AF5E44F}"/>
              </a:ext>
            </a:extLst>
          </p:cNvPr>
          <p:cNvPicPr>
            <a:picLocks noChangeAspect="1"/>
          </p:cNvPicPr>
          <p:nvPr/>
        </p:nvPicPr>
        <p:blipFill>
          <a:blip r:embed="rId4"/>
          <a:stretch>
            <a:fillRect/>
          </a:stretch>
        </p:blipFill>
        <p:spPr>
          <a:xfrm>
            <a:off x="2164446" y="2422316"/>
            <a:ext cx="7863108" cy="3694305"/>
          </a:xfrm>
          <a:prstGeom prst="rect">
            <a:avLst/>
          </a:prstGeom>
        </p:spPr>
      </p:pic>
      <p:sp>
        <p:nvSpPr>
          <p:cNvPr id="7" name="TextBox 6" descr="Two digital clocks. A- 06:75, B- 55:10.">
            <a:extLst>
              <a:ext uri="{FF2B5EF4-FFF2-40B4-BE49-F238E27FC236}">
                <a16:creationId xmlns:a16="http://schemas.microsoft.com/office/drawing/2014/main" id="{C082440F-6704-D565-8715-92ACAEF58451}"/>
              </a:ext>
            </a:extLst>
          </p:cNvPr>
          <p:cNvSpPr txBox="1"/>
          <p:nvPr/>
        </p:nvSpPr>
        <p:spPr>
          <a:xfrm>
            <a:off x="2164446" y="2643809"/>
            <a:ext cx="7863108" cy="3472812"/>
          </a:xfrm>
          <a:prstGeom prst="rect">
            <a:avLst/>
          </a:prstGeom>
          <a:noFill/>
          <a:ln>
            <a:solidFill>
              <a:srgbClr val="FF0000"/>
            </a:solidFill>
          </a:ln>
        </p:spPr>
        <p:txBody>
          <a:bodyPr wrap="square" lIns="0" tIns="0" rIns="0" bIns="0" rtlCol="0">
            <a:noAutofit/>
          </a:bodyPr>
          <a:lstStyle/>
          <a:p>
            <a:pPr algn="ctr"/>
            <a:endParaRPr lang="en-US" sz="4400">
              <a:cs typeface="Arial"/>
            </a:endParaRPr>
          </a:p>
        </p:txBody>
      </p:sp>
      <p:pic>
        <p:nvPicPr>
          <p:cNvPr id="8" name="Picture 7" descr="A red cross to mark incorrect">
            <a:extLst>
              <a:ext uri="{FF2B5EF4-FFF2-40B4-BE49-F238E27FC236}">
                <a16:creationId xmlns:a16="http://schemas.microsoft.com/office/drawing/2014/main" id="{ADCED9D6-DD8E-D65E-274F-650F1D9A35D9}"/>
              </a:ext>
            </a:extLst>
          </p:cNvPr>
          <p:cNvPicPr>
            <a:picLocks noChangeAspect="1"/>
          </p:cNvPicPr>
          <p:nvPr/>
        </p:nvPicPr>
        <p:blipFill>
          <a:blip r:embed="rId5"/>
          <a:stretch>
            <a:fillRect/>
          </a:stretch>
        </p:blipFill>
        <p:spPr>
          <a:xfrm>
            <a:off x="10317096" y="2194069"/>
            <a:ext cx="713380" cy="899480"/>
          </a:xfrm>
          <a:prstGeom prst="rect">
            <a:avLst/>
          </a:prstGeom>
        </p:spPr>
      </p:pic>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a:t>
            </a:r>
            <a:r>
              <a:rPr lang="en-US">
                <a:solidFill>
                  <a:schemeClr val="bg1"/>
                </a:solidFill>
                <a:latin typeface="Arial"/>
                <a:cs typeface="Arial"/>
              </a:rPr>
              <a:t> (2)</a:t>
            </a:r>
          </a:p>
        </p:txBody>
      </p:sp>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359999" y="5455557"/>
            <a:ext cx="11832001" cy="1026445"/>
          </a:xfrm>
        </p:spPr>
        <p:txBody>
          <a:bodyPr/>
          <a:lstStyle/>
          <a:p>
            <a:r>
              <a:rPr lang="en-US" sz="4400" b="1" dirty="0">
                <a:latin typeface="Arial"/>
                <a:cs typeface="Arial"/>
              </a:rPr>
              <a:t>Identify</a:t>
            </a:r>
            <a:r>
              <a:rPr lang="en-US" sz="4400" dirty="0">
                <a:latin typeface="Arial"/>
                <a:cs typeface="Arial"/>
              </a:rPr>
              <a:t> 3 pieces of information from this </a:t>
            </a:r>
            <a:r>
              <a:rPr lang="en-US" sz="4400" b="1" dirty="0">
                <a:latin typeface="Arial"/>
                <a:cs typeface="Arial"/>
              </a:rPr>
              <a:t>data</a:t>
            </a:r>
            <a:r>
              <a:rPr lang="en-US" sz="4400" dirty="0">
                <a:latin typeface="Arial"/>
                <a:cs typeface="Arial"/>
              </a:rPr>
              <a:t>.</a:t>
            </a:r>
            <a:endParaRPr lang="en-US" sz="4400" dirty="0">
              <a:solidFill>
                <a:srgbClr val="22272B"/>
              </a:solidFill>
            </a:endParaRPr>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A8AD6B3-D377-CD0C-D55B-8F006C042486}"/>
              </a:ext>
            </a:extLst>
          </p:cNvPr>
          <p:cNvPicPr>
            <a:picLocks noChangeAspect="1"/>
          </p:cNvPicPr>
          <p:nvPr/>
        </p:nvPicPr>
        <p:blipFill>
          <a:blip r:embed="rId3"/>
          <a:stretch>
            <a:fillRect/>
          </a:stretch>
        </p:blipFill>
        <p:spPr>
          <a:xfrm>
            <a:off x="11030476" y="268723"/>
            <a:ext cx="915500" cy="915500"/>
          </a:xfrm>
          <a:prstGeom prst="rect">
            <a:avLst/>
          </a:prstGeom>
          <a:ln>
            <a:noFill/>
          </a:ln>
        </p:spPr>
      </p:pic>
      <p:pic>
        <p:nvPicPr>
          <p:cNvPr id="6" name="Picture 5" descr=" graph representing Year 6 fundraiser student votes reading as follows: Footy toss: 75 votes, Obstacle circuit 52 votes, ring toss 35 votes, disco dance-off 65 votes, jellybean jar guessing competition 42 votes, lucky number 38 votes, prize wheel 65 votes, lucky dip 64 votes, coin toss 44 votes.">
            <a:extLst>
              <a:ext uri="{FF2B5EF4-FFF2-40B4-BE49-F238E27FC236}">
                <a16:creationId xmlns:a16="http://schemas.microsoft.com/office/drawing/2014/main" id="{BF329814-AD46-DECC-C472-6813DA3D2885}"/>
              </a:ext>
            </a:extLst>
          </p:cNvPr>
          <p:cNvPicPr>
            <a:picLocks noChangeAspect="1"/>
          </p:cNvPicPr>
          <p:nvPr/>
        </p:nvPicPr>
        <p:blipFill>
          <a:blip r:embed="rId4"/>
          <a:stretch>
            <a:fillRect/>
          </a:stretch>
        </p:blipFill>
        <p:spPr>
          <a:xfrm>
            <a:off x="1202853" y="1168274"/>
            <a:ext cx="9921147" cy="448792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7140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(3)</a:t>
            </a:r>
          </a:p>
        </p:txBody>
      </p:sp>
      <p:sp>
        <p:nvSpPr>
          <p:cNvPr id="8" name="Picture Placeholder 10">
            <a:extLst>
              <a:ext uri="{FF2B5EF4-FFF2-40B4-BE49-F238E27FC236}">
                <a16:creationId xmlns:a16="http://schemas.microsoft.com/office/drawing/2014/main" id="{C71FA276-C5C1-DB90-3082-41EDC65E643E}"/>
              </a:ext>
            </a:extLst>
          </p:cNvPr>
          <p:cNvSpPr txBox="1">
            <a:spLocks/>
          </p:cNvSpPr>
          <p:nvPr/>
        </p:nvSpPr>
        <p:spPr>
          <a:xfrm>
            <a:off x="971550" y="1335414"/>
            <a:ext cx="10152450" cy="4850204"/>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r>
              <a:rPr lang="en-US" sz="4400">
                <a:latin typeface="Arial"/>
                <a:cs typeface="Arial"/>
              </a:rPr>
            </a:br>
            <a:r>
              <a:rPr lang="en-AU" sz="4400"/>
              <a:t>If you know that 3 × 5 = 15, how could you use that </a:t>
            </a:r>
            <a:r>
              <a:rPr lang="en-AU" sz="4400" b="1"/>
              <a:t>understanding </a:t>
            </a:r>
            <a:r>
              <a:rPr lang="en-AU" sz="4400"/>
              <a:t>to quickly </a:t>
            </a:r>
            <a:r>
              <a:rPr lang="en-AU" sz="4400" b="1"/>
              <a:t>work out </a:t>
            </a:r>
            <a:r>
              <a:rPr lang="en-AU" sz="4400"/>
              <a:t>6 × 5?</a:t>
            </a:r>
            <a:endParaRPr lang="en-US" sz="4400">
              <a:solidFill>
                <a:srgbClr val="22272B"/>
              </a:solidFill>
            </a:endParaRP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68EA503-53FA-A948-785F-ED4A432D9FBB}"/>
              </a:ext>
            </a:extLst>
          </p:cNvPr>
          <p:cNvPicPr>
            <a:picLocks noChangeAspect="1"/>
          </p:cNvPicPr>
          <p:nvPr/>
        </p:nvPicPr>
        <p:blipFill>
          <a:blip r:embed="rId3"/>
          <a:stretch>
            <a:fillRect/>
          </a:stretch>
        </p:blipFill>
        <p:spPr>
          <a:xfrm>
            <a:off x="11030476" y="268723"/>
            <a:ext cx="915500" cy="915500"/>
          </a:xfrm>
          <a:prstGeom prst="rect">
            <a:avLst/>
          </a:prstGeom>
          <a:ln>
            <a:noFill/>
          </a:ln>
        </p:spPr>
      </p:pic>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(4)</a:t>
            </a:r>
          </a:p>
        </p:txBody>
      </p:sp>
      <p:pic>
        <p:nvPicPr>
          <p:cNvPr id="5" name="Picture 4" descr="image of a clipboard with a pencil recording short answer responses">
            <a:extLst>
              <a:ext uri="{FF2B5EF4-FFF2-40B4-BE49-F238E27FC236}">
                <a16:creationId xmlns:a16="http://schemas.microsoft.com/office/drawing/2014/main" id="{67A30562-E1FE-0A17-E004-1B27CE78EE7A}"/>
              </a:ext>
            </a:extLst>
          </p:cNvPr>
          <p:cNvPicPr>
            <a:picLocks noChangeAspect="1"/>
          </p:cNvPicPr>
          <p:nvPr/>
        </p:nvPicPr>
        <p:blipFill>
          <a:blip r:embed="rId3"/>
          <a:stretch>
            <a:fillRect/>
          </a:stretch>
        </p:blipFill>
        <p:spPr>
          <a:xfrm>
            <a:off x="11030476" y="268723"/>
            <a:ext cx="915500" cy="915500"/>
          </a:xfrm>
          <a:prstGeom prst="rect">
            <a:avLst/>
          </a:prstGeom>
          <a:ln>
            <a:noFill/>
          </a:ln>
        </p:spPr>
      </p:pic>
      <p:sp>
        <p:nvSpPr>
          <p:cNvPr id="8" name="Picture Placeholder 10">
            <a:extLst>
              <a:ext uri="{FF2B5EF4-FFF2-40B4-BE49-F238E27FC236}">
                <a16:creationId xmlns:a16="http://schemas.microsoft.com/office/drawing/2014/main" id="{4F57E839-D011-CAE1-48AF-4DC11C4B93AB}"/>
              </a:ext>
            </a:extLst>
          </p:cNvPr>
          <p:cNvSpPr>
            <a:spLocks noGrp="1"/>
          </p:cNvSpPr>
          <p:nvPr>
            <p:ph type="pic" sz="quarter" idx="21"/>
          </p:nvPr>
        </p:nvSpPr>
        <p:spPr>
          <a:xfrm>
            <a:off x="360000" y="1523448"/>
            <a:ext cx="4138191" cy="4502366"/>
          </a:xfrm>
        </p:spPr>
        <p:txBody>
          <a:bodyPr/>
          <a:lstStyle/>
          <a:p>
            <a:pPr algn="ctr"/>
            <a:r>
              <a:rPr lang="en-AU" sz="3600">
                <a:highlight>
                  <a:srgbClr val="FFFFFF"/>
                </a:highlight>
              </a:rPr>
              <a:t>Use </a:t>
            </a:r>
            <a:r>
              <a:rPr lang="en-AU" sz="3600" b="1">
                <a:highlight>
                  <a:srgbClr val="FFFFFF"/>
                </a:highlight>
              </a:rPr>
              <a:t>compass directions </a:t>
            </a:r>
            <a:r>
              <a:rPr lang="en-AU" sz="3600">
                <a:highlight>
                  <a:srgbClr val="FFFFFF"/>
                </a:highlight>
              </a:rPr>
              <a:t>to describe the </a:t>
            </a:r>
            <a:r>
              <a:rPr lang="en-AU" sz="3600" b="1">
                <a:highlight>
                  <a:srgbClr val="FFFFFF"/>
                </a:highlight>
              </a:rPr>
              <a:t>route</a:t>
            </a:r>
            <a:r>
              <a:rPr lang="en-AU" sz="3600">
                <a:highlight>
                  <a:srgbClr val="FFFFFF"/>
                </a:highlight>
              </a:rPr>
              <a:t> from the </a:t>
            </a:r>
            <a:r>
              <a:rPr lang="en-AU" sz="3600" b="1">
                <a:highlight>
                  <a:srgbClr val="FFFFFF"/>
                </a:highlight>
              </a:rPr>
              <a:t>surfboard to the crab</a:t>
            </a:r>
            <a:r>
              <a:rPr lang="en-AU" sz="3600">
                <a:highlight>
                  <a:srgbClr val="FFFFFF"/>
                </a:highlight>
              </a:rPr>
              <a:t>.</a:t>
            </a:r>
            <a:endParaRPr lang="en-US" sz="3600">
              <a:highlight>
                <a:srgbClr val="FFFFFF"/>
              </a:highlight>
              <a:latin typeface="Arial"/>
              <a:cs typeface="Arial"/>
            </a:endParaRPr>
          </a:p>
        </p:txBody>
      </p:sp>
      <p:pic>
        <p:nvPicPr>
          <p:cNvPr id="12" name="Picture 11" descr="A beach scene overlaid with a coordinate grid. The grid has letters A to J along the bottom (x-axis) and numbers 1 to 7 along the left side (y-axis). Objects in the scene include:&#10;&#10;A surfboard at B2&#10;&#10;A red starfish at F2 and F7&#10;&#10;Flip-flops at F2&#10;&#10;A red and white umbrella at H1&#10;&#10;Two children building a sandcastle at G4&#10;&#10;A red bucket at F4&#10;&#10;A green spade at G3&#10;&#10;A beach towel and large green leaves at H2–I3&#10;&#10;A red crab at G6&#10;&#10;A yellow flag at D2 and F5&#10;&#10;A lifebuoy at C5&#10;&#10;A turtle at E7&#10;&#10;A group of blue fish at A7 and B7&#10;&#10;Purple flip-flops at I4&#10;&#10;Compass rose at top right showing directions&#10;&#10;The background transitions from ocean (left) to beach (right), and includes palm leaves at the top and bottom right.">
            <a:extLst>
              <a:ext uri="{FF2B5EF4-FFF2-40B4-BE49-F238E27FC236}">
                <a16:creationId xmlns:a16="http://schemas.microsoft.com/office/drawing/2014/main" id="{E9B9F846-191A-013F-FB5B-DF669CFB8E2F}"/>
              </a:ext>
            </a:extLst>
          </p:cNvPr>
          <p:cNvPicPr>
            <a:picLocks noChangeAspect="1"/>
          </p:cNvPicPr>
          <p:nvPr/>
        </p:nvPicPr>
        <p:blipFill>
          <a:blip r:embed="rId4"/>
          <a:stretch>
            <a:fillRect/>
          </a:stretch>
        </p:blipFill>
        <p:spPr>
          <a:xfrm>
            <a:off x="4593916" y="1275500"/>
            <a:ext cx="7049383" cy="52225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F2BF8-0844-1B66-2428-D6F046813C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336C21-0D37-ACE9-FC6E-3BD589FA9556}"/>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itle 2">
            <a:extLst>
              <a:ext uri="{FF2B5EF4-FFF2-40B4-BE49-F238E27FC236}">
                <a16:creationId xmlns:a16="http://schemas.microsoft.com/office/drawing/2014/main" id="{DC55756D-D6AB-C4BD-0A63-E850B2609C3B}"/>
              </a:ext>
            </a:extLst>
          </p:cNvPr>
          <p:cNvSpPr>
            <a:spLocks noGrp="1"/>
          </p:cNvSpPr>
          <p:nvPr>
            <p:ph type="title"/>
          </p:nvPr>
        </p:nvSpPr>
        <p:spPr>
          <a:xfrm>
            <a:off x="360000" y="360000"/>
            <a:ext cx="11484000" cy="545601"/>
          </a:xfrm>
        </p:spPr>
        <p:txBody>
          <a:bodyPr/>
          <a:lstStyle/>
          <a:p>
            <a:r>
              <a:rPr lang="en-AU"/>
              <a:t>Activity 1 – expanded form memory</a:t>
            </a:r>
          </a:p>
        </p:txBody>
      </p:sp>
      <p:sp>
        <p:nvSpPr>
          <p:cNvPr id="6" name="TextBox 5">
            <a:extLst>
              <a:ext uri="{FF2B5EF4-FFF2-40B4-BE49-F238E27FC236}">
                <a16:creationId xmlns:a16="http://schemas.microsoft.com/office/drawing/2014/main" id="{63E3E257-7FE1-4B4B-37EC-7E1B44613DB0}"/>
              </a:ext>
            </a:extLst>
          </p:cNvPr>
          <p:cNvSpPr txBox="1"/>
          <p:nvPr/>
        </p:nvSpPr>
        <p:spPr>
          <a:xfrm>
            <a:off x="4483100" y="2103066"/>
            <a:ext cx="3225799" cy="1083733"/>
          </a:xfrm>
          <a:prstGeom prst="rect">
            <a:avLst/>
          </a:prstGeom>
          <a:noFill/>
        </p:spPr>
        <p:txBody>
          <a:bodyPr wrap="square" lIns="0" tIns="0" rIns="0" bIns="0" rtlCol="0">
            <a:noAutofit/>
          </a:bodyPr>
          <a:lstStyle/>
          <a:p>
            <a:pPr algn="l"/>
            <a:r>
              <a:rPr lang="en-AU" sz="6600">
                <a:latin typeface="Arial" panose="020B0604020202020204" pitchFamily="34" charset="0"/>
                <a:cs typeface="Arial" panose="020B0604020202020204" pitchFamily="34" charset="0"/>
              </a:rPr>
              <a:t>285 379</a:t>
            </a:r>
          </a:p>
        </p:txBody>
      </p:sp>
      <p:sp>
        <p:nvSpPr>
          <p:cNvPr id="7" name="TextBox 6">
            <a:extLst>
              <a:ext uri="{FF2B5EF4-FFF2-40B4-BE49-F238E27FC236}">
                <a16:creationId xmlns:a16="http://schemas.microsoft.com/office/drawing/2014/main" id="{1B128CD0-DFAC-5BB7-D5FF-198CDCAC4896}"/>
              </a:ext>
            </a:extLst>
          </p:cNvPr>
          <p:cNvSpPr txBox="1"/>
          <p:nvPr/>
        </p:nvSpPr>
        <p:spPr>
          <a:xfrm>
            <a:off x="1193365" y="4064000"/>
            <a:ext cx="9805267" cy="1083733"/>
          </a:xfrm>
          <a:prstGeom prst="rect">
            <a:avLst/>
          </a:prstGeom>
          <a:noFill/>
        </p:spPr>
        <p:txBody>
          <a:bodyPr wrap="square" lIns="0" tIns="0" rIns="0" bIns="0" rtlCol="0">
            <a:noAutofit/>
          </a:bodyPr>
          <a:lstStyle/>
          <a:p>
            <a:pPr algn="l"/>
            <a:r>
              <a:rPr lang="en-AU" sz="4800">
                <a:latin typeface="Arial" panose="020B0604020202020204" pitchFamily="34" charset="0"/>
                <a:cs typeface="Arial" panose="020B0604020202020204" pitchFamily="34" charset="0"/>
              </a:rPr>
              <a:t>400 000 + 30 000 + 2000 + 500 + 2</a:t>
            </a:r>
          </a:p>
        </p:txBody>
      </p:sp>
      <p:pic>
        <p:nvPicPr>
          <p:cNvPr id="2052" name="Picture 4" descr="image of a head with cogs turning inside">
            <a:extLst>
              <a:ext uri="{FF2B5EF4-FFF2-40B4-BE49-F238E27FC236}">
                <a16:creationId xmlns:a16="http://schemas.microsoft.com/office/drawing/2014/main" id="{FEF1D8B7-D66A-C5E1-2507-39DB8A7225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15968" y="88038"/>
            <a:ext cx="916032" cy="1089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952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a:latin typeface="Arial"/>
                <a:cs typeface="Arial"/>
              </a:rPr>
              <a:t>True or </a:t>
            </a:r>
            <a:r>
              <a:rPr lang="en-US">
                <a:solidFill>
                  <a:srgbClr val="002060"/>
                </a:solidFill>
                <a:latin typeface="Arial"/>
                <a:cs typeface="Arial"/>
              </a:rPr>
              <a:t>false </a:t>
            </a:r>
            <a:r>
              <a:rPr lang="en-US">
                <a:solidFill>
                  <a:schemeClr val="bg1"/>
                </a:solidFill>
                <a:latin typeface="Arial"/>
                <a:cs typeface="Arial"/>
              </a:rPr>
              <a:t>(1)</a:t>
            </a:r>
          </a:p>
        </p:txBody>
      </p:sp>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962025" y="1717386"/>
            <a:ext cx="10161976" cy="2703738"/>
          </a:xfrm>
        </p:spPr>
        <p:txBody>
          <a:bodyPr vert="horz" lIns="0" tIns="0" rIns="0" bIns="0" rtlCol="0" anchor="t">
            <a:noAutofit/>
          </a:bodyPr>
          <a:lstStyle/>
          <a:p>
            <a:pPr algn="ctr"/>
            <a:r>
              <a:rPr lang="en-US" sz="4400">
                <a:latin typeface="Arial"/>
                <a:cs typeface="Arial"/>
              </a:rPr>
              <a:t>Stacey said the </a:t>
            </a:r>
            <a:r>
              <a:rPr lang="en-US" sz="4400" b="1">
                <a:latin typeface="Arial"/>
                <a:cs typeface="Arial"/>
              </a:rPr>
              <a:t>value</a:t>
            </a:r>
            <a:r>
              <a:rPr lang="en-US" sz="4400">
                <a:latin typeface="Arial"/>
                <a:cs typeface="Arial"/>
              </a:rPr>
              <a:t> of the 7 in </a:t>
            </a:r>
            <a:r>
              <a:rPr lang="en-US" sz="4400"/>
              <a:t>4789 is 700.</a:t>
            </a:r>
          </a:p>
        </p:txBody>
      </p:sp>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3557082548"/>
              </p:ext>
            </p:extLst>
          </p:nvPr>
        </p:nvGraphicFramePr>
        <p:xfrm>
          <a:off x="2504475" y="523290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55E7DA3-5BC4-03A6-88A8-5BE8009F98DB}"/>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(5)</a:t>
            </a:r>
          </a:p>
        </p:txBody>
      </p:sp>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218537" y="1184223"/>
            <a:ext cx="6929714" cy="5341012"/>
          </a:xfrm>
        </p:spPr>
        <p:txBody>
          <a:bodyPr/>
          <a:lstStyle/>
          <a:p>
            <a:pPr algn="ctr"/>
            <a:r>
              <a:rPr lang="en-US" sz="4400" dirty="0">
                <a:latin typeface="Arial"/>
                <a:cs typeface="Arial"/>
              </a:rPr>
              <a:t>It is </a:t>
            </a:r>
            <a:r>
              <a:rPr lang="en-US" sz="4400" b="1" dirty="0">
                <a:latin typeface="Arial"/>
                <a:cs typeface="Arial"/>
              </a:rPr>
              <a:t>3:47 pm</a:t>
            </a:r>
            <a:r>
              <a:rPr lang="en-US" sz="4400" dirty="0">
                <a:latin typeface="Arial"/>
                <a:cs typeface="Arial"/>
              </a:rPr>
              <a:t>. Maggie wants to attend the Dare Devil Acrobatics at </a:t>
            </a:r>
            <a:r>
              <a:rPr lang="en-US" sz="4400" b="1" dirty="0">
                <a:latin typeface="Arial"/>
                <a:cs typeface="Arial"/>
              </a:rPr>
              <a:t>4 pm</a:t>
            </a:r>
            <a:r>
              <a:rPr lang="en-US" sz="4400" dirty="0">
                <a:latin typeface="Arial"/>
                <a:cs typeface="Arial"/>
              </a:rPr>
              <a:t>. </a:t>
            </a:r>
            <a:r>
              <a:rPr lang="en-US" sz="4400" b="1" dirty="0">
                <a:latin typeface="Arial"/>
                <a:cs typeface="Arial"/>
              </a:rPr>
              <a:t>How many minutes </a:t>
            </a:r>
            <a:r>
              <a:rPr lang="en-US" sz="4400" dirty="0">
                <a:latin typeface="Arial"/>
                <a:cs typeface="Arial"/>
              </a:rPr>
              <a:t>until </a:t>
            </a:r>
            <a:r>
              <a:rPr lang="en-US" sz="4400" b="1" dirty="0">
                <a:latin typeface="Arial"/>
                <a:cs typeface="Arial"/>
              </a:rPr>
              <a:t>4pm? </a:t>
            </a:r>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132CE01C-F128-827F-0720-032C31FF573A}"/>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mobile phone displaying ‘Shows &amp; events’ for a theme park schedule. &#10;On the first phone:&#10;Meet and greet characters, 9:00 am – 9:35 am in the entertainment pavilion. &#10;Animal show, 10:20 am – 10:50 am at the animal pavilion. &#10;The dance spectacular, 10:45 am – 11:55 am on the main stage. &#10;Feed the animals, 11:40 am – 1:10 pm in the animal pavilion.&#10;Magic show, 12:35 pm – 1:30 pm at the theatre.&#10;Lunch with the characters 1:15 pm – 2:05 pm at the food court.&#10;Character parade, 2:45pm – 3:30pm at the entertainment pavilion. &#10;Demolition derby 3:35 pm – 4:20 pm at the arena.&#10;Daredevil acrobatics, 4:00 pm – 4:35 pm at the entertainment pavilion.&#10;">
            <a:extLst>
              <a:ext uri="{FF2B5EF4-FFF2-40B4-BE49-F238E27FC236}">
                <a16:creationId xmlns:a16="http://schemas.microsoft.com/office/drawing/2014/main" id="{244EAC05-1EF9-ACD5-EB20-462B647BB634}"/>
              </a:ext>
            </a:extLst>
          </p:cNvPr>
          <p:cNvPicPr>
            <a:picLocks noChangeAspect="1"/>
          </p:cNvPicPr>
          <p:nvPr/>
        </p:nvPicPr>
        <p:blipFill>
          <a:blip r:embed="rId4"/>
          <a:srcRect r="50000" b="-1659"/>
          <a:stretch>
            <a:fillRect/>
          </a:stretch>
        </p:blipFill>
        <p:spPr>
          <a:xfrm>
            <a:off x="7280822" y="253657"/>
            <a:ext cx="3710607" cy="6350686"/>
          </a:xfrm>
          <a:prstGeom prst="rect">
            <a:avLst/>
          </a:prstGeom>
        </p:spPr>
      </p:pic>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(5)</a:t>
            </a:r>
          </a:p>
        </p:txBody>
      </p:sp>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246024" y="996878"/>
            <a:ext cx="11284715" cy="4983298"/>
          </a:xfrm>
        </p:spPr>
        <p:txBody>
          <a:bodyPr/>
          <a:lstStyle/>
          <a:p>
            <a:pPr algn="ctr"/>
            <a:r>
              <a:rPr lang="en-AU" sz="4400" dirty="0"/>
              <a:t>Create a list of categories to sort this data.</a:t>
            </a:r>
          </a:p>
          <a:p>
            <a:pPr algn="ctr"/>
            <a:endParaRPr lang="en-AU" sz="4400" dirty="0">
              <a:latin typeface="Arial"/>
              <a:cs typeface="Arial"/>
            </a:endParaRPr>
          </a:p>
          <a:p>
            <a:pPr algn="ctr"/>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132CE01C-F128-827F-0720-032C31FF573A}"/>
              </a:ext>
            </a:extLst>
          </p:cNvPr>
          <p:cNvPicPr>
            <a:picLocks noChangeAspect="1"/>
          </p:cNvPicPr>
          <p:nvPr/>
        </p:nvPicPr>
        <p:blipFill>
          <a:blip r:embed="rId3"/>
          <a:stretch>
            <a:fillRect/>
          </a:stretch>
        </p:blipFill>
        <p:spPr>
          <a:xfrm>
            <a:off x="11030476" y="268723"/>
            <a:ext cx="915500" cy="915500"/>
          </a:xfrm>
          <a:prstGeom prst="rect">
            <a:avLst/>
          </a:prstGeom>
          <a:ln>
            <a:noFill/>
          </a:ln>
        </p:spPr>
      </p:pic>
      <p:graphicFrame>
        <p:nvGraphicFramePr>
          <p:cNvPr id="5" name="Table 4">
            <a:extLst>
              <a:ext uri="{FF2B5EF4-FFF2-40B4-BE49-F238E27FC236}">
                <a16:creationId xmlns:a16="http://schemas.microsoft.com/office/drawing/2014/main" id="{9E438A3C-5D4C-D37C-2FAC-A4DB70F692D1}"/>
              </a:ext>
            </a:extLst>
          </p:cNvPr>
          <p:cNvGraphicFramePr>
            <a:graphicFrameLocks noGrp="1"/>
          </p:cNvGraphicFramePr>
          <p:nvPr>
            <p:extLst>
              <p:ext uri="{D42A27DB-BD31-4B8C-83A1-F6EECF244321}">
                <p14:modId xmlns:p14="http://schemas.microsoft.com/office/powerpoint/2010/main" val="3818024334"/>
              </p:ext>
            </p:extLst>
          </p:nvPr>
        </p:nvGraphicFramePr>
        <p:xfrm>
          <a:off x="661260" y="2304288"/>
          <a:ext cx="10732165" cy="3767164"/>
        </p:xfrm>
        <a:graphic>
          <a:graphicData uri="http://schemas.openxmlformats.org/drawingml/2006/table">
            <a:tbl>
              <a:tblPr firstRow="1" bandRow="1">
                <a:tableStyleId>{69CF1AB2-1976-4502-BF36-3FF5EA218861}</a:tableStyleId>
              </a:tblPr>
              <a:tblGrid>
                <a:gridCol w="2146433">
                  <a:extLst>
                    <a:ext uri="{9D8B030D-6E8A-4147-A177-3AD203B41FA5}">
                      <a16:colId xmlns:a16="http://schemas.microsoft.com/office/drawing/2014/main" val="3866078385"/>
                    </a:ext>
                  </a:extLst>
                </a:gridCol>
                <a:gridCol w="2146433">
                  <a:extLst>
                    <a:ext uri="{9D8B030D-6E8A-4147-A177-3AD203B41FA5}">
                      <a16:colId xmlns:a16="http://schemas.microsoft.com/office/drawing/2014/main" val="1764367537"/>
                    </a:ext>
                  </a:extLst>
                </a:gridCol>
                <a:gridCol w="2146433">
                  <a:extLst>
                    <a:ext uri="{9D8B030D-6E8A-4147-A177-3AD203B41FA5}">
                      <a16:colId xmlns:a16="http://schemas.microsoft.com/office/drawing/2014/main" val="2799016219"/>
                    </a:ext>
                  </a:extLst>
                </a:gridCol>
                <a:gridCol w="2146433">
                  <a:extLst>
                    <a:ext uri="{9D8B030D-6E8A-4147-A177-3AD203B41FA5}">
                      <a16:colId xmlns:a16="http://schemas.microsoft.com/office/drawing/2014/main" val="273309223"/>
                    </a:ext>
                  </a:extLst>
                </a:gridCol>
                <a:gridCol w="2146433">
                  <a:extLst>
                    <a:ext uri="{9D8B030D-6E8A-4147-A177-3AD203B41FA5}">
                      <a16:colId xmlns:a16="http://schemas.microsoft.com/office/drawing/2014/main" val="984432877"/>
                    </a:ext>
                  </a:extLst>
                </a:gridCol>
              </a:tblGrid>
              <a:tr h="941791">
                <a:tc>
                  <a:txBody>
                    <a:bodyPr/>
                    <a:lstStyle/>
                    <a:p>
                      <a:pPr algn="ctr"/>
                      <a:r>
                        <a:rPr lang="en-AU" sz="2000" b="1" dirty="0"/>
                        <a:t>Banana</a:t>
                      </a:r>
                    </a:p>
                  </a:txBody>
                  <a:tcPr anchor="ctr"/>
                </a:tc>
                <a:tc>
                  <a:txBody>
                    <a:bodyPr/>
                    <a:lstStyle/>
                    <a:p>
                      <a:pPr algn="ctr"/>
                      <a:r>
                        <a:rPr lang="en-AU" sz="2000" b="1" dirty="0"/>
                        <a:t>Socks</a:t>
                      </a:r>
                    </a:p>
                  </a:txBody>
                  <a:tcPr anchor="ctr"/>
                </a:tc>
                <a:tc>
                  <a:txBody>
                    <a:bodyPr/>
                    <a:lstStyle/>
                    <a:p>
                      <a:pPr algn="ctr"/>
                      <a:r>
                        <a:rPr lang="en-AU" sz="2000" b="1" dirty="0"/>
                        <a:t>Elephant</a:t>
                      </a:r>
                    </a:p>
                  </a:txBody>
                  <a:tcPr anchor="ctr"/>
                </a:tc>
                <a:tc>
                  <a:txBody>
                    <a:bodyPr/>
                    <a:lstStyle/>
                    <a:p>
                      <a:pPr algn="ctr"/>
                      <a:r>
                        <a:rPr lang="en-AU" sz="2000" b="1" dirty="0"/>
                        <a:t>Dog</a:t>
                      </a:r>
                    </a:p>
                  </a:txBody>
                  <a:tcPr anchor="ctr"/>
                </a:tc>
                <a:tc>
                  <a:txBody>
                    <a:bodyPr/>
                    <a:lstStyle/>
                    <a:p>
                      <a:pPr algn="ctr"/>
                      <a:r>
                        <a:rPr lang="en-AU" sz="2000" b="1" dirty="0"/>
                        <a:t>Carrot</a:t>
                      </a:r>
                    </a:p>
                  </a:txBody>
                  <a:tcPr anchor="ctr"/>
                </a:tc>
                <a:extLst>
                  <a:ext uri="{0D108BD9-81ED-4DB2-BD59-A6C34878D82A}">
                    <a16:rowId xmlns:a16="http://schemas.microsoft.com/office/drawing/2014/main" val="3830935450"/>
                  </a:ext>
                </a:extLst>
              </a:tr>
              <a:tr h="941791">
                <a:tc>
                  <a:txBody>
                    <a:bodyPr/>
                    <a:lstStyle/>
                    <a:p>
                      <a:pPr algn="ctr"/>
                      <a:r>
                        <a:rPr lang="en-AU" sz="2000" b="1" dirty="0"/>
                        <a:t>Train</a:t>
                      </a:r>
                    </a:p>
                  </a:txBody>
                  <a:tcPr anchor="ctr"/>
                </a:tc>
                <a:tc>
                  <a:txBody>
                    <a:bodyPr/>
                    <a:lstStyle/>
                    <a:p>
                      <a:pPr algn="ctr"/>
                      <a:r>
                        <a:rPr lang="en-AU" sz="2000" b="1" dirty="0"/>
                        <a:t>Helicopter</a:t>
                      </a:r>
                    </a:p>
                  </a:txBody>
                  <a:tcPr anchor="ctr"/>
                </a:tc>
                <a:tc>
                  <a:txBody>
                    <a:bodyPr/>
                    <a:lstStyle/>
                    <a:p>
                      <a:pPr algn="ctr"/>
                      <a:r>
                        <a:rPr lang="en-AU" sz="2000" b="1" dirty="0"/>
                        <a:t>School bag</a:t>
                      </a:r>
                    </a:p>
                  </a:txBody>
                  <a:tcPr anchor="ctr"/>
                </a:tc>
                <a:tc>
                  <a:txBody>
                    <a:bodyPr/>
                    <a:lstStyle/>
                    <a:p>
                      <a:pPr algn="ctr"/>
                      <a:r>
                        <a:rPr lang="en-AU" sz="2000" b="1" dirty="0"/>
                        <a:t>T-Shirt</a:t>
                      </a:r>
                    </a:p>
                  </a:txBody>
                  <a:tcPr anchor="ctr"/>
                </a:tc>
                <a:tc>
                  <a:txBody>
                    <a:bodyPr/>
                    <a:lstStyle/>
                    <a:p>
                      <a:pPr algn="ctr"/>
                      <a:r>
                        <a:rPr lang="en-AU" sz="2000" b="1" dirty="0"/>
                        <a:t>Spoon</a:t>
                      </a:r>
                    </a:p>
                  </a:txBody>
                  <a:tcPr anchor="ctr"/>
                </a:tc>
                <a:extLst>
                  <a:ext uri="{0D108BD9-81ED-4DB2-BD59-A6C34878D82A}">
                    <a16:rowId xmlns:a16="http://schemas.microsoft.com/office/drawing/2014/main" val="1955230357"/>
                  </a:ext>
                </a:extLst>
              </a:tr>
              <a:tr h="941791">
                <a:tc>
                  <a:txBody>
                    <a:bodyPr/>
                    <a:lstStyle/>
                    <a:p>
                      <a:pPr algn="ctr"/>
                      <a:r>
                        <a:rPr lang="en-AU" sz="2000" b="1" dirty="0"/>
                        <a:t>Orange juice</a:t>
                      </a:r>
                    </a:p>
                  </a:txBody>
                  <a:tcPr anchor="ctr"/>
                </a:tc>
                <a:tc>
                  <a:txBody>
                    <a:bodyPr/>
                    <a:lstStyle/>
                    <a:p>
                      <a:pPr algn="ctr"/>
                      <a:r>
                        <a:rPr lang="en-AU" sz="2000" b="1" dirty="0"/>
                        <a:t>Chair</a:t>
                      </a:r>
                    </a:p>
                  </a:txBody>
                  <a:tcPr anchor="ctr"/>
                </a:tc>
                <a:tc>
                  <a:txBody>
                    <a:bodyPr/>
                    <a:lstStyle/>
                    <a:p>
                      <a:pPr algn="ctr"/>
                      <a:r>
                        <a:rPr lang="en-AU" sz="2000" b="1" dirty="0"/>
                        <a:t>Fish</a:t>
                      </a:r>
                    </a:p>
                  </a:txBody>
                  <a:tcPr anchor="ctr"/>
                </a:tc>
                <a:tc>
                  <a:txBody>
                    <a:bodyPr/>
                    <a:lstStyle/>
                    <a:p>
                      <a:pPr algn="ctr"/>
                      <a:r>
                        <a:rPr lang="en-AU" sz="2000" b="1" dirty="0"/>
                        <a:t>Truck</a:t>
                      </a:r>
                    </a:p>
                  </a:txBody>
                  <a:tcPr anchor="ctr"/>
                </a:tc>
                <a:tc>
                  <a:txBody>
                    <a:bodyPr/>
                    <a:lstStyle/>
                    <a:p>
                      <a:pPr algn="ctr"/>
                      <a:r>
                        <a:rPr lang="en-AU" sz="2000" b="1" dirty="0"/>
                        <a:t>Shoes</a:t>
                      </a:r>
                    </a:p>
                  </a:txBody>
                  <a:tcPr anchor="ctr"/>
                </a:tc>
                <a:extLst>
                  <a:ext uri="{0D108BD9-81ED-4DB2-BD59-A6C34878D82A}">
                    <a16:rowId xmlns:a16="http://schemas.microsoft.com/office/drawing/2014/main" val="1848049404"/>
                  </a:ext>
                </a:extLst>
              </a:tr>
              <a:tr h="941791">
                <a:tc>
                  <a:txBody>
                    <a:bodyPr/>
                    <a:lstStyle/>
                    <a:p>
                      <a:pPr algn="ctr"/>
                      <a:r>
                        <a:rPr lang="en-AU" sz="2000" b="1" dirty="0"/>
                        <a:t>Hat</a:t>
                      </a:r>
                    </a:p>
                  </a:txBody>
                  <a:tcPr anchor="ctr"/>
                </a:tc>
                <a:tc>
                  <a:txBody>
                    <a:bodyPr/>
                    <a:lstStyle/>
                    <a:p>
                      <a:pPr algn="ctr"/>
                      <a:r>
                        <a:rPr lang="en-AU" sz="2000" b="1" dirty="0"/>
                        <a:t>Watermelon</a:t>
                      </a:r>
                    </a:p>
                  </a:txBody>
                  <a:tcPr anchor="ctr"/>
                </a:tc>
                <a:tc>
                  <a:txBody>
                    <a:bodyPr/>
                    <a:lstStyle/>
                    <a:p>
                      <a:pPr algn="ctr"/>
                      <a:r>
                        <a:rPr lang="en-AU" sz="2000" b="1" dirty="0"/>
                        <a:t>Bike</a:t>
                      </a:r>
                    </a:p>
                  </a:txBody>
                  <a:tcPr anchor="ctr"/>
                </a:tc>
                <a:tc>
                  <a:txBody>
                    <a:bodyPr/>
                    <a:lstStyle/>
                    <a:p>
                      <a:pPr algn="ctr"/>
                      <a:r>
                        <a:rPr lang="en-AU" sz="2000" b="1" dirty="0"/>
                        <a:t>Gloves</a:t>
                      </a:r>
                    </a:p>
                  </a:txBody>
                  <a:tcPr anchor="ctr"/>
                </a:tc>
                <a:tc>
                  <a:txBody>
                    <a:bodyPr/>
                    <a:lstStyle/>
                    <a:p>
                      <a:pPr algn="ctr"/>
                      <a:r>
                        <a:rPr lang="en-AU" sz="2000" b="1" dirty="0"/>
                        <a:t>Penguin </a:t>
                      </a:r>
                    </a:p>
                  </a:txBody>
                  <a:tcPr anchor="ctr"/>
                </a:tc>
                <a:extLst>
                  <a:ext uri="{0D108BD9-81ED-4DB2-BD59-A6C34878D82A}">
                    <a16:rowId xmlns:a16="http://schemas.microsoft.com/office/drawing/2014/main" val="2689147973"/>
                  </a:ext>
                </a:extLst>
              </a:tr>
            </a:tbl>
          </a:graphicData>
        </a:graphic>
      </p:graphicFrame>
    </p:spTree>
    <p:extLst>
      <p:ext uri="{BB962C8B-B14F-4D97-AF65-F5344CB8AC3E}">
        <p14:creationId xmlns:p14="http://schemas.microsoft.com/office/powerpoint/2010/main" val="2090571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a:latin typeface="Arial"/>
                <a:cs typeface="Arial"/>
              </a:rPr>
              <a:t>Short response</a:t>
            </a:r>
            <a:r>
              <a:rPr lang="en-US">
                <a:solidFill>
                  <a:srgbClr val="002060"/>
                </a:solidFill>
                <a:latin typeface="Arial"/>
                <a:cs typeface="Arial"/>
              </a:rPr>
              <a:t> </a:t>
            </a:r>
            <a:r>
              <a:rPr lang="en-US">
                <a:solidFill>
                  <a:schemeClr val="bg1"/>
                </a:solidFill>
                <a:latin typeface="Arial"/>
                <a:cs typeface="Arial"/>
              </a:rPr>
              <a:t>(7)</a:t>
            </a:r>
          </a:p>
        </p:txBody>
      </p:sp>
      <p:pic>
        <p:nvPicPr>
          <p:cNvPr id="4" name="Picture 3" descr="image of a clipboard with a pencil recording short answer responses">
            <a:extLst>
              <a:ext uri="{FF2B5EF4-FFF2-40B4-BE49-F238E27FC236}">
                <a16:creationId xmlns:a16="http://schemas.microsoft.com/office/drawing/2014/main" id="{D740BC3B-2A7E-9512-84CA-DEBB92EFECD0}"/>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030" name="Picture 6" descr="A rectangle with 3 rows of grid overlay. There is a chunk missing. It is hard to tell how big the original rectangle is. It has at least 3 rows of 6 squares. ">
            <a:extLst>
              <a:ext uri="{FF2B5EF4-FFF2-40B4-BE49-F238E27FC236}">
                <a16:creationId xmlns:a16="http://schemas.microsoft.com/office/drawing/2014/main" id="{C5098AB8-D90E-F547-7818-E810095882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1646" y="2890480"/>
            <a:ext cx="5981700" cy="33147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9CB4D02-5E3F-04CB-02D3-234949A74574}"/>
              </a:ext>
            </a:extLst>
          </p:cNvPr>
          <p:cNvSpPr txBox="1"/>
          <p:nvPr/>
        </p:nvSpPr>
        <p:spPr>
          <a:xfrm>
            <a:off x="360000" y="1652631"/>
            <a:ext cx="11243038" cy="769441"/>
          </a:xfrm>
          <a:prstGeom prst="rect">
            <a:avLst/>
          </a:prstGeom>
          <a:noFill/>
        </p:spPr>
        <p:txBody>
          <a:bodyPr wrap="square">
            <a:spAutoFit/>
          </a:bodyPr>
          <a:lstStyle/>
          <a:p>
            <a:r>
              <a:rPr lang="en-AU" sz="4400" b="1" dirty="0"/>
              <a:t> </a:t>
            </a:r>
            <a:r>
              <a:rPr lang="en-AU" sz="4400" dirty="0"/>
              <a:t>Find the </a:t>
            </a:r>
            <a:r>
              <a:rPr lang="en-AU" sz="4400" b="1" dirty="0"/>
              <a:t>total</a:t>
            </a:r>
            <a:r>
              <a:rPr lang="en-AU" sz="4400" dirty="0"/>
              <a:t> of this partially covered </a:t>
            </a:r>
            <a:r>
              <a:rPr lang="en-AU" sz="4400" b="1" dirty="0"/>
              <a:t>array. </a:t>
            </a:r>
          </a:p>
        </p:txBody>
      </p:sp>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16</a:t>
            </a:fld>
            <a:endParaRPr lang="en-AU"/>
          </a:p>
        </p:txBody>
      </p:sp>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a:xfrm>
            <a:off x="360000" y="360000"/>
            <a:ext cx="11243038" cy="545601"/>
          </a:xfrm>
        </p:spPr>
        <p:txBody>
          <a:bodyPr/>
          <a:lstStyle/>
          <a:p>
            <a:r>
              <a:rPr lang="en-US">
                <a:latin typeface="Arial"/>
                <a:cs typeface="Arial"/>
              </a:rPr>
              <a:t>Short response</a:t>
            </a:r>
            <a:r>
              <a:rPr lang="en-US">
                <a:solidFill>
                  <a:srgbClr val="002060"/>
                </a:solidFill>
                <a:latin typeface="Arial"/>
                <a:cs typeface="Arial"/>
              </a:rPr>
              <a:t> </a:t>
            </a:r>
            <a:r>
              <a:rPr lang="en-US">
                <a:solidFill>
                  <a:schemeClr val="bg1"/>
                </a:solidFill>
                <a:latin typeface="Arial"/>
                <a:cs typeface="Arial"/>
              </a:rPr>
              <a:t>(8)</a:t>
            </a:r>
          </a:p>
        </p:txBody>
      </p:sp>
      <p:sp>
        <p:nvSpPr>
          <p:cNvPr id="4" name="TextBox 3">
            <a:extLst>
              <a:ext uri="{FF2B5EF4-FFF2-40B4-BE49-F238E27FC236}">
                <a16:creationId xmlns:a16="http://schemas.microsoft.com/office/drawing/2014/main" id="{37743E66-387B-D4F6-72FE-0CCB9557C3B3}"/>
              </a:ext>
            </a:extLst>
          </p:cNvPr>
          <p:cNvSpPr txBox="1"/>
          <p:nvPr/>
        </p:nvSpPr>
        <p:spPr>
          <a:xfrm>
            <a:off x="702129" y="2258659"/>
            <a:ext cx="10900909" cy="2368205"/>
          </a:xfrm>
          <a:prstGeom prst="rect">
            <a:avLst/>
          </a:prstGeom>
          <a:noFill/>
        </p:spPr>
        <p:txBody>
          <a:bodyPr wrap="square" lIns="0" tIns="0" rIns="0" bIns="0" rtlCol="0">
            <a:noAutofit/>
          </a:bodyPr>
          <a:lstStyle/>
          <a:p>
            <a:pPr algn="ctr">
              <a:lnSpc>
                <a:spcPct val="150000"/>
              </a:lnSpc>
            </a:pPr>
            <a:r>
              <a:rPr lang="en-US" sz="4400" b="1" dirty="0">
                <a:cs typeface="Arial"/>
              </a:rPr>
              <a:t>Explain</a:t>
            </a:r>
            <a:r>
              <a:rPr lang="en-US" sz="4400" dirty="0">
                <a:cs typeface="Arial"/>
              </a:rPr>
              <a:t> the term </a:t>
            </a:r>
            <a:r>
              <a:rPr lang="en-US" sz="4400" b="1" dirty="0">
                <a:cs typeface="Arial"/>
              </a:rPr>
              <a:t>perimeter</a:t>
            </a:r>
            <a:r>
              <a:rPr lang="en-US" sz="4400" dirty="0">
                <a:cs typeface="Arial"/>
              </a:rPr>
              <a:t> and how it is </a:t>
            </a:r>
            <a:r>
              <a:rPr lang="en-US" sz="4400" b="1" dirty="0">
                <a:cs typeface="Arial"/>
              </a:rPr>
              <a:t>calculated</a:t>
            </a:r>
            <a:r>
              <a:rPr lang="en-US" sz="4400" dirty="0">
                <a:cs typeface="Arial"/>
              </a:rPr>
              <a:t>.</a:t>
            </a:r>
          </a:p>
          <a:p>
            <a:pPr algn="l"/>
            <a:br>
              <a:rPr lang="en-AU" sz="3600" dirty="0"/>
            </a:br>
            <a:br>
              <a:rPr lang="en-AU" sz="3600" dirty="0"/>
            </a:br>
            <a:endParaRPr lang="en-AU" sz="3600" dirty="0"/>
          </a:p>
          <a:p>
            <a:pPr algn="l"/>
            <a:endParaRPr lang="en-AU" sz="1800" dirty="0"/>
          </a:p>
        </p:txBody>
      </p:sp>
      <p:pic>
        <p:nvPicPr>
          <p:cNvPr id="5" name="Picture 4" descr="image of a clipboard with a pencil recording short answer responses">
            <a:extLst>
              <a:ext uri="{FF2B5EF4-FFF2-40B4-BE49-F238E27FC236}">
                <a16:creationId xmlns:a16="http://schemas.microsoft.com/office/drawing/2014/main" id="{3BEDD50C-91A1-3FFB-CBDD-0B6084F047AB}"/>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C6476-B9C2-635E-5A23-D8B588AACE3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689B4D-D14C-2EF4-6362-013A6F29042C}"/>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3" name="Title 2">
            <a:extLst>
              <a:ext uri="{FF2B5EF4-FFF2-40B4-BE49-F238E27FC236}">
                <a16:creationId xmlns:a16="http://schemas.microsoft.com/office/drawing/2014/main" id="{84E5A621-19BB-018C-1BA9-0DBA83FB9D88}"/>
              </a:ext>
            </a:extLst>
          </p:cNvPr>
          <p:cNvSpPr>
            <a:spLocks noGrp="1"/>
          </p:cNvSpPr>
          <p:nvPr>
            <p:ph type="title"/>
          </p:nvPr>
        </p:nvSpPr>
        <p:spPr>
          <a:xfrm>
            <a:off x="360000" y="360000"/>
            <a:ext cx="11484000" cy="545601"/>
          </a:xfrm>
        </p:spPr>
        <p:txBody>
          <a:bodyPr/>
          <a:lstStyle/>
          <a:p>
            <a:r>
              <a:rPr lang="en-AU"/>
              <a:t>Activity 2 – expanded form cards</a:t>
            </a:r>
          </a:p>
        </p:txBody>
      </p:sp>
      <p:sp>
        <p:nvSpPr>
          <p:cNvPr id="6" name="TextBox 5">
            <a:extLst>
              <a:ext uri="{FF2B5EF4-FFF2-40B4-BE49-F238E27FC236}">
                <a16:creationId xmlns:a16="http://schemas.microsoft.com/office/drawing/2014/main" id="{910B3AF4-E67E-C187-DE2A-FEC5EB3F30CF}"/>
              </a:ext>
            </a:extLst>
          </p:cNvPr>
          <p:cNvSpPr txBox="1"/>
          <p:nvPr/>
        </p:nvSpPr>
        <p:spPr>
          <a:xfrm>
            <a:off x="4483100" y="2103066"/>
            <a:ext cx="3225799" cy="1083733"/>
          </a:xfrm>
          <a:prstGeom prst="rect">
            <a:avLst/>
          </a:prstGeom>
          <a:noFill/>
        </p:spPr>
        <p:txBody>
          <a:bodyPr wrap="square" lIns="0" tIns="0" rIns="0" bIns="0" rtlCol="0">
            <a:noAutofit/>
          </a:bodyPr>
          <a:lstStyle/>
          <a:p>
            <a:pPr algn="l"/>
            <a:r>
              <a:rPr lang="en-AU" sz="6600">
                <a:latin typeface="Arial" panose="020B0604020202020204" pitchFamily="34" charset="0"/>
                <a:cs typeface="Arial" panose="020B0604020202020204" pitchFamily="34" charset="0"/>
              </a:rPr>
              <a:t>694 258</a:t>
            </a:r>
          </a:p>
        </p:txBody>
      </p:sp>
      <p:sp>
        <p:nvSpPr>
          <p:cNvPr id="7" name="TextBox 6">
            <a:extLst>
              <a:ext uri="{FF2B5EF4-FFF2-40B4-BE49-F238E27FC236}">
                <a16:creationId xmlns:a16="http://schemas.microsoft.com/office/drawing/2014/main" id="{E39650CD-4E15-029E-E101-6E4A91029790}"/>
              </a:ext>
            </a:extLst>
          </p:cNvPr>
          <p:cNvSpPr txBox="1"/>
          <p:nvPr/>
        </p:nvSpPr>
        <p:spPr>
          <a:xfrm>
            <a:off x="659533" y="4038600"/>
            <a:ext cx="11184467" cy="1083733"/>
          </a:xfrm>
          <a:prstGeom prst="rect">
            <a:avLst/>
          </a:prstGeom>
          <a:noFill/>
        </p:spPr>
        <p:txBody>
          <a:bodyPr wrap="square" lIns="0" tIns="0" rIns="0" bIns="0" rtlCol="0">
            <a:noAutofit/>
          </a:bodyPr>
          <a:lstStyle/>
          <a:p>
            <a:pPr algn="l"/>
            <a:r>
              <a:rPr lang="en-AU" sz="4800">
                <a:latin typeface="Arial" panose="020B0604020202020204" pitchFamily="34" charset="0"/>
                <a:cs typeface="Arial" panose="020B0604020202020204" pitchFamily="34" charset="0"/>
              </a:rPr>
              <a:t>300 000 + 20 000 + 2000 + 700 + 20 +6</a:t>
            </a:r>
          </a:p>
        </p:txBody>
      </p:sp>
      <p:pic>
        <p:nvPicPr>
          <p:cNvPr id="4" name="Picture 4" descr="image of a head with cogs turning inside">
            <a:extLst>
              <a:ext uri="{FF2B5EF4-FFF2-40B4-BE49-F238E27FC236}">
                <a16:creationId xmlns:a16="http://schemas.microsoft.com/office/drawing/2014/main" id="{963438E4-F80B-DDE6-A1D1-D36115909C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15968" y="88038"/>
            <a:ext cx="916032" cy="1089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8955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1B1-6A34-35AF-C8F8-98FFF9B6C7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EE77A7-FE1B-9394-E3D8-9905BF492C48}"/>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0237A4AD-5902-0B45-1C0F-CD463740134A}"/>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(2) </a:t>
            </a:r>
          </a:p>
        </p:txBody>
      </p:sp>
      <p:sp>
        <p:nvSpPr>
          <p:cNvPr id="18" name="Text Placeholder 17">
            <a:extLst>
              <a:ext uri="{FF2B5EF4-FFF2-40B4-BE49-F238E27FC236}">
                <a16:creationId xmlns:a16="http://schemas.microsoft.com/office/drawing/2014/main" id="{56364F73-E229-E283-75C8-9CCFC763AB34}"/>
              </a:ext>
            </a:extLst>
          </p:cNvPr>
          <p:cNvSpPr>
            <a:spLocks noGrp="1"/>
          </p:cNvSpPr>
          <p:nvPr>
            <p:ph type="body" sz="quarter" idx="24"/>
          </p:nvPr>
        </p:nvSpPr>
        <p:spPr>
          <a:xfrm>
            <a:off x="370159" y="1452160"/>
            <a:ext cx="11249133" cy="2828987"/>
          </a:xfrm>
        </p:spPr>
        <p:txBody>
          <a:bodyPr vert="horz" lIns="0" tIns="0" rIns="0" bIns="0" rtlCol="0" anchor="t">
            <a:noAutofit/>
          </a:bodyPr>
          <a:lstStyle/>
          <a:p>
            <a:pPr algn="ctr"/>
            <a:r>
              <a:rPr lang="en-US" sz="4400">
                <a:latin typeface="Arial"/>
                <a:cs typeface="Arial"/>
              </a:rPr>
              <a:t>40 000 + 8000 + 50 + 6 can be </a:t>
            </a:r>
            <a:r>
              <a:rPr lang="en-US" sz="4400" b="1">
                <a:latin typeface="Arial"/>
                <a:cs typeface="Arial"/>
              </a:rPr>
              <a:t>renamed</a:t>
            </a:r>
            <a:r>
              <a:rPr lang="en-US" sz="4400">
                <a:latin typeface="Arial"/>
                <a:cs typeface="Arial"/>
              </a:rPr>
              <a:t> as:</a:t>
            </a:r>
            <a:endParaRPr lang="en-US" sz="4400"/>
          </a:p>
        </p:txBody>
      </p:sp>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2521701550"/>
              </p:ext>
            </p:extLst>
          </p:nvPr>
        </p:nvGraphicFramePr>
        <p:xfrm>
          <a:off x="572708" y="3128911"/>
          <a:ext cx="10551292" cy="158496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400"/>
                        <a:t>4853</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400">
                          <a:latin typeface="+mn-lt"/>
                          <a:cs typeface="Arial"/>
                        </a:rPr>
                        <a:t>56 704</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400">
                          <a:latin typeface="+mn-lt"/>
                          <a:cs typeface="Arial"/>
                        </a:rPr>
                        <a:t>48 056</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400">
                          <a:latin typeface="+mn-lt"/>
                          <a:cs typeface="Arial"/>
                        </a:rPr>
                        <a:t>48 675</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pic>
        <p:nvPicPr>
          <p:cNvPr id="17" name="Picture 16" descr="image of a finger selecting an option for a multiple choice or true and false">
            <a:extLst>
              <a:ext uri="{FF2B5EF4-FFF2-40B4-BE49-F238E27FC236}">
                <a16:creationId xmlns:a16="http://schemas.microsoft.com/office/drawing/2014/main" id="{E2BDE449-3DCA-653F-E490-6D7A3736BB5C}"/>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856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(9)</a:t>
            </a:r>
          </a:p>
        </p:txBody>
      </p:sp>
      <p:sp>
        <p:nvSpPr>
          <p:cNvPr id="11" name="Picture Placeholder 10">
            <a:extLst>
              <a:ext uri="{FF2B5EF4-FFF2-40B4-BE49-F238E27FC236}">
                <a16:creationId xmlns:a16="http://schemas.microsoft.com/office/drawing/2014/main" id="{615793BF-4D97-0D6A-FB17-D26939AF18A8}"/>
              </a:ext>
            </a:extLst>
          </p:cNvPr>
          <p:cNvSpPr>
            <a:spLocks noGrp="1"/>
          </p:cNvSpPr>
          <p:nvPr>
            <p:ph type="pic" sz="quarter" idx="21"/>
          </p:nvPr>
        </p:nvSpPr>
        <p:spPr>
          <a:xfrm>
            <a:off x="536521" y="1489023"/>
            <a:ext cx="10587479" cy="2598767"/>
          </a:xfrm>
        </p:spPr>
        <p:txBody>
          <a:bodyPr/>
          <a:lstStyle/>
          <a:p>
            <a:r>
              <a:rPr lang="en-AU" sz="4400">
                <a:latin typeface="Arial"/>
                <a:cs typeface="Arial"/>
              </a:rPr>
              <a:t>Match the following </a:t>
            </a:r>
            <a:r>
              <a:rPr lang="en-AU" sz="4400" b="1">
                <a:latin typeface="Arial"/>
                <a:cs typeface="Arial"/>
              </a:rPr>
              <a:t>terms</a:t>
            </a:r>
            <a:r>
              <a:rPr lang="en-AU" sz="4400">
                <a:latin typeface="Arial"/>
                <a:cs typeface="Arial"/>
              </a:rPr>
              <a:t> to </a:t>
            </a:r>
            <a:r>
              <a:rPr lang="en-AU" sz="4400" b="1">
                <a:latin typeface="Arial"/>
                <a:cs typeface="Arial"/>
              </a:rPr>
              <a:t>am or pm: Midnight </a:t>
            </a:r>
          </a:p>
          <a:p>
            <a:r>
              <a:rPr lang="en-AU" sz="4400" b="1">
                <a:latin typeface="Arial"/>
                <a:cs typeface="Arial"/>
              </a:rPr>
              <a:t>Midday</a:t>
            </a:r>
          </a:p>
          <a:p>
            <a:r>
              <a:rPr lang="en-AU" sz="4400" b="1">
                <a:latin typeface="Arial"/>
                <a:cs typeface="Arial"/>
              </a:rPr>
              <a:t>Noon </a:t>
            </a:r>
            <a:endParaRPr lang="en-AU" sz="440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A7928AD0-FB0D-320D-A01E-AB930E8E6C3D}"/>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C7285-43A9-580E-9C32-8C8A5226871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88E663-9B03-CABA-DA77-8D36B013F96C}"/>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3" name="Title 2">
            <a:extLst>
              <a:ext uri="{FF2B5EF4-FFF2-40B4-BE49-F238E27FC236}">
                <a16:creationId xmlns:a16="http://schemas.microsoft.com/office/drawing/2014/main" id="{614833B6-6D6B-9F2B-842D-88E0F14DE2CA}"/>
              </a:ext>
            </a:extLst>
          </p:cNvPr>
          <p:cNvSpPr>
            <a:spLocks noGrp="1"/>
          </p:cNvSpPr>
          <p:nvPr>
            <p:ph type="title"/>
          </p:nvPr>
        </p:nvSpPr>
        <p:spPr/>
        <p:txBody>
          <a:bodyPr/>
          <a:lstStyle/>
          <a:p>
            <a:r>
              <a:rPr lang="en-US">
                <a:latin typeface="Arial"/>
                <a:cs typeface="Arial"/>
              </a:rPr>
              <a:t>Short response</a:t>
            </a:r>
            <a:r>
              <a:rPr lang="en-US">
                <a:solidFill>
                  <a:srgbClr val="002060"/>
                </a:solidFill>
                <a:latin typeface="Arial"/>
                <a:cs typeface="Arial"/>
              </a:rPr>
              <a:t> </a:t>
            </a:r>
            <a:r>
              <a:rPr lang="en-US">
                <a:solidFill>
                  <a:schemeClr val="bg1"/>
                </a:solidFill>
                <a:latin typeface="Arial"/>
                <a:cs typeface="Arial"/>
              </a:rPr>
              <a:t>(10)</a:t>
            </a:r>
          </a:p>
        </p:txBody>
      </p:sp>
      <p:sp>
        <p:nvSpPr>
          <p:cNvPr id="11" name="Picture Placeholder 10">
            <a:extLst>
              <a:ext uri="{FF2B5EF4-FFF2-40B4-BE49-F238E27FC236}">
                <a16:creationId xmlns:a16="http://schemas.microsoft.com/office/drawing/2014/main" id="{91ED1D93-A780-8667-C8FA-09314C17E3B6}"/>
              </a:ext>
            </a:extLst>
          </p:cNvPr>
          <p:cNvSpPr>
            <a:spLocks noGrp="1"/>
          </p:cNvSpPr>
          <p:nvPr>
            <p:ph type="pic" sz="quarter" idx="21"/>
          </p:nvPr>
        </p:nvSpPr>
        <p:spPr>
          <a:xfrm>
            <a:off x="240963" y="990254"/>
            <a:ext cx="11243037" cy="1169988"/>
          </a:xfrm>
        </p:spPr>
        <p:txBody>
          <a:bodyPr/>
          <a:lstStyle/>
          <a:p>
            <a:pPr algn="ctr"/>
            <a:r>
              <a:rPr lang="en-US" sz="4400" b="1">
                <a:latin typeface="Arial"/>
                <a:cs typeface="Arial"/>
              </a:rPr>
              <a:t>Record</a:t>
            </a:r>
            <a:r>
              <a:rPr lang="en-US" sz="4400">
                <a:latin typeface="Arial"/>
                <a:cs typeface="Arial"/>
              </a:rPr>
              <a:t> the </a:t>
            </a:r>
            <a:r>
              <a:rPr lang="en-US" sz="4400" b="1">
                <a:latin typeface="Arial"/>
                <a:cs typeface="Arial"/>
              </a:rPr>
              <a:t>missing data </a:t>
            </a:r>
            <a:r>
              <a:rPr lang="en-US" sz="4400">
                <a:latin typeface="Arial"/>
                <a:cs typeface="Arial"/>
              </a:rPr>
              <a:t>in this </a:t>
            </a:r>
            <a:r>
              <a:rPr lang="en-US" sz="4400" b="1">
                <a:latin typeface="Arial"/>
                <a:cs typeface="Arial"/>
              </a:rPr>
              <a:t>table.</a:t>
            </a:r>
            <a:endParaRPr lang="en-US" sz="4400">
              <a:latin typeface="Arial"/>
              <a:cs typeface="Arial"/>
            </a:endParaRP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82B65B0-3F1D-7182-2F11-9B4FFE3CCF81}"/>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5" name="Table 4">
            <a:extLst>
              <a:ext uri="{FF2B5EF4-FFF2-40B4-BE49-F238E27FC236}">
                <a16:creationId xmlns:a16="http://schemas.microsoft.com/office/drawing/2014/main" id="{66EA1FAB-45EE-F404-0937-B84084D117B5}"/>
              </a:ext>
            </a:extLst>
          </p:cNvPr>
          <p:cNvGraphicFramePr>
            <a:graphicFrameLocks noGrp="1"/>
          </p:cNvGraphicFramePr>
          <p:nvPr>
            <p:extLst>
              <p:ext uri="{D42A27DB-BD31-4B8C-83A1-F6EECF244321}">
                <p14:modId xmlns:p14="http://schemas.microsoft.com/office/powerpoint/2010/main" val="2794905478"/>
              </p:ext>
            </p:extLst>
          </p:nvPr>
        </p:nvGraphicFramePr>
        <p:xfrm>
          <a:off x="891582" y="2286000"/>
          <a:ext cx="10179873" cy="4206240"/>
        </p:xfrm>
        <a:graphic>
          <a:graphicData uri="http://schemas.openxmlformats.org/drawingml/2006/table">
            <a:tbl>
              <a:tblPr firstRow="1" bandRow="1">
                <a:tableStyleId>{5940675A-B579-460E-94D1-54222C63F5DA}</a:tableStyleId>
              </a:tblPr>
              <a:tblGrid>
                <a:gridCol w="2998381">
                  <a:extLst>
                    <a:ext uri="{9D8B030D-6E8A-4147-A177-3AD203B41FA5}">
                      <a16:colId xmlns:a16="http://schemas.microsoft.com/office/drawing/2014/main" val="331414977"/>
                    </a:ext>
                  </a:extLst>
                </a:gridCol>
                <a:gridCol w="3788201">
                  <a:extLst>
                    <a:ext uri="{9D8B030D-6E8A-4147-A177-3AD203B41FA5}">
                      <a16:colId xmlns:a16="http://schemas.microsoft.com/office/drawing/2014/main" val="2957173457"/>
                    </a:ext>
                  </a:extLst>
                </a:gridCol>
                <a:gridCol w="3393291">
                  <a:extLst>
                    <a:ext uri="{9D8B030D-6E8A-4147-A177-3AD203B41FA5}">
                      <a16:colId xmlns:a16="http://schemas.microsoft.com/office/drawing/2014/main" val="3512219744"/>
                    </a:ext>
                  </a:extLst>
                </a:gridCol>
              </a:tblGrid>
              <a:tr h="0">
                <a:tc>
                  <a:txBody>
                    <a:bodyPr/>
                    <a:lstStyle/>
                    <a:p>
                      <a:r>
                        <a:rPr lang="en-AU" sz="4000"/>
                        <a:t>Food</a:t>
                      </a:r>
                    </a:p>
                  </a:txBody>
                  <a:tcPr/>
                </a:tc>
                <a:tc>
                  <a:txBody>
                    <a:bodyPr/>
                    <a:lstStyle/>
                    <a:p>
                      <a:r>
                        <a:rPr lang="en-AU" sz="4000"/>
                        <a:t>Tally</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AU" sz="4000"/>
                        <a:t>Responses</a:t>
                      </a:r>
                    </a:p>
                  </a:txBody>
                  <a:tcPr/>
                </a:tc>
                <a:extLst>
                  <a:ext uri="{0D108BD9-81ED-4DB2-BD59-A6C34878D82A}">
                    <a16:rowId xmlns:a16="http://schemas.microsoft.com/office/drawing/2014/main" val="3836189965"/>
                  </a:ext>
                </a:extLst>
              </a:tr>
              <a:tr h="370840">
                <a:tc>
                  <a:txBody>
                    <a:bodyPr/>
                    <a:lstStyle/>
                    <a:p>
                      <a:r>
                        <a:rPr lang="en-AU" sz="4000"/>
                        <a:t>Pizza</a:t>
                      </a:r>
                    </a:p>
                  </a:txBody>
                  <a:tcPr/>
                </a:tc>
                <a:tc>
                  <a:txBody>
                    <a:bodyPr/>
                    <a:lstStyle/>
                    <a:p>
                      <a:endParaRPr lang="en-AU" sz="4000"/>
                    </a:p>
                  </a:txBody>
                  <a:tcPr/>
                </a:tc>
                <a:tc>
                  <a:txBody>
                    <a:bodyPr/>
                    <a:lstStyle/>
                    <a:p>
                      <a:endParaRPr lang="en-AU" sz="4000"/>
                    </a:p>
                  </a:txBody>
                  <a:tcPr/>
                </a:tc>
                <a:extLst>
                  <a:ext uri="{0D108BD9-81ED-4DB2-BD59-A6C34878D82A}">
                    <a16:rowId xmlns:a16="http://schemas.microsoft.com/office/drawing/2014/main" val="2383016235"/>
                  </a:ext>
                </a:extLst>
              </a:tr>
              <a:tr h="370840">
                <a:tc>
                  <a:txBody>
                    <a:bodyPr/>
                    <a:lstStyle/>
                    <a:p>
                      <a:r>
                        <a:rPr lang="en-AU" sz="4000"/>
                        <a:t>Burger</a:t>
                      </a:r>
                    </a:p>
                  </a:txBody>
                  <a:tcPr/>
                </a:tc>
                <a:tc>
                  <a:txBody>
                    <a:bodyPr/>
                    <a:lstStyle/>
                    <a:p>
                      <a:endParaRPr lang="en-AU" sz="4000"/>
                    </a:p>
                  </a:txBody>
                  <a:tcPr/>
                </a:tc>
                <a:tc>
                  <a:txBody>
                    <a:bodyPr/>
                    <a:lstStyle/>
                    <a:p>
                      <a:endParaRPr lang="en-AU" sz="4000"/>
                    </a:p>
                  </a:txBody>
                  <a:tcPr/>
                </a:tc>
                <a:extLst>
                  <a:ext uri="{0D108BD9-81ED-4DB2-BD59-A6C34878D82A}">
                    <a16:rowId xmlns:a16="http://schemas.microsoft.com/office/drawing/2014/main" val="2679830503"/>
                  </a:ext>
                </a:extLst>
              </a:tr>
              <a:tr h="370840">
                <a:tc>
                  <a:txBody>
                    <a:bodyPr/>
                    <a:lstStyle/>
                    <a:p>
                      <a:r>
                        <a:rPr lang="en-AU" sz="4000"/>
                        <a:t>Pasta</a:t>
                      </a:r>
                    </a:p>
                  </a:txBody>
                  <a:tcPr/>
                </a:tc>
                <a:tc>
                  <a:txBody>
                    <a:bodyPr/>
                    <a:lstStyle/>
                    <a:p>
                      <a:endParaRPr lang="en-AU" sz="4000"/>
                    </a:p>
                  </a:txBody>
                  <a:tcPr/>
                </a:tc>
                <a:tc>
                  <a:txBody>
                    <a:bodyPr/>
                    <a:lstStyle/>
                    <a:p>
                      <a:endParaRPr lang="en-AU" sz="4000"/>
                    </a:p>
                  </a:txBody>
                  <a:tcPr/>
                </a:tc>
                <a:extLst>
                  <a:ext uri="{0D108BD9-81ED-4DB2-BD59-A6C34878D82A}">
                    <a16:rowId xmlns:a16="http://schemas.microsoft.com/office/drawing/2014/main" val="229838906"/>
                  </a:ext>
                </a:extLst>
              </a:tr>
              <a:tr h="511661">
                <a:tc>
                  <a:txBody>
                    <a:bodyPr/>
                    <a:lstStyle/>
                    <a:p>
                      <a:r>
                        <a:rPr lang="en-AU" sz="4000"/>
                        <a:t>Fish</a:t>
                      </a:r>
                    </a:p>
                  </a:txBody>
                  <a:tcPr/>
                </a:tc>
                <a:tc>
                  <a:txBody>
                    <a:bodyPr/>
                    <a:lstStyle/>
                    <a:p>
                      <a:endParaRPr lang="en-AU" sz="4000"/>
                    </a:p>
                  </a:txBody>
                  <a:tcPr/>
                </a:tc>
                <a:tc>
                  <a:txBody>
                    <a:bodyPr/>
                    <a:lstStyle/>
                    <a:p>
                      <a:endParaRPr lang="en-AU" sz="4000"/>
                    </a:p>
                  </a:txBody>
                  <a:tcPr/>
                </a:tc>
                <a:extLst>
                  <a:ext uri="{0D108BD9-81ED-4DB2-BD59-A6C34878D82A}">
                    <a16:rowId xmlns:a16="http://schemas.microsoft.com/office/drawing/2014/main" val="1179714854"/>
                  </a:ext>
                </a:extLst>
              </a:tr>
              <a:tr h="370840">
                <a:tc>
                  <a:txBody>
                    <a:bodyPr/>
                    <a:lstStyle/>
                    <a:p>
                      <a:r>
                        <a:rPr lang="en-AU" sz="4000"/>
                        <a:t>Soup</a:t>
                      </a:r>
                    </a:p>
                  </a:txBody>
                  <a:tcPr/>
                </a:tc>
                <a:tc>
                  <a:txBody>
                    <a:bodyPr/>
                    <a:lstStyle/>
                    <a:p>
                      <a:endParaRPr lang="en-AU" sz="4000"/>
                    </a:p>
                  </a:txBody>
                  <a:tcPr/>
                </a:tc>
                <a:tc>
                  <a:txBody>
                    <a:bodyPr/>
                    <a:lstStyle/>
                    <a:p>
                      <a:endParaRPr lang="en-AU" sz="4000"/>
                    </a:p>
                  </a:txBody>
                  <a:tcPr/>
                </a:tc>
                <a:extLst>
                  <a:ext uri="{0D108BD9-81ED-4DB2-BD59-A6C34878D82A}">
                    <a16:rowId xmlns:a16="http://schemas.microsoft.com/office/drawing/2014/main" val="2631506406"/>
                  </a:ext>
                </a:extLst>
              </a:tr>
            </a:tbl>
          </a:graphicData>
        </a:graphic>
      </p:graphicFrame>
      <p:pic>
        <p:nvPicPr>
          <p:cNvPr id="7" name="Picture 6" descr="11 tally marks">
            <a:extLst>
              <a:ext uri="{FF2B5EF4-FFF2-40B4-BE49-F238E27FC236}">
                <a16:creationId xmlns:a16="http://schemas.microsoft.com/office/drawing/2014/main" id="{220B6188-F5BE-BE8E-C22A-22D39E65E2C7}"/>
              </a:ext>
            </a:extLst>
          </p:cNvPr>
          <p:cNvPicPr>
            <a:picLocks noChangeAspect="1"/>
          </p:cNvPicPr>
          <p:nvPr/>
        </p:nvPicPr>
        <p:blipFill>
          <a:blip r:embed="rId4"/>
          <a:stretch>
            <a:fillRect/>
          </a:stretch>
        </p:blipFill>
        <p:spPr>
          <a:xfrm>
            <a:off x="4023180" y="3056885"/>
            <a:ext cx="1718401" cy="616978"/>
          </a:xfrm>
          <a:prstGeom prst="rect">
            <a:avLst/>
          </a:prstGeom>
        </p:spPr>
      </p:pic>
      <p:pic>
        <p:nvPicPr>
          <p:cNvPr id="9" name="Picture 8" descr="4 tally marks">
            <a:extLst>
              <a:ext uri="{FF2B5EF4-FFF2-40B4-BE49-F238E27FC236}">
                <a16:creationId xmlns:a16="http://schemas.microsoft.com/office/drawing/2014/main" id="{E4F2A3CE-228B-55E3-3EB5-E887EC6331F3}"/>
              </a:ext>
            </a:extLst>
          </p:cNvPr>
          <p:cNvPicPr>
            <a:picLocks noChangeAspect="1"/>
          </p:cNvPicPr>
          <p:nvPr/>
        </p:nvPicPr>
        <p:blipFill>
          <a:blip r:embed="rId5"/>
          <a:stretch>
            <a:fillRect/>
          </a:stretch>
        </p:blipFill>
        <p:spPr>
          <a:xfrm>
            <a:off x="4023180" y="5816180"/>
            <a:ext cx="514150" cy="616979"/>
          </a:xfrm>
          <a:prstGeom prst="rect">
            <a:avLst/>
          </a:prstGeom>
        </p:spPr>
      </p:pic>
      <p:pic>
        <p:nvPicPr>
          <p:cNvPr id="12" name="Picture 11" descr="14 tally marks">
            <a:extLst>
              <a:ext uri="{FF2B5EF4-FFF2-40B4-BE49-F238E27FC236}">
                <a16:creationId xmlns:a16="http://schemas.microsoft.com/office/drawing/2014/main" id="{595DFDA7-B202-1379-E3A8-0B379F12E319}"/>
              </a:ext>
            </a:extLst>
          </p:cNvPr>
          <p:cNvPicPr>
            <a:picLocks noChangeAspect="1"/>
          </p:cNvPicPr>
          <p:nvPr/>
        </p:nvPicPr>
        <p:blipFill>
          <a:blip r:embed="rId6"/>
          <a:stretch>
            <a:fillRect/>
          </a:stretch>
        </p:blipFill>
        <p:spPr>
          <a:xfrm>
            <a:off x="4023181" y="4458232"/>
            <a:ext cx="1888522" cy="634069"/>
          </a:xfrm>
          <a:prstGeom prst="rect">
            <a:avLst/>
          </a:prstGeom>
        </p:spPr>
      </p:pic>
      <p:pic>
        <p:nvPicPr>
          <p:cNvPr id="14" name="Picture 13" descr="15 tally marks">
            <a:extLst>
              <a:ext uri="{FF2B5EF4-FFF2-40B4-BE49-F238E27FC236}">
                <a16:creationId xmlns:a16="http://schemas.microsoft.com/office/drawing/2014/main" id="{4CF5D8C3-EDBE-AAAD-E81F-6FA0B6058170}"/>
              </a:ext>
            </a:extLst>
          </p:cNvPr>
          <p:cNvPicPr>
            <a:picLocks noChangeAspect="1"/>
          </p:cNvPicPr>
          <p:nvPr/>
        </p:nvPicPr>
        <p:blipFill>
          <a:blip r:embed="rId7"/>
          <a:stretch>
            <a:fillRect/>
          </a:stretch>
        </p:blipFill>
        <p:spPr>
          <a:xfrm>
            <a:off x="3959384" y="3715078"/>
            <a:ext cx="2136616" cy="654162"/>
          </a:xfrm>
          <a:prstGeom prst="rect">
            <a:avLst/>
          </a:prstGeom>
        </p:spPr>
      </p:pic>
      <p:pic>
        <p:nvPicPr>
          <p:cNvPr id="16" name="Picture 15" descr="2 tally marks">
            <a:extLst>
              <a:ext uri="{FF2B5EF4-FFF2-40B4-BE49-F238E27FC236}">
                <a16:creationId xmlns:a16="http://schemas.microsoft.com/office/drawing/2014/main" id="{71F15A75-07F5-611C-66E7-78BEEAFB9CF1}"/>
              </a:ext>
            </a:extLst>
          </p:cNvPr>
          <p:cNvPicPr>
            <a:picLocks noChangeAspect="1"/>
          </p:cNvPicPr>
          <p:nvPr/>
        </p:nvPicPr>
        <p:blipFill>
          <a:blip r:embed="rId8"/>
          <a:stretch>
            <a:fillRect/>
          </a:stretch>
        </p:blipFill>
        <p:spPr>
          <a:xfrm>
            <a:off x="4023180" y="5198029"/>
            <a:ext cx="243535" cy="537805"/>
          </a:xfrm>
          <a:prstGeom prst="rect">
            <a:avLst/>
          </a:prstGeom>
        </p:spPr>
      </p:pic>
    </p:spTree>
    <p:extLst>
      <p:ext uri="{BB962C8B-B14F-4D97-AF65-F5344CB8AC3E}">
        <p14:creationId xmlns:p14="http://schemas.microsoft.com/office/powerpoint/2010/main" val="1548172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D45-44FF-11A5-FE27-5FEEB2BCBA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5D520E-CA22-0FDB-E276-04CB5533BA58}"/>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3" name="Title 2">
            <a:extLst>
              <a:ext uri="{FF2B5EF4-FFF2-40B4-BE49-F238E27FC236}">
                <a16:creationId xmlns:a16="http://schemas.microsoft.com/office/drawing/2014/main" id="{3018A579-B085-1F5A-BA99-7348214BE838}"/>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(11)</a:t>
            </a:r>
          </a:p>
        </p:txBody>
      </p:sp>
      <p:sp>
        <p:nvSpPr>
          <p:cNvPr id="11" name="Picture Placeholder 10">
            <a:extLst>
              <a:ext uri="{FF2B5EF4-FFF2-40B4-BE49-F238E27FC236}">
                <a16:creationId xmlns:a16="http://schemas.microsoft.com/office/drawing/2014/main" id="{BA99C24B-2D22-028D-AEA8-8D8B48CB4938}"/>
              </a:ext>
            </a:extLst>
          </p:cNvPr>
          <p:cNvSpPr>
            <a:spLocks noGrp="1"/>
          </p:cNvSpPr>
          <p:nvPr>
            <p:ph type="pic" sz="quarter" idx="21"/>
          </p:nvPr>
        </p:nvSpPr>
        <p:spPr>
          <a:xfrm>
            <a:off x="360000" y="1290185"/>
            <a:ext cx="11241956" cy="2138815"/>
          </a:xfrm>
        </p:spPr>
        <p:txBody>
          <a:bodyPr/>
          <a:lstStyle/>
          <a:p>
            <a:pPr algn="ctr"/>
            <a:r>
              <a:rPr lang="en-US" sz="4000" b="1" dirty="0">
                <a:latin typeface="Arial"/>
                <a:cs typeface="Arial"/>
              </a:rPr>
              <a:t>Rewrite </a:t>
            </a:r>
            <a:r>
              <a:rPr lang="en-US" sz="4000" dirty="0">
                <a:latin typeface="Arial"/>
                <a:cs typeface="Arial"/>
              </a:rPr>
              <a:t>the following number sentences using the </a:t>
            </a:r>
            <a:r>
              <a:rPr lang="en-US" sz="4000" b="1" dirty="0">
                <a:latin typeface="Arial"/>
                <a:cs typeface="Arial"/>
              </a:rPr>
              <a:t>associative property.</a:t>
            </a:r>
          </a:p>
          <a:p>
            <a:pPr algn="ctr"/>
            <a:r>
              <a:rPr lang="en-US" sz="4000" dirty="0">
                <a:latin typeface="Arial"/>
                <a:cs typeface="Arial"/>
              </a:rPr>
              <a:t>10 x 6</a:t>
            </a:r>
          </a:p>
          <a:p>
            <a:pPr algn="ctr"/>
            <a:r>
              <a:rPr lang="en-US" sz="4000" dirty="0">
                <a:latin typeface="Arial"/>
                <a:cs typeface="Arial"/>
              </a:rPr>
              <a:t>7 x 8</a:t>
            </a:r>
          </a:p>
          <a:p>
            <a:pPr algn="ctr"/>
            <a:r>
              <a:rPr lang="en-US" sz="4000" dirty="0">
                <a:latin typeface="Arial"/>
                <a:cs typeface="Arial"/>
              </a:rPr>
              <a:t>6 x 4</a:t>
            </a:r>
          </a:p>
          <a:p>
            <a:pPr algn="ctr"/>
            <a:endParaRPr lang="en-US" sz="4000"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C3B14898-BBF9-1AEA-328E-B3919ABCA8C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76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(12)</a:t>
            </a:r>
          </a:p>
        </p:txBody>
      </p:sp>
      <p:sp>
        <p:nvSpPr>
          <p:cNvPr id="11" name="Picture Placeholder 10">
            <a:extLst>
              <a:ext uri="{FF2B5EF4-FFF2-40B4-BE49-F238E27FC236}">
                <a16:creationId xmlns:a16="http://schemas.microsoft.com/office/drawing/2014/main" id="{0BBCDB05-A139-44A3-EA5D-6556ADCA3BC0}"/>
              </a:ext>
            </a:extLst>
          </p:cNvPr>
          <p:cNvSpPr>
            <a:spLocks noGrp="1"/>
          </p:cNvSpPr>
          <p:nvPr>
            <p:ph type="pic" sz="quarter" idx="21"/>
          </p:nvPr>
        </p:nvSpPr>
        <p:spPr>
          <a:xfrm>
            <a:off x="474481" y="1599049"/>
            <a:ext cx="11243037" cy="3659902"/>
          </a:xfrm>
        </p:spPr>
        <p:txBody>
          <a:bodyPr/>
          <a:lstStyle/>
          <a:p>
            <a:pPr algn="ctr"/>
            <a:r>
              <a:rPr lang="en-AU" sz="4400" dirty="0"/>
              <a:t>Does obtaining heads when tossing a coin affect the </a:t>
            </a:r>
            <a:r>
              <a:rPr lang="en-AU" sz="4400" b="1" dirty="0"/>
              <a:t>chance </a:t>
            </a:r>
            <a:r>
              <a:rPr lang="en-AU" sz="4400" dirty="0"/>
              <a:t>of obtaining heads on the next toss?</a:t>
            </a:r>
          </a:p>
          <a:p>
            <a:pPr algn="ctr"/>
            <a:r>
              <a:rPr lang="en-AU" sz="4400" b="1" dirty="0"/>
              <a:t>Explain</a:t>
            </a:r>
            <a:r>
              <a:rPr lang="en-AU" sz="4400" dirty="0"/>
              <a:t> your </a:t>
            </a:r>
            <a:r>
              <a:rPr lang="en-AU" sz="4400" b="1" dirty="0"/>
              <a:t>thinking</a:t>
            </a:r>
            <a:r>
              <a:rPr lang="en-AU" sz="4400" dirty="0"/>
              <a:t> to a partner. </a:t>
            </a:r>
          </a:p>
        </p:txBody>
      </p:sp>
      <p:pic>
        <p:nvPicPr>
          <p:cNvPr id="4" name="Picture 3" descr="image of a clipboard with a pencil recording short answer responses">
            <a:extLst>
              <a:ext uri="{FF2B5EF4-FFF2-40B4-BE49-F238E27FC236}">
                <a16:creationId xmlns:a16="http://schemas.microsoft.com/office/drawing/2014/main" id="{F6524755-11ED-9461-3FEF-45D126D2CF84}"/>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39D89-8809-D797-B97B-0EC3A3918F77}"/>
            </a:ext>
          </a:extLst>
        </p:cNvPr>
        <p:cNvGrpSpPr/>
        <p:nvPr/>
      </p:nvGrpSpPr>
      <p:grpSpPr>
        <a:xfrm>
          <a:off x="0" y="0"/>
          <a:ext cx="0" cy="0"/>
          <a:chOff x="0" y="0"/>
          <a:chExt cx="0" cy="0"/>
        </a:xfrm>
      </p:grpSpPr>
      <p:sp>
        <p:nvSpPr>
          <p:cNvPr id="2" name="Slide Number Placeholder 1"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DE500731-A092-C91F-C349-48FE15442269}"/>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3" name="Title 2">
            <a:extLst>
              <a:ext uri="{FF2B5EF4-FFF2-40B4-BE49-F238E27FC236}">
                <a16:creationId xmlns:a16="http://schemas.microsoft.com/office/drawing/2014/main" id="{3AE0E19E-4D9A-B410-4D60-48AA3FD5541D}"/>
              </a:ext>
            </a:extLst>
          </p:cNvPr>
          <p:cNvSpPr>
            <a:spLocks noGrp="1"/>
          </p:cNvSpPr>
          <p:nvPr>
            <p:ph type="title"/>
          </p:nvPr>
        </p:nvSpPr>
        <p:spPr>
          <a:xfrm>
            <a:off x="360000" y="360000"/>
            <a:ext cx="11484000" cy="545601"/>
          </a:xfrm>
        </p:spPr>
        <p:txBody>
          <a:bodyPr/>
          <a:lstStyle/>
          <a:p>
            <a:r>
              <a:rPr lang="en-AU"/>
              <a:t>Activity 3 – renaming numbers </a:t>
            </a:r>
          </a:p>
        </p:txBody>
      </p:sp>
      <p:pic>
        <p:nvPicPr>
          <p:cNvPr id="4" name="Picture 3" descr="A whiteboard with the number 48 236 written on the top line with five 10-sided dice next to it.&#10;Three number sentences have been written below:&#10;40000 + 8000 + 200 + 30 + 6. &#10;48 thousands +22 tens +16 ones. &#10;30 thousands +182 hundreds +36 ones.">
            <a:extLst>
              <a:ext uri="{FF2B5EF4-FFF2-40B4-BE49-F238E27FC236}">
                <a16:creationId xmlns:a16="http://schemas.microsoft.com/office/drawing/2014/main" id="{978A079C-E03C-9347-09E2-18416DF948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5782" y="1534906"/>
            <a:ext cx="6320435" cy="4517776"/>
          </a:xfrm>
          <a:prstGeom prst="rect">
            <a:avLst/>
          </a:prstGeom>
          <a:ln>
            <a:noFill/>
          </a:ln>
          <a:effectLst>
            <a:outerShdw blurRad="292100" dist="139700" dir="2700000" algn="tl" rotWithShape="0">
              <a:srgbClr val="333333">
                <a:alpha val="65000"/>
              </a:srgbClr>
            </a:outerShdw>
          </a:effectLst>
        </p:spPr>
      </p:pic>
      <p:pic>
        <p:nvPicPr>
          <p:cNvPr id="5" name="Picture 4" descr="image of a head with cogs turning inside">
            <a:extLst>
              <a:ext uri="{FF2B5EF4-FFF2-40B4-BE49-F238E27FC236}">
                <a16:creationId xmlns:a16="http://schemas.microsoft.com/office/drawing/2014/main" id="{B9B6C850-5612-D9DE-14BF-34884EBF32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15968" y="88038"/>
            <a:ext cx="916032" cy="1089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513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(2)</a:t>
            </a:r>
          </a:p>
        </p:txBody>
      </p:sp>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474481" y="1355919"/>
            <a:ext cx="11243037" cy="2877133"/>
          </a:xfrm>
        </p:spPr>
        <p:txBody>
          <a:bodyPr vert="horz" lIns="0" tIns="0" rIns="0" bIns="0" rtlCol="0" anchor="t">
            <a:noAutofit/>
          </a:bodyPr>
          <a:lstStyle/>
          <a:p>
            <a:pPr algn="ctr"/>
            <a:r>
              <a:rPr lang="en-AU" sz="4400">
                <a:latin typeface="Arial"/>
                <a:cs typeface="Arial"/>
              </a:rPr>
              <a:t>Josh said the </a:t>
            </a:r>
            <a:r>
              <a:rPr lang="en-AU" sz="4400" b="1">
                <a:latin typeface="Arial"/>
                <a:cs typeface="Arial"/>
              </a:rPr>
              <a:t>expanded notation </a:t>
            </a:r>
            <a:r>
              <a:rPr lang="en-AU" sz="4400">
                <a:latin typeface="Arial"/>
                <a:cs typeface="Arial"/>
              </a:rPr>
              <a:t>of 5674 is 5000 + 600+ 40 + 7.</a:t>
            </a:r>
            <a:endParaRPr lang="en-US" sz="4400"/>
          </a:p>
        </p:txBody>
      </p:sp>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2541497064"/>
              </p:ext>
            </p:extLst>
          </p:nvPr>
        </p:nvGraphicFramePr>
        <p:xfrm>
          <a:off x="2442981" y="47841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6" name="Picture 5" descr="image of a finger selecting an option for a multiple choice or true and false">
            <a:extLst>
              <a:ext uri="{FF2B5EF4-FFF2-40B4-BE49-F238E27FC236}">
                <a16:creationId xmlns:a16="http://schemas.microsoft.com/office/drawing/2014/main" id="{69530689-7807-BBD6-FD1B-040AA488A195}"/>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(13)</a:t>
            </a:r>
          </a:p>
        </p:txBody>
      </p:sp>
      <p:sp>
        <p:nvSpPr>
          <p:cNvPr id="11" name="Picture Placeholder 10">
            <a:extLst>
              <a:ext uri="{FF2B5EF4-FFF2-40B4-BE49-F238E27FC236}">
                <a16:creationId xmlns:a16="http://schemas.microsoft.com/office/drawing/2014/main" id="{14C19D03-CFFF-C433-C478-7D603E7E945A}"/>
              </a:ext>
            </a:extLst>
          </p:cNvPr>
          <p:cNvSpPr>
            <a:spLocks noGrp="1"/>
          </p:cNvSpPr>
          <p:nvPr>
            <p:ph type="pic" sz="quarter" idx="21"/>
          </p:nvPr>
        </p:nvSpPr>
        <p:spPr>
          <a:xfrm>
            <a:off x="359999" y="1287137"/>
            <a:ext cx="11243037" cy="4956501"/>
          </a:xfrm>
        </p:spPr>
        <p:txBody>
          <a:bodyPr/>
          <a:lstStyle/>
          <a:p>
            <a:pPr algn="ctr"/>
            <a:r>
              <a:rPr lang="en-AU" sz="4400" b="1">
                <a:latin typeface="Arial"/>
                <a:cs typeface="Arial"/>
              </a:rPr>
              <a:t>Draw </a:t>
            </a:r>
            <a:r>
              <a:rPr lang="en-AU" sz="4400">
                <a:latin typeface="Arial"/>
                <a:cs typeface="Arial"/>
              </a:rPr>
              <a:t>the different ways can you </a:t>
            </a:r>
            <a:r>
              <a:rPr lang="en-AU" sz="4400" b="1">
                <a:latin typeface="Arial"/>
                <a:cs typeface="Arial"/>
              </a:rPr>
              <a:t>split a trapezium </a:t>
            </a:r>
            <a:r>
              <a:rPr lang="en-AU" sz="4400">
                <a:latin typeface="Arial"/>
                <a:cs typeface="Arial"/>
              </a:rPr>
              <a:t>into </a:t>
            </a:r>
            <a:r>
              <a:rPr lang="en-AU" sz="4400" b="1">
                <a:latin typeface="Arial"/>
                <a:cs typeface="Arial"/>
              </a:rPr>
              <a:t>2 or more shapes</a:t>
            </a:r>
            <a:r>
              <a:rPr lang="en-AU" sz="4400">
                <a:latin typeface="Arial"/>
                <a:cs typeface="Arial"/>
              </a:rPr>
              <a:t>?</a:t>
            </a:r>
            <a:endParaRPr lang="en-AU" sz="4400" b="0">
              <a:latin typeface="Arial"/>
              <a:cs typeface="Arial"/>
            </a:endParaRP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CBFAEF5-264E-AC66-53E9-1C49CB3F5B08}"/>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0" name="Picture 9" descr="Trapezium">
            <a:extLst>
              <a:ext uri="{FF2B5EF4-FFF2-40B4-BE49-F238E27FC236}">
                <a16:creationId xmlns:a16="http://schemas.microsoft.com/office/drawing/2014/main" id="{E6B66BB7-D327-25E2-E7AF-CE6EB1EADAD8}"/>
              </a:ext>
            </a:extLst>
          </p:cNvPr>
          <p:cNvPicPr>
            <a:picLocks noChangeAspect="1"/>
          </p:cNvPicPr>
          <p:nvPr/>
        </p:nvPicPr>
        <p:blipFill>
          <a:blip r:embed="rId4"/>
          <a:stretch>
            <a:fillRect/>
          </a:stretch>
        </p:blipFill>
        <p:spPr>
          <a:xfrm>
            <a:off x="3831906" y="3298943"/>
            <a:ext cx="4299221" cy="3080876"/>
          </a:xfrm>
          <a:prstGeom prst="rect">
            <a:avLst/>
          </a:prstGeom>
        </p:spPr>
      </p:pic>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932C-EC37-B3ED-6E76-5D6F2C7FF6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0D75EE-77E1-4439-0A95-55A48CB513CA}"/>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3" name="Title 2">
            <a:extLst>
              <a:ext uri="{FF2B5EF4-FFF2-40B4-BE49-F238E27FC236}">
                <a16:creationId xmlns:a16="http://schemas.microsoft.com/office/drawing/2014/main" id="{CBB4B7CA-693A-3F18-2EDC-EE94CBCA2F64}"/>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(14)</a:t>
            </a:r>
          </a:p>
        </p:txBody>
      </p:sp>
      <p:sp>
        <p:nvSpPr>
          <p:cNvPr id="11" name="Picture Placeholder 10">
            <a:extLst>
              <a:ext uri="{FF2B5EF4-FFF2-40B4-BE49-F238E27FC236}">
                <a16:creationId xmlns:a16="http://schemas.microsoft.com/office/drawing/2014/main" id="{2F913B4D-1682-BC3D-FA94-9742B9EAB2B6}"/>
              </a:ext>
            </a:extLst>
          </p:cNvPr>
          <p:cNvSpPr>
            <a:spLocks noGrp="1"/>
          </p:cNvSpPr>
          <p:nvPr>
            <p:ph type="pic" sz="quarter" idx="21"/>
          </p:nvPr>
        </p:nvSpPr>
        <p:spPr>
          <a:xfrm>
            <a:off x="359999" y="2300742"/>
            <a:ext cx="11243037" cy="3479571"/>
          </a:xfrm>
        </p:spPr>
        <p:txBody>
          <a:bodyPr/>
          <a:lstStyle/>
          <a:p>
            <a:pPr algn="ctr"/>
            <a:r>
              <a:rPr lang="en-US" sz="4400" dirty="0">
                <a:latin typeface="Arial"/>
                <a:cs typeface="Arial"/>
              </a:rPr>
              <a:t>What are </a:t>
            </a:r>
            <a:r>
              <a:rPr lang="en-US" sz="4400" b="1" dirty="0">
                <a:latin typeface="Arial"/>
                <a:cs typeface="Arial"/>
              </a:rPr>
              <a:t>all</a:t>
            </a:r>
            <a:r>
              <a:rPr lang="en-US" sz="4400" dirty="0">
                <a:latin typeface="Arial"/>
                <a:cs typeface="Arial"/>
              </a:rPr>
              <a:t> the </a:t>
            </a:r>
            <a:r>
              <a:rPr lang="en-US" sz="4400" b="1" dirty="0">
                <a:latin typeface="Arial"/>
                <a:cs typeface="Arial"/>
              </a:rPr>
              <a:t>possible outcomes </a:t>
            </a:r>
            <a:r>
              <a:rPr lang="en-US" sz="4400" dirty="0">
                <a:latin typeface="Arial"/>
                <a:cs typeface="Arial"/>
              </a:rPr>
              <a:t>when rolling</a:t>
            </a:r>
            <a:r>
              <a:rPr lang="en-US" sz="4400" b="1" dirty="0">
                <a:latin typeface="Arial"/>
                <a:cs typeface="Arial"/>
              </a:rPr>
              <a:t> two 6-sided dice?</a:t>
            </a: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B77B602D-A6DE-2C40-AE6F-710A01908253}"/>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12658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p:txBody>
          <a:bodyPr/>
          <a:lstStyle/>
          <a:p>
            <a:r>
              <a:rPr lang="en-US">
                <a:latin typeface="Arial"/>
                <a:cs typeface="Arial"/>
              </a:rPr>
              <a:t>Short response</a:t>
            </a:r>
            <a:r>
              <a:rPr lang="en-US">
                <a:solidFill>
                  <a:srgbClr val="002060"/>
                </a:solidFill>
                <a:latin typeface="Arial"/>
                <a:cs typeface="Arial"/>
              </a:rPr>
              <a:t> </a:t>
            </a:r>
            <a:r>
              <a:rPr lang="en-US">
                <a:solidFill>
                  <a:schemeClr val="bg1"/>
                </a:solidFill>
                <a:latin typeface="Arial"/>
                <a:cs typeface="Arial"/>
              </a:rPr>
              <a:t>(15) </a:t>
            </a:r>
          </a:p>
        </p:txBody>
      </p:sp>
      <p:sp>
        <p:nvSpPr>
          <p:cNvPr id="11" name="Picture Placeholder 10">
            <a:extLst>
              <a:ext uri="{FF2B5EF4-FFF2-40B4-BE49-F238E27FC236}">
                <a16:creationId xmlns:a16="http://schemas.microsoft.com/office/drawing/2014/main" id="{352E0507-6E6B-EB8A-88E2-35DDFC075B74}"/>
              </a:ext>
            </a:extLst>
          </p:cNvPr>
          <p:cNvSpPr>
            <a:spLocks noGrp="1"/>
          </p:cNvSpPr>
          <p:nvPr>
            <p:ph type="pic" sz="quarter" idx="21"/>
          </p:nvPr>
        </p:nvSpPr>
        <p:spPr>
          <a:xfrm>
            <a:off x="360000" y="996878"/>
            <a:ext cx="11243037" cy="5592399"/>
          </a:xfrm>
        </p:spPr>
        <p:txBody>
          <a:bodyPr/>
          <a:lstStyle/>
          <a:p>
            <a:pPr algn="ctr"/>
            <a:r>
              <a:rPr lang="en-AU" sz="4400" b="1" dirty="0"/>
              <a:t>Calculate</a:t>
            </a:r>
            <a:r>
              <a:rPr lang="en-AU" sz="4400" dirty="0"/>
              <a:t> the </a:t>
            </a:r>
            <a:r>
              <a:rPr lang="en-AU" sz="4400" b="1" dirty="0"/>
              <a:t>area</a:t>
            </a:r>
            <a:r>
              <a:rPr lang="en-AU" sz="4400" dirty="0"/>
              <a:t> of the following two playgrounds:</a:t>
            </a:r>
          </a:p>
          <a:p>
            <a:pPr algn="ctr"/>
            <a:r>
              <a:rPr lang="en-AU" sz="4400" dirty="0">
                <a:latin typeface="Arial"/>
                <a:cs typeface="Arial"/>
              </a:rPr>
              <a:t>Playground 1: </a:t>
            </a:r>
            <a:r>
              <a:rPr lang="en-AU" sz="4400" b="1" dirty="0">
                <a:latin typeface="Arial"/>
                <a:cs typeface="Arial"/>
              </a:rPr>
              <a:t>Length = 10 m Width = 4 m</a:t>
            </a:r>
          </a:p>
          <a:p>
            <a:pPr algn="ctr"/>
            <a:r>
              <a:rPr lang="en-AU" sz="4400" dirty="0">
                <a:latin typeface="Arial"/>
                <a:cs typeface="Arial"/>
              </a:rPr>
              <a:t>Playground 2</a:t>
            </a:r>
            <a:r>
              <a:rPr lang="en-AU" sz="4400" b="1" dirty="0">
                <a:latin typeface="Arial"/>
                <a:cs typeface="Arial"/>
              </a:rPr>
              <a:t>: Length = 5 m Width = 8 m</a:t>
            </a:r>
          </a:p>
          <a:p>
            <a:pPr algn="ctr"/>
            <a:r>
              <a:rPr lang="en-AU" sz="4400" dirty="0">
                <a:latin typeface="Arial"/>
                <a:cs typeface="Arial"/>
              </a:rPr>
              <a:t>What do you notice?  </a:t>
            </a:r>
          </a:p>
          <a:p>
            <a:pPr algn="ctr"/>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26FF086C-E9B9-CA71-EB91-C0AC0EA37979}"/>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(16)</a:t>
            </a:r>
          </a:p>
        </p:txBody>
      </p:sp>
      <p:sp>
        <p:nvSpPr>
          <p:cNvPr id="11" name="Picture Placeholder 10">
            <a:extLst>
              <a:ext uri="{FF2B5EF4-FFF2-40B4-BE49-F238E27FC236}">
                <a16:creationId xmlns:a16="http://schemas.microsoft.com/office/drawing/2014/main" id="{62E43AA6-EE50-7B61-E74B-D734C2893183}"/>
              </a:ext>
            </a:extLst>
          </p:cNvPr>
          <p:cNvSpPr>
            <a:spLocks noGrp="1"/>
          </p:cNvSpPr>
          <p:nvPr>
            <p:ph type="pic" sz="quarter" idx="21"/>
          </p:nvPr>
        </p:nvSpPr>
        <p:spPr>
          <a:xfrm>
            <a:off x="474481" y="1662544"/>
            <a:ext cx="11243037" cy="2833414"/>
          </a:xfrm>
        </p:spPr>
        <p:txBody>
          <a:bodyPr/>
          <a:lstStyle/>
          <a:p>
            <a:pPr algn="ctr"/>
            <a:r>
              <a:rPr lang="en-AU" sz="4400"/>
              <a:t>Name some </a:t>
            </a:r>
            <a:r>
              <a:rPr lang="en-AU" sz="4400" b="1"/>
              <a:t>everyday objects </a:t>
            </a:r>
            <a:r>
              <a:rPr lang="en-AU" sz="4400"/>
              <a:t>that</a:t>
            </a:r>
            <a:r>
              <a:rPr lang="en-AU" sz="4400" b="1"/>
              <a:t> </a:t>
            </a:r>
            <a:r>
              <a:rPr lang="en-AU" sz="4400"/>
              <a:t>are </a:t>
            </a:r>
            <a:r>
              <a:rPr lang="en-AU" sz="4400" b="1"/>
              <a:t>measured in grams</a:t>
            </a:r>
            <a:r>
              <a:rPr lang="en-AU" sz="4400"/>
              <a:t>. </a:t>
            </a:r>
          </a:p>
          <a:p>
            <a:pPr algn="ctr"/>
            <a:r>
              <a:rPr lang="en-AU" sz="4400"/>
              <a:t>Why are </a:t>
            </a:r>
            <a:r>
              <a:rPr lang="en-AU" sz="4400" b="1"/>
              <a:t>grams </a:t>
            </a:r>
            <a:r>
              <a:rPr lang="en-AU" sz="4400"/>
              <a:t>used</a:t>
            </a:r>
            <a:r>
              <a:rPr lang="en-AU" sz="4400" b="1"/>
              <a:t> instead of kilograms</a:t>
            </a:r>
            <a:r>
              <a:rPr lang="en-AU" sz="4400"/>
              <a:t> to </a:t>
            </a:r>
            <a:r>
              <a:rPr lang="en-AU" sz="4400" b="1"/>
              <a:t>measure</a:t>
            </a:r>
            <a:r>
              <a:rPr lang="en-AU" sz="4400"/>
              <a:t> these objects?</a:t>
            </a:r>
            <a:endParaRPr lang="en-US" sz="4400">
              <a:latin typeface="Arial"/>
              <a:cs typeface="Arial"/>
            </a:endParaRPr>
          </a:p>
          <a:p>
            <a:endParaRPr lang="en-US" sz="440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A0B7D3FC-8755-D8E4-D7AC-203728BDEE26}"/>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4 – number expander</a:t>
            </a:r>
          </a:p>
        </p:txBody>
      </p:sp>
      <p:sp>
        <p:nvSpPr>
          <p:cNvPr id="4" name="TextBox 2"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65693984-DA7E-097E-7935-FA73D4EE86AD}"/>
              </a:ext>
            </a:extLst>
          </p:cNvPr>
          <p:cNvSpPr txBox="1"/>
          <p:nvPr/>
        </p:nvSpPr>
        <p:spPr>
          <a:xfrm>
            <a:off x="1104302" y="2144693"/>
            <a:ext cx="2973900" cy="636841"/>
          </a:xfrm>
          <a:prstGeom prst="rect">
            <a:avLst/>
          </a:prstGeom>
        </p:spPr>
        <p:txBody>
          <a:bodyPr lIns="0" tIns="0" rIns="0" bIns="0" rtlCol="0" anchor="t">
            <a:spAutoFit/>
          </a:bodyPr>
          <a:lstStyle/>
          <a:p>
            <a:pPr algn="ctr">
              <a:lnSpc>
                <a:spcPts val="2559"/>
              </a:lnSpc>
              <a:spcBef>
                <a:spcPct val="0"/>
              </a:spcBef>
            </a:pPr>
            <a:r>
              <a:rPr lang="en-US" sz="1800">
                <a:solidFill>
                  <a:srgbClr val="004AAD"/>
                </a:solidFill>
                <a:latin typeface="Arial" panose="020B0604020202020204" pitchFamily="34" charset="0"/>
                <a:ea typeface="Canva Student Font"/>
                <a:cs typeface="Arial" panose="020B0604020202020204" pitchFamily="34" charset="0"/>
                <a:sym typeface="Canva Student Font"/>
              </a:rPr>
              <a:t>My number in expanded notation</a:t>
            </a:r>
          </a:p>
        </p:txBody>
      </p:sp>
      <p:sp>
        <p:nvSpPr>
          <p:cNvPr id="5" name="Freeform 3"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7FF1AE69-B9D9-6EF3-CFBA-AE442200AD3D}"/>
              </a:ext>
            </a:extLst>
          </p:cNvPr>
          <p:cNvSpPr/>
          <p:nvPr/>
        </p:nvSpPr>
        <p:spPr>
          <a:xfrm rot="-8968094" flipH="1">
            <a:off x="4170723" y="2312786"/>
            <a:ext cx="455647" cy="128720"/>
          </a:xfrm>
          <a:custGeom>
            <a:avLst/>
            <a:gdLst/>
            <a:ahLst/>
            <a:cxnLst/>
            <a:rect l="l" t="t" r="r" b="b"/>
            <a:pathLst>
              <a:path w="455647" h="128720">
                <a:moveTo>
                  <a:pt x="455648" y="0"/>
                </a:moveTo>
                <a:lnTo>
                  <a:pt x="0" y="0"/>
                </a:lnTo>
                <a:lnTo>
                  <a:pt x="0" y="128721"/>
                </a:lnTo>
                <a:lnTo>
                  <a:pt x="455648" y="128721"/>
                </a:lnTo>
                <a:lnTo>
                  <a:pt x="455648"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grpSp>
        <p:nvGrpSpPr>
          <p:cNvPr id="6" name="Group 4"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E37D8079-B3E5-CCC1-C796-658FC068AFFA}"/>
              </a:ext>
            </a:extLst>
          </p:cNvPr>
          <p:cNvGrpSpPr/>
          <p:nvPr/>
        </p:nvGrpSpPr>
        <p:grpSpPr>
          <a:xfrm>
            <a:off x="533660" y="3207806"/>
            <a:ext cx="4648459" cy="293029"/>
            <a:chOff x="-1609517" y="-34409"/>
            <a:chExt cx="6197945" cy="390705"/>
          </a:xfrm>
        </p:grpSpPr>
        <p:sp>
          <p:nvSpPr>
            <p:cNvPr id="7" name="Freeform 5">
              <a:extLst>
                <a:ext uri="{FF2B5EF4-FFF2-40B4-BE49-F238E27FC236}">
                  <a16:creationId xmlns:a16="http://schemas.microsoft.com/office/drawing/2014/main" id="{B160F1B2-ABDA-15B0-6F51-EB0951B45CF6}"/>
                </a:ext>
              </a:extLst>
            </p:cNvPr>
            <p:cNvSpPr/>
            <p:nvPr/>
          </p:nvSpPr>
          <p:spPr>
            <a:xfrm rot="-9632552" flipH="1">
              <a:off x="3989131" y="94980"/>
              <a:ext cx="599297" cy="169301"/>
            </a:xfrm>
            <a:custGeom>
              <a:avLst/>
              <a:gdLst/>
              <a:ahLst/>
              <a:cxnLst/>
              <a:rect l="l" t="t" r="r" b="b"/>
              <a:pathLst>
                <a:path w="599297" h="169301">
                  <a:moveTo>
                    <a:pt x="599296" y="0"/>
                  </a:moveTo>
                  <a:lnTo>
                    <a:pt x="0" y="0"/>
                  </a:lnTo>
                  <a:lnTo>
                    <a:pt x="0" y="169302"/>
                  </a:lnTo>
                  <a:lnTo>
                    <a:pt x="599296" y="169302"/>
                  </a:lnTo>
                  <a:lnTo>
                    <a:pt x="599296"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8" name="TextBox 6">
              <a:extLst>
                <a:ext uri="{FF2B5EF4-FFF2-40B4-BE49-F238E27FC236}">
                  <a16:creationId xmlns:a16="http://schemas.microsoft.com/office/drawing/2014/main" id="{C5442F73-98E7-DDD0-8E33-7A36FFF38CE6}"/>
                </a:ext>
              </a:extLst>
            </p:cNvPr>
            <p:cNvSpPr txBox="1"/>
            <p:nvPr/>
          </p:nvSpPr>
          <p:spPr>
            <a:xfrm>
              <a:off x="-1609517" y="-34409"/>
              <a:ext cx="5527232" cy="390705"/>
            </a:xfrm>
            <a:prstGeom prst="rect">
              <a:avLst/>
            </a:prstGeom>
          </p:spPr>
          <p:txBody>
            <a:bodyPr wrap="square" lIns="0" tIns="0" rIns="0" bIns="0" rtlCol="0" anchor="t">
              <a:spAutoFit/>
            </a:bodyPr>
            <a:lstStyle/>
            <a:p>
              <a:pPr algn="ctr">
                <a:lnSpc>
                  <a:spcPts val="2524"/>
                </a:lnSpc>
                <a:spcBef>
                  <a:spcPct val="0"/>
                </a:spcBef>
              </a:pPr>
              <a:r>
                <a:rPr lang="en-US" sz="1800">
                  <a:solidFill>
                    <a:srgbClr val="004AAD"/>
                  </a:solidFill>
                  <a:latin typeface="Arial" panose="020B0604020202020204" pitchFamily="34" charset="0"/>
                  <a:ea typeface="Canva Student Font"/>
                  <a:cs typeface="Arial" panose="020B0604020202020204" pitchFamily="34" charset="0"/>
                  <a:sym typeface="Canva Student Font"/>
                </a:rPr>
                <a:t>Number expander - standard partitioning</a:t>
              </a:r>
            </a:p>
          </p:txBody>
        </p:sp>
      </p:grpSp>
      <p:sp>
        <p:nvSpPr>
          <p:cNvPr id="9" name="Freeform 7"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F9CDEFA8-2C4D-1C42-D907-00FDDCE3C113}"/>
              </a:ext>
            </a:extLst>
          </p:cNvPr>
          <p:cNvSpPr/>
          <p:nvPr/>
        </p:nvSpPr>
        <p:spPr>
          <a:xfrm rot="-9147834" flipH="1">
            <a:off x="4206993" y="5264984"/>
            <a:ext cx="450892" cy="127377"/>
          </a:xfrm>
          <a:custGeom>
            <a:avLst/>
            <a:gdLst/>
            <a:ahLst/>
            <a:cxnLst/>
            <a:rect l="l" t="t" r="r" b="b"/>
            <a:pathLst>
              <a:path w="450892" h="127377">
                <a:moveTo>
                  <a:pt x="450892" y="0"/>
                </a:moveTo>
                <a:lnTo>
                  <a:pt x="0" y="0"/>
                </a:lnTo>
                <a:lnTo>
                  <a:pt x="0" y="127377"/>
                </a:lnTo>
                <a:lnTo>
                  <a:pt x="450892" y="127377"/>
                </a:lnTo>
                <a:lnTo>
                  <a:pt x="450892"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10" name="Freeform 8"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1A40A455-06D5-D789-CB4E-70D159D7ADA4}"/>
              </a:ext>
            </a:extLst>
          </p:cNvPr>
          <p:cNvSpPr/>
          <p:nvPr/>
        </p:nvSpPr>
        <p:spPr>
          <a:xfrm rot="-5400000">
            <a:off x="4128384" y="4061110"/>
            <a:ext cx="693937" cy="477082"/>
          </a:xfrm>
          <a:custGeom>
            <a:avLst/>
            <a:gdLst/>
            <a:ahLst/>
            <a:cxnLst/>
            <a:rect l="l" t="t" r="r" b="b"/>
            <a:pathLst>
              <a:path w="693937" h="477082">
                <a:moveTo>
                  <a:pt x="0" y="0"/>
                </a:moveTo>
                <a:lnTo>
                  <a:pt x="693936" y="0"/>
                </a:lnTo>
                <a:lnTo>
                  <a:pt x="693936" y="477082"/>
                </a:lnTo>
                <a:lnTo>
                  <a:pt x="0" y="4770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11" name="Freeform 9"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10F0787F-7D10-8DFB-BC90-DE28CA35523F}"/>
              </a:ext>
            </a:extLst>
          </p:cNvPr>
          <p:cNvSpPr/>
          <p:nvPr/>
        </p:nvSpPr>
        <p:spPr>
          <a:xfrm rot="-5400000">
            <a:off x="5475027" y="4056264"/>
            <a:ext cx="693937" cy="477082"/>
          </a:xfrm>
          <a:custGeom>
            <a:avLst/>
            <a:gdLst/>
            <a:ahLst/>
            <a:cxnLst/>
            <a:rect l="l" t="t" r="r" b="b"/>
            <a:pathLst>
              <a:path w="693937" h="477082">
                <a:moveTo>
                  <a:pt x="0" y="0"/>
                </a:moveTo>
                <a:lnTo>
                  <a:pt x="693937" y="0"/>
                </a:lnTo>
                <a:lnTo>
                  <a:pt x="693937" y="477082"/>
                </a:lnTo>
                <a:lnTo>
                  <a:pt x="0" y="4770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12" name="Freeform 10"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C8CAC471-8BBB-2A86-7C80-C4587A7CB96A}"/>
              </a:ext>
            </a:extLst>
          </p:cNvPr>
          <p:cNvSpPr/>
          <p:nvPr/>
        </p:nvSpPr>
        <p:spPr>
          <a:xfrm rot="-5400000">
            <a:off x="6974071" y="4045508"/>
            <a:ext cx="693937" cy="477082"/>
          </a:xfrm>
          <a:custGeom>
            <a:avLst/>
            <a:gdLst/>
            <a:ahLst/>
            <a:cxnLst/>
            <a:rect l="l" t="t" r="r" b="b"/>
            <a:pathLst>
              <a:path w="693937" h="477082">
                <a:moveTo>
                  <a:pt x="0" y="0"/>
                </a:moveTo>
                <a:lnTo>
                  <a:pt x="693937" y="0"/>
                </a:lnTo>
                <a:lnTo>
                  <a:pt x="693937" y="477082"/>
                </a:lnTo>
                <a:lnTo>
                  <a:pt x="0" y="4770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13" name="Freeform 11"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3A04E9FA-7B13-7E3B-8454-DE97FE62BD08}"/>
              </a:ext>
            </a:extLst>
          </p:cNvPr>
          <p:cNvSpPr/>
          <p:nvPr/>
        </p:nvSpPr>
        <p:spPr>
          <a:xfrm rot="-5400000">
            <a:off x="8173330" y="4023994"/>
            <a:ext cx="693937" cy="477082"/>
          </a:xfrm>
          <a:custGeom>
            <a:avLst/>
            <a:gdLst/>
            <a:ahLst/>
            <a:cxnLst/>
            <a:rect l="l" t="t" r="r" b="b"/>
            <a:pathLst>
              <a:path w="693937" h="477082">
                <a:moveTo>
                  <a:pt x="0" y="0"/>
                </a:moveTo>
                <a:lnTo>
                  <a:pt x="693937" y="0"/>
                </a:lnTo>
                <a:lnTo>
                  <a:pt x="693937" y="477082"/>
                </a:lnTo>
                <a:lnTo>
                  <a:pt x="0" y="4770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14" name="Freeform 12"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8B2B0DD2-B27E-79ED-9C97-EC416A9AC14C}"/>
              </a:ext>
            </a:extLst>
          </p:cNvPr>
          <p:cNvSpPr/>
          <p:nvPr/>
        </p:nvSpPr>
        <p:spPr>
          <a:xfrm rot="-5400000">
            <a:off x="2460680" y="4055191"/>
            <a:ext cx="693937" cy="477082"/>
          </a:xfrm>
          <a:custGeom>
            <a:avLst/>
            <a:gdLst/>
            <a:ahLst/>
            <a:cxnLst/>
            <a:rect l="l" t="t" r="r" b="b"/>
            <a:pathLst>
              <a:path w="693937" h="477082">
                <a:moveTo>
                  <a:pt x="0" y="0"/>
                </a:moveTo>
                <a:lnTo>
                  <a:pt x="693937" y="0"/>
                </a:lnTo>
                <a:lnTo>
                  <a:pt x="693937" y="477082"/>
                </a:lnTo>
                <a:lnTo>
                  <a:pt x="0" y="4770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15" name="Freeform 13"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99B1E8A8-0C88-8C54-B58C-A84CDD7DF462}"/>
              </a:ext>
            </a:extLst>
          </p:cNvPr>
          <p:cNvSpPr/>
          <p:nvPr/>
        </p:nvSpPr>
        <p:spPr>
          <a:xfrm rot="-5400000">
            <a:off x="1010140" y="4061110"/>
            <a:ext cx="693937" cy="477082"/>
          </a:xfrm>
          <a:custGeom>
            <a:avLst/>
            <a:gdLst/>
            <a:ahLst/>
            <a:cxnLst/>
            <a:rect l="l" t="t" r="r" b="b"/>
            <a:pathLst>
              <a:path w="693937" h="477082">
                <a:moveTo>
                  <a:pt x="0" y="0"/>
                </a:moveTo>
                <a:lnTo>
                  <a:pt x="693937" y="0"/>
                </a:lnTo>
                <a:lnTo>
                  <a:pt x="693937" y="477082"/>
                </a:lnTo>
                <a:lnTo>
                  <a:pt x="0" y="47708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16" name="Freeform 14"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E2F05356-8344-66CA-47FC-68ECA9E6154E}"/>
              </a:ext>
            </a:extLst>
          </p:cNvPr>
          <p:cNvSpPr/>
          <p:nvPr/>
        </p:nvSpPr>
        <p:spPr>
          <a:xfrm>
            <a:off x="1243495" y="5425534"/>
            <a:ext cx="7877249" cy="1319971"/>
          </a:xfrm>
          <a:custGeom>
            <a:avLst/>
            <a:gdLst/>
            <a:ahLst/>
            <a:cxnLst/>
            <a:rect l="l" t="t" r="r" b="b"/>
            <a:pathLst>
              <a:path w="7877249" h="1319971">
                <a:moveTo>
                  <a:pt x="0" y="0"/>
                </a:moveTo>
                <a:lnTo>
                  <a:pt x="7877249" y="0"/>
                </a:lnTo>
                <a:lnTo>
                  <a:pt x="7877249" y="1319972"/>
                </a:lnTo>
                <a:lnTo>
                  <a:pt x="0" y="1319972"/>
                </a:lnTo>
                <a:lnTo>
                  <a:pt x="0" y="0"/>
                </a:lnTo>
                <a:close/>
              </a:path>
            </a:pathLst>
          </a:custGeom>
          <a:blipFill>
            <a:blip r:embed="rId7"/>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17" name="Freeform 15">
            <a:extLst>
              <a:ext uri="{FF2B5EF4-FFF2-40B4-BE49-F238E27FC236}">
                <a16:creationId xmlns:a16="http://schemas.microsoft.com/office/drawing/2014/main" id="{B1DBF17B-1E7C-E9BD-CF00-02F7CFD180DF}"/>
              </a:ext>
              <a:ext uri="{C183D7F6-B498-43B3-948B-1728B52AA6E4}">
                <adec:decorative xmlns:adec="http://schemas.microsoft.com/office/drawing/2017/decorative" val="1"/>
              </a:ext>
            </a:extLst>
          </p:cNvPr>
          <p:cNvSpPr/>
          <p:nvPr/>
        </p:nvSpPr>
        <p:spPr>
          <a:xfrm>
            <a:off x="7248735" y="985303"/>
            <a:ext cx="460271" cy="517158"/>
          </a:xfrm>
          <a:custGeom>
            <a:avLst/>
            <a:gdLst/>
            <a:ahLst/>
            <a:cxnLst/>
            <a:rect l="l" t="t" r="r" b="b"/>
            <a:pathLst>
              <a:path w="460271" h="517158">
                <a:moveTo>
                  <a:pt x="0" y="0"/>
                </a:moveTo>
                <a:lnTo>
                  <a:pt x="460271" y="0"/>
                </a:lnTo>
                <a:lnTo>
                  <a:pt x="460271" y="517158"/>
                </a:lnTo>
                <a:lnTo>
                  <a:pt x="0" y="51715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18" name="Freeform 16">
            <a:extLst>
              <a:ext uri="{FF2B5EF4-FFF2-40B4-BE49-F238E27FC236}">
                <a16:creationId xmlns:a16="http://schemas.microsoft.com/office/drawing/2014/main" id="{1D6BAC1C-CF59-08E5-55EF-C6E8AEA9CDAF}"/>
              </a:ext>
              <a:ext uri="{C183D7F6-B498-43B3-948B-1728B52AA6E4}">
                <adec:decorative xmlns:adec="http://schemas.microsoft.com/office/drawing/2017/decorative" val="1"/>
              </a:ext>
            </a:extLst>
          </p:cNvPr>
          <p:cNvSpPr/>
          <p:nvPr/>
        </p:nvSpPr>
        <p:spPr>
          <a:xfrm>
            <a:off x="7794731" y="979431"/>
            <a:ext cx="444761" cy="499732"/>
          </a:xfrm>
          <a:custGeom>
            <a:avLst/>
            <a:gdLst/>
            <a:ahLst/>
            <a:cxnLst/>
            <a:rect l="l" t="t" r="r" b="b"/>
            <a:pathLst>
              <a:path w="444761" h="499732">
                <a:moveTo>
                  <a:pt x="0" y="0"/>
                </a:moveTo>
                <a:lnTo>
                  <a:pt x="444761" y="0"/>
                </a:lnTo>
                <a:lnTo>
                  <a:pt x="444761" y="499732"/>
                </a:lnTo>
                <a:lnTo>
                  <a:pt x="0" y="49973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19" name="Freeform 17">
            <a:extLst>
              <a:ext uri="{FF2B5EF4-FFF2-40B4-BE49-F238E27FC236}">
                <a16:creationId xmlns:a16="http://schemas.microsoft.com/office/drawing/2014/main" id="{BEDB5A16-DB29-8D7C-0E92-5A22FD1E5FE6}"/>
              </a:ext>
              <a:ext uri="{C183D7F6-B498-43B3-948B-1728B52AA6E4}">
                <adec:decorative xmlns:adec="http://schemas.microsoft.com/office/drawing/2017/decorative" val="1"/>
              </a:ext>
            </a:extLst>
          </p:cNvPr>
          <p:cNvSpPr/>
          <p:nvPr/>
        </p:nvSpPr>
        <p:spPr>
          <a:xfrm>
            <a:off x="6700492" y="985303"/>
            <a:ext cx="440232" cy="494643"/>
          </a:xfrm>
          <a:custGeom>
            <a:avLst/>
            <a:gdLst/>
            <a:ahLst/>
            <a:cxnLst/>
            <a:rect l="l" t="t" r="r" b="b"/>
            <a:pathLst>
              <a:path w="440232" h="494643">
                <a:moveTo>
                  <a:pt x="0" y="0"/>
                </a:moveTo>
                <a:lnTo>
                  <a:pt x="440232" y="0"/>
                </a:lnTo>
                <a:lnTo>
                  <a:pt x="440232" y="494643"/>
                </a:lnTo>
                <a:lnTo>
                  <a:pt x="0" y="49464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20" name="Freeform 18">
            <a:extLst>
              <a:ext uri="{FF2B5EF4-FFF2-40B4-BE49-F238E27FC236}">
                <a16:creationId xmlns:a16="http://schemas.microsoft.com/office/drawing/2014/main" id="{C58F1515-828C-C1A1-AF5A-D0F39DC97A62}"/>
              </a:ext>
              <a:ext uri="{C183D7F6-B498-43B3-948B-1728B52AA6E4}">
                <adec:decorative xmlns:adec="http://schemas.microsoft.com/office/drawing/2017/decorative" val="1"/>
              </a:ext>
            </a:extLst>
          </p:cNvPr>
          <p:cNvSpPr/>
          <p:nvPr/>
        </p:nvSpPr>
        <p:spPr>
          <a:xfrm>
            <a:off x="8364333" y="979431"/>
            <a:ext cx="465497" cy="523030"/>
          </a:xfrm>
          <a:custGeom>
            <a:avLst/>
            <a:gdLst/>
            <a:ahLst/>
            <a:cxnLst/>
            <a:rect l="l" t="t" r="r" b="b"/>
            <a:pathLst>
              <a:path w="465497" h="523030">
                <a:moveTo>
                  <a:pt x="0" y="0"/>
                </a:moveTo>
                <a:lnTo>
                  <a:pt x="465497" y="0"/>
                </a:lnTo>
                <a:lnTo>
                  <a:pt x="465497" y="523030"/>
                </a:lnTo>
                <a:lnTo>
                  <a:pt x="0" y="52303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21" name="Freeform 19"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612BDAFB-5BD1-46BA-902F-EA559F3A05CB}"/>
              </a:ext>
            </a:extLst>
          </p:cNvPr>
          <p:cNvSpPr/>
          <p:nvPr/>
        </p:nvSpPr>
        <p:spPr>
          <a:xfrm rot="-392676" flipH="1">
            <a:off x="9426110" y="1270167"/>
            <a:ext cx="518284" cy="146415"/>
          </a:xfrm>
          <a:custGeom>
            <a:avLst/>
            <a:gdLst/>
            <a:ahLst/>
            <a:cxnLst/>
            <a:rect l="l" t="t" r="r" b="b"/>
            <a:pathLst>
              <a:path w="518284" h="146415">
                <a:moveTo>
                  <a:pt x="518285" y="0"/>
                </a:moveTo>
                <a:lnTo>
                  <a:pt x="0" y="0"/>
                </a:lnTo>
                <a:lnTo>
                  <a:pt x="0" y="146415"/>
                </a:lnTo>
                <a:lnTo>
                  <a:pt x="518285" y="146415"/>
                </a:lnTo>
                <a:lnTo>
                  <a:pt x="518285"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22" name="Freeform 20">
            <a:extLst>
              <a:ext uri="{FF2B5EF4-FFF2-40B4-BE49-F238E27FC236}">
                <a16:creationId xmlns:a16="http://schemas.microsoft.com/office/drawing/2014/main" id="{12F567A5-C280-B8B2-4F70-9F57F8C36C08}"/>
              </a:ext>
              <a:ext uri="{C183D7F6-B498-43B3-948B-1728B52AA6E4}">
                <adec:decorative xmlns:adec="http://schemas.microsoft.com/office/drawing/2017/decorative" val="1"/>
              </a:ext>
            </a:extLst>
          </p:cNvPr>
          <p:cNvSpPr/>
          <p:nvPr/>
        </p:nvSpPr>
        <p:spPr>
          <a:xfrm>
            <a:off x="6149789" y="985303"/>
            <a:ext cx="464978" cy="522447"/>
          </a:xfrm>
          <a:custGeom>
            <a:avLst/>
            <a:gdLst/>
            <a:ahLst/>
            <a:cxnLst/>
            <a:rect l="l" t="t" r="r" b="b"/>
            <a:pathLst>
              <a:path w="464978" h="522447">
                <a:moveTo>
                  <a:pt x="0" y="0"/>
                </a:moveTo>
                <a:lnTo>
                  <a:pt x="464978" y="0"/>
                </a:lnTo>
                <a:lnTo>
                  <a:pt x="464978" y="522447"/>
                </a:lnTo>
                <a:lnTo>
                  <a:pt x="0" y="522447"/>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23" name="Freeform 21">
            <a:extLst>
              <a:ext uri="{FF2B5EF4-FFF2-40B4-BE49-F238E27FC236}">
                <a16:creationId xmlns:a16="http://schemas.microsoft.com/office/drawing/2014/main" id="{6C65DA1C-7A7D-BFCE-5DD2-17DF5EA38124}"/>
              </a:ext>
              <a:ext uri="{C183D7F6-B498-43B3-948B-1728B52AA6E4}">
                <adec:decorative xmlns:adec="http://schemas.microsoft.com/office/drawing/2017/decorative" val="1"/>
              </a:ext>
            </a:extLst>
          </p:cNvPr>
          <p:cNvSpPr/>
          <p:nvPr/>
        </p:nvSpPr>
        <p:spPr>
          <a:xfrm>
            <a:off x="8917170" y="985303"/>
            <a:ext cx="441621" cy="496204"/>
          </a:xfrm>
          <a:custGeom>
            <a:avLst/>
            <a:gdLst/>
            <a:ahLst/>
            <a:cxnLst/>
            <a:rect l="l" t="t" r="r" b="b"/>
            <a:pathLst>
              <a:path w="441621" h="496204">
                <a:moveTo>
                  <a:pt x="0" y="0"/>
                </a:moveTo>
                <a:lnTo>
                  <a:pt x="441621" y="0"/>
                </a:lnTo>
                <a:lnTo>
                  <a:pt x="441621" y="496204"/>
                </a:lnTo>
                <a:lnTo>
                  <a:pt x="0" y="49620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AU" sz="2000">
              <a:latin typeface="Arial" panose="020B0604020202020204" pitchFamily="34" charset="0"/>
              <a:cs typeface="Arial" panose="020B0604020202020204" pitchFamily="34" charset="0"/>
            </a:endParaRPr>
          </a:p>
        </p:txBody>
      </p:sp>
      <p:sp>
        <p:nvSpPr>
          <p:cNvPr id="24" name="TextBox 22"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FFA2E53C-F4CF-48AD-AA31-295422124278}"/>
              </a:ext>
            </a:extLst>
          </p:cNvPr>
          <p:cNvSpPr txBox="1"/>
          <p:nvPr/>
        </p:nvSpPr>
        <p:spPr>
          <a:xfrm>
            <a:off x="1136052" y="1207227"/>
            <a:ext cx="4145424" cy="491609"/>
          </a:xfrm>
          <a:prstGeom prst="rect">
            <a:avLst/>
          </a:prstGeom>
        </p:spPr>
        <p:txBody>
          <a:bodyPr lIns="0" tIns="0" rIns="0" bIns="0" rtlCol="0" anchor="t">
            <a:spAutoFit/>
          </a:bodyPr>
          <a:lstStyle/>
          <a:p>
            <a:pPr algn="ctr">
              <a:lnSpc>
                <a:spcPts val="4204"/>
              </a:lnSpc>
              <a:spcBef>
                <a:spcPct val="0"/>
              </a:spcBef>
            </a:pPr>
            <a:r>
              <a:rPr lang="en-US" sz="2800">
                <a:solidFill>
                  <a:srgbClr val="004AAD"/>
                </a:solidFill>
                <a:latin typeface="Arial" panose="020B0604020202020204" pitchFamily="34" charset="0"/>
                <a:ea typeface="Canva Student Font"/>
                <a:cs typeface="Arial" panose="020B0604020202020204" pitchFamily="34" charset="0"/>
                <a:sym typeface="Canva Student Font"/>
              </a:rPr>
              <a:t>My number is: 246 895  </a:t>
            </a:r>
          </a:p>
        </p:txBody>
      </p:sp>
      <p:sp>
        <p:nvSpPr>
          <p:cNvPr id="25" name="TextBox 23"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7C86D2E2-DDFA-236D-A10F-C3A1F82C86E6}"/>
              </a:ext>
            </a:extLst>
          </p:cNvPr>
          <p:cNvSpPr txBox="1"/>
          <p:nvPr/>
        </p:nvSpPr>
        <p:spPr>
          <a:xfrm>
            <a:off x="1136052" y="5057226"/>
            <a:ext cx="3262494" cy="293222"/>
          </a:xfrm>
          <a:prstGeom prst="rect">
            <a:avLst/>
          </a:prstGeom>
        </p:spPr>
        <p:txBody>
          <a:bodyPr lIns="0" tIns="0" rIns="0" bIns="0" rtlCol="0" anchor="t">
            <a:spAutoFit/>
          </a:bodyPr>
          <a:lstStyle/>
          <a:p>
            <a:pPr algn="ctr">
              <a:lnSpc>
                <a:spcPts val="2532"/>
              </a:lnSpc>
              <a:spcBef>
                <a:spcPct val="0"/>
              </a:spcBef>
            </a:pPr>
            <a:r>
              <a:rPr lang="en-US" sz="1800">
                <a:solidFill>
                  <a:srgbClr val="004AAD"/>
                </a:solidFill>
                <a:latin typeface="Arial" panose="020B0604020202020204" pitchFamily="34" charset="0"/>
                <a:ea typeface="Canva Student Font"/>
                <a:cs typeface="Arial" panose="020B0604020202020204" pitchFamily="34" charset="0"/>
                <a:sym typeface="Canva Student Font"/>
              </a:rPr>
              <a:t>Non-standard partitioning</a:t>
            </a:r>
          </a:p>
        </p:txBody>
      </p:sp>
      <p:sp>
        <p:nvSpPr>
          <p:cNvPr id="26" name="TextBox 25"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066C9D02-9C00-4C03-A741-F5AD51C378E3}"/>
              </a:ext>
            </a:extLst>
          </p:cNvPr>
          <p:cNvSpPr txBox="1"/>
          <p:nvPr/>
        </p:nvSpPr>
        <p:spPr>
          <a:xfrm>
            <a:off x="4780568" y="4127330"/>
            <a:ext cx="736212" cy="282193"/>
          </a:xfrm>
          <a:prstGeom prst="rect">
            <a:avLst/>
          </a:prstGeom>
        </p:spPr>
        <p:txBody>
          <a:bodyPr lIns="0" tIns="0" rIns="0" bIns="0" rtlCol="0" anchor="t">
            <a:spAutoFit/>
          </a:bodyPr>
          <a:lstStyle/>
          <a:p>
            <a:pPr algn="ctr">
              <a:lnSpc>
                <a:spcPts val="2550"/>
              </a:lnSpc>
              <a:spcBef>
                <a:spcPct val="0"/>
              </a:spcBef>
            </a:pPr>
            <a:r>
              <a:rPr lang="en-US" sz="1100">
                <a:solidFill>
                  <a:srgbClr val="004AAD"/>
                </a:solidFill>
                <a:latin typeface="Arial" panose="020B0604020202020204" pitchFamily="34" charset="0"/>
                <a:ea typeface="Canva Student Font"/>
                <a:cs typeface="Arial" panose="020B0604020202020204" pitchFamily="34" charset="0"/>
                <a:sym typeface="Canva Student Font"/>
              </a:rPr>
              <a:t>Thousands</a:t>
            </a:r>
            <a:endParaRPr lang="en-US" sz="1800">
              <a:solidFill>
                <a:srgbClr val="004AAD"/>
              </a:solidFill>
              <a:latin typeface="Arial" panose="020B0604020202020204" pitchFamily="34" charset="0"/>
              <a:ea typeface="Canva Student Font"/>
              <a:cs typeface="Arial" panose="020B0604020202020204" pitchFamily="34" charset="0"/>
              <a:sym typeface="Canva Student Font"/>
            </a:endParaRPr>
          </a:p>
        </p:txBody>
      </p:sp>
      <p:sp>
        <p:nvSpPr>
          <p:cNvPr id="27" name="TextBox 26"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5989A7D5-40E6-B0D5-A6F6-367E412BCDF8}"/>
              </a:ext>
            </a:extLst>
          </p:cNvPr>
          <p:cNvSpPr txBox="1"/>
          <p:nvPr/>
        </p:nvSpPr>
        <p:spPr>
          <a:xfrm>
            <a:off x="6127212" y="4140939"/>
            <a:ext cx="736212" cy="285143"/>
          </a:xfrm>
          <a:prstGeom prst="rect">
            <a:avLst/>
          </a:prstGeom>
        </p:spPr>
        <p:txBody>
          <a:bodyPr lIns="0" tIns="0" rIns="0" bIns="0" rtlCol="0" anchor="t">
            <a:spAutoFit/>
          </a:bodyPr>
          <a:lstStyle/>
          <a:p>
            <a:pPr algn="ctr">
              <a:lnSpc>
                <a:spcPts val="2550"/>
              </a:lnSpc>
              <a:spcBef>
                <a:spcPct val="0"/>
              </a:spcBef>
            </a:pPr>
            <a:r>
              <a:rPr lang="en-US" sz="1200">
                <a:solidFill>
                  <a:srgbClr val="004AAD"/>
                </a:solidFill>
                <a:latin typeface="Arial" panose="020B0604020202020204" pitchFamily="34" charset="0"/>
                <a:ea typeface="Canva Student Font"/>
                <a:cs typeface="Arial" panose="020B0604020202020204" pitchFamily="34" charset="0"/>
                <a:sym typeface="Canva Student Font"/>
              </a:rPr>
              <a:t>Hundreds</a:t>
            </a:r>
            <a:endParaRPr lang="en-US" sz="1800">
              <a:solidFill>
                <a:srgbClr val="004AAD"/>
              </a:solidFill>
              <a:latin typeface="Arial" panose="020B0604020202020204" pitchFamily="34" charset="0"/>
              <a:ea typeface="Canva Student Font"/>
              <a:cs typeface="Arial" panose="020B0604020202020204" pitchFamily="34" charset="0"/>
              <a:sym typeface="Canva Student Font"/>
            </a:endParaRPr>
          </a:p>
        </p:txBody>
      </p:sp>
      <p:sp>
        <p:nvSpPr>
          <p:cNvPr id="28" name="TextBox 27"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A48633C9-B502-070F-DDB3-B0AD7D080670}"/>
              </a:ext>
            </a:extLst>
          </p:cNvPr>
          <p:cNvSpPr txBox="1"/>
          <p:nvPr/>
        </p:nvSpPr>
        <p:spPr>
          <a:xfrm>
            <a:off x="7478871" y="4127330"/>
            <a:ext cx="736212" cy="303225"/>
          </a:xfrm>
          <a:prstGeom prst="rect">
            <a:avLst/>
          </a:prstGeom>
        </p:spPr>
        <p:txBody>
          <a:bodyPr lIns="0" tIns="0" rIns="0" bIns="0" rtlCol="0" anchor="t">
            <a:spAutoFit/>
          </a:bodyPr>
          <a:lstStyle/>
          <a:p>
            <a:pPr algn="ctr">
              <a:lnSpc>
                <a:spcPts val="2550"/>
              </a:lnSpc>
              <a:spcBef>
                <a:spcPct val="0"/>
              </a:spcBef>
            </a:pPr>
            <a:r>
              <a:rPr lang="en-US" sz="1600">
                <a:solidFill>
                  <a:srgbClr val="004AAD"/>
                </a:solidFill>
                <a:latin typeface="Arial" panose="020B0604020202020204" pitchFamily="34" charset="0"/>
                <a:ea typeface="Canva Student Font"/>
                <a:cs typeface="Arial" panose="020B0604020202020204" pitchFamily="34" charset="0"/>
                <a:sym typeface="Canva Student Font"/>
              </a:rPr>
              <a:t>Tens</a:t>
            </a:r>
            <a:endParaRPr lang="en-US" sz="1800">
              <a:solidFill>
                <a:srgbClr val="004AAD"/>
              </a:solidFill>
              <a:latin typeface="Arial" panose="020B0604020202020204" pitchFamily="34" charset="0"/>
              <a:ea typeface="Canva Student Font"/>
              <a:cs typeface="Arial" panose="020B0604020202020204" pitchFamily="34" charset="0"/>
              <a:sym typeface="Canva Student Font"/>
            </a:endParaRPr>
          </a:p>
        </p:txBody>
      </p:sp>
      <p:sp>
        <p:nvSpPr>
          <p:cNvPr id="29" name="TextBox 28"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B28B8ED7-9038-0DCC-137B-3ACE2BB031E7}"/>
              </a:ext>
            </a:extLst>
          </p:cNvPr>
          <p:cNvSpPr txBox="1"/>
          <p:nvPr/>
        </p:nvSpPr>
        <p:spPr>
          <a:xfrm>
            <a:off x="8829830" y="4113235"/>
            <a:ext cx="736212" cy="290913"/>
          </a:xfrm>
          <a:prstGeom prst="rect">
            <a:avLst/>
          </a:prstGeom>
        </p:spPr>
        <p:txBody>
          <a:bodyPr lIns="0" tIns="0" rIns="0" bIns="0" rtlCol="0" anchor="t">
            <a:spAutoFit/>
          </a:bodyPr>
          <a:lstStyle/>
          <a:p>
            <a:pPr algn="ctr">
              <a:lnSpc>
                <a:spcPts val="2550"/>
              </a:lnSpc>
              <a:spcBef>
                <a:spcPct val="0"/>
              </a:spcBef>
            </a:pPr>
            <a:r>
              <a:rPr lang="en-US" sz="1400">
                <a:solidFill>
                  <a:srgbClr val="004AAD"/>
                </a:solidFill>
                <a:latin typeface="Arial" panose="020B0604020202020204" pitchFamily="34" charset="0"/>
                <a:ea typeface="Canva Student Font"/>
                <a:cs typeface="Arial" panose="020B0604020202020204" pitchFamily="34" charset="0"/>
                <a:sym typeface="Canva Student Font"/>
              </a:rPr>
              <a:t>Ones</a:t>
            </a:r>
            <a:endParaRPr lang="en-US" sz="1800">
              <a:solidFill>
                <a:srgbClr val="004AAD"/>
              </a:solidFill>
              <a:latin typeface="Arial" panose="020B0604020202020204" pitchFamily="34" charset="0"/>
              <a:ea typeface="Canva Student Font"/>
              <a:cs typeface="Arial" panose="020B0604020202020204" pitchFamily="34" charset="0"/>
              <a:sym typeface="Canva Student Font"/>
            </a:endParaRPr>
          </a:p>
        </p:txBody>
      </p:sp>
      <p:sp>
        <p:nvSpPr>
          <p:cNvPr id="30" name="TextBox 29"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9BFCB79C-F7D6-9C4A-B9A8-3E0D8A08F0CC}"/>
              </a:ext>
            </a:extLst>
          </p:cNvPr>
          <p:cNvSpPr txBox="1"/>
          <p:nvPr/>
        </p:nvSpPr>
        <p:spPr>
          <a:xfrm>
            <a:off x="3266817" y="3905057"/>
            <a:ext cx="736212" cy="290913"/>
          </a:xfrm>
          <a:prstGeom prst="rect">
            <a:avLst/>
          </a:prstGeom>
        </p:spPr>
        <p:txBody>
          <a:bodyPr lIns="0" tIns="0" rIns="0" bIns="0" rtlCol="0" anchor="t">
            <a:spAutoFit/>
          </a:bodyPr>
          <a:lstStyle/>
          <a:p>
            <a:pPr algn="ctr">
              <a:lnSpc>
                <a:spcPts val="2550"/>
              </a:lnSpc>
              <a:spcBef>
                <a:spcPct val="0"/>
              </a:spcBef>
            </a:pPr>
            <a:r>
              <a:rPr lang="en-US" sz="1200">
                <a:solidFill>
                  <a:srgbClr val="004AAD"/>
                </a:solidFill>
                <a:latin typeface="Arial" panose="020B0604020202020204" pitchFamily="34" charset="0"/>
                <a:ea typeface="Canva Student Font"/>
                <a:cs typeface="Arial" panose="020B0604020202020204" pitchFamily="34" charset="0"/>
                <a:sym typeface="Canva Student Font"/>
              </a:rPr>
              <a:t>Ten</a:t>
            </a:r>
          </a:p>
        </p:txBody>
      </p:sp>
      <p:sp>
        <p:nvSpPr>
          <p:cNvPr id="31" name="TextBox 30"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D43D0666-5A4E-14A8-4314-0FDC6B1489CD}"/>
              </a:ext>
            </a:extLst>
          </p:cNvPr>
          <p:cNvSpPr txBox="1"/>
          <p:nvPr/>
        </p:nvSpPr>
        <p:spPr>
          <a:xfrm>
            <a:off x="3266817" y="4236622"/>
            <a:ext cx="736212" cy="285143"/>
          </a:xfrm>
          <a:prstGeom prst="rect">
            <a:avLst/>
          </a:prstGeom>
        </p:spPr>
        <p:txBody>
          <a:bodyPr lIns="0" tIns="0" rIns="0" bIns="0" rtlCol="0" anchor="t">
            <a:spAutoFit/>
          </a:bodyPr>
          <a:lstStyle/>
          <a:p>
            <a:pPr algn="ctr">
              <a:lnSpc>
                <a:spcPts val="2550"/>
              </a:lnSpc>
              <a:spcBef>
                <a:spcPct val="0"/>
              </a:spcBef>
            </a:pPr>
            <a:r>
              <a:rPr lang="en-US" sz="1200">
                <a:solidFill>
                  <a:srgbClr val="004AAD"/>
                </a:solidFill>
                <a:latin typeface="Arial" panose="020B0604020202020204" pitchFamily="34" charset="0"/>
                <a:ea typeface="Canva Student Font"/>
                <a:cs typeface="Arial" panose="020B0604020202020204" pitchFamily="34" charset="0"/>
                <a:sym typeface="Canva Student Font"/>
              </a:rPr>
              <a:t>thousands</a:t>
            </a:r>
          </a:p>
        </p:txBody>
      </p:sp>
      <p:sp>
        <p:nvSpPr>
          <p:cNvPr id="32" name="TextBox 31"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98D99EA8-FF8A-BB2D-0224-532DB10DE15B}"/>
              </a:ext>
            </a:extLst>
          </p:cNvPr>
          <p:cNvSpPr txBox="1"/>
          <p:nvPr/>
        </p:nvSpPr>
        <p:spPr>
          <a:xfrm>
            <a:off x="1711986" y="3974444"/>
            <a:ext cx="736212" cy="290913"/>
          </a:xfrm>
          <a:prstGeom prst="rect">
            <a:avLst/>
          </a:prstGeom>
        </p:spPr>
        <p:txBody>
          <a:bodyPr lIns="0" tIns="0" rIns="0" bIns="0" rtlCol="0" anchor="t">
            <a:spAutoFit/>
          </a:bodyPr>
          <a:lstStyle/>
          <a:p>
            <a:pPr algn="ctr">
              <a:lnSpc>
                <a:spcPts val="2550"/>
              </a:lnSpc>
              <a:spcBef>
                <a:spcPct val="0"/>
              </a:spcBef>
            </a:pPr>
            <a:r>
              <a:rPr lang="en-US" sz="1200">
                <a:solidFill>
                  <a:srgbClr val="004AAD"/>
                </a:solidFill>
                <a:latin typeface="Arial" panose="020B0604020202020204" pitchFamily="34" charset="0"/>
                <a:ea typeface="Canva Student Font"/>
                <a:cs typeface="Arial" panose="020B0604020202020204" pitchFamily="34" charset="0"/>
                <a:sym typeface="Canva Student Font"/>
              </a:rPr>
              <a:t>Hundred</a:t>
            </a:r>
            <a:endParaRPr lang="en-US" sz="1800">
              <a:solidFill>
                <a:srgbClr val="004AAD"/>
              </a:solidFill>
              <a:latin typeface="Arial" panose="020B0604020202020204" pitchFamily="34" charset="0"/>
              <a:ea typeface="Canva Student Font"/>
              <a:cs typeface="Arial" panose="020B0604020202020204" pitchFamily="34" charset="0"/>
              <a:sym typeface="Canva Student Font"/>
            </a:endParaRPr>
          </a:p>
        </p:txBody>
      </p:sp>
      <p:sp>
        <p:nvSpPr>
          <p:cNvPr id="33" name="TextBox 32"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8DDB9C04-9B85-4480-4964-DFBC7903BC55}"/>
              </a:ext>
            </a:extLst>
          </p:cNvPr>
          <p:cNvSpPr txBox="1"/>
          <p:nvPr/>
        </p:nvSpPr>
        <p:spPr>
          <a:xfrm>
            <a:off x="1726233" y="4246107"/>
            <a:ext cx="712291" cy="275525"/>
          </a:xfrm>
          <a:prstGeom prst="rect">
            <a:avLst/>
          </a:prstGeom>
        </p:spPr>
        <p:txBody>
          <a:bodyPr lIns="0" tIns="0" rIns="0" bIns="0" rtlCol="0" anchor="t">
            <a:spAutoFit/>
          </a:bodyPr>
          <a:lstStyle/>
          <a:p>
            <a:pPr algn="ctr">
              <a:lnSpc>
                <a:spcPts val="2548"/>
              </a:lnSpc>
              <a:spcBef>
                <a:spcPct val="0"/>
              </a:spcBef>
            </a:pPr>
            <a:r>
              <a:rPr lang="en-US" sz="1200">
                <a:solidFill>
                  <a:srgbClr val="004AAD"/>
                </a:solidFill>
                <a:latin typeface="Arial" panose="020B0604020202020204" pitchFamily="34" charset="0"/>
                <a:ea typeface="Canva Student Font"/>
                <a:cs typeface="Arial" panose="020B0604020202020204" pitchFamily="34" charset="0"/>
                <a:sym typeface="Canva Student Font"/>
              </a:rPr>
              <a:t>thousands</a:t>
            </a:r>
          </a:p>
        </p:txBody>
      </p:sp>
      <p:sp>
        <p:nvSpPr>
          <p:cNvPr id="34" name="TextBox 33">
            <a:extLst>
              <a:ext uri="{FF2B5EF4-FFF2-40B4-BE49-F238E27FC236}">
                <a16:creationId xmlns:a16="http://schemas.microsoft.com/office/drawing/2014/main" id="{A7D08270-8FFF-8F8D-C8BA-4916C645DE02}"/>
              </a:ext>
            </a:extLst>
          </p:cNvPr>
          <p:cNvSpPr txBox="1"/>
          <p:nvPr/>
        </p:nvSpPr>
        <p:spPr>
          <a:xfrm>
            <a:off x="9951050" y="586778"/>
            <a:ext cx="839776" cy="711477"/>
          </a:xfrm>
          <a:prstGeom prst="rect">
            <a:avLst/>
          </a:prstGeom>
        </p:spPr>
        <p:txBody>
          <a:bodyPr lIns="0" tIns="0" rIns="0" bIns="0" rtlCol="0" anchor="t">
            <a:spAutoFit/>
          </a:bodyPr>
          <a:lstStyle/>
          <a:p>
            <a:pPr algn="ctr">
              <a:lnSpc>
                <a:spcPts val="2911"/>
              </a:lnSpc>
              <a:spcBef>
                <a:spcPct val="0"/>
              </a:spcBef>
            </a:pPr>
            <a:r>
              <a:rPr lang="en-US" sz="2000">
                <a:solidFill>
                  <a:srgbClr val="004AAD"/>
                </a:solidFill>
                <a:latin typeface="Arial" panose="020B0604020202020204" pitchFamily="34" charset="0"/>
                <a:ea typeface="Canva Student Font"/>
                <a:cs typeface="Arial" panose="020B0604020202020204" pitchFamily="34" charset="0"/>
                <a:sym typeface="Canva Student Font"/>
              </a:rPr>
              <a:t>Dice rolled</a:t>
            </a:r>
          </a:p>
        </p:txBody>
      </p:sp>
      <p:sp>
        <p:nvSpPr>
          <p:cNvPr id="35" name="TextBox 34"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23E1633F-AE52-DD28-A311-274691C4BF78}"/>
              </a:ext>
            </a:extLst>
          </p:cNvPr>
          <p:cNvSpPr txBox="1"/>
          <p:nvPr/>
        </p:nvSpPr>
        <p:spPr>
          <a:xfrm>
            <a:off x="2570660" y="4015273"/>
            <a:ext cx="477082" cy="538737"/>
          </a:xfrm>
          <a:prstGeom prst="rect">
            <a:avLst/>
          </a:prstGeom>
        </p:spPr>
        <p:txBody>
          <a:bodyPr lIns="0" tIns="0" rIns="0" bIns="0" rtlCol="0" anchor="t">
            <a:spAutoFit/>
          </a:bodyPr>
          <a:lstStyle/>
          <a:p>
            <a:pPr algn="ctr">
              <a:lnSpc>
                <a:spcPts val="4619"/>
              </a:lnSpc>
              <a:spcBef>
                <a:spcPct val="0"/>
              </a:spcBef>
            </a:pPr>
            <a:r>
              <a:rPr lang="en-US" sz="3200">
                <a:solidFill>
                  <a:srgbClr val="004AAD"/>
                </a:solidFill>
                <a:latin typeface="Arial" panose="020B0604020202020204" pitchFamily="34" charset="0"/>
                <a:ea typeface="Canva Student Font"/>
                <a:cs typeface="Arial" panose="020B0604020202020204" pitchFamily="34" charset="0"/>
                <a:sym typeface="Canva Student Font"/>
              </a:rPr>
              <a:t>4</a:t>
            </a:r>
          </a:p>
        </p:txBody>
      </p:sp>
      <p:sp>
        <p:nvSpPr>
          <p:cNvPr id="36" name="TextBox 35"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69D17618-03E6-03A0-62CC-2A9487F8B897}"/>
              </a:ext>
            </a:extLst>
          </p:cNvPr>
          <p:cNvSpPr txBox="1"/>
          <p:nvPr/>
        </p:nvSpPr>
        <p:spPr>
          <a:xfrm>
            <a:off x="1136052" y="4015273"/>
            <a:ext cx="477082" cy="538737"/>
          </a:xfrm>
          <a:prstGeom prst="rect">
            <a:avLst/>
          </a:prstGeom>
        </p:spPr>
        <p:txBody>
          <a:bodyPr lIns="0" tIns="0" rIns="0" bIns="0" rtlCol="0" anchor="t">
            <a:spAutoFit/>
          </a:bodyPr>
          <a:lstStyle/>
          <a:p>
            <a:pPr algn="ctr">
              <a:lnSpc>
                <a:spcPts val="4619"/>
              </a:lnSpc>
              <a:spcBef>
                <a:spcPct val="0"/>
              </a:spcBef>
            </a:pPr>
            <a:r>
              <a:rPr lang="en-US" sz="3200">
                <a:solidFill>
                  <a:srgbClr val="004AAD"/>
                </a:solidFill>
                <a:latin typeface="Arial" panose="020B0604020202020204" pitchFamily="34" charset="0"/>
                <a:ea typeface="Canva Student Font"/>
                <a:cs typeface="Arial" panose="020B0604020202020204" pitchFamily="34" charset="0"/>
                <a:sym typeface="Canva Student Font"/>
              </a:rPr>
              <a:t>2</a:t>
            </a:r>
          </a:p>
        </p:txBody>
      </p:sp>
      <p:sp>
        <p:nvSpPr>
          <p:cNvPr id="37" name="TextBox 36"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6227DAC7-D5EA-16A8-AB07-A0280774F6C7}"/>
              </a:ext>
            </a:extLst>
          </p:cNvPr>
          <p:cNvSpPr txBox="1"/>
          <p:nvPr/>
        </p:nvSpPr>
        <p:spPr>
          <a:xfrm>
            <a:off x="5583455" y="3959444"/>
            <a:ext cx="477082" cy="538737"/>
          </a:xfrm>
          <a:prstGeom prst="rect">
            <a:avLst/>
          </a:prstGeom>
        </p:spPr>
        <p:txBody>
          <a:bodyPr lIns="0" tIns="0" rIns="0" bIns="0" rtlCol="0" anchor="t">
            <a:spAutoFit/>
          </a:bodyPr>
          <a:lstStyle/>
          <a:p>
            <a:pPr algn="ctr">
              <a:lnSpc>
                <a:spcPts val="4619"/>
              </a:lnSpc>
              <a:spcBef>
                <a:spcPct val="0"/>
              </a:spcBef>
            </a:pPr>
            <a:r>
              <a:rPr lang="en-US" sz="3200">
                <a:solidFill>
                  <a:srgbClr val="004AAD"/>
                </a:solidFill>
                <a:latin typeface="Arial" panose="020B0604020202020204" pitchFamily="34" charset="0"/>
                <a:ea typeface="Canva Student Font"/>
                <a:cs typeface="Arial" panose="020B0604020202020204" pitchFamily="34" charset="0"/>
                <a:sym typeface="Canva Student Font"/>
              </a:rPr>
              <a:t>8</a:t>
            </a:r>
          </a:p>
        </p:txBody>
      </p:sp>
      <p:sp>
        <p:nvSpPr>
          <p:cNvPr id="38" name="TextBox 37"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06B5C651-9A3D-2660-DD9B-32426B1DEDF5}"/>
              </a:ext>
            </a:extLst>
          </p:cNvPr>
          <p:cNvSpPr txBox="1"/>
          <p:nvPr/>
        </p:nvSpPr>
        <p:spPr>
          <a:xfrm>
            <a:off x="4202784" y="3988423"/>
            <a:ext cx="477082" cy="538737"/>
          </a:xfrm>
          <a:prstGeom prst="rect">
            <a:avLst/>
          </a:prstGeom>
        </p:spPr>
        <p:txBody>
          <a:bodyPr lIns="0" tIns="0" rIns="0" bIns="0" rtlCol="0" anchor="t">
            <a:spAutoFit/>
          </a:bodyPr>
          <a:lstStyle/>
          <a:p>
            <a:pPr algn="ctr">
              <a:lnSpc>
                <a:spcPts val="4619"/>
              </a:lnSpc>
              <a:spcBef>
                <a:spcPct val="0"/>
              </a:spcBef>
            </a:pPr>
            <a:r>
              <a:rPr lang="en-US" sz="3200">
                <a:solidFill>
                  <a:srgbClr val="004AAD"/>
                </a:solidFill>
                <a:latin typeface="Arial" panose="020B0604020202020204" pitchFamily="34" charset="0"/>
                <a:ea typeface="Canva Student Font"/>
                <a:cs typeface="Arial" panose="020B0604020202020204" pitchFamily="34" charset="0"/>
                <a:sym typeface="Canva Student Font"/>
              </a:rPr>
              <a:t>6</a:t>
            </a:r>
          </a:p>
        </p:txBody>
      </p:sp>
      <p:sp>
        <p:nvSpPr>
          <p:cNvPr id="39" name="TextBox 38"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506808B9-B4A6-5ED4-1D56-3582CBCDFA29}"/>
              </a:ext>
            </a:extLst>
          </p:cNvPr>
          <p:cNvSpPr txBox="1"/>
          <p:nvPr/>
        </p:nvSpPr>
        <p:spPr>
          <a:xfrm>
            <a:off x="7082499" y="3945869"/>
            <a:ext cx="477082" cy="538737"/>
          </a:xfrm>
          <a:prstGeom prst="rect">
            <a:avLst/>
          </a:prstGeom>
        </p:spPr>
        <p:txBody>
          <a:bodyPr lIns="0" tIns="0" rIns="0" bIns="0" rtlCol="0" anchor="t">
            <a:spAutoFit/>
          </a:bodyPr>
          <a:lstStyle/>
          <a:p>
            <a:pPr algn="ctr">
              <a:lnSpc>
                <a:spcPts val="4619"/>
              </a:lnSpc>
              <a:spcBef>
                <a:spcPct val="0"/>
              </a:spcBef>
            </a:pPr>
            <a:r>
              <a:rPr lang="en-US" sz="3200">
                <a:solidFill>
                  <a:srgbClr val="004AAD"/>
                </a:solidFill>
                <a:latin typeface="Arial" panose="020B0604020202020204" pitchFamily="34" charset="0"/>
                <a:ea typeface="Canva Student Font"/>
                <a:cs typeface="Arial" panose="020B0604020202020204" pitchFamily="34" charset="0"/>
                <a:sym typeface="Canva Student Font"/>
              </a:rPr>
              <a:t>9</a:t>
            </a:r>
          </a:p>
        </p:txBody>
      </p:sp>
      <p:sp>
        <p:nvSpPr>
          <p:cNvPr id="40" name="TextBox 39"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03BA8505-B810-AB28-223E-26AB9A2D6860}"/>
              </a:ext>
            </a:extLst>
          </p:cNvPr>
          <p:cNvSpPr txBox="1"/>
          <p:nvPr/>
        </p:nvSpPr>
        <p:spPr>
          <a:xfrm>
            <a:off x="8283916" y="3946528"/>
            <a:ext cx="477082" cy="538737"/>
          </a:xfrm>
          <a:prstGeom prst="rect">
            <a:avLst/>
          </a:prstGeom>
        </p:spPr>
        <p:txBody>
          <a:bodyPr lIns="0" tIns="0" rIns="0" bIns="0" rtlCol="0" anchor="t">
            <a:spAutoFit/>
          </a:bodyPr>
          <a:lstStyle/>
          <a:p>
            <a:pPr algn="ctr">
              <a:lnSpc>
                <a:spcPts val="4619"/>
              </a:lnSpc>
              <a:spcBef>
                <a:spcPct val="0"/>
              </a:spcBef>
            </a:pPr>
            <a:r>
              <a:rPr lang="en-US" sz="3200">
                <a:solidFill>
                  <a:srgbClr val="004AAD"/>
                </a:solidFill>
                <a:latin typeface="Arial" panose="020B0604020202020204" pitchFamily="34" charset="0"/>
                <a:ea typeface="Canva Student Font"/>
                <a:cs typeface="Arial" panose="020B0604020202020204" pitchFamily="34" charset="0"/>
                <a:sym typeface="Canva Student Font"/>
              </a:rPr>
              <a:t>5</a:t>
            </a:r>
          </a:p>
        </p:txBody>
      </p:sp>
      <p:sp>
        <p:nvSpPr>
          <p:cNvPr id="41" name="TextBox 40"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54D0D361-3D7B-ED6C-2D3E-EB223DFE316A}"/>
              </a:ext>
            </a:extLst>
          </p:cNvPr>
          <p:cNvSpPr txBox="1"/>
          <p:nvPr/>
        </p:nvSpPr>
        <p:spPr>
          <a:xfrm>
            <a:off x="1357108" y="5669473"/>
            <a:ext cx="581119" cy="512448"/>
          </a:xfrm>
          <a:prstGeom prst="rect">
            <a:avLst/>
          </a:prstGeom>
        </p:spPr>
        <p:txBody>
          <a:bodyPr lIns="0" tIns="0" rIns="0" bIns="0" rtlCol="0" anchor="t">
            <a:spAutoFit/>
          </a:bodyPr>
          <a:lstStyle/>
          <a:p>
            <a:pPr algn="ctr">
              <a:lnSpc>
                <a:spcPts val="4619"/>
              </a:lnSpc>
              <a:spcBef>
                <a:spcPct val="0"/>
              </a:spcBef>
            </a:pPr>
            <a:r>
              <a:rPr lang="en-US">
                <a:solidFill>
                  <a:srgbClr val="004AAD"/>
                </a:solidFill>
                <a:latin typeface="Arial" panose="020B0604020202020204" pitchFamily="34" charset="0"/>
                <a:ea typeface="Canva Student Font"/>
                <a:cs typeface="Arial" panose="020B0604020202020204" pitchFamily="34" charset="0"/>
                <a:sym typeface="Canva Student Font"/>
              </a:rPr>
              <a:t>246</a:t>
            </a:r>
            <a:endParaRPr lang="en-US" sz="3200">
              <a:solidFill>
                <a:srgbClr val="004AAD"/>
              </a:solidFill>
              <a:latin typeface="Arial" panose="020B0604020202020204" pitchFamily="34" charset="0"/>
              <a:ea typeface="Canva Student Font"/>
              <a:cs typeface="Arial" panose="020B0604020202020204" pitchFamily="34" charset="0"/>
              <a:sym typeface="Canva Student Font"/>
            </a:endParaRPr>
          </a:p>
        </p:txBody>
      </p:sp>
      <p:sp>
        <p:nvSpPr>
          <p:cNvPr id="42" name="TextBox 41"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7411DDAA-704A-96A5-E24F-9ACE9765C71C}"/>
              </a:ext>
            </a:extLst>
          </p:cNvPr>
          <p:cNvSpPr txBox="1"/>
          <p:nvPr/>
        </p:nvSpPr>
        <p:spPr>
          <a:xfrm>
            <a:off x="3266817" y="5612323"/>
            <a:ext cx="581119" cy="538737"/>
          </a:xfrm>
          <a:prstGeom prst="rect">
            <a:avLst/>
          </a:prstGeom>
        </p:spPr>
        <p:txBody>
          <a:bodyPr lIns="0" tIns="0" rIns="0" bIns="0" rtlCol="0" anchor="t">
            <a:spAutoFit/>
          </a:bodyPr>
          <a:lstStyle/>
          <a:p>
            <a:pPr algn="ctr">
              <a:lnSpc>
                <a:spcPts val="4619"/>
              </a:lnSpc>
              <a:spcBef>
                <a:spcPct val="0"/>
              </a:spcBef>
            </a:pPr>
            <a:r>
              <a:rPr lang="en-US" sz="3200">
                <a:solidFill>
                  <a:srgbClr val="004AAD"/>
                </a:solidFill>
                <a:latin typeface="Arial" panose="020B0604020202020204" pitchFamily="34" charset="0"/>
                <a:ea typeface="Canva Student Font"/>
                <a:cs typeface="Arial" panose="020B0604020202020204" pitchFamily="34" charset="0"/>
                <a:sym typeface="Canva Student Font"/>
              </a:rPr>
              <a:t>7</a:t>
            </a:r>
          </a:p>
        </p:txBody>
      </p:sp>
      <p:sp>
        <p:nvSpPr>
          <p:cNvPr id="43" name="TextBox 42"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EB61137D-E662-EF85-9D4F-A9655B8BD7D9}"/>
              </a:ext>
            </a:extLst>
          </p:cNvPr>
          <p:cNvSpPr txBox="1"/>
          <p:nvPr/>
        </p:nvSpPr>
        <p:spPr>
          <a:xfrm>
            <a:off x="5148674" y="5612323"/>
            <a:ext cx="581119" cy="538737"/>
          </a:xfrm>
          <a:prstGeom prst="rect">
            <a:avLst/>
          </a:prstGeom>
        </p:spPr>
        <p:txBody>
          <a:bodyPr lIns="0" tIns="0" rIns="0" bIns="0" rtlCol="0" anchor="t">
            <a:spAutoFit/>
          </a:bodyPr>
          <a:lstStyle/>
          <a:p>
            <a:pPr algn="ctr">
              <a:lnSpc>
                <a:spcPts val="4619"/>
              </a:lnSpc>
              <a:spcBef>
                <a:spcPct val="0"/>
              </a:spcBef>
            </a:pPr>
            <a:r>
              <a:rPr lang="en-US" sz="3200">
                <a:solidFill>
                  <a:srgbClr val="004AAD"/>
                </a:solidFill>
                <a:latin typeface="Arial" panose="020B0604020202020204" pitchFamily="34" charset="0"/>
                <a:ea typeface="Canva Student Font"/>
                <a:cs typeface="Arial" panose="020B0604020202020204" pitchFamily="34" charset="0"/>
                <a:sym typeface="Canva Student Font"/>
              </a:rPr>
              <a:t>18</a:t>
            </a:r>
          </a:p>
        </p:txBody>
      </p:sp>
      <p:sp>
        <p:nvSpPr>
          <p:cNvPr id="44" name="TextBox 43"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B1E09B73-3CF7-518C-4B39-16E0D8B1828D}"/>
              </a:ext>
            </a:extLst>
          </p:cNvPr>
          <p:cNvSpPr txBox="1"/>
          <p:nvPr/>
        </p:nvSpPr>
        <p:spPr>
          <a:xfrm>
            <a:off x="7082499" y="5612323"/>
            <a:ext cx="581119" cy="538737"/>
          </a:xfrm>
          <a:prstGeom prst="rect">
            <a:avLst/>
          </a:prstGeom>
        </p:spPr>
        <p:txBody>
          <a:bodyPr lIns="0" tIns="0" rIns="0" bIns="0" rtlCol="0" anchor="t">
            <a:spAutoFit/>
          </a:bodyPr>
          <a:lstStyle/>
          <a:p>
            <a:pPr algn="ctr">
              <a:lnSpc>
                <a:spcPts val="4619"/>
              </a:lnSpc>
              <a:spcBef>
                <a:spcPct val="0"/>
              </a:spcBef>
            </a:pPr>
            <a:r>
              <a:rPr lang="en-US" sz="3200">
                <a:solidFill>
                  <a:srgbClr val="004AAD"/>
                </a:solidFill>
                <a:latin typeface="Arial" panose="020B0604020202020204" pitchFamily="34" charset="0"/>
                <a:ea typeface="Canva Student Font"/>
                <a:cs typeface="Arial" panose="020B0604020202020204" pitchFamily="34" charset="0"/>
                <a:sym typeface="Canva Student Font"/>
              </a:rPr>
              <a:t>15</a:t>
            </a:r>
          </a:p>
        </p:txBody>
      </p:sp>
      <p:sp>
        <p:nvSpPr>
          <p:cNvPr id="45" name="TextBox 22"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B8635815-4FD8-D54A-7B4B-2EC3C09F575F}"/>
              </a:ext>
            </a:extLst>
          </p:cNvPr>
          <p:cNvSpPr txBox="1"/>
          <p:nvPr/>
        </p:nvSpPr>
        <p:spPr>
          <a:xfrm>
            <a:off x="4732789" y="2263658"/>
            <a:ext cx="5180598" cy="462371"/>
          </a:xfrm>
          <a:prstGeom prst="rect">
            <a:avLst/>
          </a:prstGeom>
        </p:spPr>
        <p:txBody>
          <a:bodyPr wrap="square" lIns="0" tIns="0" rIns="0" bIns="0" rtlCol="0" anchor="t">
            <a:spAutoFit/>
          </a:bodyPr>
          <a:lstStyle/>
          <a:p>
            <a:pPr algn="ctr">
              <a:lnSpc>
                <a:spcPts val="4204"/>
              </a:lnSpc>
              <a:spcBef>
                <a:spcPct val="0"/>
              </a:spcBef>
            </a:pPr>
            <a:r>
              <a:rPr lang="en-US" sz="2000">
                <a:solidFill>
                  <a:srgbClr val="004AAD"/>
                </a:solidFill>
                <a:latin typeface="Arial" panose="020B0604020202020204" pitchFamily="34" charset="0"/>
                <a:ea typeface="Canva Student Font"/>
                <a:cs typeface="Arial" panose="020B0604020202020204" pitchFamily="34" charset="0"/>
                <a:sym typeface="Canva Student Font"/>
              </a:rPr>
              <a:t>200 000 + 40 000 + 6000 + 800 + 90 + 5</a:t>
            </a:r>
          </a:p>
        </p:txBody>
      </p:sp>
      <p:pic>
        <p:nvPicPr>
          <p:cNvPr id="46" name="Picture 4" descr="image of a head with cogs turning inside">
            <a:extLst>
              <a:ext uri="{FF2B5EF4-FFF2-40B4-BE49-F238E27FC236}">
                <a16:creationId xmlns:a16="http://schemas.microsoft.com/office/drawing/2014/main" id="{212EA111-685F-6923-A188-C67E036CF03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1245337" y="49531"/>
            <a:ext cx="789637" cy="939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812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latin typeface="Arial"/>
                <a:cs typeface="Arial"/>
              </a:rPr>
              <a:t>Multiple </a:t>
            </a:r>
            <a:r>
              <a:rPr lang="en-US">
                <a:solidFill>
                  <a:srgbClr val="002060"/>
                </a:solidFill>
                <a:latin typeface="Arial"/>
                <a:cs typeface="Arial"/>
              </a:rPr>
              <a:t>choice </a:t>
            </a:r>
            <a:r>
              <a:rPr lang="en-US">
                <a:solidFill>
                  <a:schemeClr val="bg1"/>
                </a:solidFill>
                <a:latin typeface="Arial"/>
                <a:cs typeface="Arial"/>
              </a:rPr>
              <a:t>(3)</a:t>
            </a:r>
          </a:p>
        </p:txBody>
      </p:sp>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355466" y="1558642"/>
                <a:ext cx="11243037" cy="893226"/>
              </a:xfrm>
            </p:spPr>
            <p:txBody>
              <a:bodyPr vert="horz" lIns="0" tIns="0" rIns="0" bIns="0" rtlCol="0" anchor="t">
                <a:noAutofit/>
              </a:bodyPr>
              <a:lstStyle/>
              <a:p>
                <a:pPr algn="ctr"/>
                <a:r>
                  <a:rPr lang="en-US" sz="4400"/>
                  <a:t>1</a:t>
                </a:r>
                <a14:m>
                  <m:oMath xmlns:m="http://schemas.openxmlformats.org/officeDocument/2006/math">
                    <m:f>
                      <m:fPr>
                        <m:ctrlPr>
                          <a:rPr lang="en-US" sz="4400" i="1" smtClean="0">
                            <a:latin typeface="Cambria Math" panose="02040503050406030204" pitchFamily="18" charset="0"/>
                          </a:rPr>
                        </m:ctrlPr>
                      </m:fPr>
                      <m:num>
                        <m:r>
                          <a:rPr lang="en-AU" sz="4400" b="0" i="1" smtClean="0">
                            <a:latin typeface="Cambria Math" panose="02040503050406030204" pitchFamily="18" charset="0"/>
                          </a:rPr>
                          <m:t>1</m:t>
                        </m:r>
                      </m:num>
                      <m:den>
                        <m:r>
                          <a:rPr lang="en-AU" sz="4400" b="0" i="1" smtClean="0">
                            <a:latin typeface="Cambria Math" panose="02040503050406030204" pitchFamily="18" charset="0"/>
                          </a:rPr>
                          <m:t>4 </m:t>
                        </m:r>
                      </m:den>
                    </m:f>
                  </m:oMath>
                </a14:m>
                <a:r>
                  <a:rPr lang="en-US" sz="4400"/>
                  <a:t> can be </a:t>
                </a:r>
                <a:r>
                  <a:rPr lang="en-US" sz="4400" b="1"/>
                  <a:t>renamed</a:t>
                </a:r>
                <a:r>
                  <a:rPr lang="en-US" sz="4400"/>
                  <a:t> as:</a:t>
                </a:r>
              </a:p>
            </p:txBody>
          </p:sp>
        </mc:Choice>
        <mc:Fallback xmlns="">
          <p:sp>
            <p:nvSpPr>
              <p:cNvPr id="18" name="Text Placeholder 17">
                <a:extLst>
                  <a:ext uri="{FF2B5EF4-FFF2-40B4-BE49-F238E27FC236}">
                    <a16:creationId xmlns:a16="http://schemas.microsoft.com/office/drawing/2014/main" id="{E8FE2C2C-AE76-908D-8B08-A054EB3D8479}"/>
                  </a:ext>
                </a:extLst>
              </p:cNvPr>
              <p:cNvSpPr>
                <a:spLocks noGrp="1" noRot="1" noChangeAspect="1" noMove="1" noResize="1" noEditPoints="1" noAdjustHandles="1" noChangeArrowheads="1" noChangeShapeType="1" noTextEdit="1"/>
              </p:cNvSpPr>
              <p:nvPr>
                <p:ph type="body" sz="quarter" idx="24"/>
              </p:nvPr>
            </p:nvSpPr>
            <p:spPr>
              <a:xfrm>
                <a:off x="355466" y="1558642"/>
                <a:ext cx="11243037" cy="893226"/>
              </a:xfrm>
              <a:blipFill>
                <a:blip r:embed="rId3"/>
                <a:stretch>
                  <a:fillRect b="-65753"/>
                </a:stretch>
              </a:blipFill>
            </p:spPr>
            <p:txBody>
              <a:bodyPr/>
              <a:lstStyle/>
              <a:p>
                <a:r>
                  <a:rPr lang="en-US">
                    <a:noFill/>
                  </a:rPr>
                  <a:t> </a:t>
                </a:r>
              </a:p>
            </p:txBody>
          </p:sp>
        </mc:Fallback>
      </mc:AlternateContent>
      <p:pic>
        <p:nvPicPr>
          <p:cNvPr id="5" name="Picture 4" descr="image of a finger selecting an option for a multiple choice or true and false">
            <a:extLst>
              <a:ext uri="{FF2B5EF4-FFF2-40B4-BE49-F238E27FC236}">
                <a16:creationId xmlns:a16="http://schemas.microsoft.com/office/drawing/2014/main" id="{A82A1270-19CB-992D-68A3-CD35F91982EE}"/>
              </a:ext>
            </a:extLst>
          </p:cNvPr>
          <p:cNvPicPr>
            <a:picLocks noChangeAspect="1"/>
          </p:cNvPicPr>
          <p:nvPr/>
        </p:nvPicPr>
        <p:blipFill>
          <a:blip r:embed="rId4"/>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graphicFrame>
            <p:nvGraphicFramePr>
              <p:cNvPr id="95" name="Table 94">
                <a:extLst>
                  <a:ext uri="{FF2B5EF4-FFF2-40B4-BE49-F238E27FC236}">
                    <a16:creationId xmlns:a16="http://schemas.microsoft.com/office/drawing/2014/main" id="{E59C3448-6F84-6369-225E-7D7C00FF8757}"/>
                  </a:ext>
                </a:extLst>
              </p:cNvPr>
              <p:cNvGraphicFramePr>
                <a:graphicFrameLocks noGrp="1"/>
              </p:cNvGraphicFramePr>
              <p:nvPr>
                <p:extLst>
                  <p:ext uri="{D42A27DB-BD31-4B8C-83A1-F6EECF244321}">
                    <p14:modId xmlns:p14="http://schemas.microsoft.com/office/powerpoint/2010/main" val="2816835205"/>
                  </p:ext>
                </p:extLst>
              </p:nvPr>
            </p:nvGraphicFramePr>
            <p:xfrm>
              <a:off x="572708" y="3128911"/>
              <a:ext cx="10551292" cy="2183448"/>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4400" i="1" smtClean="0">
                                        <a:latin typeface="Cambria Math" panose="02040503050406030204" pitchFamily="18" charset="0"/>
                                      </a:rPr>
                                    </m:ctrlPr>
                                  </m:fPr>
                                  <m:num>
                                    <m:r>
                                      <a:rPr lang="en-AU" sz="4400" b="0" i="1" smtClean="0">
                                        <a:latin typeface="Cambria Math" panose="02040503050406030204" pitchFamily="18" charset="0"/>
                                      </a:rPr>
                                      <m:t>7</m:t>
                                    </m:r>
                                  </m:num>
                                  <m:den>
                                    <m:r>
                                      <a:rPr lang="en-AU" sz="4400" b="0" i="1" smtClean="0">
                                        <a:latin typeface="Cambria Math" panose="02040503050406030204" pitchFamily="18" charset="0"/>
                                      </a:rPr>
                                      <m:t>4</m:t>
                                    </m:r>
                                  </m:den>
                                </m:f>
                              </m:oMath>
                            </m:oMathPara>
                          </a14:m>
                          <a:endParaRPr lang="en-AU" sz="4400"/>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4400" i="1" dirty="0" smtClean="0">
                                        <a:latin typeface="Cambria Math" panose="02040503050406030204" pitchFamily="18" charset="0"/>
                                        <a:cs typeface="Arial"/>
                                      </a:rPr>
                                    </m:ctrlPr>
                                  </m:fPr>
                                  <m:num>
                                    <m:r>
                                      <a:rPr lang="en-AU" sz="4400" b="0" i="1" dirty="0" smtClean="0">
                                        <a:latin typeface="Cambria Math" panose="02040503050406030204" pitchFamily="18" charset="0"/>
                                        <a:cs typeface="Arial"/>
                                      </a:rPr>
                                      <m:t>3</m:t>
                                    </m:r>
                                  </m:num>
                                  <m:den>
                                    <m:r>
                                      <a:rPr lang="en-AU" sz="4400" b="0" i="1" dirty="0" smtClean="0">
                                        <a:latin typeface="Cambria Math" panose="02040503050406030204" pitchFamily="18" charset="0"/>
                                        <a:cs typeface="Arial"/>
                                      </a:rPr>
                                      <m:t>4</m:t>
                                    </m:r>
                                  </m:den>
                                </m:f>
                              </m:oMath>
                            </m:oMathPara>
                          </a14:m>
                          <a:endParaRPr lang="en-AU" sz="4400">
                            <a:latin typeface="+mn-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f>
                                  <m:fPr>
                                    <m:ctrlPr>
                                      <a:rPr lang="en-AU" sz="4400" i="1" smtClean="0">
                                        <a:latin typeface="Cambria Math" panose="02040503050406030204" pitchFamily="18" charset="0"/>
                                        <a:cs typeface="Arial"/>
                                      </a:rPr>
                                    </m:ctrlPr>
                                  </m:fPr>
                                  <m:num>
                                    <m:r>
                                      <a:rPr lang="en-AU" sz="4400" b="0" i="1" smtClean="0">
                                        <a:latin typeface="Cambria Math" panose="02040503050406030204" pitchFamily="18" charset="0"/>
                                        <a:cs typeface="Arial"/>
                                      </a:rPr>
                                      <m:t>5</m:t>
                                    </m:r>
                                  </m:num>
                                  <m:den>
                                    <m:r>
                                      <a:rPr lang="en-AU" sz="4400" b="0" i="1" smtClean="0">
                                        <a:latin typeface="Cambria Math" panose="02040503050406030204" pitchFamily="18" charset="0"/>
                                        <a:cs typeface="Arial"/>
                                      </a:rPr>
                                      <m:t>4</m:t>
                                    </m:r>
                                  </m:den>
                                </m:f>
                              </m:oMath>
                            </m:oMathPara>
                          </a14:m>
                          <a:endParaRPr lang="en-AU" sz="4400">
                            <a:latin typeface="+mn-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4400" i="1" smtClean="0">
                                        <a:latin typeface="Cambria Math" panose="02040503050406030204" pitchFamily="18" charset="0"/>
                                        <a:cs typeface="Arial"/>
                                      </a:rPr>
                                    </m:ctrlPr>
                                  </m:fPr>
                                  <m:num>
                                    <m:r>
                                      <a:rPr lang="en-AU" sz="4400" b="0" i="1" smtClean="0">
                                        <a:latin typeface="Cambria Math" panose="02040503050406030204" pitchFamily="18" charset="0"/>
                                        <a:cs typeface="Arial"/>
                                      </a:rPr>
                                      <m:t>6</m:t>
                                    </m:r>
                                  </m:num>
                                  <m:den>
                                    <m:r>
                                      <a:rPr lang="en-AU" sz="4400" b="0" i="1" smtClean="0">
                                        <a:latin typeface="Cambria Math" panose="02040503050406030204" pitchFamily="18" charset="0"/>
                                        <a:cs typeface="Arial"/>
                                      </a:rPr>
                                      <m:t>4</m:t>
                                    </m:r>
                                  </m:den>
                                </m:f>
                              </m:oMath>
                            </m:oMathPara>
                          </a14:m>
                          <a:endParaRPr lang="en-AU" sz="4400">
                            <a:latin typeface="+mn-lt"/>
                            <a:cs typeface="Arial"/>
                          </a:endParaRP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mc:Choice>
        <mc:Fallback xmlns="">
          <p:graphicFrame>
            <p:nvGraphicFramePr>
              <p:cNvPr id="95" name="Table 94">
                <a:extLst>
                  <a:ext uri="{FF2B5EF4-FFF2-40B4-BE49-F238E27FC236}">
                    <a16:creationId xmlns:a16="http://schemas.microsoft.com/office/drawing/2014/main" id="{E59C3448-6F84-6369-225E-7D7C00FF8757}"/>
                  </a:ext>
                </a:extLst>
              </p:cNvPr>
              <p:cNvGraphicFramePr>
                <a:graphicFrameLocks noGrp="1"/>
              </p:cNvGraphicFramePr>
              <p:nvPr>
                <p:extLst>
                  <p:ext uri="{D42A27DB-BD31-4B8C-83A1-F6EECF244321}">
                    <p14:modId xmlns:p14="http://schemas.microsoft.com/office/powerpoint/2010/main" val="2816835205"/>
                  </p:ext>
                </p:extLst>
              </p:nvPr>
            </p:nvGraphicFramePr>
            <p:xfrm>
              <a:off x="572708" y="3128911"/>
              <a:ext cx="10551292" cy="2183448"/>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822960">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1360488">
                    <a:tc>
                      <a:txBody>
                        <a:bodyPr/>
                        <a:lstStyle/>
                        <a:p>
                          <a:endParaRPr lang="en-US"/>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t="-70982" r="-300000"/>
                          </a:stretch>
                        </a:blipFill>
                      </a:tcPr>
                    </a:tc>
                    <a:tc>
                      <a:txBody>
                        <a:bodyPr/>
                        <a:lstStyle/>
                        <a:p>
                          <a:endParaRPr lang="en-US"/>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l="-100000" t="-70982" r="-200000"/>
                          </a:stretch>
                        </a:blipFill>
                      </a:tcPr>
                    </a:tc>
                    <a:tc>
                      <a:txBody>
                        <a:bodyPr/>
                        <a:lstStyle/>
                        <a:p>
                          <a:endParaRPr lang="en-US"/>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l="-200000" t="-70982" r="-100000"/>
                          </a:stretch>
                        </a:blipFill>
                      </a:tcPr>
                    </a:tc>
                    <a:tc>
                      <a:txBody>
                        <a:bodyPr/>
                        <a:lstStyle/>
                        <a:p>
                          <a:endParaRPr lang="en-US"/>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5"/>
                          <a:stretch>
                            <a:fillRect l="-300000" t="-70982"/>
                          </a:stretch>
                        </a:blipFill>
                      </a:tcPr>
                    </a:tc>
                    <a:extLst>
                      <a:ext uri="{0D108BD9-81ED-4DB2-BD59-A6C34878D82A}">
                        <a16:rowId xmlns:a16="http://schemas.microsoft.com/office/drawing/2014/main" val="505300166"/>
                      </a:ext>
                    </a:extLst>
                  </a:tr>
                </a:tbl>
              </a:graphicData>
            </a:graphic>
          </p:graphicFrame>
        </mc:Fallback>
      </mc:AlternateContent>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(17)</a:t>
            </a:r>
          </a:p>
        </p:txBody>
      </p:sp>
      <p:sp>
        <p:nvSpPr>
          <p:cNvPr id="11" name="Picture Placeholder 10">
            <a:extLst>
              <a:ext uri="{FF2B5EF4-FFF2-40B4-BE49-F238E27FC236}">
                <a16:creationId xmlns:a16="http://schemas.microsoft.com/office/drawing/2014/main" id="{E3076825-3639-8154-0BA8-58E1ADFFDA47}"/>
              </a:ext>
            </a:extLst>
          </p:cNvPr>
          <p:cNvSpPr>
            <a:spLocks noGrp="1"/>
          </p:cNvSpPr>
          <p:nvPr>
            <p:ph type="pic" sz="quarter" idx="21"/>
          </p:nvPr>
        </p:nvSpPr>
        <p:spPr>
          <a:xfrm>
            <a:off x="741025" y="1763371"/>
            <a:ext cx="11102975" cy="3778256"/>
          </a:xfrm>
        </p:spPr>
        <p:txBody>
          <a:bodyPr/>
          <a:lstStyle/>
          <a:p>
            <a:pPr algn="ctr"/>
            <a:r>
              <a:rPr lang="en-US" sz="2000">
                <a:latin typeface="Arial"/>
                <a:cs typeface="Arial"/>
              </a:rPr>
              <a:t>.</a:t>
            </a:r>
            <a:br>
              <a:rPr lang="en-US">
                <a:latin typeface="Arial"/>
                <a:cs typeface="Arial"/>
              </a:rPr>
            </a:br>
            <a:endParaRPr lang="en-US" sz="4400">
              <a:latin typeface="Arial"/>
              <a:cs typeface="Arial"/>
            </a:endParaRPr>
          </a:p>
          <a:p>
            <a:pPr algn="ctr"/>
            <a:r>
              <a:rPr lang="en-US" sz="4400">
                <a:latin typeface="Arial"/>
                <a:cs typeface="Arial"/>
              </a:rPr>
              <a:t>Meg rotated the triangle a half-turn each turn.</a:t>
            </a:r>
          </a:p>
          <a:p>
            <a:pPr algn="ctr"/>
            <a:r>
              <a:rPr lang="en-US" sz="4400" b="1">
                <a:latin typeface="Arial"/>
                <a:cs typeface="Arial"/>
              </a:rPr>
              <a:t>Describe</a:t>
            </a:r>
            <a:r>
              <a:rPr lang="en-US" sz="4400">
                <a:latin typeface="Arial"/>
                <a:cs typeface="Arial"/>
              </a:rPr>
              <a:t> the </a:t>
            </a:r>
            <a:r>
              <a:rPr lang="en-US" sz="4400" b="1">
                <a:latin typeface="Arial"/>
                <a:cs typeface="Arial"/>
              </a:rPr>
              <a:t>error</a:t>
            </a:r>
            <a:r>
              <a:rPr lang="en-US" sz="4400">
                <a:latin typeface="Arial"/>
                <a:cs typeface="Arial"/>
              </a:rPr>
              <a:t> in her </a:t>
            </a:r>
            <a:r>
              <a:rPr lang="en-US" sz="4400" b="1">
                <a:latin typeface="Arial"/>
                <a:cs typeface="Arial"/>
              </a:rPr>
              <a:t>transformation</a:t>
            </a:r>
            <a:r>
              <a:rPr lang="en-US" sz="4400">
                <a:latin typeface="Arial"/>
                <a:cs typeface="Arial"/>
              </a:rPr>
              <a:t>.</a:t>
            </a:r>
          </a:p>
        </p:txBody>
      </p:sp>
      <p:pic>
        <p:nvPicPr>
          <p:cNvPr id="4" name="Picture 3" descr="image of a clipboard with a pencil recording short answer responses">
            <a:extLst>
              <a:ext uri="{FF2B5EF4-FFF2-40B4-BE49-F238E27FC236}">
                <a16:creationId xmlns:a16="http://schemas.microsoft.com/office/drawing/2014/main" id="{78965A65-E5BC-2C4E-B55B-9EF446DC1F3D}"/>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38" name="Picture 37" descr="4 triangles each showing quarter turn from the previous triangle.">
            <a:extLst>
              <a:ext uri="{FF2B5EF4-FFF2-40B4-BE49-F238E27FC236}">
                <a16:creationId xmlns:a16="http://schemas.microsoft.com/office/drawing/2014/main" id="{E9C8D1AC-F0E6-7A48-108C-3C7F14814D54}"/>
              </a:ext>
            </a:extLst>
          </p:cNvPr>
          <p:cNvPicPr>
            <a:picLocks noChangeAspect="1"/>
          </p:cNvPicPr>
          <p:nvPr/>
        </p:nvPicPr>
        <p:blipFill>
          <a:blip r:embed="rId4"/>
          <a:srcRect l="-419" t="31013" r="419" b="-1394"/>
          <a:stretch>
            <a:fillRect/>
          </a:stretch>
        </p:blipFill>
        <p:spPr>
          <a:xfrm>
            <a:off x="2022512" y="1487526"/>
            <a:ext cx="7918014" cy="2062717"/>
          </a:xfrm>
          <a:prstGeom prst="rect">
            <a:avLst/>
          </a:prstGeom>
        </p:spPr>
      </p:pic>
      <p:pic>
        <p:nvPicPr>
          <p:cNvPr id="41" name="Picture 40" descr="red cross to show incorrect.">
            <a:extLst>
              <a:ext uri="{FF2B5EF4-FFF2-40B4-BE49-F238E27FC236}">
                <a16:creationId xmlns:a16="http://schemas.microsoft.com/office/drawing/2014/main" id="{23980301-4FB9-5FCD-33C7-F9C4B080454D}"/>
              </a:ext>
            </a:extLst>
          </p:cNvPr>
          <p:cNvPicPr>
            <a:picLocks noChangeAspect="1"/>
          </p:cNvPicPr>
          <p:nvPr/>
        </p:nvPicPr>
        <p:blipFill>
          <a:blip r:embed="rId5"/>
          <a:stretch>
            <a:fillRect/>
          </a:stretch>
        </p:blipFill>
        <p:spPr>
          <a:xfrm>
            <a:off x="9742767" y="661842"/>
            <a:ext cx="713380" cy="899480"/>
          </a:xfrm>
          <a:prstGeom prst="rect">
            <a:avLst/>
          </a:prstGeom>
        </p:spPr>
      </p:pic>
      <p:pic>
        <p:nvPicPr>
          <p:cNvPr id="5" name="Picture 4">
            <a:extLst>
              <a:ext uri="{FF2B5EF4-FFF2-40B4-BE49-F238E27FC236}">
                <a16:creationId xmlns:a16="http://schemas.microsoft.com/office/drawing/2014/main" id="{010FBAEA-D047-DEF1-ED89-89AEFA1C28BD}"/>
              </a:ext>
            </a:extLst>
          </p:cNvPr>
          <p:cNvPicPr>
            <a:picLocks noChangeAspect="1"/>
          </p:cNvPicPr>
          <p:nvPr/>
        </p:nvPicPr>
        <p:blipFill>
          <a:blip r:embed="rId6"/>
          <a:stretch>
            <a:fillRect/>
          </a:stretch>
        </p:blipFill>
        <p:spPr>
          <a:xfrm>
            <a:off x="1983660" y="1561322"/>
            <a:ext cx="7876715" cy="1988921"/>
          </a:xfrm>
          <a:prstGeom prst="rect">
            <a:avLst/>
          </a:prstGeom>
        </p:spPr>
      </p:pic>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(18) </a:t>
            </a:r>
          </a:p>
        </p:txBody>
      </p:sp>
      <p:sp>
        <p:nvSpPr>
          <p:cNvPr id="11" name="Picture Placeholder 10">
            <a:extLst>
              <a:ext uri="{FF2B5EF4-FFF2-40B4-BE49-F238E27FC236}">
                <a16:creationId xmlns:a16="http://schemas.microsoft.com/office/drawing/2014/main" id="{50CE3FA9-E73E-0225-40D3-D27739FD5AAA}"/>
              </a:ext>
            </a:extLst>
          </p:cNvPr>
          <p:cNvSpPr>
            <a:spLocks noGrp="1"/>
          </p:cNvSpPr>
          <p:nvPr>
            <p:ph type="pic" sz="quarter" idx="21"/>
          </p:nvPr>
        </p:nvSpPr>
        <p:spPr>
          <a:xfrm>
            <a:off x="668144" y="1275500"/>
            <a:ext cx="10626750" cy="3632255"/>
          </a:xfrm>
        </p:spPr>
        <p:txBody>
          <a:bodyPr/>
          <a:lstStyle/>
          <a:p>
            <a:pPr algn="ctr"/>
            <a:r>
              <a:rPr lang="en-US" sz="4400"/>
              <a:t>A bag has 10 red marbles and 12 blue. Erin </a:t>
            </a:r>
            <a:r>
              <a:rPr lang="en-US" sz="4400" b="1"/>
              <a:t>removed</a:t>
            </a:r>
            <a:r>
              <a:rPr lang="en-US" sz="4400"/>
              <a:t> one red marble. Are the </a:t>
            </a:r>
            <a:r>
              <a:rPr lang="en-US" sz="4400" b="1"/>
              <a:t>chances</a:t>
            </a:r>
            <a:r>
              <a:rPr lang="en-US" sz="4400"/>
              <a:t> of selecting a blue marble still the same? </a:t>
            </a:r>
          </a:p>
          <a:p>
            <a:pPr algn="ctr"/>
            <a:r>
              <a:rPr lang="en-US" sz="4400" b="1"/>
              <a:t>Explain</a:t>
            </a:r>
            <a:r>
              <a:rPr lang="en-US" sz="4400"/>
              <a:t> your </a:t>
            </a:r>
            <a:r>
              <a:rPr lang="en-US" sz="4400" b="1"/>
              <a:t>reasoning</a:t>
            </a:r>
            <a:r>
              <a:rPr lang="en-US" sz="4400"/>
              <a:t>.</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79624517-4A6E-BCB0-BE3D-E100CB8DC045}"/>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56030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a:latin typeface="Arial"/>
                <a:cs typeface="Arial"/>
              </a:rPr>
              <a:t>Short response</a:t>
            </a:r>
            <a:r>
              <a:rPr lang="en-US">
                <a:solidFill>
                  <a:srgbClr val="002060"/>
                </a:solidFill>
                <a:latin typeface="Arial"/>
                <a:cs typeface="Arial"/>
              </a:rPr>
              <a:t> </a:t>
            </a:r>
            <a:r>
              <a:rPr lang="en-US">
                <a:solidFill>
                  <a:schemeClr val="bg1"/>
                </a:solidFill>
                <a:latin typeface="Arial"/>
                <a:cs typeface="Arial"/>
              </a:rPr>
              <a:t>(19) </a:t>
            </a:r>
          </a:p>
        </p:txBody>
      </p:sp>
      <p:sp>
        <p:nvSpPr>
          <p:cNvPr id="13" name="TextBox 12">
            <a:extLst>
              <a:ext uri="{FF2B5EF4-FFF2-40B4-BE49-F238E27FC236}">
                <a16:creationId xmlns:a16="http://schemas.microsoft.com/office/drawing/2014/main" id="{51E0C1DB-5841-D74F-1A5B-6AEA3A4901D3}"/>
              </a:ext>
            </a:extLst>
          </p:cNvPr>
          <p:cNvSpPr txBox="1"/>
          <p:nvPr/>
        </p:nvSpPr>
        <p:spPr>
          <a:xfrm>
            <a:off x="360000" y="1439761"/>
            <a:ext cx="10982552" cy="3510643"/>
          </a:xfrm>
          <a:prstGeom prst="rect">
            <a:avLst/>
          </a:prstGeom>
          <a:noFill/>
        </p:spPr>
        <p:txBody>
          <a:bodyPr wrap="square" lIns="0" tIns="0" rIns="0" bIns="0" rtlCol="0">
            <a:noAutofit/>
          </a:bodyPr>
          <a:lstStyle/>
          <a:p>
            <a:pPr algn="ctr"/>
            <a:r>
              <a:rPr lang="en-AU" sz="4400"/>
              <a:t>Which one </a:t>
            </a:r>
            <a:r>
              <a:rPr lang="en-AU" sz="4400" b="1"/>
              <a:t>doesn’t belong</a:t>
            </a:r>
            <a:r>
              <a:rPr lang="en-AU" sz="4400"/>
              <a:t>?</a:t>
            </a:r>
          </a:p>
          <a:p>
            <a:pPr algn="ctr"/>
            <a:r>
              <a:rPr lang="en-AU" sz="4400" b="1"/>
              <a:t>Communicate</a:t>
            </a:r>
            <a:r>
              <a:rPr lang="en-AU" sz="4400"/>
              <a:t> your </a:t>
            </a:r>
            <a:r>
              <a:rPr lang="en-AU" sz="4400" b="1"/>
              <a:t>reasoning</a:t>
            </a:r>
            <a:r>
              <a:rPr lang="en-AU" sz="4400"/>
              <a:t>.</a:t>
            </a:r>
          </a:p>
        </p:txBody>
      </p:sp>
      <p:pic>
        <p:nvPicPr>
          <p:cNvPr id="4" name="Picture 3" descr="image of a clipboard with a pencil recording short answer responses">
            <a:extLst>
              <a:ext uri="{FF2B5EF4-FFF2-40B4-BE49-F238E27FC236}">
                <a16:creationId xmlns:a16="http://schemas.microsoft.com/office/drawing/2014/main" id="{DDE2B47A-8CF9-35B2-EC15-2BFADBD1573B}"/>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A series of shapes, 3 equal sided quadrilaterals and the second shape is a trapezium.">
            <a:extLst>
              <a:ext uri="{FF2B5EF4-FFF2-40B4-BE49-F238E27FC236}">
                <a16:creationId xmlns:a16="http://schemas.microsoft.com/office/drawing/2014/main" id="{73CD627C-FA38-1846-8FFD-F3C0D1DA9338}"/>
              </a:ext>
            </a:extLst>
          </p:cNvPr>
          <p:cNvPicPr>
            <a:picLocks noChangeAspect="1"/>
          </p:cNvPicPr>
          <p:nvPr/>
        </p:nvPicPr>
        <p:blipFill>
          <a:blip r:embed="rId4"/>
          <a:srcRect l="21707"/>
          <a:stretch>
            <a:fillRect/>
          </a:stretch>
        </p:blipFill>
        <p:spPr>
          <a:xfrm>
            <a:off x="2204395" y="3429000"/>
            <a:ext cx="7783210" cy="2547415"/>
          </a:xfrm>
          <a:prstGeom prst="rect">
            <a:avLst/>
          </a:prstGeom>
        </p:spPr>
      </p:pic>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(20)</a:t>
            </a:r>
          </a:p>
        </p:txBody>
      </p:sp>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180000" y="1498752"/>
            <a:ext cx="11603038" cy="3037114"/>
          </a:xfrm>
        </p:spPr>
        <p:txBody>
          <a:bodyPr/>
          <a:lstStyle/>
          <a:p>
            <a:pPr algn="ctr"/>
            <a:r>
              <a:rPr lang="en-US" sz="4400" b="1" dirty="0">
                <a:latin typeface="Arial"/>
                <a:cs typeface="Arial"/>
              </a:rPr>
              <a:t>Order </a:t>
            </a:r>
            <a:r>
              <a:rPr lang="en-US" sz="4400" dirty="0">
                <a:latin typeface="Arial"/>
                <a:cs typeface="Arial"/>
              </a:rPr>
              <a:t>the </a:t>
            </a:r>
            <a:r>
              <a:rPr lang="en-US" sz="4400" b="1" dirty="0">
                <a:latin typeface="Arial"/>
                <a:cs typeface="Arial"/>
              </a:rPr>
              <a:t>capacities </a:t>
            </a:r>
            <a:r>
              <a:rPr lang="en-US" sz="4400" dirty="0">
                <a:latin typeface="Arial"/>
                <a:cs typeface="Arial"/>
              </a:rPr>
              <a:t>from</a:t>
            </a:r>
            <a:r>
              <a:rPr lang="en-US" sz="4400" b="1" dirty="0">
                <a:latin typeface="Arial"/>
                <a:cs typeface="Arial"/>
              </a:rPr>
              <a:t> smallest </a:t>
            </a:r>
            <a:r>
              <a:rPr lang="en-US" sz="4400" dirty="0">
                <a:latin typeface="Arial"/>
                <a:cs typeface="Arial"/>
              </a:rPr>
              <a:t>to</a:t>
            </a:r>
            <a:r>
              <a:rPr lang="en-US" sz="4400" b="1" dirty="0">
                <a:latin typeface="Arial"/>
                <a:cs typeface="Arial"/>
              </a:rPr>
              <a:t> largest</a:t>
            </a:r>
            <a:r>
              <a:rPr lang="en-US" sz="4000" dirty="0">
                <a:latin typeface="Arial"/>
                <a:cs typeface="Arial"/>
              </a:rPr>
              <a:t>.</a:t>
            </a:r>
            <a:endParaRPr lang="en-US" sz="40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55FD276A-C397-9187-758E-5683EDE3430B}"/>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5" name="Table 4">
            <a:extLst>
              <a:ext uri="{FF2B5EF4-FFF2-40B4-BE49-F238E27FC236}">
                <a16:creationId xmlns:a16="http://schemas.microsoft.com/office/drawing/2014/main" id="{EB339294-768D-309D-D43B-B5BC33707A7E}"/>
              </a:ext>
            </a:extLst>
          </p:cNvPr>
          <p:cNvGraphicFramePr>
            <a:graphicFrameLocks noGrp="1"/>
          </p:cNvGraphicFramePr>
          <p:nvPr>
            <p:extLst>
              <p:ext uri="{D42A27DB-BD31-4B8C-83A1-F6EECF244321}">
                <p14:modId xmlns:p14="http://schemas.microsoft.com/office/powerpoint/2010/main" val="2732812735"/>
              </p:ext>
            </p:extLst>
          </p:nvPr>
        </p:nvGraphicFramePr>
        <p:xfrm>
          <a:off x="798058" y="3782000"/>
          <a:ext cx="10232418" cy="2136789"/>
        </p:xfrm>
        <a:graphic>
          <a:graphicData uri="http://schemas.openxmlformats.org/drawingml/2006/table">
            <a:tbl>
              <a:tblPr firstRow="1" bandRow="1">
                <a:tableStyleId>{BC89EF96-8CEA-46FF-86C4-4CE0E7609802}</a:tableStyleId>
              </a:tblPr>
              <a:tblGrid>
                <a:gridCol w="4746596">
                  <a:extLst>
                    <a:ext uri="{9D8B030D-6E8A-4147-A177-3AD203B41FA5}">
                      <a16:colId xmlns:a16="http://schemas.microsoft.com/office/drawing/2014/main" val="2957173457"/>
                    </a:ext>
                  </a:extLst>
                </a:gridCol>
                <a:gridCol w="5485822">
                  <a:extLst>
                    <a:ext uri="{9D8B030D-6E8A-4147-A177-3AD203B41FA5}">
                      <a16:colId xmlns:a16="http://schemas.microsoft.com/office/drawing/2014/main" val="3512219744"/>
                    </a:ext>
                  </a:extLst>
                </a:gridCol>
              </a:tblGrid>
              <a:tr h="153462">
                <a:tc>
                  <a:txBody>
                    <a:bodyPr/>
                    <a:lstStyle/>
                    <a:p>
                      <a:pPr algn="ctr"/>
                      <a:r>
                        <a:rPr lang="en-AU" sz="3600" b="0" dirty="0"/>
                        <a:t>950 mL</a:t>
                      </a:r>
                    </a:p>
                  </a:txBody>
                  <a:tcPr anchor="ctr"/>
                </a:tc>
                <a:tc>
                  <a:txBody>
                    <a:bodyPr/>
                    <a:lstStyle/>
                    <a:p>
                      <a:pPr algn="ctr"/>
                      <a:r>
                        <a:rPr lang="en-AU" sz="3600" b="0" dirty="0"/>
                        <a:t>876 mL</a:t>
                      </a:r>
                    </a:p>
                  </a:txBody>
                  <a:tcPr anchor="ctr"/>
                </a:tc>
                <a:extLst>
                  <a:ext uri="{0D108BD9-81ED-4DB2-BD59-A6C34878D82A}">
                    <a16:rowId xmlns:a16="http://schemas.microsoft.com/office/drawing/2014/main" val="3836189965"/>
                  </a:ext>
                </a:extLst>
              </a:tr>
              <a:tr h="546868">
                <a:tc>
                  <a:txBody>
                    <a:bodyPr/>
                    <a:lstStyle/>
                    <a:p>
                      <a:pPr algn="ctr"/>
                      <a:r>
                        <a:rPr lang="en-AU" sz="4000" b="0" dirty="0"/>
                        <a:t>120 mL</a:t>
                      </a:r>
                    </a:p>
                  </a:txBody>
                  <a:tcPr anchor="ctr"/>
                </a:tc>
                <a:tc>
                  <a:txBody>
                    <a:bodyPr/>
                    <a:lstStyle/>
                    <a:p>
                      <a:pPr algn="ctr"/>
                      <a:r>
                        <a:rPr lang="en-AU" sz="4000" b="0" dirty="0"/>
                        <a:t>4856 mL</a:t>
                      </a:r>
                    </a:p>
                  </a:txBody>
                  <a:tcPr anchor="ctr"/>
                </a:tc>
                <a:extLst>
                  <a:ext uri="{0D108BD9-81ED-4DB2-BD59-A6C34878D82A}">
                    <a16:rowId xmlns:a16="http://schemas.microsoft.com/office/drawing/2014/main" val="2383016235"/>
                  </a:ext>
                </a:extLst>
              </a:tr>
              <a:tr h="795669">
                <a:tc>
                  <a:txBody>
                    <a:bodyPr/>
                    <a:lstStyle/>
                    <a:p>
                      <a:pPr algn="ctr"/>
                      <a:r>
                        <a:rPr lang="en-AU" sz="4000" b="0" dirty="0"/>
                        <a:t>95 mL</a:t>
                      </a:r>
                    </a:p>
                  </a:txBody>
                  <a:tcPr anchor="ctr"/>
                </a:tc>
                <a:tc>
                  <a:txBody>
                    <a:bodyPr/>
                    <a:lstStyle/>
                    <a:p>
                      <a:pPr algn="ctr"/>
                      <a:r>
                        <a:rPr lang="en-AU" sz="4000" b="0" dirty="0"/>
                        <a:t>762 mL</a:t>
                      </a:r>
                    </a:p>
                  </a:txBody>
                  <a:tcPr anchor="ctr"/>
                </a:tc>
                <a:extLst>
                  <a:ext uri="{0D108BD9-81ED-4DB2-BD59-A6C34878D82A}">
                    <a16:rowId xmlns:a16="http://schemas.microsoft.com/office/drawing/2014/main" val="2679830503"/>
                  </a:ext>
                </a:extLst>
              </a:tr>
            </a:tbl>
          </a:graphicData>
        </a:graphic>
      </p:graphicFrame>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795A7-5A44-635A-9B7A-F16BBFA70557}"/>
            </a:ext>
          </a:extLst>
        </p:cNvPr>
        <p:cNvGrpSpPr/>
        <p:nvPr/>
      </p:nvGrpSpPr>
      <p:grpSpPr>
        <a:xfrm>
          <a:off x="0" y="0"/>
          <a:ext cx="0" cy="0"/>
          <a:chOff x="0" y="0"/>
          <a:chExt cx="0" cy="0"/>
        </a:xfrm>
      </p:grpSpPr>
      <p:sp>
        <p:nvSpPr>
          <p:cNvPr id="2" name="Slide Number Placeholder 1"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FB2A914D-8E7B-F009-C90A-A2B236A831A5}"/>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3" name="Title 2">
            <a:extLst>
              <a:ext uri="{FF2B5EF4-FFF2-40B4-BE49-F238E27FC236}">
                <a16:creationId xmlns:a16="http://schemas.microsoft.com/office/drawing/2014/main" id="{69D33906-86FD-F6E5-479E-8A0B7F152CA9}"/>
              </a:ext>
            </a:extLst>
          </p:cNvPr>
          <p:cNvSpPr>
            <a:spLocks noGrp="1"/>
          </p:cNvSpPr>
          <p:nvPr>
            <p:ph type="title"/>
          </p:nvPr>
        </p:nvSpPr>
        <p:spPr>
          <a:xfrm>
            <a:off x="360000" y="360000"/>
            <a:ext cx="11484000" cy="545601"/>
          </a:xfrm>
        </p:spPr>
        <p:txBody>
          <a:bodyPr/>
          <a:lstStyle/>
          <a:p>
            <a:r>
              <a:rPr lang="en-AU"/>
              <a:t>Activity 5 – blank number lines</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39DF0BC0-A936-CCE2-7F7A-4DE08A59F248}"/>
                  </a:ext>
                </a:extLst>
              </p:cNvPr>
              <p:cNvSpPr txBox="1"/>
              <p:nvPr/>
            </p:nvSpPr>
            <p:spPr>
              <a:xfrm>
                <a:off x="795866" y="1219278"/>
                <a:ext cx="905933" cy="1032933"/>
              </a:xfrm>
              <a:prstGeom prst="rect">
                <a:avLst/>
              </a:prstGeom>
              <a:noFill/>
            </p:spPr>
            <p:txBody>
              <a:bodyPr wrap="square" lIns="0" tIns="0" rIns="0" bIns="0" rtlCol="0">
                <a:noAutofit/>
              </a:bodyPr>
              <a:lstStyle/>
              <a:p>
                <a:pPr lvl="0">
                  <a:lnSpc>
                    <a:spcPct val="150000"/>
                  </a:lnSpc>
                  <a:spcBef>
                    <a:spcPts val="1200"/>
                  </a:spcBef>
                  <a:spcAft>
                    <a:spcPts val="600"/>
                  </a:spcAft>
                </a:pPr>
                <a14:m>
                  <m:oMathPara xmlns:m="http://schemas.openxmlformats.org/officeDocument/2006/math">
                    <m:oMathParaPr>
                      <m:jc m:val="centerGroup"/>
                    </m:oMathParaPr>
                    <m:oMath xmlns:m="http://schemas.openxmlformats.org/officeDocument/2006/math">
                      <m:f>
                        <m:fPr>
                          <m:ctrlPr>
                            <a:rPr lang="en-AU" sz="1800" i="1" smtClean="0">
                              <a:effectLst/>
                              <a:latin typeface="Cambria Math" panose="02040503050406030204" pitchFamily="18" charset="0"/>
                              <a:ea typeface="Calibri" panose="020F0502020204030204" pitchFamily="34" charset="0"/>
                            </a:rPr>
                          </m:ctrlPr>
                        </m:fPr>
                        <m:num>
                          <m:r>
                            <a:rPr lang="en-AU" sz="1800">
                              <a:effectLst/>
                              <a:latin typeface="Cambria Math" panose="02040503050406030204" pitchFamily="18" charset="0"/>
                              <a:ea typeface="Calibri" panose="020F0502020204030204" pitchFamily="34" charset="0"/>
                            </a:rPr>
                            <m:t>1</m:t>
                          </m:r>
                        </m:num>
                        <m:den>
                          <m:r>
                            <a:rPr lang="en-AU" sz="1800">
                              <a:effectLst/>
                              <a:latin typeface="Cambria Math" panose="02040503050406030204" pitchFamily="18" charset="0"/>
                              <a:ea typeface="Calibri" panose="020F0502020204030204" pitchFamily="34" charset="0"/>
                            </a:rPr>
                            <m:t>4</m:t>
                          </m:r>
                        </m:den>
                      </m:f>
                    </m:oMath>
                  </m:oMathPara>
                </a14:m>
                <a:endParaRPr lang="en-AU" sz="1800">
                  <a:effectLst/>
                  <a:latin typeface="Arial" panose="020B0604020202020204" pitchFamily="34" charset="0"/>
                  <a:ea typeface="Calibri" panose="020F0502020204030204" pitchFamily="34" charset="0"/>
                </a:endParaRPr>
              </a:p>
            </p:txBody>
          </p:sp>
        </mc:Choice>
        <mc:Fallback xmlns="">
          <p:sp>
            <p:nvSpPr>
              <p:cNvPr id="48" name="TextBox 47">
                <a:extLst>
                  <a:ext uri="{FF2B5EF4-FFF2-40B4-BE49-F238E27FC236}">
                    <a16:creationId xmlns:a16="http://schemas.microsoft.com/office/drawing/2014/main" id="{39DF0BC0-A936-CCE2-7F7A-4DE08A59F248}"/>
                  </a:ext>
                </a:extLst>
              </p:cNvPr>
              <p:cNvSpPr txBox="1">
                <a:spLocks noRot="1" noChangeAspect="1" noMove="1" noResize="1" noEditPoints="1" noAdjustHandles="1" noChangeArrowheads="1" noChangeShapeType="1" noTextEdit="1"/>
              </p:cNvSpPr>
              <p:nvPr/>
            </p:nvSpPr>
            <p:spPr>
              <a:xfrm>
                <a:off x="795866" y="1219278"/>
                <a:ext cx="905933" cy="103293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702A237-E0DB-AEBF-86DD-314604E21506}"/>
                  </a:ext>
                </a:extLst>
              </p:cNvPr>
              <p:cNvSpPr txBox="1"/>
              <p:nvPr/>
            </p:nvSpPr>
            <p:spPr>
              <a:xfrm>
                <a:off x="677333" y="2184401"/>
                <a:ext cx="905933" cy="1032933"/>
              </a:xfrm>
              <a:prstGeom prst="rect">
                <a:avLst/>
              </a:prstGeom>
              <a:noFill/>
            </p:spPr>
            <p:txBody>
              <a:bodyPr wrap="square" lIns="0" tIns="0" rIns="0" bIns="0" rtlCol="0">
                <a:noAutofit/>
              </a:bodyPr>
              <a:lstStyle/>
              <a:p>
                <a:pPr>
                  <a:lnSpc>
                    <a:spcPct val="150000"/>
                  </a:lnSpc>
                  <a:spcBef>
                    <a:spcPts val="1200"/>
                  </a:spcBef>
                  <a:spcAft>
                    <a:spcPts val="600"/>
                  </a:spcAft>
                </a:pPr>
                <a14:m>
                  <m:oMathPara xmlns:m="http://schemas.openxmlformats.org/officeDocument/2006/math">
                    <m:oMathParaPr>
                      <m:jc m:val="centerGroup"/>
                    </m:oMathParaPr>
                    <m:oMath xmlns:m="http://schemas.openxmlformats.org/officeDocument/2006/math">
                      <m:r>
                        <a:rPr lang="en-AU" sz="1800">
                          <a:latin typeface="Cambria Math" panose="02040503050406030204" pitchFamily="18" charset="0"/>
                        </a:rPr>
                        <m:t>1 </m:t>
                      </m:r>
                      <m:f>
                        <m:fPr>
                          <m:ctrlPr>
                            <a:rPr lang="en-AU" sz="1800" i="1">
                              <a:latin typeface="Cambria Math" panose="02040503050406030204" pitchFamily="18" charset="0"/>
                            </a:rPr>
                          </m:ctrlPr>
                        </m:fPr>
                        <m:num>
                          <m:r>
                            <a:rPr lang="en-AU" sz="1800">
                              <a:latin typeface="Cambria Math" panose="02040503050406030204" pitchFamily="18" charset="0"/>
                            </a:rPr>
                            <m:t>3</m:t>
                          </m:r>
                        </m:num>
                        <m:den>
                          <m:r>
                            <a:rPr lang="en-AU" sz="1800">
                              <a:latin typeface="Cambria Math" panose="02040503050406030204" pitchFamily="18" charset="0"/>
                            </a:rPr>
                            <m:t>4</m:t>
                          </m:r>
                        </m:den>
                      </m:f>
                    </m:oMath>
                  </m:oMathPara>
                </a14:m>
                <a:endParaRPr lang="en-AU" sz="1800"/>
              </a:p>
              <a:p>
                <a:pPr lvl="0">
                  <a:lnSpc>
                    <a:spcPct val="150000"/>
                  </a:lnSpc>
                  <a:spcBef>
                    <a:spcPts val="1200"/>
                  </a:spcBef>
                  <a:spcAft>
                    <a:spcPts val="600"/>
                  </a:spcAft>
                </a:pPr>
                <a:endParaRPr lang="en-AU" sz="1800">
                  <a:effectLst/>
                  <a:latin typeface="Arial" panose="020B0604020202020204" pitchFamily="34" charset="0"/>
                  <a:ea typeface="Calibri" panose="020F0502020204030204" pitchFamily="34" charset="0"/>
                </a:endParaRPr>
              </a:p>
            </p:txBody>
          </p:sp>
        </mc:Choice>
        <mc:Fallback xmlns="">
          <p:sp>
            <p:nvSpPr>
              <p:cNvPr id="49" name="TextBox 48">
                <a:extLst>
                  <a:ext uri="{FF2B5EF4-FFF2-40B4-BE49-F238E27FC236}">
                    <a16:creationId xmlns:a16="http://schemas.microsoft.com/office/drawing/2014/main" id="{E702A237-E0DB-AEBF-86DD-314604E21506}"/>
                  </a:ext>
                </a:extLst>
              </p:cNvPr>
              <p:cNvSpPr txBox="1">
                <a:spLocks noRot="1" noChangeAspect="1" noMove="1" noResize="1" noEditPoints="1" noAdjustHandles="1" noChangeArrowheads="1" noChangeShapeType="1" noTextEdit="1"/>
              </p:cNvSpPr>
              <p:nvPr/>
            </p:nvSpPr>
            <p:spPr>
              <a:xfrm>
                <a:off x="677333" y="2184401"/>
                <a:ext cx="905933" cy="103293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7A2D77D8-DECD-674F-12BB-68CC48552ABB}"/>
                  </a:ext>
                </a:extLst>
              </p:cNvPr>
              <p:cNvSpPr txBox="1"/>
              <p:nvPr/>
            </p:nvSpPr>
            <p:spPr>
              <a:xfrm>
                <a:off x="677332" y="3160955"/>
                <a:ext cx="905933" cy="1032933"/>
              </a:xfrm>
              <a:prstGeom prst="rect">
                <a:avLst/>
              </a:prstGeom>
              <a:noFill/>
            </p:spPr>
            <p:txBody>
              <a:bodyPr wrap="square" lIns="0" tIns="0" rIns="0" bIns="0" rtlCol="0">
                <a:noAutofit/>
              </a:bodyPr>
              <a:lstStyle/>
              <a:p>
                <a:pPr>
                  <a:lnSpc>
                    <a:spcPct val="150000"/>
                  </a:lnSpc>
                  <a:spcBef>
                    <a:spcPts val="1200"/>
                  </a:spcBef>
                  <a:spcAft>
                    <a:spcPts val="600"/>
                  </a:spcAft>
                </a:pPr>
                <a14:m>
                  <m:oMathPara xmlns:m="http://schemas.openxmlformats.org/officeDocument/2006/math">
                    <m:oMathParaPr>
                      <m:jc m:val="centerGroup"/>
                    </m:oMathParaPr>
                    <m:oMath xmlns:m="http://schemas.openxmlformats.org/officeDocument/2006/math">
                      <m:r>
                        <a:rPr lang="en-AU" sz="1800" smtClean="0">
                          <a:latin typeface="Cambria Math" panose="02040503050406030204" pitchFamily="18" charset="0"/>
                        </a:rPr>
                        <m:t>1 </m:t>
                      </m:r>
                      <m:f>
                        <m:fPr>
                          <m:ctrlPr>
                            <a:rPr lang="en-AU" sz="1800" i="1">
                              <a:latin typeface="Cambria Math" panose="02040503050406030204" pitchFamily="18" charset="0"/>
                            </a:rPr>
                          </m:ctrlPr>
                        </m:fPr>
                        <m:num>
                          <m:r>
                            <a:rPr lang="en-AU" sz="1800" b="0" i="0" smtClean="0">
                              <a:latin typeface="Cambria Math" panose="02040503050406030204" pitchFamily="18" charset="0"/>
                            </a:rPr>
                            <m:t>1</m:t>
                          </m:r>
                        </m:num>
                        <m:den>
                          <m:r>
                            <a:rPr lang="en-AU" sz="1800">
                              <a:latin typeface="Cambria Math" panose="02040503050406030204" pitchFamily="18" charset="0"/>
                            </a:rPr>
                            <m:t>4</m:t>
                          </m:r>
                        </m:den>
                      </m:f>
                    </m:oMath>
                  </m:oMathPara>
                </a14:m>
                <a:endParaRPr lang="en-AU" sz="1800"/>
              </a:p>
              <a:p>
                <a:pPr lvl="0">
                  <a:lnSpc>
                    <a:spcPct val="150000"/>
                  </a:lnSpc>
                  <a:spcBef>
                    <a:spcPts val="1200"/>
                  </a:spcBef>
                  <a:spcAft>
                    <a:spcPts val="600"/>
                  </a:spcAft>
                </a:pPr>
                <a:endParaRPr lang="en-AU" sz="1800">
                  <a:effectLst/>
                  <a:latin typeface="Arial" panose="020B0604020202020204" pitchFamily="34" charset="0"/>
                  <a:ea typeface="Calibri" panose="020F0502020204030204" pitchFamily="34" charset="0"/>
                </a:endParaRPr>
              </a:p>
            </p:txBody>
          </p:sp>
        </mc:Choice>
        <mc:Fallback xmlns="">
          <p:sp>
            <p:nvSpPr>
              <p:cNvPr id="50" name="TextBox 49">
                <a:extLst>
                  <a:ext uri="{FF2B5EF4-FFF2-40B4-BE49-F238E27FC236}">
                    <a16:creationId xmlns:a16="http://schemas.microsoft.com/office/drawing/2014/main" id="{7A2D77D8-DECD-674F-12BB-68CC48552ABB}"/>
                  </a:ext>
                </a:extLst>
              </p:cNvPr>
              <p:cNvSpPr txBox="1">
                <a:spLocks noRot="1" noChangeAspect="1" noMove="1" noResize="1" noEditPoints="1" noAdjustHandles="1" noChangeArrowheads="1" noChangeShapeType="1" noTextEdit="1"/>
              </p:cNvSpPr>
              <p:nvPr/>
            </p:nvSpPr>
            <p:spPr>
              <a:xfrm>
                <a:off x="677332" y="3160955"/>
                <a:ext cx="905933" cy="10329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A3A6A556-5428-DC36-BC1E-F8467111E4BE}"/>
                  </a:ext>
                </a:extLst>
              </p:cNvPr>
              <p:cNvSpPr txBox="1"/>
              <p:nvPr/>
            </p:nvSpPr>
            <p:spPr>
              <a:xfrm>
                <a:off x="744573" y="4137509"/>
                <a:ext cx="905933" cy="1032933"/>
              </a:xfrm>
              <a:prstGeom prst="rect">
                <a:avLst/>
              </a:prstGeom>
              <a:noFill/>
            </p:spPr>
            <p:txBody>
              <a:bodyPr wrap="square" lIns="0" tIns="0" rIns="0" bIns="0" rtlCol="0">
                <a:noAutofit/>
              </a:bodyPr>
              <a:lstStyle/>
              <a:p>
                <a:pPr>
                  <a:lnSpc>
                    <a:spcPct val="150000"/>
                  </a:lnSpc>
                  <a:spcBef>
                    <a:spcPts val="1200"/>
                  </a:spcBef>
                  <a:spcAft>
                    <a:spcPts val="600"/>
                  </a:spcAft>
                </a:pPr>
                <a14:m>
                  <m:oMathPara xmlns:m="http://schemas.openxmlformats.org/officeDocument/2006/math">
                    <m:oMathParaPr>
                      <m:jc m:val="centerGroup"/>
                    </m:oMathParaPr>
                    <m:oMath xmlns:m="http://schemas.openxmlformats.org/officeDocument/2006/math">
                      <m:r>
                        <a:rPr lang="en-AU" sz="1800" smtClean="0">
                          <a:latin typeface="Cambria Math" panose="02040503050406030204" pitchFamily="18" charset="0"/>
                        </a:rPr>
                        <m:t> </m:t>
                      </m:r>
                      <m:f>
                        <m:fPr>
                          <m:ctrlPr>
                            <a:rPr lang="en-AU" sz="1800" i="1">
                              <a:latin typeface="Cambria Math" panose="02040503050406030204" pitchFamily="18" charset="0"/>
                            </a:rPr>
                          </m:ctrlPr>
                        </m:fPr>
                        <m:num>
                          <m:r>
                            <a:rPr lang="en-AU" sz="1800" b="0" i="0" smtClean="0">
                              <a:latin typeface="Cambria Math" panose="02040503050406030204" pitchFamily="18" charset="0"/>
                            </a:rPr>
                            <m:t>7</m:t>
                          </m:r>
                        </m:num>
                        <m:den>
                          <m:r>
                            <a:rPr lang="en-AU" sz="1800">
                              <a:latin typeface="Cambria Math" panose="02040503050406030204" pitchFamily="18" charset="0"/>
                            </a:rPr>
                            <m:t>4</m:t>
                          </m:r>
                        </m:den>
                      </m:f>
                    </m:oMath>
                  </m:oMathPara>
                </a14:m>
                <a:endParaRPr lang="en-AU" sz="1800"/>
              </a:p>
              <a:p>
                <a:pPr lvl="0">
                  <a:lnSpc>
                    <a:spcPct val="150000"/>
                  </a:lnSpc>
                  <a:spcBef>
                    <a:spcPts val="1200"/>
                  </a:spcBef>
                  <a:spcAft>
                    <a:spcPts val="600"/>
                  </a:spcAft>
                </a:pPr>
                <a:endParaRPr lang="en-AU" sz="1800">
                  <a:effectLst/>
                  <a:latin typeface="Arial" panose="020B0604020202020204" pitchFamily="34" charset="0"/>
                  <a:ea typeface="Calibri" panose="020F0502020204030204" pitchFamily="34" charset="0"/>
                </a:endParaRPr>
              </a:p>
            </p:txBody>
          </p:sp>
        </mc:Choice>
        <mc:Fallback xmlns="">
          <p:sp>
            <p:nvSpPr>
              <p:cNvPr id="51" name="TextBox 50">
                <a:extLst>
                  <a:ext uri="{FF2B5EF4-FFF2-40B4-BE49-F238E27FC236}">
                    <a16:creationId xmlns:a16="http://schemas.microsoft.com/office/drawing/2014/main" id="{A3A6A556-5428-DC36-BC1E-F8467111E4BE}"/>
                  </a:ext>
                </a:extLst>
              </p:cNvPr>
              <p:cNvSpPr txBox="1">
                <a:spLocks noRot="1" noChangeAspect="1" noMove="1" noResize="1" noEditPoints="1" noAdjustHandles="1" noChangeArrowheads="1" noChangeShapeType="1" noTextEdit="1"/>
              </p:cNvSpPr>
              <p:nvPr/>
            </p:nvSpPr>
            <p:spPr>
              <a:xfrm>
                <a:off x="744573" y="4137509"/>
                <a:ext cx="905933" cy="103293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4D832706-8949-5631-3988-B4934F2B4E92}"/>
                  </a:ext>
                </a:extLst>
              </p:cNvPr>
              <p:cNvSpPr txBox="1"/>
              <p:nvPr/>
            </p:nvSpPr>
            <p:spPr>
              <a:xfrm>
                <a:off x="735365" y="5057684"/>
                <a:ext cx="905933" cy="1032933"/>
              </a:xfrm>
              <a:prstGeom prst="rect">
                <a:avLst/>
              </a:prstGeom>
              <a:noFill/>
            </p:spPr>
            <p:txBody>
              <a:bodyPr wrap="square" lIns="0" tIns="0" rIns="0" bIns="0" rtlCol="0">
                <a:noAutofit/>
              </a:bodyPr>
              <a:lstStyle/>
              <a:p>
                <a:pPr>
                  <a:lnSpc>
                    <a:spcPct val="150000"/>
                  </a:lnSpc>
                  <a:spcBef>
                    <a:spcPts val="1200"/>
                  </a:spcBef>
                  <a:spcAft>
                    <a:spcPts val="600"/>
                  </a:spcAft>
                </a:pPr>
                <a14:m>
                  <m:oMathPara xmlns:m="http://schemas.openxmlformats.org/officeDocument/2006/math">
                    <m:oMathParaPr>
                      <m:jc m:val="centerGroup"/>
                    </m:oMathParaPr>
                    <m:oMath xmlns:m="http://schemas.openxmlformats.org/officeDocument/2006/math">
                      <m:r>
                        <a:rPr lang="en-AU" sz="1800" smtClean="0">
                          <a:latin typeface="Cambria Math" panose="02040503050406030204" pitchFamily="18" charset="0"/>
                        </a:rPr>
                        <m:t> </m:t>
                      </m:r>
                      <m:f>
                        <m:fPr>
                          <m:ctrlPr>
                            <a:rPr lang="en-AU" sz="1800" i="1">
                              <a:latin typeface="Cambria Math" panose="02040503050406030204" pitchFamily="18" charset="0"/>
                            </a:rPr>
                          </m:ctrlPr>
                        </m:fPr>
                        <m:num>
                          <m:r>
                            <a:rPr lang="en-AU" sz="1800" b="0" i="1" smtClean="0">
                              <a:latin typeface="Cambria Math" panose="02040503050406030204" pitchFamily="18" charset="0"/>
                            </a:rPr>
                            <m:t>3</m:t>
                          </m:r>
                        </m:num>
                        <m:den>
                          <m:r>
                            <a:rPr lang="en-AU" sz="1800">
                              <a:latin typeface="Cambria Math" panose="02040503050406030204" pitchFamily="18" charset="0"/>
                            </a:rPr>
                            <m:t>4</m:t>
                          </m:r>
                        </m:den>
                      </m:f>
                    </m:oMath>
                  </m:oMathPara>
                </a14:m>
                <a:endParaRPr lang="en-AU" sz="1800"/>
              </a:p>
              <a:p>
                <a:pPr lvl="0">
                  <a:lnSpc>
                    <a:spcPct val="150000"/>
                  </a:lnSpc>
                  <a:spcBef>
                    <a:spcPts val="1200"/>
                  </a:spcBef>
                  <a:spcAft>
                    <a:spcPts val="600"/>
                  </a:spcAft>
                </a:pPr>
                <a:endParaRPr lang="en-AU" sz="1800">
                  <a:effectLst/>
                  <a:latin typeface="Arial" panose="020B0604020202020204" pitchFamily="34" charset="0"/>
                  <a:ea typeface="Calibri" panose="020F0502020204030204" pitchFamily="34" charset="0"/>
                </a:endParaRPr>
              </a:p>
            </p:txBody>
          </p:sp>
        </mc:Choice>
        <mc:Fallback xmlns="">
          <p:sp>
            <p:nvSpPr>
              <p:cNvPr id="52" name="TextBox 51">
                <a:extLst>
                  <a:ext uri="{FF2B5EF4-FFF2-40B4-BE49-F238E27FC236}">
                    <a16:creationId xmlns:a16="http://schemas.microsoft.com/office/drawing/2014/main" id="{4D832706-8949-5631-3988-B4934F2B4E92}"/>
                  </a:ext>
                </a:extLst>
              </p:cNvPr>
              <p:cNvSpPr txBox="1">
                <a:spLocks noRot="1" noChangeAspect="1" noMove="1" noResize="1" noEditPoints="1" noAdjustHandles="1" noChangeArrowheads="1" noChangeShapeType="1" noTextEdit="1"/>
              </p:cNvSpPr>
              <p:nvPr/>
            </p:nvSpPr>
            <p:spPr>
              <a:xfrm>
                <a:off x="735365" y="5057684"/>
                <a:ext cx="905933" cy="1032933"/>
              </a:xfrm>
              <a:prstGeom prst="rect">
                <a:avLst/>
              </a:prstGeom>
              <a:blipFill>
                <a:blip r:embed="rId7"/>
                <a:stretch>
                  <a:fillRect/>
                </a:stretch>
              </a:blipFill>
            </p:spPr>
            <p:txBody>
              <a:bodyPr/>
              <a:lstStyle/>
              <a:p>
                <a:r>
                  <a:rPr lang="en-US">
                    <a:noFill/>
                  </a:rPr>
                  <a:t> </a:t>
                </a:r>
              </a:p>
            </p:txBody>
          </p:sp>
        </mc:Fallback>
      </mc:AlternateContent>
      <p:pic>
        <p:nvPicPr>
          <p:cNvPr id="53" name="Picture 52" descr="Three blank number lines. The first line is from 0–1. The second line is from 0–2 with one being marked at the halfway point. The third line is from 0–3 with 1 and 2 being marked in the correct positions.">
            <a:extLst>
              <a:ext uri="{FF2B5EF4-FFF2-40B4-BE49-F238E27FC236}">
                <a16:creationId xmlns:a16="http://schemas.microsoft.com/office/drawing/2014/main" id="{9E4D261A-7E60-CA7D-EDF9-CE5B332D3FD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094779" y="980546"/>
            <a:ext cx="6696710" cy="4473575"/>
          </a:xfrm>
          <a:prstGeom prst="rect">
            <a:avLst/>
          </a:prstGeom>
        </p:spPr>
      </p:pic>
      <p:pic>
        <p:nvPicPr>
          <p:cNvPr id="4" name="Picture 4" descr="image of a head with cogs turning inside">
            <a:extLst>
              <a:ext uri="{FF2B5EF4-FFF2-40B4-BE49-F238E27FC236}">
                <a16:creationId xmlns:a16="http://schemas.microsoft.com/office/drawing/2014/main" id="{A5B79AD1-EEBF-D888-35E7-CF76EA5D2AD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15968" y="88038"/>
            <a:ext cx="916032" cy="1089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8087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91D97-A6D6-978D-B687-792361DFCEE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7F31E6-BF9A-D3A0-A068-06615A3F198D}"/>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A9E0D824-EBDB-3051-DA4A-A8D11121B6A2}"/>
              </a:ext>
            </a:extLst>
          </p:cNvPr>
          <p:cNvSpPr>
            <a:spLocks noGrp="1"/>
          </p:cNvSpPr>
          <p:nvPr>
            <p:ph type="title"/>
          </p:nvPr>
        </p:nvSpPr>
        <p:spPr/>
        <p:txBody>
          <a:bodyPr/>
          <a:lstStyle/>
          <a:p>
            <a:r>
              <a:rPr lang="en-US">
                <a:latin typeface="Arial"/>
                <a:cs typeface="Arial"/>
              </a:rPr>
              <a:t>True or </a:t>
            </a:r>
            <a:r>
              <a:rPr lang="en-US">
                <a:solidFill>
                  <a:srgbClr val="002060"/>
                </a:solidFill>
                <a:latin typeface="Arial"/>
                <a:cs typeface="Arial"/>
              </a:rPr>
              <a:t>false </a:t>
            </a:r>
            <a:r>
              <a:rPr lang="en-US">
                <a:solidFill>
                  <a:schemeClr val="bg1"/>
                </a:solidFill>
                <a:latin typeface="Arial"/>
                <a:cs typeface="Arial"/>
              </a:rPr>
              <a:t>(3)</a:t>
            </a:r>
          </a:p>
        </p:txBody>
      </p:sp>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C6CF6B9C-0207-4EFF-435E-D5F399B78D49}"/>
                  </a:ext>
                </a:extLst>
              </p:cNvPr>
              <p:cNvSpPr>
                <a:spLocks noGrp="1"/>
              </p:cNvSpPr>
              <p:nvPr>
                <p:ph type="body" sz="quarter" idx="24"/>
              </p:nvPr>
            </p:nvSpPr>
            <p:spPr>
              <a:xfrm>
                <a:off x="355466" y="1054103"/>
                <a:ext cx="11243037" cy="893226"/>
              </a:xfrm>
            </p:spPr>
            <p:txBody>
              <a:bodyPr vert="horz" lIns="0" tIns="0" rIns="0" bIns="0" rtlCol="0" anchor="t">
                <a:noAutofit/>
              </a:bodyPr>
              <a:lstStyle/>
              <a:p>
                <a:pPr algn="ctr"/>
                <a:r>
                  <a:rPr lang="en-US" sz="4400"/>
                  <a:t>Tyler said 1</a:t>
                </a:r>
                <a14:m>
                  <m:oMath xmlns:m="http://schemas.openxmlformats.org/officeDocument/2006/math">
                    <m:f>
                      <m:fPr>
                        <m:ctrlPr>
                          <a:rPr lang="en-US" sz="4400" i="1" smtClean="0">
                            <a:latin typeface="Cambria Math" panose="02040503050406030204" pitchFamily="18" charset="0"/>
                          </a:rPr>
                        </m:ctrlPr>
                      </m:fPr>
                      <m:num>
                        <m:r>
                          <a:rPr lang="en-AU" sz="4400" b="0" i="1" smtClean="0">
                            <a:latin typeface="Cambria Math" panose="02040503050406030204" pitchFamily="18" charset="0"/>
                          </a:rPr>
                          <m:t>3</m:t>
                        </m:r>
                      </m:num>
                      <m:den>
                        <m:r>
                          <a:rPr lang="en-AU" sz="4400" b="0" i="1" smtClean="0">
                            <a:latin typeface="Cambria Math" panose="02040503050406030204" pitchFamily="18" charset="0"/>
                          </a:rPr>
                          <m:t>4 </m:t>
                        </m:r>
                      </m:den>
                    </m:f>
                    <m:r>
                      <m:rPr>
                        <m:sty m:val="p"/>
                      </m:rPr>
                      <a:rPr lang="en-AU" sz="4400" b="0" i="0" smtClean="0">
                        <a:latin typeface="Cambria Math" panose="02040503050406030204" pitchFamily="18" charset="0"/>
                      </a:rPr>
                      <m:t>i</m:t>
                    </m:r>
                  </m:oMath>
                </a14:m>
                <a:r>
                  <a:rPr lang="en-US" sz="4400"/>
                  <a:t>s </a:t>
                </a:r>
                <a:r>
                  <a:rPr lang="en-US" sz="4400" b="1"/>
                  <a:t>correctly</a:t>
                </a:r>
                <a:r>
                  <a:rPr lang="en-US" sz="4400"/>
                  <a:t> placed on the </a:t>
                </a:r>
                <a:r>
                  <a:rPr lang="en-US" sz="4400" b="1"/>
                  <a:t>number line</a:t>
                </a:r>
                <a:r>
                  <a:rPr lang="en-US" sz="4400"/>
                  <a:t>. </a:t>
                </a:r>
              </a:p>
            </p:txBody>
          </p:sp>
        </mc:Choice>
        <mc:Fallback xmlns="">
          <p:sp>
            <p:nvSpPr>
              <p:cNvPr id="18" name="Text Placeholder 17">
                <a:extLst>
                  <a:ext uri="{FF2B5EF4-FFF2-40B4-BE49-F238E27FC236}">
                    <a16:creationId xmlns:a16="http://schemas.microsoft.com/office/drawing/2014/main" id="{C6CF6B9C-0207-4EFF-435E-D5F399B78D49}"/>
                  </a:ext>
                </a:extLst>
              </p:cNvPr>
              <p:cNvSpPr>
                <a:spLocks noGrp="1" noRot="1" noChangeAspect="1" noMove="1" noResize="1" noEditPoints="1" noAdjustHandles="1" noChangeArrowheads="1" noChangeShapeType="1" noTextEdit="1"/>
              </p:cNvSpPr>
              <p:nvPr>
                <p:ph type="body" sz="quarter" idx="24"/>
              </p:nvPr>
            </p:nvSpPr>
            <p:spPr>
              <a:xfrm>
                <a:off x="355466" y="1054103"/>
                <a:ext cx="11243037" cy="893226"/>
              </a:xfrm>
              <a:blipFill>
                <a:blip r:embed="rId3"/>
                <a:stretch>
                  <a:fillRect b="-195890"/>
                </a:stretch>
              </a:blipFill>
            </p:spPr>
            <p:txBody>
              <a:bodyPr/>
              <a:lstStyle/>
              <a:p>
                <a:r>
                  <a:rPr lang="en-US">
                    <a:noFill/>
                  </a:rPr>
                  <a:t> </a:t>
                </a:r>
              </a:p>
            </p:txBody>
          </p:sp>
        </mc:Fallback>
      </mc:AlternateContent>
      <p:pic>
        <p:nvPicPr>
          <p:cNvPr id="5" name="Picture 4" descr="image of a finger selecting an option for a multiple choice or true and false">
            <a:extLst>
              <a:ext uri="{FF2B5EF4-FFF2-40B4-BE49-F238E27FC236}">
                <a16:creationId xmlns:a16="http://schemas.microsoft.com/office/drawing/2014/main" id="{8BFD6559-6224-A10B-7503-3EF93E28DD89}"/>
              </a:ext>
            </a:extLst>
          </p:cNvPr>
          <p:cNvPicPr>
            <a:picLocks noChangeAspect="1"/>
          </p:cNvPicPr>
          <p:nvPr/>
        </p:nvPicPr>
        <p:blipFill>
          <a:blip r:embed="rId4"/>
          <a:stretch>
            <a:fillRect/>
          </a:stretch>
        </p:blipFill>
        <p:spPr>
          <a:xfrm>
            <a:off x="10807908" y="43303"/>
            <a:ext cx="1165786" cy="1140716"/>
          </a:xfrm>
          <a:prstGeom prst="rect">
            <a:avLst/>
          </a:prstGeom>
        </p:spPr>
      </p:pic>
      <p:pic>
        <p:nvPicPr>
          <p:cNvPr id="7" name="Picture 6" descr=" number line from 0-2 showing the following marked correctly: one quarter, two quarters and 1. One and three quarters is marked incorrectly at 1.5 mark on the numberline.">
            <a:extLst>
              <a:ext uri="{FF2B5EF4-FFF2-40B4-BE49-F238E27FC236}">
                <a16:creationId xmlns:a16="http://schemas.microsoft.com/office/drawing/2014/main" id="{06E0B48B-01F2-695A-BFB1-7D1476F277A3}"/>
              </a:ext>
            </a:extLst>
          </p:cNvPr>
          <p:cNvPicPr>
            <a:picLocks noChangeAspect="1"/>
          </p:cNvPicPr>
          <p:nvPr/>
        </p:nvPicPr>
        <p:blipFill>
          <a:blip r:embed="rId5"/>
          <a:stretch>
            <a:fillRect/>
          </a:stretch>
        </p:blipFill>
        <p:spPr>
          <a:xfrm>
            <a:off x="1723139" y="3488077"/>
            <a:ext cx="8507689" cy="1470614"/>
          </a:xfrm>
          <a:prstGeom prst="rect">
            <a:avLst/>
          </a:prstGeom>
        </p:spPr>
      </p:pic>
      <p:graphicFrame>
        <p:nvGraphicFramePr>
          <p:cNvPr id="4" name="Table 3">
            <a:extLst>
              <a:ext uri="{FF2B5EF4-FFF2-40B4-BE49-F238E27FC236}">
                <a16:creationId xmlns:a16="http://schemas.microsoft.com/office/drawing/2014/main" id="{3816AB2B-AFBA-7AB5-BFDE-26BFFB6368FD}"/>
              </a:ext>
            </a:extLst>
          </p:cNvPr>
          <p:cNvGraphicFramePr>
            <a:graphicFrameLocks noGrp="1"/>
          </p:cNvGraphicFramePr>
          <p:nvPr>
            <p:extLst>
              <p:ext uri="{D42A27DB-BD31-4B8C-83A1-F6EECF244321}">
                <p14:modId xmlns:p14="http://schemas.microsoft.com/office/powerpoint/2010/main" val="575105716"/>
              </p:ext>
            </p:extLst>
          </p:nvPr>
        </p:nvGraphicFramePr>
        <p:xfrm>
          <a:off x="2438445" y="553683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1092421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(21)</a:t>
            </a:r>
          </a:p>
        </p:txBody>
      </p:sp>
      <p:sp>
        <p:nvSpPr>
          <p:cNvPr id="11" name="Picture Placeholder 10" descr="An acute angle at approximately 45 degrees.">
            <a:extLst>
              <a:ext uri="{FF2B5EF4-FFF2-40B4-BE49-F238E27FC236}">
                <a16:creationId xmlns:a16="http://schemas.microsoft.com/office/drawing/2014/main" id="{6AEDAC5B-7D79-7FBF-9542-5724B621995A}"/>
              </a:ext>
            </a:extLst>
          </p:cNvPr>
          <p:cNvSpPr>
            <a:spLocks noGrp="1"/>
          </p:cNvSpPr>
          <p:nvPr>
            <p:ph type="pic" sz="quarter" idx="21"/>
          </p:nvPr>
        </p:nvSpPr>
        <p:spPr>
          <a:xfrm>
            <a:off x="360000" y="1556533"/>
            <a:ext cx="11189376" cy="4168875"/>
          </a:xfrm>
        </p:spPr>
        <p:txBody>
          <a:bodyPr/>
          <a:lstStyle/>
          <a:p>
            <a:pPr algn="ctr"/>
            <a:r>
              <a:rPr lang="en-US" sz="4400">
                <a:latin typeface="Arial"/>
                <a:cs typeface="Arial"/>
              </a:rPr>
              <a:t> </a:t>
            </a:r>
            <a:endParaRPr lang="en-US" sz="4400"/>
          </a:p>
          <a:p>
            <a:endParaRPr lang="en-US">
              <a:latin typeface="Arial"/>
              <a:cs typeface="Arial"/>
            </a:endParaRPr>
          </a:p>
        </p:txBody>
      </p:sp>
      <p:sp>
        <p:nvSpPr>
          <p:cNvPr id="5" name="TextBox 4">
            <a:extLst>
              <a:ext uri="{FF2B5EF4-FFF2-40B4-BE49-F238E27FC236}">
                <a16:creationId xmlns:a16="http://schemas.microsoft.com/office/drawing/2014/main" id="{DC93A6F7-F038-1103-81A8-DEC79B934407}"/>
              </a:ext>
            </a:extLst>
          </p:cNvPr>
          <p:cNvSpPr txBox="1"/>
          <p:nvPr/>
        </p:nvSpPr>
        <p:spPr>
          <a:xfrm>
            <a:off x="642624" y="4388646"/>
            <a:ext cx="10906752" cy="1709072"/>
          </a:xfrm>
          <a:prstGeom prst="rect">
            <a:avLst/>
          </a:prstGeom>
          <a:noFill/>
        </p:spPr>
        <p:txBody>
          <a:bodyPr wrap="square" lIns="0" tIns="0" rIns="0" bIns="0" rtlCol="0">
            <a:noAutofit/>
          </a:bodyPr>
          <a:lstStyle/>
          <a:p>
            <a:pPr algn="ctr"/>
            <a:r>
              <a:rPr lang="en-AU" sz="4400" b="1"/>
              <a:t>Describe</a:t>
            </a:r>
            <a:r>
              <a:rPr lang="en-AU" sz="4400"/>
              <a:t> this </a:t>
            </a:r>
            <a:r>
              <a:rPr lang="en-AU" sz="4400" b="1"/>
              <a:t>angle</a:t>
            </a:r>
            <a:r>
              <a:rPr lang="en-AU" sz="4400"/>
              <a:t> </a:t>
            </a:r>
            <a:r>
              <a:rPr lang="en-AU" sz="4400" b="1"/>
              <a:t>compared</a:t>
            </a:r>
            <a:r>
              <a:rPr lang="en-AU" sz="4400"/>
              <a:t> to a </a:t>
            </a:r>
            <a:r>
              <a:rPr lang="en-AU" sz="4400" b="1"/>
              <a:t>right-angle.</a:t>
            </a:r>
          </a:p>
          <a:p>
            <a:pPr algn="l"/>
            <a:endParaRPr lang="en-AU" sz="2800"/>
          </a:p>
        </p:txBody>
      </p:sp>
      <p:pic>
        <p:nvPicPr>
          <p:cNvPr id="6" name="Picture 5" descr="image of a clipboard with a pencil recording short answer responses">
            <a:extLst>
              <a:ext uri="{FF2B5EF4-FFF2-40B4-BE49-F238E27FC236}">
                <a16:creationId xmlns:a16="http://schemas.microsoft.com/office/drawing/2014/main" id="{21E4E3D2-0BD0-2FBF-559D-EDC8BC549F4D}"/>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9" name="Picture 8" descr="Acute angle.">
            <a:extLst>
              <a:ext uri="{FF2B5EF4-FFF2-40B4-BE49-F238E27FC236}">
                <a16:creationId xmlns:a16="http://schemas.microsoft.com/office/drawing/2014/main" id="{F544F142-9BEA-CC4A-F36D-5E6FB2CB7546}"/>
              </a:ext>
            </a:extLst>
          </p:cNvPr>
          <p:cNvPicPr>
            <a:picLocks noChangeAspect="1"/>
          </p:cNvPicPr>
          <p:nvPr/>
        </p:nvPicPr>
        <p:blipFill>
          <a:blip r:embed="rId4"/>
          <a:stretch>
            <a:fillRect/>
          </a:stretch>
        </p:blipFill>
        <p:spPr>
          <a:xfrm>
            <a:off x="3578790" y="1054807"/>
            <a:ext cx="5034420" cy="3008373"/>
          </a:xfrm>
          <a:prstGeom prst="rect">
            <a:avLst/>
          </a:prstGeom>
        </p:spPr>
      </p:pic>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dirty="0">
                <a:latin typeface="Arial"/>
                <a:cs typeface="Arial"/>
              </a:rPr>
              <a:t>Short response </a:t>
            </a:r>
            <a:r>
              <a:rPr lang="en-US" dirty="0">
                <a:solidFill>
                  <a:schemeClr val="bg1"/>
                </a:solidFill>
                <a:latin typeface="Arial"/>
                <a:cs typeface="Arial"/>
              </a:rPr>
              <a:t>(22)</a:t>
            </a:r>
          </a:p>
        </p:txBody>
      </p:sp>
      <p:sp>
        <p:nvSpPr>
          <p:cNvPr id="9" name="TextBox 8">
            <a:extLst>
              <a:ext uri="{FF2B5EF4-FFF2-40B4-BE49-F238E27FC236}">
                <a16:creationId xmlns:a16="http://schemas.microsoft.com/office/drawing/2014/main" id="{8AB27B61-3BD7-8FED-8071-7C04985AA52D}"/>
              </a:ext>
            </a:extLst>
          </p:cNvPr>
          <p:cNvSpPr txBox="1"/>
          <p:nvPr/>
        </p:nvSpPr>
        <p:spPr>
          <a:xfrm>
            <a:off x="360001" y="1450794"/>
            <a:ext cx="11585976" cy="3944166"/>
          </a:xfrm>
          <a:prstGeom prst="rect">
            <a:avLst/>
          </a:prstGeom>
          <a:noFill/>
        </p:spPr>
        <p:txBody>
          <a:bodyPr wrap="square" lIns="0" tIns="0" rIns="0" bIns="0" rtlCol="0">
            <a:noAutofit/>
          </a:bodyPr>
          <a:lstStyle/>
          <a:p>
            <a:pPr algn="l"/>
            <a:r>
              <a:rPr lang="en-AU" sz="3600" dirty="0"/>
              <a:t>Using the </a:t>
            </a:r>
            <a:r>
              <a:rPr lang="en-AU" sz="3600" b="1" dirty="0"/>
              <a:t>chance</a:t>
            </a:r>
            <a:r>
              <a:rPr lang="en-AU" sz="3600" dirty="0"/>
              <a:t> words on the scale below, describe how</a:t>
            </a:r>
            <a:r>
              <a:rPr lang="en-AU" sz="3600" b="1" dirty="0"/>
              <a:t> likely </a:t>
            </a:r>
            <a:r>
              <a:rPr lang="en-AU" sz="3600" dirty="0"/>
              <a:t>these events could happen:</a:t>
            </a:r>
          </a:p>
          <a:p>
            <a:pPr algn="l"/>
            <a:endParaRPr lang="en-AU" sz="3600" dirty="0"/>
          </a:p>
          <a:p>
            <a:pPr marL="571500" indent="-571500" algn="l">
              <a:buFontTx/>
              <a:buChar char="-"/>
            </a:pPr>
            <a:r>
              <a:rPr lang="en-AU" sz="3600" dirty="0"/>
              <a:t>A thunderstorm today</a:t>
            </a:r>
          </a:p>
          <a:p>
            <a:pPr marL="571500" indent="-571500" algn="l">
              <a:buFontTx/>
              <a:buChar char="-"/>
            </a:pPr>
            <a:r>
              <a:rPr lang="en-AU" sz="3600" dirty="0"/>
              <a:t>An ice-cream van visiting school tomorrow</a:t>
            </a:r>
          </a:p>
          <a:p>
            <a:pPr marL="571500" indent="-571500" algn="l">
              <a:buFontTx/>
              <a:buChar char="-"/>
            </a:pPr>
            <a:r>
              <a:rPr lang="en-AU" sz="3600" dirty="0"/>
              <a:t>A coin toss landing on heads</a:t>
            </a:r>
          </a:p>
          <a:p>
            <a:pPr marL="571500" indent="-571500" algn="l">
              <a:buFontTx/>
              <a:buChar char="-"/>
            </a:pPr>
            <a:r>
              <a:rPr lang="en-AU" sz="3600" dirty="0"/>
              <a:t>Turning a year older each year</a:t>
            </a:r>
          </a:p>
        </p:txBody>
      </p:sp>
      <p:pic>
        <p:nvPicPr>
          <p:cNvPr id="4" name="Picture 3" descr="image of a clipboard with a pencil recording short answer responses">
            <a:extLst>
              <a:ext uri="{FF2B5EF4-FFF2-40B4-BE49-F238E27FC236}">
                <a16:creationId xmlns:a16="http://schemas.microsoft.com/office/drawing/2014/main" id="{74AF2FB9-0796-D0A5-0E5E-4B63AC091B6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Rectangle 1" descr="A word cline showing the following words: impossible, unlikely, equally likely, certain.">
            <a:extLst>
              <a:ext uri="{FF2B5EF4-FFF2-40B4-BE49-F238E27FC236}">
                <a16:creationId xmlns:a16="http://schemas.microsoft.com/office/drawing/2014/main" id="{B0023F65-8620-7FD7-1EE0-E542BCEF53B5}"/>
              </a:ext>
            </a:extLst>
          </p:cNvPr>
          <p:cNvSpPr>
            <a:spLocks noChangeArrowheads="1"/>
          </p:cNvSpPr>
          <p:nvPr/>
        </p:nvSpPr>
        <p:spPr bwMode="auto">
          <a:xfrm>
            <a:off x="4543425" y="-7604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descr="A likelihood scale- impossible, unlikely, equally likely, likely and unlikely. ">
            <a:extLst>
              <a:ext uri="{FF2B5EF4-FFF2-40B4-BE49-F238E27FC236}">
                <a16:creationId xmlns:a16="http://schemas.microsoft.com/office/drawing/2014/main" id="{A9601AB0-A3A3-513E-B9C3-4AF30CA4C0D3}"/>
              </a:ext>
            </a:extLst>
          </p:cNvPr>
          <p:cNvPicPr>
            <a:picLocks noChangeAspect="1"/>
          </p:cNvPicPr>
          <p:nvPr/>
        </p:nvPicPr>
        <p:blipFill>
          <a:blip r:embed="rId4"/>
          <a:stretch>
            <a:fillRect/>
          </a:stretch>
        </p:blipFill>
        <p:spPr>
          <a:xfrm>
            <a:off x="474480" y="5804315"/>
            <a:ext cx="11243039" cy="1053685"/>
          </a:xfrm>
          <a:prstGeom prst="rect">
            <a:avLst/>
          </a:prstGeom>
        </p:spPr>
      </p:pic>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(23) </a:t>
            </a:r>
          </a:p>
        </p:txBody>
      </p:sp>
      <p:sp>
        <p:nvSpPr>
          <p:cNvPr id="11" name="Picture Placeholder 10">
            <a:extLst>
              <a:ext uri="{FF2B5EF4-FFF2-40B4-BE49-F238E27FC236}">
                <a16:creationId xmlns:a16="http://schemas.microsoft.com/office/drawing/2014/main" id="{8A7FE6AB-F028-BE57-C4D2-218E23CCA7F3}"/>
              </a:ext>
            </a:extLst>
          </p:cNvPr>
          <p:cNvSpPr>
            <a:spLocks noGrp="1"/>
          </p:cNvSpPr>
          <p:nvPr>
            <p:ph type="pic" sz="quarter" idx="21"/>
          </p:nvPr>
        </p:nvSpPr>
        <p:spPr>
          <a:xfrm>
            <a:off x="474481" y="2194791"/>
            <a:ext cx="11243037" cy="3547641"/>
          </a:xfrm>
        </p:spPr>
        <p:txBody>
          <a:bodyPr/>
          <a:lstStyle/>
          <a:p>
            <a:pPr algn="ctr"/>
            <a:r>
              <a:rPr lang="en-US" sz="4400" dirty="0"/>
              <a:t>Draw the </a:t>
            </a:r>
            <a:r>
              <a:rPr lang="en-US" sz="4400" b="1" dirty="0"/>
              <a:t>top, front and side view </a:t>
            </a:r>
            <a:r>
              <a:rPr lang="en-US" sz="4400" dirty="0"/>
              <a:t>of a </a:t>
            </a:r>
            <a:r>
              <a:rPr lang="en-US" sz="4400" b="1" dirty="0"/>
              <a:t>cube</a:t>
            </a:r>
            <a:r>
              <a:rPr lang="en-US" sz="4400" dirty="0"/>
              <a:t>. </a:t>
            </a:r>
            <a:r>
              <a:rPr lang="en-US" sz="4400" b="1" dirty="0"/>
              <a:t>Record</a:t>
            </a:r>
            <a:r>
              <a:rPr lang="en-US" sz="4400" dirty="0"/>
              <a:t> the </a:t>
            </a:r>
            <a:r>
              <a:rPr lang="en-US" sz="4400" b="1" dirty="0"/>
              <a:t>volume</a:t>
            </a:r>
            <a:r>
              <a:rPr lang="en-US" sz="4400" dirty="0"/>
              <a:t> in </a:t>
            </a:r>
            <a:r>
              <a:rPr lang="en-US" sz="4400" b="1" dirty="0"/>
              <a:t>cubic centimeters. </a:t>
            </a:r>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E1E55483-DDAD-9F28-32B5-EE0C91CE4FD5}"/>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(24)</a:t>
            </a:r>
          </a:p>
        </p:txBody>
      </p:sp>
      <p:pic>
        <p:nvPicPr>
          <p:cNvPr id="4" name="Picture 3" descr="image of a clipboard with a pencil recording short answer responses">
            <a:extLst>
              <a:ext uri="{FF2B5EF4-FFF2-40B4-BE49-F238E27FC236}">
                <a16:creationId xmlns:a16="http://schemas.microsoft.com/office/drawing/2014/main" id="{7B9A45D8-37E1-80DE-ED67-BEAF2EE1521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Picture Placeholder 10">
            <a:extLst>
              <a:ext uri="{FF2B5EF4-FFF2-40B4-BE49-F238E27FC236}">
                <a16:creationId xmlns:a16="http://schemas.microsoft.com/office/drawing/2014/main" id="{61D16E77-406A-535B-E706-5A388247AAC7}"/>
              </a:ext>
            </a:extLst>
          </p:cNvPr>
          <p:cNvSpPr>
            <a:spLocks noGrp="1"/>
          </p:cNvSpPr>
          <p:nvPr>
            <p:ph type="pic" sz="quarter" idx="21"/>
          </p:nvPr>
        </p:nvSpPr>
        <p:spPr>
          <a:xfrm>
            <a:off x="957081" y="1184223"/>
            <a:ext cx="10048876" cy="801145"/>
          </a:xfrm>
        </p:spPr>
        <p:txBody>
          <a:bodyPr/>
          <a:lstStyle/>
          <a:p>
            <a:pPr algn="ctr"/>
            <a:r>
              <a:rPr lang="en-US" sz="4400" b="1" dirty="0">
                <a:highlight>
                  <a:srgbClr val="FFFFFF"/>
                </a:highlight>
                <a:latin typeface="Arial"/>
                <a:cs typeface="Arial"/>
              </a:rPr>
              <a:t>Calculate</a:t>
            </a:r>
            <a:r>
              <a:rPr lang="en-US" sz="4400" dirty="0">
                <a:highlight>
                  <a:srgbClr val="FFFFFF"/>
                </a:highlight>
                <a:latin typeface="Arial"/>
                <a:cs typeface="Arial"/>
              </a:rPr>
              <a:t> the </a:t>
            </a:r>
            <a:r>
              <a:rPr lang="en-US" sz="4400" b="1" dirty="0">
                <a:highlight>
                  <a:srgbClr val="FFFFFF"/>
                </a:highlight>
                <a:latin typeface="Arial"/>
                <a:cs typeface="Arial"/>
              </a:rPr>
              <a:t>area</a:t>
            </a:r>
            <a:r>
              <a:rPr lang="en-US" sz="4400" dirty="0">
                <a:highlight>
                  <a:srgbClr val="FFFFFF"/>
                </a:highlight>
                <a:latin typeface="Arial"/>
                <a:cs typeface="Arial"/>
              </a:rPr>
              <a:t> of this </a:t>
            </a:r>
            <a:r>
              <a:rPr lang="en-US" sz="4400" b="1" dirty="0">
                <a:highlight>
                  <a:srgbClr val="FFFFFF"/>
                </a:highlight>
                <a:latin typeface="Arial"/>
                <a:cs typeface="Arial"/>
              </a:rPr>
              <a:t>rectangle </a:t>
            </a:r>
            <a:r>
              <a:rPr lang="en-US" sz="4400" dirty="0">
                <a:highlight>
                  <a:srgbClr val="FFFFFF"/>
                </a:highlight>
                <a:latin typeface="Arial"/>
                <a:cs typeface="Arial"/>
              </a:rPr>
              <a:t>in</a:t>
            </a:r>
            <a:r>
              <a:rPr lang="en-US" sz="4400" b="1" dirty="0">
                <a:highlight>
                  <a:srgbClr val="FFFFFF"/>
                </a:highlight>
                <a:latin typeface="Arial"/>
                <a:cs typeface="Arial"/>
              </a:rPr>
              <a:t> square centimeters.</a:t>
            </a:r>
          </a:p>
          <a:p>
            <a:pPr algn="ctr"/>
            <a:endParaRPr lang="en-US" sz="4400" b="1" dirty="0">
              <a:highlight>
                <a:srgbClr val="FFFFFF"/>
              </a:highlight>
              <a:latin typeface="Arial"/>
              <a:cs typeface="Arial"/>
            </a:endParaRPr>
          </a:p>
          <a:p>
            <a:pPr algn="ctr"/>
            <a:endParaRPr lang="en-US" sz="4400" dirty="0">
              <a:highlight>
                <a:srgbClr val="FFFFFF"/>
              </a:highlight>
            </a:endParaRPr>
          </a:p>
          <a:p>
            <a:endParaRPr lang="en-US" sz="4400" dirty="0">
              <a:latin typeface="Arial"/>
              <a:cs typeface="Arial"/>
            </a:endParaRPr>
          </a:p>
        </p:txBody>
      </p:sp>
      <p:pic>
        <p:nvPicPr>
          <p:cNvPr id="10" name="Picture 9">
            <a:extLst>
              <a:ext uri="{FF2B5EF4-FFF2-40B4-BE49-F238E27FC236}">
                <a16:creationId xmlns:a16="http://schemas.microsoft.com/office/drawing/2014/main" id="{22BC88B4-968C-BA5F-36A7-3C6307CE69CF}"/>
              </a:ext>
            </a:extLst>
          </p:cNvPr>
          <p:cNvPicPr>
            <a:picLocks noChangeAspect="1"/>
          </p:cNvPicPr>
          <p:nvPr/>
        </p:nvPicPr>
        <p:blipFill>
          <a:blip r:embed="rId4"/>
          <a:stretch>
            <a:fillRect/>
          </a:stretch>
        </p:blipFill>
        <p:spPr>
          <a:xfrm>
            <a:off x="3639312" y="3444810"/>
            <a:ext cx="5234982" cy="3071190"/>
          </a:xfrm>
          <a:prstGeom prst="rect">
            <a:avLst/>
          </a:prstGeom>
          <a:ln>
            <a:solidFill>
              <a:schemeClr val="tx1"/>
            </a:solidFill>
          </a:ln>
        </p:spPr>
      </p:pic>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31067-DB87-9A23-855D-8275CF7A51AC}"/>
            </a:ext>
          </a:extLst>
        </p:cNvPr>
        <p:cNvGrpSpPr/>
        <p:nvPr/>
      </p:nvGrpSpPr>
      <p:grpSpPr>
        <a:xfrm>
          <a:off x="0" y="0"/>
          <a:ext cx="0" cy="0"/>
          <a:chOff x="0" y="0"/>
          <a:chExt cx="0" cy="0"/>
        </a:xfrm>
      </p:grpSpPr>
      <p:sp>
        <p:nvSpPr>
          <p:cNvPr id="2" name="Slide Number Placeholder 1"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E8D90341-46E8-7283-6676-901E8292B40C}"/>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3" name="Title 2">
            <a:extLst>
              <a:ext uri="{FF2B5EF4-FFF2-40B4-BE49-F238E27FC236}">
                <a16:creationId xmlns:a16="http://schemas.microsoft.com/office/drawing/2014/main" id="{BA6AB40A-5365-C424-AEC5-01A3938F0C05}"/>
              </a:ext>
            </a:extLst>
          </p:cNvPr>
          <p:cNvSpPr>
            <a:spLocks noGrp="1"/>
          </p:cNvSpPr>
          <p:nvPr>
            <p:ph type="title"/>
          </p:nvPr>
        </p:nvSpPr>
        <p:spPr>
          <a:xfrm>
            <a:off x="360000" y="360000"/>
            <a:ext cx="11484000" cy="545601"/>
          </a:xfrm>
        </p:spPr>
        <p:txBody>
          <a:bodyPr/>
          <a:lstStyle/>
          <a:p>
            <a:r>
              <a:rPr lang="en-AU"/>
              <a:t>Activity 6 – fraction line beyond 1</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BC527BE-CFD0-7BE2-5456-B7C26D9EC7E4}"/>
                  </a:ext>
                </a:extLst>
              </p:cNvPr>
              <p:cNvSpPr txBox="1"/>
              <p:nvPr/>
            </p:nvSpPr>
            <p:spPr>
              <a:xfrm>
                <a:off x="795866" y="1219278"/>
                <a:ext cx="905933" cy="1032933"/>
              </a:xfrm>
              <a:prstGeom prst="rect">
                <a:avLst/>
              </a:prstGeom>
              <a:noFill/>
            </p:spPr>
            <p:txBody>
              <a:bodyPr wrap="square" lIns="0" tIns="0" rIns="0" bIns="0" rtlCol="0">
                <a:noAutofit/>
              </a:bodyPr>
              <a:lstStyle/>
              <a:p>
                <a:pPr lvl="0">
                  <a:lnSpc>
                    <a:spcPct val="150000"/>
                  </a:lnSpc>
                  <a:spcBef>
                    <a:spcPts val="1200"/>
                  </a:spcBef>
                  <a:spcAft>
                    <a:spcPts val="600"/>
                  </a:spcAft>
                </a:pPr>
                <a14:m>
                  <m:oMathPara xmlns:m="http://schemas.openxmlformats.org/officeDocument/2006/math">
                    <m:oMathParaPr>
                      <m:jc m:val="centerGroup"/>
                    </m:oMathParaPr>
                    <m:oMath xmlns:m="http://schemas.openxmlformats.org/officeDocument/2006/math">
                      <m:f>
                        <m:fPr>
                          <m:ctrlPr>
                            <a:rPr lang="en-AU" sz="1800" i="1" smtClean="0">
                              <a:effectLst/>
                              <a:latin typeface="Cambria Math" panose="02040503050406030204" pitchFamily="18" charset="0"/>
                              <a:ea typeface="Calibri" panose="020F0502020204030204" pitchFamily="34" charset="0"/>
                            </a:rPr>
                          </m:ctrlPr>
                        </m:fPr>
                        <m:num>
                          <m:r>
                            <a:rPr lang="en-AU" sz="1800">
                              <a:effectLst/>
                              <a:latin typeface="Cambria Math" panose="02040503050406030204" pitchFamily="18" charset="0"/>
                              <a:ea typeface="Calibri" panose="020F0502020204030204" pitchFamily="34" charset="0"/>
                            </a:rPr>
                            <m:t>1</m:t>
                          </m:r>
                        </m:num>
                        <m:den>
                          <m:r>
                            <a:rPr lang="en-AU" sz="1800">
                              <a:effectLst/>
                              <a:latin typeface="Cambria Math" panose="02040503050406030204" pitchFamily="18" charset="0"/>
                              <a:ea typeface="Calibri" panose="020F0502020204030204" pitchFamily="34" charset="0"/>
                            </a:rPr>
                            <m:t>4</m:t>
                          </m:r>
                        </m:den>
                      </m:f>
                    </m:oMath>
                  </m:oMathPara>
                </a14:m>
                <a:endParaRPr lang="en-AU" sz="1800">
                  <a:effectLst/>
                  <a:latin typeface="Arial" panose="020B0604020202020204" pitchFamily="34" charset="0"/>
                  <a:ea typeface="Calibri" panose="020F0502020204030204" pitchFamily="34" charset="0"/>
                </a:endParaRPr>
              </a:p>
            </p:txBody>
          </p:sp>
        </mc:Choice>
        <mc:Fallback xmlns="">
          <p:sp>
            <p:nvSpPr>
              <p:cNvPr id="48" name="TextBox 47">
                <a:extLst>
                  <a:ext uri="{FF2B5EF4-FFF2-40B4-BE49-F238E27FC236}">
                    <a16:creationId xmlns:a16="http://schemas.microsoft.com/office/drawing/2014/main" id="{9BC527BE-CFD0-7BE2-5456-B7C26D9EC7E4}"/>
                  </a:ext>
                </a:extLst>
              </p:cNvPr>
              <p:cNvSpPr txBox="1">
                <a:spLocks noRot="1" noChangeAspect="1" noMove="1" noResize="1" noEditPoints="1" noAdjustHandles="1" noChangeArrowheads="1" noChangeShapeType="1" noTextEdit="1"/>
              </p:cNvSpPr>
              <p:nvPr/>
            </p:nvSpPr>
            <p:spPr>
              <a:xfrm>
                <a:off x="795866" y="1219278"/>
                <a:ext cx="905933" cy="103293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4998386E-B900-299F-77C7-F449A8E26C21}"/>
                  </a:ext>
                </a:extLst>
              </p:cNvPr>
              <p:cNvSpPr txBox="1"/>
              <p:nvPr/>
            </p:nvSpPr>
            <p:spPr>
              <a:xfrm>
                <a:off x="677333" y="2184401"/>
                <a:ext cx="905933" cy="1032933"/>
              </a:xfrm>
              <a:prstGeom prst="rect">
                <a:avLst/>
              </a:prstGeom>
              <a:noFill/>
            </p:spPr>
            <p:txBody>
              <a:bodyPr wrap="square" lIns="0" tIns="0" rIns="0" bIns="0" rtlCol="0">
                <a:noAutofit/>
              </a:bodyPr>
              <a:lstStyle/>
              <a:p>
                <a:pPr>
                  <a:lnSpc>
                    <a:spcPct val="150000"/>
                  </a:lnSpc>
                  <a:spcBef>
                    <a:spcPts val="1200"/>
                  </a:spcBef>
                  <a:spcAft>
                    <a:spcPts val="600"/>
                  </a:spcAft>
                </a:pPr>
                <a14:m>
                  <m:oMathPara xmlns:m="http://schemas.openxmlformats.org/officeDocument/2006/math">
                    <m:oMathParaPr>
                      <m:jc m:val="centerGroup"/>
                    </m:oMathParaPr>
                    <m:oMath xmlns:m="http://schemas.openxmlformats.org/officeDocument/2006/math">
                      <m:r>
                        <a:rPr lang="en-AU" sz="1800">
                          <a:latin typeface="Cambria Math" panose="02040503050406030204" pitchFamily="18" charset="0"/>
                        </a:rPr>
                        <m:t>1 </m:t>
                      </m:r>
                      <m:f>
                        <m:fPr>
                          <m:ctrlPr>
                            <a:rPr lang="en-AU" sz="1800" i="1">
                              <a:latin typeface="Cambria Math" panose="02040503050406030204" pitchFamily="18" charset="0"/>
                            </a:rPr>
                          </m:ctrlPr>
                        </m:fPr>
                        <m:num>
                          <m:r>
                            <a:rPr lang="en-AU" sz="1800">
                              <a:latin typeface="Cambria Math" panose="02040503050406030204" pitchFamily="18" charset="0"/>
                            </a:rPr>
                            <m:t>3</m:t>
                          </m:r>
                        </m:num>
                        <m:den>
                          <m:r>
                            <a:rPr lang="en-AU" sz="1800">
                              <a:latin typeface="Cambria Math" panose="02040503050406030204" pitchFamily="18" charset="0"/>
                            </a:rPr>
                            <m:t>4</m:t>
                          </m:r>
                        </m:den>
                      </m:f>
                    </m:oMath>
                  </m:oMathPara>
                </a14:m>
                <a:endParaRPr lang="en-AU" sz="1800"/>
              </a:p>
              <a:p>
                <a:pPr lvl="0">
                  <a:lnSpc>
                    <a:spcPct val="150000"/>
                  </a:lnSpc>
                  <a:spcBef>
                    <a:spcPts val="1200"/>
                  </a:spcBef>
                  <a:spcAft>
                    <a:spcPts val="600"/>
                  </a:spcAft>
                </a:pPr>
                <a:endParaRPr lang="en-AU" sz="1800">
                  <a:effectLst/>
                  <a:latin typeface="Arial" panose="020B0604020202020204" pitchFamily="34" charset="0"/>
                  <a:ea typeface="Calibri" panose="020F0502020204030204" pitchFamily="34" charset="0"/>
                </a:endParaRPr>
              </a:p>
            </p:txBody>
          </p:sp>
        </mc:Choice>
        <mc:Fallback xmlns="">
          <p:sp>
            <p:nvSpPr>
              <p:cNvPr id="49" name="TextBox 48">
                <a:extLst>
                  <a:ext uri="{FF2B5EF4-FFF2-40B4-BE49-F238E27FC236}">
                    <a16:creationId xmlns:a16="http://schemas.microsoft.com/office/drawing/2014/main" id="{4998386E-B900-299F-77C7-F449A8E26C21}"/>
                  </a:ext>
                </a:extLst>
              </p:cNvPr>
              <p:cNvSpPr txBox="1">
                <a:spLocks noRot="1" noChangeAspect="1" noMove="1" noResize="1" noEditPoints="1" noAdjustHandles="1" noChangeArrowheads="1" noChangeShapeType="1" noTextEdit="1"/>
              </p:cNvSpPr>
              <p:nvPr/>
            </p:nvSpPr>
            <p:spPr>
              <a:xfrm>
                <a:off x="677333" y="2184401"/>
                <a:ext cx="905933" cy="103293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D4DF4539-FA39-0A2F-124B-9CF39CB9CA33}"/>
                  </a:ext>
                </a:extLst>
              </p:cNvPr>
              <p:cNvSpPr txBox="1"/>
              <p:nvPr/>
            </p:nvSpPr>
            <p:spPr>
              <a:xfrm>
                <a:off x="677332" y="3160955"/>
                <a:ext cx="905933" cy="1032933"/>
              </a:xfrm>
              <a:prstGeom prst="rect">
                <a:avLst/>
              </a:prstGeom>
              <a:noFill/>
            </p:spPr>
            <p:txBody>
              <a:bodyPr wrap="square" lIns="0" tIns="0" rIns="0" bIns="0" rtlCol="0">
                <a:noAutofit/>
              </a:bodyPr>
              <a:lstStyle/>
              <a:p>
                <a:pPr>
                  <a:lnSpc>
                    <a:spcPct val="150000"/>
                  </a:lnSpc>
                  <a:spcBef>
                    <a:spcPts val="1200"/>
                  </a:spcBef>
                  <a:spcAft>
                    <a:spcPts val="600"/>
                  </a:spcAft>
                </a:pPr>
                <a14:m>
                  <m:oMathPara xmlns:m="http://schemas.openxmlformats.org/officeDocument/2006/math">
                    <m:oMathParaPr>
                      <m:jc m:val="centerGroup"/>
                    </m:oMathParaPr>
                    <m:oMath xmlns:m="http://schemas.openxmlformats.org/officeDocument/2006/math">
                      <m:r>
                        <a:rPr lang="en-AU" sz="1800" smtClean="0">
                          <a:latin typeface="Cambria Math" panose="02040503050406030204" pitchFamily="18" charset="0"/>
                        </a:rPr>
                        <m:t> </m:t>
                      </m:r>
                      <m:f>
                        <m:fPr>
                          <m:ctrlPr>
                            <a:rPr lang="en-AU" sz="1800" i="1">
                              <a:latin typeface="Cambria Math" panose="02040503050406030204" pitchFamily="18" charset="0"/>
                            </a:rPr>
                          </m:ctrlPr>
                        </m:fPr>
                        <m:num>
                          <m:r>
                            <a:rPr lang="en-AU" sz="1800" b="0" i="0" smtClean="0">
                              <a:latin typeface="Cambria Math" panose="02040503050406030204" pitchFamily="18" charset="0"/>
                            </a:rPr>
                            <m:t>1</m:t>
                          </m:r>
                        </m:num>
                        <m:den>
                          <m:r>
                            <a:rPr lang="en-AU" sz="1800" b="0" i="1" smtClean="0">
                              <a:latin typeface="Cambria Math" panose="02040503050406030204" pitchFamily="18" charset="0"/>
                            </a:rPr>
                            <m:t>2</m:t>
                          </m:r>
                        </m:den>
                      </m:f>
                    </m:oMath>
                  </m:oMathPara>
                </a14:m>
                <a:endParaRPr lang="en-AU" sz="1800"/>
              </a:p>
              <a:p>
                <a:pPr lvl="0">
                  <a:lnSpc>
                    <a:spcPct val="150000"/>
                  </a:lnSpc>
                  <a:spcBef>
                    <a:spcPts val="1200"/>
                  </a:spcBef>
                  <a:spcAft>
                    <a:spcPts val="600"/>
                  </a:spcAft>
                </a:pPr>
                <a:endParaRPr lang="en-AU" sz="1800">
                  <a:effectLst/>
                  <a:latin typeface="Arial" panose="020B0604020202020204" pitchFamily="34" charset="0"/>
                  <a:ea typeface="Calibri" panose="020F0502020204030204" pitchFamily="34" charset="0"/>
                </a:endParaRPr>
              </a:p>
            </p:txBody>
          </p:sp>
        </mc:Choice>
        <mc:Fallback xmlns="">
          <p:sp>
            <p:nvSpPr>
              <p:cNvPr id="50" name="TextBox 49">
                <a:extLst>
                  <a:ext uri="{FF2B5EF4-FFF2-40B4-BE49-F238E27FC236}">
                    <a16:creationId xmlns:a16="http://schemas.microsoft.com/office/drawing/2014/main" id="{D4DF4539-FA39-0A2F-124B-9CF39CB9CA33}"/>
                  </a:ext>
                </a:extLst>
              </p:cNvPr>
              <p:cNvSpPr txBox="1">
                <a:spLocks noRot="1" noChangeAspect="1" noMove="1" noResize="1" noEditPoints="1" noAdjustHandles="1" noChangeArrowheads="1" noChangeShapeType="1" noTextEdit="1"/>
              </p:cNvSpPr>
              <p:nvPr/>
            </p:nvSpPr>
            <p:spPr>
              <a:xfrm>
                <a:off x="677332" y="3160955"/>
                <a:ext cx="905933" cy="10329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D256438C-55CA-5238-AECE-9886A01098E7}"/>
                  </a:ext>
                </a:extLst>
              </p:cNvPr>
              <p:cNvSpPr txBox="1"/>
              <p:nvPr/>
            </p:nvSpPr>
            <p:spPr>
              <a:xfrm>
                <a:off x="744573" y="4137509"/>
                <a:ext cx="905933" cy="1032933"/>
              </a:xfrm>
              <a:prstGeom prst="rect">
                <a:avLst/>
              </a:prstGeom>
              <a:noFill/>
            </p:spPr>
            <p:txBody>
              <a:bodyPr wrap="square" lIns="0" tIns="0" rIns="0" bIns="0" rtlCol="0">
                <a:noAutofit/>
              </a:bodyPr>
              <a:lstStyle/>
              <a:p>
                <a:pPr>
                  <a:lnSpc>
                    <a:spcPct val="150000"/>
                  </a:lnSpc>
                  <a:spcBef>
                    <a:spcPts val="1200"/>
                  </a:spcBef>
                  <a:spcAft>
                    <a:spcPts val="600"/>
                  </a:spcAft>
                </a:pPr>
                <a14:m>
                  <m:oMathPara xmlns:m="http://schemas.openxmlformats.org/officeDocument/2006/math">
                    <m:oMathParaPr>
                      <m:jc m:val="centerGroup"/>
                    </m:oMathParaPr>
                    <m:oMath xmlns:m="http://schemas.openxmlformats.org/officeDocument/2006/math">
                      <m:r>
                        <a:rPr lang="en-AU" sz="1800" smtClean="0">
                          <a:latin typeface="Cambria Math" panose="02040503050406030204" pitchFamily="18" charset="0"/>
                        </a:rPr>
                        <m:t> </m:t>
                      </m:r>
                      <m:r>
                        <a:rPr lang="en-AU" sz="1800" b="0" i="0" smtClean="0">
                          <a:latin typeface="Cambria Math" panose="02040503050406030204" pitchFamily="18" charset="0"/>
                        </a:rPr>
                        <m:t>1</m:t>
                      </m:r>
                      <m:f>
                        <m:fPr>
                          <m:ctrlPr>
                            <a:rPr lang="en-AU" sz="1800" i="1">
                              <a:latin typeface="Cambria Math" panose="02040503050406030204" pitchFamily="18" charset="0"/>
                            </a:rPr>
                          </m:ctrlPr>
                        </m:fPr>
                        <m:num>
                          <m:r>
                            <a:rPr lang="en-AU" sz="1800" b="0" i="0" smtClean="0">
                              <a:latin typeface="Cambria Math" panose="02040503050406030204" pitchFamily="18" charset="0"/>
                            </a:rPr>
                            <m:t>2</m:t>
                          </m:r>
                        </m:num>
                        <m:den>
                          <m:r>
                            <a:rPr lang="en-AU" sz="1800">
                              <a:latin typeface="Cambria Math" panose="02040503050406030204" pitchFamily="18" charset="0"/>
                            </a:rPr>
                            <m:t>4</m:t>
                          </m:r>
                        </m:den>
                      </m:f>
                    </m:oMath>
                  </m:oMathPara>
                </a14:m>
                <a:endParaRPr lang="en-AU" sz="1800"/>
              </a:p>
              <a:p>
                <a:pPr lvl="0">
                  <a:lnSpc>
                    <a:spcPct val="150000"/>
                  </a:lnSpc>
                  <a:spcBef>
                    <a:spcPts val="1200"/>
                  </a:spcBef>
                  <a:spcAft>
                    <a:spcPts val="600"/>
                  </a:spcAft>
                </a:pPr>
                <a:endParaRPr lang="en-AU" sz="1800">
                  <a:effectLst/>
                  <a:latin typeface="Arial" panose="020B0604020202020204" pitchFamily="34" charset="0"/>
                  <a:ea typeface="Calibri" panose="020F0502020204030204" pitchFamily="34" charset="0"/>
                </a:endParaRPr>
              </a:p>
            </p:txBody>
          </p:sp>
        </mc:Choice>
        <mc:Fallback xmlns="">
          <p:sp>
            <p:nvSpPr>
              <p:cNvPr id="51" name="TextBox 50">
                <a:extLst>
                  <a:ext uri="{FF2B5EF4-FFF2-40B4-BE49-F238E27FC236}">
                    <a16:creationId xmlns:a16="http://schemas.microsoft.com/office/drawing/2014/main" id="{D256438C-55CA-5238-AECE-9886A01098E7}"/>
                  </a:ext>
                </a:extLst>
              </p:cNvPr>
              <p:cNvSpPr txBox="1">
                <a:spLocks noRot="1" noChangeAspect="1" noMove="1" noResize="1" noEditPoints="1" noAdjustHandles="1" noChangeArrowheads="1" noChangeShapeType="1" noTextEdit="1"/>
              </p:cNvSpPr>
              <p:nvPr/>
            </p:nvSpPr>
            <p:spPr>
              <a:xfrm>
                <a:off x="744573" y="4137509"/>
                <a:ext cx="905933" cy="103293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4479475-F947-85C2-11D0-E7FC9AC8534E}"/>
                  </a:ext>
                </a:extLst>
              </p:cNvPr>
              <p:cNvSpPr txBox="1"/>
              <p:nvPr/>
            </p:nvSpPr>
            <p:spPr>
              <a:xfrm>
                <a:off x="735365" y="5057684"/>
                <a:ext cx="905933" cy="1032933"/>
              </a:xfrm>
              <a:prstGeom prst="rect">
                <a:avLst/>
              </a:prstGeom>
              <a:noFill/>
            </p:spPr>
            <p:txBody>
              <a:bodyPr wrap="square" lIns="0" tIns="0" rIns="0" bIns="0" rtlCol="0">
                <a:noAutofit/>
              </a:bodyPr>
              <a:lstStyle/>
              <a:p>
                <a:pPr>
                  <a:lnSpc>
                    <a:spcPct val="150000"/>
                  </a:lnSpc>
                  <a:spcBef>
                    <a:spcPts val="1200"/>
                  </a:spcBef>
                  <a:spcAft>
                    <a:spcPts val="600"/>
                  </a:spcAft>
                </a:pPr>
                <a14:m>
                  <m:oMathPara xmlns:m="http://schemas.openxmlformats.org/officeDocument/2006/math">
                    <m:oMathParaPr>
                      <m:jc m:val="centerGroup"/>
                    </m:oMathParaPr>
                    <m:oMath xmlns:m="http://schemas.openxmlformats.org/officeDocument/2006/math">
                      <m:r>
                        <a:rPr lang="en-AU" sz="1800" smtClean="0">
                          <a:latin typeface="Cambria Math" panose="02040503050406030204" pitchFamily="18" charset="0"/>
                        </a:rPr>
                        <m:t> </m:t>
                      </m:r>
                      <m:f>
                        <m:fPr>
                          <m:ctrlPr>
                            <a:rPr lang="en-AU" sz="1800" i="1">
                              <a:latin typeface="Cambria Math" panose="02040503050406030204" pitchFamily="18" charset="0"/>
                            </a:rPr>
                          </m:ctrlPr>
                        </m:fPr>
                        <m:num>
                          <m:r>
                            <a:rPr lang="en-AU" sz="1800" b="0" i="1" smtClean="0">
                              <a:latin typeface="Cambria Math" panose="02040503050406030204" pitchFamily="18" charset="0"/>
                            </a:rPr>
                            <m:t>5</m:t>
                          </m:r>
                        </m:num>
                        <m:den>
                          <m:r>
                            <a:rPr lang="en-AU" sz="1800" b="0" i="1">
                              <a:latin typeface="Cambria Math" panose="02040503050406030204" pitchFamily="18" charset="0"/>
                            </a:rPr>
                            <m:t>4</m:t>
                          </m:r>
                        </m:den>
                      </m:f>
                    </m:oMath>
                  </m:oMathPara>
                </a14:m>
                <a:endParaRPr lang="en-AU" sz="1800"/>
              </a:p>
              <a:p>
                <a:pPr lvl="0">
                  <a:lnSpc>
                    <a:spcPct val="150000"/>
                  </a:lnSpc>
                  <a:spcBef>
                    <a:spcPts val="1200"/>
                  </a:spcBef>
                  <a:spcAft>
                    <a:spcPts val="600"/>
                  </a:spcAft>
                </a:pPr>
                <a:endParaRPr lang="en-AU" sz="1800">
                  <a:effectLst/>
                  <a:latin typeface="Arial" panose="020B0604020202020204" pitchFamily="34" charset="0"/>
                  <a:ea typeface="Calibri" panose="020F0502020204030204" pitchFamily="34" charset="0"/>
                </a:endParaRPr>
              </a:p>
            </p:txBody>
          </p:sp>
        </mc:Choice>
        <mc:Fallback xmlns="">
          <p:sp>
            <p:nvSpPr>
              <p:cNvPr id="52" name="TextBox 51">
                <a:extLst>
                  <a:ext uri="{FF2B5EF4-FFF2-40B4-BE49-F238E27FC236}">
                    <a16:creationId xmlns:a16="http://schemas.microsoft.com/office/drawing/2014/main" id="{54479475-F947-85C2-11D0-E7FC9AC8534E}"/>
                  </a:ext>
                </a:extLst>
              </p:cNvPr>
              <p:cNvSpPr txBox="1">
                <a:spLocks noRot="1" noChangeAspect="1" noMove="1" noResize="1" noEditPoints="1" noAdjustHandles="1" noChangeArrowheads="1" noChangeShapeType="1" noTextEdit="1"/>
              </p:cNvSpPr>
              <p:nvPr/>
            </p:nvSpPr>
            <p:spPr>
              <a:xfrm>
                <a:off x="735365" y="5057684"/>
                <a:ext cx="905933" cy="1032933"/>
              </a:xfrm>
              <a:prstGeom prst="rect">
                <a:avLst/>
              </a:prstGeom>
              <a:blipFill>
                <a:blip r:embed="rId7"/>
                <a:stretch>
                  <a:fillRect/>
                </a:stretch>
              </a:blipFill>
            </p:spPr>
            <p:txBody>
              <a:bodyPr/>
              <a:lstStyle/>
              <a:p>
                <a:r>
                  <a:rPr lang="en-US">
                    <a:noFill/>
                  </a:rPr>
                  <a:t> </a:t>
                </a:r>
              </a:p>
            </p:txBody>
          </p:sp>
        </mc:Fallback>
      </mc:AlternateContent>
      <p:pic>
        <p:nvPicPr>
          <p:cNvPr id="4" name="Picture 3" descr="This image is of a number line from 0–2. It has 1 and a half marked in the correct position. ">
            <a:extLst>
              <a:ext uri="{FF2B5EF4-FFF2-40B4-BE49-F238E27FC236}">
                <a16:creationId xmlns:a16="http://schemas.microsoft.com/office/drawing/2014/main" id="{46658057-F6AE-3E14-EE62-37C2592D93F7}"/>
              </a:ext>
            </a:extLst>
          </p:cNvPr>
          <p:cNvPicPr>
            <a:picLocks noChangeAspect="1"/>
          </p:cNvPicPr>
          <p:nvPr/>
        </p:nvPicPr>
        <p:blipFill>
          <a:blip r:embed="rId8"/>
          <a:stretch>
            <a:fillRect/>
          </a:stretch>
        </p:blipFill>
        <p:spPr>
          <a:xfrm rot="5400000">
            <a:off x="5663593" y="-406401"/>
            <a:ext cx="1677618" cy="7670803"/>
          </a:xfrm>
          <a:prstGeom prst="rect">
            <a:avLst/>
          </a:prstGeom>
        </p:spPr>
      </p:pic>
      <p:pic>
        <p:nvPicPr>
          <p:cNvPr id="5" name="Picture 4" descr="image of a head with cogs turning inside">
            <a:extLst>
              <a:ext uri="{FF2B5EF4-FFF2-40B4-BE49-F238E27FC236}">
                <a16:creationId xmlns:a16="http://schemas.microsoft.com/office/drawing/2014/main" id="{792A2646-FE38-73C1-D601-F52F027B565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15968" y="88038"/>
            <a:ext cx="916032" cy="1089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7615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B09B2-7B41-D99D-EDEF-064F74DE021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6B9621-C224-299B-082B-E90BD81C5902}"/>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68814685-3A37-A041-5F8F-6691A2B060D6}"/>
              </a:ext>
            </a:extLst>
          </p:cNvPr>
          <p:cNvSpPr>
            <a:spLocks noGrp="1"/>
          </p:cNvSpPr>
          <p:nvPr>
            <p:ph type="title"/>
          </p:nvPr>
        </p:nvSpPr>
        <p:spPr/>
        <p:txBody>
          <a:bodyPr/>
          <a:lstStyle/>
          <a:p>
            <a:r>
              <a:rPr lang="en-US">
                <a:latin typeface="Arial"/>
                <a:cs typeface="Arial"/>
              </a:rPr>
              <a:t>Multiple choice</a:t>
            </a:r>
            <a:r>
              <a:rPr lang="en-US">
                <a:solidFill>
                  <a:schemeClr val="bg1"/>
                </a:solidFill>
                <a:latin typeface="Arial"/>
                <a:cs typeface="Arial"/>
              </a:rPr>
              <a:t> (4)</a:t>
            </a:r>
          </a:p>
        </p:txBody>
      </p:sp>
      <p:sp>
        <p:nvSpPr>
          <p:cNvPr id="18" name="Text Placeholder 17">
            <a:extLst>
              <a:ext uri="{FF2B5EF4-FFF2-40B4-BE49-F238E27FC236}">
                <a16:creationId xmlns:a16="http://schemas.microsoft.com/office/drawing/2014/main" id="{46752A48-96D4-4039-44A3-719E3CD9A2E6}"/>
              </a:ext>
            </a:extLst>
          </p:cNvPr>
          <p:cNvSpPr>
            <a:spLocks noGrp="1"/>
          </p:cNvSpPr>
          <p:nvPr>
            <p:ph type="body" sz="quarter" idx="24"/>
          </p:nvPr>
        </p:nvSpPr>
        <p:spPr>
          <a:xfrm>
            <a:off x="178904" y="1553126"/>
            <a:ext cx="11794790" cy="893226"/>
          </a:xfrm>
        </p:spPr>
        <p:txBody>
          <a:bodyPr vert="horz" lIns="0" tIns="0" rIns="0" bIns="0" rtlCol="0" anchor="t">
            <a:noAutofit/>
          </a:bodyPr>
          <a:lstStyle/>
          <a:p>
            <a:pPr algn="ctr"/>
            <a:r>
              <a:rPr lang="en-US" sz="4400">
                <a:latin typeface="Arial"/>
                <a:cs typeface="Arial"/>
              </a:rPr>
              <a:t>Which </a:t>
            </a:r>
            <a:r>
              <a:rPr lang="en-US" sz="4400" b="1">
                <a:latin typeface="Arial"/>
                <a:cs typeface="Arial"/>
              </a:rPr>
              <a:t>fraction </a:t>
            </a:r>
            <a:r>
              <a:rPr lang="en-US" sz="4400">
                <a:latin typeface="Arial"/>
                <a:cs typeface="Arial"/>
              </a:rPr>
              <a:t>should be recorded in the box?</a:t>
            </a:r>
            <a:endParaRPr lang="en-US" sz="440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B58E21A6-1D40-3A2E-B8B8-AA64DD6E26FC}"/>
                  </a:ext>
                </a:extLst>
              </p:cNvPr>
              <p:cNvGraphicFramePr>
                <a:graphicFrameLocks noGrp="1"/>
              </p:cNvGraphicFramePr>
              <p:nvPr>
                <p:extLst>
                  <p:ext uri="{D42A27DB-BD31-4B8C-83A1-F6EECF244321}">
                    <p14:modId xmlns:p14="http://schemas.microsoft.com/office/powerpoint/2010/main" val="1171342069"/>
                  </p:ext>
                </p:extLst>
              </p:nvPr>
            </p:nvGraphicFramePr>
            <p:xfrm>
              <a:off x="334299" y="4643230"/>
              <a:ext cx="11484000" cy="1866011"/>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4400">
                              <a:cs typeface="Arial"/>
                            </a:rPr>
                            <a:t>1</a:t>
                          </a:r>
                          <a14:m>
                            <m:oMath xmlns:m="http://schemas.openxmlformats.org/officeDocument/2006/math">
                              <m:f>
                                <m:fPr>
                                  <m:ctrlPr>
                                    <a:rPr lang="en-AU" sz="4400" i="1" smtClean="0">
                                      <a:latin typeface="Cambria Math" panose="02040503050406030204" pitchFamily="18" charset="0"/>
                                      <a:cs typeface="Arial"/>
                                    </a:rPr>
                                  </m:ctrlPr>
                                </m:fPr>
                                <m:num>
                                  <m:r>
                                    <a:rPr lang="en-AU" sz="4400" b="0" i="1" smtClean="0">
                                      <a:latin typeface="Cambria Math" panose="02040503050406030204" pitchFamily="18" charset="0"/>
                                      <a:cs typeface="Arial"/>
                                    </a:rPr>
                                    <m:t>1</m:t>
                                  </m:r>
                                </m:num>
                                <m:den>
                                  <m:r>
                                    <a:rPr lang="en-AU" sz="4400" b="0" i="1" smtClean="0">
                                      <a:latin typeface="Cambria Math" panose="02040503050406030204" pitchFamily="18" charset="0"/>
                                      <a:cs typeface="Arial"/>
                                    </a:rPr>
                                    <m:t>2</m:t>
                                  </m:r>
                                </m:den>
                              </m:f>
                            </m:oMath>
                          </a14:m>
                          <a:endParaRPr lang="en-AU" sz="4400">
                            <a:latin typeface="+mn-lt"/>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a:cs typeface="Arial"/>
                            </a:rPr>
                            <a:t>1</a:t>
                          </a:r>
                          <a14:m>
                            <m:oMath xmlns:m="http://schemas.openxmlformats.org/officeDocument/2006/math">
                              <m:f>
                                <m:fPr>
                                  <m:ctrlPr>
                                    <a:rPr lang="en-AU" sz="4400" i="1" smtClean="0">
                                      <a:latin typeface="Cambria Math" panose="02040503050406030204" pitchFamily="18" charset="0"/>
                                      <a:cs typeface="Arial"/>
                                    </a:rPr>
                                  </m:ctrlPr>
                                </m:fPr>
                                <m:num>
                                  <m:r>
                                    <a:rPr lang="en-AU" sz="4400" b="0" i="1" smtClean="0">
                                      <a:latin typeface="Cambria Math" panose="02040503050406030204" pitchFamily="18" charset="0"/>
                                      <a:cs typeface="Arial"/>
                                    </a:rPr>
                                    <m:t>2</m:t>
                                  </m:r>
                                </m:num>
                                <m:den>
                                  <m:r>
                                    <a:rPr lang="en-AU" sz="4400" b="0" i="1" smtClean="0">
                                      <a:latin typeface="Cambria Math" panose="02040503050406030204" pitchFamily="18" charset="0"/>
                                      <a:cs typeface="Arial"/>
                                    </a:rPr>
                                    <m:t>3</m:t>
                                  </m:r>
                                </m:den>
                              </m:f>
                            </m:oMath>
                          </a14:m>
                          <a:endParaRPr lang="en-AU" sz="4400" kern="1200">
                            <a:solidFill>
                              <a:schemeClr val="tx1"/>
                            </a:solidFill>
                            <a:latin typeface="+mn-lt"/>
                            <a:ea typeface="+mn-ea"/>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a:cs typeface="Arial"/>
                            </a:rPr>
                            <a:t>1</a:t>
                          </a:r>
                          <a14:m>
                            <m:oMath xmlns:m="http://schemas.openxmlformats.org/officeDocument/2006/math">
                              <m:f>
                                <m:fPr>
                                  <m:ctrlPr>
                                    <a:rPr lang="en-AU" sz="4400" i="1" smtClean="0">
                                      <a:latin typeface="Cambria Math" panose="02040503050406030204" pitchFamily="18" charset="0"/>
                                      <a:cs typeface="Arial"/>
                                    </a:rPr>
                                  </m:ctrlPr>
                                </m:fPr>
                                <m:num>
                                  <m:r>
                                    <a:rPr lang="en-AU" sz="4400" b="0" i="1" smtClean="0">
                                      <a:latin typeface="Cambria Math" panose="02040503050406030204" pitchFamily="18" charset="0"/>
                                      <a:cs typeface="Arial"/>
                                    </a:rPr>
                                    <m:t>1</m:t>
                                  </m:r>
                                </m:num>
                                <m:den>
                                  <m:r>
                                    <a:rPr lang="en-AU" sz="4400" b="0" i="1" smtClean="0">
                                      <a:latin typeface="Cambria Math" panose="02040503050406030204" pitchFamily="18" charset="0"/>
                                      <a:cs typeface="Arial"/>
                                    </a:rPr>
                                    <m:t>4</m:t>
                                  </m:r>
                                </m:den>
                              </m:f>
                            </m:oMath>
                          </a14:m>
                          <a:endParaRPr lang="en-AU" sz="4400" kern="1200">
                            <a:solidFill>
                              <a:schemeClr val="tx1"/>
                            </a:solidFill>
                            <a:latin typeface="+mn-lt"/>
                            <a:ea typeface="+mn-ea"/>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400">
                              <a:cs typeface="Arial"/>
                            </a:rPr>
                            <a:t>1</a:t>
                          </a:r>
                          <a14:m>
                            <m:oMath xmlns:m="http://schemas.openxmlformats.org/officeDocument/2006/math">
                              <m:f>
                                <m:fPr>
                                  <m:ctrlPr>
                                    <a:rPr lang="en-AU" sz="4400" i="1" smtClean="0">
                                      <a:latin typeface="Cambria Math" panose="02040503050406030204" pitchFamily="18" charset="0"/>
                                      <a:cs typeface="Arial"/>
                                    </a:rPr>
                                  </m:ctrlPr>
                                </m:fPr>
                                <m:num>
                                  <m:r>
                                    <a:rPr lang="en-AU" sz="4400" b="0" i="1" smtClean="0">
                                      <a:latin typeface="Cambria Math" panose="02040503050406030204" pitchFamily="18" charset="0"/>
                                      <a:cs typeface="Arial"/>
                                    </a:rPr>
                                    <m:t>3</m:t>
                                  </m:r>
                                </m:num>
                                <m:den>
                                  <m:r>
                                    <a:rPr lang="en-AU" sz="4400" b="0" i="1" smtClean="0">
                                      <a:latin typeface="Cambria Math" panose="02040503050406030204" pitchFamily="18" charset="0"/>
                                      <a:cs typeface="Arial"/>
                                    </a:rPr>
                                    <m:t>4</m:t>
                                  </m:r>
                                </m:den>
                              </m:f>
                            </m:oMath>
                          </a14:m>
                          <a:endParaRPr lang="en-AU" sz="4400" kern="1200">
                            <a:solidFill>
                              <a:schemeClr val="tx1"/>
                            </a:solidFill>
                            <a:latin typeface="+mn-lt"/>
                            <a:ea typeface="+mn-ea"/>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mc:Choice>
        <mc:Fallback xmlns="">
          <p:graphicFrame>
            <p:nvGraphicFramePr>
              <p:cNvPr id="4" name="Table 3">
                <a:extLst>
                  <a:ext uri="{FF2B5EF4-FFF2-40B4-BE49-F238E27FC236}">
                    <a16:creationId xmlns:a16="http://schemas.microsoft.com/office/drawing/2014/main" id="{B58E21A6-1D40-3A2E-B8B8-AA64DD6E26FC}"/>
                  </a:ext>
                </a:extLst>
              </p:cNvPr>
              <p:cNvGraphicFramePr>
                <a:graphicFrameLocks noGrp="1"/>
              </p:cNvGraphicFramePr>
              <p:nvPr>
                <p:extLst>
                  <p:ext uri="{D42A27DB-BD31-4B8C-83A1-F6EECF244321}">
                    <p14:modId xmlns:p14="http://schemas.microsoft.com/office/powerpoint/2010/main" val="1171342069"/>
                  </p:ext>
                </p:extLst>
              </p:nvPr>
            </p:nvGraphicFramePr>
            <p:xfrm>
              <a:off x="334299" y="4643230"/>
              <a:ext cx="11484000" cy="1866011"/>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822960">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1043051">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91860" r="-300212" b="-12209"/>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99788" t="-91860" r="-199576" b="-12209"/>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200212" t="-91860" r="-100000" b="-12209"/>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300212" t="-91860" b="-12209"/>
                          </a:stretch>
                        </a:blipFill>
                      </a:tcPr>
                    </a:tc>
                    <a:extLst>
                      <a:ext uri="{0D108BD9-81ED-4DB2-BD59-A6C34878D82A}">
                        <a16:rowId xmlns:a16="http://schemas.microsoft.com/office/drawing/2014/main" val="505300166"/>
                      </a:ext>
                    </a:extLst>
                  </a:tr>
                </a:tbl>
              </a:graphicData>
            </a:graphic>
          </p:graphicFrame>
        </mc:Fallback>
      </mc:AlternateContent>
      <p:pic>
        <p:nvPicPr>
          <p:cNvPr id="5" name="Picture 4" descr="image of a finger selecting an option for a multiple choice or true and false">
            <a:extLst>
              <a:ext uri="{FF2B5EF4-FFF2-40B4-BE49-F238E27FC236}">
                <a16:creationId xmlns:a16="http://schemas.microsoft.com/office/drawing/2014/main" id="{3313E438-7F57-A13D-DE77-437CCD7BAF4C}"/>
              </a:ext>
            </a:extLst>
          </p:cNvPr>
          <p:cNvPicPr>
            <a:picLocks noChangeAspect="1"/>
          </p:cNvPicPr>
          <p:nvPr/>
        </p:nvPicPr>
        <p:blipFill>
          <a:blip r:embed="rId4"/>
          <a:stretch>
            <a:fillRect/>
          </a:stretch>
        </p:blipFill>
        <p:spPr>
          <a:xfrm>
            <a:off x="10807908" y="43303"/>
            <a:ext cx="1165786" cy="1140716"/>
          </a:xfrm>
          <a:prstGeom prst="rect">
            <a:avLst/>
          </a:prstGeom>
        </p:spPr>
      </p:pic>
      <p:pic>
        <p:nvPicPr>
          <p:cNvPr id="14" name="Picture 13" descr="Numberline marked from 0 to 2.">
            <a:extLst>
              <a:ext uri="{FF2B5EF4-FFF2-40B4-BE49-F238E27FC236}">
                <a16:creationId xmlns:a16="http://schemas.microsoft.com/office/drawing/2014/main" id="{8B09FEBB-1B0E-048B-E814-5BDB67EA8356}"/>
              </a:ext>
            </a:extLst>
          </p:cNvPr>
          <p:cNvPicPr>
            <a:picLocks noChangeAspect="1"/>
          </p:cNvPicPr>
          <p:nvPr/>
        </p:nvPicPr>
        <p:blipFill>
          <a:blip r:embed="rId5"/>
          <a:stretch>
            <a:fillRect/>
          </a:stretch>
        </p:blipFill>
        <p:spPr>
          <a:xfrm>
            <a:off x="195808" y="2745892"/>
            <a:ext cx="11800383" cy="1665716"/>
          </a:xfrm>
          <a:prstGeom prst="rect">
            <a:avLst/>
          </a:prstGeom>
        </p:spPr>
      </p:pic>
    </p:spTree>
    <p:extLst>
      <p:ext uri="{BB962C8B-B14F-4D97-AF65-F5344CB8AC3E}">
        <p14:creationId xmlns:p14="http://schemas.microsoft.com/office/powerpoint/2010/main" val="4255010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(25)</a:t>
            </a:r>
          </a:p>
        </p:txBody>
      </p:sp>
      <p:sp>
        <p:nvSpPr>
          <p:cNvPr id="11" name="Picture Placeholder 10">
            <a:extLst>
              <a:ext uri="{FF2B5EF4-FFF2-40B4-BE49-F238E27FC236}">
                <a16:creationId xmlns:a16="http://schemas.microsoft.com/office/drawing/2014/main" id="{ACDE4623-0E37-0882-ACB4-C9EF952037E5}"/>
              </a:ext>
            </a:extLst>
          </p:cNvPr>
          <p:cNvSpPr>
            <a:spLocks noGrp="1"/>
          </p:cNvSpPr>
          <p:nvPr>
            <p:ph type="pic" sz="quarter" idx="21"/>
          </p:nvPr>
        </p:nvSpPr>
        <p:spPr>
          <a:xfrm>
            <a:off x="934159" y="1184223"/>
            <a:ext cx="10367825" cy="5074817"/>
          </a:xfrm>
        </p:spPr>
        <p:txBody>
          <a:bodyPr/>
          <a:lstStyle/>
          <a:p>
            <a:pPr algn="ctr"/>
            <a:r>
              <a:rPr lang="en-US" sz="3600" dirty="0">
                <a:latin typeface="Arial"/>
                <a:cs typeface="Arial"/>
              </a:rPr>
              <a:t>Fill in the spaces with ‘</a:t>
            </a:r>
            <a:r>
              <a:rPr lang="en-US" sz="3600" b="1" i="1" dirty="0">
                <a:latin typeface="Arial"/>
                <a:cs typeface="Arial"/>
              </a:rPr>
              <a:t>more’, ‘less’ or ‘the same as’ </a:t>
            </a:r>
          </a:p>
          <a:p>
            <a:pPr algn="ctr"/>
            <a:r>
              <a:rPr lang="en-US" sz="3600" dirty="0">
                <a:latin typeface="Arial"/>
                <a:cs typeface="Arial"/>
              </a:rPr>
              <a:t>An </a:t>
            </a:r>
            <a:r>
              <a:rPr lang="en-US" sz="3600" b="1" dirty="0">
                <a:latin typeface="Arial"/>
                <a:cs typeface="Arial"/>
              </a:rPr>
              <a:t>acute angle </a:t>
            </a:r>
            <a:r>
              <a:rPr lang="en-US" sz="3600" dirty="0">
                <a:latin typeface="Arial"/>
                <a:cs typeface="Arial"/>
              </a:rPr>
              <a:t>is _____ than a quarter turn.</a:t>
            </a:r>
          </a:p>
          <a:p>
            <a:pPr algn="ctr"/>
            <a:r>
              <a:rPr lang="en-US" sz="3600" dirty="0">
                <a:latin typeface="Arial"/>
                <a:cs typeface="Arial"/>
              </a:rPr>
              <a:t>A </a:t>
            </a:r>
            <a:r>
              <a:rPr lang="en-US" sz="3600" b="1" dirty="0">
                <a:latin typeface="Arial"/>
                <a:cs typeface="Arial"/>
              </a:rPr>
              <a:t>right angle </a:t>
            </a:r>
            <a:r>
              <a:rPr lang="en-US" sz="3600" dirty="0">
                <a:latin typeface="Arial"/>
                <a:cs typeface="Arial"/>
              </a:rPr>
              <a:t>is ______ a quarter turn.</a:t>
            </a:r>
          </a:p>
          <a:p>
            <a:pPr algn="ctr"/>
            <a:r>
              <a:rPr lang="en-US" sz="3600" dirty="0">
                <a:latin typeface="Arial"/>
                <a:cs typeface="Arial"/>
              </a:rPr>
              <a:t>An </a:t>
            </a:r>
            <a:r>
              <a:rPr lang="en-US" sz="3600" b="1" dirty="0">
                <a:latin typeface="Arial"/>
                <a:cs typeface="Arial"/>
              </a:rPr>
              <a:t>obtuse angle </a:t>
            </a:r>
            <a:r>
              <a:rPr lang="en-US" sz="3600" dirty="0">
                <a:latin typeface="Arial"/>
                <a:cs typeface="Arial"/>
              </a:rPr>
              <a:t>is ______ than a quarter turn</a:t>
            </a:r>
            <a:r>
              <a:rPr lang="en-US" sz="3600" b="1" dirty="0">
                <a:latin typeface="Arial"/>
                <a:cs typeface="Arial"/>
              </a:rPr>
              <a:t>. </a:t>
            </a:r>
            <a:endParaRPr lang="en-US" sz="3600" dirty="0">
              <a:latin typeface="Arial"/>
              <a:cs typeface="Arial"/>
            </a:endParaRPr>
          </a:p>
          <a:p>
            <a:pPr algn="ct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C394F32-72F3-4115-FE74-3C0EFFCECDE5}"/>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79603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(26) </a:t>
            </a:r>
          </a:p>
        </p:txBody>
      </p:sp>
      <p:sp>
        <p:nvSpPr>
          <p:cNvPr id="11" name="Picture Placeholder 10" descr="A graph showing the number of different gaming devices in different houses. VR 2, handheld 4, tbalet 21, PC 30, Game console 40.">
            <a:extLst>
              <a:ext uri="{FF2B5EF4-FFF2-40B4-BE49-F238E27FC236}">
                <a16:creationId xmlns:a16="http://schemas.microsoft.com/office/drawing/2014/main" id="{21E9C82F-FE72-F379-EE54-EC40C9DE00C1}"/>
              </a:ext>
            </a:extLst>
          </p:cNvPr>
          <p:cNvSpPr>
            <a:spLocks noGrp="1"/>
          </p:cNvSpPr>
          <p:nvPr>
            <p:ph type="pic" sz="quarter" idx="21"/>
          </p:nvPr>
        </p:nvSpPr>
        <p:spPr>
          <a:xfrm>
            <a:off x="359999" y="1042317"/>
            <a:ext cx="11210840" cy="4769889"/>
          </a:xfrm>
        </p:spPr>
        <p:txBody>
          <a:bodyPr/>
          <a:lstStyle/>
          <a:p>
            <a:pPr algn="ctr"/>
            <a:endParaRPr lang="en-US" sz="4400"/>
          </a:p>
          <a:p>
            <a:pPr algn="ctr"/>
            <a:endParaRPr lang="en-US" sz="4400"/>
          </a:p>
          <a:p>
            <a:endParaRPr lang="en-US">
              <a:latin typeface="Arial"/>
              <a:cs typeface="Arial"/>
            </a:endParaRPr>
          </a:p>
        </p:txBody>
      </p:sp>
      <p:sp>
        <p:nvSpPr>
          <p:cNvPr id="5" name="TextBox 4">
            <a:extLst>
              <a:ext uri="{FF2B5EF4-FFF2-40B4-BE49-F238E27FC236}">
                <a16:creationId xmlns:a16="http://schemas.microsoft.com/office/drawing/2014/main" id="{5E9ACD7A-BA3A-DC99-6BBC-53AD31BFEA1B}"/>
              </a:ext>
            </a:extLst>
          </p:cNvPr>
          <p:cNvSpPr txBox="1"/>
          <p:nvPr/>
        </p:nvSpPr>
        <p:spPr>
          <a:xfrm>
            <a:off x="359999" y="2014747"/>
            <a:ext cx="3948245" cy="2825027"/>
          </a:xfrm>
          <a:prstGeom prst="rect">
            <a:avLst/>
          </a:prstGeom>
          <a:noFill/>
        </p:spPr>
        <p:txBody>
          <a:bodyPr wrap="square" lIns="0" tIns="0" rIns="0" bIns="0" rtlCol="0">
            <a:noAutofit/>
          </a:bodyPr>
          <a:lstStyle/>
          <a:p>
            <a:pPr algn="l"/>
            <a:r>
              <a:rPr lang="en-AU" sz="4400" dirty="0"/>
              <a:t>Identify 3 pieces of </a:t>
            </a:r>
            <a:r>
              <a:rPr lang="en-AU" sz="4400" b="1" dirty="0"/>
              <a:t>information</a:t>
            </a:r>
            <a:r>
              <a:rPr lang="en-AU" sz="4400" dirty="0"/>
              <a:t> from this </a:t>
            </a:r>
            <a:r>
              <a:rPr lang="en-AU" sz="4400" b="1" dirty="0"/>
              <a:t>data</a:t>
            </a:r>
            <a:r>
              <a:rPr lang="en-AU" sz="4400" dirty="0"/>
              <a:t>?</a:t>
            </a:r>
          </a:p>
        </p:txBody>
      </p:sp>
      <p:pic>
        <p:nvPicPr>
          <p:cNvPr id="6" name="Picture 5" descr="image of a clipboard with a pencil recording short answer responses">
            <a:extLst>
              <a:ext uri="{FF2B5EF4-FFF2-40B4-BE49-F238E27FC236}">
                <a16:creationId xmlns:a16="http://schemas.microsoft.com/office/drawing/2014/main" id="{A9F3431B-545B-ECD1-F62F-EC0981F0CA3F}"/>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9" name="Picture 8" descr="A bar graph showing the different gaming devices in homes.">
            <a:extLst>
              <a:ext uri="{FF2B5EF4-FFF2-40B4-BE49-F238E27FC236}">
                <a16:creationId xmlns:a16="http://schemas.microsoft.com/office/drawing/2014/main" id="{253522AB-EE8B-A5B3-CFEA-F6240F8290A1}"/>
              </a:ext>
            </a:extLst>
          </p:cNvPr>
          <p:cNvPicPr>
            <a:picLocks noChangeAspect="1"/>
          </p:cNvPicPr>
          <p:nvPr/>
        </p:nvPicPr>
        <p:blipFill>
          <a:blip r:embed="rId4"/>
          <a:stretch>
            <a:fillRect/>
          </a:stretch>
        </p:blipFill>
        <p:spPr>
          <a:xfrm>
            <a:off x="5029200" y="1320939"/>
            <a:ext cx="6573838" cy="51770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(27)</a:t>
            </a:r>
          </a:p>
        </p:txBody>
      </p:sp>
      <p:sp>
        <p:nvSpPr>
          <p:cNvPr id="11" name="Picture Placeholder 10">
            <a:extLst>
              <a:ext uri="{FF2B5EF4-FFF2-40B4-BE49-F238E27FC236}">
                <a16:creationId xmlns:a16="http://schemas.microsoft.com/office/drawing/2014/main" id="{AA232421-C8EE-55E7-3B48-FB94C1F70903}"/>
              </a:ext>
            </a:extLst>
          </p:cNvPr>
          <p:cNvSpPr>
            <a:spLocks noGrp="1"/>
          </p:cNvSpPr>
          <p:nvPr>
            <p:ph type="pic" sz="quarter" idx="21"/>
          </p:nvPr>
        </p:nvSpPr>
        <p:spPr>
          <a:xfrm>
            <a:off x="353365" y="913443"/>
            <a:ext cx="11235949" cy="5602557"/>
          </a:xfrm>
        </p:spPr>
        <p:txBody>
          <a:bodyPr/>
          <a:lstStyle/>
          <a:p>
            <a:pPr algn="ctr"/>
            <a:r>
              <a:rPr lang="en-US" sz="4400" b="1">
                <a:latin typeface="Arial"/>
                <a:cs typeface="Arial"/>
              </a:rPr>
              <a:t>Calculate</a:t>
            </a:r>
            <a:r>
              <a:rPr lang="en-US" sz="4400">
                <a:latin typeface="Arial"/>
                <a:cs typeface="Arial"/>
              </a:rPr>
              <a:t> the </a:t>
            </a:r>
            <a:r>
              <a:rPr lang="en-US" sz="4400" b="1">
                <a:latin typeface="Arial"/>
                <a:cs typeface="Arial"/>
              </a:rPr>
              <a:t>volume</a:t>
            </a:r>
            <a:r>
              <a:rPr lang="en-US" sz="4400">
                <a:latin typeface="Arial"/>
                <a:cs typeface="Arial"/>
              </a:rPr>
              <a:t> of this prism using </a:t>
            </a:r>
            <a:r>
              <a:rPr lang="en-US" sz="4400" b="1">
                <a:latin typeface="Arial"/>
                <a:cs typeface="Arial"/>
              </a:rPr>
              <a:t>cubic centimeters</a:t>
            </a:r>
            <a:r>
              <a:rPr lang="en-US" sz="4400">
                <a:latin typeface="Arial"/>
                <a:cs typeface="Arial"/>
              </a:rPr>
              <a:t>.</a:t>
            </a: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78D0A315-9AFB-D549-2ACA-8A9D46BA0AFA}"/>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A 27 cubic centimetre cube.">
            <a:extLst>
              <a:ext uri="{FF2B5EF4-FFF2-40B4-BE49-F238E27FC236}">
                <a16:creationId xmlns:a16="http://schemas.microsoft.com/office/drawing/2014/main" id="{0844004C-37EE-2FFC-8614-9DD86603BDE7}"/>
              </a:ext>
            </a:extLst>
          </p:cNvPr>
          <p:cNvPicPr>
            <a:picLocks noChangeAspect="1"/>
          </p:cNvPicPr>
          <p:nvPr/>
        </p:nvPicPr>
        <p:blipFill>
          <a:blip r:embed="rId4"/>
          <a:srcRect r="53494"/>
          <a:stretch>
            <a:fillRect/>
          </a:stretch>
        </p:blipFill>
        <p:spPr>
          <a:xfrm>
            <a:off x="4429394" y="3086262"/>
            <a:ext cx="3104249" cy="2858295"/>
          </a:xfrm>
          <a:prstGeom prst="rect">
            <a:avLst/>
          </a:prstGeom>
        </p:spPr>
      </p:pic>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(28)</a:t>
            </a:r>
          </a:p>
        </p:txBody>
      </p:sp>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381466" y="2063632"/>
            <a:ext cx="11221572" cy="2730735"/>
          </a:xfrm>
        </p:spPr>
        <p:txBody>
          <a:bodyPr/>
          <a:lstStyle/>
          <a:p>
            <a:pPr algn="ctr"/>
            <a:r>
              <a:rPr lang="en-US" sz="4400" b="1" dirty="0">
                <a:latin typeface="Arial"/>
                <a:cs typeface="Arial"/>
              </a:rPr>
              <a:t>Identify</a:t>
            </a:r>
            <a:r>
              <a:rPr lang="en-US" sz="4400" dirty="0">
                <a:latin typeface="Arial"/>
                <a:cs typeface="Arial"/>
              </a:rPr>
              <a:t> four situations where </a:t>
            </a:r>
            <a:r>
              <a:rPr lang="en-US" sz="4400" b="1" dirty="0">
                <a:latin typeface="Arial"/>
                <a:cs typeface="Arial"/>
              </a:rPr>
              <a:t>duration</a:t>
            </a:r>
            <a:r>
              <a:rPr lang="en-US" sz="4400" dirty="0">
                <a:latin typeface="Arial"/>
                <a:cs typeface="Arial"/>
              </a:rPr>
              <a:t> is </a:t>
            </a:r>
            <a:r>
              <a:rPr lang="en-US" sz="4400" b="1" dirty="0">
                <a:latin typeface="Arial"/>
                <a:cs typeface="Arial"/>
              </a:rPr>
              <a:t>measured in seconds</a:t>
            </a:r>
            <a:r>
              <a:rPr lang="en-US" sz="4400" dirty="0">
                <a:latin typeface="Arial"/>
                <a:cs typeface="Arial"/>
              </a:rPr>
              <a:t>.</a:t>
            </a:r>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E7E56417-0731-9933-4CBF-B3EE29B95C6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F2D60-024D-3BE8-F90A-343AAF1C506A}"/>
            </a:ext>
          </a:extLst>
        </p:cNvPr>
        <p:cNvGrpSpPr/>
        <p:nvPr/>
      </p:nvGrpSpPr>
      <p:grpSpPr>
        <a:xfrm>
          <a:off x="0" y="0"/>
          <a:ext cx="0" cy="0"/>
          <a:chOff x="0" y="0"/>
          <a:chExt cx="0" cy="0"/>
        </a:xfrm>
      </p:grpSpPr>
      <p:sp>
        <p:nvSpPr>
          <p:cNvPr id="2" name="Slide Number Placeholder 1"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ADA11C06-482B-D032-A126-DAFA15C7AC8E}"/>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3" name="Title 2">
            <a:extLst>
              <a:ext uri="{FF2B5EF4-FFF2-40B4-BE49-F238E27FC236}">
                <a16:creationId xmlns:a16="http://schemas.microsoft.com/office/drawing/2014/main" id="{409D3236-680B-15CB-1AAC-E62B005DDEA3}"/>
              </a:ext>
            </a:extLst>
          </p:cNvPr>
          <p:cNvSpPr>
            <a:spLocks noGrp="1"/>
          </p:cNvSpPr>
          <p:nvPr>
            <p:ph type="title"/>
          </p:nvPr>
        </p:nvSpPr>
        <p:spPr>
          <a:xfrm>
            <a:off x="360000" y="360000"/>
            <a:ext cx="11484000" cy="545601"/>
          </a:xfrm>
        </p:spPr>
        <p:txBody>
          <a:bodyPr/>
          <a:lstStyle/>
          <a:p>
            <a:r>
              <a:rPr lang="en-AU"/>
              <a:t>Activity 7 – number line 0-2</a:t>
            </a:r>
          </a:p>
        </p:txBody>
      </p:sp>
      <p:pic>
        <p:nvPicPr>
          <p:cNvPr id="5" name="Picture 4" descr="A whiteboard showing a number line numbered from 0–2. Coloured marks indicate 4 evenly-spaced fractional increments between zero and one, labelled as 1/4, 2/4, 3/4 and 4/4. Between one and 2 there are 4 evenly-spaced partitions. The first partition is marked as 5/4. ">
            <a:extLst>
              <a:ext uri="{FF2B5EF4-FFF2-40B4-BE49-F238E27FC236}">
                <a16:creationId xmlns:a16="http://schemas.microsoft.com/office/drawing/2014/main" id="{6F26B104-4368-5EE6-7C14-741790217771}"/>
              </a:ext>
            </a:extLst>
          </p:cNvPr>
          <p:cNvPicPr>
            <a:picLocks noChangeAspect="1"/>
          </p:cNvPicPr>
          <p:nvPr/>
        </p:nvPicPr>
        <p:blipFill>
          <a:blip r:embed="rId3"/>
          <a:stretch>
            <a:fillRect/>
          </a:stretch>
        </p:blipFill>
        <p:spPr>
          <a:xfrm>
            <a:off x="2742225" y="1374804"/>
            <a:ext cx="6707550" cy="4736775"/>
          </a:xfrm>
          <a:prstGeom prst="rect">
            <a:avLst/>
          </a:prstGeom>
          <a:ln>
            <a:noFill/>
          </a:ln>
          <a:effectLst>
            <a:outerShdw blurRad="292100" dist="139700" dir="2700000" algn="tl" rotWithShape="0">
              <a:srgbClr val="333333">
                <a:alpha val="65000"/>
              </a:srgbClr>
            </a:outerShdw>
          </a:effectLst>
        </p:spPr>
      </p:pic>
      <p:pic>
        <p:nvPicPr>
          <p:cNvPr id="4" name="Picture 4" descr="image of a head with cogs turning inside">
            <a:extLst>
              <a:ext uri="{FF2B5EF4-FFF2-40B4-BE49-F238E27FC236}">
                <a16:creationId xmlns:a16="http://schemas.microsoft.com/office/drawing/2014/main" id="{9EC6D3A9-8430-B8EB-F77B-4ED9BAD413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15968" y="88038"/>
            <a:ext cx="916032" cy="1089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7480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94AB3-75E5-11BA-E864-1CA52575B05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85199B-8DA3-11EB-863F-5F811ABE12AE}"/>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EEFA03C7-5D1B-D0BF-8DDD-8FFA2AD2BBEB}"/>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(4)</a:t>
            </a:r>
          </a:p>
        </p:txBody>
      </p:sp>
      <mc:AlternateContent xmlns:mc="http://schemas.openxmlformats.org/markup-compatibility/2006" xmlns:a14="http://schemas.microsoft.com/office/drawing/2010/main">
        <mc:Choice Requires="a14">
          <p:sp>
            <p:nvSpPr>
              <p:cNvPr id="18" name="Text Placeholder 17">
                <a:extLst>
                  <a:ext uri="{FF2B5EF4-FFF2-40B4-BE49-F238E27FC236}">
                    <a16:creationId xmlns:a16="http://schemas.microsoft.com/office/drawing/2014/main" id="{3CF738AF-CDE6-21FF-53FC-3CB936F2AE77}"/>
                  </a:ext>
                </a:extLst>
              </p:cNvPr>
              <p:cNvSpPr>
                <a:spLocks noGrp="1"/>
              </p:cNvSpPr>
              <p:nvPr>
                <p:ph type="body" sz="quarter" idx="24"/>
              </p:nvPr>
            </p:nvSpPr>
            <p:spPr>
              <a:xfrm>
                <a:off x="198605" y="1292183"/>
                <a:ext cx="11794790" cy="893226"/>
              </a:xfrm>
            </p:spPr>
            <p:txBody>
              <a:bodyPr vert="horz" lIns="0" tIns="0" rIns="0" bIns="0" rtlCol="0" anchor="t">
                <a:noAutofit/>
              </a:bodyPr>
              <a:lstStyle/>
              <a:p>
                <a:pPr algn="ctr"/>
                <a:r>
                  <a:rPr lang="en-US" sz="4400">
                    <a:latin typeface="Arial"/>
                    <a:cs typeface="Arial"/>
                  </a:rPr>
                  <a:t>Erik said that 1</a:t>
                </a:r>
                <a14:m>
                  <m:oMath xmlns:m="http://schemas.openxmlformats.org/officeDocument/2006/math">
                    <m:f>
                      <m:fPr>
                        <m:ctrlPr>
                          <a:rPr lang="en-US" sz="4400" i="1" smtClean="0">
                            <a:latin typeface="Cambria Math" panose="02040503050406030204" pitchFamily="18" charset="0"/>
                            <a:cs typeface="Arial"/>
                          </a:rPr>
                        </m:ctrlPr>
                      </m:fPr>
                      <m:num>
                        <m:r>
                          <a:rPr lang="en-AU" sz="4400" b="0" i="1" smtClean="0">
                            <a:latin typeface="Cambria Math" panose="02040503050406030204" pitchFamily="18" charset="0"/>
                            <a:cs typeface="Arial"/>
                          </a:rPr>
                          <m:t>3</m:t>
                        </m:r>
                      </m:num>
                      <m:den>
                        <m:r>
                          <a:rPr lang="en-AU" sz="4400" b="0" i="1" smtClean="0">
                            <a:latin typeface="Cambria Math" panose="02040503050406030204" pitchFamily="18" charset="0"/>
                            <a:cs typeface="Arial"/>
                          </a:rPr>
                          <m:t>4</m:t>
                        </m:r>
                      </m:den>
                    </m:f>
                  </m:oMath>
                </a14:m>
                <a:r>
                  <a:rPr lang="en-US" sz="4400">
                    <a:latin typeface="Arial"/>
                    <a:cs typeface="Arial"/>
                  </a:rPr>
                  <a:t> is placed </a:t>
                </a:r>
                <a:r>
                  <a:rPr lang="en-US" sz="4400" b="1">
                    <a:latin typeface="Arial"/>
                    <a:cs typeface="Arial"/>
                  </a:rPr>
                  <a:t>correctly</a:t>
                </a:r>
                <a:r>
                  <a:rPr lang="en-US" sz="4400">
                    <a:latin typeface="Arial"/>
                    <a:cs typeface="Arial"/>
                  </a:rPr>
                  <a:t> on the </a:t>
                </a:r>
                <a:r>
                  <a:rPr lang="en-US" sz="4400" b="1">
                    <a:latin typeface="Arial"/>
                    <a:cs typeface="Arial"/>
                  </a:rPr>
                  <a:t>number line</a:t>
                </a:r>
                <a:r>
                  <a:rPr lang="en-US" sz="4400">
                    <a:latin typeface="Arial"/>
                    <a:cs typeface="Arial"/>
                  </a:rPr>
                  <a:t>.</a:t>
                </a:r>
                <a:endParaRPr lang="en-US" sz="4400"/>
              </a:p>
            </p:txBody>
          </p:sp>
        </mc:Choice>
        <mc:Fallback xmlns="">
          <p:sp>
            <p:nvSpPr>
              <p:cNvPr id="18" name="Text Placeholder 17">
                <a:extLst>
                  <a:ext uri="{FF2B5EF4-FFF2-40B4-BE49-F238E27FC236}">
                    <a16:creationId xmlns:a16="http://schemas.microsoft.com/office/drawing/2014/main" id="{3CF738AF-CDE6-21FF-53FC-3CB936F2AE77}"/>
                  </a:ext>
                </a:extLst>
              </p:cNvPr>
              <p:cNvSpPr>
                <a:spLocks noGrp="1" noRot="1" noChangeAspect="1" noMove="1" noResize="1" noEditPoints="1" noAdjustHandles="1" noChangeArrowheads="1" noChangeShapeType="1" noTextEdit="1"/>
              </p:cNvSpPr>
              <p:nvPr>
                <p:ph type="body" sz="quarter" idx="24"/>
              </p:nvPr>
            </p:nvSpPr>
            <p:spPr>
              <a:xfrm>
                <a:off x="198605" y="1292183"/>
                <a:ext cx="11794790" cy="893226"/>
              </a:xfrm>
              <a:blipFill>
                <a:blip r:embed="rId3"/>
                <a:stretch>
                  <a:fillRect b="-195890"/>
                </a:stretch>
              </a:blipFill>
            </p:spPr>
            <p:txBody>
              <a:bodyPr/>
              <a:lstStyle/>
              <a:p>
                <a:r>
                  <a:rPr lang="en-US">
                    <a:noFill/>
                  </a:rPr>
                  <a:t> </a:t>
                </a:r>
              </a:p>
            </p:txBody>
          </p:sp>
        </mc:Fallback>
      </mc:AlternateContent>
      <p:pic>
        <p:nvPicPr>
          <p:cNvPr id="5" name="Picture 4" descr="image of a finger selecting an option for a multiple choice or true and false">
            <a:extLst>
              <a:ext uri="{FF2B5EF4-FFF2-40B4-BE49-F238E27FC236}">
                <a16:creationId xmlns:a16="http://schemas.microsoft.com/office/drawing/2014/main" id="{0A44BC19-B71A-5A46-BF04-419854EE20D3}"/>
              </a:ext>
            </a:extLst>
          </p:cNvPr>
          <p:cNvPicPr>
            <a:picLocks noChangeAspect="1"/>
          </p:cNvPicPr>
          <p:nvPr/>
        </p:nvPicPr>
        <p:blipFill>
          <a:blip r:embed="rId4"/>
          <a:stretch>
            <a:fillRect/>
          </a:stretch>
        </p:blipFill>
        <p:spPr>
          <a:xfrm>
            <a:off x="10807908" y="43303"/>
            <a:ext cx="1165786" cy="1140716"/>
          </a:xfrm>
          <a:prstGeom prst="rect">
            <a:avLst/>
          </a:prstGeom>
        </p:spPr>
      </p:pic>
      <p:graphicFrame>
        <p:nvGraphicFramePr>
          <p:cNvPr id="6" name="Table 5">
            <a:extLst>
              <a:ext uri="{FF2B5EF4-FFF2-40B4-BE49-F238E27FC236}">
                <a16:creationId xmlns:a16="http://schemas.microsoft.com/office/drawing/2014/main" id="{8B00D21F-321D-9282-AE24-56BE5237F9B2}"/>
              </a:ext>
            </a:extLst>
          </p:cNvPr>
          <p:cNvGraphicFramePr>
            <a:graphicFrameLocks noGrp="1"/>
          </p:cNvGraphicFramePr>
          <p:nvPr>
            <p:extLst>
              <p:ext uri="{D42A27DB-BD31-4B8C-83A1-F6EECF244321}">
                <p14:modId xmlns:p14="http://schemas.microsoft.com/office/powerpoint/2010/main" val="124252836"/>
              </p:ext>
            </p:extLst>
          </p:nvPr>
        </p:nvGraphicFramePr>
        <p:xfrm>
          <a:off x="2537761" y="553683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8" name="Picture 7" descr="number line from 0-3 showing the  one  and three quarters marked incorrectly at 2.5 on the number line.">
            <a:extLst>
              <a:ext uri="{FF2B5EF4-FFF2-40B4-BE49-F238E27FC236}">
                <a16:creationId xmlns:a16="http://schemas.microsoft.com/office/drawing/2014/main" id="{799B7A94-78BD-A0F3-78D4-0211A64AFBC9}"/>
              </a:ext>
            </a:extLst>
          </p:cNvPr>
          <p:cNvPicPr>
            <a:picLocks noChangeAspect="1"/>
          </p:cNvPicPr>
          <p:nvPr/>
        </p:nvPicPr>
        <p:blipFill>
          <a:blip r:embed="rId5"/>
          <a:stretch>
            <a:fillRect/>
          </a:stretch>
        </p:blipFill>
        <p:spPr>
          <a:xfrm>
            <a:off x="612488" y="3775823"/>
            <a:ext cx="11380907" cy="1519252"/>
          </a:xfrm>
          <a:prstGeom prst="rect">
            <a:avLst/>
          </a:prstGeom>
        </p:spPr>
      </p:pic>
    </p:spTree>
    <p:extLst>
      <p:ext uri="{BB962C8B-B14F-4D97-AF65-F5344CB8AC3E}">
        <p14:creationId xmlns:p14="http://schemas.microsoft.com/office/powerpoint/2010/main" val="2387173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360000" y="1318558"/>
            <a:ext cx="10996848" cy="2503634"/>
          </a:xfrm>
        </p:spPr>
        <p:txBody>
          <a:bodyPr vert="horz" lIns="0" tIns="0" rIns="0" bIns="0" rtlCol="0" anchor="t">
            <a:noAutofit/>
          </a:bodyPr>
          <a:lstStyle/>
          <a:p>
            <a:pPr algn="ctr"/>
            <a:r>
              <a:rPr lang="en-AU" sz="3600" dirty="0">
                <a:latin typeface="Arial"/>
                <a:cs typeface="Arial"/>
              </a:rPr>
              <a:t>Describe the following </a:t>
            </a:r>
            <a:r>
              <a:rPr lang="en-AU" sz="3600" b="1" dirty="0">
                <a:latin typeface="Arial"/>
                <a:cs typeface="Arial"/>
              </a:rPr>
              <a:t>angles</a:t>
            </a:r>
            <a:r>
              <a:rPr lang="en-AU" sz="3600" dirty="0">
                <a:latin typeface="Arial"/>
                <a:cs typeface="Arial"/>
              </a:rPr>
              <a:t> as </a:t>
            </a:r>
            <a:r>
              <a:rPr lang="en-AU" sz="3600" b="1" dirty="0">
                <a:latin typeface="Arial"/>
                <a:cs typeface="Arial"/>
              </a:rPr>
              <a:t>less than, equal to, about the same as </a:t>
            </a:r>
            <a:r>
              <a:rPr lang="en-AU" sz="3600" dirty="0">
                <a:latin typeface="Arial"/>
                <a:cs typeface="Arial"/>
              </a:rPr>
              <a:t>or</a:t>
            </a:r>
            <a:r>
              <a:rPr lang="en-AU" sz="3600" b="1" dirty="0">
                <a:latin typeface="Arial"/>
                <a:cs typeface="Arial"/>
              </a:rPr>
              <a:t> greater than a right angle</a:t>
            </a:r>
            <a:r>
              <a:rPr lang="en-AU" sz="3600" dirty="0">
                <a:latin typeface="Arial"/>
                <a:cs typeface="Arial"/>
              </a:rPr>
              <a:t>. </a:t>
            </a:r>
          </a:p>
          <a:p>
            <a:pPr algn="ctr"/>
            <a:br>
              <a:rPr lang="en-US" sz="3600" dirty="0">
                <a:latin typeface="Arial"/>
                <a:cs typeface="Arial"/>
              </a:rPr>
            </a:br>
            <a:endParaRPr lang="en-US" sz="3600" b="1" dirty="0"/>
          </a:p>
        </p:txBody>
      </p:sp>
      <p:pic>
        <p:nvPicPr>
          <p:cNvPr id="5" name="Picture 4" descr="image of a finger selecting an option for a multiple choice or true and false">
            <a:extLst>
              <a:ext uri="{FF2B5EF4-FFF2-40B4-BE49-F238E27FC236}">
                <a16:creationId xmlns:a16="http://schemas.microsoft.com/office/drawing/2014/main" id="{29097C5B-0822-B31F-6039-50D23FFACD33}"/>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6" name="Title 2">
            <a:extLst>
              <a:ext uri="{FF2B5EF4-FFF2-40B4-BE49-F238E27FC236}">
                <a16:creationId xmlns:a16="http://schemas.microsoft.com/office/drawing/2014/main" id="{784E78F3-C8DC-EBE6-07C6-3EB82367494F}"/>
              </a:ext>
            </a:extLst>
          </p:cNvPr>
          <p:cNvSpPr>
            <a:spLocks noGrp="1"/>
          </p:cNvSpPr>
          <p:nvPr>
            <p:ph type="title"/>
          </p:nvPr>
        </p:nvSpPr>
        <p:spPr>
          <a:xfrm>
            <a:off x="360000" y="360000"/>
            <a:ext cx="11243038" cy="545601"/>
          </a:xfrm>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(29)</a:t>
            </a:r>
          </a:p>
        </p:txBody>
      </p:sp>
      <p:pic>
        <p:nvPicPr>
          <p:cNvPr id="4" name="Picture 3" descr="4 angles.&#10;1 is an angle less than a right angles.&#10;2 is a right angle.&#10;3 is an angle greater than a right angle&#10;4 is an angle about the same as a right angle. ">
            <a:extLst>
              <a:ext uri="{FF2B5EF4-FFF2-40B4-BE49-F238E27FC236}">
                <a16:creationId xmlns:a16="http://schemas.microsoft.com/office/drawing/2014/main" id="{24E2B555-9034-0B24-83B9-ADA766FBB9BD}"/>
              </a:ext>
            </a:extLst>
          </p:cNvPr>
          <p:cNvPicPr>
            <a:picLocks noChangeAspect="1"/>
          </p:cNvPicPr>
          <p:nvPr/>
        </p:nvPicPr>
        <p:blipFill>
          <a:blip r:embed="rId4"/>
          <a:stretch>
            <a:fillRect/>
          </a:stretch>
        </p:blipFill>
        <p:spPr>
          <a:xfrm>
            <a:off x="360000" y="3956731"/>
            <a:ext cx="11513243" cy="2649269"/>
          </a:xfrm>
          <a:prstGeom prst="rect">
            <a:avLst/>
          </a:prstGeom>
        </p:spPr>
      </p:pic>
      <p:sp>
        <p:nvSpPr>
          <p:cNvPr id="6" name="TextBox 5">
            <a:extLst>
              <a:ext uri="{FF2B5EF4-FFF2-40B4-BE49-F238E27FC236}">
                <a16:creationId xmlns:a16="http://schemas.microsoft.com/office/drawing/2014/main" id="{5AB437E8-3D6B-BCAD-3B58-BD1D5BFA5929}"/>
              </a:ext>
            </a:extLst>
          </p:cNvPr>
          <p:cNvSpPr txBox="1"/>
          <p:nvPr/>
        </p:nvSpPr>
        <p:spPr>
          <a:xfrm>
            <a:off x="699247" y="4267200"/>
            <a:ext cx="968188" cy="645459"/>
          </a:xfrm>
          <a:prstGeom prst="rect">
            <a:avLst/>
          </a:prstGeom>
          <a:noFill/>
        </p:spPr>
        <p:txBody>
          <a:bodyPr wrap="square" lIns="0" tIns="0" rIns="0" bIns="0" rtlCol="0">
            <a:noAutofit/>
          </a:bodyPr>
          <a:lstStyle/>
          <a:p>
            <a:pPr algn="l"/>
            <a:r>
              <a:rPr lang="en-AU" sz="3200" b="1" dirty="0"/>
              <a:t>1. </a:t>
            </a:r>
          </a:p>
        </p:txBody>
      </p:sp>
      <p:sp>
        <p:nvSpPr>
          <p:cNvPr id="8" name="TextBox 7">
            <a:extLst>
              <a:ext uri="{FF2B5EF4-FFF2-40B4-BE49-F238E27FC236}">
                <a16:creationId xmlns:a16="http://schemas.microsoft.com/office/drawing/2014/main" id="{EC102DF1-8928-22BD-10A8-B42FACD88A60}"/>
              </a:ext>
            </a:extLst>
          </p:cNvPr>
          <p:cNvSpPr txBox="1"/>
          <p:nvPr/>
        </p:nvSpPr>
        <p:spPr>
          <a:xfrm>
            <a:off x="3539983" y="4267200"/>
            <a:ext cx="968188" cy="645459"/>
          </a:xfrm>
          <a:prstGeom prst="rect">
            <a:avLst/>
          </a:prstGeom>
          <a:noFill/>
        </p:spPr>
        <p:txBody>
          <a:bodyPr wrap="square" lIns="0" tIns="0" rIns="0" bIns="0" rtlCol="0">
            <a:noAutofit/>
          </a:bodyPr>
          <a:lstStyle/>
          <a:p>
            <a:pPr algn="l"/>
            <a:r>
              <a:rPr lang="en-AU" sz="3200" b="1" dirty="0"/>
              <a:t>2. </a:t>
            </a:r>
          </a:p>
        </p:txBody>
      </p:sp>
      <p:sp>
        <p:nvSpPr>
          <p:cNvPr id="9" name="TextBox 8">
            <a:extLst>
              <a:ext uri="{FF2B5EF4-FFF2-40B4-BE49-F238E27FC236}">
                <a16:creationId xmlns:a16="http://schemas.microsoft.com/office/drawing/2014/main" id="{578B8F5A-62C8-7E11-1221-AD8A31F39EAE}"/>
              </a:ext>
            </a:extLst>
          </p:cNvPr>
          <p:cNvSpPr txBox="1"/>
          <p:nvPr/>
        </p:nvSpPr>
        <p:spPr>
          <a:xfrm>
            <a:off x="6380719" y="4235149"/>
            <a:ext cx="968188" cy="645459"/>
          </a:xfrm>
          <a:prstGeom prst="rect">
            <a:avLst/>
          </a:prstGeom>
          <a:noFill/>
        </p:spPr>
        <p:txBody>
          <a:bodyPr wrap="square" lIns="0" tIns="0" rIns="0" bIns="0" rtlCol="0">
            <a:noAutofit/>
          </a:bodyPr>
          <a:lstStyle/>
          <a:p>
            <a:pPr algn="l"/>
            <a:r>
              <a:rPr lang="en-AU" sz="3200" b="1" dirty="0"/>
              <a:t>3. </a:t>
            </a:r>
          </a:p>
        </p:txBody>
      </p:sp>
      <p:sp>
        <p:nvSpPr>
          <p:cNvPr id="10" name="TextBox 9">
            <a:extLst>
              <a:ext uri="{FF2B5EF4-FFF2-40B4-BE49-F238E27FC236}">
                <a16:creationId xmlns:a16="http://schemas.microsoft.com/office/drawing/2014/main" id="{8EB3A2F3-68C5-7AB5-3CB6-198FCFAEDE60}"/>
              </a:ext>
            </a:extLst>
          </p:cNvPr>
          <p:cNvSpPr txBox="1"/>
          <p:nvPr/>
        </p:nvSpPr>
        <p:spPr>
          <a:xfrm>
            <a:off x="8934943" y="4235148"/>
            <a:ext cx="968188" cy="645459"/>
          </a:xfrm>
          <a:prstGeom prst="rect">
            <a:avLst/>
          </a:prstGeom>
          <a:noFill/>
        </p:spPr>
        <p:txBody>
          <a:bodyPr wrap="square" lIns="0" tIns="0" rIns="0" bIns="0" rtlCol="0">
            <a:noAutofit/>
          </a:bodyPr>
          <a:lstStyle/>
          <a:p>
            <a:pPr algn="l"/>
            <a:r>
              <a:rPr lang="en-AU" sz="3200" b="1" dirty="0"/>
              <a:t>4. </a:t>
            </a:r>
          </a:p>
        </p:txBody>
      </p:sp>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(30)</a:t>
            </a:r>
          </a:p>
        </p:txBody>
      </p:sp>
      <p:sp>
        <p:nvSpPr>
          <p:cNvPr id="6" name="TextBox 5">
            <a:extLst>
              <a:ext uri="{FF2B5EF4-FFF2-40B4-BE49-F238E27FC236}">
                <a16:creationId xmlns:a16="http://schemas.microsoft.com/office/drawing/2014/main" id="{5A4C3E82-5860-73DE-6E1E-F245CCFFF597}"/>
              </a:ext>
            </a:extLst>
          </p:cNvPr>
          <p:cNvSpPr txBox="1"/>
          <p:nvPr/>
        </p:nvSpPr>
        <p:spPr>
          <a:xfrm>
            <a:off x="831656" y="2119282"/>
            <a:ext cx="3797981" cy="3461657"/>
          </a:xfrm>
          <a:prstGeom prst="rect">
            <a:avLst/>
          </a:prstGeom>
          <a:noFill/>
        </p:spPr>
        <p:txBody>
          <a:bodyPr wrap="square" lIns="0" tIns="0" rIns="0" bIns="0" rtlCol="0">
            <a:noAutofit/>
          </a:bodyPr>
          <a:lstStyle/>
          <a:p>
            <a:pPr algn="l"/>
            <a:r>
              <a:rPr lang="en-AU" sz="4400" b="1"/>
              <a:t>Explain</a:t>
            </a:r>
            <a:r>
              <a:rPr lang="en-AU" sz="4400"/>
              <a:t> why this is </a:t>
            </a:r>
            <a:r>
              <a:rPr lang="en-AU" sz="4400" b="1"/>
              <a:t>not</a:t>
            </a:r>
            <a:r>
              <a:rPr lang="en-AU" sz="4400"/>
              <a:t> an </a:t>
            </a:r>
            <a:r>
              <a:rPr lang="en-AU" sz="4400" b="1"/>
              <a:t>efficient</a:t>
            </a:r>
            <a:r>
              <a:rPr lang="en-AU" sz="4400"/>
              <a:t> way to </a:t>
            </a:r>
            <a:r>
              <a:rPr lang="en-AU" sz="4400" b="1"/>
              <a:t>represent</a:t>
            </a:r>
            <a:r>
              <a:rPr lang="en-AU" sz="4400"/>
              <a:t> this </a:t>
            </a:r>
            <a:r>
              <a:rPr lang="en-AU" sz="4400" b="1"/>
              <a:t>data</a:t>
            </a:r>
            <a:r>
              <a:rPr lang="en-AU" sz="4400"/>
              <a:t>.</a:t>
            </a:r>
          </a:p>
        </p:txBody>
      </p:sp>
      <p:pic>
        <p:nvPicPr>
          <p:cNvPr id="4" name="Picture 3" descr="image of a clipboard with a pencil recording short answer responses">
            <a:extLst>
              <a:ext uri="{FF2B5EF4-FFF2-40B4-BE49-F238E27FC236}">
                <a16:creationId xmlns:a16="http://schemas.microsoft.com/office/drawing/2014/main" id="{B2AACA3F-7A28-6CBF-E26B-3DD13855833C}"/>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School travel data showing the names and modes of transport of 32 people.">
            <a:extLst>
              <a:ext uri="{FF2B5EF4-FFF2-40B4-BE49-F238E27FC236}">
                <a16:creationId xmlns:a16="http://schemas.microsoft.com/office/drawing/2014/main" id="{9AADC5EA-2755-9ACD-C347-582ADB8C6F25}"/>
              </a:ext>
            </a:extLst>
          </p:cNvPr>
          <p:cNvPicPr>
            <a:picLocks noChangeAspect="1"/>
          </p:cNvPicPr>
          <p:nvPr/>
        </p:nvPicPr>
        <p:blipFill>
          <a:blip r:embed="rId4"/>
          <a:stretch>
            <a:fillRect/>
          </a:stretch>
        </p:blipFill>
        <p:spPr>
          <a:xfrm>
            <a:off x="4795488" y="1659249"/>
            <a:ext cx="6807550" cy="4381725"/>
          </a:xfrm>
          <a:prstGeom prst="rect">
            <a:avLst/>
          </a:prstGeom>
        </p:spPr>
      </p:pic>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5048-C70E-7453-F9E5-507985776F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2BE1B1-6CD9-10A7-4664-27A4D73F0617}"/>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3" name="Title 2">
            <a:extLst>
              <a:ext uri="{FF2B5EF4-FFF2-40B4-BE49-F238E27FC236}">
                <a16:creationId xmlns:a16="http://schemas.microsoft.com/office/drawing/2014/main" id="{484B6BC0-2F0C-F390-AAB1-BCCBF88DB5D1}"/>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(31)</a:t>
            </a:r>
          </a:p>
        </p:txBody>
      </p:sp>
      <p:sp>
        <p:nvSpPr>
          <p:cNvPr id="11" name="Picture Placeholder 10">
            <a:extLst>
              <a:ext uri="{FF2B5EF4-FFF2-40B4-BE49-F238E27FC236}">
                <a16:creationId xmlns:a16="http://schemas.microsoft.com/office/drawing/2014/main" id="{93746974-51C1-ECF2-342C-DE409734E1F1}"/>
              </a:ext>
            </a:extLst>
          </p:cNvPr>
          <p:cNvSpPr>
            <a:spLocks noGrp="1"/>
          </p:cNvSpPr>
          <p:nvPr>
            <p:ph type="pic" sz="quarter" idx="21"/>
          </p:nvPr>
        </p:nvSpPr>
        <p:spPr>
          <a:xfrm>
            <a:off x="392197" y="1431596"/>
            <a:ext cx="11178643" cy="4234417"/>
          </a:xfrm>
        </p:spPr>
        <p:txBody>
          <a:bodyPr/>
          <a:lstStyle/>
          <a:p>
            <a:pPr algn="ctr"/>
            <a:r>
              <a:rPr lang="en-AU" sz="4400" dirty="0">
                <a:latin typeface="Arial"/>
                <a:cs typeface="Arial"/>
              </a:rPr>
              <a:t>Jo made a </a:t>
            </a:r>
            <a:r>
              <a:rPr lang="en-AU" sz="4400" b="1" dirty="0">
                <a:latin typeface="Arial"/>
                <a:cs typeface="Arial"/>
              </a:rPr>
              <a:t>rectangular prism </a:t>
            </a:r>
            <a:r>
              <a:rPr lang="en-AU" sz="4400" dirty="0">
                <a:latin typeface="Arial"/>
                <a:cs typeface="Arial"/>
              </a:rPr>
              <a:t>out of </a:t>
            </a:r>
            <a:r>
              <a:rPr lang="en-AU" sz="4400" b="1" dirty="0">
                <a:latin typeface="Arial"/>
                <a:cs typeface="Arial"/>
              </a:rPr>
              <a:t>72 centimetre cubes</a:t>
            </a:r>
            <a:r>
              <a:rPr lang="en-AU" sz="4400" dirty="0">
                <a:latin typeface="Arial"/>
                <a:cs typeface="Arial"/>
              </a:rPr>
              <a:t>. It has a base of </a:t>
            </a:r>
            <a:r>
              <a:rPr lang="en-AU" sz="4400" b="1" dirty="0">
                <a:latin typeface="Arial"/>
                <a:cs typeface="Arial"/>
              </a:rPr>
              <a:t>8 centimetre cubes</a:t>
            </a:r>
            <a:r>
              <a:rPr lang="en-AU" sz="4400" dirty="0">
                <a:latin typeface="Arial"/>
                <a:cs typeface="Arial"/>
              </a:rPr>
              <a:t>.</a:t>
            </a:r>
          </a:p>
          <a:p>
            <a:pPr algn="ctr"/>
            <a:r>
              <a:rPr lang="en-AU" sz="4400" b="1" dirty="0">
                <a:latin typeface="Arial"/>
                <a:cs typeface="Arial"/>
              </a:rPr>
              <a:t>How many</a:t>
            </a:r>
            <a:r>
              <a:rPr lang="en-AU" sz="4400" dirty="0">
                <a:latin typeface="Arial"/>
                <a:cs typeface="Arial"/>
              </a:rPr>
              <a:t> layers high is it? </a:t>
            </a:r>
            <a:endParaRPr lang="en-US" sz="4400" dirty="0"/>
          </a:p>
          <a:p>
            <a:endParaRPr lang="en-US" dirty="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A2EF237A-5FBF-BE77-1ED8-2DA35AFFC1E5}"/>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11022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4D6B-9189-E91A-94F1-0BFF176CCD6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AEA27B-161C-5E2A-F2CE-834142161ED0}"/>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3" name="Title 2">
            <a:extLst>
              <a:ext uri="{FF2B5EF4-FFF2-40B4-BE49-F238E27FC236}">
                <a16:creationId xmlns:a16="http://schemas.microsoft.com/office/drawing/2014/main" id="{71EF5B99-01ED-96BA-A959-B34AFEB0EDB8}"/>
              </a:ext>
            </a:extLst>
          </p:cNvPr>
          <p:cNvSpPr>
            <a:spLocks noGrp="1"/>
          </p:cNvSpPr>
          <p:nvPr>
            <p:ph type="title"/>
          </p:nvPr>
        </p:nvSpPr>
        <p:spPr/>
        <p:txBody>
          <a:bodyPr/>
          <a:lstStyle/>
          <a:p>
            <a:r>
              <a:rPr lang="en-US">
                <a:latin typeface="Arial"/>
                <a:cs typeface="Arial"/>
              </a:rPr>
              <a:t>Short </a:t>
            </a:r>
            <a:r>
              <a:rPr lang="en-US">
                <a:solidFill>
                  <a:srgbClr val="002060"/>
                </a:solidFill>
                <a:latin typeface="Arial"/>
                <a:cs typeface="Arial"/>
              </a:rPr>
              <a:t>response </a:t>
            </a:r>
            <a:r>
              <a:rPr lang="en-US">
                <a:solidFill>
                  <a:schemeClr val="bg1"/>
                </a:solidFill>
                <a:latin typeface="Arial"/>
                <a:cs typeface="Arial"/>
              </a:rPr>
              <a:t>(32)</a:t>
            </a:r>
          </a:p>
        </p:txBody>
      </p:sp>
      <p:sp>
        <p:nvSpPr>
          <p:cNvPr id="14" name="TextBox 13">
            <a:extLst>
              <a:ext uri="{FF2B5EF4-FFF2-40B4-BE49-F238E27FC236}">
                <a16:creationId xmlns:a16="http://schemas.microsoft.com/office/drawing/2014/main" id="{51BCFBB5-7824-F17B-5948-CE18B7EDA9D7}"/>
              </a:ext>
            </a:extLst>
          </p:cNvPr>
          <p:cNvSpPr txBox="1"/>
          <p:nvPr/>
        </p:nvSpPr>
        <p:spPr>
          <a:xfrm>
            <a:off x="7598352" y="3069824"/>
            <a:ext cx="1385454" cy="717341"/>
          </a:xfrm>
          <a:prstGeom prst="rect">
            <a:avLst/>
          </a:prstGeom>
          <a:noFill/>
        </p:spPr>
        <p:txBody>
          <a:bodyPr wrap="square" lIns="0" tIns="0" rIns="0" bIns="0" rtlCol="0">
            <a:noAutofit/>
          </a:bodyPr>
          <a:lstStyle/>
          <a:p>
            <a:pPr algn="l"/>
            <a:r>
              <a:rPr lang="en-AU" b="1">
                <a:solidFill>
                  <a:schemeClr val="bg1"/>
                </a:solidFill>
              </a:rPr>
              <a:t>Shape B</a:t>
            </a:r>
          </a:p>
        </p:txBody>
      </p:sp>
      <p:sp>
        <p:nvSpPr>
          <p:cNvPr id="10" name="TextBox 9">
            <a:extLst>
              <a:ext uri="{FF2B5EF4-FFF2-40B4-BE49-F238E27FC236}">
                <a16:creationId xmlns:a16="http://schemas.microsoft.com/office/drawing/2014/main" id="{6F141943-82E3-9EF3-4E0A-961E3AE7383C}"/>
              </a:ext>
            </a:extLst>
          </p:cNvPr>
          <p:cNvSpPr txBox="1"/>
          <p:nvPr/>
        </p:nvSpPr>
        <p:spPr>
          <a:xfrm>
            <a:off x="451691" y="1265600"/>
            <a:ext cx="10672309" cy="1446550"/>
          </a:xfrm>
          <a:prstGeom prst="rect">
            <a:avLst/>
          </a:prstGeom>
          <a:noFill/>
        </p:spPr>
        <p:txBody>
          <a:bodyPr wrap="square">
            <a:spAutoFit/>
          </a:bodyPr>
          <a:lstStyle/>
          <a:p>
            <a:pPr algn="ctr"/>
            <a:r>
              <a:rPr lang="en-AU" sz="4400" b="1"/>
              <a:t>How many </a:t>
            </a:r>
            <a:r>
              <a:rPr lang="en-AU" sz="4400"/>
              <a:t>ways can you </a:t>
            </a:r>
            <a:r>
              <a:rPr lang="en-AU" sz="4400" b="1"/>
              <a:t>split this trapezium </a:t>
            </a:r>
            <a:r>
              <a:rPr lang="en-AU" sz="4400"/>
              <a:t>into other </a:t>
            </a:r>
            <a:r>
              <a:rPr lang="en-AU" sz="4400" b="1"/>
              <a:t>shapes</a:t>
            </a:r>
            <a:r>
              <a:rPr lang="en-AU" sz="4400"/>
              <a:t>? </a:t>
            </a:r>
          </a:p>
        </p:txBody>
      </p:sp>
      <p:pic>
        <p:nvPicPr>
          <p:cNvPr id="4" name="Picture 3" descr="image of a clipboard with a pencil recording short answer responses">
            <a:extLst>
              <a:ext uri="{FF2B5EF4-FFF2-40B4-BE49-F238E27FC236}">
                <a16:creationId xmlns:a16="http://schemas.microsoft.com/office/drawing/2014/main" id="{539E078C-9C47-DE07-91D4-DB47EA04B8A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9" name="Picture 8" descr="Trapezium">
            <a:extLst>
              <a:ext uri="{FF2B5EF4-FFF2-40B4-BE49-F238E27FC236}">
                <a16:creationId xmlns:a16="http://schemas.microsoft.com/office/drawing/2014/main" id="{1D85B789-03B9-6C9C-6E8F-88A122D6106D}"/>
              </a:ext>
            </a:extLst>
          </p:cNvPr>
          <p:cNvPicPr>
            <a:picLocks noChangeAspect="1"/>
          </p:cNvPicPr>
          <p:nvPr/>
        </p:nvPicPr>
        <p:blipFill>
          <a:blip r:embed="rId4"/>
          <a:stretch>
            <a:fillRect/>
          </a:stretch>
        </p:blipFill>
        <p:spPr>
          <a:xfrm>
            <a:off x="3518319" y="3428494"/>
            <a:ext cx="4926400" cy="2856485"/>
          </a:xfrm>
          <a:prstGeom prst="rect">
            <a:avLst/>
          </a:prstGeom>
        </p:spPr>
      </p:pic>
    </p:spTree>
    <p:extLst>
      <p:ext uri="{BB962C8B-B14F-4D97-AF65-F5344CB8AC3E}">
        <p14:creationId xmlns:p14="http://schemas.microsoft.com/office/powerpoint/2010/main" val="85362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73745-F75F-860F-CF4C-E8DDDAA9F496}"/>
            </a:ext>
          </a:extLst>
        </p:cNvPr>
        <p:cNvGrpSpPr/>
        <p:nvPr/>
      </p:nvGrpSpPr>
      <p:grpSpPr>
        <a:xfrm>
          <a:off x="0" y="0"/>
          <a:ext cx="0" cy="0"/>
          <a:chOff x="0" y="0"/>
          <a:chExt cx="0" cy="0"/>
        </a:xfrm>
      </p:grpSpPr>
      <p:sp>
        <p:nvSpPr>
          <p:cNvPr id="2" name="Slide Number Placeholder 1" descr="An educational worksheet displays a number written in expanded notation using 6 dice rolls 2, 4, 6, 8, 9 and 5. The number 246 895 is expanded into 200 000 + 40 000 + 6000 + 800 + 90 + 5. Both standard and non-standard partitioning methods are shown below the expanded form. Non-standard partitioning is 246 thousands, 7 hundreds, 18 tens and 15 ones.">
            <a:extLst>
              <a:ext uri="{FF2B5EF4-FFF2-40B4-BE49-F238E27FC236}">
                <a16:creationId xmlns:a16="http://schemas.microsoft.com/office/drawing/2014/main" id="{DEB8F66A-A327-EC76-C1E6-D1BBD93A39C3}"/>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3" name="Title 2">
            <a:extLst>
              <a:ext uri="{FF2B5EF4-FFF2-40B4-BE49-F238E27FC236}">
                <a16:creationId xmlns:a16="http://schemas.microsoft.com/office/drawing/2014/main" id="{B613F596-7C2E-0F3A-3882-AD38DF466A27}"/>
              </a:ext>
            </a:extLst>
          </p:cNvPr>
          <p:cNvSpPr>
            <a:spLocks noGrp="1"/>
          </p:cNvSpPr>
          <p:nvPr>
            <p:ph type="title"/>
          </p:nvPr>
        </p:nvSpPr>
        <p:spPr>
          <a:xfrm>
            <a:off x="360000" y="360000"/>
            <a:ext cx="11484000" cy="545601"/>
          </a:xfrm>
        </p:spPr>
        <p:txBody>
          <a:bodyPr/>
          <a:lstStyle/>
          <a:p>
            <a:r>
              <a:rPr lang="en-AU"/>
              <a:t>Activity 8 – number line 0-3</a:t>
            </a:r>
          </a:p>
        </p:txBody>
      </p:sp>
      <p:pic>
        <p:nvPicPr>
          <p:cNvPr id="5" name="Picture 4" descr="A whiteboard displays a number line ranging from 0–3 marked with fractions. Between the 0 and 1 there are 4 evenly-spaced partitions marked. Between the 1 and 2 there are 4 evenly-spaced partitions with the first line being marked 5/5 and the second line being marked 6/5. Between the 2 and the 3 there are 4 evenly-spaced partitions. The first partition is marked 10/5. ">
            <a:extLst>
              <a:ext uri="{FF2B5EF4-FFF2-40B4-BE49-F238E27FC236}">
                <a16:creationId xmlns:a16="http://schemas.microsoft.com/office/drawing/2014/main" id="{6274B13A-914D-E4BA-512B-B0414CCBB2D1}"/>
              </a:ext>
            </a:extLst>
          </p:cNvPr>
          <p:cNvPicPr>
            <a:picLocks noChangeAspect="1"/>
          </p:cNvPicPr>
          <p:nvPr/>
        </p:nvPicPr>
        <p:blipFill>
          <a:blip r:embed="rId3"/>
          <a:stretch>
            <a:fillRect/>
          </a:stretch>
        </p:blipFill>
        <p:spPr>
          <a:xfrm>
            <a:off x="2843192" y="1269143"/>
            <a:ext cx="7139008" cy="5063020"/>
          </a:xfrm>
          <a:prstGeom prst="rect">
            <a:avLst/>
          </a:prstGeom>
          <a:ln>
            <a:noFill/>
          </a:ln>
          <a:effectLst>
            <a:outerShdw blurRad="292100" dist="139700" dir="2700000" algn="tl" rotWithShape="0">
              <a:srgbClr val="333333">
                <a:alpha val="65000"/>
              </a:srgbClr>
            </a:outerShdw>
          </a:effectLst>
        </p:spPr>
      </p:pic>
      <p:pic>
        <p:nvPicPr>
          <p:cNvPr id="4" name="Picture 4" descr="image of a head with cogs turning inside">
            <a:extLst>
              <a:ext uri="{FF2B5EF4-FFF2-40B4-BE49-F238E27FC236}">
                <a16:creationId xmlns:a16="http://schemas.microsoft.com/office/drawing/2014/main" id="{B4FD5BE5-5156-37EA-9DB3-0D23C213DF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25984" y="360000"/>
            <a:ext cx="916032" cy="1089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4522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a:t>Multiple choice </a:t>
            </a:r>
            <a:r>
              <a:rPr lang="en-US">
                <a:solidFill>
                  <a:schemeClr val="bg1"/>
                </a:solidFill>
              </a:rPr>
              <a:t>(5)</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a:t>Multiple choice </a:t>
            </a:r>
            <a:r>
              <a:rPr lang="en-US">
                <a:solidFill>
                  <a:schemeClr val="bg1"/>
                </a:solidFill>
              </a:rPr>
              <a:t>(6)</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(1)</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defTabSz="609585">
              <a:spcAft>
                <a:spcPts val="600"/>
              </a:spcAft>
              <a:defRPr/>
            </a:pPr>
            <a:r>
              <a:rPr lang="en-AU">
                <a:solidFill>
                  <a:schemeClr val="accent2"/>
                </a:solidFill>
                <a:latin typeface="Public Sans Light"/>
                <a:cs typeface="+mn-cs"/>
                <a:hlinkClick r:id="rId3">
                  <a:extLst>
                    <a:ext uri="{A12FA001-AC4F-418D-AE19-62706E023703}">
                      <ahyp:hlinkClr xmlns:ahyp="http://schemas.microsoft.com/office/drawing/2018/hyperlinkcolor" val="tx"/>
                    </a:ext>
                  </a:extLst>
                </a:hlinkClick>
              </a:rPr>
              <a:t>Mathematics K–10 Syllabus</a:t>
            </a:r>
            <a:r>
              <a:rPr lang="en-AU">
                <a:solidFill>
                  <a:schemeClr val="accent2"/>
                </a:solidFill>
                <a:latin typeface="Public Sans Light"/>
                <a:cs typeface="+mn-cs"/>
              </a:rPr>
              <a:t> </a:t>
            </a:r>
            <a:r>
              <a:rPr lang="en-AU">
                <a:latin typeface="Public Sans Light"/>
                <a:cs typeface="+mn-cs"/>
              </a:rPr>
              <a:t>© NSW Education Standards Authority (NESA) for and on behalf of the Crown in right of the State of New South Wales, 2022.</a:t>
            </a:r>
          </a:p>
          <a:p>
            <a:pPr defTabSz="609585">
              <a:spcAft>
                <a:spcPts val="600"/>
              </a:spcAft>
              <a:defRPr/>
            </a:pPr>
            <a:r>
              <a:rPr lang="en-AU">
                <a:solidFill>
                  <a:schemeClr val="accent2"/>
                </a:solidFill>
                <a:latin typeface="Public Sans Light"/>
                <a:cs typeface="+mn-cs"/>
                <a:hlinkClick r:id="rId4">
                  <a:extLst>
                    <a:ext uri="{A12FA001-AC4F-418D-AE19-62706E023703}">
                      <ahyp:hlinkClr xmlns:ahyp="http://schemas.microsoft.com/office/drawing/2018/hyperlinkcolor" val="tx"/>
                    </a:ext>
                  </a:extLst>
                </a:hlinkClick>
              </a:rPr>
              <a:t>National Numeracy Learning Progression</a:t>
            </a:r>
            <a:r>
              <a:rPr lang="en-AU">
                <a:solidFill>
                  <a:schemeClr val="accent2"/>
                </a:solidFill>
                <a:latin typeface="Public Sans Light"/>
                <a:cs typeface="+mn-cs"/>
              </a:rPr>
              <a:t> </a:t>
            </a:r>
            <a:r>
              <a:rPr lang="en-AU">
                <a:latin typeface="Public Sans Light"/>
                <a:cs typeface="+mn-cs"/>
              </a:rPr>
              <a:t>© Australian Curriculum, Assessment and Reporting Authority (ACARA) 2010 to present, unless otherwise indicated. This material was downloaded from the </a:t>
            </a:r>
            <a:r>
              <a:rPr lang="en-AU">
                <a:solidFill>
                  <a:schemeClr val="accent2"/>
                </a:solidFill>
                <a:latin typeface="Public Sans Light"/>
                <a:cs typeface="+mn-cs"/>
                <a:hlinkClick r:id="rId5">
                  <a:extLst>
                    <a:ext uri="{A12FA001-AC4F-418D-AE19-62706E023703}">
                      <ahyp:hlinkClr xmlns:ahyp="http://schemas.microsoft.com/office/drawing/2018/hyperlinkcolor" val="tx"/>
                    </a:ext>
                  </a:extLst>
                </a:hlinkClick>
              </a:rPr>
              <a:t>Australian Curriculum</a:t>
            </a:r>
            <a:r>
              <a:rPr lang="en-AU">
                <a:solidFill>
                  <a:schemeClr val="accent2"/>
                </a:solidFill>
                <a:latin typeface="Public Sans Light"/>
                <a:cs typeface="+mn-cs"/>
              </a:rPr>
              <a:t> </a:t>
            </a:r>
            <a:r>
              <a:rPr lang="en-AU">
                <a:latin typeface="Public Sans Light"/>
                <a:cs typeface="+mn-cs"/>
              </a:rPr>
              <a:t>website (National Numeracy Learning Progression) (accessed 20 May 2024) and was not modified.</a:t>
            </a:r>
          </a:p>
          <a:p>
            <a:pPr defTabSz="609585">
              <a:spcAft>
                <a:spcPts val="600"/>
              </a:spcAft>
              <a:defRPr/>
            </a:pPr>
            <a:r>
              <a:rPr lang="en-AU" err="1">
                <a:latin typeface="Public Sans Light"/>
                <a:cs typeface="+mn-cs"/>
              </a:rPr>
              <a:t>Headout</a:t>
            </a:r>
            <a:r>
              <a:rPr lang="en-AU">
                <a:latin typeface="Public Sans Light"/>
                <a:cs typeface="+mn-cs"/>
              </a:rPr>
              <a:t> Inc (n.d.) </a:t>
            </a:r>
            <a:r>
              <a:rPr lang="en-AU">
                <a:solidFill>
                  <a:schemeClr val="accent2"/>
                </a:solidFill>
                <a:latin typeface="Public Sans Light"/>
                <a:cs typeface="+mn-cs"/>
                <a:hlinkClick r:id="rId6">
                  <a:extLst>
                    <a:ext uri="{A12FA001-AC4F-418D-AE19-62706E023703}">
                      <ahyp:hlinkClr xmlns:ahyp="http://schemas.microsoft.com/office/drawing/2018/hyperlinkcolor" val="tx"/>
                    </a:ext>
                  </a:extLst>
                </a:hlinkClick>
              </a:rPr>
              <a:t>Top 15 facts about the London Eye that you must know</a:t>
            </a:r>
            <a:r>
              <a:rPr lang="en-AU">
                <a:latin typeface="Public Sans Light"/>
                <a:cs typeface="+mn-cs"/>
              </a:rPr>
              <a:t>, London Tickets by </a:t>
            </a:r>
            <a:r>
              <a:rPr lang="en-AU" err="1">
                <a:latin typeface="Public Sans Light"/>
                <a:cs typeface="+mn-cs"/>
              </a:rPr>
              <a:t>Headout</a:t>
            </a:r>
            <a:r>
              <a:rPr lang="en-AU">
                <a:latin typeface="Public Sans Light"/>
                <a:cs typeface="+mn-cs"/>
              </a:rPr>
              <a:t> website, accessed 19 June 2024.</a:t>
            </a:r>
          </a:p>
          <a:p>
            <a:pPr defTabSz="609585">
              <a:spcAft>
                <a:spcPts val="600"/>
              </a:spcAft>
              <a:defRPr/>
            </a:pPr>
            <a:r>
              <a:rPr lang="en-AU">
                <a:latin typeface="Public Sans Light"/>
                <a:cs typeface="+mn-cs"/>
              </a:rPr>
              <a:t>Kiddle.co (2024a) </a:t>
            </a:r>
            <a:r>
              <a:rPr lang="en-AU">
                <a:solidFill>
                  <a:schemeClr val="accent2"/>
                </a:solidFill>
                <a:latin typeface="Public Sans Light"/>
                <a:cs typeface="+mn-cs"/>
                <a:hlinkClick r:id="rId7">
                  <a:extLst>
                    <a:ext uri="{A12FA001-AC4F-418D-AE19-62706E023703}">
                      <ahyp:hlinkClr xmlns:ahyp="http://schemas.microsoft.com/office/drawing/2018/hyperlinkcolor" val="tx"/>
                    </a:ext>
                  </a:extLst>
                </a:hlinkClick>
              </a:rPr>
              <a:t>George Washington Gale Ferris Jr. facts for kids</a:t>
            </a:r>
            <a:r>
              <a:rPr lang="en-AU">
                <a:latin typeface="Public Sans Light"/>
                <a:cs typeface="+mn-cs"/>
              </a:rPr>
              <a:t>, </a:t>
            </a:r>
            <a:r>
              <a:rPr lang="en-AU" err="1">
                <a:latin typeface="Public Sans Light"/>
                <a:cs typeface="+mn-cs"/>
              </a:rPr>
              <a:t>Kiddle</a:t>
            </a:r>
            <a:r>
              <a:rPr lang="en-AU">
                <a:latin typeface="Public Sans Light"/>
                <a:cs typeface="+mn-cs"/>
              </a:rPr>
              <a:t> Encyclopedia website, accessed 19 June 2024. </a:t>
            </a:r>
          </a:p>
          <a:p>
            <a:pPr defTabSz="609585">
              <a:spcAft>
                <a:spcPts val="600"/>
              </a:spcAft>
              <a:defRPr/>
            </a:pPr>
            <a:r>
              <a:rPr lang="en-AU">
                <a:latin typeface="Public Sans Light"/>
                <a:cs typeface="+mn-cs"/>
              </a:rPr>
              <a:t>(2024b) </a:t>
            </a:r>
            <a:r>
              <a:rPr lang="en-AU">
                <a:solidFill>
                  <a:schemeClr val="accent2"/>
                </a:solidFill>
                <a:latin typeface="Public Sans Light"/>
                <a:cs typeface="+mn-cs"/>
                <a:hlinkClick r:id="rId8">
                  <a:extLst>
                    <a:ext uri="{A12FA001-AC4F-418D-AE19-62706E023703}">
                      <ahyp:hlinkClr xmlns:ahyp="http://schemas.microsoft.com/office/drawing/2018/hyperlinkcolor" val="tx"/>
                    </a:ext>
                  </a:extLst>
                </a:hlinkClick>
              </a:rPr>
              <a:t>High Roller (Ferris wheel) facts for kids</a:t>
            </a:r>
            <a:r>
              <a:rPr lang="en-AU">
                <a:latin typeface="Public Sans Light"/>
                <a:cs typeface="+mn-cs"/>
              </a:rPr>
              <a:t>, </a:t>
            </a:r>
            <a:r>
              <a:rPr lang="en-AU" err="1">
                <a:latin typeface="Public Sans Light"/>
                <a:cs typeface="+mn-cs"/>
              </a:rPr>
              <a:t>Kiddle</a:t>
            </a:r>
            <a:r>
              <a:rPr lang="en-AU">
                <a:latin typeface="Public Sans Light"/>
                <a:cs typeface="+mn-cs"/>
              </a:rPr>
              <a:t> Encyclopedia website, accessed 19 June 2024.</a:t>
            </a:r>
          </a:p>
          <a:p>
            <a:pPr defTabSz="609585">
              <a:spcAft>
                <a:spcPts val="600"/>
              </a:spcAft>
              <a:defRPr/>
            </a:pPr>
            <a:r>
              <a:rPr lang="en-AU">
                <a:latin typeface="Public Sans Light"/>
                <a:cs typeface="+mn-cs"/>
              </a:rPr>
              <a:t>(2024c) </a:t>
            </a:r>
            <a:r>
              <a:rPr lang="en-AU">
                <a:solidFill>
                  <a:schemeClr val="accent2"/>
                </a:solidFill>
                <a:latin typeface="Public Sans Light"/>
                <a:cs typeface="+mn-cs"/>
                <a:hlinkClick r:id="rId9">
                  <a:extLst>
                    <a:ext uri="{A12FA001-AC4F-418D-AE19-62706E023703}">
                      <ahyp:hlinkClr xmlns:ahyp="http://schemas.microsoft.com/office/drawing/2018/hyperlinkcolor" val="tx"/>
                    </a:ext>
                  </a:extLst>
                </a:hlinkClick>
              </a:rPr>
              <a:t>Luna Park Sydney facts for kids</a:t>
            </a:r>
            <a:r>
              <a:rPr lang="en-AU">
                <a:solidFill>
                  <a:schemeClr val="accent2"/>
                </a:solidFill>
                <a:latin typeface="Public Sans Light"/>
                <a:cs typeface="+mn-cs"/>
              </a:rPr>
              <a:t>,</a:t>
            </a:r>
            <a:r>
              <a:rPr lang="en-AU">
                <a:latin typeface="Public Sans Light"/>
                <a:cs typeface="+mn-cs"/>
              </a:rPr>
              <a:t> </a:t>
            </a:r>
            <a:r>
              <a:rPr lang="en-AU" err="1">
                <a:latin typeface="Public Sans Light"/>
                <a:cs typeface="+mn-cs"/>
              </a:rPr>
              <a:t>Kiddle</a:t>
            </a:r>
            <a:r>
              <a:rPr lang="en-AU">
                <a:latin typeface="Public Sans Light"/>
                <a:cs typeface="+mn-cs"/>
              </a:rPr>
              <a:t> Encyclopedia website, accessed 19 June 2024.</a:t>
            </a:r>
          </a:p>
          <a:p>
            <a:pPr defTabSz="609585">
              <a:spcAft>
                <a:spcPts val="600"/>
              </a:spcAft>
              <a:defRPr/>
            </a:pPr>
            <a:r>
              <a:rPr lang="en-AU">
                <a:latin typeface="Public Sans Light"/>
                <a:cs typeface="+mn-cs"/>
              </a:rPr>
              <a:t>(2024d) </a:t>
            </a:r>
            <a:r>
              <a:rPr lang="en-AU">
                <a:solidFill>
                  <a:schemeClr val="accent2"/>
                </a:solidFill>
                <a:latin typeface="Public Sans Light"/>
                <a:cs typeface="+mn-cs"/>
                <a:hlinkClick r:id="rId10">
                  <a:extLst>
                    <a:ext uri="{A12FA001-AC4F-418D-AE19-62706E023703}">
                      <ahyp:hlinkClr xmlns:ahyp="http://schemas.microsoft.com/office/drawing/2018/hyperlinkcolor" val="tx"/>
                    </a:ext>
                  </a:extLst>
                </a:hlinkClick>
              </a:rPr>
              <a:t>Melbourne Star facts for kids</a:t>
            </a:r>
            <a:r>
              <a:rPr lang="en-AU">
                <a:latin typeface="Public Sans Light"/>
                <a:cs typeface="+mn-cs"/>
              </a:rPr>
              <a:t>, </a:t>
            </a:r>
            <a:r>
              <a:rPr lang="en-AU" err="1">
                <a:latin typeface="Public Sans Light"/>
                <a:cs typeface="+mn-cs"/>
              </a:rPr>
              <a:t>Kiddle</a:t>
            </a:r>
            <a:r>
              <a:rPr lang="en-AU">
                <a:latin typeface="Public Sans Light"/>
                <a:cs typeface="+mn-cs"/>
              </a:rPr>
              <a:t> Encyclopedia website, accessed 19 June 2024.</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1">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2">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3">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68</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 </a:t>
            </a:r>
            <a:r>
              <a:rPr lang="en-AU">
                <a:solidFill>
                  <a:schemeClr val="accent4"/>
                </a:solidFill>
              </a:rPr>
              <a:t>(2)(2)</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defTabSz="609585">
              <a:spcAft>
                <a:spcPts val="600"/>
              </a:spcAft>
              <a:defRPr/>
            </a:pPr>
            <a:r>
              <a:rPr lang="en-AU">
                <a:latin typeface="Public Sans Light"/>
                <a:cs typeface="+mn-cs"/>
              </a:rPr>
              <a:t>(2024e</a:t>
            </a:r>
            <a:r>
              <a:rPr lang="en-AU">
                <a:solidFill>
                  <a:schemeClr val="accent2"/>
                </a:solidFill>
                <a:latin typeface="Public Sans Light"/>
                <a:cs typeface="+mn-cs"/>
              </a:rPr>
              <a:t>) </a:t>
            </a:r>
            <a:r>
              <a:rPr lang="en-AU">
                <a:solidFill>
                  <a:schemeClr val="accent2"/>
                </a:solidFill>
                <a:latin typeface="Public Sans Light"/>
                <a:cs typeface="+mn-cs"/>
                <a:hlinkClick r:id="rId2">
                  <a:extLst>
                    <a:ext uri="{A12FA001-AC4F-418D-AE19-62706E023703}">
                      <ahyp:hlinkClr xmlns:ahyp="http://schemas.microsoft.com/office/drawing/2018/hyperlinkcolor" val="tx"/>
                    </a:ext>
                  </a:extLst>
                </a:hlinkClick>
              </a:rPr>
              <a:t>Singapore Flyer facts for kids</a:t>
            </a:r>
            <a:r>
              <a:rPr lang="en-AU">
                <a:latin typeface="Public Sans Light"/>
                <a:cs typeface="+mn-cs"/>
              </a:rPr>
              <a:t>, </a:t>
            </a:r>
            <a:r>
              <a:rPr lang="en-AU" err="1">
                <a:latin typeface="Public Sans Light"/>
                <a:cs typeface="+mn-cs"/>
              </a:rPr>
              <a:t>Kiddle</a:t>
            </a:r>
            <a:r>
              <a:rPr lang="en-AU">
                <a:latin typeface="Public Sans Light"/>
                <a:cs typeface="+mn-cs"/>
              </a:rPr>
              <a:t> Encyclopedia website, accessed 19 June 2024.</a:t>
            </a:r>
          </a:p>
          <a:p>
            <a:pPr defTabSz="609585">
              <a:spcAft>
                <a:spcPts val="600"/>
              </a:spcAft>
              <a:defRPr/>
            </a:pPr>
            <a:r>
              <a:rPr lang="en-AU">
                <a:latin typeface="Public Sans Light"/>
                <a:cs typeface="+mn-cs"/>
              </a:rPr>
              <a:t>Oxford University Press (2024) </a:t>
            </a:r>
            <a:r>
              <a:rPr lang="en-AU">
                <a:solidFill>
                  <a:schemeClr val="accent2"/>
                </a:solidFill>
                <a:latin typeface="Public Sans Light"/>
                <a:cs typeface="+mn-cs"/>
                <a:hlinkClick r:id="rId3">
                  <a:extLst>
                    <a:ext uri="{A12FA001-AC4F-418D-AE19-62706E023703}">
                      <ahyp:hlinkClr xmlns:ahyp="http://schemas.microsoft.com/office/drawing/2018/hyperlinkcolor" val="tx"/>
                    </a:ext>
                  </a:extLst>
                </a:hlinkClick>
              </a:rPr>
              <a:t>Oxford Learner’s Dictionaries</a:t>
            </a:r>
            <a:r>
              <a:rPr lang="en-AU">
                <a:latin typeface="Public Sans Light"/>
                <a:cs typeface="+mn-cs"/>
              </a:rPr>
              <a:t>, Oxford Learner's Dictionaries website, accessed 20 May 2024.</a:t>
            </a:r>
          </a:p>
          <a:p>
            <a:pPr defTabSz="609585">
              <a:spcAft>
                <a:spcPts val="600"/>
              </a:spcAft>
              <a:defRPr/>
            </a:pPr>
            <a:r>
              <a:rPr lang="en-AU">
                <a:latin typeface="Public Sans Light"/>
                <a:cs typeface="+mn-cs"/>
              </a:rPr>
              <a:t>Sunrise-Sunset (2014–2024) </a:t>
            </a:r>
            <a:r>
              <a:rPr lang="en-AU">
                <a:solidFill>
                  <a:schemeClr val="accent2"/>
                </a:solidFill>
                <a:latin typeface="Public Sans Light"/>
                <a:cs typeface="+mn-cs"/>
                <a:hlinkClick r:id="rId4">
                  <a:extLst>
                    <a:ext uri="{A12FA001-AC4F-418D-AE19-62706E023703}">
                      <ahyp:hlinkClr xmlns:ahyp="http://schemas.microsoft.com/office/drawing/2018/hyperlinkcolor" val="tx"/>
                    </a:ext>
                  </a:extLst>
                </a:hlinkClick>
              </a:rPr>
              <a:t>Sunset and Sunrise times</a:t>
            </a:r>
            <a:r>
              <a:rPr lang="en-AU">
                <a:latin typeface="Public Sans Light"/>
                <a:cs typeface="+mn-cs"/>
              </a:rPr>
              <a:t>, Sunrise Sunset website, accessed 20 May 2024.</a:t>
            </a:r>
          </a:p>
          <a:p>
            <a:pPr defTabSz="609585">
              <a:spcAft>
                <a:spcPts val="600"/>
              </a:spcAft>
              <a:defRPr/>
            </a:pPr>
            <a:r>
              <a:rPr lang="en-AU">
                <a:latin typeface="Public Sans Light"/>
                <a:cs typeface="+mn-cs"/>
              </a:rPr>
              <a:t>The Math Learning </a:t>
            </a:r>
            <a:r>
              <a:rPr lang="en-AU" err="1">
                <a:latin typeface="Public Sans Light"/>
                <a:cs typeface="+mn-cs"/>
              </a:rPr>
              <a:t>Center</a:t>
            </a:r>
            <a:r>
              <a:rPr lang="en-AU">
                <a:latin typeface="Public Sans Light"/>
                <a:cs typeface="+mn-cs"/>
              </a:rPr>
              <a:t> (2024) </a:t>
            </a:r>
            <a:r>
              <a:rPr lang="en-AU">
                <a:solidFill>
                  <a:schemeClr val="accent2"/>
                </a:solidFill>
                <a:latin typeface="Public Sans Light"/>
                <a:cs typeface="+mn-cs"/>
                <a:hlinkClick r:id="rId5">
                  <a:extLst>
                    <a:ext uri="{A12FA001-AC4F-418D-AE19-62706E023703}">
                      <ahyp:hlinkClr xmlns:ahyp="http://schemas.microsoft.com/office/drawing/2018/hyperlinkcolor" val="tx"/>
                    </a:ext>
                  </a:extLst>
                </a:hlinkClick>
              </a:rPr>
              <a:t>Pattern shapes</a:t>
            </a:r>
            <a:r>
              <a:rPr lang="en-AU">
                <a:latin typeface="Public Sans Light"/>
                <a:cs typeface="+mn-cs"/>
              </a:rPr>
              <a:t>, Math Learning </a:t>
            </a:r>
            <a:r>
              <a:rPr lang="en-AU" err="1">
                <a:latin typeface="Public Sans Light"/>
                <a:cs typeface="+mn-cs"/>
              </a:rPr>
              <a:t>Center</a:t>
            </a:r>
            <a:r>
              <a:rPr lang="en-AU">
                <a:latin typeface="Public Sans Light"/>
                <a:cs typeface="+mn-cs"/>
              </a:rPr>
              <a:t> website, accessed 20 May 2024.</a:t>
            </a:r>
          </a:p>
          <a:p>
            <a:pPr defTabSz="609585">
              <a:spcAft>
                <a:spcPts val="600"/>
              </a:spcAft>
              <a:defRPr/>
            </a:pPr>
            <a:r>
              <a:rPr lang="en-AU">
                <a:latin typeface="Public Sans Light"/>
                <a:cs typeface="+mn-cs"/>
              </a:rPr>
              <a:t>Toy </a:t>
            </a:r>
            <a:r>
              <a:rPr lang="en-AU" err="1">
                <a:latin typeface="Public Sans Light"/>
                <a:cs typeface="+mn-cs"/>
              </a:rPr>
              <a:t>Theater</a:t>
            </a:r>
            <a:r>
              <a:rPr lang="en-AU">
                <a:latin typeface="Public Sans Light"/>
                <a:cs typeface="+mn-cs"/>
              </a:rPr>
              <a:t> (2001–2024) ‘</a:t>
            </a:r>
            <a:r>
              <a:rPr lang="en-AU">
                <a:solidFill>
                  <a:schemeClr val="accent2"/>
                </a:solidFill>
                <a:latin typeface="Public Sans Light"/>
                <a:cs typeface="+mn-cs"/>
                <a:hlinkClick r:id="rId6">
                  <a:extLst>
                    <a:ext uri="{A12FA001-AC4F-418D-AE19-62706E023703}">
                      <ahyp:hlinkClr xmlns:ahyp="http://schemas.microsoft.com/office/drawing/2018/hyperlinkcolor" val="tx"/>
                    </a:ext>
                  </a:extLst>
                </a:hlinkClick>
              </a:rPr>
              <a:t>Interactive Clock</a:t>
            </a:r>
            <a:r>
              <a:rPr lang="en-AU">
                <a:solidFill>
                  <a:schemeClr val="accent2"/>
                </a:solidFill>
                <a:latin typeface="Public Sans Light"/>
                <a:cs typeface="+mn-cs"/>
              </a:rPr>
              <a:t>’, </a:t>
            </a:r>
            <a:r>
              <a:rPr lang="en-AU">
                <a:latin typeface="Public Sans Light"/>
                <a:cs typeface="+mn-cs"/>
              </a:rPr>
              <a:t>Time manipulatives, Toy </a:t>
            </a:r>
            <a:r>
              <a:rPr lang="en-AU" err="1">
                <a:latin typeface="Public Sans Light"/>
                <a:cs typeface="+mn-cs"/>
              </a:rPr>
              <a:t>Theater</a:t>
            </a:r>
            <a:r>
              <a:rPr lang="en-AU">
                <a:latin typeface="Public Sans Light"/>
                <a:cs typeface="+mn-cs"/>
              </a:rPr>
              <a:t> website, accessed 20 May 2024.</a:t>
            </a:r>
          </a:p>
          <a:p>
            <a:pPr defTabSz="609585">
              <a:spcAft>
                <a:spcPts val="600"/>
              </a:spcAft>
              <a:defRPr/>
            </a:pPr>
            <a:r>
              <a:rPr lang="en-AU">
                <a:latin typeface="Public Sans Light"/>
                <a:cs typeface="+mn-cs"/>
              </a:rPr>
              <a:t>Travel China Guide (1998-2024) </a:t>
            </a:r>
            <a:r>
              <a:rPr lang="en-AU">
                <a:solidFill>
                  <a:schemeClr val="accent2"/>
                </a:solidFill>
                <a:latin typeface="Public Sans Light"/>
                <a:cs typeface="+mn-cs"/>
                <a:hlinkClick r:id="rId7">
                  <a:extLst>
                    <a:ext uri="{A12FA001-AC4F-418D-AE19-62706E023703}">
                      <ahyp:hlinkClr xmlns:ahyp="http://schemas.microsoft.com/office/drawing/2018/hyperlinkcolor" val="tx"/>
                    </a:ext>
                  </a:extLst>
                </a:hlinkClick>
              </a:rPr>
              <a:t>Tianjin Eye (Tientsin Eye)</a:t>
            </a:r>
            <a:r>
              <a:rPr lang="en-AU">
                <a:solidFill>
                  <a:schemeClr val="accent2"/>
                </a:solidFill>
                <a:latin typeface="Public Sans Light"/>
                <a:cs typeface="+mn-cs"/>
              </a:rPr>
              <a:t>, </a:t>
            </a:r>
            <a:r>
              <a:rPr lang="en-AU">
                <a:latin typeface="Public Sans Light"/>
                <a:cs typeface="+mn-cs"/>
              </a:rPr>
              <a:t>Travel China Guide website, accessed 19 June 2024</a:t>
            </a:r>
          </a:p>
          <a:p>
            <a:pPr defTabSz="609585">
              <a:spcAft>
                <a:spcPts val="600"/>
              </a:spcAft>
              <a:defRPr/>
            </a:pPr>
            <a:r>
              <a:rPr lang="en-AU">
                <a:latin typeface="Public Sans Light"/>
                <a:cs typeface="+mn-cs"/>
              </a:rPr>
              <a:t>University of Cambridge (n.d.) </a:t>
            </a:r>
            <a:r>
              <a:rPr lang="en-AU">
                <a:solidFill>
                  <a:schemeClr val="accent2"/>
                </a:solidFill>
                <a:latin typeface="Public Sans Light"/>
                <a:cs typeface="+mn-cs"/>
                <a:hlinkClick r:id="rId8">
                  <a:extLst>
                    <a:ext uri="{A12FA001-AC4F-418D-AE19-62706E023703}">
                      <ahyp:hlinkClr xmlns:ahyp="http://schemas.microsoft.com/office/drawing/2018/hyperlinkcolor" val="tx"/>
                    </a:ext>
                  </a:extLst>
                </a:hlinkClick>
              </a:rPr>
              <a:t>Tessellating Transformations</a:t>
            </a:r>
            <a:r>
              <a:rPr lang="en-AU">
                <a:solidFill>
                  <a:schemeClr val="accent2"/>
                </a:solidFill>
                <a:latin typeface="Public Sans Light"/>
                <a:cs typeface="+mn-cs"/>
              </a:rPr>
              <a:t>, </a:t>
            </a:r>
            <a:r>
              <a:rPr lang="en-AU">
                <a:latin typeface="Public Sans Light"/>
                <a:cs typeface="+mn-cs"/>
              </a:rPr>
              <a:t>NRICH website, accessed 20 May 2024.</a:t>
            </a:r>
          </a:p>
          <a:p>
            <a:pPr defTabSz="609585">
              <a:spcAft>
                <a:spcPts val="600"/>
              </a:spcAft>
              <a:defRPr/>
            </a:pPr>
            <a:r>
              <a:rPr lang="en-AU">
                <a:latin typeface="Public Sans Light"/>
                <a:cs typeface="+mn-cs"/>
              </a:rPr>
              <a:t>Van de </a:t>
            </a:r>
            <a:r>
              <a:rPr lang="en-AU" err="1">
                <a:latin typeface="Public Sans Light"/>
                <a:cs typeface="+mn-cs"/>
              </a:rPr>
              <a:t>Walle</a:t>
            </a:r>
            <a:r>
              <a:rPr lang="en-AU">
                <a:latin typeface="Public Sans Light"/>
                <a:cs typeface="+mn-cs"/>
              </a:rPr>
              <a:t> J, Karp K, Bay-Williams JM, Brass A, Bentley B, Ferguson S, Goff W, Livy S, Marshman M, Martin D, </a:t>
            </a:r>
            <a:r>
              <a:rPr lang="en-AU" err="1">
                <a:latin typeface="Public Sans Light"/>
                <a:cs typeface="+mn-cs"/>
              </a:rPr>
              <a:t>Pearn</a:t>
            </a:r>
            <a:r>
              <a:rPr lang="en-AU">
                <a:latin typeface="Public Sans Light"/>
                <a:cs typeface="+mn-cs"/>
              </a:rPr>
              <a:t> C, </a:t>
            </a:r>
            <a:r>
              <a:rPr lang="en-AU" err="1">
                <a:latin typeface="Public Sans Light"/>
                <a:cs typeface="+mn-cs"/>
              </a:rPr>
              <a:t>Prodromou</a:t>
            </a:r>
            <a:r>
              <a:rPr lang="en-AU">
                <a:latin typeface="Public Sans Light"/>
                <a:cs typeface="+mn-cs"/>
              </a:rPr>
              <a:t> T, Symons D and Wilkie K (2019) Primary and Middle Years Mathematics: Teaching Developmentally, 1st Australian </a:t>
            </a:r>
            <a:r>
              <a:rPr lang="en-AU" err="1">
                <a:latin typeface="Public Sans Light"/>
                <a:cs typeface="+mn-cs"/>
              </a:rPr>
              <a:t>edn</a:t>
            </a:r>
            <a:r>
              <a:rPr lang="en-AU">
                <a:latin typeface="Public Sans Light"/>
                <a:cs typeface="+mn-cs"/>
              </a:rPr>
              <a:t>, Pearson Education Australia, Melbourne.</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9">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0">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1">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3270927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03DFE7-8ED6-8289-3C7A-37260EDA32BA}"/>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69</a:t>
            </a:fld>
            <a:endParaRPr lang="en-AU"/>
          </a:p>
        </p:txBody>
      </p:sp>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Public Sans Light" pitchFamily="2" charset="0"/>
              </a:rPr>
              <a:t>© </a:t>
            </a:r>
            <a:r>
              <a:rPr lang="en-AU"/>
              <a:t>State of New South Wales (Department of Education), 2024</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a:t>
            </a:r>
            <a:r>
              <a:rPr lang="en-AU" sz="1200">
                <a:solidFill>
                  <a:schemeClr val="bg1"/>
                </a:solidFill>
                <a:latin typeface="Public Sans Light" pitchFamily="2" charset="0"/>
              </a:rPr>
              <a:t>© </a:t>
            </a:r>
            <a:r>
              <a:rPr lang="en-AU" sz="1200">
                <a:solidFill>
                  <a:schemeClr val="bg1"/>
                </a:solidFill>
              </a:rPr>
              <a:t>State of New South Wales (Department of Education), 2024.</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marL="171450" indent="-171450" algn="l">
              <a:lnSpc>
                <a:spcPct val="150000"/>
              </a:lnSpc>
              <a:spcAft>
                <a:spcPts val="600"/>
              </a:spcAft>
              <a:buFont typeface="Arial" panose="020B0604020202020204" pitchFamily="34" charset="0"/>
              <a:buChar char="•"/>
            </a:pPr>
            <a:r>
              <a:rPr lang="en-AU" sz="1200">
                <a:solidFill>
                  <a:schemeClr val="bg1"/>
                </a:solidFill>
                <a:latin typeface="+mj-lt"/>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marL="171450" indent="-171450" algn="l">
              <a:lnSpc>
                <a:spcPct val="150000"/>
              </a:lnSpc>
              <a:spcAft>
                <a:spcPts val="600"/>
              </a:spcAft>
              <a:buFont typeface="Arial" panose="020B0604020202020204" pitchFamily="34" charset="0"/>
              <a:buChar char="•"/>
            </a:pPr>
            <a:r>
              <a:rPr lang="en-AU" sz="1200">
                <a:solidFill>
                  <a:schemeClr val="bg1"/>
                </a:solidFill>
                <a:latin typeface="+mj-lt"/>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latin typeface="+mj-lt"/>
              </a:rPr>
              <a:t>Copyright Act 1968 </a:t>
            </a:r>
            <a:r>
              <a:rPr lang="en-AU" sz="1200">
                <a:solidFill>
                  <a:schemeClr val="bg1"/>
                </a:solidFill>
                <a:latin typeface="+mj-lt"/>
              </a:rPr>
              <a:t>(</a:t>
            </a:r>
            <a:r>
              <a:rPr lang="en-AU" sz="1200" err="1">
                <a:solidFill>
                  <a:schemeClr val="bg1"/>
                </a:solidFill>
                <a:latin typeface="+mj-lt"/>
              </a:rPr>
              <a:t>Cth</a:t>
            </a:r>
            <a:r>
              <a:rPr lang="en-AU" sz="1200">
                <a:solidFill>
                  <a:schemeClr val="bg1"/>
                </a:solidFill>
                <a:latin typeface="+mj-lt"/>
              </a:rPr>
              <a:t>). The department accepts no responsibility for content on third-party websites. </a:t>
            </a:r>
          </a:p>
        </p:txBody>
      </p:sp>
    </p:spTree>
    <p:extLst>
      <p:ext uri="{BB962C8B-B14F-4D97-AF65-F5344CB8AC3E}">
        <p14:creationId xmlns:p14="http://schemas.microsoft.com/office/powerpoint/2010/main" val="2819559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0129b06-f64b-40a8-96e2-c5b2f86112b1" xsi:nil="true"/>
    <lcf76f155ced4ddcb4097134ff3c332f xmlns="7e763d47-3c66-4c58-9425-1477fd3ccd1e">
      <Terms xmlns="http://schemas.microsoft.com/office/infopath/2007/PartnerControls"/>
    </lcf76f155ced4ddcb4097134ff3c332f>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D21AB0-71AB-4374-99EC-DB09C7EB3480}">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524F4DA-5415-43D4-8474-C9BE68919175}">
  <ds:schemaRefs>
    <ds:schemaRef ds:uri="http://www.w3.org/XML/1998/namespace"/>
    <ds:schemaRef ds:uri="http://schemas.openxmlformats.org/package/2006/metadata/core-properties"/>
    <ds:schemaRef ds:uri="60129b06-f64b-40a8-96e2-c5b2f86112b1"/>
    <ds:schemaRef ds:uri="http://purl.org/dc/terms/"/>
    <ds:schemaRef ds:uri="http://purl.org/dc/elements/1.1/"/>
    <ds:schemaRef ds:uri="7e763d47-3c66-4c58-9425-1477fd3ccd1e"/>
    <ds:schemaRef ds:uri="http://schemas.microsoft.com/office/2006/documentManagement/types"/>
    <ds:schemaRef ds:uri="http://schemas.microsoft.com/office/infopath/2007/PartnerControl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B9C68242-C972-4815-B4EF-36DAD899F7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1</TotalTime>
  <Words>6333</Words>
  <Application>Microsoft Office PowerPoint</Application>
  <PresentationFormat>Widescreen</PresentationFormat>
  <Paragraphs>807</Paragraphs>
  <Slides>69</Slides>
  <Notes>68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69</vt:i4>
      </vt:variant>
    </vt:vector>
  </HeadingPairs>
  <TitlesOfParts>
    <vt:vector size="81" baseType="lpstr">
      <vt:lpstr>Arial,Sans-Serif</vt:lpstr>
      <vt:lpstr>Montserrat</vt:lpstr>
      <vt:lpstr>Symbol</vt:lpstr>
      <vt:lpstr>Wingdings</vt:lpstr>
      <vt:lpstr>Public Sans Light</vt:lpstr>
      <vt:lpstr>Public Sans</vt:lpstr>
      <vt:lpstr>Cambria Math</vt:lpstr>
      <vt:lpstr>Calibri</vt:lpstr>
      <vt:lpstr>Courier New</vt:lpstr>
      <vt:lpstr>Times New Roman</vt:lpstr>
      <vt:lpstr>Arial</vt:lpstr>
      <vt:lpstr>NSWG Corporate</vt:lpstr>
      <vt:lpstr>Instructions for use</vt:lpstr>
      <vt:lpstr>Review of Learning </vt:lpstr>
      <vt:lpstr>Lessons</vt:lpstr>
      <vt:lpstr>Review of learning 1</vt:lpstr>
      <vt:lpstr>Multiple choice (1)</vt:lpstr>
      <vt:lpstr>Short response (1)</vt:lpstr>
      <vt:lpstr>Short response (2)</vt:lpstr>
      <vt:lpstr>Short response (3)</vt:lpstr>
      <vt:lpstr>Short response (4)</vt:lpstr>
      <vt:lpstr>Activity 1 – expanded form memory</vt:lpstr>
      <vt:lpstr>Review of learning  2</vt:lpstr>
      <vt:lpstr>True or false (1)</vt:lpstr>
      <vt:lpstr>Short response (5)</vt:lpstr>
      <vt:lpstr>Short response (5)</vt:lpstr>
      <vt:lpstr>Short response (7)</vt:lpstr>
      <vt:lpstr>Short response (8)</vt:lpstr>
      <vt:lpstr>Activity 2 – expanded form cards</vt:lpstr>
      <vt:lpstr>Review of learning 3</vt:lpstr>
      <vt:lpstr>Multiple choice (2) </vt:lpstr>
      <vt:lpstr>Short response (9)</vt:lpstr>
      <vt:lpstr>Short response (10)</vt:lpstr>
      <vt:lpstr>Short response (11)</vt:lpstr>
      <vt:lpstr>Short response (12)</vt:lpstr>
      <vt:lpstr>Activity 3 – renaming numbers </vt:lpstr>
      <vt:lpstr>Review of learning 4</vt:lpstr>
      <vt:lpstr>True or false (2)</vt:lpstr>
      <vt:lpstr>Short response (13)</vt:lpstr>
      <vt:lpstr>Short response (14)</vt:lpstr>
      <vt:lpstr>Short response (15) </vt:lpstr>
      <vt:lpstr>Short response (16)</vt:lpstr>
      <vt:lpstr>Activity 4 – number expander</vt:lpstr>
      <vt:lpstr>Review of learning 5</vt:lpstr>
      <vt:lpstr>Multiple choice (3)</vt:lpstr>
      <vt:lpstr>Short response (17)</vt:lpstr>
      <vt:lpstr>Short response (18) </vt:lpstr>
      <vt:lpstr>Short response (19) </vt:lpstr>
      <vt:lpstr>Short response (20)</vt:lpstr>
      <vt:lpstr>Activity 5 – blank number lines</vt:lpstr>
      <vt:lpstr>Review of learning 6</vt:lpstr>
      <vt:lpstr>True or false (3)</vt:lpstr>
      <vt:lpstr>Short response (21)</vt:lpstr>
      <vt:lpstr>Short response (22)</vt:lpstr>
      <vt:lpstr>Short response (23) </vt:lpstr>
      <vt:lpstr>Short response (24)</vt:lpstr>
      <vt:lpstr>Activity 6 – fraction line beyond 1</vt:lpstr>
      <vt:lpstr>Review of learning  7</vt:lpstr>
      <vt:lpstr>Multiple choice (4)</vt:lpstr>
      <vt:lpstr>Short response (25)</vt:lpstr>
      <vt:lpstr>Short response (26) </vt:lpstr>
      <vt:lpstr>Short response (27)</vt:lpstr>
      <vt:lpstr>Short response (28)</vt:lpstr>
      <vt:lpstr>Activity 7 – number line 0-2</vt:lpstr>
      <vt:lpstr>Review of learning 8</vt:lpstr>
      <vt:lpstr>True or false (4)</vt:lpstr>
      <vt:lpstr>Short response (29)</vt:lpstr>
      <vt:lpstr>Short response (30)</vt:lpstr>
      <vt:lpstr>Short response (31)</vt:lpstr>
      <vt:lpstr>Short response (32)</vt:lpstr>
      <vt:lpstr>Activity 8 – number line 0-3</vt:lpstr>
      <vt:lpstr>Double Venn diagram</vt:lpstr>
      <vt:lpstr>Frayer</vt:lpstr>
      <vt:lpstr>Spider map</vt:lpstr>
      <vt:lpstr>Cline</vt:lpstr>
      <vt:lpstr>Compare and contrast</vt:lpstr>
      <vt:lpstr>Multiple choice (5)</vt:lpstr>
      <vt:lpstr>Multiple choice (6)</vt:lpstr>
      <vt:lpstr>References (1)</vt:lpstr>
      <vt:lpstr>References (2)(2)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2</cp:revision>
  <dcterms:created xsi:type="dcterms:W3CDTF">2025-07-07T07:05:15Z</dcterms:created>
  <dcterms:modified xsi:type="dcterms:W3CDTF">2025-09-14T23:41:17Z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