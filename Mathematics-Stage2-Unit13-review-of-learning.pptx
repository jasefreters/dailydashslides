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7"/>
  </p:notesMasterIdLst>
  <p:handoutMasterIdLst>
    <p:handoutMasterId r:id="rId78"/>
  </p:handoutMasterIdLst>
  <p:sldIdLst>
    <p:sldId id="365" r:id="rId5"/>
    <p:sldId id="26505" r:id="rId6"/>
    <p:sldId id="26359" r:id="rId7"/>
    <p:sldId id="271" r:id="rId8"/>
    <p:sldId id="26646" r:id="rId9"/>
    <p:sldId id="358" r:id="rId10"/>
    <p:sldId id="26580" r:id="rId11"/>
    <p:sldId id="26581" r:id="rId12"/>
    <p:sldId id="26582" r:id="rId13"/>
    <p:sldId id="26576" r:id="rId14"/>
    <p:sldId id="26651" r:id="rId15"/>
    <p:sldId id="26652" r:id="rId16"/>
    <p:sldId id="26583" r:id="rId17"/>
    <p:sldId id="26586" r:id="rId18"/>
    <p:sldId id="26587" r:id="rId19"/>
    <p:sldId id="26588" r:id="rId20"/>
    <p:sldId id="26589" r:id="rId21"/>
    <p:sldId id="26590" r:id="rId22"/>
    <p:sldId id="26591" r:id="rId23"/>
    <p:sldId id="26592" r:id="rId24"/>
    <p:sldId id="26594" r:id="rId25"/>
    <p:sldId id="26596" r:id="rId26"/>
    <p:sldId id="26597" r:id="rId27"/>
    <p:sldId id="26598" r:id="rId28"/>
    <p:sldId id="26599" r:id="rId29"/>
    <p:sldId id="26600" r:id="rId30"/>
    <p:sldId id="26601" r:id="rId31"/>
    <p:sldId id="26604" r:id="rId32"/>
    <p:sldId id="26605" r:id="rId33"/>
    <p:sldId id="26606" r:id="rId34"/>
    <p:sldId id="26607" r:id="rId35"/>
    <p:sldId id="26608" r:id="rId36"/>
    <p:sldId id="26609" r:id="rId37"/>
    <p:sldId id="26650" r:id="rId38"/>
    <p:sldId id="26610" r:id="rId39"/>
    <p:sldId id="26611" r:id="rId40"/>
    <p:sldId id="26614" r:id="rId41"/>
    <p:sldId id="26615" r:id="rId42"/>
    <p:sldId id="26616" r:id="rId43"/>
    <p:sldId id="26617" r:id="rId44"/>
    <p:sldId id="26618" r:id="rId45"/>
    <p:sldId id="26619" r:id="rId46"/>
    <p:sldId id="26622" r:id="rId47"/>
    <p:sldId id="26623" r:id="rId48"/>
    <p:sldId id="26624" r:id="rId49"/>
    <p:sldId id="26625" r:id="rId50"/>
    <p:sldId id="26626" r:id="rId51"/>
    <p:sldId id="26627" r:id="rId52"/>
    <p:sldId id="26628" r:id="rId53"/>
    <p:sldId id="26648" r:id="rId54"/>
    <p:sldId id="26632" r:id="rId55"/>
    <p:sldId id="26633" r:id="rId56"/>
    <p:sldId id="26634" r:id="rId57"/>
    <p:sldId id="26635" r:id="rId58"/>
    <p:sldId id="26636" r:id="rId59"/>
    <p:sldId id="26637" r:id="rId60"/>
    <p:sldId id="26640" r:id="rId61"/>
    <p:sldId id="26641" r:id="rId62"/>
    <p:sldId id="26642" r:id="rId63"/>
    <p:sldId id="26643" r:id="rId64"/>
    <p:sldId id="26644" r:id="rId65"/>
    <p:sldId id="26645" r:id="rId66"/>
    <p:sldId id="26393" r:id="rId67"/>
    <p:sldId id="26387" r:id="rId68"/>
    <p:sldId id="26395" r:id="rId69"/>
    <p:sldId id="26391" r:id="rId70"/>
    <p:sldId id="26402" r:id="rId71"/>
    <p:sldId id="26507" r:id="rId72"/>
    <p:sldId id="26649" r:id="rId73"/>
    <p:sldId id="26654" r:id="rId74"/>
    <p:sldId id="26548" r:id="rId75"/>
    <p:sldId id="361" r:id="rId76"/>
  </p:sldIdLst>
  <p:sldSz cx="12192000" cy="6858000"/>
  <p:notesSz cx="6858000" cy="9144000"/>
  <p:embeddedFontLst>
    <p:embeddedFont>
      <p:font typeface="Aptos Narrow" panose="020B0004020202020204" pitchFamily="34" charset="0"/>
      <p:regular r:id="rId79"/>
      <p:bold r:id="rId80"/>
      <p:italic r:id="rId81"/>
      <p:boldItalic r:id="rId82"/>
    </p:embeddedFont>
    <p:embeddedFont>
      <p:font typeface="Montserrat" panose="00000500000000000000" pitchFamily="2" charset="0"/>
      <p:regular r:id="rId83"/>
      <p:bold r:id="rId84"/>
      <p:italic r:id="rId85"/>
      <p:boldItalic r:id="rId86"/>
    </p:embeddedFont>
    <p:embeddedFont>
      <p:font typeface="Public Sans" pitchFamily="2" charset="0"/>
      <p:regular r:id="rId87"/>
      <p:bold r:id="rId88"/>
      <p:italic r:id="rId89"/>
      <p:boldItalic r:id="rId90"/>
    </p:embeddedFont>
    <p:embeddedFont>
      <p:font typeface="Public Sans Light" pitchFamily="2" charset="0"/>
      <p:regular r:id="rId91"/>
      <p:italic r:id="rId92"/>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646"/>
            <p14:sldId id="358"/>
            <p14:sldId id="26580"/>
            <p14:sldId id="26581"/>
            <p14:sldId id="26582"/>
            <p14:sldId id="26576"/>
            <p14:sldId id="26651"/>
            <p14:sldId id="26652"/>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 id="26650"/>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26654"/>
            <p14:sldId id="26548"/>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4021882F-C6B3-C55E-767D-27181BD16F2B}" name="Melinda Ojeda" initials="" userId="S::Melinda.Ojeda@det.nsw.edu.au::d90aca96-824c-4874-b48e-bcce1db91155" providerId="AD"/>
  <p188:author id="{B36B902F-6F14-FDC8-5F7B-570CA3145C15}" name="Melinda Ojeda" initials="MO" userId="S::melinda.ojeda@det.nsw.edu.au::d90aca96-824c-4874-b48e-bcce1db91155" providerId="AD"/>
  <p188:author id="{8EAAFC52-5D86-6FE7-9D47-1FD3C7D0804D}" name="Lisa Kew" initials="LK" userId="S::LISA.JONES13@det.nsw.edu.au::687d7c21-e1c8-437d-b64b-4b01e8e7487e"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9AFF"/>
    <a:srgbClr val="FFFFFF"/>
    <a:srgbClr val="8C52FF"/>
    <a:srgbClr val="FCFCFC"/>
    <a:srgbClr val="B51458"/>
    <a:srgbClr val="427B2D"/>
    <a:srgbClr val="EA9B0C"/>
    <a:srgbClr val="007A8A"/>
    <a:srgbClr val="9B680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98" autoAdjust="0"/>
    <p:restoredTop sz="84375" autoAdjust="0"/>
  </p:normalViewPr>
  <p:slideViewPr>
    <p:cSldViewPr snapToGrid="0">
      <p:cViewPr varScale="1">
        <p:scale>
          <a:sx n="29" d="100"/>
          <a:sy n="29" d="100"/>
        </p:scale>
        <p:origin x="852" y="40"/>
      </p:cViewPr>
      <p:guideLst>
        <p:guide orient="horz" pos="2160"/>
        <p:guide pos="3863"/>
      </p:guideLst>
    </p:cSldViewPr>
  </p:slideViewPr>
  <p:outlineViewPr>
    <p:cViewPr>
      <p:scale>
        <a:sx n="33" d="100"/>
        <a:sy n="33" d="100"/>
      </p:scale>
      <p:origin x="0" y="-1104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5082" y="16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6.fntdata"/><Relationship Id="rId89" Type="http://schemas.openxmlformats.org/officeDocument/2006/relationships/font" Target="fonts/font11.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1.fntdata"/><Relationship Id="rId5" Type="http://schemas.openxmlformats.org/officeDocument/2006/relationships/slide" Target="slides/slide1.xml"/><Relationship Id="rId90" Type="http://schemas.openxmlformats.org/officeDocument/2006/relationships/font" Target="fonts/font12.fntdata"/><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font" Target="fonts/font13.fntdata"/><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handoutMaster" Target="handoutMasters/handoutMaster1.xml"/><Relationship Id="rId81" Type="http://schemas.openxmlformats.org/officeDocument/2006/relationships/font" Target="fonts/font3.fntdata"/><Relationship Id="rId86" Type="http://schemas.openxmlformats.org/officeDocument/2006/relationships/font" Target="fonts/font8.fntdata"/><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4.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9.fntdata"/><Relationship Id="rId61" Type="http://schemas.openxmlformats.org/officeDocument/2006/relationships/slide" Target="slides/slide57.xml"/><Relationship Id="rId82" Type="http://schemas.openxmlformats.org/officeDocument/2006/relationships/font" Target="fonts/font4.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22/06/2026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22/06/2026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2 Year A Unit 13</a:t>
            </a:r>
          </a:p>
          <a:p>
            <a:pPr marL="285750" indent="-285750">
              <a:buFont typeface="Arial" panose="020B0604020202020204" pitchFamily="34" charset="0"/>
              <a:buChar char="•"/>
            </a:pPr>
            <a:r>
              <a:rPr lang="en-AU" dirty="0"/>
              <a:t>Stage 2 Year A Unit 12</a:t>
            </a:r>
          </a:p>
          <a:p>
            <a:pPr marL="285750" indent="-285750">
              <a:buFont typeface="Arial" panose="020B0604020202020204" pitchFamily="34" charset="0"/>
              <a:buChar char="•"/>
            </a:pPr>
            <a:r>
              <a:rPr lang="en-AU" dirty="0"/>
              <a:t>Stage 2 Year A Unit 11</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titles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dirty="0">
                <a:highlight>
                  <a:srgbClr val="FFFF00"/>
                </a:highlight>
              </a:rPr>
              <a:t>Multiplicative relations A</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whole numbers A (Stage 1 content)</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Two-dimensional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Representing numbers using place value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Describing increasing and decreasing patterns</a:t>
            </a:r>
          </a:p>
          <a:p>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 Can you describe this pattern? </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 Which numbers come next in the pattern? (next slide)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Display the number pattern 28, 24, 20, 16, 12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the questions from step 2.</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that both patterns continue by a constant amount, but the first increases by 4 and the second decreases by 4. (next slide)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Display the following number patterns: </a:t>
            </a:r>
          </a:p>
          <a:p>
            <a:pPr lvl="0"/>
            <a:r>
              <a:rPr lang="en-AU" sz="1600" kern="1200" dirty="0">
                <a:solidFill>
                  <a:schemeClr val="tx1"/>
                </a:solidFill>
                <a:effectLst/>
                <a:latin typeface="Arial" panose="020B0604020202020204" pitchFamily="34" charset="0"/>
                <a:ea typeface="+mn-ea"/>
                <a:cs typeface="Arial" panose="020B0604020202020204" pitchFamily="34" charset="0"/>
              </a:rPr>
              <a:t>- 6, 11, 16, 21, 26 …</a:t>
            </a:r>
          </a:p>
          <a:p>
            <a:pPr lvl="0"/>
            <a:r>
              <a:rPr lang="en-AU" sz="1600" kern="1200" dirty="0">
                <a:solidFill>
                  <a:schemeClr val="tx1"/>
                </a:solidFill>
                <a:effectLst/>
                <a:latin typeface="Arial" panose="020B0604020202020204" pitchFamily="34" charset="0"/>
                <a:ea typeface="+mn-ea"/>
                <a:cs typeface="Arial" panose="020B0604020202020204" pitchFamily="34" charset="0"/>
              </a:rPr>
              <a:t>- 174, 164, 154, 144, 134 …</a:t>
            </a:r>
          </a:p>
          <a:p>
            <a:pPr lvl="0"/>
            <a:r>
              <a:rPr lang="en-AU" sz="1600" kern="1200" dirty="0">
                <a:solidFill>
                  <a:schemeClr val="tx1"/>
                </a:solidFill>
                <a:effectLst/>
                <a:latin typeface="Arial" panose="020B0604020202020204" pitchFamily="34" charset="0"/>
                <a:ea typeface="+mn-ea"/>
                <a:cs typeface="Arial" panose="020B0604020202020204" pitchFamily="34" charset="0"/>
              </a:rPr>
              <a:t>- 3, 7, 11, 15, 19, 23 …</a:t>
            </a:r>
          </a:p>
          <a:p>
            <a:pPr lvl="0"/>
            <a:r>
              <a:rPr lang="en-AU" sz="1600" kern="1200" dirty="0">
                <a:solidFill>
                  <a:schemeClr val="tx1"/>
                </a:solidFill>
                <a:effectLst/>
                <a:latin typeface="Arial" panose="020B0604020202020204" pitchFamily="34" charset="0"/>
                <a:ea typeface="+mn-ea"/>
                <a:cs typeface="Arial" panose="020B0604020202020204" pitchFamily="34" charset="0"/>
              </a:rPr>
              <a:t>- 67, 62, 57, 52, 47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discuss each pattern. Students determine the amount by which each pattern is increasing or decreasing.</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continue the number patterns and record the next 5 values on whiteboards.</a:t>
            </a:r>
          </a:p>
          <a:p>
            <a:pPr marL="0" lvl="0" indent="0">
              <a:buFont typeface="Arial" panose="020B0604020202020204" pitchFamily="34" charset="0"/>
              <a:buNone/>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lvl="0" indent="0">
              <a:buFont typeface="Arial" panose="020B0604020202020204" pitchFamily="34" charset="0"/>
              <a:buNone/>
            </a:pPr>
            <a:endParaRPr lang="en-AU" sz="1600" kern="1200" dirty="0">
              <a:solidFill>
                <a:schemeClr val="tx1"/>
              </a:solidFill>
              <a:effectLst/>
              <a:latin typeface="Arial" panose="020B0604020202020204" pitchFamily="34" charset="0"/>
              <a:ea typeface="+mn-ea"/>
              <a:cs typeface="Arial" panose="020B0604020202020204" pitchFamily="34" charset="0"/>
            </a:endParaRPr>
          </a:p>
          <a:p>
            <a:endParaRPr lang="en-AU" dirty="0"/>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41B1B-6C06-774F-45BA-8598449F73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73471-D209-7137-9DD0-92FC7287FC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F15DC-F062-6B88-2DA6-A6F35D36645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Describing increasing and decreasing patterns</a:t>
            </a:r>
          </a:p>
          <a:p>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 Can you describe this pattern? </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 Which numbers come next in the pattern?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that the pattern both patterns continue by a constant amount but the first increases by 4, and the second decreases by 4. (next slide)</a:t>
            </a:r>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C1B7091D-2C49-C191-D224-1BDAA7C79C67}"/>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1525734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9AE37-4FA8-6EB9-F122-A9BC19828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293A2-B05D-F197-042A-321A88424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14C842-3CE6-4E31-04A6-6527E6BCB767}"/>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Describing increasing and decreasing patterns</a:t>
            </a:r>
          </a:p>
          <a:p>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discuss each pattern. Students determine the amount by which each pattern is increasing or decreasing.</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continue the number patterns and record the next 5 values on individual whiteboards.</a:t>
            </a:r>
          </a:p>
          <a:p>
            <a:pPr marL="285750" indent="-285750">
              <a:buFont typeface="Arial" panose="020B0604020202020204" pitchFamily="34" charset="0"/>
              <a:buChar char="•"/>
            </a:pPr>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B4D8F8DC-D298-F5B0-81A4-47AFC8D51E6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10829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dirty="0"/>
              <a:t>Multiplicative relations A</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b="1" dirty="0"/>
              <a:t>Note: </a:t>
            </a:r>
            <a:r>
              <a:rPr lang="en-AU" b="0" dirty="0"/>
              <a:t>this slide is designed to be viewed in presentation mode.</a:t>
            </a:r>
            <a:endParaRPr lang="en-AU" b="1" dirty="0"/>
          </a:p>
          <a:p>
            <a:endParaRPr lang="en-AU" dirty="0"/>
          </a:p>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Two-dimensional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Representing numbers using place value B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a:t>
            </a:r>
            <a:endParaRPr lang="en-AU" sz="1600" b="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Continuing a pattern</a:t>
            </a:r>
          </a:p>
          <a:p>
            <a:endParaRPr lang="en-AU" b="1" dirty="0"/>
          </a:p>
          <a:p>
            <a:r>
              <a:rPr lang="en-AU" b="0" dirty="0"/>
              <a:t>This resource corresponds to Resource 16 – What comes next? in Stage 2 Year A Unit 13. </a:t>
            </a:r>
          </a:p>
          <a:p>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look for a pattern. They turn and talk to a partner to describe what they can see.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 If this is a pattern, can you describe it? </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 Based on what you can see, can you predict what comes next?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record their ideas on individual whiteboards using diagrams, numbers and symbols.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their ideas, providing reasoning to support their response.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Challenge students: </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 If we know that the first picture is step one, how many steps will it take to make a number over 30? </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 How many steps will it take to make the number 66?</a:t>
            </a:r>
            <a:endParaRPr lang="en-AU" b="0" dirty="0"/>
          </a:p>
          <a:p>
            <a:pPr marL="285750" indent="-285750">
              <a:buFont typeface="Arial" panose="020B0604020202020204" pitchFamily="34" charset="0"/>
              <a:buChar char="•"/>
            </a:pPr>
            <a:endParaRPr lang="en-AU" b="1" dirty="0"/>
          </a:p>
          <a:p>
            <a:pPr marL="342900" indent="-342900">
              <a:buFont typeface="Arial" panose="020B0604020202020204" pitchFamily="34" charset="0"/>
              <a:buChar char="•"/>
            </a:pPr>
            <a:endParaRPr lang="en-AU" dirty="0"/>
          </a:p>
          <a:p>
            <a:endParaRPr lang="en-AU" dirty="0"/>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dirty="0">
                <a:highlight>
                  <a:srgbClr val="FFFF00"/>
                </a:highlight>
              </a:rPr>
              <a:t>Multiplicative relations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Two-dimensional spatial structure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Representing numbers using place value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a:t>
            </a:r>
            <a:endParaRPr lang="en-AU" sz="1600" b="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Target number – number patterns and multiples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‘Counting game (by multiples of 5)’ from Thinking mathematically resources by State of New South Wales (Department of Education).</a:t>
            </a:r>
          </a:p>
          <a:p>
            <a:endParaRPr lang="en-AU" b="0" dirty="0"/>
          </a:p>
          <a:p>
            <a:r>
              <a:rPr lang="en-AU" b="0" dirty="0"/>
              <a:t>This figure corresponds to Figure 8 – example recording of target number in Stage 2 Year A Unit 13. </a:t>
            </a:r>
          </a:p>
          <a:p>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pairs, students choose a target number that is a multiple of 5.</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how they know that the target number is a multiple of 5. For example, any number that ends in zero or 5 is a multiple of 5.</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that the object of the game is to be the person who says the target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Players take turns to count on by saying the next one, 2 or 3 number words in the fives sequence.</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Pairs record the target number and the number words each turn. For example, see Figure 8 </a:t>
            </a:r>
            <a:r>
              <a:rPr lang="en-AU" b="0" dirty="0"/>
              <a:t>– example recording of target number in Stage 2 Year A Unit 13</a:t>
            </a:r>
            <a:r>
              <a:rPr lang="en-AU" sz="1600" kern="1200" dirty="0">
                <a:solidFill>
                  <a:schemeClr val="tx1"/>
                </a:solidFill>
                <a:effectLst/>
                <a:latin typeface="Arial" panose="020B0604020202020204" pitchFamily="34" charset="0"/>
                <a:ea typeface="+mn-ea"/>
                <a:cs typeface="Arial" panose="020B0604020202020204" pitchFamily="34" charset="0"/>
              </a:rPr>
              <a:t>.</a:t>
            </a:r>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 player who says the target number receives a point.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choose a new target number and play the game again.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 game may be varied by starting at the target number and counting backwards to zero or by choosing a different multiple.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Reflect on the activity, asking questions such as:</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Did you prefer going first or second? Why?</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What strategy did you use? How successful was it and why?</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Looking back on the games that you played, can you see any ways that one player could change their moves to win?</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How could you make the game easier or harder?</a:t>
            </a:r>
          </a:p>
          <a:p>
            <a:pPr marL="342900" indent="-342900">
              <a:buFont typeface="Arial" panose="020B0604020202020204" pitchFamily="34" charset="0"/>
              <a:buChar char="•"/>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dirty="0"/>
              <a:t>Multiplicative relations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Two-dimensional spatial structure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Representing numbers using place value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a:t>
            </a:r>
            <a:endParaRPr lang="en-AU" sz="1600" b="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Patterns of multiples</a:t>
            </a:r>
          </a:p>
          <a:p>
            <a:r>
              <a:rPr lang="en-AU" b="0" dirty="0"/>
              <a:t>This resource corresponds to Resource 17 – multiplicative tables in Stage 2 Year A Unit 13. </a:t>
            </a:r>
          </a:p>
          <a:p>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What is the multiplicative relationship between the number pairs?</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What number would be in the place of the question mark? How did you work it out?</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What other number pairs belong in the table? (next slide)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students with </a:t>
            </a:r>
            <a:r>
              <a:rPr lang="en-AU" b="0" dirty="0"/>
              <a:t>Resource 17 – multiplicative tables</a:t>
            </a:r>
            <a:r>
              <a:rPr lang="en-AU" sz="1600" kern="1200" dirty="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determine the multiplicative relationship between the number pairs in the remaining tables.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complete each table.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Regroup and share responses. Ask:</a:t>
            </a:r>
          </a:p>
          <a:p>
            <a:pPr lvl="0"/>
            <a:r>
              <a:rPr lang="en-AU" sz="1600" kern="1200" dirty="0">
                <a:solidFill>
                  <a:schemeClr val="tx1"/>
                </a:solidFill>
                <a:effectLst/>
                <a:latin typeface="Arial" panose="020B0604020202020204" pitchFamily="34" charset="0"/>
                <a:ea typeface="+mn-ea"/>
                <a:cs typeface="Arial" panose="020B0604020202020204" pitchFamily="34" charset="0"/>
              </a:rPr>
              <a:t>- What is the multiplicative relationship between the number pairs in the remaining tables?</a:t>
            </a:r>
          </a:p>
          <a:p>
            <a:pPr lvl="0"/>
            <a:r>
              <a:rPr lang="en-AU" sz="1600" kern="1200" dirty="0">
                <a:solidFill>
                  <a:schemeClr val="tx1"/>
                </a:solidFill>
                <a:effectLst/>
                <a:latin typeface="Arial" panose="020B0604020202020204" pitchFamily="34" charset="0"/>
                <a:ea typeface="+mn-ea"/>
                <a:cs typeface="Arial" panose="020B0604020202020204" pitchFamily="34" charset="0"/>
              </a:rPr>
              <a:t>- Which numbers did you add to the tables?</a:t>
            </a:r>
          </a:p>
          <a:p>
            <a:pPr lvl="0"/>
            <a:r>
              <a:rPr lang="en-AU" sz="1600" kern="1200" dirty="0">
                <a:solidFill>
                  <a:schemeClr val="tx1"/>
                </a:solidFill>
                <a:effectLst/>
                <a:latin typeface="Arial" panose="020B0604020202020204" pitchFamily="34" charset="0"/>
                <a:ea typeface="+mn-ea"/>
                <a:cs typeface="Arial" panose="020B0604020202020204" pitchFamily="34" charset="0"/>
              </a:rPr>
              <a:t>- What other number pairs belong to each table? Justify your response.</a:t>
            </a:r>
          </a:p>
          <a:p>
            <a:pPr lvl="0"/>
            <a:r>
              <a:rPr lang="en-AU" sz="1600" kern="1200" dirty="0">
                <a:solidFill>
                  <a:schemeClr val="tx1"/>
                </a:solidFill>
                <a:effectLst/>
                <a:latin typeface="Arial" panose="020B0604020202020204" pitchFamily="34" charset="0"/>
                <a:ea typeface="+mn-ea"/>
                <a:cs typeface="Arial" panose="020B0604020202020204" pitchFamily="34" charset="0"/>
              </a:rPr>
              <a:t>- Can the numbers 33, 45, 57 be added to the bottom row of the second table? Why or why not?</a:t>
            </a:r>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54B0A-BB8E-D18D-17E0-DD611EA45A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36CC2-B5B2-83C0-D6B6-016D3F8AF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28690-BF68-A579-33C9-567C098B0A7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Patterns of multiples</a:t>
            </a:r>
          </a:p>
          <a:p>
            <a:r>
              <a:rPr lang="en-AU" b="0" dirty="0"/>
              <a:t>This resource corresponds to Resource 17 – multiplicative tables in Stage 2 Year A Unit 13. </a:t>
            </a:r>
          </a:p>
          <a:p>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students with Resource 17 – multiplicative tables.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determine the multiplicative relationship between the number pairs in the remaining tables.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complete each table.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Regroup and share responses. Ask:</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What is the multiplicative relationship between the number pairs in the remaining tables?</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Which numbers did you add to the tables?</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What other number pairs belong to each table? Justify your response.</a:t>
            </a:r>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CA51B29-8F22-7062-F38E-1635C7883AD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42267288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Representing numbers using place value B</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Two-dimensional spatial structure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numbers using place value B</a:t>
            </a:r>
          </a:p>
          <a:p>
            <a:endParaRPr lang="en-AU" b="1" dirty="0"/>
          </a:p>
          <a:p>
            <a:r>
              <a:rPr lang="en-AU" b="1" dirty="0"/>
              <a:t>Rearranging digits and ordering numbers</a:t>
            </a:r>
          </a:p>
          <a:p>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Prompt students to use the digits to create a 4-digit number. Students record their number on an individual whiteboard.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their numbers and record them on the board.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Discuss how the placement of the digits changes the size of the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Prompt students to rearrange the digits to record the largest possible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How did you decide where to place each digit?</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Which digit did you place in the thousands place? Why?</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What strategy helped you make the largest possible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Prompt students to rearrange the digits to record the smallest possible number. Repeat the questions from step 6.</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Prompt students to record a number:</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between 3000 and 4000</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larger than 8000</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smaller than 6000</a:t>
            </a:r>
          </a:p>
          <a:p>
            <a:pPr marL="285750" lvl="0" indent="-285750">
              <a:buFontTx/>
              <a:buChar char="-"/>
            </a:pPr>
            <a:r>
              <a:rPr lang="en-AU" sz="1600" kern="1200" dirty="0">
                <a:solidFill>
                  <a:schemeClr val="tx1"/>
                </a:solidFill>
                <a:effectLst/>
                <a:latin typeface="Arial" panose="020B0604020202020204" pitchFamily="34" charset="0"/>
                <a:ea typeface="+mn-ea"/>
                <a:cs typeface="Arial" panose="020B0604020202020204" pitchFamily="34" charset="0"/>
              </a:rPr>
              <a:t>with the 0 digit in the hundreds place.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providing feedback on whether the responses fit the relevant criteria.</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Instruct students to arrange all their recorded numbers in ascending order.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justify the ordering of their numbers.</a:t>
            </a:r>
          </a:p>
          <a:p>
            <a:pPr marL="285750" lvl="0" indent="-285750">
              <a:buFontTx/>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dirty="0"/>
              <a:t>Representing numbers using place value B</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b="1" dirty="0"/>
              <a:t>Note: </a:t>
            </a:r>
            <a:r>
              <a:rPr lang="en-AU" b="0" dirty="0"/>
              <a:t>This slide has been designed to be viewed in presentation mode.</a:t>
            </a:r>
            <a:endParaRPr lang="en-AU" b="1" dirty="0"/>
          </a:p>
          <a:p>
            <a:endParaRPr lang="en-AU" dirty="0"/>
          </a:p>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Two-dimensional spatial structure A </a:t>
            </a:r>
            <a:br>
              <a:rPr lang="en-AU" sz="1600" b="0" i="0" u="none" strike="noStrike" dirty="0">
                <a:solidFill>
                  <a:srgbClr val="000000"/>
                </a:solidFill>
                <a:effectLst/>
                <a:latin typeface="Aptos Narrow" panose="020B0004020202020204" pitchFamily="34" charset="0"/>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numbers using place value B</a:t>
            </a:r>
          </a:p>
          <a:p>
            <a:endParaRPr lang="en-AU" dirty="0"/>
          </a:p>
          <a:p>
            <a:r>
              <a:rPr lang="en-AU" b="1" dirty="0"/>
              <a:t>Place value game</a:t>
            </a:r>
          </a:p>
          <a:p>
            <a:r>
              <a:rPr lang="en-AU" b="0" dirty="0"/>
              <a:t>This resource corresponds to Resource 18 – place value game in Stage 2 Year A Unit 13. </a:t>
            </a:r>
          </a:p>
          <a:p>
            <a:endParaRPr lang="en-AU" b="0" dirty="0"/>
          </a:p>
          <a:p>
            <a:pPr marL="285750" indent="-285750">
              <a:buFont typeface="Arial" panose="020B0604020202020204" pitchFamily="34" charset="0"/>
              <a:buChar char="•"/>
            </a:pPr>
            <a:r>
              <a:rPr lang="en-AU" b="0" dirty="0"/>
              <a:t>Explain the aim of the game is to position 4-digit numbers in sequence on the gameboard.</a:t>
            </a:r>
          </a:p>
          <a:p>
            <a:pPr marL="285750" indent="-285750">
              <a:buFont typeface="Arial" panose="020B0604020202020204" pitchFamily="34" charset="0"/>
              <a:buChar char="•"/>
            </a:pPr>
            <a:r>
              <a:rPr lang="en-AU" b="0" dirty="0"/>
              <a:t>Provide pairs with four 10-sided dice and Resource 18 – place value game.</a:t>
            </a:r>
          </a:p>
          <a:p>
            <a:pPr marL="285750" indent="-285750">
              <a:buFont typeface="Arial" panose="020B0604020202020204" pitchFamily="34" charset="0"/>
              <a:buChar char="•"/>
            </a:pPr>
            <a:r>
              <a:rPr lang="en-AU" b="0" dirty="0"/>
              <a:t>Students roll the dice and create a 4-digit number. For example, 4, 6, 9 and zero could be recorded as 4609, 6490 or 9604. Players record their chosen number in the most appropriate position between 100 and 9999</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If numbers cannot be placed, students miss their turn. Play continues until all boxes are filled.</a:t>
            </a: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the game can also be played as whole class. Use dice that have a zero as it is important to understand that the zero is a placeholder and does not have a value. Using a reusable sleeve for the gameboard will allow students to play multiple games.</a:t>
            </a:r>
          </a:p>
          <a:p>
            <a:pPr marL="285750" indent="-285750">
              <a:buFont typeface="Arial" panose="020B0604020202020204" pitchFamily="34" charset="0"/>
              <a:buChar char="•"/>
            </a:pPr>
            <a:endParaRPr lang="en-AU" b="0" dirty="0"/>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dirty="0">
                <a:highlight>
                  <a:srgbClr val="FFFF00"/>
                </a:highlight>
              </a:rPr>
              <a:t>Representing numbers using place value B</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Two-dimensional spatial structure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B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Three-dimensional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b="1" dirty="0"/>
              <a:t>Note:</a:t>
            </a:r>
            <a:r>
              <a:rPr lang="en-AU" b="0" dirty="0"/>
              <a:t> this slide is designed to be viewed in presentation mode.</a:t>
            </a:r>
            <a:endParaRPr lang="en-AU" b="1" dirty="0"/>
          </a:p>
          <a:p>
            <a:endParaRPr lang="en-AU" dirty="0"/>
          </a:p>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numbers using place value B</a:t>
            </a:r>
          </a:p>
          <a:p>
            <a:endParaRPr lang="en-AU" dirty="0"/>
          </a:p>
          <a:p>
            <a:r>
              <a:rPr lang="en-AU" b="1" dirty="0"/>
              <a:t>Hat trick – arranging digits to order in the thousands</a:t>
            </a:r>
          </a:p>
          <a:p>
            <a:r>
              <a:rPr lang="en-AU" b="0" dirty="0"/>
              <a:t>This image corresponds to Figure 10 – hat trick example in Stage 2 Year A Unit 13. </a:t>
            </a:r>
          </a:p>
          <a:p>
            <a:endParaRPr lang="en-AU" b="0" dirty="0"/>
          </a:p>
          <a:p>
            <a:r>
              <a:rPr lang="en-AU" b="0" dirty="0"/>
              <a:t>This activity is an adaptation of ‘Double hat-trick‘ by James Russo.</a:t>
            </a:r>
          </a:p>
          <a:p>
            <a:endParaRPr lang="en-AU" b="0" dirty="0"/>
          </a:p>
          <a:p>
            <a:pPr marL="285750" indent="-285750">
              <a:buFont typeface="Arial" panose="020B0604020202020204" pitchFamily="34" charset="0"/>
              <a:buChar char="•"/>
            </a:pPr>
            <a:r>
              <a:rPr lang="en-AU" b="0" dirty="0"/>
              <a:t>Separate the class into two teams.</a:t>
            </a:r>
          </a:p>
          <a:p>
            <a:pPr marL="285750" indent="-285750">
              <a:buFont typeface="Arial" panose="020B0604020202020204" pitchFamily="34" charset="0"/>
              <a:buChar char="•"/>
            </a:pPr>
            <a:r>
              <a:rPr lang="en-AU" b="0" dirty="0"/>
              <a:t>Draw a 5000 - 10 000 number line with thousands marked at equal intervals on the board (see Figure 10 – hat trick example in Stage 2 Year A Unit 13).</a:t>
            </a:r>
          </a:p>
          <a:p>
            <a:pPr marL="285750" indent="-285750">
              <a:buFont typeface="Arial" panose="020B0604020202020204" pitchFamily="34" charset="0"/>
              <a:buChar char="•"/>
            </a:pPr>
            <a:r>
              <a:rPr lang="en-AU" b="0" dirty="0"/>
              <a:t>Explain that the goal of the game is for a team to place four of their numbers in a row on the number-line without the other team interrupting their sequence.</a:t>
            </a:r>
          </a:p>
          <a:p>
            <a:pPr marL="285750" indent="-285750">
              <a:buFont typeface="Arial" panose="020B0604020202020204" pitchFamily="34" charset="0"/>
              <a:buChar char="•"/>
            </a:pPr>
            <a:r>
              <a:rPr lang="en-AU" b="0" dirty="0"/>
              <a:t>Select a representative from Team A to roll four 10-sided dice. </a:t>
            </a:r>
          </a:p>
          <a:p>
            <a:pPr marL="285750" indent="-285750">
              <a:buFont typeface="Arial" panose="020B0604020202020204" pitchFamily="34" charset="0"/>
              <a:buChar char="•"/>
            </a:pPr>
            <a:r>
              <a:rPr lang="en-AU" b="0" dirty="0"/>
              <a:t>Team A discuss how to arrange the digits to form a 4-digit numbers. Team A place the number above the number line.</a:t>
            </a:r>
          </a:p>
          <a:p>
            <a:pPr marL="285750" indent="-285750">
              <a:buFont typeface="Arial" panose="020B0604020202020204" pitchFamily="34" charset="0"/>
              <a:buChar char="•"/>
            </a:pPr>
            <a:r>
              <a:rPr lang="en-AU" b="0" dirty="0"/>
              <a:t>Team B repeats the above steps but places the number below the number line.</a:t>
            </a:r>
          </a:p>
          <a:p>
            <a:pPr marL="285750" indent="-285750">
              <a:buFont typeface="Arial" panose="020B0604020202020204" pitchFamily="34" charset="0"/>
              <a:buChar char="•"/>
            </a:pPr>
            <a:r>
              <a:rPr lang="en-AU" b="0" dirty="0"/>
              <a:t>Play continue until one team gets 4 numbers in a row and wins the game.</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dirty="0"/>
              <a:t>Representing numbers using place value B</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Two-dimensional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u="none" strike="noStrike" dirty="0">
                <a:solidFill>
                  <a:srgbClr val="000000"/>
                </a:solidFill>
                <a:effectLst/>
                <a:latin typeface="Aptos Narrow" panose="020B0004020202020204" pitchFamily="34" charset="0"/>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Three-dimensional spatial structure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numbers using place value B</a:t>
            </a:r>
          </a:p>
          <a:p>
            <a:endParaRPr lang="en-AU" dirty="0"/>
          </a:p>
          <a:p>
            <a:r>
              <a:rPr lang="en-AU" b="1" dirty="0"/>
              <a:t>Ordering numbers misconception</a:t>
            </a:r>
          </a:p>
          <a:p>
            <a:r>
              <a:rPr lang="en-AU" b="0" dirty="0"/>
              <a:t>This resource corresponds to Resource 19 – ordering numbers misconception in Stage 2 Year A Unit 13. </a:t>
            </a:r>
          </a:p>
          <a:p>
            <a:pPr marL="285750" indent="-285750">
              <a:buFont typeface="Arial" panose="020B0604020202020204" pitchFamily="34" charset="0"/>
              <a:buChar char="•"/>
            </a:pPr>
            <a:endParaRPr lang="en-AU" b="0" dirty="0"/>
          </a:p>
          <a:p>
            <a:pPr marL="285750" indent="-285750">
              <a:buFont typeface="Arial" panose="020B0604020202020204" pitchFamily="34" charset="0"/>
              <a:buChar char="•"/>
            </a:pPr>
            <a:r>
              <a:rPr lang="en-AU" b="0" dirty="0"/>
              <a:t>Explain to students that Daisy has been given 6 numbers to order. She was asked to place them in ascending order.</a:t>
            </a:r>
          </a:p>
          <a:p>
            <a:pPr marL="285750" indent="-285750">
              <a:buFont typeface="Arial" panose="020B0604020202020204" pitchFamily="34" charset="0"/>
              <a:buChar char="•"/>
            </a:pPr>
            <a:r>
              <a:rPr lang="en-AU" b="0" dirty="0"/>
              <a:t>Ask students:</a:t>
            </a:r>
          </a:p>
          <a:p>
            <a:pPr marL="285750" indent="-285750">
              <a:buFontTx/>
              <a:buChar char="-"/>
            </a:pPr>
            <a:r>
              <a:rPr lang="en-AU" b="0" dirty="0"/>
              <a:t>Has Daisy placed the numbers in the correct order? Why or why not?</a:t>
            </a:r>
          </a:p>
          <a:p>
            <a:pPr marL="285750" indent="-285750">
              <a:buFontTx/>
              <a:buChar char="-"/>
            </a:pPr>
            <a:r>
              <a:rPr lang="en-AU" b="0" dirty="0"/>
              <a:t>What misconceptions has Daisy made?</a:t>
            </a:r>
          </a:p>
          <a:p>
            <a:pPr marL="285750" indent="-285750">
              <a:buFont typeface="Arial" panose="020B0604020202020204" pitchFamily="34" charset="0"/>
              <a:buChar char="•"/>
            </a:pPr>
            <a:r>
              <a:rPr lang="en-AU" b="0" dirty="0"/>
              <a:t>Students correctly place the numbers in ascending order and explain their thinking.</a:t>
            </a:r>
          </a:p>
          <a:p>
            <a:pPr marL="285750" indent="-285750">
              <a:buFont typeface="Arial" panose="020B0604020202020204" pitchFamily="34" charset="0"/>
              <a:buChar char="•"/>
            </a:pPr>
            <a:r>
              <a:rPr lang="en-AU" b="0" dirty="0"/>
              <a:t>Discuss: What was similar or different to your order, compared to Daisy’s order?</a:t>
            </a:r>
          </a:p>
          <a:p>
            <a:r>
              <a:rPr lang="en-AU" b="0" dirty="0"/>
              <a:t> </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dirty="0"/>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dirty="0"/>
              <a:t>Presenter name</a:t>
            </a:r>
            <a:endParaRPr lang="en-AU" dirty="0"/>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dirty="0"/>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dirty="0"/>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dirty="0"/>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dirty="0"/>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dirty="0"/>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dirty="0"/>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dirty="0"/>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dirty="0"/>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dirty="0"/>
              <a:t>References</a:t>
            </a:r>
            <a:endParaRPr lang="en-AU" dirty="0"/>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dirty="0"/>
              <a:t>References (x)</a:t>
            </a:r>
            <a:endParaRPr lang="en-AU" dirty="0"/>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dirty="0"/>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endParaRPr kumimoji="0" lang="en-US" sz="1800" b="0" i="0" u="none" strike="noStrike" kern="1200" cap="none" spc="0" normalizeH="0" baseline="0" noProof="0" dirty="0">
              <a:ln>
                <a:noFill/>
              </a:ln>
              <a:solidFill>
                <a:srgbClr val="22272B"/>
              </a:solidFill>
              <a:effectLst/>
              <a:uLnTx/>
              <a:uFillTx/>
              <a:latin typeface="Public Sans Light"/>
              <a:ea typeface="+mn-ea"/>
              <a:cs typeface="+mn-cs"/>
            </a:endParaRP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2.xml"/><Relationship Id="rId3" Type="http://schemas.openxmlformats.org/officeDocument/2006/relationships/slide" Target="slide4.xml"/><Relationship Id="rId7" Type="http://schemas.openxmlformats.org/officeDocument/2006/relationships/slide" Target="slide35.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7.xml"/><Relationship Id="rId5" Type="http://schemas.openxmlformats.org/officeDocument/2006/relationships/slide" Target="slide20.xml"/><Relationship Id="rId10" Type="http://schemas.openxmlformats.org/officeDocument/2006/relationships/slide" Target="slide56.xml"/><Relationship Id="rId4" Type="http://schemas.openxmlformats.org/officeDocument/2006/relationships/slide" Target="slide13.xml"/><Relationship Id="rId9" Type="http://schemas.openxmlformats.org/officeDocument/2006/relationships/slide" Target="slide4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41.sv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2.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7.xml"/><Relationship Id="rId1" Type="http://schemas.openxmlformats.org/officeDocument/2006/relationships/slideLayout" Target="../slideLayouts/slideLayout11.xml"/><Relationship Id="rId5" Type="http://schemas.openxmlformats.org/officeDocument/2006/relationships/image" Target="../media/image45.svg"/><Relationship Id="rId4" Type="http://schemas.openxmlformats.org/officeDocument/2006/relationships/slide" Target="slide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hyperlink" Target="https://www.openmiddle.com/multiply-and-divide-within-a-hundred-1/" TargetMode="External"/><Relationship Id="rId3" Type="http://schemas.openxmlformats.org/officeDocument/2006/relationships/hyperlink" Target="https://educationstandards.nsw.edu.au/wps/portal/nesa/home" TargetMode="External"/><Relationship Id="rId7" Type="http://schemas.openxmlformats.org/officeDocument/2006/relationships/hyperlink" Target="http://www.australiancurriculum.edu.au/"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education.nsw.gov.au/teaching-and-learning/curriculum/literacy-and-numeracy/resources-for-schools/learning-progressions" TargetMode="External"/><Relationship Id="rId5" Type="http://schemas.openxmlformats.org/officeDocument/2006/relationships/hyperlink" Target="https://curriculum.nsw.edu.au/learning-areas/mathematics/mathematics-k-10-2022/overview" TargetMode="External"/><Relationship Id="rId4" Type="http://schemas.openxmlformats.org/officeDocument/2006/relationships/hyperlink" Target="https://curriculum.nsw.edu.au/"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educationstandards.nsw.edu.au/wps/portal/nesa/home"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5" Type="http://schemas.openxmlformats.org/officeDocument/2006/relationships/hyperlink" Target="https://education.nsw.gov.au/teaching-and-learning/curriculum/mathematics/mathematics-curriculum-resources-k-12/thinking-mathematically-resources/mathematics-s2-counting-game-by-multiples-of-5" TargetMode="External"/><Relationship Id="rId4" Type="http://schemas.openxmlformats.org/officeDocument/2006/relationships/hyperlink" Target="https://curriculum.nsw.edu.au/"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dirty="0">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ea typeface="+mn-lt"/>
                <a:cs typeface="+mn-lt"/>
              </a:rPr>
              <a:t>This resource aligns to the learning in Stage 2 Year A Unit 13 and revisits content from earlier sample units.</a:t>
            </a:r>
            <a:endParaRPr lang="en-AU" sz="1800">
              <a:solidFill>
                <a:srgbClr val="22272B"/>
              </a:solidFill>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dirty="0">
                <a:effectLst/>
                <a:latin typeface="+mj-lt"/>
                <a:ea typeface="Times New Roman" panose="02020603050405020304" pitchFamily="18" charset="0"/>
              </a:rPr>
              <a:t>Review of Learning</a:t>
            </a:r>
            <a:endParaRPr lang="en-AU" dirty="0">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dirty="0">
                <a:latin typeface="+mj-lt"/>
              </a:rPr>
              <a:t>Mathematics Stage 2 – Unit 13</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dirty="0">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3" action="ppaction://hlinksldjump"/>
                </a:rPr>
                <a:t>Review of learning </a:t>
              </a:r>
              <a:r>
                <a:rPr lang="en-AU" dirty="0">
                  <a:solidFill>
                    <a:schemeClr val="accent1"/>
                  </a:solidFill>
                  <a:latin typeface="+mj-lt"/>
                  <a:hlinkClick r:id="rId3" action="ppaction://hlinksldjump"/>
                </a:rPr>
                <a:t>1</a:t>
              </a:r>
              <a:endParaRPr lang="en-AU" dirty="0">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4" action="ppaction://hlinksldjump"/>
                </a:rPr>
                <a:t>Review of learning </a:t>
              </a:r>
              <a:r>
                <a:rPr lang="en-AU" dirty="0">
                  <a:solidFill>
                    <a:schemeClr val="accent1"/>
                  </a:solidFill>
                  <a:latin typeface="+mj-lt"/>
                  <a:hlinkClick r:id="rId4" action="ppaction://hlinksldjump"/>
                </a:rPr>
                <a:t>2</a:t>
              </a:r>
              <a:endParaRPr lang="en-AU" dirty="0">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5" action="ppaction://hlinksldjump"/>
                </a:rPr>
                <a:t>Review of learning </a:t>
              </a:r>
              <a:r>
                <a:rPr lang="en-AU" dirty="0">
                  <a:solidFill>
                    <a:schemeClr val="accent1"/>
                  </a:solidFill>
                  <a:latin typeface="+mj-lt"/>
                  <a:hlinkClick r:id="rId5" action="ppaction://hlinksldjump"/>
                </a:rPr>
                <a:t>3</a:t>
              </a:r>
              <a:endParaRPr lang="en-AU" dirty="0">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6" action="ppaction://hlinksldjump"/>
                </a:rPr>
                <a:t>Review of learning </a:t>
              </a:r>
              <a:r>
                <a:rPr lang="en-AU" dirty="0">
                  <a:solidFill>
                    <a:schemeClr val="accent1"/>
                  </a:solidFill>
                  <a:latin typeface="+mj-lt"/>
                  <a:hlinkClick r:id="rId6" action="ppaction://hlinksldjump"/>
                </a:rPr>
                <a:t>4</a:t>
              </a:r>
              <a:endParaRPr lang="en-AU" dirty="0">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7" action="ppaction://hlinksldjump"/>
                </a:rPr>
                <a:t>Review of learning </a:t>
              </a:r>
              <a:r>
                <a:rPr lang="en-AU" dirty="0">
                  <a:solidFill>
                    <a:schemeClr val="accent1"/>
                  </a:solidFill>
                  <a:latin typeface="+mj-lt"/>
                  <a:hlinkClick r:id="rId7" action="ppaction://hlinksldjump"/>
                </a:rPr>
                <a:t>5</a:t>
              </a:r>
              <a:endParaRPr lang="en-AU" dirty="0">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8" action="ppaction://hlinksldjump"/>
                </a:rPr>
                <a:t>Review of learning </a:t>
              </a:r>
              <a:r>
                <a:rPr lang="en-AU" dirty="0">
                  <a:solidFill>
                    <a:schemeClr val="accent1"/>
                  </a:solidFill>
                  <a:latin typeface="+mj-lt"/>
                  <a:hlinkClick r:id="rId8" action="ppaction://hlinksldjump"/>
                </a:rPr>
                <a:t>6</a:t>
              </a:r>
              <a:endParaRPr lang="en-AU" dirty="0">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9" action="ppaction://hlinksldjump"/>
                </a:rPr>
                <a:t>Review of learning </a:t>
              </a:r>
              <a:r>
                <a:rPr lang="en-AU" dirty="0">
                  <a:solidFill>
                    <a:schemeClr val="accent1"/>
                  </a:solidFill>
                  <a:latin typeface="+mj-lt"/>
                  <a:hlinkClick r:id="rId9" action="ppaction://hlinksldjump"/>
                </a:rPr>
                <a:t>7</a:t>
              </a:r>
              <a:endParaRPr lang="en-AU" dirty="0">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10" action="ppaction://hlinksldjump"/>
                </a:rPr>
                <a:t>Review of learning </a:t>
              </a:r>
              <a:r>
                <a:rPr lang="en-AU" dirty="0">
                  <a:solidFill>
                    <a:schemeClr val="accent1"/>
                  </a:solidFill>
                  <a:latin typeface="+mj-lt"/>
                  <a:hlinkClick r:id="rId10" action="ppaction://hlinksldjump"/>
                </a:rPr>
                <a:t>8</a:t>
              </a:r>
              <a:endParaRPr lang="en-AU" dirty="0">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dirty="0">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(1)</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360000" y="1227984"/>
            <a:ext cx="11243037" cy="754243"/>
          </a:xfrm>
        </p:spPr>
        <p:txBody>
          <a:bodyPr/>
          <a:lstStyle/>
          <a:p>
            <a:pPr algn="ctr"/>
            <a:r>
              <a:rPr lang="en-US" sz="4400" dirty="0"/>
              <a:t>The </a:t>
            </a:r>
            <a:r>
              <a:rPr lang="en-US" sz="4400" b="1" dirty="0"/>
              <a:t>pattern of multiples </a:t>
            </a:r>
            <a:r>
              <a:rPr lang="en-US" sz="4400" dirty="0"/>
              <a:t>is…</a:t>
            </a:r>
          </a:p>
        </p:txBody>
      </p:sp>
      <p:sp>
        <p:nvSpPr>
          <p:cNvPr id="9" name="B">
            <a:extLst>
              <a:ext uri="{FF2B5EF4-FFF2-40B4-BE49-F238E27FC236}">
                <a16:creationId xmlns:a16="http://schemas.microsoft.com/office/drawing/2014/main" id="{2579E796-78E6-099B-1516-BE205CC4FAC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20" y="2787604"/>
            <a:ext cx="10175920" cy="641396"/>
          </a:xfrm>
        </p:spPr>
        <p:txBody>
          <a:bodyPr anchor="ctr"/>
          <a:lstStyle/>
          <a:p>
            <a:r>
              <a:rPr lang="en-US" sz="3600" dirty="0"/>
              <a:t>10, 15, 20, 25</a:t>
            </a:r>
          </a:p>
        </p:txBody>
      </p:sp>
      <p:sp>
        <p:nvSpPr>
          <p:cNvPr id="10" name="B">
            <a:extLst>
              <a:ext uri="{FF2B5EF4-FFF2-40B4-BE49-F238E27FC236}">
                <a16:creationId xmlns:a16="http://schemas.microsoft.com/office/drawing/2014/main" id="{04CBC687-138E-8135-BF08-A76285D998B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3676983"/>
            <a:ext cx="10175920" cy="641396"/>
          </a:xfrm>
        </p:spPr>
        <p:txBody>
          <a:bodyPr anchor="ctr"/>
          <a:lstStyle/>
          <a:p>
            <a:r>
              <a:rPr lang="en-US" sz="3600" dirty="0"/>
              <a:t>10, 100, 1000, 10 000</a:t>
            </a:r>
          </a:p>
        </p:txBody>
      </p:sp>
      <p:sp>
        <p:nvSpPr>
          <p:cNvPr id="12" name="C">
            <a:extLst>
              <a:ext uri="{FF2B5EF4-FFF2-40B4-BE49-F238E27FC236}">
                <a16:creationId xmlns:a16="http://schemas.microsoft.com/office/drawing/2014/main" id="{C605E3A9-768F-B21E-1E87-27B06AEB3AF5}"/>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539216"/>
            <a:ext cx="10175920" cy="641396"/>
          </a:xfrm>
        </p:spPr>
        <p:txBody>
          <a:bodyPr anchor="ctr"/>
          <a:lstStyle/>
          <a:p>
            <a:r>
              <a:rPr lang="en-US" sz="3600" dirty="0"/>
              <a:t>10, 20, 30, 40</a:t>
            </a:r>
          </a:p>
        </p:txBody>
      </p:sp>
      <p:sp>
        <p:nvSpPr>
          <p:cNvPr id="11" name="D">
            <a:extLst>
              <a:ext uri="{FF2B5EF4-FFF2-40B4-BE49-F238E27FC236}">
                <a16:creationId xmlns:a16="http://schemas.microsoft.com/office/drawing/2014/main" id="{8EADE37E-99CA-3A50-524F-30E28DF3B7C4}"/>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346398"/>
            <a:ext cx="10175920" cy="641396"/>
          </a:xfrm>
        </p:spPr>
        <p:txBody>
          <a:bodyPr anchor="ctr"/>
          <a:lstStyle/>
          <a:p>
            <a:r>
              <a:rPr lang="en-US" sz="3600" dirty="0"/>
              <a:t>5, 15, 25, 35</a:t>
            </a:r>
          </a:p>
        </p:txBody>
      </p:sp>
      <p:pic>
        <p:nvPicPr>
          <p:cNvPr id="8" name="Picture 7" descr="4 columns of crabs. 1 crab in the first column is marked with 10. The second column contains 2 crabs, the third column 3 crabs and the last column 4 crabs.">
            <a:extLst>
              <a:ext uri="{FF2B5EF4-FFF2-40B4-BE49-F238E27FC236}">
                <a16:creationId xmlns:a16="http://schemas.microsoft.com/office/drawing/2014/main" id="{9097A382-CEC0-D45C-DA13-611F14FE6D57}"/>
              </a:ext>
            </a:extLst>
          </p:cNvPr>
          <p:cNvPicPr>
            <a:picLocks noChangeAspect="1"/>
          </p:cNvPicPr>
          <p:nvPr/>
        </p:nvPicPr>
        <p:blipFill>
          <a:blip r:embed="rId4"/>
          <a:stretch>
            <a:fillRect/>
          </a:stretch>
        </p:blipFill>
        <p:spPr>
          <a:xfrm>
            <a:off x="6832313" y="2551433"/>
            <a:ext cx="4445471" cy="339536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ACE0820F-2D91-A0FD-4167-4DAD1313A85C}"/>
              </a:ext>
            </a:extLst>
          </p:cNvPr>
          <p:cNvSpPr txBox="1"/>
          <p:nvPr/>
        </p:nvSpPr>
        <p:spPr>
          <a:xfrm>
            <a:off x="544053" y="1269257"/>
            <a:ext cx="10939947" cy="901593"/>
          </a:xfrm>
          <a:prstGeom prst="rect">
            <a:avLst/>
          </a:prstGeom>
          <a:noFill/>
        </p:spPr>
        <p:txBody>
          <a:bodyPr wrap="square">
            <a:spAutoFit/>
          </a:bodyPr>
          <a:lstStyle/>
          <a:p>
            <a:pPr lvl="0">
              <a:lnSpc>
                <a:spcPct val="150000"/>
              </a:lnSpc>
            </a:pPr>
            <a:r>
              <a:rPr lang="en-AU" sz="4000" b="1" dirty="0"/>
              <a:t>Describe </a:t>
            </a:r>
            <a:r>
              <a:rPr lang="en-AU" sz="4000" dirty="0"/>
              <a:t>as </a:t>
            </a:r>
            <a:r>
              <a:rPr lang="en-AU" sz="4000" b="1" dirty="0"/>
              <a:t>odd </a:t>
            </a:r>
            <a:r>
              <a:rPr lang="en-AU" sz="4000" dirty="0"/>
              <a:t>or </a:t>
            </a:r>
            <a:r>
              <a:rPr lang="en-AU" sz="4000" b="1" dirty="0"/>
              <a:t>even</a:t>
            </a:r>
            <a:r>
              <a:rPr lang="en-AU" sz="3200" b="1" dirty="0"/>
              <a:t>.</a:t>
            </a:r>
            <a:endParaRPr lang="en-AU" sz="3200" dirty="0"/>
          </a:p>
        </p:txBody>
      </p:sp>
      <p:pic>
        <p:nvPicPr>
          <p:cNvPr id="11" name="Picture 10" descr="A: two rows of counters. Top row is 4 . Bottom row is 3.&#10;&#10;B: two rows of 3">
            <a:extLst>
              <a:ext uri="{FF2B5EF4-FFF2-40B4-BE49-F238E27FC236}">
                <a16:creationId xmlns:a16="http://schemas.microsoft.com/office/drawing/2014/main" id="{58B85D3C-6E87-D86F-9E30-CBF8216AF089}"/>
              </a:ext>
            </a:extLst>
          </p:cNvPr>
          <p:cNvPicPr>
            <a:picLocks noChangeAspect="1"/>
          </p:cNvPicPr>
          <p:nvPr/>
        </p:nvPicPr>
        <p:blipFill>
          <a:blip r:embed="rId4"/>
          <a:stretch>
            <a:fillRect/>
          </a:stretch>
        </p:blipFill>
        <p:spPr>
          <a:xfrm>
            <a:off x="1407964" y="2392121"/>
            <a:ext cx="9227024" cy="2883048"/>
          </a:xfrm>
          <a:prstGeom prst="rect">
            <a:avLst/>
          </a:prstGeom>
        </p:spPr>
      </p:pic>
      <p:sp>
        <p:nvSpPr>
          <p:cNvPr id="9" name="TextBox 8">
            <a:extLst>
              <a:ext uri="{FF2B5EF4-FFF2-40B4-BE49-F238E27FC236}">
                <a16:creationId xmlns:a16="http://schemas.microsoft.com/office/drawing/2014/main" id="{CCD6C4D3-A053-A66F-BF51-DBFABF31ADA5}"/>
              </a:ext>
            </a:extLst>
          </p:cNvPr>
          <p:cNvSpPr txBox="1"/>
          <p:nvPr/>
        </p:nvSpPr>
        <p:spPr>
          <a:xfrm>
            <a:off x="2420604" y="5393136"/>
            <a:ext cx="10221745" cy="901593"/>
          </a:xfrm>
          <a:prstGeom prst="rect">
            <a:avLst/>
          </a:prstGeom>
          <a:noFill/>
        </p:spPr>
        <p:txBody>
          <a:bodyPr wrap="square">
            <a:spAutoFit/>
          </a:bodyPr>
          <a:lstStyle/>
          <a:p>
            <a:pPr lvl="0">
              <a:lnSpc>
                <a:spcPct val="150000"/>
              </a:lnSpc>
            </a:pPr>
            <a:r>
              <a:rPr lang="en-AU" sz="4000" b="1" dirty="0"/>
              <a:t>Communicate </a:t>
            </a:r>
            <a:r>
              <a:rPr lang="en-AU" sz="4000" dirty="0"/>
              <a:t>your</a:t>
            </a:r>
            <a:r>
              <a:rPr lang="en-AU" sz="4000" b="1" dirty="0"/>
              <a:t> reasoning.</a:t>
            </a:r>
            <a:endParaRPr lang="en-AU" sz="4000" dirty="0"/>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a:t>
            </a:r>
            <a:r>
              <a:rPr lang="en-AU" dirty="0">
                <a:solidFill>
                  <a:schemeClr val="bg1"/>
                </a:solidFill>
              </a:rPr>
              <a:t> (2)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11F2E6B-4CAA-2BD7-6ABC-8111243037F5}"/>
              </a:ext>
            </a:extLst>
          </p:cNvPr>
          <p:cNvSpPr txBox="1"/>
          <p:nvPr/>
        </p:nvSpPr>
        <p:spPr>
          <a:xfrm>
            <a:off x="833878" y="1350895"/>
            <a:ext cx="11671038" cy="820674"/>
          </a:xfrm>
          <a:prstGeom prst="rect">
            <a:avLst/>
          </a:prstGeom>
          <a:noFill/>
        </p:spPr>
        <p:txBody>
          <a:bodyPr wrap="square">
            <a:spAutoFit/>
          </a:bodyPr>
          <a:lstStyle/>
          <a:p>
            <a:pPr lvl="0">
              <a:lnSpc>
                <a:spcPct val="150000"/>
              </a:lnSpc>
            </a:pPr>
            <a:r>
              <a:rPr lang="en-AU" sz="3600"/>
              <a:t>Would you </a:t>
            </a:r>
            <a:r>
              <a:rPr lang="en-AU" sz="3600" b="1"/>
              <a:t>classify </a:t>
            </a:r>
            <a:r>
              <a:rPr lang="en-AU" sz="3600" dirty="0"/>
              <a:t>this </a:t>
            </a:r>
            <a:r>
              <a:rPr lang="en-AU" sz="3600"/>
              <a:t>polygon </a:t>
            </a:r>
            <a:r>
              <a:rPr lang="en-AU" sz="3600" dirty="0"/>
              <a:t>as a </a:t>
            </a:r>
            <a:r>
              <a:rPr lang="en-AU" sz="3600" b="1" dirty="0"/>
              <a:t>quadrilateral</a:t>
            </a:r>
            <a:r>
              <a:rPr lang="en-AU" sz="3600" b="1"/>
              <a:t>?</a:t>
            </a:r>
            <a:endParaRPr lang="en-AU" sz="3600" dirty="0"/>
          </a:p>
        </p:txBody>
      </p:sp>
      <p:pic>
        <p:nvPicPr>
          <p:cNvPr id="11" name="Picture 10" descr="parallelogram">
            <a:extLst>
              <a:ext uri="{FF2B5EF4-FFF2-40B4-BE49-F238E27FC236}">
                <a16:creationId xmlns:a16="http://schemas.microsoft.com/office/drawing/2014/main" id="{9A50D6F7-A868-635E-82BB-251958F433BF}"/>
              </a:ext>
            </a:extLst>
          </p:cNvPr>
          <p:cNvPicPr>
            <a:picLocks noChangeAspect="1"/>
          </p:cNvPicPr>
          <p:nvPr/>
        </p:nvPicPr>
        <p:blipFill>
          <a:blip r:embed="rId4"/>
          <a:stretch>
            <a:fillRect/>
          </a:stretch>
        </p:blipFill>
        <p:spPr>
          <a:xfrm>
            <a:off x="4320086" y="2385859"/>
            <a:ext cx="3551827" cy="3102970"/>
          </a:xfrm>
          <a:prstGeom prst="rect">
            <a:avLst/>
          </a:prstGeom>
        </p:spPr>
      </p:pic>
      <p:sp>
        <p:nvSpPr>
          <p:cNvPr id="7" name="TextBox 6">
            <a:extLst>
              <a:ext uri="{FF2B5EF4-FFF2-40B4-BE49-F238E27FC236}">
                <a16:creationId xmlns:a16="http://schemas.microsoft.com/office/drawing/2014/main" id="{B7BCCF62-0CAC-E294-6591-91E0FF825B82}"/>
              </a:ext>
            </a:extLst>
          </p:cNvPr>
          <p:cNvSpPr txBox="1"/>
          <p:nvPr/>
        </p:nvSpPr>
        <p:spPr>
          <a:xfrm>
            <a:off x="2783735" y="5488829"/>
            <a:ext cx="6831902" cy="820674"/>
          </a:xfrm>
          <a:prstGeom prst="rect">
            <a:avLst/>
          </a:prstGeom>
          <a:noFill/>
        </p:spPr>
        <p:txBody>
          <a:bodyPr wrap="square">
            <a:spAutoFit/>
          </a:bodyPr>
          <a:lstStyle/>
          <a:p>
            <a:pPr lvl="0">
              <a:lnSpc>
                <a:spcPct val="150000"/>
              </a:lnSpc>
            </a:pPr>
            <a:r>
              <a:rPr lang="en-AU" sz="3600" b="1" dirty="0"/>
              <a:t>Communicate</a:t>
            </a:r>
            <a:r>
              <a:rPr lang="en-AU" sz="3600" dirty="0"/>
              <a:t> your </a:t>
            </a:r>
            <a:r>
              <a:rPr lang="en-AU" sz="3600" b="1" dirty="0"/>
              <a:t>reasoning.</a:t>
            </a:r>
            <a:endParaRPr lang="en-AU" sz="3600" dirty="0"/>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BC7409E7-2595-334B-C959-0F81F8C5B7E7}"/>
              </a:ext>
            </a:extLst>
          </p:cNvPr>
          <p:cNvSpPr txBox="1"/>
          <p:nvPr/>
        </p:nvSpPr>
        <p:spPr>
          <a:xfrm>
            <a:off x="456244" y="1636968"/>
            <a:ext cx="5276272" cy="4029501"/>
          </a:xfrm>
          <a:prstGeom prst="rect">
            <a:avLst/>
          </a:prstGeom>
          <a:noFill/>
        </p:spPr>
        <p:txBody>
          <a:bodyPr wrap="square">
            <a:spAutoFit/>
          </a:bodyPr>
          <a:lstStyle/>
          <a:p>
            <a:pPr lvl="0" algn="ctr">
              <a:lnSpc>
                <a:spcPct val="150000"/>
              </a:lnSpc>
            </a:pPr>
            <a:r>
              <a:rPr lang="en-AU" sz="4400" b="1" dirty="0"/>
              <a:t>Record </a:t>
            </a:r>
            <a:r>
              <a:rPr lang="en-AU" sz="4400" dirty="0"/>
              <a:t>the </a:t>
            </a:r>
            <a:r>
              <a:rPr lang="en-AU" sz="4400" b="1" dirty="0"/>
              <a:t>number </a:t>
            </a:r>
            <a:r>
              <a:rPr lang="en-AU" sz="4400" dirty="0"/>
              <a:t>represented by these base 10 materials.</a:t>
            </a:r>
          </a:p>
        </p:txBody>
      </p:sp>
      <p:pic>
        <p:nvPicPr>
          <p:cNvPr id="61" name="Picture 60" descr="MAB representation of 35 thousands, 3 hundreds, 1 ten and 8 ones.">
            <a:extLst>
              <a:ext uri="{FF2B5EF4-FFF2-40B4-BE49-F238E27FC236}">
                <a16:creationId xmlns:a16="http://schemas.microsoft.com/office/drawing/2014/main" id="{FA35F512-9EC0-B774-735E-0DD60FB26687}"/>
              </a:ext>
            </a:extLst>
          </p:cNvPr>
          <p:cNvPicPr>
            <a:picLocks noChangeAspect="1"/>
          </p:cNvPicPr>
          <p:nvPr/>
        </p:nvPicPr>
        <p:blipFill>
          <a:blip r:embed="rId4"/>
          <a:stretch>
            <a:fillRect/>
          </a:stretch>
        </p:blipFill>
        <p:spPr>
          <a:xfrm>
            <a:off x="6096000" y="1456968"/>
            <a:ext cx="5414057" cy="4266577"/>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B1067AB1-F60B-D563-56BD-881FEAA91EA1}"/>
              </a:ext>
            </a:extLst>
          </p:cNvPr>
          <p:cNvSpPr txBox="1"/>
          <p:nvPr/>
        </p:nvSpPr>
        <p:spPr>
          <a:xfrm>
            <a:off x="278234" y="1856114"/>
            <a:ext cx="7248680" cy="4029501"/>
          </a:xfrm>
          <a:prstGeom prst="rect">
            <a:avLst/>
          </a:prstGeom>
          <a:noFill/>
        </p:spPr>
        <p:txBody>
          <a:bodyPr wrap="square">
            <a:spAutoFit/>
          </a:bodyPr>
          <a:lstStyle/>
          <a:p>
            <a:pPr lvl="0" algn="ctr">
              <a:lnSpc>
                <a:spcPct val="150000"/>
              </a:lnSpc>
            </a:pPr>
            <a:r>
              <a:rPr lang="en-AU" sz="4400" dirty="0"/>
              <a:t>Record the </a:t>
            </a:r>
            <a:r>
              <a:rPr lang="en-AU" sz="4400" b="1" dirty="0"/>
              <a:t>missing words:</a:t>
            </a:r>
          </a:p>
          <a:p>
            <a:pPr lvl="0" algn="ctr">
              <a:lnSpc>
                <a:spcPct val="150000"/>
              </a:lnSpc>
            </a:pPr>
            <a:r>
              <a:rPr lang="en-AU" sz="4400" dirty="0"/>
              <a:t>The </a:t>
            </a:r>
            <a:r>
              <a:rPr lang="en-AU" sz="4400" b="1" dirty="0">
                <a:solidFill>
                  <a:srgbClr val="489AFF"/>
                </a:solidFill>
              </a:rPr>
              <a:t>blue book</a:t>
            </a:r>
            <a:r>
              <a:rPr lang="en-AU" sz="4400" b="1" dirty="0"/>
              <a:t> </a:t>
            </a:r>
            <a:r>
              <a:rPr lang="en-AU" sz="4400" dirty="0"/>
              <a:t>is on the _________ </a:t>
            </a:r>
            <a:r>
              <a:rPr lang="en-AU" sz="4400" b="1" dirty="0"/>
              <a:t>shelf</a:t>
            </a:r>
            <a:r>
              <a:rPr lang="en-AU" sz="4400" dirty="0"/>
              <a:t>, </a:t>
            </a:r>
          </a:p>
          <a:p>
            <a:pPr lvl="0" algn="ctr">
              <a:lnSpc>
                <a:spcPct val="150000"/>
              </a:lnSpc>
            </a:pPr>
            <a:r>
              <a:rPr lang="en-AU" sz="4400" dirty="0"/>
              <a:t>________ from the </a:t>
            </a:r>
            <a:r>
              <a:rPr lang="en-AU" sz="4400" b="1" dirty="0"/>
              <a:t>right.</a:t>
            </a:r>
            <a:endParaRPr lang="en-AU" sz="4400" dirty="0"/>
          </a:p>
        </p:txBody>
      </p:sp>
      <p:pic>
        <p:nvPicPr>
          <p:cNvPr id="7" name="Picture 6" descr="A book shelf with 3 shelves and different coloured books. There is only 1 blue book on the second shelf with books to its left and a book to its right.">
            <a:extLst>
              <a:ext uri="{FF2B5EF4-FFF2-40B4-BE49-F238E27FC236}">
                <a16:creationId xmlns:a16="http://schemas.microsoft.com/office/drawing/2014/main" id="{9EC5D4CA-F005-543E-F60E-9F7B2EAA7C01}"/>
              </a:ext>
            </a:extLst>
          </p:cNvPr>
          <p:cNvPicPr>
            <a:picLocks noChangeAspect="1"/>
          </p:cNvPicPr>
          <p:nvPr/>
        </p:nvPicPr>
        <p:blipFill>
          <a:blip r:embed="rId4"/>
          <a:stretch>
            <a:fillRect/>
          </a:stretch>
        </p:blipFill>
        <p:spPr>
          <a:xfrm>
            <a:off x="7362049" y="1184223"/>
            <a:ext cx="4481951" cy="5373284"/>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sz="3200" dirty="0"/>
              <a:t>Activity 1 – describing increasing and decreasing patterns (1)</a:t>
            </a:r>
            <a:endParaRPr lang="en-AU" dirty="0"/>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AC159BD3-BC07-251D-2F13-A099075793E2}"/>
              </a:ext>
            </a:extLst>
          </p:cNvPr>
          <p:cNvSpPr txBox="1"/>
          <p:nvPr/>
        </p:nvSpPr>
        <p:spPr>
          <a:xfrm>
            <a:off x="3411020" y="2512978"/>
            <a:ext cx="5977171" cy="1046747"/>
          </a:xfrm>
          <a:prstGeom prst="rect">
            <a:avLst/>
          </a:prstGeom>
          <a:noFill/>
        </p:spPr>
        <p:txBody>
          <a:bodyPr wrap="square" lIns="0" tIns="0" rIns="0" bIns="0" rtlCol="0">
            <a:noAutofit/>
          </a:bodyPr>
          <a:lstStyle/>
          <a:p>
            <a:pPr algn="l"/>
            <a:r>
              <a:rPr lang="en-AU" sz="6000" dirty="0"/>
              <a:t>4, 8, 12, 16, 20…</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48589-CA27-2691-ADCA-4A76808266F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A13BC0-0E3B-145A-0E5C-70742254D0B8}"/>
              </a:ext>
            </a:extLst>
          </p:cNvPr>
          <p:cNvSpPr>
            <a:spLocks noGrp="1"/>
          </p:cNvSpPr>
          <p:nvPr>
            <p:ph type="title"/>
          </p:nvPr>
        </p:nvSpPr>
        <p:spPr>
          <a:xfrm>
            <a:off x="360000" y="360000"/>
            <a:ext cx="10367268" cy="545601"/>
          </a:xfrm>
        </p:spPr>
        <p:txBody>
          <a:bodyPr/>
          <a:lstStyle/>
          <a:p>
            <a:r>
              <a:rPr lang="en-AU" sz="3200" dirty="0"/>
              <a:t>Activity 1 – describing increasing and decreasing patterns (2)</a:t>
            </a:r>
            <a:endParaRPr lang="en-AU" dirty="0"/>
          </a:p>
        </p:txBody>
      </p:sp>
      <p:pic>
        <p:nvPicPr>
          <p:cNvPr id="4" name="Picture 3">
            <a:extLst>
              <a:ext uri="{FF2B5EF4-FFF2-40B4-BE49-F238E27FC236}">
                <a16:creationId xmlns:a16="http://schemas.microsoft.com/office/drawing/2014/main" id="{9B965B91-EE9D-3420-80F4-D08D62E31CF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2A90D54B-5B0D-D8B1-943A-EA9C2D62B1DA}"/>
              </a:ext>
            </a:extLst>
          </p:cNvPr>
          <p:cNvSpPr txBox="1"/>
          <p:nvPr/>
        </p:nvSpPr>
        <p:spPr>
          <a:xfrm>
            <a:off x="2666459" y="2382253"/>
            <a:ext cx="6859081" cy="1046747"/>
          </a:xfrm>
          <a:prstGeom prst="rect">
            <a:avLst/>
          </a:prstGeom>
          <a:noFill/>
        </p:spPr>
        <p:txBody>
          <a:bodyPr wrap="square" lIns="0" tIns="0" rIns="0" bIns="0" rtlCol="0">
            <a:noAutofit/>
          </a:bodyPr>
          <a:lstStyle/>
          <a:p>
            <a:pPr algn="l"/>
            <a:r>
              <a:rPr lang="en-AU" sz="6000" dirty="0"/>
              <a:t>28, 24, 20, 16, 12…</a:t>
            </a:r>
          </a:p>
        </p:txBody>
      </p:sp>
      <p:sp>
        <p:nvSpPr>
          <p:cNvPr id="2" name="Slide Number Placeholder 1">
            <a:extLst>
              <a:ext uri="{FF2B5EF4-FFF2-40B4-BE49-F238E27FC236}">
                <a16:creationId xmlns:a16="http://schemas.microsoft.com/office/drawing/2014/main" id="{0645EB20-5926-C30C-3BE4-DF73D943FF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spTree>
    <p:extLst>
      <p:ext uri="{BB962C8B-B14F-4D97-AF65-F5344CB8AC3E}">
        <p14:creationId xmlns:p14="http://schemas.microsoft.com/office/powerpoint/2010/main" val="619319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16AB0-5D37-F8AE-D7E1-72EBFDD1461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772BB2C-0A38-5E55-AE15-5E0F54F85B13}"/>
              </a:ext>
            </a:extLst>
          </p:cNvPr>
          <p:cNvSpPr>
            <a:spLocks noGrp="1"/>
          </p:cNvSpPr>
          <p:nvPr>
            <p:ph type="title"/>
          </p:nvPr>
        </p:nvSpPr>
        <p:spPr>
          <a:xfrm>
            <a:off x="360000" y="360000"/>
            <a:ext cx="10367268" cy="545601"/>
          </a:xfrm>
        </p:spPr>
        <p:txBody>
          <a:bodyPr/>
          <a:lstStyle/>
          <a:p>
            <a:r>
              <a:rPr lang="en-AU" sz="3200" dirty="0"/>
              <a:t>Activity 1 – describing increasing and decreasing patterns (3)</a:t>
            </a:r>
            <a:endParaRPr lang="en-AU" dirty="0"/>
          </a:p>
        </p:txBody>
      </p:sp>
      <p:pic>
        <p:nvPicPr>
          <p:cNvPr id="4" name="Picture 3">
            <a:extLst>
              <a:ext uri="{FF2B5EF4-FFF2-40B4-BE49-F238E27FC236}">
                <a16:creationId xmlns:a16="http://schemas.microsoft.com/office/drawing/2014/main" id="{8C6CEB8C-5FCA-727E-4927-0F6F091D5EF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12E5C175-0023-088A-B714-A3B1394995E7}"/>
              </a:ext>
            </a:extLst>
          </p:cNvPr>
          <p:cNvSpPr txBox="1"/>
          <p:nvPr/>
        </p:nvSpPr>
        <p:spPr>
          <a:xfrm>
            <a:off x="2727344" y="1555805"/>
            <a:ext cx="8634663" cy="1046747"/>
          </a:xfrm>
          <a:prstGeom prst="rect">
            <a:avLst/>
          </a:prstGeom>
          <a:noFill/>
        </p:spPr>
        <p:txBody>
          <a:bodyPr wrap="square" lIns="0" tIns="0" rIns="0" bIns="0" rtlCol="0">
            <a:noAutofit/>
          </a:bodyPr>
          <a:lstStyle/>
          <a:p>
            <a:pPr marL="685800" lvl="0" indent="-685800">
              <a:lnSpc>
                <a:spcPct val="150000"/>
              </a:lnSpc>
              <a:buFont typeface="Arial" panose="020B0604020202020204" pitchFamily="34" charset="0"/>
              <a:buChar char="•"/>
            </a:pPr>
            <a:r>
              <a:rPr lang="en-AU" sz="4800" dirty="0"/>
              <a:t>6, 11, 16, 21, 26… </a:t>
            </a:r>
          </a:p>
          <a:p>
            <a:pPr marL="685800" lvl="0" indent="-685800">
              <a:lnSpc>
                <a:spcPct val="150000"/>
              </a:lnSpc>
              <a:buFont typeface="Arial" panose="020B0604020202020204" pitchFamily="34" charset="0"/>
              <a:buChar char="•"/>
            </a:pPr>
            <a:r>
              <a:rPr lang="en-AU" sz="4800" dirty="0"/>
              <a:t>174, 164, 154, 144, 134… </a:t>
            </a:r>
          </a:p>
          <a:p>
            <a:pPr marL="685800" lvl="0" indent="-685800">
              <a:lnSpc>
                <a:spcPct val="150000"/>
              </a:lnSpc>
              <a:buFont typeface="Arial" panose="020B0604020202020204" pitchFamily="34" charset="0"/>
              <a:buChar char="•"/>
            </a:pPr>
            <a:r>
              <a:rPr lang="en-AU" sz="4800" dirty="0"/>
              <a:t>3, 7, 11, 15, 19, 23…</a:t>
            </a:r>
          </a:p>
          <a:p>
            <a:pPr marL="685800" lvl="0" indent="-685800">
              <a:lnSpc>
                <a:spcPct val="150000"/>
              </a:lnSpc>
              <a:buFont typeface="Arial" panose="020B0604020202020204" pitchFamily="34" charset="0"/>
              <a:buChar char="•"/>
            </a:pPr>
            <a:r>
              <a:rPr lang="en-AU" sz="4800" dirty="0"/>
              <a:t>67, 62, 57, 52, 47… </a:t>
            </a:r>
          </a:p>
        </p:txBody>
      </p:sp>
      <p:sp>
        <p:nvSpPr>
          <p:cNvPr id="2" name="Slide Number Placeholder 1">
            <a:extLst>
              <a:ext uri="{FF2B5EF4-FFF2-40B4-BE49-F238E27FC236}">
                <a16:creationId xmlns:a16="http://schemas.microsoft.com/office/drawing/2014/main" id="{26FC3142-15EA-FBC2-5D9E-13F83D6E83B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2260882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dirty="0">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81" y="1436714"/>
            <a:ext cx="11243037" cy="893226"/>
          </a:xfrm>
        </p:spPr>
        <p:txBody>
          <a:bodyPr/>
          <a:lstStyle/>
          <a:p>
            <a:pPr algn="ctr"/>
            <a:r>
              <a:rPr lang="en-AU" sz="4400" dirty="0"/>
              <a:t>The next number in this pattern is </a:t>
            </a:r>
            <a:r>
              <a:rPr lang="en-AU" sz="4400" b="1" dirty="0"/>
              <a:t>24</a:t>
            </a:r>
            <a:r>
              <a:rPr lang="en-AU" sz="4400" dirty="0"/>
              <a:t>.</a:t>
            </a:r>
          </a:p>
        </p:txBody>
      </p:sp>
      <p:sp>
        <p:nvSpPr>
          <p:cNvPr id="5" name="TextBox 4">
            <a:extLst>
              <a:ext uri="{FF2B5EF4-FFF2-40B4-BE49-F238E27FC236}">
                <a16:creationId xmlns:a16="http://schemas.microsoft.com/office/drawing/2014/main" id="{3CF3C942-24F4-6069-9E11-7478555F505D}"/>
              </a:ext>
            </a:extLst>
          </p:cNvPr>
          <p:cNvSpPr txBox="1"/>
          <p:nvPr/>
        </p:nvSpPr>
        <p:spPr>
          <a:xfrm>
            <a:off x="3000241" y="3128933"/>
            <a:ext cx="6859081" cy="1046747"/>
          </a:xfrm>
          <a:prstGeom prst="rect">
            <a:avLst/>
          </a:prstGeom>
          <a:noFill/>
        </p:spPr>
        <p:txBody>
          <a:bodyPr wrap="square" lIns="0" tIns="0" rIns="0" bIns="0" rtlCol="0">
            <a:noAutofit/>
          </a:bodyPr>
          <a:lstStyle/>
          <a:p>
            <a:pPr algn="ctr"/>
            <a:r>
              <a:rPr lang="en-AU" sz="6000" dirty="0"/>
              <a:t>4, 8, 12, 16, 20…</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a:t>
            </a:r>
            <a:r>
              <a:rPr lang="en-AU" dirty="0">
                <a:solidFill>
                  <a:schemeClr val="bg1"/>
                </a:solidFill>
              </a:rPr>
              <a:t> (5)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EF78A947-0EE4-2E2A-E8F1-B95B05B813A1}"/>
              </a:ext>
            </a:extLst>
          </p:cNvPr>
          <p:cNvSpPr txBox="1"/>
          <p:nvPr/>
        </p:nvSpPr>
        <p:spPr>
          <a:xfrm>
            <a:off x="1364017" y="905601"/>
            <a:ext cx="9463965" cy="5518242"/>
          </a:xfrm>
          <a:prstGeom prst="rect">
            <a:avLst/>
          </a:prstGeom>
          <a:noFill/>
        </p:spPr>
        <p:txBody>
          <a:bodyPr wrap="square">
            <a:spAutoFit/>
          </a:bodyPr>
          <a:lstStyle/>
          <a:p>
            <a:pPr lvl="0" algn="ctr">
              <a:lnSpc>
                <a:spcPct val="150000"/>
              </a:lnSpc>
            </a:pPr>
            <a:r>
              <a:rPr lang="en-AU" sz="4000" b="1" dirty="0"/>
              <a:t>Record</a:t>
            </a:r>
            <a:r>
              <a:rPr lang="en-AU" sz="4000" dirty="0"/>
              <a:t> whether the following numbers are </a:t>
            </a:r>
            <a:r>
              <a:rPr lang="en-AU" sz="4000" b="1" dirty="0">
                <a:solidFill>
                  <a:schemeClr val="tx2"/>
                </a:solidFill>
              </a:rPr>
              <a:t>even</a:t>
            </a:r>
            <a:r>
              <a:rPr lang="en-AU" sz="4000" b="1" dirty="0"/>
              <a:t> </a:t>
            </a:r>
            <a:r>
              <a:rPr lang="en-AU" sz="4000" b="1" dirty="0">
                <a:solidFill>
                  <a:schemeClr val="tx2"/>
                </a:solidFill>
              </a:rPr>
              <a:t>(E)</a:t>
            </a:r>
            <a:r>
              <a:rPr lang="en-AU" sz="4000" dirty="0"/>
              <a:t> or </a:t>
            </a:r>
            <a:r>
              <a:rPr lang="en-AU" sz="4000" b="1" dirty="0">
                <a:solidFill>
                  <a:schemeClr val="accent1">
                    <a:lumMod val="75000"/>
                    <a:lumOff val="25000"/>
                  </a:schemeClr>
                </a:solidFill>
              </a:rPr>
              <a:t>odd (O)</a:t>
            </a:r>
            <a:r>
              <a:rPr lang="en-AU" sz="4000" b="1" dirty="0"/>
              <a:t>:</a:t>
            </a:r>
          </a:p>
          <a:p>
            <a:pPr marL="571500" lvl="0" indent="-571500" algn="ctr">
              <a:lnSpc>
                <a:spcPct val="150000"/>
              </a:lnSpc>
              <a:buFont typeface="Arial" panose="020B0604020202020204" pitchFamily="34" charset="0"/>
              <a:buChar char="•"/>
            </a:pPr>
            <a:r>
              <a:rPr lang="en-AU" sz="4000" dirty="0"/>
              <a:t>59</a:t>
            </a:r>
          </a:p>
          <a:p>
            <a:pPr marL="571500" lvl="0" indent="-571500" algn="ctr">
              <a:lnSpc>
                <a:spcPct val="150000"/>
              </a:lnSpc>
              <a:buFont typeface="Arial" panose="020B0604020202020204" pitchFamily="34" charset="0"/>
              <a:buChar char="•"/>
            </a:pPr>
            <a:r>
              <a:rPr lang="en-AU" sz="4000" dirty="0"/>
              <a:t>276</a:t>
            </a:r>
          </a:p>
          <a:p>
            <a:pPr marL="571500" lvl="0" indent="-571500" algn="ctr">
              <a:lnSpc>
                <a:spcPct val="150000"/>
              </a:lnSpc>
              <a:buFont typeface="Arial" panose="020B0604020202020204" pitchFamily="34" charset="0"/>
              <a:buChar char="•"/>
            </a:pPr>
            <a:r>
              <a:rPr lang="en-AU" sz="4000" dirty="0"/>
              <a:t>197</a:t>
            </a:r>
          </a:p>
          <a:p>
            <a:pPr lvl="0" algn="ctr">
              <a:lnSpc>
                <a:spcPct val="150000"/>
              </a:lnSpc>
            </a:pPr>
            <a:r>
              <a:rPr lang="en-AU" sz="4000" b="1" dirty="0"/>
              <a:t>Communicate </a:t>
            </a:r>
            <a:r>
              <a:rPr lang="en-AU" sz="4000" dirty="0"/>
              <a:t>your</a:t>
            </a:r>
            <a:r>
              <a:rPr lang="en-AU" sz="4000" b="1" dirty="0"/>
              <a:t> reasoning.</a:t>
            </a:r>
            <a:endParaRPr lang="en-AU" sz="3600" b="1" dirty="0"/>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a:t>
            </a:r>
            <a:r>
              <a:rPr lang="en-AU" dirty="0">
                <a:solidFill>
                  <a:schemeClr val="bg1"/>
                </a:solidFill>
              </a:rPr>
              <a:t> (6)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9160BD43-F420-7801-03B2-5ECC24894EFD}"/>
              </a:ext>
            </a:extLst>
          </p:cNvPr>
          <p:cNvSpPr txBox="1"/>
          <p:nvPr/>
        </p:nvSpPr>
        <p:spPr>
          <a:xfrm>
            <a:off x="794964" y="905601"/>
            <a:ext cx="10602071" cy="5660717"/>
          </a:xfrm>
          <a:prstGeom prst="rect">
            <a:avLst/>
          </a:prstGeom>
          <a:noFill/>
        </p:spPr>
        <p:txBody>
          <a:bodyPr wrap="square">
            <a:spAutoFit/>
          </a:bodyPr>
          <a:lstStyle/>
          <a:p>
            <a:pPr lvl="0" algn="ctr">
              <a:lnSpc>
                <a:spcPct val="150000"/>
              </a:lnSpc>
            </a:pPr>
            <a:r>
              <a:rPr lang="en-AU" sz="4400" b="1" dirty="0"/>
              <a:t>Name </a:t>
            </a:r>
            <a:r>
              <a:rPr lang="en-AU" sz="4400" dirty="0"/>
              <a:t>a</a:t>
            </a:r>
            <a:r>
              <a:rPr lang="en-AU" sz="4400" b="1" dirty="0"/>
              <a:t> 2D shape </a:t>
            </a:r>
            <a:r>
              <a:rPr lang="en-AU" sz="4400" dirty="0"/>
              <a:t>with the following </a:t>
            </a:r>
            <a:r>
              <a:rPr lang="en-AU" sz="4400" b="1" dirty="0"/>
              <a:t>features</a:t>
            </a:r>
            <a:r>
              <a:rPr lang="en-AU" sz="4400" dirty="0"/>
              <a:t>:</a:t>
            </a:r>
          </a:p>
          <a:p>
            <a:pPr lvl="0" algn="ctr">
              <a:lnSpc>
                <a:spcPct val="150000"/>
              </a:lnSpc>
              <a:spcBef>
                <a:spcPts val="1200"/>
              </a:spcBef>
              <a:spcAft>
                <a:spcPts val="600"/>
              </a:spcAft>
            </a:pPr>
            <a:r>
              <a:rPr lang="en-AU" sz="4400" dirty="0"/>
              <a:t>a) </a:t>
            </a:r>
            <a:r>
              <a:rPr lang="en-AU" sz="4400" b="1" dirty="0"/>
              <a:t>one</a:t>
            </a:r>
            <a:r>
              <a:rPr lang="en-AU" sz="4400" dirty="0"/>
              <a:t> set of </a:t>
            </a:r>
            <a:r>
              <a:rPr lang="en-AU" sz="4400" b="1" dirty="0"/>
              <a:t>parallel sides</a:t>
            </a:r>
          </a:p>
          <a:p>
            <a:pPr lvl="0" algn="ctr">
              <a:lnSpc>
                <a:spcPct val="150000"/>
              </a:lnSpc>
              <a:spcBef>
                <a:spcPts val="1200"/>
              </a:spcBef>
              <a:spcAft>
                <a:spcPts val="600"/>
              </a:spcAft>
            </a:pPr>
            <a:r>
              <a:rPr lang="en-AU" sz="4400" dirty="0"/>
              <a:t>b) </a:t>
            </a:r>
            <a:r>
              <a:rPr lang="en-AU" sz="4400" b="1" dirty="0"/>
              <a:t>all </a:t>
            </a:r>
            <a:r>
              <a:rPr lang="en-AU" sz="4400" dirty="0"/>
              <a:t>sides </a:t>
            </a:r>
            <a:r>
              <a:rPr lang="en-AU" sz="4400" b="1" dirty="0"/>
              <a:t>equal</a:t>
            </a:r>
          </a:p>
          <a:p>
            <a:pPr lvl="0" algn="ctr">
              <a:lnSpc>
                <a:spcPct val="150000"/>
              </a:lnSpc>
              <a:spcBef>
                <a:spcPts val="1200"/>
              </a:spcBef>
              <a:spcAft>
                <a:spcPts val="600"/>
              </a:spcAft>
            </a:pPr>
            <a:r>
              <a:rPr lang="en-AU" sz="4400" dirty="0"/>
              <a:t>c) </a:t>
            </a:r>
            <a:r>
              <a:rPr lang="en-AU" sz="4400" b="1" dirty="0"/>
              <a:t>opposite </a:t>
            </a:r>
            <a:r>
              <a:rPr lang="en-AU" sz="4400" dirty="0"/>
              <a:t>sides are </a:t>
            </a:r>
            <a:r>
              <a:rPr lang="en-AU" sz="4400" b="1" dirty="0"/>
              <a:t>parallel</a:t>
            </a:r>
            <a:r>
              <a:rPr lang="en-AU" sz="4400" dirty="0"/>
              <a:t> and </a:t>
            </a:r>
            <a:r>
              <a:rPr lang="en-AU" sz="4400" b="1" dirty="0"/>
              <a:t>equal.</a:t>
            </a:r>
            <a:endParaRPr lang="en-AU" sz="4400" dirty="0"/>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E1869EF-25BA-BC03-1E1D-E6F159BBC095}"/>
              </a:ext>
            </a:extLst>
          </p:cNvPr>
          <p:cNvSpPr txBox="1"/>
          <p:nvPr/>
        </p:nvSpPr>
        <p:spPr>
          <a:xfrm>
            <a:off x="246024" y="934380"/>
            <a:ext cx="5608897" cy="5627694"/>
          </a:xfrm>
          <a:prstGeom prst="rect">
            <a:avLst/>
          </a:prstGeom>
          <a:noFill/>
        </p:spPr>
        <p:txBody>
          <a:bodyPr wrap="square">
            <a:spAutoFit/>
          </a:bodyPr>
          <a:lstStyle/>
          <a:p>
            <a:pPr lvl="0">
              <a:lnSpc>
                <a:spcPct val="150000"/>
              </a:lnSpc>
              <a:spcBef>
                <a:spcPts val="1200"/>
              </a:spcBef>
              <a:spcAft>
                <a:spcPts val="600"/>
              </a:spcAft>
            </a:pPr>
            <a:r>
              <a:rPr lang="en-AU" sz="3400" b="1" dirty="0">
                <a:latin typeface="Arial" panose="020B0604020202020204" pitchFamily="34" charset="0"/>
                <a:ea typeface="Calibri" panose="020F0502020204030204" pitchFamily="34" charset="0"/>
              </a:rPr>
              <a:t>Record</a:t>
            </a:r>
            <a:r>
              <a:rPr lang="en-AU" sz="3400" dirty="0">
                <a:latin typeface="Arial" panose="020B0604020202020204" pitchFamily="34" charset="0"/>
                <a:ea typeface="Calibri" panose="020F0502020204030204" pitchFamily="34" charset="0"/>
              </a:rPr>
              <a:t> the </a:t>
            </a:r>
            <a:r>
              <a:rPr lang="en-AU" sz="3400" b="1" dirty="0">
                <a:latin typeface="Arial" panose="020B0604020202020204" pitchFamily="34" charset="0"/>
                <a:ea typeface="Calibri" panose="020F0502020204030204" pitchFamily="34" charset="0"/>
              </a:rPr>
              <a:t>nearest</a:t>
            </a:r>
            <a:r>
              <a:rPr lang="en-AU" sz="3400" dirty="0">
                <a:latin typeface="Arial" panose="020B0604020202020204" pitchFamily="34" charset="0"/>
                <a:ea typeface="Calibri" panose="020F0502020204030204" pitchFamily="34" charset="0"/>
              </a:rPr>
              <a:t>:</a:t>
            </a:r>
          </a:p>
          <a:p>
            <a:pPr lvl="0">
              <a:lnSpc>
                <a:spcPct val="150000"/>
              </a:lnSpc>
              <a:spcBef>
                <a:spcPts val="1200"/>
              </a:spcBef>
              <a:spcAft>
                <a:spcPts val="600"/>
              </a:spcAft>
            </a:pPr>
            <a:r>
              <a:rPr lang="en-AU" sz="3400" b="1" dirty="0">
                <a:solidFill>
                  <a:schemeClr val="accent2"/>
                </a:solidFill>
                <a:effectLst/>
                <a:latin typeface="Arial" panose="020B0604020202020204" pitchFamily="34" charset="0"/>
                <a:ea typeface="Calibri" panose="020F0502020204030204" pitchFamily="34" charset="0"/>
              </a:rPr>
              <a:t>a) thousand</a:t>
            </a:r>
          </a:p>
          <a:p>
            <a:pPr lvl="0">
              <a:lnSpc>
                <a:spcPct val="150000"/>
              </a:lnSpc>
              <a:spcBef>
                <a:spcPts val="1200"/>
              </a:spcBef>
              <a:spcAft>
                <a:spcPts val="600"/>
              </a:spcAft>
            </a:pPr>
            <a:r>
              <a:rPr lang="en-AU" sz="3400" b="1" dirty="0">
                <a:solidFill>
                  <a:srgbClr val="00B050"/>
                </a:solidFill>
                <a:latin typeface="Arial" panose="020B0604020202020204" pitchFamily="34" charset="0"/>
                <a:ea typeface="Calibri" panose="020F0502020204030204" pitchFamily="34" charset="0"/>
              </a:rPr>
              <a:t>b) ten thousand</a:t>
            </a:r>
          </a:p>
          <a:p>
            <a:pPr lvl="0">
              <a:lnSpc>
                <a:spcPct val="150000"/>
              </a:lnSpc>
              <a:spcBef>
                <a:spcPts val="1200"/>
              </a:spcBef>
              <a:spcAft>
                <a:spcPts val="600"/>
              </a:spcAft>
            </a:pPr>
            <a:r>
              <a:rPr lang="en-AU" sz="3400" b="1" dirty="0">
                <a:solidFill>
                  <a:srgbClr val="EE6314"/>
                </a:solidFill>
                <a:effectLst/>
                <a:latin typeface="Arial" panose="020B0604020202020204" pitchFamily="34" charset="0"/>
                <a:ea typeface="Calibri" panose="020F0502020204030204" pitchFamily="34" charset="0"/>
              </a:rPr>
              <a:t>c) hundred thousand</a:t>
            </a:r>
          </a:p>
          <a:p>
            <a:pPr lvl="0">
              <a:lnSpc>
                <a:spcPct val="150000"/>
              </a:lnSpc>
              <a:spcBef>
                <a:spcPts val="1200"/>
              </a:spcBef>
              <a:spcAft>
                <a:spcPts val="600"/>
              </a:spcAft>
            </a:pPr>
            <a:r>
              <a:rPr lang="en-AU" sz="3400" dirty="0">
                <a:effectLst/>
                <a:latin typeface="Arial" panose="020B0604020202020204" pitchFamily="34" charset="0"/>
                <a:ea typeface="Calibri" panose="020F0502020204030204" pitchFamily="34" charset="0"/>
              </a:rPr>
              <a:t>for the </a:t>
            </a:r>
            <a:r>
              <a:rPr lang="en-AU" sz="3400" b="1" dirty="0">
                <a:effectLst/>
                <a:latin typeface="Arial" panose="020B0604020202020204" pitchFamily="34" charset="0"/>
                <a:ea typeface="Calibri" panose="020F0502020204030204" pitchFamily="34" charset="0"/>
              </a:rPr>
              <a:t>number marked </a:t>
            </a:r>
            <a:r>
              <a:rPr lang="en-AU" sz="3400" dirty="0">
                <a:effectLst/>
                <a:latin typeface="Arial" panose="020B0604020202020204" pitchFamily="34" charset="0"/>
                <a:ea typeface="Calibri" panose="020F0502020204030204" pitchFamily="34" charset="0"/>
              </a:rPr>
              <a:t>on each of the number lines.</a:t>
            </a:r>
          </a:p>
        </p:txBody>
      </p:sp>
      <p:pic>
        <p:nvPicPr>
          <p:cNvPr id="7" name="Picture 6" descr="3 number lines with the following numbers marked:&#10;8213&#10;47 563&#10;125 500">
            <a:extLst>
              <a:ext uri="{FF2B5EF4-FFF2-40B4-BE49-F238E27FC236}">
                <a16:creationId xmlns:a16="http://schemas.microsoft.com/office/drawing/2014/main" id="{E525B3B5-B4D6-40E1-1B18-C7DEF85876E2}"/>
              </a:ext>
            </a:extLst>
          </p:cNvPr>
          <p:cNvPicPr>
            <a:picLocks noChangeAspect="1"/>
          </p:cNvPicPr>
          <p:nvPr/>
        </p:nvPicPr>
        <p:blipFill>
          <a:blip r:embed="rId4"/>
          <a:stretch>
            <a:fillRect/>
          </a:stretch>
        </p:blipFill>
        <p:spPr>
          <a:xfrm>
            <a:off x="5942739" y="1273064"/>
            <a:ext cx="5901261" cy="4568936"/>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3655ABAA-9853-469A-92B1-6FCCB7C7A1A4}"/>
              </a:ext>
            </a:extLst>
          </p:cNvPr>
          <p:cNvSpPr txBox="1"/>
          <p:nvPr/>
        </p:nvSpPr>
        <p:spPr>
          <a:xfrm>
            <a:off x="360000" y="1029655"/>
            <a:ext cx="5583600" cy="6239209"/>
          </a:xfrm>
          <a:prstGeom prst="rect">
            <a:avLst/>
          </a:prstGeom>
          <a:noFill/>
        </p:spPr>
        <p:txBody>
          <a:bodyPr wrap="square">
            <a:spAutoFit/>
          </a:bodyPr>
          <a:lstStyle/>
          <a:p>
            <a:pPr lvl="0">
              <a:lnSpc>
                <a:spcPct val="150000"/>
              </a:lnSpc>
            </a:pPr>
            <a:r>
              <a:rPr lang="en-AU" sz="4000" b="1" dirty="0"/>
              <a:t>Record </a:t>
            </a:r>
            <a:r>
              <a:rPr lang="en-AU" sz="4000" dirty="0"/>
              <a:t>the object at the </a:t>
            </a:r>
            <a:r>
              <a:rPr lang="en-AU" sz="4000" b="1" dirty="0"/>
              <a:t>position</a:t>
            </a:r>
            <a:r>
              <a:rPr lang="en-AU" sz="4000" dirty="0"/>
              <a:t>:</a:t>
            </a:r>
          </a:p>
          <a:p>
            <a:pPr marL="571500" lvl="0" indent="-571500">
              <a:lnSpc>
                <a:spcPct val="150000"/>
              </a:lnSpc>
              <a:buFont typeface="Arial" panose="020B0604020202020204" pitchFamily="34" charset="0"/>
              <a:buChar char="•"/>
            </a:pPr>
            <a:r>
              <a:rPr lang="en-AU" sz="4000" dirty="0"/>
              <a:t>A4</a:t>
            </a:r>
          </a:p>
          <a:p>
            <a:pPr marL="571500" lvl="0" indent="-571500">
              <a:lnSpc>
                <a:spcPct val="150000"/>
              </a:lnSpc>
              <a:buFont typeface="Arial" panose="020B0604020202020204" pitchFamily="34" charset="0"/>
              <a:buChar char="•"/>
            </a:pPr>
            <a:r>
              <a:rPr lang="en-AU" sz="4000" dirty="0"/>
              <a:t>C3</a:t>
            </a:r>
          </a:p>
          <a:p>
            <a:pPr marL="571500" lvl="0" indent="-571500">
              <a:lnSpc>
                <a:spcPct val="150000"/>
              </a:lnSpc>
              <a:buFont typeface="Arial" panose="020B0604020202020204" pitchFamily="34" charset="0"/>
              <a:buChar char="•"/>
            </a:pPr>
            <a:r>
              <a:rPr lang="en-AU" sz="4000" dirty="0"/>
              <a:t>C1</a:t>
            </a:r>
          </a:p>
          <a:p>
            <a:pPr marL="571500" lvl="0" indent="-571500">
              <a:lnSpc>
                <a:spcPct val="150000"/>
              </a:lnSpc>
              <a:buFont typeface="Arial" panose="020B0604020202020204" pitchFamily="34" charset="0"/>
              <a:buChar char="•"/>
            </a:pPr>
            <a:r>
              <a:rPr lang="en-AU" sz="4000" dirty="0"/>
              <a:t>D4</a:t>
            </a:r>
          </a:p>
          <a:p>
            <a:pPr marL="457200" lvl="0" indent="-457200" algn="ctr">
              <a:lnSpc>
                <a:spcPct val="150000"/>
              </a:lnSpc>
              <a:buFont typeface="Arial" panose="020B0604020202020204" pitchFamily="34" charset="0"/>
              <a:buChar char="•"/>
            </a:pPr>
            <a:endParaRPr lang="en-AU" sz="3000" dirty="0"/>
          </a:p>
        </p:txBody>
      </p:sp>
      <p:pic>
        <p:nvPicPr>
          <p:cNvPr id="8" name="Picture 7" descr="A grid map (4 x 4) with the following objects in the location:&#10;&#10;A1 - coral&#10;A4 - crab&#10;C1 - shell&#10;C3 - starfish&#10;D2 - message in a bottle&#10;D4 - turtle">
            <a:extLst>
              <a:ext uri="{FF2B5EF4-FFF2-40B4-BE49-F238E27FC236}">
                <a16:creationId xmlns:a16="http://schemas.microsoft.com/office/drawing/2014/main" id="{E9199063-E006-F23A-1149-6F61CBF4A36A}"/>
              </a:ext>
            </a:extLst>
          </p:cNvPr>
          <p:cNvPicPr>
            <a:picLocks noChangeAspect="1"/>
          </p:cNvPicPr>
          <p:nvPr/>
        </p:nvPicPr>
        <p:blipFill>
          <a:blip r:embed="rId4"/>
          <a:stretch>
            <a:fillRect/>
          </a:stretch>
        </p:blipFill>
        <p:spPr>
          <a:xfrm>
            <a:off x="6142762" y="795407"/>
            <a:ext cx="4788146" cy="5702593"/>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dirty="0"/>
              <a:t>Activity 2 – continuing a pattern</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n increasing triangle pattern 3, 6, 9.&#10;&#10;The following is written:&#10;&#10;What would come next?&#10;&#10;How many steps would you need to make a number larger than 30?&#10;&#10;How many steps would you need to make the number 66?">
            <a:extLst>
              <a:ext uri="{FF2B5EF4-FFF2-40B4-BE49-F238E27FC236}">
                <a16:creationId xmlns:a16="http://schemas.microsoft.com/office/drawing/2014/main" id="{E023AD16-44FC-268A-F1ED-D3619FAB43DF}"/>
              </a:ext>
            </a:extLst>
          </p:cNvPr>
          <p:cNvPicPr>
            <a:picLocks noChangeAspect="1"/>
          </p:cNvPicPr>
          <p:nvPr/>
        </p:nvPicPr>
        <p:blipFill>
          <a:blip r:embed="rId4"/>
          <a:stretch>
            <a:fillRect/>
          </a:stretch>
        </p:blipFill>
        <p:spPr>
          <a:xfrm>
            <a:off x="2714682" y="1305675"/>
            <a:ext cx="6965766" cy="487084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dirty="0">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(2)</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1137409"/>
            <a:ext cx="11243037" cy="754243"/>
          </a:xfrm>
        </p:spPr>
        <p:txBody>
          <a:bodyPr/>
          <a:lstStyle/>
          <a:p>
            <a:pPr algn="ctr"/>
            <a:r>
              <a:rPr lang="en-US" sz="4400" dirty="0"/>
              <a:t>The pattern of </a:t>
            </a:r>
            <a:r>
              <a:rPr lang="en-US" sz="4400" b="1" dirty="0"/>
              <a:t>multiples</a:t>
            </a:r>
            <a:r>
              <a:rPr lang="en-US" sz="4400" dirty="0"/>
              <a:t> is…</a:t>
            </a:r>
          </a:p>
          <a:p>
            <a:pPr algn="ctr"/>
            <a:endParaRPr lang="en-US" sz="4400" dirty="0"/>
          </a:p>
        </p:txBody>
      </p:sp>
      <p:sp>
        <p:nvSpPr>
          <p:cNvPr id="9" name="B">
            <a:extLst>
              <a:ext uri="{FF2B5EF4-FFF2-40B4-BE49-F238E27FC236}">
                <a16:creationId xmlns:a16="http://schemas.microsoft.com/office/drawing/2014/main" id="{F91A42F4-D8C9-20A3-82EB-86FAD4D776A8}"/>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768654"/>
            <a:ext cx="10175920" cy="641396"/>
          </a:xfrm>
        </p:spPr>
        <p:txBody>
          <a:bodyPr anchor="ctr"/>
          <a:lstStyle/>
          <a:p>
            <a:r>
              <a:rPr lang="en-US" sz="3600" dirty="0"/>
              <a:t>5, 10, 15, 20, 25</a:t>
            </a:r>
          </a:p>
        </p:txBody>
      </p:sp>
      <p:sp>
        <p:nvSpPr>
          <p:cNvPr id="10" name="B">
            <a:extLst>
              <a:ext uri="{FF2B5EF4-FFF2-40B4-BE49-F238E27FC236}">
                <a16:creationId xmlns:a16="http://schemas.microsoft.com/office/drawing/2014/main" id="{CA9D5B15-A13C-EE8B-176F-3B4E3454A1A2}"/>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665092"/>
            <a:ext cx="10175920" cy="641396"/>
          </a:xfrm>
        </p:spPr>
        <p:txBody>
          <a:bodyPr anchor="ctr"/>
          <a:lstStyle/>
          <a:p>
            <a:r>
              <a:rPr lang="en-US" sz="3600" dirty="0"/>
              <a:t>5, 15, 25, 35, 45</a:t>
            </a:r>
          </a:p>
        </p:txBody>
      </p:sp>
      <p:sp>
        <p:nvSpPr>
          <p:cNvPr id="12" name="C">
            <a:extLst>
              <a:ext uri="{FF2B5EF4-FFF2-40B4-BE49-F238E27FC236}">
                <a16:creationId xmlns:a16="http://schemas.microsoft.com/office/drawing/2014/main" id="{B4746450-E4E2-359C-DFCA-0532E811BD1E}"/>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515145"/>
            <a:ext cx="10175920" cy="641396"/>
          </a:xfrm>
        </p:spPr>
        <p:txBody>
          <a:bodyPr anchor="ctr"/>
          <a:lstStyle/>
          <a:p>
            <a:r>
              <a:rPr lang="en-US" sz="3600" dirty="0"/>
              <a:t>5, 6, 7, 8, 9</a:t>
            </a:r>
          </a:p>
        </p:txBody>
      </p:sp>
      <p:sp>
        <p:nvSpPr>
          <p:cNvPr id="11" name="D">
            <a:extLst>
              <a:ext uri="{FF2B5EF4-FFF2-40B4-BE49-F238E27FC236}">
                <a16:creationId xmlns:a16="http://schemas.microsoft.com/office/drawing/2014/main" id="{9B8955CE-78C1-2F30-7505-4CA44A86BDFF}"/>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399893"/>
            <a:ext cx="10175920" cy="641396"/>
          </a:xfrm>
        </p:spPr>
        <p:txBody>
          <a:bodyPr anchor="ctr"/>
          <a:lstStyle/>
          <a:p>
            <a:r>
              <a:rPr lang="en-US" sz="3600" dirty="0"/>
              <a:t>1, 2, 3, 4, 5</a:t>
            </a:r>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7" name="Picture 6" descr="5 columns of dogs with a snail on its back. 1 dog/snail in the first column is marked with 5. The second column contains 2 dogs/snails, the third column 3 dogs/snails, the fourth column 4 dogs/snails and the last column 5 dogs/snails.">
            <a:extLst>
              <a:ext uri="{FF2B5EF4-FFF2-40B4-BE49-F238E27FC236}">
                <a16:creationId xmlns:a16="http://schemas.microsoft.com/office/drawing/2014/main" id="{DCE24552-2BA4-77BE-581B-AC2C5EBDC90A}"/>
              </a:ext>
            </a:extLst>
          </p:cNvPr>
          <p:cNvPicPr>
            <a:picLocks noChangeAspect="1"/>
          </p:cNvPicPr>
          <p:nvPr/>
        </p:nvPicPr>
        <p:blipFill>
          <a:blip r:embed="rId4"/>
          <a:stretch>
            <a:fillRect/>
          </a:stretch>
        </p:blipFill>
        <p:spPr>
          <a:xfrm>
            <a:off x="6096000" y="2243493"/>
            <a:ext cx="5266485" cy="40351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3BFAE944-4872-5E0D-ADE2-378A5BB49D7B}"/>
              </a:ext>
            </a:extLst>
          </p:cNvPr>
          <p:cNvSpPr txBox="1"/>
          <p:nvPr/>
        </p:nvSpPr>
        <p:spPr>
          <a:xfrm>
            <a:off x="0" y="1183417"/>
            <a:ext cx="11945976" cy="4491166"/>
          </a:xfrm>
          <a:prstGeom prst="rect">
            <a:avLst/>
          </a:prstGeom>
          <a:noFill/>
        </p:spPr>
        <p:txBody>
          <a:bodyPr wrap="square">
            <a:spAutoFit/>
          </a:bodyPr>
          <a:lstStyle/>
          <a:p>
            <a:pPr lvl="0" algn="ctr">
              <a:lnSpc>
                <a:spcPct val="150000"/>
              </a:lnSpc>
              <a:spcBef>
                <a:spcPts val="1200"/>
              </a:spcBef>
              <a:spcAft>
                <a:spcPts val="600"/>
              </a:spcAft>
            </a:pPr>
            <a:r>
              <a:rPr lang="en-AU" sz="4400" dirty="0">
                <a:latin typeface="Arial" panose="020B0604020202020204" pitchFamily="34" charset="0"/>
                <a:ea typeface="Calibri" panose="020F0502020204030204" pitchFamily="34" charset="0"/>
                <a:cs typeface="Times New Roman" panose="02020603050405020304" pitchFamily="18" charset="0"/>
              </a:rPr>
              <a:t>D</a:t>
            </a:r>
            <a:r>
              <a:rPr lang="en-AU" sz="4400" dirty="0">
                <a:effectLst/>
                <a:latin typeface="Arial" panose="020B0604020202020204" pitchFamily="34" charset="0"/>
                <a:ea typeface="Calibri" panose="020F0502020204030204" pitchFamily="34" charset="0"/>
                <a:cs typeface="Times New Roman" panose="02020603050405020304" pitchFamily="18" charset="0"/>
              </a:rPr>
              <a:t>raw a</a:t>
            </a:r>
            <a:r>
              <a:rPr lang="en-AU" sz="4400" dirty="0">
                <a:latin typeface="Arial" panose="020B0604020202020204" pitchFamily="34" charset="0"/>
                <a:ea typeface="Calibri" panose="020F0502020204030204" pitchFamily="34" charset="0"/>
                <a:cs typeface="Times New Roman" panose="02020603050405020304" pitchFamily="18" charset="0"/>
              </a:rPr>
              <a:t> </a:t>
            </a:r>
            <a:r>
              <a:rPr lang="en-AU" sz="4400" b="1" dirty="0">
                <a:latin typeface="Arial" panose="020B0604020202020204" pitchFamily="34" charset="0"/>
                <a:ea typeface="Calibri" panose="020F0502020204030204" pitchFamily="34" charset="0"/>
                <a:cs typeface="Times New Roman" panose="02020603050405020304" pitchFamily="18" charset="0"/>
              </a:rPr>
              <a:t>3 threes </a:t>
            </a:r>
            <a:r>
              <a:rPr lang="en-AU" sz="4400" dirty="0">
                <a:latin typeface="Arial" panose="020B0604020202020204" pitchFamily="34" charset="0"/>
                <a:ea typeface="Calibri" panose="020F0502020204030204" pitchFamily="34" charset="0"/>
                <a:cs typeface="Times New Roman" panose="02020603050405020304" pitchFamily="18" charset="0"/>
              </a:rPr>
              <a:t>array.</a:t>
            </a:r>
            <a:r>
              <a:rPr lang="en-AU" sz="4400" dirty="0">
                <a:effectLst/>
                <a:latin typeface="Arial" panose="020B0604020202020204" pitchFamily="34" charset="0"/>
                <a:ea typeface="Calibri" panose="020F0502020204030204" pitchFamily="34" charset="0"/>
                <a:cs typeface="Times New Roman" panose="02020603050405020304" pitchFamily="18" charset="0"/>
              </a:rPr>
              <a:t>                                                                                                                                                </a:t>
            </a:r>
          </a:p>
          <a:p>
            <a:pPr marL="742950" lvl="0" indent="-742950" algn="ctr">
              <a:lnSpc>
                <a:spcPct val="150000"/>
              </a:lnSpc>
              <a:spcBef>
                <a:spcPts val="1200"/>
              </a:spcBef>
              <a:spcAft>
                <a:spcPts val="600"/>
              </a:spcAft>
              <a:buFont typeface="+mj-lt"/>
              <a:buAutoNum type="alphaLcParenR"/>
            </a:pPr>
            <a:r>
              <a:rPr lang="en-AU" sz="4400" dirty="0">
                <a:latin typeface="Arial" panose="020B0604020202020204" pitchFamily="34" charset="0"/>
                <a:ea typeface="Calibri" panose="020F0502020204030204" pitchFamily="34" charset="0"/>
                <a:cs typeface="Times New Roman" panose="02020603050405020304" pitchFamily="18" charset="0"/>
              </a:rPr>
              <a:t>R</a:t>
            </a:r>
            <a:r>
              <a:rPr lang="en-AU" sz="4400" dirty="0">
                <a:effectLst/>
                <a:latin typeface="Arial" panose="020B0604020202020204" pitchFamily="34" charset="0"/>
                <a:ea typeface="Calibri" panose="020F0502020204030204" pitchFamily="34" charset="0"/>
                <a:cs typeface="Times New Roman" panose="02020603050405020304" pitchFamily="18" charset="0"/>
              </a:rPr>
              <a:t>ecord the </a:t>
            </a:r>
            <a:r>
              <a:rPr lang="en-AU" sz="4400" b="1" dirty="0">
                <a:effectLst/>
                <a:latin typeface="Arial" panose="020B0604020202020204" pitchFamily="34" charset="0"/>
                <a:ea typeface="Calibri" panose="020F0502020204030204" pitchFamily="34" charset="0"/>
                <a:cs typeface="Times New Roman" panose="02020603050405020304" pitchFamily="18" charset="0"/>
              </a:rPr>
              <a:t>multiplication fact </a:t>
            </a:r>
            <a:r>
              <a:rPr lang="en-AU" sz="4400" dirty="0">
                <a:effectLst/>
                <a:latin typeface="Arial" panose="020B0604020202020204" pitchFamily="34" charset="0"/>
                <a:ea typeface="Calibri" panose="020F0502020204030204" pitchFamily="34" charset="0"/>
                <a:cs typeface="Times New Roman" panose="02020603050405020304" pitchFamily="18" charset="0"/>
              </a:rPr>
              <a:t>it represents.</a:t>
            </a:r>
          </a:p>
          <a:p>
            <a:pPr marL="742950" lvl="0" indent="-742950" algn="ctr">
              <a:lnSpc>
                <a:spcPct val="150000"/>
              </a:lnSpc>
              <a:spcBef>
                <a:spcPts val="1200"/>
              </a:spcBef>
              <a:spcAft>
                <a:spcPts val="600"/>
              </a:spcAft>
              <a:buFont typeface="+mj-lt"/>
              <a:buAutoNum type="alphaLcParenR"/>
            </a:pPr>
            <a:r>
              <a:rPr lang="en-AU" sz="4400" dirty="0">
                <a:effectLst/>
                <a:latin typeface="Arial" panose="020B0604020202020204" pitchFamily="34" charset="0"/>
                <a:ea typeface="Calibri" panose="020F0502020204030204" pitchFamily="34" charset="0"/>
                <a:cs typeface="Times New Roman" panose="02020603050405020304" pitchFamily="18" charset="0"/>
              </a:rPr>
              <a:t>Record the </a:t>
            </a:r>
            <a:r>
              <a:rPr lang="en-AU" sz="4400" b="1" dirty="0">
                <a:effectLst/>
                <a:latin typeface="Arial" panose="020B0604020202020204" pitchFamily="34" charset="0"/>
                <a:ea typeface="Calibri" panose="020F0502020204030204" pitchFamily="34" charset="0"/>
                <a:cs typeface="Times New Roman" panose="02020603050405020304" pitchFamily="18" charset="0"/>
              </a:rPr>
              <a:t>square number.</a:t>
            </a:r>
            <a:endParaRPr lang="en-AU" sz="44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5DD050F-F53C-90EB-DA56-74888DFBC879}"/>
              </a:ext>
            </a:extLst>
          </p:cNvPr>
          <p:cNvSpPr txBox="1"/>
          <p:nvPr/>
        </p:nvSpPr>
        <p:spPr>
          <a:xfrm>
            <a:off x="912366" y="1033918"/>
            <a:ext cx="10367268" cy="1824923"/>
          </a:xfrm>
          <a:prstGeom prst="rect">
            <a:avLst/>
          </a:prstGeom>
          <a:noFill/>
        </p:spPr>
        <p:txBody>
          <a:bodyPr wrap="square">
            <a:spAutoFit/>
          </a:bodyPr>
          <a:lstStyle/>
          <a:p>
            <a:pPr lvl="0" algn="ctr">
              <a:lnSpc>
                <a:spcPct val="150000"/>
              </a:lnSpc>
            </a:pPr>
            <a:r>
              <a:rPr lang="en-AU" sz="4000" dirty="0"/>
              <a:t>Which of these 2D shapes </a:t>
            </a:r>
            <a:r>
              <a:rPr lang="en-AU" sz="4000" b="1" dirty="0"/>
              <a:t>do not </a:t>
            </a:r>
            <a:r>
              <a:rPr lang="en-AU" sz="4000" dirty="0"/>
              <a:t>have a</a:t>
            </a:r>
            <a:r>
              <a:rPr lang="en-AU" sz="4000" b="1" dirty="0"/>
              <a:t> line of symmetry</a:t>
            </a:r>
            <a:r>
              <a:rPr lang="en-AU" sz="4000" dirty="0"/>
              <a:t>?</a:t>
            </a:r>
          </a:p>
        </p:txBody>
      </p:sp>
      <p:sp>
        <p:nvSpPr>
          <p:cNvPr id="11" name="TextBox 10">
            <a:extLst>
              <a:ext uri="{FF2B5EF4-FFF2-40B4-BE49-F238E27FC236}">
                <a16:creationId xmlns:a16="http://schemas.microsoft.com/office/drawing/2014/main" id="{AF098B9F-FB51-1800-36DA-6D6DD06255FC}"/>
              </a:ext>
            </a:extLst>
          </p:cNvPr>
          <p:cNvSpPr txBox="1"/>
          <p:nvPr/>
        </p:nvSpPr>
        <p:spPr>
          <a:xfrm>
            <a:off x="327141" y="3139969"/>
            <a:ext cx="664467" cy="820674"/>
          </a:xfrm>
          <a:prstGeom prst="rect">
            <a:avLst/>
          </a:prstGeom>
          <a:noFill/>
        </p:spPr>
        <p:txBody>
          <a:bodyPr wrap="square">
            <a:spAutoFit/>
          </a:bodyPr>
          <a:lstStyle/>
          <a:p>
            <a:pPr lvl="0" algn="ctr">
              <a:lnSpc>
                <a:spcPct val="150000"/>
              </a:lnSpc>
            </a:pPr>
            <a:r>
              <a:rPr lang="en-AU" sz="3600" b="1" dirty="0"/>
              <a:t>A</a:t>
            </a:r>
          </a:p>
        </p:txBody>
      </p:sp>
      <p:pic>
        <p:nvPicPr>
          <p:cNvPr id="10" name="Picture 9" descr="parallelogram.">
            <a:extLst>
              <a:ext uri="{FF2B5EF4-FFF2-40B4-BE49-F238E27FC236}">
                <a16:creationId xmlns:a16="http://schemas.microsoft.com/office/drawing/2014/main" id="{B7E60422-1D45-83C6-EE5C-56F351A14201}"/>
              </a:ext>
            </a:extLst>
          </p:cNvPr>
          <p:cNvPicPr>
            <a:picLocks noChangeAspect="1"/>
          </p:cNvPicPr>
          <p:nvPr/>
        </p:nvPicPr>
        <p:blipFill>
          <a:blip r:embed="rId4"/>
          <a:stretch>
            <a:fillRect/>
          </a:stretch>
        </p:blipFill>
        <p:spPr>
          <a:xfrm>
            <a:off x="176156" y="4016105"/>
            <a:ext cx="3170762" cy="1465639"/>
          </a:xfrm>
          <a:prstGeom prst="rect">
            <a:avLst/>
          </a:prstGeom>
        </p:spPr>
      </p:pic>
      <p:sp>
        <p:nvSpPr>
          <p:cNvPr id="14" name="TextBox 13">
            <a:extLst>
              <a:ext uri="{FF2B5EF4-FFF2-40B4-BE49-F238E27FC236}">
                <a16:creationId xmlns:a16="http://schemas.microsoft.com/office/drawing/2014/main" id="{40189713-5665-40B2-ABF5-7BEFB87FC291}"/>
              </a:ext>
            </a:extLst>
          </p:cNvPr>
          <p:cNvSpPr txBox="1"/>
          <p:nvPr/>
        </p:nvSpPr>
        <p:spPr>
          <a:xfrm>
            <a:off x="3346918" y="3130644"/>
            <a:ext cx="664467" cy="820674"/>
          </a:xfrm>
          <a:prstGeom prst="rect">
            <a:avLst/>
          </a:prstGeom>
          <a:noFill/>
        </p:spPr>
        <p:txBody>
          <a:bodyPr wrap="square">
            <a:spAutoFit/>
          </a:bodyPr>
          <a:lstStyle/>
          <a:p>
            <a:pPr lvl="0" algn="ctr">
              <a:lnSpc>
                <a:spcPct val="150000"/>
              </a:lnSpc>
            </a:pPr>
            <a:r>
              <a:rPr lang="en-AU" sz="3600" b="1" dirty="0"/>
              <a:t>B</a:t>
            </a:r>
          </a:p>
        </p:txBody>
      </p:sp>
      <p:pic>
        <p:nvPicPr>
          <p:cNvPr id="13" name="Picture 12" descr="trapezium">
            <a:extLst>
              <a:ext uri="{FF2B5EF4-FFF2-40B4-BE49-F238E27FC236}">
                <a16:creationId xmlns:a16="http://schemas.microsoft.com/office/drawing/2014/main" id="{8C4F680D-0460-E2B0-FDF3-E33B9AB9A07E}"/>
              </a:ext>
            </a:extLst>
          </p:cNvPr>
          <p:cNvPicPr>
            <a:picLocks noChangeAspect="1"/>
          </p:cNvPicPr>
          <p:nvPr/>
        </p:nvPicPr>
        <p:blipFill>
          <a:blip r:embed="rId5"/>
          <a:stretch>
            <a:fillRect/>
          </a:stretch>
        </p:blipFill>
        <p:spPr>
          <a:xfrm>
            <a:off x="3859545" y="3732211"/>
            <a:ext cx="2202174" cy="2033425"/>
          </a:xfrm>
          <a:prstGeom prst="rect">
            <a:avLst/>
          </a:prstGeom>
        </p:spPr>
      </p:pic>
      <p:sp>
        <p:nvSpPr>
          <p:cNvPr id="15" name="TextBox 14">
            <a:extLst>
              <a:ext uri="{FF2B5EF4-FFF2-40B4-BE49-F238E27FC236}">
                <a16:creationId xmlns:a16="http://schemas.microsoft.com/office/drawing/2014/main" id="{11AC5791-4FFA-48DD-1D2E-0545AAD22283}"/>
              </a:ext>
            </a:extLst>
          </p:cNvPr>
          <p:cNvSpPr txBox="1"/>
          <p:nvPr/>
        </p:nvSpPr>
        <p:spPr>
          <a:xfrm>
            <a:off x="6366695" y="3130644"/>
            <a:ext cx="664467" cy="820674"/>
          </a:xfrm>
          <a:prstGeom prst="rect">
            <a:avLst/>
          </a:prstGeom>
          <a:noFill/>
        </p:spPr>
        <p:txBody>
          <a:bodyPr wrap="square">
            <a:spAutoFit/>
          </a:bodyPr>
          <a:lstStyle/>
          <a:p>
            <a:pPr lvl="0" algn="ctr">
              <a:lnSpc>
                <a:spcPct val="150000"/>
              </a:lnSpc>
            </a:pPr>
            <a:r>
              <a:rPr lang="en-AU" sz="3600" b="1" dirty="0"/>
              <a:t>C</a:t>
            </a:r>
          </a:p>
        </p:txBody>
      </p:sp>
      <p:pic>
        <p:nvPicPr>
          <p:cNvPr id="17" name="Picture 16" descr="pentagon">
            <a:extLst>
              <a:ext uri="{FF2B5EF4-FFF2-40B4-BE49-F238E27FC236}">
                <a16:creationId xmlns:a16="http://schemas.microsoft.com/office/drawing/2014/main" id="{A8EE7A5E-F9A2-3932-A0B2-6A6A75185DDC}"/>
              </a:ext>
            </a:extLst>
          </p:cNvPr>
          <p:cNvPicPr>
            <a:picLocks noChangeAspect="1"/>
          </p:cNvPicPr>
          <p:nvPr/>
        </p:nvPicPr>
        <p:blipFill>
          <a:blip r:embed="rId6"/>
          <a:srcRect r="16206"/>
          <a:stretch>
            <a:fillRect/>
          </a:stretch>
        </p:blipFill>
        <p:spPr>
          <a:xfrm>
            <a:off x="6879322" y="3686758"/>
            <a:ext cx="1977725" cy="2033425"/>
          </a:xfrm>
          <a:prstGeom prst="rect">
            <a:avLst/>
          </a:prstGeom>
        </p:spPr>
      </p:pic>
      <p:sp>
        <p:nvSpPr>
          <p:cNvPr id="18" name="TextBox 17">
            <a:extLst>
              <a:ext uri="{FF2B5EF4-FFF2-40B4-BE49-F238E27FC236}">
                <a16:creationId xmlns:a16="http://schemas.microsoft.com/office/drawing/2014/main" id="{20CCE5F9-A088-F528-0CE1-F056492DEC6D}"/>
              </a:ext>
            </a:extLst>
          </p:cNvPr>
          <p:cNvSpPr txBox="1"/>
          <p:nvPr/>
        </p:nvSpPr>
        <p:spPr>
          <a:xfrm>
            <a:off x="9386473" y="3195431"/>
            <a:ext cx="664467" cy="820674"/>
          </a:xfrm>
          <a:prstGeom prst="rect">
            <a:avLst/>
          </a:prstGeom>
          <a:noFill/>
        </p:spPr>
        <p:txBody>
          <a:bodyPr wrap="square">
            <a:spAutoFit/>
          </a:bodyPr>
          <a:lstStyle/>
          <a:p>
            <a:pPr lvl="0" algn="ctr">
              <a:lnSpc>
                <a:spcPct val="150000"/>
              </a:lnSpc>
            </a:pPr>
            <a:r>
              <a:rPr lang="en-AU" sz="3600" b="1" dirty="0"/>
              <a:t>D</a:t>
            </a:r>
          </a:p>
        </p:txBody>
      </p:sp>
      <p:pic>
        <p:nvPicPr>
          <p:cNvPr id="20" name="Picture 19" descr="scalene triangle">
            <a:extLst>
              <a:ext uri="{FF2B5EF4-FFF2-40B4-BE49-F238E27FC236}">
                <a16:creationId xmlns:a16="http://schemas.microsoft.com/office/drawing/2014/main" id="{DF94B84A-53FF-BB35-A86B-79D4789FB5EC}"/>
              </a:ext>
            </a:extLst>
          </p:cNvPr>
          <p:cNvPicPr>
            <a:picLocks noChangeAspect="1"/>
          </p:cNvPicPr>
          <p:nvPr/>
        </p:nvPicPr>
        <p:blipFill>
          <a:blip r:embed="rId7"/>
          <a:stretch>
            <a:fillRect/>
          </a:stretch>
        </p:blipFill>
        <p:spPr>
          <a:xfrm>
            <a:off x="10015315" y="3815085"/>
            <a:ext cx="1949550" cy="1905098"/>
          </a:xfrm>
          <a:prstGeom prst="rect">
            <a:avLst/>
          </a:prstGeom>
        </p:spPr>
      </p:pic>
      <p:sp>
        <p:nvSpPr>
          <p:cNvPr id="8" name="TextBox 7">
            <a:extLst>
              <a:ext uri="{FF2B5EF4-FFF2-40B4-BE49-F238E27FC236}">
                <a16:creationId xmlns:a16="http://schemas.microsoft.com/office/drawing/2014/main" id="{16C8ED6E-C086-FFFE-5B83-0954DC7184B9}"/>
              </a:ext>
            </a:extLst>
          </p:cNvPr>
          <p:cNvSpPr txBox="1"/>
          <p:nvPr/>
        </p:nvSpPr>
        <p:spPr>
          <a:xfrm>
            <a:off x="2237834" y="5720183"/>
            <a:ext cx="7716331" cy="901593"/>
          </a:xfrm>
          <a:prstGeom prst="rect">
            <a:avLst/>
          </a:prstGeom>
          <a:noFill/>
        </p:spPr>
        <p:txBody>
          <a:bodyPr wrap="square">
            <a:spAutoFit/>
          </a:bodyPr>
          <a:lstStyle/>
          <a:p>
            <a:pPr lvl="0" algn="ctr">
              <a:lnSpc>
                <a:spcPct val="150000"/>
              </a:lnSpc>
            </a:pPr>
            <a:r>
              <a:rPr lang="en-AU" sz="4000" b="1" dirty="0"/>
              <a:t>Communicate</a:t>
            </a:r>
            <a:r>
              <a:rPr lang="en-AU" sz="4000" dirty="0"/>
              <a:t> your </a:t>
            </a:r>
            <a:r>
              <a:rPr lang="en-AU" sz="4000" b="1" dirty="0"/>
              <a:t>reasoning.</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511AEB54-CD39-E17C-4012-6DD0D5DA947E}"/>
              </a:ext>
            </a:extLst>
          </p:cNvPr>
          <p:cNvSpPr txBox="1"/>
          <p:nvPr/>
        </p:nvSpPr>
        <p:spPr>
          <a:xfrm>
            <a:off x="2599362" y="1774953"/>
            <a:ext cx="6544638" cy="3244671"/>
          </a:xfrm>
          <a:prstGeom prst="rect">
            <a:avLst/>
          </a:prstGeom>
          <a:noFill/>
        </p:spPr>
        <p:txBody>
          <a:bodyPr wrap="square">
            <a:spAutoFit/>
          </a:bodyPr>
          <a:lstStyle/>
          <a:p>
            <a:pPr algn="ctr">
              <a:lnSpc>
                <a:spcPct val="150000"/>
              </a:lnSpc>
            </a:pPr>
            <a:r>
              <a:rPr lang="en-AU" sz="4400" dirty="0"/>
              <a:t>Record the number</a:t>
            </a:r>
          </a:p>
          <a:p>
            <a:pPr algn="ctr">
              <a:lnSpc>
                <a:spcPct val="150000"/>
              </a:lnSpc>
            </a:pPr>
            <a:r>
              <a:rPr lang="en-AU" sz="4400" dirty="0"/>
              <a:t> </a:t>
            </a:r>
            <a:r>
              <a:rPr lang="en-AU" sz="5400" b="1" dirty="0">
                <a:solidFill>
                  <a:schemeClr val="accent2"/>
                </a:solidFill>
              </a:rPr>
              <a:t>248 921</a:t>
            </a:r>
          </a:p>
          <a:p>
            <a:pPr algn="ctr">
              <a:lnSpc>
                <a:spcPct val="150000"/>
              </a:lnSpc>
            </a:pPr>
            <a:r>
              <a:rPr lang="en-AU" sz="4400" b="1" dirty="0">
                <a:solidFill>
                  <a:schemeClr val="accent2"/>
                </a:solidFill>
              </a:rPr>
              <a:t> </a:t>
            </a:r>
            <a:r>
              <a:rPr lang="en-AU" sz="4400" dirty="0"/>
              <a:t>in a </a:t>
            </a:r>
            <a:r>
              <a:rPr lang="en-AU" sz="4400" b="1" dirty="0"/>
              <a:t>non-standard form.</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BCB55D5-C1F6-9720-BCDB-E13011367C98}"/>
              </a:ext>
            </a:extLst>
          </p:cNvPr>
          <p:cNvSpPr txBox="1"/>
          <p:nvPr/>
        </p:nvSpPr>
        <p:spPr>
          <a:xfrm>
            <a:off x="1948069" y="1175750"/>
            <a:ext cx="8009738" cy="1998176"/>
          </a:xfrm>
          <a:prstGeom prst="rect">
            <a:avLst/>
          </a:prstGeom>
          <a:noFill/>
        </p:spPr>
        <p:txBody>
          <a:bodyPr wrap="square">
            <a:spAutoFit/>
          </a:bodyPr>
          <a:lstStyle/>
          <a:p>
            <a:pPr algn="ctr">
              <a:lnSpc>
                <a:spcPct val="150000"/>
              </a:lnSpc>
            </a:pPr>
            <a:r>
              <a:rPr lang="en-AU" sz="4400" b="1" dirty="0"/>
              <a:t>Order</a:t>
            </a:r>
            <a:r>
              <a:rPr lang="en-AU" sz="4400" dirty="0"/>
              <a:t> the lengths from </a:t>
            </a:r>
            <a:r>
              <a:rPr lang="en-AU" sz="4400" b="1" dirty="0"/>
              <a:t>shortest </a:t>
            </a:r>
            <a:r>
              <a:rPr lang="en-AU" sz="4400" dirty="0"/>
              <a:t> to </a:t>
            </a:r>
            <a:r>
              <a:rPr lang="en-AU" sz="4400" b="1" dirty="0"/>
              <a:t>longest:</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sp>
        <p:nvSpPr>
          <p:cNvPr id="5" name="TextBox 4">
            <a:extLst>
              <a:ext uri="{FF2B5EF4-FFF2-40B4-BE49-F238E27FC236}">
                <a16:creationId xmlns:a16="http://schemas.microsoft.com/office/drawing/2014/main" id="{26603281-1889-CE40-A759-0849138EA57B}"/>
              </a:ext>
            </a:extLst>
          </p:cNvPr>
          <p:cNvSpPr txBox="1"/>
          <p:nvPr/>
        </p:nvSpPr>
        <p:spPr>
          <a:xfrm>
            <a:off x="360000" y="3957720"/>
            <a:ext cx="3341572" cy="927340"/>
          </a:xfrm>
          <a:prstGeom prst="rect">
            <a:avLst/>
          </a:prstGeom>
          <a:noFill/>
          <a:ln w="38100">
            <a:solidFill>
              <a:schemeClr val="accent2"/>
            </a:solidFill>
          </a:ln>
        </p:spPr>
        <p:txBody>
          <a:bodyPr wrap="square" lIns="0" tIns="0" rIns="0" bIns="0" rtlCol="0" anchor="ctr">
            <a:noAutofit/>
          </a:bodyPr>
          <a:lstStyle/>
          <a:p>
            <a:pPr algn="ctr">
              <a:lnSpc>
                <a:spcPct val="150000"/>
              </a:lnSpc>
            </a:pPr>
            <a:r>
              <a:rPr lang="en-AU" sz="4400" b="1"/>
              <a:t>4 m 24 cm</a:t>
            </a:r>
          </a:p>
        </p:txBody>
      </p:sp>
      <p:sp>
        <p:nvSpPr>
          <p:cNvPr id="7" name="TextBox 6">
            <a:extLst>
              <a:ext uri="{FF2B5EF4-FFF2-40B4-BE49-F238E27FC236}">
                <a16:creationId xmlns:a16="http://schemas.microsoft.com/office/drawing/2014/main" id="{1C2E524F-77B9-C88D-4503-6E4D5CC2C841}"/>
              </a:ext>
            </a:extLst>
          </p:cNvPr>
          <p:cNvSpPr txBox="1"/>
          <p:nvPr/>
        </p:nvSpPr>
        <p:spPr>
          <a:xfrm>
            <a:off x="4323510" y="3957720"/>
            <a:ext cx="3341572" cy="927340"/>
          </a:xfrm>
          <a:prstGeom prst="rect">
            <a:avLst/>
          </a:prstGeom>
          <a:noFill/>
          <a:ln w="38100">
            <a:solidFill>
              <a:schemeClr val="accent2"/>
            </a:solidFill>
          </a:ln>
        </p:spPr>
        <p:txBody>
          <a:bodyPr wrap="square" lIns="0" tIns="0" rIns="0" bIns="0" rtlCol="0" anchor="ctr">
            <a:noAutofit/>
          </a:bodyPr>
          <a:lstStyle/>
          <a:p>
            <a:pPr algn="ctr">
              <a:lnSpc>
                <a:spcPct val="150000"/>
              </a:lnSpc>
            </a:pPr>
            <a:r>
              <a:rPr lang="en-AU" sz="4400" b="1"/>
              <a:t>1 m 92 cm</a:t>
            </a:r>
          </a:p>
        </p:txBody>
      </p:sp>
      <p:sp>
        <p:nvSpPr>
          <p:cNvPr id="8" name="TextBox 7">
            <a:extLst>
              <a:ext uri="{FF2B5EF4-FFF2-40B4-BE49-F238E27FC236}">
                <a16:creationId xmlns:a16="http://schemas.microsoft.com/office/drawing/2014/main" id="{1DCD4999-DAAE-9B07-F2D2-9B304F13FCA7}"/>
              </a:ext>
            </a:extLst>
          </p:cNvPr>
          <p:cNvSpPr txBox="1"/>
          <p:nvPr/>
        </p:nvSpPr>
        <p:spPr>
          <a:xfrm>
            <a:off x="8287021" y="3957720"/>
            <a:ext cx="3341572" cy="927340"/>
          </a:xfrm>
          <a:prstGeom prst="rect">
            <a:avLst/>
          </a:prstGeom>
          <a:noFill/>
          <a:ln w="38100">
            <a:solidFill>
              <a:schemeClr val="accent2"/>
            </a:solidFill>
          </a:ln>
        </p:spPr>
        <p:txBody>
          <a:bodyPr wrap="square" lIns="0" tIns="0" rIns="0" bIns="0" rtlCol="0" anchor="ctr">
            <a:noAutofit/>
          </a:bodyPr>
          <a:lstStyle/>
          <a:p>
            <a:pPr algn="ctr">
              <a:lnSpc>
                <a:spcPct val="150000"/>
              </a:lnSpc>
            </a:pPr>
            <a:r>
              <a:rPr lang="en-AU" sz="4400" b="1" dirty="0"/>
              <a:t>3 m 5 cm</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600608" cy="545601"/>
          </a:xfrm>
        </p:spPr>
        <p:txBody>
          <a:bodyPr/>
          <a:lstStyle/>
          <a:p>
            <a:r>
              <a:rPr lang="en-AU" sz="3200" dirty="0"/>
              <a:t>Activity 3 – target number – number patterns and multiples</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B9D7167F-8EFF-91F0-DA37-3BA9BBD5FB30}"/>
              </a:ext>
            </a:extLst>
          </p:cNvPr>
          <p:cNvSpPr txBox="1"/>
          <p:nvPr/>
        </p:nvSpPr>
        <p:spPr>
          <a:xfrm>
            <a:off x="267534" y="1193278"/>
            <a:ext cx="9205240" cy="3828288"/>
          </a:xfrm>
          <a:prstGeom prst="rect">
            <a:avLst/>
          </a:prstGeom>
          <a:noFill/>
        </p:spPr>
        <p:txBody>
          <a:bodyPr wrap="square" lIns="0" tIns="0" rIns="0" bIns="0" rtlCol="0">
            <a:noAutofit/>
          </a:bodyPr>
          <a:lstStyle/>
          <a:p>
            <a:pPr marL="457200" indent="-457200" algn="l">
              <a:lnSpc>
                <a:spcPct val="150000"/>
              </a:lnSpc>
              <a:buFont typeface="Arial" panose="020B0604020202020204" pitchFamily="34" charset="0"/>
              <a:buChar char="•"/>
            </a:pPr>
            <a:r>
              <a:rPr lang="en-AU" sz="3200" dirty="0"/>
              <a:t>Choose a </a:t>
            </a:r>
            <a:r>
              <a:rPr lang="en-AU" sz="3200" b="1" dirty="0"/>
              <a:t>target number </a:t>
            </a:r>
            <a:r>
              <a:rPr lang="en-AU" sz="3200" dirty="0"/>
              <a:t>that is a </a:t>
            </a:r>
            <a:r>
              <a:rPr lang="en-AU" sz="3200" b="1" dirty="0"/>
              <a:t>multiple of 5.</a:t>
            </a:r>
          </a:p>
          <a:p>
            <a:pPr marL="457200" indent="-457200" algn="l">
              <a:lnSpc>
                <a:spcPct val="150000"/>
              </a:lnSpc>
              <a:buFont typeface="Arial" panose="020B0604020202020204" pitchFamily="34" charset="0"/>
              <a:buChar char="•"/>
            </a:pPr>
            <a:r>
              <a:rPr lang="en-AU" sz="3200" dirty="0"/>
              <a:t>Players take turns to </a:t>
            </a:r>
            <a:r>
              <a:rPr lang="en-AU" sz="3200" b="1" dirty="0"/>
              <a:t>skip count by 5</a:t>
            </a:r>
            <a:r>
              <a:rPr lang="en-AU" sz="3200" dirty="0"/>
              <a:t> to the </a:t>
            </a:r>
            <a:r>
              <a:rPr lang="en-AU" sz="3200" b="1" dirty="0"/>
              <a:t>next one, 2 or 3 </a:t>
            </a:r>
            <a:r>
              <a:rPr lang="en-AU" sz="3200" dirty="0"/>
              <a:t>numbers.</a:t>
            </a:r>
          </a:p>
          <a:p>
            <a:pPr marL="457200" indent="-457200" algn="l">
              <a:lnSpc>
                <a:spcPct val="150000"/>
              </a:lnSpc>
              <a:buFont typeface="Arial" panose="020B0604020202020204" pitchFamily="34" charset="0"/>
              <a:buChar char="•"/>
            </a:pPr>
            <a:r>
              <a:rPr lang="en-AU" sz="3200" b="1" dirty="0"/>
              <a:t>Record</a:t>
            </a:r>
            <a:r>
              <a:rPr lang="en-AU" sz="3200" dirty="0"/>
              <a:t> the target number and numbers  counted by each player.</a:t>
            </a:r>
          </a:p>
          <a:p>
            <a:pPr marL="457200" indent="-457200" algn="l">
              <a:lnSpc>
                <a:spcPct val="150000"/>
              </a:lnSpc>
              <a:buFont typeface="Arial" panose="020B0604020202020204" pitchFamily="34" charset="0"/>
              <a:buChar char="•"/>
            </a:pPr>
            <a:r>
              <a:rPr lang="en-AU" sz="3200" dirty="0"/>
              <a:t>The player who says the target number </a:t>
            </a:r>
            <a:r>
              <a:rPr lang="en-AU" sz="3200" b="1" dirty="0"/>
              <a:t>receives a point</a:t>
            </a:r>
            <a:r>
              <a:rPr lang="en-AU" sz="3200" dirty="0"/>
              <a:t>.</a:t>
            </a:r>
          </a:p>
          <a:p>
            <a:pPr marL="457200" indent="-457200" algn="l">
              <a:lnSpc>
                <a:spcPct val="150000"/>
              </a:lnSpc>
              <a:buFont typeface="Arial" panose="020B0604020202020204" pitchFamily="34" charset="0"/>
              <a:buChar char="•"/>
            </a:pPr>
            <a:endParaRPr lang="en-AU" sz="3200" dirty="0"/>
          </a:p>
          <a:p>
            <a:pPr marL="457200" indent="-457200" algn="l">
              <a:buFont typeface="Arial" panose="020B0604020202020204" pitchFamily="34" charset="0"/>
              <a:buChar char="•"/>
            </a:pPr>
            <a:endParaRPr lang="en-AU" sz="2800" dirty="0"/>
          </a:p>
        </p:txBody>
      </p:sp>
      <p:pic>
        <p:nvPicPr>
          <p:cNvPr id="3" name="Picture 2" descr="A written record of a game of 'Counting by fives' where the target number was 85. Each turn was recorded as:&#10;Ruby: 5, 10&#10;Madi: 15, 20, 25&#10;Ruby: 30, 35, 40&#10;Madi: 45&#10;Ruby: 50, 55&#10;Madi: 60, 65&#10;Ruby: 70&#10;Madi: 75, 80, 85.">
            <a:extLst>
              <a:ext uri="{FF2B5EF4-FFF2-40B4-BE49-F238E27FC236}">
                <a16:creationId xmlns:a16="http://schemas.microsoft.com/office/drawing/2014/main" id="{09E4ADE0-DD8F-0EF8-3126-C8E1947B4B10}"/>
              </a:ext>
            </a:extLst>
          </p:cNvPr>
          <p:cNvPicPr>
            <a:picLocks noChangeAspect="1"/>
          </p:cNvPicPr>
          <p:nvPr/>
        </p:nvPicPr>
        <p:blipFill>
          <a:blip r:embed="rId4"/>
          <a:stretch>
            <a:fillRect/>
          </a:stretch>
        </p:blipFill>
        <p:spPr>
          <a:xfrm>
            <a:off x="8870455" y="2711559"/>
            <a:ext cx="2459187" cy="3270844"/>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dirty="0">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1038690" y="876615"/>
            <a:ext cx="10445310" cy="893226"/>
          </a:xfrm>
        </p:spPr>
        <p:txBody>
          <a:bodyPr/>
          <a:lstStyle/>
          <a:p>
            <a:pPr algn="ctr"/>
            <a:r>
              <a:rPr lang="en-AU" sz="4400" dirty="0"/>
              <a:t>The </a:t>
            </a:r>
            <a:r>
              <a:rPr lang="en-AU" sz="4400" b="1" dirty="0"/>
              <a:t>missing</a:t>
            </a:r>
            <a:r>
              <a:rPr lang="en-AU" sz="4400" dirty="0"/>
              <a:t> number in the </a:t>
            </a:r>
            <a:r>
              <a:rPr lang="en-AU" sz="4400" b="1" dirty="0"/>
              <a:t>doubles</a:t>
            </a:r>
            <a:r>
              <a:rPr lang="en-AU" sz="4400" dirty="0"/>
              <a:t> pattern is </a:t>
            </a:r>
            <a:r>
              <a:rPr lang="en-AU" sz="4400" b="1" dirty="0"/>
              <a:t>30</a:t>
            </a:r>
            <a:r>
              <a:rPr lang="en-AU" sz="4400" dirty="0"/>
              <a:t>.</a:t>
            </a:r>
          </a:p>
        </p:txBody>
      </p:sp>
      <p:pic>
        <p:nvPicPr>
          <p:cNvPr id="7" name="Picture 6" descr="An table with the top row of numbers:&#10;10, 12, 14, 16, 18&#10;&#10;and the bottom row:&#10;20, 24, 28, ?, 36">
            <a:extLst>
              <a:ext uri="{FF2B5EF4-FFF2-40B4-BE49-F238E27FC236}">
                <a16:creationId xmlns:a16="http://schemas.microsoft.com/office/drawing/2014/main" id="{9753787A-4FBF-9124-E0E3-97D47BDBD220}"/>
              </a:ext>
            </a:extLst>
          </p:cNvPr>
          <p:cNvPicPr>
            <a:picLocks noChangeAspect="1"/>
          </p:cNvPicPr>
          <p:nvPr/>
        </p:nvPicPr>
        <p:blipFill>
          <a:blip r:embed="rId4"/>
          <a:stretch>
            <a:fillRect/>
          </a:stretch>
        </p:blipFill>
        <p:spPr>
          <a:xfrm>
            <a:off x="3702323" y="2932440"/>
            <a:ext cx="4787353" cy="2151619"/>
          </a:xfrm>
          <a:prstGeom prst="rect">
            <a:avLst/>
          </a:prstGeom>
        </p:spPr>
      </p:pic>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4006760075"/>
              </p:ext>
            </p:extLst>
          </p:nvPr>
        </p:nvGraphicFramePr>
        <p:xfrm>
          <a:off x="2722807" y="506205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5" name="TextBox 4">
            <a:extLst>
              <a:ext uri="{FF2B5EF4-FFF2-40B4-BE49-F238E27FC236}">
                <a16:creationId xmlns:a16="http://schemas.microsoft.com/office/drawing/2014/main" id="{D31E5E59-EACA-54CB-B627-8DF5D3910B75}"/>
              </a:ext>
            </a:extLst>
          </p:cNvPr>
          <p:cNvSpPr txBox="1"/>
          <p:nvPr/>
        </p:nvSpPr>
        <p:spPr>
          <a:xfrm>
            <a:off x="2722807" y="5614407"/>
            <a:ext cx="7441478" cy="901593"/>
          </a:xfrm>
          <a:prstGeom prst="rect">
            <a:avLst/>
          </a:prstGeom>
          <a:noFill/>
        </p:spPr>
        <p:txBody>
          <a:bodyPr wrap="square">
            <a:spAutoFit/>
          </a:bodyPr>
          <a:lstStyle/>
          <a:p>
            <a:pPr lvl="0">
              <a:lnSpc>
                <a:spcPct val="150000"/>
              </a:lnSpc>
            </a:pPr>
            <a:r>
              <a:rPr lang="en-AU" sz="4000" b="1" dirty="0"/>
              <a:t>Communicate </a:t>
            </a:r>
            <a:r>
              <a:rPr lang="en-AU" sz="4000" dirty="0"/>
              <a:t>your</a:t>
            </a:r>
            <a:r>
              <a:rPr lang="en-AU" sz="4000" b="1" dirty="0"/>
              <a:t> reasoning.</a:t>
            </a:r>
            <a:endParaRPr lang="en-AU" sz="4000" dirty="0"/>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364BF8F0-334C-A798-70E3-8987AA04EB59}"/>
              </a:ext>
            </a:extLst>
          </p:cNvPr>
          <p:cNvSpPr txBox="1"/>
          <p:nvPr/>
        </p:nvSpPr>
        <p:spPr>
          <a:xfrm>
            <a:off x="347999" y="1477792"/>
            <a:ext cx="9196692" cy="3902415"/>
          </a:xfrm>
          <a:prstGeom prst="rect">
            <a:avLst/>
          </a:prstGeom>
          <a:noFill/>
        </p:spPr>
        <p:txBody>
          <a:bodyPr wrap="square">
            <a:spAutoFit/>
          </a:bodyPr>
          <a:lstStyle/>
          <a:p>
            <a:pPr marL="457200" indent="-457200">
              <a:lnSpc>
                <a:spcPct val="150000"/>
              </a:lnSpc>
              <a:spcBef>
                <a:spcPts val="1200"/>
              </a:spcBef>
              <a:spcAft>
                <a:spcPts val="600"/>
              </a:spcAft>
              <a:buFont typeface="Arial" panose="020B0604020202020204" pitchFamily="34" charset="0"/>
              <a:buChar char="•"/>
            </a:pPr>
            <a:r>
              <a:rPr lang="en-AU" sz="4000" dirty="0">
                <a:effectLst/>
                <a:latin typeface="Arial" panose="020B0604020202020204" pitchFamily="34" charset="0"/>
                <a:ea typeface="Calibri" panose="020F0502020204030204" pitchFamily="34" charset="0"/>
                <a:cs typeface="Times New Roman" panose="02020603050405020304" pitchFamily="18" charset="0"/>
              </a:rPr>
              <a:t>Record the </a:t>
            </a:r>
            <a:r>
              <a:rPr lang="en-AU" sz="4000" b="1" dirty="0">
                <a:effectLst/>
                <a:latin typeface="Arial" panose="020B0604020202020204" pitchFamily="34" charset="0"/>
                <a:ea typeface="Calibri" panose="020F0502020204030204" pitchFamily="34" charset="0"/>
                <a:cs typeface="Times New Roman" panose="02020603050405020304" pitchFamily="18" charset="0"/>
              </a:rPr>
              <a:t>rows </a:t>
            </a:r>
            <a:r>
              <a:rPr lang="en-AU" sz="4000" dirty="0">
                <a:effectLst/>
                <a:latin typeface="Arial" panose="020B0604020202020204" pitchFamily="34" charset="0"/>
                <a:ea typeface="Calibri" panose="020F0502020204030204" pitchFamily="34" charset="0"/>
                <a:cs typeface="Times New Roman" panose="02020603050405020304" pitchFamily="18" charset="0"/>
              </a:rPr>
              <a:t>and </a:t>
            </a:r>
            <a:r>
              <a:rPr lang="en-AU" sz="4000" b="1" dirty="0">
                <a:effectLst/>
                <a:latin typeface="Arial" panose="020B0604020202020204" pitchFamily="34" charset="0"/>
                <a:ea typeface="Calibri" panose="020F0502020204030204" pitchFamily="34" charset="0"/>
                <a:cs typeface="Times New Roman" panose="02020603050405020304" pitchFamily="18" charset="0"/>
              </a:rPr>
              <a:t>columns</a:t>
            </a:r>
            <a:r>
              <a:rPr lang="en-AU" sz="4000" dirty="0">
                <a:effectLst/>
                <a:latin typeface="Arial" panose="020B0604020202020204" pitchFamily="34" charset="0"/>
                <a:ea typeface="Calibri" panose="020F0502020204030204" pitchFamily="34" charset="0"/>
                <a:cs typeface="Times New Roman" panose="02020603050405020304" pitchFamily="18" charset="0"/>
              </a:rPr>
              <a:t> in this </a:t>
            </a:r>
            <a:r>
              <a:rPr lang="en-AU" sz="4000" b="1" dirty="0">
                <a:latin typeface="Arial" panose="020B0604020202020204" pitchFamily="34" charset="0"/>
                <a:ea typeface="Calibri" panose="020F0502020204030204" pitchFamily="34" charset="0"/>
                <a:cs typeface="Times New Roman" panose="02020603050405020304" pitchFamily="18" charset="0"/>
              </a:rPr>
              <a:t>partially covered array</a:t>
            </a:r>
            <a:r>
              <a:rPr lang="en-AU" sz="4000" dirty="0">
                <a:effectLst/>
                <a:latin typeface="Arial" panose="020B0604020202020204" pitchFamily="34" charset="0"/>
                <a:ea typeface="Calibri" panose="020F0502020204030204" pitchFamily="34" charset="0"/>
                <a:cs typeface="Times New Roman" panose="02020603050405020304" pitchFamily="18" charset="0"/>
              </a:rPr>
              <a:t>? </a:t>
            </a:r>
          </a:p>
          <a:p>
            <a:pPr marL="457200" lvl="0" indent="-457200">
              <a:lnSpc>
                <a:spcPct val="150000"/>
              </a:lnSpc>
              <a:spcBef>
                <a:spcPts val="1200"/>
              </a:spcBef>
              <a:spcAft>
                <a:spcPts val="600"/>
              </a:spcAft>
              <a:buFont typeface="Arial" panose="020B0604020202020204" pitchFamily="34" charset="0"/>
              <a:buChar char="•"/>
            </a:pPr>
            <a:r>
              <a:rPr lang="en-AU" sz="4000" b="1" dirty="0">
                <a:effectLst/>
                <a:latin typeface="Arial" panose="020B0604020202020204" pitchFamily="34" charset="0"/>
                <a:ea typeface="Calibri" panose="020F0502020204030204" pitchFamily="34" charset="0"/>
                <a:cs typeface="Times New Roman" panose="02020603050405020304" pitchFamily="18" charset="0"/>
              </a:rPr>
              <a:t>Record</a:t>
            </a:r>
            <a:r>
              <a:rPr lang="en-AU" sz="4000" dirty="0">
                <a:effectLst/>
                <a:latin typeface="Arial" panose="020B0604020202020204" pitchFamily="34" charset="0"/>
                <a:ea typeface="Calibri" panose="020F0502020204030204" pitchFamily="34" charset="0"/>
                <a:cs typeface="Times New Roman" panose="02020603050405020304" pitchFamily="18" charset="0"/>
              </a:rPr>
              <a:t> the array using a               </a:t>
            </a:r>
            <a:r>
              <a:rPr lang="en-AU" sz="4000" b="1" dirty="0">
                <a:effectLst/>
                <a:latin typeface="Arial" panose="020B0604020202020204" pitchFamily="34" charset="0"/>
                <a:ea typeface="Calibri" panose="020F0502020204030204" pitchFamily="34" charset="0"/>
                <a:cs typeface="Times New Roman" panose="02020603050405020304" pitchFamily="18" charset="0"/>
              </a:rPr>
              <a:t>number sentence</a:t>
            </a:r>
            <a:r>
              <a:rPr lang="en-AU" sz="4000" b="1" dirty="0">
                <a:latin typeface="Arial" panose="020B0604020202020204" pitchFamily="34" charset="0"/>
                <a:ea typeface="Calibri" panose="020F0502020204030204" pitchFamily="34" charset="0"/>
                <a:cs typeface="Times New Roman" panose="02020603050405020304" pitchFamily="18" charset="0"/>
              </a:rPr>
              <a:t>.</a:t>
            </a: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9" name="Picture 8" descr="A partially covered array (3 rows of 5).">
            <a:extLst>
              <a:ext uri="{FF2B5EF4-FFF2-40B4-BE49-F238E27FC236}">
                <a16:creationId xmlns:a16="http://schemas.microsoft.com/office/drawing/2014/main" id="{BADBB205-5901-6667-77FD-135400B10426}"/>
              </a:ext>
            </a:extLst>
          </p:cNvPr>
          <p:cNvPicPr>
            <a:picLocks noChangeAspect="1"/>
          </p:cNvPicPr>
          <p:nvPr/>
        </p:nvPicPr>
        <p:blipFill>
          <a:blip r:embed="rId4"/>
          <a:stretch>
            <a:fillRect/>
          </a:stretch>
        </p:blipFill>
        <p:spPr>
          <a:xfrm>
            <a:off x="6999527" y="2461396"/>
            <a:ext cx="5090328" cy="3491002"/>
          </a:xfrm>
          <a:prstGeom prst="rect">
            <a:avLst/>
          </a:prstGeom>
          <a:ln>
            <a:noFill/>
          </a:ln>
          <a:effectLst/>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1AB8F180-43D8-360D-D24B-DA3F8B100A27}"/>
              </a:ext>
            </a:extLst>
          </p:cNvPr>
          <p:cNvSpPr txBox="1"/>
          <p:nvPr/>
        </p:nvSpPr>
        <p:spPr>
          <a:xfrm>
            <a:off x="246024" y="1092171"/>
            <a:ext cx="11945976" cy="901593"/>
          </a:xfrm>
          <a:prstGeom prst="rect">
            <a:avLst/>
          </a:prstGeom>
          <a:noFill/>
        </p:spPr>
        <p:txBody>
          <a:bodyPr wrap="square">
            <a:spAutoFit/>
          </a:bodyPr>
          <a:lstStyle/>
          <a:p>
            <a:pPr lvl="0" algn="ctr">
              <a:lnSpc>
                <a:spcPct val="150000"/>
              </a:lnSpc>
            </a:pPr>
            <a:r>
              <a:rPr lang="en-AU" sz="4000" dirty="0"/>
              <a:t>Which of these pictures have </a:t>
            </a:r>
            <a:r>
              <a:rPr lang="en-AU" sz="4000" b="1" dirty="0"/>
              <a:t>line/s of symmetry</a:t>
            </a:r>
            <a:r>
              <a:rPr lang="en-AU" sz="4000" dirty="0"/>
              <a:t>?</a:t>
            </a:r>
          </a:p>
        </p:txBody>
      </p:sp>
      <p:grpSp>
        <p:nvGrpSpPr>
          <p:cNvPr id="13" name="Group 12" descr="a) a snowflake&#10;b) graphical tree - five branches (symmetrical)&#10;c) butterfly">
            <a:extLst>
              <a:ext uri="{FF2B5EF4-FFF2-40B4-BE49-F238E27FC236}">
                <a16:creationId xmlns:a16="http://schemas.microsoft.com/office/drawing/2014/main" id="{453416A1-CACF-FBDD-A01D-CAEA85767FB0}"/>
              </a:ext>
            </a:extLst>
          </p:cNvPr>
          <p:cNvGrpSpPr/>
          <p:nvPr/>
        </p:nvGrpSpPr>
        <p:grpSpPr>
          <a:xfrm>
            <a:off x="1594022" y="2323839"/>
            <a:ext cx="8748583" cy="3441990"/>
            <a:chOff x="1976468" y="1772851"/>
            <a:chExt cx="7982360" cy="3048157"/>
          </a:xfrm>
        </p:grpSpPr>
        <p:pic>
          <p:nvPicPr>
            <p:cNvPr id="5" name="Picture 4">
              <a:extLst>
                <a:ext uri="{FF2B5EF4-FFF2-40B4-BE49-F238E27FC236}">
                  <a16:creationId xmlns:a16="http://schemas.microsoft.com/office/drawing/2014/main" id="{49EFE708-341E-44F9-39CA-768D52CF5256}"/>
                </a:ext>
              </a:extLst>
            </p:cNvPr>
            <p:cNvPicPr>
              <a:picLocks noChangeAspect="1"/>
            </p:cNvPicPr>
            <p:nvPr/>
          </p:nvPicPr>
          <p:blipFill>
            <a:blip r:embed="rId4"/>
            <a:stretch>
              <a:fillRect/>
            </a:stretch>
          </p:blipFill>
          <p:spPr>
            <a:xfrm>
              <a:off x="1976468" y="1772851"/>
              <a:ext cx="7982360" cy="3048157"/>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D32C9A3D-5D99-C3F8-0091-1F86792071F2}"/>
                </a:ext>
              </a:extLst>
            </p:cNvPr>
            <p:cNvSpPr txBox="1"/>
            <p:nvPr/>
          </p:nvSpPr>
          <p:spPr>
            <a:xfrm>
              <a:off x="1976468" y="1855132"/>
              <a:ext cx="943609" cy="950094"/>
            </a:xfrm>
            <a:prstGeom prst="rect">
              <a:avLst/>
            </a:prstGeom>
            <a:noFill/>
          </p:spPr>
          <p:txBody>
            <a:bodyPr wrap="square">
              <a:spAutoFit/>
            </a:bodyPr>
            <a:lstStyle/>
            <a:p>
              <a:pPr lvl="0" algn="ctr">
                <a:lnSpc>
                  <a:spcPct val="150000"/>
                </a:lnSpc>
              </a:pPr>
              <a:r>
                <a:rPr lang="en-AU" sz="3200" b="1" dirty="0"/>
                <a:t>A</a:t>
              </a:r>
            </a:p>
          </p:txBody>
        </p:sp>
        <p:sp>
          <p:nvSpPr>
            <p:cNvPr id="11" name="TextBox 10">
              <a:extLst>
                <a:ext uri="{FF2B5EF4-FFF2-40B4-BE49-F238E27FC236}">
                  <a16:creationId xmlns:a16="http://schemas.microsoft.com/office/drawing/2014/main" id="{330EE720-9707-66F1-CC75-DA03AC02F6F3}"/>
                </a:ext>
              </a:extLst>
            </p:cNvPr>
            <p:cNvSpPr txBox="1"/>
            <p:nvPr/>
          </p:nvSpPr>
          <p:spPr>
            <a:xfrm>
              <a:off x="4555743" y="1855132"/>
              <a:ext cx="664466" cy="655111"/>
            </a:xfrm>
            <a:prstGeom prst="rect">
              <a:avLst/>
            </a:prstGeom>
            <a:noFill/>
          </p:spPr>
          <p:txBody>
            <a:bodyPr wrap="square">
              <a:spAutoFit/>
            </a:bodyPr>
            <a:lstStyle/>
            <a:p>
              <a:pPr algn="ctr">
                <a:lnSpc>
                  <a:spcPct val="150000"/>
                </a:lnSpc>
              </a:pPr>
              <a:r>
                <a:rPr lang="en-AU" sz="3200" b="1" dirty="0"/>
                <a:t>B</a:t>
              </a:r>
              <a:endParaRPr lang="en-AU" sz="3000" dirty="0"/>
            </a:p>
          </p:txBody>
        </p:sp>
        <p:sp>
          <p:nvSpPr>
            <p:cNvPr id="12" name="TextBox 11">
              <a:extLst>
                <a:ext uri="{FF2B5EF4-FFF2-40B4-BE49-F238E27FC236}">
                  <a16:creationId xmlns:a16="http://schemas.microsoft.com/office/drawing/2014/main" id="{74ADC9E8-7FB3-4346-768A-651A4D205EBF}"/>
                </a:ext>
              </a:extLst>
            </p:cNvPr>
            <p:cNvSpPr txBox="1"/>
            <p:nvPr/>
          </p:nvSpPr>
          <p:spPr>
            <a:xfrm>
              <a:off x="7257285" y="1855132"/>
              <a:ext cx="664466" cy="655111"/>
            </a:xfrm>
            <a:prstGeom prst="rect">
              <a:avLst/>
            </a:prstGeom>
            <a:noFill/>
          </p:spPr>
          <p:txBody>
            <a:bodyPr wrap="square">
              <a:spAutoFit/>
            </a:bodyPr>
            <a:lstStyle/>
            <a:p>
              <a:pPr algn="ctr">
                <a:lnSpc>
                  <a:spcPct val="150000"/>
                </a:lnSpc>
              </a:pPr>
              <a:r>
                <a:rPr lang="en-AU" sz="3200" b="1" dirty="0"/>
                <a:t>C</a:t>
              </a:r>
            </a:p>
          </p:txBody>
        </p:sp>
      </p:grpSp>
      <p:sp>
        <p:nvSpPr>
          <p:cNvPr id="9" name="TextBox 8">
            <a:extLst>
              <a:ext uri="{FF2B5EF4-FFF2-40B4-BE49-F238E27FC236}">
                <a16:creationId xmlns:a16="http://schemas.microsoft.com/office/drawing/2014/main" id="{FE974A6E-46FA-2C37-1780-31B66B5CA170}"/>
              </a:ext>
            </a:extLst>
          </p:cNvPr>
          <p:cNvSpPr txBox="1"/>
          <p:nvPr/>
        </p:nvSpPr>
        <p:spPr>
          <a:xfrm>
            <a:off x="552431" y="5794407"/>
            <a:ext cx="11087136" cy="901593"/>
          </a:xfrm>
          <a:prstGeom prst="rect">
            <a:avLst/>
          </a:prstGeom>
          <a:noFill/>
        </p:spPr>
        <p:txBody>
          <a:bodyPr wrap="square">
            <a:spAutoFit/>
          </a:bodyPr>
          <a:lstStyle/>
          <a:p>
            <a:pPr lvl="0" algn="ctr">
              <a:lnSpc>
                <a:spcPct val="150000"/>
              </a:lnSpc>
            </a:pPr>
            <a:r>
              <a:rPr lang="en-AU" sz="4000" b="1" dirty="0"/>
              <a:t>Communicate</a:t>
            </a:r>
            <a:r>
              <a:rPr lang="en-AU" sz="4000" dirty="0"/>
              <a:t> your </a:t>
            </a:r>
            <a:r>
              <a:rPr lang="en-AU" sz="4000" b="1" dirty="0"/>
              <a:t>reasoning</a:t>
            </a:r>
            <a:r>
              <a:rPr lang="en-AU" sz="4000" dirty="0"/>
              <a:t>.</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11EC2D80-4450-9E84-F9F8-0B12D16CC08C}"/>
              </a:ext>
            </a:extLst>
          </p:cNvPr>
          <p:cNvSpPr txBox="1"/>
          <p:nvPr/>
        </p:nvSpPr>
        <p:spPr>
          <a:xfrm>
            <a:off x="986944" y="1002735"/>
            <a:ext cx="10043532" cy="1824923"/>
          </a:xfrm>
          <a:prstGeom prst="rect">
            <a:avLst/>
          </a:prstGeom>
          <a:noFill/>
        </p:spPr>
        <p:txBody>
          <a:bodyPr wrap="square">
            <a:spAutoFit/>
          </a:bodyPr>
          <a:lstStyle/>
          <a:p>
            <a:pPr lvl="0" algn="ctr">
              <a:lnSpc>
                <a:spcPct val="150000"/>
              </a:lnSpc>
              <a:spcBef>
                <a:spcPts val="1200"/>
              </a:spcBef>
              <a:spcAft>
                <a:spcPts val="600"/>
              </a:spcAft>
            </a:pPr>
            <a:r>
              <a:rPr lang="en-AU" sz="4000" b="1" dirty="0">
                <a:latin typeface="Arial" panose="020B0604020202020204" pitchFamily="34" charset="0"/>
                <a:ea typeface="Calibri" panose="020F0502020204030204" pitchFamily="34" charset="0"/>
                <a:cs typeface="Times New Roman" panose="02020603050405020304" pitchFamily="18" charset="0"/>
              </a:rPr>
              <a:t>Record </a:t>
            </a:r>
            <a:r>
              <a:rPr lang="en-AU" sz="4000" dirty="0">
                <a:latin typeface="Arial" panose="020B0604020202020204" pitchFamily="34" charset="0"/>
                <a:ea typeface="Calibri" panose="020F0502020204030204" pitchFamily="34" charset="0"/>
                <a:cs typeface="Times New Roman" panose="02020603050405020304" pitchFamily="18" charset="0"/>
              </a:rPr>
              <a:t>the number </a:t>
            </a:r>
            <a:r>
              <a:rPr lang="en-AU" sz="4000" b="1" dirty="0">
                <a:latin typeface="Arial" panose="020B0604020202020204" pitchFamily="34" charset="0"/>
                <a:ea typeface="Calibri" panose="020F0502020204030204" pitchFamily="34" charset="0"/>
                <a:cs typeface="Times New Roman" panose="02020603050405020304" pitchFamily="18" charset="0"/>
              </a:rPr>
              <a:t>10, 100 </a:t>
            </a:r>
            <a:r>
              <a:rPr lang="en-AU" sz="4000" dirty="0">
                <a:latin typeface="Arial" panose="020B0604020202020204" pitchFamily="34" charset="0"/>
                <a:ea typeface="Calibri" panose="020F0502020204030204" pitchFamily="34" charset="0"/>
                <a:cs typeface="Times New Roman" panose="02020603050405020304" pitchFamily="18" charset="0"/>
              </a:rPr>
              <a:t>and </a:t>
            </a:r>
            <a:r>
              <a:rPr lang="en-AU" sz="4000" b="1" dirty="0">
                <a:latin typeface="Arial" panose="020B0604020202020204" pitchFamily="34" charset="0"/>
                <a:ea typeface="Calibri" panose="020F0502020204030204" pitchFamily="34" charset="0"/>
                <a:cs typeface="Times New Roman" panose="02020603050405020304" pitchFamily="18" charset="0"/>
              </a:rPr>
              <a:t>1000 times larger. </a:t>
            </a:r>
            <a:endParaRPr lang="en-AU" sz="4000" b="1"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9" name="Picture 8" descr="6 digit place value houses. The number 318 is recorded.">
            <a:extLst>
              <a:ext uri="{FF2B5EF4-FFF2-40B4-BE49-F238E27FC236}">
                <a16:creationId xmlns:a16="http://schemas.microsoft.com/office/drawing/2014/main" id="{F76D05C5-DA5F-AAC7-88F1-658D8633106B}"/>
              </a:ext>
            </a:extLst>
          </p:cNvPr>
          <p:cNvPicPr>
            <a:picLocks noChangeAspect="1"/>
          </p:cNvPicPr>
          <p:nvPr/>
        </p:nvPicPr>
        <p:blipFill>
          <a:blip r:embed="rId4"/>
          <a:stretch>
            <a:fillRect/>
          </a:stretch>
        </p:blipFill>
        <p:spPr>
          <a:xfrm>
            <a:off x="3746936" y="3152286"/>
            <a:ext cx="4698128" cy="316850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617298D-6758-0D12-9682-21F9CE0156B5}"/>
              </a:ext>
            </a:extLst>
          </p:cNvPr>
          <p:cNvSpPr txBox="1"/>
          <p:nvPr/>
        </p:nvSpPr>
        <p:spPr>
          <a:xfrm>
            <a:off x="1488711" y="1356502"/>
            <a:ext cx="8989887" cy="5045164"/>
          </a:xfrm>
          <a:prstGeom prst="rect">
            <a:avLst/>
          </a:prstGeom>
          <a:noFill/>
        </p:spPr>
        <p:txBody>
          <a:bodyPr wrap="square">
            <a:spAutoFit/>
          </a:bodyPr>
          <a:lstStyle/>
          <a:p>
            <a:pPr algn="ctr">
              <a:lnSpc>
                <a:spcPct val="150000"/>
              </a:lnSpc>
            </a:pPr>
            <a:r>
              <a:rPr lang="en-AU" sz="4400" b="1" dirty="0">
                <a:solidFill>
                  <a:srgbClr val="22272B"/>
                </a:solidFill>
              </a:rPr>
              <a:t>Record</a:t>
            </a:r>
            <a:r>
              <a:rPr lang="en-AU" sz="4400" b="0" i="0" dirty="0">
                <a:solidFill>
                  <a:srgbClr val="22272B"/>
                </a:solidFill>
                <a:effectLst/>
              </a:rPr>
              <a:t> h</a:t>
            </a:r>
            <a:r>
              <a:rPr lang="en-AU" sz="4400" dirty="0">
                <a:solidFill>
                  <a:srgbClr val="22272B"/>
                </a:solidFill>
              </a:rPr>
              <a:t>ow many </a:t>
            </a:r>
            <a:r>
              <a:rPr lang="en-AU" sz="4400" b="1" dirty="0">
                <a:solidFill>
                  <a:srgbClr val="22272B"/>
                </a:solidFill>
              </a:rPr>
              <a:t>millimetres</a:t>
            </a:r>
            <a:r>
              <a:rPr lang="en-AU" sz="4400" dirty="0">
                <a:solidFill>
                  <a:srgbClr val="22272B"/>
                </a:solidFill>
              </a:rPr>
              <a:t> are in </a:t>
            </a:r>
            <a:r>
              <a:rPr lang="en-AU" sz="4400" b="1" dirty="0">
                <a:solidFill>
                  <a:srgbClr val="22272B"/>
                </a:solidFill>
              </a:rPr>
              <a:t>6 cm </a:t>
            </a:r>
            <a:r>
              <a:rPr lang="en-AU" sz="4400" b="0" i="0" dirty="0">
                <a:solidFill>
                  <a:srgbClr val="22272B"/>
                </a:solidFill>
                <a:effectLst/>
              </a:rPr>
              <a:t>using the abbreviation for millimetres </a:t>
            </a:r>
            <a:r>
              <a:rPr lang="en-AU" sz="4400" b="1" i="0" dirty="0">
                <a:solidFill>
                  <a:srgbClr val="22272B"/>
                </a:solidFill>
                <a:effectLst/>
              </a:rPr>
              <a:t>(mm)</a:t>
            </a:r>
            <a:r>
              <a:rPr lang="en-AU" sz="4400" b="0" i="0" dirty="0">
                <a:solidFill>
                  <a:srgbClr val="22272B"/>
                </a:solidFill>
                <a:effectLst/>
              </a:rPr>
              <a:t>.</a:t>
            </a:r>
          </a:p>
          <a:p>
            <a:pPr algn="ctr">
              <a:lnSpc>
                <a:spcPct val="150000"/>
              </a:lnSpc>
            </a:pPr>
            <a:endParaRPr lang="en-AU" sz="4400" dirty="0">
              <a:solidFill>
                <a:srgbClr val="22272B"/>
              </a:solidFill>
            </a:endParaRPr>
          </a:p>
          <a:p>
            <a:pPr algn="ctr">
              <a:lnSpc>
                <a:spcPct val="150000"/>
              </a:lnSpc>
            </a:pPr>
            <a:r>
              <a:rPr lang="en-AU" sz="4400" b="1" dirty="0">
                <a:solidFill>
                  <a:srgbClr val="22272B"/>
                </a:solidFill>
              </a:rPr>
              <a:t>Communicate</a:t>
            </a:r>
            <a:r>
              <a:rPr lang="en-AU" sz="4400" dirty="0">
                <a:solidFill>
                  <a:srgbClr val="22272B"/>
                </a:solidFill>
              </a:rPr>
              <a:t> your </a:t>
            </a:r>
            <a:r>
              <a:rPr lang="en-AU" sz="4400" b="1" dirty="0">
                <a:solidFill>
                  <a:srgbClr val="22272B"/>
                </a:solidFill>
              </a:rPr>
              <a:t>reasoning</a:t>
            </a:r>
            <a:r>
              <a:rPr lang="en-AU" sz="4000" dirty="0">
                <a:solidFill>
                  <a:srgbClr val="22272B"/>
                </a:solidFill>
              </a:rPr>
              <a:t>.</a:t>
            </a:r>
            <a:endParaRPr lang="en-AU" sz="4000" dirty="0"/>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dirty="0"/>
              <a:t>Activity 4 – patterns of multiples (1)</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2x5 table. The following number are in the columns (and multiplication pairs):&#10;1. 2, 10&#10;2. 3, 15&#10;4. blank&#10;5. blank&#10;6. 6, ?">
            <a:extLst>
              <a:ext uri="{FF2B5EF4-FFF2-40B4-BE49-F238E27FC236}">
                <a16:creationId xmlns:a16="http://schemas.microsoft.com/office/drawing/2014/main" id="{54240B96-17F3-D612-27FA-5BCA2DEAB8A6}"/>
              </a:ext>
            </a:extLst>
          </p:cNvPr>
          <p:cNvPicPr>
            <a:picLocks noChangeAspect="1"/>
          </p:cNvPicPr>
          <p:nvPr/>
        </p:nvPicPr>
        <p:blipFill>
          <a:blip r:embed="rId4"/>
          <a:stretch>
            <a:fillRect/>
          </a:stretch>
        </p:blipFill>
        <p:spPr>
          <a:xfrm>
            <a:off x="2566834" y="1998280"/>
            <a:ext cx="7350489" cy="3195511"/>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685B-A61C-F5A3-C905-79A98561937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C65E1E2-790B-D5FB-325C-38D22D93A86A}"/>
              </a:ext>
            </a:extLst>
          </p:cNvPr>
          <p:cNvSpPr>
            <a:spLocks noGrp="1"/>
          </p:cNvSpPr>
          <p:nvPr>
            <p:ph type="title"/>
          </p:nvPr>
        </p:nvSpPr>
        <p:spPr>
          <a:xfrm>
            <a:off x="360000" y="360000"/>
            <a:ext cx="10367268" cy="545601"/>
          </a:xfrm>
        </p:spPr>
        <p:txBody>
          <a:bodyPr/>
          <a:lstStyle/>
          <a:p>
            <a:r>
              <a:rPr lang="en-AU" dirty="0"/>
              <a:t>Activity 4 – patterns of multiples (2)</a:t>
            </a:r>
          </a:p>
        </p:txBody>
      </p:sp>
      <p:pic>
        <p:nvPicPr>
          <p:cNvPr id="4" name="Picture 3">
            <a:extLst>
              <a:ext uri="{FF2B5EF4-FFF2-40B4-BE49-F238E27FC236}">
                <a16:creationId xmlns:a16="http://schemas.microsoft.com/office/drawing/2014/main" id="{14CFC2CE-9667-0F48-C728-86BBF7437E2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A 2x5 table. The following number are in the columns (and multiplication pairs):&#10;1. 20, blank&#10;2. blank, 42&#10;4. 22, 44&#10;5. blank, 46&#10;6. 24, blank">
            <a:extLst>
              <a:ext uri="{FF2B5EF4-FFF2-40B4-BE49-F238E27FC236}">
                <a16:creationId xmlns:a16="http://schemas.microsoft.com/office/drawing/2014/main" id="{677FC668-489E-4186-81C6-AD644463085A}"/>
              </a:ext>
            </a:extLst>
          </p:cNvPr>
          <p:cNvPicPr>
            <a:picLocks noChangeAspect="1"/>
          </p:cNvPicPr>
          <p:nvPr/>
        </p:nvPicPr>
        <p:blipFill>
          <a:blip r:embed="rId4"/>
          <a:stretch>
            <a:fillRect/>
          </a:stretch>
        </p:blipFill>
        <p:spPr>
          <a:xfrm>
            <a:off x="402928" y="1706828"/>
            <a:ext cx="5553108" cy="2328723"/>
          </a:xfrm>
          <a:prstGeom prst="rect">
            <a:avLst/>
          </a:prstGeom>
        </p:spPr>
      </p:pic>
      <p:pic>
        <p:nvPicPr>
          <p:cNvPr id="10" name="Picture 9" descr="A 2x5 table. The following number are in the columns (and multiplication pairs):&#10;1. 2, 20&#10;2. blank, 80&#10;4. 12, 120&#10;5. 3, blank&#10;6. blank, 100">
            <a:extLst>
              <a:ext uri="{FF2B5EF4-FFF2-40B4-BE49-F238E27FC236}">
                <a16:creationId xmlns:a16="http://schemas.microsoft.com/office/drawing/2014/main" id="{B70BA98F-53DF-6A39-1EC2-F90FF5054F55}"/>
              </a:ext>
            </a:extLst>
          </p:cNvPr>
          <p:cNvPicPr>
            <a:picLocks noChangeAspect="1"/>
          </p:cNvPicPr>
          <p:nvPr/>
        </p:nvPicPr>
        <p:blipFill>
          <a:blip r:embed="rId5"/>
          <a:stretch>
            <a:fillRect/>
          </a:stretch>
        </p:blipFill>
        <p:spPr>
          <a:xfrm>
            <a:off x="5863126" y="1609291"/>
            <a:ext cx="5684380" cy="2426260"/>
          </a:xfrm>
          <a:prstGeom prst="rect">
            <a:avLst/>
          </a:prstGeom>
        </p:spPr>
      </p:pic>
      <p:pic>
        <p:nvPicPr>
          <p:cNvPr id="12" name="Picture 11" descr="A 2x5 table. The following number are in the columns (and multiplication pairs):&#10;1. blank, 12&#10;2. blank, 3&#10;4. blank, 30&#10;5. 3, 9&#10;6. 2, 6">
            <a:extLst>
              <a:ext uri="{FF2B5EF4-FFF2-40B4-BE49-F238E27FC236}">
                <a16:creationId xmlns:a16="http://schemas.microsoft.com/office/drawing/2014/main" id="{BE336678-B028-2EF1-FB4D-A0742E4866A3}"/>
              </a:ext>
            </a:extLst>
          </p:cNvPr>
          <p:cNvPicPr>
            <a:picLocks noChangeAspect="1"/>
          </p:cNvPicPr>
          <p:nvPr/>
        </p:nvPicPr>
        <p:blipFill>
          <a:blip r:embed="rId6"/>
          <a:stretch>
            <a:fillRect/>
          </a:stretch>
        </p:blipFill>
        <p:spPr>
          <a:xfrm>
            <a:off x="3069754" y="4160207"/>
            <a:ext cx="5211079" cy="2231136"/>
          </a:xfrm>
          <a:prstGeom prst="rect">
            <a:avLst/>
          </a:prstGeom>
        </p:spPr>
      </p:pic>
      <p:sp>
        <p:nvSpPr>
          <p:cNvPr id="2" name="Slide Number Placeholder 1">
            <a:extLst>
              <a:ext uri="{FF2B5EF4-FFF2-40B4-BE49-F238E27FC236}">
                <a16:creationId xmlns:a16="http://schemas.microsoft.com/office/drawing/2014/main" id="{1A188052-0748-3A83-6440-869030C35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285757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dirty="0">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dirty="0"/>
              <a:t>Multiple choice</a:t>
            </a:r>
            <a:r>
              <a:rPr lang="en-US" dirty="0">
                <a:solidFill>
                  <a:schemeClr val="bg1"/>
                </a:solidFill>
              </a:rPr>
              <a:t> (3)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474481" y="1389640"/>
            <a:ext cx="11243037" cy="893226"/>
          </a:xfrm>
        </p:spPr>
        <p:txBody>
          <a:bodyPr/>
          <a:lstStyle/>
          <a:p>
            <a:pPr algn="ctr"/>
            <a:r>
              <a:rPr lang="en-US" sz="4400" dirty="0"/>
              <a:t>What is the </a:t>
            </a:r>
            <a:r>
              <a:rPr lang="en-US" sz="4400" b="1" dirty="0"/>
              <a:t>largest</a:t>
            </a:r>
            <a:r>
              <a:rPr lang="en-US" sz="4400" dirty="0"/>
              <a:t> number that can be made by arranging the </a:t>
            </a:r>
            <a:r>
              <a:rPr lang="en-US" sz="4400" b="1" dirty="0"/>
              <a:t>digits </a:t>
            </a:r>
            <a:r>
              <a:rPr lang="en-US" sz="4400" b="1" dirty="0">
                <a:solidFill>
                  <a:schemeClr val="accent2"/>
                </a:solidFill>
              </a:rPr>
              <a:t>7</a:t>
            </a:r>
            <a:r>
              <a:rPr lang="en-US" sz="4400" b="1" dirty="0"/>
              <a:t>, </a:t>
            </a:r>
            <a:r>
              <a:rPr lang="en-US" sz="4400" b="1" dirty="0">
                <a:solidFill>
                  <a:schemeClr val="accent2"/>
                </a:solidFill>
              </a:rPr>
              <a:t>3</a:t>
            </a:r>
            <a:r>
              <a:rPr lang="en-US" sz="4400" b="1" dirty="0"/>
              <a:t>, </a:t>
            </a:r>
            <a:r>
              <a:rPr lang="en-US" sz="4400" b="1" dirty="0">
                <a:solidFill>
                  <a:schemeClr val="accent2"/>
                </a:solidFill>
              </a:rPr>
              <a:t>9</a:t>
            </a:r>
            <a:r>
              <a:rPr lang="en-US" sz="4400" b="1" dirty="0"/>
              <a:t> </a:t>
            </a:r>
            <a:r>
              <a:rPr lang="en-US" sz="4400" dirty="0"/>
              <a:t>and</a:t>
            </a:r>
            <a:r>
              <a:rPr lang="en-US" sz="4400" b="1" dirty="0"/>
              <a:t> </a:t>
            </a:r>
            <a:r>
              <a:rPr lang="en-US" sz="4400" b="1" dirty="0">
                <a:solidFill>
                  <a:schemeClr val="accent2"/>
                </a:solidFill>
              </a:rPr>
              <a:t>2</a:t>
            </a:r>
            <a:r>
              <a:rPr lang="en-US" sz="4400" dirty="0"/>
              <a:t>?</a:t>
            </a:r>
          </a:p>
        </p:txBody>
      </p:sp>
      <p:sp>
        <p:nvSpPr>
          <p:cNvPr id="9" name="TextBox 8">
            <a:extLst>
              <a:ext uri="{FF2B5EF4-FFF2-40B4-BE49-F238E27FC236}">
                <a16:creationId xmlns:a16="http://schemas.microsoft.com/office/drawing/2014/main" id="{4E6EA9CC-6235-8807-420B-A4371AC418C0}"/>
              </a:ext>
            </a:extLst>
          </p:cNvPr>
          <p:cNvSpPr txBox="1"/>
          <p:nvPr/>
        </p:nvSpPr>
        <p:spPr>
          <a:xfrm>
            <a:off x="1265193" y="383647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5" name="Text Placeholder 17">
            <a:extLst>
              <a:ext uri="{FF2B5EF4-FFF2-40B4-BE49-F238E27FC236}">
                <a16:creationId xmlns:a16="http://schemas.microsoft.com/office/drawing/2014/main" id="{6B6362F8-5EEB-5B87-C6F0-377D30E9B647}"/>
              </a:ext>
            </a:extLst>
          </p:cNvPr>
          <p:cNvSpPr txBox="1">
            <a:spLocks/>
          </p:cNvSpPr>
          <p:nvPr/>
        </p:nvSpPr>
        <p:spPr>
          <a:xfrm>
            <a:off x="771682" y="4575135"/>
            <a:ext cx="142525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9723</a:t>
            </a:r>
          </a:p>
        </p:txBody>
      </p:sp>
      <p:sp>
        <p:nvSpPr>
          <p:cNvPr id="10" name="TextBox 9">
            <a:extLst>
              <a:ext uri="{FF2B5EF4-FFF2-40B4-BE49-F238E27FC236}">
                <a16:creationId xmlns:a16="http://schemas.microsoft.com/office/drawing/2014/main" id="{4AB24A3E-5574-D79C-6A0F-06D3F8A29BB1}"/>
              </a:ext>
            </a:extLst>
          </p:cNvPr>
          <p:cNvSpPr txBox="1"/>
          <p:nvPr/>
        </p:nvSpPr>
        <p:spPr>
          <a:xfrm>
            <a:off x="4269166" y="383647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6" name="Text Placeholder 17">
            <a:extLst>
              <a:ext uri="{FF2B5EF4-FFF2-40B4-BE49-F238E27FC236}">
                <a16:creationId xmlns:a16="http://schemas.microsoft.com/office/drawing/2014/main" id="{8FD9A9C1-401E-5D38-072E-04EA421ED4B6}"/>
              </a:ext>
            </a:extLst>
          </p:cNvPr>
          <p:cNvSpPr txBox="1">
            <a:spLocks/>
          </p:cNvSpPr>
          <p:nvPr/>
        </p:nvSpPr>
        <p:spPr>
          <a:xfrm>
            <a:off x="3821250" y="4575135"/>
            <a:ext cx="142525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9237</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273139" y="383647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7" name="Text Placeholder 17">
            <a:extLst>
              <a:ext uri="{FF2B5EF4-FFF2-40B4-BE49-F238E27FC236}">
                <a16:creationId xmlns:a16="http://schemas.microsoft.com/office/drawing/2014/main" id="{CC807F50-009F-8CF2-B68E-FB19ACC0AC88}"/>
              </a:ext>
            </a:extLst>
          </p:cNvPr>
          <p:cNvSpPr txBox="1">
            <a:spLocks/>
          </p:cNvSpPr>
          <p:nvPr/>
        </p:nvSpPr>
        <p:spPr>
          <a:xfrm>
            <a:off x="6901952" y="4569874"/>
            <a:ext cx="142525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9327</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277113" y="383647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8" name="Text Placeholder 17">
            <a:extLst>
              <a:ext uri="{FF2B5EF4-FFF2-40B4-BE49-F238E27FC236}">
                <a16:creationId xmlns:a16="http://schemas.microsoft.com/office/drawing/2014/main" id="{C2B274C7-D86D-F149-31AB-5EA880F72ECA}"/>
              </a:ext>
            </a:extLst>
          </p:cNvPr>
          <p:cNvSpPr txBox="1">
            <a:spLocks/>
          </p:cNvSpPr>
          <p:nvPr/>
        </p:nvSpPr>
        <p:spPr>
          <a:xfrm>
            <a:off x="9982654" y="4564613"/>
            <a:ext cx="142525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9732</a:t>
            </a:r>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13" name="TextBox 12">
            <a:extLst>
              <a:ext uri="{FF2B5EF4-FFF2-40B4-BE49-F238E27FC236}">
                <a16:creationId xmlns:a16="http://schemas.microsoft.com/office/drawing/2014/main" id="{EFADE390-34CC-5299-3949-16955A1584BD}"/>
              </a:ext>
            </a:extLst>
          </p:cNvPr>
          <p:cNvSpPr txBox="1"/>
          <p:nvPr/>
        </p:nvSpPr>
        <p:spPr>
          <a:xfrm>
            <a:off x="2328955" y="5756228"/>
            <a:ext cx="7534087" cy="901593"/>
          </a:xfrm>
          <a:prstGeom prst="rect">
            <a:avLst/>
          </a:prstGeom>
          <a:noFill/>
        </p:spPr>
        <p:txBody>
          <a:bodyPr wrap="square">
            <a:spAutoFit/>
          </a:bodyPr>
          <a:lstStyle/>
          <a:p>
            <a:pPr lvl="0">
              <a:lnSpc>
                <a:spcPct val="150000"/>
              </a:lnSpc>
            </a:pPr>
            <a:r>
              <a:rPr lang="en-AU" sz="4000" b="1" dirty="0"/>
              <a:t>Communicate </a:t>
            </a:r>
            <a:r>
              <a:rPr lang="en-AU" sz="4000" dirty="0"/>
              <a:t>your</a:t>
            </a:r>
            <a:r>
              <a:rPr lang="en-AU" sz="4000" b="1" dirty="0"/>
              <a:t> reasoning.</a:t>
            </a:r>
            <a:endParaRPr lang="en-AU" sz="4000" dirty="0"/>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2EFA9AB-EB2E-EC54-35A9-F02ABAAF8B74}"/>
              </a:ext>
            </a:extLst>
          </p:cNvPr>
          <p:cNvSpPr txBox="1"/>
          <p:nvPr/>
        </p:nvSpPr>
        <p:spPr>
          <a:xfrm>
            <a:off x="193015" y="1621134"/>
            <a:ext cx="6989663" cy="4906664"/>
          </a:xfrm>
          <a:prstGeom prst="rect">
            <a:avLst/>
          </a:prstGeom>
          <a:noFill/>
        </p:spPr>
        <p:txBody>
          <a:bodyPr wrap="square">
            <a:spAutoFit/>
          </a:bodyPr>
          <a:lstStyle/>
          <a:p>
            <a:pPr lvl="0" algn="ctr">
              <a:lnSpc>
                <a:spcPct val="150000"/>
              </a:lnSpc>
              <a:spcBef>
                <a:spcPts val="1200"/>
              </a:spcBef>
              <a:spcAft>
                <a:spcPts val="600"/>
              </a:spcAft>
            </a:pPr>
            <a:r>
              <a:rPr lang="en-AU" sz="4400" b="1" dirty="0">
                <a:effectLst/>
                <a:latin typeface="Arial" panose="020B0604020202020204" pitchFamily="34" charset="0"/>
                <a:ea typeface="Calibri" panose="020F0502020204030204" pitchFamily="34" charset="0"/>
                <a:cs typeface="Times New Roman" panose="02020603050405020304" pitchFamily="18" charset="0"/>
              </a:rPr>
              <a:t>Multiples </a:t>
            </a:r>
            <a:r>
              <a:rPr lang="en-AU" sz="4400" dirty="0">
                <a:effectLst/>
                <a:latin typeface="Arial" panose="020B0604020202020204" pitchFamily="34" charset="0"/>
                <a:ea typeface="Calibri" panose="020F0502020204030204" pitchFamily="34" charset="0"/>
                <a:cs typeface="Times New Roman" panose="02020603050405020304" pitchFamily="18" charset="0"/>
              </a:rPr>
              <a:t>of</a:t>
            </a:r>
            <a:r>
              <a:rPr lang="en-AU" sz="4400" b="1" dirty="0">
                <a:effectLst/>
                <a:latin typeface="Arial" panose="020B0604020202020204" pitchFamily="34" charset="0"/>
                <a:ea typeface="Calibri" panose="020F0502020204030204" pitchFamily="34" charset="0"/>
                <a:cs typeface="Times New Roman" panose="02020603050405020304" pitchFamily="18" charset="0"/>
              </a:rPr>
              <a:t> </a:t>
            </a:r>
            <a:r>
              <a:rPr lang="en-AU" sz="4400" b="1" dirty="0">
                <a:latin typeface="Arial" panose="020B0604020202020204" pitchFamily="34" charset="0"/>
                <a:ea typeface="Calibri" panose="020F0502020204030204" pitchFamily="34" charset="0"/>
                <a:cs typeface="Times New Roman" panose="02020603050405020304" pitchFamily="18" charset="0"/>
              </a:rPr>
              <a:t>6</a:t>
            </a:r>
            <a:r>
              <a:rPr lang="en-AU" sz="4400" b="1" dirty="0">
                <a:effectLst/>
                <a:latin typeface="Arial" panose="020B0604020202020204" pitchFamily="34" charset="0"/>
                <a:ea typeface="Calibri" panose="020F0502020204030204" pitchFamily="34" charset="0"/>
                <a:cs typeface="Times New Roman" panose="02020603050405020304" pitchFamily="18" charset="0"/>
              </a:rPr>
              <a:t> </a:t>
            </a:r>
            <a:r>
              <a:rPr lang="en-AU" sz="4400" dirty="0">
                <a:effectLst/>
                <a:latin typeface="Arial" panose="020B0604020202020204" pitchFamily="34" charset="0"/>
                <a:ea typeface="Calibri" panose="020F0502020204030204" pitchFamily="34" charset="0"/>
                <a:cs typeface="Times New Roman" panose="02020603050405020304" pitchFamily="18" charset="0"/>
              </a:rPr>
              <a:t>are</a:t>
            </a:r>
            <a:r>
              <a:rPr lang="en-AU" sz="4400" b="1" dirty="0">
                <a:effectLst/>
                <a:latin typeface="Arial" panose="020B0604020202020204" pitchFamily="34" charset="0"/>
                <a:ea typeface="Calibri" panose="020F0502020204030204" pitchFamily="34" charset="0"/>
                <a:cs typeface="Times New Roman" panose="02020603050405020304" pitchFamily="18" charset="0"/>
              </a:rPr>
              <a:t> double </a:t>
            </a:r>
            <a:r>
              <a:rPr lang="en-AU" sz="4400" dirty="0">
                <a:effectLst/>
                <a:latin typeface="Arial" panose="020B0604020202020204" pitchFamily="34" charset="0"/>
                <a:ea typeface="Calibri" panose="020F0502020204030204" pitchFamily="34" charset="0"/>
                <a:cs typeface="Times New Roman" panose="02020603050405020304" pitchFamily="18" charset="0"/>
              </a:rPr>
              <a:t>the</a:t>
            </a:r>
            <a:r>
              <a:rPr lang="en-AU" sz="4400" b="1" dirty="0">
                <a:effectLst/>
                <a:latin typeface="Arial" panose="020B0604020202020204" pitchFamily="34" charset="0"/>
                <a:ea typeface="Calibri" panose="020F0502020204030204" pitchFamily="34" charset="0"/>
                <a:cs typeface="Times New Roman" panose="02020603050405020304" pitchFamily="18" charset="0"/>
              </a:rPr>
              <a:t> multiples </a:t>
            </a:r>
            <a:r>
              <a:rPr lang="en-AU" sz="4400" dirty="0">
                <a:effectLst/>
                <a:latin typeface="Arial" panose="020B0604020202020204" pitchFamily="34" charset="0"/>
                <a:ea typeface="Calibri" panose="020F0502020204030204" pitchFamily="34" charset="0"/>
                <a:cs typeface="Times New Roman" panose="02020603050405020304" pitchFamily="18" charset="0"/>
              </a:rPr>
              <a:t>of </a:t>
            </a:r>
            <a:r>
              <a:rPr lang="en-AU" sz="4400" b="1" dirty="0">
                <a:latin typeface="Arial" panose="020B0604020202020204" pitchFamily="34" charset="0"/>
                <a:ea typeface="Calibri" panose="020F0502020204030204" pitchFamily="34" charset="0"/>
                <a:cs typeface="Times New Roman" panose="02020603050405020304" pitchFamily="18" charset="0"/>
              </a:rPr>
              <a:t>3</a:t>
            </a:r>
            <a:r>
              <a:rPr lang="en-AU" sz="4400" b="1" dirty="0">
                <a:effectLst/>
                <a:latin typeface="Arial" panose="020B0604020202020204" pitchFamily="34" charset="0"/>
                <a:ea typeface="Calibri" panose="020F0502020204030204" pitchFamily="34" charset="0"/>
                <a:cs typeface="Times New Roman" panose="02020603050405020304" pitchFamily="18" charset="0"/>
              </a:rPr>
              <a:t>.</a:t>
            </a:r>
          </a:p>
          <a:p>
            <a:pPr lvl="0" algn="ctr">
              <a:lnSpc>
                <a:spcPct val="150000"/>
              </a:lnSpc>
              <a:spcBef>
                <a:spcPts val="1200"/>
              </a:spcBef>
              <a:spcAft>
                <a:spcPts val="600"/>
              </a:spcAft>
            </a:pPr>
            <a:endParaRPr lang="en-AU" sz="1800" b="1" dirty="0">
              <a:effectLst/>
              <a:latin typeface="Arial" panose="020B0604020202020204" pitchFamily="34" charset="0"/>
              <a:ea typeface="Calibri" panose="020F0502020204030204" pitchFamily="34" charset="0"/>
              <a:cs typeface="Times New Roman" panose="02020603050405020304" pitchFamily="18" charset="0"/>
            </a:endParaRPr>
          </a:p>
          <a:p>
            <a:pPr lvl="0" algn="ctr">
              <a:lnSpc>
                <a:spcPct val="150000"/>
              </a:lnSpc>
              <a:spcBef>
                <a:spcPts val="1200"/>
              </a:spcBef>
              <a:spcAft>
                <a:spcPts val="600"/>
              </a:spcAft>
            </a:pPr>
            <a:r>
              <a:rPr lang="en-AU" sz="4400" b="1" dirty="0">
                <a:effectLst/>
                <a:latin typeface="Arial" panose="020B0604020202020204" pitchFamily="34" charset="0"/>
                <a:ea typeface="Calibri" panose="020F0502020204030204" pitchFamily="34" charset="0"/>
                <a:cs typeface="Times New Roman" panose="02020603050405020304" pitchFamily="18" charset="0"/>
              </a:rPr>
              <a:t>Record </a:t>
            </a:r>
            <a:r>
              <a:rPr lang="en-AU" sz="4400" dirty="0">
                <a:effectLst/>
                <a:latin typeface="Arial" panose="020B0604020202020204" pitchFamily="34" charset="0"/>
                <a:ea typeface="Calibri" panose="020F0502020204030204" pitchFamily="34" charset="0"/>
                <a:cs typeface="Times New Roman" panose="02020603050405020304" pitchFamily="18" charset="0"/>
              </a:rPr>
              <a:t>the</a:t>
            </a:r>
            <a:r>
              <a:rPr lang="en-AU" sz="4400" b="1" dirty="0">
                <a:effectLst/>
                <a:latin typeface="Arial" panose="020B0604020202020204" pitchFamily="34" charset="0"/>
                <a:ea typeface="Calibri" panose="020F0502020204030204" pitchFamily="34" charset="0"/>
                <a:cs typeface="Times New Roman" panose="02020603050405020304" pitchFamily="18" charset="0"/>
              </a:rPr>
              <a:t> missing multiples </a:t>
            </a:r>
            <a:r>
              <a:rPr lang="en-AU" sz="4400" dirty="0">
                <a:effectLst/>
                <a:latin typeface="Arial" panose="020B0604020202020204" pitchFamily="34" charset="0"/>
                <a:ea typeface="Calibri" panose="020F0502020204030204" pitchFamily="34" charset="0"/>
                <a:cs typeface="Times New Roman" panose="02020603050405020304" pitchFamily="18" charset="0"/>
              </a:rPr>
              <a:t>of</a:t>
            </a:r>
            <a:r>
              <a:rPr lang="en-AU" sz="4400" b="1" dirty="0">
                <a:effectLst/>
                <a:latin typeface="Arial" panose="020B0604020202020204" pitchFamily="34" charset="0"/>
                <a:ea typeface="Calibri" panose="020F0502020204030204" pitchFamily="34" charset="0"/>
                <a:cs typeface="Times New Roman" panose="02020603050405020304" pitchFamily="18" charset="0"/>
              </a:rPr>
              <a:t> 6.</a:t>
            </a:r>
          </a:p>
        </p:txBody>
      </p:sp>
      <p:pic>
        <p:nvPicPr>
          <p:cNvPr id="12" name="Picture 11" descr="A table with the columns:&#10;&#10;Multiples&#10;3&#10;6&#10;9&#10;12&#10;15&#10;Doubled multiples&#10;6">
            <a:extLst>
              <a:ext uri="{FF2B5EF4-FFF2-40B4-BE49-F238E27FC236}">
                <a16:creationId xmlns:a16="http://schemas.microsoft.com/office/drawing/2014/main" id="{63EC2614-0AD9-83C2-B0D3-9658BB39D116}"/>
              </a:ext>
            </a:extLst>
          </p:cNvPr>
          <p:cNvPicPr>
            <a:picLocks noChangeAspect="1"/>
          </p:cNvPicPr>
          <p:nvPr/>
        </p:nvPicPr>
        <p:blipFill>
          <a:blip r:embed="rId4"/>
          <a:stretch>
            <a:fillRect/>
          </a:stretch>
        </p:blipFill>
        <p:spPr>
          <a:xfrm>
            <a:off x="7401030" y="1435981"/>
            <a:ext cx="4081457" cy="445604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TextBox 3">
            <a:extLst>
              <a:ext uri="{FF2B5EF4-FFF2-40B4-BE49-F238E27FC236}">
                <a16:creationId xmlns:a16="http://schemas.microsoft.com/office/drawing/2014/main" id="{EC5E2536-3799-E2F3-1C70-5E8ADE725C80}"/>
              </a:ext>
            </a:extLst>
          </p:cNvPr>
          <p:cNvSpPr txBox="1"/>
          <p:nvPr/>
        </p:nvSpPr>
        <p:spPr>
          <a:xfrm>
            <a:off x="9092989" y="2978401"/>
            <a:ext cx="2607850" cy="2769989"/>
          </a:xfrm>
          <a:prstGeom prst="rect">
            <a:avLst/>
          </a:prstGeom>
          <a:noFill/>
        </p:spPr>
        <p:txBody>
          <a:bodyPr wrap="square">
            <a:spAutoFit/>
          </a:bodyPr>
          <a:lstStyle/>
          <a:p>
            <a:pPr lvl="0" algn="ctr">
              <a:spcBef>
                <a:spcPts val="1200"/>
              </a:spcBef>
            </a:pPr>
            <a:r>
              <a:rPr lang="en-AU" sz="3600" b="1"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a:t>
            </a:r>
          </a:p>
          <a:p>
            <a:pPr lvl="0" algn="ctr">
              <a:spcBef>
                <a:spcPts val="1200"/>
              </a:spcBef>
            </a:pPr>
            <a:r>
              <a:rPr lang="en-AU" sz="3600" b="1" dirty="0">
                <a:solidFill>
                  <a:schemeClr val="tx2"/>
                </a:solidFill>
                <a:latin typeface="Arial" panose="020B0604020202020204" pitchFamily="34" charset="0"/>
                <a:ea typeface="Calibri" panose="020F0502020204030204" pitchFamily="34" charset="0"/>
                <a:cs typeface="Times New Roman" panose="02020603050405020304" pitchFamily="18" charset="0"/>
              </a:rPr>
              <a:t>?</a:t>
            </a:r>
          </a:p>
          <a:p>
            <a:pPr lvl="0" algn="ctr">
              <a:spcBef>
                <a:spcPts val="1200"/>
              </a:spcBef>
            </a:pPr>
            <a:r>
              <a:rPr lang="en-AU" sz="3600" b="1"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a:t>
            </a:r>
          </a:p>
          <a:p>
            <a:pPr lvl="0" algn="ctr">
              <a:spcBef>
                <a:spcPts val="1200"/>
              </a:spcBef>
            </a:pPr>
            <a:r>
              <a:rPr lang="en-AU" sz="3600" b="1" dirty="0">
                <a:solidFill>
                  <a:schemeClr val="tx2"/>
                </a:solidFill>
                <a:latin typeface="Arial" panose="020B060402020202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pic>
        <p:nvPicPr>
          <p:cNvPr id="9" name="Picture 8" descr="A rectangle overlayed a 1 cm grid (one square is labelled 1 cm by 1 cm). The rectangle's length is 6 cm and its width is 4 cm.">
            <a:extLst>
              <a:ext uri="{FF2B5EF4-FFF2-40B4-BE49-F238E27FC236}">
                <a16:creationId xmlns:a16="http://schemas.microsoft.com/office/drawing/2014/main" id="{EBDD0985-7730-A95F-8908-4B9582D7595C}"/>
              </a:ext>
            </a:extLst>
          </p:cNvPr>
          <p:cNvPicPr>
            <a:picLocks noChangeAspect="1"/>
          </p:cNvPicPr>
          <p:nvPr/>
        </p:nvPicPr>
        <p:blipFill>
          <a:blip r:embed="rId3"/>
          <a:stretch>
            <a:fillRect/>
          </a:stretch>
        </p:blipFill>
        <p:spPr>
          <a:xfrm>
            <a:off x="7364255" y="1953718"/>
            <a:ext cx="4479745" cy="4283660"/>
          </a:xfrm>
          <a:prstGeom prst="rect">
            <a:avLst/>
          </a:prstGeom>
        </p:spPr>
      </p:pic>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E64B2126-4B8B-FD38-1B8B-955B3BF2F601}"/>
              </a:ext>
            </a:extLst>
          </p:cNvPr>
          <p:cNvSpPr txBox="1"/>
          <p:nvPr/>
        </p:nvSpPr>
        <p:spPr>
          <a:xfrm>
            <a:off x="29321" y="1025925"/>
            <a:ext cx="8341632" cy="5472075"/>
          </a:xfrm>
          <a:prstGeom prst="rect">
            <a:avLst/>
          </a:prstGeom>
          <a:noFill/>
        </p:spPr>
        <p:txBody>
          <a:bodyPr wrap="square">
            <a:spAutoFit/>
          </a:bodyPr>
          <a:lstStyle/>
          <a:p>
            <a:pPr marL="742950" lvl="0" indent="-742950">
              <a:lnSpc>
                <a:spcPct val="150000"/>
              </a:lnSpc>
              <a:spcBef>
                <a:spcPts val="1200"/>
              </a:spcBef>
              <a:spcAft>
                <a:spcPts val="600"/>
              </a:spcAft>
              <a:buFont typeface="+mj-lt"/>
              <a:buAutoNum type="alphaLcParenR"/>
            </a:pPr>
            <a:r>
              <a:rPr lang="en-AU" sz="4000" dirty="0">
                <a:latin typeface="Arial" panose="020B0604020202020204" pitchFamily="34" charset="0"/>
                <a:ea typeface="Calibri" panose="020F0502020204030204" pitchFamily="34" charset="0"/>
                <a:cs typeface="Times New Roman" panose="02020603050405020304" pitchFamily="18" charset="0"/>
              </a:rPr>
              <a:t>Record the </a:t>
            </a:r>
            <a:r>
              <a:rPr lang="en-AU" sz="4000" b="1" dirty="0">
                <a:latin typeface="Arial" panose="020B0604020202020204" pitchFamily="34" charset="0"/>
                <a:ea typeface="Calibri" panose="020F0502020204030204" pitchFamily="34" charset="0"/>
                <a:cs typeface="Times New Roman" panose="02020603050405020304" pitchFamily="18" charset="0"/>
              </a:rPr>
              <a:t>length</a:t>
            </a:r>
            <a:r>
              <a:rPr lang="en-AU" sz="4000" dirty="0">
                <a:latin typeface="Arial" panose="020B0604020202020204" pitchFamily="34" charset="0"/>
                <a:ea typeface="Calibri" panose="020F0502020204030204" pitchFamily="34" charset="0"/>
                <a:cs typeface="Times New Roman" panose="02020603050405020304" pitchFamily="18" charset="0"/>
              </a:rPr>
              <a:t> and </a:t>
            </a:r>
            <a:r>
              <a:rPr lang="en-AU" sz="4000" b="1" dirty="0">
                <a:latin typeface="Arial" panose="020B0604020202020204" pitchFamily="34" charset="0"/>
                <a:ea typeface="Calibri" panose="020F0502020204030204" pitchFamily="34" charset="0"/>
                <a:cs typeface="Times New Roman" panose="02020603050405020304" pitchFamily="18" charset="0"/>
              </a:rPr>
              <a:t>width </a:t>
            </a:r>
            <a:r>
              <a:rPr lang="en-AU" sz="4000" dirty="0">
                <a:latin typeface="Arial" panose="020B0604020202020204" pitchFamily="34" charset="0"/>
                <a:ea typeface="Calibri" panose="020F0502020204030204" pitchFamily="34" charset="0"/>
                <a:cs typeface="Times New Roman" panose="02020603050405020304" pitchFamily="18" charset="0"/>
              </a:rPr>
              <a:t>of the rectangle in </a:t>
            </a:r>
            <a:r>
              <a:rPr lang="en-AU" sz="4000" b="1" dirty="0">
                <a:latin typeface="Arial" panose="020B0604020202020204" pitchFamily="34" charset="0"/>
                <a:ea typeface="Calibri" panose="020F0502020204030204" pitchFamily="34" charset="0"/>
                <a:cs typeface="Times New Roman" panose="02020603050405020304" pitchFamily="18" charset="0"/>
              </a:rPr>
              <a:t>centimetres</a:t>
            </a:r>
            <a:r>
              <a:rPr lang="en-AU" sz="4000" dirty="0">
                <a:latin typeface="Arial" panose="020B0604020202020204" pitchFamily="34" charset="0"/>
                <a:ea typeface="Calibri" panose="020F0502020204030204" pitchFamily="34" charset="0"/>
                <a:cs typeface="Times New Roman" panose="02020603050405020304" pitchFamily="18" charset="0"/>
              </a:rPr>
              <a:t>.</a:t>
            </a:r>
          </a:p>
          <a:p>
            <a:pPr marL="342900" lvl="0" indent="-342900">
              <a:lnSpc>
                <a:spcPct val="150000"/>
              </a:lnSpc>
              <a:spcBef>
                <a:spcPts val="1200"/>
              </a:spcBef>
              <a:spcAft>
                <a:spcPts val="600"/>
              </a:spcAft>
              <a:buFont typeface="+mj-lt"/>
              <a:buAutoNum type="alphaLcParenR"/>
            </a:pPr>
            <a:endParaRPr lang="en-AU" sz="1800" dirty="0">
              <a:latin typeface="Arial" panose="020B0604020202020204" pitchFamily="34" charset="0"/>
              <a:ea typeface="Calibri" panose="020F0502020204030204" pitchFamily="34" charset="0"/>
              <a:cs typeface="Times New Roman" panose="02020603050405020304" pitchFamily="18" charset="0"/>
            </a:endParaRPr>
          </a:p>
          <a:p>
            <a:pPr marL="742950" lvl="0" indent="-742950">
              <a:lnSpc>
                <a:spcPct val="150000"/>
              </a:lnSpc>
              <a:spcBef>
                <a:spcPts val="1200"/>
              </a:spcBef>
              <a:spcAft>
                <a:spcPts val="600"/>
              </a:spcAft>
              <a:buFont typeface="+mj-lt"/>
              <a:buAutoNum type="alphaLcParenR"/>
            </a:pPr>
            <a:r>
              <a:rPr lang="en-AU" sz="4000" dirty="0">
                <a:latin typeface="Arial" panose="020B0604020202020204" pitchFamily="34" charset="0"/>
                <a:ea typeface="Calibri" panose="020F0502020204030204" pitchFamily="34" charset="0"/>
                <a:cs typeface="Times New Roman" panose="02020603050405020304" pitchFamily="18" charset="0"/>
              </a:rPr>
              <a:t> Record the </a:t>
            </a:r>
            <a:r>
              <a:rPr lang="en-AU" sz="4000" b="1" dirty="0">
                <a:latin typeface="Arial" panose="020B0604020202020204" pitchFamily="34" charset="0"/>
                <a:ea typeface="Calibri" panose="020F0502020204030204" pitchFamily="34" charset="0"/>
                <a:cs typeface="Times New Roman" panose="02020603050405020304" pitchFamily="18" charset="0"/>
              </a:rPr>
              <a:t>area</a:t>
            </a:r>
            <a:r>
              <a:rPr lang="en-AU" sz="4000" dirty="0">
                <a:latin typeface="Arial" panose="020B0604020202020204" pitchFamily="34" charset="0"/>
                <a:ea typeface="Calibri" panose="020F0502020204030204" pitchFamily="34" charset="0"/>
                <a:cs typeface="Times New Roman" panose="02020603050405020304" pitchFamily="18" charset="0"/>
              </a:rPr>
              <a:t> of the rectangle in </a:t>
            </a:r>
            <a:r>
              <a:rPr lang="en-AU" sz="4000" b="1" dirty="0">
                <a:latin typeface="Arial" panose="020B0604020202020204" pitchFamily="34" charset="0"/>
                <a:ea typeface="Calibri" panose="020F0502020204030204" pitchFamily="34" charset="0"/>
                <a:cs typeface="Times New Roman" panose="02020603050405020304" pitchFamily="18" charset="0"/>
              </a:rPr>
              <a:t>square centimetres.</a:t>
            </a:r>
            <a:endParaRPr lang="en-AU" sz="4000" b="1"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A1288E4-BDC8-626F-9380-34EFDB8F10BD}"/>
              </a:ext>
            </a:extLst>
          </p:cNvPr>
          <p:cNvSpPr txBox="1"/>
          <p:nvPr/>
        </p:nvSpPr>
        <p:spPr>
          <a:xfrm>
            <a:off x="599974" y="1184223"/>
            <a:ext cx="10992050" cy="3342710"/>
          </a:xfrm>
          <a:prstGeom prst="rect">
            <a:avLst/>
          </a:prstGeom>
          <a:noFill/>
        </p:spPr>
        <p:txBody>
          <a:bodyPr wrap="square">
            <a:spAutoFit/>
          </a:bodyPr>
          <a:lstStyle/>
          <a:p>
            <a:pPr lvl="0" algn="ctr">
              <a:lnSpc>
                <a:spcPct val="150000"/>
              </a:lnSpc>
              <a:spcBef>
                <a:spcPts val="1200"/>
              </a:spcBef>
              <a:spcAft>
                <a:spcPts val="600"/>
              </a:spcAft>
            </a:pPr>
            <a:r>
              <a:rPr lang="en-AU" sz="4200" b="1" dirty="0">
                <a:latin typeface="Arial" panose="020B0604020202020204" pitchFamily="34" charset="0"/>
                <a:ea typeface="Calibri" panose="020F0502020204030204" pitchFamily="34" charset="0"/>
                <a:cs typeface="Times New Roman" panose="02020603050405020304" pitchFamily="18" charset="0"/>
              </a:rPr>
              <a:t>Record</a:t>
            </a:r>
            <a:r>
              <a:rPr lang="en-AU" sz="4200" dirty="0">
                <a:latin typeface="Arial" panose="020B0604020202020204" pitchFamily="34" charset="0"/>
                <a:ea typeface="Calibri" panose="020F0502020204030204" pitchFamily="34" charset="0"/>
                <a:cs typeface="Times New Roman" panose="02020603050405020304" pitchFamily="18" charset="0"/>
              </a:rPr>
              <a:t> the </a:t>
            </a:r>
            <a:r>
              <a:rPr lang="en-AU" sz="4200" b="1" dirty="0">
                <a:latin typeface="Arial" panose="020B0604020202020204" pitchFamily="34" charset="0"/>
                <a:ea typeface="Calibri" panose="020F0502020204030204" pitchFamily="34" charset="0"/>
                <a:cs typeface="Times New Roman" panose="02020603050405020304" pitchFamily="18" charset="0"/>
              </a:rPr>
              <a:t>multiples</a:t>
            </a:r>
            <a:r>
              <a:rPr lang="en-AU" sz="4200" dirty="0">
                <a:latin typeface="Arial" panose="020B0604020202020204" pitchFamily="34" charset="0"/>
                <a:ea typeface="Calibri" panose="020F0502020204030204" pitchFamily="34" charset="0"/>
                <a:cs typeface="Times New Roman" panose="02020603050405020304" pitchFamily="18" charset="0"/>
              </a:rPr>
              <a:t> for this </a:t>
            </a:r>
            <a:r>
              <a:rPr lang="en-AU" sz="4200" b="1" dirty="0">
                <a:latin typeface="Arial" panose="020B0604020202020204" pitchFamily="34" charset="0"/>
                <a:ea typeface="Calibri" panose="020F0502020204030204" pitchFamily="34" charset="0"/>
                <a:cs typeface="Times New Roman" panose="02020603050405020304" pitchFamily="18" charset="0"/>
              </a:rPr>
              <a:t>pattern </a:t>
            </a:r>
            <a:r>
              <a:rPr lang="en-AU" sz="4200" dirty="0">
                <a:latin typeface="Arial" panose="020B0604020202020204" pitchFamily="34" charset="0"/>
                <a:ea typeface="Calibri" panose="020F0502020204030204" pitchFamily="34" charset="0"/>
                <a:cs typeface="Times New Roman" panose="02020603050405020304" pitchFamily="18" charset="0"/>
              </a:rPr>
              <a:t>of</a:t>
            </a:r>
            <a:r>
              <a:rPr lang="en-AU" sz="4200" b="1" dirty="0">
                <a:latin typeface="Arial" panose="020B0604020202020204" pitchFamily="34" charset="0"/>
                <a:ea typeface="Calibri" panose="020F0502020204030204" pitchFamily="34" charset="0"/>
                <a:cs typeface="Times New Roman" panose="02020603050405020304" pitchFamily="18" charset="0"/>
              </a:rPr>
              <a:t> feet</a:t>
            </a:r>
            <a:r>
              <a:rPr lang="en-AU" sz="4200" dirty="0">
                <a:latin typeface="Arial" panose="020B0604020202020204" pitchFamily="34" charset="0"/>
                <a:ea typeface="Calibri" panose="020F0502020204030204" pitchFamily="34" charset="0"/>
                <a:cs typeface="Times New Roman" panose="02020603050405020304" pitchFamily="18" charset="0"/>
              </a:rPr>
              <a:t>.</a:t>
            </a:r>
          </a:p>
          <a:p>
            <a:pPr lvl="0" algn="ctr">
              <a:lnSpc>
                <a:spcPct val="150000"/>
              </a:lnSpc>
              <a:spcBef>
                <a:spcPts val="1200"/>
              </a:spcBef>
              <a:spcAft>
                <a:spcPts val="600"/>
              </a:spcAft>
            </a:pPr>
            <a:r>
              <a:rPr lang="en-AU" sz="4200" dirty="0">
                <a:latin typeface="Arial" panose="020B0604020202020204" pitchFamily="34" charset="0"/>
                <a:ea typeface="Calibri" panose="020F0502020204030204" pitchFamily="34" charset="0"/>
                <a:cs typeface="Times New Roman" panose="02020603050405020304" pitchFamily="18" charset="0"/>
              </a:rPr>
              <a:t> </a:t>
            </a:r>
            <a:r>
              <a:rPr lang="en-AU" sz="4200" b="1" dirty="0">
                <a:latin typeface="Arial" panose="020B0604020202020204" pitchFamily="34" charset="0"/>
                <a:ea typeface="Calibri" panose="020F0502020204030204" pitchFamily="34" charset="0"/>
                <a:cs typeface="Times New Roman" panose="02020603050405020304" pitchFamily="18" charset="0"/>
              </a:rPr>
              <a:t>Continue</a:t>
            </a:r>
            <a:r>
              <a:rPr lang="en-AU" sz="4200" dirty="0">
                <a:latin typeface="Arial" panose="020B0604020202020204" pitchFamily="34" charset="0"/>
                <a:ea typeface="Calibri" panose="020F0502020204030204" pitchFamily="34" charset="0"/>
                <a:cs typeface="Times New Roman" panose="02020603050405020304" pitchFamily="18" charset="0"/>
              </a:rPr>
              <a:t> the pattern and </a:t>
            </a:r>
            <a:r>
              <a:rPr lang="en-AU" sz="4200" b="1" dirty="0">
                <a:latin typeface="Arial" panose="020B0604020202020204" pitchFamily="34" charset="0"/>
                <a:ea typeface="Calibri" panose="020F0502020204030204" pitchFamily="34" charset="0"/>
                <a:cs typeface="Times New Roman" panose="02020603050405020304" pitchFamily="18" charset="0"/>
              </a:rPr>
              <a:t>record</a:t>
            </a:r>
            <a:r>
              <a:rPr lang="en-AU" sz="4200" dirty="0">
                <a:latin typeface="Arial" panose="020B0604020202020204" pitchFamily="34" charset="0"/>
                <a:ea typeface="Calibri" panose="020F0502020204030204" pitchFamily="34" charset="0"/>
                <a:cs typeface="Times New Roman" panose="02020603050405020304" pitchFamily="18" charset="0"/>
              </a:rPr>
              <a:t> the next</a:t>
            </a:r>
          </a:p>
          <a:p>
            <a:pPr lvl="0" algn="ctr">
              <a:lnSpc>
                <a:spcPct val="150000"/>
              </a:lnSpc>
              <a:spcBef>
                <a:spcPts val="1200"/>
              </a:spcBef>
              <a:spcAft>
                <a:spcPts val="600"/>
              </a:spcAft>
            </a:pPr>
            <a:r>
              <a:rPr lang="en-AU" sz="4200" b="1" dirty="0">
                <a:latin typeface="Arial" panose="020B0604020202020204" pitchFamily="34" charset="0"/>
                <a:ea typeface="Calibri" panose="020F0502020204030204" pitchFamily="34" charset="0"/>
                <a:cs typeface="Times New Roman" panose="02020603050405020304" pitchFamily="18" charset="0"/>
              </a:rPr>
              <a:t>3 multiples.</a:t>
            </a:r>
            <a:endParaRPr lang="en-AU" sz="4200" b="1"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pic>
        <p:nvPicPr>
          <p:cNvPr id="5" name="Picture 4" descr="5 dogs (with 4 feet)">
            <a:extLst>
              <a:ext uri="{FF2B5EF4-FFF2-40B4-BE49-F238E27FC236}">
                <a16:creationId xmlns:a16="http://schemas.microsoft.com/office/drawing/2014/main" id="{9F64FF1A-7DED-B3CE-224C-9AE00A2DB1D1}"/>
              </a:ext>
            </a:extLst>
          </p:cNvPr>
          <p:cNvPicPr>
            <a:picLocks noChangeAspect="1"/>
          </p:cNvPicPr>
          <p:nvPr/>
        </p:nvPicPr>
        <p:blipFill>
          <a:blip r:embed="rId4"/>
          <a:stretch>
            <a:fillRect/>
          </a:stretch>
        </p:blipFill>
        <p:spPr>
          <a:xfrm>
            <a:off x="1288837" y="4535689"/>
            <a:ext cx="9621982" cy="2165387"/>
          </a:xfrm>
          <a:prstGeom prst="rect">
            <a:avLst/>
          </a:prstGeom>
        </p:spPr>
      </p:pic>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2F88D49A-9675-FF81-D157-D744ACC60C50}"/>
              </a:ext>
            </a:extLst>
          </p:cNvPr>
          <p:cNvSpPr txBox="1"/>
          <p:nvPr/>
        </p:nvSpPr>
        <p:spPr>
          <a:xfrm>
            <a:off x="1383910" y="1055419"/>
            <a:ext cx="9343358" cy="4594912"/>
          </a:xfrm>
          <a:prstGeom prst="rect">
            <a:avLst/>
          </a:prstGeom>
          <a:noFill/>
        </p:spPr>
        <p:txBody>
          <a:bodyPr wrap="square">
            <a:spAutoFit/>
          </a:bodyPr>
          <a:lstStyle/>
          <a:p>
            <a:pPr algn="ctr">
              <a:lnSpc>
                <a:spcPct val="150000"/>
              </a:lnSpc>
            </a:pPr>
            <a:r>
              <a:rPr lang="en-AU" sz="4000" dirty="0">
                <a:solidFill>
                  <a:srgbClr val="22272B"/>
                </a:solidFill>
              </a:rPr>
              <a:t>Record the </a:t>
            </a:r>
            <a:r>
              <a:rPr lang="en-AU" sz="4000" b="1" dirty="0">
                <a:solidFill>
                  <a:srgbClr val="22272B"/>
                </a:solidFill>
              </a:rPr>
              <a:t>missing word. </a:t>
            </a:r>
          </a:p>
          <a:p>
            <a:pPr algn="ctr">
              <a:lnSpc>
                <a:spcPct val="150000"/>
              </a:lnSpc>
            </a:pPr>
            <a:endParaRPr lang="en-AU" sz="4000" b="1" dirty="0">
              <a:solidFill>
                <a:srgbClr val="22272B"/>
              </a:solidFill>
            </a:endParaRPr>
          </a:p>
          <a:p>
            <a:pPr algn="ctr">
              <a:lnSpc>
                <a:spcPct val="150000"/>
              </a:lnSpc>
            </a:pPr>
            <a:r>
              <a:rPr lang="en-AU" sz="4000" dirty="0">
                <a:solidFill>
                  <a:srgbClr val="22272B"/>
                </a:solidFill>
              </a:rPr>
              <a:t>The ___________ of a shape is the </a:t>
            </a:r>
            <a:r>
              <a:rPr lang="en-AU" sz="4000" b="1" dirty="0">
                <a:solidFill>
                  <a:srgbClr val="22272B"/>
                </a:solidFill>
              </a:rPr>
              <a:t>length around the outside, </a:t>
            </a:r>
            <a:r>
              <a:rPr lang="en-AU" sz="4000" dirty="0">
                <a:solidFill>
                  <a:srgbClr val="22272B"/>
                </a:solidFill>
              </a:rPr>
              <a:t>or</a:t>
            </a:r>
            <a:r>
              <a:rPr lang="en-AU" sz="4000" b="1" dirty="0">
                <a:solidFill>
                  <a:srgbClr val="22272B"/>
                </a:solidFill>
              </a:rPr>
              <a:t> boundary, </a:t>
            </a:r>
            <a:r>
              <a:rPr lang="en-AU" sz="4000" dirty="0">
                <a:solidFill>
                  <a:srgbClr val="22272B"/>
                </a:solidFill>
              </a:rPr>
              <a:t>of a shape.</a:t>
            </a:r>
            <a:endParaRPr lang="en-AU" sz="4000" dirty="0"/>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dirty="0"/>
              <a:t>Activity 5 – rearranging digits and ordering numbers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7DFBC5E0-06AE-1725-B52A-7B76BFBF2889}"/>
              </a:ext>
            </a:extLst>
          </p:cNvPr>
          <p:cNvSpPr txBox="1"/>
          <p:nvPr/>
        </p:nvSpPr>
        <p:spPr>
          <a:xfrm>
            <a:off x="3356926" y="2705725"/>
            <a:ext cx="5667555" cy="1446550"/>
          </a:xfrm>
          <a:prstGeom prst="rect">
            <a:avLst/>
          </a:prstGeom>
          <a:noFill/>
        </p:spPr>
        <p:txBody>
          <a:bodyPr wrap="square">
            <a:spAutoFit/>
          </a:bodyPr>
          <a:lstStyle/>
          <a:p>
            <a:r>
              <a:rPr lang="en-AU" sz="8800" b="1" dirty="0">
                <a:effectLst/>
                <a:latin typeface="Arial" panose="020B0604020202020204" pitchFamily="34" charset="0"/>
                <a:ea typeface="Calibri" panose="020F0502020204030204" pitchFamily="34" charset="0"/>
              </a:rPr>
              <a:t>3   8   5   0</a:t>
            </a:r>
            <a:endParaRPr lang="en-AU" sz="8800" b="1" dirty="0"/>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dirty="0">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t>True or false </a:t>
            </a:r>
            <a:r>
              <a:rPr lang="en-US" dirty="0">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 uri="{C183D7F6-B498-43B3-948B-1728B52AA6E4}">
                <adec:decorative xmlns:adec="http://schemas.microsoft.com/office/drawing/2017/decorative" val="0"/>
              </a:ext>
            </a:extLst>
          </p:cNvPr>
          <p:cNvSpPr>
            <a:spLocks noGrp="1"/>
          </p:cNvSpPr>
          <p:nvPr>
            <p:ph type="body" sz="quarter" idx="22"/>
          </p:nvPr>
        </p:nvSpPr>
        <p:spPr>
          <a:xfrm>
            <a:off x="253385" y="1222298"/>
            <a:ext cx="11685230" cy="893226"/>
          </a:xfrm>
        </p:spPr>
        <p:txBody>
          <a:bodyPr/>
          <a:lstStyle/>
          <a:p>
            <a:pPr algn="ctr"/>
            <a:r>
              <a:rPr lang="en-AU" sz="4000" dirty="0"/>
              <a:t>These numbers are in </a:t>
            </a:r>
            <a:r>
              <a:rPr lang="en-AU" sz="4000" b="1" dirty="0"/>
              <a:t>descending order.</a:t>
            </a:r>
            <a:endParaRPr lang="en-AU" sz="4000" dirty="0"/>
          </a:p>
          <a:p>
            <a:pPr marL="571500" indent="-571500" algn="ctr">
              <a:buFont typeface="Arial" panose="020B0604020202020204" pitchFamily="34" charset="0"/>
              <a:buChar char="•"/>
            </a:pPr>
            <a:r>
              <a:rPr lang="en-AU" sz="4000" dirty="0"/>
              <a:t>6890</a:t>
            </a:r>
          </a:p>
          <a:p>
            <a:pPr marL="571500" indent="-571500" algn="ctr">
              <a:buFont typeface="Arial" panose="020B0604020202020204" pitchFamily="34" charset="0"/>
              <a:buChar char="•"/>
            </a:pPr>
            <a:r>
              <a:rPr lang="en-AU" sz="4000" dirty="0"/>
              <a:t>7213</a:t>
            </a:r>
          </a:p>
          <a:p>
            <a:pPr marL="571500" indent="-571500" algn="ctr">
              <a:buFont typeface="Arial" panose="020B0604020202020204" pitchFamily="34" charset="0"/>
              <a:buChar char="•"/>
            </a:pPr>
            <a:r>
              <a:rPr lang="en-AU" sz="4000" dirty="0"/>
              <a:t>8654</a:t>
            </a:r>
            <a:endParaRPr lang="en-AU" sz="4400" dirty="0"/>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770406986"/>
              </p:ext>
            </p:extLst>
          </p:nvPr>
        </p:nvGraphicFramePr>
        <p:xfrm>
          <a:off x="2652782" y="548845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FA5FAC8-D945-FF2F-EB00-B3398628DD22}"/>
              </a:ext>
            </a:extLst>
          </p:cNvPr>
          <p:cNvSpPr txBox="1"/>
          <p:nvPr/>
        </p:nvSpPr>
        <p:spPr>
          <a:xfrm>
            <a:off x="2085155" y="1809777"/>
            <a:ext cx="8838344" cy="769441"/>
          </a:xfrm>
          <a:prstGeom prst="rect">
            <a:avLst/>
          </a:prstGeom>
          <a:noFill/>
        </p:spPr>
        <p:txBody>
          <a:bodyPr wrap="square">
            <a:spAutoFit/>
          </a:bodyPr>
          <a:lstStyle/>
          <a:p>
            <a:r>
              <a:rPr lang="en-AU" sz="4400" b="1" dirty="0">
                <a:latin typeface="Arial" panose="020B0604020202020204" pitchFamily="34" charset="0"/>
                <a:ea typeface="Calibri" panose="020F0502020204030204" pitchFamily="34" charset="0"/>
              </a:rPr>
              <a:t>a) </a:t>
            </a:r>
            <a:r>
              <a:rPr lang="en-AU" sz="4400" b="1" dirty="0">
                <a:effectLst/>
                <a:latin typeface="Arial" panose="020B0604020202020204" pitchFamily="34" charset="0"/>
                <a:ea typeface="Calibri" panose="020F0502020204030204" pitchFamily="34" charset="0"/>
              </a:rPr>
              <a:t>3 x 4 = 12</a:t>
            </a:r>
            <a:r>
              <a:rPr lang="en-AU" sz="4400" dirty="0">
                <a:effectLst/>
                <a:latin typeface="Arial" panose="020B0604020202020204" pitchFamily="34" charset="0"/>
                <a:ea typeface="Calibri" panose="020F0502020204030204" pitchFamily="34" charset="0"/>
              </a:rPr>
              <a:t>, so </a:t>
            </a:r>
            <a:r>
              <a:rPr lang="en-AU" sz="4400" b="1" dirty="0">
                <a:effectLst/>
                <a:latin typeface="Arial" panose="020B0604020202020204" pitchFamily="34" charset="0"/>
                <a:ea typeface="Calibri" panose="020F0502020204030204" pitchFamily="34" charset="0"/>
              </a:rPr>
              <a:t>6</a:t>
            </a:r>
            <a:r>
              <a:rPr lang="en-AU" sz="4400" dirty="0">
                <a:effectLst/>
                <a:latin typeface="Arial" panose="020B0604020202020204" pitchFamily="34" charset="0"/>
                <a:ea typeface="Calibri" panose="020F0502020204030204" pitchFamily="34" charset="0"/>
              </a:rPr>
              <a:t> x </a:t>
            </a:r>
            <a:r>
              <a:rPr lang="en-AU" sz="4400" b="1" dirty="0">
                <a:effectLst/>
                <a:latin typeface="Arial" panose="020B0604020202020204" pitchFamily="34" charset="0"/>
                <a:ea typeface="Calibri" panose="020F0502020204030204" pitchFamily="34" charset="0"/>
              </a:rPr>
              <a:t>4</a:t>
            </a:r>
            <a:r>
              <a:rPr lang="en-AU" sz="4400" dirty="0">
                <a:effectLst/>
                <a:latin typeface="Arial" panose="020B0604020202020204" pitchFamily="34" charset="0"/>
                <a:ea typeface="Calibri" panose="020F0502020204030204" pitchFamily="34" charset="0"/>
              </a:rPr>
              <a:t> = </a:t>
            </a:r>
            <a:r>
              <a:rPr lang="en-AU" sz="4400" b="1" dirty="0">
                <a:solidFill>
                  <a:schemeClr val="accent2"/>
                </a:solidFill>
                <a:effectLst/>
                <a:latin typeface="Arial" panose="020B0604020202020204" pitchFamily="34" charset="0"/>
                <a:ea typeface="Calibri" panose="020F0502020204030204" pitchFamily="34" charset="0"/>
              </a:rPr>
              <a:t>?</a:t>
            </a:r>
            <a:endParaRPr lang="en-AU" sz="4400" b="1" dirty="0">
              <a:solidFill>
                <a:schemeClr val="accent2"/>
              </a:solidFill>
            </a:endParaRPr>
          </a:p>
        </p:txBody>
      </p:sp>
      <p:sp>
        <p:nvSpPr>
          <p:cNvPr id="8" name="TextBox 7">
            <a:extLst>
              <a:ext uri="{FF2B5EF4-FFF2-40B4-BE49-F238E27FC236}">
                <a16:creationId xmlns:a16="http://schemas.microsoft.com/office/drawing/2014/main" id="{ED494E27-D7B9-4987-F8C8-D9835EF786C4}"/>
              </a:ext>
            </a:extLst>
          </p:cNvPr>
          <p:cNvSpPr txBox="1"/>
          <p:nvPr/>
        </p:nvSpPr>
        <p:spPr>
          <a:xfrm>
            <a:off x="2085155" y="2938222"/>
            <a:ext cx="8838344" cy="769441"/>
          </a:xfrm>
          <a:prstGeom prst="rect">
            <a:avLst/>
          </a:prstGeom>
          <a:noFill/>
        </p:spPr>
        <p:txBody>
          <a:bodyPr wrap="square">
            <a:spAutoFit/>
          </a:bodyPr>
          <a:lstStyle/>
          <a:p>
            <a:r>
              <a:rPr lang="en-AU" sz="4400" b="1" dirty="0">
                <a:latin typeface="Arial" panose="020B0604020202020204" pitchFamily="34" charset="0"/>
                <a:ea typeface="Calibri" panose="020F0502020204030204" pitchFamily="34" charset="0"/>
              </a:rPr>
              <a:t>b) </a:t>
            </a:r>
            <a:r>
              <a:rPr lang="en-AU" sz="4400" b="1" dirty="0">
                <a:effectLst/>
                <a:latin typeface="Arial" panose="020B0604020202020204" pitchFamily="34" charset="0"/>
                <a:ea typeface="Calibri" panose="020F0502020204030204" pitchFamily="34" charset="0"/>
              </a:rPr>
              <a:t>6 x 8 = 48</a:t>
            </a:r>
            <a:r>
              <a:rPr lang="en-AU" sz="4400" dirty="0">
                <a:effectLst/>
                <a:latin typeface="Arial" panose="020B0604020202020204" pitchFamily="34" charset="0"/>
                <a:ea typeface="Calibri" panose="020F0502020204030204" pitchFamily="34" charset="0"/>
              </a:rPr>
              <a:t>, so </a:t>
            </a:r>
            <a:r>
              <a:rPr lang="en-AU" sz="4400" b="1" dirty="0">
                <a:effectLst/>
                <a:latin typeface="Arial" panose="020B0604020202020204" pitchFamily="34" charset="0"/>
                <a:ea typeface="Calibri" panose="020F0502020204030204" pitchFamily="34" charset="0"/>
              </a:rPr>
              <a:t>48 ÷</a:t>
            </a:r>
            <a:r>
              <a:rPr lang="en-AU" sz="4400" dirty="0">
                <a:effectLst/>
                <a:latin typeface="Arial" panose="020B0604020202020204" pitchFamily="34" charset="0"/>
                <a:ea typeface="Calibri" panose="020F0502020204030204" pitchFamily="34" charset="0"/>
              </a:rPr>
              <a:t> </a:t>
            </a:r>
            <a:r>
              <a:rPr lang="en-AU" sz="4400" b="1" dirty="0">
                <a:latin typeface="Arial" panose="020B0604020202020204" pitchFamily="34" charset="0"/>
                <a:ea typeface="Calibri" panose="020F0502020204030204" pitchFamily="34" charset="0"/>
              </a:rPr>
              <a:t>6</a:t>
            </a:r>
            <a:r>
              <a:rPr lang="en-AU" sz="4400" dirty="0">
                <a:effectLst/>
                <a:latin typeface="Arial" panose="020B0604020202020204" pitchFamily="34" charset="0"/>
                <a:ea typeface="Calibri" panose="020F0502020204030204" pitchFamily="34" charset="0"/>
              </a:rPr>
              <a:t> = </a:t>
            </a:r>
            <a:r>
              <a:rPr lang="en-AU" sz="4400" b="1" dirty="0">
                <a:solidFill>
                  <a:schemeClr val="accent2"/>
                </a:solidFill>
                <a:latin typeface="Arial" panose="020B0604020202020204" pitchFamily="34" charset="0"/>
                <a:ea typeface="Calibri" panose="020F0502020204030204" pitchFamily="34" charset="0"/>
              </a:rPr>
              <a:t>?</a:t>
            </a:r>
            <a:endParaRPr lang="en-AU" sz="4400" dirty="0"/>
          </a:p>
        </p:txBody>
      </p:sp>
      <p:sp>
        <p:nvSpPr>
          <p:cNvPr id="9" name="TextBox 8">
            <a:extLst>
              <a:ext uri="{FF2B5EF4-FFF2-40B4-BE49-F238E27FC236}">
                <a16:creationId xmlns:a16="http://schemas.microsoft.com/office/drawing/2014/main" id="{2B1865A0-35D5-FE2F-03EC-ECF850476FA2}"/>
              </a:ext>
            </a:extLst>
          </p:cNvPr>
          <p:cNvSpPr txBox="1"/>
          <p:nvPr/>
        </p:nvSpPr>
        <p:spPr>
          <a:xfrm>
            <a:off x="2085155" y="4066667"/>
            <a:ext cx="8838344" cy="769441"/>
          </a:xfrm>
          <a:prstGeom prst="rect">
            <a:avLst/>
          </a:prstGeom>
          <a:noFill/>
        </p:spPr>
        <p:txBody>
          <a:bodyPr wrap="square">
            <a:spAutoFit/>
          </a:bodyPr>
          <a:lstStyle/>
          <a:p>
            <a:r>
              <a:rPr lang="en-AU" sz="4400" b="1" dirty="0">
                <a:latin typeface="Arial" panose="020B0604020202020204" pitchFamily="34" charset="0"/>
                <a:ea typeface="Calibri" panose="020F0502020204030204" pitchFamily="34" charset="0"/>
              </a:rPr>
              <a:t>c) 4</a:t>
            </a:r>
            <a:r>
              <a:rPr lang="en-AU" sz="4400" b="1" dirty="0">
                <a:effectLst/>
                <a:latin typeface="Arial" panose="020B0604020202020204" pitchFamily="34" charset="0"/>
                <a:ea typeface="Calibri" panose="020F0502020204030204" pitchFamily="34" charset="0"/>
              </a:rPr>
              <a:t> x </a:t>
            </a:r>
            <a:r>
              <a:rPr lang="en-AU" sz="4400" b="1" dirty="0">
                <a:latin typeface="Arial" panose="020B0604020202020204" pitchFamily="34" charset="0"/>
                <a:ea typeface="Calibri" panose="020F0502020204030204" pitchFamily="34" charset="0"/>
              </a:rPr>
              <a:t>5</a:t>
            </a:r>
            <a:r>
              <a:rPr lang="en-AU" sz="4400" b="1" dirty="0">
                <a:effectLst/>
                <a:latin typeface="Arial" panose="020B0604020202020204" pitchFamily="34" charset="0"/>
                <a:ea typeface="Calibri" panose="020F0502020204030204" pitchFamily="34" charset="0"/>
              </a:rPr>
              <a:t> = 20</a:t>
            </a:r>
            <a:r>
              <a:rPr lang="en-AU" sz="4400" dirty="0">
                <a:effectLst/>
                <a:latin typeface="Arial" panose="020B0604020202020204" pitchFamily="34" charset="0"/>
                <a:ea typeface="Calibri" panose="020F0502020204030204" pitchFamily="34" charset="0"/>
              </a:rPr>
              <a:t>, so </a:t>
            </a:r>
            <a:r>
              <a:rPr lang="en-AU" sz="4400" b="1" dirty="0">
                <a:effectLst/>
                <a:latin typeface="Arial" panose="020B0604020202020204" pitchFamily="34" charset="0"/>
                <a:ea typeface="Calibri" panose="020F0502020204030204" pitchFamily="34" charset="0"/>
              </a:rPr>
              <a:t>8</a:t>
            </a:r>
            <a:r>
              <a:rPr lang="en-AU" sz="4400" b="1" dirty="0">
                <a:latin typeface="Arial" panose="020B0604020202020204" pitchFamily="34" charset="0"/>
                <a:ea typeface="Calibri" panose="020F0502020204030204" pitchFamily="34" charset="0"/>
              </a:rPr>
              <a:t> x 5 = </a:t>
            </a:r>
            <a:r>
              <a:rPr lang="en-AU" sz="4400" b="1" dirty="0">
                <a:solidFill>
                  <a:schemeClr val="accent2"/>
                </a:solidFill>
                <a:latin typeface="Arial" panose="020B0604020202020204" pitchFamily="34" charset="0"/>
                <a:ea typeface="Calibri" panose="020F0502020204030204" pitchFamily="34" charset="0"/>
              </a:rPr>
              <a:t>?</a:t>
            </a:r>
            <a:endParaRPr lang="en-AU" sz="4400" dirty="0"/>
          </a:p>
        </p:txBody>
      </p:sp>
      <p:sp>
        <p:nvSpPr>
          <p:cNvPr id="10" name="TextBox 9">
            <a:extLst>
              <a:ext uri="{FF2B5EF4-FFF2-40B4-BE49-F238E27FC236}">
                <a16:creationId xmlns:a16="http://schemas.microsoft.com/office/drawing/2014/main" id="{683B4ED0-5721-3C7E-B60D-AF43F0813AF6}"/>
              </a:ext>
            </a:extLst>
          </p:cNvPr>
          <p:cNvSpPr txBox="1"/>
          <p:nvPr/>
        </p:nvSpPr>
        <p:spPr>
          <a:xfrm>
            <a:off x="2085155" y="5195112"/>
            <a:ext cx="8838344" cy="769441"/>
          </a:xfrm>
          <a:prstGeom prst="rect">
            <a:avLst/>
          </a:prstGeom>
          <a:noFill/>
        </p:spPr>
        <p:txBody>
          <a:bodyPr wrap="square">
            <a:spAutoFit/>
          </a:bodyPr>
          <a:lstStyle/>
          <a:p>
            <a:r>
              <a:rPr lang="en-AU" sz="4400" b="1" dirty="0">
                <a:latin typeface="Arial" panose="020B0604020202020204" pitchFamily="34" charset="0"/>
                <a:ea typeface="Calibri" panose="020F0502020204030204" pitchFamily="34" charset="0"/>
              </a:rPr>
              <a:t>d) </a:t>
            </a:r>
            <a:r>
              <a:rPr lang="en-AU" sz="4400" b="1" dirty="0">
                <a:effectLst/>
                <a:latin typeface="Arial" panose="020B0604020202020204" pitchFamily="34" charset="0"/>
                <a:ea typeface="Calibri" panose="020F0502020204030204" pitchFamily="34" charset="0"/>
              </a:rPr>
              <a:t>10 x 8 = 80</a:t>
            </a:r>
            <a:r>
              <a:rPr lang="en-AU" sz="4400" dirty="0">
                <a:effectLst/>
                <a:latin typeface="Arial" panose="020B0604020202020204" pitchFamily="34" charset="0"/>
                <a:ea typeface="Calibri" panose="020F0502020204030204" pitchFamily="34" charset="0"/>
              </a:rPr>
              <a:t>, so </a:t>
            </a:r>
            <a:r>
              <a:rPr lang="en-AU" sz="4400" b="1" dirty="0">
                <a:latin typeface="Arial" panose="020B0604020202020204" pitchFamily="34" charset="0"/>
                <a:ea typeface="Calibri" panose="020F0502020204030204" pitchFamily="34" charset="0"/>
              </a:rPr>
              <a:t>9 x 8 = </a:t>
            </a:r>
            <a:r>
              <a:rPr lang="en-AU" sz="4400" b="1" dirty="0">
                <a:solidFill>
                  <a:schemeClr val="accent2"/>
                </a:solidFill>
                <a:latin typeface="Arial" panose="020B0604020202020204" pitchFamily="34" charset="0"/>
                <a:ea typeface="Calibri" panose="020F0502020204030204" pitchFamily="34" charset="0"/>
              </a:rPr>
              <a:t>?</a:t>
            </a:r>
            <a:endParaRPr lang="en-AU" sz="4400" dirty="0"/>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9" grpId="1"/>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F3BBB8B-A2EE-E60C-4A3B-BDA60DC2FF05}"/>
              </a:ext>
            </a:extLst>
          </p:cNvPr>
          <p:cNvSpPr txBox="1"/>
          <p:nvPr/>
        </p:nvSpPr>
        <p:spPr>
          <a:xfrm>
            <a:off x="807588" y="1976703"/>
            <a:ext cx="10576824" cy="1998176"/>
          </a:xfrm>
          <a:prstGeom prst="rect">
            <a:avLst/>
          </a:prstGeom>
          <a:noFill/>
        </p:spPr>
        <p:txBody>
          <a:bodyPr wrap="square">
            <a:spAutoFit/>
          </a:bodyPr>
          <a:lstStyle/>
          <a:p>
            <a:pPr lvl="0" algn="ctr">
              <a:lnSpc>
                <a:spcPct val="150000"/>
              </a:lnSpc>
              <a:spcBef>
                <a:spcPts val="1200"/>
              </a:spcBef>
              <a:spcAft>
                <a:spcPts val="600"/>
              </a:spcAft>
            </a:pPr>
            <a:r>
              <a:rPr lang="en-AU" sz="4400" b="1" dirty="0">
                <a:latin typeface="Arial" panose="020B0604020202020204" pitchFamily="34" charset="0"/>
                <a:ea typeface="Calibri" panose="020F0502020204030204" pitchFamily="34" charset="0"/>
                <a:cs typeface="Times New Roman" panose="02020603050405020304" pitchFamily="18" charset="0"/>
              </a:rPr>
              <a:t>Explain </a:t>
            </a:r>
            <a:r>
              <a:rPr lang="en-AU" sz="4400" dirty="0">
                <a:latin typeface="Arial" panose="020B0604020202020204" pitchFamily="34" charset="0"/>
                <a:ea typeface="Calibri" panose="020F0502020204030204" pitchFamily="34" charset="0"/>
                <a:cs typeface="Times New Roman" panose="02020603050405020304" pitchFamily="18" charset="0"/>
              </a:rPr>
              <a:t>why a formal unit larger than a square centimetre is </a:t>
            </a:r>
            <a:r>
              <a:rPr lang="en-AU" sz="4400" b="1" dirty="0">
                <a:latin typeface="Arial" panose="020B0604020202020204" pitchFamily="34" charset="0"/>
                <a:ea typeface="Calibri" panose="020F0502020204030204" pitchFamily="34" charset="0"/>
                <a:cs typeface="Times New Roman" panose="02020603050405020304" pitchFamily="18" charset="0"/>
              </a:rPr>
              <a:t>needed.</a:t>
            </a:r>
            <a:r>
              <a:rPr lang="en-AU" sz="4400" dirty="0">
                <a:latin typeface="Arial" panose="020B0604020202020204" pitchFamily="34" charset="0"/>
                <a:ea typeface="Calibri" panose="020F0502020204030204" pitchFamily="34" charset="0"/>
                <a:cs typeface="Times New Roman" panose="02020603050405020304" pitchFamily="18" charset="0"/>
              </a:rPr>
              <a:t> </a:t>
            </a:r>
            <a:endParaRPr lang="en-AU" sz="4400" b="1">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3" name="Picture 12" descr="2 arrays: 3 rows of 5 and 5 rows of 3.">
            <a:extLst>
              <a:ext uri="{FF2B5EF4-FFF2-40B4-BE49-F238E27FC236}">
                <a16:creationId xmlns:a16="http://schemas.microsoft.com/office/drawing/2014/main" id="{E1C57124-4136-17E3-B348-1D5D852E17B8}"/>
              </a:ext>
            </a:extLst>
          </p:cNvPr>
          <p:cNvPicPr>
            <a:picLocks noChangeAspect="1"/>
          </p:cNvPicPr>
          <p:nvPr/>
        </p:nvPicPr>
        <p:blipFill>
          <a:blip r:embed="rId4"/>
          <a:stretch>
            <a:fillRect/>
          </a:stretch>
        </p:blipFill>
        <p:spPr>
          <a:xfrm>
            <a:off x="1016159" y="1406921"/>
            <a:ext cx="2988651" cy="4798880"/>
          </a:xfrm>
          <a:prstGeom prst="rect">
            <a:avLst/>
          </a:prstGeom>
          <a:ln>
            <a:noFill/>
          </a:ln>
          <a:effectLst/>
        </p:spPr>
      </p:pic>
      <p:sp>
        <p:nvSpPr>
          <p:cNvPr id="7" name="TextBox 6">
            <a:extLst>
              <a:ext uri="{FF2B5EF4-FFF2-40B4-BE49-F238E27FC236}">
                <a16:creationId xmlns:a16="http://schemas.microsoft.com/office/drawing/2014/main" id="{4A447CAA-6403-094A-90E0-6D406B94E9FF}"/>
              </a:ext>
            </a:extLst>
          </p:cNvPr>
          <p:cNvSpPr txBox="1"/>
          <p:nvPr/>
        </p:nvSpPr>
        <p:spPr>
          <a:xfrm>
            <a:off x="4574476" y="1218527"/>
            <a:ext cx="7114739" cy="1323439"/>
          </a:xfrm>
          <a:prstGeom prst="rect">
            <a:avLst/>
          </a:prstGeom>
          <a:noFill/>
        </p:spPr>
        <p:txBody>
          <a:bodyPr wrap="square">
            <a:spAutoFit/>
          </a:bodyPr>
          <a:lstStyle/>
          <a:p>
            <a:pPr algn="ctr"/>
            <a:r>
              <a:rPr lang="en-AU" sz="4000" b="1" dirty="0">
                <a:latin typeface="Arial" panose="020B0604020202020204" pitchFamily="34" charset="0"/>
                <a:cs typeface="Arial" panose="020B0604020202020204" pitchFamily="34" charset="0"/>
              </a:rPr>
              <a:t>Record the related facts </a:t>
            </a:r>
            <a:r>
              <a:rPr lang="en-AU" sz="4000" dirty="0">
                <a:latin typeface="Arial" panose="020B0604020202020204" pitchFamily="34" charset="0"/>
                <a:cs typeface="Arial" panose="020B0604020202020204" pitchFamily="34" charset="0"/>
              </a:rPr>
              <a:t>for these </a:t>
            </a:r>
            <a:r>
              <a:rPr lang="en-AU" sz="4000" b="1" dirty="0">
                <a:latin typeface="Arial" panose="020B0604020202020204" pitchFamily="34" charset="0"/>
                <a:cs typeface="Arial" panose="020B0604020202020204" pitchFamily="34" charset="0"/>
              </a:rPr>
              <a:t>arrays</a:t>
            </a:r>
            <a:r>
              <a:rPr lang="en-AU" sz="2400" b="1" dirty="0">
                <a:latin typeface="Arial" panose="020B0604020202020204" pitchFamily="34" charset="0"/>
                <a:cs typeface="Arial" panose="020B0604020202020204" pitchFamily="34" charset="0"/>
              </a:rPr>
              <a:t>.</a:t>
            </a:r>
          </a:p>
        </p:txBody>
      </p:sp>
      <p:sp>
        <p:nvSpPr>
          <p:cNvPr id="8" name="TextBox 7">
            <a:extLst>
              <a:ext uri="{FF2B5EF4-FFF2-40B4-BE49-F238E27FC236}">
                <a16:creationId xmlns:a16="http://schemas.microsoft.com/office/drawing/2014/main" id="{9B8F322F-3404-C3A5-E35B-D687DFC787EF}"/>
              </a:ext>
            </a:extLst>
          </p:cNvPr>
          <p:cNvSpPr txBox="1"/>
          <p:nvPr/>
        </p:nvSpPr>
        <p:spPr>
          <a:xfrm>
            <a:off x="6659823" y="2697066"/>
            <a:ext cx="6094638" cy="584775"/>
          </a:xfrm>
          <a:prstGeom prst="rect">
            <a:avLst/>
          </a:prstGeom>
          <a:noFill/>
        </p:spPr>
        <p:txBody>
          <a:bodyPr wrap="square">
            <a:spAutoFit/>
          </a:bodyPr>
          <a:lstStyle/>
          <a:p>
            <a:pPr algn="l"/>
            <a:r>
              <a:rPr lang="en-AU" sz="3200" b="1" dirty="0">
                <a:latin typeface="Arial" panose="020B0604020202020204" pitchFamily="34" charset="0"/>
                <a:cs typeface="Arial" panose="020B0604020202020204" pitchFamily="34" charset="0"/>
              </a:rPr>
              <a:t>____ × ____ = </a:t>
            </a:r>
            <a:endParaRPr lang="en-AU" sz="2400"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79B49B0-9D1D-5A71-AF59-DB4887C8125E}"/>
              </a:ext>
            </a:extLst>
          </p:cNvPr>
          <p:cNvSpPr txBox="1"/>
          <p:nvPr/>
        </p:nvSpPr>
        <p:spPr>
          <a:xfrm>
            <a:off x="6659823" y="3734285"/>
            <a:ext cx="6094638" cy="584775"/>
          </a:xfrm>
          <a:prstGeom prst="rect">
            <a:avLst/>
          </a:prstGeom>
          <a:noFill/>
        </p:spPr>
        <p:txBody>
          <a:bodyPr wrap="square">
            <a:spAutoFit/>
          </a:bodyPr>
          <a:lstStyle/>
          <a:p>
            <a:pPr algn="l"/>
            <a:r>
              <a:rPr lang="en-AU" sz="3200" b="1" dirty="0">
                <a:latin typeface="Arial" panose="020B0604020202020204" pitchFamily="34" charset="0"/>
                <a:cs typeface="Arial" panose="020B0604020202020204" pitchFamily="34" charset="0"/>
              </a:rPr>
              <a:t>____ × ____ = </a:t>
            </a:r>
            <a:endParaRPr lang="en-AU" sz="2400" b="1"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BE2C867F-ADA6-805F-1F04-15853B116AC7}"/>
              </a:ext>
            </a:extLst>
          </p:cNvPr>
          <p:cNvSpPr txBox="1"/>
          <p:nvPr/>
        </p:nvSpPr>
        <p:spPr>
          <a:xfrm>
            <a:off x="6659823" y="4736489"/>
            <a:ext cx="6094638" cy="584775"/>
          </a:xfrm>
          <a:prstGeom prst="rect">
            <a:avLst/>
          </a:prstGeom>
          <a:noFill/>
        </p:spPr>
        <p:txBody>
          <a:bodyPr wrap="square">
            <a:spAutoFit/>
          </a:bodyPr>
          <a:lstStyle/>
          <a:p>
            <a:pPr algn="l"/>
            <a:r>
              <a:rPr lang="en-AU" sz="3200" b="1" dirty="0">
                <a:latin typeface="Arial" panose="020B0604020202020204" pitchFamily="34" charset="0"/>
                <a:cs typeface="Arial" panose="020B0604020202020204" pitchFamily="34" charset="0"/>
              </a:rPr>
              <a:t>____ ÷ ____ = </a:t>
            </a:r>
            <a:endParaRPr lang="en-AU" sz="24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94CCC4F-40E1-DD86-F303-5FC4A8EE4D1C}"/>
              </a:ext>
            </a:extLst>
          </p:cNvPr>
          <p:cNvSpPr txBox="1"/>
          <p:nvPr/>
        </p:nvSpPr>
        <p:spPr>
          <a:xfrm>
            <a:off x="6659823" y="5621026"/>
            <a:ext cx="6094638" cy="584775"/>
          </a:xfrm>
          <a:prstGeom prst="rect">
            <a:avLst/>
          </a:prstGeom>
          <a:noFill/>
        </p:spPr>
        <p:txBody>
          <a:bodyPr wrap="square">
            <a:spAutoFit/>
          </a:bodyPr>
          <a:lstStyle/>
          <a:p>
            <a:pPr algn="l"/>
            <a:r>
              <a:rPr lang="en-AU" sz="3200" b="1" dirty="0">
                <a:latin typeface="Arial" panose="020B0604020202020204" pitchFamily="34" charset="0"/>
                <a:cs typeface="Arial" panose="020B0604020202020204" pitchFamily="34" charset="0"/>
              </a:rPr>
              <a:t>____ ÷ ____ = </a:t>
            </a:r>
            <a:endParaRPr lang="en-AU" sz="2400" b="1"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F98282E-52F9-0979-A05A-A805E78871D7}"/>
              </a:ext>
            </a:extLst>
          </p:cNvPr>
          <p:cNvSpPr txBox="1"/>
          <p:nvPr/>
        </p:nvSpPr>
        <p:spPr>
          <a:xfrm>
            <a:off x="1702944" y="1021444"/>
            <a:ext cx="9421056" cy="2748253"/>
          </a:xfrm>
          <a:prstGeom prst="rect">
            <a:avLst/>
          </a:prstGeom>
          <a:noFill/>
        </p:spPr>
        <p:txBody>
          <a:bodyPr wrap="square">
            <a:spAutoFit/>
          </a:bodyPr>
          <a:lstStyle/>
          <a:p>
            <a:pPr>
              <a:lnSpc>
                <a:spcPct val="150000"/>
              </a:lnSpc>
            </a:pPr>
            <a:r>
              <a:rPr lang="en-AU" sz="4000" b="1" dirty="0"/>
              <a:t>Sort</a:t>
            </a:r>
            <a:r>
              <a:rPr lang="en-AU" sz="4000" dirty="0"/>
              <a:t> these 2D shapes into 2 groups: </a:t>
            </a:r>
          </a:p>
          <a:p>
            <a:pPr marL="742950" indent="-742950">
              <a:lnSpc>
                <a:spcPct val="150000"/>
              </a:lnSpc>
              <a:buFont typeface="+mj-lt"/>
              <a:buAutoNum type="alphaLcParenR"/>
            </a:pPr>
            <a:r>
              <a:rPr lang="en-AU" sz="4000" dirty="0"/>
              <a:t>shapes </a:t>
            </a:r>
            <a:r>
              <a:rPr lang="en-AU" sz="4000" b="1" dirty="0"/>
              <a:t>with</a:t>
            </a:r>
            <a:r>
              <a:rPr lang="en-AU" sz="4000" dirty="0"/>
              <a:t> a </a:t>
            </a:r>
            <a:r>
              <a:rPr lang="en-AU" sz="4000" b="1" dirty="0"/>
              <a:t>right angle </a:t>
            </a:r>
          </a:p>
          <a:p>
            <a:pPr marL="742950" indent="-742950">
              <a:lnSpc>
                <a:spcPct val="150000"/>
              </a:lnSpc>
              <a:buFont typeface="+mj-lt"/>
              <a:buAutoNum type="alphaLcParenR"/>
            </a:pPr>
            <a:r>
              <a:rPr lang="en-AU" sz="4000" dirty="0"/>
              <a:t>shapes </a:t>
            </a:r>
            <a:r>
              <a:rPr lang="en-AU" sz="4000" b="1" dirty="0"/>
              <a:t>without</a:t>
            </a:r>
            <a:r>
              <a:rPr lang="en-AU" sz="4000" dirty="0"/>
              <a:t> a </a:t>
            </a:r>
            <a:r>
              <a:rPr lang="en-AU" sz="4000" b="1" dirty="0"/>
              <a:t>right angle</a:t>
            </a:r>
            <a:r>
              <a:rPr lang="en-AU" sz="4000" dirty="0"/>
              <a:t>.</a:t>
            </a:r>
            <a:r>
              <a:rPr lang="en-AU" sz="4000" dirty="0">
                <a:latin typeface="Arial" panose="020B0604020202020204" pitchFamily="34" charset="0"/>
                <a:ea typeface="Calibri" panose="020F0502020204030204" pitchFamily="34" charset="0"/>
                <a:cs typeface="Times New Roman" panose="02020603050405020304" pitchFamily="18" charset="0"/>
              </a:rPr>
              <a:t> </a:t>
            </a:r>
            <a:endParaRPr lang="en-AU" sz="4000" b="1"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8" name="Picture 7" descr="Three 2D shapes&#10;trapezium&#10;parallelogram&#10;triangle&#10;">
            <a:extLst>
              <a:ext uri="{FF2B5EF4-FFF2-40B4-BE49-F238E27FC236}">
                <a16:creationId xmlns:a16="http://schemas.microsoft.com/office/drawing/2014/main" id="{8F154121-B65D-1A6D-56EF-8AF922762E6A}"/>
              </a:ext>
            </a:extLst>
          </p:cNvPr>
          <p:cNvPicPr>
            <a:picLocks noChangeAspect="1"/>
          </p:cNvPicPr>
          <p:nvPr/>
        </p:nvPicPr>
        <p:blipFill>
          <a:blip r:embed="rId4"/>
          <a:srcRect t="4833" r="1386"/>
          <a:stretch>
            <a:fillRect/>
          </a:stretch>
        </p:blipFill>
        <p:spPr>
          <a:xfrm>
            <a:off x="2408413" y="4055279"/>
            <a:ext cx="7375173" cy="255072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dirty="0"/>
              <a:t>Activity 6 – place value game</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Gameboard with 19 blank squares from 1000 to 9999.">
            <a:extLst>
              <a:ext uri="{FF2B5EF4-FFF2-40B4-BE49-F238E27FC236}">
                <a16:creationId xmlns:a16="http://schemas.microsoft.com/office/drawing/2014/main" id="{A7701FC1-8719-7217-2288-B9822E87063A}"/>
              </a:ext>
            </a:extLst>
          </p:cNvPr>
          <p:cNvPicPr>
            <a:picLocks noChangeAspect="1"/>
          </p:cNvPicPr>
          <p:nvPr/>
        </p:nvPicPr>
        <p:blipFill>
          <a:blip r:embed="rId4"/>
          <a:stretch>
            <a:fillRect/>
          </a:stretch>
        </p:blipFill>
        <p:spPr>
          <a:xfrm>
            <a:off x="3603625" y="1072394"/>
            <a:ext cx="4186254" cy="5533606"/>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dirty="0">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730657" y="1410336"/>
            <a:ext cx="11243037" cy="754243"/>
          </a:xfrm>
        </p:spPr>
        <p:txBody>
          <a:bodyPr/>
          <a:lstStyle/>
          <a:p>
            <a:r>
              <a:rPr lang="en-US" sz="4000" dirty="0"/>
              <a:t>Which set of numbers are in </a:t>
            </a:r>
            <a:r>
              <a:rPr lang="en-US" sz="4000" b="1" dirty="0"/>
              <a:t>ascending order</a:t>
            </a:r>
            <a:r>
              <a:rPr lang="en-US" sz="4000" dirty="0"/>
              <a:t>?</a:t>
            </a:r>
          </a:p>
        </p:txBody>
      </p:sp>
      <p:sp>
        <p:nvSpPr>
          <p:cNvPr id="9" name="B">
            <a:extLst>
              <a:ext uri="{FF2B5EF4-FFF2-40B4-BE49-F238E27FC236}">
                <a16:creationId xmlns:a16="http://schemas.microsoft.com/office/drawing/2014/main" id="{C9B406B5-1B1B-BC84-2596-01F05852F38E}"/>
              </a:ext>
            </a:extLst>
          </p:cNvPr>
          <p:cNvSpPr txBox="1"/>
          <p:nvPr/>
        </p:nvSpPr>
        <p:spPr>
          <a:xfrm>
            <a:off x="633120" y="30596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08080" y="3059668"/>
            <a:ext cx="10175920" cy="641396"/>
          </a:xfrm>
        </p:spPr>
        <p:txBody>
          <a:bodyPr anchor="ctr"/>
          <a:lstStyle/>
          <a:p>
            <a:r>
              <a:rPr lang="en-US" sz="3600" dirty="0"/>
              <a:t>5677, 6755, 5766</a:t>
            </a:r>
          </a:p>
        </p:txBody>
      </p:sp>
      <p:sp>
        <p:nvSpPr>
          <p:cNvPr id="10" name="B">
            <a:extLst>
              <a:ext uri="{FF2B5EF4-FFF2-40B4-BE49-F238E27FC236}">
                <a16:creationId xmlns:a16="http://schemas.microsoft.com/office/drawing/2014/main" id="{E50622FB-E2C3-695B-EB8A-A6DCC20CB21A}"/>
              </a:ext>
            </a:extLst>
          </p:cNvPr>
          <p:cNvSpPr txBox="1"/>
          <p:nvPr/>
        </p:nvSpPr>
        <p:spPr>
          <a:xfrm>
            <a:off x="633119" y="39075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08080" y="3917632"/>
            <a:ext cx="10175920" cy="641396"/>
          </a:xfrm>
        </p:spPr>
        <p:txBody>
          <a:bodyPr anchor="ctr"/>
          <a:lstStyle/>
          <a:p>
            <a:r>
              <a:rPr lang="en-US" sz="3600" dirty="0"/>
              <a:t>6111, 7111, 1671</a:t>
            </a:r>
          </a:p>
        </p:txBody>
      </p:sp>
      <p:sp>
        <p:nvSpPr>
          <p:cNvPr id="12" name="C">
            <a:extLst>
              <a:ext uri="{FF2B5EF4-FFF2-40B4-BE49-F238E27FC236}">
                <a16:creationId xmlns:a16="http://schemas.microsoft.com/office/drawing/2014/main" id="{0C258EAC-2959-18FA-F510-CFBA4E15CEE5}"/>
              </a:ext>
            </a:extLst>
          </p:cNvPr>
          <p:cNvSpPr txBox="1"/>
          <p:nvPr/>
        </p:nvSpPr>
        <p:spPr>
          <a:xfrm>
            <a:off x="633118" y="47576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08080" y="4757634"/>
            <a:ext cx="10175920" cy="641396"/>
          </a:xfrm>
        </p:spPr>
        <p:txBody>
          <a:bodyPr anchor="ctr"/>
          <a:lstStyle/>
          <a:p>
            <a:r>
              <a:rPr lang="en-US" sz="3600" dirty="0"/>
              <a:t>8888, 9888, 9999</a:t>
            </a:r>
          </a:p>
        </p:txBody>
      </p:sp>
      <p:sp>
        <p:nvSpPr>
          <p:cNvPr id="11" name="D">
            <a:extLst>
              <a:ext uri="{FF2B5EF4-FFF2-40B4-BE49-F238E27FC236}">
                <a16:creationId xmlns:a16="http://schemas.microsoft.com/office/drawing/2014/main" id="{14776889-F079-73F7-28AB-FA54A997A57B}"/>
              </a:ext>
            </a:extLst>
          </p:cNvPr>
          <p:cNvSpPr txBox="1"/>
          <p:nvPr/>
        </p:nvSpPr>
        <p:spPr>
          <a:xfrm>
            <a:off x="633117" y="56076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264215" y="5572574"/>
            <a:ext cx="10175920" cy="641396"/>
          </a:xfrm>
        </p:spPr>
        <p:txBody>
          <a:bodyPr anchor="ctr"/>
          <a:lstStyle/>
          <a:p>
            <a:r>
              <a:rPr lang="en-US" sz="3600" dirty="0"/>
              <a:t>2456, 5642, 4562</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4298128-5030-37DF-F65B-46A3949BD33F}"/>
              </a:ext>
            </a:extLst>
          </p:cNvPr>
          <p:cNvSpPr txBox="1"/>
          <p:nvPr/>
        </p:nvSpPr>
        <p:spPr>
          <a:xfrm>
            <a:off x="69210" y="1316116"/>
            <a:ext cx="12053579" cy="4006161"/>
          </a:xfrm>
          <a:prstGeom prst="rect">
            <a:avLst/>
          </a:prstGeom>
          <a:noFill/>
        </p:spPr>
        <p:txBody>
          <a:bodyPr wrap="square">
            <a:spAutoFit/>
          </a:bodyPr>
          <a:lstStyle/>
          <a:p>
            <a:pPr lvl="0" algn="ctr">
              <a:lnSpc>
                <a:spcPct val="150000"/>
              </a:lnSpc>
              <a:spcBef>
                <a:spcPts val="1200"/>
              </a:spcBef>
              <a:spcAft>
                <a:spcPts val="600"/>
              </a:spcAft>
            </a:pPr>
            <a:r>
              <a:rPr lang="en-AU" sz="3600" dirty="0">
                <a:latin typeface="Arial" panose="020B0604020202020204" pitchFamily="34" charset="0"/>
                <a:ea typeface="Calibri" panose="020F0502020204030204" pitchFamily="34" charset="0"/>
                <a:cs typeface="Times New Roman" panose="02020603050405020304" pitchFamily="18" charset="0"/>
              </a:rPr>
              <a:t>How can you </a:t>
            </a:r>
            <a:r>
              <a:rPr lang="en-AU" sz="3600" b="1" dirty="0">
                <a:latin typeface="Arial" panose="020B0604020202020204" pitchFamily="34" charset="0"/>
                <a:ea typeface="Calibri" panose="020F0502020204030204" pitchFamily="34" charset="0"/>
                <a:cs typeface="Times New Roman" panose="02020603050405020304" pitchFamily="18" charset="0"/>
              </a:rPr>
              <a:t>split</a:t>
            </a:r>
            <a:r>
              <a:rPr lang="en-AU" sz="3600" dirty="0">
                <a:latin typeface="Arial" panose="020B0604020202020204" pitchFamily="34" charset="0"/>
                <a:ea typeface="Calibri" panose="020F0502020204030204" pitchFamily="34" charset="0"/>
                <a:cs typeface="Times New Roman" panose="02020603050405020304" pitchFamily="18" charset="0"/>
              </a:rPr>
              <a:t> this </a:t>
            </a:r>
            <a:r>
              <a:rPr lang="en-AU" sz="3600" b="1" dirty="0">
                <a:latin typeface="Arial" panose="020B0604020202020204" pitchFamily="34" charset="0"/>
                <a:ea typeface="Calibri" panose="020F0502020204030204" pitchFamily="34" charset="0"/>
                <a:cs typeface="Times New Roman" panose="02020603050405020304" pitchFamily="18" charset="0"/>
              </a:rPr>
              <a:t>array</a:t>
            </a:r>
            <a:r>
              <a:rPr lang="en-AU" sz="3600" dirty="0">
                <a:latin typeface="Arial" panose="020B0604020202020204" pitchFamily="34" charset="0"/>
                <a:ea typeface="Calibri" panose="020F0502020204030204" pitchFamily="34" charset="0"/>
                <a:cs typeface="Times New Roman" panose="02020603050405020304" pitchFamily="18" charset="0"/>
              </a:rPr>
              <a:t> to help you answer </a:t>
            </a:r>
            <a:r>
              <a:rPr lang="en-AU" sz="3600" b="1" dirty="0">
                <a:latin typeface="Arial" panose="020B0604020202020204" pitchFamily="34" charset="0"/>
                <a:ea typeface="Calibri" panose="020F0502020204030204" pitchFamily="34" charset="0"/>
                <a:cs typeface="Times New Roman" panose="02020603050405020304" pitchFamily="18" charset="0"/>
              </a:rPr>
              <a:t>6 × 7</a:t>
            </a:r>
            <a:r>
              <a:rPr lang="en-AU" sz="3600" dirty="0">
                <a:latin typeface="Arial" panose="020B0604020202020204" pitchFamily="34" charset="0"/>
                <a:ea typeface="Calibri" panose="020F0502020204030204" pitchFamily="34" charset="0"/>
                <a:cs typeface="Times New Roman" panose="02020603050405020304" pitchFamily="18" charset="0"/>
              </a:rPr>
              <a:t>?</a:t>
            </a:r>
          </a:p>
          <a:p>
            <a:pPr lvl="0">
              <a:lnSpc>
                <a:spcPct val="150000"/>
              </a:lnSpc>
              <a:spcBef>
                <a:spcPts val="1200"/>
              </a:spcBef>
              <a:spcAft>
                <a:spcPts val="600"/>
              </a:spcAft>
            </a:pPr>
            <a:endParaRPr lang="en-AU" sz="3600" b="1" dirty="0">
              <a:effectLst/>
              <a:latin typeface="Arial" panose="020B0604020202020204" pitchFamily="34" charset="0"/>
              <a:ea typeface="Calibri" panose="020F0502020204030204" pitchFamily="34" charset="0"/>
              <a:cs typeface="Times New Roman" panose="02020603050405020304" pitchFamily="18" charset="0"/>
            </a:endParaRPr>
          </a:p>
          <a:p>
            <a:pPr lvl="0">
              <a:lnSpc>
                <a:spcPct val="150000"/>
              </a:lnSpc>
              <a:spcBef>
                <a:spcPts val="1200"/>
              </a:spcBef>
              <a:spcAft>
                <a:spcPts val="600"/>
              </a:spcAft>
            </a:pPr>
            <a:endParaRPr lang="en-AU" sz="3600" b="1" dirty="0">
              <a:latin typeface="Arial" panose="020B0604020202020204" pitchFamily="34" charset="0"/>
              <a:ea typeface="Calibri" panose="020F0502020204030204" pitchFamily="34" charset="0"/>
              <a:cs typeface="Times New Roman" panose="02020603050405020304" pitchFamily="18" charset="0"/>
            </a:endParaRPr>
          </a:p>
          <a:p>
            <a:pPr lvl="0">
              <a:lnSpc>
                <a:spcPct val="150000"/>
              </a:lnSpc>
              <a:spcBef>
                <a:spcPts val="1200"/>
              </a:spcBef>
              <a:spcAft>
                <a:spcPts val="600"/>
              </a:spcAft>
            </a:pPr>
            <a:endParaRPr lang="en-AU" sz="3600" b="1" dirty="0">
              <a:latin typeface="Arial" panose="020B0604020202020204" pitchFamily="34" charset="0"/>
              <a:ea typeface="Calibri" panose="020F0502020204030204" pitchFamily="34" charset="0"/>
              <a:cs typeface="Times New Roman" panose="02020603050405020304" pitchFamily="18" charset="0"/>
            </a:endParaRPr>
          </a:p>
        </p:txBody>
      </p:sp>
      <p:pic>
        <p:nvPicPr>
          <p:cNvPr id="10" name="Picture 9" descr="An array - 6 rows of 7.">
            <a:extLst>
              <a:ext uri="{FF2B5EF4-FFF2-40B4-BE49-F238E27FC236}">
                <a16:creationId xmlns:a16="http://schemas.microsoft.com/office/drawing/2014/main" id="{B8E488F6-4C95-DD2A-375E-B1F6B31E70CB}"/>
              </a:ext>
            </a:extLst>
          </p:cNvPr>
          <p:cNvPicPr>
            <a:picLocks noChangeAspect="1"/>
          </p:cNvPicPr>
          <p:nvPr/>
        </p:nvPicPr>
        <p:blipFill>
          <a:blip r:embed="rId4"/>
          <a:stretch>
            <a:fillRect/>
          </a:stretch>
        </p:blipFill>
        <p:spPr>
          <a:xfrm>
            <a:off x="4373953" y="3551655"/>
            <a:ext cx="3444092" cy="3054345"/>
          </a:xfrm>
          <a:prstGeom prst="rect">
            <a:avLst/>
          </a:prstGeom>
        </p:spPr>
      </p:pic>
      <p:sp>
        <p:nvSpPr>
          <p:cNvPr id="7" name="TextBox 6">
            <a:extLst>
              <a:ext uri="{FF2B5EF4-FFF2-40B4-BE49-F238E27FC236}">
                <a16:creationId xmlns:a16="http://schemas.microsoft.com/office/drawing/2014/main" id="{0FB01E25-E7EE-4BA4-8FB5-31FCF4CC5B4E}"/>
              </a:ext>
            </a:extLst>
          </p:cNvPr>
          <p:cNvSpPr txBox="1"/>
          <p:nvPr/>
        </p:nvSpPr>
        <p:spPr>
          <a:xfrm>
            <a:off x="360000" y="2254698"/>
            <a:ext cx="11603863" cy="820674"/>
          </a:xfrm>
          <a:prstGeom prst="rect">
            <a:avLst/>
          </a:prstGeom>
          <a:noFill/>
        </p:spPr>
        <p:txBody>
          <a:bodyPr wrap="square">
            <a:spAutoFit/>
          </a:bodyPr>
          <a:lstStyle/>
          <a:p>
            <a:pPr lvl="0" algn="ctr">
              <a:lnSpc>
                <a:spcPct val="150000"/>
              </a:lnSpc>
              <a:spcBef>
                <a:spcPts val="1200"/>
              </a:spcBef>
              <a:spcAft>
                <a:spcPts val="600"/>
              </a:spcAft>
            </a:pPr>
            <a:r>
              <a:rPr lang="en-AU" sz="3600" b="1" dirty="0">
                <a:effectLst/>
                <a:latin typeface="Arial" panose="020B0604020202020204" pitchFamily="34" charset="0"/>
                <a:ea typeface="Calibri" panose="020F0502020204030204" pitchFamily="34" charset="0"/>
                <a:cs typeface="Times New Roman" panose="02020603050405020304" pitchFamily="18" charset="0"/>
              </a:rPr>
              <a:t>Rec</a:t>
            </a:r>
            <a:r>
              <a:rPr lang="en-AU" sz="3600" b="1" dirty="0">
                <a:latin typeface="Arial" panose="020B0604020202020204" pitchFamily="34" charset="0"/>
                <a:ea typeface="Calibri" panose="020F0502020204030204" pitchFamily="34" charset="0"/>
                <a:cs typeface="Times New Roman" panose="02020603050405020304" pitchFamily="18" charset="0"/>
              </a:rPr>
              <a:t>ord</a:t>
            </a:r>
            <a:r>
              <a:rPr lang="en-AU" sz="3600" dirty="0">
                <a:latin typeface="Arial" panose="020B0604020202020204" pitchFamily="34" charset="0"/>
                <a:ea typeface="Calibri" panose="020F0502020204030204" pitchFamily="34" charset="0"/>
                <a:cs typeface="Times New Roman" panose="02020603050405020304" pitchFamily="18" charset="0"/>
              </a:rPr>
              <a:t> the </a:t>
            </a:r>
            <a:r>
              <a:rPr lang="en-AU" sz="3600" b="1" dirty="0">
                <a:latin typeface="Arial" panose="020B0604020202020204" pitchFamily="34" charset="0"/>
                <a:ea typeface="Calibri" panose="020F0502020204030204" pitchFamily="34" charset="0"/>
                <a:cs typeface="Times New Roman" panose="02020603050405020304" pitchFamily="18" charset="0"/>
              </a:rPr>
              <a:t>number sentence </a:t>
            </a:r>
            <a:r>
              <a:rPr lang="en-AU" sz="3600" dirty="0">
                <a:latin typeface="Arial" panose="020B0604020202020204" pitchFamily="34" charset="0"/>
                <a:ea typeface="Calibri" panose="020F0502020204030204" pitchFamily="34" charset="0"/>
                <a:cs typeface="Times New Roman" panose="02020603050405020304" pitchFamily="18" charset="0"/>
              </a:rPr>
              <a:t>to match the </a:t>
            </a:r>
            <a:r>
              <a:rPr lang="en-AU" sz="3600" b="1" dirty="0">
                <a:latin typeface="Arial" panose="020B0604020202020204" pitchFamily="34" charset="0"/>
                <a:ea typeface="Calibri" panose="020F0502020204030204" pitchFamily="34" charset="0"/>
                <a:cs typeface="Times New Roman" panose="02020603050405020304" pitchFamily="18" charset="0"/>
              </a:rPr>
              <a:t>split</a:t>
            </a:r>
            <a:r>
              <a:rPr lang="en-AU" sz="3600" dirty="0">
                <a:latin typeface="Arial" panose="020B0604020202020204" pitchFamily="34" charset="0"/>
                <a:ea typeface="Calibri" panose="020F0502020204030204" pitchFamily="34" charset="0"/>
                <a:cs typeface="Times New Roman" panose="02020603050405020304" pitchFamily="18" charset="0"/>
              </a:rPr>
              <a:t> array.</a:t>
            </a:r>
            <a:endParaRPr lang="en-AU" sz="3600" b="1"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0DDA809-7409-C794-5858-C574A1D371D0}"/>
              </a:ext>
            </a:extLst>
          </p:cNvPr>
          <p:cNvSpPr txBox="1"/>
          <p:nvPr/>
        </p:nvSpPr>
        <p:spPr>
          <a:xfrm>
            <a:off x="360000" y="1299874"/>
            <a:ext cx="4795096" cy="5045164"/>
          </a:xfrm>
          <a:prstGeom prst="rect">
            <a:avLst/>
          </a:prstGeom>
          <a:noFill/>
        </p:spPr>
        <p:txBody>
          <a:bodyPr wrap="square">
            <a:spAutoFit/>
          </a:bodyPr>
          <a:lstStyle/>
          <a:p>
            <a:pPr lvl="0" algn="ctr">
              <a:lnSpc>
                <a:spcPct val="150000"/>
              </a:lnSpc>
              <a:spcBef>
                <a:spcPts val="1200"/>
              </a:spcBef>
              <a:spcAft>
                <a:spcPts val="600"/>
              </a:spcAft>
            </a:pPr>
            <a:r>
              <a:rPr lang="en-AU" sz="4400" b="1" dirty="0">
                <a:latin typeface="Arial" panose="020B0604020202020204" pitchFamily="34" charset="0"/>
                <a:ea typeface="Calibri" panose="020F0502020204030204" pitchFamily="34" charset="0"/>
                <a:cs typeface="Times New Roman" panose="02020603050405020304" pitchFamily="18" charset="0"/>
              </a:rPr>
              <a:t>Record</a:t>
            </a:r>
            <a:r>
              <a:rPr lang="en-AU" sz="4400" dirty="0">
                <a:latin typeface="Arial" panose="020B0604020202020204" pitchFamily="34" charset="0"/>
                <a:ea typeface="Calibri" panose="020F0502020204030204" pitchFamily="34" charset="0"/>
                <a:cs typeface="Times New Roman" panose="02020603050405020304" pitchFamily="18" charset="0"/>
              </a:rPr>
              <a:t> the </a:t>
            </a:r>
            <a:r>
              <a:rPr lang="en-AU" sz="4400" b="1" dirty="0">
                <a:latin typeface="Arial" panose="020B0604020202020204" pitchFamily="34" charset="0"/>
                <a:ea typeface="Calibri" panose="020F0502020204030204" pitchFamily="34" charset="0"/>
                <a:cs typeface="Times New Roman" panose="02020603050405020304" pitchFamily="18" charset="0"/>
              </a:rPr>
              <a:t>area </a:t>
            </a:r>
            <a:r>
              <a:rPr lang="en-AU" sz="4400" dirty="0">
                <a:latin typeface="Arial" panose="020B0604020202020204" pitchFamily="34" charset="0"/>
                <a:ea typeface="Calibri" panose="020F0502020204030204" pitchFamily="34" charset="0"/>
                <a:cs typeface="Times New Roman" panose="02020603050405020304" pitchFamily="18" charset="0"/>
              </a:rPr>
              <a:t>of the pickleball court</a:t>
            </a:r>
            <a:r>
              <a:rPr lang="en-AU" sz="4400">
                <a:latin typeface="Arial" panose="020B0604020202020204" pitchFamily="34" charset="0"/>
                <a:ea typeface="Calibri" panose="020F0502020204030204" pitchFamily="34" charset="0"/>
                <a:cs typeface="Times New Roman" panose="02020603050405020304" pitchFamily="18" charset="0"/>
              </a:rPr>
              <a:t> using </a:t>
            </a:r>
            <a:r>
              <a:rPr lang="en-AU" sz="4400" b="1">
                <a:latin typeface="Arial" panose="020B0604020202020204" pitchFamily="34" charset="0"/>
                <a:ea typeface="Calibri" panose="020F0502020204030204" pitchFamily="34" charset="0"/>
                <a:cs typeface="Times New Roman" panose="02020603050405020304" pitchFamily="18" charset="0"/>
              </a:rPr>
              <a:t>numerals</a:t>
            </a:r>
            <a:r>
              <a:rPr lang="en-AU" sz="4400">
                <a:latin typeface="Arial" panose="020B0604020202020204" pitchFamily="34" charset="0"/>
                <a:ea typeface="Calibri" panose="020F0502020204030204" pitchFamily="34" charset="0"/>
                <a:cs typeface="Times New Roman" panose="02020603050405020304" pitchFamily="18" charset="0"/>
              </a:rPr>
              <a:t> and </a:t>
            </a:r>
            <a:r>
              <a:rPr lang="en-AU" sz="4400" b="1">
                <a:latin typeface="Arial" panose="020B0604020202020204" pitchFamily="34" charset="0"/>
                <a:ea typeface="Calibri" panose="020F0502020204030204" pitchFamily="34" charset="0"/>
                <a:cs typeface="Times New Roman" panose="02020603050405020304" pitchFamily="18" charset="0"/>
              </a:rPr>
              <a:t>words</a:t>
            </a:r>
            <a:r>
              <a:rPr lang="en-AU" sz="4400" dirty="0">
                <a:latin typeface="Arial" panose="020B0604020202020204" pitchFamily="34" charset="0"/>
                <a:ea typeface="Calibri" panose="020F0502020204030204" pitchFamily="34" charset="0"/>
                <a:cs typeface="Times New Roman" panose="02020603050405020304" pitchFamily="18" charset="0"/>
              </a:rPr>
              <a:t>.</a:t>
            </a:r>
          </a:p>
        </p:txBody>
      </p:sp>
      <p:pic>
        <p:nvPicPr>
          <p:cNvPr id="8" name="Picture 7" descr="An image of a pickleball court with the length 13 m and width 6 m.">
            <a:extLst>
              <a:ext uri="{FF2B5EF4-FFF2-40B4-BE49-F238E27FC236}">
                <a16:creationId xmlns:a16="http://schemas.microsoft.com/office/drawing/2014/main" id="{BC4EA5BD-DEBE-18B7-A591-A1F5230D8440}"/>
              </a:ext>
            </a:extLst>
          </p:cNvPr>
          <p:cNvPicPr>
            <a:picLocks noChangeAspect="1"/>
          </p:cNvPicPr>
          <p:nvPr/>
        </p:nvPicPr>
        <p:blipFill>
          <a:blip r:embed="rId4"/>
          <a:stretch>
            <a:fillRect/>
          </a:stretch>
        </p:blipFill>
        <p:spPr>
          <a:xfrm>
            <a:off x="5761354" y="1886767"/>
            <a:ext cx="5722646" cy="354582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512F92E-03D2-6803-14C2-3B3F626B3A62}"/>
              </a:ext>
            </a:extLst>
          </p:cNvPr>
          <p:cNvSpPr txBox="1"/>
          <p:nvPr/>
        </p:nvSpPr>
        <p:spPr>
          <a:xfrm>
            <a:off x="614457" y="1260036"/>
            <a:ext cx="4929177" cy="4825745"/>
          </a:xfrm>
          <a:prstGeom prst="rect">
            <a:avLst/>
          </a:prstGeom>
          <a:noFill/>
        </p:spPr>
        <p:txBody>
          <a:bodyPr wrap="square">
            <a:spAutoFit/>
          </a:bodyPr>
          <a:lstStyle/>
          <a:p>
            <a:pPr lvl="0" algn="ctr">
              <a:lnSpc>
                <a:spcPct val="150000"/>
              </a:lnSpc>
              <a:spcBef>
                <a:spcPts val="1200"/>
              </a:spcBef>
              <a:spcAft>
                <a:spcPts val="600"/>
              </a:spcAft>
            </a:pPr>
            <a:r>
              <a:rPr lang="en-AU" sz="4000" dirty="0">
                <a:latin typeface="Arial" panose="020B0604020202020204" pitchFamily="34" charset="0"/>
                <a:ea typeface="Calibri" panose="020F0502020204030204" pitchFamily="34" charset="0"/>
                <a:cs typeface="Times New Roman" panose="02020603050405020304" pitchFamily="18" charset="0"/>
              </a:rPr>
              <a:t>Identify the </a:t>
            </a:r>
            <a:r>
              <a:rPr lang="en-AU" sz="4000" b="1" dirty="0">
                <a:latin typeface="Arial" panose="020B0604020202020204" pitchFamily="34" charset="0"/>
                <a:ea typeface="Calibri" panose="020F0502020204030204" pitchFamily="34" charset="0"/>
                <a:cs typeface="Times New Roman" panose="02020603050405020304" pitchFamily="18" charset="0"/>
              </a:rPr>
              <a:t>missing numbers </a:t>
            </a:r>
            <a:r>
              <a:rPr lang="en-AU" sz="4000" dirty="0">
                <a:latin typeface="Arial" panose="020B0604020202020204" pitchFamily="34" charset="0"/>
                <a:ea typeface="Calibri" panose="020F0502020204030204" pitchFamily="34" charset="0"/>
                <a:cs typeface="Times New Roman" panose="02020603050405020304" pitchFamily="18" charset="0"/>
              </a:rPr>
              <a:t>in the fact family triangles.</a:t>
            </a:r>
          </a:p>
          <a:p>
            <a:pPr lvl="0" algn="ctr">
              <a:lnSpc>
                <a:spcPct val="150000"/>
              </a:lnSpc>
              <a:spcBef>
                <a:spcPts val="1200"/>
              </a:spcBef>
              <a:spcAft>
                <a:spcPts val="600"/>
              </a:spcAft>
            </a:pPr>
            <a:r>
              <a:rPr lang="en-AU" sz="4000" b="1" dirty="0">
                <a:latin typeface="Arial" panose="020B0604020202020204" pitchFamily="34" charset="0"/>
                <a:ea typeface="Calibri" panose="020F0502020204030204" pitchFamily="34" charset="0"/>
                <a:cs typeface="Times New Roman" panose="02020603050405020304" pitchFamily="18" charset="0"/>
              </a:rPr>
              <a:t>Complete</a:t>
            </a:r>
            <a:r>
              <a:rPr lang="en-AU" sz="4000" dirty="0">
                <a:latin typeface="Arial" panose="020B0604020202020204" pitchFamily="34" charset="0"/>
                <a:ea typeface="Calibri" panose="020F0502020204030204" pitchFamily="34" charset="0"/>
                <a:cs typeface="Times New Roman" panose="02020603050405020304" pitchFamily="18" charset="0"/>
              </a:rPr>
              <a:t> the number sentences.</a:t>
            </a: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7" name="Picture 6" descr="4 fact family triangles&#10;&#10;A.35, ?, 5&#10;B. 32, 4, ?&#10;C. 14, ?, 2&#10;D. 25, 5, ?&#10;&#10;Number sentences:&#10;A. 35 divided by ? = 5&#10;B. 4 x ? = 32&#10;C. ? x 2 = 14&#10;D. 25 divided by ? = 5">
            <a:extLst>
              <a:ext uri="{FF2B5EF4-FFF2-40B4-BE49-F238E27FC236}">
                <a16:creationId xmlns:a16="http://schemas.microsoft.com/office/drawing/2014/main" id="{9492BF8F-605D-58B4-E045-64F41B9677CF}"/>
              </a:ext>
            </a:extLst>
          </p:cNvPr>
          <p:cNvPicPr>
            <a:picLocks noChangeAspect="1"/>
          </p:cNvPicPr>
          <p:nvPr/>
        </p:nvPicPr>
        <p:blipFill>
          <a:blip r:embed="rId4"/>
          <a:stretch>
            <a:fillRect/>
          </a:stretch>
        </p:blipFill>
        <p:spPr>
          <a:xfrm>
            <a:off x="6600659" y="1338180"/>
            <a:ext cx="4429817" cy="4825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86AAFD8-5673-EF36-26D8-3101A3860EC5}"/>
              </a:ext>
            </a:extLst>
          </p:cNvPr>
          <p:cNvSpPr txBox="1"/>
          <p:nvPr/>
        </p:nvSpPr>
        <p:spPr>
          <a:xfrm>
            <a:off x="792158" y="905601"/>
            <a:ext cx="9935110" cy="1824923"/>
          </a:xfrm>
          <a:prstGeom prst="rect">
            <a:avLst/>
          </a:prstGeom>
          <a:noFill/>
        </p:spPr>
        <p:txBody>
          <a:bodyPr wrap="square">
            <a:spAutoFit/>
          </a:bodyPr>
          <a:lstStyle/>
          <a:p>
            <a:pPr algn="ctr">
              <a:lnSpc>
                <a:spcPct val="150000"/>
              </a:lnSpc>
            </a:pPr>
            <a:r>
              <a:rPr lang="en-AU" sz="4000" b="0" i="0" dirty="0">
                <a:solidFill>
                  <a:srgbClr val="000000"/>
                </a:solidFill>
                <a:effectLst/>
              </a:rPr>
              <a:t>Record the </a:t>
            </a:r>
            <a:r>
              <a:rPr lang="en-AU" sz="4000" b="1" i="0" dirty="0">
                <a:solidFill>
                  <a:srgbClr val="000000"/>
                </a:solidFill>
                <a:effectLst/>
              </a:rPr>
              <a:t>capacities</a:t>
            </a:r>
            <a:r>
              <a:rPr lang="en-AU" sz="4000" b="0" i="0" dirty="0">
                <a:solidFill>
                  <a:srgbClr val="000000"/>
                </a:solidFill>
                <a:effectLst/>
              </a:rPr>
              <a:t> of these containers using the </a:t>
            </a:r>
            <a:r>
              <a:rPr lang="en-AU" sz="4000" b="1" i="0" dirty="0">
                <a:solidFill>
                  <a:srgbClr val="000000"/>
                </a:solidFill>
                <a:effectLst/>
              </a:rPr>
              <a:t>abbreviation</a:t>
            </a:r>
            <a:r>
              <a:rPr lang="en-AU" sz="4000" b="0" i="0" dirty="0">
                <a:solidFill>
                  <a:srgbClr val="000000"/>
                </a:solidFill>
                <a:effectLst/>
              </a:rPr>
              <a:t> for </a:t>
            </a:r>
            <a:r>
              <a:rPr lang="en-AU" sz="4000" b="1" i="0" dirty="0">
                <a:solidFill>
                  <a:srgbClr val="000000"/>
                </a:solidFill>
                <a:effectLst/>
              </a:rPr>
              <a:t>litres</a:t>
            </a:r>
            <a:r>
              <a:rPr lang="en-AU" sz="4000" b="0" i="0" dirty="0">
                <a:solidFill>
                  <a:srgbClr val="000000"/>
                </a:solidFill>
                <a:effectLst/>
              </a:rPr>
              <a:t>.</a:t>
            </a:r>
            <a:endParaRPr lang="en-AU" sz="4000" dirty="0"/>
          </a:p>
        </p:txBody>
      </p:sp>
      <p:pic>
        <p:nvPicPr>
          <p:cNvPr id="8" name="Picture 7" descr="An image of 3 water containers&#10;a) ten litres&#10;b) four litres&#10;c) one litre">
            <a:extLst>
              <a:ext uri="{FF2B5EF4-FFF2-40B4-BE49-F238E27FC236}">
                <a16:creationId xmlns:a16="http://schemas.microsoft.com/office/drawing/2014/main" id="{84FBE9CB-BC7A-F8D2-D1F9-6F330643ADA8}"/>
              </a:ext>
            </a:extLst>
          </p:cNvPr>
          <p:cNvPicPr>
            <a:picLocks noChangeAspect="1"/>
          </p:cNvPicPr>
          <p:nvPr/>
        </p:nvPicPr>
        <p:blipFill>
          <a:blip r:embed="rId4"/>
          <a:stretch>
            <a:fillRect/>
          </a:stretch>
        </p:blipFill>
        <p:spPr>
          <a:xfrm>
            <a:off x="3722308" y="2926080"/>
            <a:ext cx="5380251" cy="376992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dirty="0"/>
              <a:t>Activity 7 – hat trick – arranging digits to order in the thousands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42" name="Group 41" descr="A number line marked 5000, 6000, 7000, 8000, 9000 and 10,000. &#10;&#10;Team A in blue has marked the following numbers: 5285, 8250, 9134, 9556.&#10;&#10;Team B in red has marked 5682, 6497, 6932, 7845. &#10;&#10;Team B wins because they have arranged 4 numbers in a row.">
            <a:extLst>
              <a:ext uri="{FF2B5EF4-FFF2-40B4-BE49-F238E27FC236}">
                <a16:creationId xmlns:a16="http://schemas.microsoft.com/office/drawing/2014/main" id="{EEDE6F74-0D6D-296D-EFAF-B473A0292296}"/>
              </a:ext>
            </a:extLst>
          </p:cNvPr>
          <p:cNvGrpSpPr/>
          <p:nvPr/>
        </p:nvGrpSpPr>
        <p:grpSpPr>
          <a:xfrm>
            <a:off x="2090058" y="1972492"/>
            <a:ext cx="8203474" cy="3788228"/>
            <a:chOff x="2511775" y="1840134"/>
            <a:chExt cx="7235913" cy="2959192"/>
          </a:xfrm>
        </p:grpSpPr>
        <p:sp>
          <p:nvSpPr>
            <p:cNvPr id="3" name="AutoShape 2" descr="A number line marked 5000, 6000, 7000, 8000, 9000 and 10 000. Team A in blue has marked the following numbers: 5285, 8250, 9134, 9556.&#10;&#10;Team B in red has marked 5682, 6497, 6932, 7845. &#10;&#10;Team B wins because they have arranged 4 numbers in a row">
              <a:extLst>
                <a:ext uri="{FF2B5EF4-FFF2-40B4-BE49-F238E27FC236}">
                  <a16:creationId xmlns:a16="http://schemas.microsoft.com/office/drawing/2014/main" id="{F8E7E095-3D1F-A836-009F-2051E0F05573}"/>
                </a:ext>
              </a:extLst>
            </p:cNvPr>
            <p:cNvSpPr/>
            <p:nvPr/>
          </p:nvSpPr>
          <p:spPr>
            <a:xfrm>
              <a:off x="2704809" y="3265831"/>
              <a:ext cx="6847606" cy="0"/>
            </a:xfrm>
            <a:prstGeom prst="line">
              <a:avLst/>
            </a:prstGeom>
            <a:ln w="38100" cap="flat">
              <a:solidFill>
                <a:srgbClr val="000000"/>
              </a:solidFill>
              <a:prstDash val="solid"/>
              <a:headEnd type="arrow" w="med" len="sm"/>
              <a:tailEnd type="arrow" w="med" len="sm"/>
            </a:ln>
          </p:spPr>
          <p:txBody>
            <a:bodyPr/>
            <a:lstStyle/>
            <a:p>
              <a:endParaRPr lang="en-AU">
                <a:latin typeface="Arial" panose="020B0604020202020204" pitchFamily="34" charset="0"/>
                <a:cs typeface="Arial" panose="020B0604020202020204" pitchFamily="34" charset="0"/>
              </a:endParaRPr>
            </a:p>
          </p:txBody>
        </p:sp>
        <p:sp>
          <p:nvSpPr>
            <p:cNvPr id="5" name="AutoShape 3">
              <a:extLst>
                <a:ext uri="{FF2B5EF4-FFF2-40B4-BE49-F238E27FC236}">
                  <a16:creationId xmlns:a16="http://schemas.microsoft.com/office/drawing/2014/main" id="{7064565D-81DA-1EC6-DB45-5CDBE583642D}"/>
                </a:ext>
                <a:ext uri="{C183D7F6-B498-43B3-948B-1728B52AA6E4}">
                  <adec:decorative xmlns:adec="http://schemas.microsoft.com/office/drawing/2017/decorative" val="1"/>
                </a:ext>
              </a:extLst>
            </p:cNvPr>
            <p:cNvSpPr/>
            <p:nvPr/>
          </p:nvSpPr>
          <p:spPr>
            <a:xfrm flipH="1" flipV="1">
              <a:off x="2918931" y="2971418"/>
              <a:ext cx="0" cy="294413"/>
            </a:xfrm>
            <a:prstGeom prst="line">
              <a:avLst/>
            </a:prstGeom>
            <a:ln w="38100" cap="flat">
              <a:solidFill>
                <a:srgbClr val="000000"/>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7" name="AutoShape 4">
              <a:extLst>
                <a:ext uri="{FF2B5EF4-FFF2-40B4-BE49-F238E27FC236}">
                  <a16:creationId xmlns:a16="http://schemas.microsoft.com/office/drawing/2014/main" id="{2D0AC163-3517-D87C-4B88-AD41AF79C4F4}"/>
                </a:ext>
                <a:ext uri="{C183D7F6-B498-43B3-948B-1728B52AA6E4}">
                  <adec:decorative xmlns:adec="http://schemas.microsoft.com/office/drawing/2017/decorative" val="1"/>
                </a:ext>
              </a:extLst>
            </p:cNvPr>
            <p:cNvSpPr/>
            <p:nvPr/>
          </p:nvSpPr>
          <p:spPr>
            <a:xfrm flipH="1" flipV="1">
              <a:off x="9324285" y="2971418"/>
              <a:ext cx="0" cy="294413"/>
            </a:xfrm>
            <a:prstGeom prst="line">
              <a:avLst/>
            </a:prstGeom>
            <a:ln w="38100" cap="flat">
              <a:solidFill>
                <a:srgbClr val="000000"/>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8" name="AutoShape 5">
              <a:extLst>
                <a:ext uri="{FF2B5EF4-FFF2-40B4-BE49-F238E27FC236}">
                  <a16:creationId xmlns:a16="http://schemas.microsoft.com/office/drawing/2014/main" id="{774970AC-47E1-BD81-5375-63F422545835}"/>
                </a:ext>
                <a:ext uri="{C183D7F6-B498-43B3-948B-1728B52AA6E4}">
                  <adec:decorative xmlns:adec="http://schemas.microsoft.com/office/drawing/2017/decorative" val="1"/>
                </a:ext>
              </a:extLst>
            </p:cNvPr>
            <p:cNvSpPr/>
            <p:nvPr/>
          </p:nvSpPr>
          <p:spPr>
            <a:xfrm flipH="1" flipV="1">
              <a:off x="4200002" y="2971418"/>
              <a:ext cx="0" cy="294413"/>
            </a:xfrm>
            <a:prstGeom prst="line">
              <a:avLst/>
            </a:prstGeom>
            <a:ln w="38100" cap="flat">
              <a:solidFill>
                <a:srgbClr val="000000"/>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9" name="AutoShape 6">
              <a:extLst>
                <a:ext uri="{FF2B5EF4-FFF2-40B4-BE49-F238E27FC236}">
                  <a16:creationId xmlns:a16="http://schemas.microsoft.com/office/drawing/2014/main" id="{4131164F-A6E9-82C0-AFCF-C865C35D55AD}"/>
                </a:ext>
                <a:ext uri="{C183D7F6-B498-43B3-948B-1728B52AA6E4}">
                  <adec:decorative xmlns:adec="http://schemas.microsoft.com/office/drawing/2017/decorative" val="1"/>
                </a:ext>
              </a:extLst>
            </p:cNvPr>
            <p:cNvSpPr/>
            <p:nvPr/>
          </p:nvSpPr>
          <p:spPr>
            <a:xfrm flipH="1" flipV="1">
              <a:off x="5481073" y="2971418"/>
              <a:ext cx="0" cy="294413"/>
            </a:xfrm>
            <a:prstGeom prst="line">
              <a:avLst/>
            </a:prstGeom>
            <a:ln w="38100" cap="flat">
              <a:solidFill>
                <a:srgbClr val="000000"/>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10" name="AutoShape 7">
              <a:extLst>
                <a:ext uri="{FF2B5EF4-FFF2-40B4-BE49-F238E27FC236}">
                  <a16:creationId xmlns:a16="http://schemas.microsoft.com/office/drawing/2014/main" id="{91DB826E-00DB-75CA-7034-AD30CEDF6B60}"/>
                </a:ext>
                <a:ext uri="{C183D7F6-B498-43B3-948B-1728B52AA6E4}">
                  <adec:decorative xmlns:adec="http://schemas.microsoft.com/office/drawing/2017/decorative" val="1"/>
                </a:ext>
              </a:extLst>
            </p:cNvPr>
            <p:cNvSpPr/>
            <p:nvPr/>
          </p:nvSpPr>
          <p:spPr>
            <a:xfrm flipH="1" flipV="1">
              <a:off x="6762143" y="2971418"/>
              <a:ext cx="0" cy="294413"/>
            </a:xfrm>
            <a:prstGeom prst="line">
              <a:avLst/>
            </a:prstGeom>
            <a:ln w="38100" cap="flat">
              <a:solidFill>
                <a:srgbClr val="000000"/>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11" name="AutoShape 8">
              <a:extLst>
                <a:ext uri="{FF2B5EF4-FFF2-40B4-BE49-F238E27FC236}">
                  <a16:creationId xmlns:a16="http://schemas.microsoft.com/office/drawing/2014/main" id="{B68BF676-26CC-6828-5357-914922C3A8CD}"/>
                </a:ext>
                <a:ext uri="{C183D7F6-B498-43B3-948B-1728B52AA6E4}">
                  <adec:decorative xmlns:adec="http://schemas.microsoft.com/office/drawing/2017/decorative" val="1"/>
                </a:ext>
              </a:extLst>
            </p:cNvPr>
            <p:cNvSpPr/>
            <p:nvPr/>
          </p:nvSpPr>
          <p:spPr>
            <a:xfrm flipH="1" flipV="1">
              <a:off x="8043214" y="2971418"/>
              <a:ext cx="0" cy="294413"/>
            </a:xfrm>
            <a:prstGeom prst="line">
              <a:avLst/>
            </a:prstGeom>
            <a:ln w="38100" cap="flat">
              <a:solidFill>
                <a:srgbClr val="000000"/>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12" name="TextBox 9">
              <a:extLst>
                <a:ext uri="{FF2B5EF4-FFF2-40B4-BE49-F238E27FC236}">
                  <a16:creationId xmlns:a16="http://schemas.microsoft.com/office/drawing/2014/main" id="{6B50DA32-A075-69AE-F6FC-29C66B62455C}"/>
                </a:ext>
                <a:ext uri="{C183D7F6-B498-43B3-948B-1728B52AA6E4}">
                  <adec:decorative xmlns:adec="http://schemas.microsoft.com/office/drawing/2017/decorative" val="1"/>
                </a:ext>
              </a:extLst>
            </p:cNvPr>
            <p:cNvSpPr txBox="1"/>
            <p:nvPr/>
          </p:nvSpPr>
          <p:spPr>
            <a:xfrm>
              <a:off x="5191465" y="3431113"/>
              <a:ext cx="655670" cy="258276"/>
            </a:xfrm>
            <a:prstGeom prst="rect">
              <a:avLst/>
            </a:prstGeom>
          </p:spPr>
          <p:txBody>
            <a:bodyPr wrap="square" lIns="0" tIns="0" rIns="0" bIns="0" rtlCol="0" anchor="t">
              <a:spAutoFit/>
            </a:bodyPr>
            <a:lstStyle/>
            <a:p>
              <a:pPr algn="ctr">
                <a:lnSpc>
                  <a:spcPts val="2239"/>
                </a:lnSpc>
              </a:pPr>
              <a:r>
                <a:rPr lang="en-US" sz="1599" b="1">
                  <a:solidFill>
                    <a:srgbClr val="000000"/>
                  </a:solidFill>
                  <a:latin typeface="Arial" panose="020B0604020202020204" pitchFamily="34" charset="0"/>
                  <a:ea typeface="Public Sans Bold"/>
                  <a:cs typeface="Arial" panose="020B0604020202020204" pitchFamily="34" charset="0"/>
                  <a:sym typeface="Public Sans Bold"/>
                </a:rPr>
                <a:t>7000</a:t>
              </a:r>
            </a:p>
          </p:txBody>
        </p:sp>
        <p:sp>
          <p:nvSpPr>
            <p:cNvPr id="13" name="AutoShape 10">
              <a:extLst>
                <a:ext uri="{FF2B5EF4-FFF2-40B4-BE49-F238E27FC236}">
                  <a16:creationId xmlns:a16="http://schemas.microsoft.com/office/drawing/2014/main" id="{2C7961DA-EA3F-7C41-978C-2136D935FAB4}"/>
                </a:ext>
                <a:ext uri="{C183D7F6-B498-43B3-948B-1728B52AA6E4}">
                  <adec:decorative xmlns:adec="http://schemas.microsoft.com/office/drawing/2017/decorative" val="1"/>
                </a:ext>
              </a:extLst>
            </p:cNvPr>
            <p:cNvSpPr/>
            <p:nvPr/>
          </p:nvSpPr>
          <p:spPr>
            <a:xfrm flipV="1">
              <a:off x="3256291" y="2717424"/>
              <a:ext cx="0" cy="548572"/>
            </a:xfrm>
            <a:prstGeom prst="line">
              <a:avLst/>
            </a:prstGeom>
            <a:ln w="19050" cap="flat">
              <a:solidFill>
                <a:srgbClr val="146CFD"/>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14" name="AutoShape 11">
              <a:extLst>
                <a:ext uri="{FF2B5EF4-FFF2-40B4-BE49-F238E27FC236}">
                  <a16:creationId xmlns:a16="http://schemas.microsoft.com/office/drawing/2014/main" id="{CA872251-0838-14C5-FA6A-EF208AE44B13}"/>
                </a:ext>
                <a:ext uri="{C183D7F6-B498-43B3-948B-1728B52AA6E4}">
                  <adec:decorative xmlns:adec="http://schemas.microsoft.com/office/drawing/2017/decorative" val="1"/>
                </a:ext>
              </a:extLst>
            </p:cNvPr>
            <p:cNvSpPr/>
            <p:nvPr/>
          </p:nvSpPr>
          <p:spPr>
            <a:xfrm flipV="1">
              <a:off x="4638171" y="3265996"/>
              <a:ext cx="0" cy="548572"/>
            </a:xfrm>
            <a:prstGeom prst="line">
              <a:avLst/>
            </a:prstGeom>
            <a:ln w="19050" cap="flat">
              <a:solidFill>
                <a:srgbClr val="D7153A"/>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15" name="AutoShape 12">
              <a:extLst>
                <a:ext uri="{FF2B5EF4-FFF2-40B4-BE49-F238E27FC236}">
                  <a16:creationId xmlns:a16="http://schemas.microsoft.com/office/drawing/2014/main" id="{8DE50E99-2022-8A3E-028E-07CDF66F7134}"/>
                </a:ext>
                <a:ext uri="{C183D7F6-B498-43B3-948B-1728B52AA6E4}">
                  <adec:decorative xmlns:adec="http://schemas.microsoft.com/office/drawing/2017/decorative" val="1"/>
                </a:ext>
              </a:extLst>
            </p:cNvPr>
            <p:cNvSpPr/>
            <p:nvPr/>
          </p:nvSpPr>
          <p:spPr>
            <a:xfrm flipV="1">
              <a:off x="7156844" y="2717259"/>
              <a:ext cx="0" cy="548572"/>
            </a:xfrm>
            <a:prstGeom prst="line">
              <a:avLst/>
            </a:prstGeom>
            <a:ln w="19050" cap="flat">
              <a:solidFill>
                <a:srgbClr val="146CFD"/>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16" name="AutoShape 13">
              <a:extLst>
                <a:ext uri="{FF2B5EF4-FFF2-40B4-BE49-F238E27FC236}">
                  <a16:creationId xmlns:a16="http://schemas.microsoft.com/office/drawing/2014/main" id="{4698F4EA-8897-4358-717A-BF20D27AAB4D}"/>
                </a:ext>
                <a:ext uri="{C183D7F6-B498-43B3-948B-1728B52AA6E4}">
                  <adec:decorative xmlns:adec="http://schemas.microsoft.com/office/drawing/2017/decorative" val="1"/>
                </a:ext>
              </a:extLst>
            </p:cNvPr>
            <p:cNvSpPr/>
            <p:nvPr/>
          </p:nvSpPr>
          <p:spPr>
            <a:xfrm flipV="1">
              <a:off x="6482124" y="3265996"/>
              <a:ext cx="0" cy="548572"/>
            </a:xfrm>
            <a:prstGeom prst="line">
              <a:avLst/>
            </a:prstGeom>
            <a:ln w="19050" cap="flat">
              <a:solidFill>
                <a:srgbClr val="D7153A"/>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17" name="AutoShape 14">
              <a:extLst>
                <a:ext uri="{FF2B5EF4-FFF2-40B4-BE49-F238E27FC236}">
                  <a16:creationId xmlns:a16="http://schemas.microsoft.com/office/drawing/2014/main" id="{C305BE21-F792-C29F-BE8B-8FCA96CBE489}"/>
                </a:ext>
                <a:ext uri="{C183D7F6-B498-43B3-948B-1728B52AA6E4}">
                  <adec:decorative xmlns:adec="http://schemas.microsoft.com/office/drawing/2017/decorative" val="1"/>
                </a:ext>
              </a:extLst>
            </p:cNvPr>
            <p:cNvSpPr/>
            <p:nvPr/>
          </p:nvSpPr>
          <p:spPr>
            <a:xfrm flipV="1">
              <a:off x="3796031" y="3265996"/>
              <a:ext cx="0" cy="548572"/>
            </a:xfrm>
            <a:prstGeom prst="line">
              <a:avLst/>
            </a:prstGeom>
            <a:ln w="19050" cap="flat">
              <a:solidFill>
                <a:srgbClr val="D7153A"/>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18" name="AutoShape 15">
              <a:extLst>
                <a:ext uri="{FF2B5EF4-FFF2-40B4-BE49-F238E27FC236}">
                  <a16:creationId xmlns:a16="http://schemas.microsoft.com/office/drawing/2014/main" id="{D8442B5F-368D-B776-794C-AB10B9F87D0E}"/>
                </a:ext>
                <a:ext uri="{C183D7F6-B498-43B3-948B-1728B52AA6E4}">
                  <adec:decorative xmlns:adec="http://schemas.microsoft.com/office/drawing/2017/decorative" val="1"/>
                </a:ext>
              </a:extLst>
            </p:cNvPr>
            <p:cNvSpPr/>
            <p:nvPr/>
          </p:nvSpPr>
          <p:spPr>
            <a:xfrm flipV="1">
              <a:off x="8235802" y="2717424"/>
              <a:ext cx="0" cy="548572"/>
            </a:xfrm>
            <a:prstGeom prst="line">
              <a:avLst/>
            </a:prstGeom>
            <a:ln w="19050" cap="flat">
              <a:solidFill>
                <a:srgbClr val="146CFD"/>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19" name="AutoShape 16">
              <a:extLst>
                <a:ext uri="{FF2B5EF4-FFF2-40B4-BE49-F238E27FC236}">
                  <a16:creationId xmlns:a16="http://schemas.microsoft.com/office/drawing/2014/main" id="{C537E94A-CEA2-B448-C327-6D27C57934B4}"/>
                </a:ext>
                <a:ext uri="{C183D7F6-B498-43B3-948B-1728B52AA6E4}">
                  <adec:decorative xmlns:adec="http://schemas.microsoft.com/office/drawing/2017/decorative" val="1"/>
                </a:ext>
              </a:extLst>
            </p:cNvPr>
            <p:cNvSpPr/>
            <p:nvPr/>
          </p:nvSpPr>
          <p:spPr>
            <a:xfrm flipV="1">
              <a:off x="8775281" y="2717259"/>
              <a:ext cx="0" cy="548572"/>
            </a:xfrm>
            <a:prstGeom prst="line">
              <a:avLst/>
            </a:prstGeom>
            <a:ln w="19050" cap="flat">
              <a:solidFill>
                <a:srgbClr val="146CFD"/>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sp>
          <p:nvSpPr>
            <p:cNvPr id="20" name="AutoShape 17">
              <a:extLst>
                <a:ext uri="{FF2B5EF4-FFF2-40B4-BE49-F238E27FC236}">
                  <a16:creationId xmlns:a16="http://schemas.microsoft.com/office/drawing/2014/main" id="{34CF6AE6-E0AE-8DE5-D436-B6151C7A7CC6}"/>
                </a:ext>
                <a:ext uri="{C183D7F6-B498-43B3-948B-1728B52AA6E4}">
                  <adec:decorative xmlns:adec="http://schemas.microsoft.com/office/drawing/2017/decorative" val="1"/>
                </a:ext>
              </a:extLst>
            </p:cNvPr>
            <p:cNvSpPr/>
            <p:nvPr/>
          </p:nvSpPr>
          <p:spPr>
            <a:xfrm flipV="1">
              <a:off x="5345826" y="3265831"/>
              <a:ext cx="0" cy="548572"/>
            </a:xfrm>
            <a:prstGeom prst="line">
              <a:avLst/>
            </a:prstGeom>
            <a:ln w="19050" cap="flat">
              <a:solidFill>
                <a:srgbClr val="D7153A"/>
              </a:solidFill>
              <a:prstDash val="solid"/>
              <a:headEnd type="none" w="sm" len="sm"/>
              <a:tailEnd type="none" w="sm" len="sm"/>
            </a:ln>
          </p:spPr>
          <p:txBody>
            <a:bodyPr/>
            <a:lstStyle/>
            <a:p>
              <a:endParaRPr lang="en-AU">
                <a:latin typeface="Arial" panose="020B0604020202020204" pitchFamily="34" charset="0"/>
                <a:cs typeface="Arial" panose="020B0604020202020204" pitchFamily="34" charset="0"/>
              </a:endParaRPr>
            </a:p>
          </p:txBody>
        </p:sp>
        <p:grpSp>
          <p:nvGrpSpPr>
            <p:cNvPr id="21" name="Group 18">
              <a:extLst>
                <a:ext uri="{FF2B5EF4-FFF2-40B4-BE49-F238E27FC236}">
                  <a16:creationId xmlns:a16="http://schemas.microsoft.com/office/drawing/2014/main" id="{1840FFD2-30FA-8D6F-170E-48A295C70777}"/>
                </a:ext>
                <a:ext uri="{C183D7F6-B498-43B3-948B-1728B52AA6E4}">
                  <adec:decorative xmlns:adec="http://schemas.microsoft.com/office/drawing/2017/decorative" val="1"/>
                </a:ext>
              </a:extLst>
            </p:cNvPr>
            <p:cNvGrpSpPr/>
            <p:nvPr/>
          </p:nvGrpSpPr>
          <p:grpSpPr>
            <a:xfrm>
              <a:off x="3176336" y="3790498"/>
              <a:ext cx="3909951" cy="412630"/>
              <a:chOff x="0" y="0"/>
              <a:chExt cx="1401238" cy="147877"/>
            </a:xfrm>
          </p:grpSpPr>
          <p:sp>
            <p:nvSpPr>
              <p:cNvPr id="22" name="Freeform 19">
                <a:extLst>
                  <a:ext uri="{FF2B5EF4-FFF2-40B4-BE49-F238E27FC236}">
                    <a16:creationId xmlns:a16="http://schemas.microsoft.com/office/drawing/2014/main" id="{192995EA-A0E2-FC7D-7AA0-E513DD0C2FF2}"/>
                  </a:ext>
                </a:extLst>
              </p:cNvPr>
              <p:cNvSpPr/>
              <p:nvPr/>
            </p:nvSpPr>
            <p:spPr>
              <a:xfrm>
                <a:off x="0" y="0"/>
                <a:ext cx="1401238" cy="147877"/>
              </a:xfrm>
              <a:custGeom>
                <a:avLst/>
                <a:gdLst/>
                <a:ahLst/>
                <a:cxnLst/>
                <a:rect l="l" t="t" r="r" b="b"/>
                <a:pathLst>
                  <a:path w="1401238" h="147877">
                    <a:moveTo>
                      <a:pt x="700619" y="0"/>
                    </a:moveTo>
                    <a:cubicBezTo>
                      <a:pt x="313678" y="0"/>
                      <a:pt x="0" y="33103"/>
                      <a:pt x="0" y="73939"/>
                    </a:cubicBezTo>
                    <a:cubicBezTo>
                      <a:pt x="0" y="114774"/>
                      <a:pt x="313678" y="147877"/>
                      <a:pt x="700619" y="147877"/>
                    </a:cubicBezTo>
                    <a:cubicBezTo>
                      <a:pt x="1087560" y="147877"/>
                      <a:pt x="1401238" y="114774"/>
                      <a:pt x="1401238" y="73939"/>
                    </a:cubicBezTo>
                    <a:cubicBezTo>
                      <a:pt x="1401238" y="33103"/>
                      <a:pt x="1087560" y="0"/>
                      <a:pt x="700619" y="0"/>
                    </a:cubicBezTo>
                    <a:close/>
                  </a:path>
                </a:pathLst>
              </a:custGeom>
              <a:ln w="19050" cap="sq">
                <a:solidFill>
                  <a:srgbClr val="010101"/>
                </a:solidFill>
                <a:prstDash val="sysDot"/>
                <a:miter/>
              </a:ln>
            </p:spPr>
            <p:txBody>
              <a:bodyPr/>
              <a:lstStyle/>
              <a:p>
                <a:endParaRPr lang="en-AU">
                  <a:latin typeface="Arial" panose="020B0604020202020204" pitchFamily="34" charset="0"/>
                  <a:cs typeface="Arial" panose="020B0604020202020204" pitchFamily="34" charset="0"/>
                </a:endParaRPr>
              </a:p>
            </p:txBody>
          </p:sp>
          <p:sp>
            <p:nvSpPr>
              <p:cNvPr id="23" name="TextBox 20">
                <a:extLst>
                  <a:ext uri="{FF2B5EF4-FFF2-40B4-BE49-F238E27FC236}">
                    <a16:creationId xmlns:a16="http://schemas.microsoft.com/office/drawing/2014/main" id="{7460B1F6-DE89-3B7F-C4F1-B56AF3643302}"/>
                  </a:ext>
                </a:extLst>
              </p:cNvPr>
              <p:cNvSpPr txBox="1"/>
              <p:nvPr/>
            </p:nvSpPr>
            <p:spPr>
              <a:xfrm>
                <a:off x="131366" y="-14712"/>
                <a:ext cx="1138506" cy="148725"/>
              </a:xfrm>
              <a:prstGeom prst="rect">
                <a:avLst/>
              </a:prstGeom>
            </p:spPr>
            <p:txBody>
              <a:bodyPr lIns="50800" tIns="50800" rIns="50800" bIns="50800" rtlCol="0" anchor="ctr"/>
              <a:lstStyle/>
              <a:p>
                <a:pPr algn="ctr">
                  <a:lnSpc>
                    <a:spcPts val="2055"/>
                  </a:lnSpc>
                </a:pPr>
                <a:endParaRPr>
                  <a:latin typeface="Arial" panose="020B0604020202020204" pitchFamily="34" charset="0"/>
                  <a:cs typeface="Arial" panose="020B0604020202020204" pitchFamily="34" charset="0"/>
                </a:endParaRPr>
              </a:p>
            </p:txBody>
          </p:sp>
        </p:grpSp>
        <p:sp>
          <p:nvSpPr>
            <p:cNvPr id="24" name="Freeform 21">
              <a:extLst>
                <a:ext uri="{FF2B5EF4-FFF2-40B4-BE49-F238E27FC236}">
                  <a16:creationId xmlns:a16="http://schemas.microsoft.com/office/drawing/2014/main" id="{6FDE856E-85DF-567B-F35E-5E0668D0DDB8}"/>
                </a:ext>
                <a:ext uri="{C183D7F6-B498-43B3-948B-1728B52AA6E4}">
                  <adec:decorative xmlns:adec="http://schemas.microsoft.com/office/drawing/2017/decorative" val="1"/>
                </a:ext>
              </a:extLst>
            </p:cNvPr>
            <p:cNvSpPr/>
            <p:nvPr/>
          </p:nvSpPr>
          <p:spPr>
            <a:xfrm rot="-7495792">
              <a:off x="5828635" y="4331035"/>
              <a:ext cx="583994" cy="352587"/>
            </a:xfrm>
            <a:custGeom>
              <a:avLst/>
              <a:gdLst/>
              <a:ahLst/>
              <a:cxnLst/>
              <a:rect l="l" t="t" r="r" b="b"/>
              <a:pathLst>
                <a:path w="583994" h="352587">
                  <a:moveTo>
                    <a:pt x="0" y="0"/>
                  </a:moveTo>
                  <a:lnTo>
                    <a:pt x="583994" y="0"/>
                  </a:lnTo>
                  <a:lnTo>
                    <a:pt x="583994" y="352587"/>
                  </a:lnTo>
                  <a:lnTo>
                    <a:pt x="0" y="3525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latin typeface="Arial" panose="020B0604020202020204" pitchFamily="34" charset="0"/>
                <a:cs typeface="Arial" panose="020B0604020202020204" pitchFamily="34" charset="0"/>
              </a:endParaRPr>
            </a:p>
          </p:txBody>
        </p:sp>
        <p:sp>
          <p:nvSpPr>
            <p:cNvPr id="25" name="TextBox 22">
              <a:extLst>
                <a:ext uri="{FF2B5EF4-FFF2-40B4-BE49-F238E27FC236}">
                  <a16:creationId xmlns:a16="http://schemas.microsoft.com/office/drawing/2014/main" id="{04895CB6-8210-AC40-8359-2CAABE400631}"/>
                </a:ext>
                <a:ext uri="{C183D7F6-B498-43B3-948B-1728B52AA6E4}">
                  <adec:decorative xmlns:adec="http://schemas.microsoft.com/office/drawing/2017/decorative" val="1"/>
                </a:ext>
              </a:extLst>
            </p:cNvPr>
            <p:cNvSpPr txBox="1"/>
            <p:nvPr/>
          </p:nvSpPr>
          <p:spPr>
            <a:xfrm>
              <a:off x="2591096" y="3431113"/>
              <a:ext cx="655670" cy="258276"/>
            </a:xfrm>
            <a:prstGeom prst="rect">
              <a:avLst/>
            </a:prstGeom>
          </p:spPr>
          <p:txBody>
            <a:bodyPr wrap="square" lIns="0" tIns="0" rIns="0" bIns="0" rtlCol="0" anchor="t">
              <a:spAutoFit/>
            </a:bodyPr>
            <a:lstStyle/>
            <a:p>
              <a:pPr algn="ctr">
                <a:lnSpc>
                  <a:spcPts val="2239"/>
                </a:lnSpc>
              </a:pPr>
              <a:r>
                <a:rPr lang="en-US" sz="1599" b="1">
                  <a:solidFill>
                    <a:srgbClr val="000000"/>
                  </a:solidFill>
                  <a:latin typeface="Arial" panose="020B0604020202020204" pitchFamily="34" charset="0"/>
                  <a:ea typeface="Public Sans Bold"/>
                  <a:cs typeface="Arial" panose="020B0604020202020204" pitchFamily="34" charset="0"/>
                  <a:sym typeface="Public Sans Bold"/>
                </a:rPr>
                <a:t>5000</a:t>
              </a:r>
            </a:p>
          </p:txBody>
        </p:sp>
        <p:sp>
          <p:nvSpPr>
            <p:cNvPr id="26" name="TextBox 23">
              <a:extLst>
                <a:ext uri="{FF2B5EF4-FFF2-40B4-BE49-F238E27FC236}">
                  <a16:creationId xmlns:a16="http://schemas.microsoft.com/office/drawing/2014/main" id="{FA547E8E-3609-A131-25E3-C1531ECF8D66}"/>
                </a:ext>
                <a:ext uri="{C183D7F6-B498-43B3-948B-1728B52AA6E4}">
                  <adec:decorative xmlns:adec="http://schemas.microsoft.com/office/drawing/2017/decorative" val="1"/>
                </a:ext>
              </a:extLst>
            </p:cNvPr>
            <p:cNvSpPr txBox="1"/>
            <p:nvPr/>
          </p:nvSpPr>
          <p:spPr>
            <a:xfrm>
              <a:off x="3891281" y="3431113"/>
              <a:ext cx="655670" cy="258276"/>
            </a:xfrm>
            <a:prstGeom prst="rect">
              <a:avLst/>
            </a:prstGeom>
          </p:spPr>
          <p:txBody>
            <a:bodyPr wrap="square" lIns="0" tIns="0" rIns="0" bIns="0" rtlCol="0" anchor="t">
              <a:spAutoFit/>
            </a:bodyPr>
            <a:lstStyle/>
            <a:p>
              <a:pPr algn="ctr">
                <a:lnSpc>
                  <a:spcPts val="2239"/>
                </a:lnSpc>
              </a:pPr>
              <a:r>
                <a:rPr lang="en-US" sz="1599" b="1">
                  <a:solidFill>
                    <a:srgbClr val="000000"/>
                  </a:solidFill>
                  <a:latin typeface="Arial" panose="020B0604020202020204" pitchFamily="34" charset="0"/>
                  <a:ea typeface="Public Sans Bold"/>
                  <a:cs typeface="Arial" panose="020B0604020202020204" pitchFamily="34" charset="0"/>
                  <a:sym typeface="Public Sans Bold"/>
                </a:rPr>
                <a:t>6000</a:t>
              </a:r>
            </a:p>
          </p:txBody>
        </p:sp>
        <p:sp>
          <p:nvSpPr>
            <p:cNvPr id="27" name="TextBox 24">
              <a:extLst>
                <a:ext uri="{FF2B5EF4-FFF2-40B4-BE49-F238E27FC236}">
                  <a16:creationId xmlns:a16="http://schemas.microsoft.com/office/drawing/2014/main" id="{5AF244BE-6553-ED9A-92D9-A936AD377F68}"/>
                </a:ext>
                <a:ext uri="{C183D7F6-B498-43B3-948B-1728B52AA6E4}">
                  <adec:decorative xmlns:adec="http://schemas.microsoft.com/office/drawing/2017/decorative" val="1"/>
                </a:ext>
              </a:extLst>
            </p:cNvPr>
            <p:cNvSpPr txBox="1"/>
            <p:nvPr/>
          </p:nvSpPr>
          <p:spPr>
            <a:xfrm>
              <a:off x="6491649" y="3431113"/>
              <a:ext cx="655670" cy="258276"/>
            </a:xfrm>
            <a:prstGeom prst="rect">
              <a:avLst/>
            </a:prstGeom>
          </p:spPr>
          <p:txBody>
            <a:bodyPr wrap="square" lIns="0" tIns="0" rIns="0" bIns="0" rtlCol="0" anchor="t">
              <a:spAutoFit/>
            </a:bodyPr>
            <a:lstStyle/>
            <a:p>
              <a:pPr algn="ctr">
                <a:lnSpc>
                  <a:spcPts val="2239"/>
                </a:lnSpc>
              </a:pPr>
              <a:r>
                <a:rPr lang="en-US" sz="1599" b="1">
                  <a:solidFill>
                    <a:srgbClr val="000000"/>
                  </a:solidFill>
                  <a:latin typeface="Arial" panose="020B0604020202020204" pitchFamily="34" charset="0"/>
                  <a:ea typeface="Public Sans Bold"/>
                  <a:cs typeface="Arial" panose="020B0604020202020204" pitchFamily="34" charset="0"/>
                  <a:sym typeface="Public Sans Bold"/>
                </a:rPr>
                <a:t>8000</a:t>
              </a:r>
            </a:p>
          </p:txBody>
        </p:sp>
        <p:sp>
          <p:nvSpPr>
            <p:cNvPr id="28" name="TextBox 25">
              <a:extLst>
                <a:ext uri="{FF2B5EF4-FFF2-40B4-BE49-F238E27FC236}">
                  <a16:creationId xmlns:a16="http://schemas.microsoft.com/office/drawing/2014/main" id="{312B0127-21E4-7F55-B130-3EE9F451AC4C}"/>
                </a:ext>
                <a:ext uri="{C183D7F6-B498-43B3-948B-1728B52AA6E4}">
                  <adec:decorative xmlns:adec="http://schemas.microsoft.com/office/drawing/2017/decorative" val="1"/>
                </a:ext>
              </a:extLst>
            </p:cNvPr>
            <p:cNvSpPr txBox="1"/>
            <p:nvPr/>
          </p:nvSpPr>
          <p:spPr>
            <a:xfrm>
              <a:off x="7791834" y="3431113"/>
              <a:ext cx="655670" cy="258276"/>
            </a:xfrm>
            <a:prstGeom prst="rect">
              <a:avLst/>
            </a:prstGeom>
          </p:spPr>
          <p:txBody>
            <a:bodyPr wrap="square" lIns="0" tIns="0" rIns="0" bIns="0" rtlCol="0" anchor="t">
              <a:spAutoFit/>
            </a:bodyPr>
            <a:lstStyle/>
            <a:p>
              <a:pPr algn="ctr">
                <a:lnSpc>
                  <a:spcPts val="2239"/>
                </a:lnSpc>
              </a:pPr>
              <a:r>
                <a:rPr lang="en-US" sz="1599" b="1" dirty="0">
                  <a:solidFill>
                    <a:srgbClr val="000000"/>
                  </a:solidFill>
                  <a:latin typeface="Arial" panose="020B0604020202020204" pitchFamily="34" charset="0"/>
                  <a:ea typeface="Public Sans Bold"/>
                  <a:cs typeface="Arial" panose="020B0604020202020204" pitchFamily="34" charset="0"/>
                  <a:sym typeface="Public Sans Bold"/>
                </a:rPr>
                <a:t>9000</a:t>
              </a:r>
            </a:p>
          </p:txBody>
        </p:sp>
        <p:sp>
          <p:nvSpPr>
            <p:cNvPr id="29" name="TextBox 26">
              <a:extLst>
                <a:ext uri="{FF2B5EF4-FFF2-40B4-BE49-F238E27FC236}">
                  <a16:creationId xmlns:a16="http://schemas.microsoft.com/office/drawing/2014/main" id="{EE667806-F88B-1C4E-4404-BA3C08FBE2A1}"/>
                </a:ext>
                <a:ext uri="{C183D7F6-B498-43B3-948B-1728B52AA6E4}">
                  <adec:decorative xmlns:adec="http://schemas.microsoft.com/office/drawing/2017/decorative" val="1"/>
                </a:ext>
              </a:extLst>
            </p:cNvPr>
            <p:cNvSpPr txBox="1"/>
            <p:nvPr/>
          </p:nvSpPr>
          <p:spPr>
            <a:xfrm>
              <a:off x="9092018" y="3431113"/>
              <a:ext cx="655670" cy="258276"/>
            </a:xfrm>
            <a:prstGeom prst="rect">
              <a:avLst/>
            </a:prstGeom>
          </p:spPr>
          <p:txBody>
            <a:bodyPr wrap="square" lIns="0" tIns="0" rIns="0" bIns="0" rtlCol="0" anchor="t">
              <a:spAutoFit/>
            </a:bodyPr>
            <a:lstStyle/>
            <a:p>
              <a:pPr algn="ctr">
                <a:lnSpc>
                  <a:spcPts val="2239"/>
                </a:lnSpc>
              </a:pPr>
              <a:r>
                <a:rPr lang="en-US" sz="1599" b="1" dirty="0">
                  <a:solidFill>
                    <a:srgbClr val="000000"/>
                  </a:solidFill>
                  <a:latin typeface="Arial" panose="020B0604020202020204" pitchFamily="34" charset="0"/>
                  <a:ea typeface="Public Sans Bold"/>
                  <a:cs typeface="Arial" panose="020B0604020202020204" pitchFamily="34" charset="0"/>
                  <a:sym typeface="Public Sans Bold"/>
                </a:rPr>
                <a:t>10 000</a:t>
              </a:r>
            </a:p>
          </p:txBody>
        </p:sp>
        <p:sp>
          <p:nvSpPr>
            <p:cNvPr id="30" name="TextBox 27">
              <a:extLst>
                <a:ext uri="{FF2B5EF4-FFF2-40B4-BE49-F238E27FC236}">
                  <a16:creationId xmlns:a16="http://schemas.microsoft.com/office/drawing/2014/main" id="{2B2D4419-472C-27B1-6D01-3E62135D3FB5}"/>
                </a:ext>
                <a:ext uri="{C183D7F6-B498-43B3-948B-1728B52AA6E4}">
                  <adec:decorative xmlns:adec="http://schemas.microsoft.com/office/drawing/2017/decorative" val="1"/>
                </a:ext>
              </a:extLst>
            </p:cNvPr>
            <p:cNvSpPr txBox="1"/>
            <p:nvPr/>
          </p:nvSpPr>
          <p:spPr>
            <a:xfrm>
              <a:off x="2981460" y="2354033"/>
              <a:ext cx="655670" cy="258276"/>
            </a:xfrm>
            <a:prstGeom prst="rect">
              <a:avLst/>
            </a:prstGeom>
          </p:spPr>
          <p:txBody>
            <a:bodyPr wrap="square" lIns="0" tIns="0" rIns="0" bIns="0" rtlCol="0" anchor="t">
              <a:spAutoFit/>
            </a:bodyPr>
            <a:lstStyle/>
            <a:p>
              <a:pPr algn="ctr">
                <a:lnSpc>
                  <a:spcPts val="2239"/>
                </a:lnSpc>
              </a:pPr>
              <a:r>
                <a:rPr lang="en-US" sz="1599" b="1" dirty="0">
                  <a:solidFill>
                    <a:srgbClr val="146CFD"/>
                  </a:solidFill>
                  <a:latin typeface="Arial" panose="020B0604020202020204" pitchFamily="34" charset="0"/>
                  <a:ea typeface="Public Sans Bold"/>
                  <a:cs typeface="Arial" panose="020B0604020202020204" pitchFamily="34" charset="0"/>
                  <a:sym typeface="Public Sans Bold"/>
                </a:rPr>
                <a:t>5285</a:t>
              </a:r>
            </a:p>
          </p:txBody>
        </p:sp>
        <p:sp>
          <p:nvSpPr>
            <p:cNvPr id="31" name="TextBox 28">
              <a:extLst>
                <a:ext uri="{FF2B5EF4-FFF2-40B4-BE49-F238E27FC236}">
                  <a16:creationId xmlns:a16="http://schemas.microsoft.com/office/drawing/2014/main" id="{91BC2754-3625-B590-9B6A-62D5C4D881D0}"/>
                </a:ext>
                <a:ext uri="{C183D7F6-B498-43B3-948B-1728B52AA6E4}">
                  <adec:decorative xmlns:adec="http://schemas.microsoft.com/office/drawing/2017/decorative" val="1"/>
                </a:ext>
              </a:extLst>
            </p:cNvPr>
            <p:cNvSpPr txBox="1"/>
            <p:nvPr/>
          </p:nvSpPr>
          <p:spPr>
            <a:xfrm>
              <a:off x="4310336" y="3845273"/>
              <a:ext cx="655670" cy="258276"/>
            </a:xfrm>
            <a:prstGeom prst="rect">
              <a:avLst/>
            </a:prstGeom>
          </p:spPr>
          <p:txBody>
            <a:bodyPr wrap="square" lIns="0" tIns="0" rIns="0" bIns="0" rtlCol="0" anchor="t">
              <a:spAutoFit/>
            </a:bodyPr>
            <a:lstStyle/>
            <a:p>
              <a:pPr algn="ctr">
                <a:lnSpc>
                  <a:spcPts val="2239"/>
                </a:lnSpc>
              </a:pPr>
              <a:r>
                <a:rPr lang="en-US" sz="1599" b="1" dirty="0">
                  <a:solidFill>
                    <a:srgbClr val="D7153A"/>
                  </a:solidFill>
                  <a:latin typeface="Arial" panose="020B0604020202020204" pitchFamily="34" charset="0"/>
                  <a:ea typeface="Public Sans Bold"/>
                  <a:cs typeface="Arial" panose="020B0604020202020204" pitchFamily="34" charset="0"/>
                  <a:sym typeface="Public Sans Bold"/>
                </a:rPr>
                <a:t>6497</a:t>
              </a:r>
            </a:p>
          </p:txBody>
        </p:sp>
        <p:sp>
          <p:nvSpPr>
            <p:cNvPr id="32" name="TextBox 29">
              <a:extLst>
                <a:ext uri="{FF2B5EF4-FFF2-40B4-BE49-F238E27FC236}">
                  <a16:creationId xmlns:a16="http://schemas.microsoft.com/office/drawing/2014/main" id="{4CB22065-BB0E-BB74-947B-9352160F8B79}"/>
                </a:ext>
                <a:ext uri="{C183D7F6-B498-43B3-948B-1728B52AA6E4}">
                  <adec:decorative xmlns:adec="http://schemas.microsoft.com/office/drawing/2017/decorative" val="1"/>
                </a:ext>
              </a:extLst>
            </p:cNvPr>
            <p:cNvSpPr txBox="1"/>
            <p:nvPr/>
          </p:nvSpPr>
          <p:spPr>
            <a:xfrm>
              <a:off x="6819484" y="2354033"/>
              <a:ext cx="655670" cy="258276"/>
            </a:xfrm>
            <a:prstGeom prst="rect">
              <a:avLst/>
            </a:prstGeom>
          </p:spPr>
          <p:txBody>
            <a:bodyPr wrap="square" lIns="0" tIns="0" rIns="0" bIns="0" rtlCol="0" anchor="t">
              <a:spAutoFit/>
            </a:bodyPr>
            <a:lstStyle/>
            <a:p>
              <a:pPr algn="ctr">
                <a:lnSpc>
                  <a:spcPts val="2239"/>
                </a:lnSpc>
              </a:pPr>
              <a:r>
                <a:rPr lang="en-US" sz="1599" b="1">
                  <a:solidFill>
                    <a:srgbClr val="146CFD"/>
                  </a:solidFill>
                  <a:latin typeface="Arial" panose="020B0604020202020204" pitchFamily="34" charset="0"/>
                  <a:ea typeface="Public Sans Bold"/>
                  <a:cs typeface="Arial" panose="020B0604020202020204" pitchFamily="34" charset="0"/>
                  <a:sym typeface="Public Sans Bold"/>
                </a:rPr>
                <a:t>8250</a:t>
              </a:r>
            </a:p>
          </p:txBody>
        </p:sp>
        <p:sp>
          <p:nvSpPr>
            <p:cNvPr id="33" name="TextBox 30">
              <a:extLst>
                <a:ext uri="{FF2B5EF4-FFF2-40B4-BE49-F238E27FC236}">
                  <a16:creationId xmlns:a16="http://schemas.microsoft.com/office/drawing/2014/main" id="{9013A063-67AF-129F-EAC7-66E1A561F9D6}"/>
                </a:ext>
                <a:ext uri="{C183D7F6-B498-43B3-948B-1728B52AA6E4}">
                  <adec:decorative xmlns:adec="http://schemas.microsoft.com/office/drawing/2017/decorative" val="1"/>
                </a:ext>
              </a:extLst>
            </p:cNvPr>
            <p:cNvSpPr txBox="1"/>
            <p:nvPr/>
          </p:nvSpPr>
          <p:spPr>
            <a:xfrm>
              <a:off x="6163814" y="3845273"/>
              <a:ext cx="655670" cy="258276"/>
            </a:xfrm>
            <a:prstGeom prst="rect">
              <a:avLst/>
            </a:prstGeom>
          </p:spPr>
          <p:txBody>
            <a:bodyPr wrap="square" lIns="0" tIns="0" rIns="0" bIns="0" rtlCol="0" anchor="t">
              <a:spAutoFit/>
            </a:bodyPr>
            <a:lstStyle/>
            <a:p>
              <a:pPr algn="ctr">
                <a:lnSpc>
                  <a:spcPts val="2239"/>
                </a:lnSpc>
              </a:pPr>
              <a:r>
                <a:rPr lang="en-US" sz="1599" b="1" dirty="0">
                  <a:solidFill>
                    <a:srgbClr val="D7153A"/>
                  </a:solidFill>
                  <a:latin typeface="Arial" panose="020B0604020202020204" pitchFamily="34" charset="0"/>
                  <a:ea typeface="Public Sans Bold"/>
                  <a:cs typeface="Arial" panose="020B0604020202020204" pitchFamily="34" charset="0"/>
                  <a:sym typeface="Public Sans Bold"/>
                </a:rPr>
                <a:t>7845</a:t>
              </a:r>
            </a:p>
          </p:txBody>
        </p:sp>
        <p:sp>
          <p:nvSpPr>
            <p:cNvPr id="34" name="TextBox 31">
              <a:extLst>
                <a:ext uri="{FF2B5EF4-FFF2-40B4-BE49-F238E27FC236}">
                  <a16:creationId xmlns:a16="http://schemas.microsoft.com/office/drawing/2014/main" id="{AC5951FD-8768-86EC-A76D-41F4560B9AF6}"/>
                </a:ext>
                <a:ext uri="{C183D7F6-B498-43B3-948B-1728B52AA6E4}">
                  <adec:decorative xmlns:adec="http://schemas.microsoft.com/office/drawing/2017/decorative" val="1"/>
                </a:ext>
              </a:extLst>
            </p:cNvPr>
            <p:cNvSpPr txBox="1"/>
            <p:nvPr/>
          </p:nvSpPr>
          <p:spPr>
            <a:xfrm>
              <a:off x="3468196" y="3839663"/>
              <a:ext cx="655670" cy="258276"/>
            </a:xfrm>
            <a:prstGeom prst="rect">
              <a:avLst/>
            </a:prstGeom>
          </p:spPr>
          <p:txBody>
            <a:bodyPr wrap="square" lIns="0" tIns="0" rIns="0" bIns="0" rtlCol="0" anchor="t">
              <a:spAutoFit/>
            </a:bodyPr>
            <a:lstStyle/>
            <a:p>
              <a:pPr algn="ctr">
                <a:lnSpc>
                  <a:spcPts val="2239"/>
                </a:lnSpc>
              </a:pPr>
              <a:r>
                <a:rPr lang="en-US" sz="1599" b="1" dirty="0">
                  <a:solidFill>
                    <a:srgbClr val="D7153A"/>
                  </a:solidFill>
                  <a:latin typeface="Arial" panose="020B0604020202020204" pitchFamily="34" charset="0"/>
                  <a:ea typeface="Public Sans Bold"/>
                  <a:cs typeface="Arial" panose="020B0604020202020204" pitchFamily="34" charset="0"/>
                  <a:sym typeface="Public Sans Bold"/>
                </a:rPr>
                <a:t>5682</a:t>
              </a:r>
            </a:p>
          </p:txBody>
        </p:sp>
        <p:sp>
          <p:nvSpPr>
            <p:cNvPr id="35" name="TextBox 32">
              <a:extLst>
                <a:ext uri="{FF2B5EF4-FFF2-40B4-BE49-F238E27FC236}">
                  <a16:creationId xmlns:a16="http://schemas.microsoft.com/office/drawing/2014/main" id="{6B78BD6B-15A0-5E97-B191-780494AB6549}"/>
                </a:ext>
                <a:ext uri="{C183D7F6-B498-43B3-948B-1728B52AA6E4}">
                  <adec:decorative xmlns:adec="http://schemas.microsoft.com/office/drawing/2017/decorative" val="1"/>
                </a:ext>
              </a:extLst>
            </p:cNvPr>
            <p:cNvSpPr txBox="1"/>
            <p:nvPr/>
          </p:nvSpPr>
          <p:spPr>
            <a:xfrm>
              <a:off x="7907967" y="2354033"/>
              <a:ext cx="655670" cy="258276"/>
            </a:xfrm>
            <a:prstGeom prst="rect">
              <a:avLst/>
            </a:prstGeom>
          </p:spPr>
          <p:txBody>
            <a:bodyPr wrap="square" lIns="0" tIns="0" rIns="0" bIns="0" rtlCol="0" anchor="t">
              <a:spAutoFit/>
            </a:bodyPr>
            <a:lstStyle/>
            <a:p>
              <a:pPr algn="ctr">
                <a:lnSpc>
                  <a:spcPts val="2239"/>
                </a:lnSpc>
              </a:pPr>
              <a:r>
                <a:rPr lang="en-US" sz="1599" b="1">
                  <a:solidFill>
                    <a:srgbClr val="146CFD"/>
                  </a:solidFill>
                  <a:latin typeface="Arial" panose="020B0604020202020204" pitchFamily="34" charset="0"/>
                  <a:ea typeface="Public Sans Bold"/>
                  <a:cs typeface="Arial" panose="020B0604020202020204" pitchFamily="34" charset="0"/>
                  <a:sym typeface="Public Sans Bold"/>
                </a:rPr>
                <a:t>9134</a:t>
              </a:r>
            </a:p>
          </p:txBody>
        </p:sp>
        <p:sp>
          <p:nvSpPr>
            <p:cNvPr id="36" name="TextBox 33">
              <a:extLst>
                <a:ext uri="{FF2B5EF4-FFF2-40B4-BE49-F238E27FC236}">
                  <a16:creationId xmlns:a16="http://schemas.microsoft.com/office/drawing/2014/main" id="{3180CAD8-7DF9-03B5-A105-A061E9C88C7A}"/>
                </a:ext>
                <a:ext uri="{C183D7F6-B498-43B3-948B-1728B52AA6E4}">
                  <adec:decorative xmlns:adec="http://schemas.microsoft.com/office/drawing/2017/decorative" val="1"/>
                </a:ext>
              </a:extLst>
            </p:cNvPr>
            <p:cNvSpPr txBox="1"/>
            <p:nvPr/>
          </p:nvSpPr>
          <p:spPr>
            <a:xfrm>
              <a:off x="8563637" y="2354033"/>
              <a:ext cx="655670" cy="258276"/>
            </a:xfrm>
            <a:prstGeom prst="rect">
              <a:avLst/>
            </a:prstGeom>
          </p:spPr>
          <p:txBody>
            <a:bodyPr wrap="square" lIns="0" tIns="0" rIns="0" bIns="0" rtlCol="0" anchor="t">
              <a:spAutoFit/>
            </a:bodyPr>
            <a:lstStyle/>
            <a:p>
              <a:pPr algn="ctr">
                <a:lnSpc>
                  <a:spcPts val="2239"/>
                </a:lnSpc>
              </a:pPr>
              <a:r>
                <a:rPr lang="en-US" sz="1599" b="1" dirty="0">
                  <a:solidFill>
                    <a:srgbClr val="146CFD"/>
                  </a:solidFill>
                  <a:latin typeface="Arial" panose="020B0604020202020204" pitchFamily="34" charset="0"/>
                  <a:ea typeface="Public Sans Bold"/>
                  <a:cs typeface="Arial" panose="020B0604020202020204" pitchFamily="34" charset="0"/>
                  <a:sym typeface="Public Sans Bold"/>
                </a:rPr>
                <a:t>9556</a:t>
              </a:r>
            </a:p>
          </p:txBody>
        </p:sp>
        <p:sp>
          <p:nvSpPr>
            <p:cNvPr id="37" name="TextBox 34">
              <a:extLst>
                <a:ext uri="{FF2B5EF4-FFF2-40B4-BE49-F238E27FC236}">
                  <a16:creationId xmlns:a16="http://schemas.microsoft.com/office/drawing/2014/main" id="{D4918082-CA9C-9EE4-3726-714DAE31CB40}"/>
                </a:ext>
                <a:ext uri="{C183D7F6-B498-43B3-948B-1728B52AA6E4}">
                  <adec:decorative xmlns:adec="http://schemas.microsoft.com/office/drawing/2017/decorative" val="1"/>
                </a:ext>
              </a:extLst>
            </p:cNvPr>
            <p:cNvSpPr txBox="1"/>
            <p:nvPr/>
          </p:nvSpPr>
          <p:spPr>
            <a:xfrm>
              <a:off x="5153238" y="3845273"/>
              <a:ext cx="655670" cy="258276"/>
            </a:xfrm>
            <a:prstGeom prst="rect">
              <a:avLst/>
            </a:prstGeom>
          </p:spPr>
          <p:txBody>
            <a:bodyPr wrap="square" lIns="0" tIns="0" rIns="0" bIns="0" rtlCol="0" anchor="t">
              <a:spAutoFit/>
            </a:bodyPr>
            <a:lstStyle/>
            <a:p>
              <a:pPr algn="ctr">
                <a:lnSpc>
                  <a:spcPts val="2239"/>
                </a:lnSpc>
              </a:pPr>
              <a:r>
                <a:rPr lang="en-US" sz="1599" b="1" dirty="0">
                  <a:solidFill>
                    <a:srgbClr val="D7153A"/>
                  </a:solidFill>
                  <a:latin typeface="Arial" panose="020B0604020202020204" pitchFamily="34" charset="0"/>
                  <a:ea typeface="Public Sans Bold"/>
                  <a:cs typeface="Arial" panose="020B0604020202020204" pitchFamily="34" charset="0"/>
                  <a:sym typeface="Public Sans Bold"/>
                </a:rPr>
                <a:t>6932</a:t>
              </a:r>
            </a:p>
          </p:txBody>
        </p:sp>
        <p:sp>
          <p:nvSpPr>
            <p:cNvPr id="38" name="TextBox 35">
              <a:extLst>
                <a:ext uri="{FF2B5EF4-FFF2-40B4-BE49-F238E27FC236}">
                  <a16:creationId xmlns:a16="http://schemas.microsoft.com/office/drawing/2014/main" id="{92AA1428-A03C-1676-27D7-82CB148912C7}"/>
                </a:ext>
                <a:ext uri="{C183D7F6-B498-43B3-948B-1728B52AA6E4}">
                  <adec:decorative xmlns:adec="http://schemas.microsoft.com/office/drawing/2017/decorative" val="1"/>
                </a:ext>
              </a:extLst>
            </p:cNvPr>
            <p:cNvSpPr txBox="1"/>
            <p:nvPr/>
          </p:nvSpPr>
          <p:spPr>
            <a:xfrm>
              <a:off x="2511775" y="1840134"/>
              <a:ext cx="885702" cy="258276"/>
            </a:xfrm>
            <a:prstGeom prst="rect">
              <a:avLst/>
            </a:prstGeom>
          </p:spPr>
          <p:txBody>
            <a:bodyPr wrap="square" lIns="0" tIns="0" rIns="0" bIns="0" rtlCol="0" anchor="t">
              <a:spAutoFit/>
            </a:bodyPr>
            <a:lstStyle/>
            <a:p>
              <a:pPr algn="ctr">
                <a:lnSpc>
                  <a:spcPts val="2239"/>
                </a:lnSpc>
              </a:pPr>
              <a:r>
                <a:rPr lang="en-US" sz="1599" b="1" dirty="0">
                  <a:solidFill>
                    <a:srgbClr val="146CFD"/>
                  </a:solidFill>
                  <a:latin typeface="Arial" panose="020B0604020202020204" pitchFamily="34" charset="0"/>
                  <a:ea typeface="Public Sans Bold"/>
                  <a:cs typeface="Arial" panose="020B0604020202020204" pitchFamily="34" charset="0"/>
                  <a:sym typeface="Public Sans Bold"/>
                </a:rPr>
                <a:t>Team A</a:t>
              </a:r>
            </a:p>
          </p:txBody>
        </p:sp>
        <p:sp>
          <p:nvSpPr>
            <p:cNvPr id="39" name="TextBox 36">
              <a:extLst>
                <a:ext uri="{FF2B5EF4-FFF2-40B4-BE49-F238E27FC236}">
                  <a16:creationId xmlns:a16="http://schemas.microsoft.com/office/drawing/2014/main" id="{4D45C230-3A46-6978-B698-2CC9EE437CBE}"/>
                </a:ext>
                <a:ext uri="{C183D7F6-B498-43B3-948B-1728B52AA6E4}">
                  <adec:decorative xmlns:adec="http://schemas.microsoft.com/office/drawing/2017/decorative" val="1"/>
                </a:ext>
              </a:extLst>
            </p:cNvPr>
            <p:cNvSpPr txBox="1"/>
            <p:nvPr/>
          </p:nvSpPr>
          <p:spPr>
            <a:xfrm>
              <a:off x="2591096" y="4351448"/>
              <a:ext cx="885702" cy="258276"/>
            </a:xfrm>
            <a:prstGeom prst="rect">
              <a:avLst/>
            </a:prstGeom>
          </p:spPr>
          <p:txBody>
            <a:bodyPr wrap="square" lIns="0" tIns="0" rIns="0" bIns="0" rtlCol="0" anchor="t">
              <a:spAutoFit/>
            </a:bodyPr>
            <a:lstStyle/>
            <a:p>
              <a:pPr algn="ctr">
                <a:lnSpc>
                  <a:spcPts val="2239"/>
                </a:lnSpc>
              </a:pPr>
              <a:r>
                <a:rPr lang="en-US" sz="1599" b="1" dirty="0">
                  <a:solidFill>
                    <a:srgbClr val="D7153A"/>
                  </a:solidFill>
                  <a:latin typeface="Arial" panose="020B0604020202020204" pitchFamily="34" charset="0"/>
                  <a:ea typeface="Public Sans Bold"/>
                  <a:cs typeface="Arial" panose="020B0604020202020204" pitchFamily="34" charset="0"/>
                  <a:sym typeface="Public Sans Bold"/>
                </a:rPr>
                <a:t>Team B</a:t>
              </a:r>
            </a:p>
          </p:txBody>
        </p:sp>
        <p:sp>
          <p:nvSpPr>
            <p:cNvPr id="40" name="TextBox 37">
              <a:extLst>
                <a:ext uri="{FF2B5EF4-FFF2-40B4-BE49-F238E27FC236}">
                  <a16:creationId xmlns:a16="http://schemas.microsoft.com/office/drawing/2014/main" id="{7B2A748D-0DA0-553E-D60E-D23B9578CA3B}"/>
                </a:ext>
              </a:extLst>
            </p:cNvPr>
            <p:cNvSpPr txBox="1"/>
            <p:nvPr/>
          </p:nvSpPr>
          <p:spPr>
            <a:xfrm>
              <a:off x="6491649" y="4507928"/>
              <a:ext cx="1300184" cy="258276"/>
            </a:xfrm>
            <a:prstGeom prst="rect">
              <a:avLst/>
            </a:prstGeom>
          </p:spPr>
          <p:txBody>
            <a:bodyPr wrap="square" lIns="0" tIns="0" rIns="0" bIns="0" rtlCol="0" anchor="t">
              <a:spAutoFit/>
            </a:bodyPr>
            <a:lstStyle/>
            <a:p>
              <a:pPr algn="ctr">
                <a:lnSpc>
                  <a:spcPts val="2239"/>
                </a:lnSpc>
              </a:pPr>
              <a:r>
                <a:rPr lang="en-US" sz="1599" b="1" dirty="0">
                  <a:solidFill>
                    <a:srgbClr val="000000"/>
                  </a:solidFill>
                  <a:latin typeface="Arial" panose="020B0604020202020204" pitchFamily="34" charset="0"/>
                  <a:ea typeface="Public Sans Bold"/>
                  <a:cs typeface="Arial" panose="020B0604020202020204" pitchFamily="34" charset="0"/>
                  <a:sym typeface="Public Sans Bold"/>
                </a:rPr>
                <a:t>Team B wins</a:t>
              </a:r>
            </a:p>
          </p:txBody>
        </p:sp>
      </p:gr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dirty="0">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474481" y="1862070"/>
            <a:ext cx="11243037" cy="893226"/>
          </a:xfrm>
        </p:spPr>
        <p:txBody>
          <a:bodyPr/>
          <a:lstStyle/>
          <a:p>
            <a:pPr algn="ctr"/>
            <a:r>
              <a:rPr lang="en-AU" sz="4400" dirty="0"/>
              <a:t>I can </a:t>
            </a:r>
            <a:r>
              <a:rPr lang="en-AU" sz="4400" b="1" dirty="0"/>
              <a:t>rearrange</a:t>
            </a:r>
            <a:r>
              <a:rPr lang="en-AU" sz="4400" dirty="0"/>
              <a:t> the </a:t>
            </a:r>
            <a:r>
              <a:rPr lang="en-AU" sz="4400" b="1" dirty="0"/>
              <a:t>digits</a:t>
            </a:r>
            <a:r>
              <a:rPr lang="en-AU" sz="4400" dirty="0"/>
              <a:t> in </a:t>
            </a:r>
            <a:r>
              <a:rPr lang="en-AU" sz="4400" b="1" dirty="0"/>
              <a:t>7821</a:t>
            </a:r>
            <a:r>
              <a:rPr lang="en-AU" sz="4400" dirty="0"/>
              <a:t> to make a </a:t>
            </a:r>
            <a:r>
              <a:rPr lang="en-AU" sz="4400" b="1" dirty="0"/>
              <a:t>larger</a:t>
            </a:r>
            <a:r>
              <a:rPr lang="en-AU" sz="4400" dirty="0"/>
              <a:t> number.</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5" name="TextBox 4">
            <a:extLst>
              <a:ext uri="{FF2B5EF4-FFF2-40B4-BE49-F238E27FC236}">
                <a16:creationId xmlns:a16="http://schemas.microsoft.com/office/drawing/2014/main" id="{AB10F43E-78C1-EFBE-58F8-62ECC314CBDA}"/>
              </a:ext>
            </a:extLst>
          </p:cNvPr>
          <p:cNvSpPr txBox="1"/>
          <p:nvPr/>
        </p:nvSpPr>
        <p:spPr>
          <a:xfrm>
            <a:off x="2442981" y="5716353"/>
            <a:ext cx="7392997" cy="901593"/>
          </a:xfrm>
          <a:prstGeom prst="rect">
            <a:avLst/>
          </a:prstGeom>
          <a:noFill/>
        </p:spPr>
        <p:txBody>
          <a:bodyPr wrap="square">
            <a:spAutoFit/>
          </a:bodyPr>
          <a:lstStyle/>
          <a:p>
            <a:pPr lvl="0">
              <a:lnSpc>
                <a:spcPct val="150000"/>
              </a:lnSpc>
            </a:pPr>
            <a:r>
              <a:rPr lang="en-AU" sz="4000" b="1" dirty="0"/>
              <a:t>Communicate </a:t>
            </a:r>
            <a:r>
              <a:rPr lang="en-AU" sz="4000" dirty="0"/>
              <a:t>your</a:t>
            </a:r>
            <a:r>
              <a:rPr lang="en-AU" sz="4000" b="1" dirty="0"/>
              <a:t> reasoning.</a:t>
            </a:r>
            <a:endParaRPr lang="en-AU" sz="4000" dirty="0"/>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41436A4-1A61-50AF-3DF3-02A867090346}"/>
              </a:ext>
            </a:extLst>
          </p:cNvPr>
          <p:cNvSpPr txBox="1"/>
          <p:nvPr/>
        </p:nvSpPr>
        <p:spPr>
          <a:xfrm>
            <a:off x="1887277" y="767101"/>
            <a:ext cx="8417446" cy="5679825"/>
          </a:xfrm>
          <a:prstGeom prst="rect">
            <a:avLst/>
          </a:prstGeom>
          <a:noFill/>
        </p:spPr>
        <p:txBody>
          <a:bodyPr wrap="square">
            <a:spAutoFit/>
          </a:bodyPr>
          <a:lstStyle/>
          <a:p>
            <a:pPr>
              <a:lnSpc>
                <a:spcPct val="150000"/>
              </a:lnSpc>
              <a:spcBef>
                <a:spcPts val="1200"/>
              </a:spcBef>
              <a:spcAft>
                <a:spcPts val="600"/>
              </a:spcAft>
            </a:pPr>
            <a:r>
              <a:rPr lang="en-AU" sz="4000" b="1" dirty="0">
                <a:latin typeface="Arial" panose="020B0604020202020204" pitchFamily="34" charset="0"/>
                <a:ea typeface="Calibri" panose="020F0502020204030204" pitchFamily="34" charset="0"/>
              </a:rPr>
              <a:t>Complete</a:t>
            </a:r>
            <a:r>
              <a:rPr lang="en-AU" sz="4000" dirty="0">
                <a:latin typeface="Arial" panose="020B0604020202020204" pitchFamily="34" charset="0"/>
                <a:ea typeface="Calibri" panose="020F0502020204030204" pitchFamily="34" charset="0"/>
              </a:rPr>
              <a:t> the number sentences by </a:t>
            </a:r>
            <a:r>
              <a:rPr lang="en-AU" sz="4000" b="1" dirty="0">
                <a:latin typeface="Arial" panose="020B0604020202020204" pitchFamily="34" charset="0"/>
                <a:ea typeface="Calibri" panose="020F0502020204030204" pitchFamily="34" charset="0"/>
              </a:rPr>
              <a:t>recording </a:t>
            </a:r>
            <a:r>
              <a:rPr lang="en-AU" sz="4000" dirty="0">
                <a:latin typeface="Arial" panose="020B0604020202020204" pitchFamily="34" charset="0"/>
                <a:ea typeface="Calibri" panose="020F0502020204030204" pitchFamily="34" charset="0"/>
              </a:rPr>
              <a:t>the </a:t>
            </a:r>
            <a:r>
              <a:rPr lang="en-AU" sz="4000" b="1" dirty="0">
                <a:latin typeface="Arial" panose="020B0604020202020204" pitchFamily="34" charset="0"/>
                <a:ea typeface="Calibri" panose="020F0502020204030204" pitchFamily="34" charset="0"/>
              </a:rPr>
              <a:t>missing numbers</a:t>
            </a:r>
            <a:r>
              <a:rPr lang="en-AU" sz="4000" dirty="0">
                <a:latin typeface="Arial" panose="020B0604020202020204" pitchFamily="34" charset="0"/>
                <a:ea typeface="Calibri" panose="020F0502020204030204" pitchFamily="34" charset="0"/>
              </a:rPr>
              <a:t>:</a:t>
            </a:r>
          </a:p>
          <a:p>
            <a:pPr>
              <a:lnSpc>
                <a:spcPct val="150000"/>
              </a:lnSpc>
              <a:spcBef>
                <a:spcPts val="1200"/>
              </a:spcBef>
              <a:spcAft>
                <a:spcPts val="600"/>
              </a:spcAft>
            </a:pPr>
            <a:endParaRPr lang="en-AU" sz="700" dirty="0">
              <a:latin typeface="Arial" panose="020B0604020202020204" pitchFamily="34" charset="0"/>
              <a:ea typeface="Calibri" panose="020F0502020204030204" pitchFamily="34" charset="0"/>
            </a:endParaRPr>
          </a:p>
          <a:p>
            <a:pPr marL="742950" indent="-742950" algn="ctr">
              <a:lnSpc>
                <a:spcPct val="150000"/>
              </a:lnSpc>
              <a:spcBef>
                <a:spcPts val="1200"/>
              </a:spcBef>
              <a:spcAft>
                <a:spcPts val="600"/>
              </a:spcAft>
              <a:buFont typeface="+mj-lt"/>
              <a:buAutoNum type="alphaLcParenR"/>
            </a:pPr>
            <a:r>
              <a:rPr lang="en-AU" sz="4000" dirty="0"/>
              <a:t>8 × ___ = 32</a:t>
            </a:r>
          </a:p>
          <a:p>
            <a:pPr marL="742950" indent="-742950" algn="ctr">
              <a:lnSpc>
                <a:spcPct val="150000"/>
              </a:lnSpc>
              <a:spcBef>
                <a:spcPts val="1200"/>
              </a:spcBef>
              <a:spcAft>
                <a:spcPts val="600"/>
              </a:spcAft>
              <a:buFont typeface="+mj-lt"/>
              <a:buAutoNum type="alphaLcParenR"/>
            </a:pPr>
            <a:r>
              <a:rPr lang="en-AU" sz="4000" dirty="0"/>
              <a:t>___ × 7 = 42</a:t>
            </a:r>
          </a:p>
          <a:p>
            <a:pPr marL="742950" indent="-742950" algn="ctr">
              <a:lnSpc>
                <a:spcPct val="150000"/>
              </a:lnSpc>
              <a:spcBef>
                <a:spcPts val="1200"/>
              </a:spcBef>
              <a:spcAft>
                <a:spcPts val="600"/>
              </a:spcAft>
              <a:buFont typeface="+mj-lt"/>
              <a:buAutoNum type="alphaLcParenR"/>
            </a:pPr>
            <a:r>
              <a:rPr lang="en-AU" sz="4000" dirty="0"/>
              <a:t>63 ÷ ___ = 9</a:t>
            </a:r>
            <a:endParaRPr lang="en-AU" sz="3600" dirty="0"/>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9CBD6C86-DD9A-B755-06B8-B35A65F25296}"/>
              </a:ext>
            </a:extLst>
          </p:cNvPr>
          <p:cNvSpPr txBox="1"/>
          <p:nvPr/>
        </p:nvSpPr>
        <p:spPr>
          <a:xfrm>
            <a:off x="225529" y="861951"/>
            <a:ext cx="11966471" cy="5460662"/>
          </a:xfrm>
          <a:prstGeom prst="rect">
            <a:avLst/>
          </a:prstGeom>
          <a:noFill/>
        </p:spPr>
        <p:txBody>
          <a:bodyPr wrap="square">
            <a:spAutoFit/>
          </a:bodyPr>
          <a:lstStyle/>
          <a:p>
            <a:pPr algn="ctr">
              <a:lnSpc>
                <a:spcPct val="150000"/>
              </a:lnSpc>
            </a:pPr>
            <a:r>
              <a:rPr lang="en-AU" sz="4400" dirty="0">
                <a:latin typeface="Arial" panose="020B0604020202020204" pitchFamily="34" charset="0"/>
                <a:ea typeface="Calibri" panose="020F0502020204030204" pitchFamily="34" charset="0"/>
              </a:rPr>
              <a:t>Is a </a:t>
            </a:r>
            <a:r>
              <a:rPr lang="en-AU" sz="4400" b="1" dirty="0">
                <a:latin typeface="Arial" panose="020B0604020202020204" pitchFamily="34" charset="0"/>
                <a:ea typeface="Calibri" panose="020F0502020204030204" pitchFamily="34" charset="0"/>
              </a:rPr>
              <a:t>square metre </a:t>
            </a:r>
            <a:r>
              <a:rPr lang="en-AU" sz="4400" dirty="0">
                <a:latin typeface="Arial" panose="020B0604020202020204" pitchFamily="34" charset="0"/>
                <a:ea typeface="Calibri" panose="020F0502020204030204" pitchFamily="34" charset="0"/>
              </a:rPr>
              <a:t>always a square? </a:t>
            </a:r>
          </a:p>
          <a:p>
            <a:pPr algn="ctr">
              <a:lnSpc>
                <a:spcPct val="150000"/>
              </a:lnSpc>
            </a:pPr>
            <a:r>
              <a:rPr lang="en-AU" sz="4400" dirty="0">
                <a:latin typeface="Arial" panose="020B0604020202020204" pitchFamily="34" charset="0"/>
                <a:ea typeface="Calibri" panose="020F0502020204030204" pitchFamily="34" charset="0"/>
              </a:rPr>
              <a:t>Does it always have side </a:t>
            </a:r>
            <a:r>
              <a:rPr lang="en-AU" sz="4400" b="1" dirty="0">
                <a:latin typeface="Arial" panose="020B0604020202020204" pitchFamily="34" charset="0"/>
                <a:ea typeface="Calibri" panose="020F0502020204030204" pitchFamily="34" charset="0"/>
              </a:rPr>
              <a:t>lengths</a:t>
            </a:r>
            <a:r>
              <a:rPr lang="en-AU" sz="4400" dirty="0">
                <a:latin typeface="Arial" panose="020B0604020202020204" pitchFamily="34" charset="0"/>
                <a:ea typeface="Calibri" panose="020F0502020204030204" pitchFamily="34" charset="0"/>
              </a:rPr>
              <a:t> of </a:t>
            </a:r>
            <a:r>
              <a:rPr lang="en-AU" sz="4400" b="1" dirty="0">
                <a:latin typeface="Arial" panose="020B0604020202020204" pitchFamily="34" charset="0"/>
                <a:ea typeface="Calibri" panose="020F0502020204030204" pitchFamily="34" charset="0"/>
              </a:rPr>
              <a:t>1 metre</a:t>
            </a:r>
            <a:r>
              <a:rPr lang="en-AU" sz="4400" dirty="0">
                <a:latin typeface="Arial" panose="020B0604020202020204" pitchFamily="34" charset="0"/>
                <a:ea typeface="Calibri" panose="020F0502020204030204" pitchFamily="34" charset="0"/>
              </a:rPr>
              <a:t>?</a:t>
            </a:r>
          </a:p>
          <a:p>
            <a:pPr algn="ctr">
              <a:lnSpc>
                <a:spcPct val="150000"/>
              </a:lnSpc>
            </a:pPr>
            <a:endParaRPr lang="en-AU" sz="4400">
              <a:latin typeface="Arial" panose="020B0604020202020204" pitchFamily="34" charset="0"/>
              <a:ea typeface="Calibri" panose="020F0502020204030204" pitchFamily="34" charset="0"/>
            </a:endParaRPr>
          </a:p>
          <a:p>
            <a:pPr algn="ctr">
              <a:lnSpc>
                <a:spcPct val="150000"/>
              </a:lnSpc>
            </a:pPr>
            <a:endParaRPr lang="en-AU" sz="4400">
              <a:latin typeface="Arial" panose="020B0604020202020204" pitchFamily="34" charset="0"/>
              <a:ea typeface="Calibri" panose="020F0502020204030204" pitchFamily="34" charset="0"/>
            </a:endParaRPr>
          </a:p>
          <a:p>
            <a:pPr algn="ctr">
              <a:lnSpc>
                <a:spcPct val="150000"/>
              </a:lnSpc>
            </a:pPr>
            <a:r>
              <a:rPr lang="en-AU" sz="1800" dirty="0">
                <a:latin typeface="Arial" panose="020B0604020202020204" pitchFamily="34" charset="0"/>
                <a:ea typeface="Calibri" panose="020F0502020204030204" pitchFamily="34" charset="0"/>
              </a:rPr>
              <a:t> </a:t>
            </a:r>
          </a:p>
          <a:p>
            <a:pPr algn="ctr">
              <a:lnSpc>
                <a:spcPct val="150000"/>
              </a:lnSpc>
            </a:pPr>
            <a:r>
              <a:rPr lang="en-AU" sz="4400" b="1" dirty="0">
                <a:latin typeface="Arial" panose="020B0604020202020204" pitchFamily="34" charset="0"/>
                <a:ea typeface="Calibri" panose="020F0502020204030204" pitchFamily="34" charset="0"/>
              </a:rPr>
              <a:t>Communicate</a:t>
            </a:r>
            <a:r>
              <a:rPr lang="en-AU" sz="4400" dirty="0">
                <a:latin typeface="Arial" panose="020B0604020202020204" pitchFamily="34" charset="0"/>
                <a:ea typeface="Calibri" panose="020F0502020204030204" pitchFamily="34" charset="0"/>
              </a:rPr>
              <a:t> your </a:t>
            </a:r>
            <a:r>
              <a:rPr lang="en-AU" sz="4400" b="1" dirty="0">
                <a:latin typeface="Arial" panose="020B0604020202020204" pitchFamily="34" charset="0"/>
                <a:ea typeface="Calibri" panose="020F0502020204030204" pitchFamily="34" charset="0"/>
              </a:rPr>
              <a:t>reasoning.</a:t>
            </a:r>
            <a:endParaRPr lang="en-AU" sz="4400" b="1" dirty="0"/>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11" name="Picture 10" descr="A square metre (sides labelled 1 m) that has been cut and rearranged into a new shape.">
            <a:extLst>
              <a:ext uri="{FF2B5EF4-FFF2-40B4-BE49-F238E27FC236}">
                <a16:creationId xmlns:a16="http://schemas.microsoft.com/office/drawing/2014/main" id="{532BA12F-398C-941A-C077-C728E873B79F}"/>
              </a:ext>
            </a:extLst>
          </p:cNvPr>
          <p:cNvPicPr>
            <a:picLocks noChangeAspect="1"/>
          </p:cNvPicPr>
          <p:nvPr/>
        </p:nvPicPr>
        <p:blipFill>
          <a:blip r:embed="rId4"/>
          <a:stretch>
            <a:fillRect/>
          </a:stretch>
        </p:blipFill>
        <p:spPr>
          <a:xfrm>
            <a:off x="4580466" y="3020880"/>
            <a:ext cx="3530600" cy="23209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8C139CD3-E387-6B77-1766-531331CCD1B7}"/>
              </a:ext>
            </a:extLst>
          </p:cNvPr>
          <p:cNvSpPr txBox="1"/>
          <p:nvPr/>
        </p:nvSpPr>
        <p:spPr>
          <a:xfrm>
            <a:off x="1943101" y="726473"/>
            <a:ext cx="8041822" cy="1824923"/>
          </a:xfrm>
          <a:prstGeom prst="rect">
            <a:avLst/>
          </a:prstGeom>
          <a:noFill/>
        </p:spPr>
        <p:txBody>
          <a:bodyPr wrap="square">
            <a:spAutoFit/>
          </a:bodyPr>
          <a:lstStyle/>
          <a:p>
            <a:pPr lvl="0" algn="ctr">
              <a:lnSpc>
                <a:spcPct val="150000"/>
              </a:lnSpc>
              <a:spcBef>
                <a:spcPts val="1200"/>
              </a:spcBef>
              <a:spcAft>
                <a:spcPts val="600"/>
              </a:spcAft>
            </a:pPr>
            <a:r>
              <a:rPr lang="en-AU" sz="4000" b="1" dirty="0">
                <a:latin typeface="Arial" panose="020B0604020202020204" pitchFamily="34" charset="0"/>
                <a:ea typeface="Calibri" panose="020F0502020204030204" pitchFamily="34" charset="0"/>
                <a:cs typeface="Times New Roman" panose="02020603050405020304" pitchFamily="18" charset="0"/>
              </a:rPr>
              <a:t>Record</a:t>
            </a:r>
            <a:r>
              <a:rPr lang="en-AU" sz="4000" dirty="0">
                <a:latin typeface="Arial" panose="020B0604020202020204" pitchFamily="34" charset="0"/>
                <a:ea typeface="Calibri" panose="020F0502020204030204" pitchFamily="34" charset="0"/>
                <a:cs typeface="Times New Roman" panose="02020603050405020304" pitchFamily="18" charset="0"/>
              </a:rPr>
              <a:t> the solutions to the </a:t>
            </a:r>
            <a:r>
              <a:rPr lang="en-AU" sz="4000" b="1" dirty="0">
                <a:latin typeface="Arial" panose="020B0604020202020204" pitchFamily="34" charset="0"/>
                <a:ea typeface="Calibri" panose="020F0502020204030204" pitchFamily="34" charset="0"/>
                <a:cs typeface="Times New Roman" panose="02020603050405020304" pitchFamily="18" charset="0"/>
              </a:rPr>
              <a:t>multiplication</a:t>
            </a:r>
            <a:r>
              <a:rPr lang="en-AU" sz="4000" dirty="0">
                <a:latin typeface="Arial" panose="020B0604020202020204" pitchFamily="34" charset="0"/>
                <a:ea typeface="Calibri" panose="020F0502020204030204" pitchFamily="34" charset="0"/>
                <a:cs typeface="Times New Roman" panose="02020603050405020304" pitchFamily="18" charset="0"/>
              </a:rPr>
              <a:t> and </a:t>
            </a:r>
            <a:r>
              <a:rPr lang="en-AU" sz="4000" b="1" dirty="0">
                <a:latin typeface="Arial" panose="020B0604020202020204" pitchFamily="34" charset="0"/>
                <a:ea typeface="Calibri" panose="020F0502020204030204" pitchFamily="34" charset="0"/>
                <a:cs typeface="Times New Roman" panose="02020603050405020304" pitchFamily="18" charset="0"/>
              </a:rPr>
              <a:t>division facts.</a:t>
            </a:r>
          </a:p>
        </p:txBody>
      </p:sp>
      <p:sp>
        <p:nvSpPr>
          <p:cNvPr id="5" name="TextBox 4">
            <a:extLst>
              <a:ext uri="{FF2B5EF4-FFF2-40B4-BE49-F238E27FC236}">
                <a16:creationId xmlns:a16="http://schemas.microsoft.com/office/drawing/2014/main" id="{76918A1E-6339-43C5-8320-7D874D5B00A5}"/>
              </a:ext>
            </a:extLst>
          </p:cNvPr>
          <p:cNvSpPr txBox="1"/>
          <p:nvPr/>
        </p:nvSpPr>
        <p:spPr>
          <a:xfrm>
            <a:off x="4952086" y="2599839"/>
            <a:ext cx="2920680" cy="4006161"/>
          </a:xfrm>
          <a:prstGeom prst="rect">
            <a:avLst/>
          </a:prstGeom>
          <a:noFill/>
        </p:spPr>
        <p:txBody>
          <a:bodyPr wrap="square">
            <a:spAutoFit/>
          </a:bodyPr>
          <a:lstStyle/>
          <a:p>
            <a:pPr marL="742950" lvl="0" indent="-742950">
              <a:lnSpc>
                <a:spcPct val="150000"/>
              </a:lnSpc>
              <a:spcBef>
                <a:spcPts val="1200"/>
              </a:spcBef>
              <a:spcAft>
                <a:spcPts val="600"/>
              </a:spcAft>
              <a:buFont typeface="+mj-lt"/>
              <a:buAutoNum type="alphaLcParenR"/>
            </a:pPr>
            <a:r>
              <a:rPr lang="en-AU" sz="3600" dirty="0">
                <a:latin typeface="Arial" panose="020B0604020202020204" pitchFamily="34" charset="0"/>
                <a:ea typeface="Calibri" panose="020F0502020204030204" pitchFamily="34" charset="0"/>
                <a:cs typeface="Times New Roman" panose="02020603050405020304" pitchFamily="18" charset="0"/>
              </a:rPr>
              <a:t>4 x 2 =</a:t>
            </a:r>
          </a:p>
          <a:p>
            <a:pPr marL="742950" lvl="0" indent="-742950">
              <a:lnSpc>
                <a:spcPct val="150000"/>
              </a:lnSpc>
              <a:spcBef>
                <a:spcPts val="1200"/>
              </a:spcBef>
              <a:spcAft>
                <a:spcPts val="600"/>
              </a:spcAft>
              <a:buFont typeface="+mj-lt"/>
              <a:buAutoNum type="alphaLcParenR"/>
            </a:pPr>
            <a:r>
              <a:rPr lang="en-AU" sz="3600" dirty="0">
                <a:latin typeface="Arial" panose="020B0604020202020204" pitchFamily="34" charset="0"/>
                <a:ea typeface="Calibri" panose="020F0502020204030204" pitchFamily="34" charset="0"/>
                <a:cs typeface="Times New Roman" panose="02020603050405020304" pitchFamily="18" charset="0"/>
              </a:rPr>
              <a:t>6 x 4 =</a:t>
            </a:r>
          </a:p>
          <a:p>
            <a:pPr marL="742950" lvl="0" indent="-742950">
              <a:lnSpc>
                <a:spcPct val="150000"/>
              </a:lnSpc>
              <a:spcBef>
                <a:spcPts val="1200"/>
              </a:spcBef>
              <a:spcAft>
                <a:spcPts val="600"/>
              </a:spcAft>
              <a:buFont typeface="+mj-lt"/>
              <a:buAutoNum type="alphaLcParenR"/>
            </a:pPr>
            <a:r>
              <a:rPr lang="en-AU" sz="3600">
                <a:latin typeface="Arial" panose="020B0604020202020204" pitchFamily="34" charset="0"/>
                <a:ea typeface="Calibri" panose="020F0502020204030204" pitchFamily="34" charset="0"/>
                <a:cs typeface="Times New Roman" panose="02020603050405020304" pitchFamily="18" charset="0"/>
              </a:rPr>
              <a:t>16 ÷ 2 </a:t>
            </a:r>
            <a:r>
              <a:rPr lang="en-AU" sz="3600" dirty="0">
                <a:latin typeface="Arial" panose="020B0604020202020204" pitchFamily="34" charset="0"/>
                <a:ea typeface="Calibri" panose="020F0502020204030204" pitchFamily="34" charset="0"/>
                <a:cs typeface="Times New Roman" panose="02020603050405020304" pitchFamily="18" charset="0"/>
              </a:rPr>
              <a:t>=</a:t>
            </a:r>
            <a:endParaRPr lang="en-AU" sz="3600">
              <a:latin typeface="Arial" panose="020B0604020202020204" pitchFamily="34" charset="0"/>
              <a:ea typeface="Calibri" panose="020F0502020204030204" pitchFamily="34" charset="0"/>
              <a:cs typeface="Times New Roman" panose="02020603050405020304" pitchFamily="18" charset="0"/>
            </a:endParaRPr>
          </a:p>
          <a:p>
            <a:pPr marL="742950" lvl="0" indent="-742950">
              <a:lnSpc>
                <a:spcPct val="150000"/>
              </a:lnSpc>
              <a:spcBef>
                <a:spcPts val="1200"/>
              </a:spcBef>
              <a:spcAft>
                <a:spcPts val="600"/>
              </a:spcAft>
              <a:buFont typeface="+mj-lt"/>
              <a:buAutoNum type="alphaLcParenR"/>
            </a:pPr>
            <a:r>
              <a:rPr lang="en-AU" sz="3600">
                <a:latin typeface="Arial" panose="020B0604020202020204" pitchFamily="34" charset="0"/>
                <a:ea typeface="Calibri" panose="020F0502020204030204" pitchFamily="34" charset="0"/>
                <a:cs typeface="Times New Roman" panose="02020603050405020304" pitchFamily="18" charset="0"/>
              </a:rPr>
              <a:t>28 ÷ 4</a:t>
            </a:r>
            <a:r>
              <a:rPr lang="en-AU" sz="3600" dirty="0">
                <a:latin typeface="Arial" panose="020B0604020202020204" pitchFamily="34" charset="0"/>
                <a:ea typeface="Calibri" panose="020F0502020204030204" pitchFamily="34" charset="0"/>
                <a:cs typeface="Times New Roman" panose="02020603050405020304" pitchFamily="18" charset="0"/>
              </a:rPr>
              <a:t> =</a:t>
            </a:r>
            <a:endParaRPr lang="en-AU" sz="3600">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DD7D4A6-8042-0C21-4A86-90B52E6EBE5A}"/>
              </a:ext>
            </a:extLst>
          </p:cNvPr>
          <p:cNvSpPr txBox="1"/>
          <p:nvPr/>
        </p:nvSpPr>
        <p:spPr>
          <a:xfrm>
            <a:off x="1389151" y="905601"/>
            <a:ext cx="9413697" cy="1998176"/>
          </a:xfrm>
          <a:prstGeom prst="rect">
            <a:avLst/>
          </a:prstGeom>
          <a:noFill/>
        </p:spPr>
        <p:txBody>
          <a:bodyPr wrap="square">
            <a:spAutoFit/>
          </a:bodyPr>
          <a:lstStyle/>
          <a:p>
            <a:pPr algn="ctr">
              <a:lnSpc>
                <a:spcPct val="150000"/>
              </a:lnSpc>
            </a:pPr>
            <a:r>
              <a:rPr lang="en-AU" sz="4400" b="1" dirty="0">
                <a:solidFill>
                  <a:srgbClr val="000000"/>
                </a:solidFill>
              </a:rPr>
              <a:t>Name </a:t>
            </a:r>
            <a:r>
              <a:rPr lang="en-AU" sz="4400" dirty="0">
                <a:solidFill>
                  <a:srgbClr val="000000"/>
                </a:solidFill>
              </a:rPr>
              <a:t>these </a:t>
            </a:r>
            <a:r>
              <a:rPr lang="en-AU" sz="4400" b="1" dirty="0">
                <a:solidFill>
                  <a:srgbClr val="000000"/>
                </a:solidFill>
              </a:rPr>
              <a:t>features</a:t>
            </a:r>
            <a:r>
              <a:rPr lang="en-AU" sz="4400" dirty="0">
                <a:solidFill>
                  <a:srgbClr val="000000"/>
                </a:solidFill>
              </a:rPr>
              <a:t> of the </a:t>
            </a:r>
            <a:r>
              <a:rPr lang="en-AU" sz="4400" b="1" dirty="0">
                <a:solidFill>
                  <a:srgbClr val="000000"/>
                </a:solidFill>
              </a:rPr>
              <a:t>prism</a:t>
            </a:r>
            <a:r>
              <a:rPr lang="en-AU" sz="4400" dirty="0">
                <a:solidFill>
                  <a:srgbClr val="000000"/>
                </a:solidFill>
              </a:rPr>
              <a:t>, </a:t>
            </a:r>
            <a:r>
              <a:rPr lang="en-AU" sz="4400" b="1" dirty="0">
                <a:solidFill>
                  <a:srgbClr val="000000"/>
                </a:solidFill>
              </a:rPr>
              <a:t>pyramid </a:t>
            </a:r>
            <a:r>
              <a:rPr lang="en-AU" sz="4400" dirty="0">
                <a:solidFill>
                  <a:srgbClr val="000000"/>
                </a:solidFill>
              </a:rPr>
              <a:t>and </a:t>
            </a:r>
            <a:r>
              <a:rPr lang="en-AU" sz="4400" b="1" dirty="0">
                <a:solidFill>
                  <a:srgbClr val="000000"/>
                </a:solidFill>
              </a:rPr>
              <a:t>cylinder.</a:t>
            </a:r>
            <a:endParaRPr lang="en-AU" sz="4400" b="1" dirty="0"/>
          </a:p>
        </p:txBody>
      </p:sp>
      <p:pic>
        <p:nvPicPr>
          <p:cNvPr id="8" name="Picture 7" descr="Images of:&#10;&#10;1: a pyramid - A) pointing to the top of the pyramid&#10;&#10;2: a tissue box - B) pointing to the side, C) pointing to the front&#10;&#10;3: a can - D) pointing to the side&#10;">
            <a:extLst>
              <a:ext uri="{FF2B5EF4-FFF2-40B4-BE49-F238E27FC236}">
                <a16:creationId xmlns:a16="http://schemas.microsoft.com/office/drawing/2014/main" id="{32C370D2-995C-4896-DFF6-C1D85DECF8C8}"/>
              </a:ext>
            </a:extLst>
          </p:cNvPr>
          <p:cNvPicPr>
            <a:picLocks noChangeAspect="1"/>
          </p:cNvPicPr>
          <p:nvPr/>
        </p:nvPicPr>
        <p:blipFill>
          <a:blip r:embed="rId4"/>
          <a:stretch>
            <a:fillRect/>
          </a:stretch>
        </p:blipFill>
        <p:spPr>
          <a:xfrm>
            <a:off x="2185952" y="3129318"/>
            <a:ext cx="7820096" cy="347050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dirty="0"/>
              <a:t>Activity 8 – ordering numbers misconception</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8" name="Group 7" descr="Daisy was asked to place these numbers is ascending order.&#10;&#10;Is she correct? Why or why not?&#10;&#10;The numbers are placed in the following order:&#10;2061, 2610, 2601, 6100, 6001">
            <a:extLst>
              <a:ext uri="{FF2B5EF4-FFF2-40B4-BE49-F238E27FC236}">
                <a16:creationId xmlns:a16="http://schemas.microsoft.com/office/drawing/2014/main" id="{5DC84107-0F3F-88C0-4C25-E8CBF548842F}"/>
              </a:ext>
            </a:extLst>
          </p:cNvPr>
          <p:cNvGrpSpPr/>
          <p:nvPr/>
        </p:nvGrpSpPr>
        <p:grpSpPr>
          <a:xfrm>
            <a:off x="1372768" y="1097258"/>
            <a:ext cx="9013437" cy="5418742"/>
            <a:chOff x="1372768" y="1097258"/>
            <a:chExt cx="9013437" cy="5418742"/>
          </a:xfrm>
        </p:grpSpPr>
        <p:pic>
          <p:nvPicPr>
            <p:cNvPr id="3" name="Picture 2" descr="Daisy was asked to place these numbers is ascending order.&#10;&#10;Is she correct? Why or why not?&#10;&#10;The numbers are placed in the following order:&#10;2061, 2610, 2601, 6100, 6001">
              <a:extLst>
                <a:ext uri="{FF2B5EF4-FFF2-40B4-BE49-F238E27FC236}">
                  <a16:creationId xmlns:a16="http://schemas.microsoft.com/office/drawing/2014/main" id="{B44FA4E0-3AF0-5886-4DE5-8515D6C1EAB8}"/>
                </a:ext>
              </a:extLst>
            </p:cNvPr>
            <p:cNvPicPr>
              <a:picLocks noChangeAspect="1"/>
            </p:cNvPicPr>
            <p:nvPr/>
          </p:nvPicPr>
          <p:blipFill>
            <a:blip r:embed="rId4"/>
            <a:srcRect b="29289"/>
            <a:stretch>
              <a:fillRect/>
            </a:stretch>
          </p:blipFill>
          <p:spPr>
            <a:xfrm>
              <a:off x="1372768" y="1097258"/>
              <a:ext cx="4943475" cy="5418742"/>
            </a:xfrm>
            <a:prstGeom prst="rect">
              <a:avLst/>
            </a:prstGeom>
          </p:spPr>
        </p:pic>
        <p:pic>
          <p:nvPicPr>
            <p:cNvPr id="5" name="Picture 4" descr="Daisy was asked to place these numbers is ascending order.&#10;&#10;Is she correct? Why or why not?&#10;&#10;The numbers are placed in the following order:&#10;2061, 2610, 2601, 6100, 6001">
              <a:extLst>
                <a:ext uri="{FF2B5EF4-FFF2-40B4-BE49-F238E27FC236}">
                  <a16:creationId xmlns:a16="http://schemas.microsoft.com/office/drawing/2014/main" id="{18B6E8D2-6D6E-1622-4548-D0CDFB09210C}"/>
                </a:ext>
              </a:extLst>
            </p:cNvPr>
            <p:cNvPicPr>
              <a:picLocks noChangeAspect="1"/>
            </p:cNvPicPr>
            <p:nvPr/>
          </p:nvPicPr>
          <p:blipFill>
            <a:blip r:embed="rId4"/>
            <a:srcRect t="75174" r="25697"/>
            <a:stretch>
              <a:fillRect/>
            </a:stretch>
          </p:blipFill>
          <p:spPr>
            <a:xfrm>
              <a:off x="6713059" y="3579962"/>
              <a:ext cx="3673146" cy="1902438"/>
            </a:xfrm>
            <a:prstGeom prst="rect">
              <a:avLst/>
            </a:prstGeom>
          </p:spPr>
        </p:pic>
      </p:gr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dirty="0">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1</a:t>
            </a:r>
            <a:endParaRPr sz="1600" kern="0" dirty="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similar to both objects</a:t>
            </a:r>
            <a:endParaRPr sz="1600" kern="0" dirty="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2</a:t>
            </a:r>
            <a:endParaRPr sz="1600" kern="0" dirty="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dirty="0">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dirty="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Definition </a:t>
            </a:r>
            <a:endParaRPr sz="2000" dirty="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dirty="0">
                <a:latin typeface="+mj-lt"/>
                <a:ea typeface="Calibri"/>
                <a:cs typeface="Arial" panose="020B0604020202020204" pitchFamily="34" charset="0"/>
                <a:sym typeface="Calibri"/>
              </a:rPr>
              <a:t>Facts/Characteristics</a:t>
            </a:r>
            <a:endParaRPr sz="2000" dirty="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dirty="0">
                <a:latin typeface="+mj-lt"/>
                <a:ea typeface="Calibri"/>
                <a:cs typeface="Arial" panose="020B0604020202020204" pitchFamily="34" charset="0"/>
                <a:sym typeface="Calibri"/>
              </a:rPr>
              <a:t>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Non-examples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dirty="0">
                <a:latin typeface="+mj-lt"/>
                <a:ea typeface="Calibri"/>
                <a:cs typeface="Arial" panose="020B0604020202020204" pitchFamily="34" charset="0"/>
                <a:sym typeface="Calibri"/>
              </a:rPr>
              <a:t>Word, term, concept</a:t>
            </a:r>
            <a:endParaRPr dirty="0">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64</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dirty="0">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dirty="0">
                <a:latin typeface="+mj-lt"/>
                <a:cs typeface="Arial" panose="020B0604020202020204" pitchFamily="34" charset="0"/>
                <a:sym typeface="Montserrat"/>
              </a:rPr>
              <a:t>Subject</a:t>
            </a:r>
            <a:endParaRPr sz="2000" b="1" dirty="0">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dirty="0">
                <a:solidFill>
                  <a:srgbClr val="000000"/>
                </a:solidFill>
                <a:cs typeface="Arial" panose="020B0604020202020204" pitchFamily="34" charset="0"/>
                <a:sym typeface="Montserrat Medium"/>
              </a:rPr>
              <a:t>Idea</a:t>
            </a:r>
            <a:endParaRPr sz="1400" dirty="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dirty="0">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1</a:t>
            </a:r>
            <a:endParaRPr dirty="0">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dirty="0">
                <a:ea typeface="Calibri"/>
                <a:cs typeface="Arial" panose="020B0604020202020204" pitchFamily="34" charset="0"/>
                <a:sym typeface="Calibri"/>
              </a:rPr>
              <a:t>Word</a:t>
            </a:r>
            <a:endParaRPr sz="2000" dirty="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2</a:t>
            </a:r>
            <a:endParaRPr dirty="0">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dirty="0">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dirty="0"/>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dirty="0"/>
              <a:t>Multiple choice </a:t>
            </a:r>
            <a:r>
              <a:rPr lang="en-US" dirty="0">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dirty="0"/>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dirty="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dirty="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69</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t>References </a:t>
            </a:r>
            <a:r>
              <a:rPr lang="en-AU" dirty="0">
                <a:solidFill>
                  <a:schemeClr val="accent4"/>
                </a:solidFill>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dirty="0">
                <a:hlinkClick r:id="rId5"/>
              </a:rPr>
              <a:t>Mathematics K–10 Syllabus</a:t>
            </a:r>
            <a:r>
              <a:rPr lang="en-AU" dirty="0"/>
              <a:t> © NSW Education Standards Authority (NESA) for and on behalf of the Crown in right of the State of New South Wales, 2022.</a:t>
            </a:r>
          </a:p>
          <a:p>
            <a:r>
              <a:rPr lang="en-AU" u="sng" dirty="0">
                <a:hlinkClick r:id="rId6"/>
              </a:rPr>
              <a:t>National Numeracy Learning Progression</a:t>
            </a:r>
            <a:r>
              <a:rPr lang="en-AU" dirty="0"/>
              <a:t> © Australian Curriculum, Assessment and Reporting Authority (ACARA) 2010 to present, unless otherwise indicated. This material was downloaded from the </a:t>
            </a:r>
            <a:r>
              <a:rPr lang="en-AU" u="sng" dirty="0">
                <a:hlinkClick r:id="rId7"/>
              </a:rPr>
              <a:t>Australian Curriculum</a:t>
            </a:r>
            <a:r>
              <a:rPr lang="en-AU" dirty="0"/>
              <a:t> website (National Numeracy Learning Progression) (accessed 9 April 2026) and was not modified.</a:t>
            </a:r>
          </a:p>
          <a:p>
            <a:r>
              <a:rPr lang="en-AU" dirty="0"/>
              <a:t>Kaplinsky R (n.d.) ‘</a:t>
            </a:r>
            <a:r>
              <a:rPr lang="en-AU" u="sng" dirty="0">
                <a:hlinkClick r:id="rId8"/>
              </a:rPr>
              <a:t>Multiply and Divide Within A Hundred 1</a:t>
            </a:r>
            <a:r>
              <a:rPr lang="en-AU" dirty="0"/>
              <a:t>’, </a:t>
            </a:r>
            <a:r>
              <a:rPr lang="en-AU" i="1" dirty="0"/>
              <a:t>Grade 3</a:t>
            </a:r>
            <a:r>
              <a:rPr lang="en-AU" dirty="0"/>
              <a:t>, Open Middle website, accessed 9 April 2026.</a:t>
            </a:r>
          </a:p>
          <a:p>
            <a:r>
              <a:rPr lang="en-GB" dirty="0"/>
              <a:t>Joshua A (2008) </a:t>
            </a:r>
            <a:r>
              <a:rPr lang="en-GB" i="1" dirty="0"/>
              <a:t>Enrich-E-Matics</a:t>
            </a:r>
            <a:r>
              <a:rPr lang="en-AU" i="1" dirty="0"/>
              <a:t>:</a:t>
            </a:r>
            <a:r>
              <a:rPr lang="en-GB" i="1" dirty="0"/>
              <a:t> Book 3</a:t>
            </a:r>
            <a:r>
              <a:rPr lang="en-GB" dirty="0"/>
              <a:t>, 3rd </a:t>
            </a:r>
            <a:r>
              <a:rPr lang="en-GB" dirty="0" err="1"/>
              <a:t>edn</a:t>
            </a:r>
            <a:r>
              <a:rPr lang="en-GB" dirty="0"/>
              <a:t>, Pearson, United States.</a:t>
            </a:r>
            <a:endParaRPr lang="en-AU" dirty="0"/>
          </a:p>
          <a:p>
            <a:r>
              <a:rPr lang="en-GB" dirty="0"/>
              <a:t>Russo J (2018) ‘Get your game on: Double hat-trick’, </a:t>
            </a:r>
            <a:r>
              <a:rPr lang="en-AU" i="1" dirty="0"/>
              <a:t>Prime number</a:t>
            </a:r>
            <a:r>
              <a:rPr lang="en-GB" i="1" dirty="0"/>
              <a:t>, </a:t>
            </a:r>
            <a:r>
              <a:rPr lang="en-GB" dirty="0"/>
              <a:t>33(3):5.</a:t>
            </a:r>
            <a:endParaRPr lang="en-AU" dirty="0"/>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82325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2939C-1C7B-9F5A-03A3-2A795A7AAD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5AB0F5B-D2E1-2636-F703-46B1D43A25C5}"/>
              </a:ext>
            </a:extLst>
          </p:cNvPr>
          <p:cNvSpPr>
            <a:spLocks noGrp="1"/>
          </p:cNvSpPr>
          <p:nvPr>
            <p:ph type="title"/>
          </p:nvPr>
        </p:nvSpPr>
        <p:spPr/>
        <p:txBody>
          <a:bodyPr/>
          <a:lstStyle/>
          <a:p>
            <a:r>
              <a:rPr lang="en-AU" dirty="0"/>
              <a:t>References </a:t>
            </a:r>
            <a:r>
              <a:rPr lang="en-AU" dirty="0">
                <a:solidFill>
                  <a:schemeClr val="accent4"/>
                </a:solidFill>
              </a:rPr>
              <a:t>(2)</a:t>
            </a:r>
          </a:p>
        </p:txBody>
      </p:sp>
      <p:sp>
        <p:nvSpPr>
          <p:cNvPr id="6" name="TextBox 5">
            <a:extLst>
              <a:ext uri="{FF2B5EF4-FFF2-40B4-BE49-F238E27FC236}">
                <a16:creationId xmlns:a16="http://schemas.microsoft.com/office/drawing/2014/main" id="{BF195716-57AD-7404-D929-04C7B5398C6B}"/>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5A782599-2927-F06E-5CE7-E69248791C9F}"/>
              </a:ext>
            </a:extLst>
          </p:cNvPr>
          <p:cNvSpPr>
            <a:spLocks noGrp="1"/>
          </p:cNvSpPr>
          <p:nvPr>
            <p:ph idx="1"/>
          </p:nvPr>
        </p:nvSpPr>
        <p:spPr/>
        <p:txBody>
          <a:bodyPr vert="horz" lIns="0" tIns="0" rIns="0" bIns="0" rtlCol="0" anchor="t">
            <a:noAutofit/>
          </a:bodyPr>
          <a:lstStyle/>
          <a:p>
            <a:r>
              <a:rPr lang="en-AU" dirty="0"/>
              <a:t>Siemon D, Warren E, Beswick K, Faragher R, Miller J, Horne M, </a:t>
            </a:r>
            <a:r>
              <a:rPr lang="en-AU" dirty="0" err="1"/>
              <a:t>Jazby</a:t>
            </a:r>
            <a:r>
              <a:rPr lang="en-AU" dirty="0"/>
              <a:t> D, Breed M, Clark J and Brady K (2021)</a:t>
            </a:r>
            <a:r>
              <a:rPr lang="en-AU" i="1" dirty="0"/>
              <a:t> Teaching Mathematics: Foundations to Middle Years</a:t>
            </a:r>
            <a:r>
              <a:rPr lang="en-AU" dirty="0"/>
              <a:t>, 3rd </a:t>
            </a:r>
            <a:r>
              <a:rPr lang="en-AU" dirty="0" err="1"/>
              <a:t>edn</a:t>
            </a:r>
            <a:r>
              <a:rPr lang="en-AU" dirty="0"/>
              <a:t>, Oxford University Press Australia and New Zealand. </a:t>
            </a:r>
          </a:p>
          <a:p>
            <a:r>
              <a:rPr lang="en-AU" dirty="0"/>
              <a:t>State of New South Wales (Department of Education) (2024) ‘</a:t>
            </a:r>
            <a:r>
              <a:rPr lang="en-AU" u="sng" dirty="0">
                <a:hlinkClick r:id="rId5"/>
              </a:rPr>
              <a:t>Counting game (by multiples of 5)’</a:t>
            </a:r>
            <a:r>
              <a:rPr lang="en-AU" dirty="0"/>
              <a:t>, </a:t>
            </a:r>
            <a:r>
              <a:rPr lang="en-AU" i="1" dirty="0"/>
              <a:t>Thinking mathematically resources</a:t>
            </a:r>
            <a:r>
              <a:rPr lang="en-AU" dirty="0"/>
              <a:t>, NSW Department of Education website, accessed 17 April 2026.</a:t>
            </a:r>
          </a:p>
          <a:p>
            <a:r>
              <a:rPr lang="en-AU" dirty="0"/>
              <a:t>Van de Walle J, Karp K, Bay-Williams JM, Brass A, Bentley B, Ferguson S, Goff W, Livy S, Marshman M, Martin D, Pearn C, </a:t>
            </a:r>
            <a:r>
              <a:rPr lang="en-AU" dirty="0" err="1"/>
              <a:t>Prodromou</a:t>
            </a:r>
            <a:r>
              <a:rPr lang="en-AU" dirty="0"/>
              <a:t> T, Symons D and Wilkie K (2019) </a:t>
            </a:r>
            <a:r>
              <a:rPr lang="en-AU" i="1" dirty="0"/>
              <a:t>Primary and Middle Years Mathematics: Teaching Developmentally</a:t>
            </a:r>
            <a:r>
              <a:rPr lang="en-AU" dirty="0"/>
              <a:t>, 1st Australian </a:t>
            </a:r>
            <a:r>
              <a:rPr lang="en-AU" dirty="0" err="1"/>
              <a:t>edn</a:t>
            </a:r>
            <a:r>
              <a:rPr lang="en-AU" dirty="0"/>
              <a:t>, Pearson Education Australia, Melbourne.</a:t>
            </a:r>
          </a:p>
        </p:txBody>
      </p:sp>
      <p:sp>
        <p:nvSpPr>
          <p:cNvPr id="2" name="Slide Number Placeholder 1">
            <a:extLst>
              <a:ext uri="{FF2B5EF4-FFF2-40B4-BE49-F238E27FC236}">
                <a16:creationId xmlns:a16="http://schemas.microsoft.com/office/drawing/2014/main" id="{55E0E2B8-9B50-F5C5-4E79-45597F8992D3}"/>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71</a:t>
            </a:fld>
            <a:endParaRPr lang="en-AU"/>
          </a:p>
        </p:txBody>
      </p:sp>
    </p:spTree>
    <p:extLst>
      <p:ext uri="{BB962C8B-B14F-4D97-AF65-F5344CB8AC3E}">
        <p14:creationId xmlns:p14="http://schemas.microsoft.com/office/powerpoint/2010/main" val="102788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dirty="0">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dirty="0">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dirty="0">
                <a:solidFill>
                  <a:schemeClr val="bg1"/>
                </a:solidFill>
              </a:rPr>
              <a:t>The copyright material published in this resource is subject to the </a:t>
            </a:r>
            <a:r>
              <a:rPr lang="en-AU" sz="1200" i="1" dirty="0">
                <a:solidFill>
                  <a:schemeClr val="bg1"/>
                </a:solidFill>
              </a:rPr>
              <a:t>Copyright Act 1968</a:t>
            </a:r>
            <a:r>
              <a:rPr lang="en-AU" sz="1200" dirty="0">
                <a:solidFill>
                  <a:schemeClr val="bg1"/>
                </a:solidFill>
              </a:rPr>
              <a:t> (</a:t>
            </a:r>
            <a:r>
              <a:rPr lang="en-AU" sz="1200" dirty="0" err="1">
                <a:solidFill>
                  <a:schemeClr val="bg1"/>
                </a:solidFill>
              </a:rPr>
              <a:t>Cth</a:t>
            </a:r>
            <a:r>
              <a:rPr lang="en-AU" sz="1200" dirty="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dirty="0">
                <a:solidFill>
                  <a:schemeClr val="bg1"/>
                </a:solidFill>
              </a:rPr>
              <a:t>Copyright material available in this resource and owned by the NSW Department of Education is licensed under a </a:t>
            </a:r>
            <a:r>
              <a:rPr lang="en-AU" sz="1200" dirty="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dirty="0">
                <a:solidFill>
                  <a:schemeClr val="bg1"/>
                </a:solidFill>
              </a:rPr>
              <a:t>.</a:t>
            </a:r>
          </a:p>
          <a:p>
            <a:pPr algn="l">
              <a:lnSpc>
                <a:spcPct val="150000"/>
              </a:lnSpc>
              <a:spcAft>
                <a:spcPts val="600"/>
              </a:spcAft>
            </a:pPr>
            <a:r>
              <a:rPr lang="en-AU" sz="1200" dirty="0">
                <a:solidFill>
                  <a:schemeClr val="bg1"/>
                </a:solidFill>
              </a:rPr>
              <a:t>This license allows you to share and adapt the material for any purpose, even commercially.</a:t>
            </a:r>
          </a:p>
          <a:p>
            <a:pPr algn="l">
              <a:lnSpc>
                <a:spcPct val="150000"/>
              </a:lnSpc>
              <a:spcAft>
                <a:spcPts val="600"/>
              </a:spcAft>
            </a:pPr>
            <a:r>
              <a:rPr lang="en-AU" sz="1200" dirty="0">
                <a:solidFill>
                  <a:schemeClr val="bg1"/>
                </a:solidFill>
              </a:rPr>
              <a:t>Attribution should be given to © State of New South Wales (Department of Education), 2025.</a:t>
            </a:r>
          </a:p>
          <a:p>
            <a:pPr algn="l">
              <a:lnSpc>
                <a:spcPct val="150000"/>
              </a:lnSpc>
            </a:pPr>
            <a:r>
              <a:rPr lang="en-AU" sz="1200" dirty="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dirty="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dirty="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dirty="0">
                <a:solidFill>
                  <a:schemeClr val="bg1"/>
                </a:solidFill>
                <a:latin typeface="+mj-lt"/>
              </a:rPr>
              <a:t>Links to third-party material and websites</a:t>
            </a:r>
          </a:p>
          <a:p>
            <a:pPr algn="l">
              <a:lnSpc>
                <a:spcPct val="150000"/>
              </a:lnSpc>
              <a:spcAft>
                <a:spcPts val="600"/>
              </a:spcAft>
            </a:pPr>
            <a:r>
              <a:rPr lang="en-AU" sz="1200" dirty="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dirty="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dirty="0">
                <a:solidFill>
                  <a:schemeClr val="bg1"/>
                </a:solidFill>
              </a:rPr>
              <a:t>Copyright Act 1968 </a:t>
            </a:r>
            <a:r>
              <a:rPr lang="en-AU" sz="1200" dirty="0">
                <a:solidFill>
                  <a:schemeClr val="bg1"/>
                </a:solidFill>
              </a:rPr>
              <a:t>(</a:t>
            </a:r>
            <a:r>
              <a:rPr lang="en-AU" sz="1200" dirty="0" err="1">
                <a:solidFill>
                  <a:schemeClr val="bg1"/>
                </a:solidFill>
              </a:rPr>
              <a:t>Cth</a:t>
            </a:r>
            <a:r>
              <a:rPr lang="en-AU" sz="1200" dirty="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555570-2BD4-426B-AA32-0A79CB6508A8}">
  <ds:schemaRefs>
    <ds:schemaRef ds:uri="http://purl.org/dc/terms/"/>
    <ds:schemaRef ds:uri="60129b06-f64b-40a8-96e2-c5b2f86112b1"/>
    <ds:schemaRef ds:uri="http://schemas.microsoft.com/office/2006/documentManagement/types"/>
    <ds:schemaRef ds:uri="http://schemas.microsoft.com/sharepoint/v3"/>
    <ds:schemaRef ds:uri="7e763d47-3c66-4c58-9425-1477fd3ccd1e"/>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elements/1.1/"/>
  </ds:schemaRefs>
</ds:datastoreItem>
</file>

<file path=customXml/itemProps2.xml><?xml version="1.0" encoding="utf-8"?>
<ds:datastoreItem xmlns:ds="http://schemas.openxmlformats.org/officeDocument/2006/customXml" ds:itemID="{ADB940BA-4C3A-4E90-9E6D-78943094F42A}"/>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3134</TotalTime>
  <Words>6878</Words>
  <Application>Microsoft Office PowerPoint</Application>
  <PresentationFormat>Widescreen</PresentationFormat>
  <Paragraphs>912</Paragraphs>
  <Slides>72</Slides>
  <Notes>70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72</vt:i4>
      </vt:variant>
    </vt:vector>
  </HeadingPairs>
  <TitlesOfParts>
    <vt:vector size="81" baseType="lpstr">
      <vt:lpstr>Wingdings</vt:lpstr>
      <vt:lpstr>Public Sans</vt:lpstr>
      <vt:lpstr>Aptos Narrow</vt:lpstr>
      <vt:lpstr>Arial</vt:lpstr>
      <vt:lpstr>Times New Roman</vt:lpstr>
      <vt:lpstr>Montserrat</vt:lpstr>
      <vt:lpstr>Public Sans Light</vt:lpstr>
      <vt:lpstr>Calibri</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describing increasing and decreasing patterns (1)</vt:lpstr>
      <vt:lpstr>Activity 1 – describing increasing and decreasing patterns (2)</vt:lpstr>
      <vt:lpstr>Activity 1 – describing increasing and decreasing patterns (3)</vt:lpstr>
      <vt:lpstr>Review of learning 2</vt:lpstr>
      <vt:lpstr>True or false (1)</vt:lpstr>
      <vt:lpstr>Short response (5)</vt:lpstr>
      <vt:lpstr>Short response (6)</vt:lpstr>
      <vt:lpstr>Short response (7)</vt:lpstr>
      <vt:lpstr>Short response (8)</vt:lpstr>
      <vt:lpstr>Activity 2 – continuing a pattern</vt:lpstr>
      <vt:lpstr>Review of learning 3</vt:lpstr>
      <vt:lpstr>Multiple choice (2)</vt:lpstr>
      <vt:lpstr>Short response (9)</vt:lpstr>
      <vt:lpstr>Short response (10)</vt:lpstr>
      <vt:lpstr>Short response (11)</vt:lpstr>
      <vt:lpstr>Short response (12)</vt:lpstr>
      <vt:lpstr>Activity 3 – target number – number patterns and multiples</vt:lpstr>
      <vt:lpstr>Review of learning 4</vt:lpstr>
      <vt:lpstr>True or false (2)</vt:lpstr>
      <vt:lpstr>Short response (13)</vt:lpstr>
      <vt:lpstr>Short response (14)</vt:lpstr>
      <vt:lpstr>Short response (15)</vt:lpstr>
      <vt:lpstr>Short response (16)</vt:lpstr>
      <vt:lpstr>Activity 4 – patterns of multiples (1)</vt:lpstr>
      <vt:lpstr>Activity 4 – patterns of multiples (2)</vt:lpstr>
      <vt:lpstr>Review of learning 5</vt:lpstr>
      <vt:lpstr>Multiple choice (3)</vt:lpstr>
      <vt:lpstr>Short response (17)</vt:lpstr>
      <vt:lpstr>Short response (18)</vt:lpstr>
      <vt:lpstr>Short response (19)</vt:lpstr>
      <vt:lpstr>Short response (20)</vt:lpstr>
      <vt:lpstr>Activity 5 – rearranging digits and ordering numbers</vt:lpstr>
      <vt:lpstr>Review of learning 6</vt:lpstr>
      <vt:lpstr>True or false (3)</vt:lpstr>
      <vt:lpstr>Short response (21)</vt:lpstr>
      <vt:lpstr>Short response (22)</vt:lpstr>
      <vt:lpstr>Short response (23)</vt:lpstr>
      <vt:lpstr>Short response (24)</vt:lpstr>
      <vt:lpstr>Activity 6 – place value game</vt:lpstr>
      <vt:lpstr>Review of learning 7</vt:lpstr>
      <vt:lpstr>Multiple choice (4)</vt:lpstr>
      <vt:lpstr>Short response (25)</vt:lpstr>
      <vt:lpstr>Short response (26)</vt:lpstr>
      <vt:lpstr>Short response (27)</vt:lpstr>
      <vt:lpstr>Short response (28)</vt:lpstr>
      <vt:lpstr>Activity 7 – hat trick – arranging digits to order in the thousands</vt:lpstr>
      <vt:lpstr>Review of learning 8</vt:lpstr>
      <vt:lpstr>True or false (4)</vt:lpstr>
      <vt:lpstr>Short response (29)</vt:lpstr>
      <vt:lpstr>Short response (30)</vt:lpstr>
      <vt:lpstr>Short response (31)</vt:lpstr>
      <vt:lpstr>Short response (32)</vt:lpstr>
      <vt:lpstr>Activity 8 – ordering numbers misconception</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14</cp:revision>
  <dcterms:created xsi:type="dcterms:W3CDTF">2025-10-28T21:34:25Z</dcterms:created>
  <dcterms:modified xsi:type="dcterms:W3CDTF">2026-06-21T22:25:40Z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