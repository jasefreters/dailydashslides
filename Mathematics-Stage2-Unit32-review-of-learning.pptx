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2">
  <p:sldMasterIdLst>
    <p:sldMasterId id="2147483660" r:id="rId4"/>
  </p:sldMasterIdLst>
  <p:notesMasterIdLst>
    <p:notesMasterId r:id="rId73"/>
  </p:notesMasterIdLst>
  <p:handoutMasterIdLst>
    <p:handoutMasterId r:id="rId74"/>
  </p:handoutMasterIdLst>
  <p:sldIdLst>
    <p:sldId id="365" r:id="rId5"/>
    <p:sldId id="26505" r:id="rId6"/>
    <p:sldId id="26359" r:id="rId7"/>
    <p:sldId id="271" r:id="rId8"/>
    <p:sldId id="26577"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48" r:id="rId51"/>
    <p:sldId id="26632" r:id="rId52"/>
    <p:sldId id="26633" r:id="rId53"/>
    <p:sldId id="26634" r:id="rId54"/>
    <p:sldId id="26651"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361" r:id="rId72"/>
  </p:sldIdLst>
  <p:sldSz cx="12192000" cy="6858000"/>
  <p:notesSz cx="6858000" cy="9144000"/>
  <p:embeddedFontLst>
    <p:embeddedFont>
      <p:font typeface="Cambria Math" panose="02040503050406030204" pitchFamily="18" charset="0"/>
      <p:regular r:id="rId75"/>
    </p:embeddedFont>
    <p:embeddedFont>
      <p:font typeface="Edu NSW ACT Foundation" panose="020B0604020202020204" charset="0"/>
      <p:regular r:id="rId76"/>
      <p:bold r:id="rId77"/>
    </p:embeddedFont>
    <p:embeddedFont>
      <p:font typeface="Montserrat" panose="00000500000000000000" pitchFamily="2" charset="0"/>
      <p:regular r:id="rId78"/>
      <p:bold r:id="rId79"/>
      <p:italic r:id="rId80"/>
      <p:boldItalic r:id="rId81"/>
    </p:embeddedFont>
    <p:embeddedFont>
      <p:font typeface="Public Sans" pitchFamily="2" charset="0"/>
      <p:regular r:id="rId82"/>
      <p:bold r:id="rId83"/>
      <p:italic r:id="rId84"/>
      <p:boldItalic r:id="rId85"/>
    </p:embeddedFont>
    <p:embeddedFont>
      <p:font typeface="Public Sans Bold" pitchFamily="2" charset="0"/>
      <p:bold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51"/>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1B1BAE1E-6EF3-DBA4-64B9-54D7242E20D4}" name="Stacey Makila" initials="SM" userId="S::Stacey.Wolfenden@det.nsw.edu.au::1f90aada-aa7f-459b-b23b-17275cc27e9e" providerId="AD"/>
  <p188:author id="{95D16B7D-CADB-F2BF-AC29-D680545C75EE}" name="Carrie Webeck" initials=""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CFC"/>
    <a:srgbClr val="FF99FF"/>
    <a:srgbClr val="007A8A"/>
    <a:srgbClr val="87D830"/>
    <a:srgbClr val="FFCC66"/>
    <a:srgbClr val="66CCFF"/>
    <a:srgbClr val="EDF9E0"/>
    <a:srgbClr val="64BB47"/>
    <a:srgbClr val="EA9B0C"/>
    <a:srgbClr val="9B68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01B71B-0BB6-4907-BCAD-D0CE0DE6F07F}" v="246" dt="2026-04-30T04:52:06.760"/>
    <p1510:client id="{DED678BA-1178-42A3-9C0B-A3F2310DF25E}" v="1259" dt="2026-05-01T01:15:56.713"/>
    <p1510:client id="{FF2C7DD7-7FE1-4632-8701-71E4DAA283F0}" v="4296" dt="2026-04-30T04:52:17.853"/>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6" d="100"/>
          <a:sy n="36" d="100"/>
        </p:scale>
        <p:origin x="520" y="48"/>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0.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6.fntdata"/><Relationship Id="rId85" Type="http://schemas.openxmlformats.org/officeDocument/2006/relationships/font" Target="fonts/font11.fntdata"/><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font" Target="fonts/font14.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9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2.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3.fntdata"/><Relationship Id="rId61" Type="http://schemas.openxmlformats.org/officeDocument/2006/relationships/slide" Target="slides/slide57.xml"/><Relationship Id="rId82" Type="http://schemas.openxmlformats.org/officeDocument/2006/relationships/font" Target="fonts/font8.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4/05/2026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B Unit 32</a:t>
            </a:r>
          </a:p>
          <a:p>
            <a:pPr marL="285750" indent="-285750">
              <a:buFont typeface="Arial" panose="020B0604020202020204" pitchFamily="34" charset="0"/>
              <a:buChar char="•"/>
            </a:pPr>
            <a:r>
              <a:rPr lang="en-AU"/>
              <a:t>Stage 2 Year B Unit 31</a:t>
            </a:r>
          </a:p>
          <a:p>
            <a:pPr marL="285750" indent="-285750">
              <a:buFont typeface="Arial" panose="020B0604020202020204" pitchFamily="34" charset="0"/>
              <a:buChar char="•"/>
            </a:pPr>
            <a:r>
              <a:rPr lang="en-AU"/>
              <a:t>Stage 2 Year B Unit 30</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Two-dimensional spatial structure A</a:t>
            </a:r>
          </a:p>
          <a:p>
            <a:endParaRPr lang="en-AU" b="1"/>
          </a:p>
          <a:p>
            <a:endParaRPr lang="en-AU" b="1"/>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 </a:t>
            </a: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Geometric measure B</a:t>
            </a:r>
          </a:p>
          <a:p>
            <a:endParaRPr lang="en-AU" b="0"/>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B</a:t>
            </a:r>
          </a:p>
          <a:p>
            <a:endParaRPr lang="en-AU" sz="1600" b="0" i="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Commutative property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roll two 10-sided dice. Partner A rolls the dice and uses the numbers rolled to make an array with counters or draw the array on grid paper. For example, a student rolls a 2 and a 6 and makes an array of 2 sixes. </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Partner B uses the commutative property to make the matching array for the numbers rolled. For example, 6 twos. </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Pairs label their array with the corresponding multiplication sentences to show the commutative property. For example, 6 × 2 = 2 × 6. </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repeat the process using different numbers by rolling the dice. </a:t>
            </a:r>
          </a:p>
          <a:p>
            <a:pPr marL="285750" indent="-285750">
              <a:buFont typeface="Arial" panose="020B0604020202020204" pitchFamily="34" charset="0"/>
              <a:buChar char="•"/>
            </a:pP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 </a:t>
            </a: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Chance B</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Multiplication fact families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roll two 10-sided dice and use the dice rolls to make an array with counters or draw the array on grid paper. For example, students roll a 3 and a 4 and make an array of 3 fours.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Pairs label their array to show related multiplication and division facts. Students each write a multiplication and division number sentence. For example, Partner A writes 3 × 4 = 12, 12 ÷ 3 = 4 and Partner B writes 4 × 3 = 12, 12 ÷ 4 = 3 (see Figure 12). </a:t>
            </a:r>
          </a:p>
          <a:p>
            <a:endParaRPr lang="en-AU" b="1"/>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Students repeat the process using different numbers by rolling the dice.  </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 </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b="1"/>
          </a:p>
          <a:p>
            <a:r>
              <a:rPr lang="en-AU" b="1"/>
              <a:t>Flexible partitioning within multiplication 1</a:t>
            </a:r>
          </a:p>
          <a:p>
            <a:r>
              <a:rPr lang="en-AU" b="0"/>
              <a:t>This resource corresponds to Resource 16 – 7 sixes in Stage 2 Year B Unit 32. </a:t>
            </a:r>
          </a:p>
          <a:p>
            <a:endParaRPr lang="en-AU" b="0"/>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Using grid paper, model different ways of partitioning. Encourage students to use known facts to make finding a multiplication fact easier. For example, 7 × 6 can be solved by adding 6 × 6 to one more 6, or finding 7 × 5 and adding one more 7 (see Figure 13).  </a:t>
            </a:r>
          </a:p>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In pairs, students take turns to nominate a multiplication fact hard to recall. Provide students with grid paper to construct the array and record how partitioning can make recall easier. Some students may require concrete materials such as counters.</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 </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p>
          <a:p>
            <a:pPr>
              <a:defRPr/>
            </a:pPr>
            <a:endParaRPr lang="en-AU" sz="1600" i="0">
              <a:solidFill>
                <a:schemeClr val="tx1"/>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B</a:t>
            </a: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Flexible partitioning with multiplication 2</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an array on the board, with grid paper, or with counters, for example, an array for 8 × 7.</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 array can be partitioned using known multiplication facts.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Demonstrate using flexible partitioning using known multiplication facts to solve the number sentence. For example, (8 rows of 5) + (8 rows of 2) or (7 rows of 4) + (7 row of 4).</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Which known multiplication facts helped to solve the number sentence?</a:t>
            </a:r>
          </a:p>
          <a:p>
            <a:pPr lvl="0"/>
            <a:r>
              <a:rPr lang="en-AU" sz="1600" kern="1200">
                <a:solidFill>
                  <a:schemeClr val="tx1"/>
                </a:solidFill>
                <a:effectLst/>
                <a:latin typeface="Arial" panose="020B0604020202020204" pitchFamily="34" charset="0"/>
                <a:ea typeface="+mn-ea"/>
                <a:cs typeface="Arial" panose="020B0604020202020204" pitchFamily="34" charset="0"/>
              </a:rPr>
              <a:t>- How did partitioning help to find the answer?</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write a</a:t>
            </a:r>
            <a:r>
              <a:rPr lang="en-AU" sz="1600" b="1" kern="1200">
                <a:solidFill>
                  <a:schemeClr val="tx1"/>
                </a:solidFill>
                <a:effectLst/>
                <a:latin typeface="Arial" panose="020B0604020202020204" pitchFamily="34"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multiplication fact, for example, 6 × 9, and build the array on grid paper or using counters. Students partition the array into smaller, known multiplication facts, recording the number sentence to match. for example, (5 rows of 9) + (1 row of 9).</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combine with another pair to share and reflect. Ask:</a:t>
            </a:r>
          </a:p>
          <a:p>
            <a:pPr lvl="0"/>
            <a:r>
              <a:rPr lang="en-AU" sz="1600" kern="1200">
                <a:solidFill>
                  <a:schemeClr val="tx1"/>
                </a:solidFill>
                <a:effectLst/>
                <a:latin typeface="Arial" panose="020B0604020202020204" pitchFamily="34" charset="0"/>
                <a:ea typeface="+mn-ea"/>
                <a:cs typeface="Arial" panose="020B0604020202020204" pitchFamily="34" charset="0"/>
              </a:rPr>
              <a:t>- What multiplication fact did you choose?</a:t>
            </a:r>
          </a:p>
          <a:p>
            <a:pPr lvl="0"/>
            <a:r>
              <a:rPr lang="en-AU" sz="1600" kern="1200">
                <a:solidFill>
                  <a:schemeClr val="tx1"/>
                </a:solidFill>
                <a:effectLst/>
                <a:latin typeface="Arial" panose="020B0604020202020204" pitchFamily="34" charset="0"/>
                <a:ea typeface="+mn-ea"/>
                <a:cs typeface="Arial" panose="020B0604020202020204" pitchFamily="34" charset="0"/>
              </a:rPr>
              <a:t>- How did you partition it to make it easier?</a:t>
            </a:r>
          </a:p>
          <a:p>
            <a:pPr lvl="0"/>
            <a:r>
              <a:rPr lang="en-AU" sz="1600" kern="1200">
                <a:solidFill>
                  <a:schemeClr val="tx1"/>
                </a:solidFill>
                <a:effectLst/>
                <a:latin typeface="Arial" panose="020B0604020202020204" pitchFamily="34" charset="0"/>
                <a:ea typeface="+mn-ea"/>
                <a:cs typeface="Arial" panose="020B0604020202020204" pitchFamily="34" charset="0"/>
              </a:rPr>
              <a:t>- Why was your way helpful?</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 </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Problem solving with money 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Brainstorm with students what coins there are in Australian currency. Show examples.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Pose the following problem: Amir has one of each coin. He wants to buy a pair of shorts that costs $9.50. Ask students: </a:t>
            </a:r>
          </a:p>
          <a:p>
            <a:pPr lvl="0"/>
            <a:r>
              <a:rPr lang="en-AU" sz="1600" kern="1200">
                <a:solidFill>
                  <a:schemeClr val="tx1"/>
                </a:solidFill>
                <a:effectLst/>
                <a:latin typeface="Arial" panose="020B0604020202020204" pitchFamily="34" charset="0"/>
                <a:ea typeface="+mn-ea"/>
                <a:cs typeface="Arial" panose="020B0604020202020204" pitchFamily="34" charset="0"/>
              </a:rPr>
              <a:t>- How much money does Amir have? </a:t>
            </a:r>
          </a:p>
          <a:p>
            <a:pPr lvl="0"/>
            <a:r>
              <a:rPr lang="en-AU" sz="1600" kern="1200">
                <a:solidFill>
                  <a:schemeClr val="tx1"/>
                </a:solidFill>
                <a:effectLst/>
                <a:latin typeface="Arial" panose="020B0604020202020204" pitchFamily="34" charset="0"/>
                <a:ea typeface="+mn-ea"/>
                <a:cs typeface="Arial" panose="020B0604020202020204" pitchFamily="34" charset="0"/>
              </a:rPr>
              <a:t>- How much more does he need to buy the shorts? </a:t>
            </a:r>
          </a:p>
          <a:p>
            <a:pPr lvl="0"/>
            <a:r>
              <a:rPr lang="en-AU" sz="1600" kern="1200">
                <a:solidFill>
                  <a:schemeClr val="tx1"/>
                </a:solidFill>
                <a:effectLst/>
                <a:latin typeface="Arial" panose="020B0604020202020204" pitchFamily="34" charset="0"/>
                <a:ea typeface="+mn-ea"/>
                <a:cs typeface="Arial" panose="020B0604020202020204" pitchFamily="34" charset="0"/>
              </a:rPr>
              <a:t>- What strategy can you use to calculate this?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and record their thinking and strategies used.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the strategies used. Explain that addition and subtraction can be used to calculate the difference in money. Amir can subtract $3.85 from $9.50 or start at $3.85 and count up to $9.50 to find the difference.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Pose the following problem to students: The shorts are now on sale for $5.60. Ask students: </a:t>
            </a:r>
          </a:p>
          <a:p>
            <a:pPr lvl="0"/>
            <a:r>
              <a:rPr lang="en-AU" sz="1600" kern="1200">
                <a:solidFill>
                  <a:schemeClr val="tx1"/>
                </a:solidFill>
                <a:effectLst/>
                <a:latin typeface="Arial" panose="020B0604020202020204" pitchFamily="34" charset="0"/>
                <a:ea typeface="+mn-ea"/>
                <a:cs typeface="Arial" panose="020B0604020202020204" pitchFamily="34" charset="0"/>
              </a:rPr>
              <a:t>- What strategy can be used to work out how much more money Amir needs? </a:t>
            </a:r>
          </a:p>
          <a:p>
            <a:pPr lvl="0"/>
            <a:r>
              <a:rPr lang="en-AU" sz="1600" kern="1200">
                <a:solidFill>
                  <a:schemeClr val="tx1"/>
                </a:solidFill>
                <a:effectLst/>
                <a:latin typeface="Arial" panose="020B0604020202020204" pitchFamily="34" charset="0"/>
                <a:ea typeface="+mn-ea"/>
                <a:cs typeface="Arial" panose="020B0604020202020204" pitchFamily="34" charset="0"/>
              </a:rPr>
              <a:t>- How much more money does Amir need now? </a:t>
            </a:r>
          </a:p>
          <a:p>
            <a:pPr lvl="0"/>
            <a:r>
              <a:rPr lang="en-AU" sz="1600" kern="1200">
                <a:solidFill>
                  <a:schemeClr val="tx1"/>
                </a:solidFill>
                <a:effectLst/>
                <a:latin typeface="Arial" panose="020B0604020202020204" pitchFamily="34" charset="0"/>
                <a:ea typeface="+mn-ea"/>
                <a:cs typeface="Arial" panose="020B0604020202020204" pitchFamily="34" charset="0"/>
              </a:rPr>
              <a:t>- How can addition or subtraction be used to solve this problem? </a:t>
            </a:r>
          </a:p>
          <a:p>
            <a:pPr lvl="0"/>
            <a:r>
              <a:rPr lang="en-AU" sz="1600" kern="1200">
                <a:solidFill>
                  <a:schemeClr val="tx1"/>
                </a:solidFill>
                <a:effectLst/>
                <a:latin typeface="Arial" panose="020B0604020202020204" pitchFamily="34" charset="0"/>
                <a:ea typeface="+mn-ea"/>
                <a:cs typeface="Arial" panose="020B0604020202020204" pitchFamily="34" charset="0"/>
              </a:rPr>
              <a:t>- Is your chosen strategy effective?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their ideas with a partner and reflect on whether their strategy is effective and whether it can be improved.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p>
          <a:p>
            <a:pPr>
              <a:defRPr/>
            </a:pPr>
            <a:endParaRPr lang="en-AU" sz="1600" i="0">
              <a:solidFill>
                <a:schemeClr val="tx1"/>
              </a:solidFill>
              <a:latin typeface="Arial"/>
              <a:cs typeface="Arial"/>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Problem solving with money 2</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Samira has one of each note of Australian currency ($100, $50, $20, $10, and $5), six $2 coins and nine 50c coins. She wants to buy a skateboard that costs $225. Ask students: </a:t>
            </a:r>
          </a:p>
          <a:p>
            <a:pPr lvl="0"/>
            <a:r>
              <a:rPr lang="en-AU" sz="1600" kern="1200">
                <a:solidFill>
                  <a:schemeClr val="tx1"/>
                </a:solidFill>
                <a:effectLst/>
                <a:latin typeface="Arial" panose="020B0604020202020204" pitchFamily="34" charset="0"/>
                <a:ea typeface="+mn-ea"/>
                <a:cs typeface="Arial" panose="020B0604020202020204" pitchFamily="34" charset="0"/>
              </a:rPr>
              <a:t>- How much money does Samira have? </a:t>
            </a:r>
          </a:p>
          <a:p>
            <a:pPr lvl="0"/>
            <a:r>
              <a:rPr lang="en-AU" sz="1600" kern="1200">
                <a:solidFill>
                  <a:schemeClr val="tx1"/>
                </a:solidFill>
                <a:effectLst/>
                <a:latin typeface="Arial" panose="020B0604020202020204" pitchFamily="34" charset="0"/>
                <a:ea typeface="+mn-ea"/>
                <a:cs typeface="Arial" panose="020B0604020202020204" pitchFamily="34" charset="0"/>
              </a:rPr>
              <a:t>- How can she work out how much more money she needs? </a:t>
            </a:r>
          </a:p>
          <a:p>
            <a:pPr lvl="0"/>
            <a:r>
              <a:rPr lang="en-AU" sz="1600" kern="1200">
                <a:solidFill>
                  <a:schemeClr val="tx1"/>
                </a:solidFill>
                <a:effectLst/>
                <a:latin typeface="Arial" panose="020B0604020202020204" pitchFamily="34" charset="0"/>
                <a:ea typeface="+mn-ea"/>
                <a:cs typeface="Arial" panose="020B0604020202020204" pitchFamily="34" charset="0"/>
              </a:rPr>
              <a:t>- Will she use subtraction, addition, or a combination of both?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turn and talk to find a solution.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Share solutions and ask which strategy is most effective and why.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Samira’s aunty pays her $8 for doing some gardening and then Samira finds another 50c coin in her pocket. Ask students: </a:t>
            </a:r>
          </a:p>
          <a:p>
            <a:pPr lvl="0"/>
            <a:r>
              <a:rPr lang="en-AU" sz="1600" kern="1200">
                <a:solidFill>
                  <a:schemeClr val="tx1"/>
                </a:solidFill>
                <a:effectLst/>
                <a:latin typeface="Arial" panose="020B0604020202020204" pitchFamily="34" charset="0"/>
                <a:ea typeface="+mn-ea"/>
                <a:cs typeface="Arial" panose="020B0604020202020204" pitchFamily="34" charset="0"/>
              </a:rPr>
              <a:t>- How much money does Samira need now to buy the skateboard? </a:t>
            </a:r>
          </a:p>
          <a:p>
            <a:pPr lvl="0"/>
            <a:r>
              <a:rPr lang="en-AU" sz="1600" kern="1200">
                <a:solidFill>
                  <a:schemeClr val="tx1"/>
                </a:solidFill>
                <a:effectLst/>
                <a:latin typeface="Arial" panose="020B0604020202020204" pitchFamily="34" charset="0"/>
                <a:ea typeface="+mn-ea"/>
                <a:cs typeface="Arial" panose="020B0604020202020204" pitchFamily="34" charset="0"/>
              </a:rPr>
              <a:t>- Is the same strategy still the most effective? Why or why not? </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 </a:t>
            </a: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EFBB2-7A9E-1FCA-C8E8-C7BA08D40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7CB1E7-E55F-3018-FAE5-A732C99E4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F6721-1E9D-B249-A555-8A96913FDE5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endParaRPr lang="en-AU">
              <a:latin typeface="Arial"/>
              <a:cs typeface="Arial"/>
            </a:endParaRPr>
          </a:p>
          <a:p>
            <a:r>
              <a:rPr lang="en-AU" sz="1600" b="0" i="0" kern="1200">
                <a:solidFill>
                  <a:schemeClr val="tx1"/>
                </a:solidFill>
                <a:effectLst/>
                <a:latin typeface="Arial" panose="020B0604020202020204" pitchFamily="34" charset="0"/>
                <a:ea typeface="+mn-ea"/>
                <a:cs typeface="Arial" panose="020B0604020202020204" pitchFamily="34" charset="0"/>
              </a:rPr>
              <a:t>Geometric measure B</a:t>
            </a:r>
          </a:p>
        </p:txBody>
      </p:sp>
      <p:sp>
        <p:nvSpPr>
          <p:cNvPr id="4" name="Slide Number Placeholder 3">
            <a:extLst>
              <a:ext uri="{FF2B5EF4-FFF2-40B4-BE49-F238E27FC236}">
                <a16:creationId xmlns:a16="http://schemas.microsoft.com/office/drawing/2014/main" id="{15BAD22A-8898-E723-BE1A-A8315223C09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418516258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Using estimation for addition and subtraction involving money 1</a:t>
            </a:r>
          </a:p>
          <a:p>
            <a:r>
              <a:rPr lang="en-AU" b="0"/>
              <a:t>This resource corresponds to Resource 17 – prize problem in Stage 2 Year B Unit 32.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the key information with students: $5, 40 prizes, pens for 16c and pencils for 11c.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Lisa must decide whether she can buy at least 40 prizes with the money available.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how they can use rounding and estimation to think quickly. Students turn and talk, recording their thinking on individual whiteboards. Some examples of student thinking might include: </a:t>
            </a:r>
          </a:p>
          <a:p>
            <a:pPr lvl="0"/>
            <a:r>
              <a:rPr lang="en-AU" sz="1600" kern="1200">
                <a:solidFill>
                  <a:schemeClr val="tx1"/>
                </a:solidFill>
                <a:effectLst/>
                <a:latin typeface="Arial" panose="020B0604020202020204" pitchFamily="34" charset="0"/>
                <a:ea typeface="+mn-ea"/>
                <a:cs typeface="Arial" panose="020B0604020202020204" pitchFamily="34" charset="0"/>
              </a:rPr>
              <a:t>- 16c is close to 15c, I can double that to get 30c and double again to get 60c. That gives me 4 pens and another 30c makes 6 pens for about 90c. </a:t>
            </a:r>
          </a:p>
          <a:p>
            <a:pPr lvl="0"/>
            <a:r>
              <a:rPr lang="en-AU" sz="1600" kern="1200">
                <a:solidFill>
                  <a:schemeClr val="tx1"/>
                </a:solidFill>
                <a:effectLst/>
                <a:latin typeface="Arial" panose="020B0604020202020204" pitchFamily="34" charset="0"/>
                <a:ea typeface="+mn-ea"/>
                <a:cs typeface="Arial" panose="020B0604020202020204" pitchFamily="34" charset="0"/>
              </a:rPr>
              <a:t>- 11c is about 10c so I could buy about 10 for a dollar. </a:t>
            </a:r>
          </a:p>
          <a:p>
            <a:pPr lvl="0"/>
            <a:r>
              <a:rPr lang="en-AU" sz="1600" kern="1200">
                <a:solidFill>
                  <a:schemeClr val="tx1"/>
                </a:solidFill>
                <a:effectLst/>
                <a:latin typeface="Arial" panose="020B0604020202020204" pitchFamily="34" charset="0"/>
                <a:ea typeface="+mn-ea"/>
                <a:cs typeface="Arial" panose="020B0604020202020204" pitchFamily="34" charset="0"/>
              </a:rPr>
              <a:t>- I can get about 6 pens for $1 and about 40 pencils for $4. </a:t>
            </a:r>
          </a:p>
          <a:p>
            <a:pPr lvl="0"/>
            <a:r>
              <a:rPr lang="en-AU" sz="1600" kern="1200">
                <a:solidFill>
                  <a:schemeClr val="tx1"/>
                </a:solidFill>
                <a:effectLst/>
                <a:latin typeface="Arial" panose="020B0604020202020204" pitchFamily="34" charset="0"/>
                <a:ea typeface="+mn-ea"/>
                <a:cs typeface="Arial" panose="020B0604020202020204" pitchFamily="34" charset="0"/>
              </a:rPr>
              <a:t>- I can get about 40 pencils for $4 so I know I can buy the minimum number needed. Then I can buy a few pens with the last dollar.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whether Lisa can buy a minimum of 40 prizes with the $5. Share the strategies used and which are most effective.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 </a:t>
            </a:r>
          </a:p>
          <a:p>
            <a:pPr>
              <a:defRPr/>
            </a:pPr>
            <a:endParaRPr lang="en-AU">
              <a:latin typeface="Arial"/>
              <a:cs typeface="Arial"/>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B</a:t>
            </a: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Using estimation for addition and subtraction involving money 2</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Pose the problem: I bought a sandwich for $3.80, a drink for $2.20, and a snack for $1.95. I estimate the total to be $20.00.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how estimation helps to quickly check the validity of solutions and to see if an estimated answer is reasonable.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Without calculating exactly, is $20 a ‘good estimate’?</a:t>
            </a:r>
          </a:p>
          <a:p>
            <a:pPr lvl="0"/>
            <a:r>
              <a:rPr lang="en-AU" sz="1600" kern="1200">
                <a:solidFill>
                  <a:schemeClr val="tx1"/>
                </a:solidFill>
                <a:effectLst/>
                <a:latin typeface="Arial" panose="020B0604020202020204" pitchFamily="34" charset="0"/>
                <a:ea typeface="+mn-ea"/>
                <a:cs typeface="Arial" panose="020B0604020202020204" pitchFamily="34" charset="0"/>
              </a:rPr>
              <a:t>- How could we estimate to check?</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Demonstrate recording the estimates for the items bought and decide if this was a ‘good estimate’. For example: </a:t>
            </a:r>
          </a:p>
          <a:p>
            <a:pPr lvl="0"/>
            <a:r>
              <a:rPr lang="en-AU" sz="1600" kern="1200">
                <a:solidFill>
                  <a:schemeClr val="tx1"/>
                </a:solidFill>
                <a:effectLst/>
                <a:latin typeface="Arial" panose="020B0604020202020204" pitchFamily="34" charset="0"/>
                <a:ea typeface="+mn-ea"/>
                <a:cs typeface="Arial" panose="020B0604020202020204" pitchFamily="34" charset="0"/>
              </a:rPr>
              <a:t>- sandwich is $3.80, so round to $4.00</a:t>
            </a:r>
          </a:p>
          <a:p>
            <a:pPr lvl="0"/>
            <a:r>
              <a:rPr lang="en-AU" sz="1600" kern="1200">
                <a:solidFill>
                  <a:schemeClr val="tx1"/>
                </a:solidFill>
                <a:effectLst/>
                <a:latin typeface="Arial" panose="020B0604020202020204" pitchFamily="34" charset="0"/>
                <a:ea typeface="+mn-ea"/>
                <a:cs typeface="Arial" panose="020B0604020202020204" pitchFamily="34" charset="0"/>
              </a:rPr>
              <a:t>- drink is $2.20, so round to $2.00</a:t>
            </a:r>
          </a:p>
          <a:p>
            <a:pPr lvl="0"/>
            <a:r>
              <a:rPr lang="en-AU" sz="1600" kern="1200">
                <a:solidFill>
                  <a:schemeClr val="tx1"/>
                </a:solidFill>
                <a:effectLst/>
                <a:latin typeface="Arial" panose="020B0604020202020204" pitchFamily="34" charset="0"/>
                <a:ea typeface="+mn-ea"/>
                <a:cs typeface="Arial" panose="020B0604020202020204" pitchFamily="34" charset="0"/>
              </a:rPr>
              <a:t>- snack is $1.95, so round to $2.00</a:t>
            </a:r>
          </a:p>
          <a:p>
            <a:pPr lvl="0"/>
            <a:r>
              <a:rPr lang="en-AU" sz="1600" kern="1200">
                <a:solidFill>
                  <a:schemeClr val="tx1"/>
                </a:solidFill>
                <a:effectLst/>
                <a:latin typeface="Arial" panose="020B0604020202020204" pitchFamily="34" charset="0"/>
                <a:ea typeface="+mn-ea"/>
                <a:cs typeface="Arial" panose="020B0604020202020204" pitchFamily="34" charset="0"/>
              </a:rPr>
              <a:t>- estimated total = $8.00, therefore $20.00 is not a ‘good estimate’.</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Pose a range of addition and subtraction problems involving money.</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decide on a total that represents a ‘good estimate’ using rounding. Students swap with another pair to check and decide if the estimate was a ‘good estimate’.</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record and discuss the rounded total, the estimated answer and to explain if the estimate was a ‘good estimate’ or not.</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9.sv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32.sv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7.svg"/><Relationship Id="rId2" Type="http://schemas.openxmlformats.org/officeDocument/2006/relationships/notesSlide" Target="../notesSlides/notesSlide36.xml"/><Relationship Id="rId1" Type="http://schemas.openxmlformats.org/officeDocument/2006/relationships/slideLayout" Target="../slideLayouts/slideLayout4.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15.png"/><Relationship Id="rId7" Type="http://schemas.openxmlformats.org/officeDocument/2006/relationships/image" Target="../media/image42.sv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 Id="rId9" Type="http://schemas.openxmlformats.org/officeDocument/2006/relationships/image" Target="../media/image44.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15.png"/><Relationship Id="rId7"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39.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56.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59.sv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t>This resource aligns to the learning in </a:t>
            </a:r>
            <a:r>
              <a:rPr lang="en-AU" sz="1800">
                <a:ea typeface="+mn-lt"/>
                <a:cs typeface="+mn-lt"/>
              </a:rPr>
              <a:t>Stage 2 Year B Unit 32 </a:t>
            </a:r>
            <a:r>
              <a:rPr lang="en-AU" sz="1800"/>
              <a:t>and revisits content from earlier sample units.</a:t>
            </a:r>
            <a:r>
              <a:rPr lang="en-AU" sz="1800">
                <a:latin typeface="+mn-lt"/>
                <a:ea typeface="+mn-lt"/>
                <a:cs typeface="+mn-lt"/>
              </a:rPr>
              <a:t>.</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32</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descr="Review of learning 1">
            <a:extLst>
              <a:ext uri="{FF2B5EF4-FFF2-40B4-BE49-F238E27FC236}">
                <a16:creationId xmlns:a16="http://schemas.microsoft.com/office/drawing/2014/main" id="{1B4FCA10-C38C-7EB1-6B3D-6210A414C65B}"/>
              </a:ext>
              <a:ext uri="{C183D7F6-B498-43B3-948B-1728B52AA6E4}">
                <adec:decorative xmlns:adec="http://schemas.microsoft.com/office/drawing/2017/decorative" val="0"/>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descr="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descr="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descr="Review of learn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descr="Review of learning 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descr="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descr="Review of learning 7&#10;">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descr="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420801" y="1072264"/>
            <a:ext cx="11243037" cy="893226"/>
          </a:xfrm>
        </p:spPr>
        <p:txBody>
          <a:bodyPr/>
          <a:lstStyle/>
          <a:p>
            <a:pPr algn="ctr"/>
            <a:r>
              <a:rPr lang="en-US" sz="4000"/>
              <a:t>Which matches the </a:t>
            </a:r>
            <a:r>
              <a:rPr lang="en-US" sz="4000" b="1"/>
              <a:t>array</a:t>
            </a:r>
            <a:r>
              <a:rPr lang="en-US" sz="4000"/>
              <a:t>?</a:t>
            </a:r>
          </a:p>
        </p:txBody>
      </p:sp>
      <p:grpSp>
        <p:nvGrpSpPr>
          <p:cNvPr id="34" name="Group 33" descr="An array of blue dots with 4 rows of 6.">
            <a:extLst>
              <a:ext uri="{FF2B5EF4-FFF2-40B4-BE49-F238E27FC236}">
                <a16:creationId xmlns:a16="http://schemas.microsoft.com/office/drawing/2014/main" id="{C62B5A1B-70EC-49F9-31CA-EF9A1422B361}"/>
              </a:ext>
            </a:extLst>
          </p:cNvPr>
          <p:cNvGrpSpPr>
            <a:grpSpLocks noChangeAspect="1"/>
          </p:cNvGrpSpPr>
          <p:nvPr/>
        </p:nvGrpSpPr>
        <p:grpSpPr>
          <a:xfrm>
            <a:off x="3907128" y="2330675"/>
            <a:ext cx="3843347" cy="2416924"/>
            <a:chOff x="3776182" y="2135980"/>
            <a:chExt cx="4270386" cy="2685472"/>
          </a:xfrm>
          <a:effectLst/>
        </p:grpSpPr>
        <p:sp>
          <p:nvSpPr>
            <p:cNvPr id="5" name="Oval 4">
              <a:extLst>
                <a:ext uri="{FF2B5EF4-FFF2-40B4-BE49-F238E27FC236}">
                  <a16:creationId xmlns:a16="http://schemas.microsoft.com/office/drawing/2014/main" id="{F3D121F5-48B2-11D1-AB46-01232E6E5CB0}"/>
                </a:ext>
              </a:extLst>
            </p:cNvPr>
            <p:cNvSpPr/>
            <p:nvPr/>
          </p:nvSpPr>
          <p:spPr>
            <a:xfrm>
              <a:off x="3776182" y="213598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a:extLst>
                <a:ext uri="{FF2B5EF4-FFF2-40B4-BE49-F238E27FC236}">
                  <a16:creationId xmlns:a16="http://schemas.microsoft.com/office/drawing/2014/main" id="{0A2000D0-7284-EFA0-0661-A10263C52A6D}"/>
                </a:ext>
              </a:extLst>
            </p:cNvPr>
            <p:cNvSpPr/>
            <p:nvPr/>
          </p:nvSpPr>
          <p:spPr>
            <a:xfrm>
              <a:off x="4515436" y="213598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a:extLst>
                <a:ext uri="{FF2B5EF4-FFF2-40B4-BE49-F238E27FC236}">
                  <a16:creationId xmlns:a16="http://schemas.microsoft.com/office/drawing/2014/main" id="{8A02995E-8749-7B2B-BAFC-F6522E58B230}"/>
                </a:ext>
              </a:extLst>
            </p:cNvPr>
            <p:cNvSpPr/>
            <p:nvPr/>
          </p:nvSpPr>
          <p:spPr>
            <a:xfrm>
              <a:off x="5254690" y="2135980"/>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C1A0875B-EFC4-13F9-C8EC-71DDAFBE41EA}"/>
                </a:ext>
              </a:extLst>
            </p:cNvPr>
            <p:cNvSpPr/>
            <p:nvPr/>
          </p:nvSpPr>
          <p:spPr>
            <a:xfrm>
              <a:off x="5981206" y="213598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EECD0525-FB0C-2DB2-079E-D694291F8143}"/>
                </a:ext>
              </a:extLst>
            </p:cNvPr>
            <p:cNvSpPr/>
            <p:nvPr/>
          </p:nvSpPr>
          <p:spPr>
            <a:xfrm>
              <a:off x="6720460" y="213598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3336EB79-E527-C494-266B-FAAFAEF3FA87}"/>
                </a:ext>
              </a:extLst>
            </p:cNvPr>
            <p:cNvSpPr/>
            <p:nvPr/>
          </p:nvSpPr>
          <p:spPr>
            <a:xfrm>
              <a:off x="7459714" y="2135980"/>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7351D58B-07C2-9A95-30E4-9DE559CF08BA}"/>
                </a:ext>
              </a:extLst>
            </p:cNvPr>
            <p:cNvSpPr/>
            <p:nvPr/>
          </p:nvSpPr>
          <p:spPr>
            <a:xfrm>
              <a:off x="3776182" y="2825192"/>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2869E24E-1433-2980-DF08-0DA289ED3972}"/>
                </a:ext>
              </a:extLst>
            </p:cNvPr>
            <p:cNvSpPr/>
            <p:nvPr/>
          </p:nvSpPr>
          <p:spPr>
            <a:xfrm>
              <a:off x="4515436" y="2825192"/>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Oval 16">
              <a:extLst>
                <a:ext uri="{FF2B5EF4-FFF2-40B4-BE49-F238E27FC236}">
                  <a16:creationId xmlns:a16="http://schemas.microsoft.com/office/drawing/2014/main" id="{EDABE23A-8DFF-272E-1D06-D85097D9E632}"/>
                </a:ext>
              </a:extLst>
            </p:cNvPr>
            <p:cNvSpPr/>
            <p:nvPr/>
          </p:nvSpPr>
          <p:spPr>
            <a:xfrm>
              <a:off x="5254690" y="282519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Oval 18">
              <a:extLst>
                <a:ext uri="{FF2B5EF4-FFF2-40B4-BE49-F238E27FC236}">
                  <a16:creationId xmlns:a16="http://schemas.microsoft.com/office/drawing/2014/main" id="{C2EAE7E4-7F23-569F-CFDB-7CFCD04142DE}"/>
                </a:ext>
              </a:extLst>
            </p:cNvPr>
            <p:cNvSpPr/>
            <p:nvPr/>
          </p:nvSpPr>
          <p:spPr>
            <a:xfrm>
              <a:off x="5981206" y="2825192"/>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Oval 19">
              <a:extLst>
                <a:ext uri="{FF2B5EF4-FFF2-40B4-BE49-F238E27FC236}">
                  <a16:creationId xmlns:a16="http://schemas.microsoft.com/office/drawing/2014/main" id="{79E9225F-0BFC-0E49-9106-8E61DE6E6736}"/>
                </a:ext>
              </a:extLst>
            </p:cNvPr>
            <p:cNvSpPr/>
            <p:nvPr/>
          </p:nvSpPr>
          <p:spPr>
            <a:xfrm>
              <a:off x="6720460" y="2825192"/>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Oval 20">
              <a:extLst>
                <a:ext uri="{FF2B5EF4-FFF2-40B4-BE49-F238E27FC236}">
                  <a16:creationId xmlns:a16="http://schemas.microsoft.com/office/drawing/2014/main" id="{0523DE23-BABA-AAFA-1AC0-74EF89F32E3B}"/>
                </a:ext>
              </a:extLst>
            </p:cNvPr>
            <p:cNvSpPr/>
            <p:nvPr/>
          </p:nvSpPr>
          <p:spPr>
            <a:xfrm>
              <a:off x="7459714" y="282519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Oval 21">
              <a:extLst>
                <a:ext uri="{FF2B5EF4-FFF2-40B4-BE49-F238E27FC236}">
                  <a16:creationId xmlns:a16="http://schemas.microsoft.com/office/drawing/2014/main" id="{A80B4D8A-ADA1-BB98-AD85-B9DFC0787EC2}"/>
                </a:ext>
              </a:extLst>
            </p:cNvPr>
            <p:cNvSpPr/>
            <p:nvPr/>
          </p:nvSpPr>
          <p:spPr>
            <a:xfrm>
              <a:off x="3776182" y="3521366"/>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Oval 22">
              <a:extLst>
                <a:ext uri="{FF2B5EF4-FFF2-40B4-BE49-F238E27FC236}">
                  <a16:creationId xmlns:a16="http://schemas.microsoft.com/office/drawing/2014/main" id="{96F3CF8F-A7DD-3E66-7057-C718E604AB74}"/>
                </a:ext>
              </a:extLst>
            </p:cNvPr>
            <p:cNvSpPr/>
            <p:nvPr/>
          </p:nvSpPr>
          <p:spPr>
            <a:xfrm>
              <a:off x="4515436" y="3521366"/>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Oval 23">
              <a:extLst>
                <a:ext uri="{FF2B5EF4-FFF2-40B4-BE49-F238E27FC236}">
                  <a16:creationId xmlns:a16="http://schemas.microsoft.com/office/drawing/2014/main" id="{CD4F4F7B-318A-BCC4-F673-16189E08959A}"/>
                </a:ext>
              </a:extLst>
            </p:cNvPr>
            <p:cNvSpPr/>
            <p:nvPr/>
          </p:nvSpPr>
          <p:spPr>
            <a:xfrm>
              <a:off x="5254690" y="3521365"/>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Oval 24">
              <a:extLst>
                <a:ext uri="{FF2B5EF4-FFF2-40B4-BE49-F238E27FC236}">
                  <a16:creationId xmlns:a16="http://schemas.microsoft.com/office/drawing/2014/main" id="{381B1ED7-985A-B3B4-0C15-FD57D009638D}"/>
                </a:ext>
              </a:extLst>
            </p:cNvPr>
            <p:cNvSpPr/>
            <p:nvPr/>
          </p:nvSpPr>
          <p:spPr>
            <a:xfrm>
              <a:off x="5981206" y="3521366"/>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Oval 25">
              <a:extLst>
                <a:ext uri="{FF2B5EF4-FFF2-40B4-BE49-F238E27FC236}">
                  <a16:creationId xmlns:a16="http://schemas.microsoft.com/office/drawing/2014/main" id="{0A257B66-8DC4-C8A1-F9F0-5BBA67DC5359}"/>
                </a:ext>
              </a:extLst>
            </p:cNvPr>
            <p:cNvSpPr/>
            <p:nvPr/>
          </p:nvSpPr>
          <p:spPr>
            <a:xfrm>
              <a:off x="6720460" y="3521366"/>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Oval 26">
              <a:extLst>
                <a:ext uri="{FF2B5EF4-FFF2-40B4-BE49-F238E27FC236}">
                  <a16:creationId xmlns:a16="http://schemas.microsoft.com/office/drawing/2014/main" id="{C2CE5C97-3A5D-4AC2-F502-9A1A14D989AB}"/>
                </a:ext>
              </a:extLst>
            </p:cNvPr>
            <p:cNvSpPr/>
            <p:nvPr/>
          </p:nvSpPr>
          <p:spPr>
            <a:xfrm>
              <a:off x="7459714" y="3521365"/>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Oval 27">
              <a:extLst>
                <a:ext uri="{FF2B5EF4-FFF2-40B4-BE49-F238E27FC236}">
                  <a16:creationId xmlns:a16="http://schemas.microsoft.com/office/drawing/2014/main" id="{C7C89745-A071-CFFC-3A47-F45CB1F6B9E0}"/>
                </a:ext>
              </a:extLst>
            </p:cNvPr>
            <p:cNvSpPr/>
            <p:nvPr/>
          </p:nvSpPr>
          <p:spPr>
            <a:xfrm>
              <a:off x="3776182" y="4217539"/>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F5C41F6F-7E47-282C-A62E-273D66171D12}"/>
                </a:ext>
              </a:extLst>
            </p:cNvPr>
            <p:cNvSpPr/>
            <p:nvPr/>
          </p:nvSpPr>
          <p:spPr>
            <a:xfrm>
              <a:off x="4515436" y="4217539"/>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Oval 29">
              <a:extLst>
                <a:ext uri="{FF2B5EF4-FFF2-40B4-BE49-F238E27FC236}">
                  <a16:creationId xmlns:a16="http://schemas.microsoft.com/office/drawing/2014/main" id="{6669FFD1-1280-4D2E-7C03-4267EE391D12}"/>
                </a:ext>
              </a:extLst>
            </p:cNvPr>
            <p:cNvSpPr/>
            <p:nvPr/>
          </p:nvSpPr>
          <p:spPr>
            <a:xfrm>
              <a:off x="5254690" y="4217538"/>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Oval 30">
              <a:extLst>
                <a:ext uri="{FF2B5EF4-FFF2-40B4-BE49-F238E27FC236}">
                  <a16:creationId xmlns:a16="http://schemas.microsoft.com/office/drawing/2014/main" id="{24381BC1-CF5D-23BD-11BD-EF502B8E9A45}"/>
                </a:ext>
              </a:extLst>
            </p:cNvPr>
            <p:cNvSpPr/>
            <p:nvPr/>
          </p:nvSpPr>
          <p:spPr>
            <a:xfrm>
              <a:off x="5981206" y="4217539"/>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Oval 31">
              <a:extLst>
                <a:ext uri="{FF2B5EF4-FFF2-40B4-BE49-F238E27FC236}">
                  <a16:creationId xmlns:a16="http://schemas.microsoft.com/office/drawing/2014/main" id="{B9533FF9-8536-FC56-347F-31BCBC6B3E97}"/>
                </a:ext>
              </a:extLst>
            </p:cNvPr>
            <p:cNvSpPr/>
            <p:nvPr/>
          </p:nvSpPr>
          <p:spPr>
            <a:xfrm>
              <a:off x="6720460" y="4217539"/>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Oval 32">
              <a:extLst>
                <a:ext uri="{FF2B5EF4-FFF2-40B4-BE49-F238E27FC236}">
                  <a16:creationId xmlns:a16="http://schemas.microsoft.com/office/drawing/2014/main" id="{2CF7CD81-D445-D356-7F96-E0789FB58913}"/>
                </a:ext>
              </a:extLst>
            </p:cNvPr>
            <p:cNvSpPr/>
            <p:nvPr/>
          </p:nvSpPr>
          <p:spPr>
            <a:xfrm>
              <a:off x="7459714" y="4217538"/>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 name="TextBox 8">
            <a:extLst>
              <a:ext uri="{FF2B5EF4-FFF2-40B4-BE49-F238E27FC236}">
                <a16:creationId xmlns:a16="http://schemas.microsoft.com/office/drawing/2014/main" id="{055D882C-AF43-C390-844D-CF785253532C}"/>
              </a:ext>
            </a:extLst>
          </p:cNvPr>
          <p:cNvSpPr txBox="1"/>
          <p:nvPr/>
        </p:nvSpPr>
        <p:spPr>
          <a:xfrm>
            <a:off x="1266559" y="512152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35" name="Text Placeholder 17">
            <a:extLst>
              <a:ext uri="{FF2B5EF4-FFF2-40B4-BE49-F238E27FC236}">
                <a16:creationId xmlns:a16="http://schemas.microsoft.com/office/drawing/2014/main" id="{32286A5F-097D-48CF-6731-328A58740905}"/>
              </a:ext>
            </a:extLst>
          </p:cNvPr>
          <p:cNvSpPr txBox="1">
            <a:spLocks/>
          </p:cNvSpPr>
          <p:nvPr/>
        </p:nvSpPr>
        <p:spPr>
          <a:xfrm>
            <a:off x="49183" y="5921755"/>
            <a:ext cx="2881791"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a:t>2 x 12 = 12 x 2</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70532" y="512152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36" name="Text Placeholder 17">
            <a:extLst>
              <a:ext uri="{FF2B5EF4-FFF2-40B4-BE49-F238E27FC236}">
                <a16:creationId xmlns:a16="http://schemas.microsoft.com/office/drawing/2014/main" id="{BEB20910-BE67-6FF4-B158-8A2FCB913047}"/>
              </a:ext>
            </a:extLst>
          </p:cNvPr>
          <p:cNvSpPr txBox="1">
            <a:spLocks/>
          </p:cNvSpPr>
          <p:nvPr/>
        </p:nvSpPr>
        <p:spPr>
          <a:xfrm>
            <a:off x="3092516" y="5921755"/>
            <a:ext cx="2881791"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a:t>4 x 6 = 6 x 4</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74505" y="512152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37" name="Text Placeholder 17">
            <a:extLst>
              <a:ext uri="{FF2B5EF4-FFF2-40B4-BE49-F238E27FC236}">
                <a16:creationId xmlns:a16="http://schemas.microsoft.com/office/drawing/2014/main" id="{648CA35F-C6F9-5759-BB62-22056A29AC6A}"/>
              </a:ext>
            </a:extLst>
          </p:cNvPr>
          <p:cNvSpPr txBox="1">
            <a:spLocks/>
          </p:cNvSpPr>
          <p:nvPr/>
        </p:nvSpPr>
        <p:spPr>
          <a:xfrm>
            <a:off x="6056985" y="5921755"/>
            <a:ext cx="2881791"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a:t>2 x 6 = 6 x 2</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78479" y="512152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38" name="Text Placeholder 17">
            <a:extLst>
              <a:ext uri="{FF2B5EF4-FFF2-40B4-BE49-F238E27FC236}">
                <a16:creationId xmlns:a16="http://schemas.microsoft.com/office/drawing/2014/main" id="{11E5F9D7-BBEA-AFFF-D14D-45ACF0C0AE19}"/>
              </a:ext>
            </a:extLst>
          </p:cNvPr>
          <p:cNvSpPr txBox="1">
            <a:spLocks/>
          </p:cNvSpPr>
          <p:nvPr/>
        </p:nvSpPr>
        <p:spPr>
          <a:xfrm>
            <a:off x="9021454" y="5921755"/>
            <a:ext cx="2881791"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a:t>4 x 12 = 12 x 4</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7">
            <a:extLst>
              <a:ext uri="{FF2B5EF4-FFF2-40B4-BE49-F238E27FC236}">
                <a16:creationId xmlns:a16="http://schemas.microsoft.com/office/drawing/2014/main" id="{DBDA656B-2628-EE3D-FD94-4A9A95653BE5}"/>
              </a:ext>
            </a:extLst>
          </p:cNvPr>
          <p:cNvSpPr txBox="1">
            <a:spLocks/>
          </p:cNvSpPr>
          <p:nvPr/>
        </p:nvSpPr>
        <p:spPr>
          <a:xfrm>
            <a:off x="360000" y="1644306"/>
            <a:ext cx="512640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b="1"/>
              <a:t>Group </a:t>
            </a:r>
            <a:r>
              <a:rPr lang="en-US" sz="4000"/>
              <a:t>the quadrilaterals based on the number of </a:t>
            </a:r>
            <a:r>
              <a:rPr lang="en-US" sz="4000" b="1"/>
              <a:t>parallel sides.</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8" name="Picture 7" descr="A group of quadrilaterals.">
            <a:extLst>
              <a:ext uri="{FF2B5EF4-FFF2-40B4-BE49-F238E27FC236}">
                <a16:creationId xmlns:a16="http://schemas.microsoft.com/office/drawing/2014/main" id="{FE14601E-7713-EA4F-652F-375299248734}"/>
              </a:ext>
            </a:extLst>
          </p:cNvPr>
          <p:cNvPicPr>
            <a:picLocks noChangeAspect="1"/>
          </p:cNvPicPr>
          <p:nvPr/>
        </p:nvPicPr>
        <p:blipFill>
          <a:blip r:embed="rId4">
            <a:extLst>
              <a:ext uri="{28A0092B-C50C-407E-A947-70E740481C1C}">
                <a14:useLocalDpi xmlns:a14="http://schemas.microsoft.com/office/drawing/2010/main" val="0"/>
              </a:ext>
            </a:extLst>
          </a:blip>
          <a:srcRect l="9148" t="12069" r="10653" b="15459"/>
          <a:stretch>
            <a:fillRect/>
          </a:stretch>
        </p:blipFill>
        <p:spPr>
          <a:xfrm>
            <a:off x="5450461" y="1390403"/>
            <a:ext cx="6381539" cy="4077193"/>
          </a:xfrm>
          <a:prstGeom prst="rect">
            <a:avLst/>
          </a:prstGeom>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17">
            <a:extLst>
              <a:ext uri="{FF2B5EF4-FFF2-40B4-BE49-F238E27FC236}">
                <a16:creationId xmlns:a16="http://schemas.microsoft.com/office/drawing/2014/main" id="{7745464E-572E-EC92-1705-C970BB86E275}"/>
              </a:ext>
            </a:extLst>
          </p:cNvPr>
          <p:cNvSpPr txBox="1">
            <a:spLocks/>
          </p:cNvSpPr>
          <p:nvPr/>
        </p:nvSpPr>
        <p:spPr>
          <a:xfrm>
            <a:off x="461976" y="1240133"/>
            <a:ext cx="1148400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t>Record</a:t>
            </a:r>
            <a:r>
              <a:rPr lang="en-US" sz="4400"/>
              <a:t> the </a:t>
            </a:r>
            <a:r>
              <a:rPr lang="en-US" sz="4400" b="1"/>
              <a:t>largest</a:t>
            </a:r>
            <a:r>
              <a:rPr lang="en-US" sz="4400"/>
              <a:t> and </a:t>
            </a:r>
            <a:r>
              <a:rPr lang="en-US" sz="4400" b="1"/>
              <a:t>smallest</a:t>
            </a:r>
            <a:r>
              <a:rPr lang="en-US" sz="4400"/>
              <a:t> number you can make by </a:t>
            </a:r>
            <a:r>
              <a:rPr lang="en-US" sz="4400" b="1"/>
              <a:t>rearranging</a:t>
            </a:r>
            <a:r>
              <a:rPr lang="en-US" sz="4400"/>
              <a:t> these 6 digits:</a:t>
            </a:r>
          </a:p>
        </p:txBody>
      </p:sp>
      <p:sp>
        <p:nvSpPr>
          <p:cNvPr id="11" name="Rectangle: Rounded Corners 10">
            <a:extLst>
              <a:ext uri="{FF2B5EF4-FFF2-40B4-BE49-F238E27FC236}">
                <a16:creationId xmlns:a16="http://schemas.microsoft.com/office/drawing/2014/main" id="{A766E21F-C2BE-E319-7800-27FE6FA7115F}"/>
              </a:ext>
            </a:extLst>
          </p:cNvPr>
          <p:cNvSpPr>
            <a:spLocks noChangeAspect="1"/>
          </p:cNvSpPr>
          <p:nvPr/>
        </p:nvSpPr>
        <p:spPr>
          <a:xfrm>
            <a:off x="1548777" y="3860614"/>
            <a:ext cx="960120" cy="1310640"/>
          </a:xfrm>
          <a:prstGeom prst="roundRect">
            <a:avLst/>
          </a:prstGeom>
          <a:solidFill>
            <a:srgbClr val="FFFCFC"/>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a:solidFill>
                  <a:schemeClr val="accent1"/>
                </a:solidFill>
                <a:latin typeface="Edu NSW ACT Foundation" pitchFamily="2" charset="0"/>
              </a:rPr>
              <a:t>3</a:t>
            </a:r>
            <a:endParaRPr lang="en-AU" sz="5400">
              <a:solidFill>
                <a:schemeClr val="accent1"/>
              </a:solidFill>
              <a:latin typeface="Edu NSW ACT Foundation" pitchFamily="2" charset="0"/>
            </a:endParaRPr>
          </a:p>
        </p:txBody>
      </p:sp>
      <p:sp>
        <p:nvSpPr>
          <p:cNvPr id="12" name="Rectangle: Rounded Corners 11">
            <a:extLst>
              <a:ext uri="{FF2B5EF4-FFF2-40B4-BE49-F238E27FC236}">
                <a16:creationId xmlns:a16="http://schemas.microsoft.com/office/drawing/2014/main" id="{C6C18F9F-6485-BEA1-A13A-28B7D2F5E2B3}"/>
              </a:ext>
            </a:extLst>
          </p:cNvPr>
          <p:cNvSpPr>
            <a:spLocks noChangeAspect="1"/>
          </p:cNvSpPr>
          <p:nvPr/>
        </p:nvSpPr>
        <p:spPr>
          <a:xfrm>
            <a:off x="3271654" y="3860614"/>
            <a:ext cx="960120" cy="1310640"/>
          </a:xfrm>
          <a:prstGeom prst="roundRect">
            <a:avLst/>
          </a:prstGeom>
          <a:solidFill>
            <a:srgbClr val="FFFCFC"/>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a:solidFill>
                  <a:schemeClr val="accent1"/>
                </a:solidFill>
                <a:latin typeface="Edu NSW ACT Foundation" pitchFamily="2" charset="0"/>
              </a:rPr>
              <a:t>6</a:t>
            </a:r>
            <a:endParaRPr lang="en-AU" sz="5400">
              <a:solidFill>
                <a:schemeClr val="accent1"/>
              </a:solidFill>
              <a:latin typeface="Edu NSW ACT Foundation" pitchFamily="2" charset="0"/>
            </a:endParaRPr>
          </a:p>
        </p:txBody>
      </p:sp>
      <p:sp>
        <p:nvSpPr>
          <p:cNvPr id="13" name="Rectangle: Rounded Corners 12">
            <a:extLst>
              <a:ext uri="{FF2B5EF4-FFF2-40B4-BE49-F238E27FC236}">
                <a16:creationId xmlns:a16="http://schemas.microsoft.com/office/drawing/2014/main" id="{234824FC-4011-6685-7288-66249161D9B0}"/>
              </a:ext>
            </a:extLst>
          </p:cNvPr>
          <p:cNvSpPr>
            <a:spLocks noChangeAspect="1"/>
          </p:cNvSpPr>
          <p:nvPr/>
        </p:nvSpPr>
        <p:spPr>
          <a:xfrm>
            <a:off x="4994531" y="3860614"/>
            <a:ext cx="960120" cy="1310640"/>
          </a:xfrm>
          <a:prstGeom prst="roundRect">
            <a:avLst/>
          </a:prstGeom>
          <a:solidFill>
            <a:srgbClr val="FFFCFC"/>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a:solidFill>
                  <a:schemeClr val="accent1"/>
                </a:solidFill>
                <a:latin typeface="Edu NSW ACT Foundation" pitchFamily="2" charset="0"/>
              </a:rPr>
              <a:t>1</a:t>
            </a:r>
            <a:endParaRPr lang="en-AU" sz="5400">
              <a:solidFill>
                <a:schemeClr val="accent1"/>
              </a:solidFill>
              <a:latin typeface="Edu NSW ACT Foundation" pitchFamily="2" charset="0"/>
            </a:endParaRPr>
          </a:p>
        </p:txBody>
      </p:sp>
      <p:sp>
        <p:nvSpPr>
          <p:cNvPr id="7" name="Rectangle: Rounded Corners 6">
            <a:extLst>
              <a:ext uri="{FF2B5EF4-FFF2-40B4-BE49-F238E27FC236}">
                <a16:creationId xmlns:a16="http://schemas.microsoft.com/office/drawing/2014/main" id="{FF42F13C-5C6E-727B-6944-862164CFEAF2}"/>
              </a:ext>
            </a:extLst>
          </p:cNvPr>
          <p:cNvSpPr>
            <a:spLocks noChangeAspect="1"/>
          </p:cNvSpPr>
          <p:nvPr/>
        </p:nvSpPr>
        <p:spPr>
          <a:xfrm>
            <a:off x="6717408" y="3890037"/>
            <a:ext cx="960120" cy="1310640"/>
          </a:xfrm>
          <a:prstGeom prst="roundRect">
            <a:avLst/>
          </a:prstGeom>
          <a:solidFill>
            <a:srgbClr val="FFFCFC"/>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a:solidFill>
                  <a:schemeClr val="accent1"/>
                </a:solidFill>
                <a:latin typeface="Edu NSW ACT Foundation" pitchFamily="2" charset="0"/>
              </a:rPr>
              <a:t>8</a:t>
            </a:r>
            <a:endParaRPr lang="en-AU" sz="5400">
              <a:solidFill>
                <a:schemeClr val="accent1"/>
              </a:solidFill>
              <a:latin typeface="Edu NSW ACT Foundation" pitchFamily="2" charset="0"/>
            </a:endParaRPr>
          </a:p>
        </p:txBody>
      </p:sp>
      <p:sp>
        <p:nvSpPr>
          <p:cNvPr id="8" name="Rectangle: Rounded Corners 7">
            <a:extLst>
              <a:ext uri="{FF2B5EF4-FFF2-40B4-BE49-F238E27FC236}">
                <a16:creationId xmlns:a16="http://schemas.microsoft.com/office/drawing/2014/main" id="{A651CE67-7165-F215-93F7-E6F4C6505368}"/>
              </a:ext>
            </a:extLst>
          </p:cNvPr>
          <p:cNvSpPr>
            <a:spLocks noChangeAspect="1"/>
          </p:cNvSpPr>
          <p:nvPr/>
        </p:nvSpPr>
        <p:spPr>
          <a:xfrm>
            <a:off x="8440285" y="3890037"/>
            <a:ext cx="960120" cy="1310640"/>
          </a:xfrm>
          <a:prstGeom prst="roundRect">
            <a:avLst/>
          </a:prstGeom>
          <a:solidFill>
            <a:srgbClr val="FFFCFC"/>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a:solidFill>
                  <a:schemeClr val="accent1"/>
                </a:solidFill>
                <a:latin typeface="Edu NSW ACT Foundation" pitchFamily="2" charset="0"/>
              </a:rPr>
              <a:t>4</a:t>
            </a:r>
            <a:endParaRPr lang="en-AU" sz="5400">
              <a:solidFill>
                <a:schemeClr val="accent1"/>
              </a:solidFill>
              <a:latin typeface="Edu NSW ACT Foundation" pitchFamily="2" charset="0"/>
            </a:endParaRPr>
          </a:p>
        </p:txBody>
      </p:sp>
      <p:sp>
        <p:nvSpPr>
          <p:cNvPr id="9" name="Rectangle: Rounded Corners 8">
            <a:extLst>
              <a:ext uri="{FF2B5EF4-FFF2-40B4-BE49-F238E27FC236}">
                <a16:creationId xmlns:a16="http://schemas.microsoft.com/office/drawing/2014/main" id="{11D00A88-577D-58BE-0F84-1E4BD66372AC}"/>
              </a:ext>
            </a:extLst>
          </p:cNvPr>
          <p:cNvSpPr>
            <a:spLocks noChangeAspect="1"/>
          </p:cNvSpPr>
          <p:nvPr/>
        </p:nvSpPr>
        <p:spPr>
          <a:xfrm>
            <a:off x="10163163" y="3854926"/>
            <a:ext cx="960120" cy="1310640"/>
          </a:xfrm>
          <a:prstGeom prst="roundRect">
            <a:avLst/>
          </a:prstGeom>
          <a:solidFill>
            <a:srgbClr val="FFFCFC"/>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a:solidFill>
                  <a:schemeClr val="accent1"/>
                </a:solidFill>
                <a:latin typeface="Edu NSW ACT Foundation" pitchFamily="2" charset="0"/>
              </a:rPr>
              <a:t>0</a:t>
            </a:r>
            <a:endParaRPr lang="en-AU" sz="5400">
              <a:solidFill>
                <a:schemeClr val="accent1"/>
              </a:solidFill>
              <a:latin typeface="Edu NSW ACT Foundation" pitchFamily="2" charset="0"/>
            </a:endParaRP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5" name="TextBox 4">
            <a:extLst>
              <a:ext uri="{FF2B5EF4-FFF2-40B4-BE49-F238E27FC236}">
                <a16:creationId xmlns:a16="http://schemas.microsoft.com/office/drawing/2014/main" id="{0BB69AAB-8297-D2B8-E9F4-7AEC8768602D}"/>
              </a:ext>
            </a:extLst>
          </p:cNvPr>
          <p:cNvSpPr txBox="1"/>
          <p:nvPr/>
        </p:nvSpPr>
        <p:spPr>
          <a:xfrm>
            <a:off x="359999" y="1311473"/>
            <a:ext cx="6815497" cy="4975657"/>
          </a:xfrm>
          <a:prstGeom prst="rect">
            <a:avLst/>
          </a:prstGeom>
          <a:noFill/>
        </p:spPr>
        <p:txBody>
          <a:bodyPr wrap="square">
            <a:spAutoFit/>
          </a:bodyPr>
          <a:lstStyle/>
          <a:p>
            <a:pPr>
              <a:lnSpc>
                <a:spcPct val="150000"/>
              </a:lnSpc>
            </a:pPr>
            <a:r>
              <a:rPr lang="en-AU" sz="3600" b="1" i="0" u="none" strike="noStrike">
                <a:solidFill>
                  <a:srgbClr val="22272B"/>
                </a:solidFill>
                <a:effectLst/>
                <a:latin typeface="Arial" panose="020B0604020202020204" pitchFamily="34" charset="0"/>
              </a:rPr>
              <a:t>Use</a:t>
            </a:r>
            <a:r>
              <a:rPr lang="en-AU" sz="3600" i="0" u="none" strike="noStrike">
                <a:solidFill>
                  <a:srgbClr val="22272B"/>
                </a:solidFill>
                <a:effectLst/>
                <a:latin typeface="Arial" panose="020B0604020202020204" pitchFamily="34" charset="0"/>
              </a:rPr>
              <a:t> the </a:t>
            </a:r>
            <a:r>
              <a:rPr lang="en-AU" sz="3600" b="1" i="0" u="none" strike="noStrike">
                <a:solidFill>
                  <a:srgbClr val="22272B"/>
                </a:solidFill>
                <a:effectLst/>
                <a:latin typeface="Arial" panose="020B0604020202020204" pitchFamily="34" charset="0"/>
              </a:rPr>
              <a:t>green right-angle </a:t>
            </a:r>
            <a:r>
              <a:rPr lang="en-AU" sz="3600" i="0" u="none" strike="noStrike">
                <a:solidFill>
                  <a:srgbClr val="22272B"/>
                </a:solidFill>
                <a:effectLst/>
                <a:latin typeface="Arial" panose="020B0604020202020204" pitchFamily="34" charset="0"/>
              </a:rPr>
              <a:t>tester to work out if the angle of this pizza slice is:</a:t>
            </a:r>
          </a:p>
          <a:p>
            <a:pPr marL="742950" indent="-742950">
              <a:lnSpc>
                <a:spcPct val="150000"/>
              </a:lnSpc>
              <a:buFont typeface="+mj-lt"/>
              <a:buAutoNum type="alphaLcParenR"/>
            </a:pPr>
            <a:r>
              <a:rPr lang="en-AU" sz="3600" b="1">
                <a:solidFill>
                  <a:srgbClr val="000000"/>
                </a:solidFill>
              </a:rPr>
              <a:t>smaller than</a:t>
            </a:r>
            <a:r>
              <a:rPr lang="en-AU" sz="3600">
                <a:solidFill>
                  <a:srgbClr val="000000"/>
                </a:solidFill>
              </a:rPr>
              <a:t> a right angle,</a:t>
            </a:r>
          </a:p>
          <a:p>
            <a:pPr marL="742950" indent="-742950">
              <a:lnSpc>
                <a:spcPct val="150000"/>
              </a:lnSpc>
              <a:buFont typeface="+mj-lt"/>
              <a:buAutoNum type="alphaLcParenR"/>
            </a:pPr>
            <a:r>
              <a:rPr lang="en-AU" sz="3600" b="1">
                <a:solidFill>
                  <a:srgbClr val="000000"/>
                </a:solidFill>
              </a:rPr>
              <a:t>equal to </a:t>
            </a:r>
            <a:r>
              <a:rPr lang="en-AU" sz="3600">
                <a:solidFill>
                  <a:srgbClr val="000000"/>
                </a:solidFill>
              </a:rPr>
              <a:t>a right angle </a:t>
            </a:r>
            <a:r>
              <a:rPr lang="en-AU" sz="3600" b="1">
                <a:solidFill>
                  <a:srgbClr val="000000"/>
                </a:solidFill>
              </a:rPr>
              <a:t>or</a:t>
            </a:r>
          </a:p>
          <a:p>
            <a:pPr marL="742950" indent="-742950">
              <a:lnSpc>
                <a:spcPct val="150000"/>
              </a:lnSpc>
              <a:buFont typeface="+mj-lt"/>
              <a:buAutoNum type="alphaLcParenR"/>
            </a:pPr>
            <a:r>
              <a:rPr lang="en-AU" sz="3600" b="1">
                <a:solidFill>
                  <a:srgbClr val="000000"/>
                </a:solidFill>
              </a:rPr>
              <a:t>larger than </a:t>
            </a:r>
            <a:r>
              <a:rPr lang="en-AU" sz="3600">
                <a:solidFill>
                  <a:srgbClr val="000000"/>
                </a:solidFill>
              </a:rPr>
              <a:t>a right angle.</a:t>
            </a:r>
          </a:p>
        </p:txBody>
      </p:sp>
      <p:grpSp>
        <p:nvGrpSpPr>
          <p:cNvPr id="30" name="Group 29" descr="A green right angle with a pizza slice">
            <a:extLst>
              <a:ext uri="{FF2B5EF4-FFF2-40B4-BE49-F238E27FC236}">
                <a16:creationId xmlns:a16="http://schemas.microsoft.com/office/drawing/2014/main" id="{6E9ABE43-9C7F-2C0B-9AD1-4BD5D9ECE0EE}"/>
              </a:ext>
            </a:extLst>
          </p:cNvPr>
          <p:cNvGrpSpPr/>
          <p:nvPr/>
        </p:nvGrpSpPr>
        <p:grpSpPr>
          <a:xfrm>
            <a:off x="7676661" y="2131633"/>
            <a:ext cx="2596193" cy="3076848"/>
            <a:chOff x="4056698" y="1720856"/>
            <a:chExt cx="2149826" cy="2622294"/>
          </a:xfrm>
        </p:grpSpPr>
        <p:pic>
          <p:nvPicPr>
            <p:cNvPr id="29" name="Picture 28">
              <a:extLst>
                <a:ext uri="{FF2B5EF4-FFF2-40B4-BE49-F238E27FC236}">
                  <a16:creationId xmlns:a16="http://schemas.microsoft.com/office/drawing/2014/main" id="{E0A4FBCD-272B-B6EF-66E0-2FC19A9A96B0}"/>
                </a:ext>
              </a:extLst>
            </p:cNvPr>
            <p:cNvPicPr>
              <a:picLocks noChangeAspect="1"/>
            </p:cNvPicPr>
            <p:nvPr/>
          </p:nvPicPr>
          <p:blipFill>
            <a:blip r:embed="rId4"/>
            <a:stretch>
              <a:fillRect/>
            </a:stretch>
          </p:blipFill>
          <p:spPr>
            <a:xfrm rot="20224477">
              <a:off x="4056698" y="1720856"/>
              <a:ext cx="2149826" cy="2281448"/>
            </a:xfrm>
            <a:prstGeom prst="rect">
              <a:avLst/>
            </a:prstGeom>
          </p:spPr>
        </p:pic>
        <p:grpSp>
          <p:nvGrpSpPr>
            <p:cNvPr id="21" name="Group 20">
              <a:extLst>
                <a:ext uri="{FF2B5EF4-FFF2-40B4-BE49-F238E27FC236}">
                  <a16:creationId xmlns:a16="http://schemas.microsoft.com/office/drawing/2014/main" id="{6E9916FE-C52C-00D6-B2F1-CF9FC6943396}"/>
                </a:ext>
              </a:extLst>
            </p:cNvPr>
            <p:cNvGrpSpPr/>
            <p:nvPr/>
          </p:nvGrpSpPr>
          <p:grpSpPr>
            <a:xfrm>
              <a:off x="4351670" y="2391654"/>
              <a:ext cx="1559883" cy="1951496"/>
              <a:chOff x="2888974" y="2544417"/>
              <a:chExt cx="1559883" cy="1524000"/>
            </a:xfrm>
          </p:grpSpPr>
          <p:cxnSp>
            <p:nvCxnSpPr>
              <p:cNvPr id="17" name="Straight Arrow Connector 16">
                <a:extLst>
                  <a:ext uri="{FF2B5EF4-FFF2-40B4-BE49-F238E27FC236}">
                    <a16:creationId xmlns:a16="http://schemas.microsoft.com/office/drawing/2014/main" id="{2B502767-5EB9-0188-E2F0-D199E7189B20}"/>
                  </a:ext>
                </a:extLst>
              </p:cNvPr>
              <p:cNvCxnSpPr>
                <a:cxnSpLocks/>
              </p:cNvCxnSpPr>
              <p:nvPr/>
            </p:nvCxnSpPr>
            <p:spPr>
              <a:xfrm flipV="1">
                <a:off x="2902226" y="2544417"/>
                <a:ext cx="0" cy="152400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C9C9BB4-4A0F-3BD0-0EE9-A398A509AE00}"/>
                  </a:ext>
                </a:extLst>
              </p:cNvPr>
              <p:cNvCxnSpPr>
                <a:cxnSpLocks/>
              </p:cNvCxnSpPr>
              <p:nvPr/>
            </p:nvCxnSpPr>
            <p:spPr>
              <a:xfrm>
                <a:off x="2888974" y="4055165"/>
                <a:ext cx="1559883"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 uri="{C183D7F6-B498-43B3-948B-1728B52AA6E4}">
                <adec:decorative xmlns:adec="http://schemas.microsoft.com/office/drawing/2017/decorative" val="0"/>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1C91FD1-7160-3CC3-7811-D6E0FE86FB5F}"/>
              </a:ext>
              <a:ext uri="{C183D7F6-B498-43B3-948B-1728B52AA6E4}">
                <adec:decorative xmlns:adec="http://schemas.microsoft.com/office/drawing/2017/decorative" val="0"/>
              </a:ext>
            </a:extLst>
          </p:cNvPr>
          <p:cNvSpPr txBox="1"/>
          <p:nvPr/>
        </p:nvSpPr>
        <p:spPr>
          <a:xfrm>
            <a:off x="359999" y="923601"/>
            <a:ext cx="11310695" cy="820674"/>
          </a:xfrm>
          <a:prstGeom prst="rect">
            <a:avLst/>
          </a:prstGeom>
          <a:noFill/>
        </p:spPr>
        <p:txBody>
          <a:bodyPr wrap="square">
            <a:spAutoFit/>
          </a:bodyPr>
          <a:lstStyle/>
          <a:p>
            <a:pPr algn="ctr">
              <a:lnSpc>
                <a:spcPct val="150000"/>
              </a:lnSpc>
            </a:pPr>
            <a:r>
              <a:rPr lang="en-AU" sz="3600">
                <a:solidFill>
                  <a:srgbClr val="22272B"/>
                </a:solidFill>
                <a:latin typeface="Arial" panose="020B0604020202020204" pitchFamily="34" charset="0"/>
              </a:rPr>
              <a:t>Which of these objects are best </a:t>
            </a:r>
            <a:r>
              <a:rPr lang="en-AU" sz="3600" b="1">
                <a:solidFill>
                  <a:srgbClr val="22272B"/>
                </a:solidFill>
                <a:latin typeface="Arial" panose="020B0604020202020204" pitchFamily="34" charset="0"/>
              </a:rPr>
              <a:t>measured in grams</a:t>
            </a:r>
            <a:r>
              <a:rPr lang="en-AU" sz="3600">
                <a:solidFill>
                  <a:srgbClr val="22272B"/>
                </a:solidFill>
                <a:latin typeface="Arial" panose="020B0604020202020204" pitchFamily="34" charset="0"/>
              </a:rPr>
              <a:t>?</a:t>
            </a:r>
            <a:endParaRPr lang="en-AU" sz="3600" b="0" i="0" u="none" strike="noStrike">
              <a:solidFill>
                <a:srgbClr val="22272B"/>
              </a:solidFill>
              <a:effectLst/>
              <a:latin typeface="Arial" panose="020B0604020202020204" pitchFamily="34" charset="0"/>
            </a:endParaRPr>
          </a:p>
        </p:txBody>
      </p:sp>
      <p:grpSp>
        <p:nvGrpSpPr>
          <p:cNvPr id="18" name="Group 17" descr="An image of a pencil, water bottle. bus. book and packet of chips">
            <a:extLst>
              <a:ext uri="{FF2B5EF4-FFF2-40B4-BE49-F238E27FC236}">
                <a16:creationId xmlns:a16="http://schemas.microsoft.com/office/drawing/2014/main" id="{27F30713-B342-1FCC-7EB8-36C0F460475D}"/>
              </a:ext>
            </a:extLst>
          </p:cNvPr>
          <p:cNvGrpSpPr/>
          <p:nvPr/>
        </p:nvGrpSpPr>
        <p:grpSpPr>
          <a:xfrm>
            <a:off x="106774" y="2324260"/>
            <a:ext cx="12008727" cy="2481279"/>
            <a:chOff x="106774" y="2324260"/>
            <a:chExt cx="12008727" cy="2481279"/>
          </a:xfrm>
        </p:grpSpPr>
        <p:sp>
          <p:nvSpPr>
            <p:cNvPr id="7" name="Freeform 2">
              <a:extLst>
                <a:ext uri="{FF2B5EF4-FFF2-40B4-BE49-F238E27FC236}">
                  <a16:creationId xmlns:a16="http://schemas.microsoft.com/office/drawing/2014/main" id="{207725E4-1115-55DA-56FD-E019914B5EF1}"/>
                </a:ext>
              </a:extLst>
            </p:cNvPr>
            <p:cNvSpPr>
              <a:spLocks noChangeAspect="1"/>
            </p:cNvSpPr>
            <p:nvPr/>
          </p:nvSpPr>
          <p:spPr>
            <a:xfrm>
              <a:off x="440702" y="2700564"/>
              <a:ext cx="1196783" cy="1498319"/>
            </a:xfrm>
            <a:custGeom>
              <a:avLst/>
              <a:gdLst/>
              <a:ahLst/>
              <a:cxnLst/>
              <a:rect l="l" t="t" r="r" b="b"/>
              <a:pathLst>
                <a:path w="1352228" h="1692930">
                  <a:moveTo>
                    <a:pt x="0" y="0"/>
                  </a:moveTo>
                  <a:lnTo>
                    <a:pt x="1352228" y="0"/>
                  </a:lnTo>
                  <a:lnTo>
                    <a:pt x="1352228" y="1692930"/>
                  </a:lnTo>
                  <a:lnTo>
                    <a:pt x="0" y="169293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8" name="Freeform 3">
              <a:extLst>
                <a:ext uri="{FF2B5EF4-FFF2-40B4-BE49-F238E27FC236}">
                  <a16:creationId xmlns:a16="http://schemas.microsoft.com/office/drawing/2014/main" id="{378AE4FD-ABF3-53B2-F4ED-84CB5D502B71}"/>
                </a:ext>
              </a:extLst>
            </p:cNvPr>
            <p:cNvSpPr>
              <a:spLocks noChangeAspect="1"/>
            </p:cNvSpPr>
            <p:nvPr/>
          </p:nvSpPr>
          <p:spPr>
            <a:xfrm>
              <a:off x="1893705" y="2460333"/>
              <a:ext cx="1540553" cy="1856088"/>
            </a:xfrm>
            <a:custGeom>
              <a:avLst/>
              <a:gdLst/>
              <a:ahLst/>
              <a:cxnLst/>
              <a:rect l="l" t="t" r="r" b="b"/>
              <a:pathLst>
                <a:path w="2175969" h="2621649">
                  <a:moveTo>
                    <a:pt x="0" y="0"/>
                  </a:moveTo>
                  <a:lnTo>
                    <a:pt x="2175968" y="0"/>
                  </a:lnTo>
                  <a:lnTo>
                    <a:pt x="2175968" y="2621650"/>
                  </a:lnTo>
                  <a:lnTo>
                    <a:pt x="0" y="2621650"/>
                  </a:lnTo>
                  <a:lnTo>
                    <a:pt x="0" y="0"/>
                  </a:lnTo>
                  <a:close/>
                </a:path>
              </a:pathLst>
            </a:custGeom>
            <a:blipFill>
              <a:blip r:embed="rId5"/>
              <a:stretch>
                <a:fillRect/>
              </a:stretch>
            </a:blipFill>
          </p:spPr>
          <p:txBody>
            <a:bodyPr/>
            <a:lstStyle/>
            <a:p>
              <a:endParaRPr lang="en-AU"/>
            </a:p>
          </p:txBody>
        </p:sp>
        <p:sp>
          <p:nvSpPr>
            <p:cNvPr id="10" name="Freeform 4">
              <a:extLst>
                <a:ext uri="{FF2B5EF4-FFF2-40B4-BE49-F238E27FC236}">
                  <a16:creationId xmlns:a16="http://schemas.microsoft.com/office/drawing/2014/main" id="{EFC6FD84-FF07-1855-4BC8-B70075EEF044}"/>
                </a:ext>
              </a:extLst>
            </p:cNvPr>
            <p:cNvSpPr>
              <a:spLocks noChangeAspect="1"/>
            </p:cNvSpPr>
            <p:nvPr/>
          </p:nvSpPr>
          <p:spPr>
            <a:xfrm>
              <a:off x="3941459" y="2566529"/>
              <a:ext cx="3081106" cy="1679204"/>
            </a:xfrm>
            <a:custGeom>
              <a:avLst/>
              <a:gdLst/>
              <a:ahLst/>
              <a:cxnLst/>
              <a:rect l="l" t="t" r="r" b="b"/>
              <a:pathLst>
                <a:path w="3405665" h="1856088">
                  <a:moveTo>
                    <a:pt x="0" y="0"/>
                  </a:moveTo>
                  <a:lnTo>
                    <a:pt x="3405665" y="0"/>
                  </a:lnTo>
                  <a:lnTo>
                    <a:pt x="3405665" y="1856088"/>
                  </a:lnTo>
                  <a:lnTo>
                    <a:pt x="0" y="1856088"/>
                  </a:lnTo>
                  <a:lnTo>
                    <a:pt x="0" y="0"/>
                  </a:lnTo>
                  <a:close/>
                </a:path>
              </a:pathLst>
            </a:custGeom>
            <a:blipFill>
              <a:blip r:embed="rId6"/>
              <a:stretch>
                <a:fillRect/>
              </a:stretch>
            </a:blipFill>
          </p:spPr>
          <p:txBody>
            <a:bodyPr/>
            <a:lstStyle/>
            <a:p>
              <a:endParaRPr lang="en-AU"/>
            </a:p>
          </p:txBody>
        </p:sp>
        <p:sp>
          <p:nvSpPr>
            <p:cNvPr id="11" name="TextBox 7">
              <a:extLst>
                <a:ext uri="{FF2B5EF4-FFF2-40B4-BE49-F238E27FC236}">
                  <a16:creationId xmlns:a16="http://schemas.microsoft.com/office/drawing/2014/main" id="{F3857F0B-B8F8-8C20-D77A-4E10DDB4CD3A}"/>
                </a:ext>
              </a:extLst>
            </p:cNvPr>
            <p:cNvSpPr txBox="1"/>
            <p:nvPr/>
          </p:nvSpPr>
          <p:spPr>
            <a:xfrm>
              <a:off x="106774" y="4302709"/>
              <a:ext cx="1186557" cy="502830"/>
            </a:xfrm>
            <a:prstGeom prst="rect">
              <a:avLst/>
            </a:prstGeom>
          </p:spPr>
          <p:txBody>
            <a:bodyPr lIns="0" tIns="0" rIns="0" bIns="0" rtlCol="0" anchor="t">
              <a:spAutoFit/>
            </a:bodyPr>
            <a:lstStyle/>
            <a:p>
              <a:pPr algn="ctr">
                <a:lnSpc>
                  <a:spcPts val="4480"/>
                </a:lnSpc>
              </a:pPr>
              <a:r>
                <a:rPr lang="en-US" sz="2000" b="1">
                  <a:solidFill>
                    <a:srgbClr val="000000"/>
                  </a:solidFill>
                  <a:ea typeface="Public Sans Bold"/>
                  <a:cs typeface="Public Sans Bold"/>
                  <a:sym typeface="Public Sans Bold"/>
                </a:rPr>
                <a:t>pencil</a:t>
              </a:r>
              <a:endParaRPr lang="en-US" sz="2800" b="1">
                <a:solidFill>
                  <a:srgbClr val="000000"/>
                </a:solidFill>
                <a:ea typeface="Public Sans Bold"/>
                <a:cs typeface="Public Sans Bold"/>
                <a:sym typeface="Public Sans Bold"/>
              </a:endParaRPr>
            </a:p>
          </p:txBody>
        </p:sp>
        <p:sp>
          <p:nvSpPr>
            <p:cNvPr id="12" name="TextBox 8">
              <a:extLst>
                <a:ext uri="{FF2B5EF4-FFF2-40B4-BE49-F238E27FC236}">
                  <a16:creationId xmlns:a16="http://schemas.microsoft.com/office/drawing/2014/main" id="{775FECC6-DCA3-79D1-0989-CE3C54253BD9}"/>
                </a:ext>
              </a:extLst>
            </p:cNvPr>
            <p:cNvSpPr txBox="1"/>
            <p:nvPr/>
          </p:nvSpPr>
          <p:spPr>
            <a:xfrm>
              <a:off x="1386504" y="4302709"/>
              <a:ext cx="2776467" cy="491225"/>
            </a:xfrm>
            <a:prstGeom prst="rect">
              <a:avLst/>
            </a:prstGeom>
          </p:spPr>
          <p:txBody>
            <a:bodyPr lIns="0" tIns="0" rIns="0" bIns="0" rtlCol="0" anchor="t">
              <a:spAutoFit/>
            </a:bodyPr>
            <a:lstStyle/>
            <a:p>
              <a:pPr algn="ctr">
                <a:lnSpc>
                  <a:spcPts val="4480"/>
                </a:lnSpc>
              </a:pPr>
              <a:r>
                <a:rPr lang="en-US" sz="2000" b="1">
                  <a:solidFill>
                    <a:srgbClr val="000000"/>
                  </a:solidFill>
                  <a:ea typeface="Public Sans Bold"/>
                  <a:cs typeface="Public Sans Bold"/>
                  <a:sym typeface="Public Sans Bold"/>
                </a:rPr>
                <a:t>water bottle</a:t>
              </a:r>
            </a:p>
          </p:txBody>
        </p:sp>
        <p:sp>
          <p:nvSpPr>
            <p:cNvPr id="13" name="TextBox 9">
              <a:extLst>
                <a:ext uri="{FF2B5EF4-FFF2-40B4-BE49-F238E27FC236}">
                  <a16:creationId xmlns:a16="http://schemas.microsoft.com/office/drawing/2014/main" id="{D2AD03CE-632D-03A6-7E8A-781915EC4337}"/>
                </a:ext>
              </a:extLst>
            </p:cNvPr>
            <p:cNvSpPr txBox="1"/>
            <p:nvPr/>
          </p:nvSpPr>
          <p:spPr>
            <a:xfrm>
              <a:off x="3911640" y="4287901"/>
              <a:ext cx="2776467" cy="491225"/>
            </a:xfrm>
            <a:prstGeom prst="rect">
              <a:avLst/>
            </a:prstGeom>
          </p:spPr>
          <p:txBody>
            <a:bodyPr lIns="0" tIns="0" rIns="0" bIns="0" rtlCol="0" anchor="t">
              <a:spAutoFit/>
            </a:bodyPr>
            <a:lstStyle/>
            <a:p>
              <a:pPr algn="ctr">
                <a:lnSpc>
                  <a:spcPts val="4480"/>
                </a:lnSpc>
              </a:pPr>
              <a:r>
                <a:rPr lang="en-US" sz="2000" b="1">
                  <a:solidFill>
                    <a:srgbClr val="000000"/>
                  </a:solidFill>
                  <a:ea typeface="Public Sans Bold"/>
                  <a:cs typeface="Public Sans Bold"/>
                  <a:sym typeface="Public Sans Bold"/>
                </a:rPr>
                <a:t>bus</a:t>
              </a:r>
              <a:endParaRPr lang="en-US" sz="2800" b="1">
                <a:solidFill>
                  <a:srgbClr val="000000"/>
                </a:solidFill>
                <a:ea typeface="Public Sans Bold"/>
                <a:cs typeface="Public Sans Bold"/>
                <a:sym typeface="Public Sans Bold"/>
              </a:endParaRPr>
            </a:p>
          </p:txBody>
        </p:sp>
        <p:sp>
          <p:nvSpPr>
            <p:cNvPr id="14" name="Freeform 5">
              <a:extLst>
                <a:ext uri="{FF2B5EF4-FFF2-40B4-BE49-F238E27FC236}">
                  <a16:creationId xmlns:a16="http://schemas.microsoft.com/office/drawing/2014/main" id="{78A0385F-D6BD-D522-37CF-01710C52E66B}"/>
                </a:ext>
              </a:extLst>
            </p:cNvPr>
            <p:cNvSpPr>
              <a:spLocks noChangeAspect="1"/>
            </p:cNvSpPr>
            <p:nvPr/>
          </p:nvSpPr>
          <p:spPr>
            <a:xfrm>
              <a:off x="10004815" y="2522254"/>
              <a:ext cx="1665880" cy="1670055"/>
            </a:xfrm>
            <a:custGeom>
              <a:avLst/>
              <a:gdLst/>
              <a:ahLst/>
              <a:cxnLst/>
              <a:rect l="l" t="t" r="r" b="b"/>
              <a:pathLst>
                <a:path w="2319995" h="2325810">
                  <a:moveTo>
                    <a:pt x="0" y="0"/>
                  </a:moveTo>
                  <a:lnTo>
                    <a:pt x="2319996" y="0"/>
                  </a:lnTo>
                  <a:lnTo>
                    <a:pt x="2319996" y="2325809"/>
                  </a:lnTo>
                  <a:lnTo>
                    <a:pt x="0" y="2325809"/>
                  </a:lnTo>
                  <a:lnTo>
                    <a:pt x="0" y="0"/>
                  </a:lnTo>
                  <a:close/>
                </a:path>
              </a:pathLst>
            </a:custGeom>
            <a:blipFill>
              <a:blip r:embed="rId7"/>
              <a:stretch>
                <a:fillRect/>
              </a:stretch>
            </a:blipFill>
          </p:spPr>
          <p:txBody>
            <a:bodyPr/>
            <a:lstStyle/>
            <a:p>
              <a:endParaRPr lang="en-AU"/>
            </a:p>
          </p:txBody>
        </p:sp>
        <p:sp>
          <p:nvSpPr>
            <p:cNvPr id="15" name="Freeform 6">
              <a:extLst>
                <a:ext uri="{FF2B5EF4-FFF2-40B4-BE49-F238E27FC236}">
                  <a16:creationId xmlns:a16="http://schemas.microsoft.com/office/drawing/2014/main" id="{C0461E08-1C7A-DB66-12CA-D504B36D7D72}"/>
                </a:ext>
              </a:extLst>
            </p:cNvPr>
            <p:cNvSpPr>
              <a:spLocks noChangeAspect="1"/>
            </p:cNvSpPr>
            <p:nvPr/>
          </p:nvSpPr>
          <p:spPr>
            <a:xfrm>
              <a:off x="7622939" y="2324260"/>
              <a:ext cx="1535773" cy="1978449"/>
            </a:xfrm>
            <a:custGeom>
              <a:avLst/>
              <a:gdLst/>
              <a:ahLst/>
              <a:cxnLst/>
              <a:rect l="l" t="t" r="r" b="b"/>
              <a:pathLst>
                <a:path w="2113407" h="2722586">
                  <a:moveTo>
                    <a:pt x="0" y="0"/>
                  </a:moveTo>
                  <a:lnTo>
                    <a:pt x="2113407" y="0"/>
                  </a:lnTo>
                  <a:lnTo>
                    <a:pt x="2113407" y="2722586"/>
                  </a:lnTo>
                  <a:lnTo>
                    <a:pt x="0" y="2722586"/>
                  </a:lnTo>
                  <a:lnTo>
                    <a:pt x="0" y="0"/>
                  </a:lnTo>
                  <a:close/>
                </a:path>
              </a:pathLst>
            </a:custGeom>
            <a:blipFill>
              <a:blip r:embed="rId8"/>
              <a:stretch>
                <a:fillRect/>
              </a:stretch>
            </a:blipFill>
          </p:spPr>
          <p:txBody>
            <a:bodyPr/>
            <a:lstStyle/>
            <a:p>
              <a:endParaRPr lang="en-AU"/>
            </a:p>
          </p:txBody>
        </p:sp>
        <p:sp>
          <p:nvSpPr>
            <p:cNvPr id="16" name="TextBox 10">
              <a:extLst>
                <a:ext uri="{FF2B5EF4-FFF2-40B4-BE49-F238E27FC236}">
                  <a16:creationId xmlns:a16="http://schemas.microsoft.com/office/drawing/2014/main" id="{4E06F3E3-F36B-2903-D711-19038A60C61A}"/>
                </a:ext>
              </a:extLst>
            </p:cNvPr>
            <p:cNvSpPr txBox="1"/>
            <p:nvPr/>
          </p:nvSpPr>
          <p:spPr>
            <a:xfrm>
              <a:off x="9339034" y="4302196"/>
              <a:ext cx="2776467" cy="491738"/>
            </a:xfrm>
            <a:prstGeom prst="rect">
              <a:avLst/>
            </a:prstGeom>
          </p:spPr>
          <p:txBody>
            <a:bodyPr lIns="0" tIns="0" rIns="0" bIns="0" rtlCol="0" anchor="t">
              <a:spAutoFit/>
            </a:bodyPr>
            <a:lstStyle/>
            <a:p>
              <a:pPr algn="ctr">
                <a:lnSpc>
                  <a:spcPts val="4480"/>
                </a:lnSpc>
              </a:pPr>
              <a:r>
                <a:rPr lang="en-US" sz="2000" b="1">
                  <a:solidFill>
                    <a:srgbClr val="000000"/>
                  </a:solidFill>
                  <a:ea typeface="Public Sans Bold"/>
                  <a:cs typeface="Public Sans Bold"/>
                  <a:sym typeface="Public Sans Bold"/>
                </a:rPr>
                <a:t>chips</a:t>
              </a:r>
              <a:endParaRPr lang="en-US" sz="3200" b="1">
                <a:solidFill>
                  <a:srgbClr val="000000"/>
                </a:solidFill>
                <a:ea typeface="Public Sans Bold"/>
                <a:cs typeface="Public Sans Bold"/>
                <a:sym typeface="Public Sans Bold"/>
              </a:endParaRPr>
            </a:p>
          </p:txBody>
        </p:sp>
        <p:sp>
          <p:nvSpPr>
            <p:cNvPr id="17" name="TextBox 11">
              <a:extLst>
                <a:ext uri="{FF2B5EF4-FFF2-40B4-BE49-F238E27FC236}">
                  <a16:creationId xmlns:a16="http://schemas.microsoft.com/office/drawing/2014/main" id="{573791C3-8DFE-595C-3D27-48A54E46602A}"/>
                </a:ext>
              </a:extLst>
            </p:cNvPr>
            <p:cNvSpPr txBox="1"/>
            <p:nvPr/>
          </p:nvSpPr>
          <p:spPr>
            <a:xfrm>
              <a:off x="6868429" y="4280581"/>
              <a:ext cx="2776467" cy="491225"/>
            </a:xfrm>
            <a:prstGeom prst="rect">
              <a:avLst/>
            </a:prstGeom>
          </p:spPr>
          <p:txBody>
            <a:bodyPr lIns="0" tIns="0" rIns="0" bIns="0" rtlCol="0" anchor="t">
              <a:spAutoFit/>
            </a:bodyPr>
            <a:lstStyle/>
            <a:p>
              <a:pPr algn="ctr">
                <a:lnSpc>
                  <a:spcPts val="4480"/>
                </a:lnSpc>
              </a:pPr>
              <a:r>
                <a:rPr lang="en-US" sz="2000" b="1">
                  <a:solidFill>
                    <a:srgbClr val="000000"/>
                  </a:solidFill>
                  <a:ea typeface="Public Sans Bold"/>
                  <a:cs typeface="Public Sans Bold"/>
                  <a:sym typeface="Public Sans Bold"/>
                </a:rPr>
                <a:t>book</a:t>
              </a:r>
              <a:endParaRPr lang="en-US" sz="2800" b="1">
                <a:solidFill>
                  <a:srgbClr val="000000"/>
                </a:solidFill>
                <a:ea typeface="Public Sans Bold"/>
                <a:cs typeface="Public Sans Bold"/>
                <a:sym typeface="Public Sans Bold"/>
              </a:endParaRPr>
            </a:p>
          </p:txBody>
        </p:sp>
      </p:grpSp>
      <p:sp>
        <p:nvSpPr>
          <p:cNvPr id="5" name="TextBox 10">
            <a:extLst>
              <a:ext uri="{FF2B5EF4-FFF2-40B4-BE49-F238E27FC236}">
                <a16:creationId xmlns:a16="http://schemas.microsoft.com/office/drawing/2014/main" id="{E61B6622-F63F-963E-58C4-05CAF2800DAC}"/>
              </a:ext>
              <a:ext uri="{C183D7F6-B498-43B3-948B-1728B52AA6E4}">
                <adec:decorative xmlns:adec="http://schemas.microsoft.com/office/drawing/2017/decorative" val="0"/>
              </a:ext>
            </a:extLst>
          </p:cNvPr>
          <p:cNvSpPr txBox="1"/>
          <p:nvPr/>
        </p:nvSpPr>
        <p:spPr>
          <a:xfrm>
            <a:off x="360000" y="5677326"/>
            <a:ext cx="11585976" cy="820674"/>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3600" b="1">
                <a:latin typeface="Arial"/>
                <a:cs typeface="Arial"/>
              </a:rPr>
              <a:t>Communicate </a:t>
            </a:r>
            <a:r>
              <a:rPr lang="en-AU" sz="3600">
                <a:latin typeface="Arial"/>
                <a:cs typeface="Arial"/>
              </a:rPr>
              <a:t>your</a:t>
            </a:r>
            <a:r>
              <a:rPr lang="en-AU" sz="3600" b="1">
                <a:latin typeface="Arial"/>
                <a:cs typeface="Arial"/>
              </a:rPr>
              <a:t> reasoning.</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commutative property</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ext Placeholder 5">
            <a:extLst>
              <a:ext uri="{FF2B5EF4-FFF2-40B4-BE49-F238E27FC236}">
                <a16:creationId xmlns:a16="http://schemas.microsoft.com/office/drawing/2014/main" id="{9A0F3043-FA8D-2E8A-4162-8BE8D1D6E4F1}"/>
              </a:ext>
            </a:extLst>
          </p:cNvPr>
          <p:cNvSpPr txBox="1">
            <a:spLocks/>
          </p:cNvSpPr>
          <p:nvPr/>
        </p:nvSpPr>
        <p:spPr>
          <a:xfrm>
            <a:off x="223966" y="1235474"/>
            <a:ext cx="11243037" cy="8932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a:t>Can you </a:t>
            </a:r>
            <a:r>
              <a:rPr lang="en-AU" sz="4000" b="1"/>
              <a:t>make an array </a:t>
            </a:r>
            <a:r>
              <a:rPr lang="en-AU" sz="4000"/>
              <a:t>using the numbers rolled from 2 ten-sided dice?</a:t>
            </a:r>
          </a:p>
        </p:txBody>
      </p:sp>
      <p:pic>
        <p:nvPicPr>
          <p:cNvPr id="25" name="Picture 24" descr="An image of 2 six sided dice and an array of green dots with 2 rows of 6.">
            <a:extLst>
              <a:ext uri="{FF2B5EF4-FFF2-40B4-BE49-F238E27FC236}">
                <a16:creationId xmlns:a16="http://schemas.microsoft.com/office/drawing/2014/main" id="{9E0C5144-B30C-89E8-438D-364A0FAB3066}"/>
              </a:ext>
            </a:extLst>
          </p:cNvPr>
          <p:cNvPicPr>
            <a:picLocks noChangeAspect="1"/>
          </p:cNvPicPr>
          <p:nvPr/>
        </p:nvPicPr>
        <p:blipFill>
          <a:blip r:embed="rId4">
            <a:extLst>
              <a:ext uri="{28A0092B-C50C-407E-A947-70E740481C1C}">
                <a14:useLocalDpi xmlns:a14="http://schemas.microsoft.com/office/drawing/2010/main" val="0"/>
              </a:ext>
            </a:extLst>
          </a:blip>
          <a:srcRect l="17264" r="5679" b="65572"/>
          <a:stretch>
            <a:fillRect/>
          </a:stretch>
        </p:blipFill>
        <p:spPr>
          <a:xfrm>
            <a:off x="2278940" y="3429000"/>
            <a:ext cx="7474731" cy="2361063"/>
          </a:xfrm>
          <a:prstGeom prst="rect">
            <a:avLst/>
          </a:prstGeom>
          <a:effectLst/>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1" y="1082423"/>
            <a:ext cx="11243037" cy="893226"/>
          </a:xfrm>
        </p:spPr>
        <p:txBody>
          <a:bodyPr/>
          <a:lstStyle/>
          <a:p>
            <a:pPr algn="ctr"/>
            <a:r>
              <a:rPr lang="en-AU" sz="3600"/>
              <a:t>The </a:t>
            </a:r>
            <a:r>
              <a:rPr lang="en-AU" sz="3600" b="1"/>
              <a:t>related multiplication </a:t>
            </a:r>
            <a:r>
              <a:rPr lang="en-AU" sz="3600"/>
              <a:t>and</a:t>
            </a:r>
            <a:r>
              <a:rPr lang="en-AU" sz="3600" b="1"/>
              <a:t> division </a:t>
            </a:r>
            <a:r>
              <a:rPr lang="en-AU" sz="3600"/>
              <a:t>facts</a:t>
            </a:r>
            <a:r>
              <a:rPr lang="en-AU" sz="3600" b="1"/>
              <a:t> </a:t>
            </a:r>
            <a:r>
              <a:rPr lang="en-AU" sz="3600"/>
              <a:t>for the </a:t>
            </a:r>
            <a:r>
              <a:rPr lang="en-AU" sz="3600" b="1"/>
              <a:t>array</a:t>
            </a:r>
            <a:r>
              <a:rPr lang="en-AU" sz="3600"/>
              <a:t> are: </a:t>
            </a:r>
          </a:p>
        </p:txBody>
      </p:sp>
      <p:grpSp>
        <p:nvGrpSpPr>
          <p:cNvPr id="7" name="Group 6" descr="An array of blue dots with 4 rows of 6.">
            <a:extLst>
              <a:ext uri="{FF2B5EF4-FFF2-40B4-BE49-F238E27FC236}">
                <a16:creationId xmlns:a16="http://schemas.microsoft.com/office/drawing/2014/main" id="{4522406B-2579-6A9B-ECB8-FFB1161A0A7C}"/>
              </a:ext>
            </a:extLst>
          </p:cNvPr>
          <p:cNvGrpSpPr>
            <a:grpSpLocks noChangeAspect="1"/>
          </p:cNvGrpSpPr>
          <p:nvPr/>
        </p:nvGrpSpPr>
        <p:grpSpPr>
          <a:xfrm>
            <a:off x="969660" y="2727209"/>
            <a:ext cx="3857600" cy="2425887"/>
            <a:chOff x="3776182" y="2135980"/>
            <a:chExt cx="4270386" cy="2685472"/>
          </a:xfrm>
          <a:effectLst/>
        </p:grpSpPr>
        <p:sp>
          <p:nvSpPr>
            <p:cNvPr id="8" name="Oval 7">
              <a:extLst>
                <a:ext uri="{FF2B5EF4-FFF2-40B4-BE49-F238E27FC236}">
                  <a16:creationId xmlns:a16="http://schemas.microsoft.com/office/drawing/2014/main" id="{CFAE6F5B-468B-1670-049D-14A921AD9B84}"/>
                </a:ext>
              </a:extLst>
            </p:cNvPr>
            <p:cNvSpPr/>
            <p:nvPr/>
          </p:nvSpPr>
          <p:spPr>
            <a:xfrm>
              <a:off x="3776182" y="213598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6B8CBF9A-159B-6822-835D-99C77B2F365B}"/>
                </a:ext>
              </a:extLst>
            </p:cNvPr>
            <p:cNvSpPr/>
            <p:nvPr/>
          </p:nvSpPr>
          <p:spPr>
            <a:xfrm>
              <a:off x="4515436" y="213598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0B2F6CF2-36B0-3C50-802B-AE3ED033571B}"/>
                </a:ext>
              </a:extLst>
            </p:cNvPr>
            <p:cNvSpPr/>
            <p:nvPr/>
          </p:nvSpPr>
          <p:spPr>
            <a:xfrm>
              <a:off x="5254690" y="2135980"/>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28EFCF2B-AC43-9EC9-7B0F-48927582A068}"/>
                </a:ext>
              </a:extLst>
            </p:cNvPr>
            <p:cNvSpPr/>
            <p:nvPr/>
          </p:nvSpPr>
          <p:spPr>
            <a:xfrm>
              <a:off x="5981206" y="213598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2D1004DB-9408-EC4D-2F8E-D54299EEDEBD}"/>
                </a:ext>
              </a:extLst>
            </p:cNvPr>
            <p:cNvSpPr/>
            <p:nvPr/>
          </p:nvSpPr>
          <p:spPr>
            <a:xfrm>
              <a:off x="6720460" y="213598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33D035A7-01DA-821D-B8BB-0F8A36A38907}"/>
                </a:ext>
              </a:extLst>
            </p:cNvPr>
            <p:cNvSpPr/>
            <p:nvPr/>
          </p:nvSpPr>
          <p:spPr>
            <a:xfrm>
              <a:off x="7459714" y="2135980"/>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B0C7EFA6-9429-F422-2B8F-D2F69C84EFCF}"/>
                </a:ext>
              </a:extLst>
            </p:cNvPr>
            <p:cNvSpPr/>
            <p:nvPr/>
          </p:nvSpPr>
          <p:spPr>
            <a:xfrm>
              <a:off x="3776182" y="2825192"/>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296BF121-A64B-E87F-FB00-23941DDBEA35}"/>
                </a:ext>
              </a:extLst>
            </p:cNvPr>
            <p:cNvSpPr/>
            <p:nvPr/>
          </p:nvSpPr>
          <p:spPr>
            <a:xfrm>
              <a:off x="4515436" y="2825192"/>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Oval 16">
              <a:extLst>
                <a:ext uri="{FF2B5EF4-FFF2-40B4-BE49-F238E27FC236}">
                  <a16:creationId xmlns:a16="http://schemas.microsoft.com/office/drawing/2014/main" id="{6747910A-2B98-3CB9-AF2D-1CCA74DA3DE3}"/>
                </a:ext>
              </a:extLst>
            </p:cNvPr>
            <p:cNvSpPr/>
            <p:nvPr/>
          </p:nvSpPr>
          <p:spPr>
            <a:xfrm>
              <a:off x="5254690" y="282519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a:extLst>
                <a:ext uri="{FF2B5EF4-FFF2-40B4-BE49-F238E27FC236}">
                  <a16:creationId xmlns:a16="http://schemas.microsoft.com/office/drawing/2014/main" id="{9313DE7B-F6FF-DDC8-A9E3-8D5BBEC81CB1}"/>
                </a:ext>
              </a:extLst>
            </p:cNvPr>
            <p:cNvSpPr/>
            <p:nvPr/>
          </p:nvSpPr>
          <p:spPr>
            <a:xfrm>
              <a:off x="5981206" y="2825192"/>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Oval 18">
              <a:extLst>
                <a:ext uri="{FF2B5EF4-FFF2-40B4-BE49-F238E27FC236}">
                  <a16:creationId xmlns:a16="http://schemas.microsoft.com/office/drawing/2014/main" id="{FF3BD572-E1EA-1165-BC27-9AC454585125}"/>
                </a:ext>
              </a:extLst>
            </p:cNvPr>
            <p:cNvSpPr/>
            <p:nvPr/>
          </p:nvSpPr>
          <p:spPr>
            <a:xfrm>
              <a:off x="6720460" y="2825192"/>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Oval 19">
              <a:extLst>
                <a:ext uri="{FF2B5EF4-FFF2-40B4-BE49-F238E27FC236}">
                  <a16:creationId xmlns:a16="http://schemas.microsoft.com/office/drawing/2014/main" id="{74AEA362-2E44-7A4B-8215-A670A5AFEF84}"/>
                </a:ext>
              </a:extLst>
            </p:cNvPr>
            <p:cNvSpPr/>
            <p:nvPr/>
          </p:nvSpPr>
          <p:spPr>
            <a:xfrm>
              <a:off x="7459714" y="2825191"/>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Oval 20">
              <a:extLst>
                <a:ext uri="{FF2B5EF4-FFF2-40B4-BE49-F238E27FC236}">
                  <a16:creationId xmlns:a16="http://schemas.microsoft.com/office/drawing/2014/main" id="{992BAA3A-C5C6-7E3D-5A0E-09DFCBEAA6B2}"/>
                </a:ext>
              </a:extLst>
            </p:cNvPr>
            <p:cNvSpPr/>
            <p:nvPr/>
          </p:nvSpPr>
          <p:spPr>
            <a:xfrm>
              <a:off x="3776182" y="3521366"/>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Oval 21">
              <a:extLst>
                <a:ext uri="{FF2B5EF4-FFF2-40B4-BE49-F238E27FC236}">
                  <a16:creationId xmlns:a16="http://schemas.microsoft.com/office/drawing/2014/main" id="{3E4B2DEC-B819-2A2B-5626-AB3EFE1075BA}"/>
                </a:ext>
              </a:extLst>
            </p:cNvPr>
            <p:cNvSpPr/>
            <p:nvPr/>
          </p:nvSpPr>
          <p:spPr>
            <a:xfrm>
              <a:off x="4515436" y="3521366"/>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Oval 22">
              <a:extLst>
                <a:ext uri="{FF2B5EF4-FFF2-40B4-BE49-F238E27FC236}">
                  <a16:creationId xmlns:a16="http://schemas.microsoft.com/office/drawing/2014/main" id="{EB463A15-3E15-33CA-730B-8A96D1F02A21}"/>
                </a:ext>
              </a:extLst>
            </p:cNvPr>
            <p:cNvSpPr/>
            <p:nvPr/>
          </p:nvSpPr>
          <p:spPr>
            <a:xfrm>
              <a:off x="5254690" y="3521365"/>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Oval 23">
              <a:extLst>
                <a:ext uri="{FF2B5EF4-FFF2-40B4-BE49-F238E27FC236}">
                  <a16:creationId xmlns:a16="http://schemas.microsoft.com/office/drawing/2014/main" id="{5F3E606A-C2BE-D20F-27D9-9CF68696B88D}"/>
                </a:ext>
              </a:extLst>
            </p:cNvPr>
            <p:cNvSpPr/>
            <p:nvPr/>
          </p:nvSpPr>
          <p:spPr>
            <a:xfrm>
              <a:off x="5981206" y="3521366"/>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Oval 24">
              <a:extLst>
                <a:ext uri="{FF2B5EF4-FFF2-40B4-BE49-F238E27FC236}">
                  <a16:creationId xmlns:a16="http://schemas.microsoft.com/office/drawing/2014/main" id="{819ACB44-7E56-088A-BD5A-A326672B3096}"/>
                </a:ext>
              </a:extLst>
            </p:cNvPr>
            <p:cNvSpPr/>
            <p:nvPr/>
          </p:nvSpPr>
          <p:spPr>
            <a:xfrm>
              <a:off x="6720460" y="3521366"/>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Oval 25">
              <a:extLst>
                <a:ext uri="{FF2B5EF4-FFF2-40B4-BE49-F238E27FC236}">
                  <a16:creationId xmlns:a16="http://schemas.microsoft.com/office/drawing/2014/main" id="{6EBE3A62-DE7A-B6CA-77EE-2DF5B983D294}"/>
                </a:ext>
              </a:extLst>
            </p:cNvPr>
            <p:cNvSpPr/>
            <p:nvPr/>
          </p:nvSpPr>
          <p:spPr>
            <a:xfrm>
              <a:off x="7459714" y="3521365"/>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Oval 26">
              <a:extLst>
                <a:ext uri="{FF2B5EF4-FFF2-40B4-BE49-F238E27FC236}">
                  <a16:creationId xmlns:a16="http://schemas.microsoft.com/office/drawing/2014/main" id="{54039BA9-B755-AE1B-EE2F-17E1515AD403}"/>
                </a:ext>
              </a:extLst>
            </p:cNvPr>
            <p:cNvSpPr/>
            <p:nvPr/>
          </p:nvSpPr>
          <p:spPr>
            <a:xfrm>
              <a:off x="3776182" y="4217539"/>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Oval 27">
              <a:extLst>
                <a:ext uri="{FF2B5EF4-FFF2-40B4-BE49-F238E27FC236}">
                  <a16:creationId xmlns:a16="http://schemas.microsoft.com/office/drawing/2014/main" id="{FAF1DC2E-2BAB-A938-21FB-B6E873F676EC}"/>
                </a:ext>
              </a:extLst>
            </p:cNvPr>
            <p:cNvSpPr/>
            <p:nvPr/>
          </p:nvSpPr>
          <p:spPr>
            <a:xfrm>
              <a:off x="4515436" y="4217539"/>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D061D9D3-CEA6-D4BD-78CF-66FCE0463E01}"/>
                </a:ext>
              </a:extLst>
            </p:cNvPr>
            <p:cNvSpPr/>
            <p:nvPr/>
          </p:nvSpPr>
          <p:spPr>
            <a:xfrm>
              <a:off x="5254690" y="4217538"/>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Oval 29">
              <a:extLst>
                <a:ext uri="{FF2B5EF4-FFF2-40B4-BE49-F238E27FC236}">
                  <a16:creationId xmlns:a16="http://schemas.microsoft.com/office/drawing/2014/main" id="{EF9A584E-F032-92FE-DE1E-B9455266B685}"/>
                </a:ext>
              </a:extLst>
            </p:cNvPr>
            <p:cNvSpPr/>
            <p:nvPr/>
          </p:nvSpPr>
          <p:spPr>
            <a:xfrm>
              <a:off x="5981206" y="4217539"/>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Oval 30">
              <a:extLst>
                <a:ext uri="{FF2B5EF4-FFF2-40B4-BE49-F238E27FC236}">
                  <a16:creationId xmlns:a16="http://schemas.microsoft.com/office/drawing/2014/main" id="{FC24B665-2341-872C-F053-89C000DE92D9}"/>
                </a:ext>
              </a:extLst>
            </p:cNvPr>
            <p:cNvSpPr/>
            <p:nvPr/>
          </p:nvSpPr>
          <p:spPr>
            <a:xfrm>
              <a:off x="6720460" y="4217539"/>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Oval 31">
              <a:extLst>
                <a:ext uri="{FF2B5EF4-FFF2-40B4-BE49-F238E27FC236}">
                  <a16:creationId xmlns:a16="http://schemas.microsoft.com/office/drawing/2014/main" id="{E4874CA1-21A4-49F0-5069-A4C49BD718E7}"/>
                </a:ext>
              </a:extLst>
            </p:cNvPr>
            <p:cNvSpPr/>
            <p:nvPr/>
          </p:nvSpPr>
          <p:spPr>
            <a:xfrm>
              <a:off x="7459714" y="4217538"/>
              <a:ext cx="586854" cy="603913"/>
            </a:xfrm>
            <a:prstGeom prst="ellipse">
              <a:avLst/>
            </a:prstGeom>
            <a:solidFill>
              <a:schemeClr val="accent4">
                <a:lumMod val="7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3" name="TextBox 32">
            <a:extLst>
              <a:ext uri="{FF2B5EF4-FFF2-40B4-BE49-F238E27FC236}">
                <a16:creationId xmlns:a16="http://schemas.microsoft.com/office/drawing/2014/main" id="{CD9B9C1C-DFFA-6D15-FD38-53FE9D820C25}"/>
              </a:ext>
            </a:extLst>
          </p:cNvPr>
          <p:cNvSpPr txBox="1"/>
          <p:nvPr/>
        </p:nvSpPr>
        <p:spPr>
          <a:xfrm>
            <a:off x="6565918" y="2991764"/>
            <a:ext cx="2061527" cy="914400"/>
          </a:xfrm>
          <a:prstGeom prst="rect">
            <a:avLst/>
          </a:prstGeom>
          <a:noFill/>
        </p:spPr>
        <p:txBody>
          <a:bodyPr wrap="none" lIns="0" tIns="0" rIns="0" bIns="0" rtlCol="0">
            <a:noAutofit/>
          </a:bodyPr>
          <a:lstStyle/>
          <a:p>
            <a:pPr algn="l">
              <a:lnSpc>
                <a:spcPct val="150000"/>
              </a:lnSpc>
            </a:pPr>
            <a:r>
              <a:rPr lang="en-AU" sz="3200">
                <a:latin typeface="Arial" panose="020B0604020202020204" pitchFamily="34" charset="0"/>
                <a:cs typeface="Arial" panose="020B0604020202020204" pitchFamily="34" charset="0"/>
              </a:rPr>
              <a:t>6 x 4 = 24</a:t>
            </a:r>
          </a:p>
          <a:p>
            <a:pPr algn="l">
              <a:lnSpc>
                <a:spcPct val="150000"/>
              </a:lnSpc>
            </a:pPr>
            <a:r>
              <a:rPr lang="en-AU" sz="3200">
                <a:latin typeface="Arial" panose="020B0604020202020204" pitchFamily="34" charset="0"/>
                <a:cs typeface="Arial" panose="020B0604020202020204" pitchFamily="34" charset="0"/>
              </a:rPr>
              <a:t>4 x 6 = 24 </a:t>
            </a:r>
          </a:p>
          <a:p>
            <a:pPr algn="l"/>
            <a:r>
              <a:rPr lang="en-AU" sz="1800">
                <a:latin typeface="Cambria Math" panose="02040503050406030204" pitchFamily="18" charset="0"/>
                <a:ea typeface="Cambria Math" panose="02040503050406030204" pitchFamily="18" charset="0"/>
              </a:rPr>
              <a:t> </a:t>
            </a:r>
            <a:r>
              <a:rPr lang="en-AU" sz="1800"/>
              <a:t> </a:t>
            </a:r>
          </a:p>
        </p:txBody>
      </p:sp>
      <p:sp>
        <p:nvSpPr>
          <p:cNvPr id="35" name="TextBox 34">
            <a:extLst>
              <a:ext uri="{FF2B5EF4-FFF2-40B4-BE49-F238E27FC236}">
                <a16:creationId xmlns:a16="http://schemas.microsoft.com/office/drawing/2014/main" id="{CD4A0D72-E7F5-505F-804B-0EA4ED461286}"/>
              </a:ext>
            </a:extLst>
          </p:cNvPr>
          <p:cNvSpPr txBox="1"/>
          <p:nvPr/>
        </p:nvSpPr>
        <p:spPr>
          <a:xfrm>
            <a:off x="8921341" y="2978982"/>
            <a:ext cx="2301002" cy="1478418"/>
          </a:xfrm>
          <a:prstGeom prst="rect">
            <a:avLst/>
          </a:prstGeom>
          <a:noFill/>
        </p:spPr>
        <p:txBody>
          <a:bodyPr wrap="square">
            <a:spAutoFit/>
          </a:bodyPr>
          <a:lstStyle/>
          <a:p>
            <a:pPr algn="l">
              <a:lnSpc>
                <a:spcPct val="150000"/>
              </a:lnSpc>
            </a:pPr>
            <a:r>
              <a:rPr lang="en-AU" sz="3200">
                <a:latin typeface="Arial" panose="020B0604020202020204" pitchFamily="34" charset="0"/>
                <a:cs typeface="Arial" panose="020B0604020202020204" pitchFamily="34" charset="0"/>
              </a:rPr>
              <a:t>24 </a:t>
            </a:r>
            <a:r>
              <a:rPr lang="en-AU" sz="3200">
                <a:latin typeface="Arial" panose="020B0604020202020204" pitchFamily="34" charset="0"/>
                <a:ea typeface="Cambria Math" panose="02040503050406030204" pitchFamily="18" charset="0"/>
                <a:cs typeface="Arial" panose="020B0604020202020204" pitchFamily="34" charset="0"/>
              </a:rPr>
              <a:t>÷ 6 = 4</a:t>
            </a:r>
          </a:p>
          <a:p>
            <a:pPr>
              <a:lnSpc>
                <a:spcPct val="150000"/>
              </a:lnSpc>
            </a:pPr>
            <a:r>
              <a:rPr lang="en-AU" sz="3200">
                <a:latin typeface="Arial" panose="020B0604020202020204" pitchFamily="34" charset="0"/>
                <a:cs typeface="Arial" panose="020B0604020202020204" pitchFamily="34" charset="0"/>
              </a:rPr>
              <a:t>24 </a:t>
            </a:r>
            <a:r>
              <a:rPr lang="en-AU" sz="3200">
                <a:latin typeface="Arial" panose="020B0604020202020204" pitchFamily="34" charset="0"/>
                <a:ea typeface="Cambria Math" panose="02040503050406030204" pitchFamily="18" charset="0"/>
                <a:cs typeface="Arial" panose="020B0604020202020204" pitchFamily="34" charset="0"/>
              </a:rPr>
              <a:t>÷ 4 = 6 </a:t>
            </a:r>
            <a:r>
              <a:rPr lang="en-AU" sz="3200">
                <a:latin typeface="Arial" panose="020B0604020202020204" pitchFamily="34" charset="0"/>
                <a:cs typeface="Arial" panose="020B0604020202020204" pitchFamily="34" charset="0"/>
              </a:rPr>
              <a:t> </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886774443"/>
              </p:ext>
            </p:extLst>
          </p:nvPr>
        </p:nvGraphicFramePr>
        <p:xfrm>
          <a:off x="2835374" y="56701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E5225A08-7108-3331-0273-7AC3BBD9A0AA}"/>
              </a:ext>
            </a:extLst>
          </p:cNvPr>
          <p:cNvSpPr txBox="1">
            <a:spLocks/>
          </p:cNvSpPr>
          <p:nvPr/>
        </p:nvSpPr>
        <p:spPr>
          <a:xfrm>
            <a:off x="360001" y="1054103"/>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b="1"/>
              <a:t>Record</a:t>
            </a:r>
            <a:r>
              <a:rPr lang="en-AU" sz="4000"/>
              <a:t> one </a:t>
            </a:r>
            <a:r>
              <a:rPr lang="en-AU" sz="4000" b="1"/>
              <a:t>similarity</a:t>
            </a:r>
            <a:r>
              <a:rPr lang="en-AU" sz="4000"/>
              <a:t> and one </a:t>
            </a:r>
            <a:r>
              <a:rPr lang="en-AU" sz="4000" b="1"/>
              <a:t>difference</a:t>
            </a:r>
            <a:r>
              <a:rPr lang="en-AU" sz="4000"/>
              <a:t> between these shapes.</a:t>
            </a:r>
          </a:p>
        </p:txBody>
      </p:sp>
      <p:pic>
        <p:nvPicPr>
          <p:cNvPr id="10" name="Picture 9" descr="An image of the 2D shape, the kite.">
            <a:extLst>
              <a:ext uri="{FF2B5EF4-FFF2-40B4-BE49-F238E27FC236}">
                <a16:creationId xmlns:a16="http://schemas.microsoft.com/office/drawing/2014/main" id="{8F830DB4-6CBF-4D44-A6C3-FF504B8B6F2E}"/>
              </a:ext>
            </a:extLst>
          </p:cNvPr>
          <p:cNvPicPr>
            <a:picLocks noChangeAspect="1"/>
          </p:cNvPicPr>
          <p:nvPr/>
        </p:nvPicPr>
        <p:blipFill>
          <a:blip r:embed="rId4">
            <a:extLst>
              <a:ext uri="{28A0092B-C50C-407E-A947-70E740481C1C}">
                <a14:useLocalDpi xmlns:a14="http://schemas.microsoft.com/office/drawing/2010/main" val="0"/>
              </a:ext>
            </a:extLst>
          </a:blip>
          <a:srcRect t="13206" r="38716" b="22570"/>
          <a:stretch>
            <a:fillRect/>
          </a:stretch>
        </p:blipFill>
        <p:spPr>
          <a:xfrm>
            <a:off x="2396779" y="3275487"/>
            <a:ext cx="2081411" cy="3084414"/>
          </a:xfrm>
          <a:prstGeom prst="rect">
            <a:avLst/>
          </a:prstGeom>
        </p:spPr>
      </p:pic>
      <p:sp>
        <p:nvSpPr>
          <p:cNvPr id="8" name="Text Placeholder 5">
            <a:extLst>
              <a:ext uri="{FF2B5EF4-FFF2-40B4-BE49-F238E27FC236}">
                <a16:creationId xmlns:a16="http://schemas.microsoft.com/office/drawing/2014/main" id="{99B0C722-91AD-A450-D052-51215BF02D8D}"/>
              </a:ext>
            </a:extLst>
          </p:cNvPr>
          <p:cNvSpPr txBox="1">
            <a:spLocks/>
          </p:cNvSpPr>
          <p:nvPr/>
        </p:nvSpPr>
        <p:spPr>
          <a:xfrm>
            <a:off x="2202136" y="4143543"/>
            <a:ext cx="2470695"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a:latin typeface="+mn-lt"/>
              </a:rPr>
              <a:t>kite</a:t>
            </a:r>
          </a:p>
        </p:txBody>
      </p:sp>
      <p:sp>
        <p:nvSpPr>
          <p:cNvPr id="5" name="Trapezium 4" descr="A green trapezium">
            <a:extLst>
              <a:ext uri="{FF2B5EF4-FFF2-40B4-BE49-F238E27FC236}">
                <a16:creationId xmlns:a16="http://schemas.microsoft.com/office/drawing/2014/main" id="{225128BD-BD05-C2EC-F353-0055D675FEAA}"/>
              </a:ext>
            </a:extLst>
          </p:cNvPr>
          <p:cNvSpPr/>
          <p:nvPr/>
        </p:nvSpPr>
        <p:spPr>
          <a:xfrm>
            <a:off x="6428886" y="3853721"/>
            <a:ext cx="3272010" cy="1718631"/>
          </a:xfrm>
          <a:prstGeom prst="trapezoid">
            <a:avLst/>
          </a:prstGeom>
          <a:solidFill>
            <a:srgbClr val="87D830"/>
          </a:solidFill>
          <a:ln w="28575">
            <a:solidFill>
              <a:srgbClr val="87D83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5">
            <a:extLst>
              <a:ext uri="{FF2B5EF4-FFF2-40B4-BE49-F238E27FC236}">
                <a16:creationId xmlns:a16="http://schemas.microsoft.com/office/drawing/2014/main" id="{9C890814-3BD7-8611-09C0-7ED04A3E5FBD}"/>
              </a:ext>
            </a:extLst>
          </p:cNvPr>
          <p:cNvSpPr txBox="1">
            <a:spLocks/>
          </p:cNvSpPr>
          <p:nvPr/>
        </p:nvSpPr>
        <p:spPr>
          <a:xfrm>
            <a:off x="6829543" y="4266423"/>
            <a:ext cx="2470695"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a:latin typeface="+mn-lt"/>
              </a:rPr>
              <a:t>trapezium</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64866DE-2090-EBD7-FC27-92CE61C7A670}"/>
              </a:ext>
            </a:extLst>
          </p:cNvPr>
          <p:cNvSpPr txBox="1"/>
          <p:nvPr/>
        </p:nvSpPr>
        <p:spPr>
          <a:xfrm>
            <a:off x="360628" y="1472583"/>
            <a:ext cx="11095400" cy="1269409"/>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b="1"/>
              <a:t>Record </a:t>
            </a:r>
            <a:r>
              <a:rPr lang="en-AU" sz="4400"/>
              <a:t>this number in </a:t>
            </a:r>
            <a:r>
              <a:rPr lang="en-AU" sz="4400" b="1"/>
              <a:t>expanded notation:</a:t>
            </a:r>
          </a:p>
          <a:p>
            <a:pPr algn="ctr">
              <a:lnSpc>
                <a:spcPct val="150000"/>
              </a:lnSpc>
            </a:pPr>
            <a:r>
              <a:rPr lang="en-AU" sz="5400" b="1">
                <a:solidFill>
                  <a:schemeClr val="accent2"/>
                </a:solidFill>
              </a:rPr>
              <a:t>24 502</a:t>
            </a:r>
            <a:endParaRPr lang="en-AU" sz="5400">
              <a:solidFill>
                <a:schemeClr val="accent2"/>
              </a:solidFill>
            </a:endParaRP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8" name="Picture 7" descr="A numeral expander, divided into place value columns labelled ten thousands, thousands, hundreds, tens, and ones.">
            <a:extLst>
              <a:ext uri="{FF2B5EF4-FFF2-40B4-BE49-F238E27FC236}">
                <a16:creationId xmlns:a16="http://schemas.microsoft.com/office/drawing/2014/main" id="{2588B83A-FA48-5E3D-3595-9F8785C85B78}"/>
              </a:ext>
            </a:extLst>
          </p:cNvPr>
          <p:cNvPicPr>
            <a:picLocks noChangeAspect="1"/>
          </p:cNvPicPr>
          <p:nvPr/>
        </p:nvPicPr>
        <p:blipFill>
          <a:blip r:embed="rId4">
            <a:extLst>
              <a:ext uri="{28A0092B-C50C-407E-A947-70E740481C1C}">
                <a14:useLocalDpi xmlns:a14="http://schemas.microsoft.com/office/drawing/2010/main" val="0"/>
              </a:ext>
            </a:extLst>
          </a:blip>
          <a:srcRect t="21473" r="2254" b="56135"/>
          <a:stretch>
            <a:fillRect/>
          </a:stretch>
        </p:blipFill>
        <p:spPr>
          <a:xfrm>
            <a:off x="153640" y="4116009"/>
            <a:ext cx="11444702" cy="1853713"/>
          </a:xfrm>
          <a:prstGeom prst="rect">
            <a:avLst/>
          </a:prstGeom>
        </p:spPr>
      </p:pic>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E21C64C-F889-5481-9D14-D92BC0E7ACC8}"/>
              </a:ext>
            </a:extLst>
          </p:cNvPr>
          <p:cNvSpPr txBox="1"/>
          <p:nvPr/>
        </p:nvSpPr>
        <p:spPr>
          <a:xfrm>
            <a:off x="360000" y="1686549"/>
            <a:ext cx="10881360" cy="1269409"/>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pPr>
            <a:r>
              <a:rPr lang="en-AU" sz="3600"/>
              <a:t>Describe this angle as:</a:t>
            </a:r>
          </a:p>
          <a:p>
            <a:pPr marL="571500" indent="-571500">
              <a:lnSpc>
                <a:spcPct val="150000"/>
              </a:lnSpc>
              <a:buFont typeface="Arial" panose="020B0604020202020204" pitchFamily="34" charset="0"/>
              <a:buChar char="•"/>
            </a:pPr>
            <a:r>
              <a:rPr lang="en-AU" sz="3600" b="1"/>
              <a:t>less than </a:t>
            </a:r>
            <a:r>
              <a:rPr lang="en-AU" sz="3600"/>
              <a:t>a right angle</a:t>
            </a:r>
          </a:p>
          <a:p>
            <a:pPr marL="571500" indent="-571500">
              <a:lnSpc>
                <a:spcPct val="150000"/>
              </a:lnSpc>
              <a:buFont typeface="Arial" panose="020B0604020202020204" pitchFamily="34" charset="0"/>
              <a:buChar char="•"/>
            </a:pPr>
            <a:r>
              <a:rPr lang="en-AU" sz="3600" b="1"/>
              <a:t>about the same </a:t>
            </a:r>
            <a:r>
              <a:rPr lang="en-AU" sz="3600"/>
              <a:t>as a right angle </a:t>
            </a:r>
            <a:r>
              <a:rPr lang="en-AU" sz="3600">
                <a:solidFill>
                  <a:schemeClr val="accent2"/>
                </a:solidFill>
              </a:rPr>
              <a:t>or</a:t>
            </a:r>
          </a:p>
          <a:p>
            <a:pPr marL="571500" indent="-571500">
              <a:lnSpc>
                <a:spcPct val="150000"/>
              </a:lnSpc>
              <a:buFont typeface="Arial" panose="020B0604020202020204" pitchFamily="34" charset="0"/>
              <a:buChar char="•"/>
            </a:pPr>
            <a:r>
              <a:rPr lang="en-AU" sz="3600" b="1"/>
              <a:t>more than </a:t>
            </a:r>
            <a:r>
              <a:rPr lang="en-AU" sz="3600"/>
              <a:t>a right angle.</a:t>
            </a:r>
          </a:p>
        </p:txBody>
      </p:sp>
      <p:sp>
        <p:nvSpPr>
          <p:cNvPr id="10" name="Freeform 138" descr="An image of an obtuse angle.">
            <a:extLst>
              <a:ext uri="{FF2B5EF4-FFF2-40B4-BE49-F238E27FC236}">
                <a16:creationId xmlns:a16="http://schemas.microsoft.com/office/drawing/2014/main" id="{D19564A2-2037-74E1-65A2-403709743607}"/>
              </a:ext>
            </a:extLst>
          </p:cNvPr>
          <p:cNvSpPr/>
          <p:nvPr/>
        </p:nvSpPr>
        <p:spPr>
          <a:xfrm>
            <a:off x="7448310" y="1973793"/>
            <a:ext cx="4383690" cy="1964330"/>
          </a:xfrm>
          <a:custGeom>
            <a:avLst/>
            <a:gdLst/>
            <a:ahLst/>
            <a:cxnLst/>
            <a:rect l="l" t="t" r="r" b="b"/>
            <a:pathLst>
              <a:path w="4176000" h="1780020">
                <a:moveTo>
                  <a:pt x="0" y="0"/>
                </a:moveTo>
                <a:lnTo>
                  <a:pt x="4176000" y="0"/>
                </a:lnTo>
                <a:lnTo>
                  <a:pt x="4176000" y="1780020"/>
                </a:lnTo>
                <a:lnTo>
                  <a:pt x="0" y="178002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9" name="TextBox 10">
            <a:extLst>
              <a:ext uri="{FF2B5EF4-FFF2-40B4-BE49-F238E27FC236}">
                <a16:creationId xmlns:a16="http://schemas.microsoft.com/office/drawing/2014/main" id="{FB651660-90EE-EEF4-18AB-EE1C0F40DC30}"/>
              </a:ext>
            </a:extLst>
          </p:cNvPr>
          <p:cNvSpPr txBox="1"/>
          <p:nvPr/>
        </p:nvSpPr>
        <p:spPr>
          <a:xfrm>
            <a:off x="360000" y="5422614"/>
            <a:ext cx="9723221" cy="820674"/>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pPr>
            <a:r>
              <a:rPr lang="en-AU" sz="3600" b="1">
                <a:latin typeface="Arial"/>
                <a:cs typeface="Arial"/>
              </a:rPr>
              <a:t>Communicate </a:t>
            </a:r>
            <a:r>
              <a:rPr lang="en-AU" sz="3600">
                <a:latin typeface="Arial"/>
                <a:cs typeface="Arial"/>
              </a:rPr>
              <a:t>your</a:t>
            </a:r>
            <a:r>
              <a:rPr lang="en-AU" sz="3600" b="1">
                <a:latin typeface="Arial"/>
                <a:cs typeface="Arial"/>
              </a:rPr>
              <a:t> reasoning.</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3B24994-6C4F-E35D-CBA2-FA95A924ABFF}"/>
              </a:ext>
            </a:extLst>
          </p:cNvPr>
          <p:cNvSpPr txBox="1"/>
          <p:nvPr/>
        </p:nvSpPr>
        <p:spPr>
          <a:xfrm>
            <a:off x="246024" y="747210"/>
            <a:ext cx="11288660" cy="2102642"/>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pPr>
            <a:r>
              <a:rPr lang="en-AU" sz="4000"/>
              <a:t>If you remove an apple from the bag, does the </a:t>
            </a:r>
            <a:r>
              <a:rPr lang="en-AU" sz="4000" b="1"/>
              <a:t>chance</a:t>
            </a:r>
            <a:r>
              <a:rPr lang="en-AU" sz="4000"/>
              <a:t> of picking an orange next time become:</a:t>
            </a:r>
            <a:endParaRPr lang="en-AU" sz="3600"/>
          </a:p>
        </p:txBody>
      </p:sp>
      <p:sp>
        <p:nvSpPr>
          <p:cNvPr id="15" name="TextBox 14">
            <a:extLst>
              <a:ext uri="{FF2B5EF4-FFF2-40B4-BE49-F238E27FC236}">
                <a16:creationId xmlns:a16="http://schemas.microsoft.com/office/drawing/2014/main" id="{A5468D5A-DD02-A492-77AA-F4509077B251}"/>
              </a:ext>
            </a:extLst>
          </p:cNvPr>
          <p:cNvSpPr txBox="1"/>
          <p:nvPr/>
        </p:nvSpPr>
        <p:spPr>
          <a:xfrm>
            <a:off x="657316" y="2916112"/>
            <a:ext cx="4266104" cy="2102642"/>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pPr>
            <a:r>
              <a:rPr lang="en-AU" sz="4000" b="1"/>
              <a:t>A</a:t>
            </a:r>
            <a:r>
              <a:rPr lang="en-AU" sz="4000"/>
              <a:t> more likely </a:t>
            </a:r>
          </a:p>
          <a:p>
            <a:pPr>
              <a:lnSpc>
                <a:spcPct val="150000"/>
              </a:lnSpc>
            </a:pPr>
            <a:r>
              <a:rPr lang="en-AU" sz="4000" b="1"/>
              <a:t>B</a:t>
            </a:r>
            <a:r>
              <a:rPr lang="en-AU" sz="4000"/>
              <a:t> less likely</a:t>
            </a:r>
          </a:p>
          <a:p>
            <a:pPr>
              <a:lnSpc>
                <a:spcPct val="150000"/>
              </a:lnSpc>
            </a:pPr>
            <a:r>
              <a:rPr lang="en-AU" sz="4000" b="1"/>
              <a:t>C</a:t>
            </a:r>
            <a:r>
              <a:rPr lang="en-AU" sz="4000"/>
              <a:t> the same.</a:t>
            </a:r>
            <a:endParaRPr lang="en-AU" sz="3600"/>
          </a:p>
        </p:txBody>
      </p:sp>
      <p:pic>
        <p:nvPicPr>
          <p:cNvPr id="19" name="Picture 18" descr="A fruit bag containing apples and oranges">
            <a:extLst>
              <a:ext uri="{FF2B5EF4-FFF2-40B4-BE49-F238E27FC236}">
                <a16:creationId xmlns:a16="http://schemas.microsoft.com/office/drawing/2014/main" id="{8A28B10D-4F73-CC6A-C6E6-9D4FD1F1B0C4}"/>
              </a:ext>
            </a:extLst>
          </p:cNvPr>
          <p:cNvPicPr>
            <a:picLocks noChangeAspect="1"/>
          </p:cNvPicPr>
          <p:nvPr/>
        </p:nvPicPr>
        <p:blipFill>
          <a:blip r:embed="rId4">
            <a:extLst>
              <a:ext uri="{28A0092B-C50C-407E-A947-70E740481C1C}">
                <a14:useLocalDpi xmlns:a14="http://schemas.microsoft.com/office/drawing/2010/main" val="0"/>
              </a:ext>
            </a:extLst>
          </a:blip>
          <a:srcRect l="22811" r="29096" b="-1643"/>
          <a:stretch>
            <a:fillRect/>
          </a:stretch>
        </p:blipFill>
        <p:spPr>
          <a:xfrm>
            <a:off x="7679251" y="2416519"/>
            <a:ext cx="3033457" cy="4532815"/>
          </a:xfrm>
          <a:prstGeom prst="rect">
            <a:avLst/>
          </a:prstGeom>
        </p:spPr>
      </p:pic>
      <p:sp>
        <p:nvSpPr>
          <p:cNvPr id="17" name="TextBox 10">
            <a:extLst>
              <a:ext uri="{FF2B5EF4-FFF2-40B4-BE49-F238E27FC236}">
                <a16:creationId xmlns:a16="http://schemas.microsoft.com/office/drawing/2014/main" id="{D2AF491B-9518-7EB6-530B-DD09E11C7AF7}"/>
              </a:ext>
            </a:extLst>
          </p:cNvPr>
          <p:cNvSpPr txBox="1"/>
          <p:nvPr/>
        </p:nvSpPr>
        <p:spPr>
          <a:xfrm>
            <a:off x="492962" y="5708998"/>
            <a:ext cx="7186289" cy="820674"/>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pPr>
            <a:r>
              <a:rPr lang="en-AU" sz="3600" b="1">
                <a:latin typeface="Arial"/>
                <a:cs typeface="Arial"/>
              </a:rPr>
              <a:t>Communicate </a:t>
            </a:r>
            <a:r>
              <a:rPr lang="en-AU" sz="3600">
                <a:latin typeface="Arial"/>
                <a:cs typeface="Arial"/>
              </a:rPr>
              <a:t>your</a:t>
            </a:r>
            <a:r>
              <a:rPr lang="en-AU" sz="3600" b="1">
                <a:latin typeface="Arial"/>
                <a:cs typeface="Arial"/>
              </a:rPr>
              <a:t> reasoning.</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multiplication fact families</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 Placeholder 5">
            <a:extLst>
              <a:ext uri="{FF2B5EF4-FFF2-40B4-BE49-F238E27FC236}">
                <a16:creationId xmlns:a16="http://schemas.microsoft.com/office/drawing/2014/main" id="{058D0C8A-4D5C-BAF9-356C-5869342BA3DE}"/>
              </a:ext>
            </a:extLst>
          </p:cNvPr>
          <p:cNvSpPr txBox="1">
            <a:spLocks/>
          </p:cNvSpPr>
          <p:nvPr/>
        </p:nvSpPr>
        <p:spPr>
          <a:xfrm>
            <a:off x="223966" y="1097258"/>
            <a:ext cx="11243037" cy="8932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a:t>Can you </a:t>
            </a:r>
            <a:r>
              <a:rPr lang="en-AU" sz="3600" b="1"/>
              <a:t>make an array </a:t>
            </a:r>
            <a:r>
              <a:rPr lang="en-AU" sz="3600"/>
              <a:t>using the numbers rolled from two ten-sided dice?</a:t>
            </a:r>
          </a:p>
        </p:txBody>
      </p:sp>
      <p:pic>
        <p:nvPicPr>
          <p:cNvPr id="5" name="Picture 4" descr="A 3 × 4 array with all the different related multiplication and division facts. Partner A writes 3 × 4 = 12, 12 ÷ 3 = 4 and partner B writes 4 × 3 = 12, 12 ÷ 4 = 3">
            <a:extLst>
              <a:ext uri="{FF2B5EF4-FFF2-40B4-BE49-F238E27FC236}">
                <a16:creationId xmlns:a16="http://schemas.microsoft.com/office/drawing/2014/main" id="{5E7AB45E-B572-8304-ADE2-BC0092B6BD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16243" y="3129355"/>
            <a:ext cx="6359512" cy="2193878"/>
          </a:xfrm>
          <a:prstGeom prst="rect">
            <a:avLst/>
          </a:prstGeom>
          <a:noFill/>
          <a:ln>
            <a:noFill/>
          </a:ln>
          <a:effectLst>
            <a:outerShdw blurRad="63500" sx="102000" sy="102000" algn="ctr" rotWithShape="0">
              <a:prstClr val="black">
                <a:alpha val="40000"/>
              </a:prstClr>
            </a:outerShdw>
          </a:effectLst>
        </p:spPr>
      </p:pic>
      <p:sp>
        <p:nvSpPr>
          <p:cNvPr id="8" name="Text Placeholder 5">
            <a:extLst>
              <a:ext uri="{FF2B5EF4-FFF2-40B4-BE49-F238E27FC236}">
                <a16:creationId xmlns:a16="http://schemas.microsoft.com/office/drawing/2014/main" id="{05668CE1-0FAE-D892-E404-74CF9626E0A6}"/>
              </a:ext>
            </a:extLst>
          </p:cNvPr>
          <p:cNvSpPr txBox="1">
            <a:spLocks/>
          </p:cNvSpPr>
          <p:nvPr/>
        </p:nvSpPr>
        <p:spPr>
          <a:xfrm>
            <a:off x="103484" y="5431117"/>
            <a:ext cx="11985031" cy="8932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a:t>In pairs, show </a:t>
            </a:r>
            <a:r>
              <a:rPr lang="en-AU" sz="3600" b="1"/>
              <a:t>related multiplication </a:t>
            </a:r>
            <a:r>
              <a:rPr lang="en-AU" sz="3600"/>
              <a:t>and</a:t>
            </a:r>
            <a:r>
              <a:rPr lang="en-AU" sz="3600" b="1"/>
              <a:t> division facts</a:t>
            </a:r>
            <a:r>
              <a:rPr lang="en-AU" sz="3600"/>
              <a:t>.</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147109" y="1215754"/>
            <a:ext cx="11897782" cy="893226"/>
          </a:xfrm>
        </p:spPr>
        <p:txBody>
          <a:bodyPr/>
          <a:lstStyle/>
          <a:p>
            <a:pPr algn="ctr"/>
            <a:r>
              <a:rPr lang="en-US" sz="3600"/>
              <a:t>Which </a:t>
            </a:r>
            <a:r>
              <a:rPr lang="en-US" sz="3600" b="1"/>
              <a:t>number sentence </a:t>
            </a:r>
            <a:r>
              <a:rPr lang="en-US" sz="3600"/>
              <a:t>matches the </a:t>
            </a:r>
            <a:r>
              <a:rPr lang="en-US" sz="3600" b="1"/>
              <a:t>partitioned</a:t>
            </a:r>
            <a:r>
              <a:rPr lang="en-US" sz="3600"/>
              <a:t> </a:t>
            </a:r>
            <a:r>
              <a:rPr lang="en-US" sz="3600" b="1"/>
              <a:t>array</a:t>
            </a:r>
            <a:r>
              <a:rPr lang="en-US" sz="3600"/>
              <a:t>?</a:t>
            </a:r>
          </a:p>
        </p:txBody>
      </p:sp>
      <p:pic>
        <p:nvPicPr>
          <p:cNvPr id="37" name="Picture 36" descr="An array with four rows and 6 columns. One column is separated with a vertical line">
            <a:extLst>
              <a:ext uri="{FF2B5EF4-FFF2-40B4-BE49-F238E27FC236}">
                <a16:creationId xmlns:a16="http://schemas.microsoft.com/office/drawing/2014/main" id="{5A359CB9-F840-74A4-FC9A-CC70269C7CBD}"/>
              </a:ext>
            </a:extLst>
          </p:cNvPr>
          <p:cNvPicPr>
            <a:picLocks noChangeAspect="1"/>
          </p:cNvPicPr>
          <p:nvPr/>
        </p:nvPicPr>
        <p:blipFill>
          <a:blip r:embed="rId4"/>
          <a:stretch>
            <a:fillRect/>
          </a:stretch>
        </p:blipFill>
        <p:spPr>
          <a:xfrm>
            <a:off x="4219738" y="2258763"/>
            <a:ext cx="3378374" cy="2330570"/>
          </a:xfrm>
          <a:prstGeom prst="rect">
            <a:avLst/>
          </a:prstGeom>
        </p:spPr>
      </p:pic>
      <p:sp>
        <p:nvSpPr>
          <p:cNvPr id="9" name="TextBox 8">
            <a:extLst>
              <a:ext uri="{FF2B5EF4-FFF2-40B4-BE49-F238E27FC236}">
                <a16:creationId xmlns:a16="http://schemas.microsoft.com/office/drawing/2014/main" id="{AF13415D-5ABE-8CE1-9EF6-D83C6FF3BAC9}"/>
              </a:ext>
            </a:extLst>
          </p:cNvPr>
          <p:cNvSpPr txBox="1"/>
          <p:nvPr/>
        </p:nvSpPr>
        <p:spPr>
          <a:xfrm>
            <a:off x="1215764" y="47391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42" name="Text Placeholder 17">
            <a:extLst>
              <a:ext uri="{FF2B5EF4-FFF2-40B4-BE49-F238E27FC236}">
                <a16:creationId xmlns:a16="http://schemas.microsoft.com/office/drawing/2014/main" id="{E85FA23A-7103-FCC9-9AEF-6C876B41CCA3}"/>
              </a:ext>
            </a:extLst>
          </p:cNvPr>
          <p:cNvSpPr txBox="1">
            <a:spLocks/>
          </p:cNvSpPr>
          <p:nvPr/>
        </p:nvSpPr>
        <p:spPr>
          <a:xfrm>
            <a:off x="39584" y="5374160"/>
            <a:ext cx="2881791"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a:t>4 x 6 is </a:t>
            </a:r>
          </a:p>
          <a:p>
            <a:pPr algn="ctr"/>
            <a:r>
              <a:rPr lang="en-US" sz="2800"/>
              <a:t>4 x 4 and 4 x 1</a:t>
            </a:r>
          </a:p>
        </p:txBody>
      </p:sp>
      <p:sp>
        <p:nvSpPr>
          <p:cNvPr id="10" name="TextBox 9">
            <a:extLst>
              <a:ext uri="{FF2B5EF4-FFF2-40B4-BE49-F238E27FC236}">
                <a16:creationId xmlns:a16="http://schemas.microsoft.com/office/drawing/2014/main" id="{06BFC4FD-CDBD-E74C-2B4B-957276E8D806}"/>
              </a:ext>
            </a:extLst>
          </p:cNvPr>
          <p:cNvSpPr txBox="1"/>
          <p:nvPr/>
        </p:nvSpPr>
        <p:spPr>
          <a:xfrm>
            <a:off x="4219738" y="47391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41" name="Text Placeholder 17">
            <a:extLst>
              <a:ext uri="{FF2B5EF4-FFF2-40B4-BE49-F238E27FC236}">
                <a16:creationId xmlns:a16="http://schemas.microsoft.com/office/drawing/2014/main" id="{1C82E62B-1934-A43D-2CF8-6CE106F43982}"/>
              </a:ext>
            </a:extLst>
          </p:cNvPr>
          <p:cNvSpPr txBox="1">
            <a:spLocks/>
          </p:cNvSpPr>
          <p:nvPr/>
        </p:nvSpPr>
        <p:spPr>
          <a:xfrm>
            <a:off x="3061784" y="5374160"/>
            <a:ext cx="2881791"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a:t>4 x 6 is </a:t>
            </a:r>
          </a:p>
          <a:p>
            <a:pPr algn="ctr"/>
            <a:r>
              <a:rPr lang="en-US" sz="2800"/>
              <a:t>4 x 5 and 4 x 1</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223712" y="47391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40" name="Text Placeholder 17">
            <a:extLst>
              <a:ext uri="{FF2B5EF4-FFF2-40B4-BE49-F238E27FC236}">
                <a16:creationId xmlns:a16="http://schemas.microsoft.com/office/drawing/2014/main" id="{FC7D49AE-0F69-EBB0-9451-129F248D3A49}"/>
              </a:ext>
            </a:extLst>
          </p:cNvPr>
          <p:cNvSpPr txBox="1">
            <a:spLocks/>
          </p:cNvSpPr>
          <p:nvPr/>
        </p:nvSpPr>
        <p:spPr>
          <a:xfrm>
            <a:off x="6053136" y="5374160"/>
            <a:ext cx="2881791"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a:t>4 x 6 is </a:t>
            </a:r>
          </a:p>
          <a:p>
            <a:pPr algn="ctr"/>
            <a:r>
              <a:rPr lang="en-US" sz="2800"/>
              <a:t>4 x 6 and 4 x 0</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467592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43" name="Text Placeholder 17">
            <a:extLst>
              <a:ext uri="{FF2B5EF4-FFF2-40B4-BE49-F238E27FC236}">
                <a16:creationId xmlns:a16="http://schemas.microsoft.com/office/drawing/2014/main" id="{C987FBB1-FFA5-B646-D1F7-FA76A9CEF67F}"/>
              </a:ext>
            </a:extLst>
          </p:cNvPr>
          <p:cNvSpPr txBox="1">
            <a:spLocks/>
          </p:cNvSpPr>
          <p:nvPr/>
        </p:nvSpPr>
        <p:spPr>
          <a:xfrm>
            <a:off x="8977791" y="5374160"/>
            <a:ext cx="2881791"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2800"/>
              <a:t>4 x 6 is </a:t>
            </a:r>
          </a:p>
          <a:p>
            <a:pPr algn="ctr"/>
            <a:r>
              <a:rPr lang="en-US" sz="2800"/>
              <a:t>6 x 3 and 6 x 1</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4322F3F0-245F-2439-023B-7A088E3DAB13}"/>
              </a:ext>
            </a:extLst>
          </p:cNvPr>
          <p:cNvSpPr txBox="1">
            <a:spLocks/>
          </p:cNvSpPr>
          <p:nvPr/>
        </p:nvSpPr>
        <p:spPr>
          <a:xfrm>
            <a:off x="360000" y="1374488"/>
            <a:ext cx="8022211"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a:t>2 shapes have been </a:t>
            </a:r>
            <a:r>
              <a:rPr lang="en-US" sz="4000" b="1"/>
              <a:t>combined</a:t>
            </a:r>
            <a:r>
              <a:rPr lang="en-US" sz="4000"/>
              <a:t>. </a:t>
            </a:r>
            <a:r>
              <a:rPr lang="en-US" sz="4000" b="1"/>
              <a:t>Record</a:t>
            </a:r>
            <a:r>
              <a:rPr lang="en-US" sz="4000"/>
              <a:t> the:</a:t>
            </a:r>
          </a:p>
          <a:p>
            <a:pPr marL="514350" lvl="0" indent="-514350">
              <a:buFont typeface="+mj-lt"/>
              <a:buAutoNum type="alphaLcParenR"/>
            </a:pPr>
            <a:r>
              <a:rPr lang="en-AU" sz="4000"/>
              <a:t>name of the new shape</a:t>
            </a:r>
          </a:p>
          <a:p>
            <a:pPr marL="514350" lvl="0" indent="-514350">
              <a:buFont typeface="+mj-lt"/>
              <a:buAutoNum type="alphaLcParenR"/>
            </a:pPr>
            <a:r>
              <a:rPr lang="en-AU" sz="4000"/>
              <a:t>key features of the new shape.</a:t>
            </a:r>
          </a:p>
          <a:p>
            <a:pPr algn="ctr"/>
            <a:endParaRPr lang="en-US" sz="3600"/>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grpSp>
        <p:nvGrpSpPr>
          <p:cNvPr id="8" name="Group 7" descr="An image of 2 2D shapes combined to make a new shape.">
            <a:extLst>
              <a:ext uri="{FF2B5EF4-FFF2-40B4-BE49-F238E27FC236}">
                <a16:creationId xmlns:a16="http://schemas.microsoft.com/office/drawing/2014/main" id="{E8650918-B2F5-8D8E-881B-A52ECAA106EC}"/>
              </a:ext>
            </a:extLst>
          </p:cNvPr>
          <p:cNvGrpSpPr/>
          <p:nvPr/>
        </p:nvGrpSpPr>
        <p:grpSpPr>
          <a:xfrm>
            <a:off x="8515513" y="1626704"/>
            <a:ext cx="2968487" cy="3604591"/>
            <a:chOff x="5128283" y="1510748"/>
            <a:chExt cx="2968487" cy="3604591"/>
          </a:xfrm>
        </p:grpSpPr>
        <p:sp>
          <p:nvSpPr>
            <p:cNvPr id="5" name="Rectangle 4" descr="An image of 2 2D shapes combined to make a new shape.">
              <a:extLst>
                <a:ext uri="{FF2B5EF4-FFF2-40B4-BE49-F238E27FC236}">
                  <a16:creationId xmlns:a16="http://schemas.microsoft.com/office/drawing/2014/main" id="{842A27CC-07C0-5162-0051-B5868796FFAC}"/>
                </a:ext>
              </a:extLst>
            </p:cNvPr>
            <p:cNvSpPr/>
            <p:nvPr/>
          </p:nvSpPr>
          <p:spPr>
            <a:xfrm>
              <a:off x="5128283" y="3056664"/>
              <a:ext cx="2968487" cy="205867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7" name="Isosceles Triangle 6">
              <a:extLst>
                <a:ext uri="{FF2B5EF4-FFF2-40B4-BE49-F238E27FC236}">
                  <a16:creationId xmlns:a16="http://schemas.microsoft.com/office/drawing/2014/main" id="{1600D660-896B-54D9-C709-424E9277B004}"/>
                </a:ext>
              </a:extLst>
            </p:cNvPr>
            <p:cNvSpPr/>
            <p:nvPr/>
          </p:nvSpPr>
          <p:spPr>
            <a:xfrm>
              <a:off x="5128283" y="1510748"/>
              <a:ext cx="2968487" cy="1545916"/>
            </a:xfrm>
            <a:prstGeom prst="triangle">
              <a:avLst/>
            </a:prstGeom>
            <a:solidFill>
              <a:schemeClr val="accent6">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4" name="TextBox 3">
            <a:extLst>
              <a:ext uri="{FF2B5EF4-FFF2-40B4-BE49-F238E27FC236}">
                <a16:creationId xmlns:a16="http://schemas.microsoft.com/office/drawing/2014/main" id="{F9D98DD7-50E7-807B-1B68-F6E2A6A8E9F1}"/>
              </a:ext>
            </a:extLst>
          </p:cNvPr>
          <p:cNvSpPr txBox="1"/>
          <p:nvPr/>
        </p:nvSpPr>
        <p:spPr>
          <a:xfrm>
            <a:off x="246024" y="1254887"/>
            <a:ext cx="11095400" cy="1269409"/>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000" b="1"/>
              <a:t>Record </a:t>
            </a:r>
            <a:r>
              <a:rPr lang="en-AU" sz="4000"/>
              <a:t>the</a:t>
            </a:r>
            <a:r>
              <a:rPr lang="en-AU" sz="4000" b="1"/>
              <a:t> </a:t>
            </a:r>
            <a:r>
              <a:rPr lang="en-AU" sz="4000"/>
              <a:t>following as decimal numbers:</a:t>
            </a:r>
            <a:endParaRPr lang="en-AU" sz="4000" b="1"/>
          </a:p>
        </p:txBody>
      </p:sp>
      <p:sp>
        <p:nvSpPr>
          <p:cNvPr id="5" name="TextBox 4">
            <a:extLst>
              <a:ext uri="{FF2B5EF4-FFF2-40B4-BE49-F238E27FC236}">
                <a16:creationId xmlns:a16="http://schemas.microsoft.com/office/drawing/2014/main" id="{9B3E34B0-3758-8E67-334B-303551EFE85D}"/>
              </a:ext>
            </a:extLst>
          </p:cNvPr>
          <p:cNvSpPr txBox="1"/>
          <p:nvPr/>
        </p:nvSpPr>
        <p:spPr>
          <a:xfrm>
            <a:off x="246024" y="2580702"/>
            <a:ext cx="11095400" cy="1269409"/>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742950" indent="-742950">
              <a:lnSpc>
                <a:spcPct val="150000"/>
              </a:lnSpc>
              <a:buFont typeface="+mj-lt"/>
              <a:buAutoNum type="alphaLcParenR"/>
            </a:pPr>
            <a:r>
              <a:rPr lang="en-AU" sz="3600"/>
              <a:t>3 tenths and 6 hundredths</a:t>
            </a:r>
          </a:p>
          <a:p>
            <a:pPr marL="742950" indent="-742950">
              <a:lnSpc>
                <a:spcPct val="150000"/>
              </a:lnSpc>
              <a:buFont typeface="+mj-lt"/>
              <a:buAutoNum type="alphaLcParenR"/>
            </a:pPr>
            <a:r>
              <a:rPr lang="en-AU" sz="3600"/>
              <a:t>1 tenth and 8 hundredths</a:t>
            </a:r>
          </a:p>
          <a:p>
            <a:pPr marL="742950" indent="-742950">
              <a:lnSpc>
                <a:spcPct val="150000"/>
              </a:lnSpc>
              <a:buFont typeface="+mj-lt"/>
              <a:buAutoNum type="alphaLcParenR"/>
            </a:pPr>
            <a:r>
              <a:rPr lang="en-AU" sz="3600"/>
              <a:t>4 hundredths</a:t>
            </a:r>
            <a:endParaRPr lang="en-AU" sz="3200"/>
          </a:p>
        </p:txBody>
      </p:sp>
      <p:pic>
        <p:nvPicPr>
          <p:cNvPr id="11" name="Picture 10" descr="A place value house with the column headings Hundreds, Tens, Ones Tenths and Hundredths.">
            <a:extLst>
              <a:ext uri="{FF2B5EF4-FFF2-40B4-BE49-F238E27FC236}">
                <a16:creationId xmlns:a16="http://schemas.microsoft.com/office/drawing/2014/main" id="{E39D6D57-4265-CB87-2DE0-D79A5F07F6DD}"/>
              </a:ext>
            </a:extLst>
          </p:cNvPr>
          <p:cNvPicPr>
            <a:picLocks noChangeAspect="1"/>
          </p:cNvPicPr>
          <p:nvPr/>
        </p:nvPicPr>
        <p:blipFill>
          <a:blip r:embed="rId4"/>
          <a:stretch>
            <a:fillRect/>
          </a:stretch>
        </p:blipFill>
        <p:spPr>
          <a:xfrm>
            <a:off x="6704807" y="2114768"/>
            <a:ext cx="5241169" cy="2913443"/>
          </a:xfrm>
          <a:prstGeom prst="rect">
            <a:avLst/>
          </a:prstGeom>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6" name="Text Placeholder 17">
            <a:extLst>
              <a:ext uri="{FF2B5EF4-FFF2-40B4-BE49-F238E27FC236}">
                <a16:creationId xmlns:a16="http://schemas.microsoft.com/office/drawing/2014/main" id="{31B8A1EF-D5B6-6AC3-3020-5435AF724585}"/>
              </a:ext>
            </a:extLst>
          </p:cNvPr>
          <p:cNvSpPr txBox="1">
            <a:spLocks/>
          </p:cNvSpPr>
          <p:nvPr/>
        </p:nvSpPr>
        <p:spPr>
          <a:xfrm>
            <a:off x="451462" y="1298908"/>
            <a:ext cx="11289075"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US" sz="3200" b="1"/>
              <a:t>Describe </a:t>
            </a:r>
            <a:r>
              <a:rPr lang="en-US" sz="3200"/>
              <a:t>this angle as </a:t>
            </a:r>
            <a:r>
              <a:rPr lang="en-US" sz="3200" b="1"/>
              <a:t>acute</a:t>
            </a:r>
            <a:r>
              <a:rPr lang="en-US" sz="3200"/>
              <a:t> or </a:t>
            </a:r>
            <a:r>
              <a:rPr lang="en-US" sz="3200" b="1"/>
              <a:t>obtuse</a:t>
            </a:r>
          </a:p>
          <a:p>
            <a:pPr marL="742950" indent="-742950">
              <a:buFont typeface="+mj-lt"/>
              <a:buAutoNum type="alphaLcParenR"/>
            </a:pPr>
            <a:r>
              <a:rPr lang="en-US" sz="3200" b="1"/>
              <a:t>Describe this angle in comparison to </a:t>
            </a:r>
            <a:r>
              <a:rPr lang="en-US" sz="3200"/>
              <a:t>a </a:t>
            </a:r>
            <a:r>
              <a:rPr lang="en-US" sz="3200" b="1"/>
              <a:t>quarter-turn</a:t>
            </a:r>
            <a:r>
              <a:rPr lang="en-US" sz="3200"/>
              <a:t>.</a:t>
            </a:r>
          </a:p>
        </p:txBody>
      </p:sp>
      <p:grpSp>
        <p:nvGrpSpPr>
          <p:cNvPr id="19" name="Group 18" descr="An image of a pink stapler with 2 red lines outlining the angle size of the stapler arms. ">
            <a:extLst>
              <a:ext uri="{FF2B5EF4-FFF2-40B4-BE49-F238E27FC236}">
                <a16:creationId xmlns:a16="http://schemas.microsoft.com/office/drawing/2014/main" id="{52EB7A69-F868-D4FC-A7BC-40DCA5149F4B}"/>
              </a:ext>
            </a:extLst>
          </p:cNvPr>
          <p:cNvGrpSpPr/>
          <p:nvPr/>
        </p:nvGrpSpPr>
        <p:grpSpPr>
          <a:xfrm>
            <a:off x="3628670" y="3810676"/>
            <a:ext cx="5175819" cy="2536599"/>
            <a:chOff x="5690964" y="1424401"/>
            <a:chExt cx="5175819" cy="2536599"/>
          </a:xfrm>
        </p:grpSpPr>
        <p:sp>
          <p:nvSpPr>
            <p:cNvPr id="17" name="Freeform 19">
              <a:extLst>
                <a:ext uri="{FF2B5EF4-FFF2-40B4-BE49-F238E27FC236}">
                  <a16:creationId xmlns:a16="http://schemas.microsoft.com/office/drawing/2014/main" id="{4F18E55C-68FD-30CA-9172-AD73E8CF6637}"/>
                </a:ext>
              </a:extLst>
            </p:cNvPr>
            <p:cNvSpPr>
              <a:spLocks noChangeAspect="1"/>
            </p:cNvSpPr>
            <p:nvPr/>
          </p:nvSpPr>
          <p:spPr>
            <a:xfrm>
              <a:off x="5690964" y="1424401"/>
              <a:ext cx="4741305" cy="2536599"/>
            </a:xfrm>
            <a:custGeom>
              <a:avLst/>
              <a:gdLst/>
              <a:ahLst/>
              <a:cxnLst/>
              <a:rect l="l" t="t" r="r" b="b"/>
              <a:pathLst>
                <a:path w="8877600" h="4749516">
                  <a:moveTo>
                    <a:pt x="0" y="0"/>
                  </a:moveTo>
                  <a:lnTo>
                    <a:pt x="8877600" y="0"/>
                  </a:lnTo>
                  <a:lnTo>
                    <a:pt x="8877600" y="4749516"/>
                  </a:lnTo>
                  <a:lnTo>
                    <a:pt x="0" y="4749516"/>
                  </a:lnTo>
                  <a:lnTo>
                    <a:pt x="0" y="0"/>
                  </a:lnTo>
                  <a:close/>
                </a:path>
              </a:pathLst>
            </a:custGeom>
            <a:blipFill>
              <a:blip r:embed="rId4"/>
              <a:stretch>
                <a:fillRect/>
              </a:stretch>
            </a:blipFill>
          </p:spPr>
          <p:txBody>
            <a:bodyPr/>
            <a:lstStyle/>
            <a:p>
              <a:endParaRPr lang="en-AU"/>
            </a:p>
          </p:txBody>
        </p:sp>
        <p:grpSp>
          <p:nvGrpSpPr>
            <p:cNvPr id="18" name="Group 17">
              <a:extLst>
                <a:ext uri="{FF2B5EF4-FFF2-40B4-BE49-F238E27FC236}">
                  <a16:creationId xmlns:a16="http://schemas.microsoft.com/office/drawing/2014/main" id="{3E8337D4-4CFF-1989-4B15-6581A2A6C579}"/>
                </a:ext>
              </a:extLst>
            </p:cNvPr>
            <p:cNvGrpSpPr/>
            <p:nvPr/>
          </p:nvGrpSpPr>
          <p:grpSpPr>
            <a:xfrm>
              <a:off x="7036904" y="2264321"/>
              <a:ext cx="3829879" cy="869119"/>
              <a:chOff x="7036904" y="2218637"/>
              <a:chExt cx="3829879" cy="869119"/>
            </a:xfrm>
          </p:grpSpPr>
          <p:sp>
            <p:nvSpPr>
              <p:cNvPr id="7" name="AutoShape 134">
                <a:extLst>
                  <a:ext uri="{FF2B5EF4-FFF2-40B4-BE49-F238E27FC236}">
                    <a16:creationId xmlns:a16="http://schemas.microsoft.com/office/drawing/2014/main" id="{C98A3392-B52B-A464-7B2A-DC42B23E5CF1}"/>
                  </a:ext>
                </a:extLst>
              </p:cNvPr>
              <p:cNvSpPr/>
              <p:nvPr/>
            </p:nvSpPr>
            <p:spPr>
              <a:xfrm flipV="1">
                <a:off x="7036904" y="2218637"/>
                <a:ext cx="3829879" cy="869119"/>
              </a:xfrm>
              <a:prstGeom prst="line">
                <a:avLst/>
              </a:prstGeom>
              <a:ln w="63500" cap="flat">
                <a:solidFill>
                  <a:schemeClr val="tx2"/>
                </a:solidFill>
                <a:prstDash val="solid"/>
                <a:headEnd type="none" w="sm" len="sm"/>
                <a:tailEnd type="none" w="sm" len="sm"/>
              </a:ln>
            </p:spPr>
            <p:txBody>
              <a:bodyPr/>
              <a:lstStyle/>
              <a:p>
                <a:endParaRPr lang="en-AU"/>
              </a:p>
            </p:txBody>
          </p:sp>
          <p:sp>
            <p:nvSpPr>
              <p:cNvPr id="5" name="AutoShape 133">
                <a:extLst>
                  <a:ext uri="{FF2B5EF4-FFF2-40B4-BE49-F238E27FC236}">
                    <a16:creationId xmlns:a16="http://schemas.microsoft.com/office/drawing/2014/main" id="{A49160CC-27AC-B63F-2C10-AB8A4A2F4644}"/>
                  </a:ext>
                </a:extLst>
              </p:cNvPr>
              <p:cNvSpPr/>
              <p:nvPr/>
            </p:nvSpPr>
            <p:spPr>
              <a:xfrm flipV="1">
                <a:off x="7036904" y="3087756"/>
                <a:ext cx="3829878" cy="0"/>
              </a:xfrm>
              <a:prstGeom prst="line">
                <a:avLst/>
              </a:prstGeom>
              <a:ln w="63500" cap="flat">
                <a:solidFill>
                  <a:schemeClr val="tx2"/>
                </a:solidFill>
                <a:prstDash val="solid"/>
                <a:headEnd type="none" w="sm" len="sm"/>
                <a:tailEnd type="none" w="sm" len="sm"/>
              </a:ln>
            </p:spPr>
            <p:txBody>
              <a:bodyPr/>
              <a:lstStyle/>
              <a:p>
                <a:endParaRPr lang="en-AU"/>
              </a:p>
            </p:txBody>
          </p:sp>
        </p:grpSp>
      </p:gr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85C9DE8-1186-82EB-C784-6BD7B1F34333}"/>
              </a:ext>
            </a:extLst>
          </p:cNvPr>
          <p:cNvSpPr txBox="1"/>
          <p:nvPr/>
        </p:nvSpPr>
        <p:spPr>
          <a:xfrm>
            <a:off x="594408" y="1090756"/>
            <a:ext cx="10764000" cy="1651671"/>
          </a:xfrm>
          <a:prstGeom prst="rect">
            <a:avLst/>
          </a:prstGeom>
          <a:noFill/>
        </p:spPr>
        <p:txBody>
          <a:bodyPr wrap="square">
            <a:spAutoFit/>
          </a:bodyPr>
          <a:lstStyle/>
          <a:p>
            <a:pPr algn="ctr">
              <a:lnSpc>
                <a:spcPct val="150000"/>
              </a:lnSpc>
            </a:pPr>
            <a:r>
              <a:rPr lang="en-AU" sz="3600" b="1" i="0" u="none" strike="noStrike">
                <a:solidFill>
                  <a:srgbClr val="22272B"/>
                </a:solidFill>
                <a:effectLst/>
                <a:latin typeface="Arial" panose="020B0604020202020204" pitchFamily="34" charset="0"/>
              </a:rPr>
              <a:t>Record</a:t>
            </a:r>
            <a:r>
              <a:rPr lang="en-AU" sz="3600" b="0" i="0" u="none" strike="noStrike">
                <a:solidFill>
                  <a:srgbClr val="22272B"/>
                </a:solidFill>
                <a:effectLst/>
                <a:latin typeface="Arial" panose="020B0604020202020204" pitchFamily="34" charset="0"/>
              </a:rPr>
              <a:t> the volume of each object by counting the cubic centimetre blocks.</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9" name="Picture 8" descr="2 different three-dimensional objects made up of cubic centimetre blocks.">
            <a:extLst>
              <a:ext uri="{FF2B5EF4-FFF2-40B4-BE49-F238E27FC236}">
                <a16:creationId xmlns:a16="http://schemas.microsoft.com/office/drawing/2014/main" id="{415D519F-21C5-3E07-F8EB-2EB8F464F99D}"/>
              </a:ext>
            </a:extLst>
          </p:cNvPr>
          <p:cNvPicPr>
            <a:picLocks noChangeAspect="1"/>
          </p:cNvPicPr>
          <p:nvPr/>
        </p:nvPicPr>
        <p:blipFill>
          <a:blip r:embed="rId4">
            <a:extLst>
              <a:ext uri="{28A0092B-C50C-407E-A947-70E740481C1C}">
                <a14:useLocalDpi xmlns:a14="http://schemas.microsoft.com/office/drawing/2010/main" val="0"/>
              </a:ext>
            </a:extLst>
          </a:blip>
          <a:srcRect l="2591" t="25192" r="2252" b="32367"/>
          <a:stretch>
            <a:fillRect/>
          </a:stretch>
        </p:blipFill>
        <p:spPr>
          <a:xfrm>
            <a:off x="1497496" y="2927582"/>
            <a:ext cx="9229772" cy="2910627"/>
          </a:xfrm>
          <a:prstGeom prst="rect">
            <a:avLst/>
          </a:prstGeom>
        </p:spPr>
      </p:pic>
      <p:sp>
        <p:nvSpPr>
          <p:cNvPr id="7" name="TextBox 6">
            <a:extLst>
              <a:ext uri="{FF2B5EF4-FFF2-40B4-BE49-F238E27FC236}">
                <a16:creationId xmlns:a16="http://schemas.microsoft.com/office/drawing/2014/main" id="{5453CF79-920C-3C66-E99B-3F14CB6FFD3A}"/>
              </a:ext>
            </a:extLst>
          </p:cNvPr>
          <p:cNvSpPr txBox="1"/>
          <p:nvPr/>
        </p:nvSpPr>
        <p:spPr>
          <a:xfrm>
            <a:off x="2517058" y="5838209"/>
            <a:ext cx="658761" cy="769441"/>
          </a:xfrm>
          <a:prstGeom prst="rect">
            <a:avLst/>
          </a:prstGeom>
          <a:noFill/>
        </p:spPr>
        <p:txBody>
          <a:bodyPr wrap="square">
            <a:spAutoFit/>
          </a:bodyPr>
          <a:lstStyle/>
          <a:p>
            <a:r>
              <a:rPr lang="en-AU" sz="4400" b="1" i="0" u="none" strike="noStrike" dirty="0">
                <a:solidFill>
                  <a:srgbClr val="22272B"/>
                </a:solidFill>
                <a:effectLst/>
                <a:latin typeface="Arial" panose="020B0604020202020204" pitchFamily="34" charset="0"/>
              </a:rPr>
              <a:t>A</a:t>
            </a:r>
            <a:endParaRPr lang="en-AU" sz="4400" dirty="0"/>
          </a:p>
        </p:txBody>
      </p:sp>
      <p:sp>
        <p:nvSpPr>
          <p:cNvPr id="8" name="TextBox 7">
            <a:extLst>
              <a:ext uri="{FF2B5EF4-FFF2-40B4-BE49-F238E27FC236}">
                <a16:creationId xmlns:a16="http://schemas.microsoft.com/office/drawing/2014/main" id="{285D7DBE-A2F5-7ED8-F8A3-57B917C442E1}"/>
              </a:ext>
            </a:extLst>
          </p:cNvPr>
          <p:cNvSpPr txBox="1"/>
          <p:nvPr/>
        </p:nvSpPr>
        <p:spPr>
          <a:xfrm>
            <a:off x="7664246" y="5767244"/>
            <a:ext cx="658761" cy="769441"/>
          </a:xfrm>
          <a:prstGeom prst="rect">
            <a:avLst/>
          </a:prstGeom>
          <a:noFill/>
        </p:spPr>
        <p:txBody>
          <a:bodyPr wrap="square">
            <a:spAutoFit/>
          </a:bodyPr>
          <a:lstStyle/>
          <a:p>
            <a:r>
              <a:rPr lang="en-AU" sz="4400" b="1" i="0" u="none" strike="noStrike" dirty="0">
                <a:solidFill>
                  <a:srgbClr val="22272B"/>
                </a:solidFill>
                <a:effectLst/>
                <a:latin typeface="Arial" panose="020B0604020202020204" pitchFamily="34" charset="0"/>
              </a:rPr>
              <a:t>B</a:t>
            </a:r>
            <a:endParaRPr lang="en-AU" sz="4400" dirty="0"/>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59999" y="360000"/>
            <a:ext cx="10747003" cy="545601"/>
          </a:xfrm>
        </p:spPr>
        <p:txBody>
          <a:bodyPr/>
          <a:lstStyle/>
          <a:p>
            <a:r>
              <a:rPr lang="en-AU"/>
              <a:t>Activity 3 – flexible partitioning within multiplication 1</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 Placeholder 5">
            <a:extLst>
              <a:ext uri="{FF2B5EF4-FFF2-40B4-BE49-F238E27FC236}">
                <a16:creationId xmlns:a16="http://schemas.microsoft.com/office/drawing/2014/main" id="{18AFB8CA-4ECD-E875-451D-5E22E583C380}"/>
              </a:ext>
            </a:extLst>
          </p:cNvPr>
          <p:cNvSpPr txBox="1">
            <a:spLocks/>
          </p:cNvSpPr>
          <p:nvPr/>
        </p:nvSpPr>
        <p:spPr>
          <a:xfrm>
            <a:off x="249468" y="1474911"/>
            <a:ext cx="7016666" cy="8932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1"/>
              <a:t>Can you</a:t>
            </a:r>
            <a:r>
              <a:rPr lang="en-AU" sz="3200"/>
              <a:t>:</a:t>
            </a:r>
          </a:p>
          <a:p>
            <a:pPr marL="457200" indent="-457200">
              <a:buFont typeface="Arial" panose="020B0604020202020204" pitchFamily="34" charset="0"/>
              <a:buChar char="•"/>
            </a:pPr>
            <a:r>
              <a:rPr lang="en-AU" sz="3200"/>
              <a:t>name a difficult </a:t>
            </a:r>
            <a:r>
              <a:rPr lang="en-AU" sz="3200" b="1"/>
              <a:t>multiplication fact</a:t>
            </a:r>
          </a:p>
          <a:p>
            <a:pPr marL="457200" indent="-457200">
              <a:buFont typeface="Arial" panose="020B0604020202020204" pitchFamily="34" charset="0"/>
              <a:buChar char="•"/>
            </a:pPr>
            <a:r>
              <a:rPr lang="en-AU" sz="3200"/>
              <a:t>construct the </a:t>
            </a:r>
            <a:r>
              <a:rPr lang="en-AU" sz="3200" b="1"/>
              <a:t>array</a:t>
            </a:r>
          </a:p>
          <a:p>
            <a:pPr marL="457200" indent="-457200">
              <a:buFont typeface="Arial" panose="020B0604020202020204" pitchFamily="34" charset="0"/>
              <a:buChar char="•"/>
            </a:pPr>
            <a:r>
              <a:rPr lang="en-AU" sz="3200" b="1"/>
              <a:t>partition</a:t>
            </a:r>
            <a:r>
              <a:rPr lang="en-AU" sz="3200"/>
              <a:t> the array to make the multiplication fact easier to recall.</a:t>
            </a:r>
          </a:p>
          <a:p>
            <a:pPr marL="457200" indent="-457200">
              <a:buFont typeface="Wingdings" panose="05000000000000000000" pitchFamily="2" charset="2"/>
              <a:buChar char="q"/>
            </a:pPr>
            <a:endParaRPr lang="en-AU" sz="3200"/>
          </a:p>
        </p:txBody>
      </p:sp>
      <p:pic>
        <p:nvPicPr>
          <p:cNvPr id="5" name="Picture 4" descr="An array made up of 8 rows of six blue squares">
            <a:extLst>
              <a:ext uri="{FF2B5EF4-FFF2-40B4-BE49-F238E27FC236}">
                <a16:creationId xmlns:a16="http://schemas.microsoft.com/office/drawing/2014/main" id="{56214209-C2D1-7824-0C0F-78739443AB75}"/>
              </a:ext>
            </a:extLst>
          </p:cNvPr>
          <p:cNvPicPr>
            <a:picLocks noChangeAspect="1"/>
          </p:cNvPicPr>
          <p:nvPr/>
        </p:nvPicPr>
        <p:blipFill>
          <a:blip r:embed="rId4"/>
          <a:srcRect l="-1" r="-1794"/>
          <a:stretch>
            <a:fillRect/>
          </a:stretch>
        </p:blipFill>
        <p:spPr>
          <a:xfrm>
            <a:off x="7557536" y="1146602"/>
            <a:ext cx="3747334" cy="5320053"/>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844971" y="1135664"/>
            <a:ext cx="10585958" cy="893226"/>
          </a:xfrm>
        </p:spPr>
        <p:txBody>
          <a:bodyPr/>
          <a:lstStyle/>
          <a:p>
            <a:pPr algn="ctr"/>
            <a:r>
              <a:rPr lang="en-AU" sz="4000"/>
              <a:t>The </a:t>
            </a:r>
            <a:r>
              <a:rPr lang="en-AU" sz="4000" b="1"/>
              <a:t>number sentence </a:t>
            </a:r>
            <a:r>
              <a:rPr lang="en-AU" sz="4000"/>
              <a:t>8 x 6 can be </a:t>
            </a:r>
            <a:r>
              <a:rPr lang="en-AU" sz="4000" b="1"/>
              <a:t>partitioned</a:t>
            </a:r>
            <a:r>
              <a:rPr lang="en-AU" sz="4000"/>
              <a:t> as:</a:t>
            </a:r>
          </a:p>
        </p:txBody>
      </p:sp>
      <p:sp>
        <p:nvSpPr>
          <p:cNvPr id="10" name="TextBox 9">
            <a:extLst>
              <a:ext uri="{FF2B5EF4-FFF2-40B4-BE49-F238E27FC236}">
                <a16:creationId xmlns:a16="http://schemas.microsoft.com/office/drawing/2014/main" id="{C0CA489E-0E4A-80E0-5CD3-81FA6210A58A}"/>
              </a:ext>
            </a:extLst>
          </p:cNvPr>
          <p:cNvSpPr txBox="1"/>
          <p:nvPr/>
        </p:nvSpPr>
        <p:spPr>
          <a:xfrm>
            <a:off x="3626704" y="3429000"/>
            <a:ext cx="5271369" cy="830997"/>
          </a:xfrm>
          <a:prstGeom prst="rect">
            <a:avLst/>
          </a:prstGeom>
          <a:noFill/>
        </p:spPr>
        <p:txBody>
          <a:bodyPr wrap="square">
            <a:spAutoFit/>
          </a:bodyPr>
          <a:lstStyle/>
          <a:p>
            <a:pPr algn="ctr"/>
            <a:r>
              <a:rPr lang="en-AU" sz="4800"/>
              <a:t>8 x 5 </a:t>
            </a:r>
            <a:r>
              <a:rPr lang="en-AU" sz="4800" b="1"/>
              <a:t>and </a:t>
            </a:r>
            <a:r>
              <a:rPr lang="en-AU" sz="4800"/>
              <a:t>8 x 1</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4225435664"/>
              </p:ext>
            </p:extLst>
          </p:nvPr>
        </p:nvGraphicFramePr>
        <p:xfrm>
          <a:off x="2599412" y="489402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11" name="TextBox 10">
            <a:extLst>
              <a:ext uri="{FF2B5EF4-FFF2-40B4-BE49-F238E27FC236}">
                <a16:creationId xmlns:a16="http://schemas.microsoft.com/office/drawing/2014/main" id="{A56E8C96-1DCA-580B-1340-24AD2530683A}"/>
              </a:ext>
            </a:extLst>
          </p:cNvPr>
          <p:cNvSpPr txBox="1"/>
          <p:nvPr/>
        </p:nvSpPr>
        <p:spPr>
          <a:xfrm>
            <a:off x="1400779" y="5818407"/>
            <a:ext cx="9723221" cy="901593"/>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000" b="1">
                <a:latin typeface="Arial"/>
                <a:cs typeface="Arial"/>
              </a:rPr>
              <a:t>Communicate </a:t>
            </a:r>
            <a:r>
              <a:rPr lang="en-AU" sz="4000">
                <a:latin typeface="Arial"/>
                <a:cs typeface="Arial"/>
              </a:rPr>
              <a:t>your</a:t>
            </a:r>
            <a:r>
              <a:rPr lang="en-AU" sz="4000" b="1">
                <a:latin typeface="Arial"/>
                <a:cs typeface="Arial"/>
              </a:rPr>
              <a:t> reasoning.</a:t>
            </a:r>
          </a:p>
        </p:txBody>
      </p:sp>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5">
            <a:extLst>
              <a:ext uri="{FF2B5EF4-FFF2-40B4-BE49-F238E27FC236}">
                <a16:creationId xmlns:a16="http://schemas.microsoft.com/office/drawing/2014/main" id="{882625A0-EED4-663A-18FE-F7D39E4B1E20}"/>
              </a:ext>
            </a:extLst>
          </p:cNvPr>
          <p:cNvSpPr txBox="1">
            <a:spLocks/>
          </p:cNvSpPr>
          <p:nvPr/>
        </p:nvSpPr>
        <p:spPr>
          <a:xfrm>
            <a:off x="474480" y="1165428"/>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Identify</a:t>
            </a:r>
            <a:r>
              <a:rPr lang="en-AU" sz="3600"/>
              <a:t> which is an example of </a:t>
            </a:r>
            <a:r>
              <a:rPr lang="en-AU" sz="3600" b="1"/>
              <a:t>tessellation</a:t>
            </a:r>
            <a:r>
              <a:rPr lang="en-AU" sz="3600"/>
              <a:t>.</a:t>
            </a:r>
          </a:p>
        </p:txBody>
      </p:sp>
      <p:pic>
        <p:nvPicPr>
          <p:cNvPr id="15" name="Picture 14" descr="An image of two right angle triangles attaching only at one vertices, labelled A.">
            <a:extLst>
              <a:ext uri="{FF2B5EF4-FFF2-40B4-BE49-F238E27FC236}">
                <a16:creationId xmlns:a16="http://schemas.microsoft.com/office/drawing/2014/main" id="{A6DACB14-EF36-11F8-DAD6-C03492FC9D7C}"/>
              </a:ext>
            </a:extLst>
          </p:cNvPr>
          <p:cNvPicPr>
            <a:picLocks noChangeAspect="1"/>
          </p:cNvPicPr>
          <p:nvPr/>
        </p:nvPicPr>
        <p:blipFill>
          <a:blip r:embed="rId4"/>
          <a:stretch>
            <a:fillRect/>
          </a:stretch>
        </p:blipFill>
        <p:spPr>
          <a:xfrm>
            <a:off x="2503256" y="2235596"/>
            <a:ext cx="3592743" cy="2845629"/>
          </a:xfrm>
          <a:prstGeom prst="rect">
            <a:avLst/>
          </a:prstGeom>
        </p:spPr>
      </p:pic>
      <p:sp>
        <p:nvSpPr>
          <p:cNvPr id="12" name="Text Placeholder 5">
            <a:extLst>
              <a:ext uri="{FF2B5EF4-FFF2-40B4-BE49-F238E27FC236}">
                <a16:creationId xmlns:a16="http://schemas.microsoft.com/office/drawing/2014/main" id="{11AC3836-B2C4-4BCC-C870-88DF1221106A}"/>
              </a:ext>
            </a:extLst>
          </p:cNvPr>
          <p:cNvSpPr txBox="1">
            <a:spLocks/>
          </p:cNvSpPr>
          <p:nvPr/>
        </p:nvSpPr>
        <p:spPr>
          <a:xfrm>
            <a:off x="360000" y="4951192"/>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Communicate </a:t>
            </a:r>
            <a:r>
              <a:rPr lang="en-AU" sz="3600"/>
              <a:t>your reasoning using the terms </a:t>
            </a:r>
            <a:r>
              <a:rPr lang="en-AU" sz="3600" b="1"/>
              <a:t>reflecting</a:t>
            </a:r>
            <a:r>
              <a:rPr lang="en-AU" sz="3600"/>
              <a:t>, </a:t>
            </a:r>
            <a:r>
              <a:rPr lang="en-AU" sz="3600" b="1"/>
              <a:t>translating</a:t>
            </a:r>
            <a:r>
              <a:rPr lang="en-AU" sz="3600"/>
              <a:t> and </a:t>
            </a:r>
            <a:r>
              <a:rPr lang="en-AU" sz="3600" b="1"/>
              <a:t>rotating</a:t>
            </a:r>
            <a:r>
              <a:rPr lang="en-AU" sz="3600"/>
              <a:t>.</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grpSp>
        <p:nvGrpSpPr>
          <p:cNvPr id="8" name="Group 7" descr="A right angled triangle that has been rotated and copied to create a square labelled  with the letter 'B'.">
            <a:extLst>
              <a:ext uri="{FF2B5EF4-FFF2-40B4-BE49-F238E27FC236}">
                <a16:creationId xmlns:a16="http://schemas.microsoft.com/office/drawing/2014/main" id="{428311FC-24A8-44AF-65EC-239FF1BF6373}"/>
              </a:ext>
            </a:extLst>
          </p:cNvPr>
          <p:cNvGrpSpPr/>
          <p:nvPr/>
        </p:nvGrpSpPr>
        <p:grpSpPr>
          <a:xfrm>
            <a:off x="6813555" y="2475733"/>
            <a:ext cx="1641350" cy="2605492"/>
            <a:chOff x="6734042" y="2538297"/>
            <a:chExt cx="1641350" cy="2605492"/>
          </a:xfrm>
        </p:grpSpPr>
        <p:sp>
          <p:nvSpPr>
            <p:cNvPr id="4" name="Right Triangle 3">
              <a:extLst>
                <a:ext uri="{FF2B5EF4-FFF2-40B4-BE49-F238E27FC236}">
                  <a16:creationId xmlns:a16="http://schemas.microsoft.com/office/drawing/2014/main" id="{A32DAF17-A20D-A067-6E01-60D1B20A1ABB}"/>
                </a:ext>
              </a:extLst>
            </p:cNvPr>
            <p:cNvSpPr>
              <a:spLocks noChangeAspect="1"/>
            </p:cNvSpPr>
            <p:nvPr/>
          </p:nvSpPr>
          <p:spPr>
            <a:xfrm>
              <a:off x="6736990" y="2551550"/>
              <a:ext cx="1638402" cy="1641699"/>
            </a:xfrm>
            <a:prstGeom prst="rtTriangle">
              <a:avLst/>
            </a:prstGeom>
            <a:solidFill>
              <a:srgbClr val="007A8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ight Triangle 4">
              <a:extLst>
                <a:ext uri="{FF2B5EF4-FFF2-40B4-BE49-F238E27FC236}">
                  <a16:creationId xmlns:a16="http://schemas.microsoft.com/office/drawing/2014/main" id="{78B79D8A-89B6-8B3C-558B-21E22FCBB899}"/>
                </a:ext>
              </a:extLst>
            </p:cNvPr>
            <p:cNvSpPr>
              <a:spLocks noChangeAspect="1"/>
            </p:cNvSpPr>
            <p:nvPr/>
          </p:nvSpPr>
          <p:spPr>
            <a:xfrm rot="10800000">
              <a:off x="6734042" y="2538297"/>
              <a:ext cx="1638402" cy="1641699"/>
            </a:xfrm>
            <a:prstGeom prst="rtTriangle">
              <a:avLst/>
            </a:prstGeom>
            <a:solidFill>
              <a:srgbClr val="007A8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294F7F53-32B2-883D-52CC-1E450177E8D1}"/>
                </a:ext>
              </a:extLst>
            </p:cNvPr>
            <p:cNvSpPr txBox="1"/>
            <p:nvPr/>
          </p:nvSpPr>
          <p:spPr>
            <a:xfrm>
              <a:off x="7324855" y="4404711"/>
              <a:ext cx="914400" cy="739078"/>
            </a:xfrm>
            <a:prstGeom prst="rect">
              <a:avLst/>
            </a:prstGeom>
            <a:noFill/>
          </p:spPr>
          <p:txBody>
            <a:bodyPr wrap="none" lIns="0" tIns="0" rIns="0" bIns="0" rtlCol="0">
              <a:noAutofit/>
            </a:bodyPr>
            <a:lstStyle/>
            <a:p>
              <a:pPr algn="l"/>
              <a:r>
                <a:rPr lang="en-AU" sz="3600" b="1">
                  <a:solidFill>
                    <a:schemeClr val="accent2"/>
                  </a:solidFill>
                </a:rPr>
                <a:t>B</a:t>
              </a:r>
              <a:endParaRPr lang="en-AU" sz="1600" b="1">
                <a:solidFill>
                  <a:schemeClr val="accent2"/>
                </a:solidFill>
              </a:endParaRPr>
            </a:p>
          </p:txBody>
        </p:sp>
      </p:gr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5" name="TextBox 4">
            <a:extLst>
              <a:ext uri="{FF2B5EF4-FFF2-40B4-BE49-F238E27FC236}">
                <a16:creationId xmlns:a16="http://schemas.microsoft.com/office/drawing/2014/main" id="{ACE119B5-2994-3A18-95F7-2907B91C0FF8}"/>
              </a:ext>
            </a:extLst>
          </p:cNvPr>
          <p:cNvSpPr txBox="1"/>
          <p:nvPr/>
        </p:nvSpPr>
        <p:spPr>
          <a:xfrm>
            <a:off x="1558954" y="1393380"/>
            <a:ext cx="9088800" cy="1998176"/>
          </a:xfrm>
          <a:prstGeom prst="rect">
            <a:avLst/>
          </a:prstGeom>
          <a:noFill/>
        </p:spPr>
        <p:txBody>
          <a:bodyPr wrap="square">
            <a:spAutoFit/>
          </a:bodyPr>
          <a:lstStyle/>
          <a:p>
            <a:pPr algn="ctr">
              <a:lnSpc>
                <a:spcPct val="150000"/>
              </a:lnSpc>
            </a:pPr>
            <a:r>
              <a:rPr lang="en-AU" sz="4400" b="1" i="0" u="none" strike="noStrike">
                <a:solidFill>
                  <a:srgbClr val="22272B"/>
                </a:solidFill>
                <a:effectLst/>
                <a:latin typeface="Arial" panose="020B0604020202020204" pitchFamily="34" charset="0"/>
              </a:rPr>
              <a:t>Record</a:t>
            </a:r>
            <a:r>
              <a:rPr lang="en-AU" sz="4400" b="0" i="0" u="none" strike="noStrike">
                <a:solidFill>
                  <a:srgbClr val="22272B"/>
                </a:solidFill>
                <a:effectLst/>
                <a:latin typeface="Arial" panose="020B0604020202020204" pitchFamily="34" charset="0"/>
              </a:rPr>
              <a:t> the decimals </a:t>
            </a:r>
            <a:r>
              <a:rPr lang="en-AU" sz="4400" b="1" i="0" u="none" strike="noStrike">
                <a:solidFill>
                  <a:srgbClr val="22272B"/>
                </a:solidFill>
                <a:effectLst/>
                <a:latin typeface="Arial" panose="020B0604020202020204" pitchFamily="34" charset="0"/>
              </a:rPr>
              <a:t>between 0.2 </a:t>
            </a:r>
            <a:r>
              <a:rPr lang="en-AU" sz="4400" b="0" i="0" u="none" strike="noStrike">
                <a:solidFill>
                  <a:srgbClr val="22272B"/>
                </a:solidFill>
                <a:effectLst/>
                <a:latin typeface="Arial" panose="020B0604020202020204" pitchFamily="34" charset="0"/>
              </a:rPr>
              <a:t>and </a:t>
            </a:r>
            <a:r>
              <a:rPr lang="en-AU" sz="4400" b="1" i="0" u="none" strike="noStrike">
                <a:solidFill>
                  <a:srgbClr val="22272B"/>
                </a:solidFill>
                <a:effectLst/>
                <a:latin typeface="Arial" panose="020B0604020202020204" pitchFamily="34" charset="0"/>
              </a:rPr>
              <a:t>0.3</a:t>
            </a:r>
            <a:r>
              <a:rPr lang="en-AU" sz="4400" b="0" i="0" u="none" strike="noStrike">
                <a:solidFill>
                  <a:srgbClr val="22272B"/>
                </a:solidFill>
                <a:effectLst/>
                <a:latin typeface="Arial" panose="020B0604020202020204" pitchFamily="34" charset="0"/>
              </a:rPr>
              <a:t> to </a:t>
            </a:r>
            <a:r>
              <a:rPr lang="en-AU" sz="4400" b="1" i="0" u="none" strike="noStrike">
                <a:solidFill>
                  <a:srgbClr val="22272B"/>
                </a:solidFill>
                <a:effectLst/>
                <a:latin typeface="Arial" panose="020B0604020202020204" pitchFamily="34" charset="0"/>
              </a:rPr>
              <a:t>2 decimal places</a:t>
            </a:r>
            <a:r>
              <a:rPr lang="en-AU" sz="4400" b="0" i="0" u="none" strike="noStrike">
                <a:solidFill>
                  <a:srgbClr val="22272B"/>
                </a:solidFill>
                <a:effectLst/>
                <a:latin typeface="Arial" panose="020B0604020202020204" pitchFamily="34" charset="0"/>
              </a:rPr>
              <a:t>.</a:t>
            </a:r>
          </a:p>
        </p:txBody>
      </p:sp>
      <p:pic>
        <p:nvPicPr>
          <p:cNvPr id="20" name="Picture 19" descr="A magnifying glass zooming in on numbers between 0.2 and 0.3 on a number line. Another number line has with divisions between 0.2 and 0.3 ready to be labelled.">
            <a:extLst>
              <a:ext uri="{FF2B5EF4-FFF2-40B4-BE49-F238E27FC236}">
                <a16:creationId xmlns:a16="http://schemas.microsoft.com/office/drawing/2014/main" id="{7F8366C4-7DF3-8908-42AF-BC7D63FC35D0}"/>
              </a:ext>
            </a:extLst>
          </p:cNvPr>
          <p:cNvPicPr>
            <a:picLocks noChangeAspect="1"/>
          </p:cNvPicPr>
          <p:nvPr/>
        </p:nvPicPr>
        <p:blipFill>
          <a:blip r:embed="rId4">
            <a:extLst>
              <a:ext uri="{28A0092B-C50C-407E-A947-70E740481C1C}">
                <a14:useLocalDpi xmlns:a14="http://schemas.microsoft.com/office/drawing/2010/main" val="0"/>
              </a:ext>
            </a:extLst>
          </a:blip>
          <a:srcRect t="52200" b="24031"/>
          <a:stretch>
            <a:fillRect/>
          </a:stretch>
        </p:blipFill>
        <p:spPr>
          <a:xfrm>
            <a:off x="1638468" y="3550429"/>
            <a:ext cx="8929772" cy="1500600"/>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59857862-DD72-2FBD-653F-F1A547F42DDC}"/>
              </a:ext>
            </a:extLst>
          </p:cNvPr>
          <p:cNvSpPr txBox="1">
            <a:spLocks/>
          </p:cNvSpPr>
          <p:nvPr/>
        </p:nvSpPr>
        <p:spPr>
          <a:xfrm>
            <a:off x="68584" y="893449"/>
            <a:ext cx="781688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400" dirty="0"/>
              <a:t>At </a:t>
            </a:r>
            <a:r>
              <a:rPr lang="en-AU" sz="3400" b="1" dirty="0"/>
              <a:t>3 o’clock</a:t>
            </a:r>
            <a:r>
              <a:rPr lang="en-AU" sz="3400" dirty="0"/>
              <a:t>, the </a:t>
            </a:r>
            <a:r>
              <a:rPr lang="en-AU" sz="3400" b="1" dirty="0">
                <a:solidFill>
                  <a:srgbClr val="EA9B0C"/>
                </a:solidFill>
              </a:rPr>
              <a:t>hour hand </a:t>
            </a:r>
            <a:r>
              <a:rPr lang="en-AU" sz="3400" dirty="0"/>
              <a:t>and </a:t>
            </a:r>
            <a:r>
              <a:rPr lang="en-AU" sz="3400" b="1" dirty="0">
                <a:solidFill>
                  <a:srgbClr val="FF0000"/>
                </a:solidFill>
              </a:rPr>
              <a:t>minute hand </a:t>
            </a:r>
            <a:r>
              <a:rPr lang="en-AU" sz="3400" dirty="0"/>
              <a:t>form a quarter turn and have made a right angle.</a:t>
            </a:r>
          </a:p>
          <a:p>
            <a:pPr marL="742950" indent="-742950" algn="ctr">
              <a:buFont typeface="+mj-lt"/>
              <a:buAutoNum type="alphaLcParenR"/>
            </a:pPr>
            <a:r>
              <a:rPr lang="en-AU" sz="3400" dirty="0"/>
              <a:t>At </a:t>
            </a:r>
            <a:r>
              <a:rPr lang="en-AU" sz="3400" b="1" dirty="0"/>
              <a:t>6 o’clock, </a:t>
            </a:r>
            <a:r>
              <a:rPr lang="en-AU" sz="3400" dirty="0"/>
              <a:t>what type of angle would be made by the hands? </a:t>
            </a:r>
          </a:p>
          <a:p>
            <a:pPr marL="742950" indent="-742950" algn="ctr">
              <a:buFont typeface="+mj-lt"/>
              <a:buAutoNum type="alphaLcParenR"/>
            </a:pPr>
            <a:r>
              <a:rPr lang="en-AU" sz="3400" dirty="0"/>
              <a:t>How many quarter turns is equivalent to?</a:t>
            </a:r>
          </a:p>
          <a:p>
            <a:pPr algn="ctr"/>
            <a:endParaRPr lang="en-AU" sz="3600"/>
          </a:p>
        </p:txBody>
      </p:sp>
      <p:sp>
        <p:nvSpPr>
          <p:cNvPr id="8" name="Freeform 20" descr="An image of a blue analog clock with the red minute hand pointing at the 12 and the yellow hour hand pointing at the 3.">
            <a:extLst>
              <a:ext uri="{FF2B5EF4-FFF2-40B4-BE49-F238E27FC236}">
                <a16:creationId xmlns:a16="http://schemas.microsoft.com/office/drawing/2014/main" id="{EA4DD00D-A510-6CDA-9AC4-C00D2570C2A6}"/>
              </a:ext>
            </a:extLst>
          </p:cNvPr>
          <p:cNvSpPr>
            <a:spLocks noChangeAspect="1"/>
          </p:cNvSpPr>
          <p:nvPr/>
        </p:nvSpPr>
        <p:spPr>
          <a:xfrm>
            <a:off x="8445910" y="1834803"/>
            <a:ext cx="3398090" cy="3369904"/>
          </a:xfrm>
          <a:custGeom>
            <a:avLst/>
            <a:gdLst/>
            <a:ahLst/>
            <a:cxnLst/>
            <a:rect l="l" t="t" r="r" b="b"/>
            <a:pathLst>
              <a:path w="3124800" h="3124800">
                <a:moveTo>
                  <a:pt x="0" y="0"/>
                </a:moveTo>
                <a:lnTo>
                  <a:pt x="3124800" y="0"/>
                </a:lnTo>
                <a:lnTo>
                  <a:pt x="3124800" y="3124800"/>
                </a:lnTo>
                <a:lnTo>
                  <a:pt x="0" y="3124800"/>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 uri="{C183D7F6-B498-43B3-948B-1728B52AA6E4}">
                <adec:decorative xmlns:adec="http://schemas.microsoft.com/office/drawing/2017/decorative" val="0"/>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0C9B8F33-8F5A-C29C-790A-64CAA98631A1}"/>
              </a:ext>
            </a:extLst>
          </p:cNvPr>
          <p:cNvSpPr txBox="1">
            <a:spLocks/>
          </p:cNvSpPr>
          <p:nvPr/>
        </p:nvSpPr>
        <p:spPr>
          <a:xfrm>
            <a:off x="192881" y="976641"/>
            <a:ext cx="11753095" cy="8932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Order</a:t>
            </a:r>
            <a:r>
              <a:rPr lang="en-AU" sz="3600"/>
              <a:t> the capacity of these containers in millimetres.</a:t>
            </a:r>
            <a:endParaRPr lang="en-AU" sz="3600" b="1"/>
          </a:p>
          <a:p>
            <a:pPr algn="ctr"/>
            <a:endParaRPr lang="en-AU" sz="4000"/>
          </a:p>
        </p:txBody>
      </p:sp>
      <p:pic>
        <p:nvPicPr>
          <p:cNvPr id="7" name="Picture 6" descr="An image of a water bottle labelled 750 mL, a glass of orange juice labelled 240 mL and a mug of coffee labelled 310 mL.">
            <a:extLst>
              <a:ext uri="{FF2B5EF4-FFF2-40B4-BE49-F238E27FC236}">
                <a16:creationId xmlns:a16="http://schemas.microsoft.com/office/drawing/2014/main" id="{9637201C-716B-561B-9750-13527A19E425}"/>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t="5249" b="16371"/>
          <a:stretch>
            <a:fillRect/>
          </a:stretch>
        </p:blipFill>
        <p:spPr>
          <a:xfrm>
            <a:off x="1874839" y="2017553"/>
            <a:ext cx="8442322" cy="4678447"/>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flexible partitioning with multiplication 2</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ext Placeholder 5">
            <a:extLst>
              <a:ext uri="{FF2B5EF4-FFF2-40B4-BE49-F238E27FC236}">
                <a16:creationId xmlns:a16="http://schemas.microsoft.com/office/drawing/2014/main" id="{28C82026-EEFC-0A5D-A553-6ABD1BE48B0D}"/>
              </a:ext>
            </a:extLst>
          </p:cNvPr>
          <p:cNvSpPr txBox="1">
            <a:spLocks/>
          </p:cNvSpPr>
          <p:nvPr/>
        </p:nvSpPr>
        <p:spPr>
          <a:xfrm>
            <a:off x="164408" y="1705231"/>
            <a:ext cx="7716520" cy="8932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a:t>Can you </a:t>
            </a:r>
            <a:r>
              <a:rPr lang="en-AU" sz="4000" b="1"/>
              <a:t>partition</a:t>
            </a:r>
            <a:r>
              <a:rPr lang="en-AU" sz="4000"/>
              <a:t> the </a:t>
            </a:r>
            <a:r>
              <a:rPr lang="en-AU" sz="4000" b="1"/>
              <a:t>array</a:t>
            </a:r>
            <a:r>
              <a:rPr lang="en-AU" sz="4000"/>
              <a:t> using </a:t>
            </a:r>
            <a:r>
              <a:rPr lang="en-AU" sz="4000" b="1"/>
              <a:t>multiplication facts</a:t>
            </a:r>
            <a:r>
              <a:rPr lang="en-AU" sz="4000"/>
              <a:t>?</a:t>
            </a:r>
          </a:p>
          <a:p>
            <a:pPr marL="457200" indent="-457200">
              <a:buFont typeface="Wingdings" panose="05000000000000000000" pitchFamily="2" charset="2"/>
              <a:buChar char="q"/>
            </a:pPr>
            <a:endParaRPr lang="en-AU" sz="3200"/>
          </a:p>
        </p:txBody>
      </p:sp>
      <p:pic>
        <p:nvPicPr>
          <p:cNvPr id="8" name="Picture 7" descr="An array made up of 8 rows of 7 pink squares">
            <a:extLst>
              <a:ext uri="{FF2B5EF4-FFF2-40B4-BE49-F238E27FC236}">
                <a16:creationId xmlns:a16="http://schemas.microsoft.com/office/drawing/2014/main" id="{E7E0E1E4-DC20-308D-02FA-43F3F8FA0B39}"/>
              </a:ext>
            </a:extLst>
          </p:cNvPr>
          <p:cNvPicPr>
            <a:picLocks noChangeAspect="1"/>
          </p:cNvPicPr>
          <p:nvPr/>
        </p:nvPicPr>
        <p:blipFill>
          <a:blip r:embed="rId4"/>
          <a:stretch>
            <a:fillRect/>
          </a:stretch>
        </p:blipFill>
        <p:spPr>
          <a:xfrm>
            <a:off x="7880928" y="1795666"/>
            <a:ext cx="3680391" cy="4619112"/>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sp>
        <p:nvSpPr>
          <p:cNvPr id="5" name="Text Placeholder">
            <a:extLst>
              <a:ext uri="{FF2B5EF4-FFF2-40B4-BE49-F238E27FC236}">
                <a16:creationId xmlns:a16="http://schemas.microsoft.com/office/drawing/2014/main" id="{1A396F37-0D2B-D7EB-4E8F-B3F9A636D3B2}"/>
              </a:ext>
            </a:extLst>
          </p:cNvPr>
          <p:cNvSpPr>
            <a:spLocks noGrp="1"/>
          </p:cNvSpPr>
          <p:nvPr>
            <p:ph type="body" sz="quarter" idx="24"/>
          </p:nvPr>
        </p:nvSpPr>
        <p:spPr>
          <a:xfrm>
            <a:off x="360000" y="954631"/>
            <a:ext cx="11242675" cy="893763"/>
          </a:xfrm>
        </p:spPr>
        <p:txBody>
          <a:bodyPr/>
          <a:lstStyle/>
          <a:p>
            <a:pPr algn="ctr"/>
            <a:r>
              <a:rPr lang="en-AU" sz="4000"/>
              <a:t>Thomas </a:t>
            </a:r>
            <a:r>
              <a:rPr lang="en-AU" sz="4000" b="1"/>
              <a:t>buys</a:t>
            </a:r>
            <a:r>
              <a:rPr lang="en-AU" sz="4000"/>
              <a:t> a packet of chips for $2.50 and a drink for $3.75. He pays with a </a:t>
            </a:r>
            <a:r>
              <a:rPr lang="en-AU" sz="4000" b="1"/>
              <a:t>$10 note</a:t>
            </a:r>
            <a:r>
              <a:rPr lang="en-AU" sz="4000"/>
              <a:t>. </a:t>
            </a:r>
          </a:p>
          <a:p>
            <a:pPr algn="ctr"/>
            <a:r>
              <a:rPr lang="en-AU" sz="4000"/>
              <a:t>How much </a:t>
            </a:r>
            <a:r>
              <a:rPr lang="en-AU" sz="4000" b="1"/>
              <a:t>change</a:t>
            </a:r>
            <a:r>
              <a:rPr lang="en-AU" sz="4000"/>
              <a:t> does he get?</a:t>
            </a:r>
          </a:p>
          <a:p>
            <a:pPr algn="ctr"/>
            <a:br>
              <a:rPr lang="en-AU" sz="4400"/>
            </a:br>
            <a:endParaRPr lang="en-US" sz="4400"/>
          </a:p>
        </p:txBody>
      </p:sp>
      <p:sp>
        <p:nvSpPr>
          <p:cNvPr id="9" name="TextBox 8">
            <a:extLst>
              <a:ext uri="{FF2B5EF4-FFF2-40B4-BE49-F238E27FC236}">
                <a16:creationId xmlns:a16="http://schemas.microsoft.com/office/drawing/2014/main" id="{4E6EA9CC-6235-8807-420B-A4371AC418C0}"/>
              </a:ext>
            </a:extLst>
          </p:cNvPr>
          <p:cNvSpPr txBox="1"/>
          <p:nvPr/>
        </p:nvSpPr>
        <p:spPr>
          <a:xfrm>
            <a:off x="1215766" y="401649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A text">
            <a:extLst>
              <a:ext uri="{FF2B5EF4-FFF2-40B4-BE49-F238E27FC236}">
                <a16:creationId xmlns:a16="http://schemas.microsoft.com/office/drawing/2014/main" id="{647F20F3-8E64-E0F1-E970-BF28D886ADE6}"/>
              </a:ext>
            </a:extLst>
          </p:cNvPr>
          <p:cNvSpPr txBox="1">
            <a:spLocks/>
          </p:cNvSpPr>
          <p:nvPr/>
        </p:nvSpPr>
        <p:spPr>
          <a:xfrm>
            <a:off x="768745" y="4931811"/>
            <a:ext cx="1650898"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a:t>$3.75</a:t>
            </a:r>
          </a:p>
        </p:txBody>
      </p:sp>
      <p:sp>
        <p:nvSpPr>
          <p:cNvPr id="10" name="TextBox 9">
            <a:extLst>
              <a:ext uri="{FF2B5EF4-FFF2-40B4-BE49-F238E27FC236}">
                <a16:creationId xmlns:a16="http://schemas.microsoft.com/office/drawing/2014/main" id="{4AB24A3E-5574-D79C-6A0F-06D3F8A29BB1}"/>
              </a:ext>
            </a:extLst>
          </p:cNvPr>
          <p:cNvSpPr txBox="1"/>
          <p:nvPr/>
        </p:nvSpPr>
        <p:spPr>
          <a:xfrm>
            <a:off x="4219739" y="401649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B text">
            <a:extLst>
              <a:ext uri="{FF2B5EF4-FFF2-40B4-BE49-F238E27FC236}">
                <a16:creationId xmlns:a16="http://schemas.microsoft.com/office/drawing/2014/main" id="{F93FDF09-97CF-6B17-509C-40408E36151C}"/>
              </a:ext>
            </a:extLst>
          </p:cNvPr>
          <p:cNvSpPr txBox="1">
            <a:spLocks/>
          </p:cNvSpPr>
          <p:nvPr/>
        </p:nvSpPr>
        <p:spPr>
          <a:xfrm>
            <a:off x="3659004" y="4931811"/>
            <a:ext cx="1650898"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t>$</a:t>
            </a:r>
            <a:r>
              <a:rPr lang="en-US" sz="4000"/>
              <a:t>4.25</a:t>
            </a:r>
            <a:endParaRPr lang="en-US" sz="3600"/>
          </a:p>
        </p:txBody>
      </p:sp>
      <p:sp>
        <p:nvSpPr>
          <p:cNvPr id="12" name="TextBox 11">
            <a:extLst>
              <a:ext uri="{FF2B5EF4-FFF2-40B4-BE49-F238E27FC236}">
                <a16:creationId xmlns:a16="http://schemas.microsoft.com/office/drawing/2014/main" id="{D92289C6-858E-E449-16B6-10640E9A4385}"/>
              </a:ext>
            </a:extLst>
          </p:cNvPr>
          <p:cNvSpPr txBox="1"/>
          <p:nvPr/>
        </p:nvSpPr>
        <p:spPr>
          <a:xfrm>
            <a:off x="7223712" y="401649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C text">
            <a:extLst>
              <a:ext uri="{FF2B5EF4-FFF2-40B4-BE49-F238E27FC236}">
                <a16:creationId xmlns:a16="http://schemas.microsoft.com/office/drawing/2014/main" id="{D0B669EB-2B8D-D13F-0E80-65007A667E89}"/>
              </a:ext>
            </a:extLst>
          </p:cNvPr>
          <p:cNvSpPr txBox="1">
            <a:spLocks/>
          </p:cNvSpPr>
          <p:nvPr/>
        </p:nvSpPr>
        <p:spPr>
          <a:xfrm>
            <a:off x="6761581" y="4931811"/>
            <a:ext cx="1650898"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a:t>$5.75</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227686" y="401649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3" name="D text">
            <a:extLst>
              <a:ext uri="{FF2B5EF4-FFF2-40B4-BE49-F238E27FC236}">
                <a16:creationId xmlns:a16="http://schemas.microsoft.com/office/drawing/2014/main" id="{82083640-0172-4BCC-2E38-7036D27A4722}"/>
              </a:ext>
            </a:extLst>
          </p:cNvPr>
          <p:cNvSpPr txBox="1">
            <a:spLocks/>
          </p:cNvSpPr>
          <p:nvPr/>
        </p:nvSpPr>
        <p:spPr>
          <a:xfrm>
            <a:off x="9739903" y="4931811"/>
            <a:ext cx="1650898" cy="641396"/>
          </a:xfrm>
          <a:prstGeom prst="rect">
            <a:avLst/>
          </a:prstGeom>
        </p:spPr>
        <p:txBody>
          <a:bodyPr anchor="ct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a:t>$6.25</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14" name="Rectangle 1">
            <a:extLst>
              <a:ext uri="{FF2B5EF4-FFF2-40B4-BE49-F238E27FC236}">
                <a16:creationId xmlns:a16="http://schemas.microsoft.com/office/drawing/2014/main" id="{3DE5E9C9-E08F-2DFD-05BA-B8C636E98DDA}"/>
              </a:ext>
            </a:extLst>
          </p:cNvPr>
          <p:cNvSpPr>
            <a:spLocks noChangeArrowheads="1"/>
          </p:cNvSpPr>
          <p:nvPr/>
        </p:nvSpPr>
        <p:spPr bwMode="auto">
          <a:xfrm>
            <a:off x="2511648" y="5697949"/>
            <a:ext cx="9953555" cy="901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AU" altLang="en-US" sz="4000" b="1" i="0" u="none" strike="noStrike" cap="none" normalizeH="0" baseline="0">
                <a:ln>
                  <a:noFill/>
                </a:ln>
                <a:solidFill>
                  <a:schemeClr val="tx1"/>
                </a:solidFill>
                <a:effectLst/>
                <a:ea typeface="Calibri" panose="020F0502020204030204" pitchFamily="34" charset="0"/>
                <a:cs typeface="Arial" panose="020B0604020202020204" pitchFamily="34" charset="0"/>
              </a:rPr>
              <a:t>Communicate </a:t>
            </a:r>
            <a:r>
              <a:rPr kumimoji="0" lang="en-AU" altLang="en-US" sz="4000" i="0" u="none" strike="noStrike" cap="none" normalizeH="0" baseline="0">
                <a:ln>
                  <a:noFill/>
                </a:ln>
                <a:solidFill>
                  <a:schemeClr val="tx1"/>
                </a:solidFill>
                <a:effectLst/>
                <a:ea typeface="Calibri" panose="020F0502020204030204" pitchFamily="34" charset="0"/>
                <a:cs typeface="Arial" panose="020B0604020202020204" pitchFamily="34" charset="0"/>
              </a:rPr>
              <a:t>your</a:t>
            </a:r>
            <a:r>
              <a:rPr kumimoji="0" lang="en-AU" altLang="en-US" sz="4000" b="1" i="0" u="none" strike="noStrike" cap="none" normalizeH="0" baseline="0">
                <a:ln>
                  <a:noFill/>
                </a:ln>
                <a:solidFill>
                  <a:schemeClr val="tx1"/>
                </a:solidFill>
                <a:effectLst/>
                <a:ea typeface="Calibri" panose="020F0502020204030204" pitchFamily="34" charset="0"/>
                <a:cs typeface="Arial" panose="020B0604020202020204" pitchFamily="34" charset="0"/>
              </a:rPr>
              <a:t> reasoning.</a:t>
            </a:r>
            <a:endParaRPr kumimoji="0" lang="en-AU" altLang="en-US" sz="400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5" name="Rectangle 1">
            <a:extLst>
              <a:ext uri="{FF2B5EF4-FFF2-40B4-BE49-F238E27FC236}">
                <a16:creationId xmlns:a16="http://schemas.microsoft.com/office/drawing/2014/main" id="{A7C9DE7F-3193-04CC-BE92-4D7F42750DE8}"/>
              </a:ext>
            </a:extLst>
          </p:cNvPr>
          <p:cNvSpPr>
            <a:spLocks noChangeArrowheads="1"/>
          </p:cNvSpPr>
          <p:nvPr/>
        </p:nvSpPr>
        <p:spPr bwMode="auto">
          <a:xfrm>
            <a:off x="360000" y="895215"/>
            <a:ext cx="5948035" cy="2748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ctr" defTabSz="914400" rtl="0" eaLnBrk="0" fontAlgn="base" latinLnBrk="0" hangingPunct="0">
              <a:lnSpc>
                <a:spcPct val="150000"/>
              </a:lnSpc>
              <a:spcBef>
                <a:spcPct val="0"/>
              </a:spcBef>
              <a:spcAft>
                <a:spcPct val="0"/>
              </a:spcAft>
              <a:buClrTx/>
              <a:buSzTx/>
              <a:tabLst/>
            </a:pPr>
            <a:r>
              <a:rPr lang="en-AU" altLang="en-US" sz="4000">
                <a:ea typeface="Calibri" panose="020F0502020204030204" pitchFamily="34" charset="0"/>
                <a:cs typeface="Arial" panose="020B0604020202020204" pitchFamily="34" charset="0"/>
              </a:rPr>
              <a:t>Maddy</a:t>
            </a:r>
            <a:r>
              <a:rPr lang="en-AU" altLang="en-US" sz="4000" b="1">
                <a:ea typeface="Calibri" panose="020F0502020204030204" pitchFamily="34" charset="0"/>
                <a:cs typeface="Arial" panose="020B0604020202020204" pitchFamily="34" charset="0"/>
              </a:rPr>
              <a:t> </a:t>
            </a:r>
            <a:r>
              <a:rPr lang="en-AU" altLang="en-US" sz="4000">
                <a:ea typeface="Calibri" panose="020F0502020204030204" pitchFamily="34" charset="0"/>
                <a:cs typeface="Arial" panose="020B0604020202020204" pitchFamily="34" charset="0"/>
              </a:rPr>
              <a:t>believes there is only </a:t>
            </a:r>
            <a:r>
              <a:rPr lang="en-AU" altLang="en-US" sz="4000" b="1">
                <a:ea typeface="Calibri" panose="020F0502020204030204" pitchFamily="34" charset="0"/>
                <a:cs typeface="Arial" panose="020B0604020202020204" pitchFamily="34" charset="0"/>
              </a:rPr>
              <a:t>1 line of </a:t>
            </a:r>
            <a:r>
              <a:rPr kumimoji="0" lang="en-AU" altLang="en-US" sz="4000" b="1" i="0" u="none" strike="noStrike" cap="none" normalizeH="0" baseline="0">
                <a:ln>
                  <a:noFill/>
                </a:ln>
                <a:solidFill>
                  <a:schemeClr val="tx1"/>
                </a:solidFill>
                <a:effectLst/>
                <a:ea typeface="Calibri" panose="020F0502020204030204" pitchFamily="34" charset="0"/>
                <a:cs typeface="Arial" panose="020B0604020202020204" pitchFamily="34" charset="0"/>
              </a:rPr>
              <a:t>symmetry </a:t>
            </a:r>
            <a:r>
              <a:rPr kumimoji="0" lang="en-AU" altLang="en-US" sz="4000" i="0" u="none" strike="noStrike" cap="none" normalizeH="0" baseline="0">
                <a:ln>
                  <a:noFill/>
                </a:ln>
                <a:solidFill>
                  <a:schemeClr val="tx1"/>
                </a:solidFill>
                <a:effectLst/>
                <a:ea typeface="Calibri" panose="020F0502020204030204" pitchFamily="34" charset="0"/>
                <a:cs typeface="Arial" panose="020B0604020202020204" pitchFamily="34" charset="0"/>
              </a:rPr>
              <a:t>in the tile design.</a:t>
            </a:r>
            <a:endParaRPr kumimoji="0" lang="en-AU" altLang="en-US" sz="4000" i="0" u="none" strike="noStrike" cap="none" normalizeH="0" baseline="0">
              <a:ln>
                <a:noFill/>
              </a:ln>
              <a:solidFill>
                <a:schemeClr val="tx1"/>
              </a:solidFill>
              <a:effectLst/>
            </a:endParaRPr>
          </a:p>
        </p:txBody>
      </p:sp>
      <p:grpSp>
        <p:nvGrpSpPr>
          <p:cNvPr id="16" name="Group 15" descr="A tile pattern made with common shapes and a vertical line to show symmetry.">
            <a:extLst>
              <a:ext uri="{FF2B5EF4-FFF2-40B4-BE49-F238E27FC236}">
                <a16:creationId xmlns:a16="http://schemas.microsoft.com/office/drawing/2014/main" id="{5F9CDB5B-AC28-74FC-4675-3F67705F91D2}"/>
              </a:ext>
            </a:extLst>
          </p:cNvPr>
          <p:cNvGrpSpPr/>
          <p:nvPr/>
        </p:nvGrpSpPr>
        <p:grpSpPr>
          <a:xfrm>
            <a:off x="7448131" y="360000"/>
            <a:ext cx="3213285" cy="6498000"/>
            <a:chOff x="7448131" y="360000"/>
            <a:chExt cx="3213285" cy="6498000"/>
          </a:xfrm>
        </p:grpSpPr>
        <p:sp>
          <p:nvSpPr>
            <p:cNvPr id="9" name="Freeform 10" descr="A tile pattern made with common shapes.">
              <a:extLst>
                <a:ext uri="{FF2B5EF4-FFF2-40B4-BE49-F238E27FC236}">
                  <a16:creationId xmlns:a16="http://schemas.microsoft.com/office/drawing/2014/main" id="{4E00F78C-4872-0027-4275-31D652A52379}"/>
                </a:ext>
              </a:extLst>
            </p:cNvPr>
            <p:cNvSpPr>
              <a:spLocks noChangeAspect="1"/>
            </p:cNvSpPr>
            <p:nvPr/>
          </p:nvSpPr>
          <p:spPr>
            <a:xfrm>
              <a:off x="7448131" y="828033"/>
              <a:ext cx="3213285" cy="5777967"/>
            </a:xfrm>
            <a:custGeom>
              <a:avLst/>
              <a:gdLst/>
              <a:ahLst/>
              <a:cxnLst/>
              <a:rect l="l" t="t" r="r" b="b"/>
              <a:pathLst>
                <a:path w="1848512" h="3061391">
                  <a:moveTo>
                    <a:pt x="0" y="0"/>
                  </a:moveTo>
                  <a:lnTo>
                    <a:pt x="1848512" y="0"/>
                  </a:lnTo>
                  <a:lnTo>
                    <a:pt x="1848512" y="3061391"/>
                  </a:lnTo>
                  <a:lnTo>
                    <a:pt x="0" y="3061391"/>
                  </a:lnTo>
                  <a:lnTo>
                    <a:pt x="0" y="0"/>
                  </a:lnTo>
                  <a:close/>
                </a:path>
              </a:pathLst>
            </a:custGeom>
            <a:blipFill>
              <a:blip>
                <a:extLst>
                  <a:ext uri="{96DAC541-7B7A-43D3-8B79-37D633B846F1}">
                    <asvg:svgBlip xmlns:asvg="http://schemas.microsoft.com/office/drawing/2016/SVG/main" r:embed="rId4"/>
                  </a:ext>
                </a:extLst>
              </a:blip>
              <a:stretch>
                <a:fillRect l="-102322"/>
              </a:stretch>
            </a:blipFill>
            <a:effectLst/>
          </p:spPr>
          <p:txBody>
            <a:bodyPr/>
            <a:lstStyle/>
            <a:p>
              <a:endParaRPr lang="en-AU"/>
            </a:p>
          </p:txBody>
        </p:sp>
        <p:cxnSp>
          <p:nvCxnSpPr>
            <p:cNvPr id="8" name="Straight Connector 7">
              <a:extLst>
                <a:ext uri="{FF2B5EF4-FFF2-40B4-BE49-F238E27FC236}">
                  <a16:creationId xmlns:a16="http://schemas.microsoft.com/office/drawing/2014/main" id="{57977765-2CB4-C450-76DC-4AC86112963D}"/>
                </a:ext>
              </a:extLst>
            </p:cNvPr>
            <p:cNvCxnSpPr>
              <a:cxnSpLocks/>
            </p:cNvCxnSpPr>
            <p:nvPr/>
          </p:nvCxnSpPr>
          <p:spPr>
            <a:xfrm>
              <a:off x="9069677" y="360000"/>
              <a:ext cx="0" cy="64980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grpSp>
      <p:sp>
        <p:nvSpPr>
          <p:cNvPr id="4" name="Rectangle 1">
            <a:extLst>
              <a:ext uri="{FF2B5EF4-FFF2-40B4-BE49-F238E27FC236}">
                <a16:creationId xmlns:a16="http://schemas.microsoft.com/office/drawing/2014/main" id="{C9D15E95-6110-8237-67B0-911143E50957}"/>
              </a:ext>
            </a:extLst>
          </p:cNvPr>
          <p:cNvSpPr>
            <a:spLocks noChangeArrowheads="1"/>
          </p:cNvSpPr>
          <p:nvPr/>
        </p:nvSpPr>
        <p:spPr bwMode="auto">
          <a:xfrm>
            <a:off x="221547" y="3857747"/>
            <a:ext cx="6764001" cy="2748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AU" altLang="en-US" sz="4000" i="0" u="none" strike="noStrike" cap="none" normalizeH="0" baseline="0">
                <a:ln>
                  <a:noFill/>
                </a:ln>
                <a:solidFill>
                  <a:schemeClr val="tx1"/>
                </a:solidFill>
                <a:effectLst/>
                <a:ea typeface="Calibri" panose="020F0502020204030204" pitchFamily="34" charset="0"/>
                <a:cs typeface="Arial" panose="020B0604020202020204" pitchFamily="34" charset="0"/>
              </a:rPr>
              <a:t>Do you </a:t>
            </a:r>
            <a:r>
              <a:rPr kumimoji="0" lang="en-AU" altLang="en-US" sz="4000" b="1" i="0" u="none" strike="noStrike" cap="none" normalizeH="0" baseline="0">
                <a:ln>
                  <a:noFill/>
                </a:ln>
                <a:solidFill>
                  <a:schemeClr val="tx1"/>
                </a:solidFill>
                <a:effectLst/>
                <a:ea typeface="Calibri" panose="020F0502020204030204" pitchFamily="34" charset="0"/>
                <a:cs typeface="Arial" panose="020B0604020202020204" pitchFamily="34" charset="0"/>
              </a:rPr>
              <a:t>agree </a:t>
            </a:r>
            <a:r>
              <a:rPr kumimoji="0" lang="en-AU" altLang="en-US" sz="4000" i="0" u="none" strike="noStrike" cap="none" normalizeH="0" baseline="0">
                <a:ln>
                  <a:noFill/>
                </a:ln>
                <a:solidFill>
                  <a:schemeClr val="tx1"/>
                </a:solidFill>
                <a:effectLst/>
                <a:ea typeface="Calibri" panose="020F0502020204030204" pitchFamily="34" charset="0"/>
                <a:cs typeface="Arial" panose="020B0604020202020204" pitchFamily="34" charset="0"/>
              </a:rPr>
              <a:t>or</a:t>
            </a:r>
            <a:r>
              <a:rPr kumimoji="0" lang="en-AU" altLang="en-US" sz="4000" b="1" i="0" u="none" strike="noStrike" cap="none" normalizeH="0" baseline="0">
                <a:ln>
                  <a:noFill/>
                </a:ln>
                <a:solidFill>
                  <a:schemeClr val="tx1"/>
                </a:solidFill>
                <a:effectLst/>
                <a:ea typeface="Calibri" panose="020F0502020204030204" pitchFamily="34" charset="0"/>
                <a:cs typeface="Arial" panose="020B0604020202020204" pitchFamily="34" charset="0"/>
              </a:rPr>
              <a:t> disagree?</a:t>
            </a:r>
          </a:p>
          <a:p>
            <a:pPr marR="0" lvl="0" algn="ctr" defTabSz="914400" rtl="0" eaLnBrk="0" fontAlgn="base" latinLnBrk="0" hangingPunct="0">
              <a:lnSpc>
                <a:spcPct val="150000"/>
              </a:lnSpc>
              <a:spcBef>
                <a:spcPct val="0"/>
              </a:spcBef>
              <a:spcAft>
                <a:spcPct val="0"/>
              </a:spcAft>
              <a:buClrTx/>
              <a:buSzTx/>
              <a:tabLst/>
            </a:pPr>
            <a:r>
              <a:rPr kumimoji="0" lang="en-AU" altLang="en-US" sz="4000" b="1" i="0" u="none" strike="noStrike" cap="none" normalizeH="0" baseline="0">
                <a:ln>
                  <a:noFill/>
                </a:ln>
                <a:solidFill>
                  <a:schemeClr val="tx1"/>
                </a:solidFill>
                <a:effectLst/>
                <a:ea typeface="Calibri" panose="020F0502020204030204" pitchFamily="34" charset="0"/>
                <a:cs typeface="Arial" panose="020B0604020202020204" pitchFamily="34" charset="0"/>
              </a:rPr>
              <a:t>Communicate </a:t>
            </a:r>
            <a:r>
              <a:rPr kumimoji="0" lang="en-AU" altLang="en-US" sz="4000" i="0" u="none" strike="noStrike" cap="none" normalizeH="0" baseline="0">
                <a:ln>
                  <a:noFill/>
                </a:ln>
                <a:solidFill>
                  <a:schemeClr val="tx1"/>
                </a:solidFill>
                <a:effectLst/>
                <a:ea typeface="Calibri" panose="020F0502020204030204" pitchFamily="34" charset="0"/>
                <a:cs typeface="Arial" panose="020B0604020202020204" pitchFamily="34" charset="0"/>
              </a:rPr>
              <a:t>your</a:t>
            </a:r>
            <a:r>
              <a:rPr kumimoji="0" lang="en-AU" altLang="en-US" sz="4000" b="1" i="0" u="none" strike="noStrike" cap="none" normalizeH="0" baseline="0">
                <a:ln>
                  <a:noFill/>
                </a:ln>
                <a:solidFill>
                  <a:schemeClr val="tx1"/>
                </a:solidFill>
                <a:effectLst/>
                <a:ea typeface="Calibri" panose="020F0502020204030204" pitchFamily="34" charset="0"/>
                <a:cs typeface="Arial" panose="020B0604020202020204" pitchFamily="34" charset="0"/>
              </a:rPr>
              <a:t> reasoning.</a:t>
            </a:r>
            <a:endParaRPr kumimoji="0" lang="en-AU" altLang="en-US" sz="400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7EC6D54A-1575-FF5A-8EA2-F3F88B3DFE1A}"/>
              </a:ext>
            </a:extLst>
          </p:cNvPr>
          <p:cNvSpPr txBox="1">
            <a:spLocks/>
          </p:cNvSpPr>
          <p:nvPr/>
        </p:nvSpPr>
        <p:spPr>
          <a:xfrm>
            <a:off x="360000" y="1539628"/>
            <a:ext cx="11320160" cy="8932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Which decimal is </a:t>
            </a:r>
            <a:r>
              <a:rPr lang="en-AU" sz="4400" b="1"/>
              <a:t>larger</a:t>
            </a:r>
            <a:r>
              <a:rPr lang="en-AU" sz="4400"/>
              <a:t>, 0.7 or 0.37?</a:t>
            </a:r>
          </a:p>
          <a:p>
            <a:pPr algn="ctr"/>
            <a:endParaRPr lang="en-AU" sz="4000" b="1"/>
          </a:p>
        </p:txBody>
      </p:sp>
      <p:pic>
        <p:nvPicPr>
          <p:cNvPr id="9" name="Picture 8" descr="Number line 0-1. No intervals are marked. A tenths fraction strip sits above.">
            <a:extLst>
              <a:ext uri="{FF2B5EF4-FFF2-40B4-BE49-F238E27FC236}">
                <a16:creationId xmlns:a16="http://schemas.microsoft.com/office/drawing/2014/main" id="{1EA7B879-C74B-8D7A-8913-612FD1024E64}"/>
              </a:ext>
            </a:extLst>
          </p:cNvPr>
          <p:cNvPicPr>
            <a:picLocks noChangeAspect="1"/>
          </p:cNvPicPr>
          <p:nvPr/>
        </p:nvPicPr>
        <p:blipFill>
          <a:blip r:embed="rId4"/>
          <a:stretch>
            <a:fillRect/>
          </a:stretch>
        </p:blipFill>
        <p:spPr>
          <a:xfrm>
            <a:off x="1864578" y="2922867"/>
            <a:ext cx="8862690" cy="1820674"/>
          </a:xfrm>
          <a:prstGeom prst="rect">
            <a:avLst/>
          </a:prstGeom>
        </p:spPr>
      </p:pic>
      <p:sp>
        <p:nvSpPr>
          <p:cNvPr id="8" name="TextBox 7">
            <a:extLst>
              <a:ext uri="{FF2B5EF4-FFF2-40B4-BE49-F238E27FC236}">
                <a16:creationId xmlns:a16="http://schemas.microsoft.com/office/drawing/2014/main" id="{ABE7EF85-8A56-C2AA-0EB9-C34CCF210BB2}"/>
              </a:ext>
            </a:extLst>
          </p:cNvPr>
          <p:cNvSpPr txBox="1"/>
          <p:nvPr/>
        </p:nvSpPr>
        <p:spPr>
          <a:xfrm>
            <a:off x="585530" y="4853333"/>
            <a:ext cx="11020940" cy="1446550"/>
          </a:xfrm>
          <a:prstGeom prst="rect">
            <a:avLst/>
          </a:prstGeom>
          <a:noFill/>
        </p:spPr>
        <p:txBody>
          <a:bodyPr wrap="square">
            <a:spAutoFit/>
          </a:bodyPr>
          <a:lstStyle/>
          <a:p>
            <a:pPr algn="ctr"/>
            <a:r>
              <a:rPr lang="en-AU" sz="4400" b="1"/>
              <a:t>Communicate</a:t>
            </a:r>
            <a:r>
              <a:rPr lang="en-AU" sz="4400"/>
              <a:t> your </a:t>
            </a:r>
            <a:r>
              <a:rPr lang="en-AU" sz="4400" b="1"/>
              <a:t>reasoning</a:t>
            </a:r>
            <a:r>
              <a:rPr lang="en-AU" sz="4400"/>
              <a:t> using a </a:t>
            </a:r>
            <a:r>
              <a:rPr lang="en-AU" sz="4400" b="1"/>
              <a:t>number line</a:t>
            </a:r>
            <a:r>
              <a:rPr lang="en-AU" sz="4400"/>
              <a:t>.</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a:extLst>
              <a:ext uri="{FF2B5EF4-FFF2-40B4-BE49-F238E27FC236}">
                <a16:creationId xmlns:a16="http://schemas.microsoft.com/office/drawing/2014/main" id="{619FF60D-4745-94CB-416A-4BF40C6B3F76}"/>
              </a:ext>
            </a:extLst>
          </p:cNvPr>
          <p:cNvSpPr txBox="1">
            <a:spLocks/>
          </p:cNvSpPr>
          <p:nvPr/>
        </p:nvSpPr>
        <p:spPr>
          <a:xfrm>
            <a:off x="474662" y="981992"/>
            <a:ext cx="11242675" cy="89376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Record</a:t>
            </a:r>
            <a:r>
              <a:rPr lang="en-AU" sz="4400"/>
              <a:t> the </a:t>
            </a:r>
            <a:r>
              <a:rPr lang="en-AU" sz="4400" err="1"/>
              <a:t>analog</a:t>
            </a:r>
            <a:r>
              <a:rPr lang="en-AU" sz="4400"/>
              <a:t> times in digital form.</a:t>
            </a:r>
          </a:p>
        </p:txBody>
      </p:sp>
      <p:sp>
        <p:nvSpPr>
          <p:cNvPr id="9" name="Text Placeholder">
            <a:extLst>
              <a:ext uri="{FF2B5EF4-FFF2-40B4-BE49-F238E27FC236}">
                <a16:creationId xmlns:a16="http://schemas.microsoft.com/office/drawing/2014/main" id="{4E6BE964-B69F-BFB1-1D7B-6C0F05853739}"/>
              </a:ext>
            </a:extLst>
          </p:cNvPr>
          <p:cNvSpPr txBox="1">
            <a:spLocks/>
          </p:cNvSpPr>
          <p:nvPr/>
        </p:nvSpPr>
        <p:spPr>
          <a:xfrm>
            <a:off x="0" y="1808863"/>
            <a:ext cx="1419497" cy="89376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A</a:t>
            </a:r>
            <a:endParaRPr lang="en-AU" sz="4400"/>
          </a:p>
        </p:txBody>
      </p:sp>
      <p:sp>
        <p:nvSpPr>
          <p:cNvPr id="8" name="Freeform 23" descr="An image of a green analog clock with the red minute hand pointing at the 3 and the yellow hour hand pointing at the 12.">
            <a:extLst>
              <a:ext uri="{FF2B5EF4-FFF2-40B4-BE49-F238E27FC236}">
                <a16:creationId xmlns:a16="http://schemas.microsoft.com/office/drawing/2014/main" id="{DAEEED2C-111D-0400-9071-AF41E6EBAEF9}"/>
              </a:ext>
            </a:extLst>
          </p:cNvPr>
          <p:cNvSpPr>
            <a:spLocks noChangeAspect="1"/>
          </p:cNvSpPr>
          <p:nvPr/>
        </p:nvSpPr>
        <p:spPr>
          <a:xfrm>
            <a:off x="834972" y="2392554"/>
            <a:ext cx="2808000" cy="2808000"/>
          </a:xfrm>
          <a:custGeom>
            <a:avLst/>
            <a:gdLst/>
            <a:ahLst/>
            <a:cxnLst/>
            <a:rect l="l" t="t" r="r" b="b"/>
            <a:pathLst>
              <a:path w="3124800" h="3124800">
                <a:moveTo>
                  <a:pt x="0" y="0"/>
                </a:moveTo>
                <a:lnTo>
                  <a:pt x="3124800" y="0"/>
                </a:lnTo>
                <a:lnTo>
                  <a:pt x="3124800" y="3124800"/>
                </a:lnTo>
                <a:lnTo>
                  <a:pt x="0" y="3124800"/>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63500" sx="102000" sy="102000" algn="ctr" rotWithShape="0">
              <a:prstClr val="black">
                <a:alpha val="40000"/>
              </a:prstClr>
            </a:outerShdw>
          </a:effectLst>
        </p:spPr>
        <p:txBody>
          <a:bodyPr/>
          <a:lstStyle/>
          <a:p>
            <a:endParaRPr lang="en-AU"/>
          </a:p>
        </p:txBody>
      </p:sp>
      <p:pic>
        <p:nvPicPr>
          <p:cNvPr id="10" name="Picture 9">
            <a:extLst>
              <a:ext uri="{FF2B5EF4-FFF2-40B4-BE49-F238E27FC236}">
                <a16:creationId xmlns:a16="http://schemas.microsoft.com/office/drawing/2014/main" id="{AE63D0B8-80FA-5873-6F4E-2D666025E00D}"/>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rcRect l="26906" t="9799" r="27800" b="46988"/>
          <a:stretch>
            <a:fillRect/>
          </a:stretch>
        </p:blipFill>
        <p:spPr>
          <a:xfrm>
            <a:off x="1242833" y="5469808"/>
            <a:ext cx="1817783" cy="1226192"/>
          </a:xfrm>
          <a:prstGeom prst="rect">
            <a:avLst/>
          </a:prstGeom>
        </p:spPr>
      </p:pic>
      <p:sp>
        <p:nvSpPr>
          <p:cNvPr id="13" name="Text Placeholder">
            <a:extLst>
              <a:ext uri="{FF2B5EF4-FFF2-40B4-BE49-F238E27FC236}">
                <a16:creationId xmlns:a16="http://schemas.microsoft.com/office/drawing/2014/main" id="{E6F16CE4-7B33-93A8-C09C-F6473BB1C73A}"/>
              </a:ext>
            </a:extLst>
          </p:cNvPr>
          <p:cNvSpPr txBox="1">
            <a:spLocks/>
          </p:cNvSpPr>
          <p:nvPr/>
        </p:nvSpPr>
        <p:spPr>
          <a:xfrm>
            <a:off x="3855027" y="1875755"/>
            <a:ext cx="1419497" cy="89376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B</a:t>
            </a:r>
            <a:endParaRPr lang="en-AU" sz="4400"/>
          </a:p>
        </p:txBody>
      </p:sp>
      <p:sp>
        <p:nvSpPr>
          <p:cNvPr id="5" name="Freeform 21" descr="An image of a blue analog clock with the red minute hand pointing at the 12 and the yellow hour hand pointing at the 1.">
            <a:extLst>
              <a:ext uri="{FF2B5EF4-FFF2-40B4-BE49-F238E27FC236}">
                <a16:creationId xmlns:a16="http://schemas.microsoft.com/office/drawing/2014/main" id="{A6B68AE8-AE37-F7AC-7487-1446BF034708}"/>
              </a:ext>
            </a:extLst>
          </p:cNvPr>
          <p:cNvSpPr>
            <a:spLocks/>
          </p:cNvSpPr>
          <p:nvPr/>
        </p:nvSpPr>
        <p:spPr>
          <a:xfrm>
            <a:off x="4779415" y="2373146"/>
            <a:ext cx="2808000" cy="2808000"/>
          </a:xfrm>
          <a:custGeom>
            <a:avLst/>
            <a:gdLst/>
            <a:ahLst/>
            <a:cxnLst/>
            <a:rect l="l" t="t" r="r" b="b"/>
            <a:pathLst>
              <a:path w="3124800" h="3124800">
                <a:moveTo>
                  <a:pt x="0" y="0"/>
                </a:moveTo>
                <a:lnTo>
                  <a:pt x="3124800" y="0"/>
                </a:lnTo>
                <a:lnTo>
                  <a:pt x="3124800" y="3124800"/>
                </a:lnTo>
                <a:lnTo>
                  <a:pt x="0" y="3124800"/>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63500" sx="102000" sy="102000" algn="ctr" rotWithShape="0">
              <a:prstClr val="black">
                <a:alpha val="40000"/>
              </a:prstClr>
            </a:outerShdw>
          </a:effectLst>
        </p:spPr>
        <p:txBody>
          <a:bodyPr/>
          <a:lstStyle/>
          <a:p>
            <a:endParaRPr lang="en-AU"/>
          </a:p>
        </p:txBody>
      </p:sp>
      <p:pic>
        <p:nvPicPr>
          <p:cNvPr id="11" name="Picture 10">
            <a:extLst>
              <a:ext uri="{FF2B5EF4-FFF2-40B4-BE49-F238E27FC236}">
                <a16:creationId xmlns:a16="http://schemas.microsoft.com/office/drawing/2014/main" id="{BA244CBE-FB1F-E368-A87D-6BA89EC12F3B}"/>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rcRect l="26906" t="9799" r="27800" b="46988"/>
          <a:stretch>
            <a:fillRect/>
          </a:stretch>
        </p:blipFill>
        <p:spPr>
          <a:xfrm>
            <a:off x="5274524" y="5469808"/>
            <a:ext cx="1817783" cy="1226192"/>
          </a:xfrm>
          <a:prstGeom prst="rect">
            <a:avLst/>
          </a:prstGeom>
        </p:spPr>
      </p:pic>
      <p:sp>
        <p:nvSpPr>
          <p:cNvPr id="14" name="Text Placeholder">
            <a:extLst>
              <a:ext uri="{FF2B5EF4-FFF2-40B4-BE49-F238E27FC236}">
                <a16:creationId xmlns:a16="http://schemas.microsoft.com/office/drawing/2014/main" id="{33C582C3-4DE4-AB6A-DEFB-0D7FECC336BE}"/>
              </a:ext>
            </a:extLst>
          </p:cNvPr>
          <p:cNvSpPr txBox="1">
            <a:spLocks/>
          </p:cNvSpPr>
          <p:nvPr/>
        </p:nvSpPr>
        <p:spPr>
          <a:xfrm>
            <a:off x="7768126" y="1935554"/>
            <a:ext cx="1419497" cy="89376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a:t>
            </a:r>
          </a:p>
        </p:txBody>
      </p:sp>
      <p:sp>
        <p:nvSpPr>
          <p:cNvPr id="7" name="Freeform 22" descr="An image of a green analog clock with the red minute hand pointing between the 6 and 7 and the yellow hour hand pointing between the 1 and 2.">
            <a:extLst>
              <a:ext uri="{FF2B5EF4-FFF2-40B4-BE49-F238E27FC236}">
                <a16:creationId xmlns:a16="http://schemas.microsoft.com/office/drawing/2014/main" id="{BA9616BC-3594-0F9C-77E2-CB47417DB10C}"/>
              </a:ext>
            </a:extLst>
          </p:cNvPr>
          <p:cNvSpPr>
            <a:spLocks noChangeAspect="1"/>
          </p:cNvSpPr>
          <p:nvPr/>
        </p:nvSpPr>
        <p:spPr>
          <a:xfrm>
            <a:off x="8621069" y="2392554"/>
            <a:ext cx="2808000" cy="2808000"/>
          </a:xfrm>
          <a:custGeom>
            <a:avLst/>
            <a:gdLst/>
            <a:ahLst/>
            <a:cxnLst/>
            <a:rect l="l" t="t" r="r" b="b"/>
            <a:pathLst>
              <a:path w="3124800" h="3124800">
                <a:moveTo>
                  <a:pt x="0" y="0"/>
                </a:moveTo>
                <a:lnTo>
                  <a:pt x="3124800" y="0"/>
                </a:lnTo>
                <a:lnTo>
                  <a:pt x="3124800" y="3124800"/>
                </a:lnTo>
                <a:lnTo>
                  <a:pt x="0" y="3124800"/>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63500" sx="102000" sy="102000" algn="ctr" rotWithShape="0">
              <a:prstClr val="black">
                <a:alpha val="40000"/>
              </a:prstClr>
            </a:outerShdw>
          </a:effectLst>
        </p:spPr>
        <p:txBody>
          <a:bodyPr/>
          <a:lstStyle/>
          <a:p>
            <a:endParaRPr lang="en-AU"/>
          </a:p>
        </p:txBody>
      </p:sp>
      <p:pic>
        <p:nvPicPr>
          <p:cNvPr id="12" name="Picture 11">
            <a:extLst>
              <a:ext uri="{FF2B5EF4-FFF2-40B4-BE49-F238E27FC236}">
                <a16:creationId xmlns:a16="http://schemas.microsoft.com/office/drawing/2014/main" id="{9596002E-E4FB-0A2F-FB82-6938049CBF3B}"/>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rcRect l="26906" t="9799" r="27800" b="46988"/>
          <a:stretch>
            <a:fillRect/>
          </a:stretch>
        </p:blipFill>
        <p:spPr>
          <a:xfrm>
            <a:off x="9306217" y="5469808"/>
            <a:ext cx="1817783" cy="1226192"/>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 uri="{C183D7F6-B498-43B3-948B-1728B52AA6E4}">
                <adec:decorative xmlns:adec="http://schemas.microsoft.com/office/drawing/2017/decorative" val="0"/>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481F8A6C-29DC-BD5C-743D-7FBE0B5D5D61}"/>
              </a:ext>
            </a:extLst>
          </p:cNvPr>
          <p:cNvSpPr txBox="1">
            <a:spLocks/>
          </p:cNvSpPr>
          <p:nvPr/>
        </p:nvSpPr>
        <p:spPr>
          <a:xfrm>
            <a:off x="246024" y="950137"/>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b="1"/>
              <a:t>Record</a:t>
            </a:r>
            <a:r>
              <a:rPr lang="en-AU" sz="4000"/>
              <a:t> the area in square centimetres using </a:t>
            </a:r>
            <a:r>
              <a:rPr lang="en-AU" sz="4000" b="1"/>
              <a:t>numerals</a:t>
            </a:r>
            <a:r>
              <a:rPr lang="en-AU" sz="4000"/>
              <a:t> and </a:t>
            </a:r>
            <a:r>
              <a:rPr lang="en-AU" sz="4000" b="1"/>
              <a:t>words</a:t>
            </a:r>
            <a:r>
              <a:rPr lang="en-AU" sz="4000"/>
              <a:t>.</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27" name="Picture 26" descr="Diagram of a 4 cm by 4 cm square divided into a 4x4 grid with 16 smaller equal squares, outlined in purple. Labels indicate side lengths of 4 cm on the bottom and right edges.">
            <a:extLst>
              <a:ext uri="{FF2B5EF4-FFF2-40B4-BE49-F238E27FC236}">
                <a16:creationId xmlns:a16="http://schemas.microsoft.com/office/drawing/2014/main" id="{5E561D78-11DA-D0EC-89F7-64FE07361C5E}"/>
              </a:ext>
            </a:extLst>
          </p:cNvPr>
          <p:cNvPicPr>
            <a:picLocks noChangeAspect="1"/>
          </p:cNvPicPr>
          <p:nvPr/>
        </p:nvPicPr>
        <p:blipFill>
          <a:blip r:embed="rId4">
            <a:extLst>
              <a:ext uri="{28A0092B-C50C-407E-A947-70E740481C1C}">
                <a14:useLocalDpi xmlns:a14="http://schemas.microsoft.com/office/drawing/2010/main" val="0"/>
              </a:ext>
            </a:extLst>
          </a:blip>
          <a:srcRect l="28550" t="17267" r="30190" b="33140"/>
          <a:stretch>
            <a:fillRect/>
          </a:stretch>
        </p:blipFill>
        <p:spPr>
          <a:xfrm>
            <a:off x="4465984" y="3114971"/>
            <a:ext cx="4094920" cy="3479860"/>
          </a:xfrm>
          <a:prstGeom prst="rect">
            <a:avLst/>
          </a:prstGeom>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problem solving with money 1</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0" name="Rectangle: Rounded Corners 19">
            <a:extLst>
              <a:ext uri="{FF2B5EF4-FFF2-40B4-BE49-F238E27FC236}">
                <a16:creationId xmlns:a16="http://schemas.microsoft.com/office/drawing/2014/main" id="{49ED06B4-56FC-A9ED-BD30-6DA05CB0AA6C}"/>
              </a:ext>
            </a:extLst>
          </p:cNvPr>
          <p:cNvSpPr/>
          <p:nvPr/>
        </p:nvSpPr>
        <p:spPr>
          <a:xfrm>
            <a:off x="970171" y="1248508"/>
            <a:ext cx="10136832" cy="890517"/>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600">
                <a:solidFill>
                  <a:schemeClr val="accent1"/>
                </a:solidFill>
                <a:latin typeface="Arial" panose="020B0604020202020204" pitchFamily="34" charset="0"/>
                <a:cs typeface="Arial" panose="020B0604020202020204" pitchFamily="34" charset="0"/>
              </a:rPr>
              <a:t>What coins do we use in Australia?</a:t>
            </a:r>
          </a:p>
        </p:txBody>
      </p:sp>
      <p:sp>
        <p:nvSpPr>
          <p:cNvPr id="17" name="Freeform 5" descr="An Australian two dollar coin">
            <a:extLst>
              <a:ext uri="{FF2B5EF4-FFF2-40B4-BE49-F238E27FC236}">
                <a16:creationId xmlns:a16="http://schemas.microsoft.com/office/drawing/2014/main" id="{63AC1A4C-92D9-5E1D-C2F7-17EDACFD1108}"/>
              </a:ext>
            </a:extLst>
          </p:cNvPr>
          <p:cNvSpPr>
            <a:spLocks noChangeAspect="1"/>
          </p:cNvSpPr>
          <p:nvPr/>
        </p:nvSpPr>
        <p:spPr>
          <a:xfrm>
            <a:off x="2392000" y="2540024"/>
            <a:ext cx="665535" cy="675669"/>
          </a:xfrm>
          <a:custGeom>
            <a:avLst/>
            <a:gdLst/>
            <a:ahLst/>
            <a:cxnLst/>
            <a:rect l="l" t="t" r="r" b="b"/>
            <a:pathLst>
              <a:path w="356697" h="362129">
                <a:moveTo>
                  <a:pt x="0" y="0"/>
                </a:moveTo>
                <a:lnTo>
                  <a:pt x="356698" y="0"/>
                </a:lnTo>
                <a:lnTo>
                  <a:pt x="356698" y="362129"/>
                </a:lnTo>
                <a:lnTo>
                  <a:pt x="0" y="362129"/>
                </a:lnTo>
                <a:lnTo>
                  <a:pt x="0" y="0"/>
                </a:lnTo>
                <a:close/>
              </a:path>
            </a:pathLst>
          </a:custGeom>
          <a:blipFill>
            <a:blip>
              <a:extLst>
                <a:ext uri="{96DAC541-7B7A-43D3-8B79-37D633B846F1}">
                  <asvg:svgBlip xmlns:asvg="http://schemas.microsoft.com/office/drawing/2016/SVG/main" r:embed="rId4"/>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16" name="Freeform 4" descr="An Australian one dollar coin">
            <a:extLst>
              <a:ext uri="{FF2B5EF4-FFF2-40B4-BE49-F238E27FC236}">
                <a16:creationId xmlns:a16="http://schemas.microsoft.com/office/drawing/2014/main" id="{A46B2411-39B8-7358-E699-E2A7A45464C3}"/>
              </a:ext>
            </a:extLst>
          </p:cNvPr>
          <p:cNvSpPr>
            <a:spLocks noChangeAspect="1"/>
          </p:cNvSpPr>
          <p:nvPr/>
        </p:nvSpPr>
        <p:spPr>
          <a:xfrm>
            <a:off x="3639138" y="2499264"/>
            <a:ext cx="787713" cy="757187"/>
          </a:xfrm>
          <a:custGeom>
            <a:avLst/>
            <a:gdLst/>
            <a:ahLst/>
            <a:cxnLst/>
            <a:rect l="l" t="t" r="r" b="b"/>
            <a:pathLst>
              <a:path w="422175" h="405816">
                <a:moveTo>
                  <a:pt x="0" y="0"/>
                </a:moveTo>
                <a:lnTo>
                  <a:pt x="422175" y="0"/>
                </a:lnTo>
                <a:lnTo>
                  <a:pt x="422175" y="405816"/>
                </a:lnTo>
                <a:lnTo>
                  <a:pt x="0" y="405816"/>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14" name="Freeform 2" descr="An Australian fifty cent coin">
            <a:extLst>
              <a:ext uri="{FF2B5EF4-FFF2-40B4-BE49-F238E27FC236}">
                <a16:creationId xmlns:a16="http://schemas.microsoft.com/office/drawing/2014/main" id="{4830FC91-323E-9891-1EB3-B159B39AFC80}"/>
              </a:ext>
            </a:extLst>
          </p:cNvPr>
          <p:cNvSpPr>
            <a:spLocks noChangeAspect="1"/>
          </p:cNvSpPr>
          <p:nvPr/>
        </p:nvSpPr>
        <p:spPr>
          <a:xfrm>
            <a:off x="5008454" y="2317550"/>
            <a:ext cx="1140561" cy="1120614"/>
          </a:xfrm>
          <a:custGeom>
            <a:avLst/>
            <a:gdLst/>
            <a:ahLst/>
            <a:cxnLst/>
            <a:rect l="l" t="t" r="r" b="b"/>
            <a:pathLst>
              <a:path w="611294" h="600597">
                <a:moveTo>
                  <a:pt x="0" y="0"/>
                </a:moveTo>
                <a:lnTo>
                  <a:pt x="611294" y="0"/>
                </a:lnTo>
                <a:lnTo>
                  <a:pt x="611294" y="600597"/>
                </a:lnTo>
                <a:lnTo>
                  <a:pt x="0" y="600597"/>
                </a:lnTo>
                <a:lnTo>
                  <a:pt x="0" y="0"/>
                </a:lnTo>
                <a:close/>
              </a:path>
            </a:pathLst>
          </a:custGeom>
          <a:blipFill>
            <a:blip>
              <a:extLst>
                <a:ext uri="{96DAC541-7B7A-43D3-8B79-37D633B846F1}">
                  <asvg:svgBlip xmlns:asvg="http://schemas.microsoft.com/office/drawing/2016/SVG/main" r:embed="rId6"/>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18" name="Freeform 6" descr="An Australian twenty cent coin">
            <a:extLst>
              <a:ext uri="{FF2B5EF4-FFF2-40B4-BE49-F238E27FC236}">
                <a16:creationId xmlns:a16="http://schemas.microsoft.com/office/drawing/2014/main" id="{6D9B5634-882C-806F-47F7-0937560AE7B0}"/>
              </a:ext>
            </a:extLst>
          </p:cNvPr>
          <p:cNvSpPr>
            <a:spLocks noChangeAspect="1"/>
          </p:cNvSpPr>
          <p:nvPr/>
        </p:nvSpPr>
        <p:spPr>
          <a:xfrm>
            <a:off x="6730618" y="2432599"/>
            <a:ext cx="886067" cy="890516"/>
          </a:xfrm>
          <a:custGeom>
            <a:avLst/>
            <a:gdLst/>
            <a:ahLst/>
            <a:cxnLst/>
            <a:rect l="l" t="t" r="r" b="b"/>
            <a:pathLst>
              <a:path w="474892" h="477278">
                <a:moveTo>
                  <a:pt x="0" y="0"/>
                </a:moveTo>
                <a:lnTo>
                  <a:pt x="474892" y="0"/>
                </a:lnTo>
                <a:lnTo>
                  <a:pt x="474892" y="477279"/>
                </a:lnTo>
                <a:lnTo>
                  <a:pt x="0" y="477279"/>
                </a:lnTo>
                <a:lnTo>
                  <a:pt x="0" y="0"/>
                </a:lnTo>
                <a:close/>
              </a:path>
            </a:pathLst>
          </a:custGeom>
          <a:blipFill>
            <a:blip>
              <a:extLst>
                <a:ext uri="{96DAC541-7B7A-43D3-8B79-37D633B846F1}">
                  <asvg:svgBlip xmlns:asvg="http://schemas.microsoft.com/office/drawing/2016/SVG/main" r:embed="rId7"/>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15" name="Freeform 3" descr="An Australian ten cent coin">
            <a:extLst>
              <a:ext uri="{FF2B5EF4-FFF2-40B4-BE49-F238E27FC236}">
                <a16:creationId xmlns:a16="http://schemas.microsoft.com/office/drawing/2014/main" id="{225FCF62-9E42-F22C-9586-E7A7A6E0889F}"/>
              </a:ext>
            </a:extLst>
          </p:cNvPr>
          <p:cNvSpPr>
            <a:spLocks noChangeAspect="1"/>
          </p:cNvSpPr>
          <p:nvPr/>
        </p:nvSpPr>
        <p:spPr>
          <a:xfrm>
            <a:off x="8198288" y="2530494"/>
            <a:ext cx="786448" cy="764817"/>
          </a:xfrm>
          <a:custGeom>
            <a:avLst/>
            <a:gdLst/>
            <a:ahLst/>
            <a:cxnLst/>
            <a:rect l="l" t="t" r="r" b="b"/>
            <a:pathLst>
              <a:path w="421498" h="409907">
                <a:moveTo>
                  <a:pt x="0" y="0"/>
                </a:moveTo>
                <a:lnTo>
                  <a:pt x="421498" y="0"/>
                </a:lnTo>
                <a:lnTo>
                  <a:pt x="421498" y="409907"/>
                </a:lnTo>
                <a:lnTo>
                  <a:pt x="0" y="409907"/>
                </a:lnTo>
                <a:lnTo>
                  <a:pt x="0" y="0"/>
                </a:lnTo>
                <a:close/>
              </a:path>
            </a:pathLst>
          </a:custGeom>
          <a:blipFill>
            <a:blip>
              <a:extLst>
                <a:ext uri="{96DAC541-7B7A-43D3-8B79-37D633B846F1}">
                  <asvg:svgBlip xmlns:asvg="http://schemas.microsoft.com/office/drawing/2016/SVG/main" r:embed="rId8"/>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19" name="Freeform 7" descr="An Australian five cent coin">
            <a:extLst>
              <a:ext uri="{FF2B5EF4-FFF2-40B4-BE49-F238E27FC236}">
                <a16:creationId xmlns:a16="http://schemas.microsoft.com/office/drawing/2014/main" id="{860AB5CB-1267-A034-250C-B0D428986AA4}"/>
              </a:ext>
            </a:extLst>
          </p:cNvPr>
          <p:cNvSpPr>
            <a:spLocks noChangeAspect="1"/>
          </p:cNvSpPr>
          <p:nvPr/>
        </p:nvSpPr>
        <p:spPr>
          <a:xfrm>
            <a:off x="9566339" y="2564260"/>
            <a:ext cx="611508" cy="627193"/>
          </a:xfrm>
          <a:custGeom>
            <a:avLst/>
            <a:gdLst/>
            <a:ahLst/>
            <a:cxnLst/>
            <a:rect l="l" t="t" r="r" b="b"/>
            <a:pathLst>
              <a:path w="327742" h="336146">
                <a:moveTo>
                  <a:pt x="0" y="0"/>
                </a:moveTo>
                <a:lnTo>
                  <a:pt x="327742" y="0"/>
                </a:lnTo>
                <a:lnTo>
                  <a:pt x="327742" y="336146"/>
                </a:lnTo>
                <a:lnTo>
                  <a:pt x="0" y="336146"/>
                </a:lnTo>
                <a:lnTo>
                  <a:pt x="0" y="0"/>
                </a:lnTo>
                <a:close/>
              </a:path>
            </a:pathLst>
          </a:custGeom>
          <a:blipFill>
            <a:blip>
              <a:extLst>
                <a:ext uri="{96DAC541-7B7A-43D3-8B79-37D633B846F1}">
                  <asvg:svgBlip xmlns:asvg="http://schemas.microsoft.com/office/drawing/2016/SVG/main" r:embed="rId9"/>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3" name="TextBox 2">
            <a:extLst>
              <a:ext uri="{FF2B5EF4-FFF2-40B4-BE49-F238E27FC236}">
                <a16:creationId xmlns:a16="http://schemas.microsoft.com/office/drawing/2014/main" id="{7FA0D74A-965E-DB51-DB3E-9C74BFC3BB2C}"/>
              </a:ext>
            </a:extLst>
          </p:cNvPr>
          <p:cNvSpPr txBox="1"/>
          <p:nvPr/>
        </p:nvSpPr>
        <p:spPr>
          <a:xfrm>
            <a:off x="970170" y="3879652"/>
            <a:ext cx="10367267" cy="2547397"/>
          </a:xfrm>
          <a:prstGeom prst="rect">
            <a:avLst/>
          </a:prstGeom>
          <a:solidFill>
            <a:schemeClr val="accent4"/>
          </a:solidFill>
          <a:ln>
            <a:solidFill>
              <a:schemeClr val="accent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lIns="180000" tIns="0" rIns="0" bIns="0" rtlCol="0" anchor="ctr">
            <a:noAutofit/>
          </a:bodyPr>
          <a:lstStyle/>
          <a:p>
            <a:pPr algn="ctr"/>
            <a:r>
              <a:rPr lang="en-AU" sz="2800">
                <a:solidFill>
                  <a:schemeClr val="accent1"/>
                </a:solidFill>
                <a:latin typeface="Arial" panose="020B0604020202020204" pitchFamily="34" charset="0"/>
                <a:cs typeface="Arial" panose="020B0604020202020204" pitchFamily="34" charset="0"/>
              </a:rPr>
              <a:t>Amir has one of each coin. He wants to buy a pair of shorts that costs $9.50. </a:t>
            </a:r>
          </a:p>
          <a:p>
            <a:pPr algn="l">
              <a:lnSpc>
                <a:spcPct val="150000"/>
              </a:lnSpc>
            </a:pPr>
            <a:r>
              <a:rPr lang="en-AU">
                <a:solidFill>
                  <a:schemeClr val="accent2"/>
                </a:solidFill>
                <a:latin typeface="Arial" panose="020B0604020202020204" pitchFamily="34" charset="0"/>
                <a:cs typeface="Arial" panose="020B0604020202020204" pitchFamily="34" charset="0"/>
              </a:rPr>
              <a:t>- How much money does Amir have?</a:t>
            </a:r>
          </a:p>
          <a:p>
            <a:pPr algn="l">
              <a:lnSpc>
                <a:spcPct val="150000"/>
              </a:lnSpc>
            </a:pPr>
            <a:r>
              <a:rPr lang="en-AU">
                <a:solidFill>
                  <a:schemeClr val="accent2"/>
                </a:solidFill>
                <a:latin typeface="Arial" panose="020B0604020202020204" pitchFamily="34" charset="0"/>
                <a:cs typeface="Arial" panose="020B0604020202020204" pitchFamily="34" charset="0"/>
              </a:rPr>
              <a:t>- How much more does he need to buy the shorts?</a:t>
            </a:r>
          </a:p>
          <a:p>
            <a:pPr algn="l">
              <a:lnSpc>
                <a:spcPct val="150000"/>
              </a:lnSpc>
            </a:pPr>
            <a:r>
              <a:rPr lang="en-AU">
                <a:solidFill>
                  <a:schemeClr val="accent2"/>
                </a:solidFill>
                <a:latin typeface="Arial" panose="020B0604020202020204" pitchFamily="34" charset="0"/>
                <a:cs typeface="Arial" panose="020B0604020202020204" pitchFamily="34" charset="0"/>
              </a:rPr>
              <a:t>- What strategy can you use to calculate this?</a:t>
            </a:r>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2988723040"/>
              </p:ext>
            </p:extLst>
          </p:nvPr>
        </p:nvGraphicFramePr>
        <p:xfrm>
          <a:off x="2557462" y="511327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7" name="Rectangle: Rounded Corners 6">
            <a:extLst>
              <a:ext uri="{FF2B5EF4-FFF2-40B4-BE49-F238E27FC236}">
                <a16:creationId xmlns:a16="http://schemas.microsoft.com/office/drawing/2014/main" id="{F2F23C42-3EFC-BAF5-28C1-53D210CCC264}"/>
              </a:ext>
            </a:extLst>
          </p:cNvPr>
          <p:cNvSpPr/>
          <p:nvPr/>
        </p:nvSpPr>
        <p:spPr>
          <a:xfrm>
            <a:off x="504087" y="1184019"/>
            <a:ext cx="3541380" cy="2396055"/>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lnSpc>
                <a:spcPct val="150000"/>
              </a:lnSpc>
            </a:pPr>
            <a:r>
              <a:rPr lang="en-AU" sz="2000">
                <a:solidFill>
                  <a:schemeClr val="accent1"/>
                </a:solidFill>
              </a:rPr>
              <a:t>A customer has a $20 note. </a:t>
            </a:r>
          </a:p>
          <a:p>
            <a:pPr algn="ctr">
              <a:lnSpc>
                <a:spcPct val="150000"/>
              </a:lnSpc>
            </a:pPr>
            <a:r>
              <a:rPr lang="en-AU" sz="2000">
                <a:solidFill>
                  <a:schemeClr val="accent1"/>
                </a:solidFill>
              </a:rPr>
              <a:t>How much change will the customer receive from $20 after buying these items? </a:t>
            </a:r>
          </a:p>
        </p:txBody>
      </p:sp>
      <p:pic>
        <p:nvPicPr>
          <p:cNvPr id="10" name="Picture 9" descr="A notebook with a price tag of $3.25, a red pen with a price tag of $1.50, a book with a price tag of $5.75 and a bookmark with a price tag of $0.80.">
            <a:extLst>
              <a:ext uri="{FF2B5EF4-FFF2-40B4-BE49-F238E27FC236}">
                <a16:creationId xmlns:a16="http://schemas.microsoft.com/office/drawing/2014/main" id="{B9BB8CE3-198F-F45D-65C8-F231E4CFF8AD}"/>
              </a:ext>
            </a:extLst>
          </p:cNvPr>
          <p:cNvPicPr>
            <a:picLocks noChangeAspect="1"/>
          </p:cNvPicPr>
          <p:nvPr/>
        </p:nvPicPr>
        <p:blipFill>
          <a:blip r:embed="rId4">
            <a:extLst>
              <a:ext uri="{28A0092B-C50C-407E-A947-70E740481C1C}">
                <a14:useLocalDpi xmlns:a14="http://schemas.microsoft.com/office/drawing/2010/main" val="0"/>
              </a:ext>
            </a:extLst>
          </a:blip>
          <a:srcRect t="57510"/>
          <a:stretch>
            <a:fillRect/>
          </a:stretch>
        </p:blipFill>
        <p:spPr>
          <a:xfrm>
            <a:off x="4079717" y="1355718"/>
            <a:ext cx="7404283" cy="2224356"/>
          </a:xfrm>
          <a:prstGeom prst="rect">
            <a:avLst/>
          </a:prstGeom>
          <a:effectLst/>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504087" y="4030191"/>
            <a:ext cx="11339913" cy="893226"/>
          </a:xfrm>
        </p:spPr>
        <p:txBody>
          <a:bodyPr/>
          <a:lstStyle/>
          <a:p>
            <a:pPr algn="ctr"/>
            <a:r>
              <a:rPr lang="en-AU" sz="3600"/>
              <a:t>You will use </a:t>
            </a:r>
            <a:r>
              <a:rPr lang="en-AU" sz="3600" b="1"/>
              <a:t>addition (+) only </a:t>
            </a:r>
            <a:r>
              <a:rPr lang="en-AU" sz="3600"/>
              <a:t>to solve this problem.</a:t>
            </a:r>
          </a:p>
        </p:txBody>
      </p:sp>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8" name="TextBox 7">
            <a:extLst>
              <a:ext uri="{FF2B5EF4-FFF2-40B4-BE49-F238E27FC236}">
                <a16:creationId xmlns:a16="http://schemas.microsoft.com/office/drawing/2014/main" id="{54952A7B-A205-922D-33B2-7F653BF10C6F}"/>
              </a:ext>
            </a:extLst>
          </p:cNvPr>
          <p:cNvSpPr txBox="1"/>
          <p:nvPr/>
        </p:nvSpPr>
        <p:spPr>
          <a:xfrm>
            <a:off x="2617637" y="6044821"/>
            <a:ext cx="8190271" cy="646331"/>
          </a:xfrm>
          <a:prstGeom prst="rect">
            <a:avLst/>
          </a:prstGeom>
          <a:noFill/>
        </p:spPr>
        <p:txBody>
          <a:bodyPr wrap="square">
            <a:spAutoFit/>
          </a:bodyPr>
          <a:lstStyle/>
          <a:p>
            <a:r>
              <a:rPr lang="en-AU" sz="3600" b="1"/>
              <a:t>Communicate</a:t>
            </a:r>
            <a:r>
              <a:rPr lang="en-AU" sz="3600"/>
              <a:t> your </a:t>
            </a:r>
            <a:r>
              <a:rPr lang="en-AU" sz="3600" b="1"/>
              <a:t>reasoning</a:t>
            </a:r>
            <a:r>
              <a:rPr lang="en-AU" sz="2400" b="1"/>
              <a:t>.</a:t>
            </a:r>
            <a:r>
              <a:rPr lang="en-AU" sz="2400"/>
              <a:t> </a:t>
            </a:r>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5" name="TextBox 4">
            <a:extLst>
              <a:ext uri="{FF2B5EF4-FFF2-40B4-BE49-F238E27FC236}">
                <a16:creationId xmlns:a16="http://schemas.microsoft.com/office/drawing/2014/main" id="{98EEE565-FF68-5A0C-61D6-EEC8B45AEC2D}"/>
              </a:ext>
            </a:extLst>
          </p:cNvPr>
          <p:cNvSpPr txBox="1"/>
          <p:nvPr/>
        </p:nvSpPr>
        <p:spPr>
          <a:xfrm>
            <a:off x="452979" y="1271822"/>
            <a:ext cx="11286040" cy="1651671"/>
          </a:xfrm>
          <a:prstGeom prst="rect">
            <a:avLst/>
          </a:prstGeom>
          <a:noFill/>
        </p:spPr>
        <p:txBody>
          <a:bodyPr wrap="square">
            <a:spAutoFit/>
          </a:bodyPr>
          <a:lstStyle/>
          <a:p>
            <a:pPr algn="ctr">
              <a:lnSpc>
                <a:spcPct val="150000"/>
              </a:lnSpc>
            </a:pPr>
            <a:r>
              <a:rPr lang="en-AU" sz="3600" b="1"/>
              <a:t>Record</a:t>
            </a:r>
            <a:r>
              <a:rPr lang="en-AU" sz="3600"/>
              <a:t> the </a:t>
            </a:r>
            <a:r>
              <a:rPr lang="en-AU" sz="3600" b="1"/>
              <a:t>area</a:t>
            </a:r>
            <a:r>
              <a:rPr lang="en-AU" sz="3600"/>
              <a:t> of the rectangle in </a:t>
            </a:r>
            <a:r>
              <a:rPr lang="en-AU" sz="3600" b="1"/>
              <a:t>square centimetres </a:t>
            </a:r>
            <a:r>
              <a:rPr lang="en-AU" sz="3600"/>
              <a:t>using the array.</a:t>
            </a:r>
          </a:p>
        </p:txBody>
      </p:sp>
      <p:pic>
        <p:nvPicPr>
          <p:cNvPr id="11" name="Picture 10" descr="An array with 5 rows, with 11 squares in each row.">
            <a:extLst>
              <a:ext uri="{FF2B5EF4-FFF2-40B4-BE49-F238E27FC236}">
                <a16:creationId xmlns:a16="http://schemas.microsoft.com/office/drawing/2014/main" id="{7BFC2BCD-5E36-1B45-82D1-CA11BC29CA90}"/>
              </a:ext>
            </a:extLst>
          </p:cNvPr>
          <p:cNvPicPr>
            <a:picLocks noChangeAspect="1"/>
          </p:cNvPicPr>
          <p:nvPr/>
        </p:nvPicPr>
        <p:blipFill>
          <a:blip r:embed="rId4"/>
          <a:stretch>
            <a:fillRect/>
          </a:stretch>
        </p:blipFill>
        <p:spPr>
          <a:xfrm>
            <a:off x="2983500" y="3289714"/>
            <a:ext cx="6224997" cy="3054613"/>
          </a:xfrm>
          <a:prstGeom prst="rect">
            <a:avLst/>
          </a:prstGeom>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435C22B8-9DB9-7769-6737-CB05A9B9AC5A}"/>
              </a:ext>
            </a:extLst>
          </p:cNvPr>
          <p:cNvSpPr txBox="1">
            <a:spLocks/>
          </p:cNvSpPr>
          <p:nvPr/>
        </p:nvSpPr>
        <p:spPr>
          <a:xfrm>
            <a:off x="246024" y="997874"/>
            <a:ext cx="11742023"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Use </a:t>
            </a:r>
            <a:r>
              <a:rPr lang="en-AU" sz="3600"/>
              <a:t>the</a:t>
            </a:r>
            <a:r>
              <a:rPr lang="en-AU" sz="3600" b="1"/>
              <a:t> commutative property </a:t>
            </a:r>
            <a:r>
              <a:rPr lang="en-AU" sz="3600"/>
              <a:t>of</a:t>
            </a:r>
            <a:r>
              <a:rPr lang="en-AU" sz="3600" b="1"/>
              <a:t> </a:t>
            </a:r>
            <a:r>
              <a:rPr lang="en-AU" sz="3600"/>
              <a:t>multiplication</a:t>
            </a:r>
            <a:r>
              <a:rPr lang="en-AU" sz="3600" b="1"/>
              <a:t> </a:t>
            </a:r>
            <a:r>
              <a:rPr lang="en-AU" sz="3600"/>
              <a:t>(rearrange the order of numbers) </a:t>
            </a:r>
          </a:p>
          <a:p>
            <a:pPr algn="ctr"/>
            <a:r>
              <a:rPr lang="en-AU" sz="3600"/>
              <a:t>to solve the number sentence.</a:t>
            </a:r>
          </a:p>
        </p:txBody>
      </p:sp>
      <p:sp>
        <p:nvSpPr>
          <p:cNvPr id="5" name="Rectangle: Rounded Corners 4">
            <a:extLst>
              <a:ext uri="{FF2B5EF4-FFF2-40B4-BE49-F238E27FC236}">
                <a16:creationId xmlns:a16="http://schemas.microsoft.com/office/drawing/2014/main" id="{BBB4F13E-C6AB-A827-B6D6-6A2923D7B33A}"/>
              </a:ext>
            </a:extLst>
          </p:cNvPr>
          <p:cNvSpPr/>
          <p:nvPr/>
        </p:nvSpPr>
        <p:spPr>
          <a:xfrm>
            <a:off x="3498914" y="4019783"/>
            <a:ext cx="5777268" cy="1393730"/>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lnSpc>
                <a:spcPct val="150000"/>
              </a:lnSpc>
            </a:pPr>
            <a:r>
              <a:rPr lang="en-AU" sz="5400" b="1">
                <a:solidFill>
                  <a:schemeClr val="accent1"/>
                </a:solidFill>
              </a:rPr>
              <a:t>6 × 3 × 5</a:t>
            </a:r>
            <a:endParaRPr lang="en-AU" sz="5400" b="1">
              <a:solidFill>
                <a:schemeClr val="tx1"/>
              </a:solidFill>
            </a:endParaRP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4" name="Text Placeholder">
            <a:extLst>
              <a:ext uri="{FF2B5EF4-FFF2-40B4-BE49-F238E27FC236}">
                <a16:creationId xmlns:a16="http://schemas.microsoft.com/office/drawing/2014/main" id="{61ACB75C-65FD-5343-81A3-6FB3717A686A}"/>
              </a:ext>
            </a:extLst>
          </p:cNvPr>
          <p:cNvSpPr txBox="1">
            <a:spLocks/>
          </p:cNvSpPr>
          <p:nvPr/>
        </p:nvSpPr>
        <p:spPr>
          <a:xfrm>
            <a:off x="474662" y="1584273"/>
            <a:ext cx="11242675" cy="89376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1200"/>
              </a:spcBef>
            </a:pPr>
            <a:r>
              <a:rPr lang="en-AU" sz="4400" b="1"/>
              <a:t>Record</a:t>
            </a:r>
            <a:r>
              <a:rPr lang="en-AU" sz="4400"/>
              <a:t> how many minutes in:</a:t>
            </a:r>
          </a:p>
          <a:p>
            <a:pPr marL="742950" indent="-742950">
              <a:spcBef>
                <a:spcPts val="1200"/>
              </a:spcBef>
              <a:buFont typeface="+mj-lt"/>
              <a:buAutoNum type="alphaLcParenR"/>
            </a:pPr>
            <a:r>
              <a:rPr lang="en-AU" sz="4400"/>
              <a:t>a half-hour</a:t>
            </a:r>
          </a:p>
          <a:p>
            <a:pPr marL="742950" indent="-742950">
              <a:spcBef>
                <a:spcPts val="1200"/>
              </a:spcBef>
              <a:buFont typeface="+mj-lt"/>
              <a:buAutoNum type="alphaLcParenR"/>
            </a:pPr>
            <a:r>
              <a:rPr lang="en-AU" sz="4400"/>
              <a:t>one hour.</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9" name="TextBox 8">
            <a:extLst>
              <a:ext uri="{FF2B5EF4-FFF2-40B4-BE49-F238E27FC236}">
                <a16:creationId xmlns:a16="http://schemas.microsoft.com/office/drawing/2014/main" id="{E4E7CC02-3E9A-551A-708A-69FA8BBFE7B9}"/>
              </a:ext>
            </a:extLst>
          </p:cNvPr>
          <p:cNvSpPr txBox="1"/>
          <p:nvPr/>
        </p:nvSpPr>
        <p:spPr>
          <a:xfrm>
            <a:off x="401295" y="1067836"/>
            <a:ext cx="10928723" cy="1998176"/>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b="1">
                <a:latin typeface="Arial"/>
                <a:cs typeface="Arial"/>
              </a:rPr>
              <a:t>Record </a:t>
            </a:r>
            <a:r>
              <a:rPr lang="en-AU" sz="4400">
                <a:latin typeface="Arial"/>
                <a:cs typeface="Arial"/>
              </a:rPr>
              <a:t>the shapes that have </a:t>
            </a:r>
            <a:r>
              <a:rPr lang="en-AU" sz="4400" b="1">
                <a:latin typeface="Arial"/>
                <a:cs typeface="Arial"/>
              </a:rPr>
              <a:t>parallel</a:t>
            </a:r>
            <a:r>
              <a:rPr lang="en-AU" sz="4400">
                <a:latin typeface="Arial"/>
                <a:cs typeface="Arial"/>
              </a:rPr>
              <a:t> </a:t>
            </a:r>
            <a:r>
              <a:rPr lang="en-AU" sz="4400" b="1">
                <a:latin typeface="Arial"/>
                <a:cs typeface="Arial"/>
              </a:rPr>
              <a:t>sides</a:t>
            </a:r>
            <a:r>
              <a:rPr lang="en-AU" sz="4400">
                <a:latin typeface="Arial"/>
                <a:cs typeface="Arial"/>
              </a:rPr>
              <a:t> and/or </a:t>
            </a:r>
            <a:r>
              <a:rPr lang="en-AU" sz="4400" b="1">
                <a:latin typeface="Arial"/>
                <a:cs typeface="Arial"/>
              </a:rPr>
              <a:t>right</a:t>
            </a:r>
            <a:r>
              <a:rPr lang="en-AU" sz="4400">
                <a:latin typeface="Arial"/>
                <a:cs typeface="Arial"/>
              </a:rPr>
              <a:t> </a:t>
            </a:r>
            <a:r>
              <a:rPr lang="en-AU" sz="4400" b="1">
                <a:latin typeface="Arial"/>
                <a:cs typeface="Arial"/>
              </a:rPr>
              <a:t>angles</a:t>
            </a:r>
            <a:r>
              <a:rPr lang="en-AU" sz="4400">
                <a:latin typeface="Arial"/>
                <a:cs typeface="Arial"/>
              </a:rPr>
              <a:t>.</a:t>
            </a:r>
          </a:p>
        </p:txBody>
      </p:sp>
      <p:sp>
        <p:nvSpPr>
          <p:cNvPr id="12" name="Rectangle 11">
            <a:extLst>
              <a:ext uri="{FF2B5EF4-FFF2-40B4-BE49-F238E27FC236}">
                <a16:creationId xmlns:a16="http://schemas.microsoft.com/office/drawing/2014/main" id="{8A2AC7FD-165E-5CEE-1DFE-A067067FD285}"/>
              </a:ext>
            </a:extLst>
          </p:cNvPr>
          <p:cNvSpPr/>
          <p:nvPr/>
        </p:nvSpPr>
        <p:spPr>
          <a:xfrm>
            <a:off x="401295" y="3728361"/>
            <a:ext cx="1815547" cy="24781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a:t>rectangle</a:t>
            </a:r>
          </a:p>
        </p:txBody>
      </p:sp>
      <p:sp>
        <p:nvSpPr>
          <p:cNvPr id="13" name="Right Triangle 12">
            <a:extLst>
              <a:ext uri="{FF2B5EF4-FFF2-40B4-BE49-F238E27FC236}">
                <a16:creationId xmlns:a16="http://schemas.microsoft.com/office/drawing/2014/main" id="{BF954084-65AD-C3D8-B3A4-98232E64FC98}"/>
              </a:ext>
            </a:extLst>
          </p:cNvPr>
          <p:cNvSpPr/>
          <p:nvPr/>
        </p:nvSpPr>
        <p:spPr>
          <a:xfrm>
            <a:off x="3158833" y="3902755"/>
            <a:ext cx="2385391" cy="2319130"/>
          </a:xfrm>
          <a:prstGeom prst="rtTriangl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AU"/>
              <a:t>triangle</a:t>
            </a:r>
          </a:p>
        </p:txBody>
      </p:sp>
      <p:sp>
        <p:nvSpPr>
          <p:cNvPr id="14" name="Oval 13">
            <a:extLst>
              <a:ext uri="{FF2B5EF4-FFF2-40B4-BE49-F238E27FC236}">
                <a16:creationId xmlns:a16="http://schemas.microsoft.com/office/drawing/2014/main" id="{3D3554F4-AF9E-B37A-E6FF-BC0FE959B312}"/>
              </a:ext>
            </a:extLst>
          </p:cNvPr>
          <p:cNvSpPr/>
          <p:nvPr/>
        </p:nvSpPr>
        <p:spPr>
          <a:xfrm>
            <a:off x="6096000" y="4026267"/>
            <a:ext cx="1987826" cy="2160104"/>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AU"/>
              <a:t>circle</a:t>
            </a:r>
          </a:p>
        </p:txBody>
      </p:sp>
      <p:sp>
        <p:nvSpPr>
          <p:cNvPr id="15" name="Trapezium 14">
            <a:extLst>
              <a:ext uri="{FF2B5EF4-FFF2-40B4-BE49-F238E27FC236}">
                <a16:creationId xmlns:a16="http://schemas.microsoft.com/office/drawing/2014/main" id="{E4826A2F-1AAA-7761-6C33-FE953C2AC027}"/>
              </a:ext>
            </a:extLst>
          </p:cNvPr>
          <p:cNvSpPr/>
          <p:nvPr/>
        </p:nvSpPr>
        <p:spPr>
          <a:xfrm>
            <a:off x="8732592" y="4073167"/>
            <a:ext cx="2597426" cy="2066303"/>
          </a:xfrm>
          <a:prstGeom prst="trapezoid">
            <a:avLst/>
          </a:prstGeom>
          <a:solidFill>
            <a:schemeClr val="accent6">
              <a:lumMod val="25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AU"/>
              <a:t>trapezium</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problem solving with money 2</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A70D3AEB-94F8-680D-788D-0389E795B4AD}"/>
              </a:ext>
            </a:extLst>
          </p:cNvPr>
          <p:cNvSpPr txBox="1"/>
          <p:nvPr/>
        </p:nvSpPr>
        <p:spPr>
          <a:xfrm>
            <a:off x="360000" y="1097258"/>
            <a:ext cx="8488822" cy="5400742"/>
          </a:xfrm>
          <a:prstGeom prst="rect">
            <a:avLst/>
          </a:prstGeom>
          <a:solidFill>
            <a:schemeClr val="accent4"/>
          </a:solidFill>
          <a:ln>
            <a:solidFill>
              <a:schemeClr val="accent1"/>
            </a:solidFill>
          </a:ln>
          <a:effectLst/>
        </p:spPr>
        <p:style>
          <a:lnRef idx="2">
            <a:schemeClr val="dk1"/>
          </a:lnRef>
          <a:fillRef idx="1">
            <a:schemeClr val="lt1"/>
          </a:fillRef>
          <a:effectRef idx="0">
            <a:schemeClr val="dk1"/>
          </a:effectRef>
          <a:fontRef idx="minor">
            <a:schemeClr val="dk1"/>
          </a:fontRef>
        </p:style>
        <p:txBody>
          <a:bodyPr wrap="square" lIns="180000" tIns="0" rIns="0" bIns="0" rtlCol="0" anchor="ctr">
            <a:noAutofit/>
          </a:bodyPr>
          <a:lstStyle/>
          <a:p>
            <a:pPr>
              <a:lnSpc>
                <a:spcPct val="150000"/>
              </a:lnSpc>
            </a:pPr>
            <a:r>
              <a:rPr lang="en-AU" sz="2600">
                <a:solidFill>
                  <a:schemeClr val="accent1"/>
                </a:solidFill>
                <a:latin typeface="Arial" panose="020B0604020202020204" pitchFamily="34" charset="0"/>
                <a:cs typeface="Arial" panose="020B0604020202020204" pitchFamily="34" charset="0"/>
              </a:rPr>
              <a:t>Samira has one of each note of Australian currency ($100, $50, $20, $10, and $5), six $2 coins and nine 50c coins. She wants to buy a skateboard that costs $225. Ask students: </a:t>
            </a:r>
          </a:p>
          <a:p>
            <a:pPr>
              <a:lnSpc>
                <a:spcPct val="150000"/>
              </a:lnSpc>
            </a:pPr>
            <a:r>
              <a:rPr lang="en-AU" sz="2600">
                <a:solidFill>
                  <a:schemeClr val="accent2"/>
                </a:solidFill>
                <a:latin typeface="Arial" panose="020B0604020202020204" pitchFamily="34" charset="0"/>
                <a:cs typeface="Arial" panose="020B0604020202020204" pitchFamily="34" charset="0"/>
              </a:rPr>
              <a:t>- How much money does Samira have? </a:t>
            </a:r>
          </a:p>
          <a:p>
            <a:pPr>
              <a:lnSpc>
                <a:spcPct val="150000"/>
              </a:lnSpc>
            </a:pPr>
            <a:r>
              <a:rPr lang="en-AU" sz="2600">
                <a:solidFill>
                  <a:schemeClr val="accent2"/>
                </a:solidFill>
                <a:latin typeface="Arial" panose="020B0604020202020204" pitchFamily="34" charset="0"/>
                <a:cs typeface="Arial" panose="020B0604020202020204" pitchFamily="34" charset="0"/>
              </a:rPr>
              <a:t>- How can she work out how much more money she needs? </a:t>
            </a:r>
          </a:p>
          <a:p>
            <a:pPr>
              <a:lnSpc>
                <a:spcPct val="150000"/>
              </a:lnSpc>
            </a:pPr>
            <a:r>
              <a:rPr lang="en-AU" sz="2600">
                <a:solidFill>
                  <a:schemeClr val="accent2"/>
                </a:solidFill>
                <a:latin typeface="Arial" panose="020B0604020202020204" pitchFamily="34" charset="0"/>
                <a:cs typeface="Arial" panose="020B0604020202020204" pitchFamily="34" charset="0"/>
              </a:rPr>
              <a:t>- Will she use subtraction, addition, or a combination of both? </a:t>
            </a:r>
          </a:p>
        </p:txBody>
      </p:sp>
      <p:sp>
        <p:nvSpPr>
          <p:cNvPr id="9" name="Freeform 6" descr="An Australian five dollar note">
            <a:extLst>
              <a:ext uri="{FF2B5EF4-FFF2-40B4-BE49-F238E27FC236}">
                <a16:creationId xmlns:a16="http://schemas.microsoft.com/office/drawing/2014/main" id="{44B3C6F1-B67D-D80E-C616-7A4417E2D132}"/>
              </a:ext>
            </a:extLst>
          </p:cNvPr>
          <p:cNvSpPr>
            <a:spLocks noChangeAspect="1"/>
          </p:cNvSpPr>
          <p:nvPr/>
        </p:nvSpPr>
        <p:spPr>
          <a:xfrm>
            <a:off x="9151104" y="1211990"/>
            <a:ext cx="2083967" cy="1034797"/>
          </a:xfrm>
          <a:custGeom>
            <a:avLst/>
            <a:gdLst/>
            <a:ahLst/>
            <a:cxnLst/>
            <a:rect l="l" t="t" r="r" b="b"/>
            <a:pathLst>
              <a:path w="1111450" h="551892">
                <a:moveTo>
                  <a:pt x="0" y="0"/>
                </a:moveTo>
                <a:lnTo>
                  <a:pt x="1111450" y="0"/>
                </a:lnTo>
                <a:lnTo>
                  <a:pt x="1111450" y="551892"/>
                </a:lnTo>
                <a:lnTo>
                  <a:pt x="0" y="551892"/>
                </a:lnTo>
                <a:lnTo>
                  <a:pt x="0" y="0"/>
                </a:lnTo>
                <a:close/>
              </a:path>
            </a:pathLst>
          </a:custGeom>
          <a:blipFill>
            <a:blip r:embed="rId4"/>
            <a:stretch>
              <a:fillRect/>
            </a:stretch>
          </a:blipFill>
          <a:effectLst>
            <a:outerShdw blurRad="63500" sx="102000" sy="102000" algn="ctr" rotWithShape="0">
              <a:prstClr val="black">
                <a:alpha val="40000"/>
              </a:prstClr>
            </a:outerShdw>
          </a:effectLst>
        </p:spPr>
        <p:txBody>
          <a:bodyPr/>
          <a:lstStyle/>
          <a:p>
            <a:endParaRPr lang="en-AU"/>
          </a:p>
        </p:txBody>
      </p:sp>
      <p:sp>
        <p:nvSpPr>
          <p:cNvPr id="8" name="Freeform 5" descr="An Australian ten dollar note">
            <a:extLst>
              <a:ext uri="{FF2B5EF4-FFF2-40B4-BE49-F238E27FC236}">
                <a16:creationId xmlns:a16="http://schemas.microsoft.com/office/drawing/2014/main" id="{F0E40D50-31CD-EE90-DB17-1A2FF4DF1A0E}"/>
              </a:ext>
            </a:extLst>
          </p:cNvPr>
          <p:cNvSpPr>
            <a:spLocks noChangeAspect="1"/>
          </p:cNvSpPr>
          <p:nvPr/>
        </p:nvSpPr>
        <p:spPr>
          <a:xfrm>
            <a:off x="9151104" y="2392757"/>
            <a:ext cx="2083967" cy="1018775"/>
          </a:xfrm>
          <a:custGeom>
            <a:avLst/>
            <a:gdLst/>
            <a:ahLst/>
            <a:cxnLst/>
            <a:rect l="l" t="t" r="r" b="b"/>
            <a:pathLst>
              <a:path w="1111450" h="543348">
                <a:moveTo>
                  <a:pt x="0" y="0"/>
                </a:moveTo>
                <a:lnTo>
                  <a:pt x="1111450" y="0"/>
                </a:lnTo>
                <a:lnTo>
                  <a:pt x="1111450" y="543348"/>
                </a:lnTo>
                <a:lnTo>
                  <a:pt x="0" y="543348"/>
                </a:lnTo>
                <a:lnTo>
                  <a:pt x="0" y="0"/>
                </a:lnTo>
                <a:close/>
              </a:path>
            </a:pathLst>
          </a:custGeom>
          <a:blipFill>
            <a:blip r:embed="rId5"/>
            <a:stretch>
              <a:fillRect/>
            </a:stretch>
          </a:blipFill>
          <a:effectLst>
            <a:outerShdw blurRad="63500" sx="102000" sy="102000" algn="ctr" rotWithShape="0">
              <a:prstClr val="black">
                <a:alpha val="40000"/>
              </a:prstClr>
            </a:outerShdw>
          </a:effectLst>
        </p:spPr>
        <p:txBody>
          <a:bodyPr/>
          <a:lstStyle/>
          <a:p>
            <a:endParaRPr lang="en-AU"/>
          </a:p>
        </p:txBody>
      </p:sp>
      <p:sp>
        <p:nvSpPr>
          <p:cNvPr id="7" name="Freeform 4" descr="An Australian twenty dollar note">
            <a:extLst>
              <a:ext uri="{FF2B5EF4-FFF2-40B4-BE49-F238E27FC236}">
                <a16:creationId xmlns:a16="http://schemas.microsoft.com/office/drawing/2014/main" id="{4A200035-B57A-9FF3-3A54-AF478C42B769}"/>
              </a:ext>
            </a:extLst>
          </p:cNvPr>
          <p:cNvSpPr>
            <a:spLocks noChangeAspect="1"/>
          </p:cNvSpPr>
          <p:nvPr/>
        </p:nvSpPr>
        <p:spPr>
          <a:xfrm>
            <a:off x="9151104" y="3558789"/>
            <a:ext cx="2083967" cy="959490"/>
          </a:xfrm>
          <a:custGeom>
            <a:avLst/>
            <a:gdLst/>
            <a:ahLst/>
            <a:cxnLst/>
            <a:rect l="l" t="t" r="r" b="b"/>
            <a:pathLst>
              <a:path w="1111450" h="511730">
                <a:moveTo>
                  <a:pt x="0" y="0"/>
                </a:moveTo>
                <a:lnTo>
                  <a:pt x="1111450" y="0"/>
                </a:lnTo>
                <a:lnTo>
                  <a:pt x="1111450" y="511730"/>
                </a:lnTo>
                <a:lnTo>
                  <a:pt x="0" y="511730"/>
                </a:lnTo>
                <a:lnTo>
                  <a:pt x="0" y="0"/>
                </a:lnTo>
                <a:close/>
              </a:path>
            </a:pathLst>
          </a:custGeom>
          <a:blipFill>
            <a:blip r:embed="rId6"/>
            <a:stretch>
              <a:fillRect/>
            </a:stretch>
          </a:blipFill>
          <a:effectLst>
            <a:outerShdw blurRad="63500" sx="102000" sy="102000" algn="ctr" rotWithShape="0">
              <a:prstClr val="black">
                <a:alpha val="40000"/>
              </a:prstClr>
            </a:outerShdw>
          </a:effectLst>
        </p:spPr>
        <p:txBody>
          <a:bodyPr/>
          <a:lstStyle/>
          <a:p>
            <a:endParaRPr lang="en-AU"/>
          </a:p>
        </p:txBody>
      </p:sp>
      <p:sp>
        <p:nvSpPr>
          <p:cNvPr id="5" name="Freeform 3" descr="An Australian fifty dollar note">
            <a:extLst>
              <a:ext uri="{FF2B5EF4-FFF2-40B4-BE49-F238E27FC236}">
                <a16:creationId xmlns:a16="http://schemas.microsoft.com/office/drawing/2014/main" id="{EA7AB56D-DBC5-A448-D410-46DEE37F5A91}"/>
              </a:ext>
            </a:extLst>
          </p:cNvPr>
          <p:cNvSpPr>
            <a:spLocks noChangeAspect="1"/>
          </p:cNvSpPr>
          <p:nvPr/>
        </p:nvSpPr>
        <p:spPr>
          <a:xfrm>
            <a:off x="9151104" y="4665536"/>
            <a:ext cx="2026504" cy="914074"/>
          </a:xfrm>
          <a:custGeom>
            <a:avLst/>
            <a:gdLst/>
            <a:ahLst/>
            <a:cxnLst/>
            <a:rect l="l" t="t" r="r" b="b"/>
            <a:pathLst>
              <a:path w="1080803" h="487506">
                <a:moveTo>
                  <a:pt x="0" y="0"/>
                </a:moveTo>
                <a:lnTo>
                  <a:pt x="1080803" y="0"/>
                </a:lnTo>
                <a:lnTo>
                  <a:pt x="1080803" y="487507"/>
                </a:lnTo>
                <a:lnTo>
                  <a:pt x="0" y="487507"/>
                </a:lnTo>
                <a:lnTo>
                  <a:pt x="0" y="0"/>
                </a:lnTo>
                <a:close/>
              </a:path>
            </a:pathLst>
          </a:custGeom>
          <a:blipFill>
            <a:blip r:embed="rId7"/>
            <a:stretch>
              <a:fillRect/>
            </a:stretch>
          </a:blipFill>
          <a:effectLst>
            <a:outerShdw blurRad="63500" sx="102000" sy="102000" algn="ctr" rotWithShape="0">
              <a:prstClr val="black">
                <a:alpha val="40000"/>
              </a:prstClr>
            </a:outerShdw>
          </a:effectLst>
        </p:spPr>
        <p:txBody>
          <a:bodyPr/>
          <a:lstStyle/>
          <a:p>
            <a:endParaRPr lang="en-AU"/>
          </a:p>
        </p:txBody>
      </p:sp>
      <p:sp>
        <p:nvSpPr>
          <p:cNvPr id="10" name="Freeform 2" descr="An Australian fifty cent coin">
            <a:extLst>
              <a:ext uri="{FF2B5EF4-FFF2-40B4-BE49-F238E27FC236}">
                <a16:creationId xmlns:a16="http://schemas.microsoft.com/office/drawing/2014/main" id="{8188E158-C53B-A5E6-27EF-3073117F13AB}"/>
              </a:ext>
            </a:extLst>
          </p:cNvPr>
          <p:cNvSpPr>
            <a:spLocks noChangeAspect="1"/>
          </p:cNvSpPr>
          <p:nvPr/>
        </p:nvSpPr>
        <p:spPr>
          <a:xfrm>
            <a:off x="9257304" y="5839788"/>
            <a:ext cx="769726" cy="756263"/>
          </a:xfrm>
          <a:custGeom>
            <a:avLst/>
            <a:gdLst/>
            <a:ahLst/>
            <a:cxnLst/>
            <a:rect l="l" t="t" r="r" b="b"/>
            <a:pathLst>
              <a:path w="611294" h="600597">
                <a:moveTo>
                  <a:pt x="0" y="0"/>
                </a:moveTo>
                <a:lnTo>
                  <a:pt x="611294" y="0"/>
                </a:lnTo>
                <a:lnTo>
                  <a:pt x="611294" y="600597"/>
                </a:lnTo>
                <a:lnTo>
                  <a:pt x="0" y="600597"/>
                </a:lnTo>
                <a:lnTo>
                  <a:pt x="0" y="0"/>
                </a:lnTo>
                <a:close/>
              </a:path>
            </a:pathLst>
          </a:custGeom>
          <a:blipFill>
            <a:blip>
              <a:extLst>
                <a:ext uri="{96DAC541-7B7A-43D3-8B79-37D633B846F1}">
                  <asvg:svgBlip xmlns:asvg="http://schemas.microsoft.com/office/drawing/2016/SVG/main" r:embed="rId8"/>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11" name="Freeform 5" descr="An Australian two dollar coin">
            <a:extLst>
              <a:ext uri="{FF2B5EF4-FFF2-40B4-BE49-F238E27FC236}">
                <a16:creationId xmlns:a16="http://schemas.microsoft.com/office/drawing/2014/main" id="{2E9C14C0-2ED3-3466-44EC-4CF676B59588}"/>
              </a:ext>
            </a:extLst>
          </p:cNvPr>
          <p:cNvSpPr>
            <a:spLocks noChangeAspect="1"/>
          </p:cNvSpPr>
          <p:nvPr/>
        </p:nvSpPr>
        <p:spPr>
          <a:xfrm>
            <a:off x="10435512" y="5923604"/>
            <a:ext cx="583511" cy="592396"/>
          </a:xfrm>
          <a:custGeom>
            <a:avLst/>
            <a:gdLst/>
            <a:ahLst/>
            <a:cxnLst/>
            <a:rect l="l" t="t" r="r" b="b"/>
            <a:pathLst>
              <a:path w="356697" h="362129">
                <a:moveTo>
                  <a:pt x="0" y="0"/>
                </a:moveTo>
                <a:lnTo>
                  <a:pt x="356698" y="0"/>
                </a:lnTo>
                <a:lnTo>
                  <a:pt x="356698" y="362129"/>
                </a:lnTo>
                <a:lnTo>
                  <a:pt x="0" y="362129"/>
                </a:lnTo>
                <a:lnTo>
                  <a:pt x="0" y="0"/>
                </a:lnTo>
                <a:close/>
              </a:path>
            </a:pathLst>
          </a:custGeom>
          <a:blipFill>
            <a:blip>
              <a:extLst>
                <a:ext uri="{96DAC541-7B7A-43D3-8B79-37D633B846F1}">
                  <asvg:svgBlip xmlns:asvg="http://schemas.microsoft.com/office/drawing/2016/SVG/main" r:embed="rId9"/>
                </a:ext>
              </a:extLst>
            </a:blip>
            <a:stretch>
              <a:fillRect/>
            </a:stretch>
          </a:blipFill>
          <a:effectLst>
            <a:outerShdw blurRad="63500" sx="102000" sy="102000" algn="ctr" rotWithShape="0">
              <a:prstClr val="black">
                <a:alpha val="40000"/>
              </a:prstClr>
            </a:outerShdw>
          </a:effectLst>
        </p:spPr>
        <p:txBody>
          <a:bodyPr/>
          <a:lstStyle/>
          <a:p>
            <a:endParaRPr lang="en-AU"/>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360000" y="977360"/>
            <a:ext cx="10663599" cy="754243"/>
          </a:xfrm>
        </p:spPr>
        <p:txBody>
          <a:bodyPr/>
          <a:lstStyle/>
          <a:p>
            <a:r>
              <a:rPr lang="en-US" sz="3600"/>
              <a:t>Which shows </a:t>
            </a:r>
            <a:r>
              <a:rPr lang="en-US" sz="3600" b="1"/>
              <a:t>effective</a:t>
            </a:r>
            <a:r>
              <a:rPr lang="en-US" sz="3600"/>
              <a:t> </a:t>
            </a:r>
            <a:r>
              <a:rPr lang="en-US" sz="3600" b="1"/>
              <a:t>rounding</a:t>
            </a:r>
            <a:r>
              <a:rPr lang="en-US" sz="3600"/>
              <a:t> to </a:t>
            </a:r>
            <a:r>
              <a:rPr lang="en-US" sz="3600" b="1"/>
              <a:t>estimate</a:t>
            </a:r>
            <a:r>
              <a:rPr lang="en-US" sz="3600"/>
              <a:t> the cost of the items?</a:t>
            </a:r>
          </a:p>
        </p:txBody>
      </p:sp>
      <p:pic>
        <p:nvPicPr>
          <p:cNvPr id="5" name="Picture 4" descr="An image of a pizza slice labelled $2.20, french fries labelled $3.30 and a milkshake labelled $4.75.">
            <a:extLst>
              <a:ext uri="{FF2B5EF4-FFF2-40B4-BE49-F238E27FC236}">
                <a16:creationId xmlns:a16="http://schemas.microsoft.com/office/drawing/2014/main" id="{CD1CF275-D2F5-E200-9CCC-FD414B28C286}"/>
              </a:ext>
            </a:extLst>
          </p:cNvPr>
          <p:cNvPicPr>
            <a:picLocks noChangeAspect="1"/>
          </p:cNvPicPr>
          <p:nvPr/>
        </p:nvPicPr>
        <p:blipFill>
          <a:blip r:embed="rId3"/>
          <a:srcRect l="60717" t="2642" r="4166" b="5285"/>
          <a:stretch>
            <a:fillRect/>
          </a:stretch>
        </p:blipFill>
        <p:spPr>
          <a:xfrm>
            <a:off x="9020639" y="1880842"/>
            <a:ext cx="2500801" cy="4635158"/>
          </a:xfrm>
          <a:prstGeom prst="rect">
            <a:avLst/>
          </a:prstGeom>
          <a:effectLst>
            <a:outerShdw blurRad="63500" sx="102000" sy="102000" algn="ctr" rotWithShape="0">
              <a:prstClr val="black">
                <a:alpha val="40000"/>
              </a:prstClr>
            </a:outerShdw>
          </a:effectLst>
        </p:spPr>
      </p:pic>
      <p:sp>
        <p:nvSpPr>
          <p:cNvPr id="9" name="B">
            <a:extLst>
              <a:ext uri="{FF2B5EF4-FFF2-40B4-BE49-F238E27FC236}">
                <a16:creationId xmlns:a16="http://schemas.microsoft.com/office/drawing/2014/main" id="{C9B406B5-1B1B-BC84-2596-01F05852F38E}"/>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45520" y="2877704"/>
            <a:ext cx="6274480" cy="641396"/>
          </a:xfrm>
        </p:spPr>
        <p:txBody>
          <a:bodyPr anchor="ctr"/>
          <a:lstStyle/>
          <a:p>
            <a:r>
              <a:rPr lang="en-AU" sz="3200"/>
              <a:t>Pizza: $2, Fries: $3, Milkshake: $4</a:t>
            </a:r>
            <a:endParaRPr lang="en-US" sz="3200"/>
          </a:p>
        </p:txBody>
      </p:sp>
      <p:sp>
        <p:nvSpPr>
          <p:cNvPr id="10" name="B">
            <a:extLst>
              <a:ext uri="{FF2B5EF4-FFF2-40B4-BE49-F238E27FC236}">
                <a16:creationId xmlns:a16="http://schemas.microsoft.com/office/drawing/2014/main" id="{E50622FB-E2C3-695B-EB8A-A6DCC20CB21A}"/>
              </a:ext>
            </a:extLst>
          </p:cNvPr>
          <p:cNvSpPr txBox="1"/>
          <p:nvPr/>
        </p:nvSpPr>
        <p:spPr>
          <a:xfrm>
            <a:off x="670559" y="38058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45520" y="3854459"/>
            <a:ext cx="6274480" cy="641396"/>
          </a:xfrm>
        </p:spPr>
        <p:txBody>
          <a:bodyPr anchor="ctr"/>
          <a:lstStyle/>
          <a:p>
            <a:r>
              <a:rPr lang="en-AU" sz="3200"/>
              <a:t>Pizza: $3, Fries: $4, Milkshake: $5</a:t>
            </a:r>
            <a:endParaRPr lang="en-US" sz="3200"/>
          </a:p>
        </p:txBody>
      </p:sp>
      <p:sp>
        <p:nvSpPr>
          <p:cNvPr id="12" name="C">
            <a:extLst>
              <a:ext uri="{FF2B5EF4-FFF2-40B4-BE49-F238E27FC236}">
                <a16:creationId xmlns:a16="http://schemas.microsoft.com/office/drawing/2014/main" id="{0C258EAC-2959-18FA-F510-CFBA4E15CEE5}"/>
              </a:ext>
            </a:extLst>
          </p:cNvPr>
          <p:cNvSpPr txBox="1"/>
          <p:nvPr/>
        </p:nvSpPr>
        <p:spPr>
          <a:xfrm>
            <a:off x="670558" y="478258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45520" y="4831214"/>
            <a:ext cx="6274480" cy="641396"/>
          </a:xfrm>
        </p:spPr>
        <p:txBody>
          <a:bodyPr anchor="ctr"/>
          <a:lstStyle/>
          <a:p>
            <a:r>
              <a:rPr lang="en-AU" sz="3200"/>
              <a:t>Pizza: $3, Fries: $3, Milkshake: $5</a:t>
            </a:r>
            <a:endParaRPr lang="en-US" sz="3200"/>
          </a:p>
        </p:txBody>
      </p:sp>
      <p:sp>
        <p:nvSpPr>
          <p:cNvPr id="11" name="D">
            <a:extLst>
              <a:ext uri="{FF2B5EF4-FFF2-40B4-BE49-F238E27FC236}">
                <a16:creationId xmlns:a16="http://schemas.microsoft.com/office/drawing/2014/main" id="{14776889-F079-73F7-28AB-FA54A997A57B}"/>
              </a:ext>
            </a:extLst>
          </p:cNvPr>
          <p:cNvSpPr txBox="1"/>
          <p:nvPr/>
        </p:nvSpPr>
        <p:spPr>
          <a:xfrm>
            <a:off x="670557" y="5759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45520" y="5807970"/>
            <a:ext cx="6274480" cy="641396"/>
          </a:xfrm>
        </p:spPr>
        <p:txBody>
          <a:bodyPr anchor="ctr"/>
          <a:lstStyle/>
          <a:p>
            <a:r>
              <a:rPr lang="en-AU" sz="3200"/>
              <a:t>Pizza: $2, Fries: $3, Milkshake: $</a:t>
            </a:r>
            <a:r>
              <a:rPr lang="en-US" sz="3600"/>
              <a:t>5</a:t>
            </a:r>
            <a:endParaRPr lang="en-AU" sz="3600"/>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DA830D5-ACEB-768D-94F7-2D8A3784AE95}"/>
              </a:ext>
            </a:extLst>
          </p:cNvPr>
          <p:cNvSpPr txBox="1"/>
          <p:nvPr/>
        </p:nvSpPr>
        <p:spPr>
          <a:xfrm>
            <a:off x="360000" y="1193318"/>
            <a:ext cx="11098575" cy="3175165"/>
          </a:xfrm>
          <a:prstGeom prst="rect">
            <a:avLst/>
          </a:prstGeom>
          <a:noFill/>
        </p:spPr>
        <p:txBody>
          <a:bodyPr wrap="square">
            <a:spAutoFit/>
          </a:bodyPr>
          <a:lstStyle/>
          <a:p>
            <a:pPr marL="514350" indent="-514350" algn="ctr">
              <a:lnSpc>
                <a:spcPct val="150000"/>
              </a:lnSpc>
              <a:buFont typeface="+mj-lt"/>
              <a:buAutoNum type="alphaLcParenR"/>
            </a:pPr>
            <a:r>
              <a:rPr lang="en-AU" sz="3400"/>
              <a:t>Use the terms </a:t>
            </a:r>
            <a:r>
              <a:rPr lang="en-AU" sz="3400" b="1"/>
              <a:t>rows</a:t>
            </a:r>
            <a:r>
              <a:rPr lang="en-AU" sz="3400"/>
              <a:t> and </a:t>
            </a:r>
            <a:r>
              <a:rPr lang="en-AU" sz="3400" b="1"/>
              <a:t>columns</a:t>
            </a:r>
            <a:r>
              <a:rPr lang="en-AU" sz="3400"/>
              <a:t> to describe this array.</a:t>
            </a:r>
          </a:p>
          <a:p>
            <a:pPr marL="514350" indent="-514350" algn="ctr">
              <a:lnSpc>
                <a:spcPct val="150000"/>
              </a:lnSpc>
              <a:buFont typeface="+mj-lt"/>
              <a:buAutoNum type="alphaLcParenR"/>
            </a:pPr>
            <a:r>
              <a:rPr lang="en-AU" sz="3400" b="1"/>
              <a:t>Describe</a:t>
            </a:r>
            <a:r>
              <a:rPr lang="en-AU" sz="3400"/>
              <a:t> another array with the </a:t>
            </a:r>
            <a:r>
              <a:rPr lang="en-AU" sz="3400" b="1"/>
              <a:t>same area</a:t>
            </a:r>
            <a:r>
              <a:rPr lang="en-AU" sz="3400"/>
              <a:t>.</a:t>
            </a:r>
          </a:p>
          <a:p>
            <a:pPr algn="ctr">
              <a:lnSpc>
                <a:spcPct val="150000"/>
              </a:lnSpc>
            </a:pPr>
            <a:endParaRPr lang="en-AU" sz="3600"/>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14" name="Picture 13" descr="A purple array with 4 rows of 3 ">
            <a:extLst>
              <a:ext uri="{FF2B5EF4-FFF2-40B4-BE49-F238E27FC236}">
                <a16:creationId xmlns:a16="http://schemas.microsoft.com/office/drawing/2014/main" id="{73D0B245-022E-DCE6-5EAF-B46661020CDB}"/>
              </a:ext>
            </a:extLst>
          </p:cNvPr>
          <p:cNvPicPr>
            <a:picLocks noChangeAspect="1"/>
          </p:cNvPicPr>
          <p:nvPr/>
        </p:nvPicPr>
        <p:blipFill>
          <a:blip r:embed="rId4"/>
          <a:stretch>
            <a:fillRect/>
          </a:stretch>
        </p:blipFill>
        <p:spPr>
          <a:xfrm>
            <a:off x="4088773" y="2654838"/>
            <a:ext cx="4277662" cy="3612537"/>
          </a:xfrm>
          <a:prstGeom prst="rect">
            <a:avLst/>
          </a:prstGeom>
        </p:spPr>
      </p:pic>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653B9663-5F17-CE46-8686-AF62544BAC42}"/>
              </a:ext>
            </a:extLst>
          </p:cNvPr>
          <p:cNvSpPr txBox="1"/>
          <p:nvPr/>
        </p:nvSpPr>
        <p:spPr>
          <a:xfrm>
            <a:off x="2452681" y="652387"/>
            <a:ext cx="6864764" cy="820674"/>
          </a:xfrm>
          <a:prstGeom prst="rect">
            <a:avLst/>
          </a:prstGeom>
          <a:noFill/>
        </p:spPr>
        <p:txBody>
          <a:bodyPr wrap="square">
            <a:spAutoFit/>
          </a:bodyPr>
          <a:lstStyle/>
          <a:p>
            <a:pPr algn="ctr">
              <a:lnSpc>
                <a:spcPct val="150000"/>
              </a:lnSpc>
            </a:pPr>
            <a:r>
              <a:rPr lang="en-AU" sz="3600"/>
              <a:t>This array represents 6 x 8.</a:t>
            </a:r>
          </a:p>
        </p:txBody>
      </p:sp>
      <p:grpSp>
        <p:nvGrpSpPr>
          <p:cNvPr id="55" name="Group 54" descr="An array made up of green circles with 6 rows and 8 columns.">
            <a:extLst>
              <a:ext uri="{FF2B5EF4-FFF2-40B4-BE49-F238E27FC236}">
                <a16:creationId xmlns:a16="http://schemas.microsoft.com/office/drawing/2014/main" id="{6A6D9FEB-43A6-F09B-4561-0A71FE017004}"/>
              </a:ext>
            </a:extLst>
          </p:cNvPr>
          <p:cNvGrpSpPr/>
          <p:nvPr/>
        </p:nvGrpSpPr>
        <p:grpSpPr>
          <a:xfrm>
            <a:off x="4333875" y="1650563"/>
            <a:ext cx="3870294" cy="2736305"/>
            <a:chOff x="3162194" y="1938511"/>
            <a:chExt cx="4599116" cy="3330371"/>
          </a:xfrm>
          <a:solidFill>
            <a:srgbClr val="92D050"/>
          </a:solidFill>
        </p:grpSpPr>
        <p:grpSp>
          <p:nvGrpSpPr>
            <p:cNvPr id="4" name="Group 3" descr="An array of blue dots with 4 rows of 6.">
              <a:extLst>
                <a:ext uri="{FF2B5EF4-FFF2-40B4-BE49-F238E27FC236}">
                  <a16:creationId xmlns:a16="http://schemas.microsoft.com/office/drawing/2014/main" id="{EEFFFF71-A496-51D9-15A8-AD5BF464E23C}"/>
                </a:ext>
              </a:extLst>
            </p:cNvPr>
            <p:cNvGrpSpPr>
              <a:grpSpLocks noChangeAspect="1"/>
            </p:cNvGrpSpPr>
            <p:nvPr/>
          </p:nvGrpSpPr>
          <p:grpSpPr>
            <a:xfrm>
              <a:off x="3162194" y="1938511"/>
              <a:ext cx="3416308" cy="2148377"/>
              <a:chOff x="3776182" y="2135980"/>
              <a:chExt cx="4270386" cy="2685472"/>
            </a:xfrm>
            <a:grpFill/>
            <a:effectLst/>
          </p:grpSpPr>
          <p:sp>
            <p:nvSpPr>
              <p:cNvPr id="7" name="Oval 6">
                <a:extLst>
                  <a:ext uri="{FF2B5EF4-FFF2-40B4-BE49-F238E27FC236}">
                    <a16:creationId xmlns:a16="http://schemas.microsoft.com/office/drawing/2014/main" id="{3ABB7A8E-F7AA-A922-CAB6-672D9209EE55}"/>
                  </a:ext>
                </a:extLst>
              </p:cNvPr>
              <p:cNvSpPr/>
              <p:nvPr/>
            </p:nvSpPr>
            <p:spPr>
              <a:xfrm>
                <a:off x="3776182"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9D249E0F-1B45-F715-B549-736F341403A3}"/>
                  </a:ext>
                </a:extLst>
              </p:cNvPr>
              <p:cNvSpPr/>
              <p:nvPr/>
            </p:nvSpPr>
            <p:spPr>
              <a:xfrm>
                <a:off x="4515436"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9EF7E893-BB36-6365-7360-88973C856F9F}"/>
                  </a:ext>
                </a:extLst>
              </p:cNvPr>
              <p:cNvSpPr/>
              <p:nvPr/>
            </p:nvSpPr>
            <p:spPr>
              <a:xfrm>
                <a:off x="5254690" y="2135980"/>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22E00FD1-9B7C-6B6A-AB3D-39D2912BF17C}"/>
                  </a:ext>
                </a:extLst>
              </p:cNvPr>
              <p:cNvSpPr/>
              <p:nvPr/>
            </p:nvSpPr>
            <p:spPr>
              <a:xfrm>
                <a:off x="5981206"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B6C195FA-BE56-6426-29B7-FD2216210169}"/>
                  </a:ext>
                </a:extLst>
              </p:cNvPr>
              <p:cNvSpPr/>
              <p:nvPr/>
            </p:nvSpPr>
            <p:spPr>
              <a:xfrm>
                <a:off x="6720460"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A190BCB0-7E0D-69FA-6E68-506846D06553}"/>
                  </a:ext>
                </a:extLst>
              </p:cNvPr>
              <p:cNvSpPr/>
              <p:nvPr/>
            </p:nvSpPr>
            <p:spPr>
              <a:xfrm>
                <a:off x="7459714" y="2135980"/>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6FEF0AE8-FDE6-30C6-020C-A1A22733C804}"/>
                  </a:ext>
                </a:extLst>
              </p:cNvPr>
              <p:cNvSpPr/>
              <p:nvPr/>
            </p:nvSpPr>
            <p:spPr>
              <a:xfrm>
                <a:off x="3776182"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EB9900C1-735C-0097-1DBC-F7F6C55777C9}"/>
                  </a:ext>
                </a:extLst>
              </p:cNvPr>
              <p:cNvSpPr/>
              <p:nvPr/>
            </p:nvSpPr>
            <p:spPr>
              <a:xfrm>
                <a:off x="4515436"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E6925566-561C-E666-E1F5-2F658447D652}"/>
                  </a:ext>
                </a:extLst>
              </p:cNvPr>
              <p:cNvSpPr/>
              <p:nvPr/>
            </p:nvSpPr>
            <p:spPr>
              <a:xfrm>
                <a:off x="5254690" y="282519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2225430E-0094-952E-AD5B-0870595ED0CD}"/>
                  </a:ext>
                </a:extLst>
              </p:cNvPr>
              <p:cNvSpPr/>
              <p:nvPr/>
            </p:nvSpPr>
            <p:spPr>
              <a:xfrm>
                <a:off x="5981206"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Oval 16">
                <a:extLst>
                  <a:ext uri="{FF2B5EF4-FFF2-40B4-BE49-F238E27FC236}">
                    <a16:creationId xmlns:a16="http://schemas.microsoft.com/office/drawing/2014/main" id="{5A87C7E1-3E29-F62D-08AC-74EF9F017A7D}"/>
                  </a:ext>
                </a:extLst>
              </p:cNvPr>
              <p:cNvSpPr/>
              <p:nvPr/>
            </p:nvSpPr>
            <p:spPr>
              <a:xfrm>
                <a:off x="6720460"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a:extLst>
                  <a:ext uri="{FF2B5EF4-FFF2-40B4-BE49-F238E27FC236}">
                    <a16:creationId xmlns:a16="http://schemas.microsoft.com/office/drawing/2014/main" id="{B5AFE23B-546D-4FDD-273E-5250C8B844A5}"/>
                  </a:ext>
                </a:extLst>
              </p:cNvPr>
              <p:cNvSpPr/>
              <p:nvPr/>
            </p:nvSpPr>
            <p:spPr>
              <a:xfrm>
                <a:off x="7459714" y="282519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Oval 18">
                <a:extLst>
                  <a:ext uri="{FF2B5EF4-FFF2-40B4-BE49-F238E27FC236}">
                    <a16:creationId xmlns:a16="http://schemas.microsoft.com/office/drawing/2014/main" id="{714D408D-61CF-0D1B-9A30-19FA759A862A}"/>
                  </a:ext>
                </a:extLst>
              </p:cNvPr>
              <p:cNvSpPr/>
              <p:nvPr/>
            </p:nvSpPr>
            <p:spPr>
              <a:xfrm>
                <a:off x="3776182"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Oval 19">
                <a:extLst>
                  <a:ext uri="{FF2B5EF4-FFF2-40B4-BE49-F238E27FC236}">
                    <a16:creationId xmlns:a16="http://schemas.microsoft.com/office/drawing/2014/main" id="{399D63B4-EC4A-3E8F-75DE-33D71E8F54B1}"/>
                  </a:ext>
                </a:extLst>
              </p:cNvPr>
              <p:cNvSpPr/>
              <p:nvPr/>
            </p:nvSpPr>
            <p:spPr>
              <a:xfrm>
                <a:off x="4515436"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Oval 20">
                <a:extLst>
                  <a:ext uri="{FF2B5EF4-FFF2-40B4-BE49-F238E27FC236}">
                    <a16:creationId xmlns:a16="http://schemas.microsoft.com/office/drawing/2014/main" id="{2CEE1EED-D624-4572-09E2-A829D72C400F}"/>
                  </a:ext>
                </a:extLst>
              </p:cNvPr>
              <p:cNvSpPr/>
              <p:nvPr/>
            </p:nvSpPr>
            <p:spPr>
              <a:xfrm>
                <a:off x="5254690" y="3521365"/>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Oval 21">
                <a:extLst>
                  <a:ext uri="{FF2B5EF4-FFF2-40B4-BE49-F238E27FC236}">
                    <a16:creationId xmlns:a16="http://schemas.microsoft.com/office/drawing/2014/main" id="{82190269-D72D-5112-B46D-6435AD1DA3DE}"/>
                  </a:ext>
                </a:extLst>
              </p:cNvPr>
              <p:cNvSpPr/>
              <p:nvPr/>
            </p:nvSpPr>
            <p:spPr>
              <a:xfrm>
                <a:off x="5981206"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Oval 22">
                <a:extLst>
                  <a:ext uri="{FF2B5EF4-FFF2-40B4-BE49-F238E27FC236}">
                    <a16:creationId xmlns:a16="http://schemas.microsoft.com/office/drawing/2014/main" id="{D5941D57-DEF4-8782-A9E8-6591E1FCC8A5}"/>
                  </a:ext>
                </a:extLst>
              </p:cNvPr>
              <p:cNvSpPr/>
              <p:nvPr/>
            </p:nvSpPr>
            <p:spPr>
              <a:xfrm>
                <a:off x="6720460"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Oval 23">
                <a:extLst>
                  <a:ext uri="{FF2B5EF4-FFF2-40B4-BE49-F238E27FC236}">
                    <a16:creationId xmlns:a16="http://schemas.microsoft.com/office/drawing/2014/main" id="{3EEC9648-8165-C91F-85B6-ED44A479C0F1}"/>
                  </a:ext>
                </a:extLst>
              </p:cNvPr>
              <p:cNvSpPr/>
              <p:nvPr/>
            </p:nvSpPr>
            <p:spPr>
              <a:xfrm>
                <a:off x="7459714" y="3521365"/>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Oval 24">
                <a:extLst>
                  <a:ext uri="{FF2B5EF4-FFF2-40B4-BE49-F238E27FC236}">
                    <a16:creationId xmlns:a16="http://schemas.microsoft.com/office/drawing/2014/main" id="{01D16597-D296-6DD0-0FF3-B15512ECB76F}"/>
                  </a:ext>
                </a:extLst>
              </p:cNvPr>
              <p:cNvSpPr/>
              <p:nvPr/>
            </p:nvSpPr>
            <p:spPr>
              <a:xfrm>
                <a:off x="3776182"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Oval 25">
                <a:extLst>
                  <a:ext uri="{FF2B5EF4-FFF2-40B4-BE49-F238E27FC236}">
                    <a16:creationId xmlns:a16="http://schemas.microsoft.com/office/drawing/2014/main" id="{56941B22-EC33-2F68-A971-278B5FE895A8}"/>
                  </a:ext>
                </a:extLst>
              </p:cNvPr>
              <p:cNvSpPr/>
              <p:nvPr/>
            </p:nvSpPr>
            <p:spPr>
              <a:xfrm>
                <a:off x="4515436"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Oval 26">
                <a:extLst>
                  <a:ext uri="{FF2B5EF4-FFF2-40B4-BE49-F238E27FC236}">
                    <a16:creationId xmlns:a16="http://schemas.microsoft.com/office/drawing/2014/main" id="{F4585184-3626-C016-5322-616557BBBC22}"/>
                  </a:ext>
                </a:extLst>
              </p:cNvPr>
              <p:cNvSpPr/>
              <p:nvPr/>
            </p:nvSpPr>
            <p:spPr>
              <a:xfrm>
                <a:off x="5254690" y="4217538"/>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Oval 27">
                <a:extLst>
                  <a:ext uri="{FF2B5EF4-FFF2-40B4-BE49-F238E27FC236}">
                    <a16:creationId xmlns:a16="http://schemas.microsoft.com/office/drawing/2014/main" id="{BF8B2636-3A72-DAA3-29A4-02F6AF57E8E9}"/>
                  </a:ext>
                </a:extLst>
              </p:cNvPr>
              <p:cNvSpPr/>
              <p:nvPr/>
            </p:nvSpPr>
            <p:spPr>
              <a:xfrm>
                <a:off x="5981206"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B3169255-1B3A-3680-E91B-19BD96DBE388}"/>
                  </a:ext>
                </a:extLst>
              </p:cNvPr>
              <p:cNvSpPr/>
              <p:nvPr/>
            </p:nvSpPr>
            <p:spPr>
              <a:xfrm>
                <a:off x="6720460"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Oval 29">
                <a:extLst>
                  <a:ext uri="{FF2B5EF4-FFF2-40B4-BE49-F238E27FC236}">
                    <a16:creationId xmlns:a16="http://schemas.microsoft.com/office/drawing/2014/main" id="{371F9299-3F00-ADB2-A095-995DFBC65A72}"/>
                  </a:ext>
                </a:extLst>
              </p:cNvPr>
              <p:cNvSpPr/>
              <p:nvPr/>
            </p:nvSpPr>
            <p:spPr>
              <a:xfrm>
                <a:off x="7459714" y="4217538"/>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1" name="Oval 30">
              <a:extLst>
                <a:ext uri="{FF2B5EF4-FFF2-40B4-BE49-F238E27FC236}">
                  <a16:creationId xmlns:a16="http://schemas.microsoft.com/office/drawing/2014/main" id="{909304EF-BBC0-DC39-E2DD-205B863D40D4}"/>
                </a:ext>
              </a:extLst>
            </p:cNvPr>
            <p:cNvSpPr/>
            <p:nvPr/>
          </p:nvSpPr>
          <p:spPr>
            <a:xfrm>
              <a:off x="6700424" y="1941187"/>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Oval 31">
              <a:extLst>
                <a:ext uri="{FF2B5EF4-FFF2-40B4-BE49-F238E27FC236}">
                  <a16:creationId xmlns:a16="http://schemas.microsoft.com/office/drawing/2014/main" id="{B87E7B69-0E4E-3E69-0672-F95E373B95AA}"/>
                </a:ext>
              </a:extLst>
            </p:cNvPr>
            <p:cNvSpPr/>
            <p:nvPr/>
          </p:nvSpPr>
          <p:spPr>
            <a:xfrm>
              <a:off x="7291827" y="1941186"/>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Oval 32">
              <a:extLst>
                <a:ext uri="{FF2B5EF4-FFF2-40B4-BE49-F238E27FC236}">
                  <a16:creationId xmlns:a16="http://schemas.microsoft.com/office/drawing/2014/main" id="{25FCA70E-4D01-A77C-CD3D-9928DC535955}"/>
                </a:ext>
              </a:extLst>
            </p:cNvPr>
            <p:cNvSpPr/>
            <p:nvPr/>
          </p:nvSpPr>
          <p:spPr>
            <a:xfrm>
              <a:off x="6700424" y="2492555"/>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Oval 33">
              <a:extLst>
                <a:ext uri="{FF2B5EF4-FFF2-40B4-BE49-F238E27FC236}">
                  <a16:creationId xmlns:a16="http://schemas.microsoft.com/office/drawing/2014/main" id="{E1C73573-9653-55EE-CD72-049713FCC356}"/>
                </a:ext>
              </a:extLst>
            </p:cNvPr>
            <p:cNvSpPr/>
            <p:nvPr/>
          </p:nvSpPr>
          <p:spPr>
            <a:xfrm>
              <a:off x="7291827" y="2492554"/>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5" name="Oval 34">
              <a:extLst>
                <a:ext uri="{FF2B5EF4-FFF2-40B4-BE49-F238E27FC236}">
                  <a16:creationId xmlns:a16="http://schemas.microsoft.com/office/drawing/2014/main" id="{67D31A5D-C0D9-6986-7C32-0659D14C5BFB}"/>
                </a:ext>
              </a:extLst>
            </p:cNvPr>
            <p:cNvSpPr/>
            <p:nvPr/>
          </p:nvSpPr>
          <p:spPr>
            <a:xfrm>
              <a:off x="6700424" y="3049493"/>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Oval 35">
              <a:extLst>
                <a:ext uri="{FF2B5EF4-FFF2-40B4-BE49-F238E27FC236}">
                  <a16:creationId xmlns:a16="http://schemas.microsoft.com/office/drawing/2014/main" id="{9CFF008D-711A-85CD-993B-ACFED4251C93}"/>
                </a:ext>
              </a:extLst>
            </p:cNvPr>
            <p:cNvSpPr/>
            <p:nvPr/>
          </p:nvSpPr>
          <p:spPr>
            <a:xfrm>
              <a:off x="7291827" y="3049493"/>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Oval 36">
              <a:extLst>
                <a:ext uri="{FF2B5EF4-FFF2-40B4-BE49-F238E27FC236}">
                  <a16:creationId xmlns:a16="http://schemas.microsoft.com/office/drawing/2014/main" id="{93199D05-F652-CDF1-CE29-37D41B78BBCB}"/>
                </a:ext>
              </a:extLst>
            </p:cNvPr>
            <p:cNvSpPr/>
            <p:nvPr/>
          </p:nvSpPr>
          <p:spPr>
            <a:xfrm>
              <a:off x="6700424" y="3606431"/>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Oval 37">
              <a:extLst>
                <a:ext uri="{FF2B5EF4-FFF2-40B4-BE49-F238E27FC236}">
                  <a16:creationId xmlns:a16="http://schemas.microsoft.com/office/drawing/2014/main" id="{8BE54EAE-24D3-206E-563D-CC9058095215}"/>
                </a:ext>
              </a:extLst>
            </p:cNvPr>
            <p:cNvSpPr/>
            <p:nvPr/>
          </p:nvSpPr>
          <p:spPr>
            <a:xfrm>
              <a:off x="7291827" y="3606430"/>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Oval 38">
              <a:extLst>
                <a:ext uri="{FF2B5EF4-FFF2-40B4-BE49-F238E27FC236}">
                  <a16:creationId xmlns:a16="http://schemas.microsoft.com/office/drawing/2014/main" id="{65D6C134-02D7-9523-E34F-9B0257038EA9}"/>
                </a:ext>
              </a:extLst>
            </p:cNvPr>
            <p:cNvSpPr/>
            <p:nvPr/>
          </p:nvSpPr>
          <p:spPr>
            <a:xfrm>
              <a:off x="6694250" y="4204760"/>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Oval 39">
              <a:extLst>
                <a:ext uri="{FF2B5EF4-FFF2-40B4-BE49-F238E27FC236}">
                  <a16:creationId xmlns:a16="http://schemas.microsoft.com/office/drawing/2014/main" id="{C896B2EB-7527-728E-C7E7-EB74C4617B2C}"/>
                </a:ext>
              </a:extLst>
            </p:cNvPr>
            <p:cNvSpPr/>
            <p:nvPr/>
          </p:nvSpPr>
          <p:spPr>
            <a:xfrm>
              <a:off x="7285653" y="4204760"/>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Oval 40">
              <a:extLst>
                <a:ext uri="{FF2B5EF4-FFF2-40B4-BE49-F238E27FC236}">
                  <a16:creationId xmlns:a16="http://schemas.microsoft.com/office/drawing/2014/main" id="{25BA7478-3142-8AF6-944A-6EA6667E5070}"/>
                </a:ext>
              </a:extLst>
            </p:cNvPr>
            <p:cNvSpPr/>
            <p:nvPr/>
          </p:nvSpPr>
          <p:spPr>
            <a:xfrm>
              <a:off x="6694250" y="4761698"/>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Oval 41">
              <a:extLst>
                <a:ext uri="{FF2B5EF4-FFF2-40B4-BE49-F238E27FC236}">
                  <a16:creationId xmlns:a16="http://schemas.microsoft.com/office/drawing/2014/main" id="{EBEF7B2A-08E6-E562-4F29-4F1AF16B9A5B}"/>
                </a:ext>
              </a:extLst>
            </p:cNvPr>
            <p:cNvSpPr/>
            <p:nvPr/>
          </p:nvSpPr>
          <p:spPr>
            <a:xfrm>
              <a:off x="7285653" y="4761697"/>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Oval 42">
              <a:extLst>
                <a:ext uri="{FF2B5EF4-FFF2-40B4-BE49-F238E27FC236}">
                  <a16:creationId xmlns:a16="http://schemas.microsoft.com/office/drawing/2014/main" id="{EA068404-DFC2-CE01-17F0-DEB88B4DC650}"/>
                </a:ext>
              </a:extLst>
            </p:cNvPr>
            <p:cNvSpPr/>
            <p:nvPr/>
          </p:nvSpPr>
          <p:spPr>
            <a:xfrm>
              <a:off x="3162194" y="4228814"/>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4" name="Oval 43">
              <a:extLst>
                <a:ext uri="{FF2B5EF4-FFF2-40B4-BE49-F238E27FC236}">
                  <a16:creationId xmlns:a16="http://schemas.microsoft.com/office/drawing/2014/main" id="{1DA1F57B-6747-E906-1922-F74736D7F060}"/>
                </a:ext>
              </a:extLst>
            </p:cNvPr>
            <p:cNvSpPr/>
            <p:nvPr/>
          </p:nvSpPr>
          <p:spPr>
            <a:xfrm>
              <a:off x="3753597" y="4228814"/>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Oval 44">
              <a:extLst>
                <a:ext uri="{FF2B5EF4-FFF2-40B4-BE49-F238E27FC236}">
                  <a16:creationId xmlns:a16="http://schemas.microsoft.com/office/drawing/2014/main" id="{8DAC3488-3ECD-68C0-3E9B-CE8E4ED68DE9}"/>
                </a:ext>
              </a:extLst>
            </p:cNvPr>
            <p:cNvSpPr/>
            <p:nvPr/>
          </p:nvSpPr>
          <p:spPr>
            <a:xfrm>
              <a:off x="4345000" y="4228814"/>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6" name="Oval 45">
              <a:extLst>
                <a:ext uri="{FF2B5EF4-FFF2-40B4-BE49-F238E27FC236}">
                  <a16:creationId xmlns:a16="http://schemas.microsoft.com/office/drawing/2014/main" id="{0213030F-F03F-5F1F-004B-0EE2338DEBA7}"/>
                </a:ext>
              </a:extLst>
            </p:cNvPr>
            <p:cNvSpPr/>
            <p:nvPr/>
          </p:nvSpPr>
          <p:spPr>
            <a:xfrm>
              <a:off x="4926213" y="4228814"/>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7" name="Oval 46">
              <a:extLst>
                <a:ext uri="{FF2B5EF4-FFF2-40B4-BE49-F238E27FC236}">
                  <a16:creationId xmlns:a16="http://schemas.microsoft.com/office/drawing/2014/main" id="{D1879BE8-ECF8-D0E7-5DC9-BF699AC4912E}"/>
                </a:ext>
              </a:extLst>
            </p:cNvPr>
            <p:cNvSpPr/>
            <p:nvPr/>
          </p:nvSpPr>
          <p:spPr>
            <a:xfrm>
              <a:off x="5517617" y="4228814"/>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Oval 47">
              <a:extLst>
                <a:ext uri="{FF2B5EF4-FFF2-40B4-BE49-F238E27FC236}">
                  <a16:creationId xmlns:a16="http://schemas.microsoft.com/office/drawing/2014/main" id="{3CDC638D-4081-532C-BAE2-0B9584A81A68}"/>
                </a:ext>
              </a:extLst>
            </p:cNvPr>
            <p:cNvSpPr/>
            <p:nvPr/>
          </p:nvSpPr>
          <p:spPr>
            <a:xfrm>
              <a:off x="6109020" y="4228814"/>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Oval 48">
              <a:extLst>
                <a:ext uri="{FF2B5EF4-FFF2-40B4-BE49-F238E27FC236}">
                  <a16:creationId xmlns:a16="http://schemas.microsoft.com/office/drawing/2014/main" id="{BE8CCAD2-E66D-F1FA-F26A-2EB6C14C8129}"/>
                </a:ext>
              </a:extLst>
            </p:cNvPr>
            <p:cNvSpPr/>
            <p:nvPr/>
          </p:nvSpPr>
          <p:spPr>
            <a:xfrm>
              <a:off x="3162194" y="4785752"/>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0" name="Oval 49">
              <a:extLst>
                <a:ext uri="{FF2B5EF4-FFF2-40B4-BE49-F238E27FC236}">
                  <a16:creationId xmlns:a16="http://schemas.microsoft.com/office/drawing/2014/main" id="{363E4350-65ED-605D-2D92-9AF077704361}"/>
                </a:ext>
              </a:extLst>
            </p:cNvPr>
            <p:cNvSpPr/>
            <p:nvPr/>
          </p:nvSpPr>
          <p:spPr>
            <a:xfrm>
              <a:off x="3753597" y="4785752"/>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1" name="Oval 50">
              <a:extLst>
                <a:ext uri="{FF2B5EF4-FFF2-40B4-BE49-F238E27FC236}">
                  <a16:creationId xmlns:a16="http://schemas.microsoft.com/office/drawing/2014/main" id="{997C6F1B-2CFB-5330-D99A-ABFBB52B3455}"/>
                </a:ext>
              </a:extLst>
            </p:cNvPr>
            <p:cNvSpPr/>
            <p:nvPr/>
          </p:nvSpPr>
          <p:spPr>
            <a:xfrm>
              <a:off x="4345000" y="4785751"/>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2" name="Oval 51">
              <a:extLst>
                <a:ext uri="{FF2B5EF4-FFF2-40B4-BE49-F238E27FC236}">
                  <a16:creationId xmlns:a16="http://schemas.microsoft.com/office/drawing/2014/main" id="{28C56850-572E-E9AD-2BA2-3777BABE1630}"/>
                </a:ext>
              </a:extLst>
            </p:cNvPr>
            <p:cNvSpPr/>
            <p:nvPr/>
          </p:nvSpPr>
          <p:spPr>
            <a:xfrm>
              <a:off x="4926213" y="4785752"/>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3" name="Oval 52">
              <a:extLst>
                <a:ext uri="{FF2B5EF4-FFF2-40B4-BE49-F238E27FC236}">
                  <a16:creationId xmlns:a16="http://schemas.microsoft.com/office/drawing/2014/main" id="{818704A5-951A-E609-EC1D-28153A664292}"/>
                </a:ext>
              </a:extLst>
            </p:cNvPr>
            <p:cNvSpPr/>
            <p:nvPr/>
          </p:nvSpPr>
          <p:spPr>
            <a:xfrm>
              <a:off x="5517617" y="4785752"/>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Oval 53">
              <a:extLst>
                <a:ext uri="{FF2B5EF4-FFF2-40B4-BE49-F238E27FC236}">
                  <a16:creationId xmlns:a16="http://schemas.microsoft.com/office/drawing/2014/main" id="{D4360E67-BEE5-0819-8EE7-359FBDCADFD8}"/>
                </a:ext>
              </a:extLst>
            </p:cNvPr>
            <p:cNvSpPr/>
            <p:nvPr/>
          </p:nvSpPr>
          <p:spPr>
            <a:xfrm>
              <a:off x="6109020" y="4785751"/>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7" name="TextBox 56">
            <a:extLst>
              <a:ext uri="{FF2B5EF4-FFF2-40B4-BE49-F238E27FC236}">
                <a16:creationId xmlns:a16="http://schemas.microsoft.com/office/drawing/2014/main" id="{2D2FB278-7AD0-D1E2-6AEF-A686037B9ECA}"/>
              </a:ext>
            </a:extLst>
          </p:cNvPr>
          <p:cNvSpPr txBox="1"/>
          <p:nvPr/>
        </p:nvSpPr>
        <p:spPr>
          <a:xfrm>
            <a:off x="585236" y="4540031"/>
            <a:ext cx="11021528" cy="1651671"/>
          </a:xfrm>
          <a:prstGeom prst="rect">
            <a:avLst/>
          </a:prstGeom>
          <a:noFill/>
        </p:spPr>
        <p:txBody>
          <a:bodyPr wrap="square">
            <a:spAutoFit/>
          </a:bodyPr>
          <a:lstStyle/>
          <a:p>
            <a:pPr algn="ctr">
              <a:lnSpc>
                <a:spcPct val="150000"/>
              </a:lnSpc>
            </a:pPr>
            <a:r>
              <a:rPr lang="en-AU" sz="3600" b="1"/>
              <a:t>Record</a:t>
            </a:r>
            <a:r>
              <a:rPr lang="en-AU" sz="3600"/>
              <a:t> another way that 6 x 8 could be distributed using </a:t>
            </a:r>
            <a:r>
              <a:rPr lang="en-AU" sz="3600" b="1"/>
              <a:t>flexible partitioning.</a:t>
            </a:r>
            <a:r>
              <a:rPr lang="en-AU" sz="3600"/>
              <a:t> </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51E0F4-3A34-FB0C-ADFC-42E3B35CBB74}"/>
              </a:ext>
            </a:extLst>
          </p:cNvPr>
          <p:cNvSpPr txBox="1"/>
          <p:nvPr/>
        </p:nvSpPr>
        <p:spPr>
          <a:xfrm>
            <a:off x="918272" y="1134925"/>
            <a:ext cx="10670476" cy="1130233"/>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pPr>
            <a:r>
              <a:rPr lang="en-AU" sz="3600" b="1"/>
              <a:t>Match</a:t>
            </a:r>
            <a:r>
              <a:rPr lang="en-AU" sz="3600"/>
              <a:t> the following </a:t>
            </a:r>
            <a:r>
              <a:rPr lang="en-AU" sz="3600" b="1"/>
              <a:t>digital times </a:t>
            </a:r>
            <a:r>
              <a:rPr lang="en-AU" sz="3600"/>
              <a:t>to the durations:</a:t>
            </a:r>
          </a:p>
        </p:txBody>
      </p:sp>
      <p:pic>
        <p:nvPicPr>
          <p:cNvPr id="8" name="Picture 7" descr="1 is a  red stopwatch with the time 09:19. 2 is a blue stopwatch with the time 00:39. 3 is a green stopwatch with the time 49:49. 4 is a purple stopwatch with the time 10:00.">
            <a:extLst>
              <a:ext uri="{FF2B5EF4-FFF2-40B4-BE49-F238E27FC236}">
                <a16:creationId xmlns:a16="http://schemas.microsoft.com/office/drawing/2014/main" id="{5A7E529C-1512-D336-0AE6-C363156CE17E}"/>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603252" y="2437069"/>
            <a:ext cx="10827986" cy="2879398"/>
          </a:xfrm>
          <a:prstGeom prst="rect">
            <a:avLst/>
          </a:prstGeom>
        </p:spPr>
      </p:pic>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5" name="Rectangle: Rounded Corners 4">
            <a:extLst>
              <a:ext uri="{FF2B5EF4-FFF2-40B4-BE49-F238E27FC236}">
                <a16:creationId xmlns:a16="http://schemas.microsoft.com/office/drawing/2014/main" id="{85083C90-9873-A412-20EC-38555CC2B7A8}"/>
              </a:ext>
              <a:ext uri="{C183D7F6-B498-43B3-948B-1728B52AA6E4}">
                <adec:decorative xmlns:adec="http://schemas.microsoft.com/office/drawing/2017/decorative" val="1"/>
              </a:ext>
            </a:extLst>
          </p:cNvPr>
          <p:cNvSpPr/>
          <p:nvPr/>
        </p:nvSpPr>
        <p:spPr>
          <a:xfrm>
            <a:off x="1547343" y="1947038"/>
            <a:ext cx="733741" cy="717238"/>
          </a:xfrm>
          <a:prstGeom prst="roundRect">
            <a:avLst/>
          </a:prstGeom>
          <a:noFill/>
          <a:ln w="285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2800" b="1">
                <a:solidFill>
                  <a:schemeClr val="accent1"/>
                </a:solidFill>
              </a:rPr>
              <a:t>1</a:t>
            </a:r>
            <a:endParaRPr lang="en-AU" b="1">
              <a:solidFill>
                <a:schemeClr val="accent1"/>
              </a:solidFill>
            </a:endParaRPr>
          </a:p>
        </p:txBody>
      </p:sp>
      <p:sp>
        <p:nvSpPr>
          <p:cNvPr id="7" name="Rectangle: Rounded Corners 6">
            <a:extLst>
              <a:ext uri="{FF2B5EF4-FFF2-40B4-BE49-F238E27FC236}">
                <a16:creationId xmlns:a16="http://schemas.microsoft.com/office/drawing/2014/main" id="{08B4C0DF-3CF8-97EC-88AC-2F60F83E138A}"/>
              </a:ext>
              <a:ext uri="{C183D7F6-B498-43B3-948B-1728B52AA6E4}">
                <adec:decorative xmlns:adec="http://schemas.microsoft.com/office/drawing/2017/decorative" val="1"/>
              </a:ext>
            </a:extLst>
          </p:cNvPr>
          <p:cNvSpPr/>
          <p:nvPr/>
        </p:nvSpPr>
        <p:spPr>
          <a:xfrm>
            <a:off x="4323030" y="1964363"/>
            <a:ext cx="733741" cy="717238"/>
          </a:xfrm>
          <a:prstGeom prst="roundRect">
            <a:avLst/>
          </a:prstGeom>
          <a:noFill/>
          <a:ln w="285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2800" b="1">
                <a:solidFill>
                  <a:schemeClr val="accent1"/>
                </a:solidFill>
              </a:rPr>
              <a:t>2</a:t>
            </a:r>
            <a:endParaRPr lang="en-AU" b="1">
              <a:solidFill>
                <a:schemeClr val="accent1"/>
              </a:solidFill>
            </a:endParaRPr>
          </a:p>
        </p:txBody>
      </p:sp>
      <p:sp>
        <p:nvSpPr>
          <p:cNvPr id="13" name="Rectangle: Rounded Corners 12">
            <a:extLst>
              <a:ext uri="{FF2B5EF4-FFF2-40B4-BE49-F238E27FC236}">
                <a16:creationId xmlns:a16="http://schemas.microsoft.com/office/drawing/2014/main" id="{18D32C52-CFF4-5020-F3A9-22744E3F9B19}"/>
              </a:ext>
              <a:ext uri="{C183D7F6-B498-43B3-948B-1728B52AA6E4}">
                <adec:decorative xmlns:adec="http://schemas.microsoft.com/office/drawing/2017/decorative" val="1"/>
              </a:ext>
            </a:extLst>
          </p:cNvPr>
          <p:cNvSpPr/>
          <p:nvPr/>
        </p:nvSpPr>
        <p:spPr>
          <a:xfrm>
            <a:off x="7029891" y="1947038"/>
            <a:ext cx="733741" cy="717238"/>
          </a:xfrm>
          <a:prstGeom prst="roundRect">
            <a:avLst/>
          </a:prstGeom>
          <a:noFill/>
          <a:ln w="285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2800" b="1">
                <a:solidFill>
                  <a:schemeClr val="accent1"/>
                </a:solidFill>
              </a:rPr>
              <a:t>3</a:t>
            </a:r>
            <a:endParaRPr lang="en-AU" b="1">
              <a:solidFill>
                <a:schemeClr val="accent1"/>
              </a:solidFill>
            </a:endParaRPr>
          </a:p>
        </p:txBody>
      </p:sp>
      <p:sp>
        <p:nvSpPr>
          <p:cNvPr id="15" name="TextBox 14">
            <a:extLst>
              <a:ext uri="{FF2B5EF4-FFF2-40B4-BE49-F238E27FC236}">
                <a16:creationId xmlns:a16="http://schemas.microsoft.com/office/drawing/2014/main" id="{E28E106A-C8FB-A01D-BF09-9CD1D3BF2D4F}"/>
              </a:ext>
              <a:ext uri="{C183D7F6-B498-43B3-948B-1728B52AA6E4}">
                <adec:decorative xmlns:adec="http://schemas.microsoft.com/office/drawing/2017/decorative" val="1"/>
              </a:ext>
            </a:extLst>
          </p:cNvPr>
          <p:cNvSpPr txBox="1"/>
          <p:nvPr/>
        </p:nvSpPr>
        <p:spPr>
          <a:xfrm>
            <a:off x="9942997" y="2044047"/>
            <a:ext cx="573949" cy="523220"/>
          </a:xfrm>
          <a:prstGeom prst="rect">
            <a:avLst/>
          </a:prstGeom>
          <a:noFill/>
        </p:spPr>
        <p:txBody>
          <a:bodyPr wrap="square">
            <a:spAutoFit/>
          </a:bodyPr>
          <a:lstStyle/>
          <a:p>
            <a:r>
              <a:rPr lang="en-AU" sz="2800" b="1">
                <a:solidFill>
                  <a:schemeClr val="accent1"/>
                </a:solidFill>
              </a:rPr>
              <a:t>4</a:t>
            </a:r>
            <a:endParaRPr lang="en-AU">
              <a:solidFill>
                <a:schemeClr val="accent1"/>
              </a:solidFill>
            </a:endParaRPr>
          </a:p>
        </p:txBody>
      </p:sp>
      <p:sp>
        <p:nvSpPr>
          <p:cNvPr id="12" name="Rectangle: Rounded Corners 11">
            <a:extLst>
              <a:ext uri="{FF2B5EF4-FFF2-40B4-BE49-F238E27FC236}">
                <a16:creationId xmlns:a16="http://schemas.microsoft.com/office/drawing/2014/main" id="{8E064569-36C3-6D88-6AE0-B9E3E5AEDC01}"/>
              </a:ext>
            </a:extLst>
          </p:cNvPr>
          <p:cNvSpPr/>
          <p:nvPr/>
        </p:nvSpPr>
        <p:spPr>
          <a:xfrm>
            <a:off x="603252" y="5351117"/>
            <a:ext cx="2458099" cy="1130233"/>
          </a:xfrm>
          <a:prstGeom prst="roundRect">
            <a:avLst/>
          </a:prstGeom>
          <a:noFill/>
          <a:ln w="285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b="1">
                <a:solidFill>
                  <a:schemeClr val="accent1"/>
                </a:solidFill>
              </a:rPr>
              <a:t>a</a:t>
            </a:r>
          </a:p>
          <a:p>
            <a:pPr algn="ctr"/>
            <a:r>
              <a:rPr lang="en-AU">
                <a:solidFill>
                  <a:schemeClr val="tx1"/>
                </a:solidFill>
              </a:rPr>
              <a:t>49 minutes and </a:t>
            </a:r>
          </a:p>
          <a:p>
            <a:pPr algn="ctr"/>
            <a:r>
              <a:rPr lang="en-AU">
                <a:solidFill>
                  <a:schemeClr val="tx1"/>
                </a:solidFill>
              </a:rPr>
              <a:t>49 seconds</a:t>
            </a:r>
          </a:p>
        </p:txBody>
      </p:sp>
      <p:sp>
        <p:nvSpPr>
          <p:cNvPr id="11" name="Rectangle: Rounded Corners 10">
            <a:extLst>
              <a:ext uri="{FF2B5EF4-FFF2-40B4-BE49-F238E27FC236}">
                <a16:creationId xmlns:a16="http://schemas.microsoft.com/office/drawing/2014/main" id="{111BD349-DAF6-CDF6-4C4A-506B20027049}"/>
              </a:ext>
            </a:extLst>
          </p:cNvPr>
          <p:cNvSpPr/>
          <p:nvPr/>
        </p:nvSpPr>
        <p:spPr>
          <a:xfrm>
            <a:off x="3568904" y="5351117"/>
            <a:ext cx="2241995" cy="1130233"/>
          </a:xfrm>
          <a:prstGeom prst="roundRect">
            <a:avLst/>
          </a:prstGeom>
          <a:noFill/>
          <a:ln w="285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b="1">
                <a:solidFill>
                  <a:schemeClr val="accent1"/>
                </a:solidFill>
              </a:rPr>
              <a:t>b</a:t>
            </a:r>
          </a:p>
          <a:p>
            <a:pPr algn="ctr"/>
            <a:r>
              <a:rPr lang="en-AU">
                <a:solidFill>
                  <a:schemeClr val="tx1"/>
                </a:solidFill>
              </a:rPr>
              <a:t>0 minutes and 39 seconds</a:t>
            </a:r>
          </a:p>
        </p:txBody>
      </p:sp>
      <p:sp>
        <p:nvSpPr>
          <p:cNvPr id="10" name="Rectangle: Rounded Corners 9">
            <a:extLst>
              <a:ext uri="{FF2B5EF4-FFF2-40B4-BE49-F238E27FC236}">
                <a16:creationId xmlns:a16="http://schemas.microsoft.com/office/drawing/2014/main" id="{E42DEBEC-94E7-2640-43CB-7FAD7869D866}"/>
              </a:ext>
            </a:extLst>
          </p:cNvPr>
          <p:cNvSpPr/>
          <p:nvPr/>
        </p:nvSpPr>
        <p:spPr>
          <a:xfrm>
            <a:off x="6415617" y="5351118"/>
            <a:ext cx="2423583" cy="1130233"/>
          </a:xfrm>
          <a:prstGeom prst="roundRect">
            <a:avLst/>
          </a:prstGeom>
          <a:noFill/>
          <a:ln w="285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b="1">
                <a:solidFill>
                  <a:schemeClr val="accent1"/>
                </a:solidFill>
              </a:rPr>
              <a:t>c</a:t>
            </a:r>
          </a:p>
          <a:p>
            <a:pPr algn="ctr"/>
            <a:r>
              <a:rPr lang="en-AU">
                <a:solidFill>
                  <a:schemeClr val="tx1"/>
                </a:solidFill>
              </a:rPr>
              <a:t>10 minutes and </a:t>
            </a:r>
          </a:p>
          <a:p>
            <a:pPr algn="ctr"/>
            <a:r>
              <a:rPr lang="en-AU">
                <a:solidFill>
                  <a:schemeClr val="tx1"/>
                </a:solidFill>
              </a:rPr>
              <a:t>0 seconds</a:t>
            </a:r>
          </a:p>
        </p:txBody>
      </p:sp>
      <p:sp>
        <p:nvSpPr>
          <p:cNvPr id="9" name="Rectangle: Rounded Corners 8">
            <a:extLst>
              <a:ext uri="{FF2B5EF4-FFF2-40B4-BE49-F238E27FC236}">
                <a16:creationId xmlns:a16="http://schemas.microsoft.com/office/drawing/2014/main" id="{E26300B4-F3F7-0852-3D4D-8E1CD403784D}"/>
              </a:ext>
            </a:extLst>
          </p:cNvPr>
          <p:cNvSpPr/>
          <p:nvPr/>
        </p:nvSpPr>
        <p:spPr>
          <a:xfrm>
            <a:off x="9346753" y="5351117"/>
            <a:ext cx="2241995" cy="1130233"/>
          </a:xfrm>
          <a:prstGeom prst="roundRect">
            <a:avLst/>
          </a:prstGeom>
          <a:noFill/>
          <a:ln w="285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b="1">
                <a:solidFill>
                  <a:schemeClr val="accent1"/>
                </a:solidFill>
              </a:rPr>
              <a:t>d</a:t>
            </a:r>
          </a:p>
          <a:p>
            <a:pPr algn="ctr"/>
            <a:r>
              <a:rPr lang="en-AU">
                <a:solidFill>
                  <a:schemeClr val="tx1"/>
                </a:solidFill>
              </a:rPr>
              <a:t>9 minutes and 19 seconds</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18C77-06E4-5058-DB4B-44BCA16C34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A5617FD-3692-AFCD-A1C4-5DF175A723C6}"/>
              </a:ext>
            </a:extLst>
          </p:cNvPr>
          <p:cNvSpPr>
            <a:spLocks noGrp="1"/>
          </p:cNvSpPr>
          <p:nvPr>
            <p:ph type="title"/>
          </p:nvPr>
        </p:nvSpPr>
        <p:spPr>
          <a:xfrm>
            <a:off x="360000" y="360000"/>
            <a:ext cx="10367268" cy="545601"/>
          </a:xfrm>
        </p:spPr>
        <p:txBody>
          <a:bodyPr>
            <a:normAutofit/>
          </a:bodyPr>
          <a:lstStyle/>
          <a:p>
            <a:r>
              <a:rPr lang="en-AU"/>
              <a:t>Short response </a:t>
            </a:r>
            <a:r>
              <a:rPr lang="en-AU">
                <a:solidFill>
                  <a:schemeClr val="bg1"/>
                </a:solidFill>
              </a:rPr>
              <a:t>(51)</a:t>
            </a:r>
          </a:p>
        </p:txBody>
      </p:sp>
      <p:pic>
        <p:nvPicPr>
          <p:cNvPr id="3" name="Picture 2">
            <a:extLst>
              <a:ext uri="{FF2B5EF4-FFF2-40B4-BE49-F238E27FC236}">
                <a16:creationId xmlns:a16="http://schemas.microsoft.com/office/drawing/2014/main" id="{CBC052E0-84FA-DC31-9544-C919F2A5DBE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975A656-AF23-8E3F-677D-80CF6B82B45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7" name="TextBox 6">
            <a:extLst>
              <a:ext uri="{FF2B5EF4-FFF2-40B4-BE49-F238E27FC236}">
                <a16:creationId xmlns:a16="http://schemas.microsoft.com/office/drawing/2014/main" id="{7066039C-BA35-CE52-F12B-1029DC1E35DD}"/>
              </a:ext>
            </a:extLst>
          </p:cNvPr>
          <p:cNvSpPr txBox="1"/>
          <p:nvPr/>
        </p:nvSpPr>
        <p:spPr>
          <a:xfrm>
            <a:off x="360000" y="1184223"/>
            <a:ext cx="3805527" cy="5045164"/>
          </a:xfrm>
          <a:prstGeom prst="rect">
            <a:avLst/>
          </a:prstGeom>
          <a:noFill/>
        </p:spPr>
        <p:txBody>
          <a:bodyPr wrap="square">
            <a:spAutoFit/>
          </a:bodyPr>
          <a:lstStyle/>
          <a:p>
            <a:pPr>
              <a:lnSpc>
                <a:spcPct val="150000"/>
              </a:lnSpc>
            </a:pPr>
            <a:r>
              <a:rPr lang="en-AU" sz="4400" b="1">
                <a:latin typeface="Arial" panose="020B0604020202020204" pitchFamily="34" charset="0"/>
                <a:cs typeface="Arial" panose="020B0604020202020204" pitchFamily="34" charset="0"/>
              </a:rPr>
              <a:t>Describe the amount of turn </a:t>
            </a:r>
            <a:r>
              <a:rPr lang="en-AU" sz="4400">
                <a:latin typeface="Arial" panose="020B0604020202020204" pitchFamily="34" charset="0"/>
                <a:cs typeface="Arial" panose="020B0604020202020204" pitchFamily="34" charset="0"/>
              </a:rPr>
              <a:t>to face </a:t>
            </a:r>
          </a:p>
          <a:p>
            <a:pPr marL="742950" indent="-742950">
              <a:lnSpc>
                <a:spcPct val="150000"/>
              </a:lnSpc>
              <a:buFont typeface="+mj-lt"/>
              <a:buAutoNum type="alphaLcParenR"/>
            </a:pPr>
            <a:r>
              <a:rPr lang="en-AU" sz="4400">
                <a:latin typeface="Arial" panose="020B0604020202020204" pitchFamily="34" charset="0"/>
                <a:cs typeface="Arial" panose="020B0604020202020204" pitchFamily="34" charset="0"/>
              </a:rPr>
              <a:t>the house</a:t>
            </a:r>
          </a:p>
          <a:p>
            <a:pPr marL="742950" indent="-742950">
              <a:lnSpc>
                <a:spcPct val="150000"/>
              </a:lnSpc>
              <a:buFont typeface="+mj-lt"/>
              <a:buAutoNum type="alphaLcParenR"/>
            </a:pPr>
            <a:r>
              <a:rPr lang="en-AU" sz="4400">
                <a:latin typeface="Arial" panose="020B0604020202020204" pitchFamily="34" charset="0"/>
                <a:cs typeface="Arial" panose="020B0604020202020204" pitchFamily="34" charset="0"/>
              </a:rPr>
              <a:t>the beach.</a:t>
            </a:r>
            <a:endParaRPr lang="en-AU" sz="4400" b="1"/>
          </a:p>
        </p:txBody>
      </p:sp>
      <p:pic>
        <p:nvPicPr>
          <p:cNvPr id="5" name="Picture 4" descr="A diagram showing a person at the centre with four locations around her: house to the north, supermarket to the east, park to the south, and beach to the west. A compass rose is in the top right corner indicates directions, ">
            <a:extLst>
              <a:ext uri="{FF2B5EF4-FFF2-40B4-BE49-F238E27FC236}">
                <a16:creationId xmlns:a16="http://schemas.microsoft.com/office/drawing/2014/main" id="{AADF5E8A-0D02-0BDF-2CD5-E24C3629188B}"/>
              </a:ext>
            </a:extLst>
          </p:cNvPr>
          <p:cNvPicPr>
            <a:picLocks noChangeAspect="1"/>
          </p:cNvPicPr>
          <p:nvPr/>
        </p:nvPicPr>
        <p:blipFill>
          <a:blip r:embed="rId4">
            <a:extLst>
              <a:ext uri="{28A0092B-C50C-407E-A947-70E740481C1C}">
                <a14:useLocalDpi xmlns:a14="http://schemas.microsoft.com/office/drawing/2010/main" val="0"/>
              </a:ext>
            </a:extLst>
          </a:blip>
          <a:srcRect l="12372" r="3757"/>
          <a:stretch>
            <a:fillRect/>
          </a:stretch>
        </p:blipFill>
        <p:spPr>
          <a:xfrm>
            <a:off x="4575783" y="726473"/>
            <a:ext cx="6548217" cy="5519893"/>
          </a:xfrm>
          <a:prstGeom prst="rect">
            <a:avLst/>
          </a:prstGeom>
        </p:spPr>
      </p:pic>
    </p:spTree>
    <p:extLst>
      <p:ext uri="{BB962C8B-B14F-4D97-AF65-F5344CB8AC3E}">
        <p14:creationId xmlns:p14="http://schemas.microsoft.com/office/powerpoint/2010/main" val="1506867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using estimation for addition and subtraction involving money 1</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8" name="TextBox 7">
            <a:extLst>
              <a:ext uri="{FF2B5EF4-FFF2-40B4-BE49-F238E27FC236}">
                <a16:creationId xmlns:a16="http://schemas.microsoft.com/office/drawing/2014/main" id="{82901557-4A83-D16D-81C4-38026FC3FF5F}"/>
              </a:ext>
            </a:extLst>
          </p:cNvPr>
          <p:cNvSpPr txBox="1"/>
          <p:nvPr/>
        </p:nvSpPr>
        <p:spPr>
          <a:xfrm>
            <a:off x="409703" y="1420020"/>
            <a:ext cx="11057300" cy="3202780"/>
          </a:xfrm>
          <a:prstGeom prst="rect">
            <a:avLst/>
          </a:prstGeom>
          <a:solidFill>
            <a:schemeClr val="accent4"/>
          </a:solidFill>
          <a:ln>
            <a:solidFill>
              <a:schemeClr val="accent1"/>
            </a:solidFill>
          </a:ln>
          <a:effectLst/>
        </p:spPr>
        <p:style>
          <a:lnRef idx="2">
            <a:schemeClr val="dk1"/>
          </a:lnRef>
          <a:fillRef idx="1">
            <a:schemeClr val="lt1"/>
          </a:fillRef>
          <a:effectRef idx="0">
            <a:schemeClr val="dk1"/>
          </a:effectRef>
          <a:fontRef idx="minor">
            <a:schemeClr val="dk1"/>
          </a:fontRef>
        </p:style>
        <p:txBody>
          <a:bodyPr wrap="square" lIns="180000" tIns="0" rIns="0" bIns="0" rtlCol="0" anchor="t">
            <a:noAutofit/>
          </a:bodyPr>
          <a:lstStyle/>
          <a:p>
            <a:pPr>
              <a:lnSpc>
                <a:spcPct val="150000"/>
              </a:lnSpc>
            </a:pPr>
            <a:r>
              <a:rPr lang="en-AU" sz="2000">
                <a:cs typeface="Arial" panose="020B0604020202020204" pitchFamily="34" charset="0"/>
              </a:rPr>
              <a:t>Lisa’s mum has given her </a:t>
            </a:r>
            <a:r>
              <a:rPr lang="en-AU" sz="2000" b="1">
                <a:cs typeface="Arial" panose="020B0604020202020204" pitchFamily="34" charset="0"/>
              </a:rPr>
              <a:t>$5</a:t>
            </a:r>
            <a:r>
              <a:rPr lang="en-AU" sz="2000">
                <a:cs typeface="Arial" panose="020B0604020202020204" pitchFamily="34" charset="0"/>
              </a:rPr>
              <a:t> to buy prizes for her stall at the school fair. Lisa and her mum only have a few minutes to shop for the prizes, so they will need to estimate the cost of their purchases quickly. </a:t>
            </a:r>
          </a:p>
          <a:p>
            <a:pPr>
              <a:lnSpc>
                <a:spcPct val="150000"/>
              </a:lnSpc>
            </a:pPr>
            <a:r>
              <a:rPr lang="en-AU" sz="2000">
                <a:cs typeface="Arial" panose="020B0604020202020204" pitchFamily="34" charset="0"/>
              </a:rPr>
              <a:t>  </a:t>
            </a:r>
          </a:p>
          <a:p>
            <a:pPr>
              <a:lnSpc>
                <a:spcPct val="150000"/>
              </a:lnSpc>
            </a:pPr>
            <a:r>
              <a:rPr lang="en-AU" sz="2000">
                <a:cs typeface="Arial"/>
              </a:rPr>
              <a:t>Lisa needs to buy a minimum of </a:t>
            </a:r>
            <a:r>
              <a:rPr lang="en-AU" sz="2000" b="1">
                <a:cs typeface="Arial"/>
              </a:rPr>
              <a:t>40 prizes </a:t>
            </a:r>
            <a:r>
              <a:rPr lang="en-AU" sz="2000">
                <a:cs typeface="Arial"/>
              </a:rPr>
              <a:t>and she wants more than one type of prize. She finds </a:t>
            </a:r>
            <a:r>
              <a:rPr lang="en-AU" sz="2000" b="1">
                <a:cs typeface="Arial"/>
              </a:rPr>
              <a:t>glitter pens for 16c each</a:t>
            </a:r>
            <a:r>
              <a:rPr lang="en-AU" sz="2000">
                <a:cs typeface="Arial"/>
              </a:rPr>
              <a:t>, and </a:t>
            </a:r>
            <a:r>
              <a:rPr lang="en-AU" sz="2000" b="1">
                <a:cs typeface="Arial"/>
              </a:rPr>
              <a:t>coloured pencils for 11c each</a:t>
            </a:r>
            <a:r>
              <a:rPr lang="en-AU" sz="2000">
                <a:cs typeface="Arial"/>
              </a:rPr>
              <a:t>. Lisa has to decide whether she can buy at least 40 prizes with the money available.</a:t>
            </a:r>
          </a:p>
        </p:txBody>
      </p:sp>
      <p:pic>
        <p:nvPicPr>
          <p:cNvPr id="9" name="Picture 8" descr="A set of 6 glitter pens with a price tag of 16c each. A collection of coloured pencils with the price tag of 11c each.">
            <a:extLst>
              <a:ext uri="{FF2B5EF4-FFF2-40B4-BE49-F238E27FC236}">
                <a16:creationId xmlns:a16="http://schemas.microsoft.com/office/drawing/2014/main" id="{0F621569-9C50-D1B2-D8F6-D4A03BABDBDA}"/>
              </a:ext>
            </a:extLst>
          </p:cNvPr>
          <p:cNvPicPr>
            <a:picLocks noChangeAspect="1"/>
          </p:cNvPicPr>
          <p:nvPr/>
        </p:nvPicPr>
        <p:blipFill rotWithShape="1">
          <a:blip r:embed="rId4"/>
          <a:srcRect t="11098"/>
          <a:stretch/>
        </p:blipFill>
        <p:spPr>
          <a:xfrm>
            <a:off x="4243801" y="4777942"/>
            <a:ext cx="3704397" cy="1918058"/>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474480" y="1050538"/>
            <a:ext cx="11243037" cy="893226"/>
          </a:xfrm>
        </p:spPr>
        <p:txBody>
          <a:bodyPr/>
          <a:lstStyle/>
          <a:p>
            <a:pPr algn="ctr"/>
            <a:r>
              <a:rPr lang="en-AU" sz="3600"/>
              <a:t>$50 is a reasonable estimate for the items below. </a:t>
            </a:r>
          </a:p>
        </p:txBody>
      </p:sp>
      <p:pic>
        <p:nvPicPr>
          <p:cNvPr id="17" name="Picture 16" descr="A basketball with the price tag of $12, a cap with the price tag of $15 and a pair of basketball shoes with the price tag of $19.">
            <a:extLst>
              <a:ext uri="{FF2B5EF4-FFF2-40B4-BE49-F238E27FC236}">
                <a16:creationId xmlns:a16="http://schemas.microsoft.com/office/drawing/2014/main" id="{C6D0FFB8-D17E-0E0C-33C9-32568AF38614}"/>
              </a:ext>
            </a:extLst>
          </p:cNvPr>
          <p:cNvPicPr>
            <a:picLocks noChangeAspect="1"/>
          </p:cNvPicPr>
          <p:nvPr/>
        </p:nvPicPr>
        <p:blipFill>
          <a:blip r:embed="rId4"/>
          <a:stretch>
            <a:fillRect/>
          </a:stretch>
        </p:blipFill>
        <p:spPr>
          <a:xfrm>
            <a:off x="2013872" y="2285564"/>
            <a:ext cx="8417217" cy="1775917"/>
          </a:xfrm>
          <a:prstGeom prst="rect">
            <a:avLst/>
          </a:prstGeom>
        </p:spPr>
      </p:pic>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150445130"/>
              </p:ext>
            </p:extLst>
          </p:nvPr>
        </p:nvGraphicFramePr>
        <p:xfrm>
          <a:off x="2683942" y="442134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Box 4">
            <a:extLst>
              <a:ext uri="{FF2B5EF4-FFF2-40B4-BE49-F238E27FC236}">
                <a16:creationId xmlns:a16="http://schemas.microsoft.com/office/drawing/2014/main" id="{087AC568-E872-EA55-5289-EF179539F807}"/>
              </a:ext>
            </a:extLst>
          </p:cNvPr>
          <p:cNvSpPr txBox="1"/>
          <p:nvPr/>
        </p:nvSpPr>
        <p:spPr>
          <a:xfrm>
            <a:off x="600963" y="5477837"/>
            <a:ext cx="11243037" cy="820674"/>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3600" b="1">
                <a:latin typeface="Arial"/>
                <a:cs typeface="Arial"/>
              </a:rPr>
              <a:t>Communicate </a:t>
            </a:r>
            <a:r>
              <a:rPr lang="en-AU" sz="3600">
                <a:latin typeface="Arial"/>
                <a:cs typeface="Arial"/>
              </a:rPr>
              <a:t>your</a:t>
            </a:r>
            <a:r>
              <a:rPr lang="en-AU" sz="3600" b="1">
                <a:latin typeface="Arial"/>
                <a:cs typeface="Arial"/>
              </a:rPr>
              <a:t> reasoning. </a:t>
            </a:r>
          </a:p>
        </p:txBody>
      </p:sp>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5" name="TextBox 4">
            <a:extLst>
              <a:ext uri="{FF2B5EF4-FFF2-40B4-BE49-F238E27FC236}">
                <a16:creationId xmlns:a16="http://schemas.microsoft.com/office/drawing/2014/main" id="{CB87DAAA-EDD2-F17D-3B08-F95F3A76EC7A}"/>
              </a:ext>
            </a:extLst>
          </p:cNvPr>
          <p:cNvSpPr txBox="1"/>
          <p:nvPr/>
        </p:nvSpPr>
        <p:spPr>
          <a:xfrm>
            <a:off x="108791" y="2092980"/>
            <a:ext cx="6625235" cy="2748253"/>
          </a:xfrm>
          <a:prstGeom prst="rect">
            <a:avLst/>
          </a:prstGeom>
          <a:noFill/>
        </p:spPr>
        <p:txBody>
          <a:bodyPr wrap="square">
            <a:spAutoFit/>
          </a:bodyPr>
          <a:lstStyle/>
          <a:p>
            <a:pPr algn="ctr">
              <a:lnSpc>
                <a:spcPct val="150000"/>
              </a:lnSpc>
            </a:pPr>
            <a:r>
              <a:rPr lang="en-AU" sz="4000" b="1"/>
              <a:t>Estimate</a:t>
            </a:r>
            <a:r>
              <a:rPr lang="en-AU" sz="4000"/>
              <a:t> the area of the leaf using the </a:t>
            </a:r>
            <a:r>
              <a:rPr lang="en-AU" sz="4000" b="1"/>
              <a:t>square centimetre</a:t>
            </a:r>
            <a:r>
              <a:rPr lang="en-AU" sz="4000"/>
              <a:t> grid overlay.</a:t>
            </a:r>
          </a:p>
        </p:txBody>
      </p:sp>
      <p:pic>
        <p:nvPicPr>
          <p:cNvPr id="8" name="Picture 7" descr="A leaf on a square centimetre grid overlay. A red box surrounds the leaf labelled 10 cm for the length and 6 cm for the width.">
            <a:extLst>
              <a:ext uri="{FF2B5EF4-FFF2-40B4-BE49-F238E27FC236}">
                <a16:creationId xmlns:a16="http://schemas.microsoft.com/office/drawing/2014/main" id="{55E5C8CA-AD5D-0A32-F1B7-2AF8E5473918}"/>
              </a:ext>
            </a:extLst>
          </p:cNvPr>
          <p:cNvPicPr>
            <a:picLocks noChangeAspect="1"/>
          </p:cNvPicPr>
          <p:nvPr/>
        </p:nvPicPr>
        <p:blipFill>
          <a:blip r:embed="rId4">
            <a:extLst>
              <a:ext uri="{28A0092B-C50C-407E-A947-70E740481C1C}">
                <a14:useLocalDpi xmlns:a14="http://schemas.microsoft.com/office/drawing/2010/main" val="0"/>
              </a:ext>
            </a:extLst>
          </a:blip>
          <a:srcRect l="18048" t="5250" r="20282" b="4986"/>
          <a:stretch>
            <a:fillRect/>
          </a:stretch>
        </p:blipFill>
        <p:spPr>
          <a:xfrm>
            <a:off x="7020621" y="1434977"/>
            <a:ext cx="4287219" cy="441187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8BDAA2D-2FE1-AC65-637A-ADD8B1CFF91D}"/>
              </a:ext>
            </a:extLst>
          </p:cNvPr>
          <p:cNvSpPr txBox="1"/>
          <p:nvPr/>
        </p:nvSpPr>
        <p:spPr>
          <a:xfrm>
            <a:off x="652990" y="933425"/>
            <a:ext cx="11006160" cy="3031536"/>
          </a:xfrm>
          <a:prstGeom prst="rect">
            <a:avLst/>
          </a:prstGeom>
          <a:noFill/>
        </p:spPr>
        <p:txBody>
          <a:bodyPr wrap="square">
            <a:spAutoFit/>
          </a:bodyPr>
          <a:lstStyle/>
          <a:p>
            <a:pPr algn="ctr">
              <a:lnSpc>
                <a:spcPct val="150000"/>
              </a:lnSpc>
            </a:pPr>
            <a:r>
              <a:rPr lang="en-AU" sz="4000"/>
              <a:t>Use </a:t>
            </a:r>
            <a:r>
              <a:rPr lang="en-AU" sz="4000" b="1"/>
              <a:t>multiples of 10 </a:t>
            </a:r>
            <a:r>
              <a:rPr lang="en-AU" sz="4000"/>
              <a:t>to </a:t>
            </a:r>
            <a:r>
              <a:rPr lang="en-AU" sz="4000" b="1"/>
              <a:t>partition the array</a:t>
            </a:r>
            <a:r>
              <a:rPr lang="en-AU" sz="4000"/>
              <a:t> to solve the number sentence.  </a:t>
            </a:r>
          </a:p>
          <a:p>
            <a:pPr algn="ctr">
              <a:lnSpc>
                <a:spcPct val="150000"/>
              </a:lnSpc>
            </a:pPr>
            <a:r>
              <a:rPr lang="en-AU" sz="5400">
                <a:solidFill>
                  <a:schemeClr val="accent2"/>
                </a:solidFill>
              </a:rPr>
              <a:t>4 x 16 </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grpSp>
        <p:nvGrpSpPr>
          <p:cNvPr id="91" name="Group 90" descr="An array of green circles with 4 rows and 16 columns">
            <a:extLst>
              <a:ext uri="{FF2B5EF4-FFF2-40B4-BE49-F238E27FC236}">
                <a16:creationId xmlns:a16="http://schemas.microsoft.com/office/drawing/2014/main" id="{F8839B93-C3B0-DB03-10F2-D9C4852BD2E1}"/>
              </a:ext>
            </a:extLst>
          </p:cNvPr>
          <p:cNvGrpSpPr/>
          <p:nvPr/>
        </p:nvGrpSpPr>
        <p:grpSpPr>
          <a:xfrm>
            <a:off x="2225705" y="4155029"/>
            <a:ext cx="7860729" cy="1769546"/>
            <a:chOff x="2001492" y="2443348"/>
            <a:chExt cx="7860729" cy="1769546"/>
          </a:xfrm>
        </p:grpSpPr>
        <p:grpSp>
          <p:nvGrpSpPr>
            <p:cNvPr id="4" name="Group 3" descr="An array made up of green circles with 6 rows and 8 columns.">
              <a:extLst>
                <a:ext uri="{FF2B5EF4-FFF2-40B4-BE49-F238E27FC236}">
                  <a16:creationId xmlns:a16="http://schemas.microsoft.com/office/drawing/2014/main" id="{5E8A9E56-9113-D084-4E4A-05F2D3ACED39}"/>
                </a:ext>
              </a:extLst>
            </p:cNvPr>
            <p:cNvGrpSpPr/>
            <p:nvPr/>
          </p:nvGrpSpPr>
          <p:grpSpPr>
            <a:xfrm>
              <a:off x="2001492" y="2445545"/>
              <a:ext cx="3870294" cy="1767349"/>
              <a:chOff x="3162194" y="1938511"/>
              <a:chExt cx="4599116" cy="2151050"/>
            </a:xfrm>
            <a:solidFill>
              <a:srgbClr val="92D050"/>
            </a:solidFill>
          </p:grpSpPr>
          <p:grpSp>
            <p:nvGrpSpPr>
              <p:cNvPr id="8" name="Group 7" descr="An array of blue dots with 4 rows of 6.">
                <a:extLst>
                  <a:ext uri="{FF2B5EF4-FFF2-40B4-BE49-F238E27FC236}">
                    <a16:creationId xmlns:a16="http://schemas.microsoft.com/office/drawing/2014/main" id="{7B479583-8F55-0413-EA12-AED5608161BD}"/>
                  </a:ext>
                </a:extLst>
              </p:cNvPr>
              <p:cNvGrpSpPr>
                <a:grpSpLocks noChangeAspect="1"/>
              </p:cNvGrpSpPr>
              <p:nvPr/>
            </p:nvGrpSpPr>
            <p:grpSpPr>
              <a:xfrm>
                <a:off x="3162194" y="1938511"/>
                <a:ext cx="3416308" cy="2148377"/>
                <a:chOff x="3776182" y="2135980"/>
                <a:chExt cx="4270386" cy="2685472"/>
              </a:xfrm>
              <a:grpFill/>
              <a:effectLst/>
            </p:grpSpPr>
            <p:sp>
              <p:nvSpPr>
                <p:cNvPr id="33" name="Oval 32">
                  <a:extLst>
                    <a:ext uri="{FF2B5EF4-FFF2-40B4-BE49-F238E27FC236}">
                      <a16:creationId xmlns:a16="http://schemas.microsoft.com/office/drawing/2014/main" id="{9F3819E4-6B9C-76C4-8D46-DEAF565BCB3A}"/>
                    </a:ext>
                  </a:extLst>
                </p:cNvPr>
                <p:cNvSpPr/>
                <p:nvPr/>
              </p:nvSpPr>
              <p:spPr>
                <a:xfrm>
                  <a:off x="3776182"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Oval 33">
                  <a:extLst>
                    <a:ext uri="{FF2B5EF4-FFF2-40B4-BE49-F238E27FC236}">
                      <a16:creationId xmlns:a16="http://schemas.microsoft.com/office/drawing/2014/main" id="{E9E000E1-BB6D-5E18-B60B-0E0200736B86}"/>
                    </a:ext>
                  </a:extLst>
                </p:cNvPr>
                <p:cNvSpPr/>
                <p:nvPr/>
              </p:nvSpPr>
              <p:spPr>
                <a:xfrm>
                  <a:off x="4515436"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5" name="Oval 34">
                  <a:extLst>
                    <a:ext uri="{FF2B5EF4-FFF2-40B4-BE49-F238E27FC236}">
                      <a16:creationId xmlns:a16="http://schemas.microsoft.com/office/drawing/2014/main" id="{180D62D3-AFAB-56A5-CCAC-96906EE1A2E7}"/>
                    </a:ext>
                  </a:extLst>
                </p:cNvPr>
                <p:cNvSpPr/>
                <p:nvPr/>
              </p:nvSpPr>
              <p:spPr>
                <a:xfrm>
                  <a:off x="5254690" y="2135980"/>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Oval 35">
                  <a:extLst>
                    <a:ext uri="{FF2B5EF4-FFF2-40B4-BE49-F238E27FC236}">
                      <a16:creationId xmlns:a16="http://schemas.microsoft.com/office/drawing/2014/main" id="{811B58FD-8CDA-11D0-C935-2CE6B4F42B81}"/>
                    </a:ext>
                  </a:extLst>
                </p:cNvPr>
                <p:cNvSpPr/>
                <p:nvPr/>
              </p:nvSpPr>
              <p:spPr>
                <a:xfrm>
                  <a:off x="5981206"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Oval 36">
                  <a:extLst>
                    <a:ext uri="{FF2B5EF4-FFF2-40B4-BE49-F238E27FC236}">
                      <a16:creationId xmlns:a16="http://schemas.microsoft.com/office/drawing/2014/main" id="{A6C7AFBD-DB82-7575-D580-B82E82AFB93B}"/>
                    </a:ext>
                  </a:extLst>
                </p:cNvPr>
                <p:cNvSpPr/>
                <p:nvPr/>
              </p:nvSpPr>
              <p:spPr>
                <a:xfrm>
                  <a:off x="6720460"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Oval 37">
                  <a:extLst>
                    <a:ext uri="{FF2B5EF4-FFF2-40B4-BE49-F238E27FC236}">
                      <a16:creationId xmlns:a16="http://schemas.microsoft.com/office/drawing/2014/main" id="{7FC48CA4-862C-4656-7237-610592F8F21C}"/>
                    </a:ext>
                  </a:extLst>
                </p:cNvPr>
                <p:cNvSpPr/>
                <p:nvPr/>
              </p:nvSpPr>
              <p:spPr>
                <a:xfrm>
                  <a:off x="7459714" y="2135980"/>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Oval 38">
                  <a:extLst>
                    <a:ext uri="{FF2B5EF4-FFF2-40B4-BE49-F238E27FC236}">
                      <a16:creationId xmlns:a16="http://schemas.microsoft.com/office/drawing/2014/main" id="{1298A15B-EBE6-8C70-60A4-D483A2267BFC}"/>
                    </a:ext>
                  </a:extLst>
                </p:cNvPr>
                <p:cNvSpPr/>
                <p:nvPr/>
              </p:nvSpPr>
              <p:spPr>
                <a:xfrm>
                  <a:off x="3776182"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Oval 39">
                  <a:extLst>
                    <a:ext uri="{FF2B5EF4-FFF2-40B4-BE49-F238E27FC236}">
                      <a16:creationId xmlns:a16="http://schemas.microsoft.com/office/drawing/2014/main" id="{460A98D2-33D6-DAC6-D3DF-E29C1EE51BF3}"/>
                    </a:ext>
                  </a:extLst>
                </p:cNvPr>
                <p:cNvSpPr/>
                <p:nvPr/>
              </p:nvSpPr>
              <p:spPr>
                <a:xfrm>
                  <a:off x="4515436"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Oval 40">
                  <a:extLst>
                    <a:ext uri="{FF2B5EF4-FFF2-40B4-BE49-F238E27FC236}">
                      <a16:creationId xmlns:a16="http://schemas.microsoft.com/office/drawing/2014/main" id="{6147DC61-1912-0BE7-45CB-BB65F7E91A66}"/>
                    </a:ext>
                  </a:extLst>
                </p:cNvPr>
                <p:cNvSpPr/>
                <p:nvPr/>
              </p:nvSpPr>
              <p:spPr>
                <a:xfrm>
                  <a:off x="5254690" y="282519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Oval 41">
                  <a:extLst>
                    <a:ext uri="{FF2B5EF4-FFF2-40B4-BE49-F238E27FC236}">
                      <a16:creationId xmlns:a16="http://schemas.microsoft.com/office/drawing/2014/main" id="{151578B6-F594-7A4E-A48E-B82E029F48B6}"/>
                    </a:ext>
                  </a:extLst>
                </p:cNvPr>
                <p:cNvSpPr/>
                <p:nvPr/>
              </p:nvSpPr>
              <p:spPr>
                <a:xfrm>
                  <a:off x="5981206"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Oval 42">
                  <a:extLst>
                    <a:ext uri="{FF2B5EF4-FFF2-40B4-BE49-F238E27FC236}">
                      <a16:creationId xmlns:a16="http://schemas.microsoft.com/office/drawing/2014/main" id="{3F21ABDD-A64E-9315-6DD1-9E2B0628A6B3}"/>
                    </a:ext>
                  </a:extLst>
                </p:cNvPr>
                <p:cNvSpPr/>
                <p:nvPr/>
              </p:nvSpPr>
              <p:spPr>
                <a:xfrm>
                  <a:off x="6720460"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4" name="Oval 43">
                  <a:extLst>
                    <a:ext uri="{FF2B5EF4-FFF2-40B4-BE49-F238E27FC236}">
                      <a16:creationId xmlns:a16="http://schemas.microsoft.com/office/drawing/2014/main" id="{A5256EC2-E310-DEEF-F93B-610AC4100139}"/>
                    </a:ext>
                  </a:extLst>
                </p:cNvPr>
                <p:cNvSpPr/>
                <p:nvPr/>
              </p:nvSpPr>
              <p:spPr>
                <a:xfrm>
                  <a:off x="7459714" y="282519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Oval 44">
                  <a:extLst>
                    <a:ext uri="{FF2B5EF4-FFF2-40B4-BE49-F238E27FC236}">
                      <a16:creationId xmlns:a16="http://schemas.microsoft.com/office/drawing/2014/main" id="{346F17F0-4EDD-A395-5BAE-1B61C9D9DD77}"/>
                    </a:ext>
                  </a:extLst>
                </p:cNvPr>
                <p:cNvSpPr/>
                <p:nvPr/>
              </p:nvSpPr>
              <p:spPr>
                <a:xfrm>
                  <a:off x="3776182"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6" name="Oval 45">
                  <a:extLst>
                    <a:ext uri="{FF2B5EF4-FFF2-40B4-BE49-F238E27FC236}">
                      <a16:creationId xmlns:a16="http://schemas.microsoft.com/office/drawing/2014/main" id="{A4C9C2F9-AF69-D21D-7B35-6CFFC22479D6}"/>
                    </a:ext>
                  </a:extLst>
                </p:cNvPr>
                <p:cNvSpPr/>
                <p:nvPr/>
              </p:nvSpPr>
              <p:spPr>
                <a:xfrm>
                  <a:off x="4515436"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7" name="Oval 46">
                  <a:extLst>
                    <a:ext uri="{FF2B5EF4-FFF2-40B4-BE49-F238E27FC236}">
                      <a16:creationId xmlns:a16="http://schemas.microsoft.com/office/drawing/2014/main" id="{07B577E2-6BA2-24C6-4F04-7A835ECF1B8C}"/>
                    </a:ext>
                  </a:extLst>
                </p:cNvPr>
                <p:cNvSpPr/>
                <p:nvPr/>
              </p:nvSpPr>
              <p:spPr>
                <a:xfrm>
                  <a:off x="5254690" y="3521365"/>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Oval 47">
                  <a:extLst>
                    <a:ext uri="{FF2B5EF4-FFF2-40B4-BE49-F238E27FC236}">
                      <a16:creationId xmlns:a16="http://schemas.microsoft.com/office/drawing/2014/main" id="{39E90133-C28A-AB1E-5105-07D05B2209E6}"/>
                    </a:ext>
                  </a:extLst>
                </p:cNvPr>
                <p:cNvSpPr/>
                <p:nvPr/>
              </p:nvSpPr>
              <p:spPr>
                <a:xfrm>
                  <a:off x="5981206"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Oval 48">
                  <a:extLst>
                    <a:ext uri="{FF2B5EF4-FFF2-40B4-BE49-F238E27FC236}">
                      <a16:creationId xmlns:a16="http://schemas.microsoft.com/office/drawing/2014/main" id="{77DC0C2D-4A0E-AD38-DAAA-7FE9C40F406D}"/>
                    </a:ext>
                  </a:extLst>
                </p:cNvPr>
                <p:cNvSpPr/>
                <p:nvPr/>
              </p:nvSpPr>
              <p:spPr>
                <a:xfrm>
                  <a:off x="6720460"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0" name="Oval 49">
                  <a:extLst>
                    <a:ext uri="{FF2B5EF4-FFF2-40B4-BE49-F238E27FC236}">
                      <a16:creationId xmlns:a16="http://schemas.microsoft.com/office/drawing/2014/main" id="{72B2BB1A-1825-F5A6-597B-0AFA4D2114B1}"/>
                    </a:ext>
                  </a:extLst>
                </p:cNvPr>
                <p:cNvSpPr/>
                <p:nvPr/>
              </p:nvSpPr>
              <p:spPr>
                <a:xfrm>
                  <a:off x="7459714" y="3521365"/>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1" name="Oval 50">
                  <a:extLst>
                    <a:ext uri="{FF2B5EF4-FFF2-40B4-BE49-F238E27FC236}">
                      <a16:creationId xmlns:a16="http://schemas.microsoft.com/office/drawing/2014/main" id="{02C1B6A5-CAD9-6AE5-0EC5-C3363FB858FC}"/>
                    </a:ext>
                  </a:extLst>
                </p:cNvPr>
                <p:cNvSpPr/>
                <p:nvPr/>
              </p:nvSpPr>
              <p:spPr>
                <a:xfrm>
                  <a:off x="3819959"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2" name="Oval 51">
                  <a:extLst>
                    <a:ext uri="{FF2B5EF4-FFF2-40B4-BE49-F238E27FC236}">
                      <a16:creationId xmlns:a16="http://schemas.microsoft.com/office/drawing/2014/main" id="{1FCF4BBF-DB13-DB33-B0DB-ADCBA2933544}"/>
                    </a:ext>
                  </a:extLst>
                </p:cNvPr>
                <p:cNvSpPr/>
                <p:nvPr/>
              </p:nvSpPr>
              <p:spPr>
                <a:xfrm>
                  <a:off x="4515436"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3" name="Oval 52">
                  <a:extLst>
                    <a:ext uri="{FF2B5EF4-FFF2-40B4-BE49-F238E27FC236}">
                      <a16:creationId xmlns:a16="http://schemas.microsoft.com/office/drawing/2014/main" id="{BBB8EBF6-363B-8A3B-58BB-2451C8D33F32}"/>
                    </a:ext>
                  </a:extLst>
                </p:cNvPr>
                <p:cNvSpPr/>
                <p:nvPr/>
              </p:nvSpPr>
              <p:spPr>
                <a:xfrm>
                  <a:off x="5254690" y="4217538"/>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Oval 53">
                  <a:extLst>
                    <a:ext uri="{FF2B5EF4-FFF2-40B4-BE49-F238E27FC236}">
                      <a16:creationId xmlns:a16="http://schemas.microsoft.com/office/drawing/2014/main" id="{222E6659-012D-088F-64BC-C89910A3EEB5}"/>
                    </a:ext>
                  </a:extLst>
                </p:cNvPr>
                <p:cNvSpPr/>
                <p:nvPr/>
              </p:nvSpPr>
              <p:spPr>
                <a:xfrm>
                  <a:off x="5981206"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Oval 54">
                  <a:extLst>
                    <a:ext uri="{FF2B5EF4-FFF2-40B4-BE49-F238E27FC236}">
                      <a16:creationId xmlns:a16="http://schemas.microsoft.com/office/drawing/2014/main" id="{B5A400D9-49DD-E784-74A1-61D9BF4509DE}"/>
                    </a:ext>
                  </a:extLst>
                </p:cNvPr>
                <p:cNvSpPr/>
                <p:nvPr/>
              </p:nvSpPr>
              <p:spPr>
                <a:xfrm>
                  <a:off x="6720460"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Oval 55">
                  <a:extLst>
                    <a:ext uri="{FF2B5EF4-FFF2-40B4-BE49-F238E27FC236}">
                      <a16:creationId xmlns:a16="http://schemas.microsoft.com/office/drawing/2014/main" id="{769AFD9C-D17E-31A6-8877-4B6E4CC2A714}"/>
                    </a:ext>
                  </a:extLst>
                </p:cNvPr>
                <p:cNvSpPr/>
                <p:nvPr/>
              </p:nvSpPr>
              <p:spPr>
                <a:xfrm>
                  <a:off x="7459714" y="4217538"/>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9" name="Oval 8">
                <a:extLst>
                  <a:ext uri="{FF2B5EF4-FFF2-40B4-BE49-F238E27FC236}">
                    <a16:creationId xmlns:a16="http://schemas.microsoft.com/office/drawing/2014/main" id="{578E367D-6811-BEA8-891C-D6DF2408F023}"/>
                  </a:ext>
                </a:extLst>
              </p:cNvPr>
              <p:cNvSpPr/>
              <p:nvPr/>
            </p:nvSpPr>
            <p:spPr>
              <a:xfrm>
                <a:off x="6700424" y="1941187"/>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2C44B472-F42A-316C-F736-47BF98086100}"/>
                  </a:ext>
                </a:extLst>
              </p:cNvPr>
              <p:cNvSpPr/>
              <p:nvPr/>
            </p:nvSpPr>
            <p:spPr>
              <a:xfrm>
                <a:off x="7291827" y="1941186"/>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a:extLst>
                  <a:ext uri="{FF2B5EF4-FFF2-40B4-BE49-F238E27FC236}">
                    <a16:creationId xmlns:a16="http://schemas.microsoft.com/office/drawing/2014/main" id="{93A0F1F7-0B38-45FA-861F-68C3933AE6E7}"/>
                  </a:ext>
                </a:extLst>
              </p:cNvPr>
              <p:cNvSpPr/>
              <p:nvPr/>
            </p:nvSpPr>
            <p:spPr>
              <a:xfrm>
                <a:off x="6700424" y="2492555"/>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11BB5438-28D2-68FB-766D-7B1180F331C3}"/>
                  </a:ext>
                </a:extLst>
              </p:cNvPr>
              <p:cNvSpPr/>
              <p:nvPr/>
            </p:nvSpPr>
            <p:spPr>
              <a:xfrm>
                <a:off x="7291827" y="2492554"/>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03BF4D2C-EF34-F83E-352A-C048139FD7B4}"/>
                  </a:ext>
                </a:extLst>
              </p:cNvPr>
              <p:cNvSpPr/>
              <p:nvPr/>
            </p:nvSpPr>
            <p:spPr>
              <a:xfrm>
                <a:off x="6700424" y="3049493"/>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38BD6AFF-D10E-3383-101B-D589061FA7F4}"/>
                  </a:ext>
                </a:extLst>
              </p:cNvPr>
              <p:cNvSpPr/>
              <p:nvPr/>
            </p:nvSpPr>
            <p:spPr>
              <a:xfrm>
                <a:off x="7291827" y="3049493"/>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a:extLst>
                  <a:ext uri="{FF2B5EF4-FFF2-40B4-BE49-F238E27FC236}">
                    <a16:creationId xmlns:a16="http://schemas.microsoft.com/office/drawing/2014/main" id="{6828A18D-646E-DBD3-ED7F-6812BC2FA2DC}"/>
                  </a:ext>
                </a:extLst>
              </p:cNvPr>
              <p:cNvSpPr/>
              <p:nvPr/>
            </p:nvSpPr>
            <p:spPr>
              <a:xfrm>
                <a:off x="6700424" y="3606431"/>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a:extLst>
                  <a:ext uri="{FF2B5EF4-FFF2-40B4-BE49-F238E27FC236}">
                    <a16:creationId xmlns:a16="http://schemas.microsoft.com/office/drawing/2014/main" id="{7A3D4166-D525-6990-2E95-EF528704F922}"/>
                  </a:ext>
                </a:extLst>
              </p:cNvPr>
              <p:cNvSpPr/>
              <p:nvPr/>
            </p:nvSpPr>
            <p:spPr>
              <a:xfrm>
                <a:off x="7291827" y="3606430"/>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57" name="Group 56" descr="An array made up of green circles with 6 rows and 8 columns.">
              <a:extLst>
                <a:ext uri="{FF2B5EF4-FFF2-40B4-BE49-F238E27FC236}">
                  <a16:creationId xmlns:a16="http://schemas.microsoft.com/office/drawing/2014/main" id="{E1B9ED52-4631-1F1D-43BD-80B1B014661E}"/>
                </a:ext>
              </a:extLst>
            </p:cNvPr>
            <p:cNvGrpSpPr/>
            <p:nvPr/>
          </p:nvGrpSpPr>
          <p:grpSpPr>
            <a:xfrm>
              <a:off x="5991927" y="2443348"/>
              <a:ext cx="3870294" cy="1767349"/>
              <a:chOff x="3162194" y="1938511"/>
              <a:chExt cx="4599116" cy="2151050"/>
            </a:xfrm>
            <a:solidFill>
              <a:srgbClr val="92D050"/>
            </a:solidFill>
          </p:grpSpPr>
          <p:grpSp>
            <p:nvGrpSpPr>
              <p:cNvPr id="58" name="Group 57" descr="An array of blue dots with 4 rows of 6.">
                <a:extLst>
                  <a:ext uri="{FF2B5EF4-FFF2-40B4-BE49-F238E27FC236}">
                    <a16:creationId xmlns:a16="http://schemas.microsoft.com/office/drawing/2014/main" id="{99F2C37C-E54B-8EE5-D46E-7ED3C263CA4A}"/>
                  </a:ext>
                </a:extLst>
              </p:cNvPr>
              <p:cNvGrpSpPr>
                <a:grpSpLocks noChangeAspect="1"/>
              </p:cNvGrpSpPr>
              <p:nvPr/>
            </p:nvGrpSpPr>
            <p:grpSpPr>
              <a:xfrm>
                <a:off x="3162194" y="1938511"/>
                <a:ext cx="3416308" cy="2148377"/>
                <a:chOff x="3776182" y="2135980"/>
                <a:chExt cx="4270386" cy="2685472"/>
              </a:xfrm>
              <a:grpFill/>
              <a:effectLst/>
            </p:grpSpPr>
            <p:sp>
              <p:nvSpPr>
                <p:cNvPr id="67" name="Oval 66">
                  <a:extLst>
                    <a:ext uri="{FF2B5EF4-FFF2-40B4-BE49-F238E27FC236}">
                      <a16:creationId xmlns:a16="http://schemas.microsoft.com/office/drawing/2014/main" id="{029805BA-1B50-835B-F255-042DDEF0747E}"/>
                    </a:ext>
                  </a:extLst>
                </p:cNvPr>
                <p:cNvSpPr/>
                <p:nvPr/>
              </p:nvSpPr>
              <p:spPr>
                <a:xfrm>
                  <a:off x="3776182"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8" name="Oval 67">
                  <a:extLst>
                    <a:ext uri="{FF2B5EF4-FFF2-40B4-BE49-F238E27FC236}">
                      <a16:creationId xmlns:a16="http://schemas.microsoft.com/office/drawing/2014/main" id="{927A451B-83F1-AEF9-28A1-72FD067EFB83}"/>
                    </a:ext>
                  </a:extLst>
                </p:cNvPr>
                <p:cNvSpPr/>
                <p:nvPr/>
              </p:nvSpPr>
              <p:spPr>
                <a:xfrm>
                  <a:off x="4515436"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9" name="Oval 68">
                  <a:extLst>
                    <a:ext uri="{FF2B5EF4-FFF2-40B4-BE49-F238E27FC236}">
                      <a16:creationId xmlns:a16="http://schemas.microsoft.com/office/drawing/2014/main" id="{8F7046C9-74B7-8663-7832-4B54539849CF}"/>
                    </a:ext>
                  </a:extLst>
                </p:cNvPr>
                <p:cNvSpPr/>
                <p:nvPr/>
              </p:nvSpPr>
              <p:spPr>
                <a:xfrm>
                  <a:off x="5254690" y="2135980"/>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0" name="Oval 69">
                  <a:extLst>
                    <a:ext uri="{FF2B5EF4-FFF2-40B4-BE49-F238E27FC236}">
                      <a16:creationId xmlns:a16="http://schemas.microsoft.com/office/drawing/2014/main" id="{188E5497-5C30-4BC3-6C8B-0BD67278F642}"/>
                    </a:ext>
                  </a:extLst>
                </p:cNvPr>
                <p:cNvSpPr/>
                <p:nvPr/>
              </p:nvSpPr>
              <p:spPr>
                <a:xfrm>
                  <a:off x="5981206"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1" name="Oval 70">
                  <a:extLst>
                    <a:ext uri="{FF2B5EF4-FFF2-40B4-BE49-F238E27FC236}">
                      <a16:creationId xmlns:a16="http://schemas.microsoft.com/office/drawing/2014/main" id="{F7827126-678D-FCF5-72D4-FCFF6C82523D}"/>
                    </a:ext>
                  </a:extLst>
                </p:cNvPr>
                <p:cNvSpPr/>
                <p:nvPr/>
              </p:nvSpPr>
              <p:spPr>
                <a:xfrm>
                  <a:off x="6720460" y="213598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2" name="Oval 71">
                  <a:extLst>
                    <a:ext uri="{FF2B5EF4-FFF2-40B4-BE49-F238E27FC236}">
                      <a16:creationId xmlns:a16="http://schemas.microsoft.com/office/drawing/2014/main" id="{65DBD757-3BDC-AF4A-837C-595E68D27CF5}"/>
                    </a:ext>
                  </a:extLst>
                </p:cNvPr>
                <p:cNvSpPr/>
                <p:nvPr/>
              </p:nvSpPr>
              <p:spPr>
                <a:xfrm>
                  <a:off x="7459714" y="2135980"/>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3" name="Oval 72">
                  <a:extLst>
                    <a:ext uri="{FF2B5EF4-FFF2-40B4-BE49-F238E27FC236}">
                      <a16:creationId xmlns:a16="http://schemas.microsoft.com/office/drawing/2014/main" id="{2D666158-9284-92B6-945C-16051F0A2D2C}"/>
                    </a:ext>
                  </a:extLst>
                </p:cNvPr>
                <p:cNvSpPr/>
                <p:nvPr/>
              </p:nvSpPr>
              <p:spPr>
                <a:xfrm>
                  <a:off x="3776182"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4" name="Oval 73">
                  <a:extLst>
                    <a:ext uri="{FF2B5EF4-FFF2-40B4-BE49-F238E27FC236}">
                      <a16:creationId xmlns:a16="http://schemas.microsoft.com/office/drawing/2014/main" id="{A5F7A09B-404F-3383-8719-7175446F68CB}"/>
                    </a:ext>
                  </a:extLst>
                </p:cNvPr>
                <p:cNvSpPr/>
                <p:nvPr/>
              </p:nvSpPr>
              <p:spPr>
                <a:xfrm>
                  <a:off x="4515436"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Oval 74">
                  <a:extLst>
                    <a:ext uri="{FF2B5EF4-FFF2-40B4-BE49-F238E27FC236}">
                      <a16:creationId xmlns:a16="http://schemas.microsoft.com/office/drawing/2014/main" id="{39EBDCE3-157B-4B64-5FDB-870E6D1A1B3B}"/>
                    </a:ext>
                  </a:extLst>
                </p:cNvPr>
                <p:cNvSpPr/>
                <p:nvPr/>
              </p:nvSpPr>
              <p:spPr>
                <a:xfrm>
                  <a:off x="5254690" y="282519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6" name="Oval 75">
                  <a:extLst>
                    <a:ext uri="{FF2B5EF4-FFF2-40B4-BE49-F238E27FC236}">
                      <a16:creationId xmlns:a16="http://schemas.microsoft.com/office/drawing/2014/main" id="{A92A9A4E-4A27-173E-B613-8A40992A769C}"/>
                    </a:ext>
                  </a:extLst>
                </p:cNvPr>
                <p:cNvSpPr/>
                <p:nvPr/>
              </p:nvSpPr>
              <p:spPr>
                <a:xfrm>
                  <a:off x="5981206"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7" name="Oval 76">
                  <a:extLst>
                    <a:ext uri="{FF2B5EF4-FFF2-40B4-BE49-F238E27FC236}">
                      <a16:creationId xmlns:a16="http://schemas.microsoft.com/office/drawing/2014/main" id="{4E771A3E-100F-3B63-8A48-8C77041D4D6D}"/>
                    </a:ext>
                  </a:extLst>
                </p:cNvPr>
                <p:cNvSpPr/>
                <p:nvPr/>
              </p:nvSpPr>
              <p:spPr>
                <a:xfrm>
                  <a:off x="6720460" y="2825192"/>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8" name="Oval 77">
                  <a:extLst>
                    <a:ext uri="{FF2B5EF4-FFF2-40B4-BE49-F238E27FC236}">
                      <a16:creationId xmlns:a16="http://schemas.microsoft.com/office/drawing/2014/main" id="{CF107880-18FC-53B3-832B-F37048590CD5}"/>
                    </a:ext>
                  </a:extLst>
                </p:cNvPr>
                <p:cNvSpPr/>
                <p:nvPr/>
              </p:nvSpPr>
              <p:spPr>
                <a:xfrm>
                  <a:off x="7459714" y="2825191"/>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9" name="Oval 78">
                  <a:extLst>
                    <a:ext uri="{FF2B5EF4-FFF2-40B4-BE49-F238E27FC236}">
                      <a16:creationId xmlns:a16="http://schemas.microsoft.com/office/drawing/2014/main" id="{6184891C-D265-0036-CD15-25EB2DED0D51}"/>
                    </a:ext>
                  </a:extLst>
                </p:cNvPr>
                <p:cNvSpPr/>
                <p:nvPr/>
              </p:nvSpPr>
              <p:spPr>
                <a:xfrm>
                  <a:off x="3776182"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0" name="Oval 79">
                  <a:extLst>
                    <a:ext uri="{FF2B5EF4-FFF2-40B4-BE49-F238E27FC236}">
                      <a16:creationId xmlns:a16="http://schemas.microsoft.com/office/drawing/2014/main" id="{B7FEC953-32D3-9B82-9D81-2B131684BEB8}"/>
                    </a:ext>
                  </a:extLst>
                </p:cNvPr>
                <p:cNvSpPr/>
                <p:nvPr/>
              </p:nvSpPr>
              <p:spPr>
                <a:xfrm>
                  <a:off x="4515436"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1" name="Oval 80">
                  <a:extLst>
                    <a:ext uri="{FF2B5EF4-FFF2-40B4-BE49-F238E27FC236}">
                      <a16:creationId xmlns:a16="http://schemas.microsoft.com/office/drawing/2014/main" id="{BED69B9D-7A0A-5380-5C9D-0F68AEA39CF6}"/>
                    </a:ext>
                  </a:extLst>
                </p:cNvPr>
                <p:cNvSpPr/>
                <p:nvPr/>
              </p:nvSpPr>
              <p:spPr>
                <a:xfrm>
                  <a:off x="5254690" y="3521365"/>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2" name="Oval 81">
                  <a:extLst>
                    <a:ext uri="{FF2B5EF4-FFF2-40B4-BE49-F238E27FC236}">
                      <a16:creationId xmlns:a16="http://schemas.microsoft.com/office/drawing/2014/main" id="{3CEF44CB-3B53-7BC3-2A3D-D17ACA2C7BE6}"/>
                    </a:ext>
                  </a:extLst>
                </p:cNvPr>
                <p:cNvSpPr/>
                <p:nvPr/>
              </p:nvSpPr>
              <p:spPr>
                <a:xfrm>
                  <a:off x="5981206"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3" name="Oval 82">
                  <a:extLst>
                    <a:ext uri="{FF2B5EF4-FFF2-40B4-BE49-F238E27FC236}">
                      <a16:creationId xmlns:a16="http://schemas.microsoft.com/office/drawing/2014/main" id="{EBE44C6C-13A7-7BE9-5F37-9117D3C6D545}"/>
                    </a:ext>
                  </a:extLst>
                </p:cNvPr>
                <p:cNvSpPr/>
                <p:nvPr/>
              </p:nvSpPr>
              <p:spPr>
                <a:xfrm>
                  <a:off x="6720460" y="3521366"/>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4" name="Oval 83">
                  <a:extLst>
                    <a:ext uri="{FF2B5EF4-FFF2-40B4-BE49-F238E27FC236}">
                      <a16:creationId xmlns:a16="http://schemas.microsoft.com/office/drawing/2014/main" id="{6E9A04AA-0CDB-D9EE-0944-00A86C4E64F8}"/>
                    </a:ext>
                  </a:extLst>
                </p:cNvPr>
                <p:cNvSpPr/>
                <p:nvPr/>
              </p:nvSpPr>
              <p:spPr>
                <a:xfrm>
                  <a:off x="7459714" y="3521365"/>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5" name="Oval 84">
                  <a:extLst>
                    <a:ext uri="{FF2B5EF4-FFF2-40B4-BE49-F238E27FC236}">
                      <a16:creationId xmlns:a16="http://schemas.microsoft.com/office/drawing/2014/main" id="{E86838E3-C6D9-F9A5-B21A-7240976FC6B6}"/>
                    </a:ext>
                  </a:extLst>
                </p:cNvPr>
                <p:cNvSpPr/>
                <p:nvPr/>
              </p:nvSpPr>
              <p:spPr>
                <a:xfrm>
                  <a:off x="3819959"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6" name="Oval 85">
                  <a:extLst>
                    <a:ext uri="{FF2B5EF4-FFF2-40B4-BE49-F238E27FC236}">
                      <a16:creationId xmlns:a16="http://schemas.microsoft.com/office/drawing/2014/main" id="{4AAF42C5-8E77-AB7E-02A5-34B0B2EFAF25}"/>
                    </a:ext>
                  </a:extLst>
                </p:cNvPr>
                <p:cNvSpPr/>
                <p:nvPr/>
              </p:nvSpPr>
              <p:spPr>
                <a:xfrm>
                  <a:off x="4515436"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7" name="Oval 86">
                  <a:extLst>
                    <a:ext uri="{FF2B5EF4-FFF2-40B4-BE49-F238E27FC236}">
                      <a16:creationId xmlns:a16="http://schemas.microsoft.com/office/drawing/2014/main" id="{78BFCD53-D351-0AEC-A3F2-460943291AAA}"/>
                    </a:ext>
                  </a:extLst>
                </p:cNvPr>
                <p:cNvSpPr/>
                <p:nvPr/>
              </p:nvSpPr>
              <p:spPr>
                <a:xfrm>
                  <a:off x="5254690" y="4217538"/>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8" name="Oval 87">
                  <a:extLst>
                    <a:ext uri="{FF2B5EF4-FFF2-40B4-BE49-F238E27FC236}">
                      <a16:creationId xmlns:a16="http://schemas.microsoft.com/office/drawing/2014/main" id="{B11CDD39-7BDF-F4FD-8C49-E6523C3E43E1}"/>
                    </a:ext>
                  </a:extLst>
                </p:cNvPr>
                <p:cNvSpPr/>
                <p:nvPr/>
              </p:nvSpPr>
              <p:spPr>
                <a:xfrm>
                  <a:off x="5981206"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9" name="Oval 88">
                  <a:extLst>
                    <a:ext uri="{FF2B5EF4-FFF2-40B4-BE49-F238E27FC236}">
                      <a16:creationId xmlns:a16="http://schemas.microsoft.com/office/drawing/2014/main" id="{EEE408C0-E45D-386F-0315-A86F5C40DD2C}"/>
                    </a:ext>
                  </a:extLst>
                </p:cNvPr>
                <p:cNvSpPr/>
                <p:nvPr/>
              </p:nvSpPr>
              <p:spPr>
                <a:xfrm>
                  <a:off x="6720460" y="4217539"/>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0" name="Oval 89">
                  <a:extLst>
                    <a:ext uri="{FF2B5EF4-FFF2-40B4-BE49-F238E27FC236}">
                      <a16:creationId xmlns:a16="http://schemas.microsoft.com/office/drawing/2014/main" id="{DCDDE1F0-9132-1D50-543B-BB260F5F6112}"/>
                    </a:ext>
                  </a:extLst>
                </p:cNvPr>
                <p:cNvSpPr/>
                <p:nvPr/>
              </p:nvSpPr>
              <p:spPr>
                <a:xfrm>
                  <a:off x="7459714" y="4217538"/>
                  <a:ext cx="586854" cy="603913"/>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9" name="Oval 58">
                <a:extLst>
                  <a:ext uri="{FF2B5EF4-FFF2-40B4-BE49-F238E27FC236}">
                    <a16:creationId xmlns:a16="http://schemas.microsoft.com/office/drawing/2014/main" id="{39D76325-548D-5B15-7B4B-954D083F7993}"/>
                  </a:ext>
                </a:extLst>
              </p:cNvPr>
              <p:cNvSpPr/>
              <p:nvPr/>
            </p:nvSpPr>
            <p:spPr>
              <a:xfrm>
                <a:off x="6700424" y="1941187"/>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Oval 59">
                <a:extLst>
                  <a:ext uri="{FF2B5EF4-FFF2-40B4-BE49-F238E27FC236}">
                    <a16:creationId xmlns:a16="http://schemas.microsoft.com/office/drawing/2014/main" id="{1652DF8D-71FD-8D03-9D69-5E3B94015B2B}"/>
                  </a:ext>
                </a:extLst>
              </p:cNvPr>
              <p:cNvSpPr/>
              <p:nvPr/>
            </p:nvSpPr>
            <p:spPr>
              <a:xfrm>
                <a:off x="7291827" y="1941186"/>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Oval 60">
                <a:extLst>
                  <a:ext uri="{FF2B5EF4-FFF2-40B4-BE49-F238E27FC236}">
                    <a16:creationId xmlns:a16="http://schemas.microsoft.com/office/drawing/2014/main" id="{26BF830B-3E2C-29FC-A1EC-206CF0895238}"/>
                  </a:ext>
                </a:extLst>
              </p:cNvPr>
              <p:cNvSpPr/>
              <p:nvPr/>
            </p:nvSpPr>
            <p:spPr>
              <a:xfrm>
                <a:off x="6700424" y="2492555"/>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2" name="Oval 61">
                <a:extLst>
                  <a:ext uri="{FF2B5EF4-FFF2-40B4-BE49-F238E27FC236}">
                    <a16:creationId xmlns:a16="http://schemas.microsoft.com/office/drawing/2014/main" id="{F498B819-9310-6DDC-911F-875ACA8FDBF4}"/>
                  </a:ext>
                </a:extLst>
              </p:cNvPr>
              <p:cNvSpPr/>
              <p:nvPr/>
            </p:nvSpPr>
            <p:spPr>
              <a:xfrm>
                <a:off x="7291827" y="2492554"/>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3" name="Oval 62">
                <a:extLst>
                  <a:ext uri="{FF2B5EF4-FFF2-40B4-BE49-F238E27FC236}">
                    <a16:creationId xmlns:a16="http://schemas.microsoft.com/office/drawing/2014/main" id="{68926780-3A0F-1C80-C375-D78D1C4A52E0}"/>
                  </a:ext>
                </a:extLst>
              </p:cNvPr>
              <p:cNvSpPr/>
              <p:nvPr/>
            </p:nvSpPr>
            <p:spPr>
              <a:xfrm>
                <a:off x="6700424" y="3049493"/>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4" name="Oval 63">
                <a:extLst>
                  <a:ext uri="{FF2B5EF4-FFF2-40B4-BE49-F238E27FC236}">
                    <a16:creationId xmlns:a16="http://schemas.microsoft.com/office/drawing/2014/main" id="{47CBCD82-4F13-74D5-5093-F23BC5ADC41C}"/>
                  </a:ext>
                </a:extLst>
              </p:cNvPr>
              <p:cNvSpPr/>
              <p:nvPr/>
            </p:nvSpPr>
            <p:spPr>
              <a:xfrm>
                <a:off x="7291827" y="3049493"/>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5" name="Oval 64">
                <a:extLst>
                  <a:ext uri="{FF2B5EF4-FFF2-40B4-BE49-F238E27FC236}">
                    <a16:creationId xmlns:a16="http://schemas.microsoft.com/office/drawing/2014/main" id="{40A614FA-17AE-4284-B068-D287C0C46688}"/>
                  </a:ext>
                </a:extLst>
              </p:cNvPr>
              <p:cNvSpPr/>
              <p:nvPr/>
            </p:nvSpPr>
            <p:spPr>
              <a:xfrm>
                <a:off x="6700424" y="3606431"/>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6" name="Oval 65">
                <a:extLst>
                  <a:ext uri="{FF2B5EF4-FFF2-40B4-BE49-F238E27FC236}">
                    <a16:creationId xmlns:a16="http://schemas.microsoft.com/office/drawing/2014/main" id="{70682EC1-E41D-883F-52A3-826412F39D48}"/>
                  </a:ext>
                </a:extLst>
              </p:cNvPr>
              <p:cNvSpPr/>
              <p:nvPr/>
            </p:nvSpPr>
            <p:spPr>
              <a:xfrm>
                <a:off x="7291827" y="3606430"/>
                <a:ext cx="469483" cy="483130"/>
              </a:xfrm>
              <a:prstGeom prst="ellipse">
                <a:avLst/>
              </a:prstGeom>
              <a:grp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a:t>
            </a:r>
            <a:r>
              <a:rPr lang="en-AU">
                <a:highlight>
                  <a:srgbClr val="FFFCFC"/>
                </a:highlight>
              </a:rPr>
              <a:t>response </a:t>
            </a:r>
            <a:r>
              <a:rPr lang="en-AU">
                <a:solidFill>
                  <a:schemeClr val="bg1"/>
                </a:solidFill>
                <a:highlight>
                  <a:srgbClr val="FFFCFC"/>
                </a:highlight>
              </a:rPr>
              <a:t>55</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EA1CDCC-6B4B-ED55-41A5-FFE261996809}"/>
              </a:ext>
            </a:extLst>
          </p:cNvPr>
          <p:cNvSpPr txBox="1"/>
          <p:nvPr/>
        </p:nvSpPr>
        <p:spPr>
          <a:xfrm>
            <a:off x="360000" y="1025925"/>
            <a:ext cx="11484000" cy="5472075"/>
          </a:xfrm>
          <a:prstGeom prst="rect">
            <a:avLst/>
          </a:prstGeom>
          <a:noFill/>
        </p:spPr>
        <p:txBody>
          <a:bodyPr wrap="square">
            <a:spAutoFit/>
          </a:bodyPr>
          <a:lstStyle/>
          <a:p>
            <a:pPr algn="ctr">
              <a:lnSpc>
                <a:spcPct val="150000"/>
              </a:lnSpc>
              <a:spcBef>
                <a:spcPts val="1200"/>
              </a:spcBef>
              <a:spcAft>
                <a:spcPts val="600"/>
              </a:spcAft>
            </a:pPr>
            <a:r>
              <a:rPr lang="en-AU" sz="4400" b="1" dirty="0"/>
              <a:t>Record</a:t>
            </a:r>
            <a:r>
              <a:rPr lang="en-AU" sz="4400" dirty="0"/>
              <a:t> the times in </a:t>
            </a:r>
            <a:r>
              <a:rPr lang="en-AU" sz="4400" b="1" dirty="0"/>
              <a:t>digital</a:t>
            </a:r>
            <a:r>
              <a:rPr lang="en-AU" sz="4400" dirty="0"/>
              <a:t> notation using </a:t>
            </a:r>
            <a:r>
              <a:rPr lang="en-AU" sz="4400" b="1" dirty="0"/>
              <a:t>am</a:t>
            </a:r>
            <a:r>
              <a:rPr lang="en-AU" sz="4400" dirty="0"/>
              <a:t> or </a:t>
            </a:r>
            <a:r>
              <a:rPr lang="en-AU" sz="4400" b="1" dirty="0"/>
              <a:t>pm</a:t>
            </a:r>
            <a:r>
              <a:rPr lang="en-AU" sz="4400" dirty="0"/>
              <a:t>:</a:t>
            </a:r>
          </a:p>
          <a:p>
            <a:pPr marL="742950" indent="-742950">
              <a:lnSpc>
                <a:spcPct val="150000"/>
              </a:lnSpc>
              <a:spcBef>
                <a:spcPts val="1200"/>
              </a:spcBef>
              <a:spcAft>
                <a:spcPts val="600"/>
              </a:spcAft>
              <a:buFont typeface="+mj-lt"/>
              <a:buAutoNum type="alphaLcParenR"/>
            </a:pPr>
            <a:r>
              <a:rPr lang="en-AU" sz="4000"/>
              <a:t>20 past 10 in the morning</a:t>
            </a:r>
          </a:p>
          <a:p>
            <a:pPr marL="742950" indent="-742950">
              <a:lnSpc>
                <a:spcPct val="150000"/>
              </a:lnSpc>
              <a:spcBef>
                <a:spcPts val="1200"/>
              </a:spcBef>
              <a:spcAft>
                <a:spcPts val="600"/>
              </a:spcAft>
              <a:buFont typeface="+mj-lt"/>
              <a:buAutoNum type="alphaLcParenR"/>
            </a:pPr>
            <a:r>
              <a:rPr lang="en-AU" sz="4000"/>
              <a:t>quarter-to 5 in the afternoon</a:t>
            </a:r>
          </a:p>
          <a:p>
            <a:pPr marL="742950" indent="-742950">
              <a:lnSpc>
                <a:spcPct val="150000"/>
              </a:lnSpc>
              <a:spcBef>
                <a:spcPts val="1200"/>
              </a:spcBef>
              <a:spcAft>
                <a:spcPts val="600"/>
              </a:spcAft>
              <a:buFont typeface="+mj-lt"/>
              <a:buAutoNum type="alphaLcParenR"/>
            </a:pPr>
            <a:r>
              <a:rPr lang="en-AU" sz="4000"/>
              <a:t>10 minutes to 7 in the evening</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highlight>
                  <a:srgbClr val="FFFCFC"/>
                </a:highlight>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5" name="TextBox 4">
            <a:extLst>
              <a:ext uri="{FF2B5EF4-FFF2-40B4-BE49-F238E27FC236}">
                <a16:creationId xmlns:a16="http://schemas.microsoft.com/office/drawing/2014/main" id="{D3E47B35-19A0-3D25-536E-8F5475CEB0BF}"/>
              </a:ext>
            </a:extLst>
          </p:cNvPr>
          <p:cNvSpPr txBox="1"/>
          <p:nvPr/>
        </p:nvSpPr>
        <p:spPr>
          <a:xfrm>
            <a:off x="503850" y="1104254"/>
            <a:ext cx="11184300" cy="4594912"/>
          </a:xfrm>
          <a:prstGeom prst="rect">
            <a:avLst/>
          </a:prstGeom>
          <a:noFill/>
        </p:spPr>
        <p:txBody>
          <a:bodyPr wrap="square">
            <a:spAutoFit/>
          </a:bodyPr>
          <a:lstStyle/>
          <a:p>
            <a:pPr algn="ctr" rtl="0">
              <a:lnSpc>
                <a:spcPct val="150000"/>
              </a:lnSpc>
              <a:buNone/>
            </a:pPr>
            <a:r>
              <a:rPr lang="en-AU" sz="4000" b="1" i="0">
                <a:effectLst/>
              </a:rPr>
              <a:t>Identify and record</a:t>
            </a:r>
            <a:r>
              <a:rPr lang="en-AU" sz="4000" i="0">
                <a:effectLst/>
              </a:rPr>
              <a:t> which measurements on the pencil case refer to the:</a:t>
            </a:r>
          </a:p>
          <a:p>
            <a:pPr marL="571500" indent="-571500" rtl="0">
              <a:lnSpc>
                <a:spcPct val="150000"/>
              </a:lnSpc>
              <a:buFont typeface="Wingdings" panose="05000000000000000000" pitchFamily="2" charset="2"/>
              <a:buChar char="§"/>
            </a:pPr>
            <a:r>
              <a:rPr lang="en-AU" sz="4000"/>
              <a:t>l</a:t>
            </a:r>
            <a:r>
              <a:rPr lang="en-AU" sz="4000" i="0">
                <a:effectLst/>
              </a:rPr>
              <a:t>ength</a:t>
            </a:r>
            <a:endParaRPr lang="en-AU" sz="4000"/>
          </a:p>
          <a:p>
            <a:pPr marL="571500" indent="-571500" rtl="0">
              <a:lnSpc>
                <a:spcPct val="150000"/>
              </a:lnSpc>
              <a:buFont typeface="Wingdings" panose="05000000000000000000" pitchFamily="2" charset="2"/>
              <a:buChar char="§"/>
            </a:pPr>
            <a:r>
              <a:rPr lang="en-AU" sz="4000" i="0">
                <a:effectLst/>
              </a:rPr>
              <a:t>width </a:t>
            </a:r>
          </a:p>
          <a:p>
            <a:pPr marL="571500" indent="-571500" rtl="0">
              <a:lnSpc>
                <a:spcPct val="150000"/>
              </a:lnSpc>
              <a:buFont typeface="Wingdings" panose="05000000000000000000" pitchFamily="2" charset="2"/>
              <a:buChar char="§"/>
            </a:pPr>
            <a:r>
              <a:rPr lang="en-AU" sz="4000"/>
              <a:t>h</a:t>
            </a:r>
            <a:r>
              <a:rPr lang="en-AU" sz="4000" i="0">
                <a:effectLst/>
              </a:rPr>
              <a:t>eight</a:t>
            </a:r>
          </a:p>
        </p:txBody>
      </p:sp>
      <p:pic>
        <p:nvPicPr>
          <p:cNvPr id="9" name="Picture 8" descr="Photograph of a yellow rectangular pencil case with two zippered compartments, shown with dimensions labelled as 25 cm, 15 cm and 20 cm The pencil case features a textured band around its middle and a metal zipper pull.">
            <a:extLst>
              <a:ext uri="{FF2B5EF4-FFF2-40B4-BE49-F238E27FC236}">
                <a16:creationId xmlns:a16="http://schemas.microsoft.com/office/drawing/2014/main" id="{B495E2D0-3E17-7789-C49C-E97C1ED5A510}"/>
              </a:ext>
            </a:extLst>
          </p:cNvPr>
          <p:cNvPicPr>
            <a:picLocks noChangeAspect="1"/>
          </p:cNvPicPr>
          <p:nvPr/>
        </p:nvPicPr>
        <p:blipFill>
          <a:blip r:embed="rId4">
            <a:extLst>
              <a:ext uri="{28A0092B-C50C-407E-A947-70E740481C1C}">
                <a14:useLocalDpi xmlns:a14="http://schemas.microsoft.com/office/drawing/2010/main" val="0"/>
              </a:ext>
            </a:extLst>
          </a:blip>
          <a:srcRect l="29097" t="20536" r="-874" b="12463"/>
          <a:stretch>
            <a:fillRect/>
          </a:stretch>
        </p:blipFill>
        <p:spPr>
          <a:xfrm>
            <a:off x="5543634" y="3087074"/>
            <a:ext cx="5223832" cy="3447623"/>
          </a:xfrm>
          <a:prstGeom prst="rect">
            <a:avLst/>
          </a:prstGeom>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using estimation for addition and subtraction involving money 2</a:t>
            </a:r>
            <a:br>
              <a:rPr lang="en-AU" b="1"/>
            </a:br>
            <a:endParaRPr lang="en-AU"/>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3" name="TextBox 2">
            <a:extLst>
              <a:ext uri="{FF2B5EF4-FFF2-40B4-BE49-F238E27FC236}">
                <a16:creationId xmlns:a16="http://schemas.microsoft.com/office/drawing/2014/main" id="{808AD127-5589-576E-B5A7-BFF775BE3648}"/>
              </a:ext>
            </a:extLst>
          </p:cNvPr>
          <p:cNvSpPr txBox="1"/>
          <p:nvPr/>
        </p:nvSpPr>
        <p:spPr>
          <a:xfrm>
            <a:off x="567350" y="1759086"/>
            <a:ext cx="11057300" cy="1508918"/>
          </a:xfrm>
          <a:prstGeom prst="rect">
            <a:avLst/>
          </a:prstGeom>
          <a:solidFill>
            <a:schemeClr val="accent4"/>
          </a:solidFill>
          <a:ln>
            <a:solidFill>
              <a:schemeClr val="accent1"/>
            </a:solidFill>
          </a:ln>
          <a:effectLst/>
        </p:spPr>
        <p:style>
          <a:lnRef idx="2">
            <a:schemeClr val="dk1"/>
          </a:lnRef>
          <a:fillRef idx="1">
            <a:schemeClr val="lt1"/>
          </a:fillRef>
          <a:effectRef idx="0">
            <a:schemeClr val="dk1"/>
          </a:effectRef>
          <a:fontRef idx="minor">
            <a:schemeClr val="dk1"/>
          </a:fontRef>
        </p:style>
        <p:txBody>
          <a:bodyPr wrap="square" lIns="180000" tIns="0" rIns="0" bIns="0" rtlCol="0" anchor="t">
            <a:noAutofit/>
          </a:bodyPr>
          <a:lstStyle/>
          <a:p>
            <a:pPr lvl="0" algn="ctr">
              <a:lnSpc>
                <a:spcPct val="150000"/>
              </a:lnSpc>
            </a:pPr>
            <a:r>
              <a:rPr lang="en-AU" sz="3200">
                <a:solidFill>
                  <a:schemeClr val="tx1"/>
                </a:solidFill>
                <a:latin typeface="Arial" panose="020B0604020202020204" pitchFamily="34" charset="0"/>
                <a:cs typeface="Arial" panose="020B0604020202020204" pitchFamily="34" charset="0"/>
              </a:rPr>
              <a:t>I bought a sandwich for $3.80, a drink for $2.20, and a snack for $1.95. I estimate the total to be $20.00. </a:t>
            </a:r>
          </a:p>
        </p:txBody>
      </p:sp>
      <p:sp>
        <p:nvSpPr>
          <p:cNvPr id="7" name="TextBox 6">
            <a:extLst>
              <a:ext uri="{FF2B5EF4-FFF2-40B4-BE49-F238E27FC236}">
                <a16:creationId xmlns:a16="http://schemas.microsoft.com/office/drawing/2014/main" id="{BF525421-10DB-8273-F322-91457BF9175D}"/>
              </a:ext>
            </a:extLst>
          </p:cNvPr>
          <p:cNvSpPr txBox="1"/>
          <p:nvPr/>
        </p:nvSpPr>
        <p:spPr>
          <a:xfrm>
            <a:off x="742949" y="3929832"/>
            <a:ext cx="10931525" cy="1478418"/>
          </a:xfrm>
          <a:prstGeom prst="rect">
            <a:avLst/>
          </a:prstGeom>
          <a:noFill/>
        </p:spPr>
        <p:txBody>
          <a:bodyPr wrap="square">
            <a:spAutoFit/>
          </a:bodyPr>
          <a:lstStyle/>
          <a:p>
            <a:pPr marL="457200" lvl="0" indent="-45720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Without calculating exactly, is $20 a ‘</a:t>
            </a:r>
            <a:r>
              <a:rPr lang="en-AU" sz="3200" b="1" kern="1200">
                <a:solidFill>
                  <a:schemeClr val="tx1"/>
                </a:solidFill>
                <a:effectLst/>
                <a:latin typeface="Arial" panose="020B0604020202020204" pitchFamily="34" charset="0"/>
                <a:ea typeface="+mn-ea"/>
                <a:cs typeface="Arial" panose="020B0604020202020204" pitchFamily="34" charset="0"/>
              </a:rPr>
              <a:t>good estimate</a:t>
            </a:r>
            <a:r>
              <a:rPr lang="en-AU" sz="3200" kern="1200">
                <a:solidFill>
                  <a:schemeClr val="tx1"/>
                </a:solidFill>
                <a:effectLst/>
                <a:latin typeface="Arial" panose="020B0604020202020204" pitchFamily="34" charset="0"/>
                <a:ea typeface="+mn-ea"/>
                <a:cs typeface="Arial" panose="020B0604020202020204" pitchFamily="34" charset="0"/>
              </a:rPr>
              <a:t>’?</a:t>
            </a:r>
          </a:p>
          <a:p>
            <a:pPr marL="457200" lvl="0" indent="-45720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How could we </a:t>
            </a:r>
            <a:r>
              <a:rPr lang="en-AU" sz="3200" b="1" kern="1200">
                <a:solidFill>
                  <a:schemeClr val="tx1"/>
                </a:solidFill>
                <a:effectLst/>
                <a:latin typeface="Arial" panose="020B0604020202020204" pitchFamily="34" charset="0"/>
                <a:ea typeface="+mn-ea"/>
                <a:cs typeface="Arial" panose="020B0604020202020204" pitchFamily="34" charset="0"/>
              </a:rPr>
              <a:t>estimate</a:t>
            </a:r>
            <a:r>
              <a:rPr lang="en-AU" sz="3200" kern="1200">
                <a:solidFill>
                  <a:schemeClr val="tx1"/>
                </a:solidFill>
                <a:effectLst/>
                <a:latin typeface="Arial" panose="020B0604020202020204" pitchFamily="34" charset="0"/>
                <a:ea typeface="+mn-ea"/>
                <a:cs typeface="Arial" panose="020B0604020202020204" pitchFamily="34" charset="0"/>
              </a:rPr>
              <a:t> </a:t>
            </a:r>
            <a:r>
              <a:rPr lang="en-AU" sz="3200" b="1" kern="1200">
                <a:solidFill>
                  <a:schemeClr val="tx1"/>
                </a:solidFill>
                <a:effectLst/>
                <a:latin typeface="Arial" panose="020B0604020202020204" pitchFamily="34" charset="0"/>
                <a:ea typeface="+mn-ea"/>
                <a:cs typeface="Arial" panose="020B0604020202020204" pitchFamily="34" charset="0"/>
              </a:rPr>
              <a:t>to</a:t>
            </a:r>
            <a:r>
              <a:rPr lang="en-AU" sz="3200" kern="1200">
                <a:solidFill>
                  <a:schemeClr val="tx1"/>
                </a:solidFill>
                <a:effectLst/>
                <a:latin typeface="Arial" panose="020B0604020202020204" pitchFamily="34" charset="0"/>
                <a:ea typeface="+mn-ea"/>
                <a:cs typeface="Arial" panose="020B0604020202020204" pitchFamily="34" charset="0"/>
              </a:rPr>
              <a:t> </a:t>
            </a:r>
            <a:r>
              <a:rPr lang="en-AU" sz="3200" b="1" kern="1200">
                <a:solidFill>
                  <a:schemeClr val="tx1"/>
                </a:solidFill>
                <a:effectLst/>
                <a:latin typeface="Arial" panose="020B0604020202020204" pitchFamily="34" charset="0"/>
                <a:ea typeface="+mn-ea"/>
                <a:cs typeface="Arial" panose="020B0604020202020204" pitchFamily="34" charset="0"/>
              </a:rPr>
              <a:t>check</a:t>
            </a:r>
            <a:r>
              <a:rPr lang="en-AU" sz="3200" kern="1200">
                <a:solidFill>
                  <a:schemeClr val="tx1"/>
                </a:solidFill>
                <a:effectLst/>
                <a:latin typeface="Arial" panose="020B0604020202020204" pitchFamily="34" charset="0"/>
                <a:ea typeface="+mn-ea"/>
                <a:cs typeface="Arial" panose="020B0604020202020204" pitchFamily="34" charset="0"/>
              </a:rPr>
              <a:t>?</a:t>
            </a:r>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1 April 2026) and was not modified.</a:t>
            </a:r>
          </a:p>
          <a:p>
            <a:r>
              <a:rPr lang="en-AU" err="1"/>
              <a:t>Boaler</a:t>
            </a:r>
            <a:r>
              <a:rPr lang="en-AU"/>
              <a:t> J, Munson J, Williams C (2017) </a:t>
            </a:r>
            <a:r>
              <a:rPr lang="en-AU" i="1"/>
              <a:t>Mindset Mathematics: Visualizing and Investigating Big Ideas, Grade 3</a:t>
            </a:r>
            <a:r>
              <a:rPr lang="en-AU"/>
              <a:t>,</a:t>
            </a:r>
            <a:r>
              <a:rPr lang="en-AU" i="1"/>
              <a:t> </a:t>
            </a:r>
            <a:r>
              <a:rPr lang="en-AU"/>
              <a:t>Jossey-Bass: San Francisco. </a:t>
            </a:r>
          </a:p>
          <a:p>
            <a:r>
              <a:rPr lang="en-AU"/>
              <a:t>——(2017) </a:t>
            </a:r>
            <a:r>
              <a:rPr lang="en-AU" i="1"/>
              <a:t>Mindset Mathematics: Visualizing and Investigating Big Ideas, Grade 4, </a:t>
            </a:r>
            <a:r>
              <a:rPr lang="en-AU"/>
              <a:t>Jossey-Bass: San Francisco.</a:t>
            </a:r>
          </a:p>
          <a:p>
            <a:r>
              <a:rPr lang="en-AU"/>
              <a:t>Siemon D, Warren E, Beswick K, Faragher R, Miller J, Horne M, </a:t>
            </a:r>
            <a:r>
              <a:rPr lang="en-AU" err="1"/>
              <a:t>Jazby</a:t>
            </a:r>
            <a:r>
              <a:rPr lang="en-AU"/>
              <a:t> D, Breed M, Clark J and Brady K (2020) </a:t>
            </a:r>
            <a:r>
              <a:rPr lang="en-AU" i="1"/>
              <a:t>Teaching Mathematics: Foundations to Middle Years</a:t>
            </a:r>
            <a:r>
              <a:rPr lang="en-AU"/>
              <a:t>, 3rd </a:t>
            </a:r>
            <a:r>
              <a:rPr lang="en-AU" err="1"/>
              <a:t>edn</a:t>
            </a:r>
            <a:r>
              <a:rPr lang="en-AU"/>
              <a:t>, Oxford University Press Australia and New Zealand.</a:t>
            </a:r>
          </a:p>
          <a:p>
            <a:r>
              <a:rPr lang="en-AU"/>
              <a:t>Van de Walle J, Karp K, Bay-Williams J M, Brass A, Bentley B, Ferguson S, Goff W, Livy S, Marshman M, Martin D, Pearn C, </a:t>
            </a:r>
            <a:r>
              <a:rPr lang="en-AU" err="1"/>
              <a:t>Prodromou</a:t>
            </a:r>
            <a:r>
              <a:rPr lang="en-AU"/>
              <a:t> T, Symons D and Wilkie K (2019) </a:t>
            </a:r>
            <a:r>
              <a:rPr lang="en-AU" i="1"/>
              <a:t>Primary and Middle Years Mathematics: Teaching Developmentally</a:t>
            </a:r>
            <a:r>
              <a:rPr lang="en-AU"/>
              <a:t>, 1st Australian </a:t>
            </a:r>
            <a:r>
              <a:rPr lang="en-AU" err="1"/>
              <a:t>edn</a:t>
            </a:r>
            <a:r>
              <a:rPr lang="en-AU"/>
              <a:t>, Pearson Education Australia, Melbourne.</a:t>
            </a:r>
          </a:p>
          <a:p>
            <a:br>
              <a:rPr lang="en-AU"/>
            </a:br>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5CDC0B63-BA59-4530-BBC5-B61EB017A840}"/>
</file>

<file path=customXml/itemProps3.xml><?xml version="1.0" encoding="utf-8"?>
<ds:datastoreItem xmlns:ds="http://schemas.openxmlformats.org/officeDocument/2006/customXml" ds:itemID="{CE555570-2BD4-426B-AA32-0A79CB6508A8}">
  <ds:schemaRefs>
    <ds:schemaRef ds:uri="http://schemas.microsoft.com/office/2006/documentManagement/types"/>
    <ds:schemaRef ds:uri="http://purl.org/dc/dcmitype/"/>
    <ds:schemaRef ds:uri="http://schemas.openxmlformats.org/package/2006/metadata/core-properties"/>
    <ds:schemaRef ds:uri="http://purl.org/dc/elements/1.1/"/>
    <ds:schemaRef ds:uri="http://www.w3.org/XML/1998/namespace"/>
    <ds:schemaRef ds:uri="http://schemas.microsoft.com/office/2006/metadata/properties"/>
    <ds:schemaRef ds:uri="http://purl.org/dc/terms/"/>
    <ds:schemaRef ds:uri="http://schemas.microsoft.com/office/infopath/2007/PartnerControls"/>
    <ds:schemaRef ds:uri="60129b06-f64b-40a8-96e2-c5b2f86112b1"/>
    <ds:schemaRef ds:uri="7e763d47-3c66-4c58-9425-1477fd3ccd1e"/>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1</TotalTime>
  <Words>6425</Words>
  <Application>Microsoft Office PowerPoint</Application>
  <PresentationFormat>Widescreen</PresentationFormat>
  <Paragraphs>851</Paragraphs>
  <Slides>68</Slides>
  <Notes>68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68</vt:i4>
      </vt:variant>
    </vt:vector>
  </HeadingPairs>
  <TitlesOfParts>
    <vt:vector size="79" baseType="lpstr">
      <vt:lpstr>Calibri</vt:lpstr>
      <vt:lpstr>Edu NSW ACT Foundation</vt:lpstr>
      <vt:lpstr>Public Sans Bold</vt:lpstr>
      <vt:lpstr>Public Sans</vt:lpstr>
      <vt:lpstr>Montserrat</vt:lpstr>
      <vt:lpstr>Arial</vt:lpstr>
      <vt:lpstr>Times New Roman</vt:lpstr>
      <vt:lpstr>Public Sans Light</vt:lpstr>
      <vt:lpstr>Wingdings</vt:lpstr>
      <vt:lpstr>Cambria Math</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commutative property</vt:lpstr>
      <vt:lpstr>Review of learning 2</vt:lpstr>
      <vt:lpstr>True or false (1)</vt:lpstr>
      <vt:lpstr>Short response (5)</vt:lpstr>
      <vt:lpstr>Short response (6)</vt:lpstr>
      <vt:lpstr>Short response (7)</vt:lpstr>
      <vt:lpstr>Short response (8)</vt:lpstr>
      <vt:lpstr>Activity 2 – multiplication fact families</vt:lpstr>
      <vt:lpstr>Review of learning 3</vt:lpstr>
      <vt:lpstr>Multiple choice (2)</vt:lpstr>
      <vt:lpstr>Short response (9)</vt:lpstr>
      <vt:lpstr>Short response (10)</vt:lpstr>
      <vt:lpstr>Short response (11)</vt:lpstr>
      <vt:lpstr>Short response (12)</vt:lpstr>
      <vt:lpstr>Activity 3 – flexible partitioning within multiplication 1</vt:lpstr>
      <vt:lpstr>Review of learning 4</vt:lpstr>
      <vt:lpstr>True or false (2)</vt:lpstr>
      <vt:lpstr>Short response (13)</vt:lpstr>
      <vt:lpstr>Short response (14)</vt:lpstr>
      <vt:lpstr>Short response (15)</vt:lpstr>
      <vt:lpstr>Short response (16)</vt:lpstr>
      <vt:lpstr>Activity 4 – flexible partitioning with multiplication 2</vt:lpstr>
      <vt:lpstr>Review of learning 5</vt:lpstr>
      <vt:lpstr>Multiple choice (3)</vt:lpstr>
      <vt:lpstr>Short response (17)</vt:lpstr>
      <vt:lpstr>Short response (18)</vt:lpstr>
      <vt:lpstr>Short response (19)</vt:lpstr>
      <vt:lpstr>Short response (20)</vt:lpstr>
      <vt:lpstr>Activity 5 – problem solving with money 1</vt:lpstr>
      <vt:lpstr>Review of learning 6</vt:lpstr>
      <vt:lpstr>True or false (3)</vt:lpstr>
      <vt:lpstr>Short response (21)</vt:lpstr>
      <vt:lpstr>Short response (22)</vt:lpstr>
      <vt:lpstr>Short response (23)</vt:lpstr>
      <vt:lpstr>Short response (24)</vt:lpstr>
      <vt:lpstr>Activity 6 – problem solving with money 2</vt:lpstr>
      <vt:lpstr>Review of learning 7</vt:lpstr>
      <vt:lpstr>Multiple choice (4)</vt:lpstr>
      <vt:lpstr>Short response (25)</vt:lpstr>
      <vt:lpstr>Short response (26)</vt:lpstr>
      <vt:lpstr>Short response (27)</vt:lpstr>
      <vt:lpstr>Short response (51)</vt:lpstr>
      <vt:lpstr>Activity 7 – using estimation for addition and subtraction involving money 1</vt:lpstr>
      <vt:lpstr>Review of learning 8</vt:lpstr>
      <vt:lpstr>True or false (4)</vt:lpstr>
      <vt:lpstr>Short response (29)</vt:lpstr>
      <vt:lpstr>Short response (30)</vt:lpstr>
      <vt:lpstr>Short response 55</vt:lpstr>
      <vt:lpstr>Short response (32)</vt:lpstr>
      <vt:lpstr>Activity 8 – using estimation for addition and subtraction involving money 2 </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2026-05-03T21:45:54Z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