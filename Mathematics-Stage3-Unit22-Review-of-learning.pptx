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comments/modernComment_678B_983C3696.xml" ContentType="application/vnd.ms-powerpoint.comments+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6"/>
  </p:notesMasterIdLst>
  <p:handoutMasterIdLst>
    <p:handoutMasterId r:id="rId77"/>
  </p:handoutMasterIdLst>
  <p:sldIdLst>
    <p:sldId id="365" r:id="rId5"/>
    <p:sldId id="26579" r:id="rId6"/>
    <p:sldId id="26359" r:id="rId7"/>
    <p:sldId id="271" r:id="rId8"/>
    <p:sldId id="26578" r:id="rId9"/>
    <p:sldId id="358" r:id="rId10"/>
    <p:sldId id="26580" r:id="rId11"/>
    <p:sldId id="26581" r:id="rId12"/>
    <p:sldId id="26582" r:id="rId13"/>
    <p:sldId id="26576" r:id="rId14"/>
    <p:sldId id="26583" r:id="rId15"/>
    <p:sldId id="26586" r:id="rId16"/>
    <p:sldId id="26587" r:id="rId17"/>
    <p:sldId id="26588" r:id="rId18"/>
    <p:sldId id="26654" r:id="rId19"/>
    <p:sldId id="26590" r:id="rId20"/>
    <p:sldId id="26591" r:id="rId21"/>
    <p:sldId id="26592" r:id="rId22"/>
    <p:sldId id="26594" r:id="rId23"/>
    <p:sldId id="26596" r:id="rId24"/>
    <p:sldId id="26597" r:id="rId25"/>
    <p:sldId id="26625" r:id="rId26"/>
    <p:sldId id="26599" r:id="rId27"/>
    <p:sldId id="26651" r:id="rId28"/>
    <p:sldId id="26600" r:id="rId29"/>
    <p:sldId id="26601" r:id="rId30"/>
    <p:sldId id="26604" r:id="rId31"/>
    <p:sldId id="26605" r:id="rId32"/>
    <p:sldId id="26606" r:id="rId33"/>
    <p:sldId id="26607" r:id="rId34"/>
    <p:sldId id="26608" r:id="rId35"/>
    <p:sldId id="26609" r:id="rId36"/>
    <p:sldId id="26610" r:id="rId37"/>
    <p:sldId id="26611" r:id="rId38"/>
    <p:sldId id="26623" r:id="rId39"/>
    <p:sldId id="26615" r:id="rId40"/>
    <p:sldId id="26616" r:id="rId41"/>
    <p:sldId id="26617" r:id="rId42"/>
    <p:sldId id="26653" r:id="rId43"/>
    <p:sldId id="26619" r:id="rId44"/>
    <p:sldId id="26622" r:id="rId45"/>
    <p:sldId id="26648" r:id="rId46"/>
    <p:sldId id="26624" r:id="rId47"/>
    <p:sldId id="26649" r:id="rId48"/>
    <p:sldId id="26626" r:id="rId49"/>
    <p:sldId id="26646" r:id="rId50"/>
    <p:sldId id="26628" r:id="rId51"/>
    <p:sldId id="26629" r:id="rId52"/>
    <p:sldId id="26632" r:id="rId53"/>
    <p:sldId id="26635" r:id="rId54"/>
    <p:sldId id="26634" r:id="rId55"/>
    <p:sldId id="26644" r:id="rId56"/>
    <p:sldId id="26636" r:id="rId57"/>
    <p:sldId id="26637" r:id="rId58"/>
    <p:sldId id="26640" r:id="rId59"/>
    <p:sldId id="26641" r:id="rId60"/>
    <p:sldId id="26652" r:id="rId61"/>
    <p:sldId id="26643" r:id="rId62"/>
    <p:sldId id="26633" r:id="rId63"/>
    <p:sldId id="26650" r:id="rId64"/>
    <p:sldId id="26393" r:id="rId65"/>
    <p:sldId id="26387" r:id="rId66"/>
    <p:sldId id="26395" r:id="rId67"/>
    <p:sldId id="26391" r:id="rId68"/>
    <p:sldId id="26402" r:id="rId69"/>
    <p:sldId id="26507" r:id="rId70"/>
    <p:sldId id="26510" r:id="rId71"/>
    <p:sldId id="360" r:id="rId72"/>
    <p:sldId id="26459" r:id="rId73"/>
    <p:sldId id="26584" r:id="rId74"/>
    <p:sldId id="361" r:id="rId75"/>
  </p:sldIdLst>
  <p:sldSz cx="12192000" cy="6858000"/>
  <p:notesSz cx="6858000" cy="9144000"/>
  <p:embeddedFontLst>
    <p:embeddedFont>
      <p:font typeface="Edu NSW ACT Foundation" panose="020B0604020202020204" charset="0"/>
      <p:regular r:id="rId78"/>
      <p:bold r:id="rId79"/>
    </p:embeddedFont>
    <p:embeddedFont>
      <p:font typeface="Montserrat" panose="00000500000000000000" pitchFamily="2" charset="0"/>
      <p:regular r:id="rId80"/>
      <p:bold r:id="rId81"/>
      <p:italic r:id="rId82"/>
      <p:boldItalic r:id="rId83"/>
    </p:embeddedFont>
    <p:embeddedFont>
      <p:font typeface="Public Sans" pitchFamily="2" charset="0"/>
      <p:regular r:id="rId84"/>
      <p:bold r:id="rId85"/>
      <p:italic r:id="rId86"/>
      <p:boldItalic r:id="rId87"/>
    </p:embeddedFont>
    <p:embeddedFont>
      <p:font typeface="Public Sans Light" pitchFamily="2" charset="0"/>
      <p:regular r:id="rId88"/>
      <p:italic r:id="rId89"/>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79"/>
            <p14:sldId id="26359"/>
          </p14:sldIdLst>
        </p14:section>
        <p14:section name="Review of learning 1" id="{4B1EDACC-5006-43DF-9D93-DE177A158796}">
          <p14:sldIdLst>
            <p14:sldId id="271"/>
            <p14:sldId id="26578"/>
            <p14:sldId id="358"/>
            <p14:sldId id="26580"/>
            <p14:sldId id="26581"/>
            <p14:sldId id="26582"/>
            <p14:sldId id="26576"/>
          </p14:sldIdLst>
        </p14:section>
        <p14:section name="Review of learning 2" id="{0AC6BBCB-7E49-46CE-B777-EFCDD4B60F91}">
          <p14:sldIdLst>
            <p14:sldId id="26583"/>
            <p14:sldId id="26586"/>
            <p14:sldId id="26587"/>
            <p14:sldId id="26588"/>
            <p14:sldId id="26654"/>
            <p14:sldId id="26590"/>
            <p14:sldId id="26591"/>
          </p14:sldIdLst>
        </p14:section>
        <p14:section name="Review of learning 3" id="{6F5E1C19-5255-4FF7-A3CD-4549F7EF69B2}">
          <p14:sldIdLst>
            <p14:sldId id="26592"/>
            <p14:sldId id="26594"/>
            <p14:sldId id="26596"/>
            <p14:sldId id="26597"/>
            <p14:sldId id="26625"/>
            <p14:sldId id="26599"/>
            <p14:sldId id="26651"/>
            <p14:sldId id="26600"/>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11"/>
            <p14:sldId id="26623"/>
            <p14:sldId id="26615"/>
            <p14:sldId id="26616"/>
            <p14:sldId id="26617"/>
            <p14:sldId id="26653"/>
          </p14:sldIdLst>
        </p14:section>
        <p14:section name="Review of learning 6" id="{6721D3DC-F7BB-49CA-9E61-8454C104591D}">
          <p14:sldIdLst>
            <p14:sldId id="26619"/>
            <p14:sldId id="26622"/>
            <p14:sldId id="26648"/>
            <p14:sldId id="26624"/>
            <p14:sldId id="26649"/>
            <p14:sldId id="26626"/>
            <p14:sldId id="26646"/>
          </p14:sldIdLst>
        </p14:section>
        <p14:section name="Review of learning 7" id="{CF63834E-0BE9-495B-9761-037C836F185E}">
          <p14:sldIdLst>
            <p14:sldId id="26628"/>
            <p14:sldId id="26629"/>
            <p14:sldId id="26632"/>
            <p14:sldId id="26635"/>
            <p14:sldId id="26634"/>
            <p14:sldId id="26644"/>
            <p14:sldId id="26636"/>
          </p14:sldIdLst>
        </p14:section>
        <p14:section name="Review of learning 8" id="{6FF8F7EC-803E-4F84-BA41-6B3ED673D597}">
          <p14:sldIdLst>
            <p14:sldId id="26637"/>
            <p14:sldId id="26640"/>
            <p14:sldId id="26641"/>
            <p14:sldId id="26652"/>
            <p14:sldId id="26643"/>
            <p14:sldId id="26633"/>
            <p14:sldId id="26650"/>
          </p14:sldIdLst>
        </p14:section>
        <p14:section name="Assets" id="{ACCADEBA-79DB-4F18-8F19-E4DF86159DFB}">
          <p14:sldIdLst>
            <p14:sldId id="26393"/>
            <p14:sldId id="26387"/>
            <p14:sldId id="26395"/>
            <p14:sldId id="26391"/>
            <p14:sldId id="26402"/>
            <p14:sldId id="26507"/>
            <p14:sldId id="26510"/>
          </p14:sldIdLst>
        </p14:section>
        <p14:section name="References &amp; copyright" id="{DBC31484-F5F8-4CB1-8DB4-A562A9780899}">
          <p14:sldIdLst>
            <p14:sldId id="360"/>
            <p14:sldId id="26459"/>
            <p14:sldId id="26584"/>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5C30132E-288C-53FD-93C9-9EB835F45213}" name="Nichole Wood" initials="NW" userId="S::NICHOLE.DEMPSEY@det.nsw.edu.au::f4dd199f-85d5-4f2b-8bc1-8ba23649a9c2" providerId="AD"/>
  <p188:author id="{D8DB122F-4280-3FC8-FE78-CFD40A7156CF}" name="Nichole Wood" initials="NW" userId="S::nichole.dempsey@det.nsw.edu.au::f4dd199f-85d5-4f2b-8bc1-8ba23649a9c2" providerId="AD"/>
  <p188:author id="{1ED6684A-C670-1F56-1E53-1B296B435328}" name="Evelyn Plunkett" initials="EP" userId="S::EVELYN.LORENZ@det.nsw.edu.au::563cb6cc-61b5-4fff-a76a-5068b5b827dd" providerId="AD"/>
  <p188:author id="{117A025F-CECB-7403-D4EE-15F295013070}" name="Carolyn Matthews" initials="" userId="S::carolyn.matthews2@det.nsw.edu.au::7f53049a-bf0f-477a-aa49-60e3a8d71d98" providerId="AD"/>
  <p188:author id="{95D16B7D-CADB-F2BF-AC29-D680545C75EE}" name="Carrie Webeck" initials="CW" userId="S::CARRIE-ANN.WEBECK@det.nsw.edu.au::e5c4b697-ca15-4f3a-a906-1289ddc2fc07"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7D830"/>
    <a:srgbClr val="EA9B0C"/>
    <a:srgbClr val="007A8A"/>
    <a:srgbClr val="9B6808"/>
    <a:srgbClr val="427B2D"/>
    <a:srgbClr val="B51458"/>
    <a:srgbClr val="00ACC2"/>
    <a:srgbClr val="64BB47"/>
    <a:srgbClr val="EDF9E0"/>
    <a:srgbClr val="447F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811732-8362-4BA5-B1A6-BC575DEE4BDB}" v="35" dt="2025-10-24T03:04:42.452"/>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49391" autoAdjust="0"/>
  </p:normalViewPr>
  <p:slideViewPr>
    <p:cSldViewPr snapToGrid="0">
      <p:cViewPr varScale="1">
        <p:scale>
          <a:sx n="22" d="100"/>
          <a:sy n="22" d="100"/>
        </p:scale>
        <p:origin x="1116" y="20"/>
      </p:cViewPr>
      <p:guideLst>
        <p:guide orient="horz" pos="2160"/>
        <p:guide pos="3863"/>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7.fntdata"/><Relationship Id="rId89" Type="http://schemas.openxmlformats.org/officeDocument/2006/relationships/font" Target="fonts/font12.fntdata"/><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font" Target="fonts/font2.fntdata"/><Relationship Id="rId5" Type="http://schemas.openxmlformats.org/officeDocument/2006/relationships/slide" Target="slides/slide1.xml"/><Relationship Id="rId90" Type="http://schemas.openxmlformats.org/officeDocument/2006/relationships/presProps" Target="presProps.xml"/><Relationship Id="rId95" Type="http://schemas.microsoft.com/office/2018/10/relationships/authors" Target="author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3.fntdata"/><Relationship Id="rId85" Type="http://schemas.openxmlformats.org/officeDocument/2006/relationships/font" Target="fonts/font8.fntdata"/><Relationship Id="rId93"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font" Target="fonts/font6.fntdata"/><Relationship Id="rId88" Type="http://schemas.openxmlformats.org/officeDocument/2006/relationships/font" Target="fonts/font11.fntdata"/><Relationship Id="rId9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1.fntdata"/><Relationship Id="rId81" Type="http://schemas.openxmlformats.org/officeDocument/2006/relationships/font" Target="fonts/font4.fntdata"/><Relationship Id="rId86" Type="http://schemas.openxmlformats.org/officeDocument/2006/relationships/font" Target="fonts/font9.fntdata"/><Relationship Id="rId9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notesMaster" Target="notesMasters/notesMaster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theme" Target="theme/theme1.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0.fntdata"/><Relationship Id="rId61" Type="http://schemas.openxmlformats.org/officeDocument/2006/relationships/slide" Target="slides/slide57.xml"/><Relationship Id="rId82" Type="http://schemas.openxmlformats.org/officeDocument/2006/relationships/font" Target="fonts/font5.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handoutMaster" Target="handoutMasters/handoutMaster1.xml"/></Relationships>
</file>

<file path=ppt/comments/modernComment_678B_983C3696.xml><?xml version="1.0" encoding="utf-8"?>
<p188:cmLst xmlns:a="http://schemas.openxmlformats.org/drawingml/2006/main" xmlns:r="http://schemas.openxmlformats.org/officeDocument/2006/relationships" xmlns:p188="http://schemas.microsoft.com/office/powerpoint/2018/8/main">
  <p188:cm id="{5C35840E-C56D-40CD-AD4A-82FE68E211EA}" authorId="{FD7747EE-57F8-CAC5-7CAF-C637FBE93789}" created="2025-10-23T01:26:18.964">
    <ac:txMkLst xmlns:ac="http://schemas.microsoft.com/office/drawing/2013/main/command">
      <pc:docMk xmlns:pc="http://schemas.microsoft.com/office/powerpoint/2013/main/command"/>
      <pc:sldMk xmlns:pc="http://schemas.microsoft.com/office/powerpoint/2013/main/command" cId="2554082966" sldId="26507"/>
      <ac:spMk id="3" creationId="{D9B1D917-5F10-1C03-2F91-16B7D7CFBF35}"/>
      <ac:txMk cp="16" len="3">
        <ac:context len="20" hash="1770819690"/>
      </ac:txMk>
    </ac:txMkLst>
    <p188:pos x="3740945" y="221891"/>
    <p188:txBody>
      <a:bodyPr/>
      <a:lstStyle/>
      <a:p>
        <a:r>
          <a:rPr lang="en-AU"/>
          <a:t>Adjust to hide the numbers on this and the next slide</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27/10/2025</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27/10/2025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F867-63A5-8257-BEB3-843826CE3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17174D-A127-D2D1-8FE8-6EBA54B31E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BCA833-D850-EA3F-9C4C-3C098CC50AFD}"/>
              </a:ext>
            </a:extLst>
          </p:cNvPr>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t>Stage 3 Year A Unit 22</a:t>
            </a:r>
          </a:p>
          <a:p>
            <a:pPr marL="285750" indent="-285750">
              <a:buFont typeface="Arial" panose="020B0604020202020204" pitchFamily="34" charset="0"/>
              <a:buChar char="•"/>
            </a:pPr>
            <a:r>
              <a:rPr lang="en-AU"/>
              <a:t>Stage 3 Year A Unit 21</a:t>
            </a:r>
          </a:p>
          <a:p>
            <a:pPr marL="285750" indent="-285750">
              <a:buFont typeface="Arial" panose="020B0604020202020204" pitchFamily="34" charset="0"/>
              <a:buChar char="•"/>
            </a:pPr>
            <a:r>
              <a:rPr lang="en-AU"/>
              <a:t>Stage 3 Year A Unit 20</a:t>
            </a:r>
          </a:p>
          <a:p>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a:extLst>
              <a:ext uri="{FF2B5EF4-FFF2-40B4-BE49-F238E27FC236}">
                <a16:creationId xmlns:a16="http://schemas.microsoft.com/office/drawing/2014/main" id="{1361D661-6FF4-E1A2-B877-7DA266521710}"/>
              </a:ext>
            </a:extLst>
          </p:cNvPr>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331428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numbers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AD8F1-B663-3F40-07A2-C014D8EB5B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045E08-15DA-0856-A514-FAF9EC64CB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0C8C4-7957-6426-57E3-FED49065047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b="0" i="0" kern="1200">
                <a:solidFill>
                  <a:schemeClr val="tx1"/>
                </a:solidFill>
                <a:effectLst/>
                <a:highlight>
                  <a:srgbClr val="FFFF00"/>
                </a:highlight>
                <a:latin typeface="Arial" panose="020B0604020202020204" pitchFamily="34" charset="0"/>
                <a:ea typeface="+mn-ea"/>
                <a:cs typeface="Arial" panose="020B0604020202020204" pitchFamily="34" charset="0"/>
              </a:rPr>
              <a:t>Additive relations A</a:t>
            </a:r>
            <a:endParaRPr lang="en-AU">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C4FD5696-9180-2B5B-47E9-EC0CAC013312}"/>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38915810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Represents numbers A: Whole numbers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Represents numbers B: Whole numbers: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Non-spatial measure B: Time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A</a:t>
            </a:r>
          </a:p>
          <a:p>
            <a:endParaRPr lang="en-AU"/>
          </a:p>
          <a:p>
            <a:r>
              <a:rPr lang="en-AU" b="1"/>
              <a:t>Rounding and estimation</a:t>
            </a:r>
          </a:p>
          <a:p>
            <a:endParaRPr lang="en-AU" sz="1600" b="1" kern="1200">
              <a:solidFill>
                <a:schemeClr val="tx1"/>
              </a:solidFill>
              <a:effectLst/>
              <a:latin typeface="Arial" panose="020B0604020202020204" pitchFamily="34" charset="0"/>
              <a:ea typeface="+mn-ea"/>
              <a:cs typeface="Arial" panose="020B0604020202020204" pitchFamily="34" charset="0"/>
            </a:endParaRPr>
          </a:p>
          <a:p>
            <a:pPr marL="34290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Ask students to estimate and determine which problems would be equivalent to 250. </a:t>
            </a:r>
          </a:p>
          <a:p>
            <a:pPr marL="34290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Select students to share their thinking and explore the ways they may have used the value of the digits to estimate. For example, rounding to 10 and using known facts    138 + 98 = 140 + 100 = 240</a:t>
            </a:r>
          </a:p>
          <a:p>
            <a:endParaRPr lang="en-AU" b="1"/>
          </a:p>
          <a:p>
            <a:endParaRPr lang="en-AU"/>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b="0" i="0" kern="1200">
                <a:solidFill>
                  <a:schemeClr val="tx1"/>
                </a:solidFill>
                <a:effectLst/>
                <a:latin typeface="Arial" panose="020B0604020202020204" pitchFamily="34" charset="0"/>
                <a:ea typeface="+mn-ea"/>
                <a:cs typeface="Arial" panose="020B0604020202020204" pitchFamily="34" charset="0"/>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Represents numbers A: Whole numbers: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29729-B8AC-6217-9BD3-FFF01FDD92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68F87F-61B8-6971-44DF-A72A08C7BD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E42850-5162-661C-04FE-3DC633D7295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Represents numbers B: Whole numbers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4F2018A-D083-F42C-CAFC-A5BD1964C0E5}"/>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421023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Geometric measure A: Position:</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A</a:t>
            </a:r>
          </a:p>
          <a:p>
            <a:endParaRPr lang="en-AU"/>
          </a:p>
          <a:p>
            <a:r>
              <a:rPr lang="en-AU" b="1"/>
              <a:t>Flexible strategies with 3-digit numbers</a:t>
            </a:r>
          </a:p>
          <a:p>
            <a:endParaRPr lang="en-AU" b="1"/>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‘Hit the target’ from </a:t>
            </a:r>
            <a:r>
              <a:rPr lang="en-AU" sz="1600" i="1" kern="1200">
                <a:solidFill>
                  <a:schemeClr val="tx1"/>
                </a:solidFill>
                <a:effectLst/>
                <a:latin typeface="Arial" panose="020B0604020202020204" pitchFamily="34" charset="0"/>
                <a:ea typeface="+mn-ea"/>
                <a:cs typeface="Arial" panose="020B0604020202020204" pitchFamily="34" charset="0"/>
              </a:rPr>
              <a:t>Part 3: Flexible strategies with 3-digit numbers</a:t>
            </a:r>
            <a:r>
              <a:rPr lang="en-AU" sz="1600" kern="1200">
                <a:solidFill>
                  <a:schemeClr val="tx1"/>
                </a:solidFill>
                <a:effectLst/>
                <a:latin typeface="Arial" panose="020B0604020202020204" pitchFamily="34" charset="0"/>
                <a:ea typeface="+mn-ea"/>
                <a:cs typeface="Arial" panose="020B0604020202020204" pitchFamily="34" charset="0"/>
              </a:rPr>
              <a:t> by State of New South Wales (Department of Education).</a:t>
            </a:r>
          </a:p>
          <a:p>
            <a:endParaRPr lang="en-AU" b="1"/>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Provide small groups of students with a whiteboard and a set of playing cards (Ace to 9) to represent numbers one to 9. Students shuffle the cards. The dealer turns over 3 cards to form a 3-digit number, which becomes the target number. The dealer deals 6 cards to each player, face up.</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Players arrange their cards to form two 3-digit numbers, or a combination of 3-, 2- and 1-digit numbers, which they can add or subtract to hit the target.</a:t>
            </a:r>
          </a:p>
          <a:p>
            <a:pPr marL="34290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The table below outlines stimulus prompts to generate conversation about the topic, along with anticipated responses from students.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record their estimations on individual whiteboards or paper.</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Model using a vertical algorithm for students to use as a strategy to check their answers and the student closest to the target wins the round and a point.</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Play continues for a few rounds.</a:t>
            </a:r>
          </a:p>
          <a:p>
            <a:pPr marL="342900" lvl="0" indent="-342900">
              <a:buFont typeface="+mj-lt"/>
              <a:buAutoNum type="arabicPeriod"/>
            </a:pPr>
            <a:endParaRPr lang="en-AU" sz="1600" kern="1200">
              <a:solidFill>
                <a:schemeClr val="tx1"/>
              </a:solidFill>
              <a:effectLst/>
              <a:latin typeface="Arial" panose="020B0604020202020204" pitchFamily="34" charset="0"/>
              <a:ea typeface="+mn-ea"/>
              <a:cs typeface="Arial" panose="020B0604020202020204" pitchFamily="34" charset="0"/>
            </a:endParaRPr>
          </a:p>
          <a:p>
            <a:pPr marL="0" lvl="0" indent="0">
              <a:buFont typeface="+mj-lt"/>
              <a:buNone/>
            </a:pPr>
            <a:r>
              <a:rPr lang="en-AU" sz="1600" b="1" kern="1200">
                <a:solidFill>
                  <a:schemeClr val="tx1"/>
                </a:solidFill>
                <a:effectLst/>
                <a:latin typeface="Arial" panose="020B0604020202020204" pitchFamily="34" charset="0"/>
                <a:ea typeface="+mn-ea"/>
                <a:cs typeface="Arial" panose="020B0604020202020204" pitchFamily="34" charset="0"/>
              </a:rPr>
              <a:t>Prompts</a:t>
            </a:r>
          </a:p>
          <a:p>
            <a:pPr marL="342900" marR="0" lvl="0" indent="-34290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600" kern="1200">
                <a:solidFill>
                  <a:schemeClr val="tx1"/>
                </a:solidFill>
                <a:effectLst/>
                <a:latin typeface="Arial" panose="020B0604020202020204" pitchFamily="34" charset="0"/>
                <a:ea typeface="+mn-ea"/>
                <a:cs typeface="Arial" panose="020B0604020202020204" pitchFamily="34" charset="0"/>
              </a:rPr>
              <a:t>How can you use estimation to help solve the problem if the target number is 473 and your cards are 6, 1, 2, 3, 9 and 3?</a:t>
            </a:r>
          </a:p>
          <a:p>
            <a:pPr marL="0" marR="0" lvl="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AU" sz="1600" b="1" kern="1200">
              <a:solidFill>
                <a:schemeClr val="tx1"/>
              </a:solidFill>
              <a:effectLst/>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a:pPr>
            <a:r>
              <a:rPr lang="en-AU" sz="1600" b="1" kern="1200">
                <a:solidFill>
                  <a:schemeClr val="tx1"/>
                </a:solidFill>
                <a:effectLst/>
                <a:latin typeface="Arial" panose="020B0604020202020204" pitchFamily="34" charset="0"/>
                <a:ea typeface="+mn-ea"/>
                <a:cs typeface="Arial" panose="020B0604020202020204" pitchFamily="34" charset="0"/>
              </a:rPr>
              <a:t>Anticipated student responses</a:t>
            </a:r>
          </a:p>
          <a:p>
            <a:pPr marL="342900" marR="0" lvl="0" indent="-34290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600" kern="1200">
                <a:solidFill>
                  <a:schemeClr val="tx1"/>
                </a:solidFill>
                <a:effectLst/>
                <a:latin typeface="Arial" panose="020B0604020202020204" pitchFamily="34" charset="0"/>
                <a:ea typeface="+mn-ea"/>
                <a:cs typeface="Arial" panose="020B0604020202020204" pitchFamily="34" charset="0"/>
              </a:rPr>
              <a:t>690 – 230 = 440 or 340 + 190 = 430</a:t>
            </a:r>
          </a:p>
          <a:p>
            <a:pPr marL="342900" marR="0" lvl="0" indent="-34290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AU" sz="1600" kern="1200">
              <a:solidFill>
                <a:schemeClr val="tx1"/>
              </a:solidFill>
              <a:effectLst/>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1" kern="1200">
                <a:solidFill>
                  <a:schemeClr val="tx1"/>
                </a:solidFill>
                <a:effectLst/>
                <a:latin typeface="Arial" panose="020B0604020202020204" pitchFamily="34" charset="0"/>
                <a:ea typeface="+mn-ea"/>
                <a:cs typeface="Arial" panose="020B0604020202020204" pitchFamily="34" charset="0"/>
              </a:rPr>
              <a:t>Prompts</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are some of the options you could have to get close to the target number?</a:t>
            </a:r>
          </a:p>
          <a:p>
            <a:endParaRPr lang="en-AU" sz="1600" kern="1200">
              <a:solidFill>
                <a:schemeClr val="tx1"/>
              </a:solidFill>
              <a:effectLst/>
              <a:latin typeface="Arial" panose="020B0604020202020204" pitchFamily="34" charset="0"/>
              <a:ea typeface="+mn-ea"/>
              <a:cs typeface="Arial" panose="020B0604020202020204" pitchFamily="34" charset="0"/>
            </a:endParaRPr>
          </a:p>
          <a:p>
            <a:r>
              <a:rPr lang="en-AU" sz="1600" b="1" kern="1200">
                <a:solidFill>
                  <a:schemeClr val="tx1"/>
                </a:solidFill>
                <a:effectLst/>
                <a:latin typeface="Arial" panose="020B0604020202020204" pitchFamily="34" charset="0"/>
                <a:ea typeface="+mn-ea"/>
                <a:cs typeface="Arial" panose="020B0604020202020204" pitchFamily="34" charset="0"/>
              </a:rPr>
              <a:t>Anticipated student responses</a:t>
            </a:r>
          </a:p>
          <a:p>
            <a:pPr marL="342900" marR="0" lvl="0" indent="-34290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600" kern="1200">
                <a:solidFill>
                  <a:schemeClr val="tx1"/>
                </a:solidFill>
                <a:effectLst/>
                <a:latin typeface="Arial" panose="020B0604020202020204" pitchFamily="34" charset="0"/>
                <a:ea typeface="+mn-ea"/>
                <a:cs typeface="Arial" panose="020B0604020202020204" pitchFamily="34" charset="0"/>
              </a:rPr>
              <a:t>693 – 231 = 462 or 339 + 126 = 465 or 393 + 62 + 1 = 456</a:t>
            </a:r>
          </a:p>
          <a:p>
            <a:pPr marL="342900" marR="0" lvl="0" indent="-34290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mj-lt"/>
              <a:buAutoNum type="arabicPeriod"/>
            </a:pPr>
            <a:endParaRPr lang="en-AU" sz="1600" kern="1200">
              <a:solidFill>
                <a:schemeClr val="tx1"/>
              </a:solidFill>
              <a:effectLst/>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kern="1200">
              <a:solidFill>
                <a:schemeClr val="tx1"/>
              </a:solidFill>
              <a:effectLst/>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kern="1200">
              <a:solidFill>
                <a:schemeClr val="tx1"/>
              </a:solidFill>
              <a:effectLst/>
              <a:latin typeface="Arial" panose="020B0604020202020204" pitchFamily="34" charset="0"/>
              <a:ea typeface="+mn-ea"/>
              <a:cs typeface="Arial" panose="020B0604020202020204" pitchFamily="34" charset="0"/>
            </a:endParaRP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85C9A-F7A1-EDFB-0833-0B47E7074B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68E27A-49D0-016C-27E9-F8CDFAEA83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175A8D-C34B-1861-8315-C4CE15124AE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b="0" i="0" kern="1200">
                <a:solidFill>
                  <a:schemeClr val="tx1"/>
                </a:solidFill>
                <a:effectLst/>
                <a:highlight>
                  <a:srgbClr val="FFFF00"/>
                </a:highlight>
                <a:latin typeface="Arial" panose="020B0604020202020204" pitchFamily="34" charset="0"/>
                <a:ea typeface="+mn-ea"/>
                <a:cs typeface="Arial" panose="020B0604020202020204" pitchFamily="34" charset="0"/>
              </a:rPr>
              <a:t>Additive relations A</a:t>
            </a:r>
            <a:endParaRPr lang="en-AU" sz="1600" i="0">
              <a:solidFill>
                <a:schemeClr val="tx1"/>
              </a:solidFill>
              <a:highlight>
                <a:srgbClr val="FFFF00"/>
              </a:highlight>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B2F7CC1-C4B8-8BA8-2D91-7EC995A48CCF}"/>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4436337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Represents Numbers A: Decimals and percentages: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Two- dimensional spatial structure A: 2D shapes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D6DE7-F58A-D682-D4B3-D9DCD72C81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D44D1B-F75F-1A22-C180-79764E8E85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905AE4-A583-C4C1-2049-4811FCAC969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A</a:t>
            </a:r>
          </a:p>
          <a:p>
            <a:endParaRPr lang="en-AU"/>
          </a:p>
          <a:p>
            <a:r>
              <a:rPr lang="en-AU" b="1"/>
              <a:t>Rounding large numbers</a:t>
            </a:r>
          </a:p>
          <a:p>
            <a:r>
              <a:rPr lang="en-AU" b="0"/>
              <a:t>This resource corresponds to Resource 21 – NRL crowds in Stage 3 Year B Unit 22. </a:t>
            </a:r>
          </a:p>
          <a:p>
            <a:endParaRPr lang="en-AU" b="1"/>
          </a:p>
          <a:p>
            <a:pPr marL="34290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Tell students they will be rounding to the nearest thousand to help answer the questions about the NRL crowds (see Figure 7).</a:t>
            </a:r>
          </a:p>
          <a:p>
            <a:pPr marL="34290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Provide pairs of students with their workbooks to answer the following questions:</a:t>
            </a:r>
          </a:p>
          <a:p>
            <a:pPr marL="285750" lvl="0" indent="-285750">
              <a:buFont typeface="Symbol" panose="05050102010706020507" pitchFamily="18" charset="2"/>
              <a:buChar char="-"/>
            </a:pPr>
            <a:r>
              <a:rPr lang="en-AU" sz="1600" kern="1200">
                <a:solidFill>
                  <a:schemeClr val="tx1"/>
                </a:solidFill>
                <a:effectLst/>
                <a:latin typeface="Arial" panose="020B0604020202020204" pitchFamily="34" charset="0"/>
                <a:ea typeface="+mn-ea"/>
                <a:cs typeface="Arial" panose="020B0604020202020204" pitchFamily="34" charset="0"/>
              </a:rPr>
              <a:t>What was the total number of spectators at your favourite NRL team’s game?</a:t>
            </a:r>
          </a:p>
          <a:p>
            <a:pPr marL="285750" lvl="0" indent="-285750">
              <a:buFont typeface="Symbol" panose="05050102010706020507" pitchFamily="18" charset="2"/>
              <a:buChar char="-"/>
            </a:pPr>
            <a:r>
              <a:rPr lang="en-AU" sz="1600" kern="1200">
                <a:solidFill>
                  <a:schemeClr val="tx1"/>
                </a:solidFill>
                <a:effectLst/>
                <a:latin typeface="Arial" panose="020B0604020202020204" pitchFamily="34" charset="0"/>
                <a:ea typeface="+mn-ea"/>
                <a:cs typeface="Arial" panose="020B0604020202020204" pitchFamily="34" charset="0"/>
              </a:rPr>
              <a:t>What was the total number of spectators at your least favourite NRL team’s game?</a:t>
            </a:r>
          </a:p>
          <a:p>
            <a:pPr marL="285750" lvl="0" indent="-285750">
              <a:buFont typeface="Symbol" panose="05050102010706020507" pitchFamily="18" charset="2"/>
              <a:buChar char="-"/>
            </a:pPr>
            <a:r>
              <a:rPr lang="en-AU" sz="1600" kern="1200">
                <a:solidFill>
                  <a:schemeClr val="tx1"/>
                </a:solidFill>
                <a:effectLst/>
                <a:latin typeface="Arial" panose="020B0604020202020204" pitchFamily="34" charset="0"/>
                <a:ea typeface="+mn-ea"/>
                <a:cs typeface="Arial" panose="020B0604020202020204" pitchFamily="34" charset="0"/>
              </a:rPr>
              <a:t>Which stadium had the most spectators attend in the month of June?</a:t>
            </a:r>
          </a:p>
          <a:p>
            <a:pPr marL="285750" lvl="0" indent="-285750">
              <a:buFont typeface="Symbol" panose="05050102010706020507" pitchFamily="18" charset="2"/>
              <a:buChar char="-"/>
            </a:pPr>
            <a:r>
              <a:rPr lang="en-AU" sz="1600" kern="1200">
                <a:solidFill>
                  <a:schemeClr val="tx1"/>
                </a:solidFill>
                <a:effectLst/>
                <a:latin typeface="Arial" panose="020B0604020202020204" pitchFamily="34" charset="0"/>
                <a:ea typeface="+mn-ea"/>
                <a:cs typeface="Arial" panose="020B0604020202020204" pitchFamily="34" charset="0"/>
              </a:rPr>
              <a:t>Which stadium had the least number of spectators visit in the month of June? How does it compare with the stadium that had the most?</a:t>
            </a:r>
          </a:p>
          <a:p>
            <a:pPr marL="285750" lvl="0" indent="-285750">
              <a:buFont typeface="Symbol" panose="05050102010706020507" pitchFamily="18" charset="2"/>
              <a:buChar char="-"/>
            </a:pPr>
            <a:r>
              <a:rPr lang="en-AU" sz="1600" kern="1200">
                <a:solidFill>
                  <a:schemeClr val="tx1"/>
                </a:solidFill>
                <a:effectLst/>
                <a:latin typeface="Arial" panose="020B0604020202020204" pitchFamily="34" charset="0"/>
                <a:ea typeface="+mn-ea"/>
                <a:cs typeface="Arial" panose="020B0604020202020204" pitchFamily="34" charset="0"/>
              </a:rPr>
              <a:t>Can you predict the crowd numbers for the next NRL game?</a:t>
            </a:r>
          </a:p>
          <a:p>
            <a:pPr marL="285750" lvl="0" indent="-285750">
              <a:buFont typeface="Symbol" panose="05050102010706020507" pitchFamily="18" charset="2"/>
              <a:buChar char="-"/>
            </a:pPr>
            <a:r>
              <a:rPr lang="en-AU" sz="1600" kern="1200">
                <a:solidFill>
                  <a:schemeClr val="tx1"/>
                </a:solidFill>
                <a:effectLst/>
                <a:latin typeface="Arial" panose="020B0604020202020204" pitchFamily="34" charset="0"/>
                <a:ea typeface="+mn-ea"/>
                <a:cs typeface="Arial" panose="020B0604020202020204" pitchFamily="34" charset="0"/>
              </a:rPr>
              <a:t>What game had more spectators than the June 12th long weekend game? How many more spectators were there?</a:t>
            </a:r>
          </a:p>
          <a:p>
            <a:pPr marL="285750" lvl="0" indent="-285750">
              <a:buFont typeface="Symbol" panose="05050102010706020507" pitchFamily="18" charset="2"/>
              <a:buChar char="-"/>
            </a:pPr>
            <a:r>
              <a:rPr lang="en-AU" sz="1600" kern="1200">
                <a:solidFill>
                  <a:schemeClr val="tx1"/>
                </a:solidFill>
                <a:effectLst/>
                <a:latin typeface="Arial" panose="020B0604020202020204" pitchFamily="34" charset="0"/>
                <a:ea typeface="+mn-ea"/>
                <a:cs typeface="Arial" panose="020B0604020202020204" pitchFamily="34" charset="0"/>
              </a:rPr>
              <a:t>What was the difference between the games with the most and least number of spectators?</a:t>
            </a:r>
          </a:p>
          <a:p>
            <a:pPr marL="285750" lvl="0" indent="-285750">
              <a:buFont typeface="Symbol" panose="05050102010706020507" pitchFamily="18" charset="2"/>
              <a:buChar char="-"/>
            </a:pPr>
            <a:r>
              <a:rPr lang="en-AU" sz="1600" kern="1200">
                <a:solidFill>
                  <a:schemeClr val="tx1"/>
                </a:solidFill>
                <a:effectLst/>
                <a:latin typeface="Arial" panose="020B0604020202020204" pitchFamily="34" charset="0"/>
                <a:ea typeface="+mn-ea"/>
                <a:cs typeface="Arial" panose="020B0604020202020204" pitchFamily="34" charset="0"/>
              </a:rPr>
              <a:t>How did you use estimating to help solve the problems?</a:t>
            </a:r>
          </a:p>
          <a:p>
            <a:pPr marL="285750" lvl="0" indent="-285750">
              <a:buFont typeface="Symbol" panose="05050102010706020507" pitchFamily="18" charset="2"/>
              <a:buChar char="-"/>
            </a:pPr>
            <a:r>
              <a:rPr lang="en-AU" sz="1600" kern="1200">
                <a:solidFill>
                  <a:schemeClr val="tx1"/>
                </a:solidFill>
                <a:effectLst/>
                <a:latin typeface="Arial" panose="020B0604020202020204" pitchFamily="34" charset="0"/>
                <a:ea typeface="+mn-ea"/>
                <a:cs typeface="Arial" panose="020B0604020202020204" pitchFamily="34" charset="0"/>
              </a:rPr>
              <a:t>What other information can you find using the NRL table?</a:t>
            </a:r>
          </a:p>
          <a:p>
            <a:endParaRPr lang="en-AU"/>
          </a:p>
        </p:txBody>
      </p:sp>
      <p:sp>
        <p:nvSpPr>
          <p:cNvPr id="4" name="Slide Number Placeholder 3">
            <a:extLst>
              <a:ext uri="{FF2B5EF4-FFF2-40B4-BE49-F238E27FC236}">
                <a16:creationId xmlns:a16="http://schemas.microsoft.com/office/drawing/2014/main" id="{A5BD2D3E-68C5-BEEF-2649-BC0F4CA9AEE3}"/>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1024587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A</a:t>
            </a:r>
          </a:p>
          <a:p>
            <a:endParaRPr lang="en-AU"/>
          </a:p>
          <a:p>
            <a:r>
              <a:rPr lang="en-AU" b="1"/>
              <a:t>Rounding large numbers</a:t>
            </a:r>
          </a:p>
          <a:p>
            <a:r>
              <a:rPr lang="en-AU" b="0"/>
              <a:t>This resource corresponds to Resource 21 – NRL crowds in Stage 3 Year B Unit 22. </a:t>
            </a:r>
          </a:p>
          <a:p>
            <a:endParaRPr lang="en-AU" b="1"/>
          </a:p>
          <a:p>
            <a:r>
              <a:rPr lang="en-AU" sz="1600" kern="1200">
                <a:solidFill>
                  <a:schemeClr val="tx1"/>
                </a:solidFill>
                <a:effectLst/>
                <a:latin typeface="Arial" panose="020B0604020202020204" pitchFamily="34" charset="0"/>
                <a:ea typeface="+mn-ea"/>
                <a:cs typeface="Arial" panose="020B0604020202020204" pitchFamily="34" charset="0"/>
              </a:rPr>
              <a:t> This slide is a continuation of questions.</a:t>
            </a:r>
            <a:endParaRPr lang="en-AU"/>
          </a:p>
          <a:p>
            <a:endParaRPr lang="en-AU"/>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b="0" i="0" kern="1200">
                <a:solidFill>
                  <a:schemeClr val="tx1"/>
                </a:solidFill>
                <a:effectLst/>
                <a:latin typeface="Arial" panose="020B0604020202020204" pitchFamily="34" charset="0"/>
                <a:ea typeface="+mn-ea"/>
                <a:cs typeface="Arial" panose="020B0604020202020204" pitchFamily="34" charset="0"/>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Represents Numbers A: Decimals and percentages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Geometric measure A: Angles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Additive relations A</a:t>
            </a:r>
          </a:p>
          <a:p>
            <a:endParaRPr lang="en-AU" dirty="0"/>
          </a:p>
          <a:p>
            <a:r>
              <a:rPr lang="en-AU" b="1" dirty="0"/>
              <a:t>5-digit number facts</a:t>
            </a:r>
          </a:p>
          <a:p>
            <a:endParaRPr lang="en-AU" b="1" dirty="0"/>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Students identify equations using two or more numbers that make a total of 25 356. For example, 12 678 + 12 678, 50 000 - 24 644, 6 000 + 7 500 + 8 200 + 3 656</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Record students’ equations around the number 25 356.  </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Check for understanding by asking students to explain why they chose those numbers and address any misconceptions.</a:t>
            </a:r>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E0400-E3D3-5DB9-3231-CF9D926D0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B1941-A7DF-1C2B-AF2A-1BD6E822F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D2D55-0375-2479-87D5-2C065D44191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Multiplicative relations A</a:t>
            </a:r>
          </a:p>
        </p:txBody>
      </p:sp>
      <p:sp>
        <p:nvSpPr>
          <p:cNvPr id="4" name="Slide Number Placeholder 3">
            <a:extLst>
              <a:ext uri="{FF2B5EF4-FFF2-40B4-BE49-F238E27FC236}">
                <a16:creationId xmlns:a16="http://schemas.microsoft.com/office/drawing/2014/main" id="{044AEEB2-E6E4-DE0F-D21D-574CB90AF6F6}"/>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318083491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Represents Numbers A: Decimals and percentages: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Represents Numbers B: Decimals and percentages: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Data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CF231-E1DB-197A-CEF6-2E45A22401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4E6DC1-82D2-0E45-92CD-E36715364E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947A6B-7569-6751-66EE-92B48BC767FF}"/>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Product target</a:t>
            </a:r>
          </a:p>
          <a:p>
            <a:r>
              <a:rPr lang="en-AU" b="0"/>
              <a:t>This resource corresponds to Resource 22 – recording sheet in Stage 3 Year B Unit 22. </a:t>
            </a:r>
          </a:p>
          <a:p>
            <a:endParaRPr lang="en-AU" b="1"/>
          </a:p>
          <a:p>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‘Target number’ from Part 3: Flexible strategies with multi-digit numbers by State of New South Wales</a:t>
            </a:r>
          </a:p>
          <a:p>
            <a:endParaRPr lang="en-AU"/>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In pairs, provide students with playing cards (Ace to 9) and Resource 22 – recording sheet.</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One student deals out 5 cards to each player and determines the 3-digit target number. </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Using their 5 cards, students form any 1-, 2-, or 3-digit number. </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Players find the product of 2 or more numbers, using addition and subtraction if needed, to get as close to the target number as possible. </a:t>
            </a:r>
          </a:p>
          <a:p>
            <a:pPr marL="342900" marR="0" lvl="0" indent="-342900" algn="l" defTabSz="1219170" rtl="0" eaLnBrk="1" fontAlgn="auto" latinLnBrk="0" hangingPunct="1">
              <a:lnSpc>
                <a:spcPct val="100000"/>
              </a:lnSpc>
              <a:spcBef>
                <a:spcPts val="0"/>
              </a:spcBef>
              <a:spcAft>
                <a:spcPts val="0"/>
              </a:spcAft>
              <a:buClrTx/>
              <a:buSzTx/>
              <a:buFont typeface="+mj-lt"/>
              <a:buAutoNum type="arabicPeriod"/>
              <a:tabLst/>
              <a:defRPr/>
            </a:pPr>
            <a:r>
              <a:rPr lang="en-AU" sz="1600" kern="1200">
                <a:solidFill>
                  <a:schemeClr val="tx1"/>
                </a:solidFill>
                <a:effectLst/>
                <a:latin typeface="Arial" panose="020B0604020202020204" pitchFamily="34" charset="0"/>
                <a:ea typeface="+mn-ea"/>
                <a:cs typeface="Arial" panose="020B0604020202020204" pitchFamily="34" charset="0"/>
              </a:rPr>
              <a:t>The total of each equation is then used for the next equation. Each card can only be used once, and not all cards need to be used.</a:t>
            </a:r>
            <a:endParaRPr lang="en-AU"/>
          </a:p>
        </p:txBody>
      </p:sp>
      <p:sp>
        <p:nvSpPr>
          <p:cNvPr id="4" name="Slide Number Placeholder 3">
            <a:extLst>
              <a:ext uri="{FF2B5EF4-FFF2-40B4-BE49-F238E27FC236}">
                <a16:creationId xmlns:a16="http://schemas.microsoft.com/office/drawing/2014/main" id="{45B59538-3815-DC75-2690-0E2FFE585D1E}"/>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3737412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Multiplicative relations A</a:t>
            </a: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7FB4A-07BE-FAB1-8B97-189BDBA599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246316-DDB7-C3D5-385B-2C821CB8EB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AF8145-4E0C-0F45-D68F-1F1E57FD349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numbers A: Decimals and percentages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D06DB50-68D1-5D0F-680C-3FEE6FDB6027}"/>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203059140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3BE2F-1ED8-4E7E-66C4-D6288F4011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E1E2B0-2143-5532-26BB-206D3D7369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DBDC14-BBFE-9E03-72A6-19B71BCD60D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Represents numbers B: Decimals and percentages: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DF78C40-74F6-51D3-24AB-CE7907AA71D1}"/>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361489438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Non- spatial measure B: Time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13894-A301-BA22-1464-66F3EE0A2B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3830C9-0DE5-3E34-EB55-48ACA9DD38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9893DC-1A99-0A0E-A421-20E40722AC73}"/>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Product and factors</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b="0"/>
              <a:t>This resource corresponds to Resource 22 – recording sheet in Stage 3 Year B Unit 22. </a:t>
            </a:r>
          </a:p>
          <a:p>
            <a:endParaRPr lang="en-AU" b="1"/>
          </a:p>
          <a:p>
            <a:r>
              <a:rPr lang="en-AU" sz="1600" kern="1200">
                <a:solidFill>
                  <a:schemeClr val="tx1"/>
                </a:solidFill>
                <a:effectLst/>
                <a:latin typeface="Arial" panose="020B0604020202020204" pitchFamily="34" charset="0"/>
                <a:ea typeface="+mn-ea"/>
                <a:cs typeface="Arial" panose="020B0604020202020204" pitchFamily="34" charset="0"/>
              </a:rPr>
              <a:t>This activity is an adaptation from </a:t>
            </a:r>
            <a:r>
              <a:rPr lang="en-AU" sz="1600" i="1" kern="1200">
                <a:solidFill>
                  <a:schemeClr val="tx1"/>
                </a:solidFill>
                <a:effectLst/>
                <a:latin typeface="Arial" panose="020B0604020202020204" pitchFamily="34" charset="0"/>
                <a:ea typeface="+mn-ea"/>
                <a:cs typeface="Arial" panose="020B0604020202020204" pitchFamily="34" charset="0"/>
              </a:rPr>
              <a:t>Math Games with Bad Drawings: 75 1/4 Simple, Challenging, Go-Anywhere Games -And Why They Matter</a:t>
            </a:r>
            <a:r>
              <a:rPr lang="en-AU" sz="1600" kern="1200">
                <a:solidFill>
                  <a:schemeClr val="tx1"/>
                </a:solidFill>
                <a:effectLst/>
                <a:latin typeface="Arial" panose="020B0604020202020204" pitchFamily="34" charset="0"/>
                <a:ea typeface="+mn-ea"/>
                <a:cs typeface="Arial" panose="020B0604020202020204" pitchFamily="34" charset="0"/>
              </a:rPr>
              <a:t> by Orlin.</a:t>
            </a:r>
          </a:p>
          <a:p>
            <a:endParaRPr lang="en-AU"/>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In pairs, provide students with two 6-sided dice and grid paper. The aim of the game is to fill as much of the grid as possible before the game is over.</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Each player rolls the 2 dice and multiply together to make a rectangle (area model). For example, if a student rolls a 4 and a 5, they must shade in a 4 by 5 rectangle anywhere on their grid. Players can shade a different way to show a whole number as a product. For example, 4 by 5 is 20, which can be represented by 2 by 10 or one by 20 on the grid. If the rectangle does not fit on the board, the player loses a turn. When both players lose their turn, one after the other, the game ends and whoever has more squares on their grid is the winner.</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If they wish, each player can play one rectangle on their opponent’s board instead of their own.</a:t>
            </a:r>
          </a:p>
          <a:p>
            <a:endParaRPr lang="en-AU"/>
          </a:p>
        </p:txBody>
      </p:sp>
      <p:sp>
        <p:nvSpPr>
          <p:cNvPr id="4" name="Slide Number Placeholder 3">
            <a:extLst>
              <a:ext uri="{FF2B5EF4-FFF2-40B4-BE49-F238E27FC236}">
                <a16:creationId xmlns:a16="http://schemas.microsoft.com/office/drawing/2014/main" id="{BCCC4DFC-8F00-D30E-7E1C-46B8EF2B0083}"/>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78569781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484B3-723C-5CDC-7F5D-72CC6FDB0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423710-6713-4F46-6DD4-00164B0B40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9BBF5B-C384-F7FB-63B0-B257445B7F9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Multiplicative relations A</a:t>
            </a:r>
          </a:p>
        </p:txBody>
      </p:sp>
      <p:sp>
        <p:nvSpPr>
          <p:cNvPr id="4" name="Slide Number Placeholder 3">
            <a:extLst>
              <a:ext uri="{FF2B5EF4-FFF2-40B4-BE49-F238E27FC236}">
                <a16:creationId xmlns:a16="http://schemas.microsoft.com/office/drawing/2014/main" id="{03A575D5-93F5-6245-6E0E-4824DF33EFBA}"/>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247198908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Represents Numbers A: Decimals and percentages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Data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Factors and multiples</a:t>
            </a:r>
          </a:p>
          <a:p>
            <a:r>
              <a:rPr lang="en-AU" b="0"/>
              <a:t>This resource corresponds to Resource 23 – 100 grid in Stage 3 Year B Unit 22. </a:t>
            </a:r>
          </a:p>
          <a:p>
            <a:endParaRPr lang="en-AU" b="0"/>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‘Factors and multiples game’ from NRICH by the University of Cambridge (Faculty of Mathematics)..</a:t>
            </a:r>
          </a:p>
          <a:p>
            <a:r>
              <a:rPr lang="en-AU" sz="1600" b="1" kern="1200">
                <a:solidFill>
                  <a:schemeClr val="tx1"/>
                </a:solidFill>
                <a:effectLst/>
                <a:latin typeface="Arial" panose="020B0604020202020204" pitchFamily="34" charset="0"/>
                <a:ea typeface="+mn-ea"/>
                <a:cs typeface="Arial" panose="020B0604020202020204" pitchFamily="34" charset="0"/>
              </a:rPr>
              <a:t>Factor</a:t>
            </a:r>
            <a:r>
              <a:rPr lang="en-AU" sz="1600" kern="1200">
                <a:solidFill>
                  <a:schemeClr val="tx1"/>
                </a:solidFill>
                <a:effectLst/>
                <a:latin typeface="Arial" panose="020B0604020202020204" pitchFamily="34" charset="0"/>
                <a:ea typeface="+mn-ea"/>
                <a:cs typeface="Arial" panose="020B0604020202020204" pitchFamily="34" charset="0"/>
              </a:rPr>
              <a:t>: a number that divides another number without a remainder. For example, 1, 2, 3 and 6 are factors of 6 but 4 and 5 are not.</a:t>
            </a:r>
          </a:p>
          <a:p>
            <a:r>
              <a:rPr lang="en-AU" sz="1600" b="1" kern="1200">
                <a:solidFill>
                  <a:schemeClr val="tx1"/>
                </a:solidFill>
                <a:effectLst/>
                <a:latin typeface="Arial" panose="020B0604020202020204" pitchFamily="34" charset="0"/>
                <a:ea typeface="+mn-ea"/>
                <a:cs typeface="Arial" panose="020B0604020202020204" pitchFamily="34" charset="0"/>
              </a:rPr>
              <a:t>Multiple</a:t>
            </a:r>
            <a:r>
              <a:rPr lang="en-AU" sz="1600" kern="1200">
                <a:solidFill>
                  <a:schemeClr val="tx1"/>
                </a:solidFill>
                <a:effectLst/>
                <a:latin typeface="Arial" panose="020B0604020202020204" pitchFamily="34" charset="0"/>
                <a:ea typeface="+mn-ea"/>
                <a:cs typeface="Arial" panose="020B0604020202020204" pitchFamily="34" charset="0"/>
              </a:rPr>
              <a:t>: products formed using the same base number multiplied by different whole numbers, for example, 3, 6, 9, 12 and so on.</a:t>
            </a:r>
          </a:p>
          <a:p>
            <a:pPr marL="342900" indent="-342900">
              <a:buFont typeface="+mj-lt"/>
              <a:buAutoNum type="arabicPeriod"/>
            </a:pPr>
            <a:endParaRPr lang="en-AU" b="1"/>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Provide pairs of students Resource 23 – 100 grid. The aim of the game is to try and make it a challenge for the other player to pick a number that works, that is a factor or multiple of the number given.</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Player A chooses an even number that is less than 50 and crosses it out on the grid. Player B chooses a number to cross out. The number must be a factor or multiple of the first number.</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Players continue to take it in turns to cross out numbers, at each stage choosing a number that is a factor or multiple of the number just crossed out by the other player. The first player who is unable to cross out a number ends the game.</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can play a few rounds of the game.</a:t>
            </a:r>
          </a:p>
          <a:p>
            <a:pPr marL="342900" indent="-342900">
              <a:buFont typeface="+mj-lt"/>
              <a:buAutoNum type="arabicPeriod"/>
            </a:pPr>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Multiplicative relations A</a:t>
            </a: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9BFA6-1C31-2660-316E-EA09A90F0F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DA4FF6-BA18-79A5-2083-A85A3805D7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EEA404-D4C8-C609-48B6-942715FE6D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Represents Numbers A: Decimals and percentages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F09EAB55-F280-0896-2A6A-554667CB640C}"/>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303008449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Data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C4E11-744D-949E-A77B-E2564D21F3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6E9E19-49AD-09A3-2C4E-3ABC645D04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C3C6A1-9E59-809B-8859-AB5EFCDB4A89}"/>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Multiplying numbers</a:t>
            </a:r>
          </a:p>
          <a:p>
            <a:r>
              <a:rPr lang="en-AU" b="0"/>
              <a:t>This resource corresponds to Resource 23 – 100 grid in Stage 3 Year B Unit 22. </a:t>
            </a:r>
          </a:p>
          <a:p>
            <a:endParaRPr lang="en-AU" b="1"/>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Provide pairs of students Resource 30 – 100 grid and two 0-9 dice.</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roll the dice to make a two-digit number. This number is a product. </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All factors of the two-digit product made are then crossed off the 100 grid.</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The aim is to have the least number of squares crossed out on the 100 grid after 4 rounds. Alternatively, the game can be adapted to cross out four-in-a-row.</a:t>
            </a:r>
          </a:p>
          <a:p>
            <a:pPr marL="0" indent="0">
              <a:buFont typeface="+mj-lt"/>
              <a:buNone/>
            </a:pPr>
            <a:endParaRPr lang="en-AU" sz="1600" kern="1200">
              <a:solidFill>
                <a:schemeClr val="tx1"/>
              </a:solidFill>
              <a:effectLst/>
              <a:latin typeface="Arial" panose="020B0604020202020204" pitchFamily="34" charset="0"/>
              <a:ea typeface="+mn-ea"/>
              <a:cs typeface="Arial" panose="020B0604020202020204" pitchFamily="34" charset="0"/>
            </a:endParaRPr>
          </a:p>
          <a:p>
            <a:endParaRPr lang="en-AU"/>
          </a:p>
        </p:txBody>
      </p:sp>
      <p:sp>
        <p:nvSpPr>
          <p:cNvPr id="4" name="Slide Number Placeholder 3">
            <a:extLst>
              <a:ext uri="{FF2B5EF4-FFF2-40B4-BE49-F238E27FC236}">
                <a16:creationId xmlns:a16="http://schemas.microsoft.com/office/drawing/2014/main" id="{1C8A664C-30E0-C9B0-4E3F-BB06D5CBC71F}"/>
              </a:ext>
            </a:extLst>
          </p:cNvPr>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57690482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403676514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169758017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71</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90107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50" r:id="rId13"/>
    <p:sldLayoutId id="2147483744" r:id="rId14"/>
    <p:sldLayoutId id="2147483755"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40.xml"/><Relationship Id="rId3" Type="http://schemas.openxmlformats.org/officeDocument/2006/relationships/slide" Target="slide4.xml"/><Relationship Id="rId7" Type="http://schemas.openxmlformats.org/officeDocument/2006/relationships/slide" Target="slide33.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6.xml"/><Relationship Id="rId5" Type="http://schemas.openxmlformats.org/officeDocument/2006/relationships/slide" Target="slide18.xml"/><Relationship Id="rId10" Type="http://schemas.openxmlformats.org/officeDocument/2006/relationships/slide" Target="slide54.xml"/><Relationship Id="rId4" Type="http://schemas.openxmlformats.org/officeDocument/2006/relationships/slide" Target="slide11.xml"/><Relationship Id="rId9" Type="http://schemas.openxmlformats.org/officeDocument/2006/relationships/slide" Target="slide4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6.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3.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5.xml"/><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9.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6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0.xml"/><Relationship Id="rId1" Type="http://schemas.openxmlformats.org/officeDocument/2006/relationships/slideLayout" Target="../slideLayouts/slideLayout4.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5.xml"/><Relationship Id="rId1" Type="http://schemas.openxmlformats.org/officeDocument/2006/relationships/slideLayout" Target="../slideLayouts/slideLayout11.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slide" Target="slide13.xml"/></Relationships>
</file>

<file path=ppt/slides/_rels/slide66.xml.rels><?xml version="1.0" encoding="UTF-8" standalone="yes"?>
<Relationships xmlns="http://schemas.openxmlformats.org/package/2006/relationships"><Relationship Id="rId3" Type="http://schemas.microsoft.com/office/2018/10/relationships/comments" Target="../comments/modernComment_678B_983C3696.xml"/><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8" Type="http://schemas.openxmlformats.org/officeDocument/2006/relationships/hyperlink" Target="https://curriculum.nsw.edu.au/learning-areas/mathematics/mathematics-k-10-2022/content/stage-3/faf843e1ab?show=advice" TargetMode="External"/><Relationship Id="rId3" Type="http://schemas.openxmlformats.org/officeDocument/2006/relationships/hyperlink" Target="https://educationstandards.nsw.edu.au/wps/portal/nesa/home" TargetMode="External"/><Relationship Id="rId7" Type="http://schemas.openxmlformats.org/officeDocument/2006/relationships/hyperlink" Target="https://curriculum.nsw.edu.au/learning-areas/mathematics/mathematics-k-10-2022/content/stage-3/fa87632ef7?show=advice" TargetMode="External"/><Relationship Id="rId2" Type="http://schemas.openxmlformats.org/officeDocument/2006/relationships/hyperlink" Target="https://educationstandards.nsw.edu.au/wps/portal/nesa/mini-footer/copyright" TargetMode="External"/><Relationship Id="rId1" Type="http://schemas.openxmlformats.org/officeDocument/2006/relationships/slideLayout" Target="../slideLayouts/slideLayout15.xml"/><Relationship Id="rId6" Type="http://schemas.openxmlformats.org/officeDocument/2006/relationships/hyperlink" Target="https://www.austadiums.com/sport/comp/nrl/results" TargetMode="External"/><Relationship Id="rId5" Type="http://schemas.openxmlformats.org/officeDocument/2006/relationships/hyperlink" Target="https://curriculum.nsw.edu.au/learning-areas/mathematics/mathematics-k-10-2022/overview" TargetMode="External"/><Relationship Id="rId4" Type="http://schemas.openxmlformats.org/officeDocument/2006/relationships/hyperlink" Target="https://curriculum.nsw.edu.au/" TargetMode="External"/></Relationships>
</file>

<file path=ppt/slides/_rels/slide69.xml.rels><?xml version="1.0" encoding="UTF-8" standalone="yes"?>
<Relationships xmlns="http://schemas.openxmlformats.org/package/2006/relationships"><Relationship Id="rId8" Type="http://schemas.openxmlformats.org/officeDocument/2006/relationships/hyperlink" Target="https://view.officeapps.live.com/op/view.aspx?src=https%3A%2F%2Fwww.primaryresources.co.uk%2Fmaths%2Fdocs%2Ftheme_park.doc&amp;wdOrigin=BROWSELINK"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apps.mathlearningcenter.org/number-line/" TargetMode="External"/><Relationship Id="rId2" Type="http://schemas.openxmlformats.org/officeDocument/2006/relationships/notesSlide" Target="../notesSlides/notesSlide68.xml"/><Relationship Id="rId1" Type="http://schemas.openxmlformats.org/officeDocument/2006/relationships/slideLayout" Target="../slideLayouts/slideLayout15.xml"/><Relationship Id="rId6" Type="http://schemas.openxmlformats.org/officeDocument/2006/relationships/hyperlink" Target="https://curriculum.nsw.edu.au/learning-areas/mathematics/mathematics-k-10-2022/content/stage-3/fa2ebf6217?show=advice" TargetMode="External"/><Relationship Id="rId11" Type="http://schemas.openxmlformats.org/officeDocument/2006/relationships/hyperlink" Target="https://education.nsw.gov.au/content/dam/main-education/en/home/teaching-and-learning/curriculum/literacy-and-numeracy/teaching-and-learning-resources/numeracy/flexible-strategies-multiplicative-part-3.pdf" TargetMode="External"/><Relationship Id="rId5" Type="http://schemas.openxmlformats.org/officeDocument/2006/relationships/hyperlink" Target="https://curriculum.nsw.edu.au/" TargetMode="External"/><Relationship Id="rId10" Type="http://schemas.openxmlformats.org/officeDocument/2006/relationships/hyperlink" Target="https://view.officeapps.live.com/op/view.aspx?src=https%3A%2F%2Feducation.nsw.gov.au%2Fcontent%2Fdam%2Fmain-education%2Fen%2Fhome%2Fteaching-and-learning%2Fcurriculum%2Fliteracy-and-numeracy%2Fteaching-and-learning-resources%2Fnumeracy%2Fflexible-strategies-additive-part-3.docx&amp;wdOrigin=BROWSELINK"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resources.education.nsw.gov.au/detail/A-58" TargetMode="External"/></Relationships>
</file>

<file path=ppt/slides/_rels/slide70.xml.rels><?xml version="1.0" encoding="UTF-8" standalone="yes"?>
<Relationships xmlns="http://schemas.openxmlformats.org/package/2006/relationships"><Relationship Id="rId3" Type="http://schemas.openxmlformats.org/officeDocument/2006/relationships/hyperlink" Target="https://educationstandards.nsw.edu.au/wps/portal/nesa/home" TargetMode="External"/><Relationship Id="rId2" Type="http://schemas.openxmlformats.org/officeDocument/2006/relationships/hyperlink" Target="https://educationstandards.nsw.edu.au/wps/portal/nesa/mini-footer/copyright" TargetMode="External"/><Relationship Id="rId1" Type="http://schemas.openxmlformats.org/officeDocument/2006/relationships/slideLayout" Target="../slideLayouts/slideLayout15.xml"/><Relationship Id="rId6" Type="http://schemas.openxmlformats.org/officeDocument/2006/relationships/hyperlink" Target="https://nrich.maths.org/factorsandmultiples" TargetMode="External"/><Relationship Id="rId5" Type="http://schemas.openxmlformats.org/officeDocument/2006/relationships/hyperlink" Target="https://reddragonfly.education.nsw.gov.au/q5.html" TargetMode="External"/><Relationship Id="rId4" Type="http://schemas.openxmlformats.org/officeDocument/2006/relationships/hyperlink" Target="https://curriculum.nsw.edu.au/" TargetMode="External"/></Relationships>
</file>

<file path=ppt/slides/_rels/slide71.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9.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lnSpc>
                <a:spcPct val="150000"/>
              </a:lnSpc>
              <a:buFont typeface="Arial"/>
              <a:buChar char="•"/>
            </a:pPr>
            <a:r>
              <a:rPr lang="en-AU" sz="1800">
                <a:latin typeface="+mn-lt"/>
                <a:ea typeface="+mn-lt"/>
                <a:cs typeface="+mn-lt"/>
              </a:rPr>
              <a:t>This resource is not a teaching and learning program. It should be used in conjunction with Stage 3 Year A Unit 22.</a:t>
            </a:r>
            <a:endParaRPr lang="en-AU" sz="1800">
              <a:solidFill>
                <a:srgbClr val="22272B"/>
              </a:solidFill>
              <a:latin typeface="+mn-lt"/>
            </a:endParaRPr>
          </a:p>
          <a:p>
            <a:pPr marL="342900" indent="-342900">
              <a:lnSpc>
                <a:spcPct val="150000"/>
              </a:lnSpc>
              <a:buFont typeface="Arial"/>
              <a:buChar char="•"/>
            </a:pPr>
            <a:r>
              <a:rPr lang="en-AU" sz="1800">
                <a:solidFill>
                  <a:srgbClr val="22272B"/>
                </a:solidFill>
                <a:latin typeface="+mn-lt"/>
                <a:cs typeface="Arial"/>
              </a:rPr>
              <a:t>Classroom teachers are encouraged to </a:t>
            </a:r>
            <a:r>
              <a:rPr lang="en-AU" sz="1800" b="1">
                <a:solidFill>
                  <a:srgbClr val="22272B"/>
                </a:solidFill>
                <a:latin typeface="+mn-lt"/>
                <a:cs typeface="Arial"/>
              </a:rPr>
              <a:t>add and adapt</a:t>
            </a:r>
            <a:r>
              <a:rPr lang="en-AU" sz="1800">
                <a:solidFill>
                  <a:srgbClr val="22272B"/>
                </a:solidFill>
                <a:latin typeface="+mn-lt"/>
                <a:cs typeface="Arial"/>
              </a:rPr>
              <a:t> slides as required to meet the needs of their students.</a:t>
            </a:r>
          </a:p>
          <a:p>
            <a:pPr marL="342900" indent="-342900">
              <a:lnSpc>
                <a:spcPct val="150000"/>
              </a:lnSpc>
              <a:buFont typeface="Arial"/>
              <a:buChar char="•"/>
            </a:pPr>
            <a:r>
              <a:rPr lang="en-AU" sz="1800">
                <a:solidFill>
                  <a:srgbClr val="22272B"/>
                </a:solidFill>
                <a:latin typeface="+mn-lt"/>
                <a:cs typeface="Arial"/>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cs typeface="Arial"/>
              </a:rPr>
              <a:t>To convert the PowerPoint to Google Slides:</a:t>
            </a:r>
          </a:p>
          <a:p>
            <a:pPr marL="913765" lvl="1" indent="-457200">
              <a:lnSpc>
                <a:spcPct val="150000"/>
              </a:lnSpc>
              <a:buFont typeface="+mj-lt"/>
              <a:buAutoNum type="arabicPeriod"/>
            </a:pPr>
            <a:r>
              <a:rPr lang="en-AU">
                <a:solidFill>
                  <a:srgbClr val="22272B"/>
                </a:solidFill>
                <a:latin typeface="+mn-lt"/>
                <a:cs typeface="Arial"/>
              </a:rPr>
              <a:t>Upload the file into Google Drive and open it.</a:t>
            </a:r>
          </a:p>
          <a:p>
            <a:pPr marL="913765" lvl="1" indent="-457200">
              <a:lnSpc>
                <a:spcPct val="150000"/>
              </a:lnSpc>
              <a:buFont typeface="+mj-lt"/>
              <a:buAutoNum type="arabicPeriod"/>
            </a:pPr>
            <a:r>
              <a:rPr lang="en-AU">
                <a:solidFill>
                  <a:srgbClr val="22272B"/>
                </a:solidFill>
                <a:latin typeface="+mn-lt"/>
                <a:cs typeface="Arial"/>
              </a:rPr>
              <a:t>Go to File &gt; Save as Google Slides.</a:t>
            </a:r>
          </a:p>
          <a:p>
            <a:pPr marL="456565" lvl="1">
              <a:lnSpc>
                <a:spcPct val="150000"/>
              </a:lnSpc>
            </a:pPr>
            <a:r>
              <a:rPr lang="en-AU">
                <a:solidFill>
                  <a:srgbClr val="22272B"/>
                </a:solidFill>
                <a:latin typeface="+mn-lt"/>
                <a:cs typeface="Arial"/>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953DE-EA46-2AA4-25B9-BD50F0AA512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925BC9-FED8-C057-602D-063585908756}"/>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B722FDAB-21E7-04BA-D615-8E6A0F5C1AFB}"/>
              </a:ext>
            </a:extLst>
          </p:cNvPr>
          <p:cNvSpPr>
            <a:spLocks noGrp="1"/>
          </p:cNvSpPr>
          <p:nvPr>
            <p:ph type="body" sz="quarter" idx="10"/>
          </p:nvPr>
        </p:nvSpPr>
        <p:spPr/>
        <p:txBody>
          <a:bodyPr/>
          <a:lstStyle/>
          <a:p>
            <a:r>
              <a:rPr lang="en-AU">
                <a:latin typeface="+mj-lt"/>
                <a:cs typeface="Arial"/>
              </a:rPr>
              <a:t>Mathematics Stage 3 – Unit 22</a:t>
            </a:r>
            <a:endParaRPr lang="en-AU">
              <a:latin typeface="+mj-lt"/>
            </a:endParaRPr>
          </a:p>
        </p:txBody>
      </p:sp>
      <p:pic>
        <p:nvPicPr>
          <p:cNvPr id="5" name="Picture Placeholder 4" descr="A row of dice on a blue background">
            <a:extLst>
              <a:ext uri="{FF2B5EF4-FFF2-40B4-BE49-F238E27FC236}">
                <a16:creationId xmlns:a16="http://schemas.microsoft.com/office/drawing/2014/main" id="{3492ED26-EFFD-ABC0-5FC2-50C21A88E5D9}"/>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444" r="444"/>
          <a:stretch>
            <a:fillRect/>
          </a:stretch>
        </p:blipFill>
        <p:spPr/>
      </p:pic>
    </p:spTree>
    <p:extLst>
      <p:ext uri="{BB962C8B-B14F-4D97-AF65-F5344CB8AC3E}">
        <p14:creationId xmlns:p14="http://schemas.microsoft.com/office/powerpoint/2010/main" val="1350110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Group 5" descr="Blue circle 1 with light blue rectangle with title Review of learing 1.">
            <a:extLst>
              <a:ext uri="{FF2B5EF4-FFF2-40B4-BE49-F238E27FC236}">
                <a16:creationId xmlns:a16="http://schemas.microsoft.com/office/drawing/2014/main" id="{1B4FCA10-C38C-7EB1-6B3D-6210A414C65B}"/>
              </a:ext>
            </a:extLst>
          </p:cNvPr>
          <p:cNvGrpSpPr/>
          <p:nvPr/>
        </p:nvGrpSpPr>
        <p:grpSpPr>
          <a:xfrm>
            <a:off x="360000" y="1266959"/>
            <a:ext cx="4775638" cy="1045440"/>
            <a:chOff x="360000" y="1266959"/>
            <a:chExt cx="4775638" cy="1045440"/>
          </a:xfrm>
        </p:grpSpPr>
        <p:sp>
          <p:nvSpPr>
            <p:cNvPr id="2" name="Rectangle: Rounded Corners 1" descr="Blue circle 1 with light blue rectangle with title Review of learning 1.">
              <a:extLst>
                <a:ext uri="{FF2B5EF4-FFF2-40B4-BE49-F238E27FC236}">
                  <a16:creationId xmlns:a16="http://schemas.microsoft.com/office/drawing/2014/main" id="{935D5059-5790-C707-5987-84856AF04ADB}"/>
                </a:ext>
                <a:ext uri="{C183D7F6-B498-43B3-948B-1728B52AA6E4}">
                  <adec:decorative xmlns:adec="http://schemas.microsoft.com/office/drawing/2017/decorative" val="0"/>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latin typeface="+mj-lt"/>
                </a:rPr>
                <a:t>Review of learning 1</a:t>
              </a:r>
              <a:endParaRPr lang="en-AU">
                <a:solidFill>
                  <a:schemeClr val="accent1"/>
                </a:solidFill>
                <a:latin typeface="+mj-lt"/>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Group 6" descr="Blue circle 2 with light blue rectangle with title Review of learning 2.">
            <a:extLst>
              <a:ext uri="{FF2B5EF4-FFF2-40B4-BE49-F238E27FC236}">
                <a16:creationId xmlns:a16="http://schemas.microsoft.com/office/drawing/2014/main" id="{AF7A23A4-F1DB-31F7-E62C-F1BFA9349F64}"/>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2</a:t>
              </a:r>
              <a:endParaRPr lang="en-AU">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Group 7" descr="Blue circle 3 with light blue rectangle with title Review of learning 3.">
            <a:extLst>
              <a:ext uri="{FF2B5EF4-FFF2-40B4-BE49-F238E27FC236}">
                <a16:creationId xmlns:a16="http://schemas.microsoft.com/office/drawing/2014/main" id="{DF37B4A1-413C-FC0F-E0B4-307A5BFA5855}"/>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0"/>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3</a:t>
              </a:r>
              <a:endParaRPr lang="en-AU">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Group 8" descr="Blue circle 4 with light blue rectangle with title Review of learing 4.">
            <a:extLst>
              <a:ext uri="{FF2B5EF4-FFF2-40B4-BE49-F238E27FC236}">
                <a16:creationId xmlns:a16="http://schemas.microsoft.com/office/drawing/2014/main" id="{C989DA6E-4839-1BBD-77AB-6F9CC520B670}"/>
              </a:ext>
            </a:extLst>
          </p:cNvPr>
          <p:cNvGrpSpPr/>
          <p:nvPr/>
        </p:nvGrpSpPr>
        <p:grpSpPr>
          <a:xfrm>
            <a:off x="360000" y="4554659"/>
            <a:ext cx="4775638" cy="1045440"/>
            <a:chOff x="360000" y="4554659"/>
            <a:chExt cx="4775638" cy="1045440"/>
          </a:xfrm>
        </p:grpSpPr>
        <p:sp>
          <p:nvSpPr>
            <p:cNvPr id="26" name="Rectangle: Rounded Corners 25" descr="Blue circle 4 with light blue rectangle with title Review of learning 4.">
              <a:extLst>
                <a:ext uri="{FF2B5EF4-FFF2-40B4-BE49-F238E27FC236}">
                  <a16:creationId xmlns:a16="http://schemas.microsoft.com/office/drawing/2014/main" id="{B1BC8FAB-0C07-84FE-204A-47391BBEAF64}"/>
                </a:ext>
                <a:ext uri="{C183D7F6-B498-43B3-948B-1728B52AA6E4}">
                  <adec:decorative xmlns:adec="http://schemas.microsoft.com/office/drawing/2017/decorative" val="0"/>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4</a:t>
              </a:r>
              <a:endParaRPr lang="en-AU">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Group 16" descr="Blue circle 5 with light blue rectangle with title Review of learing 5.">
            <a:extLst>
              <a:ext uri="{FF2B5EF4-FFF2-40B4-BE49-F238E27FC236}">
                <a16:creationId xmlns:a16="http://schemas.microsoft.com/office/drawing/2014/main" id="{5CA7685F-33D7-262A-AE71-7F572C4FD60A}"/>
              </a:ext>
            </a:extLst>
          </p:cNvPr>
          <p:cNvGrpSpPr/>
          <p:nvPr/>
        </p:nvGrpSpPr>
        <p:grpSpPr>
          <a:xfrm>
            <a:off x="6096000" y="1200486"/>
            <a:ext cx="4775638" cy="1045440"/>
            <a:chOff x="6096000" y="1266959"/>
            <a:chExt cx="4775638" cy="1045440"/>
          </a:xfrm>
        </p:grpSpPr>
        <p:sp>
          <p:nvSpPr>
            <p:cNvPr id="18" name="Rectangle: Rounded Corners 43" descr="Blue circle 5 with light blue rectangle with title Review of learning 5.">
              <a:extLst>
                <a:ext uri="{FF2B5EF4-FFF2-40B4-BE49-F238E27FC236}">
                  <a16:creationId xmlns:a16="http://schemas.microsoft.com/office/drawing/2014/main" id="{3DAA1A61-85C8-F828-1EC5-45BA7CAB872F}"/>
                </a:ext>
                <a:ext uri="{C183D7F6-B498-43B3-948B-1728B52AA6E4}">
                  <adec:decorative xmlns:adec="http://schemas.microsoft.com/office/drawing/2017/decorative" val="0"/>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5</a:t>
              </a:r>
              <a:endParaRPr lang="en-AU">
                <a:solidFill>
                  <a:schemeClr val="accent1"/>
                </a:solidFill>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Group 10" descr="Blue circle 6 with light blue rectangle with title Review of learning 6.">
            <a:extLst>
              <a:ext uri="{FF2B5EF4-FFF2-40B4-BE49-F238E27FC236}">
                <a16:creationId xmlns:a16="http://schemas.microsoft.com/office/drawing/2014/main" id="{98348D52-CA50-F15C-B472-B152337D805F}"/>
              </a:ext>
            </a:extLst>
          </p:cNvPr>
          <p:cNvGrpSpPr/>
          <p:nvPr/>
        </p:nvGrpSpPr>
        <p:grpSpPr>
          <a:xfrm>
            <a:off x="6096000" y="2362859"/>
            <a:ext cx="4775638" cy="1045440"/>
            <a:chOff x="6096000" y="1266959"/>
            <a:chExt cx="4775638" cy="1045440"/>
          </a:xfrm>
        </p:grpSpPr>
        <p:sp>
          <p:nvSpPr>
            <p:cNvPr id="44" name="Rectangle: Rounded Corners 43" descr="Blue circle 6 with light blue rectangle with title Review of learning 6.">
              <a:extLst>
                <a:ext uri="{FF2B5EF4-FFF2-40B4-BE49-F238E27FC236}">
                  <a16:creationId xmlns:a16="http://schemas.microsoft.com/office/drawing/2014/main" id="{872B6A74-D5FE-A9C3-5036-DA39A3F3AAA9}"/>
                </a:ext>
                <a:ext uri="{C183D7F6-B498-43B3-948B-1728B52AA6E4}">
                  <adec:decorative xmlns:adec="http://schemas.microsoft.com/office/drawing/2017/decorative" val="0"/>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6</a:t>
              </a:r>
              <a:endParaRPr lang="en-AU">
                <a:solidFill>
                  <a:schemeClr val="accent1"/>
                </a:solidFill>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Group 11" descr="Blue circle 7 with light blue rectangle with title Review of learning 7.">
            <a:extLst>
              <a:ext uri="{FF2B5EF4-FFF2-40B4-BE49-F238E27FC236}">
                <a16:creationId xmlns:a16="http://schemas.microsoft.com/office/drawing/2014/main" id="{E73741F1-615E-A4A4-088D-E0A9187F983E}"/>
              </a:ext>
            </a:extLst>
          </p:cNvPr>
          <p:cNvGrpSpPr/>
          <p:nvPr/>
        </p:nvGrpSpPr>
        <p:grpSpPr>
          <a:xfrm>
            <a:off x="6096000" y="3458759"/>
            <a:ext cx="4775638" cy="1045440"/>
            <a:chOff x="6096000" y="2362859"/>
            <a:chExt cx="4775638" cy="1045440"/>
          </a:xfrm>
        </p:grpSpPr>
        <p:sp>
          <p:nvSpPr>
            <p:cNvPr id="41" name="Rectangle: Rounded Corners 40" descr="Blue circle 7 with light blue rectangle with title Review of learning 7.">
              <a:extLst>
                <a:ext uri="{FF2B5EF4-FFF2-40B4-BE49-F238E27FC236}">
                  <a16:creationId xmlns:a16="http://schemas.microsoft.com/office/drawing/2014/main" id="{D868B1C9-B182-2727-4865-6D5AC1780BED}"/>
                </a:ext>
                <a:ext uri="{C183D7F6-B498-43B3-948B-1728B52AA6E4}">
                  <adec:decorative xmlns:adec="http://schemas.microsoft.com/office/drawing/2017/decorative" val="0"/>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7</a:t>
              </a:r>
              <a:endParaRPr lang="en-AU">
                <a:solidFill>
                  <a:schemeClr val="accent1"/>
                </a:solidFill>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Group 12" descr="Blue circle 8 with light blue rectangle with title Review of learning 8.">
            <a:extLst>
              <a:ext uri="{FF2B5EF4-FFF2-40B4-BE49-F238E27FC236}">
                <a16:creationId xmlns:a16="http://schemas.microsoft.com/office/drawing/2014/main" id="{8E45D1B3-369A-D013-FFE7-B91D37B811F7}"/>
              </a:ext>
            </a:extLst>
          </p:cNvPr>
          <p:cNvGrpSpPr/>
          <p:nvPr/>
        </p:nvGrpSpPr>
        <p:grpSpPr>
          <a:xfrm>
            <a:off x="6096000" y="4554659"/>
            <a:ext cx="4775638" cy="1045440"/>
            <a:chOff x="6096000" y="3458759"/>
            <a:chExt cx="4775638" cy="1045440"/>
          </a:xfrm>
        </p:grpSpPr>
        <p:sp>
          <p:nvSpPr>
            <p:cNvPr id="38" name="Rectangle: Rounded Corners 37" descr="Blue circle 8 with light blue rectangle with title Review of learning 8.">
              <a:extLst>
                <a:ext uri="{FF2B5EF4-FFF2-40B4-BE49-F238E27FC236}">
                  <a16:creationId xmlns:a16="http://schemas.microsoft.com/office/drawing/2014/main" id="{22AE8CE5-94FD-CF39-4100-9EA79119BE34}"/>
                </a:ext>
                <a:ext uri="{C183D7F6-B498-43B3-948B-1728B52AA6E4}">
                  <adec:decorative xmlns:adec="http://schemas.microsoft.com/office/drawing/2017/decorative" val="0"/>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8</a:t>
              </a:r>
              <a:endParaRPr lang="en-AU">
                <a:solidFill>
                  <a:schemeClr val="accent1"/>
                </a:solidFill>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0"/>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D7755-CE98-1625-63C2-6E57BB6FA23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BC1774B-AA04-FE2E-2D30-B11CDA0F2C2B}"/>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(1)</a:t>
            </a:r>
          </a:p>
        </p:txBody>
      </p:sp>
      <p:pic>
        <p:nvPicPr>
          <p:cNvPr id="4" name="Picture 3" descr="image of a finger selecting an option for a multiple choice or true and false">
            <a:extLst>
              <a:ext uri="{FF2B5EF4-FFF2-40B4-BE49-F238E27FC236}">
                <a16:creationId xmlns:a16="http://schemas.microsoft.com/office/drawing/2014/main" id="{4CB8848C-93F2-E2F9-DB5A-FC58F0111C10}"/>
              </a:ext>
            </a:extLst>
          </p:cNvPr>
          <p:cNvPicPr>
            <a:picLocks noChangeAspect="1"/>
          </p:cNvPicPr>
          <p:nvPr/>
        </p:nvPicPr>
        <p:blipFill>
          <a:blip r:embed="rId3"/>
          <a:stretch>
            <a:fillRect/>
          </a:stretch>
        </p:blipFill>
        <p:spPr>
          <a:xfrm>
            <a:off x="10807908" y="43303"/>
            <a:ext cx="1165786" cy="1140716"/>
          </a:xfrm>
          <a:prstGeom prst="rect">
            <a:avLst/>
          </a:prstGeom>
          <a:ln>
            <a:noFill/>
          </a:ln>
        </p:spPr>
      </p:pic>
      <p:sp>
        <p:nvSpPr>
          <p:cNvPr id="15" name="Text Placeholder 14">
            <a:extLst>
              <a:ext uri="{FF2B5EF4-FFF2-40B4-BE49-F238E27FC236}">
                <a16:creationId xmlns:a16="http://schemas.microsoft.com/office/drawing/2014/main" id="{AB0D8C4B-A26D-492E-C691-C64EF884A7AF}"/>
              </a:ext>
            </a:extLst>
          </p:cNvPr>
          <p:cNvSpPr>
            <a:spLocks noGrp="1"/>
          </p:cNvSpPr>
          <p:nvPr>
            <p:ph type="body" sz="quarter" idx="28"/>
          </p:nvPr>
        </p:nvSpPr>
        <p:spPr>
          <a:xfrm>
            <a:off x="1517875" y="998287"/>
            <a:ext cx="9606125" cy="1736939"/>
          </a:xfrm>
        </p:spPr>
        <p:txBody>
          <a:bodyPr/>
          <a:lstStyle/>
          <a:p>
            <a:pPr algn="ctr"/>
            <a:r>
              <a:rPr lang="en-US" sz="4400"/>
              <a:t>Using </a:t>
            </a:r>
            <a:r>
              <a:rPr lang="en-US" sz="4400" b="1"/>
              <a:t>estimating</a:t>
            </a:r>
            <a:r>
              <a:rPr lang="en-US" sz="4400"/>
              <a:t> and </a:t>
            </a:r>
            <a:r>
              <a:rPr lang="en-US" sz="4400" b="1"/>
              <a:t>rounding</a:t>
            </a:r>
            <a:r>
              <a:rPr lang="en-US" sz="4400"/>
              <a:t> a reasonable solution to 451 – 49 is:</a:t>
            </a:r>
          </a:p>
        </p:txBody>
      </p:sp>
      <p:sp>
        <p:nvSpPr>
          <p:cNvPr id="9" name="TextBox 8">
            <a:extLst>
              <a:ext uri="{FF2B5EF4-FFF2-40B4-BE49-F238E27FC236}">
                <a16:creationId xmlns:a16="http://schemas.microsoft.com/office/drawing/2014/main" id="{EF8DF706-D80F-92B1-7253-8E6E8E474570}"/>
              </a:ext>
            </a:extLst>
          </p:cNvPr>
          <p:cNvSpPr txBox="1"/>
          <p:nvPr/>
        </p:nvSpPr>
        <p:spPr>
          <a:xfrm>
            <a:off x="1223007" y="312646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Text Placeholder 17">
            <a:extLst>
              <a:ext uri="{FF2B5EF4-FFF2-40B4-BE49-F238E27FC236}">
                <a16:creationId xmlns:a16="http://schemas.microsoft.com/office/drawing/2014/main" id="{249CF990-9203-0FC6-FA8E-0E52BA054215}"/>
              </a:ext>
            </a:extLst>
          </p:cNvPr>
          <p:cNvSpPr>
            <a:spLocks noGrp="1"/>
          </p:cNvSpPr>
          <p:nvPr>
            <p:ph type="body" sz="quarter" idx="31"/>
          </p:nvPr>
        </p:nvSpPr>
        <p:spPr>
          <a:xfrm>
            <a:off x="2209963" y="3048814"/>
            <a:ext cx="1912030" cy="641396"/>
          </a:xfrm>
        </p:spPr>
        <p:txBody>
          <a:bodyPr anchor="ctr"/>
          <a:lstStyle/>
          <a:p>
            <a:r>
              <a:rPr lang="en-US" sz="4400"/>
              <a:t>450</a:t>
            </a:r>
          </a:p>
        </p:txBody>
      </p:sp>
      <p:sp>
        <p:nvSpPr>
          <p:cNvPr id="10" name="TextBox 9">
            <a:extLst>
              <a:ext uri="{FF2B5EF4-FFF2-40B4-BE49-F238E27FC236}">
                <a16:creationId xmlns:a16="http://schemas.microsoft.com/office/drawing/2014/main" id="{E8E3048F-F2CC-3A16-FD64-BA70C679B369}"/>
              </a:ext>
            </a:extLst>
          </p:cNvPr>
          <p:cNvSpPr txBox="1"/>
          <p:nvPr/>
        </p:nvSpPr>
        <p:spPr>
          <a:xfrm>
            <a:off x="1223007" y="399177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Text Placeholder 16">
            <a:extLst>
              <a:ext uri="{FF2B5EF4-FFF2-40B4-BE49-F238E27FC236}">
                <a16:creationId xmlns:a16="http://schemas.microsoft.com/office/drawing/2014/main" id="{C6C948D4-2A38-1E27-BC1F-1141CAAF7C2A}"/>
              </a:ext>
            </a:extLst>
          </p:cNvPr>
          <p:cNvSpPr>
            <a:spLocks noGrp="1"/>
          </p:cNvSpPr>
          <p:nvPr>
            <p:ph type="body" sz="quarter" idx="30"/>
          </p:nvPr>
        </p:nvSpPr>
        <p:spPr>
          <a:xfrm>
            <a:off x="2209963" y="3898189"/>
            <a:ext cx="1912030" cy="641396"/>
          </a:xfrm>
        </p:spPr>
        <p:txBody>
          <a:bodyPr anchor="ctr"/>
          <a:lstStyle/>
          <a:p>
            <a:r>
              <a:rPr lang="en-US" sz="4400"/>
              <a:t>500</a:t>
            </a:r>
          </a:p>
        </p:txBody>
      </p:sp>
      <p:sp>
        <p:nvSpPr>
          <p:cNvPr id="12" name="TextBox 11">
            <a:extLst>
              <a:ext uri="{FF2B5EF4-FFF2-40B4-BE49-F238E27FC236}">
                <a16:creationId xmlns:a16="http://schemas.microsoft.com/office/drawing/2014/main" id="{653CFB63-79BB-2581-B3F1-80CDC52E39F6}"/>
              </a:ext>
            </a:extLst>
          </p:cNvPr>
          <p:cNvSpPr txBox="1"/>
          <p:nvPr/>
        </p:nvSpPr>
        <p:spPr>
          <a:xfrm>
            <a:off x="1223007" y="483988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Text Placeholder 15">
            <a:extLst>
              <a:ext uri="{FF2B5EF4-FFF2-40B4-BE49-F238E27FC236}">
                <a16:creationId xmlns:a16="http://schemas.microsoft.com/office/drawing/2014/main" id="{4DADA01A-C328-7361-07E5-3C59D9534D7B}"/>
              </a:ext>
            </a:extLst>
          </p:cNvPr>
          <p:cNvSpPr>
            <a:spLocks noGrp="1"/>
          </p:cNvSpPr>
          <p:nvPr>
            <p:ph type="body" sz="quarter" idx="29"/>
          </p:nvPr>
        </p:nvSpPr>
        <p:spPr>
          <a:xfrm>
            <a:off x="2209963" y="4697520"/>
            <a:ext cx="1912030" cy="641396"/>
          </a:xfrm>
        </p:spPr>
        <p:txBody>
          <a:bodyPr anchor="ctr"/>
          <a:lstStyle/>
          <a:p>
            <a:r>
              <a:rPr lang="en-US" sz="4400"/>
              <a:t>400</a:t>
            </a:r>
          </a:p>
        </p:txBody>
      </p:sp>
      <p:sp>
        <p:nvSpPr>
          <p:cNvPr id="11" name="TextBox 10">
            <a:extLst>
              <a:ext uri="{FF2B5EF4-FFF2-40B4-BE49-F238E27FC236}">
                <a16:creationId xmlns:a16="http://schemas.microsoft.com/office/drawing/2014/main" id="{A7CF7502-CF88-ED76-425C-93F1166598D5}"/>
              </a:ext>
            </a:extLst>
          </p:cNvPr>
          <p:cNvSpPr txBox="1"/>
          <p:nvPr/>
        </p:nvSpPr>
        <p:spPr>
          <a:xfrm>
            <a:off x="1223007" y="55864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Text Placeholder 13">
            <a:extLst>
              <a:ext uri="{FF2B5EF4-FFF2-40B4-BE49-F238E27FC236}">
                <a16:creationId xmlns:a16="http://schemas.microsoft.com/office/drawing/2014/main" id="{7DB50E8A-7E96-50A9-15AA-962C16AA899C}"/>
              </a:ext>
            </a:extLst>
          </p:cNvPr>
          <p:cNvSpPr>
            <a:spLocks noGrp="1"/>
          </p:cNvSpPr>
          <p:nvPr>
            <p:ph type="body" sz="quarter" idx="27"/>
          </p:nvPr>
        </p:nvSpPr>
        <p:spPr>
          <a:xfrm>
            <a:off x="2209963" y="5521189"/>
            <a:ext cx="1912030" cy="641396"/>
          </a:xfrm>
        </p:spPr>
        <p:txBody>
          <a:bodyPr anchor="ctr"/>
          <a:lstStyle/>
          <a:p>
            <a:r>
              <a:rPr lang="en-US" sz="4400"/>
              <a:t>550</a:t>
            </a:r>
          </a:p>
        </p:txBody>
      </p:sp>
      <p:sp>
        <p:nvSpPr>
          <p:cNvPr id="2" name="Slide Number Placeholder 1">
            <a:extLst>
              <a:ext uri="{FF2B5EF4-FFF2-40B4-BE49-F238E27FC236}">
                <a16:creationId xmlns:a16="http://schemas.microsoft.com/office/drawing/2014/main" id="{9B65148B-F5B2-7EDD-CE57-A079E0DD806D}"/>
              </a:ext>
            </a:extLst>
          </p:cNvPr>
          <p:cNvSpPr>
            <a:spLocks noGrp="1"/>
          </p:cNvSpPr>
          <p:nvPr>
            <p:ph type="sldNum" sz="quarter" idx="12"/>
          </p:nvPr>
        </p:nvSpPr>
        <p:spPr/>
        <p:txBody>
          <a:bodyPr/>
          <a:lstStyle/>
          <a:p>
            <a:fld id="{10A01DC5-1685-4615-8240-15192985C6A2}" type="slidenum">
              <a:rPr lang="en-AU" smtClean="0"/>
              <a:t>5</a:t>
            </a:fld>
            <a:endParaRPr lang="en-AU"/>
          </a:p>
        </p:txBody>
      </p:sp>
    </p:spTree>
    <p:extLst>
      <p:ext uri="{BB962C8B-B14F-4D97-AF65-F5344CB8AC3E}">
        <p14:creationId xmlns:p14="http://schemas.microsoft.com/office/powerpoint/2010/main" val="2409251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a:t>
            </a:r>
          </a:p>
        </p:txBody>
      </p:sp>
      <p:pic>
        <p:nvPicPr>
          <p:cNvPr id="3" name="Picture 2" descr="image of a clipboard with a pencil recording short answer responses">
            <a:extLst>
              <a:ext uri="{FF2B5EF4-FFF2-40B4-BE49-F238E27FC236}">
                <a16:creationId xmlns:a16="http://schemas.microsoft.com/office/drawing/2014/main" id="{69E4B2B2-713D-5998-87AB-5FC222AE389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 Placeholder 5">
            <a:extLst>
              <a:ext uri="{FF2B5EF4-FFF2-40B4-BE49-F238E27FC236}">
                <a16:creationId xmlns:a16="http://schemas.microsoft.com/office/drawing/2014/main" id="{1AF16BEF-8EA5-CA93-96CD-36527D603EBC}"/>
              </a:ext>
            </a:extLst>
          </p:cNvPr>
          <p:cNvSpPr txBox="1">
            <a:spLocks/>
          </p:cNvSpPr>
          <p:nvPr/>
        </p:nvSpPr>
        <p:spPr>
          <a:xfrm>
            <a:off x="1165837" y="1184223"/>
            <a:ext cx="9860325" cy="4169848"/>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Alice has </a:t>
            </a:r>
            <a:r>
              <a:rPr lang="en-AU" sz="4400" b="1"/>
              <a:t>25</a:t>
            </a:r>
            <a:r>
              <a:rPr lang="en-AU" sz="4400"/>
              <a:t> banksias and </a:t>
            </a:r>
            <a:r>
              <a:rPr lang="en-AU" sz="4400" b="1"/>
              <a:t>15</a:t>
            </a:r>
            <a:r>
              <a:rPr lang="en-AU" sz="4400"/>
              <a:t> bottlebrushes in her garden. She picks </a:t>
            </a:r>
            <a:r>
              <a:rPr lang="en-AU" sz="4400" b="1"/>
              <a:t>5</a:t>
            </a:r>
            <a:r>
              <a:rPr lang="en-AU" sz="4400"/>
              <a:t> of the flowers. How many flowers are </a:t>
            </a:r>
            <a:r>
              <a:rPr lang="en-AU" sz="4400" b="1"/>
              <a:t>left</a:t>
            </a:r>
            <a:r>
              <a:rPr lang="en-AU" sz="4400"/>
              <a:t> in her garden?</a:t>
            </a:r>
          </a:p>
          <a:p>
            <a:pPr algn="ctr"/>
            <a:r>
              <a:rPr lang="en-AU" sz="4400" b="1"/>
              <a:t>Communicate</a:t>
            </a:r>
            <a:r>
              <a:rPr lang="en-AU" sz="4400"/>
              <a:t> your </a:t>
            </a:r>
            <a:r>
              <a:rPr lang="en-AU" sz="4400" b="1"/>
              <a:t>strategy</a:t>
            </a:r>
            <a:r>
              <a:rPr lang="en-AU" sz="4400"/>
              <a:t>.</a:t>
            </a:r>
          </a:p>
        </p:txBody>
      </p:sp>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6</a:t>
            </a:fld>
            <a:endParaRPr lang="en-AU"/>
          </a:p>
        </p:txBody>
      </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pic>
        <p:nvPicPr>
          <p:cNvPr id="3" name="Picture 2" descr="image of a clipboard with a pencil recording short answer responses">
            <a:extLst>
              <a:ext uri="{FF2B5EF4-FFF2-40B4-BE49-F238E27FC236}">
                <a16:creationId xmlns:a16="http://schemas.microsoft.com/office/drawing/2014/main" id="{AB837201-1557-1DB2-05E9-E523FE1B17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 Placeholder 14">
            <a:extLst>
              <a:ext uri="{FF2B5EF4-FFF2-40B4-BE49-F238E27FC236}">
                <a16:creationId xmlns:a16="http://schemas.microsoft.com/office/drawing/2014/main" id="{B6418CA3-52D9-7D89-74FA-BBABF4C42825}"/>
              </a:ext>
            </a:extLst>
          </p:cNvPr>
          <p:cNvSpPr txBox="1">
            <a:spLocks/>
          </p:cNvSpPr>
          <p:nvPr/>
        </p:nvSpPr>
        <p:spPr>
          <a:xfrm>
            <a:off x="857606" y="1184223"/>
            <a:ext cx="10476786" cy="915500"/>
          </a:xfrm>
          <a:prstGeom prst="rect">
            <a:avLst/>
          </a:prstGeom>
        </p:spPr>
        <p:txBody>
          <a:bodyPr lIns="91440" tIns="45720" rIns="91440" bIns="45720" anchor="t"/>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latin typeface="Arial"/>
                <a:cs typeface="Arial"/>
              </a:rPr>
              <a:t>How many </a:t>
            </a:r>
            <a:r>
              <a:rPr lang="en-US" sz="4400" b="1">
                <a:latin typeface="Arial"/>
                <a:cs typeface="Arial"/>
              </a:rPr>
              <a:t>multiples</a:t>
            </a:r>
            <a:r>
              <a:rPr lang="en-US" sz="4400">
                <a:latin typeface="Arial"/>
                <a:cs typeface="Arial"/>
              </a:rPr>
              <a:t> of </a:t>
            </a:r>
            <a:r>
              <a:rPr lang="en-US" sz="4400" b="1">
                <a:latin typeface="Arial"/>
                <a:cs typeface="Arial"/>
              </a:rPr>
              <a:t>1000</a:t>
            </a:r>
            <a:r>
              <a:rPr lang="en-US" sz="4400">
                <a:latin typeface="Arial"/>
                <a:cs typeface="Arial"/>
              </a:rPr>
              <a:t> are in </a:t>
            </a:r>
            <a:endParaRPr lang="en-US" sz="4400"/>
          </a:p>
          <a:p>
            <a:pPr algn="ctr"/>
            <a:r>
              <a:rPr lang="en-US" sz="4400">
                <a:latin typeface="Arial"/>
                <a:cs typeface="Arial"/>
              </a:rPr>
              <a:t>1 000 000 ?</a:t>
            </a:r>
          </a:p>
          <a:p>
            <a:pPr algn="ctr"/>
            <a:r>
              <a:rPr lang="en-US" sz="4400">
                <a:latin typeface="Arial"/>
                <a:cs typeface="Arial"/>
              </a:rPr>
              <a:t>How many </a:t>
            </a:r>
            <a:r>
              <a:rPr lang="en-US" sz="4400" b="1">
                <a:latin typeface="Arial"/>
                <a:cs typeface="Arial"/>
              </a:rPr>
              <a:t>multiples</a:t>
            </a:r>
            <a:r>
              <a:rPr lang="en-US" sz="4400">
                <a:latin typeface="Arial"/>
                <a:cs typeface="Arial"/>
              </a:rPr>
              <a:t> of </a:t>
            </a:r>
            <a:r>
              <a:rPr lang="en-US" sz="4400" b="1">
                <a:latin typeface="Arial"/>
                <a:cs typeface="Arial"/>
              </a:rPr>
              <a:t>100</a:t>
            </a:r>
            <a:r>
              <a:rPr lang="en-US" sz="4400">
                <a:latin typeface="Arial"/>
                <a:cs typeface="Arial"/>
              </a:rPr>
              <a:t> are in</a:t>
            </a:r>
          </a:p>
          <a:p>
            <a:pPr algn="ctr"/>
            <a:r>
              <a:rPr lang="en-US" sz="4400">
                <a:latin typeface="Arial"/>
                <a:cs typeface="Arial"/>
              </a:rPr>
              <a:t>1 000 000 ?</a:t>
            </a:r>
            <a:endParaRPr lang="en-US" sz="4400"/>
          </a:p>
        </p:txBody>
      </p:sp>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7</a:t>
            </a:fld>
            <a:endParaRPr lang="en-AU"/>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(3)</a:t>
            </a:r>
          </a:p>
        </p:txBody>
      </p:sp>
      <p:pic>
        <p:nvPicPr>
          <p:cNvPr id="3" name="Picture 2" descr="image of a clipboard with a pencil recording short answer responses">
            <a:extLst>
              <a:ext uri="{FF2B5EF4-FFF2-40B4-BE49-F238E27FC236}">
                <a16:creationId xmlns:a16="http://schemas.microsoft.com/office/drawing/2014/main" id="{AE7CD0B4-5C73-21ED-199C-D91A99981CD2}"/>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4" name="TextBox 3">
            <a:extLst>
              <a:ext uri="{FF2B5EF4-FFF2-40B4-BE49-F238E27FC236}">
                <a16:creationId xmlns:a16="http://schemas.microsoft.com/office/drawing/2014/main" id="{DCC0A20C-F45F-4AF3-C5CB-3E1CD0817179}"/>
              </a:ext>
            </a:extLst>
          </p:cNvPr>
          <p:cNvSpPr txBox="1"/>
          <p:nvPr/>
        </p:nvSpPr>
        <p:spPr>
          <a:xfrm>
            <a:off x="1831920" y="1530994"/>
            <a:ext cx="8895348" cy="2139670"/>
          </a:xfrm>
          <a:prstGeom prst="rect">
            <a:avLst/>
          </a:prstGeom>
          <a:noFill/>
        </p:spPr>
        <p:txBody>
          <a:bodyPr wrap="square" lIns="0" tIns="0" rIns="0" bIns="0" rtlCol="0">
            <a:noAutofit/>
          </a:bodyPr>
          <a:lstStyle/>
          <a:p>
            <a:pPr algn="ctr">
              <a:lnSpc>
                <a:spcPct val="150000"/>
              </a:lnSpc>
            </a:pPr>
            <a:r>
              <a:rPr lang="en-AU" sz="4400"/>
              <a:t>Use a </a:t>
            </a:r>
            <a:r>
              <a:rPr lang="en-AU" sz="4400" b="1"/>
              <a:t>number line </a:t>
            </a:r>
            <a:r>
              <a:rPr lang="en-AU" sz="4400"/>
              <a:t>to represent </a:t>
            </a:r>
          </a:p>
          <a:p>
            <a:pPr algn="ctr">
              <a:lnSpc>
                <a:spcPct val="150000"/>
              </a:lnSpc>
            </a:pPr>
            <a:r>
              <a:rPr lang="en-AU" sz="4400"/>
              <a:t>the</a:t>
            </a:r>
            <a:r>
              <a:rPr lang="en-AU" sz="4400" b="1"/>
              <a:t> integers </a:t>
            </a:r>
            <a:r>
              <a:rPr lang="en-AU" sz="4400"/>
              <a:t>from </a:t>
            </a:r>
          </a:p>
          <a:p>
            <a:pPr algn="ctr">
              <a:lnSpc>
                <a:spcPct val="150000"/>
              </a:lnSpc>
            </a:pPr>
            <a:r>
              <a:rPr lang="en-AU" sz="7200"/>
              <a:t>-6  to  6</a:t>
            </a:r>
          </a:p>
        </p:txBody>
      </p:sp>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8</a:t>
            </a:fld>
            <a:endParaRPr lang="en-AU"/>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(4)</a:t>
            </a:r>
          </a:p>
        </p:txBody>
      </p:sp>
      <p:pic>
        <p:nvPicPr>
          <p:cNvPr id="3" name="Picture 2" descr="image of a clipboard with a pencil recording short answer responses">
            <a:extLst>
              <a:ext uri="{FF2B5EF4-FFF2-40B4-BE49-F238E27FC236}">
                <a16:creationId xmlns:a16="http://schemas.microsoft.com/office/drawing/2014/main" id="{FC9A4B87-D950-48CA-7AF9-006C90DB933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14">
            <a:extLst>
              <a:ext uri="{FF2B5EF4-FFF2-40B4-BE49-F238E27FC236}">
                <a16:creationId xmlns:a16="http://schemas.microsoft.com/office/drawing/2014/main" id="{1D059FB3-A245-4512-C481-05A6294862F4}"/>
              </a:ext>
            </a:extLst>
          </p:cNvPr>
          <p:cNvSpPr txBox="1">
            <a:spLocks/>
          </p:cNvSpPr>
          <p:nvPr/>
        </p:nvSpPr>
        <p:spPr>
          <a:xfrm>
            <a:off x="912366" y="1471031"/>
            <a:ext cx="9369969" cy="3701859"/>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Lucy gets on the school bus at </a:t>
            </a:r>
            <a:r>
              <a:rPr lang="en-US" sz="4400" b="1"/>
              <a:t>07:50 </a:t>
            </a:r>
            <a:r>
              <a:rPr lang="en-US" sz="4400"/>
              <a:t> and arrives at school at </a:t>
            </a:r>
            <a:r>
              <a:rPr lang="en-US" sz="4400" b="1"/>
              <a:t>8:45 am</a:t>
            </a:r>
            <a:r>
              <a:rPr lang="en-US" sz="4400"/>
              <a:t>. What is the </a:t>
            </a:r>
            <a:r>
              <a:rPr lang="en-US" sz="4400" b="1"/>
              <a:t>duration</a:t>
            </a:r>
            <a:r>
              <a:rPr lang="en-US" sz="4400"/>
              <a:t> of her bus trip to school?</a:t>
            </a:r>
            <a:endParaRPr lang="en-US" sz="4800"/>
          </a:p>
        </p:txBody>
      </p:sp>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9</a:t>
            </a:fld>
            <a:endParaRPr lang="en-AU"/>
          </a:p>
        </p:txBody>
      </p:sp>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a:t>Activity 1 – </a:t>
            </a:r>
            <a:r>
              <a:rPr lang="en-AU">
                <a:latin typeface="Arial"/>
                <a:cs typeface="Arial"/>
              </a:rPr>
              <a:t>rounding and estimation</a:t>
            </a:r>
            <a:endParaRPr lang="en-AU"/>
          </a:p>
        </p:txBody>
      </p:sp>
      <p:pic>
        <p:nvPicPr>
          <p:cNvPr id="4" name="Picture 3" descr="image of a head with cogs turning inside">
            <a:extLst>
              <a:ext uri="{FF2B5EF4-FFF2-40B4-BE49-F238E27FC236}">
                <a16:creationId xmlns:a16="http://schemas.microsoft.com/office/drawing/2014/main" id="{8C7CF980-54BA-5CDE-FA07-65080BB2C43B}"/>
              </a:ext>
            </a:extLst>
          </p:cNvPr>
          <p:cNvPicPr>
            <a:picLocks noChangeAspect="1"/>
          </p:cNvPicPr>
          <p:nvPr/>
        </p:nvPicPr>
        <p:blipFill>
          <a:blip r:embed="rId3"/>
          <a:stretch>
            <a:fillRect/>
          </a:stretch>
        </p:blipFill>
        <p:spPr>
          <a:xfrm>
            <a:off x="11107003" y="240894"/>
            <a:ext cx="720000" cy="856364"/>
          </a:xfrm>
          <a:prstGeom prst="rect">
            <a:avLst/>
          </a:prstGeom>
        </p:spPr>
      </p:pic>
      <p:sp>
        <p:nvSpPr>
          <p:cNvPr id="43" name="TextBox 42">
            <a:extLst>
              <a:ext uri="{FF2B5EF4-FFF2-40B4-BE49-F238E27FC236}">
                <a16:creationId xmlns:a16="http://schemas.microsoft.com/office/drawing/2014/main" id="{AB25F4E9-F66D-D672-07B7-616292FD4E01}"/>
              </a:ext>
            </a:extLst>
          </p:cNvPr>
          <p:cNvSpPr txBox="1"/>
          <p:nvPr/>
        </p:nvSpPr>
        <p:spPr>
          <a:xfrm>
            <a:off x="712697" y="1341429"/>
            <a:ext cx="4702056" cy="4006161"/>
          </a:xfrm>
          <a:prstGeom prst="rect">
            <a:avLst/>
          </a:prstGeom>
          <a:noFill/>
        </p:spPr>
        <p:txBody>
          <a:bodyPr wrap="square">
            <a:spAutoFit/>
          </a:bodyPr>
          <a:lstStyle/>
          <a:p>
            <a:pPr marL="342900" marR="0" lvl="0" indent="-342900" algn="l" defTabSz="609585" rtl="0" eaLnBrk="1" fontAlgn="auto" latinLnBrk="0" hangingPunct="1">
              <a:lnSpc>
                <a:spcPct val="150000"/>
              </a:lnSpc>
              <a:spcBef>
                <a:spcPts val="1200"/>
              </a:spcBef>
              <a:spcAft>
                <a:spcPts val="600"/>
              </a:spcAft>
              <a:buClrTx/>
              <a:buSzTx/>
              <a:buFont typeface="Symbol" panose="05050102010706020507" pitchFamily="18" charset="2"/>
              <a:buChar char=""/>
              <a:tabLst>
                <a:tab pos="228600" algn="l"/>
              </a:tabLst>
              <a:defRPr/>
            </a:pPr>
            <a:r>
              <a:rPr kumimoji="0" lang="en-AU" sz="3600" b="0" i="0" u="none" strike="noStrike" kern="1200" cap="none" spc="0" normalizeH="0" baseline="0" noProof="0">
                <a:ln>
                  <a:noFill/>
                </a:ln>
                <a:solidFill>
                  <a:srgbClr val="22272B"/>
                </a:solidFill>
                <a:effectLst/>
                <a:uLnTx/>
                <a:uFillTx/>
                <a:ea typeface="Calibri" panose="020F0502020204030204" pitchFamily="34" charset="0"/>
              </a:rPr>
              <a:t>351 – 39 =</a:t>
            </a:r>
          </a:p>
          <a:p>
            <a:pPr marL="342900" marR="0" lvl="0" indent="-342900" algn="l" defTabSz="609585" rtl="0" eaLnBrk="1" fontAlgn="auto" latinLnBrk="0" hangingPunct="1">
              <a:lnSpc>
                <a:spcPct val="150000"/>
              </a:lnSpc>
              <a:spcBef>
                <a:spcPts val="1200"/>
              </a:spcBef>
              <a:spcAft>
                <a:spcPts val="600"/>
              </a:spcAft>
              <a:buClrTx/>
              <a:buSzTx/>
              <a:buFont typeface="Symbol" panose="05050102010706020507" pitchFamily="18" charset="2"/>
              <a:buChar char=""/>
              <a:tabLst>
                <a:tab pos="228600" algn="l"/>
              </a:tabLst>
              <a:defRPr/>
            </a:pPr>
            <a:r>
              <a:rPr kumimoji="0" lang="en-AU" sz="3600" b="0" i="0" u="none" strike="noStrike" kern="1200" cap="none" spc="0" normalizeH="0" baseline="0" noProof="0">
                <a:ln>
                  <a:noFill/>
                </a:ln>
                <a:solidFill>
                  <a:srgbClr val="22272B"/>
                </a:solidFill>
                <a:effectLst/>
                <a:uLnTx/>
                <a:uFillTx/>
                <a:ea typeface="Calibri" panose="020F0502020204030204" pitchFamily="34" charset="0"/>
              </a:rPr>
              <a:t>941 – 314 – 357 =</a:t>
            </a:r>
          </a:p>
          <a:p>
            <a:pPr marL="342900" marR="0" lvl="0" indent="-342900" algn="l" defTabSz="609585" rtl="0" eaLnBrk="1" fontAlgn="auto" latinLnBrk="0" hangingPunct="1">
              <a:lnSpc>
                <a:spcPct val="150000"/>
              </a:lnSpc>
              <a:spcBef>
                <a:spcPts val="1200"/>
              </a:spcBef>
              <a:spcAft>
                <a:spcPts val="600"/>
              </a:spcAft>
              <a:buClrTx/>
              <a:buSzTx/>
              <a:buFont typeface="Symbol" panose="05050102010706020507" pitchFamily="18" charset="2"/>
              <a:buChar char=""/>
              <a:tabLst>
                <a:tab pos="228600" algn="l"/>
              </a:tabLst>
              <a:defRPr/>
            </a:pPr>
            <a:r>
              <a:rPr kumimoji="0" lang="en-AU" sz="3600" b="0" i="0" u="none" strike="noStrike" kern="1200" cap="none" spc="0" normalizeH="0" baseline="0" noProof="0">
                <a:ln>
                  <a:noFill/>
                </a:ln>
                <a:solidFill>
                  <a:srgbClr val="22272B"/>
                </a:solidFill>
                <a:effectLst/>
                <a:uLnTx/>
                <a:uFillTx/>
                <a:ea typeface="Calibri" panose="020F0502020204030204" pitchFamily="34" charset="0"/>
              </a:rPr>
              <a:t>138 + 98 =</a:t>
            </a:r>
          </a:p>
          <a:p>
            <a:pPr marL="342900" marR="0" lvl="0" indent="-342900" algn="l" defTabSz="609585" rtl="0" eaLnBrk="1" fontAlgn="auto" latinLnBrk="0" hangingPunct="1">
              <a:lnSpc>
                <a:spcPct val="150000"/>
              </a:lnSpc>
              <a:spcBef>
                <a:spcPts val="1200"/>
              </a:spcBef>
              <a:spcAft>
                <a:spcPts val="600"/>
              </a:spcAft>
              <a:buClrTx/>
              <a:buSzTx/>
              <a:buFont typeface="Symbol" panose="05050102010706020507" pitchFamily="18" charset="2"/>
              <a:buChar char=""/>
              <a:tabLst>
                <a:tab pos="228600" algn="l"/>
              </a:tabLst>
              <a:defRPr/>
            </a:pPr>
            <a:r>
              <a:rPr kumimoji="0" lang="en-AU" sz="3600" b="0" i="0" u="none" strike="noStrike" kern="1200" cap="none" spc="0" normalizeH="0" baseline="0" noProof="0">
                <a:ln>
                  <a:noFill/>
                </a:ln>
                <a:solidFill>
                  <a:srgbClr val="22272B"/>
                </a:solidFill>
                <a:effectLst/>
                <a:uLnTx/>
                <a:uFillTx/>
                <a:ea typeface="Calibri" panose="020F0502020204030204" pitchFamily="34" charset="0"/>
              </a:rPr>
              <a:t>113 + 82 =</a:t>
            </a:r>
          </a:p>
        </p:txBody>
      </p:sp>
      <p:sp>
        <p:nvSpPr>
          <p:cNvPr id="44" name="TextBox 43">
            <a:extLst>
              <a:ext uri="{FF2B5EF4-FFF2-40B4-BE49-F238E27FC236}">
                <a16:creationId xmlns:a16="http://schemas.microsoft.com/office/drawing/2014/main" id="{D0F3DE10-CC7F-7E00-CDBA-0B7BF9B7C4E7}"/>
              </a:ext>
            </a:extLst>
          </p:cNvPr>
          <p:cNvSpPr txBox="1"/>
          <p:nvPr/>
        </p:nvSpPr>
        <p:spPr>
          <a:xfrm>
            <a:off x="6096000" y="1341429"/>
            <a:ext cx="5710615" cy="2944332"/>
          </a:xfrm>
          <a:prstGeom prst="rect">
            <a:avLst/>
          </a:prstGeom>
          <a:noFill/>
        </p:spPr>
        <p:txBody>
          <a:bodyPr wrap="square">
            <a:spAutoFit/>
          </a:bodyPr>
          <a:lstStyle/>
          <a:p>
            <a:pPr marL="342900" marR="0" lvl="0" indent="-342900" algn="l" defTabSz="609585" rtl="0" eaLnBrk="1" fontAlgn="auto" latinLnBrk="0" hangingPunct="1">
              <a:lnSpc>
                <a:spcPct val="150000"/>
              </a:lnSpc>
              <a:spcBef>
                <a:spcPts val="1200"/>
              </a:spcBef>
              <a:spcAft>
                <a:spcPts val="600"/>
              </a:spcAft>
              <a:buClrTx/>
              <a:buSzTx/>
              <a:buFont typeface="Symbol" panose="05050102010706020507" pitchFamily="18" charset="2"/>
              <a:buChar char=""/>
              <a:tabLst>
                <a:tab pos="228600" algn="l"/>
              </a:tabLst>
              <a:defRPr/>
            </a:pPr>
            <a:r>
              <a:rPr kumimoji="0" lang="en-AU" sz="3600" b="0" i="0" u="none" strike="noStrike" kern="1200" cap="none" spc="0" normalizeH="0" baseline="0" noProof="0">
                <a:ln>
                  <a:noFill/>
                </a:ln>
                <a:solidFill>
                  <a:srgbClr val="22272B"/>
                </a:solidFill>
                <a:effectLst/>
                <a:uLnTx/>
                <a:uFillTx/>
                <a:ea typeface="Calibri" panose="020F0502020204030204" pitchFamily="34" charset="0"/>
              </a:rPr>
              <a:t>25 + 26 + 27 + 28 + 78 =</a:t>
            </a:r>
          </a:p>
          <a:p>
            <a:pPr marL="342900" marR="0" lvl="0" indent="-342900" algn="l" defTabSz="609585" rtl="0" eaLnBrk="1" fontAlgn="auto" latinLnBrk="0" hangingPunct="1">
              <a:lnSpc>
                <a:spcPct val="150000"/>
              </a:lnSpc>
              <a:spcBef>
                <a:spcPts val="1200"/>
              </a:spcBef>
              <a:spcAft>
                <a:spcPts val="600"/>
              </a:spcAft>
              <a:buClrTx/>
              <a:buSzTx/>
              <a:buFont typeface="Symbol" panose="05050102010706020507" pitchFamily="18" charset="2"/>
              <a:buChar char=""/>
              <a:tabLst>
                <a:tab pos="228600" algn="l"/>
              </a:tabLst>
              <a:defRPr/>
            </a:pPr>
            <a:r>
              <a:rPr kumimoji="0" lang="en-AU" sz="3600" b="0" i="0" u="none" strike="noStrike" kern="1200" cap="none" spc="0" normalizeH="0" baseline="0" noProof="0">
                <a:ln>
                  <a:noFill/>
                </a:ln>
                <a:solidFill>
                  <a:srgbClr val="22272B"/>
                </a:solidFill>
                <a:effectLst/>
                <a:uLnTx/>
                <a:uFillTx/>
                <a:ea typeface="Calibri" panose="020F0502020204030204" pitchFamily="34" charset="0"/>
              </a:rPr>
              <a:t>434 – 200 =</a:t>
            </a:r>
          </a:p>
          <a:p>
            <a:pPr marL="342900" marR="0" lvl="0" indent="-342900" algn="l" defTabSz="609585" rtl="0" eaLnBrk="1" fontAlgn="auto" latinLnBrk="0" hangingPunct="1">
              <a:lnSpc>
                <a:spcPct val="150000"/>
              </a:lnSpc>
              <a:spcBef>
                <a:spcPts val="1200"/>
              </a:spcBef>
              <a:spcAft>
                <a:spcPts val="600"/>
              </a:spcAft>
              <a:buClrTx/>
              <a:buSzTx/>
              <a:buFont typeface="Symbol" panose="05050102010706020507" pitchFamily="18" charset="2"/>
              <a:buChar char=""/>
              <a:tabLst>
                <a:tab pos="228600" algn="l"/>
              </a:tabLst>
              <a:defRPr/>
            </a:pPr>
            <a:r>
              <a:rPr kumimoji="0" lang="en-AU" sz="3600" b="0" i="0" u="none" strike="noStrike" kern="1200" cap="none" spc="0" normalizeH="0" baseline="0" noProof="0">
                <a:ln>
                  <a:noFill/>
                </a:ln>
                <a:solidFill>
                  <a:srgbClr val="22272B"/>
                </a:solidFill>
                <a:effectLst/>
                <a:uLnTx/>
                <a:uFillTx/>
                <a:ea typeface="Calibri" panose="020F0502020204030204" pitchFamily="34" charset="0"/>
              </a:rPr>
              <a:t>500 – 97 – 77 – 81 =</a:t>
            </a:r>
          </a:p>
        </p:txBody>
      </p:sp>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10</a:t>
            </a:fld>
            <a:endParaRPr lang="en-AU"/>
          </a:p>
        </p:txBody>
      </p:sp>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a:solidFill>
                  <a:schemeClr val="bg1"/>
                </a:solidFill>
              </a:rPr>
              <a:t>(1)</a:t>
            </a:r>
          </a:p>
        </p:txBody>
      </p:sp>
      <p:pic>
        <p:nvPicPr>
          <p:cNvPr id="4" name="Picture 3" descr="image of a finger selecting an option for a multiple choice or true and false">
            <a:extLst>
              <a:ext uri="{FF2B5EF4-FFF2-40B4-BE49-F238E27FC236}">
                <a16:creationId xmlns:a16="http://schemas.microsoft.com/office/drawing/2014/main" id="{6FB50F61-F068-87AB-4B10-FC2CEB84FBCE}"/>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360000" y="1184019"/>
            <a:ext cx="11243037" cy="3232706"/>
          </a:xfrm>
        </p:spPr>
        <p:txBody>
          <a:bodyPr/>
          <a:lstStyle/>
          <a:p>
            <a:pPr algn="ctr"/>
            <a:r>
              <a:rPr lang="en-AU" sz="4400"/>
              <a:t>Tommy used </a:t>
            </a:r>
            <a:r>
              <a:rPr lang="en-AU" sz="4400" b="1"/>
              <a:t>estimation</a:t>
            </a:r>
            <a:r>
              <a:rPr lang="en-AU" sz="4400"/>
              <a:t> to solve </a:t>
            </a:r>
          </a:p>
          <a:p>
            <a:pPr algn="ctr"/>
            <a:r>
              <a:rPr lang="en-AU" sz="5400"/>
              <a:t>57 + 541 = about 600</a:t>
            </a:r>
          </a:p>
          <a:p>
            <a:pPr algn="ctr"/>
            <a:r>
              <a:rPr lang="en-AU" sz="4400"/>
              <a:t>His estimation is a </a:t>
            </a:r>
            <a:r>
              <a:rPr lang="en-AU" sz="4400" b="1"/>
              <a:t>reasonable</a:t>
            </a:r>
            <a:r>
              <a:rPr lang="en-AU" sz="4400"/>
              <a:t> </a:t>
            </a:r>
            <a:r>
              <a:rPr lang="en-AU" sz="4400" b="1"/>
              <a:t>solution</a:t>
            </a:r>
            <a:r>
              <a:rPr lang="en-AU" sz="4400"/>
              <a:t>.</a:t>
            </a:r>
          </a:p>
          <a:p>
            <a:pPr algn="ctr"/>
            <a:endParaRPr lang="en-AU" sz="4400"/>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FE886CB-34FF-0292-C29C-0B025043076C}"/>
              </a:ext>
            </a:extLst>
          </p:cNvPr>
          <p:cNvSpPr>
            <a:spLocks noGrp="1"/>
          </p:cNvSpPr>
          <p:nvPr>
            <p:ph type="sldNum" sz="quarter" idx="12"/>
          </p:nvPr>
        </p:nvSpPr>
        <p:spPr/>
        <p:txBody>
          <a:bodyPr/>
          <a:lstStyle/>
          <a:p>
            <a:fld id="{10A01DC5-1685-4615-8240-15192985C6A2}" type="slidenum">
              <a:rPr lang="en-AU" smtClean="0"/>
              <a:t>12</a:t>
            </a:fld>
            <a:endParaRPr lang="en-AU"/>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pic>
        <p:nvPicPr>
          <p:cNvPr id="3" name="Picture 2" descr="image of a clipboard with a pencil recording short answer responses">
            <a:extLst>
              <a:ext uri="{FF2B5EF4-FFF2-40B4-BE49-F238E27FC236}">
                <a16:creationId xmlns:a16="http://schemas.microsoft.com/office/drawing/2014/main" id="{C7718586-1339-6B81-E608-E6AA891DE5E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 Placeholder 5">
            <a:extLst>
              <a:ext uri="{FF2B5EF4-FFF2-40B4-BE49-F238E27FC236}">
                <a16:creationId xmlns:a16="http://schemas.microsoft.com/office/drawing/2014/main" id="{D8A34EC9-178C-8D1E-4D01-3333F1CA91DA}"/>
              </a:ext>
            </a:extLst>
          </p:cNvPr>
          <p:cNvSpPr txBox="1">
            <a:spLocks/>
          </p:cNvSpPr>
          <p:nvPr/>
        </p:nvSpPr>
        <p:spPr>
          <a:xfrm>
            <a:off x="684387" y="905601"/>
            <a:ext cx="10823226" cy="3675924"/>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000"/>
              <a:t>Harry </a:t>
            </a:r>
            <a:r>
              <a:rPr lang="en-AU" sz="4000" b="1"/>
              <a:t>spent $1313 </a:t>
            </a:r>
            <a:r>
              <a:rPr lang="en-AU" sz="4000"/>
              <a:t>on concert tickets. He decided to </a:t>
            </a:r>
            <a:r>
              <a:rPr lang="en-AU" sz="4000" b="1"/>
              <a:t>sell</a:t>
            </a:r>
            <a:r>
              <a:rPr lang="en-AU" sz="4000"/>
              <a:t> his </a:t>
            </a:r>
            <a:r>
              <a:rPr lang="en-AU" sz="4000" b="1"/>
              <a:t>Level 1 </a:t>
            </a:r>
            <a:r>
              <a:rPr lang="en-AU" sz="4000"/>
              <a:t>ticket and </a:t>
            </a:r>
            <a:r>
              <a:rPr lang="en-AU" sz="4000" b="1"/>
              <a:t>two</a:t>
            </a:r>
            <a:r>
              <a:rPr lang="en-AU" sz="4000"/>
              <a:t> of his </a:t>
            </a:r>
            <a:r>
              <a:rPr lang="en-AU" sz="4000" b="1"/>
              <a:t>Level 4</a:t>
            </a:r>
            <a:r>
              <a:rPr lang="en-AU" sz="4000"/>
              <a:t> tickets. </a:t>
            </a:r>
            <a:r>
              <a:rPr lang="en-AU" sz="4000" b="1"/>
              <a:t>How much did he end up </a:t>
            </a:r>
            <a:r>
              <a:rPr lang="en-AU" sz="4000"/>
              <a:t>spending on tickets?</a:t>
            </a:r>
          </a:p>
        </p:txBody>
      </p:sp>
      <p:graphicFrame>
        <p:nvGraphicFramePr>
          <p:cNvPr id="7" name="Table 6">
            <a:extLst>
              <a:ext uri="{FF2B5EF4-FFF2-40B4-BE49-F238E27FC236}">
                <a16:creationId xmlns:a16="http://schemas.microsoft.com/office/drawing/2014/main" id="{8B96F93E-011A-C008-9A2B-3B0D48A8F113}"/>
              </a:ext>
            </a:extLst>
          </p:cNvPr>
          <p:cNvGraphicFramePr>
            <a:graphicFrameLocks noGrp="1"/>
          </p:cNvGraphicFramePr>
          <p:nvPr>
            <p:extLst>
              <p:ext uri="{D42A27DB-BD31-4B8C-83A1-F6EECF244321}">
                <p14:modId xmlns:p14="http://schemas.microsoft.com/office/powerpoint/2010/main" val="4118612748"/>
              </p:ext>
            </p:extLst>
          </p:nvPr>
        </p:nvGraphicFramePr>
        <p:xfrm>
          <a:off x="1914432" y="4812502"/>
          <a:ext cx="8548914" cy="1703498"/>
        </p:xfrm>
        <a:graphic>
          <a:graphicData uri="http://schemas.openxmlformats.org/drawingml/2006/table">
            <a:tbl>
              <a:tblPr firstRow="1" bandRow="1" bandCol="1">
                <a:tableStyleId>{72833802-FEF1-4C79-8D5D-14CF1EAF98D9}</a:tableStyleId>
              </a:tblPr>
              <a:tblGrid>
                <a:gridCol w="1424819">
                  <a:extLst>
                    <a:ext uri="{9D8B030D-6E8A-4147-A177-3AD203B41FA5}">
                      <a16:colId xmlns:a16="http://schemas.microsoft.com/office/drawing/2014/main" val="1747048291"/>
                    </a:ext>
                  </a:extLst>
                </a:gridCol>
                <a:gridCol w="1424819">
                  <a:extLst>
                    <a:ext uri="{9D8B030D-6E8A-4147-A177-3AD203B41FA5}">
                      <a16:colId xmlns:a16="http://schemas.microsoft.com/office/drawing/2014/main" val="852519272"/>
                    </a:ext>
                  </a:extLst>
                </a:gridCol>
                <a:gridCol w="1424819">
                  <a:extLst>
                    <a:ext uri="{9D8B030D-6E8A-4147-A177-3AD203B41FA5}">
                      <a16:colId xmlns:a16="http://schemas.microsoft.com/office/drawing/2014/main" val="3062494687"/>
                    </a:ext>
                  </a:extLst>
                </a:gridCol>
                <a:gridCol w="1424819">
                  <a:extLst>
                    <a:ext uri="{9D8B030D-6E8A-4147-A177-3AD203B41FA5}">
                      <a16:colId xmlns:a16="http://schemas.microsoft.com/office/drawing/2014/main" val="504160657"/>
                    </a:ext>
                  </a:extLst>
                </a:gridCol>
                <a:gridCol w="1424819">
                  <a:extLst>
                    <a:ext uri="{9D8B030D-6E8A-4147-A177-3AD203B41FA5}">
                      <a16:colId xmlns:a16="http://schemas.microsoft.com/office/drawing/2014/main" val="4287121106"/>
                    </a:ext>
                  </a:extLst>
                </a:gridCol>
                <a:gridCol w="1424819">
                  <a:extLst>
                    <a:ext uri="{9D8B030D-6E8A-4147-A177-3AD203B41FA5}">
                      <a16:colId xmlns:a16="http://schemas.microsoft.com/office/drawing/2014/main" val="2597844117"/>
                    </a:ext>
                  </a:extLst>
                </a:gridCol>
              </a:tblGrid>
              <a:tr h="580246">
                <a:tc>
                  <a:txBody>
                    <a:bodyPr/>
                    <a:lstStyle/>
                    <a:p>
                      <a:pPr algn="ctr"/>
                      <a:r>
                        <a:rPr lang="en-AU" sz="2400" b="1"/>
                        <a:t>Level 1</a:t>
                      </a:r>
                    </a:p>
                  </a:txBody>
                  <a:tcPr/>
                </a:tc>
                <a:tc>
                  <a:txBody>
                    <a:bodyPr/>
                    <a:lstStyle/>
                    <a:p>
                      <a:pPr algn="ctr"/>
                      <a:r>
                        <a:rPr lang="en-AU" sz="2400" b="1"/>
                        <a:t>Level 2</a:t>
                      </a:r>
                    </a:p>
                  </a:txBody>
                  <a:tcPr/>
                </a:tc>
                <a:tc>
                  <a:txBody>
                    <a:bodyPr/>
                    <a:lstStyle/>
                    <a:p>
                      <a:pPr algn="ctr"/>
                      <a:r>
                        <a:rPr lang="en-AU" sz="2400" b="1"/>
                        <a:t>Level 3</a:t>
                      </a:r>
                    </a:p>
                  </a:txBody>
                  <a:tcPr/>
                </a:tc>
                <a:tc>
                  <a:txBody>
                    <a:bodyPr/>
                    <a:lstStyle/>
                    <a:p>
                      <a:pPr algn="ctr"/>
                      <a:r>
                        <a:rPr lang="en-AU" sz="2400" b="1"/>
                        <a:t>Level 4</a:t>
                      </a:r>
                    </a:p>
                  </a:txBody>
                  <a:tcPr/>
                </a:tc>
                <a:tc>
                  <a:txBody>
                    <a:bodyPr/>
                    <a:lstStyle/>
                    <a:p>
                      <a:pPr algn="ctr"/>
                      <a:r>
                        <a:rPr lang="en-AU" sz="2400" b="1"/>
                        <a:t>Level 5</a:t>
                      </a:r>
                    </a:p>
                  </a:txBody>
                  <a:tcPr/>
                </a:tc>
                <a:tc>
                  <a:txBody>
                    <a:bodyPr/>
                    <a:lstStyle/>
                    <a:p>
                      <a:pPr algn="ctr"/>
                      <a:r>
                        <a:rPr lang="en-AU" sz="2400" b="1"/>
                        <a:t>Level 6</a:t>
                      </a:r>
                    </a:p>
                  </a:txBody>
                  <a:tcPr/>
                </a:tc>
                <a:extLst>
                  <a:ext uri="{0D108BD9-81ED-4DB2-BD59-A6C34878D82A}">
                    <a16:rowId xmlns:a16="http://schemas.microsoft.com/office/drawing/2014/main" val="568692170"/>
                  </a:ext>
                </a:extLst>
              </a:tr>
              <a:tr h="1123252">
                <a:tc>
                  <a:txBody>
                    <a:bodyPr/>
                    <a:lstStyle/>
                    <a:p>
                      <a:pPr algn="ctr"/>
                      <a:r>
                        <a:rPr lang="en-AU" sz="2400"/>
                        <a:t>$119</a:t>
                      </a:r>
                    </a:p>
                  </a:txBody>
                  <a:tcPr anchor="ctr"/>
                </a:tc>
                <a:tc>
                  <a:txBody>
                    <a:bodyPr/>
                    <a:lstStyle/>
                    <a:p>
                      <a:pPr algn="ctr"/>
                      <a:r>
                        <a:rPr lang="en-AU" sz="2400"/>
                        <a:t>$159</a:t>
                      </a:r>
                    </a:p>
                  </a:txBody>
                  <a:tcPr anchor="ctr"/>
                </a:tc>
                <a:tc>
                  <a:txBody>
                    <a:bodyPr/>
                    <a:lstStyle/>
                    <a:p>
                      <a:pPr algn="ctr"/>
                      <a:r>
                        <a:rPr lang="en-AU" sz="2400"/>
                        <a:t>$199</a:t>
                      </a:r>
                    </a:p>
                  </a:txBody>
                  <a:tcPr anchor="ctr"/>
                </a:tc>
                <a:tc>
                  <a:txBody>
                    <a:bodyPr/>
                    <a:lstStyle/>
                    <a:p>
                      <a:pPr algn="ctr"/>
                      <a:r>
                        <a:rPr lang="en-AU" sz="2400"/>
                        <a:t>$239</a:t>
                      </a:r>
                    </a:p>
                  </a:txBody>
                  <a:tcPr anchor="ctr"/>
                </a:tc>
                <a:tc>
                  <a:txBody>
                    <a:bodyPr/>
                    <a:lstStyle/>
                    <a:p>
                      <a:pPr algn="ctr"/>
                      <a:r>
                        <a:rPr lang="en-AU" sz="2400"/>
                        <a:t>$309</a:t>
                      </a:r>
                    </a:p>
                  </a:txBody>
                  <a:tcPr anchor="ctr"/>
                </a:tc>
                <a:tc>
                  <a:txBody>
                    <a:bodyPr/>
                    <a:lstStyle/>
                    <a:p>
                      <a:pPr algn="ctr"/>
                      <a:r>
                        <a:rPr lang="en-AU" sz="2400"/>
                        <a:t>$379</a:t>
                      </a:r>
                    </a:p>
                  </a:txBody>
                  <a:tcPr anchor="ctr"/>
                </a:tc>
                <a:extLst>
                  <a:ext uri="{0D108BD9-81ED-4DB2-BD59-A6C34878D82A}">
                    <a16:rowId xmlns:a16="http://schemas.microsoft.com/office/drawing/2014/main" val="2156463755"/>
                  </a:ext>
                </a:extLst>
              </a:tr>
            </a:tbl>
          </a:graphicData>
        </a:graphic>
      </p:graphicFrame>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13</a:t>
            </a:fld>
            <a:endParaRPr lang="en-AU"/>
          </a:p>
        </p:txBody>
      </p:sp>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(6)</a:t>
            </a:r>
          </a:p>
        </p:txBody>
      </p:sp>
      <p:pic>
        <p:nvPicPr>
          <p:cNvPr id="3" name="Picture 2" descr="image of a clipboard with a pencil recording short answer responses">
            <a:extLst>
              <a:ext uri="{FF2B5EF4-FFF2-40B4-BE49-F238E27FC236}">
                <a16:creationId xmlns:a16="http://schemas.microsoft.com/office/drawing/2014/main" id="{9C8770A4-A467-8E0A-C417-8D3F46A532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53F997B5-BBEF-18C6-6F33-B096B7319227}"/>
              </a:ext>
            </a:extLst>
          </p:cNvPr>
          <p:cNvSpPr txBox="1"/>
          <p:nvPr/>
        </p:nvSpPr>
        <p:spPr>
          <a:xfrm>
            <a:off x="1183237" y="1695327"/>
            <a:ext cx="9940763" cy="4309569"/>
          </a:xfrm>
          <a:prstGeom prst="rect">
            <a:avLst/>
          </a:prstGeom>
          <a:noFill/>
        </p:spPr>
        <p:txBody>
          <a:bodyPr wrap="square" lIns="0" tIns="0" rIns="0" bIns="0" rtlCol="0">
            <a:noAutofit/>
          </a:bodyPr>
          <a:lstStyle/>
          <a:p>
            <a:pPr algn="ctr">
              <a:lnSpc>
                <a:spcPct val="200000"/>
              </a:lnSpc>
            </a:pPr>
            <a:r>
              <a:rPr lang="en-AU" sz="4400" b="1"/>
              <a:t>Partition</a:t>
            </a:r>
            <a:r>
              <a:rPr lang="en-AU" sz="4400"/>
              <a:t> 407 302 015 </a:t>
            </a:r>
          </a:p>
          <a:p>
            <a:pPr algn="ctr">
              <a:lnSpc>
                <a:spcPct val="200000"/>
              </a:lnSpc>
            </a:pPr>
            <a:r>
              <a:rPr lang="en-AU" sz="4400"/>
              <a:t>in </a:t>
            </a:r>
            <a:r>
              <a:rPr lang="en-AU" sz="4400" b="1"/>
              <a:t>non-standard</a:t>
            </a:r>
            <a:r>
              <a:rPr lang="en-AU" sz="4400"/>
              <a:t> forms. </a:t>
            </a:r>
            <a:endParaRPr lang="en-AU" sz="6600"/>
          </a:p>
        </p:txBody>
      </p:sp>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14</a:t>
            </a:fld>
            <a:endParaRPr lang="en-AU"/>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37AE9-7339-E862-94D3-9875C8A74A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9DE401C-73AF-3C76-8AA5-F065E5BBB776}"/>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(7)</a:t>
            </a:r>
          </a:p>
        </p:txBody>
      </p:sp>
      <p:pic>
        <p:nvPicPr>
          <p:cNvPr id="3" name="Picture 2" descr="image of a clipboard with a pencil recording short answer responses">
            <a:extLst>
              <a:ext uri="{FF2B5EF4-FFF2-40B4-BE49-F238E27FC236}">
                <a16:creationId xmlns:a16="http://schemas.microsoft.com/office/drawing/2014/main" id="{B4426C46-70C1-F92D-9B70-7BC9DF95D72B}"/>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Box 8">
            <a:extLst>
              <a:ext uri="{FF2B5EF4-FFF2-40B4-BE49-F238E27FC236}">
                <a16:creationId xmlns:a16="http://schemas.microsoft.com/office/drawing/2014/main" id="{9CF2E426-24E6-7046-8362-B69EC74AE935}"/>
              </a:ext>
            </a:extLst>
          </p:cNvPr>
          <p:cNvSpPr txBox="1"/>
          <p:nvPr/>
        </p:nvSpPr>
        <p:spPr>
          <a:xfrm>
            <a:off x="1521372" y="1184223"/>
            <a:ext cx="8915400" cy="5045164"/>
          </a:xfrm>
          <a:prstGeom prst="rect">
            <a:avLst/>
          </a:prstGeom>
          <a:noFill/>
        </p:spPr>
        <p:txBody>
          <a:bodyPr wrap="square">
            <a:spAutoFit/>
          </a:bodyPr>
          <a:lstStyle/>
          <a:p>
            <a:pPr algn="ctr">
              <a:lnSpc>
                <a:spcPct val="150000"/>
              </a:lnSpc>
            </a:pPr>
            <a:r>
              <a:rPr lang="en-AU" sz="4400" b="1" dirty="0"/>
              <a:t>Ava</a:t>
            </a:r>
            <a:r>
              <a:rPr lang="en-AU" sz="4400" dirty="0"/>
              <a:t> had </a:t>
            </a:r>
            <a:r>
              <a:rPr lang="en-AU" sz="4400" b="1" dirty="0"/>
              <a:t>17 points</a:t>
            </a:r>
            <a:r>
              <a:rPr lang="en-AU" sz="4400" dirty="0"/>
              <a:t> in a game. </a:t>
            </a:r>
          </a:p>
          <a:p>
            <a:pPr algn="ctr">
              <a:lnSpc>
                <a:spcPct val="150000"/>
              </a:lnSpc>
            </a:pPr>
            <a:r>
              <a:rPr lang="en-AU" sz="4400" dirty="0"/>
              <a:t>She </a:t>
            </a:r>
            <a:r>
              <a:rPr lang="en-AU" sz="4400" b="1" dirty="0"/>
              <a:t>lost 28 points.</a:t>
            </a:r>
            <a:endParaRPr lang="en-AU" sz="4400" dirty="0"/>
          </a:p>
          <a:p>
            <a:pPr algn="ctr">
              <a:lnSpc>
                <a:spcPct val="150000"/>
              </a:lnSpc>
            </a:pPr>
            <a:r>
              <a:rPr lang="en-AU" sz="4400" dirty="0"/>
              <a:t>What is her </a:t>
            </a:r>
            <a:r>
              <a:rPr lang="en-AU" sz="4400" b="1" dirty="0"/>
              <a:t>new score</a:t>
            </a:r>
            <a:r>
              <a:rPr lang="en-AU" sz="4400" dirty="0"/>
              <a:t>?</a:t>
            </a:r>
            <a:br>
              <a:rPr lang="en-AU" sz="4400" dirty="0"/>
            </a:br>
            <a:endParaRPr lang="en-AU" sz="4400" dirty="0"/>
          </a:p>
          <a:p>
            <a:pPr algn="ctr">
              <a:lnSpc>
                <a:spcPct val="150000"/>
              </a:lnSpc>
            </a:pPr>
            <a:r>
              <a:rPr lang="en-AU" sz="4400" dirty="0"/>
              <a:t>Communicate your reasoning.</a:t>
            </a:r>
          </a:p>
        </p:txBody>
      </p:sp>
      <p:sp>
        <p:nvSpPr>
          <p:cNvPr id="2" name="Slide Number Placeholder 1">
            <a:extLst>
              <a:ext uri="{FF2B5EF4-FFF2-40B4-BE49-F238E27FC236}">
                <a16:creationId xmlns:a16="http://schemas.microsoft.com/office/drawing/2014/main" id="{ABBD7510-44B0-2DD8-2647-A3F1417CA016}"/>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15</a:t>
            </a:fld>
            <a:endParaRPr lang="en-AU"/>
          </a:p>
        </p:txBody>
      </p:sp>
    </p:spTree>
    <p:extLst>
      <p:ext uri="{BB962C8B-B14F-4D97-AF65-F5344CB8AC3E}">
        <p14:creationId xmlns:p14="http://schemas.microsoft.com/office/powerpoint/2010/main" val="2122729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(8)</a:t>
            </a:r>
          </a:p>
        </p:txBody>
      </p:sp>
      <p:pic>
        <p:nvPicPr>
          <p:cNvPr id="3" name="Picture 2" descr="image of a clipboard with a pencil recording short answer responses">
            <a:extLst>
              <a:ext uri="{FF2B5EF4-FFF2-40B4-BE49-F238E27FC236}">
                <a16:creationId xmlns:a16="http://schemas.microsoft.com/office/drawing/2014/main" id="{5D2DD89E-AAB3-5EBB-F36F-72D71287FEE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14">
            <a:extLst>
              <a:ext uri="{FF2B5EF4-FFF2-40B4-BE49-F238E27FC236}">
                <a16:creationId xmlns:a16="http://schemas.microsoft.com/office/drawing/2014/main" id="{6EC3C396-F2C5-0210-2A57-C5D8ACBC6496}"/>
              </a:ext>
            </a:extLst>
          </p:cNvPr>
          <p:cNvSpPr txBox="1">
            <a:spLocks/>
          </p:cNvSpPr>
          <p:nvPr/>
        </p:nvSpPr>
        <p:spPr>
          <a:xfrm>
            <a:off x="5890260" y="1476664"/>
            <a:ext cx="5941739" cy="487861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a:t>Using the </a:t>
            </a:r>
            <a:r>
              <a:rPr lang="en-US" sz="4000" b="1"/>
              <a:t>cartesian plane</a:t>
            </a:r>
            <a:r>
              <a:rPr lang="en-US" sz="4000"/>
              <a:t>, move right 4 units and down 2. </a:t>
            </a:r>
          </a:p>
          <a:p>
            <a:pPr algn="ctr"/>
            <a:r>
              <a:rPr lang="en-US" sz="4000"/>
              <a:t>Record your final </a:t>
            </a:r>
            <a:r>
              <a:rPr lang="en-US" sz="4000" b="1"/>
              <a:t>position.</a:t>
            </a:r>
            <a:endParaRPr lang="en-US" sz="4000"/>
          </a:p>
        </p:txBody>
      </p:sp>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16</a:t>
            </a:fld>
            <a:endParaRPr lang="en-AU"/>
          </a:p>
        </p:txBody>
      </p:sp>
      <p:pic>
        <p:nvPicPr>
          <p:cNvPr id="8" name="Picture 7">
            <a:extLst>
              <a:ext uri="{FF2B5EF4-FFF2-40B4-BE49-F238E27FC236}">
                <a16:creationId xmlns:a16="http://schemas.microsoft.com/office/drawing/2014/main" id="{5810CA75-90CC-06C7-3B1A-FABB136BE6E2}"/>
              </a:ext>
            </a:extLst>
          </p:cNvPr>
          <p:cNvPicPr>
            <a:picLocks noChangeAspect="1"/>
          </p:cNvPicPr>
          <p:nvPr/>
        </p:nvPicPr>
        <p:blipFill>
          <a:blip r:embed="rId4"/>
          <a:stretch>
            <a:fillRect/>
          </a:stretch>
        </p:blipFill>
        <p:spPr>
          <a:xfrm>
            <a:off x="539642" y="1126634"/>
            <a:ext cx="5350618" cy="5228643"/>
          </a:xfrm>
          <a:prstGeom prst="rect">
            <a:avLst/>
          </a:prstGeom>
        </p:spPr>
      </p:pic>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a:t>Activity 2 – </a:t>
            </a:r>
            <a:r>
              <a:rPr lang="en-AU">
                <a:latin typeface="Arial"/>
                <a:cs typeface="Arial"/>
              </a:rPr>
              <a:t>flexible strategies with 3-digit numbers</a:t>
            </a:r>
            <a:endParaRPr lang="en-AU"/>
          </a:p>
        </p:txBody>
      </p:sp>
      <p:pic>
        <p:nvPicPr>
          <p:cNvPr id="4" name="Picture 3" descr="image of a head with cogs turning inside">
            <a:extLst>
              <a:ext uri="{FF2B5EF4-FFF2-40B4-BE49-F238E27FC236}">
                <a16:creationId xmlns:a16="http://schemas.microsoft.com/office/drawing/2014/main" id="{D6502462-26FB-38CD-06DC-5F98705966BE}"/>
              </a:ext>
            </a:extLst>
          </p:cNvPr>
          <p:cNvPicPr>
            <a:picLocks noChangeAspect="1"/>
          </p:cNvPicPr>
          <p:nvPr/>
        </p:nvPicPr>
        <p:blipFill>
          <a:blip r:embed="rId3"/>
          <a:stretch>
            <a:fillRect/>
          </a:stretch>
        </p:blipFill>
        <p:spPr>
          <a:xfrm>
            <a:off x="11107003" y="240894"/>
            <a:ext cx="720000" cy="856364"/>
          </a:xfrm>
          <a:prstGeom prst="rect">
            <a:avLst/>
          </a:prstGeom>
        </p:spPr>
      </p:pic>
      <p:sp>
        <p:nvSpPr>
          <p:cNvPr id="10" name="Text Placeholder 14">
            <a:extLst>
              <a:ext uri="{FF2B5EF4-FFF2-40B4-BE49-F238E27FC236}">
                <a16:creationId xmlns:a16="http://schemas.microsoft.com/office/drawing/2014/main" id="{5ED3F155-10F2-2F42-F948-279120CB9E63}"/>
              </a:ext>
            </a:extLst>
          </p:cNvPr>
          <p:cNvSpPr txBox="1">
            <a:spLocks/>
          </p:cNvSpPr>
          <p:nvPr/>
        </p:nvSpPr>
        <p:spPr>
          <a:xfrm>
            <a:off x="3355448" y="1504980"/>
            <a:ext cx="5031807" cy="964339"/>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a:t>Target number: 310</a:t>
            </a:r>
          </a:p>
        </p:txBody>
      </p:sp>
      <p:pic>
        <p:nvPicPr>
          <p:cNvPr id="9" name="Picture 8" descr="A suite of playing cards, 2, ace, 5, 8, 4, 6.&#10;&#10;">
            <a:extLst>
              <a:ext uri="{FF2B5EF4-FFF2-40B4-BE49-F238E27FC236}">
                <a16:creationId xmlns:a16="http://schemas.microsoft.com/office/drawing/2014/main" id="{3653C5BF-3BED-CC4F-4B0D-0382AF3246A9}"/>
              </a:ext>
            </a:extLst>
          </p:cNvPr>
          <p:cNvPicPr>
            <a:picLocks noChangeAspect="1"/>
          </p:cNvPicPr>
          <p:nvPr/>
        </p:nvPicPr>
        <p:blipFill>
          <a:blip r:embed="rId4"/>
          <a:stretch>
            <a:fillRect/>
          </a:stretch>
        </p:blipFill>
        <p:spPr>
          <a:xfrm>
            <a:off x="1732198" y="2643497"/>
            <a:ext cx="8727601" cy="1996207"/>
          </a:xfrm>
          <a:prstGeom prst="rect">
            <a:avLst/>
          </a:prstGeom>
        </p:spPr>
      </p:pic>
      <p:sp>
        <p:nvSpPr>
          <p:cNvPr id="11" name="Text Placeholder 14">
            <a:extLst>
              <a:ext uri="{FF2B5EF4-FFF2-40B4-BE49-F238E27FC236}">
                <a16:creationId xmlns:a16="http://schemas.microsoft.com/office/drawing/2014/main" id="{B12057D9-E81F-11F0-2BA2-01BB14148127}"/>
              </a:ext>
            </a:extLst>
          </p:cNvPr>
          <p:cNvSpPr txBox="1">
            <a:spLocks/>
          </p:cNvSpPr>
          <p:nvPr/>
        </p:nvSpPr>
        <p:spPr>
          <a:xfrm>
            <a:off x="2688682" y="4988059"/>
            <a:ext cx="6814635" cy="964339"/>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a:t>I made 215 + 84 + 6 = 305</a:t>
            </a:r>
          </a:p>
        </p:txBody>
      </p:sp>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17</a:t>
            </a:fld>
            <a:endParaRPr lang="en-AU"/>
          </a:p>
        </p:txBody>
      </p:sp>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1698E-FF3C-D7D7-7361-3B6C06C0CFB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6AF6F33-8B51-F522-6D05-68D5C90AAA03}"/>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(2)</a:t>
            </a:r>
          </a:p>
        </p:txBody>
      </p:sp>
      <p:pic>
        <p:nvPicPr>
          <p:cNvPr id="4" name="Picture 3" descr="image of a finger selecting an option for a multiple choice or true and false">
            <a:extLst>
              <a:ext uri="{FF2B5EF4-FFF2-40B4-BE49-F238E27FC236}">
                <a16:creationId xmlns:a16="http://schemas.microsoft.com/office/drawing/2014/main" id="{112D24DC-0614-F76C-9A4C-36E299EAFF53}"/>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14">
            <a:extLst>
              <a:ext uri="{FF2B5EF4-FFF2-40B4-BE49-F238E27FC236}">
                <a16:creationId xmlns:a16="http://schemas.microsoft.com/office/drawing/2014/main" id="{9C7C84D9-7468-F57D-99F1-C58A56040A58}"/>
              </a:ext>
            </a:extLst>
          </p:cNvPr>
          <p:cNvSpPr>
            <a:spLocks noGrp="1"/>
          </p:cNvSpPr>
          <p:nvPr>
            <p:ph type="body" sz="quarter" idx="28"/>
          </p:nvPr>
        </p:nvSpPr>
        <p:spPr>
          <a:xfrm>
            <a:off x="474481" y="895992"/>
            <a:ext cx="11243037" cy="2151613"/>
          </a:xfrm>
        </p:spPr>
        <p:txBody>
          <a:bodyPr/>
          <a:lstStyle/>
          <a:p>
            <a:pPr algn="ctr"/>
            <a:r>
              <a:rPr lang="en-US" sz="4000"/>
              <a:t>Which </a:t>
            </a:r>
            <a:r>
              <a:rPr lang="en-US" sz="4000" b="1"/>
              <a:t>rounded</a:t>
            </a:r>
            <a:r>
              <a:rPr lang="en-US" sz="4000"/>
              <a:t> numbers are best to solve </a:t>
            </a:r>
          </a:p>
          <a:p>
            <a:pPr algn="ctr"/>
            <a:r>
              <a:rPr lang="en-US" sz="5400"/>
              <a:t>45 873 + 62 491 </a:t>
            </a:r>
          </a:p>
        </p:txBody>
      </p:sp>
      <p:sp>
        <p:nvSpPr>
          <p:cNvPr id="9" name="TextBox 8">
            <a:extLst>
              <a:ext uri="{FF2B5EF4-FFF2-40B4-BE49-F238E27FC236}">
                <a16:creationId xmlns:a16="http://schemas.microsoft.com/office/drawing/2014/main" id="{F91A42F4-D8C9-20A3-82EB-86FAD4D776A8}"/>
              </a:ext>
            </a:extLst>
          </p:cNvPr>
          <p:cNvSpPr txBox="1"/>
          <p:nvPr/>
        </p:nvSpPr>
        <p:spPr>
          <a:xfrm>
            <a:off x="1274657" y="314798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Text Placeholder 17">
            <a:extLst>
              <a:ext uri="{FF2B5EF4-FFF2-40B4-BE49-F238E27FC236}">
                <a16:creationId xmlns:a16="http://schemas.microsoft.com/office/drawing/2014/main" id="{D2386B91-F85A-17DD-80EB-F20033E4EC06}"/>
              </a:ext>
            </a:extLst>
          </p:cNvPr>
          <p:cNvSpPr>
            <a:spLocks noGrp="1"/>
          </p:cNvSpPr>
          <p:nvPr>
            <p:ph type="body" sz="quarter" idx="31"/>
          </p:nvPr>
        </p:nvSpPr>
        <p:spPr>
          <a:xfrm>
            <a:off x="2311567" y="3198169"/>
            <a:ext cx="3784433" cy="641396"/>
          </a:xfrm>
        </p:spPr>
        <p:txBody>
          <a:bodyPr anchor="ctr"/>
          <a:lstStyle/>
          <a:p>
            <a:r>
              <a:rPr lang="en-US" sz="3600"/>
              <a:t>35 000 + 61 000</a:t>
            </a:r>
          </a:p>
        </p:txBody>
      </p:sp>
      <p:sp>
        <p:nvSpPr>
          <p:cNvPr id="10" name="TextBox 9">
            <a:extLst>
              <a:ext uri="{FF2B5EF4-FFF2-40B4-BE49-F238E27FC236}">
                <a16:creationId xmlns:a16="http://schemas.microsoft.com/office/drawing/2014/main" id="{CA9D5B15-A13C-EE8B-176F-3B4E3454A1A2}"/>
              </a:ext>
            </a:extLst>
          </p:cNvPr>
          <p:cNvSpPr txBox="1"/>
          <p:nvPr/>
        </p:nvSpPr>
        <p:spPr>
          <a:xfrm>
            <a:off x="1274656" y="399589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Text Placeholder 16">
            <a:extLst>
              <a:ext uri="{FF2B5EF4-FFF2-40B4-BE49-F238E27FC236}">
                <a16:creationId xmlns:a16="http://schemas.microsoft.com/office/drawing/2014/main" id="{2D36800D-CC3E-E3B5-7DCD-70D138BF62F0}"/>
              </a:ext>
            </a:extLst>
          </p:cNvPr>
          <p:cNvSpPr>
            <a:spLocks noGrp="1"/>
          </p:cNvSpPr>
          <p:nvPr>
            <p:ph type="body" sz="quarter" idx="30"/>
          </p:nvPr>
        </p:nvSpPr>
        <p:spPr>
          <a:xfrm>
            <a:off x="2311567" y="4046082"/>
            <a:ext cx="3784433" cy="641396"/>
          </a:xfrm>
        </p:spPr>
        <p:txBody>
          <a:bodyPr anchor="ctr"/>
          <a:lstStyle/>
          <a:p>
            <a:r>
              <a:rPr lang="en-US" sz="3600"/>
              <a:t>43 000 + 60 000</a:t>
            </a:r>
          </a:p>
        </p:txBody>
      </p:sp>
      <p:sp>
        <p:nvSpPr>
          <p:cNvPr id="12" name="TextBox 11">
            <a:extLst>
              <a:ext uri="{FF2B5EF4-FFF2-40B4-BE49-F238E27FC236}">
                <a16:creationId xmlns:a16="http://schemas.microsoft.com/office/drawing/2014/main" id="{B4746450-E4E2-359C-DFCA-0532E811BD1E}"/>
              </a:ext>
            </a:extLst>
          </p:cNvPr>
          <p:cNvSpPr txBox="1"/>
          <p:nvPr/>
        </p:nvSpPr>
        <p:spPr>
          <a:xfrm>
            <a:off x="1274655" y="484595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Text Placeholder 15">
            <a:extLst>
              <a:ext uri="{FF2B5EF4-FFF2-40B4-BE49-F238E27FC236}">
                <a16:creationId xmlns:a16="http://schemas.microsoft.com/office/drawing/2014/main" id="{8E51689C-1248-B7EC-3B77-B066AB5C6C0D}"/>
              </a:ext>
            </a:extLst>
          </p:cNvPr>
          <p:cNvSpPr>
            <a:spLocks noGrp="1"/>
          </p:cNvSpPr>
          <p:nvPr>
            <p:ph type="body" sz="quarter" idx="29"/>
          </p:nvPr>
        </p:nvSpPr>
        <p:spPr>
          <a:xfrm>
            <a:off x="2311566" y="4896135"/>
            <a:ext cx="3655105" cy="641396"/>
          </a:xfrm>
        </p:spPr>
        <p:txBody>
          <a:bodyPr anchor="ctr"/>
          <a:lstStyle/>
          <a:p>
            <a:r>
              <a:rPr lang="en-US" sz="3600"/>
              <a:t>45 000 + 63 000</a:t>
            </a:r>
          </a:p>
        </p:txBody>
      </p:sp>
      <p:sp>
        <p:nvSpPr>
          <p:cNvPr id="11" name="TextBox 10">
            <a:extLst>
              <a:ext uri="{FF2B5EF4-FFF2-40B4-BE49-F238E27FC236}">
                <a16:creationId xmlns:a16="http://schemas.microsoft.com/office/drawing/2014/main" id="{9B8955CE-78C1-2F30-7505-4CA44A86BDFF}"/>
              </a:ext>
            </a:extLst>
          </p:cNvPr>
          <p:cNvSpPr txBox="1"/>
          <p:nvPr/>
        </p:nvSpPr>
        <p:spPr>
          <a:xfrm>
            <a:off x="1274654" y="567695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Text Placeholder 13">
            <a:extLst>
              <a:ext uri="{FF2B5EF4-FFF2-40B4-BE49-F238E27FC236}">
                <a16:creationId xmlns:a16="http://schemas.microsoft.com/office/drawing/2014/main" id="{D3F4C1E5-AFB7-4898-29F3-EB98C6384093}"/>
              </a:ext>
            </a:extLst>
          </p:cNvPr>
          <p:cNvSpPr>
            <a:spLocks noGrp="1"/>
          </p:cNvSpPr>
          <p:nvPr>
            <p:ph type="body" sz="quarter" idx="27"/>
          </p:nvPr>
        </p:nvSpPr>
        <p:spPr>
          <a:xfrm>
            <a:off x="2311567" y="5746188"/>
            <a:ext cx="3784433" cy="641396"/>
          </a:xfrm>
        </p:spPr>
        <p:txBody>
          <a:bodyPr anchor="ctr"/>
          <a:lstStyle/>
          <a:p>
            <a:r>
              <a:rPr lang="en-US" sz="3600"/>
              <a:t>46 000 + 62 000   </a:t>
            </a:r>
          </a:p>
        </p:txBody>
      </p:sp>
      <p:sp>
        <p:nvSpPr>
          <p:cNvPr id="2" name="Slide Number Placeholder 1">
            <a:extLst>
              <a:ext uri="{FF2B5EF4-FFF2-40B4-BE49-F238E27FC236}">
                <a16:creationId xmlns:a16="http://schemas.microsoft.com/office/drawing/2014/main" id="{9A31263B-00F9-3026-CDD4-F14B3320EE4E}"/>
              </a:ext>
            </a:extLst>
          </p:cNvPr>
          <p:cNvSpPr>
            <a:spLocks noGrp="1"/>
          </p:cNvSpPr>
          <p:nvPr>
            <p:ph type="sldNum" sz="quarter" idx="12"/>
          </p:nvPr>
        </p:nvSpPr>
        <p:spPr/>
        <p:txBody>
          <a:bodyPr/>
          <a:lstStyle/>
          <a:p>
            <a:fld id="{10A01DC5-1685-4615-8240-15192985C6A2}" type="slidenum">
              <a:rPr lang="en-AU" smtClean="0"/>
              <a:t>19</a:t>
            </a:fld>
            <a:endParaRPr lang="en-AU"/>
          </a:p>
        </p:txBody>
      </p:sp>
    </p:spTree>
    <p:extLst>
      <p:ext uri="{BB962C8B-B14F-4D97-AF65-F5344CB8AC3E}">
        <p14:creationId xmlns:p14="http://schemas.microsoft.com/office/powerpoint/2010/main" val="833696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(9)</a:t>
            </a:r>
          </a:p>
        </p:txBody>
      </p:sp>
      <p:pic>
        <p:nvPicPr>
          <p:cNvPr id="3" name="Picture 2" descr="image of a clipboard with a pencil recording short answer responses">
            <a:extLst>
              <a:ext uri="{FF2B5EF4-FFF2-40B4-BE49-F238E27FC236}">
                <a16:creationId xmlns:a16="http://schemas.microsoft.com/office/drawing/2014/main" id="{5EA70859-D7F4-2B7A-27DC-68B58B2816C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 Placeholder 5">
            <a:extLst>
              <a:ext uri="{FF2B5EF4-FFF2-40B4-BE49-F238E27FC236}">
                <a16:creationId xmlns:a16="http://schemas.microsoft.com/office/drawing/2014/main" id="{708778D1-98F6-4405-57F3-06811F42AA87}"/>
              </a:ext>
            </a:extLst>
          </p:cNvPr>
          <p:cNvSpPr txBox="1">
            <a:spLocks/>
          </p:cNvSpPr>
          <p:nvPr/>
        </p:nvSpPr>
        <p:spPr>
          <a:xfrm>
            <a:off x="587830" y="990503"/>
            <a:ext cx="11256170" cy="5264202"/>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000"/>
              <a:t>Katie has $40.00 for groceries. She buys a box of ice creams for $15.95, a bottle of milk for $6.95 and a loaf of bread for $7.50. </a:t>
            </a:r>
          </a:p>
          <a:p>
            <a:pPr algn="ctr"/>
            <a:r>
              <a:rPr lang="en-AU" sz="4000"/>
              <a:t>Use </a:t>
            </a:r>
            <a:r>
              <a:rPr lang="en-AU" sz="4000" b="1"/>
              <a:t>rounding to estimate </a:t>
            </a:r>
            <a:r>
              <a:rPr lang="en-AU" sz="4000"/>
              <a:t>the </a:t>
            </a:r>
            <a:r>
              <a:rPr lang="en-AU" sz="4000" b="1"/>
              <a:t>total cost </a:t>
            </a:r>
            <a:r>
              <a:rPr lang="en-AU" sz="4000"/>
              <a:t>and how much Katie </a:t>
            </a:r>
            <a:r>
              <a:rPr lang="en-AU" sz="4000" b="1"/>
              <a:t>has</a:t>
            </a:r>
            <a:r>
              <a:rPr lang="en-AU" sz="4000"/>
              <a:t> </a:t>
            </a:r>
            <a:r>
              <a:rPr lang="en-AU" sz="4000" b="1"/>
              <a:t>left</a:t>
            </a:r>
            <a:r>
              <a:rPr lang="en-AU" sz="4000"/>
              <a:t>.</a:t>
            </a:r>
          </a:p>
        </p:txBody>
      </p:sp>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20</a:t>
            </a:fld>
            <a:endParaRPr lang="en-AU"/>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pic>
        <p:nvPicPr>
          <p:cNvPr id="3" name="Picture 2" descr="image of a clipboard with a pencil recording short answer responses">
            <a:extLst>
              <a:ext uri="{FF2B5EF4-FFF2-40B4-BE49-F238E27FC236}">
                <a16:creationId xmlns:a16="http://schemas.microsoft.com/office/drawing/2014/main" id="{95A63C50-93CA-645D-9F2D-21E08F0D1705}"/>
              </a:ext>
            </a:extLst>
          </p:cNvPr>
          <p:cNvPicPr>
            <a:picLocks noChangeAspect="1"/>
          </p:cNvPicPr>
          <p:nvPr/>
        </p:nvPicPr>
        <p:blipFill>
          <a:blip r:embed="rId3"/>
          <a:stretch>
            <a:fillRect/>
          </a:stretch>
        </p:blipFill>
        <p:spPr>
          <a:xfrm>
            <a:off x="11026250" y="162000"/>
            <a:ext cx="915500" cy="915500"/>
          </a:xfrm>
          <a:prstGeom prst="rect">
            <a:avLst/>
          </a:prstGeom>
        </p:spPr>
      </p:pic>
      <p:sp>
        <p:nvSpPr>
          <p:cNvPr id="4" name="TextBox 3">
            <a:extLst>
              <a:ext uri="{FF2B5EF4-FFF2-40B4-BE49-F238E27FC236}">
                <a16:creationId xmlns:a16="http://schemas.microsoft.com/office/drawing/2014/main" id="{1FC128F8-A00F-7D1D-405F-8D1D0AC7E5FC}"/>
              </a:ext>
            </a:extLst>
          </p:cNvPr>
          <p:cNvSpPr txBox="1"/>
          <p:nvPr/>
        </p:nvSpPr>
        <p:spPr>
          <a:xfrm>
            <a:off x="474481" y="1581912"/>
            <a:ext cx="11243037" cy="3694176"/>
          </a:xfrm>
          <a:prstGeom prst="rect">
            <a:avLst/>
          </a:prstGeom>
          <a:noFill/>
        </p:spPr>
        <p:txBody>
          <a:bodyPr wrap="square" lIns="0" tIns="0" rIns="0" bIns="0" rtlCol="0">
            <a:noAutofit/>
          </a:bodyPr>
          <a:lstStyle/>
          <a:p>
            <a:pPr algn="ctr">
              <a:lnSpc>
                <a:spcPct val="150000"/>
              </a:lnSpc>
            </a:pPr>
            <a:r>
              <a:rPr lang="en-AU" sz="4400" b="1"/>
              <a:t>Order</a:t>
            </a:r>
            <a:r>
              <a:rPr lang="en-AU" sz="4400"/>
              <a:t> these decimals</a:t>
            </a:r>
          </a:p>
          <a:p>
            <a:pPr algn="ctr">
              <a:lnSpc>
                <a:spcPct val="150000"/>
              </a:lnSpc>
            </a:pPr>
            <a:r>
              <a:rPr lang="en-AU" sz="6600"/>
              <a:t>0.4, 0.04, 0.404, 0.14</a:t>
            </a:r>
          </a:p>
        </p:txBody>
      </p:sp>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21</a:t>
            </a:fld>
            <a:endParaRPr lang="en-AU"/>
          </a:p>
        </p:txBody>
      </p:sp>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pic>
        <p:nvPicPr>
          <p:cNvPr id="3" name="Picture 2" descr="image of a clipboard with a pencil recording short answer responses">
            <a:extLst>
              <a:ext uri="{FF2B5EF4-FFF2-40B4-BE49-F238E27FC236}">
                <a16:creationId xmlns:a16="http://schemas.microsoft.com/office/drawing/2014/main" id="{414B841E-8840-471A-4D5D-BE5947D1F0D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BEEA4BD8-C1F8-D678-FD64-8BA14526D4D5}"/>
              </a:ext>
            </a:extLst>
          </p:cNvPr>
          <p:cNvSpPr txBox="1"/>
          <p:nvPr/>
        </p:nvSpPr>
        <p:spPr>
          <a:xfrm>
            <a:off x="714790" y="1528721"/>
            <a:ext cx="10678924" cy="4398833"/>
          </a:xfrm>
          <a:prstGeom prst="rect">
            <a:avLst/>
          </a:prstGeom>
          <a:noFill/>
        </p:spPr>
        <p:txBody>
          <a:bodyPr wrap="square">
            <a:spAutoFit/>
          </a:bodyPr>
          <a:lstStyle/>
          <a:p>
            <a:pPr algn="ctr">
              <a:lnSpc>
                <a:spcPct val="150000"/>
              </a:lnSpc>
            </a:pPr>
            <a:r>
              <a:rPr lang="en-AU" sz="4400" b="1"/>
              <a:t>Round</a:t>
            </a:r>
            <a:r>
              <a:rPr lang="en-AU" sz="4400"/>
              <a:t> each number to the nearest </a:t>
            </a:r>
            <a:r>
              <a:rPr lang="en-AU" sz="4400" b="1"/>
              <a:t>hundred </a:t>
            </a:r>
            <a:r>
              <a:rPr lang="en-AU" sz="4400"/>
              <a:t>to</a:t>
            </a:r>
            <a:r>
              <a:rPr lang="en-AU" sz="4400" b="1"/>
              <a:t> estimate </a:t>
            </a:r>
            <a:r>
              <a:rPr lang="en-AU" sz="4400"/>
              <a:t>the answer</a:t>
            </a:r>
            <a:endParaRPr lang="en-AU" sz="4400" b="1"/>
          </a:p>
          <a:p>
            <a:pPr algn="ctr">
              <a:lnSpc>
                <a:spcPct val="150000"/>
              </a:lnSpc>
            </a:pPr>
            <a:r>
              <a:rPr lang="en-AU" sz="6000"/>
              <a:t>311 + 288 + 190 + 301 =</a:t>
            </a:r>
          </a:p>
          <a:p>
            <a:pPr algn="ctr">
              <a:lnSpc>
                <a:spcPct val="150000"/>
              </a:lnSpc>
            </a:pPr>
            <a:endParaRPr lang="en-AU" sz="4400"/>
          </a:p>
        </p:txBody>
      </p:sp>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22</a:t>
            </a:fld>
            <a:endParaRPr lang="en-AU"/>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pic>
        <p:nvPicPr>
          <p:cNvPr id="3" name="Picture 2" descr="image of a clipboard with a pencil recording short answer responses">
            <a:extLst>
              <a:ext uri="{FF2B5EF4-FFF2-40B4-BE49-F238E27FC236}">
                <a16:creationId xmlns:a16="http://schemas.microsoft.com/office/drawing/2014/main" id="{4F225E6B-742A-E393-5D68-B394EB858BA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Box 8">
            <a:extLst>
              <a:ext uri="{FF2B5EF4-FFF2-40B4-BE49-F238E27FC236}">
                <a16:creationId xmlns:a16="http://schemas.microsoft.com/office/drawing/2014/main" id="{AF8A0A66-9080-D339-308C-512220E44B7C}"/>
              </a:ext>
            </a:extLst>
          </p:cNvPr>
          <p:cNvSpPr txBox="1"/>
          <p:nvPr/>
        </p:nvSpPr>
        <p:spPr>
          <a:xfrm>
            <a:off x="1212707" y="1033064"/>
            <a:ext cx="9817769" cy="1828800"/>
          </a:xfrm>
          <a:prstGeom prst="rect">
            <a:avLst/>
          </a:prstGeom>
          <a:noFill/>
        </p:spPr>
        <p:txBody>
          <a:bodyPr wrap="square" lIns="0" tIns="0" rIns="0" bIns="0" rtlCol="0">
            <a:noAutofit/>
          </a:bodyPr>
          <a:lstStyle/>
          <a:p>
            <a:pPr algn="ctr">
              <a:lnSpc>
                <a:spcPct val="150000"/>
              </a:lnSpc>
            </a:pPr>
            <a:r>
              <a:rPr lang="en-AU" sz="4400" b="1"/>
              <a:t>Identify</a:t>
            </a:r>
            <a:r>
              <a:rPr lang="en-AU" sz="4400"/>
              <a:t> and </a:t>
            </a:r>
            <a:r>
              <a:rPr lang="en-AU" sz="4400" b="1"/>
              <a:t>classify</a:t>
            </a:r>
            <a:r>
              <a:rPr lang="en-AU" sz="4400"/>
              <a:t> the </a:t>
            </a:r>
            <a:r>
              <a:rPr lang="en-AU" sz="4400" b="1"/>
              <a:t>triangles.</a:t>
            </a:r>
          </a:p>
        </p:txBody>
      </p:sp>
      <p:pic>
        <p:nvPicPr>
          <p:cNvPr id="11" name="Picture 10" descr="A purple, a blue and a green triangle.">
            <a:extLst>
              <a:ext uri="{FF2B5EF4-FFF2-40B4-BE49-F238E27FC236}">
                <a16:creationId xmlns:a16="http://schemas.microsoft.com/office/drawing/2014/main" id="{FDD8C455-3AA2-3F11-ABCA-4B9B52816B5F}"/>
              </a:ext>
            </a:extLst>
          </p:cNvPr>
          <p:cNvPicPr>
            <a:picLocks noChangeAspect="1"/>
          </p:cNvPicPr>
          <p:nvPr/>
        </p:nvPicPr>
        <p:blipFill>
          <a:blip r:embed="rId4"/>
          <a:stretch>
            <a:fillRect/>
          </a:stretch>
        </p:blipFill>
        <p:spPr>
          <a:xfrm>
            <a:off x="1283827" y="1947464"/>
            <a:ext cx="9982920" cy="3593110"/>
          </a:xfrm>
          <a:prstGeom prst="rect">
            <a:avLst/>
          </a:prstGeom>
        </p:spPr>
      </p:pic>
      <p:sp>
        <p:nvSpPr>
          <p:cNvPr id="12" name="TextBox 11">
            <a:extLst>
              <a:ext uri="{FF2B5EF4-FFF2-40B4-BE49-F238E27FC236}">
                <a16:creationId xmlns:a16="http://schemas.microsoft.com/office/drawing/2014/main" id="{E74867F6-433F-3429-7BDA-31B8356AA37C}"/>
              </a:ext>
            </a:extLst>
          </p:cNvPr>
          <p:cNvSpPr txBox="1"/>
          <p:nvPr/>
        </p:nvSpPr>
        <p:spPr>
          <a:xfrm>
            <a:off x="2830287" y="5305443"/>
            <a:ext cx="7561942" cy="1038986"/>
          </a:xfrm>
          <a:prstGeom prst="rect">
            <a:avLst/>
          </a:prstGeom>
          <a:noFill/>
        </p:spPr>
        <p:txBody>
          <a:bodyPr wrap="square" lIns="0" tIns="0" rIns="0" bIns="0" rtlCol="0">
            <a:noAutofit/>
          </a:bodyPr>
          <a:lstStyle/>
          <a:p>
            <a:pPr>
              <a:lnSpc>
                <a:spcPct val="150000"/>
              </a:lnSpc>
            </a:pPr>
            <a:r>
              <a:rPr lang="en-AU" sz="4400" b="1"/>
              <a:t>A	 				  B				   C										</a:t>
            </a:r>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DCFF0-18EE-70EF-0C7B-39E4D695F43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B68E759-99B0-73B8-6D9A-569EC5A4303A}"/>
              </a:ext>
            </a:extLst>
          </p:cNvPr>
          <p:cNvSpPr>
            <a:spLocks noGrp="1"/>
          </p:cNvSpPr>
          <p:nvPr>
            <p:ph type="title"/>
          </p:nvPr>
        </p:nvSpPr>
        <p:spPr>
          <a:xfrm>
            <a:off x="348000" y="174843"/>
            <a:ext cx="10367268" cy="545601"/>
          </a:xfrm>
        </p:spPr>
        <p:txBody>
          <a:bodyPr/>
          <a:lstStyle/>
          <a:p>
            <a:r>
              <a:rPr lang="en-AU"/>
              <a:t>Activity 3 – </a:t>
            </a:r>
            <a:r>
              <a:rPr lang="en-AU">
                <a:latin typeface="Arial"/>
                <a:cs typeface="Arial"/>
              </a:rPr>
              <a:t>rounding large numbers </a:t>
            </a:r>
            <a:r>
              <a:rPr lang="en-AU">
                <a:solidFill>
                  <a:schemeClr val="bg1"/>
                </a:solidFill>
                <a:latin typeface="Arial"/>
                <a:cs typeface="Arial"/>
              </a:rPr>
              <a:t>(1)</a:t>
            </a:r>
            <a:endParaRPr lang="en-AU">
              <a:solidFill>
                <a:schemeClr val="bg1"/>
              </a:solidFill>
            </a:endParaRPr>
          </a:p>
        </p:txBody>
      </p:sp>
      <p:sp>
        <p:nvSpPr>
          <p:cNvPr id="2" name="Slide Number Placeholder 1">
            <a:extLst>
              <a:ext uri="{FF2B5EF4-FFF2-40B4-BE49-F238E27FC236}">
                <a16:creationId xmlns:a16="http://schemas.microsoft.com/office/drawing/2014/main" id="{CA2D9CA1-6257-AE26-A281-281D27AE39C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pic>
        <p:nvPicPr>
          <p:cNvPr id="4" name="Picture 3" descr="image of a head with cogs turning inside">
            <a:extLst>
              <a:ext uri="{FF2B5EF4-FFF2-40B4-BE49-F238E27FC236}">
                <a16:creationId xmlns:a16="http://schemas.microsoft.com/office/drawing/2014/main" id="{13E5FA90-4D79-A547-3EE0-569626D6F3C4}"/>
              </a:ext>
            </a:extLst>
          </p:cNvPr>
          <p:cNvPicPr>
            <a:picLocks noChangeAspect="1"/>
          </p:cNvPicPr>
          <p:nvPr/>
        </p:nvPicPr>
        <p:blipFill>
          <a:blip r:embed="rId3"/>
          <a:stretch>
            <a:fillRect/>
          </a:stretch>
        </p:blipFill>
        <p:spPr>
          <a:xfrm>
            <a:off x="11462993" y="49237"/>
            <a:ext cx="564327" cy="671207"/>
          </a:xfrm>
          <a:prstGeom prst="rect">
            <a:avLst/>
          </a:prstGeom>
        </p:spPr>
      </p:pic>
      <p:pic>
        <p:nvPicPr>
          <p:cNvPr id="5" name="Picture 4" descr="A table with numbers and a list of teams and crowd numbers. ">
            <a:extLst>
              <a:ext uri="{FF2B5EF4-FFF2-40B4-BE49-F238E27FC236}">
                <a16:creationId xmlns:a16="http://schemas.microsoft.com/office/drawing/2014/main" id="{BFCBBEE7-0101-C589-A593-74B7F46D0DE8}"/>
              </a:ext>
            </a:extLst>
          </p:cNvPr>
          <p:cNvPicPr>
            <a:picLocks noChangeAspect="1"/>
          </p:cNvPicPr>
          <p:nvPr/>
        </p:nvPicPr>
        <p:blipFill>
          <a:blip r:embed="rId4"/>
          <a:stretch>
            <a:fillRect/>
          </a:stretch>
        </p:blipFill>
        <p:spPr>
          <a:xfrm>
            <a:off x="164680" y="1018322"/>
            <a:ext cx="5760085" cy="5664835"/>
          </a:xfrm>
          <a:prstGeom prst="rect">
            <a:avLst/>
          </a:prstGeom>
        </p:spPr>
      </p:pic>
      <p:sp>
        <p:nvSpPr>
          <p:cNvPr id="7" name="Text Placeholder 14">
            <a:extLst>
              <a:ext uri="{FF2B5EF4-FFF2-40B4-BE49-F238E27FC236}">
                <a16:creationId xmlns:a16="http://schemas.microsoft.com/office/drawing/2014/main" id="{9B86EAF9-01C8-00E7-E549-8BA57B8F0CE6}"/>
              </a:ext>
            </a:extLst>
          </p:cNvPr>
          <p:cNvSpPr txBox="1">
            <a:spLocks/>
          </p:cNvSpPr>
          <p:nvPr/>
        </p:nvSpPr>
        <p:spPr>
          <a:xfrm>
            <a:off x="6096000" y="1068117"/>
            <a:ext cx="5943405" cy="562788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pPr>
            <a:r>
              <a:rPr lang="en-AU" sz="2400"/>
              <a:t>What was the total number of spectators at your favourite NRL team’s game?</a:t>
            </a:r>
          </a:p>
          <a:p>
            <a:pPr marL="285750" lvl="0" indent="-285750">
              <a:lnSpc>
                <a:spcPct val="100000"/>
              </a:lnSpc>
              <a:buFont typeface="Arial" panose="020B0604020202020204" pitchFamily="34" charset="0"/>
              <a:buChar char="•"/>
            </a:pPr>
            <a:r>
              <a:rPr lang="en-AU" sz="2400"/>
              <a:t>What was the total number of spectators at your least favourite NRL team’s game?</a:t>
            </a:r>
          </a:p>
          <a:p>
            <a:pPr marL="285750" lvl="0" indent="-285750">
              <a:lnSpc>
                <a:spcPct val="100000"/>
              </a:lnSpc>
              <a:buFont typeface="Arial" panose="020B0604020202020204" pitchFamily="34" charset="0"/>
              <a:buChar char="•"/>
            </a:pPr>
            <a:r>
              <a:rPr lang="en-AU" sz="2400"/>
              <a:t>Which stadium had the most spectators attend in the month of June?</a:t>
            </a:r>
          </a:p>
          <a:p>
            <a:pPr marL="285750" lvl="0" indent="-285750">
              <a:lnSpc>
                <a:spcPct val="100000"/>
              </a:lnSpc>
              <a:buFont typeface="Arial" panose="020B0604020202020204" pitchFamily="34" charset="0"/>
              <a:buChar char="•"/>
            </a:pPr>
            <a:r>
              <a:rPr lang="en-AU" sz="2400"/>
              <a:t>Which stadium had the least number of spectators visit in the month of June? How does it compare with the stadium that had the most?</a:t>
            </a:r>
          </a:p>
        </p:txBody>
      </p:sp>
    </p:spTree>
    <p:extLst>
      <p:ext uri="{BB962C8B-B14F-4D97-AF65-F5344CB8AC3E}">
        <p14:creationId xmlns:p14="http://schemas.microsoft.com/office/powerpoint/2010/main" val="2372507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48000" y="174843"/>
            <a:ext cx="10367268" cy="545601"/>
          </a:xfrm>
        </p:spPr>
        <p:txBody>
          <a:bodyPr/>
          <a:lstStyle/>
          <a:p>
            <a:r>
              <a:rPr lang="en-AU"/>
              <a:t>Activity 3 – </a:t>
            </a:r>
            <a:r>
              <a:rPr lang="en-AU">
                <a:latin typeface="Arial"/>
                <a:cs typeface="Arial"/>
              </a:rPr>
              <a:t>rounding large numbers </a:t>
            </a:r>
            <a:r>
              <a:rPr lang="en-AU">
                <a:solidFill>
                  <a:schemeClr val="bg1"/>
                </a:solidFill>
                <a:latin typeface="Arial"/>
                <a:cs typeface="Arial"/>
              </a:rPr>
              <a:t>(2)</a:t>
            </a:r>
            <a:endParaRPr lang="en-AU">
              <a:solidFill>
                <a:schemeClr val="bg1"/>
              </a:solidFill>
            </a:endParaRPr>
          </a:p>
        </p:txBody>
      </p:sp>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25</a:t>
            </a:fld>
            <a:endParaRPr lang="en-AU"/>
          </a:p>
        </p:txBody>
      </p:sp>
      <p:pic>
        <p:nvPicPr>
          <p:cNvPr id="4" name="Picture 3" descr="image of a head with cogs turning inside">
            <a:extLst>
              <a:ext uri="{FF2B5EF4-FFF2-40B4-BE49-F238E27FC236}">
                <a16:creationId xmlns:a16="http://schemas.microsoft.com/office/drawing/2014/main" id="{296D4226-C1D0-BEBB-1948-F7CDF78884C4}"/>
              </a:ext>
            </a:extLst>
          </p:cNvPr>
          <p:cNvPicPr>
            <a:picLocks noChangeAspect="1"/>
          </p:cNvPicPr>
          <p:nvPr/>
        </p:nvPicPr>
        <p:blipFill>
          <a:blip r:embed="rId3"/>
          <a:stretch>
            <a:fillRect/>
          </a:stretch>
        </p:blipFill>
        <p:spPr>
          <a:xfrm>
            <a:off x="11462993" y="49237"/>
            <a:ext cx="564327" cy="671207"/>
          </a:xfrm>
          <a:prstGeom prst="rect">
            <a:avLst/>
          </a:prstGeom>
        </p:spPr>
      </p:pic>
      <p:pic>
        <p:nvPicPr>
          <p:cNvPr id="5" name="Picture 4" descr="A table with numbers and a list of teams and crowd numbers. ">
            <a:extLst>
              <a:ext uri="{FF2B5EF4-FFF2-40B4-BE49-F238E27FC236}">
                <a16:creationId xmlns:a16="http://schemas.microsoft.com/office/drawing/2014/main" id="{A0D64E53-B1A1-A584-0615-F1A811A0316B}"/>
              </a:ext>
            </a:extLst>
          </p:cNvPr>
          <p:cNvPicPr>
            <a:picLocks noChangeAspect="1"/>
          </p:cNvPicPr>
          <p:nvPr/>
        </p:nvPicPr>
        <p:blipFill>
          <a:blip r:embed="rId4"/>
          <a:stretch>
            <a:fillRect/>
          </a:stretch>
        </p:blipFill>
        <p:spPr>
          <a:xfrm>
            <a:off x="164680" y="1018322"/>
            <a:ext cx="5760085" cy="5664835"/>
          </a:xfrm>
          <a:prstGeom prst="rect">
            <a:avLst/>
          </a:prstGeom>
        </p:spPr>
      </p:pic>
      <p:sp>
        <p:nvSpPr>
          <p:cNvPr id="7" name="Text Placeholder 14">
            <a:extLst>
              <a:ext uri="{FF2B5EF4-FFF2-40B4-BE49-F238E27FC236}">
                <a16:creationId xmlns:a16="http://schemas.microsoft.com/office/drawing/2014/main" id="{EE0EEA8D-041E-8BBF-53EE-4279EF7893DB}"/>
              </a:ext>
            </a:extLst>
          </p:cNvPr>
          <p:cNvSpPr txBox="1">
            <a:spLocks/>
          </p:cNvSpPr>
          <p:nvPr/>
        </p:nvSpPr>
        <p:spPr>
          <a:xfrm>
            <a:off x="6096000" y="1055274"/>
            <a:ext cx="5943405" cy="313790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pPr>
            <a:r>
              <a:rPr lang="en-AU" sz="2400"/>
              <a:t>Can you predict the crowd numbers for the next NRL game?</a:t>
            </a:r>
          </a:p>
          <a:p>
            <a:pPr marL="285750" lvl="0" indent="-285750">
              <a:lnSpc>
                <a:spcPct val="100000"/>
              </a:lnSpc>
              <a:buFont typeface="Arial" panose="020B0604020202020204" pitchFamily="34" charset="0"/>
              <a:buChar char="•"/>
            </a:pPr>
            <a:r>
              <a:rPr lang="en-AU" sz="2400"/>
              <a:t>What game had more spectators than the June 12th long weekend game? How many more spectators were there?</a:t>
            </a:r>
          </a:p>
          <a:p>
            <a:pPr marL="285750" lvl="0" indent="-285750">
              <a:lnSpc>
                <a:spcPct val="100000"/>
              </a:lnSpc>
              <a:buFont typeface="Arial" panose="020B0604020202020204" pitchFamily="34" charset="0"/>
              <a:buChar char="•"/>
            </a:pPr>
            <a:r>
              <a:rPr lang="en-AU" sz="2400"/>
              <a:t>What was the difference between the games with the most and least number of spectators?</a:t>
            </a:r>
          </a:p>
          <a:p>
            <a:pPr marL="285750" lvl="0" indent="-285750">
              <a:lnSpc>
                <a:spcPct val="100000"/>
              </a:lnSpc>
              <a:buFont typeface="Arial" panose="020B0604020202020204" pitchFamily="34" charset="0"/>
              <a:buChar char="•"/>
            </a:pPr>
            <a:r>
              <a:rPr lang="en-AU" sz="2400"/>
              <a:t>How did you use estimating to help solve the problems?</a:t>
            </a:r>
          </a:p>
          <a:p>
            <a:pPr marL="285750" lvl="0" indent="-285750">
              <a:lnSpc>
                <a:spcPct val="100000"/>
              </a:lnSpc>
              <a:buFont typeface="Arial" panose="020B0604020202020204" pitchFamily="34" charset="0"/>
              <a:buChar char="•"/>
            </a:pPr>
            <a:r>
              <a:rPr lang="en-AU" sz="2400"/>
              <a:t>What other information can you find using the NRL table?</a:t>
            </a:r>
          </a:p>
        </p:txBody>
      </p:sp>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a:solidFill>
                  <a:schemeClr val="bg1"/>
                </a:solidFill>
              </a:rPr>
              <a:t>(2)</a:t>
            </a:r>
          </a:p>
        </p:txBody>
      </p:sp>
      <p:pic>
        <p:nvPicPr>
          <p:cNvPr id="4" name="Picture 3" descr="image of a finger selecting an option for a multiple choice or true and false">
            <a:extLst>
              <a:ext uri="{FF2B5EF4-FFF2-40B4-BE49-F238E27FC236}">
                <a16:creationId xmlns:a16="http://schemas.microsoft.com/office/drawing/2014/main" id="{10894CBE-266A-B58D-5858-0C2919DF6112}"/>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a:xfrm>
            <a:off x="360000" y="1431808"/>
            <a:ext cx="11243037" cy="2130502"/>
          </a:xfrm>
        </p:spPr>
        <p:txBody>
          <a:bodyPr/>
          <a:lstStyle/>
          <a:p>
            <a:pPr algn="ctr"/>
            <a:r>
              <a:rPr lang="en-AU" sz="4400"/>
              <a:t>The </a:t>
            </a:r>
            <a:r>
              <a:rPr lang="en-AU" sz="4400" b="1"/>
              <a:t>question</a:t>
            </a:r>
            <a:r>
              <a:rPr lang="en-AU" sz="4400"/>
              <a:t> is 42 000 + 5 123 + 246.</a:t>
            </a:r>
          </a:p>
          <a:p>
            <a:pPr algn="ctr"/>
            <a:r>
              <a:rPr lang="en-AU" sz="4400"/>
              <a:t> The </a:t>
            </a:r>
            <a:r>
              <a:rPr lang="en-AU" sz="4400" b="1"/>
              <a:t>answer</a:t>
            </a:r>
            <a:r>
              <a:rPr lang="en-AU" sz="4400"/>
              <a:t> is 47 369. </a:t>
            </a:r>
          </a:p>
          <a:p>
            <a:pPr algn="ctr"/>
            <a:endParaRPr lang="en-AU" sz="4400"/>
          </a:p>
        </p:txBody>
      </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2689061261"/>
              </p:ext>
            </p:extLst>
          </p:nvPr>
        </p:nvGraphicFramePr>
        <p:xfrm>
          <a:off x="2442981" y="4332484"/>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5" name="Text Placeholder 5">
            <a:extLst>
              <a:ext uri="{FF2B5EF4-FFF2-40B4-BE49-F238E27FC236}">
                <a16:creationId xmlns:a16="http://schemas.microsoft.com/office/drawing/2014/main" id="{B4E7C25D-9614-BB14-08E0-E8FC76C31322}"/>
              </a:ext>
            </a:extLst>
          </p:cNvPr>
          <p:cNvSpPr txBox="1">
            <a:spLocks/>
          </p:cNvSpPr>
          <p:nvPr/>
        </p:nvSpPr>
        <p:spPr>
          <a:xfrm>
            <a:off x="474481" y="5163049"/>
            <a:ext cx="1124303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t>Communicate</a:t>
            </a:r>
            <a:r>
              <a:rPr lang="en-AU" sz="4400"/>
              <a:t> your </a:t>
            </a:r>
            <a:r>
              <a:rPr lang="en-AU" sz="4400" b="1"/>
              <a:t>thinking</a:t>
            </a:r>
            <a:r>
              <a:rPr lang="en-AU" sz="4400"/>
              <a:t>.</a:t>
            </a:r>
          </a:p>
        </p:txBody>
      </p:sp>
      <p:sp>
        <p:nvSpPr>
          <p:cNvPr id="2" name="Slide Number Placeholder 1">
            <a:extLst>
              <a:ext uri="{FF2B5EF4-FFF2-40B4-BE49-F238E27FC236}">
                <a16:creationId xmlns:a16="http://schemas.microsoft.com/office/drawing/2014/main" id="{5543D758-EFDD-EFF7-9F6F-60499B8070EF}"/>
              </a:ext>
            </a:extLst>
          </p:cNvPr>
          <p:cNvSpPr>
            <a:spLocks noGrp="1"/>
          </p:cNvSpPr>
          <p:nvPr>
            <p:ph type="sldNum" sz="quarter" idx="12"/>
          </p:nvPr>
        </p:nvSpPr>
        <p:spPr/>
        <p:txBody>
          <a:bodyPr/>
          <a:lstStyle/>
          <a:p>
            <a:fld id="{10A01DC5-1685-4615-8240-15192985C6A2}" type="slidenum">
              <a:rPr lang="en-AU" smtClean="0"/>
              <a:t>27</a:t>
            </a:fld>
            <a:endParaRPr lang="en-AU"/>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pic>
        <p:nvPicPr>
          <p:cNvPr id="3" name="Picture 2" descr="image of a clipboard with a pencil recording short answer responses">
            <a:extLst>
              <a:ext uri="{FF2B5EF4-FFF2-40B4-BE49-F238E27FC236}">
                <a16:creationId xmlns:a16="http://schemas.microsoft.com/office/drawing/2014/main" id="{B6B8916C-EC27-6464-77C1-A2C737717E1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5">
            <a:extLst>
              <a:ext uri="{FF2B5EF4-FFF2-40B4-BE49-F238E27FC236}">
                <a16:creationId xmlns:a16="http://schemas.microsoft.com/office/drawing/2014/main" id="{478C5A42-9F6F-29B8-2666-83F8D910FC03}"/>
              </a:ext>
            </a:extLst>
          </p:cNvPr>
          <p:cNvSpPr txBox="1">
            <a:spLocks/>
          </p:cNvSpPr>
          <p:nvPr/>
        </p:nvSpPr>
        <p:spPr>
          <a:xfrm>
            <a:off x="1526128" y="1278928"/>
            <a:ext cx="9139743" cy="4690798"/>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Choose an </a:t>
            </a:r>
            <a:r>
              <a:rPr lang="en-AU" sz="4400" b="1"/>
              <a:t>efficient strategy </a:t>
            </a:r>
            <a:r>
              <a:rPr lang="en-AU" sz="4400"/>
              <a:t>to solve:</a:t>
            </a:r>
          </a:p>
          <a:p>
            <a:pPr algn="ctr"/>
            <a:r>
              <a:rPr lang="en-AU" sz="5400"/>
              <a:t>3988 + 855</a:t>
            </a:r>
          </a:p>
          <a:p>
            <a:pPr algn="ctr"/>
            <a:r>
              <a:rPr lang="en-AU" sz="4400" b="1"/>
              <a:t>Communicate </a:t>
            </a:r>
            <a:r>
              <a:rPr lang="en-AU" sz="4400"/>
              <a:t>your </a:t>
            </a:r>
            <a:r>
              <a:rPr lang="en-AU" sz="4400" b="1"/>
              <a:t>strategy</a:t>
            </a:r>
            <a:r>
              <a:rPr lang="en-AU" sz="4400"/>
              <a:t>.</a:t>
            </a:r>
          </a:p>
        </p:txBody>
      </p:sp>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pic>
        <p:nvPicPr>
          <p:cNvPr id="3" name="Picture 2" descr="image of a clipboard with a pencil recording short answer responses">
            <a:extLst>
              <a:ext uri="{FF2B5EF4-FFF2-40B4-BE49-F238E27FC236}">
                <a16:creationId xmlns:a16="http://schemas.microsoft.com/office/drawing/2014/main" id="{5F20B6C4-74D6-9AE8-543F-873936583C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8DC4C932-2FA9-7BA3-2493-605AC42FEBDD}"/>
              </a:ext>
            </a:extLst>
          </p:cNvPr>
          <p:cNvSpPr txBox="1"/>
          <p:nvPr/>
        </p:nvSpPr>
        <p:spPr>
          <a:xfrm>
            <a:off x="659891" y="1278928"/>
            <a:ext cx="10872216" cy="3959278"/>
          </a:xfrm>
          <a:prstGeom prst="rect">
            <a:avLst/>
          </a:prstGeom>
          <a:noFill/>
        </p:spPr>
        <p:txBody>
          <a:bodyPr wrap="square" lIns="0" tIns="0" rIns="0" bIns="0" rtlCol="0">
            <a:noAutofit/>
          </a:bodyPr>
          <a:lstStyle/>
          <a:p>
            <a:pPr algn="ctr">
              <a:lnSpc>
                <a:spcPct val="150000"/>
              </a:lnSpc>
            </a:pPr>
            <a:r>
              <a:rPr lang="en-AU" sz="4400"/>
              <a:t>Record in </a:t>
            </a:r>
            <a:r>
              <a:rPr lang="en-AU" sz="4400" b="1"/>
              <a:t>ascending</a:t>
            </a:r>
            <a:r>
              <a:rPr lang="en-AU" sz="4400"/>
              <a:t> order:</a:t>
            </a:r>
          </a:p>
          <a:p>
            <a:pPr algn="ctr"/>
            <a:endParaRPr lang="en-AU" sz="4400"/>
          </a:p>
          <a:p>
            <a:pPr algn="ctr">
              <a:lnSpc>
                <a:spcPct val="150000"/>
              </a:lnSpc>
            </a:pPr>
            <a:r>
              <a:rPr lang="en-AU" sz="6000"/>
              <a:t>25.56,  23.46,  22.99,  25.06</a:t>
            </a:r>
          </a:p>
        </p:txBody>
      </p:sp>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pic>
        <p:nvPicPr>
          <p:cNvPr id="3" name="Picture 2" descr="image of a clipboard with a pencil recording short answer responses">
            <a:extLst>
              <a:ext uri="{FF2B5EF4-FFF2-40B4-BE49-F238E27FC236}">
                <a16:creationId xmlns:a16="http://schemas.microsoft.com/office/drawing/2014/main" id="{71518DCE-2BBE-0AC2-F72B-B5E11C24F8A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F92414F4-054E-EF83-C236-10F22C8332AA}"/>
              </a:ext>
            </a:extLst>
          </p:cNvPr>
          <p:cNvSpPr txBox="1"/>
          <p:nvPr/>
        </p:nvSpPr>
        <p:spPr>
          <a:xfrm>
            <a:off x="1731600" y="1184223"/>
            <a:ext cx="9554709" cy="4136004"/>
          </a:xfrm>
          <a:prstGeom prst="rect">
            <a:avLst/>
          </a:prstGeom>
          <a:noFill/>
        </p:spPr>
        <p:txBody>
          <a:bodyPr wrap="square">
            <a:spAutoFit/>
          </a:bodyPr>
          <a:lstStyle/>
          <a:p>
            <a:pPr algn="ctr">
              <a:lnSpc>
                <a:spcPct val="150000"/>
              </a:lnSpc>
            </a:pPr>
            <a:r>
              <a:rPr lang="en-AU" sz="4400" b="1"/>
              <a:t>Round</a:t>
            </a:r>
            <a:r>
              <a:rPr lang="en-AU" sz="4400"/>
              <a:t> each number to the nearest </a:t>
            </a:r>
            <a:r>
              <a:rPr lang="en-AU" sz="4400" b="1"/>
              <a:t>hundred </a:t>
            </a:r>
            <a:r>
              <a:rPr lang="en-AU" sz="4400"/>
              <a:t>to</a:t>
            </a:r>
            <a:r>
              <a:rPr lang="en-AU" sz="4400" b="1"/>
              <a:t> estimate </a:t>
            </a:r>
            <a:r>
              <a:rPr lang="en-AU" sz="4400"/>
              <a:t>the answer</a:t>
            </a:r>
            <a:r>
              <a:rPr lang="en-AU" sz="4400" b="1"/>
              <a:t>:</a:t>
            </a:r>
          </a:p>
          <a:p>
            <a:pPr algn="ctr"/>
            <a:endParaRPr lang="en-AU" sz="4400"/>
          </a:p>
          <a:p>
            <a:pPr algn="ctr">
              <a:lnSpc>
                <a:spcPct val="150000"/>
              </a:lnSpc>
            </a:pPr>
            <a:r>
              <a:rPr lang="en-AU" sz="6600"/>
              <a:t>1227 + 1486 </a:t>
            </a:r>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pic>
        <p:nvPicPr>
          <p:cNvPr id="3" name="Picture 2" descr="image of a clipboard with a pencil recording short answer responses">
            <a:extLst>
              <a:ext uri="{FF2B5EF4-FFF2-40B4-BE49-F238E27FC236}">
                <a16:creationId xmlns:a16="http://schemas.microsoft.com/office/drawing/2014/main" id="{602A5C36-777A-4A3B-4BB2-D0CC6ABD673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A34A67CC-AB1D-9A94-1624-B3908D1DF76A}"/>
              </a:ext>
            </a:extLst>
          </p:cNvPr>
          <p:cNvSpPr txBox="1"/>
          <p:nvPr/>
        </p:nvSpPr>
        <p:spPr>
          <a:xfrm>
            <a:off x="6274348" y="1553029"/>
            <a:ext cx="5254319" cy="4586515"/>
          </a:xfrm>
          <a:prstGeom prst="rect">
            <a:avLst/>
          </a:prstGeom>
          <a:noFill/>
        </p:spPr>
        <p:txBody>
          <a:bodyPr wrap="square" lIns="0" tIns="0" rIns="0" bIns="0" rtlCol="0">
            <a:noAutofit/>
          </a:bodyPr>
          <a:lstStyle/>
          <a:p>
            <a:pPr algn="ctr">
              <a:lnSpc>
                <a:spcPct val="150000"/>
              </a:lnSpc>
            </a:pPr>
            <a:r>
              <a:rPr lang="en-AU" sz="4400"/>
              <a:t>Name these </a:t>
            </a:r>
            <a:r>
              <a:rPr lang="en-AU" sz="4400" b="1"/>
              <a:t>angles</a:t>
            </a:r>
            <a:r>
              <a:rPr lang="en-AU" sz="4400"/>
              <a:t> and record how many </a:t>
            </a:r>
            <a:r>
              <a:rPr lang="en-AU" sz="4400" b="1"/>
              <a:t>degrees</a:t>
            </a:r>
            <a:r>
              <a:rPr lang="en-AU" sz="4400"/>
              <a:t> each angle has.</a:t>
            </a:r>
            <a:endParaRPr lang="en-AU" sz="4400" b="1"/>
          </a:p>
        </p:txBody>
      </p:sp>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31</a:t>
            </a:fld>
            <a:endParaRPr lang="en-AU"/>
          </a:p>
        </p:txBody>
      </p:sp>
      <p:pic>
        <p:nvPicPr>
          <p:cNvPr id="5" name="Picture 4">
            <a:extLst>
              <a:ext uri="{FF2B5EF4-FFF2-40B4-BE49-F238E27FC236}">
                <a16:creationId xmlns:a16="http://schemas.microsoft.com/office/drawing/2014/main" id="{60BCB1D2-20AC-3BDF-B300-62DB94FC7381}"/>
              </a:ext>
            </a:extLst>
          </p:cNvPr>
          <p:cNvPicPr>
            <a:picLocks noChangeAspect="1"/>
          </p:cNvPicPr>
          <p:nvPr/>
        </p:nvPicPr>
        <p:blipFill>
          <a:blip r:embed="rId4"/>
          <a:stretch>
            <a:fillRect/>
          </a:stretch>
        </p:blipFill>
        <p:spPr>
          <a:xfrm>
            <a:off x="663333" y="1058586"/>
            <a:ext cx="5351212" cy="5398708"/>
          </a:xfrm>
          <a:prstGeom prst="rect">
            <a:avLst/>
          </a:prstGeom>
        </p:spPr>
      </p:pic>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a:t>Activity 4 – </a:t>
            </a:r>
            <a:r>
              <a:rPr lang="en-AU">
                <a:latin typeface="Arial"/>
                <a:cs typeface="Arial"/>
              </a:rPr>
              <a:t>5-digit number facts</a:t>
            </a:r>
            <a:endParaRPr lang="en-AU"/>
          </a:p>
        </p:txBody>
      </p:sp>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32</a:t>
            </a:fld>
            <a:endParaRPr lang="en-AU"/>
          </a:p>
        </p:txBody>
      </p:sp>
      <p:pic>
        <p:nvPicPr>
          <p:cNvPr id="4" name="Picture 3" descr="image of a head with cogs turning inside">
            <a:extLst>
              <a:ext uri="{FF2B5EF4-FFF2-40B4-BE49-F238E27FC236}">
                <a16:creationId xmlns:a16="http://schemas.microsoft.com/office/drawing/2014/main" id="{A43A6869-C067-0F7B-A324-667A71E83728}"/>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4">
            <a:extLst>
              <a:ext uri="{FF2B5EF4-FFF2-40B4-BE49-F238E27FC236}">
                <a16:creationId xmlns:a16="http://schemas.microsoft.com/office/drawing/2014/main" id="{65596470-0661-9C5A-D2CB-6BBFAF8707ED}"/>
              </a:ext>
            </a:extLst>
          </p:cNvPr>
          <p:cNvSpPr txBox="1"/>
          <p:nvPr/>
        </p:nvSpPr>
        <p:spPr>
          <a:xfrm>
            <a:off x="2751174" y="1542710"/>
            <a:ext cx="6689651" cy="2884251"/>
          </a:xfrm>
          <a:prstGeom prst="rect">
            <a:avLst/>
          </a:prstGeom>
          <a:noFill/>
        </p:spPr>
        <p:txBody>
          <a:bodyPr wrap="square">
            <a:spAutoFit/>
          </a:bodyPr>
          <a:lstStyle/>
          <a:p>
            <a:pPr algn="ctr">
              <a:lnSpc>
                <a:spcPct val="150000"/>
              </a:lnSpc>
            </a:pPr>
            <a:r>
              <a:rPr lang="en-AU" sz="13800"/>
              <a:t>25 356</a:t>
            </a:r>
          </a:p>
        </p:txBody>
      </p:sp>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A4F62-887D-AFD2-E976-96EC9113760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85C7A13-FF33-191B-A60E-4D4573CCD3C9}"/>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(3)</a:t>
            </a:r>
          </a:p>
        </p:txBody>
      </p:sp>
      <p:pic>
        <p:nvPicPr>
          <p:cNvPr id="4" name="Picture 3" descr="image of a finger selecting an option for a multiple choice or true and false">
            <a:extLst>
              <a:ext uri="{FF2B5EF4-FFF2-40B4-BE49-F238E27FC236}">
                <a16:creationId xmlns:a16="http://schemas.microsoft.com/office/drawing/2014/main" id="{052C7F21-CF1B-B8E5-D48F-252B3A5306C6}"/>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E180F3B1-ACC7-4559-EA73-174DB17A0983}"/>
              </a:ext>
            </a:extLst>
          </p:cNvPr>
          <p:cNvSpPr>
            <a:spLocks noGrp="1"/>
          </p:cNvSpPr>
          <p:nvPr>
            <p:ph type="body" sz="quarter" idx="24"/>
          </p:nvPr>
        </p:nvSpPr>
        <p:spPr>
          <a:xfrm>
            <a:off x="360000" y="1423927"/>
            <a:ext cx="11243037" cy="893226"/>
          </a:xfrm>
        </p:spPr>
        <p:txBody>
          <a:bodyPr/>
          <a:lstStyle/>
          <a:p>
            <a:pPr algn="ctr"/>
            <a:r>
              <a:rPr lang="en-US" sz="4400"/>
              <a:t>The </a:t>
            </a:r>
            <a:r>
              <a:rPr lang="en-US" sz="4400" b="1"/>
              <a:t>product</a:t>
            </a:r>
            <a:r>
              <a:rPr lang="en-US" sz="4400"/>
              <a:t> of 8 and 7 is:</a:t>
            </a:r>
          </a:p>
        </p:txBody>
      </p:sp>
      <p:sp>
        <p:nvSpPr>
          <p:cNvPr id="9" name="TextBox 8">
            <a:extLst>
              <a:ext uri="{FF2B5EF4-FFF2-40B4-BE49-F238E27FC236}">
                <a16:creationId xmlns:a16="http://schemas.microsoft.com/office/drawing/2014/main" id="{4E6EA9CC-6235-8807-420B-A4371AC418C0}"/>
              </a:ext>
            </a:extLst>
          </p:cNvPr>
          <p:cNvSpPr txBox="1"/>
          <p:nvPr/>
        </p:nvSpPr>
        <p:spPr>
          <a:xfrm>
            <a:off x="1416396" y="350145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5" name="TextBox 4">
            <a:extLst>
              <a:ext uri="{FF2B5EF4-FFF2-40B4-BE49-F238E27FC236}">
                <a16:creationId xmlns:a16="http://schemas.microsoft.com/office/drawing/2014/main" id="{46C6011D-0E3C-4E80-8C6F-991BEFC5D1BD}"/>
              </a:ext>
            </a:extLst>
          </p:cNvPr>
          <p:cNvSpPr txBox="1"/>
          <p:nvPr/>
        </p:nvSpPr>
        <p:spPr>
          <a:xfrm>
            <a:off x="1279645" y="4685765"/>
            <a:ext cx="8029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15</a:t>
            </a:r>
          </a:p>
        </p:txBody>
      </p:sp>
      <p:sp>
        <p:nvSpPr>
          <p:cNvPr id="10" name="TextBox 9">
            <a:extLst>
              <a:ext uri="{FF2B5EF4-FFF2-40B4-BE49-F238E27FC236}">
                <a16:creationId xmlns:a16="http://schemas.microsoft.com/office/drawing/2014/main" id="{4AB24A3E-5574-D79C-6A0F-06D3F8A29BB1}"/>
              </a:ext>
            </a:extLst>
          </p:cNvPr>
          <p:cNvSpPr txBox="1"/>
          <p:nvPr/>
        </p:nvSpPr>
        <p:spPr>
          <a:xfrm>
            <a:off x="4420369" y="350145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6" name="TextBox 5">
            <a:extLst>
              <a:ext uri="{FF2B5EF4-FFF2-40B4-BE49-F238E27FC236}">
                <a16:creationId xmlns:a16="http://schemas.microsoft.com/office/drawing/2014/main" id="{C2602636-12CE-8523-A33E-AF34D9BFB477}"/>
              </a:ext>
            </a:extLst>
          </p:cNvPr>
          <p:cNvSpPr txBox="1"/>
          <p:nvPr/>
        </p:nvSpPr>
        <p:spPr>
          <a:xfrm>
            <a:off x="4334644" y="4717573"/>
            <a:ext cx="885056"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 1</a:t>
            </a:r>
          </a:p>
        </p:txBody>
      </p:sp>
      <p:sp>
        <p:nvSpPr>
          <p:cNvPr id="12" name="TextBox 11">
            <a:extLst>
              <a:ext uri="{FF2B5EF4-FFF2-40B4-BE49-F238E27FC236}">
                <a16:creationId xmlns:a16="http://schemas.microsoft.com/office/drawing/2014/main" id="{D92289C6-858E-E449-16B6-10640E9A4385}"/>
              </a:ext>
            </a:extLst>
          </p:cNvPr>
          <p:cNvSpPr txBox="1"/>
          <p:nvPr/>
        </p:nvSpPr>
        <p:spPr>
          <a:xfrm>
            <a:off x="7424342" y="350145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8" name="TextBox 7">
            <a:extLst>
              <a:ext uri="{FF2B5EF4-FFF2-40B4-BE49-F238E27FC236}">
                <a16:creationId xmlns:a16="http://schemas.microsoft.com/office/drawing/2014/main" id="{7EBAF263-7EA9-19EE-32A2-748232C4090A}"/>
              </a:ext>
            </a:extLst>
          </p:cNvPr>
          <p:cNvSpPr txBox="1"/>
          <p:nvPr/>
        </p:nvSpPr>
        <p:spPr>
          <a:xfrm>
            <a:off x="7246528" y="4685765"/>
            <a:ext cx="885056"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56</a:t>
            </a:r>
          </a:p>
        </p:txBody>
      </p:sp>
      <p:sp>
        <p:nvSpPr>
          <p:cNvPr id="11" name="TextBox 10">
            <a:extLst>
              <a:ext uri="{FF2B5EF4-FFF2-40B4-BE49-F238E27FC236}">
                <a16:creationId xmlns:a16="http://schemas.microsoft.com/office/drawing/2014/main" id="{C22AC239-77AC-A298-F7CD-0F89091EC017}"/>
              </a:ext>
            </a:extLst>
          </p:cNvPr>
          <p:cNvSpPr txBox="1"/>
          <p:nvPr/>
        </p:nvSpPr>
        <p:spPr>
          <a:xfrm>
            <a:off x="10428316" y="350145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 name="Slide Number Placeholder 1">
            <a:extLst>
              <a:ext uri="{FF2B5EF4-FFF2-40B4-BE49-F238E27FC236}">
                <a16:creationId xmlns:a16="http://schemas.microsoft.com/office/drawing/2014/main" id="{29BCC904-C834-E490-B334-2E65478E2C62}"/>
              </a:ext>
            </a:extLst>
          </p:cNvPr>
          <p:cNvSpPr>
            <a:spLocks noGrp="1"/>
          </p:cNvSpPr>
          <p:nvPr>
            <p:ph type="sldNum" sz="quarter" idx="12"/>
          </p:nvPr>
        </p:nvSpPr>
        <p:spPr/>
        <p:txBody>
          <a:bodyPr/>
          <a:lstStyle/>
          <a:p>
            <a:fld id="{10A01DC5-1685-4615-8240-15192985C6A2}" type="slidenum">
              <a:rPr lang="en-AU" smtClean="0"/>
              <a:t>34</a:t>
            </a:fld>
            <a:endParaRPr lang="en-AU"/>
          </a:p>
        </p:txBody>
      </p:sp>
      <p:sp>
        <p:nvSpPr>
          <p:cNvPr id="13" name="TextBox 12">
            <a:extLst>
              <a:ext uri="{FF2B5EF4-FFF2-40B4-BE49-F238E27FC236}">
                <a16:creationId xmlns:a16="http://schemas.microsoft.com/office/drawing/2014/main" id="{C7B45A1E-E86D-CA60-ACBC-0EB2DD4218BA}"/>
              </a:ext>
            </a:extLst>
          </p:cNvPr>
          <p:cNvSpPr txBox="1"/>
          <p:nvPr/>
        </p:nvSpPr>
        <p:spPr>
          <a:xfrm>
            <a:off x="10158412" y="4685765"/>
            <a:ext cx="885056"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70</a:t>
            </a:r>
          </a:p>
        </p:txBody>
      </p:sp>
    </p:spTree>
    <p:extLst>
      <p:ext uri="{BB962C8B-B14F-4D97-AF65-F5344CB8AC3E}">
        <p14:creationId xmlns:p14="http://schemas.microsoft.com/office/powerpoint/2010/main" val="375424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pic>
        <p:nvPicPr>
          <p:cNvPr id="3" name="Picture 2" descr="image of a clipboard with a pencil recording short answer responses">
            <a:extLst>
              <a:ext uri="{FF2B5EF4-FFF2-40B4-BE49-F238E27FC236}">
                <a16:creationId xmlns:a16="http://schemas.microsoft.com/office/drawing/2014/main" id="{4BDD99B8-CF6E-F7A3-575D-5F08BFBF6D7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 Placeholder 5">
            <a:extLst>
              <a:ext uri="{FF2B5EF4-FFF2-40B4-BE49-F238E27FC236}">
                <a16:creationId xmlns:a16="http://schemas.microsoft.com/office/drawing/2014/main" id="{28722183-7E14-2C65-19EB-F501BEFA1823}"/>
              </a:ext>
            </a:extLst>
          </p:cNvPr>
          <p:cNvSpPr txBox="1">
            <a:spLocks/>
          </p:cNvSpPr>
          <p:nvPr/>
        </p:nvSpPr>
        <p:spPr>
          <a:xfrm>
            <a:off x="1161143" y="905601"/>
            <a:ext cx="9566125" cy="568367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t>Tilly works at a Sunday market stall and sold </a:t>
            </a:r>
            <a:r>
              <a:rPr lang="en-AU" sz="4400" b="1" dirty="0"/>
              <a:t>$367 </a:t>
            </a:r>
            <a:r>
              <a:rPr lang="en-AU" sz="4400" dirty="0"/>
              <a:t>worth of goods. The stall owner pays a fee of </a:t>
            </a:r>
            <a:r>
              <a:rPr lang="en-AU" sz="4400" b="1" dirty="0"/>
              <a:t>$50 </a:t>
            </a:r>
            <a:r>
              <a:rPr lang="en-AU" sz="4400" dirty="0"/>
              <a:t>and pays Tilly </a:t>
            </a:r>
            <a:r>
              <a:rPr lang="en-AU" sz="4400" b="1" dirty="0"/>
              <a:t>$60</a:t>
            </a:r>
            <a:r>
              <a:rPr lang="en-AU" sz="4400" dirty="0"/>
              <a:t>. After </a:t>
            </a:r>
            <a:r>
              <a:rPr lang="en-AU" sz="4400" b="1" dirty="0"/>
              <a:t>costs</a:t>
            </a:r>
            <a:r>
              <a:rPr lang="en-AU" sz="4400" dirty="0"/>
              <a:t>, what is the stall owner’s </a:t>
            </a:r>
            <a:r>
              <a:rPr lang="en-AU" sz="4400" b="1" dirty="0"/>
              <a:t>profit</a:t>
            </a:r>
            <a:r>
              <a:rPr lang="en-AU" sz="4400" dirty="0"/>
              <a:t>?</a:t>
            </a:r>
          </a:p>
        </p:txBody>
      </p:sp>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pic>
        <p:nvPicPr>
          <p:cNvPr id="3" name="Picture 2" descr="image of a clipboard with a pencil recording short answer responses">
            <a:extLst>
              <a:ext uri="{FF2B5EF4-FFF2-40B4-BE49-F238E27FC236}">
                <a16:creationId xmlns:a16="http://schemas.microsoft.com/office/drawing/2014/main" id="{E34FFB15-F7DE-0945-FB9C-D8A36F224B6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17">
            <a:extLst>
              <a:ext uri="{FF2B5EF4-FFF2-40B4-BE49-F238E27FC236}">
                <a16:creationId xmlns:a16="http://schemas.microsoft.com/office/drawing/2014/main" id="{E145C712-C922-CE0D-C014-7B16196AF385}"/>
              </a:ext>
            </a:extLst>
          </p:cNvPr>
          <p:cNvSpPr txBox="1">
            <a:spLocks/>
          </p:cNvSpPr>
          <p:nvPr/>
        </p:nvSpPr>
        <p:spPr>
          <a:xfrm>
            <a:off x="360000" y="1021993"/>
            <a:ext cx="11243037" cy="2227007"/>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dirty="0"/>
              <a:t>Record the role of </a:t>
            </a:r>
            <a:r>
              <a:rPr lang="en-US" sz="4400" b="1" dirty="0"/>
              <a:t>zero in each of these numbers,</a:t>
            </a:r>
          </a:p>
        </p:txBody>
      </p:sp>
      <p:sp>
        <p:nvSpPr>
          <p:cNvPr id="7" name="TextBox 6">
            <a:extLst>
              <a:ext uri="{FF2B5EF4-FFF2-40B4-BE49-F238E27FC236}">
                <a16:creationId xmlns:a16="http://schemas.microsoft.com/office/drawing/2014/main" id="{E86873FC-865F-96D7-4E3B-7E8A26C52EFE}"/>
              </a:ext>
            </a:extLst>
          </p:cNvPr>
          <p:cNvSpPr txBox="1"/>
          <p:nvPr/>
        </p:nvSpPr>
        <p:spPr>
          <a:xfrm>
            <a:off x="4667975" y="3429000"/>
            <a:ext cx="2627086" cy="3013838"/>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4400" dirty="0"/>
              <a:t>  2.0</a:t>
            </a:r>
          </a:p>
          <a:p>
            <a:pPr marL="342900" indent="-342900">
              <a:lnSpc>
                <a:spcPct val="150000"/>
              </a:lnSpc>
              <a:buFont typeface="Arial" panose="020B0604020202020204" pitchFamily="34" charset="0"/>
              <a:buChar char="•"/>
            </a:pPr>
            <a:r>
              <a:rPr lang="en-US" sz="4400" dirty="0"/>
              <a:t>  1.05</a:t>
            </a:r>
          </a:p>
          <a:p>
            <a:pPr marL="342900" indent="-342900">
              <a:lnSpc>
                <a:spcPct val="150000"/>
              </a:lnSpc>
              <a:buFont typeface="Arial" panose="020B0604020202020204" pitchFamily="34" charset="0"/>
              <a:buChar char="•"/>
            </a:pPr>
            <a:r>
              <a:rPr lang="en-US" sz="4400" dirty="0"/>
              <a:t>  1.077</a:t>
            </a:r>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pic>
        <p:nvPicPr>
          <p:cNvPr id="3" name="Picture 2" descr="image of a clipboard with a pencil recording short answer responses">
            <a:extLst>
              <a:ext uri="{FF2B5EF4-FFF2-40B4-BE49-F238E27FC236}">
                <a16:creationId xmlns:a16="http://schemas.microsoft.com/office/drawing/2014/main" id="{B38D0ADF-3DD6-732F-15F0-9E23C65094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E7CCB233-FB68-6C84-D173-67317A9B17B5}"/>
              </a:ext>
            </a:extLst>
          </p:cNvPr>
          <p:cNvSpPr txBox="1"/>
          <p:nvPr/>
        </p:nvSpPr>
        <p:spPr>
          <a:xfrm>
            <a:off x="739537" y="925831"/>
            <a:ext cx="10139335" cy="4271210"/>
          </a:xfrm>
          <a:prstGeom prst="rect">
            <a:avLst/>
          </a:prstGeom>
          <a:noFill/>
        </p:spPr>
        <p:txBody>
          <a:bodyPr wrap="square" lIns="0" tIns="0" rIns="0" bIns="0" rtlCol="0">
            <a:noAutofit/>
          </a:bodyPr>
          <a:lstStyle/>
          <a:p>
            <a:pPr algn="ctr">
              <a:lnSpc>
                <a:spcPct val="150000"/>
              </a:lnSpc>
            </a:pPr>
            <a:r>
              <a:rPr lang="en-AU" sz="4400"/>
              <a:t>Phoenix has $300 for the weekend. </a:t>
            </a:r>
            <a:r>
              <a:rPr lang="en-AU" sz="4400" b="1"/>
              <a:t>Half</a:t>
            </a:r>
            <a:r>
              <a:rPr lang="en-AU" sz="4400"/>
              <a:t> of his </a:t>
            </a:r>
            <a:r>
              <a:rPr lang="en-AU" sz="4400" b="1"/>
              <a:t>money</a:t>
            </a:r>
            <a:r>
              <a:rPr lang="en-AU" sz="4400"/>
              <a:t> is for accommodation. </a:t>
            </a:r>
            <a:r>
              <a:rPr lang="en-AU" sz="4400" b="1"/>
              <a:t>How much </a:t>
            </a:r>
            <a:r>
              <a:rPr lang="en-AU" sz="4400"/>
              <a:t>of his money will he</a:t>
            </a:r>
            <a:r>
              <a:rPr lang="en-AU" sz="4400" b="1"/>
              <a:t> have left</a:t>
            </a:r>
            <a:r>
              <a:rPr lang="en-AU" sz="4400"/>
              <a:t>? What </a:t>
            </a:r>
            <a:r>
              <a:rPr lang="en-AU" sz="4400" b="1"/>
              <a:t>percentage</a:t>
            </a:r>
            <a:r>
              <a:rPr lang="en-AU" sz="4400"/>
              <a:t> of the total amount of money is that?</a:t>
            </a:r>
          </a:p>
        </p:txBody>
      </p:sp>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37</a:t>
            </a:fld>
            <a:endParaRPr lang="en-AU"/>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pic>
        <p:nvPicPr>
          <p:cNvPr id="3" name="Picture 2" descr="image of a clipboard with a pencil recording short answer responses">
            <a:extLst>
              <a:ext uri="{FF2B5EF4-FFF2-40B4-BE49-F238E27FC236}">
                <a16:creationId xmlns:a16="http://schemas.microsoft.com/office/drawing/2014/main" id="{8579B78F-E8F7-2A31-5798-ADB627F8314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17">
            <a:extLst>
              <a:ext uri="{FF2B5EF4-FFF2-40B4-BE49-F238E27FC236}">
                <a16:creationId xmlns:a16="http://schemas.microsoft.com/office/drawing/2014/main" id="{93326408-60E4-0302-F077-C1ABDF9215CF}"/>
              </a:ext>
            </a:extLst>
          </p:cNvPr>
          <p:cNvSpPr txBox="1">
            <a:spLocks/>
          </p:cNvSpPr>
          <p:nvPr/>
        </p:nvSpPr>
        <p:spPr>
          <a:xfrm>
            <a:off x="730656" y="1346223"/>
            <a:ext cx="10753344" cy="4312875"/>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Create a </a:t>
            </a:r>
            <a:r>
              <a:rPr lang="en-US" sz="4400" b="1"/>
              <a:t>survey question</a:t>
            </a:r>
            <a:r>
              <a:rPr lang="en-US" sz="4400"/>
              <a:t> to collect </a:t>
            </a:r>
            <a:r>
              <a:rPr lang="en-US" sz="4400" b="1"/>
              <a:t>data </a:t>
            </a:r>
            <a:r>
              <a:rPr lang="en-US" sz="4400"/>
              <a:t>about recess activities that would use a scale of 1 – 5 with </a:t>
            </a:r>
          </a:p>
          <a:p>
            <a:pPr algn="ctr"/>
            <a:r>
              <a:rPr lang="en-US" sz="4400"/>
              <a:t>1 = I don’t like to 5 = I like a lot.</a:t>
            </a:r>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4510D-03AB-A49C-FB07-C5B08BB550B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58936EF-39DB-A26A-767B-048700FA7B75}"/>
              </a:ext>
            </a:extLst>
          </p:cNvPr>
          <p:cNvSpPr>
            <a:spLocks noGrp="1"/>
          </p:cNvSpPr>
          <p:nvPr>
            <p:ph type="title"/>
          </p:nvPr>
        </p:nvSpPr>
        <p:spPr>
          <a:xfrm>
            <a:off x="360000" y="360000"/>
            <a:ext cx="10367268" cy="545601"/>
          </a:xfrm>
        </p:spPr>
        <p:txBody>
          <a:bodyPr/>
          <a:lstStyle/>
          <a:p>
            <a:r>
              <a:rPr lang="en-AU"/>
              <a:t>Activity 5 – </a:t>
            </a:r>
            <a:r>
              <a:rPr lang="en-AU">
                <a:latin typeface="Arial"/>
                <a:cs typeface="Arial"/>
              </a:rPr>
              <a:t>product target</a:t>
            </a:r>
            <a:endParaRPr lang="en-AU"/>
          </a:p>
        </p:txBody>
      </p:sp>
      <p:pic>
        <p:nvPicPr>
          <p:cNvPr id="4" name="Picture 3" descr="image of a head with cogs turning inside">
            <a:extLst>
              <a:ext uri="{FF2B5EF4-FFF2-40B4-BE49-F238E27FC236}">
                <a16:creationId xmlns:a16="http://schemas.microsoft.com/office/drawing/2014/main" id="{D5C88FCC-DAAC-130D-94F2-9F1E3084EB5F}"/>
              </a:ext>
            </a:extLst>
          </p:cNvPr>
          <p:cNvPicPr>
            <a:picLocks noChangeAspect="1"/>
          </p:cNvPicPr>
          <p:nvPr/>
        </p:nvPicPr>
        <p:blipFill>
          <a:blip r:embed="rId3"/>
          <a:stretch>
            <a:fillRect/>
          </a:stretch>
        </p:blipFill>
        <p:spPr>
          <a:xfrm>
            <a:off x="11107003" y="240894"/>
            <a:ext cx="720000" cy="856364"/>
          </a:xfrm>
          <a:prstGeom prst="rect">
            <a:avLst/>
          </a:prstGeom>
        </p:spPr>
      </p:pic>
      <p:sp>
        <p:nvSpPr>
          <p:cNvPr id="10" name="TextBox 9">
            <a:extLst>
              <a:ext uri="{FF2B5EF4-FFF2-40B4-BE49-F238E27FC236}">
                <a16:creationId xmlns:a16="http://schemas.microsoft.com/office/drawing/2014/main" id="{DC4A7338-42F0-C6BB-9503-CCC3FFAB9D5F}"/>
              </a:ext>
            </a:extLst>
          </p:cNvPr>
          <p:cNvSpPr txBox="1"/>
          <p:nvPr/>
        </p:nvSpPr>
        <p:spPr>
          <a:xfrm>
            <a:off x="4249239" y="936153"/>
            <a:ext cx="3693522" cy="584775"/>
          </a:xfrm>
          <a:prstGeom prst="rect">
            <a:avLst/>
          </a:prstGeom>
          <a:noFill/>
        </p:spPr>
        <p:txBody>
          <a:bodyPr wrap="square">
            <a:spAutoFit/>
          </a:bodyPr>
          <a:lstStyle/>
          <a:p>
            <a:pPr algn="ctr"/>
            <a:r>
              <a:rPr lang="en-AU" sz="3200" b="1">
                <a:solidFill>
                  <a:schemeClr val="accent1"/>
                </a:solidFill>
              </a:rPr>
              <a:t>Target: 112</a:t>
            </a:r>
          </a:p>
        </p:txBody>
      </p:sp>
      <p:graphicFrame>
        <p:nvGraphicFramePr>
          <p:cNvPr id="8" name="Table 7">
            <a:extLst>
              <a:ext uri="{FF2B5EF4-FFF2-40B4-BE49-F238E27FC236}">
                <a16:creationId xmlns:a16="http://schemas.microsoft.com/office/drawing/2014/main" id="{76BB30DC-D28F-47A6-8848-0942941E18D2}"/>
              </a:ext>
            </a:extLst>
          </p:cNvPr>
          <p:cNvGraphicFramePr>
            <a:graphicFrameLocks noGrp="1"/>
          </p:cNvGraphicFramePr>
          <p:nvPr>
            <p:extLst>
              <p:ext uri="{D42A27DB-BD31-4B8C-83A1-F6EECF244321}">
                <p14:modId xmlns:p14="http://schemas.microsoft.com/office/powerpoint/2010/main" val="3111680840"/>
              </p:ext>
            </p:extLst>
          </p:nvPr>
        </p:nvGraphicFramePr>
        <p:xfrm>
          <a:off x="360000" y="1551480"/>
          <a:ext cx="11143344" cy="5140147"/>
        </p:xfrm>
        <a:graphic>
          <a:graphicData uri="http://schemas.openxmlformats.org/drawingml/2006/table">
            <a:tbl>
              <a:tblPr firstRow="1" bandRow="1">
                <a:tableStyleId>{5A111915-BE36-4E01-A7E5-04B1672EAD32}</a:tableStyleId>
              </a:tblPr>
              <a:tblGrid>
                <a:gridCol w="1436384">
                  <a:extLst>
                    <a:ext uri="{9D8B030D-6E8A-4147-A177-3AD203B41FA5}">
                      <a16:colId xmlns:a16="http://schemas.microsoft.com/office/drawing/2014/main" val="2123978914"/>
                    </a:ext>
                  </a:extLst>
                </a:gridCol>
                <a:gridCol w="2307391">
                  <a:extLst>
                    <a:ext uri="{9D8B030D-6E8A-4147-A177-3AD203B41FA5}">
                      <a16:colId xmlns:a16="http://schemas.microsoft.com/office/drawing/2014/main" val="3791991688"/>
                    </a:ext>
                  </a:extLst>
                </a:gridCol>
                <a:gridCol w="2022793">
                  <a:extLst>
                    <a:ext uri="{9D8B030D-6E8A-4147-A177-3AD203B41FA5}">
                      <a16:colId xmlns:a16="http://schemas.microsoft.com/office/drawing/2014/main" val="1362896959"/>
                    </a:ext>
                  </a:extLst>
                </a:gridCol>
                <a:gridCol w="1431028">
                  <a:extLst>
                    <a:ext uri="{9D8B030D-6E8A-4147-A177-3AD203B41FA5}">
                      <a16:colId xmlns:a16="http://schemas.microsoft.com/office/drawing/2014/main" val="372814965"/>
                    </a:ext>
                  </a:extLst>
                </a:gridCol>
                <a:gridCol w="2143074">
                  <a:extLst>
                    <a:ext uri="{9D8B030D-6E8A-4147-A177-3AD203B41FA5}">
                      <a16:colId xmlns:a16="http://schemas.microsoft.com/office/drawing/2014/main" val="125962884"/>
                    </a:ext>
                  </a:extLst>
                </a:gridCol>
                <a:gridCol w="1802674">
                  <a:extLst>
                    <a:ext uri="{9D8B030D-6E8A-4147-A177-3AD203B41FA5}">
                      <a16:colId xmlns:a16="http://schemas.microsoft.com/office/drawing/2014/main" val="1556339725"/>
                    </a:ext>
                  </a:extLst>
                </a:gridCol>
              </a:tblGrid>
              <a:tr h="842467">
                <a:tc>
                  <a:txBody>
                    <a:bodyPr/>
                    <a:lstStyle/>
                    <a:p>
                      <a:endParaRPr lang="en-AU" sz="2800">
                        <a:solidFill>
                          <a:schemeClr val="accent1"/>
                        </a:solidFill>
                      </a:endParaRPr>
                    </a:p>
                  </a:txBody>
                  <a:tcPr>
                    <a:lnL w="38100"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2800">
                          <a:solidFill>
                            <a:schemeClr val="accent1"/>
                          </a:solidFill>
                        </a:rPr>
                        <a:t>Player 1</a:t>
                      </a:r>
                    </a:p>
                  </a:txBody>
                  <a:tcPr anchor="ctr">
                    <a:lnL>
                      <a:noFill/>
                    </a:lnL>
                    <a:lnR>
                      <a:noFill/>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sz="2800">
                        <a:solidFill>
                          <a:schemeClr val="accent1"/>
                        </a:solidFill>
                      </a:endParaRPr>
                    </a:p>
                  </a:txBody>
                  <a:tcPr>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sz="2800"/>
                    </a:p>
                  </a:txBody>
                  <a:tcPr>
                    <a:lnL w="38100"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2800">
                          <a:solidFill>
                            <a:schemeClr val="accent1"/>
                          </a:solidFill>
                        </a:rPr>
                        <a:t>Player 2</a:t>
                      </a:r>
                    </a:p>
                  </a:txBody>
                  <a:tcPr anchor="ctr">
                    <a:lnL>
                      <a:noFill/>
                    </a:lnL>
                    <a:lnR>
                      <a:noFill/>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sz="2800"/>
                    </a:p>
                  </a:txBody>
                  <a:tcPr>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5222577"/>
                  </a:ext>
                </a:extLst>
              </a:tr>
              <a:tr h="1201861">
                <a:tc>
                  <a:txBody>
                    <a:bodyPr/>
                    <a:lstStyle/>
                    <a:p>
                      <a:pPr algn="ctr"/>
                      <a:r>
                        <a:rPr lang="en-AU" sz="2700"/>
                        <a:t>Cards</a:t>
                      </a: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4"/>
                    </a:solidFill>
                  </a:tcPr>
                </a:tc>
                <a:tc>
                  <a:txBody>
                    <a:bodyPr/>
                    <a:lstStyle/>
                    <a:p>
                      <a:pPr algn="ctr"/>
                      <a:r>
                        <a:rPr lang="en-AU" sz="2700"/>
                        <a:t>Operations</a:t>
                      </a: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4"/>
                    </a:solidFill>
                  </a:tcPr>
                </a:tc>
                <a:tc>
                  <a:txBody>
                    <a:bodyPr/>
                    <a:lstStyle/>
                    <a:p>
                      <a:pPr algn="ctr"/>
                      <a:r>
                        <a:rPr lang="en-AU" sz="2700"/>
                        <a:t>Difference from target</a:t>
                      </a: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4"/>
                    </a:solidFill>
                  </a:tcPr>
                </a:tc>
                <a:tc>
                  <a:txBody>
                    <a:bodyPr/>
                    <a:lstStyle/>
                    <a:p>
                      <a:pPr algn="ctr"/>
                      <a:r>
                        <a:rPr lang="en-AU" sz="2700"/>
                        <a:t>Cards</a:t>
                      </a: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6"/>
                    </a:solidFill>
                  </a:tcPr>
                </a:tc>
                <a:tc>
                  <a:txBody>
                    <a:bodyPr/>
                    <a:lstStyle/>
                    <a:p>
                      <a:pPr algn="ctr"/>
                      <a:r>
                        <a:rPr lang="en-AU" sz="2700"/>
                        <a:t>Operations</a:t>
                      </a: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6"/>
                    </a:solidFill>
                  </a:tcPr>
                </a:tc>
                <a:tc>
                  <a:txBody>
                    <a:bodyPr/>
                    <a:lstStyle/>
                    <a:p>
                      <a:pPr algn="ctr"/>
                      <a:r>
                        <a:rPr lang="en-AU" sz="2700"/>
                        <a:t>Difference from target</a:t>
                      </a: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2766753404"/>
                  </a:ext>
                </a:extLst>
              </a:tr>
              <a:tr h="2697511">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2700">
                          <a:solidFill>
                            <a:srgbClr val="000000"/>
                          </a:solidFill>
                          <a:latin typeface="+mn-lt"/>
                          <a:ea typeface="Canva Student Font"/>
                          <a:cs typeface="Canva Student Font"/>
                          <a:sym typeface="Canva Student Font"/>
                        </a:rPr>
                        <a:t>1, 4, 3, 6, 7</a:t>
                      </a:r>
                      <a:endParaRPr lang="en-US" sz="2700">
                        <a:latin typeface="+mn-lt"/>
                      </a:endParaRPr>
                    </a:p>
                    <a:p>
                      <a:pPr algn="ctr"/>
                      <a:endParaRPr lang="en-AU" sz="2700"/>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4"/>
                    </a:solidFill>
                  </a:tcPr>
                </a:tc>
                <a:tc>
                  <a:txBody>
                    <a:bodyPr/>
                    <a:lstStyle/>
                    <a:p>
                      <a:pPr algn="ctr">
                        <a:lnSpc>
                          <a:spcPct val="150000"/>
                        </a:lnSpc>
                        <a:defRPr/>
                      </a:pPr>
                      <a:r>
                        <a:rPr lang="en-US" sz="2700">
                          <a:solidFill>
                            <a:srgbClr val="000000"/>
                          </a:solidFill>
                          <a:latin typeface="+mn-lt"/>
                          <a:ea typeface="Canva Student Font"/>
                          <a:cs typeface="Canva Student Font"/>
                          <a:sym typeface="Canva Student Font"/>
                        </a:rPr>
                        <a:t>4 + 1 = 5</a:t>
                      </a:r>
                      <a:endParaRPr lang="en-US" sz="2700">
                        <a:latin typeface="+mn-lt"/>
                      </a:endParaRPr>
                    </a:p>
                    <a:p>
                      <a:pPr algn="ctr">
                        <a:lnSpc>
                          <a:spcPct val="150000"/>
                        </a:lnSpc>
                      </a:pPr>
                      <a:r>
                        <a:rPr lang="en-US" sz="2700">
                          <a:solidFill>
                            <a:srgbClr val="000000"/>
                          </a:solidFill>
                          <a:latin typeface="+mn-lt"/>
                          <a:ea typeface="Canva Student Font"/>
                          <a:cs typeface="Canva Student Font"/>
                          <a:sym typeface="Canva Student Font"/>
                        </a:rPr>
                        <a:t>5 x 6 = 30</a:t>
                      </a:r>
                    </a:p>
                    <a:p>
                      <a:pPr algn="ctr">
                        <a:lnSpc>
                          <a:spcPct val="150000"/>
                        </a:lnSpc>
                      </a:pPr>
                      <a:r>
                        <a:rPr lang="en-US" sz="2700">
                          <a:solidFill>
                            <a:srgbClr val="000000"/>
                          </a:solidFill>
                          <a:latin typeface="+mn-lt"/>
                          <a:ea typeface="Canva Student Font"/>
                          <a:cs typeface="Canva Student Font"/>
                          <a:sym typeface="Canva Student Font"/>
                        </a:rPr>
                        <a:t>30 + 7 = 37</a:t>
                      </a:r>
                    </a:p>
                    <a:p>
                      <a:pPr algn="ctr">
                        <a:lnSpc>
                          <a:spcPct val="150000"/>
                        </a:lnSpc>
                      </a:pPr>
                      <a:r>
                        <a:rPr lang="en-US" sz="2700">
                          <a:solidFill>
                            <a:srgbClr val="000000"/>
                          </a:solidFill>
                          <a:latin typeface="+mn-lt"/>
                          <a:ea typeface="Canva Student Font"/>
                          <a:cs typeface="Canva Student Font"/>
                          <a:sym typeface="Canva Student Font"/>
                        </a:rPr>
                        <a:t>3 x 37 = 111</a:t>
                      </a:r>
                    </a:p>
                    <a:p>
                      <a:pPr algn="ctr"/>
                      <a:endParaRPr lang="en-AU" sz="2700"/>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4"/>
                    </a:solid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2700">
                          <a:solidFill>
                            <a:srgbClr val="000000"/>
                          </a:solidFill>
                          <a:latin typeface="+mn-lt"/>
                          <a:ea typeface="Canva Student Font"/>
                          <a:cs typeface="Canva Student Font"/>
                          <a:sym typeface="Canva Student Font"/>
                        </a:rPr>
                        <a:t>1</a:t>
                      </a:r>
                      <a:endParaRPr lang="en-US" sz="2700">
                        <a:latin typeface="+mn-lt"/>
                      </a:endParaRPr>
                    </a:p>
                    <a:p>
                      <a:pPr algn="ctr"/>
                      <a:endParaRPr lang="en-AU" sz="2700"/>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4"/>
                    </a:solid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2700">
                          <a:solidFill>
                            <a:srgbClr val="000000"/>
                          </a:solidFill>
                          <a:latin typeface="+mn-lt"/>
                          <a:ea typeface="Canva Student Font"/>
                          <a:cs typeface="Canva Student Font"/>
                          <a:sym typeface="Canva Student Font"/>
                        </a:rPr>
                        <a:t>9, 6, 2, 2, 4</a:t>
                      </a:r>
                      <a:endParaRPr lang="en-US" sz="2700">
                        <a:latin typeface="+mn-lt"/>
                      </a:endParaRPr>
                    </a:p>
                    <a:p>
                      <a:pPr algn="ctr"/>
                      <a:endParaRPr lang="en-AU" sz="2700"/>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6"/>
                    </a:solidFill>
                  </a:tcPr>
                </a:tc>
                <a:tc>
                  <a:txBody>
                    <a:bodyPr/>
                    <a:lstStyle/>
                    <a:p>
                      <a:pPr algn="ctr">
                        <a:lnSpc>
                          <a:spcPct val="150000"/>
                        </a:lnSpc>
                        <a:defRPr/>
                      </a:pPr>
                      <a:r>
                        <a:rPr lang="en-US" sz="2700">
                          <a:solidFill>
                            <a:srgbClr val="000000"/>
                          </a:solidFill>
                          <a:latin typeface="+mn-lt"/>
                          <a:ea typeface="Canva Student Font"/>
                          <a:cs typeface="Canva Student Font"/>
                          <a:sym typeface="Canva Student Font"/>
                        </a:rPr>
                        <a:t>6 x 2 x 2 x 4 = 96</a:t>
                      </a:r>
                      <a:endParaRPr lang="en-US" sz="2700">
                        <a:latin typeface="+mn-lt"/>
                      </a:endParaRPr>
                    </a:p>
                    <a:p>
                      <a:pPr algn="ctr">
                        <a:lnSpc>
                          <a:spcPct val="150000"/>
                        </a:lnSpc>
                      </a:pPr>
                      <a:r>
                        <a:rPr lang="en-US" sz="2700">
                          <a:solidFill>
                            <a:srgbClr val="000000"/>
                          </a:solidFill>
                          <a:latin typeface="+mn-lt"/>
                          <a:ea typeface="Canva Student Font"/>
                          <a:cs typeface="Canva Student Font"/>
                          <a:sym typeface="Canva Student Font"/>
                        </a:rPr>
                        <a:t>96 + 9 = 105</a:t>
                      </a:r>
                    </a:p>
                    <a:p>
                      <a:pPr algn="ctr"/>
                      <a:endParaRPr lang="en-AU" sz="2700"/>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6"/>
                    </a:solid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2700">
                          <a:solidFill>
                            <a:srgbClr val="000000"/>
                          </a:solidFill>
                          <a:latin typeface="+mn-lt"/>
                          <a:ea typeface="Canva Student Font"/>
                          <a:cs typeface="Canva Student Font"/>
                          <a:sym typeface="Canva Student Font"/>
                        </a:rPr>
                        <a:t>7</a:t>
                      </a:r>
                      <a:endParaRPr lang="en-US" sz="2700">
                        <a:latin typeface="+mn-lt"/>
                      </a:endParaRPr>
                    </a:p>
                    <a:p>
                      <a:pPr algn="ctr"/>
                      <a:endParaRPr lang="en-AU" sz="2700"/>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55976035"/>
                  </a:ext>
                </a:extLst>
              </a:tr>
            </a:tbl>
          </a:graphicData>
        </a:graphic>
      </p:graphicFrame>
      <p:sp>
        <p:nvSpPr>
          <p:cNvPr id="2" name="Slide Number Placeholder 1">
            <a:extLst>
              <a:ext uri="{FF2B5EF4-FFF2-40B4-BE49-F238E27FC236}">
                <a16:creationId xmlns:a16="http://schemas.microsoft.com/office/drawing/2014/main" id="{4D1D0182-8AA4-E27A-8BA7-445F6F0C9CAF}"/>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39</a:t>
            </a:fld>
            <a:endParaRPr lang="en-AU"/>
          </a:p>
        </p:txBody>
      </p:sp>
    </p:spTree>
    <p:extLst>
      <p:ext uri="{BB962C8B-B14F-4D97-AF65-F5344CB8AC3E}">
        <p14:creationId xmlns:p14="http://schemas.microsoft.com/office/powerpoint/2010/main" val="39561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a:solidFill>
                  <a:schemeClr val="bg1"/>
                </a:solidFill>
              </a:rPr>
              <a:t>(3)</a:t>
            </a:r>
          </a:p>
        </p:txBody>
      </p:sp>
      <p:pic>
        <p:nvPicPr>
          <p:cNvPr id="4" name="Picture 3" descr="image of a finger selecting an option for a multiple choice or true and false">
            <a:extLst>
              <a:ext uri="{FF2B5EF4-FFF2-40B4-BE49-F238E27FC236}">
                <a16:creationId xmlns:a16="http://schemas.microsoft.com/office/drawing/2014/main" id="{239F5F22-5449-95CB-BD5E-F141E81E86FF}"/>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a:xfrm>
            <a:off x="360001" y="1153000"/>
            <a:ext cx="11243037" cy="4197606"/>
          </a:xfrm>
        </p:spPr>
        <p:txBody>
          <a:bodyPr/>
          <a:lstStyle/>
          <a:p>
            <a:pPr algn="ctr">
              <a:lnSpc>
                <a:spcPct val="100000"/>
              </a:lnSpc>
              <a:spcAft>
                <a:spcPts val="1800"/>
              </a:spcAft>
            </a:pPr>
            <a:r>
              <a:rPr lang="en-AU" sz="4400"/>
              <a:t>Different </a:t>
            </a:r>
            <a:r>
              <a:rPr lang="en-AU" sz="4400" b="1"/>
              <a:t>arrays</a:t>
            </a:r>
            <a:r>
              <a:rPr lang="en-AU" sz="4400"/>
              <a:t> that represent 12 can be modelled as:</a:t>
            </a:r>
          </a:p>
          <a:p>
            <a:pPr algn="ctr">
              <a:lnSpc>
                <a:spcPct val="100000"/>
              </a:lnSpc>
              <a:spcAft>
                <a:spcPts val="2400"/>
              </a:spcAft>
            </a:pPr>
            <a:r>
              <a:rPr lang="en-AU" sz="4400"/>
              <a:t>2 by 6</a:t>
            </a:r>
          </a:p>
          <a:p>
            <a:pPr algn="ctr">
              <a:lnSpc>
                <a:spcPct val="100000"/>
              </a:lnSpc>
              <a:spcAft>
                <a:spcPts val="2400"/>
              </a:spcAft>
            </a:pPr>
            <a:r>
              <a:rPr lang="en-AU" sz="4400"/>
              <a:t>3 by 4</a:t>
            </a:r>
          </a:p>
          <a:p>
            <a:pPr algn="ctr">
              <a:lnSpc>
                <a:spcPct val="100000"/>
              </a:lnSpc>
              <a:spcAft>
                <a:spcPts val="2400"/>
              </a:spcAft>
            </a:pPr>
            <a:r>
              <a:rPr lang="en-AU" sz="4400"/>
              <a:t>12 by 1</a:t>
            </a:r>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extLst>
              <p:ext uri="{D42A27DB-BD31-4B8C-83A1-F6EECF244321}">
                <p14:modId xmlns:p14="http://schemas.microsoft.com/office/powerpoint/2010/main" val="3350037889"/>
              </p:ext>
            </p:extLst>
          </p:nvPr>
        </p:nvGraphicFramePr>
        <p:xfrm>
          <a:off x="2442981" y="5598006"/>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DD7F305F-4DA6-37EC-D1B7-85EBA549092D}"/>
              </a:ext>
            </a:extLst>
          </p:cNvPr>
          <p:cNvSpPr>
            <a:spLocks noGrp="1"/>
          </p:cNvSpPr>
          <p:nvPr>
            <p:ph type="sldNum" sz="quarter" idx="12"/>
          </p:nvPr>
        </p:nvSpPr>
        <p:spPr/>
        <p:txBody>
          <a:bodyPr/>
          <a:lstStyle/>
          <a:p>
            <a:fld id="{10A01DC5-1685-4615-8240-15192985C6A2}" type="slidenum">
              <a:rPr lang="en-AU" smtClean="0"/>
              <a:t>41</a:t>
            </a:fld>
            <a:endParaRPr lang="en-AU"/>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737E6-E669-46F1-2353-5CAD5B9DB2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4E94122-537D-C135-545B-F1790A0DD96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sp>
        <p:nvSpPr>
          <p:cNvPr id="2" name="Slide Number Placeholder 1">
            <a:extLst>
              <a:ext uri="{FF2B5EF4-FFF2-40B4-BE49-F238E27FC236}">
                <a16:creationId xmlns:a16="http://schemas.microsoft.com/office/drawing/2014/main" id="{EE8F68C9-9CD0-3CC1-6ADB-E4AC2EE1EE2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pic>
        <p:nvPicPr>
          <p:cNvPr id="3" name="Picture 2" descr="image of a clipboard with a pencil recording short answer responses">
            <a:extLst>
              <a:ext uri="{FF2B5EF4-FFF2-40B4-BE49-F238E27FC236}">
                <a16:creationId xmlns:a16="http://schemas.microsoft.com/office/drawing/2014/main" id="{1AD68E74-BCBC-C453-3EAF-D75EDB90BA2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5">
            <a:extLst>
              <a:ext uri="{FF2B5EF4-FFF2-40B4-BE49-F238E27FC236}">
                <a16:creationId xmlns:a16="http://schemas.microsoft.com/office/drawing/2014/main" id="{A4673BAD-9016-4970-FD45-14627A474FF1}"/>
              </a:ext>
            </a:extLst>
          </p:cNvPr>
          <p:cNvSpPr txBox="1">
            <a:spLocks/>
          </p:cNvSpPr>
          <p:nvPr/>
        </p:nvSpPr>
        <p:spPr>
          <a:xfrm>
            <a:off x="674914" y="2105538"/>
            <a:ext cx="10842171" cy="2646924"/>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Use place value to </a:t>
            </a:r>
            <a:r>
              <a:rPr lang="en-AU" sz="4400" b="1"/>
              <a:t>partition</a:t>
            </a:r>
            <a:endParaRPr lang="en-AU" sz="4400"/>
          </a:p>
          <a:p>
            <a:pPr algn="ctr"/>
            <a:r>
              <a:rPr lang="en-AU" sz="6600"/>
              <a:t>6.82</a:t>
            </a:r>
          </a:p>
        </p:txBody>
      </p:sp>
    </p:spTree>
    <p:extLst>
      <p:ext uri="{BB962C8B-B14F-4D97-AF65-F5344CB8AC3E}">
        <p14:creationId xmlns:p14="http://schemas.microsoft.com/office/powerpoint/2010/main" val="3251748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pic>
        <p:nvPicPr>
          <p:cNvPr id="3" name="Picture 2" descr="image of a clipboard with a pencil recording short answer responses">
            <a:extLst>
              <a:ext uri="{FF2B5EF4-FFF2-40B4-BE49-F238E27FC236}">
                <a16:creationId xmlns:a16="http://schemas.microsoft.com/office/drawing/2014/main" id="{4B3A2BE0-B930-2216-835B-AE9E6856E5F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 Placeholder 5">
            <a:extLst>
              <a:ext uri="{FF2B5EF4-FFF2-40B4-BE49-F238E27FC236}">
                <a16:creationId xmlns:a16="http://schemas.microsoft.com/office/drawing/2014/main" id="{14971178-0E67-19CA-4C6E-E5A22E66C377}"/>
              </a:ext>
            </a:extLst>
          </p:cNvPr>
          <p:cNvSpPr txBox="1">
            <a:spLocks/>
          </p:cNvSpPr>
          <p:nvPr/>
        </p:nvSpPr>
        <p:spPr>
          <a:xfrm>
            <a:off x="899886" y="1219586"/>
            <a:ext cx="9956800" cy="291131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Use a place value chart, number line or other model to show how to solve</a:t>
            </a:r>
          </a:p>
          <a:p>
            <a:pPr algn="ctr"/>
            <a:r>
              <a:rPr lang="en-AU" sz="6600"/>
              <a:t> 6.82 - 3.54 </a:t>
            </a:r>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A2471-2ADD-C1BA-2023-54F5BBC15AB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7DB32FC-9CEA-7182-4320-8C71A9572D7F}"/>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sp>
        <p:nvSpPr>
          <p:cNvPr id="2" name="Slide Number Placeholder 1">
            <a:extLst>
              <a:ext uri="{FF2B5EF4-FFF2-40B4-BE49-F238E27FC236}">
                <a16:creationId xmlns:a16="http://schemas.microsoft.com/office/drawing/2014/main" id="{BB84C3CD-F71A-C2FD-F275-DF60F0FE096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pic>
        <p:nvPicPr>
          <p:cNvPr id="3" name="Picture 2" descr="image of a clipboard with a pencil recording short answer responses">
            <a:extLst>
              <a:ext uri="{FF2B5EF4-FFF2-40B4-BE49-F238E27FC236}">
                <a16:creationId xmlns:a16="http://schemas.microsoft.com/office/drawing/2014/main" id="{CDC4167E-8411-410C-8CF3-2D0CBC0B91F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533AAD29-D616-F1F3-6E50-901BFFF4F391}"/>
              </a:ext>
            </a:extLst>
          </p:cNvPr>
          <p:cNvSpPr txBox="1"/>
          <p:nvPr/>
        </p:nvSpPr>
        <p:spPr>
          <a:xfrm>
            <a:off x="1941018" y="1452279"/>
            <a:ext cx="8676168" cy="4029501"/>
          </a:xfrm>
          <a:prstGeom prst="rect">
            <a:avLst/>
          </a:prstGeom>
          <a:noFill/>
        </p:spPr>
        <p:txBody>
          <a:bodyPr wrap="square">
            <a:spAutoFit/>
          </a:bodyPr>
          <a:lstStyle/>
          <a:p>
            <a:pPr algn="ctr">
              <a:lnSpc>
                <a:spcPct val="150000"/>
              </a:lnSpc>
            </a:pPr>
            <a:r>
              <a:rPr lang="en-AU" sz="4400"/>
              <a:t>There’s a sale! </a:t>
            </a:r>
            <a:r>
              <a:rPr lang="en-AU" sz="4400" b="1"/>
              <a:t>25% off</a:t>
            </a:r>
            <a:r>
              <a:rPr lang="en-AU" sz="4400"/>
              <a:t>.</a:t>
            </a:r>
          </a:p>
          <a:p>
            <a:pPr algn="ctr">
              <a:lnSpc>
                <a:spcPct val="150000"/>
              </a:lnSpc>
            </a:pPr>
            <a:r>
              <a:rPr lang="en-AU" sz="4400"/>
              <a:t>The jacket is originally $70.00</a:t>
            </a:r>
          </a:p>
          <a:p>
            <a:pPr algn="ctr">
              <a:lnSpc>
                <a:spcPct val="150000"/>
              </a:lnSpc>
            </a:pPr>
            <a:r>
              <a:rPr lang="en-AU" sz="4400" b="1"/>
              <a:t>How much </a:t>
            </a:r>
            <a:r>
              <a:rPr lang="en-AU" sz="4400"/>
              <a:t>is the jacket</a:t>
            </a:r>
            <a:r>
              <a:rPr lang="en-AU" sz="4400" b="1"/>
              <a:t> after the discount</a:t>
            </a:r>
            <a:r>
              <a:rPr lang="en-AU" sz="4400"/>
              <a:t>?</a:t>
            </a:r>
          </a:p>
        </p:txBody>
      </p:sp>
    </p:spTree>
    <p:extLst>
      <p:ext uri="{BB962C8B-B14F-4D97-AF65-F5344CB8AC3E}">
        <p14:creationId xmlns:p14="http://schemas.microsoft.com/office/powerpoint/2010/main" val="3658984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pic>
        <p:nvPicPr>
          <p:cNvPr id="3" name="Picture 2" descr="image of a clipboard with a pencil recording short answer responses">
            <a:extLst>
              <a:ext uri="{FF2B5EF4-FFF2-40B4-BE49-F238E27FC236}">
                <a16:creationId xmlns:a16="http://schemas.microsoft.com/office/drawing/2014/main" id="{7F0D925D-1709-7016-D09D-4DDBD08A31D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5">
            <a:extLst>
              <a:ext uri="{FF2B5EF4-FFF2-40B4-BE49-F238E27FC236}">
                <a16:creationId xmlns:a16="http://schemas.microsoft.com/office/drawing/2014/main" id="{C58BCEA9-5EED-BA24-F561-CF08653C6ED9}"/>
              </a:ext>
            </a:extLst>
          </p:cNvPr>
          <p:cNvSpPr txBox="1">
            <a:spLocks/>
          </p:cNvSpPr>
          <p:nvPr/>
        </p:nvSpPr>
        <p:spPr>
          <a:xfrm>
            <a:off x="1990744" y="1439994"/>
            <a:ext cx="8832947" cy="435991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The time is now 16:10. If it takes </a:t>
            </a:r>
            <a:r>
              <a:rPr lang="en-AU" sz="4400" b="1"/>
              <a:t>15 minutes </a:t>
            </a:r>
            <a:r>
              <a:rPr lang="en-AU" sz="4400"/>
              <a:t>to get home, record the </a:t>
            </a:r>
            <a:r>
              <a:rPr lang="en-AU" sz="4400" b="1"/>
              <a:t>time</a:t>
            </a:r>
            <a:r>
              <a:rPr lang="en-AU" sz="4400"/>
              <a:t> you will arrive home in </a:t>
            </a:r>
            <a:r>
              <a:rPr lang="en-AU" sz="4400" b="1"/>
              <a:t>12-hour notation</a:t>
            </a:r>
            <a:r>
              <a:rPr lang="en-AU" sz="4400"/>
              <a:t>. </a:t>
            </a:r>
          </a:p>
          <a:p>
            <a:pPr algn="ctr"/>
            <a:r>
              <a:rPr lang="en-AU" sz="4400"/>
              <a:t>		</a:t>
            </a:r>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9315C-B961-9374-C03A-E52A08886A5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252DBA7-AA64-5B6B-A16D-F4BCF1B4060E}"/>
              </a:ext>
            </a:extLst>
          </p:cNvPr>
          <p:cNvSpPr>
            <a:spLocks noGrp="1"/>
          </p:cNvSpPr>
          <p:nvPr>
            <p:ph type="title"/>
          </p:nvPr>
        </p:nvSpPr>
        <p:spPr>
          <a:xfrm>
            <a:off x="360000" y="360000"/>
            <a:ext cx="10367268" cy="545601"/>
          </a:xfrm>
        </p:spPr>
        <p:txBody>
          <a:bodyPr/>
          <a:lstStyle/>
          <a:p>
            <a:r>
              <a:rPr lang="en-AU"/>
              <a:t>Activity 6 – </a:t>
            </a:r>
            <a:r>
              <a:rPr lang="en-AU">
                <a:latin typeface="Arial"/>
                <a:cs typeface="Arial"/>
              </a:rPr>
              <a:t>products and factors </a:t>
            </a:r>
            <a:r>
              <a:rPr lang="en-AU">
                <a:solidFill>
                  <a:schemeClr val="bg1"/>
                </a:solidFill>
                <a:latin typeface="Arial"/>
                <a:cs typeface="Arial"/>
              </a:rPr>
              <a:t>(2)</a:t>
            </a:r>
            <a:endParaRPr lang="en-AU">
              <a:solidFill>
                <a:schemeClr val="bg1"/>
              </a:solidFill>
            </a:endParaRPr>
          </a:p>
        </p:txBody>
      </p:sp>
      <p:sp>
        <p:nvSpPr>
          <p:cNvPr id="2" name="Slide Number Placeholder 1">
            <a:extLst>
              <a:ext uri="{FF2B5EF4-FFF2-40B4-BE49-F238E27FC236}">
                <a16:creationId xmlns:a16="http://schemas.microsoft.com/office/drawing/2014/main" id="{A93C11FB-79E2-5A02-C465-206F6103069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46</a:t>
            </a:fld>
            <a:endParaRPr lang="en-AU"/>
          </a:p>
        </p:txBody>
      </p:sp>
      <p:pic>
        <p:nvPicPr>
          <p:cNvPr id="4" name="Picture 3" descr="image of a head with cogs turning inside">
            <a:extLst>
              <a:ext uri="{FF2B5EF4-FFF2-40B4-BE49-F238E27FC236}">
                <a16:creationId xmlns:a16="http://schemas.microsoft.com/office/drawing/2014/main" id="{831B1F94-3198-72F2-F036-F1EE3ABE102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7" name="Picture 6" descr="A close-up of a game using dice combinations as arrays to cover parts of a grid.">
            <a:extLst>
              <a:ext uri="{FF2B5EF4-FFF2-40B4-BE49-F238E27FC236}">
                <a16:creationId xmlns:a16="http://schemas.microsoft.com/office/drawing/2014/main" id="{669BDFA7-4D16-9FE4-8D77-A7D684FA3EA3}"/>
              </a:ext>
            </a:extLst>
          </p:cNvPr>
          <p:cNvPicPr>
            <a:picLocks noChangeAspect="1"/>
          </p:cNvPicPr>
          <p:nvPr/>
        </p:nvPicPr>
        <p:blipFill>
          <a:blip r:embed="rId4"/>
          <a:stretch>
            <a:fillRect/>
          </a:stretch>
        </p:blipFill>
        <p:spPr>
          <a:xfrm>
            <a:off x="1495545" y="1097258"/>
            <a:ext cx="9321309" cy="5432562"/>
          </a:xfrm>
          <a:prstGeom prst="rect">
            <a:avLst/>
          </a:prstGeom>
        </p:spPr>
      </p:pic>
    </p:spTree>
    <p:extLst>
      <p:ext uri="{BB962C8B-B14F-4D97-AF65-F5344CB8AC3E}">
        <p14:creationId xmlns:p14="http://schemas.microsoft.com/office/powerpoint/2010/main" val="2399349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53E33-C376-9316-D79E-F1839BE9BE3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C9814B5-8402-1903-5B0E-89F1CBCBF51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(4)</a:t>
            </a:r>
          </a:p>
        </p:txBody>
      </p:sp>
      <p:pic>
        <p:nvPicPr>
          <p:cNvPr id="4" name="Picture 3" descr="image of a finger selecting an option for a multiple choice or true and false">
            <a:extLst>
              <a:ext uri="{FF2B5EF4-FFF2-40B4-BE49-F238E27FC236}">
                <a16:creationId xmlns:a16="http://schemas.microsoft.com/office/drawing/2014/main" id="{C493834B-1122-BF06-4664-175E7A7DB286}"/>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9E5118E7-BD4E-1C6F-9677-4C0228A02948}"/>
              </a:ext>
            </a:extLst>
          </p:cNvPr>
          <p:cNvSpPr>
            <a:spLocks noGrp="1"/>
          </p:cNvSpPr>
          <p:nvPr>
            <p:ph type="body" sz="quarter" idx="24"/>
          </p:nvPr>
        </p:nvSpPr>
        <p:spPr/>
        <p:txBody>
          <a:bodyPr/>
          <a:lstStyle/>
          <a:p>
            <a:pPr algn="ctr"/>
            <a:r>
              <a:rPr lang="en-US" sz="4400"/>
              <a:t>Which number is </a:t>
            </a:r>
            <a:r>
              <a:rPr lang="en-US" sz="4400" b="1"/>
              <a:t>not</a:t>
            </a:r>
            <a:r>
              <a:rPr lang="en-US" sz="4400"/>
              <a:t> a </a:t>
            </a:r>
            <a:r>
              <a:rPr lang="en-US" sz="4400" b="1"/>
              <a:t>factor</a:t>
            </a:r>
            <a:r>
              <a:rPr lang="en-US" sz="4400"/>
              <a:t> of 63?</a:t>
            </a:r>
          </a:p>
        </p:txBody>
      </p:sp>
      <p:sp>
        <p:nvSpPr>
          <p:cNvPr id="9" name="TextBox 8">
            <a:extLst>
              <a:ext uri="{FF2B5EF4-FFF2-40B4-BE49-F238E27FC236}">
                <a16:creationId xmlns:a16="http://schemas.microsoft.com/office/drawing/2014/main" id="{8B9CE09D-4912-352C-EDD3-2F5B22293E2B}"/>
              </a:ext>
            </a:extLst>
          </p:cNvPr>
          <p:cNvSpPr txBox="1"/>
          <p:nvPr/>
        </p:nvSpPr>
        <p:spPr>
          <a:xfrm>
            <a:off x="1396519" y="348067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5" name="TextBox 4">
            <a:extLst>
              <a:ext uri="{FF2B5EF4-FFF2-40B4-BE49-F238E27FC236}">
                <a16:creationId xmlns:a16="http://schemas.microsoft.com/office/drawing/2014/main" id="{65F72C36-D6AF-3994-6938-15B5DAEF888D}"/>
              </a:ext>
            </a:extLst>
          </p:cNvPr>
          <p:cNvSpPr txBox="1"/>
          <p:nvPr/>
        </p:nvSpPr>
        <p:spPr>
          <a:xfrm>
            <a:off x="1396519" y="4685700"/>
            <a:ext cx="793788"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9</a:t>
            </a:r>
          </a:p>
        </p:txBody>
      </p:sp>
      <p:sp>
        <p:nvSpPr>
          <p:cNvPr id="10" name="TextBox 9">
            <a:extLst>
              <a:ext uri="{FF2B5EF4-FFF2-40B4-BE49-F238E27FC236}">
                <a16:creationId xmlns:a16="http://schemas.microsoft.com/office/drawing/2014/main" id="{6720C9BD-206D-1246-CC58-B94DA2A9FDA7}"/>
              </a:ext>
            </a:extLst>
          </p:cNvPr>
          <p:cNvSpPr txBox="1"/>
          <p:nvPr/>
        </p:nvSpPr>
        <p:spPr>
          <a:xfrm>
            <a:off x="4400492" y="348067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6" name="TextBox 5">
            <a:extLst>
              <a:ext uri="{FF2B5EF4-FFF2-40B4-BE49-F238E27FC236}">
                <a16:creationId xmlns:a16="http://schemas.microsoft.com/office/drawing/2014/main" id="{7409F798-96B9-B58D-C2B1-96D10FB5F8C3}"/>
              </a:ext>
            </a:extLst>
          </p:cNvPr>
          <p:cNvSpPr txBox="1"/>
          <p:nvPr/>
        </p:nvSpPr>
        <p:spPr>
          <a:xfrm>
            <a:off x="4471684" y="4685700"/>
            <a:ext cx="387044"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7</a:t>
            </a:r>
          </a:p>
        </p:txBody>
      </p:sp>
      <p:sp>
        <p:nvSpPr>
          <p:cNvPr id="12" name="TextBox 11">
            <a:extLst>
              <a:ext uri="{FF2B5EF4-FFF2-40B4-BE49-F238E27FC236}">
                <a16:creationId xmlns:a16="http://schemas.microsoft.com/office/drawing/2014/main" id="{53D31413-FF78-7189-1A0F-0B12F84CC32D}"/>
              </a:ext>
            </a:extLst>
          </p:cNvPr>
          <p:cNvSpPr txBox="1"/>
          <p:nvPr/>
        </p:nvSpPr>
        <p:spPr>
          <a:xfrm>
            <a:off x="7404465" y="348067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8" name="TextBox 7">
            <a:extLst>
              <a:ext uri="{FF2B5EF4-FFF2-40B4-BE49-F238E27FC236}">
                <a16:creationId xmlns:a16="http://schemas.microsoft.com/office/drawing/2014/main" id="{FC3F685F-1E2C-90C4-0957-490B18F3D3B6}"/>
              </a:ext>
            </a:extLst>
          </p:cNvPr>
          <p:cNvSpPr txBox="1"/>
          <p:nvPr/>
        </p:nvSpPr>
        <p:spPr>
          <a:xfrm>
            <a:off x="7404465" y="4685700"/>
            <a:ext cx="793788"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63</a:t>
            </a:r>
          </a:p>
        </p:txBody>
      </p:sp>
      <p:sp>
        <p:nvSpPr>
          <p:cNvPr id="11" name="TextBox 10">
            <a:extLst>
              <a:ext uri="{FF2B5EF4-FFF2-40B4-BE49-F238E27FC236}">
                <a16:creationId xmlns:a16="http://schemas.microsoft.com/office/drawing/2014/main" id="{F03294A5-CB62-91E6-0D20-1199ECBFAF01}"/>
              </a:ext>
            </a:extLst>
          </p:cNvPr>
          <p:cNvSpPr txBox="1"/>
          <p:nvPr/>
        </p:nvSpPr>
        <p:spPr>
          <a:xfrm>
            <a:off x="10408439" y="348067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7" name="TextBox 6">
            <a:extLst>
              <a:ext uri="{FF2B5EF4-FFF2-40B4-BE49-F238E27FC236}">
                <a16:creationId xmlns:a16="http://schemas.microsoft.com/office/drawing/2014/main" id="{D8DAF364-48D0-5165-C00E-6A52A81D6D8F}"/>
              </a:ext>
            </a:extLst>
          </p:cNvPr>
          <p:cNvSpPr txBox="1"/>
          <p:nvPr/>
        </p:nvSpPr>
        <p:spPr>
          <a:xfrm>
            <a:off x="10330212" y="4685700"/>
            <a:ext cx="793788"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12</a:t>
            </a:r>
          </a:p>
        </p:txBody>
      </p:sp>
      <p:sp>
        <p:nvSpPr>
          <p:cNvPr id="2" name="Slide Number Placeholder 1">
            <a:extLst>
              <a:ext uri="{FF2B5EF4-FFF2-40B4-BE49-F238E27FC236}">
                <a16:creationId xmlns:a16="http://schemas.microsoft.com/office/drawing/2014/main" id="{FF35F4CD-8487-40BA-C995-9F75C9273AD3}"/>
              </a:ext>
            </a:extLst>
          </p:cNvPr>
          <p:cNvSpPr>
            <a:spLocks noGrp="1"/>
          </p:cNvSpPr>
          <p:nvPr>
            <p:ph type="sldNum" sz="quarter" idx="12"/>
          </p:nvPr>
        </p:nvSpPr>
        <p:spPr/>
        <p:txBody>
          <a:bodyPr/>
          <a:lstStyle/>
          <a:p>
            <a:fld id="{10A01DC5-1685-4615-8240-15192985C6A2}" type="slidenum">
              <a:rPr lang="en-AU" smtClean="0"/>
              <a:t>48</a:t>
            </a:fld>
            <a:endParaRPr lang="en-AU"/>
          </a:p>
        </p:txBody>
      </p:sp>
    </p:spTree>
    <p:extLst>
      <p:ext uri="{BB962C8B-B14F-4D97-AF65-F5344CB8AC3E}">
        <p14:creationId xmlns:p14="http://schemas.microsoft.com/office/powerpoint/2010/main" val="192852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pic>
        <p:nvPicPr>
          <p:cNvPr id="3" name="Picture 2" descr="image of a clipboard with a pencil recording short answer responses">
            <a:extLst>
              <a:ext uri="{FF2B5EF4-FFF2-40B4-BE49-F238E27FC236}">
                <a16:creationId xmlns:a16="http://schemas.microsoft.com/office/drawing/2014/main" id="{3BDDE108-B743-E59F-31B4-5F4FCBC7EB6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 Placeholder 5">
            <a:extLst>
              <a:ext uri="{FF2B5EF4-FFF2-40B4-BE49-F238E27FC236}">
                <a16:creationId xmlns:a16="http://schemas.microsoft.com/office/drawing/2014/main" id="{53C8AD82-6888-A5A1-5977-7FB37AAA6029}"/>
              </a:ext>
            </a:extLst>
          </p:cNvPr>
          <p:cNvSpPr txBox="1">
            <a:spLocks/>
          </p:cNvSpPr>
          <p:nvPr/>
        </p:nvSpPr>
        <p:spPr>
          <a:xfrm>
            <a:off x="674914" y="905601"/>
            <a:ext cx="10842171" cy="4139961"/>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Use a </a:t>
            </a:r>
            <a:r>
              <a:rPr lang="en-AU" sz="4400" b="1"/>
              <a:t>number line </a:t>
            </a:r>
            <a:r>
              <a:rPr lang="en-AU" sz="4400"/>
              <a:t>to solve:</a:t>
            </a:r>
          </a:p>
          <a:p>
            <a:pPr algn="ctr"/>
            <a:r>
              <a:rPr lang="en-AU" sz="4400"/>
              <a:t>A baker poured </a:t>
            </a:r>
            <a:r>
              <a:rPr lang="en-AU" sz="4400" b="1"/>
              <a:t>1.25 L</a:t>
            </a:r>
            <a:r>
              <a:rPr lang="en-AU" sz="4400"/>
              <a:t> of milk, </a:t>
            </a:r>
            <a:r>
              <a:rPr lang="en-AU" sz="4400" b="1"/>
              <a:t>0.75 L</a:t>
            </a:r>
            <a:r>
              <a:rPr lang="en-AU" sz="4400"/>
              <a:t> of water, and </a:t>
            </a:r>
            <a:r>
              <a:rPr lang="en-AU" sz="4400" b="1"/>
              <a:t>0.375 L</a:t>
            </a:r>
            <a:r>
              <a:rPr lang="en-AU" sz="4400"/>
              <a:t> of oil into a large bowl.</a:t>
            </a:r>
            <a:br>
              <a:rPr lang="en-AU" sz="4400"/>
            </a:br>
            <a:r>
              <a:rPr lang="en-AU" sz="4400"/>
              <a:t>What is the combined volume of liquid in the bowl?</a:t>
            </a:r>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pic>
        <p:nvPicPr>
          <p:cNvPr id="3" name="Picture 2" descr="image of a clipboard with a pencil recording short answer responses">
            <a:extLst>
              <a:ext uri="{FF2B5EF4-FFF2-40B4-BE49-F238E27FC236}">
                <a16:creationId xmlns:a16="http://schemas.microsoft.com/office/drawing/2014/main" id="{981E4643-C0C9-5325-74DA-A071DDDC65A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67E245DD-40DB-FFC9-7FA6-AEA7E6BD8406}"/>
              </a:ext>
            </a:extLst>
          </p:cNvPr>
          <p:cNvSpPr txBox="1"/>
          <p:nvPr/>
        </p:nvSpPr>
        <p:spPr>
          <a:xfrm>
            <a:off x="2083353" y="1184223"/>
            <a:ext cx="8025291" cy="5057802"/>
          </a:xfrm>
          <a:prstGeom prst="rect">
            <a:avLst/>
          </a:prstGeom>
          <a:noFill/>
        </p:spPr>
        <p:txBody>
          <a:bodyPr wrap="square" lIns="0" tIns="0" rIns="0" bIns="0" rtlCol="0">
            <a:noAutofit/>
          </a:bodyPr>
          <a:lstStyle/>
          <a:p>
            <a:pPr algn="ctr">
              <a:lnSpc>
                <a:spcPct val="150000"/>
              </a:lnSpc>
            </a:pPr>
            <a:r>
              <a:rPr lang="en-AU" sz="4400"/>
              <a:t>Record in </a:t>
            </a:r>
            <a:r>
              <a:rPr lang="en-AU" sz="4400" b="1"/>
              <a:t>descending order</a:t>
            </a:r>
            <a:r>
              <a:rPr lang="en-AU" sz="4400"/>
              <a:t>:</a:t>
            </a:r>
          </a:p>
          <a:p>
            <a:pPr algn="ctr">
              <a:lnSpc>
                <a:spcPct val="150000"/>
              </a:lnSpc>
            </a:pPr>
            <a:r>
              <a:rPr lang="en-AU" sz="4400"/>
              <a:t>0.54</a:t>
            </a:r>
          </a:p>
          <a:p>
            <a:pPr algn="ctr">
              <a:lnSpc>
                <a:spcPct val="150000"/>
              </a:lnSpc>
            </a:pPr>
            <a:r>
              <a:rPr lang="en-AU" sz="4400"/>
              <a:t>5.40</a:t>
            </a:r>
          </a:p>
          <a:p>
            <a:pPr algn="ctr">
              <a:lnSpc>
                <a:spcPct val="150000"/>
              </a:lnSpc>
            </a:pPr>
            <a:r>
              <a:rPr lang="en-AU" sz="4400"/>
              <a:t>5.04</a:t>
            </a:r>
          </a:p>
          <a:p>
            <a:pPr algn="ctr">
              <a:lnSpc>
                <a:spcPct val="150000"/>
              </a:lnSpc>
            </a:pPr>
            <a:r>
              <a:rPr lang="en-AU" sz="4400"/>
              <a:t>0.45</a:t>
            </a:r>
          </a:p>
        </p:txBody>
      </p:sp>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50</a:t>
            </a:fld>
            <a:endParaRPr lang="en-AU"/>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pic>
        <p:nvPicPr>
          <p:cNvPr id="3" name="Picture 2" descr="image of a clipboard with a pencil recording short answer responses">
            <a:extLst>
              <a:ext uri="{FF2B5EF4-FFF2-40B4-BE49-F238E27FC236}">
                <a16:creationId xmlns:a16="http://schemas.microsoft.com/office/drawing/2014/main" id="{6F1984CA-3815-83E6-2CEF-D3AC5609C15C}"/>
              </a:ext>
            </a:extLst>
          </p:cNvPr>
          <p:cNvPicPr>
            <a:picLocks noChangeAspect="1"/>
          </p:cNvPicPr>
          <p:nvPr/>
        </p:nvPicPr>
        <p:blipFill>
          <a:blip r:embed="rId3"/>
          <a:stretch>
            <a:fillRect/>
          </a:stretch>
        </p:blipFill>
        <p:spPr>
          <a:xfrm>
            <a:off x="11216464" y="0"/>
            <a:ext cx="915500" cy="915500"/>
          </a:xfrm>
          <a:prstGeom prst="rect">
            <a:avLst/>
          </a:prstGeom>
        </p:spPr>
      </p:pic>
      <p:sp>
        <p:nvSpPr>
          <p:cNvPr id="4" name="TextBox 3">
            <a:extLst>
              <a:ext uri="{FF2B5EF4-FFF2-40B4-BE49-F238E27FC236}">
                <a16:creationId xmlns:a16="http://schemas.microsoft.com/office/drawing/2014/main" id="{BB07A0A0-42BA-5764-D7C4-BCD842003365}"/>
              </a:ext>
            </a:extLst>
          </p:cNvPr>
          <p:cNvSpPr txBox="1"/>
          <p:nvPr/>
        </p:nvSpPr>
        <p:spPr>
          <a:xfrm>
            <a:off x="1165367" y="1246010"/>
            <a:ext cx="10051097" cy="4704348"/>
          </a:xfrm>
          <a:prstGeom prst="rect">
            <a:avLst/>
          </a:prstGeom>
          <a:noFill/>
        </p:spPr>
        <p:txBody>
          <a:bodyPr wrap="square" lIns="0" tIns="0" rIns="0" bIns="0" rtlCol="0">
            <a:noAutofit/>
          </a:bodyPr>
          <a:lstStyle/>
          <a:p>
            <a:pPr algn="ctr">
              <a:lnSpc>
                <a:spcPct val="150000"/>
              </a:lnSpc>
            </a:pPr>
            <a:r>
              <a:rPr lang="en-AU" sz="4400"/>
              <a:t>Use the most </a:t>
            </a:r>
            <a:r>
              <a:rPr lang="en-AU" sz="4400" b="1"/>
              <a:t>efficient strategy </a:t>
            </a:r>
            <a:r>
              <a:rPr lang="en-AU" sz="4400"/>
              <a:t>to solve</a:t>
            </a:r>
          </a:p>
          <a:p>
            <a:pPr algn="ctr"/>
            <a:endParaRPr lang="en-AU"/>
          </a:p>
          <a:p>
            <a:pPr algn="ctr">
              <a:lnSpc>
                <a:spcPct val="150000"/>
              </a:lnSpc>
            </a:pPr>
            <a:r>
              <a:rPr lang="en-AU" sz="7200"/>
              <a:t>325 x 67</a:t>
            </a:r>
          </a:p>
          <a:p>
            <a:pPr algn="ctr">
              <a:lnSpc>
                <a:spcPct val="150000"/>
              </a:lnSpc>
            </a:pPr>
            <a:endParaRPr lang="en-AU"/>
          </a:p>
          <a:p>
            <a:pPr algn="ctr">
              <a:lnSpc>
                <a:spcPct val="150000"/>
              </a:lnSpc>
            </a:pPr>
            <a:r>
              <a:rPr lang="en-AU" sz="4400" b="1"/>
              <a:t>Communicate</a:t>
            </a:r>
            <a:r>
              <a:rPr lang="en-AU" sz="4400"/>
              <a:t> your </a:t>
            </a:r>
            <a:r>
              <a:rPr lang="en-AU" sz="4400" b="1"/>
              <a:t>strategy</a:t>
            </a:r>
            <a:r>
              <a:rPr lang="en-AU" sz="4400"/>
              <a:t>.</a:t>
            </a:r>
          </a:p>
          <a:p>
            <a:pPr algn="ctr">
              <a:lnSpc>
                <a:spcPct val="150000"/>
              </a:lnSpc>
            </a:pPr>
            <a:endParaRPr lang="en-AU" sz="4400"/>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pic>
        <p:nvPicPr>
          <p:cNvPr id="3" name="Picture 2" descr="image of a clipboard with a pencil recording short answer responses">
            <a:extLst>
              <a:ext uri="{FF2B5EF4-FFF2-40B4-BE49-F238E27FC236}">
                <a16:creationId xmlns:a16="http://schemas.microsoft.com/office/drawing/2014/main" id="{850D1A9D-F8AF-AA84-34F9-CCDC3026C74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996642FD-795C-3533-AFCB-8D7CFE6E501B}"/>
              </a:ext>
            </a:extLst>
          </p:cNvPr>
          <p:cNvSpPr txBox="1"/>
          <p:nvPr/>
        </p:nvSpPr>
        <p:spPr>
          <a:xfrm>
            <a:off x="560832" y="1184223"/>
            <a:ext cx="11070336" cy="4230624"/>
          </a:xfrm>
          <a:prstGeom prst="rect">
            <a:avLst/>
          </a:prstGeom>
          <a:noFill/>
        </p:spPr>
        <p:txBody>
          <a:bodyPr wrap="square" lIns="0" tIns="0" rIns="0" bIns="0" rtlCol="0">
            <a:noAutofit/>
          </a:bodyPr>
          <a:lstStyle/>
          <a:p>
            <a:pPr algn="ctr">
              <a:lnSpc>
                <a:spcPct val="150000"/>
              </a:lnSpc>
            </a:pPr>
            <a:r>
              <a:rPr lang="en-AU" sz="4400"/>
              <a:t>Fadi chose to use a </a:t>
            </a:r>
            <a:r>
              <a:rPr lang="en-AU" sz="4400" b="1"/>
              <a:t>column graph </a:t>
            </a:r>
            <a:r>
              <a:rPr lang="en-AU" sz="4400"/>
              <a:t>to record the </a:t>
            </a:r>
            <a:r>
              <a:rPr lang="en-AU" sz="4400" b="1"/>
              <a:t>weather over a month</a:t>
            </a:r>
            <a:r>
              <a:rPr lang="en-AU" sz="4400"/>
              <a:t>. </a:t>
            </a:r>
          </a:p>
          <a:p>
            <a:pPr algn="ctr">
              <a:lnSpc>
                <a:spcPct val="150000"/>
              </a:lnSpc>
            </a:pPr>
            <a:endParaRPr lang="en-AU" sz="4400"/>
          </a:p>
          <a:p>
            <a:pPr algn="ctr">
              <a:lnSpc>
                <a:spcPct val="150000"/>
              </a:lnSpc>
            </a:pPr>
            <a:r>
              <a:rPr lang="en-AU" sz="4400"/>
              <a:t>Is this the best type of graph to use? </a:t>
            </a:r>
          </a:p>
          <a:p>
            <a:pPr algn="ctr">
              <a:lnSpc>
                <a:spcPct val="150000"/>
              </a:lnSpc>
            </a:pPr>
            <a:r>
              <a:rPr lang="en-AU" sz="4400" b="1"/>
              <a:t>Communicate</a:t>
            </a:r>
            <a:r>
              <a:rPr lang="en-AU" sz="4400"/>
              <a:t> your </a:t>
            </a:r>
            <a:r>
              <a:rPr lang="en-AU" sz="4400" b="1"/>
              <a:t>thinking</a:t>
            </a:r>
            <a:r>
              <a:rPr lang="en-AU" sz="4400"/>
              <a:t>.</a:t>
            </a:r>
          </a:p>
          <a:p>
            <a:pPr algn="ctr">
              <a:lnSpc>
                <a:spcPct val="150000"/>
              </a:lnSpc>
            </a:pPr>
            <a:r>
              <a:rPr lang="en-AU" sz="4400"/>
              <a:t> </a:t>
            </a:r>
          </a:p>
        </p:txBody>
      </p:sp>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52</a:t>
            </a:fld>
            <a:endParaRPr lang="en-AU"/>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a:t>Activity 7 – </a:t>
            </a:r>
            <a:r>
              <a:rPr lang="en-AU">
                <a:latin typeface="Arial"/>
                <a:cs typeface="Arial"/>
              </a:rPr>
              <a:t>Factors and multiples</a:t>
            </a:r>
            <a:endParaRPr lang="en-AU"/>
          </a:p>
        </p:txBody>
      </p:sp>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53</a:t>
            </a:fld>
            <a:endParaRPr lang="en-AU"/>
          </a:p>
        </p:txBody>
      </p:sp>
      <p:pic>
        <p:nvPicPr>
          <p:cNvPr id="4" name="Picture 3" descr="image of a head with cogs turning inside">
            <a:extLst>
              <a:ext uri="{FF2B5EF4-FFF2-40B4-BE49-F238E27FC236}">
                <a16:creationId xmlns:a16="http://schemas.microsoft.com/office/drawing/2014/main" id="{862A61D7-0DAF-1BF8-46D6-A2E9DEA92CB9}"/>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7" name="Picture 6" descr="A hundreds chart.">
            <a:extLst>
              <a:ext uri="{FF2B5EF4-FFF2-40B4-BE49-F238E27FC236}">
                <a16:creationId xmlns:a16="http://schemas.microsoft.com/office/drawing/2014/main" id="{5F0B6430-4A9E-C737-C474-F15788BEF2F9}"/>
              </a:ext>
            </a:extLst>
          </p:cNvPr>
          <p:cNvPicPr>
            <a:picLocks noChangeAspect="1"/>
          </p:cNvPicPr>
          <p:nvPr/>
        </p:nvPicPr>
        <p:blipFill>
          <a:blip r:embed="rId4"/>
          <a:stretch>
            <a:fillRect/>
          </a:stretch>
        </p:blipFill>
        <p:spPr>
          <a:xfrm>
            <a:off x="3065886" y="887014"/>
            <a:ext cx="6060227" cy="5808986"/>
          </a:xfrm>
          <a:prstGeom prst="rect">
            <a:avLst/>
          </a:prstGeom>
        </p:spPr>
      </p:pic>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p:pic>
        <p:nvPicPr>
          <p:cNvPr id="4" name="Picture 3" descr="image of a finger selecting an option for a multiple choice or true and false">
            <a:extLst>
              <a:ext uri="{FF2B5EF4-FFF2-40B4-BE49-F238E27FC236}">
                <a16:creationId xmlns:a16="http://schemas.microsoft.com/office/drawing/2014/main" id="{64B989F8-67C4-FE7B-CC90-5BE7E2CD867D}"/>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p:txBody>
          <a:bodyPr/>
          <a:lstStyle/>
          <a:p>
            <a:pPr algn="ctr"/>
            <a:r>
              <a:rPr lang="en-AU" sz="5400" b="1"/>
              <a:t>36</a:t>
            </a:r>
            <a:r>
              <a:rPr lang="en-AU" sz="5400"/>
              <a:t> has 4 </a:t>
            </a:r>
            <a:r>
              <a:rPr lang="en-AU" sz="5400" b="1"/>
              <a:t>factors</a:t>
            </a:r>
            <a:r>
              <a:rPr lang="en-AU" sz="5400"/>
              <a:t>.</a:t>
            </a:r>
          </a:p>
        </p:txBody>
      </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extLst>
              <p:ext uri="{D42A27DB-BD31-4B8C-83A1-F6EECF244321}">
                <p14:modId xmlns:p14="http://schemas.microsoft.com/office/powerpoint/2010/main" val="3807222271"/>
              </p:ext>
            </p:extLst>
          </p:nvPr>
        </p:nvGraphicFramePr>
        <p:xfrm>
          <a:off x="2442980" y="4146746"/>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D3A219B-EA44-A8FA-5624-110943E229E9}"/>
              </a:ext>
            </a:extLst>
          </p:cNvPr>
          <p:cNvSpPr>
            <a:spLocks noGrp="1"/>
          </p:cNvSpPr>
          <p:nvPr>
            <p:ph type="sldNum" sz="quarter" idx="12"/>
          </p:nvPr>
        </p:nvSpPr>
        <p:spPr/>
        <p:txBody>
          <a:bodyPr/>
          <a:lstStyle/>
          <a:p>
            <a:fld id="{10A01DC5-1685-4615-8240-15192985C6A2}" type="slidenum">
              <a:rPr lang="en-AU" smtClean="0"/>
              <a:t>55</a:t>
            </a:fld>
            <a:endParaRPr lang="en-AU"/>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pic>
        <p:nvPicPr>
          <p:cNvPr id="3" name="Picture 2" descr="image of a clipboard with a pencil recording short answer responses">
            <a:extLst>
              <a:ext uri="{FF2B5EF4-FFF2-40B4-BE49-F238E27FC236}">
                <a16:creationId xmlns:a16="http://schemas.microsoft.com/office/drawing/2014/main" id="{4A6BDB97-E652-19FE-8B5C-2AD4CC92796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 Placeholder 5">
            <a:extLst>
              <a:ext uri="{FF2B5EF4-FFF2-40B4-BE49-F238E27FC236}">
                <a16:creationId xmlns:a16="http://schemas.microsoft.com/office/drawing/2014/main" id="{E354A3AD-2243-007C-A695-723A77C1F2B7}"/>
              </a:ext>
            </a:extLst>
          </p:cNvPr>
          <p:cNvSpPr txBox="1">
            <a:spLocks/>
          </p:cNvSpPr>
          <p:nvPr/>
        </p:nvSpPr>
        <p:spPr>
          <a:xfrm>
            <a:off x="674914" y="764067"/>
            <a:ext cx="10842171" cy="5156981"/>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Use a </a:t>
            </a:r>
            <a:r>
              <a:rPr lang="en-AU" sz="4400" b="1"/>
              <a:t> bar model </a:t>
            </a:r>
            <a:r>
              <a:rPr lang="en-AU" sz="4400"/>
              <a:t>to solve:</a:t>
            </a:r>
          </a:p>
          <a:p>
            <a:pPr algn="ctr"/>
            <a:r>
              <a:rPr lang="en-AU" sz="4400"/>
              <a:t>The Tran family need to drive </a:t>
            </a:r>
            <a:r>
              <a:rPr lang="en-AU" sz="4400" b="1"/>
              <a:t>854 km</a:t>
            </a:r>
            <a:r>
              <a:rPr lang="en-AU" sz="4400"/>
              <a:t>. On the first day they drove </a:t>
            </a:r>
            <a:r>
              <a:rPr lang="en-AU" sz="4400" b="1"/>
              <a:t>154.6 km</a:t>
            </a:r>
            <a:r>
              <a:rPr lang="en-AU" sz="4400"/>
              <a:t>. On the second day they drove </a:t>
            </a:r>
            <a:r>
              <a:rPr lang="en-AU" sz="4400" b="1"/>
              <a:t>97.8 km</a:t>
            </a:r>
            <a:r>
              <a:rPr lang="en-AU" sz="4400"/>
              <a:t>. </a:t>
            </a:r>
          </a:p>
          <a:p>
            <a:pPr algn="ctr"/>
            <a:r>
              <a:rPr lang="en-AU" sz="4400"/>
              <a:t>How far did they have</a:t>
            </a:r>
            <a:r>
              <a:rPr lang="en-AU" sz="4400" b="1"/>
              <a:t> left</a:t>
            </a:r>
            <a:r>
              <a:rPr lang="en-AU" sz="4400"/>
              <a:t> to drive?</a:t>
            </a:r>
          </a:p>
        </p:txBody>
      </p:sp>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62E9E-6899-17E8-2439-D09CDA985DF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C3D4F2D-E36A-7F7D-09C8-4E1CA7B3155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sp>
        <p:nvSpPr>
          <p:cNvPr id="2" name="Slide Number Placeholder 1">
            <a:extLst>
              <a:ext uri="{FF2B5EF4-FFF2-40B4-BE49-F238E27FC236}">
                <a16:creationId xmlns:a16="http://schemas.microsoft.com/office/drawing/2014/main" id="{450A5C98-BCE1-F5EE-602E-4C54DE1BAB7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pic>
        <p:nvPicPr>
          <p:cNvPr id="3" name="Picture 2" descr="image of a clipboard with a pencil recording short answer responses">
            <a:extLst>
              <a:ext uri="{FF2B5EF4-FFF2-40B4-BE49-F238E27FC236}">
                <a16:creationId xmlns:a16="http://schemas.microsoft.com/office/drawing/2014/main" id="{FC55EA8D-F4DB-FE24-EAF3-4215CDC40A6A}"/>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60BA1EF1-208A-B9ED-5FBB-12C91023EB4A}"/>
              </a:ext>
            </a:extLst>
          </p:cNvPr>
          <p:cNvSpPr txBox="1"/>
          <p:nvPr/>
        </p:nvSpPr>
        <p:spPr>
          <a:xfrm>
            <a:off x="972480" y="1554480"/>
            <a:ext cx="10575086" cy="4224528"/>
          </a:xfrm>
          <a:prstGeom prst="rect">
            <a:avLst/>
          </a:prstGeom>
          <a:noFill/>
        </p:spPr>
        <p:txBody>
          <a:bodyPr wrap="square" lIns="0" tIns="0" rIns="0" bIns="0" rtlCol="0">
            <a:noAutofit/>
          </a:bodyPr>
          <a:lstStyle/>
          <a:p>
            <a:pPr algn="ctr"/>
            <a:r>
              <a:rPr lang="en-AU" sz="4400"/>
              <a:t>Compare and place in these </a:t>
            </a:r>
            <a:r>
              <a:rPr lang="en-AU" sz="4400" b="1"/>
              <a:t>decimal</a:t>
            </a:r>
            <a:r>
              <a:rPr lang="en-AU" sz="4400"/>
              <a:t> numbers </a:t>
            </a:r>
            <a:r>
              <a:rPr lang="en-AU" sz="4400" b="1"/>
              <a:t>descending order </a:t>
            </a:r>
            <a:endParaRPr lang="en-AU" sz="4400"/>
          </a:p>
          <a:p>
            <a:pPr algn="ctr">
              <a:lnSpc>
                <a:spcPct val="150000"/>
              </a:lnSpc>
            </a:pPr>
            <a:r>
              <a:rPr lang="en-AU" sz="6600"/>
              <a:t>0.65, 0.847, 0.3</a:t>
            </a:r>
          </a:p>
          <a:p>
            <a:pPr algn="ctr">
              <a:lnSpc>
                <a:spcPct val="150000"/>
              </a:lnSpc>
            </a:pPr>
            <a:endParaRPr lang="en-AU" sz="4400"/>
          </a:p>
          <a:p>
            <a:pPr algn="ctr">
              <a:lnSpc>
                <a:spcPct val="150000"/>
              </a:lnSpc>
            </a:pPr>
            <a:endParaRPr lang="en-AU" sz="4400"/>
          </a:p>
          <a:p>
            <a:pPr algn="ctr">
              <a:lnSpc>
                <a:spcPct val="150000"/>
              </a:lnSpc>
            </a:pPr>
            <a:endParaRPr lang="en-AU" sz="4400"/>
          </a:p>
          <a:p>
            <a:pPr algn="ctr">
              <a:lnSpc>
                <a:spcPct val="150000"/>
              </a:lnSpc>
            </a:pPr>
            <a:endParaRPr lang="en-AU" sz="4400"/>
          </a:p>
        </p:txBody>
      </p:sp>
    </p:spTree>
    <p:extLst>
      <p:ext uri="{BB962C8B-B14F-4D97-AF65-F5344CB8AC3E}">
        <p14:creationId xmlns:p14="http://schemas.microsoft.com/office/powerpoint/2010/main" val="1666782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(31)</a:t>
            </a:r>
          </a:p>
        </p:txBody>
      </p:sp>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pic>
        <p:nvPicPr>
          <p:cNvPr id="3" name="Picture 2" descr="image of a clipboard with a pencil recording short answer responses">
            <a:extLst>
              <a:ext uri="{FF2B5EF4-FFF2-40B4-BE49-F238E27FC236}">
                <a16:creationId xmlns:a16="http://schemas.microsoft.com/office/drawing/2014/main" id="{77944112-784D-22C3-1462-ED0056915B9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 Placeholder 5">
            <a:extLst>
              <a:ext uri="{FF2B5EF4-FFF2-40B4-BE49-F238E27FC236}">
                <a16:creationId xmlns:a16="http://schemas.microsoft.com/office/drawing/2014/main" id="{1F6EA299-E809-A367-61A2-BA092B0B7999}"/>
              </a:ext>
            </a:extLst>
          </p:cNvPr>
          <p:cNvSpPr txBox="1">
            <a:spLocks/>
          </p:cNvSpPr>
          <p:nvPr/>
        </p:nvSpPr>
        <p:spPr>
          <a:xfrm>
            <a:off x="1413691" y="2241732"/>
            <a:ext cx="8961120" cy="237453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latin typeface="+mn-lt"/>
              </a:rPr>
              <a:t>Record </a:t>
            </a:r>
            <a:r>
              <a:rPr lang="en-AU" sz="4400">
                <a:latin typeface="+mn-lt"/>
              </a:rPr>
              <a:t>15 ÷ 5 </a:t>
            </a:r>
          </a:p>
          <a:p>
            <a:pPr algn="ctr"/>
            <a:r>
              <a:rPr lang="en-AU" sz="4400">
                <a:latin typeface="+mn-lt"/>
              </a:rPr>
              <a:t>as a </a:t>
            </a:r>
            <a:r>
              <a:rPr lang="en-AU" sz="4400" b="1">
                <a:latin typeface="+mn-lt"/>
              </a:rPr>
              <a:t>fraction. </a:t>
            </a:r>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pic>
        <p:nvPicPr>
          <p:cNvPr id="3" name="Picture 2" descr="image of a clipboard with a pencil recording short answer responses">
            <a:extLst>
              <a:ext uri="{FF2B5EF4-FFF2-40B4-BE49-F238E27FC236}">
                <a16:creationId xmlns:a16="http://schemas.microsoft.com/office/drawing/2014/main" id="{5DACDB15-40FB-10CA-304C-024754D6DBAE}"/>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17" name="Picture 16" descr="Graph showing males and females who prefer comedy over science fiction and action">
            <a:extLst>
              <a:ext uri="{FF2B5EF4-FFF2-40B4-BE49-F238E27FC236}">
                <a16:creationId xmlns:a16="http://schemas.microsoft.com/office/drawing/2014/main" id="{6853483D-F3CA-2064-04D3-CD0DA95441DC}"/>
              </a:ext>
            </a:extLst>
          </p:cNvPr>
          <p:cNvPicPr>
            <a:picLocks noChangeAspect="1"/>
          </p:cNvPicPr>
          <p:nvPr/>
        </p:nvPicPr>
        <p:blipFill>
          <a:blip r:embed="rId4"/>
          <a:stretch>
            <a:fillRect/>
          </a:stretch>
        </p:blipFill>
        <p:spPr>
          <a:xfrm>
            <a:off x="397848" y="1654628"/>
            <a:ext cx="5698152" cy="3949060"/>
          </a:xfrm>
          <a:prstGeom prst="rect">
            <a:avLst/>
          </a:prstGeom>
          <a:ln>
            <a:noFill/>
          </a:ln>
          <a:effectLst>
            <a:outerShdw blurRad="292100" dist="139700" dir="2700000" algn="tl" rotWithShape="0">
              <a:srgbClr val="333333">
                <a:alpha val="65000"/>
              </a:srgbClr>
            </a:outerShdw>
          </a:effectLst>
        </p:spPr>
      </p:pic>
      <p:sp>
        <p:nvSpPr>
          <p:cNvPr id="18" name="TextBox 17">
            <a:extLst>
              <a:ext uri="{FF2B5EF4-FFF2-40B4-BE49-F238E27FC236}">
                <a16:creationId xmlns:a16="http://schemas.microsoft.com/office/drawing/2014/main" id="{45C84C3B-1F85-910C-80D8-37CBE1ECC285}"/>
              </a:ext>
            </a:extLst>
          </p:cNvPr>
          <p:cNvSpPr txBox="1"/>
          <p:nvPr/>
        </p:nvSpPr>
        <p:spPr>
          <a:xfrm>
            <a:off x="6759381" y="1799242"/>
            <a:ext cx="4724619" cy="3438964"/>
          </a:xfrm>
          <a:prstGeom prst="rect">
            <a:avLst/>
          </a:prstGeom>
          <a:noFill/>
        </p:spPr>
        <p:txBody>
          <a:bodyPr wrap="square" lIns="0" tIns="0" rIns="0" bIns="0" rtlCol="0">
            <a:noAutofit/>
          </a:bodyPr>
          <a:lstStyle/>
          <a:p>
            <a:pPr algn="ctr">
              <a:lnSpc>
                <a:spcPct val="150000"/>
              </a:lnSpc>
            </a:pPr>
            <a:r>
              <a:rPr lang="en-AU" sz="4400"/>
              <a:t>What is the </a:t>
            </a:r>
            <a:r>
              <a:rPr lang="en-AU" sz="4400" b="1"/>
              <a:t>total number </a:t>
            </a:r>
            <a:r>
              <a:rPr lang="en-AU" sz="4400"/>
              <a:t>of people who like </a:t>
            </a:r>
            <a:r>
              <a:rPr lang="en-AU" sz="4400" b="1"/>
              <a:t>comedy</a:t>
            </a:r>
            <a:r>
              <a:rPr lang="en-AU" sz="4400"/>
              <a:t>?</a:t>
            </a:r>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D1225-E382-4F62-D9CB-0F63B39B859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130EE0A-8C7F-3552-48E4-D3514EB232C8}"/>
              </a:ext>
            </a:extLst>
          </p:cNvPr>
          <p:cNvSpPr>
            <a:spLocks noGrp="1"/>
          </p:cNvSpPr>
          <p:nvPr>
            <p:ph type="title"/>
          </p:nvPr>
        </p:nvSpPr>
        <p:spPr>
          <a:xfrm>
            <a:off x="360000" y="360000"/>
            <a:ext cx="10367268" cy="545601"/>
          </a:xfrm>
        </p:spPr>
        <p:txBody>
          <a:bodyPr/>
          <a:lstStyle/>
          <a:p>
            <a:r>
              <a:rPr lang="en-AU"/>
              <a:t>Activity 8 – multiplying numbers</a:t>
            </a:r>
            <a:r>
              <a:rPr lang="en-AU">
                <a:solidFill>
                  <a:schemeClr val="bg1"/>
                </a:solidFill>
              </a:rPr>
              <a:t>(1)</a:t>
            </a:r>
          </a:p>
        </p:txBody>
      </p:sp>
      <p:pic>
        <p:nvPicPr>
          <p:cNvPr id="4" name="Picture 3" descr="image of a head with cogs turning inside">
            <a:extLst>
              <a:ext uri="{FF2B5EF4-FFF2-40B4-BE49-F238E27FC236}">
                <a16:creationId xmlns:a16="http://schemas.microsoft.com/office/drawing/2014/main" id="{C75F5D3A-32BA-C9B7-31DD-291FBB3B5A7C}"/>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7" name="Picture 6" descr="100 grid">
            <a:extLst>
              <a:ext uri="{FF2B5EF4-FFF2-40B4-BE49-F238E27FC236}">
                <a16:creationId xmlns:a16="http://schemas.microsoft.com/office/drawing/2014/main" id="{4B0C84C0-865D-704E-E97C-3B57C6D8D23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0000" y="1249054"/>
            <a:ext cx="6021529" cy="5446945"/>
          </a:xfrm>
          <a:prstGeom prst="rect">
            <a:avLst/>
          </a:prstGeom>
        </p:spPr>
      </p:pic>
      <p:pic>
        <p:nvPicPr>
          <p:cNvPr id="10" name="Picture 9">
            <a:extLst>
              <a:ext uri="{FF2B5EF4-FFF2-40B4-BE49-F238E27FC236}">
                <a16:creationId xmlns:a16="http://schemas.microsoft.com/office/drawing/2014/main" id="{F7C3C7AB-C7DD-F1EE-4A9C-1C2CE48723A5}"/>
              </a:ext>
              <a:ext uri="{C183D7F6-B498-43B3-948B-1728B52AA6E4}">
                <adec:decorative xmlns:adec="http://schemas.microsoft.com/office/drawing/2017/decorative" val="1"/>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602411" y="1403909"/>
            <a:ext cx="381696" cy="379712"/>
          </a:xfrm>
          <a:prstGeom prst="rect">
            <a:avLst/>
          </a:prstGeom>
        </p:spPr>
      </p:pic>
      <p:pic>
        <p:nvPicPr>
          <p:cNvPr id="9" name="Picture 8">
            <a:extLst>
              <a:ext uri="{FF2B5EF4-FFF2-40B4-BE49-F238E27FC236}">
                <a16:creationId xmlns:a16="http://schemas.microsoft.com/office/drawing/2014/main" id="{90DDE4AF-82B9-BC7B-27D4-E5BD818FB38A}"/>
              </a:ext>
              <a:ext uri="{C183D7F6-B498-43B3-948B-1728B52AA6E4}">
                <adec:decorative xmlns:adec="http://schemas.microsoft.com/office/drawing/2017/decorative" val="1"/>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1121829" y="1403909"/>
            <a:ext cx="381696" cy="379712"/>
          </a:xfrm>
          <a:prstGeom prst="rect">
            <a:avLst/>
          </a:prstGeom>
        </p:spPr>
      </p:pic>
      <p:pic>
        <p:nvPicPr>
          <p:cNvPr id="11" name="Picture 10">
            <a:extLst>
              <a:ext uri="{FF2B5EF4-FFF2-40B4-BE49-F238E27FC236}">
                <a16:creationId xmlns:a16="http://schemas.microsoft.com/office/drawing/2014/main" id="{FB0B0EC3-2A1C-1B48-3336-0467BCA1EF7B}"/>
              </a:ext>
              <a:ext uri="{C183D7F6-B498-43B3-948B-1728B52AA6E4}">
                <adec:decorative xmlns:adec="http://schemas.microsoft.com/office/drawing/2017/decorative" val="1"/>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2307581" y="1403909"/>
            <a:ext cx="381696" cy="379712"/>
          </a:xfrm>
          <a:prstGeom prst="rect">
            <a:avLst/>
          </a:prstGeom>
        </p:spPr>
      </p:pic>
      <p:pic>
        <p:nvPicPr>
          <p:cNvPr id="12" name="Picture 11">
            <a:extLst>
              <a:ext uri="{FF2B5EF4-FFF2-40B4-BE49-F238E27FC236}">
                <a16:creationId xmlns:a16="http://schemas.microsoft.com/office/drawing/2014/main" id="{0C24BF76-06EC-75C3-F96B-D411036BC39E}"/>
              </a:ext>
              <a:ext uri="{C183D7F6-B498-43B3-948B-1728B52AA6E4}">
                <adec:decorative xmlns:adec="http://schemas.microsoft.com/office/drawing/2017/decorative" val="1"/>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4487968" y="1416524"/>
            <a:ext cx="381696" cy="379712"/>
          </a:xfrm>
          <a:prstGeom prst="rect">
            <a:avLst/>
          </a:prstGeom>
        </p:spPr>
      </p:pic>
      <p:pic>
        <p:nvPicPr>
          <p:cNvPr id="13" name="Picture 12">
            <a:extLst>
              <a:ext uri="{FF2B5EF4-FFF2-40B4-BE49-F238E27FC236}">
                <a16:creationId xmlns:a16="http://schemas.microsoft.com/office/drawing/2014/main" id="{AD85800C-1306-CD34-F8BD-9B330D0093C0}"/>
              </a:ext>
              <a:ext uri="{C183D7F6-B498-43B3-948B-1728B52AA6E4}">
                <adec:decorative xmlns:adec="http://schemas.microsoft.com/office/drawing/2017/decorative" val="1"/>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3460903" y="1866950"/>
            <a:ext cx="381696" cy="379712"/>
          </a:xfrm>
          <a:prstGeom prst="rect">
            <a:avLst/>
          </a:prstGeom>
        </p:spPr>
      </p:pic>
      <p:pic>
        <p:nvPicPr>
          <p:cNvPr id="14" name="Picture 13">
            <a:extLst>
              <a:ext uri="{FF2B5EF4-FFF2-40B4-BE49-F238E27FC236}">
                <a16:creationId xmlns:a16="http://schemas.microsoft.com/office/drawing/2014/main" id="{F8FD6CBE-562B-0A2C-6672-A88F8776C344}"/>
              </a:ext>
              <a:ext uri="{C183D7F6-B498-43B3-948B-1728B52AA6E4}">
                <adec:decorative xmlns:adec="http://schemas.microsoft.com/office/drawing/2017/decorative" val="1"/>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1164449" y="2982078"/>
            <a:ext cx="381696" cy="379712"/>
          </a:xfrm>
          <a:prstGeom prst="rect">
            <a:avLst/>
          </a:prstGeom>
        </p:spPr>
      </p:pic>
      <p:pic>
        <p:nvPicPr>
          <p:cNvPr id="15" name="Picture 14">
            <a:extLst>
              <a:ext uri="{FF2B5EF4-FFF2-40B4-BE49-F238E27FC236}">
                <a16:creationId xmlns:a16="http://schemas.microsoft.com/office/drawing/2014/main" id="{994898D2-4166-047D-DA91-4C37425865C4}"/>
              </a:ext>
              <a:ext uri="{C183D7F6-B498-43B3-948B-1728B52AA6E4}">
                <adec:decorative xmlns:adec="http://schemas.microsoft.com/office/drawing/2017/decorative" val="1"/>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2257301" y="4509437"/>
            <a:ext cx="381696" cy="379712"/>
          </a:xfrm>
          <a:prstGeom prst="rect">
            <a:avLst/>
          </a:prstGeom>
        </p:spPr>
      </p:pic>
      <p:sp>
        <p:nvSpPr>
          <p:cNvPr id="8" name="TextBox 7">
            <a:extLst>
              <a:ext uri="{FF2B5EF4-FFF2-40B4-BE49-F238E27FC236}">
                <a16:creationId xmlns:a16="http://schemas.microsoft.com/office/drawing/2014/main" id="{3A145FE0-6187-448F-0EF8-B7CACF4AAFC3}"/>
              </a:ext>
            </a:extLst>
          </p:cNvPr>
          <p:cNvSpPr txBox="1"/>
          <p:nvPr/>
        </p:nvSpPr>
        <p:spPr>
          <a:xfrm>
            <a:off x="6526189" y="2326837"/>
            <a:ext cx="3385565" cy="2102425"/>
          </a:xfrm>
          <a:prstGeom prst="wedgeEllipseCallout">
            <a:avLst>
              <a:gd name="adj1" fmla="val 63595"/>
              <a:gd name="adj2" fmla="val -9077"/>
            </a:avLst>
          </a:prstGeom>
          <a:solidFill>
            <a:schemeClr val="tx2">
              <a:lumMod val="40000"/>
              <a:lumOff val="60000"/>
            </a:schemeClr>
          </a:solidFill>
        </p:spPr>
        <p:txBody>
          <a:bodyPr wrap="square" lIns="0" tIns="0" rIns="0" bIns="0" rtlCol="0">
            <a:noAutofit/>
          </a:bodyPr>
          <a:lstStyle/>
          <a:p>
            <a:pPr marL="179388" algn="l"/>
            <a:r>
              <a:rPr lang="en-AU" sz="1800">
                <a:solidFill>
                  <a:schemeClr val="accent1"/>
                </a:solidFill>
                <a:latin typeface="Edu NSW ACT Foundation" pitchFamily="2" charset="0"/>
              </a:rPr>
              <a:t>I rolled a 4 and a 6, then made 64. The factors of 64 are 1, 2, 4, 8, 16, 32 and 64. Let’s cross them off!</a:t>
            </a:r>
          </a:p>
        </p:txBody>
      </p:sp>
      <p:pic>
        <p:nvPicPr>
          <p:cNvPr id="5" name="Picture 4" descr="A cartoon of a child with a question mark&#10;&#10;">
            <a:extLst>
              <a:ext uri="{FF2B5EF4-FFF2-40B4-BE49-F238E27FC236}">
                <a16:creationId xmlns:a16="http://schemas.microsoft.com/office/drawing/2014/main" id="{29B44634-0129-9247-9F29-8510D6FEFF98}"/>
              </a:ext>
              <a:ext uri="{C183D7F6-B498-43B3-948B-1728B52AA6E4}">
                <adec:decorative xmlns:adec="http://schemas.microsoft.com/office/drawing/2017/decorative" val="0"/>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10252557" y="1857964"/>
            <a:ext cx="1939443" cy="3007652"/>
          </a:xfrm>
          <a:prstGeom prst="rect">
            <a:avLst/>
          </a:prstGeom>
        </p:spPr>
      </p:pic>
      <p:sp>
        <p:nvSpPr>
          <p:cNvPr id="2" name="Slide Number Placeholder 1">
            <a:extLst>
              <a:ext uri="{FF2B5EF4-FFF2-40B4-BE49-F238E27FC236}">
                <a16:creationId xmlns:a16="http://schemas.microsoft.com/office/drawing/2014/main" id="{B1FE50F4-4609-B0D4-C2E3-A90B820AB14A}"/>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60</a:t>
            </a:fld>
            <a:endParaRPr lang="en-AU"/>
          </a:p>
        </p:txBody>
      </p:sp>
    </p:spTree>
    <p:extLst>
      <p:ext uri="{BB962C8B-B14F-4D97-AF65-F5344CB8AC3E}">
        <p14:creationId xmlns:p14="http://schemas.microsoft.com/office/powerpoint/2010/main" val="4017016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down)">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down)">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down)">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down)">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wipe(down)">
                                      <p:cBhvr>
                                        <p:cTn id="3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 uri="{C183D7F6-B498-43B3-948B-1728B52AA6E4}">
                <adec:decorative xmlns:adec="http://schemas.microsoft.com/office/drawing/2017/decorative" val="1"/>
              </a:ext>
            </a:extLst>
          </p:cNvPr>
          <p:cNvSpPr>
            <a:spLocks noGrp="1"/>
          </p:cNvSpPr>
          <p:nvPr>
            <p:ph type="title"/>
          </p:nvPr>
        </p:nvSpPr>
        <p:spPr/>
        <p:txBody>
          <a:bodyPr/>
          <a:lstStyle/>
          <a:p>
            <a:r>
              <a:rPr lang="en-AU">
                <a:latin typeface="+mj-lt"/>
              </a:rPr>
              <a:t>Double Venn diagram</a:t>
            </a:r>
          </a:p>
        </p:txBody>
      </p:sp>
      <p:grpSp>
        <p:nvGrpSpPr>
          <p:cNvPr id="4" name="Group 3">
            <a:extLst>
              <a:ext uri="{FF2B5EF4-FFF2-40B4-BE49-F238E27FC236}">
                <a16:creationId xmlns:a16="http://schemas.microsoft.com/office/drawing/2014/main" id="{95D9560F-6B51-6AF3-CD5C-741454253462}"/>
              </a:ext>
              <a:ext uri="{C183D7F6-B498-43B3-948B-1728B52AA6E4}">
                <adec:decorative xmlns:adec="http://schemas.microsoft.com/office/drawing/2017/decorative" val="1"/>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a:extLst>
              <a:ext uri="{FF2B5EF4-FFF2-40B4-BE49-F238E27FC236}">
                <a16:creationId xmlns:a16="http://schemas.microsoft.com/office/drawing/2014/main" id="{C5AED732-DC57-3916-DBAC-438AE2CFC8ED}"/>
              </a:ext>
              <a:ext uri="{C183D7F6-B498-43B3-948B-1728B52AA6E4}">
                <adec:decorative xmlns:adec="http://schemas.microsoft.com/office/drawing/2017/decorative" val="1"/>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 uri="{C183D7F6-B498-43B3-948B-1728B52AA6E4}">
                <adec:decorative xmlns:adec="http://schemas.microsoft.com/office/drawing/2017/decorative" val="1"/>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 uri="{C183D7F6-B498-43B3-948B-1728B52AA6E4}">
                <adec:decorative xmlns:adec="http://schemas.microsoft.com/office/drawing/2017/decorative" val="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 uri="{C183D7F6-B498-43B3-948B-1728B52AA6E4}">
                <adec:decorative xmlns:adec="http://schemas.microsoft.com/office/drawing/2017/decorative" val="1"/>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 uri="{C183D7F6-B498-43B3-948B-1728B52AA6E4}">
                <adec:decorative xmlns:adec="http://schemas.microsoft.com/office/drawing/2017/decorative" val="1"/>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 uri="{C183D7F6-B498-43B3-948B-1728B52AA6E4}">
                <adec:decorative xmlns:adec="http://schemas.microsoft.com/office/drawing/2017/decorative" val="1"/>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62</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 uri="{C183D7F6-B498-43B3-948B-1728B52AA6E4}">
                <adec:decorative xmlns:adec="http://schemas.microsoft.com/office/drawing/2017/decorative" val="1"/>
              </a:ext>
            </a:extLst>
          </p:cNvPr>
          <p:cNvSpPr>
            <a:spLocks noGrp="1"/>
          </p:cNvSpPr>
          <p:nvPr>
            <p:ph type="title"/>
          </p:nvPr>
        </p:nvSpPr>
        <p:spPr/>
        <p:txBody>
          <a:bodyPr/>
          <a:lstStyle/>
          <a:p>
            <a:r>
              <a:rPr lang="en-AU">
                <a:latin typeface="+mj-lt"/>
              </a:rPr>
              <a:t>Spider map</a:t>
            </a:r>
          </a:p>
        </p:txBody>
      </p:sp>
      <p:sp>
        <p:nvSpPr>
          <p:cNvPr id="4" name="Google Shape;124;p17">
            <a:extLst>
              <a:ext uri="{FF2B5EF4-FFF2-40B4-BE49-F238E27FC236}">
                <a16:creationId xmlns:a16="http://schemas.microsoft.com/office/drawing/2014/main" id="{B2F3C6A1-3F2E-1BE6-7182-F224BC265587}"/>
              </a:ext>
              <a:ext uri="{C183D7F6-B498-43B3-948B-1728B52AA6E4}">
                <adec:decorative xmlns:adec="http://schemas.microsoft.com/office/drawing/2017/decorative" val="1"/>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 uri="{C183D7F6-B498-43B3-948B-1728B52AA6E4}">
                <adec:decorative xmlns:adec="http://schemas.microsoft.com/office/drawing/2017/decorative" val="1"/>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 uri="{C183D7F6-B498-43B3-948B-1728B52AA6E4}">
                <adec:decorative xmlns:adec="http://schemas.microsoft.com/office/drawing/2017/decorative" val="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(5)</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 name="Slide Number Placeholder 1">
            <a:extLst>
              <a:ext uri="{FF2B5EF4-FFF2-40B4-BE49-F238E27FC236}">
                <a16:creationId xmlns:a16="http://schemas.microsoft.com/office/drawing/2014/main" id="{F98F811F-90F9-6EF5-D718-C527F19B166A}"/>
              </a:ext>
            </a:extLst>
          </p:cNvPr>
          <p:cNvSpPr>
            <a:spLocks noGrp="1"/>
          </p:cNvSpPr>
          <p:nvPr>
            <p:ph type="sldNum" sz="quarter" idx="12"/>
          </p:nvPr>
        </p:nvSpPr>
        <p:spPr/>
        <p:txBody>
          <a:bodyPr/>
          <a:lstStyle/>
          <a:p>
            <a:fld id="{10A01DC5-1685-4615-8240-15192985C6A2}" type="slidenum">
              <a:rPr lang="en-AU" smtClean="0"/>
              <a:t>66</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93E9645-0D96-A57E-C0D8-3B2B5635236C}"/>
              </a:ext>
            </a:extLst>
          </p:cNvPr>
          <p:cNvSpPr>
            <a:spLocks noGrp="1"/>
          </p:cNvSpPr>
          <p:nvPr>
            <p:ph type="title"/>
          </p:nvPr>
        </p:nvSpPr>
        <p:spPr/>
        <p:txBody>
          <a:bodyPr/>
          <a:lstStyle/>
          <a:p>
            <a:r>
              <a:rPr lang="en-US"/>
              <a:t>Multiple choice (6)</a:t>
            </a:r>
          </a:p>
        </p:txBody>
      </p:sp>
      <p:sp>
        <p:nvSpPr>
          <p:cNvPr id="15" name="Text Placeholder 14">
            <a:extLst>
              <a:ext uri="{FF2B5EF4-FFF2-40B4-BE49-F238E27FC236}">
                <a16:creationId xmlns:a16="http://schemas.microsoft.com/office/drawing/2014/main" id="{6B9A183C-33B3-4568-C43F-096BAC3A3E3A}"/>
              </a:ext>
            </a:extLst>
          </p:cNvPr>
          <p:cNvSpPr>
            <a:spLocks noGrp="1"/>
          </p:cNvSpPr>
          <p:nvPr>
            <p:ph type="body" sz="quarter" idx="28"/>
          </p:nvPr>
        </p:nvSpPr>
        <p:spPr>
          <a:xfrm>
            <a:off x="360000" y="1625945"/>
            <a:ext cx="11243037" cy="754243"/>
          </a:xfrm>
        </p:spPr>
        <p:txBody>
          <a:bodyPr/>
          <a:lstStyle/>
          <a:p>
            <a:endParaRPr lang="en-US"/>
          </a:p>
        </p:txBody>
      </p:sp>
      <p:sp>
        <p:nvSpPr>
          <p:cNvPr id="9" name="TextBox 8">
            <a:extLst>
              <a:ext uri="{FF2B5EF4-FFF2-40B4-BE49-F238E27FC236}">
                <a16:creationId xmlns:a16="http://schemas.microsoft.com/office/drawing/2014/main" id="{17539DAC-4E92-AFE5-86E8-50C88518EFA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Text Placeholder 17">
            <a:extLst>
              <a:ext uri="{FF2B5EF4-FFF2-40B4-BE49-F238E27FC236}">
                <a16:creationId xmlns:a16="http://schemas.microsoft.com/office/drawing/2014/main" id="{DD9E4C8E-C942-2FA4-6AAC-B2B3D321FC2F}"/>
              </a:ext>
            </a:extLst>
          </p:cNvPr>
          <p:cNvSpPr>
            <a:spLocks noGrp="1"/>
          </p:cNvSpPr>
          <p:nvPr>
            <p:ph type="body" sz="quarter" idx="31"/>
          </p:nvPr>
        </p:nvSpPr>
        <p:spPr>
          <a:xfrm>
            <a:off x="1345520" y="2877704"/>
            <a:ext cx="10175920" cy="641396"/>
          </a:xfrm>
        </p:spPr>
        <p:txBody>
          <a:bodyPr/>
          <a:lstStyle/>
          <a:p>
            <a:endParaRPr lang="en-US"/>
          </a:p>
        </p:txBody>
      </p:sp>
      <p:sp>
        <p:nvSpPr>
          <p:cNvPr id="10" name="TextBox 9">
            <a:extLst>
              <a:ext uri="{FF2B5EF4-FFF2-40B4-BE49-F238E27FC236}">
                <a16:creationId xmlns:a16="http://schemas.microsoft.com/office/drawing/2014/main" id="{0E33B1A6-4106-9E75-7645-88335BABE19D}"/>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Text Placeholder 16">
            <a:extLst>
              <a:ext uri="{FF2B5EF4-FFF2-40B4-BE49-F238E27FC236}">
                <a16:creationId xmlns:a16="http://schemas.microsoft.com/office/drawing/2014/main" id="{5E4A5EB3-F414-A07E-B091-A6903C289403}"/>
              </a:ext>
            </a:extLst>
          </p:cNvPr>
          <p:cNvSpPr>
            <a:spLocks noGrp="1"/>
          </p:cNvSpPr>
          <p:nvPr>
            <p:ph type="body" sz="quarter" idx="30"/>
          </p:nvPr>
        </p:nvSpPr>
        <p:spPr>
          <a:xfrm>
            <a:off x="1345520" y="3725617"/>
            <a:ext cx="10175920" cy="641396"/>
          </a:xfrm>
        </p:spPr>
        <p:txBody>
          <a:bodyPr/>
          <a:lstStyle/>
          <a:p>
            <a:endParaRPr lang="en-US"/>
          </a:p>
        </p:txBody>
      </p:sp>
      <p:sp>
        <p:nvSpPr>
          <p:cNvPr id="12" name="TextBox 11">
            <a:extLst>
              <a:ext uri="{FF2B5EF4-FFF2-40B4-BE49-F238E27FC236}">
                <a16:creationId xmlns:a16="http://schemas.microsoft.com/office/drawing/2014/main" id="{7E4BDDCB-88AF-EC45-6F07-05B50A0060D2}"/>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Text Placeholder 15">
            <a:extLst>
              <a:ext uri="{FF2B5EF4-FFF2-40B4-BE49-F238E27FC236}">
                <a16:creationId xmlns:a16="http://schemas.microsoft.com/office/drawing/2014/main" id="{E2AEB52E-AFAA-8A1C-4AC0-681B940D0160}"/>
              </a:ext>
            </a:extLst>
          </p:cNvPr>
          <p:cNvSpPr>
            <a:spLocks noGrp="1"/>
          </p:cNvSpPr>
          <p:nvPr>
            <p:ph type="body" sz="quarter" idx="29"/>
          </p:nvPr>
        </p:nvSpPr>
        <p:spPr>
          <a:xfrm>
            <a:off x="1345520" y="4575670"/>
            <a:ext cx="10175920" cy="641396"/>
          </a:xfrm>
        </p:spPr>
        <p:txBody>
          <a:bodyPr/>
          <a:lstStyle/>
          <a:p>
            <a:endParaRPr lang="en-US"/>
          </a:p>
        </p:txBody>
      </p:sp>
      <p:sp>
        <p:nvSpPr>
          <p:cNvPr id="11" name="TextBox 10">
            <a:extLst>
              <a:ext uri="{FF2B5EF4-FFF2-40B4-BE49-F238E27FC236}">
                <a16:creationId xmlns:a16="http://schemas.microsoft.com/office/drawing/2014/main" id="{28ADB1A3-D5FD-9EC3-BED8-5982F1544E0E}"/>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Text Placeholder 13">
            <a:extLst>
              <a:ext uri="{FF2B5EF4-FFF2-40B4-BE49-F238E27FC236}">
                <a16:creationId xmlns:a16="http://schemas.microsoft.com/office/drawing/2014/main" id="{AB4F46E8-39CC-516C-AA47-44AFBB8D4DF4}"/>
              </a:ext>
            </a:extLst>
          </p:cNvPr>
          <p:cNvSpPr>
            <a:spLocks noGrp="1"/>
          </p:cNvSpPr>
          <p:nvPr>
            <p:ph type="body" sz="quarter" idx="27"/>
          </p:nvPr>
        </p:nvSpPr>
        <p:spPr>
          <a:xfrm>
            <a:off x="1345520" y="5425723"/>
            <a:ext cx="10175920" cy="641396"/>
          </a:xfrm>
        </p:spPr>
        <p:txBody>
          <a:bodyPr/>
          <a:lstStyle/>
          <a:p>
            <a:endParaRPr lang="en-US"/>
          </a:p>
        </p:txBody>
      </p:sp>
      <p:sp>
        <p:nvSpPr>
          <p:cNvPr id="2" name="Slide Number Placeholder 1">
            <a:extLst>
              <a:ext uri="{FF2B5EF4-FFF2-40B4-BE49-F238E27FC236}">
                <a16:creationId xmlns:a16="http://schemas.microsoft.com/office/drawing/2014/main" id="{3FE470CA-37B9-5866-8D09-298FF55EE989}"/>
              </a:ext>
            </a:extLst>
          </p:cNvPr>
          <p:cNvSpPr>
            <a:spLocks noGrp="1"/>
          </p:cNvSpPr>
          <p:nvPr>
            <p:ph type="sldNum" sz="quarter" idx="12"/>
          </p:nvPr>
        </p:nvSpPr>
        <p:spPr/>
        <p:txBody>
          <a:bodyPr/>
          <a:lstStyle/>
          <a:p>
            <a:fld id="{10A01DC5-1685-4615-8240-15192985C6A2}" type="slidenum">
              <a:rPr lang="en-AU" smtClean="0"/>
              <a:t>67</a:t>
            </a:fld>
            <a:endParaRPr lang="en-AU"/>
          </a:p>
        </p:txBody>
      </p:sp>
    </p:spTree>
    <p:extLst>
      <p:ext uri="{BB962C8B-B14F-4D97-AF65-F5344CB8AC3E}">
        <p14:creationId xmlns:p14="http://schemas.microsoft.com/office/powerpoint/2010/main" val="1019636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t>References </a:t>
            </a:r>
            <a:r>
              <a:rPr lang="en-AU">
                <a:solidFill>
                  <a:schemeClr val="accent4"/>
                </a:solidFill>
              </a:rPr>
              <a:t>(1)</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2">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3">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4">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a:xfrm>
            <a:off x="360000" y="3429000"/>
            <a:ext cx="11484000" cy="2927351"/>
          </a:xfrm>
        </p:spPr>
        <p:txBody>
          <a:bodyPr vert="horz" lIns="0" tIns="0" rIns="0" bIns="0" rtlCol="0" anchor="t">
            <a:noAutofit/>
          </a:bodyPr>
          <a:lstStyle/>
          <a:p>
            <a:pPr>
              <a:lnSpc>
                <a:spcPct val="150000"/>
              </a:lnSpc>
              <a:spcBef>
                <a:spcPts val="1200"/>
              </a:spcBef>
              <a:spcAft>
                <a:spcPts val="600"/>
              </a:spcAft>
              <a:buNone/>
            </a:pPr>
            <a:r>
              <a:rPr lang="en-AU" u="sng">
                <a:solidFill>
                  <a:srgbClr val="2F5496"/>
                </a:solidFill>
                <a:effectLst/>
                <a:latin typeface="Arial" panose="020B0604020202020204" pitchFamily="34" charset="0"/>
                <a:ea typeface="Calibri" panose="020F0502020204030204" pitchFamily="34" charset="0"/>
                <a:hlinkClick r:id="rId5"/>
              </a:rPr>
              <a:t>Mathematics K–10 Syllabus</a:t>
            </a:r>
            <a:r>
              <a:rPr lang="en-AU">
                <a:effectLst/>
                <a:latin typeface="Arial" panose="020B0604020202020204" pitchFamily="34" charset="0"/>
                <a:ea typeface="Calibri" panose="020F0502020204030204" pitchFamily="34" charset="0"/>
              </a:rPr>
              <a:t> © NSW Education Standards Authority (NESA) for and on behalf of the Crown in right of the State of New South Wales, 2022.</a:t>
            </a:r>
          </a:p>
          <a:p>
            <a:pPr>
              <a:lnSpc>
                <a:spcPct val="150000"/>
              </a:lnSpc>
              <a:spcBef>
                <a:spcPts val="1200"/>
              </a:spcBef>
              <a:spcAft>
                <a:spcPts val="600"/>
              </a:spcAft>
              <a:buNone/>
            </a:pPr>
            <a:r>
              <a:rPr lang="en-AU">
                <a:effectLst/>
                <a:latin typeface="Arial" panose="020B0604020202020204" pitchFamily="34" charset="0"/>
                <a:ea typeface="Calibri" panose="020F0502020204030204" pitchFamily="34" charset="0"/>
              </a:rPr>
              <a:t>National Numeracy Learning Progression © Australian Curriculum, Assessment and Reporting Authority (ACARA) 2010 to present, unless otherwise indicated. This material was downloaded from the Australian Curriculum website (National Numeracy Learning Progression) (accessed 13 June 2025) and was not modified. </a:t>
            </a:r>
          </a:p>
          <a:p>
            <a:pPr>
              <a:lnSpc>
                <a:spcPct val="150000"/>
              </a:lnSpc>
              <a:spcBef>
                <a:spcPts val="1200"/>
              </a:spcBef>
              <a:spcAft>
                <a:spcPts val="600"/>
              </a:spcAft>
              <a:buNone/>
            </a:pPr>
            <a:r>
              <a:rPr lang="en-AU" err="1">
                <a:effectLst/>
                <a:latin typeface="Arial" panose="020B0604020202020204" pitchFamily="34" charset="0"/>
                <a:ea typeface="Calibri" panose="020F0502020204030204" pitchFamily="34" charset="0"/>
              </a:rPr>
              <a:t>Austadium</a:t>
            </a:r>
            <a:r>
              <a:rPr lang="en-AU">
                <a:effectLst/>
                <a:latin typeface="Arial" panose="020B0604020202020204" pitchFamily="34" charset="0"/>
                <a:ea typeface="Calibri" panose="020F0502020204030204" pitchFamily="34" charset="0"/>
              </a:rPr>
              <a:t> (2023) </a:t>
            </a:r>
            <a:r>
              <a:rPr lang="en-AU" i="1" u="sng">
                <a:solidFill>
                  <a:srgbClr val="2F5496"/>
                </a:solidFill>
                <a:effectLst/>
                <a:latin typeface="Arial" panose="020B0604020202020204" pitchFamily="34" charset="0"/>
                <a:ea typeface="Calibri" panose="020F0502020204030204" pitchFamily="34" charset="0"/>
                <a:hlinkClick r:id="rId6"/>
              </a:rPr>
              <a:t>NRL Results &amp; Crowds</a:t>
            </a:r>
            <a:r>
              <a:rPr lang="en-AU">
                <a:effectLst/>
                <a:latin typeface="Arial" panose="020B0604020202020204" pitchFamily="34" charset="0"/>
                <a:ea typeface="Calibri" panose="020F0502020204030204" pitchFamily="34" charset="0"/>
              </a:rPr>
              <a:t>, </a:t>
            </a:r>
            <a:r>
              <a:rPr lang="en-AU" err="1">
                <a:effectLst/>
                <a:latin typeface="Arial" panose="020B0604020202020204" pitchFamily="34" charset="0"/>
                <a:ea typeface="Calibri" panose="020F0502020204030204" pitchFamily="34" charset="0"/>
              </a:rPr>
              <a:t>Austadiums</a:t>
            </a:r>
            <a:r>
              <a:rPr lang="en-AU">
                <a:effectLst/>
                <a:latin typeface="Arial" panose="020B0604020202020204" pitchFamily="34" charset="0"/>
                <a:ea typeface="Calibri" panose="020F0502020204030204" pitchFamily="34" charset="0"/>
              </a:rPr>
              <a:t> website, accessed 13 June 2025.</a:t>
            </a:r>
          </a:p>
          <a:p>
            <a:pPr>
              <a:lnSpc>
                <a:spcPct val="150000"/>
              </a:lnSpc>
              <a:spcBef>
                <a:spcPts val="1200"/>
              </a:spcBef>
              <a:spcAft>
                <a:spcPts val="600"/>
              </a:spcAft>
              <a:buNone/>
            </a:pPr>
            <a:r>
              <a:rPr lang="en-AU">
                <a:effectLst/>
                <a:latin typeface="Arial" panose="020B0604020202020204" pitchFamily="34" charset="0"/>
                <a:ea typeface="Calibri" panose="020F0502020204030204" pitchFamily="34" charset="0"/>
              </a:rPr>
              <a:t>New Zealand Ministry of Education (n.d.) </a:t>
            </a:r>
            <a:r>
              <a:rPr lang="en-AU" i="1">
                <a:effectLst/>
                <a:latin typeface="Arial" panose="020B0604020202020204" pitchFamily="34" charset="0"/>
                <a:ea typeface="Calibri" panose="020F0502020204030204" pitchFamily="34" charset="0"/>
              </a:rPr>
              <a:t>Problems to solve</a:t>
            </a:r>
            <a:r>
              <a:rPr lang="en-AU">
                <a:effectLst/>
                <a:latin typeface="Arial" panose="020B0604020202020204" pitchFamily="34" charset="0"/>
                <a:ea typeface="Calibri" panose="020F0502020204030204" pitchFamily="34" charset="0"/>
              </a:rPr>
              <a:t> [PDF 599KB], NZ Maths website, accessed 13 June 2025.</a:t>
            </a:r>
          </a:p>
          <a:p>
            <a:pPr>
              <a:lnSpc>
                <a:spcPct val="150000"/>
              </a:lnSpc>
              <a:spcBef>
                <a:spcPts val="1200"/>
              </a:spcBef>
              <a:spcAft>
                <a:spcPts val="600"/>
              </a:spcAft>
            </a:pPr>
            <a:r>
              <a:rPr lang="en-AU">
                <a:effectLst/>
                <a:latin typeface="Arial" panose="020B0604020202020204" pitchFamily="34" charset="0"/>
                <a:ea typeface="Calibri" panose="020F0502020204030204" pitchFamily="34" charset="0"/>
              </a:rPr>
              <a:t>NESA (2022b) ‘</a:t>
            </a:r>
            <a:r>
              <a:rPr lang="en-AU" u="sng">
                <a:solidFill>
                  <a:srgbClr val="2F5496"/>
                </a:solidFill>
                <a:effectLst/>
                <a:latin typeface="Arial" panose="020B0604020202020204" pitchFamily="34" charset="0"/>
                <a:ea typeface="Calibri" panose="020F0502020204030204" pitchFamily="34" charset="0"/>
                <a:hlinkClick r:id="rId7"/>
              </a:rPr>
              <a:t>Stage 3: Teaching advice for Represents numbers A</a:t>
            </a:r>
            <a:r>
              <a:rPr lang="en-AU">
                <a:effectLst/>
                <a:latin typeface="Arial" panose="020B0604020202020204" pitchFamily="34" charset="0"/>
                <a:ea typeface="Calibri" panose="020F0502020204030204" pitchFamily="34" charset="0"/>
              </a:rPr>
              <a:t>’, </a:t>
            </a:r>
            <a:r>
              <a:rPr lang="en-AU" i="1">
                <a:effectLst/>
                <a:latin typeface="Arial" panose="020B0604020202020204" pitchFamily="34" charset="0"/>
                <a:ea typeface="Calibri" panose="020F0502020204030204" pitchFamily="34" charset="0"/>
              </a:rPr>
              <a:t>Mathematics K–10 Syllabus</a:t>
            </a:r>
            <a:r>
              <a:rPr lang="en-AU">
                <a:effectLst/>
                <a:latin typeface="Arial" panose="020B0604020202020204" pitchFamily="34" charset="0"/>
                <a:ea typeface="Calibri" panose="020F0502020204030204" pitchFamily="34" charset="0"/>
              </a:rPr>
              <a:t>, NESA website, accessed 13 June 2025.</a:t>
            </a:r>
          </a:p>
          <a:p>
            <a:pPr>
              <a:spcBef>
                <a:spcPts val="1200"/>
              </a:spcBef>
              <a:spcAft>
                <a:spcPts val="600"/>
              </a:spcAft>
            </a:pPr>
            <a:r>
              <a:rPr lang="en-AU">
                <a:effectLst/>
                <a:latin typeface="Arial" panose="020B0604020202020204" pitchFamily="34" charset="0"/>
                <a:ea typeface="Calibri" panose="020F0502020204030204" pitchFamily="34" charset="0"/>
              </a:rPr>
              <a:t>NESA (2022b) ‘</a:t>
            </a:r>
            <a:r>
              <a:rPr lang="en-AU" u="sng">
                <a:solidFill>
                  <a:srgbClr val="2F5496"/>
                </a:solidFill>
                <a:effectLst/>
                <a:latin typeface="Arial" panose="020B0604020202020204" pitchFamily="34" charset="0"/>
                <a:ea typeface="Calibri" panose="020F0502020204030204" pitchFamily="34" charset="0"/>
                <a:hlinkClick r:id="rId8"/>
              </a:rPr>
              <a:t>Stage 3: Teaching advice for Additive relations A’</a:t>
            </a:r>
            <a:r>
              <a:rPr lang="en-AU">
                <a:effectLst/>
                <a:latin typeface="Arial" panose="020B0604020202020204" pitchFamily="34" charset="0"/>
                <a:ea typeface="Calibri" panose="020F0502020204030204" pitchFamily="34" charset="0"/>
              </a:rPr>
              <a:t>, Mathematics K–10 Syllabus, NESA website, accessed 13 June 2025.</a:t>
            </a:r>
          </a:p>
          <a:p>
            <a:pPr>
              <a:lnSpc>
                <a:spcPct val="150000"/>
              </a:lnSpc>
              <a:spcBef>
                <a:spcPts val="1200"/>
              </a:spcBef>
              <a:spcAft>
                <a:spcPts val="600"/>
              </a:spcAft>
            </a:pPr>
            <a:endParaRPr lang="en-AU">
              <a:effectLst/>
              <a:latin typeface="Arial" panose="020B0604020202020204" pitchFamily="34" charset="0"/>
              <a:ea typeface="Calibri" panose="020F0502020204030204" pitchFamily="34" charset="0"/>
            </a:endParaRPr>
          </a:p>
        </p:txBody>
      </p:sp>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68</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t>References </a:t>
            </a:r>
            <a:r>
              <a:rPr lang="en-AU">
                <a:solidFill>
                  <a:schemeClr val="accent4"/>
                </a:solidFill>
              </a:rPr>
              <a:t>(2)</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
        <p:nvSpPr>
          <p:cNvPr id="10" name="Rectangle 5">
            <a:extLst>
              <a:ext uri="{FF2B5EF4-FFF2-40B4-BE49-F238E27FC236}">
                <a16:creationId xmlns:a16="http://schemas.microsoft.com/office/drawing/2014/main" id="{26200CAC-4A27-ACBF-537C-242B3A3C1C97}"/>
              </a:ext>
            </a:extLst>
          </p:cNvPr>
          <p:cNvSpPr>
            <a:spLocks noChangeArrowheads="1"/>
          </p:cNvSpPr>
          <p:nvPr/>
        </p:nvSpPr>
        <p:spPr bwMode="auto">
          <a:xfrm>
            <a:off x="335826" y="3274360"/>
            <a:ext cx="11644534" cy="3223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ts val="1200"/>
              </a:spcBef>
              <a:spcAft>
                <a:spcPts val="600"/>
              </a:spcAft>
              <a:buClrTx/>
              <a:buSzTx/>
              <a:buFontTx/>
              <a:buNone/>
              <a:tabLst/>
            </a:pPr>
            <a:r>
              <a:rPr kumimoji="0" lang="en-AU" altLang="en-US" sz="1100" b="0" i="0"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NESA (2022b) ‘</a:t>
            </a:r>
            <a:r>
              <a:rPr kumimoji="0" lang="en-AU" altLang="en-US" sz="1100" b="0" i="0"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hlinkClick r:id="rId6"/>
              </a:rPr>
              <a:t>Stage 3: Teaching advice for Additive relations B’</a:t>
            </a:r>
            <a:r>
              <a:rPr kumimoji="0" lang="en-AU" altLang="en-US" sz="1100" b="0" i="0"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Mathematics K–10 Syllabus, NESA website, accessed 13 June 2025.</a:t>
            </a:r>
            <a:endParaRPr kumimoji="0" lang="en-AU"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50000"/>
              </a:lnSpc>
              <a:spcBef>
                <a:spcPts val="1200"/>
              </a:spcBef>
              <a:spcAft>
                <a:spcPts val="600"/>
              </a:spcAft>
              <a:buClrTx/>
              <a:buSzTx/>
              <a:buFontTx/>
              <a:buNone/>
              <a:tabLst/>
            </a:pPr>
            <a:r>
              <a:rPr kumimoji="0" lang="en-AU" altLang="en-US" sz="1100" b="0" i="0"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Number line (n.d.) </a:t>
            </a:r>
            <a:r>
              <a:rPr kumimoji="0" lang="en-AU" altLang="en-US" sz="1100" b="0" i="1"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hlinkClick r:id="rId7"/>
              </a:rPr>
              <a:t>The Math Learning </a:t>
            </a:r>
            <a:r>
              <a:rPr kumimoji="0" lang="en-AU" altLang="en-US" sz="1100" b="0" i="1" u="none" strike="noStrike" cap="none" normalizeH="0" baseline="0" err="1">
                <a:ln>
                  <a:noFill/>
                </a:ln>
                <a:solidFill>
                  <a:schemeClr val="tx1"/>
                </a:solidFill>
                <a:effectLst/>
                <a:latin typeface="Arial" panose="020B0604020202020204" pitchFamily="34" charset="0"/>
                <a:ea typeface="Calibri" panose="020F0502020204030204" pitchFamily="34" charset="0"/>
                <a:cs typeface="Arial" panose="020B0604020202020204" pitchFamily="34" charset="0"/>
                <a:hlinkClick r:id="rId7"/>
              </a:rPr>
              <a:t>Center</a:t>
            </a:r>
            <a:r>
              <a:rPr kumimoji="0" lang="en-AU" altLang="en-US" sz="1100" b="0" i="0"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[website], accessed 13 June 2025</a:t>
            </a:r>
            <a:endParaRPr kumimoji="0" lang="en-AU"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50000"/>
              </a:lnSpc>
              <a:spcBef>
                <a:spcPts val="1200"/>
              </a:spcBef>
              <a:spcAft>
                <a:spcPts val="600"/>
              </a:spcAft>
              <a:buClrTx/>
              <a:buSzTx/>
              <a:buFontTx/>
              <a:buNone/>
              <a:tabLst/>
            </a:pPr>
            <a:r>
              <a:rPr kumimoji="0" lang="en-AU" altLang="en-US" sz="1100" b="0" i="0"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Orlin B (2022) </a:t>
            </a:r>
            <a:r>
              <a:rPr kumimoji="0" lang="en-AU" altLang="en-US" sz="1100" b="0" i="1"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Math Games with Bad Drawings: 75 1/4 Simple, Challenging, Go-Anywhere Games -And Why They Matter</a:t>
            </a:r>
            <a:r>
              <a:rPr kumimoji="0" lang="en-AU" altLang="en-US" sz="1100" b="0" i="0"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Black Dog &amp; Leventhal, USA., accessed 13 June 2025.</a:t>
            </a:r>
            <a:endParaRPr kumimoji="0" lang="en-AU"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50000"/>
              </a:lnSpc>
              <a:spcBef>
                <a:spcPts val="1200"/>
              </a:spcBef>
              <a:spcAft>
                <a:spcPts val="600"/>
              </a:spcAft>
              <a:buClrTx/>
              <a:buSzTx/>
              <a:buFontTx/>
              <a:buNone/>
              <a:tabLst/>
            </a:pPr>
            <a:r>
              <a:rPr kumimoji="0" lang="en-AU" altLang="en-US" sz="1100" b="0" i="0"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Primary Resources (2023) </a:t>
            </a:r>
            <a:r>
              <a:rPr kumimoji="0" lang="en-AU" altLang="en-US" sz="1100" b="0" i="1"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hlinkClick r:id="rId8"/>
              </a:rPr>
              <a:t>Lunar Theme Park</a:t>
            </a:r>
            <a:r>
              <a:rPr kumimoji="0" lang="en-AU" altLang="en-US" sz="1100" b="0" i="0"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hlinkClick r:id="rId8"/>
              </a:rPr>
              <a:t> [DOCX 794KB]</a:t>
            </a:r>
            <a:r>
              <a:rPr kumimoji="0" lang="en-AU" altLang="en-US" sz="1100" b="0" i="0"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UK Maths website, accessed 13 June 2025.</a:t>
            </a:r>
            <a:endParaRPr kumimoji="0" lang="en-AU"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50000"/>
              </a:lnSpc>
              <a:spcBef>
                <a:spcPts val="1200"/>
              </a:spcBef>
              <a:spcAft>
                <a:spcPts val="600"/>
              </a:spcAft>
              <a:buClrTx/>
              <a:buSzTx/>
              <a:buFontTx/>
              <a:buNone/>
              <a:tabLst/>
            </a:pPr>
            <a:r>
              <a:rPr kumimoji="0" lang="en-AU" altLang="en-US" sz="1100" b="0" i="0"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State New South Wales (Department of Education) (2023) </a:t>
            </a:r>
            <a:r>
              <a:rPr kumimoji="0" lang="en-AU" altLang="en-US" sz="1100" b="0" i="1"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hlinkClick r:id="rId9"/>
              </a:rPr>
              <a:t>Adding and Subtracting Decimals</a:t>
            </a:r>
            <a:r>
              <a:rPr kumimoji="0" lang="en-AU" altLang="en-US" sz="1100" b="0" i="0"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Universal Resource Hub website, accessed 13 June 2025.</a:t>
            </a:r>
            <a:endParaRPr kumimoji="0" lang="en-AU"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50000"/>
              </a:lnSpc>
              <a:spcBef>
                <a:spcPts val="1200"/>
              </a:spcBef>
              <a:spcAft>
                <a:spcPts val="600"/>
              </a:spcAft>
              <a:buClrTx/>
              <a:buSzTx/>
              <a:buFontTx/>
              <a:buNone/>
              <a:tabLst/>
            </a:pPr>
            <a:r>
              <a:rPr kumimoji="0" lang="en-AU" altLang="en-US" sz="1100" b="0" i="0"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State of New South Wales (Department of Education) (2023) </a:t>
            </a:r>
            <a:r>
              <a:rPr kumimoji="0" lang="en-AU" altLang="en-US" sz="1100" b="0" i="1"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hlinkClick r:id="rId10"/>
              </a:rPr>
              <a:t>Part 3: Flexible strategies with 3 digit numbers</a:t>
            </a:r>
            <a:r>
              <a:rPr kumimoji="0" lang="en-AU" altLang="en-US" sz="1100" b="0" i="0"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hlinkClick r:id="rId10"/>
              </a:rPr>
              <a:t> [DOCX 794KB]</a:t>
            </a:r>
            <a:r>
              <a:rPr kumimoji="0" lang="en-AU" altLang="en-US" sz="1100" b="0" i="0"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NSW Department of Education, accessed 13 June 2025.</a:t>
            </a:r>
            <a:endParaRPr kumimoji="0" lang="en-AU"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50000"/>
              </a:lnSpc>
              <a:spcBef>
                <a:spcPts val="1200"/>
              </a:spcBef>
              <a:spcAft>
                <a:spcPts val="600"/>
              </a:spcAft>
              <a:buClrTx/>
              <a:buSzTx/>
              <a:buFontTx/>
              <a:buNone/>
              <a:tabLst/>
            </a:pPr>
            <a:r>
              <a:rPr kumimoji="0" lang="en-AU" altLang="en-US" sz="1100" b="0" i="0"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State of New South Wales (Department of Education) (2023) </a:t>
            </a:r>
            <a:r>
              <a:rPr kumimoji="0" lang="en-AU" altLang="en-US" sz="1100" b="0" i="1"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hlinkClick r:id="rId11"/>
              </a:rPr>
              <a:t>Part 3: Flexible strategies with multi-digit numbers</a:t>
            </a:r>
            <a:r>
              <a:rPr kumimoji="0" lang="en-AU" altLang="en-US" sz="1100" b="0" i="0"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hlinkClick r:id="rId11"/>
              </a:rPr>
              <a:t> [PDF 2.97MB]</a:t>
            </a:r>
            <a:r>
              <a:rPr kumimoji="0" lang="en-AU" altLang="en-US" sz="1100" b="0" i="0"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NSW Department of Education, accessed 13 June 2025.</a:t>
            </a:r>
            <a:endParaRPr kumimoji="0" lang="en-AU" altLang="en-US" sz="600" b="0" i="0" u="none" strike="noStrike" cap="none" normalizeH="0" baseline="0">
              <a:ln>
                <a:noFill/>
              </a:ln>
              <a:solidFill>
                <a:schemeClr val="tx1"/>
              </a:solidFill>
              <a:effectLst/>
            </a:endParaRPr>
          </a:p>
        </p:txBody>
      </p:sp>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69</a:t>
            </a:fld>
            <a:endParaRPr lang="en-AU"/>
          </a:p>
        </p:txBody>
      </p:sp>
    </p:spTree>
    <p:extLst>
      <p:ext uri="{BB962C8B-B14F-4D97-AF65-F5344CB8AC3E}">
        <p14:creationId xmlns:p14="http://schemas.microsoft.com/office/powerpoint/2010/main" val="2004706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2CC3C-48AB-D7E3-B249-447CDA372E2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76CF8B1-C66C-3602-9D06-4AF36FBDC0BF}"/>
              </a:ext>
            </a:extLst>
          </p:cNvPr>
          <p:cNvSpPr>
            <a:spLocks noGrp="1"/>
          </p:cNvSpPr>
          <p:nvPr>
            <p:ph type="title"/>
          </p:nvPr>
        </p:nvSpPr>
        <p:spPr/>
        <p:txBody>
          <a:bodyPr/>
          <a:lstStyle/>
          <a:p>
            <a:r>
              <a:rPr lang="en-AU"/>
              <a:t>References </a:t>
            </a:r>
            <a:r>
              <a:rPr lang="en-AU">
                <a:solidFill>
                  <a:schemeClr val="accent4"/>
                </a:solidFill>
              </a:rPr>
              <a:t>(3)</a:t>
            </a:r>
          </a:p>
        </p:txBody>
      </p:sp>
      <p:sp>
        <p:nvSpPr>
          <p:cNvPr id="6" name="TextBox 5">
            <a:extLst>
              <a:ext uri="{FF2B5EF4-FFF2-40B4-BE49-F238E27FC236}">
                <a16:creationId xmlns:a16="http://schemas.microsoft.com/office/drawing/2014/main" id="{C9967460-D404-C6ED-835A-79AF8EBB6903}"/>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2">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3">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4">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
        <p:nvSpPr>
          <p:cNvPr id="10" name="Rectangle 5">
            <a:extLst>
              <a:ext uri="{FF2B5EF4-FFF2-40B4-BE49-F238E27FC236}">
                <a16:creationId xmlns:a16="http://schemas.microsoft.com/office/drawing/2014/main" id="{754C39AD-83B9-923D-0695-269ADE4F7971}"/>
              </a:ext>
            </a:extLst>
          </p:cNvPr>
          <p:cNvSpPr>
            <a:spLocks noChangeArrowheads="1"/>
          </p:cNvSpPr>
          <p:nvPr/>
        </p:nvSpPr>
        <p:spPr bwMode="auto">
          <a:xfrm>
            <a:off x="360000" y="3429000"/>
            <a:ext cx="9464450" cy="17691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ts val="1200"/>
              </a:spcBef>
              <a:spcAft>
                <a:spcPts val="600"/>
              </a:spcAft>
              <a:buClrTx/>
              <a:buSzTx/>
              <a:buFontTx/>
              <a:buNone/>
              <a:tabLst/>
            </a:pPr>
            <a:r>
              <a:rPr kumimoji="0" lang="en-AU" altLang="en-US" sz="1100" b="0" i="0"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State of New South Wales (Department of Education) (2023) </a:t>
            </a:r>
            <a:r>
              <a:rPr kumimoji="0" lang="en-AU" altLang="en-US" sz="1100" b="0" i="0"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hlinkClick r:id="rId5"/>
              </a:rPr>
              <a:t>Red Dragonfly</a:t>
            </a:r>
            <a:r>
              <a:rPr kumimoji="0" lang="en-AU" altLang="en-US" sz="1100" b="0" i="0"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Red dragonfly mathematics challenge website, accessed 13 June 2025.</a:t>
            </a:r>
            <a:endParaRPr kumimoji="0" lang="en-AU"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50000"/>
              </a:lnSpc>
              <a:spcBef>
                <a:spcPts val="1200"/>
              </a:spcBef>
              <a:spcAft>
                <a:spcPts val="600"/>
              </a:spcAft>
              <a:buClrTx/>
              <a:buSzTx/>
              <a:buFontTx/>
              <a:buNone/>
              <a:tabLst/>
            </a:pPr>
            <a:r>
              <a:rPr kumimoji="0" lang="en-AU" altLang="en-US" sz="1100" b="0" i="0"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Sullivan P (2018) </a:t>
            </a:r>
            <a:r>
              <a:rPr kumimoji="0" lang="en-AU" altLang="en-US" sz="1100" b="0" i="1"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Challenging Mathematical Tasks: Unlocking the potential of all students</a:t>
            </a:r>
            <a:r>
              <a:rPr kumimoji="0" lang="en-AU" altLang="en-US" sz="1100" b="0" i="0"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Oxford University Press ANZ.</a:t>
            </a:r>
            <a:endParaRPr kumimoji="0" lang="en-AU"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50000"/>
              </a:lnSpc>
              <a:spcBef>
                <a:spcPts val="1200"/>
              </a:spcBef>
              <a:spcAft>
                <a:spcPts val="600"/>
              </a:spcAft>
              <a:buClrTx/>
              <a:buSzTx/>
              <a:buFontTx/>
              <a:buNone/>
              <a:tabLst/>
            </a:pPr>
            <a:r>
              <a:rPr kumimoji="0" lang="en-AU" altLang="en-US" sz="1100" b="0" i="0"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Sullivan P and Lilburn P (2017) </a:t>
            </a:r>
            <a:r>
              <a:rPr kumimoji="0" lang="en-AU" altLang="en-US" sz="1100" b="0" i="1"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Open-ended Maths activities</a:t>
            </a:r>
            <a:r>
              <a:rPr kumimoji="0" lang="en-AU" altLang="en-US" sz="1100" b="0" i="0"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Revised </a:t>
            </a:r>
            <a:r>
              <a:rPr kumimoji="0" lang="en-AU" altLang="en-US" sz="1100" b="0" i="0" u="none" strike="noStrike" cap="none" normalizeH="0" baseline="0" err="1">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edn</a:t>
            </a:r>
            <a:r>
              <a:rPr kumimoji="0" lang="en-AU" altLang="en-US" sz="1100" b="0" i="0"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Oxford University Press, Victoria.</a:t>
            </a:r>
            <a:endParaRPr kumimoji="0" lang="en-AU"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50000"/>
              </a:lnSpc>
              <a:spcBef>
                <a:spcPts val="1200"/>
              </a:spcBef>
              <a:spcAft>
                <a:spcPts val="600"/>
              </a:spcAft>
              <a:buClrTx/>
              <a:buSzTx/>
              <a:buFontTx/>
              <a:buNone/>
              <a:tabLst/>
            </a:pPr>
            <a:r>
              <a:rPr kumimoji="0" lang="en-AU" altLang="en-US" sz="1100" b="0" i="0"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University of Cambridge (Faculty of Mathematics) (2023) </a:t>
            </a:r>
            <a:r>
              <a:rPr kumimoji="0" lang="en-AU" altLang="en-US" sz="1100" b="0" i="1"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hlinkClick r:id="rId6"/>
              </a:rPr>
              <a:t>Factors and Multiples Game</a:t>
            </a:r>
            <a:r>
              <a:rPr kumimoji="0" lang="en-AU" altLang="en-US" sz="1100" b="0" i="0"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NRICH website, accessed 13 June 2025</a:t>
            </a:r>
            <a:r>
              <a:rPr kumimoji="0" lang="en-AU" altLang="en-US" sz="1100" b="0" i="0" u="sng" strike="noStrike" cap="none" normalizeH="0" baseline="0">
                <a:ln>
                  <a:noFill/>
                </a:ln>
                <a:solidFill>
                  <a:srgbClr val="008080"/>
                </a:solidFill>
                <a:effectLst/>
                <a:latin typeface="Arial" panose="020B0604020202020204" pitchFamily="34" charset="0"/>
                <a:ea typeface="Calibri" panose="020F0502020204030204" pitchFamily="34" charset="0"/>
                <a:cs typeface="Arial" panose="020B0604020202020204" pitchFamily="34" charset="0"/>
              </a:rPr>
              <a:t>.</a:t>
            </a:r>
            <a:r>
              <a:rPr kumimoji="0" lang="en-AU" altLang="en-US" sz="1100" b="0" i="0" u="none" strike="noStrike" cap="none" normalizeH="0" baseline="0">
                <a:ln>
                  <a:noFill/>
                </a:ln>
                <a:solidFill>
                  <a:srgbClr val="FF0000"/>
                </a:solidFill>
                <a:effectLst/>
                <a:latin typeface="Arial" panose="020B0604020202020204" pitchFamily="34" charset="0"/>
                <a:ea typeface="Calibri" panose="020F0502020204030204" pitchFamily="34" charset="0"/>
                <a:cs typeface="Arial" panose="020B0604020202020204" pitchFamily="34" charset="0"/>
              </a:rPr>
              <a:t>..</a:t>
            </a:r>
            <a:endParaRPr kumimoji="0" lang="en-AU" altLang="en-US" sz="1800" b="0" i="0" u="none" strike="noStrike" cap="none" normalizeH="0" baseline="0">
              <a:ln>
                <a:noFill/>
              </a:ln>
              <a:solidFill>
                <a:schemeClr val="tx1"/>
              </a:solidFill>
              <a:effectLst/>
              <a:latin typeface="Arial" panose="020B0604020202020204" pitchFamily="34" charset="0"/>
            </a:endParaRPr>
          </a:p>
        </p:txBody>
      </p:sp>
      <p:sp>
        <p:nvSpPr>
          <p:cNvPr id="2" name="Slide Number Placeholder 1">
            <a:extLst>
              <a:ext uri="{FF2B5EF4-FFF2-40B4-BE49-F238E27FC236}">
                <a16:creationId xmlns:a16="http://schemas.microsoft.com/office/drawing/2014/main" id="{B4A41A0A-38D5-1BE4-D9B6-B13938BF75BA}"/>
              </a:ext>
            </a:extLst>
          </p:cNvPr>
          <p:cNvSpPr>
            <a:spLocks noGrp="1"/>
          </p:cNvSpPr>
          <p:nvPr>
            <p:ph type="sldNum" sz="quarter" idx="10"/>
          </p:nvPr>
        </p:nvSpPr>
        <p:spPr/>
        <p:txBody>
          <a:bodyPr/>
          <a:lstStyle/>
          <a:p>
            <a:fld id="{10A01DC5-1685-4615-8240-15192985C6A2}" type="slidenum">
              <a:rPr lang="en-AU" smtClean="0"/>
              <a:pPr/>
              <a:t>70</a:t>
            </a:fld>
            <a:endParaRPr lang="en-AU"/>
          </a:p>
        </p:txBody>
      </p:sp>
    </p:spTree>
    <p:extLst>
      <p:ext uri="{BB962C8B-B14F-4D97-AF65-F5344CB8AC3E}">
        <p14:creationId xmlns:p14="http://schemas.microsoft.com/office/powerpoint/2010/main" val="874833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40EDD703-71B5-4294-919E-34563A64235E}" vid="{64077C9F-2B72-4F25-81A2-2C123044CA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8550904603AA64982DCAA86C5CFC06E" ma:contentTypeVersion="32" ma:contentTypeDescription="Create a new document." ma:contentTypeScope="" ma:versionID="05891fa245dabad90296fcda280daeb8">
  <xsd:schema xmlns:xsd="http://www.w3.org/2001/XMLSchema" xmlns:xs="http://www.w3.org/2001/XMLSchema" xmlns:p="http://schemas.microsoft.com/office/2006/metadata/properties" xmlns:ns2="7e763d47-3c66-4c58-9425-1477fd3ccd1e" xmlns:ns3="60129b06-f64b-40a8-96e2-c5b2f86112b1" targetNamespace="http://schemas.microsoft.com/office/2006/metadata/properties" ma:root="true" ma:fieldsID="3e7d40734bf85537985a675388facd7f" ns2:_="" ns3:_="">
    <xsd:import namespace="7e763d47-3c66-4c58-9425-1477fd3ccd1e"/>
    <xsd:import namespace="60129b06-f64b-40a8-96e2-c5b2f86112b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Writingpod" minOccurs="0"/>
                <xsd:element ref="ns2:Designanddevelopment" minOccurs="0"/>
                <xsd:element ref="ns2:FeedbackfromNSWMS" minOccurs="0"/>
                <xsd:element ref="ns2:Contentediting" minOccurs="0"/>
                <xsd:element ref="ns2:Projectleadreview" minOccurs="0"/>
                <xsd:element ref="ns2:Workstreamleadendorsement" minOccurs="0"/>
                <xsd:element ref="ns2:Digitalsupport" minOccurs="0"/>
                <xsd:element ref="ns2:StoredinTRIM" minOccurs="0"/>
                <xsd:element ref="ns2:Published" minOccurs="0"/>
                <xsd:element ref="ns2:Resourcedrop" minOccurs="0"/>
                <xsd:element ref="ns2:lcf76f155ced4ddcb4097134ff3c332f" minOccurs="0"/>
                <xsd:element ref="ns3:TaxCatchAll" minOccurs="0"/>
                <xsd:element ref="ns2:MediaServiceObjectDetectorVersions" minOccurs="0"/>
                <xsd:element ref="ns2:MediaServiceLocation" minOccurs="0"/>
                <xsd:element ref="ns2:MediaServiceSearchProperties" minOccurs="0"/>
                <xsd:element ref="ns2:Addedtoexcel"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763d47-3c66-4c58-9425-1477fd3ccd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Writingpod" ma:index="20" nillable="true" ma:displayName="Writing pod" ma:format="Dropdown" ma:list="UserInfo" ma:SharePointGroup="0" ma:internalName="Writingpod">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esignanddevelopment" ma:index="21" nillable="true" ma:displayName="Design and development" ma:format="Dropdown" ma:internalName="Designanddevelopment">
      <xsd:simpleType>
        <xsd:restriction base="dms:Choice">
          <xsd:enumeration value="Not yet started"/>
          <xsd:enumeration value="In progress"/>
          <xsd:enumeration value="Complete"/>
        </xsd:restriction>
      </xsd:simpleType>
    </xsd:element>
    <xsd:element name="FeedbackfromNSWMS" ma:index="22" nillable="true" ma:displayName="Feedback from NSWMS" ma:description="Have leaders Michelle and Ayesha provided input?" ma:format="Dropdown" ma:internalName="FeedbackfromNSWMS">
      <xsd:simpleType>
        <xsd:restriction base="dms:Choice">
          <xsd:enumeration value="Not yet requested"/>
          <xsd:enumeration value="Request submitted"/>
          <xsd:enumeration value="Feedback received"/>
        </xsd:restriction>
      </xsd:simpleType>
    </xsd:element>
    <xsd:element name="Contentediting" ma:index="23" nillable="true" ma:displayName="Content editing" ma:description="Has unit content been edited by Senior Editor (R. Kilroy)?" ma:format="Dropdown" ma:internalName="Contentediting">
      <xsd:simpleType>
        <xsd:restriction base="dms:Choice">
          <xsd:enumeration value="Not yet requested"/>
          <xsd:enumeration value="Request submitted"/>
          <xsd:enumeration value="Editing complete"/>
        </xsd:restriction>
      </xsd:simpleType>
    </xsd:element>
    <xsd:element name="Projectleadreview" ma:index="24" nillable="true" ma:displayName="Project lead review" ma:description="Have project leads (H. Laverick and R. Cheal) reviewed the unit?" ma:format="Dropdown" ma:internalName="Projectleadreview">
      <xsd:simpleType>
        <xsd:restriction base="dms:Choice">
          <xsd:enumeration value="Not yet requested"/>
          <xsd:enumeration value="Request submitted"/>
          <xsd:enumeration value="Review complete"/>
        </xsd:restriction>
      </xsd:simpleType>
    </xsd:element>
    <xsd:element name="Workstreamleadendorsement" ma:index="25" nillable="true" ma:displayName="Workstream lead endorsement" ma:description="Has J. Hoffman endorsed the unit?" ma:format="Dropdown" ma:internalName="Workstreamleadendorsement">
      <xsd:simpleType>
        <xsd:restriction base="dms:Choice">
          <xsd:enumeration value="Not yet submitted"/>
          <xsd:enumeration value="Request submitted"/>
          <xsd:enumeration value="Endorsement complete"/>
        </xsd:restriction>
      </xsd:simpleType>
    </xsd:element>
    <xsd:element name="Digitalsupport" ma:index="26" nillable="true" ma:displayName="Digital support" ma:format="Dropdown" ma:internalName="Digitalsupport">
      <xsd:simpleType>
        <xsd:restriction base="dms:Choice">
          <xsd:enumeration value="Not yet submitted"/>
          <xsd:enumeration value="Request submitted (by project manager)"/>
          <xsd:enumeration value="Digital support complete"/>
        </xsd:restriction>
      </xsd:simpleType>
    </xsd:element>
    <xsd:element name="StoredinTRIM" ma:index="27" nillable="true" ma:displayName="Stored in TRIM" ma:format="Dropdown" ma:internalName="StoredinTRIM">
      <xsd:simpleType>
        <xsd:restriction base="dms:Choice">
          <xsd:enumeration value="Yes"/>
          <xsd:enumeration value="No"/>
        </xsd:restriction>
      </xsd:simpleType>
    </xsd:element>
    <xsd:element name="Published" ma:index="28" nillable="true" ma:displayName="Published" ma:format="Dropdown" ma:internalName="Published">
      <xsd:simpleType>
        <xsd:restriction base="dms:Choice">
          <xsd:enumeration value="Yes"/>
          <xsd:enumeration value="No"/>
        </xsd:restriction>
      </xsd:simpleType>
    </xsd:element>
    <xsd:element name="Resourcedrop" ma:index="29" nillable="true" ma:displayName="Drop week" ma:format="Dropdown" ma:internalName="Resourcedrop">
      <xsd:simpleType>
        <xsd:restriction base="dms:Choice">
          <xsd:enumeration value="T1, W1"/>
          <xsd:enumeration value="T1, W3"/>
          <xsd:enumeration value="T1, W7"/>
          <xsd:enumeration value="T1, W10"/>
          <xsd:enumeration value="T2, W1"/>
          <xsd:enumeration value="T2, W3"/>
          <xsd:enumeration value="T2, W7"/>
          <xsd:enumeration value="T2, W10"/>
          <xsd:enumeration value="T3, W1"/>
          <xsd:enumeration value="T3, W3"/>
          <xsd:enumeration value="T3, W7"/>
          <xsd:enumeration value="T3, W10"/>
          <xsd:enumeration value="T4, W1"/>
          <xsd:enumeration value="T4, W3"/>
          <xsd:enumeration value="T4, W7"/>
          <xsd:enumeration value="T4, W10"/>
        </xsd:restriction>
      </xsd:simpleType>
    </xsd:element>
    <xsd:element name="lcf76f155ced4ddcb4097134ff3c332f" ma:index="31"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3" nillable="true" ma:displayName="MediaServiceObjectDetectorVersions" ma:description="" ma:hidden="true" ma:indexed="true" ma:internalName="MediaServiceObjectDetectorVersions" ma:readOnly="true">
      <xsd:simpleType>
        <xsd:restriction base="dms:Text"/>
      </xsd:simpleType>
    </xsd:element>
    <xsd:element name="MediaServiceLocation" ma:index="34" nillable="true" ma:displayName="Location" ma:description="" ma:indexed="true" ma:internalName="MediaServiceLocation" ma:readOnly="true">
      <xsd:simpleType>
        <xsd:restriction base="dms:Text"/>
      </xsd:simpleType>
    </xsd:element>
    <xsd:element name="MediaServiceSearchProperties" ma:index="35" nillable="true" ma:displayName="MediaServiceSearchProperties" ma:hidden="true" ma:internalName="MediaServiceSearchProperties" ma:readOnly="true">
      <xsd:simpleType>
        <xsd:restriction base="dms:Note"/>
      </xsd:simpleType>
    </xsd:element>
    <xsd:element name="Addedtoexcel" ma:index="36" nillable="true" ma:displayName="Added to excel" ma:format="Dropdown" ma:internalName="Addedtoexcel">
      <xsd:simpleType>
        <xsd:restriction base="dms:Choice">
          <xsd:enumeration value="Yes"/>
        </xsd:restriction>
      </xsd:simpleType>
    </xsd:element>
    <xsd:element name="MediaServiceBillingMetadata" ma:index="3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0129b06-f64b-40a8-96e2-c5b2f86112b1"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32" nillable="true" ma:displayName="Taxonomy Catch All Column" ma:hidden="true" ma:list="{d14652b1-c484-4c0c-a021-a754efd78e11}" ma:internalName="TaxCatchAll" ma:showField="CatchAllData" ma:web="60129b06-f64b-40a8-96e2-c5b2f86112b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7e763d47-3c66-4c58-9425-1477fd3ccd1e">
      <Terms xmlns="http://schemas.microsoft.com/office/infopath/2007/PartnerControls"/>
    </lcf76f155ced4ddcb4097134ff3c332f>
    <TaxCatchAll xmlns="60129b06-f64b-40a8-96e2-c5b2f86112b1" xsi:nil="true"/>
    <Projectleadreview xmlns="7e763d47-3c66-4c58-9425-1477fd3ccd1e" xsi:nil="true"/>
    <Workstreamleadendorsement xmlns="7e763d47-3c66-4c58-9425-1477fd3ccd1e" xsi:nil="true"/>
    <Digitalsupport xmlns="7e763d47-3c66-4c58-9425-1477fd3ccd1e" xsi:nil="true"/>
    <Addedtoexcel xmlns="7e763d47-3c66-4c58-9425-1477fd3ccd1e" xsi:nil="true"/>
    <Writingpod xmlns="7e763d47-3c66-4c58-9425-1477fd3ccd1e">
      <UserInfo>
        <DisplayName/>
        <AccountId xsi:nil="true"/>
        <AccountType/>
      </UserInfo>
    </Writingpod>
    <FeedbackfromNSWMS xmlns="7e763d47-3c66-4c58-9425-1477fd3ccd1e" xsi:nil="true"/>
    <Resourcedrop xmlns="7e763d47-3c66-4c58-9425-1477fd3ccd1e" xsi:nil="true"/>
    <Designanddevelopment xmlns="7e763d47-3c66-4c58-9425-1477fd3ccd1e" xsi:nil="true"/>
    <StoredinTRIM xmlns="7e763d47-3c66-4c58-9425-1477fd3ccd1e" xsi:nil="true"/>
    <Contentediting xmlns="7e763d47-3c66-4c58-9425-1477fd3ccd1e" xsi:nil="true"/>
    <Published xmlns="7e763d47-3c66-4c58-9425-1477fd3ccd1e"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E12456F-82DE-4D96-9D96-58E29535C0BD}">
  <ds:schemaRefs>
    <ds:schemaRef ds:uri="60129b06-f64b-40a8-96e2-c5b2f86112b1"/>
    <ds:schemaRef ds:uri="7e763d47-3c66-4c58-9425-1477fd3ccd1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CE555570-2BD4-426B-AA32-0A79CB6508A8}">
  <ds:schemaRefs>
    <ds:schemaRef ds:uri="http://schemas.openxmlformats.org/package/2006/metadata/core-properties"/>
    <ds:schemaRef ds:uri="http://purl.org/dc/elements/1.1/"/>
    <ds:schemaRef ds:uri="http://schemas.microsoft.com/office/2006/documentManagement/types"/>
    <ds:schemaRef ds:uri="http://schemas.microsoft.com/office/2006/metadata/properties"/>
    <ds:schemaRef ds:uri="http://www.w3.org/XML/1998/namespace"/>
    <ds:schemaRef ds:uri="http://purl.org/dc/dcmitype/"/>
    <ds:schemaRef ds:uri="http://schemas.microsoft.com/office/infopath/2007/PartnerControls"/>
    <ds:schemaRef ds:uri="60129b06-f64b-40a8-96e2-c5b2f86112b1"/>
    <ds:schemaRef ds:uri="7e763d47-3c66-4c58-9425-1477fd3ccd1e"/>
    <ds:schemaRef ds:uri="http://purl.org/dc/terms/"/>
  </ds:schemaRefs>
</ds:datastoreItem>
</file>

<file path=customXml/itemProps3.xml><?xml version="1.0" encoding="utf-8"?>
<ds:datastoreItem xmlns:ds="http://schemas.openxmlformats.org/officeDocument/2006/customXml" ds:itemID="{1BBF1075-4992-4DA3-A5BC-433A425AD95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Review of learning template</Template>
  <TotalTime>0</TotalTime>
  <Words>6926</Words>
  <Application>Microsoft Office PowerPoint</Application>
  <PresentationFormat>Widescreen</PresentationFormat>
  <Paragraphs>835</Paragraphs>
  <Slides>71</Slides>
  <Notes>69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71</vt:i4>
      </vt:variant>
    </vt:vector>
  </HeadingPairs>
  <TitlesOfParts>
    <vt:vector size="81" baseType="lpstr">
      <vt:lpstr>Edu NSW ACT Foundation</vt:lpstr>
      <vt:lpstr>Wingdings</vt:lpstr>
      <vt:lpstr>Times New Roman</vt:lpstr>
      <vt:lpstr>Calibri</vt:lpstr>
      <vt:lpstr>Symbol</vt:lpstr>
      <vt:lpstr>Arial</vt:lpstr>
      <vt:lpstr>Public Sans Light</vt:lpstr>
      <vt:lpstr>Montserrat</vt:lpstr>
      <vt:lpstr>Public Sans</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rounding and estimation</vt:lpstr>
      <vt:lpstr>Review of learning 2</vt:lpstr>
      <vt:lpstr>True or false (1)</vt:lpstr>
      <vt:lpstr>Short response (5)</vt:lpstr>
      <vt:lpstr>Short response (6)</vt:lpstr>
      <vt:lpstr>Short response (7)</vt:lpstr>
      <vt:lpstr>Short response (8)</vt:lpstr>
      <vt:lpstr>Activity 2 – flexible strategies with 3-digit numbers</vt:lpstr>
      <vt:lpstr>Review of learning 3</vt:lpstr>
      <vt:lpstr>Multiple choice (2)</vt:lpstr>
      <vt:lpstr>Short response (9)</vt:lpstr>
      <vt:lpstr>Short response (10)</vt:lpstr>
      <vt:lpstr>Short response (11)</vt:lpstr>
      <vt:lpstr>Short response (12)</vt:lpstr>
      <vt:lpstr>Activity 3 – rounding large numbers (1)</vt:lpstr>
      <vt:lpstr>Activity 3 – rounding large numbers (2)</vt:lpstr>
      <vt:lpstr>Review of learning 4</vt:lpstr>
      <vt:lpstr>True or false (2)</vt:lpstr>
      <vt:lpstr>Short response (13)</vt:lpstr>
      <vt:lpstr>Short response (14)</vt:lpstr>
      <vt:lpstr>Short response (15)</vt:lpstr>
      <vt:lpstr>Short response (16)</vt:lpstr>
      <vt:lpstr>Activity 4 – 5-digit number facts</vt:lpstr>
      <vt:lpstr>Review of learning 5</vt:lpstr>
      <vt:lpstr>Multiple choice (3)</vt:lpstr>
      <vt:lpstr>Short response (17)</vt:lpstr>
      <vt:lpstr>Short response (18)</vt:lpstr>
      <vt:lpstr>Short response (19)</vt:lpstr>
      <vt:lpstr>Short response (20)</vt:lpstr>
      <vt:lpstr>Activity 5 – product target</vt:lpstr>
      <vt:lpstr>Review of learning 6</vt:lpstr>
      <vt:lpstr>True or false (3)</vt:lpstr>
      <vt:lpstr>Short response (21)</vt:lpstr>
      <vt:lpstr>Short response (22)</vt:lpstr>
      <vt:lpstr>Short response (23)</vt:lpstr>
      <vt:lpstr>Short response (24)</vt:lpstr>
      <vt:lpstr>Activity 6 – products and factors (2)</vt:lpstr>
      <vt:lpstr>Review of learning 7</vt:lpstr>
      <vt:lpstr>Multiple choice (4)</vt:lpstr>
      <vt:lpstr>Short response (25)</vt:lpstr>
      <vt:lpstr>Short response (26)</vt:lpstr>
      <vt:lpstr>Short response (27)</vt:lpstr>
      <vt:lpstr>Short response (28)</vt:lpstr>
      <vt:lpstr>Activity 7 – Factors and multiples</vt:lpstr>
      <vt:lpstr>Review of learning 8</vt:lpstr>
      <vt:lpstr>True or false (4)</vt:lpstr>
      <vt:lpstr>Short response (29)</vt:lpstr>
      <vt:lpstr>Short response (30)</vt:lpstr>
      <vt:lpstr>Short response (31)</vt:lpstr>
      <vt:lpstr>Short response (32)</vt:lpstr>
      <vt:lpstr>Activity 8 – multiplying numbers(1)</vt:lpstr>
      <vt:lpstr>Double Venn diagram</vt:lpstr>
      <vt:lpstr>Frayer</vt:lpstr>
      <vt:lpstr>Spider map</vt:lpstr>
      <vt:lpstr>Cline</vt:lpstr>
      <vt:lpstr>Compare and contrast</vt:lpstr>
      <vt:lpstr>Multiple choice (5)</vt:lpstr>
      <vt:lpstr>Multiple choice (6)</vt:lpstr>
      <vt:lpstr>References (1)</vt:lpstr>
      <vt:lpstr>References (2)</vt:lpstr>
      <vt:lpstr>References (3)</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Evelyn Plunkett</dc:creator>
  <cp:keywords/>
  <dc:description/>
  <cp:lastModifiedBy>Daniel Archer</cp:lastModifiedBy>
  <cp:revision>2</cp:revision>
  <dcterms:created xsi:type="dcterms:W3CDTF">2025-08-07T07:38:50Z</dcterms:created>
  <dcterms:modified xsi:type="dcterms:W3CDTF">2025-10-26T20:43:39Z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0x01010028550904603AA64982DCAA86C5CFC06E</vt:lpwstr>
  </property>
  <property fmtid="{D5CDD505-2E9C-101B-9397-08002B2CF9AE}" pid="10" name="MediaServiceImageTags">
    <vt:lpwstr/>
  </property>
</Properties>
</file>