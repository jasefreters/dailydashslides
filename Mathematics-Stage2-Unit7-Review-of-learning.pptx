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5"/>
  </p:notesMasterIdLst>
  <p:handoutMasterIdLst>
    <p:handoutMasterId r:id="rId76"/>
  </p:handoutMasterIdLst>
  <p:sldIdLst>
    <p:sldId id="365" r:id="rId5"/>
    <p:sldId id="26505" r:id="rId6"/>
    <p:sldId id="26359" r:id="rId7"/>
    <p:sldId id="271" r:id="rId8"/>
    <p:sldId id="26646" r:id="rId9"/>
    <p:sldId id="358" r:id="rId10"/>
    <p:sldId id="26580" r:id="rId11"/>
    <p:sldId id="26581" r:id="rId12"/>
    <p:sldId id="26582" r:id="rId13"/>
    <p:sldId id="26576" r:id="rId14"/>
    <p:sldId id="26583" r:id="rId15"/>
    <p:sldId id="26586" r:id="rId16"/>
    <p:sldId id="26651" r:id="rId17"/>
    <p:sldId id="26588" r:id="rId18"/>
    <p:sldId id="26589" r:id="rId19"/>
    <p:sldId id="26590" r:id="rId20"/>
    <p:sldId id="26591" r:id="rId21"/>
    <p:sldId id="26592" r:id="rId22"/>
    <p:sldId id="26594" r:id="rId23"/>
    <p:sldId id="26587"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47" r:id="rId37"/>
    <p:sldId id="26614"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628" r:id="rId50"/>
    <p:sldId id="26648" r:id="rId51"/>
    <p:sldId id="26632" r:id="rId52"/>
    <p:sldId id="26633" r:id="rId53"/>
    <p:sldId id="26634" r:id="rId54"/>
    <p:sldId id="26635" r:id="rId55"/>
    <p:sldId id="26636" r:id="rId56"/>
    <p:sldId id="26650" r:id="rId57"/>
    <p:sldId id="26637" r:id="rId58"/>
    <p:sldId id="26640" r:id="rId59"/>
    <p:sldId id="26641" r:id="rId60"/>
    <p:sldId id="26642" r:id="rId61"/>
    <p:sldId id="26643" r:id="rId62"/>
    <p:sldId id="26644" r:id="rId63"/>
    <p:sldId id="26645" r:id="rId64"/>
    <p:sldId id="26393" r:id="rId65"/>
    <p:sldId id="26387" r:id="rId66"/>
    <p:sldId id="26395" r:id="rId67"/>
    <p:sldId id="26391" r:id="rId68"/>
    <p:sldId id="26402" r:id="rId69"/>
    <p:sldId id="26507" r:id="rId70"/>
    <p:sldId id="26649" r:id="rId71"/>
    <p:sldId id="360" r:id="rId72"/>
    <p:sldId id="26652" r:id="rId73"/>
    <p:sldId id="361" r:id="rId74"/>
  </p:sldIdLst>
  <p:sldSz cx="12192000" cy="6858000"/>
  <p:notesSz cx="6858000" cy="9144000"/>
  <p:embeddedFontLst>
    <p:embeddedFont>
      <p:font typeface="Montserrat" panose="00000500000000000000" pitchFamily="2" charset="0"/>
      <p:regular r:id="rId77"/>
      <p:bold r:id="rId78"/>
      <p:italic r:id="rId79"/>
      <p:boldItalic r:id="rId80"/>
    </p:embeddedFont>
    <p:embeddedFont>
      <p:font typeface="Public Sans" pitchFamily="2" charset="0"/>
      <p:regular r:id="rId81"/>
      <p:bold r:id="rId82"/>
      <p:italic r:id="rId83"/>
      <p:boldItalic r:id="rId84"/>
    </p:embeddedFont>
    <p:embeddedFont>
      <p:font typeface="Public Sans Light" pitchFamily="2" charset="0"/>
      <p:regular r:id="rId85"/>
      <p:italic r:id="rId86"/>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646"/>
            <p14:sldId id="358"/>
            <p14:sldId id="26580"/>
            <p14:sldId id="26581"/>
            <p14:sldId id="26582"/>
            <p14:sldId id="26576"/>
          </p14:sldIdLst>
        </p14:section>
        <p14:section name="Review of learning 2" id="{0AC6BBCB-7E49-46CE-B777-EFCDD4B60F91}">
          <p14:sldIdLst>
            <p14:sldId id="26583"/>
            <p14:sldId id="26586"/>
            <p14:sldId id="26651"/>
            <p14:sldId id="26588"/>
            <p14:sldId id="26589"/>
            <p14:sldId id="26590"/>
            <p14:sldId id="26591"/>
          </p14:sldIdLst>
        </p14:section>
        <p14:section name="Review of learning 3" id="{6F5E1C19-5255-4FF7-A3CD-4549F7EF69B2}">
          <p14:sldIdLst>
            <p14:sldId id="26592"/>
            <p14:sldId id="26594"/>
            <p14:sldId id="26587"/>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47"/>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48"/>
            <p14:sldId id="26632"/>
            <p14:sldId id="26633"/>
            <p14:sldId id="26634"/>
            <p14:sldId id="26635"/>
            <p14:sldId id="26636"/>
            <p14:sldId id="26650"/>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26652"/>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4021882F-C6B3-C55E-767D-27181BD16F2B}" name="Melinda Ojeda" initials="MO" userId="S::Melinda.Ojeda@det.nsw.edu.au::d90aca96-824c-4874-b48e-bcce1db91155" providerId="AD"/>
  <p188:author id="{95D16B7D-CADB-F2BF-AC29-D680545C75EE}" name="Carrie Webeck" initials="CW" userId="S::CARRIE-ANN.WEBECK@det.nsw.edu.au::e5c4b697-ca15-4f3a-a906-1289ddc2fc07" providerId="AD"/>
  <p188:author id="{3990FD7D-A604-C51E-94A2-DF747800638D}" name="Daniella Brunetta" initials="DB" userId="S::daniella.brunetta@det.nsw.edu.au::4e084810-29e2-4b0b-806a-947d4f6d8f39" providerId="AD"/>
  <p188:author id="{6620E8C6-7E4F-1318-D9B4-C749088EC486}" name="Daniella Brunetta" initials="DB" userId="S::Daniella.Brunetta@det.nsw.edu.au::4e084810-29e2-4b0b-806a-947d4f6d8f39"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8660A9-8F93-42B2-B74B-7360D607B461}" v="3" dt="2026-01-28T01:04:50.497"/>
    <p1510:client id="{26F4F530-B825-42DD-881E-5CB4357FB835}" v="1" dt="2026-01-28T00:35:03.965"/>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6203" autoAdjust="0"/>
  </p:normalViewPr>
  <p:slideViewPr>
    <p:cSldViewPr snapToGrid="0">
      <p:cViewPr varScale="1">
        <p:scale>
          <a:sx n="45" d="100"/>
          <a:sy n="45" d="100"/>
        </p:scale>
        <p:origin x="2040" y="40"/>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8.fntdata"/><Relationship Id="rId89"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3.fntdata"/><Relationship Id="rId5" Type="http://schemas.openxmlformats.org/officeDocument/2006/relationships/slide" Target="slides/slide1.xml"/><Relationship Id="rId90" Type="http://schemas.openxmlformats.org/officeDocument/2006/relationships/tableStyles" Target="tableStyle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1.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4.fntdata"/><Relationship Id="rId85" Type="http://schemas.openxmlformats.org/officeDocument/2006/relationships/font" Target="fonts/font9.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83" Type="http://schemas.openxmlformats.org/officeDocument/2006/relationships/font" Target="fonts/font7.fntdata"/><Relationship Id="rId88" Type="http://schemas.openxmlformats.org/officeDocument/2006/relationships/viewProps" Target="viewProps.xml"/><Relationship Id="rId9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slide" Target="slides/slide67.xml"/><Relationship Id="rId92" Type="http://schemas.microsoft.com/office/2018/10/relationships/authors" Target="author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font" Target="fonts/font6.fntdata"/><Relationship Id="rId1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9/02/2026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9/02/2026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2 Year A Unit 5</a:t>
            </a:r>
          </a:p>
          <a:p>
            <a:pPr marL="285750" indent="-285750">
              <a:buFont typeface="Arial" panose="020B0604020202020204" pitchFamily="34" charset="0"/>
              <a:buChar char="•"/>
            </a:pPr>
            <a:r>
              <a:rPr lang="en-AU"/>
              <a:t>Stage 2 Year A Unit 6</a:t>
            </a:r>
          </a:p>
          <a:p>
            <a:pPr marL="285750" indent="-285750">
              <a:buFont typeface="Arial" panose="020B0604020202020204" pitchFamily="34" charset="0"/>
              <a:buChar char="•"/>
            </a:pPr>
            <a:r>
              <a:rPr lang="en-AU"/>
              <a:t>Stage 3 Year A Unit 7</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84D29-B4F5-A86B-480F-44D16C2AEE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826A8-A5AE-3179-C5C9-8D9DF711A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7954E-9F4D-0D11-4B0B-3FF0F27CD7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A </a:t>
            </a:r>
          </a:p>
          <a:p>
            <a:br>
              <a:rPr lang="en-AU">
                <a:highlight>
                  <a:srgbClr val="FFFF00"/>
                </a:highlight>
              </a:rPr>
            </a:b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A00CD198-B3C3-B3AF-86B2-4D9C310AEBD8}"/>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729947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A </a:t>
            </a:r>
          </a:p>
          <a:p>
            <a:endParaRPr lang="en-AU"/>
          </a:p>
          <a:p>
            <a:r>
              <a:rPr lang="en-AU" b="1"/>
              <a:t>Partitioning and regrouping</a:t>
            </a:r>
          </a:p>
          <a:p>
            <a:r>
              <a:rPr lang="en-AU" b="0">
                <a:latin typeface="Arial"/>
                <a:cs typeface="Arial"/>
              </a:rPr>
              <a:t>This resource corresponds to Resource 19 – number expander in Stage 2 Year A Unit 7. </a:t>
            </a:r>
          </a:p>
          <a:p>
            <a:endParaRPr lang="en-AU" b="0">
              <a:latin typeface="Arial"/>
              <a:cs typeface="Arial"/>
            </a:endParaRPr>
          </a:p>
          <a:p>
            <a:pPr marL="34290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Provide students with Resource 19 - number expander. (see Figure 9)</a:t>
            </a:r>
            <a:endParaRPr lang="en-AU" sz="1600" kern="1200">
              <a:solidFill>
                <a:schemeClr val="tx1"/>
              </a:solidFill>
              <a:effectLst/>
            </a:endParaRPr>
          </a:p>
          <a:p>
            <a:pPr marL="34290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Model how to fold the number expander (see Figure 10)</a:t>
            </a:r>
            <a:endParaRPr lang="en-AU" b="1"/>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Explain how the number expander assists in understanding place value and renaming numbers into non-standard forms.</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Model how to use the number expander by rolling a die four times, each time stating the positional value and recording on paper or individual whiteboard. For example, ‘I rolled an 8. I will make this 8 tens, which means eighty’. </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explain where to place other numbers rolled. For example, ‘I will write the 6 in  the hundreds place, which means six hundred’. </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After modelling all the positional parts of the number, say and write the number formed. </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Fold the number expander to show other ways to partition the number. (see Figure 11)</a:t>
            </a:r>
            <a:endParaRPr lang="en-AU" sz="1600" kern="1200">
              <a:solidFill>
                <a:schemeClr val="tx1"/>
              </a:solidFill>
              <a:effectLst/>
            </a:endParaRPr>
          </a:p>
          <a:p>
            <a:pPr marL="342900" marR="0" lvl="0" indent="-342900" algn="l" defTabSz="1219170" rtl="0" eaLnBrk="1" fontAlgn="auto" latinLnBrk="0" hangingPunct="1">
              <a:lnSpc>
                <a:spcPct val="100000"/>
              </a:lnSpc>
              <a:spcBef>
                <a:spcPts val="0"/>
              </a:spcBef>
              <a:spcAft>
                <a:spcPts val="0"/>
              </a:spcAft>
              <a:buClrTx/>
              <a:buSzTx/>
              <a:buFont typeface="Arial" panose="020F0302020204030204"/>
              <a:buChar char="•"/>
              <a:tabLst/>
              <a:defRPr/>
            </a:pPr>
            <a:r>
              <a:rPr lang="en-AU" sz="1600" kern="1200">
                <a:solidFill>
                  <a:schemeClr val="tx1"/>
                </a:solidFill>
                <a:effectLst/>
                <a:latin typeface="Arial" panose="020B0604020202020204" pitchFamily="34" charset="0"/>
                <a:ea typeface="+mn-ea"/>
                <a:cs typeface="Arial" panose="020B0604020202020204" pitchFamily="34" charset="0"/>
              </a:rPr>
              <a:t>Check for understanding by asking students to hold up their number expanders. Provide feedback and correction as required. </a:t>
            </a:r>
            <a:endParaRPr lang="en-AU" sz="1600" kern="1200">
              <a:solidFill>
                <a:schemeClr val="tx1"/>
              </a:solidFill>
              <a:effectLst/>
            </a:endParaRPr>
          </a:p>
          <a:p>
            <a:pPr marL="342900" indent="-342900">
              <a:buFont typeface="Arial" panose="020F0302020204030204"/>
              <a:buChar char="•"/>
            </a:pPr>
            <a:endParaRPr lang="en-AU" b="0"/>
          </a:p>
          <a:p>
            <a:endParaRPr lang="en-AU" b="1"/>
          </a:p>
          <a:p>
            <a:pPr marL="342900" indent="-342900">
              <a:buFont typeface="Arial" panose="020F0302020204030204"/>
              <a:buChar char="•"/>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A </a:t>
            </a:r>
          </a:p>
          <a:p>
            <a:br>
              <a:rPr lang="en-AU"/>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06542-A07C-E6EA-7D61-5F94ECF658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20D5F7-45FB-23B6-5745-89BC17F05C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F0C68A-AEC3-04C1-63F3-A90B63DAF16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8B197E-B90A-6EA5-0AE0-DD3670C133A5}"/>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32770151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A </a:t>
            </a:r>
          </a:p>
          <a:p>
            <a:endParaRPr lang="en-AU"/>
          </a:p>
          <a:p>
            <a:r>
              <a:rPr lang="en-AU" b="1"/>
              <a:t>Role of zero</a:t>
            </a:r>
          </a:p>
          <a:p>
            <a:r>
              <a:rPr lang="en-AU" b="0"/>
              <a:t>This resource corresponds to Resource 19 – number expander in Stage 2 Year A Unit 7. </a:t>
            </a:r>
          </a:p>
          <a:p>
            <a:endParaRPr lang="en-AU" b="1"/>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Provide students with Resource 19 – number expander and ask them to write the numbers based on their positional value.</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Display the number 3809 on the number expander. Ask:</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What do you notice about the zero?</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What do you wonder about the zero?</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Explain to students that the zero means there are no tens in this number.</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Using interactive or concrete MAB materials, ask students to work in small groups to model 3809.</a:t>
            </a:r>
            <a:endParaRPr lang="en-AU" sz="1600" kern="1200">
              <a:solidFill>
                <a:schemeClr val="tx1"/>
              </a:solidFill>
              <a:effectLst/>
            </a:endParaRPr>
          </a:p>
          <a:p>
            <a:pPr marL="342900" indent="-342900">
              <a:buFont typeface="Arial" panose="020F0302020204030204"/>
              <a:buChar char="•"/>
            </a:pPr>
            <a:endParaRPr lang="en-AU" b="0"/>
          </a:p>
          <a:p>
            <a:endParaRPr lang="en-AU" b="1"/>
          </a:p>
          <a:p>
            <a:pPr marL="342900" indent="-342900">
              <a:buFont typeface="Arial" panose="020F0302020204030204"/>
              <a:buChar char="•"/>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A </a:t>
            </a:r>
          </a:p>
          <a:p>
            <a:br>
              <a:rPr lang="en-AU">
                <a:highlight>
                  <a:srgbClr val="FFFF00"/>
                </a:highlight>
              </a:rPr>
            </a:b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A </a:t>
            </a:r>
          </a:p>
          <a:p>
            <a:endParaRPr lang="en-AU"/>
          </a:p>
          <a:p>
            <a:r>
              <a:rPr lang="en-AU" b="1"/>
              <a:t>Before and After</a:t>
            </a:r>
            <a:endParaRPr lang="en-AU" sz="1600" b="1" kern="1200">
              <a:solidFill>
                <a:schemeClr val="tx1"/>
              </a:solidFill>
              <a:effectLst/>
              <a:latin typeface="Arial" panose="020B0604020202020204" pitchFamily="34" charset="0"/>
              <a:ea typeface="+mn-ea"/>
              <a:cs typeface="Arial" panose="020B0604020202020204" pitchFamily="34" charset="0"/>
            </a:endParaRPr>
          </a:p>
          <a:p>
            <a:pPr marL="34290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Provide students with a 10-sided die or use the link onscreen to use virtual die.</a:t>
            </a:r>
            <a:endParaRPr lang="en-AU" sz="1600" kern="1200">
              <a:solidFill>
                <a:schemeClr val="tx1"/>
              </a:solidFill>
              <a:effectLst/>
            </a:endParaRPr>
          </a:p>
          <a:p>
            <a:pPr marL="34290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Students roll the die 4 times to make a 4-digit number and record it in the middle of their individual whiteboard.</a:t>
            </a:r>
            <a:endParaRPr lang="en-AU" sz="1600" kern="1200">
              <a:solidFill>
                <a:schemeClr val="tx1"/>
              </a:solidFill>
              <a:effectLst/>
            </a:endParaRPr>
          </a:p>
          <a:p>
            <a:pPr marL="34290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Students identify and record the number before and the number after their 4-digit number (see Figure 12).</a:t>
            </a:r>
            <a:endParaRPr lang="en-AU" sz="1600" kern="1200">
              <a:solidFill>
                <a:schemeClr val="tx1"/>
              </a:solidFill>
              <a:effectLst/>
            </a:endParaRPr>
          </a:p>
          <a:p>
            <a:pPr marL="34290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Modify the activity by asking students to record the number 10, 100 or 1000 before and after their number.</a:t>
            </a:r>
            <a:endParaRPr lang="en-AU" sz="1600" kern="1200">
              <a:solidFill>
                <a:schemeClr val="tx1"/>
              </a:solidFill>
              <a:effectLst/>
            </a:endParaRPr>
          </a:p>
          <a:p>
            <a:pPr marL="34290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Select students to justify how they know a number is one, 10, 100, or 1000 before or after their number.</a:t>
            </a:r>
            <a:endParaRPr lang="en-AU" sz="1600" kern="1200">
              <a:solidFill>
                <a:schemeClr val="tx1"/>
              </a:solidFill>
              <a:effectLst/>
            </a:endParaRPr>
          </a:p>
          <a:p>
            <a:pPr marL="34290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Students repeat the steps with other 4-digit numbers.</a:t>
            </a:r>
            <a:endParaRPr lang="en-AU" sz="1600" kern="1200">
              <a:solidFill>
                <a:schemeClr val="tx1"/>
              </a:solidFill>
              <a:effectLst/>
            </a:endParaRPr>
          </a:p>
          <a:p>
            <a:pPr marL="34290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Check for understanding by providing exit ticket questions:</a:t>
            </a:r>
            <a:endParaRPr lang="en-AU" sz="1600" kern="1200">
              <a:solidFill>
                <a:schemeClr val="tx1"/>
              </a:solidFill>
              <a:effectLst/>
            </a:endParaRPr>
          </a:p>
          <a:p>
            <a:pPr marL="285750" indent="-285750">
              <a:buFont typeface="Arial" panose="02070309020205020404" pitchFamily="49"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number comes after 6257?</a:t>
            </a:r>
            <a:endParaRPr lang="en-AU" sz="1600" kern="1200">
              <a:solidFill>
                <a:schemeClr val="tx1"/>
              </a:solidFill>
              <a:effectLst/>
            </a:endParaRPr>
          </a:p>
          <a:p>
            <a:pPr marL="285750" indent="-285750">
              <a:buFont typeface="Arial" panose="02070309020205020404" pitchFamily="49"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number comes before 6257?</a:t>
            </a:r>
            <a:endParaRPr lang="en-AU" sz="1600" kern="1200">
              <a:solidFill>
                <a:schemeClr val="tx1"/>
              </a:solidFill>
              <a:effectLst/>
            </a:endParaRPr>
          </a:p>
          <a:p>
            <a:pPr marL="285750" indent="-285750">
              <a:buFont typeface="Arial" panose="02070309020205020404" pitchFamily="49"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number is 10 after 6257?</a:t>
            </a:r>
            <a:endParaRPr lang="en-AU" sz="1600" kern="1200">
              <a:solidFill>
                <a:schemeClr val="tx1"/>
              </a:solidFill>
              <a:effectLst/>
            </a:endParaRPr>
          </a:p>
          <a:p>
            <a:pPr marL="285750" indent="-285750">
              <a:buFont typeface="Arial" panose="02070309020205020404" pitchFamily="49"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number is 10 before 6257?</a:t>
            </a:r>
            <a:endParaRPr lang="en-AU" sz="1600" kern="1200">
              <a:solidFill>
                <a:schemeClr val="tx1"/>
              </a:solidFill>
              <a:effectLst/>
            </a:endParaRPr>
          </a:p>
          <a:p>
            <a:pPr marL="285750" indent="-285750">
              <a:buFont typeface="Arial" panose="02070309020205020404" pitchFamily="49"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number is 100 after 6257?</a:t>
            </a:r>
            <a:endParaRPr lang="en-AU" sz="1600" kern="1200">
              <a:solidFill>
                <a:schemeClr val="tx1"/>
              </a:solidFill>
              <a:effectLst/>
            </a:endParaRPr>
          </a:p>
          <a:p>
            <a:pPr marL="285750" indent="-285750">
              <a:buFont typeface="Arial" panose="02070309020205020404" pitchFamily="49"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number is 100 before 6257?</a:t>
            </a:r>
            <a:endParaRPr lang="en-AU" sz="1600" kern="1200">
              <a:solidFill>
                <a:schemeClr val="tx1"/>
              </a:solidFill>
              <a:effectLst/>
            </a:endParaRPr>
          </a:p>
          <a:p>
            <a:endParaRPr lang="en-AU" sz="1600" kern="1200">
              <a:solidFill>
                <a:schemeClr val="tx1"/>
              </a:solidFill>
              <a:effectLst/>
              <a:latin typeface="Arial" panose="020B0604020202020204" pitchFamily="34" charset="0"/>
              <a:ea typeface="+mn-ea"/>
              <a:cs typeface="Arial" panose="020B0604020202020204" pitchFamily="34" charset="0"/>
            </a:endParaRPr>
          </a:p>
          <a:p>
            <a:pPr marL="342900" indent="-342900">
              <a:buFont typeface="Arial" panose="020F0302020204030204"/>
              <a:buChar char="•"/>
            </a:pPr>
            <a:endParaRPr lang="en-AU" b="0"/>
          </a:p>
          <a:p>
            <a:endParaRPr lang="en-AU" b="1"/>
          </a:p>
          <a:p>
            <a:pPr marL="342900" indent="-342900">
              <a:buFont typeface="Arial" panose="020F0302020204030204"/>
              <a:buChar char="•"/>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A </a:t>
            </a:r>
          </a:p>
          <a:p>
            <a:br>
              <a:rPr lang="en-AU"/>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 Time (</a:t>
            </a:r>
            <a:r>
              <a:rPr lang="en-AU" b="1">
                <a:latin typeface="Arial"/>
                <a:cs typeface="Arial"/>
              </a:rPr>
              <a:t>Note:</a:t>
            </a:r>
            <a:r>
              <a:rPr lang="en-AU">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A </a:t>
            </a:r>
          </a:p>
          <a:p>
            <a:endParaRPr lang="en-AU"/>
          </a:p>
          <a:p>
            <a:r>
              <a:rPr lang="en-AU" b="1"/>
              <a:t>Representing 4-digit numbers</a:t>
            </a:r>
          </a:p>
          <a:p>
            <a:pPr marL="0" marR="0" lvl="0" indent="0" algn="l" defTabSz="1219170" rtl="0" eaLnBrk="1" fontAlgn="auto" latinLnBrk="0" hangingPunct="1">
              <a:lnSpc>
                <a:spcPct val="100000"/>
              </a:lnSpc>
              <a:spcBef>
                <a:spcPts val="0"/>
              </a:spcBef>
              <a:spcAft>
                <a:spcPts val="0"/>
              </a:spcAft>
              <a:buClrTx/>
              <a:buSzTx/>
              <a:buFont typeface="Arial" panose="020F0302020204030204"/>
              <a:buNone/>
              <a:tabLst/>
              <a:defRPr/>
            </a:pPr>
            <a:r>
              <a:rPr lang="en-AU" b="0"/>
              <a:t>This resource corresponds to Figure 13 in Stage 2 Year A Unit 7. </a:t>
            </a:r>
          </a:p>
          <a:p>
            <a:pPr marL="0" marR="0" lvl="0" indent="0" algn="l" defTabSz="1219170" rtl="0" eaLnBrk="1" fontAlgn="auto" latinLnBrk="0" hangingPunct="1">
              <a:lnSpc>
                <a:spcPct val="100000"/>
              </a:lnSpc>
              <a:spcBef>
                <a:spcPts val="0"/>
              </a:spcBef>
              <a:spcAft>
                <a:spcPts val="0"/>
              </a:spcAft>
              <a:buClrTx/>
              <a:buSzTx/>
              <a:buFont typeface="Arial" panose="020F0302020204030204"/>
              <a:buNone/>
              <a:tabLst/>
              <a:defRPr/>
            </a:pPr>
            <a:endParaRPr lang="en-AU" b="0"/>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Provide pairs of students with writing materials and four 10-sided dice.  </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One student draws a gameboard with at least 12 squares. </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Students set the starting and finishing numbers and write them on the gameboard.</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The first player rolls the dice to form a number. The player must decide where to place the number on the gameboard so that the sequence of numbers remains in order. </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Model to students an example of how to play. (See Figure 13)</a:t>
            </a:r>
            <a:endParaRPr lang="en-AU" sz="1600" kern="1200">
              <a:solidFill>
                <a:schemeClr val="tx1"/>
              </a:solidFill>
              <a:effectLst/>
            </a:endParaRPr>
          </a:p>
          <a:p>
            <a:pPr marL="342900" marR="0" lvl="0" indent="-342900" algn="l" defTabSz="1219170" rtl="0" eaLnBrk="1" fontAlgn="auto" latinLnBrk="0" hangingPunct="1">
              <a:lnSpc>
                <a:spcPct val="100000"/>
              </a:lnSpc>
              <a:spcBef>
                <a:spcPts val="0"/>
              </a:spcBef>
              <a:spcAft>
                <a:spcPts val="0"/>
              </a:spcAft>
              <a:buClrTx/>
              <a:buSzTx/>
              <a:buFont typeface="Arial" panose="020F0302020204030204"/>
              <a:buChar char="•"/>
              <a:tabLst/>
              <a:defRPr/>
            </a:pPr>
            <a:r>
              <a:rPr lang="en-AU" sz="1600" kern="1200">
                <a:solidFill>
                  <a:schemeClr val="tx1"/>
                </a:solidFill>
                <a:effectLst/>
                <a:latin typeface="Arial" panose="020B0604020202020204" pitchFamily="34" charset="0"/>
                <a:ea typeface="+mn-ea"/>
                <a:cs typeface="Arial" panose="020B0604020202020204" pitchFamily="34" charset="0"/>
              </a:rPr>
              <a:t>The winner is the person who completes the sequence of numbers.</a:t>
            </a:r>
            <a:endParaRPr lang="en-AU" sz="1600" kern="1200">
              <a:solidFill>
                <a:schemeClr val="tx1"/>
              </a:solidFill>
              <a:effectLst/>
            </a:endParaRPr>
          </a:p>
          <a:p>
            <a:endParaRPr lang="en-AU" b="1"/>
          </a:p>
          <a:p>
            <a:pPr marL="342900" indent="-342900">
              <a:buFont typeface="Arial" panose="020F0302020204030204"/>
              <a:buChar char="•"/>
            </a:pPr>
            <a:endParaRPr lang="en-AU" b="0"/>
          </a:p>
          <a:p>
            <a:endParaRPr lang="en-AU" b="1"/>
          </a:p>
          <a:p>
            <a:pPr marL="342900" indent="-342900">
              <a:buFont typeface="Arial" panose="020F0302020204030204"/>
              <a:buChar char="•"/>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62720-0BC8-FA7F-BC47-1C78ADEAB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48631-F898-32A6-78A2-76AA2975DE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3E66D4-BAB0-850A-44DB-0959EA3E6EA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Multiplicative relations A</a:t>
            </a:r>
            <a:endParaRPr lang="en-AU">
              <a:latin typeface="Arial"/>
              <a:cs typeface="Arial"/>
            </a:endParaRPr>
          </a:p>
        </p:txBody>
      </p:sp>
      <p:sp>
        <p:nvSpPr>
          <p:cNvPr id="4" name="Slide Number Placeholder 3">
            <a:extLst>
              <a:ext uri="{FF2B5EF4-FFF2-40B4-BE49-F238E27FC236}">
                <a16:creationId xmlns:a16="http://schemas.microsoft.com/office/drawing/2014/main" id="{25E3C821-F7BD-A5FD-0747-F0B52FC6EDC5}"/>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8533541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Non-spatial measure B: Time </a:t>
            </a:r>
            <a:r>
              <a:rPr lang="en-AU">
                <a:latin typeface="Arial"/>
                <a:cs typeface="Arial"/>
              </a:rPr>
              <a:t>(</a:t>
            </a:r>
            <a:r>
              <a:rPr lang="en-AU" b="1">
                <a:latin typeface="Arial"/>
                <a:cs typeface="Arial"/>
              </a:rPr>
              <a:t>Note:</a:t>
            </a:r>
            <a:r>
              <a:rPr lang="en-AU">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Multiplicative relations A</a:t>
            </a:r>
          </a:p>
          <a:p>
            <a:endParaRPr lang="en-AU"/>
          </a:p>
          <a:p>
            <a:r>
              <a:rPr lang="en-AU" b="1"/>
              <a:t>Patterns of multiples</a:t>
            </a:r>
          </a:p>
          <a:p>
            <a:r>
              <a:rPr lang="en-AU" b="0"/>
              <a:t>This resource corresponds to Resource 20 – number patterns in Stage 2 Year A Unit 7. </a:t>
            </a:r>
          </a:p>
          <a:p>
            <a:endParaRPr lang="en-AU" b="1"/>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Ask:</a:t>
            </a:r>
            <a:endParaRPr lang="en-AU" sz="1600" kern="1200">
              <a:solidFill>
                <a:schemeClr val="tx1"/>
              </a:solidFill>
              <a:effectLst/>
            </a:endParaRPr>
          </a:p>
          <a:p>
            <a:pPr marL="285750" lvl="0" indent="-285750">
              <a:buFont typeface="Arial" panose="02070309020205020404" pitchFamily="49"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do you notice?</a:t>
            </a:r>
            <a:endParaRPr lang="en-AU" sz="1600" kern="1200">
              <a:solidFill>
                <a:schemeClr val="tx1"/>
              </a:solidFill>
              <a:effectLst/>
            </a:endParaRPr>
          </a:p>
          <a:p>
            <a:pPr marL="285750" lvl="0" indent="-285750">
              <a:buFont typeface="Arial" panose="02070309020205020404" pitchFamily="49"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do you wonder?</a:t>
            </a:r>
            <a:endParaRPr lang="en-AU" sz="1600" kern="1200">
              <a:solidFill>
                <a:schemeClr val="tx1"/>
              </a:solidFill>
              <a:effectLst/>
            </a:endParaRPr>
          </a:p>
          <a:p>
            <a:pPr marL="285750" lvl="0" indent="-285750">
              <a:buFont typeface="Arial" panose="02070309020205020404" pitchFamily="49"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is the same and what is different?</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Record students’ ideas and vocabulary, such as: even, odd, ascending, descending, larger, smaller, difference, multiple, pattern, rule, core, number, picture, repeated addition, repeated subtraction and square numbers.</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Display the definition of a pattern.</a:t>
            </a:r>
            <a:endParaRPr lang="en-AU" sz="1600" kern="1200">
              <a:solidFill>
                <a:schemeClr val="tx1"/>
              </a:solidFill>
              <a:effectLst/>
            </a:endParaRPr>
          </a:p>
          <a:p>
            <a:pPr marL="0" indent="0">
              <a:buFont typeface="Arial" panose="020B0604020202020204" pitchFamily="34" charset="0"/>
              <a:buNone/>
            </a:pPr>
            <a:r>
              <a:rPr lang="en-AU" sz="1600" b="1" kern="1200">
                <a:solidFill>
                  <a:schemeClr val="tx1"/>
                </a:solidFill>
                <a:effectLst/>
                <a:latin typeface="Arial" panose="020B0604020202020204" pitchFamily="34" charset="0"/>
                <a:ea typeface="+mn-ea"/>
                <a:cs typeface="Arial" panose="020B0604020202020204" pitchFamily="34" charset="0"/>
              </a:rPr>
              <a:t>Pattern: </a:t>
            </a:r>
            <a:r>
              <a:rPr lang="en-AU" sz="1600" kern="1200">
                <a:solidFill>
                  <a:schemeClr val="tx1"/>
                </a:solidFill>
                <a:effectLst/>
                <a:latin typeface="Arial" panose="020B0604020202020204" pitchFamily="34" charset="0"/>
                <a:ea typeface="+mn-ea"/>
                <a:cs typeface="Arial" panose="020B0604020202020204" pitchFamily="34" charset="0"/>
              </a:rPr>
              <a:t>a pattern in mathematics is made up of several elements that repeat or follow a rule.</a:t>
            </a: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Explain that patterns and rules are the foundation for being able to think multiplicatively, which means being able to see the multiplicative relations when working with numbers. </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Discuss which patterns are not multiplicative because the numbers are changing by adding or subtracting, not by multiplying. Explain that a multiplicative pattern would involve multiplying by the same number each time. </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Check for understanding by asking students to provide the next multiple and justify why they chose that number in the sequence 4, 8, 12, 16, ____ </a:t>
            </a:r>
            <a:endParaRPr lang="en-AU" sz="1600" kern="1200">
              <a:solidFill>
                <a:schemeClr val="tx1"/>
              </a:solidFill>
              <a:effectLst/>
            </a:endParaRPr>
          </a:p>
          <a:p>
            <a:pPr marL="342900" indent="-342900">
              <a:buFont typeface="Arial" panose="020B0604020202020204" pitchFamily="34" charset="0"/>
              <a:buChar char="•"/>
            </a:pPr>
            <a:endParaRPr lang="en-AU" b="0"/>
          </a:p>
          <a:p>
            <a:endParaRPr lang="en-AU" b="1"/>
          </a:p>
          <a:p>
            <a:pPr marL="342900" indent="-342900">
              <a:buFont typeface="Arial" panose="020F0302020204030204"/>
              <a:buChar char="•"/>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Additive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 3D objects (</a:t>
            </a:r>
            <a:r>
              <a:rPr lang="en-AU" b="1">
                <a:latin typeface="Arial"/>
                <a:cs typeface="Arial"/>
              </a:rPr>
              <a:t>Note:</a:t>
            </a:r>
            <a:r>
              <a:rPr lang="en-AU">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Multiplicative relations A</a:t>
            </a:r>
          </a:p>
          <a:p>
            <a:endParaRPr lang="en-AU"/>
          </a:p>
          <a:p>
            <a:r>
              <a:rPr lang="en-AU" b="1"/>
              <a:t>Comparing number patterns</a:t>
            </a:r>
          </a:p>
          <a:p>
            <a:r>
              <a:rPr lang="en-AU" b="0"/>
              <a:t>This resource corresponds to Resource 21 – number circles in Stage 2 Year A Unit 7</a:t>
            </a:r>
          </a:p>
          <a:p>
            <a:endParaRPr lang="en-AU" b="0"/>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Display 10 steps of a twos pattern, starting from zero. For example, 0, 2, 4, 6, 8, 10 and so on.</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draw the same twos pattern starting from zero in a number circle. Students verbalise the counting pattern when moving clockwise around the circle.</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Display 5 steps of a twos pattern, starting from one. For example, 1, 3, 5, 7, 9, 11 and so on.</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Ask students what is the same and what is different. Record student responses.</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Provide students with another copy of Resource 21 – number circles.</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Students select pairs of patterns to investigate starting from zero and from one. Number patterns can be altered to meet the learning needs of students. Investigations could include a:</a:t>
            </a:r>
            <a:endParaRPr lang="en-AU" sz="1600" kern="1200">
              <a:solidFill>
                <a:schemeClr val="tx1"/>
              </a:solidFill>
              <a:effectLst/>
            </a:endParaRPr>
          </a:p>
          <a:p>
            <a:pPr marL="285750" lvl="0" indent="-285750">
              <a:buFont typeface="Arial" panose="02070309020205020404" pitchFamily="49" charset="0"/>
              <a:buChar char="•"/>
            </a:pPr>
            <a:r>
              <a:rPr lang="en-AU" sz="1600" kern="1200">
                <a:solidFill>
                  <a:schemeClr val="tx1"/>
                </a:solidFill>
                <a:effectLst/>
                <a:latin typeface="Arial" panose="020B0604020202020204" pitchFamily="34" charset="0"/>
                <a:ea typeface="+mn-ea"/>
                <a:cs typeface="Arial" panose="020B0604020202020204" pitchFamily="34" charset="0"/>
              </a:rPr>
              <a:t>twos pattern and fours pattern</a:t>
            </a:r>
            <a:endParaRPr lang="en-AU" sz="1600" kern="1200">
              <a:solidFill>
                <a:schemeClr val="tx1"/>
              </a:solidFill>
              <a:effectLst/>
            </a:endParaRPr>
          </a:p>
          <a:p>
            <a:pPr marL="285750" lvl="0" indent="-285750">
              <a:buFont typeface="Arial" panose="02070309020205020404" pitchFamily="49" charset="0"/>
              <a:buChar char="•"/>
            </a:pPr>
            <a:r>
              <a:rPr lang="en-AU" sz="1600" kern="1200">
                <a:solidFill>
                  <a:schemeClr val="tx1"/>
                </a:solidFill>
                <a:effectLst/>
                <a:latin typeface="Arial" panose="020B0604020202020204" pitchFamily="34" charset="0"/>
                <a:ea typeface="+mn-ea"/>
                <a:cs typeface="Arial" panose="020B0604020202020204" pitchFamily="34" charset="0"/>
              </a:rPr>
              <a:t>threes pattern and sixes pattern</a:t>
            </a:r>
            <a:endParaRPr lang="en-AU" sz="1600" kern="1200">
              <a:solidFill>
                <a:schemeClr val="tx1"/>
              </a:solidFill>
              <a:effectLst/>
            </a:endParaRPr>
          </a:p>
          <a:p>
            <a:pPr marL="285750" lvl="0" indent="-285750">
              <a:buFont typeface="Arial" panose="02070309020205020404" pitchFamily="49" charset="0"/>
              <a:buChar char="•"/>
            </a:pPr>
            <a:r>
              <a:rPr lang="en-AU" sz="1600" kern="1200">
                <a:solidFill>
                  <a:schemeClr val="tx1"/>
                </a:solidFill>
                <a:effectLst/>
                <a:latin typeface="Arial" panose="020B0604020202020204" pitchFamily="34" charset="0"/>
                <a:ea typeface="+mn-ea"/>
                <a:cs typeface="Arial" panose="020B0604020202020204" pitchFamily="34" charset="0"/>
              </a:rPr>
              <a:t>fours pattern and eights pattern</a:t>
            </a:r>
            <a:endParaRPr lang="en-AU" sz="1600" kern="1200">
              <a:solidFill>
                <a:schemeClr val="tx1"/>
              </a:solidFill>
              <a:effectLst/>
            </a:endParaRPr>
          </a:p>
          <a:p>
            <a:pPr marL="285750" lvl="0" indent="-285750">
              <a:buFont typeface="Arial" panose="02070309020205020404" pitchFamily="49" charset="0"/>
              <a:buChar char="•"/>
            </a:pPr>
            <a:r>
              <a:rPr lang="en-AU" sz="1600" kern="1200">
                <a:solidFill>
                  <a:schemeClr val="tx1"/>
                </a:solidFill>
                <a:effectLst/>
                <a:latin typeface="Arial" panose="020B0604020202020204" pitchFamily="34" charset="0"/>
                <a:ea typeface="+mn-ea"/>
                <a:cs typeface="Arial" panose="020B0604020202020204" pitchFamily="34" charset="0"/>
              </a:rPr>
              <a:t>fives pattern and tens pattern</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explain what they noticed about the patterns they recorded in the number circle.</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Conclude with a circle game where students take turns to recite multiple number patterns both forwards and backwards. Provide feedback and correction as required. </a:t>
            </a:r>
            <a:endParaRPr lang="en-AU" sz="1600" kern="1200">
              <a:solidFill>
                <a:schemeClr val="tx1"/>
              </a:solidFill>
              <a:effectLst/>
            </a:endParaRPr>
          </a:p>
          <a:p>
            <a:pPr marL="285750" indent="-285750">
              <a:buFont typeface="Arial" panose="020B0604020202020204" pitchFamily="34" charset="0"/>
              <a:buChar char="•"/>
            </a:pPr>
            <a:endParaRPr lang="en-AU" b="1"/>
          </a:p>
          <a:p>
            <a:pPr marL="342900" indent="-342900">
              <a:buFont typeface="Arial" panose="020F0302020204030204"/>
              <a:buChar char="•"/>
            </a:pPr>
            <a:endParaRPr lang="en-AU" b="0"/>
          </a:p>
          <a:p>
            <a:pPr marL="285750" indent="-285750">
              <a:buFont typeface="Arial"/>
              <a:buChar char="•"/>
            </a:pPr>
            <a:endParaRPr lang="en-AU" b="1"/>
          </a:p>
          <a:p>
            <a:pPr marL="342900" indent="-342900">
              <a:buFont typeface="Arial" panose="020F0302020204030204"/>
              <a:buChar char="•"/>
            </a:pPr>
            <a:endParaRPr lang="en-AU"/>
          </a:p>
          <a:p>
            <a:pPr marL="285750" indent="-285750">
              <a:buFont typeface="Arial"/>
              <a:buChar char="•"/>
            </a:pPr>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0B2C2-56ED-F4C7-04D9-00C4FB5F6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568A8-C088-49AE-3548-341C78A6B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8EBC4-5740-59C4-17D3-662AAFE4516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Multiplicative relations A</a:t>
            </a:r>
            <a:endParaRPr lang="en-AU" dirty="0">
              <a:latin typeface="Arial"/>
              <a:cs typeface="Arial"/>
            </a:endParaRPr>
          </a:p>
        </p:txBody>
      </p:sp>
      <p:sp>
        <p:nvSpPr>
          <p:cNvPr id="4" name="Slide Number Placeholder 3">
            <a:extLst>
              <a:ext uri="{FF2B5EF4-FFF2-40B4-BE49-F238E27FC236}">
                <a16:creationId xmlns:a16="http://schemas.microsoft.com/office/drawing/2014/main" id="{F1CC597E-188F-1091-E0DB-50B50F81B5D5}"/>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4318185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Two-dimensional spatial structure A: 2D shapes </a:t>
            </a:r>
            <a:r>
              <a:rPr lang="en-AU" dirty="0">
                <a:latin typeface="Arial"/>
                <a:cs typeface="Arial"/>
              </a:rPr>
              <a:t>(</a:t>
            </a:r>
            <a:r>
              <a:rPr lang="en-AU" b="1" dirty="0">
                <a:latin typeface="Arial"/>
                <a:cs typeface="Arial"/>
              </a:rPr>
              <a:t>Note:</a:t>
            </a:r>
            <a:r>
              <a:rPr lang="en-AU" dirty="0">
                <a:latin typeface="Arial"/>
                <a:cs typeface="Arial"/>
              </a:rPr>
              <a:t>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Multiplicative relations A</a:t>
            </a:r>
          </a:p>
          <a:p>
            <a:endParaRPr lang="en-AU"/>
          </a:p>
          <a:p>
            <a:r>
              <a:rPr lang="en-AU" b="1"/>
              <a:t>Multiplicative Relationships</a:t>
            </a:r>
          </a:p>
          <a:p>
            <a:r>
              <a:rPr lang="en-AU" b="0"/>
              <a:t>This resource corresponds to Resource 22 – multiplicative tables 1 in Stage 2 Year A Unit 7. </a:t>
            </a:r>
          </a:p>
          <a:p>
            <a:endParaRPr lang="en-AU" sz="1600" kern="1200">
              <a:solidFill>
                <a:schemeClr val="tx1"/>
              </a:solidFill>
              <a:effectLst/>
              <a:latin typeface="Arial" panose="020B0604020202020204" pitchFamily="34" charset="0"/>
              <a:ea typeface="+mn-ea"/>
              <a:cs typeface="Arial" panose="020B0604020202020204" pitchFamily="34" charset="0"/>
            </a:endParaRPr>
          </a:p>
          <a:p>
            <a:r>
              <a:rPr lang="en-AU" sz="1600" kern="1200">
                <a:solidFill>
                  <a:schemeClr val="tx1"/>
                </a:solidFill>
                <a:effectLst/>
                <a:latin typeface="Arial" panose="020B0604020202020204" pitchFamily="34" charset="0"/>
                <a:ea typeface="+mn-ea"/>
                <a:cs typeface="Arial" panose="020B0604020202020204" pitchFamily="34" charset="0"/>
              </a:rPr>
              <a:t>This activity has been adapted from </a:t>
            </a:r>
            <a:r>
              <a:rPr lang="en-AU" sz="1600" i="1" kern="1200">
                <a:solidFill>
                  <a:schemeClr val="tx1"/>
                </a:solidFill>
                <a:effectLst/>
                <a:latin typeface="Arial" panose="020B0604020202020204" pitchFamily="34" charset="0"/>
                <a:ea typeface="+mn-ea"/>
                <a:cs typeface="Arial" panose="020B0604020202020204" pitchFamily="34" charset="0"/>
              </a:rPr>
              <a:t>Enrich-e-</a:t>
            </a:r>
            <a:r>
              <a:rPr lang="en-AU" sz="1600" i="1" kern="1200" err="1">
                <a:solidFill>
                  <a:schemeClr val="tx1"/>
                </a:solidFill>
                <a:effectLst/>
                <a:latin typeface="Arial" panose="020B0604020202020204" pitchFamily="34" charset="0"/>
                <a:ea typeface="+mn-ea"/>
                <a:cs typeface="Arial" panose="020B0604020202020204" pitchFamily="34" charset="0"/>
              </a:rPr>
              <a:t>matics</a:t>
            </a:r>
            <a:r>
              <a:rPr lang="en-AU" sz="1600" i="1" kern="1200">
                <a:solidFill>
                  <a:schemeClr val="tx1"/>
                </a:solidFill>
                <a:effectLst/>
                <a:latin typeface="Arial" panose="020B0604020202020204" pitchFamily="34" charset="0"/>
                <a:ea typeface="+mn-ea"/>
                <a:cs typeface="Arial" panose="020B0604020202020204" pitchFamily="34" charset="0"/>
              </a:rPr>
              <a:t> – Book 3</a:t>
            </a:r>
            <a:r>
              <a:rPr lang="en-AU" sz="1600" kern="1200">
                <a:solidFill>
                  <a:schemeClr val="tx1"/>
                </a:solidFill>
                <a:effectLst/>
                <a:latin typeface="Arial" panose="020B0604020202020204" pitchFamily="34" charset="0"/>
                <a:ea typeface="+mn-ea"/>
                <a:cs typeface="Arial" panose="020B0604020202020204" pitchFamily="34" charset="0"/>
              </a:rPr>
              <a:t>, 3rd edition by Joshua.    </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34290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Examine each table one at a time. Ask students to identify the multiplicative relationship between the number pairs. Invite students to nominate other pairs that belong in each table.</a:t>
            </a:r>
          </a:p>
          <a:p>
            <a:pPr marL="342900" indent="-342900">
              <a:buFont typeface="+mj-lt"/>
              <a:buAutoNum type="arabicPeriod"/>
            </a:pPr>
            <a:r>
              <a:rPr lang="en-AU" sz="1600" b="1" kern="1200">
                <a:solidFill>
                  <a:schemeClr val="tx1"/>
                </a:solidFill>
                <a:effectLst/>
                <a:latin typeface="Arial" panose="020B0604020202020204" pitchFamily="34" charset="0"/>
                <a:ea typeface="+mn-ea"/>
                <a:cs typeface="Arial" panose="020B0604020202020204" pitchFamily="34" charset="0"/>
              </a:rPr>
              <a:t>Activity continues on next slide. </a:t>
            </a:r>
          </a:p>
          <a:p>
            <a:pPr marL="34290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turn and talk to nominate missing numbers and a rule that applies to this table. </a:t>
            </a:r>
          </a:p>
          <a:p>
            <a:pPr marL="34290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Discuss that possible answers for whole numbers include multiplying by 1, 2, 4, 5, 10, 20.</a:t>
            </a:r>
          </a:p>
          <a:p>
            <a:pPr marL="34290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students why 3, 6, 7, 8 and 9 are not possible multipliers for whole numbers. Select students to share and justify why one of these numbers is not possible. (Not every whole number has 3, 6, 7, 8, or 9 as a factor. For a number to have one of these as a factor, it must be divisible by that number.)</a:t>
            </a:r>
          </a:p>
          <a:p>
            <a:pPr marL="34290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This activity can be extended with students making their own tables. </a:t>
            </a:r>
          </a:p>
          <a:p>
            <a:pPr marL="34290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feedback and correction as required based on responses.</a:t>
            </a:r>
          </a:p>
          <a:p>
            <a:endParaRPr lang="en-AU" b="0"/>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EA59F-475D-573E-D57F-AF8E503E64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B2A07C-874B-4BAF-3E64-CBBADC43E0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C78932-7720-A781-FF3F-B06A0490F179}"/>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Multiplicative relations A</a:t>
            </a:r>
          </a:p>
          <a:p>
            <a:endParaRPr lang="en-AU" b="0"/>
          </a:p>
          <a:p>
            <a:r>
              <a:rPr lang="en-AU" b="1"/>
              <a:t>Multiplicative Relationships</a:t>
            </a:r>
          </a:p>
          <a:p>
            <a:r>
              <a:rPr lang="en-AU" b="0"/>
              <a:t>This resource corresponds to Resource 23 – multiplicative tables 2 in Stage 2 Year A Unit 7. </a:t>
            </a:r>
          </a:p>
          <a:p>
            <a:endParaRPr lang="en-AU" sz="1600" b="0" kern="1200">
              <a:solidFill>
                <a:schemeClr val="tx1"/>
              </a:solidFill>
              <a:effectLst/>
              <a:latin typeface="Arial" panose="020B0604020202020204" pitchFamily="34" charset="0"/>
              <a:ea typeface="+mn-ea"/>
              <a:cs typeface="Arial" panose="020B0604020202020204" pitchFamily="34" charset="0"/>
            </a:endParaRPr>
          </a:p>
          <a:p>
            <a:pPr marL="34290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Students turn and talk to nominate missing numbers and a rule that applies to this table. </a:t>
            </a:r>
            <a:endParaRPr lang="en-AU" sz="1600" kern="1200">
              <a:solidFill>
                <a:schemeClr val="tx1"/>
              </a:solidFill>
              <a:effectLst/>
            </a:endParaRPr>
          </a:p>
          <a:p>
            <a:pPr marL="34290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Discuss that possible answers for whole numbers include multiplying by 1, 2, 4, 5, 10, 20.</a:t>
            </a:r>
            <a:endParaRPr lang="en-AU" sz="1600" kern="1200">
              <a:solidFill>
                <a:schemeClr val="tx1"/>
              </a:solidFill>
              <a:effectLst/>
            </a:endParaRPr>
          </a:p>
          <a:p>
            <a:pPr marL="34290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Ask students why 3, 6, 7, 8 and 9 are not possible multipliers for whole numbers. Select students to share and justify why one of these numbers is not possible. (Not every whole number has 3, 6, 7, 8, or 9 as a factor. For a number to have one of these as a factor, it must be divisible by that number.)</a:t>
            </a:r>
            <a:endParaRPr lang="en-AU" sz="1600" kern="1200">
              <a:solidFill>
                <a:schemeClr val="tx1"/>
              </a:solidFill>
              <a:effectLst/>
            </a:endParaRPr>
          </a:p>
          <a:p>
            <a:pPr marL="34290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This activity can be extended with students making their own tables. </a:t>
            </a:r>
            <a:endParaRPr lang="en-AU" sz="1600" kern="1200">
              <a:solidFill>
                <a:schemeClr val="tx1"/>
              </a:solidFill>
              <a:effectLst/>
            </a:endParaRPr>
          </a:p>
          <a:p>
            <a:pPr marL="34290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Provide feedback and correction as required based on responses.</a:t>
            </a:r>
            <a:endParaRPr lang="en-AU" sz="1600" kern="1200">
              <a:solidFill>
                <a:schemeClr val="tx1"/>
              </a:solidFill>
              <a:effectLst/>
            </a:endParaRPr>
          </a:p>
          <a:p>
            <a:pPr marL="342900" indent="-342900">
              <a:buFont typeface="Arial" panose="020F0302020204030204"/>
              <a:buChar char="•"/>
            </a:pPr>
            <a:endParaRPr lang="en-AU" b="0"/>
          </a:p>
          <a:p>
            <a:endParaRPr lang="en-AU" b="1"/>
          </a:p>
          <a:p>
            <a:pPr marL="342900" indent="-342900">
              <a:buFont typeface="Arial" panose="020F0302020204030204"/>
              <a:buChar char="•"/>
            </a:pPr>
            <a:endParaRPr lang="en-AU"/>
          </a:p>
          <a:p>
            <a:endParaRPr lang="en-AU"/>
          </a:p>
        </p:txBody>
      </p:sp>
      <p:sp>
        <p:nvSpPr>
          <p:cNvPr id="4" name="Slide Number Placeholder 3">
            <a:extLst>
              <a:ext uri="{FF2B5EF4-FFF2-40B4-BE49-F238E27FC236}">
                <a16:creationId xmlns:a16="http://schemas.microsoft.com/office/drawing/2014/main" id="{7F194DEA-61D6-E611-4589-CB62272A7775}"/>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13054689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Multiplicative Relations A</a:t>
            </a: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Additive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Data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 (</a:t>
            </a:r>
            <a:r>
              <a:rPr lang="en-AU" b="1">
                <a:latin typeface="Arial"/>
                <a:cs typeface="Arial"/>
              </a:rPr>
              <a:t>Note:</a:t>
            </a:r>
            <a:r>
              <a:rPr lang="en-AU">
                <a:latin typeface="Arial"/>
                <a:cs typeface="Arial"/>
              </a:rPr>
              <a:t> Stage 1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Multiplicative relations A</a:t>
            </a:r>
          </a:p>
          <a:p>
            <a:endParaRPr lang="en-AU"/>
          </a:p>
          <a:p>
            <a:r>
              <a:rPr lang="en-AU" b="1"/>
              <a:t>Counting in multiples</a:t>
            </a: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Review Lesson 1, as required to activate prior knowledge.</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Explain that silent counting helps us to recognise patterns and how multiples build. </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Explain that to count in multiples of four, they will say the first three numbers quietly in their heads (one, two, three) and then say the fourth number out loud. This fourth number is a multiple of four. </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Repeat, and have the students record the sequence for multiples of four on an individual whiteboard (4, 8, 12, 16, 20 … 48). </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Explain that this sequence increases by the amount of four each time.</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Repeat steps 3 and 4, and have the students say and record the sequence for multiples of 4 from 48. </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Explain that this sequence decreases by the amount of four each time.</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Check for understanding as students silent count and during their recording of multiples. </a:t>
            </a:r>
            <a:endParaRPr lang="en-AU" sz="1600" kern="1200">
              <a:solidFill>
                <a:schemeClr val="tx1"/>
              </a:solidFill>
              <a:effectLst/>
            </a:endParaRPr>
          </a:p>
          <a:p>
            <a:pPr marL="342900" lvl="0" indent="-342900">
              <a:buFont typeface="Arial" panose="020F0302020204030204"/>
              <a:buChar char="•"/>
            </a:pPr>
            <a:r>
              <a:rPr lang="en-AU" sz="1600" kern="1200">
                <a:solidFill>
                  <a:schemeClr val="tx1"/>
                </a:solidFill>
                <a:effectLst/>
                <a:latin typeface="Arial" panose="020B0604020202020204" pitchFamily="34" charset="0"/>
                <a:ea typeface="+mn-ea"/>
                <a:cs typeface="Arial" panose="020B0604020202020204" pitchFamily="34" charset="0"/>
              </a:rPr>
              <a:t>Provide feedback and correction as required. (see Figure 14)</a:t>
            </a:r>
            <a:endParaRPr lang="en-AU" sz="1600" kern="1200">
              <a:solidFill>
                <a:schemeClr val="tx1"/>
              </a:solidFill>
              <a:effectLst/>
            </a:endParaRPr>
          </a:p>
          <a:p>
            <a:pPr marL="285750" indent="-285750">
              <a:buFont typeface="Arial"/>
              <a:buChar char="•"/>
            </a:pPr>
            <a:endParaRPr lang="en-AU" b="0"/>
          </a:p>
          <a:p>
            <a:endParaRPr lang="en-AU" b="1"/>
          </a:p>
          <a:p>
            <a:pPr marL="342900" indent="-342900">
              <a:buFont typeface="Arial" panose="020F0302020204030204"/>
              <a:buChar char="•"/>
            </a:pPr>
            <a:endParaRPr lang="en-AU" b="0"/>
          </a:p>
          <a:p>
            <a:endParaRPr lang="en-AU" b="1"/>
          </a:p>
          <a:p>
            <a:pPr marL="342900" indent="-342900">
              <a:buFont typeface="Arial" panose="020F0302020204030204"/>
              <a:buChar char="•"/>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5EFB5-CE51-5072-1E0F-D7D1F8DCB6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9C5F0C-E30B-6694-1239-0E5A820343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C4C789-3036-1028-5AF0-3F58D8EBF910}"/>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000D10A-1965-1059-7815-37336DFAA69C}"/>
              </a:ext>
            </a:extLst>
          </p:cNvPr>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46307863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4.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0.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hyperlink" Target="https://flipsimu.com/dice-roller/roll-d10/"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3.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5.xml"/><Relationship Id="rId1" Type="http://schemas.openxmlformats.org/officeDocument/2006/relationships/slideLayout" Target="../slideLayouts/slideLayout11.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slide" Target="slide20.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www.researchgate.net/publication/362343817" TargetMode="External"/><Relationship Id="rId5" Type="http://schemas.openxmlformats.org/officeDocument/2006/relationships/hyperlink" Target="https://curriculum.nsw.edu.au/" TargetMode="External"/><Relationship Id="rId10" Type="http://schemas.openxmlformats.org/officeDocument/2006/relationships/hyperlink" Target="https://eric.ed.gov/?id=EJ1355147"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www.mathseducation.org.au/online-resources/growing-mathematically/"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nrich.maths.org/2473" TargetMode="External"/><Relationship Id="rId2" Type="http://schemas.openxmlformats.org/officeDocument/2006/relationships/notesSlide" Target="../notesSlides/notesSlide69.xml"/><Relationship Id="rId1" Type="http://schemas.openxmlformats.org/officeDocument/2006/relationships/slideLayout" Target="../slideLayouts/slideLayout13.xml"/><Relationship Id="rId6" Type="http://schemas.openxmlformats.org/officeDocument/2006/relationships/hyperlink" Target="https://nrich.maths.org/86"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70.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2 Year A Unit 7.</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rPr>
              <a:t>Mathematics Stage 2 – Unit 7</a:t>
            </a:r>
          </a:p>
        </p:txBody>
      </p:sp>
      <p:pic>
        <p:nvPicPr>
          <p:cNvPr id="5" name="Picture Placeholder 4" descr="A group of dice on an orange surface&#10;&#10;AI-generated content may be incorrect.">
            <a:extLst>
              <a:ext uri="{FF2B5EF4-FFF2-40B4-BE49-F238E27FC236}">
                <a16:creationId xmlns:a16="http://schemas.microsoft.com/office/drawing/2014/main" id="{80978C62-0887-B1BD-5142-01CF7146B8A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02BEC-BF78-56D7-9F45-000CDC8A50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5A8139-FDDB-532B-B162-01D27E23A37C}"/>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(1)</a:t>
            </a:r>
          </a:p>
        </p:txBody>
      </p:sp>
      <p:sp>
        <p:nvSpPr>
          <p:cNvPr id="15" name="Text Placeholder">
            <a:extLst>
              <a:ext uri="{FF2B5EF4-FFF2-40B4-BE49-F238E27FC236}">
                <a16:creationId xmlns:a16="http://schemas.microsoft.com/office/drawing/2014/main" id="{8326B5E5-C4FA-60BB-FBD1-105717701AB5}"/>
              </a:ext>
            </a:extLst>
          </p:cNvPr>
          <p:cNvSpPr>
            <a:spLocks noGrp="1"/>
          </p:cNvSpPr>
          <p:nvPr>
            <p:ph type="body" sz="quarter" idx="28"/>
          </p:nvPr>
        </p:nvSpPr>
        <p:spPr>
          <a:xfrm>
            <a:off x="3191691" y="1777103"/>
            <a:ext cx="5482409" cy="754243"/>
          </a:xfrm>
        </p:spPr>
        <p:txBody>
          <a:bodyPr/>
          <a:lstStyle/>
          <a:p>
            <a:r>
              <a:rPr lang="en-US" sz="4400"/>
              <a:t>5768 is the </a:t>
            </a:r>
            <a:r>
              <a:rPr lang="en-US" sz="4400" b="1"/>
              <a:t>same as:</a:t>
            </a:r>
          </a:p>
        </p:txBody>
      </p:sp>
      <p:sp>
        <p:nvSpPr>
          <p:cNvPr id="9" name="B">
            <a:extLst>
              <a:ext uri="{FF2B5EF4-FFF2-40B4-BE49-F238E27FC236}">
                <a16:creationId xmlns:a16="http://schemas.microsoft.com/office/drawing/2014/main" id="{2579E796-78E6-099B-1516-BE205CC4FACD}"/>
              </a:ext>
            </a:extLst>
          </p:cNvPr>
          <p:cNvSpPr txBox="1"/>
          <p:nvPr/>
        </p:nvSpPr>
        <p:spPr>
          <a:xfrm>
            <a:off x="670560" y="287770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F399B6F6-69CC-336D-6578-FD4E095E833B}"/>
              </a:ext>
            </a:extLst>
          </p:cNvPr>
          <p:cNvSpPr>
            <a:spLocks noGrp="1"/>
          </p:cNvSpPr>
          <p:nvPr>
            <p:ph type="body" sz="quarter" idx="31"/>
          </p:nvPr>
        </p:nvSpPr>
        <p:spPr>
          <a:xfrm>
            <a:off x="1345520" y="2877704"/>
            <a:ext cx="10175920" cy="641396"/>
          </a:xfrm>
        </p:spPr>
        <p:txBody>
          <a:bodyPr anchor="ctr"/>
          <a:lstStyle/>
          <a:p>
            <a:r>
              <a:rPr lang="en-US" sz="3600"/>
              <a:t>576 hundreds and 8 ones</a:t>
            </a:r>
          </a:p>
        </p:txBody>
      </p:sp>
      <p:sp>
        <p:nvSpPr>
          <p:cNvPr id="10" name="B">
            <a:extLst>
              <a:ext uri="{FF2B5EF4-FFF2-40B4-BE49-F238E27FC236}">
                <a16:creationId xmlns:a16="http://schemas.microsoft.com/office/drawing/2014/main" id="{04CBC687-138E-8135-BF08-A76285D998BD}"/>
              </a:ext>
            </a:extLst>
          </p:cNvPr>
          <p:cNvSpPr txBox="1"/>
          <p:nvPr/>
        </p:nvSpPr>
        <p:spPr>
          <a:xfrm>
            <a:off x="670559" y="372561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2AB8397-9C8A-8BCB-A678-8D975278DBA7}"/>
              </a:ext>
            </a:extLst>
          </p:cNvPr>
          <p:cNvSpPr>
            <a:spLocks noGrp="1"/>
          </p:cNvSpPr>
          <p:nvPr>
            <p:ph type="body" sz="quarter" idx="30"/>
          </p:nvPr>
        </p:nvSpPr>
        <p:spPr>
          <a:xfrm>
            <a:off x="1345520" y="3725617"/>
            <a:ext cx="10175920" cy="641396"/>
          </a:xfrm>
        </p:spPr>
        <p:txBody>
          <a:bodyPr anchor="ctr"/>
          <a:lstStyle/>
          <a:p>
            <a:r>
              <a:rPr lang="en-US" sz="3600"/>
              <a:t>5 thousands, 7 hundreds, 6 tens and 8 ones</a:t>
            </a:r>
          </a:p>
        </p:txBody>
      </p:sp>
      <p:sp>
        <p:nvSpPr>
          <p:cNvPr id="12" name="C">
            <a:extLst>
              <a:ext uri="{FF2B5EF4-FFF2-40B4-BE49-F238E27FC236}">
                <a16:creationId xmlns:a16="http://schemas.microsoft.com/office/drawing/2014/main" id="{C605E3A9-768F-B21E-1E87-27B06AEB3AF5}"/>
              </a:ext>
            </a:extLst>
          </p:cNvPr>
          <p:cNvSpPr txBox="1"/>
          <p:nvPr/>
        </p:nvSpPr>
        <p:spPr>
          <a:xfrm>
            <a:off x="670558" y="45756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1D0C85C6-176D-2C26-0652-149EAFA02616}"/>
              </a:ext>
            </a:extLst>
          </p:cNvPr>
          <p:cNvSpPr>
            <a:spLocks noGrp="1"/>
          </p:cNvSpPr>
          <p:nvPr>
            <p:ph type="body" sz="quarter" idx="29"/>
          </p:nvPr>
        </p:nvSpPr>
        <p:spPr>
          <a:xfrm>
            <a:off x="1345520" y="4575670"/>
            <a:ext cx="10175920" cy="641396"/>
          </a:xfrm>
        </p:spPr>
        <p:txBody>
          <a:bodyPr anchor="ctr"/>
          <a:lstStyle/>
          <a:p>
            <a:r>
              <a:rPr lang="en-US" sz="3600"/>
              <a:t>57 tens and 68 ones</a:t>
            </a:r>
          </a:p>
        </p:txBody>
      </p:sp>
      <p:sp>
        <p:nvSpPr>
          <p:cNvPr id="11" name="D">
            <a:extLst>
              <a:ext uri="{FF2B5EF4-FFF2-40B4-BE49-F238E27FC236}">
                <a16:creationId xmlns:a16="http://schemas.microsoft.com/office/drawing/2014/main" id="{8EADE37E-99CA-3A50-524F-30E28DF3B7C4}"/>
              </a:ext>
            </a:extLst>
          </p:cNvPr>
          <p:cNvSpPr txBox="1"/>
          <p:nvPr/>
        </p:nvSpPr>
        <p:spPr>
          <a:xfrm>
            <a:off x="670557" y="542572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9186568-D62F-6B45-E8D1-7BD11DA09597}"/>
              </a:ext>
            </a:extLst>
          </p:cNvPr>
          <p:cNvSpPr>
            <a:spLocks noGrp="1"/>
          </p:cNvSpPr>
          <p:nvPr>
            <p:ph type="body" sz="quarter" idx="27"/>
          </p:nvPr>
        </p:nvSpPr>
        <p:spPr>
          <a:xfrm>
            <a:off x="1345520" y="5425723"/>
            <a:ext cx="10175920" cy="641396"/>
          </a:xfrm>
        </p:spPr>
        <p:txBody>
          <a:bodyPr anchor="ctr"/>
          <a:lstStyle/>
          <a:p>
            <a:r>
              <a:rPr lang="en-US" sz="3600"/>
              <a:t>57 hundreds, 6 tens and 8 ones. </a:t>
            </a:r>
          </a:p>
        </p:txBody>
      </p:sp>
      <p:pic>
        <p:nvPicPr>
          <p:cNvPr id="4" name="Picture 3" descr="image of a finger selecting an option for a multiple choice or true and false">
            <a:extLst>
              <a:ext uri="{FF2B5EF4-FFF2-40B4-BE49-F238E27FC236}">
                <a16:creationId xmlns:a16="http://schemas.microsoft.com/office/drawing/2014/main" id="{9BDCD778-E71A-A4F2-9CEF-2A78DFB28F68}"/>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FB6D3FD4-B645-8933-2300-635C9B9344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6" name="TextBox 5">
            <a:extLst>
              <a:ext uri="{FF2B5EF4-FFF2-40B4-BE49-F238E27FC236}">
                <a16:creationId xmlns:a16="http://schemas.microsoft.com/office/drawing/2014/main" id="{47BB8130-2B24-E2C7-DE1E-1F33A727C5BC}"/>
              </a:ext>
            </a:extLst>
          </p:cNvPr>
          <p:cNvSpPr txBox="1"/>
          <p:nvPr/>
        </p:nvSpPr>
        <p:spPr>
          <a:xfrm>
            <a:off x="231984" y="943501"/>
            <a:ext cx="10175920" cy="646331"/>
          </a:xfrm>
          <a:prstGeom prst="rect">
            <a:avLst/>
          </a:prstGeom>
          <a:noFill/>
        </p:spPr>
        <p:txBody>
          <a:bodyPr wrap="square">
            <a:spAutoFit/>
          </a:bodyPr>
          <a:lstStyle/>
          <a:p>
            <a:r>
              <a:rPr lang="en-AU" sz="3600">
                <a:effectLst/>
                <a:latin typeface="+mj-lt"/>
              </a:rPr>
              <a:t>You may select </a:t>
            </a:r>
            <a:r>
              <a:rPr lang="en-AU" sz="3600" b="1">
                <a:effectLst/>
                <a:latin typeface="+mj-lt"/>
              </a:rPr>
              <a:t>one or more options</a:t>
            </a:r>
            <a:r>
              <a:rPr lang="en-AU" sz="3600" b="1" dirty="0">
                <a:latin typeface="+mj-lt"/>
              </a:rPr>
              <a:t>.</a:t>
            </a:r>
            <a:endParaRPr lang="en-AU" sz="3600">
              <a:latin typeface="+mj-lt"/>
            </a:endParaRPr>
          </a:p>
        </p:txBody>
      </p:sp>
    </p:spTree>
    <p:extLst>
      <p:ext uri="{BB962C8B-B14F-4D97-AF65-F5344CB8AC3E}">
        <p14:creationId xmlns:p14="http://schemas.microsoft.com/office/powerpoint/2010/main" val="128654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7E20781-DE6A-1790-850A-8A5A74FF3447}"/>
              </a:ext>
            </a:extLst>
          </p:cNvPr>
          <p:cNvPicPr>
            <a:picLocks noChangeAspect="1"/>
          </p:cNvPicPr>
          <p:nvPr/>
        </p:nvPicPr>
        <p:blipFill>
          <a:blip r:embed="rId3"/>
          <a:stretch>
            <a:fillRect/>
          </a:stretch>
        </p:blipFill>
        <p:spPr>
          <a:xfrm>
            <a:off x="6096000" y="1117715"/>
            <a:ext cx="5617408" cy="5331777"/>
          </a:xfrm>
          <a:prstGeom prst="rect">
            <a:avLst/>
          </a:prstGeom>
        </p:spPr>
      </p:pic>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4"/>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7" name="TextBox 6">
            <a:extLst>
              <a:ext uri="{FF2B5EF4-FFF2-40B4-BE49-F238E27FC236}">
                <a16:creationId xmlns:a16="http://schemas.microsoft.com/office/drawing/2014/main" id="{A13E7BCC-6EC2-452D-19A7-4034ABD65D76}"/>
              </a:ext>
            </a:extLst>
          </p:cNvPr>
          <p:cNvSpPr txBox="1"/>
          <p:nvPr/>
        </p:nvSpPr>
        <p:spPr>
          <a:xfrm>
            <a:off x="360000" y="1117715"/>
            <a:ext cx="6383700" cy="5045164"/>
          </a:xfrm>
          <a:prstGeom prst="rect">
            <a:avLst/>
          </a:prstGeom>
          <a:noFill/>
        </p:spPr>
        <p:txBody>
          <a:bodyPr wrap="square">
            <a:spAutoFit/>
          </a:bodyPr>
          <a:lstStyle/>
          <a:p>
            <a:pPr>
              <a:lnSpc>
                <a:spcPct val="150000"/>
              </a:lnSpc>
            </a:pPr>
            <a:r>
              <a:rPr lang="en-AU" sz="4400">
                <a:effectLst/>
                <a:latin typeface="Arial" panose="020B0604020202020204" pitchFamily="34" charset="0"/>
                <a:ea typeface="Calibri" panose="020F0502020204030204" pitchFamily="34" charset="0"/>
              </a:rPr>
              <a:t>Using words such as </a:t>
            </a:r>
            <a:r>
              <a:rPr lang="en-AU" sz="4400" b="1"/>
              <a:t>each</a:t>
            </a:r>
            <a:r>
              <a:rPr lang="en-AU" sz="4400"/>
              <a:t>,</a:t>
            </a:r>
            <a:r>
              <a:rPr lang="en-AU" sz="4400" b="1"/>
              <a:t> multiple</a:t>
            </a:r>
            <a:r>
              <a:rPr lang="en-AU" sz="4400"/>
              <a:t>,</a:t>
            </a:r>
            <a:r>
              <a:rPr lang="en-AU" sz="4400" b="1"/>
              <a:t> pattern</a:t>
            </a:r>
            <a:r>
              <a:rPr lang="en-AU" sz="4400"/>
              <a:t>,</a:t>
            </a:r>
            <a:r>
              <a:rPr lang="en-AU" sz="4400" b="1"/>
              <a:t> group</a:t>
            </a:r>
            <a:r>
              <a:rPr lang="en-AU" sz="4400"/>
              <a:t>,</a:t>
            </a:r>
            <a:r>
              <a:rPr lang="en-AU" sz="4400" b="1"/>
              <a:t> increase</a:t>
            </a:r>
            <a:r>
              <a:rPr lang="en-AU" sz="4400"/>
              <a:t>,</a:t>
            </a:r>
            <a:r>
              <a:rPr lang="en-AU" sz="4400" b="1"/>
              <a:t> decrease</a:t>
            </a:r>
            <a:r>
              <a:rPr lang="en-AU" sz="4400"/>
              <a:t>, r</a:t>
            </a:r>
            <a:r>
              <a:rPr lang="en-AU" sz="4400">
                <a:effectLst/>
                <a:latin typeface="Arial" panose="020B0604020202020204" pitchFamily="34" charset="0"/>
                <a:ea typeface="Calibri" panose="020F0502020204030204" pitchFamily="34" charset="0"/>
              </a:rPr>
              <a:t>ecord the </a:t>
            </a:r>
            <a:r>
              <a:rPr lang="en-AU" sz="4400" b="1">
                <a:effectLst/>
                <a:latin typeface="Arial" panose="020B0604020202020204" pitchFamily="34" charset="0"/>
                <a:ea typeface="Calibri" panose="020F0502020204030204" pitchFamily="34" charset="0"/>
              </a:rPr>
              <a:t>rules</a:t>
            </a:r>
            <a:r>
              <a:rPr lang="en-AU" sz="4400">
                <a:effectLst/>
                <a:latin typeface="Arial" panose="020B0604020202020204" pitchFamily="34" charset="0"/>
                <a:ea typeface="Calibri" panose="020F0502020204030204" pitchFamily="34" charset="0"/>
              </a:rPr>
              <a:t> for this pattern</a:t>
            </a:r>
            <a:r>
              <a:rPr lang="en-AU" sz="4400" dirty="0">
                <a:effectLst/>
                <a:latin typeface="Arial" panose="020B0604020202020204" pitchFamily="34" charset="0"/>
                <a:ea typeface="Calibri" panose="020F0502020204030204" pitchFamily="34" charset="0"/>
              </a:rPr>
              <a:t>.</a:t>
            </a:r>
            <a:endParaRPr lang="en-AU" sz="4400"/>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4" name="TextBox 3">
            <a:extLst>
              <a:ext uri="{FF2B5EF4-FFF2-40B4-BE49-F238E27FC236}">
                <a16:creationId xmlns:a16="http://schemas.microsoft.com/office/drawing/2014/main" id="{F4799715-5FC7-F13D-412B-FA5153DF278B}"/>
              </a:ext>
            </a:extLst>
          </p:cNvPr>
          <p:cNvSpPr txBox="1"/>
          <p:nvPr/>
        </p:nvSpPr>
        <p:spPr>
          <a:xfrm>
            <a:off x="833120" y="1493520"/>
            <a:ext cx="9550400" cy="2245360"/>
          </a:xfrm>
          <a:prstGeom prst="rect">
            <a:avLst/>
          </a:prstGeom>
          <a:noFill/>
        </p:spPr>
        <p:txBody>
          <a:bodyPr wrap="square" lIns="0" tIns="0" rIns="0" bIns="0" rtlCol="0">
            <a:noAutofit/>
          </a:bodyPr>
          <a:lstStyle/>
          <a:p>
            <a:pPr algn="ctr"/>
            <a:r>
              <a:rPr lang="en-AU" sz="4400"/>
              <a:t>Fill in the </a:t>
            </a:r>
            <a:r>
              <a:rPr lang="en-AU" sz="4400" b="1"/>
              <a:t>missing numbers</a:t>
            </a:r>
            <a:r>
              <a:rPr lang="en-AU" sz="4400"/>
              <a:t>:</a:t>
            </a:r>
          </a:p>
          <a:p>
            <a:pPr algn="ctr"/>
            <a:endParaRPr lang="en-AU" sz="4400"/>
          </a:p>
          <a:p>
            <a:pPr marL="571500" indent="-571500" algn="ctr">
              <a:buFont typeface="Arial" panose="020B0604020202020204" pitchFamily="34" charset="0"/>
              <a:buChar char="•"/>
            </a:pPr>
            <a:r>
              <a:rPr lang="en-AU" sz="4400"/>
              <a:t>1490, _____, 1510, 1520, _____</a:t>
            </a:r>
          </a:p>
          <a:p>
            <a:pPr marL="571500" indent="-571500" algn="ctr">
              <a:buFont typeface="Arial" panose="020B0604020202020204" pitchFamily="34" charset="0"/>
              <a:buChar char="•"/>
            </a:pPr>
            <a:endParaRPr lang="en-AU" sz="4400"/>
          </a:p>
          <a:p>
            <a:pPr marL="571500" indent="-571500" algn="ctr">
              <a:buFont typeface="Arial" panose="020B0604020202020204" pitchFamily="34" charset="0"/>
              <a:buChar char="•"/>
            </a:pPr>
            <a:r>
              <a:rPr lang="en-AU" sz="4400"/>
              <a:t>_____, 2437, 2537, _____, 2737</a:t>
            </a:r>
          </a:p>
          <a:p>
            <a:pPr marL="571500" indent="-571500" algn="ctr">
              <a:buFont typeface="Arial" panose="020B0604020202020204" pitchFamily="34" charset="0"/>
              <a:buChar char="•"/>
            </a:pPr>
            <a:endParaRPr lang="en-AU" sz="4400"/>
          </a:p>
          <a:p>
            <a:pPr marL="571500" indent="-571500" algn="ctr">
              <a:buFont typeface="Arial" panose="020B0604020202020204" pitchFamily="34" charset="0"/>
              <a:buChar char="•"/>
            </a:pPr>
            <a:r>
              <a:rPr lang="en-AU" sz="4400"/>
              <a:t>3499, 3399, _____, ______</a:t>
            </a:r>
          </a:p>
          <a:p>
            <a:pPr algn="l"/>
            <a:endParaRPr lang="en-AU" sz="1800"/>
          </a:p>
          <a:p>
            <a:pPr algn="l"/>
            <a:endParaRPr lang="en-AU" sz="1800"/>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7" name="TextBox 6">
            <a:extLst>
              <a:ext uri="{FF2B5EF4-FFF2-40B4-BE49-F238E27FC236}">
                <a16:creationId xmlns:a16="http://schemas.microsoft.com/office/drawing/2014/main" id="{0F99BCC1-A5CA-EB85-80BB-ED24AA113BBC}"/>
              </a:ext>
            </a:extLst>
          </p:cNvPr>
          <p:cNvSpPr txBox="1"/>
          <p:nvPr/>
        </p:nvSpPr>
        <p:spPr>
          <a:xfrm>
            <a:off x="1351280" y="1577370"/>
            <a:ext cx="9375988" cy="3013838"/>
          </a:xfrm>
          <a:prstGeom prst="rect">
            <a:avLst/>
          </a:prstGeom>
          <a:noFill/>
        </p:spPr>
        <p:txBody>
          <a:bodyPr wrap="square">
            <a:spAutoFit/>
          </a:bodyPr>
          <a:lstStyle/>
          <a:p>
            <a:pPr algn="ctr">
              <a:lnSpc>
                <a:spcPct val="150000"/>
              </a:lnSpc>
            </a:pPr>
            <a:r>
              <a:rPr lang="en-AU" sz="4400"/>
              <a:t>Write a possible list of </a:t>
            </a:r>
            <a:r>
              <a:rPr lang="en-AU" sz="4400" b="1"/>
              <a:t>categories </a:t>
            </a:r>
            <a:r>
              <a:rPr lang="en-AU" sz="4400"/>
              <a:t>for the </a:t>
            </a:r>
            <a:r>
              <a:rPr lang="en-AU" sz="4400" b="1"/>
              <a:t>question</a:t>
            </a:r>
            <a:r>
              <a:rPr lang="en-AU" sz="4400"/>
              <a:t>:</a:t>
            </a:r>
          </a:p>
          <a:p>
            <a:pPr algn="ctr">
              <a:lnSpc>
                <a:spcPct val="150000"/>
              </a:lnSpc>
            </a:pPr>
            <a:r>
              <a:rPr lang="en-AU" sz="4400"/>
              <a:t>What is your hair colour?</a:t>
            </a:r>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4" name="TextBox 3">
            <a:extLst>
              <a:ext uri="{FF2B5EF4-FFF2-40B4-BE49-F238E27FC236}">
                <a16:creationId xmlns:a16="http://schemas.microsoft.com/office/drawing/2014/main" id="{3BBAF255-B1F7-A854-B35A-8925F5781855}"/>
              </a:ext>
            </a:extLst>
          </p:cNvPr>
          <p:cNvSpPr txBox="1"/>
          <p:nvPr/>
        </p:nvSpPr>
        <p:spPr>
          <a:xfrm>
            <a:off x="1096080" y="1184223"/>
            <a:ext cx="10027920" cy="1452880"/>
          </a:xfrm>
          <a:prstGeom prst="rect">
            <a:avLst/>
          </a:prstGeom>
          <a:noFill/>
        </p:spPr>
        <p:txBody>
          <a:bodyPr wrap="square" lIns="0" tIns="0" rIns="0" bIns="0" rtlCol="0">
            <a:noAutofit/>
          </a:bodyPr>
          <a:lstStyle/>
          <a:p>
            <a:pPr algn="ctr">
              <a:lnSpc>
                <a:spcPct val="150000"/>
              </a:lnSpc>
            </a:pPr>
            <a:r>
              <a:rPr lang="en-AU" sz="4400"/>
              <a:t>How many </a:t>
            </a:r>
            <a:r>
              <a:rPr lang="en-AU" sz="4400" b="1"/>
              <a:t>millimetres</a:t>
            </a:r>
            <a:r>
              <a:rPr lang="en-AU" sz="4400"/>
              <a:t> are in one </a:t>
            </a:r>
            <a:r>
              <a:rPr lang="en-AU" sz="4400" b="1"/>
              <a:t>centimetre</a:t>
            </a:r>
            <a:r>
              <a:rPr lang="en-AU" sz="4400"/>
              <a:t>?</a:t>
            </a:r>
          </a:p>
          <a:p>
            <a:pPr algn="ctr">
              <a:lnSpc>
                <a:spcPct val="150000"/>
              </a:lnSpc>
            </a:pPr>
            <a:endParaRPr lang="en-AU" sz="4400"/>
          </a:p>
          <a:p>
            <a:pPr algn="ctr">
              <a:lnSpc>
                <a:spcPct val="150000"/>
              </a:lnSpc>
            </a:pPr>
            <a:r>
              <a:rPr lang="en-AU" sz="4400"/>
              <a:t>What is the abbreviation for </a:t>
            </a:r>
            <a:r>
              <a:rPr lang="en-AU" sz="4400" b="1"/>
              <a:t>millimetres</a:t>
            </a:r>
            <a:r>
              <a:rPr lang="en-AU" sz="4400"/>
              <a:t>?</a:t>
            </a:r>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partitioning and regrouping </a:t>
            </a:r>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pic>
        <p:nvPicPr>
          <p:cNvPr id="3" name="Picture 2" descr="A number expander with a blank rectangle and the word thousands, a blank rectangle and the word hundreds, a blank rectangle and the word tens, a blank rectangle and the word ones.">
            <a:extLst>
              <a:ext uri="{FF2B5EF4-FFF2-40B4-BE49-F238E27FC236}">
                <a16:creationId xmlns:a16="http://schemas.microsoft.com/office/drawing/2014/main" id="{48763DD0-8981-28E7-1E31-AC10ED45049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6211" y="2792852"/>
            <a:ext cx="11239577" cy="1272295"/>
          </a:xfrm>
          <a:prstGeom prst="rect">
            <a:avLst/>
          </a:prstGeom>
          <a:noFill/>
          <a:ln>
            <a:noFill/>
          </a:ln>
        </p:spPr>
      </p:pic>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1209369" y="1625946"/>
            <a:ext cx="9598540" cy="893226"/>
          </a:xfrm>
        </p:spPr>
        <p:txBody>
          <a:bodyPr/>
          <a:lstStyle/>
          <a:p>
            <a:pPr algn="ctr"/>
            <a:r>
              <a:rPr lang="en-AU" sz="4400"/>
              <a:t>Using non-standard partitioning, there are </a:t>
            </a:r>
            <a:r>
              <a:rPr lang="en-AU" sz="4400" b="1"/>
              <a:t>no</a:t>
            </a:r>
            <a:r>
              <a:rPr lang="en-AU" sz="4400"/>
              <a:t> </a:t>
            </a:r>
            <a:r>
              <a:rPr lang="en-AU" sz="4400" b="1"/>
              <a:t>hundreds</a:t>
            </a:r>
            <a:r>
              <a:rPr lang="en-AU" sz="4400"/>
              <a:t> in the number 4099.</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2868200377"/>
              </p:ext>
            </p:extLst>
          </p:nvPr>
        </p:nvGraphicFramePr>
        <p:xfrm>
          <a:off x="2442981" y="4851054"/>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endParaRPr lang="en-US" sz="4400" b="1" kern="1200" dirty="0">
                        <a:solidFill>
                          <a:srgbClr val="146CFD"/>
                        </a:solidFill>
                        <a:latin typeface="+mn-lt"/>
                        <a:ea typeface="+mn-ea"/>
                        <a:cs typeface="Arial"/>
                      </a:endParaRP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endParaRPr lang="en-US" sz="4400" b="1" kern="1200" dirty="0">
                        <a:solidFill>
                          <a:srgbClr val="146CFD"/>
                        </a:solidFill>
                        <a:latin typeface="+mn-lt"/>
                        <a:ea typeface="+mn-ea"/>
                        <a:cs typeface="Arial"/>
                      </a:endParaRP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21597-D3D3-6337-99B2-DDF6AB59D2F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B745E2E-C2E7-66A6-12C8-40D500B80D1F}"/>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descr="image of a clipboard with a pencil recording short answer responses">
            <a:extLst>
              <a:ext uri="{FF2B5EF4-FFF2-40B4-BE49-F238E27FC236}">
                <a16:creationId xmlns:a16="http://schemas.microsoft.com/office/drawing/2014/main" id="{B04E29DC-9E13-F4EA-4306-D2B8C6FCD5B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9CAAFC-BDFC-1EEE-6282-165A2F1C277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7" name="TextBox 6">
            <a:extLst>
              <a:ext uri="{FF2B5EF4-FFF2-40B4-BE49-F238E27FC236}">
                <a16:creationId xmlns:a16="http://schemas.microsoft.com/office/drawing/2014/main" id="{E9A6DEAA-8339-458A-7051-C8406D83E01C}"/>
              </a:ext>
            </a:extLst>
          </p:cNvPr>
          <p:cNvSpPr txBox="1"/>
          <p:nvPr/>
        </p:nvSpPr>
        <p:spPr>
          <a:xfrm>
            <a:off x="1363740" y="2274838"/>
            <a:ext cx="9666736" cy="230832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rtl="0">
              <a:lnSpc>
                <a:spcPct val="150000"/>
              </a:lnSpc>
            </a:pPr>
            <a:r>
              <a:rPr lang="en-US" sz="4400" baseline="0">
                <a:solidFill>
                  <a:srgbClr val="22272B"/>
                </a:solidFill>
                <a:latin typeface="Arial"/>
                <a:ea typeface="Segoe UI"/>
                <a:cs typeface="Segoe UI"/>
              </a:rPr>
              <a:t>Record the </a:t>
            </a:r>
            <a:r>
              <a:rPr lang="en-US" sz="4400" b="1" baseline="0">
                <a:solidFill>
                  <a:srgbClr val="22272B"/>
                </a:solidFill>
                <a:latin typeface="Arial"/>
                <a:ea typeface="Segoe UI"/>
                <a:cs typeface="Segoe UI"/>
              </a:rPr>
              <a:t>number pattern</a:t>
            </a:r>
            <a:r>
              <a:rPr lang="en-US" sz="4400" baseline="0">
                <a:solidFill>
                  <a:srgbClr val="22272B"/>
                </a:solidFill>
                <a:latin typeface="Arial"/>
                <a:ea typeface="Segoe UI"/>
                <a:cs typeface="Segoe UI"/>
              </a:rPr>
              <a:t> that </a:t>
            </a:r>
            <a:r>
              <a:rPr lang="en-US" sz="4400" b="1" baseline="0" dirty="0">
                <a:solidFill>
                  <a:srgbClr val="22272B"/>
                </a:solidFill>
                <a:latin typeface="Arial"/>
                <a:ea typeface="Segoe UI"/>
                <a:cs typeface="Segoe UI"/>
              </a:rPr>
              <a:t>s</a:t>
            </a:r>
            <a:r>
              <a:rPr lang="en-US" sz="4400" b="1" baseline="0">
                <a:solidFill>
                  <a:srgbClr val="22272B"/>
                </a:solidFill>
                <a:latin typeface="Arial"/>
                <a:ea typeface="Segoe UI"/>
                <a:cs typeface="Segoe UI"/>
              </a:rPr>
              <a:t>tarts</a:t>
            </a:r>
            <a:r>
              <a:rPr lang="en-US" sz="4400" baseline="0">
                <a:solidFill>
                  <a:srgbClr val="22272B"/>
                </a:solidFill>
                <a:latin typeface="Arial"/>
                <a:ea typeface="Segoe UI"/>
                <a:cs typeface="Segoe UI"/>
              </a:rPr>
              <a:t> at 36 and </a:t>
            </a:r>
            <a:r>
              <a:rPr lang="en-US" sz="4400" b="1" baseline="0">
                <a:solidFill>
                  <a:srgbClr val="22272B"/>
                </a:solidFill>
                <a:latin typeface="Arial"/>
                <a:ea typeface="Segoe UI"/>
                <a:cs typeface="Segoe UI"/>
              </a:rPr>
              <a:t>decreases</a:t>
            </a:r>
            <a:r>
              <a:rPr lang="en-US" sz="4400" baseline="0">
                <a:solidFill>
                  <a:srgbClr val="22272B"/>
                </a:solidFill>
                <a:latin typeface="Arial"/>
                <a:ea typeface="Segoe UI"/>
                <a:cs typeface="Segoe UI"/>
              </a:rPr>
              <a:t> by 4.</a:t>
            </a:r>
          </a:p>
          <a:p>
            <a:pPr algn="l"/>
            <a:endParaRPr lang="en-US" sz="1800"/>
          </a:p>
        </p:txBody>
      </p:sp>
    </p:spTree>
    <p:extLst>
      <p:ext uri="{BB962C8B-B14F-4D97-AF65-F5344CB8AC3E}">
        <p14:creationId xmlns:p14="http://schemas.microsoft.com/office/powerpoint/2010/main" val="730825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4" name="TextBox 3">
            <a:extLst>
              <a:ext uri="{FF2B5EF4-FFF2-40B4-BE49-F238E27FC236}">
                <a16:creationId xmlns:a16="http://schemas.microsoft.com/office/drawing/2014/main" id="{AB2FA188-2B36-368F-3EED-BFB894DDD4FA}"/>
              </a:ext>
            </a:extLst>
          </p:cNvPr>
          <p:cNvSpPr txBox="1"/>
          <p:nvPr/>
        </p:nvSpPr>
        <p:spPr>
          <a:xfrm>
            <a:off x="912366" y="1590040"/>
            <a:ext cx="9920734" cy="2651760"/>
          </a:xfrm>
          <a:prstGeom prst="rect">
            <a:avLst/>
          </a:prstGeom>
          <a:noFill/>
        </p:spPr>
        <p:txBody>
          <a:bodyPr wrap="square" lIns="0" tIns="0" rIns="0" bIns="0" rtlCol="0" anchor="t">
            <a:noAutofit/>
          </a:bodyPr>
          <a:lstStyle/>
          <a:p>
            <a:pPr algn="ctr"/>
            <a:r>
              <a:rPr lang="en-AU" sz="4400" b="1"/>
              <a:t>Regroup</a:t>
            </a:r>
            <a:r>
              <a:rPr lang="en-AU" sz="4400"/>
              <a:t> these numbers using </a:t>
            </a:r>
            <a:r>
              <a:rPr lang="en-AU" sz="4400" b="1"/>
              <a:t>standard</a:t>
            </a:r>
            <a:r>
              <a:rPr lang="en-AU" sz="4400"/>
              <a:t> </a:t>
            </a:r>
            <a:r>
              <a:rPr lang="en-AU" sz="4400" b="1"/>
              <a:t>place value</a:t>
            </a:r>
            <a:r>
              <a:rPr lang="en-AU" sz="4400"/>
              <a:t>:</a:t>
            </a:r>
          </a:p>
          <a:p>
            <a:pPr algn="ctr"/>
            <a:endParaRPr lang="en-AU" sz="4400"/>
          </a:p>
          <a:p>
            <a:pPr marL="571500" indent="-571500" algn="ctr">
              <a:buFont typeface="Arial" panose="020B0604020202020204" pitchFamily="34" charset="0"/>
              <a:buChar char="•"/>
            </a:pPr>
            <a:r>
              <a:rPr lang="en-AU" sz="4400"/>
              <a:t>1322</a:t>
            </a:r>
          </a:p>
          <a:p>
            <a:pPr marL="571500" indent="-571500" algn="ctr">
              <a:buFont typeface="Arial" panose="020B0604020202020204" pitchFamily="34" charset="0"/>
              <a:buChar char="•"/>
            </a:pPr>
            <a:endParaRPr lang="en-AU" sz="4400"/>
          </a:p>
          <a:p>
            <a:pPr marL="571500" indent="-571500" algn="ctr">
              <a:buFont typeface="Arial" panose="020B0604020202020204" pitchFamily="34" charset="0"/>
              <a:buChar char="•"/>
            </a:pPr>
            <a:r>
              <a:rPr lang="en-AU" sz="4400"/>
              <a:t> 7809</a:t>
            </a:r>
          </a:p>
          <a:p>
            <a:pPr algn="ctr"/>
            <a:endParaRPr lang="en-AU" sz="4400"/>
          </a:p>
          <a:p>
            <a:pPr algn="ctr"/>
            <a:endParaRPr lang="en-AU" sz="4400"/>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4" name="TextBox 3">
            <a:extLst>
              <a:ext uri="{FF2B5EF4-FFF2-40B4-BE49-F238E27FC236}">
                <a16:creationId xmlns:a16="http://schemas.microsoft.com/office/drawing/2014/main" id="{82EF16BC-3C46-30B2-74DA-926C9C8B6C9A}"/>
              </a:ext>
            </a:extLst>
          </p:cNvPr>
          <p:cNvSpPr txBox="1"/>
          <p:nvPr/>
        </p:nvSpPr>
        <p:spPr>
          <a:xfrm>
            <a:off x="914400" y="1564640"/>
            <a:ext cx="9812868" cy="2052320"/>
          </a:xfrm>
          <a:prstGeom prst="rect">
            <a:avLst/>
          </a:prstGeom>
          <a:noFill/>
        </p:spPr>
        <p:txBody>
          <a:bodyPr wrap="square" lIns="0" tIns="0" rIns="0" bIns="0" rtlCol="0">
            <a:noAutofit/>
          </a:bodyPr>
          <a:lstStyle/>
          <a:p>
            <a:pPr algn="ctr"/>
            <a:endParaRPr lang="en-AU" sz="4400"/>
          </a:p>
        </p:txBody>
      </p:sp>
      <p:sp>
        <p:nvSpPr>
          <p:cNvPr id="5" name="TextBox 4">
            <a:extLst>
              <a:ext uri="{FF2B5EF4-FFF2-40B4-BE49-F238E27FC236}">
                <a16:creationId xmlns:a16="http://schemas.microsoft.com/office/drawing/2014/main" id="{515D3768-4287-5951-BF7E-01243B56F832}"/>
              </a:ext>
            </a:extLst>
          </p:cNvPr>
          <p:cNvSpPr txBox="1"/>
          <p:nvPr/>
        </p:nvSpPr>
        <p:spPr>
          <a:xfrm>
            <a:off x="763438" y="903281"/>
            <a:ext cx="10116076" cy="1168400"/>
          </a:xfrm>
          <a:prstGeom prst="rect">
            <a:avLst/>
          </a:prstGeom>
          <a:noFill/>
        </p:spPr>
        <p:txBody>
          <a:bodyPr wrap="square" lIns="0" tIns="0" rIns="0" bIns="0" rtlCol="0" anchor="t">
            <a:noAutofit/>
          </a:bodyPr>
          <a:lstStyle/>
          <a:p>
            <a:pPr algn="ctr">
              <a:lnSpc>
                <a:spcPct val="150000"/>
              </a:lnSpc>
            </a:pPr>
            <a:r>
              <a:rPr lang="en-AU" sz="4400"/>
              <a:t>Some </a:t>
            </a:r>
            <a:r>
              <a:rPr lang="en-AU" sz="4400" b="1"/>
              <a:t>categorical responses </a:t>
            </a:r>
            <a:r>
              <a:rPr lang="en-AU" sz="4400"/>
              <a:t>are: </a:t>
            </a:r>
            <a:endParaRPr lang="en-US"/>
          </a:p>
          <a:p>
            <a:pPr algn="ctr">
              <a:lnSpc>
                <a:spcPct val="150000"/>
              </a:lnSpc>
            </a:pPr>
            <a:r>
              <a:rPr lang="en-AU" sz="4400"/>
              <a:t>Read in the library, go to the canteen, play on the oval.</a:t>
            </a:r>
            <a:endParaRPr lang="en-AU" sz="4400">
              <a:cs typeface="Arial" panose="020B0604020202020204"/>
            </a:endParaRPr>
          </a:p>
          <a:p>
            <a:pPr algn="ctr">
              <a:lnSpc>
                <a:spcPct val="150000"/>
              </a:lnSpc>
            </a:pPr>
            <a:endParaRPr lang="en-AU" sz="4400">
              <a:cs typeface="Arial" panose="020B0604020202020204"/>
            </a:endParaRPr>
          </a:p>
          <a:p>
            <a:pPr algn="ctr">
              <a:lnSpc>
                <a:spcPct val="150000"/>
              </a:lnSpc>
            </a:pPr>
            <a:r>
              <a:rPr lang="en-AU" sz="4400"/>
              <a:t>What question </a:t>
            </a:r>
            <a:r>
              <a:rPr lang="en-AU" sz="4400" b="1"/>
              <a:t>might</a:t>
            </a:r>
            <a:r>
              <a:rPr lang="en-AU" sz="4400"/>
              <a:t> have been </a:t>
            </a:r>
            <a:r>
              <a:rPr lang="en-AU" sz="4400" b="1"/>
              <a:t>asked</a:t>
            </a:r>
            <a:r>
              <a:rPr lang="en-AU" sz="4400"/>
              <a:t>?</a:t>
            </a:r>
            <a:endParaRPr lang="en-AU" sz="4400">
              <a:cs typeface="Arial" panose="020B0604020202020204"/>
            </a:endParaRPr>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5" name="Picture 4" descr="A green square with one side labelled '8 metres'.">
            <a:extLst>
              <a:ext uri="{FF2B5EF4-FFF2-40B4-BE49-F238E27FC236}">
                <a16:creationId xmlns:a16="http://schemas.microsoft.com/office/drawing/2014/main" id="{0C3C2C8B-CF72-A086-B45D-B274241920B5}"/>
              </a:ext>
            </a:extLst>
          </p:cNvPr>
          <p:cNvPicPr>
            <a:picLocks noChangeAspect="1"/>
          </p:cNvPicPr>
          <p:nvPr/>
        </p:nvPicPr>
        <p:blipFill>
          <a:blip r:embed="rId4"/>
          <a:stretch>
            <a:fillRect/>
          </a:stretch>
        </p:blipFill>
        <p:spPr>
          <a:xfrm>
            <a:off x="4352385" y="3354134"/>
            <a:ext cx="3864404" cy="3417852"/>
          </a:xfrm>
          <a:prstGeom prst="rect">
            <a:avLst/>
          </a:prstGeom>
        </p:spPr>
      </p:pic>
      <p:sp>
        <p:nvSpPr>
          <p:cNvPr id="7" name="TextBox 6">
            <a:extLst>
              <a:ext uri="{FF2B5EF4-FFF2-40B4-BE49-F238E27FC236}">
                <a16:creationId xmlns:a16="http://schemas.microsoft.com/office/drawing/2014/main" id="{47B43B85-882E-504F-48DA-63422B0DE2A8}"/>
              </a:ext>
            </a:extLst>
          </p:cNvPr>
          <p:cNvSpPr txBox="1"/>
          <p:nvPr/>
        </p:nvSpPr>
        <p:spPr>
          <a:xfrm>
            <a:off x="677940" y="905103"/>
            <a:ext cx="10840720" cy="853440"/>
          </a:xfrm>
          <a:prstGeom prst="rect">
            <a:avLst/>
          </a:prstGeom>
          <a:noFill/>
        </p:spPr>
        <p:txBody>
          <a:bodyPr wrap="square" lIns="0" tIns="0" rIns="0" bIns="0" rtlCol="0" anchor="t">
            <a:noAutofit/>
          </a:bodyPr>
          <a:lstStyle/>
          <a:p>
            <a:pPr algn="ctr">
              <a:lnSpc>
                <a:spcPct val="150000"/>
              </a:lnSpc>
            </a:pPr>
            <a:r>
              <a:rPr lang="en-AU" sz="4400"/>
              <a:t>Estimate and determine the </a:t>
            </a:r>
            <a:r>
              <a:rPr lang="en-AU" sz="4400" b="1"/>
              <a:t>perimeter</a:t>
            </a:r>
            <a:r>
              <a:rPr lang="en-AU" sz="4400"/>
              <a:t> of this </a:t>
            </a:r>
            <a:r>
              <a:rPr lang="en-AU" sz="4400" b="1"/>
              <a:t>quadrilateral</a:t>
            </a:r>
            <a:r>
              <a:rPr lang="en-AU" sz="4400"/>
              <a:t>.</a:t>
            </a:r>
            <a:endParaRPr lang="en-US"/>
          </a:p>
        </p:txBody>
      </p:sp>
      <p:sp>
        <p:nvSpPr>
          <p:cNvPr id="8" name="TextBox 7">
            <a:extLst>
              <a:ext uri="{FF2B5EF4-FFF2-40B4-BE49-F238E27FC236}">
                <a16:creationId xmlns:a16="http://schemas.microsoft.com/office/drawing/2014/main" id="{00E65DB4-8B68-3A17-EFBF-2454478DFDA8}"/>
              </a:ext>
            </a:extLst>
          </p:cNvPr>
          <p:cNvSpPr txBox="1"/>
          <p:nvPr/>
        </p:nvSpPr>
        <p:spPr>
          <a:xfrm>
            <a:off x="5058074" y="2922938"/>
            <a:ext cx="1606886" cy="582262"/>
          </a:xfrm>
          <a:prstGeom prst="rect">
            <a:avLst/>
          </a:prstGeom>
          <a:noFill/>
        </p:spPr>
        <p:txBody>
          <a:bodyPr wrap="none" lIns="0" tIns="0" rIns="0" bIns="0" rtlCol="0">
            <a:noAutofit/>
          </a:bodyPr>
          <a:lstStyle/>
          <a:p>
            <a:pPr algn="l"/>
            <a:endParaRPr lang="en-AU" sz="1800"/>
          </a:p>
        </p:txBody>
      </p:sp>
      <p:sp>
        <p:nvSpPr>
          <p:cNvPr id="9" name="TextBox 8">
            <a:extLst>
              <a:ext uri="{FF2B5EF4-FFF2-40B4-BE49-F238E27FC236}">
                <a16:creationId xmlns:a16="http://schemas.microsoft.com/office/drawing/2014/main" id="{178AB0AE-33F5-B16B-62D9-FF080EE8878D}"/>
              </a:ext>
            </a:extLst>
          </p:cNvPr>
          <p:cNvSpPr txBox="1"/>
          <p:nvPr/>
        </p:nvSpPr>
        <p:spPr>
          <a:xfrm>
            <a:off x="5520635" y="3214069"/>
            <a:ext cx="1920240" cy="224516"/>
          </a:xfrm>
          <a:prstGeom prst="rect">
            <a:avLst/>
          </a:prstGeom>
          <a:noFill/>
        </p:spPr>
        <p:txBody>
          <a:bodyPr wrap="square" lIns="0" tIns="0" rIns="0" bIns="0" rtlCol="0">
            <a:noAutofit/>
          </a:bodyPr>
          <a:lstStyle/>
          <a:p>
            <a:pPr algn="l"/>
            <a:r>
              <a:rPr lang="en-AU" sz="3000"/>
              <a:t>8 metres</a:t>
            </a:r>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role of zero</a:t>
            </a:r>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
        <p:nvSpPr>
          <p:cNvPr id="3" name="TextBox 2">
            <a:extLst>
              <a:ext uri="{FF2B5EF4-FFF2-40B4-BE49-F238E27FC236}">
                <a16:creationId xmlns:a16="http://schemas.microsoft.com/office/drawing/2014/main" id="{F7665733-6743-F0AC-49FC-E80BAD174ED4}"/>
              </a:ext>
            </a:extLst>
          </p:cNvPr>
          <p:cNvSpPr txBox="1"/>
          <p:nvPr/>
        </p:nvSpPr>
        <p:spPr>
          <a:xfrm>
            <a:off x="5621920" y="1376926"/>
            <a:ext cx="1456813" cy="1233714"/>
          </a:xfrm>
          <a:prstGeom prst="rect">
            <a:avLst/>
          </a:prstGeom>
          <a:noFill/>
        </p:spPr>
        <p:txBody>
          <a:bodyPr wrap="square" lIns="0" tIns="0" rIns="0" bIns="0" rtlCol="0">
            <a:noAutofit/>
          </a:bodyPr>
          <a:lstStyle/>
          <a:p>
            <a:pPr algn="l"/>
            <a:r>
              <a:rPr lang="en-AU" sz="4400"/>
              <a:t>3809</a:t>
            </a:r>
          </a:p>
        </p:txBody>
      </p:sp>
      <p:pic>
        <p:nvPicPr>
          <p:cNvPr id="5" name="Picture 4" descr="A number expander with a blank rectangle and the word thousands, a blank rectangle and the word hundreds, a blank rectangle and the word tens, a blank rectangle and the word ones.">
            <a:extLst>
              <a:ext uri="{FF2B5EF4-FFF2-40B4-BE49-F238E27FC236}">
                <a16:creationId xmlns:a16="http://schemas.microsoft.com/office/drawing/2014/main" id="{ECEDD399-9019-CAEF-BBF5-E907625EEDC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01031" y="3143539"/>
            <a:ext cx="10566419" cy="1196095"/>
          </a:xfrm>
          <a:prstGeom prst="rect">
            <a:avLst/>
          </a:prstGeom>
          <a:noFill/>
          <a:ln>
            <a:noFill/>
          </a:ln>
        </p:spPr>
      </p:pic>
      <p:sp>
        <p:nvSpPr>
          <p:cNvPr id="7" name="TextBox 6">
            <a:extLst>
              <a:ext uri="{FF2B5EF4-FFF2-40B4-BE49-F238E27FC236}">
                <a16:creationId xmlns:a16="http://schemas.microsoft.com/office/drawing/2014/main" id="{0B0EC541-D6C2-DAFF-DF1D-524790EF14BB}"/>
              </a:ext>
            </a:extLst>
          </p:cNvPr>
          <p:cNvSpPr txBox="1"/>
          <p:nvPr/>
        </p:nvSpPr>
        <p:spPr>
          <a:xfrm>
            <a:off x="3265714" y="3225948"/>
            <a:ext cx="886899" cy="1031278"/>
          </a:xfrm>
          <a:prstGeom prst="rect">
            <a:avLst/>
          </a:prstGeom>
          <a:noFill/>
        </p:spPr>
        <p:txBody>
          <a:bodyPr wrap="square" lIns="0" tIns="0" rIns="0" bIns="0" rtlCol="0">
            <a:noAutofit/>
          </a:bodyPr>
          <a:lstStyle/>
          <a:p>
            <a:pPr algn="l"/>
            <a:endParaRPr lang="en-AU" sz="1800"/>
          </a:p>
        </p:txBody>
      </p:sp>
      <p:sp>
        <p:nvSpPr>
          <p:cNvPr id="8" name="TextBox 7">
            <a:extLst>
              <a:ext uri="{FF2B5EF4-FFF2-40B4-BE49-F238E27FC236}">
                <a16:creationId xmlns:a16="http://schemas.microsoft.com/office/drawing/2014/main" id="{24651236-2148-8C48-A89D-E447AD36D24E}"/>
              </a:ext>
            </a:extLst>
          </p:cNvPr>
          <p:cNvSpPr txBox="1"/>
          <p:nvPr/>
        </p:nvSpPr>
        <p:spPr>
          <a:xfrm>
            <a:off x="624550" y="3227433"/>
            <a:ext cx="886899" cy="1031278"/>
          </a:xfrm>
          <a:prstGeom prst="rect">
            <a:avLst/>
          </a:prstGeom>
          <a:noFill/>
        </p:spPr>
        <p:txBody>
          <a:bodyPr wrap="square" lIns="0" tIns="0" rIns="0" bIns="0" rtlCol="0">
            <a:noAutofit/>
          </a:bodyPr>
          <a:lstStyle/>
          <a:p>
            <a:pPr algn="l"/>
            <a:endParaRPr lang="en-AU" sz="1800"/>
          </a:p>
        </p:txBody>
      </p:sp>
      <p:sp>
        <p:nvSpPr>
          <p:cNvPr id="9" name="TextBox 8">
            <a:extLst>
              <a:ext uri="{FF2B5EF4-FFF2-40B4-BE49-F238E27FC236}">
                <a16:creationId xmlns:a16="http://schemas.microsoft.com/office/drawing/2014/main" id="{B2C5A5E4-B521-1E1B-3EEA-C5660761D135}"/>
              </a:ext>
            </a:extLst>
          </p:cNvPr>
          <p:cNvSpPr txBox="1"/>
          <p:nvPr/>
        </p:nvSpPr>
        <p:spPr>
          <a:xfrm>
            <a:off x="5906878" y="3177857"/>
            <a:ext cx="886899" cy="1031278"/>
          </a:xfrm>
          <a:prstGeom prst="rect">
            <a:avLst/>
          </a:prstGeom>
          <a:noFill/>
        </p:spPr>
        <p:txBody>
          <a:bodyPr wrap="square" lIns="0" tIns="0" rIns="0" bIns="0" rtlCol="0">
            <a:noAutofit/>
          </a:bodyPr>
          <a:lstStyle/>
          <a:p>
            <a:pPr algn="l"/>
            <a:endParaRPr lang="en-AU" sz="1800"/>
          </a:p>
        </p:txBody>
      </p:sp>
      <p:sp>
        <p:nvSpPr>
          <p:cNvPr id="10" name="TextBox 9">
            <a:extLst>
              <a:ext uri="{FF2B5EF4-FFF2-40B4-BE49-F238E27FC236}">
                <a16:creationId xmlns:a16="http://schemas.microsoft.com/office/drawing/2014/main" id="{B0E60F85-7CEB-C45A-127C-71FE52B0FE79}"/>
              </a:ext>
            </a:extLst>
          </p:cNvPr>
          <p:cNvSpPr txBox="1"/>
          <p:nvPr/>
        </p:nvSpPr>
        <p:spPr>
          <a:xfrm>
            <a:off x="8548042" y="3225948"/>
            <a:ext cx="886899" cy="1031278"/>
          </a:xfrm>
          <a:prstGeom prst="rect">
            <a:avLst/>
          </a:prstGeom>
          <a:noFill/>
        </p:spPr>
        <p:txBody>
          <a:bodyPr wrap="square" lIns="0" tIns="0" rIns="0" bIns="0" rtlCol="0">
            <a:noAutofit/>
          </a:bodyPr>
          <a:lstStyle/>
          <a:p>
            <a:pPr algn="l"/>
            <a:endParaRPr lang="en-AU" sz="1800"/>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(2)</a:t>
            </a:r>
          </a:p>
        </p:txBody>
      </p:sp>
      <p:sp>
        <p:nvSpPr>
          <p:cNvPr id="15" name="Text Placeholder">
            <a:extLst>
              <a:ext uri="{FF2B5EF4-FFF2-40B4-BE49-F238E27FC236}">
                <a16:creationId xmlns:a16="http://schemas.microsoft.com/office/drawing/2014/main" id="{9C7C84D9-7468-F57D-99F1-C58A56040A58}"/>
              </a:ext>
            </a:extLst>
          </p:cNvPr>
          <p:cNvSpPr>
            <a:spLocks noGrp="1"/>
          </p:cNvSpPr>
          <p:nvPr>
            <p:ph type="body" sz="quarter" idx="28"/>
          </p:nvPr>
        </p:nvSpPr>
        <p:spPr>
          <a:xfrm>
            <a:off x="2427396" y="5685840"/>
            <a:ext cx="8012168" cy="754243"/>
          </a:xfrm>
        </p:spPr>
        <p:txBody>
          <a:bodyPr vert="horz" lIns="0" tIns="0" rIns="0" bIns="0" rtlCol="0" anchor="t">
            <a:noAutofit/>
          </a:bodyPr>
          <a:lstStyle/>
          <a:p>
            <a:r>
              <a:rPr lang="en-US" sz="4400" b="1">
                <a:latin typeface="Arial"/>
                <a:cs typeface="Arial"/>
              </a:rPr>
              <a:t>Communicate</a:t>
            </a:r>
            <a:r>
              <a:rPr lang="en-US" sz="4400">
                <a:latin typeface="Arial"/>
                <a:cs typeface="Arial"/>
              </a:rPr>
              <a:t> your </a:t>
            </a:r>
            <a:r>
              <a:rPr lang="en-US" sz="4400" b="1">
                <a:latin typeface="Arial"/>
                <a:cs typeface="Arial"/>
              </a:rPr>
              <a:t>reasoning.</a:t>
            </a:r>
          </a:p>
        </p:txBody>
      </p:sp>
      <p:sp>
        <p:nvSpPr>
          <p:cNvPr id="9" name="B">
            <a:extLst>
              <a:ext uri="{FF2B5EF4-FFF2-40B4-BE49-F238E27FC236}">
                <a16:creationId xmlns:a16="http://schemas.microsoft.com/office/drawing/2014/main" id="{F91A42F4-D8C9-20A3-82EB-86FAD4D776A8}"/>
              </a:ext>
            </a:extLst>
          </p:cNvPr>
          <p:cNvSpPr txBox="1"/>
          <p:nvPr/>
        </p:nvSpPr>
        <p:spPr>
          <a:xfrm>
            <a:off x="670560" y="228776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D2386B91-F85A-17DD-80EB-F20033E4EC06}"/>
              </a:ext>
            </a:extLst>
          </p:cNvPr>
          <p:cNvSpPr>
            <a:spLocks noGrp="1"/>
          </p:cNvSpPr>
          <p:nvPr>
            <p:ph type="body" sz="quarter" idx="31"/>
          </p:nvPr>
        </p:nvSpPr>
        <p:spPr>
          <a:xfrm>
            <a:off x="1345520" y="2287768"/>
            <a:ext cx="10175920" cy="641396"/>
          </a:xfrm>
        </p:spPr>
        <p:txBody>
          <a:bodyPr anchor="ctr"/>
          <a:lstStyle/>
          <a:p>
            <a:r>
              <a:rPr lang="en-US" sz="3600"/>
              <a:t>4900</a:t>
            </a:r>
          </a:p>
        </p:txBody>
      </p:sp>
      <p:sp>
        <p:nvSpPr>
          <p:cNvPr id="10" name="B">
            <a:extLst>
              <a:ext uri="{FF2B5EF4-FFF2-40B4-BE49-F238E27FC236}">
                <a16:creationId xmlns:a16="http://schemas.microsoft.com/office/drawing/2014/main" id="{CA9D5B15-A13C-EE8B-176F-3B4E3454A1A2}"/>
              </a:ext>
            </a:extLst>
          </p:cNvPr>
          <p:cNvSpPr txBox="1"/>
          <p:nvPr/>
        </p:nvSpPr>
        <p:spPr>
          <a:xfrm>
            <a:off x="670559" y="313568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D36800D-CC3E-E3B5-7DCD-70D138BF62F0}"/>
              </a:ext>
            </a:extLst>
          </p:cNvPr>
          <p:cNvSpPr>
            <a:spLocks noGrp="1"/>
          </p:cNvSpPr>
          <p:nvPr>
            <p:ph type="body" sz="quarter" idx="30"/>
          </p:nvPr>
        </p:nvSpPr>
        <p:spPr>
          <a:xfrm>
            <a:off x="1345520" y="3135681"/>
            <a:ext cx="10175920" cy="641396"/>
          </a:xfrm>
        </p:spPr>
        <p:txBody>
          <a:bodyPr anchor="ctr"/>
          <a:lstStyle/>
          <a:p>
            <a:r>
              <a:rPr lang="en-US" sz="3600"/>
              <a:t>4880</a:t>
            </a:r>
          </a:p>
        </p:txBody>
      </p:sp>
      <p:sp>
        <p:nvSpPr>
          <p:cNvPr id="12" name="C">
            <a:extLst>
              <a:ext uri="{FF2B5EF4-FFF2-40B4-BE49-F238E27FC236}">
                <a16:creationId xmlns:a16="http://schemas.microsoft.com/office/drawing/2014/main" id="{B4746450-E4E2-359C-DFCA-0532E811BD1E}"/>
              </a:ext>
            </a:extLst>
          </p:cNvPr>
          <p:cNvSpPr txBox="1"/>
          <p:nvPr/>
        </p:nvSpPr>
        <p:spPr>
          <a:xfrm>
            <a:off x="670558" y="398573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8E51689C-1248-B7EC-3B77-B066AB5C6C0D}"/>
              </a:ext>
            </a:extLst>
          </p:cNvPr>
          <p:cNvSpPr>
            <a:spLocks noGrp="1"/>
          </p:cNvSpPr>
          <p:nvPr>
            <p:ph type="body" sz="quarter" idx="29"/>
          </p:nvPr>
        </p:nvSpPr>
        <p:spPr>
          <a:xfrm>
            <a:off x="1345520" y="3985734"/>
            <a:ext cx="10175920" cy="641396"/>
          </a:xfrm>
        </p:spPr>
        <p:txBody>
          <a:bodyPr anchor="ctr"/>
          <a:lstStyle/>
          <a:p>
            <a:r>
              <a:rPr lang="en-US" sz="3600"/>
              <a:t>4800</a:t>
            </a:r>
          </a:p>
        </p:txBody>
      </p:sp>
      <p:sp>
        <p:nvSpPr>
          <p:cNvPr id="11" name="D">
            <a:extLst>
              <a:ext uri="{FF2B5EF4-FFF2-40B4-BE49-F238E27FC236}">
                <a16:creationId xmlns:a16="http://schemas.microsoft.com/office/drawing/2014/main" id="{9B8955CE-78C1-2F30-7505-4CA44A86BDFF}"/>
              </a:ext>
            </a:extLst>
          </p:cNvPr>
          <p:cNvSpPr txBox="1"/>
          <p:nvPr/>
        </p:nvSpPr>
        <p:spPr>
          <a:xfrm>
            <a:off x="670557" y="483578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3F4C1E5-AFB7-4898-29F3-EB98C6384093}"/>
              </a:ext>
            </a:extLst>
          </p:cNvPr>
          <p:cNvSpPr>
            <a:spLocks noGrp="1"/>
          </p:cNvSpPr>
          <p:nvPr>
            <p:ph type="body" sz="quarter" idx="27"/>
          </p:nvPr>
        </p:nvSpPr>
        <p:spPr>
          <a:xfrm>
            <a:off x="1345520" y="4835787"/>
            <a:ext cx="10175920" cy="641396"/>
          </a:xfrm>
        </p:spPr>
        <p:txBody>
          <a:bodyPr anchor="ctr"/>
          <a:lstStyle/>
          <a:p>
            <a:r>
              <a:rPr lang="en-US" sz="3600"/>
              <a:t>4990</a:t>
            </a:r>
          </a:p>
        </p:txBody>
      </p:sp>
      <p:pic>
        <p:nvPicPr>
          <p:cNvPr id="4" name="Picture 3" descr="image of a finger selecting an option for a multiple choice or true and false">
            <a:extLst>
              <a:ext uri="{FF2B5EF4-FFF2-40B4-BE49-F238E27FC236}">
                <a16:creationId xmlns:a16="http://schemas.microsoft.com/office/drawing/2014/main" id="{112D24DC-0614-F76C-9A4C-36E299EAFF53}"/>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
        <p:nvSpPr>
          <p:cNvPr id="5" name="Text Placeholder">
            <a:extLst>
              <a:ext uri="{FF2B5EF4-FFF2-40B4-BE49-F238E27FC236}">
                <a16:creationId xmlns:a16="http://schemas.microsoft.com/office/drawing/2014/main" id="{627D095F-6D17-C79E-33C4-FFB314E31469}"/>
              </a:ext>
            </a:extLst>
          </p:cNvPr>
          <p:cNvSpPr txBox="1">
            <a:spLocks/>
          </p:cNvSpPr>
          <p:nvPr/>
        </p:nvSpPr>
        <p:spPr>
          <a:xfrm>
            <a:off x="512400" y="1188409"/>
            <a:ext cx="11243037" cy="754243"/>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a:latin typeface="Arial"/>
                <a:cs typeface="Arial"/>
              </a:rPr>
              <a:t>The </a:t>
            </a:r>
            <a:r>
              <a:rPr lang="en-US" sz="4400" b="1">
                <a:latin typeface="Arial"/>
                <a:cs typeface="Arial"/>
              </a:rPr>
              <a:t>number</a:t>
            </a:r>
            <a:r>
              <a:rPr lang="en-US" sz="4400">
                <a:latin typeface="Arial"/>
                <a:cs typeface="Arial"/>
              </a:rPr>
              <a:t> that is 10 </a:t>
            </a:r>
            <a:r>
              <a:rPr lang="en-US" sz="4400" b="1">
                <a:latin typeface="Arial"/>
                <a:cs typeface="Arial"/>
              </a:rPr>
              <a:t>more</a:t>
            </a:r>
            <a:r>
              <a:rPr lang="en-US" sz="4400">
                <a:latin typeface="Arial"/>
                <a:cs typeface="Arial"/>
              </a:rPr>
              <a:t> than 4890 is:</a:t>
            </a:r>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pic>
        <p:nvPicPr>
          <p:cNvPr id="4" name="Picture 3" descr="A group of eggs in a nest. There are 5 nests each with 4 in each group. Next to it is a question mark in a box that says array.">
            <a:extLst>
              <a:ext uri="{FF2B5EF4-FFF2-40B4-BE49-F238E27FC236}">
                <a16:creationId xmlns:a16="http://schemas.microsoft.com/office/drawing/2014/main" id="{F38CF0E2-2DC0-C4D2-9D9D-74A5AD33818C}"/>
              </a:ext>
            </a:extLst>
          </p:cNvPr>
          <p:cNvPicPr>
            <a:picLocks noChangeAspect="1"/>
          </p:cNvPicPr>
          <p:nvPr/>
        </p:nvPicPr>
        <p:blipFill>
          <a:blip r:embed="rId4"/>
          <a:stretch>
            <a:fillRect/>
          </a:stretch>
        </p:blipFill>
        <p:spPr>
          <a:xfrm>
            <a:off x="6092923" y="1410459"/>
            <a:ext cx="5724525" cy="4171950"/>
          </a:xfrm>
          <a:prstGeom prst="rect">
            <a:avLst/>
          </a:prstGeom>
        </p:spPr>
      </p:pic>
      <p:sp>
        <p:nvSpPr>
          <p:cNvPr id="5" name="TextBox 4">
            <a:extLst>
              <a:ext uri="{FF2B5EF4-FFF2-40B4-BE49-F238E27FC236}">
                <a16:creationId xmlns:a16="http://schemas.microsoft.com/office/drawing/2014/main" id="{E43FC385-5AE9-48BD-6A7A-E783208E6A3B}"/>
              </a:ext>
            </a:extLst>
          </p:cNvPr>
          <p:cNvSpPr txBox="1"/>
          <p:nvPr/>
        </p:nvSpPr>
        <p:spPr>
          <a:xfrm>
            <a:off x="454216" y="2117597"/>
            <a:ext cx="5408176" cy="332398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b="1">
                <a:latin typeface="Arial"/>
                <a:ea typeface="Arial"/>
                <a:cs typeface="Arial"/>
              </a:rPr>
              <a:t>Create an array for these eggs </a:t>
            </a:r>
            <a:r>
              <a:rPr lang="en-US" sz="4400">
                <a:latin typeface="Arial"/>
                <a:ea typeface="Arial"/>
                <a:cs typeface="Arial"/>
              </a:rPr>
              <a:t>and describe it.</a:t>
            </a:r>
            <a:endParaRPr lang="en-US" sz="4400">
              <a:cs typeface="Arial"/>
            </a:endParaRPr>
          </a:p>
          <a:p>
            <a:pPr algn="ctr"/>
            <a:endParaRPr lang="en-US" sz="1800"/>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4" name="TextBox 3">
            <a:extLst>
              <a:ext uri="{FF2B5EF4-FFF2-40B4-BE49-F238E27FC236}">
                <a16:creationId xmlns:a16="http://schemas.microsoft.com/office/drawing/2014/main" id="{DD55D7C2-AC02-F0C4-A3AA-0647DAEDA9A6}"/>
              </a:ext>
            </a:extLst>
          </p:cNvPr>
          <p:cNvSpPr txBox="1"/>
          <p:nvPr/>
        </p:nvSpPr>
        <p:spPr>
          <a:xfrm>
            <a:off x="506368" y="726473"/>
            <a:ext cx="10617632" cy="2052320"/>
          </a:xfrm>
          <a:prstGeom prst="rect">
            <a:avLst/>
          </a:prstGeom>
          <a:noFill/>
        </p:spPr>
        <p:txBody>
          <a:bodyPr wrap="square" lIns="0" tIns="0" rIns="0" bIns="0" rtlCol="0" anchor="t">
            <a:noAutofit/>
          </a:bodyPr>
          <a:lstStyle/>
          <a:p>
            <a:pPr algn="ctr">
              <a:lnSpc>
                <a:spcPct val="150000"/>
              </a:lnSpc>
            </a:pPr>
            <a:r>
              <a:rPr lang="en-AU" sz="4400" b="1"/>
              <a:t>Reorder</a:t>
            </a:r>
            <a:r>
              <a:rPr lang="en-AU" sz="4400"/>
              <a:t> the </a:t>
            </a:r>
            <a:r>
              <a:rPr lang="en-AU" sz="4400" b="1"/>
              <a:t>digits</a:t>
            </a:r>
            <a:r>
              <a:rPr lang="en-AU" sz="4400"/>
              <a:t> in each number to create the </a:t>
            </a:r>
            <a:r>
              <a:rPr lang="en-AU" sz="4400" b="1"/>
              <a:t>largest number</a:t>
            </a:r>
            <a:r>
              <a:rPr lang="en-AU" sz="4400"/>
              <a:t> possible</a:t>
            </a:r>
            <a:endParaRPr lang="en-AU" sz="4400">
              <a:cs typeface="Arial"/>
            </a:endParaRPr>
          </a:p>
          <a:p>
            <a:pPr marL="571500" indent="-571500" algn="ctr">
              <a:lnSpc>
                <a:spcPct val="150000"/>
              </a:lnSpc>
              <a:buFont typeface="Arial" panose="020B0604020202020204" pitchFamily="34" charset="0"/>
              <a:buChar char="•"/>
            </a:pPr>
            <a:r>
              <a:rPr lang="en-AU" sz="4400"/>
              <a:t>7831</a:t>
            </a:r>
          </a:p>
          <a:p>
            <a:pPr marL="571500" indent="-571500" algn="ctr">
              <a:lnSpc>
                <a:spcPct val="150000"/>
              </a:lnSpc>
              <a:buFont typeface="Arial" panose="020B0604020202020204" pitchFamily="34" charset="0"/>
              <a:buChar char="•"/>
            </a:pPr>
            <a:r>
              <a:rPr lang="en-AU" sz="4400"/>
              <a:t>7281 </a:t>
            </a:r>
          </a:p>
          <a:p>
            <a:pPr marL="571500" indent="-571500" algn="ctr">
              <a:lnSpc>
                <a:spcPct val="150000"/>
              </a:lnSpc>
              <a:buFont typeface="Arial" panose="020B0604020202020204" pitchFamily="34" charset="0"/>
              <a:buChar char="•"/>
            </a:pPr>
            <a:r>
              <a:rPr lang="en-AU" sz="4400"/>
              <a:t>9001</a:t>
            </a:r>
          </a:p>
        </p:txBody>
      </p:sp>
      <p:sp>
        <p:nvSpPr>
          <p:cNvPr id="5" name="Text Placeholder">
            <a:extLst>
              <a:ext uri="{FF2B5EF4-FFF2-40B4-BE49-F238E27FC236}">
                <a16:creationId xmlns:a16="http://schemas.microsoft.com/office/drawing/2014/main" id="{7EBC4059-A2B0-27FC-EC45-C237E0C6D38A}"/>
              </a:ext>
            </a:extLst>
          </p:cNvPr>
          <p:cNvSpPr txBox="1">
            <a:spLocks/>
          </p:cNvSpPr>
          <p:nvPr/>
        </p:nvSpPr>
        <p:spPr>
          <a:xfrm>
            <a:off x="2427396" y="5685840"/>
            <a:ext cx="8012168" cy="754243"/>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a:latin typeface="Arial"/>
                <a:cs typeface="Arial"/>
              </a:rPr>
              <a:t>Communicate</a:t>
            </a:r>
            <a:r>
              <a:rPr lang="en-US" sz="4400">
                <a:latin typeface="Arial"/>
                <a:cs typeface="Arial"/>
              </a:rPr>
              <a:t> your </a:t>
            </a:r>
            <a:r>
              <a:rPr lang="en-US" sz="4400" b="1">
                <a:latin typeface="Arial"/>
                <a:cs typeface="Arial"/>
              </a:rPr>
              <a:t>reasoning.</a:t>
            </a:r>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5" name="Rectangle 4">
            <a:extLst>
              <a:ext uri="{FF2B5EF4-FFF2-40B4-BE49-F238E27FC236}">
                <a16:creationId xmlns:a16="http://schemas.microsoft.com/office/drawing/2014/main" id="{14048579-39D0-5D20-4745-D94871CE1261}"/>
              </a:ext>
              <a:ext uri="{C183D7F6-B498-43B3-948B-1728B52AA6E4}">
                <adec:decorative xmlns:adec="http://schemas.microsoft.com/office/drawing/2017/decorative" val="1"/>
              </a:ext>
            </a:extLst>
          </p:cNvPr>
          <p:cNvSpPr/>
          <p:nvPr/>
        </p:nvSpPr>
        <p:spPr>
          <a:xfrm>
            <a:off x="9947396" y="2853194"/>
            <a:ext cx="1559744" cy="5532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15357B9E-D1A7-0653-9FFC-8265462A6213}"/>
              </a:ext>
            </a:extLst>
          </p:cNvPr>
          <p:cNvSpPr txBox="1"/>
          <p:nvPr/>
        </p:nvSpPr>
        <p:spPr>
          <a:xfrm>
            <a:off x="102742" y="2135679"/>
            <a:ext cx="4497856" cy="807137"/>
          </a:xfrm>
          <a:prstGeom prst="rect">
            <a:avLst/>
          </a:prstGeom>
          <a:noFill/>
        </p:spPr>
        <p:txBody>
          <a:bodyPr wrap="square" lIns="0" tIns="0" rIns="0" bIns="0" rtlCol="0" anchor="t">
            <a:noAutofit/>
          </a:bodyPr>
          <a:lstStyle/>
          <a:p>
            <a:pPr algn="ctr">
              <a:lnSpc>
                <a:spcPct val="150000"/>
              </a:lnSpc>
            </a:pPr>
            <a:r>
              <a:rPr lang="en-AU" sz="4400"/>
              <a:t>Complete the </a:t>
            </a:r>
            <a:r>
              <a:rPr lang="en-AU" sz="4400" b="1"/>
              <a:t>total</a:t>
            </a:r>
            <a:r>
              <a:rPr lang="en-AU" sz="4400"/>
              <a:t> column.</a:t>
            </a:r>
            <a:endParaRPr lang="en-AU" sz="4400">
              <a:cs typeface="Arial"/>
            </a:endParaRPr>
          </a:p>
        </p:txBody>
      </p:sp>
      <p:sp>
        <p:nvSpPr>
          <p:cNvPr id="8" name="Rectangle 7">
            <a:extLst>
              <a:ext uri="{FF2B5EF4-FFF2-40B4-BE49-F238E27FC236}">
                <a16:creationId xmlns:a16="http://schemas.microsoft.com/office/drawing/2014/main" id="{F7EA70B5-1119-E2FC-5D67-11F57B3F722A}"/>
              </a:ext>
              <a:ext uri="{C183D7F6-B498-43B3-948B-1728B52AA6E4}">
                <adec:decorative xmlns:adec="http://schemas.microsoft.com/office/drawing/2017/decorative" val="0"/>
              </a:ext>
            </a:extLst>
          </p:cNvPr>
          <p:cNvSpPr/>
          <p:nvPr/>
        </p:nvSpPr>
        <p:spPr>
          <a:xfrm>
            <a:off x="9947396" y="3582437"/>
            <a:ext cx="1559744" cy="5532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3064677A-E57E-DC4B-2CE8-C129A7BD3527}"/>
              </a:ext>
              <a:ext uri="{C183D7F6-B498-43B3-948B-1728B52AA6E4}">
                <adec:decorative xmlns:adec="http://schemas.microsoft.com/office/drawing/2017/decorative" val="0"/>
              </a:ext>
            </a:extLst>
          </p:cNvPr>
          <p:cNvSpPr/>
          <p:nvPr/>
        </p:nvSpPr>
        <p:spPr>
          <a:xfrm>
            <a:off x="9982584" y="5100079"/>
            <a:ext cx="1559744" cy="5532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a:extLst>
              <a:ext uri="{FF2B5EF4-FFF2-40B4-BE49-F238E27FC236}">
                <a16:creationId xmlns:a16="http://schemas.microsoft.com/office/drawing/2014/main" id="{0F79309D-8C7F-711C-C1CE-6A30619C0F39}"/>
              </a:ext>
              <a:ext uri="{C183D7F6-B498-43B3-948B-1728B52AA6E4}">
                <adec:decorative xmlns:adec="http://schemas.microsoft.com/office/drawing/2017/decorative" val="0"/>
              </a:ext>
            </a:extLst>
          </p:cNvPr>
          <p:cNvSpPr/>
          <p:nvPr/>
        </p:nvSpPr>
        <p:spPr>
          <a:xfrm>
            <a:off x="9982584" y="5829322"/>
            <a:ext cx="1559744" cy="5532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Rectangle 10">
            <a:extLst>
              <a:ext uri="{FF2B5EF4-FFF2-40B4-BE49-F238E27FC236}">
                <a16:creationId xmlns:a16="http://schemas.microsoft.com/office/drawing/2014/main" id="{038D196F-B2E0-A0C0-30FA-F1FF78AEA3DE}"/>
              </a:ext>
              <a:ext uri="{C183D7F6-B498-43B3-948B-1728B52AA6E4}">
                <adec:decorative xmlns:adec="http://schemas.microsoft.com/office/drawing/2017/decorative" val="0"/>
              </a:ext>
            </a:extLst>
          </p:cNvPr>
          <p:cNvSpPr/>
          <p:nvPr/>
        </p:nvSpPr>
        <p:spPr>
          <a:xfrm>
            <a:off x="9954009" y="4290397"/>
            <a:ext cx="1559744" cy="5532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5" name="Picture 14" descr="Table with data toss results and headings: score, tally marks, frequency and total. The example scored 3 zeroes, 2 tens, 7 twenties, 4 fifties and 4 hundreds.">
            <a:extLst>
              <a:ext uri="{FF2B5EF4-FFF2-40B4-BE49-F238E27FC236}">
                <a16:creationId xmlns:a16="http://schemas.microsoft.com/office/drawing/2014/main" id="{712AE0E1-96DD-25F4-F96A-26B52BCD7D22}"/>
              </a:ext>
            </a:extLst>
          </p:cNvPr>
          <p:cNvPicPr>
            <a:picLocks noChangeAspect="1"/>
          </p:cNvPicPr>
          <p:nvPr/>
        </p:nvPicPr>
        <p:blipFill>
          <a:blip r:embed="rId4"/>
          <a:stretch>
            <a:fillRect/>
          </a:stretch>
        </p:blipFill>
        <p:spPr>
          <a:xfrm>
            <a:off x="4485940" y="1184223"/>
            <a:ext cx="6998060" cy="4940554"/>
          </a:xfrm>
          <a:prstGeom prst="rect">
            <a:avLst/>
          </a:prstGeom>
        </p:spPr>
      </p:pic>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4" name="TextBox 3">
            <a:extLst>
              <a:ext uri="{FF2B5EF4-FFF2-40B4-BE49-F238E27FC236}">
                <a16:creationId xmlns:a16="http://schemas.microsoft.com/office/drawing/2014/main" id="{217EBB12-94B5-D8C1-B4B5-5ADD74761B88}"/>
              </a:ext>
            </a:extLst>
          </p:cNvPr>
          <p:cNvSpPr txBox="1"/>
          <p:nvPr/>
        </p:nvSpPr>
        <p:spPr>
          <a:xfrm>
            <a:off x="451525" y="1241181"/>
            <a:ext cx="11879600" cy="1553314"/>
          </a:xfrm>
          <a:prstGeom prst="rect">
            <a:avLst/>
          </a:prstGeom>
          <a:noFill/>
        </p:spPr>
        <p:txBody>
          <a:bodyPr wrap="square" lIns="0" tIns="0" rIns="0" bIns="0" rtlCol="0" anchor="t">
            <a:noAutofit/>
          </a:bodyPr>
          <a:lstStyle/>
          <a:p>
            <a:pPr algn="l">
              <a:lnSpc>
                <a:spcPct val="150000"/>
              </a:lnSpc>
            </a:pPr>
            <a:r>
              <a:rPr lang="en-AU" sz="4000"/>
              <a:t>Gabby said a rhombus has two pairs of </a:t>
            </a:r>
            <a:r>
              <a:rPr lang="en-AU" sz="4000" b="1"/>
              <a:t>parallel sides</a:t>
            </a:r>
            <a:r>
              <a:rPr lang="en-AU" sz="4000"/>
              <a:t>, all sides are not </a:t>
            </a:r>
            <a:r>
              <a:rPr lang="en-AU" sz="4000" b="1"/>
              <a:t>equal, </a:t>
            </a:r>
            <a:r>
              <a:rPr lang="en-AU" sz="4000"/>
              <a:t>but the </a:t>
            </a:r>
            <a:r>
              <a:rPr lang="en-AU" sz="4000" b="1"/>
              <a:t>opposite angles </a:t>
            </a:r>
            <a:r>
              <a:rPr lang="en-AU" sz="4000"/>
              <a:t>are </a:t>
            </a:r>
            <a:r>
              <a:rPr lang="en-AU" sz="4000" b="1"/>
              <a:t>equal</a:t>
            </a:r>
            <a:r>
              <a:rPr lang="en-AU" sz="4000"/>
              <a:t>.</a:t>
            </a:r>
            <a:endParaRPr lang="en-US"/>
          </a:p>
          <a:p>
            <a:pPr algn="l">
              <a:lnSpc>
                <a:spcPct val="150000"/>
              </a:lnSpc>
            </a:pPr>
            <a:endParaRPr lang="en-AU" sz="2000"/>
          </a:p>
          <a:p>
            <a:pPr algn="l">
              <a:lnSpc>
                <a:spcPct val="150000"/>
              </a:lnSpc>
            </a:pPr>
            <a:r>
              <a:rPr lang="en-AU" sz="4000"/>
              <a:t>Is she right? </a:t>
            </a:r>
            <a:endParaRPr lang="en-AU" sz="4000">
              <a:cs typeface="Arial" panose="020B0604020202020204"/>
            </a:endParaRPr>
          </a:p>
          <a:p>
            <a:pPr algn="l"/>
            <a:endParaRPr lang="en-AU" sz="2000"/>
          </a:p>
          <a:p>
            <a:pPr algn="l"/>
            <a:r>
              <a:rPr lang="en-AU" sz="4000" b="1"/>
              <a:t>Communicate </a:t>
            </a:r>
            <a:r>
              <a:rPr lang="en-AU" sz="4000"/>
              <a:t>your </a:t>
            </a:r>
            <a:r>
              <a:rPr lang="en-AU" sz="4000" b="1" dirty="0"/>
              <a:t>thinking</a:t>
            </a:r>
            <a:r>
              <a:rPr lang="en-AU" sz="4000"/>
              <a:t>.</a:t>
            </a:r>
          </a:p>
          <a:p>
            <a:pPr algn="l"/>
            <a:endParaRPr lang="en-AU" sz="1800"/>
          </a:p>
        </p:txBody>
      </p:sp>
      <p:pic>
        <p:nvPicPr>
          <p:cNvPr id="8" name="Picture 7" descr="A pink rhombus with the word inside it">
            <a:extLst>
              <a:ext uri="{FF2B5EF4-FFF2-40B4-BE49-F238E27FC236}">
                <a16:creationId xmlns:a16="http://schemas.microsoft.com/office/drawing/2014/main" id="{4593A246-2CF4-21C0-87A5-E99FCFD309A8}"/>
              </a:ext>
            </a:extLst>
          </p:cNvPr>
          <p:cNvPicPr>
            <a:picLocks noChangeAspect="1"/>
          </p:cNvPicPr>
          <p:nvPr/>
        </p:nvPicPr>
        <p:blipFill>
          <a:blip r:embed="rId4"/>
          <a:srcRect l="9481"/>
          <a:stretch>
            <a:fillRect/>
          </a:stretch>
        </p:blipFill>
        <p:spPr>
          <a:xfrm>
            <a:off x="7229324" y="3285360"/>
            <a:ext cx="4716652" cy="2683491"/>
          </a:xfrm>
          <a:prstGeom prst="rect">
            <a:avLst/>
          </a:prstGeom>
        </p:spPr>
      </p:pic>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449378" y="449377"/>
            <a:ext cx="10367268" cy="545601"/>
          </a:xfrm>
        </p:spPr>
        <p:txBody>
          <a:bodyPr/>
          <a:lstStyle/>
          <a:p>
            <a:r>
              <a:rPr lang="en-AU"/>
              <a:t>Activity 3 – before and after</a:t>
            </a:r>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
        <p:nvSpPr>
          <p:cNvPr id="5" name="TextBox 4">
            <a:extLst>
              <a:ext uri="{FF2B5EF4-FFF2-40B4-BE49-F238E27FC236}">
                <a16:creationId xmlns:a16="http://schemas.microsoft.com/office/drawing/2014/main" id="{7E1EB9EA-2633-0023-EB9E-52005DDCD827}"/>
              </a:ext>
            </a:extLst>
          </p:cNvPr>
          <p:cNvSpPr txBox="1"/>
          <p:nvPr/>
        </p:nvSpPr>
        <p:spPr>
          <a:xfrm>
            <a:off x="6503171" y="1243634"/>
            <a:ext cx="6096000" cy="64633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a:hlinkClick r:id="rId4"/>
              </a:rPr>
              <a:t>D10 Dice Roller - Roll a Virtual D10 Die</a:t>
            </a:r>
            <a:endParaRPr lang="en-US"/>
          </a:p>
          <a:p>
            <a:pPr algn="l"/>
            <a:endParaRPr lang="en-US" sz="1800"/>
          </a:p>
        </p:txBody>
      </p:sp>
      <p:pic>
        <p:nvPicPr>
          <p:cNvPr id="7" name="Picture 6">
            <a:extLst>
              <a:ext uri="{FF2B5EF4-FFF2-40B4-BE49-F238E27FC236}">
                <a16:creationId xmlns:a16="http://schemas.microsoft.com/office/drawing/2014/main" id="{4F18E077-9129-280D-F4EE-4AE16A41CA35}"/>
              </a:ext>
              <a:ext uri="{C183D7F6-B498-43B3-948B-1728B52AA6E4}">
                <adec:decorative xmlns:adec="http://schemas.microsoft.com/office/drawing/2017/decorative" val="1"/>
              </a:ext>
            </a:extLst>
          </p:cNvPr>
          <p:cNvPicPr>
            <a:picLocks noChangeAspect="1"/>
          </p:cNvPicPr>
          <p:nvPr/>
        </p:nvPicPr>
        <p:blipFill>
          <a:blip r:embed="rId5"/>
          <a:srcRect t="5475"/>
          <a:stretch>
            <a:fillRect/>
          </a:stretch>
        </p:blipFill>
        <p:spPr>
          <a:xfrm>
            <a:off x="460409" y="3970689"/>
            <a:ext cx="3008671" cy="984256"/>
          </a:xfrm>
          <a:prstGeom prst="rect">
            <a:avLst/>
          </a:prstGeom>
        </p:spPr>
      </p:pic>
      <p:pic>
        <p:nvPicPr>
          <p:cNvPr id="8" name="Picture 7" descr="A whiteboard with the number 6417 in the centre. The number 6416 is labelled as the number before and 6418 is labelled as the number after.">
            <a:extLst>
              <a:ext uri="{FF2B5EF4-FFF2-40B4-BE49-F238E27FC236}">
                <a16:creationId xmlns:a16="http://schemas.microsoft.com/office/drawing/2014/main" id="{E6E954B6-693D-F060-531D-CF47484299A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69080" y="1746470"/>
            <a:ext cx="6374718" cy="4474562"/>
          </a:xfrm>
          <a:prstGeom prst="rect">
            <a:avLst/>
          </a:prstGeom>
        </p:spPr>
      </p:pic>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2349160" y="1335487"/>
            <a:ext cx="7493680" cy="893226"/>
          </a:xfrm>
        </p:spPr>
        <p:txBody>
          <a:bodyPr/>
          <a:lstStyle/>
          <a:p>
            <a:r>
              <a:rPr lang="en-AU" sz="4400"/>
              <a:t>6589 is 100 </a:t>
            </a:r>
            <a:r>
              <a:rPr lang="en-AU" sz="4400" b="1"/>
              <a:t>less</a:t>
            </a:r>
            <a:r>
              <a:rPr lang="en-AU" sz="4400"/>
              <a:t> than 6489.</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3173562305"/>
              </p:ext>
            </p:extLst>
          </p:nvPr>
        </p:nvGraphicFramePr>
        <p:xfrm>
          <a:off x="2442981" y="3551825"/>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endParaRPr lang="en-US" sz="4400" b="1" kern="1200" dirty="0">
                        <a:solidFill>
                          <a:srgbClr val="146CFD"/>
                        </a:solidFill>
                        <a:latin typeface="+mn-lt"/>
                        <a:ea typeface="+mn-ea"/>
                        <a:cs typeface="Arial"/>
                      </a:endParaRP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5" name="Text Placeholder">
            <a:extLst>
              <a:ext uri="{FF2B5EF4-FFF2-40B4-BE49-F238E27FC236}">
                <a16:creationId xmlns:a16="http://schemas.microsoft.com/office/drawing/2014/main" id="{86038975-288C-0B04-D510-DC55FF293A78}"/>
              </a:ext>
            </a:extLst>
          </p:cNvPr>
          <p:cNvSpPr txBox="1">
            <a:spLocks/>
          </p:cNvSpPr>
          <p:nvPr/>
        </p:nvSpPr>
        <p:spPr>
          <a:xfrm>
            <a:off x="2089916" y="5145391"/>
            <a:ext cx="8012168" cy="754243"/>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a:latin typeface="Arial"/>
                <a:cs typeface="Arial"/>
              </a:rPr>
              <a:t>Communicate</a:t>
            </a:r>
            <a:r>
              <a:rPr lang="en-US" sz="4400">
                <a:latin typeface="Arial"/>
                <a:cs typeface="Arial"/>
              </a:rPr>
              <a:t> your </a:t>
            </a:r>
            <a:r>
              <a:rPr lang="en-US" sz="4400" b="1">
                <a:latin typeface="Arial"/>
                <a:cs typeface="Arial"/>
              </a:rPr>
              <a:t>reasoning.</a:t>
            </a:r>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5" name="TextBox 4">
            <a:extLst>
              <a:ext uri="{FF2B5EF4-FFF2-40B4-BE49-F238E27FC236}">
                <a16:creationId xmlns:a16="http://schemas.microsoft.com/office/drawing/2014/main" id="{8DFA43A3-27DD-6824-0C64-8225B6387B17}"/>
              </a:ext>
            </a:extLst>
          </p:cNvPr>
          <p:cNvSpPr txBox="1"/>
          <p:nvPr/>
        </p:nvSpPr>
        <p:spPr>
          <a:xfrm>
            <a:off x="789679" y="1968247"/>
            <a:ext cx="10901921" cy="292150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a:cs typeface="Arial"/>
              </a:rPr>
              <a:t>Record </a:t>
            </a:r>
            <a:r>
              <a:rPr lang="en-US" sz="4400" b="1">
                <a:cs typeface="Arial"/>
              </a:rPr>
              <a:t>multiples </a:t>
            </a:r>
            <a:r>
              <a:rPr lang="en-US" sz="4400">
                <a:cs typeface="Arial"/>
              </a:rPr>
              <a:t>of 2 and 4.</a:t>
            </a:r>
          </a:p>
          <a:p>
            <a:pPr algn="ctr">
              <a:lnSpc>
                <a:spcPct val="150000"/>
              </a:lnSpc>
            </a:pPr>
            <a:r>
              <a:rPr lang="en-AU" sz="4400"/>
              <a:t>What do you notice about the multiples of 4 compared to the multiples of 2?</a:t>
            </a:r>
            <a:endParaRPr lang="en-US" sz="4400">
              <a:cs typeface="Arial"/>
            </a:endParaRPr>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4" name="TextBox 3">
            <a:extLst>
              <a:ext uri="{FF2B5EF4-FFF2-40B4-BE49-F238E27FC236}">
                <a16:creationId xmlns:a16="http://schemas.microsoft.com/office/drawing/2014/main" id="{57656407-3DE8-4E28-1658-57A8D1D974EB}"/>
              </a:ext>
            </a:extLst>
          </p:cNvPr>
          <p:cNvSpPr txBox="1"/>
          <p:nvPr/>
        </p:nvSpPr>
        <p:spPr>
          <a:xfrm>
            <a:off x="360000" y="1910080"/>
            <a:ext cx="11585976" cy="1518920"/>
          </a:xfrm>
          <a:prstGeom prst="rect">
            <a:avLst/>
          </a:prstGeom>
          <a:noFill/>
        </p:spPr>
        <p:txBody>
          <a:bodyPr wrap="square" lIns="0" tIns="0" rIns="0" bIns="0" rtlCol="0">
            <a:noAutofit/>
          </a:bodyPr>
          <a:lstStyle/>
          <a:p>
            <a:pPr algn="ctr"/>
            <a:r>
              <a:rPr lang="en-AU" sz="4400" b="1"/>
              <a:t>Partition</a:t>
            </a:r>
            <a:r>
              <a:rPr lang="en-AU" sz="4400"/>
              <a:t> these numbers using </a:t>
            </a:r>
            <a:r>
              <a:rPr lang="en-AU" sz="4400" b="1"/>
              <a:t>non- standard </a:t>
            </a:r>
            <a:r>
              <a:rPr lang="en-AU" sz="4400"/>
              <a:t>forms</a:t>
            </a:r>
            <a:r>
              <a:rPr lang="en-AU" sz="4400" dirty="0"/>
              <a:t>:</a:t>
            </a:r>
            <a:endParaRPr lang="en-AU" sz="4400"/>
          </a:p>
          <a:p>
            <a:pPr algn="ctr"/>
            <a:endParaRPr lang="en-AU" sz="4400"/>
          </a:p>
          <a:p>
            <a:pPr marL="571500" indent="-571500" algn="ctr">
              <a:buFont typeface="Arial" panose="020B0604020202020204" pitchFamily="34" charset="0"/>
              <a:buChar char="•"/>
            </a:pPr>
            <a:r>
              <a:rPr lang="en-AU" sz="4400"/>
              <a:t>2009</a:t>
            </a:r>
          </a:p>
          <a:p>
            <a:pPr marL="571500" indent="-571500" algn="ctr">
              <a:buFont typeface="Arial" panose="020B0604020202020204" pitchFamily="34" charset="0"/>
              <a:buChar char="•"/>
            </a:pPr>
            <a:endParaRPr lang="en-AU" sz="4400"/>
          </a:p>
          <a:p>
            <a:pPr marL="571500" indent="-571500" algn="ctr">
              <a:buFont typeface="Arial" panose="020B0604020202020204" pitchFamily="34" charset="0"/>
              <a:buChar char="•"/>
            </a:pPr>
            <a:r>
              <a:rPr lang="en-AU" sz="4400"/>
              <a:t>6789</a:t>
            </a:r>
          </a:p>
          <a:p>
            <a:pPr algn="l"/>
            <a:endParaRPr lang="en-AU" sz="1800"/>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4" name="TextBox 3">
            <a:extLst>
              <a:ext uri="{FF2B5EF4-FFF2-40B4-BE49-F238E27FC236}">
                <a16:creationId xmlns:a16="http://schemas.microsoft.com/office/drawing/2014/main" id="{FEB8E44A-732F-BD02-F4D4-71C9FFA3F689}"/>
              </a:ext>
            </a:extLst>
          </p:cNvPr>
          <p:cNvSpPr txBox="1"/>
          <p:nvPr/>
        </p:nvSpPr>
        <p:spPr>
          <a:xfrm>
            <a:off x="1686560" y="2443480"/>
            <a:ext cx="8636000" cy="1676400"/>
          </a:xfrm>
          <a:prstGeom prst="rect">
            <a:avLst/>
          </a:prstGeom>
          <a:noFill/>
        </p:spPr>
        <p:txBody>
          <a:bodyPr wrap="square" lIns="0" tIns="0" rIns="0" bIns="0" rtlCol="0">
            <a:noAutofit/>
          </a:bodyPr>
          <a:lstStyle/>
          <a:p>
            <a:pPr algn="ctr"/>
            <a:r>
              <a:rPr lang="en-AU" sz="4400"/>
              <a:t>List the </a:t>
            </a:r>
            <a:r>
              <a:rPr lang="en-AU" sz="4400" b="1"/>
              <a:t>attributes</a:t>
            </a:r>
            <a:r>
              <a:rPr lang="en-AU" sz="4400"/>
              <a:t> of a </a:t>
            </a:r>
            <a:r>
              <a:rPr lang="en-AU" sz="4400" b="1"/>
              <a:t>dot plot.</a:t>
            </a:r>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4" name="TextBox 3">
            <a:extLst>
              <a:ext uri="{FF2B5EF4-FFF2-40B4-BE49-F238E27FC236}">
                <a16:creationId xmlns:a16="http://schemas.microsoft.com/office/drawing/2014/main" id="{B585562E-B9F2-D60D-280F-0C7DECFFA752}"/>
              </a:ext>
            </a:extLst>
          </p:cNvPr>
          <p:cNvSpPr txBox="1"/>
          <p:nvPr/>
        </p:nvSpPr>
        <p:spPr>
          <a:xfrm>
            <a:off x="338434" y="270821"/>
            <a:ext cx="5849976" cy="1569687"/>
          </a:xfrm>
          <a:prstGeom prst="rect">
            <a:avLst/>
          </a:prstGeom>
          <a:noFill/>
        </p:spPr>
        <p:txBody>
          <a:bodyPr wrap="square" lIns="0" tIns="0" rIns="0" bIns="0" rtlCol="0" anchor="t">
            <a:noAutofit/>
          </a:bodyPr>
          <a:lstStyle/>
          <a:p>
            <a:pPr algn="l"/>
            <a:endParaRPr lang="en-AU" sz="4400"/>
          </a:p>
          <a:p>
            <a:pPr algn="ctr">
              <a:lnSpc>
                <a:spcPct val="150000"/>
              </a:lnSpc>
            </a:pPr>
            <a:r>
              <a:rPr lang="en-AU" sz="4000"/>
              <a:t>Today is the </a:t>
            </a:r>
            <a:r>
              <a:rPr lang="en-AU" sz="4000" b="1"/>
              <a:t>first</a:t>
            </a:r>
            <a:r>
              <a:rPr lang="en-AU" sz="4000"/>
              <a:t> day of October. </a:t>
            </a:r>
            <a:endParaRPr lang="en-AU" sz="4000">
              <a:cs typeface="Arial" panose="020B0604020202020204"/>
            </a:endParaRPr>
          </a:p>
          <a:p>
            <a:pPr algn="ctr">
              <a:lnSpc>
                <a:spcPct val="150000"/>
              </a:lnSpc>
            </a:pPr>
            <a:r>
              <a:rPr lang="en-AU" sz="4000"/>
              <a:t>Jessica’s birthday is on the </a:t>
            </a:r>
            <a:r>
              <a:rPr lang="en-AU" sz="4000" b="1"/>
              <a:t>Monday 20 October</a:t>
            </a:r>
            <a:r>
              <a:rPr lang="en-AU" sz="4000"/>
              <a:t>. </a:t>
            </a:r>
            <a:r>
              <a:rPr lang="en-AU" sz="4000" b="1"/>
              <a:t>How many</a:t>
            </a:r>
            <a:r>
              <a:rPr lang="en-AU" sz="4000"/>
              <a:t> days </a:t>
            </a:r>
            <a:r>
              <a:rPr lang="en-AU" sz="4000" dirty="0"/>
              <a:t>until</a:t>
            </a:r>
            <a:r>
              <a:rPr lang="en-AU" sz="4000"/>
              <a:t> Jessica’s birthday?</a:t>
            </a:r>
            <a:endParaRPr lang="en-AU" sz="4000">
              <a:cs typeface="Arial" panose="020B0604020202020204"/>
            </a:endParaRPr>
          </a:p>
          <a:p>
            <a:pPr algn="l"/>
            <a:endParaRPr lang="en-AU" sz="1800"/>
          </a:p>
          <a:p>
            <a:pPr algn="l"/>
            <a:endParaRPr lang="en-AU" sz="1800"/>
          </a:p>
        </p:txBody>
      </p:sp>
      <p:pic>
        <p:nvPicPr>
          <p:cNvPr id="8" name="Picture 7" descr="A calendar with a spiral bound page">
            <a:extLst>
              <a:ext uri="{FF2B5EF4-FFF2-40B4-BE49-F238E27FC236}">
                <a16:creationId xmlns:a16="http://schemas.microsoft.com/office/drawing/2014/main" id="{B9227D03-F7F5-FF26-7715-3A2F11171BCB}"/>
              </a:ext>
            </a:extLst>
          </p:cNvPr>
          <p:cNvPicPr>
            <a:picLocks noChangeAspect="1"/>
          </p:cNvPicPr>
          <p:nvPr/>
        </p:nvPicPr>
        <p:blipFill>
          <a:blip r:embed="rId4">
            <a:extLst>
              <a:ext uri="{28A0092B-C50C-407E-A947-70E740481C1C}">
                <a14:useLocalDpi xmlns:a14="http://schemas.microsoft.com/office/drawing/2010/main" val="0"/>
              </a:ext>
            </a:extLst>
          </a:blip>
          <a:srcRect l="18058" t="16562" r="37716" b="25057"/>
          <a:stretch>
            <a:fillRect/>
          </a:stretch>
        </p:blipFill>
        <p:spPr>
          <a:xfrm>
            <a:off x="6685392" y="1442235"/>
            <a:ext cx="4820808" cy="449942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representing 4-digit numbers</a:t>
            </a:r>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3" name="Picture 2" descr="A gameboard of 12 squares showing some 4-digit numbers that would fit between the range of numbers.">
            <a:extLst>
              <a:ext uri="{FF2B5EF4-FFF2-40B4-BE49-F238E27FC236}">
                <a16:creationId xmlns:a16="http://schemas.microsoft.com/office/drawing/2014/main" id="{1E9BE34F-2CD4-E275-1DE1-5DDC1BB489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33825" y="1097258"/>
            <a:ext cx="7124350" cy="4631087"/>
          </a:xfrm>
          <a:prstGeom prst="rect">
            <a:avLst/>
          </a:prstGeom>
        </p:spPr>
      </p:pic>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39682-B13B-E2E6-A499-AE7CFEE8DFF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D856DE-9E15-F340-6484-81955C31DCF4}"/>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(3)</a:t>
            </a:r>
          </a:p>
        </p:txBody>
      </p:sp>
      <p:sp>
        <p:nvSpPr>
          <p:cNvPr id="15" name="Text Placeholder">
            <a:extLst>
              <a:ext uri="{FF2B5EF4-FFF2-40B4-BE49-F238E27FC236}">
                <a16:creationId xmlns:a16="http://schemas.microsoft.com/office/drawing/2014/main" id="{C96A552F-AC6B-6B29-144E-B61A631E97CE}"/>
              </a:ext>
            </a:extLst>
          </p:cNvPr>
          <p:cNvSpPr>
            <a:spLocks noGrp="1"/>
          </p:cNvSpPr>
          <p:nvPr>
            <p:ph type="body" sz="quarter" idx="28"/>
          </p:nvPr>
        </p:nvSpPr>
        <p:spPr>
          <a:xfrm>
            <a:off x="499881" y="905601"/>
            <a:ext cx="11243037" cy="754243"/>
          </a:xfrm>
        </p:spPr>
        <p:txBody>
          <a:bodyPr vert="horz" lIns="0" tIns="0" rIns="0" bIns="0" rtlCol="0" anchor="t">
            <a:noAutofit/>
          </a:bodyPr>
          <a:lstStyle/>
          <a:p>
            <a:r>
              <a:rPr lang="en-US" sz="4400">
                <a:latin typeface="Arial"/>
                <a:cs typeface="Arial"/>
              </a:rPr>
              <a:t>Complete the </a:t>
            </a:r>
            <a:r>
              <a:rPr lang="en-US" sz="4400" b="1">
                <a:latin typeface="Arial"/>
                <a:cs typeface="Arial"/>
              </a:rPr>
              <a:t>pattern</a:t>
            </a:r>
            <a:r>
              <a:rPr lang="en-US" sz="4400">
                <a:latin typeface="Arial"/>
                <a:cs typeface="Arial"/>
              </a:rPr>
              <a:t>: 27, 23,19, __</a:t>
            </a:r>
          </a:p>
        </p:txBody>
      </p:sp>
      <p:sp>
        <p:nvSpPr>
          <p:cNvPr id="9" name="B">
            <a:extLst>
              <a:ext uri="{FF2B5EF4-FFF2-40B4-BE49-F238E27FC236}">
                <a16:creationId xmlns:a16="http://schemas.microsoft.com/office/drawing/2014/main" id="{8B0BBB3C-FC71-5899-8378-058EBBB23E5C}"/>
              </a:ext>
            </a:extLst>
          </p:cNvPr>
          <p:cNvSpPr txBox="1"/>
          <p:nvPr/>
        </p:nvSpPr>
        <p:spPr>
          <a:xfrm>
            <a:off x="695960" y="248061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617CAF57-D7E5-901C-098A-364EC0461F45}"/>
              </a:ext>
            </a:extLst>
          </p:cNvPr>
          <p:cNvSpPr>
            <a:spLocks noGrp="1"/>
          </p:cNvSpPr>
          <p:nvPr>
            <p:ph type="body" sz="quarter" idx="31"/>
          </p:nvPr>
        </p:nvSpPr>
        <p:spPr>
          <a:xfrm>
            <a:off x="1370920" y="2448852"/>
            <a:ext cx="10175920" cy="641396"/>
          </a:xfrm>
        </p:spPr>
        <p:txBody>
          <a:bodyPr anchor="ctr"/>
          <a:lstStyle/>
          <a:p>
            <a:r>
              <a:rPr lang="en-US" sz="4400"/>
              <a:t>12</a:t>
            </a:r>
          </a:p>
        </p:txBody>
      </p:sp>
      <p:sp>
        <p:nvSpPr>
          <p:cNvPr id="10" name="B">
            <a:extLst>
              <a:ext uri="{FF2B5EF4-FFF2-40B4-BE49-F238E27FC236}">
                <a16:creationId xmlns:a16="http://schemas.microsoft.com/office/drawing/2014/main" id="{1BD38033-43C3-A0A1-88CB-3ABF45A80763}"/>
              </a:ext>
            </a:extLst>
          </p:cNvPr>
          <p:cNvSpPr txBox="1"/>
          <p:nvPr/>
        </p:nvSpPr>
        <p:spPr>
          <a:xfrm>
            <a:off x="695959" y="332852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70250DA3-3DC6-9EA8-7604-90B40861762F}"/>
              </a:ext>
            </a:extLst>
          </p:cNvPr>
          <p:cNvSpPr>
            <a:spLocks noGrp="1"/>
          </p:cNvSpPr>
          <p:nvPr>
            <p:ph type="body" sz="quarter" idx="30"/>
          </p:nvPr>
        </p:nvSpPr>
        <p:spPr>
          <a:xfrm>
            <a:off x="1370920" y="3296765"/>
            <a:ext cx="10175920" cy="641396"/>
          </a:xfrm>
        </p:spPr>
        <p:txBody>
          <a:bodyPr anchor="ctr"/>
          <a:lstStyle/>
          <a:p>
            <a:r>
              <a:rPr lang="en-US" sz="4400">
                <a:cs typeface="Arial"/>
              </a:rPr>
              <a:t>15</a:t>
            </a:r>
            <a:endParaRPr lang="en-US" sz="4400"/>
          </a:p>
        </p:txBody>
      </p:sp>
      <p:sp>
        <p:nvSpPr>
          <p:cNvPr id="12" name="C">
            <a:extLst>
              <a:ext uri="{FF2B5EF4-FFF2-40B4-BE49-F238E27FC236}">
                <a16:creationId xmlns:a16="http://schemas.microsoft.com/office/drawing/2014/main" id="{8CBBF2BA-64EE-4290-7852-A8F6CCA03E54}"/>
              </a:ext>
            </a:extLst>
          </p:cNvPr>
          <p:cNvSpPr txBox="1"/>
          <p:nvPr/>
        </p:nvSpPr>
        <p:spPr>
          <a:xfrm>
            <a:off x="695958" y="417858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6A85EAC1-9E3A-72A5-46CB-2C4D277F778E}"/>
              </a:ext>
            </a:extLst>
          </p:cNvPr>
          <p:cNvSpPr>
            <a:spLocks noGrp="1"/>
          </p:cNvSpPr>
          <p:nvPr>
            <p:ph type="body" sz="quarter" idx="29"/>
          </p:nvPr>
        </p:nvSpPr>
        <p:spPr>
          <a:xfrm>
            <a:off x="1370920" y="4146818"/>
            <a:ext cx="10175920" cy="641396"/>
          </a:xfrm>
        </p:spPr>
        <p:txBody>
          <a:bodyPr anchor="ctr"/>
          <a:lstStyle/>
          <a:p>
            <a:r>
              <a:rPr lang="en-US" sz="4400"/>
              <a:t>13</a:t>
            </a:r>
          </a:p>
        </p:txBody>
      </p:sp>
      <p:sp>
        <p:nvSpPr>
          <p:cNvPr id="11" name="D">
            <a:extLst>
              <a:ext uri="{FF2B5EF4-FFF2-40B4-BE49-F238E27FC236}">
                <a16:creationId xmlns:a16="http://schemas.microsoft.com/office/drawing/2014/main" id="{388F2FE9-EF5E-B818-71B7-04503183ED79}"/>
              </a:ext>
            </a:extLst>
          </p:cNvPr>
          <p:cNvSpPr txBox="1"/>
          <p:nvPr/>
        </p:nvSpPr>
        <p:spPr>
          <a:xfrm>
            <a:off x="695957" y="502863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ECE21105-74CC-BDAC-6C3E-529F6564C0C4}"/>
              </a:ext>
            </a:extLst>
          </p:cNvPr>
          <p:cNvSpPr>
            <a:spLocks noGrp="1"/>
          </p:cNvSpPr>
          <p:nvPr>
            <p:ph type="body" sz="quarter" idx="27"/>
          </p:nvPr>
        </p:nvSpPr>
        <p:spPr>
          <a:xfrm>
            <a:off x="1370920" y="4996871"/>
            <a:ext cx="10175920" cy="641396"/>
          </a:xfrm>
        </p:spPr>
        <p:txBody>
          <a:bodyPr anchor="ctr"/>
          <a:lstStyle/>
          <a:p>
            <a:r>
              <a:rPr lang="en-US" sz="4400"/>
              <a:t>23</a:t>
            </a:r>
          </a:p>
        </p:txBody>
      </p:sp>
      <p:pic>
        <p:nvPicPr>
          <p:cNvPr id="4" name="Picture 3" descr="image of a finger selecting an option for a multiple choice or true and false">
            <a:extLst>
              <a:ext uri="{FF2B5EF4-FFF2-40B4-BE49-F238E27FC236}">
                <a16:creationId xmlns:a16="http://schemas.microsoft.com/office/drawing/2014/main" id="{66E99097-B223-76CB-98A1-2D5773AF8E9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8DFF93A7-A994-839D-06D7-96E09B120AB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
        <p:nvSpPr>
          <p:cNvPr id="5" name="Text Placeholder">
            <a:extLst>
              <a:ext uri="{FF2B5EF4-FFF2-40B4-BE49-F238E27FC236}">
                <a16:creationId xmlns:a16="http://schemas.microsoft.com/office/drawing/2014/main" id="{AFE313CC-3958-7B36-786F-5F3763A338C5}"/>
              </a:ext>
            </a:extLst>
          </p:cNvPr>
          <p:cNvSpPr txBox="1">
            <a:spLocks/>
          </p:cNvSpPr>
          <p:nvPr/>
        </p:nvSpPr>
        <p:spPr>
          <a:xfrm>
            <a:off x="2427396" y="5685840"/>
            <a:ext cx="8012168" cy="754243"/>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a:latin typeface="Arial"/>
                <a:cs typeface="Arial"/>
              </a:rPr>
              <a:t>Communicate</a:t>
            </a:r>
            <a:r>
              <a:rPr lang="en-US" sz="4400">
                <a:latin typeface="Arial"/>
                <a:cs typeface="Arial"/>
              </a:rPr>
              <a:t> your </a:t>
            </a:r>
            <a:r>
              <a:rPr lang="en-US" sz="4400" b="1">
                <a:latin typeface="Arial"/>
                <a:cs typeface="Arial"/>
              </a:rPr>
              <a:t>reasoning.</a:t>
            </a:r>
          </a:p>
        </p:txBody>
      </p:sp>
    </p:spTree>
    <p:extLst>
      <p:ext uri="{BB962C8B-B14F-4D97-AF65-F5344CB8AC3E}">
        <p14:creationId xmlns:p14="http://schemas.microsoft.com/office/powerpoint/2010/main" val="17231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
        <p:nvSpPr>
          <p:cNvPr id="8" name="TextBox 7">
            <a:extLst>
              <a:ext uri="{FF2B5EF4-FFF2-40B4-BE49-F238E27FC236}">
                <a16:creationId xmlns:a16="http://schemas.microsoft.com/office/drawing/2014/main" id="{06476392-E293-4627-4C70-0FC39C3A1B71}"/>
              </a:ext>
            </a:extLst>
          </p:cNvPr>
          <p:cNvSpPr txBox="1"/>
          <p:nvPr/>
        </p:nvSpPr>
        <p:spPr>
          <a:xfrm>
            <a:off x="4531401" y="1912824"/>
            <a:ext cx="7312599" cy="292150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b="1">
                <a:cs typeface="Arial"/>
              </a:rPr>
              <a:t>Halve</a:t>
            </a:r>
            <a:r>
              <a:rPr lang="en-US" sz="4400">
                <a:cs typeface="Arial"/>
              </a:rPr>
              <a:t> the number of blocks and create a matching </a:t>
            </a:r>
            <a:r>
              <a:rPr lang="en-US" sz="4400" b="1">
                <a:cs typeface="Arial"/>
              </a:rPr>
              <a:t>division equation.</a:t>
            </a:r>
            <a:endParaRPr lang="en-US" b="1"/>
          </a:p>
        </p:txBody>
      </p:sp>
      <p:pic>
        <p:nvPicPr>
          <p:cNvPr id="10" name="Picture 9">
            <a:extLst>
              <a:ext uri="{FF2B5EF4-FFF2-40B4-BE49-F238E27FC236}">
                <a16:creationId xmlns:a16="http://schemas.microsoft.com/office/drawing/2014/main" id="{C734077A-9337-DB4B-2CF6-2FED4DD9EC23}"/>
              </a:ext>
            </a:extLst>
          </p:cNvPr>
          <p:cNvPicPr>
            <a:picLocks noChangeAspect="1"/>
          </p:cNvPicPr>
          <p:nvPr/>
        </p:nvPicPr>
        <p:blipFill>
          <a:blip r:embed="rId4"/>
          <a:stretch>
            <a:fillRect/>
          </a:stretch>
        </p:blipFill>
        <p:spPr>
          <a:xfrm>
            <a:off x="530695" y="1184223"/>
            <a:ext cx="4000706" cy="5035809"/>
          </a:xfrm>
          <a:prstGeom prst="rect">
            <a:avLst/>
          </a:prstGeom>
        </p:spPr>
      </p:pic>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7" name="TextBox 6">
            <a:extLst>
              <a:ext uri="{FF2B5EF4-FFF2-40B4-BE49-F238E27FC236}">
                <a16:creationId xmlns:a16="http://schemas.microsoft.com/office/drawing/2014/main" id="{F13CB368-1FF6-95DC-F4A4-43A377A18850}"/>
              </a:ext>
            </a:extLst>
          </p:cNvPr>
          <p:cNvSpPr txBox="1"/>
          <p:nvPr/>
        </p:nvSpPr>
        <p:spPr>
          <a:xfrm>
            <a:off x="485919" y="1184223"/>
            <a:ext cx="5057715" cy="1097280"/>
          </a:xfrm>
          <a:prstGeom prst="rect">
            <a:avLst/>
          </a:prstGeom>
          <a:noFill/>
        </p:spPr>
        <p:txBody>
          <a:bodyPr wrap="square" lIns="0" tIns="0" rIns="0" bIns="0" rtlCol="0" anchor="t">
            <a:noAutofit/>
          </a:bodyPr>
          <a:lstStyle/>
          <a:p>
            <a:pPr algn="l">
              <a:lnSpc>
                <a:spcPct val="150000"/>
              </a:lnSpc>
            </a:pPr>
            <a:r>
              <a:rPr lang="en-AU" sz="4400"/>
              <a:t>Identify the number of </a:t>
            </a:r>
            <a:r>
              <a:rPr lang="en-AU" sz="4400" b="1"/>
              <a:t>thousands</a:t>
            </a:r>
            <a:r>
              <a:rPr lang="en-AU" sz="4400"/>
              <a:t>, </a:t>
            </a:r>
            <a:r>
              <a:rPr lang="en-AU" sz="4400" b="1"/>
              <a:t>hundreds, tens </a:t>
            </a:r>
            <a:r>
              <a:rPr lang="en-AU" sz="4400"/>
              <a:t>and </a:t>
            </a:r>
            <a:r>
              <a:rPr lang="en-AU" sz="4400" b="1"/>
              <a:t>ones</a:t>
            </a:r>
            <a:r>
              <a:rPr lang="en-AU" sz="4400"/>
              <a:t> in this representation.</a:t>
            </a:r>
            <a:endParaRPr lang="en-US"/>
          </a:p>
          <a:p>
            <a:pPr algn="l"/>
            <a:endParaRPr lang="en-AU" sz="1800"/>
          </a:p>
          <a:p>
            <a:pPr algn="l"/>
            <a:endParaRPr lang="en-AU" sz="1800"/>
          </a:p>
        </p:txBody>
      </p:sp>
      <p:pic>
        <p:nvPicPr>
          <p:cNvPr id="10" name="Picture 9" descr="A group of cubes with different sizes&#10;&#10;AI-generated content may be incorrect.">
            <a:extLst>
              <a:ext uri="{FF2B5EF4-FFF2-40B4-BE49-F238E27FC236}">
                <a16:creationId xmlns:a16="http://schemas.microsoft.com/office/drawing/2014/main" id="{59F0D668-A388-501B-6C1F-F1AF00931A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52968" y="1184223"/>
            <a:ext cx="6821224" cy="4822878"/>
          </a:xfrm>
          <a:prstGeom prst="rect">
            <a:avLst/>
          </a:prstGeom>
        </p:spPr>
      </p:pic>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4" name="TextBox 3">
            <a:extLst>
              <a:ext uri="{FF2B5EF4-FFF2-40B4-BE49-F238E27FC236}">
                <a16:creationId xmlns:a16="http://schemas.microsoft.com/office/drawing/2014/main" id="{1CDDEC1E-4ED7-2A83-589C-4966F061C523}"/>
              </a:ext>
            </a:extLst>
          </p:cNvPr>
          <p:cNvSpPr txBox="1"/>
          <p:nvPr/>
        </p:nvSpPr>
        <p:spPr>
          <a:xfrm>
            <a:off x="914400" y="2316480"/>
            <a:ext cx="9975428" cy="1412240"/>
          </a:xfrm>
          <a:prstGeom prst="rect">
            <a:avLst/>
          </a:prstGeom>
          <a:noFill/>
        </p:spPr>
        <p:txBody>
          <a:bodyPr wrap="square" lIns="0" tIns="0" rIns="0" bIns="0" rtlCol="0">
            <a:noAutofit/>
          </a:bodyPr>
          <a:lstStyle/>
          <a:p>
            <a:pPr algn="ctr"/>
            <a:r>
              <a:rPr lang="en-AU" sz="4400"/>
              <a:t>List the </a:t>
            </a:r>
            <a:r>
              <a:rPr lang="en-AU" sz="4400" b="1"/>
              <a:t>attributes</a:t>
            </a:r>
            <a:r>
              <a:rPr lang="en-AU" sz="4400"/>
              <a:t> of a </a:t>
            </a:r>
            <a:r>
              <a:rPr lang="en-AU" sz="4400" b="1"/>
              <a:t>column graph.</a:t>
            </a:r>
            <a:endParaRPr lang="en-AU" sz="4400"/>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4" name="Rectangle 1">
            <a:extLst>
              <a:ext uri="{FF2B5EF4-FFF2-40B4-BE49-F238E27FC236}">
                <a16:creationId xmlns:a16="http://schemas.microsoft.com/office/drawing/2014/main" id="{2FAA745C-2CCA-8A17-9929-01454EB6EBF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5" name="Rectangle 2">
            <a:extLst>
              <a:ext uri="{FF2B5EF4-FFF2-40B4-BE49-F238E27FC236}">
                <a16:creationId xmlns:a16="http://schemas.microsoft.com/office/drawing/2014/main" id="{57CF7105-F02A-E4D1-4B1A-8FC5ACCF5B6C}"/>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pic>
        <p:nvPicPr>
          <p:cNvPr id="8" name="Picture 7" descr="An analog clock with time seven forty five displayed">
            <a:extLst>
              <a:ext uri="{FF2B5EF4-FFF2-40B4-BE49-F238E27FC236}">
                <a16:creationId xmlns:a16="http://schemas.microsoft.com/office/drawing/2014/main" id="{4E46F7CD-1586-A6AF-0197-539005F65284}"/>
              </a:ext>
            </a:extLst>
          </p:cNvPr>
          <p:cNvPicPr>
            <a:picLocks noChangeAspect="1"/>
          </p:cNvPicPr>
          <p:nvPr/>
        </p:nvPicPr>
        <p:blipFill>
          <a:blip r:embed="rId4"/>
          <a:stretch>
            <a:fillRect/>
          </a:stretch>
        </p:blipFill>
        <p:spPr>
          <a:xfrm>
            <a:off x="4322580" y="2600064"/>
            <a:ext cx="3851639" cy="3114090"/>
          </a:xfrm>
          <a:prstGeom prst="rect">
            <a:avLst/>
          </a:prstGeom>
        </p:spPr>
      </p:pic>
      <p:sp>
        <p:nvSpPr>
          <p:cNvPr id="7" name="TextBox 6">
            <a:extLst>
              <a:ext uri="{FF2B5EF4-FFF2-40B4-BE49-F238E27FC236}">
                <a16:creationId xmlns:a16="http://schemas.microsoft.com/office/drawing/2014/main" id="{3A38A845-7073-84FB-E74C-DB720131C664}"/>
              </a:ext>
            </a:extLst>
          </p:cNvPr>
          <p:cNvSpPr txBox="1"/>
          <p:nvPr/>
        </p:nvSpPr>
        <p:spPr>
          <a:xfrm>
            <a:off x="401025" y="785706"/>
            <a:ext cx="11386800" cy="812795"/>
          </a:xfrm>
          <a:prstGeom prst="rect">
            <a:avLst/>
          </a:prstGeom>
          <a:noFill/>
        </p:spPr>
        <p:txBody>
          <a:bodyPr wrap="square" lIns="0" tIns="0" rIns="0" bIns="0" rtlCol="0" anchor="t">
            <a:noAutofit/>
          </a:bodyPr>
          <a:lstStyle/>
          <a:p>
            <a:pPr algn="ctr">
              <a:lnSpc>
                <a:spcPct val="150000"/>
              </a:lnSpc>
            </a:pPr>
            <a:r>
              <a:rPr lang="en-AU" sz="4000"/>
              <a:t>Jamie said it was </a:t>
            </a:r>
            <a:r>
              <a:rPr lang="en-AU" sz="4000" b="1"/>
              <a:t>quarter past 7</a:t>
            </a:r>
            <a:r>
              <a:rPr lang="en-AU" sz="4000"/>
              <a:t>.</a:t>
            </a:r>
            <a:endParaRPr lang="en-US"/>
          </a:p>
          <a:p>
            <a:pPr algn="ctr">
              <a:lnSpc>
                <a:spcPct val="150000"/>
              </a:lnSpc>
            </a:pPr>
            <a:r>
              <a:rPr lang="en-AU" sz="4000"/>
              <a:t>Is he correct?</a:t>
            </a:r>
            <a:endParaRPr lang="en-AU" sz="4000">
              <a:cs typeface="Arial" panose="020B0604020202020204"/>
            </a:endParaRPr>
          </a:p>
          <a:p>
            <a:pPr algn="ctr"/>
            <a:endParaRPr lang="en-AU" sz="4400"/>
          </a:p>
        </p:txBody>
      </p:sp>
      <p:sp>
        <p:nvSpPr>
          <p:cNvPr id="10" name="TextBox 9">
            <a:extLst>
              <a:ext uri="{FF2B5EF4-FFF2-40B4-BE49-F238E27FC236}">
                <a16:creationId xmlns:a16="http://schemas.microsoft.com/office/drawing/2014/main" id="{7283D0F2-F61A-9F8F-6915-9C03C2A55366}"/>
              </a:ext>
            </a:extLst>
          </p:cNvPr>
          <p:cNvSpPr txBox="1"/>
          <p:nvPr/>
        </p:nvSpPr>
        <p:spPr>
          <a:xfrm>
            <a:off x="3891336" y="5901699"/>
            <a:ext cx="6097712" cy="707886"/>
          </a:xfrm>
          <a:prstGeom prst="rect">
            <a:avLst/>
          </a:prstGeom>
          <a:noFill/>
        </p:spPr>
        <p:txBody>
          <a:bodyPr wrap="square">
            <a:spAutoFit/>
          </a:bodyPr>
          <a:lstStyle/>
          <a:p>
            <a:r>
              <a:rPr lang="en-AU" sz="4000" b="1"/>
              <a:t>Explain</a:t>
            </a:r>
            <a:r>
              <a:rPr lang="en-AU" sz="4000"/>
              <a:t> your thinking</a:t>
            </a:r>
            <a:r>
              <a:rPr lang="en-AU" sz="2400"/>
              <a:t>.</a:t>
            </a:r>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patterns of multiples</a:t>
            </a:r>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pic>
        <p:nvPicPr>
          <p:cNvPr id="3" name="Picture 2" descr="Number patterns made from numbers and shapes. These include increasing by 2, doubling and decreasing by 2. &#10;Pattern 1 is  2, 4, 6, 8, 10. Pattern 2 is 2, 4, 8, 16, 32. Pattern 3 is 17, 13, 9, 5,1. Pattern 4 25, 16, 9, 4, 1. Pattern 5 is a pattern with emoji images.">
            <a:extLst>
              <a:ext uri="{FF2B5EF4-FFF2-40B4-BE49-F238E27FC236}">
                <a16:creationId xmlns:a16="http://schemas.microsoft.com/office/drawing/2014/main" id="{0C70BA96-6069-AE86-054B-0FDAAD145B0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948190" y="982118"/>
            <a:ext cx="3815900" cy="5533882"/>
          </a:xfrm>
          <a:prstGeom prst="rect">
            <a:avLst/>
          </a:prstGeom>
          <a:noFill/>
          <a:ln>
            <a:noFill/>
          </a:ln>
        </p:spPr>
      </p:pic>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240963" y="1746329"/>
            <a:ext cx="11243037" cy="893226"/>
          </a:xfrm>
        </p:spPr>
        <p:txBody>
          <a:bodyPr vert="horz" lIns="0" tIns="0" rIns="0" bIns="0" rtlCol="0" anchor="t">
            <a:noAutofit/>
          </a:bodyPr>
          <a:lstStyle/>
          <a:p>
            <a:pPr algn="ctr"/>
            <a:r>
              <a:rPr lang="en-AU" sz="4400">
                <a:latin typeface="Arial"/>
                <a:cs typeface="Arial"/>
              </a:rPr>
              <a:t>The </a:t>
            </a:r>
            <a:r>
              <a:rPr lang="en-AU" sz="4400" b="1">
                <a:latin typeface="Arial"/>
                <a:cs typeface="Arial"/>
              </a:rPr>
              <a:t>number pattern decreases </a:t>
            </a:r>
            <a:r>
              <a:rPr lang="en-AU" sz="4400">
                <a:latin typeface="Arial"/>
                <a:cs typeface="Arial"/>
              </a:rPr>
              <a:t>by 4:</a:t>
            </a:r>
          </a:p>
          <a:p>
            <a:pPr algn="ctr"/>
            <a:r>
              <a:rPr lang="en-AU" sz="4400">
                <a:latin typeface="Arial"/>
                <a:cs typeface="Arial"/>
              </a:rPr>
              <a:t>78, 74, 70, 66</a:t>
            </a:r>
            <a:endParaRPr lang="en-AU" sz="4400"/>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3675641119"/>
              </p:ext>
            </p:extLst>
          </p:nvPr>
        </p:nvGraphicFramePr>
        <p:xfrm>
          <a:off x="2442981" y="4858932"/>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endParaRPr lang="en-US" sz="4400" b="1" kern="1200" dirty="0">
                        <a:solidFill>
                          <a:srgbClr val="146CFD"/>
                        </a:solidFill>
                        <a:latin typeface="+mn-lt"/>
                        <a:ea typeface="+mn-ea"/>
                        <a:cs typeface="Arial"/>
                      </a:endParaRP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endParaRPr lang="en-US" sz="4400" b="1" kern="1200" dirty="0">
                        <a:solidFill>
                          <a:srgbClr val="146CFD"/>
                        </a:solidFill>
                        <a:latin typeface="+mn-lt"/>
                        <a:ea typeface="+mn-ea"/>
                        <a:cs typeface="Arial"/>
                      </a:endParaRP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pic>
        <p:nvPicPr>
          <p:cNvPr id="5" name="Picture 4" descr="A triangle with the number 32 on the top and 2 question marks below. A triangle with the number 40 on the top and two question marks below.">
            <a:extLst>
              <a:ext uri="{FF2B5EF4-FFF2-40B4-BE49-F238E27FC236}">
                <a16:creationId xmlns:a16="http://schemas.microsoft.com/office/drawing/2014/main" id="{0BACC8B7-857A-1F51-68A7-99674BFBF02E}"/>
              </a:ext>
            </a:extLst>
          </p:cNvPr>
          <p:cNvPicPr>
            <a:picLocks noChangeAspect="1"/>
          </p:cNvPicPr>
          <p:nvPr/>
        </p:nvPicPr>
        <p:blipFill>
          <a:blip r:embed="rId4"/>
          <a:stretch>
            <a:fillRect/>
          </a:stretch>
        </p:blipFill>
        <p:spPr>
          <a:xfrm>
            <a:off x="462017" y="905600"/>
            <a:ext cx="3864722" cy="2808000"/>
          </a:xfrm>
          <a:prstGeom prst="rect">
            <a:avLst/>
          </a:prstGeom>
        </p:spPr>
      </p:pic>
      <p:sp>
        <p:nvSpPr>
          <p:cNvPr id="8" name="TextBox 7">
            <a:extLst>
              <a:ext uri="{FF2B5EF4-FFF2-40B4-BE49-F238E27FC236}">
                <a16:creationId xmlns:a16="http://schemas.microsoft.com/office/drawing/2014/main" id="{F87790AB-FFF5-6F94-3B63-4FABC53C4AE9}"/>
              </a:ext>
            </a:extLst>
          </p:cNvPr>
          <p:cNvSpPr txBox="1"/>
          <p:nvPr/>
        </p:nvSpPr>
        <p:spPr>
          <a:xfrm>
            <a:off x="4522066" y="2071508"/>
            <a:ext cx="6980183" cy="292150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a:cs typeface="Arial"/>
              </a:rPr>
              <a:t>Record the </a:t>
            </a:r>
            <a:r>
              <a:rPr lang="en-US" sz="4400" b="1">
                <a:cs typeface="Arial"/>
              </a:rPr>
              <a:t>multiplication fact family</a:t>
            </a:r>
            <a:r>
              <a:rPr lang="en-US" sz="4400">
                <a:cs typeface="Arial"/>
              </a:rPr>
              <a:t> for the numbers </a:t>
            </a:r>
            <a:r>
              <a:rPr lang="en-US" sz="4400" b="1">
                <a:cs typeface="Arial"/>
              </a:rPr>
              <a:t>32</a:t>
            </a:r>
            <a:r>
              <a:rPr lang="en-US" sz="4400">
                <a:cs typeface="Arial"/>
              </a:rPr>
              <a:t> and </a:t>
            </a:r>
            <a:r>
              <a:rPr lang="en-US" sz="4400" b="1">
                <a:cs typeface="Arial"/>
              </a:rPr>
              <a:t>40</a:t>
            </a:r>
            <a:r>
              <a:rPr lang="en-US" sz="4400">
                <a:cs typeface="Arial"/>
              </a:rPr>
              <a:t>.</a:t>
            </a:r>
            <a:endParaRPr lang="en-US">
              <a:cs typeface="Arial" panose="020B0604020202020204"/>
            </a:endParaRPr>
          </a:p>
        </p:txBody>
      </p:sp>
      <p:pic>
        <p:nvPicPr>
          <p:cNvPr id="9" name="Picture 8" descr="A triangle with question marks&#10;&#10;AI-generated content may be incorrect.">
            <a:extLst>
              <a:ext uri="{FF2B5EF4-FFF2-40B4-BE49-F238E27FC236}">
                <a16:creationId xmlns:a16="http://schemas.microsoft.com/office/drawing/2014/main" id="{4059B944-5727-2378-D6F4-B92EB8B17987}"/>
              </a:ext>
            </a:extLst>
          </p:cNvPr>
          <p:cNvPicPr>
            <a:picLocks noChangeAspect="1"/>
          </p:cNvPicPr>
          <p:nvPr/>
        </p:nvPicPr>
        <p:blipFill>
          <a:blip r:embed="rId5"/>
          <a:stretch>
            <a:fillRect/>
          </a:stretch>
        </p:blipFill>
        <p:spPr>
          <a:xfrm>
            <a:off x="608912" y="3798000"/>
            <a:ext cx="3570932" cy="2808000"/>
          </a:xfrm>
          <a:prstGeom prst="rect">
            <a:avLst/>
          </a:prstGeom>
        </p:spPr>
      </p:pic>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4" name="TextBox 3">
            <a:extLst>
              <a:ext uri="{FF2B5EF4-FFF2-40B4-BE49-F238E27FC236}">
                <a16:creationId xmlns:a16="http://schemas.microsoft.com/office/drawing/2014/main" id="{004FE43F-3F39-C83D-9B57-16D0194D68FF}"/>
              </a:ext>
            </a:extLst>
          </p:cNvPr>
          <p:cNvSpPr txBox="1"/>
          <p:nvPr/>
        </p:nvSpPr>
        <p:spPr>
          <a:xfrm>
            <a:off x="246024" y="1112274"/>
            <a:ext cx="11521440" cy="2113280"/>
          </a:xfrm>
          <a:prstGeom prst="rect">
            <a:avLst/>
          </a:prstGeom>
          <a:noFill/>
        </p:spPr>
        <p:txBody>
          <a:bodyPr wrap="square" lIns="0" tIns="0" rIns="0" bIns="0" rtlCol="0" anchor="t">
            <a:noAutofit/>
          </a:bodyPr>
          <a:lstStyle/>
          <a:p>
            <a:pPr algn="ctr">
              <a:lnSpc>
                <a:spcPct val="150000"/>
              </a:lnSpc>
            </a:pPr>
            <a:r>
              <a:rPr lang="en-AU" sz="4400"/>
              <a:t>Use the</a:t>
            </a:r>
            <a:r>
              <a:rPr lang="en-AU" sz="4400" b="1"/>
              <a:t> bridging strategy </a:t>
            </a:r>
            <a:r>
              <a:rPr lang="en-AU" sz="4400"/>
              <a:t>to solve</a:t>
            </a:r>
            <a:endParaRPr lang="en-US"/>
          </a:p>
          <a:p>
            <a:pPr algn="ctr"/>
            <a:endParaRPr lang="en-AU" sz="4400"/>
          </a:p>
          <a:p>
            <a:pPr algn="ctr"/>
            <a:r>
              <a:rPr lang="en-AU" sz="5400" dirty="0"/>
              <a:t>47 + 35</a:t>
            </a:r>
          </a:p>
        </p:txBody>
      </p:sp>
      <p:sp>
        <p:nvSpPr>
          <p:cNvPr id="10" name="TextBox 9">
            <a:extLst>
              <a:ext uri="{FF2B5EF4-FFF2-40B4-BE49-F238E27FC236}">
                <a16:creationId xmlns:a16="http://schemas.microsoft.com/office/drawing/2014/main" id="{CC83D125-7607-01ED-9282-7CD6AC370B84}"/>
              </a:ext>
            </a:extLst>
          </p:cNvPr>
          <p:cNvSpPr txBox="1"/>
          <p:nvPr/>
        </p:nvSpPr>
        <p:spPr>
          <a:xfrm>
            <a:off x="360000" y="4689086"/>
            <a:ext cx="11585976" cy="1998176"/>
          </a:xfrm>
          <a:prstGeom prst="rect">
            <a:avLst/>
          </a:prstGeom>
          <a:noFill/>
        </p:spPr>
        <p:txBody>
          <a:bodyPr wrap="square">
            <a:spAutoFit/>
          </a:bodyPr>
          <a:lstStyle/>
          <a:p>
            <a:pPr algn="ctr">
              <a:lnSpc>
                <a:spcPct val="150000"/>
              </a:lnSpc>
            </a:pPr>
            <a:r>
              <a:rPr lang="en-AU" sz="4400" b="1" dirty="0">
                <a:effectLst/>
                <a:latin typeface="Arial" panose="020B0604020202020204" pitchFamily="34" charset="0"/>
                <a:ea typeface="Calibri" panose="020F0502020204030204" pitchFamily="34" charset="0"/>
              </a:rPr>
              <a:t>Record</a:t>
            </a:r>
            <a:r>
              <a:rPr lang="en-AU" sz="4400" dirty="0">
                <a:effectLst/>
                <a:latin typeface="Arial" panose="020B0604020202020204" pitchFamily="34" charset="0"/>
                <a:ea typeface="Calibri" panose="020F0502020204030204" pitchFamily="34" charset="0"/>
              </a:rPr>
              <a:t> your thinking on an </a:t>
            </a:r>
            <a:r>
              <a:rPr lang="en-AU" sz="4400" b="1" dirty="0">
                <a:effectLst/>
                <a:latin typeface="Arial" panose="020B0604020202020204" pitchFamily="34" charset="0"/>
                <a:ea typeface="Calibri" panose="020F0502020204030204" pitchFamily="34" charset="0"/>
              </a:rPr>
              <a:t>empty number line</a:t>
            </a:r>
            <a:r>
              <a:rPr lang="en-AU" sz="4400" dirty="0">
                <a:effectLst/>
                <a:latin typeface="Arial" panose="020B0604020202020204" pitchFamily="34" charset="0"/>
                <a:ea typeface="Calibri" panose="020F0502020204030204" pitchFamily="34" charset="0"/>
              </a:rPr>
              <a:t>.</a:t>
            </a:r>
            <a:endParaRPr lang="en-AU" sz="4400" dirty="0"/>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4" name="TextBox 3">
            <a:extLst>
              <a:ext uri="{FF2B5EF4-FFF2-40B4-BE49-F238E27FC236}">
                <a16:creationId xmlns:a16="http://schemas.microsoft.com/office/drawing/2014/main" id="{3B28D92A-59EA-687E-251A-5E2F501E531D}"/>
              </a:ext>
            </a:extLst>
          </p:cNvPr>
          <p:cNvSpPr txBox="1"/>
          <p:nvPr/>
        </p:nvSpPr>
        <p:spPr>
          <a:xfrm>
            <a:off x="663208" y="905601"/>
            <a:ext cx="10367268" cy="1240699"/>
          </a:xfrm>
          <a:prstGeom prst="rect">
            <a:avLst/>
          </a:prstGeom>
          <a:noFill/>
        </p:spPr>
        <p:txBody>
          <a:bodyPr wrap="square" lIns="0" tIns="0" rIns="0" bIns="0" rtlCol="0">
            <a:noAutofit/>
          </a:bodyPr>
          <a:lstStyle/>
          <a:p>
            <a:pPr algn="ctr"/>
            <a:r>
              <a:rPr lang="en-AU" sz="4400"/>
              <a:t>Record the missing </a:t>
            </a:r>
            <a:r>
              <a:rPr lang="en-AU" sz="4400" b="1"/>
              <a:t>tally</a:t>
            </a:r>
            <a:r>
              <a:rPr lang="en-AU" sz="4400"/>
              <a:t> </a:t>
            </a:r>
            <a:r>
              <a:rPr lang="en-AU" sz="4400" b="1"/>
              <a:t>marks</a:t>
            </a:r>
            <a:r>
              <a:rPr lang="en-AU" sz="4400"/>
              <a:t>.</a:t>
            </a:r>
          </a:p>
        </p:txBody>
      </p:sp>
      <p:pic>
        <p:nvPicPr>
          <p:cNvPr id="9" name="Picture 8" descr="A tally table with the title: 'How do students travel to school most days?' The table shows the mode of transport, the tally marks column is blank and a numeral for the frequency. Car is 12, bike is 3, walk is 4, public transport is 8 and scooter is 3.">
            <a:extLst>
              <a:ext uri="{FF2B5EF4-FFF2-40B4-BE49-F238E27FC236}">
                <a16:creationId xmlns:a16="http://schemas.microsoft.com/office/drawing/2014/main" id="{E1172E7E-B8A4-23AC-D4E0-367540EB59FE}"/>
              </a:ext>
            </a:extLst>
          </p:cNvPr>
          <p:cNvPicPr>
            <a:picLocks noChangeAspect="1"/>
          </p:cNvPicPr>
          <p:nvPr/>
        </p:nvPicPr>
        <p:blipFill>
          <a:blip r:embed="rId4">
            <a:extLst>
              <a:ext uri="{28A0092B-C50C-407E-A947-70E740481C1C}">
                <a14:useLocalDpi xmlns:a14="http://schemas.microsoft.com/office/drawing/2010/main" val="0"/>
              </a:ext>
            </a:extLst>
          </a:blip>
          <a:srcRect l="9673" t="17267" r="15302" b="26481"/>
          <a:stretch>
            <a:fillRect/>
          </a:stretch>
        </p:blipFill>
        <p:spPr>
          <a:xfrm>
            <a:off x="2123445" y="2130289"/>
            <a:ext cx="8442955" cy="4475711"/>
          </a:xfrm>
          <a:prstGeom prst="rect">
            <a:avLst/>
          </a:prstGeom>
        </p:spPr>
      </p:pic>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pic>
        <p:nvPicPr>
          <p:cNvPr id="5" name="Picture 4" descr="A blue rectangular prism">
            <a:extLst>
              <a:ext uri="{FF2B5EF4-FFF2-40B4-BE49-F238E27FC236}">
                <a16:creationId xmlns:a16="http://schemas.microsoft.com/office/drawing/2014/main" id="{93D225F6-2E28-80DB-552B-9C747B02AED6}"/>
              </a:ext>
            </a:extLst>
          </p:cNvPr>
          <p:cNvPicPr>
            <a:picLocks noChangeAspect="1"/>
          </p:cNvPicPr>
          <p:nvPr/>
        </p:nvPicPr>
        <p:blipFill>
          <a:blip r:embed="rId4"/>
          <a:stretch>
            <a:fillRect/>
          </a:stretch>
        </p:blipFill>
        <p:spPr>
          <a:xfrm>
            <a:off x="3681393" y="3346939"/>
            <a:ext cx="5932507" cy="3259061"/>
          </a:xfrm>
          <a:prstGeom prst="rect">
            <a:avLst/>
          </a:prstGeom>
        </p:spPr>
      </p:pic>
      <p:sp>
        <p:nvSpPr>
          <p:cNvPr id="7" name="TextBox 6">
            <a:extLst>
              <a:ext uri="{FF2B5EF4-FFF2-40B4-BE49-F238E27FC236}">
                <a16:creationId xmlns:a16="http://schemas.microsoft.com/office/drawing/2014/main" id="{6017A9CB-5F0E-8EFB-312B-839EF48D5C6C}"/>
              </a:ext>
            </a:extLst>
          </p:cNvPr>
          <p:cNvSpPr txBox="1"/>
          <p:nvPr/>
        </p:nvSpPr>
        <p:spPr>
          <a:xfrm>
            <a:off x="453941" y="1007469"/>
            <a:ext cx="11275040" cy="1046480"/>
          </a:xfrm>
          <a:prstGeom prst="rect">
            <a:avLst/>
          </a:prstGeom>
          <a:noFill/>
        </p:spPr>
        <p:txBody>
          <a:bodyPr wrap="square" lIns="0" tIns="0" rIns="0" bIns="0" rtlCol="0" anchor="t">
            <a:noAutofit/>
          </a:bodyPr>
          <a:lstStyle/>
          <a:p>
            <a:pPr algn="ctr">
              <a:lnSpc>
                <a:spcPct val="150000"/>
              </a:lnSpc>
            </a:pPr>
            <a:r>
              <a:rPr lang="en-AU" sz="4400"/>
              <a:t>How many </a:t>
            </a:r>
            <a:r>
              <a:rPr lang="en-AU" sz="4400" b="1"/>
              <a:t>faces, edges </a:t>
            </a:r>
            <a:r>
              <a:rPr lang="en-AU" sz="4400"/>
              <a:t>and </a:t>
            </a:r>
            <a:r>
              <a:rPr lang="en-AU" sz="4400" b="1"/>
              <a:t>vertices</a:t>
            </a:r>
            <a:r>
              <a:rPr lang="en-AU" sz="4400"/>
              <a:t> does this three-dimensional object have?</a:t>
            </a:r>
            <a:endParaRPr lang="en-US"/>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comparing number patterns</a:t>
            </a:r>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3" name="Picture 2" descr="2 circles with either 10 or 12 dots evenly spaced around the circumference.">
            <a:extLst>
              <a:ext uri="{FF2B5EF4-FFF2-40B4-BE49-F238E27FC236}">
                <a16:creationId xmlns:a16="http://schemas.microsoft.com/office/drawing/2014/main" id="{0C1B5BF2-7BB9-87EC-8C7F-3595188F654B}"/>
              </a:ext>
            </a:extLst>
          </p:cNvPr>
          <p:cNvPicPr>
            <a:picLocks noChangeAspect="1"/>
          </p:cNvPicPr>
          <p:nvPr/>
        </p:nvPicPr>
        <p:blipFill rotWithShape="1">
          <a:blip r:embed="rId4">
            <a:extLst>
              <a:ext uri="{28A0092B-C50C-407E-A947-70E740481C1C}">
                <a14:useLocalDpi xmlns:a14="http://schemas.microsoft.com/office/drawing/2010/main" val="0"/>
              </a:ext>
            </a:extLst>
          </a:blip>
          <a:srcRect r="51182"/>
          <a:stretch>
            <a:fillRect/>
          </a:stretch>
        </p:blipFill>
        <p:spPr bwMode="auto">
          <a:xfrm>
            <a:off x="4543864" y="905601"/>
            <a:ext cx="2611539" cy="2641301"/>
          </a:xfrm>
          <a:prstGeom prst="rect">
            <a:avLst/>
          </a:prstGeom>
          <a:ln>
            <a:noFill/>
          </a:ln>
          <a:extLst>
            <a:ext uri="{53640926-AAD7-44D8-BBD7-CCE9431645EC}">
              <a14:shadowObscured xmlns:a14="http://schemas.microsoft.com/office/drawing/2010/main"/>
            </a:ext>
          </a:extLst>
        </p:spPr>
      </p:pic>
      <p:pic>
        <p:nvPicPr>
          <p:cNvPr id="7" name="Picture 6" descr="2 circles with either 10 or 12 dots evenly spaced around the circumference.">
            <a:extLst>
              <a:ext uri="{FF2B5EF4-FFF2-40B4-BE49-F238E27FC236}">
                <a16:creationId xmlns:a16="http://schemas.microsoft.com/office/drawing/2014/main" id="{A35B3BA3-BE69-2464-FAAC-D615415EFB7D}"/>
              </a:ext>
            </a:extLst>
          </p:cNvPr>
          <p:cNvPicPr>
            <a:picLocks noChangeAspect="1"/>
          </p:cNvPicPr>
          <p:nvPr/>
        </p:nvPicPr>
        <p:blipFill rotWithShape="1">
          <a:blip r:embed="rId4">
            <a:extLst>
              <a:ext uri="{28A0092B-C50C-407E-A947-70E740481C1C}">
                <a14:useLocalDpi xmlns:a14="http://schemas.microsoft.com/office/drawing/2010/main" val="0"/>
              </a:ext>
            </a:extLst>
          </a:blip>
          <a:srcRect r="51182"/>
          <a:stretch>
            <a:fillRect/>
          </a:stretch>
        </p:blipFill>
        <p:spPr bwMode="auto">
          <a:xfrm>
            <a:off x="4543864" y="3690873"/>
            <a:ext cx="2611539" cy="264130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DB0F-EDB3-D42C-B9F0-90D9CE8D95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806A67-4A8B-CFA0-2639-260EFA3DE028}"/>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(4)</a:t>
            </a:r>
          </a:p>
        </p:txBody>
      </p:sp>
      <p:sp>
        <p:nvSpPr>
          <p:cNvPr id="15" name="Text Placeholder">
            <a:extLst>
              <a:ext uri="{FF2B5EF4-FFF2-40B4-BE49-F238E27FC236}">
                <a16:creationId xmlns:a16="http://schemas.microsoft.com/office/drawing/2014/main" id="{F4BCB582-8EFA-EA48-C6B2-3E84380A7733}"/>
              </a:ext>
            </a:extLst>
          </p:cNvPr>
          <p:cNvSpPr>
            <a:spLocks noGrp="1"/>
          </p:cNvSpPr>
          <p:nvPr>
            <p:ph type="body" sz="quarter" idx="28"/>
          </p:nvPr>
        </p:nvSpPr>
        <p:spPr>
          <a:xfrm>
            <a:off x="-269423" y="974144"/>
            <a:ext cx="12243117" cy="754243"/>
          </a:xfrm>
        </p:spPr>
        <p:txBody>
          <a:bodyPr vert="horz" lIns="0" tIns="0" rIns="0" bIns="0" rtlCol="0" anchor="t">
            <a:noAutofit/>
          </a:bodyPr>
          <a:lstStyle/>
          <a:p>
            <a:pPr algn="ctr"/>
            <a:r>
              <a:rPr lang="en-US" sz="4000" dirty="0"/>
              <a:t>76, 68,__, 52, __, 36.</a:t>
            </a:r>
          </a:p>
          <a:p>
            <a:pPr algn="ctr"/>
            <a:r>
              <a:rPr lang="en-US" sz="4000" dirty="0">
                <a:latin typeface="Arial"/>
                <a:cs typeface="Arial"/>
              </a:rPr>
              <a:t>The </a:t>
            </a:r>
            <a:r>
              <a:rPr lang="en-US" sz="4000" b="1" dirty="0">
                <a:latin typeface="Arial"/>
                <a:cs typeface="Arial"/>
              </a:rPr>
              <a:t>number pattern</a:t>
            </a:r>
            <a:r>
              <a:rPr lang="en-US" sz="4000" dirty="0">
                <a:latin typeface="Arial"/>
                <a:cs typeface="Arial"/>
              </a:rPr>
              <a:t>:</a:t>
            </a:r>
          </a:p>
        </p:txBody>
      </p:sp>
      <p:sp>
        <p:nvSpPr>
          <p:cNvPr id="9" name="B">
            <a:extLst>
              <a:ext uri="{FF2B5EF4-FFF2-40B4-BE49-F238E27FC236}">
                <a16:creationId xmlns:a16="http://schemas.microsoft.com/office/drawing/2014/main" id="{C9B406B5-1B1B-BC84-2596-01F05852F38E}"/>
              </a:ext>
            </a:extLst>
          </p:cNvPr>
          <p:cNvSpPr txBox="1"/>
          <p:nvPr/>
        </p:nvSpPr>
        <p:spPr>
          <a:xfrm>
            <a:off x="670563" y="317088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31DF2179-CC68-4EE0-97E0-A4308D927550}"/>
              </a:ext>
            </a:extLst>
          </p:cNvPr>
          <p:cNvSpPr>
            <a:spLocks noGrp="1"/>
          </p:cNvSpPr>
          <p:nvPr>
            <p:ph type="body" sz="quarter" idx="31"/>
          </p:nvPr>
        </p:nvSpPr>
        <p:spPr>
          <a:xfrm>
            <a:off x="1345520" y="3108302"/>
            <a:ext cx="10175920" cy="641396"/>
          </a:xfrm>
        </p:spPr>
        <p:txBody>
          <a:bodyPr anchor="ctr"/>
          <a:lstStyle/>
          <a:p>
            <a:r>
              <a:rPr lang="en-US" sz="3600"/>
              <a:t>increases by 8 each time</a:t>
            </a:r>
          </a:p>
        </p:txBody>
      </p:sp>
      <p:sp>
        <p:nvSpPr>
          <p:cNvPr id="10" name="B">
            <a:extLst>
              <a:ext uri="{FF2B5EF4-FFF2-40B4-BE49-F238E27FC236}">
                <a16:creationId xmlns:a16="http://schemas.microsoft.com/office/drawing/2014/main" id="{E50622FB-E2C3-695B-EB8A-A6DCC20CB21A}"/>
              </a:ext>
            </a:extLst>
          </p:cNvPr>
          <p:cNvSpPr txBox="1"/>
          <p:nvPr/>
        </p:nvSpPr>
        <p:spPr>
          <a:xfrm>
            <a:off x="670562" y="401880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C73A00ED-7DB5-30D2-B4A9-C92DE2E894C8}"/>
              </a:ext>
            </a:extLst>
          </p:cNvPr>
          <p:cNvSpPr>
            <a:spLocks noGrp="1"/>
          </p:cNvSpPr>
          <p:nvPr>
            <p:ph type="body" sz="quarter" idx="30"/>
          </p:nvPr>
        </p:nvSpPr>
        <p:spPr>
          <a:xfrm>
            <a:off x="1345520" y="3956215"/>
            <a:ext cx="10175920" cy="641396"/>
          </a:xfrm>
        </p:spPr>
        <p:txBody>
          <a:bodyPr anchor="ctr"/>
          <a:lstStyle/>
          <a:p>
            <a:r>
              <a:rPr lang="en-US" sz="3600" dirty="0"/>
              <a:t>decreases by 8 each time</a:t>
            </a:r>
          </a:p>
        </p:txBody>
      </p:sp>
      <p:sp>
        <p:nvSpPr>
          <p:cNvPr id="12" name="C">
            <a:extLst>
              <a:ext uri="{FF2B5EF4-FFF2-40B4-BE49-F238E27FC236}">
                <a16:creationId xmlns:a16="http://schemas.microsoft.com/office/drawing/2014/main" id="{0C258EAC-2959-18FA-F510-CFBA4E15CEE5}"/>
              </a:ext>
            </a:extLst>
          </p:cNvPr>
          <p:cNvSpPr txBox="1"/>
          <p:nvPr/>
        </p:nvSpPr>
        <p:spPr>
          <a:xfrm>
            <a:off x="670561" y="486885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4F46D482-F339-0F56-69AD-E717BD10B08B}"/>
              </a:ext>
            </a:extLst>
          </p:cNvPr>
          <p:cNvSpPr>
            <a:spLocks noGrp="1"/>
          </p:cNvSpPr>
          <p:nvPr>
            <p:ph type="body" sz="quarter" idx="29"/>
          </p:nvPr>
        </p:nvSpPr>
        <p:spPr>
          <a:xfrm>
            <a:off x="1345520" y="4806268"/>
            <a:ext cx="10175920" cy="641396"/>
          </a:xfrm>
        </p:spPr>
        <p:txBody>
          <a:bodyPr anchor="ctr"/>
          <a:lstStyle/>
          <a:p>
            <a:r>
              <a:rPr lang="en-US" sz="3600"/>
              <a:t>increases by 9 each time</a:t>
            </a:r>
          </a:p>
        </p:txBody>
      </p:sp>
      <p:sp>
        <p:nvSpPr>
          <p:cNvPr id="11" name="D">
            <a:extLst>
              <a:ext uri="{FF2B5EF4-FFF2-40B4-BE49-F238E27FC236}">
                <a16:creationId xmlns:a16="http://schemas.microsoft.com/office/drawing/2014/main" id="{14776889-F079-73F7-28AB-FA54A997A57B}"/>
              </a:ext>
            </a:extLst>
          </p:cNvPr>
          <p:cNvSpPr txBox="1"/>
          <p:nvPr/>
        </p:nvSpPr>
        <p:spPr>
          <a:xfrm>
            <a:off x="670560" y="571890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6A6EC998-9E5D-373F-B144-268EE2D0342A}"/>
              </a:ext>
            </a:extLst>
          </p:cNvPr>
          <p:cNvSpPr>
            <a:spLocks noGrp="1"/>
          </p:cNvSpPr>
          <p:nvPr>
            <p:ph type="body" sz="quarter" idx="27"/>
          </p:nvPr>
        </p:nvSpPr>
        <p:spPr>
          <a:xfrm>
            <a:off x="1345520" y="5656321"/>
            <a:ext cx="10175920" cy="641396"/>
          </a:xfrm>
        </p:spPr>
        <p:txBody>
          <a:bodyPr anchor="ctr"/>
          <a:lstStyle/>
          <a:p>
            <a:r>
              <a:rPr lang="en-US" sz="3600" dirty="0"/>
              <a:t>decreases by 7 each time</a:t>
            </a:r>
          </a:p>
        </p:txBody>
      </p:sp>
      <p:pic>
        <p:nvPicPr>
          <p:cNvPr id="4" name="Picture 3" descr="image of a finger selecting an option for a multiple choice or true and false">
            <a:extLst>
              <a:ext uri="{FF2B5EF4-FFF2-40B4-BE49-F238E27FC236}">
                <a16:creationId xmlns:a16="http://schemas.microsoft.com/office/drawing/2014/main" id="{9E6DEC87-1992-0ACF-8BBC-408DC4F8B515}"/>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EA003EA6-BD98-8C0D-720D-A89B6A010C66}"/>
              </a:ext>
              <a:ext uri="{C183D7F6-B498-43B3-948B-1728B52AA6E4}">
                <adec:decorative xmlns:adec="http://schemas.microsoft.com/office/drawing/2017/decorative" val="1"/>
              </a:ext>
            </a:extLst>
          </p:cNvPr>
          <p:cNvSpPr>
            <a:spLocks noGrp="1"/>
          </p:cNvSpPr>
          <p:nvPr>
            <p:ph type="sldNum" sz="quarter" idx="12"/>
          </p:nvPr>
        </p:nvSpPr>
        <p:spPr>
          <a:xfrm>
            <a:off x="11161440" y="6634697"/>
            <a:ext cx="720000" cy="180000"/>
          </a:xfrm>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283678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
        <p:nvSpPr>
          <p:cNvPr id="4" name="TextBox 3">
            <a:extLst>
              <a:ext uri="{FF2B5EF4-FFF2-40B4-BE49-F238E27FC236}">
                <a16:creationId xmlns:a16="http://schemas.microsoft.com/office/drawing/2014/main" id="{93FA46EB-6A50-6B2E-A4D2-B3F66A36914E}"/>
              </a:ext>
            </a:extLst>
          </p:cNvPr>
          <p:cNvSpPr txBox="1"/>
          <p:nvPr/>
        </p:nvSpPr>
        <p:spPr>
          <a:xfrm>
            <a:off x="1574800" y="1018540"/>
            <a:ext cx="9152468" cy="2296160"/>
          </a:xfrm>
          <a:prstGeom prst="rect">
            <a:avLst/>
          </a:prstGeom>
          <a:noFill/>
        </p:spPr>
        <p:txBody>
          <a:bodyPr wrap="square" lIns="0" tIns="0" rIns="0" bIns="0" rtlCol="0">
            <a:noAutofit/>
          </a:bodyPr>
          <a:lstStyle/>
          <a:p>
            <a:pPr algn="ctr">
              <a:lnSpc>
                <a:spcPct val="200000"/>
              </a:lnSpc>
            </a:pPr>
            <a:r>
              <a:rPr lang="en-AU" sz="4400" dirty="0"/>
              <a:t>Draw an </a:t>
            </a:r>
            <a:r>
              <a:rPr lang="en-AU" sz="4400" b="1" dirty="0"/>
              <a:t>array</a:t>
            </a:r>
            <a:r>
              <a:rPr lang="en-AU" sz="4400" dirty="0"/>
              <a:t> of 6 rows of 6. </a:t>
            </a:r>
          </a:p>
          <a:p>
            <a:pPr algn="ctr">
              <a:lnSpc>
                <a:spcPct val="200000"/>
              </a:lnSpc>
            </a:pPr>
            <a:r>
              <a:rPr lang="en-AU" sz="4400" dirty="0"/>
              <a:t>Next, record the </a:t>
            </a:r>
            <a:r>
              <a:rPr lang="en-AU" sz="4400" b="1" dirty="0"/>
              <a:t>4 related </a:t>
            </a:r>
            <a:r>
              <a:rPr lang="en-AU" sz="4400" dirty="0"/>
              <a:t>multiplication and division facts for the array.</a:t>
            </a:r>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4" name="TextBox 3">
            <a:extLst>
              <a:ext uri="{FF2B5EF4-FFF2-40B4-BE49-F238E27FC236}">
                <a16:creationId xmlns:a16="http://schemas.microsoft.com/office/drawing/2014/main" id="{C9E28B4C-D31B-B67C-1B5D-C0927741B4E2}"/>
              </a:ext>
            </a:extLst>
          </p:cNvPr>
          <p:cNvSpPr txBox="1"/>
          <p:nvPr/>
        </p:nvSpPr>
        <p:spPr>
          <a:xfrm>
            <a:off x="715609" y="1346392"/>
            <a:ext cx="10525760" cy="2082800"/>
          </a:xfrm>
          <a:prstGeom prst="rect">
            <a:avLst/>
          </a:prstGeom>
          <a:noFill/>
        </p:spPr>
        <p:txBody>
          <a:bodyPr wrap="square" lIns="0" tIns="0" rIns="0" bIns="0" rtlCol="0" anchor="t">
            <a:noAutofit/>
          </a:bodyPr>
          <a:lstStyle/>
          <a:p>
            <a:pPr algn="ctr">
              <a:lnSpc>
                <a:spcPct val="150000"/>
              </a:lnSpc>
            </a:pPr>
            <a:r>
              <a:rPr lang="en-AU" sz="4400"/>
              <a:t>Use the </a:t>
            </a:r>
            <a:r>
              <a:rPr lang="en-AU" sz="4400" b="1"/>
              <a:t>constant difference strategy </a:t>
            </a:r>
            <a:r>
              <a:rPr lang="en-AU" sz="4400"/>
              <a:t>to solve:</a:t>
            </a:r>
            <a:endParaRPr lang="en-US"/>
          </a:p>
          <a:p>
            <a:pPr algn="ctr"/>
            <a:endParaRPr lang="en-AU" sz="4400"/>
          </a:p>
          <a:p>
            <a:pPr algn="ctr"/>
            <a:r>
              <a:rPr lang="en-AU" sz="5400" dirty="0"/>
              <a:t>62 - 18</a:t>
            </a:r>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pic>
        <p:nvPicPr>
          <p:cNvPr id="4" name="Picture 3" descr="Column graph showing number of animal species on the IUCN Red List from 2007 to 2022. The data shows the number of species on the red list consistently increasing, from 7851 in 2007 to 16,900 in 2022.">
            <a:extLst>
              <a:ext uri="{FF2B5EF4-FFF2-40B4-BE49-F238E27FC236}">
                <a16:creationId xmlns:a16="http://schemas.microsoft.com/office/drawing/2014/main" id="{CD06B690-F82F-CC7F-7CDC-8AC05099499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96000" y="1522641"/>
            <a:ext cx="5918984" cy="4379013"/>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A3DF4685-82D4-72FC-7A98-5BD5B449703F}"/>
              </a:ext>
            </a:extLst>
          </p:cNvPr>
          <p:cNvSpPr txBox="1"/>
          <p:nvPr/>
        </p:nvSpPr>
        <p:spPr>
          <a:xfrm>
            <a:off x="246024" y="1075752"/>
            <a:ext cx="5639516" cy="4281805"/>
          </a:xfrm>
          <a:prstGeom prst="rect">
            <a:avLst/>
          </a:prstGeom>
          <a:noFill/>
        </p:spPr>
        <p:txBody>
          <a:bodyPr wrap="square" lIns="0" tIns="0" rIns="0" bIns="0" rtlCol="0" anchor="t">
            <a:noAutofit/>
          </a:bodyPr>
          <a:lstStyle/>
          <a:p>
            <a:pPr algn="ctr">
              <a:lnSpc>
                <a:spcPct val="150000"/>
              </a:lnSpc>
            </a:pPr>
            <a:r>
              <a:rPr lang="en-AU" sz="3600"/>
              <a:t>What is the </a:t>
            </a:r>
            <a:r>
              <a:rPr lang="en-AU" sz="3600" b="1"/>
              <a:t>difference</a:t>
            </a:r>
            <a:r>
              <a:rPr lang="en-AU" sz="3600"/>
              <a:t> between animal species on the IUCN red list from </a:t>
            </a:r>
            <a:r>
              <a:rPr lang="en-AU" sz="3600" b="1"/>
              <a:t>2007 to 2010</a:t>
            </a:r>
            <a:r>
              <a:rPr lang="en-AU" sz="3600"/>
              <a:t>?</a:t>
            </a:r>
            <a:endParaRPr lang="en-US">
              <a:cs typeface="Arial" panose="020B0604020202020204"/>
            </a:endParaRPr>
          </a:p>
          <a:p>
            <a:pPr algn="ctr">
              <a:lnSpc>
                <a:spcPct val="150000"/>
              </a:lnSpc>
            </a:pPr>
            <a:r>
              <a:rPr lang="en-AU" sz="3600"/>
              <a:t>Which year saw the </a:t>
            </a:r>
            <a:r>
              <a:rPr lang="en-AU" sz="3600" b="1"/>
              <a:t>largest increase </a:t>
            </a:r>
            <a:r>
              <a:rPr lang="en-AU" sz="3600"/>
              <a:t>of animals on the list?</a:t>
            </a:r>
            <a:endParaRPr lang="en-AU" sz="3600">
              <a:cs typeface="Arial" panose="020B0604020202020204"/>
            </a:endParaRPr>
          </a:p>
          <a:p>
            <a:pPr algn="l"/>
            <a:endParaRPr lang="en-AU" sz="1800"/>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4" name="TextBox 3">
            <a:extLst>
              <a:ext uri="{FF2B5EF4-FFF2-40B4-BE49-F238E27FC236}">
                <a16:creationId xmlns:a16="http://schemas.microsoft.com/office/drawing/2014/main" id="{EB11B6C4-EFE6-6924-890C-573579619322}"/>
              </a:ext>
            </a:extLst>
          </p:cNvPr>
          <p:cNvSpPr txBox="1"/>
          <p:nvPr/>
        </p:nvSpPr>
        <p:spPr>
          <a:xfrm>
            <a:off x="123012" y="903401"/>
            <a:ext cx="11945976" cy="1656080"/>
          </a:xfrm>
          <a:prstGeom prst="rect">
            <a:avLst/>
          </a:prstGeom>
          <a:noFill/>
        </p:spPr>
        <p:txBody>
          <a:bodyPr wrap="square" lIns="0" tIns="0" rIns="0" bIns="0" rtlCol="0" anchor="t">
            <a:noAutofit/>
          </a:bodyPr>
          <a:lstStyle/>
          <a:p>
            <a:pPr algn="ctr"/>
            <a:r>
              <a:rPr lang="en-AU" sz="4400" b="1" dirty="0"/>
              <a:t>What shape am I?</a:t>
            </a:r>
          </a:p>
          <a:p>
            <a:pPr algn="ctr"/>
            <a:r>
              <a:rPr lang="en-AU" sz="3200" dirty="0"/>
              <a:t>Draw and label the shapes to match the clues.</a:t>
            </a:r>
            <a:endParaRPr lang="en-AU" sz="3200" dirty="0">
              <a:cs typeface="Arial" panose="020B0604020202020204"/>
            </a:endParaRPr>
          </a:p>
          <a:p>
            <a:pPr marL="622300" indent="-622300">
              <a:lnSpc>
                <a:spcPct val="150000"/>
              </a:lnSpc>
              <a:spcBef>
                <a:spcPts val="600"/>
              </a:spcBef>
              <a:spcAft>
                <a:spcPts val="600"/>
              </a:spcAft>
            </a:pPr>
            <a:r>
              <a:rPr lang="en-AU" sz="4400" b="1" dirty="0"/>
              <a:t> </a:t>
            </a:r>
            <a:r>
              <a:rPr lang="en-AU" sz="3200" dirty="0"/>
              <a:t>1. I have eight </a:t>
            </a:r>
            <a:r>
              <a:rPr lang="en-AU" sz="3200" b="1" dirty="0"/>
              <a:t>straight sides </a:t>
            </a:r>
            <a:r>
              <a:rPr lang="en-AU" sz="3200" dirty="0"/>
              <a:t>and eight </a:t>
            </a:r>
            <a:r>
              <a:rPr lang="en-AU" sz="3200" b="1" dirty="0"/>
              <a:t>angles</a:t>
            </a:r>
            <a:r>
              <a:rPr lang="en-AU" sz="3200" dirty="0"/>
              <a:t>. You might see me on a STOP sign!</a:t>
            </a:r>
            <a:endParaRPr lang="en-AU" sz="3200" dirty="0">
              <a:cs typeface="Arial" panose="020B0604020202020204"/>
            </a:endParaRPr>
          </a:p>
          <a:p>
            <a:pPr marL="622300" indent="-622300">
              <a:lnSpc>
                <a:spcPct val="150000"/>
              </a:lnSpc>
              <a:spcBef>
                <a:spcPts val="600"/>
              </a:spcBef>
              <a:spcAft>
                <a:spcPts val="600"/>
              </a:spcAft>
            </a:pPr>
            <a:r>
              <a:rPr lang="en-AU" sz="3200" dirty="0"/>
              <a:t>2. I have </a:t>
            </a:r>
            <a:r>
              <a:rPr lang="en-AU" sz="3200" b="1" dirty="0"/>
              <a:t>straight sides</a:t>
            </a:r>
            <a:r>
              <a:rPr lang="en-AU" sz="3200" dirty="0"/>
              <a:t>. I have fewer </a:t>
            </a:r>
            <a:r>
              <a:rPr lang="en-AU" sz="3200" b="1" dirty="0"/>
              <a:t>sides</a:t>
            </a:r>
            <a:r>
              <a:rPr lang="en-AU" sz="3200" dirty="0"/>
              <a:t> than a square. I have </a:t>
            </a:r>
            <a:r>
              <a:rPr lang="en-AU" sz="3200" b="1" dirty="0"/>
              <a:t>three corners</a:t>
            </a:r>
            <a:r>
              <a:rPr lang="en-AU" sz="3200" dirty="0"/>
              <a:t>.</a:t>
            </a:r>
            <a:endParaRPr lang="en-AU" sz="3200" dirty="0">
              <a:cs typeface="Arial" panose="020B0604020202020204"/>
            </a:endParaRPr>
          </a:p>
          <a:p>
            <a:pPr marL="622300" indent="-622300">
              <a:lnSpc>
                <a:spcPct val="150000"/>
              </a:lnSpc>
              <a:spcBef>
                <a:spcPts val="600"/>
              </a:spcBef>
              <a:spcAft>
                <a:spcPts val="600"/>
              </a:spcAft>
            </a:pPr>
            <a:r>
              <a:rPr lang="en-AU" sz="3200" dirty="0"/>
              <a:t>3. I am a </a:t>
            </a:r>
            <a:r>
              <a:rPr lang="en-AU" sz="3200" b="1" dirty="0"/>
              <a:t>two-dimensional shape </a:t>
            </a:r>
            <a:r>
              <a:rPr lang="en-AU" sz="3200" dirty="0"/>
              <a:t>with </a:t>
            </a:r>
            <a:r>
              <a:rPr lang="en-AU" sz="3200" b="1" dirty="0"/>
              <a:t>six sides</a:t>
            </a:r>
            <a:r>
              <a:rPr lang="en-AU" sz="3200" dirty="0"/>
              <a:t> and </a:t>
            </a:r>
            <a:r>
              <a:rPr lang="en-AU" sz="3200" b="1" dirty="0"/>
              <a:t>six</a:t>
            </a:r>
            <a:r>
              <a:rPr lang="en-AU" sz="3200" dirty="0"/>
              <a:t> </a:t>
            </a:r>
            <a:r>
              <a:rPr lang="en-AU" sz="3200" b="1" dirty="0"/>
              <a:t>angles.</a:t>
            </a:r>
            <a:endParaRPr lang="en-AU" sz="3200" b="1" dirty="0">
              <a:cs typeface="Arial" panose="020B0604020202020204"/>
            </a:endParaRPr>
          </a:p>
          <a:p>
            <a:pPr algn="l">
              <a:lnSpc>
                <a:spcPct val="150000"/>
              </a:lnSpc>
              <a:spcBef>
                <a:spcPts val="600"/>
              </a:spcBef>
              <a:spcAft>
                <a:spcPts val="600"/>
              </a:spcAft>
            </a:pPr>
            <a:endParaRPr lang="en-AU" sz="3200" dirty="0"/>
          </a:p>
          <a:p>
            <a:pPr algn="l"/>
            <a:endParaRPr lang="en-AU" sz="1800" dirty="0"/>
          </a:p>
          <a:p>
            <a:pPr algn="l"/>
            <a:endParaRPr lang="en-AU" sz="1800" dirty="0"/>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dirty="0"/>
              <a:t>Activity 7 – multiplicative relationships (1)</a:t>
            </a:r>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pic>
        <p:nvPicPr>
          <p:cNvPr id="3" name="Picture 2" descr="Three multiplicative number tables with some missing values.&#10;Table 1 has 2 rows with 5 columns with the numbers 2, 4, 3, 6, 6 and a question mark .&#10;Table 2  has 2 rows with 5 columns with the numbers8, 20, 3, 12 and 40.&#10;Table 3 has 2 rows with 5 columns with the numbers5, 50, 2, 20, 3 and 40">
            <a:extLst>
              <a:ext uri="{FF2B5EF4-FFF2-40B4-BE49-F238E27FC236}">
                <a16:creationId xmlns:a16="http://schemas.microsoft.com/office/drawing/2014/main" id="{8020F6DC-7940-E45D-F3B9-8464811D3470}"/>
              </a:ext>
            </a:extLst>
          </p:cNvPr>
          <p:cNvPicPr>
            <a:picLocks noChangeAspect="1"/>
          </p:cNvPicPr>
          <p:nvPr/>
        </p:nvPicPr>
        <p:blipFill rotWithShape="1">
          <a:blip r:embed="rId4">
            <a:extLst>
              <a:ext uri="{28A0092B-C50C-407E-A947-70E740481C1C}">
                <a14:useLocalDpi xmlns:a14="http://schemas.microsoft.com/office/drawing/2010/main" val="0"/>
              </a:ext>
            </a:extLst>
          </a:blip>
          <a:srcRect r="51536" b="61380"/>
          <a:stretch>
            <a:fillRect/>
          </a:stretch>
        </p:blipFill>
        <p:spPr bwMode="auto">
          <a:xfrm>
            <a:off x="4084743" y="843399"/>
            <a:ext cx="3896282" cy="1952934"/>
          </a:xfrm>
          <a:prstGeom prst="rect">
            <a:avLst/>
          </a:prstGeom>
          <a:ln>
            <a:noFill/>
          </a:ln>
          <a:extLst>
            <a:ext uri="{53640926-AAD7-44D8-BBD7-CCE9431645EC}">
              <a14:shadowObscured xmlns:a14="http://schemas.microsoft.com/office/drawing/2010/main"/>
            </a:ext>
          </a:extLst>
        </p:spPr>
      </p:pic>
      <p:pic>
        <p:nvPicPr>
          <p:cNvPr id="5" name="Picture 4" descr="Three multiplicative number tables with some missing values.&#10;Table 1 has 2 rows with 5 columns with the numbers 2, 4, 3, 6, 6 and a question mark .&#10;Table 2  has 2 rows with 5 columns with the numbers8, 20, 3, 12 and 40.&#10;Table 3 has 2 rows with 5 columns with the numbers5, 50, 2, 20, 3 and 40">
            <a:extLst>
              <a:ext uri="{FF2B5EF4-FFF2-40B4-BE49-F238E27FC236}">
                <a16:creationId xmlns:a16="http://schemas.microsoft.com/office/drawing/2014/main" id="{E6A6504D-6C66-9D01-7FCD-59CB7D2B1A83}"/>
              </a:ext>
            </a:extLst>
          </p:cNvPr>
          <p:cNvPicPr>
            <a:picLocks noChangeAspect="1"/>
          </p:cNvPicPr>
          <p:nvPr/>
        </p:nvPicPr>
        <p:blipFill rotWithShape="1">
          <a:blip r:embed="rId4">
            <a:extLst>
              <a:ext uri="{28A0092B-C50C-407E-A947-70E740481C1C}">
                <a14:useLocalDpi xmlns:a14="http://schemas.microsoft.com/office/drawing/2010/main" val="0"/>
              </a:ext>
            </a:extLst>
          </a:blip>
          <a:srcRect l="50149" b="60342"/>
          <a:stretch>
            <a:fillRect/>
          </a:stretch>
        </p:blipFill>
        <p:spPr bwMode="auto">
          <a:xfrm>
            <a:off x="4091164" y="2727323"/>
            <a:ext cx="4022513" cy="2012897"/>
          </a:xfrm>
          <a:prstGeom prst="rect">
            <a:avLst/>
          </a:prstGeom>
          <a:ln>
            <a:noFill/>
          </a:ln>
          <a:extLst>
            <a:ext uri="{53640926-AAD7-44D8-BBD7-CCE9431645EC}">
              <a14:shadowObscured xmlns:a14="http://schemas.microsoft.com/office/drawing/2010/main"/>
            </a:ext>
          </a:extLst>
        </p:spPr>
      </p:pic>
      <p:pic>
        <p:nvPicPr>
          <p:cNvPr id="7" name="Picture 6" descr="Three multiplicative number tables with some missing values.&#10;Table 1 has 2 rows with 5 columns with the numbers 2, 4, 3, 6, 6 and a question mark .&#10;Table 2  has 2 rows with 5 columns with the numbers8, 20, 3, 12 and 40.&#10;Table 3 has 2 rows with 5 columns with the numbers5, 50, 2, 20, 3 and 40">
            <a:extLst>
              <a:ext uri="{FF2B5EF4-FFF2-40B4-BE49-F238E27FC236}">
                <a16:creationId xmlns:a16="http://schemas.microsoft.com/office/drawing/2014/main" id="{89987C5E-171E-1AE5-B8F6-A6ECA8D9D9F9}"/>
              </a:ext>
            </a:extLst>
          </p:cNvPr>
          <p:cNvPicPr>
            <a:picLocks noChangeAspect="1"/>
          </p:cNvPicPr>
          <p:nvPr/>
        </p:nvPicPr>
        <p:blipFill rotWithShape="1">
          <a:blip r:embed="rId4">
            <a:extLst>
              <a:ext uri="{28A0092B-C50C-407E-A947-70E740481C1C}">
                <a14:useLocalDpi xmlns:a14="http://schemas.microsoft.com/office/drawing/2010/main" val="0"/>
              </a:ext>
            </a:extLst>
          </a:blip>
          <a:srcRect l="29642" t="55968" r="21737" b="6435"/>
          <a:stretch>
            <a:fillRect/>
          </a:stretch>
        </p:blipFill>
        <p:spPr bwMode="auto">
          <a:xfrm>
            <a:off x="4091164" y="4740220"/>
            <a:ext cx="4016091" cy="1953551"/>
          </a:xfrm>
          <a:prstGeom prst="rect">
            <a:avLst/>
          </a:prstGeom>
          <a:ln>
            <a:noFill/>
          </a:ln>
          <a:extLst>
            <a:ext uri="{53640926-AAD7-44D8-BBD7-CCE9431645EC}">
              <a14:shadowObscured xmlns:a14="http://schemas.microsoft.com/office/drawing/2010/main"/>
            </a:ext>
          </a:extLst>
        </p:spPr>
      </p:pic>
      <p:sp>
        <p:nvSpPr>
          <p:cNvPr id="8" name="TextBox 7">
            <a:extLst>
              <a:ext uri="{FF2B5EF4-FFF2-40B4-BE49-F238E27FC236}">
                <a16:creationId xmlns:a16="http://schemas.microsoft.com/office/drawing/2014/main" id="{12148A82-C342-0B78-130E-7E91D0340791}"/>
              </a:ext>
            </a:extLst>
          </p:cNvPr>
          <p:cNvSpPr txBox="1"/>
          <p:nvPr/>
        </p:nvSpPr>
        <p:spPr>
          <a:xfrm>
            <a:off x="5752730" y="1162975"/>
            <a:ext cx="612559" cy="545601"/>
          </a:xfrm>
          <a:prstGeom prst="rect">
            <a:avLst/>
          </a:prstGeom>
          <a:noFill/>
        </p:spPr>
        <p:txBody>
          <a:bodyPr wrap="square" lIns="0" tIns="0" rIns="0" bIns="0" rtlCol="0">
            <a:noAutofit/>
          </a:bodyPr>
          <a:lstStyle/>
          <a:p>
            <a:pPr algn="l"/>
            <a:endParaRPr lang="en-AU" sz="1800"/>
          </a:p>
        </p:txBody>
      </p:sp>
      <p:sp>
        <p:nvSpPr>
          <p:cNvPr id="9" name="TextBox 8">
            <a:extLst>
              <a:ext uri="{FF2B5EF4-FFF2-40B4-BE49-F238E27FC236}">
                <a16:creationId xmlns:a16="http://schemas.microsoft.com/office/drawing/2014/main" id="{D64099EB-02F8-DCA3-6BDA-130B710873B7}"/>
              </a:ext>
            </a:extLst>
          </p:cNvPr>
          <p:cNvSpPr txBox="1"/>
          <p:nvPr/>
        </p:nvSpPr>
        <p:spPr>
          <a:xfrm>
            <a:off x="6484397" y="1226348"/>
            <a:ext cx="612559" cy="545601"/>
          </a:xfrm>
          <a:prstGeom prst="rect">
            <a:avLst/>
          </a:prstGeom>
          <a:noFill/>
        </p:spPr>
        <p:txBody>
          <a:bodyPr wrap="square" lIns="0" tIns="0" rIns="0" bIns="0" rtlCol="0">
            <a:noAutofit/>
          </a:bodyPr>
          <a:lstStyle/>
          <a:p>
            <a:pPr algn="l"/>
            <a:endParaRPr lang="en-AU" sz="1800"/>
          </a:p>
        </p:txBody>
      </p:sp>
      <p:sp>
        <p:nvSpPr>
          <p:cNvPr id="10" name="TextBox 9">
            <a:extLst>
              <a:ext uri="{FF2B5EF4-FFF2-40B4-BE49-F238E27FC236}">
                <a16:creationId xmlns:a16="http://schemas.microsoft.com/office/drawing/2014/main" id="{48C6446E-3AE8-EF45-3070-C4C2648E0375}"/>
              </a:ext>
            </a:extLst>
          </p:cNvPr>
          <p:cNvSpPr txBox="1"/>
          <p:nvPr/>
        </p:nvSpPr>
        <p:spPr>
          <a:xfrm>
            <a:off x="5726604" y="2004509"/>
            <a:ext cx="612559" cy="545601"/>
          </a:xfrm>
          <a:prstGeom prst="rect">
            <a:avLst/>
          </a:prstGeom>
          <a:noFill/>
        </p:spPr>
        <p:txBody>
          <a:bodyPr wrap="square" lIns="0" tIns="0" rIns="0" bIns="0" rtlCol="0">
            <a:noAutofit/>
          </a:bodyPr>
          <a:lstStyle/>
          <a:p>
            <a:pPr algn="l"/>
            <a:endParaRPr lang="en-AU" sz="1800"/>
          </a:p>
        </p:txBody>
      </p:sp>
      <p:sp>
        <p:nvSpPr>
          <p:cNvPr id="11" name="TextBox 10">
            <a:extLst>
              <a:ext uri="{FF2B5EF4-FFF2-40B4-BE49-F238E27FC236}">
                <a16:creationId xmlns:a16="http://schemas.microsoft.com/office/drawing/2014/main" id="{9CAA795E-6B7C-0749-96B5-38FD12ABA180}"/>
              </a:ext>
            </a:extLst>
          </p:cNvPr>
          <p:cNvSpPr txBox="1"/>
          <p:nvPr/>
        </p:nvSpPr>
        <p:spPr>
          <a:xfrm>
            <a:off x="6484396" y="2004509"/>
            <a:ext cx="612559" cy="545601"/>
          </a:xfrm>
          <a:prstGeom prst="rect">
            <a:avLst/>
          </a:prstGeom>
          <a:noFill/>
        </p:spPr>
        <p:txBody>
          <a:bodyPr wrap="square" lIns="0" tIns="0" rIns="0" bIns="0" rtlCol="0">
            <a:noAutofit/>
          </a:bodyPr>
          <a:lstStyle/>
          <a:p>
            <a:pPr algn="l"/>
            <a:endParaRPr lang="en-AU" sz="1800"/>
          </a:p>
        </p:txBody>
      </p:sp>
      <p:sp>
        <p:nvSpPr>
          <p:cNvPr id="12" name="TextBox 11">
            <a:extLst>
              <a:ext uri="{FF2B5EF4-FFF2-40B4-BE49-F238E27FC236}">
                <a16:creationId xmlns:a16="http://schemas.microsoft.com/office/drawing/2014/main" id="{423DD5E9-FEAD-E08C-D1E8-A2F19268F6CC}"/>
              </a:ext>
            </a:extLst>
          </p:cNvPr>
          <p:cNvSpPr txBox="1"/>
          <p:nvPr/>
        </p:nvSpPr>
        <p:spPr>
          <a:xfrm>
            <a:off x="5331779" y="3023257"/>
            <a:ext cx="612559" cy="545601"/>
          </a:xfrm>
          <a:prstGeom prst="rect">
            <a:avLst/>
          </a:prstGeom>
          <a:noFill/>
        </p:spPr>
        <p:txBody>
          <a:bodyPr wrap="square" lIns="0" tIns="0" rIns="0" bIns="0" rtlCol="0">
            <a:noAutofit/>
          </a:bodyPr>
          <a:lstStyle/>
          <a:p>
            <a:pPr algn="l"/>
            <a:endParaRPr lang="en-AU" sz="1800"/>
          </a:p>
        </p:txBody>
      </p:sp>
      <p:sp>
        <p:nvSpPr>
          <p:cNvPr id="13" name="TextBox 12">
            <a:extLst>
              <a:ext uri="{FF2B5EF4-FFF2-40B4-BE49-F238E27FC236}">
                <a16:creationId xmlns:a16="http://schemas.microsoft.com/office/drawing/2014/main" id="{ADEA9920-6A4C-82CD-B4AE-D18D1AAF81C7}"/>
              </a:ext>
            </a:extLst>
          </p:cNvPr>
          <p:cNvSpPr txBox="1"/>
          <p:nvPr/>
        </p:nvSpPr>
        <p:spPr>
          <a:xfrm>
            <a:off x="7096955" y="3048071"/>
            <a:ext cx="612559" cy="545601"/>
          </a:xfrm>
          <a:prstGeom prst="rect">
            <a:avLst/>
          </a:prstGeom>
          <a:noFill/>
        </p:spPr>
        <p:txBody>
          <a:bodyPr wrap="square" lIns="0" tIns="0" rIns="0" bIns="0" rtlCol="0">
            <a:noAutofit/>
          </a:bodyPr>
          <a:lstStyle/>
          <a:p>
            <a:pPr algn="l"/>
            <a:endParaRPr lang="en-AU" sz="1800"/>
          </a:p>
        </p:txBody>
      </p:sp>
      <p:sp>
        <p:nvSpPr>
          <p:cNvPr id="14" name="TextBox 13">
            <a:extLst>
              <a:ext uri="{FF2B5EF4-FFF2-40B4-BE49-F238E27FC236}">
                <a16:creationId xmlns:a16="http://schemas.microsoft.com/office/drawing/2014/main" id="{5A2579D7-39B0-E95A-27FC-2FE17623B18D}"/>
              </a:ext>
            </a:extLst>
          </p:cNvPr>
          <p:cNvSpPr txBox="1"/>
          <p:nvPr/>
        </p:nvSpPr>
        <p:spPr>
          <a:xfrm>
            <a:off x="4470646" y="3921820"/>
            <a:ext cx="612559" cy="545601"/>
          </a:xfrm>
          <a:prstGeom prst="rect">
            <a:avLst/>
          </a:prstGeom>
          <a:noFill/>
        </p:spPr>
        <p:txBody>
          <a:bodyPr wrap="square" lIns="0" tIns="0" rIns="0" bIns="0" rtlCol="0">
            <a:noAutofit/>
          </a:bodyPr>
          <a:lstStyle/>
          <a:p>
            <a:pPr algn="l"/>
            <a:endParaRPr lang="en-AU" sz="1800"/>
          </a:p>
        </p:txBody>
      </p:sp>
      <p:sp>
        <p:nvSpPr>
          <p:cNvPr id="15" name="TextBox 14">
            <a:extLst>
              <a:ext uri="{FF2B5EF4-FFF2-40B4-BE49-F238E27FC236}">
                <a16:creationId xmlns:a16="http://schemas.microsoft.com/office/drawing/2014/main" id="{F2CA2ADC-DBA0-D1AB-E03F-68143A3DE25A}"/>
              </a:ext>
            </a:extLst>
          </p:cNvPr>
          <p:cNvSpPr txBox="1"/>
          <p:nvPr/>
        </p:nvSpPr>
        <p:spPr>
          <a:xfrm>
            <a:off x="7188417" y="5040694"/>
            <a:ext cx="612559" cy="545601"/>
          </a:xfrm>
          <a:prstGeom prst="rect">
            <a:avLst/>
          </a:prstGeom>
          <a:noFill/>
        </p:spPr>
        <p:txBody>
          <a:bodyPr wrap="square" lIns="0" tIns="0" rIns="0" bIns="0" rtlCol="0">
            <a:noAutofit/>
          </a:bodyPr>
          <a:lstStyle/>
          <a:p>
            <a:pPr algn="l"/>
            <a:endParaRPr lang="en-AU" sz="1800"/>
          </a:p>
        </p:txBody>
      </p:sp>
      <p:sp>
        <p:nvSpPr>
          <p:cNvPr id="16" name="TextBox 15">
            <a:extLst>
              <a:ext uri="{FF2B5EF4-FFF2-40B4-BE49-F238E27FC236}">
                <a16:creationId xmlns:a16="http://schemas.microsoft.com/office/drawing/2014/main" id="{63C60C03-4AED-DAB4-1046-8AEFE4DDB947}"/>
              </a:ext>
            </a:extLst>
          </p:cNvPr>
          <p:cNvSpPr txBox="1"/>
          <p:nvPr/>
        </p:nvSpPr>
        <p:spPr>
          <a:xfrm>
            <a:off x="6636797" y="1378748"/>
            <a:ext cx="612559" cy="545601"/>
          </a:xfrm>
          <a:prstGeom prst="rect">
            <a:avLst/>
          </a:prstGeom>
          <a:noFill/>
        </p:spPr>
        <p:txBody>
          <a:bodyPr wrap="square" lIns="0" tIns="0" rIns="0" bIns="0" rtlCol="0">
            <a:noAutofit/>
          </a:bodyPr>
          <a:lstStyle/>
          <a:p>
            <a:pPr algn="l"/>
            <a:endParaRPr lang="en-AU" sz="1800"/>
          </a:p>
        </p:txBody>
      </p:sp>
      <p:sp>
        <p:nvSpPr>
          <p:cNvPr id="17" name="TextBox 16">
            <a:extLst>
              <a:ext uri="{FF2B5EF4-FFF2-40B4-BE49-F238E27FC236}">
                <a16:creationId xmlns:a16="http://schemas.microsoft.com/office/drawing/2014/main" id="{69522159-3206-7572-EBE1-EF0CBE34EA02}"/>
              </a:ext>
            </a:extLst>
          </p:cNvPr>
          <p:cNvSpPr txBox="1"/>
          <p:nvPr/>
        </p:nvSpPr>
        <p:spPr>
          <a:xfrm>
            <a:off x="6789197" y="1531148"/>
            <a:ext cx="612559" cy="545601"/>
          </a:xfrm>
          <a:prstGeom prst="rect">
            <a:avLst/>
          </a:prstGeom>
          <a:noFill/>
        </p:spPr>
        <p:txBody>
          <a:bodyPr wrap="square" lIns="0" tIns="0" rIns="0" bIns="0" rtlCol="0">
            <a:noAutofit/>
          </a:bodyPr>
          <a:lstStyle/>
          <a:p>
            <a:pPr algn="l"/>
            <a:endParaRPr lang="en-AU" sz="1800"/>
          </a:p>
        </p:txBody>
      </p:sp>
      <p:sp>
        <p:nvSpPr>
          <p:cNvPr id="18" name="TextBox 17">
            <a:extLst>
              <a:ext uri="{FF2B5EF4-FFF2-40B4-BE49-F238E27FC236}">
                <a16:creationId xmlns:a16="http://schemas.microsoft.com/office/drawing/2014/main" id="{FACCB93F-9C87-0D68-AAB0-71934D758611}"/>
              </a:ext>
            </a:extLst>
          </p:cNvPr>
          <p:cNvSpPr txBox="1"/>
          <p:nvPr/>
        </p:nvSpPr>
        <p:spPr>
          <a:xfrm>
            <a:off x="6178116" y="5830356"/>
            <a:ext cx="612559" cy="545601"/>
          </a:xfrm>
          <a:prstGeom prst="rect">
            <a:avLst/>
          </a:prstGeom>
          <a:noFill/>
        </p:spPr>
        <p:txBody>
          <a:bodyPr wrap="square" lIns="0" tIns="0" rIns="0" bIns="0" rtlCol="0">
            <a:noAutofit/>
          </a:bodyPr>
          <a:lstStyle/>
          <a:p>
            <a:pPr algn="l"/>
            <a:endParaRPr lang="en-AU" sz="1800"/>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61DDB-93D7-AE02-2207-DC3A70C52C5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F326D30-8FA8-0938-192C-63FD3AC84930}"/>
              </a:ext>
            </a:extLst>
          </p:cNvPr>
          <p:cNvSpPr>
            <a:spLocks noGrp="1"/>
          </p:cNvSpPr>
          <p:nvPr>
            <p:ph type="title"/>
          </p:nvPr>
        </p:nvSpPr>
        <p:spPr>
          <a:xfrm>
            <a:off x="360000" y="360000"/>
            <a:ext cx="10367268" cy="545601"/>
          </a:xfrm>
        </p:spPr>
        <p:txBody>
          <a:bodyPr/>
          <a:lstStyle/>
          <a:p>
            <a:r>
              <a:rPr lang="en-AU" dirty="0"/>
              <a:t>Activity 7 – multiplicative relationships (2) </a:t>
            </a:r>
            <a:r>
              <a:rPr lang="en-AU" dirty="0">
                <a:solidFill>
                  <a:schemeClr val="bg1"/>
                </a:solidFill>
              </a:rPr>
              <a:t>(2)</a:t>
            </a:r>
          </a:p>
        </p:txBody>
      </p:sp>
      <p:pic>
        <p:nvPicPr>
          <p:cNvPr id="4" name="Picture 3" descr="image of a head with cogs turning inside">
            <a:extLst>
              <a:ext uri="{FF2B5EF4-FFF2-40B4-BE49-F238E27FC236}">
                <a16:creationId xmlns:a16="http://schemas.microsoft.com/office/drawing/2014/main" id="{74357359-167A-9EDF-B788-88B66DE40142}"/>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17BC04B-09DA-47EF-10C5-E52625FA6CF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pic>
        <p:nvPicPr>
          <p:cNvPr id="3" name="Picture 2" descr="A multiplicative number table with 2 rows and 4 columns. the numbers 5, 20 and 40 are in the table">
            <a:extLst>
              <a:ext uri="{FF2B5EF4-FFF2-40B4-BE49-F238E27FC236}">
                <a16:creationId xmlns:a16="http://schemas.microsoft.com/office/drawing/2014/main" id="{B72F7958-DB34-D740-AF5F-1A871E887405}"/>
              </a:ext>
            </a:extLst>
          </p:cNvPr>
          <p:cNvPicPr>
            <a:picLocks noChangeAspect="1"/>
          </p:cNvPicPr>
          <p:nvPr/>
        </p:nvPicPr>
        <p:blipFill rotWithShape="1">
          <a:blip r:embed="rId4">
            <a:extLst>
              <a:ext uri="{28A0092B-C50C-407E-A947-70E740481C1C}">
                <a14:useLocalDpi xmlns:a14="http://schemas.microsoft.com/office/drawing/2010/main" val="0"/>
              </a:ext>
            </a:extLst>
          </a:blip>
          <a:srcRect l="11304" t="14256" r="19559" b="21329"/>
          <a:stretch>
            <a:fillRect/>
          </a:stretch>
        </p:blipFill>
        <p:spPr bwMode="auto">
          <a:xfrm>
            <a:off x="1684654" y="1412240"/>
            <a:ext cx="8482355" cy="4033520"/>
          </a:xfrm>
          <a:prstGeom prst="rect">
            <a:avLst/>
          </a:prstGeom>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7758A97E-C4EF-53D8-6C56-36C7CBBE3255}"/>
              </a:ext>
            </a:extLst>
          </p:cNvPr>
          <p:cNvSpPr txBox="1"/>
          <p:nvPr/>
        </p:nvSpPr>
        <p:spPr>
          <a:xfrm>
            <a:off x="4236720" y="1960880"/>
            <a:ext cx="1635760" cy="1341120"/>
          </a:xfrm>
          <a:prstGeom prst="rect">
            <a:avLst/>
          </a:prstGeom>
          <a:noFill/>
        </p:spPr>
        <p:txBody>
          <a:bodyPr wrap="square" lIns="0" tIns="0" rIns="0" bIns="0" rtlCol="0">
            <a:noAutofit/>
          </a:bodyPr>
          <a:lstStyle/>
          <a:p>
            <a:pPr algn="l"/>
            <a:endParaRPr lang="en-AU" sz="1800"/>
          </a:p>
        </p:txBody>
      </p:sp>
      <p:sp>
        <p:nvSpPr>
          <p:cNvPr id="7" name="TextBox 6">
            <a:extLst>
              <a:ext uri="{FF2B5EF4-FFF2-40B4-BE49-F238E27FC236}">
                <a16:creationId xmlns:a16="http://schemas.microsoft.com/office/drawing/2014/main" id="{9B19F83B-EAAE-3128-2A33-AFC612FBC5CA}"/>
              </a:ext>
            </a:extLst>
          </p:cNvPr>
          <p:cNvSpPr txBox="1"/>
          <p:nvPr/>
        </p:nvSpPr>
        <p:spPr>
          <a:xfrm>
            <a:off x="6096000" y="1960880"/>
            <a:ext cx="1635760" cy="1341120"/>
          </a:xfrm>
          <a:prstGeom prst="rect">
            <a:avLst/>
          </a:prstGeom>
          <a:noFill/>
        </p:spPr>
        <p:txBody>
          <a:bodyPr wrap="square" lIns="0" tIns="0" rIns="0" bIns="0" rtlCol="0">
            <a:noAutofit/>
          </a:bodyPr>
          <a:lstStyle/>
          <a:p>
            <a:pPr algn="l"/>
            <a:endParaRPr lang="en-AU" sz="1800"/>
          </a:p>
        </p:txBody>
      </p:sp>
      <p:sp>
        <p:nvSpPr>
          <p:cNvPr id="8" name="TextBox 7">
            <a:extLst>
              <a:ext uri="{FF2B5EF4-FFF2-40B4-BE49-F238E27FC236}">
                <a16:creationId xmlns:a16="http://schemas.microsoft.com/office/drawing/2014/main" id="{14640619-7897-B09D-B924-57BCE5F3A8AC}"/>
              </a:ext>
            </a:extLst>
          </p:cNvPr>
          <p:cNvSpPr txBox="1"/>
          <p:nvPr/>
        </p:nvSpPr>
        <p:spPr>
          <a:xfrm>
            <a:off x="8131504" y="1849120"/>
            <a:ext cx="1635760" cy="1341120"/>
          </a:xfrm>
          <a:prstGeom prst="rect">
            <a:avLst/>
          </a:prstGeom>
          <a:noFill/>
        </p:spPr>
        <p:txBody>
          <a:bodyPr wrap="square" lIns="0" tIns="0" rIns="0" bIns="0" rtlCol="0">
            <a:noAutofit/>
          </a:bodyPr>
          <a:lstStyle/>
          <a:p>
            <a:pPr algn="l"/>
            <a:endParaRPr lang="en-AU" sz="1800"/>
          </a:p>
        </p:txBody>
      </p:sp>
      <p:sp>
        <p:nvSpPr>
          <p:cNvPr id="9" name="TextBox 8">
            <a:extLst>
              <a:ext uri="{FF2B5EF4-FFF2-40B4-BE49-F238E27FC236}">
                <a16:creationId xmlns:a16="http://schemas.microsoft.com/office/drawing/2014/main" id="{A5BC4FA9-2F7C-4586-3868-2AEF62B90290}"/>
              </a:ext>
            </a:extLst>
          </p:cNvPr>
          <p:cNvSpPr txBox="1"/>
          <p:nvPr/>
        </p:nvSpPr>
        <p:spPr>
          <a:xfrm>
            <a:off x="2123440" y="3688080"/>
            <a:ext cx="1635760" cy="1341120"/>
          </a:xfrm>
          <a:prstGeom prst="rect">
            <a:avLst/>
          </a:prstGeom>
          <a:noFill/>
        </p:spPr>
        <p:txBody>
          <a:bodyPr wrap="square" lIns="0" tIns="0" rIns="0" bIns="0" rtlCol="0">
            <a:noAutofit/>
          </a:bodyPr>
          <a:lstStyle/>
          <a:p>
            <a:pPr algn="l"/>
            <a:endParaRPr lang="en-AU" sz="1800"/>
          </a:p>
        </p:txBody>
      </p:sp>
      <p:sp>
        <p:nvSpPr>
          <p:cNvPr id="10" name="TextBox 9">
            <a:extLst>
              <a:ext uri="{FF2B5EF4-FFF2-40B4-BE49-F238E27FC236}">
                <a16:creationId xmlns:a16="http://schemas.microsoft.com/office/drawing/2014/main" id="{AD0AE769-653A-AB63-5DF4-424950CE47DD}"/>
              </a:ext>
            </a:extLst>
          </p:cNvPr>
          <p:cNvSpPr txBox="1"/>
          <p:nvPr/>
        </p:nvSpPr>
        <p:spPr>
          <a:xfrm>
            <a:off x="6096000" y="3703320"/>
            <a:ext cx="1635760" cy="1341120"/>
          </a:xfrm>
          <a:prstGeom prst="rect">
            <a:avLst/>
          </a:prstGeom>
          <a:noFill/>
        </p:spPr>
        <p:txBody>
          <a:bodyPr wrap="square" lIns="0" tIns="0" rIns="0" bIns="0" rtlCol="0">
            <a:noAutofit/>
          </a:bodyPr>
          <a:lstStyle/>
          <a:p>
            <a:pPr algn="l"/>
            <a:endParaRPr lang="en-AU" sz="1800"/>
          </a:p>
        </p:txBody>
      </p:sp>
    </p:spTree>
    <p:extLst>
      <p:ext uri="{BB962C8B-B14F-4D97-AF65-F5344CB8AC3E}">
        <p14:creationId xmlns:p14="http://schemas.microsoft.com/office/powerpoint/2010/main" val="4067776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1107130" y="1731354"/>
            <a:ext cx="9977741" cy="893226"/>
          </a:xfrm>
        </p:spPr>
        <p:txBody>
          <a:bodyPr/>
          <a:lstStyle/>
          <a:p>
            <a:r>
              <a:rPr lang="en-AU" sz="4400"/>
              <a:t>36, 42, 48 and 52 are </a:t>
            </a:r>
            <a:r>
              <a:rPr lang="en-AU" sz="4400" b="1"/>
              <a:t>all</a:t>
            </a:r>
            <a:r>
              <a:rPr lang="en-AU" sz="4400"/>
              <a:t> </a:t>
            </a:r>
            <a:r>
              <a:rPr lang="en-AU" sz="4400" b="1"/>
              <a:t>multiples</a:t>
            </a:r>
            <a:r>
              <a:rPr lang="en-AU" sz="4400"/>
              <a:t> of 6.</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1750473226"/>
              </p:ext>
            </p:extLst>
          </p:nvPr>
        </p:nvGraphicFramePr>
        <p:xfrm>
          <a:off x="2341381" y="3666573"/>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endParaRPr lang="en-US" sz="4400" b="1" kern="1200" dirty="0">
                        <a:solidFill>
                          <a:srgbClr val="146CFD"/>
                        </a:solidFill>
                        <a:latin typeface="+mn-lt"/>
                        <a:ea typeface="+mn-ea"/>
                        <a:cs typeface="Arial"/>
                      </a:endParaRP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endParaRPr lang="en-US" sz="4400" b="1" kern="1200" dirty="0">
                        <a:solidFill>
                          <a:srgbClr val="146CFD"/>
                        </a:solidFill>
                        <a:latin typeface="+mn-lt"/>
                        <a:ea typeface="+mn-ea"/>
                        <a:cs typeface="Arial"/>
                      </a:endParaRP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5" name="Text Placeholder">
            <a:extLst>
              <a:ext uri="{FF2B5EF4-FFF2-40B4-BE49-F238E27FC236}">
                <a16:creationId xmlns:a16="http://schemas.microsoft.com/office/drawing/2014/main" id="{1D12A413-11BB-36F0-BBB8-8E11AE236AA0}"/>
              </a:ext>
            </a:extLst>
          </p:cNvPr>
          <p:cNvSpPr txBox="1">
            <a:spLocks/>
          </p:cNvSpPr>
          <p:nvPr/>
        </p:nvSpPr>
        <p:spPr>
          <a:xfrm>
            <a:off x="2089916" y="5415632"/>
            <a:ext cx="8012168" cy="89322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a:latin typeface="Arial"/>
                <a:cs typeface="Arial"/>
              </a:rPr>
              <a:t>Communicate</a:t>
            </a:r>
            <a:r>
              <a:rPr lang="en-US" sz="4400">
                <a:latin typeface="Arial"/>
                <a:cs typeface="Arial"/>
              </a:rPr>
              <a:t> your </a:t>
            </a:r>
            <a:r>
              <a:rPr lang="en-US" sz="4400" b="1">
                <a:latin typeface="Arial"/>
                <a:cs typeface="Arial"/>
              </a:rPr>
              <a:t>reasoning.</a:t>
            </a:r>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4" name="TextBox 3">
            <a:extLst>
              <a:ext uri="{FF2B5EF4-FFF2-40B4-BE49-F238E27FC236}">
                <a16:creationId xmlns:a16="http://schemas.microsoft.com/office/drawing/2014/main" id="{DE866384-7762-153A-2152-49CF8837C0CB}"/>
              </a:ext>
            </a:extLst>
          </p:cNvPr>
          <p:cNvSpPr txBox="1"/>
          <p:nvPr/>
        </p:nvSpPr>
        <p:spPr>
          <a:xfrm>
            <a:off x="942392" y="1053503"/>
            <a:ext cx="9936480" cy="2631440"/>
          </a:xfrm>
          <a:prstGeom prst="rect">
            <a:avLst/>
          </a:prstGeom>
          <a:noFill/>
        </p:spPr>
        <p:txBody>
          <a:bodyPr wrap="square" lIns="0" tIns="0" rIns="0" bIns="0" rtlCol="0">
            <a:noAutofit/>
          </a:bodyPr>
          <a:lstStyle/>
          <a:p>
            <a:pPr algn="ctr">
              <a:lnSpc>
                <a:spcPct val="150000"/>
              </a:lnSpc>
            </a:pPr>
            <a:r>
              <a:rPr lang="en-AU" sz="5400" dirty="0"/>
              <a:t>8 x __ = 64</a:t>
            </a:r>
          </a:p>
          <a:p>
            <a:pPr algn="ctr">
              <a:lnSpc>
                <a:spcPct val="150000"/>
              </a:lnSpc>
            </a:pPr>
            <a:r>
              <a:rPr lang="en-AU" sz="5400" dirty="0"/>
              <a:t>64 ÷ 8 = __</a:t>
            </a:r>
          </a:p>
        </p:txBody>
      </p:sp>
      <p:sp>
        <p:nvSpPr>
          <p:cNvPr id="5" name="Text Placeholder">
            <a:extLst>
              <a:ext uri="{FF2B5EF4-FFF2-40B4-BE49-F238E27FC236}">
                <a16:creationId xmlns:a16="http://schemas.microsoft.com/office/drawing/2014/main" id="{2943E3BF-4983-A39E-7538-3D69D2001160}"/>
              </a:ext>
            </a:extLst>
          </p:cNvPr>
          <p:cNvSpPr txBox="1">
            <a:spLocks/>
          </p:cNvSpPr>
          <p:nvPr/>
        </p:nvSpPr>
        <p:spPr>
          <a:xfrm>
            <a:off x="2362850" y="4943563"/>
            <a:ext cx="8012168" cy="754243"/>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a:latin typeface="Arial"/>
                <a:cs typeface="Arial"/>
              </a:rPr>
              <a:t>Communicate</a:t>
            </a:r>
            <a:r>
              <a:rPr lang="en-US" sz="4400">
                <a:latin typeface="Arial"/>
                <a:cs typeface="Arial"/>
              </a:rPr>
              <a:t> your </a:t>
            </a:r>
            <a:r>
              <a:rPr lang="en-US" sz="4400" b="1">
                <a:latin typeface="Arial"/>
                <a:cs typeface="Arial"/>
              </a:rPr>
              <a:t>reasoning.</a:t>
            </a:r>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4" name="TextBox 3">
            <a:extLst>
              <a:ext uri="{FF2B5EF4-FFF2-40B4-BE49-F238E27FC236}">
                <a16:creationId xmlns:a16="http://schemas.microsoft.com/office/drawing/2014/main" id="{0F0264A7-D70B-905E-BEB9-902FF9F3CBE2}"/>
              </a:ext>
            </a:extLst>
          </p:cNvPr>
          <p:cNvSpPr txBox="1"/>
          <p:nvPr/>
        </p:nvSpPr>
        <p:spPr>
          <a:xfrm>
            <a:off x="888132" y="2989074"/>
            <a:ext cx="10367268" cy="2509520"/>
          </a:xfrm>
          <a:prstGeom prst="rect">
            <a:avLst/>
          </a:prstGeom>
          <a:noFill/>
        </p:spPr>
        <p:txBody>
          <a:bodyPr wrap="square" lIns="0" tIns="0" rIns="0" bIns="0" rtlCol="0" anchor="t">
            <a:noAutofit/>
          </a:bodyPr>
          <a:lstStyle/>
          <a:p>
            <a:pPr algn="l"/>
            <a:endParaRPr lang="en-AU" sz="1800" dirty="0"/>
          </a:p>
          <a:p>
            <a:pPr algn="ctr">
              <a:lnSpc>
                <a:spcPct val="150000"/>
              </a:lnSpc>
            </a:pPr>
            <a:r>
              <a:rPr lang="en-AU" sz="4400" dirty="0"/>
              <a:t>Record number sentences for this bar model showing how </a:t>
            </a:r>
            <a:r>
              <a:rPr lang="en-AU" sz="4400" b="1" dirty="0"/>
              <a:t>addition and subtraction</a:t>
            </a:r>
            <a:r>
              <a:rPr lang="en-AU" sz="4400" dirty="0"/>
              <a:t> are </a:t>
            </a:r>
            <a:r>
              <a:rPr lang="en-AU" sz="4400" b="1" dirty="0"/>
              <a:t>inverse operations</a:t>
            </a:r>
            <a:r>
              <a:rPr lang="en-AU" sz="4400" dirty="0"/>
              <a:t>.</a:t>
            </a:r>
            <a:r>
              <a:rPr lang="en-AU" sz="4400" dirty="0">
                <a:cs typeface="Arial" panose="020B0604020202020204"/>
              </a:rPr>
              <a:t> </a:t>
            </a:r>
          </a:p>
          <a:p>
            <a:pPr algn="ctr">
              <a:lnSpc>
                <a:spcPct val="150000"/>
              </a:lnSpc>
            </a:pPr>
            <a:endParaRPr lang="en-AU" sz="4400" dirty="0">
              <a:cs typeface="Arial" panose="020B0604020202020204"/>
            </a:endParaRPr>
          </a:p>
          <a:p>
            <a:pPr algn="ctr">
              <a:lnSpc>
                <a:spcPct val="150000"/>
              </a:lnSpc>
            </a:pPr>
            <a:endParaRPr lang="en-AU" sz="4400" dirty="0">
              <a:cs typeface="Arial" panose="020B0604020202020204"/>
            </a:endParaRPr>
          </a:p>
        </p:txBody>
      </p:sp>
      <p:pic>
        <p:nvPicPr>
          <p:cNvPr id="7" name="Picture 6">
            <a:extLst>
              <a:ext uri="{FF2B5EF4-FFF2-40B4-BE49-F238E27FC236}">
                <a16:creationId xmlns:a16="http://schemas.microsoft.com/office/drawing/2014/main" id="{C1B689BB-2D97-8257-8E81-A735D9F03BEC}"/>
              </a:ext>
            </a:extLst>
          </p:cNvPr>
          <p:cNvPicPr>
            <a:picLocks noChangeAspect="1"/>
          </p:cNvPicPr>
          <p:nvPr/>
        </p:nvPicPr>
        <p:blipFill>
          <a:blip r:embed="rId4"/>
          <a:stretch>
            <a:fillRect/>
          </a:stretch>
        </p:blipFill>
        <p:spPr>
          <a:xfrm>
            <a:off x="3489223" y="1184223"/>
            <a:ext cx="5213553" cy="1951934"/>
          </a:xfrm>
          <a:prstGeom prst="rect">
            <a:avLst/>
          </a:prstGeom>
        </p:spPr>
      </p:pic>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4" name="TextBox 3">
            <a:extLst>
              <a:ext uri="{FF2B5EF4-FFF2-40B4-BE49-F238E27FC236}">
                <a16:creationId xmlns:a16="http://schemas.microsoft.com/office/drawing/2014/main" id="{8A4457FE-2C1B-AC5A-DB10-EDB4C101A902}"/>
              </a:ext>
            </a:extLst>
          </p:cNvPr>
          <p:cNvSpPr txBox="1"/>
          <p:nvPr/>
        </p:nvSpPr>
        <p:spPr>
          <a:xfrm>
            <a:off x="470748" y="632800"/>
            <a:ext cx="10883052" cy="5202479"/>
          </a:xfrm>
          <a:prstGeom prst="rect">
            <a:avLst/>
          </a:prstGeom>
          <a:noFill/>
        </p:spPr>
        <p:txBody>
          <a:bodyPr wrap="square" lIns="0" tIns="0" rIns="0" bIns="0" rtlCol="0">
            <a:noAutofit/>
          </a:bodyPr>
          <a:lstStyle/>
          <a:p>
            <a:pPr lvl="0" algn="ctr">
              <a:lnSpc>
                <a:spcPct val="150000"/>
              </a:lnSpc>
              <a:spcAft>
                <a:spcPts val="600"/>
              </a:spcAft>
            </a:pPr>
            <a:r>
              <a:rPr lang="en-AU" sz="3800" dirty="0"/>
              <a:t>A group of students were asked, </a:t>
            </a:r>
          </a:p>
          <a:p>
            <a:pPr lvl="0" algn="ctr">
              <a:lnSpc>
                <a:spcPct val="150000"/>
              </a:lnSpc>
            </a:pPr>
            <a:r>
              <a:rPr lang="en-AU" sz="3800" dirty="0"/>
              <a:t>‘How many pets do you have at home?’. </a:t>
            </a:r>
          </a:p>
          <a:p>
            <a:pPr lvl="0" algn="ctr">
              <a:lnSpc>
                <a:spcPct val="150000"/>
              </a:lnSpc>
            </a:pPr>
            <a:endParaRPr lang="en-AU" sz="1200" dirty="0"/>
          </a:p>
          <a:p>
            <a:pPr lvl="0" algn="ctr">
              <a:lnSpc>
                <a:spcPct val="150000"/>
              </a:lnSpc>
              <a:spcAft>
                <a:spcPts val="600"/>
              </a:spcAft>
            </a:pPr>
            <a:r>
              <a:rPr lang="en-AU" sz="3800" dirty="0"/>
              <a:t>The responses were: </a:t>
            </a:r>
          </a:p>
          <a:p>
            <a:pPr lvl="0" algn="ctr">
              <a:lnSpc>
                <a:spcPct val="150000"/>
              </a:lnSpc>
              <a:spcAft>
                <a:spcPts val="600"/>
              </a:spcAft>
            </a:pPr>
            <a:r>
              <a:rPr lang="en-AU" sz="3800" dirty="0"/>
              <a:t>0,0,0,1,1,3,3,3,5,5,4,4,5,6,6.</a:t>
            </a:r>
          </a:p>
          <a:p>
            <a:pPr lvl="0" algn="ctr">
              <a:lnSpc>
                <a:spcPct val="150000"/>
              </a:lnSpc>
              <a:spcAft>
                <a:spcPts val="600"/>
              </a:spcAft>
            </a:pPr>
            <a:endParaRPr lang="en-AU" sz="1200" dirty="0"/>
          </a:p>
          <a:p>
            <a:pPr lvl="0" algn="ctr">
              <a:lnSpc>
                <a:spcPct val="150000"/>
              </a:lnSpc>
              <a:spcAft>
                <a:spcPts val="600"/>
              </a:spcAft>
            </a:pPr>
            <a:r>
              <a:rPr lang="en-AU" sz="3800" dirty="0"/>
              <a:t>What effective ways could this data be displayed?</a:t>
            </a:r>
          </a:p>
          <a:p>
            <a:pPr lvl="0" algn="ctr">
              <a:lnSpc>
                <a:spcPct val="150000"/>
              </a:lnSpc>
              <a:spcAft>
                <a:spcPts val="600"/>
              </a:spcAft>
            </a:pPr>
            <a:r>
              <a:rPr lang="en-AU" sz="3800" dirty="0"/>
              <a:t> </a:t>
            </a:r>
            <a:r>
              <a:rPr lang="en-AU" sz="3800" b="1" dirty="0"/>
              <a:t>Communicate</a:t>
            </a:r>
            <a:r>
              <a:rPr lang="en-AU" sz="3800" dirty="0"/>
              <a:t> your </a:t>
            </a:r>
            <a:r>
              <a:rPr lang="en-AU" sz="3800" b="1" dirty="0"/>
              <a:t>reasoning</a:t>
            </a:r>
            <a:r>
              <a:rPr lang="en-AU" sz="3800" dirty="0"/>
              <a:t>.</a:t>
            </a:r>
          </a:p>
          <a:p>
            <a:pPr algn="l"/>
            <a:endParaRPr lang="en-AU" sz="1800" dirty="0"/>
          </a:p>
          <a:p>
            <a:pPr algn="l"/>
            <a:endParaRPr lang="en-AU" sz="1800" dirty="0"/>
          </a:p>
          <a:p>
            <a:pPr algn="l"/>
            <a:endParaRPr lang="en-AU" sz="1800" dirty="0"/>
          </a:p>
          <a:p>
            <a:pPr algn="l"/>
            <a:endParaRPr lang="en-AU" sz="1800" dirty="0"/>
          </a:p>
          <a:p>
            <a:pPr algn="l"/>
            <a:endParaRPr lang="en-AU" sz="1800" dirty="0"/>
          </a:p>
          <a:p>
            <a:pPr algn="l"/>
            <a:endParaRPr lang="en-AU" sz="1800" dirty="0"/>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4" name="TextBox 3">
            <a:extLst>
              <a:ext uri="{FF2B5EF4-FFF2-40B4-BE49-F238E27FC236}">
                <a16:creationId xmlns:a16="http://schemas.microsoft.com/office/drawing/2014/main" id="{0B2FEC20-DC55-E537-701C-33103C09469D}"/>
              </a:ext>
            </a:extLst>
          </p:cNvPr>
          <p:cNvSpPr txBox="1"/>
          <p:nvPr/>
        </p:nvSpPr>
        <p:spPr>
          <a:xfrm>
            <a:off x="218597" y="904365"/>
            <a:ext cx="11510384" cy="1249680"/>
          </a:xfrm>
          <a:prstGeom prst="rect">
            <a:avLst/>
          </a:prstGeom>
          <a:noFill/>
        </p:spPr>
        <p:txBody>
          <a:bodyPr wrap="square" lIns="0" tIns="0" rIns="0" bIns="0" rtlCol="0" anchor="t">
            <a:noAutofit/>
          </a:bodyPr>
          <a:lstStyle/>
          <a:p>
            <a:pPr algn="ctr">
              <a:lnSpc>
                <a:spcPct val="150000"/>
              </a:lnSpc>
            </a:pPr>
            <a:r>
              <a:rPr lang="en-AU" sz="4000"/>
              <a:t>Record if these events are </a:t>
            </a:r>
            <a:r>
              <a:rPr lang="en-AU" sz="4000" b="1"/>
              <a:t>likely or unlikely </a:t>
            </a:r>
            <a:r>
              <a:rPr lang="en-AU" sz="4000"/>
              <a:t>to occur:</a:t>
            </a:r>
            <a:endParaRPr lang="en-US"/>
          </a:p>
          <a:p>
            <a:endParaRPr lang="en-AU" sz="4000"/>
          </a:p>
          <a:p>
            <a:pPr marL="571500" indent="-571500">
              <a:buFont typeface="Arial" panose="020B0604020202020204" pitchFamily="34" charset="0"/>
              <a:buChar char="•"/>
            </a:pPr>
            <a:r>
              <a:rPr lang="en-AU" sz="4000"/>
              <a:t>The school bell will ring at the end of the day.</a:t>
            </a:r>
          </a:p>
          <a:p>
            <a:pPr marL="571500" indent="-571500">
              <a:buFont typeface="Arial" panose="020B0604020202020204" pitchFamily="34" charset="0"/>
              <a:buChar char="•"/>
            </a:pPr>
            <a:endParaRPr lang="en-AU" sz="4000"/>
          </a:p>
          <a:p>
            <a:pPr marL="571500" indent="-571500">
              <a:buFont typeface="Arial" panose="020B0604020202020204" pitchFamily="34" charset="0"/>
              <a:buChar char="•"/>
            </a:pPr>
            <a:r>
              <a:rPr lang="en-AU" sz="4000"/>
              <a:t>I will go to the library today.</a:t>
            </a:r>
          </a:p>
          <a:p>
            <a:pPr marL="571500" indent="-571500">
              <a:buFont typeface="Arial" panose="020B0604020202020204" pitchFamily="34" charset="0"/>
              <a:buChar char="•"/>
            </a:pPr>
            <a:endParaRPr lang="en-AU" sz="4000"/>
          </a:p>
          <a:p>
            <a:pPr marL="571500" indent="-571500">
              <a:buFont typeface="Arial" panose="020B0604020202020204" pitchFamily="34" charset="0"/>
              <a:buChar char="•"/>
            </a:pPr>
            <a:r>
              <a:rPr lang="en-AU" sz="4000"/>
              <a:t>I will brush my teeth tonight.</a:t>
            </a:r>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counting in multiples</a:t>
            </a:r>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sp>
        <p:nvSpPr>
          <p:cNvPr id="5" name="TextBox 4">
            <a:extLst>
              <a:ext uri="{FF2B5EF4-FFF2-40B4-BE49-F238E27FC236}">
                <a16:creationId xmlns:a16="http://schemas.microsoft.com/office/drawing/2014/main" id="{2D69AE28-3A72-2C4D-C46D-CFB5E46F0397}"/>
              </a:ext>
            </a:extLst>
          </p:cNvPr>
          <p:cNvSpPr txBox="1"/>
          <p:nvPr/>
        </p:nvSpPr>
        <p:spPr>
          <a:xfrm>
            <a:off x="3954780" y="2758748"/>
            <a:ext cx="5506720" cy="923330"/>
          </a:xfrm>
          <a:prstGeom prst="rect">
            <a:avLst/>
          </a:prstGeom>
          <a:noFill/>
        </p:spPr>
        <p:txBody>
          <a:bodyPr wrap="square">
            <a:spAutoFit/>
          </a:bodyPr>
          <a:lstStyle/>
          <a:p>
            <a:r>
              <a:rPr lang="en-AU" sz="5400" dirty="0">
                <a:effectLst/>
                <a:latin typeface="Arial" panose="020B0604020202020204" pitchFamily="34" charset="0"/>
                <a:ea typeface="Calibri" panose="020F0502020204030204" pitchFamily="34" charset="0"/>
              </a:rPr>
              <a:t>4, 8, 12, 16, 20 </a:t>
            </a:r>
            <a:endParaRPr lang="en-AU" sz="5400" dirty="0"/>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12 August 2025) and was not modified.</a:t>
            </a:r>
          </a:p>
          <a:p>
            <a:r>
              <a:rPr lang="en-AU"/>
              <a:t>AAMT (The Australian Association of Mathematics Teachers) (2021) </a:t>
            </a:r>
            <a:r>
              <a:rPr lang="en-AU" i="1" u="sng">
                <a:hlinkClick r:id="rId9"/>
              </a:rPr>
              <a:t>Growing Mathematically</a:t>
            </a:r>
            <a:r>
              <a:rPr lang="en-AU"/>
              <a:t>, AAMT website, accessed 7 June 2023.</a:t>
            </a:r>
          </a:p>
          <a:p>
            <a:r>
              <a:rPr lang="en-AU"/>
              <a:t>Joshua A (2006) </a:t>
            </a:r>
            <a:r>
              <a:rPr lang="en-AU" i="1" u="sng"/>
              <a:t>Enrich-e-</a:t>
            </a:r>
            <a:r>
              <a:rPr lang="en-AU" i="1" u="sng" err="1"/>
              <a:t>matics</a:t>
            </a:r>
            <a:r>
              <a:rPr lang="en-AU" i="1" u="sng"/>
              <a:t> – Book 3</a:t>
            </a:r>
            <a:r>
              <a:rPr lang="en-AU" u="sng"/>
              <a:t>, 3rd edition</a:t>
            </a:r>
            <a:r>
              <a:rPr lang="en-AU"/>
              <a:t>, Pearson Education Australia, Melbourne.</a:t>
            </a:r>
          </a:p>
          <a:p>
            <a:r>
              <a:rPr lang="en-AU" err="1"/>
              <a:t>Malola</a:t>
            </a:r>
            <a:r>
              <a:rPr lang="en-AU"/>
              <a:t> M, Stephens M, Symons D (2021) ‘</a:t>
            </a:r>
            <a:r>
              <a:rPr lang="en-AU" u="sng">
                <a:hlinkClick r:id="rId10"/>
              </a:rPr>
              <a:t>Key Teaching Stages for Developing Multiplicative Thinking in Students</a:t>
            </a:r>
            <a:r>
              <a:rPr lang="en-AU"/>
              <a:t>’</a:t>
            </a:r>
            <a:r>
              <a:rPr lang="en-AU" i="1"/>
              <a:t>, Australian Mathematical Education Journal,</a:t>
            </a:r>
            <a:r>
              <a:rPr lang="en-AU"/>
              <a:t> 3(1):9–15 ISSN: ISSN-2652-0176.</a:t>
            </a:r>
          </a:p>
          <a:p>
            <a:r>
              <a:rPr lang="en-AU"/>
              <a:t>Russo T &amp; Russo J (2022) ‘</a:t>
            </a:r>
            <a:r>
              <a:rPr lang="en-AU" u="sng">
                <a:hlinkClick r:id="rId11"/>
              </a:rPr>
              <a:t>Short Activity: Exploring arrays</a:t>
            </a:r>
            <a:r>
              <a:rPr lang="en-AU"/>
              <a:t>’, </a:t>
            </a:r>
            <a:r>
              <a:rPr lang="en-AU" i="1"/>
              <a:t>Australian Primary Mathematics Classroom</a:t>
            </a:r>
            <a:r>
              <a:rPr lang="en-AU"/>
              <a:t>, 27(2):16–17, ISSN: ISSN-1326-0286.</a:t>
            </a:r>
          </a:p>
          <a:p>
            <a:r>
              <a:rPr lang="en-AU" sz="1100"/>
              <a:t>.</a:t>
            </a:r>
            <a:endParaRPr lang="en-AU"/>
          </a:p>
          <a:p>
            <a:endParaRPr lang="en-AU"/>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C838D-C20A-A75E-FE55-6BCE94471EC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FBB86AC-FD3E-19D4-44D8-29E7C036B984}"/>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0D35A6C3-813E-9350-D0C0-EDAEFB92F04D}"/>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t>
            </a:r>
            <a:r>
              <a:rPr kumimoji="0" lang="en-AU" sz="1200" b="0" i="0" u="none" strike="noStrike" kern="1200" cap="none" spc="0" normalizeH="0" baseline="0" noProof="0" err="1">
                <a:ln>
                  <a:noFill/>
                </a:ln>
                <a:solidFill>
                  <a:srgbClr val="FFFFFF"/>
                </a:solidFill>
                <a:effectLst/>
                <a:uLnTx/>
                <a:uFillTx/>
                <a:ea typeface="+mn-ea"/>
                <a:cs typeface="+mn-cs"/>
              </a:rPr>
              <a:t>andsyllabus</a:t>
            </a:r>
            <a:r>
              <a:rPr kumimoji="0" lang="en-AU" sz="1200" b="0" i="0" u="none" strike="noStrike" kern="1200" cap="none" spc="0" normalizeH="0" baseline="0" noProof="0">
                <a:ln>
                  <a:noFill/>
                </a:ln>
                <a:solidFill>
                  <a:srgbClr val="FFFFFF"/>
                </a:solidFill>
                <a:effectLst/>
                <a:uLnTx/>
                <a:uFillTx/>
                <a:ea typeface="+mn-ea"/>
                <a:cs typeface="+mn-cs"/>
              </a:rPr>
              <a:t>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118FCC37-2508-0E26-3668-4A2DE960B6CF}"/>
              </a:ext>
            </a:extLst>
          </p:cNvPr>
          <p:cNvSpPr>
            <a:spLocks noGrp="1"/>
          </p:cNvSpPr>
          <p:nvPr>
            <p:ph idx="1"/>
          </p:nvPr>
        </p:nvSpPr>
        <p:spPr/>
        <p:txBody>
          <a:bodyPr vert="horz" lIns="0" tIns="0" rIns="0" bIns="0" rtlCol="0" anchor="t">
            <a:noAutofit/>
          </a:bodyPr>
          <a:lstStyle/>
          <a:p>
            <a:r>
              <a:rPr lang="en-AU" sz="1100"/>
              <a:t>.</a:t>
            </a:r>
            <a:r>
              <a:rPr lang="en-AU"/>
              <a:t>Siemon D, Warren E, Beswick K, Faragher R, Miller J, Horne Marj, </a:t>
            </a:r>
            <a:r>
              <a:rPr lang="en-AU" err="1"/>
              <a:t>Jazby</a:t>
            </a:r>
            <a:r>
              <a:rPr lang="en-AU"/>
              <a:t> D, Breed M, Clark J, Brady K (2022) </a:t>
            </a:r>
            <a:r>
              <a:rPr lang="en-AU" i="1"/>
              <a:t>Teaching Mathematics: Foundation to middle years</a:t>
            </a:r>
            <a:r>
              <a:rPr lang="en-AU"/>
              <a:t>, 3rd </a:t>
            </a:r>
            <a:r>
              <a:rPr lang="en-AU" err="1"/>
              <a:t>edn</a:t>
            </a:r>
            <a:r>
              <a:rPr lang="en-AU"/>
              <a:t>, Oxford University Press, Australia. </a:t>
            </a:r>
          </a:p>
          <a:p>
            <a:r>
              <a:rPr lang="en-AU"/>
              <a:t>Swan P (2003) </a:t>
            </a:r>
            <a:r>
              <a:rPr lang="en-AU" i="1" u="sng"/>
              <a:t>Dice Dazzlers</a:t>
            </a:r>
            <a:r>
              <a:rPr lang="en-AU"/>
              <a:t>, A-Z Type, Australia. </a:t>
            </a:r>
          </a:p>
          <a:p>
            <a:r>
              <a:rPr lang="en-AU" u="sng"/>
              <a:t>University of Cambridge (Faculty of Mathematics)</a:t>
            </a:r>
            <a:r>
              <a:rPr lang="en-AU"/>
              <a:t> (1997–2023) </a:t>
            </a:r>
            <a:r>
              <a:rPr lang="en-AU" i="1" u="sng">
                <a:hlinkClick r:id="rId6"/>
              </a:rPr>
              <a:t>Round and round the circle</a:t>
            </a:r>
            <a:r>
              <a:rPr lang="en-AU" u="sng"/>
              <a:t>,</a:t>
            </a:r>
            <a:r>
              <a:rPr lang="en-AU"/>
              <a:t> NRICH website, accessed 7 June 2023. </a:t>
            </a:r>
          </a:p>
          <a:p>
            <a:r>
              <a:rPr lang="en-AU"/>
              <a:t>Van de Walle J, Karp K, Bay-Williams JM, Brass A, Bentley B, Ferguson S, Goff W, Livy S, Marshman M, Martin D, Pearn C, </a:t>
            </a:r>
            <a:r>
              <a:rPr lang="en-AU" err="1"/>
              <a:t>Prodromou</a:t>
            </a:r>
            <a:r>
              <a:rPr lang="en-AU"/>
              <a:t> T, Symons D and Wilkie K (2019) </a:t>
            </a:r>
            <a:r>
              <a:rPr lang="en-AU" i="1" u="sng"/>
              <a:t>Primary and Middle Years Mathematics: Teaching Developmentally</a:t>
            </a:r>
            <a:r>
              <a:rPr lang="en-AU"/>
              <a:t>, 1st Australian </a:t>
            </a:r>
            <a:r>
              <a:rPr lang="en-AU" err="1"/>
              <a:t>edn</a:t>
            </a:r>
            <a:r>
              <a:rPr lang="en-AU"/>
              <a:t>, Pearson Education Australia, Melbourne.</a:t>
            </a:r>
          </a:p>
          <a:p>
            <a:r>
              <a:rPr lang="en-AU" b="1" u="sng"/>
              <a:t>Further reading</a:t>
            </a:r>
            <a:endParaRPr lang="en-AU" b="1"/>
          </a:p>
          <a:p>
            <a:r>
              <a:rPr lang="en-AU"/>
              <a:t>Mathematical Association of NSW Inc (2021) </a:t>
            </a:r>
            <a:r>
              <a:rPr lang="en-AU" i="1"/>
              <a:t>Teaching through problem solving Primary and Middle Years</a:t>
            </a:r>
            <a:r>
              <a:rPr lang="en-AU"/>
              <a:t>, Pamphlet No. 95.</a:t>
            </a:r>
          </a:p>
          <a:p>
            <a:r>
              <a:rPr lang="en-AU"/>
              <a:t>Way J (2014) </a:t>
            </a:r>
            <a:r>
              <a:rPr lang="en-AU" i="1" u="sng">
                <a:hlinkClick r:id="rId7"/>
              </a:rPr>
              <a:t>Using Questioning to Stimulate Mathematical Thinking</a:t>
            </a:r>
            <a:r>
              <a:rPr lang="en-AU"/>
              <a:t>, NRICH website, accessed 21 June 2023</a:t>
            </a:r>
          </a:p>
          <a:p>
            <a:endParaRPr lang="en-AU"/>
          </a:p>
        </p:txBody>
      </p:sp>
      <p:sp>
        <p:nvSpPr>
          <p:cNvPr id="2" name="Slide Number Placeholder 1">
            <a:extLst>
              <a:ext uri="{FF2B5EF4-FFF2-40B4-BE49-F238E27FC236}">
                <a16:creationId xmlns:a16="http://schemas.microsoft.com/office/drawing/2014/main" id="{F0C7227B-5AF2-C194-B011-F47B97BD7EC0}"/>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69</a:t>
            </a:fld>
            <a:endParaRPr lang="en-AU"/>
          </a:p>
        </p:txBody>
      </p:sp>
    </p:spTree>
    <p:extLst>
      <p:ext uri="{BB962C8B-B14F-4D97-AF65-F5344CB8AC3E}">
        <p14:creationId xmlns:p14="http://schemas.microsoft.com/office/powerpoint/2010/main" val="3650496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Props1.xml><?xml version="1.0" encoding="utf-8"?>
<ds:datastoreItem xmlns:ds="http://schemas.openxmlformats.org/officeDocument/2006/customXml" ds:itemID="{8C81D68B-D7E9-457E-B4DA-F84AA1478E04}"/>
</file>

<file path=customXml/itemProps2.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3.xml><?xml version="1.0" encoding="utf-8"?>
<ds:datastoreItem xmlns:ds="http://schemas.openxmlformats.org/officeDocument/2006/customXml" ds:itemID="{CE555570-2BD4-426B-AA32-0A79CB6508A8}">
  <ds:schemaRefs>
    <ds:schemaRef ds:uri="http://purl.org/dc/dcmitype/"/>
    <ds:schemaRef ds:uri="http://purl.org/dc/elements/1.1/"/>
    <ds:schemaRef ds:uri="http://schemas.microsoft.com/office/2006/documentManagement/types"/>
    <ds:schemaRef ds:uri="http://schemas.microsoft.com/office/2006/metadata/properties"/>
    <ds:schemaRef ds:uri="http://schemas.microsoft.com/office/infopath/2007/PartnerControls"/>
    <ds:schemaRef ds:uri="http://purl.org/dc/terms/"/>
    <ds:schemaRef ds:uri="http://schemas.openxmlformats.org/package/2006/metadata/core-properties"/>
    <ds:schemaRef ds:uri="60129b06-f64b-40a8-96e2-c5b2f86112b1"/>
    <ds:schemaRef ds:uri="7e763d47-3c66-4c58-9425-1477fd3ccd1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Review of learning template (1)</Template>
  <TotalTime>1230</TotalTime>
  <Words>6526</Words>
  <Application>Microsoft Office PowerPoint</Application>
  <PresentationFormat>Widescreen</PresentationFormat>
  <Paragraphs>838</Paragraphs>
  <Slides>70</Slides>
  <Notes>70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70</vt:i4>
      </vt:variant>
    </vt:vector>
  </HeadingPairs>
  <TitlesOfParts>
    <vt:vector size="78" baseType="lpstr">
      <vt:lpstr>Public Sans Light</vt:lpstr>
      <vt:lpstr>Calibri</vt:lpstr>
      <vt:lpstr>Arial</vt:lpstr>
      <vt:lpstr>Montserrat</vt:lpstr>
      <vt:lpstr>Wingdings</vt:lpstr>
      <vt:lpstr>Times New Roman</vt:lpstr>
      <vt:lpstr>Public Sans</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partitioning and regrouping </vt:lpstr>
      <vt:lpstr>Review of learning 2</vt:lpstr>
      <vt:lpstr>True or false (1)</vt:lpstr>
      <vt:lpstr>Short response (5)</vt:lpstr>
      <vt:lpstr>Short response (6)</vt:lpstr>
      <vt:lpstr>Short response (7)</vt:lpstr>
      <vt:lpstr>Short response (8)</vt:lpstr>
      <vt:lpstr>Activity 2 – role of zero</vt:lpstr>
      <vt:lpstr>Review of learning 3</vt:lpstr>
      <vt:lpstr>Multiple choice (2)</vt:lpstr>
      <vt:lpstr>Short response (5)</vt:lpstr>
      <vt:lpstr>Short response (10)</vt:lpstr>
      <vt:lpstr>Short response (11)</vt:lpstr>
      <vt:lpstr>Short response (12)</vt:lpstr>
      <vt:lpstr>Activity 3 – before and after</vt:lpstr>
      <vt:lpstr>Review of learning 4</vt:lpstr>
      <vt:lpstr>True or false (2)</vt:lpstr>
      <vt:lpstr>Short response (13)</vt:lpstr>
      <vt:lpstr>Short response (14)</vt:lpstr>
      <vt:lpstr>Short response (15)</vt:lpstr>
      <vt:lpstr>Short response (16)</vt:lpstr>
      <vt:lpstr>Activity 4 – representing 4-digit numbers</vt:lpstr>
      <vt:lpstr>Review of learning 5</vt:lpstr>
      <vt:lpstr>Multiple choice (3)</vt:lpstr>
      <vt:lpstr>Short response (17)</vt:lpstr>
      <vt:lpstr>Short response (18)</vt:lpstr>
      <vt:lpstr>Short response (19)</vt:lpstr>
      <vt:lpstr>Short response (20)</vt:lpstr>
      <vt:lpstr>Activity 5 – patterns of multiples</vt:lpstr>
      <vt:lpstr>Review of learning 6</vt:lpstr>
      <vt:lpstr>True or false (3)</vt:lpstr>
      <vt:lpstr>Short response (21)</vt:lpstr>
      <vt:lpstr>Short response (22)</vt:lpstr>
      <vt:lpstr>Short response (23)</vt:lpstr>
      <vt:lpstr>Short response (24)</vt:lpstr>
      <vt:lpstr>Activity 6 – comparing number patterns</vt:lpstr>
      <vt:lpstr>Review of learning 7</vt:lpstr>
      <vt:lpstr>Multiple choice (4)</vt:lpstr>
      <vt:lpstr>Short response (25)</vt:lpstr>
      <vt:lpstr>Short response (26)</vt:lpstr>
      <vt:lpstr>Short response (27)</vt:lpstr>
      <vt:lpstr>Short response (28)</vt:lpstr>
      <vt:lpstr>Activity 7 – multiplicative relationships (1)</vt:lpstr>
      <vt:lpstr>Activity 7 – multiplicative relationships (2) (2)</vt:lpstr>
      <vt:lpstr>Review of learning 8</vt:lpstr>
      <vt:lpstr>True or false (4)</vt:lpstr>
      <vt:lpstr>Short response (29)</vt:lpstr>
      <vt:lpstr>Short response (30)</vt:lpstr>
      <vt:lpstr>Short response (31)</vt:lpstr>
      <vt:lpstr>Short response (32)</vt:lpstr>
      <vt:lpstr>Activity 8 – counting in multiples</vt:lpstr>
      <vt:lpstr>Double Venn diagram</vt:lpstr>
      <vt:lpstr>Frayer</vt:lpstr>
      <vt:lpstr>Spider map</vt:lpstr>
      <vt:lpstr>Cline</vt:lpstr>
      <vt:lpstr>Compare and contrast</vt:lpstr>
      <vt:lpstr>Multiple choice (5)</vt:lpstr>
      <vt:lpstr>Multiple choice</vt:lpstr>
      <vt:lpstr>References</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2026-02-08T21:01:37Z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y fmtid="{D5CDD505-2E9C-101B-9397-08002B2CF9AE}" pid="11" name="Order">
    <vt:r8>2439400</vt:r8>
  </property>
  <property fmtid="{D5CDD505-2E9C-101B-9397-08002B2CF9AE}" pid="12" name="xd_Signature">
    <vt:bool>false</vt:bool>
  </property>
  <property fmtid="{D5CDD505-2E9C-101B-9397-08002B2CF9AE}" pid="13" name="xd_ProgID">
    <vt:lpwstr/>
  </property>
  <property fmtid="{D5CDD505-2E9C-101B-9397-08002B2CF9AE}" pid="14" name="ComplianceAssetId">
    <vt:lpwstr/>
  </property>
  <property fmtid="{D5CDD505-2E9C-101B-9397-08002B2CF9AE}" pid="15" name="TemplateUrl">
    <vt:lpwstr/>
  </property>
  <property fmtid="{D5CDD505-2E9C-101B-9397-08002B2CF9AE}" pid="16" name="_ExtendedDescription">
    <vt:lpwstr/>
  </property>
  <property fmtid="{D5CDD505-2E9C-101B-9397-08002B2CF9AE}" pid="17" name="TriggerFlowInfo">
    <vt:lpwstr/>
  </property>
</Properties>
</file>