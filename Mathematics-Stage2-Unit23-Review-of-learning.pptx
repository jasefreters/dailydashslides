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3"/>
  </p:notesMasterIdLst>
  <p:handoutMasterIdLst>
    <p:handoutMasterId r:id="rId74"/>
  </p:handoutMasterIdLst>
  <p:sldIdLst>
    <p:sldId id="365" r:id="rId5"/>
    <p:sldId id="26505" r:id="rId6"/>
    <p:sldId id="26359" r:id="rId7"/>
    <p:sldId id="271" r:id="rId8"/>
    <p:sldId id="26577" r:id="rId9"/>
    <p:sldId id="358" r:id="rId10"/>
    <p:sldId id="26580" r:id="rId11"/>
    <p:sldId id="26581" r:id="rId12"/>
    <p:sldId id="26582" r:id="rId13"/>
    <p:sldId id="26649" r:id="rId14"/>
    <p:sldId id="26583" r:id="rId15"/>
    <p:sldId id="26586" r:id="rId16"/>
    <p:sldId id="26587" r:id="rId17"/>
    <p:sldId id="26588" r:id="rId18"/>
    <p:sldId id="26589" r:id="rId19"/>
    <p:sldId id="26590" r:id="rId20"/>
    <p:sldId id="26519" r:id="rId21"/>
    <p:sldId id="26592" r:id="rId22"/>
    <p:sldId id="26593" r:id="rId23"/>
    <p:sldId id="26596" r:id="rId24"/>
    <p:sldId id="26597" r:id="rId25"/>
    <p:sldId id="26598" r:id="rId26"/>
    <p:sldId id="26599" r:id="rId27"/>
    <p:sldId id="26651" r:id="rId28"/>
    <p:sldId id="26601" r:id="rId29"/>
    <p:sldId id="26604" r:id="rId30"/>
    <p:sldId id="26605" r:id="rId31"/>
    <p:sldId id="26606" r:id="rId32"/>
    <p:sldId id="26607" r:id="rId33"/>
    <p:sldId id="26608" r:id="rId34"/>
    <p:sldId id="26652" r:id="rId35"/>
    <p:sldId id="26610" r:id="rId36"/>
    <p:sldId id="26612" r:id="rId37"/>
    <p:sldId id="26614" r:id="rId38"/>
    <p:sldId id="26615" r:id="rId39"/>
    <p:sldId id="26616" r:id="rId40"/>
    <p:sldId id="26617" r:id="rId41"/>
    <p:sldId id="26455" r:id="rId42"/>
    <p:sldId id="26619" r:id="rId43"/>
    <p:sldId id="26622" r:id="rId44"/>
    <p:sldId id="26623" r:id="rId45"/>
    <p:sldId id="26624" r:id="rId46"/>
    <p:sldId id="26625" r:id="rId47"/>
    <p:sldId id="26626" r:id="rId48"/>
    <p:sldId id="26521" r:id="rId49"/>
    <p:sldId id="26628" r:id="rId50"/>
    <p:sldId id="26629" r:id="rId51"/>
    <p:sldId id="26632" r:id="rId52"/>
    <p:sldId id="26633" r:id="rId53"/>
    <p:sldId id="26634" r:id="rId54"/>
    <p:sldId id="26635" r:id="rId55"/>
    <p:sldId id="26430" r:id="rId56"/>
    <p:sldId id="26637" r:id="rId57"/>
    <p:sldId id="26640" r:id="rId58"/>
    <p:sldId id="26641" r:id="rId59"/>
    <p:sldId id="26642" r:id="rId60"/>
    <p:sldId id="26643" r:id="rId61"/>
    <p:sldId id="26644" r:id="rId62"/>
    <p:sldId id="26517" r:id="rId63"/>
    <p:sldId id="26393" r:id="rId64"/>
    <p:sldId id="26387" r:id="rId65"/>
    <p:sldId id="26395" r:id="rId66"/>
    <p:sldId id="26391" r:id="rId67"/>
    <p:sldId id="26402" r:id="rId68"/>
    <p:sldId id="26507" r:id="rId69"/>
    <p:sldId id="26510" r:id="rId70"/>
    <p:sldId id="26648" r:id="rId71"/>
    <p:sldId id="361" r:id="rId72"/>
  </p:sldIdLst>
  <p:sldSz cx="12192000" cy="6858000"/>
  <p:notesSz cx="6858000" cy="9144000"/>
  <p:embeddedFontLst>
    <p:embeddedFont>
      <p:font typeface="Montserrat" panose="00000500000000000000" pitchFamily="2" charset="0"/>
      <p:regular r:id="rId75"/>
      <p:bold r:id="rId76"/>
      <p:italic r:id="rId77"/>
      <p:boldItalic r:id="rId78"/>
    </p:embeddedFont>
    <p:embeddedFont>
      <p:font typeface="Public Sans" pitchFamily="2" charset="0"/>
      <p:regular r:id="rId79"/>
      <p:bold r:id="rId80"/>
      <p:italic r:id="rId81"/>
      <p:boldItalic r:id="rId82"/>
    </p:embeddedFont>
    <p:embeddedFont>
      <p:font typeface="Public Sans Light" pitchFamily="2" charset="0"/>
      <p:regular r:id="rId83"/>
      <p:italic r:id="rId84"/>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05"/>
            <p14:sldId id="26359"/>
          </p14:sldIdLst>
        </p14:section>
        <p14:section name="Review of learning 1" id="{4B1EDACC-5006-43DF-9D93-DE177A158796}">
          <p14:sldIdLst>
            <p14:sldId id="271"/>
            <p14:sldId id="26577"/>
            <p14:sldId id="358"/>
            <p14:sldId id="26580"/>
            <p14:sldId id="26581"/>
            <p14:sldId id="26582"/>
            <p14:sldId id="26649"/>
          </p14:sldIdLst>
        </p14:section>
        <p14:section name="Review of learning 2" id="{0AC6BBCB-7E49-46CE-B777-EFCDD4B60F91}">
          <p14:sldIdLst>
            <p14:sldId id="26583"/>
            <p14:sldId id="26586"/>
            <p14:sldId id="26587"/>
            <p14:sldId id="26588"/>
            <p14:sldId id="26589"/>
            <p14:sldId id="26590"/>
            <p14:sldId id="26519"/>
          </p14:sldIdLst>
        </p14:section>
        <p14:section name="Review of learning 3" id="{6F5E1C19-5255-4FF7-A3CD-4549F7EF69B2}">
          <p14:sldIdLst>
            <p14:sldId id="26592"/>
            <p14:sldId id="26593"/>
            <p14:sldId id="26596"/>
            <p14:sldId id="26597"/>
            <p14:sldId id="26598"/>
            <p14:sldId id="26599"/>
            <p14:sldId id="26651"/>
          </p14:sldIdLst>
        </p14:section>
        <p14:section name="Review of learning 4" id="{6EB8E1CE-ED7B-4635-88AB-9D1D052BB011}">
          <p14:sldIdLst>
            <p14:sldId id="26601"/>
            <p14:sldId id="26604"/>
            <p14:sldId id="26605"/>
            <p14:sldId id="26606"/>
            <p14:sldId id="26607"/>
            <p14:sldId id="26608"/>
            <p14:sldId id="26652"/>
          </p14:sldIdLst>
        </p14:section>
        <p14:section name="Review of learning 5" id="{E365C8CF-14E0-4F5A-BCE8-2E930DEEA864}">
          <p14:sldIdLst>
            <p14:sldId id="26610"/>
            <p14:sldId id="26612"/>
            <p14:sldId id="26614"/>
            <p14:sldId id="26615"/>
            <p14:sldId id="26616"/>
            <p14:sldId id="26617"/>
            <p14:sldId id="26455"/>
          </p14:sldIdLst>
        </p14:section>
        <p14:section name="Review of learning 6" id="{6721D3DC-F7BB-49CA-9E61-8454C104591D}">
          <p14:sldIdLst>
            <p14:sldId id="26619"/>
            <p14:sldId id="26622"/>
            <p14:sldId id="26623"/>
            <p14:sldId id="26624"/>
            <p14:sldId id="26625"/>
            <p14:sldId id="26626"/>
            <p14:sldId id="26521"/>
          </p14:sldIdLst>
        </p14:section>
        <p14:section name="Review of learning 7" id="{CF63834E-0BE9-495B-9761-037C836F185E}">
          <p14:sldIdLst>
            <p14:sldId id="26628"/>
            <p14:sldId id="26629"/>
            <p14:sldId id="26632"/>
            <p14:sldId id="26633"/>
            <p14:sldId id="26634"/>
            <p14:sldId id="26635"/>
            <p14:sldId id="26430"/>
          </p14:sldIdLst>
        </p14:section>
        <p14:section name="Review of learning 8" id="{6FF8F7EC-803E-4F84-BA41-6B3ED673D597}">
          <p14:sldIdLst>
            <p14:sldId id="26637"/>
            <p14:sldId id="26640"/>
            <p14:sldId id="26641"/>
            <p14:sldId id="26642"/>
            <p14:sldId id="26643"/>
            <p14:sldId id="26644"/>
            <p14:sldId id="26517"/>
          </p14:sldIdLst>
        </p14:section>
        <p14:section name="Assets" id="{ACCADEBA-79DB-4F18-8F19-E4DF86159DFB}">
          <p14:sldIdLst>
            <p14:sldId id="26393"/>
            <p14:sldId id="26387"/>
            <p14:sldId id="26395"/>
            <p14:sldId id="26391"/>
            <p14:sldId id="26402"/>
            <p14:sldId id="26507"/>
            <p14:sldId id="26510"/>
          </p14:sldIdLst>
        </p14:section>
        <p14:section name="References &amp; copyright" id="{DBC31484-F5F8-4CB1-8DB4-A562A9780899}">
          <p14:sldIdLst>
            <p14:sldId id="26648"/>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1B1BAE1E-6EF3-DBA4-64B9-54D7242E20D4}" name="Stacey Makila" initials="SM" userId="S::Stacey.Wolfenden@det.nsw.edu.au::1f90aada-aa7f-459b-b23b-17275cc27e9e" providerId="AD"/>
  <p188:author id="{5C30132E-288C-53FD-93C9-9EB835F45213}" name="Nichole Wood" initials="NW" userId="S::NICHOLE.DEMPSEY@det.nsw.edu.au::f4dd199f-85d5-4f2b-8bc1-8ba23649a9c2" providerId="AD"/>
  <p188:author id="{8C6D2936-6756-1476-1E4B-4B33D1F539E1}" name="Carrie Webeck" initials="CW" userId="S::carrie-ann.webeck@det.nsw.edu.au::e5c4b697-ca15-4f3a-a906-1289ddc2fc07" providerId="AD"/>
  <p188:author id="{0EB36D6E-3AE9-3B2C-28D2-8291BFBA4A39}" name="Christie Williams" initials="CW" userId="S::christie.williams2@det.nsw.edu.au::881f3a5c-b614-46db-a2f1-8ad4840e9c37" providerId="AD"/>
  <p188:author id="{95D16B7D-CADB-F2BF-AC29-D680545C75EE}" name="Carrie Webeck" initials="CW" userId="S::CARRIE-ANN.WEBECK@det.nsw.edu.au::e5c4b697-ca15-4f3a-a906-1289ddc2fc07"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9B0C"/>
    <a:srgbClr val="007A8A"/>
    <a:srgbClr val="9B6808"/>
    <a:srgbClr val="427B2D"/>
    <a:srgbClr val="B51458"/>
    <a:srgbClr val="00ACC2"/>
    <a:srgbClr val="64BB47"/>
    <a:srgbClr val="EDF9E0"/>
    <a:srgbClr val="87D830"/>
    <a:srgbClr val="447F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FFC03B-B1E9-4EAE-F37A-1CE3E7FF5E86}" v="15" dt="2025-11-02T23:05:42.730"/>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6267" autoAdjust="0"/>
  </p:normalViewPr>
  <p:slideViewPr>
    <p:cSldViewPr snapToGrid="0">
      <p:cViewPr varScale="1">
        <p:scale>
          <a:sx n="55" d="100"/>
          <a:sy n="55" d="100"/>
        </p:scale>
        <p:origin x="1640" y="32"/>
      </p:cViewPr>
      <p:guideLst>
        <p:guide orient="horz" pos="2160"/>
        <p:guide pos="386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10.fntdata"/><Relationship Id="rId89" Type="http://schemas.microsoft.com/office/2015/10/relationships/revisionInfo" Target="revisionInfo.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handoutMaster" Target="handoutMasters/handoutMaster1.xml"/><Relationship Id="rId79" Type="http://schemas.openxmlformats.org/officeDocument/2006/relationships/font" Target="fonts/font5.fntdata"/><Relationship Id="rId5" Type="http://schemas.openxmlformats.org/officeDocument/2006/relationships/slide" Target="slides/slide1.xml"/><Relationship Id="rId90" Type="http://schemas.microsoft.com/office/2018/10/relationships/authors" Target="authors.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font" Target="fonts/font3.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6.fntdata"/><Relationship Id="rId85"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font" Target="fonts/font1.fntdata"/><Relationship Id="rId83" Type="http://schemas.openxmlformats.org/officeDocument/2006/relationships/font" Target="fonts/font9.fntdata"/><Relationship Id="rId88"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notesMaster" Target="notesMasters/notesMaster1.xml"/><Relationship Id="rId78" Type="http://schemas.openxmlformats.org/officeDocument/2006/relationships/font" Target="fonts/font4.fntdata"/><Relationship Id="rId81" Type="http://schemas.openxmlformats.org/officeDocument/2006/relationships/font" Target="fonts/font7.fntdata"/><Relationship Id="rId86"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2.fntdata"/><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theme" Target="theme/theme1.xml"/><Relationship Id="rId61" Type="http://schemas.openxmlformats.org/officeDocument/2006/relationships/slide" Target="slides/slide57.xml"/><Relationship Id="rId82" Type="http://schemas.openxmlformats.org/officeDocument/2006/relationships/font" Target="fonts/font8.fntdata"/><Relationship Id="rId19"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27/11/2025</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27/11/2025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dirty="0"/>
          </a:p>
          <a:p>
            <a:r>
              <a:rPr lang="en-AU" dirty="0"/>
              <a:t>This Review of Learning slide deck revisits key concepts from the following units:</a:t>
            </a:r>
          </a:p>
          <a:p>
            <a:pPr marL="285750" indent="-285750">
              <a:buFont typeface="Arial" panose="020B0604020202020204" pitchFamily="34" charset="0"/>
              <a:buChar char="•"/>
            </a:pPr>
            <a:r>
              <a:rPr lang="en-AU" dirty="0"/>
              <a:t>Stage 2 Year B Unit 23</a:t>
            </a:r>
          </a:p>
          <a:p>
            <a:pPr marL="285750" indent="-285750">
              <a:buFont typeface="Arial" panose="020B0604020202020204" pitchFamily="34" charset="0"/>
              <a:buChar char="•"/>
            </a:pPr>
            <a:r>
              <a:rPr lang="en-AU" dirty="0"/>
              <a:t>Stage 2 Year B Unit 22</a:t>
            </a:r>
          </a:p>
          <a:p>
            <a:pPr marL="285750" indent="-285750">
              <a:buFont typeface="Arial" panose="020B0604020202020204" pitchFamily="34" charset="0"/>
              <a:buChar char="•"/>
            </a:pPr>
            <a:r>
              <a:rPr lang="en-AU" dirty="0"/>
              <a:t>Stage 2 Year B Unit 21</a:t>
            </a:r>
          </a:p>
          <a:p>
            <a:r>
              <a:rPr lang="en-AU" dirty="0"/>
              <a:t>It also includes opportunities to review prior learning in non-number content, supporting consolidation across focus areas.</a:t>
            </a:r>
          </a:p>
          <a:p>
            <a:endParaRPr lang="en-AU" dirty="0"/>
          </a:p>
          <a:p>
            <a:r>
              <a:rPr lang="en-AU" dirty="0"/>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dirty="0"/>
          </a:p>
          <a:p>
            <a:r>
              <a:rPr lang="en-AU" b="1" dirty="0"/>
              <a:t>1.</a:t>
            </a:r>
          </a:p>
          <a:p>
            <a:r>
              <a:rPr lang="en-AU" b="1" dirty="0"/>
              <a:t>Multiple-choice questions/True or false: </a:t>
            </a:r>
            <a:r>
              <a:rPr lang="en-AU" dirty="0"/>
              <a:t>Designed to promote active retrieval of key concepts and identify common misconceptions in number, supporting consolidation, understanding and fluency.</a:t>
            </a:r>
            <a:br>
              <a:rPr lang="en-AU" dirty="0"/>
            </a:br>
            <a:r>
              <a:rPr lang="en-AU" dirty="0"/>
              <a:t>These questions:</a:t>
            </a:r>
          </a:p>
          <a:p>
            <a:endParaRPr lang="en-AU" dirty="0"/>
          </a:p>
          <a:p>
            <a:pPr marL="285750" indent="-285750">
              <a:buFont typeface="Wingdings" panose="05000000000000000000" pitchFamily="2" charset="2"/>
              <a:buChar char="ü"/>
            </a:pPr>
            <a:r>
              <a:rPr lang="en-AU" dirty="0"/>
              <a:t>support spaced and interleaved practice</a:t>
            </a:r>
          </a:p>
          <a:p>
            <a:pPr marL="285750" indent="-285750">
              <a:buFont typeface="Wingdings" panose="05000000000000000000" pitchFamily="2" charset="2"/>
              <a:buChar char="ü"/>
            </a:pPr>
            <a:r>
              <a:rPr lang="en-AU" dirty="0"/>
              <a:t>help identify and address common misconceptions </a:t>
            </a:r>
          </a:p>
          <a:p>
            <a:pPr marL="285750" indent="-285750">
              <a:buFont typeface="Wingdings" panose="05000000000000000000" pitchFamily="2" charset="2"/>
              <a:buChar char="ü"/>
            </a:pPr>
            <a:r>
              <a:rPr lang="en-AU" dirty="0"/>
              <a:t>support active recall and immediate feedback</a:t>
            </a:r>
          </a:p>
          <a:p>
            <a:pPr marL="285750" indent="-285750">
              <a:buFont typeface="Wingdings" panose="05000000000000000000" pitchFamily="2" charset="2"/>
              <a:buChar char="ü"/>
            </a:pPr>
            <a:r>
              <a:rPr lang="en-AU" dirty="0"/>
              <a:t>support whole class participation</a:t>
            </a:r>
          </a:p>
          <a:p>
            <a:pPr marL="285750" indent="-285750">
              <a:buFont typeface="Wingdings" panose="05000000000000000000" pitchFamily="2" charset="2"/>
              <a:buChar char="ü"/>
            </a:pPr>
            <a:r>
              <a:rPr lang="en-AU" dirty="0"/>
              <a:t>identify areas requiring reteach</a:t>
            </a:r>
          </a:p>
          <a:p>
            <a:endParaRPr lang="en-AU" dirty="0"/>
          </a:p>
          <a:p>
            <a:r>
              <a:rPr lang="en-AU" b="1" dirty="0"/>
              <a:t>2.</a:t>
            </a:r>
            <a:br>
              <a:rPr lang="en-AU" b="1" dirty="0"/>
            </a:br>
            <a:r>
              <a:rPr lang="en-AU" b="1" dirty="0"/>
              <a:t>Short-response question sets: </a:t>
            </a:r>
            <a:r>
              <a:rPr lang="en-AU" dirty="0"/>
              <a:t>Carefully grouped questions that encourage spaced and interleaved practice across multiple focus areas, helping students revisit and apply knowledge from different points in time.</a:t>
            </a:r>
            <a:br>
              <a:rPr lang="en-AU" dirty="0"/>
            </a:br>
            <a:r>
              <a:rPr lang="en-AU" dirty="0"/>
              <a:t>These questions:</a:t>
            </a:r>
          </a:p>
          <a:p>
            <a:endParaRPr lang="en-AU" dirty="0"/>
          </a:p>
          <a:p>
            <a:pPr marL="285750" indent="-285750">
              <a:buFont typeface="Wingdings" panose="05000000000000000000" pitchFamily="2" charset="2"/>
              <a:buChar char="ü"/>
            </a:pPr>
            <a:r>
              <a:rPr lang="en-AU" dirty="0"/>
              <a:t>have a combination of question types </a:t>
            </a:r>
          </a:p>
          <a:p>
            <a:pPr marL="285750" indent="-285750">
              <a:buFont typeface="Wingdings" panose="05000000000000000000" pitchFamily="2" charset="2"/>
              <a:buChar char="ü"/>
            </a:pPr>
            <a:r>
              <a:rPr lang="en-AU" dirty="0"/>
              <a:t>address a range of focus areas</a:t>
            </a:r>
          </a:p>
          <a:p>
            <a:pPr marL="285750" indent="-285750">
              <a:buFont typeface="Wingdings" panose="05000000000000000000" pitchFamily="2" charset="2"/>
              <a:buChar char="ü"/>
            </a:pPr>
            <a:r>
              <a:rPr lang="en-AU" dirty="0"/>
              <a:t>build automaticity and fluency</a:t>
            </a:r>
          </a:p>
          <a:p>
            <a:pPr marL="285750" indent="-285750">
              <a:buFont typeface="Wingdings" panose="05000000000000000000" pitchFamily="2" charset="2"/>
              <a:buChar char="ü"/>
            </a:pPr>
            <a:r>
              <a:rPr lang="en-AU" dirty="0"/>
              <a:t>support active recall </a:t>
            </a:r>
          </a:p>
          <a:p>
            <a:pPr marL="285750" indent="-285750">
              <a:buFont typeface="Wingdings" panose="05000000000000000000" pitchFamily="2" charset="2"/>
              <a:buChar char="ü"/>
            </a:pPr>
            <a:r>
              <a:rPr lang="en-AU" dirty="0"/>
              <a:t>allow for immediate feedback</a:t>
            </a:r>
          </a:p>
          <a:p>
            <a:pPr marL="285750" indent="-285750">
              <a:buFont typeface="Wingdings" panose="05000000000000000000" pitchFamily="2" charset="2"/>
              <a:buChar char="ü"/>
            </a:pPr>
            <a:r>
              <a:rPr lang="en-AU" dirty="0"/>
              <a:t>identify content requiring reteach</a:t>
            </a:r>
          </a:p>
          <a:p>
            <a:endParaRPr lang="en-AU" dirty="0"/>
          </a:p>
          <a:p>
            <a:r>
              <a:rPr lang="en-AU" b="1" dirty="0"/>
              <a:t>3.</a:t>
            </a:r>
          </a:p>
          <a:p>
            <a:r>
              <a:rPr lang="en-AU" b="1" dirty="0"/>
              <a:t>Developing number sense activities: </a:t>
            </a:r>
            <a:r>
              <a:rPr lang="en-AU" dirty="0"/>
              <a:t>A variety of practical, purposeful tasks that reinforce current learning and build on prior knowledge. These activities promote reasoning, problem-solving and conceptual understanding.</a:t>
            </a:r>
            <a:br>
              <a:rPr lang="en-AU" dirty="0"/>
            </a:br>
            <a:br>
              <a:rPr lang="en-AU" dirty="0"/>
            </a:br>
            <a:endParaRPr lang="en-AU" dirty="0"/>
          </a:p>
          <a:p>
            <a:r>
              <a:rPr lang="en-AU" dirty="0"/>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59AE2-AF11-68C9-77C3-D6829A7CB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C8E6A-C97E-DFFB-5165-62A92C4A9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F963A-217D-ECF0-F045-7BE367E64084}"/>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 </a:t>
            </a:r>
          </a:p>
          <a:p>
            <a:pPr>
              <a:defRPr/>
            </a:pPr>
            <a:r>
              <a:rPr lang="en-AU" b="0" dirty="0">
                <a:latin typeface="Arial"/>
                <a:cs typeface="Arial"/>
              </a:rPr>
              <a:t>Representing numbers using place value B</a:t>
            </a:r>
            <a:endParaRPr lang="en-US" b="0" dirty="0">
              <a:solidFill>
                <a:srgbClr val="444444"/>
              </a:solidFill>
              <a:latin typeface="Arial"/>
              <a:cs typeface="Arial"/>
            </a:endParaRPr>
          </a:p>
        </p:txBody>
      </p:sp>
      <p:sp>
        <p:nvSpPr>
          <p:cNvPr id="4" name="Slide Number Placeholder 3">
            <a:extLst>
              <a:ext uri="{FF2B5EF4-FFF2-40B4-BE49-F238E27FC236}">
                <a16:creationId xmlns:a16="http://schemas.microsoft.com/office/drawing/2014/main" id="{7718A2AC-C4E4-C028-96E1-2947B2C6CE8A}"/>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930579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a:cs typeface="Arial"/>
              </a:rPr>
              <a:t>Geometric measure A: Length</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panose="020B0604020202020204" pitchFamily="34" charset="0"/>
                <a:cs typeface="Arial" panose="020B0604020202020204" pitchFamily="34" charset="0"/>
              </a:rPr>
              <a:t>Additive relations A</a:t>
            </a: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a:cs typeface="Arial"/>
              </a:rPr>
              <a:t>Representing numbers using place value A: Whole numbers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r>
              <a:rPr lang="en-AU" b="0" dirty="0"/>
              <a:t>Geometric measure A: Position</a:t>
            </a: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Representing numbers using place value B</a:t>
            </a:r>
          </a:p>
          <a:p>
            <a:endParaRPr lang="en-AU" dirty="0"/>
          </a:p>
          <a:p>
            <a:r>
              <a:rPr lang="en-AU" b="1" dirty="0"/>
              <a:t>10, 100 and 1000 larger</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dirty="0"/>
              <a:t>This resource corresponds to Resource 21 – tens, hundreds, and thousands in Stage 2 Year B Unit 23. </a:t>
            </a:r>
          </a:p>
          <a:p>
            <a:endParaRPr lang="en-AU" b="1" dirty="0"/>
          </a:p>
          <a:p>
            <a:pPr marL="342900" indent="-342900">
              <a:buFont typeface="+mj-lt"/>
              <a:buAutoNum type="arabicPeriod"/>
            </a:pPr>
            <a:r>
              <a:rPr lang="en-AU" dirty="0"/>
              <a:t>Provide students with Resource 21 – </a:t>
            </a:r>
            <a:r>
              <a:rPr lang="en-AU" sz="1600" b="0" dirty="0"/>
              <a:t>tens, hundreds, and thousands </a:t>
            </a:r>
            <a:r>
              <a:rPr lang="en-AU" dirty="0"/>
              <a:t>and a 9-sided die. </a:t>
            </a:r>
            <a:endParaRPr lang="en-AU" sz="1800" dirty="0">
              <a:latin typeface="Arial" panose="020B0604020202020204" pitchFamily="34" charset="0"/>
              <a:ea typeface="Calibri" panose="020F0502020204030204" pitchFamily="34" charset="0"/>
              <a:cs typeface="Arial" panose="020B0604020202020204" pitchFamily="34" charset="0"/>
            </a:endParaRPr>
          </a:p>
          <a:p>
            <a:pPr marL="342900" indent="-342900">
              <a:buFont typeface="+mj-lt"/>
              <a:buAutoNum type="arabicPeriod"/>
            </a:pPr>
            <a:r>
              <a:rPr lang="en-AU" dirty="0"/>
              <a:t>Students roll the dice and record the number rolled. Students then record the numbers that are 10, 100 and 1000 times larger than the number rolled. </a:t>
            </a:r>
          </a:p>
          <a:p>
            <a:pPr marL="342900" indent="-342900">
              <a:buFont typeface="+mj-lt"/>
              <a:buAutoNum type="arabicPeriod"/>
            </a:pPr>
            <a:r>
              <a:rPr lang="en-AU" dirty="0"/>
              <a:t>Students repeat 4 more times and identify the number of tens, hundreds or thousands in the number. </a:t>
            </a:r>
          </a:p>
          <a:p>
            <a:pPr marL="342900" indent="-342900">
              <a:buFont typeface="+mj-lt"/>
              <a:buAutoNum type="arabicPeriod"/>
            </a:pPr>
            <a:r>
              <a:rPr lang="en-AU" dirty="0"/>
              <a:t>Students record in their workbooks how making the number 10, 100 or 1000 times as large changes the place value of the digits.</a:t>
            </a:r>
          </a:p>
          <a:p>
            <a:pPr marL="342900" lvl="0" indent="-342900">
              <a:lnSpc>
                <a:spcPct val="150000"/>
              </a:lnSpc>
              <a:buFont typeface="Symbol" panose="05050102010706020507" pitchFamily="18" charset="2"/>
              <a:buChar char=""/>
            </a:pPr>
            <a:endParaRPr lang="en-AU" sz="1800" dirty="0">
              <a:effectLst/>
              <a:latin typeface="Arial" panose="020B0604020202020204" pitchFamily="34" charset="0"/>
              <a:ea typeface="Calibri" panose="020F0502020204030204" pitchFamily="34" charset="0"/>
              <a:cs typeface="Arial"/>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800" b="1" dirty="0">
              <a:effectLst/>
              <a:latin typeface="Arial" panose="020B0604020202020204" pitchFamily="34"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3843237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2)</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b="0" dirty="0">
                <a:latin typeface="Arial"/>
                <a:cs typeface="Arial"/>
              </a:rPr>
              <a:t>Representing numbers using place value B</a:t>
            </a:r>
            <a:endParaRPr lang="en-US" b="0" dirty="0">
              <a:solidFill>
                <a:srgbClr val="444444"/>
              </a:solidFill>
              <a:latin typeface="Arial"/>
              <a:cs typeface="Arial"/>
            </a:endParaRPr>
          </a:p>
          <a:p>
            <a:pPr>
              <a:defRPr/>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a:cs typeface="Arial"/>
              </a:rPr>
              <a:t>Geometric measure A: Length</a:t>
            </a:r>
            <a:endParaRPr lang="en-AU" sz="1600" i="0" dirty="0">
              <a:solidFill>
                <a:schemeClr val="tx1"/>
              </a:solidFill>
              <a:latin typeface="Arial" panose="020B0604020202020204" pitchFamily="34" charset="0"/>
              <a:cs typeface="Arial" panose="020B0604020202020204" pitchFamily="34" charset="0"/>
            </a:endParaRPr>
          </a:p>
          <a:p>
            <a:endParaRPr lang="en-AU" b="1" dirty="0"/>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panose="020B0604020202020204" pitchFamily="34" charset="0"/>
                <a:cs typeface="Arial" panose="020B0604020202020204" pitchFamily="34" charset="0"/>
              </a:rPr>
              <a:t>Additive relations B</a:t>
            </a: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a:cs typeface="Arial"/>
              </a:rPr>
              <a:t>Representing numbers using place value A: Whole numbers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A: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4F2E6-13DE-460D-248D-F108974CDE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6391A5-BA9B-B1B5-0E21-660EC5919F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A80255-69A9-E6AA-9BFC-2BF4D1310216}"/>
              </a:ext>
            </a:extLst>
          </p:cNvPr>
          <p:cNvSpPr>
            <a:spLocks noGrp="1"/>
          </p:cNvSpPr>
          <p:nvPr>
            <p:ph type="body" idx="1"/>
          </p:nvPr>
        </p:nvSpPr>
        <p:spPr/>
        <p:txBody>
          <a:bodyPr/>
          <a:lstStyle/>
          <a:p>
            <a:r>
              <a:rPr lang="en-AU" sz="1800" dirty="0"/>
              <a:t>This is a developing number sense activity. </a:t>
            </a:r>
          </a:p>
          <a:p>
            <a:endParaRPr lang="en-AU" sz="1800" dirty="0"/>
          </a:p>
          <a:p>
            <a:r>
              <a:rPr lang="en-AU" sz="1800"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sz="1800" dirty="0"/>
          </a:p>
          <a:p>
            <a:r>
              <a:rPr lang="en-AU" sz="1800" b="1" dirty="0"/>
              <a:t>Syllabus focus area:</a:t>
            </a:r>
          </a:p>
          <a:p>
            <a:r>
              <a:rPr lang="en-AU" sz="1800" dirty="0"/>
              <a:t>Representing numbers using place value B</a:t>
            </a:r>
          </a:p>
          <a:p>
            <a:endParaRPr lang="en-AU" sz="1800" dirty="0"/>
          </a:p>
          <a:p>
            <a:r>
              <a:rPr lang="en-AU" sz="1800" b="1" dirty="0"/>
              <a:t>10, 100 and 1000 larger 2</a:t>
            </a:r>
          </a:p>
          <a:p>
            <a:pPr marL="0" marR="0" lvl="0" indent="0" algn="l" defTabSz="1219170" rtl="0" eaLnBrk="1" fontAlgn="auto" latinLnBrk="0" hangingPunct="1">
              <a:lnSpc>
                <a:spcPct val="150000"/>
              </a:lnSpc>
              <a:spcBef>
                <a:spcPts val="1200"/>
              </a:spcBef>
              <a:spcAft>
                <a:spcPts val="0"/>
              </a:spcAft>
              <a:buClrTx/>
              <a:buSzTx/>
              <a:buFont typeface="+mj-lt"/>
              <a:buNone/>
              <a:tabLst/>
              <a:defRPr/>
            </a:pPr>
            <a:r>
              <a:rPr lang="en-AU" sz="1800" b="0" dirty="0"/>
              <a:t>This resource corresponds to Resource 21 – 10s, 100s, and 1000s in Stage 2 Year B Unit 23. </a:t>
            </a:r>
          </a:p>
          <a:p>
            <a:pPr marL="342900" lvl="0" indent="-342900">
              <a:lnSpc>
                <a:spcPct val="150000"/>
              </a:lnSpc>
              <a:spcBef>
                <a:spcPts val="1200"/>
              </a:spcBef>
              <a:buFont typeface="+mj-lt"/>
              <a:buAutoNum type="arabicPeriod"/>
            </a:pPr>
            <a:endParaRPr lang="en-AU" sz="1800" dirty="0">
              <a:effectLst/>
              <a:latin typeface="Arial" panose="020B0604020202020204" pitchFamily="34" charset="0"/>
              <a:ea typeface="Calibri" panose="020F0502020204030204" pitchFamily="34" charset="0"/>
              <a:cs typeface="Arial"/>
            </a:endParaRPr>
          </a:p>
          <a:p>
            <a:pPr marL="342900" indent="-342900">
              <a:buFont typeface="+mj-lt"/>
              <a:buAutoNum type="arabicPeriod"/>
            </a:pPr>
            <a:r>
              <a:rPr lang="en-AU" dirty="0"/>
              <a:t>Provide students with Resource 21 – 10s, 100s and 1000s and a 20-sided die. </a:t>
            </a:r>
          </a:p>
          <a:p>
            <a:pPr marL="342900" indent="-342900">
              <a:buFont typeface="+mj-lt"/>
              <a:buAutoNum type="arabicPeriod"/>
            </a:pPr>
            <a:r>
              <a:rPr lang="en-AU" dirty="0"/>
              <a:t>Students roll the dice and record the number rolled. Students then record the numbers that are 10, 100 and 1000 times larger than the number rolled. </a:t>
            </a:r>
          </a:p>
          <a:p>
            <a:pPr marL="342900" indent="-342900">
              <a:buFont typeface="+mj-lt"/>
              <a:buAutoNum type="arabicPeriod"/>
            </a:pPr>
            <a:r>
              <a:rPr lang="en-AU" dirty="0"/>
              <a:t>Students repeat 4 more times and identify the number of tens, hundreds or thousands in the number. </a:t>
            </a:r>
          </a:p>
          <a:p>
            <a:pPr marL="342900" indent="-342900">
              <a:buFont typeface="+mj-lt"/>
              <a:buAutoNum type="arabicPeriod"/>
            </a:pPr>
            <a:r>
              <a:rPr lang="en-AU" dirty="0"/>
              <a:t>Students record in their workbooks how making the number 10, 100 or 1000 times as large changes the place value of the digits.</a:t>
            </a:r>
          </a:p>
          <a:p>
            <a:pPr marL="342900" lvl="0" indent="-342900">
              <a:lnSpc>
                <a:spcPct val="150000"/>
              </a:lnSpc>
              <a:buFont typeface="Symbol" panose="05050102010706020507" pitchFamily="18" charset="2"/>
              <a:buChar char=""/>
            </a:pPr>
            <a:endParaRPr lang="en-AU" sz="1800" dirty="0">
              <a:effectLst/>
              <a:latin typeface="Arial" panose="020B0604020202020204" pitchFamily="34" charset="0"/>
              <a:ea typeface="Calibri" panose="020F0502020204030204" pitchFamily="34" charset="0"/>
              <a:cs typeface="Arial"/>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800" b="1" dirty="0">
              <a:effectLst/>
              <a:latin typeface="Arial" panose="020B0604020202020204" pitchFamily="34" charset="0"/>
              <a:ea typeface="Calibri" panose="020F0502020204030204" pitchFamily="34" charset="0"/>
            </a:endParaRPr>
          </a:p>
        </p:txBody>
      </p:sp>
      <p:sp>
        <p:nvSpPr>
          <p:cNvPr id="4" name="Slide Number Placeholder 3">
            <a:extLst>
              <a:ext uri="{FF2B5EF4-FFF2-40B4-BE49-F238E27FC236}">
                <a16:creationId xmlns:a16="http://schemas.microsoft.com/office/drawing/2014/main" id="{A00B9D6C-B4B5-8328-39CB-AA351DA77DB9}"/>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0053355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0149-0CB0-EDDD-5B08-8F680C7A7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2F04F-A596-FC76-5186-7631AA37E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0421AD-6A32-B849-3496-F3785A5CCA51}"/>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b="0" dirty="0">
                <a:highlight>
                  <a:srgbClr val="FFFF00"/>
                </a:highlight>
                <a:latin typeface="Arial"/>
                <a:cs typeface="Arial"/>
              </a:rPr>
              <a:t>Representing numbers using place value B</a:t>
            </a:r>
            <a:endParaRPr lang="en-US" b="0" dirty="0">
              <a:solidFill>
                <a:srgbClr val="444444"/>
              </a:solidFill>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AA748202-3E97-0613-B01D-37F69F9E7D13}"/>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2527051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a:cs typeface="Arial"/>
              </a:rPr>
              <a:t>Geometric measure B: Length</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panose="020B0604020202020204" pitchFamily="34" charset="0"/>
                <a:cs typeface="Arial" panose="020B0604020202020204" pitchFamily="34" charset="0"/>
              </a:rPr>
              <a:t>Additive relations B</a:t>
            </a: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a:cs typeface="Arial"/>
              </a:rPr>
              <a:t>Representing numbers using place value B: Whole numbers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Chance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342C3-0E06-1B5C-3601-287AE7261A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D53BA9-F376-1C40-63EA-5D862EDAFF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097FF9-83CC-5812-5CF1-49520B9725F8}"/>
              </a:ext>
            </a:extLst>
          </p:cNvPr>
          <p:cNvSpPr>
            <a:spLocks noGrp="1"/>
          </p:cNvSpPr>
          <p:nvPr>
            <p:ph type="body" idx="1"/>
          </p:nvPr>
        </p:nvSpPr>
        <p:spPr/>
        <p:txBody>
          <a:bodyPr/>
          <a:lstStyle/>
          <a:p>
            <a:r>
              <a:rPr lang="en-AU" sz="1800" dirty="0"/>
              <a:t>This is a developing number sense activity. </a:t>
            </a:r>
          </a:p>
          <a:p>
            <a:endParaRPr lang="en-AU" sz="1800" dirty="0"/>
          </a:p>
          <a:p>
            <a:r>
              <a:rPr lang="en-AU" sz="1800"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sz="1800" dirty="0"/>
          </a:p>
          <a:p>
            <a:r>
              <a:rPr lang="en-AU" sz="1800" b="1" dirty="0"/>
              <a:t>Syllabus focus area:</a:t>
            </a:r>
          </a:p>
          <a:p>
            <a:r>
              <a:rPr lang="en-AU" sz="1800" dirty="0"/>
              <a:t>Representing numbers using place value B</a:t>
            </a:r>
          </a:p>
          <a:p>
            <a:endParaRPr lang="en-AU" sz="1800" dirty="0"/>
          </a:p>
          <a:p>
            <a:r>
              <a:rPr lang="en-AU" sz="1800" b="1" dirty="0"/>
              <a:t>The effect of making a number 10, 100 or 1000 times larger</a:t>
            </a:r>
          </a:p>
          <a:p>
            <a:pPr marL="342900" marR="0" lvl="0" indent="-342900" algn="l" defTabSz="1219170" rtl="0" eaLnBrk="1" fontAlgn="auto" latinLnBrk="0" hangingPunct="1">
              <a:lnSpc>
                <a:spcPct val="100000"/>
              </a:lnSpc>
              <a:spcBef>
                <a:spcPts val="0"/>
              </a:spcBef>
              <a:spcAft>
                <a:spcPts val="0"/>
              </a:spcAft>
              <a:buClrTx/>
              <a:buSzTx/>
              <a:buFontTx/>
              <a:buAutoNum type="arabicPeriod"/>
              <a:tabLst/>
              <a:defRPr/>
            </a:pPr>
            <a:endParaRPr lang="en-AU" sz="1800" dirty="0">
              <a:effectLst/>
              <a:latin typeface="Arial" panose="020B0604020202020204" pitchFamily="34" charset="0"/>
              <a:ea typeface="Calibri" panose="020F0502020204030204" pitchFamily="34" charset="0"/>
            </a:endParaRP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Draw a large place value house on the whiteboard, making it large enough for students to stand in front of each column (see Figure 9).</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Ask 6 students to represent numbers by standing or squatting in front of the place value house. Students stand to represent the number one and squat to represent zero.</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Select a student to provide a number that is made of ones or zeros. For example, 11.</a:t>
            </a:r>
          </a:p>
          <a:p>
            <a:pPr marL="342900" marR="0" lvl="0" indent="-342900" algn="l" defTabSz="1219170" rtl="0" eaLnBrk="1" fontAlgn="auto" latinLnBrk="0" hangingPunct="1">
              <a:lnSpc>
                <a:spcPct val="100000"/>
              </a:lnSpc>
              <a:spcBef>
                <a:spcPts val="0"/>
              </a:spcBef>
              <a:spcAft>
                <a:spcPts val="0"/>
              </a:spcAft>
              <a:buClrTx/>
              <a:buSzTx/>
              <a:buFont typeface="+mj-lt"/>
              <a:buAutoNum type="arabicPeriod"/>
              <a:tabLst/>
              <a:defRPr/>
            </a:pPr>
            <a:r>
              <a:rPr lang="en-AU" sz="1600" b="1" kern="1200" dirty="0">
                <a:solidFill>
                  <a:schemeClr val="tx1"/>
                </a:solidFill>
                <a:effectLst/>
                <a:latin typeface="Arial" panose="020B0604020202020204" pitchFamily="34" charset="0"/>
                <a:ea typeface="+mn-ea"/>
                <a:cs typeface="Arial" panose="020B0604020202020204" pitchFamily="34" charset="0"/>
              </a:rPr>
              <a:t>Note:</a:t>
            </a:r>
            <a:r>
              <a:rPr lang="en-AU" sz="1600" kern="1200" dirty="0">
                <a:solidFill>
                  <a:schemeClr val="tx1"/>
                </a:solidFill>
                <a:effectLst/>
                <a:latin typeface="Arial" panose="020B0604020202020204" pitchFamily="34" charset="0"/>
                <a:ea typeface="+mn-ea"/>
                <a:cs typeface="Arial" panose="020B0604020202020204" pitchFamily="34" charset="0"/>
              </a:rPr>
              <a:t> initial numbers must be limited to a maximum of 111 to ensure the larger number will fit inside the place value house.</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To represent 11, the students in front of the 10 and ones column remain standing. All others must squat.</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Ask the students to represent a number 100 times larger. To represent the number 1100, only the thousand and hundred students remain standing. All others squat. Ask students to explain how making a number 10, 100 or 1000 times larger changes the place value of the digits.</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Rotate students regularly to ensure all are involved.</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Continue making numbers with ones and zeros and numbers that are 10, 100 and 1000 times larger.</a:t>
            </a:r>
          </a:p>
          <a:p>
            <a:pPr marL="342900" marR="0" lvl="0" indent="-342900" algn="l" defTabSz="1219170" rtl="0" eaLnBrk="1" fontAlgn="auto" latinLnBrk="0" hangingPunct="1">
              <a:lnSpc>
                <a:spcPct val="100000"/>
              </a:lnSpc>
              <a:spcBef>
                <a:spcPts val="0"/>
              </a:spcBef>
              <a:spcAft>
                <a:spcPts val="0"/>
              </a:spcAft>
              <a:buClrTx/>
              <a:buSzTx/>
              <a:buFont typeface="+mj-lt"/>
              <a:buAutoNum type="arabicPeriod"/>
              <a:tabLst/>
              <a:defRPr/>
            </a:pPr>
            <a:r>
              <a:rPr lang="en-AU" sz="1600" b="1" kern="1200" dirty="0">
                <a:solidFill>
                  <a:schemeClr val="tx1"/>
                </a:solidFill>
                <a:effectLst/>
                <a:latin typeface="Arial" panose="020B0604020202020204" pitchFamily="34" charset="0"/>
                <a:ea typeface="+mn-ea"/>
                <a:cs typeface="Arial" panose="020B0604020202020204" pitchFamily="34" charset="0"/>
              </a:rPr>
              <a:t>Note:</a:t>
            </a:r>
            <a:r>
              <a:rPr lang="en-AU" sz="1600" kern="1200" dirty="0">
                <a:solidFill>
                  <a:schemeClr val="tx1"/>
                </a:solidFill>
                <a:effectLst/>
                <a:latin typeface="Arial" panose="020B0604020202020204" pitchFamily="34" charset="0"/>
                <a:ea typeface="+mn-ea"/>
                <a:cs typeface="Arial" panose="020B0604020202020204" pitchFamily="34" charset="0"/>
              </a:rPr>
              <a:t> an alternative is to form teams of 6 students. Students must allocate themselves to a column and the teams compete to create their number representations.</a:t>
            </a:r>
          </a:p>
          <a:p>
            <a:endParaRPr lang="en-AU" dirty="0"/>
          </a:p>
        </p:txBody>
      </p:sp>
      <p:sp>
        <p:nvSpPr>
          <p:cNvPr id="4" name="Slide Number Placeholder 3">
            <a:extLst>
              <a:ext uri="{FF2B5EF4-FFF2-40B4-BE49-F238E27FC236}">
                <a16:creationId xmlns:a16="http://schemas.microsoft.com/office/drawing/2014/main" id="{CFF4B58F-D8C0-CF73-5759-ECA4028A7E43}"/>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27699807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4)</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b="0" dirty="0">
                <a:latin typeface="Arial"/>
                <a:cs typeface="Arial"/>
              </a:rPr>
              <a:t>Representing numbers using place value B</a:t>
            </a:r>
            <a:endParaRPr lang="en-US" b="0" dirty="0">
              <a:solidFill>
                <a:srgbClr val="444444"/>
              </a:solidFill>
              <a:latin typeface="Arial"/>
              <a:cs typeface="Arial"/>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a:cs typeface="Arial"/>
              </a:rPr>
              <a:t>Geometric measure B: Length</a:t>
            </a:r>
            <a:endParaRPr lang="en-AU" sz="1600" i="0" dirty="0">
              <a:solidFill>
                <a:schemeClr val="tx1"/>
              </a:solidFill>
              <a:latin typeface="Arial" panose="020B0604020202020204" pitchFamily="34" charset="0"/>
              <a:cs typeface="Arial" panose="020B0604020202020204" pitchFamily="34" charset="0"/>
            </a:endParaRPr>
          </a:p>
          <a:p>
            <a:endParaRPr lang="en-AU" b="1" dirty="0"/>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panose="020B0604020202020204" pitchFamily="34" charset="0"/>
                <a:cs typeface="Arial" panose="020B0604020202020204" pitchFamily="34" charset="0"/>
              </a:rPr>
              <a:t>Additive relations B</a:t>
            </a: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a:cs typeface="Arial"/>
              </a:rPr>
              <a:t>Representing numbers using place value B: Decimals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 Mass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4CA02-960F-DBC4-277F-E767F26F80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6C91EE-B1C8-F3BD-A2D0-4624B9BFED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00013B-A775-A21E-9123-4A59F284D3FE}"/>
              </a:ext>
            </a:extLst>
          </p:cNvPr>
          <p:cNvSpPr>
            <a:spLocks noGrp="1"/>
          </p:cNvSpPr>
          <p:nvPr>
            <p:ph type="body" idx="1"/>
          </p:nvPr>
        </p:nvSpPr>
        <p:spPr/>
        <p:txBody>
          <a:bodyPr/>
          <a:lstStyle/>
          <a:p>
            <a:r>
              <a:rPr lang="en-AU" sz="1800" dirty="0"/>
              <a:t>This is a developing number sense activity. </a:t>
            </a:r>
          </a:p>
          <a:p>
            <a:endParaRPr lang="en-AU" sz="1800" dirty="0"/>
          </a:p>
          <a:p>
            <a:r>
              <a:rPr lang="en-AU" sz="1800"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sz="1800" dirty="0"/>
          </a:p>
          <a:p>
            <a:r>
              <a:rPr lang="en-AU" sz="1800" b="1" dirty="0"/>
              <a:t>Syllabus focus area:</a:t>
            </a:r>
          </a:p>
          <a:p>
            <a:r>
              <a:rPr lang="en-AU" sz="1800" dirty="0"/>
              <a:t>Representing numbers using place value B</a:t>
            </a:r>
          </a:p>
          <a:p>
            <a:endParaRPr lang="en-AU" sz="1800" dirty="0"/>
          </a:p>
          <a:p>
            <a:r>
              <a:rPr lang="en-AU" sz="1800" b="1" dirty="0"/>
              <a:t>Number of tens, hundreds or thousands in a number</a:t>
            </a:r>
          </a:p>
          <a:p>
            <a:endParaRPr lang="en-AU" sz="1800" b="1" dirty="0"/>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Provide each pair of students three 9-sided dice and a mini-whiteboard.</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Ask students to draw a place value house on their whiteboard.</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Students roll the dice and arrange the dice to form the smallest number possible. For example, if a student rolls a 5, 1 and 9, the dice could be arranged to form the number 159.</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Students record the number that is 10 times larger.</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On the second dice roll, students form the largest number possible and record the number that is 100 times larger.</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On the third dice roll, students form any number and record the number that is 1000 times larger.</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Repeat this 3 times so that students can practice numbers 10, 100 and 1000 times larger.</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Vary the task by asking students to select specific numbers, such as those that have an even hundreds digit, or an odd unit, or a number with even thousands and tens digits.</a:t>
            </a:r>
          </a:p>
          <a:p>
            <a:endParaRPr lang="en-AU" dirty="0"/>
          </a:p>
        </p:txBody>
      </p:sp>
      <p:sp>
        <p:nvSpPr>
          <p:cNvPr id="4" name="Slide Number Placeholder 3">
            <a:extLst>
              <a:ext uri="{FF2B5EF4-FFF2-40B4-BE49-F238E27FC236}">
                <a16:creationId xmlns:a16="http://schemas.microsoft.com/office/drawing/2014/main" id="{D6DD71AA-9CAC-45AC-D35A-7911B22B920C}"/>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6862041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34F17-CD8E-8D00-54E2-6FEB75C9BC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C01F71-E848-F722-C2A1-8D30DD1149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533E3-1064-AE44-0F73-0B71A2F1CF09}"/>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b="0" dirty="0">
                <a:highlight>
                  <a:srgbClr val="FFFF00"/>
                </a:highlight>
                <a:latin typeface="Arial"/>
                <a:cs typeface="Arial"/>
              </a:rPr>
              <a:t>Representing numbers using place value B</a:t>
            </a:r>
            <a:endParaRPr lang="en-US" b="0" dirty="0">
              <a:solidFill>
                <a:srgbClr val="444444"/>
              </a:solidFill>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D3C98C79-F24D-D293-5D72-3E1A9BA0B197}"/>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23562966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a:cs typeface="Arial"/>
              </a:rPr>
              <a:t>Geometric measure B: Length</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panose="020B0604020202020204" pitchFamily="34" charset="0"/>
                <a:cs typeface="Arial" panose="020B0604020202020204" pitchFamily="34" charset="0"/>
              </a:rPr>
              <a:t>Additive relations B</a:t>
            </a:r>
          </a:p>
          <a:p>
            <a:endParaRPr lang="en-AU" b="1" dirty="0"/>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a:cs typeface="Arial"/>
              </a:rPr>
              <a:t>Representing numbers using place value B: Decimals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Three-dimensional spatial structure B: Volume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600" dirty="0"/>
              <a:t>This is a developing number sense activity. </a:t>
            </a:r>
          </a:p>
          <a:p>
            <a:endParaRPr lang="en-AU" sz="1600" dirty="0"/>
          </a:p>
          <a:p>
            <a:r>
              <a:rPr lang="en-AU" sz="1600"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sz="1600" dirty="0"/>
          </a:p>
          <a:p>
            <a:r>
              <a:rPr lang="en-AU" sz="1600" b="1" dirty="0"/>
              <a:t>Syllabus focus area:</a:t>
            </a:r>
          </a:p>
          <a:p>
            <a:r>
              <a:rPr lang="en-AU" sz="1600" dirty="0"/>
              <a:t>Representing numbers using place value B</a:t>
            </a:r>
          </a:p>
          <a:p>
            <a:endParaRPr lang="en-AU" sz="1600" dirty="0"/>
          </a:p>
          <a:p>
            <a:r>
              <a:rPr lang="en-AU" b="1" dirty="0">
                <a:latin typeface="Arial"/>
                <a:cs typeface="Arial"/>
              </a:rPr>
              <a:t>Ordering 4-digit numbers </a:t>
            </a:r>
          </a:p>
          <a:p>
            <a:endParaRPr lang="en-AU" sz="1600" b="1" dirty="0"/>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Explain the aim of the game is to position 4-digit numbers in sequence on the ladder rungs.</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Roll a 9-sided dice 4 times to form a 4-digit number and record on one of the ladder rungs.</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Select a student to roll the dice again and form another 4-digit number to place on a rung of the ladder. Ask the student to explain and justify which rung they have nominated to place the number on before recording it on the ladder.</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Continue the game until a player is unable to place their number on the ladder, then the game is over. Discuss if there were any other possible combinations that could have helped a player win.</a:t>
            </a:r>
          </a:p>
          <a:p>
            <a:pPr marL="342900" marR="0" lvl="0" indent="-342900" algn="l" defTabSz="1219170" rtl="0" eaLnBrk="1" fontAlgn="auto" latinLnBrk="0" hangingPunct="1">
              <a:lnSpc>
                <a:spcPct val="100000"/>
              </a:lnSpc>
              <a:spcBef>
                <a:spcPts val="0"/>
              </a:spcBef>
              <a:spcAft>
                <a:spcPts val="0"/>
              </a:spcAft>
              <a:buClrTx/>
              <a:buSzTx/>
              <a:buFont typeface="+mj-lt"/>
              <a:buAutoNum type="arabicPeriod"/>
              <a:tabLst/>
              <a:defRPr/>
            </a:pPr>
            <a:r>
              <a:rPr lang="en-AU" sz="1600" kern="1200" dirty="0">
                <a:solidFill>
                  <a:schemeClr val="tx1"/>
                </a:solidFill>
                <a:effectLst/>
                <a:latin typeface="Arial" panose="020B0604020202020204" pitchFamily="34" charset="0"/>
                <a:ea typeface="+mn-ea"/>
                <a:cs typeface="Arial" panose="020B0604020202020204" pitchFamily="34" charset="0"/>
              </a:rPr>
              <a:t>The game can be adapted by adding more rungs to the ladder to order more numbers.</a:t>
            </a:r>
          </a:p>
          <a:p>
            <a:pPr marL="342900" indent="-342900">
              <a:buFont typeface="+mj-lt"/>
              <a:buAutoNum type="arabicPeriod"/>
            </a:pPr>
            <a:endParaRPr lang="en-AU" sz="1600" b="0" dirty="0"/>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1" kern="1200" dirty="0">
                <a:solidFill>
                  <a:schemeClr val="tx1"/>
                </a:solidFill>
                <a:effectLst/>
                <a:latin typeface="Arial" panose="020B0604020202020204" pitchFamily="34" charset="0"/>
                <a:ea typeface="+mn-ea"/>
                <a:cs typeface="Arial" panose="020B0604020202020204" pitchFamily="34" charset="0"/>
              </a:rPr>
              <a:t>Note: </a:t>
            </a:r>
            <a:r>
              <a:rPr lang="en-AU" sz="1600" kern="1200" dirty="0">
                <a:solidFill>
                  <a:schemeClr val="tx1"/>
                </a:solidFill>
                <a:effectLst/>
                <a:latin typeface="Arial" panose="020B0604020202020204" pitchFamily="34" charset="0"/>
                <a:ea typeface="+mn-ea"/>
                <a:cs typeface="Arial" panose="020B0604020202020204" pitchFamily="34" charset="0"/>
              </a:rPr>
              <a:t>the game can be played as whole class or in pairs. Use dice that have a zero as it is important to understand that the zero is a placeholder and does not have a value.</a:t>
            </a:r>
          </a:p>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194731170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6)</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b="0" dirty="0">
                <a:highlight>
                  <a:srgbClr val="FFFF00"/>
                </a:highlight>
                <a:latin typeface="Arial"/>
                <a:cs typeface="Arial"/>
              </a:rPr>
              <a:t>Representing numbers using place value B</a:t>
            </a:r>
            <a:endParaRPr lang="en-US" b="0" dirty="0">
              <a:solidFill>
                <a:srgbClr val="444444"/>
              </a:solidFill>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a:cs typeface="Arial"/>
              </a:rPr>
              <a:t>Geometric measure B: Length</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panose="020B0604020202020204" pitchFamily="34" charset="0"/>
                <a:cs typeface="Arial" panose="020B0604020202020204" pitchFamily="34" charset="0"/>
              </a:rPr>
              <a:t>Additive relations B</a:t>
            </a: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a:cs typeface="Arial"/>
              </a:rPr>
              <a:t>Representing numbers using place value B: Decimals</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Two-dimensional spatial structure A: Area</a:t>
            </a: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800" dirty="0"/>
              <a:t>This is a developing number sense activity. </a:t>
            </a:r>
          </a:p>
          <a:p>
            <a:endParaRPr lang="en-AU" sz="1800" dirty="0"/>
          </a:p>
          <a:p>
            <a:r>
              <a:rPr lang="en-AU" sz="1800"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sz="1800" dirty="0"/>
          </a:p>
          <a:p>
            <a:r>
              <a:rPr lang="en-AU" sz="1800" b="1" dirty="0"/>
              <a:t>Syllabus focus area:</a:t>
            </a:r>
          </a:p>
          <a:p>
            <a:r>
              <a:rPr lang="en-AU" sz="1800" dirty="0"/>
              <a:t>Representing numbers using place value B</a:t>
            </a:r>
          </a:p>
          <a:p>
            <a:endParaRPr lang="en-AU" sz="1800" dirty="0"/>
          </a:p>
          <a:p>
            <a:r>
              <a:rPr lang="en-AU" sz="1800" b="1" dirty="0"/>
              <a:t>Arrange 4-digit numbers in ascending order</a:t>
            </a:r>
            <a:r>
              <a:rPr lang="en-AU" sz="1800" b="0" dirty="0"/>
              <a:t> </a:t>
            </a:r>
          </a:p>
          <a:p>
            <a:endParaRPr lang="en-AU" sz="1800" dirty="0">
              <a:effectLst/>
              <a:latin typeface="Arial" panose="020B0604020202020204" pitchFamily="34" charset="0"/>
              <a:ea typeface="Calibri" panose="020F0502020204030204" pitchFamily="34" charset="0"/>
            </a:endParaRP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Organise students into small groups and provide each group with four 10-sided dice.</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Students take turn rolling the dice to create a 4-digit number. Students record the number on a sticky note and, one by one, place themselves in order from smallest to largest.</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When each group has all members in order, combine 2 groups. Group members need to adjust their order to ensure they are still in order from smallest to largest.</a:t>
            </a: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Continue to combine groups and adjust placements until the whole class is in order.</a:t>
            </a:r>
          </a:p>
        </p:txBody>
      </p:sp>
      <p:sp>
        <p:nvSpPr>
          <p:cNvPr id="4" name="Slide Number Placeholder 3"/>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03047391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484B3-723C-5CDC-7F5D-72CC6FDB0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23710-6713-4F46-6DD4-00164B0B40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9BBF5B-C384-F7FB-63B0-B257445B7F9A}"/>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b="0" dirty="0">
                <a:highlight>
                  <a:srgbClr val="FFFF00"/>
                </a:highlight>
                <a:latin typeface="Arial"/>
                <a:cs typeface="Arial"/>
              </a:rPr>
              <a:t>Representing numbers using place value B</a:t>
            </a:r>
            <a:endParaRPr lang="en-US" b="0" dirty="0">
              <a:solidFill>
                <a:srgbClr val="444444"/>
              </a:solidFill>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03A575D5-93F5-6245-6E0E-4824DF33EFBA}"/>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24719890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i="0" dirty="0">
                <a:solidFill>
                  <a:schemeClr val="tx1"/>
                </a:solidFill>
                <a:latin typeface="Arial"/>
                <a:cs typeface="Arial"/>
              </a:rPr>
              <a:t>Non-spatial measure B: Time</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panose="020B0604020202020204" pitchFamily="34" charset="0"/>
                <a:cs typeface="Arial" panose="020B0604020202020204" pitchFamily="34" charset="0"/>
              </a:rPr>
              <a:t>Additive relations B</a:t>
            </a: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r>
              <a:rPr lang="en-AU" b="0" dirty="0"/>
              <a:t>Multiplicative relations B</a:t>
            </a: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b="0"/>
              <a:t>Non-spatial measure A: Time</a:t>
            </a:r>
          </a:p>
          <a:p>
            <a:endParaRPr lang="en-AU" b="1"/>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800" dirty="0"/>
              <a:t>This is a developing number sense activity. </a:t>
            </a:r>
          </a:p>
          <a:p>
            <a:endParaRPr lang="en-AU" sz="1800" dirty="0"/>
          </a:p>
          <a:p>
            <a:r>
              <a:rPr lang="en-AU" sz="1800"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sz="1800" dirty="0"/>
          </a:p>
          <a:p>
            <a:r>
              <a:rPr lang="en-AU" sz="1800" b="1" dirty="0"/>
              <a:t>Syllabus focus area:</a:t>
            </a:r>
          </a:p>
          <a:p>
            <a:r>
              <a:rPr lang="en-AU" sz="1800" dirty="0"/>
              <a:t>Representing numbers using place value B</a:t>
            </a:r>
          </a:p>
          <a:p>
            <a:endParaRPr lang="en-AU" sz="1800" dirty="0"/>
          </a:p>
          <a:p>
            <a:r>
              <a:rPr lang="en-AU" sz="1800" b="1" dirty="0"/>
              <a:t>Rearranging digits changes the size of a number</a:t>
            </a:r>
            <a:endParaRPr lang="en-AU" sz="1800" b="0" dirty="0"/>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b="0" dirty="0"/>
              <a:t>This resource corresponds to </a:t>
            </a:r>
            <a:r>
              <a:rPr lang="en-AU" sz="1600" kern="1200" dirty="0">
                <a:solidFill>
                  <a:schemeClr val="tx1"/>
                </a:solidFill>
                <a:effectLst/>
                <a:latin typeface="Arial" panose="020B0604020202020204" pitchFamily="34" charset="0"/>
                <a:ea typeface="+mn-ea"/>
                <a:cs typeface="Arial" panose="020B0604020202020204" pitchFamily="34" charset="0"/>
              </a:rPr>
              <a:t>Resource 22 – ordering gameboard </a:t>
            </a:r>
            <a:r>
              <a:rPr lang="en-AU" sz="1600" b="0" dirty="0"/>
              <a:t>in Stage 2 Year B Unit 23. </a:t>
            </a:r>
            <a:endParaRPr lang="en-AU" sz="1600" kern="1200" dirty="0">
              <a:solidFill>
                <a:schemeClr val="tx1"/>
              </a:solidFill>
              <a:effectLst/>
              <a:latin typeface="Arial" panose="020B0604020202020204" pitchFamily="34" charset="0"/>
              <a:ea typeface="+mn-ea"/>
              <a:cs typeface="Arial" panose="020B0604020202020204" pitchFamily="34" charset="0"/>
            </a:endParaRPr>
          </a:p>
          <a:p>
            <a:pPr lvl="0"/>
            <a:endParaRPr lang="en-AU" sz="1600" kern="1200" dirty="0">
              <a:solidFill>
                <a:schemeClr val="tx1"/>
              </a:solidFill>
              <a:effectLst/>
              <a:latin typeface="Arial" panose="020B0604020202020204" pitchFamily="34" charset="0"/>
              <a:ea typeface="+mn-ea"/>
              <a:cs typeface="Arial" panose="020B0604020202020204" pitchFamily="34" charset="0"/>
            </a:endParaRPr>
          </a:p>
          <a:p>
            <a:pPr marL="342900" lvl="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Explain the aim of the game is to position 4-digit numbers in sequence on the gameboard. Provide pairs with four 10-sided dice and Resource 22 – ordering gameboard to each player.</a:t>
            </a:r>
          </a:p>
          <a:p>
            <a:pPr marL="342900" indent="-342900">
              <a:buFont typeface="+mj-lt"/>
              <a:buAutoNum type="arabicPeriod"/>
            </a:pPr>
            <a:r>
              <a:rPr lang="en-AU" sz="1600" kern="1200" dirty="0">
                <a:solidFill>
                  <a:schemeClr val="tx1"/>
                </a:solidFill>
                <a:effectLst/>
                <a:latin typeface="Arial" panose="020B0604020202020204" pitchFamily="34" charset="0"/>
                <a:ea typeface="+mn-ea"/>
                <a:cs typeface="Arial" panose="020B0604020202020204" pitchFamily="34" charset="0"/>
              </a:rPr>
              <a:t>Students roll the dice and create a 4-digit number. For example, 4, 6, 9 and zero could be recorded as 4609, 6490 or 9604. Players record their chosen number in the most appropriate position between 100 and 9999.</a:t>
            </a:r>
          </a:p>
          <a:p>
            <a:pPr marL="342900" marR="0" lvl="0" indent="-342900" algn="l" defTabSz="1219170" rtl="0" eaLnBrk="1" fontAlgn="auto" latinLnBrk="0" hangingPunct="1">
              <a:lnSpc>
                <a:spcPct val="100000"/>
              </a:lnSpc>
              <a:spcBef>
                <a:spcPts val="0"/>
              </a:spcBef>
              <a:spcAft>
                <a:spcPts val="0"/>
              </a:spcAft>
              <a:buClrTx/>
              <a:buSzTx/>
              <a:buFont typeface="+mj-lt"/>
              <a:buAutoNum type="arabicPeriod"/>
              <a:tabLst/>
              <a:defRPr/>
            </a:pPr>
            <a:r>
              <a:rPr lang="en-AU" sz="1600" kern="1200" dirty="0">
                <a:solidFill>
                  <a:schemeClr val="tx1"/>
                </a:solidFill>
                <a:effectLst/>
                <a:latin typeface="Arial" panose="020B0604020202020204" pitchFamily="34" charset="0"/>
                <a:ea typeface="+mn-ea"/>
                <a:cs typeface="Arial" panose="020B0604020202020204" pitchFamily="34" charset="0"/>
              </a:rPr>
              <a:t>If numbers cannot be placed, students miss their turn. Play continues until all boxes are filled.</a:t>
            </a:r>
          </a:p>
          <a:p>
            <a:pPr marL="342900" marR="0" lvl="0" indent="-342900" algn="l" defTabSz="1219170" rtl="0" eaLnBrk="1" fontAlgn="auto" latinLnBrk="0" hangingPunct="1">
              <a:lnSpc>
                <a:spcPct val="100000"/>
              </a:lnSpc>
              <a:spcBef>
                <a:spcPts val="0"/>
              </a:spcBef>
              <a:spcAft>
                <a:spcPts val="0"/>
              </a:spcAft>
              <a:buClrTx/>
              <a:buSzTx/>
              <a:buFont typeface="+mj-lt"/>
              <a:buAutoNum type="arabicPeriod"/>
              <a:tabLst/>
              <a:defRPr/>
            </a:pPr>
            <a:r>
              <a:rPr lang="en-AU" sz="1600" b="1" kern="1200" dirty="0">
                <a:solidFill>
                  <a:schemeClr val="tx1"/>
                </a:solidFill>
                <a:effectLst/>
                <a:latin typeface="Arial" panose="020B0604020202020204" pitchFamily="34" charset="0"/>
                <a:ea typeface="+mn-ea"/>
                <a:cs typeface="Arial" panose="020B0604020202020204" pitchFamily="34" charset="0"/>
              </a:rPr>
              <a:t>Note:</a:t>
            </a:r>
            <a:r>
              <a:rPr lang="en-AU" sz="1600" kern="1200" dirty="0">
                <a:solidFill>
                  <a:schemeClr val="tx1"/>
                </a:solidFill>
                <a:effectLst/>
                <a:latin typeface="Arial" panose="020B0604020202020204" pitchFamily="34" charset="0"/>
                <a:ea typeface="+mn-ea"/>
                <a:cs typeface="Arial" panose="020B0604020202020204" pitchFamily="34" charset="0"/>
              </a:rPr>
              <a:t> the game can also be played as whole class. Use dice that have a zero as it is important to understand that the zero is a placeholder and does not have a value. Using a reusable sleeve for the gameboard will allow students to play multiple games.</a:t>
            </a:r>
          </a:p>
          <a:p>
            <a:endParaRPr lang="en-AU" sz="1800" b="0" i="0" dirty="0">
              <a:solidFill>
                <a:srgbClr val="000000"/>
              </a:solidFill>
              <a:effectLst/>
              <a:highlight>
                <a:srgbClr val="FFFFFF"/>
              </a:highligh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96219542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The question on this slide connects to the content being explored in the developing number sense activity (Activity 8)</a:t>
            </a:r>
          </a:p>
          <a:p>
            <a:pPr>
              <a:defRPr/>
            </a:pPr>
            <a:endParaRPr lang="en-AU" b="1"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b="0" dirty="0">
                <a:highlight>
                  <a:srgbClr val="FFFF00"/>
                </a:highlight>
                <a:latin typeface="Arial"/>
                <a:cs typeface="Arial"/>
              </a:rPr>
              <a:t>Representing numbers using place value B</a:t>
            </a:r>
            <a:endParaRPr lang="en-US" b="0" dirty="0">
              <a:solidFill>
                <a:srgbClr val="444444"/>
              </a:solidFill>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i="0" dirty="0">
                <a:solidFill>
                  <a:schemeClr val="tx1"/>
                </a:solidFill>
                <a:latin typeface="Arial"/>
                <a:cs typeface="Arial"/>
              </a:rPr>
              <a:t>Non-spatial measure B: Time</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panose="020B0604020202020204" pitchFamily="34" charset="0"/>
                <a:cs typeface="Arial" panose="020B0604020202020204" pitchFamily="34" charset="0"/>
              </a:rPr>
              <a:t>Additive relations B</a:t>
            </a: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Multiplicative relations A</a:t>
            </a: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Two-dimensional spatial structure A: 2D shape</a:t>
            </a: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9FC50-8416-D2B5-0B81-61D0FA2473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851099-B8AA-7C95-0031-632F2F210E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A54314-45D0-1B0E-C8EA-BCF5A584DEEF}"/>
              </a:ext>
            </a:extLst>
          </p:cNvPr>
          <p:cNvSpPr>
            <a:spLocks noGrp="1"/>
          </p:cNvSpPr>
          <p:nvPr>
            <p:ph type="body" idx="1"/>
          </p:nvPr>
        </p:nvSpPr>
        <p:spPr/>
        <p:txBody>
          <a:bodyPr/>
          <a:lstStyle/>
          <a:p>
            <a:r>
              <a:rPr lang="en-AU" sz="1600" dirty="0"/>
              <a:t>This is a developing number sense activity. </a:t>
            </a:r>
          </a:p>
          <a:p>
            <a:endParaRPr lang="en-AU" sz="1600" dirty="0"/>
          </a:p>
          <a:p>
            <a:r>
              <a:rPr lang="en-AU" sz="1600"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sz="1600" dirty="0"/>
          </a:p>
          <a:p>
            <a:r>
              <a:rPr lang="en-AU" sz="1600" b="1" dirty="0"/>
              <a:t>Syllabus focus area:</a:t>
            </a:r>
          </a:p>
          <a:p>
            <a:r>
              <a:rPr lang="en-AU" sz="1600" dirty="0"/>
              <a:t>Representing numbers using place value B</a:t>
            </a:r>
          </a:p>
          <a:p>
            <a:endParaRPr lang="en-AU" sz="1600" dirty="0"/>
          </a:p>
          <a:p>
            <a:r>
              <a:rPr lang="en-AU" sz="1600" b="1" dirty="0"/>
              <a:t>Ascending order misconception</a:t>
            </a:r>
          </a:p>
          <a:p>
            <a:r>
              <a:rPr lang="en-AU" sz="1600" b="0" dirty="0"/>
              <a:t>This resource corresponds to Resource 23 – </a:t>
            </a:r>
            <a:r>
              <a:rPr lang="en-AU" dirty="0">
                <a:latin typeface="Arial"/>
                <a:cs typeface="Arial"/>
              </a:rPr>
              <a:t>ascending order </a:t>
            </a:r>
            <a:r>
              <a:rPr lang="en-AU" sz="1600" b="0" dirty="0"/>
              <a:t>misconception in Stage 2 Year B Unit 23. </a:t>
            </a:r>
          </a:p>
          <a:p>
            <a:endParaRPr lang="en-AU" sz="1600" b="0" dirty="0"/>
          </a:p>
          <a:p>
            <a:pPr>
              <a:buFont typeface="Arial" panose="05050102010706020507" pitchFamily="18" charset="2"/>
              <a:buChar char="•"/>
            </a:pPr>
            <a:r>
              <a:rPr lang="en-AU" dirty="0"/>
              <a:t>Explain to students that Maya has been given five numbers to order. She was asked to place them in ascending order.</a:t>
            </a:r>
          </a:p>
          <a:p>
            <a:pPr>
              <a:buFont typeface="Arial" panose="05050102010706020507" pitchFamily="18" charset="2"/>
              <a:buChar char="•"/>
            </a:pPr>
            <a:r>
              <a:rPr lang="en-AU" dirty="0"/>
              <a:t>Ask students:</a:t>
            </a:r>
          </a:p>
          <a:p>
            <a:pPr marL="895335" lvl="1" indent="-285750">
              <a:buFont typeface="Public Sans" pitchFamily="2" charset="0"/>
              <a:buChar char="−"/>
            </a:pPr>
            <a:r>
              <a:rPr lang="en-AU" dirty="0"/>
              <a:t>Has Maya placed the numbers in the correct order? Why or why not?</a:t>
            </a:r>
          </a:p>
          <a:p>
            <a:pPr marL="895335" lvl="1" indent="-285750">
              <a:buFont typeface="Public Sans" pitchFamily="2" charset="0"/>
              <a:buChar char="−"/>
            </a:pPr>
            <a:r>
              <a:rPr lang="en-AU" dirty="0"/>
              <a:t>What misconceptions has Maya made?</a:t>
            </a:r>
          </a:p>
          <a:p>
            <a:pPr>
              <a:buFont typeface="Arial" panose="05050102010706020507" pitchFamily="18" charset="2"/>
              <a:buChar char="•"/>
            </a:pPr>
            <a:r>
              <a:rPr lang="en-AU" dirty="0">
                <a:latin typeface="Public Sans"/>
              </a:rPr>
              <a:t>Students correctly place the numbers in ascending order and explain their thinking.</a:t>
            </a:r>
          </a:p>
          <a:p>
            <a:pPr>
              <a:buFont typeface="Arial" panose="05050102010706020507" pitchFamily="18" charset="2"/>
              <a:buChar char="•"/>
            </a:pPr>
            <a:r>
              <a:rPr lang="en-AU" dirty="0">
                <a:latin typeface="Public Sans"/>
              </a:rPr>
              <a:t>Discuss: What was similar or different to your order, compared to Maya’s order?</a:t>
            </a:r>
          </a:p>
          <a:p>
            <a:pPr marL="342900" lvl="0" indent="-342900">
              <a:lnSpc>
                <a:spcPct val="150000"/>
              </a:lnSpc>
              <a:buFont typeface="Symbol" panose="05050102010706020507" pitchFamily="18" charset="2"/>
              <a:buChar char=""/>
            </a:pPr>
            <a:endParaRPr lang="en-AU" sz="1800" dirty="0">
              <a:effectLst/>
              <a:latin typeface="Arial" panose="020B0604020202020204" pitchFamily="34" charset="0"/>
              <a:ea typeface="Calibri" panose="020F0502020204030204" pitchFamily="34" charset="0"/>
              <a:cs typeface="Arial"/>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800" b="1" dirty="0">
              <a:effectLst/>
              <a:latin typeface="Arial" panose="020B0604020202020204" pitchFamily="34" charset="0"/>
              <a:ea typeface="Calibri" panose="020F0502020204030204" pitchFamily="34" charset="0"/>
            </a:endParaRPr>
          </a:p>
        </p:txBody>
      </p:sp>
      <p:sp>
        <p:nvSpPr>
          <p:cNvPr id="4" name="Slide Number Placeholder 3">
            <a:extLst>
              <a:ext uri="{FF2B5EF4-FFF2-40B4-BE49-F238E27FC236}">
                <a16:creationId xmlns:a16="http://schemas.microsoft.com/office/drawing/2014/main" id="{1CDA2104-6DE4-F06A-3B77-273EF0AABCD1}"/>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229771077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403676514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6.xml"/><Relationship Id="rId3" Type="http://schemas.openxmlformats.org/officeDocument/2006/relationships/slide" Target="slide4.xml"/><Relationship Id="rId7" Type="http://schemas.openxmlformats.org/officeDocument/2006/relationships/slide" Target="slide39.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32.xml"/><Relationship Id="rId4" Type="http://schemas.openxmlformats.org/officeDocument/2006/relationships/slide" Target="slide11.xml"/><Relationship Id="rId9" Type="http://schemas.openxmlformats.org/officeDocument/2006/relationships/slide" Target="slide5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8.xml"/><Relationship Id="rId1" Type="http://schemas.openxmlformats.org/officeDocument/2006/relationships/slideLayout" Target="../slideLayouts/slideLayout4.xml"/><Relationship Id="rId5" Type="http://schemas.openxmlformats.org/officeDocument/2006/relationships/image" Target="../media/image12.svg"/><Relationship Id="rId4" Type="http://schemas.openxmlformats.org/officeDocument/2006/relationships/image" Target="../media/image11.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5.xml"/><Relationship Id="rId1" Type="http://schemas.openxmlformats.org/officeDocument/2006/relationships/slideLayout" Target="../slideLayouts/slideLayout4.xml"/><Relationship Id="rId5" Type="http://schemas.openxmlformats.org/officeDocument/2006/relationships/image" Target="../media/image15.svg"/><Relationship Id="rId4" Type="http://schemas.openxmlformats.org/officeDocument/2006/relationships/image" Target="../media/image14.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2.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5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9.xml"/><Relationship Id="rId1" Type="http://schemas.openxmlformats.org/officeDocument/2006/relationships/slideLayout" Target="../slideLayouts/slideLayout11.xml"/><Relationship Id="rId4" Type="http://schemas.openxmlformats.org/officeDocument/2006/relationships/image" Target="../media/image9.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4.xml"/><Relationship Id="rId1" Type="http://schemas.openxmlformats.org/officeDocument/2006/relationships/slideLayout" Target="../slideLayouts/slideLayout11.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slide" Target="slide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8" Type="http://schemas.openxmlformats.org/officeDocument/2006/relationships/hyperlink" Target="https://toytheater.com/clock/" TargetMode="External"/><Relationship Id="rId3" Type="http://schemas.openxmlformats.org/officeDocument/2006/relationships/hyperlink" Target="https://educationstandards.nsw.edu.au/wps/portal/nesa/home" TargetMode="External"/><Relationship Id="rId7" Type="http://schemas.openxmlformats.org/officeDocument/2006/relationships/hyperlink" Target="http://www.australiancurriculum.edu.au/" TargetMode="External"/><Relationship Id="rId2" Type="http://schemas.openxmlformats.org/officeDocument/2006/relationships/hyperlink" Target="https://educationstandards.nsw.edu.au/wps/portal/nesa/mini-footer/copyright" TargetMode="External"/><Relationship Id="rId1" Type="http://schemas.openxmlformats.org/officeDocument/2006/relationships/slideLayout" Target="../slideLayouts/slideLayout13.xml"/><Relationship Id="rId6" Type="http://schemas.openxmlformats.org/officeDocument/2006/relationships/hyperlink" Target="https://www.australiancurriculum.edu.au/resources/national-literacy-and-numeracy-learning-progressions/version-3-of-national-literacy-and-numeracy-learning-progressions/" TargetMode="External"/><Relationship Id="rId5" Type="http://schemas.openxmlformats.org/officeDocument/2006/relationships/hyperlink" Target="https://curriculum.nsw.edu.au/learning-areas/mathematics/mathematics-k-10-2022/overview" TargetMode="External"/><Relationship Id="rId10" Type="http://schemas.openxmlformats.org/officeDocument/2006/relationships/hyperlink" Target="https://toytheater.com/pattern-blocks/" TargetMode="External"/><Relationship Id="rId4" Type="http://schemas.openxmlformats.org/officeDocument/2006/relationships/hyperlink" Target="https://curriculum.nsw.edu.au/" TargetMode="External"/><Relationship Id="rId9" Type="http://schemas.openxmlformats.org/officeDocument/2006/relationships/hyperlink" Target="https://toytheater.com/dice/" TargetMode="External"/></Relationships>
</file>

<file path=ppt/slides/_rels/slide68.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7.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dirty="0">
                <a:latin typeface="+mn-lt"/>
                <a:ea typeface="+mn-lt"/>
                <a:cs typeface="+mn-lt"/>
              </a:rPr>
              <a:t>This resource is not a teaching and learning program. It should be used in conjunction with Stage 2 Year B Unit 23.</a:t>
            </a:r>
            <a:endParaRPr lang="en-AU" sz="1800" dirty="0">
              <a:solidFill>
                <a:srgbClr val="22272B"/>
              </a:solidFill>
              <a:latin typeface="+mn-lt"/>
            </a:endParaRPr>
          </a:p>
          <a:p>
            <a:pPr marL="342900" indent="-342900">
              <a:lnSpc>
                <a:spcPct val="150000"/>
              </a:lnSpc>
              <a:buFont typeface="Arial"/>
              <a:buChar char="•"/>
            </a:pPr>
            <a:r>
              <a:rPr lang="en-AU" sz="1800" dirty="0">
                <a:solidFill>
                  <a:srgbClr val="22272B"/>
                </a:solidFill>
                <a:latin typeface="+mn-lt"/>
              </a:rPr>
              <a:t>Classroom teachers are encouraged to </a:t>
            </a:r>
            <a:r>
              <a:rPr lang="en-AU" sz="1800" b="1" dirty="0">
                <a:solidFill>
                  <a:srgbClr val="22272B"/>
                </a:solidFill>
                <a:latin typeface="+mn-lt"/>
              </a:rPr>
              <a:t>add and adapt</a:t>
            </a:r>
            <a:r>
              <a:rPr lang="en-AU" sz="1800" dirty="0">
                <a:solidFill>
                  <a:srgbClr val="22272B"/>
                </a:solidFill>
                <a:latin typeface="+mn-lt"/>
              </a:rPr>
              <a:t> slides as required to meet the needs of their students.</a:t>
            </a:r>
          </a:p>
          <a:p>
            <a:pPr marL="342900" indent="-342900">
              <a:lnSpc>
                <a:spcPct val="150000"/>
              </a:lnSpc>
              <a:buFont typeface="Arial"/>
              <a:buChar char="•"/>
            </a:pPr>
            <a:r>
              <a:rPr lang="en-AU" sz="1800" dirty="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dirty="0">
                <a:solidFill>
                  <a:srgbClr val="22272B"/>
                </a:solidFill>
                <a:latin typeface="+mn-lt"/>
              </a:rPr>
              <a:t>To convert the PowerPoint to Google Slides:</a:t>
            </a:r>
          </a:p>
          <a:p>
            <a:pPr marL="913765" lvl="1" indent="-457200">
              <a:lnSpc>
                <a:spcPct val="150000"/>
              </a:lnSpc>
              <a:buFont typeface="+mj-lt"/>
              <a:buAutoNum type="arabicPeriod"/>
            </a:pPr>
            <a:r>
              <a:rPr lang="en-AU" dirty="0">
                <a:solidFill>
                  <a:srgbClr val="22272B"/>
                </a:solidFill>
                <a:latin typeface="+mn-lt"/>
              </a:rPr>
              <a:t>Upload the file into Google Drive and open it.</a:t>
            </a:r>
          </a:p>
          <a:p>
            <a:pPr marL="913765" lvl="1" indent="-457200">
              <a:lnSpc>
                <a:spcPct val="150000"/>
              </a:lnSpc>
              <a:buFont typeface="+mj-lt"/>
              <a:buAutoNum type="arabicPeriod"/>
            </a:pPr>
            <a:r>
              <a:rPr lang="en-AU" dirty="0">
                <a:solidFill>
                  <a:srgbClr val="22272B"/>
                </a:solidFill>
                <a:latin typeface="+mn-lt"/>
              </a:rPr>
              <a:t>Go to File &gt; Save as Google Slides.</a:t>
            </a:r>
          </a:p>
          <a:p>
            <a:pPr marL="456565" lvl="1">
              <a:lnSpc>
                <a:spcPct val="150000"/>
              </a:lnSpc>
            </a:pPr>
            <a:r>
              <a:rPr lang="en-AU" dirty="0">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dirty="0">
                <a:latin typeface="+mj-lt"/>
              </a:rPr>
              <a:t>Mathematics Stage 2 – Unit 23</a:t>
            </a:r>
          </a:p>
        </p:txBody>
      </p:sp>
      <p:pic>
        <p:nvPicPr>
          <p:cNvPr id="5" name="Picture Placeholder 4">
            <a:extLst>
              <a:ext uri="{FF2B5EF4-FFF2-40B4-BE49-F238E27FC236}">
                <a16:creationId xmlns:a16="http://schemas.microsoft.com/office/drawing/2014/main" id="{80978C62-0887-B1BD-5142-01CF7146B8A8}"/>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830" r="1830"/>
          <a:stretch>
            <a:fillRect/>
          </a:stretch>
        </p:blipFill>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Group 5">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cs typeface="Arial"/>
                </a:rPr>
                <a:t>Review of learning 1</a:t>
              </a: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dirty="0">
                  <a:solidFill>
                    <a:schemeClr val="bg1"/>
                  </a:solidFill>
                  <a:latin typeface="+mj-lt"/>
                  <a:cs typeface="Arial" panose="020B0604020202020204" pitchFamily="34" charset="0"/>
                </a:rPr>
                <a:t>1</a:t>
              </a:r>
            </a:p>
          </p:txBody>
        </p:sp>
      </p:grpSp>
      <p:grpSp>
        <p:nvGrpSpPr>
          <p:cNvPr id="7" name="Group 6">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cs typeface="Arial"/>
                </a:rPr>
                <a:t>Review of learning 2</a:t>
              </a: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Group 7">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cs typeface="Arial"/>
                </a:rPr>
                <a:t>Review of learning 3</a:t>
              </a: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Group 8">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cs typeface="Arial"/>
                </a:rPr>
                <a:t>Review of learning 4</a:t>
              </a: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1" name="Group 10">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cs typeface="Arial"/>
                </a:rPr>
                <a:t>Review of learning 6</a:t>
              </a:r>
            </a:p>
          </p:txBody>
        </p:sp>
        <p:sp>
          <p:nvSpPr>
            <p:cNvPr id="45" name="Oval 44">
              <a:hlinkClick r:id="rId7"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Group 11">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cs typeface="Arial"/>
                </a:rPr>
                <a:t>Review of learning 7</a:t>
              </a:r>
            </a:p>
          </p:txBody>
        </p:sp>
        <p:sp>
          <p:nvSpPr>
            <p:cNvPr id="42" name="Oval 41">
              <a:hlinkClick r:id="rId8"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Group 12">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cs typeface="Arial"/>
                </a:rPr>
                <a:t>Review of learning 8</a:t>
              </a:r>
            </a:p>
          </p:txBody>
        </p:sp>
        <p:sp>
          <p:nvSpPr>
            <p:cNvPr id="39" name="Oval 38">
              <a:hlinkClick r:id="rId9"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grpSp>
        <p:nvGrpSpPr>
          <p:cNvPr id="17" name="Group 16">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cs typeface="Arial"/>
                </a:rPr>
                <a:t>Review of learning 5</a:t>
              </a:r>
            </a:p>
          </p:txBody>
        </p:sp>
        <p:sp>
          <p:nvSpPr>
            <p:cNvPr id="19" name="Oval 18">
              <a:hlinkClick r:id="rId10"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57F45-2A06-3070-0C83-DC2BE167C21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3BB4C8-EA31-5C24-8018-17D1DC44D00B}"/>
              </a:ext>
            </a:extLst>
          </p:cNvPr>
          <p:cNvSpPr>
            <a:spLocks noGrp="1"/>
          </p:cNvSpPr>
          <p:nvPr>
            <p:ph type="title"/>
          </p:nvPr>
        </p:nvSpPr>
        <p:spPr>
          <a:xfrm>
            <a:off x="360000" y="360000"/>
            <a:ext cx="10397115" cy="545601"/>
          </a:xfrm>
        </p:spPr>
        <p:txBody>
          <a:bodyPr/>
          <a:lstStyle/>
          <a:p>
            <a:r>
              <a:rPr lang="en-US" dirty="0"/>
              <a:t>Multiple choice </a:t>
            </a:r>
            <a:r>
              <a:rPr lang="en-US" dirty="0">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5D11F5ED-B427-7A06-EE29-1C83BDE7EF0D}"/>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8CC6182B-05A0-DCFF-C12E-FB8272E0C6A8}"/>
              </a:ext>
            </a:extLst>
          </p:cNvPr>
          <p:cNvSpPr>
            <a:spLocks noGrp="1"/>
          </p:cNvSpPr>
          <p:nvPr>
            <p:ph type="body" sz="quarter" idx="24"/>
          </p:nvPr>
        </p:nvSpPr>
        <p:spPr>
          <a:xfrm>
            <a:off x="474481" y="2660501"/>
            <a:ext cx="11243037" cy="893226"/>
          </a:xfrm>
        </p:spPr>
        <p:txBody>
          <a:bodyPr/>
          <a:lstStyle/>
          <a:p>
            <a:pPr algn="ctr"/>
            <a:r>
              <a:rPr lang="en-US" sz="4400" dirty="0"/>
              <a:t>Which number is </a:t>
            </a:r>
            <a:r>
              <a:rPr lang="en-US" sz="4400" b="1" dirty="0"/>
              <a:t>10 times larger </a:t>
            </a:r>
            <a:r>
              <a:rPr lang="en-US" sz="4400" dirty="0"/>
              <a:t>than</a:t>
            </a:r>
            <a:r>
              <a:rPr lang="en-US" sz="4400" b="1" dirty="0"/>
              <a:t> 49</a:t>
            </a:r>
            <a:r>
              <a:rPr lang="en-US" sz="4400" dirty="0"/>
              <a:t>?</a:t>
            </a:r>
          </a:p>
          <a:p>
            <a:endParaRPr lang="en-US" sz="4400" dirty="0"/>
          </a:p>
        </p:txBody>
      </p:sp>
      <p:sp>
        <p:nvSpPr>
          <p:cNvPr id="9" name="TextBox 8">
            <a:extLst>
              <a:ext uri="{FF2B5EF4-FFF2-40B4-BE49-F238E27FC236}">
                <a16:creationId xmlns:a16="http://schemas.microsoft.com/office/drawing/2014/main" id="{055D882C-AF43-C390-844D-CF785253532C}"/>
              </a:ext>
            </a:extLst>
          </p:cNvPr>
          <p:cNvSpPr txBox="1"/>
          <p:nvPr/>
        </p:nvSpPr>
        <p:spPr>
          <a:xfrm>
            <a:off x="474481" y="497943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7" name="TextBox 6">
            <a:extLst>
              <a:ext uri="{FF2B5EF4-FFF2-40B4-BE49-F238E27FC236}">
                <a16:creationId xmlns:a16="http://schemas.microsoft.com/office/drawing/2014/main" id="{25C1CDEA-4C29-32ED-5ABA-F5CA94649CAB}"/>
              </a:ext>
            </a:extLst>
          </p:cNvPr>
          <p:cNvSpPr txBox="1"/>
          <p:nvPr/>
        </p:nvSpPr>
        <p:spPr>
          <a:xfrm>
            <a:off x="1326782" y="4979438"/>
            <a:ext cx="914400" cy="914400"/>
          </a:xfrm>
          <a:prstGeom prst="rect">
            <a:avLst/>
          </a:prstGeom>
          <a:noFill/>
        </p:spPr>
        <p:txBody>
          <a:bodyPr wrap="none" lIns="0" tIns="0" rIns="0" bIns="0" rtlCol="0">
            <a:noAutofit/>
          </a:bodyPr>
          <a:lstStyle/>
          <a:p>
            <a:pPr algn="l"/>
            <a:r>
              <a:rPr lang="en-AU" sz="4400" dirty="0"/>
              <a:t>4.9</a:t>
            </a:r>
          </a:p>
        </p:txBody>
      </p:sp>
      <p:sp>
        <p:nvSpPr>
          <p:cNvPr id="10" name="TextBox 9">
            <a:extLst>
              <a:ext uri="{FF2B5EF4-FFF2-40B4-BE49-F238E27FC236}">
                <a16:creationId xmlns:a16="http://schemas.microsoft.com/office/drawing/2014/main" id="{3A7CB9AE-0F31-FA92-BCB3-C4AD3EF18B05}"/>
              </a:ext>
            </a:extLst>
          </p:cNvPr>
          <p:cNvSpPr txBox="1"/>
          <p:nvPr/>
        </p:nvSpPr>
        <p:spPr>
          <a:xfrm>
            <a:off x="3478454" y="497943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8" name="TextBox 7">
            <a:extLst>
              <a:ext uri="{FF2B5EF4-FFF2-40B4-BE49-F238E27FC236}">
                <a16:creationId xmlns:a16="http://schemas.microsoft.com/office/drawing/2014/main" id="{CA590192-5EC1-A047-72E8-D68993BDAA15}"/>
              </a:ext>
            </a:extLst>
          </p:cNvPr>
          <p:cNvSpPr txBox="1"/>
          <p:nvPr/>
        </p:nvSpPr>
        <p:spPr>
          <a:xfrm>
            <a:off x="4258525" y="5030209"/>
            <a:ext cx="1165043" cy="914400"/>
          </a:xfrm>
          <a:prstGeom prst="rect">
            <a:avLst/>
          </a:prstGeom>
          <a:noFill/>
        </p:spPr>
        <p:txBody>
          <a:bodyPr wrap="none" lIns="0" tIns="0" rIns="0" bIns="0" rtlCol="0">
            <a:noAutofit/>
          </a:bodyPr>
          <a:lstStyle/>
          <a:p>
            <a:pPr algn="l"/>
            <a:r>
              <a:rPr lang="en-AU" sz="4400" dirty="0"/>
              <a:t>49</a:t>
            </a:r>
          </a:p>
        </p:txBody>
      </p:sp>
      <p:sp>
        <p:nvSpPr>
          <p:cNvPr id="12" name="TextBox 11">
            <a:extLst>
              <a:ext uri="{FF2B5EF4-FFF2-40B4-BE49-F238E27FC236}">
                <a16:creationId xmlns:a16="http://schemas.microsoft.com/office/drawing/2014/main" id="{92ADCA88-1230-AEE8-EFD6-D8F0DF7EEE5C}"/>
              </a:ext>
            </a:extLst>
          </p:cNvPr>
          <p:cNvSpPr txBox="1"/>
          <p:nvPr/>
        </p:nvSpPr>
        <p:spPr>
          <a:xfrm>
            <a:off x="6482427" y="497943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3" name="TextBox 12">
            <a:extLst>
              <a:ext uri="{FF2B5EF4-FFF2-40B4-BE49-F238E27FC236}">
                <a16:creationId xmlns:a16="http://schemas.microsoft.com/office/drawing/2014/main" id="{EFD9D854-C90D-004B-F6F6-40C3191D482D}"/>
              </a:ext>
            </a:extLst>
          </p:cNvPr>
          <p:cNvSpPr txBox="1"/>
          <p:nvPr/>
        </p:nvSpPr>
        <p:spPr>
          <a:xfrm>
            <a:off x="7190270" y="5017953"/>
            <a:ext cx="914400" cy="914400"/>
          </a:xfrm>
          <a:prstGeom prst="rect">
            <a:avLst/>
          </a:prstGeom>
          <a:noFill/>
        </p:spPr>
        <p:txBody>
          <a:bodyPr wrap="none" lIns="0" tIns="0" rIns="0" bIns="0" rtlCol="0">
            <a:noAutofit/>
          </a:bodyPr>
          <a:lstStyle/>
          <a:p>
            <a:pPr algn="l"/>
            <a:r>
              <a:rPr lang="en-AU" sz="4400" dirty="0"/>
              <a:t>490</a:t>
            </a:r>
          </a:p>
        </p:txBody>
      </p:sp>
      <p:sp>
        <p:nvSpPr>
          <p:cNvPr id="11" name="TextBox 10">
            <a:extLst>
              <a:ext uri="{FF2B5EF4-FFF2-40B4-BE49-F238E27FC236}">
                <a16:creationId xmlns:a16="http://schemas.microsoft.com/office/drawing/2014/main" id="{F2C63D4C-D53C-5250-A986-AB949B67DEB8}"/>
              </a:ext>
            </a:extLst>
          </p:cNvPr>
          <p:cNvSpPr txBox="1"/>
          <p:nvPr/>
        </p:nvSpPr>
        <p:spPr>
          <a:xfrm>
            <a:off x="9486401" y="497943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TextBox 13">
            <a:extLst>
              <a:ext uri="{FF2B5EF4-FFF2-40B4-BE49-F238E27FC236}">
                <a16:creationId xmlns:a16="http://schemas.microsoft.com/office/drawing/2014/main" id="{D15FBD5D-2095-5A07-FC08-91ADD6494C74}"/>
              </a:ext>
            </a:extLst>
          </p:cNvPr>
          <p:cNvSpPr txBox="1"/>
          <p:nvPr/>
        </p:nvSpPr>
        <p:spPr>
          <a:xfrm>
            <a:off x="10122014" y="5042069"/>
            <a:ext cx="914400" cy="914400"/>
          </a:xfrm>
          <a:prstGeom prst="rect">
            <a:avLst/>
          </a:prstGeom>
          <a:noFill/>
        </p:spPr>
        <p:txBody>
          <a:bodyPr wrap="none" lIns="0" tIns="0" rIns="0" bIns="0" rtlCol="0">
            <a:noAutofit/>
          </a:bodyPr>
          <a:lstStyle/>
          <a:p>
            <a:pPr algn="l"/>
            <a:r>
              <a:rPr lang="en-AU" sz="4400" dirty="0"/>
              <a:t>4900</a:t>
            </a:r>
          </a:p>
        </p:txBody>
      </p:sp>
      <p:sp>
        <p:nvSpPr>
          <p:cNvPr id="2" name="Slide Number Placeholder 1">
            <a:extLst>
              <a:ext uri="{FF2B5EF4-FFF2-40B4-BE49-F238E27FC236}">
                <a16:creationId xmlns:a16="http://schemas.microsoft.com/office/drawing/2014/main" id="{BCDFCD28-280A-268C-8C92-8A605A7B59EF}"/>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481384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a:t>
            </a:r>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pic>
        <p:nvPicPr>
          <p:cNvPr id="3" name="Picture 2" descr="image of a clipboard with a pencil recording short answer responses">
            <a:extLst>
              <a:ext uri="{FF2B5EF4-FFF2-40B4-BE49-F238E27FC236}">
                <a16:creationId xmlns:a16="http://schemas.microsoft.com/office/drawing/2014/main" id="{69E4B2B2-713D-5998-87AB-5FC222AE389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94631008-9EA7-F29D-3FBC-2479427E8BC8}"/>
              </a:ext>
            </a:extLst>
          </p:cNvPr>
          <p:cNvSpPr txBox="1"/>
          <p:nvPr/>
        </p:nvSpPr>
        <p:spPr>
          <a:xfrm>
            <a:off x="986590" y="1141225"/>
            <a:ext cx="10043886" cy="3843012"/>
          </a:xfrm>
          <a:prstGeom prst="rect">
            <a:avLst/>
          </a:prstGeom>
          <a:noFill/>
        </p:spPr>
        <p:txBody>
          <a:bodyPr wrap="square" lIns="0" tIns="0" rIns="0" bIns="0" rtlCol="0">
            <a:noAutofit/>
          </a:bodyPr>
          <a:lstStyle/>
          <a:p>
            <a:pPr algn="ctr">
              <a:lnSpc>
                <a:spcPct val="150000"/>
              </a:lnSpc>
            </a:pPr>
            <a:r>
              <a:rPr lang="en-AU" sz="4800" dirty="0"/>
              <a:t>What is an appropriate </a:t>
            </a:r>
          </a:p>
          <a:p>
            <a:pPr algn="ctr">
              <a:lnSpc>
                <a:spcPct val="150000"/>
              </a:lnSpc>
            </a:pPr>
            <a:r>
              <a:rPr lang="en-AU" sz="4800" b="1" dirty="0"/>
              <a:t>tool </a:t>
            </a:r>
            <a:r>
              <a:rPr lang="en-AU" sz="4800" dirty="0"/>
              <a:t>to measure the </a:t>
            </a:r>
          </a:p>
          <a:p>
            <a:pPr algn="ctr">
              <a:lnSpc>
                <a:spcPct val="150000"/>
              </a:lnSpc>
            </a:pPr>
            <a:r>
              <a:rPr lang="en-AU" sz="4800" b="1" dirty="0"/>
              <a:t>length </a:t>
            </a:r>
            <a:r>
              <a:rPr lang="en-AU" sz="4800" dirty="0"/>
              <a:t>of a</a:t>
            </a:r>
            <a:r>
              <a:rPr lang="en-AU" sz="4800" b="1" dirty="0"/>
              <a:t> pencil</a:t>
            </a:r>
            <a:r>
              <a:rPr lang="en-AU" sz="4800" dirty="0"/>
              <a:t>?</a:t>
            </a:r>
          </a:p>
          <a:p>
            <a:pPr algn="ctr">
              <a:lnSpc>
                <a:spcPct val="150000"/>
              </a:lnSpc>
            </a:pPr>
            <a:endParaRPr lang="en-AU" sz="2000" dirty="0"/>
          </a:p>
          <a:p>
            <a:pPr algn="ctr">
              <a:lnSpc>
                <a:spcPct val="150000"/>
              </a:lnSpc>
            </a:pPr>
            <a:r>
              <a:rPr lang="en-AU" sz="4800" b="1" dirty="0"/>
              <a:t>Communicate</a:t>
            </a:r>
            <a:r>
              <a:rPr lang="en-AU" sz="4800" dirty="0"/>
              <a:t> your </a:t>
            </a:r>
            <a:r>
              <a:rPr lang="en-AU" sz="4800" b="1" dirty="0"/>
              <a:t>reasoning</a:t>
            </a:r>
            <a:r>
              <a:rPr lang="en-AU" sz="4800" dirty="0"/>
              <a:t>.</a:t>
            </a:r>
            <a:endParaRPr lang="en-AU" sz="2000" dirty="0"/>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a:t>
            </a:r>
          </a:p>
        </p:txBody>
      </p:sp>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pic>
        <p:nvPicPr>
          <p:cNvPr id="3" name="Picture 2" descr="image of a clipboard with a pencil recording short answer responses">
            <a:extLst>
              <a:ext uri="{FF2B5EF4-FFF2-40B4-BE49-F238E27FC236}">
                <a16:creationId xmlns:a16="http://schemas.microsoft.com/office/drawing/2014/main" id="{AB837201-1557-1DB2-05E9-E523FE1B17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CF9C687A-2449-06B6-6957-3C510FC1171C}"/>
              </a:ext>
            </a:extLst>
          </p:cNvPr>
          <p:cNvSpPr txBox="1"/>
          <p:nvPr/>
        </p:nvSpPr>
        <p:spPr>
          <a:xfrm>
            <a:off x="769036" y="1184222"/>
            <a:ext cx="10714964" cy="5053155"/>
          </a:xfrm>
          <a:prstGeom prst="rect">
            <a:avLst/>
          </a:prstGeom>
          <a:noFill/>
        </p:spPr>
        <p:txBody>
          <a:bodyPr wrap="square" lIns="0" tIns="0" rIns="0" bIns="0" rtlCol="0">
            <a:noAutofit/>
          </a:bodyPr>
          <a:lstStyle/>
          <a:p>
            <a:pPr algn="ctr">
              <a:lnSpc>
                <a:spcPct val="150000"/>
              </a:lnSpc>
            </a:pPr>
            <a:r>
              <a:rPr lang="en-AU" sz="4200" dirty="0"/>
              <a:t>Hunter has </a:t>
            </a:r>
            <a:r>
              <a:rPr lang="en-AU" sz="4200" b="1" dirty="0"/>
              <a:t>158</a:t>
            </a:r>
            <a:r>
              <a:rPr lang="en-AU" sz="4200" dirty="0"/>
              <a:t> bonsai trees for his market stall. He would like to have </a:t>
            </a:r>
            <a:r>
              <a:rPr lang="en-AU" sz="4200" b="1" dirty="0"/>
              <a:t>320</a:t>
            </a:r>
            <a:r>
              <a:rPr lang="en-AU" sz="4200" dirty="0"/>
              <a:t> bonsai trees.</a:t>
            </a:r>
          </a:p>
          <a:p>
            <a:pPr algn="ctr"/>
            <a:r>
              <a:rPr lang="en-AU" sz="4200" dirty="0"/>
              <a:t> </a:t>
            </a:r>
          </a:p>
          <a:p>
            <a:pPr algn="ctr">
              <a:lnSpc>
                <a:spcPct val="150000"/>
              </a:lnSpc>
            </a:pPr>
            <a:r>
              <a:rPr lang="en-AU" sz="4200" dirty="0"/>
              <a:t>Use a </a:t>
            </a:r>
            <a:r>
              <a:rPr lang="en-AU" sz="4200" b="1" dirty="0"/>
              <a:t>number line </a:t>
            </a:r>
            <a:r>
              <a:rPr lang="en-AU" sz="4200" dirty="0"/>
              <a:t>to show </a:t>
            </a:r>
            <a:r>
              <a:rPr lang="en-AU" sz="4200" b="1" dirty="0"/>
              <a:t>how many more</a:t>
            </a:r>
            <a:r>
              <a:rPr lang="en-AU" sz="4200" dirty="0"/>
              <a:t> bonsai trees Hunter needs for his stall.</a:t>
            </a:r>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a:t>
            </a:r>
          </a:p>
        </p:txBody>
      </p:sp>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pic>
        <p:nvPicPr>
          <p:cNvPr id="3" name="Picture 2" descr="image of a clipboard with a pencil recording short answer responses">
            <a:extLst>
              <a:ext uri="{FF2B5EF4-FFF2-40B4-BE49-F238E27FC236}">
                <a16:creationId xmlns:a16="http://schemas.microsoft.com/office/drawing/2014/main" id="{AE7CD0B4-5C73-21ED-199C-D91A99981CD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F32911F3-244D-3892-650A-C8CD9766D044}"/>
              </a:ext>
            </a:extLst>
          </p:cNvPr>
          <p:cNvSpPr txBox="1"/>
          <p:nvPr/>
        </p:nvSpPr>
        <p:spPr>
          <a:xfrm>
            <a:off x="663208" y="1184223"/>
            <a:ext cx="10367268" cy="4777241"/>
          </a:xfrm>
          <a:prstGeom prst="rect">
            <a:avLst/>
          </a:prstGeom>
          <a:noFill/>
        </p:spPr>
        <p:txBody>
          <a:bodyPr wrap="square" lIns="0" tIns="0" rIns="0" bIns="0" rtlCol="0">
            <a:noAutofit/>
          </a:bodyPr>
          <a:lstStyle/>
          <a:p>
            <a:pPr algn="ctr">
              <a:lnSpc>
                <a:spcPct val="150000"/>
              </a:lnSpc>
            </a:pPr>
            <a:r>
              <a:rPr lang="en-AU" sz="4400" dirty="0"/>
              <a:t>Regroup </a:t>
            </a:r>
          </a:p>
          <a:p>
            <a:pPr algn="ctr">
              <a:lnSpc>
                <a:spcPct val="150000"/>
              </a:lnSpc>
            </a:pPr>
            <a:r>
              <a:rPr lang="en-AU" sz="6600" dirty="0"/>
              <a:t>674</a:t>
            </a:r>
            <a:r>
              <a:rPr lang="en-AU" sz="4400" dirty="0"/>
              <a:t> </a:t>
            </a:r>
          </a:p>
          <a:p>
            <a:pPr algn="ctr">
              <a:lnSpc>
                <a:spcPct val="150000"/>
              </a:lnSpc>
            </a:pPr>
            <a:r>
              <a:rPr lang="en-AU" sz="4400" dirty="0"/>
              <a:t>in </a:t>
            </a:r>
            <a:r>
              <a:rPr lang="en-AU" sz="4400" b="1" dirty="0"/>
              <a:t>two different ways.</a:t>
            </a:r>
            <a:r>
              <a:rPr lang="en-AU" sz="4400" dirty="0"/>
              <a:t> </a:t>
            </a:r>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(4)</a:t>
            </a:r>
          </a:p>
        </p:txBody>
      </p:sp>
      <p:pic>
        <p:nvPicPr>
          <p:cNvPr id="3" name="Picture 2" descr="image of a clipboard with a pencil recording short answer responses">
            <a:extLst>
              <a:ext uri="{FF2B5EF4-FFF2-40B4-BE49-F238E27FC236}">
                <a16:creationId xmlns:a16="http://schemas.microsoft.com/office/drawing/2014/main" id="{FC9A4B87-D950-48CA-7AF9-006C90DB933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7E42030A-8FFE-7794-2374-1D605F44098B}"/>
              </a:ext>
            </a:extLst>
          </p:cNvPr>
          <p:cNvSpPr txBox="1"/>
          <p:nvPr/>
        </p:nvSpPr>
        <p:spPr>
          <a:xfrm>
            <a:off x="360000" y="1461544"/>
            <a:ext cx="4738570" cy="4333461"/>
          </a:xfrm>
          <a:prstGeom prst="rect">
            <a:avLst/>
          </a:prstGeom>
          <a:noFill/>
        </p:spPr>
        <p:txBody>
          <a:bodyPr wrap="square" lIns="0" tIns="0" rIns="0" bIns="0" rtlCol="0">
            <a:noAutofit/>
          </a:bodyPr>
          <a:lstStyle/>
          <a:p>
            <a:pPr algn="ctr">
              <a:lnSpc>
                <a:spcPct val="150000"/>
              </a:lnSpc>
            </a:pPr>
            <a:r>
              <a:rPr lang="en-AU" sz="4000" b="1" dirty="0"/>
              <a:t>Record</a:t>
            </a:r>
            <a:r>
              <a:rPr lang="en-AU" sz="4000" dirty="0"/>
              <a:t> the directions from the </a:t>
            </a:r>
            <a:r>
              <a:rPr lang="en-AU" sz="4000" b="1" dirty="0"/>
              <a:t>school </a:t>
            </a:r>
            <a:r>
              <a:rPr lang="en-AU" sz="4000" dirty="0"/>
              <a:t>to the </a:t>
            </a:r>
            <a:r>
              <a:rPr lang="en-AU" sz="4000" b="1" dirty="0"/>
              <a:t>hospital</a:t>
            </a:r>
            <a:r>
              <a:rPr lang="en-AU" sz="4000" dirty="0"/>
              <a:t>.</a:t>
            </a:r>
          </a:p>
        </p:txBody>
      </p:sp>
      <p:pic>
        <p:nvPicPr>
          <p:cNvPr id="4" name="Picture 3" descr="A series of roads joined at intersections to represent the street map. At different locations on the map are the following landmarks from top to bottom, left to right: a forest, a farm, a factory, wind turbines, a supermarket, two houses, a hospital, a park with a lake, a fairground, two apartment buildings, a museum, a petrol station and a repair shop.  ">
            <a:extLst>
              <a:ext uri="{FF2B5EF4-FFF2-40B4-BE49-F238E27FC236}">
                <a16:creationId xmlns:a16="http://schemas.microsoft.com/office/drawing/2014/main" id="{2060A77D-9F63-A9F8-A28C-9753CFE3ED35}"/>
              </a:ext>
            </a:extLst>
          </p:cNvPr>
          <p:cNvPicPr>
            <a:picLocks noChangeAspect="1"/>
          </p:cNvPicPr>
          <p:nvPr/>
        </p:nvPicPr>
        <p:blipFill>
          <a:blip r:embed="rId4"/>
          <a:stretch>
            <a:fillRect/>
          </a:stretch>
        </p:blipFill>
        <p:spPr>
          <a:xfrm>
            <a:off x="5221404" y="1461544"/>
            <a:ext cx="6724572" cy="4806734"/>
          </a:xfrm>
          <a:prstGeom prst="rect">
            <a:avLst/>
          </a:prstGeom>
        </p:spPr>
      </p:pic>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9</a:t>
            </a:fld>
            <a:endParaRPr lang="en-AU"/>
          </a:p>
        </p:txBody>
      </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E72EB4-FE41-E20F-CE83-7E946BD44A61}"/>
              </a:ext>
            </a:extLst>
          </p:cNvPr>
          <p:cNvSpPr>
            <a:spLocks noGrp="1"/>
          </p:cNvSpPr>
          <p:nvPr>
            <p:ph type="title"/>
          </p:nvPr>
        </p:nvSpPr>
        <p:spPr/>
        <p:txBody>
          <a:bodyPr/>
          <a:lstStyle/>
          <a:p>
            <a:r>
              <a:rPr lang="en-AU" dirty="0">
                <a:latin typeface="Arial"/>
                <a:cs typeface="Arial"/>
              </a:rPr>
              <a:t>Activity 1 – 10, 100 and 1000 larger </a:t>
            </a:r>
          </a:p>
        </p:txBody>
      </p:sp>
      <p:pic>
        <p:nvPicPr>
          <p:cNvPr id="7" name="Picture 6" descr="image of a head with cogs turning inside">
            <a:extLst>
              <a:ext uri="{FF2B5EF4-FFF2-40B4-BE49-F238E27FC236}">
                <a16:creationId xmlns:a16="http://schemas.microsoft.com/office/drawing/2014/main" id="{1E59B5B0-0F1D-3628-E0D9-BE5024FD7D09}"/>
              </a:ext>
            </a:extLst>
          </p:cNvPr>
          <p:cNvPicPr>
            <a:picLocks noChangeAspect="1"/>
          </p:cNvPicPr>
          <p:nvPr/>
        </p:nvPicPr>
        <p:blipFill>
          <a:blip r:embed="rId3"/>
          <a:stretch>
            <a:fillRect/>
          </a:stretch>
        </p:blipFill>
        <p:spPr>
          <a:xfrm>
            <a:off x="11107003" y="240894"/>
            <a:ext cx="720000" cy="856364"/>
          </a:xfrm>
          <a:prstGeom prst="rect">
            <a:avLst/>
          </a:prstGeom>
        </p:spPr>
      </p:pic>
      <p:graphicFrame>
        <p:nvGraphicFramePr>
          <p:cNvPr id="5" name="Table 4">
            <a:extLst>
              <a:ext uri="{FF2B5EF4-FFF2-40B4-BE49-F238E27FC236}">
                <a16:creationId xmlns:a16="http://schemas.microsoft.com/office/drawing/2014/main" id="{1E5A2951-6A13-5C97-7679-61E93466FE09}"/>
              </a:ext>
            </a:extLst>
          </p:cNvPr>
          <p:cNvGraphicFramePr>
            <a:graphicFrameLocks noGrp="1"/>
          </p:cNvGraphicFramePr>
          <p:nvPr>
            <p:extLst>
              <p:ext uri="{D42A27DB-BD31-4B8C-83A1-F6EECF244321}">
                <p14:modId xmlns:p14="http://schemas.microsoft.com/office/powerpoint/2010/main" val="3573195261"/>
              </p:ext>
            </p:extLst>
          </p:nvPr>
        </p:nvGraphicFramePr>
        <p:xfrm>
          <a:off x="864974" y="1013154"/>
          <a:ext cx="9996615" cy="5304784"/>
        </p:xfrm>
        <a:graphic>
          <a:graphicData uri="http://schemas.openxmlformats.org/drawingml/2006/table">
            <a:tbl>
              <a:tblPr firstRow="1" bandRow="1" bandCol="1">
                <a:tableStyleId>{5A111915-BE36-4E01-A7E5-04B1672EAD32}</a:tableStyleId>
              </a:tblPr>
              <a:tblGrid>
                <a:gridCol w="2059437">
                  <a:extLst>
                    <a:ext uri="{9D8B030D-6E8A-4147-A177-3AD203B41FA5}">
                      <a16:colId xmlns:a16="http://schemas.microsoft.com/office/drawing/2014/main" val="2016486249"/>
                    </a:ext>
                  </a:extLst>
                </a:gridCol>
                <a:gridCol w="1939209">
                  <a:extLst>
                    <a:ext uri="{9D8B030D-6E8A-4147-A177-3AD203B41FA5}">
                      <a16:colId xmlns:a16="http://schemas.microsoft.com/office/drawing/2014/main" val="1972057323"/>
                    </a:ext>
                  </a:extLst>
                </a:gridCol>
                <a:gridCol w="1999323">
                  <a:extLst>
                    <a:ext uri="{9D8B030D-6E8A-4147-A177-3AD203B41FA5}">
                      <a16:colId xmlns:a16="http://schemas.microsoft.com/office/drawing/2014/main" val="450077733"/>
                    </a:ext>
                  </a:extLst>
                </a:gridCol>
                <a:gridCol w="1999323">
                  <a:extLst>
                    <a:ext uri="{9D8B030D-6E8A-4147-A177-3AD203B41FA5}">
                      <a16:colId xmlns:a16="http://schemas.microsoft.com/office/drawing/2014/main" val="4199764113"/>
                    </a:ext>
                  </a:extLst>
                </a:gridCol>
                <a:gridCol w="1999323">
                  <a:extLst>
                    <a:ext uri="{9D8B030D-6E8A-4147-A177-3AD203B41FA5}">
                      <a16:colId xmlns:a16="http://schemas.microsoft.com/office/drawing/2014/main" val="862207943"/>
                    </a:ext>
                  </a:extLst>
                </a:gridCol>
              </a:tblGrid>
              <a:tr h="663098">
                <a:tc>
                  <a:txBody>
                    <a:bodyPr/>
                    <a:lstStyle/>
                    <a:p>
                      <a:pPr algn="ctr"/>
                      <a:endParaRPr lang="en-AU" dirty="0"/>
                    </a:p>
                  </a:txBody>
                  <a:tcPr>
                    <a:lnL w="6350" cap="flat" cmpd="sng" algn="ctr">
                      <a:noFill/>
                      <a:prstDash val="solid"/>
                      <a:miter lim="800000"/>
                    </a:lnL>
                    <a:lnR w="6350" cap="flat" cmpd="sng" algn="ctr">
                      <a:noFill/>
                      <a:prstDash val="solid"/>
                      <a:miter lim="800000"/>
                    </a:lnR>
                    <a:lnT w="6350" cap="flat" cmpd="sng" algn="ctr">
                      <a:noFill/>
                      <a:prstDash val="solid"/>
                      <a:miter lim="800000"/>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AU" dirty="0"/>
                    </a:p>
                  </a:txBody>
                  <a:tcPr>
                    <a:lnL w="6350" cap="flat" cmpd="sng" algn="ctr">
                      <a:noFill/>
                      <a:prstDash val="solid"/>
                      <a:miter lim="800000"/>
                    </a:lnL>
                    <a:lnR w="6350" cap="flat" cmpd="sng" algn="ctr">
                      <a:noFill/>
                      <a:prstDash val="solid"/>
                      <a:miter lim="800000"/>
                    </a:lnR>
                    <a:lnT w="6350" cap="flat" cmpd="sng" algn="ctr">
                      <a:noFill/>
                      <a:prstDash val="solid"/>
                      <a:miter lim="800000"/>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AU" dirty="0"/>
                    </a:p>
                  </a:txBody>
                  <a:tcPr>
                    <a:lnL w="6350" cap="flat" cmpd="sng" algn="ctr">
                      <a:noFill/>
                      <a:prstDash val="solid"/>
                      <a:miter lim="800000"/>
                    </a:lnL>
                    <a:lnR w="6350" cap="flat" cmpd="sng" algn="ctr">
                      <a:noFill/>
                      <a:prstDash val="solid"/>
                      <a:miter lim="800000"/>
                    </a:lnR>
                    <a:lnT w="6350" cap="flat" cmpd="sng" algn="ctr">
                      <a:noFill/>
                      <a:prstDash val="solid"/>
                      <a:miter lim="800000"/>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AU" dirty="0"/>
                    </a:p>
                  </a:txBody>
                  <a:tcPr>
                    <a:lnL w="6350" cap="flat" cmpd="sng" algn="ctr">
                      <a:noFill/>
                      <a:prstDash val="solid"/>
                      <a:miter lim="800000"/>
                    </a:lnL>
                    <a:lnR w="6350" cap="flat" cmpd="sng" algn="ctr">
                      <a:noFill/>
                      <a:prstDash val="solid"/>
                      <a:miter lim="800000"/>
                    </a:lnR>
                    <a:lnT w="6350" cap="flat" cmpd="sng" algn="ctr">
                      <a:noFill/>
                      <a:prstDash val="solid"/>
                      <a:miter lim="800000"/>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AU" dirty="0"/>
                    </a:p>
                  </a:txBody>
                  <a:tcPr>
                    <a:lnL w="6350" cap="flat" cmpd="sng" algn="ctr">
                      <a:noFill/>
                      <a:prstDash val="solid"/>
                      <a:miter lim="800000"/>
                    </a:lnL>
                    <a:lnR w="6350" cap="flat" cmpd="sng" algn="ctr">
                      <a:noFill/>
                      <a:prstDash val="solid"/>
                      <a:miter lim="800000"/>
                    </a:lnR>
                    <a:lnT w="6350" cap="flat" cmpd="sng" algn="ctr">
                      <a:noFill/>
                      <a:prstDash val="solid"/>
                      <a:miter lim="800000"/>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42632835"/>
                  </a:ext>
                </a:extLst>
              </a:tr>
              <a:tr h="663098">
                <a:tc>
                  <a:txBody>
                    <a:bodyPr/>
                    <a:lstStyle/>
                    <a:p>
                      <a:pPr algn="ctr"/>
                      <a:endParaRPr lang="en-AU" sz="2800" dirty="0"/>
                    </a:p>
                  </a:txBody>
                  <a:tcPr>
                    <a:lnT w="12700" cap="flat" cmpd="sng" algn="ctr">
                      <a:solidFill>
                        <a:schemeClr val="tx1"/>
                      </a:solidFill>
                      <a:prstDash val="solid"/>
                      <a:round/>
                      <a:headEnd type="none" w="med" len="med"/>
                      <a:tailEnd type="none" w="med" len="med"/>
                    </a:lnT>
                  </a:tcPr>
                </a:tc>
                <a:tc>
                  <a:txBody>
                    <a:bodyPr/>
                    <a:lstStyle/>
                    <a:p>
                      <a:pPr algn="ctr"/>
                      <a:r>
                        <a:rPr lang="en-AU" sz="2800" b="1" dirty="0"/>
                        <a:t>x 1</a:t>
                      </a:r>
                    </a:p>
                  </a:txBody>
                  <a:tcPr>
                    <a:lnT w="12700" cap="flat" cmpd="sng" algn="ctr">
                      <a:solidFill>
                        <a:schemeClr val="tx1"/>
                      </a:solidFill>
                      <a:prstDash val="solid"/>
                      <a:round/>
                      <a:headEnd type="none" w="med" len="med"/>
                      <a:tailEnd type="none" w="med" len="med"/>
                    </a:lnT>
                  </a:tcPr>
                </a:tc>
                <a:tc>
                  <a:txBody>
                    <a:bodyPr/>
                    <a:lstStyle/>
                    <a:p>
                      <a:pPr algn="ctr"/>
                      <a:r>
                        <a:rPr lang="en-AU" sz="2800" b="1" dirty="0"/>
                        <a:t>x 10</a:t>
                      </a:r>
                    </a:p>
                  </a:txBody>
                  <a:tcPr>
                    <a:lnT w="12700" cap="flat" cmpd="sng" algn="ctr">
                      <a:solidFill>
                        <a:schemeClr val="tx1"/>
                      </a:solidFill>
                      <a:prstDash val="solid"/>
                      <a:round/>
                      <a:headEnd type="none" w="med" len="med"/>
                      <a:tailEnd type="none" w="med" len="med"/>
                    </a:lnT>
                  </a:tcPr>
                </a:tc>
                <a:tc>
                  <a:txBody>
                    <a:bodyPr/>
                    <a:lstStyle/>
                    <a:p>
                      <a:pPr algn="ctr"/>
                      <a:r>
                        <a:rPr lang="en-AU" sz="2800" b="1" dirty="0"/>
                        <a:t>x 100</a:t>
                      </a:r>
                    </a:p>
                  </a:txBody>
                  <a:tcPr>
                    <a:lnT w="12700" cap="flat" cmpd="sng" algn="ctr">
                      <a:solidFill>
                        <a:schemeClr val="tx1"/>
                      </a:solidFill>
                      <a:prstDash val="solid"/>
                      <a:round/>
                      <a:headEnd type="none" w="med" len="med"/>
                      <a:tailEnd type="none" w="med" len="med"/>
                    </a:lnT>
                  </a:tcPr>
                </a:tc>
                <a:tc>
                  <a:txBody>
                    <a:bodyPr/>
                    <a:lstStyle/>
                    <a:p>
                      <a:pPr algn="ctr"/>
                      <a:r>
                        <a:rPr lang="en-AU" sz="2800" b="1" dirty="0"/>
                        <a:t>x 1000</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7584682"/>
                  </a:ext>
                </a:extLst>
              </a:tr>
              <a:tr h="663098">
                <a:tc>
                  <a:txBody>
                    <a:bodyPr/>
                    <a:lstStyle/>
                    <a:p>
                      <a:pPr algn="ctr"/>
                      <a:r>
                        <a:rPr lang="en-AU" sz="2800" dirty="0"/>
                        <a:t>Example</a:t>
                      </a:r>
                    </a:p>
                  </a:txBody>
                  <a:tcPr/>
                </a:tc>
                <a:tc>
                  <a:txBody>
                    <a:bodyPr/>
                    <a:lstStyle/>
                    <a:p>
                      <a:pPr algn="ctr"/>
                      <a:r>
                        <a:rPr lang="en-AU" sz="2800" dirty="0"/>
                        <a:t>3</a:t>
                      </a:r>
                    </a:p>
                  </a:txBody>
                  <a:tcPr/>
                </a:tc>
                <a:tc>
                  <a:txBody>
                    <a:bodyPr/>
                    <a:lstStyle/>
                    <a:p>
                      <a:pPr algn="ctr"/>
                      <a:r>
                        <a:rPr lang="en-AU" sz="2800" dirty="0"/>
                        <a:t>30</a:t>
                      </a:r>
                    </a:p>
                  </a:txBody>
                  <a:tcPr/>
                </a:tc>
                <a:tc>
                  <a:txBody>
                    <a:bodyPr/>
                    <a:lstStyle/>
                    <a:p>
                      <a:pPr algn="ctr"/>
                      <a:r>
                        <a:rPr lang="en-AU" sz="2800" dirty="0"/>
                        <a:t>300</a:t>
                      </a:r>
                    </a:p>
                  </a:txBody>
                  <a:tcPr/>
                </a:tc>
                <a:tc>
                  <a:txBody>
                    <a:bodyPr/>
                    <a:lstStyle/>
                    <a:p>
                      <a:pPr algn="ctr"/>
                      <a:r>
                        <a:rPr lang="en-AU" sz="2800" dirty="0"/>
                        <a:t>3000</a:t>
                      </a:r>
                    </a:p>
                  </a:txBody>
                  <a:tcPr/>
                </a:tc>
                <a:extLst>
                  <a:ext uri="{0D108BD9-81ED-4DB2-BD59-A6C34878D82A}">
                    <a16:rowId xmlns:a16="http://schemas.microsoft.com/office/drawing/2014/main" val="3143395651"/>
                  </a:ext>
                </a:extLst>
              </a:tr>
              <a:tr h="663098">
                <a:tc>
                  <a:txBody>
                    <a:bodyPr/>
                    <a:lstStyle/>
                    <a:p>
                      <a:pPr algn="ctr"/>
                      <a:r>
                        <a:rPr lang="en-AU" sz="2800" dirty="0"/>
                        <a:t>First roll</a:t>
                      </a:r>
                    </a:p>
                  </a:txBody>
                  <a:tcPr/>
                </a:tc>
                <a:tc>
                  <a:txBody>
                    <a:bodyPr/>
                    <a:lstStyle/>
                    <a:p>
                      <a:pPr algn="ctr"/>
                      <a:endParaRPr lang="en-AU" sz="2800" dirty="0"/>
                    </a:p>
                  </a:txBody>
                  <a:tcPr/>
                </a:tc>
                <a:tc>
                  <a:txBody>
                    <a:bodyPr/>
                    <a:lstStyle/>
                    <a:p>
                      <a:pPr algn="ctr"/>
                      <a:endParaRPr lang="en-AU" sz="2800"/>
                    </a:p>
                  </a:txBody>
                  <a:tcPr/>
                </a:tc>
                <a:tc>
                  <a:txBody>
                    <a:bodyPr/>
                    <a:lstStyle/>
                    <a:p>
                      <a:pPr algn="ctr"/>
                      <a:endParaRPr lang="en-AU" sz="2800" dirty="0"/>
                    </a:p>
                  </a:txBody>
                  <a:tcPr/>
                </a:tc>
                <a:tc>
                  <a:txBody>
                    <a:bodyPr/>
                    <a:lstStyle/>
                    <a:p>
                      <a:pPr algn="ctr"/>
                      <a:endParaRPr lang="en-AU" sz="2800"/>
                    </a:p>
                  </a:txBody>
                  <a:tcPr/>
                </a:tc>
                <a:extLst>
                  <a:ext uri="{0D108BD9-81ED-4DB2-BD59-A6C34878D82A}">
                    <a16:rowId xmlns:a16="http://schemas.microsoft.com/office/drawing/2014/main" val="3245835151"/>
                  </a:ext>
                </a:extLst>
              </a:tr>
              <a:tr h="663098">
                <a:tc>
                  <a:txBody>
                    <a:bodyPr/>
                    <a:lstStyle/>
                    <a:p>
                      <a:pPr algn="ctr"/>
                      <a:r>
                        <a:rPr lang="en-AU" sz="2800" dirty="0"/>
                        <a:t>Second roll</a:t>
                      </a:r>
                    </a:p>
                  </a:txBody>
                  <a:tcPr/>
                </a:tc>
                <a:tc>
                  <a:txBody>
                    <a:bodyPr/>
                    <a:lstStyle/>
                    <a:p>
                      <a:pPr algn="ctr"/>
                      <a:endParaRPr lang="en-AU" sz="2800"/>
                    </a:p>
                  </a:txBody>
                  <a:tcPr/>
                </a:tc>
                <a:tc>
                  <a:txBody>
                    <a:bodyPr/>
                    <a:lstStyle/>
                    <a:p>
                      <a:pPr algn="ctr"/>
                      <a:endParaRPr lang="en-AU" sz="2800"/>
                    </a:p>
                  </a:txBody>
                  <a:tcPr/>
                </a:tc>
                <a:tc>
                  <a:txBody>
                    <a:bodyPr/>
                    <a:lstStyle/>
                    <a:p>
                      <a:pPr algn="ctr"/>
                      <a:endParaRPr lang="en-AU" sz="2800" dirty="0"/>
                    </a:p>
                  </a:txBody>
                  <a:tcPr/>
                </a:tc>
                <a:tc>
                  <a:txBody>
                    <a:bodyPr/>
                    <a:lstStyle/>
                    <a:p>
                      <a:pPr algn="ctr"/>
                      <a:endParaRPr lang="en-AU" sz="2800"/>
                    </a:p>
                  </a:txBody>
                  <a:tcPr/>
                </a:tc>
                <a:extLst>
                  <a:ext uri="{0D108BD9-81ED-4DB2-BD59-A6C34878D82A}">
                    <a16:rowId xmlns:a16="http://schemas.microsoft.com/office/drawing/2014/main" val="3739069851"/>
                  </a:ext>
                </a:extLst>
              </a:tr>
              <a:tr h="663098">
                <a:tc>
                  <a:txBody>
                    <a:bodyPr/>
                    <a:lstStyle/>
                    <a:p>
                      <a:pPr algn="ctr"/>
                      <a:r>
                        <a:rPr lang="en-AU" sz="2800" dirty="0"/>
                        <a:t>Third roll</a:t>
                      </a:r>
                    </a:p>
                  </a:txBody>
                  <a:tcPr/>
                </a:tc>
                <a:tc>
                  <a:txBody>
                    <a:bodyPr/>
                    <a:lstStyle/>
                    <a:p>
                      <a:pPr algn="ctr"/>
                      <a:endParaRPr lang="en-AU" sz="2800"/>
                    </a:p>
                  </a:txBody>
                  <a:tcPr/>
                </a:tc>
                <a:tc>
                  <a:txBody>
                    <a:bodyPr/>
                    <a:lstStyle/>
                    <a:p>
                      <a:pPr algn="ctr"/>
                      <a:endParaRPr lang="en-AU" sz="2800"/>
                    </a:p>
                  </a:txBody>
                  <a:tcPr/>
                </a:tc>
                <a:tc>
                  <a:txBody>
                    <a:bodyPr/>
                    <a:lstStyle/>
                    <a:p>
                      <a:pPr algn="ctr"/>
                      <a:endParaRPr lang="en-AU" sz="2800" dirty="0"/>
                    </a:p>
                  </a:txBody>
                  <a:tcPr/>
                </a:tc>
                <a:tc>
                  <a:txBody>
                    <a:bodyPr/>
                    <a:lstStyle/>
                    <a:p>
                      <a:pPr algn="ctr"/>
                      <a:endParaRPr lang="en-AU" sz="2800" dirty="0"/>
                    </a:p>
                  </a:txBody>
                  <a:tcPr/>
                </a:tc>
                <a:extLst>
                  <a:ext uri="{0D108BD9-81ED-4DB2-BD59-A6C34878D82A}">
                    <a16:rowId xmlns:a16="http://schemas.microsoft.com/office/drawing/2014/main" val="2651275558"/>
                  </a:ext>
                </a:extLst>
              </a:tr>
              <a:tr h="663098">
                <a:tc>
                  <a:txBody>
                    <a:bodyPr/>
                    <a:lstStyle/>
                    <a:p>
                      <a:pPr algn="ctr"/>
                      <a:r>
                        <a:rPr lang="en-AU" sz="2800" dirty="0"/>
                        <a:t>Fourth roll</a:t>
                      </a:r>
                    </a:p>
                  </a:txBody>
                  <a:tcPr/>
                </a:tc>
                <a:tc>
                  <a:txBody>
                    <a:bodyPr/>
                    <a:lstStyle/>
                    <a:p>
                      <a:pPr algn="ctr"/>
                      <a:endParaRPr lang="en-AU" sz="2800"/>
                    </a:p>
                  </a:txBody>
                  <a:tcPr/>
                </a:tc>
                <a:tc>
                  <a:txBody>
                    <a:bodyPr/>
                    <a:lstStyle/>
                    <a:p>
                      <a:pPr algn="ctr"/>
                      <a:endParaRPr lang="en-AU" sz="2800"/>
                    </a:p>
                  </a:txBody>
                  <a:tcPr/>
                </a:tc>
                <a:tc>
                  <a:txBody>
                    <a:bodyPr/>
                    <a:lstStyle/>
                    <a:p>
                      <a:pPr algn="ctr"/>
                      <a:endParaRPr lang="en-AU" sz="2800" dirty="0"/>
                    </a:p>
                  </a:txBody>
                  <a:tcPr/>
                </a:tc>
                <a:tc>
                  <a:txBody>
                    <a:bodyPr/>
                    <a:lstStyle/>
                    <a:p>
                      <a:pPr algn="ctr"/>
                      <a:endParaRPr lang="en-AU" sz="2800" dirty="0"/>
                    </a:p>
                  </a:txBody>
                  <a:tcPr/>
                </a:tc>
                <a:extLst>
                  <a:ext uri="{0D108BD9-81ED-4DB2-BD59-A6C34878D82A}">
                    <a16:rowId xmlns:a16="http://schemas.microsoft.com/office/drawing/2014/main" val="1469134300"/>
                  </a:ext>
                </a:extLst>
              </a:tr>
              <a:tr h="663098">
                <a:tc>
                  <a:txBody>
                    <a:bodyPr/>
                    <a:lstStyle/>
                    <a:p>
                      <a:pPr algn="ctr"/>
                      <a:r>
                        <a:rPr lang="en-AU" sz="2800" dirty="0"/>
                        <a:t>Fifth roll</a:t>
                      </a:r>
                    </a:p>
                  </a:txBody>
                  <a:tcPr/>
                </a:tc>
                <a:tc>
                  <a:txBody>
                    <a:bodyPr/>
                    <a:lstStyle/>
                    <a:p>
                      <a:pPr algn="ctr"/>
                      <a:endParaRPr lang="en-AU" sz="2800"/>
                    </a:p>
                  </a:txBody>
                  <a:tcPr/>
                </a:tc>
                <a:tc>
                  <a:txBody>
                    <a:bodyPr/>
                    <a:lstStyle/>
                    <a:p>
                      <a:pPr algn="ctr"/>
                      <a:endParaRPr lang="en-AU" sz="2800"/>
                    </a:p>
                  </a:txBody>
                  <a:tcPr/>
                </a:tc>
                <a:tc>
                  <a:txBody>
                    <a:bodyPr/>
                    <a:lstStyle/>
                    <a:p>
                      <a:pPr algn="ctr"/>
                      <a:endParaRPr lang="en-AU" sz="2800" dirty="0"/>
                    </a:p>
                  </a:txBody>
                  <a:tcPr/>
                </a:tc>
                <a:tc>
                  <a:txBody>
                    <a:bodyPr/>
                    <a:lstStyle/>
                    <a:p>
                      <a:pPr algn="ctr"/>
                      <a:endParaRPr lang="en-AU" sz="2800" dirty="0"/>
                    </a:p>
                  </a:txBody>
                  <a:tcPr/>
                </a:tc>
                <a:extLst>
                  <a:ext uri="{0D108BD9-81ED-4DB2-BD59-A6C34878D82A}">
                    <a16:rowId xmlns:a16="http://schemas.microsoft.com/office/drawing/2014/main" val="3403461492"/>
                  </a:ext>
                </a:extLst>
              </a:tr>
            </a:tbl>
          </a:graphicData>
        </a:graphic>
      </p:graphicFrame>
      <p:sp>
        <p:nvSpPr>
          <p:cNvPr id="2" name="Slide Number Placeholder 1">
            <a:extLst>
              <a:ext uri="{FF2B5EF4-FFF2-40B4-BE49-F238E27FC236}">
                <a16:creationId xmlns:a16="http://schemas.microsoft.com/office/drawing/2014/main" id="{F629FAED-B69A-66E7-7501-DFF54541359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spTree>
    <p:extLst>
      <p:ext uri="{BB962C8B-B14F-4D97-AF65-F5344CB8AC3E}">
        <p14:creationId xmlns:p14="http://schemas.microsoft.com/office/powerpoint/2010/main" val="904910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dirty="0"/>
              <a:t>True or false </a:t>
            </a:r>
            <a:r>
              <a:rPr lang="en-US" dirty="0">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6FB50F61-F068-87AB-4B10-FC2CEB84FBCE}"/>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5" name="Text Placeholder 5">
            <a:extLst>
              <a:ext uri="{FF2B5EF4-FFF2-40B4-BE49-F238E27FC236}">
                <a16:creationId xmlns:a16="http://schemas.microsoft.com/office/drawing/2014/main" id="{F3AE9188-5DFE-625D-C0B3-24683D935D10}"/>
              </a:ext>
            </a:extLst>
          </p:cNvPr>
          <p:cNvSpPr txBox="1">
            <a:spLocks/>
          </p:cNvSpPr>
          <p:nvPr/>
        </p:nvSpPr>
        <p:spPr>
          <a:xfrm>
            <a:off x="784426" y="1500716"/>
            <a:ext cx="11059574"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t>In the number </a:t>
            </a:r>
            <a:r>
              <a:rPr lang="en-AU" sz="4400" b="1" dirty="0"/>
              <a:t>9 567 </a:t>
            </a:r>
            <a:r>
              <a:rPr lang="en-AU" sz="4400" dirty="0"/>
              <a:t>there are </a:t>
            </a:r>
            <a:r>
              <a:rPr lang="en-AU" sz="4400" b="1" dirty="0"/>
              <a:t>95 hundreds</a:t>
            </a:r>
            <a:r>
              <a:rPr lang="en-AU" sz="4400" dirty="0"/>
              <a:t>.</a:t>
            </a:r>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443329318"/>
              </p:ext>
            </p:extLst>
          </p:nvPr>
        </p:nvGraphicFramePr>
        <p:xfrm>
          <a:off x="2479053" y="3058160"/>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1817978" y="4324078"/>
            <a:ext cx="8556044" cy="893226"/>
          </a:xfrm>
        </p:spPr>
        <p:txBody>
          <a:bodyPr/>
          <a:lstStyle/>
          <a:p>
            <a:pPr algn="ctr"/>
            <a:r>
              <a:rPr lang="en-AU" sz="4400" b="1" dirty="0"/>
              <a:t>Communicate</a:t>
            </a:r>
            <a:r>
              <a:rPr lang="en-AU" sz="4400" dirty="0"/>
              <a:t> your </a:t>
            </a:r>
            <a:r>
              <a:rPr lang="en-AU" sz="4400" b="1" dirty="0"/>
              <a:t>reasoning</a:t>
            </a:r>
            <a:r>
              <a:rPr lang="en-AU" sz="4400" dirty="0"/>
              <a:t>.</a:t>
            </a:r>
          </a:p>
        </p:txBody>
      </p:sp>
      <p:sp>
        <p:nvSpPr>
          <p:cNvPr id="2" name="Slide Number Placeholder 1">
            <a:extLst>
              <a:ext uri="{FF2B5EF4-FFF2-40B4-BE49-F238E27FC236}">
                <a16:creationId xmlns:a16="http://schemas.microsoft.com/office/drawing/2014/main" id="{9FE886CB-34FF-0292-C29C-0B025043076C}"/>
              </a:ext>
            </a:extLst>
          </p:cNvPr>
          <p:cNvSpPr>
            <a:spLocks noGrp="1"/>
          </p:cNvSpPr>
          <p:nvPr>
            <p:ph type="sldNum" sz="quarter" idx="12"/>
          </p:nvPr>
        </p:nvSpPr>
        <p:spPr/>
        <p:txBody>
          <a:bodyPr/>
          <a:lstStyle/>
          <a:p>
            <a:fld id="{10A01DC5-1685-4615-8240-15192985C6A2}" type="slidenum">
              <a:rPr lang="en-AU" smtClean="0"/>
              <a:t>12</a:t>
            </a:fld>
            <a:endParaRPr lang="en-AU"/>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(5)</a:t>
            </a:r>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pic>
        <p:nvPicPr>
          <p:cNvPr id="3" name="Picture 2" descr="image of a clipboard with a pencil recording short answer responses">
            <a:extLst>
              <a:ext uri="{FF2B5EF4-FFF2-40B4-BE49-F238E27FC236}">
                <a16:creationId xmlns:a16="http://schemas.microsoft.com/office/drawing/2014/main" id="{C7718586-1339-6B81-E608-E6AA891DE5E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C5E78443-4838-1ACA-D30B-5147683777C6}"/>
              </a:ext>
            </a:extLst>
          </p:cNvPr>
          <p:cNvSpPr txBox="1"/>
          <p:nvPr/>
        </p:nvSpPr>
        <p:spPr>
          <a:xfrm>
            <a:off x="1058213" y="1184223"/>
            <a:ext cx="10065787" cy="4921302"/>
          </a:xfrm>
          <a:prstGeom prst="rect">
            <a:avLst/>
          </a:prstGeom>
          <a:noFill/>
        </p:spPr>
        <p:txBody>
          <a:bodyPr wrap="square" lIns="0" tIns="0" rIns="0" bIns="0" rtlCol="0">
            <a:noAutofit/>
          </a:bodyPr>
          <a:lstStyle/>
          <a:p>
            <a:pPr algn="ctr">
              <a:lnSpc>
                <a:spcPct val="150000"/>
              </a:lnSpc>
            </a:pPr>
            <a:r>
              <a:rPr lang="en-AU" sz="4400" dirty="0"/>
              <a:t>What </a:t>
            </a:r>
            <a:r>
              <a:rPr lang="en-AU" sz="4400" b="1" dirty="0"/>
              <a:t>unit of measure </a:t>
            </a:r>
            <a:r>
              <a:rPr lang="en-AU" sz="4400" dirty="0"/>
              <a:t>for </a:t>
            </a:r>
            <a:r>
              <a:rPr lang="en-AU" sz="4400" b="1" dirty="0"/>
              <a:t>length</a:t>
            </a:r>
            <a:r>
              <a:rPr lang="en-AU" sz="4400" dirty="0"/>
              <a:t> would you use for the following?</a:t>
            </a:r>
          </a:p>
          <a:p>
            <a:pPr marL="3619424" lvl="5" indent="-571500">
              <a:buFont typeface="Arial" panose="020B0604020202020204" pitchFamily="34" charset="0"/>
              <a:buChar char="•"/>
            </a:pPr>
            <a:r>
              <a:rPr lang="en-AU" sz="4400" dirty="0"/>
              <a:t>a laptop</a:t>
            </a:r>
          </a:p>
          <a:p>
            <a:pPr marL="3619424" lvl="5" indent="-571500">
              <a:buFont typeface="Arial" panose="020B0604020202020204" pitchFamily="34" charset="0"/>
              <a:buChar char="•"/>
            </a:pPr>
            <a:r>
              <a:rPr lang="en-AU" sz="4400" dirty="0"/>
              <a:t>a skateboard</a:t>
            </a:r>
          </a:p>
          <a:p>
            <a:pPr marL="3619424" lvl="5" indent="-571500">
              <a:buFont typeface="Arial" panose="020B0604020202020204" pitchFamily="34" charset="0"/>
              <a:buChar char="•"/>
            </a:pPr>
            <a:r>
              <a:rPr lang="en-AU" sz="4400" dirty="0"/>
              <a:t>	a long jump pit</a:t>
            </a:r>
          </a:p>
          <a:p>
            <a:pPr marL="3619424" lvl="5" indent="-571500">
              <a:buFont typeface="Arial" panose="020B0604020202020204" pitchFamily="34" charset="0"/>
              <a:buChar char="•"/>
            </a:pPr>
            <a:r>
              <a:rPr lang="en-AU" sz="4400" dirty="0"/>
              <a:t>	a grain of rice			</a:t>
            </a:r>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(6)</a:t>
            </a:r>
          </a:p>
        </p:txBody>
      </p:sp>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pic>
        <p:nvPicPr>
          <p:cNvPr id="3" name="Picture 2" descr="image of a clipboard with a pencil recording short answer responses">
            <a:extLst>
              <a:ext uri="{FF2B5EF4-FFF2-40B4-BE49-F238E27FC236}">
                <a16:creationId xmlns:a16="http://schemas.microsoft.com/office/drawing/2014/main" id="{9C8770A4-A467-8E0A-C417-8D3F46A532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2C385B18-1B12-4EC0-F6AE-68A2AE0329FB}"/>
              </a:ext>
            </a:extLst>
          </p:cNvPr>
          <p:cNvSpPr txBox="1"/>
          <p:nvPr/>
        </p:nvSpPr>
        <p:spPr>
          <a:xfrm>
            <a:off x="1775150" y="1434744"/>
            <a:ext cx="9255326" cy="4217194"/>
          </a:xfrm>
          <a:prstGeom prst="rect">
            <a:avLst/>
          </a:prstGeom>
          <a:noFill/>
        </p:spPr>
        <p:txBody>
          <a:bodyPr wrap="square" lIns="0" tIns="0" rIns="0" bIns="0" rtlCol="0">
            <a:noAutofit/>
          </a:bodyPr>
          <a:lstStyle/>
          <a:p>
            <a:pPr algn="ctr">
              <a:lnSpc>
                <a:spcPct val="150000"/>
              </a:lnSpc>
            </a:pPr>
            <a:r>
              <a:rPr lang="en-AU" sz="4400" dirty="0"/>
              <a:t>Use</a:t>
            </a:r>
            <a:r>
              <a:rPr lang="en-AU" sz="4400" b="1" dirty="0"/>
              <a:t> regrouping </a:t>
            </a:r>
            <a:r>
              <a:rPr lang="en-AU" sz="4400" dirty="0"/>
              <a:t>to solve:</a:t>
            </a:r>
            <a:endParaRPr lang="en-AU" sz="4000" b="1" dirty="0"/>
          </a:p>
          <a:p>
            <a:pPr algn="ctr">
              <a:lnSpc>
                <a:spcPct val="150000"/>
              </a:lnSpc>
            </a:pPr>
            <a:r>
              <a:rPr lang="en-AU" sz="6600" dirty="0"/>
              <a:t>381 + 409 = </a:t>
            </a:r>
          </a:p>
          <a:p>
            <a:pPr algn="ctr">
              <a:lnSpc>
                <a:spcPct val="150000"/>
              </a:lnSpc>
            </a:pPr>
            <a:endParaRPr lang="en-AU" sz="4400" b="1" dirty="0"/>
          </a:p>
          <a:p>
            <a:pPr algn="ctr">
              <a:lnSpc>
                <a:spcPct val="150000"/>
              </a:lnSpc>
            </a:pPr>
            <a:r>
              <a:rPr lang="en-AU" sz="4400" b="1" dirty="0"/>
              <a:t>Communicate</a:t>
            </a:r>
            <a:r>
              <a:rPr lang="en-AU" sz="4400" dirty="0"/>
              <a:t> your </a:t>
            </a:r>
            <a:r>
              <a:rPr lang="en-AU" sz="4400" b="1" dirty="0"/>
              <a:t>thinking</a:t>
            </a:r>
            <a:r>
              <a:rPr lang="en-AU" sz="4400" dirty="0"/>
              <a:t>. </a:t>
            </a:r>
          </a:p>
          <a:p>
            <a:pPr algn="ctr"/>
            <a:endParaRPr lang="en-AU" dirty="0"/>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(7)</a:t>
            </a:r>
          </a:p>
        </p:txBody>
      </p:sp>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pic>
        <p:nvPicPr>
          <p:cNvPr id="3" name="Picture 2" descr="image of a clipboard with a pencil recording short answer responses">
            <a:extLst>
              <a:ext uri="{FF2B5EF4-FFF2-40B4-BE49-F238E27FC236}">
                <a16:creationId xmlns:a16="http://schemas.microsoft.com/office/drawing/2014/main" id="{F22768F3-1D34-7E31-8299-4A2308A11FC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A8855136-A0AD-5511-3B28-9C84F7F3551F}"/>
              </a:ext>
            </a:extLst>
          </p:cNvPr>
          <p:cNvSpPr txBox="1"/>
          <p:nvPr/>
        </p:nvSpPr>
        <p:spPr>
          <a:xfrm>
            <a:off x="863725" y="1905000"/>
            <a:ext cx="10464550" cy="3625157"/>
          </a:xfrm>
          <a:prstGeom prst="rect">
            <a:avLst/>
          </a:prstGeom>
          <a:noFill/>
        </p:spPr>
        <p:txBody>
          <a:bodyPr wrap="square" lIns="0" tIns="0" rIns="0" bIns="0" rtlCol="0">
            <a:noAutofit/>
          </a:bodyPr>
          <a:lstStyle/>
          <a:p>
            <a:pPr algn="ctr">
              <a:lnSpc>
                <a:spcPct val="150000"/>
              </a:lnSpc>
            </a:pPr>
            <a:r>
              <a:rPr lang="en-AU" sz="5400" dirty="0"/>
              <a:t>Write the number </a:t>
            </a:r>
          </a:p>
          <a:p>
            <a:pPr algn="ctr">
              <a:lnSpc>
                <a:spcPct val="150000"/>
              </a:lnSpc>
            </a:pPr>
            <a:r>
              <a:rPr lang="en-AU" sz="5400" dirty="0"/>
              <a:t>6 704 </a:t>
            </a:r>
          </a:p>
          <a:p>
            <a:pPr algn="ctr">
              <a:lnSpc>
                <a:spcPct val="150000"/>
              </a:lnSpc>
            </a:pPr>
            <a:r>
              <a:rPr lang="en-AU" sz="5400" dirty="0"/>
              <a:t>in words.</a:t>
            </a:r>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(8)</a:t>
            </a:r>
          </a:p>
        </p:txBody>
      </p:sp>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pic>
        <p:nvPicPr>
          <p:cNvPr id="3" name="Picture 2" descr="image of a clipboard with a pencil recording short answer responses">
            <a:extLst>
              <a:ext uri="{FF2B5EF4-FFF2-40B4-BE49-F238E27FC236}">
                <a16:creationId xmlns:a16="http://schemas.microsoft.com/office/drawing/2014/main" id="{5D2DD89E-AAB3-5EBB-F36F-72D71287FEE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BF2CDBFE-8EB8-F48D-EABE-ABAEF2247BBD}"/>
              </a:ext>
            </a:extLst>
          </p:cNvPr>
          <p:cNvSpPr txBox="1"/>
          <p:nvPr/>
        </p:nvSpPr>
        <p:spPr>
          <a:xfrm>
            <a:off x="863725" y="1327842"/>
            <a:ext cx="10464550" cy="4202315"/>
          </a:xfrm>
          <a:prstGeom prst="rect">
            <a:avLst/>
          </a:prstGeom>
          <a:noFill/>
        </p:spPr>
        <p:txBody>
          <a:bodyPr wrap="square" lIns="0" tIns="0" rIns="0" bIns="0" rtlCol="0">
            <a:noAutofit/>
          </a:bodyPr>
          <a:lstStyle/>
          <a:p>
            <a:pPr algn="ctr">
              <a:lnSpc>
                <a:spcPct val="150000"/>
              </a:lnSpc>
            </a:pPr>
            <a:r>
              <a:rPr lang="en-AU" sz="4400" dirty="0"/>
              <a:t>Order the </a:t>
            </a:r>
            <a:r>
              <a:rPr lang="en-AU" sz="4400" b="1" dirty="0"/>
              <a:t>lengths</a:t>
            </a:r>
            <a:r>
              <a:rPr lang="en-AU" sz="4400" dirty="0"/>
              <a:t> in </a:t>
            </a:r>
            <a:r>
              <a:rPr lang="en-AU" sz="4400" b="1" dirty="0"/>
              <a:t>ascending order</a:t>
            </a:r>
            <a:r>
              <a:rPr lang="en-AU" sz="4400" dirty="0"/>
              <a:t>:</a:t>
            </a:r>
          </a:p>
          <a:p>
            <a:pPr marL="571500" indent="-571500" algn="ctr">
              <a:lnSpc>
                <a:spcPct val="150000"/>
              </a:lnSpc>
              <a:buFont typeface="Arial" panose="020B0604020202020204" pitchFamily="34" charset="0"/>
              <a:buChar char="•"/>
            </a:pPr>
            <a:r>
              <a:rPr lang="en-AU" sz="4400" dirty="0"/>
              <a:t>1.2 metres</a:t>
            </a:r>
          </a:p>
          <a:p>
            <a:pPr marL="571500" indent="-571500" algn="ctr">
              <a:lnSpc>
                <a:spcPct val="150000"/>
              </a:lnSpc>
              <a:buFont typeface="Arial" panose="020B0604020202020204" pitchFamily="34" charset="0"/>
              <a:buChar char="•"/>
            </a:pPr>
            <a:r>
              <a:rPr lang="en-AU" sz="4400" dirty="0"/>
              <a:t>123 centimetres</a:t>
            </a:r>
          </a:p>
          <a:p>
            <a:pPr marL="571500" indent="-571500" algn="ctr">
              <a:lnSpc>
                <a:spcPct val="150000"/>
              </a:lnSpc>
              <a:buFont typeface="Arial" panose="020B0604020202020204" pitchFamily="34" charset="0"/>
              <a:buChar char="•"/>
            </a:pPr>
            <a:r>
              <a:rPr lang="en-AU" sz="4400" dirty="0"/>
              <a:t>1210 millimetres</a:t>
            </a:r>
          </a:p>
          <a:p>
            <a:pPr algn="ctr">
              <a:lnSpc>
                <a:spcPct val="150000"/>
              </a:lnSpc>
            </a:pPr>
            <a:endParaRPr lang="en-AU" sz="4400" dirty="0"/>
          </a:p>
          <a:p>
            <a:pPr algn="l"/>
            <a:endParaRPr lang="en-AU" sz="4400" dirty="0"/>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72FFF-F356-6A66-9E96-2B7908F285B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3A99F31-8277-4680-29C6-AD74B89208E2}"/>
              </a:ext>
            </a:extLst>
          </p:cNvPr>
          <p:cNvSpPr>
            <a:spLocks noGrp="1"/>
          </p:cNvSpPr>
          <p:nvPr>
            <p:ph type="title"/>
          </p:nvPr>
        </p:nvSpPr>
        <p:spPr/>
        <p:txBody>
          <a:bodyPr/>
          <a:lstStyle/>
          <a:p>
            <a:r>
              <a:rPr lang="en-AU">
                <a:latin typeface="Arial"/>
                <a:cs typeface="Arial"/>
              </a:rPr>
              <a:t>Activity 2 – 10, 100 and 1000 larger 2 </a:t>
            </a:r>
          </a:p>
        </p:txBody>
      </p:sp>
      <p:graphicFrame>
        <p:nvGraphicFramePr>
          <p:cNvPr id="4" name="Table 3">
            <a:extLst>
              <a:ext uri="{FF2B5EF4-FFF2-40B4-BE49-F238E27FC236}">
                <a16:creationId xmlns:a16="http://schemas.microsoft.com/office/drawing/2014/main" id="{1A93C794-2EF8-06C9-7DA3-C889BD783FF0}"/>
              </a:ext>
            </a:extLst>
          </p:cNvPr>
          <p:cNvGraphicFramePr>
            <a:graphicFrameLocks noGrp="1"/>
          </p:cNvGraphicFramePr>
          <p:nvPr>
            <p:extLst>
              <p:ext uri="{D42A27DB-BD31-4B8C-83A1-F6EECF244321}">
                <p14:modId xmlns:p14="http://schemas.microsoft.com/office/powerpoint/2010/main" val="1142126655"/>
              </p:ext>
            </p:extLst>
          </p:nvPr>
        </p:nvGraphicFramePr>
        <p:xfrm>
          <a:off x="864974" y="1013154"/>
          <a:ext cx="9996615" cy="5304784"/>
        </p:xfrm>
        <a:graphic>
          <a:graphicData uri="http://schemas.openxmlformats.org/drawingml/2006/table">
            <a:tbl>
              <a:tblPr firstRow="1" bandRow="1" bandCol="1">
                <a:tableStyleId>{5A111915-BE36-4E01-A7E5-04B1672EAD32}</a:tableStyleId>
              </a:tblPr>
              <a:tblGrid>
                <a:gridCol w="2059437">
                  <a:extLst>
                    <a:ext uri="{9D8B030D-6E8A-4147-A177-3AD203B41FA5}">
                      <a16:colId xmlns:a16="http://schemas.microsoft.com/office/drawing/2014/main" val="2016486249"/>
                    </a:ext>
                  </a:extLst>
                </a:gridCol>
                <a:gridCol w="1939209">
                  <a:extLst>
                    <a:ext uri="{9D8B030D-6E8A-4147-A177-3AD203B41FA5}">
                      <a16:colId xmlns:a16="http://schemas.microsoft.com/office/drawing/2014/main" val="1972057323"/>
                    </a:ext>
                  </a:extLst>
                </a:gridCol>
                <a:gridCol w="1999323">
                  <a:extLst>
                    <a:ext uri="{9D8B030D-6E8A-4147-A177-3AD203B41FA5}">
                      <a16:colId xmlns:a16="http://schemas.microsoft.com/office/drawing/2014/main" val="450077733"/>
                    </a:ext>
                  </a:extLst>
                </a:gridCol>
                <a:gridCol w="1999323">
                  <a:extLst>
                    <a:ext uri="{9D8B030D-6E8A-4147-A177-3AD203B41FA5}">
                      <a16:colId xmlns:a16="http://schemas.microsoft.com/office/drawing/2014/main" val="4199764113"/>
                    </a:ext>
                  </a:extLst>
                </a:gridCol>
                <a:gridCol w="1999323">
                  <a:extLst>
                    <a:ext uri="{9D8B030D-6E8A-4147-A177-3AD203B41FA5}">
                      <a16:colId xmlns:a16="http://schemas.microsoft.com/office/drawing/2014/main" val="862207943"/>
                    </a:ext>
                  </a:extLst>
                </a:gridCol>
              </a:tblGrid>
              <a:tr h="663098">
                <a:tc>
                  <a:txBody>
                    <a:bodyPr/>
                    <a:lstStyle/>
                    <a:p>
                      <a:pPr algn="ctr"/>
                      <a:endParaRPr lang="en-AU" dirty="0"/>
                    </a:p>
                  </a:txBody>
                  <a:tcPr>
                    <a:lnL w="6350" cap="flat" cmpd="sng" algn="ctr">
                      <a:noFill/>
                      <a:prstDash val="solid"/>
                      <a:miter lim="800000"/>
                    </a:lnL>
                    <a:lnR w="6350" cap="flat" cmpd="sng" algn="ctr">
                      <a:noFill/>
                      <a:prstDash val="solid"/>
                      <a:miter lim="800000"/>
                    </a:lnR>
                    <a:lnT w="6350" cap="flat" cmpd="sng" algn="ctr">
                      <a:noFill/>
                      <a:prstDash val="solid"/>
                      <a:miter lim="800000"/>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AU" dirty="0"/>
                    </a:p>
                  </a:txBody>
                  <a:tcPr>
                    <a:lnL w="6350" cap="flat" cmpd="sng" algn="ctr">
                      <a:noFill/>
                      <a:prstDash val="solid"/>
                      <a:miter lim="800000"/>
                    </a:lnL>
                    <a:lnR w="6350" cap="flat" cmpd="sng" algn="ctr">
                      <a:noFill/>
                      <a:prstDash val="solid"/>
                      <a:miter lim="800000"/>
                    </a:lnR>
                    <a:lnT w="6350" cap="flat" cmpd="sng" algn="ctr">
                      <a:noFill/>
                      <a:prstDash val="solid"/>
                      <a:miter lim="800000"/>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AU" dirty="0"/>
                    </a:p>
                  </a:txBody>
                  <a:tcPr>
                    <a:lnL w="6350" cap="flat" cmpd="sng" algn="ctr">
                      <a:noFill/>
                      <a:prstDash val="solid"/>
                      <a:miter lim="800000"/>
                    </a:lnL>
                    <a:lnR w="6350" cap="flat" cmpd="sng" algn="ctr">
                      <a:noFill/>
                      <a:prstDash val="solid"/>
                      <a:miter lim="800000"/>
                    </a:lnR>
                    <a:lnT w="6350" cap="flat" cmpd="sng" algn="ctr">
                      <a:noFill/>
                      <a:prstDash val="solid"/>
                      <a:miter lim="800000"/>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AU" dirty="0"/>
                    </a:p>
                  </a:txBody>
                  <a:tcPr>
                    <a:lnL w="6350" cap="flat" cmpd="sng" algn="ctr">
                      <a:noFill/>
                      <a:prstDash val="solid"/>
                      <a:miter lim="800000"/>
                    </a:lnL>
                    <a:lnR w="6350" cap="flat" cmpd="sng" algn="ctr">
                      <a:noFill/>
                      <a:prstDash val="solid"/>
                      <a:miter lim="800000"/>
                    </a:lnR>
                    <a:lnT w="6350" cap="flat" cmpd="sng" algn="ctr">
                      <a:noFill/>
                      <a:prstDash val="solid"/>
                      <a:miter lim="800000"/>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AU" dirty="0"/>
                    </a:p>
                  </a:txBody>
                  <a:tcPr>
                    <a:lnL w="6350" cap="flat" cmpd="sng" algn="ctr">
                      <a:noFill/>
                      <a:prstDash val="solid"/>
                      <a:miter lim="800000"/>
                    </a:lnL>
                    <a:lnR w="6350" cap="flat" cmpd="sng" algn="ctr">
                      <a:noFill/>
                      <a:prstDash val="solid"/>
                      <a:miter lim="800000"/>
                    </a:lnR>
                    <a:lnT w="6350" cap="flat" cmpd="sng" algn="ctr">
                      <a:noFill/>
                      <a:prstDash val="solid"/>
                      <a:miter lim="800000"/>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42632835"/>
                  </a:ext>
                </a:extLst>
              </a:tr>
              <a:tr h="663098">
                <a:tc>
                  <a:txBody>
                    <a:bodyPr/>
                    <a:lstStyle/>
                    <a:p>
                      <a:pPr algn="ctr"/>
                      <a:endParaRPr lang="en-AU" sz="2800" dirty="0"/>
                    </a:p>
                  </a:txBody>
                  <a:tcPr>
                    <a:lnT w="12700" cap="flat" cmpd="sng" algn="ctr">
                      <a:solidFill>
                        <a:schemeClr val="tx1"/>
                      </a:solidFill>
                      <a:prstDash val="solid"/>
                      <a:round/>
                      <a:headEnd type="none" w="med" len="med"/>
                      <a:tailEnd type="none" w="med" len="med"/>
                    </a:lnT>
                  </a:tcPr>
                </a:tc>
                <a:tc>
                  <a:txBody>
                    <a:bodyPr/>
                    <a:lstStyle/>
                    <a:p>
                      <a:pPr algn="ctr"/>
                      <a:r>
                        <a:rPr lang="en-AU" sz="2800" b="1" dirty="0"/>
                        <a:t>x 1</a:t>
                      </a:r>
                    </a:p>
                  </a:txBody>
                  <a:tcPr>
                    <a:lnT w="12700" cap="flat" cmpd="sng" algn="ctr">
                      <a:solidFill>
                        <a:schemeClr val="tx1"/>
                      </a:solidFill>
                      <a:prstDash val="solid"/>
                      <a:round/>
                      <a:headEnd type="none" w="med" len="med"/>
                      <a:tailEnd type="none" w="med" len="med"/>
                    </a:lnT>
                  </a:tcPr>
                </a:tc>
                <a:tc>
                  <a:txBody>
                    <a:bodyPr/>
                    <a:lstStyle/>
                    <a:p>
                      <a:pPr algn="ctr"/>
                      <a:r>
                        <a:rPr lang="en-AU" sz="2800" b="1" dirty="0"/>
                        <a:t>x 10</a:t>
                      </a:r>
                    </a:p>
                  </a:txBody>
                  <a:tcPr>
                    <a:lnT w="12700" cap="flat" cmpd="sng" algn="ctr">
                      <a:solidFill>
                        <a:schemeClr val="tx1"/>
                      </a:solidFill>
                      <a:prstDash val="solid"/>
                      <a:round/>
                      <a:headEnd type="none" w="med" len="med"/>
                      <a:tailEnd type="none" w="med" len="med"/>
                    </a:lnT>
                  </a:tcPr>
                </a:tc>
                <a:tc>
                  <a:txBody>
                    <a:bodyPr/>
                    <a:lstStyle/>
                    <a:p>
                      <a:pPr algn="ctr"/>
                      <a:r>
                        <a:rPr lang="en-AU" sz="2800" b="1" dirty="0"/>
                        <a:t>x 100</a:t>
                      </a:r>
                    </a:p>
                  </a:txBody>
                  <a:tcPr>
                    <a:lnT w="12700" cap="flat" cmpd="sng" algn="ctr">
                      <a:solidFill>
                        <a:schemeClr val="tx1"/>
                      </a:solidFill>
                      <a:prstDash val="solid"/>
                      <a:round/>
                      <a:headEnd type="none" w="med" len="med"/>
                      <a:tailEnd type="none" w="med" len="med"/>
                    </a:lnT>
                  </a:tcPr>
                </a:tc>
                <a:tc>
                  <a:txBody>
                    <a:bodyPr/>
                    <a:lstStyle/>
                    <a:p>
                      <a:pPr algn="ctr"/>
                      <a:r>
                        <a:rPr lang="en-AU" sz="2800" b="1" dirty="0"/>
                        <a:t>x 1000</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27584682"/>
                  </a:ext>
                </a:extLst>
              </a:tr>
              <a:tr h="663098">
                <a:tc>
                  <a:txBody>
                    <a:bodyPr/>
                    <a:lstStyle/>
                    <a:p>
                      <a:pPr algn="ctr"/>
                      <a:r>
                        <a:rPr lang="en-AU" sz="2800" dirty="0"/>
                        <a:t>Example</a:t>
                      </a:r>
                    </a:p>
                  </a:txBody>
                  <a:tcPr/>
                </a:tc>
                <a:tc>
                  <a:txBody>
                    <a:bodyPr/>
                    <a:lstStyle/>
                    <a:p>
                      <a:pPr algn="ctr"/>
                      <a:r>
                        <a:rPr lang="en-AU" sz="2800" dirty="0"/>
                        <a:t>3</a:t>
                      </a:r>
                    </a:p>
                  </a:txBody>
                  <a:tcPr/>
                </a:tc>
                <a:tc>
                  <a:txBody>
                    <a:bodyPr/>
                    <a:lstStyle/>
                    <a:p>
                      <a:pPr algn="ctr"/>
                      <a:r>
                        <a:rPr lang="en-AU" sz="2800" dirty="0"/>
                        <a:t>30</a:t>
                      </a:r>
                    </a:p>
                  </a:txBody>
                  <a:tcPr/>
                </a:tc>
                <a:tc>
                  <a:txBody>
                    <a:bodyPr/>
                    <a:lstStyle/>
                    <a:p>
                      <a:pPr algn="ctr"/>
                      <a:r>
                        <a:rPr lang="en-AU" sz="2800" dirty="0"/>
                        <a:t>300</a:t>
                      </a:r>
                    </a:p>
                  </a:txBody>
                  <a:tcPr/>
                </a:tc>
                <a:tc>
                  <a:txBody>
                    <a:bodyPr/>
                    <a:lstStyle/>
                    <a:p>
                      <a:pPr algn="ctr"/>
                      <a:r>
                        <a:rPr lang="en-AU" sz="2800" dirty="0"/>
                        <a:t>3000</a:t>
                      </a:r>
                    </a:p>
                  </a:txBody>
                  <a:tcPr/>
                </a:tc>
                <a:extLst>
                  <a:ext uri="{0D108BD9-81ED-4DB2-BD59-A6C34878D82A}">
                    <a16:rowId xmlns:a16="http://schemas.microsoft.com/office/drawing/2014/main" val="3143395651"/>
                  </a:ext>
                </a:extLst>
              </a:tr>
              <a:tr h="663098">
                <a:tc>
                  <a:txBody>
                    <a:bodyPr/>
                    <a:lstStyle/>
                    <a:p>
                      <a:pPr algn="ctr"/>
                      <a:r>
                        <a:rPr lang="en-AU" sz="2800" dirty="0"/>
                        <a:t>First roll</a:t>
                      </a:r>
                    </a:p>
                  </a:txBody>
                  <a:tcPr/>
                </a:tc>
                <a:tc>
                  <a:txBody>
                    <a:bodyPr/>
                    <a:lstStyle/>
                    <a:p>
                      <a:pPr algn="ctr"/>
                      <a:endParaRPr lang="en-AU" sz="2800" dirty="0"/>
                    </a:p>
                  </a:txBody>
                  <a:tcPr/>
                </a:tc>
                <a:tc>
                  <a:txBody>
                    <a:bodyPr/>
                    <a:lstStyle/>
                    <a:p>
                      <a:pPr algn="ctr"/>
                      <a:endParaRPr lang="en-AU" sz="2800"/>
                    </a:p>
                  </a:txBody>
                  <a:tcPr/>
                </a:tc>
                <a:tc>
                  <a:txBody>
                    <a:bodyPr/>
                    <a:lstStyle/>
                    <a:p>
                      <a:pPr algn="ctr"/>
                      <a:endParaRPr lang="en-AU" sz="2800" dirty="0"/>
                    </a:p>
                  </a:txBody>
                  <a:tcPr/>
                </a:tc>
                <a:tc>
                  <a:txBody>
                    <a:bodyPr/>
                    <a:lstStyle/>
                    <a:p>
                      <a:pPr algn="ctr"/>
                      <a:endParaRPr lang="en-AU" sz="2800"/>
                    </a:p>
                  </a:txBody>
                  <a:tcPr/>
                </a:tc>
                <a:extLst>
                  <a:ext uri="{0D108BD9-81ED-4DB2-BD59-A6C34878D82A}">
                    <a16:rowId xmlns:a16="http://schemas.microsoft.com/office/drawing/2014/main" val="3245835151"/>
                  </a:ext>
                </a:extLst>
              </a:tr>
              <a:tr h="663098">
                <a:tc>
                  <a:txBody>
                    <a:bodyPr/>
                    <a:lstStyle/>
                    <a:p>
                      <a:pPr algn="ctr"/>
                      <a:r>
                        <a:rPr lang="en-AU" sz="2800" dirty="0"/>
                        <a:t>Second roll</a:t>
                      </a:r>
                    </a:p>
                  </a:txBody>
                  <a:tcPr/>
                </a:tc>
                <a:tc>
                  <a:txBody>
                    <a:bodyPr/>
                    <a:lstStyle/>
                    <a:p>
                      <a:pPr algn="ctr"/>
                      <a:endParaRPr lang="en-AU" sz="2800"/>
                    </a:p>
                  </a:txBody>
                  <a:tcPr/>
                </a:tc>
                <a:tc>
                  <a:txBody>
                    <a:bodyPr/>
                    <a:lstStyle/>
                    <a:p>
                      <a:pPr algn="ctr"/>
                      <a:endParaRPr lang="en-AU" sz="2800"/>
                    </a:p>
                  </a:txBody>
                  <a:tcPr/>
                </a:tc>
                <a:tc>
                  <a:txBody>
                    <a:bodyPr/>
                    <a:lstStyle/>
                    <a:p>
                      <a:pPr algn="ctr"/>
                      <a:endParaRPr lang="en-AU" sz="2800" dirty="0"/>
                    </a:p>
                  </a:txBody>
                  <a:tcPr/>
                </a:tc>
                <a:tc>
                  <a:txBody>
                    <a:bodyPr/>
                    <a:lstStyle/>
                    <a:p>
                      <a:pPr algn="ctr"/>
                      <a:endParaRPr lang="en-AU" sz="2800"/>
                    </a:p>
                  </a:txBody>
                  <a:tcPr/>
                </a:tc>
                <a:extLst>
                  <a:ext uri="{0D108BD9-81ED-4DB2-BD59-A6C34878D82A}">
                    <a16:rowId xmlns:a16="http://schemas.microsoft.com/office/drawing/2014/main" val="3739069851"/>
                  </a:ext>
                </a:extLst>
              </a:tr>
              <a:tr h="663098">
                <a:tc>
                  <a:txBody>
                    <a:bodyPr/>
                    <a:lstStyle/>
                    <a:p>
                      <a:pPr algn="ctr"/>
                      <a:r>
                        <a:rPr lang="en-AU" sz="2800" dirty="0"/>
                        <a:t>Third roll</a:t>
                      </a:r>
                    </a:p>
                  </a:txBody>
                  <a:tcPr/>
                </a:tc>
                <a:tc>
                  <a:txBody>
                    <a:bodyPr/>
                    <a:lstStyle/>
                    <a:p>
                      <a:pPr algn="ctr"/>
                      <a:endParaRPr lang="en-AU" sz="2800"/>
                    </a:p>
                  </a:txBody>
                  <a:tcPr/>
                </a:tc>
                <a:tc>
                  <a:txBody>
                    <a:bodyPr/>
                    <a:lstStyle/>
                    <a:p>
                      <a:pPr algn="ctr"/>
                      <a:endParaRPr lang="en-AU" sz="2800"/>
                    </a:p>
                  </a:txBody>
                  <a:tcPr/>
                </a:tc>
                <a:tc>
                  <a:txBody>
                    <a:bodyPr/>
                    <a:lstStyle/>
                    <a:p>
                      <a:pPr algn="ctr"/>
                      <a:endParaRPr lang="en-AU" sz="2800" dirty="0"/>
                    </a:p>
                  </a:txBody>
                  <a:tcPr/>
                </a:tc>
                <a:tc>
                  <a:txBody>
                    <a:bodyPr/>
                    <a:lstStyle/>
                    <a:p>
                      <a:pPr algn="ctr"/>
                      <a:endParaRPr lang="en-AU" sz="2800" dirty="0"/>
                    </a:p>
                  </a:txBody>
                  <a:tcPr/>
                </a:tc>
                <a:extLst>
                  <a:ext uri="{0D108BD9-81ED-4DB2-BD59-A6C34878D82A}">
                    <a16:rowId xmlns:a16="http://schemas.microsoft.com/office/drawing/2014/main" val="2651275558"/>
                  </a:ext>
                </a:extLst>
              </a:tr>
              <a:tr h="663098">
                <a:tc>
                  <a:txBody>
                    <a:bodyPr/>
                    <a:lstStyle/>
                    <a:p>
                      <a:pPr algn="ctr"/>
                      <a:r>
                        <a:rPr lang="en-AU" sz="2800" dirty="0"/>
                        <a:t>Fourth roll</a:t>
                      </a:r>
                    </a:p>
                  </a:txBody>
                  <a:tcPr/>
                </a:tc>
                <a:tc>
                  <a:txBody>
                    <a:bodyPr/>
                    <a:lstStyle/>
                    <a:p>
                      <a:pPr algn="ctr"/>
                      <a:endParaRPr lang="en-AU" sz="2800"/>
                    </a:p>
                  </a:txBody>
                  <a:tcPr/>
                </a:tc>
                <a:tc>
                  <a:txBody>
                    <a:bodyPr/>
                    <a:lstStyle/>
                    <a:p>
                      <a:pPr algn="ctr"/>
                      <a:endParaRPr lang="en-AU" sz="2800"/>
                    </a:p>
                  </a:txBody>
                  <a:tcPr/>
                </a:tc>
                <a:tc>
                  <a:txBody>
                    <a:bodyPr/>
                    <a:lstStyle/>
                    <a:p>
                      <a:pPr algn="ctr"/>
                      <a:endParaRPr lang="en-AU" sz="2800" dirty="0"/>
                    </a:p>
                  </a:txBody>
                  <a:tcPr/>
                </a:tc>
                <a:tc>
                  <a:txBody>
                    <a:bodyPr/>
                    <a:lstStyle/>
                    <a:p>
                      <a:pPr algn="ctr"/>
                      <a:endParaRPr lang="en-AU" sz="2800" dirty="0"/>
                    </a:p>
                  </a:txBody>
                  <a:tcPr/>
                </a:tc>
                <a:extLst>
                  <a:ext uri="{0D108BD9-81ED-4DB2-BD59-A6C34878D82A}">
                    <a16:rowId xmlns:a16="http://schemas.microsoft.com/office/drawing/2014/main" val="1469134300"/>
                  </a:ext>
                </a:extLst>
              </a:tr>
              <a:tr h="663098">
                <a:tc>
                  <a:txBody>
                    <a:bodyPr/>
                    <a:lstStyle/>
                    <a:p>
                      <a:pPr algn="ctr"/>
                      <a:r>
                        <a:rPr lang="en-AU" sz="2800" dirty="0"/>
                        <a:t>Fifth roll</a:t>
                      </a:r>
                    </a:p>
                  </a:txBody>
                  <a:tcPr/>
                </a:tc>
                <a:tc>
                  <a:txBody>
                    <a:bodyPr/>
                    <a:lstStyle/>
                    <a:p>
                      <a:pPr algn="ctr"/>
                      <a:endParaRPr lang="en-AU" sz="2800"/>
                    </a:p>
                  </a:txBody>
                  <a:tcPr/>
                </a:tc>
                <a:tc>
                  <a:txBody>
                    <a:bodyPr/>
                    <a:lstStyle/>
                    <a:p>
                      <a:pPr algn="ctr"/>
                      <a:endParaRPr lang="en-AU" sz="2800"/>
                    </a:p>
                  </a:txBody>
                  <a:tcPr/>
                </a:tc>
                <a:tc>
                  <a:txBody>
                    <a:bodyPr/>
                    <a:lstStyle/>
                    <a:p>
                      <a:pPr algn="ctr"/>
                      <a:endParaRPr lang="en-AU" sz="2800" dirty="0"/>
                    </a:p>
                  </a:txBody>
                  <a:tcPr/>
                </a:tc>
                <a:tc>
                  <a:txBody>
                    <a:bodyPr/>
                    <a:lstStyle/>
                    <a:p>
                      <a:pPr algn="ctr"/>
                      <a:endParaRPr lang="en-AU" sz="2800" dirty="0"/>
                    </a:p>
                  </a:txBody>
                  <a:tcPr/>
                </a:tc>
                <a:extLst>
                  <a:ext uri="{0D108BD9-81ED-4DB2-BD59-A6C34878D82A}">
                    <a16:rowId xmlns:a16="http://schemas.microsoft.com/office/drawing/2014/main" val="3403461492"/>
                  </a:ext>
                </a:extLst>
              </a:tr>
            </a:tbl>
          </a:graphicData>
        </a:graphic>
      </p:graphicFrame>
      <p:sp>
        <p:nvSpPr>
          <p:cNvPr id="2" name="Slide Number Placeholder 1">
            <a:extLst>
              <a:ext uri="{FF2B5EF4-FFF2-40B4-BE49-F238E27FC236}">
                <a16:creationId xmlns:a16="http://schemas.microsoft.com/office/drawing/2014/main" id="{54A306B1-02C9-C932-E5DE-25ED76748D7B}"/>
              </a:ext>
            </a:extLst>
          </p:cNvPr>
          <p:cNvSpPr>
            <a:spLocks noGrp="1"/>
          </p:cNvSpPr>
          <p:nvPr>
            <p:ph type="sldNum" sz="quarter" idx="12"/>
          </p:nvPr>
        </p:nvSpPr>
        <p:spPr/>
        <p:txBody>
          <a:bodyPr/>
          <a:lstStyle/>
          <a:p>
            <a:fld id="{10A01DC5-1685-4615-8240-15192985C6A2}" type="slidenum">
              <a:rPr lang="en-AU" smtClean="0"/>
              <a:t>17</a:t>
            </a:fld>
            <a:endParaRPr lang="en-AU"/>
          </a:p>
        </p:txBody>
      </p:sp>
      <p:pic>
        <p:nvPicPr>
          <p:cNvPr id="5" name="Picture 4" descr="image of a head with cogs turning inside">
            <a:extLst>
              <a:ext uri="{FF2B5EF4-FFF2-40B4-BE49-F238E27FC236}">
                <a16:creationId xmlns:a16="http://schemas.microsoft.com/office/drawing/2014/main" id="{85053A9A-3C1F-BE1D-7DF7-FF8815F5EC33}"/>
              </a:ext>
            </a:extLst>
          </p:cNvPr>
          <p:cNvPicPr>
            <a:picLocks noChangeAspect="1"/>
          </p:cNvPicPr>
          <p:nvPr/>
        </p:nvPicPr>
        <p:blipFill>
          <a:blip r:embed="rId3"/>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921441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BE6EE-66D0-13E9-6B7D-36691643B4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07F923-847F-595A-850B-B126A4C8B487}"/>
              </a:ext>
            </a:extLst>
          </p:cNvPr>
          <p:cNvSpPr>
            <a:spLocks noGrp="1"/>
          </p:cNvSpPr>
          <p:nvPr>
            <p:ph type="title"/>
          </p:nvPr>
        </p:nvSpPr>
        <p:spPr>
          <a:xfrm>
            <a:off x="360000" y="360000"/>
            <a:ext cx="10397115" cy="545601"/>
          </a:xfrm>
        </p:spPr>
        <p:txBody>
          <a:bodyPr/>
          <a:lstStyle/>
          <a:p>
            <a:r>
              <a:rPr lang="en-US" dirty="0"/>
              <a:t>Multiple choice </a:t>
            </a:r>
            <a:r>
              <a:rPr lang="en-US" dirty="0">
                <a:solidFill>
                  <a:schemeClr val="bg1"/>
                </a:solidFill>
              </a:rPr>
              <a:t>(2)</a:t>
            </a:r>
          </a:p>
        </p:txBody>
      </p:sp>
      <p:pic>
        <p:nvPicPr>
          <p:cNvPr id="4" name="Picture 3" descr="image of a finger selecting an option for a multiple choice or true and false">
            <a:extLst>
              <a:ext uri="{FF2B5EF4-FFF2-40B4-BE49-F238E27FC236}">
                <a16:creationId xmlns:a16="http://schemas.microsoft.com/office/drawing/2014/main" id="{5F5E1EF3-7C5A-15B4-C7B4-000AE4784B4B}"/>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5" name="TextBox 4">
            <a:extLst>
              <a:ext uri="{FF2B5EF4-FFF2-40B4-BE49-F238E27FC236}">
                <a16:creationId xmlns:a16="http://schemas.microsoft.com/office/drawing/2014/main" id="{A082A25C-F436-0C2E-2785-269B43F2EBE5}"/>
              </a:ext>
            </a:extLst>
          </p:cNvPr>
          <p:cNvSpPr txBox="1"/>
          <p:nvPr/>
        </p:nvSpPr>
        <p:spPr>
          <a:xfrm>
            <a:off x="774970" y="855109"/>
            <a:ext cx="10642059" cy="1937084"/>
          </a:xfrm>
          <a:prstGeom prst="rect">
            <a:avLst/>
          </a:prstGeom>
          <a:noFill/>
        </p:spPr>
        <p:txBody>
          <a:bodyPr wrap="square" lIns="0" tIns="0" rIns="0" bIns="0" rtlCol="0">
            <a:noAutofit/>
          </a:bodyPr>
          <a:lstStyle/>
          <a:p>
            <a:pPr algn="ctr">
              <a:lnSpc>
                <a:spcPct val="150000"/>
              </a:lnSpc>
            </a:pPr>
            <a:r>
              <a:rPr lang="en-AU" sz="4000" dirty="0"/>
              <a:t>When 548 is made </a:t>
            </a:r>
            <a:r>
              <a:rPr lang="en-AU" sz="4000" b="1" dirty="0"/>
              <a:t>10 times as large, </a:t>
            </a:r>
            <a:r>
              <a:rPr lang="en-AU" sz="4000" dirty="0"/>
              <a:t>the 5 in the </a:t>
            </a:r>
            <a:r>
              <a:rPr lang="en-AU" sz="4000" b="1" dirty="0"/>
              <a:t>hundreds place </a:t>
            </a:r>
            <a:r>
              <a:rPr lang="en-AU" sz="4000" dirty="0"/>
              <a:t>becomes a 5 in the:</a:t>
            </a:r>
          </a:p>
        </p:txBody>
      </p:sp>
      <p:sp>
        <p:nvSpPr>
          <p:cNvPr id="9" name="TextBox 8">
            <a:extLst>
              <a:ext uri="{FF2B5EF4-FFF2-40B4-BE49-F238E27FC236}">
                <a16:creationId xmlns:a16="http://schemas.microsoft.com/office/drawing/2014/main" id="{AF13415D-5ABE-8CE1-9EF6-D83C6FF3BAC9}"/>
              </a:ext>
            </a:extLst>
          </p:cNvPr>
          <p:cNvSpPr txBox="1"/>
          <p:nvPr/>
        </p:nvSpPr>
        <p:spPr>
          <a:xfrm>
            <a:off x="3855163" y="2933388"/>
            <a:ext cx="529429" cy="67710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400" b="1" dirty="0"/>
              <a:t>A</a:t>
            </a:r>
          </a:p>
        </p:txBody>
      </p:sp>
      <p:sp>
        <p:nvSpPr>
          <p:cNvPr id="7" name="TextBox 6">
            <a:extLst>
              <a:ext uri="{FF2B5EF4-FFF2-40B4-BE49-F238E27FC236}">
                <a16:creationId xmlns:a16="http://schemas.microsoft.com/office/drawing/2014/main" id="{2622AE4C-F20C-6169-D357-DE84C4CCCE1E}"/>
              </a:ext>
            </a:extLst>
          </p:cNvPr>
          <p:cNvSpPr txBox="1"/>
          <p:nvPr/>
        </p:nvSpPr>
        <p:spPr>
          <a:xfrm>
            <a:off x="4874512" y="2971800"/>
            <a:ext cx="3251881" cy="914400"/>
          </a:xfrm>
          <a:prstGeom prst="rect">
            <a:avLst/>
          </a:prstGeom>
          <a:noFill/>
        </p:spPr>
        <p:txBody>
          <a:bodyPr wrap="none" lIns="0" tIns="0" rIns="0" bIns="0" rtlCol="0">
            <a:noAutofit/>
          </a:bodyPr>
          <a:lstStyle/>
          <a:p>
            <a:pPr algn="l"/>
            <a:r>
              <a:rPr lang="en-AU" sz="4000" dirty="0"/>
              <a:t>tens place</a:t>
            </a:r>
          </a:p>
        </p:txBody>
      </p:sp>
      <p:sp>
        <p:nvSpPr>
          <p:cNvPr id="10" name="TextBox 9">
            <a:extLst>
              <a:ext uri="{FF2B5EF4-FFF2-40B4-BE49-F238E27FC236}">
                <a16:creationId xmlns:a16="http://schemas.microsoft.com/office/drawing/2014/main" id="{06BFC4FD-CDBD-E74C-2B4B-957276E8D806}"/>
              </a:ext>
            </a:extLst>
          </p:cNvPr>
          <p:cNvSpPr txBox="1"/>
          <p:nvPr/>
        </p:nvSpPr>
        <p:spPr>
          <a:xfrm>
            <a:off x="3855163" y="3886200"/>
            <a:ext cx="529429" cy="67710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400" b="1" dirty="0"/>
              <a:t>B</a:t>
            </a:r>
          </a:p>
        </p:txBody>
      </p:sp>
      <p:sp>
        <p:nvSpPr>
          <p:cNvPr id="6" name="TextBox 5">
            <a:extLst>
              <a:ext uri="{FF2B5EF4-FFF2-40B4-BE49-F238E27FC236}">
                <a16:creationId xmlns:a16="http://schemas.microsoft.com/office/drawing/2014/main" id="{35FECA9B-C72B-2B0E-8E4E-51EEB8EE0E49}"/>
              </a:ext>
            </a:extLst>
          </p:cNvPr>
          <p:cNvSpPr txBox="1"/>
          <p:nvPr/>
        </p:nvSpPr>
        <p:spPr>
          <a:xfrm>
            <a:off x="4874512" y="3886200"/>
            <a:ext cx="3251881" cy="914400"/>
          </a:xfrm>
          <a:prstGeom prst="rect">
            <a:avLst/>
          </a:prstGeom>
          <a:noFill/>
        </p:spPr>
        <p:txBody>
          <a:bodyPr wrap="none" lIns="0" tIns="0" rIns="0" bIns="0" rtlCol="0">
            <a:noAutofit/>
          </a:bodyPr>
          <a:lstStyle/>
          <a:p>
            <a:pPr algn="l"/>
            <a:r>
              <a:rPr lang="en-AU" sz="4000" dirty="0"/>
              <a:t>ones place</a:t>
            </a:r>
          </a:p>
        </p:txBody>
      </p:sp>
      <p:sp>
        <p:nvSpPr>
          <p:cNvPr id="12" name="TextBox 11">
            <a:extLst>
              <a:ext uri="{FF2B5EF4-FFF2-40B4-BE49-F238E27FC236}">
                <a16:creationId xmlns:a16="http://schemas.microsoft.com/office/drawing/2014/main" id="{0CCBA3B1-EB4D-D918-A8D0-B78C7621C52A}"/>
              </a:ext>
            </a:extLst>
          </p:cNvPr>
          <p:cNvSpPr txBox="1"/>
          <p:nvPr/>
        </p:nvSpPr>
        <p:spPr>
          <a:xfrm>
            <a:off x="3855163" y="4839012"/>
            <a:ext cx="529429" cy="67710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400" b="1"/>
              <a:t>C</a:t>
            </a:r>
          </a:p>
        </p:txBody>
      </p:sp>
      <p:sp>
        <p:nvSpPr>
          <p:cNvPr id="15" name="TextBox 14">
            <a:extLst>
              <a:ext uri="{FF2B5EF4-FFF2-40B4-BE49-F238E27FC236}">
                <a16:creationId xmlns:a16="http://schemas.microsoft.com/office/drawing/2014/main" id="{B60EA2DD-AFC3-4206-655A-894D9AB7E1D9}"/>
              </a:ext>
            </a:extLst>
          </p:cNvPr>
          <p:cNvSpPr txBox="1"/>
          <p:nvPr/>
        </p:nvSpPr>
        <p:spPr>
          <a:xfrm>
            <a:off x="4874511" y="4839012"/>
            <a:ext cx="3938850" cy="914400"/>
          </a:xfrm>
          <a:prstGeom prst="rect">
            <a:avLst/>
          </a:prstGeom>
          <a:noFill/>
        </p:spPr>
        <p:txBody>
          <a:bodyPr wrap="none" lIns="0" tIns="0" rIns="0" bIns="0" rtlCol="0">
            <a:noAutofit/>
          </a:bodyPr>
          <a:lstStyle/>
          <a:p>
            <a:pPr algn="l"/>
            <a:r>
              <a:rPr lang="en-AU" sz="4000" dirty="0"/>
              <a:t>hundreds place</a:t>
            </a:r>
          </a:p>
        </p:txBody>
      </p:sp>
      <p:sp>
        <p:nvSpPr>
          <p:cNvPr id="11" name="TextBox 10">
            <a:extLst>
              <a:ext uri="{FF2B5EF4-FFF2-40B4-BE49-F238E27FC236}">
                <a16:creationId xmlns:a16="http://schemas.microsoft.com/office/drawing/2014/main" id="{002A7C63-4C7D-5EB4-47F9-AF81CCED5985}"/>
              </a:ext>
            </a:extLst>
          </p:cNvPr>
          <p:cNvSpPr txBox="1"/>
          <p:nvPr/>
        </p:nvSpPr>
        <p:spPr>
          <a:xfrm>
            <a:off x="3855163" y="5753412"/>
            <a:ext cx="529429" cy="67710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400" b="1" dirty="0"/>
              <a:t>D</a:t>
            </a:r>
          </a:p>
        </p:txBody>
      </p:sp>
      <p:sp>
        <p:nvSpPr>
          <p:cNvPr id="16" name="TextBox 15">
            <a:extLst>
              <a:ext uri="{FF2B5EF4-FFF2-40B4-BE49-F238E27FC236}">
                <a16:creationId xmlns:a16="http://schemas.microsoft.com/office/drawing/2014/main" id="{17B9B5A1-0A81-CC9D-9563-59EAB461DE0D}"/>
              </a:ext>
            </a:extLst>
          </p:cNvPr>
          <p:cNvSpPr txBox="1"/>
          <p:nvPr/>
        </p:nvSpPr>
        <p:spPr>
          <a:xfrm>
            <a:off x="4874511" y="5760350"/>
            <a:ext cx="4180389" cy="914400"/>
          </a:xfrm>
          <a:prstGeom prst="rect">
            <a:avLst/>
          </a:prstGeom>
          <a:noFill/>
        </p:spPr>
        <p:txBody>
          <a:bodyPr wrap="none" lIns="0" tIns="0" rIns="0" bIns="0" rtlCol="0">
            <a:noAutofit/>
          </a:bodyPr>
          <a:lstStyle/>
          <a:p>
            <a:pPr algn="l"/>
            <a:r>
              <a:rPr lang="en-AU" sz="4000" dirty="0"/>
              <a:t>thousands place</a:t>
            </a:r>
          </a:p>
        </p:txBody>
      </p:sp>
      <p:sp>
        <p:nvSpPr>
          <p:cNvPr id="2" name="Slide Number Placeholder 1">
            <a:extLst>
              <a:ext uri="{FF2B5EF4-FFF2-40B4-BE49-F238E27FC236}">
                <a16:creationId xmlns:a16="http://schemas.microsoft.com/office/drawing/2014/main" id="{A1293A7A-9C27-9EEF-CD29-DBB1D9D84022}"/>
              </a:ext>
            </a:extLst>
          </p:cNvPr>
          <p:cNvSpPr>
            <a:spLocks noGrp="1"/>
          </p:cNvSpPr>
          <p:nvPr>
            <p:ph type="sldNum" sz="quarter" idx="12"/>
          </p:nvPr>
        </p:nvSpPr>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416653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(9)</a:t>
            </a:r>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pic>
        <p:nvPicPr>
          <p:cNvPr id="3" name="Picture 2" descr="image of a clipboard with a pencil recording short answer responses">
            <a:extLst>
              <a:ext uri="{FF2B5EF4-FFF2-40B4-BE49-F238E27FC236}">
                <a16:creationId xmlns:a16="http://schemas.microsoft.com/office/drawing/2014/main" id="{5EA70859-D7F4-2B7A-27DC-68B58B2816C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C5E38AE0-3A80-1873-6D69-C2D8667BA6CE}"/>
              </a:ext>
            </a:extLst>
          </p:cNvPr>
          <p:cNvSpPr txBox="1"/>
          <p:nvPr/>
        </p:nvSpPr>
        <p:spPr>
          <a:xfrm>
            <a:off x="1194892" y="1550022"/>
            <a:ext cx="9929108" cy="3677866"/>
          </a:xfrm>
          <a:prstGeom prst="rect">
            <a:avLst/>
          </a:prstGeom>
          <a:noFill/>
        </p:spPr>
        <p:txBody>
          <a:bodyPr wrap="square">
            <a:spAutoFit/>
          </a:bodyPr>
          <a:lstStyle/>
          <a:p>
            <a:pPr lvl="0" algn="ctr">
              <a:lnSpc>
                <a:spcPct val="150000"/>
              </a:lnSpc>
            </a:pPr>
            <a:r>
              <a:rPr lang="en-AU" sz="5400" dirty="0"/>
              <a:t>Convert:</a:t>
            </a:r>
          </a:p>
          <a:p>
            <a:pPr marL="571500" lvl="0" indent="-571500" algn="ctr">
              <a:lnSpc>
                <a:spcPct val="150000"/>
              </a:lnSpc>
              <a:buFont typeface="Arial" panose="020B0604020202020204" pitchFamily="34" charset="0"/>
              <a:buChar char="•"/>
            </a:pPr>
            <a:r>
              <a:rPr lang="en-AU" sz="5400" dirty="0"/>
              <a:t>158 mm into cm</a:t>
            </a:r>
          </a:p>
          <a:p>
            <a:pPr marL="571500" lvl="0" indent="-571500" algn="ctr">
              <a:lnSpc>
                <a:spcPct val="150000"/>
              </a:lnSpc>
              <a:buFont typeface="Arial" panose="020B0604020202020204" pitchFamily="34" charset="0"/>
              <a:buChar char="•"/>
            </a:pPr>
            <a:r>
              <a:rPr lang="en-AU" sz="5400" dirty="0"/>
              <a:t>74 cm into mm</a:t>
            </a:r>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(10)</a:t>
            </a:r>
          </a:p>
        </p:txBody>
      </p:sp>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pic>
        <p:nvPicPr>
          <p:cNvPr id="3" name="Picture 2" descr="image of a clipboard with a pencil recording short answer responses">
            <a:extLst>
              <a:ext uri="{FF2B5EF4-FFF2-40B4-BE49-F238E27FC236}">
                <a16:creationId xmlns:a16="http://schemas.microsoft.com/office/drawing/2014/main" id="{95A63C50-93CA-645D-9F2D-21E08F0D170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Box 9">
            <a:extLst>
              <a:ext uri="{FF2B5EF4-FFF2-40B4-BE49-F238E27FC236}">
                <a16:creationId xmlns:a16="http://schemas.microsoft.com/office/drawing/2014/main" id="{33F4A818-103C-4396-D5B9-9B05F8818706}"/>
              </a:ext>
            </a:extLst>
          </p:cNvPr>
          <p:cNvSpPr txBox="1"/>
          <p:nvPr/>
        </p:nvSpPr>
        <p:spPr>
          <a:xfrm>
            <a:off x="1045170" y="1339817"/>
            <a:ext cx="10101660" cy="4137058"/>
          </a:xfrm>
          <a:prstGeom prst="rect">
            <a:avLst/>
          </a:prstGeom>
          <a:noFill/>
        </p:spPr>
        <p:txBody>
          <a:bodyPr wrap="square" lIns="0" tIns="0" rIns="0" bIns="0" rtlCol="0">
            <a:noAutofit/>
          </a:bodyPr>
          <a:lstStyle/>
          <a:p>
            <a:pPr algn="ctr">
              <a:lnSpc>
                <a:spcPct val="150000"/>
              </a:lnSpc>
            </a:pPr>
            <a:r>
              <a:rPr lang="en-AU" sz="4400" dirty="0"/>
              <a:t>Use </a:t>
            </a:r>
            <a:r>
              <a:rPr lang="en-AU" sz="4400" b="1" dirty="0"/>
              <a:t>non-standard partitioning </a:t>
            </a:r>
            <a:r>
              <a:rPr lang="en-AU" sz="4400" dirty="0"/>
              <a:t>and </a:t>
            </a:r>
            <a:r>
              <a:rPr lang="en-AU" sz="4400" b="1" dirty="0"/>
              <a:t>regrouping</a:t>
            </a:r>
            <a:r>
              <a:rPr lang="en-AU" sz="4400" dirty="0"/>
              <a:t> to solve</a:t>
            </a:r>
          </a:p>
          <a:p>
            <a:pPr algn="ctr">
              <a:lnSpc>
                <a:spcPct val="150000"/>
              </a:lnSpc>
            </a:pPr>
            <a:r>
              <a:rPr lang="en-AU" sz="6600" dirty="0"/>
              <a:t>543 – 337 =</a:t>
            </a:r>
          </a:p>
          <a:p>
            <a:pPr algn="ctr">
              <a:lnSpc>
                <a:spcPct val="150000"/>
              </a:lnSpc>
            </a:pPr>
            <a:r>
              <a:rPr lang="en-AU" sz="4400" b="1" dirty="0"/>
              <a:t>Communicate</a:t>
            </a:r>
            <a:r>
              <a:rPr lang="en-AU" sz="4400" dirty="0"/>
              <a:t> your </a:t>
            </a:r>
            <a:r>
              <a:rPr lang="en-AU" sz="4400" b="1" dirty="0"/>
              <a:t>reasoning</a:t>
            </a:r>
            <a:r>
              <a:rPr lang="en-AU" sz="4400" dirty="0"/>
              <a:t>. </a:t>
            </a:r>
          </a:p>
          <a:p>
            <a:pPr algn="ctr">
              <a:lnSpc>
                <a:spcPct val="150000"/>
              </a:lnSpc>
            </a:pPr>
            <a:r>
              <a:rPr lang="en-AU" sz="4000" dirty="0"/>
              <a:t> </a:t>
            </a:r>
            <a:endParaRPr lang="en-AU" sz="3600" dirty="0"/>
          </a:p>
        </p:txBody>
      </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(11)</a:t>
            </a:r>
          </a:p>
        </p:txBody>
      </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pic>
        <p:nvPicPr>
          <p:cNvPr id="3" name="Picture 2" descr="image of a clipboard with a pencil recording short answer responses">
            <a:extLst>
              <a:ext uri="{FF2B5EF4-FFF2-40B4-BE49-F238E27FC236}">
                <a16:creationId xmlns:a16="http://schemas.microsoft.com/office/drawing/2014/main" id="{CDC9578D-E509-83DC-F7E6-82182EFDC99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2BC0A3FF-F9F6-D4AA-B481-CD89D9A9E984}"/>
              </a:ext>
            </a:extLst>
          </p:cNvPr>
          <p:cNvSpPr txBox="1"/>
          <p:nvPr/>
        </p:nvSpPr>
        <p:spPr>
          <a:xfrm>
            <a:off x="738128" y="1231710"/>
            <a:ext cx="10715743" cy="4394579"/>
          </a:xfrm>
          <a:prstGeom prst="rect">
            <a:avLst/>
          </a:prstGeom>
          <a:noFill/>
        </p:spPr>
        <p:txBody>
          <a:bodyPr wrap="square" lIns="0" tIns="0" rIns="0" bIns="0" rtlCol="0">
            <a:noAutofit/>
          </a:bodyPr>
          <a:lstStyle/>
          <a:p>
            <a:pPr algn="ctr">
              <a:lnSpc>
                <a:spcPct val="150000"/>
              </a:lnSpc>
            </a:pPr>
            <a:r>
              <a:rPr lang="en-AU" sz="4400" dirty="0"/>
              <a:t>What are the missing numbers in the </a:t>
            </a:r>
            <a:r>
              <a:rPr lang="en-AU" sz="4400" b="1" dirty="0"/>
              <a:t>sequence?</a:t>
            </a:r>
          </a:p>
          <a:p>
            <a:pPr algn="ctr">
              <a:lnSpc>
                <a:spcPct val="150000"/>
              </a:lnSpc>
            </a:pPr>
            <a:endParaRPr lang="en-AU" sz="4400" b="1" dirty="0"/>
          </a:p>
          <a:p>
            <a:pPr algn="ctr">
              <a:lnSpc>
                <a:spcPct val="150000"/>
              </a:lnSpc>
            </a:pPr>
            <a:r>
              <a:rPr lang="en-AU" sz="4800" dirty="0"/>
              <a:t>2423, 2323</a:t>
            </a:r>
            <a:r>
              <a:rPr lang="en-AU" sz="4800" b="1" dirty="0"/>
              <a:t>, ____, </a:t>
            </a:r>
            <a:r>
              <a:rPr lang="en-AU" sz="4800" dirty="0"/>
              <a:t>2123</a:t>
            </a:r>
            <a:r>
              <a:rPr lang="en-AU" sz="4800" b="1" dirty="0"/>
              <a:t>, ____, ____</a:t>
            </a:r>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(12)</a:t>
            </a:r>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pic>
        <p:nvPicPr>
          <p:cNvPr id="3" name="Picture 2" descr="image of a clipboard with a pencil recording short answer responses">
            <a:extLst>
              <a:ext uri="{FF2B5EF4-FFF2-40B4-BE49-F238E27FC236}">
                <a16:creationId xmlns:a16="http://schemas.microsoft.com/office/drawing/2014/main" id="{4F225E6B-742A-E393-5D68-B394EB858BA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B9B46AA1-5F90-1201-3814-1F2F4BC8DD6F}"/>
              </a:ext>
            </a:extLst>
          </p:cNvPr>
          <p:cNvSpPr txBox="1"/>
          <p:nvPr/>
        </p:nvSpPr>
        <p:spPr>
          <a:xfrm>
            <a:off x="622852" y="1329282"/>
            <a:ext cx="10946296" cy="4713143"/>
          </a:xfrm>
          <a:prstGeom prst="rect">
            <a:avLst/>
          </a:prstGeom>
          <a:noFill/>
        </p:spPr>
        <p:txBody>
          <a:bodyPr wrap="square" lIns="0" tIns="0" rIns="0" bIns="0" rtlCol="0">
            <a:noAutofit/>
          </a:bodyPr>
          <a:lstStyle/>
          <a:p>
            <a:pPr algn="ctr">
              <a:lnSpc>
                <a:spcPct val="150000"/>
              </a:lnSpc>
            </a:pPr>
            <a:r>
              <a:rPr lang="en-AU" sz="4000" dirty="0"/>
              <a:t>A bag contains </a:t>
            </a:r>
            <a:r>
              <a:rPr lang="en-AU" sz="4000" b="1" dirty="0"/>
              <a:t>4</a:t>
            </a:r>
            <a:r>
              <a:rPr lang="en-AU" sz="4000" dirty="0"/>
              <a:t> different coloured counters - </a:t>
            </a:r>
            <a:r>
              <a:rPr lang="en-AU" sz="4000" b="1" dirty="0">
                <a:solidFill>
                  <a:srgbClr val="FF0000"/>
                </a:solidFill>
              </a:rPr>
              <a:t>red</a:t>
            </a:r>
            <a:r>
              <a:rPr lang="en-AU" sz="4000" dirty="0"/>
              <a:t>, </a:t>
            </a:r>
            <a:r>
              <a:rPr lang="en-AU" sz="4000" b="1" dirty="0">
                <a:solidFill>
                  <a:srgbClr val="0070C0"/>
                </a:solidFill>
              </a:rPr>
              <a:t>blue</a:t>
            </a:r>
            <a:r>
              <a:rPr lang="en-AU" sz="4000" dirty="0"/>
              <a:t>, </a:t>
            </a:r>
            <a:r>
              <a:rPr lang="en-AU" sz="4000" b="1" dirty="0">
                <a:solidFill>
                  <a:srgbClr val="00B050"/>
                </a:solidFill>
              </a:rPr>
              <a:t>green </a:t>
            </a:r>
            <a:r>
              <a:rPr lang="en-AU" sz="4000" b="1" dirty="0"/>
              <a:t>and </a:t>
            </a:r>
            <a:r>
              <a:rPr lang="en-AU" sz="4000" b="1" dirty="0">
                <a:solidFill>
                  <a:srgbClr val="7030A0"/>
                </a:solidFill>
              </a:rPr>
              <a:t>purple</a:t>
            </a:r>
            <a:r>
              <a:rPr lang="en-AU" sz="4000" dirty="0"/>
              <a:t>.</a:t>
            </a:r>
          </a:p>
          <a:p>
            <a:pPr algn="ctr">
              <a:lnSpc>
                <a:spcPct val="150000"/>
              </a:lnSpc>
            </a:pPr>
            <a:endParaRPr lang="en-AU" dirty="0"/>
          </a:p>
          <a:p>
            <a:pPr algn="ctr">
              <a:lnSpc>
                <a:spcPct val="150000"/>
              </a:lnSpc>
            </a:pPr>
            <a:r>
              <a:rPr lang="en-AU" sz="4000" dirty="0"/>
              <a:t>Violet randomly picks </a:t>
            </a:r>
            <a:r>
              <a:rPr lang="en-AU" sz="4000" b="1" dirty="0"/>
              <a:t>2</a:t>
            </a:r>
            <a:r>
              <a:rPr lang="en-AU" sz="4000" dirty="0"/>
              <a:t> counters.</a:t>
            </a:r>
          </a:p>
          <a:p>
            <a:pPr algn="ctr">
              <a:lnSpc>
                <a:spcPct val="150000"/>
              </a:lnSpc>
            </a:pPr>
            <a:r>
              <a:rPr lang="en-AU" sz="4000" dirty="0"/>
              <a:t>Record </a:t>
            </a:r>
            <a:r>
              <a:rPr lang="en-AU" sz="4000" b="1" dirty="0"/>
              <a:t>all</a:t>
            </a:r>
            <a:r>
              <a:rPr lang="en-AU" sz="4000" dirty="0"/>
              <a:t> </a:t>
            </a:r>
            <a:r>
              <a:rPr lang="en-AU" sz="4000" b="1" dirty="0"/>
              <a:t>possible</a:t>
            </a:r>
            <a:r>
              <a:rPr lang="en-AU" sz="4000" dirty="0"/>
              <a:t> outcomes.</a:t>
            </a:r>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7105D-9C49-24A5-CED7-19C4D258535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47DB9F3-C9CB-3AD6-CFCE-3FE15563B59B}"/>
              </a:ext>
            </a:extLst>
          </p:cNvPr>
          <p:cNvSpPr>
            <a:spLocks noGrp="1"/>
          </p:cNvSpPr>
          <p:nvPr>
            <p:ph type="title"/>
          </p:nvPr>
        </p:nvSpPr>
        <p:spPr>
          <a:xfrm>
            <a:off x="360000" y="360000"/>
            <a:ext cx="11484000" cy="970108"/>
          </a:xfrm>
        </p:spPr>
        <p:txBody>
          <a:bodyPr/>
          <a:lstStyle/>
          <a:p>
            <a:r>
              <a:rPr lang="en-AU" dirty="0">
                <a:latin typeface="Arial"/>
                <a:cs typeface="Arial"/>
              </a:rPr>
              <a:t>Activity 3 – the effect of making a number 10, 100 or 1000 times larger</a:t>
            </a:r>
            <a:endParaRPr lang="en-AU" dirty="0"/>
          </a:p>
        </p:txBody>
      </p:sp>
      <p:pic>
        <p:nvPicPr>
          <p:cNvPr id="9" name="Picture 8" descr="A diagram of a place value house up to hundreds of thousands.">
            <a:extLst>
              <a:ext uri="{FF2B5EF4-FFF2-40B4-BE49-F238E27FC236}">
                <a16:creationId xmlns:a16="http://schemas.microsoft.com/office/drawing/2014/main" id="{D49C32FA-A30F-AC7F-C57C-254F9CF39FCB}"/>
              </a:ext>
            </a:extLst>
          </p:cNvPr>
          <p:cNvPicPr>
            <a:picLocks noChangeAspect="1"/>
          </p:cNvPicPr>
          <p:nvPr/>
        </p:nvPicPr>
        <p:blipFill>
          <a:blip r:embed="rId3"/>
          <a:stretch>
            <a:fillRect/>
          </a:stretch>
        </p:blipFill>
        <p:spPr>
          <a:xfrm>
            <a:off x="2179385" y="1947628"/>
            <a:ext cx="7833230" cy="3950852"/>
          </a:xfrm>
          <a:prstGeom prst="rect">
            <a:avLst/>
          </a:prstGeom>
        </p:spPr>
      </p:pic>
      <p:sp>
        <p:nvSpPr>
          <p:cNvPr id="2" name="Slide Number Placeholder 1">
            <a:extLst>
              <a:ext uri="{FF2B5EF4-FFF2-40B4-BE49-F238E27FC236}">
                <a16:creationId xmlns:a16="http://schemas.microsoft.com/office/drawing/2014/main" id="{BFCBA471-8673-75C2-0419-D803AC1DF572}"/>
              </a:ext>
            </a:extLst>
          </p:cNvPr>
          <p:cNvSpPr>
            <a:spLocks noGrp="1"/>
          </p:cNvSpPr>
          <p:nvPr>
            <p:ph type="sldNum" sz="quarter" idx="12"/>
          </p:nvPr>
        </p:nvSpPr>
        <p:spPr/>
        <p:txBody>
          <a:bodyPr/>
          <a:lstStyle/>
          <a:p>
            <a:fld id="{10A01DC5-1685-4615-8240-15192985C6A2}" type="slidenum">
              <a:rPr lang="en-AU" smtClean="0"/>
              <a:t>24</a:t>
            </a:fld>
            <a:endParaRPr lang="en-AU"/>
          </a:p>
        </p:txBody>
      </p:sp>
      <p:pic>
        <p:nvPicPr>
          <p:cNvPr id="4" name="Picture 3" descr="image of a head with cogs turning inside">
            <a:extLst>
              <a:ext uri="{FF2B5EF4-FFF2-40B4-BE49-F238E27FC236}">
                <a16:creationId xmlns:a16="http://schemas.microsoft.com/office/drawing/2014/main" id="{74937821-9AAD-E946-E8DD-B0FF2F917490}"/>
              </a:ext>
            </a:extLst>
          </p:cNvPr>
          <p:cNvPicPr>
            <a:picLocks noChangeAspect="1"/>
          </p:cNvPicPr>
          <p:nvPr/>
        </p:nvPicPr>
        <p:blipFill>
          <a:blip r:embed="rId4"/>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185681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dirty="0"/>
              <a:t>True or false </a:t>
            </a:r>
            <a:r>
              <a:rPr lang="en-US" dirty="0">
                <a:solidFill>
                  <a:schemeClr val="bg1"/>
                </a:solidFill>
              </a:rPr>
              <a:t>(2)</a:t>
            </a:r>
          </a:p>
        </p:txBody>
      </p:sp>
      <p:pic>
        <p:nvPicPr>
          <p:cNvPr id="4" name="Picture 3" descr="image of a finger selecting an option for a multiple choice or true and false">
            <a:extLst>
              <a:ext uri="{FF2B5EF4-FFF2-40B4-BE49-F238E27FC236}">
                <a16:creationId xmlns:a16="http://schemas.microsoft.com/office/drawing/2014/main" id="{10894CBE-266A-B58D-5858-0C2919DF6112}"/>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8"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360363" y="1053834"/>
            <a:ext cx="11242675" cy="4656853"/>
          </a:xfrm>
        </p:spPr>
        <p:txBody>
          <a:bodyPr/>
          <a:lstStyle/>
          <a:p>
            <a:pPr algn="ctr"/>
            <a:r>
              <a:rPr lang="en-AU" sz="4000" dirty="0"/>
              <a:t>When </a:t>
            </a:r>
            <a:r>
              <a:rPr lang="en-AU" sz="4000" b="1" dirty="0"/>
              <a:t>648</a:t>
            </a:r>
            <a:r>
              <a:rPr lang="en-AU" sz="4000" dirty="0"/>
              <a:t> is made </a:t>
            </a:r>
            <a:r>
              <a:rPr lang="en-AU" sz="4000" b="1" dirty="0"/>
              <a:t>100 times larger</a:t>
            </a:r>
            <a:r>
              <a:rPr lang="en-AU" sz="4000" dirty="0"/>
              <a:t>, the 6 in the hundreds place becomes a 6 in the thousands place, the 4 in the tens place becomes a 4 in the hundreds place and the 8 in the ones place becomes an 8 in the tens place.</a:t>
            </a:r>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88722441"/>
              </p:ext>
            </p:extLst>
          </p:nvPr>
        </p:nvGraphicFramePr>
        <p:xfrm>
          <a:off x="2641388" y="5864320"/>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5543D758-EFDD-EFF7-9F6F-60499B8070EF}"/>
              </a:ext>
            </a:extLst>
          </p:cNvPr>
          <p:cNvSpPr>
            <a:spLocks noGrp="1"/>
          </p:cNvSpPr>
          <p:nvPr>
            <p:ph type="sldNum" sz="quarter" idx="12"/>
          </p:nvPr>
        </p:nvSpPr>
        <p:spPr/>
        <p:txBody>
          <a:bodyPr/>
          <a:lstStyle/>
          <a:p>
            <a:fld id="{10A01DC5-1685-4615-8240-15192985C6A2}" type="slidenum">
              <a:rPr lang="en-AU" smtClean="0"/>
              <a:t>26</a:t>
            </a:fld>
            <a:endParaRPr lang="en-AU"/>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(13)</a:t>
            </a:r>
          </a:p>
        </p:txBody>
      </p:sp>
      <p:pic>
        <p:nvPicPr>
          <p:cNvPr id="3" name="Picture 2" descr="image of a clipboard with a pencil recording short answer responses">
            <a:extLst>
              <a:ext uri="{FF2B5EF4-FFF2-40B4-BE49-F238E27FC236}">
                <a16:creationId xmlns:a16="http://schemas.microsoft.com/office/drawing/2014/main" id="{B6B8916C-EC27-6464-77C1-A2C737717E19}"/>
              </a:ext>
            </a:extLst>
          </p:cNvPr>
          <p:cNvPicPr>
            <a:picLocks noChangeAspect="1"/>
          </p:cNvPicPr>
          <p:nvPr/>
        </p:nvPicPr>
        <p:blipFill>
          <a:blip r:embed="rId3"/>
          <a:stretch>
            <a:fillRect/>
          </a:stretch>
        </p:blipFill>
        <p:spPr>
          <a:xfrm>
            <a:off x="11026250" y="105946"/>
            <a:ext cx="915500" cy="915500"/>
          </a:xfrm>
          <a:prstGeom prst="rect">
            <a:avLst/>
          </a:prstGeom>
        </p:spPr>
      </p:pic>
      <p:sp>
        <p:nvSpPr>
          <p:cNvPr id="4" name="TextBox 3">
            <a:extLst>
              <a:ext uri="{FF2B5EF4-FFF2-40B4-BE49-F238E27FC236}">
                <a16:creationId xmlns:a16="http://schemas.microsoft.com/office/drawing/2014/main" id="{8364E913-8A01-D23B-46BD-02EE54778ECC}"/>
              </a:ext>
            </a:extLst>
          </p:cNvPr>
          <p:cNvSpPr txBox="1"/>
          <p:nvPr/>
        </p:nvSpPr>
        <p:spPr>
          <a:xfrm>
            <a:off x="845540" y="964843"/>
            <a:ext cx="10786670" cy="1532309"/>
          </a:xfrm>
          <a:prstGeom prst="rect">
            <a:avLst/>
          </a:prstGeom>
          <a:noFill/>
        </p:spPr>
        <p:txBody>
          <a:bodyPr wrap="square" lIns="0" tIns="0" rIns="0" bIns="0" rtlCol="0">
            <a:noAutofit/>
          </a:bodyPr>
          <a:lstStyle/>
          <a:p>
            <a:pPr algn="l"/>
            <a:endParaRPr lang="en-AU" sz="1800" dirty="0"/>
          </a:p>
          <a:p>
            <a:pPr algn="ctr">
              <a:lnSpc>
                <a:spcPct val="150000"/>
              </a:lnSpc>
            </a:pPr>
            <a:r>
              <a:rPr lang="en-AU" sz="4400" dirty="0"/>
              <a:t>If 1 cm is 10 times larger than 1 mm, </a:t>
            </a:r>
            <a:r>
              <a:rPr lang="en-AU" sz="4400" b="1" dirty="0"/>
              <a:t>convert</a:t>
            </a:r>
            <a:r>
              <a:rPr lang="en-AU" sz="4400" dirty="0"/>
              <a:t> the following:</a:t>
            </a:r>
          </a:p>
          <a:p>
            <a:pPr lvl="6">
              <a:lnSpc>
                <a:spcPct val="150000"/>
              </a:lnSpc>
            </a:pPr>
            <a:endParaRPr lang="en-AU" sz="4400" dirty="0"/>
          </a:p>
          <a:p>
            <a:pPr algn="ctr">
              <a:lnSpc>
                <a:spcPct val="150000"/>
              </a:lnSpc>
            </a:pPr>
            <a:r>
              <a:rPr lang="en-AU" sz="4400" dirty="0"/>
              <a:t> </a:t>
            </a:r>
            <a:endParaRPr lang="en-AU" sz="1800" dirty="0"/>
          </a:p>
        </p:txBody>
      </p:sp>
      <p:graphicFrame>
        <p:nvGraphicFramePr>
          <p:cNvPr id="5" name="Table 4">
            <a:extLst>
              <a:ext uri="{FF2B5EF4-FFF2-40B4-BE49-F238E27FC236}">
                <a16:creationId xmlns:a16="http://schemas.microsoft.com/office/drawing/2014/main" id="{1C4DE56E-8B04-45A0-7A56-B8C9370B28CD}"/>
              </a:ext>
            </a:extLst>
          </p:cNvPr>
          <p:cNvGraphicFramePr>
            <a:graphicFrameLocks noGrp="1"/>
          </p:cNvGraphicFramePr>
          <p:nvPr>
            <p:extLst>
              <p:ext uri="{D42A27DB-BD31-4B8C-83A1-F6EECF244321}">
                <p14:modId xmlns:p14="http://schemas.microsoft.com/office/powerpoint/2010/main" val="2710371668"/>
              </p:ext>
            </p:extLst>
          </p:nvPr>
        </p:nvGraphicFramePr>
        <p:xfrm>
          <a:off x="4038600" y="2556394"/>
          <a:ext cx="4400550" cy="3853855"/>
        </p:xfrm>
        <a:graphic>
          <a:graphicData uri="http://schemas.openxmlformats.org/drawingml/2006/table">
            <a:tbl>
              <a:tblPr firstRow="1" bandRow="1" bandCol="1">
                <a:tableStyleId>{5A111915-BE36-4E01-A7E5-04B1672EAD32}</a:tableStyleId>
              </a:tblPr>
              <a:tblGrid>
                <a:gridCol w="2187445">
                  <a:extLst>
                    <a:ext uri="{9D8B030D-6E8A-4147-A177-3AD203B41FA5}">
                      <a16:colId xmlns:a16="http://schemas.microsoft.com/office/drawing/2014/main" val="2711027303"/>
                    </a:ext>
                  </a:extLst>
                </a:gridCol>
                <a:gridCol w="2213105">
                  <a:extLst>
                    <a:ext uri="{9D8B030D-6E8A-4147-A177-3AD203B41FA5}">
                      <a16:colId xmlns:a16="http://schemas.microsoft.com/office/drawing/2014/main" val="3652213633"/>
                    </a:ext>
                  </a:extLst>
                </a:gridCol>
              </a:tblGrid>
              <a:tr h="755307">
                <a:tc>
                  <a:txBody>
                    <a:bodyPr/>
                    <a:lstStyle/>
                    <a:p>
                      <a:endParaRPr lang="en-AU" dirty="0"/>
                    </a:p>
                  </a:txBody>
                  <a:tcPr>
                    <a:lnL w="6350" cap="flat" cmpd="sng" algn="ctr">
                      <a:noFill/>
                      <a:prstDash val="solid"/>
                      <a:miter lim="800000"/>
                    </a:lnL>
                    <a:lnR>
                      <a:noFill/>
                    </a:lnR>
                    <a:lnT w="6350" cap="flat" cmpd="sng" algn="ctr">
                      <a:noFill/>
                      <a:prstDash val="solid"/>
                      <a:miter lim="800000"/>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AU" dirty="0"/>
                    </a:p>
                  </a:txBody>
                  <a:tcPr>
                    <a:lnL>
                      <a:noFill/>
                    </a:lnL>
                    <a:lnR w="6350" cap="flat" cmpd="sng" algn="ctr">
                      <a:noFill/>
                      <a:prstDash val="solid"/>
                      <a:miter lim="800000"/>
                    </a:lnR>
                    <a:lnT w="6350" cap="flat" cmpd="sng" algn="ctr">
                      <a:noFill/>
                      <a:prstDash val="solid"/>
                      <a:miter lim="800000"/>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8056181"/>
                  </a:ext>
                </a:extLst>
              </a:tr>
              <a:tr h="774637">
                <a:tc>
                  <a:txBody>
                    <a:bodyPr/>
                    <a:lstStyle/>
                    <a:p>
                      <a:pPr algn="ctr"/>
                      <a:r>
                        <a:rPr lang="en-AU" sz="4000" b="1" dirty="0">
                          <a:ln>
                            <a:solidFill>
                              <a:schemeClr val="tx1"/>
                            </a:solidFill>
                          </a:ln>
                          <a:solidFill>
                            <a:schemeClr val="tx1"/>
                          </a:solidFill>
                        </a:rPr>
                        <a:t>mm</a:t>
                      </a:r>
                    </a:p>
                  </a:txBody>
                  <a:tcPr anchor="ctr">
                    <a:lnT w="12700" cap="flat" cmpd="sng" algn="ctr">
                      <a:solidFill>
                        <a:schemeClr val="tx1"/>
                      </a:solidFill>
                      <a:prstDash val="solid"/>
                      <a:round/>
                      <a:headEnd type="none" w="med" len="med"/>
                      <a:tailEnd type="none" w="med" len="med"/>
                    </a:lnT>
                  </a:tcPr>
                </a:tc>
                <a:tc>
                  <a:txBody>
                    <a:bodyPr/>
                    <a:lstStyle/>
                    <a:p>
                      <a:pPr algn="ctr"/>
                      <a:r>
                        <a:rPr lang="en-AU" sz="4000" b="1" dirty="0">
                          <a:ln>
                            <a:solidFill>
                              <a:schemeClr val="tx1"/>
                            </a:solidFill>
                          </a:ln>
                          <a:solidFill>
                            <a:schemeClr val="tx1"/>
                          </a:solidFill>
                        </a:rPr>
                        <a:t>cm</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395860455"/>
                  </a:ext>
                </a:extLst>
              </a:tr>
              <a:tr h="774637">
                <a:tc>
                  <a:txBody>
                    <a:bodyPr/>
                    <a:lstStyle/>
                    <a:p>
                      <a:pPr algn="ctr"/>
                      <a:r>
                        <a:rPr lang="en-AU" sz="4000" b="0" dirty="0">
                          <a:ln>
                            <a:solidFill>
                              <a:schemeClr val="tx1"/>
                            </a:solidFill>
                          </a:ln>
                          <a:solidFill>
                            <a:schemeClr val="tx1"/>
                          </a:solidFill>
                        </a:rPr>
                        <a:t>165 mm</a:t>
                      </a:r>
                    </a:p>
                  </a:txBody>
                  <a:tcPr anchor="ctr"/>
                </a:tc>
                <a:tc>
                  <a:txBody>
                    <a:bodyPr/>
                    <a:lstStyle/>
                    <a:p>
                      <a:pPr algn="ctr"/>
                      <a:endParaRPr lang="en-AU" sz="4000" dirty="0">
                        <a:ln>
                          <a:solidFill>
                            <a:schemeClr val="tx1"/>
                          </a:solidFill>
                        </a:ln>
                        <a:solidFill>
                          <a:schemeClr val="tx1"/>
                        </a:solidFill>
                      </a:endParaRPr>
                    </a:p>
                  </a:txBody>
                  <a:tcPr anchor="ctr"/>
                </a:tc>
                <a:extLst>
                  <a:ext uri="{0D108BD9-81ED-4DB2-BD59-A6C34878D82A}">
                    <a16:rowId xmlns:a16="http://schemas.microsoft.com/office/drawing/2014/main" val="1609251891"/>
                  </a:ext>
                </a:extLst>
              </a:tr>
              <a:tr h="774637">
                <a:tc>
                  <a:txBody>
                    <a:bodyPr/>
                    <a:lstStyle/>
                    <a:p>
                      <a:pPr algn="ctr"/>
                      <a:r>
                        <a:rPr lang="en-AU" sz="4000" b="0" dirty="0">
                          <a:ln>
                            <a:solidFill>
                              <a:schemeClr val="tx1"/>
                            </a:solidFill>
                          </a:ln>
                          <a:solidFill>
                            <a:schemeClr val="tx1"/>
                          </a:solidFill>
                        </a:rPr>
                        <a:t>15 mm</a:t>
                      </a:r>
                    </a:p>
                  </a:txBody>
                  <a:tcPr anchor="ctr"/>
                </a:tc>
                <a:tc>
                  <a:txBody>
                    <a:bodyPr/>
                    <a:lstStyle/>
                    <a:p>
                      <a:pPr algn="ctr"/>
                      <a:endParaRPr lang="en-AU" sz="4000" dirty="0">
                        <a:ln>
                          <a:solidFill>
                            <a:schemeClr val="tx1"/>
                          </a:solidFill>
                        </a:ln>
                        <a:solidFill>
                          <a:schemeClr val="tx1"/>
                        </a:solidFill>
                      </a:endParaRPr>
                    </a:p>
                  </a:txBody>
                  <a:tcPr anchor="ctr"/>
                </a:tc>
                <a:extLst>
                  <a:ext uri="{0D108BD9-81ED-4DB2-BD59-A6C34878D82A}">
                    <a16:rowId xmlns:a16="http://schemas.microsoft.com/office/drawing/2014/main" val="656708671"/>
                  </a:ext>
                </a:extLst>
              </a:tr>
              <a:tr h="774637">
                <a:tc>
                  <a:txBody>
                    <a:bodyPr/>
                    <a:lstStyle/>
                    <a:p>
                      <a:pPr algn="ctr"/>
                      <a:r>
                        <a:rPr lang="en-AU" sz="4000" b="0" dirty="0">
                          <a:ln>
                            <a:solidFill>
                              <a:schemeClr val="tx1"/>
                            </a:solidFill>
                          </a:ln>
                          <a:solidFill>
                            <a:schemeClr val="tx1"/>
                          </a:solidFill>
                        </a:rPr>
                        <a:t>25 mm</a:t>
                      </a:r>
                    </a:p>
                  </a:txBody>
                  <a:tcPr anchor="ctr"/>
                </a:tc>
                <a:tc>
                  <a:txBody>
                    <a:bodyPr/>
                    <a:lstStyle/>
                    <a:p>
                      <a:pPr algn="ctr"/>
                      <a:endParaRPr lang="en-AU" sz="4000" dirty="0">
                        <a:ln>
                          <a:solidFill>
                            <a:schemeClr val="tx1"/>
                          </a:solidFill>
                        </a:ln>
                        <a:solidFill>
                          <a:schemeClr val="tx1"/>
                        </a:solidFill>
                      </a:endParaRPr>
                    </a:p>
                  </a:txBody>
                  <a:tcPr anchor="ctr"/>
                </a:tc>
                <a:extLst>
                  <a:ext uri="{0D108BD9-81ED-4DB2-BD59-A6C34878D82A}">
                    <a16:rowId xmlns:a16="http://schemas.microsoft.com/office/drawing/2014/main" val="2190115619"/>
                  </a:ext>
                </a:extLst>
              </a:tr>
            </a:tbl>
          </a:graphicData>
        </a:graphic>
      </p:graphicFrame>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27</a:t>
            </a:fld>
            <a:endParaRPr lang="en-AU"/>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(14)</a:t>
            </a:r>
          </a:p>
        </p:txBody>
      </p:sp>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pic>
        <p:nvPicPr>
          <p:cNvPr id="3" name="Picture 2" descr="image of a clipboard with a pencil recording short answer responses">
            <a:extLst>
              <a:ext uri="{FF2B5EF4-FFF2-40B4-BE49-F238E27FC236}">
                <a16:creationId xmlns:a16="http://schemas.microsoft.com/office/drawing/2014/main" id="{5F20B6C4-74D6-9AE8-543F-873936583C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1D48E175-6524-709A-E0AC-658563CEC7FB}"/>
              </a:ext>
            </a:extLst>
          </p:cNvPr>
          <p:cNvSpPr txBox="1"/>
          <p:nvPr/>
        </p:nvSpPr>
        <p:spPr>
          <a:xfrm>
            <a:off x="246024" y="1023299"/>
            <a:ext cx="11416209" cy="5191632"/>
          </a:xfrm>
          <a:prstGeom prst="rect">
            <a:avLst/>
          </a:prstGeom>
          <a:noFill/>
        </p:spPr>
        <p:txBody>
          <a:bodyPr wrap="square" lIns="0" tIns="0" rIns="0" bIns="0" rtlCol="0">
            <a:noAutofit/>
          </a:bodyPr>
          <a:lstStyle/>
          <a:p>
            <a:pPr algn="ctr">
              <a:lnSpc>
                <a:spcPct val="150000"/>
              </a:lnSpc>
            </a:pPr>
            <a:r>
              <a:rPr lang="en-AU" sz="4000" dirty="0"/>
              <a:t>Charni worked at the netball canteen selling drinks and sandwiches. She sold </a:t>
            </a:r>
            <a:r>
              <a:rPr lang="en-AU" sz="4000" b="1" dirty="0"/>
              <a:t>483</a:t>
            </a:r>
            <a:r>
              <a:rPr lang="en-AU" sz="4000" dirty="0"/>
              <a:t> items in total. </a:t>
            </a:r>
            <a:r>
              <a:rPr lang="en-AU" sz="4000" b="1" dirty="0"/>
              <a:t>291</a:t>
            </a:r>
            <a:r>
              <a:rPr lang="en-AU" sz="4000" dirty="0"/>
              <a:t> of the items were drinks. </a:t>
            </a:r>
          </a:p>
          <a:p>
            <a:pPr algn="ctr">
              <a:lnSpc>
                <a:spcPct val="150000"/>
              </a:lnSpc>
            </a:pPr>
            <a:r>
              <a:rPr lang="en-AU" sz="4000" b="1" dirty="0"/>
              <a:t>How many sandwiches</a:t>
            </a:r>
            <a:r>
              <a:rPr lang="en-AU" sz="4000" dirty="0"/>
              <a:t> did Charni sell?</a:t>
            </a:r>
          </a:p>
          <a:p>
            <a:pPr algn="ctr">
              <a:lnSpc>
                <a:spcPct val="150000"/>
              </a:lnSpc>
            </a:pPr>
            <a:endParaRPr lang="en-AU" sz="1200" dirty="0"/>
          </a:p>
          <a:p>
            <a:pPr algn="ctr">
              <a:lnSpc>
                <a:spcPct val="150000"/>
              </a:lnSpc>
            </a:pPr>
            <a:r>
              <a:rPr lang="en-AU" sz="4000" dirty="0"/>
              <a:t>Communicate the </a:t>
            </a:r>
            <a:r>
              <a:rPr lang="en-AU" sz="4000" b="1" dirty="0"/>
              <a:t>strategy</a:t>
            </a:r>
            <a:r>
              <a:rPr lang="en-AU" sz="4000" dirty="0"/>
              <a:t> you used to solve the problem.</a:t>
            </a:r>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(15)</a:t>
            </a:r>
          </a:p>
        </p:txBody>
      </p:sp>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pic>
        <p:nvPicPr>
          <p:cNvPr id="3" name="Picture 2" descr="image of a clipboard with a pencil recording short answer responses">
            <a:extLst>
              <a:ext uri="{FF2B5EF4-FFF2-40B4-BE49-F238E27FC236}">
                <a16:creationId xmlns:a16="http://schemas.microsoft.com/office/drawing/2014/main" id="{71518DCE-2BBE-0AC2-F72B-B5E11C24F8A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2BEDBA84-4D78-1031-84BB-9D39ECC1B738}"/>
              </a:ext>
            </a:extLst>
          </p:cNvPr>
          <p:cNvSpPr txBox="1"/>
          <p:nvPr/>
        </p:nvSpPr>
        <p:spPr>
          <a:xfrm>
            <a:off x="984245" y="1184223"/>
            <a:ext cx="9894627" cy="4819211"/>
          </a:xfrm>
          <a:prstGeom prst="rect">
            <a:avLst/>
          </a:prstGeom>
          <a:noFill/>
        </p:spPr>
        <p:txBody>
          <a:bodyPr wrap="square" lIns="0" tIns="0" rIns="0" bIns="0" rtlCol="0">
            <a:noAutofit/>
          </a:bodyPr>
          <a:lstStyle/>
          <a:p>
            <a:pPr algn="ctr">
              <a:lnSpc>
                <a:spcPct val="150000"/>
              </a:lnSpc>
            </a:pPr>
            <a:r>
              <a:rPr lang="en-AU" sz="4400" dirty="0"/>
              <a:t>Create a </a:t>
            </a:r>
            <a:r>
              <a:rPr lang="en-AU" sz="4400" b="1" dirty="0"/>
              <a:t>number line </a:t>
            </a:r>
            <a:r>
              <a:rPr lang="en-AU" sz="4400" dirty="0"/>
              <a:t>from </a:t>
            </a:r>
            <a:r>
              <a:rPr lang="en-AU" sz="4400" b="1" dirty="0"/>
              <a:t>0 to 3 </a:t>
            </a:r>
            <a:r>
              <a:rPr lang="en-AU" sz="4400" dirty="0"/>
              <a:t>and record the following </a:t>
            </a:r>
            <a:r>
              <a:rPr lang="en-AU" sz="4400" b="1" dirty="0"/>
              <a:t>decimals:</a:t>
            </a:r>
          </a:p>
          <a:p>
            <a:pPr marL="571500" indent="-571500" algn="ctr">
              <a:lnSpc>
                <a:spcPct val="150000"/>
              </a:lnSpc>
              <a:buFont typeface="Arial" panose="020B0604020202020204" pitchFamily="34" charset="0"/>
              <a:buChar char="•"/>
            </a:pPr>
            <a:r>
              <a:rPr lang="en-AU" sz="4400" dirty="0"/>
              <a:t>0.8</a:t>
            </a:r>
          </a:p>
          <a:p>
            <a:pPr marL="571500" indent="-571500" algn="ctr">
              <a:lnSpc>
                <a:spcPct val="150000"/>
              </a:lnSpc>
              <a:buFont typeface="Arial" panose="020B0604020202020204" pitchFamily="34" charset="0"/>
              <a:buChar char="•"/>
            </a:pPr>
            <a:r>
              <a:rPr lang="en-AU" sz="4400" dirty="0"/>
              <a:t>2.45</a:t>
            </a:r>
          </a:p>
          <a:p>
            <a:pPr marL="571500" indent="-571500" algn="ctr">
              <a:lnSpc>
                <a:spcPct val="150000"/>
              </a:lnSpc>
              <a:buFont typeface="Arial" panose="020B0604020202020204" pitchFamily="34" charset="0"/>
              <a:buChar char="•"/>
            </a:pPr>
            <a:r>
              <a:rPr lang="en-AU" sz="4400" dirty="0"/>
              <a:t>3.0</a:t>
            </a:r>
            <a:endParaRPr lang="en-AU" dirty="0"/>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(16)</a:t>
            </a:r>
          </a:p>
        </p:txBody>
      </p:sp>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pic>
        <p:nvPicPr>
          <p:cNvPr id="3" name="Picture 2" descr="image of a clipboard with a pencil recording short answer responses">
            <a:extLst>
              <a:ext uri="{FF2B5EF4-FFF2-40B4-BE49-F238E27FC236}">
                <a16:creationId xmlns:a16="http://schemas.microsoft.com/office/drawing/2014/main" id="{602A5C36-777A-4A3B-4BB2-D0CC6ABD673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5CC6BF6B-8479-6960-E52A-C1A3B3BAD238}"/>
              </a:ext>
            </a:extLst>
          </p:cNvPr>
          <p:cNvSpPr txBox="1"/>
          <p:nvPr/>
        </p:nvSpPr>
        <p:spPr>
          <a:xfrm>
            <a:off x="1223867" y="986617"/>
            <a:ext cx="9806609" cy="5511383"/>
          </a:xfrm>
          <a:prstGeom prst="rect">
            <a:avLst/>
          </a:prstGeom>
          <a:noFill/>
        </p:spPr>
        <p:txBody>
          <a:bodyPr wrap="square" lIns="0" tIns="0" rIns="0" bIns="0" rtlCol="0" anchor="t">
            <a:noAutofit/>
          </a:bodyPr>
          <a:lstStyle/>
          <a:p>
            <a:pPr algn="ctr">
              <a:lnSpc>
                <a:spcPct val="150000"/>
              </a:lnSpc>
            </a:pPr>
            <a:r>
              <a:rPr lang="en-AU" sz="4400" dirty="0"/>
              <a:t>Record items that have an estimated </a:t>
            </a:r>
            <a:r>
              <a:rPr lang="en-AU" sz="4400" b="1" dirty="0"/>
              <a:t>mass</a:t>
            </a:r>
            <a:r>
              <a:rPr lang="en-AU" sz="4400" dirty="0"/>
              <a:t> of:</a:t>
            </a:r>
          </a:p>
          <a:p>
            <a:pPr marL="571500" indent="-571500" algn="ctr">
              <a:lnSpc>
                <a:spcPct val="150000"/>
              </a:lnSpc>
              <a:buFont typeface="Arial" panose="020B0604020202020204" pitchFamily="34" charset="0"/>
              <a:buChar char="•"/>
            </a:pPr>
            <a:r>
              <a:rPr lang="en-AU" sz="4400" b="1" dirty="0"/>
              <a:t>more than </a:t>
            </a:r>
            <a:r>
              <a:rPr lang="en-AU" sz="4400" dirty="0"/>
              <a:t>one kilogram</a:t>
            </a:r>
          </a:p>
          <a:p>
            <a:pPr marL="571500" indent="-571500" algn="ctr">
              <a:lnSpc>
                <a:spcPct val="150000"/>
              </a:lnSpc>
              <a:buFont typeface="Arial" panose="020B0604020202020204" pitchFamily="34" charset="0"/>
              <a:buChar char="•"/>
            </a:pPr>
            <a:r>
              <a:rPr lang="en-AU" sz="4400" b="1" dirty="0"/>
              <a:t>less than </a:t>
            </a:r>
            <a:r>
              <a:rPr lang="en-AU" sz="4400" dirty="0"/>
              <a:t>one kilogram</a:t>
            </a:r>
          </a:p>
          <a:p>
            <a:pPr marL="571500" indent="-571500" algn="ctr">
              <a:lnSpc>
                <a:spcPct val="150000"/>
              </a:lnSpc>
              <a:buFont typeface="Arial" panose="020B0604020202020204" pitchFamily="34" charset="0"/>
              <a:buChar char="•"/>
            </a:pPr>
            <a:r>
              <a:rPr lang="en-AU" sz="4400" b="1" dirty="0"/>
              <a:t>about the same as </a:t>
            </a:r>
            <a:r>
              <a:rPr lang="en-AU" sz="4400" dirty="0"/>
              <a:t>one kilogram.</a:t>
            </a:r>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789E4-63FE-2658-7503-EEC00EF484B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7A00673-AF82-11C8-EF5A-F99964BE6079}"/>
              </a:ext>
            </a:extLst>
          </p:cNvPr>
          <p:cNvSpPr>
            <a:spLocks noGrp="1"/>
          </p:cNvSpPr>
          <p:nvPr>
            <p:ph type="title"/>
          </p:nvPr>
        </p:nvSpPr>
        <p:spPr>
          <a:xfrm>
            <a:off x="360000" y="360000"/>
            <a:ext cx="10747003" cy="970108"/>
          </a:xfrm>
        </p:spPr>
        <p:txBody>
          <a:bodyPr/>
          <a:lstStyle/>
          <a:p>
            <a:r>
              <a:rPr lang="en-AU" dirty="0">
                <a:latin typeface="Arial"/>
                <a:cs typeface="Arial"/>
              </a:rPr>
              <a:t>Activity 4 – number of tens, hundreds or thousands in a number</a:t>
            </a:r>
            <a:endParaRPr lang="en-AU" dirty="0"/>
          </a:p>
        </p:txBody>
      </p:sp>
      <p:pic>
        <p:nvPicPr>
          <p:cNvPr id="9" name="Picture 8" descr="A diagram of place value houses up to hundreds of thousands.">
            <a:extLst>
              <a:ext uri="{FF2B5EF4-FFF2-40B4-BE49-F238E27FC236}">
                <a16:creationId xmlns:a16="http://schemas.microsoft.com/office/drawing/2014/main" id="{CC8970CB-9817-3733-16AD-97EAC1514A44}"/>
              </a:ext>
            </a:extLst>
          </p:cNvPr>
          <p:cNvPicPr>
            <a:picLocks noChangeAspect="1"/>
          </p:cNvPicPr>
          <p:nvPr/>
        </p:nvPicPr>
        <p:blipFill>
          <a:blip r:embed="rId3"/>
          <a:stretch>
            <a:fillRect/>
          </a:stretch>
        </p:blipFill>
        <p:spPr>
          <a:xfrm>
            <a:off x="1843443" y="1624596"/>
            <a:ext cx="8691614" cy="4383795"/>
          </a:xfrm>
          <a:prstGeom prst="rect">
            <a:avLst/>
          </a:prstGeom>
        </p:spPr>
      </p:pic>
      <p:sp>
        <p:nvSpPr>
          <p:cNvPr id="2" name="Slide Number Placeholder 1">
            <a:extLst>
              <a:ext uri="{FF2B5EF4-FFF2-40B4-BE49-F238E27FC236}">
                <a16:creationId xmlns:a16="http://schemas.microsoft.com/office/drawing/2014/main" id="{268EB84E-D06F-8540-433E-45668B3B90FA}"/>
              </a:ext>
            </a:extLst>
          </p:cNvPr>
          <p:cNvSpPr>
            <a:spLocks noGrp="1"/>
          </p:cNvSpPr>
          <p:nvPr>
            <p:ph type="sldNum" sz="quarter" idx="12"/>
          </p:nvPr>
        </p:nvSpPr>
        <p:spPr/>
        <p:txBody>
          <a:bodyPr/>
          <a:lstStyle/>
          <a:p>
            <a:fld id="{10A01DC5-1685-4615-8240-15192985C6A2}" type="slidenum">
              <a:rPr lang="en-AU" smtClean="0"/>
              <a:t>31</a:t>
            </a:fld>
            <a:endParaRPr lang="en-AU"/>
          </a:p>
        </p:txBody>
      </p:sp>
      <p:pic>
        <p:nvPicPr>
          <p:cNvPr id="4" name="Picture 3" descr="image of a head with cogs turning inside">
            <a:extLst>
              <a:ext uri="{FF2B5EF4-FFF2-40B4-BE49-F238E27FC236}">
                <a16:creationId xmlns:a16="http://schemas.microsoft.com/office/drawing/2014/main" id="{6090EC9D-2275-9177-D6D1-44AE7635ECAB}"/>
              </a:ext>
            </a:extLst>
          </p:cNvPr>
          <p:cNvPicPr>
            <a:picLocks noChangeAspect="1"/>
          </p:cNvPicPr>
          <p:nvPr/>
        </p:nvPicPr>
        <p:blipFill>
          <a:blip r:embed="rId4"/>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2267990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56DE5-9054-EDB9-6AA0-DC7E8299AE3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1C5526B-34A8-E53A-E009-C45A1F7CD573}"/>
              </a:ext>
            </a:extLst>
          </p:cNvPr>
          <p:cNvSpPr>
            <a:spLocks noGrp="1"/>
          </p:cNvSpPr>
          <p:nvPr>
            <p:ph type="title"/>
          </p:nvPr>
        </p:nvSpPr>
        <p:spPr>
          <a:xfrm>
            <a:off x="360000" y="360000"/>
            <a:ext cx="9901600" cy="545601"/>
          </a:xfrm>
        </p:spPr>
        <p:txBody>
          <a:bodyPr/>
          <a:lstStyle/>
          <a:p>
            <a:r>
              <a:rPr lang="en-US" dirty="0"/>
              <a:t>Multiple choice </a:t>
            </a:r>
            <a:r>
              <a:rPr lang="en-US" dirty="0">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A4D93B1C-8640-0057-E118-4A82C116762C}"/>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14">
            <a:extLst>
              <a:ext uri="{FF2B5EF4-FFF2-40B4-BE49-F238E27FC236}">
                <a16:creationId xmlns:a16="http://schemas.microsoft.com/office/drawing/2014/main" id="{0443E027-E11B-A12B-53A8-A4F27E680A18}"/>
              </a:ext>
            </a:extLst>
          </p:cNvPr>
          <p:cNvSpPr>
            <a:spLocks noGrp="1"/>
          </p:cNvSpPr>
          <p:nvPr>
            <p:ph type="body" sz="quarter" idx="28"/>
          </p:nvPr>
        </p:nvSpPr>
        <p:spPr>
          <a:xfrm>
            <a:off x="1010652" y="1034866"/>
            <a:ext cx="9797256" cy="1796751"/>
          </a:xfrm>
        </p:spPr>
        <p:txBody>
          <a:bodyPr/>
          <a:lstStyle/>
          <a:p>
            <a:pPr algn="ctr"/>
            <a:r>
              <a:rPr lang="en-US" sz="4000" dirty="0"/>
              <a:t>In </a:t>
            </a:r>
            <a:r>
              <a:rPr lang="en-US" sz="4000" b="1" dirty="0"/>
              <a:t>ascending order</a:t>
            </a:r>
            <a:r>
              <a:rPr lang="en-US" sz="4000" dirty="0"/>
              <a:t>, the correct position of </a:t>
            </a:r>
            <a:r>
              <a:rPr lang="en-US" sz="4000" b="1" dirty="0"/>
              <a:t>4365</a:t>
            </a:r>
            <a:r>
              <a:rPr lang="en-US" sz="4000" dirty="0"/>
              <a:t> is: </a:t>
            </a:r>
          </a:p>
        </p:txBody>
      </p:sp>
      <p:sp>
        <p:nvSpPr>
          <p:cNvPr id="9" name="TextBox 8">
            <a:extLst>
              <a:ext uri="{FF2B5EF4-FFF2-40B4-BE49-F238E27FC236}">
                <a16:creationId xmlns:a16="http://schemas.microsoft.com/office/drawing/2014/main" id="{9DAA2006-ADB4-D15B-B158-97DC39D26683}"/>
              </a:ext>
            </a:extLst>
          </p:cNvPr>
          <p:cNvSpPr txBox="1"/>
          <p:nvPr/>
        </p:nvSpPr>
        <p:spPr>
          <a:xfrm>
            <a:off x="2994823" y="305966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8" name="Text Placeholder 17">
            <a:extLst>
              <a:ext uri="{FF2B5EF4-FFF2-40B4-BE49-F238E27FC236}">
                <a16:creationId xmlns:a16="http://schemas.microsoft.com/office/drawing/2014/main" id="{09A20CC9-6FEE-6369-4AC1-968CEAB9E49B}"/>
              </a:ext>
            </a:extLst>
          </p:cNvPr>
          <p:cNvSpPr>
            <a:spLocks noGrp="1"/>
          </p:cNvSpPr>
          <p:nvPr>
            <p:ph type="body" sz="quarter" idx="31"/>
          </p:nvPr>
        </p:nvSpPr>
        <p:spPr>
          <a:xfrm>
            <a:off x="4101104" y="3108302"/>
            <a:ext cx="5769406" cy="641396"/>
          </a:xfrm>
        </p:spPr>
        <p:txBody>
          <a:bodyPr anchor="ctr"/>
          <a:lstStyle/>
          <a:p>
            <a:r>
              <a:rPr lang="en-US" sz="3600" dirty="0"/>
              <a:t>6534,  5634,  </a:t>
            </a:r>
            <a:r>
              <a:rPr lang="en-US" sz="3600" b="1" dirty="0"/>
              <a:t>X</a:t>
            </a:r>
            <a:r>
              <a:rPr lang="en-US" sz="3600" dirty="0"/>
              <a:t>,  3465</a:t>
            </a:r>
          </a:p>
        </p:txBody>
      </p:sp>
      <p:sp>
        <p:nvSpPr>
          <p:cNvPr id="10" name="TextBox 9">
            <a:extLst>
              <a:ext uri="{FF2B5EF4-FFF2-40B4-BE49-F238E27FC236}">
                <a16:creationId xmlns:a16="http://schemas.microsoft.com/office/drawing/2014/main" id="{BF8FF86A-8259-4B6A-DD05-B5338957EDC3}"/>
              </a:ext>
            </a:extLst>
          </p:cNvPr>
          <p:cNvSpPr txBox="1"/>
          <p:nvPr/>
        </p:nvSpPr>
        <p:spPr>
          <a:xfrm>
            <a:off x="2994822" y="390758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Text Placeholder 16">
            <a:extLst>
              <a:ext uri="{FF2B5EF4-FFF2-40B4-BE49-F238E27FC236}">
                <a16:creationId xmlns:a16="http://schemas.microsoft.com/office/drawing/2014/main" id="{A1FD909E-672C-E197-EB78-8A0BA88E0D15}"/>
              </a:ext>
            </a:extLst>
          </p:cNvPr>
          <p:cNvSpPr>
            <a:spLocks noGrp="1"/>
          </p:cNvSpPr>
          <p:nvPr>
            <p:ph type="body" sz="quarter" idx="30"/>
          </p:nvPr>
        </p:nvSpPr>
        <p:spPr>
          <a:xfrm>
            <a:off x="4101103" y="3975988"/>
            <a:ext cx="5769406" cy="641396"/>
          </a:xfrm>
        </p:spPr>
        <p:txBody>
          <a:bodyPr anchor="ctr"/>
          <a:lstStyle/>
          <a:p>
            <a:r>
              <a:rPr lang="en-US" sz="3600" dirty="0"/>
              <a:t>5634,  3465,  6534,  </a:t>
            </a:r>
            <a:r>
              <a:rPr lang="en-US" sz="3600" b="1" dirty="0"/>
              <a:t>X</a:t>
            </a:r>
          </a:p>
        </p:txBody>
      </p:sp>
      <p:sp>
        <p:nvSpPr>
          <p:cNvPr id="12" name="TextBox 11">
            <a:extLst>
              <a:ext uri="{FF2B5EF4-FFF2-40B4-BE49-F238E27FC236}">
                <a16:creationId xmlns:a16="http://schemas.microsoft.com/office/drawing/2014/main" id="{BF4B35E9-90ED-91CF-6E7D-3023EE60AD9E}"/>
              </a:ext>
            </a:extLst>
          </p:cNvPr>
          <p:cNvSpPr txBox="1"/>
          <p:nvPr/>
        </p:nvSpPr>
        <p:spPr>
          <a:xfrm>
            <a:off x="2994821" y="475763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Text Placeholder 15">
            <a:extLst>
              <a:ext uri="{FF2B5EF4-FFF2-40B4-BE49-F238E27FC236}">
                <a16:creationId xmlns:a16="http://schemas.microsoft.com/office/drawing/2014/main" id="{045B94D9-74FB-9D4A-9C43-F68419839CEC}"/>
              </a:ext>
            </a:extLst>
          </p:cNvPr>
          <p:cNvSpPr>
            <a:spLocks noGrp="1"/>
          </p:cNvSpPr>
          <p:nvPr>
            <p:ph type="body" sz="quarter" idx="29"/>
          </p:nvPr>
        </p:nvSpPr>
        <p:spPr>
          <a:xfrm>
            <a:off x="4101103" y="4806268"/>
            <a:ext cx="5957297" cy="641396"/>
          </a:xfrm>
        </p:spPr>
        <p:txBody>
          <a:bodyPr anchor="ctr"/>
          <a:lstStyle/>
          <a:p>
            <a:r>
              <a:rPr lang="en-US" sz="3600" dirty="0"/>
              <a:t>3465,  6534,  </a:t>
            </a:r>
            <a:r>
              <a:rPr lang="en-US" sz="3600" b="1" dirty="0"/>
              <a:t>X</a:t>
            </a:r>
            <a:r>
              <a:rPr lang="en-US" sz="3600" dirty="0"/>
              <a:t>,  5634</a:t>
            </a:r>
          </a:p>
        </p:txBody>
      </p:sp>
      <p:sp>
        <p:nvSpPr>
          <p:cNvPr id="11" name="TextBox 10">
            <a:extLst>
              <a:ext uri="{FF2B5EF4-FFF2-40B4-BE49-F238E27FC236}">
                <a16:creationId xmlns:a16="http://schemas.microsoft.com/office/drawing/2014/main" id="{CD2988DB-B474-6203-5DD2-06443FE29ECF}"/>
              </a:ext>
            </a:extLst>
          </p:cNvPr>
          <p:cNvSpPr txBox="1"/>
          <p:nvPr/>
        </p:nvSpPr>
        <p:spPr>
          <a:xfrm>
            <a:off x="2994820" y="559539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Text Placeholder 13">
            <a:extLst>
              <a:ext uri="{FF2B5EF4-FFF2-40B4-BE49-F238E27FC236}">
                <a16:creationId xmlns:a16="http://schemas.microsoft.com/office/drawing/2014/main" id="{3637AEFE-A71B-D626-319A-5221A7FBA3D7}"/>
              </a:ext>
            </a:extLst>
          </p:cNvPr>
          <p:cNvSpPr>
            <a:spLocks noGrp="1"/>
          </p:cNvSpPr>
          <p:nvPr>
            <p:ph type="body" sz="quarter" idx="27"/>
          </p:nvPr>
        </p:nvSpPr>
        <p:spPr>
          <a:xfrm>
            <a:off x="4101103" y="5644025"/>
            <a:ext cx="5957297" cy="641396"/>
          </a:xfrm>
        </p:spPr>
        <p:txBody>
          <a:bodyPr anchor="ctr"/>
          <a:lstStyle/>
          <a:p>
            <a:r>
              <a:rPr lang="en-US" sz="3600" dirty="0"/>
              <a:t>3465,  </a:t>
            </a:r>
            <a:r>
              <a:rPr lang="en-US" sz="3600" b="1" dirty="0"/>
              <a:t>X</a:t>
            </a:r>
            <a:r>
              <a:rPr lang="en-US" sz="3600" dirty="0"/>
              <a:t>,  5634,  6534 </a:t>
            </a:r>
          </a:p>
        </p:txBody>
      </p:sp>
      <p:sp>
        <p:nvSpPr>
          <p:cNvPr id="2" name="Slide Number Placeholder 1">
            <a:extLst>
              <a:ext uri="{FF2B5EF4-FFF2-40B4-BE49-F238E27FC236}">
                <a16:creationId xmlns:a16="http://schemas.microsoft.com/office/drawing/2014/main" id="{A6C2BFFC-84AB-C30B-C108-1205554FD32A}"/>
              </a:ext>
            </a:extLst>
          </p:cNvPr>
          <p:cNvSpPr>
            <a:spLocks noGrp="1"/>
          </p:cNvSpPr>
          <p:nvPr>
            <p:ph type="sldNum" sz="quarter" idx="12"/>
          </p:nvPr>
        </p:nvSpPr>
        <p:spPr/>
        <p:txBody>
          <a:bodyPr/>
          <a:lstStyle/>
          <a:p>
            <a:fld id="{10A01DC5-1685-4615-8240-15192985C6A2}" type="slidenum">
              <a:rPr lang="en-AU" smtClean="0"/>
              <a:t>33</a:t>
            </a:fld>
            <a:endParaRPr lang="en-AU"/>
          </a:p>
        </p:txBody>
      </p:sp>
    </p:spTree>
    <p:extLst>
      <p:ext uri="{BB962C8B-B14F-4D97-AF65-F5344CB8AC3E}">
        <p14:creationId xmlns:p14="http://schemas.microsoft.com/office/powerpoint/2010/main" val="22172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(17)</a:t>
            </a:r>
          </a:p>
        </p:txBody>
      </p:sp>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pic>
        <p:nvPicPr>
          <p:cNvPr id="3" name="Picture 2" descr="image of a clipboard with a pencil recording short answer responses">
            <a:extLst>
              <a:ext uri="{FF2B5EF4-FFF2-40B4-BE49-F238E27FC236}">
                <a16:creationId xmlns:a16="http://schemas.microsoft.com/office/drawing/2014/main" id="{2D93CD05-EEB0-3C8B-380D-9FC3C1D1498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4DB5B8B5-C122-4773-1211-E0E248DD92C0}"/>
              </a:ext>
            </a:extLst>
          </p:cNvPr>
          <p:cNvSpPr txBox="1"/>
          <p:nvPr/>
        </p:nvSpPr>
        <p:spPr>
          <a:xfrm>
            <a:off x="764088" y="1398797"/>
            <a:ext cx="10584493" cy="4406885"/>
          </a:xfrm>
          <a:prstGeom prst="rect">
            <a:avLst/>
          </a:prstGeom>
          <a:noFill/>
        </p:spPr>
        <p:txBody>
          <a:bodyPr wrap="square" lIns="0" tIns="0" rIns="0" bIns="0" rtlCol="0">
            <a:noAutofit/>
          </a:bodyPr>
          <a:lstStyle/>
          <a:p>
            <a:pPr algn="ctr">
              <a:lnSpc>
                <a:spcPct val="150000"/>
              </a:lnSpc>
            </a:pPr>
            <a:r>
              <a:rPr lang="en-AU" sz="4400" dirty="0"/>
              <a:t>Ethan measured a desk for his gaming set. The </a:t>
            </a:r>
            <a:r>
              <a:rPr lang="en-AU" sz="4400" b="1" dirty="0"/>
              <a:t>length</a:t>
            </a:r>
            <a:r>
              <a:rPr lang="en-AU" sz="4400" dirty="0"/>
              <a:t> of the desk was 163 cm. Record this length using </a:t>
            </a:r>
            <a:r>
              <a:rPr lang="en-AU" sz="4400" b="1" dirty="0"/>
              <a:t>decimal notation </a:t>
            </a:r>
            <a:r>
              <a:rPr lang="en-AU" sz="4400" dirty="0"/>
              <a:t>to </a:t>
            </a:r>
            <a:r>
              <a:rPr lang="en-AU" sz="4400" b="1" dirty="0"/>
              <a:t>2 decimal places</a:t>
            </a:r>
            <a:r>
              <a:rPr lang="en-AU" sz="4400" dirty="0"/>
              <a:t>.</a:t>
            </a:r>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(18)</a:t>
            </a:r>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pic>
        <p:nvPicPr>
          <p:cNvPr id="3" name="Picture 2" descr="image of a clipboard with a pencil recording short answer responses">
            <a:extLst>
              <a:ext uri="{FF2B5EF4-FFF2-40B4-BE49-F238E27FC236}">
                <a16:creationId xmlns:a16="http://schemas.microsoft.com/office/drawing/2014/main" id="{E34FFB15-F7DE-0945-FB9C-D8A36F224B6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AED10EB8-5160-35CE-8215-405CB0F22C23}"/>
              </a:ext>
            </a:extLst>
          </p:cNvPr>
          <p:cNvSpPr txBox="1"/>
          <p:nvPr/>
        </p:nvSpPr>
        <p:spPr>
          <a:xfrm>
            <a:off x="845344" y="1469216"/>
            <a:ext cx="10501312" cy="3093259"/>
          </a:xfrm>
          <a:prstGeom prst="rect">
            <a:avLst/>
          </a:prstGeom>
          <a:noFill/>
        </p:spPr>
        <p:txBody>
          <a:bodyPr wrap="square" lIns="0" tIns="0" rIns="0" bIns="0" rtlCol="0">
            <a:noAutofit/>
          </a:bodyPr>
          <a:lstStyle/>
          <a:p>
            <a:pPr algn="ctr">
              <a:lnSpc>
                <a:spcPct val="150000"/>
              </a:lnSpc>
            </a:pPr>
            <a:r>
              <a:rPr lang="en-AU" sz="4400" dirty="0"/>
              <a:t>Use an </a:t>
            </a:r>
            <a:r>
              <a:rPr lang="en-AU" sz="4400" b="1" dirty="0"/>
              <a:t>addition algorithm </a:t>
            </a:r>
            <a:r>
              <a:rPr lang="en-AU" sz="4400" dirty="0"/>
              <a:t>to solve:</a:t>
            </a:r>
          </a:p>
          <a:p>
            <a:pPr algn="ctr">
              <a:lnSpc>
                <a:spcPct val="150000"/>
              </a:lnSpc>
            </a:pPr>
            <a:endParaRPr lang="en-AU" sz="2800" dirty="0"/>
          </a:p>
          <a:p>
            <a:pPr algn="ctr">
              <a:lnSpc>
                <a:spcPct val="150000"/>
              </a:lnSpc>
            </a:pPr>
            <a:r>
              <a:rPr lang="en-AU" sz="6000" dirty="0"/>
              <a:t>396 + 527 =</a:t>
            </a:r>
          </a:p>
          <a:p>
            <a:pPr algn="l">
              <a:lnSpc>
                <a:spcPct val="150000"/>
              </a:lnSpc>
            </a:pPr>
            <a:endParaRPr lang="en-AU" sz="1800" dirty="0"/>
          </a:p>
          <a:p>
            <a:pPr algn="l"/>
            <a:endParaRPr lang="en-AU" sz="1800" dirty="0"/>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(19)</a:t>
            </a:r>
          </a:p>
        </p:txBody>
      </p:sp>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pic>
        <p:nvPicPr>
          <p:cNvPr id="3" name="Picture 2" descr="image of a clipboard with a pencil recording short answer responses">
            <a:extLst>
              <a:ext uri="{FF2B5EF4-FFF2-40B4-BE49-F238E27FC236}">
                <a16:creationId xmlns:a16="http://schemas.microsoft.com/office/drawing/2014/main" id="{B38D0ADF-3DD6-732F-15F0-9E23C65094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BBC11EA7-7333-5CCD-207A-4EDF9B1C980C}"/>
              </a:ext>
            </a:extLst>
          </p:cNvPr>
          <p:cNvSpPr txBox="1"/>
          <p:nvPr/>
        </p:nvSpPr>
        <p:spPr>
          <a:xfrm>
            <a:off x="1360163" y="1184223"/>
            <a:ext cx="9471673" cy="5269036"/>
          </a:xfrm>
          <a:prstGeom prst="rect">
            <a:avLst/>
          </a:prstGeom>
          <a:noFill/>
        </p:spPr>
        <p:txBody>
          <a:bodyPr wrap="square" lIns="0" tIns="0" rIns="0" bIns="0" rtlCol="0">
            <a:noAutofit/>
          </a:bodyPr>
          <a:lstStyle/>
          <a:p>
            <a:pPr algn="ctr">
              <a:lnSpc>
                <a:spcPct val="150000"/>
              </a:lnSpc>
            </a:pPr>
            <a:r>
              <a:rPr lang="en-AU" sz="4400" dirty="0"/>
              <a:t>Record the </a:t>
            </a:r>
            <a:r>
              <a:rPr lang="en-AU" sz="4400" b="1" dirty="0"/>
              <a:t>role of zero </a:t>
            </a:r>
            <a:r>
              <a:rPr lang="en-AU" sz="4400" dirty="0"/>
              <a:t>in each of the following </a:t>
            </a:r>
            <a:r>
              <a:rPr lang="en-AU" sz="4400" b="1" dirty="0"/>
              <a:t>decimals</a:t>
            </a:r>
            <a:r>
              <a:rPr lang="en-AU" sz="4400" dirty="0"/>
              <a:t>:</a:t>
            </a:r>
          </a:p>
          <a:p>
            <a:pPr algn="ctr">
              <a:lnSpc>
                <a:spcPct val="150000"/>
              </a:lnSpc>
            </a:pPr>
            <a:endParaRPr lang="en-AU" sz="1800" dirty="0"/>
          </a:p>
          <a:p>
            <a:pPr marL="571500" indent="-571500" algn="ctr">
              <a:lnSpc>
                <a:spcPct val="150000"/>
              </a:lnSpc>
              <a:buFont typeface="Arial" panose="020B0604020202020204" pitchFamily="34" charset="0"/>
              <a:buChar char="•"/>
            </a:pPr>
            <a:r>
              <a:rPr lang="en-AU" sz="4400" dirty="0"/>
              <a:t>0.5</a:t>
            </a:r>
          </a:p>
          <a:p>
            <a:pPr marL="571500" indent="-571500" algn="ctr">
              <a:lnSpc>
                <a:spcPct val="150000"/>
              </a:lnSpc>
              <a:buFont typeface="Arial" panose="020B0604020202020204" pitchFamily="34" charset="0"/>
              <a:buChar char="•"/>
            </a:pPr>
            <a:r>
              <a:rPr lang="en-AU" sz="4400" dirty="0"/>
              <a:t>5.0</a:t>
            </a:r>
          </a:p>
          <a:p>
            <a:pPr marL="571500" indent="-571500" algn="ctr">
              <a:lnSpc>
                <a:spcPct val="150000"/>
              </a:lnSpc>
              <a:buFont typeface="Arial" panose="020B0604020202020204" pitchFamily="34" charset="0"/>
              <a:buChar char="•"/>
            </a:pPr>
            <a:r>
              <a:rPr lang="en-AU" sz="4400" dirty="0"/>
              <a:t>0.05</a:t>
            </a:r>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(20)</a:t>
            </a:r>
          </a:p>
        </p:txBody>
      </p:sp>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pic>
        <p:nvPicPr>
          <p:cNvPr id="3" name="Picture 2" descr="image of a clipboard with a pencil recording short answer responses">
            <a:extLst>
              <a:ext uri="{FF2B5EF4-FFF2-40B4-BE49-F238E27FC236}">
                <a16:creationId xmlns:a16="http://schemas.microsoft.com/office/drawing/2014/main" id="{8579B78F-E8F7-2A31-5798-ADB627F8314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19A8CA33-8744-EEBF-A81F-71156997A5A2}"/>
              </a:ext>
            </a:extLst>
          </p:cNvPr>
          <p:cNvSpPr txBox="1"/>
          <p:nvPr/>
        </p:nvSpPr>
        <p:spPr>
          <a:xfrm>
            <a:off x="1038095" y="1135547"/>
            <a:ext cx="10284027" cy="5101831"/>
          </a:xfrm>
          <a:prstGeom prst="rect">
            <a:avLst/>
          </a:prstGeom>
          <a:noFill/>
        </p:spPr>
        <p:txBody>
          <a:bodyPr wrap="square" lIns="0" tIns="0" rIns="0" bIns="0" rtlCol="0">
            <a:noAutofit/>
          </a:bodyPr>
          <a:lstStyle/>
          <a:p>
            <a:pPr algn="ctr">
              <a:lnSpc>
                <a:spcPct val="150000"/>
              </a:lnSpc>
            </a:pPr>
            <a:r>
              <a:rPr lang="en-AU" sz="4400" dirty="0"/>
              <a:t>Record </a:t>
            </a:r>
            <a:r>
              <a:rPr lang="en-AU" sz="4400" b="1" dirty="0"/>
              <a:t>everyday containers </a:t>
            </a:r>
            <a:r>
              <a:rPr lang="en-AU" sz="4400" dirty="0"/>
              <a:t>that have a </a:t>
            </a:r>
            <a:r>
              <a:rPr lang="en-AU" sz="4400" b="1" dirty="0"/>
              <a:t>capacity</a:t>
            </a:r>
            <a:r>
              <a:rPr lang="en-AU" sz="4400" dirty="0"/>
              <a:t> of:</a:t>
            </a:r>
          </a:p>
          <a:p>
            <a:pPr marL="571500" indent="-571500" algn="ctr">
              <a:lnSpc>
                <a:spcPct val="150000"/>
              </a:lnSpc>
              <a:buFont typeface="Arial" panose="020B0604020202020204" pitchFamily="34" charset="0"/>
              <a:buChar char="•"/>
            </a:pPr>
            <a:r>
              <a:rPr lang="en-AU" sz="4400" dirty="0"/>
              <a:t>250 mL</a:t>
            </a:r>
          </a:p>
          <a:p>
            <a:pPr marL="571500" indent="-571500" algn="ctr">
              <a:lnSpc>
                <a:spcPct val="150000"/>
              </a:lnSpc>
              <a:buFont typeface="Arial" panose="020B0604020202020204" pitchFamily="34" charset="0"/>
              <a:buChar char="•"/>
            </a:pPr>
            <a:r>
              <a:rPr lang="en-AU" sz="4400" dirty="0"/>
              <a:t>1000 mL</a:t>
            </a:r>
          </a:p>
          <a:p>
            <a:pPr marL="571500" indent="-571500" algn="ctr">
              <a:lnSpc>
                <a:spcPct val="150000"/>
              </a:lnSpc>
              <a:buFont typeface="Arial" panose="020B0604020202020204" pitchFamily="34" charset="0"/>
              <a:buChar char="•"/>
            </a:pPr>
            <a:r>
              <a:rPr lang="en-AU" sz="4400" dirty="0"/>
              <a:t>2000 mL</a:t>
            </a:r>
          </a:p>
          <a:p>
            <a:pPr algn="l"/>
            <a:endParaRPr lang="en-AU" sz="1800" dirty="0"/>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0175478" cy="514255"/>
          </a:xfrm>
        </p:spPr>
        <p:txBody>
          <a:bodyPr/>
          <a:lstStyle/>
          <a:p>
            <a:r>
              <a:rPr lang="en-AU" dirty="0">
                <a:latin typeface="Arial"/>
                <a:cs typeface="Arial"/>
              </a:rPr>
              <a:t>Activity 5 – ordering 4-digit numbers </a:t>
            </a:r>
          </a:p>
        </p:txBody>
      </p:sp>
      <p:pic>
        <p:nvPicPr>
          <p:cNvPr id="5" name="Picture 4" descr="image of a head with cogs turning inside">
            <a:extLst>
              <a:ext uri="{FF2B5EF4-FFF2-40B4-BE49-F238E27FC236}">
                <a16:creationId xmlns:a16="http://schemas.microsoft.com/office/drawing/2014/main" id="{9A228B47-010E-72E9-9374-994D09C7DC02}"/>
              </a:ext>
            </a:extLst>
          </p:cNvPr>
          <p:cNvPicPr>
            <a:picLocks noChangeAspect="1"/>
          </p:cNvPicPr>
          <p:nvPr/>
        </p:nvPicPr>
        <p:blipFill>
          <a:blip r:embed="rId3"/>
          <a:stretch>
            <a:fillRect/>
          </a:stretch>
        </p:blipFill>
        <p:spPr>
          <a:xfrm>
            <a:off x="11107003" y="240894"/>
            <a:ext cx="720000" cy="856364"/>
          </a:xfrm>
          <a:prstGeom prst="rect">
            <a:avLst/>
          </a:prstGeom>
        </p:spPr>
      </p:pic>
      <p:sp>
        <p:nvSpPr>
          <p:cNvPr id="4" name="Freeform 3" descr="A blue ladder with 5 rungs.">
            <a:extLst>
              <a:ext uri="{FF2B5EF4-FFF2-40B4-BE49-F238E27FC236}">
                <a16:creationId xmlns:a16="http://schemas.microsoft.com/office/drawing/2014/main" id="{6DA95129-E5F4-6B15-E1EA-8BC5AA13EBF6}"/>
              </a:ext>
            </a:extLst>
          </p:cNvPr>
          <p:cNvSpPr/>
          <p:nvPr/>
        </p:nvSpPr>
        <p:spPr>
          <a:xfrm>
            <a:off x="4554054" y="1449449"/>
            <a:ext cx="3083890" cy="5048551"/>
          </a:xfrm>
          <a:custGeom>
            <a:avLst/>
            <a:gdLst/>
            <a:ahLst/>
            <a:cxnLst/>
            <a:rect l="l" t="t" r="r" b="b"/>
            <a:pathLst>
              <a:path w="2116042" h="5104487">
                <a:moveTo>
                  <a:pt x="0" y="0"/>
                </a:moveTo>
                <a:lnTo>
                  <a:pt x="2116042" y="0"/>
                </a:lnTo>
                <a:lnTo>
                  <a:pt x="2116042" y="5104488"/>
                </a:lnTo>
                <a:lnTo>
                  <a:pt x="0" y="510448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2" name="TextBox 11">
            <a:extLst>
              <a:ext uri="{FF2B5EF4-FFF2-40B4-BE49-F238E27FC236}">
                <a16:creationId xmlns:a16="http://schemas.microsoft.com/office/drawing/2014/main" id="{5D2B641A-3056-CA29-0F10-A5146B1E7A7A}"/>
              </a:ext>
            </a:extLst>
          </p:cNvPr>
          <p:cNvSpPr txBox="1"/>
          <p:nvPr/>
        </p:nvSpPr>
        <p:spPr>
          <a:xfrm>
            <a:off x="5576454" y="2232934"/>
            <a:ext cx="1039091" cy="633920"/>
          </a:xfrm>
          <a:prstGeom prst="rect">
            <a:avLst/>
          </a:prstGeom>
          <a:noFill/>
        </p:spPr>
        <p:txBody>
          <a:bodyPr wrap="square" lIns="0" tIns="0" rIns="0" bIns="0" rtlCol="0">
            <a:noAutofit/>
          </a:bodyPr>
          <a:lstStyle/>
          <a:p>
            <a:pPr algn="l"/>
            <a:r>
              <a:rPr lang="en-AU" sz="3200" dirty="0"/>
              <a:t>8562</a:t>
            </a:r>
            <a:endParaRPr lang="en-AU" sz="1800" dirty="0"/>
          </a:p>
        </p:txBody>
      </p:sp>
      <p:sp>
        <p:nvSpPr>
          <p:cNvPr id="11" name="TextBox 10">
            <a:extLst>
              <a:ext uri="{FF2B5EF4-FFF2-40B4-BE49-F238E27FC236}">
                <a16:creationId xmlns:a16="http://schemas.microsoft.com/office/drawing/2014/main" id="{0AE42FDE-6B67-8E73-DFE0-C326FC698E06}"/>
              </a:ext>
            </a:extLst>
          </p:cNvPr>
          <p:cNvSpPr txBox="1"/>
          <p:nvPr/>
        </p:nvSpPr>
        <p:spPr>
          <a:xfrm>
            <a:off x="5576454" y="4225533"/>
            <a:ext cx="1039091" cy="633920"/>
          </a:xfrm>
          <a:prstGeom prst="rect">
            <a:avLst/>
          </a:prstGeom>
          <a:noFill/>
        </p:spPr>
        <p:txBody>
          <a:bodyPr wrap="square" lIns="0" tIns="0" rIns="0" bIns="0" rtlCol="0">
            <a:noAutofit/>
          </a:bodyPr>
          <a:lstStyle/>
          <a:p>
            <a:pPr algn="l"/>
            <a:r>
              <a:rPr lang="en-AU" sz="3200" dirty="0"/>
              <a:t>2861</a:t>
            </a:r>
            <a:endParaRPr lang="en-AU" sz="1800" dirty="0"/>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spTree>
    <p:extLst>
      <p:ext uri="{BB962C8B-B14F-4D97-AF65-F5344CB8AC3E}">
        <p14:creationId xmlns:p14="http://schemas.microsoft.com/office/powerpoint/2010/main" val="845390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dirty="0"/>
              <a:t>True or false </a:t>
            </a:r>
            <a:r>
              <a:rPr lang="en-US" dirty="0">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239F5F22-5449-95CB-BD5E-F141E81E86FF}"/>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1455555" y="1222297"/>
            <a:ext cx="9560377" cy="3246185"/>
          </a:xfrm>
        </p:spPr>
        <p:txBody>
          <a:bodyPr/>
          <a:lstStyle/>
          <a:p>
            <a:pPr algn="ctr"/>
            <a:r>
              <a:rPr lang="en-AU" sz="4400" dirty="0"/>
              <a:t>The following numbers are in </a:t>
            </a:r>
            <a:r>
              <a:rPr lang="en-AU" sz="4400" b="1" dirty="0"/>
              <a:t>descending order</a:t>
            </a:r>
            <a:r>
              <a:rPr lang="en-AU" sz="4400" dirty="0"/>
              <a:t>:</a:t>
            </a:r>
          </a:p>
          <a:p>
            <a:pPr algn="ctr"/>
            <a:r>
              <a:rPr lang="en-AU" sz="5400" dirty="0"/>
              <a:t>8574,  8374,  8754,  8453</a:t>
            </a:r>
          </a:p>
          <a:p>
            <a:pPr algn="ctr"/>
            <a:endParaRPr lang="en-AU" sz="4400" dirty="0"/>
          </a:p>
          <a:p>
            <a:endParaRPr lang="en-AU" sz="4400" dirty="0"/>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DD7F305F-4DA6-37EC-D1B7-85EBA549092D}"/>
              </a:ext>
            </a:extLst>
          </p:cNvPr>
          <p:cNvSpPr>
            <a:spLocks noGrp="1"/>
          </p:cNvSpPr>
          <p:nvPr>
            <p:ph type="sldNum" sz="quarter" idx="12"/>
          </p:nvPr>
        </p:nvSpPr>
        <p:spPr/>
        <p:txBody>
          <a:bodyPr/>
          <a:lstStyle/>
          <a:p>
            <a:fld id="{10A01DC5-1685-4615-8240-15192985C6A2}" type="slidenum">
              <a:rPr lang="en-AU" smtClean="0"/>
              <a:t>40</a:t>
            </a:fld>
            <a:endParaRPr lang="en-AU"/>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(21)</a:t>
            </a:r>
          </a:p>
        </p:txBody>
      </p:sp>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pic>
        <p:nvPicPr>
          <p:cNvPr id="3" name="Picture 2" descr="image of a clipboard with a pencil recording short answer responses">
            <a:extLst>
              <a:ext uri="{FF2B5EF4-FFF2-40B4-BE49-F238E27FC236}">
                <a16:creationId xmlns:a16="http://schemas.microsoft.com/office/drawing/2014/main" id="{4BDD99B8-CF6E-F7A3-575D-5F08BFBF6D7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16C6AFFE-C9E4-958A-345D-70A3CD6CAE0C}"/>
              </a:ext>
            </a:extLst>
          </p:cNvPr>
          <p:cNvSpPr txBox="1"/>
          <p:nvPr/>
        </p:nvSpPr>
        <p:spPr>
          <a:xfrm>
            <a:off x="651353" y="1184223"/>
            <a:ext cx="10759858" cy="5226102"/>
          </a:xfrm>
          <a:prstGeom prst="rect">
            <a:avLst/>
          </a:prstGeom>
          <a:noFill/>
        </p:spPr>
        <p:txBody>
          <a:bodyPr wrap="square" lIns="0" tIns="0" rIns="0" bIns="0" rtlCol="0" anchor="t">
            <a:noAutofit/>
          </a:bodyPr>
          <a:lstStyle/>
          <a:p>
            <a:pPr algn="ctr">
              <a:lnSpc>
                <a:spcPct val="150000"/>
              </a:lnSpc>
            </a:pPr>
            <a:r>
              <a:rPr lang="en-AU" sz="4400" dirty="0"/>
              <a:t>Jordan was trying to explain to Jesse the </a:t>
            </a:r>
            <a:r>
              <a:rPr lang="en-AU" sz="4400" b="1" dirty="0"/>
              <a:t>mathematical term </a:t>
            </a:r>
            <a:r>
              <a:rPr lang="en-AU" sz="4400" dirty="0"/>
              <a:t>for the </a:t>
            </a:r>
            <a:r>
              <a:rPr lang="en-AU" sz="4400" b="1" dirty="0"/>
              <a:t>boundary</a:t>
            </a:r>
            <a:r>
              <a:rPr lang="en-AU" sz="4400" dirty="0"/>
              <a:t> around the football field. Explain the </a:t>
            </a:r>
            <a:r>
              <a:rPr lang="en-AU" sz="4400" b="1" dirty="0"/>
              <a:t>term</a:t>
            </a:r>
            <a:r>
              <a:rPr lang="en-AU" sz="4400" dirty="0"/>
              <a:t> Jordan is thinking of and </a:t>
            </a:r>
            <a:r>
              <a:rPr lang="en-AU" sz="4400" b="1" dirty="0"/>
              <a:t>draw an example.</a:t>
            </a:r>
            <a:endParaRPr lang="en-AU" sz="4400" dirty="0"/>
          </a:p>
          <a:p>
            <a:pPr algn="ctr"/>
            <a:endParaRPr lang="en-AU" sz="4800" dirty="0"/>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(22)</a:t>
            </a:r>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pic>
        <p:nvPicPr>
          <p:cNvPr id="3" name="Picture 2" descr="image of a clipboard with a pencil recording short answer responses">
            <a:extLst>
              <a:ext uri="{FF2B5EF4-FFF2-40B4-BE49-F238E27FC236}">
                <a16:creationId xmlns:a16="http://schemas.microsoft.com/office/drawing/2014/main" id="{4B3A2BE0-B930-2216-835B-AE9E6856E5F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7D1B7667-7FE7-059C-D14D-13B2F4CCE542}"/>
              </a:ext>
            </a:extLst>
          </p:cNvPr>
          <p:cNvSpPr txBox="1"/>
          <p:nvPr/>
        </p:nvSpPr>
        <p:spPr>
          <a:xfrm>
            <a:off x="721673" y="1899371"/>
            <a:ext cx="10748654" cy="2814638"/>
          </a:xfrm>
          <a:prstGeom prst="rect">
            <a:avLst/>
          </a:prstGeom>
          <a:noFill/>
        </p:spPr>
        <p:txBody>
          <a:bodyPr wrap="square" lIns="0" tIns="0" rIns="0" bIns="0" rtlCol="0">
            <a:noAutofit/>
          </a:bodyPr>
          <a:lstStyle/>
          <a:p>
            <a:pPr algn="ctr"/>
            <a:r>
              <a:rPr lang="en-AU" sz="4400" dirty="0"/>
              <a:t>Use a </a:t>
            </a:r>
            <a:r>
              <a:rPr lang="en-AU" sz="4400" b="1" dirty="0"/>
              <a:t>subtraction algorithm </a:t>
            </a:r>
            <a:r>
              <a:rPr lang="en-AU" sz="4400" dirty="0"/>
              <a:t>to solve:</a:t>
            </a:r>
          </a:p>
          <a:p>
            <a:pPr algn="ctr"/>
            <a:endParaRPr lang="en-AU" sz="4400" dirty="0"/>
          </a:p>
          <a:p>
            <a:pPr algn="ctr"/>
            <a:r>
              <a:rPr lang="en-AU" sz="6600" dirty="0"/>
              <a:t>428 – 33 = </a:t>
            </a:r>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(23)</a:t>
            </a:r>
          </a:p>
        </p:txBody>
      </p:sp>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pic>
        <p:nvPicPr>
          <p:cNvPr id="3" name="Picture 2" descr="image of a clipboard with a pencil recording short answer responses">
            <a:extLst>
              <a:ext uri="{FF2B5EF4-FFF2-40B4-BE49-F238E27FC236}">
                <a16:creationId xmlns:a16="http://schemas.microsoft.com/office/drawing/2014/main" id="{414B841E-8840-471A-4D5D-BE5947D1F0D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0A125F97-E1D9-A5BF-969F-20C3C3FD13B0}"/>
              </a:ext>
            </a:extLst>
          </p:cNvPr>
          <p:cNvSpPr txBox="1"/>
          <p:nvPr/>
        </p:nvSpPr>
        <p:spPr>
          <a:xfrm>
            <a:off x="715617" y="1184223"/>
            <a:ext cx="10534161" cy="5131782"/>
          </a:xfrm>
          <a:prstGeom prst="rect">
            <a:avLst/>
          </a:prstGeom>
          <a:noFill/>
        </p:spPr>
        <p:txBody>
          <a:bodyPr wrap="square" lIns="0" tIns="0" rIns="0" bIns="0" rtlCol="0">
            <a:noAutofit/>
          </a:bodyPr>
          <a:lstStyle/>
          <a:p>
            <a:pPr algn="ctr">
              <a:lnSpc>
                <a:spcPct val="150000"/>
              </a:lnSpc>
            </a:pPr>
            <a:r>
              <a:rPr lang="en-AU" sz="4400" dirty="0"/>
              <a:t>James records </a:t>
            </a:r>
            <a:r>
              <a:rPr lang="en-AU" sz="4400" b="1" dirty="0"/>
              <a:t>0.6 cm</a:t>
            </a:r>
            <a:r>
              <a:rPr lang="en-AU" sz="4400" dirty="0"/>
              <a:t> and his friend Clara tells him that is the </a:t>
            </a:r>
            <a:r>
              <a:rPr lang="en-AU" sz="4400" b="1" dirty="0"/>
              <a:t>same as 6 cm</a:t>
            </a:r>
            <a:r>
              <a:rPr lang="en-AU" sz="4400" dirty="0"/>
              <a:t>. </a:t>
            </a:r>
          </a:p>
          <a:p>
            <a:pPr algn="ctr">
              <a:lnSpc>
                <a:spcPct val="150000"/>
              </a:lnSpc>
            </a:pPr>
            <a:r>
              <a:rPr lang="en-AU" sz="4400" dirty="0"/>
              <a:t>Is Clara right? </a:t>
            </a:r>
          </a:p>
          <a:p>
            <a:pPr algn="ctr">
              <a:lnSpc>
                <a:spcPct val="150000"/>
              </a:lnSpc>
            </a:pPr>
            <a:endParaRPr lang="en-AU" sz="4400" dirty="0"/>
          </a:p>
          <a:p>
            <a:pPr algn="ctr">
              <a:lnSpc>
                <a:spcPct val="150000"/>
              </a:lnSpc>
            </a:pPr>
            <a:r>
              <a:rPr lang="en-AU" sz="4400" b="1" dirty="0"/>
              <a:t>Explain </a:t>
            </a:r>
            <a:r>
              <a:rPr lang="en-AU" sz="4400" dirty="0"/>
              <a:t>your </a:t>
            </a:r>
            <a:r>
              <a:rPr lang="en-AU" sz="4400" b="1" dirty="0"/>
              <a:t>thinking</a:t>
            </a:r>
            <a:r>
              <a:rPr lang="en-AU" sz="4400" dirty="0"/>
              <a:t>.</a:t>
            </a:r>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(24)</a:t>
            </a:r>
          </a:p>
        </p:txBody>
      </p:sp>
      <p:pic>
        <p:nvPicPr>
          <p:cNvPr id="3" name="Picture 2" descr="image of a clipboard with a pencil recording short answer responses">
            <a:extLst>
              <a:ext uri="{FF2B5EF4-FFF2-40B4-BE49-F238E27FC236}">
                <a16:creationId xmlns:a16="http://schemas.microsoft.com/office/drawing/2014/main" id="{7F0D925D-1709-7016-D09D-4DDBD08A31D5}"/>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8" name="Picture 7" descr="A blue rectangle on a grid. The rectangle covers an area of 5 sixes.">
            <a:extLst>
              <a:ext uri="{FF2B5EF4-FFF2-40B4-BE49-F238E27FC236}">
                <a16:creationId xmlns:a16="http://schemas.microsoft.com/office/drawing/2014/main" id="{E5FC5F34-E4AF-68B2-E2AD-97B30AED95F5}"/>
              </a:ext>
            </a:extLst>
          </p:cNvPr>
          <p:cNvPicPr>
            <a:picLocks noChangeAspect="1"/>
          </p:cNvPicPr>
          <p:nvPr/>
        </p:nvPicPr>
        <p:blipFill>
          <a:blip r:embed="rId4"/>
          <a:stretch>
            <a:fillRect/>
          </a:stretch>
        </p:blipFill>
        <p:spPr>
          <a:xfrm>
            <a:off x="803292" y="1618111"/>
            <a:ext cx="4930372" cy="4347570"/>
          </a:xfrm>
          <a:prstGeom prst="rect">
            <a:avLst/>
          </a:prstGeom>
          <a:effectLst>
            <a:outerShdw blurRad="63500" sx="102000" sy="102000" algn="ctr" rotWithShape="0">
              <a:prstClr val="black">
                <a:alpha val="40000"/>
              </a:prstClr>
            </a:outerShdw>
          </a:effectLst>
        </p:spPr>
      </p:pic>
      <p:sp>
        <p:nvSpPr>
          <p:cNvPr id="4" name="TextBox 3">
            <a:extLst>
              <a:ext uri="{FF2B5EF4-FFF2-40B4-BE49-F238E27FC236}">
                <a16:creationId xmlns:a16="http://schemas.microsoft.com/office/drawing/2014/main" id="{5DE02FCF-FC67-D1DC-59AC-FC15316E48D0}"/>
              </a:ext>
            </a:extLst>
          </p:cNvPr>
          <p:cNvSpPr txBox="1"/>
          <p:nvPr/>
        </p:nvSpPr>
        <p:spPr>
          <a:xfrm>
            <a:off x="6254454" y="1618111"/>
            <a:ext cx="5229546" cy="4228145"/>
          </a:xfrm>
          <a:prstGeom prst="rect">
            <a:avLst/>
          </a:prstGeom>
          <a:noFill/>
        </p:spPr>
        <p:txBody>
          <a:bodyPr wrap="square" lIns="0" tIns="0" rIns="0" bIns="0" rtlCol="0">
            <a:noAutofit/>
          </a:bodyPr>
          <a:lstStyle/>
          <a:p>
            <a:pPr algn="ctr">
              <a:lnSpc>
                <a:spcPct val="150000"/>
              </a:lnSpc>
            </a:pPr>
            <a:r>
              <a:rPr lang="en-AU" sz="4400" dirty="0"/>
              <a:t>Record the </a:t>
            </a:r>
            <a:r>
              <a:rPr lang="en-AU" sz="4400" b="1" dirty="0"/>
              <a:t>area</a:t>
            </a:r>
            <a:r>
              <a:rPr lang="en-AU" sz="4400" dirty="0"/>
              <a:t> of the rectangle using </a:t>
            </a:r>
            <a:r>
              <a:rPr lang="en-AU" sz="4400" b="1" dirty="0"/>
              <a:t>square centimetres.</a:t>
            </a:r>
          </a:p>
          <a:p>
            <a:pPr algn="ctr">
              <a:lnSpc>
                <a:spcPct val="150000"/>
              </a:lnSpc>
            </a:pPr>
            <a:endParaRPr lang="en-AU" sz="4400" dirty="0"/>
          </a:p>
        </p:txBody>
      </p:sp>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44</a:t>
            </a:fld>
            <a:endParaRPr lang="en-AU"/>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0764000" cy="545601"/>
          </a:xfrm>
        </p:spPr>
        <p:txBody>
          <a:bodyPr/>
          <a:lstStyle/>
          <a:p>
            <a:r>
              <a:rPr lang="en-AU" dirty="0">
                <a:latin typeface="Arial"/>
                <a:cs typeface="Arial"/>
              </a:rPr>
              <a:t>Activity 6 – arrange 4-digit numbers in ascending order</a:t>
            </a:r>
            <a:endParaRPr lang="en-US" dirty="0"/>
          </a:p>
        </p:txBody>
      </p:sp>
      <p:pic>
        <p:nvPicPr>
          <p:cNvPr id="4" name="Picture 3" descr="image of a head with cogs turning inside">
            <a:extLst>
              <a:ext uri="{FF2B5EF4-FFF2-40B4-BE49-F238E27FC236}">
                <a16:creationId xmlns:a16="http://schemas.microsoft.com/office/drawing/2014/main" id="{959FB46D-FCB0-2014-CE4D-B31AB1BD91FB}"/>
              </a:ext>
            </a:extLst>
          </p:cNvPr>
          <p:cNvPicPr>
            <a:picLocks noChangeAspect="1"/>
          </p:cNvPicPr>
          <p:nvPr/>
        </p:nvPicPr>
        <p:blipFill>
          <a:blip r:embed="rId3"/>
          <a:stretch>
            <a:fillRect/>
          </a:stretch>
        </p:blipFill>
        <p:spPr>
          <a:xfrm>
            <a:off x="11107003" y="240894"/>
            <a:ext cx="720000" cy="856364"/>
          </a:xfrm>
          <a:prstGeom prst="rect">
            <a:avLst/>
          </a:prstGeom>
        </p:spPr>
      </p:pic>
      <p:grpSp>
        <p:nvGrpSpPr>
          <p:cNvPr id="28" name="Group 27" descr="4 outlines of people to represent the students that match up with 4 sticky notes">
            <a:extLst>
              <a:ext uri="{FF2B5EF4-FFF2-40B4-BE49-F238E27FC236}">
                <a16:creationId xmlns:a16="http://schemas.microsoft.com/office/drawing/2014/main" id="{DDD63B30-24D3-F1C7-6438-4F23D67ED8E3}"/>
              </a:ext>
            </a:extLst>
          </p:cNvPr>
          <p:cNvGrpSpPr/>
          <p:nvPr/>
        </p:nvGrpSpPr>
        <p:grpSpPr>
          <a:xfrm>
            <a:off x="1637972" y="1740665"/>
            <a:ext cx="8208055" cy="1454361"/>
            <a:chOff x="6915390" y="4055354"/>
            <a:chExt cx="4665810" cy="914400"/>
          </a:xfrm>
        </p:grpSpPr>
        <p:pic>
          <p:nvPicPr>
            <p:cNvPr id="23" name="Graphic 22" descr="Man with solid fill">
              <a:extLst>
                <a:ext uri="{FF2B5EF4-FFF2-40B4-BE49-F238E27FC236}">
                  <a16:creationId xmlns:a16="http://schemas.microsoft.com/office/drawing/2014/main" id="{A305EE9E-C3D5-AABC-74CF-C8A1C636F9E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915390" y="4055354"/>
              <a:ext cx="914400" cy="914400"/>
            </a:xfrm>
            <a:prstGeom prst="rect">
              <a:avLst/>
            </a:prstGeom>
          </p:spPr>
        </p:pic>
        <p:pic>
          <p:nvPicPr>
            <p:cNvPr id="25" name="Graphic 24" descr="Man with solid fill">
              <a:extLst>
                <a:ext uri="{FF2B5EF4-FFF2-40B4-BE49-F238E27FC236}">
                  <a16:creationId xmlns:a16="http://schemas.microsoft.com/office/drawing/2014/main" id="{F71FEFDC-E972-9B3F-75BB-65D91922B3F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165860" y="4055354"/>
              <a:ext cx="914400" cy="914400"/>
            </a:xfrm>
            <a:prstGeom prst="rect">
              <a:avLst/>
            </a:prstGeom>
          </p:spPr>
        </p:pic>
        <p:pic>
          <p:nvPicPr>
            <p:cNvPr id="26" name="Graphic 25" descr="Man with solid fill">
              <a:extLst>
                <a:ext uri="{FF2B5EF4-FFF2-40B4-BE49-F238E27FC236}">
                  <a16:creationId xmlns:a16="http://schemas.microsoft.com/office/drawing/2014/main" id="{09EB1851-E73A-2751-DF1E-94DB5FE99D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416330" y="4055354"/>
              <a:ext cx="914400" cy="914400"/>
            </a:xfrm>
            <a:prstGeom prst="rect">
              <a:avLst/>
            </a:prstGeom>
          </p:spPr>
        </p:pic>
        <p:pic>
          <p:nvPicPr>
            <p:cNvPr id="27" name="Graphic 26" descr="Man with solid fill">
              <a:extLst>
                <a:ext uri="{FF2B5EF4-FFF2-40B4-BE49-F238E27FC236}">
                  <a16:creationId xmlns:a16="http://schemas.microsoft.com/office/drawing/2014/main" id="{1EDB5389-C771-D006-EE73-36B7EFAFF12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66800" y="4055354"/>
              <a:ext cx="914400" cy="914400"/>
            </a:xfrm>
            <a:prstGeom prst="rect">
              <a:avLst/>
            </a:prstGeom>
          </p:spPr>
        </p:pic>
      </p:grpSp>
      <p:grpSp>
        <p:nvGrpSpPr>
          <p:cNvPr id="24" name="Group 23" descr="4 sticky notes, each with a 4-digit number arranged in ascending order. The numbers are 2861, 5528, 8562 and 9431.">
            <a:extLst>
              <a:ext uri="{FF2B5EF4-FFF2-40B4-BE49-F238E27FC236}">
                <a16:creationId xmlns:a16="http://schemas.microsoft.com/office/drawing/2014/main" id="{0E7808A0-C64F-392D-9025-10DA2C0AC57C}"/>
              </a:ext>
            </a:extLst>
          </p:cNvPr>
          <p:cNvGrpSpPr/>
          <p:nvPr/>
        </p:nvGrpSpPr>
        <p:grpSpPr>
          <a:xfrm>
            <a:off x="1174802" y="3662975"/>
            <a:ext cx="8868650" cy="2157058"/>
            <a:chOff x="6849707" y="4725930"/>
            <a:chExt cx="5010370" cy="1078601"/>
          </a:xfrm>
        </p:grpSpPr>
        <p:grpSp>
          <p:nvGrpSpPr>
            <p:cNvPr id="19" name="Group 18">
              <a:extLst>
                <a:ext uri="{FF2B5EF4-FFF2-40B4-BE49-F238E27FC236}">
                  <a16:creationId xmlns:a16="http://schemas.microsoft.com/office/drawing/2014/main" id="{179AD9CE-11C0-DA61-05B4-0D7F10216218}"/>
                </a:ext>
              </a:extLst>
            </p:cNvPr>
            <p:cNvGrpSpPr/>
            <p:nvPr/>
          </p:nvGrpSpPr>
          <p:grpSpPr>
            <a:xfrm>
              <a:off x="6849707" y="4725930"/>
              <a:ext cx="5010370" cy="1078601"/>
              <a:chOff x="6389213" y="4721900"/>
              <a:chExt cx="5433153" cy="1163278"/>
            </a:xfrm>
          </p:grpSpPr>
          <p:sp>
            <p:nvSpPr>
              <p:cNvPr id="14" name="Rectangle 13" descr="4 sticky notes, each with a 4-digit number arranged in ascending order. The numbers are 2861, 5528, 8562 and 9431.">
                <a:extLst>
                  <a:ext uri="{FF2B5EF4-FFF2-40B4-BE49-F238E27FC236}">
                    <a16:creationId xmlns:a16="http://schemas.microsoft.com/office/drawing/2014/main" id="{7598E231-101F-11DB-CDEB-039B7165CBFF}"/>
                  </a:ext>
                </a:extLst>
              </p:cNvPr>
              <p:cNvSpPr/>
              <p:nvPr/>
            </p:nvSpPr>
            <p:spPr>
              <a:xfrm>
                <a:off x="6389213" y="4721900"/>
                <a:ext cx="1233055" cy="1163278"/>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15" name="Rectangle 14">
                <a:extLst>
                  <a:ext uri="{FF2B5EF4-FFF2-40B4-BE49-F238E27FC236}">
                    <a16:creationId xmlns:a16="http://schemas.microsoft.com/office/drawing/2014/main" id="{76690108-7B18-63A4-D659-F207BCC8CFA5}"/>
                  </a:ext>
                </a:extLst>
              </p:cNvPr>
              <p:cNvSpPr/>
              <p:nvPr/>
            </p:nvSpPr>
            <p:spPr>
              <a:xfrm>
                <a:off x="7789246" y="4721900"/>
                <a:ext cx="1233055" cy="1163278"/>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AU" dirty="0"/>
              </a:p>
            </p:txBody>
          </p:sp>
          <p:sp>
            <p:nvSpPr>
              <p:cNvPr id="16" name="Rectangle 15">
                <a:extLst>
                  <a:ext uri="{FF2B5EF4-FFF2-40B4-BE49-F238E27FC236}">
                    <a16:creationId xmlns:a16="http://schemas.microsoft.com/office/drawing/2014/main" id="{7881F2B3-A5EB-5097-E01D-B74F86A572B9}"/>
                  </a:ext>
                </a:extLst>
              </p:cNvPr>
              <p:cNvSpPr/>
              <p:nvPr/>
            </p:nvSpPr>
            <p:spPr>
              <a:xfrm>
                <a:off x="9189278" y="4721900"/>
                <a:ext cx="1233055" cy="1163278"/>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17" name="Rectangle 16">
                <a:extLst>
                  <a:ext uri="{FF2B5EF4-FFF2-40B4-BE49-F238E27FC236}">
                    <a16:creationId xmlns:a16="http://schemas.microsoft.com/office/drawing/2014/main" id="{BB9FB038-4C92-D1BE-4460-0EC9A60539AE}"/>
                  </a:ext>
                </a:extLst>
              </p:cNvPr>
              <p:cNvSpPr/>
              <p:nvPr/>
            </p:nvSpPr>
            <p:spPr>
              <a:xfrm>
                <a:off x="10589311" y="4721900"/>
                <a:ext cx="1233055" cy="1163278"/>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AU"/>
              </a:p>
            </p:txBody>
          </p:sp>
        </p:grpSp>
        <p:sp>
          <p:nvSpPr>
            <p:cNvPr id="11" name="TextBox 10">
              <a:extLst>
                <a:ext uri="{FF2B5EF4-FFF2-40B4-BE49-F238E27FC236}">
                  <a16:creationId xmlns:a16="http://schemas.microsoft.com/office/drawing/2014/main" id="{0AE42FDE-6B67-8E73-DFE0-C326FC698E06}"/>
                </a:ext>
              </a:extLst>
            </p:cNvPr>
            <p:cNvSpPr txBox="1"/>
            <p:nvPr/>
          </p:nvSpPr>
          <p:spPr>
            <a:xfrm>
              <a:off x="7008677" y="5090044"/>
              <a:ext cx="819164" cy="339467"/>
            </a:xfrm>
            <a:prstGeom prst="rect">
              <a:avLst/>
            </a:prstGeom>
            <a:noFill/>
          </p:spPr>
          <p:txBody>
            <a:bodyPr wrap="square" lIns="0" tIns="0" rIns="0" bIns="0" rtlCol="0">
              <a:noAutofit/>
            </a:bodyPr>
            <a:lstStyle/>
            <a:p>
              <a:pPr algn="l"/>
              <a:r>
                <a:rPr lang="en-AU" sz="4800" dirty="0"/>
                <a:t>2861</a:t>
              </a:r>
              <a:endParaRPr lang="en-AU" sz="3200" dirty="0"/>
            </a:p>
          </p:txBody>
        </p:sp>
        <p:sp>
          <p:nvSpPr>
            <p:cNvPr id="12" name="TextBox 11">
              <a:extLst>
                <a:ext uri="{FF2B5EF4-FFF2-40B4-BE49-F238E27FC236}">
                  <a16:creationId xmlns:a16="http://schemas.microsoft.com/office/drawing/2014/main" id="{5D2B641A-3056-CA29-0F10-A5146B1E7A7A}"/>
                </a:ext>
              </a:extLst>
            </p:cNvPr>
            <p:cNvSpPr txBox="1"/>
            <p:nvPr/>
          </p:nvSpPr>
          <p:spPr>
            <a:xfrm>
              <a:off x="9635091" y="5093459"/>
              <a:ext cx="802082" cy="273809"/>
            </a:xfrm>
            <a:prstGeom prst="rect">
              <a:avLst/>
            </a:prstGeom>
            <a:noFill/>
          </p:spPr>
          <p:txBody>
            <a:bodyPr wrap="square" lIns="0" tIns="0" rIns="0" bIns="0" rtlCol="0">
              <a:noAutofit/>
            </a:bodyPr>
            <a:lstStyle/>
            <a:p>
              <a:r>
                <a:rPr lang="en-AU" sz="4800" dirty="0"/>
                <a:t>8562</a:t>
              </a:r>
            </a:p>
          </p:txBody>
        </p:sp>
        <p:sp>
          <p:nvSpPr>
            <p:cNvPr id="20" name="TextBox 19">
              <a:extLst>
                <a:ext uri="{FF2B5EF4-FFF2-40B4-BE49-F238E27FC236}">
                  <a16:creationId xmlns:a16="http://schemas.microsoft.com/office/drawing/2014/main" id="{CCA60BE0-C5DD-9B43-DDEE-63370C9ACDD7}"/>
                </a:ext>
              </a:extLst>
            </p:cNvPr>
            <p:cNvSpPr txBox="1"/>
            <p:nvPr/>
          </p:nvSpPr>
          <p:spPr>
            <a:xfrm>
              <a:off x="10853225" y="5105492"/>
              <a:ext cx="876599" cy="277224"/>
            </a:xfrm>
            <a:prstGeom prst="rect">
              <a:avLst/>
            </a:prstGeom>
            <a:noFill/>
          </p:spPr>
          <p:txBody>
            <a:bodyPr wrap="square" lIns="0" tIns="0" rIns="0" bIns="0" rtlCol="0">
              <a:noAutofit/>
            </a:bodyPr>
            <a:lstStyle/>
            <a:p>
              <a:r>
                <a:rPr lang="en-AU" sz="4800" dirty="0"/>
                <a:t>9431</a:t>
              </a:r>
            </a:p>
          </p:txBody>
        </p:sp>
        <p:sp>
          <p:nvSpPr>
            <p:cNvPr id="21" name="TextBox 20">
              <a:extLst>
                <a:ext uri="{FF2B5EF4-FFF2-40B4-BE49-F238E27FC236}">
                  <a16:creationId xmlns:a16="http://schemas.microsoft.com/office/drawing/2014/main" id="{39B47F8D-BB62-E472-E79B-0B4FA93C491E}"/>
                </a:ext>
              </a:extLst>
            </p:cNvPr>
            <p:cNvSpPr txBox="1"/>
            <p:nvPr/>
          </p:nvSpPr>
          <p:spPr>
            <a:xfrm>
              <a:off x="8333738" y="5095496"/>
              <a:ext cx="926222" cy="328562"/>
            </a:xfrm>
            <a:prstGeom prst="rect">
              <a:avLst/>
            </a:prstGeom>
            <a:noFill/>
          </p:spPr>
          <p:txBody>
            <a:bodyPr wrap="square" lIns="0" tIns="0" rIns="0" bIns="0" rtlCol="0">
              <a:noAutofit/>
            </a:bodyPr>
            <a:lstStyle/>
            <a:p>
              <a:r>
                <a:rPr lang="en-AU" sz="4800" dirty="0"/>
                <a:t>5528</a:t>
              </a:r>
            </a:p>
          </p:txBody>
        </p:sp>
      </p:grpSp>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45</a:t>
            </a:fld>
            <a:endParaRPr lang="en-AU"/>
          </a:p>
        </p:txBody>
      </p:sp>
    </p:spTree>
    <p:extLst>
      <p:ext uri="{BB962C8B-B14F-4D97-AF65-F5344CB8AC3E}">
        <p14:creationId xmlns:p14="http://schemas.microsoft.com/office/powerpoint/2010/main" val="954886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53E33-C376-9316-D79E-F1839BE9BE3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C9814B5-8402-1903-5B0E-89F1CBCBF51B}"/>
              </a:ext>
            </a:extLst>
          </p:cNvPr>
          <p:cNvSpPr>
            <a:spLocks noGrp="1"/>
          </p:cNvSpPr>
          <p:nvPr>
            <p:ph type="title"/>
          </p:nvPr>
        </p:nvSpPr>
        <p:spPr>
          <a:xfrm>
            <a:off x="360000" y="360000"/>
            <a:ext cx="10397115" cy="545601"/>
          </a:xfrm>
        </p:spPr>
        <p:txBody>
          <a:bodyPr/>
          <a:lstStyle/>
          <a:p>
            <a:r>
              <a:rPr lang="en-US" dirty="0"/>
              <a:t>Multiple choice </a:t>
            </a:r>
            <a:r>
              <a:rPr lang="en-US" dirty="0">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C493834B-1122-BF06-4664-175E7A7DB286}"/>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9E5118E7-BD4E-1C6F-9677-4C0228A02948}"/>
              </a:ext>
            </a:extLst>
          </p:cNvPr>
          <p:cNvSpPr>
            <a:spLocks noGrp="1"/>
          </p:cNvSpPr>
          <p:nvPr>
            <p:ph type="body" sz="quarter" idx="24"/>
          </p:nvPr>
        </p:nvSpPr>
        <p:spPr>
          <a:xfrm>
            <a:off x="791737" y="1083695"/>
            <a:ext cx="10031818" cy="3177754"/>
          </a:xfrm>
        </p:spPr>
        <p:txBody>
          <a:bodyPr/>
          <a:lstStyle/>
          <a:p>
            <a:pPr algn="ctr"/>
            <a:r>
              <a:rPr lang="en-US" sz="4400" dirty="0"/>
              <a:t>The next number in </a:t>
            </a:r>
            <a:r>
              <a:rPr lang="en-US" sz="4400" b="1" dirty="0"/>
              <a:t>ascending order </a:t>
            </a:r>
            <a:r>
              <a:rPr lang="en-US" sz="4400" dirty="0"/>
              <a:t>is</a:t>
            </a:r>
          </a:p>
          <a:p>
            <a:pPr algn="ctr"/>
            <a:r>
              <a:rPr lang="en-US" sz="5400" dirty="0"/>
              <a:t>1457,  1563,  1637,  </a:t>
            </a:r>
            <a:r>
              <a:rPr lang="en-US" sz="5400" b="1" dirty="0"/>
              <a:t>?</a:t>
            </a:r>
          </a:p>
        </p:txBody>
      </p:sp>
      <p:sp>
        <p:nvSpPr>
          <p:cNvPr id="9" name="TextBox 8">
            <a:extLst>
              <a:ext uri="{FF2B5EF4-FFF2-40B4-BE49-F238E27FC236}">
                <a16:creationId xmlns:a16="http://schemas.microsoft.com/office/drawing/2014/main" id="{8B9CE09D-4912-352C-EDD3-2F5B22293E2B}"/>
              </a:ext>
            </a:extLst>
          </p:cNvPr>
          <p:cNvSpPr txBox="1"/>
          <p:nvPr/>
        </p:nvSpPr>
        <p:spPr>
          <a:xfrm>
            <a:off x="975702" y="540383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5" name="TextBox 4">
            <a:extLst>
              <a:ext uri="{FF2B5EF4-FFF2-40B4-BE49-F238E27FC236}">
                <a16:creationId xmlns:a16="http://schemas.microsoft.com/office/drawing/2014/main" id="{5EED8729-2597-B90A-E3EC-27CD564DAE31}"/>
              </a:ext>
            </a:extLst>
          </p:cNvPr>
          <p:cNvSpPr txBox="1"/>
          <p:nvPr/>
        </p:nvSpPr>
        <p:spPr>
          <a:xfrm>
            <a:off x="1828003" y="5403833"/>
            <a:ext cx="1344234" cy="914400"/>
          </a:xfrm>
          <a:prstGeom prst="rect">
            <a:avLst/>
          </a:prstGeom>
          <a:noFill/>
        </p:spPr>
        <p:txBody>
          <a:bodyPr wrap="none" lIns="0" tIns="0" rIns="0" bIns="0" rtlCol="0">
            <a:noAutofit/>
          </a:bodyPr>
          <a:lstStyle/>
          <a:p>
            <a:pPr algn="l"/>
            <a:r>
              <a:rPr lang="en-AU" sz="4400" dirty="0"/>
              <a:t>1756</a:t>
            </a:r>
          </a:p>
        </p:txBody>
      </p:sp>
      <p:sp>
        <p:nvSpPr>
          <p:cNvPr id="10" name="TextBox 9">
            <a:extLst>
              <a:ext uri="{FF2B5EF4-FFF2-40B4-BE49-F238E27FC236}">
                <a16:creationId xmlns:a16="http://schemas.microsoft.com/office/drawing/2014/main" id="{6720C9BD-206D-1246-CC58-B94DA2A9FDA7}"/>
              </a:ext>
            </a:extLst>
          </p:cNvPr>
          <p:cNvSpPr txBox="1"/>
          <p:nvPr/>
        </p:nvSpPr>
        <p:spPr>
          <a:xfrm>
            <a:off x="3979675" y="540383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6" name="TextBox 5">
            <a:extLst>
              <a:ext uri="{FF2B5EF4-FFF2-40B4-BE49-F238E27FC236}">
                <a16:creationId xmlns:a16="http://schemas.microsoft.com/office/drawing/2014/main" id="{1EE70FA8-D2F1-20A0-DA8B-ECBE97AAE3DC}"/>
              </a:ext>
            </a:extLst>
          </p:cNvPr>
          <p:cNvSpPr txBox="1"/>
          <p:nvPr/>
        </p:nvSpPr>
        <p:spPr>
          <a:xfrm>
            <a:off x="4831976" y="5403833"/>
            <a:ext cx="1275944" cy="914400"/>
          </a:xfrm>
          <a:prstGeom prst="rect">
            <a:avLst/>
          </a:prstGeom>
          <a:noFill/>
        </p:spPr>
        <p:txBody>
          <a:bodyPr wrap="none" lIns="0" tIns="0" rIns="0" bIns="0" rtlCol="0">
            <a:noAutofit/>
          </a:bodyPr>
          <a:lstStyle/>
          <a:p>
            <a:pPr algn="l"/>
            <a:r>
              <a:rPr lang="en-AU" sz="4400" dirty="0"/>
              <a:t>172</a:t>
            </a:r>
          </a:p>
        </p:txBody>
      </p:sp>
      <p:sp>
        <p:nvSpPr>
          <p:cNvPr id="12" name="TextBox 11">
            <a:extLst>
              <a:ext uri="{FF2B5EF4-FFF2-40B4-BE49-F238E27FC236}">
                <a16:creationId xmlns:a16="http://schemas.microsoft.com/office/drawing/2014/main" id="{53D31413-FF78-7189-1A0F-0B12F84CC32D}"/>
              </a:ext>
            </a:extLst>
          </p:cNvPr>
          <p:cNvSpPr txBox="1"/>
          <p:nvPr/>
        </p:nvSpPr>
        <p:spPr>
          <a:xfrm>
            <a:off x="6718934" y="540383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7" name="TextBox 6">
            <a:extLst>
              <a:ext uri="{FF2B5EF4-FFF2-40B4-BE49-F238E27FC236}">
                <a16:creationId xmlns:a16="http://schemas.microsoft.com/office/drawing/2014/main" id="{D457A1DF-3312-D120-7DA6-436A340ADAE4}"/>
              </a:ext>
            </a:extLst>
          </p:cNvPr>
          <p:cNvSpPr txBox="1"/>
          <p:nvPr/>
        </p:nvSpPr>
        <p:spPr>
          <a:xfrm>
            <a:off x="7380108" y="5413943"/>
            <a:ext cx="1455948" cy="914400"/>
          </a:xfrm>
          <a:prstGeom prst="rect">
            <a:avLst/>
          </a:prstGeom>
          <a:noFill/>
        </p:spPr>
        <p:txBody>
          <a:bodyPr wrap="none" lIns="0" tIns="0" rIns="0" bIns="0" rtlCol="0">
            <a:noAutofit/>
          </a:bodyPr>
          <a:lstStyle/>
          <a:p>
            <a:pPr algn="l"/>
            <a:r>
              <a:rPr lang="en-AU" sz="4400" dirty="0"/>
              <a:t>1794</a:t>
            </a:r>
          </a:p>
        </p:txBody>
      </p:sp>
      <p:sp>
        <p:nvSpPr>
          <p:cNvPr id="11" name="TextBox 10">
            <a:extLst>
              <a:ext uri="{FF2B5EF4-FFF2-40B4-BE49-F238E27FC236}">
                <a16:creationId xmlns:a16="http://schemas.microsoft.com/office/drawing/2014/main" id="{F03294A5-CB62-91E6-0D20-1199ECBFAF01}"/>
              </a:ext>
            </a:extLst>
          </p:cNvPr>
          <p:cNvSpPr txBox="1"/>
          <p:nvPr/>
        </p:nvSpPr>
        <p:spPr>
          <a:xfrm>
            <a:off x="9566696" y="540383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8" name="TextBox 7">
            <a:extLst>
              <a:ext uri="{FF2B5EF4-FFF2-40B4-BE49-F238E27FC236}">
                <a16:creationId xmlns:a16="http://schemas.microsoft.com/office/drawing/2014/main" id="{41E3BBEF-9073-0175-1771-9ACBC3C0F846}"/>
              </a:ext>
            </a:extLst>
          </p:cNvPr>
          <p:cNvSpPr txBox="1"/>
          <p:nvPr/>
        </p:nvSpPr>
        <p:spPr>
          <a:xfrm>
            <a:off x="10227870" y="5413943"/>
            <a:ext cx="1385824" cy="914400"/>
          </a:xfrm>
          <a:prstGeom prst="rect">
            <a:avLst/>
          </a:prstGeom>
          <a:noFill/>
        </p:spPr>
        <p:txBody>
          <a:bodyPr wrap="none" lIns="0" tIns="0" rIns="0" bIns="0" rtlCol="0">
            <a:noAutofit/>
          </a:bodyPr>
          <a:lstStyle/>
          <a:p>
            <a:pPr algn="l"/>
            <a:r>
              <a:rPr lang="en-AU" sz="4400" dirty="0"/>
              <a:t>777</a:t>
            </a:r>
          </a:p>
        </p:txBody>
      </p:sp>
      <p:sp>
        <p:nvSpPr>
          <p:cNvPr id="2" name="Slide Number Placeholder 1">
            <a:extLst>
              <a:ext uri="{FF2B5EF4-FFF2-40B4-BE49-F238E27FC236}">
                <a16:creationId xmlns:a16="http://schemas.microsoft.com/office/drawing/2014/main" id="{FF35F4CD-8487-40BA-C995-9F75C9273AD3}"/>
              </a:ext>
            </a:extLst>
          </p:cNvPr>
          <p:cNvSpPr>
            <a:spLocks noGrp="1"/>
          </p:cNvSpPr>
          <p:nvPr>
            <p:ph type="sldNum" sz="quarter" idx="12"/>
          </p:nvPr>
        </p:nvSpPr>
        <p:spPr>
          <a:xfrm>
            <a:off x="11253694" y="6606761"/>
            <a:ext cx="720000" cy="180000"/>
          </a:xfrm>
        </p:spPr>
        <p:txBody>
          <a:bodyPr/>
          <a:lstStyle/>
          <a:p>
            <a:fld id="{10A01DC5-1685-4615-8240-15192985C6A2}" type="slidenum">
              <a:rPr lang="en-AU" smtClean="0"/>
              <a:t>47</a:t>
            </a:fld>
            <a:endParaRPr lang="en-AU"/>
          </a:p>
        </p:txBody>
      </p:sp>
    </p:spTree>
    <p:extLst>
      <p:ext uri="{BB962C8B-B14F-4D97-AF65-F5344CB8AC3E}">
        <p14:creationId xmlns:p14="http://schemas.microsoft.com/office/powerpoint/2010/main" val="192852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(25)</a:t>
            </a:r>
          </a:p>
        </p:txBody>
      </p:sp>
      <p:pic>
        <p:nvPicPr>
          <p:cNvPr id="3" name="Picture 2" descr="image of a clipboard with a pencil recording short answer responses">
            <a:extLst>
              <a:ext uri="{FF2B5EF4-FFF2-40B4-BE49-F238E27FC236}">
                <a16:creationId xmlns:a16="http://schemas.microsoft.com/office/drawing/2014/main" id="{3BDDE108-B743-E59F-31B4-5F4FCBC7EB6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2D0F2B9E-DF00-39B6-C645-F320A99770F8}"/>
              </a:ext>
            </a:extLst>
          </p:cNvPr>
          <p:cNvSpPr txBox="1"/>
          <p:nvPr/>
        </p:nvSpPr>
        <p:spPr>
          <a:xfrm>
            <a:off x="142240" y="1761816"/>
            <a:ext cx="1037812" cy="1067747"/>
          </a:xfrm>
          <a:prstGeom prst="rect">
            <a:avLst/>
          </a:prstGeom>
          <a:noFill/>
        </p:spPr>
        <p:txBody>
          <a:bodyPr wrap="square" lIns="0" tIns="0" rIns="0" bIns="0" rtlCol="0">
            <a:noAutofit/>
          </a:bodyPr>
          <a:lstStyle/>
          <a:p>
            <a:pPr algn="ctr">
              <a:lnSpc>
                <a:spcPct val="150000"/>
              </a:lnSpc>
            </a:pPr>
            <a:r>
              <a:rPr lang="en-AU" sz="4400" dirty="0"/>
              <a:t>A</a:t>
            </a:r>
          </a:p>
          <a:p>
            <a:pPr algn="ctr"/>
            <a:endParaRPr lang="en-AU" sz="4400" dirty="0"/>
          </a:p>
          <a:p>
            <a:pPr algn="ctr"/>
            <a:endParaRPr lang="en-AU" sz="4400" dirty="0"/>
          </a:p>
        </p:txBody>
      </p:sp>
      <p:pic>
        <p:nvPicPr>
          <p:cNvPr id="9" name="Picture 8" descr="An analog clock with the hour hand pointing to the 6 and the minute hand pointing to the  minute line before the number 2.  (Showing 6:09)">
            <a:extLst>
              <a:ext uri="{FF2B5EF4-FFF2-40B4-BE49-F238E27FC236}">
                <a16:creationId xmlns:a16="http://schemas.microsoft.com/office/drawing/2014/main" id="{5EB5BF4C-7E9A-8103-69C6-04E4EF4F93C6}"/>
              </a:ext>
            </a:extLst>
          </p:cNvPr>
          <p:cNvPicPr>
            <a:picLocks noChangeAspect="1"/>
          </p:cNvPicPr>
          <p:nvPr/>
        </p:nvPicPr>
        <p:blipFill>
          <a:blip r:embed="rId4"/>
          <a:srcRect b="66845"/>
          <a:stretch>
            <a:fillRect/>
          </a:stretch>
        </p:blipFill>
        <p:spPr>
          <a:xfrm>
            <a:off x="1037812" y="1034622"/>
            <a:ext cx="2519927" cy="2484000"/>
          </a:xfrm>
          <a:prstGeom prst="rect">
            <a:avLst/>
          </a:prstGeom>
        </p:spPr>
      </p:pic>
      <p:sp>
        <p:nvSpPr>
          <p:cNvPr id="7" name="TextBox 6">
            <a:extLst>
              <a:ext uri="{FF2B5EF4-FFF2-40B4-BE49-F238E27FC236}">
                <a16:creationId xmlns:a16="http://schemas.microsoft.com/office/drawing/2014/main" id="{D5B6D41F-83B3-50AB-F12D-1DE2DC32953C}"/>
              </a:ext>
            </a:extLst>
          </p:cNvPr>
          <p:cNvSpPr txBox="1"/>
          <p:nvPr/>
        </p:nvSpPr>
        <p:spPr>
          <a:xfrm>
            <a:off x="142240" y="4154137"/>
            <a:ext cx="1037812" cy="1067747"/>
          </a:xfrm>
          <a:prstGeom prst="rect">
            <a:avLst/>
          </a:prstGeom>
          <a:noFill/>
        </p:spPr>
        <p:txBody>
          <a:bodyPr wrap="square" lIns="0" tIns="0" rIns="0" bIns="0" rtlCol="0">
            <a:noAutofit/>
          </a:bodyPr>
          <a:lstStyle/>
          <a:p>
            <a:pPr algn="ctr">
              <a:lnSpc>
                <a:spcPct val="150000"/>
              </a:lnSpc>
            </a:pPr>
            <a:r>
              <a:rPr lang="en-AU" sz="4400" dirty="0"/>
              <a:t>B</a:t>
            </a:r>
          </a:p>
          <a:p>
            <a:pPr algn="ctr"/>
            <a:endParaRPr lang="en-AU" sz="4400" dirty="0"/>
          </a:p>
          <a:p>
            <a:pPr algn="ctr"/>
            <a:endParaRPr lang="en-AU" sz="4400" dirty="0"/>
          </a:p>
        </p:txBody>
      </p:sp>
      <p:pic>
        <p:nvPicPr>
          <p:cNvPr id="4" name="Picture 3" descr="An analog clock with the hour hand pointing to the 2 and the minute hand pointing to the line 2 minutes past the number 10. (Showing 1:52) ">
            <a:extLst>
              <a:ext uri="{FF2B5EF4-FFF2-40B4-BE49-F238E27FC236}">
                <a16:creationId xmlns:a16="http://schemas.microsoft.com/office/drawing/2014/main" id="{BD90A81F-C0A6-D996-4B18-02DCD35D0E52}"/>
              </a:ext>
            </a:extLst>
          </p:cNvPr>
          <p:cNvPicPr>
            <a:picLocks noChangeAspect="1"/>
          </p:cNvPicPr>
          <p:nvPr/>
        </p:nvPicPr>
        <p:blipFill>
          <a:blip r:embed="rId4"/>
          <a:srcRect t="66140"/>
          <a:stretch>
            <a:fillRect/>
          </a:stretch>
        </p:blipFill>
        <p:spPr>
          <a:xfrm>
            <a:off x="1037812" y="3728718"/>
            <a:ext cx="2467437" cy="2484000"/>
          </a:xfrm>
          <a:prstGeom prst="rect">
            <a:avLst/>
          </a:prstGeom>
        </p:spPr>
      </p:pic>
      <p:sp>
        <p:nvSpPr>
          <p:cNvPr id="8" name="TextBox 7">
            <a:extLst>
              <a:ext uri="{FF2B5EF4-FFF2-40B4-BE49-F238E27FC236}">
                <a16:creationId xmlns:a16="http://schemas.microsoft.com/office/drawing/2014/main" id="{FC251F31-F26A-9387-4D3F-976F6A18BD68}"/>
              </a:ext>
            </a:extLst>
          </p:cNvPr>
          <p:cNvSpPr txBox="1"/>
          <p:nvPr/>
        </p:nvSpPr>
        <p:spPr>
          <a:xfrm>
            <a:off x="3530579" y="1761816"/>
            <a:ext cx="7854816" cy="3334368"/>
          </a:xfrm>
          <a:prstGeom prst="rect">
            <a:avLst/>
          </a:prstGeom>
          <a:noFill/>
        </p:spPr>
        <p:txBody>
          <a:bodyPr wrap="square" lIns="0" tIns="0" rIns="0" bIns="0" rtlCol="0">
            <a:noAutofit/>
          </a:bodyPr>
          <a:lstStyle/>
          <a:p>
            <a:pPr algn="ctr">
              <a:lnSpc>
                <a:spcPct val="150000"/>
              </a:lnSpc>
            </a:pPr>
            <a:r>
              <a:rPr lang="en-AU" sz="4400" dirty="0"/>
              <a:t>Record these </a:t>
            </a:r>
            <a:r>
              <a:rPr lang="en-AU" sz="4400" b="1" dirty="0"/>
              <a:t>analog</a:t>
            </a:r>
            <a:r>
              <a:rPr lang="en-AU" sz="4400" dirty="0"/>
              <a:t> times as: </a:t>
            </a:r>
          </a:p>
          <a:p>
            <a:pPr marL="571500" indent="-571500" algn="ctr">
              <a:lnSpc>
                <a:spcPct val="150000"/>
              </a:lnSpc>
              <a:buFont typeface="Arial" panose="020B0604020202020204" pitchFamily="34" charset="0"/>
              <a:buChar char="•"/>
            </a:pPr>
            <a:r>
              <a:rPr lang="en-AU" sz="4400" dirty="0"/>
              <a:t>a </a:t>
            </a:r>
            <a:r>
              <a:rPr lang="en-AU" sz="4400" b="1" dirty="0"/>
              <a:t>digital </a:t>
            </a:r>
            <a:r>
              <a:rPr lang="en-AU" sz="4400" dirty="0"/>
              <a:t>display</a:t>
            </a:r>
            <a:r>
              <a:rPr lang="en-AU" sz="4400" b="1" dirty="0"/>
              <a:t> </a:t>
            </a:r>
            <a:endParaRPr lang="en-AU" sz="4400" dirty="0"/>
          </a:p>
          <a:p>
            <a:pPr marL="571500" indent="-571500" algn="ctr">
              <a:lnSpc>
                <a:spcPct val="150000"/>
              </a:lnSpc>
              <a:buFont typeface="Arial" panose="020B0604020202020204" pitchFamily="34" charset="0"/>
              <a:buChar char="•"/>
            </a:pPr>
            <a:r>
              <a:rPr lang="en-AU" sz="4400" dirty="0"/>
              <a:t>in </a:t>
            </a:r>
            <a:r>
              <a:rPr lang="en-AU" sz="4400" b="1" dirty="0"/>
              <a:t>words.</a:t>
            </a:r>
            <a:endParaRPr lang="en-AU" sz="4400" dirty="0"/>
          </a:p>
          <a:p>
            <a:pPr algn="ctr"/>
            <a:endParaRPr lang="en-AU" sz="4400" dirty="0"/>
          </a:p>
          <a:p>
            <a:pPr algn="ctr"/>
            <a:endParaRPr lang="en-AU" sz="4400" dirty="0"/>
          </a:p>
        </p:txBody>
      </p: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48</a:t>
            </a:fld>
            <a:endParaRPr lang="en-AU" dirty="0"/>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(26)</a:t>
            </a:r>
          </a:p>
        </p:txBody>
      </p:sp>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pic>
        <p:nvPicPr>
          <p:cNvPr id="3" name="Picture 2" descr="image of a clipboard with a pencil recording short answer responses">
            <a:extLst>
              <a:ext uri="{FF2B5EF4-FFF2-40B4-BE49-F238E27FC236}">
                <a16:creationId xmlns:a16="http://schemas.microsoft.com/office/drawing/2014/main" id="{5DACDB15-40FB-10CA-304C-024754D6DBA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EC695BC0-2BC0-8F5D-6541-A389F817899D}"/>
              </a:ext>
            </a:extLst>
          </p:cNvPr>
          <p:cNvSpPr txBox="1"/>
          <p:nvPr/>
        </p:nvSpPr>
        <p:spPr>
          <a:xfrm>
            <a:off x="469701" y="1058001"/>
            <a:ext cx="10855523" cy="5531276"/>
          </a:xfrm>
          <a:prstGeom prst="rect">
            <a:avLst/>
          </a:prstGeom>
          <a:noFill/>
        </p:spPr>
        <p:txBody>
          <a:bodyPr wrap="square" lIns="0" tIns="0" rIns="0" bIns="0" rtlCol="0">
            <a:noAutofit/>
          </a:bodyPr>
          <a:lstStyle/>
          <a:p>
            <a:pPr algn="ctr">
              <a:lnSpc>
                <a:spcPct val="150000"/>
              </a:lnSpc>
            </a:pPr>
            <a:r>
              <a:rPr lang="en-AU" sz="4000" dirty="0"/>
              <a:t>Lily has </a:t>
            </a:r>
            <a:r>
              <a:rPr lang="en-AU" sz="4000" b="1" dirty="0"/>
              <a:t>460</a:t>
            </a:r>
            <a:r>
              <a:rPr lang="en-AU" sz="4000" dirty="0"/>
              <a:t> chocolates to sell. She has sold </a:t>
            </a:r>
            <a:r>
              <a:rPr lang="en-AU" sz="4000" b="1" dirty="0"/>
              <a:t>243</a:t>
            </a:r>
            <a:r>
              <a:rPr lang="en-AU" sz="4000" dirty="0"/>
              <a:t>. </a:t>
            </a:r>
            <a:r>
              <a:rPr lang="en-AU" sz="4000" b="1" dirty="0"/>
              <a:t>How many more </a:t>
            </a:r>
            <a:r>
              <a:rPr lang="en-AU" sz="4000" dirty="0"/>
              <a:t>chocolates does Lily need to sell? </a:t>
            </a:r>
          </a:p>
          <a:p>
            <a:pPr algn="ctr">
              <a:lnSpc>
                <a:spcPct val="150000"/>
              </a:lnSpc>
            </a:pPr>
            <a:r>
              <a:rPr lang="en-AU" sz="4000" dirty="0"/>
              <a:t>Communicate the </a:t>
            </a:r>
            <a:r>
              <a:rPr lang="en-AU" sz="4000" b="1" dirty="0"/>
              <a:t>strategy</a:t>
            </a:r>
            <a:r>
              <a:rPr lang="en-AU" sz="4000" dirty="0"/>
              <a:t> used to solve the problem.</a:t>
            </a:r>
            <a:endParaRPr lang="en-AU" dirty="0"/>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(27)</a:t>
            </a:r>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pic>
        <p:nvPicPr>
          <p:cNvPr id="3" name="Picture 2" descr="image of a clipboard with a pencil recording short answer responses">
            <a:extLst>
              <a:ext uri="{FF2B5EF4-FFF2-40B4-BE49-F238E27FC236}">
                <a16:creationId xmlns:a16="http://schemas.microsoft.com/office/drawing/2014/main" id="{6F1984CA-3815-83E6-2CEF-D3AC5609C15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9A975A04-B51C-1CBE-F7E2-4BDBBB510BA8}"/>
              </a:ext>
            </a:extLst>
          </p:cNvPr>
          <p:cNvSpPr txBox="1"/>
          <p:nvPr/>
        </p:nvSpPr>
        <p:spPr>
          <a:xfrm>
            <a:off x="1053548" y="1021105"/>
            <a:ext cx="10084904" cy="4456218"/>
          </a:xfrm>
          <a:prstGeom prst="rect">
            <a:avLst/>
          </a:prstGeom>
          <a:noFill/>
        </p:spPr>
        <p:txBody>
          <a:bodyPr wrap="square" lIns="0" tIns="0" rIns="0" bIns="0" rtlCol="0">
            <a:noAutofit/>
          </a:bodyPr>
          <a:lstStyle/>
          <a:p>
            <a:pPr algn="ctr">
              <a:lnSpc>
                <a:spcPct val="150000"/>
              </a:lnSpc>
            </a:pPr>
            <a:r>
              <a:rPr lang="en-AU" sz="4400" dirty="0"/>
              <a:t>Record the </a:t>
            </a:r>
            <a:r>
              <a:rPr lang="en-AU" sz="4400" b="1" dirty="0"/>
              <a:t>missing</a:t>
            </a:r>
            <a:r>
              <a:rPr lang="en-AU" sz="4400" dirty="0"/>
              <a:t> numbers in the </a:t>
            </a:r>
            <a:r>
              <a:rPr lang="en-AU" sz="4400" b="1" dirty="0"/>
              <a:t>pattern</a:t>
            </a:r>
            <a:r>
              <a:rPr lang="en-AU" sz="4400" dirty="0"/>
              <a:t> and </a:t>
            </a:r>
            <a:r>
              <a:rPr lang="en-AU" sz="4400" b="1" dirty="0"/>
              <a:t>explain</a:t>
            </a:r>
            <a:r>
              <a:rPr lang="en-AU" sz="4400" dirty="0"/>
              <a:t> your thinking.</a:t>
            </a:r>
          </a:p>
          <a:p>
            <a:pPr algn="ctr">
              <a:lnSpc>
                <a:spcPct val="150000"/>
              </a:lnSpc>
            </a:pPr>
            <a:endParaRPr lang="en-AU" sz="4400" dirty="0"/>
          </a:p>
          <a:p>
            <a:pPr algn="ctr">
              <a:lnSpc>
                <a:spcPct val="150000"/>
              </a:lnSpc>
            </a:pPr>
            <a:r>
              <a:rPr lang="en-AU" sz="6000" dirty="0"/>
              <a:t>6, 12, 18, </a:t>
            </a:r>
            <a:r>
              <a:rPr lang="en-AU" sz="6000" b="1" dirty="0"/>
              <a:t>__, __, </a:t>
            </a:r>
            <a:r>
              <a:rPr lang="en-AU" sz="6000" dirty="0"/>
              <a:t>36, </a:t>
            </a:r>
            <a:r>
              <a:rPr lang="en-AU" sz="6000" b="1" dirty="0"/>
              <a:t>__</a:t>
            </a:r>
            <a:r>
              <a:rPr lang="en-AU" sz="6000" dirty="0"/>
              <a:t>, 42</a:t>
            </a:r>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(28)</a:t>
            </a:r>
          </a:p>
        </p:txBody>
      </p:sp>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pic>
        <p:nvPicPr>
          <p:cNvPr id="3" name="Picture 2" descr="image of a clipboard with a pencil recording short answer responses">
            <a:extLst>
              <a:ext uri="{FF2B5EF4-FFF2-40B4-BE49-F238E27FC236}">
                <a16:creationId xmlns:a16="http://schemas.microsoft.com/office/drawing/2014/main" id="{981E4643-C0C9-5325-74DA-A071DDDC65A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4F023C6C-F66A-33E5-3F38-10B3F0208882}"/>
              </a:ext>
            </a:extLst>
          </p:cNvPr>
          <p:cNvSpPr txBox="1"/>
          <p:nvPr/>
        </p:nvSpPr>
        <p:spPr>
          <a:xfrm>
            <a:off x="1368659" y="937429"/>
            <a:ext cx="9454682" cy="5045164"/>
          </a:xfrm>
          <a:prstGeom prst="rect">
            <a:avLst/>
          </a:prstGeom>
          <a:noFill/>
        </p:spPr>
        <p:txBody>
          <a:bodyPr wrap="square">
            <a:spAutoFit/>
          </a:bodyPr>
          <a:lstStyle/>
          <a:p>
            <a:pPr algn="ctr">
              <a:lnSpc>
                <a:spcPct val="150000"/>
              </a:lnSpc>
            </a:pPr>
            <a:r>
              <a:rPr lang="en-AU" sz="4400" dirty="0"/>
              <a:t>Record the time </a:t>
            </a:r>
            <a:r>
              <a:rPr lang="en-AU" sz="4400" b="1" dirty="0"/>
              <a:t>half an hour after </a:t>
            </a:r>
            <a:r>
              <a:rPr lang="en-AU" sz="4400" dirty="0"/>
              <a:t>the following times:</a:t>
            </a:r>
          </a:p>
          <a:p>
            <a:pPr marL="571500" indent="-571500" algn="ctr">
              <a:lnSpc>
                <a:spcPct val="150000"/>
              </a:lnSpc>
              <a:buFont typeface="Arial" panose="020B0604020202020204" pitchFamily="34" charset="0"/>
              <a:buChar char="•"/>
            </a:pPr>
            <a:r>
              <a:rPr lang="en-AU" sz="4400" dirty="0"/>
              <a:t>10:30 am</a:t>
            </a:r>
          </a:p>
          <a:p>
            <a:pPr marL="571500" indent="-571500" algn="ctr">
              <a:lnSpc>
                <a:spcPct val="150000"/>
              </a:lnSpc>
              <a:buFont typeface="Arial" panose="020B0604020202020204" pitchFamily="34" charset="0"/>
              <a:buChar char="•"/>
            </a:pPr>
            <a:r>
              <a:rPr lang="en-AU" sz="4400" dirty="0"/>
              <a:t>seven o’clock</a:t>
            </a:r>
          </a:p>
          <a:p>
            <a:pPr marL="571500" indent="-571500" algn="ctr">
              <a:lnSpc>
                <a:spcPct val="150000"/>
              </a:lnSpc>
              <a:buFont typeface="Arial" panose="020B0604020202020204" pitchFamily="34" charset="0"/>
              <a:buChar char="•"/>
            </a:pPr>
            <a:r>
              <a:rPr lang="en-AU" sz="4400" dirty="0"/>
              <a:t>a quarter past eight</a:t>
            </a:r>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0301515" cy="545601"/>
          </a:xfrm>
        </p:spPr>
        <p:txBody>
          <a:bodyPr/>
          <a:lstStyle/>
          <a:p>
            <a:r>
              <a:rPr lang="en-AU" dirty="0">
                <a:latin typeface="Arial"/>
                <a:cs typeface="Arial"/>
              </a:rPr>
              <a:t>Activity 7 – rearranging digits changes the size of a number</a:t>
            </a:r>
          </a:p>
        </p:txBody>
      </p:sp>
      <p:pic>
        <p:nvPicPr>
          <p:cNvPr id="4" name="Picture 3" descr="image of a head with cogs turning inside">
            <a:extLst>
              <a:ext uri="{FF2B5EF4-FFF2-40B4-BE49-F238E27FC236}">
                <a16:creationId xmlns:a16="http://schemas.microsoft.com/office/drawing/2014/main" id="{917B7BC2-4A35-92B8-6574-96F25B44FD45}"/>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4" descr="Gameboard with 19 blank squares from 1000 to 9999.">
            <a:extLst>
              <a:ext uri="{FF2B5EF4-FFF2-40B4-BE49-F238E27FC236}">
                <a16:creationId xmlns:a16="http://schemas.microsoft.com/office/drawing/2014/main" id="{13B7A4D3-8A68-0331-C7C3-82F45C6FD898}"/>
              </a:ext>
            </a:extLst>
          </p:cNvPr>
          <p:cNvPicPr>
            <a:picLocks noChangeAspect="1"/>
          </p:cNvPicPr>
          <p:nvPr/>
        </p:nvPicPr>
        <p:blipFill>
          <a:blip r:embed="rId4"/>
          <a:stretch>
            <a:fillRect/>
          </a:stretch>
        </p:blipFill>
        <p:spPr>
          <a:xfrm>
            <a:off x="3690122" y="905601"/>
            <a:ext cx="4317056" cy="5706507"/>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52</a:t>
            </a:fld>
            <a:endParaRPr lang="en-AU"/>
          </a:p>
        </p:txBody>
      </p:sp>
    </p:spTree>
    <p:extLst>
      <p:ext uri="{BB962C8B-B14F-4D97-AF65-F5344CB8AC3E}">
        <p14:creationId xmlns:p14="http://schemas.microsoft.com/office/powerpoint/2010/main" val="2705431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dirty="0"/>
              <a:t>True or false </a:t>
            </a:r>
            <a:r>
              <a:rPr lang="en-US" dirty="0">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64B989F8-67C4-FE7B-CC90-5BE7E2CD867D}"/>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474480" y="1203039"/>
            <a:ext cx="11243037" cy="2619980"/>
          </a:xfrm>
        </p:spPr>
        <p:txBody>
          <a:bodyPr/>
          <a:lstStyle/>
          <a:p>
            <a:pPr algn="ctr"/>
            <a:r>
              <a:rPr lang="en-AU" sz="4400" dirty="0"/>
              <a:t>These numbers are in the </a:t>
            </a:r>
            <a:r>
              <a:rPr lang="en-AU" sz="4400" b="1" dirty="0"/>
              <a:t>ascending order</a:t>
            </a:r>
            <a:r>
              <a:rPr lang="en-AU" sz="4400" dirty="0"/>
              <a:t>:</a:t>
            </a:r>
          </a:p>
          <a:p>
            <a:pPr algn="ctr"/>
            <a:r>
              <a:rPr lang="en-AU" sz="6000" dirty="0"/>
              <a:t>2640,  2604,  4040,  4004</a:t>
            </a:r>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1762755275"/>
              </p:ext>
            </p:extLst>
          </p:nvPr>
        </p:nvGraphicFramePr>
        <p:xfrm>
          <a:off x="2442981" y="4120457"/>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5" name="Text Placeholder 5">
            <a:extLst>
              <a:ext uri="{FF2B5EF4-FFF2-40B4-BE49-F238E27FC236}">
                <a16:creationId xmlns:a16="http://schemas.microsoft.com/office/drawing/2014/main" id="{DC714247-288D-BEAC-465C-6781E75DBFD9}"/>
              </a:ext>
            </a:extLst>
          </p:cNvPr>
          <p:cNvSpPr txBox="1">
            <a:spLocks/>
          </p:cNvSpPr>
          <p:nvPr/>
        </p:nvSpPr>
        <p:spPr>
          <a:xfrm>
            <a:off x="2080417" y="5457872"/>
            <a:ext cx="8031164" cy="1040128"/>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dirty="0"/>
              <a:t>Communicate</a:t>
            </a:r>
            <a:r>
              <a:rPr lang="en-AU" sz="4400" dirty="0"/>
              <a:t> your </a:t>
            </a:r>
            <a:r>
              <a:rPr lang="en-AU" sz="4400" b="1" dirty="0"/>
              <a:t>reasoning</a:t>
            </a:r>
            <a:r>
              <a:rPr lang="en-AU" sz="4400" dirty="0"/>
              <a:t>.</a:t>
            </a:r>
          </a:p>
        </p:txBody>
      </p:sp>
      <p:sp>
        <p:nvSpPr>
          <p:cNvPr id="2" name="Slide Number Placeholder 1">
            <a:extLst>
              <a:ext uri="{FF2B5EF4-FFF2-40B4-BE49-F238E27FC236}">
                <a16:creationId xmlns:a16="http://schemas.microsoft.com/office/drawing/2014/main" id="{9D3A219B-EA44-A8FA-5624-110943E229E9}"/>
              </a:ext>
            </a:extLst>
          </p:cNvPr>
          <p:cNvSpPr>
            <a:spLocks noGrp="1"/>
          </p:cNvSpPr>
          <p:nvPr>
            <p:ph type="sldNum" sz="quarter" idx="12"/>
          </p:nvPr>
        </p:nvSpPr>
        <p:spPr/>
        <p:txBody>
          <a:bodyPr/>
          <a:lstStyle/>
          <a:p>
            <a:fld id="{10A01DC5-1685-4615-8240-15192985C6A2}" type="slidenum">
              <a:rPr lang="en-AU" smtClean="0"/>
              <a:t>54</a:t>
            </a:fld>
            <a:endParaRPr lang="en-AU"/>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(29)</a:t>
            </a:r>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pic>
        <p:nvPicPr>
          <p:cNvPr id="3" name="Picture 2" descr="image of a clipboard with a pencil recording short answer responses">
            <a:extLst>
              <a:ext uri="{FF2B5EF4-FFF2-40B4-BE49-F238E27FC236}">
                <a16:creationId xmlns:a16="http://schemas.microsoft.com/office/drawing/2014/main" id="{4A6BDB97-E652-19FE-8B5C-2AD4CC92796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F79DF644-6D9B-0117-760D-4E21275A7E7D}"/>
              </a:ext>
            </a:extLst>
          </p:cNvPr>
          <p:cNvSpPr txBox="1"/>
          <p:nvPr/>
        </p:nvSpPr>
        <p:spPr>
          <a:xfrm>
            <a:off x="912366" y="1283961"/>
            <a:ext cx="10367267" cy="4290078"/>
          </a:xfrm>
          <a:prstGeom prst="rect">
            <a:avLst/>
          </a:prstGeom>
          <a:noFill/>
        </p:spPr>
        <p:txBody>
          <a:bodyPr wrap="square" lIns="0" tIns="0" rIns="0" bIns="0" rtlCol="0">
            <a:noAutofit/>
          </a:bodyPr>
          <a:lstStyle/>
          <a:p>
            <a:pPr algn="ctr">
              <a:lnSpc>
                <a:spcPct val="150000"/>
              </a:lnSpc>
            </a:pPr>
            <a:r>
              <a:rPr lang="en-AU" sz="4400" dirty="0"/>
              <a:t>The time on a </a:t>
            </a:r>
            <a:r>
              <a:rPr lang="en-AU" sz="4400" b="1" dirty="0"/>
              <a:t>digital clock </a:t>
            </a:r>
            <a:r>
              <a:rPr lang="en-AU" sz="4400" dirty="0"/>
              <a:t>reads</a:t>
            </a:r>
          </a:p>
          <a:p>
            <a:pPr algn="ctr">
              <a:lnSpc>
                <a:spcPct val="150000"/>
              </a:lnSpc>
            </a:pPr>
            <a:r>
              <a:rPr lang="en-AU" sz="6600" b="1" dirty="0"/>
              <a:t>7:34 pm</a:t>
            </a:r>
          </a:p>
          <a:p>
            <a:pPr algn="ctr">
              <a:lnSpc>
                <a:spcPct val="150000"/>
              </a:lnSpc>
            </a:pPr>
            <a:r>
              <a:rPr lang="en-AU" sz="4400" dirty="0"/>
              <a:t>How many </a:t>
            </a:r>
            <a:r>
              <a:rPr lang="en-AU" sz="4400" b="1" dirty="0"/>
              <a:t>minutes</a:t>
            </a:r>
            <a:r>
              <a:rPr lang="en-AU" sz="4400" dirty="0"/>
              <a:t> are there until the </a:t>
            </a:r>
            <a:r>
              <a:rPr lang="en-AU" sz="4400" b="1" dirty="0"/>
              <a:t>next hour</a:t>
            </a:r>
            <a:r>
              <a:rPr lang="en-AU" sz="4400" dirty="0"/>
              <a:t>?</a:t>
            </a:r>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(30)</a:t>
            </a:r>
          </a:p>
        </p:txBody>
      </p:sp>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pic>
        <p:nvPicPr>
          <p:cNvPr id="3" name="Picture 2" descr="image of a clipboard with a pencil recording short answer responses">
            <a:extLst>
              <a:ext uri="{FF2B5EF4-FFF2-40B4-BE49-F238E27FC236}">
                <a16:creationId xmlns:a16="http://schemas.microsoft.com/office/drawing/2014/main" id="{D48B7122-4823-634E-9085-7F5757ED186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DE5B9146-9C12-95FE-94C3-A8CC3FDE92C4}"/>
              </a:ext>
            </a:extLst>
          </p:cNvPr>
          <p:cNvSpPr txBox="1"/>
          <p:nvPr/>
        </p:nvSpPr>
        <p:spPr>
          <a:xfrm>
            <a:off x="566169" y="923601"/>
            <a:ext cx="10677524" cy="5592399"/>
          </a:xfrm>
          <a:prstGeom prst="rect">
            <a:avLst/>
          </a:prstGeom>
          <a:noFill/>
        </p:spPr>
        <p:txBody>
          <a:bodyPr wrap="square" lIns="0" tIns="0" rIns="0" bIns="0" rtlCol="0">
            <a:noAutofit/>
          </a:bodyPr>
          <a:lstStyle/>
          <a:p>
            <a:pPr algn="ctr">
              <a:lnSpc>
                <a:spcPct val="150000"/>
              </a:lnSpc>
            </a:pPr>
            <a:r>
              <a:rPr lang="en-AU" sz="4200" dirty="0"/>
              <a:t>Ruby plans to walk </a:t>
            </a:r>
            <a:r>
              <a:rPr lang="en-AU" sz="4200" b="1" dirty="0"/>
              <a:t>287 kilometres </a:t>
            </a:r>
            <a:r>
              <a:rPr lang="en-AU" sz="4200" dirty="0"/>
              <a:t>across the month to raise money for charity. She has </a:t>
            </a:r>
            <a:r>
              <a:rPr lang="en-AU" sz="4200" b="1" dirty="0"/>
              <a:t>already walked 48 kilometres</a:t>
            </a:r>
            <a:r>
              <a:rPr lang="en-AU" sz="4200" dirty="0"/>
              <a:t>.</a:t>
            </a:r>
          </a:p>
          <a:p>
            <a:pPr algn="ctr">
              <a:lnSpc>
                <a:spcPct val="150000"/>
              </a:lnSpc>
            </a:pPr>
            <a:r>
              <a:rPr lang="en-AU" sz="4200" dirty="0"/>
              <a:t>How many kilometres does Ruby </a:t>
            </a:r>
            <a:r>
              <a:rPr lang="en-AU" sz="4200" b="1" dirty="0"/>
              <a:t>have left to walk</a:t>
            </a:r>
            <a:r>
              <a:rPr lang="en-AU" sz="4200" dirty="0"/>
              <a:t>?</a:t>
            </a:r>
          </a:p>
          <a:p>
            <a:pPr algn="ctr">
              <a:lnSpc>
                <a:spcPct val="150000"/>
              </a:lnSpc>
            </a:pPr>
            <a:r>
              <a:rPr lang="en-AU" sz="4200" b="1" dirty="0"/>
              <a:t>Communicate</a:t>
            </a:r>
            <a:r>
              <a:rPr lang="en-AU" sz="4200" dirty="0"/>
              <a:t> your </a:t>
            </a:r>
            <a:r>
              <a:rPr lang="en-AU" sz="4200" b="1" dirty="0"/>
              <a:t>strategy</a:t>
            </a:r>
            <a:r>
              <a:rPr lang="en-AU" sz="4200" dirty="0"/>
              <a:t>.</a:t>
            </a:r>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(31)</a:t>
            </a:r>
          </a:p>
        </p:txBody>
      </p:sp>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pic>
        <p:nvPicPr>
          <p:cNvPr id="3" name="Picture 2" descr="image of a clipboard with a pencil recording short answer responses">
            <a:extLst>
              <a:ext uri="{FF2B5EF4-FFF2-40B4-BE49-F238E27FC236}">
                <a16:creationId xmlns:a16="http://schemas.microsoft.com/office/drawing/2014/main" id="{77944112-784D-22C3-1462-ED0056915B9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9" name="TextBox 18">
            <a:extLst>
              <a:ext uri="{FF2B5EF4-FFF2-40B4-BE49-F238E27FC236}">
                <a16:creationId xmlns:a16="http://schemas.microsoft.com/office/drawing/2014/main" id="{8DE001A6-BF68-B848-27EA-78D92A9C6A47}"/>
              </a:ext>
            </a:extLst>
          </p:cNvPr>
          <p:cNvSpPr txBox="1"/>
          <p:nvPr/>
        </p:nvSpPr>
        <p:spPr>
          <a:xfrm>
            <a:off x="723337" y="1373060"/>
            <a:ext cx="10997113" cy="1094522"/>
          </a:xfrm>
          <a:prstGeom prst="rect">
            <a:avLst/>
          </a:prstGeom>
          <a:noFill/>
        </p:spPr>
        <p:txBody>
          <a:bodyPr wrap="square" lIns="0" tIns="0" rIns="0" bIns="0" rtlCol="0">
            <a:noAutofit/>
          </a:bodyPr>
          <a:lstStyle/>
          <a:p>
            <a:pPr algn="ctr">
              <a:lnSpc>
                <a:spcPct val="150000"/>
              </a:lnSpc>
            </a:pPr>
            <a:r>
              <a:rPr lang="en-AU" sz="4400" b="1" dirty="0"/>
              <a:t>Record</a:t>
            </a:r>
            <a:r>
              <a:rPr lang="en-AU" sz="4400" dirty="0"/>
              <a:t> all </a:t>
            </a:r>
            <a:r>
              <a:rPr lang="en-AU" sz="4400" b="1" dirty="0"/>
              <a:t>multiplication</a:t>
            </a:r>
            <a:r>
              <a:rPr lang="en-AU" sz="4400" dirty="0"/>
              <a:t> and </a:t>
            </a:r>
            <a:r>
              <a:rPr lang="en-AU" sz="4400" b="1" dirty="0"/>
              <a:t>division</a:t>
            </a:r>
            <a:r>
              <a:rPr lang="en-AU" sz="4400" dirty="0"/>
              <a:t> facts from this </a:t>
            </a:r>
            <a:r>
              <a:rPr lang="en-AU" sz="4400" b="1" dirty="0"/>
              <a:t>array</a:t>
            </a:r>
            <a:r>
              <a:rPr lang="en-AU" sz="4400" dirty="0"/>
              <a:t>.</a:t>
            </a:r>
          </a:p>
        </p:txBody>
      </p:sp>
      <p:pic>
        <p:nvPicPr>
          <p:cNvPr id="20" name="Picture 19" descr="An array showing 2 rows of 6 purple circles.">
            <a:extLst>
              <a:ext uri="{FF2B5EF4-FFF2-40B4-BE49-F238E27FC236}">
                <a16:creationId xmlns:a16="http://schemas.microsoft.com/office/drawing/2014/main" id="{1F076CAC-7EF1-3193-2CE1-837636752731}"/>
              </a:ext>
            </a:extLst>
          </p:cNvPr>
          <p:cNvPicPr>
            <a:picLocks noChangeAspect="1"/>
          </p:cNvPicPr>
          <p:nvPr/>
        </p:nvPicPr>
        <p:blipFill>
          <a:blip r:embed="rId4"/>
          <a:stretch>
            <a:fillRect/>
          </a:stretch>
        </p:blipFill>
        <p:spPr>
          <a:xfrm>
            <a:off x="3497363" y="3975829"/>
            <a:ext cx="5449060" cy="1943371"/>
          </a:xfrm>
          <a:prstGeom prst="rect">
            <a:avLst/>
          </a:prstGeom>
        </p:spPr>
      </p:pic>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(32)</a:t>
            </a:r>
          </a:p>
        </p:txBody>
      </p:sp>
      <p:pic>
        <p:nvPicPr>
          <p:cNvPr id="3" name="Picture 2" descr="image of a clipboard with a pencil recording short answer responses">
            <a:extLst>
              <a:ext uri="{FF2B5EF4-FFF2-40B4-BE49-F238E27FC236}">
                <a16:creationId xmlns:a16="http://schemas.microsoft.com/office/drawing/2014/main" id="{850D1A9D-F8AF-AA84-34F9-CCDC3026C740}"/>
              </a:ext>
            </a:extLst>
          </p:cNvPr>
          <p:cNvPicPr>
            <a:picLocks noChangeAspect="1"/>
          </p:cNvPicPr>
          <p:nvPr/>
        </p:nvPicPr>
        <p:blipFill>
          <a:blip r:embed="rId3"/>
          <a:stretch>
            <a:fillRect/>
          </a:stretch>
        </p:blipFill>
        <p:spPr>
          <a:xfrm>
            <a:off x="11026250" y="85487"/>
            <a:ext cx="915500" cy="915500"/>
          </a:xfrm>
          <a:prstGeom prst="rect">
            <a:avLst/>
          </a:prstGeom>
        </p:spPr>
      </p:pic>
      <p:sp>
        <p:nvSpPr>
          <p:cNvPr id="4" name="TextBox 3">
            <a:extLst>
              <a:ext uri="{FF2B5EF4-FFF2-40B4-BE49-F238E27FC236}">
                <a16:creationId xmlns:a16="http://schemas.microsoft.com/office/drawing/2014/main" id="{928D7620-C302-B68A-77DB-455ABA45002E}"/>
              </a:ext>
            </a:extLst>
          </p:cNvPr>
          <p:cNvSpPr txBox="1"/>
          <p:nvPr/>
        </p:nvSpPr>
        <p:spPr>
          <a:xfrm>
            <a:off x="1744295" y="905601"/>
            <a:ext cx="9379705" cy="1729780"/>
          </a:xfrm>
          <a:prstGeom prst="rect">
            <a:avLst/>
          </a:prstGeom>
          <a:noFill/>
        </p:spPr>
        <p:txBody>
          <a:bodyPr wrap="square" lIns="0" tIns="0" rIns="0" bIns="0" rtlCol="0">
            <a:noAutofit/>
          </a:bodyPr>
          <a:lstStyle/>
          <a:p>
            <a:pPr algn="ctr">
              <a:lnSpc>
                <a:spcPct val="150000"/>
              </a:lnSpc>
            </a:pPr>
            <a:r>
              <a:rPr lang="en-AU" sz="4400" dirty="0"/>
              <a:t>Which capital letters of the alphabet have </a:t>
            </a:r>
            <a:r>
              <a:rPr lang="en-AU" sz="4400" b="1" dirty="0"/>
              <a:t>one line of symmetry</a:t>
            </a:r>
            <a:r>
              <a:rPr lang="en-AU" sz="4400" dirty="0"/>
              <a:t>?</a:t>
            </a:r>
          </a:p>
          <a:p>
            <a:endParaRPr lang="en-AU" sz="4400" dirty="0"/>
          </a:p>
          <a:p>
            <a:pPr algn="l"/>
            <a:endParaRPr lang="en-AU" sz="1800" dirty="0"/>
          </a:p>
        </p:txBody>
      </p:sp>
      <p:pic>
        <p:nvPicPr>
          <p:cNvPr id="7" name="Picture 6" descr="The alphabet written in capital letters.">
            <a:extLst>
              <a:ext uri="{FF2B5EF4-FFF2-40B4-BE49-F238E27FC236}">
                <a16:creationId xmlns:a16="http://schemas.microsoft.com/office/drawing/2014/main" id="{15086E33-B31B-C269-0441-6F9E9A6EE3BE}"/>
              </a:ext>
            </a:extLst>
          </p:cNvPr>
          <p:cNvPicPr>
            <a:picLocks noChangeAspect="1"/>
          </p:cNvPicPr>
          <p:nvPr/>
        </p:nvPicPr>
        <p:blipFill>
          <a:blip r:embed="rId4"/>
          <a:stretch>
            <a:fillRect/>
          </a:stretch>
        </p:blipFill>
        <p:spPr>
          <a:xfrm>
            <a:off x="2427225" y="3038151"/>
            <a:ext cx="8013843" cy="3567849"/>
          </a:xfrm>
          <a:prstGeom prst="rect">
            <a:avLst/>
          </a:prstGeom>
          <a:effectLst>
            <a:outerShdw blurRad="63500" sx="102000" sy="102000" algn="ctr" rotWithShape="0">
              <a:prstClr val="black">
                <a:alpha val="40000"/>
              </a:prstClr>
            </a:outerShdw>
          </a:effectLst>
        </p:spPr>
      </p:pic>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58</a:t>
            </a:fld>
            <a:endParaRPr lang="en-AU"/>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8BE72-E328-C3EB-B159-D766F7FB155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3C3B8E1-7A59-763C-27BC-6C73233F1AF3}"/>
              </a:ext>
            </a:extLst>
          </p:cNvPr>
          <p:cNvSpPr>
            <a:spLocks noGrp="1"/>
          </p:cNvSpPr>
          <p:nvPr>
            <p:ph type="title"/>
          </p:nvPr>
        </p:nvSpPr>
        <p:spPr/>
        <p:txBody>
          <a:bodyPr/>
          <a:lstStyle/>
          <a:p>
            <a:r>
              <a:rPr lang="en-AU" dirty="0">
                <a:latin typeface="Arial"/>
                <a:cs typeface="Arial"/>
              </a:rPr>
              <a:t>Activity 8 – ascending order misconception</a:t>
            </a:r>
          </a:p>
        </p:txBody>
      </p:sp>
      <p:pic>
        <p:nvPicPr>
          <p:cNvPr id="4" name="Picture 3" descr="A person standing in front of a row of squares with green text&#10;The numbers in the 4 squares say 4390, 4309, 6090 and 6009. The text says &quot;Has Maya placed these numbers in the correct order? Why or why not?&quot;">
            <a:extLst>
              <a:ext uri="{FF2B5EF4-FFF2-40B4-BE49-F238E27FC236}">
                <a16:creationId xmlns:a16="http://schemas.microsoft.com/office/drawing/2014/main" id="{56471257-1E5E-FD53-7F76-52F63C154869}"/>
              </a:ext>
            </a:extLst>
          </p:cNvPr>
          <p:cNvPicPr>
            <a:picLocks noChangeAspect="1"/>
          </p:cNvPicPr>
          <p:nvPr/>
        </p:nvPicPr>
        <p:blipFill rotWithShape="1">
          <a:blip r:embed="rId3"/>
          <a:srcRect t="31132" b="5990"/>
          <a:stretch>
            <a:fillRect/>
          </a:stretch>
        </p:blipFill>
        <p:spPr bwMode="auto">
          <a:xfrm>
            <a:off x="1823980" y="1128625"/>
            <a:ext cx="8331697" cy="5164350"/>
          </a:xfrm>
          <a:prstGeom prst="rect">
            <a:avLst/>
          </a:prstGeom>
          <a:ln>
            <a:noFill/>
          </a:ln>
          <a:extLst>
            <a:ext uri="{53640926-AAD7-44D8-BBD7-CCE9431645EC}">
              <a14:shadowObscured xmlns:a14="http://schemas.microsoft.com/office/drawing/2010/main"/>
            </a:ext>
          </a:extLst>
        </p:spPr>
      </p:pic>
      <p:sp>
        <p:nvSpPr>
          <p:cNvPr id="2" name="Slide Number Placeholder 1">
            <a:extLst>
              <a:ext uri="{FF2B5EF4-FFF2-40B4-BE49-F238E27FC236}">
                <a16:creationId xmlns:a16="http://schemas.microsoft.com/office/drawing/2014/main" id="{811F373B-4B78-82A6-2555-20A62125E8EB}"/>
              </a:ext>
            </a:extLst>
          </p:cNvPr>
          <p:cNvSpPr>
            <a:spLocks noGrp="1"/>
          </p:cNvSpPr>
          <p:nvPr>
            <p:ph type="sldNum" sz="quarter" idx="12"/>
          </p:nvPr>
        </p:nvSpPr>
        <p:spPr/>
        <p:txBody>
          <a:bodyPr/>
          <a:lstStyle/>
          <a:p>
            <a:fld id="{10A01DC5-1685-4615-8240-15192985C6A2}" type="slidenum">
              <a:rPr lang="en-AU" smtClean="0"/>
              <a:t>59</a:t>
            </a:fld>
            <a:endParaRPr lang="en-AU"/>
          </a:p>
        </p:txBody>
      </p:sp>
      <p:pic>
        <p:nvPicPr>
          <p:cNvPr id="5" name="Picture 4" descr="image of a head with cogs turning inside">
            <a:extLst>
              <a:ext uri="{FF2B5EF4-FFF2-40B4-BE49-F238E27FC236}">
                <a16:creationId xmlns:a16="http://schemas.microsoft.com/office/drawing/2014/main" id="{53F0ABEF-E239-3AE5-2F2E-47F69C56EDE9}"/>
              </a:ext>
            </a:extLst>
          </p:cNvPr>
          <p:cNvPicPr>
            <a:picLocks noChangeAspect="1"/>
          </p:cNvPicPr>
          <p:nvPr/>
        </p:nvPicPr>
        <p:blipFill>
          <a:blip r:embed="rId4"/>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541055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 uri="{C183D7F6-B498-43B3-948B-1728B52AA6E4}">
                <adec:decorative xmlns:adec="http://schemas.microsoft.com/office/drawing/2017/decorative" val="1"/>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 uri="{C183D7F6-B498-43B3-948B-1728B52AA6E4}">
                <adec:decorative xmlns:adec="http://schemas.microsoft.com/office/drawing/2017/decorative" val="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 uri="{C183D7F6-B498-43B3-948B-1728B52AA6E4}">
                <adec:decorative xmlns:adec="http://schemas.microsoft.com/office/drawing/2017/decorative" val="1"/>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 uri="{C183D7F6-B498-43B3-948B-1728B52AA6E4}">
                <adec:decorative xmlns:adec="http://schemas.microsoft.com/office/drawing/2017/decorative" val="1"/>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 uri="{C183D7F6-B498-43B3-948B-1728B52AA6E4}">
                <adec:decorative xmlns:adec="http://schemas.microsoft.com/office/drawing/2017/decorative" val="1"/>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 uri="{C183D7F6-B498-43B3-948B-1728B52AA6E4}">
                <adec:decorative xmlns:adec="http://schemas.microsoft.com/office/drawing/2017/decorative" val="1"/>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 uri="{C183D7F6-B498-43B3-948B-1728B52AA6E4}">
                <adec:decorative xmlns:adec="http://schemas.microsoft.com/office/drawing/2017/decorative" val="1"/>
              </a:ext>
            </a:extLst>
          </p:cNvPr>
          <p:cNvSpPr>
            <a:spLocks noGrp="1"/>
          </p:cNvSpPr>
          <p:nvPr>
            <p:ph type="title"/>
          </p:nvPr>
        </p:nvSpPr>
        <p:spPr/>
        <p:txBody>
          <a:bodyPr/>
          <a:lstStyle/>
          <a:p>
            <a:r>
              <a:rPr lang="en-AU">
                <a:latin typeface="+mj-lt"/>
              </a:rPr>
              <a:t>Spider map</a:t>
            </a:r>
          </a:p>
        </p:txBody>
      </p:sp>
      <p:sp>
        <p:nvSpPr>
          <p:cNvPr id="4" name="Google Shape;124;p17">
            <a:extLst>
              <a:ext uri="{FF2B5EF4-FFF2-40B4-BE49-F238E27FC236}">
                <a16:creationId xmlns:a16="http://schemas.microsoft.com/office/drawing/2014/main" id="{B2F3C6A1-3F2E-1BE6-7182-F224BC265587}"/>
              </a:ext>
              <a:ext uri="{C183D7F6-B498-43B3-948B-1728B52AA6E4}">
                <adec:decorative xmlns:adec="http://schemas.microsoft.com/office/drawing/2017/decorative" val="1"/>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a:extLst>
              <a:ext uri="{FF2B5EF4-FFF2-40B4-BE49-F238E27FC236}">
                <a16:creationId xmlns:a16="http://schemas.microsoft.com/office/drawing/2014/main" id="{407D636A-5897-673F-FD31-EE27AAB7F3C7}"/>
              </a:ext>
              <a:ext uri="{C183D7F6-B498-43B3-948B-1728B52AA6E4}">
                <adec:decorative xmlns:adec="http://schemas.microsoft.com/office/drawing/2017/decorative" val="1"/>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 uri="{C183D7F6-B498-43B3-948B-1728B52AA6E4}">
                <adec:decorative xmlns:adec="http://schemas.microsoft.com/office/drawing/2017/decorative" val="1"/>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 uri="{C183D7F6-B498-43B3-948B-1728B52AA6E4}">
                <adec:decorative xmlns:adec="http://schemas.microsoft.com/office/drawing/2017/decorative" val="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 uri="{C183D7F6-B498-43B3-948B-1728B52AA6E4}">
                <adec:decorative xmlns:adec="http://schemas.microsoft.com/office/drawing/2017/decorative" val="1"/>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 uri="{C183D7F6-B498-43B3-948B-1728B52AA6E4}">
                <adec:decorative xmlns:adec="http://schemas.microsoft.com/office/drawing/2017/decorative" val="1"/>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 uri="{C183D7F6-B498-43B3-948B-1728B52AA6E4}">
                <adec:decorative xmlns:adec="http://schemas.microsoft.com/office/drawing/2017/decorative" val="1"/>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 uri="{C183D7F6-B498-43B3-948B-1728B52AA6E4}">
                <adec:decorative xmlns:adec="http://schemas.microsoft.com/office/drawing/2017/decorative" val="1"/>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 uri="{C183D7F6-B498-43B3-948B-1728B52AA6E4}">
                <adec:decorative xmlns:adec="http://schemas.microsoft.com/office/drawing/2017/decorative" val="1"/>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 uri="{C183D7F6-B498-43B3-948B-1728B52AA6E4}">
                <adec:decorative xmlns:adec="http://schemas.microsoft.com/office/drawing/2017/decorative" val="1"/>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 uri="{C183D7F6-B498-43B3-948B-1728B52AA6E4}">
                <adec:decorative xmlns:adec="http://schemas.microsoft.com/office/drawing/2017/decorative" val="1"/>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 uri="{C183D7F6-B498-43B3-948B-1728B52AA6E4}">
                <adec:decorative xmlns:adec="http://schemas.microsoft.com/office/drawing/2017/decorative" val="1"/>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 uri="{C183D7F6-B498-43B3-948B-1728B52AA6E4}">
                <adec:decorative xmlns:adec="http://schemas.microsoft.com/office/drawing/2017/decorative" val="1"/>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 uri="{C183D7F6-B498-43B3-948B-1728B52AA6E4}">
                <adec:decorative xmlns:adec="http://schemas.microsoft.com/office/drawing/2017/decorative" val="1"/>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 uri="{C183D7F6-B498-43B3-948B-1728B52AA6E4}">
                <adec:decorative xmlns:adec="http://schemas.microsoft.com/office/drawing/2017/decorative" val="1"/>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 uri="{C183D7F6-B498-43B3-948B-1728B52AA6E4}">
                <adec:decorative xmlns:adec="http://schemas.microsoft.com/office/drawing/2017/decorative" val="1"/>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F98F811F-90F9-6EF5-D718-C527F19B166A}"/>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93E9645-0D96-A57E-C0D8-3B2B5635236C}"/>
              </a:ext>
            </a:extLst>
          </p:cNvPr>
          <p:cNvSpPr>
            <a:spLocks noGrp="1"/>
          </p:cNvSpPr>
          <p:nvPr>
            <p:ph type="title"/>
          </p:nvPr>
        </p:nvSpPr>
        <p:spPr/>
        <p:txBody>
          <a:bodyPr/>
          <a:lstStyle/>
          <a:p>
            <a:r>
              <a:rPr lang="en-US"/>
              <a:t>Multiple choice </a:t>
            </a:r>
            <a:r>
              <a:rPr lang="en-US">
                <a:solidFill>
                  <a:schemeClr val="bg1"/>
                </a:solidFill>
              </a:rPr>
              <a:t>(6)</a:t>
            </a:r>
          </a:p>
        </p:txBody>
      </p:sp>
      <p:sp>
        <p:nvSpPr>
          <p:cNvPr id="15" name="Text Placeholder 14">
            <a:extLst>
              <a:ext uri="{FF2B5EF4-FFF2-40B4-BE49-F238E27FC236}">
                <a16:creationId xmlns:a16="http://schemas.microsoft.com/office/drawing/2014/main" id="{6B9A183C-33B3-4568-C43F-096BAC3A3E3A}"/>
              </a:ext>
            </a:extLst>
          </p:cNvPr>
          <p:cNvSpPr>
            <a:spLocks noGrp="1"/>
          </p:cNvSpPr>
          <p:nvPr>
            <p:ph type="body" sz="quarter" idx="28"/>
          </p:nvPr>
        </p:nvSpPr>
        <p:spPr>
          <a:xfrm>
            <a:off x="360000" y="1625945"/>
            <a:ext cx="11243037" cy="754243"/>
          </a:xfrm>
        </p:spPr>
        <p:txBody>
          <a:bodyPr/>
          <a:lstStyle/>
          <a:p>
            <a:endParaRPr lang="en-US"/>
          </a:p>
        </p:txBody>
      </p:sp>
      <p:sp>
        <p:nvSpPr>
          <p:cNvPr id="9" name="TextBox 8">
            <a:extLst>
              <a:ext uri="{FF2B5EF4-FFF2-40B4-BE49-F238E27FC236}">
                <a16:creationId xmlns:a16="http://schemas.microsoft.com/office/drawing/2014/main" id="{17539DAC-4E92-AFE5-86E8-50C88518EFA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Text Placeholder 17">
            <a:extLst>
              <a:ext uri="{FF2B5EF4-FFF2-40B4-BE49-F238E27FC236}">
                <a16:creationId xmlns:a16="http://schemas.microsoft.com/office/drawing/2014/main" id="{DD9E4C8E-C942-2FA4-6AAC-B2B3D321FC2F}"/>
              </a:ext>
            </a:extLst>
          </p:cNvPr>
          <p:cNvSpPr>
            <a:spLocks noGrp="1"/>
          </p:cNvSpPr>
          <p:nvPr>
            <p:ph type="body" sz="quarter" idx="31"/>
          </p:nvPr>
        </p:nvSpPr>
        <p:spPr>
          <a:xfrm>
            <a:off x="1345520" y="2877704"/>
            <a:ext cx="10175920" cy="641396"/>
          </a:xfrm>
        </p:spPr>
        <p:txBody>
          <a:bodyPr/>
          <a:lstStyle/>
          <a:p>
            <a:endParaRPr lang="en-US"/>
          </a:p>
        </p:txBody>
      </p:sp>
      <p:sp>
        <p:nvSpPr>
          <p:cNvPr id="10" name="TextBox 9">
            <a:extLst>
              <a:ext uri="{FF2B5EF4-FFF2-40B4-BE49-F238E27FC236}">
                <a16:creationId xmlns:a16="http://schemas.microsoft.com/office/drawing/2014/main" id="{0E33B1A6-4106-9E75-7645-88335BABE19D}"/>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Text Placeholder 16">
            <a:extLst>
              <a:ext uri="{FF2B5EF4-FFF2-40B4-BE49-F238E27FC236}">
                <a16:creationId xmlns:a16="http://schemas.microsoft.com/office/drawing/2014/main" id="{5E4A5EB3-F414-A07E-B091-A6903C289403}"/>
              </a:ext>
            </a:extLst>
          </p:cNvPr>
          <p:cNvSpPr>
            <a:spLocks noGrp="1"/>
          </p:cNvSpPr>
          <p:nvPr>
            <p:ph type="body" sz="quarter" idx="30"/>
          </p:nvPr>
        </p:nvSpPr>
        <p:spPr>
          <a:xfrm>
            <a:off x="1345520" y="3725617"/>
            <a:ext cx="10175920" cy="641396"/>
          </a:xfrm>
        </p:spPr>
        <p:txBody>
          <a:bodyPr/>
          <a:lstStyle/>
          <a:p>
            <a:endParaRPr lang="en-US"/>
          </a:p>
        </p:txBody>
      </p:sp>
      <p:sp>
        <p:nvSpPr>
          <p:cNvPr id="12" name="TextBox 11">
            <a:extLst>
              <a:ext uri="{FF2B5EF4-FFF2-40B4-BE49-F238E27FC236}">
                <a16:creationId xmlns:a16="http://schemas.microsoft.com/office/drawing/2014/main" id="{7E4BDDCB-88AF-EC45-6F07-05B50A0060D2}"/>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Text Placeholder 15">
            <a:extLst>
              <a:ext uri="{FF2B5EF4-FFF2-40B4-BE49-F238E27FC236}">
                <a16:creationId xmlns:a16="http://schemas.microsoft.com/office/drawing/2014/main" id="{E2AEB52E-AFAA-8A1C-4AC0-681B940D0160}"/>
              </a:ext>
            </a:extLst>
          </p:cNvPr>
          <p:cNvSpPr>
            <a:spLocks noGrp="1"/>
          </p:cNvSpPr>
          <p:nvPr>
            <p:ph type="body" sz="quarter" idx="29"/>
          </p:nvPr>
        </p:nvSpPr>
        <p:spPr>
          <a:xfrm>
            <a:off x="1345520" y="4575670"/>
            <a:ext cx="10175920" cy="641396"/>
          </a:xfrm>
        </p:spPr>
        <p:txBody>
          <a:bodyPr/>
          <a:lstStyle/>
          <a:p>
            <a:endParaRPr lang="en-US"/>
          </a:p>
        </p:txBody>
      </p:sp>
      <p:sp>
        <p:nvSpPr>
          <p:cNvPr id="11" name="TextBox 10">
            <a:extLst>
              <a:ext uri="{FF2B5EF4-FFF2-40B4-BE49-F238E27FC236}">
                <a16:creationId xmlns:a16="http://schemas.microsoft.com/office/drawing/2014/main" id="{28ADB1A3-D5FD-9EC3-BED8-5982F1544E0E}"/>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Text Placeholder 13">
            <a:extLst>
              <a:ext uri="{FF2B5EF4-FFF2-40B4-BE49-F238E27FC236}">
                <a16:creationId xmlns:a16="http://schemas.microsoft.com/office/drawing/2014/main" id="{AB4F46E8-39CC-516C-AA47-44AFBB8D4DF4}"/>
              </a:ext>
            </a:extLst>
          </p:cNvPr>
          <p:cNvSpPr>
            <a:spLocks noGrp="1"/>
          </p:cNvSpPr>
          <p:nvPr>
            <p:ph type="body" sz="quarter" idx="27"/>
          </p:nvPr>
        </p:nvSpPr>
        <p:spPr>
          <a:xfrm>
            <a:off x="1345520" y="5425723"/>
            <a:ext cx="10175920" cy="641396"/>
          </a:xfrm>
        </p:spPr>
        <p:txBody>
          <a:bodyPr/>
          <a:lstStyle/>
          <a:p>
            <a:endParaRPr lang="en-US"/>
          </a:p>
        </p:txBody>
      </p:sp>
      <p:sp>
        <p:nvSpPr>
          <p:cNvPr id="2" name="Slide Number Placeholder 1">
            <a:extLst>
              <a:ext uri="{FF2B5EF4-FFF2-40B4-BE49-F238E27FC236}">
                <a16:creationId xmlns:a16="http://schemas.microsoft.com/office/drawing/2014/main" id="{3FE470CA-37B9-5866-8D09-298FF55EE989}"/>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101963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2">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3">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4">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vert="horz" lIns="0" tIns="0" rIns="0" bIns="0" rtlCol="0" anchor="t">
            <a:noAutofit/>
          </a:bodyPr>
          <a:lstStyle/>
          <a:p>
            <a:r>
              <a:rPr lang="en-AU" u="sng" dirty="0">
                <a:hlinkClick r:id="rId5"/>
              </a:rPr>
              <a:t>Mathematics K–10 Syllabus</a:t>
            </a:r>
            <a:r>
              <a:rPr lang="en-AU" dirty="0"/>
              <a:t> © NSW Education Standards Authority (NESA) for and on behalf of the Crown in right of the State of New South Wales, 2022.</a:t>
            </a:r>
          </a:p>
          <a:p>
            <a:r>
              <a:rPr lang="en-AU" u="sng" dirty="0">
                <a:hlinkClick r:id="rId6"/>
              </a:rPr>
              <a:t>National Numeracy Learning Progression</a:t>
            </a:r>
            <a:r>
              <a:rPr lang="en-AU" dirty="0"/>
              <a:t> © Australian Curriculum, Assessment and Reporting Authority (ACARA) 2010 to present, unless otherwise indicated. This material was downloaded from the </a:t>
            </a:r>
            <a:r>
              <a:rPr lang="en-AU" u="sng" dirty="0">
                <a:hlinkClick r:id="rId7"/>
              </a:rPr>
              <a:t>Australian Curriculum</a:t>
            </a:r>
            <a:r>
              <a:rPr lang="en-AU" dirty="0"/>
              <a:t> website (National Numeracy Learning Progression) (accessed 22 July 2025) and was not modified.</a:t>
            </a:r>
          </a:p>
          <a:p>
            <a:r>
              <a:rPr lang="en-AU" dirty="0"/>
              <a:t>Sullivan P (2018) </a:t>
            </a:r>
            <a:r>
              <a:rPr lang="en-AU" i="1" dirty="0"/>
              <a:t>Challenging Mathematical tasks: Unlocking the potential of all students</a:t>
            </a:r>
            <a:r>
              <a:rPr lang="en-AU" dirty="0"/>
              <a:t>, Oxford University Press Australia and New Zealand.</a:t>
            </a:r>
          </a:p>
          <a:p>
            <a:r>
              <a:rPr lang="en-AU" dirty="0"/>
              <a:t>Toy </a:t>
            </a:r>
            <a:r>
              <a:rPr lang="en-AU" dirty="0" err="1"/>
              <a:t>Theater</a:t>
            </a:r>
            <a:r>
              <a:rPr lang="en-AU" dirty="0"/>
              <a:t> (2001-2023) </a:t>
            </a:r>
            <a:r>
              <a:rPr lang="en-AU" i="1" u="sng" dirty="0">
                <a:hlinkClick r:id="rId8"/>
              </a:rPr>
              <a:t>Analog</a:t>
            </a:r>
            <a:r>
              <a:rPr lang="en-AU" u="sng" dirty="0">
                <a:hlinkClick r:id="rId8"/>
              </a:rPr>
              <a:t> clock</a:t>
            </a:r>
            <a:r>
              <a:rPr lang="en-AU" dirty="0"/>
              <a:t>, Toy </a:t>
            </a:r>
            <a:r>
              <a:rPr lang="en-AU" dirty="0" err="1"/>
              <a:t>Theater</a:t>
            </a:r>
            <a:r>
              <a:rPr lang="en-AU" dirty="0"/>
              <a:t> website, accessed 27 June 2023.</a:t>
            </a:r>
          </a:p>
          <a:p>
            <a:r>
              <a:rPr lang="en-AU" dirty="0"/>
              <a:t>Toy </a:t>
            </a:r>
            <a:r>
              <a:rPr lang="en-AU" dirty="0" err="1"/>
              <a:t>Theater</a:t>
            </a:r>
            <a:r>
              <a:rPr lang="en-AU" dirty="0"/>
              <a:t> (2001-2023) </a:t>
            </a:r>
            <a:r>
              <a:rPr lang="en-AU" i="1" u="sng" dirty="0">
                <a:hlinkClick r:id="rId9"/>
              </a:rPr>
              <a:t>Dice</a:t>
            </a:r>
            <a:r>
              <a:rPr lang="en-AU" dirty="0"/>
              <a:t>, Toy </a:t>
            </a:r>
            <a:r>
              <a:rPr lang="en-AU" dirty="0" err="1"/>
              <a:t>Theater</a:t>
            </a:r>
            <a:r>
              <a:rPr lang="en-AU" dirty="0"/>
              <a:t> website, accessed 27 June 2023.</a:t>
            </a:r>
          </a:p>
          <a:p>
            <a:r>
              <a:rPr lang="en-AU" dirty="0"/>
              <a:t>Toy </a:t>
            </a:r>
            <a:r>
              <a:rPr lang="en-AU" dirty="0" err="1"/>
              <a:t>Theater</a:t>
            </a:r>
            <a:r>
              <a:rPr lang="en-AU" dirty="0"/>
              <a:t> (2001-2023) </a:t>
            </a:r>
            <a:r>
              <a:rPr lang="en-AU" i="1" u="sng" dirty="0">
                <a:hlinkClick r:id="rId10"/>
              </a:rPr>
              <a:t>Pattern blocks</a:t>
            </a:r>
            <a:r>
              <a:rPr lang="en-AU" dirty="0"/>
              <a:t>, Toy </a:t>
            </a:r>
            <a:r>
              <a:rPr lang="en-AU" dirty="0" err="1"/>
              <a:t>Theater</a:t>
            </a:r>
            <a:r>
              <a:rPr lang="en-AU" dirty="0"/>
              <a:t> website, accessed 27 June 2023.</a:t>
            </a:r>
          </a:p>
          <a:p>
            <a:endParaRPr lang="en-AU" dirty="0"/>
          </a:p>
        </p:txBody>
      </p:sp>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67</a:t>
            </a:fld>
            <a:endParaRPr lang="en-AU"/>
          </a:p>
        </p:txBody>
      </p:sp>
    </p:spTree>
    <p:extLst>
      <p:ext uri="{BB962C8B-B14F-4D97-AF65-F5344CB8AC3E}">
        <p14:creationId xmlns:p14="http://schemas.microsoft.com/office/powerpoint/2010/main" val="2153478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40EDD703-71B5-4294-919E-34563A64235E}" vid="{64077C9F-2B72-4F25-81A2-2C123044CA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c91fdd3e284047c3db16c369a1d39c66">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412f8ac8e43c8402a44260f543b0aa7c"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Props1.xml><?xml version="1.0" encoding="utf-8"?>
<ds:datastoreItem xmlns:ds="http://schemas.openxmlformats.org/officeDocument/2006/customXml" ds:itemID="{8E395D28-1F84-472C-BFD0-85BFCA86EE04}"/>
</file>

<file path=customXml/itemProps2.xml><?xml version="1.0" encoding="utf-8"?>
<ds:datastoreItem xmlns:ds="http://schemas.openxmlformats.org/officeDocument/2006/customXml" ds:itemID="{1BBF1075-4992-4DA3-A5BC-433A425AD955}">
  <ds:schemaRefs>
    <ds:schemaRef ds:uri="http://schemas.microsoft.com/sharepoint/v3/contenttype/forms"/>
  </ds:schemaRefs>
</ds:datastoreItem>
</file>

<file path=customXml/itemProps3.xml><?xml version="1.0" encoding="utf-8"?>
<ds:datastoreItem xmlns:ds="http://schemas.openxmlformats.org/officeDocument/2006/customXml" ds:itemID="{CE555570-2BD4-426B-AA32-0A79CB6508A8}">
  <ds:schemaRefs>
    <ds:schemaRef ds:uri="http://schemas.microsoft.com/office/2006/metadata/properties"/>
    <ds:schemaRef ds:uri="http://www.w3.org/XML/1998/namespace"/>
    <ds:schemaRef ds:uri="http://purl.org/dc/terms/"/>
    <ds:schemaRef ds:uri="60129b06-f64b-40a8-96e2-c5b2f86112b1"/>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7e763d47-3c66-4c58-9425-1477fd3ccd1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Mathematics-stage 2-unit 22-review of learning (1)</Template>
  <TotalTime>2115</TotalTime>
  <Words>5816</Words>
  <Application>Microsoft Office PowerPoint</Application>
  <PresentationFormat>Widescreen</PresentationFormat>
  <Paragraphs>782</Paragraphs>
  <Slides>68</Slides>
  <Notes>67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68</vt:i4>
      </vt:variant>
    </vt:vector>
  </HeadingPairs>
  <TitlesOfParts>
    <vt:vector size="77" baseType="lpstr">
      <vt:lpstr>Montserrat</vt:lpstr>
      <vt:lpstr>Public Sans</vt:lpstr>
      <vt:lpstr>Public Sans Light</vt:lpstr>
      <vt:lpstr>Wingdings</vt:lpstr>
      <vt:lpstr>Arial</vt:lpstr>
      <vt:lpstr>Times New Roman</vt:lpstr>
      <vt:lpstr>Symbol</vt:lpstr>
      <vt:lpstr>Calibri</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10, 100 and 1000 larger </vt:lpstr>
      <vt:lpstr>Review of learning 2</vt:lpstr>
      <vt:lpstr>True or false (1)</vt:lpstr>
      <vt:lpstr>Short response (5)</vt:lpstr>
      <vt:lpstr>Short response (6)</vt:lpstr>
      <vt:lpstr>Short response (7)</vt:lpstr>
      <vt:lpstr>Short response (8)</vt:lpstr>
      <vt:lpstr>Activity 2 – 10, 100 and 1000 larger 2 </vt:lpstr>
      <vt:lpstr>Review of learning 3</vt:lpstr>
      <vt:lpstr>Multiple choice (2)</vt:lpstr>
      <vt:lpstr>Short response (9)</vt:lpstr>
      <vt:lpstr>Short response (10)</vt:lpstr>
      <vt:lpstr>Short response (11)</vt:lpstr>
      <vt:lpstr>Short response (12)</vt:lpstr>
      <vt:lpstr>Activity 3 – the effect of making a number 10, 100 or 1000 times larger</vt:lpstr>
      <vt:lpstr>Review of learning 4</vt:lpstr>
      <vt:lpstr>True or false (2)</vt:lpstr>
      <vt:lpstr>Short response (13)</vt:lpstr>
      <vt:lpstr>Short response (14)</vt:lpstr>
      <vt:lpstr>Short response (15)</vt:lpstr>
      <vt:lpstr>Short response (16)</vt:lpstr>
      <vt:lpstr>Activity 4 – number of tens, hundreds or thousands in a number</vt:lpstr>
      <vt:lpstr>Review of learning 5</vt:lpstr>
      <vt:lpstr>Multiple choice (3)</vt:lpstr>
      <vt:lpstr>Short response (17)</vt:lpstr>
      <vt:lpstr>Short response (18)</vt:lpstr>
      <vt:lpstr>Short response (19)</vt:lpstr>
      <vt:lpstr>Short response (20)</vt:lpstr>
      <vt:lpstr>Activity 5 – ordering 4-digit numbers </vt:lpstr>
      <vt:lpstr>Review of learning 6</vt:lpstr>
      <vt:lpstr>True or false (3)</vt:lpstr>
      <vt:lpstr>Short response (21)</vt:lpstr>
      <vt:lpstr>Short response (22)</vt:lpstr>
      <vt:lpstr>Short response (23)</vt:lpstr>
      <vt:lpstr>Short response (24)</vt:lpstr>
      <vt:lpstr>Activity 6 – arrange 4-digit numbers in ascending order</vt:lpstr>
      <vt:lpstr>Review of learning 7</vt:lpstr>
      <vt:lpstr>Multiple choice (4)</vt:lpstr>
      <vt:lpstr>Short response (25)</vt:lpstr>
      <vt:lpstr>Short response (26)</vt:lpstr>
      <vt:lpstr>Short response (27)</vt:lpstr>
      <vt:lpstr>Short response (28)</vt:lpstr>
      <vt:lpstr>Activity 7 – rearranging digits changes the size of a number</vt:lpstr>
      <vt:lpstr>Review of learning 8</vt:lpstr>
      <vt:lpstr>True or false (4)</vt:lpstr>
      <vt:lpstr>Short response (29)</vt:lpstr>
      <vt:lpstr>Short response (30)</vt:lpstr>
      <vt:lpstr>Short response (31)</vt:lpstr>
      <vt:lpstr>Short response (32)</vt:lpstr>
      <vt:lpstr>Activity 8 – ascending order misconception</vt:lpstr>
      <vt:lpstr>Double Venn diagram</vt:lpstr>
      <vt:lpstr>Frayer</vt:lpstr>
      <vt:lpstr>Spider map</vt:lpstr>
      <vt:lpstr>Cline</vt:lpstr>
      <vt:lpstr>Compare and contrast</vt:lpstr>
      <vt:lpstr>Multiple choice (5)</vt:lpstr>
      <vt:lpstr>Multiple choice (6)</vt:lpstr>
      <vt:lpstr>References</vt:lpstr>
      <vt:lpstr>Copyright</vt:lpstr>
    </vt:vector>
  </TitlesOfParts>
  <Manager/>
  <Company>NSW Department of Education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Stacey Makila</dc:creator>
  <cp:keywords/>
  <dc:description/>
  <cp:lastModifiedBy>Daniel Archer</cp:lastModifiedBy>
  <cp:revision>15</cp:revision>
  <dcterms:created xsi:type="dcterms:W3CDTF">2025-08-15T00:39:51Z</dcterms:created>
  <dcterms:modified xsi:type="dcterms:W3CDTF">2025-11-26T22:03:35Z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