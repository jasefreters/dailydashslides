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3"/>
  </p:notesMasterIdLst>
  <p:handoutMasterIdLst>
    <p:handoutMasterId r:id="rId74"/>
  </p:handoutMasterIdLst>
  <p:sldIdLst>
    <p:sldId id="365" r:id="rId5"/>
    <p:sldId id="26579" r:id="rId6"/>
    <p:sldId id="26359" r:id="rId7"/>
    <p:sldId id="271" r:id="rId8"/>
    <p:sldId id="26577"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4"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11"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29" r:id="rId51"/>
    <p:sldId id="26632" r:id="rId52"/>
    <p:sldId id="26633" r:id="rId53"/>
    <p:sldId id="26634" r:id="rId54"/>
    <p:sldId id="26635" r:id="rId55"/>
    <p:sldId id="26636" r:id="rId56"/>
    <p:sldId id="26637" r:id="rId57"/>
    <p:sldId id="26640" r:id="rId58"/>
    <p:sldId id="26641" r:id="rId59"/>
    <p:sldId id="26642" r:id="rId60"/>
    <p:sldId id="26643" r:id="rId61"/>
    <p:sldId id="26644" r:id="rId62"/>
    <p:sldId id="26645" r:id="rId63"/>
    <p:sldId id="26393" r:id="rId64"/>
    <p:sldId id="26387" r:id="rId65"/>
    <p:sldId id="26395" r:id="rId66"/>
    <p:sldId id="26391" r:id="rId67"/>
    <p:sldId id="26402" r:id="rId68"/>
    <p:sldId id="26507" r:id="rId69"/>
    <p:sldId id="26649" r:id="rId70"/>
    <p:sldId id="360" r:id="rId71"/>
    <p:sldId id="361" r:id="rId72"/>
  </p:sldIdLst>
  <p:sldSz cx="12192000" cy="6858000"/>
  <p:notesSz cx="6858000" cy="9144000"/>
  <p:embeddedFontLst>
    <p:embeddedFont>
      <p:font typeface="Cambria Math" panose="02040503050406030204" pitchFamily="18" charset="0"/>
      <p:regular r:id="rId75"/>
    </p:embeddedFont>
    <p:embeddedFont>
      <p:font typeface="Montserrat" panose="00000500000000000000" pitchFamily="2" charset="0"/>
      <p:regular r:id="rId76"/>
      <p:bold r:id="rId77"/>
      <p:italic r:id="rId78"/>
      <p:boldItalic r:id="rId79"/>
    </p:embeddedFont>
    <p:embeddedFont>
      <p:font typeface="Public Sans" pitchFamily="2" charset="0"/>
      <p:regular r:id="rId80"/>
      <p:bold r:id="rId81"/>
      <p:italic r:id="rId82"/>
      <p:boldItalic r:id="rId83"/>
    </p:embeddedFont>
    <p:embeddedFont>
      <p:font typeface="Public Sans Light" pitchFamily="2" charset="0"/>
      <p:regular r:id="rId84"/>
      <p:italic r:id="rId85"/>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7"/>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4"/>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29"/>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1B1BAE1E-6EF3-DBA4-64B9-54D7242E20D4}" name="Stacey Makila" initials="SM" userId="S::Stacey.Wolfenden@det.nsw.edu.au::1f90aada-aa7f-459b-b23b-17275cc27e9e" providerId="AD"/>
  <p188:author id="{76652228-BA2A-8E0F-B69D-752F252CA8C9}" name="Carolyn Matthews" initials="CM" userId="S::Carolyn.Matthews2@det.nsw.edu.au::7f53049a-bf0f-477a-aa49-60e3a8d71d98" providerId="AD"/>
  <p188:author id="{117A025F-CECB-7403-D4EE-15F295013070}" name="Carolyn Matthews" initials="" userId="S::carolyn.matthews2@det.nsw.edu.au::7f53049a-bf0f-477a-aa49-60e3a8d71d98" providerId="AD"/>
  <p188:author id="{95D16B7D-CADB-F2BF-AC29-D680545C75EE}" name="Carrie Webeck" initials="CW" userId="S::CARRIE-ANN.WEBECK@det.nsw.edu.au::e5c4b697-ca15-4f3a-a906-1289ddc2fc07" providerId="AD"/>
  <p188:author id="{CC2CF4BE-5B9A-35CA-4C1B-CB063A10B965}" name="Sundren Naicker" initials="SN" userId="S::sundren.naicker@det.nsw.edu.au::a553bd6d-fc4b-4438-a461-744bbb36d97b"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410196-539A-4E52-A562-4E4B2C5E63C9}" v="5" dt="2026-04-01T02:00:18.995"/>
    <p1510:client id="{74DEC1C2-20C0-4065-BE29-9E92649901B0}" v="624" dt="2026-03-31T21:36:55.582"/>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30640" autoAdjust="0"/>
  </p:normalViewPr>
  <p:slideViewPr>
    <p:cSldViewPr snapToGrid="0">
      <p:cViewPr varScale="1">
        <p:scale>
          <a:sx n="10" d="100"/>
          <a:sy n="10" d="100"/>
        </p:scale>
        <p:origin x="1164" y="-12"/>
      </p:cViewPr>
      <p:guideLst>
        <p:guide orient="horz" pos="2160"/>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10.fntdata"/><Relationship Id="rId89"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handoutMaster" Target="handoutMasters/handoutMaster1.xml"/><Relationship Id="rId79" Type="http://schemas.openxmlformats.org/officeDocument/2006/relationships/font" Target="fonts/font5.fntdata"/><Relationship Id="rId5" Type="http://schemas.openxmlformats.org/officeDocument/2006/relationships/slide" Target="slides/slide1.xml"/><Relationship Id="rId90" Type="http://schemas.microsoft.com/office/2015/10/relationships/revisionInfo" Target="revisionInfo.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3.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6.fntdata"/><Relationship Id="rId85" Type="http://schemas.openxmlformats.org/officeDocument/2006/relationships/font" Target="fonts/font11.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font" Target="fonts/font1.fntdata"/><Relationship Id="rId83" Type="http://schemas.openxmlformats.org/officeDocument/2006/relationships/font" Target="fonts/font9.fntdata"/><Relationship Id="rId88" Type="http://schemas.openxmlformats.org/officeDocument/2006/relationships/theme" Target="theme/theme1.xml"/><Relationship Id="rId9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notesMaster" Target="notesMasters/notesMaster1.xml"/><Relationship Id="rId78" Type="http://schemas.openxmlformats.org/officeDocument/2006/relationships/font" Target="fonts/font4.fntdata"/><Relationship Id="rId81" Type="http://schemas.openxmlformats.org/officeDocument/2006/relationships/font" Target="fonts/font7.fntdata"/><Relationship Id="rId86"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2.fntdata"/><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font" Target="fonts/font8.fntdata"/><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2/04/2026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2/04/2026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A Unit 10</a:t>
            </a:r>
          </a:p>
          <a:p>
            <a:pPr marL="285750" indent="-285750">
              <a:buFont typeface="Arial" panose="020B0604020202020204" pitchFamily="34" charset="0"/>
              <a:buChar char="•"/>
            </a:pPr>
            <a:r>
              <a:rPr lang="en-AU"/>
              <a:t>Stage 3 Year A Unit 9</a:t>
            </a:r>
          </a:p>
          <a:p>
            <a:pPr marL="285750" indent="-285750">
              <a:buFont typeface="Arial" panose="020B0604020202020204" pitchFamily="34" charset="0"/>
              <a:buChar char="•"/>
            </a:pPr>
            <a:r>
              <a:rPr lang="en-AU"/>
              <a:t>Stage 3 Year A Unit 8</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quantity fractions A</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Angles  </a:t>
            </a:r>
            <a:r>
              <a:rPr lang="en-AU" sz="1600" kern="1200">
                <a:solidFill>
                  <a:schemeClr val="tx1"/>
                </a:solidFill>
                <a:effectLst/>
                <a:latin typeface="Arial" panose="020B0604020202020204" pitchFamily="34" charset="0"/>
                <a:ea typeface="+mn-ea"/>
                <a:cs typeface="Arial" panose="020B0604020202020204" pitchFamily="34" charset="0"/>
              </a:rPr>
              <a:t>(Note: 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Three-dimensional spatial structure A: 3D Objects</a:t>
            </a: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Position</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Representing quantity fractions A</a:t>
            </a:r>
          </a:p>
          <a:p>
            <a:endParaRPr lang="en-AU"/>
          </a:p>
          <a:p>
            <a:r>
              <a:rPr lang="en-AU" b="1"/>
              <a:t>Comparing unit fractions to benchmark fractions</a:t>
            </a:r>
          </a:p>
          <a:p>
            <a:r>
              <a:rPr lang="en-AU" b="0"/>
              <a:t>This resource corresponds to Resource 20 – using benchmark fractions in Stage 3 Year A Unit 10. </a:t>
            </a:r>
          </a:p>
          <a:p>
            <a:pPr marL="342900" indent="-342900">
              <a:buFont typeface="+mj-lt"/>
              <a:buAutoNum type="arabicPeriod"/>
            </a:pPr>
            <a:endParaRPr lang="en-AU" b="0"/>
          </a:p>
          <a:p>
            <a:pPr marL="342900" marR="0" lvl="0" indent="-342900" algn="l" defTabSz="1219170" rtl="0" eaLnBrk="1" fontAlgn="auto" latinLnBrk="0" hangingPunct="1">
              <a:lnSpc>
                <a:spcPct val="100000"/>
              </a:lnSpc>
              <a:spcBef>
                <a:spcPts val="0"/>
              </a:spcBef>
              <a:spcAft>
                <a:spcPts val="0"/>
              </a:spcAft>
              <a:buClrTx/>
              <a:buSzTx/>
              <a:buFont typeface="+mj-lt"/>
              <a:buAutoNum type="arabicPeriod"/>
              <a:tabLst/>
              <a:defRPr/>
            </a:pPr>
            <a:r>
              <a:rPr lang="en-AU" sz="1600" kern="1200">
                <a:solidFill>
                  <a:schemeClr val="tx1"/>
                </a:solidFill>
                <a:effectLst/>
                <a:latin typeface="Arial" panose="020B0604020202020204" pitchFamily="34" charset="0"/>
                <a:ea typeface="+mn-ea"/>
                <a:cs typeface="Arial" panose="020B0604020202020204" pitchFamily="34" charset="0"/>
              </a:rPr>
              <a:t>Display </a:t>
            </a:r>
            <a:r>
              <a:rPr lang="en-AU" sz="1600" b="0" kern="1200">
                <a:solidFill>
                  <a:schemeClr val="tx1"/>
                </a:solidFill>
                <a:effectLst/>
                <a:latin typeface="Arial" panose="020B0604020202020204" pitchFamily="34" charset="0"/>
                <a:ea typeface="+mn-ea"/>
                <a:cs typeface="Arial" panose="020B0604020202020204" pitchFamily="34" charset="0"/>
              </a:rPr>
              <a:t>Resource 20 – using benchmark fractions. </a:t>
            </a:r>
            <a:r>
              <a:rPr lang="en-AU" sz="1600" kern="1200">
                <a:solidFill>
                  <a:schemeClr val="tx1"/>
                </a:solidFill>
                <a:effectLst/>
                <a:latin typeface="Arial" panose="020B0604020202020204" pitchFamily="34" charset="0"/>
                <a:ea typeface="+mn-ea"/>
                <a:cs typeface="Arial" panose="020B0604020202020204" pitchFamily="34" charset="0"/>
              </a:rPr>
              <a:t>Explain that students are going to use a number line to order these fractions from smallest to largest.</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Which fraction cards might you place first? Explain your thinking. What are the challenges of placing them all on the same number line?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small groups with </a:t>
            </a:r>
            <a:r>
              <a:rPr lang="en-AU" sz="1600" b="0" kern="1200">
                <a:solidFill>
                  <a:schemeClr val="tx1"/>
                </a:solidFill>
                <a:effectLst/>
                <a:latin typeface="Arial" panose="020B0604020202020204" pitchFamily="34" charset="0"/>
                <a:ea typeface="+mn-ea"/>
                <a:cs typeface="Arial" panose="020B0604020202020204" pitchFamily="34" charset="0"/>
              </a:rPr>
              <a:t>Resource 20 – using benchmark fractions</a:t>
            </a:r>
            <a:r>
              <a:rPr lang="en-AU" sz="1600" kern="1200">
                <a:solidFill>
                  <a:schemeClr val="tx1"/>
                </a:solidFill>
                <a:effectLst/>
                <a:latin typeface="Arial" panose="020B0604020202020204" pitchFamily="34" charset="0"/>
                <a:ea typeface="+mn-ea"/>
                <a:cs typeface="Arial" panose="020B0604020202020204" pitchFamily="34" charset="0"/>
              </a:rPr>
              <a:t>, pegs and string. Students place their fractions on the number line. Observe student strategies, supporting students to use benchmark fractions to guide their placements.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Regroup and ask:</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Which fractions were the easiest to place and which were more challenging? Why?</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Did you group any fractions to make them easier to place? For example, halves, quarters and eighths.</a:t>
            </a:r>
          </a:p>
          <a:p>
            <a:pPr marL="342900" indent="-342900">
              <a:buFont typeface="+mj-lt"/>
              <a:buAutoNum type="arabicPeriod"/>
            </a:pPr>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Three-dimensional spatial structure A</a:t>
            </a: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Position</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Representing quantity fractions A</a:t>
            </a:r>
          </a:p>
          <a:p>
            <a:endParaRPr lang="en-AU"/>
          </a:p>
          <a:p>
            <a:r>
              <a:rPr lang="en-AU" sz="1600" b="1" kern="1200">
                <a:solidFill>
                  <a:schemeClr val="tx1"/>
                </a:solidFill>
                <a:effectLst/>
                <a:latin typeface="Arial" panose="020B0604020202020204" pitchFamily="34" charset="0"/>
                <a:ea typeface="+mn-ea"/>
                <a:cs typeface="Arial" panose="020B0604020202020204" pitchFamily="34" charset="0"/>
              </a:rPr>
              <a:t>Ordering unit fractions 1</a:t>
            </a:r>
          </a:p>
          <a:p>
            <a:r>
              <a:rPr lang="en-AU" b="0"/>
              <a:t>This resource corresponds to Resource 21 – ordering unit fractions 1 in Stage 3 Year A Unit 10. </a:t>
            </a:r>
          </a:p>
          <a:p>
            <a:endParaRPr lang="en-AU" b="0"/>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students with </a:t>
            </a:r>
            <a:r>
              <a:rPr lang="en-AU" b="0"/>
              <a:t>Resource 21 – ordering unit fractions 1</a:t>
            </a:r>
            <a:r>
              <a:rPr lang="en-AU" sz="1600" kern="1200">
                <a:solidFill>
                  <a:schemeClr val="tx1"/>
                </a:solidFill>
                <a:effectLst/>
                <a:latin typeface="Arial" panose="020B0604020202020204" pitchFamily="34" charset="0"/>
                <a:ea typeface="+mn-ea"/>
                <a:cs typeface="Arial" panose="020B0604020202020204" pitchFamily="34" charset="0"/>
              </a:rPr>
              <a:t>. Students place the fractions in the correct place on the number line.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then add any other common fractions to the number line that they know. For example, one-sixth students to share and explain the placement of the fractions.</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quantity fractions A</a:t>
            </a: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Three-dimensional spatial structure A: 3D objects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Position</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Representing quantity fractions A</a:t>
            </a:r>
          </a:p>
          <a:p>
            <a:endParaRPr lang="en-AU" dirty="0"/>
          </a:p>
          <a:p>
            <a:r>
              <a:rPr lang="en-AU" b="1" dirty="0"/>
              <a:t>Ordering unit fractions 2</a:t>
            </a:r>
          </a:p>
          <a:p>
            <a:r>
              <a:rPr lang="en-AU" b="0" dirty="0"/>
              <a:t>This resource corresponds to Resource 22 – ordering unit fractions 2 in Stage 3 Year A Unit 10. </a:t>
            </a:r>
          </a:p>
          <a:p>
            <a:endParaRPr lang="en-AU" b="0"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Provide students with </a:t>
            </a:r>
            <a:r>
              <a:rPr lang="en-AU" b="0" dirty="0"/>
              <a:t>Resource 22 – ordering unit fractions 2</a:t>
            </a:r>
            <a:r>
              <a:rPr lang="en-AU" sz="1600" kern="1200" dirty="0">
                <a:solidFill>
                  <a:schemeClr val="tx1"/>
                </a:solidFill>
                <a:effectLst/>
                <a:latin typeface="Arial" panose="020B0604020202020204" pitchFamily="34" charset="0"/>
                <a:ea typeface="+mn-ea"/>
                <a:cs typeface="Arial" panose="020B0604020202020204" pitchFamily="34" charset="0"/>
              </a:rPr>
              <a:t>. Students place the fractions in the correct place on the number line.</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then add any other common fractions to the number line that they know. For example,</a:t>
            </a:r>
            <a:r>
              <a:rPr lang="en-AU" sz="1600" kern="1200" baseline="0" dirty="0">
                <a:solidFill>
                  <a:schemeClr val="tx1"/>
                </a:solidFill>
                <a:effectLst/>
                <a:latin typeface="Arial" panose="020B0604020202020204" pitchFamily="34" charset="0"/>
                <a:ea typeface="+mn-ea"/>
                <a:cs typeface="Arial" panose="020B0604020202020204" pitchFamily="34" charset="0"/>
              </a:rPr>
              <a:t> one eighth</a:t>
            </a:r>
            <a:r>
              <a:rPr lang="en-AU" sz="1600" kern="1200" dirty="0">
                <a:solidFill>
                  <a:schemeClr val="tx1"/>
                </a:solidFill>
                <a:effectLst/>
                <a:latin typeface="Arial" panose="020B0604020202020204" pitchFamily="34" charset="0"/>
                <a:ea typeface="+mn-ea"/>
                <a:cs typeface="Arial" panose="020B0604020202020204" pitchFamily="34" charset="0"/>
              </a:rPr>
              <a:t>.</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Select students to share and explain the placement of the fractions.</a:t>
            </a:r>
          </a:p>
          <a:p>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Angles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Three-dimensional spatial structure A: 3D objects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Position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Representing quantity fractions A</a:t>
            </a:r>
          </a:p>
          <a:p>
            <a:endParaRPr lang="en-AU" dirty="0"/>
          </a:p>
          <a:p>
            <a:r>
              <a:rPr lang="en-AU" b="1" dirty="0"/>
              <a:t>Fraction number line</a:t>
            </a:r>
            <a:endParaRPr lang="en-AU" b="0" dirty="0"/>
          </a:p>
          <a:p>
            <a:pPr lvl="0"/>
            <a:r>
              <a:rPr lang="en-AU" sz="1600" kern="1200" dirty="0">
                <a:solidFill>
                  <a:schemeClr val="tx1"/>
                </a:solidFill>
                <a:effectLst/>
                <a:latin typeface="Arial" panose="020B0604020202020204" pitchFamily="34" charset="0"/>
                <a:ea typeface="+mn-ea"/>
                <a:cs typeface="Arial" panose="020B0604020202020204" pitchFamily="34" charset="0"/>
              </a:rPr>
              <a:t>1. Provide students with a 10-sided dice and a whiteboard. Students draw a number line from 0–1.</a:t>
            </a:r>
          </a:p>
          <a:p>
            <a:pPr lvl="0"/>
            <a:r>
              <a:rPr lang="en-AU" sz="1600" kern="1200" dirty="0">
                <a:solidFill>
                  <a:schemeClr val="tx1"/>
                </a:solidFill>
                <a:effectLst/>
                <a:latin typeface="Arial" panose="020B0604020202020204" pitchFamily="34" charset="0"/>
                <a:ea typeface="+mn-ea"/>
                <a:cs typeface="Arial" panose="020B0604020202020204" pitchFamily="34" charset="0"/>
              </a:rPr>
              <a:t>2. Revise the meaning of the ‘denominator’, ‘numerator’ and ‘fraction line’.</a:t>
            </a:r>
          </a:p>
          <a:p>
            <a:r>
              <a:rPr lang="en-AU" sz="1600" b="1" kern="1200" dirty="0">
                <a:solidFill>
                  <a:schemeClr val="tx1"/>
                </a:solidFill>
                <a:effectLst/>
                <a:latin typeface="Arial" panose="020B0604020202020204" pitchFamily="34" charset="0"/>
                <a:ea typeface="+mn-ea"/>
                <a:cs typeface="Arial" panose="020B0604020202020204" pitchFamily="34" charset="0"/>
              </a:rPr>
              <a:t>Numerator:</a:t>
            </a:r>
            <a:r>
              <a:rPr lang="en-AU" sz="1600" kern="1200" dirty="0">
                <a:solidFill>
                  <a:schemeClr val="tx1"/>
                </a:solidFill>
                <a:effectLst/>
                <a:latin typeface="Arial" panose="020B0604020202020204" pitchFamily="34" charset="0"/>
                <a:ea typeface="+mn-ea"/>
                <a:cs typeface="Arial" panose="020B0604020202020204" pitchFamily="34" charset="0"/>
              </a:rPr>
              <a:t> the top number is the ‘numerator’ which identifies the number of parts. The line separating them is called the ‘fraction bar’. It is also sometimes referred to as the ‘vinculum’.</a:t>
            </a:r>
          </a:p>
          <a:p>
            <a:r>
              <a:rPr lang="en-AU" sz="1600" b="1" kern="1200" dirty="0">
                <a:solidFill>
                  <a:schemeClr val="tx1"/>
                </a:solidFill>
                <a:effectLst/>
                <a:latin typeface="Arial" panose="020B0604020202020204" pitchFamily="34" charset="0"/>
                <a:ea typeface="+mn-ea"/>
                <a:cs typeface="Arial" panose="020B0604020202020204" pitchFamily="34" charset="0"/>
              </a:rPr>
              <a:t>Denominator:</a:t>
            </a:r>
            <a:r>
              <a:rPr lang="en-AU" sz="1600" kern="1200" dirty="0">
                <a:solidFill>
                  <a:schemeClr val="tx1"/>
                </a:solidFill>
                <a:effectLst/>
                <a:latin typeface="Arial" panose="020B0604020202020204" pitchFamily="34" charset="0"/>
                <a:ea typeface="+mn-ea"/>
                <a:cs typeface="Arial" panose="020B0604020202020204" pitchFamily="34" charset="0"/>
              </a:rPr>
              <a:t> the bottom number is called the ‘denominator’ and it is the total number of equal parts the whole is broken into.</a:t>
            </a:r>
          </a:p>
          <a:p>
            <a:pPr lvl="0"/>
            <a:r>
              <a:rPr lang="en-AU" sz="1600" kern="1200" dirty="0">
                <a:solidFill>
                  <a:schemeClr val="tx1"/>
                </a:solidFill>
                <a:effectLst/>
                <a:latin typeface="Arial" panose="020B0604020202020204" pitchFamily="34" charset="0"/>
                <a:ea typeface="+mn-ea"/>
                <a:cs typeface="Arial" panose="020B0604020202020204" pitchFamily="34" charset="0"/>
              </a:rPr>
              <a:t>3. Students roll the dice and use the number rolled as the denominator with the numerator always being one. For example, if students roll a 5, the fraction will be</a:t>
            </a:r>
            <a:r>
              <a:rPr lang="en-AU" sz="1600" kern="1200" baseline="0" dirty="0">
                <a:solidFill>
                  <a:schemeClr val="tx1"/>
                </a:solidFill>
                <a:effectLst/>
                <a:latin typeface="Arial" panose="020B0604020202020204" pitchFamily="34" charset="0"/>
                <a:ea typeface="+mn-ea"/>
                <a:cs typeface="Arial" panose="020B0604020202020204" pitchFamily="34" charset="0"/>
              </a:rPr>
              <a:t> one fifth</a:t>
            </a:r>
            <a:r>
              <a:rPr lang="en-AU" sz="1600" kern="1200" dirty="0">
                <a:solidFill>
                  <a:schemeClr val="tx1"/>
                </a:solidFill>
                <a:effectLst/>
                <a:latin typeface="Arial" panose="020B0604020202020204" pitchFamily="34" charset="0"/>
                <a:ea typeface="+mn-ea"/>
                <a:cs typeface="Arial" panose="020B0604020202020204" pitchFamily="34" charset="0"/>
              </a:rPr>
              <a:t>. Students then place the fraction on the number line in the correct location.</a:t>
            </a:r>
          </a:p>
          <a:p>
            <a:pPr lvl="0"/>
            <a:r>
              <a:rPr lang="en-AU" sz="1600" kern="1200" dirty="0">
                <a:solidFill>
                  <a:schemeClr val="tx1"/>
                </a:solidFill>
                <a:effectLst/>
                <a:latin typeface="Arial" panose="020B0604020202020204" pitchFamily="34" charset="0"/>
                <a:ea typeface="+mn-ea"/>
                <a:cs typeface="Arial" panose="020B0604020202020204" pitchFamily="34" charset="0"/>
              </a:rPr>
              <a:t>4. Select students to share and explain the placement of the fractions.</a:t>
            </a:r>
          </a:p>
          <a:p>
            <a:endParaRPr lang="en-AU" b="1" dirty="0"/>
          </a:p>
          <a:p>
            <a:pPr marL="342900" indent="-342900">
              <a:buFont typeface="+mj-lt"/>
              <a:buAutoNum type="arabicPeriod"/>
            </a:pPr>
            <a:endParaRPr lang="en-AU" dirty="0"/>
          </a:p>
          <a:p>
            <a:r>
              <a:rPr lang="en-AU" dirty="0"/>
              <a:t>3.</a:t>
            </a:r>
          </a:p>
          <a:p>
            <a:r>
              <a:rPr lang="en-AU"/>
              <a:t>3</a:t>
            </a:r>
          </a:p>
          <a:p>
            <a:endParaRPr lang="en-AU" dirty="0"/>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Position</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Three-dimensional spatial structure A: Volume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Additive relations A</a:t>
            </a:r>
          </a:p>
          <a:p>
            <a:endParaRPr lang="en-AU"/>
          </a:p>
          <a:p>
            <a:r>
              <a:rPr lang="en-AU" sz="1600" b="1" kern="1200">
                <a:solidFill>
                  <a:schemeClr val="tx1"/>
                </a:solidFill>
                <a:effectLst/>
                <a:latin typeface="Arial" panose="020B0604020202020204" pitchFamily="34" charset="0"/>
                <a:ea typeface="+mn-ea"/>
                <a:cs typeface="Arial" panose="020B0604020202020204" pitchFamily="34" charset="0"/>
              </a:rPr>
              <a:t>Closest to zero</a:t>
            </a:r>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‘Dicey Operations in Line’ from NRICH by the University of Cambridge.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pairs of students with 9-sided dice and whiteboards.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 1 rolls the dice to make one 5-digit number, one 4-digit number and one 3-digit number. Students can create their multi-digit numbers from the numbers rolled. For example, if 6, 4 and 3 are rolled, students can choose to record 643, 346 or 463 and so on.</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 1 uses these numbers to form a subtraction sentence and records it on their whiteboard. For example, 56 843 − 4713 – 245 = _.</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 1 solves the number sentence using a mental or written strategy.</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 2 repeats the process.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The winner is the student that gets the closest to zero.</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play multiple rounds.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panose="020B0604020202020204" pitchFamily="34" charset="0"/>
                <a:cs typeface="Arial" panose="020B0604020202020204" pitchFamily="34" charset="0"/>
              </a:rPr>
              <a:t>Non-spatial measure A: Time</a:t>
            </a: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 Volume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Additive relations A</a:t>
            </a:r>
          </a:p>
          <a:p>
            <a:endParaRPr lang="en-AU"/>
          </a:p>
          <a:p>
            <a:r>
              <a:rPr lang="en-AU" sz="1600" b="1" kern="1200">
                <a:solidFill>
                  <a:schemeClr val="tx1"/>
                </a:solidFill>
                <a:effectLst/>
                <a:latin typeface="Arial" panose="020B0604020202020204" pitchFamily="34" charset="0"/>
                <a:ea typeface="+mn-ea"/>
                <a:cs typeface="Arial" panose="020B0604020202020204" pitchFamily="34" charset="0"/>
              </a:rPr>
              <a:t>Hit the target number </a:t>
            </a:r>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‘Dicey Operations in Line’ from NRICH by the University of Cambridge.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pairs of students with 9-sided dice and whiteboards.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agree on a target number, for example 50 000.</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 1 rolls the dice to make one 5-digit number, one 4-digit number and one 3-digit number. Students can create their multi-digit numbers from the numbers rolled. For example, if 6, 4 and 3 are rolled, students can choose to record 643, 346 or 463 and so on.</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 1 uses these numbers to form an addition sentence and records it on their whiteboard. For example, 41 873 + 5125 + 792 = _.</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 1 solves the number sentence using a mental or written strategy.</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 2 repeats the process.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The winner is the student that gets the closest to the target number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play multiple rounds.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panose="020B0604020202020204" pitchFamily="34" charset="0"/>
                <a:cs typeface="Arial" panose="020B0604020202020204" pitchFamily="34" charset="0"/>
              </a:rPr>
              <a:t>Non-spatial measure A: Time</a:t>
            </a: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Three-dimensional spatial structure A: Volume</a:t>
            </a:r>
            <a:endParaRPr lang="en-AU" b="1"/>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Multistep problems</a:t>
            </a:r>
          </a:p>
          <a:p>
            <a:pPr lvl="0"/>
            <a:r>
              <a:rPr lang="en-AU" sz="1600" kern="1200">
                <a:solidFill>
                  <a:schemeClr val="tx1"/>
                </a:solidFill>
                <a:effectLst/>
                <a:latin typeface="Arial" panose="020B0604020202020204" pitchFamily="34" charset="0"/>
                <a:ea typeface="+mn-ea"/>
                <a:cs typeface="Arial" panose="020B0604020202020204" pitchFamily="34" charset="0"/>
              </a:rPr>
              <a:t>1. Write the following problem on the board: Anwar has 375 stalks of corn and 598 cabbages. The crows destroy 153 of his crops. How many crops are left undestroyed in his garden?</a:t>
            </a:r>
          </a:p>
          <a:p>
            <a:pPr lvl="0"/>
            <a:r>
              <a:rPr lang="en-AU" sz="1600" kern="1200">
                <a:solidFill>
                  <a:schemeClr val="tx1"/>
                </a:solidFill>
                <a:effectLst/>
                <a:latin typeface="Arial" panose="020B0604020202020204" pitchFamily="34" charset="0"/>
                <a:ea typeface="+mn-ea"/>
                <a:cs typeface="Arial" panose="020B0604020202020204" pitchFamily="34" charset="0"/>
              </a:rPr>
              <a:t>2. Ask students:</a:t>
            </a:r>
          </a:p>
          <a:p>
            <a:pPr lvl="0"/>
            <a:r>
              <a:rPr lang="en-AU" sz="1600" kern="1200">
                <a:solidFill>
                  <a:schemeClr val="tx1"/>
                </a:solidFill>
                <a:effectLst/>
                <a:latin typeface="Arial" panose="020B0604020202020204" pitchFamily="34" charset="0"/>
                <a:ea typeface="+mn-ea"/>
                <a:cs typeface="Arial" panose="020B0604020202020204" pitchFamily="34" charset="0"/>
              </a:rPr>
              <a:t>Which parts of the problem are important pieces of information?</a:t>
            </a:r>
          </a:p>
          <a:p>
            <a:pPr lvl="0"/>
            <a:r>
              <a:rPr lang="en-AU" sz="1600" kern="1200">
                <a:solidFill>
                  <a:schemeClr val="tx1"/>
                </a:solidFill>
                <a:effectLst/>
                <a:latin typeface="Arial" panose="020B0604020202020204" pitchFamily="34" charset="0"/>
                <a:ea typeface="+mn-ea"/>
                <a:cs typeface="Arial" panose="020B0604020202020204" pitchFamily="34" charset="0"/>
              </a:rPr>
              <a:t>What operations will be used in solving this problem? How do you know?</a:t>
            </a:r>
          </a:p>
          <a:p>
            <a:pPr lvl="0"/>
            <a:r>
              <a:rPr lang="en-AU" sz="1600" kern="1200">
                <a:solidFill>
                  <a:schemeClr val="tx1"/>
                </a:solidFill>
                <a:effectLst/>
                <a:latin typeface="Arial" panose="020B0604020202020204" pitchFamily="34" charset="0"/>
                <a:ea typeface="+mn-ea"/>
                <a:cs typeface="Arial" panose="020B0604020202020204" pitchFamily="34" charset="0"/>
              </a:rPr>
              <a:t>What strategies would be efficient for solving this problem?</a:t>
            </a:r>
          </a:p>
          <a:p>
            <a:pPr lvl="0"/>
            <a:r>
              <a:rPr lang="en-AU" sz="1600" kern="1200">
                <a:solidFill>
                  <a:schemeClr val="tx1"/>
                </a:solidFill>
                <a:effectLst/>
                <a:latin typeface="Arial" panose="020B0604020202020204" pitchFamily="34" charset="0"/>
                <a:ea typeface="+mn-ea"/>
                <a:cs typeface="Arial" panose="020B0604020202020204" pitchFamily="34" charset="0"/>
              </a:rPr>
              <a:t>3. Students turn and talk to discuss their strategies and the information required to solve the problem.</a:t>
            </a:r>
          </a:p>
          <a:p>
            <a:pPr lvl="0"/>
            <a:r>
              <a:rPr lang="en-AU" sz="1600" kern="1200">
                <a:solidFill>
                  <a:schemeClr val="tx1"/>
                </a:solidFill>
                <a:effectLst/>
                <a:latin typeface="Arial" panose="020B0604020202020204" pitchFamily="34" charset="0"/>
                <a:ea typeface="+mn-ea"/>
                <a:cs typeface="Arial" panose="020B0604020202020204" pitchFamily="34" charset="0"/>
              </a:rPr>
              <a:t>4. Select a range of student responses to share with the class.</a:t>
            </a:r>
          </a:p>
          <a:p>
            <a:pPr lvl="0"/>
            <a:r>
              <a:rPr lang="en-AU" sz="1600" kern="1200">
                <a:solidFill>
                  <a:schemeClr val="tx1"/>
                </a:solidFill>
                <a:effectLst/>
                <a:latin typeface="Arial" panose="020B0604020202020204" pitchFamily="34" charset="0"/>
                <a:ea typeface="+mn-ea"/>
                <a:cs typeface="Arial" panose="020B0604020202020204" pitchFamily="34" charset="0"/>
              </a:rPr>
              <a:t>5. Write another problem on the board and repeat the process. For example: Farmer Josie has 9638 kilograms of grain. She feeds 3725 kilograms to her pigs and 2948 kilograms to her cows. How much grain does she have left?</a:t>
            </a:r>
          </a:p>
          <a:p>
            <a:pPr lvl="0"/>
            <a:r>
              <a:rPr lang="en-AU" sz="1600" kern="1200">
                <a:solidFill>
                  <a:schemeClr val="tx1"/>
                </a:solidFill>
                <a:effectLst/>
                <a:latin typeface="Arial" panose="020B0604020202020204" pitchFamily="34" charset="0"/>
                <a:ea typeface="+mn-ea"/>
                <a:cs typeface="Arial" panose="020B0604020202020204" pitchFamily="34" charset="0"/>
              </a:rPr>
              <a:t>5. Alternatively, pairs of students may wish to write their own multistep problems and solve them.</a:t>
            </a:r>
          </a:p>
          <a:p>
            <a:endParaRPr lang="en-AU" b="1"/>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panose="020B0604020202020204" pitchFamily="34" charset="0"/>
                <a:cs typeface="Arial" panose="020B0604020202020204" pitchFamily="34" charset="0"/>
              </a:rPr>
              <a:t>Non-spatial measure A: Time</a:t>
            </a: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Three-dimensional spatial structure A: Volume</a:t>
            </a:r>
            <a:endParaRPr lang="en-AU" b="1"/>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b="1"/>
          </a:p>
          <a:p>
            <a:r>
              <a:rPr lang="en-AU" b="1"/>
              <a:t>Applying strategies</a:t>
            </a:r>
          </a:p>
          <a:p>
            <a:pPr lvl="0"/>
            <a:r>
              <a:rPr lang="en-AU" sz="1600" kern="1200">
                <a:solidFill>
                  <a:schemeClr val="tx1"/>
                </a:solidFill>
                <a:effectLst/>
                <a:latin typeface="Arial" panose="020B0604020202020204" pitchFamily="34" charset="0"/>
                <a:ea typeface="+mn-ea"/>
                <a:cs typeface="Arial" panose="020B0604020202020204" pitchFamily="34" charset="0"/>
              </a:rPr>
              <a:t>1. Write the following problem on the board: 3985 + 956 = _?</a:t>
            </a:r>
          </a:p>
          <a:p>
            <a:pPr lvl="0"/>
            <a:r>
              <a:rPr lang="en-AU" sz="1600" kern="1200">
                <a:solidFill>
                  <a:schemeClr val="tx1"/>
                </a:solidFill>
                <a:effectLst/>
                <a:latin typeface="Arial" panose="020B0604020202020204" pitchFamily="34" charset="0"/>
                <a:ea typeface="+mn-ea"/>
                <a:cs typeface="Arial" panose="020B0604020202020204" pitchFamily="34" charset="0"/>
              </a:rPr>
              <a:t>2. Ask students:</a:t>
            </a:r>
          </a:p>
          <a:p>
            <a:pPr lvl="0"/>
            <a:r>
              <a:rPr lang="en-AU" sz="1600" kern="1200">
                <a:solidFill>
                  <a:schemeClr val="tx1"/>
                </a:solidFill>
                <a:effectLst/>
                <a:latin typeface="Arial" panose="020B0604020202020204" pitchFamily="34" charset="0"/>
                <a:ea typeface="+mn-ea"/>
                <a:cs typeface="Arial" panose="020B0604020202020204" pitchFamily="34" charset="0"/>
              </a:rPr>
              <a:t>What strategy could you use to solve this problem?</a:t>
            </a:r>
          </a:p>
          <a:p>
            <a:pPr lvl="0"/>
            <a:r>
              <a:rPr lang="en-AU" sz="1600" kern="1200">
                <a:solidFill>
                  <a:schemeClr val="tx1"/>
                </a:solidFill>
                <a:effectLst/>
                <a:latin typeface="Arial" panose="020B0604020202020204" pitchFamily="34" charset="0"/>
                <a:ea typeface="+mn-ea"/>
                <a:cs typeface="Arial" panose="020B0604020202020204" pitchFamily="34" charset="0"/>
              </a:rPr>
              <a:t>What other strategies could be used to solve this problem?</a:t>
            </a:r>
          </a:p>
          <a:p>
            <a:pPr lvl="0"/>
            <a:r>
              <a:rPr lang="en-AU" sz="1600" kern="1200">
                <a:solidFill>
                  <a:schemeClr val="tx1"/>
                </a:solidFill>
                <a:effectLst/>
                <a:latin typeface="Arial" panose="020B0604020202020204" pitchFamily="34" charset="0"/>
                <a:ea typeface="+mn-ea"/>
                <a:cs typeface="Arial" panose="020B0604020202020204" pitchFamily="34" charset="0"/>
              </a:rPr>
              <a:t>Which strategy is the most efficient?</a:t>
            </a:r>
          </a:p>
          <a:p>
            <a:pPr lvl="0"/>
            <a:r>
              <a:rPr lang="en-AU" sz="1600" kern="1200">
                <a:solidFill>
                  <a:schemeClr val="tx1"/>
                </a:solidFill>
                <a:effectLst/>
                <a:latin typeface="Arial" panose="020B0604020202020204" pitchFamily="34" charset="0"/>
                <a:ea typeface="+mn-ea"/>
                <a:cs typeface="Arial" panose="020B0604020202020204" pitchFamily="34" charset="0"/>
              </a:rPr>
              <a:t>3. Students turn and talk to discuss their strategies.</a:t>
            </a:r>
          </a:p>
          <a:p>
            <a:pPr lvl="0"/>
            <a:r>
              <a:rPr lang="en-AU" sz="1600" kern="1200">
                <a:solidFill>
                  <a:schemeClr val="tx1"/>
                </a:solidFill>
                <a:effectLst/>
                <a:latin typeface="Arial" panose="020B0604020202020204" pitchFamily="34" charset="0"/>
                <a:ea typeface="+mn-ea"/>
                <a:cs typeface="Arial" panose="020B0604020202020204" pitchFamily="34" charset="0"/>
              </a:rPr>
              <a:t>4. Select a range of student responses to share with the class. Highlight the use of strategies such as levelling (3985 + 956 → 3990 + 951 → 4000 + 941) and bridging (3985 + 956 = 3985 plus 5 plus 10 plus 941).</a:t>
            </a:r>
          </a:p>
          <a:p>
            <a:pPr lvl="0"/>
            <a:r>
              <a:rPr lang="en-AU" sz="1600" kern="1200">
                <a:solidFill>
                  <a:schemeClr val="tx1"/>
                </a:solidFill>
                <a:effectLst/>
                <a:latin typeface="Arial" panose="020B0604020202020204" pitchFamily="34" charset="0"/>
                <a:ea typeface="+mn-ea"/>
                <a:cs typeface="Arial" panose="020B0604020202020204" pitchFamily="34" charset="0"/>
              </a:rPr>
              <a:t>5. Repeat the process with another problem, for example, 8002 – 2998 = _?</a:t>
            </a:r>
          </a:p>
          <a:p>
            <a:pPr lvl="0"/>
            <a:r>
              <a:rPr lang="en-AU" sz="1600" kern="1200">
                <a:solidFill>
                  <a:schemeClr val="tx1"/>
                </a:solidFill>
                <a:effectLst/>
                <a:latin typeface="Arial" panose="020B0604020202020204" pitchFamily="34" charset="0"/>
                <a:ea typeface="+mn-ea"/>
                <a:cs typeface="Arial" panose="020B0604020202020204" pitchFamily="34" charset="0"/>
              </a:rPr>
              <a:t>6. When discussing subtraction problems, highlight the use of addition for subtraction (8002 − 2998 add 2 is 3000 plus 5002) or using constant difference (8002 – 2998 → 8004 − 3000).</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12" Type="http://schemas.openxmlformats.org/officeDocument/2006/relationships/hyperlink" Target="https://nrich.maths.org/13261"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nrich.maths.org/1981" TargetMode="External"/><Relationship Id="rId5" Type="http://schemas.openxmlformats.org/officeDocument/2006/relationships/hyperlink" Target="https://curriculum.nsw.edu.au/" TargetMode="External"/><Relationship Id="rId10" Type="http://schemas.openxmlformats.org/officeDocument/2006/relationships/hyperlink" Target="https://www.mathsisfun.com/angles.html"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www.scootle.edu.au/ec/viewing/L9646/index.html"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aligns to the learning in Stage 3 Year A Unit 10 and revisits content from earlier sample units.</a:t>
            </a: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10</a:t>
            </a:r>
          </a:p>
        </p:txBody>
      </p:sp>
      <p:pic>
        <p:nvPicPr>
          <p:cNvPr id="5" name="Picture Placeholder 4">
            <a:extLst>
              <a:ext uri="{FF2B5EF4-FFF2-40B4-BE49-F238E27FC236}">
                <a16:creationId xmlns:a16="http://schemas.microsoft.com/office/drawing/2014/main" id="{3492ED26-EFFD-ABC0-5FC2-50C21A88E5D9}"/>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mc:AlternateContent xmlns:mc="http://schemas.openxmlformats.org/markup-compatibility/2006" xmlns:a14="http://schemas.microsoft.com/office/drawing/2010/main">
        <mc:Choice Requires="a14">
          <p:sp>
            <p:nvSpPr>
              <p:cNvPr id="5" name="Text Placeholder">
                <a:extLst>
                  <a:ext uri="{FF2B5EF4-FFF2-40B4-BE49-F238E27FC236}">
                    <a16:creationId xmlns:a16="http://schemas.microsoft.com/office/drawing/2014/main" id="{3C339EF9-44FF-8E47-9E29-0A29F88741B7}"/>
                  </a:ext>
                </a:extLst>
              </p:cNvPr>
              <p:cNvSpPr>
                <a:spLocks noGrp="1"/>
              </p:cNvSpPr>
              <p:nvPr>
                <p:ph type="body" sz="quarter" idx="24"/>
              </p:nvPr>
            </p:nvSpPr>
            <p:spPr>
              <a:xfrm>
                <a:off x="474662" y="1908055"/>
                <a:ext cx="11242675" cy="893763"/>
              </a:xfrm>
            </p:spPr>
            <p:txBody>
              <a:bodyPr/>
              <a:lstStyle/>
              <a:p>
                <a:pPr algn="ctr"/>
                <a:r>
                  <a:rPr lang="en-US" sz="4400"/>
                  <a:t>Which </a:t>
                </a:r>
                <a:r>
                  <a:rPr lang="en-US" sz="4400" b="1"/>
                  <a:t>unit fraction </a:t>
                </a:r>
                <a:r>
                  <a:rPr lang="en-US" sz="4400"/>
                  <a:t>is </a:t>
                </a:r>
                <a:r>
                  <a:rPr lang="en-US" sz="4400" b="1"/>
                  <a:t>closest </a:t>
                </a:r>
                <a:r>
                  <a:rPr lang="en-US" sz="4400"/>
                  <a:t>to </a:t>
                </a:r>
                <a14:m>
                  <m:oMath xmlns:m="http://schemas.openxmlformats.org/officeDocument/2006/math">
                    <m:f>
                      <m:fPr>
                        <m:ctrlPr>
                          <a:rPr lang="en-AU" sz="4400" b="1" i="1">
                            <a:latin typeface="Cambria Math" panose="02040503050406030204" pitchFamily="18" charset="0"/>
                          </a:rPr>
                        </m:ctrlPr>
                      </m:fPr>
                      <m:num>
                        <m:r>
                          <a:rPr lang="en-AU" sz="4400" b="1" i="1">
                            <a:latin typeface="Cambria Math" panose="02040503050406030204" pitchFamily="18" charset="0"/>
                          </a:rPr>
                          <m:t>𝟏</m:t>
                        </m:r>
                        <m:r>
                          <a:rPr lang="en-AU" sz="4400" b="1" i="1">
                            <a:latin typeface="Cambria Math" panose="02040503050406030204" pitchFamily="18" charset="0"/>
                          </a:rPr>
                          <m:t> </m:t>
                        </m:r>
                      </m:num>
                      <m:den>
                        <m:r>
                          <a:rPr lang="en-AU" sz="4400" b="1" i="1">
                            <a:latin typeface="Cambria Math" panose="02040503050406030204" pitchFamily="18" charset="0"/>
                          </a:rPr>
                          <m:t>𝟐</m:t>
                        </m:r>
                      </m:den>
                    </m:f>
                  </m:oMath>
                </a14:m>
                <a:r>
                  <a:rPr lang="en-US" sz="4000"/>
                  <a:t>?</a:t>
                </a:r>
              </a:p>
            </p:txBody>
          </p:sp>
        </mc:Choice>
        <mc:Fallback xmlns="">
          <p:sp>
            <p:nvSpPr>
              <p:cNvPr id="5" name="Text Placeholder">
                <a:extLst>
                  <a:ext uri="{FF2B5EF4-FFF2-40B4-BE49-F238E27FC236}">
                    <a16:creationId xmlns:a16="http://schemas.microsoft.com/office/drawing/2014/main" id="{3C339EF9-44FF-8E47-9E29-0A29F88741B7}"/>
                  </a:ext>
                </a:extLst>
              </p:cNvPr>
              <p:cNvSpPr>
                <a:spLocks noGrp="1" noRot="1" noChangeAspect="1" noMove="1" noResize="1" noEditPoints="1" noAdjustHandles="1" noChangeArrowheads="1" noChangeShapeType="1" noTextEdit="1"/>
              </p:cNvSpPr>
              <p:nvPr>
                <p:ph type="body" sz="quarter" idx="24"/>
              </p:nvPr>
            </p:nvSpPr>
            <p:spPr>
              <a:xfrm>
                <a:off x="474662" y="1908055"/>
                <a:ext cx="11242675" cy="893763"/>
              </a:xfrm>
              <a:blipFill>
                <a:blip r:embed="rId3"/>
                <a:stretch>
                  <a:fillRect b="-68707"/>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055D882C-AF43-C390-844D-CF785253532C}"/>
              </a:ext>
            </a:extLst>
          </p:cNvPr>
          <p:cNvSpPr txBox="1"/>
          <p:nvPr/>
        </p:nvSpPr>
        <p:spPr>
          <a:xfrm>
            <a:off x="641335"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mc:AlternateContent xmlns:mc="http://schemas.openxmlformats.org/markup-compatibility/2006" xmlns:a14="http://schemas.microsoft.com/office/drawing/2010/main">
        <mc:Choice Requires="a14">
          <p:sp>
            <p:nvSpPr>
              <p:cNvPr id="6" name="A text">
                <a:extLst>
                  <a:ext uri="{FF2B5EF4-FFF2-40B4-BE49-F238E27FC236}">
                    <a16:creationId xmlns:a16="http://schemas.microsoft.com/office/drawing/2014/main" id="{7DCB27C7-2BDA-028C-C555-79B27F1953D1}"/>
                  </a:ext>
                </a:extLst>
              </p:cNvPr>
              <p:cNvSpPr txBox="1">
                <a:spLocks/>
              </p:cNvSpPr>
              <p:nvPr/>
            </p:nvSpPr>
            <p:spPr>
              <a:xfrm>
                <a:off x="1408155" y="5491950"/>
                <a:ext cx="1819711"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f>
                        <m:fPr>
                          <m:ctrlPr>
                            <a:rPr lang="en-AU" sz="3600" i="1" smtClean="0">
                              <a:latin typeface="Cambria Math" panose="02040503050406030204" pitchFamily="18" charset="0"/>
                            </a:rPr>
                          </m:ctrlPr>
                        </m:fPr>
                        <m:num>
                          <m:r>
                            <a:rPr lang="en-AU" sz="3600" i="1">
                              <a:latin typeface="Cambria Math" panose="02040503050406030204" pitchFamily="18" charset="0"/>
                            </a:rPr>
                            <m:t>1 </m:t>
                          </m:r>
                        </m:num>
                        <m:den>
                          <m:r>
                            <a:rPr lang="en-AU" sz="3600" b="0" i="1" smtClean="0">
                              <a:latin typeface="Cambria Math" panose="02040503050406030204" pitchFamily="18" charset="0"/>
                            </a:rPr>
                            <m:t>5</m:t>
                          </m:r>
                        </m:den>
                      </m:f>
                      <m:r>
                        <a:rPr lang="en-AU" sz="3600" i="1" smtClean="0">
                          <a:latin typeface="Cambria Math" panose="02040503050406030204" pitchFamily="18" charset="0"/>
                        </a:rPr>
                        <m:t>,</m:t>
                      </m:r>
                    </m:oMath>
                  </m:oMathPara>
                </a14:m>
                <a:endParaRPr lang="en-US" sz="3600"/>
              </a:p>
            </p:txBody>
          </p:sp>
        </mc:Choice>
        <mc:Fallback xmlns="">
          <p:sp>
            <p:nvSpPr>
              <p:cNvPr id="6" name="A text">
                <a:extLst>
                  <a:ext uri="{FF2B5EF4-FFF2-40B4-BE49-F238E27FC236}">
                    <a16:creationId xmlns:a16="http://schemas.microsoft.com/office/drawing/2014/main" id="{7DCB27C7-2BDA-028C-C555-79B27F1953D1}"/>
                  </a:ext>
                </a:extLst>
              </p:cNvPr>
              <p:cNvSpPr txBox="1">
                <a:spLocks noRot="1" noChangeAspect="1" noMove="1" noResize="1" noEditPoints="1" noAdjustHandles="1" noChangeArrowheads="1" noChangeShapeType="1" noTextEdit="1"/>
              </p:cNvSpPr>
              <p:nvPr/>
            </p:nvSpPr>
            <p:spPr>
              <a:xfrm>
                <a:off x="1408155" y="5491950"/>
                <a:ext cx="1819711" cy="641396"/>
              </a:xfrm>
              <a:prstGeom prst="rect">
                <a:avLst/>
              </a:prstGeom>
              <a:blipFill>
                <a:blip r:embed="rId4"/>
                <a:stretch>
                  <a:fillRect t="-12381" b="-39048"/>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3A7CB9AE-0F31-FA92-BCB3-C4AD3EF18B05}"/>
              </a:ext>
            </a:extLst>
          </p:cNvPr>
          <p:cNvSpPr txBox="1"/>
          <p:nvPr/>
        </p:nvSpPr>
        <p:spPr>
          <a:xfrm>
            <a:off x="3806688"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mc:AlternateContent xmlns:mc="http://schemas.openxmlformats.org/markup-compatibility/2006" xmlns:a14="http://schemas.microsoft.com/office/drawing/2010/main">
        <mc:Choice Requires="a14">
          <p:sp>
            <p:nvSpPr>
              <p:cNvPr id="7" name="A text">
                <a:extLst>
                  <a:ext uri="{FF2B5EF4-FFF2-40B4-BE49-F238E27FC236}">
                    <a16:creationId xmlns:a16="http://schemas.microsoft.com/office/drawing/2014/main" id="{EE17BED0-C167-17AD-38EE-389D177C5FDE}"/>
                  </a:ext>
                </a:extLst>
              </p:cNvPr>
              <p:cNvSpPr txBox="1">
                <a:spLocks/>
              </p:cNvSpPr>
              <p:nvPr/>
            </p:nvSpPr>
            <p:spPr>
              <a:xfrm>
                <a:off x="4461952" y="5491950"/>
                <a:ext cx="1819711"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f>
                        <m:fPr>
                          <m:ctrlPr>
                            <a:rPr lang="en-AU" sz="3600" i="1" smtClean="0">
                              <a:latin typeface="Cambria Math" panose="02040503050406030204" pitchFamily="18" charset="0"/>
                            </a:rPr>
                          </m:ctrlPr>
                        </m:fPr>
                        <m:num>
                          <m:r>
                            <a:rPr lang="en-AU" sz="3600" i="1">
                              <a:latin typeface="Cambria Math" panose="02040503050406030204" pitchFamily="18" charset="0"/>
                            </a:rPr>
                            <m:t>1 </m:t>
                          </m:r>
                        </m:num>
                        <m:den>
                          <m:r>
                            <a:rPr lang="en-AU" sz="3600" b="0" i="1" smtClean="0">
                              <a:latin typeface="Cambria Math" panose="02040503050406030204" pitchFamily="18" charset="0"/>
                            </a:rPr>
                            <m:t>4</m:t>
                          </m:r>
                        </m:den>
                      </m:f>
                      <m:r>
                        <a:rPr lang="en-AU" sz="3600" i="1" smtClean="0">
                          <a:latin typeface="Cambria Math" panose="02040503050406030204" pitchFamily="18" charset="0"/>
                        </a:rPr>
                        <m:t>,</m:t>
                      </m:r>
                    </m:oMath>
                  </m:oMathPara>
                </a14:m>
                <a:endParaRPr lang="en-US" sz="3600"/>
              </a:p>
            </p:txBody>
          </p:sp>
        </mc:Choice>
        <mc:Fallback xmlns="">
          <p:sp>
            <p:nvSpPr>
              <p:cNvPr id="7" name="A text">
                <a:extLst>
                  <a:ext uri="{FF2B5EF4-FFF2-40B4-BE49-F238E27FC236}">
                    <a16:creationId xmlns:a16="http://schemas.microsoft.com/office/drawing/2014/main" id="{EE17BED0-C167-17AD-38EE-389D177C5FDE}"/>
                  </a:ext>
                </a:extLst>
              </p:cNvPr>
              <p:cNvSpPr txBox="1">
                <a:spLocks noRot="1" noChangeAspect="1" noMove="1" noResize="1" noEditPoints="1" noAdjustHandles="1" noChangeArrowheads="1" noChangeShapeType="1" noTextEdit="1"/>
              </p:cNvSpPr>
              <p:nvPr/>
            </p:nvSpPr>
            <p:spPr>
              <a:xfrm>
                <a:off x="4461952" y="5491950"/>
                <a:ext cx="1819711" cy="641396"/>
              </a:xfrm>
              <a:prstGeom prst="rect">
                <a:avLst/>
              </a:prstGeom>
              <a:blipFill>
                <a:blip r:embed="rId5"/>
                <a:stretch>
                  <a:fillRect t="-11429" b="-39048"/>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92ADCA88-1230-AEE8-EFD6-D8F0DF7EEE5C}"/>
              </a:ext>
            </a:extLst>
          </p:cNvPr>
          <p:cNvSpPr txBox="1"/>
          <p:nvPr/>
        </p:nvSpPr>
        <p:spPr>
          <a:xfrm>
            <a:off x="6932620" y="559991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mc:AlternateContent xmlns:mc="http://schemas.openxmlformats.org/markup-compatibility/2006" xmlns:a14="http://schemas.microsoft.com/office/drawing/2010/main">
        <mc:Choice Requires="a14">
          <p:sp>
            <p:nvSpPr>
              <p:cNvPr id="8" name="A text">
                <a:extLst>
                  <a:ext uri="{FF2B5EF4-FFF2-40B4-BE49-F238E27FC236}">
                    <a16:creationId xmlns:a16="http://schemas.microsoft.com/office/drawing/2014/main" id="{89FD6960-74E6-13FE-68C9-1682A2977E22}"/>
                  </a:ext>
                </a:extLst>
              </p:cNvPr>
              <p:cNvSpPr txBox="1">
                <a:spLocks/>
              </p:cNvSpPr>
              <p:nvPr/>
            </p:nvSpPr>
            <p:spPr>
              <a:xfrm>
                <a:off x="7516887" y="5491950"/>
                <a:ext cx="1819711"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f>
                        <m:fPr>
                          <m:ctrlPr>
                            <a:rPr lang="en-AU" sz="3600" i="1" smtClean="0">
                              <a:latin typeface="Cambria Math" panose="02040503050406030204" pitchFamily="18" charset="0"/>
                            </a:rPr>
                          </m:ctrlPr>
                        </m:fPr>
                        <m:num>
                          <m:r>
                            <a:rPr lang="en-AU" sz="3600" i="1">
                              <a:latin typeface="Cambria Math" panose="02040503050406030204" pitchFamily="18" charset="0"/>
                            </a:rPr>
                            <m:t>1 </m:t>
                          </m:r>
                        </m:num>
                        <m:den>
                          <m:r>
                            <a:rPr lang="en-AU" sz="3600" b="0" i="1" smtClean="0">
                              <a:latin typeface="Cambria Math" panose="02040503050406030204" pitchFamily="18" charset="0"/>
                            </a:rPr>
                            <m:t>3</m:t>
                          </m:r>
                        </m:den>
                      </m:f>
                      <m:r>
                        <a:rPr lang="en-AU" sz="3600" i="1" smtClean="0">
                          <a:latin typeface="Cambria Math" panose="02040503050406030204" pitchFamily="18" charset="0"/>
                        </a:rPr>
                        <m:t>,</m:t>
                      </m:r>
                    </m:oMath>
                  </m:oMathPara>
                </a14:m>
                <a:endParaRPr lang="en-US" sz="3600"/>
              </a:p>
            </p:txBody>
          </p:sp>
        </mc:Choice>
        <mc:Fallback xmlns="">
          <p:sp>
            <p:nvSpPr>
              <p:cNvPr id="8" name="A text">
                <a:extLst>
                  <a:ext uri="{FF2B5EF4-FFF2-40B4-BE49-F238E27FC236}">
                    <a16:creationId xmlns:a16="http://schemas.microsoft.com/office/drawing/2014/main" id="{89FD6960-74E6-13FE-68C9-1682A2977E22}"/>
                  </a:ext>
                </a:extLst>
              </p:cNvPr>
              <p:cNvSpPr txBox="1">
                <a:spLocks noRot="1" noChangeAspect="1" noMove="1" noResize="1" noEditPoints="1" noAdjustHandles="1" noChangeArrowheads="1" noChangeShapeType="1" noTextEdit="1"/>
              </p:cNvSpPr>
              <p:nvPr/>
            </p:nvSpPr>
            <p:spPr>
              <a:xfrm>
                <a:off x="7516887" y="5491950"/>
                <a:ext cx="1819711" cy="641396"/>
              </a:xfrm>
              <a:prstGeom prst="rect">
                <a:avLst/>
              </a:prstGeom>
              <a:blipFill>
                <a:blip r:embed="rId6"/>
                <a:stretch>
                  <a:fillRect t="-12381" b="-39048"/>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F2C63D4C-D53C-5250-A986-AB949B67DEB8}"/>
              </a:ext>
            </a:extLst>
          </p:cNvPr>
          <p:cNvSpPr txBox="1"/>
          <p:nvPr/>
        </p:nvSpPr>
        <p:spPr>
          <a:xfrm>
            <a:off x="9697082" y="559980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mc:AlternateContent xmlns:mc="http://schemas.openxmlformats.org/markup-compatibility/2006" xmlns:a14="http://schemas.microsoft.com/office/drawing/2010/main">
        <mc:Choice Requires="a14">
          <p:sp>
            <p:nvSpPr>
              <p:cNvPr id="13" name="A text">
                <a:extLst>
                  <a:ext uri="{FF2B5EF4-FFF2-40B4-BE49-F238E27FC236}">
                    <a16:creationId xmlns:a16="http://schemas.microsoft.com/office/drawing/2014/main" id="{58144D36-032C-1E1F-B9FD-CB520482648A}"/>
                  </a:ext>
                </a:extLst>
              </p:cNvPr>
              <p:cNvSpPr txBox="1">
                <a:spLocks/>
              </p:cNvSpPr>
              <p:nvPr/>
            </p:nvSpPr>
            <p:spPr>
              <a:xfrm>
                <a:off x="10226511" y="5491950"/>
                <a:ext cx="1819711"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f>
                        <m:fPr>
                          <m:ctrlPr>
                            <a:rPr lang="en-AU" sz="3600" i="1" smtClean="0">
                              <a:latin typeface="Cambria Math" panose="02040503050406030204" pitchFamily="18" charset="0"/>
                            </a:rPr>
                          </m:ctrlPr>
                        </m:fPr>
                        <m:num>
                          <m:r>
                            <a:rPr lang="en-AU" sz="3600" i="1">
                              <a:latin typeface="Cambria Math" panose="02040503050406030204" pitchFamily="18" charset="0"/>
                            </a:rPr>
                            <m:t>1 </m:t>
                          </m:r>
                        </m:num>
                        <m:den>
                          <m:r>
                            <a:rPr lang="en-AU" sz="3600" b="0" i="1" smtClean="0">
                              <a:latin typeface="Cambria Math" panose="02040503050406030204" pitchFamily="18" charset="0"/>
                            </a:rPr>
                            <m:t>8</m:t>
                          </m:r>
                        </m:den>
                      </m:f>
                      <m:r>
                        <a:rPr lang="en-AU" sz="3600" i="1" smtClean="0">
                          <a:latin typeface="Cambria Math" panose="02040503050406030204" pitchFamily="18" charset="0"/>
                        </a:rPr>
                        <m:t>,</m:t>
                      </m:r>
                    </m:oMath>
                  </m:oMathPara>
                </a14:m>
                <a:endParaRPr lang="en-US" sz="3600"/>
              </a:p>
            </p:txBody>
          </p:sp>
        </mc:Choice>
        <mc:Fallback xmlns="">
          <p:sp>
            <p:nvSpPr>
              <p:cNvPr id="13" name="A text">
                <a:extLst>
                  <a:ext uri="{FF2B5EF4-FFF2-40B4-BE49-F238E27FC236}">
                    <a16:creationId xmlns:a16="http://schemas.microsoft.com/office/drawing/2014/main" id="{58144D36-032C-1E1F-B9FD-CB520482648A}"/>
                  </a:ext>
                </a:extLst>
              </p:cNvPr>
              <p:cNvSpPr txBox="1">
                <a:spLocks noRot="1" noChangeAspect="1" noMove="1" noResize="1" noEditPoints="1" noAdjustHandles="1" noChangeArrowheads="1" noChangeShapeType="1" noTextEdit="1"/>
              </p:cNvSpPr>
              <p:nvPr/>
            </p:nvSpPr>
            <p:spPr>
              <a:xfrm>
                <a:off x="10226511" y="5491950"/>
                <a:ext cx="1819711" cy="641396"/>
              </a:xfrm>
              <a:prstGeom prst="rect">
                <a:avLst/>
              </a:prstGeom>
              <a:blipFill>
                <a:blip r:embed="rId7"/>
                <a:stretch>
                  <a:fillRect t="-12381" b="-39048"/>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5D11F5ED-B427-7A06-EE29-1C83BDE7EF0D}"/>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4" name="TextBox 3">
            <a:extLst>
              <a:ext uri="{FF2B5EF4-FFF2-40B4-BE49-F238E27FC236}">
                <a16:creationId xmlns:a16="http://schemas.microsoft.com/office/drawing/2014/main" id="{13FD8136-7395-79C6-B6CD-F4BBBA0E336C}"/>
              </a:ext>
            </a:extLst>
          </p:cNvPr>
          <p:cNvSpPr txBox="1"/>
          <p:nvPr/>
        </p:nvSpPr>
        <p:spPr>
          <a:xfrm>
            <a:off x="750930" y="2074984"/>
            <a:ext cx="9976338" cy="2344616"/>
          </a:xfrm>
          <a:prstGeom prst="rect">
            <a:avLst/>
          </a:prstGeom>
          <a:noFill/>
        </p:spPr>
        <p:txBody>
          <a:bodyPr wrap="square" lIns="0" tIns="0" rIns="0" bIns="0" rtlCol="0">
            <a:noAutofit/>
          </a:bodyPr>
          <a:lstStyle/>
          <a:p>
            <a:pPr algn="ctr">
              <a:lnSpc>
                <a:spcPct val="150000"/>
              </a:lnSpc>
            </a:pPr>
            <a:r>
              <a:rPr lang="en-AU" sz="4400" b="1"/>
              <a:t>Name</a:t>
            </a:r>
            <a:r>
              <a:rPr lang="en-AU" sz="4400"/>
              <a:t> the </a:t>
            </a:r>
            <a:r>
              <a:rPr lang="en-AU" sz="4400" b="1"/>
              <a:t>angle</a:t>
            </a:r>
            <a:r>
              <a:rPr lang="en-AU" sz="4400"/>
              <a:t> that can be described as </a:t>
            </a:r>
            <a:r>
              <a:rPr lang="en-AU" sz="4400" b="1"/>
              <a:t>less</a:t>
            </a:r>
            <a:r>
              <a:rPr lang="en-AU" sz="4400"/>
              <a:t> than a </a:t>
            </a:r>
            <a:r>
              <a:rPr lang="en-AU" sz="4400" b="1"/>
              <a:t>quarter turn</a:t>
            </a:r>
            <a:r>
              <a:rPr lang="en-AU" sz="3600"/>
              <a:t>.</a:t>
            </a:r>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sp>
        <p:nvSpPr>
          <p:cNvPr id="8" name="TextBox 7">
            <a:extLst>
              <a:ext uri="{FF2B5EF4-FFF2-40B4-BE49-F238E27FC236}">
                <a16:creationId xmlns:a16="http://schemas.microsoft.com/office/drawing/2014/main" id="{40D8E5BC-B3AD-99E3-5F7B-58E69EDE31F1}"/>
              </a:ext>
            </a:extLst>
          </p:cNvPr>
          <p:cNvSpPr txBox="1"/>
          <p:nvPr/>
        </p:nvSpPr>
        <p:spPr>
          <a:xfrm>
            <a:off x="149053" y="1924763"/>
            <a:ext cx="5261150" cy="3521798"/>
          </a:xfrm>
          <a:prstGeom prst="rect">
            <a:avLst/>
          </a:prstGeom>
          <a:noFill/>
        </p:spPr>
        <p:txBody>
          <a:bodyPr wrap="none" lIns="0" tIns="0" rIns="0" bIns="0" rtlCol="0">
            <a:noAutofit/>
          </a:bodyPr>
          <a:lstStyle/>
          <a:p>
            <a:pPr algn="ctr">
              <a:lnSpc>
                <a:spcPct val="150000"/>
              </a:lnSpc>
            </a:pPr>
            <a:r>
              <a:rPr lang="en-AU" sz="4000"/>
              <a:t>Use the </a:t>
            </a:r>
            <a:r>
              <a:rPr lang="en-AU" sz="4000" b="1"/>
              <a:t>base</a:t>
            </a:r>
            <a:r>
              <a:rPr lang="en-AU" sz="4000"/>
              <a:t> of each </a:t>
            </a:r>
          </a:p>
          <a:p>
            <a:pPr algn="ctr">
              <a:lnSpc>
                <a:spcPct val="150000"/>
              </a:lnSpc>
            </a:pPr>
            <a:r>
              <a:rPr lang="en-AU" sz="4000"/>
              <a:t>object to </a:t>
            </a:r>
            <a:r>
              <a:rPr lang="en-AU" sz="4000" b="1"/>
              <a:t>name</a:t>
            </a:r>
            <a:r>
              <a:rPr lang="en-AU" sz="4000"/>
              <a:t> the </a:t>
            </a:r>
          </a:p>
          <a:p>
            <a:pPr algn="ctr">
              <a:lnSpc>
                <a:spcPct val="150000"/>
              </a:lnSpc>
            </a:pPr>
            <a:r>
              <a:rPr lang="en-AU" sz="4000" b="1"/>
              <a:t>pyramids</a:t>
            </a:r>
            <a:r>
              <a:rPr lang="en-AU" sz="4000"/>
              <a:t> and </a:t>
            </a:r>
          </a:p>
          <a:p>
            <a:pPr algn="ctr">
              <a:lnSpc>
                <a:spcPct val="150000"/>
              </a:lnSpc>
            </a:pPr>
            <a:r>
              <a:rPr lang="en-AU" sz="4000" b="1"/>
              <a:t>prisms.</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4" name="TextBox 3">
            <a:extLst>
              <a:ext uri="{FF2B5EF4-FFF2-40B4-BE49-F238E27FC236}">
                <a16:creationId xmlns:a16="http://schemas.microsoft.com/office/drawing/2014/main" id="{4EE229BD-47DD-EBE1-57D6-57686C9DB055}"/>
              </a:ext>
            </a:extLst>
          </p:cNvPr>
          <p:cNvSpPr txBox="1"/>
          <p:nvPr/>
        </p:nvSpPr>
        <p:spPr>
          <a:xfrm>
            <a:off x="6196751" y="1377315"/>
            <a:ext cx="747486" cy="698228"/>
          </a:xfrm>
          <a:prstGeom prst="rect">
            <a:avLst/>
          </a:prstGeom>
          <a:noFill/>
        </p:spPr>
        <p:txBody>
          <a:bodyPr wrap="square" lIns="0" tIns="0" rIns="0" bIns="0" rtlCol="0">
            <a:noAutofit/>
          </a:bodyPr>
          <a:lstStyle/>
          <a:p>
            <a:pPr algn="l"/>
            <a:r>
              <a:rPr lang="en-AU" sz="1800"/>
              <a:t>A.</a:t>
            </a:r>
          </a:p>
        </p:txBody>
      </p:sp>
      <p:sp>
        <p:nvSpPr>
          <p:cNvPr id="5" name="TextBox 4">
            <a:extLst>
              <a:ext uri="{FF2B5EF4-FFF2-40B4-BE49-F238E27FC236}">
                <a16:creationId xmlns:a16="http://schemas.microsoft.com/office/drawing/2014/main" id="{FFB0B58A-C92A-864C-D60B-173632DADC45}"/>
              </a:ext>
            </a:extLst>
          </p:cNvPr>
          <p:cNvSpPr txBox="1"/>
          <p:nvPr/>
        </p:nvSpPr>
        <p:spPr>
          <a:xfrm>
            <a:off x="9151256" y="1368516"/>
            <a:ext cx="747486" cy="698228"/>
          </a:xfrm>
          <a:prstGeom prst="rect">
            <a:avLst/>
          </a:prstGeom>
          <a:noFill/>
        </p:spPr>
        <p:txBody>
          <a:bodyPr wrap="square" lIns="0" tIns="0" rIns="0" bIns="0" rtlCol="0">
            <a:noAutofit/>
          </a:bodyPr>
          <a:lstStyle/>
          <a:p>
            <a:pPr algn="l"/>
            <a:r>
              <a:rPr lang="en-AU" sz="1800"/>
              <a:t>B.</a:t>
            </a:r>
          </a:p>
        </p:txBody>
      </p:sp>
      <p:sp>
        <p:nvSpPr>
          <p:cNvPr id="9" name="TextBox 8">
            <a:extLst>
              <a:ext uri="{FF2B5EF4-FFF2-40B4-BE49-F238E27FC236}">
                <a16:creationId xmlns:a16="http://schemas.microsoft.com/office/drawing/2014/main" id="{AB3E1FE2-EADB-5502-4F96-71FE6C708074}"/>
              </a:ext>
            </a:extLst>
          </p:cNvPr>
          <p:cNvSpPr txBox="1"/>
          <p:nvPr/>
        </p:nvSpPr>
        <p:spPr>
          <a:xfrm>
            <a:off x="5543634" y="4433344"/>
            <a:ext cx="747486" cy="698228"/>
          </a:xfrm>
          <a:prstGeom prst="rect">
            <a:avLst/>
          </a:prstGeom>
          <a:noFill/>
        </p:spPr>
        <p:txBody>
          <a:bodyPr wrap="square" lIns="0" tIns="0" rIns="0" bIns="0" rtlCol="0">
            <a:noAutofit/>
          </a:bodyPr>
          <a:lstStyle/>
          <a:p>
            <a:pPr algn="l"/>
            <a:r>
              <a:rPr lang="en-AU" sz="1800"/>
              <a:t>C.</a:t>
            </a:r>
          </a:p>
        </p:txBody>
      </p:sp>
      <p:sp>
        <p:nvSpPr>
          <p:cNvPr id="10" name="TextBox 9">
            <a:extLst>
              <a:ext uri="{FF2B5EF4-FFF2-40B4-BE49-F238E27FC236}">
                <a16:creationId xmlns:a16="http://schemas.microsoft.com/office/drawing/2014/main" id="{461B44D0-E4BF-0563-F0FD-DF4D1C808B24}"/>
              </a:ext>
            </a:extLst>
          </p:cNvPr>
          <p:cNvSpPr txBox="1"/>
          <p:nvPr/>
        </p:nvSpPr>
        <p:spPr>
          <a:xfrm>
            <a:off x="9347199" y="4330973"/>
            <a:ext cx="747486" cy="698228"/>
          </a:xfrm>
          <a:prstGeom prst="rect">
            <a:avLst/>
          </a:prstGeom>
          <a:noFill/>
        </p:spPr>
        <p:txBody>
          <a:bodyPr wrap="square" lIns="0" tIns="0" rIns="0" bIns="0" rtlCol="0">
            <a:noAutofit/>
          </a:bodyPr>
          <a:lstStyle/>
          <a:p>
            <a:pPr algn="l"/>
            <a:r>
              <a:rPr lang="en-AU" sz="1800"/>
              <a:t>D.</a:t>
            </a:r>
          </a:p>
        </p:txBody>
      </p:sp>
      <p:pic>
        <p:nvPicPr>
          <p:cNvPr id="7" name="Picture 6" descr="Image of light blue rectangular pyramid, green triangular pyramid, dark blue rectangular prism and red triangular prism.">
            <a:extLst>
              <a:ext uri="{FF2B5EF4-FFF2-40B4-BE49-F238E27FC236}">
                <a16:creationId xmlns:a16="http://schemas.microsoft.com/office/drawing/2014/main" id="{252D46B8-404E-D8D1-EF6E-31286069ADC3}"/>
              </a:ext>
            </a:extLst>
          </p:cNvPr>
          <p:cNvPicPr>
            <a:picLocks noGrp="1" noRot="1" noChangeAspect="1" noMove="1" noResize="1" noEditPoints="1" noAdjustHandles="1" noChangeArrowheads="1" noChangeShapeType="1" noCrop="1"/>
          </p:cNvPicPr>
          <p:nvPr/>
        </p:nvPicPr>
        <p:blipFill>
          <a:blip r:embed="rId4"/>
          <a:srcRect l="27322" t="4169" r="19850" b="10451"/>
          <a:stretch>
            <a:fillRect/>
          </a:stretch>
        </p:blipFill>
        <p:spPr>
          <a:xfrm>
            <a:off x="5543634" y="1184223"/>
            <a:ext cx="5620273" cy="5109340"/>
          </a:xfrm>
          <a:prstGeom prst="rect">
            <a:avLst/>
          </a:prstGeom>
          <a:effectLst/>
        </p:spPr>
      </p:pic>
      <p:sp>
        <p:nvSpPr>
          <p:cNvPr id="11" name="TextBox 10">
            <a:extLst>
              <a:ext uri="{FF2B5EF4-FFF2-40B4-BE49-F238E27FC236}">
                <a16:creationId xmlns:a16="http://schemas.microsoft.com/office/drawing/2014/main" id="{3B632A5E-C3DC-F7EE-6128-227BEB3B4D40}"/>
              </a:ext>
            </a:extLst>
          </p:cNvPr>
          <p:cNvSpPr txBox="1"/>
          <p:nvPr/>
        </p:nvSpPr>
        <p:spPr>
          <a:xfrm>
            <a:off x="6077805" y="1671121"/>
            <a:ext cx="654205" cy="636878"/>
          </a:xfrm>
          <a:prstGeom prst="rect">
            <a:avLst/>
          </a:prstGeom>
          <a:noFill/>
        </p:spPr>
        <p:txBody>
          <a:bodyPr wrap="square" lIns="0" tIns="0" rIns="0" bIns="0" rtlCol="0">
            <a:noAutofit/>
          </a:bodyPr>
          <a:lstStyle/>
          <a:p>
            <a:pPr algn="l"/>
            <a:r>
              <a:rPr lang="en-AU" sz="1800"/>
              <a:t>A.</a:t>
            </a:r>
          </a:p>
        </p:txBody>
      </p:sp>
      <p:sp>
        <p:nvSpPr>
          <p:cNvPr id="12" name="TextBox 11">
            <a:extLst>
              <a:ext uri="{FF2B5EF4-FFF2-40B4-BE49-F238E27FC236}">
                <a16:creationId xmlns:a16="http://schemas.microsoft.com/office/drawing/2014/main" id="{CAE8A748-9E79-C33B-623C-8DD16BCE3E10}"/>
              </a:ext>
            </a:extLst>
          </p:cNvPr>
          <p:cNvSpPr txBox="1"/>
          <p:nvPr/>
        </p:nvSpPr>
        <p:spPr>
          <a:xfrm>
            <a:off x="9066737" y="1671121"/>
            <a:ext cx="654205" cy="636878"/>
          </a:xfrm>
          <a:prstGeom prst="rect">
            <a:avLst/>
          </a:prstGeom>
          <a:noFill/>
        </p:spPr>
        <p:txBody>
          <a:bodyPr wrap="square" lIns="0" tIns="0" rIns="0" bIns="0" rtlCol="0">
            <a:noAutofit/>
          </a:bodyPr>
          <a:lstStyle/>
          <a:p>
            <a:pPr algn="l"/>
            <a:r>
              <a:rPr lang="en-AU" sz="1800"/>
              <a:t>B.</a:t>
            </a:r>
          </a:p>
        </p:txBody>
      </p:sp>
      <p:sp>
        <p:nvSpPr>
          <p:cNvPr id="13" name="TextBox 12">
            <a:extLst>
              <a:ext uri="{FF2B5EF4-FFF2-40B4-BE49-F238E27FC236}">
                <a16:creationId xmlns:a16="http://schemas.microsoft.com/office/drawing/2014/main" id="{A7CB55AC-28C7-3672-568D-F42FC8F41FD4}"/>
              </a:ext>
            </a:extLst>
          </p:cNvPr>
          <p:cNvSpPr txBox="1"/>
          <p:nvPr/>
        </p:nvSpPr>
        <p:spPr>
          <a:xfrm>
            <a:off x="5844423" y="4287474"/>
            <a:ext cx="654205" cy="636878"/>
          </a:xfrm>
          <a:prstGeom prst="rect">
            <a:avLst/>
          </a:prstGeom>
          <a:noFill/>
        </p:spPr>
        <p:txBody>
          <a:bodyPr wrap="square" lIns="0" tIns="0" rIns="0" bIns="0" rtlCol="0">
            <a:noAutofit/>
          </a:bodyPr>
          <a:lstStyle/>
          <a:p>
            <a:pPr algn="l"/>
            <a:r>
              <a:rPr lang="en-AU" sz="1800"/>
              <a:t>C.</a:t>
            </a:r>
          </a:p>
        </p:txBody>
      </p:sp>
      <p:sp>
        <p:nvSpPr>
          <p:cNvPr id="14" name="TextBox 13">
            <a:extLst>
              <a:ext uri="{FF2B5EF4-FFF2-40B4-BE49-F238E27FC236}">
                <a16:creationId xmlns:a16="http://schemas.microsoft.com/office/drawing/2014/main" id="{303CDEC4-17CE-69EB-A3CA-EBE1D6CA3905}"/>
              </a:ext>
            </a:extLst>
          </p:cNvPr>
          <p:cNvSpPr txBox="1"/>
          <p:nvPr/>
        </p:nvSpPr>
        <p:spPr>
          <a:xfrm>
            <a:off x="9347199" y="4253789"/>
            <a:ext cx="654205" cy="636878"/>
          </a:xfrm>
          <a:prstGeom prst="rect">
            <a:avLst/>
          </a:prstGeom>
          <a:noFill/>
        </p:spPr>
        <p:txBody>
          <a:bodyPr wrap="square" lIns="0" tIns="0" rIns="0" bIns="0" rtlCol="0">
            <a:noAutofit/>
          </a:bodyPr>
          <a:lstStyle/>
          <a:p>
            <a:pPr algn="l"/>
            <a:r>
              <a:rPr lang="en-AU" sz="1800"/>
              <a:t>D.</a:t>
            </a:r>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5" name="TextBox 4">
            <a:extLst>
              <a:ext uri="{FF2B5EF4-FFF2-40B4-BE49-F238E27FC236}">
                <a16:creationId xmlns:a16="http://schemas.microsoft.com/office/drawing/2014/main" id="{B51B8912-AA1D-787F-CBF5-1E87B0542ADD}"/>
              </a:ext>
            </a:extLst>
          </p:cNvPr>
          <p:cNvSpPr txBox="1"/>
          <p:nvPr/>
        </p:nvSpPr>
        <p:spPr>
          <a:xfrm>
            <a:off x="189014" y="905601"/>
            <a:ext cx="11585976" cy="3313664"/>
          </a:xfrm>
          <a:prstGeom prst="rect">
            <a:avLst/>
          </a:prstGeom>
          <a:noFill/>
        </p:spPr>
        <p:txBody>
          <a:bodyPr wrap="square">
            <a:spAutoFit/>
          </a:bodyPr>
          <a:lstStyle/>
          <a:p>
            <a:pPr algn="ctr">
              <a:lnSpc>
                <a:spcPct val="150000"/>
              </a:lnSpc>
            </a:pPr>
            <a:r>
              <a:rPr lang="en-AU" sz="3600" b="1"/>
              <a:t>Record</a:t>
            </a:r>
            <a:r>
              <a:rPr lang="en-AU" sz="3600"/>
              <a:t> the missing part of these sentences:</a:t>
            </a:r>
          </a:p>
          <a:p>
            <a:pPr algn="ctr">
              <a:lnSpc>
                <a:spcPct val="150000"/>
              </a:lnSpc>
            </a:pPr>
            <a:endParaRPr lang="en-AU" sz="3600"/>
          </a:p>
          <a:p>
            <a:pPr algn="ctr">
              <a:lnSpc>
                <a:spcPct val="150000"/>
              </a:lnSpc>
            </a:pPr>
            <a:r>
              <a:rPr lang="en-AU" sz="3600"/>
              <a:t>The </a:t>
            </a:r>
            <a:r>
              <a:rPr lang="en-AU" sz="3600" b="1"/>
              <a:t>grid-map reference </a:t>
            </a:r>
            <a:r>
              <a:rPr lang="en-AU" sz="3600"/>
              <a:t>system gives an ____location.</a:t>
            </a:r>
          </a:p>
          <a:p>
            <a:pPr algn="ctr">
              <a:lnSpc>
                <a:spcPct val="150000"/>
              </a:lnSpc>
            </a:pPr>
            <a:r>
              <a:rPr lang="en-AU" sz="3600"/>
              <a:t>The </a:t>
            </a:r>
            <a:r>
              <a:rPr lang="en-AU" sz="3600" b="1"/>
              <a:t>Cartesian plane </a:t>
            </a:r>
            <a:r>
              <a:rPr lang="en-AU" sz="3600"/>
              <a:t>gives a _______ location.</a:t>
            </a:r>
          </a:p>
        </p:txBody>
      </p:sp>
      <p:graphicFrame>
        <p:nvGraphicFramePr>
          <p:cNvPr id="4" name="Table 3">
            <a:extLst>
              <a:ext uri="{FF2B5EF4-FFF2-40B4-BE49-F238E27FC236}">
                <a16:creationId xmlns:a16="http://schemas.microsoft.com/office/drawing/2014/main" id="{C28083FD-5946-598B-B570-387AAB62B7E9}"/>
              </a:ext>
            </a:extLst>
          </p:cNvPr>
          <p:cNvGraphicFramePr>
            <a:graphicFrameLocks noGrp="1"/>
          </p:cNvGraphicFramePr>
          <p:nvPr>
            <p:extLst>
              <p:ext uri="{D42A27DB-BD31-4B8C-83A1-F6EECF244321}">
                <p14:modId xmlns:p14="http://schemas.microsoft.com/office/powerpoint/2010/main" val="348936115"/>
              </p:ext>
            </p:extLst>
          </p:nvPr>
        </p:nvGraphicFramePr>
        <p:xfrm>
          <a:off x="1918002" y="5492388"/>
          <a:ext cx="8128000" cy="5791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315344975"/>
                    </a:ext>
                  </a:extLst>
                </a:gridCol>
                <a:gridCol w="4064000">
                  <a:extLst>
                    <a:ext uri="{9D8B030D-6E8A-4147-A177-3AD203B41FA5}">
                      <a16:colId xmlns:a16="http://schemas.microsoft.com/office/drawing/2014/main" val="3246991789"/>
                    </a:ext>
                  </a:extLst>
                </a:gridCol>
              </a:tblGrid>
              <a:tr h="370840">
                <a:tc>
                  <a:txBody>
                    <a:bodyPr/>
                    <a:lstStyle/>
                    <a:p>
                      <a:pPr algn="ctr"/>
                      <a:r>
                        <a:rPr lang="en-AU" sz="3200" b="1"/>
                        <a:t>area</a:t>
                      </a:r>
                    </a:p>
                  </a:txBody>
                  <a:tcPr>
                    <a:solidFill>
                      <a:schemeClr val="accent4">
                        <a:lumMod val="90000"/>
                      </a:schemeClr>
                    </a:solidFill>
                  </a:tcPr>
                </a:tc>
                <a:tc>
                  <a:txBody>
                    <a:bodyPr/>
                    <a:lstStyle/>
                    <a:p>
                      <a:pPr algn="ctr"/>
                      <a:r>
                        <a:rPr lang="en-AU" sz="3200" b="1"/>
                        <a:t>specific point </a:t>
                      </a:r>
                    </a:p>
                  </a:txBody>
                  <a:tcPr>
                    <a:solidFill>
                      <a:schemeClr val="accent4">
                        <a:lumMod val="90000"/>
                      </a:schemeClr>
                    </a:solidFill>
                  </a:tcPr>
                </a:tc>
                <a:extLst>
                  <a:ext uri="{0D108BD9-81ED-4DB2-BD59-A6C34878D82A}">
                    <a16:rowId xmlns:a16="http://schemas.microsoft.com/office/drawing/2014/main" val="665230140"/>
                  </a:ext>
                </a:extLst>
              </a:tr>
            </a:tbl>
          </a:graphicData>
        </a:graphic>
      </p:graphicFrame>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4" name="TextBox 3">
            <a:extLst>
              <a:ext uri="{FF2B5EF4-FFF2-40B4-BE49-F238E27FC236}">
                <a16:creationId xmlns:a16="http://schemas.microsoft.com/office/drawing/2014/main" id="{5E18B9EB-6AA0-3AFA-C872-CB95D1004840}"/>
              </a:ext>
            </a:extLst>
          </p:cNvPr>
          <p:cNvSpPr txBox="1"/>
          <p:nvPr/>
        </p:nvSpPr>
        <p:spPr>
          <a:xfrm>
            <a:off x="1426105" y="1514475"/>
            <a:ext cx="9301163" cy="1914525"/>
          </a:xfrm>
          <a:prstGeom prst="rect">
            <a:avLst/>
          </a:prstGeom>
          <a:noFill/>
        </p:spPr>
        <p:txBody>
          <a:bodyPr wrap="square" lIns="0" tIns="0" rIns="0" bIns="0" rtlCol="0">
            <a:noAutofit/>
          </a:bodyPr>
          <a:lstStyle/>
          <a:p>
            <a:pPr algn="l"/>
            <a:r>
              <a:rPr lang="en-AU" sz="4000" b="1"/>
              <a:t>Calculate</a:t>
            </a:r>
            <a:r>
              <a:rPr lang="en-AU" sz="4000"/>
              <a:t> the </a:t>
            </a:r>
            <a:r>
              <a:rPr lang="en-AU" sz="4000" b="1"/>
              <a:t>perimeter</a:t>
            </a:r>
            <a:r>
              <a:rPr lang="en-AU" sz="4000"/>
              <a:t> of this shape.</a:t>
            </a:r>
          </a:p>
        </p:txBody>
      </p:sp>
      <p:pic>
        <p:nvPicPr>
          <p:cNvPr id="7" name="Picture 6" descr="Blue triangle with sides labelled: 12 cm, 12cm and 8 cm.">
            <a:extLst>
              <a:ext uri="{FF2B5EF4-FFF2-40B4-BE49-F238E27FC236}">
                <a16:creationId xmlns:a16="http://schemas.microsoft.com/office/drawing/2014/main" id="{4CEC60AE-A270-DFB3-AB0C-EBF52E26FFF5}"/>
              </a:ext>
            </a:extLst>
          </p:cNvPr>
          <p:cNvPicPr>
            <a:picLocks noChangeAspect="1"/>
          </p:cNvPicPr>
          <p:nvPr/>
        </p:nvPicPr>
        <p:blipFill>
          <a:blip r:embed="rId4"/>
          <a:srcRect l="32970" t="32741" r="27816" b="5959"/>
          <a:stretch>
            <a:fillRect/>
          </a:stretch>
        </p:blipFill>
        <p:spPr>
          <a:xfrm>
            <a:off x="4096512" y="2401988"/>
            <a:ext cx="3882126" cy="4290462"/>
          </a:xfrm>
          <a:prstGeom prst="rect">
            <a:avLst/>
          </a:prstGeom>
        </p:spPr>
      </p:pic>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comparing unit fractions to benchmark fractions</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3" name="Picture 2" descr="Common fractions for placing on a number line.">
            <a:extLst>
              <a:ext uri="{FF2B5EF4-FFF2-40B4-BE49-F238E27FC236}">
                <a16:creationId xmlns:a16="http://schemas.microsoft.com/office/drawing/2014/main" id="{81CEEC18-7393-8EB7-A363-7FD474FAC964}"/>
              </a:ext>
            </a:extLst>
          </p:cNvPr>
          <p:cNvPicPr>
            <a:picLocks noChangeAspect="1"/>
          </p:cNvPicPr>
          <p:nvPr/>
        </p:nvPicPr>
        <p:blipFill>
          <a:blip r:embed="rId4"/>
          <a:stretch>
            <a:fillRect/>
          </a:stretch>
        </p:blipFill>
        <p:spPr>
          <a:xfrm rot="16200000">
            <a:off x="3982982" y="-344292"/>
            <a:ext cx="4876670" cy="8434755"/>
          </a:xfrm>
          <a:prstGeom prst="rect">
            <a:avLst/>
          </a:prstGeom>
        </p:spPr>
      </p:pic>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60000" y="1442453"/>
            <a:ext cx="11243037" cy="893226"/>
          </a:xfrm>
        </p:spPr>
        <p:txBody>
          <a:bodyPr/>
          <a:lstStyle/>
          <a:p>
            <a:pPr algn="ctr"/>
            <a:r>
              <a:rPr lang="en-AU" sz="4000"/>
              <a:t>These </a:t>
            </a:r>
            <a:r>
              <a:rPr lang="en-AU" sz="4000" b="1"/>
              <a:t>fractions</a:t>
            </a:r>
            <a:r>
              <a:rPr lang="en-AU" sz="4000"/>
              <a:t> are </a:t>
            </a:r>
            <a:r>
              <a:rPr lang="en-AU" sz="4000" b="1"/>
              <a:t>correctly</a:t>
            </a:r>
            <a:r>
              <a:rPr lang="en-AU" sz="4000"/>
              <a:t> </a:t>
            </a:r>
            <a:r>
              <a:rPr lang="en-AU" sz="4000" b="1"/>
              <a:t>ordered</a:t>
            </a:r>
            <a:r>
              <a:rPr lang="en-AU" sz="4000"/>
              <a:t> on the number line.</a:t>
            </a:r>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pic>
        <p:nvPicPr>
          <p:cNvPr id="5" name="Picture 4" descr="A numberline from 0 to 1 showing the following one half, one third, one fourth and one sixth ">
            <a:extLst>
              <a:ext uri="{FF2B5EF4-FFF2-40B4-BE49-F238E27FC236}">
                <a16:creationId xmlns:a16="http://schemas.microsoft.com/office/drawing/2014/main" id="{6EB53D35-18E5-580E-D11D-63E41456943B}"/>
              </a:ext>
            </a:extLst>
          </p:cNvPr>
          <p:cNvPicPr>
            <a:picLocks noChangeAspect="1"/>
          </p:cNvPicPr>
          <p:nvPr/>
        </p:nvPicPr>
        <p:blipFill>
          <a:blip r:embed="rId4"/>
          <a:srcRect t="35357" b="34872"/>
          <a:stretch>
            <a:fillRect/>
          </a:stretch>
        </p:blipFill>
        <p:spPr>
          <a:xfrm>
            <a:off x="1576163" y="3429000"/>
            <a:ext cx="9039674" cy="1902700"/>
          </a:xfrm>
          <a:prstGeom prst="rect">
            <a:avLst/>
          </a:prstGeom>
          <a:effectLst>
            <a:outerShdw blurRad="63500" sx="102000" sy="102000" algn="ctr" rotWithShape="0">
              <a:prstClr val="black">
                <a:alpha val="40000"/>
              </a:prstClr>
            </a:outerShdw>
          </a:effectLst>
        </p:spPr>
      </p:pic>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2903510205"/>
              </p:ext>
            </p:extLst>
          </p:nvPr>
        </p:nvGraphicFramePr>
        <p:xfrm>
          <a:off x="2557462" y="5490488"/>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4" name="TextBox 3">
            <a:extLst>
              <a:ext uri="{FF2B5EF4-FFF2-40B4-BE49-F238E27FC236}">
                <a16:creationId xmlns:a16="http://schemas.microsoft.com/office/drawing/2014/main" id="{71F4802C-4664-D047-7CC0-DE24A4077ACC}"/>
              </a:ext>
            </a:extLst>
          </p:cNvPr>
          <p:cNvSpPr txBox="1"/>
          <p:nvPr/>
        </p:nvSpPr>
        <p:spPr>
          <a:xfrm>
            <a:off x="668135" y="1272240"/>
            <a:ext cx="10855730" cy="1465384"/>
          </a:xfrm>
          <a:prstGeom prst="rect">
            <a:avLst/>
          </a:prstGeom>
          <a:noFill/>
        </p:spPr>
        <p:txBody>
          <a:bodyPr wrap="square" lIns="0" tIns="0" rIns="0" bIns="0" rtlCol="0">
            <a:noAutofit/>
          </a:bodyPr>
          <a:lstStyle/>
          <a:p>
            <a:pPr algn="ctr">
              <a:lnSpc>
                <a:spcPct val="150000"/>
              </a:lnSpc>
            </a:pPr>
            <a:r>
              <a:rPr lang="en-AU" sz="4400"/>
              <a:t>Estella faced the </a:t>
            </a:r>
            <a:r>
              <a:rPr lang="en-AU" sz="4400" b="1"/>
              <a:t>front</a:t>
            </a:r>
            <a:r>
              <a:rPr lang="en-AU" sz="4400"/>
              <a:t> of the classroom, then made a </a:t>
            </a:r>
            <a:r>
              <a:rPr lang="en-AU" sz="4400" b="1"/>
              <a:t>half</a:t>
            </a:r>
            <a:r>
              <a:rPr lang="en-AU" sz="4400"/>
              <a:t> </a:t>
            </a:r>
            <a:r>
              <a:rPr lang="en-AU" sz="4400" b="1"/>
              <a:t>turn</a:t>
            </a:r>
            <a:r>
              <a:rPr lang="en-AU" sz="4400"/>
              <a:t> to the </a:t>
            </a:r>
            <a:r>
              <a:rPr lang="en-AU" sz="4400" b="1"/>
              <a:t>right</a:t>
            </a:r>
            <a:r>
              <a:rPr lang="en-AU" sz="4400"/>
              <a:t>.</a:t>
            </a:r>
          </a:p>
          <a:p>
            <a:pPr algn="ctr">
              <a:lnSpc>
                <a:spcPct val="150000"/>
              </a:lnSpc>
            </a:pPr>
            <a:endParaRPr lang="en-AU" sz="4400"/>
          </a:p>
          <a:p>
            <a:pPr algn="ctr">
              <a:lnSpc>
                <a:spcPct val="150000"/>
              </a:lnSpc>
            </a:pPr>
            <a:r>
              <a:rPr lang="en-AU" sz="4400"/>
              <a:t>Mark the </a:t>
            </a:r>
            <a:r>
              <a:rPr lang="en-AU" sz="4400" b="1"/>
              <a:t>vertex</a:t>
            </a:r>
            <a:r>
              <a:rPr lang="en-AU" sz="4400"/>
              <a:t> and draw the </a:t>
            </a:r>
            <a:r>
              <a:rPr lang="en-AU" sz="4400" b="1"/>
              <a:t>invisible arms </a:t>
            </a:r>
            <a:r>
              <a:rPr lang="en-AU" sz="4400"/>
              <a:t>of the </a:t>
            </a:r>
            <a:r>
              <a:rPr lang="en-AU" sz="4400" b="1"/>
              <a:t>angle</a:t>
            </a:r>
            <a:r>
              <a:rPr lang="en-AU" sz="4400"/>
              <a:t> she made.</a:t>
            </a:r>
          </a:p>
          <a:p>
            <a:pPr algn="ctr">
              <a:lnSpc>
                <a:spcPct val="150000"/>
              </a:lnSpc>
            </a:pPr>
            <a:endParaRPr lang="en-AU" sz="3600"/>
          </a:p>
          <a:p>
            <a:pPr algn="l">
              <a:lnSpc>
                <a:spcPct val="150000"/>
              </a:lnSpc>
            </a:pPr>
            <a:endParaRPr lang="en-AU" sz="1800"/>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5" name="TextBox 4">
            <a:extLst>
              <a:ext uri="{FF2B5EF4-FFF2-40B4-BE49-F238E27FC236}">
                <a16:creationId xmlns:a16="http://schemas.microsoft.com/office/drawing/2014/main" id="{4DD60769-8A95-7F1C-D3D0-6ABBD7497E19}"/>
              </a:ext>
            </a:extLst>
          </p:cNvPr>
          <p:cNvSpPr txBox="1"/>
          <p:nvPr/>
        </p:nvSpPr>
        <p:spPr>
          <a:xfrm>
            <a:off x="626700" y="1924051"/>
            <a:ext cx="4537010" cy="3078178"/>
          </a:xfrm>
          <a:prstGeom prst="rect">
            <a:avLst/>
          </a:prstGeom>
          <a:noFill/>
        </p:spPr>
        <p:txBody>
          <a:bodyPr wrap="none" lIns="0" tIns="0" rIns="0" bIns="0" rtlCol="0">
            <a:noAutofit/>
          </a:bodyPr>
          <a:lstStyle/>
          <a:p>
            <a:pPr algn="ctr">
              <a:lnSpc>
                <a:spcPct val="150000"/>
              </a:lnSpc>
            </a:pPr>
            <a:r>
              <a:rPr lang="en-AU" sz="4000" b="1"/>
              <a:t>Sketch</a:t>
            </a:r>
            <a:r>
              <a:rPr lang="en-AU" sz="4000"/>
              <a:t> the 3D object </a:t>
            </a:r>
          </a:p>
          <a:p>
            <a:pPr algn="ctr">
              <a:lnSpc>
                <a:spcPct val="150000"/>
              </a:lnSpc>
            </a:pPr>
            <a:r>
              <a:rPr lang="en-AU" sz="4000"/>
              <a:t>from the </a:t>
            </a:r>
            <a:r>
              <a:rPr lang="en-AU" sz="4000" b="1"/>
              <a:t>top view</a:t>
            </a:r>
            <a:r>
              <a:rPr lang="en-AU" sz="4000"/>
              <a:t>.</a:t>
            </a:r>
          </a:p>
        </p:txBody>
      </p:sp>
      <p:pic>
        <p:nvPicPr>
          <p:cNvPr id="4" name="Picture 3" descr="Image of a hexagonal prism.">
            <a:extLst>
              <a:ext uri="{FF2B5EF4-FFF2-40B4-BE49-F238E27FC236}">
                <a16:creationId xmlns:a16="http://schemas.microsoft.com/office/drawing/2014/main" id="{02634A1B-B79E-AFB3-223A-1C4E9CD27740}"/>
              </a:ext>
            </a:extLst>
          </p:cNvPr>
          <p:cNvPicPr>
            <a:picLocks noChangeAspect="1"/>
          </p:cNvPicPr>
          <p:nvPr/>
        </p:nvPicPr>
        <p:blipFill>
          <a:blip r:embed="rId4"/>
          <a:srcRect l="33051" t="13799" r="29290" b="26473"/>
          <a:stretch>
            <a:fillRect/>
          </a:stretch>
        </p:blipFill>
        <p:spPr>
          <a:xfrm>
            <a:off x="6118920" y="905601"/>
            <a:ext cx="4537010" cy="5115079"/>
          </a:xfrm>
          <a:prstGeom prst="rect">
            <a:avLst/>
          </a:prstGeom>
          <a:ln>
            <a:noFill/>
          </a:ln>
          <a:effectLst/>
        </p:spPr>
      </p:pic>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5" name="TextBox 4">
            <a:extLst>
              <a:ext uri="{FF2B5EF4-FFF2-40B4-BE49-F238E27FC236}">
                <a16:creationId xmlns:a16="http://schemas.microsoft.com/office/drawing/2014/main" id="{F77151B9-F7E9-420C-5F53-FDAD37C0B340}"/>
              </a:ext>
            </a:extLst>
          </p:cNvPr>
          <p:cNvSpPr txBox="1"/>
          <p:nvPr/>
        </p:nvSpPr>
        <p:spPr>
          <a:xfrm>
            <a:off x="457200" y="1687972"/>
            <a:ext cx="5638800" cy="4567600"/>
          </a:xfrm>
          <a:prstGeom prst="rect">
            <a:avLst/>
          </a:prstGeom>
          <a:noFill/>
        </p:spPr>
        <p:txBody>
          <a:bodyPr wrap="square" lIns="0" tIns="0" rIns="0" bIns="0" rtlCol="0">
            <a:noAutofit/>
          </a:bodyPr>
          <a:lstStyle/>
          <a:p>
            <a:pPr algn="l">
              <a:lnSpc>
                <a:spcPct val="150000"/>
              </a:lnSpc>
            </a:pPr>
            <a:r>
              <a:rPr lang="en-AU" sz="3600" b="1"/>
              <a:t>Identify</a:t>
            </a:r>
            <a:r>
              <a:rPr lang="en-AU" sz="3600"/>
              <a:t> and </a:t>
            </a:r>
            <a:r>
              <a:rPr lang="en-AU" sz="3600" b="1"/>
              <a:t>record</a:t>
            </a:r>
            <a:r>
              <a:rPr lang="en-AU" sz="3600"/>
              <a:t> the </a:t>
            </a:r>
            <a:r>
              <a:rPr lang="en-AU" sz="3600" b="1"/>
              <a:t>coordinates</a:t>
            </a:r>
            <a:r>
              <a:rPr lang="en-AU" sz="3600"/>
              <a:t> for the:</a:t>
            </a:r>
          </a:p>
          <a:p>
            <a:pPr marL="457200" indent="-457200" algn="l">
              <a:lnSpc>
                <a:spcPct val="150000"/>
              </a:lnSpc>
              <a:buFont typeface="Arial" panose="020B0604020202020204" pitchFamily="34" charset="0"/>
              <a:buChar char="•"/>
            </a:pPr>
            <a:r>
              <a:rPr lang="en-AU" sz="3600"/>
              <a:t>pink book</a:t>
            </a:r>
          </a:p>
          <a:p>
            <a:pPr marL="457200" indent="-457200" algn="l">
              <a:lnSpc>
                <a:spcPct val="150000"/>
              </a:lnSpc>
              <a:buFont typeface="Arial" panose="020B0604020202020204" pitchFamily="34" charset="0"/>
              <a:buChar char="•"/>
            </a:pPr>
            <a:r>
              <a:rPr lang="en-AU" sz="3600"/>
              <a:t>orange book</a:t>
            </a:r>
          </a:p>
          <a:p>
            <a:pPr marL="457200" indent="-457200" algn="l">
              <a:lnSpc>
                <a:spcPct val="150000"/>
              </a:lnSpc>
              <a:buFont typeface="Arial" panose="020B0604020202020204" pitchFamily="34" charset="0"/>
              <a:buChar char="•"/>
            </a:pPr>
            <a:r>
              <a:rPr lang="en-AU" sz="3600"/>
              <a:t>green book</a:t>
            </a:r>
          </a:p>
        </p:txBody>
      </p:sp>
      <p:pic>
        <p:nvPicPr>
          <p:cNvPr id="4" name="Picture 3" descr="The first quadrant of a Cartesian plane with axes labelled from the origin to 6. Books are positioned at the following coordinates (0, 6), (1, 5), (2, 0), (4, 3), (5, 7) and (6, 4). ">
            <a:extLst>
              <a:ext uri="{FF2B5EF4-FFF2-40B4-BE49-F238E27FC236}">
                <a16:creationId xmlns:a16="http://schemas.microsoft.com/office/drawing/2014/main" id="{C168C15C-831A-7BCB-F5C7-907998BAE769}"/>
              </a:ext>
            </a:extLst>
          </p:cNvPr>
          <p:cNvPicPr>
            <a:picLocks noChangeAspect="1"/>
          </p:cNvPicPr>
          <p:nvPr/>
        </p:nvPicPr>
        <p:blipFill>
          <a:blip r:embed="rId4"/>
          <a:srcRect l="17454" t="5250" r="21862" b="16458"/>
          <a:stretch>
            <a:fillRect/>
          </a:stretch>
        </p:blipFill>
        <p:spPr>
          <a:xfrm>
            <a:off x="6162551" y="1393902"/>
            <a:ext cx="5160026" cy="4706685"/>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4" name="TextBox 3">
            <a:extLst>
              <a:ext uri="{FF2B5EF4-FFF2-40B4-BE49-F238E27FC236}">
                <a16:creationId xmlns:a16="http://schemas.microsoft.com/office/drawing/2014/main" id="{3F4925DD-0C3F-F563-5CC9-261BA6ED4968}"/>
              </a:ext>
            </a:extLst>
          </p:cNvPr>
          <p:cNvSpPr txBox="1"/>
          <p:nvPr/>
        </p:nvSpPr>
        <p:spPr>
          <a:xfrm>
            <a:off x="912366" y="2028824"/>
            <a:ext cx="10367268" cy="4024503"/>
          </a:xfrm>
          <a:prstGeom prst="rect">
            <a:avLst/>
          </a:prstGeom>
          <a:noFill/>
        </p:spPr>
        <p:txBody>
          <a:bodyPr wrap="square" lIns="0" tIns="0" rIns="0" bIns="0" rtlCol="0">
            <a:noAutofit/>
          </a:bodyPr>
          <a:lstStyle/>
          <a:p>
            <a:pPr algn="ctr"/>
            <a:r>
              <a:rPr lang="en-AU" sz="3600"/>
              <a:t>Two rectangles have the same perimeter of 20 cm but different dimensions (length and width).</a:t>
            </a:r>
            <a:br>
              <a:rPr lang="en-AU" sz="3600"/>
            </a:br>
            <a:br>
              <a:rPr lang="en-AU" sz="3600"/>
            </a:br>
            <a:r>
              <a:rPr lang="en-AU" sz="3600" b="1"/>
              <a:t>Draw</a:t>
            </a:r>
            <a:r>
              <a:rPr lang="en-AU" sz="3600"/>
              <a:t> both rectangles to show how this is possible.</a:t>
            </a:r>
          </a:p>
          <a:p>
            <a:pPr algn="ctr"/>
            <a:endParaRPr lang="en-AU" sz="3600"/>
          </a:p>
          <a:p>
            <a:pPr algn="ctr"/>
            <a:r>
              <a:rPr lang="en-AU" sz="3600" b="1"/>
              <a:t>Communicate </a:t>
            </a:r>
            <a:r>
              <a:rPr lang="en-AU" sz="3600"/>
              <a:t>your </a:t>
            </a:r>
            <a:r>
              <a:rPr lang="en-AU" sz="3600" b="1"/>
              <a:t>reasoning.</a:t>
            </a:r>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ordering unit fractions 1</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3" name="Picture 2" descr="A numberline from 0 to 1 with the following fractions listed below: one eighth, one third, one half and one fifth ">
            <a:extLst>
              <a:ext uri="{FF2B5EF4-FFF2-40B4-BE49-F238E27FC236}">
                <a16:creationId xmlns:a16="http://schemas.microsoft.com/office/drawing/2014/main" id="{038BC073-7446-07B0-E706-8B5366A1B5A0}"/>
              </a:ext>
            </a:extLst>
          </p:cNvPr>
          <p:cNvPicPr>
            <a:picLocks noChangeAspect="1"/>
          </p:cNvPicPr>
          <p:nvPr/>
        </p:nvPicPr>
        <p:blipFill>
          <a:blip r:embed="rId4"/>
          <a:srcRect l="8756" r="26432"/>
          <a:stretch>
            <a:fillRect/>
          </a:stretch>
        </p:blipFill>
        <p:spPr>
          <a:xfrm rot="16200000">
            <a:off x="4286036" y="-259118"/>
            <a:ext cx="3871912" cy="8447797"/>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(2)</a:t>
            </a:r>
          </a:p>
        </p:txBody>
      </p:sp>
      <p:sp>
        <p:nvSpPr>
          <p:cNvPr id="5" name="Text Placeholder 17">
            <a:extLst>
              <a:ext uri="{FF2B5EF4-FFF2-40B4-BE49-F238E27FC236}">
                <a16:creationId xmlns:a16="http://schemas.microsoft.com/office/drawing/2014/main" id="{D38CBD52-7F88-E734-90A9-59BEB91236FD}"/>
              </a:ext>
            </a:extLst>
          </p:cNvPr>
          <p:cNvSpPr txBox="1">
            <a:spLocks/>
          </p:cNvSpPr>
          <p:nvPr/>
        </p:nvSpPr>
        <p:spPr>
          <a:xfrm>
            <a:off x="360000" y="1138036"/>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200">
                <a:latin typeface="+mn-lt"/>
              </a:rPr>
              <a:t>Which statement about these fractions is </a:t>
            </a:r>
            <a:r>
              <a:rPr lang="en-AU" sz="3200" b="1">
                <a:latin typeface="+mn-lt"/>
              </a:rPr>
              <a:t>correct</a:t>
            </a:r>
            <a:r>
              <a:rPr lang="en-AU" sz="3200">
                <a:latin typeface="+mn-lt"/>
              </a:rPr>
              <a:t>? </a:t>
            </a:r>
          </a:p>
          <a:p>
            <a:pPr algn="ctr"/>
            <a:r>
              <a:rPr lang="en-AU" sz="3200">
                <a:latin typeface="+mn-lt"/>
              </a:rPr>
              <a:t>You may select </a:t>
            </a:r>
            <a:r>
              <a:rPr lang="en-AU" sz="3200" b="1">
                <a:latin typeface="+mn-lt"/>
              </a:rPr>
              <a:t>more than one </a:t>
            </a:r>
            <a:r>
              <a:rPr lang="en-AU" sz="3200">
                <a:latin typeface="+mn-lt"/>
              </a:rPr>
              <a:t>answer.</a:t>
            </a:r>
            <a:endParaRPr lang="en-US" sz="3600" b="1"/>
          </a:p>
        </p:txBody>
      </p:sp>
      <p:sp>
        <p:nvSpPr>
          <p:cNvPr id="9" name="B">
            <a:extLst>
              <a:ext uri="{FF2B5EF4-FFF2-40B4-BE49-F238E27FC236}">
                <a16:creationId xmlns:a16="http://schemas.microsoft.com/office/drawing/2014/main" id="{F91A42F4-D8C9-20A3-82EB-86FAD4D776A8}"/>
              </a:ext>
            </a:extLst>
          </p:cNvPr>
          <p:cNvSpPr txBox="1"/>
          <p:nvPr/>
        </p:nvSpPr>
        <p:spPr>
          <a:xfrm>
            <a:off x="722790" y="298745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mc:AlternateContent xmlns:mc="http://schemas.openxmlformats.org/markup-compatibility/2006" xmlns:a14="http://schemas.microsoft.com/office/drawing/2010/main">
        <mc:Choice Requires="a14">
          <p:sp>
            <p:nvSpPr>
              <p:cNvPr id="18" name="A text">
                <a:extLst>
                  <a:ext uri="{FF2B5EF4-FFF2-40B4-BE49-F238E27FC236}">
                    <a16:creationId xmlns:a16="http://schemas.microsoft.com/office/drawing/2014/main" id="{D2386B91-F85A-17DD-80EB-F20033E4EC06}"/>
                  </a:ext>
                </a:extLst>
              </p:cNvPr>
              <p:cNvSpPr>
                <a:spLocks noGrp="1"/>
              </p:cNvSpPr>
              <p:nvPr>
                <p:ph type="body" sz="quarter" idx="31"/>
              </p:nvPr>
            </p:nvSpPr>
            <p:spPr>
              <a:xfrm>
                <a:off x="1427117" y="2940664"/>
                <a:ext cx="10175920" cy="641396"/>
              </a:xfrm>
            </p:spPr>
            <p:txBody>
              <a:bodyPr anchor="ctr"/>
              <a:lstStyle/>
              <a:p>
                <a14:m>
                  <m:oMath xmlns:m="http://schemas.openxmlformats.org/officeDocument/2006/math">
                    <m:f>
                      <m:fPr>
                        <m:ctrlPr>
                          <a:rPr lang="en-AU" sz="3200" i="1" smtClean="0">
                            <a:latin typeface="Cambria Math" panose="02040503050406030204" pitchFamily="18" charset="0"/>
                          </a:rPr>
                        </m:ctrlPr>
                      </m:fPr>
                      <m:num>
                        <m:r>
                          <a:rPr lang="en-AU" sz="3200" b="0" i="0">
                            <a:latin typeface="Cambria Math" panose="02040503050406030204" pitchFamily="18" charset="0"/>
                          </a:rPr>
                          <m:t>1 </m:t>
                        </m:r>
                      </m:num>
                      <m:den>
                        <m:r>
                          <a:rPr lang="en-AU" sz="3200" b="0" i="0" smtClean="0">
                            <a:latin typeface="Cambria Math" panose="02040503050406030204" pitchFamily="18" charset="0"/>
                          </a:rPr>
                          <m:t>3</m:t>
                        </m:r>
                      </m:den>
                    </m:f>
                  </m:oMath>
                </a14:m>
                <a:r>
                  <a:rPr lang="en-US" sz="3200"/>
                  <a:t> is smaller than </a:t>
                </a:r>
                <a14:m>
                  <m:oMath xmlns:m="http://schemas.openxmlformats.org/officeDocument/2006/math">
                    <m:f>
                      <m:fPr>
                        <m:ctrlPr>
                          <a:rPr lang="en-AU" sz="3200" b="1" i="1">
                            <a:latin typeface="Cambria Math" panose="02040503050406030204" pitchFamily="18" charset="0"/>
                          </a:rPr>
                        </m:ctrlPr>
                      </m:fPr>
                      <m:num>
                        <m:r>
                          <a:rPr lang="en-AU" sz="3200" b="1" i="1">
                            <a:latin typeface="Cambria Math" panose="02040503050406030204" pitchFamily="18" charset="0"/>
                          </a:rPr>
                          <m:t>𝟏</m:t>
                        </m:r>
                        <m:r>
                          <a:rPr lang="en-AU" sz="3200" b="1" i="1">
                            <a:latin typeface="Cambria Math" panose="02040503050406030204" pitchFamily="18" charset="0"/>
                          </a:rPr>
                          <m:t> </m:t>
                        </m:r>
                      </m:num>
                      <m:den>
                        <m:r>
                          <a:rPr lang="en-AU" sz="3200" b="1" i="1">
                            <a:latin typeface="Cambria Math" panose="02040503050406030204" pitchFamily="18" charset="0"/>
                          </a:rPr>
                          <m:t>𝟐</m:t>
                        </m:r>
                      </m:den>
                    </m:f>
                    <m:r>
                      <a:rPr lang="en-AU" sz="3200" b="1" i="1" smtClean="0">
                        <a:latin typeface="Cambria Math" panose="02040503050406030204" pitchFamily="18" charset="0"/>
                      </a:rPr>
                      <m:t>.</m:t>
                    </m:r>
                  </m:oMath>
                </a14:m>
                <a:endParaRPr lang="en-US" sz="3600"/>
              </a:p>
            </p:txBody>
          </p:sp>
        </mc:Choice>
        <mc:Fallback xmlns="">
          <p:sp>
            <p:nvSpPr>
              <p:cNvPr id="18" name="A text">
                <a:extLst>
                  <a:ext uri="{FF2B5EF4-FFF2-40B4-BE49-F238E27FC236}">
                    <a16:creationId xmlns:a16="http://schemas.microsoft.com/office/drawing/2014/main" id="{D2386B91-F85A-17DD-80EB-F20033E4EC06}"/>
                  </a:ext>
                </a:extLst>
              </p:cNvPr>
              <p:cNvSpPr>
                <a:spLocks noGrp="1" noRot="1" noChangeAspect="1" noMove="1" noResize="1" noEditPoints="1" noAdjustHandles="1" noChangeArrowheads="1" noChangeShapeType="1" noTextEdit="1"/>
              </p:cNvSpPr>
              <p:nvPr>
                <p:ph type="body" sz="quarter" idx="31"/>
              </p:nvPr>
            </p:nvSpPr>
            <p:spPr>
              <a:xfrm>
                <a:off x="1427117" y="2940664"/>
                <a:ext cx="10175920" cy="641396"/>
              </a:xfrm>
              <a:blipFill>
                <a:blip r:embed="rId3"/>
                <a:stretch>
                  <a:fillRect b="-45283"/>
                </a:stretch>
              </a:blipFill>
            </p:spPr>
            <p:txBody>
              <a:bodyPr/>
              <a:lstStyle/>
              <a:p>
                <a:r>
                  <a:rPr lang="en-US">
                    <a:noFill/>
                  </a:rPr>
                  <a:t> </a:t>
                </a:r>
              </a:p>
            </p:txBody>
          </p:sp>
        </mc:Fallback>
      </mc:AlternateContent>
      <p:sp>
        <p:nvSpPr>
          <p:cNvPr id="10" name="B">
            <a:extLst>
              <a:ext uri="{FF2B5EF4-FFF2-40B4-BE49-F238E27FC236}">
                <a16:creationId xmlns:a16="http://schemas.microsoft.com/office/drawing/2014/main" id="{CA9D5B15-A13C-EE8B-176F-3B4E3454A1A2}"/>
              </a:ext>
            </a:extLst>
          </p:cNvPr>
          <p:cNvSpPr txBox="1"/>
          <p:nvPr/>
        </p:nvSpPr>
        <p:spPr>
          <a:xfrm>
            <a:off x="722792" y="397332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mc:AlternateContent xmlns:mc="http://schemas.openxmlformats.org/markup-compatibility/2006" xmlns:a14="http://schemas.microsoft.com/office/drawing/2010/main">
        <mc:Choice Requires="a14">
          <p:sp>
            <p:nvSpPr>
              <p:cNvPr id="21" name="A text">
                <a:extLst>
                  <a:ext uri="{FF2B5EF4-FFF2-40B4-BE49-F238E27FC236}">
                    <a16:creationId xmlns:a16="http://schemas.microsoft.com/office/drawing/2014/main" id="{20940A68-04C0-27EE-0BF7-498817AC8E14}"/>
                  </a:ext>
                </a:extLst>
              </p:cNvPr>
              <p:cNvSpPr txBox="1">
                <a:spLocks/>
              </p:cNvSpPr>
              <p:nvPr/>
            </p:nvSpPr>
            <p:spPr>
              <a:xfrm>
                <a:off x="1427117" y="3825650"/>
                <a:ext cx="10175920" cy="641396"/>
              </a:xfrm>
              <a:prstGeom prst="rect">
                <a:avLst/>
              </a:prstGeom>
            </p:spPr>
            <p:txBody>
              <a:bodyPr vert="horz" lIns="0" tIns="0" rIns="0" bIns="0" rtlCol="0" anchor="ctr">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mn-lt"/>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f>
                      <m:fPr>
                        <m:ctrlPr>
                          <a:rPr lang="en-AU" sz="3200" i="1" smtClean="0">
                            <a:latin typeface="Cambria Math" panose="02040503050406030204" pitchFamily="18" charset="0"/>
                          </a:rPr>
                        </m:ctrlPr>
                      </m:fPr>
                      <m:num>
                        <m:r>
                          <a:rPr lang="en-AU" sz="3200">
                            <a:latin typeface="Cambria Math" panose="02040503050406030204" pitchFamily="18" charset="0"/>
                          </a:rPr>
                          <m:t>1 </m:t>
                        </m:r>
                      </m:num>
                      <m:den>
                        <m:r>
                          <a:rPr lang="en-AU" sz="3200" smtClean="0">
                            <a:latin typeface="Cambria Math" panose="02040503050406030204" pitchFamily="18" charset="0"/>
                          </a:rPr>
                          <m:t>3</m:t>
                        </m:r>
                      </m:den>
                    </m:f>
                  </m:oMath>
                </a14:m>
                <a:r>
                  <a:rPr lang="en-US" sz="3200"/>
                  <a:t> and </a:t>
                </a:r>
                <a14:m>
                  <m:oMath xmlns:m="http://schemas.openxmlformats.org/officeDocument/2006/math">
                    <m:f>
                      <m:fPr>
                        <m:ctrlPr>
                          <a:rPr lang="en-AU" sz="3200" i="1">
                            <a:latin typeface="Cambria Math" panose="02040503050406030204" pitchFamily="18" charset="0"/>
                          </a:rPr>
                        </m:ctrlPr>
                      </m:fPr>
                      <m:num>
                        <m:r>
                          <a:rPr lang="en-AU" sz="3200">
                            <a:latin typeface="Cambria Math" panose="02040503050406030204" pitchFamily="18" charset="0"/>
                          </a:rPr>
                          <m:t>1 </m:t>
                        </m:r>
                      </m:num>
                      <m:den>
                        <m:r>
                          <a:rPr lang="en-AU" sz="3200" b="0" i="0" smtClean="0">
                            <a:latin typeface="Cambria Math" panose="02040503050406030204" pitchFamily="18" charset="0"/>
                          </a:rPr>
                          <m:t>6</m:t>
                        </m:r>
                      </m:den>
                    </m:f>
                  </m:oMath>
                </a14:m>
                <a:r>
                  <a:rPr lang="en-US" sz="3200"/>
                  <a:t> are both larger than </a:t>
                </a:r>
                <a14:m>
                  <m:oMath xmlns:m="http://schemas.openxmlformats.org/officeDocument/2006/math">
                    <m:f>
                      <m:fPr>
                        <m:ctrlPr>
                          <a:rPr lang="en-AU" sz="3200" b="1" i="1">
                            <a:latin typeface="Cambria Math" panose="02040503050406030204" pitchFamily="18" charset="0"/>
                          </a:rPr>
                        </m:ctrlPr>
                      </m:fPr>
                      <m:num>
                        <m:r>
                          <a:rPr lang="en-AU" sz="3200" b="1" i="1">
                            <a:latin typeface="Cambria Math" panose="02040503050406030204" pitchFamily="18" charset="0"/>
                          </a:rPr>
                          <m:t>𝟏</m:t>
                        </m:r>
                        <m:r>
                          <a:rPr lang="en-AU" sz="3200" b="1" i="1">
                            <a:latin typeface="Cambria Math" panose="02040503050406030204" pitchFamily="18" charset="0"/>
                          </a:rPr>
                          <m:t> </m:t>
                        </m:r>
                      </m:num>
                      <m:den>
                        <m:r>
                          <a:rPr lang="en-AU" sz="3200" b="1" i="1">
                            <a:latin typeface="Cambria Math" panose="02040503050406030204" pitchFamily="18" charset="0"/>
                          </a:rPr>
                          <m:t>𝟐</m:t>
                        </m:r>
                      </m:den>
                    </m:f>
                    <m:r>
                      <a:rPr lang="en-AU" sz="3200" b="1" i="1" smtClean="0">
                        <a:latin typeface="Cambria Math" panose="02040503050406030204" pitchFamily="18" charset="0"/>
                      </a:rPr>
                      <m:t>.</m:t>
                    </m:r>
                  </m:oMath>
                </a14:m>
                <a:endParaRPr lang="en-US" sz="3600"/>
              </a:p>
            </p:txBody>
          </p:sp>
        </mc:Choice>
        <mc:Fallback xmlns="">
          <p:sp>
            <p:nvSpPr>
              <p:cNvPr id="21" name="A text">
                <a:extLst>
                  <a:ext uri="{FF2B5EF4-FFF2-40B4-BE49-F238E27FC236}">
                    <a16:creationId xmlns:a16="http://schemas.microsoft.com/office/drawing/2014/main" id="{20940A68-04C0-27EE-0BF7-498817AC8E14}"/>
                  </a:ext>
                </a:extLst>
              </p:cNvPr>
              <p:cNvSpPr txBox="1">
                <a:spLocks noRot="1" noChangeAspect="1" noMove="1" noResize="1" noEditPoints="1" noAdjustHandles="1" noChangeArrowheads="1" noChangeShapeType="1" noTextEdit="1"/>
              </p:cNvSpPr>
              <p:nvPr/>
            </p:nvSpPr>
            <p:spPr>
              <a:xfrm>
                <a:off x="1427117" y="3825650"/>
                <a:ext cx="10175920" cy="641396"/>
              </a:xfrm>
              <a:prstGeom prst="rect">
                <a:avLst/>
              </a:prstGeom>
              <a:blipFill>
                <a:blip r:embed="rId4"/>
                <a:stretch>
                  <a:fillRect b="-44762"/>
                </a:stretch>
              </a:blipFill>
            </p:spPr>
            <p:txBody>
              <a:bodyPr/>
              <a:lstStyle/>
              <a:p>
                <a:r>
                  <a:rPr lang="en-US">
                    <a:noFill/>
                  </a:rPr>
                  <a:t> </a:t>
                </a:r>
              </a:p>
            </p:txBody>
          </p:sp>
        </mc:Fallback>
      </mc:AlternateContent>
      <p:sp>
        <p:nvSpPr>
          <p:cNvPr id="12" name="C">
            <a:extLst>
              <a:ext uri="{FF2B5EF4-FFF2-40B4-BE49-F238E27FC236}">
                <a16:creationId xmlns:a16="http://schemas.microsoft.com/office/drawing/2014/main" id="{B4746450-E4E2-359C-DFCA-0532E811BD1E}"/>
              </a:ext>
            </a:extLst>
          </p:cNvPr>
          <p:cNvSpPr txBox="1"/>
          <p:nvPr/>
        </p:nvSpPr>
        <p:spPr>
          <a:xfrm>
            <a:off x="722789" y="495690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mc:AlternateContent xmlns:mc="http://schemas.openxmlformats.org/markup-compatibility/2006" xmlns:a14="http://schemas.microsoft.com/office/drawing/2010/main">
        <mc:Choice Requires="a14">
          <p:sp>
            <p:nvSpPr>
              <p:cNvPr id="25" name="A text">
                <a:extLst>
                  <a:ext uri="{FF2B5EF4-FFF2-40B4-BE49-F238E27FC236}">
                    <a16:creationId xmlns:a16="http://schemas.microsoft.com/office/drawing/2014/main" id="{0B435090-46CF-74DA-AD57-74751F5CA2AA}"/>
                  </a:ext>
                </a:extLst>
              </p:cNvPr>
              <p:cNvSpPr txBox="1">
                <a:spLocks/>
              </p:cNvSpPr>
              <p:nvPr/>
            </p:nvSpPr>
            <p:spPr>
              <a:xfrm>
                <a:off x="1427117" y="4746345"/>
                <a:ext cx="10175920" cy="641396"/>
              </a:xfrm>
              <a:prstGeom prst="rect">
                <a:avLst/>
              </a:prstGeom>
            </p:spPr>
            <p:txBody>
              <a:bodyPr vert="horz" lIns="0" tIns="0" rIns="0" bIns="0" rtlCol="0" anchor="ctr">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mn-lt"/>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f>
                      <m:fPr>
                        <m:ctrlPr>
                          <a:rPr lang="en-AU" sz="3200" i="1" smtClean="0">
                            <a:latin typeface="Cambria Math" panose="02040503050406030204" pitchFamily="18" charset="0"/>
                          </a:rPr>
                        </m:ctrlPr>
                      </m:fPr>
                      <m:num>
                        <m:r>
                          <a:rPr lang="en-AU" sz="3200">
                            <a:latin typeface="Cambria Math" panose="02040503050406030204" pitchFamily="18" charset="0"/>
                          </a:rPr>
                          <m:t>1 </m:t>
                        </m:r>
                      </m:num>
                      <m:den>
                        <m:r>
                          <a:rPr lang="en-AU" sz="3200" b="0" i="0" smtClean="0">
                            <a:latin typeface="Cambria Math" panose="02040503050406030204" pitchFamily="18" charset="0"/>
                          </a:rPr>
                          <m:t>8</m:t>
                        </m:r>
                      </m:den>
                    </m:f>
                  </m:oMath>
                </a14:m>
                <a:r>
                  <a:rPr lang="en-US" sz="3200"/>
                  <a:t> and </a:t>
                </a:r>
                <a14:m>
                  <m:oMath xmlns:m="http://schemas.openxmlformats.org/officeDocument/2006/math">
                    <m:f>
                      <m:fPr>
                        <m:ctrlPr>
                          <a:rPr lang="en-AU" sz="3200" i="1">
                            <a:latin typeface="Cambria Math" panose="02040503050406030204" pitchFamily="18" charset="0"/>
                          </a:rPr>
                        </m:ctrlPr>
                      </m:fPr>
                      <m:num>
                        <m:r>
                          <a:rPr lang="en-AU" sz="3200">
                            <a:latin typeface="Cambria Math" panose="02040503050406030204" pitchFamily="18" charset="0"/>
                          </a:rPr>
                          <m:t>1 </m:t>
                        </m:r>
                      </m:num>
                      <m:den>
                        <m:r>
                          <a:rPr lang="en-AU" sz="3200" b="0" i="0" smtClean="0">
                            <a:latin typeface="Cambria Math" panose="02040503050406030204" pitchFamily="18" charset="0"/>
                          </a:rPr>
                          <m:t>5</m:t>
                        </m:r>
                      </m:den>
                    </m:f>
                  </m:oMath>
                </a14:m>
                <a:r>
                  <a:rPr lang="en-US" sz="3200"/>
                  <a:t> are both smaller than </a:t>
                </a:r>
                <a14:m>
                  <m:oMath xmlns:m="http://schemas.openxmlformats.org/officeDocument/2006/math">
                    <m:f>
                      <m:fPr>
                        <m:ctrlPr>
                          <a:rPr lang="en-AU" sz="3200" b="1" i="1">
                            <a:latin typeface="Cambria Math" panose="02040503050406030204" pitchFamily="18" charset="0"/>
                          </a:rPr>
                        </m:ctrlPr>
                      </m:fPr>
                      <m:num>
                        <m:r>
                          <a:rPr lang="en-AU" sz="3200" b="1" i="1">
                            <a:latin typeface="Cambria Math" panose="02040503050406030204" pitchFamily="18" charset="0"/>
                          </a:rPr>
                          <m:t>𝟏</m:t>
                        </m:r>
                        <m:r>
                          <a:rPr lang="en-AU" sz="3200" b="1" i="1">
                            <a:latin typeface="Cambria Math" panose="02040503050406030204" pitchFamily="18" charset="0"/>
                          </a:rPr>
                          <m:t> </m:t>
                        </m:r>
                      </m:num>
                      <m:den>
                        <m:r>
                          <a:rPr lang="en-AU" sz="3200" b="1" i="1">
                            <a:latin typeface="Cambria Math" panose="02040503050406030204" pitchFamily="18" charset="0"/>
                          </a:rPr>
                          <m:t>𝟐</m:t>
                        </m:r>
                      </m:den>
                    </m:f>
                    <m:r>
                      <a:rPr lang="en-AU" sz="3200" b="1" i="1" smtClean="0">
                        <a:latin typeface="Cambria Math" panose="02040503050406030204" pitchFamily="18" charset="0"/>
                      </a:rPr>
                      <m:t>.</m:t>
                    </m:r>
                  </m:oMath>
                </a14:m>
                <a:endParaRPr lang="en-US" sz="3200"/>
              </a:p>
            </p:txBody>
          </p:sp>
        </mc:Choice>
        <mc:Fallback xmlns="">
          <p:sp>
            <p:nvSpPr>
              <p:cNvPr id="25" name="A text">
                <a:extLst>
                  <a:ext uri="{FF2B5EF4-FFF2-40B4-BE49-F238E27FC236}">
                    <a16:creationId xmlns:a16="http://schemas.microsoft.com/office/drawing/2014/main" id="{0B435090-46CF-74DA-AD57-74751F5CA2AA}"/>
                  </a:ext>
                </a:extLst>
              </p:cNvPr>
              <p:cNvSpPr txBox="1">
                <a:spLocks noRot="1" noChangeAspect="1" noMove="1" noResize="1" noEditPoints="1" noAdjustHandles="1" noChangeArrowheads="1" noChangeShapeType="1" noTextEdit="1"/>
              </p:cNvSpPr>
              <p:nvPr/>
            </p:nvSpPr>
            <p:spPr>
              <a:xfrm>
                <a:off x="1427117" y="4746345"/>
                <a:ext cx="10175920" cy="641396"/>
              </a:xfrm>
              <a:prstGeom prst="rect">
                <a:avLst/>
              </a:prstGeom>
              <a:blipFill>
                <a:blip r:embed="rId5"/>
                <a:stretch>
                  <a:fillRect b="-45714"/>
                </a:stretch>
              </a:blipFill>
            </p:spPr>
            <p:txBody>
              <a:bodyPr/>
              <a:lstStyle/>
              <a:p>
                <a:r>
                  <a:rPr lang="en-US">
                    <a:noFill/>
                  </a:rPr>
                  <a:t> </a:t>
                </a:r>
              </a:p>
            </p:txBody>
          </p:sp>
        </mc:Fallback>
      </mc:AlternateContent>
      <p:sp>
        <p:nvSpPr>
          <p:cNvPr id="11" name="D">
            <a:extLst>
              <a:ext uri="{FF2B5EF4-FFF2-40B4-BE49-F238E27FC236}">
                <a16:creationId xmlns:a16="http://schemas.microsoft.com/office/drawing/2014/main" id="{9B8955CE-78C1-2F30-7505-4CA44A86BDFF}"/>
              </a:ext>
            </a:extLst>
          </p:cNvPr>
          <p:cNvSpPr txBox="1"/>
          <p:nvPr/>
        </p:nvSpPr>
        <p:spPr>
          <a:xfrm>
            <a:off x="722790" y="58079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mc:AlternateContent xmlns:mc="http://schemas.openxmlformats.org/markup-compatibility/2006" xmlns:a14="http://schemas.microsoft.com/office/drawing/2010/main">
        <mc:Choice Requires="a14">
          <p:sp>
            <p:nvSpPr>
              <p:cNvPr id="26" name="A text">
                <a:extLst>
                  <a:ext uri="{FF2B5EF4-FFF2-40B4-BE49-F238E27FC236}">
                    <a16:creationId xmlns:a16="http://schemas.microsoft.com/office/drawing/2014/main" id="{97B1C509-FA21-05E3-AB13-25CC3D1CE778}"/>
                  </a:ext>
                </a:extLst>
              </p:cNvPr>
              <p:cNvSpPr txBox="1">
                <a:spLocks/>
              </p:cNvSpPr>
              <p:nvPr/>
            </p:nvSpPr>
            <p:spPr>
              <a:xfrm>
                <a:off x="1427117" y="5695570"/>
                <a:ext cx="10175920" cy="641396"/>
              </a:xfrm>
              <a:prstGeom prst="rect">
                <a:avLst/>
              </a:prstGeom>
            </p:spPr>
            <p:txBody>
              <a:bodyPr vert="horz" lIns="0" tIns="0" rIns="0" bIns="0" rtlCol="0" anchor="ctr">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mn-lt"/>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mn-lt"/>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f>
                      <m:fPr>
                        <m:ctrlPr>
                          <a:rPr lang="en-AU" sz="3200" i="1" smtClean="0">
                            <a:latin typeface="Cambria Math" panose="02040503050406030204" pitchFamily="18" charset="0"/>
                          </a:rPr>
                        </m:ctrlPr>
                      </m:fPr>
                      <m:num>
                        <m:r>
                          <a:rPr lang="en-AU" sz="3200">
                            <a:latin typeface="Cambria Math" panose="02040503050406030204" pitchFamily="18" charset="0"/>
                          </a:rPr>
                          <m:t>1 </m:t>
                        </m:r>
                      </m:num>
                      <m:den>
                        <m:r>
                          <a:rPr lang="en-AU" sz="3200" b="0" i="0" smtClean="0">
                            <a:latin typeface="Cambria Math" panose="02040503050406030204" pitchFamily="18" charset="0"/>
                          </a:rPr>
                          <m:t>6</m:t>
                        </m:r>
                      </m:den>
                    </m:f>
                  </m:oMath>
                </a14:m>
                <a:r>
                  <a:rPr lang="en-US" sz="3200"/>
                  <a:t> and </a:t>
                </a:r>
                <a14:m>
                  <m:oMath xmlns:m="http://schemas.openxmlformats.org/officeDocument/2006/math">
                    <m:f>
                      <m:fPr>
                        <m:ctrlPr>
                          <a:rPr lang="en-AU" sz="3200" i="1">
                            <a:latin typeface="Cambria Math" panose="02040503050406030204" pitchFamily="18" charset="0"/>
                          </a:rPr>
                        </m:ctrlPr>
                      </m:fPr>
                      <m:num>
                        <m:r>
                          <a:rPr lang="en-AU" sz="3200">
                            <a:latin typeface="Cambria Math" panose="02040503050406030204" pitchFamily="18" charset="0"/>
                          </a:rPr>
                          <m:t>1 </m:t>
                        </m:r>
                      </m:num>
                      <m:den>
                        <m:r>
                          <a:rPr lang="en-AU" sz="3200" b="0" i="0" smtClean="0">
                            <a:latin typeface="Cambria Math" panose="02040503050406030204" pitchFamily="18" charset="0"/>
                          </a:rPr>
                          <m:t>8</m:t>
                        </m:r>
                      </m:den>
                    </m:f>
                  </m:oMath>
                </a14:m>
                <a:r>
                  <a:rPr lang="en-US" sz="3200"/>
                  <a:t> are both larger than </a:t>
                </a:r>
                <a14:m>
                  <m:oMath xmlns:m="http://schemas.openxmlformats.org/officeDocument/2006/math">
                    <m:f>
                      <m:fPr>
                        <m:ctrlPr>
                          <a:rPr lang="en-AU" sz="3200" b="1" i="1">
                            <a:latin typeface="Cambria Math" panose="02040503050406030204" pitchFamily="18" charset="0"/>
                          </a:rPr>
                        </m:ctrlPr>
                      </m:fPr>
                      <m:num>
                        <m:r>
                          <a:rPr lang="en-AU" sz="3200" b="1" i="1">
                            <a:latin typeface="Cambria Math" panose="02040503050406030204" pitchFamily="18" charset="0"/>
                          </a:rPr>
                          <m:t>𝟏</m:t>
                        </m:r>
                        <m:r>
                          <a:rPr lang="en-AU" sz="3200" b="1" i="1">
                            <a:latin typeface="Cambria Math" panose="02040503050406030204" pitchFamily="18" charset="0"/>
                          </a:rPr>
                          <m:t> </m:t>
                        </m:r>
                      </m:num>
                      <m:den>
                        <m:r>
                          <a:rPr lang="en-AU" sz="3200" b="1" i="1">
                            <a:latin typeface="Cambria Math" panose="02040503050406030204" pitchFamily="18" charset="0"/>
                          </a:rPr>
                          <m:t>𝟐</m:t>
                        </m:r>
                      </m:den>
                    </m:f>
                    <m:r>
                      <a:rPr lang="en-AU" sz="3200" b="1" i="1" smtClean="0">
                        <a:latin typeface="Cambria Math" panose="02040503050406030204" pitchFamily="18" charset="0"/>
                      </a:rPr>
                      <m:t>.</m:t>
                    </m:r>
                  </m:oMath>
                </a14:m>
                <a:endParaRPr lang="en-US" sz="3600"/>
              </a:p>
            </p:txBody>
          </p:sp>
        </mc:Choice>
        <mc:Fallback xmlns="">
          <p:sp>
            <p:nvSpPr>
              <p:cNvPr id="26" name="A text">
                <a:extLst>
                  <a:ext uri="{FF2B5EF4-FFF2-40B4-BE49-F238E27FC236}">
                    <a16:creationId xmlns:a16="http://schemas.microsoft.com/office/drawing/2014/main" id="{97B1C509-FA21-05E3-AB13-25CC3D1CE778}"/>
                  </a:ext>
                </a:extLst>
              </p:cNvPr>
              <p:cNvSpPr txBox="1">
                <a:spLocks noRot="1" noChangeAspect="1" noMove="1" noResize="1" noEditPoints="1" noAdjustHandles="1" noChangeArrowheads="1" noChangeShapeType="1" noTextEdit="1"/>
              </p:cNvSpPr>
              <p:nvPr/>
            </p:nvSpPr>
            <p:spPr>
              <a:xfrm>
                <a:off x="1427117" y="5695570"/>
                <a:ext cx="10175920" cy="641396"/>
              </a:xfrm>
              <a:prstGeom prst="rect">
                <a:avLst/>
              </a:prstGeom>
              <a:blipFill>
                <a:blip r:embed="rId6"/>
                <a:stretch>
                  <a:fillRect b="-44340"/>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112D24DC-0614-F76C-9A4C-36E299EAFF53}"/>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4" name="TextBox 3">
            <a:extLst>
              <a:ext uri="{FF2B5EF4-FFF2-40B4-BE49-F238E27FC236}">
                <a16:creationId xmlns:a16="http://schemas.microsoft.com/office/drawing/2014/main" id="{B4745109-0111-666F-C27C-774128824FC0}"/>
              </a:ext>
            </a:extLst>
          </p:cNvPr>
          <p:cNvSpPr txBox="1"/>
          <p:nvPr/>
        </p:nvSpPr>
        <p:spPr>
          <a:xfrm>
            <a:off x="797958" y="1502564"/>
            <a:ext cx="10596084" cy="2157047"/>
          </a:xfrm>
          <a:prstGeom prst="rect">
            <a:avLst/>
          </a:prstGeom>
          <a:noFill/>
        </p:spPr>
        <p:txBody>
          <a:bodyPr wrap="square" lIns="0" tIns="0" rIns="0" bIns="0" rtlCol="0">
            <a:noAutofit/>
          </a:bodyPr>
          <a:lstStyle/>
          <a:p>
            <a:pPr algn="l">
              <a:lnSpc>
                <a:spcPct val="150000"/>
              </a:lnSpc>
            </a:pPr>
            <a:r>
              <a:rPr lang="en-AU" sz="3600" b="1"/>
              <a:t>Record</a:t>
            </a:r>
            <a:r>
              <a:rPr lang="en-AU" sz="3600"/>
              <a:t> the words missing from these sentences:</a:t>
            </a:r>
          </a:p>
          <a:p>
            <a:pPr algn="l">
              <a:lnSpc>
                <a:spcPct val="150000"/>
              </a:lnSpc>
            </a:pPr>
            <a:endParaRPr lang="en-AU" sz="3600"/>
          </a:p>
          <a:p>
            <a:pPr marL="457200" indent="-457200">
              <a:lnSpc>
                <a:spcPct val="150000"/>
              </a:lnSpc>
              <a:buFont typeface="Arial" panose="020B0604020202020204" pitchFamily="34" charset="0"/>
              <a:buChar char="•"/>
            </a:pPr>
            <a:r>
              <a:rPr lang="en-AU" sz="3600"/>
              <a:t>An angle that is </a:t>
            </a:r>
            <a:r>
              <a:rPr lang="en-GB" sz="3600" b="1"/>
              <a:t>90° </a:t>
            </a:r>
            <a:r>
              <a:rPr lang="en-GB" sz="3600"/>
              <a:t>is a __________ </a:t>
            </a:r>
            <a:r>
              <a:rPr lang="en-GB" sz="3600" b="1"/>
              <a:t>angle</a:t>
            </a:r>
            <a:r>
              <a:rPr lang="en-GB" sz="3600"/>
              <a:t>.</a:t>
            </a:r>
          </a:p>
          <a:p>
            <a:pPr marL="457200" indent="-457200">
              <a:lnSpc>
                <a:spcPct val="150000"/>
              </a:lnSpc>
              <a:buFont typeface="Arial" panose="020B0604020202020204" pitchFamily="34" charset="0"/>
              <a:buChar char="•"/>
            </a:pPr>
            <a:r>
              <a:rPr lang="en-GB" sz="3600"/>
              <a:t>An angle that is </a:t>
            </a:r>
            <a:r>
              <a:rPr lang="en-GB" sz="3600" b="1"/>
              <a:t>180° </a:t>
            </a:r>
            <a:r>
              <a:rPr lang="en-GB" sz="3600"/>
              <a:t>is a __________ </a:t>
            </a:r>
            <a:r>
              <a:rPr lang="en-GB" sz="3600" b="1"/>
              <a:t>angle</a:t>
            </a:r>
            <a:r>
              <a:rPr lang="en-GB" sz="3600"/>
              <a:t>.</a:t>
            </a:r>
          </a:p>
          <a:p>
            <a:pPr marL="457200" indent="-457200">
              <a:lnSpc>
                <a:spcPct val="150000"/>
              </a:lnSpc>
              <a:buFont typeface="Arial" panose="020B0604020202020204" pitchFamily="34" charset="0"/>
              <a:buChar char="•"/>
            </a:pPr>
            <a:r>
              <a:rPr lang="en-GB" sz="3600"/>
              <a:t>An angle that is </a:t>
            </a:r>
            <a:r>
              <a:rPr lang="en-GB" sz="3600" b="1"/>
              <a:t>360° </a:t>
            </a:r>
            <a:r>
              <a:rPr lang="en-GB" sz="3600"/>
              <a:t>is </a:t>
            </a:r>
            <a:r>
              <a:rPr lang="en-GB" sz="3600" b="1"/>
              <a:t>an angle of </a:t>
            </a:r>
            <a:r>
              <a:rPr lang="en-GB" sz="3600"/>
              <a:t>_________.</a:t>
            </a:r>
            <a:endParaRPr lang="en-AU" sz="3600"/>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5" name="TextBox 4">
            <a:extLst>
              <a:ext uri="{FF2B5EF4-FFF2-40B4-BE49-F238E27FC236}">
                <a16:creationId xmlns:a16="http://schemas.microsoft.com/office/drawing/2014/main" id="{08C8E659-B1C1-5527-D38C-F22FCE2226AB}"/>
              </a:ext>
            </a:extLst>
          </p:cNvPr>
          <p:cNvSpPr txBox="1"/>
          <p:nvPr/>
        </p:nvSpPr>
        <p:spPr>
          <a:xfrm>
            <a:off x="2925400" y="1473933"/>
            <a:ext cx="6993300" cy="914400"/>
          </a:xfrm>
          <a:prstGeom prst="rect">
            <a:avLst/>
          </a:prstGeom>
          <a:noFill/>
        </p:spPr>
        <p:txBody>
          <a:bodyPr wrap="square" lIns="0" tIns="0" rIns="0" bIns="0" rtlCol="0">
            <a:noAutofit/>
          </a:bodyPr>
          <a:lstStyle/>
          <a:p>
            <a:pPr algn="l">
              <a:lnSpc>
                <a:spcPct val="150000"/>
              </a:lnSpc>
            </a:pPr>
            <a:r>
              <a:rPr lang="en-AU" sz="4000" b="1"/>
              <a:t>Sketch</a:t>
            </a:r>
            <a:r>
              <a:rPr lang="en-AU" sz="4000"/>
              <a:t> the </a:t>
            </a:r>
            <a:r>
              <a:rPr lang="en-AU" sz="4000" b="1"/>
              <a:t>net</a:t>
            </a:r>
            <a:r>
              <a:rPr lang="en-AU" sz="4000"/>
              <a:t> of this </a:t>
            </a:r>
            <a:r>
              <a:rPr lang="en-AU" sz="4000" b="1"/>
              <a:t>prism</a:t>
            </a:r>
            <a:r>
              <a:rPr lang="en-AU" sz="4000"/>
              <a:t>.</a:t>
            </a:r>
          </a:p>
        </p:txBody>
      </p:sp>
      <p:pic>
        <p:nvPicPr>
          <p:cNvPr id="4" name="Picture 3" descr="A green rectangular prism.">
            <a:extLst>
              <a:ext uri="{FF2B5EF4-FFF2-40B4-BE49-F238E27FC236}">
                <a16:creationId xmlns:a16="http://schemas.microsoft.com/office/drawing/2014/main" id="{CA35F893-AD6C-3B9C-4AEB-19FEEF80013C}"/>
              </a:ext>
            </a:extLst>
          </p:cNvPr>
          <p:cNvPicPr>
            <a:picLocks noChangeAspect="1"/>
          </p:cNvPicPr>
          <p:nvPr/>
        </p:nvPicPr>
        <p:blipFill>
          <a:blip r:embed="rId4"/>
          <a:srcRect l="3293" t="5387" r="44191" b="27104"/>
          <a:stretch>
            <a:fillRect/>
          </a:stretch>
        </p:blipFill>
        <p:spPr>
          <a:xfrm>
            <a:off x="3742223" y="2678043"/>
            <a:ext cx="5020777" cy="3630440"/>
          </a:xfrm>
          <a:prstGeom prst="rect">
            <a:avLst/>
          </a:prstGeom>
          <a:effectLst/>
        </p:spPr>
      </p:pic>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4" name="TextBox 3">
            <a:extLst>
              <a:ext uri="{FF2B5EF4-FFF2-40B4-BE49-F238E27FC236}">
                <a16:creationId xmlns:a16="http://schemas.microsoft.com/office/drawing/2014/main" id="{9BBE4877-F6FB-1953-3590-B0A151B82519}"/>
              </a:ext>
            </a:extLst>
          </p:cNvPr>
          <p:cNvSpPr txBox="1"/>
          <p:nvPr/>
        </p:nvSpPr>
        <p:spPr>
          <a:xfrm>
            <a:off x="360000" y="1879600"/>
            <a:ext cx="5499100" cy="1866900"/>
          </a:xfrm>
          <a:prstGeom prst="rect">
            <a:avLst/>
          </a:prstGeom>
          <a:noFill/>
        </p:spPr>
        <p:txBody>
          <a:bodyPr wrap="square" lIns="0" tIns="0" rIns="0" bIns="0" rtlCol="0">
            <a:noAutofit/>
          </a:bodyPr>
          <a:lstStyle/>
          <a:p>
            <a:pPr algn="ctr">
              <a:lnSpc>
                <a:spcPct val="150000"/>
              </a:lnSpc>
            </a:pPr>
            <a:r>
              <a:rPr lang="en-AU" sz="4000" b="1"/>
              <a:t>Identify</a:t>
            </a:r>
            <a:r>
              <a:rPr lang="en-AU" sz="4000"/>
              <a:t> and </a:t>
            </a:r>
            <a:r>
              <a:rPr lang="en-AU" sz="4000" b="1"/>
              <a:t>record </a:t>
            </a:r>
            <a:r>
              <a:rPr lang="en-AU" sz="4000"/>
              <a:t>the </a:t>
            </a:r>
            <a:r>
              <a:rPr lang="en-AU" sz="4000" b="1"/>
              <a:t>coordinates</a:t>
            </a:r>
            <a:r>
              <a:rPr lang="en-AU" sz="4000"/>
              <a:t> for each star.</a:t>
            </a:r>
          </a:p>
        </p:txBody>
      </p:sp>
      <p:pic>
        <p:nvPicPr>
          <p:cNvPr id="7" name="Picture 6" descr="A 4 quadrant Cartesian plane with a purple star an orange star a green star aa blue star at different coordinates">
            <a:extLst>
              <a:ext uri="{FF2B5EF4-FFF2-40B4-BE49-F238E27FC236}">
                <a16:creationId xmlns:a16="http://schemas.microsoft.com/office/drawing/2014/main" id="{567C101C-0FBA-EABA-7DCA-5558BD23FEAC}"/>
              </a:ext>
            </a:extLst>
          </p:cNvPr>
          <p:cNvPicPr>
            <a:picLocks noChangeAspect="1"/>
          </p:cNvPicPr>
          <p:nvPr/>
        </p:nvPicPr>
        <p:blipFill>
          <a:blip r:embed="rId4"/>
          <a:srcRect l="919" t="14667" r="39222"/>
          <a:stretch>
            <a:fillRect/>
          </a:stretch>
        </p:blipFill>
        <p:spPr>
          <a:xfrm>
            <a:off x="6178057" y="1416239"/>
            <a:ext cx="5059919" cy="5099761"/>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5" name="TextBox 4">
            <a:extLst>
              <a:ext uri="{FF2B5EF4-FFF2-40B4-BE49-F238E27FC236}">
                <a16:creationId xmlns:a16="http://schemas.microsoft.com/office/drawing/2014/main" id="{3765B951-B364-DCDA-6117-9ABE7C74A000}"/>
              </a:ext>
            </a:extLst>
          </p:cNvPr>
          <p:cNvSpPr txBox="1"/>
          <p:nvPr/>
        </p:nvSpPr>
        <p:spPr>
          <a:xfrm>
            <a:off x="485954" y="2040879"/>
            <a:ext cx="11358046" cy="3313664"/>
          </a:xfrm>
          <a:prstGeom prst="rect">
            <a:avLst/>
          </a:prstGeom>
          <a:noFill/>
        </p:spPr>
        <p:txBody>
          <a:bodyPr wrap="square">
            <a:spAutoFit/>
          </a:bodyPr>
          <a:lstStyle/>
          <a:p>
            <a:pPr algn="ctr">
              <a:lnSpc>
                <a:spcPct val="150000"/>
              </a:lnSpc>
              <a:buNone/>
            </a:pPr>
            <a:r>
              <a:rPr lang="en-AU" sz="3600"/>
              <a:t>The distance from Riverdale to Pine Hill is </a:t>
            </a:r>
          </a:p>
          <a:p>
            <a:pPr algn="ctr">
              <a:lnSpc>
                <a:spcPct val="150000"/>
              </a:lnSpc>
              <a:buNone/>
            </a:pPr>
            <a:r>
              <a:rPr lang="en-AU" sz="3600" b="1"/>
              <a:t>12 kilometres</a:t>
            </a:r>
            <a:r>
              <a:rPr lang="en-AU" sz="3600"/>
              <a:t>.</a:t>
            </a:r>
          </a:p>
          <a:p>
            <a:pPr algn="ctr">
              <a:lnSpc>
                <a:spcPct val="150000"/>
              </a:lnSpc>
              <a:buNone/>
            </a:pPr>
            <a:endParaRPr lang="en-AU" sz="3600"/>
          </a:p>
          <a:p>
            <a:pPr algn="ctr">
              <a:lnSpc>
                <a:spcPct val="150000"/>
              </a:lnSpc>
              <a:buNone/>
            </a:pPr>
            <a:r>
              <a:rPr lang="en-AU" sz="3600" b="1"/>
              <a:t>Record</a:t>
            </a:r>
            <a:r>
              <a:rPr lang="en-AU" sz="3600"/>
              <a:t> the </a:t>
            </a:r>
            <a:r>
              <a:rPr lang="en-AU" sz="3600" b="1"/>
              <a:t>distance</a:t>
            </a:r>
            <a:r>
              <a:rPr lang="en-AU" sz="3600"/>
              <a:t> using the </a:t>
            </a:r>
            <a:r>
              <a:rPr lang="en-AU" sz="3600" b="1"/>
              <a:t>correct abbreviation</a:t>
            </a:r>
            <a:r>
              <a:rPr lang="en-AU" sz="3200" b="1"/>
              <a:t>.</a:t>
            </a:r>
            <a:endParaRPr lang="en-AU" sz="3200"/>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ordering unit fractions 2</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3" name="Picture 2" descr="A numberline from 0 to 1 with the following fractions listed below: 1/4, 1/6, 1/2 and 1/3.">
            <a:extLst>
              <a:ext uri="{FF2B5EF4-FFF2-40B4-BE49-F238E27FC236}">
                <a16:creationId xmlns:a16="http://schemas.microsoft.com/office/drawing/2014/main" id="{C382ACC9-281A-7DF0-42E5-783E7B4147AC}"/>
              </a:ext>
            </a:extLst>
          </p:cNvPr>
          <p:cNvPicPr>
            <a:picLocks noChangeAspect="1"/>
          </p:cNvPicPr>
          <p:nvPr/>
        </p:nvPicPr>
        <p:blipFill>
          <a:blip r:embed="rId4"/>
          <a:srcRect l="13058" r="24317"/>
          <a:stretch>
            <a:fillRect/>
          </a:stretch>
        </p:blipFill>
        <p:spPr>
          <a:xfrm rot="16200000">
            <a:off x="4349353" y="-391062"/>
            <a:ext cx="3800479" cy="8583094"/>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sp>
        <p:nvSpPr>
          <p:cNvPr id="5" name="Text Placeholder 5">
            <a:extLst>
              <a:ext uri="{FF2B5EF4-FFF2-40B4-BE49-F238E27FC236}">
                <a16:creationId xmlns:a16="http://schemas.microsoft.com/office/drawing/2014/main" id="{E17AAAE6-4A67-96D9-816A-E4ECC611A3DB}"/>
              </a:ext>
            </a:extLst>
          </p:cNvPr>
          <p:cNvSpPr txBox="1">
            <a:spLocks/>
          </p:cNvSpPr>
          <p:nvPr/>
        </p:nvSpPr>
        <p:spPr>
          <a:xfrm>
            <a:off x="360000" y="1442453"/>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a:t>These fractions have been </a:t>
            </a:r>
            <a:r>
              <a:rPr lang="en-AU" sz="4000" b="1"/>
              <a:t>ordered</a:t>
            </a:r>
            <a:r>
              <a:rPr lang="en-AU" sz="4000"/>
              <a:t> </a:t>
            </a:r>
            <a:r>
              <a:rPr lang="en-AU" sz="4000" b="1"/>
              <a:t>incorrectly</a:t>
            </a:r>
            <a:r>
              <a:rPr lang="en-AU" sz="4000"/>
              <a:t> on the number line.</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pic>
        <p:nvPicPr>
          <p:cNvPr id="7" name="Picture 6" descr="A numberline from 0 to 1 with the following fractions labelled one-eigth, one quarter, one third and one half.">
            <a:extLst>
              <a:ext uri="{FF2B5EF4-FFF2-40B4-BE49-F238E27FC236}">
                <a16:creationId xmlns:a16="http://schemas.microsoft.com/office/drawing/2014/main" id="{4F9307F7-FD52-0463-71F1-A856BF8C06D3}"/>
              </a:ext>
            </a:extLst>
          </p:cNvPr>
          <p:cNvPicPr>
            <a:picLocks noChangeAspect="1"/>
          </p:cNvPicPr>
          <p:nvPr/>
        </p:nvPicPr>
        <p:blipFill>
          <a:blip r:embed="rId4"/>
          <a:srcRect t="34525" b="37099"/>
          <a:stretch>
            <a:fillRect/>
          </a:stretch>
        </p:blipFill>
        <p:spPr>
          <a:xfrm>
            <a:off x="1245929" y="3380209"/>
            <a:ext cx="9700141" cy="1946031"/>
          </a:xfrm>
          <a:prstGeom prst="rect">
            <a:avLst/>
          </a:prstGeom>
          <a:effectLst>
            <a:outerShdw blurRad="63500" sx="102000" sy="102000" algn="ctr" rotWithShape="0">
              <a:prstClr val="black">
                <a:alpha val="40000"/>
              </a:prstClr>
            </a:outerShdw>
          </a:effectLst>
        </p:spPr>
      </p:pic>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993432026"/>
              </p:ext>
            </p:extLst>
          </p:nvPr>
        </p:nvGraphicFramePr>
        <p:xfrm>
          <a:off x="2442980" y="559599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5" name="TextBox 4">
            <a:extLst>
              <a:ext uri="{FF2B5EF4-FFF2-40B4-BE49-F238E27FC236}">
                <a16:creationId xmlns:a16="http://schemas.microsoft.com/office/drawing/2014/main" id="{29CBC8A9-E6D6-C9D6-D595-93C69817FEEA}"/>
              </a:ext>
            </a:extLst>
          </p:cNvPr>
          <p:cNvSpPr txBox="1"/>
          <p:nvPr/>
        </p:nvSpPr>
        <p:spPr>
          <a:xfrm>
            <a:off x="492499" y="764033"/>
            <a:ext cx="11207001" cy="2192216"/>
          </a:xfrm>
          <a:prstGeom prst="rect">
            <a:avLst/>
          </a:prstGeom>
          <a:noFill/>
        </p:spPr>
        <p:txBody>
          <a:bodyPr wrap="square" lIns="0" tIns="0" rIns="0" bIns="0" rtlCol="0">
            <a:noAutofit/>
          </a:bodyPr>
          <a:lstStyle/>
          <a:p>
            <a:pPr algn="l">
              <a:lnSpc>
                <a:spcPct val="150000"/>
              </a:lnSpc>
            </a:pPr>
            <a:endParaRPr lang="en-AU" sz="2800"/>
          </a:p>
          <a:p>
            <a:pPr algn="ctr">
              <a:lnSpc>
                <a:spcPct val="150000"/>
              </a:lnSpc>
            </a:pPr>
            <a:r>
              <a:rPr lang="en-AU" sz="3200" b="1"/>
              <a:t>Record</a:t>
            </a:r>
            <a:r>
              <a:rPr lang="en-AU" sz="3200"/>
              <a:t> the words missing from this sentence:</a:t>
            </a:r>
            <a:endParaRPr lang="en-AU"/>
          </a:p>
          <a:p>
            <a:pPr algn="ctr">
              <a:lnSpc>
                <a:spcPct val="150000"/>
              </a:lnSpc>
            </a:pPr>
            <a:r>
              <a:rPr lang="en-AU" sz="3200"/>
              <a:t> When measuring an </a:t>
            </a:r>
            <a:r>
              <a:rPr lang="en-AU" sz="3200" b="1"/>
              <a:t>angle</a:t>
            </a:r>
            <a:r>
              <a:rPr lang="en-AU" sz="3200"/>
              <a:t> using a </a:t>
            </a:r>
            <a:r>
              <a:rPr lang="en-AU" sz="3200" b="1"/>
              <a:t>protractor</a:t>
            </a:r>
            <a:r>
              <a:rPr lang="en-AU" sz="3200"/>
              <a:t>, you need to make sure to place the _______ point of the protractor on the _______ of the angle.</a:t>
            </a:r>
          </a:p>
        </p:txBody>
      </p:sp>
      <p:pic>
        <p:nvPicPr>
          <p:cNvPr id="8" name="Picture 7" descr="A protractor for measuring angles">
            <a:extLst>
              <a:ext uri="{FF2B5EF4-FFF2-40B4-BE49-F238E27FC236}">
                <a16:creationId xmlns:a16="http://schemas.microsoft.com/office/drawing/2014/main" id="{A4B26AC6-BCA2-7205-122A-2B5CB611D2E9}"/>
              </a:ext>
            </a:extLst>
          </p:cNvPr>
          <p:cNvPicPr>
            <a:picLocks noChangeAspect="1"/>
          </p:cNvPicPr>
          <p:nvPr/>
        </p:nvPicPr>
        <p:blipFill>
          <a:blip r:embed="rId4"/>
          <a:srcRect l="25105" t="22705" r="18214" b="33898"/>
          <a:stretch>
            <a:fillRect/>
          </a:stretch>
        </p:blipFill>
        <p:spPr>
          <a:xfrm>
            <a:off x="3856892" y="4449653"/>
            <a:ext cx="4149969" cy="2246347"/>
          </a:xfrm>
          <a:prstGeom prst="rect">
            <a:avLst/>
          </a:prstGeom>
        </p:spPr>
      </p:pic>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5" name="TextBox 4">
            <a:extLst>
              <a:ext uri="{FF2B5EF4-FFF2-40B4-BE49-F238E27FC236}">
                <a16:creationId xmlns:a16="http://schemas.microsoft.com/office/drawing/2014/main" id="{3094DF52-F349-49B1-78B5-CE38EE7B9B05}"/>
              </a:ext>
            </a:extLst>
          </p:cNvPr>
          <p:cNvSpPr txBox="1"/>
          <p:nvPr/>
        </p:nvSpPr>
        <p:spPr>
          <a:xfrm>
            <a:off x="354000" y="1358020"/>
            <a:ext cx="11484000" cy="1366819"/>
          </a:xfrm>
          <a:prstGeom prst="rect">
            <a:avLst/>
          </a:prstGeom>
          <a:noFill/>
        </p:spPr>
        <p:txBody>
          <a:bodyPr wrap="none" lIns="0" tIns="0" rIns="0" bIns="0" rtlCol="0">
            <a:noAutofit/>
          </a:bodyPr>
          <a:lstStyle/>
          <a:p>
            <a:pPr algn="l">
              <a:lnSpc>
                <a:spcPct val="150000"/>
              </a:lnSpc>
            </a:pPr>
            <a:r>
              <a:rPr lang="en-AU" sz="3200" b="1"/>
              <a:t>Visualise</a:t>
            </a:r>
            <a:r>
              <a:rPr lang="en-AU" sz="3200"/>
              <a:t> folding these </a:t>
            </a:r>
            <a:r>
              <a:rPr lang="en-AU" sz="3200" b="1"/>
              <a:t>nets</a:t>
            </a:r>
            <a:r>
              <a:rPr lang="en-AU" sz="3200"/>
              <a:t>. </a:t>
            </a:r>
            <a:r>
              <a:rPr lang="en-AU" sz="3200" b="1"/>
              <a:t>Name</a:t>
            </a:r>
            <a:r>
              <a:rPr lang="en-AU" sz="3200"/>
              <a:t> the </a:t>
            </a:r>
            <a:r>
              <a:rPr lang="en-AU" sz="3200" b="1"/>
              <a:t>3D objects </a:t>
            </a:r>
            <a:r>
              <a:rPr lang="en-AU" sz="3200"/>
              <a:t>they form</a:t>
            </a:r>
            <a:r>
              <a:rPr lang="en-AU" sz="3600"/>
              <a:t>.</a:t>
            </a:r>
          </a:p>
        </p:txBody>
      </p:sp>
      <p:pic>
        <p:nvPicPr>
          <p:cNvPr id="7" name="Picture 6" descr="The nets of 3 x three dimensional objects">
            <a:extLst>
              <a:ext uri="{FF2B5EF4-FFF2-40B4-BE49-F238E27FC236}">
                <a16:creationId xmlns:a16="http://schemas.microsoft.com/office/drawing/2014/main" id="{573761DE-7FD4-74DE-1723-9A011D729BB7}"/>
              </a:ext>
            </a:extLst>
          </p:cNvPr>
          <p:cNvPicPr>
            <a:picLocks noChangeAspect="1"/>
          </p:cNvPicPr>
          <p:nvPr/>
        </p:nvPicPr>
        <p:blipFill>
          <a:blip r:embed="rId4"/>
          <a:srcRect l="3199" t="24589" r="2963" b="17223"/>
          <a:stretch>
            <a:fillRect/>
          </a:stretch>
        </p:blipFill>
        <p:spPr>
          <a:xfrm>
            <a:off x="785551" y="2532707"/>
            <a:ext cx="10620897" cy="3704671"/>
          </a:xfrm>
          <a:prstGeom prst="rect">
            <a:avLst/>
          </a:prstGeom>
          <a:effectLst/>
        </p:spPr>
      </p:pic>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7" name="TextBox 6">
            <a:extLst>
              <a:ext uri="{FF2B5EF4-FFF2-40B4-BE49-F238E27FC236}">
                <a16:creationId xmlns:a16="http://schemas.microsoft.com/office/drawing/2014/main" id="{E191F837-7332-488E-6B77-51A9F59D815B}"/>
              </a:ext>
            </a:extLst>
          </p:cNvPr>
          <p:cNvSpPr txBox="1"/>
          <p:nvPr/>
        </p:nvSpPr>
        <p:spPr>
          <a:xfrm>
            <a:off x="127000" y="1948676"/>
            <a:ext cx="6096000" cy="2748253"/>
          </a:xfrm>
          <a:prstGeom prst="rect">
            <a:avLst/>
          </a:prstGeom>
          <a:noFill/>
        </p:spPr>
        <p:txBody>
          <a:bodyPr wrap="square">
            <a:spAutoFit/>
          </a:bodyPr>
          <a:lstStyle/>
          <a:p>
            <a:pPr algn="ctr">
              <a:lnSpc>
                <a:spcPct val="150000"/>
              </a:lnSpc>
            </a:pPr>
            <a:r>
              <a:rPr lang="en-AU" sz="4000" b="1"/>
              <a:t>Identify</a:t>
            </a:r>
            <a:r>
              <a:rPr lang="en-AU" sz="4000"/>
              <a:t> and </a:t>
            </a:r>
            <a:r>
              <a:rPr lang="en-AU" sz="4000" b="1"/>
              <a:t>record </a:t>
            </a:r>
            <a:r>
              <a:rPr lang="en-AU" sz="4000"/>
              <a:t>the </a:t>
            </a:r>
            <a:r>
              <a:rPr lang="en-AU" sz="4000" b="1"/>
              <a:t>coordinates</a:t>
            </a:r>
            <a:r>
              <a:rPr lang="en-AU" sz="4000"/>
              <a:t> for each star.</a:t>
            </a:r>
          </a:p>
        </p:txBody>
      </p:sp>
      <p:pic>
        <p:nvPicPr>
          <p:cNvPr id="5" name="Picture 4" descr="A 4 quadrant Cartesian plane with a purple star, an orange star, a green star a blue star at different coordinates">
            <a:extLst>
              <a:ext uri="{FF2B5EF4-FFF2-40B4-BE49-F238E27FC236}">
                <a16:creationId xmlns:a16="http://schemas.microsoft.com/office/drawing/2014/main" id="{0326E122-402A-E3A2-4CA2-0FFD72C25B22}"/>
              </a:ext>
            </a:extLst>
          </p:cNvPr>
          <p:cNvPicPr>
            <a:picLocks noChangeAspect="1"/>
          </p:cNvPicPr>
          <p:nvPr/>
        </p:nvPicPr>
        <p:blipFill>
          <a:blip r:embed="rId4"/>
          <a:srcRect t="14533" r="37155"/>
          <a:stretch>
            <a:fillRect/>
          </a:stretch>
        </p:blipFill>
        <p:spPr>
          <a:xfrm>
            <a:off x="6304793" y="1360207"/>
            <a:ext cx="5179207" cy="4979808"/>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4" name="TextBox 3">
            <a:extLst>
              <a:ext uri="{FF2B5EF4-FFF2-40B4-BE49-F238E27FC236}">
                <a16:creationId xmlns:a16="http://schemas.microsoft.com/office/drawing/2014/main" id="{758618FE-A4D8-4804-E64E-AE3775C59324}"/>
              </a:ext>
            </a:extLst>
          </p:cNvPr>
          <p:cNvSpPr txBox="1"/>
          <p:nvPr/>
        </p:nvSpPr>
        <p:spPr>
          <a:xfrm>
            <a:off x="1371600" y="1864519"/>
            <a:ext cx="10158761" cy="3128962"/>
          </a:xfrm>
          <a:prstGeom prst="rect">
            <a:avLst/>
          </a:prstGeom>
          <a:noFill/>
        </p:spPr>
        <p:txBody>
          <a:bodyPr wrap="square" lIns="0" tIns="0" rIns="0" bIns="0" rtlCol="0">
            <a:noAutofit/>
          </a:bodyPr>
          <a:lstStyle/>
          <a:p>
            <a:pPr algn="ctr">
              <a:lnSpc>
                <a:spcPct val="150000"/>
              </a:lnSpc>
            </a:pPr>
            <a:r>
              <a:rPr lang="en-AU" sz="4000" b="1"/>
              <a:t>Convert</a:t>
            </a:r>
            <a:r>
              <a:rPr lang="en-AU" sz="4000"/>
              <a:t> and </a:t>
            </a:r>
            <a:r>
              <a:rPr lang="en-AU" sz="4000" b="1"/>
              <a:t>record</a:t>
            </a:r>
            <a:r>
              <a:rPr lang="en-AU" sz="4000"/>
              <a:t> the following to kms:</a:t>
            </a:r>
          </a:p>
          <a:p>
            <a:pPr marL="285750" indent="-285750" algn="ctr">
              <a:lnSpc>
                <a:spcPct val="150000"/>
              </a:lnSpc>
              <a:buFont typeface="Arial" panose="020B0604020202020204" pitchFamily="34" charset="0"/>
              <a:buChar char="•"/>
            </a:pPr>
            <a:r>
              <a:rPr lang="en-AU" sz="4000"/>
              <a:t>3800 m </a:t>
            </a:r>
          </a:p>
          <a:p>
            <a:pPr marL="285750" indent="-285750" algn="ctr">
              <a:lnSpc>
                <a:spcPct val="150000"/>
              </a:lnSpc>
              <a:buFont typeface="Arial" panose="020B0604020202020204" pitchFamily="34" charset="0"/>
              <a:buChar char="•"/>
            </a:pPr>
            <a:r>
              <a:rPr lang="en-AU" sz="4000"/>
              <a:t>1200 m </a:t>
            </a:r>
          </a:p>
          <a:p>
            <a:pPr marL="285750" indent="-285750" algn="ctr">
              <a:lnSpc>
                <a:spcPct val="150000"/>
              </a:lnSpc>
              <a:buFont typeface="Arial" panose="020B0604020202020204" pitchFamily="34" charset="0"/>
              <a:buChar char="•"/>
            </a:pPr>
            <a:r>
              <a:rPr lang="en-AU" sz="4000"/>
              <a:t>7400 m</a:t>
            </a:r>
            <a:endParaRPr lang="en-AU" sz="1800"/>
          </a:p>
          <a:p>
            <a:pPr algn="l"/>
            <a:endParaRPr lang="en-AU" sz="1800"/>
          </a:p>
          <a:p>
            <a:pPr algn="l"/>
            <a:endParaRPr lang="en-AU" sz="1800"/>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fraction number line</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7" name="TextBox 6">
            <a:extLst>
              <a:ext uri="{FF2B5EF4-FFF2-40B4-BE49-F238E27FC236}">
                <a16:creationId xmlns:a16="http://schemas.microsoft.com/office/drawing/2014/main" id="{AEAC1813-F8F7-5404-4156-61B04A67EFA3}"/>
              </a:ext>
            </a:extLst>
          </p:cNvPr>
          <p:cNvSpPr txBox="1"/>
          <p:nvPr/>
        </p:nvSpPr>
        <p:spPr>
          <a:xfrm>
            <a:off x="360000" y="1877718"/>
            <a:ext cx="8915400" cy="3728649"/>
          </a:xfrm>
          <a:prstGeom prst="rect">
            <a:avLst/>
          </a:prstGeom>
          <a:noFill/>
        </p:spPr>
        <p:txBody>
          <a:bodyPr wrap="square">
            <a:spAutoFit/>
          </a:bodyPr>
          <a:lstStyle/>
          <a:p>
            <a:pPr>
              <a:lnSpc>
                <a:spcPct val="150000"/>
              </a:lnSpc>
            </a:pPr>
            <a:r>
              <a:rPr lang="en-AU" sz="2000" b="1"/>
              <a:t>Numerator: </a:t>
            </a:r>
            <a:r>
              <a:rPr lang="en-AU" sz="2000"/>
              <a:t>the top number is the ‘numerator’ which identifies the number of parts. </a:t>
            </a:r>
          </a:p>
          <a:p>
            <a:pPr>
              <a:lnSpc>
                <a:spcPct val="150000"/>
              </a:lnSpc>
            </a:pPr>
            <a:endParaRPr lang="en-AU" sz="2000" b="1"/>
          </a:p>
          <a:p>
            <a:pPr>
              <a:lnSpc>
                <a:spcPct val="150000"/>
              </a:lnSpc>
            </a:pPr>
            <a:r>
              <a:rPr lang="en-AU" sz="2000" b="1"/>
              <a:t>Fraction bar: </a:t>
            </a:r>
            <a:r>
              <a:rPr lang="en-AU" sz="2000"/>
              <a:t>The line separating the numerator and denominator is called the ‘fraction bar’. It is also sometimes referred to as the ‘vinculum’.</a:t>
            </a:r>
          </a:p>
          <a:p>
            <a:pPr>
              <a:lnSpc>
                <a:spcPct val="150000"/>
              </a:lnSpc>
            </a:pPr>
            <a:endParaRPr lang="en-AU" sz="2000" b="1"/>
          </a:p>
          <a:p>
            <a:pPr>
              <a:lnSpc>
                <a:spcPct val="150000"/>
              </a:lnSpc>
            </a:pPr>
            <a:r>
              <a:rPr lang="en-AU" sz="2000" b="1"/>
              <a:t>Denominator: </a:t>
            </a:r>
            <a:r>
              <a:rPr lang="en-AU" sz="2000"/>
              <a:t>the bottom number is called the ‘denominator’ and it is the total number of equal parts the whole is broken into.</a:t>
            </a:r>
          </a:p>
        </p:txBody>
      </p:sp>
      <p:cxnSp>
        <p:nvCxnSpPr>
          <p:cNvPr id="13" name="Straight Arrow Connector 12" descr="An arrow pointing to the right at the number 1 as the numerator of a fraction.">
            <a:extLst>
              <a:ext uri="{FF2B5EF4-FFF2-40B4-BE49-F238E27FC236}">
                <a16:creationId xmlns:a16="http://schemas.microsoft.com/office/drawing/2014/main" id="{0AA164E6-2122-8754-2B19-17BF8C45B68D}"/>
              </a:ext>
            </a:extLst>
          </p:cNvPr>
          <p:cNvCxnSpPr/>
          <p:nvPr/>
        </p:nvCxnSpPr>
        <p:spPr>
          <a:xfrm>
            <a:off x="9010649" y="2671763"/>
            <a:ext cx="1004887"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descr="An arrow pointing to the right at fraction bar or vinculum.">
            <a:extLst>
              <a:ext uri="{FF2B5EF4-FFF2-40B4-BE49-F238E27FC236}">
                <a16:creationId xmlns:a16="http://schemas.microsoft.com/office/drawing/2014/main" id="{6CFD4DB6-6E07-00A7-3A0B-AD14B729FD5A}"/>
              </a:ext>
            </a:extLst>
          </p:cNvPr>
          <p:cNvCxnSpPr/>
          <p:nvPr/>
        </p:nvCxnSpPr>
        <p:spPr>
          <a:xfrm>
            <a:off x="9010650" y="3742042"/>
            <a:ext cx="1004887"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descr="An arrow pointing to the left at the number 5 as the denominator of a fraction.">
            <a:extLst>
              <a:ext uri="{FF2B5EF4-FFF2-40B4-BE49-F238E27FC236}">
                <a16:creationId xmlns:a16="http://schemas.microsoft.com/office/drawing/2014/main" id="{BDEDAE20-D993-9F0C-ADC8-31011BAB2656}"/>
              </a:ext>
            </a:extLst>
          </p:cNvPr>
          <p:cNvCxnSpPr/>
          <p:nvPr/>
        </p:nvCxnSpPr>
        <p:spPr>
          <a:xfrm>
            <a:off x="9010648" y="4865992"/>
            <a:ext cx="1004887"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186305B-8004-D524-1FB0-1EDA1E24C5FB}"/>
                  </a:ext>
                </a:extLst>
              </p:cNvPr>
              <p:cNvSpPr txBox="1"/>
              <p:nvPr/>
            </p:nvSpPr>
            <p:spPr>
              <a:xfrm>
                <a:off x="10392628" y="2189886"/>
                <a:ext cx="1428750" cy="3104311"/>
              </a:xfrm>
              <a:prstGeom prst="rect">
                <a:avLst/>
              </a:prstGeom>
              <a:noFill/>
            </p:spPr>
            <p:txBody>
              <a:bodyPr wrap="square">
                <a:spAutoFit/>
              </a:bodyPr>
              <a:lstStyle/>
              <a:p>
                <a14:m>
                  <m:oMath xmlns:m="http://schemas.openxmlformats.org/officeDocument/2006/math">
                    <m:f>
                      <m:fPr>
                        <m:ctrlPr>
                          <a:rPr lang="en-AU" sz="13800" i="1" smtClean="0">
                            <a:effectLst/>
                            <a:latin typeface="Cambria Math" panose="02040503050406030204" pitchFamily="18" charset="0"/>
                          </a:rPr>
                        </m:ctrlPr>
                      </m:fPr>
                      <m:num>
                        <m:r>
                          <a:rPr lang="en-AU" sz="13800" i="1">
                            <a:effectLst/>
                            <a:latin typeface="Cambria Math" panose="02040503050406030204" pitchFamily="18" charset="0"/>
                            <a:ea typeface="Calibri" panose="020F0502020204030204" pitchFamily="34" charset="0"/>
                            <a:cs typeface="Arial" panose="020B0604020202020204" pitchFamily="34" charset="0"/>
                          </a:rPr>
                          <m:t>1</m:t>
                        </m:r>
                      </m:num>
                      <m:den>
                        <m:r>
                          <a:rPr lang="en-AU" sz="13800" i="1">
                            <a:effectLst/>
                            <a:latin typeface="Cambria Math" panose="02040503050406030204" pitchFamily="18" charset="0"/>
                            <a:ea typeface="Calibri" panose="020F0502020204030204" pitchFamily="34" charset="0"/>
                            <a:cs typeface="Arial" panose="020B0604020202020204" pitchFamily="34" charset="0"/>
                          </a:rPr>
                          <m:t>5</m:t>
                        </m:r>
                      </m:den>
                    </m:f>
                  </m:oMath>
                </a14:m>
                <a:r>
                  <a:rPr lang="en-AU" sz="1100">
                    <a:effectLst/>
                    <a:latin typeface="Arial" panose="020B0604020202020204" pitchFamily="34" charset="0"/>
                    <a:ea typeface="Calibri" panose="020F0502020204030204" pitchFamily="34" charset="0"/>
                  </a:rPr>
                  <a:t>. </a:t>
                </a:r>
                <a:endParaRPr lang="en-AU"/>
              </a:p>
            </p:txBody>
          </p:sp>
        </mc:Choice>
        <mc:Fallback xmlns="">
          <p:sp>
            <p:nvSpPr>
              <p:cNvPr id="11" name="TextBox 10">
                <a:extLst>
                  <a:ext uri="{FF2B5EF4-FFF2-40B4-BE49-F238E27FC236}">
                    <a16:creationId xmlns:a16="http://schemas.microsoft.com/office/drawing/2014/main" id="{1186305B-8004-D524-1FB0-1EDA1E24C5FB}"/>
                  </a:ext>
                </a:extLst>
              </p:cNvPr>
              <p:cNvSpPr txBox="1">
                <a:spLocks noRot="1" noChangeAspect="1" noMove="1" noResize="1" noEditPoints="1" noAdjustHandles="1" noChangeArrowheads="1" noChangeShapeType="1" noTextEdit="1"/>
              </p:cNvSpPr>
              <p:nvPr/>
            </p:nvSpPr>
            <p:spPr>
              <a:xfrm>
                <a:off x="10392628" y="2189886"/>
                <a:ext cx="1428750" cy="310431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474481" y="2478556"/>
            <a:ext cx="11243037" cy="893226"/>
          </a:xfrm>
        </p:spPr>
        <p:txBody>
          <a:bodyPr/>
          <a:lstStyle/>
          <a:p>
            <a:pPr algn="ctr"/>
            <a:r>
              <a:rPr lang="en-US" sz="5400"/>
              <a:t>5187 - 402 - 218 =</a:t>
            </a:r>
          </a:p>
        </p:txBody>
      </p:sp>
      <p:sp>
        <p:nvSpPr>
          <p:cNvPr id="9" name="TextBox 8">
            <a:extLst>
              <a:ext uri="{FF2B5EF4-FFF2-40B4-BE49-F238E27FC236}">
                <a16:creationId xmlns:a16="http://schemas.microsoft.com/office/drawing/2014/main" id="{4E6EA9CC-6235-8807-420B-A4371AC418C0}"/>
              </a:ext>
            </a:extLst>
          </p:cNvPr>
          <p:cNvSpPr txBox="1"/>
          <p:nvPr/>
        </p:nvSpPr>
        <p:spPr>
          <a:xfrm>
            <a:off x="971694"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F4EAC339-33E5-8480-9358-B43312F1A679}"/>
              </a:ext>
            </a:extLst>
          </p:cNvPr>
          <p:cNvSpPr txBox="1"/>
          <p:nvPr/>
        </p:nvSpPr>
        <p:spPr>
          <a:xfrm>
            <a:off x="1681338" y="5669276"/>
            <a:ext cx="1899138" cy="893226"/>
          </a:xfrm>
          <a:prstGeom prst="rect">
            <a:avLst/>
          </a:prstGeom>
          <a:noFill/>
        </p:spPr>
        <p:txBody>
          <a:bodyPr wrap="square" lIns="0" tIns="0" rIns="0" bIns="0" rtlCol="0">
            <a:noAutofit/>
          </a:bodyPr>
          <a:lstStyle/>
          <a:p>
            <a:pPr algn="l"/>
            <a:r>
              <a:rPr lang="en-AU" sz="4000"/>
              <a:t>4567</a:t>
            </a:r>
          </a:p>
        </p:txBody>
      </p:sp>
      <p:sp>
        <p:nvSpPr>
          <p:cNvPr id="10" name="TextBox 9">
            <a:extLst>
              <a:ext uri="{FF2B5EF4-FFF2-40B4-BE49-F238E27FC236}">
                <a16:creationId xmlns:a16="http://schemas.microsoft.com/office/drawing/2014/main" id="{4AB24A3E-5574-D79C-6A0F-06D3F8A29BB1}"/>
              </a:ext>
            </a:extLst>
          </p:cNvPr>
          <p:cNvSpPr txBox="1"/>
          <p:nvPr/>
        </p:nvSpPr>
        <p:spPr>
          <a:xfrm>
            <a:off x="3923096" y="559307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7" name="TextBox 6">
            <a:extLst>
              <a:ext uri="{FF2B5EF4-FFF2-40B4-BE49-F238E27FC236}">
                <a16:creationId xmlns:a16="http://schemas.microsoft.com/office/drawing/2014/main" id="{9851D65C-935D-AB8D-7DB6-AB26C4D62470}"/>
              </a:ext>
            </a:extLst>
          </p:cNvPr>
          <p:cNvSpPr txBox="1"/>
          <p:nvPr/>
        </p:nvSpPr>
        <p:spPr>
          <a:xfrm>
            <a:off x="4608988" y="5666870"/>
            <a:ext cx="1899138" cy="893226"/>
          </a:xfrm>
          <a:prstGeom prst="rect">
            <a:avLst/>
          </a:prstGeom>
          <a:noFill/>
        </p:spPr>
        <p:txBody>
          <a:bodyPr wrap="square" lIns="0" tIns="0" rIns="0" bIns="0" rtlCol="0">
            <a:noAutofit/>
          </a:bodyPr>
          <a:lstStyle/>
          <a:p>
            <a:pPr algn="l"/>
            <a:r>
              <a:rPr lang="en-AU" sz="4000"/>
              <a:t>5979</a:t>
            </a:r>
          </a:p>
        </p:txBody>
      </p:sp>
      <p:sp>
        <p:nvSpPr>
          <p:cNvPr id="12" name="TextBox 11">
            <a:extLst>
              <a:ext uri="{FF2B5EF4-FFF2-40B4-BE49-F238E27FC236}">
                <a16:creationId xmlns:a16="http://schemas.microsoft.com/office/drawing/2014/main" id="{D92289C6-858E-E449-16B6-10640E9A4385}"/>
              </a:ext>
            </a:extLst>
          </p:cNvPr>
          <p:cNvSpPr txBox="1"/>
          <p:nvPr/>
        </p:nvSpPr>
        <p:spPr>
          <a:xfrm>
            <a:off x="6803844" y="559307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8" name="TextBox 7">
            <a:extLst>
              <a:ext uri="{FF2B5EF4-FFF2-40B4-BE49-F238E27FC236}">
                <a16:creationId xmlns:a16="http://schemas.microsoft.com/office/drawing/2014/main" id="{2145C4E7-FDF2-55AB-3C9B-A636F5C6B5A4}"/>
              </a:ext>
            </a:extLst>
          </p:cNvPr>
          <p:cNvSpPr txBox="1"/>
          <p:nvPr/>
        </p:nvSpPr>
        <p:spPr>
          <a:xfrm>
            <a:off x="7497615" y="5643774"/>
            <a:ext cx="1899138" cy="893226"/>
          </a:xfrm>
          <a:prstGeom prst="rect">
            <a:avLst/>
          </a:prstGeom>
          <a:noFill/>
        </p:spPr>
        <p:txBody>
          <a:bodyPr wrap="square" lIns="0" tIns="0" rIns="0" bIns="0" rtlCol="0">
            <a:noAutofit/>
          </a:bodyPr>
          <a:lstStyle/>
          <a:p>
            <a:pPr algn="l"/>
            <a:r>
              <a:rPr lang="en-AU" sz="4000"/>
              <a:t>4568</a:t>
            </a:r>
          </a:p>
        </p:txBody>
      </p:sp>
      <p:sp>
        <p:nvSpPr>
          <p:cNvPr id="11" name="TextBox 10">
            <a:extLst>
              <a:ext uri="{FF2B5EF4-FFF2-40B4-BE49-F238E27FC236}">
                <a16:creationId xmlns:a16="http://schemas.microsoft.com/office/drawing/2014/main" id="{C22AC239-77AC-A298-F7CD-0F89091EC017}"/>
              </a:ext>
            </a:extLst>
          </p:cNvPr>
          <p:cNvSpPr txBox="1"/>
          <p:nvPr/>
        </p:nvSpPr>
        <p:spPr>
          <a:xfrm>
            <a:off x="9561095" y="557481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6" name="TextBox 5">
            <a:extLst>
              <a:ext uri="{FF2B5EF4-FFF2-40B4-BE49-F238E27FC236}">
                <a16:creationId xmlns:a16="http://schemas.microsoft.com/office/drawing/2014/main" id="{73230F35-EB75-FBD3-30E6-CEE64C01EE5D}"/>
              </a:ext>
            </a:extLst>
          </p:cNvPr>
          <p:cNvSpPr txBox="1"/>
          <p:nvPr/>
        </p:nvSpPr>
        <p:spPr>
          <a:xfrm>
            <a:off x="10254866" y="5643774"/>
            <a:ext cx="1899138" cy="893226"/>
          </a:xfrm>
          <a:prstGeom prst="rect">
            <a:avLst/>
          </a:prstGeom>
          <a:noFill/>
        </p:spPr>
        <p:txBody>
          <a:bodyPr wrap="square" lIns="0" tIns="0" rIns="0" bIns="0" rtlCol="0">
            <a:noAutofit/>
          </a:bodyPr>
          <a:lstStyle/>
          <a:p>
            <a:pPr algn="l"/>
            <a:r>
              <a:rPr lang="en-AU" sz="4000"/>
              <a:t>5807</a:t>
            </a:r>
          </a:p>
        </p:txBody>
      </p:sp>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4" name="TextBox 3">
            <a:extLst>
              <a:ext uri="{FF2B5EF4-FFF2-40B4-BE49-F238E27FC236}">
                <a16:creationId xmlns:a16="http://schemas.microsoft.com/office/drawing/2014/main" id="{2882BFEF-15A8-6051-EC48-58553EE57717}"/>
              </a:ext>
            </a:extLst>
          </p:cNvPr>
          <p:cNvSpPr txBox="1"/>
          <p:nvPr/>
        </p:nvSpPr>
        <p:spPr>
          <a:xfrm>
            <a:off x="628270" y="1184223"/>
            <a:ext cx="10855730" cy="1465384"/>
          </a:xfrm>
          <a:prstGeom prst="rect">
            <a:avLst/>
          </a:prstGeom>
          <a:noFill/>
        </p:spPr>
        <p:txBody>
          <a:bodyPr wrap="square" lIns="0" tIns="0" rIns="0" bIns="0" rtlCol="0">
            <a:noAutofit/>
          </a:bodyPr>
          <a:lstStyle/>
          <a:p>
            <a:pPr algn="ctr">
              <a:lnSpc>
                <a:spcPct val="150000"/>
              </a:lnSpc>
            </a:pPr>
            <a:r>
              <a:rPr lang="en-AU" sz="4400"/>
              <a:t>Kelly faced the </a:t>
            </a:r>
            <a:r>
              <a:rPr lang="en-AU" sz="4400" b="1"/>
              <a:t>front</a:t>
            </a:r>
            <a:r>
              <a:rPr lang="en-AU" sz="4400"/>
              <a:t> of the classroom, then made a </a:t>
            </a:r>
            <a:r>
              <a:rPr lang="en-AU" sz="4400" b="1"/>
              <a:t>three-quarter</a:t>
            </a:r>
            <a:r>
              <a:rPr lang="en-AU" sz="4400"/>
              <a:t> </a:t>
            </a:r>
            <a:r>
              <a:rPr lang="en-AU" sz="4400" b="1"/>
              <a:t>turn</a:t>
            </a:r>
            <a:r>
              <a:rPr lang="en-AU" sz="4400"/>
              <a:t> to the </a:t>
            </a:r>
            <a:r>
              <a:rPr lang="en-AU" sz="4400" b="1"/>
              <a:t>right</a:t>
            </a:r>
            <a:r>
              <a:rPr lang="en-AU" sz="4400"/>
              <a:t>.</a:t>
            </a:r>
          </a:p>
          <a:p>
            <a:pPr algn="ctr">
              <a:lnSpc>
                <a:spcPct val="150000"/>
              </a:lnSpc>
            </a:pPr>
            <a:endParaRPr lang="en-AU" sz="4400"/>
          </a:p>
          <a:p>
            <a:pPr algn="ctr">
              <a:lnSpc>
                <a:spcPct val="150000"/>
              </a:lnSpc>
            </a:pPr>
            <a:r>
              <a:rPr lang="en-AU" sz="4400"/>
              <a:t>Mark the </a:t>
            </a:r>
            <a:r>
              <a:rPr lang="en-AU" sz="4400" b="1"/>
              <a:t>vertex</a:t>
            </a:r>
            <a:r>
              <a:rPr lang="en-AU" sz="4400"/>
              <a:t> and draw the </a:t>
            </a:r>
            <a:r>
              <a:rPr lang="en-AU" sz="4400" b="1"/>
              <a:t>invisible arms </a:t>
            </a:r>
            <a:r>
              <a:rPr lang="en-AU" sz="4400"/>
              <a:t>of the </a:t>
            </a:r>
            <a:r>
              <a:rPr lang="en-AU" sz="4400" b="1"/>
              <a:t>angle</a:t>
            </a:r>
            <a:r>
              <a:rPr lang="en-AU" sz="4400"/>
              <a:t> she made.</a:t>
            </a:r>
          </a:p>
          <a:p>
            <a:pPr algn="ctr">
              <a:lnSpc>
                <a:spcPct val="150000"/>
              </a:lnSpc>
            </a:pPr>
            <a:endParaRPr lang="en-AU" sz="3200"/>
          </a:p>
          <a:p>
            <a:pPr algn="l">
              <a:lnSpc>
                <a:spcPct val="150000"/>
              </a:lnSpc>
            </a:pPr>
            <a:endParaRPr lang="en-AU" sz="1800"/>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5" name="TextBox 4">
            <a:extLst>
              <a:ext uri="{FF2B5EF4-FFF2-40B4-BE49-F238E27FC236}">
                <a16:creationId xmlns:a16="http://schemas.microsoft.com/office/drawing/2014/main" id="{0A4CD166-8853-1A3A-E596-1AC5774915DA}"/>
              </a:ext>
            </a:extLst>
          </p:cNvPr>
          <p:cNvSpPr txBox="1"/>
          <p:nvPr/>
        </p:nvSpPr>
        <p:spPr>
          <a:xfrm>
            <a:off x="998032" y="1003807"/>
            <a:ext cx="10125968" cy="6124754"/>
          </a:xfrm>
          <a:prstGeom prst="rect">
            <a:avLst/>
          </a:prstGeom>
          <a:noFill/>
        </p:spPr>
        <p:txBody>
          <a:bodyPr wrap="square">
            <a:spAutoFit/>
          </a:bodyPr>
          <a:lstStyle/>
          <a:p>
            <a:r>
              <a:rPr lang="en-AU" sz="4000" b="1"/>
              <a:t>Convert and record</a:t>
            </a:r>
            <a:r>
              <a:rPr lang="en-AU" sz="4000"/>
              <a:t> these capacities:</a:t>
            </a:r>
          </a:p>
          <a:p>
            <a:endParaRPr lang="en-AU" sz="4000"/>
          </a:p>
          <a:p>
            <a:pPr marL="457200" indent="-457200">
              <a:buFont typeface="Arial" panose="020B0604020202020204" pitchFamily="34" charset="0"/>
              <a:buChar char="•"/>
            </a:pPr>
            <a:r>
              <a:rPr lang="en-AU" sz="4000"/>
              <a:t>4215 mL​ to litres</a:t>
            </a:r>
          </a:p>
          <a:p>
            <a:pPr marL="457200" indent="-457200">
              <a:buFont typeface="Arial" panose="020B0604020202020204" pitchFamily="34" charset="0"/>
              <a:buChar char="•"/>
            </a:pPr>
            <a:endParaRPr lang="en-AU" sz="4000"/>
          </a:p>
          <a:p>
            <a:pPr marL="457200" indent="-457200">
              <a:buFont typeface="Arial" panose="020B0604020202020204" pitchFamily="34" charset="0"/>
              <a:buChar char="•"/>
            </a:pPr>
            <a:r>
              <a:rPr lang="en-AU" sz="4000"/>
              <a:t>62 mL​ to litres</a:t>
            </a:r>
          </a:p>
          <a:p>
            <a:pPr marL="457200" indent="-457200">
              <a:buFont typeface="Arial" panose="020B0604020202020204" pitchFamily="34" charset="0"/>
              <a:buChar char="•"/>
            </a:pPr>
            <a:endParaRPr lang="en-AU" sz="4000"/>
          </a:p>
          <a:p>
            <a:pPr marL="457200" indent="-457200">
              <a:buFont typeface="Arial" panose="020B0604020202020204" pitchFamily="34" charset="0"/>
              <a:buChar char="•"/>
            </a:pPr>
            <a:r>
              <a:rPr lang="en-AU" sz="4000"/>
              <a:t>6.5 L​ to millilitres</a:t>
            </a:r>
          </a:p>
          <a:p>
            <a:pPr marL="457200" indent="-457200">
              <a:buFont typeface="Arial" panose="020B0604020202020204" pitchFamily="34" charset="0"/>
              <a:buChar char="•"/>
            </a:pPr>
            <a:endParaRPr lang="en-AU" sz="4000"/>
          </a:p>
          <a:p>
            <a:pPr marL="457200" indent="-457200">
              <a:buFont typeface="Arial" panose="020B0604020202020204" pitchFamily="34" charset="0"/>
              <a:buChar char="•"/>
            </a:pPr>
            <a:r>
              <a:rPr lang="en-AU" sz="4000"/>
              <a:t>7.006 L​ to millilitres</a:t>
            </a:r>
          </a:p>
          <a:p>
            <a:pPr marL="457200" indent="-457200">
              <a:buFont typeface="Arial" panose="020B0604020202020204" pitchFamily="34" charset="0"/>
              <a:buChar char="•"/>
            </a:pPr>
            <a:endParaRPr lang="en-AU" sz="3200"/>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4" name="TextBox 3">
            <a:extLst>
              <a:ext uri="{FF2B5EF4-FFF2-40B4-BE49-F238E27FC236}">
                <a16:creationId xmlns:a16="http://schemas.microsoft.com/office/drawing/2014/main" id="{260D0F34-4D75-F057-5F58-89CE7E92CB7E}"/>
              </a:ext>
            </a:extLst>
          </p:cNvPr>
          <p:cNvSpPr txBox="1"/>
          <p:nvPr/>
        </p:nvSpPr>
        <p:spPr>
          <a:xfrm>
            <a:off x="359999" y="1765300"/>
            <a:ext cx="11337629" cy="1866900"/>
          </a:xfrm>
          <a:prstGeom prst="rect">
            <a:avLst/>
          </a:prstGeom>
          <a:noFill/>
        </p:spPr>
        <p:txBody>
          <a:bodyPr wrap="square" lIns="0" tIns="0" rIns="0" bIns="0" rtlCol="0">
            <a:noAutofit/>
          </a:bodyPr>
          <a:lstStyle/>
          <a:p>
            <a:pPr algn="ctr">
              <a:lnSpc>
                <a:spcPct val="150000"/>
              </a:lnSpc>
            </a:pPr>
            <a:r>
              <a:rPr lang="en-AU" sz="4400" b="1"/>
              <a:t>Complete</a:t>
            </a:r>
            <a:r>
              <a:rPr lang="en-AU" sz="4400"/>
              <a:t> the sentence:</a:t>
            </a:r>
          </a:p>
          <a:p>
            <a:pPr>
              <a:lnSpc>
                <a:spcPct val="150000"/>
              </a:lnSpc>
            </a:pPr>
            <a:endParaRPr lang="en-AU" sz="4400"/>
          </a:p>
          <a:p>
            <a:pPr algn="ctr">
              <a:lnSpc>
                <a:spcPct val="150000"/>
              </a:lnSpc>
            </a:pPr>
            <a:r>
              <a:rPr lang="en-AU" sz="4400"/>
              <a:t>The term ‘</a:t>
            </a:r>
            <a:r>
              <a:rPr lang="en-AU" sz="4400" b="1"/>
              <a:t>probability’</a:t>
            </a:r>
            <a:r>
              <a:rPr lang="en-AU" sz="4400"/>
              <a:t> is used to describe...</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4" name="TextBox 3">
            <a:extLst>
              <a:ext uri="{FF2B5EF4-FFF2-40B4-BE49-F238E27FC236}">
                <a16:creationId xmlns:a16="http://schemas.microsoft.com/office/drawing/2014/main" id="{C3A7AA46-8CA5-17CC-2AA6-B818912DA8D5}"/>
              </a:ext>
            </a:extLst>
          </p:cNvPr>
          <p:cNvSpPr txBox="1"/>
          <p:nvPr/>
        </p:nvSpPr>
        <p:spPr>
          <a:xfrm>
            <a:off x="1446208" y="1733550"/>
            <a:ext cx="9584268" cy="2600325"/>
          </a:xfrm>
          <a:prstGeom prst="rect">
            <a:avLst/>
          </a:prstGeom>
          <a:noFill/>
        </p:spPr>
        <p:txBody>
          <a:bodyPr wrap="square" lIns="0" tIns="0" rIns="0" bIns="0" rtlCol="0">
            <a:noAutofit/>
          </a:bodyPr>
          <a:lstStyle/>
          <a:p>
            <a:pPr algn="ctr">
              <a:lnSpc>
                <a:spcPct val="150000"/>
              </a:lnSpc>
            </a:pPr>
            <a:r>
              <a:rPr lang="en-AU" sz="4400"/>
              <a:t>Record which distance is </a:t>
            </a:r>
            <a:r>
              <a:rPr lang="en-AU" sz="4400" b="1"/>
              <a:t>longer</a:t>
            </a:r>
            <a:r>
              <a:rPr lang="en-AU" sz="4400"/>
              <a:t>: </a:t>
            </a:r>
          </a:p>
          <a:p>
            <a:pPr algn="ctr">
              <a:lnSpc>
                <a:spcPct val="150000"/>
              </a:lnSpc>
            </a:pPr>
            <a:r>
              <a:rPr lang="en-AU" sz="4400" b="1"/>
              <a:t>3 km</a:t>
            </a:r>
            <a:r>
              <a:rPr lang="en-AU" sz="4400"/>
              <a:t> or </a:t>
            </a:r>
            <a:r>
              <a:rPr lang="en-AU" sz="4400" b="1"/>
              <a:t>2500 m?</a:t>
            </a:r>
          </a:p>
          <a:p>
            <a:pPr algn="ctr">
              <a:lnSpc>
                <a:spcPct val="150000"/>
              </a:lnSpc>
            </a:pPr>
            <a:endParaRPr lang="en-AU" sz="4400" b="1"/>
          </a:p>
          <a:p>
            <a:pPr algn="ctr">
              <a:lnSpc>
                <a:spcPct val="150000"/>
              </a:lnSpc>
            </a:pPr>
            <a:r>
              <a:rPr lang="en-AU" sz="4400" b="1"/>
              <a:t>Communicate </a:t>
            </a:r>
            <a:r>
              <a:rPr lang="en-AU" sz="4400"/>
              <a:t>your reasoning</a:t>
            </a:r>
            <a:r>
              <a:rPr lang="en-AU" sz="3600"/>
              <a:t>. </a:t>
            </a: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closest to zero</a:t>
            </a:r>
            <a:br>
              <a:rPr lang="en-AU" b="1"/>
            </a:br>
            <a:endParaRPr lang="en-AU"/>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7" name="TextBox 6">
            <a:extLst>
              <a:ext uri="{FF2B5EF4-FFF2-40B4-BE49-F238E27FC236}">
                <a16:creationId xmlns:a16="http://schemas.microsoft.com/office/drawing/2014/main" id="{51A9DE63-1465-DAFA-450B-FDB45DE4FB5D}"/>
              </a:ext>
            </a:extLst>
          </p:cNvPr>
          <p:cNvSpPr txBox="1"/>
          <p:nvPr/>
        </p:nvSpPr>
        <p:spPr>
          <a:xfrm>
            <a:off x="828675" y="1416767"/>
            <a:ext cx="10844211" cy="1028700"/>
          </a:xfrm>
          <a:prstGeom prst="rect">
            <a:avLst/>
          </a:prstGeom>
          <a:noFill/>
        </p:spPr>
        <p:txBody>
          <a:bodyPr wrap="square" lIns="0" tIns="0" rIns="0" bIns="0" rtlCol="0">
            <a:noAutofit/>
          </a:bodyPr>
          <a:lstStyle/>
          <a:p>
            <a:pPr>
              <a:lnSpc>
                <a:spcPct val="150000"/>
              </a:lnSpc>
            </a:pPr>
            <a:r>
              <a:rPr lang="en-AU" sz="2800"/>
              <a:t>Roll a 9-sided dice to make:</a:t>
            </a:r>
          </a:p>
          <a:p>
            <a:pPr>
              <a:lnSpc>
                <a:spcPct val="150000"/>
              </a:lnSpc>
            </a:pPr>
            <a:endParaRPr lang="en-AU" sz="2800"/>
          </a:p>
          <a:p>
            <a:pPr>
              <a:lnSpc>
                <a:spcPct val="150000"/>
              </a:lnSpc>
            </a:pPr>
            <a:r>
              <a:rPr lang="en-AU" sz="2800">
                <a:solidFill>
                  <a:schemeClr val="accent1"/>
                </a:solidFill>
                <a:latin typeface="Arial" panose="020B0604020202020204" pitchFamily="34" charset="0"/>
                <a:cs typeface="Arial" panose="020B0604020202020204" pitchFamily="34" charset="0"/>
              </a:rPr>
              <a:t>           5-digit number    4-digit number     3-digit number</a:t>
            </a:r>
            <a:endParaRPr lang="en-AU" sz="2800"/>
          </a:p>
        </p:txBody>
      </p:sp>
      <p:sp>
        <p:nvSpPr>
          <p:cNvPr id="5" name="TextBox 4">
            <a:extLst>
              <a:ext uri="{FF2B5EF4-FFF2-40B4-BE49-F238E27FC236}">
                <a16:creationId xmlns:a16="http://schemas.microsoft.com/office/drawing/2014/main" id="{18A55476-ED58-C8D5-BD97-8AA2BE53B780}"/>
              </a:ext>
            </a:extLst>
          </p:cNvPr>
          <p:cNvSpPr txBox="1"/>
          <p:nvPr/>
        </p:nvSpPr>
        <p:spPr>
          <a:xfrm>
            <a:off x="2052300" y="3557403"/>
            <a:ext cx="9054703" cy="923330"/>
          </a:xfrm>
          <a:prstGeom prst="rect">
            <a:avLst/>
          </a:prstGeom>
          <a:noFill/>
        </p:spPr>
        <p:txBody>
          <a:bodyPr wrap="square">
            <a:spAutoFit/>
          </a:bodyPr>
          <a:lstStyle/>
          <a:p>
            <a:r>
              <a:rPr lang="en-AU" sz="5400"/>
              <a:t>56 843 − 4713 – 245 =</a:t>
            </a:r>
          </a:p>
        </p:txBody>
      </p:sp>
      <p:sp>
        <p:nvSpPr>
          <p:cNvPr id="8" name="TextBox 7">
            <a:extLst>
              <a:ext uri="{FF2B5EF4-FFF2-40B4-BE49-F238E27FC236}">
                <a16:creationId xmlns:a16="http://schemas.microsoft.com/office/drawing/2014/main" id="{E394E2A9-2E8F-BFC6-EE65-F5ED7B0F242C}"/>
              </a:ext>
            </a:extLst>
          </p:cNvPr>
          <p:cNvSpPr txBox="1"/>
          <p:nvPr/>
        </p:nvSpPr>
        <p:spPr>
          <a:xfrm>
            <a:off x="914400" y="5289188"/>
            <a:ext cx="10758486" cy="1568812"/>
          </a:xfrm>
          <a:prstGeom prst="rect">
            <a:avLst/>
          </a:prstGeom>
          <a:noFill/>
        </p:spPr>
        <p:txBody>
          <a:bodyPr wrap="square" lIns="0" tIns="0" rIns="0" bIns="0" rtlCol="0">
            <a:noAutofit/>
          </a:bodyPr>
          <a:lstStyle/>
          <a:p>
            <a:pPr algn="l"/>
            <a:r>
              <a:rPr lang="en-AU" sz="2800"/>
              <a:t>Use these numbers to </a:t>
            </a:r>
            <a:r>
              <a:rPr lang="en-AU" sz="2800" b="1"/>
              <a:t>record</a:t>
            </a:r>
            <a:r>
              <a:rPr lang="en-AU" sz="2800"/>
              <a:t> and </a:t>
            </a:r>
            <a:r>
              <a:rPr lang="en-AU" sz="2800" b="1"/>
              <a:t>solve</a:t>
            </a:r>
            <a:r>
              <a:rPr lang="en-AU" sz="2800"/>
              <a:t> a </a:t>
            </a:r>
            <a:r>
              <a:rPr lang="en-AU" sz="2800" b="1"/>
              <a:t>subtraction sentence</a:t>
            </a:r>
            <a:r>
              <a:rPr lang="en-AU" sz="2800"/>
              <a:t>. </a:t>
            </a:r>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p:txBody>
          <a:bodyPr/>
          <a:lstStyle/>
          <a:p>
            <a:pPr algn="ctr"/>
            <a:r>
              <a:rPr lang="en-AU" sz="4400"/>
              <a:t>Zara said that the </a:t>
            </a:r>
            <a:r>
              <a:rPr lang="en-AU" sz="4400" b="1"/>
              <a:t>sum </a:t>
            </a:r>
            <a:r>
              <a:rPr lang="en-AU" sz="4400"/>
              <a:t>of 24 000, 456 and 3090 is </a:t>
            </a:r>
            <a:r>
              <a:rPr lang="en-AU" sz="4400" b="1"/>
              <a:t>27 546</a:t>
            </a:r>
            <a:r>
              <a:rPr lang="en-AU" sz="4400"/>
              <a:t>.</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5" name="TextBox 4">
            <a:extLst>
              <a:ext uri="{FF2B5EF4-FFF2-40B4-BE49-F238E27FC236}">
                <a16:creationId xmlns:a16="http://schemas.microsoft.com/office/drawing/2014/main" id="{475F3932-0E2F-32E1-C106-1910E46B8C62}"/>
              </a:ext>
            </a:extLst>
          </p:cNvPr>
          <p:cNvSpPr txBox="1"/>
          <p:nvPr/>
        </p:nvSpPr>
        <p:spPr>
          <a:xfrm>
            <a:off x="360000" y="969745"/>
            <a:ext cx="11282725" cy="5610575"/>
          </a:xfrm>
          <a:prstGeom prst="rect">
            <a:avLst/>
          </a:prstGeom>
          <a:noFill/>
        </p:spPr>
        <p:txBody>
          <a:bodyPr wrap="square">
            <a:spAutoFit/>
          </a:bodyPr>
          <a:lstStyle/>
          <a:p>
            <a:pPr algn="ctr">
              <a:lnSpc>
                <a:spcPct val="150000"/>
              </a:lnSpc>
              <a:spcBef>
                <a:spcPts val="1200"/>
              </a:spcBef>
              <a:spcAft>
                <a:spcPts val="600"/>
              </a:spcAft>
              <a:buNone/>
            </a:pPr>
            <a:r>
              <a:rPr lang="en-AU" sz="4400" b="1">
                <a:effectLst/>
                <a:latin typeface="Arial" panose="020B0604020202020204" pitchFamily="34" charset="0"/>
                <a:ea typeface="Calibri" panose="020F0502020204030204" pitchFamily="34" charset="0"/>
              </a:rPr>
              <a:t>Convert</a:t>
            </a:r>
            <a:r>
              <a:rPr lang="en-AU" sz="4400">
                <a:effectLst/>
                <a:latin typeface="Arial" panose="020B0604020202020204" pitchFamily="34" charset="0"/>
                <a:ea typeface="Calibri" panose="020F0502020204030204" pitchFamily="34" charset="0"/>
              </a:rPr>
              <a:t> and </a:t>
            </a:r>
            <a:r>
              <a:rPr lang="en-AU" sz="4400" b="1">
                <a:effectLst/>
                <a:latin typeface="Arial" panose="020B0604020202020204" pitchFamily="34" charset="0"/>
                <a:ea typeface="Calibri" panose="020F0502020204030204" pitchFamily="34" charset="0"/>
              </a:rPr>
              <a:t>record</a:t>
            </a:r>
            <a:r>
              <a:rPr lang="en-AU" sz="4400">
                <a:effectLst/>
                <a:latin typeface="Arial" panose="020B0604020202020204" pitchFamily="34" charset="0"/>
                <a:ea typeface="Calibri" panose="020F0502020204030204" pitchFamily="34" charset="0"/>
              </a:rPr>
              <a:t> these as </a:t>
            </a:r>
            <a:r>
              <a:rPr lang="en-AU" sz="4400" b="1">
                <a:effectLst/>
                <a:latin typeface="Arial" panose="020B0604020202020204" pitchFamily="34" charset="0"/>
                <a:ea typeface="Calibri" panose="020F0502020204030204" pitchFamily="34" charset="0"/>
              </a:rPr>
              <a:t>24-hour time</a:t>
            </a:r>
            <a:r>
              <a:rPr lang="en-AU" sz="4400">
                <a:effectLst/>
                <a:latin typeface="Arial" panose="020B0604020202020204" pitchFamily="34" charset="0"/>
                <a:ea typeface="Calibri" panose="020F0502020204030204" pitchFamily="34" charset="0"/>
              </a:rPr>
              <a:t>:</a:t>
            </a:r>
          </a:p>
          <a:p>
            <a:pPr marL="342900" lvl="0" indent="-342900" algn="ctr">
              <a:lnSpc>
                <a:spcPct val="150000"/>
              </a:lnSpc>
              <a:spcBef>
                <a:spcPts val="1200"/>
              </a:spcBef>
              <a:spcAft>
                <a:spcPts val="600"/>
              </a:spcAft>
              <a:buFont typeface="Symbol" panose="05050102010706020507" pitchFamily="18" charset="2"/>
              <a:buChar char=""/>
            </a:pPr>
            <a:r>
              <a:rPr lang="en-AU" sz="4000">
                <a:latin typeface="Arial" panose="020B0604020202020204" pitchFamily="34" charset="0"/>
                <a:ea typeface="Calibri" panose="020F0502020204030204" pitchFamily="34" charset="0"/>
              </a:rPr>
              <a:t>1:45 am</a:t>
            </a:r>
          </a:p>
          <a:p>
            <a:pPr marL="342900" lvl="0" indent="-342900" algn="ctr">
              <a:lnSpc>
                <a:spcPct val="150000"/>
              </a:lnSpc>
              <a:spcBef>
                <a:spcPts val="1200"/>
              </a:spcBef>
              <a:spcAft>
                <a:spcPts val="600"/>
              </a:spcAft>
              <a:buFont typeface="Symbol" panose="05050102010706020507" pitchFamily="18" charset="2"/>
              <a:buChar char=""/>
            </a:pPr>
            <a:r>
              <a:rPr lang="en-AU" sz="4000">
                <a:latin typeface="Arial" panose="020B0604020202020204" pitchFamily="34" charset="0"/>
                <a:ea typeface="Calibri" panose="020F0502020204030204" pitchFamily="34" charset="0"/>
              </a:rPr>
              <a:t>8:38 am</a:t>
            </a:r>
            <a:endParaRPr lang="en-AU" sz="4000">
              <a:effectLst/>
              <a:latin typeface="Arial" panose="020B0604020202020204" pitchFamily="34" charset="0"/>
              <a:ea typeface="Calibri" panose="020F0502020204030204" pitchFamily="34" charset="0"/>
            </a:endParaRPr>
          </a:p>
          <a:p>
            <a:pPr marL="342900" lvl="0" indent="-342900" algn="ctr">
              <a:lnSpc>
                <a:spcPct val="150000"/>
              </a:lnSpc>
              <a:spcBef>
                <a:spcPts val="1200"/>
              </a:spcBef>
              <a:spcAft>
                <a:spcPts val="600"/>
              </a:spcAft>
              <a:buFont typeface="Symbol" panose="05050102010706020507" pitchFamily="18" charset="2"/>
              <a:buChar char=""/>
            </a:pPr>
            <a:r>
              <a:rPr lang="en-AU" sz="4000">
                <a:effectLst/>
                <a:latin typeface="Arial" panose="020B0604020202020204" pitchFamily="34" charset="0"/>
                <a:ea typeface="Calibri" panose="020F0502020204030204" pitchFamily="34" charset="0"/>
              </a:rPr>
              <a:t>1:30 pm </a:t>
            </a:r>
          </a:p>
          <a:p>
            <a:pPr marL="342900" lvl="0" indent="-342900" algn="ctr">
              <a:lnSpc>
                <a:spcPct val="150000"/>
              </a:lnSpc>
              <a:spcBef>
                <a:spcPts val="1200"/>
              </a:spcBef>
              <a:spcAft>
                <a:spcPts val="600"/>
              </a:spcAft>
              <a:buFont typeface="Symbol" panose="05050102010706020507" pitchFamily="18" charset="2"/>
              <a:buChar char=""/>
            </a:pPr>
            <a:r>
              <a:rPr lang="en-AU" sz="4000">
                <a:effectLst/>
                <a:latin typeface="Arial" panose="020B0604020202020204" pitchFamily="34" charset="0"/>
                <a:ea typeface="Calibri" panose="020F0502020204030204" pitchFamily="34" charset="0"/>
              </a:rPr>
              <a:t>10:47 pm </a:t>
            </a:r>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9" name="TextBox 8">
            <a:extLst>
              <a:ext uri="{FF2B5EF4-FFF2-40B4-BE49-F238E27FC236}">
                <a16:creationId xmlns:a16="http://schemas.microsoft.com/office/drawing/2014/main" id="{74C3A922-4956-A119-0EE2-A65889E41527}"/>
              </a:ext>
            </a:extLst>
          </p:cNvPr>
          <p:cNvSpPr txBox="1"/>
          <p:nvPr/>
        </p:nvSpPr>
        <p:spPr>
          <a:xfrm>
            <a:off x="647700" y="992611"/>
            <a:ext cx="10896600" cy="1905000"/>
          </a:xfrm>
          <a:prstGeom prst="rect">
            <a:avLst/>
          </a:prstGeom>
          <a:noFill/>
        </p:spPr>
        <p:txBody>
          <a:bodyPr wrap="square" lIns="0" tIns="0" rIns="0" bIns="0" rtlCol="0">
            <a:noAutofit/>
          </a:bodyPr>
          <a:lstStyle/>
          <a:p>
            <a:pPr algn="ctr">
              <a:lnSpc>
                <a:spcPct val="150000"/>
              </a:lnSpc>
            </a:pPr>
            <a:r>
              <a:rPr lang="en-AU" sz="3600" b="1"/>
              <a:t>Record</a:t>
            </a:r>
            <a:r>
              <a:rPr lang="en-AU" sz="3600"/>
              <a:t> the </a:t>
            </a:r>
            <a:r>
              <a:rPr lang="en-AU" sz="3600" b="1"/>
              <a:t>unit of measure </a:t>
            </a:r>
            <a:r>
              <a:rPr lang="en-AU" sz="3600"/>
              <a:t>most suitable to measure the </a:t>
            </a:r>
            <a:r>
              <a:rPr lang="en-AU" sz="3600" b="1"/>
              <a:t>capacity</a:t>
            </a:r>
            <a:r>
              <a:rPr lang="en-AU" sz="3600"/>
              <a:t> of each container?</a:t>
            </a:r>
          </a:p>
        </p:txBody>
      </p:sp>
      <p:pic>
        <p:nvPicPr>
          <p:cNvPr id="5" name="Picture 4" descr="An image of a red disposable drinking cup, a green watering can and a purple drink bottle">
            <a:extLst>
              <a:ext uri="{FF2B5EF4-FFF2-40B4-BE49-F238E27FC236}">
                <a16:creationId xmlns:a16="http://schemas.microsoft.com/office/drawing/2014/main" id="{97C2F3C6-5777-5D6B-07C5-E390884CB643}"/>
              </a:ext>
            </a:extLst>
          </p:cNvPr>
          <p:cNvPicPr>
            <a:picLocks noChangeAspect="1"/>
          </p:cNvPicPr>
          <p:nvPr/>
        </p:nvPicPr>
        <p:blipFill>
          <a:blip r:embed="rId4"/>
          <a:srcRect l="9507" t="37313" r="9507" b="166"/>
          <a:stretch>
            <a:fillRect/>
          </a:stretch>
        </p:blipFill>
        <p:spPr>
          <a:xfrm>
            <a:off x="2557569" y="2648263"/>
            <a:ext cx="7064328" cy="3868556"/>
          </a:xfrm>
          <a:prstGeom prst="rect">
            <a:avLst/>
          </a:prstGeom>
        </p:spPr>
      </p:pic>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4" name="TextBox 3">
            <a:extLst>
              <a:ext uri="{FF2B5EF4-FFF2-40B4-BE49-F238E27FC236}">
                <a16:creationId xmlns:a16="http://schemas.microsoft.com/office/drawing/2014/main" id="{FAEA65CB-FFED-A027-747D-D66211CDADD9}"/>
              </a:ext>
            </a:extLst>
          </p:cNvPr>
          <p:cNvSpPr txBox="1"/>
          <p:nvPr/>
        </p:nvSpPr>
        <p:spPr>
          <a:xfrm>
            <a:off x="1701800" y="2006600"/>
            <a:ext cx="9156700" cy="3479800"/>
          </a:xfrm>
          <a:prstGeom prst="rect">
            <a:avLst/>
          </a:prstGeom>
          <a:noFill/>
        </p:spPr>
        <p:txBody>
          <a:bodyPr wrap="square" lIns="0" tIns="0" rIns="0" bIns="0" rtlCol="0">
            <a:noAutofit/>
          </a:bodyPr>
          <a:lstStyle/>
          <a:p>
            <a:pPr algn="ctr"/>
            <a:r>
              <a:rPr lang="en-AU" sz="4400"/>
              <a:t>A 6-sided die is rolled.</a:t>
            </a:r>
          </a:p>
          <a:p>
            <a:pPr algn="ctr"/>
            <a:endParaRPr lang="en-AU" sz="4400"/>
          </a:p>
          <a:p>
            <a:pPr algn="ctr"/>
            <a:r>
              <a:rPr lang="en-AU" sz="4400" b="1"/>
              <a:t>Record</a:t>
            </a:r>
            <a:r>
              <a:rPr lang="en-AU" sz="4400"/>
              <a:t> </a:t>
            </a:r>
            <a:r>
              <a:rPr lang="en-AU" sz="4400" b="1"/>
              <a:t>all</a:t>
            </a:r>
            <a:r>
              <a:rPr lang="en-AU" sz="4400"/>
              <a:t> possible </a:t>
            </a:r>
            <a:r>
              <a:rPr lang="en-AU" sz="4400" b="1"/>
              <a:t>outcomes</a:t>
            </a:r>
            <a:r>
              <a:rPr lang="en-AU" sz="1800"/>
              <a:t>.</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4" name="TextBox 3">
            <a:extLst>
              <a:ext uri="{FF2B5EF4-FFF2-40B4-BE49-F238E27FC236}">
                <a16:creationId xmlns:a16="http://schemas.microsoft.com/office/drawing/2014/main" id="{B7EE135B-8FFC-D26D-D429-D158A40384F3}"/>
              </a:ext>
            </a:extLst>
          </p:cNvPr>
          <p:cNvSpPr txBox="1"/>
          <p:nvPr/>
        </p:nvSpPr>
        <p:spPr>
          <a:xfrm>
            <a:off x="756732" y="1856211"/>
            <a:ext cx="10367268" cy="1993900"/>
          </a:xfrm>
          <a:prstGeom prst="rect">
            <a:avLst/>
          </a:prstGeom>
          <a:noFill/>
        </p:spPr>
        <p:txBody>
          <a:bodyPr wrap="square" lIns="0" tIns="0" rIns="0" bIns="0" rtlCol="0">
            <a:noAutofit/>
          </a:bodyPr>
          <a:lstStyle/>
          <a:p>
            <a:pPr algn="ctr">
              <a:lnSpc>
                <a:spcPct val="150000"/>
              </a:lnSpc>
            </a:pPr>
            <a:r>
              <a:rPr lang="en-AU" sz="4400" b="1"/>
              <a:t>Calculate </a:t>
            </a:r>
            <a:r>
              <a:rPr lang="en-AU" sz="4400"/>
              <a:t>and </a:t>
            </a:r>
            <a:r>
              <a:rPr lang="en-AU" sz="4400" b="1"/>
              <a:t>record</a:t>
            </a:r>
            <a:r>
              <a:rPr lang="en-AU" sz="4400"/>
              <a:t> the </a:t>
            </a:r>
            <a:r>
              <a:rPr lang="en-AU" sz="4400" b="1"/>
              <a:t>total length </a:t>
            </a:r>
            <a:r>
              <a:rPr lang="en-AU" sz="4400"/>
              <a:t>of 3 items measuring </a:t>
            </a:r>
          </a:p>
          <a:p>
            <a:pPr algn="ctr">
              <a:lnSpc>
                <a:spcPct val="150000"/>
              </a:lnSpc>
            </a:pPr>
            <a:r>
              <a:rPr lang="en-AU" sz="4400"/>
              <a:t>6 mm, 30 cm and 1.2 m.</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Hit the target number </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3" name="TextBox 2">
            <a:extLst>
              <a:ext uri="{FF2B5EF4-FFF2-40B4-BE49-F238E27FC236}">
                <a16:creationId xmlns:a16="http://schemas.microsoft.com/office/drawing/2014/main" id="{3CBEADA8-4B31-22BA-764C-BFF718BAEFA2}"/>
              </a:ext>
            </a:extLst>
          </p:cNvPr>
          <p:cNvSpPr txBox="1"/>
          <p:nvPr/>
        </p:nvSpPr>
        <p:spPr>
          <a:xfrm>
            <a:off x="1000209" y="1503772"/>
            <a:ext cx="10641057" cy="1606718"/>
          </a:xfrm>
          <a:prstGeom prst="rect">
            <a:avLst/>
          </a:prstGeom>
          <a:noFill/>
        </p:spPr>
        <p:txBody>
          <a:bodyPr wrap="square" lIns="0" tIns="0" rIns="0" bIns="0" rtlCol="0">
            <a:noAutofit/>
          </a:bodyPr>
          <a:lstStyle/>
          <a:p>
            <a:pPr marL="342900" indent="-342900" algn="l">
              <a:buFont typeface="Arial" panose="020B0604020202020204" pitchFamily="34" charset="0"/>
              <a:buChar char="•"/>
            </a:pPr>
            <a:r>
              <a:rPr lang="en-AU" sz="2800"/>
              <a:t>Decide on a target number.</a:t>
            </a:r>
          </a:p>
          <a:p>
            <a:pPr marL="342900" indent="-342900">
              <a:lnSpc>
                <a:spcPct val="150000"/>
              </a:lnSpc>
              <a:buFont typeface="Arial" panose="020B0604020202020204" pitchFamily="34" charset="0"/>
              <a:buChar char="•"/>
            </a:pPr>
            <a:r>
              <a:rPr lang="en-AU" sz="2800"/>
              <a:t>Roll a 9-sided dice to make a:</a:t>
            </a:r>
            <a:endParaRPr lang="en-AU"/>
          </a:p>
          <a:p>
            <a:pPr>
              <a:lnSpc>
                <a:spcPct val="150000"/>
              </a:lnSpc>
            </a:pPr>
            <a:r>
              <a:rPr lang="en-AU" sz="2800">
                <a:solidFill>
                  <a:schemeClr val="accent1"/>
                </a:solidFill>
                <a:latin typeface="Arial" panose="020B0604020202020204" pitchFamily="34" charset="0"/>
                <a:cs typeface="Arial" panose="020B0604020202020204" pitchFamily="34" charset="0"/>
              </a:rPr>
              <a:t>            5-digit number    4-digit number     3-digit number</a:t>
            </a:r>
            <a:endParaRPr lang="en-AU" sz="2800">
              <a:solidFill>
                <a:schemeClr val="accent1"/>
              </a:solidFill>
            </a:endParaRPr>
          </a:p>
          <a:p>
            <a:pPr algn="l"/>
            <a:endParaRPr lang="en-AU" sz="1800"/>
          </a:p>
        </p:txBody>
      </p:sp>
      <p:sp>
        <p:nvSpPr>
          <p:cNvPr id="5" name="TextBox 4">
            <a:extLst>
              <a:ext uri="{FF2B5EF4-FFF2-40B4-BE49-F238E27FC236}">
                <a16:creationId xmlns:a16="http://schemas.microsoft.com/office/drawing/2014/main" id="{C7BC166C-7B68-AEE7-B1D8-54FC3C7ED73F}"/>
              </a:ext>
            </a:extLst>
          </p:cNvPr>
          <p:cNvSpPr txBox="1"/>
          <p:nvPr/>
        </p:nvSpPr>
        <p:spPr>
          <a:xfrm>
            <a:off x="2412300" y="3517004"/>
            <a:ext cx="9054703" cy="923330"/>
          </a:xfrm>
          <a:prstGeom prst="rect">
            <a:avLst/>
          </a:prstGeom>
          <a:noFill/>
        </p:spPr>
        <p:txBody>
          <a:bodyPr wrap="square">
            <a:spAutoFit/>
          </a:bodyPr>
          <a:lstStyle/>
          <a:p>
            <a:r>
              <a:rPr lang="en-AU" sz="5400"/>
              <a:t>41 873 + 5125 + 792 =</a:t>
            </a:r>
          </a:p>
        </p:txBody>
      </p:sp>
      <p:sp>
        <p:nvSpPr>
          <p:cNvPr id="9" name="TextBox 8">
            <a:extLst>
              <a:ext uri="{FF2B5EF4-FFF2-40B4-BE49-F238E27FC236}">
                <a16:creationId xmlns:a16="http://schemas.microsoft.com/office/drawing/2014/main" id="{B46D61E6-227E-5345-B1EE-D769C8808249}"/>
              </a:ext>
            </a:extLst>
          </p:cNvPr>
          <p:cNvSpPr txBox="1"/>
          <p:nvPr/>
        </p:nvSpPr>
        <p:spPr>
          <a:xfrm>
            <a:off x="914400" y="5289188"/>
            <a:ext cx="10363200" cy="1568812"/>
          </a:xfrm>
          <a:prstGeom prst="rect">
            <a:avLst/>
          </a:prstGeom>
          <a:noFill/>
        </p:spPr>
        <p:txBody>
          <a:bodyPr wrap="square" lIns="0" tIns="0" rIns="0" bIns="0" rtlCol="0">
            <a:noAutofit/>
          </a:bodyPr>
          <a:lstStyle/>
          <a:p>
            <a:pPr marL="457200" indent="-457200" algn="l">
              <a:buFont typeface="Arial" panose="020B0604020202020204" pitchFamily="34" charset="0"/>
              <a:buChar char="•"/>
            </a:pPr>
            <a:r>
              <a:rPr lang="en-AU" sz="2800"/>
              <a:t>Use these numbers to record and solve an addition sentence.</a:t>
            </a:r>
          </a:p>
          <a:p>
            <a:pPr marL="457200" indent="-457200" algn="l">
              <a:buFont typeface="Arial" panose="020B0604020202020204" pitchFamily="34" charset="0"/>
              <a:buChar char="•"/>
            </a:pPr>
            <a:r>
              <a:rPr lang="en-AU" sz="2800"/>
              <a:t>Closest to the target wins. </a:t>
            </a:r>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359997" y="1249155"/>
            <a:ext cx="11243037" cy="893226"/>
          </a:xfrm>
        </p:spPr>
        <p:txBody>
          <a:bodyPr/>
          <a:lstStyle/>
          <a:p>
            <a:pPr algn="ctr">
              <a:spcBef>
                <a:spcPts val="600"/>
              </a:spcBef>
              <a:spcAft>
                <a:spcPts val="1200"/>
              </a:spcAft>
            </a:pPr>
            <a:r>
              <a:rPr lang="en-AU" sz="2800"/>
              <a:t>Maria </a:t>
            </a:r>
            <a:r>
              <a:rPr lang="en-AU" sz="2800" b="1"/>
              <a:t>picked</a:t>
            </a:r>
            <a:r>
              <a:rPr lang="en-AU" sz="2800"/>
              <a:t> </a:t>
            </a:r>
            <a:r>
              <a:rPr lang="en-AU" sz="2800" b="1"/>
              <a:t>468 apples</a:t>
            </a:r>
            <a:r>
              <a:rPr lang="en-AU" sz="2800"/>
              <a:t> and </a:t>
            </a:r>
            <a:r>
              <a:rPr lang="en-AU" sz="2800" b="1"/>
              <a:t>327 oranges</a:t>
            </a:r>
            <a:r>
              <a:rPr lang="en-AU" sz="2800"/>
              <a:t> from her garden. She sold </a:t>
            </a:r>
            <a:r>
              <a:rPr lang="en-AU" sz="2800" b="1"/>
              <a:t>254 pieces of fruit</a:t>
            </a:r>
            <a:r>
              <a:rPr lang="en-AU" sz="2800"/>
              <a:t> at the market. Which </a:t>
            </a:r>
            <a:r>
              <a:rPr lang="en-AU" sz="2800" b="1"/>
              <a:t>number sentence </a:t>
            </a:r>
            <a:r>
              <a:rPr lang="en-AU" sz="2800"/>
              <a:t>matches the problem?</a:t>
            </a:r>
          </a:p>
          <a:p>
            <a:pPr algn="ctr"/>
            <a:endParaRPr lang="en-AU" sz="2800"/>
          </a:p>
        </p:txBody>
      </p:sp>
      <p:sp>
        <p:nvSpPr>
          <p:cNvPr id="9" name="TextBox 8">
            <a:extLst>
              <a:ext uri="{FF2B5EF4-FFF2-40B4-BE49-F238E27FC236}">
                <a16:creationId xmlns:a16="http://schemas.microsoft.com/office/drawing/2014/main" id="{8B9CE09D-4912-352C-EDD3-2F5B22293E2B}"/>
              </a:ext>
            </a:extLst>
          </p:cNvPr>
          <p:cNvSpPr txBox="1"/>
          <p:nvPr/>
        </p:nvSpPr>
        <p:spPr>
          <a:xfrm>
            <a:off x="359997" y="30309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7" name="TextBox 6">
            <a:extLst>
              <a:ext uri="{FF2B5EF4-FFF2-40B4-BE49-F238E27FC236}">
                <a16:creationId xmlns:a16="http://schemas.microsoft.com/office/drawing/2014/main" id="{2B364683-8194-BF12-0011-4D7E05C8D36A}"/>
              </a:ext>
            </a:extLst>
          </p:cNvPr>
          <p:cNvSpPr txBox="1"/>
          <p:nvPr/>
        </p:nvSpPr>
        <p:spPr>
          <a:xfrm>
            <a:off x="1095883" y="3175303"/>
            <a:ext cx="3312746" cy="584775"/>
          </a:xfrm>
          <a:prstGeom prst="rect">
            <a:avLst/>
          </a:prstGeom>
          <a:noFill/>
        </p:spPr>
        <p:txBody>
          <a:bodyPr wrap="square">
            <a:spAutoFit/>
          </a:bodyPr>
          <a:lstStyle/>
          <a:p>
            <a:r>
              <a:rPr lang="en-AU" sz="3200"/>
              <a:t>468 + 327 + 254</a:t>
            </a:r>
          </a:p>
        </p:txBody>
      </p:sp>
      <p:sp>
        <p:nvSpPr>
          <p:cNvPr id="12" name="TextBox 11">
            <a:extLst>
              <a:ext uri="{FF2B5EF4-FFF2-40B4-BE49-F238E27FC236}">
                <a16:creationId xmlns:a16="http://schemas.microsoft.com/office/drawing/2014/main" id="{53D31413-FF78-7189-1A0F-0B12F84CC32D}"/>
              </a:ext>
            </a:extLst>
          </p:cNvPr>
          <p:cNvSpPr txBox="1"/>
          <p:nvPr/>
        </p:nvSpPr>
        <p:spPr>
          <a:xfrm>
            <a:off x="359999" y="402668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8" name="TextBox 7">
            <a:extLst>
              <a:ext uri="{FF2B5EF4-FFF2-40B4-BE49-F238E27FC236}">
                <a16:creationId xmlns:a16="http://schemas.microsoft.com/office/drawing/2014/main" id="{FA46F758-5052-7E9F-7BCB-481B588F4B8C}"/>
              </a:ext>
            </a:extLst>
          </p:cNvPr>
          <p:cNvSpPr txBox="1"/>
          <p:nvPr/>
        </p:nvSpPr>
        <p:spPr>
          <a:xfrm>
            <a:off x="1095883" y="4103632"/>
            <a:ext cx="3265351" cy="584775"/>
          </a:xfrm>
          <a:prstGeom prst="rect">
            <a:avLst/>
          </a:prstGeom>
          <a:noFill/>
        </p:spPr>
        <p:txBody>
          <a:bodyPr wrap="square">
            <a:spAutoFit/>
          </a:bodyPr>
          <a:lstStyle/>
          <a:p>
            <a:r>
              <a:rPr lang="en-AU" sz="3200"/>
              <a:t>468 + 327 - 254</a:t>
            </a:r>
          </a:p>
        </p:txBody>
      </p:sp>
      <p:sp>
        <p:nvSpPr>
          <p:cNvPr id="10" name="TextBox 9">
            <a:extLst>
              <a:ext uri="{FF2B5EF4-FFF2-40B4-BE49-F238E27FC236}">
                <a16:creationId xmlns:a16="http://schemas.microsoft.com/office/drawing/2014/main" id="{6720C9BD-206D-1246-CC58-B94DA2A9FDA7}"/>
              </a:ext>
            </a:extLst>
          </p:cNvPr>
          <p:cNvSpPr txBox="1"/>
          <p:nvPr/>
        </p:nvSpPr>
        <p:spPr>
          <a:xfrm>
            <a:off x="359998" y="502240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3" name="TextBox 12">
            <a:extLst>
              <a:ext uri="{FF2B5EF4-FFF2-40B4-BE49-F238E27FC236}">
                <a16:creationId xmlns:a16="http://schemas.microsoft.com/office/drawing/2014/main" id="{DC1574A7-7529-D839-1BC6-B83F5EE5D8AA}"/>
              </a:ext>
            </a:extLst>
          </p:cNvPr>
          <p:cNvSpPr txBox="1"/>
          <p:nvPr/>
        </p:nvSpPr>
        <p:spPr>
          <a:xfrm>
            <a:off x="1095883" y="5161639"/>
            <a:ext cx="3343390" cy="584775"/>
          </a:xfrm>
          <a:prstGeom prst="rect">
            <a:avLst/>
          </a:prstGeom>
          <a:noFill/>
        </p:spPr>
        <p:txBody>
          <a:bodyPr wrap="square">
            <a:spAutoFit/>
          </a:bodyPr>
          <a:lstStyle/>
          <a:p>
            <a:r>
              <a:rPr lang="en-AU" sz="3200"/>
              <a:t>468 - 327 + 254</a:t>
            </a:r>
          </a:p>
        </p:txBody>
      </p:sp>
      <p:sp>
        <p:nvSpPr>
          <p:cNvPr id="11" name="TextBox 10">
            <a:extLst>
              <a:ext uri="{FF2B5EF4-FFF2-40B4-BE49-F238E27FC236}">
                <a16:creationId xmlns:a16="http://schemas.microsoft.com/office/drawing/2014/main" id="{F03294A5-CB62-91E6-0D20-1199ECBFAF01}"/>
              </a:ext>
            </a:extLst>
          </p:cNvPr>
          <p:cNvSpPr txBox="1"/>
          <p:nvPr/>
        </p:nvSpPr>
        <p:spPr>
          <a:xfrm>
            <a:off x="359998" y="601812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Box 13">
            <a:extLst>
              <a:ext uri="{FF2B5EF4-FFF2-40B4-BE49-F238E27FC236}">
                <a16:creationId xmlns:a16="http://schemas.microsoft.com/office/drawing/2014/main" id="{D84C65A7-0172-2FF8-58BE-3C3A66D11075}"/>
              </a:ext>
            </a:extLst>
          </p:cNvPr>
          <p:cNvSpPr txBox="1"/>
          <p:nvPr/>
        </p:nvSpPr>
        <p:spPr>
          <a:xfrm>
            <a:off x="1095883" y="6095068"/>
            <a:ext cx="3236682" cy="584775"/>
          </a:xfrm>
          <a:prstGeom prst="rect">
            <a:avLst/>
          </a:prstGeom>
          <a:noFill/>
        </p:spPr>
        <p:txBody>
          <a:bodyPr wrap="square">
            <a:spAutoFit/>
          </a:bodyPr>
          <a:lstStyle/>
          <a:p>
            <a:r>
              <a:rPr lang="en-AU" sz="3200"/>
              <a:t>327 + 468 + 254</a:t>
            </a:r>
          </a:p>
        </p:txBody>
      </p:sp>
      <p:pic>
        <p:nvPicPr>
          <p:cNvPr id="4" name="Picture 3">
            <a:extLst>
              <a:ext uri="{FF2B5EF4-FFF2-40B4-BE49-F238E27FC236}">
                <a16:creationId xmlns:a16="http://schemas.microsoft.com/office/drawing/2014/main" id="{C493834B-1122-BF06-4664-175E7A7DB28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FF35F4CD-8487-40BA-C995-9F75C9273AD3}"/>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5" name="TextBox 4">
            <a:extLst>
              <a:ext uri="{FF2B5EF4-FFF2-40B4-BE49-F238E27FC236}">
                <a16:creationId xmlns:a16="http://schemas.microsoft.com/office/drawing/2014/main" id="{32E8AB12-807F-0251-F9F2-FF3F385B7310}"/>
              </a:ext>
            </a:extLst>
          </p:cNvPr>
          <p:cNvSpPr txBox="1"/>
          <p:nvPr/>
        </p:nvSpPr>
        <p:spPr>
          <a:xfrm>
            <a:off x="348001" y="1025786"/>
            <a:ext cx="11496000" cy="5725735"/>
          </a:xfrm>
          <a:prstGeom prst="rect">
            <a:avLst/>
          </a:prstGeom>
          <a:noFill/>
        </p:spPr>
        <p:txBody>
          <a:bodyPr wrap="square">
            <a:spAutoFit/>
          </a:bodyPr>
          <a:lstStyle/>
          <a:p>
            <a:pPr algn="ctr">
              <a:lnSpc>
                <a:spcPct val="150000"/>
              </a:lnSpc>
              <a:spcBef>
                <a:spcPts val="1200"/>
              </a:spcBef>
              <a:spcAft>
                <a:spcPts val="600"/>
              </a:spcAft>
              <a:buNone/>
            </a:pPr>
            <a:r>
              <a:rPr lang="en-AU" sz="4000" b="1">
                <a:effectLst/>
                <a:latin typeface="Arial" panose="020B0604020202020204" pitchFamily="34" charset="0"/>
                <a:ea typeface="Calibri" panose="020F0502020204030204" pitchFamily="34" charset="0"/>
              </a:rPr>
              <a:t>Convert</a:t>
            </a:r>
            <a:r>
              <a:rPr lang="en-AU" sz="4000">
                <a:effectLst/>
                <a:latin typeface="Arial" panose="020B0604020202020204" pitchFamily="34" charset="0"/>
                <a:ea typeface="Calibri" panose="020F0502020204030204" pitchFamily="34" charset="0"/>
              </a:rPr>
              <a:t> and </a:t>
            </a:r>
            <a:r>
              <a:rPr lang="en-AU" sz="4000" b="1">
                <a:effectLst/>
                <a:latin typeface="Arial" panose="020B0604020202020204" pitchFamily="34" charset="0"/>
                <a:ea typeface="Calibri" panose="020F0502020204030204" pitchFamily="34" charset="0"/>
              </a:rPr>
              <a:t>record</a:t>
            </a:r>
            <a:r>
              <a:rPr lang="en-AU" sz="4000">
                <a:effectLst/>
                <a:latin typeface="Arial" panose="020B0604020202020204" pitchFamily="34" charset="0"/>
                <a:ea typeface="Calibri" panose="020F0502020204030204" pitchFamily="34" charset="0"/>
              </a:rPr>
              <a:t> these as </a:t>
            </a:r>
            <a:r>
              <a:rPr lang="en-AU" sz="4000" b="1">
                <a:effectLst/>
                <a:latin typeface="Arial" panose="020B0604020202020204" pitchFamily="34" charset="0"/>
                <a:ea typeface="Calibri" panose="020F0502020204030204" pitchFamily="34" charset="0"/>
              </a:rPr>
              <a:t>12-hour time </a:t>
            </a:r>
            <a:r>
              <a:rPr lang="en-AU" sz="4000">
                <a:effectLst/>
                <a:latin typeface="Arial" panose="020B0604020202020204" pitchFamily="34" charset="0"/>
                <a:ea typeface="Calibri" panose="020F0502020204030204" pitchFamily="34" charset="0"/>
              </a:rPr>
              <a:t>using </a:t>
            </a:r>
            <a:r>
              <a:rPr lang="en-AU" sz="4000" b="1">
                <a:effectLst/>
                <a:latin typeface="Arial" panose="020B0604020202020204" pitchFamily="34" charset="0"/>
                <a:ea typeface="Calibri" panose="020F0502020204030204" pitchFamily="34" charset="0"/>
              </a:rPr>
              <a:t>am </a:t>
            </a:r>
            <a:r>
              <a:rPr lang="en-AU" sz="4000">
                <a:effectLst/>
                <a:latin typeface="Arial" panose="020B0604020202020204" pitchFamily="34" charset="0"/>
                <a:ea typeface="Calibri" panose="020F0502020204030204" pitchFamily="34" charset="0"/>
              </a:rPr>
              <a:t>or</a:t>
            </a:r>
            <a:r>
              <a:rPr lang="en-AU" sz="4000" b="1">
                <a:effectLst/>
                <a:latin typeface="Arial" panose="020B0604020202020204" pitchFamily="34" charset="0"/>
                <a:ea typeface="Calibri" panose="020F0502020204030204" pitchFamily="34" charset="0"/>
              </a:rPr>
              <a:t> pm </a:t>
            </a:r>
            <a:r>
              <a:rPr lang="en-AU" sz="4000">
                <a:effectLst/>
                <a:latin typeface="Arial" panose="020B0604020202020204" pitchFamily="34" charset="0"/>
                <a:ea typeface="Calibri" panose="020F0502020204030204" pitchFamily="34" charset="0"/>
              </a:rPr>
              <a:t>notation:</a:t>
            </a:r>
          </a:p>
          <a:p>
            <a:pPr marL="342900" lvl="0" indent="-342900" algn="ctr">
              <a:lnSpc>
                <a:spcPct val="150000"/>
              </a:lnSpc>
              <a:spcBef>
                <a:spcPts val="1200"/>
              </a:spcBef>
              <a:spcAft>
                <a:spcPts val="600"/>
              </a:spcAft>
              <a:buFont typeface="Symbol" panose="05050102010706020507" pitchFamily="18" charset="2"/>
              <a:buChar char=""/>
            </a:pPr>
            <a:r>
              <a:rPr lang="en-AU" sz="3200">
                <a:latin typeface="Arial" panose="020B0604020202020204" pitchFamily="34" charset="0"/>
                <a:ea typeface="Calibri" panose="020F0502020204030204" pitchFamily="34" charset="0"/>
              </a:rPr>
              <a:t>14:45 </a:t>
            </a:r>
          </a:p>
          <a:p>
            <a:pPr marL="342900" lvl="0" indent="-342900" algn="ctr">
              <a:lnSpc>
                <a:spcPct val="150000"/>
              </a:lnSpc>
              <a:spcBef>
                <a:spcPts val="1200"/>
              </a:spcBef>
              <a:spcAft>
                <a:spcPts val="600"/>
              </a:spcAft>
              <a:buFont typeface="Symbol" panose="05050102010706020507" pitchFamily="18" charset="2"/>
              <a:buChar char=""/>
            </a:pPr>
            <a:r>
              <a:rPr lang="en-AU" sz="3200">
                <a:latin typeface="Arial" panose="020B0604020202020204" pitchFamily="34" charset="0"/>
                <a:ea typeface="Calibri" panose="020F0502020204030204" pitchFamily="34" charset="0"/>
              </a:rPr>
              <a:t>06:38 </a:t>
            </a:r>
          </a:p>
          <a:p>
            <a:pPr marL="342900" lvl="0" indent="-342900" algn="ctr">
              <a:lnSpc>
                <a:spcPct val="150000"/>
              </a:lnSpc>
              <a:spcBef>
                <a:spcPts val="1200"/>
              </a:spcBef>
              <a:spcAft>
                <a:spcPts val="600"/>
              </a:spcAft>
              <a:buFont typeface="Symbol" panose="05050102010706020507" pitchFamily="18" charset="2"/>
              <a:buChar char=""/>
            </a:pPr>
            <a:r>
              <a:rPr lang="en-AU" sz="3200">
                <a:latin typeface="Arial" panose="020B0604020202020204" pitchFamily="34" charset="0"/>
                <a:ea typeface="Calibri" panose="020F0502020204030204" pitchFamily="34" charset="0"/>
              </a:rPr>
              <a:t>21</a:t>
            </a:r>
            <a:r>
              <a:rPr lang="en-AU" sz="3200">
                <a:effectLst/>
                <a:latin typeface="Arial" panose="020B0604020202020204" pitchFamily="34" charset="0"/>
                <a:ea typeface="Calibri" panose="020F0502020204030204" pitchFamily="34" charset="0"/>
              </a:rPr>
              <a:t>:47 </a:t>
            </a:r>
          </a:p>
          <a:p>
            <a:pPr marL="342900" lvl="0" indent="-342900" algn="ctr">
              <a:lnSpc>
                <a:spcPct val="150000"/>
              </a:lnSpc>
              <a:spcBef>
                <a:spcPts val="1200"/>
              </a:spcBef>
              <a:spcAft>
                <a:spcPts val="600"/>
              </a:spcAft>
              <a:buFont typeface="Symbol" panose="05050102010706020507" pitchFamily="18" charset="2"/>
              <a:buChar char=""/>
            </a:pPr>
            <a:r>
              <a:rPr lang="en-AU" sz="3200">
                <a:latin typeface="Arial" panose="020B0604020202020204" pitchFamily="34" charset="0"/>
                <a:ea typeface="Calibri" panose="020F0502020204030204" pitchFamily="34" charset="0"/>
              </a:rPr>
              <a:t>11:15</a:t>
            </a:r>
            <a:endParaRPr lang="en-AU" sz="3200">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7" name="TextBox 6">
            <a:extLst>
              <a:ext uri="{FF2B5EF4-FFF2-40B4-BE49-F238E27FC236}">
                <a16:creationId xmlns:a16="http://schemas.microsoft.com/office/drawing/2014/main" id="{011EF46E-640D-12AA-46F3-479AB323E618}"/>
              </a:ext>
            </a:extLst>
          </p:cNvPr>
          <p:cNvSpPr txBox="1"/>
          <p:nvPr/>
        </p:nvSpPr>
        <p:spPr>
          <a:xfrm>
            <a:off x="608000" y="1184223"/>
            <a:ext cx="10976000" cy="1104523"/>
          </a:xfrm>
          <a:prstGeom prst="rect">
            <a:avLst/>
          </a:prstGeom>
          <a:noFill/>
        </p:spPr>
        <p:txBody>
          <a:bodyPr wrap="none" lIns="0" tIns="0" rIns="0" bIns="0" rtlCol="0">
            <a:noAutofit/>
          </a:bodyPr>
          <a:lstStyle/>
          <a:p>
            <a:pPr algn="ctr">
              <a:lnSpc>
                <a:spcPct val="150000"/>
              </a:lnSpc>
            </a:pPr>
            <a:r>
              <a:rPr lang="en-AU" sz="3600"/>
              <a:t>Order and record these capacities from </a:t>
            </a:r>
          </a:p>
          <a:p>
            <a:pPr algn="ctr">
              <a:lnSpc>
                <a:spcPct val="150000"/>
              </a:lnSpc>
            </a:pPr>
            <a:r>
              <a:rPr lang="en-AU" sz="3600" b="1"/>
              <a:t>smallest</a:t>
            </a:r>
            <a:r>
              <a:rPr lang="en-AU" sz="3600"/>
              <a:t> to </a:t>
            </a:r>
            <a:r>
              <a:rPr lang="en-AU" sz="3600" b="1"/>
              <a:t>largest</a:t>
            </a:r>
            <a:r>
              <a:rPr lang="en-AU" sz="3600"/>
              <a:t>:</a:t>
            </a:r>
            <a:endParaRPr lang="en-AU" sz="3200"/>
          </a:p>
          <a:p>
            <a:pPr marL="571500" indent="-571500">
              <a:buFont typeface="Arial" panose="020B0604020202020204" pitchFamily="34" charset="0"/>
              <a:buChar char="•"/>
            </a:pPr>
            <a:r>
              <a:rPr lang="en-AU" sz="3600"/>
              <a:t>7.05 L​</a:t>
            </a:r>
          </a:p>
          <a:p>
            <a:pPr marL="571500" indent="-571500">
              <a:buFont typeface="Arial" panose="020B0604020202020204" pitchFamily="34" charset="0"/>
              <a:buChar char="•"/>
            </a:pPr>
            <a:endParaRPr lang="en-AU" sz="3600"/>
          </a:p>
          <a:p>
            <a:pPr marL="571500" indent="-571500">
              <a:buFont typeface="Arial" panose="020B0604020202020204" pitchFamily="34" charset="0"/>
              <a:buChar char="•"/>
            </a:pPr>
            <a:r>
              <a:rPr lang="en-AU" sz="3600"/>
              <a:t>7071 mL​</a:t>
            </a:r>
          </a:p>
          <a:p>
            <a:pPr marL="571500" indent="-571500">
              <a:buFont typeface="Arial" panose="020B0604020202020204" pitchFamily="34" charset="0"/>
              <a:buChar char="•"/>
            </a:pPr>
            <a:endParaRPr lang="en-AU" sz="3600"/>
          </a:p>
          <a:p>
            <a:pPr marL="571500" indent="-571500">
              <a:buFont typeface="Arial" panose="020B0604020202020204" pitchFamily="34" charset="0"/>
              <a:buChar char="•"/>
            </a:pPr>
            <a:r>
              <a:rPr lang="en-AU" sz="3600"/>
              <a:t>2.62 L​</a:t>
            </a:r>
          </a:p>
          <a:p>
            <a:pPr marL="571500" indent="-571500">
              <a:buFont typeface="Arial" panose="020B0604020202020204" pitchFamily="34" charset="0"/>
              <a:buChar char="•"/>
            </a:pPr>
            <a:endParaRPr lang="en-AU" sz="3600"/>
          </a:p>
          <a:p>
            <a:pPr marL="571500" indent="-571500">
              <a:buFont typeface="Arial" panose="020B0604020202020204" pitchFamily="34" charset="0"/>
              <a:buChar char="•"/>
            </a:pPr>
            <a:r>
              <a:rPr lang="en-AU" sz="3600"/>
              <a:t>2999 mL​</a:t>
            </a:r>
          </a:p>
          <a:p>
            <a:endParaRPr lang="en-AU" sz="3600"/>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4" name="TextBox 3">
            <a:extLst>
              <a:ext uri="{FF2B5EF4-FFF2-40B4-BE49-F238E27FC236}">
                <a16:creationId xmlns:a16="http://schemas.microsoft.com/office/drawing/2014/main" id="{C449C597-7D2E-E540-2B1E-48B3D94F57A4}"/>
              </a:ext>
            </a:extLst>
          </p:cNvPr>
          <p:cNvSpPr txBox="1"/>
          <p:nvPr/>
        </p:nvSpPr>
        <p:spPr>
          <a:xfrm>
            <a:off x="490654" y="1765300"/>
            <a:ext cx="11159314" cy="1866900"/>
          </a:xfrm>
          <a:prstGeom prst="rect">
            <a:avLst/>
          </a:prstGeom>
          <a:noFill/>
        </p:spPr>
        <p:txBody>
          <a:bodyPr wrap="square" lIns="0" tIns="0" rIns="0" bIns="0" rtlCol="0">
            <a:noAutofit/>
          </a:bodyPr>
          <a:lstStyle/>
          <a:p>
            <a:pPr algn="ctr">
              <a:lnSpc>
                <a:spcPct val="150000"/>
              </a:lnSpc>
            </a:pPr>
            <a:r>
              <a:rPr lang="en-AU" sz="4400" b="1"/>
              <a:t>Complete</a:t>
            </a:r>
            <a:r>
              <a:rPr lang="en-AU" sz="4400"/>
              <a:t> the sentence:</a:t>
            </a:r>
          </a:p>
          <a:p>
            <a:pPr algn="l">
              <a:lnSpc>
                <a:spcPct val="150000"/>
              </a:lnSpc>
            </a:pPr>
            <a:endParaRPr lang="en-AU" sz="4400"/>
          </a:p>
          <a:p>
            <a:pPr algn="ctr">
              <a:lnSpc>
                <a:spcPct val="150000"/>
              </a:lnSpc>
            </a:pPr>
            <a:r>
              <a:rPr lang="en-AU" sz="4400"/>
              <a:t>The term ‘</a:t>
            </a:r>
            <a:r>
              <a:rPr lang="en-AU" sz="4400" b="1"/>
              <a:t>frequency’</a:t>
            </a:r>
            <a:r>
              <a:rPr lang="en-AU" sz="4400"/>
              <a:t> is used to describe...</a:t>
            </a: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5" name="TextBox 4">
            <a:extLst>
              <a:ext uri="{FF2B5EF4-FFF2-40B4-BE49-F238E27FC236}">
                <a16:creationId xmlns:a16="http://schemas.microsoft.com/office/drawing/2014/main" id="{C74B7F0F-89C4-6053-FB12-895BC64FAC57}"/>
              </a:ext>
            </a:extLst>
          </p:cNvPr>
          <p:cNvSpPr txBox="1"/>
          <p:nvPr/>
        </p:nvSpPr>
        <p:spPr>
          <a:xfrm>
            <a:off x="758092" y="1462466"/>
            <a:ext cx="10777576" cy="5045164"/>
          </a:xfrm>
          <a:prstGeom prst="rect">
            <a:avLst/>
          </a:prstGeom>
          <a:noFill/>
        </p:spPr>
        <p:txBody>
          <a:bodyPr wrap="square">
            <a:spAutoFit/>
          </a:bodyPr>
          <a:lstStyle/>
          <a:p>
            <a:pPr algn="ctr">
              <a:lnSpc>
                <a:spcPct val="150000"/>
              </a:lnSpc>
            </a:pPr>
            <a:r>
              <a:rPr lang="en-AU" sz="4400"/>
              <a:t>Suzie wants to </a:t>
            </a:r>
            <a:r>
              <a:rPr lang="en-AU" sz="4400" b="1"/>
              <a:t>display data </a:t>
            </a:r>
            <a:r>
              <a:rPr lang="en-AU" sz="4400"/>
              <a:t>to show the height of a plant’s growth over time.</a:t>
            </a:r>
          </a:p>
          <a:p>
            <a:pPr algn="ctr">
              <a:lnSpc>
                <a:spcPct val="150000"/>
              </a:lnSpc>
            </a:pPr>
            <a:endParaRPr lang="en-AU" sz="4400"/>
          </a:p>
          <a:p>
            <a:pPr algn="ctr">
              <a:lnSpc>
                <a:spcPct val="150000"/>
              </a:lnSpc>
            </a:pPr>
            <a:r>
              <a:rPr lang="en-AU" sz="4400" b="1"/>
              <a:t>Record</a:t>
            </a:r>
            <a:r>
              <a:rPr lang="en-AU" sz="4400"/>
              <a:t> the name of a </a:t>
            </a:r>
            <a:r>
              <a:rPr lang="en-AU" sz="4400" b="1"/>
              <a:t>suitable</a:t>
            </a:r>
            <a:r>
              <a:rPr lang="en-AU" sz="4400"/>
              <a:t> </a:t>
            </a:r>
            <a:r>
              <a:rPr lang="en-AU" sz="4400" b="1"/>
              <a:t>data display </a:t>
            </a:r>
            <a:r>
              <a:rPr lang="en-AU" sz="4400"/>
              <a:t>she could use.</a:t>
            </a:r>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multistep problems</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3" name="TextBox 2">
            <a:extLst>
              <a:ext uri="{FF2B5EF4-FFF2-40B4-BE49-F238E27FC236}">
                <a16:creationId xmlns:a16="http://schemas.microsoft.com/office/drawing/2014/main" id="{6CDE9DC4-A5E0-9B0A-12F5-118F4B37B927}"/>
              </a:ext>
            </a:extLst>
          </p:cNvPr>
          <p:cNvSpPr txBox="1"/>
          <p:nvPr/>
        </p:nvSpPr>
        <p:spPr>
          <a:xfrm>
            <a:off x="545552" y="1756932"/>
            <a:ext cx="11100896" cy="2662668"/>
          </a:xfrm>
          <a:prstGeom prst="rect">
            <a:avLst/>
          </a:prstGeom>
          <a:noFill/>
        </p:spPr>
        <p:txBody>
          <a:bodyPr wrap="square" lIns="0" tIns="0" rIns="0" bIns="0" rtlCol="0">
            <a:noAutofit/>
          </a:bodyPr>
          <a:lstStyle/>
          <a:p>
            <a:pPr lvl="0" algn="ctr">
              <a:lnSpc>
                <a:spcPct val="150000"/>
              </a:lnSpc>
            </a:pPr>
            <a:r>
              <a:rPr lang="en-AU" sz="3200"/>
              <a:t>Anwar has 375 stalks of corn and 598 cabbages. The crows destroy 153 of his crops. How many crops are left undestroyed in his garden?</a:t>
            </a:r>
          </a:p>
          <a:p>
            <a:pPr lvl="0">
              <a:lnSpc>
                <a:spcPct val="150000"/>
              </a:lnSpc>
            </a:pPr>
            <a:endParaRPr lang="en-AU" sz="2800"/>
          </a:p>
          <a:p>
            <a:pPr>
              <a:lnSpc>
                <a:spcPct val="150000"/>
              </a:lnSpc>
            </a:pPr>
            <a:endParaRPr lang="en-AU"/>
          </a:p>
          <a:p>
            <a:pPr lvl="0">
              <a:lnSpc>
                <a:spcPct val="150000"/>
              </a:lnSpc>
            </a:pPr>
            <a:endParaRPr lang="en-AU"/>
          </a:p>
          <a:p>
            <a:pPr algn="l">
              <a:lnSpc>
                <a:spcPct val="150000"/>
              </a:lnSpc>
            </a:pPr>
            <a:endParaRPr lang="en-AU" sz="1800"/>
          </a:p>
        </p:txBody>
      </p:sp>
      <p:sp>
        <p:nvSpPr>
          <p:cNvPr id="9" name="Rectangle: Rounded Corners 8">
            <a:extLst>
              <a:ext uri="{FF2B5EF4-FFF2-40B4-BE49-F238E27FC236}">
                <a16:creationId xmlns:a16="http://schemas.microsoft.com/office/drawing/2014/main" id="{9B201C91-C1B9-C65D-7919-F69D2795A10E}"/>
              </a:ext>
            </a:extLst>
          </p:cNvPr>
          <p:cNvSpPr/>
          <p:nvPr/>
        </p:nvSpPr>
        <p:spPr>
          <a:xfrm>
            <a:off x="726107" y="4419600"/>
            <a:ext cx="11100896" cy="2024063"/>
          </a:xfrm>
          <a:prstGeom prst="round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Arial" panose="020B0604020202020204" pitchFamily="34" charset="0"/>
              <a:buChar char="•"/>
            </a:pPr>
            <a:r>
              <a:rPr lang="en-AU">
                <a:solidFill>
                  <a:srgbClr val="002060"/>
                </a:solidFill>
              </a:rPr>
              <a:t>Which </a:t>
            </a:r>
            <a:r>
              <a:rPr lang="en-AU" b="1">
                <a:solidFill>
                  <a:srgbClr val="002060"/>
                </a:solidFill>
              </a:rPr>
              <a:t>parts</a:t>
            </a:r>
            <a:r>
              <a:rPr lang="en-AU">
                <a:solidFill>
                  <a:srgbClr val="002060"/>
                </a:solidFill>
              </a:rPr>
              <a:t> of the problem are </a:t>
            </a:r>
            <a:r>
              <a:rPr lang="en-AU" b="1">
                <a:solidFill>
                  <a:srgbClr val="002060"/>
                </a:solidFill>
              </a:rPr>
              <a:t>important</a:t>
            </a:r>
            <a:r>
              <a:rPr lang="en-AU">
                <a:solidFill>
                  <a:srgbClr val="002060"/>
                </a:solidFill>
              </a:rPr>
              <a:t> pieces of information?</a:t>
            </a:r>
          </a:p>
          <a:p>
            <a:pPr marL="342900" indent="-342900">
              <a:lnSpc>
                <a:spcPct val="150000"/>
              </a:lnSpc>
              <a:buFont typeface="Arial" panose="020B0604020202020204" pitchFamily="34" charset="0"/>
              <a:buChar char="•"/>
            </a:pPr>
            <a:r>
              <a:rPr lang="en-AU">
                <a:solidFill>
                  <a:srgbClr val="002060"/>
                </a:solidFill>
              </a:rPr>
              <a:t>What </a:t>
            </a:r>
            <a:r>
              <a:rPr lang="en-AU" b="1">
                <a:solidFill>
                  <a:srgbClr val="002060"/>
                </a:solidFill>
              </a:rPr>
              <a:t>operations</a:t>
            </a:r>
            <a:r>
              <a:rPr lang="en-AU">
                <a:solidFill>
                  <a:srgbClr val="002060"/>
                </a:solidFill>
              </a:rPr>
              <a:t> will be used in solving this problem? How do you know?</a:t>
            </a:r>
          </a:p>
          <a:p>
            <a:pPr marL="342900" indent="-342900">
              <a:lnSpc>
                <a:spcPct val="150000"/>
              </a:lnSpc>
              <a:buFont typeface="Arial" panose="020B0604020202020204" pitchFamily="34" charset="0"/>
              <a:buChar char="•"/>
            </a:pPr>
            <a:r>
              <a:rPr lang="en-AU">
                <a:solidFill>
                  <a:srgbClr val="002060"/>
                </a:solidFill>
              </a:rPr>
              <a:t>What </a:t>
            </a:r>
            <a:r>
              <a:rPr lang="en-AU" b="1">
                <a:solidFill>
                  <a:srgbClr val="002060"/>
                </a:solidFill>
              </a:rPr>
              <a:t>strategies</a:t>
            </a:r>
            <a:r>
              <a:rPr lang="en-AU">
                <a:solidFill>
                  <a:srgbClr val="002060"/>
                </a:solidFill>
              </a:rPr>
              <a:t> would be</a:t>
            </a:r>
            <a:r>
              <a:rPr lang="en-AU" b="1">
                <a:solidFill>
                  <a:srgbClr val="002060"/>
                </a:solidFill>
              </a:rPr>
              <a:t> efficient </a:t>
            </a:r>
            <a:r>
              <a:rPr lang="en-AU">
                <a:solidFill>
                  <a:srgbClr val="002060"/>
                </a:solidFill>
              </a:rPr>
              <a:t>for solving this problem</a:t>
            </a:r>
            <a:r>
              <a:rPr lang="en-AU" sz="2000">
                <a:solidFill>
                  <a:srgbClr val="002060"/>
                </a:solidFill>
              </a:rPr>
              <a:t>? </a:t>
            </a:r>
          </a:p>
          <a:p>
            <a:pPr algn="ctr"/>
            <a:endParaRPr lang="en-AU"/>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360001" y="2046911"/>
            <a:ext cx="11243037" cy="893226"/>
          </a:xfrm>
        </p:spPr>
        <p:txBody>
          <a:bodyPr/>
          <a:lstStyle/>
          <a:p>
            <a:pPr algn="ctr"/>
            <a:r>
              <a:rPr lang="en-AU" sz="4400"/>
              <a:t>The </a:t>
            </a:r>
            <a:r>
              <a:rPr lang="en-AU" sz="4400" b="1"/>
              <a:t>levelling strategy </a:t>
            </a:r>
            <a:r>
              <a:rPr lang="en-AU" sz="4400"/>
              <a:t>is an </a:t>
            </a:r>
            <a:r>
              <a:rPr lang="en-AU" sz="4400" b="1"/>
              <a:t>efficient </a:t>
            </a:r>
            <a:r>
              <a:rPr lang="en-AU" sz="4400"/>
              <a:t>strategy</a:t>
            </a:r>
            <a:r>
              <a:rPr lang="en-AU" sz="4400" b="1"/>
              <a:t> </a:t>
            </a:r>
            <a:r>
              <a:rPr lang="en-AU" sz="4400"/>
              <a:t>to solve 4988 + 955.</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26250" y="360000"/>
            <a:ext cx="915500" cy="915500"/>
          </a:xfrm>
          <a:prstGeom prst="rect">
            <a:avLst/>
          </a:prstGeom>
        </p:spPr>
      </p:pic>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7" name="TextBox 6">
            <a:extLst>
              <a:ext uri="{FF2B5EF4-FFF2-40B4-BE49-F238E27FC236}">
                <a16:creationId xmlns:a16="http://schemas.microsoft.com/office/drawing/2014/main" id="{9860A77D-093B-5AD7-CCE7-ACDB40863815}"/>
              </a:ext>
            </a:extLst>
          </p:cNvPr>
          <p:cNvSpPr txBox="1"/>
          <p:nvPr/>
        </p:nvSpPr>
        <p:spPr>
          <a:xfrm>
            <a:off x="354000" y="1475374"/>
            <a:ext cx="11484000" cy="915500"/>
          </a:xfrm>
          <a:prstGeom prst="rect">
            <a:avLst/>
          </a:prstGeom>
          <a:noFill/>
        </p:spPr>
        <p:txBody>
          <a:bodyPr wrap="square" lIns="0" tIns="0" rIns="0" bIns="0" rtlCol="0">
            <a:noAutofit/>
          </a:bodyPr>
          <a:lstStyle/>
          <a:p>
            <a:pPr algn="ctr">
              <a:lnSpc>
                <a:spcPct val="150000"/>
              </a:lnSpc>
            </a:pPr>
            <a:r>
              <a:rPr lang="en-AU" sz="3600"/>
              <a:t>Sally missed the </a:t>
            </a:r>
            <a:r>
              <a:rPr lang="en-AU" sz="3600" b="1"/>
              <a:t>07:14</a:t>
            </a:r>
            <a:r>
              <a:rPr lang="en-AU" sz="3600"/>
              <a:t> train from Liverpool to Sefton. </a:t>
            </a:r>
          </a:p>
          <a:p>
            <a:pPr algn="ctr">
              <a:lnSpc>
                <a:spcPct val="150000"/>
              </a:lnSpc>
            </a:pPr>
            <a:r>
              <a:rPr lang="en-AU" sz="3600"/>
              <a:t>What </a:t>
            </a:r>
            <a:r>
              <a:rPr lang="en-AU" sz="3600" b="1"/>
              <a:t>time </a:t>
            </a:r>
            <a:r>
              <a:rPr lang="en-AU" sz="3600"/>
              <a:t>is the </a:t>
            </a:r>
            <a:r>
              <a:rPr lang="en-AU" sz="3600" b="1"/>
              <a:t>next</a:t>
            </a:r>
            <a:r>
              <a:rPr lang="en-AU" sz="3600"/>
              <a:t> train from Liverpool to Sefton?</a:t>
            </a:r>
          </a:p>
        </p:txBody>
      </p:sp>
      <p:pic>
        <p:nvPicPr>
          <p:cNvPr id="5" name="Picture 4" descr="Train timetable showing weekday services with station names and times.">
            <a:extLst>
              <a:ext uri="{FF2B5EF4-FFF2-40B4-BE49-F238E27FC236}">
                <a16:creationId xmlns:a16="http://schemas.microsoft.com/office/drawing/2014/main" id="{552424CA-24B0-A50E-2B5D-F5EC9195732B}"/>
              </a:ext>
            </a:extLst>
          </p:cNvPr>
          <p:cNvPicPr>
            <a:picLocks noChangeAspect="1"/>
          </p:cNvPicPr>
          <p:nvPr/>
        </p:nvPicPr>
        <p:blipFill>
          <a:blip r:embed="rId4"/>
          <a:srcRect l="5646" t="8548" r="11810" b="59486"/>
          <a:stretch>
            <a:fillRect/>
          </a:stretch>
        </p:blipFill>
        <p:spPr>
          <a:xfrm>
            <a:off x="1045691" y="3380632"/>
            <a:ext cx="10100618" cy="276546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5" name="TextBox 4">
            <a:extLst>
              <a:ext uri="{FF2B5EF4-FFF2-40B4-BE49-F238E27FC236}">
                <a16:creationId xmlns:a16="http://schemas.microsoft.com/office/drawing/2014/main" id="{120151E3-4342-9DE2-731F-02BD59549107}"/>
              </a:ext>
            </a:extLst>
          </p:cNvPr>
          <p:cNvSpPr txBox="1"/>
          <p:nvPr/>
        </p:nvSpPr>
        <p:spPr>
          <a:xfrm>
            <a:off x="360000" y="1802706"/>
            <a:ext cx="7209200" cy="3967199"/>
          </a:xfrm>
          <a:prstGeom prst="rect">
            <a:avLst/>
          </a:prstGeom>
          <a:noFill/>
        </p:spPr>
        <p:txBody>
          <a:bodyPr wrap="none" lIns="0" tIns="0" rIns="0" bIns="0" rtlCol="0">
            <a:noAutofit/>
          </a:bodyPr>
          <a:lstStyle/>
          <a:p>
            <a:pPr algn="ctr">
              <a:lnSpc>
                <a:spcPct val="150000"/>
              </a:lnSpc>
            </a:pPr>
            <a:r>
              <a:rPr lang="en-AU" sz="3200"/>
              <a:t>The water level </a:t>
            </a:r>
            <a:r>
              <a:rPr lang="en-AU" sz="3200" b="1"/>
              <a:t>without</a:t>
            </a:r>
          </a:p>
          <a:p>
            <a:pPr algn="ctr">
              <a:lnSpc>
                <a:spcPct val="150000"/>
              </a:lnSpc>
            </a:pPr>
            <a:r>
              <a:rPr lang="en-AU" sz="3200"/>
              <a:t>the metal ball is </a:t>
            </a:r>
            <a:r>
              <a:rPr lang="en-AU" sz="3200" b="1"/>
              <a:t>90mL</a:t>
            </a:r>
            <a:r>
              <a:rPr lang="en-AU" sz="3200"/>
              <a:t>. The water level</a:t>
            </a:r>
          </a:p>
          <a:p>
            <a:pPr algn="ctr">
              <a:lnSpc>
                <a:spcPct val="150000"/>
              </a:lnSpc>
            </a:pPr>
            <a:r>
              <a:rPr lang="en-AU" sz="3200" b="1"/>
              <a:t>with</a:t>
            </a:r>
            <a:r>
              <a:rPr lang="en-AU" sz="3200"/>
              <a:t> the metal ball is </a:t>
            </a:r>
            <a:r>
              <a:rPr lang="en-AU" sz="3200" b="1"/>
              <a:t>130mL</a:t>
            </a:r>
            <a:r>
              <a:rPr lang="en-AU" sz="3200"/>
              <a:t>.</a:t>
            </a:r>
          </a:p>
          <a:p>
            <a:pPr algn="ctr">
              <a:lnSpc>
                <a:spcPct val="150000"/>
              </a:lnSpc>
            </a:pPr>
            <a:endParaRPr lang="en-AU" sz="3200"/>
          </a:p>
          <a:p>
            <a:pPr algn="ctr">
              <a:lnSpc>
                <a:spcPct val="150000"/>
              </a:lnSpc>
            </a:pPr>
            <a:r>
              <a:rPr lang="en-AU" sz="3200" b="1"/>
              <a:t>Record</a:t>
            </a:r>
            <a:r>
              <a:rPr lang="en-AU" sz="3200"/>
              <a:t> the change in water level to show </a:t>
            </a:r>
            <a:br>
              <a:rPr lang="en-AU" sz="3200"/>
            </a:br>
            <a:r>
              <a:rPr lang="en-AU" sz="3200"/>
              <a:t>the objects </a:t>
            </a:r>
            <a:r>
              <a:rPr lang="en-AU" sz="3200" b="1"/>
              <a:t>volume </a:t>
            </a:r>
            <a:r>
              <a:rPr lang="en-AU" sz="3200"/>
              <a:t>in </a:t>
            </a:r>
            <a:r>
              <a:rPr lang="en-AU" sz="3200" b="1" err="1"/>
              <a:t>mL.</a:t>
            </a:r>
            <a:r>
              <a:rPr lang="en-AU" sz="3200" b="1"/>
              <a:t> </a:t>
            </a:r>
            <a:endParaRPr lang="en-AU" sz="3200"/>
          </a:p>
          <a:p>
            <a:pPr algn="ctr">
              <a:lnSpc>
                <a:spcPct val="150000"/>
              </a:lnSpc>
            </a:pPr>
            <a:endParaRPr lang="en-AU" sz="2800"/>
          </a:p>
        </p:txBody>
      </p:sp>
      <p:pic>
        <p:nvPicPr>
          <p:cNvPr id="4" name="Picture 3" descr="A measuring tube showing a water level of approximately 90mL and the same measuring tube with a metal ball inside showing a water level of approximately 130mL.">
            <a:extLst>
              <a:ext uri="{FF2B5EF4-FFF2-40B4-BE49-F238E27FC236}">
                <a16:creationId xmlns:a16="http://schemas.microsoft.com/office/drawing/2014/main" id="{C7E477BA-8198-0F47-3FE5-1B8BB9E69B3C}"/>
              </a:ext>
            </a:extLst>
          </p:cNvPr>
          <p:cNvPicPr>
            <a:picLocks noChangeAspect="1"/>
          </p:cNvPicPr>
          <p:nvPr/>
        </p:nvPicPr>
        <p:blipFill>
          <a:blip r:embed="rId4"/>
          <a:srcRect l="20162" t="7397" r="28556" b="4644"/>
          <a:stretch>
            <a:fillRect/>
          </a:stretch>
        </p:blipFill>
        <p:spPr>
          <a:xfrm>
            <a:off x="7881391" y="1802706"/>
            <a:ext cx="3950609" cy="3811448"/>
          </a:xfrm>
          <a:prstGeom prst="rect">
            <a:avLst/>
          </a:prstGeom>
          <a:effectLst/>
        </p:spPr>
      </p:pic>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4" name="TextBox 3">
            <a:extLst>
              <a:ext uri="{FF2B5EF4-FFF2-40B4-BE49-F238E27FC236}">
                <a16:creationId xmlns:a16="http://schemas.microsoft.com/office/drawing/2014/main" id="{84CCFC2A-6669-A555-548C-9D1E709C608A}"/>
              </a:ext>
            </a:extLst>
          </p:cNvPr>
          <p:cNvSpPr txBox="1"/>
          <p:nvPr/>
        </p:nvSpPr>
        <p:spPr>
          <a:xfrm>
            <a:off x="1160324" y="1816100"/>
            <a:ext cx="9963676" cy="2374900"/>
          </a:xfrm>
          <a:prstGeom prst="rect">
            <a:avLst/>
          </a:prstGeom>
          <a:noFill/>
        </p:spPr>
        <p:txBody>
          <a:bodyPr wrap="square" lIns="0" tIns="0" rIns="0" bIns="0" rtlCol="0">
            <a:noAutofit/>
          </a:bodyPr>
          <a:lstStyle/>
          <a:p>
            <a:pPr algn="ctr">
              <a:lnSpc>
                <a:spcPct val="150000"/>
              </a:lnSpc>
            </a:pPr>
            <a:r>
              <a:rPr lang="en-AU" sz="3600"/>
              <a:t>A jar contains </a:t>
            </a:r>
            <a:r>
              <a:rPr lang="en-AU" sz="3600" b="1"/>
              <a:t>5</a:t>
            </a:r>
            <a:r>
              <a:rPr lang="en-AU" sz="3600"/>
              <a:t> different flavoured lollies: strawberry, lemon, apple, grape and orange. </a:t>
            </a:r>
          </a:p>
          <a:p>
            <a:pPr algn="ctr">
              <a:lnSpc>
                <a:spcPct val="150000"/>
              </a:lnSpc>
            </a:pPr>
            <a:r>
              <a:rPr lang="en-AU" sz="3600" b="1"/>
              <a:t>1</a:t>
            </a:r>
            <a:r>
              <a:rPr lang="en-AU" sz="3600"/>
              <a:t> lolly is picked at random.</a:t>
            </a:r>
          </a:p>
          <a:p>
            <a:pPr algn="ctr">
              <a:lnSpc>
                <a:spcPct val="150000"/>
              </a:lnSpc>
            </a:pPr>
            <a:endParaRPr lang="en-AU" sz="3600"/>
          </a:p>
          <a:p>
            <a:pPr algn="ctr">
              <a:lnSpc>
                <a:spcPct val="150000"/>
              </a:lnSpc>
            </a:pPr>
            <a:r>
              <a:rPr lang="en-AU" sz="3600" b="1"/>
              <a:t>Record</a:t>
            </a:r>
            <a:r>
              <a:rPr lang="en-AU" sz="3600"/>
              <a:t> </a:t>
            </a:r>
            <a:r>
              <a:rPr lang="en-AU" sz="3600" b="1"/>
              <a:t>all</a:t>
            </a:r>
            <a:r>
              <a:rPr lang="en-AU" sz="3600"/>
              <a:t> </a:t>
            </a:r>
            <a:r>
              <a:rPr lang="en-AU" sz="3600" b="1"/>
              <a:t>possible outcomes</a:t>
            </a:r>
            <a:r>
              <a:rPr lang="en-AU" sz="1600"/>
              <a:t>.</a:t>
            </a:r>
          </a:p>
          <a:p>
            <a:pPr algn="ctr">
              <a:lnSpc>
                <a:spcPct val="150000"/>
              </a:lnSpc>
            </a:pPr>
            <a:endParaRPr lang="en-AU" sz="2800"/>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8" name="TextBox 7">
            <a:extLst>
              <a:ext uri="{FF2B5EF4-FFF2-40B4-BE49-F238E27FC236}">
                <a16:creationId xmlns:a16="http://schemas.microsoft.com/office/drawing/2014/main" id="{A2A962FB-A5F3-E1A0-3C38-E04F62173DCB}"/>
              </a:ext>
            </a:extLst>
          </p:cNvPr>
          <p:cNvSpPr txBox="1"/>
          <p:nvPr/>
        </p:nvSpPr>
        <p:spPr>
          <a:xfrm>
            <a:off x="246023" y="1184223"/>
            <a:ext cx="11518513" cy="915500"/>
          </a:xfrm>
          <a:prstGeom prst="rect">
            <a:avLst/>
          </a:prstGeom>
          <a:noFill/>
        </p:spPr>
        <p:txBody>
          <a:bodyPr wrap="square" lIns="0" tIns="0" rIns="0" bIns="0" rtlCol="0">
            <a:noAutofit/>
          </a:bodyPr>
          <a:lstStyle/>
          <a:p>
            <a:pPr algn="ctr">
              <a:lnSpc>
                <a:spcPct val="150000"/>
              </a:lnSpc>
            </a:pPr>
            <a:r>
              <a:rPr lang="en-AU" sz="3200"/>
              <a:t>Billy made a </a:t>
            </a:r>
            <a:r>
              <a:rPr lang="en-AU" sz="3200" b="1"/>
              <a:t>timeline</a:t>
            </a:r>
            <a:r>
              <a:rPr lang="en-AU" sz="3200"/>
              <a:t>. Use the </a:t>
            </a:r>
            <a:r>
              <a:rPr lang="en-AU" sz="3200" b="1"/>
              <a:t>scale</a:t>
            </a:r>
            <a:r>
              <a:rPr lang="en-AU" sz="3200"/>
              <a:t> to </a:t>
            </a:r>
            <a:r>
              <a:rPr lang="en-AU" sz="3200" b="1"/>
              <a:t>determine</a:t>
            </a:r>
            <a:r>
              <a:rPr lang="en-AU" sz="3200"/>
              <a:t> and </a:t>
            </a:r>
            <a:r>
              <a:rPr lang="en-AU" sz="3200" b="1"/>
              <a:t>record </a:t>
            </a:r>
          </a:p>
          <a:p>
            <a:pPr algn="ctr">
              <a:lnSpc>
                <a:spcPct val="150000"/>
              </a:lnSpc>
            </a:pPr>
            <a:r>
              <a:rPr lang="en-AU" sz="3200"/>
              <a:t>the </a:t>
            </a:r>
            <a:r>
              <a:rPr lang="en-AU" sz="3200" b="1"/>
              <a:t>year</a:t>
            </a:r>
            <a:r>
              <a:rPr lang="en-AU" sz="3200"/>
              <a:t> Billy’s baby brother was born.</a:t>
            </a:r>
          </a:p>
        </p:txBody>
      </p:sp>
      <p:pic>
        <p:nvPicPr>
          <p:cNvPr id="4" name="Picture 3" descr="A timeline overlaid with a 10cm ruler. The following are marked on the timeline. Born 23rd September 2014 at 0cm, started daycare at 2 cm, school started at 5cm, baby brother was born at 8cm and moved house at 10cm. Scale recorded as 1cm=1 year.">
            <a:extLst>
              <a:ext uri="{FF2B5EF4-FFF2-40B4-BE49-F238E27FC236}">
                <a16:creationId xmlns:a16="http://schemas.microsoft.com/office/drawing/2014/main" id="{47EA34F3-2FAE-280C-3465-07E042C36F5B}"/>
              </a:ext>
            </a:extLst>
          </p:cNvPr>
          <p:cNvPicPr>
            <a:picLocks noChangeAspect="1"/>
          </p:cNvPicPr>
          <p:nvPr/>
        </p:nvPicPr>
        <p:blipFill>
          <a:blip r:embed="rId4"/>
          <a:srcRect l="9254" t="21680" r="6554" b="20267"/>
          <a:stretch>
            <a:fillRect/>
          </a:stretch>
        </p:blipFill>
        <p:spPr>
          <a:xfrm>
            <a:off x="2019300" y="2624661"/>
            <a:ext cx="8153400" cy="398133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applying strategies</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5" name="TextBox 4">
            <a:extLst>
              <a:ext uri="{FF2B5EF4-FFF2-40B4-BE49-F238E27FC236}">
                <a16:creationId xmlns:a16="http://schemas.microsoft.com/office/drawing/2014/main" id="{4037BB73-96A8-774D-A806-A4EC8A10EDF6}"/>
              </a:ext>
            </a:extLst>
          </p:cNvPr>
          <p:cNvSpPr txBox="1"/>
          <p:nvPr/>
        </p:nvSpPr>
        <p:spPr>
          <a:xfrm>
            <a:off x="3549254" y="2500312"/>
            <a:ext cx="6093618" cy="830997"/>
          </a:xfrm>
          <a:prstGeom prst="rect">
            <a:avLst/>
          </a:prstGeom>
          <a:noFill/>
        </p:spPr>
        <p:txBody>
          <a:bodyPr wrap="square">
            <a:spAutoFit/>
          </a:bodyPr>
          <a:lstStyle/>
          <a:p>
            <a:r>
              <a:rPr lang="en-AU" sz="4800"/>
              <a:t>3985 + 956 = _?</a:t>
            </a:r>
          </a:p>
        </p:txBody>
      </p:sp>
      <p:sp>
        <p:nvSpPr>
          <p:cNvPr id="7" name="Rectangle: Rounded Corners 6">
            <a:extLst>
              <a:ext uri="{FF2B5EF4-FFF2-40B4-BE49-F238E27FC236}">
                <a16:creationId xmlns:a16="http://schemas.microsoft.com/office/drawing/2014/main" id="{FF438F95-9ADD-009D-BDCA-52A5E874D8AA}"/>
              </a:ext>
            </a:extLst>
          </p:cNvPr>
          <p:cNvSpPr/>
          <p:nvPr/>
        </p:nvSpPr>
        <p:spPr>
          <a:xfrm>
            <a:off x="1802606" y="4200526"/>
            <a:ext cx="8586788" cy="1828800"/>
          </a:xfrm>
          <a:prstGeom prst="round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lvl="0" indent="-342900">
              <a:buFont typeface="Arial" panose="020B0604020202020204" pitchFamily="34" charset="0"/>
              <a:buChar char="•"/>
            </a:pPr>
            <a:r>
              <a:rPr lang="en-AU">
                <a:solidFill>
                  <a:srgbClr val="002060"/>
                </a:solidFill>
                <a:latin typeface="Arial" panose="020B0604020202020204" pitchFamily="34" charset="0"/>
                <a:cs typeface="Arial" panose="020B0604020202020204" pitchFamily="34" charset="0"/>
              </a:rPr>
              <a:t>What</a:t>
            </a:r>
            <a:r>
              <a:rPr lang="en-AU" b="1">
                <a:solidFill>
                  <a:srgbClr val="002060"/>
                </a:solidFill>
                <a:latin typeface="Arial" panose="020B0604020202020204" pitchFamily="34" charset="0"/>
                <a:cs typeface="Arial" panose="020B0604020202020204" pitchFamily="34" charset="0"/>
              </a:rPr>
              <a:t> strategy </a:t>
            </a:r>
            <a:r>
              <a:rPr lang="en-AU">
                <a:solidFill>
                  <a:srgbClr val="002060"/>
                </a:solidFill>
                <a:latin typeface="Arial" panose="020B0604020202020204" pitchFamily="34" charset="0"/>
                <a:cs typeface="Arial" panose="020B0604020202020204" pitchFamily="34" charset="0"/>
              </a:rPr>
              <a:t>could you use to solve this problem?</a:t>
            </a:r>
          </a:p>
          <a:p>
            <a:pPr marL="342900" lvl="0" indent="-342900">
              <a:buFont typeface="Arial" panose="020B0604020202020204" pitchFamily="34" charset="0"/>
              <a:buChar char="•"/>
            </a:pPr>
            <a:r>
              <a:rPr lang="en-AU">
                <a:solidFill>
                  <a:srgbClr val="002060"/>
                </a:solidFill>
                <a:latin typeface="Arial" panose="020B0604020202020204" pitchFamily="34" charset="0"/>
                <a:cs typeface="Arial" panose="020B0604020202020204" pitchFamily="34" charset="0"/>
              </a:rPr>
              <a:t>What </a:t>
            </a:r>
            <a:r>
              <a:rPr lang="en-AU" b="1">
                <a:solidFill>
                  <a:srgbClr val="002060"/>
                </a:solidFill>
                <a:latin typeface="Arial" panose="020B0604020202020204" pitchFamily="34" charset="0"/>
                <a:cs typeface="Arial" panose="020B0604020202020204" pitchFamily="34" charset="0"/>
              </a:rPr>
              <a:t>other strategies </a:t>
            </a:r>
            <a:r>
              <a:rPr lang="en-AU">
                <a:solidFill>
                  <a:srgbClr val="002060"/>
                </a:solidFill>
                <a:latin typeface="Arial" panose="020B0604020202020204" pitchFamily="34" charset="0"/>
                <a:cs typeface="Arial" panose="020B0604020202020204" pitchFamily="34" charset="0"/>
              </a:rPr>
              <a:t>could be used to solve this problem?</a:t>
            </a:r>
          </a:p>
          <a:p>
            <a:pPr marL="342900" lvl="0" indent="-342900">
              <a:buFont typeface="Arial" panose="020B0604020202020204" pitchFamily="34" charset="0"/>
              <a:buChar char="•"/>
            </a:pPr>
            <a:r>
              <a:rPr lang="en-AU">
                <a:solidFill>
                  <a:srgbClr val="002060"/>
                </a:solidFill>
                <a:latin typeface="Arial" panose="020B0604020202020204" pitchFamily="34" charset="0"/>
                <a:cs typeface="Arial" panose="020B0604020202020204" pitchFamily="34" charset="0"/>
              </a:rPr>
              <a:t>Which strategy is the </a:t>
            </a:r>
            <a:r>
              <a:rPr lang="en-AU" b="1">
                <a:solidFill>
                  <a:srgbClr val="002060"/>
                </a:solidFill>
                <a:latin typeface="Arial" panose="020B0604020202020204" pitchFamily="34" charset="0"/>
                <a:cs typeface="Arial" panose="020B0604020202020204" pitchFamily="34" charset="0"/>
              </a:rPr>
              <a:t>most efficient</a:t>
            </a:r>
            <a:r>
              <a:rPr lang="en-AU">
                <a:solidFill>
                  <a:srgbClr val="00206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a:cs typeface="Arial"/>
              </a:rPr>
              <a:t>[</a:t>
            </a:r>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4 November 2025) and was not modified.</a:t>
            </a:r>
          </a:p>
          <a:p>
            <a:r>
              <a:rPr lang="en-AU"/>
              <a:t>Education Services Australia Ltd (2016) </a:t>
            </a:r>
            <a:r>
              <a:rPr lang="en-AU" i="1" u="sng">
                <a:hlinkClick r:id="rId9"/>
              </a:rPr>
              <a:t>Time tools</a:t>
            </a:r>
            <a:r>
              <a:rPr lang="en-AU"/>
              <a:t>, Scootle website, accessed 4 August 2023.</a:t>
            </a:r>
          </a:p>
          <a:p>
            <a:r>
              <a:rPr lang="en-AU"/>
              <a:t>Pierce R (2021) </a:t>
            </a:r>
            <a:r>
              <a:rPr lang="en-AU" i="1" u="sng">
                <a:hlinkClick r:id="rId10"/>
              </a:rPr>
              <a:t>Angles</a:t>
            </a:r>
            <a:r>
              <a:rPr lang="en-AU"/>
              <a:t>, Maths is Fun website, accessed 4 August 2023.</a:t>
            </a:r>
          </a:p>
          <a:p>
            <a:r>
              <a:rPr lang="en-AU"/>
              <a:t>McMaster H and Mitchelmore M (2005) ‘The rewards and difficulties of Working Mathematically’ [conference presentation], </a:t>
            </a:r>
            <a:r>
              <a:rPr lang="en-AU" i="1"/>
              <a:t>AAMT Conference Proceedings</a:t>
            </a:r>
            <a:r>
              <a:rPr lang="en-AU"/>
              <a:t>, Sydney.</a:t>
            </a:r>
          </a:p>
          <a:p>
            <a:r>
              <a:rPr lang="en-AU"/>
              <a:t>University of Cambridge (n.d.) </a:t>
            </a:r>
            <a:r>
              <a:rPr lang="en-AU" i="1" u="sng">
                <a:hlinkClick r:id="rId11"/>
              </a:rPr>
              <a:t>5 on the Clock</a:t>
            </a:r>
            <a:r>
              <a:rPr lang="en-AU"/>
              <a:t>, NRICH website, accessed 3 August 2023.</a:t>
            </a:r>
          </a:p>
          <a:p>
            <a:r>
              <a:rPr lang="en-AU"/>
              <a:t>University of Cambridge (n.d.) </a:t>
            </a:r>
            <a:r>
              <a:rPr lang="en-AU" i="1" u="sng">
                <a:hlinkClick r:id="rId12"/>
              </a:rPr>
              <a:t>Dicey Operations in Line</a:t>
            </a:r>
            <a:r>
              <a:rPr lang="en-AU"/>
              <a:t>, NRICH website, accessed 3 August 2023.</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555570-2BD4-426B-AA32-0A79CB6508A8}">
  <ds:schemaRefs>
    <ds:schemaRef ds:uri="7e763d47-3c66-4c58-9425-1477fd3ccd1e"/>
    <ds:schemaRef ds:uri="http://purl.org/dc/dcmitype/"/>
    <ds:schemaRef ds:uri="http://www.w3.org/XML/1998/namespace"/>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60129b06-f64b-40a8-96e2-c5b2f86112b1"/>
    <ds:schemaRef ds:uri="http://purl.org/dc/terms/"/>
  </ds:schemaRefs>
</ds:datastoreItem>
</file>

<file path=customXml/itemProps2.xml><?xml version="1.0" encoding="utf-8"?>
<ds:datastoreItem xmlns:ds="http://schemas.openxmlformats.org/officeDocument/2006/customXml" ds:itemID="{B095F83F-4A02-4F3D-9E3F-0FC574DB13DB}"/>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10</TotalTime>
  <Words>5928</Words>
  <Application>Microsoft Office PowerPoint</Application>
  <PresentationFormat>Widescreen</PresentationFormat>
  <Paragraphs>814</Paragraphs>
  <Slides>68</Slides>
  <Notes>68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68</vt:i4>
      </vt:variant>
    </vt:vector>
  </HeadingPairs>
  <TitlesOfParts>
    <vt:vector size="78" baseType="lpstr">
      <vt:lpstr>Montserrat</vt:lpstr>
      <vt:lpstr>Public Sans</vt:lpstr>
      <vt:lpstr>Arial</vt:lpstr>
      <vt:lpstr>Times New Roman</vt:lpstr>
      <vt:lpstr>Calibri</vt:lpstr>
      <vt:lpstr>Cambria Math</vt:lpstr>
      <vt:lpstr>Public Sans Light</vt:lpstr>
      <vt:lpstr>Symbol</vt:lpstr>
      <vt:lpstr>Wingdings</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comparing unit fractions to benchmark fractions</vt:lpstr>
      <vt:lpstr>Review of learning 2</vt:lpstr>
      <vt:lpstr>True or false (1)</vt:lpstr>
      <vt:lpstr>Short response (5)</vt:lpstr>
      <vt:lpstr>Short response (6)</vt:lpstr>
      <vt:lpstr>Short response (7)</vt:lpstr>
      <vt:lpstr>Short response (8)</vt:lpstr>
      <vt:lpstr>Activity 2 – ordering unit fractions 1</vt:lpstr>
      <vt:lpstr>Review of learning 3</vt:lpstr>
      <vt:lpstr>Multiple choice (2)</vt:lpstr>
      <vt:lpstr>Short response (9)</vt:lpstr>
      <vt:lpstr>Short response (10)</vt:lpstr>
      <vt:lpstr>Short response (11)</vt:lpstr>
      <vt:lpstr>Short response (12)</vt:lpstr>
      <vt:lpstr>Activity 3 – ordering unit fractions 2</vt:lpstr>
      <vt:lpstr>Review of learning 4</vt:lpstr>
      <vt:lpstr>True or false (2)</vt:lpstr>
      <vt:lpstr>Short response (13)</vt:lpstr>
      <vt:lpstr>Short response (14)</vt:lpstr>
      <vt:lpstr>Short response (15)</vt:lpstr>
      <vt:lpstr>Short response (16)</vt:lpstr>
      <vt:lpstr>Activity 4 – fraction number line</vt:lpstr>
      <vt:lpstr>Review of learning 5</vt:lpstr>
      <vt:lpstr>Multiple choice (3)</vt:lpstr>
      <vt:lpstr>Short response (17)</vt:lpstr>
      <vt:lpstr>Short response (18)</vt:lpstr>
      <vt:lpstr>Short response (19)</vt:lpstr>
      <vt:lpstr>Short response (20)</vt:lpstr>
      <vt:lpstr>Activity 5 – closest to zero </vt:lpstr>
      <vt:lpstr>Review of learning 6</vt:lpstr>
      <vt:lpstr>True or false (3)</vt:lpstr>
      <vt:lpstr>Short response (21)</vt:lpstr>
      <vt:lpstr>Short response (22)</vt:lpstr>
      <vt:lpstr>Short response (23)</vt:lpstr>
      <vt:lpstr>Short response (24)</vt:lpstr>
      <vt:lpstr>Activity 6 – Hit the target number </vt:lpstr>
      <vt:lpstr>Review of learning 7</vt:lpstr>
      <vt:lpstr>Multiple choice (4)</vt:lpstr>
      <vt:lpstr>Short response (25)</vt:lpstr>
      <vt:lpstr>Short response (26)</vt:lpstr>
      <vt:lpstr>Short response (27)</vt:lpstr>
      <vt:lpstr>Short response (28)</vt:lpstr>
      <vt:lpstr>Activity 7 – multistep problems</vt:lpstr>
      <vt:lpstr>Review of learning 8</vt:lpstr>
      <vt:lpstr>True or false (4)</vt:lpstr>
      <vt:lpstr>Short response (29)</vt:lpstr>
      <vt:lpstr>Short response (30)</vt:lpstr>
      <vt:lpstr>Short response (31)</vt:lpstr>
      <vt:lpstr>Short response (32)</vt:lpstr>
      <vt:lpstr>Activity 8 – applying strategies</vt:lpstr>
      <vt:lpstr>Double Venn diagram</vt:lpstr>
      <vt:lpstr>Frayer</vt:lpstr>
      <vt:lpstr>Spider map</vt:lpstr>
      <vt:lpstr>Cline</vt:lpstr>
      <vt:lpstr>Compare and contrast</vt:lpstr>
      <vt:lpstr>Multiple choice (5)</vt:lpstr>
      <vt:lpstr>Multiple choice</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2026-04-01T22:06:51Z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