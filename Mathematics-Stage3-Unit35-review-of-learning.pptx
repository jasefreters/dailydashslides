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7"/>
  </p:notesMasterIdLst>
  <p:handoutMasterIdLst>
    <p:handoutMasterId r:id="rId78"/>
  </p:handoutMasterIdLst>
  <p:sldIdLst>
    <p:sldId id="365" r:id="rId5"/>
    <p:sldId id="26579" r:id="rId6"/>
    <p:sldId id="26359" r:id="rId7"/>
    <p:sldId id="271" r:id="rId8"/>
    <p:sldId id="26646" r:id="rId9"/>
    <p:sldId id="26582" r:id="rId10"/>
    <p:sldId id="358" r:id="rId11"/>
    <p:sldId id="26581" r:id="rId12"/>
    <p:sldId id="26626" r:id="rId13"/>
    <p:sldId id="26653" r:id="rId14"/>
    <p:sldId id="26583" r:id="rId15"/>
    <p:sldId id="26586" r:id="rId16"/>
    <p:sldId id="26588" r:id="rId17"/>
    <p:sldId id="26587" r:id="rId18"/>
    <p:sldId id="26590" r:id="rId19"/>
    <p:sldId id="26589" r:id="rId20"/>
    <p:sldId id="26654" r:id="rId21"/>
    <p:sldId id="26592" r:id="rId22"/>
    <p:sldId id="26594" r:id="rId23"/>
    <p:sldId id="26599" r:id="rId24"/>
    <p:sldId id="26597" r:id="rId25"/>
    <p:sldId id="26598" r:id="rId26"/>
    <p:sldId id="26596" r:id="rId27"/>
    <p:sldId id="26650" r:id="rId28"/>
    <p:sldId id="26600" r:id="rId29"/>
    <p:sldId id="26601" r:id="rId30"/>
    <p:sldId id="26604" r:id="rId31"/>
    <p:sldId id="26605" r:id="rId32"/>
    <p:sldId id="26606" r:id="rId33"/>
    <p:sldId id="26607" r:id="rId34"/>
    <p:sldId id="26608" r:id="rId35"/>
    <p:sldId id="26609" r:id="rId36"/>
    <p:sldId id="26610" r:id="rId37"/>
    <p:sldId id="26611" r:id="rId38"/>
    <p:sldId id="26614" r:id="rId39"/>
    <p:sldId id="26615" r:id="rId40"/>
    <p:sldId id="26616" r:id="rId41"/>
    <p:sldId id="26617" r:id="rId42"/>
    <p:sldId id="26618" r:id="rId43"/>
    <p:sldId id="26619" r:id="rId44"/>
    <p:sldId id="26622" r:id="rId45"/>
    <p:sldId id="26624" r:id="rId46"/>
    <p:sldId id="26623" r:id="rId47"/>
    <p:sldId id="26625" r:id="rId48"/>
    <p:sldId id="26580" r:id="rId49"/>
    <p:sldId id="26627" r:id="rId50"/>
    <p:sldId id="26628" r:id="rId51"/>
    <p:sldId id="26648" r:id="rId52"/>
    <p:sldId id="26632" r:id="rId53"/>
    <p:sldId id="26633" r:id="rId54"/>
    <p:sldId id="26634" r:id="rId55"/>
    <p:sldId id="26635" r:id="rId56"/>
    <p:sldId id="26636" r:id="rId57"/>
    <p:sldId id="26651" r:id="rId58"/>
    <p:sldId id="26637" r:id="rId59"/>
    <p:sldId id="26640" r:id="rId60"/>
    <p:sldId id="26641" r:id="rId61"/>
    <p:sldId id="26642" r:id="rId62"/>
    <p:sldId id="26643" r:id="rId63"/>
    <p:sldId id="26644" r:id="rId64"/>
    <p:sldId id="26645" r:id="rId65"/>
    <p:sldId id="26393" r:id="rId66"/>
    <p:sldId id="26387" r:id="rId67"/>
    <p:sldId id="26395" r:id="rId68"/>
    <p:sldId id="26391" r:id="rId69"/>
    <p:sldId id="26402" r:id="rId70"/>
    <p:sldId id="26507" r:id="rId71"/>
    <p:sldId id="26649" r:id="rId72"/>
    <p:sldId id="26652" r:id="rId73"/>
    <p:sldId id="26479" r:id="rId74"/>
    <p:sldId id="26567" r:id="rId75"/>
    <p:sldId id="361" r:id="rId76"/>
  </p:sldIdLst>
  <p:sldSz cx="12192000" cy="6858000"/>
  <p:notesSz cx="6858000" cy="9144000"/>
  <p:embeddedFontLs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26582"/>
            <p14:sldId id="358"/>
            <p14:sldId id="26581"/>
            <p14:sldId id="26626"/>
            <p14:sldId id="26653"/>
          </p14:sldIdLst>
        </p14:section>
        <p14:section name="Review of learning 2" id="{0AC6BBCB-7E49-46CE-B777-EFCDD4B60F91}">
          <p14:sldIdLst>
            <p14:sldId id="26583"/>
            <p14:sldId id="26586"/>
            <p14:sldId id="26588"/>
            <p14:sldId id="26587"/>
            <p14:sldId id="26590"/>
            <p14:sldId id="26589"/>
            <p14:sldId id="26654"/>
          </p14:sldIdLst>
        </p14:section>
        <p14:section name="Review of learning 3" id="{6F5E1C19-5255-4FF7-A3CD-4549F7EF69B2}">
          <p14:sldIdLst>
            <p14:sldId id="26592"/>
            <p14:sldId id="26594"/>
            <p14:sldId id="26599"/>
            <p14:sldId id="26597"/>
            <p14:sldId id="26598"/>
            <p14:sldId id="26596"/>
            <p14:sldId id="26650"/>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4"/>
            <p14:sldId id="26623"/>
            <p14:sldId id="26625"/>
            <p14:sldId id="26580"/>
            <p14:sldId id="26627"/>
          </p14:sldIdLst>
        </p14:section>
        <p14:section name="Review of learning 7" id="{CF63834E-0BE9-495B-9761-037C836F185E}">
          <p14:sldIdLst>
            <p14:sldId id="26628"/>
            <p14:sldId id="26648"/>
            <p14:sldId id="26632"/>
            <p14:sldId id="26633"/>
            <p14:sldId id="26634"/>
            <p14:sldId id="26635"/>
            <p14:sldId id="26636"/>
            <p14:sldId id="26651"/>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26652"/>
            <p14:sldId id="26479"/>
            <p14:sldId id="26567"/>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6620E8C6-7E4F-1318-D9B4-C749088EC486}" name="Daniella Brunetta" initials="DB" userId="S::Daniella.Brunetta@det.nsw.edu.au::4e084810-29e2-4b0b-806a-947d4f6d8f39"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627BE5-586A-4BA3-BB3F-952DAC3AFCFD}" v="1250" dt="2026-06-18T04:11:32.575"/>
    <p1510:client id="{681855EA-C0B0-47B5-BAFF-61E256BC56C9}" v="14" dt="2026-06-18T05:22:37.053"/>
    <p1510:client id="{85722CC3-36B1-4FC6-8832-6E6788F7EA46}" v="5" dt="2026-06-19T00:15:10.79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467" autoAdjust="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35</a:t>
            </a:r>
          </a:p>
          <a:p>
            <a:pPr marL="285750" indent="-285750">
              <a:buFont typeface="Arial" panose="020B0604020202020204" pitchFamily="34" charset="0"/>
              <a:buChar char="•"/>
            </a:pPr>
            <a:r>
              <a:rPr lang="en-AU"/>
              <a:t>Stage 3 Year B Unit 34</a:t>
            </a:r>
          </a:p>
          <a:p>
            <a:pPr marL="285750" indent="-285750">
              <a:buFont typeface="Arial" panose="020B0604020202020204" pitchFamily="34" charset="0"/>
              <a:buChar char="•"/>
            </a:pPr>
            <a:r>
              <a:rPr lang="en-AU"/>
              <a:t>Stage 3 Year B Unit 33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Chance B</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73C01-EC9B-4AE5-F7EF-E4EBAA739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42B73-B643-4B16-B809-2651DE384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EE2F7-0048-F123-06DD-9AC4CD47FCF9}"/>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Addition and subtraction with decimals</a:t>
            </a:r>
          </a:p>
          <a:p>
            <a:r>
              <a:rPr lang="en-AU" b="0"/>
              <a:t>This resource corresponds to Resource 19 – shopping receipt in Stage 3 Year B Unit 35. </a:t>
            </a:r>
            <a:endParaRPr lang="en-AU" b="1"/>
          </a:p>
          <a:p>
            <a:pPr marL="342900" indent="-342900">
              <a:buFont typeface="+mj-lt"/>
              <a:buAutoNum type="arabicPeriod"/>
            </a:pPr>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how to read the figures on the receipt.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aloud one true or false statement at a time: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total cost of the shopping trip is $39.80 before the loyalty discount. (False: $39.20.)</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total mass of the top 2 items on the receipt is 1.228 kg. (False: 1.22 kg.)</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total mass of the broccoli, Brussels sprouts, grapes and peas is 2.522 kg. (True.)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If you ate 0.550 kg of the grapes on your way home, only 0.885 kgs is left for your family. (False: 0.624 kg.)</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You were over-charged on the 3 special items if you paid $4.98. (False: $3.48.)</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You paid using a $50 note and received $11.20 change. (False: $10.80.)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solve the true or false statements using the information on the receipt.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select students to share their answers.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the efficiency and accuracy of the various strategies used by students.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ADB1D975-B92E-BC40-6EBC-11CB8664F964}"/>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992249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t>Additive relations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5064-22C4-4000-6952-D11FE937C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55184-857F-0840-A312-20B49FE12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052D3-87DD-52B2-1C2E-42F3ADC7D30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Addition and subtraction word problems</a:t>
            </a:r>
          </a:p>
          <a:p>
            <a:r>
              <a:rPr lang="en-AU" b="0"/>
              <a:t>This resource corresponds to Resource 20 – nutrition in fruit in Stage 3 Year B Unit 35. </a:t>
            </a:r>
          </a:p>
          <a:p>
            <a:endParaRPr lang="en-AU" b="1"/>
          </a:p>
          <a:p>
            <a:pPr marL="285750" lvl="0" indent="-285750">
              <a:buFont typeface="Arial" panose="020B0604020202020204" pitchFamily="34" charset="0"/>
              <a:buChar char="•"/>
            </a:pPr>
            <a:r>
              <a:rPr lang="en-US" sz="1600" kern="1200">
                <a:solidFill>
                  <a:schemeClr val="tx1"/>
                </a:solidFill>
                <a:effectLst/>
                <a:latin typeface="Arial" panose="020B0604020202020204" pitchFamily="34" charset="0"/>
                <a:ea typeface="+mn-ea"/>
                <a:cs typeface="Arial" panose="020B0604020202020204" pitchFamily="34" charset="0"/>
              </a:rPr>
              <a:t>Discuss and list the strategies students use when reading and solving word problems.</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scenario: You and a friend made a berry smoothie to share, using 100 grams of each berry. Can you calculate the total carbohydrates and protein each person consumed from the berries after drinking the smoothie?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Guide students in reading and recording a number sentence to solve the word problem.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small groups, students create 2 addition and/or subtraction word problems using </a:t>
            </a:r>
            <a:r>
              <a:rPr lang="en-AU" b="0"/>
              <a:t>Resource 20 – nutrition in fruit. </a:t>
            </a:r>
            <a:r>
              <a:rPr lang="en-AU" sz="1600" kern="1200">
                <a:solidFill>
                  <a:schemeClr val="tx1"/>
                </a:solidFill>
                <a:effectLst/>
                <a:latin typeface="Arial" panose="020B0604020202020204" pitchFamily="34" charset="0"/>
                <a:ea typeface="+mn-ea"/>
                <a:cs typeface="Arial" panose="020B0604020202020204" pitchFamily="34" charset="0"/>
              </a:rPr>
              <a:t>For example, On Thursday, Mina ate an orange for breakfast and had a peach and figs for afternoon tea. How much protein did Mina eat?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complete, groups swap problems and solve them.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consider the most efficient and fluent additive strategies for the problems presented.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s</a:t>
            </a:r>
            <a:r>
              <a:rPr lang="en-US" sz="1600" kern="1200">
                <a:solidFill>
                  <a:schemeClr val="tx1"/>
                </a:solidFill>
                <a:effectLst/>
                <a:latin typeface="Arial" panose="020B0604020202020204" pitchFamily="34" charset="0"/>
                <a:ea typeface="+mn-ea"/>
                <a:cs typeface="Arial" panose="020B0604020202020204" pitchFamily="34" charset="0"/>
              </a:rPr>
              <a:t>elect students to share strategies used to solve the word problems.</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BDB63360-CC79-FB81-566A-5F94F057AB5A}"/>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787142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t>Additive relations B</a:t>
            </a:r>
          </a:p>
          <a:p>
            <a:pPr>
              <a:defRPr/>
            </a:pP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3F5FD-9B7E-7C38-511C-657C0DC66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1BD46-8C70-2F76-6DE5-F34FD5362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20165-1AFA-2AF3-CAB1-D1476A8FF291}"/>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Addition and subtraction using representations 1</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‘Work samples (Additive relations)’ by the NSW Education Standards Authority (NESA).</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explain why Sam’s solution is incorrect? How do you know?</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error or misconception has Sam made? (Sam has considered 1.5 as a whole unit after the decimal point. He has solved the question as follows 3.25 − 0.15).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Guide students in solving the problem. Record the solution on the board.</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scenarios: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Jeremy got the answer 2.20. What error or misconception has he made? (Jeremy has not considered the correct place value for 1.5 and the role of zero. He solved the problem as follows 3.25 − 1.05).</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Charlotte got the answer 2.35. What error or misconception has she made? (Charlotte has not considered the correct place value for 1.5. She solved the problem as follows 3.25 − 1 and then added 0.10).</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might the subtraction question have been if the correct answer was 2.10?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 misconceptions present in each scenario.</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use a visual representation to show the relationship between the numbers 3.25 and 1.5 (see Figure 5 – visual representations in Stage 3 Year B Unit 35).</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C15121E5-676D-AAFE-D3AA-769A1E2AF9C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40060790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Addition and subtraction using representations 1</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‘Work samples (Additive relations)’ by the NSW Education Standards Authority (NESA).</a:t>
            </a:r>
          </a:p>
          <a:p>
            <a:endParaRPr lang="en-AU" b="1"/>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might the subtraction question have been if the correct answer was 2.10?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 misconceptions present in each scenario.</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use a visual representation to show the relationship between the numbers 3.25 and 1.5 1.5 (see Figure 5 – visual representations in Stage 3 Year B Unit 35).</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Addition and subtraction using representations 2</a:t>
            </a:r>
          </a:p>
          <a:p>
            <a:r>
              <a:rPr lang="en-AU" b="0"/>
              <a:t>This resource corresponds to Resource 21 – adding and subtracting decimals in Stage 3 Year B Unit 35.</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Using</a:t>
            </a:r>
            <a:r>
              <a:rPr lang="en-AU" sz="1600" u="none" kern="1200">
                <a:solidFill>
                  <a:schemeClr val="tx1"/>
                </a:solidFill>
                <a:effectLst/>
                <a:latin typeface="Arial" panose="020B0604020202020204" pitchFamily="34" charset="0"/>
                <a:ea typeface="+mn-ea"/>
                <a:cs typeface="Arial" panose="020B0604020202020204" pitchFamily="34" charset="0"/>
              </a:rPr>
              <a:t> Resource 21 – adding and subtracting decimals</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u="none" kern="1200">
                <a:solidFill>
                  <a:schemeClr val="tx1"/>
                </a:solidFill>
                <a:effectLst/>
                <a:latin typeface="Arial" panose="020B0604020202020204" pitchFamily="34" charset="0"/>
                <a:ea typeface="+mn-ea"/>
                <a:cs typeface="Arial" panose="020B0604020202020204" pitchFamily="34" charset="0"/>
              </a:rPr>
              <a:t>demonstrate how to solve the addition number sentence. </a:t>
            </a:r>
          </a:p>
          <a:p>
            <a:pPr marL="285750" lvl="0" indent="-285750">
              <a:buFont typeface="Arial" panose="020B0604020202020204" pitchFamily="34" charset="0"/>
              <a:buChar char="•"/>
            </a:pPr>
            <a:r>
              <a:rPr lang="en-AU" sz="1600" u="none" kern="1200">
                <a:solidFill>
                  <a:schemeClr val="tx1"/>
                </a:solidFill>
                <a:effectLst/>
                <a:latin typeface="Arial" panose="020B0604020202020204" pitchFamily="34" charset="0"/>
                <a:ea typeface="+mn-ea"/>
                <a:cs typeface="Arial" panose="020B0604020202020204" pitchFamily="34" charset="0"/>
              </a:rPr>
              <a:t>Explain </a:t>
            </a:r>
            <a:r>
              <a:rPr lang="en-AU" sz="1600" kern="1200">
                <a:solidFill>
                  <a:schemeClr val="tx1"/>
                </a:solidFill>
                <a:effectLst/>
                <a:latin typeface="Arial" panose="020B0604020202020204" pitchFamily="34" charset="0"/>
                <a:ea typeface="+mn-ea"/>
                <a:cs typeface="Arial" panose="020B0604020202020204" pitchFamily="34" charset="0"/>
              </a:rPr>
              <a:t>that each small square on the hundreds grid represents 0.01 (one hundredth), so shading 31 squares represents 0.31.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many squares will I need to shade to represent adding 0.34?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shading and counting the total shaded squares together to find the sum.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use the hundreds grid to solve the subtraction number sentence, demonstrating how adding and removing shading illustrates the subtraction process.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Organise students into pairs and provide each student with </a:t>
            </a:r>
            <a:r>
              <a:rPr lang="en-AU" sz="1600" u="none" kern="1200">
                <a:solidFill>
                  <a:schemeClr val="tx1"/>
                </a:solidFill>
                <a:effectLst/>
                <a:latin typeface="Arial" panose="020B0604020202020204" pitchFamily="34" charset="0"/>
                <a:ea typeface="+mn-ea"/>
                <a:cs typeface="Arial" panose="020B0604020202020204" pitchFamily="34" charset="0"/>
              </a:rPr>
              <a:t>Resource 21 – adding and subtracting decimals.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one addition and one subtraction number sentence using numbers with up to 3 decimal places. They then swap with their partner and solve each other’s number sentences, representing the solutions using the hundreds grid.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pairs to share one of their modelled problems with the class, explaining how using the hundreds grid helped them understand the addition or subtraction of decimals. </a:t>
            </a:r>
            <a:endParaRPr lang="en-AU" b="0"/>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Represents numbers B</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Inverse operations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would you solve this problem?</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would you check your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and display the strategies students would use to solve and check solutions to mathematical problems.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highlight that the problem requires multiplying 34 and 12 and the answer is 408. 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is the inverse operation to multiplication?</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this problem be changed so that division instead of multiplication is required to solve it?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pairs of students to use the 408 books to create a division problem, reminding them that if 34 times 12 is 408, using the inverse operation can help to create this new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new problem with the class. Answers might include: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Jason arranged 408 books on 34 shelves. How many books were on each shelf?</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Jason arranged 408 books so that each shelf contained 12 books. How many shelves were there?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Jason arranged 408 books on some shelves. What other combinations of books and shelves can you make? Use a pattern to explore as many combinations as possible. For example, one shelf with 408 books, 2 shelves with 204 books, 3 shelves with ... and so on.</a:t>
            </a:r>
          </a:p>
          <a:p>
            <a:endParaRPr lang="en-AU" b="1"/>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Number sentences with missing numbers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strategy can be used to solve the problem?</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operation would you use to help solve this problem? What is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Allow students time to think-pair-share. Discuss how division can be used to solve the problem.</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mental strategy for division that uses the inverse relationship is ‘think of multiplication’ or ‘what do I multiply by?’. In this example, students could estimate by multiplying 8 by 20, then adjust to 8 by 19 (Siemon et al. 2021).</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create a word problem to match the rectangle displayed. For example, the rectangular playground had an area of 152 m</a:t>
            </a:r>
            <a:r>
              <a:rPr lang="en-AU" sz="1600" kern="1200" baseline="30000">
                <a:solidFill>
                  <a:schemeClr val="tx1"/>
                </a:solidFill>
                <a:effectLst/>
                <a:latin typeface="Arial" panose="020B0604020202020204" pitchFamily="34" charset="0"/>
                <a:ea typeface="+mn-ea"/>
                <a:cs typeface="Arial" panose="020B0604020202020204" pitchFamily="34" charset="0"/>
              </a:rPr>
              <a:t>2</a:t>
            </a:r>
            <a:r>
              <a:rPr lang="en-AU" sz="1600" kern="1200">
                <a:solidFill>
                  <a:schemeClr val="tx1"/>
                </a:solidFill>
                <a:effectLst/>
                <a:latin typeface="Arial" panose="020B0604020202020204" pitchFamily="34" charset="0"/>
                <a:ea typeface="+mn-ea"/>
                <a:cs typeface="Arial" panose="020B0604020202020204" pitchFamily="34" charset="0"/>
              </a:rPr>
              <a:t> and one side was 8 m long. How long was the other side?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create a word problem to match the rectangle displayed on the board Students write another problem with the same playground area context where multiplication and division are required.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Calculating missing numbers using inverse operations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can we calculate the missing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solve the number sentence. Select students to share their solutions and the strategies they used.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how inverse operations can help solve number sentences with missing numbers. For example, division being the inverse of multiplication.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sentence 4 x _ = 30 – 10. Ask: When solving number sentences, what role does the equal sign play in balancing the equation?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whenever there is an equal sign, we need to make sure that the value of the expressions on each side are the same.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solve the number sentence using inverse operations, ensuring the values on each side of the equal sign are the same.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their own number sentences with a missing number, swap with a partner and solve each other's sentences using inverse operations.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discuss: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did using the inverse operation help you find the missing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happens if the values on each side of the equal sign are not the same?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explain why the equal sign means “the same as”?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you check your answer to make sure the number sentence is correct?</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CD96-DD87-6CB7-C310-20AFD6013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9A7DC-DB80-8F89-4E6F-A585C09CD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80AF9-FA2E-5D9F-5E00-62D1EBB6C9E0}"/>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Calculating missing numbers using inverse operations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When solving number sentences, what role does the equal sign play in balancing the equation?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that whenever there is an equal sign, we need to make sure that the value of the expressions on each side are the same.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solve the number sentence using inverse operations, ensuring the values on each side of the equal sign are the same.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their own number sentences with a missing number, swap with a partner and solve each other's sentences using inverse operations.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discuss: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did using the inverse operation help you find the missing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happens if the values on each side of the equal sign are not the same?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explain why the equal sign means “the same as”?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can you check your answer to make sure the number sentence is correct?</a:t>
            </a: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74A8B0CB-5038-4C97-DD3E-1AAFDAC1FA6E}"/>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6618697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Equivalent number sentences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‘Multiply and Divide Within A Hundred 1’ by Kaplinsky</a:t>
            </a:r>
            <a:r>
              <a:rPr lang="en-US" sz="1600" kern="1200">
                <a:solidFill>
                  <a:schemeClr val="tx1"/>
                </a:solidFill>
                <a:effectLst/>
                <a:latin typeface="Arial" panose="020B0604020202020204" pitchFamily="34" charset="0"/>
                <a:ea typeface="+mn-ea"/>
                <a:cs typeface="Arial" panose="020B0604020202020204" pitchFamily="34" charset="0"/>
              </a:rPr>
              <a:t> from the </a:t>
            </a:r>
            <a:r>
              <a:rPr lang="en-AU" sz="1600" kern="1200">
                <a:solidFill>
                  <a:schemeClr val="tx1"/>
                </a:solidFill>
                <a:effectLst/>
                <a:latin typeface="Arial" panose="020B0604020202020204" pitchFamily="34" charset="0"/>
                <a:ea typeface="+mn-ea"/>
                <a:cs typeface="Arial" panose="020B0604020202020204" pitchFamily="34" charset="0"/>
              </a:rPr>
              <a:t>Open Middle</a:t>
            </a:r>
            <a:r>
              <a:rPr lang="en-US" sz="1600" kern="1200">
                <a:solidFill>
                  <a:schemeClr val="tx1"/>
                </a:solidFill>
                <a:effectLst/>
                <a:latin typeface="Arial" panose="020B0604020202020204" pitchFamily="34" charset="0"/>
                <a:ea typeface="+mn-ea"/>
                <a:cs typeface="Arial" panose="020B0604020202020204" pitchFamily="34" charset="0"/>
              </a:rPr>
              <a:t> website</a:t>
            </a:r>
            <a:r>
              <a:rPr lang="en-AU" sz="1600" kern="1200">
                <a:solidFill>
                  <a:schemeClr val="tx1"/>
                </a:solidFill>
                <a:effectLst/>
                <a:latin typeface="Arial" panose="020B0604020202020204" pitchFamily="34" charset="0"/>
                <a:ea typeface="+mn-ea"/>
                <a:cs typeface="Arial" panose="020B0604020202020204" pitchFamily="34" charset="0"/>
              </a:rPr>
              <a:t>.</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how to use equivalent number sentences to find unknown quantities.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a digit from 2 to 9, placing a digit in each box to make an equation. For example, 3 × 6 = 72 ÷ 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how using division, the inverse of multiplication, assists in calculating the missing numbers.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place a digit from 2 to 9 (only once each) in each box to make an equation.</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task can be made easier by allowing students to use digits more than once.</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As a class, share and compare solutions. Ask students to identify the strategies they used and justify their choices.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8.xml"/><Relationship Id="rId10" Type="http://schemas.openxmlformats.org/officeDocument/2006/relationships/slide" Target="slide55.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3.sv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5" Type="http://schemas.openxmlformats.org/officeDocument/2006/relationships/image" Target="../media/image29.svg"/><Relationship Id="rId4" Type="http://schemas.openxmlformats.org/officeDocument/2006/relationships/slide" Target="slide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bom.gov.au/climate/maps/averages/rainfall/"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10" Type="http://schemas.openxmlformats.org/officeDocument/2006/relationships/hyperlink" Target="https://www.openmiddle.com/multiply-and-divide-within-a-hundred-1/" TargetMode="External"/><Relationship Id="rId4" Type="http://schemas.openxmlformats.org/officeDocument/2006/relationships/hyperlink" Target="https://curriculum.nsw.edu.au/" TargetMode="External"/><Relationship Id="rId9" Type="http://schemas.openxmlformats.org/officeDocument/2006/relationships/hyperlink" Target="https://www.stem.org.uk/resources/elibrary/resource/34867/decimals"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resources.education.nsw.gov.au/detail/NPV-45"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s://www.statista.com/chart/30634/match-attendance-at-fifa-womens-world-cups/"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teaching-and-learning#:~:text=Mathematics%20Stage%203%3A%20Activity%202%20%E2%80%93%20Work%20samples%20(Additive%20relations)" TargetMode="External"/><Relationship Id="rId5" Type="http://schemas.openxmlformats.org/officeDocument/2006/relationships/hyperlink" Target="https://www.peterliljedahl.com/teachers/numeracy-tasks#:~:text=The%20Class%20Pet-,Celebrity%20Travel%20Planning,-The%20Paper%20Route" TargetMode="External"/><Relationship Id="rId4" Type="http://schemas.openxmlformats.org/officeDocument/2006/relationships/hyperlink" Target="https://curriculum.nsw.edu.au/" TargetMode="External"/><Relationship Id="rId9" Type="http://schemas.openxmlformats.org/officeDocument/2006/relationships/hyperlink" Target="https://app.education.nsw.gov.au/sport/Events/ViewResults?EventId=14405"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7" Type="http://schemas.openxmlformats.org/officeDocument/2006/relationships/hyperlink" Target="https://nrich.maths.org/shoppingbasket"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nrich.maths.org/1249" TargetMode="External"/><Relationship Id="rId5" Type="http://schemas.openxmlformats.org/officeDocument/2006/relationships/hyperlink" Target="https://nutritionaustralia.org/app/uploads/2022/03/Australian-Dietary-Guidelines-Standard-serves.pdf" TargetMode="External"/><Relationship Id="rId4" Type="http://schemas.openxmlformats.org/officeDocument/2006/relationships/hyperlink" Target="https://curriculum.nsw.edu.au/"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3 Year B Unit 35 and revisits content from earlier sample units.</a:t>
            </a: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35</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991989"/>
            <a:ext cx="11243037" cy="754243"/>
          </a:xfrm>
        </p:spPr>
        <p:txBody>
          <a:bodyPr/>
          <a:lstStyle/>
          <a:p>
            <a:pPr algn="ctr"/>
            <a:r>
              <a:rPr lang="en-US" sz="5400" b="1" dirty="0">
                <a:solidFill>
                  <a:srgbClr val="146CFD"/>
                </a:solidFill>
              </a:rPr>
              <a:t>2.09</a:t>
            </a:r>
            <a:r>
              <a:rPr lang="en-US" sz="5400" dirty="0">
                <a:solidFill>
                  <a:srgbClr val="146CFD"/>
                </a:solidFill>
              </a:rPr>
              <a:t> + </a:t>
            </a:r>
            <a:r>
              <a:rPr lang="en-US" sz="5400" b="1" dirty="0">
                <a:solidFill>
                  <a:srgbClr val="146CFD"/>
                </a:solidFill>
              </a:rPr>
              <a:t>2.45</a:t>
            </a:r>
            <a:endParaRPr lang="en-US" sz="5400" dirty="0">
              <a:solidFill>
                <a:srgbClr val="146CFD"/>
              </a:solidFill>
            </a:endParaRPr>
          </a:p>
        </p:txBody>
      </p:sp>
      <p:sp>
        <p:nvSpPr>
          <p:cNvPr id="9" name="B">
            <a:extLst>
              <a:ext uri="{FF2B5EF4-FFF2-40B4-BE49-F238E27FC236}">
                <a16:creationId xmlns:a16="http://schemas.microsoft.com/office/drawing/2014/main" id="{2579E796-78E6-099B-1516-BE205CC4FACD}"/>
              </a:ext>
            </a:extLst>
          </p:cNvPr>
          <p:cNvSpPr txBox="1"/>
          <p:nvPr/>
        </p:nvSpPr>
        <p:spPr>
          <a:xfrm>
            <a:off x="670557" y="21562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2132705"/>
            <a:ext cx="10175920" cy="641396"/>
          </a:xfrm>
        </p:spPr>
        <p:txBody>
          <a:bodyPr anchor="ctr"/>
          <a:lstStyle/>
          <a:p>
            <a:r>
              <a:rPr lang="en-US" sz="3600" dirty="0"/>
              <a:t>4.45</a:t>
            </a:r>
          </a:p>
        </p:txBody>
      </p:sp>
      <p:sp>
        <p:nvSpPr>
          <p:cNvPr id="10" name="B">
            <a:extLst>
              <a:ext uri="{FF2B5EF4-FFF2-40B4-BE49-F238E27FC236}">
                <a16:creationId xmlns:a16="http://schemas.microsoft.com/office/drawing/2014/main" id="{04CBC687-138E-8135-BF08-A76285D998BD}"/>
              </a:ext>
            </a:extLst>
          </p:cNvPr>
          <p:cNvSpPr txBox="1"/>
          <p:nvPr/>
        </p:nvSpPr>
        <p:spPr>
          <a:xfrm>
            <a:off x="670559" y="33048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287199"/>
            <a:ext cx="10175920" cy="641396"/>
          </a:xfrm>
        </p:spPr>
        <p:txBody>
          <a:bodyPr anchor="ctr"/>
          <a:lstStyle/>
          <a:p>
            <a:r>
              <a:rPr lang="en-US" sz="3600"/>
              <a:t>4.54</a:t>
            </a:r>
          </a:p>
        </p:txBody>
      </p:sp>
      <p:sp>
        <p:nvSpPr>
          <p:cNvPr id="12" name="C">
            <a:extLst>
              <a:ext uri="{FF2B5EF4-FFF2-40B4-BE49-F238E27FC236}">
                <a16:creationId xmlns:a16="http://schemas.microsoft.com/office/drawing/2014/main" id="{C605E3A9-768F-B21E-1E87-27B06AEB3AF5}"/>
              </a:ext>
            </a:extLst>
          </p:cNvPr>
          <p:cNvSpPr txBox="1"/>
          <p:nvPr/>
        </p:nvSpPr>
        <p:spPr>
          <a:xfrm>
            <a:off x="670558" y="44535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441693"/>
            <a:ext cx="10175920" cy="641396"/>
          </a:xfrm>
        </p:spPr>
        <p:txBody>
          <a:bodyPr anchor="ctr"/>
          <a:lstStyle/>
          <a:p>
            <a:r>
              <a:rPr lang="en-US" sz="3600"/>
              <a:t>4.44</a:t>
            </a:r>
          </a:p>
        </p:txBody>
      </p:sp>
      <p:sp>
        <p:nvSpPr>
          <p:cNvPr id="11" name="D">
            <a:extLst>
              <a:ext uri="{FF2B5EF4-FFF2-40B4-BE49-F238E27FC236}">
                <a16:creationId xmlns:a16="http://schemas.microsoft.com/office/drawing/2014/main" id="{8EADE37E-99CA-3A50-524F-30E28DF3B7C4}"/>
              </a:ext>
            </a:extLst>
          </p:cNvPr>
          <p:cNvSpPr txBox="1"/>
          <p:nvPr/>
        </p:nvSpPr>
        <p:spPr>
          <a:xfrm>
            <a:off x="670557" y="56022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596186"/>
            <a:ext cx="10175920" cy="641396"/>
          </a:xfrm>
        </p:spPr>
        <p:txBody>
          <a:bodyPr anchor="ctr"/>
          <a:lstStyle/>
          <a:p>
            <a:r>
              <a:rPr lang="en-US" sz="3600"/>
              <a:t>5.06</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C1FB5F1-E50B-39D5-0CA8-4F0723D1072B}"/>
              </a:ext>
            </a:extLst>
          </p:cNvPr>
          <p:cNvSpPr txBox="1"/>
          <p:nvPr/>
        </p:nvSpPr>
        <p:spPr>
          <a:xfrm>
            <a:off x="246024" y="1018335"/>
            <a:ext cx="11677512" cy="1223493"/>
          </a:xfrm>
          <a:prstGeom prst="rect">
            <a:avLst/>
          </a:prstGeom>
          <a:noFill/>
        </p:spPr>
        <p:txBody>
          <a:bodyPr wrap="square" lIns="0" tIns="0" rIns="0" bIns="0" rtlCol="0">
            <a:noAutofit/>
          </a:bodyPr>
          <a:lstStyle/>
          <a:p>
            <a:pPr algn="ctr">
              <a:lnSpc>
                <a:spcPct val="150000"/>
              </a:lnSpc>
            </a:pPr>
            <a:r>
              <a:rPr lang="en-AU" sz="5400">
                <a:solidFill>
                  <a:schemeClr val="accent2"/>
                </a:solidFill>
              </a:rPr>
              <a:t>4.578</a:t>
            </a:r>
          </a:p>
          <a:p>
            <a:pPr algn="ctr">
              <a:lnSpc>
                <a:spcPct val="200000"/>
              </a:lnSpc>
            </a:pPr>
            <a:r>
              <a:rPr lang="en-AU" sz="3400"/>
              <a:t>What is the value of the digit in the </a:t>
            </a:r>
          </a:p>
          <a:p>
            <a:pPr algn="ctr">
              <a:lnSpc>
                <a:spcPct val="200000"/>
              </a:lnSpc>
            </a:pPr>
            <a:r>
              <a:rPr lang="en-AU" sz="3400" b="1"/>
              <a:t>a) hundredths</a:t>
            </a:r>
            <a:r>
              <a:rPr lang="en-AU" sz="3400"/>
              <a:t> place?</a:t>
            </a:r>
          </a:p>
          <a:p>
            <a:pPr lvl="0" algn="ctr">
              <a:lnSpc>
                <a:spcPct val="200000"/>
              </a:lnSpc>
            </a:pPr>
            <a:r>
              <a:rPr lang="en-AU" sz="3400" b="1"/>
              <a:t>b) tenths</a:t>
            </a:r>
            <a:r>
              <a:rPr lang="en-AU" sz="3400"/>
              <a:t> place?</a:t>
            </a:r>
          </a:p>
          <a:p>
            <a:pPr lvl="0" algn="ctr">
              <a:lnSpc>
                <a:spcPct val="200000"/>
              </a:lnSpc>
            </a:pPr>
            <a:r>
              <a:rPr lang="en-AU" sz="3400" b="1"/>
              <a:t>c) thousandths</a:t>
            </a:r>
            <a:r>
              <a:rPr lang="en-AU" sz="3400"/>
              <a:t> place?</a:t>
            </a:r>
          </a:p>
          <a:p>
            <a:pPr algn="ctr">
              <a:lnSpc>
                <a:spcPct val="150000"/>
              </a:lnSpc>
            </a:pPr>
            <a:endParaRPr lang="en-AU" sz="4400">
              <a:latin typeface="+mj-lt"/>
            </a:endParaRPr>
          </a:p>
          <a:p>
            <a:pPr algn="l"/>
            <a:endParaRPr lang="en-AU" sz="1800"/>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0177CA8-FB17-A65B-1514-030C24A5E76D}"/>
              </a:ext>
            </a:extLst>
          </p:cNvPr>
          <p:cNvSpPr txBox="1"/>
          <p:nvPr/>
        </p:nvSpPr>
        <p:spPr>
          <a:xfrm>
            <a:off x="531043" y="1939891"/>
            <a:ext cx="11660957" cy="2573518"/>
          </a:xfrm>
          <a:prstGeom prst="rect">
            <a:avLst/>
          </a:prstGeom>
          <a:noFill/>
        </p:spPr>
        <p:txBody>
          <a:bodyPr wrap="square" lIns="0" tIns="0" rIns="0" bIns="0" rtlCol="0">
            <a:noAutofit/>
          </a:bodyPr>
          <a:lstStyle/>
          <a:p>
            <a:pPr algn="ctr">
              <a:lnSpc>
                <a:spcPct val="150000"/>
              </a:lnSpc>
            </a:pPr>
            <a:r>
              <a:rPr lang="en-AU" sz="4400"/>
              <a:t>10 times 100 </a:t>
            </a:r>
            <a:r>
              <a:rPr lang="en-AU" sz="4400" b="1"/>
              <a:t>metres </a:t>
            </a:r>
            <a:r>
              <a:rPr lang="en-AU" sz="4400"/>
              <a:t>=</a:t>
            </a:r>
          </a:p>
          <a:p>
            <a:pPr algn="ctr">
              <a:lnSpc>
                <a:spcPct val="150000"/>
              </a:lnSpc>
            </a:pPr>
            <a:endParaRPr lang="en-AU" sz="4400"/>
          </a:p>
          <a:p>
            <a:pPr algn="ctr">
              <a:lnSpc>
                <a:spcPct val="150000"/>
              </a:lnSpc>
            </a:pPr>
            <a:r>
              <a:rPr lang="en-AU" sz="4400"/>
              <a:t>_______ </a:t>
            </a:r>
            <a:r>
              <a:rPr lang="en-AU" sz="4400" b="1"/>
              <a:t>kilometres.</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30EFE6-E25F-2B81-1A42-DDBAD3E5D9AD}"/>
              </a:ext>
              <a:ext uri="{C183D7F6-B498-43B3-948B-1728B52AA6E4}">
                <adec:decorative xmlns:adec="http://schemas.microsoft.com/office/drawing/2017/decorative" val="1"/>
              </a:ext>
            </a:extLst>
          </p:cNvPr>
          <p:cNvSpPr txBox="1"/>
          <p:nvPr/>
        </p:nvSpPr>
        <p:spPr>
          <a:xfrm>
            <a:off x="700421" y="2401229"/>
            <a:ext cx="11075267" cy="1085385"/>
          </a:xfrm>
          <a:prstGeom prst="rect">
            <a:avLst/>
          </a:prstGeom>
          <a:noFill/>
        </p:spPr>
        <p:txBody>
          <a:bodyPr wrap="square" lIns="0" tIns="0" rIns="0" bIns="0" rtlCol="0">
            <a:noAutofit/>
          </a:bodyPr>
          <a:lstStyle/>
          <a:p>
            <a:r>
              <a:rPr lang="en-AU" sz="4400"/>
              <a:t>Solve </a:t>
            </a:r>
            <a:r>
              <a:rPr lang="en-AU" sz="4400" b="1"/>
              <a:t>9 × 500 </a:t>
            </a:r>
            <a:r>
              <a:rPr lang="en-AU" sz="4400"/>
              <a:t>using an </a:t>
            </a:r>
            <a:r>
              <a:rPr lang="en-AU" sz="4400" b="1"/>
              <a:t>efficient strategy</a:t>
            </a:r>
            <a:r>
              <a:rPr lang="en-AU" sz="4400"/>
              <a:t>.</a:t>
            </a:r>
          </a:p>
          <a:p>
            <a:pPr algn="l"/>
            <a:endParaRPr lang="en-AU" sz="4400"/>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5" name="TextBox 4">
            <a:extLst>
              <a:ext uri="{FF2B5EF4-FFF2-40B4-BE49-F238E27FC236}">
                <a16:creationId xmlns:a16="http://schemas.microsoft.com/office/drawing/2014/main" id="{B17DEA48-2600-0D6F-F73E-AAD4D19CEEC7}"/>
              </a:ext>
            </a:extLst>
          </p:cNvPr>
          <p:cNvSpPr txBox="1"/>
          <p:nvPr/>
        </p:nvSpPr>
        <p:spPr>
          <a:xfrm>
            <a:off x="1774075" y="4982242"/>
            <a:ext cx="8163787" cy="769441"/>
          </a:xfrm>
          <a:prstGeom prst="rect">
            <a:avLst/>
          </a:prstGeom>
          <a:noFill/>
        </p:spPr>
        <p:txBody>
          <a:bodyPr wrap="square">
            <a:spAutoFit/>
          </a:bodyPr>
          <a:lstStyle/>
          <a:p>
            <a:pPr algn="ctr"/>
            <a:r>
              <a:rPr lang="en-AU" sz="4400" b="1"/>
              <a:t>Communicate</a:t>
            </a:r>
            <a:r>
              <a:rPr lang="en-AU" sz="4400"/>
              <a:t> your </a:t>
            </a:r>
            <a:r>
              <a:rPr lang="en-AU" sz="4400" b="1"/>
              <a:t>reasoning.</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1" name="Picture 50" descr="A spinner labelled with the numbers 1, 2, 3, 4 and 5. Sections 2 to 5 are equal in size and section 1 is double in size. A blue arrow is pointing into the 1 section.">
            <a:extLst>
              <a:ext uri="{FF2B5EF4-FFF2-40B4-BE49-F238E27FC236}">
                <a16:creationId xmlns:a16="http://schemas.microsoft.com/office/drawing/2014/main" id="{60AFF092-94EB-A7CA-7134-C1BB3AAEF1D6}"/>
              </a:ext>
            </a:extLst>
          </p:cNvPr>
          <p:cNvPicPr>
            <a:picLocks noChangeAspect="1"/>
          </p:cNvPicPr>
          <p:nvPr/>
        </p:nvPicPr>
        <p:blipFill>
          <a:blip r:embed="rId4"/>
          <a:stretch>
            <a:fillRect/>
          </a:stretch>
        </p:blipFill>
        <p:spPr>
          <a:xfrm>
            <a:off x="0" y="1416676"/>
            <a:ext cx="4376069" cy="4422378"/>
          </a:xfrm>
          <a:prstGeom prst="rect">
            <a:avLst/>
          </a:prstGeom>
        </p:spPr>
      </p:pic>
      <p:cxnSp>
        <p:nvCxnSpPr>
          <p:cNvPr id="7" name="Straight Arrow Connector 6">
            <a:extLst>
              <a:ext uri="{FF2B5EF4-FFF2-40B4-BE49-F238E27FC236}">
                <a16:creationId xmlns:a16="http://schemas.microsoft.com/office/drawing/2014/main" id="{FCF1AA32-DC40-34C1-C888-6A0E1E35B2DE}"/>
              </a:ext>
              <a:ext uri="{C183D7F6-B498-43B3-948B-1728B52AA6E4}">
                <adec:decorative xmlns:adec="http://schemas.microsoft.com/office/drawing/2017/decorative" val="1"/>
              </a:ext>
            </a:extLst>
          </p:cNvPr>
          <p:cNvCxnSpPr>
            <a:cxnSpLocks/>
          </p:cNvCxnSpPr>
          <p:nvPr/>
        </p:nvCxnSpPr>
        <p:spPr>
          <a:xfrm flipH="1" flipV="1">
            <a:off x="965915" y="3216961"/>
            <a:ext cx="1222119" cy="42407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2" name="TextBox 51">
            <a:extLst>
              <a:ext uri="{FF2B5EF4-FFF2-40B4-BE49-F238E27FC236}">
                <a16:creationId xmlns:a16="http://schemas.microsoft.com/office/drawing/2014/main" id="{73BD98E0-8695-C989-BF6A-A279C79C67B3}"/>
              </a:ext>
            </a:extLst>
          </p:cNvPr>
          <p:cNvSpPr txBox="1"/>
          <p:nvPr/>
        </p:nvSpPr>
        <p:spPr>
          <a:xfrm>
            <a:off x="4376069" y="1208197"/>
            <a:ext cx="7569907" cy="3468145"/>
          </a:xfrm>
          <a:prstGeom prst="rect">
            <a:avLst/>
          </a:prstGeom>
          <a:noFill/>
        </p:spPr>
        <p:txBody>
          <a:bodyPr wrap="square" lIns="0" tIns="0" rIns="0" bIns="0" rtlCol="0">
            <a:noAutofit/>
          </a:bodyPr>
          <a:lstStyle/>
          <a:p>
            <a:pPr marL="457200" indent="-457200" algn="l">
              <a:lnSpc>
                <a:spcPct val="150000"/>
              </a:lnSpc>
              <a:buFont typeface="Arial" panose="020B0604020202020204" pitchFamily="34" charset="0"/>
              <a:buChar char="•"/>
            </a:pPr>
            <a:r>
              <a:rPr lang="en-AU" sz="2800"/>
              <a:t>What would be the </a:t>
            </a:r>
            <a:r>
              <a:rPr lang="en-AU" sz="2800" b="1"/>
              <a:t>expected frequency </a:t>
            </a:r>
            <a:r>
              <a:rPr lang="en-AU" sz="2800"/>
              <a:t>of landing on 1?</a:t>
            </a:r>
          </a:p>
          <a:p>
            <a:pPr marL="457200" indent="-457200">
              <a:lnSpc>
                <a:spcPct val="150000"/>
              </a:lnSpc>
              <a:buFont typeface="Arial" panose="020B0604020202020204" pitchFamily="34" charset="0"/>
              <a:buChar char="•"/>
            </a:pPr>
            <a:r>
              <a:rPr lang="en-AU" sz="2800"/>
              <a:t>What would be the </a:t>
            </a:r>
            <a:r>
              <a:rPr lang="en-AU" sz="2800" b="1"/>
              <a:t>expected frequency </a:t>
            </a:r>
            <a:r>
              <a:rPr lang="en-AU" sz="2800"/>
              <a:t>of landing on 5?</a:t>
            </a:r>
          </a:p>
          <a:p>
            <a:pPr marL="457200" indent="-457200">
              <a:lnSpc>
                <a:spcPct val="150000"/>
              </a:lnSpc>
              <a:buFont typeface="Arial" panose="020B0604020202020204" pitchFamily="34" charset="0"/>
              <a:buChar char="•"/>
            </a:pPr>
            <a:r>
              <a:rPr lang="en-AU" sz="2800"/>
              <a:t>Steph spun the spinner 10 times. She landed on 1 four times and 5 two times. How does the </a:t>
            </a:r>
            <a:r>
              <a:rPr lang="en-AU" sz="2800" b="1"/>
              <a:t>observed frequency compare to</a:t>
            </a:r>
            <a:r>
              <a:rPr lang="en-AU" sz="2800"/>
              <a:t> the </a:t>
            </a:r>
            <a:r>
              <a:rPr lang="en-AU" sz="2800" b="1"/>
              <a:t>expected frequency?</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C5939-67A8-35C7-EB20-EFEA3AD47C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3BA388-BFFA-84C9-22AA-E0B5ABB33C98}"/>
              </a:ext>
            </a:extLst>
          </p:cNvPr>
          <p:cNvSpPr>
            <a:spLocks noGrp="1"/>
          </p:cNvSpPr>
          <p:nvPr>
            <p:ph type="title"/>
          </p:nvPr>
        </p:nvSpPr>
        <p:spPr>
          <a:xfrm>
            <a:off x="360000" y="360000"/>
            <a:ext cx="10367268" cy="545601"/>
          </a:xfrm>
        </p:spPr>
        <p:txBody>
          <a:bodyPr/>
          <a:lstStyle/>
          <a:p>
            <a:r>
              <a:rPr lang="en-AU"/>
              <a:t>Activity 1 – addition and subtraction with decimals</a:t>
            </a:r>
          </a:p>
        </p:txBody>
      </p:sp>
      <p:pic>
        <p:nvPicPr>
          <p:cNvPr id="4" name="Picture 3">
            <a:extLst>
              <a:ext uri="{FF2B5EF4-FFF2-40B4-BE49-F238E27FC236}">
                <a16:creationId xmlns:a16="http://schemas.microsoft.com/office/drawing/2014/main" id="{B1326640-CFC4-B23E-0FD0-38F36B0AA3C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0F13FF1-7048-770D-B00E-7E92420E1BC7}"/>
              </a:ext>
            </a:extLst>
          </p:cNvPr>
          <p:cNvSpPr txBox="1"/>
          <p:nvPr/>
        </p:nvSpPr>
        <p:spPr>
          <a:xfrm>
            <a:off x="238619" y="950581"/>
            <a:ext cx="6569403" cy="5745419"/>
          </a:xfrm>
          <a:prstGeom prst="rect">
            <a:avLst/>
          </a:prstGeom>
          <a:noFill/>
        </p:spPr>
        <p:txBody>
          <a:bodyPr wrap="square">
            <a:spAutoFit/>
          </a:bodyPr>
          <a:lstStyle/>
          <a:p>
            <a:pPr lvl="0">
              <a:lnSpc>
                <a:spcPct val="150000"/>
              </a:lnSpc>
              <a:spcBef>
                <a:spcPts val="1200"/>
              </a:spcBef>
              <a:spcAft>
                <a:spcPts val="600"/>
              </a:spcAft>
            </a:pPr>
            <a:r>
              <a:rPr lang="en-AU" sz="1700">
                <a:latin typeface="Arial"/>
                <a:ea typeface="Calibri"/>
                <a:cs typeface="Arial"/>
              </a:rPr>
              <a:t>Determine if the following statements are </a:t>
            </a:r>
            <a:r>
              <a:rPr lang="en-AU" sz="1700" b="1">
                <a:latin typeface="Arial"/>
                <a:ea typeface="Calibri"/>
                <a:cs typeface="Arial"/>
              </a:rPr>
              <a:t>true</a:t>
            </a:r>
            <a:r>
              <a:rPr lang="en-AU" sz="1700">
                <a:latin typeface="Arial"/>
                <a:ea typeface="Calibri"/>
                <a:cs typeface="Arial"/>
              </a:rPr>
              <a:t> or </a:t>
            </a:r>
            <a:r>
              <a:rPr lang="en-AU" sz="1700" b="1">
                <a:latin typeface="Arial"/>
                <a:ea typeface="Calibri"/>
                <a:cs typeface="Arial"/>
              </a:rPr>
              <a:t>false</a:t>
            </a:r>
            <a:r>
              <a:rPr lang="en-AU" sz="1700">
                <a:latin typeface="Arial"/>
                <a:ea typeface="Calibri"/>
                <a:cs typeface="Arial"/>
              </a:rPr>
              <a:t>.</a:t>
            </a:r>
            <a:endParaRPr lang="en-AU" sz="17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The total cost of the shopping trip is $39.80 before the loyalty discount. </a:t>
            </a:r>
            <a:endParaRPr lang="en-AU" sz="1700">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The total mass of the top 2 items on the receipt is 1.228 kg. </a:t>
            </a: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The total mass of the broccoli, Brussels sprouts, grapes and peas is 2.522 kg. </a:t>
            </a: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If you ate 0.550 kg of the grapes on your way home, only 0.885 kgs is left for your family. </a:t>
            </a: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You were over-charged on the 3 special items if you paid $4.98. </a:t>
            </a:r>
          </a:p>
          <a:p>
            <a:pPr marL="342900" lvl="0" indent="-342900">
              <a:lnSpc>
                <a:spcPct val="150000"/>
              </a:lnSpc>
              <a:spcBef>
                <a:spcPts val="1200"/>
              </a:spcBef>
              <a:spcAft>
                <a:spcPts val="600"/>
              </a:spcAft>
              <a:buFont typeface="Symbol" panose="05050102010706020507" pitchFamily="18" charset="2"/>
              <a:buChar char=""/>
            </a:pPr>
            <a:r>
              <a:rPr lang="en-AU" sz="1700">
                <a:effectLst/>
                <a:latin typeface="Arial" panose="020B0604020202020204" pitchFamily="34" charset="0"/>
                <a:ea typeface="Calibri" panose="020F0502020204030204" pitchFamily="34" charset="0"/>
              </a:rPr>
              <a:t>You paid using a $50 note and received $11.20 change.</a:t>
            </a:r>
            <a:endParaRPr lang="en-AU" sz="1700"/>
          </a:p>
        </p:txBody>
      </p:sp>
      <p:sp>
        <p:nvSpPr>
          <p:cNvPr id="2" name="Slide Number Placeholder 1">
            <a:extLst>
              <a:ext uri="{FF2B5EF4-FFF2-40B4-BE49-F238E27FC236}">
                <a16:creationId xmlns:a16="http://schemas.microsoft.com/office/drawing/2014/main" id="{F7680CD4-19FD-E008-B4C8-4D1416EA6B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graphicFrame>
        <p:nvGraphicFramePr>
          <p:cNvPr id="3" name="Table 2">
            <a:extLst>
              <a:ext uri="{FF2B5EF4-FFF2-40B4-BE49-F238E27FC236}">
                <a16:creationId xmlns:a16="http://schemas.microsoft.com/office/drawing/2014/main" id="{06CFB4EF-E5DD-01DF-1C15-0E2FBA1D6B07}"/>
              </a:ext>
            </a:extLst>
          </p:cNvPr>
          <p:cNvGraphicFramePr>
            <a:graphicFrameLocks noGrp="1"/>
          </p:cNvGraphicFramePr>
          <p:nvPr>
            <p:extLst>
              <p:ext uri="{D42A27DB-BD31-4B8C-83A1-F6EECF244321}">
                <p14:modId xmlns:p14="http://schemas.microsoft.com/office/powerpoint/2010/main" val="2821087170"/>
              </p:ext>
            </p:extLst>
          </p:nvPr>
        </p:nvGraphicFramePr>
        <p:xfrm>
          <a:off x="6724482" y="1310328"/>
          <a:ext cx="5102522" cy="5187672"/>
        </p:xfrm>
        <a:graphic>
          <a:graphicData uri="http://schemas.openxmlformats.org/drawingml/2006/table">
            <a:tbl>
              <a:tblPr firstRow="1" firstCol="1">
                <a:tableStyleId>{5A111915-BE36-4E01-A7E5-04B1672EAD32}</a:tableStyleId>
              </a:tblPr>
              <a:tblGrid>
                <a:gridCol w="3760559">
                  <a:extLst>
                    <a:ext uri="{9D8B030D-6E8A-4147-A177-3AD203B41FA5}">
                      <a16:colId xmlns:a16="http://schemas.microsoft.com/office/drawing/2014/main" val="41529469"/>
                    </a:ext>
                  </a:extLst>
                </a:gridCol>
                <a:gridCol w="1341963">
                  <a:extLst>
                    <a:ext uri="{9D8B030D-6E8A-4147-A177-3AD203B41FA5}">
                      <a16:colId xmlns:a16="http://schemas.microsoft.com/office/drawing/2014/main" val="437739179"/>
                    </a:ext>
                  </a:extLst>
                </a:gridCol>
              </a:tblGrid>
              <a:tr h="288204">
                <a:tc>
                  <a:txBody>
                    <a:bodyPr/>
                    <a:lstStyle/>
                    <a:p>
                      <a:pPr>
                        <a:lnSpc>
                          <a:spcPct val="150000"/>
                        </a:lnSpc>
                        <a:spcBef>
                          <a:spcPts val="600"/>
                        </a:spcBef>
                        <a:spcAft>
                          <a:spcPts val="600"/>
                        </a:spcAft>
                        <a:buNone/>
                      </a:pPr>
                      <a:r>
                        <a:rPr lang="en-AU" sz="1200">
                          <a:effectLst/>
                        </a:rPr>
                        <a:t>Items</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600"/>
                        </a:spcBef>
                        <a:spcAft>
                          <a:spcPts val="600"/>
                        </a:spcAft>
                        <a:buNone/>
                      </a:pPr>
                      <a:r>
                        <a:rPr lang="en-AU" sz="1200">
                          <a:effectLst/>
                        </a:rPr>
                        <a:t>Cost</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622061087"/>
                  </a:ext>
                </a:extLst>
              </a:tr>
              <a:tr h="288204">
                <a:tc>
                  <a:txBody>
                    <a:bodyPr/>
                    <a:lstStyle/>
                    <a:p>
                      <a:pPr>
                        <a:lnSpc>
                          <a:spcPct val="150000"/>
                        </a:lnSpc>
                        <a:spcBef>
                          <a:spcPts val="600"/>
                        </a:spcBef>
                        <a:spcAft>
                          <a:spcPts val="600"/>
                        </a:spcAft>
                        <a:buNone/>
                      </a:pPr>
                      <a:r>
                        <a:rPr lang="en-AU" sz="1200" b="0">
                          <a:effectLst/>
                        </a:rPr>
                        <a:t>Zucchini 0.778kg NET @ $5.99/kg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$4.66</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0159123"/>
                  </a:ext>
                </a:extLst>
              </a:tr>
              <a:tr h="288204">
                <a:tc>
                  <a:txBody>
                    <a:bodyPr/>
                    <a:lstStyle/>
                    <a:p>
                      <a:pPr>
                        <a:lnSpc>
                          <a:spcPct val="150000"/>
                        </a:lnSpc>
                        <a:spcBef>
                          <a:spcPts val="600"/>
                        </a:spcBef>
                        <a:spcAft>
                          <a:spcPts val="600"/>
                        </a:spcAft>
                        <a:buNone/>
                      </a:pPr>
                      <a:r>
                        <a:rPr lang="en-AU" sz="1200" b="0">
                          <a:effectLst/>
                        </a:rPr>
                        <a:t>Bananas 0.442kg NET @ $2.99/kg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$1.32</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830349"/>
                  </a:ext>
                </a:extLst>
              </a:tr>
              <a:tr h="288204">
                <a:tc>
                  <a:txBody>
                    <a:bodyPr/>
                    <a:lstStyle/>
                    <a:p>
                      <a:pPr>
                        <a:lnSpc>
                          <a:spcPct val="150000"/>
                        </a:lnSpc>
                        <a:spcBef>
                          <a:spcPts val="600"/>
                        </a:spcBef>
                        <a:spcAft>
                          <a:spcPts val="600"/>
                        </a:spcAft>
                        <a:buNone/>
                      </a:pPr>
                      <a:r>
                        <a:rPr lang="en-AU" sz="1200" b="0">
                          <a:effectLst/>
                        </a:rPr>
                        <a:t>Special</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$0.99</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99598"/>
                  </a:ext>
                </a:extLst>
              </a:tr>
              <a:tr h="288204">
                <a:tc>
                  <a:txBody>
                    <a:bodyPr/>
                    <a:lstStyle/>
                    <a:p>
                      <a:pPr>
                        <a:lnSpc>
                          <a:spcPct val="150000"/>
                        </a:lnSpc>
                        <a:spcBef>
                          <a:spcPts val="600"/>
                        </a:spcBef>
                        <a:spcAft>
                          <a:spcPts val="600"/>
                        </a:spcAft>
                        <a:buNone/>
                      </a:pPr>
                      <a:r>
                        <a:rPr lang="en-AU" sz="1200" b="0">
                          <a:effectLst/>
                        </a:rPr>
                        <a:t>Special</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$1.50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49571"/>
                  </a:ext>
                </a:extLst>
              </a:tr>
              <a:tr h="288204">
                <a:tc>
                  <a:txBody>
                    <a:bodyPr/>
                    <a:lstStyle/>
                    <a:p>
                      <a:pPr>
                        <a:lnSpc>
                          <a:spcPct val="150000"/>
                        </a:lnSpc>
                        <a:spcBef>
                          <a:spcPts val="600"/>
                        </a:spcBef>
                        <a:spcAft>
                          <a:spcPts val="600"/>
                        </a:spcAft>
                        <a:buNone/>
                      </a:pPr>
                      <a:r>
                        <a:rPr lang="en-AU" sz="1200" b="0">
                          <a:effectLst/>
                        </a:rPr>
                        <a:t>Potatoes 1.328kg NET @ $2.99/kg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$3.97</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6672922"/>
                  </a:ext>
                </a:extLst>
              </a:tr>
              <a:tr h="288204">
                <a:tc>
                  <a:txBody>
                    <a:bodyPr/>
                    <a:lstStyle/>
                    <a:p>
                      <a:pPr>
                        <a:lnSpc>
                          <a:spcPct val="150000"/>
                        </a:lnSpc>
                        <a:spcBef>
                          <a:spcPts val="600"/>
                        </a:spcBef>
                        <a:spcAft>
                          <a:spcPts val="600"/>
                        </a:spcAft>
                        <a:buNone/>
                      </a:pPr>
                      <a:r>
                        <a:rPr lang="de-DE" sz="1200" b="0">
                          <a:effectLst/>
                        </a:rPr>
                        <a:t>Brussel sprouts 0.322kg NET @ $15.99/kg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$5.15</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769210"/>
                  </a:ext>
                </a:extLst>
              </a:tr>
              <a:tr h="288204">
                <a:tc>
                  <a:txBody>
                    <a:bodyPr/>
                    <a:lstStyle/>
                    <a:p>
                      <a:pPr>
                        <a:lnSpc>
                          <a:spcPct val="150000"/>
                        </a:lnSpc>
                        <a:spcBef>
                          <a:spcPts val="600"/>
                        </a:spcBef>
                        <a:spcAft>
                          <a:spcPts val="600"/>
                        </a:spcAft>
                        <a:buNone/>
                      </a:pPr>
                      <a:r>
                        <a:rPr lang="en-AU" sz="1200" b="0">
                          <a:effectLst/>
                        </a:rPr>
                        <a:t>Broccoli 0.808kg NET @ $5.99</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$4.84</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542883"/>
                  </a:ext>
                </a:extLst>
              </a:tr>
              <a:tr h="288204">
                <a:tc>
                  <a:txBody>
                    <a:bodyPr/>
                    <a:lstStyle/>
                    <a:p>
                      <a:pPr>
                        <a:lnSpc>
                          <a:spcPct val="150000"/>
                        </a:lnSpc>
                        <a:spcBef>
                          <a:spcPts val="600"/>
                        </a:spcBef>
                        <a:spcAft>
                          <a:spcPts val="600"/>
                        </a:spcAft>
                        <a:buNone/>
                      </a:pPr>
                      <a:r>
                        <a:rPr lang="en-AU" sz="1200" b="0">
                          <a:effectLst/>
                        </a:rPr>
                        <a:t>Special</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$0.99</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495386"/>
                  </a:ext>
                </a:extLst>
              </a:tr>
              <a:tr h="288204">
                <a:tc>
                  <a:txBody>
                    <a:bodyPr/>
                    <a:lstStyle/>
                    <a:p>
                      <a:pPr>
                        <a:lnSpc>
                          <a:spcPct val="150000"/>
                        </a:lnSpc>
                        <a:spcBef>
                          <a:spcPts val="600"/>
                        </a:spcBef>
                        <a:spcAft>
                          <a:spcPts val="600"/>
                        </a:spcAft>
                        <a:buNone/>
                      </a:pPr>
                      <a:r>
                        <a:rPr lang="en-AU" sz="1200" b="0">
                          <a:effectLst/>
                        </a:rPr>
                        <a:t>Grapes green 1.174kg NET @ $5.99/kg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$7.03</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6565543"/>
                  </a:ext>
                </a:extLst>
              </a:tr>
              <a:tr h="288204">
                <a:tc>
                  <a:txBody>
                    <a:bodyPr/>
                    <a:lstStyle/>
                    <a:p>
                      <a:pPr>
                        <a:lnSpc>
                          <a:spcPct val="150000"/>
                        </a:lnSpc>
                        <a:spcBef>
                          <a:spcPts val="600"/>
                        </a:spcBef>
                        <a:spcAft>
                          <a:spcPts val="600"/>
                        </a:spcAft>
                        <a:buNone/>
                      </a:pPr>
                      <a:r>
                        <a:rPr lang="en-AU" sz="1200" b="0">
                          <a:effectLst/>
                        </a:rPr>
                        <a:t>Snow peas 0.218kg NET @ $14.99</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$3.27</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754897"/>
                  </a:ext>
                </a:extLst>
              </a:tr>
              <a:tr h="288204">
                <a:tc>
                  <a:txBody>
                    <a:bodyPr/>
                    <a:lstStyle/>
                    <a:p>
                      <a:pPr>
                        <a:lnSpc>
                          <a:spcPct val="150000"/>
                        </a:lnSpc>
                        <a:spcBef>
                          <a:spcPts val="600"/>
                        </a:spcBef>
                        <a:spcAft>
                          <a:spcPts val="600"/>
                        </a:spcAft>
                        <a:buNone/>
                      </a:pPr>
                      <a:r>
                        <a:rPr lang="en-AU" sz="1200" b="0">
                          <a:effectLst/>
                        </a:rPr>
                        <a:t>Cherry tomatoes</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$2.99</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760562"/>
                  </a:ext>
                </a:extLst>
              </a:tr>
              <a:tr h="288204">
                <a:tc>
                  <a:txBody>
                    <a:bodyPr/>
                    <a:lstStyle/>
                    <a:p>
                      <a:pPr>
                        <a:lnSpc>
                          <a:spcPct val="150000"/>
                        </a:lnSpc>
                        <a:spcBef>
                          <a:spcPts val="600"/>
                        </a:spcBef>
                        <a:spcAft>
                          <a:spcPts val="600"/>
                        </a:spcAft>
                        <a:buNone/>
                      </a:pPr>
                      <a:r>
                        <a:rPr lang="en-AU" sz="1200" b="0">
                          <a:effectLst/>
                        </a:rPr>
                        <a:t>Lettuce Iceberg</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$2.49</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4748242"/>
                  </a:ext>
                </a:extLst>
              </a:tr>
              <a:tr h="288204">
                <a:tc>
                  <a:txBody>
                    <a:bodyPr/>
                    <a:lstStyle/>
                    <a:p>
                      <a:pPr>
                        <a:lnSpc>
                          <a:spcPct val="150000"/>
                        </a:lnSpc>
                        <a:spcBef>
                          <a:spcPts val="600"/>
                        </a:spcBef>
                        <a:spcAft>
                          <a:spcPts val="600"/>
                        </a:spcAft>
                        <a:buNone/>
                      </a:pPr>
                      <a:r>
                        <a:rPr lang="en-AU" sz="1200" b="0">
                          <a:effectLst/>
                        </a:rPr>
                        <a:t>Subtotal</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$39.20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561138"/>
                  </a:ext>
                </a:extLst>
              </a:tr>
              <a:tr h="288204">
                <a:tc>
                  <a:txBody>
                    <a:bodyPr/>
                    <a:lstStyle/>
                    <a:p>
                      <a:pPr>
                        <a:lnSpc>
                          <a:spcPct val="150000"/>
                        </a:lnSpc>
                        <a:spcBef>
                          <a:spcPts val="600"/>
                        </a:spcBef>
                        <a:spcAft>
                          <a:spcPts val="600"/>
                        </a:spcAft>
                        <a:buNone/>
                      </a:pPr>
                      <a:r>
                        <a:rPr lang="en-AU" sz="1200" b="0">
                          <a:effectLst/>
                        </a:rPr>
                        <a:t>Loyalty card discount</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-$15.00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438436"/>
                  </a:ext>
                </a:extLst>
              </a:tr>
              <a:tr h="288204">
                <a:tc>
                  <a:txBody>
                    <a:bodyPr/>
                    <a:lstStyle/>
                    <a:p>
                      <a:pPr>
                        <a:lnSpc>
                          <a:spcPct val="150000"/>
                        </a:lnSpc>
                        <a:spcBef>
                          <a:spcPts val="600"/>
                        </a:spcBef>
                        <a:spcAft>
                          <a:spcPts val="600"/>
                        </a:spcAft>
                        <a:buNone/>
                      </a:pPr>
                      <a:r>
                        <a:rPr lang="en-AU" sz="1200" b="0">
                          <a:effectLst/>
                        </a:rPr>
                        <a:t>Total</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$24.20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327799"/>
                  </a:ext>
                </a:extLst>
              </a:tr>
              <a:tr h="288204">
                <a:tc>
                  <a:txBody>
                    <a:bodyPr/>
                    <a:lstStyle/>
                    <a:p>
                      <a:pPr>
                        <a:lnSpc>
                          <a:spcPct val="150000"/>
                        </a:lnSpc>
                        <a:spcBef>
                          <a:spcPts val="600"/>
                        </a:spcBef>
                        <a:spcAft>
                          <a:spcPts val="600"/>
                        </a:spcAft>
                        <a:buNone/>
                      </a:pPr>
                      <a:r>
                        <a:rPr lang="en-AU" sz="1200" b="0">
                          <a:effectLst/>
                        </a:rPr>
                        <a:t>Cash</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$50.00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9315858"/>
                  </a:ext>
                </a:extLst>
              </a:tr>
              <a:tr h="288204">
                <a:tc>
                  <a:txBody>
                    <a:bodyPr/>
                    <a:lstStyle/>
                    <a:p>
                      <a:pPr>
                        <a:lnSpc>
                          <a:spcPct val="150000"/>
                        </a:lnSpc>
                        <a:spcBef>
                          <a:spcPts val="600"/>
                        </a:spcBef>
                        <a:spcAft>
                          <a:spcPts val="600"/>
                        </a:spcAft>
                        <a:buNone/>
                      </a:pPr>
                      <a:r>
                        <a:rPr lang="en-AU" sz="1200" b="0">
                          <a:effectLst/>
                        </a:rPr>
                        <a:t>Change</a:t>
                      </a:r>
                      <a:endParaRPr lang="en-AU" sz="12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600"/>
                        </a:spcBef>
                        <a:spcAft>
                          <a:spcPts val="600"/>
                        </a:spcAft>
                        <a:buNone/>
                      </a:pPr>
                      <a:r>
                        <a:rPr lang="en-AU" sz="1200">
                          <a:effectLst/>
                        </a:rPr>
                        <a:t>$25.80</a:t>
                      </a:r>
                      <a:endParaRPr lang="en-AU" sz="12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3148512"/>
                  </a:ext>
                </a:extLst>
              </a:tr>
            </a:tbl>
          </a:graphicData>
        </a:graphic>
      </p:graphicFrame>
      <p:sp>
        <p:nvSpPr>
          <p:cNvPr id="9" name="TextBox 8">
            <a:extLst>
              <a:ext uri="{FF2B5EF4-FFF2-40B4-BE49-F238E27FC236}">
                <a16:creationId xmlns:a16="http://schemas.microsoft.com/office/drawing/2014/main" id="{4DED4F2E-53F9-6801-0FF7-34B6004EF1BB}"/>
              </a:ext>
            </a:extLst>
          </p:cNvPr>
          <p:cNvSpPr txBox="1"/>
          <p:nvPr/>
        </p:nvSpPr>
        <p:spPr>
          <a:xfrm>
            <a:off x="6649629" y="889796"/>
            <a:ext cx="6097348" cy="375552"/>
          </a:xfrm>
          <a:prstGeom prst="rect">
            <a:avLst/>
          </a:prstGeom>
          <a:noFill/>
        </p:spPr>
        <p:txBody>
          <a:bodyPr wrap="square">
            <a:spAutoFit/>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rPr>
              <a:t>Big Fruit Barn shopping receipt</a:t>
            </a:r>
          </a:p>
        </p:txBody>
      </p:sp>
    </p:spTree>
    <p:extLst>
      <p:ext uri="{BB962C8B-B14F-4D97-AF65-F5344CB8AC3E}">
        <p14:creationId xmlns:p14="http://schemas.microsoft.com/office/powerpoint/2010/main" val="2193418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 uri="{C183D7F6-B498-43B3-948B-1728B52AA6E4}">
                <adec:decorative xmlns:adec="http://schemas.microsoft.com/office/drawing/2017/decorative" val="0"/>
              </a:ext>
            </a:extLst>
          </p:cNvPr>
          <p:cNvSpPr>
            <a:spLocks noGrp="1"/>
          </p:cNvSpPr>
          <p:nvPr>
            <p:ph type="body" sz="quarter" idx="22"/>
          </p:nvPr>
        </p:nvSpPr>
        <p:spPr>
          <a:xfrm>
            <a:off x="3015919" y="2075541"/>
            <a:ext cx="5931199" cy="893226"/>
          </a:xfrm>
        </p:spPr>
        <p:txBody>
          <a:bodyPr/>
          <a:lstStyle/>
          <a:p>
            <a:pPr algn="ctr"/>
            <a:r>
              <a:rPr lang="en-AU" sz="5400" dirty="0"/>
              <a:t>2.25 − 4.50 = 6.75</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99584943"/>
              </p:ext>
            </p:extLst>
          </p:nvPr>
        </p:nvGraphicFramePr>
        <p:xfrm>
          <a:off x="2442981" y="433584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7" name="TextBox 6">
            <a:extLst>
              <a:ext uri="{FF2B5EF4-FFF2-40B4-BE49-F238E27FC236}">
                <a16:creationId xmlns:a16="http://schemas.microsoft.com/office/drawing/2014/main" id="{2A7F29D2-9ACC-3A95-4AAE-B4EF74CAD81D}"/>
              </a:ext>
            </a:extLst>
          </p:cNvPr>
          <p:cNvSpPr txBox="1"/>
          <p:nvPr/>
        </p:nvSpPr>
        <p:spPr>
          <a:xfrm>
            <a:off x="2099752" y="5600941"/>
            <a:ext cx="8163787" cy="769441"/>
          </a:xfrm>
          <a:prstGeom prst="rect">
            <a:avLst/>
          </a:prstGeom>
          <a:noFill/>
        </p:spPr>
        <p:txBody>
          <a:bodyPr wrap="square">
            <a:spAutoFit/>
          </a:bodyPr>
          <a:lstStyle/>
          <a:p>
            <a:pPr algn="ctr"/>
            <a:r>
              <a:rPr lang="en-AU" sz="4400" b="1"/>
              <a:t>Communicate</a:t>
            </a:r>
            <a:r>
              <a:rPr lang="en-AU" sz="4400"/>
              <a:t> your </a:t>
            </a:r>
            <a:r>
              <a:rPr lang="en-AU" sz="4400" b="1"/>
              <a:t>reasoning.</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930A79B-B049-112F-97B5-94DF8A6F3A91}"/>
              </a:ext>
            </a:extLst>
          </p:cNvPr>
          <p:cNvSpPr txBox="1"/>
          <p:nvPr/>
        </p:nvSpPr>
        <p:spPr>
          <a:xfrm>
            <a:off x="1286828" y="2527478"/>
            <a:ext cx="9272789" cy="1803043"/>
          </a:xfrm>
          <a:prstGeom prst="rect">
            <a:avLst/>
          </a:prstGeom>
          <a:noFill/>
        </p:spPr>
        <p:txBody>
          <a:bodyPr wrap="square" lIns="0" tIns="0" rIns="0" bIns="0" rtlCol="0">
            <a:noAutofit/>
          </a:bodyPr>
          <a:lstStyle/>
          <a:p>
            <a:pPr algn="ctr"/>
            <a:r>
              <a:rPr lang="en-AU" sz="4400" dirty="0"/>
              <a:t>Solve </a:t>
            </a:r>
            <a:r>
              <a:rPr lang="en-AU" sz="4400" b="1" dirty="0"/>
              <a:t>6.105 − 2.02</a:t>
            </a:r>
          </a:p>
          <a:p>
            <a:pPr algn="ctr"/>
            <a:endParaRPr lang="en-AU" sz="4400" dirty="0"/>
          </a:p>
          <a:p>
            <a:pPr algn="ctr"/>
            <a:r>
              <a:rPr lang="en-AU" sz="4400" b="1" dirty="0"/>
              <a:t>Communicate</a:t>
            </a:r>
            <a:r>
              <a:rPr lang="en-AU" sz="4400" dirty="0"/>
              <a:t> your </a:t>
            </a:r>
            <a:r>
              <a:rPr lang="en-AU" sz="4400" b="1" dirty="0"/>
              <a:t>strategy.</a:t>
            </a:r>
            <a:endParaRPr lang="en-AU" sz="1800" b="1" dirty="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10BF8FA-D8BA-CAEE-7117-1A8BB9CD8B1A}"/>
              </a:ext>
            </a:extLst>
          </p:cNvPr>
          <p:cNvSpPr txBox="1"/>
          <p:nvPr/>
        </p:nvSpPr>
        <p:spPr>
          <a:xfrm>
            <a:off x="5337788" y="1802284"/>
            <a:ext cx="6608188" cy="3450210"/>
          </a:xfrm>
          <a:prstGeom prst="rect">
            <a:avLst/>
          </a:prstGeom>
          <a:noFill/>
        </p:spPr>
        <p:txBody>
          <a:bodyPr wrap="square" lIns="0" tIns="0" rIns="0" bIns="0" rtlCol="0">
            <a:noAutofit/>
          </a:bodyPr>
          <a:lstStyle/>
          <a:p>
            <a:pPr algn="ctr">
              <a:lnSpc>
                <a:spcPct val="150000"/>
              </a:lnSpc>
            </a:pPr>
            <a:r>
              <a:rPr lang="en-AU" sz="4400" dirty="0"/>
              <a:t>Which 2 </a:t>
            </a:r>
            <a:r>
              <a:rPr lang="en-AU" sz="4400" b="1" dirty="0"/>
              <a:t>rectangles</a:t>
            </a:r>
            <a:r>
              <a:rPr lang="en-AU" sz="4400" dirty="0"/>
              <a:t> have the same </a:t>
            </a:r>
            <a:r>
              <a:rPr lang="en-AU" sz="4400" b="1" dirty="0"/>
              <a:t>perimeter</a:t>
            </a:r>
            <a:r>
              <a:rPr lang="en-AU" sz="4400" dirty="0"/>
              <a:t>? </a:t>
            </a:r>
          </a:p>
          <a:p>
            <a:pPr algn="ctr">
              <a:lnSpc>
                <a:spcPct val="150000"/>
              </a:lnSpc>
            </a:pP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8" name="Picture 7" descr="An image of three different rectangles over grid paper, labelled A, B and C. There are two with the same perimeter.">
            <a:extLst>
              <a:ext uri="{FF2B5EF4-FFF2-40B4-BE49-F238E27FC236}">
                <a16:creationId xmlns:a16="http://schemas.microsoft.com/office/drawing/2014/main" id="{3992DB83-7DAC-099F-2F59-A6AAF61E78E5}"/>
              </a:ext>
            </a:extLst>
          </p:cNvPr>
          <p:cNvPicPr>
            <a:picLocks noChangeAspect="1"/>
          </p:cNvPicPr>
          <p:nvPr/>
        </p:nvPicPr>
        <p:blipFill>
          <a:blip r:embed="rId4"/>
          <a:stretch>
            <a:fillRect/>
          </a:stretch>
        </p:blipFill>
        <p:spPr>
          <a:xfrm>
            <a:off x="878395" y="1022223"/>
            <a:ext cx="4023607" cy="5673777"/>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DDFF9EF-AAE9-2CAD-3B93-1516BA727A01}"/>
              </a:ext>
            </a:extLst>
          </p:cNvPr>
          <p:cNvSpPr txBox="1"/>
          <p:nvPr/>
        </p:nvSpPr>
        <p:spPr>
          <a:xfrm>
            <a:off x="825189" y="1813931"/>
            <a:ext cx="10831551" cy="1189464"/>
          </a:xfrm>
          <a:prstGeom prst="rect">
            <a:avLst/>
          </a:prstGeom>
          <a:noFill/>
        </p:spPr>
        <p:txBody>
          <a:bodyPr wrap="square" lIns="0" tIns="0" rIns="0" bIns="0" rtlCol="0">
            <a:noAutofit/>
          </a:bodyPr>
          <a:lstStyle/>
          <a:p>
            <a:pPr algn="ctr">
              <a:lnSpc>
                <a:spcPct val="150000"/>
              </a:lnSpc>
            </a:pPr>
            <a:r>
              <a:rPr lang="en-AU" sz="4400" dirty="0"/>
              <a:t>A school uses </a:t>
            </a:r>
            <a:r>
              <a:rPr lang="en-AU" sz="4400" b="1" dirty="0"/>
              <a:t>12 chairs </a:t>
            </a:r>
            <a:r>
              <a:rPr lang="en-AU" sz="4400" dirty="0"/>
              <a:t>for </a:t>
            </a:r>
            <a:r>
              <a:rPr lang="en-AU" sz="4400" b="1" dirty="0"/>
              <a:t>3 tables </a:t>
            </a:r>
            <a:r>
              <a:rPr lang="en-AU" sz="4400" dirty="0"/>
              <a:t>at an event.</a:t>
            </a:r>
          </a:p>
          <a:p>
            <a:pPr algn="ctr">
              <a:lnSpc>
                <a:spcPct val="150000"/>
              </a:lnSpc>
            </a:pPr>
            <a:r>
              <a:rPr lang="en-AU" sz="4400" b="1" dirty="0"/>
              <a:t>How many </a:t>
            </a:r>
            <a:r>
              <a:rPr lang="en-AU" sz="4400" dirty="0"/>
              <a:t>chairs are needed for </a:t>
            </a:r>
            <a:r>
              <a:rPr lang="en-AU" sz="4400" b="1" dirty="0"/>
              <a:t>15 tables?</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17437D7-2141-469A-3BD4-2283D2BAE4AC}"/>
              </a:ext>
            </a:extLst>
          </p:cNvPr>
          <p:cNvSpPr txBox="1"/>
          <p:nvPr/>
        </p:nvSpPr>
        <p:spPr>
          <a:xfrm>
            <a:off x="652001" y="1093464"/>
            <a:ext cx="10687581" cy="2756647"/>
          </a:xfrm>
          <a:prstGeom prst="rect">
            <a:avLst/>
          </a:prstGeom>
          <a:noFill/>
        </p:spPr>
        <p:txBody>
          <a:bodyPr wrap="square" lIns="0" tIns="0" rIns="0" bIns="0" rtlCol="0">
            <a:noAutofit/>
          </a:bodyPr>
          <a:lstStyle/>
          <a:p>
            <a:pPr algn="ctr">
              <a:lnSpc>
                <a:spcPct val="150000"/>
              </a:lnSpc>
            </a:pPr>
            <a:r>
              <a:rPr lang="en-AU" sz="4400"/>
              <a:t>Is the game ‘Scissors, Paper, Rock’ </a:t>
            </a:r>
            <a:r>
              <a:rPr lang="en-AU" sz="4400" b="1"/>
              <a:t>fair</a:t>
            </a:r>
            <a:r>
              <a:rPr lang="en-AU" sz="4400"/>
              <a:t>?’</a:t>
            </a:r>
          </a:p>
          <a:p>
            <a:pPr algn="ctr">
              <a:lnSpc>
                <a:spcPct val="150000"/>
              </a:lnSpc>
            </a:pPr>
            <a:endParaRPr lang="en-AU" sz="4400"/>
          </a:p>
          <a:p>
            <a:pPr algn="ctr">
              <a:lnSpc>
                <a:spcPct val="150000"/>
              </a:lnSpc>
            </a:pPr>
            <a:endParaRPr lang="en-AU" sz="4400" b="1"/>
          </a:p>
          <a:p>
            <a:pPr algn="ctr">
              <a:lnSpc>
                <a:spcPct val="150000"/>
              </a:lnSpc>
            </a:pPr>
            <a:endParaRPr lang="en-AU" sz="4400" b="1"/>
          </a:p>
          <a:p>
            <a:pPr algn="ctr">
              <a:lnSpc>
                <a:spcPct val="150000"/>
              </a:lnSpc>
            </a:pPr>
            <a:r>
              <a:rPr lang="en-AU" sz="4400" b="1"/>
              <a:t>Communicate</a:t>
            </a:r>
            <a:r>
              <a:rPr lang="en-AU" sz="4400"/>
              <a:t> your </a:t>
            </a:r>
            <a:r>
              <a:rPr lang="en-AU" sz="4400" b="1"/>
              <a:t>reasoning</a:t>
            </a:r>
            <a:r>
              <a:rPr lang="en-AU" sz="4400"/>
              <a:t>.</a:t>
            </a:r>
          </a:p>
        </p:txBody>
      </p:sp>
      <p:pic>
        <p:nvPicPr>
          <p:cNvPr id="7" name="Picture 6" descr="An image of hands playing rock paper scissors. One hand is showing the rock, one showing scissors and one showing paper.">
            <a:extLst>
              <a:ext uri="{FF2B5EF4-FFF2-40B4-BE49-F238E27FC236}">
                <a16:creationId xmlns:a16="http://schemas.microsoft.com/office/drawing/2014/main" id="{B7A7E1E7-41BB-CF0B-D53F-4DD010E15A52}"/>
              </a:ext>
            </a:extLst>
          </p:cNvPr>
          <p:cNvPicPr>
            <a:picLocks noChangeAspect="1"/>
          </p:cNvPicPr>
          <p:nvPr/>
        </p:nvPicPr>
        <p:blipFill>
          <a:blip r:embed="rId4"/>
          <a:stretch>
            <a:fillRect/>
          </a:stretch>
        </p:blipFill>
        <p:spPr>
          <a:xfrm>
            <a:off x="4635425" y="2471787"/>
            <a:ext cx="2921150" cy="252108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6D89D-F6AE-26D8-74A5-1DA4F602C86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083DF73-E66E-7B8E-25F0-EE4E4C18AB3A}"/>
              </a:ext>
            </a:extLst>
          </p:cNvPr>
          <p:cNvSpPr>
            <a:spLocks noGrp="1"/>
          </p:cNvSpPr>
          <p:nvPr>
            <p:ph type="title"/>
          </p:nvPr>
        </p:nvSpPr>
        <p:spPr>
          <a:xfrm>
            <a:off x="360000" y="360000"/>
            <a:ext cx="10367268" cy="545601"/>
          </a:xfrm>
        </p:spPr>
        <p:txBody>
          <a:bodyPr/>
          <a:lstStyle/>
          <a:p>
            <a:r>
              <a:rPr lang="en-AU"/>
              <a:t>Activity 2 – addition and subtraction word problems</a:t>
            </a:r>
          </a:p>
        </p:txBody>
      </p:sp>
      <p:pic>
        <p:nvPicPr>
          <p:cNvPr id="4" name="Picture 3">
            <a:extLst>
              <a:ext uri="{FF2B5EF4-FFF2-40B4-BE49-F238E27FC236}">
                <a16:creationId xmlns:a16="http://schemas.microsoft.com/office/drawing/2014/main" id="{CBD66D3B-D4A3-542B-CD24-163DE2F285C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A8FE1FBD-AC69-7568-5476-FD6CBD3DC59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graphicFrame>
        <p:nvGraphicFramePr>
          <p:cNvPr id="3" name="Table 2">
            <a:extLst>
              <a:ext uri="{FF2B5EF4-FFF2-40B4-BE49-F238E27FC236}">
                <a16:creationId xmlns:a16="http://schemas.microsoft.com/office/drawing/2014/main" id="{FDF34F6C-8AB9-687D-4736-A43D7897C0F1}"/>
              </a:ext>
            </a:extLst>
          </p:cNvPr>
          <p:cNvGraphicFramePr>
            <a:graphicFrameLocks noGrp="1"/>
          </p:cNvGraphicFramePr>
          <p:nvPr>
            <p:extLst>
              <p:ext uri="{D42A27DB-BD31-4B8C-83A1-F6EECF244321}">
                <p14:modId xmlns:p14="http://schemas.microsoft.com/office/powerpoint/2010/main" val="1122182641"/>
              </p:ext>
            </p:extLst>
          </p:nvPr>
        </p:nvGraphicFramePr>
        <p:xfrm>
          <a:off x="359997" y="1246172"/>
          <a:ext cx="11467005" cy="5195090"/>
        </p:xfrm>
        <a:graphic>
          <a:graphicData uri="http://schemas.openxmlformats.org/drawingml/2006/table">
            <a:tbl>
              <a:tblPr firstRow="1" firstCol="1" bandRow="1">
                <a:tableStyleId>{5A111915-BE36-4E01-A7E5-04B1672EAD32}</a:tableStyleId>
              </a:tblPr>
              <a:tblGrid>
                <a:gridCol w="1910404">
                  <a:extLst>
                    <a:ext uri="{9D8B030D-6E8A-4147-A177-3AD203B41FA5}">
                      <a16:colId xmlns:a16="http://schemas.microsoft.com/office/drawing/2014/main" val="2599713423"/>
                    </a:ext>
                  </a:extLst>
                </a:gridCol>
                <a:gridCol w="2153862">
                  <a:extLst>
                    <a:ext uri="{9D8B030D-6E8A-4147-A177-3AD203B41FA5}">
                      <a16:colId xmlns:a16="http://schemas.microsoft.com/office/drawing/2014/main" val="3529358613"/>
                    </a:ext>
                  </a:extLst>
                </a:gridCol>
                <a:gridCol w="1668092">
                  <a:extLst>
                    <a:ext uri="{9D8B030D-6E8A-4147-A177-3AD203B41FA5}">
                      <a16:colId xmlns:a16="http://schemas.microsoft.com/office/drawing/2014/main" val="3022160666"/>
                    </a:ext>
                  </a:extLst>
                </a:gridCol>
                <a:gridCol w="1911549">
                  <a:extLst>
                    <a:ext uri="{9D8B030D-6E8A-4147-A177-3AD203B41FA5}">
                      <a16:colId xmlns:a16="http://schemas.microsoft.com/office/drawing/2014/main" val="933855849"/>
                    </a:ext>
                  </a:extLst>
                </a:gridCol>
                <a:gridCol w="2241455">
                  <a:extLst>
                    <a:ext uri="{9D8B030D-6E8A-4147-A177-3AD203B41FA5}">
                      <a16:colId xmlns:a16="http://schemas.microsoft.com/office/drawing/2014/main" val="2644483359"/>
                    </a:ext>
                  </a:extLst>
                </a:gridCol>
                <a:gridCol w="1581643">
                  <a:extLst>
                    <a:ext uri="{9D8B030D-6E8A-4147-A177-3AD203B41FA5}">
                      <a16:colId xmlns:a16="http://schemas.microsoft.com/office/drawing/2014/main" val="314310482"/>
                    </a:ext>
                  </a:extLst>
                </a:gridCol>
              </a:tblGrid>
              <a:tr h="840215">
                <a:tc>
                  <a:txBody>
                    <a:bodyPr/>
                    <a:lstStyle/>
                    <a:p>
                      <a:pPr>
                        <a:lnSpc>
                          <a:spcPct val="150000"/>
                        </a:lnSpc>
                        <a:spcBef>
                          <a:spcPts val="1200"/>
                        </a:spcBef>
                        <a:spcAft>
                          <a:spcPts val="600"/>
                        </a:spcAft>
                        <a:buNone/>
                      </a:pPr>
                      <a:r>
                        <a:rPr lang="en-AU" sz="1800">
                          <a:effectLst/>
                        </a:rPr>
                        <a:t>Fruits – serving size 100 grams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1200"/>
                        </a:spcBef>
                        <a:spcAft>
                          <a:spcPts val="600"/>
                        </a:spcAft>
                        <a:buNone/>
                      </a:pPr>
                      <a:r>
                        <a:rPr lang="en-AU" sz="1800">
                          <a:effectLst/>
                        </a:rPr>
                        <a:t>Carbohydrates (g)</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1200"/>
                        </a:spcBef>
                        <a:spcAft>
                          <a:spcPts val="600"/>
                        </a:spcAft>
                        <a:buNone/>
                      </a:pPr>
                      <a:r>
                        <a:rPr lang="en-AU" sz="1800">
                          <a:effectLst/>
                        </a:rPr>
                        <a:t>Protein (g)</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1200"/>
                        </a:spcBef>
                        <a:spcAft>
                          <a:spcPts val="600"/>
                        </a:spcAft>
                        <a:buNone/>
                      </a:pPr>
                      <a:r>
                        <a:rPr lang="en-AU" sz="1800">
                          <a:effectLst/>
                        </a:rPr>
                        <a:t>Fruits – serving size 100 grams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1200"/>
                        </a:spcBef>
                        <a:spcAft>
                          <a:spcPts val="600"/>
                        </a:spcAft>
                        <a:buNone/>
                      </a:pPr>
                      <a:r>
                        <a:rPr lang="en-AU" sz="1800">
                          <a:effectLst/>
                        </a:rPr>
                        <a:t>Carbohydrates (g)</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nSpc>
                          <a:spcPct val="150000"/>
                        </a:lnSpc>
                        <a:spcBef>
                          <a:spcPts val="1200"/>
                        </a:spcBef>
                        <a:spcAft>
                          <a:spcPts val="600"/>
                        </a:spcAft>
                        <a:buNone/>
                      </a:pPr>
                      <a:r>
                        <a:rPr lang="en-AU" sz="1800">
                          <a:effectLst/>
                        </a:rPr>
                        <a:t>Protein (g)</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937561549"/>
                  </a:ext>
                </a:extLst>
              </a:tr>
              <a:tr h="622125">
                <a:tc>
                  <a:txBody>
                    <a:bodyPr/>
                    <a:lstStyle/>
                    <a:p>
                      <a:pPr>
                        <a:lnSpc>
                          <a:spcPct val="150000"/>
                        </a:lnSpc>
                        <a:spcBef>
                          <a:spcPts val="1200"/>
                        </a:spcBef>
                        <a:spcAft>
                          <a:spcPts val="600"/>
                        </a:spcAft>
                        <a:buNone/>
                      </a:pPr>
                      <a:r>
                        <a:rPr lang="en-AU" sz="1800">
                          <a:effectLst/>
                        </a:rPr>
                        <a:t>Apples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13.81</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2.26</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b="1">
                          <a:effectLst/>
                        </a:rPr>
                        <a:t>Figs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19.38</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2.75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99760"/>
                  </a:ext>
                </a:extLst>
              </a:tr>
              <a:tr h="622125">
                <a:tc>
                  <a:txBody>
                    <a:bodyPr/>
                    <a:lstStyle/>
                    <a:p>
                      <a:pPr>
                        <a:lnSpc>
                          <a:spcPct val="150000"/>
                        </a:lnSpc>
                        <a:spcBef>
                          <a:spcPts val="1200"/>
                        </a:spcBef>
                        <a:spcAft>
                          <a:spcPts val="600"/>
                        </a:spcAft>
                        <a:buNone/>
                      </a:pPr>
                      <a:r>
                        <a:rPr lang="en-AU" sz="1800">
                          <a:effectLst/>
                        </a:rPr>
                        <a:t>Apricots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11.12</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1.45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b="1">
                          <a:effectLst/>
                        </a:rPr>
                        <a:t>Grapes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16.26</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0.67</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7332376"/>
                  </a:ext>
                </a:extLst>
              </a:tr>
              <a:tr h="622125">
                <a:tc>
                  <a:txBody>
                    <a:bodyPr/>
                    <a:lstStyle/>
                    <a:p>
                      <a:pPr>
                        <a:lnSpc>
                          <a:spcPct val="150000"/>
                        </a:lnSpc>
                        <a:spcBef>
                          <a:spcPts val="1200"/>
                        </a:spcBef>
                        <a:spcAft>
                          <a:spcPts val="600"/>
                        </a:spcAft>
                        <a:buNone/>
                      </a:pPr>
                      <a:r>
                        <a:rPr lang="en-AU" sz="1800">
                          <a:effectLst/>
                        </a:rPr>
                        <a:t>Bananas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88.28</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3.89</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b="1">
                          <a:effectLst/>
                        </a:rPr>
                        <a:t>Lemons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16</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1.5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777943"/>
                  </a:ext>
                </a:extLst>
              </a:tr>
              <a:tr h="622125">
                <a:tc>
                  <a:txBody>
                    <a:bodyPr/>
                    <a:lstStyle/>
                    <a:p>
                      <a:pPr>
                        <a:lnSpc>
                          <a:spcPct val="150000"/>
                        </a:lnSpc>
                        <a:spcBef>
                          <a:spcPts val="1200"/>
                        </a:spcBef>
                        <a:spcAft>
                          <a:spcPts val="600"/>
                        </a:spcAft>
                        <a:buNone/>
                      </a:pPr>
                      <a:r>
                        <a:rPr lang="en-AU" sz="1800">
                          <a:effectLst/>
                        </a:rPr>
                        <a:t>Blackberries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23.1</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1.31</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b="1">
                          <a:effectLst/>
                        </a:rPr>
                        <a:t>Oranges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11.75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0.94</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93917017"/>
                  </a:ext>
                </a:extLst>
              </a:tr>
              <a:tr h="622125">
                <a:tc>
                  <a:txBody>
                    <a:bodyPr/>
                    <a:lstStyle/>
                    <a:p>
                      <a:pPr>
                        <a:lnSpc>
                          <a:spcPct val="150000"/>
                        </a:lnSpc>
                        <a:spcBef>
                          <a:spcPts val="1200"/>
                        </a:spcBef>
                        <a:spcAft>
                          <a:spcPts val="600"/>
                        </a:spcAft>
                        <a:buNone/>
                      </a:pPr>
                      <a:r>
                        <a:rPr lang="en-AU" sz="1800">
                          <a:effectLst/>
                        </a:rPr>
                        <a:t>Blueberries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22.06</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0.65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b="1">
                          <a:effectLst/>
                        </a:rPr>
                        <a:t>Peaches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9.54</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0.91</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09754"/>
                  </a:ext>
                </a:extLst>
              </a:tr>
              <a:tr h="622125">
                <a:tc>
                  <a:txBody>
                    <a:bodyPr/>
                    <a:lstStyle/>
                    <a:p>
                      <a:pPr>
                        <a:lnSpc>
                          <a:spcPct val="150000"/>
                        </a:lnSpc>
                        <a:spcBef>
                          <a:spcPts val="1200"/>
                        </a:spcBef>
                        <a:spcAft>
                          <a:spcPts val="600"/>
                        </a:spcAft>
                        <a:buNone/>
                      </a:pPr>
                      <a:r>
                        <a:rPr lang="en-AU" sz="1800">
                          <a:effectLst/>
                        </a:rPr>
                        <a:t>Cherries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12.18</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1.36</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b="1">
                          <a:effectLst/>
                        </a:rPr>
                        <a:t>Plums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11.89</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0.705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73301570"/>
                  </a:ext>
                </a:extLst>
              </a:tr>
              <a:tr h="622125">
                <a:tc>
                  <a:txBody>
                    <a:bodyPr/>
                    <a:lstStyle/>
                    <a:p>
                      <a:pPr>
                        <a:lnSpc>
                          <a:spcPct val="150000"/>
                        </a:lnSpc>
                        <a:spcBef>
                          <a:spcPts val="1200"/>
                        </a:spcBef>
                        <a:spcAft>
                          <a:spcPts val="600"/>
                        </a:spcAft>
                        <a:buNone/>
                      </a:pPr>
                      <a:r>
                        <a:rPr lang="en-AU" sz="1800">
                          <a:effectLst/>
                        </a:rPr>
                        <a:t>Figs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19.38</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2.75</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b="1">
                          <a:effectLst/>
                        </a:rPr>
                        <a:t>Strawberries</a:t>
                      </a:r>
                      <a:endParaRPr lang="en-AU"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7.907</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0.608</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6399812"/>
                  </a:ext>
                </a:extLst>
              </a:tr>
            </a:tbl>
          </a:graphicData>
        </a:graphic>
      </p:graphicFrame>
    </p:spTree>
    <p:extLst>
      <p:ext uri="{BB962C8B-B14F-4D97-AF65-F5344CB8AC3E}">
        <p14:creationId xmlns:p14="http://schemas.microsoft.com/office/powerpoint/2010/main" val="3007487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15" name="TextBox 14">
            <a:extLst>
              <a:ext uri="{FF2B5EF4-FFF2-40B4-BE49-F238E27FC236}">
                <a16:creationId xmlns:a16="http://schemas.microsoft.com/office/drawing/2014/main" id="{E379C236-2B6D-3530-C7F3-92B812CD453B}"/>
              </a:ext>
            </a:extLst>
          </p:cNvPr>
          <p:cNvSpPr txBox="1"/>
          <p:nvPr/>
        </p:nvSpPr>
        <p:spPr>
          <a:xfrm>
            <a:off x="360001" y="1009701"/>
            <a:ext cx="11484000" cy="1902226"/>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3600" dirty="0"/>
              <a:t>Which</a:t>
            </a:r>
            <a:r>
              <a:rPr lang="en-AU" sz="3600" b="1" dirty="0"/>
              <a:t> number sentence </a:t>
            </a:r>
            <a:r>
              <a:rPr lang="en-AU" sz="3600" dirty="0"/>
              <a:t>matches this </a:t>
            </a:r>
            <a:r>
              <a:rPr lang="en-AU" sz="3600" b="1" dirty="0"/>
              <a:t>bar model? </a:t>
            </a:r>
          </a:p>
          <a:p>
            <a:pPr algn="ctr">
              <a:lnSpc>
                <a:spcPct val="150000"/>
              </a:lnSpc>
              <a:spcBef>
                <a:spcPts val="1200"/>
              </a:spcBef>
              <a:spcAft>
                <a:spcPts val="1200"/>
              </a:spcAft>
            </a:pPr>
            <a:r>
              <a:rPr lang="en-AU" sz="3600" dirty="0"/>
              <a:t>You may choose </a:t>
            </a:r>
            <a:r>
              <a:rPr lang="en-AU" sz="3600" b="1" dirty="0"/>
              <a:t>more than one</a:t>
            </a:r>
            <a:r>
              <a:rPr lang="en-AU" sz="3600" dirty="0"/>
              <a:t> answer.</a:t>
            </a:r>
            <a:endParaRPr lang="en-AU" sz="3600" b="1" dirty="0"/>
          </a:p>
          <a:p>
            <a:pPr algn="ctr">
              <a:lnSpc>
                <a:spcPct val="150000"/>
              </a:lnSpc>
              <a:spcBef>
                <a:spcPts val="1200"/>
              </a:spcBef>
              <a:spcAft>
                <a:spcPts val="1200"/>
              </a:spcAft>
            </a:pPr>
            <a:endParaRPr lang="en-AU" sz="4400" b="1" dirty="0"/>
          </a:p>
        </p:txBody>
      </p:sp>
      <p:pic>
        <p:nvPicPr>
          <p:cNvPr id="13" name="Picture 12" descr="Bar model showing 6.25 along the top, 2.5 on section underneath on the left and 3.75 in the section underneath on the right.">
            <a:extLst>
              <a:ext uri="{FF2B5EF4-FFF2-40B4-BE49-F238E27FC236}">
                <a16:creationId xmlns:a16="http://schemas.microsoft.com/office/drawing/2014/main" id="{52FEF978-A1C7-BAFA-A894-0709624C731D}"/>
              </a:ext>
            </a:extLst>
          </p:cNvPr>
          <p:cNvPicPr>
            <a:picLocks noChangeAspect="1"/>
          </p:cNvPicPr>
          <p:nvPr/>
        </p:nvPicPr>
        <p:blipFill>
          <a:blip r:embed="rId3"/>
          <a:stretch>
            <a:fillRect/>
          </a:stretch>
        </p:blipFill>
        <p:spPr>
          <a:xfrm>
            <a:off x="6433480" y="3336634"/>
            <a:ext cx="4734926" cy="2073733"/>
          </a:xfrm>
          <a:prstGeom prst="rect">
            <a:avLst/>
          </a:prstGeom>
        </p:spPr>
      </p:pic>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9" name="B">
            <a:extLst>
              <a:ext uri="{FF2B5EF4-FFF2-40B4-BE49-F238E27FC236}">
                <a16:creationId xmlns:a16="http://schemas.microsoft.com/office/drawing/2014/main" id="{F91A42F4-D8C9-20A3-82EB-86FAD4D776A8}"/>
              </a:ext>
            </a:extLst>
          </p:cNvPr>
          <p:cNvSpPr txBox="1"/>
          <p:nvPr/>
        </p:nvSpPr>
        <p:spPr>
          <a:xfrm>
            <a:off x="670560" y="32293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3182701"/>
            <a:ext cx="10175920" cy="641396"/>
          </a:xfrm>
        </p:spPr>
        <p:txBody>
          <a:bodyPr anchor="ctr"/>
          <a:lstStyle/>
          <a:p>
            <a:r>
              <a:rPr lang="en-US" sz="3600" dirty="0"/>
              <a:t>6.25 </a:t>
            </a:r>
            <a:r>
              <a:rPr lang="en-AU" sz="3600" dirty="0"/>
              <a:t>−</a:t>
            </a:r>
            <a:r>
              <a:rPr lang="en-US" sz="3600" dirty="0"/>
              <a:t> 2.5 = 3.75</a:t>
            </a:r>
          </a:p>
        </p:txBody>
      </p:sp>
      <p:sp>
        <p:nvSpPr>
          <p:cNvPr id="10" name="B">
            <a:extLst>
              <a:ext uri="{FF2B5EF4-FFF2-40B4-BE49-F238E27FC236}">
                <a16:creationId xmlns:a16="http://schemas.microsoft.com/office/drawing/2014/main" id="{CA9D5B15-A13C-EE8B-176F-3B4E3454A1A2}"/>
              </a:ext>
            </a:extLst>
          </p:cNvPr>
          <p:cNvSpPr txBox="1"/>
          <p:nvPr/>
        </p:nvSpPr>
        <p:spPr>
          <a:xfrm>
            <a:off x="670559" y="40772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4036964"/>
            <a:ext cx="10175920" cy="641396"/>
          </a:xfrm>
        </p:spPr>
        <p:txBody>
          <a:bodyPr anchor="ctr"/>
          <a:lstStyle/>
          <a:p>
            <a:r>
              <a:rPr lang="en-US" sz="3600"/>
              <a:t>3.75 </a:t>
            </a:r>
            <a:r>
              <a:rPr lang="en-AU" sz="3600"/>
              <a:t>−</a:t>
            </a:r>
            <a:r>
              <a:rPr lang="en-US" sz="3600"/>
              <a:t> 2.5 = 6.25</a:t>
            </a:r>
          </a:p>
        </p:txBody>
      </p:sp>
      <p:sp>
        <p:nvSpPr>
          <p:cNvPr id="12" name="C">
            <a:extLst>
              <a:ext uri="{FF2B5EF4-FFF2-40B4-BE49-F238E27FC236}">
                <a16:creationId xmlns:a16="http://schemas.microsoft.com/office/drawing/2014/main" id="{B4746450-E4E2-359C-DFCA-0532E811BD1E}"/>
              </a:ext>
            </a:extLst>
          </p:cNvPr>
          <p:cNvSpPr txBox="1"/>
          <p:nvPr/>
        </p:nvSpPr>
        <p:spPr>
          <a:xfrm>
            <a:off x="670558" y="49272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880667"/>
            <a:ext cx="10175920" cy="641396"/>
          </a:xfrm>
        </p:spPr>
        <p:txBody>
          <a:bodyPr anchor="ctr"/>
          <a:lstStyle/>
          <a:p>
            <a:r>
              <a:rPr lang="en-US" sz="3600" dirty="0"/>
              <a:t>6.25 + 2.5 = 3.75</a:t>
            </a:r>
          </a:p>
        </p:txBody>
      </p:sp>
      <p:sp>
        <p:nvSpPr>
          <p:cNvPr id="11" name="D">
            <a:extLst>
              <a:ext uri="{FF2B5EF4-FFF2-40B4-BE49-F238E27FC236}">
                <a16:creationId xmlns:a16="http://schemas.microsoft.com/office/drawing/2014/main" id="{9B8955CE-78C1-2F30-7505-4CA44A86BDFF}"/>
              </a:ext>
            </a:extLst>
          </p:cNvPr>
          <p:cNvSpPr txBox="1"/>
          <p:nvPr/>
        </p:nvSpPr>
        <p:spPr>
          <a:xfrm>
            <a:off x="670557" y="577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737070"/>
            <a:ext cx="10175920" cy="641396"/>
          </a:xfrm>
        </p:spPr>
        <p:txBody>
          <a:bodyPr anchor="ctr"/>
          <a:lstStyle/>
          <a:p>
            <a:r>
              <a:rPr lang="en-US" sz="3600"/>
              <a:t>2.5 + 3.75 = 6.25</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38C15E7-9708-EB08-51B6-688981A7A760}"/>
              </a:ext>
            </a:extLst>
          </p:cNvPr>
          <p:cNvSpPr txBox="1"/>
          <p:nvPr/>
        </p:nvSpPr>
        <p:spPr>
          <a:xfrm>
            <a:off x="360000" y="1402237"/>
            <a:ext cx="11390040" cy="2026763"/>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dirty="0"/>
              <a:t>A garden bed measures </a:t>
            </a:r>
            <a:r>
              <a:rPr lang="en-AU" sz="4400" b="1" dirty="0"/>
              <a:t>6.54 metres </a:t>
            </a:r>
            <a:r>
              <a:rPr lang="en-AU" sz="4400" dirty="0"/>
              <a:t>and is extended by </a:t>
            </a:r>
            <a:r>
              <a:rPr lang="en-AU" sz="4400" b="1" dirty="0"/>
              <a:t>2.99 metres</a:t>
            </a:r>
            <a:r>
              <a:rPr lang="en-AU" sz="4400" dirty="0"/>
              <a:t>. </a:t>
            </a:r>
          </a:p>
          <a:p>
            <a:pPr algn="ctr">
              <a:lnSpc>
                <a:spcPct val="150000"/>
              </a:lnSpc>
              <a:spcBef>
                <a:spcPts val="1200"/>
              </a:spcBef>
              <a:spcAft>
                <a:spcPts val="1200"/>
              </a:spcAft>
            </a:pPr>
            <a:r>
              <a:rPr lang="en-AU" sz="4400" dirty="0"/>
              <a:t>What is the </a:t>
            </a:r>
            <a:r>
              <a:rPr lang="en-AU" sz="4400" b="1" dirty="0"/>
              <a:t>total length </a:t>
            </a:r>
            <a:r>
              <a:rPr lang="en-AU" sz="4400" dirty="0"/>
              <a:t>of the garden bed?</a:t>
            </a:r>
          </a:p>
          <a:p>
            <a:pPr algn="ctr">
              <a:lnSpc>
                <a:spcPct val="150000"/>
              </a:lnSpc>
              <a:spcBef>
                <a:spcPts val="1200"/>
              </a:spcBef>
              <a:spcAft>
                <a:spcPts val="1200"/>
              </a:spcAft>
            </a:pPr>
            <a:r>
              <a:rPr lang="en-AU" sz="4400" b="1" dirty="0"/>
              <a:t>Communicate</a:t>
            </a:r>
            <a:r>
              <a:rPr lang="en-AU" sz="4400" dirty="0"/>
              <a:t> your </a:t>
            </a:r>
            <a:r>
              <a:rPr lang="en-AU" sz="4400" b="1" dirty="0"/>
              <a:t>reasoning. </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F1665E1-4921-5514-BDC8-CFE597BD0E47}"/>
              </a:ext>
            </a:extLst>
          </p:cNvPr>
          <p:cNvSpPr txBox="1"/>
          <p:nvPr/>
        </p:nvSpPr>
        <p:spPr>
          <a:xfrm>
            <a:off x="2364309" y="2048250"/>
            <a:ext cx="7827441" cy="1998176"/>
          </a:xfrm>
          <a:prstGeom prst="rect">
            <a:avLst/>
          </a:prstGeom>
          <a:noFill/>
        </p:spPr>
        <p:txBody>
          <a:bodyPr wrap="square">
            <a:spAutoFit/>
          </a:bodyPr>
          <a:lstStyle/>
          <a:p>
            <a:pPr algn="ctr">
              <a:lnSpc>
                <a:spcPct val="150000"/>
              </a:lnSpc>
            </a:pPr>
            <a:r>
              <a:rPr lang="en-AU" sz="4400" b="1"/>
              <a:t>6250</a:t>
            </a:r>
            <a:r>
              <a:rPr lang="en-AU" sz="4400"/>
              <a:t> </a:t>
            </a:r>
            <a:r>
              <a:rPr lang="en-AU" sz="4400" b="1"/>
              <a:t>metres</a:t>
            </a:r>
            <a:r>
              <a:rPr lang="en-AU" sz="4400"/>
              <a:t> is the same as _____ </a:t>
            </a:r>
            <a:r>
              <a:rPr lang="en-AU" sz="4400" b="1"/>
              <a:t>kilometres.</a:t>
            </a:r>
            <a:endParaRPr lang="en-AU" sz="4400"/>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C3073AC-2A70-8E90-D340-7B187099CE94}"/>
              </a:ext>
            </a:extLst>
          </p:cNvPr>
          <p:cNvSpPr txBox="1"/>
          <p:nvPr/>
        </p:nvSpPr>
        <p:spPr>
          <a:xfrm>
            <a:off x="2434993" y="1435100"/>
            <a:ext cx="7185257" cy="1382751"/>
          </a:xfrm>
          <a:prstGeom prst="rect">
            <a:avLst/>
          </a:prstGeom>
          <a:noFill/>
        </p:spPr>
        <p:txBody>
          <a:bodyPr wrap="square" lIns="0" tIns="0" rIns="0" bIns="0" rtlCol="0">
            <a:noAutofit/>
          </a:bodyPr>
          <a:lstStyle/>
          <a:p>
            <a:pPr algn="ctr">
              <a:lnSpc>
                <a:spcPct val="150000"/>
              </a:lnSpc>
            </a:pPr>
            <a:r>
              <a:rPr lang="en-AU" sz="4400" dirty="0"/>
              <a:t>An alarm beeps </a:t>
            </a:r>
            <a:r>
              <a:rPr lang="en-AU" sz="4400" b="1" dirty="0"/>
              <a:t>6 times </a:t>
            </a:r>
            <a:r>
              <a:rPr lang="en-AU" sz="4400" dirty="0"/>
              <a:t>every </a:t>
            </a:r>
            <a:r>
              <a:rPr lang="en-AU" sz="4400" b="1" dirty="0"/>
              <a:t>8 seconds</a:t>
            </a:r>
            <a:r>
              <a:rPr lang="en-AU" sz="4400" dirty="0"/>
              <a:t>. </a:t>
            </a:r>
          </a:p>
          <a:p>
            <a:pPr algn="ctr">
              <a:lnSpc>
                <a:spcPct val="150000"/>
              </a:lnSpc>
            </a:pPr>
            <a:r>
              <a:rPr lang="en-AU" sz="4400" dirty="0"/>
              <a:t>How many times does the beep sound in </a:t>
            </a:r>
            <a:r>
              <a:rPr lang="en-AU" sz="4400" b="1" dirty="0"/>
              <a:t>2</a:t>
            </a:r>
            <a:r>
              <a:rPr lang="en-AU" sz="4400" dirty="0"/>
              <a:t> </a:t>
            </a:r>
            <a:r>
              <a:rPr lang="en-AU" sz="4400" b="1" dirty="0"/>
              <a:t>minutes?</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BC3944D-7C16-AD47-3C3A-61C4A2F0E3A6}"/>
              </a:ext>
            </a:extLst>
          </p:cNvPr>
          <p:cNvSpPr txBox="1"/>
          <p:nvPr/>
        </p:nvSpPr>
        <p:spPr>
          <a:xfrm>
            <a:off x="360000" y="1214363"/>
            <a:ext cx="5317786" cy="5045164"/>
          </a:xfrm>
          <a:prstGeom prst="rect">
            <a:avLst/>
          </a:prstGeom>
          <a:noFill/>
        </p:spPr>
        <p:txBody>
          <a:bodyPr wrap="square">
            <a:spAutoFit/>
          </a:bodyPr>
          <a:lstStyle/>
          <a:p>
            <a:pPr algn="ctr">
              <a:lnSpc>
                <a:spcPct val="150000"/>
              </a:lnSpc>
            </a:pPr>
            <a:r>
              <a:rPr lang="en-US" sz="4400">
                <a:cs typeface="Arial"/>
              </a:rPr>
              <a:t>Identify a </a:t>
            </a:r>
            <a:r>
              <a:rPr lang="en-US" sz="4400" b="1">
                <a:cs typeface="Arial"/>
              </a:rPr>
              <a:t>right angle</a:t>
            </a:r>
            <a:r>
              <a:rPr lang="en-US" sz="4400">
                <a:cs typeface="Arial"/>
              </a:rPr>
              <a:t>, an </a:t>
            </a:r>
            <a:r>
              <a:rPr lang="en-US" sz="4400" b="1">
                <a:cs typeface="Arial"/>
              </a:rPr>
              <a:t>angle</a:t>
            </a:r>
            <a:r>
              <a:rPr lang="en-US" sz="4400">
                <a:cs typeface="Arial"/>
              </a:rPr>
              <a:t> </a:t>
            </a:r>
            <a:r>
              <a:rPr lang="en-US" sz="4400" b="1">
                <a:cs typeface="Arial"/>
              </a:rPr>
              <a:t>on a straight line</a:t>
            </a:r>
            <a:r>
              <a:rPr lang="en-US" sz="4400">
                <a:cs typeface="Arial"/>
              </a:rPr>
              <a:t> and an </a:t>
            </a:r>
            <a:r>
              <a:rPr lang="en-US" sz="4400" b="1">
                <a:cs typeface="Arial"/>
              </a:rPr>
              <a:t>angle</a:t>
            </a:r>
            <a:r>
              <a:rPr lang="en-US" sz="4400">
                <a:cs typeface="Arial"/>
              </a:rPr>
              <a:t> </a:t>
            </a:r>
            <a:r>
              <a:rPr lang="en-US" sz="4400" b="1">
                <a:cs typeface="Arial"/>
              </a:rPr>
              <a:t>at a point</a:t>
            </a:r>
            <a:r>
              <a:rPr lang="en-US" sz="4400">
                <a:cs typeface="Arial"/>
              </a:rPr>
              <a:t> in the picture.</a:t>
            </a:r>
            <a:endParaRPr lang="en-US" sz="440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9" name="Picture 8" descr="A geometric pattern made from connected line segments and blank sections. Angles are identified by pink, green and aqua highlight and the letters A, B and C.">
            <a:extLst>
              <a:ext uri="{FF2B5EF4-FFF2-40B4-BE49-F238E27FC236}">
                <a16:creationId xmlns:a16="http://schemas.microsoft.com/office/drawing/2014/main" id="{C3F85710-A845-3C54-C916-142A9C031050}"/>
              </a:ext>
            </a:extLst>
          </p:cNvPr>
          <p:cNvPicPr>
            <a:picLocks noChangeAspect="1"/>
          </p:cNvPicPr>
          <p:nvPr/>
        </p:nvPicPr>
        <p:blipFill>
          <a:blip r:embed="rId4"/>
          <a:stretch>
            <a:fillRect/>
          </a:stretch>
        </p:blipFill>
        <p:spPr>
          <a:xfrm>
            <a:off x="6191694" y="1823338"/>
            <a:ext cx="5562326" cy="35761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D340-EDBC-B781-F6A5-95C4D3BF871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8DB118-6E9F-73B4-51D8-A8F570E019F1}"/>
              </a:ext>
            </a:extLst>
          </p:cNvPr>
          <p:cNvSpPr>
            <a:spLocks noGrp="1"/>
          </p:cNvSpPr>
          <p:nvPr>
            <p:ph type="title"/>
          </p:nvPr>
        </p:nvSpPr>
        <p:spPr>
          <a:xfrm>
            <a:off x="360000" y="360000"/>
            <a:ext cx="11131274" cy="545601"/>
          </a:xfrm>
        </p:spPr>
        <p:txBody>
          <a:bodyPr/>
          <a:lstStyle/>
          <a:p>
            <a:r>
              <a:rPr lang="en-AU"/>
              <a:t>Activity 3 – addition and subtraction using representations 1 (1)</a:t>
            </a:r>
            <a:br>
              <a:rPr lang="en-AU"/>
            </a:br>
            <a:endParaRPr lang="en-AU"/>
          </a:p>
        </p:txBody>
      </p:sp>
      <p:pic>
        <p:nvPicPr>
          <p:cNvPr id="4" name="Picture 3">
            <a:extLst>
              <a:ext uri="{FF2B5EF4-FFF2-40B4-BE49-F238E27FC236}">
                <a16:creationId xmlns:a16="http://schemas.microsoft.com/office/drawing/2014/main" id="{338A6181-92A9-F032-A63E-C312B9A4608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2A1DC883-6DE8-7B12-055E-565EBB044F5F}"/>
              </a:ext>
            </a:extLst>
          </p:cNvPr>
          <p:cNvSpPr txBox="1"/>
          <p:nvPr/>
        </p:nvSpPr>
        <p:spPr>
          <a:xfrm>
            <a:off x="360000" y="1971651"/>
            <a:ext cx="11484000" cy="3013838"/>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Sam solved the </a:t>
            </a:r>
            <a:r>
              <a:rPr lang="en-AU" sz="4400" b="1">
                <a:effectLst/>
                <a:latin typeface="Arial" panose="020B0604020202020204" pitchFamily="34" charset="0"/>
                <a:ea typeface="Calibri" panose="020F0502020204030204" pitchFamily="34" charset="0"/>
              </a:rPr>
              <a:t>decimal number sentence</a:t>
            </a:r>
            <a:r>
              <a:rPr lang="en-AU" sz="4400">
                <a:effectLst/>
                <a:latin typeface="Arial" panose="020B0604020202020204" pitchFamily="34" charset="0"/>
                <a:ea typeface="Calibri" panose="020F0502020204030204" pitchFamily="34" charset="0"/>
              </a:rPr>
              <a:t>, 3.25 − 1.5 and got the answer 3.10. The answer is </a:t>
            </a:r>
            <a:r>
              <a:rPr lang="en-AU" sz="4400" b="1">
                <a:effectLst/>
                <a:latin typeface="Arial" panose="020B0604020202020204" pitchFamily="34" charset="0"/>
                <a:ea typeface="Calibri" panose="020F0502020204030204" pitchFamily="34" charset="0"/>
              </a:rPr>
              <a:t>incorrect.</a:t>
            </a:r>
            <a:endParaRPr lang="en-AU" sz="4400" b="1"/>
          </a:p>
        </p:txBody>
      </p:sp>
      <p:sp>
        <p:nvSpPr>
          <p:cNvPr id="2" name="Slide Number Placeholder 1">
            <a:extLst>
              <a:ext uri="{FF2B5EF4-FFF2-40B4-BE49-F238E27FC236}">
                <a16:creationId xmlns:a16="http://schemas.microsoft.com/office/drawing/2014/main" id="{02D9BB91-7D49-F574-78F9-C505B11D973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350711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1131274" cy="545601"/>
          </a:xfrm>
        </p:spPr>
        <p:txBody>
          <a:bodyPr/>
          <a:lstStyle/>
          <a:p>
            <a:r>
              <a:rPr lang="en-AU"/>
              <a:t>Activity 3 – addition and subtraction using representations 1 (2)</a:t>
            </a:r>
            <a:br>
              <a:rPr lang="en-AU"/>
            </a:br>
            <a:endParaRPr lang="en-AU"/>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86E3DDF2-EA18-6975-5228-0E75EB4D4477}"/>
              </a:ext>
            </a:extLst>
          </p:cNvPr>
          <p:cNvSpPr txBox="1"/>
          <p:nvPr/>
        </p:nvSpPr>
        <p:spPr>
          <a:xfrm>
            <a:off x="454016" y="1452836"/>
            <a:ext cx="11637104" cy="5045164"/>
          </a:xfrm>
          <a:prstGeom prst="rect">
            <a:avLst/>
          </a:prstGeom>
          <a:noFill/>
        </p:spPr>
        <p:txBody>
          <a:bodyPr wrap="square">
            <a:spAutoFit/>
          </a:bodyPr>
          <a:lstStyle/>
          <a:p>
            <a:pPr lvl="0" algn="ctr">
              <a:lnSpc>
                <a:spcPct val="150000"/>
              </a:lnSpc>
            </a:pPr>
            <a:r>
              <a:rPr lang="en-AU" sz="4400"/>
              <a:t>Jeremy got the answer 2.20. What </a:t>
            </a:r>
            <a:r>
              <a:rPr lang="en-AU" sz="4400" b="1"/>
              <a:t>error or misconception </a:t>
            </a:r>
            <a:r>
              <a:rPr lang="en-AU" sz="4400"/>
              <a:t>has he made?</a:t>
            </a:r>
          </a:p>
          <a:p>
            <a:pPr lvl="0" algn="ctr">
              <a:lnSpc>
                <a:spcPct val="150000"/>
              </a:lnSpc>
            </a:pPr>
            <a:r>
              <a:rPr lang="en-AU" sz="4400"/>
              <a:t> </a:t>
            </a:r>
          </a:p>
          <a:p>
            <a:pPr lvl="0" algn="ctr">
              <a:lnSpc>
                <a:spcPct val="150000"/>
              </a:lnSpc>
            </a:pPr>
            <a:r>
              <a:rPr lang="en-AU" sz="4400"/>
              <a:t>Charlotte got the answer 2.35. What </a:t>
            </a:r>
            <a:r>
              <a:rPr lang="en-AU" sz="4400" b="1"/>
              <a:t>error or misconception</a:t>
            </a:r>
            <a:r>
              <a:rPr lang="en-AU" sz="4400"/>
              <a:t> has she made? </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6DDCECA-CE56-444C-922E-7B55BA5A22BA}"/>
              </a:ext>
            </a:extLst>
          </p:cNvPr>
          <p:cNvPicPr>
            <a:picLocks noChangeAspect="1"/>
          </p:cNvPicPr>
          <p:nvPr/>
        </p:nvPicPr>
        <p:blipFill>
          <a:blip r:embed="rId3"/>
          <a:srcRect t="6552" b="11232"/>
          <a:stretch>
            <a:fillRect/>
          </a:stretch>
        </p:blipFill>
        <p:spPr>
          <a:xfrm>
            <a:off x="1975624" y="905601"/>
            <a:ext cx="8240751" cy="2962002"/>
          </a:xfrm>
          <a:prstGeom prst="rect">
            <a:avLst/>
          </a:prstGeom>
        </p:spPr>
      </p:pic>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725982" y="4331362"/>
            <a:ext cx="4740034" cy="893226"/>
          </a:xfrm>
        </p:spPr>
        <p:txBody>
          <a:bodyPr/>
          <a:lstStyle/>
          <a:p>
            <a:r>
              <a:rPr lang="en-US" sz="4400" dirty="0"/>
              <a:t>7.25 </a:t>
            </a:r>
            <a:r>
              <a:rPr lang="en-AU" sz="4400" dirty="0"/>
              <a:t>−</a:t>
            </a:r>
            <a:r>
              <a:rPr lang="en-US" sz="4400" dirty="0"/>
              <a:t> 1.5 = 5.75</a:t>
            </a:r>
          </a:p>
          <a:p>
            <a:endParaRPr lang="en-AU" sz="4400" dirty="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438205331"/>
              </p:ext>
            </p:extLst>
          </p:nvPr>
        </p:nvGraphicFramePr>
        <p:xfrm>
          <a:off x="2557461" y="568834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CCDC58-8947-64D9-1BC3-805BC153F108}"/>
              </a:ext>
            </a:extLst>
          </p:cNvPr>
          <p:cNvSpPr txBox="1"/>
          <p:nvPr/>
        </p:nvSpPr>
        <p:spPr>
          <a:xfrm>
            <a:off x="705070" y="932223"/>
            <a:ext cx="10781860" cy="5673777"/>
          </a:xfrm>
          <a:prstGeom prst="rect">
            <a:avLst/>
          </a:prstGeom>
          <a:noFill/>
        </p:spPr>
        <p:txBody>
          <a:bodyPr wrap="square" lIns="0" tIns="0" rIns="0" bIns="0" rtlCol="0">
            <a:noAutofit/>
          </a:bodyPr>
          <a:lstStyle/>
          <a:p>
            <a:pPr lvl="0" algn="ctr">
              <a:lnSpc>
                <a:spcPct val="150000"/>
              </a:lnSpc>
            </a:pPr>
            <a:r>
              <a:rPr lang="en-AU" sz="4000" dirty="0"/>
              <a:t>A shopper visits a tech store to buy </a:t>
            </a:r>
            <a:r>
              <a:rPr lang="en-AU" sz="4000" b="1" dirty="0"/>
              <a:t>3</a:t>
            </a:r>
            <a:r>
              <a:rPr lang="en-AU" sz="4000" dirty="0"/>
              <a:t> portable speakers.</a:t>
            </a:r>
          </a:p>
          <a:p>
            <a:pPr lvl="0" algn="ctr">
              <a:lnSpc>
                <a:spcPct val="150000"/>
              </a:lnSpc>
            </a:pPr>
            <a:r>
              <a:rPr lang="en-AU" sz="4000" dirty="0"/>
              <a:t>At the checkout, the sales assistant gives them a </a:t>
            </a:r>
            <a:r>
              <a:rPr lang="en-AU" sz="4000" b="1" dirty="0"/>
              <a:t>$50 discount </a:t>
            </a:r>
            <a:r>
              <a:rPr lang="en-AU" sz="4000" dirty="0"/>
              <a:t>and then tells them that the </a:t>
            </a:r>
            <a:r>
              <a:rPr lang="en-AU" sz="4000" b="1" dirty="0"/>
              <a:t>total is $147.75.</a:t>
            </a:r>
          </a:p>
          <a:p>
            <a:pPr lvl="0" algn="ctr">
              <a:lnSpc>
                <a:spcPct val="150000"/>
              </a:lnSpc>
            </a:pPr>
            <a:r>
              <a:rPr lang="en-AU" sz="4000" b="1" dirty="0"/>
              <a:t>Calculate</a:t>
            </a:r>
            <a:r>
              <a:rPr lang="en-AU" sz="4000" dirty="0"/>
              <a:t> the price of each </a:t>
            </a:r>
            <a:r>
              <a:rPr lang="en-AU" sz="4000" b="1" dirty="0"/>
              <a:t>potable speaker.</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A3A9D0AB-71E3-3359-E07C-9CBF6A1B57DF}"/>
              </a:ext>
            </a:extLst>
          </p:cNvPr>
          <p:cNvSpPr txBox="1"/>
          <p:nvPr/>
        </p:nvSpPr>
        <p:spPr>
          <a:xfrm>
            <a:off x="760998" y="905601"/>
            <a:ext cx="11071002" cy="772998"/>
          </a:xfrm>
          <a:prstGeom prst="rect">
            <a:avLst/>
          </a:prstGeom>
          <a:noFill/>
        </p:spPr>
        <p:txBody>
          <a:bodyPr wrap="square" lIns="0" tIns="0" rIns="0" bIns="0" rtlCol="0">
            <a:noAutofit/>
          </a:bodyPr>
          <a:lstStyle/>
          <a:p>
            <a:pPr algn="ctr">
              <a:lnSpc>
                <a:spcPct val="150000"/>
              </a:lnSpc>
            </a:pPr>
            <a:r>
              <a:rPr lang="en-AU" sz="4400"/>
              <a:t>Record</a:t>
            </a:r>
            <a:r>
              <a:rPr lang="en-AU" sz="4400" b="1"/>
              <a:t> </a:t>
            </a:r>
            <a:r>
              <a:rPr lang="en-AU" sz="4400"/>
              <a:t>the</a:t>
            </a:r>
            <a:r>
              <a:rPr lang="en-AU" sz="4400" b="1"/>
              <a:t> length </a:t>
            </a:r>
            <a:r>
              <a:rPr lang="en-AU" sz="4400"/>
              <a:t>of the table using </a:t>
            </a:r>
            <a:r>
              <a:rPr lang="en-AU" sz="4400" b="1"/>
              <a:t>decimal notation.</a:t>
            </a:r>
          </a:p>
        </p:txBody>
      </p:sp>
      <p:pic>
        <p:nvPicPr>
          <p:cNvPr id="7" name="Picture 6" descr="A dining table with 2850 m recorded across the top.">
            <a:extLst>
              <a:ext uri="{FF2B5EF4-FFF2-40B4-BE49-F238E27FC236}">
                <a16:creationId xmlns:a16="http://schemas.microsoft.com/office/drawing/2014/main" id="{AC39D364-39AE-AC52-0DC0-75ED38905431}"/>
              </a:ext>
            </a:extLst>
          </p:cNvPr>
          <p:cNvPicPr>
            <a:picLocks noChangeAspect="1"/>
          </p:cNvPicPr>
          <p:nvPr/>
        </p:nvPicPr>
        <p:blipFill>
          <a:blip r:embed="rId4"/>
          <a:stretch>
            <a:fillRect/>
          </a:stretch>
        </p:blipFill>
        <p:spPr>
          <a:xfrm>
            <a:off x="1755334" y="2871881"/>
            <a:ext cx="8681332" cy="3824119"/>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969D0D6-EAC9-EDC8-A8FA-AA72463C206D}"/>
              </a:ext>
            </a:extLst>
          </p:cNvPr>
          <p:cNvSpPr txBox="1"/>
          <p:nvPr/>
        </p:nvSpPr>
        <p:spPr>
          <a:xfrm>
            <a:off x="1879216" y="1940164"/>
            <a:ext cx="8433568" cy="1947746"/>
          </a:xfrm>
          <a:prstGeom prst="rect">
            <a:avLst/>
          </a:prstGeom>
          <a:noFill/>
        </p:spPr>
        <p:txBody>
          <a:bodyPr wrap="square" lIns="0" tIns="0" rIns="0" bIns="0" rtlCol="0">
            <a:noAutofit/>
          </a:bodyPr>
          <a:lstStyle/>
          <a:p>
            <a:pPr algn="ctr">
              <a:lnSpc>
                <a:spcPct val="150000"/>
              </a:lnSpc>
            </a:pPr>
            <a:r>
              <a:rPr lang="en-AU" sz="4400"/>
              <a:t>If </a:t>
            </a:r>
            <a:r>
              <a:rPr lang="en-AU" sz="4400" b="1"/>
              <a:t>4.2 × 10 is 42</a:t>
            </a:r>
            <a:r>
              <a:rPr lang="en-AU" sz="4400"/>
              <a:t>, </a:t>
            </a:r>
          </a:p>
          <a:p>
            <a:pPr algn="ctr">
              <a:lnSpc>
                <a:spcPct val="150000"/>
              </a:lnSpc>
            </a:pPr>
            <a:r>
              <a:rPr lang="en-AU" sz="4400"/>
              <a:t>what is </a:t>
            </a:r>
            <a:r>
              <a:rPr lang="en-AU" sz="4400" b="1"/>
              <a:t>4.2 × 100 </a:t>
            </a:r>
            <a:r>
              <a:rPr lang="en-AU" sz="4400"/>
              <a:t>? </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endParaRPr lang="en-AU"/>
          </a:p>
          <a:p>
            <a:pPr algn="ctr"/>
            <a:r>
              <a:rPr lang="en-AU"/>
              <a:t> </a:t>
            </a:r>
            <a:endParaRPr lang="en-AU" sz="1800"/>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1CE5D38-A033-D0FB-CA93-350D7C9C0FD1}"/>
              </a:ext>
            </a:extLst>
          </p:cNvPr>
          <p:cNvSpPr txBox="1"/>
          <p:nvPr/>
        </p:nvSpPr>
        <p:spPr>
          <a:xfrm>
            <a:off x="421610" y="1083395"/>
            <a:ext cx="6971508" cy="5172439"/>
          </a:xfrm>
          <a:prstGeom prst="rect">
            <a:avLst/>
          </a:prstGeom>
          <a:noFill/>
        </p:spPr>
        <p:txBody>
          <a:bodyPr wrap="square" lIns="0" tIns="0" rIns="0" bIns="0" rtlCol="0">
            <a:noAutofit/>
          </a:bodyPr>
          <a:lstStyle/>
          <a:p>
            <a:pPr algn="ctr">
              <a:lnSpc>
                <a:spcPct val="150000"/>
              </a:lnSpc>
            </a:pPr>
            <a:r>
              <a:rPr lang="en-AU" sz="4400"/>
              <a:t>One </a:t>
            </a:r>
            <a:r>
              <a:rPr lang="en-AU" sz="4400" b="1"/>
              <a:t>angle</a:t>
            </a:r>
            <a:r>
              <a:rPr lang="en-AU" sz="4400"/>
              <a:t> is </a:t>
            </a:r>
            <a:r>
              <a:rPr lang="en-AU" sz="4400" b="1"/>
              <a:t>120 degrees.</a:t>
            </a:r>
          </a:p>
          <a:p>
            <a:pPr algn="ctr">
              <a:lnSpc>
                <a:spcPct val="150000"/>
              </a:lnSpc>
            </a:pPr>
            <a:r>
              <a:rPr lang="en-AU" sz="4400"/>
              <a:t>The other </a:t>
            </a:r>
            <a:r>
              <a:rPr lang="en-AU" sz="4400" b="1"/>
              <a:t>angle</a:t>
            </a:r>
            <a:r>
              <a:rPr lang="en-AU" sz="4400"/>
              <a:t> is </a:t>
            </a:r>
            <a:r>
              <a:rPr lang="en-AU" sz="4400" b="1"/>
              <a:t>60 degrees.</a:t>
            </a:r>
          </a:p>
          <a:p>
            <a:pPr algn="ctr">
              <a:lnSpc>
                <a:spcPct val="150000"/>
              </a:lnSpc>
            </a:pPr>
            <a:r>
              <a:rPr lang="en-AU" sz="4400" b="1"/>
              <a:t>Record</a:t>
            </a:r>
            <a:r>
              <a:rPr lang="en-AU" sz="4400"/>
              <a:t> the </a:t>
            </a:r>
            <a:r>
              <a:rPr lang="en-AU" sz="4400" b="1"/>
              <a:t>total </a:t>
            </a:r>
            <a:r>
              <a:rPr lang="en-AU" sz="4400"/>
              <a:t>of both </a:t>
            </a:r>
            <a:r>
              <a:rPr lang="en-AU" sz="4400" b="1"/>
              <a:t>angles.</a:t>
            </a:r>
            <a:endParaRPr lang="en-AU" sz="1800" b="1"/>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7" name="Picture 6" descr="A picture of intersecting lines, One angle is 120 degrees and another is 60 degrees.">
            <a:extLst>
              <a:ext uri="{FF2B5EF4-FFF2-40B4-BE49-F238E27FC236}">
                <a16:creationId xmlns:a16="http://schemas.microsoft.com/office/drawing/2014/main" id="{D508FB2E-140A-2983-135F-4E20BD2FC30B}"/>
              </a:ext>
            </a:extLst>
          </p:cNvPr>
          <p:cNvPicPr>
            <a:picLocks noChangeAspect="1"/>
          </p:cNvPicPr>
          <p:nvPr/>
        </p:nvPicPr>
        <p:blipFill>
          <a:blip r:embed="rId4"/>
          <a:srcRect l="14817" t="11225" r="7066" b="5532"/>
          <a:stretch>
            <a:fillRect/>
          </a:stretch>
        </p:blipFill>
        <p:spPr>
          <a:xfrm>
            <a:off x="7453958" y="1739590"/>
            <a:ext cx="4492018" cy="3934053"/>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1319810" cy="545601"/>
          </a:xfrm>
        </p:spPr>
        <p:txBody>
          <a:bodyPr/>
          <a:lstStyle/>
          <a:p>
            <a:r>
              <a:rPr lang="en-AU"/>
              <a:t>Activity 4 – addition and subtraction using representations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5D383A24-348D-B9C9-D0CD-6D25176969AF}"/>
              </a:ext>
            </a:extLst>
          </p:cNvPr>
          <p:cNvSpPr txBox="1"/>
          <p:nvPr/>
        </p:nvSpPr>
        <p:spPr>
          <a:xfrm>
            <a:off x="1237783" y="2148445"/>
            <a:ext cx="3875314" cy="996538"/>
          </a:xfrm>
          <a:prstGeom prst="rect">
            <a:avLst/>
          </a:prstGeom>
          <a:noFill/>
        </p:spPr>
        <p:txBody>
          <a:bodyPr wrap="square" lIns="0" tIns="0" rIns="0" bIns="0" rtlCol="0">
            <a:noAutofit/>
          </a:bodyPr>
          <a:lstStyle/>
          <a:p>
            <a:pPr algn="ctr">
              <a:lnSpc>
                <a:spcPct val="150000"/>
              </a:lnSpc>
            </a:pPr>
            <a:r>
              <a:rPr lang="en-AU" sz="4400"/>
              <a:t>0.31 + 0.34</a:t>
            </a:r>
          </a:p>
        </p:txBody>
      </p:sp>
      <p:pic>
        <p:nvPicPr>
          <p:cNvPr id="10" name="Picture 9" descr="Decimats template with addition and subtraction space above each one.">
            <a:extLst>
              <a:ext uri="{FF2B5EF4-FFF2-40B4-BE49-F238E27FC236}">
                <a16:creationId xmlns:a16="http://schemas.microsoft.com/office/drawing/2014/main" id="{17C86778-4189-C57A-48C4-A71794D032BA}"/>
              </a:ext>
            </a:extLst>
          </p:cNvPr>
          <p:cNvPicPr>
            <a:picLocks noChangeAspect="1"/>
          </p:cNvPicPr>
          <p:nvPr/>
        </p:nvPicPr>
        <p:blipFill>
          <a:blip r:embed="rId4"/>
          <a:stretch>
            <a:fillRect/>
          </a:stretch>
        </p:blipFill>
        <p:spPr>
          <a:xfrm>
            <a:off x="6223440" y="1024707"/>
            <a:ext cx="3658379" cy="2854566"/>
          </a:xfrm>
          <a:prstGeom prst="rect">
            <a:avLst/>
          </a:prstGeom>
        </p:spPr>
      </p:pic>
      <p:sp>
        <p:nvSpPr>
          <p:cNvPr id="13" name="TextBox 12">
            <a:extLst>
              <a:ext uri="{FF2B5EF4-FFF2-40B4-BE49-F238E27FC236}">
                <a16:creationId xmlns:a16="http://schemas.microsoft.com/office/drawing/2014/main" id="{08BA5D08-B2BE-B9C1-D558-859DC8D4D70F}"/>
              </a:ext>
            </a:extLst>
          </p:cNvPr>
          <p:cNvSpPr txBox="1"/>
          <p:nvPr/>
        </p:nvSpPr>
        <p:spPr>
          <a:xfrm>
            <a:off x="127440" y="4850780"/>
            <a:ext cx="6096000" cy="982513"/>
          </a:xfrm>
          <a:prstGeom prst="rect">
            <a:avLst/>
          </a:prstGeom>
          <a:noFill/>
        </p:spPr>
        <p:txBody>
          <a:bodyPr wrap="square">
            <a:spAutoFit/>
          </a:bodyPr>
          <a:lstStyle/>
          <a:p>
            <a:pPr algn="ctr">
              <a:lnSpc>
                <a:spcPct val="150000"/>
              </a:lnSpc>
            </a:pPr>
            <a:r>
              <a:rPr lang="en-AU" sz="4400"/>
              <a:t>0.77 − 0.2</a:t>
            </a:r>
          </a:p>
        </p:txBody>
      </p:sp>
      <p:pic>
        <p:nvPicPr>
          <p:cNvPr id="11" name="Picture 10" descr="Decimats template with addition and subtraction space above each one.">
            <a:extLst>
              <a:ext uri="{FF2B5EF4-FFF2-40B4-BE49-F238E27FC236}">
                <a16:creationId xmlns:a16="http://schemas.microsoft.com/office/drawing/2014/main" id="{5CCF90BA-98B1-7BAA-3966-66FAD49C07E1}"/>
              </a:ext>
            </a:extLst>
          </p:cNvPr>
          <p:cNvPicPr>
            <a:picLocks noChangeAspect="1"/>
          </p:cNvPicPr>
          <p:nvPr/>
        </p:nvPicPr>
        <p:blipFill>
          <a:blip r:embed="rId4"/>
          <a:stretch>
            <a:fillRect/>
          </a:stretch>
        </p:blipFill>
        <p:spPr>
          <a:xfrm>
            <a:off x="6223440" y="3879273"/>
            <a:ext cx="3658379" cy="2854566"/>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1578361" y="2069739"/>
            <a:ext cx="8568691" cy="893226"/>
          </a:xfrm>
        </p:spPr>
        <p:txBody>
          <a:bodyPr/>
          <a:lstStyle/>
          <a:p>
            <a:pPr algn="ctr"/>
            <a:r>
              <a:rPr lang="en-AU" sz="4400" dirty="0"/>
              <a:t>If</a:t>
            </a:r>
            <a:r>
              <a:rPr lang="en-AU" sz="4400" spc="300" dirty="0"/>
              <a:t> 7 × 8 = 56, </a:t>
            </a:r>
            <a:r>
              <a:rPr lang="en-AU" sz="4400" dirty="0"/>
              <a:t>then</a:t>
            </a:r>
            <a:r>
              <a:rPr lang="en-AU" sz="4400" spc="300" dirty="0"/>
              <a:t> 56 ÷ 8= </a:t>
            </a:r>
            <a:endParaRPr lang="en-US" sz="4400" spc="300" dirty="0"/>
          </a:p>
          <a:p>
            <a:endParaRPr lang="en-US" sz="4400" dirty="0"/>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46504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BE5702E3-4622-9E32-61C3-A9DECE79FA1E}"/>
              </a:ext>
            </a:extLst>
          </p:cNvPr>
          <p:cNvSpPr txBox="1"/>
          <p:nvPr/>
        </p:nvSpPr>
        <p:spPr>
          <a:xfrm>
            <a:off x="1313646" y="5501857"/>
            <a:ext cx="529430" cy="888642"/>
          </a:xfrm>
          <a:prstGeom prst="rect">
            <a:avLst/>
          </a:prstGeom>
          <a:noFill/>
        </p:spPr>
        <p:txBody>
          <a:bodyPr wrap="square" lIns="0" tIns="0" rIns="0" bIns="0" rtlCol="0">
            <a:noAutofit/>
          </a:bodyPr>
          <a:lstStyle/>
          <a:p>
            <a:pPr algn="l"/>
            <a:r>
              <a:rPr lang="en-AU" sz="4400"/>
              <a:t>7</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6504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AB0D872D-B2CF-6ADC-7EC4-B13072A1FCFD}"/>
              </a:ext>
            </a:extLst>
          </p:cNvPr>
          <p:cNvSpPr txBox="1"/>
          <p:nvPr/>
        </p:nvSpPr>
        <p:spPr>
          <a:xfrm>
            <a:off x="4268679" y="5501857"/>
            <a:ext cx="529430" cy="888642"/>
          </a:xfrm>
          <a:prstGeom prst="rect">
            <a:avLst/>
          </a:prstGeom>
          <a:noFill/>
        </p:spPr>
        <p:txBody>
          <a:bodyPr wrap="square" lIns="0" tIns="0" rIns="0" bIns="0" rtlCol="0">
            <a:noAutofit/>
          </a:bodyPr>
          <a:lstStyle/>
          <a:p>
            <a:pPr algn="l"/>
            <a:r>
              <a:rPr lang="en-AU" sz="4400"/>
              <a:t>8</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6504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2BE4A09A-B265-930C-9F37-6D9F1844CDAF}"/>
              </a:ext>
            </a:extLst>
          </p:cNvPr>
          <p:cNvSpPr txBox="1"/>
          <p:nvPr/>
        </p:nvSpPr>
        <p:spPr>
          <a:xfrm>
            <a:off x="7262179" y="5485231"/>
            <a:ext cx="529430" cy="888642"/>
          </a:xfrm>
          <a:prstGeom prst="rect">
            <a:avLst/>
          </a:prstGeom>
          <a:noFill/>
        </p:spPr>
        <p:txBody>
          <a:bodyPr wrap="square" lIns="0" tIns="0" rIns="0" bIns="0" rtlCol="0">
            <a:noAutofit/>
          </a:bodyPr>
          <a:lstStyle/>
          <a:p>
            <a:pPr algn="l"/>
            <a:r>
              <a:rPr lang="en-AU" sz="4400"/>
              <a:t>6</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65047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970E501C-56CE-F51B-6A9E-8AD022C794CB}"/>
              </a:ext>
            </a:extLst>
          </p:cNvPr>
          <p:cNvSpPr txBox="1"/>
          <p:nvPr/>
        </p:nvSpPr>
        <p:spPr>
          <a:xfrm>
            <a:off x="10217212" y="5485231"/>
            <a:ext cx="529430" cy="888642"/>
          </a:xfrm>
          <a:prstGeom prst="rect">
            <a:avLst/>
          </a:prstGeom>
          <a:noFill/>
        </p:spPr>
        <p:txBody>
          <a:bodyPr wrap="square" lIns="0" tIns="0" rIns="0" bIns="0" rtlCol="0">
            <a:noAutofit/>
          </a:bodyPr>
          <a:lstStyle/>
          <a:p>
            <a:pPr algn="l"/>
            <a:r>
              <a:rPr lang="en-AU" sz="4400"/>
              <a:t>9</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E050A16-9974-F450-65FF-23F7B37BDD4B}"/>
              </a:ext>
            </a:extLst>
          </p:cNvPr>
          <p:cNvSpPr txBox="1"/>
          <p:nvPr/>
        </p:nvSpPr>
        <p:spPr>
          <a:xfrm>
            <a:off x="521230" y="1291107"/>
            <a:ext cx="10367268" cy="2137893"/>
          </a:xfrm>
          <a:prstGeom prst="rect">
            <a:avLst/>
          </a:prstGeom>
          <a:noFill/>
        </p:spPr>
        <p:txBody>
          <a:bodyPr wrap="square" lIns="0" tIns="0" rIns="0" bIns="0" rtlCol="0">
            <a:noAutofit/>
          </a:bodyPr>
          <a:lstStyle/>
          <a:p>
            <a:pPr algn="ctr">
              <a:lnSpc>
                <a:spcPct val="150000"/>
              </a:lnSpc>
            </a:pPr>
            <a:r>
              <a:rPr lang="en-AU" sz="4400" b="1" dirty="0"/>
              <a:t>Calculate</a:t>
            </a:r>
            <a:r>
              <a:rPr lang="en-AU" sz="4400" dirty="0"/>
              <a:t> the following </a:t>
            </a:r>
            <a:r>
              <a:rPr lang="en-AU" sz="4400" b="1" dirty="0"/>
              <a:t>discounts:</a:t>
            </a:r>
          </a:p>
          <a:p>
            <a:pPr marL="742950" indent="-742950" algn="ctr">
              <a:lnSpc>
                <a:spcPct val="150000"/>
              </a:lnSpc>
              <a:buFont typeface="+mj-lt"/>
              <a:buAutoNum type="alphaLcParenR"/>
            </a:pPr>
            <a:r>
              <a:rPr lang="en-AU" sz="4400" dirty="0"/>
              <a:t>10%</a:t>
            </a:r>
          </a:p>
          <a:p>
            <a:pPr marL="742950" indent="-742950" algn="ctr">
              <a:lnSpc>
                <a:spcPct val="150000"/>
              </a:lnSpc>
              <a:buFont typeface="+mj-lt"/>
              <a:buAutoNum type="alphaLcParenR"/>
            </a:pPr>
            <a:r>
              <a:rPr lang="en-AU" sz="4400" dirty="0"/>
              <a:t>25% </a:t>
            </a:r>
          </a:p>
          <a:p>
            <a:pPr marL="742950" indent="-742950" algn="ctr">
              <a:lnSpc>
                <a:spcPct val="150000"/>
              </a:lnSpc>
              <a:buFont typeface="+mj-lt"/>
              <a:buAutoNum type="alphaLcParenR"/>
            </a:pPr>
            <a:r>
              <a:rPr lang="en-AU" sz="4400" dirty="0"/>
              <a:t>50%</a:t>
            </a:r>
            <a:endParaRPr lang="en-AU" sz="1800" dirty="0"/>
          </a:p>
        </p:txBody>
      </p:sp>
      <p:pic>
        <p:nvPicPr>
          <p:cNvPr id="9" name="Picture 8" descr="An image of a t-shirt displaying a price tag of $89.&#10;">
            <a:extLst>
              <a:ext uri="{FF2B5EF4-FFF2-40B4-BE49-F238E27FC236}">
                <a16:creationId xmlns:a16="http://schemas.microsoft.com/office/drawing/2014/main" id="{D4546564-E0E2-1BD0-9335-87C22773BDB9}"/>
              </a:ext>
            </a:extLst>
          </p:cNvPr>
          <p:cNvPicPr>
            <a:picLocks noChangeAspect="1"/>
          </p:cNvPicPr>
          <p:nvPr/>
        </p:nvPicPr>
        <p:blipFill>
          <a:blip r:embed="rId4"/>
          <a:stretch>
            <a:fillRect/>
          </a:stretch>
        </p:blipFill>
        <p:spPr>
          <a:xfrm>
            <a:off x="7470008" y="2408915"/>
            <a:ext cx="4013992" cy="4197085"/>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D6783B1-4FA7-737F-D2AE-1DAA9961A631}"/>
              </a:ext>
            </a:extLst>
          </p:cNvPr>
          <p:cNvSpPr txBox="1"/>
          <p:nvPr/>
        </p:nvSpPr>
        <p:spPr>
          <a:xfrm>
            <a:off x="744718" y="2486320"/>
            <a:ext cx="6410226" cy="942680"/>
          </a:xfrm>
          <a:prstGeom prst="rect">
            <a:avLst/>
          </a:prstGeom>
          <a:noFill/>
        </p:spPr>
        <p:txBody>
          <a:bodyPr wrap="square" lIns="0" tIns="0" rIns="0" bIns="0" rtlCol="0">
            <a:noAutofit/>
          </a:bodyPr>
          <a:lstStyle/>
          <a:p>
            <a:pPr algn="l">
              <a:lnSpc>
                <a:spcPct val="150000"/>
              </a:lnSpc>
            </a:pPr>
            <a:r>
              <a:rPr lang="en-AU" sz="4400" dirty="0"/>
              <a:t>Convert to record the mass in </a:t>
            </a:r>
            <a:r>
              <a:rPr lang="en-AU" sz="4400" b="1" dirty="0"/>
              <a:t>kilograms</a:t>
            </a:r>
            <a:r>
              <a:rPr lang="en-AU" sz="4400" dirty="0"/>
              <a:t>.</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8" name="Picture 7" descr="A sack of potatoes with the writing 505 grams above it.">
            <a:extLst>
              <a:ext uri="{FF2B5EF4-FFF2-40B4-BE49-F238E27FC236}">
                <a16:creationId xmlns:a16="http://schemas.microsoft.com/office/drawing/2014/main" id="{AAF87121-6780-A8FA-3F32-B984B2CB786B}"/>
              </a:ext>
            </a:extLst>
          </p:cNvPr>
          <p:cNvPicPr>
            <a:picLocks noChangeAspect="1"/>
          </p:cNvPicPr>
          <p:nvPr/>
        </p:nvPicPr>
        <p:blipFill>
          <a:blip r:embed="rId4"/>
          <a:srcRect l="6213" t="5121" r="8230" b="3480"/>
          <a:stretch>
            <a:fillRect/>
          </a:stretch>
        </p:blipFill>
        <p:spPr>
          <a:xfrm>
            <a:off x="6906027" y="905601"/>
            <a:ext cx="4124449" cy="5429228"/>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5A025DE-9567-C71B-A0A8-095EE13D97F8}"/>
              </a:ext>
            </a:extLst>
          </p:cNvPr>
          <p:cNvSpPr txBox="1"/>
          <p:nvPr/>
        </p:nvSpPr>
        <p:spPr>
          <a:xfrm>
            <a:off x="892098" y="1256371"/>
            <a:ext cx="10742341" cy="1791629"/>
          </a:xfrm>
          <a:prstGeom prst="rect">
            <a:avLst/>
          </a:prstGeom>
          <a:noFill/>
        </p:spPr>
        <p:txBody>
          <a:bodyPr wrap="square" lIns="0" tIns="0" rIns="0" bIns="0" rtlCol="0">
            <a:noAutofit/>
          </a:bodyPr>
          <a:lstStyle/>
          <a:p>
            <a:pPr algn="ctr">
              <a:lnSpc>
                <a:spcPct val="150000"/>
              </a:lnSpc>
            </a:pPr>
            <a:r>
              <a:rPr lang="en-AU" sz="4400" dirty="0"/>
              <a:t>Use </a:t>
            </a:r>
            <a:r>
              <a:rPr lang="en-AU" sz="4400" b="1" dirty="0"/>
              <a:t>grouping symbols </a:t>
            </a:r>
            <a:r>
              <a:rPr lang="en-AU" sz="4400" dirty="0"/>
              <a:t>to make this sentence </a:t>
            </a:r>
            <a:r>
              <a:rPr lang="en-AU" sz="4400" b="1" dirty="0"/>
              <a:t>true</a:t>
            </a:r>
            <a:r>
              <a:rPr lang="en-AU" sz="4400" dirty="0"/>
              <a:t>:</a:t>
            </a:r>
          </a:p>
          <a:p>
            <a:pPr algn="ctr">
              <a:lnSpc>
                <a:spcPct val="150000"/>
              </a:lnSpc>
            </a:pPr>
            <a:endParaRPr lang="en-AU" sz="4400" dirty="0"/>
          </a:p>
          <a:p>
            <a:pPr algn="ctr">
              <a:lnSpc>
                <a:spcPct val="150000"/>
              </a:lnSpc>
            </a:pPr>
            <a:r>
              <a:rPr lang="en-AU" sz="5400" dirty="0">
                <a:solidFill>
                  <a:srgbClr val="146CFD"/>
                </a:solidFill>
              </a:rPr>
              <a:t>18 − 6 × 2 + 4 = 72</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91274E6-15E5-CF7A-3F7B-085A0BF15031}"/>
              </a:ext>
            </a:extLst>
          </p:cNvPr>
          <p:cNvSpPr txBox="1"/>
          <p:nvPr/>
        </p:nvSpPr>
        <p:spPr>
          <a:xfrm>
            <a:off x="360000" y="1116981"/>
            <a:ext cx="11290207" cy="4029501"/>
          </a:xfrm>
          <a:prstGeom prst="rect">
            <a:avLst/>
          </a:prstGeom>
          <a:noFill/>
        </p:spPr>
        <p:txBody>
          <a:bodyPr wrap="square">
            <a:spAutoFit/>
          </a:bodyPr>
          <a:lstStyle/>
          <a:p>
            <a:pPr algn="ctr">
              <a:lnSpc>
                <a:spcPct val="150000"/>
              </a:lnSpc>
            </a:pPr>
            <a:r>
              <a:rPr lang="en-AU" sz="4400" dirty="0"/>
              <a:t>Identify a situation where we would </a:t>
            </a:r>
          </a:p>
          <a:p>
            <a:pPr algn="ctr">
              <a:lnSpc>
                <a:spcPct val="150000"/>
              </a:lnSpc>
            </a:pPr>
            <a:r>
              <a:rPr lang="en-AU" sz="4400" dirty="0"/>
              <a:t>measure area in:</a:t>
            </a:r>
          </a:p>
          <a:p>
            <a:pPr marL="742950" indent="-742950" algn="ctr">
              <a:lnSpc>
                <a:spcPct val="150000"/>
              </a:lnSpc>
              <a:buFont typeface="+mj-lt"/>
              <a:buAutoNum type="alphaLcParenR"/>
            </a:pPr>
            <a:r>
              <a:rPr lang="en-AU" sz="4400" dirty="0"/>
              <a:t>square kilometres </a:t>
            </a:r>
          </a:p>
          <a:p>
            <a:pPr marL="742950" indent="-742950" algn="ctr">
              <a:lnSpc>
                <a:spcPct val="150000"/>
              </a:lnSpc>
              <a:buFont typeface="+mj-lt"/>
              <a:buAutoNum type="alphaLcParenR"/>
            </a:pPr>
            <a:r>
              <a:rPr lang="en-AU" sz="4400" dirty="0"/>
              <a:t>hectares</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inverse operations </a:t>
            </a:r>
            <a:r>
              <a:rPr lang="en-AU">
                <a:solidFill>
                  <a:schemeClr val="bg1"/>
                </a:solidFill>
              </a:rPr>
              <a:t>(2)</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78BA22D0-1BBC-1C1E-5848-1923CE4DE02E}"/>
              </a:ext>
            </a:extLst>
          </p:cNvPr>
          <p:cNvSpPr txBox="1"/>
          <p:nvPr/>
        </p:nvSpPr>
        <p:spPr>
          <a:xfrm>
            <a:off x="448083" y="1806664"/>
            <a:ext cx="11518376" cy="3244671"/>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Jason arranged </a:t>
            </a:r>
            <a:r>
              <a:rPr lang="en-AU" sz="4400" b="1">
                <a:effectLst/>
                <a:latin typeface="Arial" panose="020B0604020202020204" pitchFamily="34" charset="0"/>
                <a:ea typeface="Calibri" panose="020F0502020204030204" pitchFamily="34" charset="0"/>
              </a:rPr>
              <a:t>34 shelves </a:t>
            </a:r>
            <a:r>
              <a:rPr lang="en-AU" sz="4400">
                <a:effectLst/>
                <a:latin typeface="Arial" panose="020B0604020202020204" pitchFamily="34" charset="0"/>
                <a:ea typeface="Calibri" panose="020F0502020204030204" pitchFamily="34" charset="0"/>
              </a:rPr>
              <a:t>in his bookstore, and each shelf held </a:t>
            </a:r>
            <a:r>
              <a:rPr lang="en-AU" sz="4400" b="1">
                <a:effectLst/>
                <a:latin typeface="Arial" panose="020B0604020202020204" pitchFamily="34" charset="0"/>
                <a:ea typeface="Calibri" panose="020F0502020204030204" pitchFamily="34" charset="0"/>
              </a:rPr>
              <a:t>12 books.</a:t>
            </a:r>
          </a:p>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How many books did he arrange in </a:t>
            </a:r>
            <a:r>
              <a:rPr lang="en-AU" sz="4400" b="1">
                <a:effectLst/>
                <a:latin typeface="Arial" panose="020B0604020202020204" pitchFamily="34" charset="0"/>
                <a:ea typeface="Calibri" panose="020F0502020204030204" pitchFamily="34" charset="0"/>
              </a:rPr>
              <a:t>total</a:t>
            </a:r>
            <a:r>
              <a:rPr lang="en-AU" sz="4400">
                <a:effectLst/>
                <a:latin typeface="Arial" panose="020B0604020202020204" pitchFamily="34" charset="0"/>
                <a:ea typeface="Calibri" panose="020F0502020204030204" pitchFamily="34" charset="0"/>
              </a:rPr>
              <a:t>?</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 uri="{C183D7F6-B498-43B3-948B-1728B52AA6E4}">
                <adec:decorative xmlns:adec="http://schemas.microsoft.com/office/drawing/2017/decorative" val="0"/>
              </a:ext>
            </a:extLst>
          </p:cNvPr>
          <p:cNvSpPr>
            <a:spLocks noGrp="1"/>
          </p:cNvSpPr>
          <p:nvPr>
            <p:ph type="body" sz="quarter" idx="22"/>
          </p:nvPr>
        </p:nvSpPr>
        <p:spPr>
          <a:xfrm>
            <a:off x="3379217" y="2199343"/>
            <a:ext cx="5433566" cy="893226"/>
          </a:xfrm>
        </p:spPr>
        <p:txBody>
          <a:bodyPr/>
          <a:lstStyle/>
          <a:p>
            <a:pPr algn="ctr"/>
            <a:r>
              <a:rPr lang="en-AU" sz="5400" dirty="0"/>
              <a:t>224 ÷ 4 = 4 × 14</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404709854"/>
              </p:ext>
            </p:extLst>
          </p:nvPr>
        </p:nvGraphicFramePr>
        <p:xfrm>
          <a:off x="2442981" y="466815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5069775-8590-2A2C-B013-3796DFCFAD13}"/>
              </a:ext>
            </a:extLst>
          </p:cNvPr>
          <p:cNvSpPr txBox="1"/>
          <p:nvPr/>
        </p:nvSpPr>
        <p:spPr>
          <a:xfrm>
            <a:off x="360000" y="1274223"/>
            <a:ext cx="6717205" cy="5331777"/>
          </a:xfrm>
          <a:prstGeom prst="rect">
            <a:avLst/>
          </a:prstGeom>
          <a:noFill/>
        </p:spPr>
        <p:txBody>
          <a:bodyPr wrap="square" lIns="0" tIns="0" rIns="0" bIns="0" rtlCol="0">
            <a:noAutofit/>
          </a:bodyPr>
          <a:lstStyle/>
          <a:p>
            <a:pPr algn="ctr">
              <a:lnSpc>
                <a:spcPct val="150000"/>
              </a:lnSpc>
            </a:pPr>
            <a:r>
              <a:rPr lang="en-AU" sz="4400" b="1" dirty="0"/>
              <a:t>Estimate </a:t>
            </a:r>
            <a:r>
              <a:rPr lang="en-AU" sz="4400" dirty="0"/>
              <a:t>a</a:t>
            </a:r>
            <a:r>
              <a:rPr lang="en-AU" sz="4400" b="1" dirty="0"/>
              <a:t> 25% discount</a:t>
            </a:r>
            <a:r>
              <a:rPr lang="en-AU" sz="4400" dirty="0"/>
              <a:t> from the original sale price of this computer. </a:t>
            </a:r>
            <a:r>
              <a:rPr lang="en-AU" sz="4400" b="1" dirty="0"/>
              <a:t>Communicate</a:t>
            </a:r>
            <a:r>
              <a:rPr lang="en-AU" sz="4400" dirty="0"/>
              <a:t> your </a:t>
            </a:r>
            <a:r>
              <a:rPr lang="en-AU" sz="4400" b="1" dirty="0"/>
              <a:t>reasoning</a:t>
            </a:r>
            <a:r>
              <a:rPr lang="en-AU" sz="4400" dirty="0"/>
              <a:t>.</a:t>
            </a:r>
          </a:p>
          <a:p>
            <a:pPr algn="ctr">
              <a:lnSpc>
                <a:spcPct val="150000"/>
              </a:lnSpc>
            </a:pPr>
            <a:endParaRPr lang="en-AU" sz="4400" dirty="0"/>
          </a:p>
          <a:p>
            <a:pPr algn="ctr">
              <a:lnSpc>
                <a:spcPct val="150000"/>
              </a:lnSpc>
            </a:pPr>
            <a:endParaRPr lang="en-AU" sz="4400" dirty="0"/>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5" name="Picture 4" descr="A computer with the price tag $1985 displayed.">
            <a:extLst>
              <a:ext uri="{FF2B5EF4-FFF2-40B4-BE49-F238E27FC236}">
                <a16:creationId xmlns:a16="http://schemas.microsoft.com/office/drawing/2014/main" id="{B700401A-8CE5-5B58-1DDF-08C1FB2B0954}"/>
              </a:ext>
            </a:extLst>
          </p:cNvPr>
          <p:cNvPicPr>
            <a:picLocks noChangeAspect="1"/>
          </p:cNvPicPr>
          <p:nvPr/>
        </p:nvPicPr>
        <p:blipFill>
          <a:blip r:embed="rId4"/>
          <a:stretch>
            <a:fillRect/>
          </a:stretch>
        </p:blipFill>
        <p:spPr>
          <a:xfrm>
            <a:off x="7478038" y="1447787"/>
            <a:ext cx="4253706" cy="3962425"/>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A0E81D5-2F12-89AF-C783-F14C5CE9A6D7}"/>
              </a:ext>
            </a:extLst>
          </p:cNvPr>
          <p:cNvSpPr txBox="1"/>
          <p:nvPr/>
        </p:nvSpPr>
        <p:spPr>
          <a:xfrm>
            <a:off x="2486954" y="2238757"/>
            <a:ext cx="7218091" cy="1384300"/>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dirty="0"/>
              <a:t>Record </a:t>
            </a:r>
            <a:r>
              <a:rPr lang="en-AU" sz="4400" b="1" dirty="0"/>
              <a:t>6.079</a:t>
            </a:r>
            <a:r>
              <a:rPr lang="en-AU" sz="4400" dirty="0"/>
              <a:t> </a:t>
            </a:r>
            <a:r>
              <a:rPr lang="en-AU" sz="4400" b="1" dirty="0"/>
              <a:t>kg</a:t>
            </a:r>
            <a:r>
              <a:rPr lang="en-AU" sz="4400" dirty="0"/>
              <a:t> in </a:t>
            </a:r>
            <a:r>
              <a:rPr lang="en-AU" sz="4400" b="1" dirty="0"/>
              <a:t>kilograms</a:t>
            </a:r>
            <a:r>
              <a:rPr lang="en-AU" sz="4400" dirty="0"/>
              <a:t> and </a:t>
            </a:r>
            <a:r>
              <a:rPr lang="en-AU" sz="4400" b="1" dirty="0"/>
              <a:t>grams.</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F344B19-0672-D52A-00AE-EC552E3B5275}"/>
              </a:ext>
            </a:extLst>
          </p:cNvPr>
          <p:cNvSpPr txBox="1"/>
          <p:nvPr/>
        </p:nvSpPr>
        <p:spPr>
          <a:xfrm>
            <a:off x="2724615" y="2063619"/>
            <a:ext cx="6742770" cy="2416098"/>
          </a:xfrm>
          <a:prstGeom prst="rect">
            <a:avLst/>
          </a:prstGeom>
          <a:noFill/>
        </p:spPr>
        <p:txBody>
          <a:bodyPr wrap="square" lIns="0" tIns="0" rIns="0" bIns="0" rtlCol="0">
            <a:noAutofit/>
          </a:bodyPr>
          <a:lstStyle/>
          <a:p>
            <a:pPr algn="ctr">
              <a:lnSpc>
                <a:spcPct val="150000"/>
              </a:lnSpc>
            </a:pPr>
            <a:r>
              <a:rPr lang="en-AU" sz="4400" dirty="0"/>
              <a:t>Solve:</a:t>
            </a:r>
          </a:p>
          <a:p>
            <a:pPr algn="ctr">
              <a:lnSpc>
                <a:spcPct val="150000"/>
              </a:lnSpc>
            </a:pPr>
            <a:r>
              <a:rPr lang="en-AU" sz="4400" dirty="0"/>
              <a:t> </a:t>
            </a:r>
            <a:r>
              <a:rPr lang="en-AU" sz="5400" dirty="0">
                <a:solidFill>
                  <a:srgbClr val="146CFD"/>
                </a:solidFill>
              </a:rPr>
              <a:t>48 + (35 × 6)</a:t>
            </a:r>
            <a:endParaRPr lang="en-AU" sz="4400" dirty="0">
              <a:solidFill>
                <a:srgbClr val="146CFD"/>
              </a:solidFill>
            </a:endParaRP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9E11F16-9028-726F-9307-C259020B380F}"/>
              </a:ext>
            </a:extLst>
          </p:cNvPr>
          <p:cNvSpPr txBox="1"/>
          <p:nvPr/>
        </p:nvSpPr>
        <p:spPr>
          <a:xfrm>
            <a:off x="377934" y="864576"/>
            <a:ext cx="11436131" cy="3013838"/>
          </a:xfrm>
          <a:prstGeom prst="rect">
            <a:avLst/>
          </a:prstGeom>
          <a:noFill/>
        </p:spPr>
        <p:txBody>
          <a:bodyPr wrap="square">
            <a:spAutoFit/>
          </a:bodyPr>
          <a:lstStyle/>
          <a:p>
            <a:pPr algn="ctr">
              <a:lnSpc>
                <a:spcPct val="150000"/>
              </a:lnSpc>
            </a:pPr>
            <a:r>
              <a:rPr lang="en-AU" sz="4400" i="0" u="none" strike="noStrike" dirty="0">
                <a:solidFill>
                  <a:srgbClr val="22272B"/>
                </a:solidFill>
                <a:effectLst/>
                <a:latin typeface="Arial" panose="020B0604020202020204" pitchFamily="34" charset="0"/>
              </a:rPr>
              <a:t>List in the correct sequence</a:t>
            </a:r>
            <a:r>
              <a:rPr lang="en-AU" sz="4400" b="0" i="0" u="none" strike="noStrike" dirty="0">
                <a:solidFill>
                  <a:srgbClr val="22272B"/>
                </a:solidFill>
                <a:effectLst/>
                <a:latin typeface="Arial" panose="020B0604020202020204" pitchFamily="34" charset="0"/>
              </a:rPr>
              <a:t> the steps used to </a:t>
            </a:r>
            <a:r>
              <a:rPr lang="en-AU" sz="4400" b="1" i="0" u="none" strike="noStrike" dirty="0">
                <a:solidFill>
                  <a:srgbClr val="22272B"/>
                </a:solidFill>
                <a:effectLst/>
                <a:latin typeface="Arial" panose="020B0604020202020204" pitchFamily="34" charset="0"/>
              </a:rPr>
              <a:t>transform</a:t>
            </a:r>
            <a:r>
              <a:rPr lang="en-AU" sz="4400" b="0" i="0" u="none" strike="noStrike" dirty="0">
                <a:solidFill>
                  <a:srgbClr val="22272B"/>
                </a:solidFill>
                <a:effectLst/>
                <a:latin typeface="Arial" panose="020B0604020202020204" pitchFamily="34" charset="0"/>
              </a:rPr>
              <a:t> a </a:t>
            </a:r>
            <a:r>
              <a:rPr lang="en-AU" sz="4400" b="1" i="0" u="none" strike="noStrike" dirty="0">
                <a:solidFill>
                  <a:srgbClr val="22272B"/>
                </a:solidFill>
                <a:effectLst/>
                <a:latin typeface="Arial" panose="020B0604020202020204" pitchFamily="34" charset="0"/>
              </a:rPr>
              <a:t>parallelogram</a:t>
            </a:r>
            <a:r>
              <a:rPr lang="en-AU" sz="4400" b="0" i="0" u="none" strike="noStrike" dirty="0">
                <a:solidFill>
                  <a:srgbClr val="22272B"/>
                </a:solidFill>
                <a:effectLst/>
                <a:latin typeface="Arial" panose="020B0604020202020204" pitchFamily="34" charset="0"/>
              </a:rPr>
              <a:t> into a </a:t>
            </a:r>
            <a:r>
              <a:rPr lang="en-AU" sz="4400" b="1" i="0" u="none" strike="noStrike" dirty="0">
                <a:solidFill>
                  <a:srgbClr val="22272B"/>
                </a:solidFill>
                <a:effectLst/>
                <a:latin typeface="Arial" panose="020B0604020202020204" pitchFamily="34" charset="0"/>
              </a:rPr>
              <a:t>rectangle</a:t>
            </a:r>
            <a:r>
              <a:rPr lang="en-AU" sz="4400" b="0" i="0" u="none" strike="noStrike" dirty="0">
                <a:solidFill>
                  <a:srgbClr val="22272B"/>
                </a:solidFill>
                <a:effectLst/>
                <a:latin typeface="Arial" panose="020B0604020202020204" pitchFamily="34" charset="0"/>
              </a:rPr>
              <a:t> to find its </a:t>
            </a:r>
            <a:r>
              <a:rPr lang="en-AU" sz="4400" b="1" i="0" u="none" strike="noStrike" dirty="0">
                <a:solidFill>
                  <a:srgbClr val="22272B"/>
                </a:solidFill>
                <a:effectLst/>
                <a:latin typeface="Arial" panose="020B0604020202020204" pitchFamily="34" charset="0"/>
              </a:rPr>
              <a:t>area</a:t>
            </a:r>
            <a:r>
              <a:rPr lang="en-AU" sz="4400" b="0" i="0" u="none" strike="noStrike" dirty="0">
                <a:solidFill>
                  <a:srgbClr val="22272B"/>
                </a:solidFill>
                <a:effectLst/>
                <a:latin typeface="Arial" panose="020B0604020202020204" pitchFamily="34" charset="0"/>
              </a:rPr>
              <a:t>.</a:t>
            </a:r>
            <a:r>
              <a:rPr lang="en-AU" sz="4400" b="0" i="0" dirty="0">
                <a:solidFill>
                  <a:srgbClr val="000000"/>
                </a:solidFill>
                <a:effectLst/>
                <a:latin typeface="Arial" panose="020B0604020202020204" pitchFamily="34" charset="0"/>
              </a:rPr>
              <a:t>​</a:t>
            </a:r>
            <a:endParaRPr lang="en-AU" sz="4400" dirty="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grpSp>
        <p:nvGrpSpPr>
          <p:cNvPr id="13" name="Group 12" descr="A. Reconstructed rectangle.">
            <a:extLst>
              <a:ext uri="{FF2B5EF4-FFF2-40B4-BE49-F238E27FC236}">
                <a16:creationId xmlns:a16="http://schemas.microsoft.com/office/drawing/2014/main" id="{67081682-8F4B-D0A7-6096-BC955D14CEB9}"/>
              </a:ext>
            </a:extLst>
          </p:cNvPr>
          <p:cNvGrpSpPr/>
          <p:nvPr/>
        </p:nvGrpSpPr>
        <p:grpSpPr>
          <a:xfrm>
            <a:off x="981520" y="4240380"/>
            <a:ext cx="2613565" cy="2406753"/>
            <a:chOff x="8416911" y="3878414"/>
            <a:chExt cx="2613565" cy="2406753"/>
          </a:xfrm>
        </p:grpSpPr>
        <p:pic>
          <p:nvPicPr>
            <p:cNvPr id="1026" name="Picture 2" descr="Step-by-step images to show how to transform a parallelogram to make a rectangle.">
              <a:extLst>
                <a:ext uri="{FF2B5EF4-FFF2-40B4-BE49-F238E27FC236}">
                  <a16:creationId xmlns:a16="http://schemas.microsoft.com/office/drawing/2014/main" id="{C687C29F-0A30-19BA-0BF0-8AD9D05859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671"/>
            <a:stretch>
              <a:fillRect/>
            </a:stretch>
          </p:blipFill>
          <p:spPr bwMode="auto">
            <a:xfrm>
              <a:off x="8459460" y="4132948"/>
              <a:ext cx="2571016" cy="21522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A327EE5-1A56-9339-756F-3A2E7C483D1A}"/>
                </a:ext>
              </a:extLst>
            </p:cNvPr>
            <p:cNvSpPr txBox="1"/>
            <p:nvPr/>
          </p:nvSpPr>
          <p:spPr>
            <a:xfrm>
              <a:off x="8416911" y="3878414"/>
              <a:ext cx="1328057" cy="461665"/>
            </a:xfrm>
            <a:prstGeom prst="rect">
              <a:avLst/>
            </a:prstGeom>
            <a:noFill/>
          </p:spPr>
          <p:txBody>
            <a:bodyPr wrap="square">
              <a:spAutoFit/>
            </a:bodyPr>
            <a:lstStyle/>
            <a:p>
              <a:r>
                <a:rPr lang="en-AU" b="1" i="0" u="none" strike="noStrike" dirty="0">
                  <a:solidFill>
                    <a:srgbClr val="22272B"/>
                  </a:solidFill>
                  <a:effectLst/>
                  <a:latin typeface="Arial" panose="020B0604020202020204" pitchFamily="34" charset="0"/>
                </a:rPr>
                <a:t>A.</a:t>
              </a:r>
              <a:endParaRPr lang="en-AU" dirty="0"/>
            </a:p>
          </p:txBody>
        </p:sp>
      </p:grpSp>
      <p:grpSp>
        <p:nvGrpSpPr>
          <p:cNvPr id="9" name="Group 8" descr="B. Scissors cutting small triangle shape from left side of parallelogram.">
            <a:extLst>
              <a:ext uri="{FF2B5EF4-FFF2-40B4-BE49-F238E27FC236}">
                <a16:creationId xmlns:a16="http://schemas.microsoft.com/office/drawing/2014/main" id="{30DDA4B3-0B10-C78A-FD2B-F5337DF2452C}"/>
              </a:ext>
            </a:extLst>
          </p:cNvPr>
          <p:cNvGrpSpPr/>
          <p:nvPr/>
        </p:nvGrpSpPr>
        <p:grpSpPr>
          <a:xfrm>
            <a:off x="4831427" y="4240380"/>
            <a:ext cx="2529144" cy="2383052"/>
            <a:chOff x="857718" y="4109246"/>
            <a:chExt cx="2529144" cy="2383052"/>
          </a:xfrm>
        </p:grpSpPr>
        <p:pic>
          <p:nvPicPr>
            <p:cNvPr id="4" name="Picture 2" descr="Step-by-step images to show how to transform a parallelogram to make a rectangle.">
              <a:extLst>
                <a:ext uri="{FF2B5EF4-FFF2-40B4-BE49-F238E27FC236}">
                  <a16:creationId xmlns:a16="http://schemas.microsoft.com/office/drawing/2014/main" id="{843BC5D1-6D79-D65C-0300-202FFBA4043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828" t="-348" r="33565" b="348"/>
            <a:stretch>
              <a:fillRect/>
            </a:stretch>
          </p:blipFill>
          <p:spPr bwMode="auto">
            <a:xfrm>
              <a:off x="944744" y="4340079"/>
              <a:ext cx="2442118" cy="215221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2A72EB-F844-11DE-18B4-B1B44061FBF8}"/>
                </a:ext>
              </a:extLst>
            </p:cNvPr>
            <p:cNvSpPr txBox="1"/>
            <p:nvPr/>
          </p:nvSpPr>
          <p:spPr>
            <a:xfrm>
              <a:off x="857718" y="4109246"/>
              <a:ext cx="1589314" cy="461665"/>
            </a:xfrm>
            <a:prstGeom prst="rect">
              <a:avLst/>
            </a:prstGeom>
            <a:noFill/>
          </p:spPr>
          <p:txBody>
            <a:bodyPr wrap="square">
              <a:spAutoFit/>
            </a:bodyPr>
            <a:lstStyle/>
            <a:p>
              <a:r>
                <a:rPr lang="en-AU" b="1" i="0" u="none" strike="noStrike" dirty="0">
                  <a:solidFill>
                    <a:srgbClr val="22272B"/>
                  </a:solidFill>
                  <a:effectLst/>
                  <a:latin typeface="Arial" panose="020B0604020202020204" pitchFamily="34" charset="0"/>
                </a:rPr>
                <a:t>B.</a:t>
              </a:r>
              <a:endParaRPr lang="en-AU" dirty="0"/>
            </a:p>
          </p:txBody>
        </p:sp>
      </p:grpSp>
      <p:grpSp>
        <p:nvGrpSpPr>
          <p:cNvPr id="11" name="Group 10" descr="C. Ruler and pencil drawing a line from top left corner  to bottom of parallelogram.">
            <a:extLst>
              <a:ext uri="{FF2B5EF4-FFF2-40B4-BE49-F238E27FC236}">
                <a16:creationId xmlns:a16="http://schemas.microsoft.com/office/drawing/2014/main" id="{EB74204A-813E-94BA-3CE0-1CE24AF1479D}"/>
              </a:ext>
            </a:extLst>
          </p:cNvPr>
          <p:cNvGrpSpPr/>
          <p:nvPr/>
        </p:nvGrpSpPr>
        <p:grpSpPr>
          <a:xfrm>
            <a:off x="8683939" y="4240380"/>
            <a:ext cx="2571016" cy="2401978"/>
            <a:chOff x="4561932" y="4204022"/>
            <a:chExt cx="2571016" cy="2401978"/>
          </a:xfrm>
        </p:grpSpPr>
        <p:pic>
          <p:nvPicPr>
            <p:cNvPr id="7" name="Picture 2" descr="Step-by-step images to show how to transform a parallelogram to make a rectangle.">
              <a:extLst>
                <a:ext uri="{FF2B5EF4-FFF2-40B4-BE49-F238E27FC236}">
                  <a16:creationId xmlns:a16="http://schemas.microsoft.com/office/drawing/2014/main" id="{0AD05436-6956-0356-282C-2EE9807EB2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5671"/>
            <a:stretch>
              <a:fillRect/>
            </a:stretch>
          </p:blipFill>
          <p:spPr bwMode="auto">
            <a:xfrm>
              <a:off x="4561932" y="4453781"/>
              <a:ext cx="2571016" cy="215221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FDFC7C1-9BBB-CCBE-51C7-7645DF41DF72}"/>
                </a:ext>
              </a:extLst>
            </p:cNvPr>
            <p:cNvSpPr txBox="1"/>
            <p:nvPr/>
          </p:nvSpPr>
          <p:spPr>
            <a:xfrm>
              <a:off x="4595103" y="4204022"/>
              <a:ext cx="1328057" cy="461665"/>
            </a:xfrm>
            <a:prstGeom prst="rect">
              <a:avLst/>
            </a:prstGeom>
            <a:noFill/>
          </p:spPr>
          <p:txBody>
            <a:bodyPr wrap="square">
              <a:spAutoFit/>
            </a:bodyPr>
            <a:lstStyle/>
            <a:p>
              <a:r>
                <a:rPr lang="en-AU" b="1" dirty="0">
                  <a:solidFill>
                    <a:srgbClr val="22272B"/>
                  </a:solidFill>
                  <a:latin typeface="Arial" panose="020B0604020202020204" pitchFamily="34" charset="0"/>
                </a:rPr>
                <a:t>C.</a:t>
              </a:r>
              <a:endParaRPr lang="en-AU" dirty="0"/>
            </a:p>
          </p:txBody>
        </p:sp>
      </p:gr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1008726" cy="545601"/>
          </a:xfrm>
        </p:spPr>
        <p:txBody>
          <a:bodyPr/>
          <a:lstStyle/>
          <a:p>
            <a:r>
              <a:rPr lang="en-AU"/>
              <a:t>Activity 6 – number sentences with missing numbers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 rectangle showing that it measures 152 square metres and the length is 8 metres but the height is unknown.">
            <a:extLst>
              <a:ext uri="{FF2B5EF4-FFF2-40B4-BE49-F238E27FC236}">
                <a16:creationId xmlns:a16="http://schemas.microsoft.com/office/drawing/2014/main" id="{EF8F81B3-0FCE-9438-7C91-CB5694DC203F}"/>
              </a:ext>
            </a:extLst>
          </p:cNvPr>
          <p:cNvPicPr>
            <a:picLocks noChangeAspect="1"/>
          </p:cNvPicPr>
          <p:nvPr/>
        </p:nvPicPr>
        <p:blipFill>
          <a:blip r:embed="rId4"/>
          <a:stretch>
            <a:fillRect/>
          </a:stretch>
        </p:blipFill>
        <p:spPr>
          <a:xfrm>
            <a:off x="976965" y="1142342"/>
            <a:ext cx="2874599" cy="5373658"/>
          </a:xfrm>
          <a:prstGeom prst="rect">
            <a:avLst/>
          </a:prstGeom>
        </p:spPr>
      </p:pic>
      <p:sp>
        <p:nvSpPr>
          <p:cNvPr id="7" name="TextBox 6">
            <a:extLst>
              <a:ext uri="{FF2B5EF4-FFF2-40B4-BE49-F238E27FC236}">
                <a16:creationId xmlns:a16="http://schemas.microsoft.com/office/drawing/2014/main" id="{5FC0E2B4-4535-F003-B1A0-5E9308CF3657}"/>
              </a:ext>
            </a:extLst>
          </p:cNvPr>
          <p:cNvSpPr txBox="1"/>
          <p:nvPr/>
        </p:nvSpPr>
        <p:spPr>
          <a:xfrm>
            <a:off x="4973846" y="3326230"/>
            <a:ext cx="5766846" cy="769441"/>
          </a:xfrm>
          <a:prstGeom prst="rect">
            <a:avLst/>
          </a:prstGeom>
          <a:noFill/>
        </p:spPr>
        <p:txBody>
          <a:bodyPr wrap="square">
            <a:spAutoFit/>
          </a:bodyPr>
          <a:lstStyle/>
          <a:p>
            <a:r>
              <a:rPr lang="en-AU" sz="4400">
                <a:effectLst/>
                <a:latin typeface="Arial" panose="020B0604020202020204" pitchFamily="34" charset="0"/>
                <a:ea typeface="Calibri" panose="020F0502020204030204" pitchFamily="34" charset="0"/>
              </a:rPr>
              <a:t>8 m × __ m = 152 m</a:t>
            </a:r>
            <a:r>
              <a:rPr lang="en-AU" sz="4400" baseline="30000">
                <a:effectLst/>
                <a:latin typeface="Arial" panose="020B0604020202020204" pitchFamily="34" charset="0"/>
                <a:ea typeface="Calibri" panose="020F0502020204030204" pitchFamily="34" charset="0"/>
              </a:rPr>
              <a:t>2</a:t>
            </a:r>
            <a:r>
              <a:rPr lang="en-AU" sz="4400">
                <a:effectLst/>
                <a:latin typeface="Arial" panose="020B0604020202020204" pitchFamily="34" charset="0"/>
                <a:ea typeface="Calibri" panose="020F0502020204030204" pitchFamily="34" charset="0"/>
              </a:rPr>
              <a:t> </a:t>
            </a:r>
            <a:endParaRPr lang="en-AU" sz="4400"/>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1490214"/>
            <a:ext cx="11243037" cy="754243"/>
          </a:xfrm>
        </p:spPr>
        <p:txBody>
          <a:bodyPr/>
          <a:lstStyle/>
          <a:p>
            <a:pPr algn="ctr"/>
            <a:r>
              <a:rPr lang="en-US" sz="4400" dirty="0"/>
              <a:t> If 783 </a:t>
            </a:r>
            <a:r>
              <a:rPr lang="en-AU" sz="4400" spc="300" dirty="0"/>
              <a:t>÷</a:t>
            </a:r>
            <a:r>
              <a:rPr lang="en-US" sz="4400" dirty="0"/>
              <a:t> 9 = 87 then 9 × ____ = 783</a:t>
            </a:r>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15558"/>
            <a:ext cx="10175920" cy="641396"/>
          </a:xfrm>
        </p:spPr>
        <p:txBody>
          <a:bodyPr anchor="ctr"/>
          <a:lstStyle/>
          <a:p>
            <a:r>
              <a:rPr lang="en-US" sz="3600"/>
              <a:t>82</a:t>
            </a:r>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654593"/>
            <a:ext cx="10175920" cy="641396"/>
          </a:xfrm>
        </p:spPr>
        <p:txBody>
          <a:bodyPr anchor="ctr"/>
          <a:lstStyle/>
          <a:p>
            <a:r>
              <a:rPr lang="en-US" sz="3600"/>
              <a:t>87</a:t>
            </a:r>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04646"/>
            <a:ext cx="10175920" cy="641396"/>
          </a:xfrm>
        </p:spPr>
        <p:txBody>
          <a:bodyPr anchor="ctr"/>
          <a:lstStyle/>
          <a:p>
            <a:r>
              <a:rPr lang="en-US" sz="3600"/>
              <a:t>88</a:t>
            </a:r>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363577"/>
            <a:ext cx="10175920" cy="641396"/>
          </a:xfrm>
        </p:spPr>
        <p:txBody>
          <a:bodyPr anchor="ctr"/>
          <a:lstStyle/>
          <a:p>
            <a:r>
              <a:rPr lang="en-US" sz="3600"/>
              <a:t>89</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18004F9-7F59-C98B-854F-7AB6DC2C7A32}"/>
              </a:ext>
            </a:extLst>
          </p:cNvPr>
          <p:cNvSpPr txBox="1"/>
          <p:nvPr/>
        </p:nvSpPr>
        <p:spPr>
          <a:xfrm>
            <a:off x="2026698" y="1747292"/>
            <a:ext cx="8700570" cy="2356834"/>
          </a:xfrm>
          <a:prstGeom prst="rect">
            <a:avLst/>
          </a:prstGeom>
          <a:noFill/>
        </p:spPr>
        <p:txBody>
          <a:bodyPr wrap="square" lIns="0" tIns="0" rIns="0" bIns="0" rtlCol="0">
            <a:noAutofit/>
          </a:bodyPr>
          <a:lstStyle/>
          <a:p>
            <a:pPr algn="ctr">
              <a:lnSpc>
                <a:spcPct val="150000"/>
              </a:lnSpc>
            </a:pPr>
            <a:r>
              <a:rPr lang="en-AU" sz="4400"/>
              <a:t>Solve </a:t>
            </a:r>
            <a:r>
              <a:rPr lang="en-AU" sz="4400" b="1"/>
              <a:t>8678 + 6654 </a:t>
            </a:r>
            <a:r>
              <a:rPr lang="en-AU" sz="4400"/>
              <a:t>using an </a:t>
            </a:r>
            <a:r>
              <a:rPr lang="en-AU" sz="4400" b="1"/>
              <a:t>efficient strategy</a:t>
            </a:r>
            <a:r>
              <a:rPr lang="en-AU" sz="4400"/>
              <a:t>. </a:t>
            </a:r>
            <a:r>
              <a:rPr lang="en-AU" sz="4400" b="1"/>
              <a:t> </a:t>
            </a:r>
          </a:p>
          <a:p>
            <a:pPr algn="ctr">
              <a:lnSpc>
                <a:spcPct val="150000"/>
              </a:lnSpc>
            </a:pPr>
            <a:endParaRPr lang="en-AU" sz="4400"/>
          </a:p>
          <a:p>
            <a:pPr algn="ctr">
              <a:lnSpc>
                <a:spcPct val="150000"/>
              </a:lnSpc>
            </a:pPr>
            <a:r>
              <a:rPr lang="en-AU" sz="4400" b="1"/>
              <a:t>Communicate</a:t>
            </a:r>
            <a:r>
              <a:rPr lang="en-AU" sz="4400"/>
              <a:t> your </a:t>
            </a:r>
            <a:r>
              <a:rPr lang="en-AU" sz="4400" b="1"/>
              <a:t>reasoning. </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514B33-9FF8-642E-A78B-0B3442A5ED14}"/>
              </a:ext>
            </a:extLst>
          </p:cNvPr>
          <p:cNvSpPr txBox="1"/>
          <p:nvPr/>
        </p:nvSpPr>
        <p:spPr>
          <a:xfrm>
            <a:off x="805066" y="1828062"/>
            <a:ext cx="10581868" cy="1348033"/>
          </a:xfrm>
          <a:prstGeom prst="rect">
            <a:avLst/>
          </a:prstGeom>
          <a:noFill/>
        </p:spPr>
        <p:txBody>
          <a:bodyPr wrap="square" lIns="0" tIns="0" rIns="0" bIns="0" rtlCol="0">
            <a:noAutofit/>
          </a:bodyPr>
          <a:lstStyle/>
          <a:p>
            <a:pPr algn="ctr">
              <a:lnSpc>
                <a:spcPct val="150000"/>
              </a:lnSpc>
            </a:pPr>
            <a:r>
              <a:rPr lang="en-AU" sz="4400"/>
              <a:t>Dan placed 4 shopping items in a bag. Calculate the total mass in kilograms:</a:t>
            </a:r>
          </a:p>
          <a:p>
            <a:pPr algn="ctr">
              <a:lnSpc>
                <a:spcPct val="150000"/>
              </a:lnSpc>
            </a:pPr>
            <a:r>
              <a:rPr lang="en-AU" sz="4400" b="1"/>
              <a:t>2005</a:t>
            </a:r>
            <a:r>
              <a:rPr lang="en-AU" sz="4400"/>
              <a:t> </a:t>
            </a:r>
            <a:r>
              <a:rPr lang="en-AU" sz="4400" b="1"/>
              <a:t>g</a:t>
            </a:r>
            <a:r>
              <a:rPr lang="en-AU" sz="4400"/>
              <a:t>,  </a:t>
            </a:r>
            <a:r>
              <a:rPr lang="en-AU" sz="4400" b="1"/>
              <a:t>8.20</a:t>
            </a:r>
            <a:r>
              <a:rPr lang="en-AU" sz="4400"/>
              <a:t> </a:t>
            </a:r>
            <a:r>
              <a:rPr lang="en-AU" sz="4400" b="1"/>
              <a:t>kg</a:t>
            </a:r>
            <a:r>
              <a:rPr lang="en-AU" sz="4400"/>
              <a:t>,  </a:t>
            </a:r>
            <a:r>
              <a:rPr lang="en-AU" sz="4400" b="1"/>
              <a:t>2380</a:t>
            </a:r>
            <a:r>
              <a:rPr lang="en-AU" sz="4400"/>
              <a:t> </a:t>
            </a:r>
            <a:r>
              <a:rPr lang="en-AU" sz="4400" b="1"/>
              <a:t>g </a:t>
            </a:r>
            <a:r>
              <a:rPr lang="en-AU" sz="4400"/>
              <a:t>and  </a:t>
            </a:r>
            <a:r>
              <a:rPr lang="en-AU" sz="4400" b="1"/>
              <a:t>4.05</a:t>
            </a:r>
            <a:r>
              <a:rPr lang="en-AU" sz="4400"/>
              <a:t> </a:t>
            </a:r>
            <a:r>
              <a:rPr lang="en-AU" sz="4400" b="1"/>
              <a:t>kg</a:t>
            </a:r>
            <a:r>
              <a:rPr lang="en-AU" sz="4400"/>
              <a:t>.</a:t>
            </a:r>
          </a:p>
          <a:p>
            <a:pPr algn="ctr"/>
            <a:endParaRPr lang="en-AU" sz="180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77F4264-02E2-DA0D-6B7A-4FBFD047199F}"/>
              </a:ext>
            </a:extLst>
          </p:cNvPr>
          <p:cNvSpPr txBox="1"/>
          <p:nvPr/>
        </p:nvSpPr>
        <p:spPr>
          <a:xfrm>
            <a:off x="1586011" y="2328746"/>
            <a:ext cx="9225776" cy="2200507"/>
          </a:xfrm>
          <a:prstGeom prst="rect">
            <a:avLst/>
          </a:prstGeom>
          <a:noFill/>
        </p:spPr>
        <p:txBody>
          <a:bodyPr wrap="square" lIns="0" tIns="0" rIns="0" bIns="0" rtlCol="0">
            <a:noAutofit/>
          </a:bodyPr>
          <a:lstStyle/>
          <a:p>
            <a:pPr algn="ctr">
              <a:lnSpc>
                <a:spcPct val="150000"/>
              </a:lnSpc>
            </a:pPr>
            <a:r>
              <a:rPr lang="en-AU" sz="4400" dirty="0"/>
              <a:t>Solve:</a:t>
            </a:r>
          </a:p>
          <a:p>
            <a:pPr algn="ctr">
              <a:lnSpc>
                <a:spcPct val="150000"/>
              </a:lnSpc>
            </a:pPr>
            <a:r>
              <a:rPr lang="en-AU" sz="4400" dirty="0"/>
              <a:t> </a:t>
            </a:r>
            <a:r>
              <a:rPr lang="en-AU" sz="4400" dirty="0">
                <a:solidFill>
                  <a:srgbClr val="146CFD"/>
                </a:solidFill>
              </a:rPr>
              <a:t>___ × 7 = (1000 - 160) ÷ 8</a:t>
            </a:r>
            <a:endParaRPr lang="en-AU" sz="1800" dirty="0">
              <a:solidFill>
                <a:srgbClr val="146CFD"/>
              </a:solidFill>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A153E08-0F33-5791-AB2E-1349DB01349B}"/>
              </a:ext>
            </a:extLst>
          </p:cNvPr>
          <p:cNvSpPr txBox="1"/>
          <p:nvPr/>
        </p:nvSpPr>
        <p:spPr>
          <a:xfrm>
            <a:off x="360000" y="1418491"/>
            <a:ext cx="6618933" cy="4029501"/>
          </a:xfrm>
          <a:prstGeom prst="rect">
            <a:avLst/>
          </a:prstGeom>
          <a:noFill/>
        </p:spPr>
        <p:txBody>
          <a:bodyPr wrap="square">
            <a:spAutoFit/>
          </a:bodyPr>
          <a:lstStyle/>
          <a:p>
            <a:pPr algn="ctr">
              <a:lnSpc>
                <a:spcPct val="150000"/>
              </a:lnSpc>
            </a:pPr>
            <a:r>
              <a:rPr lang="en-AU" sz="4400" i="0" u="none" strike="noStrike">
                <a:solidFill>
                  <a:srgbClr val="22272B"/>
                </a:solidFill>
                <a:effectLst/>
                <a:latin typeface="Arial" panose="020B0604020202020204" pitchFamily="34" charset="0"/>
              </a:rPr>
              <a:t>Describe</a:t>
            </a:r>
            <a:r>
              <a:rPr lang="en-AU" sz="4400" b="0" i="0" u="none" strike="noStrike">
                <a:solidFill>
                  <a:srgbClr val="22272B"/>
                </a:solidFill>
                <a:effectLst/>
                <a:latin typeface="Arial" panose="020B0604020202020204" pitchFamily="34" charset="0"/>
              </a:rPr>
              <a:t> the </a:t>
            </a:r>
            <a:r>
              <a:rPr lang="en-AU" sz="4400" b="1" i="0" u="none" strike="noStrike">
                <a:solidFill>
                  <a:srgbClr val="22272B"/>
                </a:solidFill>
                <a:effectLst/>
                <a:latin typeface="Arial" panose="020B0604020202020204" pitchFamily="34" charset="0"/>
              </a:rPr>
              <a:t>arrangement</a:t>
            </a:r>
            <a:r>
              <a:rPr lang="en-AU" sz="4400" b="0" i="0" u="none" strike="noStrike">
                <a:solidFill>
                  <a:srgbClr val="22272B"/>
                </a:solidFill>
                <a:effectLst/>
                <a:latin typeface="Arial" panose="020B0604020202020204" pitchFamily="34" charset="0"/>
              </a:rPr>
              <a:t> of</a:t>
            </a:r>
          </a:p>
          <a:p>
            <a:pPr algn="ctr">
              <a:lnSpc>
                <a:spcPct val="150000"/>
              </a:lnSpc>
            </a:pPr>
            <a:r>
              <a:rPr lang="en-AU" sz="4400" b="1" i="0" u="none" strike="noStrike">
                <a:solidFill>
                  <a:srgbClr val="22272B"/>
                </a:solidFill>
                <a:effectLst/>
                <a:latin typeface="Arial" panose="020B0604020202020204" pitchFamily="34" charset="0"/>
              </a:rPr>
              <a:t>cubic-centimetre blocks </a:t>
            </a:r>
            <a:r>
              <a:rPr lang="en-AU" sz="4400" b="0" i="0" u="none" strike="noStrike">
                <a:solidFill>
                  <a:srgbClr val="22272B"/>
                </a:solidFill>
                <a:effectLst/>
                <a:latin typeface="Arial" panose="020B0604020202020204" pitchFamily="34" charset="0"/>
              </a:rPr>
              <a:t>in terms of </a:t>
            </a:r>
            <a:r>
              <a:rPr lang="en-AU" sz="4400" b="1" i="0" u="none" strike="noStrike">
                <a:solidFill>
                  <a:srgbClr val="22272B"/>
                </a:solidFill>
                <a:effectLst/>
                <a:latin typeface="Arial" panose="020B0604020202020204" pitchFamily="34" charset="0"/>
              </a:rPr>
              <a:t>layers</a:t>
            </a:r>
            <a:r>
              <a:rPr lang="en-US" sz="4400" b="0" i="0" u="none" strike="noStrike">
                <a:solidFill>
                  <a:srgbClr val="22272B"/>
                </a:solidFill>
                <a:effectLst/>
                <a:latin typeface="Arial" panose="020B0604020202020204" pitchFamily="34" charset="0"/>
              </a:rPr>
              <a:t>.</a:t>
            </a:r>
            <a:endParaRPr lang="en-AU" sz="4400"/>
          </a:p>
        </p:txBody>
      </p:sp>
      <p:grpSp>
        <p:nvGrpSpPr>
          <p:cNvPr id="8" name="Group 7" descr="A large rectangular prism is built from many small cubes arranged in equal rows and columns. The top layer is visible with a grid of cubes, and the front and side faces show multiple stacked layers. The cubes have yellow tops, green front faces, and blue side faces.">
            <a:extLst>
              <a:ext uri="{FF2B5EF4-FFF2-40B4-BE49-F238E27FC236}">
                <a16:creationId xmlns:a16="http://schemas.microsoft.com/office/drawing/2014/main" id="{101503DC-7132-F96C-C09F-E5F483408585}"/>
              </a:ext>
            </a:extLst>
          </p:cNvPr>
          <p:cNvGrpSpPr/>
          <p:nvPr/>
        </p:nvGrpSpPr>
        <p:grpSpPr>
          <a:xfrm>
            <a:off x="7478730" y="1309445"/>
            <a:ext cx="3756991" cy="5188555"/>
            <a:chOff x="3915284" y="1327445"/>
            <a:chExt cx="3756991" cy="5188555"/>
          </a:xfrm>
        </p:grpSpPr>
        <p:grpSp>
          <p:nvGrpSpPr>
            <p:cNvPr id="9" name="Group 8">
              <a:extLst>
                <a:ext uri="{FF2B5EF4-FFF2-40B4-BE49-F238E27FC236}">
                  <a16:creationId xmlns:a16="http://schemas.microsoft.com/office/drawing/2014/main" id="{0FD252AC-C4A8-D8BF-A4DD-9326DDF8390D}"/>
                </a:ext>
              </a:extLst>
            </p:cNvPr>
            <p:cNvGrpSpPr/>
            <p:nvPr/>
          </p:nvGrpSpPr>
          <p:grpSpPr>
            <a:xfrm>
              <a:off x="4519725" y="3994550"/>
              <a:ext cx="3152550" cy="2258948"/>
              <a:chOff x="1527947" y="1697786"/>
              <a:chExt cx="3152550" cy="2258948"/>
            </a:xfrm>
          </p:grpSpPr>
          <p:sp>
            <p:nvSpPr>
              <p:cNvPr id="45" name="Freeform 2">
                <a:extLst>
                  <a:ext uri="{FF2B5EF4-FFF2-40B4-BE49-F238E27FC236}">
                    <a16:creationId xmlns:a16="http://schemas.microsoft.com/office/drawing/2014/main" id="{8491A7E1-EF18-FE91-BD77-FA6842CC59D9}"/>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3">
                <a:extLst>
                  <a:ext uri="{FF2B5EF4-FFF2-40B4-BE49-F238E27FC236}">
                    <a16:creationId xmlns:a16="http://schemas.microsoft.com/office/drawing/2014/main" id="{F9EC908E-D3B0-17DB-2D01-C256C352F02E}"/>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495623E5-873F-1034-40BE-8481670EDD14}"/>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6">
                <a:extLst>
                  <a:ext uri="{FF2B5EF4-FFF2-40B4-BE49-F238E27FC236}">
                    <a16:creationId xmlns:a16="http://schemas.microsoft.com/office/drawing/2014/main" id="{2247AA8D-4662-7FEA-3EB1-35E1AEE2AD61}"/>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0" name="Group 9">
              <a:extLst>
                <a:ext uri="{FF2B5EF4-FFF2-40B4-BE49-F238E27FC236}">
                  <a16:creationId xmlns:a16="http://schemas.microsoft.com/office/drawing/2014/main" id="{9DD19D51-45D1-AD0E-0B79-5057B60E93A1}"/>
                </a:ext>
              </a:extLst>
            </p:cNvPr>
            <p:cNvGrpSpPr/>
            <p:nvPr/>
          </p:nvGrpSpPr>
          <p:grpSpPr>
            <a:xfrm>
              <a:off x="4519725" y="3105611"/>
              <a:ext cx="3152550" cy="2258948"/>
              <a:chOff x="1527947" y="1697786"/>
              <a:chExt cx="3152550" cy="2258948"/>
            </a:xfrm>
          </p:grpSpPr>
          <p:sp>
            <p:nvSpPr>
              <p:cNvPr id="41" name="Freeform 2">
                <a:extLst>
                  <a:ext uri="{FF2B5EF4-FFF2-40B4-BE49-F238E27FC236}">
                    <a16:creationId xmlns:a16="http://schemas.microsoft.com/office/drawing/2014/main" id="{6F999006-67BD-3597-AA85-B81583DEF288}"/>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3">
                <a:extLst>
                  <a:ext uri="{FF2B5EF4-FFF2-40B4-BE49-F238E27FC236}">
                    <a16:creationId xmlns:a16="http://schemas.microsoft.com/office/drawing/2014/main" id="{9538660F-8433-8E5F-D4E2-9E9AEFC63B8A}"/>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789275AF-0EF1-3961-77F6-7D7C95FDB0F6}"/>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6">
                <a:extLst>
                  <a:ext uri="{FF2B5EF4-FFF2-40B4-BE49-F238E27FC236}">
                    <a16:creationId xmlns:a16="http://schemas.microsoft.com/office/drawing/2014/main" id="{915634C7-E3B7-FDAA-BDB8-A104FE89AC86}"/>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1" name="Group 10">
              <a:extLst>
                <a:ext uri="{FF2B5EF4-FFF2-40B4-BE49-F238E27FC236}">
                  <a16:creationId xmlns:a16="http://schemas.microsoft.com/office/drawing/2014/main" id="{798CAC45-83C5-3D69-31ED-9CC627D90B0E}"/>
                </a:ext>
              </a:extLst>
            </p:cNvPr>
            <p:cNvGrpSpPr/>
            <p:nvPr/>
          </p:nvGrpSpPr>
          <p:grpSpPr>
            <a:xfrm>
              <a:off x="4519725" y="2216672"/>
              <a:ext cx="3152550" cy="2258948"/>
              <a:chOff x="1527947" y="1697786"/>
              <a:chExt cx="3152550" cy="2258948"/>
            </a:xfrm>
          </p:grpSpPr>
          <p:sp>
            <p:nvSpPr>
              <p:cNvPr id="37" name="Freeform 2">
                <a:extLst>
                  <a:ext uri="{FF2B5EF4-FFF2-40B4-BE49-F238E27FC236}">
                    <a16:creationId xmlns:a16="http://schemas.microsoft.com/office/drawing/2014/main" id="{7982EB83-7262-AE02-1DD9-183B26B80036}"/>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3">
                <a:extLst>
                  <a:ext uri="{FF2B5EF4-FFF2-40B4-BE49-F238E27FC236}">
                    <a16:creationId xmlns:a16="http://schemas.microsoft.com/office/drawing/2014/main" id="{193458ED-383A-D724-3A34-1EBD6E06DEA0}"/>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A02D643D-972A-EB44-73D4-4E15926A0A19}"/>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6">
                <a:extLst>
                  <a:ext uri="{FF2B5EF4-FFF2-40B4-BE49-F238E27FC236}">
                    <a16:creationId xmlns:a16="http://schemas.microsoft.com/office/drawing/2014/main" id="{FCF795CE-1CC3-051B-3B31-F83FC47FA5BA}"/>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2" name="Group 11">
              <a:extLst>
                <a:ext uri="{FF2B5EF4-FFF2-40B4-BE49-F238E27FC236}">
                  <a16:creationId xmlns:a16="http://schemas.microsoft.com/office/drawing/2014/main" id="{A60477F7-27C6-27CD-67F3-25FE612FF2AD}"/>
                </a:ext>
              </a:extLst>
            </p:cNvPr>
            <p:cNvGrpSpPr/>
            <p:nvPr/>
          </p:nvGrpSpPr>
          <p:grpSpPr>
            <a:xfrm>
              <a:off x="4519725" y="1327445"/>
              <a:ext cx="3152550" cy="2258948"/>
              <a:chOff x="1527947" y="1697786"/>
              <a:chExt cx="3152550" cy="2258948"/>
            </a:xfrm>
          </p:grpSpPr>
          <p:sp>
            <p:nvSpPr>
              <p:cNvPr id="33" name="Freeform 2">
                <a:extLst>
                  <a:ext uri="{FF2B5EF4-FFF2-40B4-BE49-F238E27FC236}">
                    <a16:creationId xmlns:a16="http://schemas.microsoft.com/office/drawing/2014/main" id="{229726F0-29BA-0A1F-41D2-5C65BBE2B776}"/>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D4492D73-5F1E-5651-49BE-D5399B743BC9}"/>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4">
                <a:extLst>
                  <a:ext uri="{FF2B5EF4-FFF2-40B4-BE49-F238E27FC236}">
                    <a16:creationId xmlns:a16="http://schemas.microsoft.com/office/drawing/2014/main" id="{0403893F-E230-3BDA-D4F1-9971FF9F11EF}"/>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6">
                <a:extLst>
                  <a:ext uri="{FF2B5EF4-FFF2-40B4-BE49-F238E27FC236}">
                    <a16:creationId xmlns:a16="http://schemas.microsoft.com/office/drawing/2014/main" id="{619B7E61-30C2-2B01-F15F-F691A99DAB3E}"/>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3" name="Group 12">
              <a:extLst>
                <a:ext uri="{FF2B5EF4-FFF2-40B4-BE49-F238E27FC236}">
                  <a16:creationId xmlns:a16="http://schemas.microsoft.com/office/drawing/2014/main" id="{E056BDF1-E844-5140-7BB9-FAAC763D5D8B}"/>
                </a:ext>
              </a:extLst>
            </p:cNvPr>
            <p:cNvGrpSpPr/>
            <p:nvPr/>
          </p:nvGrpSpPr>
          <p:grpSpPr>
            <a:xfrm>
              <a:off x="3915284" y="4257052"/>
              <a:ext cx="3152550" cy="2258948"/>
              <a:chOff x="1527947" y="1697786"/>
              <a:chExt cx="3152550" cy="2258948"/>
            </a:xfrm>
          </p:grpSpPr>
          <p:sp>
            <p:nvSpPr>
              <p:cNvPr id="29" name="Freeform 2">
                <a:extLst>
                  <a:ext uri="{FF2B5EF4-FFF2-40B4-BE49-F238E27FC236}">
                    <a16:creationId xmlns:a16="http://schemas.microsoft.com/office/drawing/2014/main" id="{4D5B3580-262B-BC42-C829-C22925CA7B6E}"/>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22F51E35-C1A4-8C1A-C561-E5157353F903}"/>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4">
                <a:extLst>
                  <a:ext uri="{FF2B5EF4-FFF2-40B4-BE49-F238E27FC236}">
                    <a16:creationId xmlns:a16="http://schemas.microsoft.com/office/drawing/2014/main" id="{2697F0A2-E475-E64E-9D3C-76D9AA6D3B1D}"/>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6">
                <a:extLst>
                  <a:ext uri="{FF2B5EF4-FFF2-40B4-BE49-F238E27FC236}">
                    <a16:creationId xmlns:a16="http://schemas.microsoft.com/office/drawing/2014/main" id="{846E325E-8C04-4771-3D07-9CE78997D45A}"/>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4" name="Group 13">
              <a:extLst>
                <a:ext uri="{FF2B5EF4-FFF2-40B4-BE49-F238E27FC236}">
                  <a16:creationId xmlns:a16="http://schemas.microsoft.com/office/drawing/2014/main" id="{30DE527F-BA91-84DD-F250-8CAF96523424}"/>
                </a:ext>
              </a:extLst>
            </p:cNvPr>
            <p:cNvGrpSpPr/>
            <p:nvPr/>
          </p:nvGrpSpPr>
          <p:grpSpPr>
            <a:xfrm>
              <a:off x="3915284" y="3368113"/>
              <a:ext cx="3152550" cy="2258948"/>
              <a:chOff x="1527947" y="1697786"/>
              <a:chExt cx="3152550" cy="2258948"/>
            </a:xfrm>
          </p:grpSpPr>
          <p:sp>
            <p:nvSpPr>
              <p:cNvPr id="25" name="Freeform 2">
                <a:extLst>
                  <a:ext uri="{FF2B5EF4-FFF2-40B4-BE49-F238E27FC236}">
                    <a16:creationId xmlns:a16="http://schemas.microsoft.com/office/drawing/2014/main" id="{1319F419-5DDE-8CAA-05EF-659F9EAAB090}"/>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241ADA96-0AF2-C8A9-604A-DBB8A3118429}"/>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4">
                <a:extLst>
                  <a:ext uri="{FF2B5EF4-FFF2-40B4-BE49-F238E27FC236}">
                    <a16:creationId xmlns:a16="http://schemas.microsoft.com/office/drawing/2014/main" id="{C6C3F4D3-8712-2D13-15EC-A8F28389198C}"/>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6">
                <a:extLst>
                  <a:ext uri="{FF2B5EF4-FFF2-40B4-BE49-F238E27FC236}">
                    <a16:creationId xmlns:a16="http://schemas.microsoft.com/office/drawing/2014/main" id="{074ED3EE-C9A9-E276-5F80-E825E7C66768}"/>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5" name="Group 14">
              <a:extLst>
                <a:ext uri="{FF2B5EF4-FFF2-40B4-BE49-F238E27FC236}">
                  <a16:creationId xmlns:a16="http://schemas.microsoft.com/office/drawing/2014/main" id="{6F1C51C4-93CF-E204-D938-03C20AE1CC98}"/>
                </a:ext>
              </a:extLst>
            </p:cNvPr>
            <p:cNvGrpSpPr/>
            <p:nvPr/>
          </p:nvGrpSpPr>
          <p:grpSpPr>
            <a:xfrm>
              <a:off x="3915284" y="2479174"/>
              <a:ext cx="3152550" cy="2258948"/>
              <a:chOff x="1527947" y="1697786"/>
              <a:chExt cx="3152550" cy="2258948"/>
            </a:xfrm>
          </p:grpSpPr>
          <p:sp>
            <p:nvSpPr>
              <p:cNvPr id="21" name="Freeform 2">
                <a:extLst>
                  <a:ext uri="{FF2B5EF4-FFF2-40B4-BE49-F238E27FC236}">
                    <a16:creationId xmlns:a16="http://schemas.microsoft.com/office/drawing/2014/main" id="{434DB826-AA12-07E4-82AD-4788784B6F9E}"/>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3">
                <a:extLst>
                  <a:ext uri="{FF2B5EF4-FFF2-40B4-BE49-F238E27FC236}">
                    <a16:creationId xmlns:a16="http://schemas.microsoft.com/office/drawing/2014/main" id="{D15C9C56-B0EA-91B8-AF9E-C5BB20E8C53A}"/>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4">
                <a:extLst>
                  <a:ext uri="{FF2B5EF4-FFF2-40B4-BE49-F238E27FC236}">
                    <a16:creationId xmlns:a16="http://schemas.microsoft.com/office/drawing/2014/main" id="{807CDFE6-1C9C-1DBC-4E7A-7119CEF56509}"/>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6">
                <a:extLst>
                  <a:ext uri="{FF2B5EF4-FFF2-40B4-BE49-F238E27FC236}">
                    <a16:creationId xmlns:a16="http://schemas.microsoft.com/office/drawing/2014/main" id="{ACD1E6C6-EA8C-E525-B055-56F8D1A0ADBE}"/>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nvGrpSpPr>
            <p:cNvPr id="16" name="Group 15">
              <a:extLst>
                <a:ext uri="{FF2B5EF4-FFF2-40B4-BE49-F238E27FC236}">
                  <a16:creationId xmlns:a16="http://schemas.microsoft.com/office/drawing/2014/main" id="{73CFADB1-7233-F63F-9290-18177D6EE99C}"/>
                </a:ext>
              </a:extLst>
            </p:cNvPr>
            <p:cNvGrpSpPr/>
            <p:nvPr/>
          </p:nvGrpSpPr>
          <p:grpSpPr>
            <a:xfrm>
              <a:off x="3915284" y="1589947"/>
              <a:ext cx="3152550" cy="2258948"/>
              <a:chOff x="1527947" y="1697786"/>
              <a:chExt cx="3152550" cy="2258948"/>
            </a:xfrm>
          </p:grpSpPr>
          <p:sp>
            <p:nvSpPr>
              <p:cNvPr id="17" name="Freeform 2">
                <a:extLst>
                  <a:ext uri="{FF2B5EF4-FFF2-40B4-BE49-F238E27FC236}">
                    <a16:creationId xmlns:a16="http://schemas.microsoft.com/office/drawing/2014/main" id="{9E0C88E4-E703-DAD1-6621-35D4F1D0B15A}"/>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3">
                <a:extLst>
                  <a:ext uri="{FF2B5EF4-FFF2-40B4-BE49-F238E27FC236}">
                    <a16:creationId xmlns:a16="http://schemas.microsoft.com/office/drawing/2014/main" id="{66C84676-15B4-B0D7-618C-A75C878A0E5C}"/>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4">
                <a:extLst>
                  <a:ext uri="{FF2B5EF4-FFF2-40B4-BE49-F238E27FC236}">
                    <a16:creationId xmlns:a16="http://schemas.microsoft.com/office/drawing/2014/main" id="{46917FDD-3F46-C6E2-3674-6F942E6EAAEE}"/>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6">
                <a:extLst>
                  <a:ext uri="{FF2B5EF4-FFF2-40B4-BE49-F238E27FC236}">
                    <a16:creationId xmlns:a16="http://schemas.microsoft.com/office/drawing/2014/main" id="{994A8586-374A-5961-3BFA-E6D02CA739D8}"/>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gr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calculating missing numbers using inverse operations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B600A5B-9BBB-BE4A-1001-2B40505A4B59}"/>
              </a:ext>
            </a:extLst>
          </p:cNvPr>
          <p:cNvSpPr txBox="1"/>
          <p:nvPr/>
        </p:nvSpPr>
        <p:spPr>
          <a:xfrm>
            <a:off x="3212686" y="2535615"/>
            <a:ext cx="6094428" cy="1015663"/>
          </a:xfrm>
          <a:prstGeom prst="rect">
            <a:avLst/>
          </a:prstGeom>
          <a:noFill/>
        </p:spPr>
        <p:txBody>
          <a:bodyPr wrap="square">
            <a:spAutoFit/>
          </a:bodyPr>
          <a:lstStyle/>
          <a:p>
            <a:pPr algn="ctr"/>
            <a:r>
              <a:rPr lang="en-AU" sz="6000">
                <a:effectLst/>
                <a:latin typeface="Arial" panose="020B0604020202020204" pitchFamily="34" charset="0"/>
                <a:ea typeface="Calibri" panose="020F0502020204030204" pitchFamily="34" charset="0"/>
              </a:rPr>
              <a:t>8 × __ = 32 </a:t>
            </a:r>
            <a:endParaRPr lang="en-AU" sz="6000"/>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7FF7-0785-C604-04E9-1C043979853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7F76B95-FB12-8C28-659F-B0C1D03141DC}"/>
              </a:ext>
            </a:extLst>
          </p:cNvPr>
          <p:cNvSpPr>
            <a:spLocks noGrp="1"/>
          </p:cNvSpPr>
          <p:nvPr>
            <p:ph type="title"/>
          </p:nvPr>
        </p:nvSpPr>
        <p:spPr>
          <a:xfrm>
            <a:off x="360000" y="360000"/>
            <a:ext cx="10367268" cy="545601"/>
          </a:xfrm>
        </p:spPr>
        <p:txBody>
          <a:bodyPr/>
          <a:lstStyle/>
          <a:p>
            <a:r>
              <a:rPr lang="en-AU"/>
              <a:t>Activity 7 – calculating missing numbers using inverse operations (2)</a:t>
            </a:r>
          </a:p>
        </p:txBody>
      </p:sp>
      <p:pic>
        <p:nvPicPr>
          <p:cNvPr id="4" name="Picture 3">
            <a:extLst>
              <a:ext uri="{FF2B5EF4-FFF2-40B4-BE49-F238E27FC236}">
                <a16:creationId xmlns:a16="http://schemas.microsoft.com/office/drawing/2014/main" id="{9CE508CD-6694-D810-A323-18DC078B91D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B83925D1-EF29-E229-8B32-E977CA1FEA9B}"/>
              </a:ext>
            </a:extLst>
          </p:cNvPr>
          <p:cNvSpPr txBox="1"/>
          <p:nvPr/>
        </p:nvSpPr>
        <p:spPr>
          <a:xfrm>
            <a:off x="2900594" y="2740843"/>
            <a:ext cx="7006978" cy="1015663"/>
          </a:xfrm>
          <a:prstGeom prst="rect">
            <a:avLst/>
          </a:prstGeom>
          <a:noFill/>
        </p:spPr>
        <p:txBody>
          <a:bodyPr wrap="square">
            <a:spAutoFit/>
          </a:bodyPr>
          <a:lstStyle/>
          <a:p>
            <a:pPr algn="ctr"/>
            <a:r>
              <a:rPr lang="en-AU" sz="6000">
                <a:effectLst/>
                <a:latin typeface="Arial" panose="020B0604020202020204" pitchFamily="34" charset="0"/>
                <a:ea typeface="Calibri" panose="020F0502020204030204" pitchFamily="34" charset="0"/>
              </a:rPr>
              <a:t>4 × _ = 30 - 10</a:t>
            </a:r>
            <a:endParaRPr lang="en-AU" sz="6000"/>
          </a:p>
        </p:txBody>
      </p:sp>
      <p:sp>
        <p:nvSpPr>
          <p:cNvPr id="2" name="Slide Number Placeholder 1">
            <a:extLst>
              <a:ext uri="{FF2B5EF4-FFF2-40B4-BE49-F238E27FC236}">
                <a16:creationId xmlns:a16="http://schemas.microsoft.com/office/drawing/2014/main" id="{8B0689D6-E4FF-14E0-9F76-9A6FE94E9F3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4107874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298315" y="1696967"/>
            <a:ext cx="9595369" cy="893226"/>
          </a:xfrm>
        </p:spPr>
        <p:txBody>
          <a:bodyPr/>
          <a:lstStyle/>
          <a:p>
            <a:pPr algn="ctr"/>
            <a:r>
              <a:rPr lang="en-AU" sz="4400" dirty="0"/>
              <a:t>28 ÷ 2 = ___ × 2</a:t>
            </a:r>
          </a:p>
          <a:p>
            <a:pPr algn="ctr"/>
            <a:r>
              <a:rPr lang="en-AU" sz="4400" dirty="0"/>
              <a:t>The </a:t>
            </a:r>
            <a:r>
              <a:rPr lang="en-AU" sz="4400" b="1" dirty="0"/>
              <a:t>missing number </a:t>
            </a:r>
            <a:r>
              <a:rPr lang="en-AU" sz="4400" dirty="0"/>
              <a:t>is 14.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764837352"/>
              </p:ext>
            </p:extLst>
          </p:nvPr>
        </p:nvGraphicFramePr>
        <p:xfrm>
          <a:off x="2442981" y="441935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7" name="TextBox 6">
            <a:extLst>
              <a:ext uri="{FF2B5EF4-FFF2-40B4-BE49-F238E27FC236}">
                <a16:creationId xmlns:a16="http://schemas.microsoft.com/office/drawing/2014/main" id="{9B29E3AA-0E8A-91D3-8344-2B7F8DCDB905}"/>
              </a:ext>
            </a:extLst>
          </p:cNvPr>
          <p:cNvSpPr txBox="1"/>
          <p:nvPr/>
        </p:nvSpPr>
        <p:spPr>
          <a:xfrm>
            <a:off x="2442981" y="5596407"/>
            <a:ext cx="7775531" cy="901593"/>
          </a:xfrm>
          <a:prstGeom prst="rect">
            <a:avLst/>
          </a:prstGeom>
          <a:noFill/>
        </p:spPr>
        <p:txBody>
          <a:bodyPr wrap="square">
            <a:spAutoFit/>
          </a:bodyPr>
          <a:lstStyle/>
          <a:p>
            <a:pPr algn="ctr">
              <a:lnSpc>
                <a:spcPct val="150000"/>
              </a:lnSpc>
            </a:pPr>
            <a:r>
              <a:rPr lang="en-AU" sz="4000" b="1"/>
              <a:t>Communicate</a:t>
            </a:r>
            <a:r>
              <a:rPr lang="en-AU" sz="4000"/>
              <a:t> your </a:t>
            </a:r>
            <a:r>
              <a:rPr lang="en-AU" sz="4000" b="1"/>
              <a:t>reasoning. </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E0554EC-02BF-3F79-F9DB-A206DF9AAD36}"/>
              </a:ext>
            </a:extLst>
          </p:cNvPr>
          <p:cNvSpPr txBox="1"/>
          <p:nvPr/>
        </p:nvSpPr>
        <p:spPr>
          <a:xfrm>
            <a:off x="601249" y="1920636"/>
            <a:ext cx="5291650" cy="1790164"/>
          </a:xfrm>
          <a:prstGeom prst="rect">
            <a:avLst/>
          </a:prstGeom>
          <a:noFill/>
        </p:spPr>
        <p:txBody>
          <a:bodyPr wrap="square" lIns="0" tIns="0" rIns="0" bIns="0" rtlCol="0">
            <a:noAutofit/>
          </a:bodyPr>
          <a:lstStyle/>
          <a:p>
            <a:pPr algn="ctr">
              <a:lnSpc>
                <a:spcPct val="150000"/>
              </a:lnSpc>
            </a:pPr>
            <a:r>
              <a:rPr lang="en-AU" sz="4400" b="1"/>
              <a:t>Calculate</a:t>
            </a:r>
            <a:r>
              <a:rPr lang="en-AU" sz="4400"/>
              <a:t> the </a:t>
            </a:r>
            <a:r>
              <a:rPr lang="en-AU" sz="4400" b="1"/>
              <a:t>duration</a:t>
            </a:r>
            <a:r>
              <a:rPr lang="en-AU" sz="4400"/>
              <a:t> of the guided tour</a:t>
            </a:r>
            <a:r>
              <a:rPr lang="en-AU" sz="4400" b="1"/>
              <a:t>.</a:t>
            </a:r>
          </a:p>
        </p:txBody>
      </p:sp>
      <p:pic>
        <p:nvPicPr>
          <p:cNvPr id="5" name="Picture 4" descr="A sign stating Mansfield National Park&#10;Daily guided tours&#10;10:45 am-3:20 pm">
            <a:extLst>
              <a:ext uri="{FF2B5EF4-FFF2-40B4-BE49-F238E27FC236}">
                <a16:creationId xmlns:a16="http://schemas.microsoft.com/office/drawing/2014/main" id="{C8C3697B-3834-5529-9024-3F22C488E335}"/>
              </a:ext>
            </a:extLst>
          </p:cNvPr>
          <p:cNvPicPr>
            <a:picLocks noChangeAspect="1"/>
          </p:cNvPicPr>
          <p:nvPr/>
        </p:nvPicPr>
        <p:blipFill>
          <a:blip r:embed="rId4"/>
          <a:srcRect l="9726" t="9533" r="8586"/>
          <a:stretch>
            <a:fillRect/>
          </a:stretch>
        </p:blipFill>
        <p:spPr>
          <a:xfrm>
            <a:off x="6196107" y="1034486"/>
            <a:ext cx="5184897" cy="5352627"/>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50E5C7E-0687-89A9-544D-FD54314B12C3}"/>
              </a:ext>
            </a:extLst>
          </p:cNvPr>
          <p:cNvSpPr txBox="1"/>
          <p:nvPr/>
        </p:nvSpPr>
        <p:spPr>
          <a:xfrm>
            <a:off x="542505" y="1425095"/>
            <a:ext cx="11106990" cy="1734532"/>
          </a:xfrm>
          <a:prstGeom prst="rect">
            <a:avLst/>
          </a:prstGeom>
          <a:noFill/>
        </p:spPr>
        <p:txBody>
          <a:bodyPr wrap="square" lIns="0" tIns="0" rIns="0" bIns="0" rtlCol="0">
            <a:noAutofit/>
          </a:bodyPr>
          <a:lstStyle/>
          <a:p>
            <a:pPr algn="ctr">
              <a:lnSpc>
                <a:spcPct val="150000"/>
              </a:lnSpc>
            </a:pPr>
            <a:r>
              <a:rPr lang="en-AU" sz="4400" dirty="0"/>
              <a:t>Record the </a:t>
            </a:r>
            <a:r>
              <a:rPr lang="en-AU" sz="4400" b="1" dirty="0"/>
              <a:t>length</a:t>
            </a:r>
            <a:r>
              <a:rPr lang="en-AU" sz="4400" dirty="0"/>
              <a:t> of the crocodile using </a:t>
            </a:r>
            <a:r>
              <a:rPr lang="en-AU" sz="4400" b="1" dirty="0"/>
              <a:t>decimal notation</a:t>
            </a:r>
            <a:r>
              <a:rPr lang="en-AU" sz="4400" dirty="0"/>
              <a:t>.</a:t>
            </a:r>
          </a:p>
        </p:txBody>
      </p:sp>
      <p:pic>
        <p:nvPicPr>
          <p:cNvPr id="4" name="Picture 3" descr="A crocodile with the words and numbers 4 metres 356 cm written underneath it.">
            <a:extLst>
              <a:ext uri="{FF2B5EF4-FFF2-40B4-BE49-F238E27FC236}">
                <a16:creationId xmlns:a16="http://schemas.microsoft.com/office/drawing/2014/main" id="{3D138936-E396-ECE0-870E-BE1822AA0A80}"/>
              </a:ext>
            </a:extLst>
          </p:cNvPr>
          <p:cNvPicPr>
            <a:picLocks noChangeAspect="1"/>
          </p:cNvPicPr>
          <p:nvPr/>
        </p:nvPicPr>
        <p:blipFill>
          <a:blip r:embed="rId4"/>
          <a:stretch>
            <a:fillRect/>
          </a:stretch>
        </p:blipFill>
        <p:spPr>
          <a:xfrm>
            <a:off x="3411716" y="4347113"/>
            <a:ext cx="5068405" cy="1211621"/>
          </a:xfrm>
          <a:prstGeom prst="rect">
            <a:avLst/>
          </a:prstGeom>
        </p:spPr>
      </p:pic>
      <p:sp>
        <p:nvSpPr>
          <p:cNvPr id="5" name="TextBox 4">
            <a:extLst>
              <a:ext uri="{FF2B5EF4-FFF2-40B4-BE49-F238E27FC236}">
                <a16:creationId xmlns:a16="http://schemas.microsoft.com/office/drawing/2014/main" id="{148BF3B4-CF9B-603A-5819-24AF27B3E469}"/>
              </a:ext>
            </a:extLst>
          </p:cNvPr>
          <p:cNvSpPr txBox="1"/>
          <p:nvPr/>
        </p:nvSpPr>
        <p:spPr>
          <a:xfrm>
            <a:off x="4135681" y="5759369"/>
            <a:ext cx="2347275" cy="846631"/>
          </a:xfrm>
          <a:prstGeom prst="rect">
            <a:avLst/>
          </a:prstGeom>
          <a:noFill/>
        </p:spPr>
        <p:txBody>
          <a:bodyPr wrap="none" lIns="0" tIns="0" rIns="0" bIns="0" rtlCol="0">
            <a:noAutofit/>
          </a:bodyPr>
          <a:lstStyle/>
          <a:p>
            <a:pPr algn="l"/>
            <a:r>
              <a:rPr lang="en-AU" sz="4000">
                <a:solidFill>
                  <a:schemeClr val="accent2"/>
                </a:solidFill>
              </a:rPr>
              <a:t>4 metres 356 cm</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DDC1A2B8-D831-CCAA-B6F8-B60B4239F5BB}"/>
              </a:ext>
            </a:extLst>
          </p:cNvPr>
          <p:cNvSpPr txBox="1"/>
          <p:nvPr/>
        </p:nvSpPr>
        <p:spPr>
          <a:xfrm>
            <a:off x="457548" y="1212504"/>
            <a:ext cx="11276903" cy="545601"/>
          </a:xfrm>
          <a:prstGeom prst="rect">
            <a:avLst/>
          </a:prstGeom>
          <a:noFill/>
        </p:spPr>
        <p:txBody>
          <a:bodyPr wrap="square" lIns="0" tIns="0" rIns="0" bIns="0" rtlCol="0">
            <a:noAutofit/>
          </a:bodyPr>
          <a:lstStyle/>
          <a:p>
            <a:pPr algn="ctr">
              <a:lnSpc>
                <a:spcPct val="150000"/>
              </a:lnSpc>
            </a:pPr>
            <a:r>
              <a:rPr lang="en-AU" sz="4400" b="1"/>
              <a:t>Describe</a:t>
            </a:r>
            <a:r>
              <a:rPr lang="en-AU" sz="4400"/>
              <a:t> this </a:t>
            </a:r>
            <a:r>
              <a:rPr lang="en-AU" sz="4400" b="1"/>
              <a:t>pattern</a:t>
            </a:r>
            <a:r>
              <a:rPr lang="en-AU" sz="4400"/>
              <a:t> formed by </a:t>
            </a:r>
            <a:r>
              <a:rPr lang="en-AU" sz="4400" b="1"/>
              <a:t>multiples.</a:t>
            </a:r>
            <a:endParaRPr lang="en-AU" sz="1800" b="1"/>
          </a:p>
          <a:p>
            <a:pPr algn="l">
              <a:lnSpc>
                <a:spcPct val="150000"/>
              </a:lnSpc>
            </a:pPr>
            <a:endParaRPr lang="en-AU" sz="1800"/>
          </a:p>
          <a:p>
            <a:pPr algn="ctr">
              <a:lnSpc>
                <a:spcPct val="150000"/>
              </a:lnSpc>
            </a:pPr>
            <a:r>
              <a:rPr lang="en-AU" sz="4400"/>
              <a:t>3, ____, ____, ____, ____.</a:t>
            </a:r>
          </a:p>
        </p:txBody>
      </p:sp>
      <p:pic>
        <p:nvPicPr>
          <p:cNvPr id="10" name="Picture 9" descr="One triangle, 2 triangles, 3 triangles, 4 triangles, 5 triangles ">
            <a:extLst>
              <a:ext uri="{FF2B5EF4-FFF2-40B4-BE49-F238E27FC236}">
                <a16:creationId xmlns:a16="http://schemas.microsoft.com/office/drawing/2014/main" id="{2B247EC0-31FE-3CB1-0FC4-39C0105B2B44}"/>
              </a:ext>
            </a:extLst>
          </p:cNvPr>
          <p:cNvPicPr>
            <a:picLocks noChangeAspect="1"/>
          </p:cNvPicPr>
          <p:nvPr/>
        </p:nvPicPr>
        <p:blipFill>
          <a:blip r:embed="rId4"/>
          <a:stretch>
            <a:fillRect/>
          </a:stretch>
        </p:blipFill>
        <p:spPr>
          <a:xfrm>
            <a:off x="2687782" y="4301198"/>
            <a:ext cx="7287491" cy="191129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2EF6E24-DCD1-3049-E1A8-C2E3B826287E}"/>
              </a:ext>
            </a:extLst>
          </p:cNvPr>
          <p:cNvSpPr txBox="1"/>
          <p:nvPr/>
        </p:nvSpPr>
        <p:spPr>
          <a:xfrm>
            <a:off x="1492769" y="1184223"/>
            <a:ext cx="9206461" cy="1915886"/>
          </a:xfrm>
          <a:prstGeom prst="rect">
            <a:avLst/>
          </a:prstGeom>
          <a:noFill/>
        </p:spPr>
        <p:txBody>
          <a:bodyPr wrap="square" lIns="0" tIns="0" rIns="0" bIns="0" rtlCol="0">
            <a:noAutofit/>
          </a:bodyPr>
          <a:lstStyle/>
          <a:p>
            <a:pPr algn="ctr">
              <a:lnSpc>
                <a:spcPct val="150000"/>
              </a:lnSpc>
            </a:pPr>
            <a:r>
              <a:rPr lang="en-AU" sz="4400" dirty="0"/>
              <a:t>Explain </a:t>
            </a:r>
            <a:r>
              <a:rPr lang="en-AU" sz="4400" b="1" dirty="0"/>
              <a:t>how</a:t>
            </a:r>
            <a:r>
              <a:rPr lang="en-AU" sz="4400" dirty="0"/>
              <a:t> to find the </a:t>
            </a:r>
            <a:r>
              <a:rPr lang="en-AU" sz="4400" b="1" dirty="0"/>
              <a:t>volume </a:t>
            </a:r>
            <a:r>
              <a:rPr lang="en-AU" sz="4400" dirty="0"/>
              <a:t>of a </a:t>
            </a:r>
            <a:r>
              <a:rPr lang="en-AU" sz="4400" b="1" dirty="0"/>
              <a:t>rectangular</a:t>
            </a:r>
            <a:r>
              <a:rPr lang="en-AU" sz="4400" dirty="0"/>
              <a:t> </a:t>
            </a:r>
            <a:r>
              <a:rPr lang="en-AU" sz="4400" b="1" dirty="0"/>
              <a:t>prism</a:t>
            </a:r>
            <a:r>
              <a:rPr lang="en-AU" sz="4400" dirty="0"/>
              <a:t>.</a:t>
            </a:r>
          </a:p>
          <a:p>
            <a:pPr algn="ctr">
              <a:lnSpc>
                <a:spcPct val="150000"/>
              </a:lnSpc>
            </a:pPr>
            <a:endParaRPr lang="en-AU" sz="4400" dirty="0"/>
          </a:p>
          <a:p>
            <a:pPr algn="ctr"/>
            <a:endParaRPr lang="en-AU" sz="1800" dirty="0"/>
          </a:p>
        </p:txBody>
      </p:sp>
      <p:pic>
        <p:nvPicPr>
          <p:cNvPr id="7" name="Picture 6" descr="An image of a rectangular prism.">
            <a:extLst>
              <a:ext uri="{FF2B5EF4-FFF2-40B4-BE49-F238E27FC236}">
                <a16:creationId xmlns:a16="http://schemas.microsoft.com/office/drawing/2014/main" id="{CD4077BF-AA75-28F9-32D8-894719C4A247}"/>
              </a:ext>
            </a:extLst>
          </p:cNvPr>
          <p:cNvPicPr>
            <a:picLocks noChangeAspect="1"/>
          </p:cNvPicPr>
          <p:nvPr/>
        </p:nvPicPr>
        <p:blipFill>
          <a:blip r:embed="rId4"/>
          <a:stretch>
            <a:fillRect/>
          </a:stretch>
        </p:blipFill>
        <p:spPr>
          <a:xfrm>
            <a:off x="3915875" y="3429000"/>
            <a:ext cx="4099462" cy="28279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equivalent number sentences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7" name="Picture 6" descr="A blank multiplication and division equation. It shows empty boxes representing digits to form an empty number sentence as follows:&#10;A one-digit number times a one-digit number equals a blank 2-digit number divided by a one-digit number.">
            <a:extLst>
              <a:ext uri="{FF2B5EF4-FFF2-40B4-BE49-F238E27FC236}">
                <a16:creationId xmlns:a16="http://schemas.microsoft.com/office/drawing/2014/main" id="{96CB9120-FA00-17B1-2119-61C7CA2503A8}"/>
              </a:ext>
            </a:extLst>
          </p:cNvPr>
          <p:cNvPicPr>
            <a:picLocks noChangeAspect="1"/>
          </p:cNvPicPr>
          <p:nvPr/>
        </p:nvPicPr>
        <p:blipFill>
          <a:blip r:embed="rId4"/>
          <a:stretch>
            <a:fillRect/>
          </a:stretch>
        </p:blipFill>
        <p:spPr>
          <a:xfrm>
            <a:off x="360000" y="2478361"/>
            <a:ext cx="11485418" cy="1694287"/>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48000" y="3428999"/>
            <a:ext cx="11484000" cy="3267001"/>
          </a:xfrm>
        </p:spPr>
        <p:txBody>
          <a:bodyPr/>
          <a:lstStyle/>
          <a:p>
            <a:r>
              <a:rPr lang="en-AU" u="sng">
                <a:hlinkClick r:id="rId5"/>
              </a:rPr>
              <a:t>Mathematics K–10 Syllabus</a:t>
            </a:r>
            <a:r>
              <a:rPr lang="en-AU"/>
              <a:t> © NSW Education Standards Authority (NESA) for and on behalf of the Crown in right of the State of New South Wales, 2022.</a:t>
            </a:r>
          </a:p>
          <a:p>
            <a:r>
              <a:rPr lang="en-AU" u="sng">
                <a:hlinkClick r:id="rId6"/>
              </a:rPr>
              <a:t>National Numeracy Learning Progression</a:t>
            </a:r>
            <a:r>
              <a:rPr lang="en-AU"/>
              <a:t> © Australian Curriculum, Assessment and Reporting Authority (ACARA) 2010 to present, unless otherwise indicated. This material was downloaded from the </a:t>
            </a:r>
            <a:r>
              <a:rPr lang="en-AU" u="sng">
                <a:hlinkClick r:id="rId7"/>
              </a:rPr>
              <a:t>Australian Curriculum</a:t>
            </a:r>
            <a:r>
              <a:rPr lang="en-AU"/>
              <a:t> website (National Numeracy Learning Progression) (accessed 11 March 2026) and was not modified.</a:t>
            </a:r>
          </a:p>
          <a:p>
            <a:r>
              <a:rPr lang="en-AU"/>
              <a:t>Commonwealth of Australia (2021) </a:t>
            </a:r>
            <a:r>
              <a:rPr lang="en-AU" i="1" u="sng">
                <a:hlinkClick r:id="rId8"/>
              </a:rPr>
              <a:t>Average annual, seasonal and monthly rainfall maps</a:t>
            </a:r>
            <a:r>
              <a:rPr lang="en-AU" u="sng"/>
              <a:t>,</a:t>
            </a:r>
            <a:r>
              <a:rPr lang="en-AU"/>
              <a:t> Bureau of Meteorology website, accessed 10 March 2026.</a:t>
            </a:r>
          </a:p>
          <a:p>
            <a:r>
              <a:rPr lang="en-AU"/>
              <a:t>Conway IV BM, Id-Deen L, Raygoza MC, Ruiz A, Staley JW and </a:t>
            </a:r>
            <a:r>
              <a:rPr lang="en-AU" err="1"/>
              <a:t>Thanheiser</a:t>
            </a:r>
            <a:r>
              <a:rPr lang="en-AU"/>
              <a:t> E (2023) </a:t>
            </a:r>
            <a:r>
              <a:rPr lang="en-AU" i="1"/>
              <a:t>Middle School Mathematics Lessons to Explore, Understand, and Respond to Social Injustice</a:t>
            </a:r>
            <a:r>
              <a:rPr lang="en-AU"/>
              <a:t>, Corwin Press Inc, USA.</a:t>
            </a:r>
          </a:p>
          <a:p>
            <a:r>
              <a:rPr lang="en-AU" err="1"/>
              <a:t>JustMaths</a:t>
            </a:r>
            <a:r>
              <a:rPr lang="en-AU"/>
              <a:t> (2013) </a:t>
            </a:r>
            <a:r>
              <a:rPr lang="en-AU" i="1" u="sng">
                <a:hlinkClick r:id="rId9"/>
              </a:rPr>
              <a:t>Decimals</a:t>
            </a:r>
            <a:r>
              <a:rPr lang="en-AU"/>
              <a:t>, STEM Learning website, assessed 10 March 2026.</a:t>
            </a:r>
          </a:p>
          <a:p>
            <a:r>
              <a:rPr lang="en-AU"/>
              <a:t>Kaplinsky R (n.d.) </a:t>
            </a:r>
            <a:r>
              <a:rPr lang="en-AU" i="1" u="sng">
                <a:hlinkClick r:id="rId10"/>
              </a:rPr>
              <a:t>Multiply and Divide Within A Hundred 1</a:t>
            </a:r>
            <a:r>
              <a:rPr lang="en-AU" u="sng"/>
              <a:t>,</a:t>
            </a:r>
            <a:r>
              <a:rPr lang="en-AU"/>
              <a:t> Open Middle website, accessed 10 March 2026.</a:t>
            </a:r>
          </a:p>
          <a:p>
            <a:pPr>
              <a:lnSpc>
                <a:spcPct val="150000"/>
              </a:lnSpc>
              <a:spcBef>
                <a:spcPts val="1200"/>
              </a:spcBef>
              <a:spcAft>
                <a:spcPts val="600"/>
              </a:spcAft>
            </a:pPr>
            <a:endParaRPr lang="en-AU" sz="1200">
              <a:effectLst/>
              <a:ea typeface="Calibri" panose="020F0502020204030204" pitchFamily="34" charset="0"/>
            </a:endParaRP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3332067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417756"/>
            <a:ext cx="11610328" cy="3069000"/>
          </a:xfrm>
        </p:spPr>
        <p:txBody>
          <a:bodyPr/>
          <a:lstStyle/>
          <a:p>
            <a:r>
              <a:rPr lang="en-AU"/>
              <a:t>Liljedahl P (n.d.) </a:t>
            </a:r>
            <a:r>
              <a:rPr lang="en-AU" i="1" u="sng">
                <a:hlinkClick r:id="rId5"/>
              </a:rPr>
              <a:t>Celebrity Travel Planning</a:t>
            </a:r>
            <a:r>
              <a:rPr lang="en-AU" u="sng"/>
              <a:t>,</a:t>
            </a:r>
            <a:r>
              <a:rPr lang="en-AU"/>
              <a:t> Peter Liljedahl website, accessed 10 March 2026.</a:t>
            </a:r>
          </a:p>
          <a:p>
            <a:r>
              <a:rPr lang="en-AU"/>
              <a:t>NSW Education Standards Authority (NESA) (2022) </a:t>
            </a:r>
            <a:r>
              <a:rPr lang="en-AU" i="1" u="sng">
                <a:hlinkClick r:id="rId6"/>
              </a:rPr>
              <a:t>Mathematics Stage 3: Activity 2 – Work samples (Additive relations</a:t>
            </a:r>
            <a:r>
              <a:rPr lang="en-AU" i="1" u="sng"/>
              <a:t>)</a:t>
            </a:r>
            <a:r>
              <a:rPr lang="en-AU" u="sng"/>
              <a:t>,</a:t>
            </a:r>
            <a:r>
              <a:rPr lang="en-AU"/>
              <a:t> NESA website, accessed 10 March 2026.</a:t>
            </a:r>
          </a:p>
          <a:p>
            <a:r>
              <a:rPr lang="en-AU"/>
              <a:t>Richter F (2023) </a:t>
            </a:r>
            <a:r>
              <a:rPr lang="en-AU" i="1" u="sng">
                <a:hlinkClick r:id="rId7"/>
              </a:rPr>
              <a:t>2023 Women’s World Cup Sets Attendance Record</a:t>
            </a:r>
            <a:r>
              <a:rPr lang="en-AU"/>
              <a:t>, Statista website, accessed 10 March 2026.</a:t>
            </a:r>
          </a:p>
          <a:p>
            <a:r>
              <a:rPr lang="en-AU"/>
              <a:t>Siemon D, Warren E, Beswick K, Faragher R, Miller J, Horne M, </a:t>
            </a:r>
            <a:r>
              <a:rPr lang="en-AU" err="1"/>
              <a:t>Jazby</a:t>
            </a:r>
            <a:r>
              <a:rPr lang="en-AU"/>
              <a:t> D, Breed M, Clark J and Brady K (2021) </a:t>
            </a:r>
            <a:r>
              <a:rPr lang="en-AU" i="1"/>
              <a:t>Teaching Mathematics Foundations to Middle Years</a:t>
            </a:r>
            <a:r>
              <a:rPr lang="en-AU"/>
              <a:t>, 3rd </a:t>
            </a:r>
            <a:r>
              <a:rPr lang="en-AU" err="1"/>
              <a:t>edn</a:t>
            </a:r>
            <a:r>
              <a:rPr lang="en-AU"/>
              <a:t>, Oxford University Press, Australia and New Zealand.</a:t>
            </a:r>
          </a:p>
          <a:p>
            <a:r>
              <a:rPr lang="en-US"/>
              <a:t>State of New South Wales (Department of Education) (2023) </a:t>
            </a:r>
            <a:r>
              <a:rPr lang="en-US" u="sng">
                <a:hlinkClick r:id="rId8"/>
              </a:rPr>
              <a:t>Applications with decimals</a:t>
            </a:r>
            <a:r>
              <a:rPr lang="en-AU"/>
              <a:t>, Universal Resources Hub website, accessed 10 March 2026.</a:t>
            </a:r>
          </a:p>
          <a:p>
            <a:r>
              <a:rPr lang="en-AU"/>
              <a:t>——</a:t>
            </a:r>
            <a:r>
              <a:rPr lang="en-US"/>
              <a:t>(2023) </a:t>
            </a:r>
            <a:r>
              <a:rPr lang="en-AU" i="1" u="sng">
                <a:hlinkClick r:id="rId9"/>
              </a:rPr>
              <a:t>2023 Results for NSWPSSA - Athletics - Championship</a:t>
            </a:r>
            <a:r>
              <a:rPr lang="en-AU"/>
              <a:t>, School Sport Unit website, accessed 10 March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243377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6EB7-C7A1-4532-0878-E29E1D51BD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530CD2-F87B-7BED-C3D8-2B2845B4E40D}"/>
              </a:ext>
            </a:extLst>
          </p:cNvPr>
          <p:cNvSpPr>
            <a:spLocks noGrp="1"/>
          </p:cNvSpPr>
          <p:nvPr>
            <p:ph type="title"/>
          </p:nvPr>
        </p:nvSpPr>
        <p:spPr/>
        <p:txBody>
          <a:bodyPr/>
          <a:lstStyle/>
          <a:p>
            <a:r>
              <a:rPr lang="en-AU"/>
              <a:t>References </a:t>
            </a:r>
            <a:r>
              <a:rPr lang="en-AU">
                <a:solidFill>
                  <a:schemeClr val="accent4"/>
                </a:solidFill>
              </a:rPr>
              <a:t>(3)</a:t>
            </a:r>
          </a:p>
        </p:txBody>
      </p:sp>
      <p:sp>
        <p:nvSpPr>
          <p:cNvPr id="6" name="TextBox 5">
            <a:extLst>
              <a:ext uri="{FF2B5EF4-FFF2-40B4-BE49-F238E27FC236}">
                <a16:creationId xmlns:a16="http://schemas.microsoft.com/office/drawing/2014/main" id="{DFC17BA3-D692-96AE-59DC-45AD77BADB93}"/>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2851BED6-D707-5DCA-AA2E-5927CE5D7AFF}"/>
              </a:ext>
            </a:extLst>
          </p:cNvPr>
          <p:cNvSpPr>
            <a:spLocks noGrp="1"/>
          </p:cNvSpPr>
          <p:nvPr>
            <p:ph idx="1"/>
          </p:nvPr>
        </p:nvSpPr>
        <p:spPr>
          <a:xfrm>
            <a:off x="437404" y="3510410"/>
            <a:ext cx="11471999" cy="3069000"/>
          </a:xfrm>
        </p:spPr>
        <p:txBody>
          <a:bodyPr/>
          <a:lstStyle/>
          <a:p>
            <a:r>
              <a:rPr lang="en-AU"/>
              <a:t>The Australian Nutrition Foundation (2021) </a:t>
            </a:r>
            <a:r>
              <a:rPr lang="en-AU" i="1" u="sng">
                <a:hlinkClick r:id="rId5"/>
              </a:rPr>
              <a:t>Australian Dietary Guidelines: Standard serves [PDF 599 KB]</a:t>
            </a:r>
            <a:r>
              <a:rPr lang="en-AU" u="sng"/>
              <a:t>,</a:t>
            </a:r>
            <a:r>
              <a:rPr lang="en-AU"/>
              <a:t> Nutrition Australia website, accessed 10 March 2026.</a:t>
            </a:r>
          </a:p>
          <a:p>
            <a:r>
              <a:rPr lang="en-AU"/>
              <a:t>University of Cambridge (n.d.) </a:t>
            </a:r>
            <a:r>
              <a:rPr lang="en-AU" i="1" u="sng">
                <a:hlinkClick r:id="rId6"/>
              </a:rPr>
              <a:t>Matching Fractions, Decimals and Percentages</a:t>
            </a:r>
            <a:r>
              <a:rPr lang="en-AU" u="sng"/>
              <a:t>,</a:t>
            </a:r>
            <a:r>
              <a:rPr lang="en-AU"/>
              <a:t> NRICH website, accessed 10 March 2026.</a:t>
            </a:r>
          </a:p>
          <a:p>
            <a:r>
              <a:rPr lang="en-AU"/>
              <a:t>——(n.d.) </a:t>
            </a:r>
            <a:r>
              <a:rPr lang="en-AU" i="1" u="sng">
                <a:hlinkClick r:id="rId7"/>
              </a:rPr>
              <a:t>Shopping Basket</a:t>
            </a:r>
            <a:r>
              <a:rPr lang="en-AU" u="sng"/>
              <a:t>,</a:t>
            </a:r>
            <a:r>
              <a:rPr lang="en-AU"/>
              <a:t> NRICH website, accessed 10 March 2026.</a:t>
            </a:r>
          </a:p>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p:txBody>
      </p:sp>
      <p:sp>
        <p:nvSpPr>
          <p:cNvPr id="2" name="Slide Number Placeholder 1">
            <a:extLst>
              <a:ext uri="{FF2B5EF4-FFF2-40B4-BE49-F238E27FC236}">
                <a16:creationId xmlns:a16="http://schemas.microsoft.com/office/drawing/2014/main" id="{7D0AE5D9-DE34-E64D-F930-9D507499F9D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63279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55570-2BD4-426B-AA32-0A79CB6508A8}">
  <ds:schemaRefs>
    <ds:schemaRef ds:uri="http://schemas.microsoft.com/office/2006/documentManagement/types"/>
    <ds:schemaRef ds:uri="http://schemas.microsoft.com/sharepoint/v3"/>
    <ds:schemaRef ds:uri="7e763d47-3c66-4c58-9425-1477fd3ccd1e"/>
    <ds:schemaRef ds:uri="http://schemas.microsoft.com/office/2006/metadata/properties"/>
    <ds:schemaRef ds:uri="http://purl.org/dc/dcmitype/"/>
    <ds:schemaRef ds:uri="http://purl.org/dc/terms/"/>
    <ds:schemaRef ds:uri="http://www.w3.org/XML/1998/namespace"/>
    <ds:schemaRef ds:uri="http://schemas.microsoft.com/office/infopath/2007/PartnerControls"/>
    <ds:schemaRef ds:uri="http://schemas.openxmlformats.org/package/2006/metadata/core-properties"/>
    <ds:schemaRef ds:uri="60129b06-f64b-40a8-96e2-c5b2f86112b1"/>
    <ds:schemaRef ds:uri="http://purl.org/dc/elements/1.1/"/>
  </ds:schemaRefs>
</ds:datastoreItem>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44926DEF-7C38-4F37-8780-35E589EC1814}"/>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14</TotalTime>
  <Words>7439</Words>
  <Application>Microsoft Office PowerPoint</Application>
  <PresentationFormat>Widescreen</PresentationFormat>
  <Paragraphs>938</Paragraphs>
  <Slides>72</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Wingdings</vt:lpstr>
      <vt:lpstr>Symbol</vt:lpstr>
      <vt:lpstr>Public Sans Light</vt:lpstr>
      <vt:lpstr>Montserrat</vt:lpstr>
      <vt:lpstr>Arial</vt:lpstr>
      <vt:lpstr>Times New Roman</vt:lpstr>
      <vt:lpstr>Calibri</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addition and subtraction with decimals</vt:lpstr>
      <vt:lpstr>Review of learning 2</vt:lpstr>
      <vt:lpstr>True or false (1)</vt:lpstr>
      <vt:lpstr>Short response (5)</vt:lpstr>
      <vt:lpstr>Short response (6)</vt:lpstr>
      <vt:lpstr>Short response (7)</vt:lpstr>
      <vt:lpstr>Short response (8)</vt:lpstr>
      <vt:lpstr>Activity 2 – addition and subtraction word problems</vt:lpstr>
      <vt:lpstr>Review of learning 3</vt:lpstr>
      <vt:lpstr>Multiple choice (2)</vt:lpstr>
      <vt:lpstr>Short response (9)</vt:lpstr>
      <vt:lpstr>Short response (10)</vt:lpstr>
      <vt:lpstr>Short response (11)</vt:lpstr>
      <vt:lpstr>Short response (12)</vt:lpstr>
      <vt:lpstr>Activity 3 – addition and subtraction using representations 1 (1) </vt:lpstr>
      <vt:lpstr>Activity 3 – addition and subtraction using representations 1 (2) </vt:lpstr>
      <vt:lpstr>Review of learning 4</vt:lpstr>
      <vt:lpstr>True or false (2)</vt:lpstr>
      <vt:lpstr>Short response (13)</vt:lpstr>
      <vt:lpstr>Short response (14)</vt:lpstr>
      <vt:lpstr>Short response (15)</vt:lpstr>
      <vt:lpstr>Short response (16)</vt:lpstr>
      <vt:lpstr>Activity 4 – addition and subtraction using representations 2</vt:lpstr>
      <vt:lpstr>Review of learning 5</vt:lpstr>
      <vt:lpstr>Multiple choice (3)</vt:lpstr>
      <vt:lpstr>Short response (17)</vt:lpstr>
      <vt:lpstr>Short response (18)</vt:lpstr>
      <vt:lpstr>Short response (19)</vt:lpstr>
      <vt:lpstr>Short response (20)</vt:lpstr>
      <vt:lpstr>Activity 5 – inverse operations (2)</vt:lpstr>
      <vt:lpstr>Review of learning 6</vt:lpstr>
      <vt:lpstr>True or false (3)</vt:lpstr>
      <vt:lpstr>Short response (21)</vt:lpstr>
      <vt:lpstr>Short response (22)</vt:lpstr>
      <vt:lpstr>Short response (23)</vt:lpstr>
      <vt:lpstr>Short response (24)</vt:lpstr>
      <vt:lpstr>Activity 6 – number sentences with missing numbers</vt:lpstr>
      <vt:lpstr>Review of learning 7</vt:lpstr>
      <vt:lpstr>Multiple choice (4)</vt:lpstr>
      <vt:lpstr>Short response (25)</vt:lpstr>
      <vt:lpstr>Short response (26)</vt:lpstr>
      <vt:lpstr>Short response (27)</vt:lpstr>
      <vt:lpstr>Short response (28)</vt:lpstr>
      <vt:lpstr>Activity 7 – calculating missing numbers using inverse operations (1)</vt:lpstr>
      <vt:lpstr>Activity 7 – calculating missing numbers using inverse operations (2)</vt:lpstr>
      <vt:lpstr>Review of learning 8</vt:lpstr>
      <vt:lpstr>True or false (4)</vt:lpstr>
      <vt:lpstr>Short response (29)</vt:lpstr>
      <vt:lpstr>Short response (30)</vt:lpstr>
      <vt:lpstr>Short response (31)</vt:lpstr>
      <vt:lpstr>Short response (32)</vt:lpstr>
      <vt:lpstr>Activity 8 – equivalent number sentences</vt:lpstr>
      <vt:lpstr>Double Venn diagram</vt:lpstr>
      <vt:lpstr>Frayer</vt:lpstr>
      <vt:lpstr>Spider map</vt:lpstr>
      <vt:lpstr>Cline</vt:lpstr>
      <vt:lpstr>Compare and contrast</vt:lpstr>
      <vt:lpstr>Multiple choice (5)</vt:lpstr>
      <vt:lpstr>Multiple choice</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2026-06-21T22:46:52Z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