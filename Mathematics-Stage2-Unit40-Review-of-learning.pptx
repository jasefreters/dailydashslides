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71" r:id="rId14"/>
    <p:sldId id="26512" r:id="rId15"/>
    <p:sldId id="26509" r:id="rId16"/>
    <p:sldId id="26523" r:id="rId17"/>
    <p:sldId id="26529" r:id="rId18"/>
    <p:sldId id="26530" r:id="rId19"/>
    <p:sldId id="26531" r:id="rId20"/>
    <p:sldId id="26405" r:id="rId21"/>
    <p:sldId id="26513" r:id="rId22"/>
    <p:sldId id="26534" r:id="rId23"/>
    <p:sldId id="26535" r:id="rId24"/>
    <p:sldId id="26528" r:id="rId25"/>
    <p:sldId id="26537" r:id="rId26"/>
    <p:sldId id="26536" r:id="rId27"/>
    <p:sldId id="26443" r:id="rId28"/>
    <p:sldId id="26514" r:id="rId29"/>
    <p:sldId id="26539" r:id="rId30"/>
    <p:sldId id="26540" r:id="rId31"/>
    <p:sldId id="26541" r:id="rId32"/>
    <p:sldId id="26542" r:id="rId33"/>
    <p:sldId id="26543" r:id="rId34"/>
    <p:sldId id="26572" r:id="rId35"/>
    <p:sldId id="26515" r:id="rId36"/>
    <p:sldId id="26507" r:id="rId37"/>
    <p:sldId id="26546" r:id="rId38"/>
    <p:sldId id="26547" r:id="rId39"/>
    <p:sldId id="26548" r:id="rId40"/>
    <p:sldId id="26549" r:id="rId41"/>
    <p:sldId id="26425" r:id="rId42"/>
    <p:sldId id="26516" r:id="rId43"/>
    <p:sldId id="26550" r:id="rId44"/>
    <p:sldId id="26553" r:id="rId45"/>
    <p:sldId id="26554" r:id="rId46"/>
    <p:sldId id="26555" r:id="rId47"/>
    <p:sldId id="26556" r:id="rId48"/>
    <p:sldId id="26522" r:id="rId49"/>
    <p:sldId id="26517" r:id="rId50"/>
    <p:sldId id="26574" r:id="rId51"/>
    <p:sldId id="26560" r:id="rId52"/>
    <p:sldId id="26561" r:id="rId53"/>
    <p:sldId id="26562" r:id="rId54"/>
    <p:sldId id="26563" r:id="rId55"/>
    <p:sldId id="26430" r:id="rId56"/>
    <p:sldId id="26518" r:id="rId57"/>
    <p:sldId id="26564" r:id="rId58"/>
    <p:sldId id="26565" r:id="rId59"/>
    <p:sldId id="26567" r:id="rId60"/>
    <p:sldId id="26566" r:id="rId61"/>
    <p:sldId id="26568" r:id="rId62"/>
    <p:sldId id="26573"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71"/>
            <p14:sldId id="26512"/>
            <p14:sldId id="26509"/>
            <p14:sldId id="26523"/>
            <p14:sldId id="26529"/>
            <p14:sldId id="26530"/>
            <p14:sldId id="26531"/>
            <p14:sldId id="26405"/>
            <p14:sldId id="26513"/>
            <p14:sldId id="26534"/>
            <p14:sldId id="26535"/>
            <p14:sldId id="26528"/>
            <p14:sldId id="26537"/>
            <p14:sldId id="26536"/>
            <p14:sldId id="26443"/>
            <p14:sldId id="26514"/>
            <p14:sldId id="26539"/>
            <p14:sldId id="26540"/>
            <p14:sldId id="26541"/>
            <p14:sldId id="26542"/>
            <p14:sldId id="26543"/>
            <p14:sldId id="26572"/>
            <p14:sldId id="26515"/>
            <p14:sldId id="26507"/>
            <p14:sldId id="26546"/>
            <p14:sldId id="26547"/>
            <p14:sldId id="26548"/>
            <p14:sldId id="26549"/>
            <p14:sldId id="26425"/>
            <p14:sldId id="26516"/>
            <p14:sldId id="26550"/>
            <p14:sldId id="26553"/>
            <p14:sldId id="26554"/>
            <p14:sldId id="26555"/>
            <p14:sldId id="26556"/>
            <p14:sldId id="26522"/>
            <p14:sldId id="26517"/>
            <p14:sldId id="26574"/>
            <p14:sldId id="26560"/>
            <p14:sldId id="26561"/>
            <p14:sldId id="26562"/>
            <p14:sldId id="26563"/>
            <p14:sldId id="26430"/>
            <p14:sldId id="26518"/>
            <p14:sldId id="26564"/>
            <p14:sldId id="26565"/>
            <p14:sldId id="26567"/>
            <p14:sldId id="26566"/>
            <p14:sldId id="26568"/>
            <p14:sldId id="26573"/>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0EB36D6E-3AE9-3B2C-28D2-8291BFBA4A39}" name="Christie Williams" initials="CW" userId="S::christie.williams2@det.nsw.edu.au::881f3a5c-b614-46db-a2f1-8ad4840e9c37"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296633BD-748C-EB42-3D69-7BCCC94AE320}" name="Stacey Smith" initials="SS" userId="S::Stacey.Smith26@det.nsw.edu.au::42e92087-8652-410d-bbce-29a6a03d4399"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146CFD"/>
    <a:srgbClr val="9242CF"/>
    <a:srgbClr val="25E8E8"/>
    <a:srgbClr val="FFFFFF"/>
    <a:srgbClr val="AD5AD6"/>
    <a:srgbClr val="4EE5F2"/>
    <a:srgbClr val="000000"/>
    <a:srgbClr val="002664"/>
    <a:srgbClr val="007A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936B83-9169-4C99-8C74-EC6E1C8DCD72}" v="397" dt="2025-09-12T00:49:16.407"/>
    <p1510:client id="{CE00DDDD-2ADB-43A7-8F26-5A31DB889A53}" v="1" dt="2025-09-12T03:10:32.14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4510" autoAdjust="0"/>
  </p:normalViewPr>
  <p:slideViewPr>
    <p:cSldViewPr snapToGrid="0">
      <p:cViewPr varScale="1">
        <p:scale>
          <a:sx n="53" d="100"/>
          <a:sy n="53" d="100"/>
        </p:scale>
        <p:origin x="1720" y="40"/>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_Resource_30_&#8211;"/><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_Resource_31_&#8211;"/><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_Resource_32_&#8211;"/><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_Resource_X_&#8211;_1"/><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B Unit 40</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B Unit 39</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B Unit 38 </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Representing numbers using place value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Non-spatial measure B</a:t>
            </a:r>
            <a:endParaRPr lang="en-AU" dirty="0"/>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2000">
                <a:latin typeface="Arial"/>
                <a:cs typeface="Arial"/>
              </a:rPr>
              <a:t>This is a developing number sense activity. </a:t>
            </a:r>
            <a:endParaRPr lang="en-US" sz="2000">
              <a:solidFill>
                <a:srgbClr val="444444"/>
              </a:solidFill>
              <a:latin typeface="Arial"/>
              <a:cs typeface="Arial"/>
            </a:endParaRPr>
          </a:p>
          <a:p>
            <a:pPr>
              <a:lnSpc>
                <a:spcPct val="150000"/>
              </a:lnSpc>
              <a:spcBef>
                <a:spcPts val="1200"/>
              </a:spcBef>
              <a:spcAft>
                <a:spcPts val="600"/>
              </a:spcAft>
            </a:pPr>
            <a:endParaRPr lang="en-AU" sz="2000">
              <a:solidFill>
                <a:srgbClr val="444444"/>
              </a:solidFill>
            </a:endParaRPr>
          </a:p>
          <a:p>
            <a:pPr>
              <a:lnSpc>
                <a:spcPct val="150000"/>
              </a:lnSpc>
              <a:spcBef>
                <a:spcPts val="1200"/>
              </a:spcBef>
              <a:spcAft>
                <a:spcPts val="600"/>
              </a:spcAft>
            </a:pPr>
            <a:r>
              <a:rPr lang="en-AU" sz="20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2000">
              <a:solidFill>
                <a:srgbClr val="444444"/>
              </a:solidFill>
              <a:latin typeface="Arial"/>
              <a:cs typeface="Arial"/>
            </a:endParaRPr>
          </a:p>
          <a:p>
            <a:pPr>
              <a:lnSpc>
                <a:spcPts val="1913"/>
              </a:lnSpc>
            </a:pPr>
            <a:endParaRPr lang="en-AU" sz="2000">
              <a:solidFill>
                <a:srgbClr val="444444"/>
              </a:solidFill>
            </a:endParaRPr>
          </a:p>
          <a:p>
            <a:r>
              <a:rPr lang="en-AU" sz="2000" b="1">
                <a:latin typeface="Arial"/>
                <a:cs typeface="Arial"/>
              </a:rPr>
              <a:t>Syllabus focus area: Additive relations B</a:t>
            </a:r>
            <a:endParaRPr lang="en-US" sz="2000">
              <a:solidFill>
                <a:srgbClr val="444444"/>
              </a:solidFill>
              <a:latin typeface="Arial"/>
              <a:cs typeface="Arial"/>
            </a:endParaRPr>
          </a:p>
          <a:p>
            <a:r>
              <a:rPr lang="en-AU">
                <a:latin typeface="Arial"/>
                <a:cs typeface="Arial"/>
              </a:rPr>
              <a:t>This resource corresponds to Resource 29 – efficient strategies for addition in Stage 2 Year B Unit 40.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29 – efficient strategies for addition and ask: What are some strategies we could use to find the answer?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Prompt students to share their thinking and display the strategies.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solve the number sentence in 2 ways, recording an algorithm and one other strategy on an individual whiteboard. For example, a flexible strategy might be 250 + 350 + 17.</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explain their strategies and reason about the efficiency of each.</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to share and record various strategies on the board. Name each strategy and reflect on the efficiency for solving the additive example.</a:t>
            </a:r>
          </a:p>
          <a:p>
            <a:pPr>
              <a:lnSpc>
                <a:spcPct val="150000"/>
              </a:lnSpc>
              <a:spcBef>
                <a:spcPts val="1200"/>
              </a:spcBef>
              <a:spcAft>
                <a:spcPts val="600"/>
              </a:spcAft>
              <a:buSzPts val="1100"/>
              <a:buFont typeface="Arial" panose="020B0604020202020204" pitchFamily="34" charset="0"/>
            </a:pPr>
            <a:endParaRPr lang="en-AU" sz="200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966381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a:p>
            <a:pPr>
              <a:defRPr/>
            </a:pPr>
            <a:endParaRPr lang="en-AU">
              <a:solidFill>
                <a:srgbClr val="444444"/>
              </a:solidFill>
            </a:endParaRPr>
          </a:p>
          <a:p>
            <a:pPr>
              <a:defRPr/>
            </a:pPr>
            <a:endParaRPr lang="en-AU" sz="1600" i="0">
              <a:latin typeface="Arial" panose="020B0604020202020204" pitchFamily="34" charset="0"/>
              <a:cs typeface="Arial" panose="020B0604020202020204" pitchFamily="34" charset="0"/>
            </a:endParaRPr>
          </a:p>
          <a:p>
            <a:pPr>
              <a:defRPr/>
            </a:pPr>
            <a:endParaRPr lang="en-US" b="1"/>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Representing numbers using place value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defRPr/>
            </a:pPr>
            <a:endParaRPr lang="en-AU" sz="1800">
              <a:solidFill>
                <a:srgbClr val="444444"/>
              </a:solidFill>
            </a:endParaRPr>
          </a:p>
          <a:p>
            <a:pPr>
              <a:defRPr/>
            </a:pPr>
            <a:r>
              <a:rPr lang="en-AU" sz="1800" b="1">
                <a:latin typeface="Arial"/>
                <a:cs typeface="Arial"/>
              </a:rPr>
              <a:t>Syllabus focus area: Additive relations B</a:t>
            </a:r>
            <a:endParaRPr lang="en-AU" b="1">
              <a:latin typeface="Arial"/>
              <a:cs typeface="Arial"/>
            </a:endParaRPr>
          </a:p>
          <a:p>
            <a:r>
              <a:rPr lang="en-AU">
                <a:latin typeface="Arial"/>
                <a:cs typeface="Arial"/>
              </a:rPr>
              <a:t>This resource corresponds to Resource 30- addition algorithms in Stage 2 Year B Unit 40. </a:t>
            </a:r>
          </a:p>
          <a:p>
            <a:pPr marL="342900" lvl="0" indent="-342900">
              <a:lnSpc>
                <a:spcPct val="150000"/>
              </a:lnSpc>
              <a:spcBef>
                <a:spcPts val="1200"/>
              </a:spcBef>
              <a:spcAft>
                <a:spcPts val="600"/>
              </a:spcAft>
              <a:buFont typeface="+mj-lt"/>
              <a:buAutoNum type="arabicPeriod"/>
            </a:pPr>
            <a:endParaRPr lang="en-AU" sz="180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their workbooks and a deck of playing cards with the tens and picture cards removed.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30 – addition algorithms</a:t>
            </a:r>
            <a:r>
              <a:rPr lang="en-AU" sz="1600" kern="1200">
                <a:solidFill>
                  <a:schemeClr val="tx1"/>
                </a:solidFill>
                <a:effectLst/>
                <a:latin typeface="Arial" panose="020B0604020202020204" pitchFamily="34" charset="0"/>
                <a:ea typeface="+mn-ea"/>
                <a:cs typeface="Arial" panose="020B0604020202020204" pitchFamily="34" charset="0"/>
              </a:rPr>
              <a:t> and explain how to play: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Shuffle the cards and deal 5 cards to each player.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Players arrange the cards to form a 3-digit plus 2-digit algorithm.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Each player records and solves the algorithm in their workbook.</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largest sum recorded wins.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Once each pair has completed 2 addition algorithms, students then create, record and solve subtraction algorithms. The smallest difference of the recorded algorithms wins.</a:t>
            </a:r>
          </a:p>
          <a:p>
            <a:pPr>
              <a:lnSpc>
                <a:spcPct val="150000"/>
              </a:lnSpc>
              <a:spcBef>
                <a:spcPts val="1200"/>
              </a:spcBef>
              <a:spcAft>
                <a:spcPts val="600"/>
              </a:spcAft>
              <a:buSzPts val="1100"/>
            </a:pPr>
            <a:endParaRPr lang="en-AU" sz="1800"/>
          </a:p>
          <a:p>
            <a:pPr marL="0" lvl="0" indent="0">
              <a:lnSpc>
                <a:spcPct val="150000"/>
              </a:lnSpc>
              <a:spcBef>
                <a:spcPts val="1200"/>
              </a:spcBef>
              <a:spcAft>
                <a:spcPts val="600"/>
              </a:spcAft>
              <a:buSzPts val="1100"/>
              <a:buFont typeface="Arial" panose="020B0604020202020204" pitchFamily="34" charset="0"/>
              <a:buNone/>
            </a:pPr>
            <a:endParaRPr lang="en-AU" sz="1800">
              <a:effectLst/>
              <a:latin typeface="Arial"/>
              <a:ea typeface="Calibri"/>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338796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a:p>
            <a:pPr>
              <a:defRPr/>
            </a:pPr>
            <a:r>
              <a:rPr lang="en-AU"/>
              <a:t>This resource corresponds to Resource 31- missing digit algorithm in Stage 2 Year B Unit 40. </a:t>
            </a:r>
            <a:endParaRPr lang="en-AU">
              <a:solidFill>
                <a:srgbClr val="444444"/>
              </a:solidFill>
            </a:endParaRPr>
          </a:p>
          <a:p>
            <a:pPr>
              <a:defRPr/>
            </a:pPr>
            <a:r>
              <a:rPr lang="en-AU">
                <a:latin typeface="Arial"/>
                <a:cs typeface="Arial"/>
              </a:rPr>
              <a:t>Refer to the prompt table in Stage 2 Year B Unit 40 for questions and anticipated student responses.</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Representing numbers using place value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Three-dimensional spatial structure B: volume</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r>
              <a:rPr lang="en-AU">
                <a:latin typeface="Arial"/>
                <a:cs typeface="Arial"/>
              </a:rPr>
              <a:t>Additive relations B</a:t>
            </a:r>
            <a:endParaRPr lang="en-AU" sz="1600"/>
          </a:p>
          <a:p>
            <a:r>
              <a:rPr lang="en-AU">
                <a:latin typeface="Arial"/>
                <a:cs typeface="Arial"/>
              </a:rPr>
              <a:t>This resource corresponds to Resource 31- missing digit subtraction algorithm in Stage 2 Year B Unit 40.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31 – missing digits subtraction algorithm</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students will try to find the possible missing 2-digit and 3-digit numbers to make the subtraction equation true.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consider the possible missing 2-digit and 3-digit numbers. They record their solutions on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prompt students to share their solutions and explain their reasoning.</a:t>
            </a:r>
          </a:p>
          <a:p>
            <a:endParaRPr lang="en-AU" sz="1600"/>
          </a:p>
          <a:p>
            <a:pPr lvl="0"/>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067583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Representing numbers using place value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2DS Shapes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F788-1815-ED9B-26CD-000879E88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C408-5927-C5E6-6F33-8209D9B42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AAF5A-8466-6991-3FD2-A3EAD2D42E74}"/>
              </a:ext>
            </a:extLst>
          </p:cNvPr>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defRPr/>
            </a:pPr>
            <a:endParaRPr lang="en-AU" sz="1800">
              <a:solidFill>
                <a:srgbClr val="444444"/>
              </a:solidFill>
            </a:endParaRPr>
          </a:p>
          <a:p>
            <a:pPr>
              <a:defRPr/>
            </a:pPr>
            <a:r>
              <a:rPr lang="en-AU" sz="1800" b="1">
                <a:solidFill>
                  <a:srgbClr val="000000"/>
                </a:solidFill>
                <a:latin typeface="Arial"/>
                <a:cs typeface="Arial"/>
              </a:rPr>
              <a:t>Syllabus focus area: Additive relations B</a:t>
            </a:r>
            <a:endParaRPr lang="en-AU" sz="1800" b="1">
              <a:solidFill>
                <a:srgbClr val="000000"/>
              </a:solidFill>
            </a:endParaRPr>
          </a:p>
          <a:p>
            <a:pPr>
              <a:defRPr/>
            </a:pPr>
            <a:r>
              <a:rPr lang="en-AU">
                <a:latin typeface="Arial"/>
                <a:cs typeface="Arial"/>
              </a:rPr>
              <a:t>This resource corresponds to Resource 32- missing digit subtraction algorithm in Stage 2 Year B Unit 40.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32 – more missing digits subtraction algorithm</a:t>
            </a:r>
            <a:r>
              <a:rPr lang="en-AU" sz="1600" kern="1200">
                <a:solidFill>
                  <a:schemeClr val="tx1"/>
                </a:solidFill>
                <a:effectLst/>
                <a:latin typeface="Arial" panose="020B0604020202020204" pitchFamily="34" charset="0"/>
                <a:ea typeface="+mn-ea"/>
                <a:cs typeface="Arial" panose="020B0604020202020204" pitchFamily="34" charset="0"/>
              </a:rPr>
              <a:t>. Choose a one-digit number to write in the single box in the third row as the answer.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goal of the activity is to find the possible missing numbers to make the subtraction algorithm true.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consider the possible missing 3-digit numbers. They record their solutions on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prompt students to share their solutions and explain their reasoning.</a:t>
            </a:r>
          </a:p>
          <a:p>
            <a:pPr lvl="0">
              <a:tabLst>
                <a:tab pos="228600" algn="l"/>
                <a:tab pos="457200" algn="l"/>
              </a:tabLst>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144088C-9CEB-5B5F-0A1B-323316E046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68225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Additive relations A</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sz="1600" b="1">
              <a:solidFill>
                <a:srgbClr val="444444"/>
              </a:solidFill>
              <a:latin typeface="Arial"/>
              <a:cs typeface="Arial"/>
            </a:endParaRPr>
          </a:p>
          <a:p>
            <a:r>
              <a:rPr lang="en-US" sz="1600" b="1">
                <a:solidFill>
                  <a:srgbClr val="444444"/>
                </a:solidFill>
                <a:latin typeface="Arial"/>
                <a:cs typeface="Arial"/>
              </a:rPr>
              <a:t>Multiplicative relations </a:t>
            </a:r>
            <a:r>
              <a:rPr lang="en-US" b="1">
                <a:solidFill>
                  <a:srgbClr val="444444"/>
                </a:solidFill>
                <a:latin typeface="Arial"/>
                <a:cs typeface="Arial"/>
              </a:rPr>
              <a:t>B</a:t>
            </a:r>
            <a:br>
              <a:rPr lang="en-AU" sz="1600" b="1"/>
            </a:br>
            <a:br>
              <a:rPr lang="en-AU" sz="1600"/>
            </a:br>
            <a:r>
              <a:rPr lang="en-AU">
                <a:latin typeface="Arial"/>
                <a:cs typeface="Arial"/>
              </a:rPr>
              <a:t>This resource corresponds to Resource 33- mystery equation examples in Stage 2 Year B Unit 40. </a:t>
            </a:r>
            <a:endParaRPr lang="en-AU" b="1">
              <a:latin typeface="Arial"/>
              <a:cs typeface="Arial"/>
            </a:endParaRPr>
          </a:p>
          <a:p>
            <a:endParaRPr lang="en-AU"/>
          </a:p>
          <a:p>
            <a:r>
              <a:rPr lang="en-AU"/>
              <a:t>1.	Display Resource 33 – mystery equation examples. Explain that students will be playing ‘Mystery equation’ using multiplication (×) and division (÷), in pairs.</a:t>
            </a:r>
          </a:p>
          <a:p>
            <a:r>
              <a:rPr lang="en-AU"/>
              <a:t>2.	Review the instructions:</a:t>
            </a:r>
          </a:p>
          <a:p>
            <a:r>
              <a:rPr lang="en-AU"/>
              <a:t>a.	Prepare the playing board by drawing 6 boxes on an individual whiteboard.</a:t>
            </a:r>
          </a:p>
          <a:p>
            <a:r>
              <a:rPr lang="en-AU"/>
              <a:t>b.	Student A secretly writes a multiplication or division equation with 6 elements to fit in the boxes.</a:t>
            </a:r>
          </a:p>
          <a:p>
            <a:r>
              <a:rPr lang="en-AU"/>
              <a:t>c.	Student B guesses what the equation may be by writing each element in the boxes.</a:t>
            </a:r>
          </a:p>
          <a:p>
            <a:r>
              <a:rPr lang="en-AU"/>
              <a:t>d.	Student A places a tick above any numbers or symbols that are correct in the correct place, an ‘o’ above any correct numbers or symbols in the wrong place and an ‘x’ above any incorrect numbers or symbols.</a:t>
            </a:r>
          </a:p>
          <a:p>
            <a:r>
              <a:rPr lang="en-AU"/>
              <a:t>e.	Student B continues to guess until the correct equation is discovered.</a:t>
            </a:r>
          </a:p>
          <a:p>
            <a:r>
              <a:rPr lang="en-AU"/>
              <a:t>f.	Repeat this process, swapping roles.</a:t>
            </a:r>
          </a:p>
          <a:p>
            <a:r>
              <a:rPr lang="en-AU"/>
              <a:t>3.	In pairs, students play ‘Mystery equation’ using multiplication (×) and division (÷).</a:t>
            </a:r>
          </a:p>
          <a:p>
            <a:r>
              <a:rPr lang="en-AU"/>
              <a:t>4.	Regroup and discuss how students’ knowledge of multiplication facts was helpful when playing the game.</a:t>
            </a:r>
          </a:p>
          <a:p>
            <a:r>
              <a:rPr lang="en-AU"/>
              <a:t>5.	Ask students to share any other strategies they used in the game.</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93008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3DS Objects</a:t>
            </a:r>
            <a:endParaRPr lang="en-AU" sz="1600">
              <a:latin typeface="Public Sans"/>
            </a:endParaRP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25EB0-81AA-77FE-B157-2291E5921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EF29E-D10C-0B81-5014-0414688E1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F9AB9-45F0-F305-F789-08099CE930CF}"/>
              </a:ext>
            </a:extLst>
          </p:cNvPr>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a:t>
            </a:r>
          </a:p>
          <a:p>
            <a:pPr defTabSz="914400"/>
            <a:r>
              <a:rPr lang="en-AU" sz="1800" b="0">
                <a:solidFill>
                  <a:srgbClr val="444444"/>
                </a:solidFill>
                <a:latin typeface="Arial"/>
                <a:cs typeface="Arial"/>
              </a:rPr>
              <a:t>Multiplicative relations </a:t>
            </a:r>
            <a:r>
              <a:rPr lang="en-AU" sz="1800">
                <a:solidFill>
                  <a:srgbClr val="444444"/>
                </a:solidFill>
                <a:latin typeface="Arial"/>
                <a:cs typeface="Arial"/>
              </a:rPr>
              <a:t>B</a:t>
            </a:r>
            <a:endParaRPr lang="en-US" sz="1800" b="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800"/>
          </a:p>
          <a:p>
            <a:pPr>
              <a:defRPr/>
            </a:pPr>
            <a:r>
              <a:rPr lang="en-AU"/>
              <a:t>This resource corresponds to Resource 34- find the numbers in Stage 2 Year B Unit 40. </a:t>
            </a:r>
          </a:p>
          <a:p>
            <a:pPr lvl="0"/>
            <a:r>
              <a:rPr lang="en-AU" sz="1600" kern="1200">
                <a:solidFill>
                  <a:schemeClr val="tx1"/>
                </a:solidFill>
                <a:effectLst/>
                <a:latin typeface="Arial" panose="020B0604020202020204" pitchFamily="34" charset="0"/>
                <a:ea typeface="+mn-ea"/>
                <a:cs typeface="Arial" panose="020B0604020202020204" pitchFamily="34" charset="0"/>
              </a:rPr>
              <a:t>Display Resource 34 – find the numbers and pose the scenario: I placed 4 numbers into a box. This box multiplied these numbers by a secret number and 4 new numbers came out. The new numbers that came out were 12, 28, 36 and 44. What 4 numbers did I place in the box to begin with? What is the secret number in the box that is multiplying to make 4 new numbers?</a:t>
            </a:r>
          </a:p>
          <a:p>
            <a:pPr lvl="0"/>
            <a:r>
              <a:rPr lang="en-AU" sz="1600" kern="1200">
                <a:solidFill>
                  <a:schemeClr val="tx1"/>
                </a:solidFill>
                <a:effectLst/>
                <a:latin typeface="Arial" panose="020B0604020202020204" pitchFamily="34" charset="0"/>
                <a:ea typeface="+mn-ea"/>
                <a:cs typeface="Arial" panose="020B0604020202020204" pitchFamily="34" charset="0"/>
              </a:rPr>
              <a:t>Students think-pair-share how they would solve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What secret number multiplication happened inside the box to get the answers in the picture above? (2 or 4)</a:t>
            </a:r>
          </a:p>
          <a:p>
            <a:pPr lvl="0"/>
            <a:r>
              <a:rPr lang="en-AU" sz="1600" kern="1200">
                <a:solidFill>
                  <a:schemeClr val="tx1"/>
                </a:solidFill>
                <a:effectLst/>
                <a:latin typeface="Arial" panose="020B0604020202020204" pitchFamily="34" charset="0"/>
                <a:ea typeface="+mn-ea"/>
                <a:cs typeface="Arial" panose="020B0604020202020204" pitchFamily="34" charset="0"/>
              </a:rPr>
              <a:t>Is there more than one possibility for the secret number inside the box? How do you know? (Yes, the secret number could be 2 or 4.)</a:t>
            </a:r>
          </a:p>
          <a:p>
            <a:pPr lvl="0"/>
            <a:r>
              <a:rPr lang="en-AU" sz="1600" kern="1200">
                <a:solidFill>
                  <a:schemeClr val="tx1"/>
                </a:solidFill>
                <a:effectLst/>
                <a:latin typeface="Arial" panose="020B0604020202020204" pitchFamily="34" charset="0"/>
                <a:ea typeface="+mn-ea"/>
                <a:cs typeface="Arial" panose="020B0604020202020204" pitchFamily="34" charset="0"/>
              </a:rPr>
              <a:t>Can you identify 4 more numbers to go into the box and determine what would come out?</a:t>
            </a:r>
          </a:p>
          <a:p>
            <a:pPr lvl="0"/>
            <a:r>
              <a:rPr lang="en-AU" sz="1600" kern="1200">
                <a:solidFill>
                  <a:schemeClr val="tx1"/>
                </a:solidFill>
                <a:effectLst/>
                <a:latin typeface="Arial" panose="020B0604020202020204" pitchFamily="34" charset="0"/>
                <a:ea typeface="+mn-ea"/>
                <a:cs typeface="Arial" panose="020B0604020202020204" pitchFamily="34" charset="0"/>
              </a:rPr>
              <a:t>How can you check your answer using division?</a:t>
            </a:r>
          </a:p>
          <a:p>
            <a:pPr lvl="0"/>
            <a:r>
              <a:rPr lang="en-AU" sz="1600" kern="1200">
                <a:solidFill>
                  <a:schemeClr val="tx1"/>
                </a:solidFill>
                <a:effectLst/>
                <a:latin typeface="Arial" panose="020B0604020202020204" pitchFamily="34" charset="0"/>
                <a:ea typeface="+mn-ea"/>
                <a:cs typeface="Arial" panose="020B0604020202020204" pitchFamily="34" charset="0"/>
              </a:rPr>
              <a:t>Can you generate a fact family triangle for each of the numbers? Can you give an example of this?</a:t>
            </a:r>
          </a:p>
          <a:p>
            <a:pPr lvl="0"/>
            <a:r>
              <a:rPr lang="en-AU" sz="1600" kern="1200">
                <a:solidFill>
                  <a:schemeClr val="tx1"/>
                </a:solidFill>
                <a:effectLst/>
                <a:latin typeface="Arial" panose="020B0604020202020204" pitchFamily="34" charset="0"/>
                <a:ea typeface="+mn-ea"/>
                <a:cs typeface="Arial" panose="020B0604020202020204" pitchFamily="34" charset="0"/>
              </a:rPr>
              <a:t>In pairs, students choose their own set of 4 numbers that will be placed in the box, along with a secret number. They swap with another pair to solve the problem.</a:t>
            </a:r>
          </a:p>
        </p:txBody>
      </p:sp>
      <p:sp>
        <p:nvSpPr>
          <p:cNvPr id="4" name="Slide Number Placeholder 3">
            <a:extLst>
              <a:ext uri="{FF2B5EF4-FFF2-40B4-BE49-F238E27FC236}">
                <a16:creationId xmlns:a16="http://schemas.microsoft.com/office/drawing/2014/main" id="{B5C1C296-B50C-ED1C-BC9E-F3ECA1439065}"/>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7079706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B</a:t>
            </a:r>
          </a:p>
          <a:p>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 Angles</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a:defRPr/>
            </a:pPr>
            <a:r>
              <a:rPr lang="en-AU" sz="1800">
                <a:latin typeface="Arial"/>
                <a:cs typeface="Arial"/>
              </a:rPr>
              <a:t>Multiplicative relations B </a:t>
            </a:r>
          </a:p>
          <a:p>
            <a:pPr>
              <a:defRPr/>
            </a:pPr>
            <a:r>
              <a:rPr lang="en-AU">
                <a:latin typeface="Arial"/>
                <a:cs typeface="Arial"/>
              </a:rPr>
              <a:t>This resource corresponds to Resource 36 – product worked example in Stage 2 Year B Unit 40.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Resource 35 – arrays and products, scissors, glue and a piece of paper. They cut out the arrays and number cards.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36 – product worked example  and revise that arrays link to multiplication and division fact families.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use Resource 35 – arrays and products to match each array with its product. They glue it onto paper, recording the multiplication and division number sentences linked to each.</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After recording an array, its product and its multiplication and division number sentences, students take turns to describe each of the arrays. For example, 5 rows of 8 is 40, 8 columns of 5 is 40, 40 shared into 5 rows is 8 and 40 shared into 8 columns is 5.</a:t>
            </a:r>
          </a:p>
          <a:p>
            <a:pPr marL="0" marR="0" lvl="0" indent="0" algn="l" defTabSz="1219170">
              <a:lnSpc>
                <a:spcPct val="100000"/>
              </a:lnSpc>
              <a:spcBef>
                <a:spcPts val="0"/>
              </a:spcBef>
              <a:spcAft>
                <a:spcPts val="0"/>
              </a:spcAft>
              <a:buClrTx/>
              <a:buSzTx/>
              <a:buFontTx/>
              <a:buNone/>
              <a:tabLst/>
              <a:defRPr/>
            </a:pPr>
            <a:endParaRPr lang="en-AU" sz="1800"/>
          </a:p>
          <a:p>
            <a:pPr marL="0" marR="0" lvl="0" indent="0" algn="l" defTabSz="1219170">
              <a:lnSpc>
                <a:spcPct val="100000"/>
              </a:lnSpc>
              <a:spcBef>
                <a:spcPts val="0"/>
              </a:spcBef>
              <a:spcAft>
                <a:spcPts val="0"/>
              </a:spcAft>
              <a:buClrTx/>
              <a:buSzTx/>
              <a:buFontTx/>
              <a:buNone/>
              <a:tabLst/>
              <a:defRPr/>
            </a:pPr>
            <a:endParaRPr lang="en-AU" sz="1800"/>
          </a:p>
          <a:p>
            <a:pPr>
              <a:defRPr/>
            </a:pPr>
            <a:endParaRPr lang="en-AU" sz="1800">
              <a:solidFill>
                <a:srgbClr val="000000"/>
              </a:solidFill>
            </a:endParaRPr>
          </a:p>
          <a:p>
            <a:pPr>
              <a:defRPr/>
            </a:pPr>
            <a:r>
              <a:rPr lang="en-AU" sz="1800" b="0" i="0">
                <a:solidFill>
                  <a:srgbClr val="000000"/>
                </a:solidFill>
                <a:effectLst/>
                <a:highlight>
                  <a:srgbClr val="FFFFFF"/>
                </a:highlight>
                <a:latin typeface="Arial"/>
                <a:cs typeface="Arial"/>
              </a:rPr>
              <a:t>  </a:t>
            </a:r>
            <a:endParaRPr lang="en-AU">
              <a:latin typeface="Arial"/>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335619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endParaRPr lang="en-AU" sz="1600" b="0" i="0">
              <a:solidFill>
                <a:schemeClr val="tx1"/>
              </a:solidFill>
              <a:latin typeface="Arial"/>
              <a:cs typeface="Arial"/>
            </a:endParaRP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B</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Non-spatial measure A: Time</a:t>
            </a:r>
            <a:endParaRPr lang="en-AU" dirty="0"/>
          </a:p>
          <a:p>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8BCB-A604-C3BD-81AA-DEA8113A5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EE3EE-376A-32CF-2A9E-4340997EA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E0EA8-68BF-D025-AEFD-A8B19D8CA9EE}"/>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a:lnSpc>
                <a:spcPct val="150000"/>
              </a:lnSpc>
              <a:spcBef>
                <a:spcPts val="1200"/>
              </a:spcBef>
              <a:spcAft>
                <a:spcPts val="600"/>
              </a:spcAft>
              <a:tabLst>
                <a:tab pos="228600" algn="l"/>
              </a:tabLst>
              <a:defRPr/>
            </a:pPr>
            <a:r>
              <a:rPr lang="en-AU" sz="1800">
                <a:latin typeface="Arial"/>
                <a:cs typeface="Arial"/>
              </a:rPr>
              <a:t>Multiplicative relations B </a:t>
            </a:r>
          </a:p>
          <a:p>
            <a:pPr marL="0" marR="0" lvl="0" indent="0" algn="l" defTabSz="1219170" rtl="0" eaLnBrk="1" fontAlgn="auto" latinLnBrk="0" hangingPunct="1">
              <a:lnSpc>
                <a:spcPct val="150000"/>
              </a:lnSpc>
              <a:spcBef>
                <a:spcPts val="1200"/>
              </a:spcBef>
              <a:spcAft>
                <a:spcPts val="600"/>
              </a:spcAft>
              <a:buClrTx/>
              <a:buSzTx/>
              <a:buFontTx/>
              <a:buNone/>
              <a:tabLst>
                <a:tab pos="228600" algn="l"/>
              </a:tabLst>
              <a:defRPr/>
            </a:pPr>
            <a:r>
              <a:rPr lang="en-AU" sz="1800">
                <a:latin typeface="Arial"/>
                <a:cs typeface="Arial"/>
              </a:rPr>
              <a:t>This resource corresponds to Resource 33 – mystery equation examples in Stage 2 Year B Unit 40. </a:t>
            </a:r>
            <a:endParaRPr lang="en-AU" sz="1800"/>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800">
              <a:effectLst/>
              <a:latin typeface="Arial" panose="020B0604020202020204" pitchFamily="34" charset="0"/>
              <a:ea typeface="Calibri" panose="020F050202020403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800" kern="1200">
                <a:solidFill>
                  <a:schemeClr val="tx1"/>
                </a:solidFill>
                <a:latin typeface="Arial"/>
                <a:ea typeface="+mn-ea"/>
                <a:cs typeface="Arial"/>
                <a:hlinkClick r:id="rId3">
                  <a:extLst>
                    <a:ext uri="{A12FA001-AC4F-418D-AE19-62706E023703}">
                      <ahyp:hlinkClr xmlns:ahyp="http://schemas.microsoft.com/office/drawing/2018/hyperlinkcolor" val="tx"/>
                    </a:ext>
                  </a:extLst>
                </a:hlinkClick>
              </a:rPr>
              <a:t>Resource 33– mystery equation examples</a:t>
            </a:r>
            <a:r>
              <a:rPr lang="en-AU" sz="1800" kern="1200">
                <a:solidFill>
                  <a:schemeClr val="tx1"/>
                </a:solidFill>
                <a:latin typeface="Arial"/>
                <a:ea typeface="+mn-ea"/>
                <a:cs typeface="Arial"/>
              </a:rPr>
              <a:t>. </a:t>
            </a:r>
            <a:r>
              <a:rPr lang="en-AU" sz="1600" kern="1200">
                <a:solidFill>
                  <a:schemeClr val="tx1"/>
                </a:solidFill>
                <a:effectLst/>
                <a:latin typeface="Arial" panose="020B0604020202020204" pitchFamily="34" charset="0"/>
                <a:ea typeface="+mn-ea"/>
                <a:cs typeface="Arial" panose="020B0604020202020204" pitchFamily="34" charset="0"/>
              </a:rPr>
              <a:t>Explain that students will be playing ‘Mystery equation’ using multiplication (×) and division (÷), in pairs.</a:t>
            </a:r>
          </a:p>
          <a:p>
            <a:pPr lvl="0"/>
            <a:r>
              <a:rPr lang="en-AU" sz="1600" kern="1200">
                <a:solidFill>
                  <a:schemeClr val="tx1"/>
                </a:solidFill>
                <a:effectLst/>
                <a:latin typeface="Arial" panose="020B0604020202020204" pitchFamily="34" charset="0"/>
                <a:ea typeface="+mn-ea"/>
                <a:cs typeface="Arial" panose="020B0604020202020204" pitchFamily="34" charset="0"/>
              </a:rPr>
              <a:t>Revise the instructions:</a:t>
            </a:r>
          </a:p>
          <a:p>
            <a:pPr lvl="0"/>
            <a:r>
              <a:rPr lang="en-AU" sz="1600" kern="1200">
                <a:solidFill>
                  <a:schemeClr val="tx1"/>
                </a:solidFill>
                <a:effectLst/>
                <a:latin typeface="Arial" panose="020B0604020202020204" pitchFamily="34" charset="0"/>
                <a:ea typeface="+mn-ea"/>
                <a:cs typeface="Arial" panose="020B0604020202020204" pitchFamily="34" charset="0"/>
              </a:rPr>
              <a:t>Prepare the playing board by drawing 6 boxes on an individual whiteboard.</a:t>
            </a:r>
          </a:p>
          <a:p>
            <a:pPr lvl="0"/>
            <a:r>
              <a:rPr lang="en-AU" sz="1600" kern="1200">
                <a:solidFill>
                  <a:schemeClr val="tx1"/>
                </a:solidFill>
                <a:effectLst/>
                <a:latin typeface="Arial" panose="020B0604020202020204" pitchFamily="34" charset="0"/>
                <a:ea typeface="+mn-ea"/>
                <a:cs typeface="Arial" panose="020B0604020202020204" pitchFamily="34" charset="0"/>
              </a:rPr>
              <a:t>Student A secretly writes a multiplication or division equation with 6 elements to fit in the boxes.</a:t>
            </a:r>
          </a:p>
          <a:p>
            <a:pPr lvl="0"/>
            <a:r>
              <a:rPr lang="en-AU" sz="1600" kern="1200">
                <a:solidFill>
                  <a:schemeClr val="tx1"/>
                </a:solidFill>
                <a:effectLst/>
                <a:latin typeface="Arial" panose="020B0604020202020204" pitchFamily="34" charset="0"/>
                <a:ea typeface="+mn-ea"/>
                <a:cs typeface="Arial" panose="020B0604020202020204" pitchFamily="34" charset="0"/>
              </a:rPr>
              <a:t>Student B guesses what the equation may be by writing each element in the boxes.</a:t>
            </a:r>
          </a:p>
          <a:p>
            <a:pPr lvl="0"/>
            <a:r>
              <a:rPr lang="en-AU" sz="1600" kern="1200">
                <a:solidFill>
                  <a:schemeClr val="tx1"/>
                </a:solidFill>
                <a:effectLst/>
                <a:latin typeface="Arial" panose="020B0604020202020204" pitchFamily="34" charset="0"/>
                <a:ea typeface="+mn-ea"/>
                <a:cs typeface="Arial" panose="020B0604020202020204" pitchFamily="34" charset="0"/>
              </a:rPr>
              <a:t>Student A places a tick above any numbers or symbols that are correct in the correct place, an ‘o’ above any correct numbers or symbols in the wrong place and an ‘x’ above any incorrect numbers or symbols.</a:t>
            </a:r>
          </a:p>
          <a:p>
            <a:pPr lvl="0"/>
            <a:r>
              <a:rPr lang="en-AU" sz="1600" kern="1200">
                <a:solidFill>
                  <a:schemeClr val="tx1"/>
                </a:solidFill>
                <a:effectLst/>
                <a:latin typeface="Arial" panose="020B0604020202020204" pitchFamily="34" charset="0"/>
                <a:ea typeface="+mn-ea"/>
                <a:cs typeface="Arial" panose="020B0604020202020204" pitchFamily="34" charset="0"/>
              </a:rPr>
              <a:t>Student B continues to guess until the correct equation is discovered.</a:t>
            </a:r>
          </a:p>
          <a:p>
            <a:pPr lvl="0"/>
            <a:r>
              <a:rPr lang="en-AU" sz="1600" kern="1200">
                <a:solidFill>
                  <a:schemeClr val="tx1"/>
                </a:solidFill>
                <a:effectLst/>
                <a:latin typeface="Arial" panose="020B0604020202020204" pitchFamily="34" charset="0"/>
                <a:ea typeface="+mn-ea"/>
                <a:cs typeface="Arial" panose="020B0604020202020204" pitchFamily="34" charset="0"/>
              </a:rPr>
              <a:t>Repeat this process, swapping roles.</a:t>
            </a:r>
          </a:p>
          <a:p>
            <a:pPr lvl="0"/>
            <a:r>
              <a:rPr lang="en-AU" sz="1600" kern="1200">
                <a:solidFill>
                  <a:schemeClr val="tx1"/>
                </a:solidFill>
                <a:effectLst/>
                <a:latin typeface="Arial" panose="020B0604020202020204" pitchFamily="34" charset="0"/>
                <a:ea typeface="+mn-ea"/>
                <a:cs typeface="Arial" panose="020B0604020202020204" pitchFamily="34" charset="0"/>
              </a:rPr>
              <a:t>Ask students to share any strategies they used when they played the game previously. Record the strategies and encourage students to use a new strategy when playing the game.</a:t>
            </a:r>
          </a:p>
          <a:p>
            <a:pPr lvl="0"/>
            <a:r>
              <a:rPr lang="en-AU" sz="1600" kern="1200">
                <a:solidFill>
                  <a:schemeClr val="tx1"/>
                </a:solidFill>
                <a:effectLst/>
                <a:latin typeface="Arial" panose="020B0604020202020204" pitchFamily="34" charset="0"/>
                <a:ea typeface="+mn-ea"/>
                <a:cs typeface="Arial" panose="020B0604020202020204" pitchFamily="34" charset="0"/>
              </a:rPr>
              <a:t>In pairs, students play ‘Mystery equation’ using multiplication (×) and division (÷).</a:t>
            </a:r>
          </a:p>
          <a:p>
            <a:pPr lvl="0"/>
            <a:r>
              <a:rPr lang="en-AU" sz="1600" kern="1200">
                <a:solidFill>
                  <a:schemeClr val="tx1"/>
                </a:solidFill>
                <a:effectLst/>
                <a:latin typeface="Arial" panose="020B0604020202020204" pitchFamily="34" charset="0"/>
                <a:ea typeface="+mn-ea"/>
                <a:cs typeface="Arial" panose="020B0604020202020204" pitchFamily="34" charset="0"/>
              </a:rPr>
              <a:t>Regroup and discuss how students’ knowledge of multiplication facts and use of strategies was helpful when playing the game.</a:t>
            </a:r>
          </a:p>
          <a:p>
            <a:br>
              <a:rPr lang="en-AU" sz="1600" kern="1200">
                <a:solidFill>
                  <a:schemeClr val="tx1"/>
                </a:solidFill>
                <a:effectLst/>
                <a:latin typeface="Arial" panose="020B0604020202020204" pitchFamily="34" charset="0"/>
                <a:ea typeface="+mn-ea"/>
                <a:cs typeface="Arial" panose="020B0604020202020204" pitchFamily="34" charset="0"/>
              </a:rPr>
            </a:br>
            <a:r>
              <a:rPr lang="en-AU" sz="1600" kern="1200">
                <a:solidFill>
                  <a:schemeClr val="tx1"/>
                </a:solidFill>
                <a:effectLst/>
                <a:latin typeface="Arial" panose="020B0604020202020204" pitchFamily="34" charset="0"/>
                <a:ea typeface="+mn-ea"/>
                <a:cs typeface="Arial" panose="020B0604020202020204" pitchFamily="34" charset="0"/>
              </a:rPr>
              <a:t> </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57803316-B6A5-4ADB-4F98-19215837F2B1}"/>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28923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20.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educationstandards.nsw.edu.au/wps/portal/nesa/mini-footer/copyright" TargetMode="External"/><Relationship Id="rId3" Type="http://schemas.openxmlformats.org/officeDocument/2006/relationships/hyperlink" Target="https://v7.australiancurriculum.edu.au/media/3806/numeracy-learning-progression.pdf" TargetMode="External"/><Relationship Id="rId7" Type="http://schemas.openxmlformats.org/officeDocument/2006/relationships/hyperlink" Target="https://education.nsw.gov.au/teaching-and-learning/curriculum/mathematics/mathematics-curriculum-resources-k-12/thinking-mathematically-resources/mathematics-s2-s3-factors-fun" TargetMode="External"/><Relationship Id="rId2" Type="http://schemas.openxmlformats.org/officeDocument/2006/relationships/hyperlink" Target="https://curriculum.nsw.edu.au/learning-areas/mathematics/mathematics-k-10-2022" TargetMode="Externa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content/stage-3/fa51e61164?show=advice&amp;ta_scroll=no#:~:text=Teaching%20advice%20for%20Three%2Ddimensional%20spatial%20structure%20A" TargetMode="External"/><Relationship Id="rId5" Type="http://schemas.openxmlformats.org/officeDocument/2006/relationships/hyperlink" Target="https://mathsvenns.com/volume-of-a-cuboid-1/" TargetMode="External"/><Relationship Id="rId10" Type="http://schemas.openxmlformats.org/officeDocument/2006/relationships/hyperlink" Target="https://curriculum.nsw.edu.au/" TargetMode="External"/><Relationship Id="rId4" Type="http://schemas.openxmlformats.org/officeDocument/2006/relationships/hyperlink" Target="http://www.australiancurriculum.edu.au/" TargetMode="External"/><Relationship Id="rId9"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s://nrich.maths.org/5578" TargetMode="External"/><Relationship Id="rId7" Type="http://schemas.openxmlformats.org/officeDocument/2006/relationships/hyperlink" Target="https://educationstandards.nsw.edu.au/wps/portal/nesa/home" TargetMode="External"/><Relationship Id="rId2" Type="http://schemas.openxmlformats.org/officeDocument/2006/relationships/hyperlink" Target="https://nrich.maths.org/7280" TargetMode="External"/><Relationship Id="rId1" Type="http://schemas.openxmlformats.org/officeDocument/2006/relationships/slideLayout" Target="../slideLayouts/slideLayout13.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nrich.maths.org/5632" TargetMode="External"/><Relationship Id="rId4" Type="http://schemas.openxmlformats.org/officeDocument/2006/relationships/hyperlink" Target="https://nrich.maths.org/14241"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B Unit 40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
        <p:nvSpPr>
          <p:cNvPr id="5" name="Text Placeholder 4">
            <a:extLst>
              <a:ext uri="{FF2B5EF4-FFF2-40B4-BE49-F238E27FC236}">
                <a16:creationId xmlns:a16="http://schemas.microsoft.com/office/drawing/2014/main" id="{AC79ED10-9CC0-267F-FFC2-BD3F79EBF77C}"/>
              </a:ext>
            </a:extLst>
          </p:cNvPr>
          <p:cNvSpPr>
            <a:spLocks noGrp="1"/>
          </p:cNvSpPr>
          <p:nvPr>
            <p:ph type="body" sz="quarter" idx="18"/>
          </p:nvPr>
        </p:nvSpPr>
        <p:spPr/>
        <p:txBody>
          <a:bodyPr/>
          <a:lstStyle/>
          <a:p>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40</a:t>
            </a:r>
          </a:p>
        </p:txBody>
      </p:sp>
      <p:pic>
        <p:nvPicPr>
          <p:cNvPr id="1026" name="Picture 2">
            <a:extLst>
              <a:ext uri="{FF2B5EF4-FFF2-40B4-BE49-F238E27FC236}">
                <a16:creationId xmlns:a16="http://schemas.microsoft.com/office/drawing/2014/main" id="{4C45AFD8-1A65-DE91-574E-A3BA8B7840B0}"/>
              </a:ext>
              <a:ext uri="{C183D7F6-B498-43B3-948B-1728B52AA6E4}">
                <adec:decorative xmlns:adec="http://schemas.microsoft.com/office/drawing/2017/decorative" val="1"/>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a:rPr>
                <a:t>1</a:t>
              </a:r>
              <a:endParaRPr lang="en-AU" sz="3000" b="1">
                <a:solidFill>
                  <a:schemeClr val="bg1"/>
                </a:solidFill>
                <a:latin typeface="+mj-lt"/>
                <a:cs typeface="Arial" panose="020B0604020202020204" pitchFamily="34" charset="0"/>
              </a:endParaRP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1275961"/>
          </a:xfrm>
        </p:spPr>
        <p:txBody>
          <a:bodyPr vert="horz" lIns="0" tIns="0" rIns="0" bIns="0" rtlCol="0" anchor="t">
            <a:noAutofit/>
          </a:bodyPr>
          <a:lstStyle/>
          <a:p>
            <a:pPr algn="ctr"/>
            <a:r>
              <a:rPr lang="en-US" sz="3000">
                <a:latin typeface="Arial"/>
                <a:cs typeface="Arial"/>
              </a:rPr>
              <a:t>Which answer shows the </a:t>
            </a:r>
            <a:r>
              <a:rPr lang="en-US" sz="3000" b="1">
                <a:latin typeface="Arial"/>
                <a:cs typeface="Arial"/>
              </a:rPr>
              <a:t>correct number sentence</a:t>
            </a:r>
            <a:r>
              <a:rPr lang="en-US" sz="3000">
                <a:latin typeface="Arial"/>
                <a:cs typeface="Arial"/>
              </a:rPr>
              <a:t>? </a:t>
            </a:r>
            <a:r>
              <a:rPr lang="en-US" sz="3000" b="1">
                <a:latin typeface="Arial"/>
                <a:cs typeface="Arial"/>
              </a:rPr>
              <a:t>Communicate</a:t>
            </a:r>
            <a:r>
              <a:rPr lang="en-US" sz="3000">
                <a:latin typeface="Arial"/>
                <a:cs typeface="Arial"/>
              </a:rPr>
              <a:t> your thinking.</a:t>
            </a:r>
          </a:p>
        </p:txBody>
      </p:sp>
      <p:sp>
        <p:nvSpPr>
          <p:cNvPr id="9" name="TextBox 8">
            <a:extLst>
              <a:ext uri="{FF2B5EF4-FFF2-40B4-BE49-F238E27FC236}">
                <a16:creationId xmlns:a16="http://schemas.microsoft.com/office/drawing/2014/main" id="{17539DAC-4E92-AFE5-86E8-50C88518EFAD}"/>
              </a:ext>
            </a:extLst>
          </p:cNvPr>
          <p:cNvSpPr txBox="1"/>
          <p:nvPr/>
        </p:nvSpPr>
        <p:spPr>
          <a:xfrm>
            <a:off x="699132" y="23457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89607" y="3363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89609" y="42979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7" name="TextBox 6">
            <a:extLst>
              <a:ext uri="{FF2B5EF4-FFF2-40B4-BE49-F238E27FC236}">
                <a16:creationId xmlns:a16="http://schemas.microsoft.com/office/drawing/2014/main" id="{F8C2FB47-1788-44A1-C93C-4587BD705F8A}"/>
              </a:ext>
            </a:extLst>
          </p:cNvPr>
          <p:cNvSpPr txBox="1"/>
          <p:nvPr/>
        </p:nvSpPr>
        <p:spPr>
          <a:xfrm>
            <a:off x="1554745" y="2407271"/>
            <a:ext cx="925316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Arial"/>
              </a:rPr>
              <a:t>249 + 368 = 500 + 100 + 17</a:t>
            </a:r>
            <a:endParaRPr lang="en-US"/>
          </a:p>
        </p:txBody>
      </p:sp>
      <p:sp>
        <p:nvSpPr>
          <p:cNvPr id="8" name="TextBox 7">
            <a:extLst>
              <a:ext uri="{FF2B5EF4-FFF2-40B4-BE49-F238E27FC236}">
                <a16:creationId xmlns:a16="http://schemas.microsoft.com/office/drawing/2014/main" id="{39EC3C2E-DA4A-ED19-4D08-730025943D3F}"/>
              </a:ext>
            </a:extLst>
          </p:cNvPr>
          <p:cNvSpPr txBox="1"/>
          <p:nvPr/>
        </p:nvSpPr>
        <p:spPr>
          <a:xfrm>
            <a:off x="1573303" y="3423465"/>
            <a:ext cx="925316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Arial"/>
              </a:rPr>
              <a:t>249 + 368 = 200 + 300 + 40 + 60 + 9 + 8</a:t>
            </a:r>
            <a:endParaRPr lang="en-US" sz="4000"/>
          </a:p>
        </p:txBody>
      </p:sp>
      <p:sp>
        <p:nvSpPr>
          <p:cNvPr id="13" name="TextBox 12">
            <a:extLst>
              <a:ext uri="{FF2B5EF4-FFF2-40B4-BE49-F238E27FC236}">
                <a16:creationId xmlns:a16="http://schemas.microsoft.com/office/drawing/2014/main" id="{2B22CBAF-7010-C8FD-A8B4-F3E3F70C64FF}"/>
              </a:ext>
            </a:extLst>
          </p:cNvPr>
          <p:cNvSpPr txBox="1"/>
          <p:nvPr/>
        </p:nvSpPr>
        <p:spPr>
          <a:xfrm>
            <a:off x="1559449" y="4365574"/>
            <a:ext cx="925316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Arial"/>
              </a:rPr>
              <a:t>249 +368 = 7 + 10 + 100 + 500</a:t>
            </a:r>
            <a:endParaRPr lang="en-US"/>
          </a:p>
        </p:txBody>
      </p:sp>
      <p:sp>
        <p:nvSpPr>
          <p:cNvPr id="14" name="TextBox 13">
            <a:extLst>
              <a:ext uri="{FF2B5EF4-FFF2-40B4-BE49-F238E27FC236}">
                <a16:creationId xmlns:a16="http://schemas.microsoft.com/office/drawing/2014/main" id="{45C7E930-5A6A-BFFD-F991-EA48B1CDA24E}"/>
              </a:ext>
            </a:extLst>
          </p:cNvPr>
          <p:cNvSpPr txBox="1"/>
          <p:nvPr/>
        </p:nvSpPr>
        <p:spPr>
          <a:xfrm>
            <a:off x="1573303" y="5376955"/>
            <a:ext cx="9253163"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Arial"/>
              </a:rPr>
              <a:t>368 + 249 = 300 + 200 + 68 + 49</a:t>
            </a:r>
            <a:endParaRPr lang="en-US"/>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402673" y="2144660"/>
            <a:ext cx="11200365" cy="4092718"/>
          </a:xfrm>
        </p:spPr>
        <p:txBody>
          <a:bodyPr/>
          <a:lstStyle/>
          <a:p>
            <a:pPr algn="ctr">
              <a:spcAft>
                <a:spcPts val="0"/>
              </a:spcAft>
            </a:pPr>
            <a:r>
              <a:rPr lang="en-US" sz="4400" b="1">
                <a:latin typeface="Arial"/>
                <a:cs typeface="Arial"/>
              </a:rPr>
              <a:t>Partition</a:t>
            </a:r>
            <a:r>
              <a:rPr lang="en-US" sz="4400">
                <a:latin typeface="Arial"/>
                <a:cs typeface="Arial"/>
              </a:rPr>
              <a:t> and record the following </a:t>
            </a:r>
            <a:r>
              <a:rPr lang="en-US" sz="4400" b="1">
                <a:latin typeface="Arial"/>
                <a:cs typeface="Arial"/>
              </a:rPr>
              <a:t>number using non-standard form.</a:t>
            </a:r>
            <a:endParaRPr lang="en-US"/>
          </a:p>
          <a:p>
            <a:pPr algn="ctr">
              <a:lnSpc>
                <a:spcPct val="100000"/>
              </a:lnSpc>
              <a:spcAft>
                <a:spcPts val="0"/>
              </a:spcAft>
            </a:pPr>
            <a:endParaRPr lang="en-US" sz="4400">
              <a:latin typeface="Arial"/>
              <a:cs typeface="Arial"/>
            </a:endParaRPr>
          </a:p>
          <a:p>
            <a:pPr algn="ctr">
              <a:lnSpc>
                <a:spcPct val="100000"/>
              </a:lnSpc>
              <a:spcAft>
                <a:spcPts val="0"/>
              </a:spcAft>
            </a:pPr>
            <a:r>
              <a:rPr lang="en-US" sz="4400">
                <a:latin typeface="Arial"/>
                <a:cs typeface="Arial"/>
              </a:rPr>
              <a:t>57 403</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EE5E5BBD-455B-75B3-42AE-0D41BB86ACC6}"/>
              </a:ext>
            </a:extLst>
          </p:cNvPr>
          <p:cNvSpPr txBox="1"/>
          <p:nvPr/>
        </p:nvSpPr>
        <p:spPr>
          <a:xfrm>
            <a:off x="977062" y="2256281"/>
            <a:ext cx="10237876" cy="355481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panose="020B0604020202020204"/>
              </a:rPr>
              <a:t>Record 3 situations where the </a:t>
            </a:r>
            <a:r>
              <a:rPr lang="en-US" sz="4400" b="1">
                <a:cs typeface="Arial" panose="020B0604020202020204"/>
              </a:rPr>
              <a:t>duration</a:t>
            </a:r>
            <a:r>
              <a:rPr lang="en-US" sz="4400">
                <a:cs typeface="Arial" panose="020B0604020202020204"/>
              </a:rPr>
              <a:t> would be measured in seconds.</a:t>
            </a:r>
            <a:endParaRPr lang="en-US" b="1">
              <a:cs typeface="Arial" panose="020B0604020202020204"/>
            </a:endParaRPr>
          </a:p>
          <a:p>
            <a:pPr algn="ctr">
              <a:lnSpc>
                <a:spcPct val="150000"/>
              </a:lnSpc>
            </a:pPr>
            <a:endParaRPr lang="en-US" sz="1800">
              <a:cs typeface="Arial" panose="020B0604020202020204"/>
            </a:endParaRPr>
          </a:p>
          <a:p>
            <a:pPr algn="ctr"/>
            <a:endParaRPr lang="en-US" sz="1800">
              <a:cs typeface="Arial" panose="020B0604020202020204"/>
            </a:endParaRPr>
          </a:p>
          <a:p>
            <a:pPr algn="ctr"/>
            <a:endParaRPr lang="en-US" sz="1800">
              <a:cs typeface="Arial" panose="020B0604020202020204"/>
            </a:endParaRPr>
          </a:p>
          <a:p>
            <a:pPr algn="ctr"/>
            <a:endParaRPr lang="en-US" sz="1800">
              <a:cs typeface="Arial" panose="020B0604020202020204"/>
            </a:endParaRPr>
          </a:p>
          <a:p>
            <a:pPr algn="ctr"/>
            <a:r>
              <a:rPr lang="en-US" sz="1800">
                <a:cs typeface="Arial" panose="020B0604020202020204"/>
              </a:rPr>
              <a:t>                                  </a:t>
            </a:r>
            <a:endParaRPr lang="en-US" sz="4400">
              <a:cs typeface="Arial" panose="020B0604020202020204"/>
            </a:endParaRPr>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909527" y="1337680"/>
            <a:ext cx="10152450" cy="485020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Write a </a:t>
            </a:r>
            <a:r>
              <a:rPr lang="en-US" sz="4400" b="1">
                <a:latin typeface="Arial"/>
                <a:cs typeface="Arial"/>
              </a:rPr>
              <a:t>question</a:t>
            </a:r>
            <a:r>
              <a:rPr lang="en-US" sz="4400">
                <a:latin typeface="Arial"/>
                <a:cs typeface="Arial"/>
              </a:rPr>
              <a:t> you could ask to </a:t>
            </a:r>
            <a:r>
              <a:rPr lang="en-US" sz="4400" b="1">
                <a:latin typeface="Arial"/>
                <a:cs typeface="Arial"/>
              </a:rPr>
              <a:t>collect data</a:t>
            </a:r>
            <a:r>
              <a:rPr lang="en-US" sz="4400">
                <a:latin typeface="Arial"/>
                <a:cs typeface="Arial"/>
              </a:rPr>
              <a:t> from your class.</a:t>
            </a:r>
            <a:endParaRPr lang="en-US"/>
          </a:p>
          <a:p>
            <a:pPr algn="ctr"/>
            <a:r>
              <a:rPr lang="en-US" sz="4400">
                <a:solidFill>
                  <a:schemeClr val="bg2">
                    <a:lumMod val="10000"/>
                  </a:schemeClr>
                </a:solidFill>
                <a:latin typeface="Arial"/>
                <a:cs typeface="Arial"/>
              </a:rPr>
              <a:t>For example: What is your </a:t>
            </a:r>
            <a:r>
              <a:rPr lang="en-US" sz="4400" err="1">
                <a:solidFill>
                  <a:schemeClr val="bg2">
                    <a:lumMod val="10000"/>
                  </a:schemeClr>
                </a:solidFill>
                <a:latin typeface="Arial"/>
                <a:cs typeface="Arial"/>
              </a:rPr>
              <a:t>favourite</a:t>
            </a:r>
            <a:r>
              <a:rPr lang="en-US" sz="4400">
                <a:solidFill>
                  <a:schemeClr val="bg2">
                    <a:lumMod val="10000"/>
                  </a:schemeClr>
                </a:solidFill>
                <a:latin typeface="Arial"/>
                <a:cs typeface="Arial"/>
              </a:rPr>
              <a:t> animal?</a:t>
            </a:r>
            <a:br>
              <a:rPr lang="en-US" sz="2800">
                <a:solidFill>
                  <a:schemeClr val="bg2">
                    <a:lumMod val="10000"/>
                  </a:schemeClr>
                </a:solidFill>
                <a:latin typeface="Arial"/>
                <a:cs typeface="Arial"/>
              </a:rPr>
            </a:b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4" name="TextBox 3">
            <a:extLst>
              <a:ext uri="{FF2B5EF4-FFF2-40B4-BE49-F238E27FC236}">
                <a16:creationId xmlns:a16="http://schemas.microsoft.com/office/drawing/2014/main" id="{ACE368C0-314C-A403-7607-31BE895B3C86}"/>
              </a:ext>
            </a:extLst>
          </p:cNvPr>
          <p:cNvSpPr txBox="1"/>
          <p:nvPr/>
        </p:nvSpPr>
        <p:spPr>
          <a:xfrm>
            <a:off x="669471" y="1089422"/>
            <a:ext cx="10933567" cy="5242757"/>
          </a:xfrm>
          <a:prstGeom prst="rect">
            <a:avLst/>
          </a:prstGeom>
          <a:noFill/>
        </p:spPr>
        <p:txBody>
          <a:bodyPr wrap="square" lIns="0" tIns="0" rIns="0" bIns="0" rtlCol="0" anchor="t">
            <a:noAutofit/>
          </a:bodyPr>
          <a:lstStyle/>
          <a:p>
            <a:pPr algn="ctr"/>
            <a:r>
              <a:rPr lang="en-AU" sz="4400" b="1" dirty="0"/>
              <a:t>Read</a:t>
            </a:r>
            <a:r>
              <a:rPr lang="en-AU" sz="4400" dirty="0"/>
              <a:t> the following times.</a:t>
            </a:r>
            <a:endParaRPr lang="en-AU" sz="4400" dirty="0">
              <a:cs typeface="Arial"/>
            </a:endParaRPr>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7" name="Picture 6" descr="Two clocks one that has 9:15 and one that has 9:30 ">
            <a:extLst>
              <a:ext uri="{FF2B5EF4-FFF2-40B4-BE49-F238E27FC236}">
                <a16:creationId xmlns:a16="http://schemas.microsoft.com/office/drawing/2014/main" id="{6ED88B6F-8B71-B06A-1DB6-F1D504599229}"/>
              </a:ext>
            </a:extLst>
          </p:cNvPr>
          <p:cNvPicPr>
            <a:picLocks noChangeAspect="1"/>
          </p:cNvPicPr>
          <p:nvPr/>
        </p:nvPicPr>
        <p:blipFill>
          <a:blip r:embed="rId4"/>
          <a:stretch>
            <a:fillRect/>
          </a:stretch>
        </p:blipFill>
        <p:spPr>
          <a:xfrm>
            <a:off x="968341" y="2455334"/>
            <a:ext cx="10060946" cy="3313244"/>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408985"/>
            <a:ext cx="11484000" cy="545601"/>
          </a:xfrm>
        </p:spPr>
        <p:txBody>
          <a:bodyPr/>
          <a:lstStyle/>
          <a:p>
            <a:r>
              <a:rPr lang="en-AU">
                <a:latin typeface="Arial"/>
                <a:cs typeface="Arial"/>
              </a:rPr>
              <a:t>Activity 1 – efficient strategies for addition.</a:t>
            </a:r>
            <a:endParaRPr lang="en-AU"/>
          </a:p>
        </p:txBody>
      </p:sp>
      <p:pic>
        <p:nvPicPr>
          <p:cNvPr id="4" name="Picture 3" descr="image of a head with cogs turning inside">
            <a:extLst>
              <a:ext uri="{FF2B5EF4-FFF2-40B4-BE49-F238E27FC236}">
                <a16:creationId xmlns:a16="http://schemas.microsoft.com/office/drawing/2014/main" id="{EA7C190E-81B5-C9DA-F92E-7CB00CD847FE}"/>
              </a:ext>
            </a:extLst>
          </p:cNvPr>
          <p:cNvPicPr>
            <a:picLocks noChangeAspect="1"/>
          </p:cNvPicPr>
          <p:nvPr/>
        </p:nvPicPr>
        <p:blipFill>
          <a:blip r:embed="rId3"/>
          <a:stretch>
            <a:fillRect/>
          </a:stretch>
        </p:blipFill>
        <p:spPr>
          <a:xfrm>
            <a:off x="11107003" y="240894"/>
            <a:ext cx="720000" cy="856364"/>
          </a:xfrm>
          <a:prstGeom prst="rect">
            <a:avLst/>
          </a:prstGeom>
          <a:ln>
            <a:noFill/>
          </a:ln>
        </p:spPr>
      </p:pic>
      <p:sp>
        <p:nvSpPr>
          <p:cNvPr id="15" name="TextBox 14">
            <a:extLst>
              <a:ext uri="{FF2B5EF4-FFF2-40B4-BE49-F238E27FC236}">
                <a16:creationId xmlns:a16="http://schemas.microsoft.com/office/drawing/2014/main" id="{81E1A28F-2018-5B5A-11D0-160B06E29A75}"/>
              </a:ext>
            </a:extLst>
          </p:cNvPr>
          <p:cNvSpPr txBox="1"/>
          <p:nvPr/>
        </p:nvSpPr>
        <p:spPr>
          <a:xfrm>
            <a:off x="348364" y="2529663"/>
            <a:ext cx="11478639" cy="203132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a:t>Choose two strategies to </a:t>
            </a:r>
            <a:r>
              <a:rPr lang="en-AU" sz="4400" b="1"/>
              <a:t>solve</a:t>
            </a:r>
            <a:r>
              <a:rPr lang="en-AU" sz="4400"/>
              <a:t> 249 + 368?</a:t>
            </a:r>
          </a:p>
          <a:p>
            <a:pPr algn="ctr"/>
            <a:endParaRPr lang="en-AU" sz="4400"/>
          </a:p>
          <a:p>
            <a:pPr algn="ctr"/>
            <a:r>
              <a:rPr lang="en-AU" sz="4400" b="1"/>
              <a:t>Communicate</a:t>
            </a:r>
            <a:r>
              <a:rPr lang="en-AU" sz="4400"/>
              <a:t> your thinking.</a:t>
            </a:r>
          </a:p>
        </p:txBody>
      </p:sp>
    </p:spTree>
    <p:extLst>
      <p:ext uri="{BB962C8B-B14F-4D97-AF65-F5344CB8AC3E}">
        <p14:creationId xmlns:p14="http://schemas.microsoft.com/office/powerpoint/2010/main" val="2702605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751266" y="905601"/>
            <a:ext cx="10851772" cy="2703738"/>
          </a:xfrm>
          <a:ln>
            <a:noFill/>
          </a:ln>
        </p:spPr>
        <p:txBody>
          <a:bodyPr vert="horz" lIns="0" tIns="0" rIns="0" bIns="0" rtlCol="0" anchor="t">
            <a:noAutofit/>
          </a:bodyPr>
          <a:lstStyle/>
          <a:p>
            <a:pPr algn="ctr"/>
            <a:r>
              <a:rPr lang="en-US" sz="4400"/>
              <a:t>An </a:t>
            </a:r>
            <a:r>
              <a:rPr lang="en-US" sz="4400" b="1"/>
              <a:t>algorithm</a:t>
            </a:r>
            <a:r>
              <a:rPr lang="en-US" sz="4400"/>
              <a:t> is the most </a:t>
            </a:r>
            <a:r>
              <a:rPr lang="en-US" sz="4400" b="1"/>
              <a:t>efficient strategy </a:t>
            </a:r>
            <a:r>
              <a:rPr lang="en-US" sz="4400"/>
              <a:t>to solve:</a:t>
            </a:r>
          </a:p>
          <a:p>
            <a:pPr algn="ctr"/>
            <a:r>
              <a:rPr lang="en-US" sz="4400"/>
              <a:t>873 – 73</a:t>
            </a:r>
          </a:p>
          <a:p>
            <a:pPr algn="ctr"/>
            <a:endParaRPr lang="en-US" sz="44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3380209366"/>
              </p:ext>
            </p:extLst>
          </p:nvPr>
        </p:nvGraphicFramePr>
        <p:xfrm>
          <a:off x="2719206" y="4039747"/>
          <a:ext cx="7077075" cy="741680"/>
        </p:xfrm>
        <a:graphic>
          <a:graphicData uri="http://schemas.openxmlformats.org/drawingml/2006/table">
            <a:tbl>
              <a:tblPr firstRow="1" bandRow="1">
                <a:tableStyleId>{5A111915-BE36-4E01-A7E5-04B1672EAD32}</a:tableStyleId>
              </a:tblPr>
              <a:tblGrid>
                <a:gridCol w="2359025">
                  <a:extLst>
                    <a:ext uri="{9D8B030D-6E8A-4147-A177-3AD203B41FA5}">
                      <a16:colId xmlns:a16="http://schemas.microsoft.com/office/drawing/2014/main" val="481183477"/>
                    </a:ext>
                  </a:extLst>
                </a:gridCol>
                <a:gridCol w="2359025">
                  <a:extLst>
                    <a:ext uri="{9D8B030D-6E8A-4147-A177-3AD203B41FA5}">
                      <a16:colId xmlns:a16="http://schemas.microsoft.com/office/drawing/2014/main" val="3995776751"/>
                    </a:ext>
                  </a:extLst>
                </a:gridCol>
                <a:gridCol w="2359025">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lvl="0" indent="0" algn="ctr" defTabSz="914377">
                        <a:lnSpc>
                          <a:spcPct val="100000"/>
                        </a:lnSpc>
                        <a:spcBef>
                          <a:spcPts val="0"/>
                        </a:spcBef>
                        <a:spcAft>
                          <a:spcPts val="0"/>
                        </a:spcAft>
                        <a:buNone/>
                        <a:tabLst/>
                        <a:defRPr/>
                      </a:pPr>
                      <a:endParaRPr lang="en-US" sz="4000" b="1" kern="1200">
                        <a:solidFill>
                          <a:srgbClr val="146CFD"/>
                        </a:solidFill>
                        <a:latin typeface="+mn-lt"/>
                        <a:ea typeface="+mn-ea"/>
                        <a:cs typeface="Arial"/>
                      </a:endParaRPr>
                    </a:p>
                  </a:txBody>
                  <a:tcPr anchor="ctr">
                    <a:lnL w="0">
                      <a:noFill/>
                    </a:lnL>
                    <a:lnR w="0">
                      <a:noFill/>
                    </a:lnR>
                    <a:lnT w="0">
                      <a:noFill/>
                    </a:lnT>
                    <a:lnB w="0">
                      <a:noFill/>
                    </a:lnB>
                    <a:lnTlToBr w="0">
                      <a:noFill/>
                    </a:lnTlToBr>
                    <a:lnBlToTr w="0">
                      <a:noFill/>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Box 5">
            <a:extLst>
              <a:ext uri="{FF2B5EF4-FFF2-40B4-BE49-F238E27FC236}">
                <a16:creationId xmlns:a16="http://schemas.microsoft.com/office/drawing/2014/main" id="{610A9F35-55A2-2FA2-6455-8DC53A33B31B}"/>
              </a:ext>
            </a:extLst>
          </p:cNvPr>
          <p:cNvSpPr txBox="1"/>
          <p:nvPr/>
        </p:nvSpPr>
        <p:spPr>
          <a:xfrm>
            <a:off x="1533525" y="5400675"/>
            <a:ext cx="9353550" cy="457200"/>
          </a:xfrm>
          <a:prstGeom prst="rect">
            <a:avLst/>
          </a:prstGeom>
          <a:noFill/>
        </p:spPr>
        <p:txBody>
          <a:bodyPr wrap="square" lIns="0" tIns="0" rIns="0" bIns="0" rtlCol="0">
            <a:noAutofit/>
          </a:bodyPr>
          <a:lstStyle/>
          <a:p>
            <a:pPr algn="ctr"/>
            <a:r>
              <a:rPr lang="en-AU" sz="4400" b="1"/>
              <a:t>Communicate</a:t>
            </a:r>
            <a:r>
              <a:rPr lang="en-AU" sz="4400"/>
              <a:t> your thinking</a:t>
            </a:r>
            <a:r>
              <a:rPr lang="en-AU" sz="1800"/>
              <a:t>.</a:t>
            </a:r>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186462" y="2367220"/>
            <a:ext cx="9819075" cy="2342023"/>
          </a:xfrm>
        </p:spPr>
        <p:txBody>
          <a:bodyPr/>
          <a:lstStyle/>
          <a:p>
            <a:pPr marL="0" marR="0" lvl="0" indent="0" algn="ctr" defTabSz="914377"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4400" b="1" i="0" u="none" strike="noStrike" kern="1200" cap="none" spc="0" normalizeH="0" baseline="0" noProof="0" dirty="0">
                <a:ln>
                  <a:noFill/>
                </a:ln>
                <a:solidFill>
                  <a:srgbClr val="22272B"/>
                </a:solidFill>
                <a:effectLst/>
                <a:uLnTx/>
                <a:uFillTx/>
                <a:latin typeface="Arial"/>
                <a:ea typeface="+mn-ea"/>
                <a:cs typeface="Arial"/>
              </a:rPr>
              <a:t>Partition</a:t>
            </a:r>
            <a:r>
              <a:rPr kumimoji="0" lang="en-US" sz="4400" b="0" i="0" u="none" strike="noStrike" kern="1200" cap="none" spc="0" normalizeH="0" baseline="0" noProof="0" dirty="0">
                <a:ln>
                  <a:noFill/>
                </a:ln>
                <a:solidFill>
                  <a:srgbClr val="22272B"/>
                </a:solidFill>
                <a:effectLst/>
                <a:uLnTx/>
                <a:uFillTx/>
                <a:latin typeface="Arial"/>
                <a:ea typeface="+mn-ea"/>
                <a:cs typeface="Arial"/>
              </a:rPr>
              <a:t> and record the following </a:t>
            </a:r>
            <a:r>
              <a:rPr kumimoji="0" lang="en-US" sz="4400" i="0" u="none" strike="noStrike" kern="1200" cap="none" spc="0" normalizeH="0" baseline="0" noProof="0" dirty="0">
                <a:ln>
                  <a:noFill/>
                </a:ln>
                <a:solidFill>
                  <a:srgbClr val="22272B"/>
                </a:solidFill>
                <a:effectLst/>
                <a:uLnTx/>
                <a:uFillTx/>
                <a:latin typeface="Arial"/>
                <a:ea typeface="+mn-ea"/>
                <a:cs typeface="Arial"/>
              </a:rPr>
              <a:t>number using </a:t>
            </a:r>
            <a:r>
              <a:rPr kumimoji="0" lang="en-US" sz="4400" b="1" i="0" u="none" strike="noStrike" kern="1200" cap="none" spc="0" normalizeH="0" baseline="0" noProof="0" dirty="0">
                <a:ln>
                  <a:noFill/>
                </a:ln>
                <a:solidFill>
                  <a:srgbClr val="22272B"/>
                </a:solidFill>
                <a:effectLst/>
                <a:uLnTx/>
                <a:uFillTx/>
                <a:latin typeface="Arial"/>
                <a:ea typeface="+mn-ea"/>
                <a:cs typeface="Arial"/>
              </a:rPr>
              <a:t>non-standard form.</a:t>
            </a:r>
            <a:endParaRPr kumimoji="0" lang="en-US"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algn="ctr"/>
            <a:r>
              <a:rPr lang="en-US" sz="4400" dirty="0">
                <a:solidFill>
                  <a:srgbClr val="22272B"/>
                </a:solidFill>
                <a:latin typeface="Arial"/>
                <a:cs typeface="Arial"/>
              </a:rPr>
              <a:t>75 301</a:t>
            </a:r>
          </a:p>
          <a:p>
            <a:pPr algn="ctr"/>
            <a:endParaRPr lang="en-US" sz="3200" dirty="0">
              <a:solidFill>
                <a:srgbClr val="22272B"/>
              </a:solidFill>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240963" y="1717009"/>
            <a:ext cx="11243037" cy="4283320"/>
          </a:xfrm>
        </p:spPr>
        <p:txBody>
          <a:bodyPr/>
          <a:lstStyle/>
          <a:p>
            <a:pPr algn="ctr"/>
            <a:r>
              <a:rPr lang="en-US" sz="4400">
                <a:latin typeface="Arial"/>
                <a:cs typeface="Arial"/>
              </a:rPr>
              <a:t>Lachlan must be home by </a:t>
            </a:r>
            <a:r>
              <a:rPr lang="en-US" sz="4400" b="1">
                <a:latin typeface="Arial"/>
                <a:cs typeface="Arial"/>
              </a:rPr>
              <a:t>8:00pm</a:t>
            </a:r>
            <a:r>
              <a:rPr lang="en-US" sz="4400">
                <a:latin typeface="Arial"/>
                <a:cs typeface="Arial"/>
              </a:rPr>
              <a:t>. </a:t>
            </a:r>
            <a:r>
              <a:rPr lang="en-US" sz="4400" b="1">
                <a:latin typeface="Arial"/>
                <a:cs typeface="Arial"/>
              </a:rPr>
              <a:t>How much time</a:t>
            </a:r>
            <a:r>
              <a:rPr lang="en-US" sz="4400">
                <a:latin typeface="Arial"/>
                <a:cs typeface="Arial"/>
              </a:rPr>
              <a:t> does he have to get home?</a:t>
            </a:r>
            <a:endParaRPr lang="en-US" sz="4400" b="1">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Rectangle: Rounded Corners 4" descr="Digital clock with 6:36 pm ">
            <a:extLst>
              <a:ext uri="{FF2B5EF4-FFF2-40B4-BE49-F238E27FC236}">
                <a16:creationId xmlns:a16="http://schemas.microsoft.com/office/drawing/2014/main" id="{9DEE573C-FCE7-BBEA-FEA3-D58CCB6D415E}"/>
              </a:ext>
              <a:ext uri="{C183D7F6-B498-43B3-948B-1728B52AA6E4}">
                <adec:decorative xmlns:adec="http://schemas.microsoft.com/office/drawing/2017/decorative" val="0"/>
              </a:ext>
            </a:extLst>
          </p:cNvPr>
          <p:cNvSpPr/>
          <p:nvPr/>
        </p:nvSpPr>
        <p:spPr>
          <a:xfrm>
            <a:off x="3978348" y="4155558"/>
            <a:ext cx="3455581" cy="1692348"/>
          </a:xfrm>
          <a:prstGeom prst="roundRect">
            <a:avLst/>
          </a:prstGeom>
          <a:solidFill>
            <a:srgbClr val="00B0F0"/>
          </a:solidFill>
          <a:ln>
            <a:solidFill>
              <a:srgbClr val="25E8E8"/>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600">
                <a:solidFill>
                  <a:schemeClr val="tx1">
                    <a:lumMod val="90000"/>
                    <a:lumOff val="10000"/>
                  </a:schemeClr>
                </a:solidFill>
                <a:cs typeface="Arial"/>
              </a:rPr>
              <a:t>6:36 pm</a:t>
            </a:r>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CE377EA8-6351-8D24-7CBE-9DDECA7033E4}"/>
              </a:ext>
            </a:extLst>
          </p:cNvPr>
          <p:cNvSpPr txBox="1"/>
          <p:nvPr/>
        </p:nvSpPr>
        <p:spPr>
          <a:xfrm>
            <a:off x="541980" y="2971384"/>
            <a:ext cx="11108039" cy="666024"/>
          </a:xfrm>
          <a:prstGeom prst="rect">
            <a:avLst/>
          </a:prstGeom>
          <a:noFill/>
        </p:spPr>
        <p:txBody>
          <a:bodyPr wrap="square" lIns="0" tIns="0" rIns="0" bIns="0" rtlCol="0">
            <a:noAutofit/>
          </a:bodyPr>
          <a:lstStyle/>
          <a:p>
            <a:pPr algn="ctr"/>
            <a:r>
              <a:rPr lang="en-AU" sz="4400"/>
              <a:t>List some ways that </a:t>
            </a:r>
            <a:r>
              <a:rPr lang="en-AU" sz="4400" b="1"/>
              <a:t>data</a:t>
            </a:r>
            <a:r>
              <a:rPr lang="en-AU" sz="4400"/>
              <a:t> can be </a:t>
            </a:r>
            <a:r>
              <a:rPr lang="en-AU" sz="4400" b="1"/>
              <a:t>collected?</a:t>
            </a:r>
          </a:p>
        </p:txBody>
      </p:sp>
      <p:sp>
        <p:nvSpPr>
          <p:cNvPr id="9" name="TextBox 8">
            <a:extLst>
              <a:ext uri="{FF2B5EF4-FFF2-40B4-BE49-F238E27FC236}">
                <a16:creationId xmlns:a16="http://schemas.microsoft.com/office/drawing/2014/main" id="{91D3A08A-2E1E-DB4D-95C1-11E431E318D8}"/>
              </a:ext>
            </a:extLst>
          </p:cNvPr>
          <p:cNvSpPr txBox="1"/>
          <p:nvPr/>
        </p:nvSpPr>
        <p:spPr>
          <a:xfrm>
            <a:off x="-6886575" y="2238374"/>
            <a:ext cx="11088688" cy="878250"/>
          </a:xfrm>
          <a:prstGeom prst="rect">
            <a:avLst/>
          </a:prstGeom>
          <a:noFill/>
        </p:spPr>
        <p:txBody>
          <a:bodyPr wrap="square" lIns="0" tIns="0" rIns="0" bIns="0" rtlCol="0">
            <a:noAutofit/>
          </a:bodyPr>
          <a:lstStyle/>
          <a:p>
            <a:pPr algn="ctr"/>
            <a:r>
              <a:rPr lang="en-AU" sz="3600"/>
              <a:t>.</a:t>
            </a:r>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a:t>
            </a:r>
            <a:r>
              <a:rPr lang="en-US">
                <a:solidFill>
                  <a:schemeClr val="bg1"/>
                </a:solidFill>
                <a:latin typeface="Arial"/>
                <a:cs typeface="Arial"/>
              </a:rPr>
              <a:t> (8)</a:t>
            </a:r>
          </a:p>
        </p:txBody>
      </p:sp>
      <p:sp>
        <p:nvSpPr>
          <p:cNvPr id="4" name="TextBox 3">
            <a:extLst>
              <a:ext uri="{FF2B5EF4-FFF2-40B4-BE49-F238E27FC236}">
                <a16:creationId xmlns:a16="http://schemas.microsoft.com/office/drawing/2014/main" id="{37743E66-387B-D4F6-72FE-0CCB9557C3B3}"/>
              </a:ext>
            </a:extLst>
          </p:cNvPr>
          <p:cNvSpPr txBox="1"/>
          <p:nvPr/>
        </p:nvSpPr>
        <p:spPr>
          <a:xfrm>
            <a:off x="432185" y="787935"/>
            <a:ext cx="10900909" cy="545601"/>
          </a:xfrm>
          <a:prstGeom prst="rect">
            <a:avLst/>
          </a:prstGeom>
          <a:noFill/>
        </p:spPr>
        <p:txBody>
          <a:bodyPr wrap="square" lIns="0" tIns="0" rIns="0" bIns="0" rtlCol="0" anchor="t">
            <a:noAutofit/>
          </a:bodyPr>
          <a:lstStyle/>
          <a:p>
            <a:pPr algn="ctr">
              <a:lnSpc>
                <a:spcPct val="150000"/>
              </a:lnSpc>
            </a:pPr>
            <a:r>
              <a:rPr lang="en-AU" sz="4400"/>
              <a:t>What strategies could be used to </a:t>
            </a:r>
            <a:r>
              <a:rPr lang="en-AU" sz="4400" b="1"/>
              <a:t>estimate</a:t>
            </a:r>
            <a:r>
              <a:rPr lang="en-AU" sz="4400"/>
              <a:t> the </a:t>
            </a:r>
            <a:r>
              <a:rPr lang="en-AU" sz="4400" b="1"/>
              <a:t>area</a:t>
            </a:r>
            <a:r>
              <a:rPr lang="en-AU" sz="4400"/>
              <a:t> of this rectangle in </a:t>
            </a:r>
            <a:r>
              <a:rPr lang="en-AU" sz="4400" b="1"/>
              <a:t>square centimetres?</a:t>
            </a:r>
          </a:p>
          <a:p>
            <a:pPr algn="ctr">
              <a:lnSpc>
                <a:spcPct val="150000"/>
              </a:lnSpc>
            </a:pPr>
            <a:endParaRPr lang="en-AU" sz="4400">
              <a:cs typeface="Arial" panose="020B0604020202020204"/>
            </a:endParaRPr>
          </a:p>
          <a:p>
            <a:pPr algn="ctr">
              <a:lnSpc>
                <a:spcPct val="150000"/>
              </a:lnSpc>
            </a:pPr>
            <a:endParaRPr lang="en-AU" sz="1600">
              <a:cs typeface="Arial" panose="020B0604020202020204"/>
            </a:endParaRPr>
          </a:p>
          <a:p>
            <a:pPr algn="ctr">
              <a:lnSpc>
                <a:spcPct val="150000"/>
              </a:lnSpc>
            </a:pPr>
            <a:r>
              <a:rPr lang="en-AU" sz="4400">
                <a:cs typeface="Arial" panose="020B0604020202020204"/>
              </a:rPr>
              <a:t>Record your thinking.</a:t>
            </a:r>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Rectangle 5" descr="rectangle ">
            <a:extLst>
              <a:ext uri="{FF2B5EF4-FFF2-40B4-BE49-F238E27FC236}">
                <a16:creationId xmlns:a16="http://schemas.microsoft.com/office/drawing/2014/main" id="{3F8F075D-796F-F558-7443-A33CDA419750}"/>
              </a:ext>
            </a:extLst>
          </p:cNvPr>
          <p:cNvSpPr/>
          <p:nvPr/>
        </p:nvSpPr>
        <p:spPr>
          <a:xfrm>
            <a:off x="4425633" y="3972560"/>
            <a:ext cx="3413760" cy="1137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3-digit algorithms</a:t>
            </a:r>
          </a:p>
        </p:txBody>
      </p:sp>
      <p:pic>
        <p:nvPicPr>
          <p:cNvPr id="5" name="Picture 4" descr="image of a head with cogs turning inside">
            <a:extLst>
              <a:ext uri="{FF2B5EF4-FFF2-40B4-BE49-F238E27FC236}">
                <a16:creationId xmlns:a16="http://schemas.microsoft.com/office/drawing/2014/main" id="{BEBFB52C-2919-BE32-9EB9-3F3347AD63B4}"/>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6" name="Picture 5" descr="Three playing cards along the top row: A 3 of spades, 6 of spades and 2 of hearts making 362.&#10;&#10;The second row has 2 cards, 5 of hearts and 7 of spades, making 57.&#10;&#10;On the left, in between the 2 rows, is an addition sign. Under the bottom row is a straight line.">
            <a:extLst>
              <a:ext uri="{FF2B5EF4-FFF2-40B4-BE49-F238E27FC236}">
                <a16:creationId xmlns:a16="http://schemas.microsoft.com/office/drawing/2014/main" id="{25FD5DB5-9B1B-DB29-34FD-7238A024D7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0697" y="1266870"/>
            <a:ext cx="6110605" cy="5231130"/>
          </a:xfrm>
          <a:prstGeom prst="rect">
            <a:avLst/>
          </a:prstGeom>
        </p:spPr>
      </p:pic>
    </p:spTree>
    <p:extLst>
      <p:ext uri="{BB962C8B-B14F-4D97-AF65-F5344CB8AC3E}">
        <p14:creationId xmlns:p14="http://schemas.microsoft.com/office/powerpoint/2010/main" val="97299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a:xfrm>
            <a:off x="245700" y="321900"/>
            <a:ext cx="11243038" cy="545601"/>
          </a:xfrm>
        </p:spPr>
        <p:txBody>
          <a:bodyPr/>
          <a:lstStyle/>
          <a:p>
            <a:r>
              <a:rPr lang="en-US">
                <a:latin typeface="Arial"/>
                <a:cs typeface="Arial"/>
              </a:rPr>
              <a:t>Multiple choice </a:t>
            </a:r>
            <a:r>
              <a:rPr lang="en-US">
                <a:solidFill>
                  <a:schemeClr val="bg1"/>
                </a:solidFill>
                <a:latin typeface="Arial"/>
                <a:cs typeface="Arial"/>
              </a:rPr>
              <a:t>(2)</a:t>
            </a:r>
            <a:r>
              <a:rPr lang="en-US">
                <a:latin typeface="Arial"/>
                <a:cs typeface="Arial"/>
              </a:rPr>
              <a:t> </a:t>
            </a:r>
            <a:endParaRPr lang="en-US">
              <a:solidFill>
                <a:schemeClr val="bg1"/>
              </a:solidFill>
              <a:latin typeface="Arial"/>
              <a:cs typeface="Arial"/>
            </a:endParaRPr>
          </a:p>
        </p:txBody>
      </p:sp>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9" name="TextBox 8" descr="A set of algorithms using subtraction">
            <a:extLst>
              <a:ext uri="{FF2B5EF4-FFF2-40B4-BE49-F238E27FC236}">
                <a16:creationId xmlns:a16="http://schemas.microsoft.com/office/drawing/2014/main" id="{B99ABE1E-273C-2748-062D-68CE81FF91F6}"/>
              </a:ext>
            </a:extLst>
          </p:cNvPr>
          <p:cNvSpPr txBox="1"/>
          <p:nvPr/>
        </p:nvSpPr>
        <p:spPr>
          <a:xfrm>
            <a:off x="749899" y="3774468"/>
            <a:ext cx="2747034"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Arial"/>
              </a:rPr>
              <a:t> </a:t>
            </a:r>
          </a:p>
        </p:txBody>
      </p:sp>
      <p:sp>
        <p:nvSpPr>
          <p:cNvPr id="13" name="TextBox 12">
            <a:extLst>
              <a:ext uri="{FF2B5EF4-FFF2-40B4-BE49-F238E27FC236}">
                <a16:creationId xmlns:a16="http://schemas.microsoft.com/office/drawing/2014/main" id="{CD0378A6-3806-F53E-AAEF-A55FFC9D7092}"/>
              </a:ext>
            </a:extLst>
          </p:cNvPr>
          <p:cNvSpPr txBox="1"/>
          <p:nvPr/>
        </p:nvSpPr>
        <p:spPr>
          <a:xfrm>
            <a:off x="462488" y="5005574"/>
            <a:ext cx="11267023"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1">
                <a:cs typeface="Arial"/>
              </a:rPr>
              <a:t>      A                  B                 C                D</a:t>
            </a:r>
          </a:p>
        </p:txBody>
      </p:sp>
      <p:sp>
        <p:nvSpPr>
          <p:cNvPr id="14" name="TextBox 13">
            <a:extLst>
              <a:ext uri="{FF2B5EF4-FFF2-40B4-BE49-F238E27FC236}">
                <a16:creationId xmlns:a16="http://schemas.microsoft.com/office/drawing/2014/main" id="{2BAC9184-DA15-589B-CFB8-97C73A07C9FD}"/>
              </a:ext>
            </a:extLst>
          </p:cNvPr>
          <p:cNvSpPr txBox="1"/>
          <p:nvPr/>
        </p:nvSpPr>
        <p:spPr>
          <a:xfrm>
            <a:off x="41382" y="2406424"/>
            <a:ext cx="11651673"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The missing </a:t>
            </a:r>
            <a:r>
              <a:rPr lang="en-US" sz="4400" b="1">
                <a:cs typeface="Arial"/>
              </a:rPr>
              <a:t>number</a:t>
            </a:r>
            <a:r>
              <a:rPr lang="en-US" sz="4400">
                <a:cs typeface="Arial"/>
              </a:rPr>
              <a:t> is:</a:t>
            </a:r>
            <a:endParaRPr lang="en-US" sz="3200">
              <a:cs typeface="Arial"/>
            </a:endParaRPr>
          </a:p>
        </p:txBody>
      </p:sp>
      <p:sp>
        <p:nvSpPr>
          <p:cNvPr id="8" name="TextBox 7">
            <a:extLst>
              <a:ext uri="{FF2B5EF4-FFF2-40B4-BE49-F238E27FC236}">
                <a16:creationId xmlns:a16="http://schemas.microsoft.com/office/drawing/2014/main" id="{C7FE33E5-FCDB-2715-3711-304C2FA701DD}"/>
              </a:ext>
            </a:extLst>
          </p:cNvPr>
          <p:cNvSpPr txBox="1"/>
          <p:nvPr/>
        </p:nvSpPr>
        <p:spPr>
          <a:xfrm>
            <a:off x="409575" y="4208619"/>
            <a:ext cx="2324100" cy="827671"/>
          </a:xfrm>
          <a:prstGeom prst="rect">
            <a:avLst/>
          </a:prstGeom>
          <a:noFill/>
        </p:spPr>
        <p:txBody>
          <a:bodyPr wrap="square" lIns="0" tIns="0" rIns="0" bIns="0" rtlCol="0">
            <a:noAutofit/>
          </a:bodyPr>
          <a:lstStyle/>
          <a:p>
            <a:pPr algn="ctr"/>
            <a:r>
              <a:rPr lang="en-AU" sz="4400"/>
              <a:t>525</a:t>
            </a:r>
          </a:p>
        </p:txBody>
      </p:sp>
      <p:sp>
        <p:nvSpPr>
          <p:cNvPr id="16" name="TextBox 15">
            <a:extLst>
              <a:ext uri="{FF2B5EF4-FFF2-40B4-BE49-F238E27FC236}">
                <a16:creationId xmlns:a16="http://schemas.microsoft.com/office/drawing/2014/main" id="{DC69E3DF-6453-D96C-E754-0957B47ADB43}"/>
              </a:ext>
            </a:extLst>
          </p:cNvPr>
          <p:cNvSpPr txBox="1"/>
          <p:nvPr/>
        </p:nvSpPr>
        <p:spPr>
          <a:xfrm>
            <a:off x="2733675" y="1340228"/>
            <a:ext cx="6115050" cy="769441"/>
          </a:xfrm>
          <a:prstGeom prst="rect">
            <a:avLst/>
          </a:prstGeom>
          <a:noFill/>
        </p:spPr>
        <p:txBody>
          <a:bodyPr wrap="square">
            <a:spAutoFit/>
          </a:bodyPr>
          <a:lstStyle/>
          <a:p>
            <a:pPr algn="ctr"/>
            <a:r>
              <a:rPr lang="en-AU" sz="4400"/>
              <a:t>745 - ___ = 227</a:t>
            </a:r>
          </a:p>
        </p:txBody>
      </p:sp>
      <p:sp>
        <p:nvSpPr>
          <p:cNvPr id="18" name="TextBox 17">
            <a:extLst>
              <a:ext uri="{FF2B5EF4-FFF2-40B4-BE49-F238E27FC236}">
                <a16:creationId xmlns:a16="http://schemas.microsoft.com/office/drawing/2014/main" id="{B60C247C-CAA4-2EBE-07FB-D08F55A5049D}"/>
              </a:ext>
            </a:extLst>
          </p:cNvPr>
          <p:cNvSpPr txBox="1"/>
          <p:nvPr/>
        </p:nvSpPr>
        <p:spPr>
          <a:xfrm>
            <a:off x="3543118" y="4172256"/>
            <a:ext cx="2324100" cy="827671"/>
          </a:xfrm>
          <a:prstGeom prst="rect">
            <a:avLst/>
          </a:prstGeom>
          <a:noFill/>
        </p:spPr>
        <p:txBody>
          <a:bodyPr wrap="square" lIns="0" tIns="0" rIns="0" bIns="0" rtlCol="0">
            <a:noAutofit/>
          </a:bodyPr>
          <a:lstStyle/>
          <a:p>
            <a:pPr algn="ctr"/>
            <a:r>
              <a:rPr lang="en-AU" sz="4400"/>
              <a:t>518</a:t>
            </a:r>
          </a:p>
        </p:txBody>
      </p:sp>
      <p:sp>
        <p:nvSpPr>
          <p:cNvPr id="19" name="TextBox 18">
            <a:extLst>
              <a:ext uri="{FF2B5EF4-FFF2-40B4-BE49-F238E27FC236}">
                <a16:creationId xmlns:a16="http://schemas.microsoft.com/office/drawing/2014/main" id="{7465D79F-43E7-B0EA-AEDA-1C2B3377529B}"/>
              </a:ext>
            </a:extLst>
          </p:cNvPr>
          <p:cNvSpPr txBox="1"/>
          <p:nvPr/>
        </p:nvSpPr>
        <p:spPr>
          <a:xfrm>
            <a:off x="6524625" y="4193261"/>
            <a:ext cx="2324100" cy="827671"/>
          </a:xfrm>
          <a:prstGeom prst="rect">
            <a:avLst/>
          </a:prstGeom>
          <a:noFill/>
        </p:spPr>
        <p:txBody>
          <a:bodyPr wrap="square" lIns="0" tIns="0" rIns="0" bIns="0" rtlCol="0">
            <a:noAutofit/>
          </a:bodyPr>
          <a:lstStyle/>
          <a:p>
            <a:pPr algn="ctr"/>
            <a:r>
              <a:rPr lang="en-AU" sz="4400"/>
              <a:t>508</a:t>
            </a:r>
          </a:p>
        </p:txBody>
      </p:sp>
      <p:sp>
        <p:nvSpPr>
          <p:cNvPr id="20" name="TextBox 19">
            <a:extLst>
              <a:ext uri="{FF2B5EF4-FFF2-40B4-BE49-F238E27FC236}">
                <a16:creationId xmlns:a16="http://schemas.microsoft.com/office/drawing/2014/main" id="{C5CA1A91-A385-D30C-13C0-02A42D9F83BC}"/>
              </a:ext>
            </a:extLst>
          </p:cNvPr>
          <p:cNvSpPr txBox="1"/>
          <p:nvPr/>
        </p:nvSpPr>
        <p:spPr>
          <a:xfrm>
            <a:off x="9368955" y="4172256"/>
            <a:ext cx="2324100" cy="827671"/>
          </a:xfrm>
          <a:prstGeom prst="rect">
            <a:avLst/>
          </a:prstGeom>
          <a:noFill/>
        </p:spPr>
        <p:txBody>
          <a:bodyPr wrap="square" lIns="0" tIns="0" rIns="0" bIns="0" rtlCol="0">
            <a:noAutofit/>
          </a:bodyPr>
          <a:lstStyle/>
          <a:p>
            <a:pPr algn="ctr"/>
            <a:r>
              <a:rPr lang="en-AU" sz="4400"/>
              <a:t>962</a:t>
            </a:r>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descr="Number line from 0-2">
            <a:extLst>
              <a:ext uri="{FF2B5EF4-FFF2-40B4-BE49-F238E27FC236}">
                <a16:creationId xmlns:a16="http://schemas.microsoft.com/office/drawing/2014/main" id="{42F3FF7B-2B3C-5CDA-57AA-237CB2A5B736}"/>
              </a:ext>
            </a:extLst>
          </p:cNvPr>
          <p:cNvSpPr txBox="1"/>
          <p:nvPr/>
        </p:nvSpPr>
        <p:spPr>
          <a:xfrm>
            <a:off x="348000" y="1172409"/>
            <a:ext cx="11410461" cy="541686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b="1">
                <a:cs typeface="Arial"/>
              </a:rPr>
              <a:t>Copy</a:t>
            </a:r>
            <a:r>
              <a:rPr lang="en-US" sz="4400">
                <a:cs typeface="Arial"/>
              </a:rPr>
              <a:t> the number line.</a:t>
            </a:r>
          </a:p>
          <a:p>
            <a:pPr algn="ctr"/>
            <a:endParaRPr lang="en-US" sz="4400">
              <a:cs typeface="Arial"/>
            </a:endParaRPr>
          </a:p>
          <a:p>
            <a:pPr algn="ctr"/>
            <a:endParaRPr lang="en-US" sz="4400" b="1">
              <a:cs typeface="Arial"/>
            </a:endParaRPr>
          </a:p>
          <a:p>
            <a:pPr algn="ctr"/>
            <a:endParaRPr lang="en-US" sz="4400" b="1">
              <a:cs typeface="Arial"/>
            </a:endParaRPr>
          </a:p>
          <a:p>
            <a:pPr algn="ctr"/>
            <a:r>
              <a:rPr lang="en-US" sz="4400" b="1">
                <a:cs typeface="Arial"/>
              </a:rPr>
              <a:t>Order</a:t>
            </a:r>
            <a:r>
              <a:rPr lang="en-US" sz="4400">
                <a:cs typeface="Arial"/>
              </a:rPr>
              <a:t> and </a:t>
            </a:r>
            <a:r>
              <a:rPr lang="en-US" sz="4400" b="1">
                <a:cs typeface="Arial"/>
              </a:rPr>
              <a:t>record </a:t>
            </a:r>
            <a:r>
              <a:rPr lang="en-US" sz="4400">
                <a:cs typeface="Arial"/>
              </a:rPr>
              <a:t>as </a:t>
            </a:r>
            <a:r>
              <a:rPr lang="en-US" sz="4400" b="1">
                <a:cs typeface="Arial"/>
              </a:rPr>
              <a:t>decimals </a:t>
            </a:r>
            <a:r>
              <a:rPr lang="en-US" sz="4400">
                <a:cs typeface="Arial"/>
              </a:rPr>
              <a:t>on the line: 14 tenths </a:t>
            </a:r>
            <a:br>
              <a:rPr lang="en-US" sz="4400">
                <a:cs typeface="Arial"/>
              </a:rPr>
            </a:br>
            <a:r>
              <a:rPr lang="en-US" sz="4400">
                <a:cs typeface="Arial"/>
              </a:rPr>
              <a:t>12 tenths </a:t>
            </a:r>
          </a:p>
          <a:p>
            <a:pPr algn="ctr"/>
            <a:r>
              <a:rPr lang="en-US" sz="4400">
                <a:cs typeface="Arial"/>
              </a:rPr>
              <a:t>18 tenths</a:t>
            </a:r>
          </a:p>
        </p:txBody>
      </p:sp>
      <p:cxnSp>
        <p:nvCxnSpPr>
          <p:cNvPr id="5" name="Straight Arrow Connector 4" descr="Number line from 0-2">
            <a:extLst>
              <a:ext uri="{FF2B5EF4-FFF2-40B4-BE49-F238E27FC236}">
                <a16:creationId xmlns:a16="http://schemas.microsoft.com/office/drawing/2014/main" id="{88DD04B4-821F-8AF5-7498-10CEAD4627E0}"/>
              </a:ext>
            </a:extLst>
          </p:cNvPr>
          <p:cNvCxnSpPr/>
          <p:nvPr/>
        </p:nvCxnSpPr>
        <p:spPr>
          <a:xfrm flipV="1">
            <a:off x="1385482" y="2737145"/>
            <a:ext cx="9245009" cy="32810"/>
          </a:xfrm>
          <a:prstGeom prst="straightConnector1">
            <a:avLst/>
          </a:prstGeom>
          <a:ln w="57150">
            <a:solidFill>
              <a:srgbClr val="146CFD"/>
            </a:solidFill>
          </a:ln>
        </p:spPr>
        <p:style>
          <a:lnRef idx="1">
            <a:schemeClr val="accent1"/>
          </a:lnRef>
          <a:fillRef idx="0">
            <a:schemeClr val="accent1"/>
          </a:fillRef>
          <a:effectRef idx="0">
            <a:schemeClr val="accent1"/>
          </a:effectRef>
          <a:fontRef idx="minor">
            <a:schemeClr val="tx1"/>
          </a:fontRef>
        </p:style>
      </p:cxnSp>
      <p:sp>
        <p:nvSpPr>
          <p:cNvPr id="6" name="TextBox 5" descr="Number line from 0-2">
            <a:extLst>
              <a:ext uri="{FF2B5EF4-FFF2-40B4-BE49-F238E27FC236}">
                <a16:creationId xmlns:a16="http://schemas.microsoft.com/office/drawing/2014/main" id="{2B1286CE-614D-4E1C-D718-3E60FA34A356}"/>
              </a:ext>
            </a:extLst>
          </p:cNvPr>
          <p:cNvSpPr txBox="1"/>
          <p:nvPr/>
        </p:nvSpPr>
        <p:spPr>
          <a:xfrm>
            <a:off x="777946" y="2751892"/>
            <a:ext cx="10252530"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800">
                <a:cs typeface="Arial"/>
              </a:rPr>
              <a:t>        </a:t>
            </a:r>
            <a:r>
              <a:rPr lang="en-US" sz="4400">
                <a:cs typeface="Arial"/>
              </a:rPr>
              <a:t>0                           1                            2</a:t>
            </a:r>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(10)</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603839" y="1340736"/>
            <a:ext cx="11243037" cy="3056398"/>
          </a:xfrm>
        </p:spPr>
        <p:txBody>
          <a:bodyPr/>
          <a:lstStyle/>
          <a:p>
            <a:pPr algn="ctr"/>
            <a:r>
              <a:rPr lang="en-US" sz="4400">
                <a:latin typeface="Arial"/>
                <a:cs typeface="Arial"/>
              </a:rPr>
              <a:t>At which </a:t>
            </a:r>
            <a:r>
              <a:rPr lang="en-US" sz="4400" b="1">
                <a:latin typeface="Arial"/>
                <a:cs typeface="Arial"/>
              </a:rPr>
              <a:t>time</a:t>
            </a:r>
            <a:r>
              <a:rPr lang="en-US" sz="4400">
                <a:latin typeface="Arial"/>
                <a:cs typeface="Arial"/>
              </a:rPr>
              <a:t> would you eat </a:t>
            </a:r>
            <a:r>
              <a:rPr lang="en-US" sz="4400" b="1">
                <a:latin typeface="Arial"/>
                <a:cs typeface="Arial"/>
              </a:rPr>
              <a:t>breakfast</a:t>
            </a:r>
            <a:r>
              <a:rPr lang="en-US" sz="4400">
                <a:latin typeface="Arial"/>
                <a:cs typeface="Arial"/>
              </a:rPr>
              <a:t>?</a:t>
            </a:r>
            <a:endParaRPr lang="en-US"/>
          </a:p>
          <a:p>
            <a:pPr algn="ctr">
              <a:lnSpc>
                <a:spcPct val="200000"/>
              </a:lnSpc>
            </a:pPr>
            <a:r>
              <a:rPr lang="en-US" sz="4400">
                <a:latin typeface="Arial"/>
                <a:cs typeface="Arial"/>
              </a:rPr>
              <a:t>7:00 am </a:t>
            </a:r>
            <a:r>
              <a:rPr lang="en-US" sz="4400" b="1">
                <a:latin typeface="Arial"/>
                <a:cs typeface="Arial"/>
              </a:rPr>
              <a:t>or </a:t>
            </a:r>
            <a:r>
              <a:rPr lang="en-US" sz="4400">
                <a:latin typeface="Arial"/>
                <a:cs typeface="Arial"/>
              </a:rPr>
              <a:t>7:00 pm</a:t>
            </a:r>
          </a:p>
          <a:p>
            <a:pPr algn="ctr">
              <a:lnSpc>
                <a:spcPct val="200000"/>
              </a:lnSpc>
            </a:pPr>
            <a:r>
              <a:rPr lang="en-US" sz="4400">
                <a:latin typeface="Arial"/>
                <a:cs typeface="Arial"/>
              </a:rPr>
              <a:t>What </a:t>
            </a:r>
            <a:r>
              <a:rPr lang="en-US" sz="4400" b="1">
                <a:latin typeface="Arial"/>
                <a:cs typeface="Arial"/>
              </a:rPr>
              <a:t>time</a:t>
            </a:r>
            <a:r>
              <a:rPr lang="en-US" sz="4400">
                <a:latin typeface="Arial"/>
                <a:cs typeface="Arial"/>
              </a:rPr>
              <a:t> would you eat </a:t>
            </a:r>
            <a:r>
              <a:rPr lang="en-US" sz="4400" b="1">
                <a:latin typeface="Arial"/>
                <a:cs typeface="Arial"/>
              </a:rPr>
              <a:t>lunch</a:t>
            </a:r>
            <a:r>
              <a:rPr lang="en-US" sz="4400">
                <a:latin typeface="Arial"/>
                <a:cs typeface="Arial"/>
              </a:rPr>
              <a:t>?</a:t>
            </a:r>
            <a:endParaRPr lang="en-US" sz="4400"/>
          </a:p>
          <a:p>
            <a:pPr algn="ctr"/>
            <a:r>
              <a:rPr lang="en-US" sz="4400">
                <a:latin typeface="Arial"/>
                <a:cs typeface="Arial"/>
              </a:rPr>
              <a:t>12:00 am </a:t>
            </a:r>
            <a:r>
              <a:rPr lang="en-US" sz="4400" b="1">
                <a:latin typeface="Arial"/>
                <a:cs typeface="Arial"/>
              </a:rPr>
              <a:t>or </a:t>
            </a:r>
            <a:r>
              <a:rPr lang="en-US" sz="4400">
                <a:latin typeface="Arial"/>
                <a:cs typeface="Arial"/>
              </a:rPr>
              <a:t>12:00 pm</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CAD7E4B-FD49-DAA5-DAC6-258A1B2EA99D}"/>
              </a:ext>
            </a:extLst>
          </p:cNvPr>
          <p:cNvSpPr txBox="1"/>
          <p:nvPr/>
        </p:nvSpPr>
        <p:spPr>
          <a:xfrm>
            <a:off x="885644" y="5375785"/>
            <a:ext cx="10191750" cy="915500"/>
          </a:xfrm>
          <a:prstGeom prst="rect">
            <a:avLst/>
          </a:prstGeom>
          <a:noFill/>
        </p:spPr>
        <p:txBody>
          <a:bodyPr wrap="square" lIns="0" tIns="0" rIns="0" bIns="0" rtlCol="0">
            <a:noAutofit/>
          </a:bodyPr>
          <a:lstStyle/>
          <a:p>
            <a:pPr algn="ctr"/>
            <a:r>
              <a:rPr lang="en-AU" sz="4400" b="1"/>
              <a:t>Represent</a:t>
            </a:r>
            <a:r>
              <a:rPr lang="en-AU" sz="4400"/>
              <a:t> this </a:t>
            </a:r>
            <a:r>
              <a:rPr lang="en-AU" sz="4400" b="1"/>
              <a:t>data</a:t>
            </a:r>
            <a:r>
              <a:rPr lang="en-AU" sz="4400"/>
              <a:t> using a </a:t>
            </a:r>
            <a:r>
              <a:rPr lang="en-AU" sz="4400" b="1"/>
              <a:t>column graph.</a:t>
            </a:r>
          </a:p>
        </p:txBody>
      </p:sp>
      <p:sp>
        <p:nvSpPr>
          <p:cNvPr id="6" name="TextBox 5">
            <a:extLst>
              <a:ext uri="{FF2B5EF4-FFF2-40B4-BE49-F238E27FC236}">
                <a16:creationId xmlns:a16="http://schemas.microsoft.com/office/drawing/2014/main" id="{274CA70E-F62F-9DEC-AF81-207EA2662079}"/>
              </a:ext>
            </a:extLst>
          </p:cNvPr>
          <p:cNvSpPr txBox="1"/>
          <p:nvPr/>
        </p:nvSpPr>
        <p:spPr>
          <a:xfrm>
            <a:off x="246024" y="980595"/>
            <a:ext cx="11784051" cy="407256"/>
          </a:xfrm>
          <a:prstGeom prst="rect">
            <a:avLst/>
          </a:prstGeom>
          <a:noFill/>
        </p:spPr>
        <p:txBody>
          <a:bodyPr wrap="square" lIns="0" tIns="0" rIns="0" bIns="0" rtlCol="0">
            <a:noAutofit/>
          </a:bodyPr>
          <a:lstStyle/>
          <a:p>
            <a:pPr algn="ctr"/>
            <a:r>
              <a:rPr lang="en-AU" sz="4400" b="1"/>
              <a:t>Data</a:t>
            </a:r>
            <a:r>
              <a:rPr lang="en-AU" sz="4400"/>
              <a:t> was collected from 60 students about their favourite ice cream flavour.</a:t>
            </a:r>
            <a:r>
              <a:rPr lang="en-AU" sz="1800"/>
              <a:t> </a:t>
            </a:r>
          </a:p>
          <a:p>
            <a:pPr algn="ctr"/>
            <a:r>
              <a:rPr lang="en-AU" sz="1800"/>
              <a:t>  </a:t>
            </a:r>
          </a:p>
        </p:txBody>
      </p:sp>
      <p:graphicFrame>
        <p:nvGraphicFramePr>
          <p:cNvPr id="10" name="Table 9">
            <a:extLst>
              <a:ext uri="{FF2B5EF4-FFF2-40B4-BE49-F238E27FC236}">
                <a16:creationId xmlns:a16="http://schemas.microsoft.com/office/drawing/2014/main" id="{5670AB49-981C-C297-D7E2-C0EAA9046E10}"/>
              </a:ext>
            </a:extLst>
          </p:cNvPr>
          <p:cNvGraphicFramePr>
            <a:graphicFrameLocks noGrp="1"/>
          </p:cNvGraphicFramePr>
          <p:nvPr>
            <p:extLst>
              <p:ext uri="{D42A27DB-BD31-4B8C-83A1-F6EECF244321}">
                <p14:modId xmlns:p14="http://schemas.microsoft.com/office/powerpoint/2010/main" val="1089180874"/>
              </p:ext>
            </p:extLst>
          </p:nvPr>
        </p:nvGraphicFramePr>
        <p:xfrm>
          <a:off x="1047750" y="2686051"/>
          <a:ext cx="10467976" cy="2438400"/>
        </p:xfrm>
        <a:graphic>
          <a:graphicData uri="http://schemas.openxmlformats.org/drawingml/2006/table">
            <a:tbl>
              <a:tblPr firstRow="1" bandRow="1">
                <a:tableStyleId>{5940675A-B579-460E-94D1-54222C63F5DA}</a:tableStyleId>
              </a:tblPr>
              <a:tblGrid>
                <a:gridCol w="5233988">
                  <a:extLst>
                    <a:ext uri="{9D8B030D-6E8A-4147-A177-3AD203B41FA5}">
                      <a16:colId xmlns:a16="http://schemas.microsoft.com/office/drawing/2014/main" val="2569662852"/>
                    </a:ext>
                  </a:extLst>
                </a:gridCol>
                <a:gridCol w="5233988">
                  <a:extLst>
                    <a:ext uri="{9D8B030D-6E8A-4147-A177-3AD203B41FA5}">
                      <a16:colId xmlns:a16="http://schemas.microsoft.com/office/drawing/2014/main" val="851959946"/>
                    </a:ext>
                  </a:extLst>
                </a:gridCol>
              </a:tblGrid>
              <a:tr h="553933">
                <a:tc>
                  <a:txBody>
                    <a:bodyPr/>
                    <a:lstStyle/>
                    <a:p>
                      <a:pPr algn="ctr"/>
                      <a:r>
                        <a:rPr lang="en-AU" sz="3400"/>
                        <a:t>Chocolate swirl</a:t>
                      </a:r>
                    </a:p>
                  </a:txBody>
                  <a:tcPr/>
                </a:tc>
                <a:tc>
                  <a:txBody>
                    <a:bodyPr/>
                    <a:lstStyle/>
                    <a:p>
                      <a:pPr algn="ctr"/>
                      <a:r>
                        <a:rPr lang="en-AU" sz="3400"/>
                        <a:t>24</a:t>
                      </a:r>
                    </a:p>
                  </a:txBody>
                  <a:tcPr/>
                </a:tc>
                <a:extLst>
                  <a:ext uri="{0D108BD9-81ED-4DB2-BD59-A6C34878D82A}">
                    <a16:rowId xmlns:a16="http://schemas.microsoft.com/office/drawing/2014/main" val="3955237803"/>
                  </a:ext>
                </a:extLst>
              </a:tr>
              <a:tr h="437375">
                <a:tc>
                  <a:txBody>
                    <a:bodyPr/>
                    <a:lstStyle/>
                    <a:p>
                      <a:pPr algn="ctr"/>
                      <a:r>
                        <a:rPr lang="en-AU" sz="3400"/>
                        <a:t>Strawberry dream</a:t>
                      </a:r>
                    </a:p>
                  </a:txBody>
                  <a:tcPr/>
                </a:tc>
                <a:tc>
                  <a:txBody>
                    <a:bodyPr/>
                    <a:lstStyle/>
                    <a:p>
                      <a:pPr algn="ctr"/>
                      <a:r>
                        <a:rPr lang="en-AU" sz="3400"/>
                        <a:t>21</a:t>
                      </a:r>
                    </a:p>
                  </a:txBody>
                  <a:tcPr/>
                </a:tc>
                <a:extLst>
                  <a:ext uri="{0D108BD9-81ED-4DB2-BD59-A6C34878D82A}">
                    <a16:rowId xmlns:a16="http://schemas.microsoft.com/office/drawing/2014/main" val="1870442980"/>
                  </a:ext>
                </a:extLst>
              </a:tr>
              <a:tr h="437375">
                <a:tc>
                  <a:txBody>
                    <a:bodyPr/>
                    <a:lstStyle/>
                    <a:p>
                      <a:pPr algn="ctr"/>
                      <a:r>
                        <a:rPr lang="en-AU" sz="3400"/>
                        <a:t>Sweet caramel</a:t>
                      </a:r>
                    </a:p>
                  </a:txBody>
                  <a:tcPr/>
                </a:tc>
                <a:tc>
                  <a:txBody>
                    <a:bodyPr/>
                    <a:lstStyle/>
                    <a:p>
                      <a:pPr algn="ctr"/>
                      <a:r>
                        <a:rPr lang="en-AU" sz="3400"/>
                        <a:t>12</a:t>
                      </a:r>
                    </a:p>
                  </a:txBody>
                  <a:tcPr/>
                </a:tc>
                <a:extLst>
                  <a:ext uri="{0D108BD9-81ED-4DB2-BD59-A6C34878D82A}">
                    <a16:rowId xmlns:a16="http://schemas.microsoft.com/office/drawing/2014/main" val="4275842252"/>
                  </a:ext>
                </a:extLst>
              </a:tr>
              <a:tr h="437375">
                <a:tc>
                  <a:txBody>
                    <a:bodyPr/>
                    <a:lstStyle/>
                    <a:p>
                      <a:pPr algn="ctr"/>
                      <a:r>
                        <a:rPr lang="en-AU" sz="3400"/>
                        <a:t>Vanilla Surprise</a:t>
                      </a:r>
                    </a:p>
                  </a:txBody>
                  <a:tcPr/>
                </a:tc>
                <a:tc>
                  <a:txBody>
                    <a:bodyPr/>
                    <a:lstStyle/>
                    <a:p>
                      <a:pPr algn="ctr"/>
                      <a:r>
                        <a:rPr lang="en-AU" sz="3400"/>
                        <a:t>3</a:t>
                      </a:r>
                    </a:p>
                  </a:txBody>
                  <a:tcPr/>
                </a:tc>
                <a:extLst>
                  <a:ext uri="{0D108BD9-81ED-4DB2-BD59-A6C34878D82A}">
                    <a16:rowId xmlns:a16="http://schemas.microsoft.com/office/drawing/2014/main" val="3735277744"/>
                  </a:ext>
                </a:extLst>
              </a:tr>
            </a:tbl>
          </a:graphicData>
        </a:graphic>
      </p:graphicFrame>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2267450"/>
            <a:ext cx="11243037" cy="3659902"/>
          </a:xfrm>
        </p:spPr>
        <p:txBody>
          <a:bodyPr/>
          <a:lstStyle/>
          <a:p>
            <a:pPr algn="ctr"/>
            <a:r>
              <a:rPr lang="en-US" sz="4400">
                <a:latin typeface="Arial"/>
                <a:cs typeface="Arial"/>
              </a:rPr>
              <a:t>Sketch a </a:t>
            </a:r>
            <a:r>
              <a:rPr lang="en-US" sz="4400" b="1">
                <a:latin typeface="Arial"/>
                <a:cs typeface="Arial"/>
              </a:rPr>
              <a:t>rectangular prism</a:t>
            </a:r>
            <a:r>
              <a:rPr lang="en-US" sz="4400">
                <a:latin typeface="Arial"/>
                <a:cs typeface="Arial"/>
              </a:rPr>
              <a:t> to show its </a:t>
            </a:r>
            <a:r>
              <a:rPr lang="en-US" sz="4400" b="1">
                <a:latin typeface="Arial"/>
                <a:cs typeface="Arial"/>
              </a:rPr>
              <a:t>depth</a:t>
            </a:r>
            <a:r>
              <a:rPr lang="en-US" sz="4400">
                <a:latin typeface="Arial"/>
                <a:cs typeface="Arial"/>
              </a:rPr>
              <a: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AFEFB7-1650-BC26-3977-B8A0A0485A4A}"/>
              </a:ext>
            </a:extLst>
          </p:cNvPr>
          <p:cNvSpPr>
            <a:spLocks noGrp="1"/>
          </p:cNvSpPr>
          <p:nvPr>
            <p:ph type="title"/>
          </p:nvPr>
        </p:nvSpPr>
        <p:spPr/>
        <p:txBody>
          <a:bodyPr/>
          <a:lstStyle/>
          <a:p>
            <a:r>
              <a:rPr lang="en-US">
                <a:latin typeface="Arial"/>
                <a:cs typeface="Arial"/>
              </a:rPr>
              <a:t>Activity 3 – missing digit subtraction 1</a:t>
            </a:r>
            <a:endParaRPr lang="en-US"/>
          </a:p>
        </p:txBody>
      </p:sp>
      <p:pic>
        <p:nvPicPr>
          <p:cNvPr id="5" name="Picture 4" descr="A column subtraction equation, where a missing 2-digit number, represented by 2 empty boxes, is subtracted from a missing 3-digit number, represented by 3 empty boxes.&#10;&#10;It equals the number 5, which is in a box underneath, with a line above and below it.">
            <a:extLst>
              <a:ext uri="{FF2B5EF4-FFF2-40B4-BE49-F238E27FC236}">
                <a16:creationId xmlns:a16="http://schemas.microsoft.com/office/drawing/2014/main" id="{B194890A-F774-56C7-6E4B-40FB896A7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5865" y="1091230"/>
            <a:ext cx="6529595" cy="4874717"/>
          </a:xfrm>
          <a:prstGeom prst="rect">
            <a:avLst/>
          </a:prstGeom>
        </p:spPr>
      </p:pic>
    </p:spTree>
    <p:extLst>
      <p:ext uri="{BB962C8B-B14F-4D97-AF65-F5344CB8AC3E}">
        <p14:creationId xmlns:p14="http://schemas.microsoft.com/office/powerpoint/2010/main" val="352929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sp>
        <p:nvSpPr>
          <p:cNvPr id="7" name="Text Placeholder 6">
            <a:extLst>
              <a:ext uri="{FF2B5EF4-FFF2-40B4-BE49-F238E27FC236}">
                <a16:creationId xmlns:a16="http://schemas.microsoft.com/office/drawing/2014/main" id="{F060180D-91D5-EA06-E103-8B3688B0CE76}"/>
              </a:ext>
              <a:ext uri="{C183D7F6-B498-43B3-948B-1728B52AA6E4}">
                <adec:decorative xmlns:adec="http://schemas.microsoft.com/office/drawing/2017/decorative" val="1"/>
              </a:ext>
            </a:extLst>
          </p:cNvPr>
          <p:cNvSpPr>
            <a:spLocks noGrp="1"/>
          </p:cNvSpPr>
          <p:nvPr>
            <p:ph type="body" sz="quarter" idx="22"/>
          </p:nvPr>
        </p:nvSpPr>
        <p:spPr>
          <a:xfrm>
            <a:off x="654345" y="1759848"/>
            <a:ext cx="10654348" cy="2877133"/>
          </a:xfrm>
        </p:spPr>
        <p:txBody>
          <a:bodyPr vert="horz" lIns="0" tIns="0" rIns="0" bIns="0" rtlCol="0" anchor="t">
            <a:noAutofit/>
          </a:bodyPr>
          <a:lstStyle/>
          <a:p>
            <a:pPr algn="ctr"/>
            <a:endParaRPr lang="en-AU" sz="4400"/>
          </a:p>
          <a:p>
            <a:pPr algn="ctr"/>
            <a:endParaRPr lang="en-AU"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064044272"/>
              </p:ext>
            </p:extLst>
          </p:nvPr>
        </p:nvGraphicFramePr>
        <p:xfrm>
          <a:off x="2557462" y="484886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8" name="TextBox 7">
            <a:extLst>
              <a:ext uri="{FF2B5EF4-FFF2-40B4-BE49-F238E27FC236}">
                <a16:creationId xmlns:a16="http://schemas.microsoft.com/office/drawing/2014/main" id="{2614A2C1-E5E9-330B-155C-8D4C1F809A46}"/>
              </a:ext>
            </a:extLst>
          </p:cNvPr>
          <p:cNvSpPr txBox="1"/>
          <p:nvPr/>
        </p:nvSpPr>
        <p:spPr>
          <a:xfrm>
            <a:off x="2305050" y="1638300"/>
            <a:ext cx="7858125" cy="1276350"/>
          </a:xfrm>
          <a:prstGeom prst="rect">
            <a:avLst/>
          </a:prstGeom>
          <a:noFill/>
        </p:spPr>
        <p:txBody>
          <a:bodyPr wrap="square" lIns="0" tIns="0" rIns="0" bIns="0" rtlCol="0">
            <a:noAutofit/>
          </a:bodyPr>
          <a:lstStyle/>
          <a:p>
            <a:pPr algn="ctr"/>
            <a:r>
              <a:rPr lang="en-AU" sz="4400"/>
              <a:t>731 – ___ = 209</a:t>
            </a:r>
          </a:p>
          <a:p>
            <a:pPr algn="ctr"/>
            <a:endParaRPr lang="en-AU" sz="4400"/>
          </a:p>
          <a:p>
            <a:pPr algn="ctr"/>
            <a:r>
              <a:rPr lang="en-AU" sz="4400"/>
              <a:t>The missing </a:t>
            </a:r>
            <a:r>
              <a:rPr lang="en-AU" sz="4400" b="1"/>
              <a:t>number</a:t>
            </a:r>
            <a:r>
              <a:rPr lang="en-AU" sz="4400"/>
              <a:t> is 508.</a:t>
            </a:r>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(13))</a:t>
            </a: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A0C015DB-5FFC-FA3A-8057-251EA2495980}"/>
              </a:ext>
            </a:extLst>
          </p:cNvPr>
          <p:cNvSpPr txBox="1"/>
          <p:nvPr/>
        </p:nvSpPr>
        <p:spPr>
          <a:xfrm>
            <a:off x="242438" y="1042565"/>
            <a:ext cx="11703538"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Draw a number line and record the missing </a:t>
            </a:r>
            <a:r>
              <a:rPr lang="en-US" sz="4400" b="1">
                <a:cs typeface="Arial"/>
              </a:rPr>
              <a:t>fractions</a:t>
            </a:r>
            <a:r>
              <a:rPr lang="en-US" sz="4400">
                <a:cs typeface="Arial"/>
              </a:rPr>
              <a:t> and </a:t>
            </a:r>
            <a:r>
              <a:rPr lang="en-US" sz="4400" b="1">
                <a:cs typeface="Arial"/>
              </a:rPr>
              <a:t>decimals </a:t>
            </a:r>
            <a:r>
              <a:rPr lang="en-US" sz="4400">
                <a:cs typeface="Arial"/>
              </a:rPr>
              <a:t>for A, B and C.</a:t>
            </a:r>
            <a:endParaRPr lang="en-US" sz="4400" dirty="0">
              <a:cs typeface="Arial"/>
            </a:endParaRPr>
          </a:p>
        </p:txBody>
      </p:sp>
      <p:pic>
        <p:nvPicPr>
          <p:cNvPr id="5" name="Picture 4">
            <a:extLst>
              <a:ext uri="{FF2B5EF4-FFF2-40B4-BE49-F238E27FC236}">
                <a16:creationId xmlns:a16="http://schemas.microsoft.com/office/drawing/2014/main" id="{841128AE-5F2B-B5C9-CB5E-6D5C92AA666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83826" y="3979785"/>
            <a:ext cx="10601325" cy="1162050"/>
          </a:xfrm>
          <a:prstGeom prst="rect">
            <a:avLst/>
          </a:prstGeom>
          <a:ln>
            <a:noFill/>
          </a:ln>
        </p:spPr>
      </p:pic>
      <mc:AlternateContent xmlns:mc="http://schemas.openxmlformats.org/markup-compatibility/2006" xmlns:a14="http://schemas.microsoft.com/office/drawing/2010/main">
        <mc:Choice Requires="a14">
          <p:sp>
            <p:nvSpPr>
              <p:cNvPr id="6" name="TextBox 5" descr="A number line to record decimals and fractions">
                <a:extLst>
                  <a:ext uri="{FF2B5EF4-FFF2-40B4-BE49-F238E27FC236}">
                    <a16:creationId xmlns:a16="http://schemas.microsoft.com/office/drawing/2014/main" id="{74ADE8C3-20FB-E278-28F7-EF508B68530F}"/>
                  </a:ext>
                </a:extLst>
              </p:cNvPr>
              <p:cNvSpPr txBox="1">
                <a:spLocks noGrp="1" noRot="1" noMove="1" noResize="1" noEditPoints="1" noAdjustHandles="1" noChangeArrowheads="1" noChangeShapeType="1"/>
              </p:cNvSpPr>
              <p:nvPr/>
            </p:nvSpPr>
            <p:spPr>
              <a:xfrm>
                <a:off x="494423" y="3409201"/>
                <a:ext cx="10974192" cy="21852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800">
                    <a:cs typeface="Arial"/>
                  </a:rPr>
                  <a:t>                        		       </a:t>
                </a:r>
                <a14:m>
                  <m:oMath xmlns:m="http://schemas.openxmlformats.org/officeDocument/2006/math">
                    <m:f>
                      <m:fPr>
                        <m:ctrlPr>
                          <a:rPr lang="en-US" sz="2800" i="1" smtClean="0">
                            <a:latin typeface="Cambria Math" panose="02040503050406030204" pitchFamily="18" charset="0"/>
                            <a:cs typeface="Arial"/>
                          </a:rPr>
                        </m:ctrlPr>
                      </m:fPr>
                      <m:num>
                        <m:r>
                          <a:rPr lang="en-AU" sz="2800" b="0" i="1" smtClean="0">
                            <a:latin typeface="Cambria Math" panose="02040503050406030204" pitchFamily="18" charset="0"/>
                            <a:cs typeface="Arial"/>
                          </a:rPr>
                          <m:t>1</m:t>
                        </m:r>
                      </m:num>
                      <m:den>
                        <m:r>
                          <a:rPr lang="en-AU" sz="2800" b="0" i="1" smtClean="0">
                            <a:latin typeface="Cambria Math" panose="02040503050406030204" pitchFamily="18" charset="0"/>
                            <a:cs typeface="Arial"/>
                          </a:rPr>
                          <m:t>2</m:t>
                        </m:r>
                      </m:den>
                    </m:f>
                  </m:oMath>
                </a14:m>
                <a:r>
                  <a:rPr lang="en-US" sz="4400">
                    <a:cs typeface="Arial"/>
                  </a:rPr>
                  <a:t>              1      C __</a:t>
                </a:r>
              </a:p>
              <a:p>
                <a:endParaRPr lang="en-US" sz="1800">
                  <a:cs typeface="Arial"/>
                </a:endParaRPr>
              </a:p>
              <a:p>
                <a:endParaRPr lang="en-US" sz="1800">
                  <a:cs typeface="Arial"/>
                </a:endParaRPr>
              </a:p>
              <a:p>
                <a:r>
                  <a:rPr lang="en-US" sz="1800">
                    <a:cs typeface="Arial"/>
                  </a:rPr>
                  <a:t>                                          </a:t>
                </a:r>
              </a:p>
              <a:p>
                <a:r>
                  <a:rPr lang="en-US" sz="1800">
                    <a:cs typeface="Arial"/>
                  </a:rPr>
                  <a:t>                           </a:t>
                </a:r>
                <a:r>
                  <a:rPr lang="en-US" sz="4400">
                    <a:cs typeface="Arial"/>
                  </a:rPr>
                  <a:t>    A __       B __         1.5</a:t>
                </a:r>
                <a:endParaRPr lang="en-US" sz="4400"/>
              </a:p>
            </p:txBody>
          </p:sp>
        </mc:Choice>
        <mc:Fallback xmlns="">
          <p:sp>
            <p:nvSpPr>
              <p:cNvPr id="6" name="TextBox 5" descr="A number line to record decimals and fractions">
                <a:extLst>
                  <a:ext uri="{FF2B5EF4-FFF2-40B4-BE49-F238E27FC236}">
                    <a16:creationId xmlns:a16="http://schemas.microsoft.com/office/drawing/2014/main" id="{74ADE8C3-20FB-E278-28F7-EF508B68530F}"/>
                  </a:ext>
                </a:extLst>
              </p:cNvPr>
              <p:cNvSpPr txBox="1">
                <a:spLocks noGrp="1" noRot="1" noChangeAspect="1" noMove="1" noResize="1" noEditPoints="1" noAdjustHandles="1" noChangeArrowheads="1" noChangeShapeType="1" noTextEdit="1"/>
              </p:cNvSpPr>
              <p:nvPr/>
            </p:nvSpPr>
            <p:spPr>
              <a:xfrm>
                <a:off x="494423" y="3409201"/>
                <a:ext cx="10974192" cy="2185214"/>
              </a:xfrm>
              <a:prstGeom prst="rect">
                <a:avLst/>
              </a:prstGeom>
              <a:blipFill>
                <a:blip r:embed="rId5"/>
                <a:stretch>
                  <a:fillRect t="-9749" b="-14206"/>
                </a:stretch>
              </a:blipFill>
            </p:spPr>
            <p:txBody>
              <a:bodyPr/>
              <a:lstStyle/>
              <a:p>
                <a:r>
                  <a:rPr lang="en-AU">
                    <a:noFill/>
                  </a:rPr>
                  <a:t> </a:t>
                </a:r>
              </a:p>
            </p:txBody>
          </p:sp>
        </mc:Fallback>
      </mc:AlternateContent>
      <p:cxnSp>
        <p:nvCxnSpPr>
          <p:cNvPr id="7" name="Straight Arrow Connector 6">
            <a:extLst>
              <a:ext uri="{FF2B5EF4-FFF2-40B4-BE49-F238E27FC236}">
                <a16:creationId xmlns:a16="http://schemas.microsoft.com/office/drawing/2014/main" id="{77E0BC19-0637-CDC4-69ED-169232E97A48}"/>
              </a:ext>
              <a:ext uri="{C183D7F6-B498-43B3-948B-1728B52AA6E4}">
                <adec:decorative xmlns:adec="http://schemas.microsoft.com/office/drawing/2017/decorative" val="1"/>
              </a:ext>
            </a:extLst>
          </p:cNvPr>
          <p:cNvCxnSpPr/>
          <p:nvPr/>
        </p:nvCxnSpPr>
        <p:spPr>
          <a:xfrm flipH="1">
            <a:off x="3444250" y="4204331"/>
            <a:ext cx="4641" cy="61354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C3F2659-6995-BD9C-BDBE-BC1944ED1828}"/>
              </a:ext>
              <a:ext uri="{C183D7F6-B498-43B3-948B-1728B52AA6E4}">
                <adec:decorative xmlns:adec="http://schemas.microsoft.com/office/drawing/2017/decorative" val="1"/>
              </a:ext>
            </a:extLst>
          </p:cNvPr>
          <p:cNvCxnSpPr>
            <a:cxnSpLocks/>
          </p:cNvCxnSpPr>
          <p:nvPr/>
        </p:nvCxnSpPr>
        <p:spPr>
          <a:xfrm flipH="1">
            <a:off x="8378664" y="4195038"/>
            <a:ext cx="4641" cy="61354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CD637F6-8EE3-8FB7-7307-7CCB0EBAFFAD}"/>
              </a:ext>
              <a:ext uri="{C183D7F6-B498-43B3-948B-1728B52AA6E4}">
                <adec:decorative xmlns:adec="http://schemas.microsoft.com/office/drawing/2017/decorative" val="1"/>
              </a:ext>
            </a:extLst>
          </p:cNvPr>
          <p:cNvCxnSpPr>
            <a:cxnSpLocks/>
          </p:cNvCxnSpPr>
          <p:nvPr/>
        </p:nvCxnSpPr>
        <p:spPr>
          <a:xfrm flipH="1">
            <a:off x="5911457" y="4254040"/>
            <a:ext cx="4641" cy="61354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59999" y="1186497"/>
            <a:ext cx="11243037" cy="3479571"/>
          </a:xfrm>
        </p:spPr>
        <p:txBody>
          <a:bodyPr/>
          <a:lstStyle/>
          <a:p>
            <a:pPr algn="ctr">
              <a:lnSpc>
                <a:spcPct val="100000"/>
              </a:lnSpc>
            </a:pPr>
            <a:r>
              <a:rPr lang="en-US" sz="4400" b="1">
                <a:latin typeface="Arial"/>
                <a:cs typeface="Arial"/>
              </a:rPr>
              <a:t>Copy</a:t>
            </a:r>
            <a:r>
              <a:rPr lang="en-US" sz="4400">
                <a:latin typeface="Arial"/>
                <a:cs typeface="Arial"/>
              </a:rPr>
              <a:t> the </a:t>
            </a:r>
            <a:r>
              <a:rPr lang="en-US" sz="4400" b="1">
                <a:latin typeface="Arial"/>
                <a:cs typeface="Arial"/>
              </a:rPr>
              <a:t>hexagon</a:t>
            </a:r>
            <a:r>
              <a:rPr lang="en-US" sz="4400">
                <a:latin typeface="Arial"/>
                <a:cs typeface="Arial"/>
              </a:rPr>
              <a:t>. </a:t>
            </a:r>
          </a:p>
          <a:p>
            <a:pPr algn="ctr">
              <a:lnSpc>
                <a:spcPct val="100000"/>
              </a:lnSpc>
            </a:pPr>
            <a:r>
              <a:rPr lang="en-US" sz="4400" b="1">
                <a:latin typeface="Arial"/>
                <a:cs typeface="Arial"/>
              </a:rPr>
              <a:t>Divide</a:t>
            </a:r>
            <a:r>
              <a:rPr lang="en-US" sz="4400">
                <a:latin typeface="Arial"/>
                <a:cs typeface="Arial"/>
              </a:rPr>
              <a:t> it into two or more </a:t>
            </a:r>
            <a:r>
              <a:rPr lang="en-US" sz="4400" b="1">
                <a:latin typeface="Arial"/>
                <a:cs typeface="Arial"/>
              </a:rPr>
              <a:t>different </a:t>
            </a:r>
            <a:r>
              <a:rPr lang="en-US" sz="4400">
                <a:latin typeface="Arial"/>
                <a:cs typeface="Arial"/>
              </a:rPr>
              <a:t>shapes. </a:t>
            </a:r>
          </a:p>
          <a:p>
            <a:pPr algn="ctr">
              <a:lnSpc>
                <a:spcPct val="100000"/>
              </a:lnSpc>
            </a:pPr>
            <a:r>
              <a:rPr lang="en-US" sz="4400" b="1">
                <a:latin typeface="Arial"/>
                <a:cs typeface="Arial"/>
              </a:rPr>
              <a:t>Label</a:t>
            </a:r>
            <a:r>
              <a:rPr lang="en-US" sz="4400">
                <a:latin typeface="Arial"/>
                <a:cs typeface="Arial"/>
              </a:rPr>
              <a:t> the </a:t>
            </a:r>
            <a:r>
              <a:rPr lang="en-US" sz="4400" b="1">
                <a:latin typeface="Arial"/>
                <a:cs typeface="Arial"/>
              </a:rPr>
              <a:t>shapes</a:t>
            </a:r>
            <a:r>
              <a:rPr lang="en-US" sz="4400">
                <a:latin typeface="Arial"/>
                <a:cs typeface="Arial"/>
              </a:rPr>
              <a:t>.</a:t>
            </a:r>
            <a:endParaRPr lang="en-US" sz="4400"/>
          </a:p>
          <a:p>
            <a:pPr algn="ctr"/>
            <a:endParaRPr lang="en-US" sz="4400">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Hexagon 4" descr="A hexagon">
            <a:extLst>
              <a:ext uri="{FF2B5EF4-FFF2-40B4-BE49-F238E27FC236}">
                <a16:creationId xmlns:a16="http://schemas.microsoft.com/office/drawing/2014/main" id="{8E91FFA7-D1F1-EBFC-4655-5E9850327E1E}"/>
              </a:ext>
            </a:extLst>
          </p:cNvPr>
          <p:cNvSpPr/>
          <p:nvPr/>
        </p:nvSpPr>
        <p:spPr>
          <a:xfrm>
            <a:off x="4677455" y="3852179"/>
            <a:ext cx="2910116" cy="2379272"/>
          </a:xfrm>
          <a:prstGeom prst="hexagon">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2" name="TextBox 11">
            <a:extLst>
              <a:ext uri="{FF2B5EF4-FFF2-40B4-BE49-F238E27FC236}">
                <a16:creationId xmlns:a16="http://schemas.microsoft.com/office/drawing/2014/main" id="{344ED5A2-B16D-3CE3-7929-7E0DF8F3322D}"/>
              </a:ext>
            </a:extLst>
          </p:cNvPr>
          <p:cNvSpPr txBox="1"/>
          <p:nvPr/>
        </p:nvSpPr>
        <p:spPr>
          <a:xfrm>
            <a:off x="1587949" y="1163994"/>
            <a:ext cx="9016101" cy="4832092"/>
          </a:xfrm>
          <a:prstGeom prst="rect">
            <a:avLst/>
          </a:prstGeom>
          <a:noFill/>
        </p:spPr>
        <p:txBody>
          <a:bodyPr wrap="square">
            <a:spAutoFit/>
          </a:bodyPr>
          <a:lstStyle/>
          <a:p>
            <a:pPr algn="ctr"/>
            <a:r>
              <a:rPr lang="en-AU" sz="4400"/>
              <a:t>Write a </a:t>
            </a:r>
            <a:r>
              <a:rPr lang="en-AU" sz="4400" b="1"/>
              <a:t>definition</a:t>
            </a:r>
            <a:r>
              <a:rPr lang="en-AU" sz="4400"/>
              <a:t> for the words:</a:t>
            </a:r>
          </a:p>
          <a:p>
            <a:pPr algn="ctr"/>
            <a:endParaRPr lang="en-AU" sz="4400"/>
          </a:p>
          <a:p>
            <a:pPr algn="ctr"/>
            <a:r>
              <a:rPr lang="en-AU" sz="4400"/>
              <a:t>outcome</a:t>
            </a:r>
          </a:p>
          <a:p>
            <a:pPr algn="ctr"/>
            <a:endParaRPr lang="en-AU" sz="4400"/>
          </a:p>
          <a:p>
            <a:pPr algn="ctr"/>
            <a:r>
              <a:rPr lang="en-AU" sz="4400"/>
              <a:t>chance</a:t>
            </a:r>
          </a:p>
          <a:p>
            <a:pPr algn="ctr"/>
            <a:endParaRPr lang="en-AU" sz="4400"/>
          </a:p>
          <a:p>
            <a:pPr algn="ctr"/>
            <a:r>
              <a:rPr lang="en-AU" sz="4400"/>
              <a:t>trial</a:t>
            </a:r>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8" name="Picture 7" descr="A triangle">
            <a:extLst>
              <a:ext uri="{FF2B5EF4-FFF2-40B4-BE49-F238E27FC236}">
                <a16:creationId xmlns:a16="http://schemas.microsoft.com/office/drawing/2014/main" id="{1A74FF0E-406F-F92A-72C1-26640F31FCCF}"/>
              </a:ext>
            </a:extLst>
          </p:cNvPr>
          <p:cNvPicPr>
            <a:picLocks noChangeAspect="1"/>
          </p:cNvPicPr>
          <p:nvPr/>
        </p:nvPicPr>
        <p:blipFill>
          <a:blip r:embed="rId4"/>
          <a:stretch>
            <a:fillRect/>
          </a:stretch>
        </p:blipFill>
        <p:spPr>
          <a:xfrm>
            <a:off x="4326265" y="3168021"/>
            <a:ext cx="3539470" cy="3182119"/>
          </a:xfrm>
          <a:prstGeom prst="rect">
            <a:avLst/>
          </a:prstGeom>
        </p:spPr>
      </p:pic>
      <p:sp>
        <p:nvSpPr>
          <p:cNvPr id="9" name="TextBox 8">
            <a:extLst>
              <a:ext uri="{FF2B5EF4-FFF2-40B4-BE49-F238E27FC236}">
                <a16:creationId xmlns:a16="http://schemas.microsoft.com/office/drawing/2014/main" id="{C5A8FFA9-CA6E-63DA-5A27-F0B5437148F3}"/>
              </a:ext>
            </a:extLst>
          </p:cNvPr>
          <p:cNvSpPr txBox="1"/>
          <p:nvPr/>
        </p:nvSpPr>
        <p:spPr>
          <a:xfrm>
            <a:off x="735496" y="1098101"/>
            <a:ext cx="11108504" cy="437322"/>
          </a:xfrm>
          <a:prstGeom prst="rect">
            <a:avLst/>
          </a:prstGeom>
          <a:noFill/>
        </p:spPr>
        <p:txBody>
          <a:bodyPr wrap="square" lIns="0" tIns="0" rIns="0" bIns="0" rtlCol="0">
            <a:noAutofit/>
          </a:bodyPr>
          <a:lstStyle/>
          <a:p>
            <a:pPr algn="ctr">
              <a:lnSpc>
                <a:spcPct val="150000"/>
              </a:lnSpc>
            </a:pPr>
            <a:r>
              <a:rPr lang="en-AU" sz="4000"/>
              <a:t>Create and record a </a:t>
            </a:r>
            <a:r>
              <a:rPr lang="en-AU" sz="4000" b="1"/>
              <a:t>tessellating</a:t>
            </a:r>
            <a:r>
              <a:rPr lang="en-AU" sz="4000"/>
              <a:t> design by </a:t>
            </a:r>
            <a:r>
              <a:rPr lang="en-AU" sz="4000" b="1"/>
              <a:t>reflecting</a:t>
            </a:r>
            <a:r>
              <a:rPr lang="en-AU" sz="4000"/>
              <a:t>, </a:t>
            </a:r>
            <a:r>
              <a:rPr lang="en-AU" sz="4000" b="1"/>
              <a:t>translating</a:t>
            </a:r>
            <a:r>
              <a:rPr lang="en-AU" sz="4000"/>
              <a:t> and </a:t>
            </a:r>
            <a:r>
              <a:rPr lang="en-AU" sz="4000" b="1"/>
              <a:t>rotating</a:t>
            </a:r>
            <a:r>
              <a:rPr lang="en-AU" sz="4000"/>
              <a:t> the triangle.</a:t>
            </a:r>
            <a:endParaRPr lang="en-AU" sz="1600"/>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0563-1813-1995-D32E-DDC6D9DE48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EFD0F-F581-CFC5-D0D1-51A3B841FA1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678AF4BF-84AD-0971-5D0F-9FC03D181470}"/>
              </a:ext>
            </a:extLst>
          </p:cNvPr>
          <p:cNvSpPr>
            <a:spLocks noGrp="1"/>
          </p:cNvSpPr>
          <p:nvPr>
            <p:ph type="title"/>
          </p:nvPr>
        </p:nvSpPr>
        <p:spPr>
          <a:xfrm>
            <a:off x="360000" y="360000"/>
            <a:ext cx="11484000" cy="545601"/>
          </a:xfrm>
        </p:spPr>
        <p:txBody>
          <a:bodyPr/>
          <a:lstStyle/>
          <a:p>
            <a:r>
              <a:rPr lang="en-AU">
                <a:latin typeface="Arial"/>
                <a:cs typeface="Arial"/>
              </a:rPr>
              <a:t>Activity 4 – missing digits subtraction</a:t>
            </a:r>
          </a:p>
        </p:txBody>
      </p:sp>
      <p:pic>
        <p:nvPicPr>
          <p:cNvPr id="4" name="Picture 3" descr="image of a head with cogs turning inside">
            <a:extLst>
              <a:ext uri="{FF2B5EF4-FFF2-40B4-BE49-F238E27FC236}">
                <a16:creationId xmlns:a16="http://schemas.microsoft.com/office/drawing/2014/main" id="{1F6155F8-85A5-4C89-11B1-1565166D26FB}"/>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7" name="Picture 6" descr="A column subtraction equation, where a missing 3-digit number, represented by 3 empty boxes, is subtracted from a missing 3-digit number, represented by 3 empty boxes.&#10;&#10;It equals a one digit number, which is represented by a box underneath, with a line above and below it.">
            <a:extLst>
              <a:ext uri="{FF2B5EF4-FFF2-40B4-BE49-F238E27FC236}">
                <a16:creationId xmlns:a16="http://schemas.microsoft.com/office/drawing/2014/main" id="{8A827CAE-221C-56CC-2919-2D355B4595B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043" r="24168" b="30411"/>
          <a:stretch>
            <a:fillRect/>
          </a:stretch>
        </p:blipFill>
        <p:spPr bwMode="auto">
          <a:xfrm>
            <a:off x="2727412" y="869632"/>
            <a:ext cx="6012180" cy="511873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3382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55466" y="835092"/>
            <a:ext cx="11243037" cy="893226"/>
          </a:xfrm>
        </p:spPr>
        <p:txBody>
          <a:bodyPr vert="horz" lIns="0" tIns="0" rIns="0" bIns="0" rtlCol="0" anchor="t">
            <a:noAutofit/>
          </a:bodyPr>
          <a:lstStyle/>
          <a:p>
            <a:pPr algn="ctr"/>
            <a:r>
              <a:rPr lang="en-US" sz="4400">
                <a:latin typeface="Arial"/>
                <a:cs typeface="Arial"/>
              </a:rPr>
              <a:t>Find the correct </a:t>
            </a:r>
            <a:r>
              <a:rPr lang="en-US" sz="4400" b="1">
                <a:latin typeface="Arial"/>
                <a:cs typeface="Arial"/>
              </a:rPr>
              <a:t>related facts</a:t>
            </a:r>
            <a:r>
              <a:rPr lang="en-US" sz="4400">
                <a:latin typeface="Arial"/>
                <a:cs typeface="Arial"/>
              </a:rPr>
              <a:t>. </a:t>
            </a:r>
            <a:endParaRPr lang="en-US" sz="4400"/>
          </a:p>
        </p:txBody>
      </p:sp>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3"/>
          <a:stretch>
            <a:fillRect/>
          </a:stretch>
        </p:blipFill>
        <p:spPr>
          <a:xfrm>
            <a:off x="10807908" y="43303"/>
            <a:ext cx="1165786" cy="1140716"/>
          </a:xfrm>
          <a:prstGeom prst="rect">
            <a:avLst/>
          </a:prstGeom>
          <a:ln>
            <a:noFill/>
          </a:ln>
        </p:spPr>
      </p:pic>
      <p:grpSp>
        <p:nvGrpSpPr>
          <p:cNvPr id="8" name="Group 2" descr="4x7 array">
            <a:extLst>
              <a:ext uri="{FF2B5EF4-FFF2-40B4-BE49-F238E27FC236}">
                <a16:creationId xmlns:a16="http://schemas.microsoft.com/office/drawing/2014/main" id="{F7A3C399-0BD4-E12B-41C8-461695CA908D}"/>
              </a:ext>
            </a:extLst>
          </p:cNvPr>
          <p:cNvGrpSpPr/>
          <p:nvPr/>
        </p:nvGrpSpPr>
        <p:grpSpPr>
          <a:xfrm rot="5400000">
            <a:off x="309757" y="2646548"/>
            <a:ext cx="3843375" cy="2419927"/>
            <a:chOff x="0" y="0"/>
            <a:chExt cx="7244494" cy="4202655"/>
          </a:xfrm>
        </p:grpSpPr>
        <p:grpSp>
          <p:nvGrpSpPr>
            <p:cNvPr id="9" name="Group 3">
              <a:extLst>
                <a:ext uri="{FF2B5EF4-FFF2-40B4-BE49-F238E27FC236}">
                  <a16:creationId xmlns:a16="http://schemas.microsoft.com/office/drawing/2014/main" id="{B627A064-89BE-781B-3051-92009A2F0C88}"/>
                </a:ext>
              </a:extLst>
            </p:cNvPr>
            <p:cNvGrpSpPr/>
            <p:nvPr/>
          </p:nvGrpSpPr>
          <p:grpSpPr>
            <a:xfrm>
              <a:off x="0" y="0"/>
              <a:ext cx="905170" cy="905170"/>
              <a:chOff x="0" y="0"/>
              <a:chExt cx="812800" cy="812800"/>
            </a:xfrm>
          </p:grpSpPr>
          <p:sp>
            <p:nvSpPr>
              <p:cNvPr id="93" name="Freeform 4">
                <a:extLst>
                  <a:ext uri="{FF2B5EF4-FFF2-40B4-BE49-F238E27FC236}">
                    <a16:creationId xmlns:a16="http://schemas.microsoft.com/office/drawing/2014/main" id="{19E6D9FC-0685-60FD-6D04-33035BEEAD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4" name="TextBox 5">
                <a:extLst>
                  <a:ext uri="{FF2B5EF4-FFF2-40B4-BE49-F238E27FC236}">
                    <a16:creationId xmlns:a16="http://schemas.microsoft.com/office/drawing/2014/main" id="{5A2332DF-12E9-0976-C397-B1880233E17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0" name="Group 6">
              <a:extLst>
                <a:ext uri="{FF2B5EF4-FFF2-40B4-BE49-F238E27FC236}">
                  <a16:creationId xmlns:a16="http://schemas.microsoft.com/office/drawing/2014/main" id="{8EFC7368-7850-92AE-F550-41F949BE88C3}"/>
                </a:ext>
              </a:extLst>
            </p:cNvPr>
            <p:cNvGrpSpPr/>
            <p:nvPr/>
          </p:nvGrpSpPr>
          <p:grpSpPr>
            <a:xfrm>
              <a:off x="1056554" y="0"/>
              <a:ext cx="905170" cy="905170"/>
              <a:chOff x="0" y="0"/>
              <a:chExt cx="812800" cy="812800"/>
            </a:xfrm>
          </p:grpSpPr>
          <p:sp>
            <p:nvSpPr>
              <p:cNvPr id="91" name="Freeform 7">
                <a:extLst>
                  <a:ext uri="{FF2B5EF4-FFF2-40B4-BE49-F238E27FC236}">
                    <a16:creationId xmlns:a16="http://schemas.microsoft.com/office/drawing/2014/main" id="{6ECCBA91-8F1E-EB01-BD52-5B5C5E4F26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2" name="TextBox 8">
                <a:extLst>
                  <a:ext uri="{FF2B5EF4-FFF2-40B4-BE49-F238E27FC236}">
                    <a16:creationId xmlns:a16="http://schemas.microsoft.com/office/drawing/2014/main" id="{BCC3455E-86A8-64A7-F5B8-D5B21A0A92B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1" name="Group 9">
              <a:extLst>
                <a:ext uri="{FF2B5EF4-FFF2-40B4-BE49-F238E27FC236}">
                  <a16:creationId xmlns:a16="http://schemas.microsoft.com/office/drawing/2014/main" id="{140FF963-F6D2-12E3-23B6-E0A89C7C023B}"/>
                </a:ext>
              </a:extLst>
            </p:cNvPr>
            <p:cNvGrpSpPr/>
            <p:nvPr/>
          </p:nvGrpSpPr>
          <p:grpSpPr>
            <a:xfrm>
              <a:off x="2113108" y="0"/>
              <a:ext cx="905170" cy="905170"/>
              <a:chOff x="0" y="0"/>
              <a:chExt cx="812800" cy="812800"/>
            </a:xfrm>
          </p:grpSpPr>
          <p:sp>
            <p:nvSpPr>
              <p:cNvPr id="89" name="Freeform 10">
                <a:extLst>
                  <a:ext uri="{FF2B5EF4-FFF2-40B4-BE49-F238E27FC236}">
                    <a16:creationId xmlns:a16="http://schemas.microsoft.com/office/drawing/2014/main" id="{6E44EDCF-B949-4A55-039C-A20235D3C1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0" name="TextBox 11">
                <a:extLst>
                  <a:ext uri="{FF2B5EF4-FFF2-40B4-BE49-F238E27FC236}">
                    <a16:creationId xmlns:a16="http://schemas.microsoft.com/office/drawing/2014/main" id="{5A0BA77A-9FAA-652E-E14B-16F225E12C5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2" name="Group 12">
              <a:extLst>
                <a:ext uri="{FF2B5EF4-FFF2-40B4-BE49-F238E27FC236}">
                  <a16:creationId xmlns:a16="http://schemas.microsoft.com/office/drawing/2014/main" id="{2E244B9B-16BB-E829-4DC2-22E6E9E910D2}"/>
                </a:ext>
              </a:extLst>
            </p:cNvPr>
            <p:cNvGrpSpPr/>
            <p:nvPr/>
          </p:nvGrpSpPr>
          <p:grpSpPr>
            <a:xfrm>
              <a:off x="3169662" y="0"/>
              <a:ext cx="905170" cy="905170"/>
              <a:chOff x="0" y="0"/>
              <a:chExt cx="812800" cy="812800"/>
            </a:xfrm>
          </p:grpSpPr>
          <p:sp>
            <p:nvSpPr>
              <p:cNvPr id="87" name="Freeform 13">
                <a:extLst>
                  <a:ext uri="{FF2B5EF4-FFF2-40B4-BE49-F238E27FC236}">
                    <a16:creationId xmlns:a16="http://schemas.microsoft.com/office/drawing/2014/main" id="{3BBEB34E-325B-A27C-56EB-9D4F8DAA12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8" name="TextBox 14">
                <a:extLst>
                  <a:ext uri="{FF2B5EF4-FFF2-40B4-BE49-F238E27FC236}">
                    <a16:creationId xmlns:a16="http://schemas.microsoft.com/office/drawing/2014/main" id="{5FE650A1-4864-43C2-7051-DEA7E125833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3" name="Group 15">
              <a:extLst>
                <a:ext uri="{FF2B5EF4-FFF2-40B4-BE49-F238E27FC236}">
                  <a16:creationId xmlns:a16="http://schemas.microsoft.com/office/drawing/2014/main" id="{766077E6-5DA8-C2BF-D17A-59BCE2DA1FC2}"/>
                </a:ext>
              </a:extLst>
            </p:cNvPr>
            <p:cNvGrpSpPr/>
            <p:nvPr/>
          </p:nvGrpSpPr>
          <p:grpSpPr>
            <a:xfrm>
              <a:off x="4226216" y="0"/>
              <a:ext cx="905170" cy="905170"/>
              <a:chOff x="0" y="0"/>
              <a:chExt cx="812800" cy="812800"/>
            </a:xfrm>
          </p:grpSpPr>
          <p:sp>
            <p:nvSpPr>
              <p:cNvPr id="85" name="Freeform 16">
                <a:extLst>
                  <a:ext uri="{FF2B5EF4-FFF2-40B4-BE49-F238E27FC236}">
                    <a16:creationId xmlns:a16="http://schemas.microsoft.com/office/drawing/2014/main" id="{47593F66-8F11-EC27-5784-943F5F6D76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6" name="TextBox 17">
                <a:extLst>
                  <a:ext uri="{FF2B5EF4-FFF2-40B4-BE49-F238E27FC236}">
                    <a16:creationId xmlns:a16="http://schemas.microsoft.com/office/drawing/2014/main" id="{75A8CAF8-11A2-9F6B-5468-E5B638C7A26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4" name="Group 18">
              <a:extLst>
                <a:ext uri="{FF2B5EF4-FFF2-40B4-BE49-F238E27FC236}">
                  <a16:creationId xmlns:a16="http://schemas.microsoft.com/office/drawing/2014/main" id="{1BFD0DA0-A5F2-CAC1-3CE0-CFF22D19A863}"/>
                </a:ext>
              </a:extLst>
            </p:cNvPr>
            <p:cNvGrpSpPr/>
            <p:nvPr/>
          </p:nvGrpSpPr>
          <p:grpSpPr>
            <a:xfrm>
              <a:off x="5282770" y="0"/>
              <a:ext cx="905170" cy="905170"/>
              <a:chOff x="0" y="0"/>
              <a:chExt cx="812800" cy="812800"/>
            </a:xfrm>
          </p:grpSpPr>
          <p:sp>
            <p:nvSpPr>
              <p:cNvPr id="83" name="Freeform 19">
                <a:extLst>
                  <a:ext uri="{FF2B5EF4-FFF2-40B4-BE49-F238E27FC236}">
                    <a16:creationId xmlns:a16="http://schemas.microsoft.com/office/drawing/2014/main" id="{F3555166-C47E-B913-72C5-420852CC60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4" name="TextBox 20">
                <a:extLst>
                  <a:ext uri="{FF2B5EF4-FFF2-40B4-BE49-F238E27FC236}">
                    <a16:creationId xmlns:a16="http://schemas.microsoft.com/office/drawing/2014/main" id="{80AB0F7F-1945-6E3F-DD93-4A679A754E4C}"/>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5" name="Group 21">
              <a:extLst>
                <a:ext uri="{FF2B5EF4-FFF2-40B4-BE49-F238E27FC236}">
                  <a16:creationId xmlns:a16="http://schemas.microsoft.com/office/drawing/2014/main" id="{664F9319-D6EF-3049-C900-6C65184F8F99}"/>
                </a:ext>
              </a:extLst>
            </p:cNvPr>
            <p:cNvGrpSpPr/>
            <p:nvPr/>
          </p:nvGrpSpPr>
          <p:grpSpPr>
            <a:xfrm>
              <a:off x="6339324" y="0"/>
              <a:ext cx="905170" cy="905170"/>
              <a:chOff x="0" y="0"/>
              <a:chExt cx="812800" cy="812800"/>
            </a:xfrm>
          </p:grpSpPr>
          <p:sp>
            <p:nvSpPr>
              <p:cNvPr id="81" name="Freeform 22">
                <a:extLst>
                  <a:ext uri="{FF2B5EF4-FFF2-40B4-BE49-F238E27FC236}">
                    <a16:creationId xmlns:a16="http://schemas.microsoft.com/office/drawing/2014/main" id="{33AD44E2-32D7-AAD0-BEDF-EA2180B0AC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2" name="TextBox 23">
                <a:extLst>
                  <a:ext uri="{FF2B5EF4-FFF2-40B4-BE49-F238E27FC236}">
                    <a16:creationId xmlns:a16="http://schemas.microsoft.com/office/drawing/2014/main" id="{C5E66320-D0B5-6BE4-A03C-1C0B1AE22944}"/>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7" name="Group 24">
              <a:extLst>
                <a:ext uri="{FF2B5EF4-FFF2-40B4-BE49-F238E27FC236}">
                  <a16:creationId xmlns:a16="http://schemas.microsoft.com/office/drawing/2014/main" id="{057F14F4-C00E-F5D7-AE20-CBA446780FB1}"/>
                </a:ext>
              </a:extLst>
            </p:cNvPr>
            <p:cNvGrpSpPr/>
            <p:nvPr/>
          </p:nvGrpSpPr>
          <p:grpSpPr>
            <a:xfrm>
              <a:off x="0" y="1099162"/>
              <a:ext cx="905170" cy="905170"/>
              <a:chOff x="0" y="0"/>
              <a:chExt cx="812800" cy="812800"/>
            </a:xfrm>
          </p:grpSpPr>
          <p:sp>
            <p:nvSpPr>
              <p:cNvPr id="79" name="Freeform 25">
                <a:extLst>
                  <a:ext uri="{FF2B5EF4-FFF2-40B4-BE49-F238E27FC236}">
                    <a16:creationId xmlns:a16="http://schemas.microsoft.com/office/drawing/2014/main" id="{5671A903-3E9E-F47A-545A-57E8F0953B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0" name="TextBox 26">
                <a:extLst>
                  <a:ext uri="{FF2B5EF4-FFF2-40B4-BE49-F238E27FC236}">
                    <a16:creationId xmlns:a16="http://schemas.microsoft.com/office/drawing/2014/main" id="{3491A6F9-8052-0202-7006-97087C682DF1}"/>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9" name="Group 27">
              <a:extLst>
                <a:ext uri="{FF2B5EF4-FFF2-40B4-BE49-F238E27FC236}">
                  <a16:creationId xmlns:a16="http://schemas.microsoft.com/office/drawing/2014/main" id="{161A1898-519E-67C7-5096-DF317764AD82}"/>
                </a:ext>
              </a:extLst>
            </p:cNvPr>
            <p:cNvGrpSpPr/>
            <p:nvPr/>
          </p:nvGrpSpPr>
          <p:grpSpPr>
            <a:xfrm>
              <a:off x="1056554" y="1099162"/>
              <a:ext cx="905170" cy="905170"/>
              <a:chOff x="0" y="0"/>
              <a:chExt cx="812800" cy="812800"/>
            </a:xfrm>
          </p:grpSpPr>
          <p:sp>
            <p:nvSpPr>
              <p:cNvPr id="77" name="Freeform 28">
                <a:extLst>
                  <a:ext uri="{FF2B5EF4-FFF2-40B4-BE49-F238E27FC236}">
                    <a16:creationId xmlns:a16="http://schemas.microsoft.com/office/drawing/2014/main" id="{8009BA6F-1A42-8194-77C6-0DE6DE6F2E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8" name="TextBox 29">
                <a:extLst>
                  <a:ext uri="{FF2B5EF4-FFF2-40B4-BE49-F238E27FC236}">
                    <a16:creationId xmlns:a16="http://schemas.microsoft.com/office/drawing/2014/main" id="{06478599-CF35-F7DD-A464-D02524ADD550}"/>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0" name="Group 30">
              <a:extLst>
                <a:ext uri="{FF2B5EF4-FFF2-40B4-BE49-F238E27FC236}">
                  <a16:creationId xmlns:a16="http://schemas.microsoft.com/office/drawing/2014/main" id="{02AFED27-4C26-D144-80D2-771D6EF1D908}"/>
                </a:ext>
              </a:extLst>
            </p:cNvPr>
            <p:cNvGrpSpPr/>
            <p:nvPr/>
          </p:nvGrpSpPr>
          <p:grpSpPr>
            <a:xfrm>
              <a:off x="2113108" y="1099162"/>
              <a:ext cx="905170" cy="905170"/>
              <a:chOff x="0" y="0"/>
              <a:chExt cx="812800" cy="812800"/>
            </a:xfrm>
          </p:grpSpPr>
          <p:sp>
            <p:nvSpPr>
              <p:cNvPr id="75" name="Freeform 31">
                <a:extLst>
                  <a:ext uri="{FF2B5EF4-FFF2-40B4-BE49-F238E27FC236}">
                    <a16:creationId xmlns:a16="http://schemas.microsoft.com/office/drawing/2014/main" id="{4DD8C478-99C8-AA65-A8A3-7599C4463C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6" name="TextBox 32">
                <a:extLst>
                  <a:ext uri="{FF2B5EF4-FFF2-40B4-BE49-F238E27FC236}">
                    <a16:creationId xmlns:a16="http://schemas.microsoft.com/office/drawing/2014/main" id="{FE9CB7C2-73B4-6A08-189B-2EB7C4069006}"/>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1" name="Group 33">
              <a:extLst>
                <a:ext uri="{FF2B5EF4-FFF2-40B4-BE49-F238E27FC236}">
                  <a16:creationId xmlns:a16="http://schemas.microsoft.com/office/drawing/2014/main" id="{16F488A3-9F22-7BAC-25F7-2E7655A90C85}"/>
                </a:ext>
              </a:extLst>
            </p:cNvPr>
            <p:cNvGrpSpPr/>
            <p:nvPr/>
          </p:nvGrpSpPr>
          <p:grpSpPr>
            <a:xfrm>
              <a:off x="3169662" y="1099162"/>
              <a:ext cx="905170" cy="905170"/>
              <a:chOff x="0" y="0"/>
              <a:chExt cx="812800" cy="812800"/>
            </a:xfrm>
          </p:grpSpPr>
          <p:sp>
            <p:nvSpPr>
              <p:cNvPr id="73" name="Freeform 34">
                <a:extLst>
                  <a:ext uri="{FF2B5EF4-FFF2-40B4-BE49-F238E27FC236}">
                    <a16:creationId xmlns:a16="http://schemas.microsoft.com/office/drawing/2014/main" id="{4C6F7F6E-8510-AD46-BF4A-7569765361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4" name="TextBox 35">
                <a:extLst>
                  <a:ext uri="{FF2B5EF4-FFF2-40B4-BE49-F238E27FC236}">
                    <a16:creationId xmlns:a16="http://schemas.microsoft.com/office/drawing/2014/main" id="{4D84A8CF-B0E8-D9B0-AB29-EB1CABF6A039}"/>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2" name="Group 36">
              <a:extLst>
                <a:ext uri="{FF2B5EF4-FFF2-40B4-BE49-F238E27FC236}">
                  <a16:creationId xmlns:a16="http://schemas.microsoft.com/office/drawing/2014/main" id="{EFE3B17F-C265-0F5B-214C-7745BACA645A}"/>
                </a:ext>
              </a:extLst>
            </p:cNvPr>
            <p:cNvGrpSpPr/>
            <p:nvPr/>
          </p:nvGrpSpPr>
          <p:grpSpPr>
            <a:xfrm>
              <a:off x="4226216" y="1099162"/>
              <a:ext cx="905170" cy="905170"/>
              <a:chOff x="0" y="0"/>
              <a:chExt cx="812800" cy="812800"/>
            </a:xfrm>
          </p:grpSpPr>
          <p:sp>
            <p:nvSpPr>
              <p:cNvPr id="71" name="Freeform 37">
                <a:extLst>
                  <a:ext uri="{FF2B5EF4-FFF2-40B4-BE49-F238E27FC236}">
                    <a16:creationId xmlns:a16="http://schemas.microsoft.com/office/drawing/2014/main" id="{E0607502-219F-54E1-5FE1-997DAEA031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2" name="TextBox 38">
                <a:extLst>
                  <a:ext uri="{FF2B5EF4-FFF2-40B4-BE49-F238E27FC236}">
                    <a16:creationId xmlns:a16="http://schemas.microsoft.com/office/drawing/2014/main" id="{D46902F2-410E-F086-3B31-CEB2891FE716}"/>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3" name="Group 39">
              <a:extLst>
                <a:ext uri="{FF2B5EF4-FFF2-40B4-BE49-F238E27FC236}">
                  <a16:creationId xmlns:a16="http://schemas.microsoft.com/office/drawing/2014/main" id="{62B69876-3031-596A-3178-73664E381730}"/>
                </a:ext>
              </a:extLst>
            </p:cNvPr>
            <p:cNvGrpSpPr/>
            <p:nvPr/>
          </p:nvGrpSpPr>
          <p:grpSpPr>
            <a:xfrm>
              <a:off x="5282770" y="1099161"/>
              <a:ext cx="905170" cy="905169"/>
              <a:chOff x="0" y="-1"/>
              <a:chExt cx="812800" cy="812799"/>
            </a:xfrm>
          </p:grpSpPr>
          <p:sp>
            <p:nvSpPr>
              <p:cNvPr id="69" name="Freeform 40">
                <a:extLst>
                  <a:ext uri="{FF2B5EF4-FFF2-40B4-BE49-F238E27FC236}">
                    <a16:creationId xmlns:a16="http://schemas.microsoft.com/office/drawing/2014/main" id="{4E7D7B3A-9F06-0AAB-939A-36C295D4CF3D}"/>
                  </a:ext>
                </a:extLst>
              </p:cNvPr>
              <p:cNvSpPr/>
              <p:nvPr/>
            </p:nvSpPr>
            <p:spPr>
              <a:xfrm>
                <a:off x="0" y="-1"/>
                <a:ext cx="812800" cy="8127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0" name="TextBox 41">
                <a:extLst>
                  <a:ext uri="{FF2B5EF4-FFF2-40B4-BE49-F238E27FC236}">
                    <a16:creationId xmlns:a16="http://schemas.microsoft.com/office/drawing/2014/main" id="{6D573ED0-7E9D-4A0B-6F6B-5478468DCE2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4" name="Group 42">
              <a:extLst>
                <a:ext uri="{FF2B5EF4-FFF2-40B4-BE49-F238E27FC236}">
                  <a16:creationId xmlns:a16="http://schemas.microsoft.com/office/drawing/2014/main" id="{914D3E92-8AAD-F9A6-A1B8-DED368EA590E}"/>
                </a:ext>
              </a:extLst>
            </p:cNvPr>
            <p:cNvGrpSpPr/>
            <p:nvPr/>
          </p:nvGrpSpPr>
          <p:grpSpPr>
            <a:xfrm>
              <a:off x="6339324" y="1099162"/>
              <a:ext cx="905170" cy="905170"/>
              <a:chOff x="0" y="0"/>
              <a:chExt cx="812800" cy="812800"/>
            </a:xfrm>
          </p:grpSpPr>
          <p:sp>
            <p:nvSpPr>
              <p:cNvPr id="67" name="Freeform 43">
                <a:extLst>
                  <a:ext uri="{FF2B5EF4-FFF2-40B4-BE49-F238E27FC236}">
                    <a16:creationId xmlns:a16="http://schemas.microsoft.com/office/drawing/2014/main" id="{BA4A6F1F-03BF-2D99-3C24-0514E4C97B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8" name="TextBox 44">
                <a:extLst>
                  <a:ext uri="{FF2B5EF4-FFF2-40B4-BE49-F238E27FC236}">
                    <a16:creationId xmlns:a16="http://schemas.microsoft.com/office/drawing/2014/main" id="{AE277F1F-7145-E731-1E16-112F7A3C334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5" name="Group 45">
              <a:extLst>
                <a:ext uri="{FF2B5EF4-FFF2-40B4-BE49-F238E27FC236}">
                  <a16:creationId xmlns:a16="http://schemas.microsoft.com/office/drawing/2014/main" id="{11B32823-A825-826E-3E8C-82477EB1ED22}"/>
                </a:ext>
              </a:extLst>
            </p:cNvPr>
            <p:cNvGrpSpPr/>
            <p:nvPr/>
          </p:nvGrpSpPr>
          <p:grpSpPr>
            <a:xfrm>
              <a:off x="0" y="2198323"/>
              <a:ext cx="905170" cy="905170"/>
              <a:chOff x="0" y="0"/>
              <a:chExt cx="812800" cy="812800"/>
            </a:xfrm>
          </p:grpSpPr>
          <p:sp>
            <p:nvSpPr>
              <p:cNvPr id="65" name="Freeform 46">
                <a:extLst>
                  <a:ext uri="{FF2B5EF4-FFF2-40B4-BE49-F238E27FC236}">
                    <a16:creationId xmlns:a16="http://schemas.microsoft.com/office/drawing/2014/main" id="{5EBCE433-8AB3-8332-CEA3-C8AC5E92CA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6" name="TextBox 47">
                <a:extLst>
                  <a:ext uri="{FF2B5EF4-FFF2-40B4-BE49-F238E27FC236}">
                    <a16:creationId xmlns:a16="http://schemas.microsoft.com/office/drawing/2014/main" id="{29279AC6-8EC9-6C0C-CBED-6D0257C94C9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6" name="Group 48">
              <a:extLst>
                <a:ext uri="{FF2B5EF4-FFF2-40B4-BE49-F238E27FC236}">
                  <a16:creationId xmlns:a16="http://schemas.microsoft.com/office/drawing/2014/main" id="{E2760623-6135-1F56-A999-2B5BCB326FF6}"/>
                </a:ext>
              </a:extLst>
            </p:cNvPr>
            <p:cNvGrpSpPr/>
            <p:nvPr/>
          </p:nvGrpSpPr>
          <p:grpSpPr>
            <a:xfrm>
              <a:off x="1056554" y="2198323"/>
              <a:ext cx="905170" cy="905170"/>
              <a:chOff x="0" y="0"/>
              <a:chExt cx="812800" cy="812800"/>
            </a:xfrm>
          </p:grpSpPr>
          <p:sp>
            <p:nvSpPr>
              <p:cNvPr id="63" name="Freeform 49">
                <a:extLst>
                  <a:ext uri="{FF2B5EF4-FFF2-40B4-BE49-F238E27FC236}">
                    <a16:creationId xmlns:a16="http://schemas.microsoft.com/office/drawing/2014/main" id="{D47E5EAF-CD06-2D61-7DF3-0ED70C4520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4" name="TextBox 50">
                <a:extLst>
                  <a:ext uri="{FF2B5EF4-FFF2-40B4-BE49-F238E27FC236}">
                    <a16:creationId xmlns:a16="http://schemas.microsoft.com/office/drawing/2014/main" id="{DC253F8E-4A8A-0738-DA86-6C15015408A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7" name="Group 51">
              <a:extLst>
                <a:ext uri="{FF2B5EF4-FFF2-40B4-BE49-F238E27FC236}">
                  <a16:creationId xmlns:a16="http://schemas.microsoft.com/office/drawing/2014/main" id="{B096CF2F-AF55-95BA-6983-6A87EFE34132}"/>
                </a:ext>
              </a:extLst>
            </p:cNvPr>
            <p:cNvGrpSpPr/>
            <p:nvPr/>
          </p:nvGrpSpPr>
          <p:grpSpPr>
            <a:xfrm>
              <a:off x="2113108" y="2198323"/>
              <a:ext cx="905170" cy="905170"/>
              <a:chOff x="0" y="0"/>
              <a:chExt cx="812800" cy="812800"/>
            </a:xfrm>
          </p:grpSpPr>
          <p:sp>
            <p:nvSpPr>
              <p:cNvPr id="61" name="Freeform 52">
                <a:extLst>
                  <a:ext uri="{FF2B5EF4-FFF2-40B4-BE49-F238E27FC236}">
                    <a16:creationId xmlns:a16="http://schemas.microsoft.com/office/drawing/2014/main" id="{1BD7DE20-7AE8-CA27-EE04-F300BD93E6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2" name="TextBox 53">
                <a:extLst>
                  <a:ext uri="{FF2B5EF4-FFF2-40B4-BE49-F238E27FC236}">
                    <a16:creationId xmlns:a16="http://schemas.microsoft.com/office/drawing/2014/main" id="{2C81B309-9268-A6A5-635F-8E7510A2116F}"/>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8" name="Group 54">
              <a:extLst>
                <a:ext uri="{FF2B5EF4-FFF2-40B4-BE49-F238E27FC236}">
                  <a16:creationId xmlns:a16="http://schemas.microsoft.com/office/drawing/2014/main" id="{5412CBD6-341D-8824-F734-F36DF42A6C83}"/>
                </a:ext>
              </a:extLst>
            </p:cNvPr>
            <p:cNvGrpSpPr/>
            <p:nvPr/>
          </p:nvGrpSpPr>
          <p:grpSpPr>
            <a:xfrm>
              <a:off x="3169662" y="2198323"/>
              <a:ext cx="905170" cy="905170"/>
              <a:chOff x="0" y="0"/>
              <a:chExt cx="812800" cy="812800"/>
            </a:xfrm>
          </p:grpSpPr>
          <p:sp>
            <p:nvSpPr>
              <p:cNvPr id="59" name="Freeform 55">
                <a:extLst>
                  <a:ext uri="{FF2B5EF4-FFF2-40B4-BE49-F238E27FC236}">
                    <a16:creationId xmlns:a16="http://schemas.microsoft.com/office/drawing/2014/main" id="{2215D889-06C5-52B5-DB41-EDF50B1BF1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0" name="TextBox 56">
                <a:extLst>
                  <a:ext uri="{FF2B5EF4-FFF2-40B4-BE49-F238E27FC236}">
                    <a16:creationId xmlns:a16="http://schemas.microsoft.com/office/drawing/2014/main" id="{AC73D02D-A211-62AA-35AC-AEFE1ACD6D4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9" name="Group 57">
              <a:extLst>
                <a:ext uri="{FF2B5EF4-FFF2-40B4-BE49-F238E27FC236}">
                  <a16:creationId xmlns:a16="http://schemas.microsoft.com/office/drawing/2014/main" id="{3C4E057C-83FA-5141-3426-5A6C2542B9D2}"/>
                </a:ext>
              </a:extLst>
            </p:cNvPr>
            <p:cNvGrpSpPr/>
            <p:nvPr/>
          </p:nvGrpSpPr>
          <p:grpSpPr>
            <a:xfrm>
              <a:off x="4226216" y="2198323"/>
              <a:ext cx="905170" cy="905170"/>
              <a:chOff x="0" y="0"/>
              <a:chExt cx="812800" cy="812800"/>
            </a:xfrm>
          </p:grpSpPr>
          <p:sp>
            <p:nvSpPr>
              <p:cNvPr id="57" name="Freeform 58">
                <a:extLst>
                  <a:ext uri="{FF2B5EF4-FFF2-40B4-BE49-F238E27FC236}">
                    <a16:creationId xmlns:a16="http://schemas.microsoft.com/office/drawing/2014/main" id="{D47C05A2-4655-246A-C9F9-9E16F52B28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8" name="TextBox 59">
                <a:extLst>
                  <a:ext uri="{FF2B5EF4-FFF2-40B4-BE49-F238E27FC236}">
                    <a16:creationId xmlns:a16="http://schemas.microsoft.com/office/drawing/2014/main" id="{C4FA9ABF-AF62-5BB5-6F26-D9453BA60632}"/>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0" name="Group 60">
              <a:extLst>
                <a:ext uri="{FF2B5EF4-FFF2-40B4-BE49-F238E27FC236}">
                  <a16:creationId xmlns:a16="http://schemas.microsoft.com/office/drawing/2014/main" id="{987A8572-0E39-2FF7-98DF-A41DD65AF86A}"/>
                </a:ext>
              </a:extLst>
            </p:cNvPr>
            <p:cNvGrpSpPr/>
            <p:nvPr/>
          </p:nvGrpSpPr>
          <p:grpSpPr>
            <a:xfrm>
              <a:off x="5282770" y="2198323"/>
              <a:ext cx="905170" cy="905170"/>
              <a:chOff x="0" y="0"/>
              <a:chExt cx="812800" cy="812800"/>
            </a:xfrm>
          </p:grpSpPr>
          <p:sp>
            <p:nvSpPr>
              <p:cNvPr id="55" name="Freeform 61">
                <a:extLst>
                  <a:ext uri="{FF2B5EF4-FFF2-40B4-BE49-F238E27FC236}">
                    <a16:creationId xmlns:a16="http://schemas.microsoft.com/office/drawing/2014/main" id="{5BFF6877-D676-6BE4-574D-7CCA775B69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6" name="TextBox 62">
                <a:extLst>
                  <a:ext uri="{FF2B5EF4-FFF2-40B4-BE49-F238E27FC236}">
                    <a16:creationId xmlns:a16="http://schemas.microsoft.com/office/drawing/2014/main" id="{6C78E574-E616-6B84-FDC3-60723DA7209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1" name="Group 63">
              <a:extLst>
                <a:ext uri="{FF2B5EF4-FFF2-40B4-BE49-F238E27FC236}">
                  <a16:creationId xmlns:a16="http://schemas.microsoft.com/office/drawing/2014/main" id="{50F9C462-7E70-C1F3-B37F-7BF5F25696B4}"/>
                </a:ext>
              </a:extLst>
            </p:cNvPr>
            <p:cNvGrpSpPr/>
            <p:nvPr/>
          </p:nvGrpSpPr>
          <p:grpSpPr>
            <a:xfrm>
              <a:off x="6339324" y="2198323"/>
              <a:ext cx="905170" cy="905170"/>
              <a:chOff x="0" y="0"/>
              <a:chExt cx="812800" cy="812800"/>
            </a:xfrm>
          </p:grpSpPr>
          <p:sp>
            <p:nvSpPr>
              <p:cNvPr id="53" name="Freeform 64">
                <a:extLst>
                  <a:ext uri="{FF2B5EF4-FFF2-40B4-BE49-F238E27FC236}">
                    <a16:creationId xmlns:a16="http://schemas.microsoft.com/office/drawing/2014/main" id="{E9D3C01F-FBD6-D5B5-B0FE-27C92C0E43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4" name="TextBox 65">
                <a:extLst>
                  <a:ext uri="{FF2B5EF4-FFF2-40B4-BE49-F238E27FC236}">
                    <a16:creationId xmlns:a16="http://schemas.microsoft.com/office/drawing/2014/main" id="{0B2AEAF7-EBD7-5B75-BD0E-F3D41495DD2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2" name="Group 66">
              <a:extLst>
                <a:ext uri="{FF2B5EF4-FFF2-40B4-BE49-F238E27FC236}">
                  <a16:creationId xmlns:a16="http://schemas.microsoft.com/office/drawing/2014/main" id="{68D7D14A-3D43-EF64-766E-531BF7F2FDBC}"/>
                </a:ext>
              </a:extLst>
            </p:cNvPr>
            <p:cNvGrpSpPr/>
            <p:nvPr/>
          </p:nvGrpSpPr>
          <p:grpSpPr>
            <a:xfrm>
              <a:off x="0" y="3297485"/>
              <a:ext cx="905170" cy="905170"/>
              <a:chOff x="0" y="0"/>
              <a:chExt cx="812800" cy="812800"/>
            </a:xfrm>
          </p:grpSpPr>
          <p:sp>
            <p:nvSpPr>
              <p:cNvPr id="51" name="Freeform 67">
                <a:extLst>
                  <a:ext uri="{FF2B5EF4-FFF2-40B4-BE49-F238E27FC236}">
                    <a16:creationId xmlns:a16="http://schemas.microsoft.com/office/drawing/2014/main" id="{0AA3163E-7364-14D8-3844-13DC7DC383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2" name="TextBox 68">
                <a:extLst>
                  <a:ext uri="{FF2B5EF4-FFF2-40B4-BE49-F238E27FC236}">
                    <a16:creationId xmlns:a16="http://schemas.microsoft.com/office/drawing/2014/main" id="{41F3CA68-3294-9516-66DE-893A918765F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3" name="Group 69">
              <a:extLst>
                <a:ext uri="{FF2B5EF4-FFF2-40B4-BE49-F238E27FC236}">
                  <a16:creationId xmlns:a16="http://schemas.microsoft.com/office/drawing/2014/main" id="{011978A7-CCFE-2DE7-220F-8A1CD217FD2C}"/>
                </a:ext>
              </a:extLst>
            </p:cNvPr>
            <p:cNvGrpSpPr/>
            <p:nvPr/>
          </p:nvGrpSpPr>
          <p:grpSpPr>
            <a:xfrm>
              <a:off x="1056554" y="3297485"/>
              <a:ext cx="905170" cy="905170"/>
              <a:chOff x="0" y="0"/>
              <a:chExt cx="812800" cy="812800"/>
            </a:xfrm>
          </p:grpSpPr>
          <p:sp>
            <p:nvSpPr>
              <p:cNvPr id="49" name="Freeform 70">
                <a:extLst>
                  <a:ext uri="{FF2B5EF4-FFF2-40B4-BE49-F238E27FC236}">
                    <a16:creationId xmlns:a16="http://schemas.microsoft.com/office/drawing/2014/main" id="{8D6FACB3-9A15-CD04-8A2D-AA313E1B9B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0" name="TextBox 71">
                <a:extLst>
                  <a:ext uri="{FF2B5EF4-FFF2-40B4-BE49-F238E27FC236}">
                    <a16:creationId xmlns:a16="http://schemas.microsoft.com/office/drawing/2014/main" id="{4EF86E1B-E86A-C336-3B94-D790AA13FF90}"/>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4" name="Group 72">
              <a:extLst>
                <a:ext uri="{FF2B5EF4-FFF2-40B4-BE49-F238E27FC236}">
                  <a16:creationId xmlns:a16="http://schemas.microsoft.com/office/drawing/2014/main" id="{427D1417-E7E2-5CAA-3312-8A48224AB47D}"/>
                </a:ext>
              </a:extLst>
            </p:cNvPr>
            <p:cNvGrpSpPr/>
            <p:nvPr/>
          </p:nvGrpSpPr>
          <p:grpSpPr>
            <a:xfrm>
              <a:off x="2113108" y="3297485"/>
              <a:ext cx="905170" cy="905170"/>
              <a:chOff x="0" y="0"/>
              <a:chExt cx="812800" cy="812800"/>
            </a:xfrm>
          </p:grpSpPr>
          <p:sp>
            <p:nvSpPr>
              <p:cNvPr id="47" name="Freeform 73">
                <a:extLst>
                  <a:ext uri="{FF2B5EF4-FFF2-40B4-BE49-F238E27FC236}">
                    <a16:creationId xmlns:a16="http://schemas.microsoft.com/office/drawing/2014/main" id="{55ABE153-2A83-D691-6E69-F0DDE210FD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8" name="TextBox 74">
                <a:extLst>
                  <a:ext uri="{FF2B5EF4-FFF2-40B4-BE49-F238E27FC236}">
                    <a16:creationId xmlns:a16="http://schemas.microsoft.com/office/drawing/2014/main" id="{4C0E3AD9-2791-2A16-1F71-C6851395A44C}"/>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5" name="Group 75">
              <a:extLst>
                <a:ext uri="{FF2B5EF4-FFF2-40B4-BE49-F238E27FC236}">
                  <a16:creationId xmlns:a16="http://schemas.microsoft.com/office/drawing/2014/main" id="{DA8730D8-CFEB-BA1E-C312-0761C25422F0}"/>
                </a:ext>
              </a:extLst>
            </p:cNvPr>
            <p:cNvGrpSpPr/>
            <p:nvPr/>
          </p:nvGrpSpPr>
          <p:grpSpPr>
            <a:xfrm>
              <a:off x="3169662" y="3297485"/>
              <a:ext cx="905170" cy="905170"/>
              <a:chOff x="0" y="0"/>
              <a:chExt cx="812800" cy="812800"/>
            </a:xfrm>
          </p:grpSpPr>
          <p:sp>
            <p:nvSpPr>
              <p:cNvPr id="45" name="Freeform 76">
                <a:extLst>
                  <a:ext uri="{FF2B5EF4-FFF2-40B4-BE49-F238E27FC236}">
                    <a16:creationId xmlns:a16="http://schemas.microsoft.com/office/drawing/2014/main" id="{2BA0DF93-7B2C-4774-C336-10061802F1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6" name="TextBox 77">
                <a:extLst>
                  <a:ext uri="{FF2B5EF4-FFF2-40B4-BE49-F238E27FC236}">
                    <a16:creationId xmlns:a16="http://schemas.microsoft.com/office/drawing/2014/main" id="{D6623C97-3C64-D2AB-0D29-6B62DA7F5541}"/>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6" name="Group 78">
              <a:extLst>
                <a:ext uri="{FF2B5EF4-FFF2-40B4-BE49-F238E27FC236}">
                  <a16:creationId xmlns:a16="http://schemas.microsoft.com/office/drawing/2014/main" id="{AA324C6E-67D3-4A16-1C76-AB8E58BA2F2C}"/>
                </a:ext>
              </a:extLst>
            </p:cNvPr>
            <p:cNvGrpSpPr/>
            <p:nvPr/>
          </p:nvGrpSpPr>
          <p:grpSpPr>
            <a:xfrm>
              <a:off x="4226216" y="3297485"/>
              <a:ext cx="905170" cy="905170"/>
              <a:chOff x="0" y="0"/>
              <a:chExt cx="812800" cy="812800"/>
            </a:xfrm>
          </p:grpSpPr>
          <p:sp>
            <p:nvSpPr>
              <p:cNvPr id="43" name="Freeform 79">
                <a:extLst>
                  <a:ext uri="{FF2B5EF4-FFF2-40B4-BE49-F238E27FC236}">
                    <a16:creationId xmlns:a16="http://schemas.microsoft.com/office/drawing/2014/main" id="{7EA0E2B9-BDFF-1C1F-44FC-8C44D44FBB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4" name="TextBox 80">
                <a:extLst>
                  <a:ext uri="{FF2B5EF4-FFF2-40B4-BE49-F238E27FC236}">
                    <a16:creationId xmlns:a16="http://schemas.microsoft.com/office/drawing/2014/main" id="{00C1488F-22DA-816C-4DB3-BA6872AFC72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7" name="Group 81">
              <a:extLst>
                <a:ext uri="{FF2B5EF4-FFF2-40B4-BE49-F238E27FC236}">
                  <a16:creationId xmlns:a16="http://schemas.microsoft.com/office/drawing/2014/main" id="{D775686D-9687-2BA4-DC7E-797C44474D2C}"/>
                </a:ext>
              </a:extLst>
            </p:cNvPr>
            <p:cNvGrpSpPr/>
            <p:nvPr/>
          </p:nvGrpSpPr>
          <p:grpSpPr>
            <a:xfrm>
              <a:off x="5282770" y="3297485"/>
              <a:ext cx="905170" cy="905170"/>
              <a:chOff x="0" y="0"/>
              <a:chExt cx="812800" cy="812800"/>
            </a:xfrm>
          </p:grpSpPr>
          <p:sp>
            <p:nvSpPr>
              <p:cNvPr id="41" name="Freeform 82">
                <a:extLst>
                  <a:ext uri="{FF2B5EF4-FFF2-40B4-BE49-F238E27FC236}">
                    <a16:creationId xmlns:a16="http://schemas.microsoft.com/office/drawing/2014/main" id="{1B38DCCF-DE22-0F69-245C-BF352F6469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2" name="TextBox 83">
                <a:extLst>
                  <a:ext uri="{FF2B5EF4-FFF2-40B4-BE49-F238E27FC236}">
                    <a16:creationId xmlns:a16="http://schemas.microsoft.com/office/drawing/2014/main" id="{FF0879D8-A99D-644B-5438-BF1FE15E2C4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8" name="Group 84">
              <a:extLst>
                <a:ext uri="{FF2B5EF4-FFF2-40B4-BE49-F238E27FC236}">
                  <a16:creationId xmlns:a16="http://schemas.microsoft.com/office/drawing/2014/main" id="{9C4A2025-4A88-1129-D632-7758BACD3062}"/>
                </a:ext>
              </a:extLst>
            </p:cNvPr>
            <p:cNvGrpSpPr/>
            <p:nvPr/>
          </p:nvGrpSpPr>
          <p:grpSpPr>
            <a:xfrm>
              <a:off x="6339324" y="3297485"/>
              <a:ext cx="905170" cy="905170"/>
              <a:chOff x="0" y="0"/>
              <a:chExt cx="812800" cy="812800"/>
            </a:xfrm>
          </p:grpSpPr>
          <p:sp>
            <p:nvSpPr>
              <p:cNvPr id="39" name="Freeform 85">
                <a:extLst>
                  <a:ext uri="{FF2B5EF4-FFF2-40B4-BE49-F238E27FC236}">
                    <a16:creationId xmlns:a16="http://schemas.microsoft.com/office/drawing/2014/main" id="{76873089-1D46-FB2E-20A8-29B98C68D2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0" name="TextBox 86">
                <a:extLst>
                  <a:ext uri="{FF2B5EF4-FFF2-40B4-BE49-F238E27FC236}">
                    <a16:creationId xmlns:a16="http://schemas.microsoft.com/office/drawing/2014/main" id="{D87494C5-1B46-FECD-118C-BC10A3DBAA44}"/>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graphicFrame>
        <p:nvGraphicFramePr>
          <p:cNvPr id="182" name="Table 181" descr="A table showing multiplication and division facts">
            <a:extLst>
              <a:ext uri="{FF2B5EF4-FFF2-40B4-BE49-F238E27FC236}">
                <a16:creationId xmlns:a16="http://schemas.microsoft.com/office/drawing/2014/main" id="{44CBF930-1C9F-2EA5-D092-2F417CF0A747}"/>
              </a:ext>
            </a:extLst>
          </p:cNvPr>
          <p:cNvGraphicFramePr>
            <a:graphicFrameLocks noGrp="1"/>
          </p:cNvGraphicFramePr>
          <p:nvPr>
            <p:extLst>
              <p:ext uri="{D42A27DB-BD31-4B8C-83A1-F6EECF244321}">
                <p14:modId xmlns:p14="http://schemas.microsoft.com/office/powerpoint/2010/main" val="3522198071"/>
              </p:ext>
            </p:extLst>
          </p:nvPr>
        </p:nvGraphicFramePr>
        <p:xfrm>
          <a:off x="4121038" y="2258848"/>
          <a:ext cx="7248002" cy="2790444"/>
        </p:xfrm>
        <a:graphic>
          <a:graphicData uri="http://schemas.openxmlformats.org/drawingml/2006/table">
            <a:tbl>
              <a:tblPr firstRow="1" bandRow="1"/>
              <a:tblGrid>
                <a:gridCol w="1781293">
                  <a:extLst>
                    <a:ext uri="{9D8B030D-6E8A-4147-A177-3AD203B41FA5}">
                      <a16:colId xmlns:a16="http://schemas.microsoft.com/office/drawing/2014/main" val="938807162"/>
                    </a:ext>
                  </a:extLst>
                </a:gridCol>
                <a:gridCol w="1781293">
                  <a:extLst>
                    <a:ext uri="{9D8B030D-6E8A-4147-A177-3AD203B41FA5}">
                      <a16:colId xmlns:a16="http://schemas.microsoft.com/office/drawing/2014/main" val="3044166286"/>
                    </a:ext>
                  </a:extLst>
                </a:gridCol>
                <a:gridCol w="1781293">
                  <a:extLst>
                    <a:ext uri="{9D8B030D-6E8A-4147-A177-3AD203B41FA5}">
                      <a16:colId xmlns:a16="http://schemas.microsoft.com/office/drawing/2014/main" val="2356675089"/>
                    </a:ext>
                  </a:extLst>
                </a:gridCol>
                <a:gridCol w="1904123">
                  <a:extLst>
                    <a:ext uri="{9D8B030D-6E8A-4147-A177-3AD203B41FA5}">
                      <a16:colId xmlns:a16="http://schemas.microsoft.com/office/drawing/2014/main" val="1661964677"/>
                    </a:ext>
                  </a:extLst>
                </a:gridCol>
              </a:tblGrid>
              <a:tr h="568713">
                <a:tc>
                  <a:txBody>
                    <a:bodyPr/>
                    <a:lstStyle/>
                    <a:p>
                      <a:pPr lvl="0" algn="ctr">
                        <a:lnSpc>
                          <a:spcPct val="150000"/>
                        </a:lnSpc>
                        <a:buNone/>
                      </a:pPr>
                      <a:r>
                        <a:rPr lang="en-US" sz="2400" b="1"/>
                        <a:t>A</a:t>
                      </a:r>
                    </a:p>
                  </a:txBody>
                  <a:tcPr/>
                </a:tc>
                <a:tc>
                  <a:txBody>
                    <a:bodyPr/>
                    <a:lstStyle/>
                    <a:p>
                      <a:pPr lvl="0" algn="ctr">
                        <a:lnSpc>
                          <a:spcPct val="150000"/>
                        </a:lnSpc>
                        <a:buNone/>
                      </a:pPr>
                      <a:r>
                        <a:rPr lang="en-US" sz="2400" b="1"/>
                        <a:t>B</a:t>
                      </a:r>
                    </a:p>
                  </a:txBody>
                  <a:tcPr/>
                </a:tc>
                <a:tc>
                  <a:txBody>
                    <a:bodyPr/>
                    <a:lstStyle/>
                    <a:p>
                      <a:pPr lvl="0" algn="ctr">
                        <a:lnSpc>
                          <a:spcPct val="150000"/>
                        </a:lnSpc>
                        <a:buNone/>
                      </a:pPr>
                      <a:r>
                        <a:rPr lang="en-US" sz="2400" b="1"/>
                        <a:t>C</a:t>
                      </a:r>
                    </a:p>
                  </a:txBody>
                  <a:tcPr/>
                </a:tc>
                <a:tc>
                  <a:txBody>
                    <a:bodyPr/>
                    <a:lstStyle/>
                    <a:p>
                      <a:pPr lvl="0" algn="ctr">
                        <a:lnSpc>
                          <a:spcPct val="150000"/>
                        </a:lnSpc>
                        <a:buNone/>
                      </a:pPr>
                      <a:r>
                        <a:rPr lang="en-US" sz="2400" b="1"/>
                        <a:t>D</a:t>
                      </a:r>
                    </a:p>
                  </a:txBody>
                  <a:tcPr/>
                </a:tc>
                <a:extLst>
                  <a:ext uri="{0D108BD9-81ED-4DB2-BD59-A6C34878D82A}">
                    <a16:rowId xmlns:a16="http://schemas.microsoft.com/office/drawing/2014/main" val="554559199"/>
                  </a:ext>
                </a:extLst>
              </a:tr>
              <a:tr h="2204427">
                <a:tc>
                  <a:txBody>
                    <a:bodyPr/>
                    <a:lstStyle/>
                    <a:p>
                      <a:pPr algn="ctr">
                        <a:lnSpc>
                          <a:spcPct val="150000"/>
                        </a:lnSpc>
                      </a:pPr>
                      <a:r>
                        <a:rPr lang="en-US" sz="2400" b="1"/>
                        <a:t>4 X 7 = 28</a:t>
                      </a:r>
                      <a:endParaRPr lang="en-US" sz="2800" b="1"/>
                    </a:p>
                    <a:p>
                      <a:pPr lvl="0" algn="ctr">
                        <a:lnSpc>
                          <a:spcPct val="150000"/>
                        </a:lnSpc>
                        <a:buNone/>
                      </a:pPr>
                      <a:r>
                        <a:rPr lang="en-US" sz="2400" b="1"/>
                        <a:t>7 x 4 = 28</a:t>
                      </a:r>
                    </a:p>
                    <a:p>
                      <a:pPr lvl="0" algn="ctr">
                        <a:lnSpc>
                          <a:spcPct val="150000"/>
                        </a:lnSpc>
                        <a:buNone/>
                      </a:pPr>
                      <a:r>
                        <a:rPr lang="en-US" sz="2400" b="1"/>
                        <a:t>28 - 7 = 4</a:t>
                      </a:r>
                    </a:p>
                    <a:p>
                      <a:pPr lvl="0" algn="ctr">
                        <a:lnSpc>
                          <a:spcPct val="150000"/>
                        </a:lnSpc>
                        <a:buNone/>
                      </a:pPr>
                      <a:r>
                        <a:rPr lang="en-US" sz="2400" b="1"/>
                        <a:t>28 = 4 x 7</a:t>
                      </a:r>
                    </a:p>
                  </a:txBody>
                  <a:tcPr/>
                </a:tc>
                <a:tc>
                  <a:txBody>
                    <a:bodyPr/>
                    <a:lstStyle/>
                    <a:p>
                      <a:pPr algn="ctr">
                        <a:lnSpc>
                          <a:spcPct val="150000"/>
                        </a:lnSpc>
                      </a:pPr>
                      <a:r>
                        <a:rPr lang="en-US" sz="2400" b="1"/>
                        <a:t>4 x 7 = 24</a:t>
                      </a:r>
                      <a:endParaRPr lang="en-US" sz="2800" b="1"/>
                    </a:p>
                    <a:p>
                      <a:pPr lvl="0" algn="ctr">
                        <a:lnSpc>
                          <a:spcPct val="150000"/>
                        </a:lnSpc>
                        <a:buNone/>
                      </a:pPr>
                      <a:r>
                        <a:rPr lang="en-US" sz="2400" b="1"/>
                        <a:t> 24 = 4 x 7</a:t>
                      </a:r>
                    </a:p>
                    <a:p>
                      <a:pPr lvl="0" algn="ctr">
                        <a:lnSpc>
                          <a:spcPct val="150000"/>
                        </a:lnSpc>
                        <a:buNone/>
                      </a:pPr>
                      <a:r>
                        <a:rPr lang="en-US" sz="2400" b="1"/>
                        <a:t>24 = 7 x 4</a:t>
                      </a:r>
                    </a:p>
                    <a:p>
                      <a:pPr lvl="0" algn="ctr">
                        <a:lnSpc>
                          <a:spcPct val="150000"/>
                        </a:lnSpc>
                        <a:buNone/>
                      </a:pPr>
                      <a:r>
                        <a:rPr lang="en-US" sz="2400" b="1"/>
                        <a:t>7 x 4 = 24</a:t>
                      </a:r>
                    </a:p>
                  </a:txBody>
                  <a:tcPr/>
                </a:tc>
                <a:tc>
                  <a:txBody>
                    <a:bodyPr/>
                    <a:lstStyle/>
                    <a:p>
                      <a:pPr algn="ctr">
                        <a:lnSpc>
                          <a:spcPct val="150000"/>
                        </a:lnSpc>
                      </a:pPr>
                      <a:r>
                        <a:rPr lang="en-US" sz="2400" b="1"/>
                        <a:t>28 ÷ 7 = 4</a:t>
                      </a:r>
                      <a:endParaRPr lang="en-US" sz="2800" b="1"/>
                    </a:p>
                    <a:p>
                      <a:pPr lvl="0" algn="ctr">
                        <a:lnSpc>
                          <a:spcPct val="150000"/>
                        </a:lnSpc>
                        <a:buNone/>
                      </a:pPr>
                      <a:r>
                        <a:rPr lang="en-US" sz="2400" b="1"/>
                        <a:t>4 x 7 = 28</a:t>
                      </a:r>
                    </a:p>
                    <a:p>
                      <a:pPr lvl="0" algn="ctr">
                        <a:lnSpc>
                          <a:spcPct val="150000"/>
                        </a:lnSpc>
                        <a:buNone/>
                      </a:pPr>
                      <a:r>
                        <a:rPr lang="en-US" sz="2400" b="1"/>
                        <a:t>28 ÷ 4 = 7</a:t>
                      </a:r>
                    </a:p>
                    <a:p>
                      <a:pPr lvl="0" algn="ctr">
                        <a:lnSpc>
                          <a:spcPct val="150000"/>
                        </a:lnSpc>
                        <a:buNone/>
                      </a:pPr>
                      <a:r>
                        <a:rPr lang="en-US" sz="2400" b="1"/>
                        <a:t>7 x 4 = 28</a:t>
                      </a:r>
                    </a:p>
                  </a:txBody>
                  <a:tcPr/>
                </a:tc>
                <a:tc>
                  <a:txBody>
                    <a:bodyPr/>
                    <a:lstStyle/>
                    <a:p>
                      <a:pPr algn="ctr">
                        <a:lnSpc>
                          <a:spcPct val="150000"/>
                        </a:lnSpc>
                      </a:pPr>
                      <a:r>
                        <a:rPr lang="en-US" sz="2400" b="1"/>
                        <a:t>12 + 12 =24</a:t>
                      </a:r>
                      <a:endParaRPr lang="en-US" sz="2800" b="1"/>
                    </a:p>
                    <a:p>
                      <a:pPr lvl="0" algn="ctr">
                        <a:lnSpc>
                          <a:spcPct val="150000"/>
                        </a:lnSpc>
                        <a:buNone/>
                      </a:pPr>
                      <a:r>
                        <a:rPr lang="en-US" sz="2400" b="1"/>
                        <a:t>12 x 2 = 24</a:t>
                      </a:r>
                    </a:p>
                    <a:p>
                      <a:pPr lvl="0" algn="ctr">
                        <a:lnSpc>
                          <a:spcPct val="150000"/>
                        </a:lnSpc>
                        <a:buNone/>
                      </a:pPr>
                      <a:r>
                        <a:rPr lang="en-US" sz="2400" b="1"/>
                        <a:t>24 ÷ 12 = 2</a:t>
                      </a:r>
                    </a:p>
                    <a:p>
                      <a:pPr lvl="0" algn="ctr">
                        <a:lnSpc>
                          <a:spcPct val="150000"/>
                        </a:lnSpc>
                        <a:buNone/>
                      </a:pPr>
                      <a:r>
                        <a:rPr lang="en-US" sz="2400" b="1"/>
                        <a:t>24 ÷ 2 = 12</a:t>
                      </a:r>
                    </a:p>
                  </a:txBody>
                  <a:tcPr/>
                </a:tc>
                <a:extLst>
                  <a:ext uri="{0D108BD9-81ED-4DB2-BD59-A6C34878D82A}">
                    <a16:rowId xmlns:a16="http://schemas.microsoft.com/office/drawing/2014/main" val="4032148239"/>
                  </a:ext>
                </a:extLst>
              </a:tr>
            </a:tbl>
          </a:graphicData>
        </a:graphic>
      </p:graphicFrame>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500063" y="1539872"/>
            <a:ext cx="11238724" cy="3778256"/>
          </a:xfrm>
        </p:spPr>
        <p:txBody>
          <a:bodyPr/>
          <a:lstStyle/>
          <a:p>
            <a:pPr algn="ctr"/>
            <a:r>
              <a:rPr lang="en-US" sz="4400" b="1">
                <a:latin typeface="Arial"/>
                <a:cs typeface="Arial"/>
              </a:rPr>
              <a:t>Solve </a:t>
            </a:r>
            <a:r>
              <a:rPr lang="en-US" sz="4400">
                <a:latin typeface="Arial"/>
                <a:cs typeface="Arial"/>
              </a:rPr>
              <a:t>this problem using the most </a:t>
            </a:r>
            <a:r>
              <a:rPr lang="en-US" sz="4400" b="1">
                <a:latin typeface="Arial"/>
                <a:cs typeface="Arial"/>
              </a:rPr>
              <a:t>efficient strategy.</a:t>
            </a:r>
            <a:r>
              <a:rPr lang="en-US" sz="4400">
                <a:latin typeface="Arial"/>
                <a:cs typeface="Arial"/>
              </a:rPr>
              <a:t> </a:t>
            </a:r>
          </a:p>
          <a:p>
            <a:pPr algn="ctr"/>
            <a:r>
              <a:rPr lang="en-US" sz="4400">
                <a:latin typeface="Arial"/>
                <a:cs typeface="Arial"/>
              </a:rPr>
              <a:t>Communicate your thinking.</a:t>
            </a:r>
            <a:br>
              <a:rPr lang="en-US" sz="3600">
                <a:latin typeface="Arial"/>
                <a:cs typeface="Arial"/>
              </a:rPr>
            </a:br>
            <a:endParaRPr lang="en-US">
              <a:latin typeface="Arial"/>
              <a:cs typeface="Arial"/>
            </a:endParaRPr>
          </a:p>
          <a:p>
            <a:pPr algn="ctr"/>
            <a:r>
              <a:rPr lang="en-US" sz="4400">
                <a:latin typeface="Arial"/>
                <a:cs typeface="Arial"/>
              </a:rPr>
              <a:t>127 + 55 + 63 =</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 </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344294" y="1184531"/>
            <a:ext cx="11493525" cy="4128441"/>
          </a:xfrm>
        </p:spPr>
        <p:txBody>
          <a:bodyPr/>
          <a:lstStyle/>
          <a:p>
            <a:pPr algn="ctr"/>
            <a:r>
              <a:rPr lang="en-US" sz="4400">
                <a:latin typeface="Arial"/>
                <a:cs typeface="Arial"/>
              </a:rPr>
              <a:t>Copy the </a:t>
            </a:r>
            <a:r>
              <a:rPr lang="en-US" sz="4400" b="1">
                <a:latin typeface="Arial"/>
                <a:cs typeface="Arial"/>
              </a:rPr>
              <a:t>parallelogram</a:t>
            </a:r>
            <a:r>
              <a:rPr lang="en-US" sz="4400">
                <a:latin typeface="Arial"/>
                <a:cs typeface="Arial"/>
              </a:rPr>
              <a:t>, then draw its </a:t>
            </a:r>
            <a:r>
              <a:rPr lang="en-US" sz="4400" b="1">
                <a:latin typeface="Arial"/>
                <a:cs typeface="Arial"/>
              </a:rPr>
              <a:t>reflection</a:t>
            </a:r>
            <a:r>
              <a:rPr lang="en-US" sz="4400">
                <a:latin typeface="Arial"/>
                <a:cs typeface="Arial"/>
              </a:rPr>
              <a: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Parallelogram 4" descr="A parallelogram.">
            <a:extLst>
              <a:ext uri="{FF2B5EF4-FFF2-40B4-BE49-F238E27FC236}">
                <a16:creationId xmlns:a16="http://schemas.microsoft.com/office/drawing/2014/main" id="{8AD5136C-9421-521A-F316-73236F54D81C}"/>
              </a:ext>
            </a:extLst>
          </p:cNvPr>
          <p:cNvSpPr/>
          <p:nvPr/>
        </p:nvSpPr>
        <p:spPr>
          <a:xfrm>
            <a:off x="4199986" y="3827852"/>
            <a:ext cx="3778250" cy="2063750"/>
          </a:xfrm>
          <a:prstGeom prst="parallelogram">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 </a:t>
            </a:r>
          </a:p>
        </p:txBody>
      </p:sp>
      <p:sp>
        <p:nvSpPr>
          <p:cNvPr id="13" name="TextBox 12">
            <a:extLst>
              <a:ext uri="{FF2B5EF4-FFF2-40B4-BE49-F238E27FC236}">
                <a16:creationId xmlns:a16="http://schemas.microsoft.com/office/drawing/2014/main" id="{51E0C1DB-5841-D74F-1A5B-6AEA3A4901D3}"/>
              </a:ext>
            </a:extLst>
          </p:cNvPr>
          <p:cNvSpPr txBox="1"/>
          <p:nvPr/>
        </p:nvSpPr>
        <p:spPr>
          <a:xfrm>
            <a:off x="491802" y="1465505"/>
            <a:ext cx="10982552" cy="3510643"/>
          </a:xfrm>
          <a:prstGeom prst="rect">
            <a:avLst/>
          </a:prstGeom>
          <a:noFill/>
        </p:spPr>
        <p:txBody>
          <a:bodyPr wrap="square" lIns="0" tIns="0" rIns="0" bIns="0" rtlCol="0" anchor="t">
            <a:noAutofit/>
          </a:bodyPr>
          <a:lstStyle/>
          <a:p>
            <a:pPr algn="ctr">
              <a:lnSpc>
                <a:spcPct val="150000"/>
              </a:lnSpc>
            </a:pPr>
            <a:r>
              <a:rPr lang="en-AU" sz="4400"/>
              <a:t>If you roll a 10-sided dice, what is the </a:t>
            </a:r>
            <a:r>
              <a:rPr lang="en-AU" sz="4400" b="1"/>
              <a:t>chance </a:t>
            </a:r>
            <a:r>
              <a:rPr lang="en-AU" sz="4400"/>
              <a:t>you </a:t>
            </a:r>
            <a:r>
              <a:rPr lang="en-AU" sz="4400" b="1"/>
              <a:t>will roll </a:t>
            </a:r>
            <a:r>
              <a:rPr lang="en-AU" sz="4400"/>
              <a:t>a 10?</a:t>
            </a:r>
            <a:endParaRPr lang="en-US"/>
          </a:p>
          <a:p>
            <a:pPr algn="ctr">
              <a:lnSpc>
                <a:spcPct val="150000"/>
              </a:lnSpc>
            </a:pPr>
            <a:r>
              <a:rPr lang="en-AU" sz="4400">
                <a:cs typeface="Arial"/>
              </a:rPr>
              <a:t>If you have 2 dice, what is the </a:t>
            </a:r>
            <a:r>
              <a:rPr lang="en-AU" sz="4400" b="1">
                <a:cs typeface="Arial"/>
              </a:rPr>
              <a:t>chance</a:t>
            </a:r>
            <a:r>
              <a:rPr lang="en-AU" sz="4400">
                <a:cs typeface="Arial"/>
              </a:rPr>
              <a:t> you </a:t>
            </a:r>
            <a:r>
              <a:rPr lang="en-AU" sz="4400" b="1">
                <a:cs typeface="Arial"/>
              </a:rPr>
              <a:t>will roll </a:t>
            </a:r>
            <a:r>
              <a:rPr lang="en-AU" sz="4400">
                <a:cs typeface="Arial"/>
              </a:rPr>
              <a:t>two 10s?</a:t>
            </a:r>
          </a:p>
          <a:p>
            <a:pPr algn="ctr">
              <a:lnSpc>
                <a:spcPct val="150000"/>
              </a:lnSpc>
            </a:pPr>
            <a:endParaRPr lang="en-AU" sz="4400">
              <a:cs typeface="Arial"/>
            </a:endParaRP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1943101"/>
            <a:ext cx="11210840" cy="3037114"/>
          </a:xfrm>
        </p:spPr>
        <p:txBody>
          <a:bodyPr/>
          <a:lstStyle/>
          <a:p>
            <a:pPr algn="ctr"/>
            <a:r>
              <a:rPr lang="en-US" sz="4400">
                <a:latin typeface="Arial"/>
                <a:cs typeface="Arial"/>
              </a:rPr>
              <a:t>In a collection of </a:t>
            </a:r>
            <a:r>
              <a:rPr lang="en-US" sz="4400" b="1">
                <a:latin typeface="Arial"/>
                <a:cs typeface="Arial"/>
              </a:rPr>
              <a:t>15 green</a:t>
            </a:r>
            <a:r>
              <a:rPr lang="en-US" sz="4400">
                <a:latin typeface="Arial"/>
                <a:cs typeface="Arial"/>
              </a:rPr>
              <a:t> counters and </a:t>
            </a:r>
            <a:r>
              <a:rPr lang="en-US" sz="4400" b="1">
                <a:latin typeface="Arial"/>
                <a:cs typeface="Arial"/>
              </a:rPr>
              <a:t>35 red</a:t>
            </a:r>
            <a:r>
              <a:rPr lang="en-US" sz="4400">
                <a:latin typeface="Arial"/>
                <a:cs typeface="Arial"/>
              </a:rPr>
              <a:t> counters, what is the </a:t>
            </a:r>
            <a:r>
              <a:rPr lang="en-US" sz="4400" b="1">
                <a:latin typeface="Arial"/>
                <a:cs typeface="Arial"/>
              </a:rPr>
              <a:t>chance </a:t>
            </a:r>
            <a:r>
              <a:rPr lang="en-US" sz="4400">
                <a:latin typeface="Arial"/>
                <a:cs typeface="Arial"/>
              </a:rPr>
              <a:t>of</a:t>
            </a:r>
            <a:r>
              <a:rPr lang="en-US" sz="4400" b="1">
                <a:latin typeface="Arial"/>
                <a:cs typeface="Arial"/>
              </a:rPr>
              <a:t> </a:t>
            </a:r>
            <a:r>
              <a:rPr lang="en-US" sz="4400">
                <a:latin typeface="Arial"/>
                <a:cs typeface="Arial"/>
              </a:rPr>
              <a:t>choosing a</a:t>
            </a:r>
            <a:r>
              <a:rPr lang="en-US" sz="4400" b="1">
                <a:latin typeface="Arial"/>
                <a:cs typeface="Arial"/>
              </a:rPr>
              <a:t> red </a:t>
            </a:r>
            <a:r>
              <a:rPr lang="en-US" sz="4400">
                <a:latin typeface="Arial"/>
                <a:cs typeface="Arial"/>
              </a:rPr>
              <a:t>counter?</a:t>
            </a:r>
            <a:endParaRPr lang="en-US"/>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7163018" cy="545601"/>
          </a:xfrm>
        </p:spPr>
        <p:txBody>
          <a:bodyPr/>
          <a:lstStyle/>
          <a:p>
            <a:r>
              <a:rPr lang="en-AU">
                <a:latin typeface="Arial"/>
                <a:cs typeface="Arial"/>
              </a:rPr>
              <a:t>Activity 5 – mystery equations 1</a:t>
            </a:r>
            <a:endParaRPr lang="en-AU"/>
          </a:p>
        </p:txBody>
      </p:sp>
      <p:sp>
        <p:nvSpPr>
          <p:cNvPr id="18" name="Oval 17" descr="Interactive spinner with numbers 1-10 and an infinite pile of purple counters.">
            <a:extLst>
              <a:ext uri="{FF2B5EF4-FFF2-40B4-BE49-F238E27FC236}">
                <a16:creationId xmlns:a16="http://schemas.microsoft.com/office/drawing/2014/main" id="{8C17BE2D-2740-4310-06A6-F9E57733CA2D}"/>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19" name="Oval 18" descr="Interactive spinner with numbers 1-10 and an infinite pile of purple counters.">
            <a:extLst>
              <a:ext uri="{FF2B5EF4-FFF2-40B4-BE49-F238E27FC236}">
                <a16:creationId xmlns:a16="http://schemas.microsoft.com/office/drawing/2014/main" id="{F61F89B6-8755-1F8B-2F77-BBE9901D4260}"/>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0" name="Oval 19" descr="Interactive spinner with numbers 1-10 and an infinite pile of purple counters.">
            <a:extLst>
              <a:ext uri="{FF2B5EF4-FFF2-40B4-BE49-F238E27FC236}">
                <a16:creationId xmlns:a16="http://schemas.microsoft.com/office/drawing/2014/main" id="{28803C2E-726F-3EBD-861F-8E36804BCB3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1" name="Oval 20" descr="Interactive spinner with numbers 1-10 and an infinite pile of purple counters.">
            <a:extLst>
              <a:ext uri="{FF2B5EF4-FFF2-40B4-BE49-F238E27FC236}">
                <a16:creationId xmlns:a16="http://schemas.microsoft.com/office/drawing/2014/main" id="{AD82F58D-E981-2045-02AB-3A7C2DC51D2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2" name="Oval 21" descr="Interactive spinner with numbers 1-10 and an infinite pile of purple counters.">
            <a:extLst>
              <a:ext uri="{FF2B5EF4-FFF2-40B4-BE49-F238E27FC236}">
                <a16:creationId xmlns:a16="http://schemas.microsoft.com/office/drawing/2014/main" id="{F89CE1AC-CA3D-F36B-25EA-DEC620C05D5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3" name="Oval 22" descr="Interactive spinner with numbers 1-10 and an infinite pile of purple counters.">
            <a:extLst>
              <a:ext uri="{FF2B5EF4-FFF2-40B4-BE49-F238E27FC236}">
                <a16:creationId xmlns:a16="http://schemas.microsoft.com/office/drawing/2014/main" id="{F918B0FF-E8B2-8DF5-B899-AC2908E9AA9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4" name="Oval 23" descr="Interactive spinner with numbers 1-10 and an infinite pile of purple counters.">
            <a:extLst>
              <a:ext uri="{FF2B5EF4-FFF2-40B4-BE49-F238E27FC236}">
                <a16:creationId xmlns:a16="http://schemas.microsoft.com/office/drawing/2014/main" id="{FBD42B86-0F32-65EA-0CFA-74518C01B3A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5" name="Oval 24" descr="Interactive spinner with numbers 1-10 and an infinite pile of purple counters.">
            <a:extLst>
              <a:ext uri="{FF2B5EF4-FFF2-40B4-BE49-F238E27FC236}">
                <a16:creationId xmlns:a16="http://schemas.microsoft.com/office/drawing/2014/main" id="{96536849-33C3-36B8-8300-EC6D697BE60B}"/>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6" name="Oval 25" descr="Interactive spinner with numbers 1-10 and an infinite pile of purple counters.">
            <a:extLst>
              <a:ext uri="{FF2B5EF4-FFF2-40B4-BE49-F238E27FC236}">
                <a16:creationId xmlns:a16="http://schemas.microsoft.com/office/drawing/2014/main" id="{CFBFE54A-988F-D4EF-EA0C-3452826FCA33}"/>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7" name="Oval 26" descr="Interactive spinner with numbers 1-10 and an infinite pile of purple counters.">
            <a:extLst>
              <a:ext uri="{FF2B5EF4-FFF2-40B4-BE49-F238E27FC236}">
                <a16:creationId xmlns:a16="http://schemas.microsoft.com/office/drawing/2014/main" id="{0FA25373-B72D-0B15-5357-C1FA15D274E2}"/>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8" name="Oval 27" descr="Interactive spinner with numbers 1-10 and an infinite pile of purple counters.">
            <a:extLst>
              <a:ext uri="{FF2B5EF4-FFF2-40B4-BE49-F238E27FC236}">
                <a16:creationId xmlns:a16="http://schemas.microsoft.com/office/drawing/2014/main" id="{F14B19CC-C513-3D4E-C958-C0D0498B5C2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9" name="Oval 28" descr="Interactive spinner with numbers 1-10 and an infinite pile of purple counters.">
            <a:extLst>
              <a:ext uri="{FF2B5EF4-FFF2-40B4-BE49-F238E27FC236}">
                <a16:creationId xmlns:a16="http://schemas.microsoft.com/office/drawing/2014/main" id="{5F8CEBC6-D749-8305-CD49-BFE4AEC050D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0" name="Oval 29" descr="Interactive spinner with numbers 1-10 and an infinite pile of purple counters.">
            <a:extLst>
              <a:ext uri="{FF2B5EF4-FFF2-40B4-BE49-F238E27FC236}">
                <a16:creationId xmlns:a16="http://schemas.microsoft.com/office/drawing/2014/main" id="{162E504A-23AC-7859-9098-B8A2C2175EB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1" name="Oval 30" descr="Interactive spinner with numbers 1-10 and an infinite pile of purple counters.">
            <a:extLst>
              <a:ext uri="{FF2B5EF4-FFF2-40B4-BE49-F238E27FC236}">
                <a16:creationId xmlns:a16="http://schemas.microsoft.com/office/drawing/2014/main" id="{06FCEB8B-A7A9-F0EE-6A56-0BE51389CEA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4" name="Oval 33" descr="Interactive spinner with numbers 1-10 and an infinite pile of purple counters.">
            <a:extLst>
              <a:ext uri="{FF2B5EF4-FFF2-40B4-BE49-F238E27FC236}">
                <a16:creationId xmlns:a16="http://schemas.microsoft.com/office/drawing/2014/main" id="{D3223F2C-F991-D62D-C07A-FAF1D5F7EA2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4" name="Oval 43" descr="Interactive spinner with numbers 1-10 and an infinite pile of purple counters.">
            <a:extLst>
              <a:ext uri="{FF2B5EF4-FFF2-40B4-BE49-F238E27FC236}">
                <a16:creationId xmlns:a16="http://schemas.microsoft.com/office/drawing/2014/main" id="{4D5931D8-408A-0600-AF01-0455FBB873FB}"/>
              </a:ext>
            </a:extLst>
          </p:cNvPr>
          <p:cNvSpPr/>
          <p:nvPr/>
        </p:nvSpPr>
        <p:spPr>
          <a:xfrm>
            <a:off x="8217129" y="1240736"/>
            <a:ext cx="480960" cy="472372"/>
          </a:xfrm>
          <a:prstGeom prst="ellipse">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6" name="Oval 45" descr="Interactive spinner with numbers 1-10 and an infinite pile of purple counters.">
            <a:extLst>
              <a:ext uri="{FF2B5EF4-FFF2-40B4-BE49-F238E27FC236}">
                <a16:creationId xmlns:a16="http://schemas.microsoft.com/office/drawing/2014/main" id="{EF368B17-B222-5A3C-4AC0-39069A81C2F8}"/>
              </a:ext>
            </a:extLst>
          </p:cNvPr>
          <p:cNvSpPr/>
          <p:nvPr/>
        </p:nvSpPr>
        <p:spPr>
          <a:xfrm>
            <a:off x="8217129" y="1240736"/>
            <a:ext cx="480960" cy="472372"/>
          </a:xfrm>
          <a:prstGeom prst="ellipse">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pic>
        <p:nvPicPr>
          <p:cNvPr id="5" name="Picture 4" descr="image of a head with cogs turning inside">
            <a:extLst>
              <a:ext uri="{FF2B5EF4-FFF2-40B4-BE49-F238E27FC236}">
                <a16:creationId xmlns:a16="http://schemas.microsoft.com/office/drawing/2014/main" id="{0B0A891C-E6E7-D441-E886-AF2C9ED4937A}"/>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9" name="Picture 8" descr="An example of Mystery equation. A whiteboard with blue check marks and black text. &#10;To play, students draw 6 boxes on an individual whiteboard. One player guesses the missing numbers in the equation. The other player uses a code above each box: a tick to indicate if it is correct, a cross if it is incorrect, or a circle if it is correct but in the wrong location.">
            <a:extLst>
              <a:ext uri="{FF2B5EF4-FFF2-40B4-BE49-F238E27FC236}">
                <a16:creationId xmlns:a16="http://schemas.microsoft.com/office/drawing/2014/main" id="{E1F68D41-DEEC-4D9F-95F9-4C86A22312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25216" y="1908310"/>
            <a:ext cx="7736696" cy="3469392"/>
          </a:xfrm>
          <a:prstGeom prst="rect">
            <a:avLst/>
          </a:prstGeom>
        </p:spPr>
      </p:pic>
    </p:spTree>
    <p:extLst>
      <p:ext uri="{BB962C8B-B14F-4D97-AF65-F5344CB8AC3E}">
        <p14:creationId xmlns:p14="http://schemas.microsoft.com/office/powerpoint/2010/main" val="217171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US" sz="4400">
                <a:latin typeface="Arial"/>
                <a:cs typeface="Arial"/>
              </a:rPr>
              <a:t>A number </a:t>
            </a:r>
            <a:r>
              <a:rPr lang="en-US" sz="4400" b="1">
                <a:latin typeface="Arial"/>
                <a:cs typeface="Arial"/>
              </a:rPr>
              <a:t>ending in zero</a:t>
            </a:r>
            <a:r>
              <a:rPr lang="en-US" sz="4400">
                <a:latin typeface="Arial"/>
                <a:cs typeface="Arial"/>
              </a:rPr>
              <a:t> is always a </a:t>
            </a:r>
            <a:r>
              <a:rPr lang="en-US" sz="4400" b="1">
                <a:latin typeface="Arial"/>
                <a:cs typeface="Arial"/>
              </a:rPr>
              <a:t>multiple of 10.</a:t>
            </a:r>
            <a:endParaRPr lang="en-US" sz="4400" b="1"/>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 your reasoning. </a:t>
            </a:r>
            <a:endParaRPr lang="en-US" sz="4400" b="1"/>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(21)</a:t>
            </a: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CB6CE154-7EF4-5E84-7A76-60EB4901558E}"/>
              </a:ext>
            </a:extLst>
          </p:cNvPr>
          <p:cNvSpPr txBox="1"/>
          <p:nvPr/>
        </p:nvSpPr>
        <p:spPr>
          <a:xfrm>
            <a:off x="466553" y="1099859"/>
            <a:ext cx="11267023" cy="3221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3600">
                <a:cs typeface="Arial"/>
              </a:rPr>
              <a:t>Shania has </a:t>
            </a:r>
            <a:r>
              <a:rPr lang="en-US" sz="3600" b="1">
                <a:cs typeface="Arial"/>
              </a:rPr>
              <a:t>$20.00</a:t>
            </a:r>
            <a:r>
              <a:rPr lang="en-US" sz="3600">
                <a:cs typeface="Arial"/>
              </a:rPr>
              <a:t> to buy her lunch. She wants a pie, a chocolate milk and an orange. </a:t>
            </a:r>
            <a:r>
              <a:rPr lang="en-US" sz="3600" b="1">
                <a:cs typeface="Arial"/>
              </a:rPr>
              <a:t>How much</a:t>
            </a:r>
            <a:r>
              <a:rPr lang="en-US" sz="3600">
                <a:cs typeface="Arial"/>
              </a:rPr>
              <a:t> did Shania </a:t>
            </a:r>
            <a:r>
              <a:rPr lang="en-US" sz="3600" b="1">
                <a:cs typeface="Arial"/>
              </a:rPr>
              <a:t>spend</a:t>
            </a:r>
            <a:r>
              <a:rPr lang="en-US" sz="3600">
                <a:cs typeface="Arial"/>
              </a:rPr>
              <a:t>? </a:t>
            </a:r>
            <a:r>
              <a:rPr lang="en-US" sz="3600" b="1">
                <a:cs typeface="Arial"/>
              </a:rPr>
              <a:t>How much change</a:t>
            </a:r>
            <a:r>
              <a:rPr lang="en-US" sz="3600">
                <a:cs typeface="Arial"/>
              </a:rPr>
              <a:t> will she get?</a:t>
            </a:r>
            <a:endParaRPr lang="en-US"/>
          </a:p>
          <a:p>
            <a:pPr>
              <a:lnSpc>
                <a:spcPct val="150000"/>
              </a:lnSpc>
            </a:pPr>
            <a:r>
              <a:rPr lang="en-US" sz="3600">
                <a:solidFill>
                  <a:schemeClr val="accent2"/>
                </a:solidFill>
                <a:cs typeface="Arial"/>
              </a:rPr>
              <a:t>        </a:t>
            </a:r>
            <a:endParaRPr lang="en-US">
              <a:solidFill>
                <a:schemeClr val="accent2"/>
              </a:solidFill>
              <a:cs typeface="Arial"/>
            </a:endParaRPr>
          </a:p>
        </p:txBody>
      </p:sp>
      <p:sp>
        <p:nvSpPr>
          <p:cNvPr id="10" name="TextBox 9">
            <a:extLst>
              <a:ext uri="{FF2B5EF4-FFF2-40B4-BE49-F238E27FC236}">
                <a16:creationId xmlns:a16="http://schemas.microsoft.com/office/drawing/2014/main" id="{4667A7EC-1609-9223-469F-1873D7B4AAE8}"/>
              </a:ext>
            </a:extLst>
          </p:cNvPr>
          <p:cNvSpPr txBox="1"/>
          <p:nvPr/>
        </p:nvSpPr>
        <p:spPr>
          <a:xfrm>
            <a:off x="3609385" y="3746011"/>
            <a:ext cx="5046256" cy="2769989"/>
          </a:xfrm>
          <a:prstGeom prst="rect">
            <a:avLst/>
          </a:prstGeom>
          <a:ln w="57150">
            <a:solidFill>
              <a:schemeClr val="accent2"/>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600">
                <a:cs typeface="Arial"/>
              </a:rPr>
              <a:t>	Pies $5.50</a:t>
            </a:r>
            <a:endParaRPr lang="en-US" sz="3600"/>
          </a:p>
          <a:p>
            <a:r>
              <a:rPr lang="en-US" sz="3600">
                <a:cs typeface="Arial"/>
              </a:rPr>
              <a:t>	Sausage rolls $4.50</a:t>
            </a:r>
          </a:p>
          <a:p>
            <a:r>
              <a:rPr lang="en-US" sz="3600">
                <a:cs typeface="Arial"/>
              </a:rPr>
              <a:t>	</a:t>
            </a:r>
            <a:r>
              <a:rPr lang="en-US" sz="3600" err="1">
                <a:cs typeface="Arial"/>
              </a:rPr>
              <a:t>Flavoured</a:t>
            </a:r>
            <a:r>
              <a:rPr lang="en-US" sz="3600">
                <a:cs typeface="Arial"/>
              </a:rPr>
              <a:t> milk $3.00</a:t>
            </a:r>
          </a:p>
          <a:p>
            <a:r>
              <a:rPr lang="en-US" sz="3600">
                <a:cs typeface="Arial"/>
              </a:rPr>
              <a:t>	All fruit 80c</a:t>
            </a:r>
          </a:p>
          <a:p>
            <a:r>
              <a:rPr lang="en-US" sz="3600">
                <a:cs typeface="Arial"/>
              </a:rPr>
              <a:t>	Yoghurt $2.50</a:t>
            </a:r>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Rectangle 1">
            <a:extLst>
              <a:ext uri="{FF2B5EF4-FFF2-40B4-BE49-F238E27FC236}">
                <a16:creationId xmlns:a16="http://schemas.microsoft.com/office/drawing/2014/main" id="{A2B4D77E-3EAA-4286-4C1C-454871CE29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3" name="Picture 12" descr="an open door">
            <a:extLst>
              <a:ext uri="{FF2B5EF4-FFF2-40B4-BE49-F238E27FC236}">
                <a16:creationId xmlns:a16="http://schemas.microsoft.com/office/drawing/2014/main" id="{AB161083-D42B-C9AF-2862-F9BA2B4C578B}"/>
              </a:ext>
            </a:extLst>
          </p:cNvPr>
          <p:cNvPicPr>
            <a:picLocks noChangeAspect="1"/>
          </p:cNvPicPr>
          <p:nvPr/>
        </p:nvPicPr>
        <p:blipFill>
          <a:blip r:embed="rId4"/>
          <a:stretch>
            <a:fillRect/>
          </a:stretch>
        </p:blipFill>
        <p:spPr>
          <a:xfrm>
            <a:off x="8457004" y="1569122"/>
            <a:ext cx="2666996" cy="3719756"/>
          </a:xfrm>
          <a:prstGeom prst="rect">
            <a:avLst/>
          </a:prstGeom>
        </p:spPr>
      </p:pic>
      <p:sp>
        <p:nvSpPr>
          <p:cNvPr id="14" name="Picture Placeholder 10">
            <a:extLst>
              <a:ext uri="{FF2B5EF4-FFF2-40B4-BE49-F238E27FC236}">
                <a16:creationId xmlns:a16="http://schemas.microsoft.com/office/drawing/2014/main" id="{ED22956C-CF58-8AC1-D171-FEF57ACC6B90}"/>
              </a:ext>
            </a:extLst>
          </p:cNvPr>
          <p:cNvSpPr>
            <a:spLocks noGrp="1"/>
          </p:cNvSpPr>
          <p:nvPr>
            <p:ph type="pic" sz="quarter" idx="21"/>
          </p:nvPr>
        </p:nvSpPr>
        <p:spPr>
          <a:xfrm>
            <a:off x="611569" y="1874565"/>
            <a:ext cx="7631605" cy="3457213"/>
          </a:xfrm>
        </p:spPr>
        <p:txBody>
          <a:bodyPr/>
          <a:lstStyle/>
          <a:p>
            <a:pPr algn="ctr"/>
            <a:r>
              <a:rPr lang="en-US" sz="4400" dirty="0">
                <a:latin typeface="Arial"/>
                <a:cs typeface="Arial"/>
              </a:rPr>
              <a:t>Draw an angle that could be created by the open door and label the arms and the vertex.</a:t>
            </a:r>
          </a:p>
          <a:p>
            <a:endParaRPr lang="en-US" dirty="0">
              <a:latin typeface="Arial"/>
              <a:cs typeface="Arial"/>
            </a:endParaRPr>
          </a:p>
        </p:txBody>
      </p:sp>
      <p:cxnSp>
        <p:nvCxnSpPr>
          <p:cNvPr id="16" name="Straight Arrow Connector 15">
            <a:extLst>
              <a:ext uri="{FF2B5EF4-FFF2-40B4-BE49-F238E27FC236}">
                <a16:creationId xmlns:a16="http://schemas.microsoft.com/office/drawing/2014/main" id="{A1282A28-1890-3158-8F78-6A1FD483F05F}"/>
              </a:ext>
            </a:extLst>
          </p:cNvPr>
          <p:cNvCxnSpPr>
            <a:cxnSpLocks/>
          </p:cNvCxnSpPr>
          <p:nvPr/>
        </p:nvCxnSpPr>
        <p:spPr>
          <a:xfrm flipH="1" flipV="1">
            <a:off x="10108503" y="4805685"/>
            <a:ext cx="713985" cy="5260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 </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US" sz="4400">
                <a:latin typeface="Arial"/>
                <a:cs typeface="Arial"/>
              </a:rPr>
              <a:t>Write an event that:</a:t>
            </a:r>
            <a:endParaRPr lang="en-US"/>
          </a:p>
          <a:p>
            <a:pPr algn="ctr"/>
            <a:r>
              <a:rPr lang="en-US" sz="4400">
                <a:latin typeface="Arial"/>
                <a:cs typeface="Arial"/>
              </a:rPr>
              <a:t>is </a:t>
            </a:r>
            <a:r>
              <a:rPr lang="en-US" sz="4400" b="1">
                <a:latin typeface="Arial"/>
                <a:cs typeface="Arial"/>
              </a:rPr>
              <a:t>likely</a:t>
            </a:r>
            <a:r>
              <a:rPr lang="en-US" sz="4400">
                <a:latin typeface="Arial"/>
                <a:cs typeface="Arial"/>
              </a:rPr>
              <a:t> to happen today.</a:t>
            </a:r>
            <a:endParaRPr lang="en-US"/>
          </a:p>
          <a:p>
            <a:pPr algn="ctr"/>
            <a:r>
              <a:rPr lang="en-US" sz="4400">
                <a:latin typeface="Arial"/>
                <a:cs typeface="Arial"/>
              </a:rPr>
              <a:t>is </a:t>
            </a:r>
            <a:r>
              <a:rPr lang="en-US" sz="4400" b="1">
                <a:latin typeface="Arial"/>
                <a:cs typeface="Arial"/>
              </a:rPr>
              <a:t>unlikely</a:t>
            </a:r>
            <a:r>
              <a:rPr lang="en-US" sz="4400">
                <a:latin typeface="Arial"/>
                <a:cs typeface="Arial"/>
              </a:rPr>
              <a:t> to happen today.</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7" name="TextBox 6">
            <a:extLst>
              <a:ext uri="{FF2B5EF4-FFF2-40B4-BE49-F238E27FC236}">
                <a16:creationId xmlns:a16="http://schemas.microsoft.com/office/drawing/2014/main" id="{D21B3D44-2347-2296-F7BA-C0915B7DBA86}"/>
              </a:ext>
            </a:extLst>
          </p:cNvPr>
          <p:cNvSpPr txBox="1"/>
          <p:nvPr/>
        </p:nvSpPr>
        <p:spPr>
          <a:xfrm>
            <a:off x="1250088" y="3033692"/>
            <a:ext cx="9764850"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b="1">
                <a:cs typeface="Arial"/>
              </a:rPr>
              <a:t>Draw</a:t>
            </a:r>
            <a:r>
              <a:rPr lang="en-US" sz="4400">
                <a:cs typeface="Arial"/>
              </a:rPr>
              <a:t> the </a:t>
            </a:r>
            <a:r>
              <a:rPr lang="en-US" sz="4400" b="1">
                <a:cs typeface="Arial"/>
              </a:rPr>
              <a:t>top view </a:t>
            </a:r>
            <a:r>
              <a:rPr lang="en-US" sz="4400">
                <a:cs typeface="Arial"/>
              </a:rPr>
              <a:t>of a </a:t>
            </a:r>
            <a:r>
              <a:rPr lang="en-US" sz="4400" b="1">
                <a:cs typeface="Arial"/>
              </a:rPr>
              <a:t>cube</a:t>
            </a:r>
            <a:r>
              <a:rPr lang="en-US" sz="4400">
                <a:cs typeface="Arial"/>
              </a:rPr>
              <a:t>.</a:t>
            </a:r>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1045C-5F90-CA78-C66E-E986C1547EC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32E69-68C8-0707-FB2F-1DA3D5CA277F}"/>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290C3FF6-F367-C090-601F-DA7EF7F79C55}"/>
              </a:ext>
            </a:extLst>
          </p:cNvPr>
          <p:cNvSpPr>
            <a:spLocks noGrp="1"/>
          </p:cNvSpPr>
          <p:nvPr>
            <p:ph type="title"/>
          </p:nvPr>
        </p:nvSpPr>
        <p:spPr>
          <a:xfrm>
            <a:off x="360000" y="360000"/>
            <a:ext cx="11484000" cy="545601"/>
          </a:xfrm>
        </p:spPr>
        <p:txBody>
          <a:bodyPr/>
          <a:lstStyle/>
          <a:p>
            <a:r>
              <a:rPr lang="en-AU">
                <a:latin typeface="Arial"/>
                <a:cs typeface="Arial"/>
              </a:rPr>
              <a:t>Activity 6 – find the numbers</a:t>
            </a:r>
            <a:endParaRPr lang="en-AU"/>
          </a:p>
        </p:txBody>
      </p:sp>
      <p:pic>
        <p:nvPicPr>
          <p:cNvPr id="5" name="Picture 4" descr="image of a head with cogs turning inside">
            <a:extLst>
              <a:ext uri="{FF2B5EF4-FFF2-40B4-BE49-F238E27FC236}">
                <a16:creationId xmlns:a16="http://schemas.microsoft.com/office/drawing/2014/main" id="{73D6EC62-3C78-76C1-5B80-6CCB4AD0A84A}"/>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7" name="Picture 6" descr="A box with 4 question marks above the box and the numbers 12, 28, 36 and 44 below the box. ">
            <a:extLst>
              <a:ext uri="{FF2B5EF4-FFF2-40B4-BE49-F238E27FC236}">
                <a16:creationId xmlns:a16="http://schemas.microsoft.com/office/drawing/2014/main" id="{62800F65-E7BB-754F-CF97-5E5020AA7A06}"/>
              </a:ext>
            </a:extLst>
          </p:cNvPr>
          <p:cNvPicPr>
            <a:picLocks noChangeAspect="1"/>
          </p:cNvPicPr>
          <p:nvPr/>
        </p:nvPicPr>
        <p:blipFill rotWithShape="1">
          <a:blip r:embed="rId4"/>
          <a:srcRect l="10035" t="498"/>
          <a:stretch/>
        </p:blipFill>
        <p:spPr bwMode="auto">
          <a:xfrm>
            <a:off x="4182199" y="1119052"/>
            <a:ext cx="3827602" cy="53969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8249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a:solidFill>
            <a:schemeClr val="bg1"/>
          </a:solidFill>
        </p:spPr>
        <p:txBody>
          <a:bodyPr/>
          <a:lstStyle/>
          <a:p>
            <a:r>
              <a:rPr lang="en-US">
                <a:latin typeface="Arial"/>
                <a:cs typeface="Arial"/>
              </a:rPr>
              <a:t>Multiple choice </a:t>
            </a:r>
            <a:r>
              <a:rPr lang="en-US">
                <a:solidFill>
                  <a:schemeClr val="bg1"/>
                </a:solidFill>
                <a:latin typeface="Arial"/>
                <a:cs typeface="Arial"/>
              </a:rPr>
              <a:t>(4)</a:t>
            </a:r>
          </a:p>
        </p:txBody>
      </p:sp>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964479" y="1284499"/>
            <a:ext cx="10263041" cy="831223"/>
          </a:xfrm>
        </p:spPr>
        <p:txBody>
          <a:bodyPr vert="horz" lIns="0" tIns="0" rIns="0" bIns="0" rtlCol="0" anchor="t">
            <a:noAutofit/>
          </a:bodyPr>
          <a:lstStyle/>
          <a:p>
            <a:pPr algn="ctr"/>
            <a:r>
              <a:rPr lang="en-US" sz="4400">
                <a:latin typeface="Arial"/>
                <a:cs typeface="Arial"/>
              </a:rPr>
              <a:t>Which </a:t>
            </a:r>
            <a:r>
              <a:rPr lang="en-US" sz="4400" b="1">
                <a:latin typeface="Arial"/>
                <a:cs typeface="Arial"/>
              </a:rPr>
              <a:t>facts</a:t>
            </a:r>
            <a:r>
              <a:rPr lang="en-US" sz="4400">
                <a:latin typeface="Arial"/>
                <a:cs typeface="Arial"/>
              </a:rPr>
              <a:t> match the </a:t>
            </a:r>
            <a:r>
              <a:rPr lang="en-US" sz="4400" b="1">
                <a:latin typeface="Arial"/>
                <a:cs typeface="Arial"/>
              </a:rPr>
              <a:t>fact family</a:t>
            </a:r>
            <a:r>
              <a:rPr lang="en-US" sz="4400">
                <a:latin typeface="Arial"/>
                <a:cs typeface="Arial"/>
              </a:rPr>
              <a:t>?</a:t>
            </a:r>
            <a:endParaRPr lang="en-US" sz="4400"/>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a:ln>
            <a:noFill/>
          </a:ln>
        </p:spPr>
      </p:pic>
      <p:grpSp>
        <p:nvGrpSpPr>
          <p:cNvPr id="6" name="Group 2" descr="fact family triangle with 24, 6, 4">
            <a:extLst>
              <a:ext uri="{FF2B5EF4-FFF2-40B4-BE49-F238E27FC236}">
                <a16:creationId xmlns:a16="http://schemas.microsoft.com/office/drawing/2014/main" id="{16B3123A-FA15-1871-943A-291D716254FD}"/>
              </a:ext>
            </a:extLst>
          </p:cNvPr>
          <p:cNvGrpSpPr/>
          <p:nvPr/>
        </p:nvGrpSpPr>
        <p:grpSpPr>
          <a:xfrm>
            <a:off x="391421" y="2748748"/>
            <a:ext cx="6204558" cy="2405855"/>
            <a:chOff x="0" y="0"/>
            <a:chExt cx="9074339" cy="3920286"/>
          </a:xfrm>
        </p:grpSpPr>
        <p:grpSp>
          <p:nvGrpSpPr>
            <p:cNvPr id="7" name="Group 3">
              <a:extLst>
                <a:ext uri="{FF2B5EF4-FFF2-40B4-BE49-F238E27FC236}">
                  <a16:creationId xmlns:a16="http://schemas.microsoft.com/office/drawing/2014/main" id="{A05EB9A2-B436-5379-50B1-14983A072EDF}"/>
                </a:ext>
              </a:extLst>
            </p:cNvPr>
            <p:cNvGrpSpPr/>
            <p:nvPr/>
          </p:nvGrpSpPr>
          <p:grpSpPr>
            <a:xfrm>
              <a:off x="0" y="0"/>
              <a:ext cx="9074339" cy="3908410"/>
              <a:chOff x="0" y="0"/>
              <a:chExt cx="1527813" cy="658044"/>
            </a:xfrm>
          </p:grpSpPr>
          <p:sp>
            <p:nvSpPr>
              <p:cNvPr id="11" name="Freeform 4">
                <a:extLst>
                  <a:ext uri="{FF2B5EF4-FFF2-40B4-BE49-F238E27FC236}">
                    <a16:creationId xmlns:a16="http://schemas.microsoft.com/office/drawing/2014/main" id="{847D9C99-A308-1A3A-F25A-A5C55A8B2A35}"/>
                  </a:ext>
                </a:extLst>
              </p:cNvPr>
              <p:cNvSpPr/>
              <p:nvPr/>
            </p:nvSpPr>
            <p:spPr>
              <a:xfrm>
                <a:off x="0" y="0"/>
                <a:ext cx="812800" cy="658044"/>
              </a:xfrm>
              <a:custGeom>
                <a:avLst/>
                <a:gdLst/>
                <a:ahLst/>
                <a:cxnLst/>
                <a:rect l="l" t="t" r="r" b="b"/>
                <a:pathLst>
                  <a:path w="812800" h="658044">
                    <a:moveTo>
                      <a:pt x="406400" y="0"/>
                    </a:moveTo>
                    <a:lnTo>
                      <a:pt x="812800" y="658044"/>
                    </a:lnTo>
                    <a:lnTo>
                      <a:pt x="0" y="658044"/>
                    </a:lnTo>
                    <a:lnTo>
                      <a:pt x="406400" y="0"/>
                    </a:lnTo>
                    <a:close/>
                  </a:path>
                </a:pathLst>
              </a:custGeom>
              <a:solidFill>
                <a:srgbClr val="00B050"/>
              </a:solidFill>
              <a:ln w="9525" cap="sq">
                <a:solidFill>
                  <a:srgbClr val="000000"/>
                </a:solidFill>
                <a:prstDash val="solid"/>
                <a:miter/>
              </a:ln>
            </p:spPr>
            <p:txBody>
              <a:bodyPr/>
              <a:lstStyle/>
              <a:p>
                <a:endParaRPr lang="en-AU"/>
              </a:p>
            </p:txBody>
          </p:sp>
          <p:sp>
            <p:nvSpPr>
              <p:cNvPr id="12" name="TextBox 5">
                <a:extLst>
                  <a:ext uri="{FF2B5EF4-FFF2-40B4-BE49-F238E27FC236}">
                    <a16:creationId xmlns:a16="http://schemas.microsoft.com/office/drawing/2014/main" id="{6338A8BC-D404-1AB0-7ADB-6C70D857F7CC}"/>
                  </a:ext>
                </a:extLst>
              </p:cNvPr>
              <p:cNvSpPr txBox="1"/>
              <p:nvPr/>
            </p:nvSpPr>
            <p:spPr>
              <a:xfrm>
                <a:off x="969013" y="330895"/>
                <a:ext cx="558800" cy="324571"/>
              </a:xfrm>
              <a:prstGeom prst="rect">
                <a:avLst/>
              </a:prstGeom>
              <a:solidFill>
                <a:schemeClr val="bg1"/>
              </a:solidFill>
            </p:spPr>
            <p:txBody>
              <a:bodyPr lIns="10377" tIns="10377" rIns="10377" bIns="10377" rtlCol="0" anchor="ctr"/>
              <a:lstStyle/>
              <a:p>
                <a:pPr algn="ctr">
                  <a:lnSpc>
                    <a:spcPts val="760"/>
                  </a:lnSpc>
                </a:pPr>
                <a:endParaRPr/>
              </a:p>
            </p:txBody>
          </p:sp>
        </p:grpSp>
        <p:sp>
          <p:nvSpPr>
            <p:cNvPr id="8" name="TextBox 6">
              <a:extLst>
                <a:ext uri="{FF2B5EF4-FFF2-40B4-BE49-F238E27FC236}">
                  <a16:creationId xmlns:a16="http://schemas.microsoft.com/office/drawing/2014/main" id="{C33CCF4F-D761-558E-F731-13D4A3D15C80}"/>
                </a:ext>
              </a:extLst>
            </p:cNvPr>
            <p:cNvSpPr txBox="1"/>
            <p:nvPr/>
          </p:nvSpPr>
          <p:spPr>
            <a:xfrm>
              <a:off x="2006625" y="646788"/>
              <a:ext cx="830439" cy="996639"/>
            </a:xfrm>
            <a:prstGeom prst="rect">
              <a:avLst/>
            </a:prstGeom>
            <a:solidFill>
              <a:srgbClr val="00B050"/>
            </a:solidFill>
          </p:spPr>
          <p:txBody>
            <a:bodyPr wrap="square"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24</a:t>
              </a:r>
            </a:p>
          </p:txBody>
        </p:sp>
        <p:sp>
          <p:nvSpPr>
            <p:cNvPr id="9" name="TextBox 7">
              <a:extLst>
                <a:ext uri="{FF2B5EF4-FFF2-40B4-BE49-F238E27FC236}">
                  <a16:creationId xmlns:a16="http://schemas.microsoft.com/office/drawing/2014/main" id="{019A9692-3FB9-FEF4-42EA-0E90A414D01F}"/>
                </a:ext>
              </a:extLst>
            </p:cNvPr>
            <p:cNvSpPr txBox="1"/>
            <p:nvPr/>
          </p:nvSpPr>
          <p:spPr>
            <a:xfrm>
              <a:off x="661507" y="2923647"/>
              <a:ext cx="519935" cy="996639"/>
            </a:xfrm>
            <a:prstGeom prst="rect">
              <a:avLst/>
            </a:prstGeom>
            <a:solidFill>
              <a:srgbClr val="00B050"/>
            </a:solidFill>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6</a:t>
              </a:r>
            </a:p>
          </p:txBody>
        </p:sp>
        <p:sp>
          <p:nvSpPr>
            <p:cNvPr id="10" name="TextBox 8">
              <a:extLst>
                <a:ext uri="{FF2B5EF4-FFF2-40B4-BE49-F238E27FC236}">
                  <a16:creationId xmlns:a16="http://schemas.microsoft.com/office/drawing/2014/main" id="{BC547832-B184-7FA8-7370-B2202875BAD1}"/>
                </a:ext>
              </a:extLst>
            </p:cNvPr>
            <p:cNvSpPr txBox="1"/>
            <p:nvPr/>
          </p:nvSpPr>
          <p:spPr>
            <a:xfrm>
              <a:off x="3498631" y="2851738"/>
              <a:ext cx="519935" cy="996639"/>
            </a:xfrm>
            <a:prstGeom prst="rect">
              <a:avLst/>
            </a:prstGeom>
            <a:solidFill>
              <a:srgbClr val="00B050"/>
            </a:solidFill>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4</a:t>
              </a:r>
            </a:p>
          </p:txBody>
        </p:sp>
      </p:grpSp>
      <p:graphicFrame>
        <p:nvGraphicFramePr>
          <p:cNvPr id="13" name="Table 12" descr="A multiple choice table of number facts.">
            <a:extLst>
              <a:ext uri="{FF2B5EF4-FFF2-40B4-BE49-F238E27FC236}">
                <a16:creationId xmlns:a16="http://schemas.microsoft.com/office/drawing/2014/main" id="{E866D58E-2F80-7CA5-1CD1-74B0DC4D4061}"/>
              </a:ext>
            </a:extLst>
          </p:cNvPr>
          <p:cNvGraphicFramePr>
            <a:graphicFrameLocks noGrp="1"/>
          </p:cNvGraphicFramePr>
          <p:nvPr>
            <p:extLst>
              <p:ext uri="{D42A27DB-BD31-4B8C-83A1-F6EECF244321}">
                <p14:modId xmlns:p14="http://schemas.microsoft.com/office/powerpoint/2010/main" val="3981297896"/>
              </p:ext>
            </p:extLst>
          </p:nvPr>
        </p:nvGraphicFramePr>
        <p:xfrm>
          <a:off x="4144564" y="2604655"/>
          <a:ext cx="7656016" cy="3017595"/>
        </p:xfrm>
        <a:graphic>
          <a:graphicData uri="http://schemas.openxmlformats.org/drawingml/2006/table">
            <a:tbl>
              <a:tblPr firstRow="1" bandRow="1">
                <a:tableStyleId>{5940675A-B579-460E-94D1-54222C63F5DA}</a:tableStyleId>
              </a:tblPr>
              <a:tblGrid>
                <a:gridCol w="1914004">
                  <a:extLst>
                    <a:ext uri="{9D8B030D-6E8A-4147-A177-3AD203B41FA5}">
                      <a16:colId xmlns:a16="http://schemas.microsoft.com/office/drawing/2014/main" val="1310075776"/>
                    </a:ext>
                  </a:extLst>
                </a:gridCol>
                <a:gridCol w="1914004">
                  <a:extLst>
                    <a:ext uri="{9D8B030D-6E8A-4147-A177-3AD203B41FA5}">
                      <a16:colId xmlns:a16="http://schemas.microsoft.com/office/drawing/2014/main" val="1628074379"/>
                    </a:ext>
                  </a:extLst>
                </a:gridCol>
                <a:gridCol w="1914004">
                  <a:extLst>
                    <a:ext uri="{9D8B030D-6E8A-4147-A177-3AD203B41FA5}">
                      <a16:colId xmlns:a16="http://schemas.microsoft.com/office/drawing/2014/main" val="416989475"/>
                    </a:ext>
                  </a:extLst>
                </a:gridCol>
                <a:gridCol w="1914004">
                  <a:extLst>
                    <a:ext uri="{9D8B030D-6E8A-4147-A177-3AD203B41FA5}">
                      <a16:colId xmlns:a16="http://schemas.microsoft.com/office/drawing/2014/main" val="1424368267"/>
                    </a:ext>
                  </a:extLst>
                </a:gridCol>
              </a:tblGrid>
              <a:tr h="624727">
                <a:tc>
                  <a:txBody>
                    <a:bodyPr/>
                    <a:lstStyle/>
                    <a:p>
                      <a:pPr algn="ctr"/>
                      <a:r>
                        <a:rPr lang="en-US" sz="3200" b="1"/>
                        <a:t>A</a:t>
                      </a:r>
                    </a:p>
                  </a:txBody>
                  <a:tcPr>
                    <a:solidFill>
                      <a:schemeClr val="accent3"/>
                    </a:solidFill>
                  </a:tcPr>
                </a:tc>
                <a:tc>
                  <a:txBody>
                    <a:bodyPr/>
                    <a:lstStyle/>
                    <a:p>
                      <a:pPr algn="ctr"/>
                      <a:r>
                        <a:rPr lang="en-US" sz="3200" b="1"/>
                        <a:t>B</a:t>
                      </a:r>
                    </a:p>
                  </a:txBody>
                  <a:tcPr>
                    <a:solidFill>
                      <a:schemeClr val="accent3"/>
                    </a:solidFill>
                  </a:tcPr>
                </a:tc>
                <a:tc>
                  <a:txBody>
                    <a:bodyPr/>
                    <a:lstStyle/>
                    <a:p>
                      <a:pPr algn="ctr"/>
                      <a:r>
                        <a:rPr lang="en-US" sz="3200" b="1"/>
                        <a:t>C</a:t>
                      </a:r>
                    </a:p>
                  </a:txBody>
                  <a:tcPr>
                    <a:solidFill>
                      <a:schemeClr val="accent3"/>
                    </a:solidFill>
                  </a:tcPr>
                </a:tc>
                <a:tc>
                  <a:txBody>
                    <a:bodyPr/>
                    <a:lstStyle/>
                    <a:p>
                      <a:pPr algn="ctr"/>
                      <a:r>
                        <a:rPr lang="en-US" sz="3200" b="1"/>
                        <a:t>D</a:t>
                      </a:r>
                    </a:p>
                  </a:txBody>
                  <a:tcPr>
                    <a:solidFill>
                      <a:schemeClr val="accent3"/>
                    </a:solidFill>
                  </a:tcPr>
                </a:tc>
                <a:extLst>
                  <a:ext uri="{0D108BD9-81ED-4DB2-BD59-A6C34878D82A}">
                    <a16:rowId xmlns:a16="http://schemas.microsoft.com/office/drawing/2014/main" val="4148435857"/>
                  </a:ext>
                </a:extLst>
              </a:tr>
              <a:tr h="2392868">
                <a:tc>
                  <a:txBody>
                    <a:bodyPr/>
                    <a:lstStyle/>
                    <a:p>
                      <a:pPr algn="ctr">
                        <a:lnSpc>
                          <a:spcPct val="150000"/>
                        </a:lnSpc>
                      </a:pPr>
                      <a:r>
                        <a:rPr lang="en-US" sz="2400"/>
                        <a:t>24 ÷ 4 = 24</a:t>
                      </a:r>
                    </a:p>
                    <a:p>
                      <a:pPr lvl="0" algn="ctr">
                        <a:lnSpc>
                          <a:spcPct val="150000"/>
                        </a:lnSpc>
                        <a:buNone/>
                      </a:pPr>
                      <a:r>
                        <a:rPr lang="en-US" sz="2400"/>
                        <a:t>4 ÷ 24 = 6</a:t>
                      </a:r>
                    </a:p>
                    <a:p>
                      <a:pPr lvl="0" algn="ctr">
                        <a:lnSpc>
                          <a:spcPct val="150000"/>
                        </a:lnSpc>
                        <a:buNone/>
                      </a:pPr>
                      <a:r>
                        <a:rPr lang="en-US" sz="2400"/>
                        <a:t>6 x 4   = 24</a:t>
                      </a:r>
                    </a:p>
                    <a:p>
                      <a:pPr lvl="0" algn="ctr">
                        <a:lnSpc>
                          <a:spcPct val="150000"/>
                        </a:lnSpc>
                        <a:buNone/>
                      </a:pPr>
                      <a:r>
                        <a:rPr lang="en-US" sz="2400"/>
                        <a:t>4 x 24 = 6</a:t>
                      </a:r>
                    </a:p>
                  </a:txBody>
                  <a:tcPr/>
                </a:tc>
                <a:tc>
                  <a:txBody>
                    <a:bodyPr/>
                    <a:lstStyle/>
                    <a:p>
                      <a:pPr algn="ctr">
                        <a:lnSpc>
                          <a:spcPct val="150000"/>
                        </a:lnSpc>
                      </a:pPr>
                      <a:r>
                        <a:rPr lang="en-US" sz="2400"/>
                        <a:t>6 ÷ 4 = 24</a:t>
                      </a:r>
                    </a:p>
                    <a:p>
                      <a:pPr lvl="0" algn="ctr">
                        <a:lnSpc>
                          <a:spcPct val="150000"/>
                        </a:lnSpc>
                        <a:buNone/>
                      </a:pPr>
                      <a:r>
                        <a:rPr lang="en-US" sz="2400"/>
                        <a:t>4 x 6 = 24</a:t>
                      </a:r>
                    </a:p>
                    <a:p>
                      <a:pPr lvl="0" algn="ctr">
                        <a:lnSpc>
                          <a:spcPct val="150000"/>
                        </a:lnSpc>
                        <a:buNone/>
                      </a:pPr>
                      <a:r>
                        <a:rPr lang="en-US" sz="2400"/>
                        <a:t>4 ÷ 24 = 6</a:t>
                      </a:r>
                    </a:p>
                    <a:p>
                      <a:pPr lvl="0" algn="ctr">
                        <a:lnSpc>
                          <a:spcPct val="150000"/>
                        </a:lnSpc>
                        <a:buNone/>
                      </a:pPr>
                      <a:r>
                        <a:rPr lang="en-US" sz="2400"/>
                        <a:t>24 ÷ 6 = 4</a:t>
                      </a:r>
                    </a:p>
                  </a:txBody>
                  <a:tcPr/>
                </a:tc>
                <a:tc>
                  <a:txBody>
                    <a:bodyPr/>
                    <a:lstStyle/>
                    <a:p>
                      <a:pPr algn="ctr">
                        <a:lnSpc>
                          <a:spcPct val="150000"/>
                        </a:lnSpc>
                      </a:pPr>
                      <a:r>
                        <a:rPr lang="en-US" sz="2400"/>
                        <a:t>6 + 4 = 24</a:t>
                      </a:r>
                    </a:p>
                    <a:p>
                      <a:pPr lvl="0" algn="ctr">
                        <a:lnSpc>
                          <a:spcPct val="150000"/>
                        </a:lnSpc>
                        <a:buNone/>
                      </a:pPr>
                      <a:r>
                        <a:rPr lang="en-US" sz="2400"/>
                        <a:t>24 - 6 = 4</a:t>
                      </a:r>
                    </a:p>
                    <a:p>
                      <a:pPr lvl="0" algn="ctr">
                        <a:lnSpc>
                          <a:spcPct val="150000"/>
                        </a:lnSpc>
                        <a:buNone/>
                      </a:pPr>
                      <a:r>
                        <a:rPr lang="en-US" sz="2400"/>
                        <a:t>4 x 6 = 24</a:t>
                      </a:r>
                    </a:p>
                    <a:p>
                      <a:pPr lvl="0" algn="ctr">
                        <a:lnSpc>
                          <a:spcPct val="150000"/>
                        </a:lnSpc>
                        <a:buNone/>
                      </a:pPr>
                      <a:r>
                        <a:rPr lang="en-US" sz="2400"/>
                        <a:t>6 x 4 = 24</a:t>
                      </a:r>
                    </a:p>
                  </a:txBody>
                  <a:tcPr/>
                </a:tc>
                <a:tc>
                  <a:txBody>
                    <a:bodyPr/>
                    <a:lstStyle/>
                    <a:p>
                      <a:pPr algn="ctr">
                        <a:lnSpc>
                          <a:spcPct val="150000"/>
                        </a:lnSpc>
                      </a:pPr>
                      <a:r>
                        <a:rPr lang="en-US" sz="2400"/>
                        <a:t>6 x 4 = 24</a:t>
                      </a:r>
                    </a:p>
                    <a:p>
                      <a:pPr lvl="0" algn="ctr">
                        <a:lnSpc>
                          <a:spcPct val="150000"/>
                        </a:lnSpc>
                        <a:buNone/>
                      </a:pPr>
                      <a:r>
                        <a:rPr lang="en-US" sz="2400"/>
                        <a:t>24 ÷  4 = 6</a:t>
                      </a:r>
                    </a:p>
                    <a:p>
                      <a:pPr lvl="0" algn="ctr">
                        <a:lnSpc>
                          <a:spcPct val="150000"/>
                        </a:lnSpc>
                        <a:buNone/>
                      </a:pPr>
                      <a:r>
                        <a:rPr lang="en-US" sz="2400"/>
                        <a:t>4 x 6 = 24</a:t>
                      </a:r>
                    </a:p>
                    <a:p>
                      <a:pPr lvl="0" algn="ctr">
                        <a:lnSpc>
                          <a:spcPct val="150000"/>
                        </a:lnSpc>
                        <a:buNone/>
                      </a:pPr>
                      <a:r>
                        <a:rPr lang="en-US" sz="2400"/>
                        <a:t>24 ÷ 6 = 4</a:t>
                      </a:r>
                    </a:p>
                  </a:txBody>
                  <a:tcPr/>
                </a:tc>
                <a:extLst>
                  <a:ext uri="{0D108BD9-81ED-4DB2-BD59-A6C34878D82A}">
                    <a16:rowId xmlns:a16="http://schemas.microsoft.com/office/drawing/2014/main" val="3508803202"/>
                  </a:ext>
                </a:extLst>
              </a:tr>
            </a:tbl>
          </a:graphicData>
        </a:graphic>
      </p:graphicFrame>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7" name="TextBox 6">
            <a:extLst>
              <a:ext uri="{FF2B5EF4-FFF2-40B4-BE49-F238E27FC236}">
                <a16:creationId xmlns:a16="http://schemas.microsoft.com/office/drawing/2014/main" id="{5AF654EF-8E51-C369-2683-BEFBD8CCA2C3}"/>
              </a:ext>
            </a:extLst>
          </p:cNvPr>
          <p:cNvSpPr txBox="1"/>
          <p:nvPr/>
        </p:nvSpPr>
        <p:spPr>
          <a:xfrm>
            <a:off x="731520" y="1092005"/>
            <a:ext cx="10871518" cy="40626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t>Use your knowledge of </a:t>
            </a:r>
            <a:r>
              <a:rPr lang="en-US" sz="4400" b="1"/>
              <a:t>multiples of 10 </a:t>
            </a:r>
            <a:r>
              <a:rPr lang="en-US" sz="4400"/>
              <a:t>to solve:</a:t>
            </a:r>
          </a:p>
          <a:p>
            <a:pPr algn="ctr"/>
            <a:endParaRPr lang="en-US" sz="4400"/>
          </a:p>
          <a:p>
            <a:pPr algn="ctr"/>
            <a:r>
              <a:rPr lang="en-US" sz="4400"/>
              <a:t>70 x 4</a:t>
            </a:r>
          </a:p>
          <a:p>
            <a:pPr algn="ctr"/>
            <a:endParaRPr lang="en-US" sz="4400"/>
          </a:p>
          <a:p>
            <a:pPr algn="ctr"/>
            <a:r>
              <a:rPr lang="en-US" sz="4400"/>
              <a:t>Communicate your thinking</a:t>
            </a:r>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 </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r>
              <a:rPr lang="en-AU" sz="4400" dirty="0"/>
              <a:t>For each </a:t>
            </a:r>
            <a:r>
              <a:rPr lang="en-AU" sz="4400" b="1" dirty="0"/>
              <a:t>angle</a:t>
            </a:r>
            <a:r>
              <a:rPr lang="en-AU" sz="4400" dirty="0"/>
              <a:t>, decide if it is </a:t>
            </a:r>
            <a:r>
              <a:rPr lang="en-AU" sz="4400" b="1" dirty="0"/>
              <a:t>less than</a:t>
            </a:r>
            <a:r>
              <a:rPr lang="en-AU" sz="4400" dirty="0"/>
              <a:t>, </a:t>
            </a:r>
            <a:r>
              <a:rPr lang="en-AU" sz="4400" b="1" dirty="0"/>
              <a:t>equal to</a:t>
            </a:r>
            <a:r>
              <a:rPr lang="en-AU" sz="4400" dirty="0"/>
              <a:t>, </a:t>
            </a:r>
            <a:r>
              <a:rPr lang="en-AU" sz="4400" b="1" dirty="0"/>
              <a:t>about the same as</a:t>
            </a:r>
            <a:r>
              <a:rPr lang="en-AU" sz="4400" dirty="0"/>
              <a:t>, or </a:t>
            </a:r>
            <a:r>
              <a:rPr lang="en-AU" sz="4400" b="1" dirty="0"/>
              <a:t>greater than </a:t>
            </a:r>
            <a:r>
              <a:rPr lang="en-AU" sz="4400" dirty="0"/>
              <a:t>a </a:t>
            </a:r>
            <a:r>
              <a:rPr lang="en-AU" sz="4400" b="1" dirty="0"/>
              <a:t>right angle</a:t>
            </a:r>
            <a:r>
              <a:rPr lang="en-AU" sz="4400" dirty="0"/>
              <a:t>.</a:t>
            </a:r>
          </a:p>
          <a:p>
            <a:pPr algn="ctr"/>
            <a:endParaRPr lang="en-US" sz="4400" dirty="0"/>
          </a:p>
          <a:p>
            <a:endParaRPr lang="en-US" dirty="0"/>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12" name="Picture 11" descr="obtuse angle">
            <a:extLst>
              <a:ext uri="{FF2B5EF4-FFF2-40B4-BE49-F238E27FC236}">
                <a16:creationId xmlns:a16="http://schemas.microsoft.com/office/drawing/2014/main" id="{89BD369C-6F54-683B-C69E-EAB0296C724F}"/>
              </a:ext>
            </a:extLst>
          </p:cNvPr>
          <p:cNvPicPr>
            <a:picLocks noChangeAspect="1"/>
          </p:cNvPicPr>
          <p:nvPr/>
        </p:nvPicPr>
        <p:blipFill>
          <a:blip r:embed="rId4"/>
          <a:stretch>
            <a:fillRect/>
          </a:stretch>
        </p:blipFill>
        <p:spPr>
          <a:xfrm>
            <a:off x="993095" y="4318313"/>
            <a:ext cx="2835290" cy="1539332"/>
          </a:xfrm>
          <a:prstGeom prst="rect">
            <a:avLst/>
          </a:prstGeom>
        </p:spPr>
      </p:pic>
      <p:pic>
        <p:nvPicPr>
          <p:cNvPr id="14" name="Picture 13" descr="acute angle ">
            <a:extLst>
              <a:ext uri="{FF2B5EF4-FFF2-40B4-BE49-F238E27FC236}">
                <a16:creationId xmlns:a16="http://schemas.microsoft.com/office/drawing/2014/main" id="{FFC17A24-C92A-4E4B-E01E-14381E3046C9}"/>
              </a:ext>
            </a:extLst>
          </p:cNvPr>
          <p:cNvPicPr>
            <a:picLocks noChangeAspect="1"/>
          </p:cNvPicPr>
          <p:nvPr/>
        </p:nvPicPr>
        <p:blipFill>
          <a:blip r:embed="rId5"/>
          <a:stretch>
            <a:fillRect/>
          </a:stretch>
        </p:blipFill>
        <p:spPr>
          <a:xfrm>
            <a:off x="4844985" y="4109088"/>
            <a:ext cx="2502029" cy="2197213"/>
          </a:xfrm>
          <a:prstGeom prst="rect">
            <a:avLst/>
          </a:prstGeom>
        </p:spPr>
      </p:pic>
      <p:sp>
        <p:nvSpPr>
          <p:cNvPr id="15" name="TextBox 14">
            <a:extLst>
              <a:ext uri="{FF2B5EF4-FFF2-40B4-BE49-F238E27FC236}">
                <a16:creationId xmlns:a16="http://schemas.microsoft.com/office/drawing/2014/main" id="{CD6CCE08-27F9-1CD4-5ECC-E6C53EF1BCDD}"/>
              </a:ext>
            </a:extLst>
          </p:cNvPr>
          <p:cNvSpPr txBox="1"/>
          <p:nvPr/>
        </p:nvSpPr>
        <p:spPr>
          <a:xfrm>
            <a:off x="743017" y="5091672"/>
            <a:ext cx="500155" cy="322809"/>
          </a:xfrm>
          <a:prstGeom prst="rect">
            <a:avLst/>
          </a:prstGeom>
          <a:noFill/>
        </p:spPr>
        <p:txBody>
          <a:bodyPr wrap="square" lIns="0" tIns="0" rIns="0" bIns="0" rtlCol="0">
            <a:noAutofit/>
          </a:bodyPr>
          <a:lstStyle/>
          <a:p>
            <a:pPr algn="l"/>
            <a:r>
              <a:rPr lang="en-AU" sz="4400"/>
              <a:t>A</a:t>
            </a:r>
          </a:p>
        </p:txBody>
      </p:sp>
      <p:pic>
        <p:nvPicPr>
          <p:cNvPr id="18" name="Picture 17" descr="right angle">
            <a:extLst>
              <a:ext uri="{FF2B5EF4-FFF2-40B4-BE49-F238E27FC236}">
                <a16:creationId xmlns:a16="http://schemas.microsoft.com/office/drawing/2014/main" id="{9639AE78-FE69-776D-2886-9690BA376554}"/>
              </a:ext>
            </a:extLst>
          </p:cNvPr>
          <p:cNvPicPr>
            <a:picLocks noChangeAspect="1"/>
          </p:cNvPicPr>
          <p:nvPr/>
        </p:nvPicPr>
        <p:blipFill>
          <a:blip r:embed="rId6"/>
          <a:stretch>
            <a:fillRect/>
          </a:stretch>
        </p:blipFill>
        <p:spPr>
          <a:xfrm>
            <a:off x="8707115" y="4014448"/>
            <a:ext cx="2248016" cy="2044805"/>
          </a:xfrm>
          <a:prstGeom prst="rect">
            <a:avLst/>
          </a:prstGeom>
        </p:spPr>
      </p:pic>
      <p:sp>
        <p:nvSpPr>
          <p:cNvPr id="19" name="TextBox 18">
            <a:extLst>
              <a:ext uri="{FF2B5EF4-FFF2-40B4-BE49-F238E27FC236}">
                <a16:creationId xmlns:a16="http://schemas.microsoft.com/office/drawing/2014/main" id="{FF63706B-2EA0-6F8C-0ADA-BF735C45240E}"/>
              </a:ext>
            </a:extLst>
          </p:cNvPr>
          <p:cNvSpPr txBox="1"/>
          <p:nvPr/>
        </p:nvSpPr>
        <p:spPr>
          <a:xfrm>
            <a:off x="4605181" y="5207694"/>
            <a:ext cx="500155" cy="206787"/>
          </a:xfrm>
          <a:prstGeom prst="rect">
            <a:avLst/>
          </a:prstGeom>
          <a:noFill/>
        </p:spPr>
        <p:txBody>
          <a:bodyPr wrap="square" lIns="0" tIns="0" rIns="0" bIns="0" rtlCol="0">
            <a:noAutofit/>
          </a:bodyPr>
          <a:lstStyle/>
          <a:p>
            <a:pPr algn="l"/>
            <a:r>
              <a:rPr lang="en-AU" sz="4400"/>
              <a:t>B</a:t>
            </a:r>
          </a:p>
        </p:txBody>
      </p:sp>
      <p:sp>
        <p:nvSpPr>
          <p:cNvPr id="20" name="TextBox 19">
            <a:extLst>
              <a:ext uri="{FF2B5EF4-FFF2-40B4-BE49-F238E27FC236}">
                <a16:creationId xmlns:a16="http://schemas.microsoft.com/office/drawing/2014/main" id="{E5A23ACC-4E67-4173-D36B-2E5A0DF4B1AA}"/>
              </a:ext>
            </a:extLst>
          </p:cNvPr>
          <p:cNvSpPr txBox="1"/>
          <p:nvPr/>
        </p:nvSpPr>
        <p:spPr>
          <a:xfrm>
            <a:off x="8457037" y="5149682"/>
            <a:ext cx="500155" cy="322809"/>
          </a:xfrm>
          <a:prstGeom prst="rect">
            <a:avLst/>
          </a:prstGeom>
          <a:noFill/>
        </p:spPr>
        <p:txBody>
          <a:bodyPr wrap="square" lIns="0" tIns="0" rIns="0" bIns="0" rtlCol="0">
            <a:noAutofit/>
          </a:bodyPr>
          <a:lstStyle/>
          <a:p>
            <a:pPr algn="l"/>
            <a:r>
              <a:rPr lang="en-AU" sz="4400"/>
              <a:t>C</a:t>
            </a:r>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A bar graph titled 'Gaming devices in homes (1)'. The various gaming types and results are as follows: game console = 40, smartphone = 35, PC = 30, tablet = 21, handheld = 3 and VR = 2.">
            <a:extLst>
              <a:ext uri="{FF2B5EF4-FFF2-40B4-BE49-F238E27FC236}">
                <a16:creationId xmlns:a16="http://schemas.microsoft.com/office/drawing/2014/main" id="{3FA3E495-BC18-B33E-9E9D-52EF4AE88FC7}"/>
              </a:ext>
            </a:extLst>
          </p:cNvPr>
          <p:cNvPicPr>
            <a:picLocks noChangeAspect="1"/>
          </p:cNvPicPr>
          <p:nvPr/>
        </p:nvPicPr>
        <p:blipFill>
          <a:blip r:embed="rId4"/>
          <a:stretch>
            <a:fillRect/>
          </a:stretch>
        </p:blipFill>
        <p:spPr>
          <a:xfrm>
            <a:off x="13241" y="1184223"/>
            <a:ext cx="7252263" cy="4646743"/>
          </a:xfrm>
          <a:prstGeom prst="rect">
            <a:avLst/>
          </a:prstGeom>
        </p:spPr>
      </p:pic>
      <p:sp>
        <p:nvSpPr>
          <p:cNvPr id="12" name="TextBox 11">
            <a:extLst>
              <a:ext uri="{FF2B5EF4-FFF2-40B4-BE49-F238E27FC236}">
                <a16:creationId xmlns:a16="http://schemas.microsoft.com/office/drawing/2014/main" id="{26F5435C-CEB7-C2C5-D35C-90D1450FB864}"/>
              </a:ext>
            </a:extLst>
          </p:cNvPr>
          <p:cNvSpPr txBox="1"/>
          <p:nvPr/>
        </p:nvSpPr>
        <p:spPr>
          <a:xfrm>
            <a:off x="7056784" y="2097156"/>
            <a:ext cx="4721086" cy="3806687"/>
          </a:xfrm>
          <a:prstGeom prst="rect">
            <a:avLst/>
          </a:prstGeom>
          <a:noFill/>
        </p:spPr>
        <p:txBody>
          <a:bodyPr wrap="square" lIns="0" tIns="0" rIns="0" bIns="0" rtlCol="0">
            <a:noAutofit/>
          </a:bodyPr>
          <a:lstStyle/>
          <a:p>
            <a:pPr algn="ctr"/>
            <a:r>
              <a:rPr lang="en-AU" sz="4400"/>
              <a:t>Create a list or table to </a:t>
            </a:r>
            <a:r>
              <a:rPr lang="en-AU" sz="4400" b="1"/>
              <a:t>organise</a:t>
            </a:r>
            <a:r>
              <a:rPr lang="en-AU" sz="4400"/>
              <a:t> the </a:t>
            </a:r>
            <a:r>
              <a:rPr lang="en-AU" sz="4400" b="1"/>
              <a:t>data.</a:t>
            </a:r>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81466" y="2273234"/>
            <a:ext cx="11221572" cy="2730735"/>
          </a:xfrm>
        </p:spPr>
        <p:txBody>
          <a:bodyPr/>
          <a:lstStyle/>
          <a:p>
            <a:pPr algn="ctr"/>
            <a:r>
              <a:rPr lang="en-US" sz="4400">
                <a:latin typeface="Arial"/>
                <a:cs typeface="Arial"/>
              </a:rPr>
              <a:t>Record </a:t>
            </a:r>
            <a:r>
              <a:rPr lang="en-US" sz="4400" b="1">
                <a:latin typeface="Arial"/>
                <a:cs typeface="Arial"/>
              </a:rPr>
              <a:t>5 items</a:t>
            </a:r>
            <a:r>
              <a:rPr lang="en-US" sz="4400">
                <a:latin typeface="Arial"/>
                <a:cs typeface="Arial"/>
              </a:rPr>
              <a:t> that have </a:t>
            </a:r>
            <a:r>
              <a:rPr lang="en-US" sz="4400" b="1">
                <a:latin typeface="Arial"/>
                <a:cs typeface="Arial"/>
              </a:rPr>
              <a:t>right angles </a:t>
            </a:r>
            <a:r>
              <a:rPr lang="en-US" sz="4400">
                <a:latin typeface="Arial"/>
                <a:cs typeface="Arial"/>
              </a:rPr>
              <a:t>that you can see in the classroom.</a:t>
            </a:r>
            <a:endParaRPr lang="en-US"/>
          </a:p>
          <a:p>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7 – array fact families </a:t>
            </a:r>
          </a:p>
        </p:txBody>
      </p:sp>
      <p:pic>
        <p:nvPicPr>
          <p:cNvPr id="53" name="Picture 52" descr="image of a head with cogs turning inside">
            <a:extLst>
              <a:ext uri="{FF2B5EF4-FFF2-40B4-BE49-F238E27FC236}">
                <a16:creationId xmlns:a16="http://schemas.microsoft.com/office/drawing/2014/main" id="{C1A8149C-1711-5461-B794-500EE60A92AF}"/>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5" name="Picture 4" descr="An example of a student response with an array containing 5 rows of 8 and the product of 40.&#10;&#10;The fact family number sentences recorded are: 5 × 8 = 40, 8 × 5 = 40, 40 divided by 5 = 8 and 40 divided by 8 = 5.">
            <a:extLst>
              <a:ext uri="{FF2B5EF4-FFF2-40B4-BE49-F238E27FC236}">
                <a16:creationId xmlns:a16="http://schemas.microsoft.com/office/drawing/2014/main" id="{322FD577-CFA1-BB9B-9276-833085608B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702" y="2251962"/>
            <a:ext cx="10699622" cy="2753139"/>
          </a:xfrm>
          <a:prstGeom prst="rect">
            <a:avLst/>
          </a:prstGeom>
        </p:spPr>
      </p:pic>
    </p:spTree>
    <p:extLst>
      <p:ext uri="{BB962C8B-B14F-4D97-AF65-F5344CB8AC3E}">
        <p14:creationId xmlns:p14="http://schemas.microsoft.com/office/powerpoint/2010/main" val="347537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 </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70936" y="1172057"/>
            <a:ext cx="11217725" cy="4220884"/>
          </a:xfrm>
        </p:spPr>
        <p:txBody>
          <a:bodyPr vert="horz" lIns="0" tIns="0" rIns="0" bIns="0" rtlCol="0" anchor="t">
            <a:noAutofit/>
          </a:bodyPr>
          <a:lstStyle/>
          <a:p>
            <a:pPr algn="ctr"/>
            <a:r>
              <a:rPr lang="en-AU" sz="3200" b="1">
                <a:latin typeface="Arial"/>
                <a:cs typeface="Arial"/>
              </a:rPr>
              <a:t>Fact families</a:t>
            </a:r>
            <a:r>
              <a:rPr lang="en-AU" sz="3200">
                <a:latin typeface="Arial"/>
                <a:cs typeface="Arial"/>
              </a:rPr>
              <a:t> help us recall </a:t>
            </a:r>
            <a:r>
              <a:rPr lang="en-AU" sz="3200" b="1">
                <a:latin typeface="Arial"/>
                <a:cs typeface="Arial"/>
              </a:rPr>
              <a:t>number facts</a:t>
            </a:r>
            <a:r>
              <a:rPr lang="en-AU" sz="3200">
                <a:latin typeface="Arial"/>
                <a:cs typeface="Arial"/>
              </a:rPr>
              <a:t> quickly. They show the </a:t>
            </a:r>
            <a:r>
              <a:rPr lang="en-AU" sz="3200" b="1">
                <a:latin typeface="Arial"/>
                <a:cs typeface="Arial"/>
              </a:rPr>
              <a:t>inverse relationship</a:t>
            </a:r>
            <a:r>
              <a:rPr lang="en-AU" sz="3200">
                <a:latin typeface="Arial"/>
                <a:cs typeface="Arial"/>
              </a:rPr>
              <a:t> between </a:t>
            </a:r>
            <a:r>
              <a:rPr lang="en-AU" sz="3200" b="1">
                <a:latin typeface="Arial"/>
                <a:cs typeface="Arial"/>
              </a:rPr>
              <a:t>multiplication and division.</a:t>
            </a:r>
            <a:br>
              <a:rPr lang="en-US" sz="3600">
                <a:latin typeface="Arial"/>
                <a:cs typeface="Arial"/>
              </a:rPr>
            </a:br>
            <a:endParaRPr lang="en-US" sz="3600" b="1"/>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a:ln>
            <a:noFill/>
          </a:ln>
        </p:spPr>
      </p:pic>
      <p:grpSp>
        <p:nvGrpSpPr>
          <p:cNvPr id="8" name="Group 9" descr="fact family triangle with 20, 5, 4">
            <a:extLst>
              <a:ext uri="{FF2B5EF4-FFF2-40B4-BE49-F238E27FC236}">
                <a16:creationId xmlns:a16="http://schemas.microsoft.com/office/drawing/2014/main" id="{75659344-4AFA-E8B2-3A39-39DE4D41E58A}"/>
              </a:ext>
            </a:extLst>
          </p:cNvPr>
          <p:cNvGrpSpPr/>
          <p:nvPr/>
        </p:nvGrpSpPr>
        <p:grpSpPr>
          <a:xfrm>
            <a:off x="4525122" y="3429000"/>
            <a:ext cx="2909352" cy="2118020"/>
            <a:chOff x="0" y="0"/>
            <a:chExt cx="4827569" cy="3908410"/>
          </a:xfrm>
        </p:grpSpPr>
        <p:sp>
          <p:nvSpPr>
            <p:cNvPr id="14" name="Freeform 11">
              <a:extLst>
                <a:ext uri="{FF2B5EF4-FFF2-40B4-BE49-F238E27FC236}">
                  <a16:creationId xmlns:a16="http://schemas.microsoft.com/office/drawing/2014/main" id="{6FBA5B83-AAA1-B75A-F597-88FF982C5D27}"/>
                </a:ext>
              </a:extLst>
            </p:cNvPr>
            <p:cNvSpPr/>
            <p:nvPr/>
          </p:nvSpPr>
          <p:spPr>
            <a:xfrm>
              <a:off x="0" y="0"/>
              <a:ext cx="4827569" cy="3908410"/>
            </a:xfrm>
            <a:custGeom>
              <a:avLst/>
              <a:gdLst/>
              <a:ahLst/>
              <a:cxnLst/>
              <a:rect l="l" t="t" r="r" b="b"/>
              <a:pathLst>
                <a:path w="812800" h="658044">
                  <a:moveTo>
                    <a:pt x="406400" y="0"/>
                  </a:moveTo>
                  <a:lnTo>
                    <a:pt x="812800" y="658044"/>
                  </a:lnTo>
                  <a:lnTo>
                    <a:pt x="0" y="658044"/>
                  </a:lnTo>
                  <a:lnTo>
                    <a:pt x="406400" y="0"/>
                  </a:lnTo>
                  <a:close/>
                </a:path>
              </a:pathLst>
            </a:custGeom>
            <a:solidFill>
              <a:schemeClr val="accent6"/>
            </a:solidFill>
            <a:ln w="9525" cap="sq">
              <a:solidFill>
                <a:srgbClr val="000000"/>
              </a:solidFill>
              <a:prstDash val="solid"/>
              <a:miter/>
            </a:ln>
          </p:spPr>
          <p:txBody>
            <a:bodyPr/>
            <a:lstStyle/>
            <a:p>
              <a:endParaRPr lang="en-AU">
                <a:latin typeface="Edu NSW ACT Foundation" pitchFamily="2" charset="0"/>
              </a:endParaRPr>
            </a:p>
          </p:txBody>
        </p:sp>
        <p:sp>
          <p:nvSpPr>
            <p:cNvPr id="10" name="TextBox 13">
              <a:extLst>
                <a:ext uri="{FF2B5EF4-FFF2-40B4-BE49-F238E27FC236}">
                  <a16:creationId xmlns:a16="http://schemas.microsoft.com/office/drawing/2014/main" id="{5CE12DD0-3ECD-49B5-8003-5200306A3CC1}"/>
                </a:ext>
              </a:extLst>
            </p:cNvPr>
            <p:cNvSpPr txBox="1"/>
            <p:nvPr/>
          </p:nvSpPr>
          <p:spPr>
            <a:xfrm>
              <a:off x="2053561" y="623363"/>
              <a:ext cx="720445" cy="865872"/>
            </a:xfrm>
            <a:prstGeom prst="rect">
              <a:avLst/>
            </a:prstGeom>
            <a:solidFill>
              <a:schemeClr val="accent6"/>
            </a:solidFill>
          </p:spPr>
          <p:txBody>
            <a:bodyPr wrap="square" lIns="0" tIns="0" rIns="0" bIns="0" rtlCol="0" anchor="t">
              <a:spAutoFit/>
            </a:bodyPr>
            <a:lstStyle/>
            <a:p>
              <a:pPr algn="ctr">
                <a:lnSpc>
                  <a:spcPts val="4742"/>
                </a:lnSpc>
              </a:pPr>
              <a:r>
                <a:rPr lang="en-US" sz="3350">
                  <a:solidFill>
                    <a:srgbClr val="000000"/>
                  </a:solidFill>
                  <a:latin typeface="Edu NSW ACT Foundation"/>
                  <a:ea typeface="Canva Student Font"/>
                  <a:cs typeface="Canva Student Font"/>
                </a:rPr>
                <a:t>32</a:t>
              </a:r>
              <a:endParaRPr lang="en-US" sz="3350">
                <a:solidFill>
                  <a:srgbClr val="000000"/>
                </a:solidFill>
                <a:latin typeface="Edu NSW ACT Foundation" pitchFamily="2" charset="0"/>
                <a:ea typeface="Canva Student Font"/>
                <a:cs typeface="Canva Student Font"/>
              </a:endParaRPr>
            </a:p>
          </p:txBody>
        </p:sp>
        <p:sp>
          <p:nvSpPr>
            <p:cNvPr id="11" name="TextBox 14">
              <a:extLst>
                <a:ext uri="{FF2B5EF4-FFF2-40B4-BE49-F238E27FC236}">
                  <a16:creationId xmlns:a16="http://schemas.microsoft.com/office/drawing/2014/main" id="{938EE032-569F-2C1C-F9A9-2E25C96A6CF4}"/>
                </a:ext>
              </a:extLst>
            </p:cNvPr>
            <p:cNvSpPr txBox="1"/>
            <p:nvPr/>
          </p:nvSpPr>
          <p:spPr>
            <a:xfrm>
              <a:off x="695056" y="2805110"/>
              <a:ext cx="519934" cy="865873"/>
            </a:xfrm>
            <a:prstGeom prst="rect">
              <a:avLst/>
            </a:prstGeom>
            <a:solidFill>
              <a:schemeClr val="accent6"/>
            </a:solidFill>
          </p:spPr>
          <p:txBody>
            <a:bodyPr lIns="0" tIns="0" rIns="0" bIns="0" rtlCol="0" anchor="t">
              <a:spAutoFit/>
            </a:bodyPr>
            <a:lstStyle/>
            <a:p>
              <a:pPr algn="ctr">
                <a:lnSpc>
                  <a:spcPts val="4742"/>
                </a:lnSpc>
              </a:pPr>
              <a:r>
                <a:rPr lang="en-US" sz="3350">
                  <a:solidFill>
                    <a:srgbClr val="000000"/>
                  </a:solidFill>
                  <a:latin typeface="Edu NSW ACT Foundation" pitchFamily="2" charset="0"/>
                  <a:ea typeface="Canva Student Font"/>
                  <a:cs typeface="Canva Student Font"/>
                </a:rPr>
                <a:t>8</a:t>
              </a:r>
            </a:p>
          </p:txBody>
        </p:sp>
        <p:sp>
          <p:nvSpPr>
            <p:cNvPr id="13" name="TextBox 15">
              <a:extLst>
                <a:ext uri="{FF2B5EF4-FFF2-40B4-BE49-F238E27FC236}">
                  <a16:creationId xmlns:a16="http://schemas.microsoft.com/office/drawing/2014/main" id="{485C25CF-ABF2-921E-5EF0-1EDE9E32647E}"/>
                </a:ext>
              </a:extLst>
            </p:cNvPr>
            <p:cNvSpPr txBox="1"/>
            <p:nvPr/>
          </p:nvSpPr>
          <p:spPr>
            <a:xfrm>
              <a:off x="3478283" y="2799803"/>
              <a:ext cx="519934" cy="746127"/>
            </a:xfrm>
            <a:prstGeom prst="rect">
              <a:avLst/>
            </a:prstGeom>
            <a:solidFill>
              <a:schemeClr val="accent6"/>
            </a:solidFill>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4</a:t>
              </a:r>
            </a:p>
          </p:txBody>
        </p:sp>
      </p:gr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29" name="TextBox 128">
            <a:extLst>
              <a:ext uri="{FF2B5EF4-FFF2-40B4-BE49-F238E27FC236}">
                <a16:creationId xmlns:a16="http://schemas.microsoft.com/office/drawing/2014/main" id="{57A4BBB4-4CB9-B8F3-654A-10A85DF4A9ED}"/>
              </a:ext>
            </a:extLst>
          </p:cNvPr>
          <p:cNvSpPr txBox="1"/>
          <p:nvPr/>
        </p:nvSpPr>
        <p:spPr>
          <a:xfrm>
            <a:off x="360000" y="1752036"/>
            <a:ext cx="11577483" cy="39520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a:cs typeface="Arial"/>
              </a:rPr>
              <a:t>48 </a:t>
            </a:r>
            <a:r>
              <a:rPr lang="en-AU" sz="4400"/>
              <a:t>students are arranged into teams with the </a:t>
            </a:r>
            <a:r>
              <a:rPr lang="en-AU" sz="4400" b="1"/>
              <a:t>same number </a:t>
            </a:r>
            <a:r>
              <a:rPr lang="en-AU" sz="4400"/>
              <a:t>in each. </a:t>
            </a:r>
          </a:p>
          <a:p>
            <a:pPr algn="ctr"/>
            <a:endParaRPr lang="en-AU" sz="4400"/>
          </a:p>
          <a:p>
            <a:pPr algn="ctr"/>
            <a:r>
              <a:rPr lang="en-AU" sz="4400"/>
              <a:t>How many teams are there and how many students might be in each?</a:t>
            </a:r>
          </a:p>
          <a:p>
            <a:pPr algn="ctr">
              <a:lnSpc>
                <a:spcPct val="150000"/>
              </a:lnSpc>
            </a:pPr>
            <a:endParaRPr lang="en-US" sz="2800">
              <a:cs typeface="Arial"/>
            </a:endParaRPr>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457BF489-C25B-AF1D-C28F-65BA30EDDA77}"/>
              </a:ext>
            </a:extLst>
          </p:cNvPr>
          <p:cNvSpPr txBox="1"/>
          <p:nvPr/>
        </p:nvSpPr>
        <p:spPr>
          <a:xfrm>
            <a:off x="539438" y="1273545"/>
            <a:ext cx="11109959"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How many angles are there are in a single door in your classroom?</a:t>
            </a:r>
          </a:p>
          <a:p>
            <a:pPr algn="ctr">
              <a:lnSpc>
                <a:spcPct val="150000"/>
              </a:lnSpc>
            </a:pPr>
            <a:r>
              <a:rPr lang="en-US" sz="4400">
                <a:cs typeface="Arial"/>
              </a:rPr>
              <a:t> </a:t>
            </a:r>
            <a:r>
              <a:rPr lang="en-US" sz="4400" b="1">
                <a:cs typeface="Arial"/>
              </a:rPr>
              <a:t>Communicate your reasoning.</a:t>
            </a:r>
            <a:endParaRPr lang="en-US" b="1">
              <a:cs typeface="Arial"/>
            </a:endParaRPr>
          </a:p>
        </p:txBody>
      </p:sp>
      <p:pic>
        <p:nvPicPr>
          <p:cNvPr id="5" name="Graphic 4" descr="Door Closed with solid fill">
            <a:extLst>
              <a:ext uri="{FF2B5EF4-FFF2-40B4-BE49-F238E27FC236}">
                <a16:creationId xmlns:a16="http://schemas.microsoft.com/office/drawing/2014/main" id="{0209F969-F704-8C0D-1926-D8D084CBB4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19187" y="4296998"/>
            <a:ext cx="2524663" cy="2309002"/>
          </a:xfrm>
          <a:prstGeom prst="rect">
            <a:avLst/>
          </a:prstGeom>
        </p:spPr>
      </p:pic>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5" name="Picture 4" descr="Survey data using tally marks&#10;Performing arts: 5&#10;Sports: 8&#10;Visual arts: 2&#10;Technolgy: 3&#10;Athletics: 4&#10;Hobbies: 7">
            <a:extLst>
              <a:ext uri="{FF2B5EF4-FFF2-40B4-BE49-F238E27FC236}">
                <a16:creationId xmlns:a16="http://schemas.microsoft.com/office/drawing/2014/main" id="{7898CBAA-9165-4379-EA31-CA09C776C5A9}"/>
              </a:ext>
            </a:extLst>
          </p:cNvPr>
          <p:cNvPicPr>
            <a:picLocks noChangeAspect="1"/>
          </p:cNvPicPr>
          <p:nvPr/>
        </p:nvPicPr>
        <p:blipFill>
          <a:blip r:embed="rId4"/>
          <a:stretch>
            <a:fillRect/>
          </a:stretch>
        </p:blipFill>
        <p:spPr>
          <a:xfrm>
            <a:off x="647430" y="1031755"/>
            <a:ext cx="4283555" cy="524018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6" name="TextBox 5">
            <a:extLst>
              <a:ext uri="{FF2B5EF4-FFF2-40B4-BE49-F238E27FC236}">
                <a16:creationId xmlns:a16="http://schemas.microsoft.com/office/drawing/2014/main" id="{C6082B26-B696-F8D1-A72A-F7B6C1715C80}"/>
              </a:ext>
            </a:extLst>
          </p:cNvPr>
          <p:cNvSpPr txBox="1"/>
          <p:nvPr/>
        </p:nvSpPr>
        <p:spPr>
          <a:xfrm>
            <a:off x="5497861" y="1918768"/>
            <a:ext cx="6105177"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Use the </a:t>
            </a:r>
            <a:r>
              <a:rPr lang="en-US" sz="4400" b="1" dirty="0">
                <a:cs typeface="Arial"/>
              </a:rPr>
              <a:t>tally marks to </a:t>
            </a:r>
            <a:r>
              <a:rPr lang="en-US" sz="4400" dirty="0">
                <a:cs typeface="Arial"/>
              </a:rPr>
              <a:t>about to create a dot plot.</a:t>
            </a:r>
          </a:p>
        </p:txBody>
      </p:sp>
      <p:sp>
        <p:nvSpPr>
          <p:cNvPr id="7" name="TextBox 6">
            <a:extLst>
              <a:ext uri="{FF2B5EF4-FFF2-40B4-BE49-F238E27FC236}">
                <a16:creationId xmlns:a16="http://schemas.microsoft.com/office/drawing/2014/main" id="{A16021CC-911B-BE9A-3C76-E1A4520FD7EC}"/>
              </a:ext>
            </a:extLst>
          </p:cNvPr>
          <p:cNvSpPr txBox="1"/>
          <p:nvPr/>
        </p:nvSpPr>
        <p:spPr>
          <a:xfrm>
            <a:off x="778212" y="1172825"/>
            <a:ext cx="2256021" cy="547563"/>
          </a:xfrm>
          <a:prstGeom prst="rect">
            <a:avLst/>
          </a:prstGeom>
          <a:noFill/>
          <a:ln w="28575">
            <a:solidFill>
              <a:srgbClr val="9242CF"/>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1800"/>
          </a:p>
        </p:txBody>
      </p:sp>
      <p:sp>
        <p:nvSpPr>
          <p:cNvPr id="9" name="TextBox 8" descr="A tally board of school activities.&#10;Performing arts has 5, sports has 8, visual arts has 2, technology has 3, athletics has 4, hobbies has 7.">
            <a:extLst>
              <a:ext uri="{FF2B5EF4-FFF2-40B4-BE49-F238E27FC236}">
                <a16:creationId xmlns:a16="http://schemas.microsoft.com/office/drawing/2014/main" id="{EC393766-2037-7F5F-FC26-A3A86268A0BA}"/>
              </a:ext>
            </a:extLst>
          </p:cNvPr>
          <p:cNvSpPr txBox="1"/>
          <p:nvPr/>
        </p:nvSpPr>
        <p:spPr>
          <a:xfrm>
            <a:off x="778211" y="3430070"/>
            <a:ext cx="2256021" cy="547563"/>
          </a:xfrm>
          <a:prstGeom prst="rect">
            <a:avLst/>
          </a:prstGeom>
          <a:noFill/>
          <a:ln w="28575">
            <a:solidFill>
              <a:srgbClr val="9242CF"/>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1800"/>
          </a:p>
        </p:txBody>
      </p:sp>
      <p:sp>
        <p:nvSpPr>
          <p:cNvPr id="10" name="TextBox 9">
            <a:extLst>
              <a:ext uri="{FF2B5EF4-FFF2-40B4-BE49-F238E27FC236}">
                <a16:creationId xmlns:a16="http://schemas.microsoft.com/office/drawing/2014/main" id="{93A8BB32-8D8D-9463-457D-D66C48F702D9}"/>
              </a:ext>
              <a:ext uri="{C183D7F6-B498-43B3-948B-1728B52AA6E4}">
                <adec:decorative xmlns:adec="http://schemas.microsoft.com/office/drawing/2017/decorative" val="1"/>
              </a:ext>
            </a:extLst>
          </p:cNvPr>
          <p:cNvSpPr txBox="1"/>
          <p:nvPr/>
        </p:nvSpPr>
        <p:spPr>
          <a:xfrm>
            <a:off x="766007" y="2745473"/>
            <a:ext cx="2256021" cy="547563"/>
          </a:xfrm>
          <a:prstGeom prst="rect">
            <a:avLst/>
          </a:prstGeom>
          <a:noFill/>
          <a:ln w="28575">
            <a:solidFill>
              <a:srgbClr val="9242CF"/>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1800"/>
          </a:p>
        </p:txBody>
      </p:sp>
      <p:sp>
        <p:nvSpPr>
          <p:cNvPr id="12" name="TextBox 11">
            <a:extLst>
              <a:ext uri="{FF2B5EF4-FFF2-40B4-BE49-F238E27FC236}">
                <a16:creationId xmlns:a16="http://schemas.microsoft.com/office/drawing/2014/main" id="{C6CF3787-DC7E-16C9-9815-65B2FF940A31}"/>
              </a:ext>
              <a:ext uri="{C183D7F6-B498-43B3-948B-1728B52AA6E4}">
                <adec:decorative xmlns:adec="http://schemas.microsoft.com/office/drawing/2017/decorative" val="1"/>
              </a:ext>
            </a:extLst>
          </p:cNvPr>
          <p:cNvSpPr txBox="1"/>
          <p:nvPr/>
        </p:nvSpPr>
        <p:spPr>
          <a:xfrm>
            <a:off x="778210" y="4292710"/>
            <a:ext cx="2256021" cy="547563"/>
          </a:xfrm>
          <a:prstGeom prst="rect">
            <a:avLst/>
          </a:prstGeom>
          <a:noFill/>
          <a:ln w="28575">
            <a:solidFill>
              <a:srgbClr val="9242CF"/>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1800"/>
          </a:p>
        </p:txBody>
      </p:sp>
      <p:sp>
        <p:nvSpPr>
          <p:cNvPr id="13" name="TextBox 12">
            <a:extLst>
              <a:ext uri="{FF2B5EF4-FFF2-40B4-BE49-F238E27FC236}">
                <a16:creationId xmlns:a16="http://schemas.microsoft.com/office/drawing/2014/main" id="{0DB03178-5BFB-9CB2-B807-0DE0F8CFBC69}"/>
              </a:ext>
              <a:ext uri="{C183D7F6-B498-43B3-948B-1728B52AA6E4}">
                <adec:decorative xmlns:adec="http://schemas.microsoft.com/office/drawing/2017/decorative" val="1"/>
              </a:ext>
            </a:extLst>
          </p:cNvPr>
          <p:cNvSpPr txBox="1"/>
          <p:nvPr/>
        </p:nvSpPr>
        <p:spPr>
          <a:xfrm>
            <a:off x="778210" y="5025955"/>
            <a:ext cx="2256021" cy="547563"/>
          </a:xfrm>
          <a:prstGeom prst="rect">
            <a:avLst/>
          </a:prstGeom>
          <a:noFill/>
          <a:ln w="28575">
            <a:solidFill>
              <a:srgbClr val="9242CF"/>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endParaRPr lang="en-US" sz="1800"/>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(34)</a:t>
            </a:r>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10" name="TextBox 9">
            <a:extLst>
              <a:ext uri="{FF2B5EF4-FFF2-40B4-BE49-F238E27FC236}">
                <a16:creationId xmlns:a16="http://schemas.microsoft.com/office/drawing/2014/main" id="{6F141943-82E3-9EF3-4E0A-961E3AE7383C}"/>
              </a:ext>
            </a:extLst>
          </p:cNvPr>
          <p:cNvSpPr txBox="1"/>
          <p:nvPr/>
        </p:nvSpPr>
        <p:spPr>
          <a:xfrm>
            <a:off x="451691" y="1265600"/>
            <a:ext cx="10672309" cy="1446550"/>
          </a:xfrm>
          <a:prstGeom prst="rect">
            <a:avLst/>
          </a:prstGeom>
          <a:noFill/>
        </p:spPr>
        <p:txBody>
          <a:bodyPr wrap="square" lIns="91440" tIns="45720" rIns="91440" bIns="45720" anchor="t">
            <a:spAutoFit/>
          </a:bodyPr>
          <a:lstStyle/>
          <a:p>
            <a:pPr algn="ctr"/>
            <a:r>
              <a:rPr lang="en-AU" sz="4400" dirty="0"/>
              <a:t>John said the time was </a:t>
            </a:r>
            <a:r>
              <a:rPr lang="en-AU" sz="4400" b="1" dirty="0"/>
              <a:t>quarter past </a:t>
            </a:r>
            <a:r>
              <a:rPr lang="en-AU" sz="4400" dirty="0"/>
              <a:t>10. How many minutes is that past 10?</a:t>
            </a:r>
            <a:endParaRPr lang="en-AU" sz="4400" dirty="0">
              <a:cs typeface="Arial"/>
            </a:endParaRP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25EFCEF7-0C5E-28A9-FE05-F6F8C156F43B}"/>
              </a:ext>
            </a:extLst>
          </p:cNvPr>
          <p:cNvSpPr txBox="1"/>
          <p:nvPr/>
        </p:nvSpPr>
        <p:spPr>
          <a:xfrm>
            <a:off x="360001" y="3890800"/>
            <a:ext cx="11120800" cy="1446550"/>
          </a:xfrm>
          <a:prstGeom prst="rect">
            <a:avLst/>
          </a:prstGeom>
          <a:noFill/>
        </p:spPr>
        <p:txBody>
          <a:bodyPr wrap="square" lIns="91440" tIns="45720" rIns="91440" bIns="45720" anchor="t">
            <a:spAutoFit/>
          </a:bodyPr>
          <a:lstStyle/>
          <a:p>
            <a:pPr algn="ctr"/>
            <a:r>
              <a:rPr lang="en-AU" sz="4400" dirty="0"/>
              <a:t>Sandreen said the time was </a:t>
            </a:r>
            <a:r>
              <a:rPr lang="en-AU" sz="4400" b="1" dirty="0"/>
              <a:t>quarter to </a:t>
            </a:r>
            <a:r>
              <a:rPr lang="en-AU" sz="4400" dirty="0"/>
              <a:t>10. How many minutes is that before 10?</a:t>
            </a:r>
            <a:endParaRPr lang="en-AU" sz="4400" dirty="0">
              <a:cs typeface="Arial"/>
            </a:endParaRPr>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0A72-2996-CB1D-124F-F0184490F8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18066-5363-5EA1-42A7-43C9E9C4CA76}"/>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A3A78C06-448C-5351-6974-261336393B3A}"/>
              </a:ext>
            </a:extLst>
          </p:cNvPr>
          <p:cNvSpPr>
            <a:spLocks noGrp="1"/>
          </p:cNvSpPr>
          <p:nvPr>
            <p:ph type="title"/>
          </p:nvPr>
        </p:nvSpPr>
        <p:spPr>
          <a:xfrm>
            <a:off x="360000" y="360000"/>
            <a:ext cx="11484000" cy="545601"/>
          </a:xfrm>
        </p:spPr>
        <p:txBody>
          <a:bodyPr/>
          <a:lstStyle/>
          <a:p>
            <a:r>
              <a:rPr lang="en-AU">
                <a:latin typeface="Arial"/>
                <a:cs typeface="Arial"/>
              </a:rPr>
              <a:t>Activity 8 – mystery equations 2</a:t>
            </a:r>
            <a:endParaRPr lang="en-AU"/>
          </a:p>
        </p:txBody>
      </p:sp>
      <p:pic>
        <p:nvPicPr>
          <p:cNvPr id="5" name="Picture 4" descr="image of a head with cogs turning inside">
            <a:extLst>
              <a:ext uri="{FF2B5EF4-FFF2-40B4-BE49-F238E27FC236}">
                <a16:creationId xmlns:a16="http://schemas.microsoft.com/office/drawing/2014/main" id="{C95D9371-26C8-CE57-E565-A041D4084BF4}"/>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6" name="Picture 5" descr="An example of Mystery equation. A whiteboard with blue check marks and black text. &#10;To play, students draw 6 boxes on an individual whiteboard. One player guesses the missing numbers in the equation. The other player uses a code above each box: a tick to indicate if it is correct, a cross if it is incorrect, or a circle if it is correct but in the wrong location.">
            <a:extLst>
              <a:ext uri="{FF2B5EF4-FFF2-40B4-BE49-F238E27FC236}">
                <a16:creationId xmlns:a16="http://schemas.microsoft.com/office/drawing/2014/main" id="{94EFFEBD-057B-5851-FACE-23AD30523E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8502" y="1561672"/>
            <a:ext cx="9775376" cy="4383604"/>
          </a:xfrm>
          <a:prstGeom prst="rect">
            <a:avLst/>
          </a:prstGeom>
        </p:spPr>
      </p:pic>
      <p:sp>
        <p:nvSpPr>
          <p:cNvPr id="4" name="Oval 3" descr="Interactive spinner with numbers 1-10 and an infinite pile of purple counters.">
            <a:extLst>
              <a:ext uri="{FF2B5EF4-FFF2-40B4-BE49-F238E27FC236}">
                <a16:creationId xmlns:a16="http://schemas.microsoft.com/office/drawing/2014/main" id="{959E0C00-46AE-2A57-C919-4B926C6FE7ED}"/>
              </a:ext>
            </a:extLst>
          </p:cNvPr>
          <p:cNvSpPr/>
          <p:nvPr/>
        </p:nvSpPr>
        <p:spPr>
          <a:xfrm>
            <a:off x="8592910" y="861072"/>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 name="Oval 6" descr="Interactive spinner with numbers 1-10 and an infinite pile of purple counters.">
            <a:extLst>
              <a:ext uri="{FF2B5EF4-FFF2-40B4-BE49-F238E27FC236}">
                <a16:creationId xmlns:a16="http://schemas.microsoft.com/office/drawing/2014/main" id="{E08CBA91-23C3-CB45-B529-72A347F77DC0}"/>
              </a:ext>
            </a:extLst>
          </p:cNvPr>
          <p:cNvSpPr/>
          <p:nvPr/>
        </p:nvSpPr>
        <p:spPr>
          <a:xfrm>
            <a:off x="8575913" y="858127"/>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8" name="Oval 7" descr="Interactive spinner with numbers 1-10 and an infinite pile of purple counters.">
            <a:extLst>
              <a:ext uri="{FF2B5EF4-FFF2-40B4-BE49-F238E27FC236}">
                <a16:creationId xmlns:a16="http://schemas.microsoft.com/office/drawing/2014/main" id="{D142DF73-357F-822F-527C-8F25CE70AF21}"/>
              </a:ext>
            </a:extLst>
          </p:cNvPr>
          <p:cNvSpPr/>
          <p:nvPr/>
        </p:nvSpPr>
        <p:spPr>
          <a:xfrm>
            <a:off x="8592910" y="858127"/>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Tree>
    <p:extLst>
      <p:ext uri="{BB962C8B-B14F-4D97-AF65-F5344CB8AC3E}">
        <p14:creationId xmlns:p14="http://schemas.microsoft.com/office/powerpoint/2010/main" val="24843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(1)</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vert="horz" lIns="0" tIns="0" rIns="0" bIns="0" rtlCol="0" anchor="t">
            <a:noAutofit/>
          </a:bodyPr>
          <a:lstStyle/>
          <a:p>
            <a:pPr algn="l" rtl="0" fontAlgn="base"/>
            <a:r>
              <a:rPr lang="en-AU" b="0" i="0" u="sng" strike="noStrike">
                <a:solidFill>
                  <a:srgbClr val="2F5496"/>
                </a:solidFill>
                <a:effectLst/>
                <a:latin typeface="Arial"/>
                <a:cs typeface="Arial"/>
                <a:hlinkClick r:id="rId2"/>
              </a:rPr>
              <a:t>Mathematics K–10 Syllabus</a:t>
            </a:r>
            <a:r>
              <a:rPr lang="en-AU" b="0" i="0">
                <a:solidFill>
                  <a:srgbClr val="000000"/>
                </a:solidFill>
                <a:effectLst/>
                <a:latin typeface="Arial"/>
                <a:cs typeface="Arial"/>
              </a:rPr>
              <a:t> © NSW Education Standards Authority (NESA) for and on behalf of the Crown in right of the State of New South Wales, 2022. </a:t>
            </a:r>
          </a:p>
          <a:p>
            <a:r>
              <a:rPr lang="en-AU">
                <a:solidFill>
                  <a:srgbClr val="000000"/>
                </a:solidFill>
                <a:ea typeface="+mn-lt"/>
                <a:cs typeface="+mn-lt"/>
                <a:hlinkClick r:id="rId3"/>
              </a:rPr>
              <a:t>Numeracy-learning-progression</a:t>
            </a:r>
            <a:r>
              <a:rPr lang="en-AU">
                <a:solidFill>
                  <a:srgbClr val="000000"/>
                </a:solidFill>
                <a:ea typeface="+mn-lt"/>
                <a:cs typeface="+mn-lt"/>
                <a:hlinkClick r:id="rId3">
                  <a:extLst>
                    <a:ext uri="{A12FA001-AC4F-418D-AE19-62706E023703}">
                      <ahyp:hlinkClr xmlns:ahyp="http://schemas.microsoft.com/office/drawing/2018/hyperlinkcolor" val="tx"/>
                    </a:ext>
                  </a:extLst>
                </a:hlinkClick>
              </a:rPr>
              <a:t>.pdf</a:t>
            </a:r>
            <a:r>
              <a:rPr lang="en-AU">
                <a:solidFill>
                  <a:srgbClr val="000000"/>
                </a:solidFill>
                <a:latin typeface="Arial"/>
                <a:cs typeface="Arial"/>
              </a:rPr>
              <a:t> </a:t>
            </a:r>
            <a:r>
              <a:rPr lang="en-AU" b="0" i="0">
                <a:solidFill>
                  <a:srgbClr val="000000"/>
                </a:solidFill>
                <a:effectLst/>
                <a:latin typeface="Arial"/>
                <a:cs typeface="Arial"/>
              </a:rPr>
              <a:t>© Australian Curriculum, Assessment and Reporting Authority (ACARA) 2010 to present, unless otherwise indicated. This material was downloaded from the </a:t>
            </a:r>
            <a:r>
              <a:rPr lang="en-AU" b="0" i="0" u="sng" strike="noStrike">
                <a:solidFill>
                  <a:srgbClr val="2F5496"/>
                </a:solidFill>
                <a:effectLst/>
                <a:latin typeface="Arial"/>
                <a:cs typeface="Arial"/>
                <a:hlinkClick r:id="rId4"/>
              </a:rPr>
              <a:t>Australian Curriculum</a:t>
            </a:r>
            <a:r>
              <a:rPr lang="en-AU" b="0" i="0">
                <a:solidFill>
                  <a:srgbClr val="000000"/>
                </a:solidFill>
                <a:effectLst/>
                <a:latin typeface="Arial"/>
                <a:cs typeface="Arial"/>
              </a:rPr>
              <a:t> website (National Literacy Learning Progression) (accessed </a:t>
            </a:r>
            <a:r>
              <a:rPr lang="en-AU">
                <a:solidFill>
                  <a:srgbClr val="000000"/>
                </a:solidFill>
                <a:latin typeface="Arial"/>
                <a:cs typeface="Arial"/>
              </a:rPr>
              <a:t>7</a:t>
            </a:r>
            <a:r>
              <a:rPr lang="en-AU" b="0" i="0">
                <a:solidFill>
                  <a:srgbClr val="000000"/>
                </a:solidFill>
                <a:effectLst/>
                <a:latin typeface="Arial"/>
                <a:cs typeface="Arial"/>
              </a:rPr>
              <a:t> </a:t>
            </a:r>
            <a:r>
              <a:rPr lang="en-AU">
                <a:solidFill>
                  <a:srgbClr val="000000"/>
                </a:solidFill>
                <a:latin typeface="Arial"/>
                <a:cs typeface="Arial"/>
              </a:rPr>
              <a:t>August 2025 </a:t>
            </a:r>
            <a:r>
              <a:rPr lang="en-AU" b="0" i="0">
                <a:solidFill>
                  <a:srgbClr val="000000"/>
                </a:solidFill>
                <a:effectLst/>
                <a:latin typeface="Arial"/>
                <a:cs typeface="Arial"/>
              </a:rPr>
              <a:t>and was not modified. </a:t>
            </a:r>
            <a:endParaRPr lang="en-AU">
              <a:latin typeface="Arial"/>
              <a:cs typeface="Arial"/>
            </a:endParaRPr>
          </a:p>
          <a:p>
            <a:pPr fontAlgn="base"/>
            <a:r>
              <a:rPr lang="en-AU" b="0" i="0">
                <a:solidFill>
                  <a:srgbClr val="000000"/>
                </a:solidFill>
                <a:effectLst/>
                <a:latin typeface="Arial"/>
                <a:cs typeface="Arial"/>
              </a:rPr>
              <a:t>Barton C (2019) </a:t>
            </a:r>
            <a:r>
              <a:rPr lang="en-AU" b="0" i="1" u="sng" strike="noStrike">
                <a:solidFill>
                  <a:srgbClr val="2F5496"/>
                </a:solidFill>
                <a:effectLst/>
                <a:latin typeface="Arial"/>
                <a:cs typeface="Arial"/>
                <a:hlinkClick r:id="rId5"/>
              </a:rPr>
              <a:t>Volume of a cuboid 1</a:t>
            </a:r>
            <a:r>
              <a:rPr lang="en-AU" b="0" i="0">
                <a:solidFill>
                  <a:srgbClr val="000000"/>
                </a:solidFill>
                <a:effectLst/>
                <a:latin typeface="Arial"/>
                <a:cs typeface="Arial"/>
              </a:rPr>
              <a:t>, Maths </a:t>
            </a:r>
            <a:r>
              <a:rPr lang="en-AU" b="0" i="0" err="1">
                <a:solidFill>
                  <a:srgbClr val="000000"/>
                </a:solidFill>
                <a:effectLst/>
                <a:latin typeface="Arial"/>
                <a:cs typeface="Arial"/>
              </a:rPr>
              <a:t>Venns</a:t>
            </a:r>
            <a:r>
              <a:rPr lang="en-AU" b="0" i="0">
                <a:solidFill>
                  <a:srgbClr val="000000"/>
                </a:solidFill>
                <a:effectLst/>
                <a:latin typeface="Arial"/>
                <a:cs typeface="Arial"/>
              </a:rPr>
              <a:t> Website, accessed 8 April 2024. </a:t>
            </a:r>
            <a:r>
              <a:rPr lang="en-AU">
                <a:solidFill>
                  <a:srgbClr val="000000"/>
                </a:solidFill>
                <a:latin typeface="Arial"/>
                <a:cs typeface="Arial"/>
              </a:rPr>
              <a:t> </a:t>
            </a:r>
            <a:endParaRPr lang="en-AU" b="0" i="0">
              <a:solidFill>
                <a:srgbClr val="000000"/>
              </a:solidFill>
              <a:effectLst/>
              <a:latin typeface="Arial"/>
              <a:cs typeface="Arial"/>
            </a:endParaRPr>
          </a:p>
          <a:p>
            <a:pPr algn="l" rtl="0" fontAlgn="base"/>
            <a:r>
              <a:rPr lang="en-AU" b="0" i="0">
                <a:solidFill>
                  <a:srgbClr val="000000"/>
                </a:solidFill>
                <a:effectLst/>
                <a:latin typeface="Arial"/>
                <a:cs typeface="Arial"/>
              </a:rPr>
              <a:t>NESA (NSW Education Standards Authority) (2024) ‘</a:t>
            </a:r>
            <a:r>
              <a:rPr lang="en-AU" b="0" i="0" u="sng" strike="noStrike">
                <a:solidFill>
                  <a:srgbClr val="2F5496"/>
                </a:solidFill>
                <a:effectLst/>
                <a:latin typeface="Arial"/>
                <a:cs typeface="Arial"/>
                <a:hlinkClick r:id="rId6"/>
              </a:rPr>
              <a:t>Teaching advice for Three-dimensional spatial structure A</a:t>
            </a:r>
            <a:r>
              <a:rPr lang="en-AU" b="0" i="0">
                <a:solidFill>
                  <a:srgbClr val="000000"/>
                </a:solidFill>
                <a:effectLst/>
                <a:latin typeface="Arial"/>
                <a:cs typeface="Arial"/>
              </a:rPr>
              <a:t>’, </a:t>
            </a:r>
            <a:r>
              <a:rPr lang="en-AU" b="0" i="1">
                <a:solidFill>
                  <a:srgbClr val="000000"/>
                </a:solidFill>
                <a:effectLst/>
                <a:latin typeface="Arial"/>
                <a:cs typeface="Arial"/>
              </a:rPr>
              <a:t>Stage 3</a:t>
            </a:r>
            <a:r>
              <a:rPr lang="en-AU" b="0" i="0">
                <a:solidFill>
                  <a:srgbClr val="000000"/>
                </a:solidFill>
                <a:effectLst/>
                <a:latin typeface="Arial"/>
                <a:cs typeface="Arial"/>
              </a:rPr>
              <a:t>, NESA website, accessed 30 May 2024. </a:t>
            </a:r>
          </a:p>
          <a:p>
            <a:pPr algn="l" rtl="0" fontAlgn="base"/>
            <a:r>
              <a:rPr lang="en-AU" b="0" i="0">
                <a:solidFill>
                  <a:srgbClr val="000000"/>
                </a:solidFill>
                <a:effectLst/>
                <a:latin typeface="Arial"/>
                <a:cs typeface="Arial"/>
              </a:rPr>
              <a:t>State of New South Wales (Department of Education) (2023) </a:t>
            </a:r>
            <a:r>
              <a:rPr lang="en-AU" b="0" i="1">
                <a:solidFill>
                  <a:srgbClr val="000000"/>
                </a:solidFill>
                <a:effectLst/>
                <a:latin typeface="Arial"/>
                <a:cs typeface="Arial"/>
              </a:rPr>
              <a:t>‘</a:t>
            </a:r>
            <a:r>
              <a:rPr lang="en-AU" b="0" i="0" u="sng" strike="noStrike">
                <a:solidFill>
                  <a:srgbClr val="2F5496"/>
                </a:solidFill>
                <a:effectLst/>
                <a:latin typeface="Arial"/>
                <a:cs typeface="Arial"/>
                <a:hlinkClick r:id="rId7"/>
              </a:rPr>
              <a:t>Factors fun</a:t>
            </a:r>
            <a:r>
              <a:rPr lang="en-AU" b="0" i="0">
                <a:solidFill>
                  <a:srgbClr val="000000"/>
                </a:solidFill>
                <a:effectLst/>
                <a:latin typeface="Arial"/>
                <a:cs typeface="Arial"/>
              </a:rPr>
              <a:t>’,</a:t>
            </a:r>
            <a:r>
              <a:rPr lang="en-AU" b="0" i="1">
                <a:solidFill>
                  <a:srgbClr val="000000"/>
                </a:solidFill>
                <a:effectLst/>
                <a:latin typeface="Arial"/>
                <a:cs typeface="Arial"/>
              </a:rPr>
              <a:t> Mathematics K–6 resources</a:t>
            </a:r>
            <a:r>
              <a:rPr lang="en-AU" b="0" i="0">
                <a:solidFill>
                  <a:srgbClr val="000000"/>
                </a:solidFill>
                <a:effectLst/>
                <a:latin typeface="Arial"/>
                <a:cs typeface="Arial"/>
              </a:rPr>
              <a:t>, NSW Department of Education website, accessed 3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a:lstStyle/>
          <a:p>
            <a:pPr algn="l" rtl="0" fontAlgn="base"/>
            <a:r>
              <a:rPr lang="en-AU" b="0" i="0">
                <a:solidFill>
                  <a:srgbClr val="000000"/>
                </a:solidFill>
                <a:effectLst/>
                <a:latin typeface="Arial" panose="020B0604020202020204" pitchFamily="34" charset="0"/>
              </a:rPr>
              <a:t>Sullivan P (2018) </a:t>
            </a:r>
            <a:r>
              <a:rPr lang="en-AU" b="0" i="1">
                <a:solidFill>
                  <a:srgbClr val="000000"/>
                </a:solidFill>
                <a:effectLst/>
                <a:latin typeface="Arial" panose="020B0604020202020204" pitchFamily="34" charset="0"/>
              </a:rPr>
              <a:t>Challenging Mathematical Tasks</a:t>
            </a:r>
            <a:r>
              <a:rPr lang="en-AU" b="0" i="0">
                <a:solidFill>
                  <a:srgbClr val="000000"/>
                </a:solidFill>
                <a:effectLst/>
                <a:latin typeface="Arial" panose="020B0604020202020204" pitchFamily="34" charset="0"/>
              </a:rPr>
              <a:t>, Oxford University Press Australia and New Zealand.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2"/>
              </a:rPr>
              <a:t>Area and Perimeter</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n.d.b</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3"/>
              </a:rPr>
              <a:t>Factor-multiple Chains</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n.d.c</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4"/>
              </a:rPr>
              <a:t>Rod Area</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n.d.d</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5"/>
              </a:rPr>
              <a:t>Route Product</a:t>
            </a:r>
            <a:r>
              <a:rPr lang="en-AU" b="0" i="0">
                <a:solidFill>
                  <a:srgbClr val="000000"/>
                </a:solidFill>
                <a:effectLst/>
                <a:latin typeface="Arial" panose="020B0604020202020204" pitchFamily="34" charset="0"/>
              </a:rPr>
              <a:t>, NRICH website, accessed 4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8EC8F37E-DE27-4F95-B77B-212EF31F3B6C}">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60129b06-f64b-40a8-96e2-c5b2f86112b1"/>
    <ds:schemaRef ds:uri="http://schemas.microsoft.com/office/2006/documentManagement/types"/>
    <ds:schemaRef ds:uri="7e763d47-3c66-4c58-9425-1477fd3ccd1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1</TotalTime>
  <Words>6232</Words>
  <Application>Microsoft Office PowerPoint</Application>
  <PresentationFormat>Widescreen</PresentationFormat>
  <Paragraphs>818</Paragraphs>
  <Slides>69</Slides>
  <Notes>67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Montserrat</vt:lpstr>
      <vt:lpstr>Arial,Sans-Serif</vt:lpstr>
      <vt:lpstr>Wingdings</vt:lpstr>
      <vt:lpstr>Cambria Math</vt:lpstr>
      <vt:lpstr>Calibri</vt:lpstr>
      <vt:lpstr>Edu NSW ACT Foundation</vt:lpstr>
      <vt:lpstr>Public Sans</vt:lpstr>
      <vt:lpstr>Public Sans Light</vt:lpstr>
      <vt:lpstr>Times New Roman</vt:lpstr>
      <vt:lpstr>Arial</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efficient strategies for addition.</vt:lpstr>
      <vt:lpstr>Review of learning  2</vt:lpstr>
      <vt:lpstr>True or false (1)</vt:lpstr>
      <vt:lpstr>Short response (5)</vt:lpstr>
      <vt:lpstr>Short response (6)</vt:lpstr>
      <vt:lpstr>Short response (7)</vt:lpstr>
      <vt:lpstr>Short response (8)</vt:lpstr>
      <vt:lpstr>Activity 2 – 3-digit algorithms</vt:lpstr>
      <vt:lpstr>Review of learning 3</vt:lpstr>
      <vt:lpstr>Multiple choice (2) </vt:lpstr>
      <vt:lpstr>Short response (9)</vt:lpstr>
      <vt:lpstr>Short response (10)</vt:lpstr>
      <vt:lpstr>Short response (11)</vt:lpstr>
      <vt:lpstr>Short response (12)</vt:lpstr>
      <vt:lpstr>Activity 3 – missing digit subtraction 1</vt:lpstr>
      <vt:lpstr>Review of learning 4</vt:lpstr>
      <vt:lpstr>True or false (2)</vt:lpstr>
      <vt:lpstr>Short response (13))</vt:lpstr>
      <vt:lpstr>Short response (14))</vt:lpstr>
      <vt:lpstr>Short response (15) </vt:lpstr>
      <vt:lpstr>Short response (16)</vt:lpstr>
      <vt:lpstr>Activity 4 – missing digits subtraction</vt:lpstr>
      <vt:lpstr>Review of learning 5</vt:lpstr>
      <vt:lpstr>Multiple choice (3)</vt:lpstr>
      <vt:lpstr>Short response (17)</vt:lpstr>
      <vt:lpstr>Short response (18) </vt:lpstr>
      <vt:lpstr>Short response (19) </vt:lpstr>
      <vt:lpstr>Short response (20)</vt:lpstr>
      <vt:lpstr>Activity 5 – mystery equations 1</vt:lpstr>
      <vt:lpstr>Review of learning 6</vt:lpstr>
      <vt:lpstr>True or false (3)</vt:lpstr>
      <vt:lpstr>Short response (21)</vt:lpstr>
      <vt:lpstr>Short response (22)</vt:lpstr>
      <vt:lpstr>Short response (23) </vt:lpstr>
      <vt:lpstr>Short response (24)</vt:lpstr>
      <vt:lpstr>Activity 6 – find the numbers</vt:lpstr>
      <vt:lpstr>Review of learning  7</vt:lpstr>
      <vt:lpstr>Multiple choice (4)</vt:lpstr>
      <vt:lpstr>Short response (25)</vt:lpstr>
      <vt:lpstr>Short response (26) </vt:lpstr>
      <vt:lpstr>Short response (29)</vt:lpstr>
      <vt:lpstr>Short response (30)</vt:lpstr>
      <vt:lpstr>Activity 7 – array fact families </vt:lpstr>
      <vt:lpstr>Review of learning 8</vt:lpstr>
      <vt:lpstr>True or false (4) </vt:lpstr>
      <vt:lpstr>Short response (31)</vt:lpstr>
      <vt:lpstr>Short response (32)</vt:lpstr>
      <vt:lpstr>Short response (33)</vt:lpstr>
      <vt:lpstr>Short response (34)</vt:lpstr>
      <vt:lpstr>Activity 8 – mystery equations 2</vt:lpstr>
      <vt:lpstr>Double Venn diagram</vt:lpstr>
      <vt:lpstr>Frayer</vt:lpstr>
      <vt:lpstr>Spider map</vt:lpstr>
      <vt:lpstr>Cline</vt:lpstr>
      <vt:lpstr>Compare and contrast</vt:lpstr>
      <vt:lpstr>Multiple choice (1)</vt:lpstr>
      <vt:lpstr>Multiple choice (1)</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2025-09-14T23:52:16Z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