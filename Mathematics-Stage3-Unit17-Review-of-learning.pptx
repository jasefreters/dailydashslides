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26511" r:id="rId5"/>
    <p:sldId id="26505" r:id="rId6"/>
    <p:sldId id="26359" r:id="rId7"/>
    <p:sldId id="271" r:id="rId8"/>
    <p:sldId id="26510" r:id="rId9"/>
    <p:sldId id="26508" r:id="rId10"/>
    <p:sldId id="26524" r:id="rId11"/>
    <p:sldId id="26525" r:id="rId12"/>
    <p:sldId id="26519" r:id="rId13"/>
    <p:sldId id="26522" r:id="rId14"/>
    <p:sldId id="26512" r:id="rId15"/>
    <p:sldId id="26509" r:id="rId16"/>
    <p:sldId id="26523" r:id="rId17"/>
    <p:sldId id="26529" r:id="rId18"/>
    <p:sldId id="26530" r:id="rId19"/>
    <p:sldId id="26531" r:id="rId20"/>
    <p:sldId id="26532" r:id="rId21"/>
    <p:sldId id="26513" r:id="rId22"/>
    <p:sldId id="26534" r:id="rId23"/>
    <p:sldId id="26535" r:id="rId24"/>
    <p:sldId id="26528" r:id="rId25"/>
    <p:sldId id="26537" r:id="rId26"/>
    <p:sldId id="26536" r:id="rId27"/>
    <p:sldId id="26533" r:id="rId28"/>
    <p:sldId id="26514" r:id="rId29"/>
    <p:sldId id="26539" r:id="rId30"/>
    <p:sldId id="26540" r:id="rId31"/>
    <p:sldId id="26541" r:id="rId32"/>
    <p:sldId id="26542" r:id="rId33"/>
    <p:sldId id="26543" r:id="rId34"/>
    <p:sldId id="26538" r:id="rId35"/>
    <p:sldId id="26515" r:id="rId36"/>
    <p:sldId id="26507" r:id="rId37"/>
    <p:sldId id="26546" r:id="rId38"/>
    <p:sldId id="26547" r:id="rId39"/>
    <p:sldId id="26548" r:id="rId40"/>
    <p:sldId id="26549" r:id="rId41"/>
    <p:sldId id="26544" r:id="rId42"/>
    <p:sldId id="26516" r:id="rId43"/>
    <p:sldId id="26550" r:id="rId44"/>
    <p:sldId id="26553" r:id="rId45"/>
    <p:sldId id="26554" r:id="rId46"/>
    <p:sldId id="26555" r:id="rId47"/>
    <p:sldId id="26556" r:id="rId48"/>
    <p:sldId id="26551" r:id="rId49"/>
    <p:sldId id="26517" r:id="rId50"/>
    <p:sldId id="26559" r:id="rId51"/>
    <p:sldId id="26560" r:id="rId52"/>
    <p:sldId id="26561" r:id="rId53"/>
    <p:sldId id="26562" r:id="rId54"/>
    <p:sldId id="26563" r:id="rId55"/>
    <p:sldId id="26558" r:id="rId56"/>
    <p:sldId id="26518" r:id="rId57"/>
    <p:sldId id="26564" r:id="rId58"/>
    <p:sldId id="26565" r:id="rId59"/>
    <p:sldId id="26567" r:id="rId60"/>
    <p:sldId id="26566" r:id="rId61"/>
    <p:sldId id="26568" r:id="rId62"/>
    <p:sldId id="26557" r:id="rId63"/>
    <p:sldId id="26393" r:id="rId64"/>
    <p:sldId id="26387" r:id="rId65"/>
    <p:sldId id="26395" r:id="rId66"/>
    <p:sldId id="26391" r:id="rId67"/>
    <p:sldId id="26402" r:id="rId68"/>
    <p:sldId id="26527" r:id="rId69"/>
    <p:sldId id="26545" r:id="rId70"/>
    <p:sldId id="26569" r:id="rId71"/>
    <p:sldId id="26570" r:id="rId72"/>
    <p:sldId id="361" r:id="rId73"/>
  </p:sldIdLst>
  <p:sldSz cx="12192000" cy="6858000"/>
  <p:notesSz cx="6858000" cy="9144000"/>
  <p:embeddedFontLst>
    <p:embeddedFont>
      <p:font typeface="Arial Narrow" panose="020B0606020202030204" pitchFamily="34" charset="0"/>
      <p:regular r:id="rId76"/>
      <p:bold r:id="rId77"/>
      <p:italic r:id="rId78"/>
      <p:boldItalic r:id="rId79"/>
    </p:embeddedFont>
    <p:embeddedFont>
      <p:font typeface="Cambria Math" panose="02040503050406030204" pitchFamily="18" charset="0"/>
      <p:regular r:id="rId80"/>
    </p:embeddedFont>
    <p:embeddedFont>
      <p:font typeface="Canva Student Font" panose="020B0604020202020204" charset="0"/>
      <p:regular r:id="rId81"/>
    </p:embeddedFont>
    <p:embeddedFont>
      <p:font typeface="Montserrat" panose="00000500000000000000" pitchFamily="2" charset="0"/>
      <p:regular r:id="rId82"/>
      <p:bold r:id="rId83"/>
      <p:italic r:id="rId84"/>
      <p:boldItalic r:id="rId85"/>
    </p:embeddedFont>
    <p:embeddedFont>
      <p:font typeface="Public Sans" pitchFamily="2" charset="0"/>
      <p:regular r:id="rId86"/>
      <p:bold r:id="rId87"/>
      <p:italic r:id="rId88"/>
      <p:boldItalic r:id="rId89"/>
    </p:embeddedFont>
    <p:embeddedFont>
      <p:font typeface="Public Sans Light" pitchFamily="2" charset="0"/>
      <p:regular r:id="rId90"/>
      <p:italic r:id="rId91"/>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4"/>
            <p14:sldId id="26525"/>
            <p14:sldId id="26519"/>
            <p14:sldId id="26522"/>
            <p14:sldId id="26512"/>
            <p14:sldId id="26509"/>
            <p14:sldId id="26523"/>
            <p14:sldId id="26529"/>
            <p14:sldId id="26530"/>
            <p14:sldId id="26531"/>
            <p14:sldId id="26532"/>
            <p14:sldId id="26513"/>
            <p14:sldId id="26534"/>
            <p14:sldId id="26535"/>
            <p14:sldId id="26528"/>
            <p14:sldId id="26537"/>
            <p14:sldId id="26536"/>
            <p14:sldId id="26533"/>
            <p14:sldId id="26514"/>
            <p14:sldId id="26539"/>
            <p14:sldId id="26540"/>
            <p14:sldId id="26541"/>
            <p14:sldId id="26542"/>
            <p14:sldId id="26543"/>
            <p14:sldId id="26538"/>
            <p14:sldId id="26515"/>
            <p14:sldId id="26507"/>
            <p14:sldId id="26546"/>
            <p14:sldId id="26547"/>
            <p14:sldId id="26548"/>
            <p14:sldId id="26549"/>
            <p14:sldId id="26544"/>
            <p14:sldId id="26516"/>
            <p14:sldId id="26550"/>
            <p14:sldId id="26553"/>
            <p14:sldId id="26554"/>
            <p14:sldId id="26555"/>
            <p14:sldId id="26556"/>
            <p14:sldId id="26551"/>
            <p14:sldId id="26517"/>
            <p14:sldId id="26559"/>
            <p14:sldId id="26560"/>
            <p14:sldId id="26561"/>
            <p14:sldId id="26562"/>
            <p14:sldId id="26563"/>
            <p14:sldId id="26558"/>
            <p14:sldId id="26518"/>
            <p14:sldId id="26564"/>
            <p14:sldId id="26565"/>
            <p14:sldId id="26567"/>
            <p14:sldId id="26566"/>
            <p14:sldId id="26568"/>
            <p14:sldId id="26557"/>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26569"/>
            <p14:sldId id="2657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6652228-BA2A-8E0F-B69D-752F252CA8C9}" name="Carolyn Matthews" initials="CM" userId="S::Carolyn.Matthews2@det.nsw.edu.au::7f53049a-bf0f-477a-aa49-60e3a8d71d98"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000000"/>
    <a:srgbClr val="FFFFFF"/>
    <a:srgbClr val="002664"/>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5EF205-1208-531A-CF6C-6132EE4AE4EA}" v="5" dt="2025-08-02T03:53:12.150"/>
    <p1510:client id="{6D9B4F7D-4672-FE7D-98C0-CDF1AA501172}" v="1" dt="2025-08-02T23:15:52.173"/>
    <p1510:client id="{71C6CA73-5156-43C5-9D05-EB61329CF495}" v="8" dt="2025-08-02T23:19:16.014"/>
    <p1510:client id="{A2397BB7-42F5-5624-5FB0-5ACDE53B68C1}" v="1" dt="2025-08-02T05:23:27.704"/>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898" autoAdjust="0"/>
  </p:normalViewPr>
  <p:slideViewPr>
    <p:cSldViewPr snapToGrid="0">
      <p:cViewPr varScale="1">
        <p:scale>
          <a:sx n="60" d="100"/>
          <a:sy n="60" d="100"/>
        </p:scale>
        <p:origin x="1452" y="48"/>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font" Target="fonts/font15.fntdata"/><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97"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4/08/2025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education.nsw.gov.au/teaching-and-learning/curriculum/mathematics/mathematics-curriculum-resources-k-12/thinking-mathematically-resources/mathematics-s2-s3-factors-fun" TargetMode="External"/><Relationship Id="rId2" Type="http://schemas.openxmlformats.org/officeDocument/2006/relationships/slide" Target="../slides/slide17.xml"/><Relationship Id="rId1" Type="http://schemas.openxmlformats.org/officeDocument/2006/relationships/notesMaster" Target="../notesMasters/notesMaster1.xml"/><Relationship Id="rId6" Type="http://schemas.openxmlformats.org/officeDocument/2006/relationships/hyperlink" Target="http://_Resource_24_&#8211;" TargetMode="External"/><Relationship Id="rId5" Type="http://schemas.openxmlformats.org/officeDocument/2006/relationships/hyperlink" Target="http://_Resource_23_&#8211;" TargetMode="External"/><Relationship Id="rId4" Type="http://schemas.openxmlformats.org/officeDocument/2006/relationships/hyperlink" Target="http://_Resource_22_&#8211;"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education.nsw.gov.au/teaching-and-learning/curriculum/mathematics/mathematics-curriculum-resources-k-12/thinking-mathematically-resources/mathematics-s2-s3-factors-fun" TargetMode="External"/><Relationship Id="rId2" Type="http://schemas.openxmlformats.org/officeDocument/2006/relationships/slide" Target="../slides/slide24.xml"/><Relationship Id="rId1" Type="http://schemas.openxmlformats.org/officeDocument/2006/relationships/notesMaster" Target="../notesMasters/notesMaster1.xml"/><Relationship Id="rId6" Type="http://schemas.openxmlformats.org/officeDocument/2006/relationships/hyperlink" Target="http://_Resource_24_&#8211;" TargetMode="External"/><Relationship Id="rId5" Type="http://schemas.openxmlformats.org/officeDocument/2006/relationships/hyperlink" Target="http://_Resource_23_&#8211;" TargetMode="External"/><Relationship Id="rId4" Type="http://schemas.openxmlformats.org/officeDocument/2006/relationships/hyperlink" Target="http://_Resource_22_&#8211;"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_Resource_26_&#8211;" TargetMode="External"/><Relationship Id="rId2" Type="http://schemas.openxmlformats.org/officeDocument/2006/relationships/slide" Target="../slides/slide31.xml"/><Relationship Id="rId1" Type="http://schemas.openxmlformats.org/officeDocument/2006/relationships/notesMaster" Target="../notesMasters/notesMaster1.xml"/><Relationship Id="rId6" Type="http://schemas.openxmlformats.org/officeDocument/2006/relationships/hyperlink" Target="https://education.nsw.gov.au/teaching-and-learning/curriculum/literacy-and-numeracy/teaching-and-learning-resources/numeracy/talk-moves" TargetMode="External"/><Relationship Id="rId5" Type="http://schemas.openxmlformats.org/officeDocument/2006/relationships/hyperlink" Target="https://nrich.maths.org/frontpage" TargetMode="External"/><Relationship Id="rId4" Type="http://schemas.openxmlformats.org/officeDocument/2006/relationships/hyperlink" Target="https://nrich.maths.org/5578"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_Resource_28_&#8211;"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s://auc-powerpoint.officeapps.live.com/pods/ppt.aspx?ui=en-US&amp;rs=en-AU&amp;wdprevioussession=c82bb185-b7a9-e26c-284b-f2892f1e8e87&amp;wdenableroaming=1&amp;mscc=1&amp;hid=DF5BB0A1-F099-5000-78B4-19F99F92EF4D.0&amp;uih=sharepointcom&amp;wdlcid=en-US&amp;jsapi=1&amp;jsapiver=v2&amp;corrid=f3baad10-2acc-26d9-1e5b-23d70b5eaf6c&amp;usid=f3baad10-2acc-26d9-1e5b-23d70b5eaf6c&amp;newsession=1&amp;sftc=1&amp;uihit=docaspx&amp;muv=1&amp;ats=PairwiseBroker&amp;dchat=1&amp;sc=%7B%22pmo%22%3A%22https%3A%2F%2Fschoolsnsw.sharepoint.com%22%2C%22pmshare%22%3Atrue%7D&amp;wdorigin=BrowserReload&amp;afdflight=85&amp;wdpodsurl=https%3A%2F%2Fauc-powerpoint.officeapps.live.com%2Fpods%2F&amp;wdpopsurl=https%3A%2F%2Fauc-powerpoint.officeapps.live.com%2F&amp;wdoverrides=devicepixelratio:1.125,RenderGifSlideShow:true&amp;wdwaccluster=GAU1&amp;filename=Mathematics%20Stage%203-unit%2017-review%20and%20practice.pptx&amp;filegeturlbool=true&amp;fs=4712458&amp;ro=false&amp;fastboot=true&amp;noauth=1&amp;thpanel=669&amp;sw=1431&amp;sh=616&amp;postmessagetoken=f3baad10-2acc-26d9-1e5b-23d70b5eaf6c#_Resource_26_%E2%80%93"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mathforlove.com/lesson/fill-the-stairs/" TargetMode="External"/><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https://mathforlove.com/" TargetMode="Externa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dirty="0">
              <a:solidFill>
                <a:srgbClr val="444444"/>
              </a:solidFill>
              <a:latin typeface="Arial"/>
              <a:cs typeface="Arial"/>
            </a:endParaRPr>
          </a:p>
          <a:p>
            <a:endParaRPr lang="en-AU" dirty="0">
              <a:solidFill>
                <a:srgbClr val="000000"/>
              </a:solidFill>
            </a:endParaRPr>
          </a:p>
          <a:p>
            <a:r>
              <a:rPr lang="en-AU" dirty="0">
                <a:solidFill>
                  <a:srgbClr val="000000"/>
                </a:solidFill>
                <a:latin typeface="Arial"/>
                <a:cs typeface="Arial"/>
              </a:rPr>
              <a:t>This Review of Learning slide deck revisits key concepts from the following units:</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A Unit 17</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A Unit 16</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A Unit 15</a:t>
            </a:r>
            <a:endParaRPr lang="en-US" dirty="0">
              <a:solidFill>
                <a:srgbClr val="444444"/>
              </a:solidFill>
              <a:latin typeface="Arial"/>
              <a:cs typeface="Arial"/>
            </a:endParaRPr>
          </a:p>
          <a:p>
            <a:r>
              <a:rPr lang="en-AU" dirty="0">
                <a:solidFill>
                  <a:srgbClr val="000000"/>
                </a:solidFill>
                <a:latin typeface="Arial"/>
                <a:cs typeface="Arial"/>
              </a:rPr>
              <a:t>It also includes opportunities to review prior learning in non-number content, supporting consolidation across focus areas.</a:t>
            </a:r>
            <a:endParaRPr lang="en-US" dirty="0">
              <a:solidFill>
                <a:srgbClr val="444444"/>
              </a:solidFill>
              <a:latin typeface="Arial"/>
              <a:cs typeface="Arial"/>
            </a:endParaRPr>
          </a:p>
          <a:p>
            <a:endParaRPr lang="en-AU" dirty="0">
              <a:solidFill>
                <a:srgbClr val="444444"/>
              </a:solidFill>
            </a:endParaRPr>
          </a:p>
          <a:p>
            <a:r>
              <a:rPr lang="en-AU" dirty="0">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dirty="0">
              <a:solidFill>
                <a:srgbClr val="444444"/>
              </a:solidFill>
              <a:latin typeface="Arial"/>
              <a:cs typeface="Arial"/>
            </a:endParaRPr>
          </a:p>
          <a:p>
            <a:endParaRPr lang="en-AU" dirty="0">
              <a:solidFill>
                <a:srgbClr val="444444"/>
              </a:solidFill>
            </a:endParaRPr>
          </a:p>
          <a:p>
            <a:pPr>
              <a:defRPr/>
            </a:pPr>
            <a:r>
              <a:rPr lang="en-AU" dirty="0">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dirty="0">
                <a:latin typeface="Arial"/>
                <a:cs typeface="Arial"/>
              </a:rPr>
              <a:t>Multiple-choice questions/True or false:</a:t>
            </a:r>
            <a:r>
              <a:rPr lang="en-AU" dirty="0">
                <a:latin typeface="Arial"/>
                <a:cs typeface="Arial"/>
              </a:rPr>
              <a:t> Designed to promote active retrieval of key concepts and identify common misconceptions in number, supporting consolidation, understanding and fluency.</a:t>
            </a:r>
            <a:br>
              <a:rPr lang="en-AU" dirty="0">
                <a:latin typeface="Arial"/>
                <a:cs typeface="Arial"/>
              </a:rPr>
            </a:br>
            <a:r>
              <a:rPr lang="en-AU" sz="1600" b="0" i="0" dirty="0">
                <a:solidFill>
                  <a:schemeClr val="tx1"/>
                </a:solidFill>
                <a:latin typeface="Arial"/>
                <a:cs typeface="Arial"/>
              </a:rPr>
              <a:t>These questions:</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dirty="0">
                <a:solidFill>
                  <a:schemeClr val="tx1"/>
                </a:solidFill>
                <a:latin typeface="Arial"/>
                <a:cs typeface="Arial"/>
              </a:rPr>
              <a:t>support spaced and interleaved practice</a:t>
            </a:r>
          </a:p>
          <a:p>
            <a:pPr marL="285750" indent="-285750" algn="l">
              <a:buFont typeface="Wingdings"/>
              <a:buChar char="ü"/>
            </a:pPr>
            <a:r>
              <a:rPr lang="en-AU" sz="1600" b="0" i="0" dirty="0">
                <a:solidFill>
                  <a:schemeClr val="tx1"/>
                </a:solidFill>
                <a:latin typeface="Arial"/>
                <a:cs typeface="Arial"/>
              </a:rPr>
              <a:t>help identify and address common misconceptions </a:t>
            </a:r>
          </a:p>
          <a:p>
            <a:pPr marL="285750" indent="-285750" algn="l">
              <a:buFont typeface="Wingdings"/>
              <a:buChar char="ü"/>
            </a:pPr>
            <a:r>
              <a:rPr lang="en-AU" sz="1600" b="0" i="0" dirty="0">
                <a:solidFill>
                  <a:schemeClr val="tx1"/>
                </a:solidFill>
                <a:latin typeface="Arial"/>
                <a:cs typeface="Arial"/>
              </a:rPr>
              <a:t>support active recall and immediate feedback</a:t>
            </a:r>
          </a:p>
          <a:p>
            <a:pPr marL="285750" indent="-285750" algn="l">
              <a:buFont typeface="Wingdings"/>
              <a:buChar char="ü"/>
            </a:pPr>
            <a:r>
              <a:rPr lang="en-AU" sz="1600" b="0" i="0" dirty="0">
                <a:solidFill>
                  <a:schemeClr val="tx1"/>
                </a:solidFill>
                <a:latin typeface="Arial"/>
                <a:cs typeface="Arial"/>
              </a:rPr>
              <a:t>support whole class participation</a:t>
            </a:r>
          </a:p>
          <a:p>
            <a:pPr marL="285750" indent="-285750">
              <a:buFont typeface="Wingdings"/>
              <a:buChar char="ü"/>
            </a:pPr>
            <a:r>
              <a:rPr lang="en-AU" sz="1600" b="0" i="0" dirty="0">
                <a:solidFill>
                  <a:schemeClr val="tx1"/>
                </a:solidFill>
                <a:latin typeface="Arial"/>
                <a:cs typeface="Arial"/>
              </a:rPr>
              <a:t>identify areas requiring reteach</a:t>
            </a:r>
            <a:endParaRPr lang="en-US" dirty="0">
              <a:solidFill>
                <a:srgbClr val="444444"/>
              </a:solidFill>
              <a:latin typeface="Arial"/>
              <a:cs typeface="Arial"/>
            </a:endParaRPr>
          </a:p>
          <a:p>
            <a:endParaRPr lang="en-AU" dirty="0">
              <a:latin typeface="Arial"/>
              <a:cs typeface="Arial"/>
            </a:endParaRPr>
          </a:p>
          <a:p>
            <a:pPr algn="l"/>
            <a:r>
              <a:rPr lang="en-AU" dirty="0">
                <a:latin typeface="Arial"/>
                <a:cs typeface="Arial"/>
              </a:rPr>
              <a:t>2.</a:t>
            </a:r>
            <a:br>
              <a:rPr lang="en-AU" dirty="0">
                <a:latin typeface="Arial"/>
                <a:cs typeface="Arial"/>
              </a:rPr>
            </a:br>
            <a:r>
              <a:rPr lang="en-AU" b="1" dirty="0">
                <a:latin typeface="Arial"/>
                <a:cs typeface="Arial"/>
              </a:rPr>
              <a:t>Short-response question sets:</a:t>
            </a:r>
            <a:r>
              <a:rPr lang="en-AU" dirty="0">
                <a:latin typeface="Arial"/>
                <a:cs typeface="Arial"/>
              </a:rPr>
              <a:t> Carefully grouped questions that encourage spaced and interleaved practice across multiple focus areas, helping students revisit and apply knowledge from different points in time.</a:t>
            </a:r>
            <a:br>
              <a:rPr lang="en-AU" dirty="0">
                <a:latin typeface="Arial"/>
                <a:cs typeface="Arial"/>
              </a:rPr>
            </a:br>
            <a:r>
              <a:rPr lang="en-AU" sz="1600" b="0" i="0" dirty="0">
                <a:solidFill>
                  <a:schemeClr val="tx1"/>
                </a:solidFill>
                <a:latin typeface="Arial"/>
                <a:cs typeface="Arial"/>
              </a:rPr>
              <a:t>These questions:</a:t>
            </a:r>
            <a:endParaRPr lang="en-US" sz="1600" b="0" i="0" dirty="0">
              <a:solidFill>
                <a:srgbClr val="444444"/>
              </a:solidFill>
              <a:latin typeface="Arial"/>
              <a:cs typeface="Arial"/>
            </a:endParaRPr>
          </a:p>
          <a:p>
            <a:pPr marL="0" indent="0" algn="l">
              <a:buFont typeface="Wingdings" panose="05000000000000000000" pitchFamily="2" charset="2"/>
              <a:buNone/>
            </a:pPr>
            <a:endParaRPr lang="en-AU" sz="1600" i="0" dirty="0"/>
          </a:p>
          <a:p>
            <a:pPr marL="285750" indent="-285750" algn="l">
              <a:buFont typeface="Wingdings"/>
              <a:buChar char="ü"/>
            </a:pPr>
            <a:r>
              <a:rPr lang="en-AU" sz="1600" i="0" dirty="0">
                <a:latin typeface="Arial"/>
                <a:cs typeface="Arial"/>
              </a:rPr>
              <a:t>have a combination of question types </a:t>
            </a:r>
          </a:p>
          <a:p>
            <a:pPr marL="285750" indent="-285750" algn="l">
              <a:buFont typeface="Wingdings"/>
              <a:buChar char="ü"/>
            </a:pPr>
            <a:r>
              <a:rPr lang="en-AU" sz="1600" i="0" dirty="0">
                <a:latin typeface="Arial"/>
                <a:cs typeface="Arial"/>
              </a:rPr>
              <a:t>address a range of focus areas</a:t>
            </a:r>
          </a:p>
          <a:p>
            <a:pPr marL="285750" indent="-285750">
              <a:buFont typeface="Wingdings"/>
              <a:buChar char="ü"/>
            </a:pPr>
            <a:r>
              <a:rPr lang="en-AU" sz="1600" i="0" dirty="0">
                <a:latin typeface="Arial"/>
                <a:cs typeface="Arial"/>
              </a:rPr>
              <a:t>build automaticity and fluency</a:t>
            </a:r>
          </a:p>
          <a:p>
            <a:pPr marL="285750" indent="-285750">
              <a:buFont typeface="Wingdings"/>
              <a:buChar char="ü"/>
            </a:pPr>
            <a:r>
              <a:rPr lang="en-AU" sz="1600" i="0" dirty="0">
                <a:latin typeface="Arial"/>
                <a:cs typeface="Arial"/>
              </a:rPr>
              <a:t>support active recall </a:t>
            </a:r>
          </a:p>
          <a:p>
            <a:pPr marL="285750" indent="-285750">
              <a:buFont typeface="Wingdings"/>
              <a:buChar char="ü"/>
            </a:pPr>
            <a:r>
              <a:rPr lang="en-AU" sz="1600" i="0" dirty="0">
                <a:latin typeface="Arial"/>
                <a:cs typeface="Arial"/>
              </a:rPr>
              <a:t>allow for immediate feedback</a:t>
            </a:r>
          </a:p>
          <a:p>
            <a:pPr marL="285750" indent="-285750" algn="l">
              <a:buFont typeface="Wingdings"/>
              <a:buChar char="ü"/>
            </a:pPr>
            <a:r>
              <a:rPr lang="en-AU" sz="1600" i="0" dirty="0">
                <a:latin typeface="Arial"/>
                <a:cs typeface="Arial"/>
              </a:rPr>
              <a:t>identify content requiring reteach</a:t>
            </a:r>
            <a:endParaRPr lang="en-AU" dirty="0">
              <a:latin typeface="Arial"/>
              <a:cs typeface="Arial"/>
            </a:endParaRPr>
          </a:p>
          <a:p>
            <a:pPr marL="285750" indent="-285750">
              <a:buFont typeface="Wingdings"/>
              <a:buChar char="ü"/>
            </a:pPr>
            <a:endParaRPr lang="en-AU" dirty="0">
              <a:latin typeface="Arial"/>
              <a:cs typeface="Arial"/>
            </a:endParaRPr>
          </a:p>
          <a:p>
            <a:r>
              <a:rPr lang="en-AU" dirty="0">
                <a:latin typeface="Arial"/>
                <a:cs typeface="Arial"/>
              </a:rPr>
              <a:t>3.</a:t>
            </a:r>
          </a:p>
          <a:p>
            <a:r>
              <a:rPr lang="en-AU" b="1" dirty="0">
                <a:latin typeface="Arial"/>
                <a:cs typeface="Arial"/>
              </a:rPr>
              <a:t>Developing number sense activities</a:t>
            </a:r>
            <a:r>
              <a:rPr lang="en-AU" dirty="0">
                <a:latin typeface="Arial"/>
                <a:cs typeface="Arial"/>
              </a:rPr>
              <a:t>: A variety of practical, purposeful tasks that reinforce current learning and build on prior knowledge. These activities promote reasoning, problem-solving and conceptual understanding.</a:t>
            </a:r>
            <a:br>
              <a:rPr lang="en-AU" dirty="0">
                <a:latin typeface="Arial"/>
                <a:cs typeface="Arial"/>
              </a:rPr>
            </a:br>
            <a:br>
              <a:rPr lang="en-AU" dirty="0">
                <a:latin typeface="Arial"/>
                <a:cs typeface="Arial"/>
              </a:rPr>
            </a:br>
            <a:endParaRPr lang="en-US" dirty="0">
              <a:solidFill>
                <a:srgbClr val="444444"/>
              </a:solidFill>
              <a:latin typeface="Arial"/>
              <a:cs typeface="Arial"/>
            </a:endParaRPr>
          </a:p>
          <a:p>
            <a:r>
              <a:rPr lang="en-AU" dirty="0">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dirty="0">
                <a:latin typeface="Arial"/>
                <a:cs typeface="Arial"/>
              </a:rPr>
            </a:br>
            <a:br>
              <a:rPr lang="en-AU" dirty="0"/>
            </a:br>
            <a:endParaRPr lang="en-AU" dirty="0">
              <a:highlight>
                <a:srgbClr val="FFFF00"/>
              </a:highlight>
            </a:endParaRP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a:p>
            <a:pPr>
              <a:defRPr/>
            </a:pP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a:latin typeface="Public Sans"/>
              </a:rPr>
              <a:t>Partitioned fractions A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r>
              <a:rPr lang="en-AU">
                <a:solidFill>
                  <a:srgbClr val="000000"/>
                </a:solidFill>
                <a:latin typeface="Arial"/>
                <a:cs typeface="Arial"/>
              </a:rPr>
              <a:t>Multiplicative relations A</a:t>
            </a:r>
            <a:endParaRPr lang="en-AU" b="1">
              <a:latin typeface="Arial"/>
              <a:cs typeface="Arial"/>
            </a:endParaRPr>
          </a:p>
          <a:p>
            <a:pPr>
              <a:lnSpc>
                <a:spcPts val="1913"/>
              </a:lnSpc>
            </a:pPr>
            <a:br>
              <a:rPr lang="en-US" b="1">
                <a:latin typeface="Arial"/>
                <a:ea typeface="Arial" panose="020B0604020202020204" pitchFamily="34" charset="0"/>
                <a:cs typeface="Arial"/>
              </a:rPr>
            </a:br>
            <a:r>
              <a:rPr lang="en-US" b="1">
                <a:latin typeface="Arial"/>
                <a:ea typeface="Arial" panose="020B0604020202020204" pitchFamily="34" charset="0"/>
                <a:cs typeface="Arial"/>
              </a:rPr>
              <a:t>Rearrange array</a:t>
            </a:r>
            <a:r>
              <a:rPr lang="en-US">
                <a:latin typeface="Arial"/>
                <a:ea typeface="Arial" panose="020B0604020202020204" pitchFamily="34" charset="0"/>
                <a:cs typeface="Arial"/>
              </a:rPr>
              <a:t>s</a:t>
            </a:r>
            <a:br>
              <a:rPr lang="en-US" b="1">
                <a:latin typeface="Arial"/>
                <a:ea typeface="Arial" panose="020B0604020202020204" pitchFamily="34" charset="0"/>
                <a:cs typeface="Arial"/>
              </a:rPr>
            </a:br>
            <a:br>
              <a:rPr lang="en-US" b="1">
                <a:latin typeface="Arial"/>
                <a:ea typeface="Arial" panose="020B0604020202020204" pitchFamily="34" charset="0"/>
                <a:cs typeface="Arial"/>
              </a:rPr>
            </a:br>
            <a:r>
              <a:rPr lang="en-US" sz="1600" b="1">
                <a:solidFill>
                  <a:srgbClr val="000000"/>
                </a:solidFill>
                <a:effectLst/>
                <a:latin typeface="Arial"/>
                <a:ea typeface="Arial" panose="020B0604020202020204" pitchFamily="34" charset="0"/>
                <a:cs typeface="Arial"/>
              </a:rPr>
              <a:t>Factor</a:t>
            </a:r>
            <a:r>
              <a:rPr lang="en-US" sz="1600">
                <a:solidFill>
                  <a:srgbClr val="000000"/>
                </a:solidFill>
                <a:effectLst/>
                <a:latin typeface="Arial"/>
                <a:ea typeface="Arial" panose="020B0604020202020204" pitchFamily="34" charset="0"/>
                <a:cs typeface="Arial"/>
              </a:rPr>
              <a:t>: a number which divides another number without a remainder. For example, 1, 2, 3 and 6 are factors of 6, but 4 and 5 are not.</a:t>
            </a:r>
            <a:endParaRPr lang="en-AU" sz="1600">
              <a:effectLst/>
              <a:latin typeface="Arial"/>
              <a:ea typeface="Calibri" panose="020F0502020204030204" pitchFamily="34" charset="0"/>
              <a:cs typeface="Arial"/>
            </a:endParaRPr>
          </a:p>
          <a:p>
            <a:pPr>
              <a:lnSpc>
                <a:spcPct val="150000"/>
              </a:lnSpc>
              <a:spcBef>
                <a:spcPts val="1200"/>
              </a:spcBef>
              <a:spcAft>
                <a:spcPts val="600"/>
              </a:spcAft>
            </a:pPr>
            <a:r>
              <a:rPr lang="en-AU" sz="1600" b="1">
                <a:solidFill>
                  <a:srgbClr val="000000"/>
                </a:solidFill>
                <a:effectLst/>
                <a:latin typeface="Arial"/>
                <a:ea typeface="Arial" panose="020B0604020202020204" pitchFamily="34" charset="0"/>
                <a:cs typeface="Arial"/>
              </a:rPr>
              <a:t>Product</a:t>
            </a:r>
            <a:r>
              <a:rPr lang="en-AU" sz="1600">
                <a:solidFill>
                  <a:srgbClr val="000000"/>
                </a:solidFill>
                <a:effectLst/>
                <a:latin typeface="Arial"/>
                <a:ea typeface="Arial" panose="020B0604020202020204" pitchFamily="34" charset="0"/>
                <a:cs typeface="Arial"/>
              </a:rPr>
              <a:t>: the result of multiplying 2 or more numbers together, for example, 12 is the product of 4 × 3.</a:t>
            </a:r>
            <a:endParaRPr lang="en-AU" sz="1600">
              <a:effectLst/>
              <a:latin typeface="Arial"/>
              <a:ea typeface="Calibri" panose="020F0502020204030204" pitchFamily="34" charset="0"/>
              <a:cs typeface="Arial"/>
            </a:endParaRPr>
          </a:p>
          <a:p>
            <a:pPr>
              <a:lnSpc>
                <a:spcPct val="150000"/>
              </a:lnSpc>
              <a:spcBef>
                <a:spcPts val="1200"/>
              </a:spcBef>
              <a:spcAft>
                <a:spcPts val="600"/>
              </a:spcAft>
            </a:pPr>
            <a:endParaRPr lang="en-AU">
              <a:latin typeface="Arial"/>
              <a:ea typeface="Calibri"/>
              <a:cs typeface="Arial"/>
            </a:endParaRPr>
          </a:p>
          <a:p>
            <a:pPr>
              <a:lnSpc>
                <a:spcPct val="150000"/>
              </a:lnSpc>
              <a:spcBef>
                <a:spcPts val="1200"/>
              </a:spcBef>
              <a:spcAft>
                <a:spcPts val="600"/>
              </a:spcAft>
            </a:pPr>
            <a:r>
              <a:rPr lang="en-AU">
                <a:latin typeface="Arial"/>
                <a:ea typeface="Calibri"/>
                <a:cs typeface="Arial"/>
              </a:rPr>
              <a:t>Revise</a:t>
            </a:r>
            <a:r>
              <a:rPr lang="en-AU" sz="1600">
                <a:effectLst/>
                <a:latin typeface="Arial"/>
                <a:ea typeface="Calibri"/>
                <a:cs typeface="Arial"/>
              </a:rPr>
              <a:t> that 36 is a product of 9 × 4, 6 × 6, 12 × 3. The factors of 36 are 1, 2, 3, 4, 6, 9, 12, 18, 36</a:t>
            </a:r>
            <a:r>
              <a:rPr lang="en-AU">
                <a:latin typeface="Arial"/>
                <a:ea typeface="Calibri"/>
                <a:cs typeface="Arial"/>
              </a:rPr>
              <a:t>.</a:t>
            </a:r>
          </a:p>
          <a:p>
            <a:pPr>
              <a:lnSpc>
                <a:spcPct val="150000"/>
              </a:lnSpc>
              <a:spcBef>
                <a:spcPts val="1200"/>
              </a:spcBef>
              <a:spcAft>
                <a:spcPts val="600"/>
              </a:spcAft>
            </a:pPr>
            <a:br>
              <a:rPr lang="en-AU">
                <a:latin typeface="Arial"/>
                <a:ea typeface="Calibri"/>
                <a:cs typeface="Arial"/>
              </a:rPr>
            </a:br>
            <a:r>
              <a:rPr lang="en-AU">
                <a:latin typeface="Arial"/>
                <a:cs typeface="Arial"/>
              </a:rPr>
              <a:t>Pose the following: I have 36 counters arranged in an array. How might they be arranged?</a:t>
            </a:r>
          </a:p>
          <a:p>
            <a:pPr>
              <a:lnSpc>
                <a:spcPct val="150000"/>
              </a:lnSpc>
              <a:spcBef>
                <a:spcPts val="1200"/>
              </a:spcBef>
              <a:spcAft>
                <a:spcPts val="600"/>
              </a:spcAft>
            </a:pPr>
            <a:r>
              <a:rPr lang="en-AU">
                <a:latin typeface="Arial"/>
                <a:cs typeface="Arial"/>
              </a:rPr>
              <a:t>Students record their ideas on individual whiteboards. For example, 6 sixes, 9 fours, 12 threes or 36 ones. Provide counters to students who would benefit from the concrete manipulatives.</a:t>
            </a:r>
            <a:endParaRPr lang="en-AU">
              <a:latin typeface="Arial"/>
              <a:ea typeface="Calibri"/>
              <a:cs typeface="Arial"/>
            </a:endParaRPr>
          </a:p>
          <a:p>
            <a:r>
              <a:rPr lang="en-AU">
                <a:latin typeface="Arial"/>
                <a:cs typeface="Arial"/>
              </a:rPr>
              <a:t>Ask the following questions:</a:t>
            </a:r>
          </a:p>
          <a:p>
            <a:pPr marL="285750" indent="-285750">
              <a:buFont typeface="Arial"/>
              <a:buChar char="•"/>
            </a:pPr>
            <a:r>
              <a:rPr lang="en-AU">
                <a:latin typeface="Arial"/>
                <a:cs typeface="Arial"/>
              </a:rPr>
              <a:t>How many possibilities are there? </a:t>
            </a:r>
          </a:p>
          <a:p>
            <a:pPr marL="285750" indent="-285750">
              <a:buFont typeface="Arial"/>
              <a:buChar char="•"/>
            </a:pPr>
            <a:r>
              <a:rPr lang="en-AU">
                <a:latin typeface="Arial"/>
                <a:cs typeface="Arial"/>
              </a:rPr>
              <a:t>How does multiplication help you with this problem?</a:t>
            </a:r>
          </a:p>
          <a:p>
            <a:pPr marL="285750" indent="-285750">
              <a:buFont typeface="Arial"/>
              <a:buChar char="•"/>
            </a:pPr>
            <a:r>
              <a:rPr lang="en-AU">
                <a:latin typeface="Arial"/>
                <a:cs typeface="Arial"/>
              </a:rPr>
              <a:t>How many possible arrays are there?</a:t>
            </a:r>
          </a:p>
          <a:p>
            <a:r>
              <a:rPr lang="en-AU">
                <a:latin typeface="Arial"/>
                <a:cs typeface="Arial"/>
              </a:rPr>
              <a:t>Students share their arrays. List the array combinations for the class.</a:t>
            </a:r>
          </a:p>
          <a:p>
            <a:endParaRPr lang="en-AU">
              <a:latin typeface="Arial"/>
              <a:cs typeface="Arial"/>
            </a:endParaRPr>
          </a:p>
          <a:p>
            <a:r>
              <a:rPr lang="en-AU">
                <a:latin typeface="Arial"/>
                <a:cs typeface="Arial"/>
              </a:rPr>
              <a:t>Ask: If 72 is the product, what are all the factors?</a:t>
            </a:r>
          </a:p>
          <a:p>
            <a:endParaRPr lang="en-AU">
              <a:latin typeface="Arial"/>
              <a:cs typeface="Arial"/>
            </a:endParaRPr>
          </a:p>
          <a:p>
            <a:r>
              <a:rPr lang="en-AU">
                <a:latin typeface="Arial"/>
                <a:cs typeface="Arial"/>
              </a:rPr>
              <a:t>Students record as number sentences where 72 is the product and identify the factors of 72.</a:t>
            </a:r>
          </a:p>
          <a:p>
            <a:r>
              <a:rPr lang="en-AU">
                <a:latin typeface="Arial"/>
                <a:cs typeface="Arial"/>
              </a:rPr>
              <a:t>Ask the following questions:</a:t>
            </a:r>
          </a:p>
          <a:p>
            <a:pPr marL="285750" indent="-285750">
              <a:buFont typeface="Arial"/>
              <a:buChar char="•"/>
            </a:pPr>
            <a:r>
              <a:rPr lang="en-AU">
                <a:latin typeface="Arial"/>
                <a:cs typeface="Arial"/>
              </a:rPr>
              <a:t>How many possibilities are there?</a:t>
            </a:r>
          </a:p>
          <a:p>
            <a:pPr marL="285750" indent="-285750">
              <a:buFont typeface="Arial"/>
              <a:buChar char="•"/>
            </a:pPr>
            <a:r>
              <a:rPr lang="en-AU">
                <a:latin typeface="Arial"/>
                <a:cs typeface="Arial"/>
              </a:rPr>
              <a:t>Did the factors of 36 help you work out the factors of 72? Explain your thinking.</a:t>
            </a:r>
          </a:p>
          <a:p>
            <a:pPr>
              <a:lnSpc>
                <a:spcPct val="150000"/>
              </a:lnSpc>
              <a:spcBef>
                <a:spcPts val="1200"/>
              </a:spcBef>
              <a:spcAft>
                <a:spcPts val="600"/>
              </a:spcAft>
            </a:pPr>
            <a:endParaRPr lang="en-AU" sz="1600">
              <a:effectLst/>
              <a:latin typeface="Arial" panose="020B0604020202020204" pitchFamily="34" charset="0"/>
              <a:ea typeface="Calibri" panose="020F0502020204030204" pitchFamily="34" charset="0"/>
            </a:endParaRP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1919126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B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a:p>
          <a:p>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Position</a:t>
            </a:r>
            <a:endParaRPr lang="en-AU"/>
          </a:p>
          <a:p>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defRPr/>
            </a:pPr>
            <a:endParaRPr lang="en-AU">
              <a:solidFill>
                <a:srgbClr val="444444"/>
              </a:solidFil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a:p>
            <a:pPr>
              <a:defRPr/>
            </a:pPr>
            <a:endParaRPr lang="en-AU" sz="1800">
              <a:latin typeface="Arial"/>
              <a:ea typeface="Calibri"/>
              <a:cs typeface="Arial"/>
            </a:endParaRPr>
          </a:p>
          <a:p>
            <a:pPr>
              <a:defRPr/>
            </a:pPr>
            <a:r>
              <a:rPr lang="en-AU" sz="1800" b="1">
                <a:latin typeface="Arial"/>
                <a:ea typeface="Calibri"/>
                <a:cs typeface="Arial"/>
              </a:rPr>
              <a:t>Determining factors</a:t>
            </a:r>
            <a:br>
              <a:rPr lang="en-AU" sz="1800">
                <a:latin typeface="Arial"/>
                <a:ea typeface="Calibri"/>
                <a:cs typeface="Arial"/>
              </a:rPr>
            </a:br>
            <a:br>
              <a:rPr lang="en-AU" sz="1800">
                <a:latin typeface="Arial"/>
                <a:ea typeface="Calibri"/>
                <a:cs typeface="Arial"/>
              </a:rPr>
            </a:br>
            <a:r>
              <a:rPr lang="en-AU" sz="1800">
                <a:effectLst/>
                <a:latin typeface="Arial"/>
                <a:ea typeface="Calibri"/>
                <a:cs typeface="Arial"/>
              </a:rPr>
              <a:t>This lesson is an adaptation of </a:t>
            </a:r>
            <a:r>
              <a:rPr lang="en-AU" sz="1800" u="sng">
                <a:solidFill>
                  <a:srgbClr val="2F5496"/>
                </a:solidFill>
                <a:effectLst/>
                <a:latin typeface="Arial"/>
                <a:ea typeface="Calibri"/>
                <a:cs typeface="Arial"/>
                <a:hlinkClick r:id="rId3"/>
              </a:rPr>
              <a:t>Factors fun!</a:t>
            </a:r>
            <a:r>
              <a:rPr lang="en-AU" sz="1800">
                <a:effectLst/>
                <a:latin typeface="Arial"/>
                <a:ea typeface="Calibri"/>
                <a:cs typeface="Arial"/>
              </a:rPr>
              <a:t> from </a:t>
            </a:r>
            <a:r>
              <a:rPr lang="en-AU" sz="1800" u="sng">
                <a:solidFill>
                  <a:srgbClr val="2F5496"/>
                </a:solidFill>
                <a:effectLst/>
                <a:latin typeface="Arial"/>
                <a:ea typeface="Calibri"/>
                <a:cs typeface="Arial"/>
                <a:hlinkClick r:id="rId3"/>
              </a:rPr>
              <a:t>Mathematics K–6 resources</a:t>
            </a:r>
            <a:r>
              <a:rPr lang="en-AU" sz="1800">
                <a:effectLst/>
                <a:latin typeface="Arial"/>
                <a:ea typeface="Calibri"/>
                <a:cs typeface="Arial"/>
              </a:rPr>
              <a:t> by the State of New South Wales (Department of Education).</a:t>
            </a:r>
            <a:endParaRPr lang="en-AU"/>
          </a:p>
          <a:p>
            <a:pPr marL="0" marR="0" lvl="0" indent="0" algn="l" defTabSz="1219170" rtl="0" eaLnBrk="1" fontAlgn="auto" latinLnBrk="0" hangingPunct="1">
              <a:lnSpc>
                <a:spcPct val="100000"/>
              </a:lnSpc>
              <a:spcBef>
                <a:spcPts val="0"/>
              </a:spcBef>
              <a:spcAft>
                <a:spcPts val="0"/>
              </a:spcAft>
              <a:buClrTx/>
              <a:buSzTx/>
              <a:buFont typeface="+mj-lt"/>
              <a:buNone/>
              <a:tabLst/>
              <a:defRPr/>
            </a:pPr>
            <a:r>
              <a:rPr lang="en-AU" sz="1800">
                <a:effectLst/>
                <a:latin typeface="Arial"/>
                <a:ea typeface="Calibri"/>
                <a:cs typeface="Arial"/>
              </a:rPr>
              <a:t>Provide pairs of students with </a:t>
            </a:r>
            <a:r>
              <a:rPr lang="en-AU" sz="1800" u="sng">
                <a:solidFill>
                  <a:srgbClr val="2F5496"/>
                </a:solidFill>
                <a:effectLst/>
                <a:latin typeface="Arial"/>
                <a:ea typeface="Calibri"/>
                <a:cs typeface="Arial"/>
                <a:hlinkClick r:id="rId4"/>
              </a:rPr>
              <a:t>Resource 23 – factors fun instructions</a:t>
            </a:r>
            <a:r>
              <a:rPr lang="en-AU" sz="1800">
                <a:effectLst/>
                <a:latin typeface="Arial"/>
                <a:ea typeface="Calibri"/>
                <a:cs typeface="Arial"/>
              </a:rPr>
              <a:t>, </a:t>
            </a:r>
            <a:r>
              <a:rPr lang="en-AU" sz="1800" u="sng">
                <a:solidFill>
                  <a:srgbClr val="2F5496"/>
                </a:solidFill>
                <a:effectLst/>
                <a:latin typeface="Arial"/>
                <a:ea typeface="Calibri"/>
                <a:cs typeface="Arial"/>
                <a:hlinkClick r:id="rId5"/>
              </a:rPr>
              <a:t>Resource 24 – factors fun gameboard</a:t>
            </a:r>
            <a:r>
              <a:rPr lang="en-AU" sz="1800">
                <a:effectLst/>
                <a:latin typeface="Arial"/>
                <a:ea typeface="Calibri"/>
                <a:cs typeface="Arial"/>
              </a:rPr>
              <a:t>, </a:t>
            </a:r>
            <a:r>
              <a:rPr lang="en-AU" sz="1800" u="sng">
                <a:solidFill>
                  <a:srgbClr val="2F5496"/>
                </a:solidFill>
                <a:effectLst/>
                <a:latin typeface="Arial"/>
                <a:ea typeface="Calibri"/>
                <a:cs typeface="Arial"/>
                <a:hlinkClick r:id="rId6"/>
              </a:rPr>
              <a:t>Resource 25– factors fun spinner</a:t>
            </a:r>
            <a:r>
              <a:rPr lang="en-AU" sz="1800">
                <a:effectLst/>
                <a:latin typeface="Arial"/>
                <a:ea typeface="Calibri"/>
                <a:cs typeface="Arial"/>
              </a:rPr>
              <a:t>, counters, a paperclip and pencils. Watch the Factors fun (8:25) video about the steps and reasoning used in this game.</a:t>
            </a:r>
            <a:br>
              <a:rPr lang="en-AU" sz="1800">
                <a:ea typeface="Calibri" panose="020F0502020204030204" pitchFamily="34" charset="0"/>
              </a:rPr>
            </a:br>
            <a:r>
              <a:rPr lang="en-AU">
                <a:latin typeface="Arial"/>
                <a:cs typeface="Arial"/>
              </a:rPr>
              <a:t>Instructions:</a:t>
            </a:r>
          </a:p>
          <a:p>
            <a:pPr marL="342900" indent="-342900">
              <a:buAutoNum type="arabicPeriod"/>
              <a:defRPr/>
            </a:pPr>
            <a:r>
              <a:rPr lang="en-AU"/>
              <a:t>Select a number, for example, 9.</a:t>
            </a:r>
          </a:p>
          <a:p>
            <a:pPr marL="342900" indent="-342900">
              <a:buAutoNum type="arabicPeriod"/>
              <a:defRPr/>
            </a:pPr>
            <a:r>
              <a:rPr lang="en-AU"/>
              <a:t>Fill the spinner with multiples of your chosen number.</a:t>
            </a:r>
          </a:p>
          <a:p>
            <a:pPr marL="342900" indent="-342900">
              <a:buAutoNum type="arabicPeriod"/>
              <a:defRPr/>
            </a:pPr>
            <a:r>
              <a:rPr lang="en-AU"/>
              <a:t>Take turns to spin the spinner and divide the number by the chosen divisor (for example, 9).</a:t>
            </a:r>
          </a:p>
          <a:p>
            <a:pPr marL="342900" indent="-342900">
              <a:buAutoNum type="arabicPeriod"/>
              <a:defRPr/>
            </a:pPr>
            <a:r>
              <a:rPr lang="en-AU"/>
              <a:t>Players recall the multiplication fact and record the number sentence on the tracking sheet.</a:t>
            </a:r>
          </a:p>
          <a:p>
            <a:pPr marL="342900" indent="-342900">
              <a:buAutoNum type="arabicPeriod"/>
              <a:defRPr/>
            </a:pPr>
            <a:r>
              <a:rPr lang="en-AU"/>
              <a:t>If correct, the player places a counter on the number on the game board, claiming that place.</a:t>
            </a:r>
          </a:p>
          <a:p>
            <a:pPr marL="342900" indent="-342900">
              <a:buAutoNum type="arabicPeriod"/>
              <a:defRPr/>
            </a:pPr>
            <a:r>
              <a:rPr lang="en-AU"/>
              <a:t>If the number is taken, students miss a turn.</a:t>
            </a:r>
          </a:p>
          <a:p>
            <a:pPr marL="342900" indent="-342900">
              <a:buAutoNum type="arabicPeriod"/>
              <a:defRPr/>
            </a:pPr>
            <a:r>
              <a:rPr lang="en-AU"/>
              <a:t>Players win by getting four counters in a row (in any orientation) or by making a four square.</a:t>
            </a:r>
          </a:p>
          <a:p>
            <a:pPr marL="342900" indent="-342900">
              <a:buAutoNum type="arabicPeriod"/>
              <a:defRPr/>
            </a:pPr>
            <a:r>
              <a:rPr lang="en-AU"/>
              <a:t>In this version, players have many counters to place on the gameboard.</a:t>
            </a:r>
          </a:p>
          <a:p>
            <a:pPr marL="342900" indent="-342900">
              <a:buAutoNum type="arabicPeriod"/>
              <a:defRPr/>
            </a:pPr>
            <a:r>
              <a:rPr lang="en-AU"/>
              <a:t>Observe student reasoning and completed gameboards</a:t>
            </a:r>
          </a:p>
          <a:p>
            <a:pPr>
              <a:defRPr/>
            </a:pPr>
            <a:endParaRPr lang="en-AU" sz="180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537156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Represents numbers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2D shapes</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4833-1F85-A8D5-9DE7-AC27C1569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9529B-4C8D-A457-504B-4C8892750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F85EF-0FE7-E950-CE62-B1B65D09EDFC}"/>
              </a:ext>
            </a:extLst>
          </p:cNvPr>
          <p:cNvSpPr>
            <a:spLocks noGrp="1"/>
          </p:cNvSpPr>
          <p:nvPr>
            <p:ph type="body" idx="1"/>
          </p:nvPr>
        </p:nvSpPr>
        <p:spPr/>
        <p:txBody>
          <a:bodyPr/>
          <a:lstStyle/>
          <a:p>
            <a:pPr>
              <a:lnSpc>
                <a:spcPct val="150000"/>
              </a:lnSpc>
              <a:spcBef>
                <a:spcPts val="1200"/>
              </a:spcBef>
              <a:spcAft>
                <a:spcPts val="600"/>
              </a:spcAft>
              <a:defRPr/>
            </a:pPr>
            <a:r>
              <a:rPr lang="en-AU"/>
              <a:t>This is a developing number sense activity. </a:t>
            </a:r>
            <a:endParaRPr lang="en-US">
              <a:solidFill>
                <a:srgbClr val="444444"/>
              </a:solidFil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endParaRPr>
          </a:p>
          <a:p>
            <a:pPr>
              <a:lnSpc>
                <a:spcPts val="1913"/>
              </a:lnSpc>
              <a:defRPr/>
            </a:pPr>
            <a:endParaRPr lang="en-AU">
              <a:solidFill>
                <a:srgbClr val="444444"/>
              </a:solidFill>
            </a:endParaRPr>
          </a:p>
          <a:p>
            <a:pPr>
              <a:defRPr/>
            </a:pPr>
            <a:r>
              <a:rPr lang="en-AU" b="1"/>
              <a:t>Syllabus focus area:</a:t>
            </a:r>
            <a:endParaRPr lang="en-US">
              <a:solidFill>
                <a:srgbClr val="444444"/>
              </a:solidFill>
            </a:endParaRPr>
          </a:p>
          <a:p>
            <a:pPr>
              <a:defRPr/>
            </a:pPr>
            <a:r>
              <a:rPr lang="en-AU"/>
              <a:t>Multiplicative relations A</a:t>
            </a:r>
          </a:p>
          <a:p>
            <a:pPr>
              <a:defRPr/>
            </a:pPr>
            <a:endParaRPr lang="en-AU" sz="1800">
              <a:latin typeface="Arial"/>
              <a:ea typeface="Calibri"/>
              <a:cs typeface="Arial"/>
            </a:endParaRPr>
          </a:p>
          <a:p>
            <a:pPr marL="0" marR="0" lvl="0" indent="0" algn="l" defTabSz="1219170">
              <a:lnSpc>
                <a:spcPct val="100000"/>
              </a:lnSpc>
              <a:spcBef>
                <a:spcPts val="0"/>
              </a:spcBef>
              <a:spcAft>
                <a:spcPts val="0"/>
              </a:spcAft>
              <a:buClrTx/>
              <a:buSzTx/>
              <a:buFont typeface="+mj-lt"/>
              <a:buNone/>
              <a:tabLst/>
              <a:defRPr/>
            </a:pPr>
            <a:r>
              <a:rPr lang="en-AU" sz="1800">
                <a:effectLst/>
                <a:latin typeface="Arial"/>
                <a:ea typeface="Calibri"/>
                <a:cs typeface="Arial"/>
              </a:rPr>
              <a:t>This lesson is an adaptation of </a:t>
            </a:r>
            <a:r>
              <a:rPr lang="en-AU" sz="1800" u="sng">
                <a:solidFill>
                  <a:srgbClr val="2F5496"/>
                </a:solidFill>
                <a:effectLst/>
                <a:latin typeface="Arial"/>
                <a:ea typeface="Calibri"/>
                <a:cs typeface="Arial"/>
                <a:hlinkClick r:id="rId3"/>
              </a:rPr>
              <a:t>Factors fun!</a:t>
            </a:r>
            <a:r>
              <a:rPr lang="en-AU" sz="1800">
                <a:effectLst/>
                <a:latin typeface="Arial"/>
                <a:ea typeface="Calibri"/>
                <a:cs typeface="Arial"/>
              </a:rPr>
              <a:t> from </a:t>
            </a:r>
            <a:r>
              <a:rPr lang="en-AU" sz="1800" u="sng">
                <a:solidFill>
                  <a:srgbClr val="2F5496"/>
                </a:solidFill>
                <a:effectLst/>
                <a:latin typeface="Arial"/>
                <a:ea typeface="Calibri"/>
                <a:cs typeface="Arial"/>
                <a:hlinkClick r:id="rId3"/>
              </a:rPr>
              <a:t>Mathematics K–6 resources</a:t>
            </a:r>
            <a:r>
              <a:rPr lang="en-AU" sz="1800">
                <a:effectLst/>
                <a:latin typeface="Arial"/>
                <a:ea typeface="Calibri"/>
                <a:cs typeface="Arial"/>
              </a:rPr>
              <a:t> by the State of New South Wales (Department of Education).</a:t>
            </a:r>
            <a:endParaRPr lang="en-AU"/>
          </a:p>
          <a:p>
            <a:pPr marL="0" marR="0" lvl="0" indent="0" algn="l" defTabSz="1219170" rtl="0" eaLnBrk="1" fontAlgn="auto" latinLnBrk="0" hangingPunct="1">
              <a:lnSpc>
                <a:spcPct val="100000"/>
              </a:lnSpc>
              <a:spcBef>
                <a:spcPts val="0"/>
              </a:spcBef>
              <a:spcAft>
                <a:spcPts val="0"/>
              </a:spcAft>
              <a:buClrTx/>
              <a:buSzTx/>
              <a:buFont typeface="+mj-lt"/>
              <a:buNone/>
              <a:tabLst/>
              <a:defRPr/>
            </a:pPr>
            <a:r>
              <a:rPr lang="en-AU" sz="1800">
                <a:effectLst/>
                <a:latin typeface="Arial"/>
                <a:ea typeface="Calibri"/>
                <a:cs typeface="Arial"/>
              </a:rPr>
              <a:t>Provide pairs of students with </a:t>
            </a:r>
            <a:r>
              <a:rPr lang="en-AU" sz="1800" u="sng">
                <a:solidFill>
                  <a:srgbClr val="2F5496"/>
                </a:solidFill>
                <a:effectLst/>
                <a:latin typeface="Arial"/>
                <a:ea typeface="Calibri"/>
                <a:cs typeface="Arial"/>
                <a:hlinkClick r:id="rId4"/>
              </a:rPr>
              <a:t>Resource 23 – factors fun instructions</a:t>
            </a:r>
            <a:r>
              <a:rPr lang="en-AU" sz="1800">
                <a:effectLst/>
                <a:latin typeface="Arial"/>
                <a:ea typeface="Calibri"/>
                <a:cs typeface="Arial"/>
              </a:rPr>
              <a:t>, </a:t>
            </a:r>
            <a:r>
              <a:rPr lang="en-AU" sz="1800" u="sng">
                <a:solidFill>
                  <a:srgbClr val="2F5496"/>
                </a:solidFill>
                <a:effectLst/>
                <a:latin typeface="Arial"/>
                <a:ea typeface="Calibri"/>
                <a:cs typeface="Arial"/>
                <a:hlinkClick r:id="rId5"/>
              </a:rPr>
              <a:t>Resource 24– factors fun gameboard</a:t>
            </a:r>
            <a:r>
              <a:rPr lang="en-AU" sz="1800">
                <a:effectLst/>
                <a:latin typeface="Arial"/>
                <a:ea typeface="Calibri"/>
                <a:cs typeface="Arial"/>
              </a:rPr>
              <a:t>, </a:t>
            </a:r>
            <a:r>
              <a:rPr lang="en-AU" sz="1800" u="sng">
                <a:solidFill>
                  <a:srgbClr val="2F5496"/>
                </a:solidFill>
                <a:effectLst/>
                <a:latin typeface="Arial"/>
                <a:ea typeface="Calibri"/>
                <a:cs typeface="Arial"/>
                <a:hlinkClick r:id="rId6"/>
              </a:rPr>
              <a:t>Resource 25– factors fun spinner</a:t>
            </a:r>
            <a:r>
              <a:rPr lang="en-AU" sz="1800">
                <a:effectLst/>
                <a:latin typeface="Arial"/>
                <a:ea typeface="Calibri"/>
                <a:cs typeface="Arial"/>
              </a:rPr>
              <a:t>, counters, a paperclip and pencils. Watch the Factors fun (8:25) video about the steps and reasoning used in this game.</a:t>
            </a:r>
          </a:p>
          <a:p>
            <a:pPr marL="0" marR="0" lvl="0" indent="0" algn="l" defTabSz="1219170" rtl="0" eaLnBrk="1" fontAlgn="auto" latinLnBrk="0" hangingPunct="1">
              <a:lnSpc>
                <a:spcPct val="100000"/>
              </a:lnSpc>
              <a:spcBef>
                <a:spcPts val="0"/>
              </a:spcBef>
              <a:spcAft>
                <a:spcPts val="0"/>
              </a:spcAft>
              <a:buClrTx/>
              <a:buSzTx/>
              <a:buFont typeface="+mj-lt"/>
              <a:buNone/>
              <a:tabLst/>
              <a:defRPr/>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Players win by getting 4 counters in a row (in any orientation, including a square).</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If preferred, students can use 5 or 6 counters, looking for 4 in a row. </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Observe student reasoning and completed gameboards.</a:t>
            </a:r>
          </a:p>
        </p:txBody>
      </p:sp>
      <p:sp>
        <p:nvSpPr>
          <p:cNvPr id="4" name="Slide Number Placeholder 3">
            <a:extLst>
              <a:ext uri="{FF2B5EF4-FFF2-40B4-BE49-F238E27FC236}">
                <a16:creationId xmlns:a16="http://schemas.microsoft.com/office/drawing/2014/main" id="{0B370F8B-88BE-7ED7-009B-24265E51C367}"/>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109954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Area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 numbers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 3D objects</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solidFill>
                  <a:srgbClr val="000000"/>
                </a:solidFill>
              </a:rPr>
              <a:t>This is a developing number sense activity. </a:t>
            </a:r>
            <a:endParaRPr lang="en-US">
              <a:solidFill>
                <a:srgbClr val="444444"/>
              </a:solidFil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endParaRPr>
          </a:p>
          <a:p>
            <a:pPr>
              <a:lnSpc>
                <a:spcPts val="1913"/>
              </a:lnSpc>
              <a:defRPr/>
            </a:pPr>
            <a:endParaRPr lang="en-AU">
              <a:solidFill>
                <a:srgbClr val="444444"/>
              </a:solidFill>
            </a:endParaRPr>
          </a:p>
          <a:p>
            <a:pPr>
              <a:defRPr/>
            </a:pPr>
            <a:r>
              <a:rPr lang="en-AU" b="1">
                <a:solidFill>
                  <a:srgbClr val="000000"/>
                </a:solidFill>
              </a:rPr>
              <a:t>Syllabus focus area:</a:t>
            </a:r>
            <a:endParaRPr lang="en-US">
              <a:solidFill>
                <a:srgbClr val="444444"/>
              </a:solidFill>
            </a:endParaRPr>
          </a:p>
          <a:p>
            <a:pPr>
              <a:defRPr/>
            </a:pPr>
            <a:r>
              <a:rPr lang="en-AU">
                <a:solidFill>
                  <a:srgbClr val="000000"/>
                </a:solidFill>
              </a:rPr>
              <a:t>Multiplicative relations A</a:t>
            </a:r>
            <a:endParaRPr lang="en-AU"/>
          </a:p>
          <a:p>
            <a:pPr>
              <a:tabLst>
                <a:tab pos="228600" algn="l"/>
                <a:tab pos="859155" algn="l"/>
                <a:tab pos="859155" algn="l"/>
              </a:tabLst>
            </a:pPr>
            <a:endParaRPr lang="en-AU">
              <a:latin typeface="Arial"/>
              <a:ea typeface="Calibri" panose="020F0502020204030204" pitchFamily="34" charset="0"/>
              <a:cs typeface="Arial"/>
            </a:endParaRPr>
          </a:p>
          <a:p>
            <a:pPr>
              <a:tabLst>
                <a:tab pos="228600" algn="l"/>
                <a:tab pos="859155" algn="l"/>
                <a:tab pos="859155" algn="l"/>
              </a:tabLst>
            </a:pPr>
            <a:r>
              <a:rPr lang="en-AU" b="1">
                <a:latin typeface="Arial"/>
                <a:ea typeface="Calibri"/>
                <a:cs typeface="Arial"/>
              </a:rPr>
              <a:t>Factor multiple chains</a:t>
            </a:r>
            <a:endParaRPr lang="en-AU" b="1">
              <a:latin typeface="Arial"/>
              <a:ea typeface="Calibri" panose="020F0502020204030204" pitchFamily="34" charset="0"/>
              <a:cs typeface="Arial"/>
            </a:endParaRPr>
          </a:p>
          <a:p>
            <a:pPr>
              <a:tabLst>
                <a:tab pos="228600" algn="l"/>
                <a:tab pos="859155" algn="l"/>
                <a:tab pos="859155" algn="l"/>
              </a:tabLst>
            </a:pPr>
            <a:endParaRPr lang="en-AU">
              <a:latin typeface="Arial"/>
              <a:ea typeface="Calibri" panose="020F0502020204030204" pitchFamily="34" charset="0"/>
              <a:cs typeface="Arial"/>
            </a:endParaRPr>
          </a:p>
          <a:p>
            <a:pPr marL="0" lvl="0" indent="0">
              <a:lnSpc>
                <a:spcPct val="150000"/>
              </a:lnSpc>
              <a:spcBef>
                <a:spcPts val="1200"/>
              </a:spcBef>
              <a:spcAft>
                <a:spcPts val="600"/>
              </a:spcAft>
              <a:buFont typeface="+mj-lt"/>
              <a:buNone/>
              <a:tabLst>
                <a:tab pos="228600" algn="l"/>
                <a:tab pos="859155" algn="l"/>
                <a:tab pos="859155" algn="l"/>
              </a:tabLst>
            </a:pPr>
            <a:r>
              <a:rPr lang="en-AU" sz="1800">
                <a:effectLst/>
                <a:latin typeface="Arial"/>
                <a:ea typeface="Calibri"/>
                <a:cs typeface="Arial"/>
              </a:rPr>
              <a:t>Display </a:t>
            </a:r>
            <a:r>
              <a:rPr lang="en-AU" sz="1800" u="sng">
                <a:solidFill>
                  <a:srgbClr val="2F5496"/>
                </a:solidFill>
                <a:effectLst/>
                <a:latin typeface="Arial"/>
                <a:ea typeface="Calibri"/>
                <a:cs typeface="Arial"/>
                <a:hlinkClick r:id="rId3"/>
              </a:rPr>
              <a:t>Resource 24 – factor-multiple chains.</a:t>
            </a:r>
            <a:r>
              <a:rPr lang="en-AU" sz="1800">
                <a:effectLst/>
                <a:latin typeface="Arial"/>
                <a:ea typeface="Calibri"/>
                <a:cs typeface="Arial"/>
              </a:rPr>
              <a:t> Explain how the chain works. Ask the following questions:</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a:effectLst/>
                <a:latin typeface="Arial" panose="020B0604020202020204" pitchFamily="34" charset="0"/>
                <a:ea typeface="Calibri" panose="020F0502020204030204" pitchFamily="34" charset="0"/>
              </a:rPr>
              <a:t>What does the word factor mean?</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a:effectLst/>
                <a:latin typeface="Arial" panose="020B0604020202020204" pitchFamily="34" charset="0"/>
                <a:ea typeface="Calibri" panose="020F0502020204030204" pitchFamily="34" charset="0"/>
              </a:rPr>
              <a:t>What does the word multiple mean?</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a:effectLst/>
                <a:latin typeface="Arial" panose="020B0604020202020204" pitchFamily="34" charset="0"/>
                <a:ea typeface="Calibri" panose="020F0502020204030204" pitchFamily="34" charset="0"/>
              </a:rPr>
              <a:t>Can you explain the connection between the numbers in the chain?</a:t>
            </a:r>
          </a:p>
          <a:p>
            <a:endParaRPr lang="en-AU" sz="1800" b="0" i="0">
              <a:solidFill>
                <a:srgbClr val="000000"/>
              </a:solidFill>
              <a:effectLst/>
              <a:highlight>
                <a:srgbClr val="FFFFFF"/>
              </a:highlight>
              <a:latin typeface="Arial" panose="020B0604020202020204" pitchFamily="34" charset="0"/>
            </a:endParaRPr>
          </a:p>
          <a:p>
            <a:endParaRPr lang="en-AU" sz="1800" b="0" i="0">
              <a:solidFill>
                <a:srgbClr val="000000"/>
              </a:solidFill>
              <a:effectLst/>
              <a:highlight>
                <a:srgbClr val="FFFFFF"/>
              </a:highlight>
              <a:latin typeface="Arial" panose="020B0604020202020204" pitchFamily="34" charset="0"/>
            </a:endParaRPr>
          </a:p>
          <a:p>
            <a:r>
              <a:rPr lang="en-AU" sz="1800" b="0" i="0">
                <a:solidFill>
                  <a:srgbClr val="000000"/>
                </a:solidFill>
                <a:effectLst/>
                <a:highlight>
                  <a:srgbClr val="FFFFFF"/>
                </a:highlight>
                <a:latin typeface="Arial"/>
                <a:cs typeface="Arial"/>
              </a:rPr>
              <a:t>This lesson is an adaptation of </a:t>
            </a:r>
            <a:r>
              <a:rPr lang="en-AU" sz="1800" b="0" i="0" u="sng" strike="noStrike">
                <a:solidFill>
                  <a:srgbClr val="2F5496"/>
                </a:solidFill>
                <a:effectLst/>
                <a:highlight>
                  <a:srgbClr val="FFFFFF"/>
                </a:highlight>
                <a:latin typeface="Arial"/>
                <a:cs typeface="Arial"/>
                <a:hlinkClick r:id="rId4"/>
              </a:rPr>
              <a:t>Factor-multiple Chains</a:t>
            </a:r>
            <a:r>
              <a:rPr lang="en-AU" sz="1800" b="0" i="0">
                <a:solidFill>
                  <a:srgbClr val="000000"/>
                </a:solidFill>
                <a:effectLst/>
                <a:highlight>
                  <a:srgbClr val="FFFFFF"/>
                </a:highlight>
                <a:latin typeface="Arial"/>
                <a:cs typeface="Arial"/>
              </a:rPr>
              <a:t> from </a:t>
            </a:r>
            <a:r>
              <a:rPr lang="en-AU" sz="1800" b="0" i="0" u="sng" strike="noStrike">
                <a:solidFill>
                  <a:srgbClr val="2F5496"/>
                </a:solidFill>
                <a:effectLst/>
                <a:highlight>
                  <a:srgbClr val="FFFFFF"/>
                </a:highlight>
                <a:latin typeface="Arial"/>
                <a:cs typeface="Arial"/>
                <a:hlinkClick r:id="rId5"/>
              </a:rPr>
              <a:t>NRICH</a:t>
            </a:r>
            <a:r>
              <a:rPr lang="en-AU" sz="1800" b="0" i="0">
                <a:solidFill>
                  <a:srgbClr val="000000"/>
                </a:solidFill>
                <a:effectLst/>
                <a:highlight>
                  <a:srgbClr val="FFFFFF"/>
                </a:highlight>
                <a:latin typeface="Arial"/>
                <a:cs typeface="Arial"/>
              </a:rPr>
              <a:t> by the University of Cambridge. </a:t>
            </a:r>
          </a:p>
          <a:p>
            <a:endParaRPr lang="en-AU" sz="1800" b="0" i="0">
              <a:solidFill>
                <a:srgbClr val="000000"/>
              </a:solidFill>
              <a:effectLst/>
              <a:highlight>
                <a:srgbClr val="FFFFFF"/>
              </a:highlight>
              <a:latin typeface="Arial" panose="020B060402020202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a:ea typeface="Calibri"/>
                <a:cs typeface="Arial"/>
              </a:rPr>
              <a:t>Provide students with </a:t>
            </a:r>
            <a:r>
              <a:rPr lang="en-AU" sz="1800" u="sng">
                <a:solidFill>
                  <a:srgbClr val="2F5496"/>
                </a:solidFill>
                <a:effectLst/>
                <a:latin typeface="Arial"/>
                <a:ea typeface="Calibri"/>
                <a:cs typeface="Arial"/>
                <a:hlinkClick r:id="rId3"/>
              </a:rPr>
              <a:t>Resource 27 – blank chains</a:t>
            </a:r>
            <a:r>
              <a:rPr lang="en-AU" sz="1800">
                <a:effectLst/>
                <a:latin typeface="Arial"/>
                <a:ea typeface="Calibri"/>
                <a:cs typeface="Arial"/>
              </a:rPr>
              <a:t> . Ask students to develop their own factor-multiple chains with numbers from 2 to 100 using one of the resources.</a:t>
            </a:r>
          </a:p>
          <a:p>
            <a:pPr marL="342900" lvl="0" indent="-342900">
              <a:lnSpc>
                <a:spcPct val="150000"/>
              </a:lnSpc>
              <a:spcBef>
                <a:spcPts val="1200"/>
              </a:spcBef>
              <a:spcAft>
                <a:spcPts val="600"/>
              </a:spcAft>
              <a:buFont typeface="+mj-lt"/>
              <a:buAutoNum type="arabicPeriod" startAt="2"/>
            </a:pPr>
            <a:r>
              <a:rPr lang="en-AU" sz="1800">
                <a:effectLst/>
                <a:latin typeface="Arial"/>
                <a:ea typeface="Calibri"/>
                <a:cs typeface="Arial"/>
              </a:rPr>
              <a:t>Students </a:t>
            </a:r>
            <a:r>
              <a:rPr lang="en-AU" sz="1800" u="sng">
                <a:solidFill>
                  <a:srgbClr val="2F5496"/>
                </a:solidFill>
                <a:effectLst/>
                <a:latin typeface="Arial"/>
                <a:ea typeface="Calibri"/>
                <a:cs typeface="Arial"/>
                <a:hlinkClick r:id="rId6"/>
              </a:rPr>
              <a:t>turn and talk</a:t>
            </a:r>
            <a:r>
              <a:rPr lang="en-AU" sz="1800">
                <a:effectLst/>
                <a:latin typeface="Arial"/>
                <a:ea typeface="Calibri"/>
                <a:cs typeface="Arial"/>
              </a:rPr>
              <a:t> and share their ideas. Ask the following questions:</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are the smallest numbers that will make a complete chain? (2, 4, 8, 16).</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are the largest numbers that will make a complete chain? (5, 25, 50, 100).</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numbers cannot appear in any chain? (Prime numbers larger than 12 do not work and prime numbers smaller than 12 can only appear at the start.)</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600477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Represents numbers A: Decimals and percentages</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Area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A: Time</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defTabSz="914400">
              <a:lnSpc>
                <a:spcPct val="150000"/>
              </a:lnSpc>
              <a:spcBef>
                <a:spcPts val="1200"/>
              </a:spcBef>
              <a:spcAft>
                <a:spcPts val="600"/>
              </a:spcAft>
            </a:pPr>
            <a:endParaRPr lang="en-AU">
              <a:solidFill>
                <a:srgbClr val="444444"/>
              </a:solidFill>
            </a:endParaRPr>
          </a:p>
          <a:p>
            <a:pPr defTabSz="914400">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defTabSz="914400">
              <a:lnSpc>
                <a:spcPts val="1913"/>
              </a:lnSpc>
            </a:pPr>
            <a:endParaRPr lang="en-AU">
              <a:solidFill>
                <a:srgbClr val="444444"/>
              </a:solidFill>
            </a:endParaRPr>
          </a:p>
          <a:p>
            <a:pPr defTabSz="914400"/>
            <a:r>
              <a:rPr lang="en-AU" b="1">
                <a:latin typeface="Arial"/>
                <a:cs typeface="Arial"/>
              </a:rPr>
              <a:t>Syllabus focus area:</a:t>
            </a:r>
            <a:endParaRPr lang="en-US">
              <a:solidFill>
                <a:srgbClr val="444444"/>
              </a:solidFill>
              <a:latin typeface="Arial"/>
              <a:cs typeface="Arial"/>
            </a:endParaRPr>
          </a:p>
          <a:p>
            <a:pPr defTabSz="914400"/>
            <a:r>
              <a:rPr lang="en-AU">
                <a:solidFill>
                  <a:srgbClr val="000000"/>
                </a:solidFill>
                <a:latin typeface="Arial"/>
                <a:cs typeface="Arial"/>
              </a:rPr>
              <a:t>Represent numbers A: Decimals and percentages</a:t>
            </a:r>
          </a:p>
          <a:p>
            <a:pPr defTabSz="914400"/>
            <a:endParaRPr lang="en-AU">
              <a:latin typeface="Arial"/>
              <a:ea typeface="Calibri"/>
              <a:cs typeface="Arial"/>
            </a:endParaRPr>
          </a:p>
          <a:p>
            <a:pPr defTabSz="914400"/>
            <a:r>
              <a:rPr lang="en-AU" b="1">
                <a:latin typeface="Arial"/>
                <a:ea typeface="Calibri"/>
                <a:cs typeface="Arial"/>
              </a:rPr>
              <a:t>Decimals on a number line</a:t>
            </a:r>
          </a:p>
          <a:p>
            <a:pPr defTabSz="914400">
              <a:spcBef>
                <a:spcPct val="0"/>
              </a:spcBef>
              <a:spcAft>
                <a:spcPct val="0"/>
              </a:spcAft>
            </a:pPr>
            <a:endParaRPr lang="en-AU" sz="1800" b="1">
              <a:latin typeface="Arial"/>
              <a:ea typeface="Calibri"/>
              <a:cs typeface="Arial"/>
            </a:endParaRPr>
          </a:p>
          <a:p>
            <a:pPr marL="0" marR="0" lvl="0" indent="0" algn="l" defTabSz="914400">
              <a:lnSpc>
                <a:spcPct val="100000"/>
              </a:lnSpc>
              <a:spcBef>
                <a:spcPct val="0"/>
              </a:spcBef>
              <a:spcAft>
                <a:spcPct val="0"/>
              </a:spcAft>
              <a:buClrTx/>
              <a:buSzTx/>
              <a:buFontTx/>
              <a:buNone/>
              <a:tabLst/>
            </a:pPr>
            <a:r>
              <a:rPr lang="en-AU" sz="1800" b="1">
                <a:effectLst/>
                <a:latin typeface="Arial"/>
                <a:ea typeface="Calibri"/>
                <a:cs typeface="Arial"/>
              </a:rPr>
              <a:t>Note</a:t>
            </a:r>
            <a:r>
              <a:rPr lang="en-AU" sz="1800">
                <a:effectLst/>
                <a:latin typeface="Arial"/>
                <a:ea typeface="Calibri"/>
                <a:cs typeface="Arial"/>
              </a:rPr>
              <a:t>: pre-cut </a:t>
            </a:r>
            <a:r>
              <a:rPr lang="en-AU" sz="1800" u="sng">
                <a:solidFill>
                  <a:srgbClr val="2F5496"/>
                </a:solidFill>
                <a:effectLst/>
                <a:latin typeface="Arial"/>
                <a:ea typeface="Calibri"/>
                <a:cs typeface="Arial"/>
                <a:hlinkClick r:id="rId3"/>
              </a:rPr>
              <a:t>Resource 27– decimal cards</a:t>
            </a:r>
            <a:r>
              <a:rPr lang="en-AU" sz="1800">
                <a:effectLst/>
                <a:latin typeface="Arial"/>
                <a:ea typeface="Calibri"/>
                <a:cs typeface="Arial"/>
              </a:rPr>
              <a:t> before the start of the lesson</a:t>
            </a:r>
            <a:endParaRPr lang="en-AU"/>
          </a:p>
          <a:p>
            <a:pPr defTabSz="914400">
              <a:spcBef>
                <a:spcPct val="0"/>
              </a:spcBef>
              <a:spcAft>
                <a:spcPct val="0"/>
              </a:spcAft>
            </a:pPr>
            <a:endParaRPr lang="en-AU" sz="1800">
              <a:latin typeface="Arial"/>
              <a:ea typeface="Calibri"/>
              <a:cs typeface="Arial"/>
            </a:endParaRPr>
          </a:p>
          <a:p>
            <a:pPr defTabSz="914400"/>
            <a:r>
              <a:rPr lang="en-AU">
                <a:latin typeface="Arial"/>
                <a:cs typeface="Arial"/>
              </a:rPr>
              <a:t>Display a large, blank number line on the board.</a:t>
            </a:r>
          </a:p>
          <a:p>
            <a:pPr defTabSz="914400"/>
            <a:r>
              <a:rPr lang="en-AU">
                <a:latin typeface="Arial"/>
                <a:cs typeface="Arial"/>
              </a:rPr>
              <a:t>Give each student a card from </a:t>
            </a:r>
            <a:r>
              <a:rPr lang="en-AU">
                <a:latin typeface="Arial"/>
                <a:cs typeface="Arial"/>
                <a:hlinkClick r:id="rId4"/>
              </a:rPr>
              <a:t>Resource 26 – decimal cards.</a:t>
            </a:r>
            <a:r>
              <a:rPr lang="en-AU">
                <a:latin typeface="Arial"/>
                <a:cs typeface="Arial"/>
              </a:rPr>
              <a:t> Ask the following question: Which decimal cards should be placed first to provide a benchmark for other numbers? For example, 0.0, 1.0, 2.0, 3.0 and 4.0.</a:t>
            </a:r>
          </a:p>
          <a:p>
            <a:pPr defTabSz="914400"/>
            <a:r>
              <a:rPr lang="en-AU">
                <a:latin typeface="Arial"/>
                <a:cs typeface="Arial"/>
              </a:rPr>
              <a:t>Ask students with benchmark number cards to say their numbers aloud and place them onto the blank number line.</a:t>
            </a:r>
          </a:p>
          <a:p>
            <a:pPr defTabSz="914400">
              <a:spcBef>
                <a:spcPct val="0"/>
              </a:spcBef>
              <a:spcAft>
                <a:spcPct val="0"/>
              </a:spcAft>
            </a:pPr>
            <a:r>
              <a:rPr lang="en-AU">
                <a:latin typeface="Arial"/>
                <a:cs typeface="Arial"/>
              </a:rPr>
              <a:t>Remaining students say their number aloud and then decide where it should be placed on the number line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sz="1000" b="0" i="0" u="none" strike="noStrike" cap="none" normalizeH="0" baseline="0">
                <a:ln>
                  <a:noFill/>
                </a:ln>
                <a:solidFill>
                  <a:schemeClr val="tx1"/>
                </a:solidFill>
                <a:effectLst/>
                <a:latin typeface="Arial"/>
                <a:ea typeface="Calibri"/>
                <a:cs typeface="Arial"/>
              </a:rPr>
              <a:t>Once students have placed all numbers, ask the following questions:</a:t>
            </a:r>
            <a:endParaRPr kumimoji="0" lang="en-AU" altLang="en-US" sz="800" b="0" i="0" u="none" strike="noStrike" cap="none" normalizeH="0" baseline="0">
              <a:ln>
                <a:noFill/>
              </a:ln>
              <a:solidFill>
                <a:schemeClr val="tx1"/>
              </a:solidFill>
              <a:effectLst/>
              <a:latin typeface="Arial"/>
              <a:ea typeface="Calibri"/>
              <a:cs typeface="Arial"/>
            </a:endParaRP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a:effectLst/>
                <a:latin typeface="Arial"/>
                <a:ea typeface="Calibri"/>
                <a:cs typeface="Arial"/>
              </a:rPr>
              <a:t>Are there any numbers that need to have their position adjusted? If yes, explain why.</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a:effectLst/>
                <a:latin typeface="Arial"/>
                <a:ea typeface="Calibri"/>
                <a:cs typeface="Arial"/>
              </a:rPr>
              <a:t>Which decimals are closest to the benchmark numbers?</a:t>
            </a:r>
          </a:p>
          <a:p>
            <a:pPr marL="342900" lvl="0" indent="-342900">
              <a:lnSpc>
                <a:spcPct val="150000"/>
              </a:lnSpc>
              <a:spcBef>
                <a:spcPts val="1200"/>
              </a:spcBef>
              <a:spcAft>
                <a:spcPts val="600"/>
              </a:spcAft>
              <a:buFont typeface="Symbol" panose="05050102010706020507" pitchFamily="18" charset="2"/>
              <a:buChar char=""/>
              <a:tabLst>
                <a:tab pos="408305" algn="l"/>
              </a:tabLst>
            </a:pPr>
            <a:r>
              <a:rPr lang="en-AU" sz="1800">
                <a:effectLst/>
                <a:latin typeface="Arial"/>
                <a:ea typeface="Calibri"/>
                <a:cs typeface="Arial"/>
              </a:rPr>
              <a:t>Are there any numbers you have seen represented in more than one way? For example, 2.75 and 2.750.</a:t>
            </a:r>
            <a:endParaRPr kumimoji="0" lang="en-AU" altLang="en-US" sz="1000" b="0" i="0" u="none" strike="noStrike" cap="none" normalizeH="0" baseline="0">
              <a:ln>
                <a:noFill/>
              </a:ln>
              <a:solidFill>
                <a:schemeClr val="tx1"/>
              </a:solidFill>
              <a:effectLst/>
              <a:latin typeface="Arial"/>
              <a:ea typeface="Calibri"/>
              <a:cs typeface="Arial"/>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AU" altLang="en-US" sz="10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lang="en-AU" sz="1800" b="1">
                <a:effectLst/>
                <a:latin typeface="Arial"/>
                <a:ea typeface="Calibri"/>
                <a:cs typeface="Arial"/>
              </a:rPr>
              <a:t>Note:</a:t>
            </a:r>
            <a:r>
              <a:rPr lang="en-AU" sz="1800">
                <a:effectLst/>
                <a:latin typeface="Arial"/>
                <a:ea typeface="Calibri"/>
                <a:cs typeface="Arial"/>
              </a:rPr>
              <a:t> to support place value conceptual understanding, 3.254 would be read as three and two hundred and fifty-four thousandths. The language connects the decimal fraction with the whole number and makes a connection with common fractions.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AU"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000" b="0" i="0" u="none" strike="noStrike" cap="none" normalizeH="0" baseline="0">
              <a:ln>
                <a:noFill/>
              </a:ln>
              <a:solidFill>
                <a:schemeClr val="tx1"/>
              </a:solidFill>
              <a:effectLst/>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5403536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 Decimals and percentages</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 Volume</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Length</a:t>
            </a:r>
            <a:endParaRPr lang="en-AU" sz="1600">
              <a:latin typeface="Public Sans"/>
            </a:endParaRPr>
          </a:p>
          <a:p>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lang="en-AU" b="1"/>
          </a:p>
          <a:p>
            <a:pPr>
              <a:lnSpc>
                <a:spcPct val="150000"/>
              </a:lnSpc>
              <a:spcBef>
                <a:spcPts val="1200"/>
              </a:spcBef>
              <a:spcAft>
                <a:spcPts val="600"/>
              </a:spcAft>
            </a:pPr>
            <a:r>
              <a:rPr lang="en-AU">
                <a:solidFill>
                  <a:srgbClr val="000000"/>
                </a:solidFill>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solidFill>
                  <a:srgbClr val="000000"/>
                </a:solidFill>
                <a:latin typeface="Arial"/>
                <a:cs typeface="Arial"/>
              </a:rPr>
              <a:t>Syllabus focus area:</a:t>
            </a:r>
            <a:endParaRPr lang="en-US">
              <a:solidFill>
                <a:srgbClr val="444444"/>
              </a:solidFill>
              <a:latin typeface="Arial"/>
              <a:cs typeface="Arial"/>
            </a:endParaRPr>
          </a:p>
          <a:p>
            <a:r>
              <a:rPr lang="en-AU">
                <a:solidFill>
                  <a:srgbClr val="000000"/>
                </a:solidFill>
                <a:latin typeface="Arial"/>
                <a:cs typeface="Arial"/>
              </a:rPr>
              <a:t>Represent numbers A: Decimals and percentages</a:t>
            </a:r>
            <a:endParaRPr lang="en-AU">
              <a:solidFill>
                <a:srgbClr val="444444"/>
              </a:solidFill>
            </a:endParaRPr>
          </a:p>
          <a:p>
            <a:endParaRPr lang="en-AU">
              <a:solidFill>
                <a:srgbClr val="000000"/>
              </a:solidFill>
              <a:latin typeface="Arial"/>
              <a:cs typeface="Arial"/>
            </a:endParaRPr>
          </a:p>
          <a:p>
            <a:r>
              <a:rPr lang="en-AU" b="1">
                <a:solidFill>
                  <a:srgbClr val="000000"/>
                </a:solidFill>
                <a:latin typeface="Arial"/>
                <a:cs typeface="Arial"/>
              </a:rPr>
              <a:t>Ordering decimals</a:t>
            </a:r>
          </a:p>
          <a:p>
            <a:endParaRPr lang="en-AU" b="1">
              <a:solidFill>
                <a:srgbClr val="000000"/>
              </a:solidFill>
              <a:latin typeface="Arial"/>
              <a:cs typeface="Arial"/>
            </a:endParaRPr>
          </a:p>
          <a:p>
            <a:r>
              <a:rPr lang="en-AU" sz="1800" b="0" i="0">
                <a:solidFill>
                  <a:srgbClr val="000000"/>
                </a:solidFill>
                <a:effectLst/>
                <a:latin typeface="Arial"/>
                <a:cs typeface="Arial"/>
              </a:rPr>
              <a:t>This lesson is an adaptation of </a:t>
            </a:r>
            <a:r>
              <a:rPr lang="en-AU" sz="1800" b="0" i="0" u="sng" strike="noStrike">
                <a:solidFill>
                  <a:srgbClr val="2F5496"/>
                </a:solidFill>
                <a:effectLst/>
                <a:latin typeface="Arial"/>
                <a:cs typeface="Arial"/>
                <a:hlinkClick r:id="rId3"/>
              </a:rPr>
              <a:t>Fill the Stairs</a:t>
            </a:r>
            <a:r>
              <a:rPr lang="en-AU" sz="1800" b="0" i="0">
                <a:solidFill>
                  <a:srgbClr val="000000"/>
                </a:solidFill>
                <a:effectLst/>
                <a:latin typeface="Arial"/>
                <a:cs typeface="Arial"/>
              </a:rPr>
              <a:t> from </a:t>
            </a:r>
            <a:r>
              <a:rPr lang="en-AU" sz="1800" b="0" i="0" u="sng" strike="noStrike">
                <a:solidFill>
                  <a:srgbClr val="2F5496"/>
                </a:solidFill>
                <a:effectLst/>
                <a:latin typeface="Arial"/>
                <a:cs typeface="Arial"/>
                <a:hlinkClick r:id="rId4"/>
              </a:rPr>
              <a:t>Math for Love</a:t>
            </a:r>
            <a:r>
              <a:rPr lang="en-AU" sz="1800" b="0" i="0">
                <a:solidFill>
                  <a:srgbClr val="000000"/>
                </a:solidFill>
                <a:effectLst/>
                <a:latin typeface="Arial"/>
                <a:cs typeface="Arial"/>
              </a:rPr>
              <a:t> by Cook.</a:t>
            </a:r>
          </a:p>
          <a:p>
            <a:endParaRPr lang="en-AU" sz="1800" b="0" i="0">
              <a:solidFill>
                <a:srgbClr val="000000"/>
              </a:solidFill>
              <a:effectLst/>
              <a:latin typeface="Arial" panose="020B0604020202020204" pitchFamily="34" charset="0"/>
            </a:endParaRPr>
          </a:p>
          <a:p>
            <a:r>
              <a:rPr lang="en-AU" sz="1800">
                <a:latin typeface="Arial"/>
                <a:ea typeface="Calibri"/>
                <a:cs typeface="Arial"/>
              </a:rPr>
              <a:t>Provide students copies of Resource 27- ordering decimals</a:t>
            </a:r>
            <a:endParaRPr lang="en-AU" sz="1800">
              <a:ea typeface="Calibri"/>
            </a:endParaRPr>
          </a:p>
          <a:p>
            <a:pPr>
              <a:lnSpc>
                <a:spcPct val="150000"/>
              </a:lnSpc>
              <a:spcBef>
                <a:spcPts val="1200"/>
              </a:spcBef>
              <a:spcAft>
                <a:spcPts val="600"/>
              </a:spcAft>
            </a:pPr>
            <a:endParaRPr lang="en-AU">
              <a:solidFill>
                <a:srgbClr val="22272B"/>
              </a:solidFill>
              <a:highlight>
                <a:srgbClr val="FFFFFF"/>
              </a:highlight>
              <a:latin typeface="Arial"/>
              <a:cs typeface="Arial"/>
            </a:endParaRPr>
          </a:p>
          <a:p>
            <a:pPr>
              <a:lnSpc>
                <a:spcPct val="150000"/>
              </a:lnSpc>
              <a:spcBef>
                <a:spcPts val="1200"/>
              </a:spcBef>
              <a:spcAft>
                <a:spcPts val="600"/>
              </a:spcAft>
            </a:pPr>
            <a:r>
              <a:rPr lang="en-AU">
                <a:latin typeface="Arial"/>
                <a:cs typeface="Arial"/>
              </a:rPr>
              <a:t>Explain that the numbers must increase as they go up the stairs. The number at the base of the stairs is zero and the number at the top of the stairs is one.</a:t>
            </a:r>
            <a:endParaRPr lang="en-US">
              <a:latin typeface="Arial"/>
              <a:cs typeface="Arial"/>
            </a:endParaRPr>
          </a:p>
          <a:p>
            <a:pPr>
              <a:lnSpc>
                <a:spcPct val="150000"/>
              </a:lnSpc>
              <a:spcBef>
                <a:spcPts val="1200"/>
              </a:spcBef>
              <a:spcAft>
                <a:spcPts val="600"/>
              </a:spcAft>
            </a:pPr>
            <a:endParaRPr lang="en-AU">
              <a:latin typeface="Arial"/>
              <a:cs typeface="Arial"/>
            </a:endParaRPr>
          </a:p>
          <a:p>
            <a:pPr>
              <a:lnSpc>
                <a:spcPct val="150000"/>
              </a:lnSpc>
              <a:spcBef>
                <a:spcPts val="1200"/>
              </a:spcBef>
              <a:spcAft>
                <a:spcPts val="600"/>
              </a:spcAft>
            </a:pPr>
            <a:r>
              <a:rPr lang="en-AU">
                <a:latin typeface="Arial"/>
                <a:cs typeface="Arial"/>
              </a:rPr>
              <a:t>Small groups of students will need three 10-sided dice. One die will represent the ‘tenths’, one die will represent ‘hundredths’ and one die will be the ‘thousandths’ die. Students take turns rolling all 3 dice to make a number with 3 decimal places and write it on one of the stairs. If a number can’t be used, the number is written under the stairs and students skip a turn.</a:t>
            </a:r>
            <a:endParaRPr lang="en-US">
              <a:latin typeface="Arial"/>
              <a:cs typeface="Arial"/>
            </a:endParaRPr>
          </a:p>
          <a:p>
            <a:pPr>
              <a:lnSpc>
                <a:spcPct val="150000"/>
              </a:lnSpc>
              <a:spcBef>
                <a:spcPts val="1200"/>
              </a:spcBef>
              <a:spcAft>
                <a:spcPts val="600"/>
              </a:spcAft>
            </a:pPr>
            <a:endParaRPr lang="en-AU">
              <a:latin typeface="Arial"/>
              <a:cs typeface="Arial"/>
            </a:endParaRPr>
          </a:p>
          <a:p>
            <a:pPr>
              <a:lnSpc>
                <a:spcPct val="150000"/>
              </a:lnSpc>
              <a:spcBef>
                <a:spcPts val="1200"/>
              </a:spcBef>
              <a:spcAft>
                <a:spcPts val="600"/>
              </a:spcAft>
            </a:pPr>
            <a:r>
              <a:rPr lang="en-AU">
                <a:latin typeface="Arial"/>
                <a:cs typeface="Arial"/>
              </a:rPr>
              <a:t>Model for students one turn of the game highlighting the strategies that can be used once the 3 dice are rolled. Discuss with students the possible combinations for the decimal number that is formed.</a:t>
            </a:r>
            <a:endParaRPr lang="en-US">
              <a:latin typeface="Arial"/>
              <a:cs typeface="Arial"/>
            </a:endParaRPr>
          </a:p>
          <a:p>
            <a:endParaRPr lang="en-AU" sz="1800">
              <a:ea typeface="Calibri"/>
            </a:endParaRPr>
          </a:p>
          <a:p>
            <a:pPr lvl="0">
              <a:lnSpc>
                <a:spcPct val="150000"/>
              </a:lnSpc>
              <a:spcBef>
                <a:spcPts val="1200"/>
              </a:spcBef>
              <a:spcAft>
                <a:spcPts val="600"/>
              </a:spcAft>
            </a:pPr>
            <a:r>
              <a:rPr lang="en-AU" sz="1800">
                <a:effectLst/>
                <a:latin typeface="Arial"/>
                <a:ea typeface="Calibri"/>
                <a:cs typeface="Arial"/>
              </a:rPr>
              <a:t>Ask the following questions:</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a:ea typeface="Calibri"/>
                <a:cs typeface="Arial"/>
              </a:rPr>
              <a:t>Where are you going to put that number? Why?</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a:ea typeface="Calibri"/>
                <a:cs typeface="Arial"/>
              </a:rPr>
              <a:t>What number are you hoping for on the next roll?</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a:ea typeface="Calibri"/>
                <a:cs typeface="Arial"/>
              </a:rPr>
              <a:t>How will you know where to place the next number rolled?</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a:ea typeface="Calibri"/>
                <a:cs typeface="Arial"/>
              </a:rPr>
              <a:t>How can the digits of a decimal be reordered to make sure the number can fit on the stairs?</a:t>
            </a:r>
          </a:p>
          <a:p>
            <a:pPr lvl="0">
              <a:lnSpc>
                <a:spcPct val="150000"/>
              </a:lnSpc>
              <a:spcBef>
                <a:spcPts val="1200"/>
              </a:spcBef>
              <a:spcAft>
                <a:spcPts val="600"/>
              </a:spcAft>
            </a:pPr>
            <a:endParaRPr lang="en-AU" sz="1800">
              <a:effectLst/>
              <a:latin typeface="Arial"/>
              <a:ea typeface="Calibri"/>
              <a:cs typeface="Arial"/>
            </a:endParaRP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6342665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E1AA-AE86-2419-E2D4-2F289D4B1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B1A52-D738-FB15-6A68-894885BF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58CA6-89FC-61BC-201C-3E8BC638A2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a:t>
            </a:r>
            <a:r>
              <a:rPr lang="en-AU">
                <a:latin typeface="Arial"/>
                <a:cs typeface="Arial"/>
              </a:rPr>
              <a:t>7</a:t>
            </a:r>
            <a:r>
              <a:rPr lang="en-AU" sz="1600" b="0" i="0">
                <a:solidFill>
                  <a:schemeClr val="tx1"/>
                </a:solidFill>
                <a:latin typeface="Arial"/>
                <a:cs typeface="Arial"/>
              </a:rPr>
              <a:t>)</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 decimals and percentages</a:t>
            </a:r>
            <a:endParaRPr lang="en-AU"/>
          </a:p>
          <a:p>
            <a:pPr>
              <a:defRPr/>
            </a:pP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2E524-5D71-6633-0348-9CDDC581B714}"/>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799285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 Volume</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endParaRPr lang="en-AU" sz="1600">
              <a:latin typeface="Public Sans"/>
            </a:endParaRPr>
          </a:p>
          <a:p>
            <a:endParaRPr lang="en-AU" sz="1600" b="0" i="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800">
              <a:latin typeface="Arial"/>
              <a:ea typeface="Calibri"/>
              <a:cs typeface="Arial"/>
            </a:endParaRPr>
          </a:p>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 numbers A: Decimals and percentages</a:t>
            </a:r>
            <a:endParaRPr lang="en-AU">
              <a:solidFill>
                <a:srgbClr val="444444"/>
              </a:solidFill>
              <a:latin typeface="Arial"/>
              <a:cs typeface="Arial"/>
            </a:endParaRPr>
          </a:p>
          <a:p>
            <a:pPr marL="285750" indent="-285750">
              <a:buFont typeface="Arial" panose="020F0302020204030204"/>
              <a:buChar char="•"/>
            </a:pPr>
            <a:endParaRPr lang="en-AU">
              <a:solidFill>
                <a:srgbClr val="444444"/>
              </a:solidFill>
            </a:endParaRPr>
          </a:p>
          <a:p>
            <a:pPr marL="285750" indent="-285750">
              <a:buFont typeface="Arial" panose="020F0302020204030204"/>
              <a:buChar char="•"/>
            </a:pPr>
            <a:endParaRPr lang="en-AU">
              <a:solidFill>
                <a:srgbClr val="444444"/>
              </a:solidFill>
            </a:endParaRPr>
          </a:p>
          <a:p>
            <a:pPr>
              <a:lnSpc>
                <a:spcPct val="150000"/>
              </a:lnSpc>
              <a:spcBef>
                <a:spcPts val="1200"/>
              </a:spcBef>
              <a:spcAft>
                <a:spcPts val="600"/>
              </a:spcAft>
            </a:pPr>
            <a:r>
              <a:rPr lang="en-AU" b="1">
                <a:latin typeface="Arial"/>
                <a:ea typeface="Calibri"/>
                <a:cs typeface="Arial"/>
              </a:rPr>
              <a:t>Approximating decimals</a:t>
            </a:r>
            <a:endParaRPr lang="en-AU" b="1">
              <a:ea typeface="Calibri"/>
            </a:endParaRPr>
          </a:p>
          <a:p>
            <a:pPr>
              <a:lnSpc>
                <a:spcPts val="1650"/>
              </a:lnSpc>
            </a:pPr>
            <a:r>
              <a:rPr lang="en-AU">
                <a:latin typeface="Arial"/>
                <a:cs typeface="Arial"/>
              </a:rPr>
              <a:t>Explain that there are four 9-sided dice. When they are rolled they can be combined in different ways to make a number less than 10 with 3 decimal places. For example, if I roll a 2, 3, 5 and 7, I could choose to make 7.235, 3.257 or 5.327. </a:t>
            </a:r>
            <a:r>
              <a:rPr lang="en-US">
                <a:latin typeface="Arial"/>
                <a:cs typeface="Arial"/>
              </a:rPr>
              <a:t> </a:t>
            </a:r>
          </a:p>
          <a:p>
            <a:pPr>
              <a:lnSpc>
                <a:spcPts val="1650"/>
              </a:lnSpc>
            </a:pPr>
            <a:endParaRPr lang="en-AU">
              <a:latin typeface="Arial"/>
              <a:cs typeface="Arial"/>
            </a:endParaRPr>
          </a:p>
          <a:p>
            <a:pPr>
              <a:lnSpc>
                <a:spcPts val="1650"/>
              </a:lnSpc>
            </a:pPr>
            <a:r>
              <a:rPr lang="en-AU">
                <a:latin typeface="Arial"/>
                <a:cs typeface="Arial"/>
              </a:rPr>
              <a:t>Students record this number and approximate the number to 2 decimal places. For example, 7.235 approximated to 2 decimal places is 7.24.</a:t>
            </a:r>
            <a:r>
              <a:rPr lang="en-US">
                <a:latin typeface="Arial"/>
                <a:cs typeface="Arial"/>
              </a:rPr>
              <a:t> </a:t>
            </a:r>
            <a:endParaRPr lang="en-US"/>
          </a:p>
          <a:p>
            <a:pPr>
              <a:lnSpc>
                <a:spcPts val="1650"/>
              </a:lnSpc>
            </a:pPr>
            <a:endParaRPr lang="en-AU">
              <a:latin typeface="Arial"/>
              <a:cs typeface="Arial"/>
            </a:endParaRPr>
          </a:p>
          <a:p>
            <a:pPr>
              <a:lnSpc>
                <a:spcPts val="1650"/>
              </a:lnSpc>
            </a:pPr>
            <a:r>
              <a:rPr lang="en-AU">
                <a:latin typeface="Arial"/>
                <a:cs typeface="Arial"/>
              </a:rPr>
              <a:t>Small groups of students use four 9-sided dice to generate several decimals.</a:t>
            </a:r>
            <a:r>
              <a:rPr lang="en-US">
                <a:latin typeface="Arial"/>
                <a:cs typeface="Arial"/>
              </a:rPr>
              <a:t> </a:t>
            </a:r>
            <a:endParaRPr lang="en-US"/>
          </a:p>
          <a:p>
            <a:pPr>
              <a:lnSpc>
                <a:spcPts val="1650"/>
              </a:lnSpc>
            </a:pPr>
            <a:endParaRPr lang="en-AU">
              <a:latin typeface="Arial"/>
              <a:cs typeface="Arial"/>
            </a:endParaRPr>
          </a:p>
          <a:p>
            <a:pPr>
              <a:lnSpc>
                <a:spcPts val="1650"/>
              </a:lnSpc>
            </a:pPr>
            <a:r>
              <a:rPr lang="en-AU">
                <a:latin typeface="Arial"/>
                <a:cs typeface="Arial"/>
              </a:rPr>
              <a:t>Ask students to order their approximated decimals in ascending order.</a:t>
            </a:r>
            <a:r>
              <a:rPr lang="en-US">
                <a:latin typeface="Arial"/>
                <a:cs typeface="Arial"/>
              </a:rPr>
              <a:t> </a:t>
            </a:r>
            <a:endParaRPr lang="en-AU">
              <a:latin typeface="Arial"/>
              <a:cs typeface="Arial"/>
            </a:endParaRPr>
          </a:p>
          <a:p>
            <a:pPr>
              <a:lnSpc>
                <a:spcPct val="150000"/>
              </a:lnSpc>
              <a:spcBef>
                <a:spcPts val="1200"/>
              </a:spcBef>
              <a:spcAft>
                <a:spcPts val="600"/>
              </a:spcAft>
            </a:pPr>
            <a:endParaRPr lang="en-AU" sz="1800">
              <a:latin typeface="Arial"/>
              <a:ea typeface="Calibri"/>
              <a:cs typeface="Arial"/>
            </a:endParaRPr>
          </a:p>
          <a:p>
            <a:pPr lvl="0">
              <a:lnSpc>
                <a:spcPct val="150000"/>
              </a:lnSpc>
              <a:spcBef>
                <a:spcPts val="1200"/>
              </a:spcBef>
              <a:spcAft>
                <a:spcPts val="600"/>
              </a:spcAft>
            </a:pPr>
            <a:r>
              <a:rPr lang="en-AU" sz="1800">
                <a:effectLst/>
                <a:latin typeface="Arial"/>
                <a:ea typeface="Calibri"/>
                <a:cs typeface="Arial"/>
              </a:rPr>
              <a:t>Regroup with students, discussing the following questions based on their answers on their individual whiteboards:</a:t>
            </a:r>
            <a:endParaRPr lang="en-AU">
              <a:latin typeface="Arial"/>
              <a:ea typeface="Calibri"/>
              <a:cs typeface="Arial"/>
            </a:endParaRPr>
          </a:p>
          <a:p>
            <a:pPr marL="342900" lvl="0" indent="-342900">
              <a:lnSpc>
                <a:spcPct val="150000"/>
              </a:lnSpc>
              <a:spcBef>
                <a:spcPts val="1200"/>
              </a:spcBef>
              <a:spcAft>
                <a:spcPts val="600"/>
              </a:spcAft>
              <a:buFont typeface="Symbol" panose="05050102010706020507" pitchFamily="18" charset="2"/>
              <a:buChar char=""/>
              <a:tabLst>
                <a:tab pos="228600" algn="l"/>
              </a:tabLst>
            </a:pPr>
            <a:r>
              <a:rPr lang="en-AU" sz="1800">
                <a:effectLst/>
                <a:latin typeface="Arial"/>
                <a:ea typeface="Calibri"/>
                <a:cs typeface="Arial"/>
              </a:rPr>
              <a:t>What happens to a decimal when there’s a 5 in the thousandths place and you approximate (round) it to 2 decimal places?</a:t>
            </a:r>
          </a:p>
          <a:p>
            <a:pPr marL="342900" lvl="0" indent="-342900">
              <a:lnSpc>
                <a:spcPct val="150000"/>
              </a:lnSpc>
              <a:spcBef>
                <a:spcPts val="1200"/>
              </a:spcBef>
              <a:spcAft>
                <a:spcPts val="600"/>
              </a:spcAft>
              <a:buFont typeface="Symbol" panose="05050102010706020507" pitchFamily="18" charset="2"/>
              <a:buChar char=""/>
              <a:tabLst>
                <a:tab pos="228600" algn="l"/>
              </a:tabLst>
            </a:pPr>
            <a:r>
              <a:rPr lang="en-AU" sz="1800">
                <a:effectLst/>
                <a:latin typeface="Arial"/>
                <a:ea typeface="Calibri"/>
                <a:cs typeface="Arial"/>
              </a:rPr>
              <a:t>What was the largest approximated decimal you recorded?</a:t>
            </a:r>
          </a:p>
          <a:p>
            <a:pPr marL="342900" lvl="0" indent="-342900">
              <a:lnSpc>
                <a:spcPct val="150000"/>
              </a:lnSpc>
              <a:spcBef>
                <a:spcPts val="1200"/>
              </a:spcBef>
              <a:spcAft>
                <a:spcPts val="600"/>
              </a:spcAft>
              <a:buFont typeface="Symbol" panose="05050102010706020507" pitchFamily="18" charset="2"/>
              <a:buChar char=""/>
              <a:tabLst>
                <a:tab pos="228600" algn="l"/>
              </a:tabLst>
            </a:pPr>
            <a:r>
              <a:rPr lang="en-AU" sz="1800">
                <a:effectLst/>
                <a:latin typeface="Arial"/>
                <a:ea typeface="Calibri"/>
                <a:cs typeface="Arial"/>
              </a:rPr>
              <a:t>What was the smallest approximated decimal you recorded?</a:t>
            </a:r>
          </a:p>
          <a:p>
            <a:pPr>
              <a:lnSpc>
                <a:spcPct val="107000"/>
              </a:lnSpc>
              <a:spcBef>
                <a:spcPts val="1200"/>
              </a:spcBef>
              <a:spcAft>
                <a:spcPts val="800"/>
              </a:spcAft>
            </a:pPr>
            <a:br>
              <a:rPr lang="en-AU" sz="2800">
                <a:effectLst/>
              </a:rPr>
            </a:br>
            <a:r>
              <a:rPr lang="en-AU" sz="1800">
                <a:effectLst/>
                <a:latin typeface="Arial"/>
                <a:ea typeface="Calibri"/>
                <a:cs typeface="Arial"/>
              </a:rPr>
              <a:t> </a:t>
            </a:r>
          </a:p>
          <a:p>
            <a:pPr marL="342900" indent="-342900">
              <a:buFont typeface="+mj-lt"/>
              <a:buAutoNum type="arabicPeriod"/>
            </a:pPr>
            <a:endParaRPr lang="en-AU" sz="180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8834748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A: Decimals and percentages</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 Volume</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B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a:p>
          <a:p>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2D Shapes</a:t>
            </a:r>
            <a:endParaRPr lang="en-AU"/>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EB2DA-D00A-CEC7-928F-02C5CBFF5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E87F3-3012-0A7D-4C81-B6EEE31A0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0ABAC-F7EB-444D-ED88-8E17415C9E29}"/>
              </a:ext>
            </a:extLst>
          </p:cNvPr>
          <p:cNvSpPr>
            <a:spLocks noGrp="1"/>
          </p:cNvSpPr>
          <p:nvPr>
            <p:ph type="body" idx="1"/>
          </p:nvPr>
        </p:nvSpPr>
        <p:spPr/>
        <p:txBody>
          <a:bodyPr/>
          <a:lstStyle/>
          <a:p>
            <a:endParaRPr lang="en-AU" sz="1800">
              <a:latin typeface="Arial"/>
              <a:ea typeface="Calibri"/>
              <a:cs typeface="Arial"/>
            </a:endParaRPr>
          </a:p>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 numbers A: Decimals and percentages</a:t>
            </a:r>
            <a:endParaRPr lang="en-AU">
              <a:solidFill>
                <a:srgbClr val="444444"/>
              </a:solidFill>
              <a:latin typeface="Arial"/>
              <a:cs typeface="Arial"/>
            </a:endParaRPr>
          </a:p>
          <a:p>
            <a:endParaRPr lang="en-AU">
              <a:solidFill>
                <a:srgbClr val="444444"/>
              </a:solidFill>
            </a:endParaRPr>
          </a:p>
          <a:p>
            <a:endParaRPr lang="en-AU">
              <a:solidFill>
                <a:srgbClr val="444444"/>
              </a:solidFill>
            </a:endParaRPr>
          </a:p>
          <a:p>
            <a:pPr>
              <a:lnSpc>
                <a:spcPct val="150000"/>
              </a:lnSpc>
              <a:spcBef>
                <a:spcPts val="1200"/>
              </a:spcBef>
              <a:spcAft>
                <a:spcPts val="600"/>
              </a:spcAft>
            </a:pPr>
            <a:r>
              <a:rPr lang="en-AU" b="1">
                <a:latin typeface="Arial"/>
                <a:cs typeface="Arial"/>
              </a:rPr>
              <a:t>Approximating decimals</a:t>
            </a:r>
            <a:endParaRPr lang="en-AU">
              <a:solidFill>
                <a:srgbClr val="444444"/>
              </a:solidFill>
              <a:latin typeface="Arial"/>
              <a:cs typeface="Arial"/>
            </a:endParaRPr>
          </a:p>
          <a:p>
            <a:pPr>
              <a:lnSpc>
                <a:spcPct val="150000"/>
              </a:lnSpc>
              <a:spcBef>
                <a:spcPts val="1200"/>
              </a:spcBef>
              <a:spcAft>
                <a:spcPts val="600"/>
              </a:spcAft>
            </a:pPr>
            <a:r>
              <a:rPr lang="en-AU">
                <a:latin typeface="Arial"/>
                <a:cs typeface="Arial"/>
              </a:rPr>
              <a:t>Explain that there are four 9-sided dice. When they are rolled, they can be combined in different ways to make a number less than 10 with 3 decimal places. For example, if I roll a 2, 3, 5 and 7, I could choose to make 7.235, 3.257 or 5.327.</a:t>
            </a:r>
            <a:endParaRPr lang="en-US">
              <a:latin typeface="Arial"/>
              <a:cs typeface="Arial"/>
            </a:endParaRPr>
          </a:p>
          <a:p>
            <a:pPr>
              <a:lnSpc>
                <a:spcPct val="150000"/>
              </a:lnSpc>
              <a:spcBef>
                <a:spcPts val="1200"/>
              </a:spcBef>
              <a:spcAft>
                <a:spcPts val="600"/>
              </a:spcAft>
            </a:pPr>
            <a:r>
              <a:rPr lang="en-AU">
                <a:latin typeface="Arial"/>
                <a:cs typeface="Arial"/>
              </a:rPr>
              <a:t> </a:t>
            </a:r>
            <a:endParaRPr lang="en-US">
              <a:latin typeface="Arial"/>
              <a:cs typeface="Arial"/>
            </a:endParaRPr>
          </a:p>
          <a:p>
            <a:pPr>
              <a:lnSpc>
                <a:spcPct val="150000"/>
              </a:lnSpc>
              <a:spcBef>
                <a:spcPts val="1200"/>
              </a:spcBef>
              <a:spcAft>
                <a:spcPts val="600"/>
              </a:spcAft>
            </a:pPr>
            <a:r>
              <a:rPr lang="en-AU">
                <a:latin typeface="Arial"/>
                <a:cs typeface="Arial"/>
              </a:rPr>
              <a:t>Students record this number and approximate the number to 2 decimal places. For example, 7.235 approximated to 2 decimal places is 7.24.</a:t>
            </a:r>
            <a:endParaRPr lang="en-US">
              <a:latin typeface="Arial"/>
              <a:cs typeface="Arial"/>
            </a:endParaRPr>
          </a:p>
          <a:p>
            <a:pPr>
              <a:lnSpc>
                <a:spcPct val="150000"/>
              </a:lnSpc>
              <a:spcBef>
                <a:spcPts val="1200"/>
              </a:spcBef>
              <a:spcAft>
                <a:spcPts val="600"/>
              </a:spcAft>
            </a:pPr>
            <a:r>
              <a:rPr lang="en-AU">
                <a:latin typeface="Arial"/>
                <a:cs typeface="Arial"/>
              </a:rPr>
              <a:t>Small groups of students use four 9-sided dice to generate several decimals.</a:t>
            </a:r>
            <a:endParaRPr lang="en-US">
              <a:latin typeface="Arial"/>
              <a:cs typeface="Arial"/>
            </a:endParaRPr>
          </a:p>
          <a:p>
            <a:pPr>
              <a:lnSpc>
                <a:spcPct val="150000"/>
              </a:lnSpc>
              <a:spcBef>
                <a:spcPts val="1200"/>
              </a:spcBef>
              <a:spcAft>
                <a:spcPts val="600"/>
              </a:spcAft>
            </a:pPr>
            <a:endParaRPr lang="en-AU">
              <a:latin typeface="Arial"/>
              <a:cs typeface="Arial"/>
            </a:endParaRPr>
          </a:p>
          <a:p>
            <a:pPr>
              <a:lnSpc>
                <a:spcPct val="150000"/>
              </a:lnSpc>
              <a:spcBef>
                <a:spcPts val="1200"/>
              </a:spcBef>
              <a:spcAft>
                <a:spcPts val="600"/>
              </a:spcAft>
            </a:pPr>
            <a:r>
              <a:rPr lang="en-AU">
                <a:latin typeface="Arial"/>
                <a:cs typeface="Arial"/>
              </a:rPr>
              <a:t>Ask students to order their approximated decimals in descending order.</a:t>
            </a:r>
            <a:endParaRPr lang="en-US">
              <a:solidFill>
                <a:srgbClr val="22272B"/>
              </a:solidFill>
              <a:latin typeface="Arial"/>
              <a:cs typeface="Arial"/>
            </a:endParaRPr>
          </a:p>
          <a:p>
            <a:pPr>
              <a:lnSpc>
                <a:spcPct val="150000"/>
              </a:lnSpc>
              <a:spcBef>
                <a:spcPts val="1200"/>
              </a:spcBef>
              <a:spcAft>
                <a:spcPts val="600"/>
              </a:spcAft>
            </a:pPr>
            <a:endParaRPr lang="en-AU">
              <a:latin typeface="Arial"/>
              <a:ea typeface="Calibri"/>
              <a:cs typeface="Arial"/>
            </a:endParaRPr>
          </a:p>
          <a:p>
            <a:pPr lvl="0">
              <a:lnSpc>
                <a:spcPct val="150000"/>
              </a:lnSpc>
              <a:spcBef>
                <a:spcPts val="1200"/>
              </a:spcBef>
              <a:spcAft>
                <a:spcPts val="600"/>
              </a:spcAft>
            </a:pPr>
            <a:r>
              <a:rPr lang="en-AU" sz="1800">
                <a:effectLst/>
                <a:latin typeface="Arial"/>
                <a:ea typeface="Calibri"/>
                <a:cs typeface="Arial"/>
              </a:rPr>
              <a:t>Regroup with students, discussing the following questions based on their answers on their individual whiteboards:</a:t>
            </a:r>
            <a:endParaRPr lang="en-AU">
              <a:latin typeface="Arial"/>
              <a:ea typeface="Calibri"/>
              <a:cs typeface="Arial"/>
            </a:endParaRP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a:ea typeface="Calibri"/>
                <a:cs typeface="Arial"/>
              </a:rPr>
              <a:t>What happened to decimals when they were approximated and had 5 thousandths?</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a:ea typeface="Calibri"/>
                <a:cs typeface="Arial"/>
              </a:rPr>
              <a:t>What was the largest approximated decimal you recorded?</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a:ea typeface="Calibri"/>
                <a:cs typeface="Arial"/>
              </a:rPr>
              <a:t>What was the smallest approximated decimal you recorded?</a:t>
            </a:r>
          </a:p>
          <a:p>
            <a:pPr marL="342900" indent="-342900">
              <a:buFont typeface="+mj-lt"/>
              <a:buAutoNum type="arabicPeriod"/>
            </a:pPr>
            <a:endParaRPr lang="en-AU" sz="180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68EDC15E-18C1-4960-876B-ABB3A042E462}"/>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59</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7241353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ent and pictur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3" name="Content Placeholder 2">
            <a:extLst>
              <a:ext uri="{FF2B5EF4-FFF2-40B4-BE49-F238E27FC236}">
                <a16:creationId xmlns:a16="http://schemas.microsoft.com/office/drawing/2014/main" id="{EAC13D79-FA01-577F-AC79-E39D6DCCC806}"/>
              </a:ext>
            </a:extLst>
          </p:cNvPr>
          <p:cNvSpPr>
            <a:spLocks noGrp="1"/>
          </p:cNvSpPr>
          <p:nvPr>
            <p:ph sz="quarter" idx="19" hasCustomPrompt="1"/>
          </p:nvPr>
        </p:nvSpPr>
        <p:spPr>
          <a:xfrm>
            <a:off x="360363" y="1580225"/>
            <a:ext cx="5507037" cy="4796763"/>
          </a:xfrm>
        </p:spPr>
        <p:txBody>
          <a:body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6096000" y="1580225"/>
            <a:ext cx="5507038" cy="4796763"/>
          </a:xfrm>
        </p:spPr>
        <p:txBody>
          <a:bodyPr/>
          <a:lstStyle/>
          <a:p>
            <a:r>
              <a:rPr lang="en-US"/>
              <a:t>Click icon to add picture</a:t>
            </a:r>
            <a:endParaRPr lang="en-AU"/>
          </a:p>
        </p:txBody>
      </p:sp>
    </p:spTree>
    <p:extLst>
      <p:ext uri="{BB962C8B-B14F-4D97-AF65-F5344CB8AC3E}">
        <p14:creationId xmlns:p14="http://schemas.microsoft.com/office/powerpoint/2010/main" val="967598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48" r:id="rId5"/>
    <p:sldLayoutId id="2147483751" r:id="rId6"/>
    <p:sldLayoutId id="2147483754" r:id="rId7"/>
    <p:sldLayoutId id="2147483752" r:id="rId8"/>
    <p:sldLayoutId id="2147483753" r:id="rId9"/>
    <p:sldLayoutId id="2147483723" r:id="rId10"/>
    <p:sldLayoutId id="2147483749" r:id="rId11"/>
    <p:sldLayoutId id="2147483746" r:id="rId12"/>
    <p:sldLayoutId id="2147483725" r:id="rId13"/>
    <p:sldLayoutId id="2147483743" r:id="rId14"/>
    <p:sldLayoutId id="2147483750" r:id="rId15"/>
    <p:sldLayoutId id="2147483744"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0.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9.png"/><Relationship Id="rId11" Type="http://schemas.openxmlformats.org/officeDocument/2006/relationships/image" Target="../media/image15.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15.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0.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0.png"/><Relationship Id="rId10" Type="http://schemas.openxmlformats.org/officeDocument/2006/relationships/image" Target="../media/image7.png"/><Relationship Id="rId4" Type="http://schemas.openxmlformats.org/officeDocument/2006/relationships/image" Target="../media/image160.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56.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8.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2.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slide" Target="slide5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s://education.nsw.gov.au/teaching-and-learning/curriculum/mathematics/mathematics-curriculum-resources-k-12/thinking-mathematically-resources/mathematics-s2-s3-factors-fun" TargetMode="External"/><Relationship Id="rId3" Type="http://schemas.openxmlformats.org/officeDocument/2006/relationships/hyperlink" Target="https://education.nsw.gov.au/teaching-and-learning/curriculum/literacy-and-numeracy/resources-for-schools/learning-progressions" TargetMode="External"/><Relationship Id="rId7" Type="http://schemas.openxmlformats.org/officeDocument/2006/relationships/hyperlink" Target="https://curriculum.nsw.edu.au/learning-areas/mathematics/mathematics-k-10-2022/content/stage-3/fa51e61164?show=advice&amp;ta_scroll=no#:~:text=Teaching%20advice%20for%20Three%2Ddimensional%20spatial%20structure%20A" TargetMode="External"/><Relationship Id="rId2" Type="http://schemas.openxmlformats.org/officeDocument/2006/relationships/hyperlink" Target="https://curriculum.nsw.edu.au/learning-areas/mathematics/mathematics-k-10-2022" TargetMode="External"/><Relationship Id="rId1" Type="http://schemas.openxmlformats.org/officeDocument/2006/relationships/slideLayout" Target="../slideLayouts/slideLayout14.xml"/><Relationship Id="rId6" Type="http://schemas.openxmlformats.org/officeDocument/2006/relationships/hyperlink" Target="https://mathforlove.com/lesson/fill-the-stairs/" TargetMode="External"/><Relationship Id="rId11" Type="http://schemas.openxmlformats.org/officeDocument/2006/relationships/hyperlink" Target="https://curriculum.nsw.edu.au/" TargetMode="External"/><Relationship Id="rId5" Type="http://schemas.openxmlformats.org/officeDocument/2006/relationships/hyperlink" Target="https://mathsvenns.com/volume-of-a-cuboid-1/" TargetMode="External"/><Relationship Id="rId10" Type="http://schemas.openxmlformats.org/officeDocument/2006/relationships/hyperlink" Target="https://educationstandards.nsw.edu.au/wps/portal/nesa/home" TargetMode="External"/><Relationship Id="rId4" Type="http://schemas.openxmlformats.org/officeDocument/2006/relationships/hyperlink" Target="http://www.australiancurriculum.edu.au/" TargetMode="External"/><Relationship Id="rId9" Type="http://schemas.openxmlformats.org/officeDocument/2006/relationships/hyperlink" Target="https://educationstandards.nsw.edu.au/wps/portal/nesa/mini-footer/copyright"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curriculum.nsw.edu.au/" TargetMode="External"/><Relationship Id="rId3" Type="http://schemas.openxmlformats.org/officeDocument/2006/relationships/hyperlink" Target="https://nrich.maths.org/5578" TargetMode="External"/><Relationship Id="rId7" Type="http://schemas.openxmlformats.org/officeDocument/2006/relationships/hyperlink" Target="https://educationstandards.nsw.edu.au/wps/portal/nesa/home" TargetMode="External"/><Relationship Id="rId2" Type="http://schemas.openxmlformats.org/officeDocument/2006/relationships/hyperlink" Target="https://nrich.maths.org/7280" TargetMode="External"/><Relationship Id="rId1" Type="http://schemas.openxmlformats.org/officeDocument/2006/relationships/slideLayout" Target="../slideLayouts/slideLayout14.xml"/><Relationship Id="rId6" Type="http://schemas.openxmlformats.org/officeDocument/2006/relationships/hyperlink" Target="https://educationstandards.nsw.edu.au/wps/portal/nesa/mini-footer/copyright" TargetMode="External"/><Relationship Id="rId5" Type="http://schemas.openxmlformats.org/officeDocument/2006/relationships/hyperlink" Target="https://nrich.maths.org/5632" TargetMode="External"/><Relationship Id="rId4" Type="http://schemas.openxmlformats.org/officeDocument/2006/relationships/hyperlink" Target="https://nrich.maths.org/14241"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3 Year A Unit 17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3 </a:t>
            </a:r>
            <a:r>
              <a:rPr lang="en-AU" sz="2400">
                <a:solidFill>
                  <a:srgbClr val="FFFFFF"/>
                </a:solidFill>
                <a:latin typeface="+mj-lt"/>
                <a:cs typeface="Arial"/>
              </a:rPr>
              <a:t>–</a:t>
            </a:r>
            <a:r>
              <a:rPr lang="en-AU" sz="2400">
                <a:latin typeface="+mj-lt"/>
                <a:cs typeface="Arial"/>
              </a:rPr>
              <a:t> Unit 17</a:t>
            </a:r>
          </a:p>
        </p:txBody>
      </p:sp>
      <p:pic>
        <p:nvPicPr>
          <p:cNvPr id="4" name="Picture Placeholder 3" descr="A row of dice on a blue background">
            <a:extLst>
              <a:ext uri="{FF2B5EF4-FFF2-40B4-BE49-F238E27FC236}">
                <a16:creationId xmlns:a16="http://schemas.microsoft.com/office/drawing/2014/main" id="{27D6D49C-580D-CED2-3F28-318B6A237077}"/>
              </a:ext>
            </a:extLst>
          </p:cNvPr>
          <p:cNvPicPr>
            <a:picLocks noGrp="1" noChangeAspect="1"/>
          </p:cNvPicPr>
          <p:nvPr>
            <p:ph type="pic" sz="quarter" idx="13"/>
          </p:nvPr>
        </p:nvPicPr>
        <p:blipFill>
          <a:blip r:embed="rId3"/>
          <a:srcRect l="435" r="435"/>
          <a:stretch/>
        </p:blipFill>
        <p:spPr>
          <a:xfrm>
            <a:off x="7128000" y="2233"/>
            <a:ext cx="5064000" cy="6853534"/>
          </a:xfrm>
          <a:prstGeom prst="rect">
            <a:avLst/>
          </a:prstGeom>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dirty="0"/>
              <a:t>Multiple choice </a:t>
            </a:r>
            <a:r>
              <a:rPr lang="en-US" dirty="0">
                <a:solidFill>
                  <a:schemeClr val="bg1"/>
                </a:solidFill>
              </a:rPr>
              <a:t>(1)</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673939" y="5249027"/>
            <a:ext cx="10175920" cy="641396"/>
          </a:xfrm>
        </p:spPr>
        <p:txBody>
          <a:bodyPr vert="horz" lIns="0" tIns="0" rIns="0" bIns="0" rtlCol="0" anchor="t">
            <a:noAutofit/>
          </a:bodyPr>
          <a:lstStyle/>
          <a:p>
            <a:r>
              <a:rPr lang="en-US" sz="4000">
                <a:ea typeface="+mn-lt"/>
                <a:cs typeface="+mn-lt"/>
              </a:rPr>
              <a:t>3, 6, 8, 9, 12, 24</a:t>
            </a:r>
            <a:endParaRPr lang="en-US" sz="4000"/>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967577"/>
            <a:ext cx="11358861" cy="754243"/>
          </a:xfrm>
        </p:spPr>
        <p:txBody>
          <a:bodyPr vert="horz" lIns="0" tIns="0" rIns="0" bIns="0" rtlCol="0" anchor="t">
            <a:noAutofit/>
          </a:bodyPr>
          <a:lstStyle/>
          <a:p>
            <a:r>
              <a:rPr lang="en-US" sz="3600">
                <a:latin typeface="Arial"/>
                <a:cs typeface="Arial"/>
              </a:rPr>
              <a:t>Which of the following has all the </a:t>
            </a:r>
            <a:r>
              <a:rPr lang="en-US" sz="3600" b="1">
                <a:latin typeface="Arial"/>
                <a:cs typeface="Arial"/>
              </a:rPr>
              <a:t>factors</a:t>
            </a:r>
            <a:r>
              <a:rPr lang="en-US" sz="3600">
                <a:latin typeface="Arial"/>
                <a:cs typeface="Arial"/>
              </a:rPr>
              <a:t> of 24?</a:t>
            </a:r>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668080" y="4228630"/>
            <a:ext cx="10175920" cy="641396"/>
          </a:xfrm>
        </p:spPr>
        <p:txBody>
          <a:bodyPr vert="horz" lIns="0" tIns="0" rIns="0" bIns="0" rtlCol="0" anchor="t">
            <a:noAutofit/>
          </a:bodyPr>
          <a:lstStyle/>
          <a:p>
            <a:r>
              <a:rPr lang="en-US" sz="4000">
                <a:ea typeface="+mn-lt"/>
                <a:cs typeface="+mn-lt"/>
              </a:rPr>
              <a:t>1, 2, 3, 5, 6, 12, 24</a:t>
            </a:r>
            <a:endParaRPr lang="en-US" sz="4000"/>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668080" y="3224053"/>
            <a:ext cx="10175920" cy="641396"/>
          </a:xfrm>
        </p:spPr>
        <p:txBody>
          <a:bodyPr vert="horz" lIns="0" tIns="0" rIns="0" bIns="0" rtlCol="0" anchor="t">
            <a:noAutofit/>
          </a:bodyPr>
          <a:lstStyle/>
          <a:p>
            <a:r>
              <a:rPr lang="en-US" sz="4000">
                <a:cs typeface="Arial"/>
              </a:rPr>
              <a:t>2, 4, 6, 10, 12, 24</a:t>
            </a:r>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668080" y="2228741"/>
            <a:ext cx="10175920" cy="641396"/>
          </a:xfrm>
        </p:spPr>
        <p:txBody>
          <a:bodyPr vert="horz" lIns="0" tIns="0" rIns="0" bIns="0" rtlCol="0" anchor="t">
            <a:noAutofit/>
          </a:bodyPr>
          <a:lstStyle/>
          <a:p>
            <a:r>
              <a:rPr lang="en-US" sz="4000">
                <a:cs typeface="Arial"/>
              </a:rPr>
              <a:t>1, 2, 3, 4, 6, 8, 12, 24</a:t>
            </a:r>
          </a:p>
        </p:txBody>
      </p:sp>
      <p:sp>
        <p:nvSpPr>
          <p:cNvPr id="9" name="TextBox 8">
            <a:extLst>
              <a:ext uri="{FF2B5EF4-FFF2-40B4-BE49-F238E27FC236}">
                <a16:creationId xmlns:a16="http://schemas.microsoft.com/office/drawing/2014/main" id="{17539DAC-4E92-AFE5-86E8-50C88518EFAD}"/>
              </a:ext>
            </a:extLst>
          </p:cNvPr>
          <p:cNvSpPr txBox="1"/>
          <p:nvPr/>
        </p:nvSpPr>
        <p:spPr>
          <a:xfrm>
            <a:off x="679889" y="22841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89607" y="33633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99132"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89609" y="4297903"/>
            <a:ext cx="5294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6" name="Picture 5" descr="image of a finger selecting an option for a multiple choice or true and false">
            <a:extLst>
              <a:ext uri="{FF2B5EF4-FFF2-40B4-BE49-F238E27FC236}">
                <a16:creationId xmlns:a16="http://schemas.microsoft.com/office/drawing/2014/main" id="{D3D1DC3B-1B1B-6515-571E-5C8995A16EF6}"/>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a:t>
            </a:r>
          </a:p>
        </p:txBody>
      </p:sp>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359999" y="1689473"/>
            <a:ext cx="11200365" cy="4092718"/>
          </a:xfrm>
        </p:spPr>
        <p:txBody>
          <a:bodyPr/>
          <a:lstStyle/>
          <a:p>
            <a:pPr algn="ctr"/>
            <a:r>
              <a:rPr lang="en-US" sz="4000" b="1">
                <a:latin typeface="Arial"/>
                <a:cs typeface="Arial"/>
              </a:rPr>
              <a:t>Multiply</a:t>
            </a:r>
            <a:r>
              <a:rPr lang="en-US" sz="4000">
                <a:latin typeface="Arial"/>
                <a:cs typeface="Arial"/>
              </a:rPr>
              <a:t> the following:</a:t>
            </a:r>
            <a:br>
              <a:rPr lang="en-US" sz="4000">
                <a:latin typeface="Arial"/>
                <a:cs typeface="Arial"/>
              </a:rPr>
            </a:br>
            <a:r>
              <a:rPr lang="en-US" sz="4000">
                <a:latin typeface="Arial"/>
                <a:cs typeface="Arial"/>
              </a:rPr>
              <a:t>4 x 10</a:t>
            </a:r>
            <a:endParaRPr lang="en-US" sz="4000"/>
          </a:p>
          <a:p>
            <a:pPr algn="ctr"/>
            <a:r>
              <a:rPr lang="en-US" sz="4000">
                <a:latin typeface="Arial"/>
                <a:cs typeface="Arial"/>
              </a:rPr>
              <a:t>4 x 100</a:t>
            </a:r>
          </a:p>
          <a:p>
            <a:pPr algn="ctr"/>
            <a:r>
              <a:rPr lang="en-US" sz="4000">
                <a:latin typeface="Arial"/>
                <a:cs typeface="Arial"/>
              </a:rPr>
              <a:t>4 x 1000</a:t>
            </a:r>
          </a:p>
          <a:p>
            <a:endParaRPr lang="en-US">
              <a:latin typeface="Arial"/>
              <a:cs typeface="Arial"/>
            </a:endParaRPr>
          </a:p>
        </p:txBody>
      </p:sp>
      <p:pic>
        <p:nvPicPr>
          <p:cNvPr id="5" name="Picture 4" descr="image of a clipboard with a pencil recording short answer responses">
            <a:extLst>
              <a:ext uri="{FF2B5EF4-FFF2-40B4-BE49-F238E27FC236}">
                <a16:creationId xmlns:a16="http://schemas.microsoft.com/office/drawing/2014/main" id="{60B5CDFF-4A15-89C2-D24B-9A50E271EEC2}"/>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a:t>
            </a:r>
          </a:p>
        </p:txBody>
      </p:sp>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242495" y="1178404"/>
            <a:ext cx="11243037" cy="1959118"/>
          </a:xfrm>
        </p:spPr>
        <p:txBody>
          <a:bodyPr/>
          <a:lstStyle/>
          <a:p>
            <a:pPr algn="ctr"/>
            <a:r>
              <a:rPr lang="en-US" sz="4400" b="1">
                <a:latin typeface="Arial"/>
                <a:cs typeface="Arial"/>
              </a:rPr>
              <a:t>Record</a:t>
            </a:r>
            <a:r>
              <a:rPr lang="en-US" sz="4400">
                <a:latin typeface="Arial"/>
                <a:cs typeface="Arial"/>
              </a:rPr>
              <a:t> the </a:t>
            </a:r>
            <a:r>
              <a:rPr lang="en-US" sz="4400" b="1">
                <a:latin typeface="Arial"/>
                <a:cs typeface="Arial"/>
              </a:rPr>
              <a:t>fractions</a:t>
            </a:r>
            <a:r>
              <a:rPr lang="en-US" sz="4400">
                <a:latin typeface="Arial"/>
                <a:cs typeface="Arial"/>
              </a:rPr>
              <a:t> in the table</a:t>
            </a:r>
            <a:endParaRPr lang="en-US" sz="4400"/>
          </a:p>
          <a:p>
            <a:pPr algn="ctr"/>
            <a:r>
              <a:rPr lang="en-US" sz="4400">
                <a:latin typeface="Arial"/>
                <a:cs typeface="Arial"/>
              </a:rPr>
              <a:t>    </a:t>
            </a:r>
            <a:br>
              <a:rPr lang="en-US" sz="4400">
                <a:latin typeface="Arial"/>
                <a:cs typeface="Arial"/>
              </a:rPr>
            </a:br>
            <a:endParaRPr lang="en-US" sz="4400">
              <a:solidFill>
                <a:srgbClr val="22272B"/>
              </a:solidFill>
            </a:endParaRPr>
          </a:p>
          <a:p>
            <a:endParaRPr lang="en-US">
              <a:latin typeface="Arial"/>
              <a:cs typeface="Arial"/>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D25E8D62-5A6D-BE34-7778-6ED72D205203}"/>
                  </a:ext>
                </a:extLst>
              </p:cNvPr>
              <p:cNvGraphicFramePr>
                <a:graphicFrameLocks noGrp="1"/>
              </p:cNvGraphicFramePr>
              <p:nvPr>
                <p:extLst>
                  <p:ext uri="{D42A27DB-BD31-4B8C-83A1-F6EECF244321}">
                    <p14:modId xmlns:p14="http://schemas.microsoft.com/office/powerpoint/2010/main" val="4230365480"/>
                  </p:ext>
                </p:extLst>
              </p:nvPr>
            </p:nvGraphicFramePr>
            <p:xfrm>
              <a:off x="1309352" y="3434366"/>
              <a:ext cx="9284324" cy="2614319"/>
            </p:xfrm>
            <a:graphic>
              <a:graphicData uri="http://schemas.openxmlformats.org/drawingml/2006/table">
                <a:tbl>
                  <a:tblPr firstRow="1" bandRow="1">
                    <a:tableStyleId>{69012ECD-51FC-41F1-AA8D-1B2483CD663E}</a:tableStyleId>
                  </a:tblPr>
                  <a:tblGrid>
                    <a:gridCol w="3120408">
                      <a:extLst>
                        <a:ext uri="{9D8B030D-6E8A-4147-A177-3AD203B41FA5}">
                          <a16:colId xmlns:a16="http://schemas.microsoft.com/office/drawing/2014/main" val="1497132826"/>
                        </a:ext>
                      </a:extLst>
                    </a:gridCol>
                    <a:gridCol w="3069141">
                      <a:extLst>
                        <a:ext uri="{9D8B030D-6E8A-4147-A177-3AD203B41FA5}">
                          <a16:colId xmlns:a16="http://schemas.microsoft.com/office/drawing/2014/main" val="3575268080"/>
                        </a:ext>
                      </a:extLst>
                    </a:gridCol>
                    <a:gridCol w="3094775">
                      <a:extLst>
                        <a:ext uri="{9D8B030D-6E8A-4147-A177-3AD203B41FA5}">
                          <a16:colId xmlns:a16="http://schemas.microsoft.com/office/drawing/2014/main" val="1472363688"/>
                        </a:ext>
                      </a:extLst>
                    </a:gridCol>
                  </a:tblGrid>
                  <a:tr h="823406">
                    <a:tc>
                      <a:txBody>
                        <a:bodyPr/>
                        <a:lstStyle/>
                        <a:p>
                          <a:pPr algn="ctr"/>
                          <a:r>
                            <a:rPr lang="en-US" sz="2400"/>
                            <a:t>Less than  </a:t>
                          </a:r>
                          <a14:m>
                            <m:oMath xmlns:m="http://schemas.openxmlformats.org/officeDocument/2006/math">
                              <m:f>
                                <m:fPr>
                                  <m:ctrlPr>
                                    <a:rPr lang="en-US" sz="2400" i="1" smtClean="0">
                                      <a:latin typeface="Cambria Math" panose="02040503050406030204" pitchFamily="18" charset="0"/>
                                    </a:rPr>
                                  </m:ctrlPr>
                                </m:fPr>
                                <m:num>
                                  <m:r>
                                    <a:rPr lang="en-AU" sz="2400" b="1" i="1" smtClean="0">
                                      <a:latin typeface="Cambria Math" panose="02040503050406030204" pitchFamily="18" charset="0"/>
                                    </a:rPr>
                                    <m:t>𝟏</m:t>
                                  </m:r>
                                </m:num>
                                <m:den>
                                  <m:r>
                                    <a:rPr lang="en-AU" sz="2400" b="1" i="1" smtClean="0">
                                      <a:latin typeface="Cambria Math" panose="02040503050406030204" pitchFamily="18" charset="0"/>
                                    </a:rPr>
                                    <m:t>𝟐</m:t>
                                  </m:r>
                                </m:den>
                              </m:f>
                            </m:oMath>
                          </a14:m>
                          <a:endParaRPr lang="en-US" sz="2400"/>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a:r>
                            <a:rPr lang="en-US" sz="2400"/>
                            <a:t>Equal to </a:t>
                          </a:r>
                          <a14:m>
                            <m:oMath xmlns:m="http://schemas.openxmlformats.org/officeDocument/2006/math">
                              <m:f>
                                <m:fPr>
                                  <m:ctrlPr>
                                    <a:rPr lang="en-US" sz="2400" i="1" smtClean="0">
                                      <a:latin typeface="Cambria Math" panose="02040503050406030204" pitchFamily="18" charset="0"/>
                                    </a:rPr>
                                  </m:ctrlPr>
                                </m:fPr>
                                <m:num>
                                  <m:r>
                                    <a:rPr lang="en-AU" sz="2400" b="1" i="1" smtClean="0">
                                      <a:latin typeface="Cambria Math" panose="02040503050406030204" pitchFamily="18" charset="0"/>
                                    </a:rPr>
                                    <m:t>𝟏</m:t>
                                  </m:r>
                                </m:num>
                                <m:den>
                                  <m:r>
                                    <a:rPr lang="en-AU" sz="2400" b="1" i="1" smtClean="0">
                                      <a:latin typeface="Cambria Math" panose="02040503050406030204" pitchFamily="18" charset="0"/>
                                    </a:rPr>
                                    <m:t>𝟐</m:t>
                                  </m:r>
                                </m:den>
                              </m:f>
                            </m:oMath>
                          </a14:m>
                          <a:endParaRPr lang="en-US" sz="2400"/>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a:r>
                            <a:rPr lang="en-US" sz="2400"/>
                            <a:t>More than </a:t>
                          </a:r>
                          <a14:m>
                            <m:oMath xmlns:m="http://schemas.openxmlformats.org/officeDocument/2006/math">
                              <m:f>
                                <m:fPr>
                                  <m:ctrlPr>
                                    <a:rPr lang="en-US" sz="2400" i="1" smtClean="0">
                                      <a:latin typeface="Cambria Math" panose="02040503050406030204" pitchFamily="18" charset="0"/>
                                    </a:rPr>
                                  </m:ctrlPr>
                                </m:fPr>
                                <m:num>
                                  <m:r>
                                    <a:rPr lang="en-AU" sz="2400" b="1" i="1" smtClean="0">
                                      <a:latin typeface="Cambria Math" panose="02040503050406030204" pitchFamily="18" charset="0"/>
                                    </a:rPr>
                                    <m:t>𝟏</m:t>
                                  </m:r>
                                </m:num>
                                <m:den>
                                  <m:r>
                                    <a:rPr lang="en-AU" sz="2400" b="1" i="1" smtClean="0">
                                      <a:latin typeface="Cambria Math" panose="02040503050406030204" pitchFamily="18" charset="0"/>
                                    </a:rPr>
                                    <m:t>𝟐</m:t>
                                  </m:r>
                                </m:den>
                              </m:f>
                            </m:oMath>
                          </a14:m>
                          <a:endParaRPr lang="en-US" sz="2400"/>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586361569"/>
                      </a:ext>
                    </a:extLst>
                  </a:tr>
                  <a:tr h="1790913">
                    <a:tc>
                      <a:txBody>
                        <a:bodyPr/>
                        <a:lstStyle/>
                        <a:p>
                          <a:pPr algn="ctr"/>
                          <a:endParaRPr lang="en-US"/>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a:endParaRPr lang="en-US"/>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a:endParaRPr lang="en-US"/>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678027168"/>
                      </a:ext>
                    </a:extLst>
                  </a:tr>
                </a:tbl>
              </a:graphicData>
            </a:graphic>
          </p:graphicFrame>
        </mc:Choice>
        <mc:Fallback xmlns="">
          <p:graphicFrame>
            <p:nvGraphicFramePr>
              <p:cNvPr id="4" name="Table 3">
                <a:extLst>
                  <a:ext uri="{FF2B5EF4-FFF2-40B4-BE49-F238E27FC236}">
                    <a16:creationId xmlns:a16="http://schemas.microsoft.com/office/drawing/2014/main" id="{D25E8D62-5A6D-BE34-7778-6ED72D205203}"/>
                  </a:ext>
                </a:extLst>
              </p:cNvPr>
              <p:cNvGraphicFramePr>
                <a:graphicFrameLocks noGrp="1"/>
              </p:cNvGraphicFramePr>
              <p:nvPr>
                <p:extLst>
                  <p:ext uri="{D42A27DB-BD31-4B8C-83A1-F6EECF244321}">
                    <p14:modId xmlns:p14="http://schemas.microsoft.com/office/powerpoint/2010/main" val="4230365480"/>
                  </p:ext>
                </p:extLst>
              </p:nvPr>
            </p:nvGraphicFramePr>
            <p:xfrm>
              <a:off x="1309352" y="3434366"/>
              <a:ext cx="9284324" cy="2614319"/>
            </p:xfrm>
            <a:graphic>
              <a:graphicData uri="http://schemas.openxmlformats.org/drawingml/2006/table">
                <a:tbl>
                  <a:tblPr firstRow="1" bandRow="1">
                    <a:tableStyleId>{69012ECD-51FC-41F1-AA8D-1B2483CD663E}</a:tableStyleId>
                  </a:tblPr>
                  <a:tblGrid>
                    <a:gridCol w="3120408">
                      <a:extLst>
                        <a:ext uri="{9D8B030D-6E8A-4147-A177-3AD203B41FA5}">
                          <a16:colId xmlns:a16="http://schemas.microsoft.com/office/drawing/2014/main" val="1497132826"/>
                        </a:ext>
                      </a:extLst>
                    </a:gridCol>
                    <a:gridCol w="3069141">
                      <a:extLst>
                        <a:ext uri="{9D8B030D-6E8A-4147-A177-3AD203B41FA5}">
                          <a16:colId xmlns:a16="http://schemas.microsoft.com/office/drawing/2014/main" val="3575268080"/>
                        </a:ext>
                      </a:extLst>
                    </a:gridCol>
                    <a:gridCol w="3094775">
                      <a:extLst>
                        <a:ext uri="{9D8B030D-6E8A-4147-A177-3AD203B41FA5}">
                          <a16:colId xmlns:a16="http://schemas.microsoft.com/office/drawing/2014/main" val="1472363688"/>
                        </a:ext>
                      </a:extLst>
                    </a:gridCol>
                  </a:tblGrid>
                  <a:tr h="823406">
                    <a:tc>
                      <a:txBody>
                        <a:bodyPr/>
                        <a:lstStyle/>
                        <a:p>
                          <a:endParaRPr lang="en-US"/>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blipFill>
                          <a:blip r:embed="rId3"/>
                          <a:stretch>
                            <a:fillRect l="-391" t="-1481" r="-198633" b="-221481"/>
                          </a:stretch>
                        </a:blipFill>
                      </a:tcPr>
                    </a:tc>
                    <a:tc>
                      <a:txBody>
                        <a:bodyPr/>
                        <a:lstStyle/>
                        <a:p>
                          <a:endParaRPr lang="en-US"/>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blipFill>
                          <a:blip r:embed="rId3"/>
                          <a:stretch>
                            <a:fillRect l="-101984" t="-1481" r="-101786" b="-221481"/>
                          </a:stretch>
                        </a:blipFill>
                      </a:tcPr>
                    </a:tc>
                    <a:tc>
                      <a:txBody>
                        <a:bodyPr/>
                        <a:lstStyle/>
                        <a:p>
                          <a:endParaRPr lang="en-US"/>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blipFill>
                          <a:blip r:embed="rId3"/>
                          <a:stretch>
                            <a:fillRect l="-200394" t="-1481" r="-984" b="-221481"/>
                          </a:stretch>
                        </a:blipFill>
                      </a:tcPr>
                    </a:tc>
                    <a:extLst>
                      <a:ext uri="{0D108BD9-81ED-4DB2-BD59-A6C34878D82A}">
                        <a16:rowId xmlns:a16="http://schemas.microsoft.com/office/drawing/2014/main" val="586361569"/>
                      </a:ext>
                    </a:extLst>
                  </a:tr>
                  <a:tr h="1790913">
                    <a:tc>
                      <a:txBody>
                        <a:bodyPr/>
                        <a:lstStyle/>
                        <a:p>
                          <a:pPr algn="ctr"/>
                          <a:endParaRPr lang="en-US"/>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a:endParaRPr lang="en-US"/>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a:endParaRPr lang="en-US"/>
                        </a:p>
                      </a:txBody>
                      <a:tcPr anchor="ctr">
                        <a:lnL w="28575" cap="flat" cmpd="sng" algn="ctr">
                          <a:solidFill>
                            <a:schemeClr val="accent1"/>
                          </a:solidFill>
                          <a:prstDash val="solid"/>
                          <a:round/>
                          <a:headEnd type="none" w="med" len="med"/>
                          <a:tailEnd type="none" w="med" len="med"/>
                        </a:lnL>
                        <a:lnR w="28575" cap="flat" cmpd="sng" algn="ctr">
                          <a:solidFill>
                            <a:schemeClr val="accent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678027168"/>
                      </a:ext>
                    </a:extLst>
                  </a:tr>
                </a:tbl>
              </a:graphicData>
            </a:graphic>
          </p:graphicFrame>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F752848-F1E6-1A12-8EBA-0C7BCDD77716}"/>
                  </a:ext>
                </a:extLst>
              </p:cNvPr>
              <p:cNvSpPr txBox="1"/>
              <p:nvPr/>
            </p:nvSpPr>
            <p:spPr>
              <a:xfrm>
                <a:off x="2983813" y="2432821"/>
                <a:ext cx="419098" cy="1070038"/>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a:effectLst/>
                            <a:latin typeface="Cambria Math" panose="02040503050406030204" pitchFamily="18" charset="0"/>
                            <a:ea typeface="Calibri" panose="020F0502020204030204" pitchFamily="34" charset="0"/>
                            <a:cs typeface="Arial" panose="020B0604020202020204" pitchFamily="34" charset="0"/>
                          </a:rPr>
                          <m:t>𝟏</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𝟓</m:t>
                        </m:r>
                      </m:den>
                    </m:f>
                  </m:oMath>
                </a14:m>
                <a:r>
                  <a:rPr lang="en-AU" sz="3200" b="1"/>
                  <a:t> </a:t>
                </a:r>
              </a:p>
            </p:txBody>
          </p:sp>
        </mc:Choice>
        <mc:Fallback xmlns="">
          <p:sp>
            <p:nvSpPr>
              <p:cNvPr id="5" name="TextBox 4">
                <a:extLst>
                  <a:ext uri="{FF2B5EF4-FFF2-40B4-BE49-F238E27FC236}">
                    <a16:creationId xmlns:a16="http://schemas.microsoft.com/office/drawing/2014/main" id="{8F752848-F1E6-1A12-8EBA-0C7BCDD77716}"/>
                  </a:ext>
                </a:extLst>
              </p:cNvPr>
              <p:cNvSpPr txBox="1">
                <a:spLocks noRot="1" noChangeAspect="1" noMove="1" noResize="1" noEditPoints="1" noAdjustHandles="1" noChangeArrowheads="1" noChangeShapeType="1" noTextEdit="1"/>
              </p:cNvSpPr>
              <p:nvPr/>
            </p:nvSpPr>
            <p:spPr>
              <a:xfrm>
                <a:off x="2983813" y="2432821"/>
                <a:ext cx="419098" cy="107003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A577F27-9A0F-770E-6BD0-84C18F155E2E}"/>
                  </a:ext>
                </a:extLst>
              </p:cNvPr>
              <p:cNvSpPr txBox="1"/>
              <p:nvPr/>
            </p:nvSpPr>
            <p:spPr>
              <a:xfrm>
                <a:off x="3844658" y="2432821"/>
                <a:ext cx="419098" cy="1070038"/>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a:effectLst/>
                            <a:latin typeface="Cambria Math" panose="02040503050406030204" pitchFamily="18" charset="0"/>
                            <a:ea typeface="Calibri" panose="020F0502020204030204" pitchFamily="34" charset="0"/>
                            <a:cs typeface="Arial" panose="020B0604020202020204" pitchFamily="34" charset="0"/>
                          </a:rPr>
                          <m:t>𝟏</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𝟖</m:t>
                        </m:r>
                      </m:den>
                    </m:f>
                  </m:oMath>
                </a14:m>
                <a:r>
                  <a:rPr lang="en-AU" sz="3200" b="1"/>
                  <a:t> </a:t>
                </a:r>
              </a:p>
            </p:txBody>
          </p:sp>
        </mc:Choice>
        <mc:Fallback xmlns="">
          <p:sp>
            <p:nvSpPr>
              <p:cNvPr id="6" name="TextBox 5">
                <a:extLst>
                  <a:ext uri="{FF2B5EF4-FFF2-40B4-BE49-F238E27FC236}">
                    <a16:creationId xmlns:a16="http://schemas.microsoft.com/office/drawing/2014/main" id="{1A577F27-9A0F-770E-6BD0-84C18F155E2E}"/>
                  </a:ext>
                </a:extLst>
              </p:cNvPr>
              <p:cNvSpPr txBox="1">
                <a:spLocks noRot="1" noChangeAspect="1" noMove="1" noResize="1" noEditPoints="1" noAdjustHandles="1" noChangeArrowheads="1" noChangeShapeType="1" noTextEdit="1"/>
              </p:cNvSpPr>
              <p:nvPr/>
            </p:nvSpPr>
            <p:spPr>
              <a:xfrm>
                <a:off x="3844658" y="2432821"/>
                <a:ext cx="419098" cy="107003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0BA54CA-9D5E-AB5B-F2B3-1BC9850D3D48}"/>
                  </a:ext>
                </a:extLst>
              </p:cNvPr>
              <p:cNvSpPr txBox="1"/>
              <p:nvPr/>
            </p:nvSpPr>
            <p:spPr>
              <a:xfrm>
                <a:off x="4776326" y="2432821"/>
                <a:ext cx="419098" cy="1070038"/>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a:effectLst/>
                            <a:latin typeface="Cambria Math" panose="02040503050406030204" pitchFamily="18" charset="0"/>
                            <a:ea typeface="Calibri" panose="020F0502020204030204" pitchFamily="34" charset="0"/>
                            <a:cs typeface="Arial" panose="020B0604020202020204" pitchFamily="34" charset="0"/>
                          </a:rPr>
                          <m:t>𝟏</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3200" b="1"/>
                  <a:t> </a:t>
                </a:r>
              </a:p>
            </p:txBody>
          </p:sp>
        </mc:Choice>
        <mc:Fallback xmlns="">
          <p:sp>
            <p:nvSpPr>
              <p:cNvPr id="7" name="TextBox 6">
                <a:extLst>
                  <a:ext uri="{FF2B5EF4-FFF2-40B4-BE49-F238E27FC236}">
                    <a16:creationId xmlns:a16="http://schemas.microsoft.com/office/drawing/2014/main" id="{70BA54CA-9D5E-AB5B-F2B3-1BC9850D3D48}"/>
                  </a:ext>
                </a:extLst>
              </p:cNvPr>
              <p:cNvSpPr txBox="1">
                <a:spLocks noRot="1" noChangeAspect="1" noMove="1" noResize="1" noEditPoints="1" noAdjustHandles="1" noChangeArrowheads="1" noChangeShapeType="1" noTextEdit="1"/>
              </p:cNvSpPr>
              <p:nvPr/>
            </p:nvSpPr>
            <p:spPr>
              <a:xfrm>
                <a:off x="4776326" y="2432821"/>
                <a:ext cx="419098" cy="107003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DFCB62E-B3D3-AAC8-3F75-F6DFC805ADCF}"/>
                  </a:ext>
                </a:extLst>
              </p:cNvPr>
              <p:cNvSpPr txBox="1"/>
              <p:nvPr/>
            </p:nvSpPr>
            <p:spPr>
              <a:xfrm>
                <a:off x="5637171" y="2432821"/>
                <a:ext cx="419098" cy="1070038"/>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a:effectLst/>
                            <a:latin typeface="Cambria Math" panose="02040503050406030204" pitchFamily="18" charset="0"/>
                            <a:ea typeface="Calibri" panose="020F0502020204030204" pitchFamily="34" charset="0"/>
                            <a:cs typeface="Arial" panose="020B0604020202020204" pitchFamily="34" charset="0"/>
                          </a:rPr>
                          <m:t>𝟏</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𝟏𝟎</m:t>
                        </m:r>
                      </m:den>
                    </m:f>
                  </m:oMath>
                </a14:m>
                <a:r>
                  <a:rPr lang="en-AU" sz="3200" b="1"/>
                  <a:t> </a:t>
                </a:r>
              </a:p>
            </p:txBody>
          </p:sp>
        </mc:Choice>
        <mc:Fallback xmlns="">
          <p:sp>
            <p:nvSpPr>
              <p:cNvPr id="8" name="TextBox 7">
                <a:extLst>
                  <a:ext uri="{FF2B5EF4-FFF2-40B4-BE49-F238E27FC236}">
                    <a16:creationId xmlns:a16="http://schemas.microsoft.com/office/drawing/2014/main" id="{3DFCB62E-B3D3-AAC8-3F75-F6DFC805ADCF}"/>
                  </a:ext>
                </a:extLst>
              </p:cNvPr>
              <p:cNvSpPr txBox="1">
                <a:spLocks noRot="1" noChangeAspect="1" noMove="1" noResize="1" noEditPoints="1" noAdjustHandles="1" noChangeArrowheads="1" noChangeShapeType="1" noTextEdit="1"/>
              </p:cNvSpPr>
              <p:nvPr/>
            </p:nvSpPr>
            <p:spPr>
              <a:xfrm>
                <a:off x="5637171" y="2432821"/>
                <a:ext cx="419098" cy="107003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22C34B2-B190-8C50-0C18-F3DB37B08C9C}"/>
                  </a:ext>
                </a:extLst>
              </p:cNvPr>
              <p:cNvSpPr txBox="1"/>
              <p:nvPr/>
            </p:nvSpPr>
            <p:spPr>
              <a:xfrm>
                <a:off x="6514732" y="2432821"/>
                <a:ext cx="419098" cy="1070038"/>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smtClean="0">
                            <a:effectLst/>
                            <a:latin typeface="Cambria Math" panose="02040503050406030204" pitchFamily="18" charset="0"/>
                          </a:rPr>
                          <m:t>𝟐</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3200" b="1"/>
                  <a:t> </a:t>
                </a:r>
              </a:p>
            </p:txBody>
          </p:sp>
        </mc:Choice>
        <mc:Fallback xmlns="">
          <p:sp>
            <p:nvSpPr>
              <p:cNvPr id="9" name="TextBox 8">
                <a:extLst>
                  <a:ext uri="{FF2B5EF4-FFF2-40B4-BE49-F238E27FC236}">
                    <a16:creationId xmlns:a16="http://schemas.microsoft.com/office/drawing/2014/main" id="{622C34B2-B190-8C50-0C18-F3DB37B08C9C}"/>
                  </a:ext>
                </a:extLst>
              </p:cNvPr>
              <p:cNvSpPr txBox="1">
                <a:spLocks noRot="1" noChangeAspect="1" noMove="1" noResize="1" noEditPoints="1" noAdjustHandles="1" noChangeArrowheads="1" noChangeShapeType="1" noTextEdit="1"/>
              </p:cNvSpPr>
              <p:nvPr/>
            </p:nvSpPr>
            <p:spPr>
              <a:xfrm>
                <a:off x="6514732" y="2432821"/>
                <a:ext cx="419098" cy="107003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F97C58E-5507-8327-ED2D-35C0F1E3F511}"/>
                  </a:ext>
                </a:extLst>
              </p:cNvPr>
              <p:cNvSpPr txBox="1"/>
              <p:nvPr/>
            </p:nvSpPr>
            <p:spPr>
              <a:xfrm>
                <a:off x="7392293" y="2432821"/>
                <a:ext cx="419098" cy="1070038"/>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smtClean="0">
                            <a:effectLst/>
                            <a:latin typeface="Cambria Math" panose="02040503050406030204" pitchFamily="18" charset="0"/>
                          </a:rPr>
                          <m:t>𝟓</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𝟔</m:t>
                        </m:r>
                      </m:den>
                    </m:f>
                  </m:oMath>
                </a14:m>
                <a:r>
                  <a:rPr lang="en-AU" sz="3200" b="1"/>
                  <a:t> </a:t>
                </a:r>
              </a:p>
            </p:txBody>
          </p:sp>
        </mc:Choice>
        <mc:Fallback xmlns="">
          <p:sp>
            <p:nvSpPr>
              <p:cNvPr id="10" name="TextBox 9">
                <a:extLst>
                  <a:ext uri="{FF2B5EF4-FFF2-40B4-BE49-F238E27FC236}">
                    <a16:creationId xmlns:a16="http://schemas.microsoft.com/office/drawing/2014/main" id="{3F97C58E-5507-8327-ED2D-35C0F1E3F511}"/>
                  </a:ext>
                </a:extLst>
              </p:cNvPr>
              <p:cNvSpPr txBox="1">
                <a:spLocks noRot="1" noChangeAspect="1" noMove="1" noResize="1" noEditPoints="1" noAdjustHandles="1" noChangeArrowheads="1" noChangeShapeType="1" noTextEdit="1"/>
              </p:cNvSpPr>
              <p:nvPr/>
            </p:nvSpPr>
            <p:spPr>
              <a:xfrm>
                <a:off x="7392293" y="2432821"/>
                <a:ext cx="419098" cy="1070038"/>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26E0F54-457F-2073-02F0-5CFAB415B938}"/>
                  </a:ext>
                </a:extLst>
              </p:cNvPr>
              <p:cNvSpPr txBox="1"/>
              <p:nvPr/>
            </p:nvSpPr>
            <p:spPr>
              <a:xfrm>
                <a:off x="8269854" y="2432821"/>
                <a:ext cx="419098" cy="1070038"/>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smtClean="0">
                            <a:effectLst/>
                            <a:latin typeface="Cambria Math" panose="02040503050406030204" pitchFamily="18" charset="0"/>
                          </a:rPr>
                          <m:t>𝟒</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𝟖</m:t>
                        </m:r>
                      </m:den>
                    </m:f>
                  </m:oMath>
                </a14:m>
                <a:r>
                  <a:rPr lang="en-AU" sz="3200" b="1"/>
                  <a:t> </a:t>
                </a:r>
              </a:p>
            </p:txBody>
          </p:sp>
        </mc:Choice>
        <mc:Fallback xmlns="">
          <p:sp>
            <p:nvSpPr>
              <p:cNvPr id="12" name="TextBox 11">
                <a:extLst>
                  <a:ext uri="{FF2B5EF4-FFF2-40B4-BE49-F238E27FC236}">
                    <a16:creationId xmlns:a16="http://schemas.microsoft.com/office/drawing/2014/main" id="{A26E0F54-457F-2073-02F0-5CFAB415B938}"/>
                  </a:ext>
                </a:extLst>
              </p:cNvPr>
              <p:cNvSpPr txBox="1">
                <a:spLocks noRot="1" noChangeAspect="1" noMove="1" noResize="1" noEditPoints="1" noAdjustHandles="1" noChangeArrowheads="1" noChangeShapeType="1" noTextEdit="1"/>
              </p:cNvSpPr>
              <p:nvPr/>
            </p:nvSpPr>
            <p:spPr>
              <a:xfrm>
                <a:off x="8269854" y="2432821"/>
                <a:ext cx="419098" cy="1070038"/>
              </a:xfrm>
              <a:prstGeom prst="rect">
                <a:avLst/>
              </a:prstGeom>
              <a:blipFill>
                <a:blip r:embed="rId10"/>
                <a:stretch>
                  <a:fillRect/>
                </a:stretch>
              </a:blipFill>
            </p:spPr>
            <p:txBody>
              <a:bodyPr/>
              <a:lstStyle/>
              <a:p>
                <a:r>
                  <a:rPr lang="en-US">
                    <a:noFill/>
                  </a:rPr>
                  <a:t> </a:t>
                </a:r>
              </a:p>
            </p:txBody>
          </p:sp>
        </mc:Fallback>
      </mc:AlternateContent>
      <p:pic>
        <p:nvPicPr>
          <p:cNvPr id="13" name="Picture 12" descr="image of a clipboard with a pencil recording short answer responses">
            <a:extLst>
              <a:ext uri="{FF2B5EF4-FFF2-40B4-BE49-F238E27FC236}">
                <a16:creationId xmlns:a16="http://schemas.microsoft.com/office/drawing/2014/main" id="{9FB21508-ED94-E86C-4E79-DD2E76A93C65}"/>
              </a:ext>
            </a:extLst>
          </p:cNvPr>
          <p:cNvPicPr>
            <a:picLocks noChangeAspect="1"/>
          </p:cNvPicPr>
          <p:nvPr/>
        </p:nvPicPr>
        <p:blipFill>
          <a:blip r:embed="rId11"/>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a:t>
            </a:r>
          </a:p>
        </p:txBody>
      </p:sp>
      <p:sp>
        <p:nvSpPr>
          <p:cNvPr id="11" name="Picture Placeholder 10">
            <a:extLst>
              <a:ext uri="{FF2B5EF4-FFF2-40B4-BE49-F238E27FC236}">
                <a16:creationId xmlns:a16="http://schemas.microsoft.com/office/drawing/2014/main" id="{8B598472-9720-A705-623A-487E3FF7A7C8}"/>
              </a:ext>
            </a:extLst>
          </p:cNvPr>
          <p:cNvSpPr>
            <a:spLocks noGrp="1"/>
          </p:cNvSpPr>
          <p:nvPr>
            <p:ph type="pic" sz="quarter" idx="21"/>
          </p:nvPr>
        </p:nvSpPr>
        <p:spPr>
          <a:xfrm>
            <a:off x="596063" y="1471012"/>
            <a:ext cx="11243037" cy="1959118"/>
          </a:xfrm>
        </p:spPr>
        <p:txBody>
          <a:bodyPr/>
          <a:lstStyle/>
          <a:p>
            <a:pPr algn="ctr"/>
            <a:br>
              <a:rPr lang="en-US" sz="4400">
                <a:latin typeface="Arial"/>
                <a:cs typeface="Arial"/>
              </a:rPr>
            </a:br>
            <a:endParaRPr lang="en-US" sz="4400">
              <a:solidFill>
                <a:srgbClr val="22272B"/>
              </a:solidFill>
            </a:endParaRPr>
          </a:p>
          <a:p>
            <a:endParaRPr lang="en-US">
              <a:latin typeface="Arial"/>
              <a:cs typeface="Arial"/>
            </a:endParaRPr>
          </a:p>
        </p:txBody>
      </p:sp>
      <p:sp>
        <p:nvSpPr>
          <p:cNvPr id="6" name="Picture Placeholder 10">
            <a:extLst>
              <a:ext uri="{FF2B5EF4-FFF2-40B4-BE49-F238E27FC236}">
                <a16:creationId xmlns:a16="http://schemas.microsoft.com/office/drawing/2014/main" id="{84B27F89-4220-CBB0-A2BD-DF8B45274182}"/>
              </a:ext>
            </a:extLst>
          </p:cNvPr>
          <p:cNvSpPr txBox="1">
            <a:spLocks/>
          </p:cNvSpPr>
          <p:nvPr/>
        </p:nvSpPr>
        <p:spPr>
          <a:xfrm>
            <a:off x="358319" y="1934308"/>
            <a:ext cx="11243037" cy="195911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r>
              <a:rPr lang="en-US" sz="4400">
                <a:latin typeface="Arial"/>
                <a:cs typeface="Arial"/>
              </a:rPr>
            </a:br>
            <a:endParaRPr lang="en-US" sz="4400">
              <a:solidFill>
                <a:srgbClr val="22272B"/>
              </a:solidFill>
            </a:endParaRPr>
          </a:p>
          <a:p>
            <a:endParaRPr lang="en-US">
              <a:latin typeface="Arial"/>
              <a:cs typeface="Arial"/>
            </a:endParaRPr>
          </a:p>
        </p:txBody>
      </p:sp>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971550" y="1647796"/>
            <a:ext cx="10152450" cy="1934734"/>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Ezra has 45 waratahs and 108 violets in his garden. He picks 68 of the flowers. How many flowers are left in his garden?</a:t>
            </a:r>
            <a:br>
              <a:rPr lang="en-US" sz="4400">
                <a:latin typeface="Arial"/>
                <a:cs typeface="Arial"/>
              </a:rPr>
            </a:br>
            <a:endParaRPr lang="en-US" sz="4400">
              <a:solidFill>
                <a:srgbClr val="22272B"/>
              </a:solidFil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142F24-A346-63B3-9C1B-1E3C7790562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(4)</a:t>
            </a:r>
          </a:p>
        </p:txBody>
      </p:sp>
      <p:sp>
        <p:nvSpPr>
          <p:cNvPr id="12" name="Text Placeholder 11">
            <a:extLst>
              <a:ext uri="{FF2B5EF4-FFF2-40B4-BE49-F238E27FC236}">
                <a16:creationId xmlns:a16="http://schemas.microsoft.com/office/drawing/2014/main" id="{65C867D5-8CB8-739D-AB4F-83858803E2F0}"/>
              </a:ext>
            </a:extLst>
          </p:cNvPr>
          <p:cNvSpPr>
            <a:spLocks noGrp="1"/>
          </p:cNvSpPr>
          <p:nvPr>
            <p:ph type="body" sz="quarter" idx="22"/>
          </p:nvPr>
        </p:nvSpPr>
        <p:spPr>
          <a:xfrm>
            <a:off x="1203135" y="4945147"/>
            <a:ext cx="10280865" cy="1792082"/>
          </a:xfrm>
        </p:spPr>
        <p:txBody>
          <a:bodyPr vert="horz" lIns="0" tIns="0" rIns="0" bIns="0" rtlCol="0" anchor="t">
            <a:noAutofit/>
          </a:bodyPr>
          <a:lstStyle/>
          <a:p>
            <a:pPr marL="342900" indent="-342900">
              <a:buAutoNum type="arabicPeriod"/>
            </a:pPr>
            <a:r>
              <a:rPr lang="en-US">
                <a:latin typeface="Arial"/>
                <a:cs typeface="Arial"/>
              </a:rPr>
              <a:t>What was the students approximate pulse rate 2 minutes after exercise?</a:t>
            </a:r>
          </a:p>
          <a:p>
            <a:pPr marL="342900" indent="-342900">
              <a:buAutoNum type="arabicPeriod"/>
            </a:pPr>
            <a:r>
              <a:rPr lang="en-US">
                <a:latin typeface="Arial"/>
                <a:cs typeface="Arial"/>
              </a:rPr>
              <a:t>What was the approximate difference between the student's pulse rate at 1 minute and 5 minutes?</a:t>
            </a:r>
          </a:p>
          <a:p>
            <a:pPr marL="342900" indent="-342900">
              <a:buAutoNum type="arabicPeriod"/>
            </a:pPr>
            <a:r>
              <a:rPr lang="en-US">
                <a:latin typeface="Arial"/>
                <a:cs typeface="Arial"/>
              </a:rPr>
              <a:t>What happened as the time after exercise increased? </a:t>
            </a:r>
            <a:endParaRPr lang="en-US"/>
          </a:p>
          <a:p>
            <a:pPr marL="342900" indent="-342900">
              <a:buAutoNum type="arabicPeriod"/>
            </a:pPr>
            <a:endParaRPr lang="en-US"/>
          </a:p>
        </p:txBody>
      </p:sp>
      <p:pic>
        <p:nvPicPr>
          <p:cNvPr id="25" name="Picture 24" descr="A line graph titled 'Pulse rate after exercise'. The y-axis is labelled pulse (beats per minute) and the x-axis is labelled Time (minutes) after exercise.">
            <a:extLst>
              <a:ext uri="{FF2B5EF4-FFF2-40B4-BE49-F238E27FC236}">
                <a16:creationId xmlns:a16="http://schemas.microsoft.com/office/drawing/2014/main" id="{C0A63DE7-B32D-6130-1C58-BE7C0383D137}"/>
              </a:ext>
            </a:extLst>
          </p:cNvPr>
          <p:cNvPicPr>
            <a:picLocks noChangeAspect="1"/>
          </p:cNvPicPr>
          <p:nvPr/>
        </p:nvPicPr>
        <p:blipFill>
          <a:blip r:embed="rId3">
            <a:extLst>
              <a:ext uri="{28A0092B-C50C-407E-A947-70E740481C1C}">
                <a14:useLocalDpi xmlns:a14="http://schemas.microsoft.com/office/drawing/2010/main" val="0"/>
              </a:ext>
            </a:extLst>
          </a:blip>
          <a:srcRect l="19015" r="12789" b="5815"/>
          <a:stretch/>
        </p:blipFill>
        <p:spPr>
          <a:xfrm>
            <a:off x="3581562" y="560024"/>
            <a:ext cx="4286087" cy="4185099"/>
          </a:xfrm>
          <a:prstGeom prst="rect">
            <a:avLst/>
          </a:prstGeom>
          <a:ln>
            <a:noFill/>
          </a:ln>
          <a:effectLst>
            <a:outerShdw blurRad="292100" dist="139700" dir="2700000" algn="tl" rotWithShape="0">
              <a:srgbClr val="333333">
                <a:alpha val="65000"/>
              </a:srgbClr>
            </a:outerShdw>
          </a:effectLst>
        </p:spPr>
      </p:pic>
      <p:pic>
        <p:nvPicPr>
          <p:cNvPr id="4" name="Picture 3" descr="image of a clipboard with a pencil recording short answer responses">
            <a:extLst>
              <a:ext uri="{FF2B5EF4-FFF2-40B4-BE49-F238E27FC236}">
                <a16:creationId xmlns:a16="http://schemas.microsoft.com/office/drawing/2014/main" id="{9AFF81D9-B035-9967-8700-C5F2EB26519C}"/>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p:txBody>
          <a:bodyPr/>
          <a:lstStyle/>
          <a:p>
            <a:r>
              <a:rPr lang="en-AU">
                <a:latin typeface="Arial"/>
                <a:cs typeface="Arial"/>
              </a:rPr>
              <a:t>Activity 1 – rearrange arrays</a:t>
            </a:r>
          </a:p>
        </p:txBody>
      </p:sp>
      <p:sp>
        <p:nvSpPr>
          <p:cNvPr id="4" name="Text Placeholder 3">
            <a:extLst>
              <a:ext uri="{FF2B5EF4-FFF2-40B4-BE49-F238E27FC236}">
                <a16:creationId xmlns:a16="http://schemas.microsoft.com/office/drawing/2014/main" id="{94B4BDBC-C49C-8A36-A049-486FB0690A62}"/>
              </a:ext>
            </a:extLst>
          </p:cNvPr>
          <p:cNvSpPr>
            <a:spLocks noGrp="1" noRot="1" noMove="1" noResize="1" noEditPoints="1" noAdjustHandles="1" noChangeArrowheads="1" noChangeShapeType="1"/>
          </p:cNvSpPr>
          <p:nvPr>
            <p:ph type="body" sz="quarter" idx="18"/>
          </p:nvPr>
        </p:nvSpPr>
        <p:spPr>
          <a:xfrm>
            <a:off x="390513" y="1525409"/>
            <a:ext cx="11484000" cy="310015"/>
          </a:xfrm>
        </p:spPr>
        <p:txBody>
          <a:bodyPr/>
          <a:lstStyle/>
          <a:p>
            <a:r>
              <a:rPr lang="en-AU" sz="2000">
                <a:solidFill>
                  <a:schemeClr val="tx1"/>
                </a:solidFill>
                <a:effectLst/>
                <a:latin typeface="Arial"/>
                <a:ea typeface="Calibri"/>
                <a:cs typeface="Arial"/>
              </a:rPr>
              <a:t>Record your ideas on individual whiteboards</a:t>
            </a:r>
            <a:r>
              <a:rPr lang="en-AU" sz="2000">
                <a:solidFill>
                  <a:srgbClr val="002664"/>
                </a:solidFill>
                <a:effectLst/>
                <a:latin typeface="Arial"/>
                <a:ea typeface="Calibri"/>
                <a:cs typeface="Arial"/>
              </a:rPr>
              <a:t>.</a:t>
            </a:r>
          </a:p>
          <a:p>
            <a:endParaRPr lang="en-AU"/>
          </a:p>
        </p:txBody>
      </p:sp>
      <p:sp>
        <p:nvSpPr>
          <p:cNvPr id="8" name="TextBox 7">
            <a:extLst>
              <a:ext uri="{FF2B5EF4-FFF2-40B4-BE49-F238E27FC236}">
                <a16:creationId xmlns:a16="http://schemas.microsoft.com/office/drawing/2014/main" id="{539A2672-FAA8-56B8-84D2-10D9ABF591E9}"/>
              </a:ext>
            </a:extLst>
          </p:cNvPr>
          <p:cNvSpPr txBox="1">
            <a:spLocks noGrp="1" noRot="1" noMove="1" noResize="1" noEditPoints="1" noAdjustHandles="1" noChangeArrowheads="1" noChangeShapeType="1"/>
          </p:cNvSpPr>
          <p:nvPr/>
        </p:nvSpPr>
        <p:spPr>
          <a:xfrm>
            <a:off x="790062" y="1379699"/>
            <a:ext cx="9881355" cy="1305165"/>
          </a:xfrm>
          <a:prstGeom prst="rect">
            <a:avLst/>
          </a:prstGeom>
          <a:noFill/>
        </p:spPr>
        <p:txBody>
          <a:bodyPr wrap="square" lIns="91440" tIns="45720" rIns="91440" bIns="45720" anchor="t">
            <a:spAutoFit/>
          </a:bodyPr>
          <a:lstStyle/>
          <a:p>
            <a:pPr algn="ctr">
              <a:lnSpc>
                <a:spcPct val="150000"/>
              </a:lnSpc>
              <a:spcBef>
                <a:spcPts val="1200"/>
              </a:spcBef>
              <a:spcAft>
                <a:spcPts val="600"/>
              </a:spcAft>
            </a:pPr>
            <a:r>
              <a:rPr lang="en-AU" sz="2800">
                <a:latin typeface="Arial"/>
                <a:ea typeface="Calibri"/>
                <a:cs typeface="Arial"/>
              </a:rPr>
              <a:t>Question 1- I</a:t>
            </a:r>
            <a:r>
              <a:rPr lang="en-AU" sz="2800">
                <a:effectLst/>
                <a:latin typeface="Arial"/>
                <a:ea typeface="Calibri"/>
                <a:cs typeface="Arial"/>
              </a:rPr>
              <a:t> have 36 counters arranged in an array. How might they be arranged?</a:t>
            </a:r>
            <a:endParaRPr lang="en-US"/>
          </a:p>
        </p:txBody>
      </p:sp>
      <p:sp>
        <p:nvSpPr>
          <p:cNvPr id="10" name="TextBox 9">
            <a:extLst>
              <a:ext uri="{FF2B5EF4-FFF2-40B4-BE49-F238E27FC236}">
                <a16:creationId xmlns:a16="http://schemas.microsoft.com/office/drawing/2014/main" id="{380F18BA-0B29-4A51-D354-A958B665AAF2}"/>
              </a:ext>
            </a:extLst>
          </p:cNvPr>
          <p:cNvSpPr txBox="1">
            <a:spLocks noGrp="1" noRot="1" noMove="1" noResize="1" noEditPoints="1" noAdjustHandles="1" noChangeArrowheads="1" noChangeShapeType="1"/>
          </p:cNvSpPr>
          <p:nvPr/>
        </p:nvSpPr>
        <p:spPr>
          <a:xfrm>
            <a:off x="900831" y="4610081"/>
            <a:ext cx="9770586" cy="1305165"/>
          </a:xfrm>
          <a:prstGeom prst="rect">
            <a:avLst/>
          </a:prstGeom>
          <a:noFill/>
        </p:spPr>
        <p:txBody>
          <a:bodyPr wrap="square" lIns="91440" tIns="45720" rIns="91440" bIns="45720" anchor="t">
            <a:spAutoFit/>
          </a:bodyPr>
          <a:lstStyle/>
          <a:p>
            <a:pPr algn="ctr">
              <a:lnSpc>
                <a:spcPct val="150000"/>
              </a:lnSpc>
              <a:spcBef>
                <a:spcPts val="1200"/>
              </a:spcBef>
              <a:spcAft>
                <a:spcPts val="600"/>
              </a:spcAft>
            </a:pPr>
            <a:r>
              <a:rPr lang="en-AU" sz="2800">
                <a:latin typeface="Arial"/>
                <a:ea typeface="Calibri"/>
                <a:cs typeface="Arial"/>
              </a:rPr>
              <a:t>Question 2- I</a:t>
            </a:r>
            <a:r>
              <a:rPr lang="en-AU" sz="2800">
                <a:effectLst/>
                <a:latin typeface="Arial"/>
                <a:ea typeface="Calibri"/>
                <a:cs typeface="Arial"/>
              </a:rPr>
              <a:t> have 72 counters arranged in an array. How might they be arranged?</a:t>
            </a:r>
            <a:endParaRPr lang="en-US" sz="2800">
              <a:latin typeface="Arial"/>
              <a:ea typeface="Calibri"/>
              <a:cs typeface="Arial"/>
            </a:endParaRPr>
          </a:p>
        </p:txBody>
      </p:sp>
      <p:pic>
        <p:nvPicPr>
          <p:cNvPr id="6" name="Picture 5" descr="image of a head with cogs turning inside">
            <a:extLst>
              <a:ext uri="{FF2B5EF4-FFF2-40B4-BE49-F238E27FC236}">
                <a16:creationId xmlns:a16="http://schemas.microsoft.com/office/drawing/2014/main" id="{FD9CB2FA-5D2D-5F87-87BC-91BD9E444679}"/>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61216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dirty="0"/>
              <a:t>True or false </a:t>
            </a:r>
            <a:r>
              <a:rPr lang="en-US" dirty="0">
                <a:solidFill>
                  <a:schemeClr val="bg1"/>
                </a:solidFill>
              </a:rPr>
              <a:t>(1)</a:t>
            </a:r>
          </a:p>
        </p:txBody>
      </p:sp>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962025" y="1717386"/>
            <a:ext cx="10161976" cy="2703738"/>
          </a:xfrm>
        </p:spPr>
        <p:txBody>
          <a:bodyPr vert="horz" lIns="0" tIns="0" rIns="0" bIns="0" rtlCol="0" anchor="t">
            <a:noAutofit/>
          </a:bodyPr>
          <a:lstStyle/>
          <a:p>
            <a:pPr algn="ctr"/>
            <a:r>
              <a:rPr lang="en-US" sz="4000">
                <a:latin typeface="Arial"/>
                <a:cs typeface="Arial"/>
              </a:rPr>
              <a:t>Sam drew one array to show 48. Jonah drew another, using different rows and columns. Could they both still show the number 48?</a:t>
            </a:r>
            <a:endParaRPr lang="en-US" sz="4000"/>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2743736753"/>
              </p:ext>
            </p:extLst>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87EDFC9E-A618-53A7-C204-54881B9AC2B6}"/>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(5)</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1362075" y="2030849"/>
            <a:ext cx="9761925" cy="3056398"/>
          </a:xfrm>
        </p:spPr>
        <p:txBody>
          <a:bodyPr/>
          <a:lstStyle/>
          <a:p>
            <a:pPr algn="ctr"/>
            <a:r>
              <a:rPr lang="en-US" sz="4400">
                <a:latin typeface="Arial"/>
                <a:cs typeface="Arial"/>
              </a:rPr>
              <a:t>Use </a:t>
            </a:r>
            <a:r>
              <a:rPr lang="en-US" sz="4400" b="1" err="1">
                <a:latin typeface="Arial"/>
                <a:cs typeface="Arial"/>
              </a:rPr>
              <a:t>factorising</a:t>
            </a:r>
            <a:r>
              <a:rPr lang="en-US" sz="4400">
                <a:latin typeface="Arial"/>
                <a:cs typeface="Arial"/>
              </a:rPr>
              <a:t> and then the </a:t>
            </a:r>
            <a:r>
              <a:rPr lang="en-US" sz="4400" b="1">
                <a:latin typeface="Arial"/>
                <a:cs typeface="Arial"/>
              </a:rPr>
              <a:t>associative property </a:t>
            </a:r>
            <a:r>
              <a:rPr lang="en-US" sz="4400">
                <a:latin typeface="Arial"/>
                <a:cs typeface="Arial"/>
              </a:rPr>
              <a:t>to solve 56 x 5.</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D6AA7882-9128-F96D-36AE-AAE3C6433E5E}"/>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(6)</a:t>
            </a:r>
          </a:p>
        </p:txBody>
      </p:sp>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600963" y="1135336"/>
            <a:ext cx="11243037" cy="3056398"/>
          </a:xfrm>
        </p:spPr>
        <p:txBody>
          <a:bodyPr/>
          <a:lstStyle/>
          <a:p>
            <a:pPr algn="ctr"/>
            <a:r>
              <a:rPr lang="en-US" sz="4400">
                <a:latin typeface="Arial"/>
                <a:cs typeface="Arial"/>
              </a:rPr>
              <a:t>Draw a number line 0-1. </a:t>
            </a:r>
          </a:p>
          <a:p>
            <a:pPr algn="ctr"/>
            <a:r>
              <a:rPr lang="en-US" sz="4400" b="1">
                <a:latin typeface="Arial"/>
                <a:cs typeface="Arial"/>
              </a:rPr>
              <a:t>Order</a:t>
            </a:r>
            <a:r>
              <a:rPr lang="en-US" sz="4400">
                <a:latin typeface="Arial"/>
                <a:cs typeface="Arial"/>
              </a:rPr>
              <a:t> the following </a:t>
            </a:r>
            <a:r>
              <a:rPr lang="en-US" sz="4400" b="1">
                <a:latin typeface="Arial"/>
                <a:cs typeface="Arial"/>
              </a:rPr>
              <a:t>fractions</a:t>
            </a:r>
            <a:r>
              <a:rPr lang="en-US" sz="4400">
                <a:latin typeface="Arial"/>
                <a:cs typeface="Arial"/>
              </a:rPr>
              <a:t>:</a:t>
            </a:r>
            <a:endParaRPr lang="en-US" sz="4400"/>
          </a:p>
          <a:p>
            <a:endParaRPr lang="en-US">
              <a:latin typeface="Arial"/>
              <a:cs typeface="Aria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D4092F0-DE1A-43F0-0A49-BEF721BC0ABE}"/>
                  </a:ext>
                </a:extLst>
              </p:cNvPr>
              <p:cNvSpPr txBox="1"/>
              <p:nvPr/>
            </p:nvSpPr>
            <p:spPr>
              <a:xfrm>
                <a:off x="3184841"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smtClean="0">
                            <a:effectLst/>
                            <a:latin typeface="Cambria Math" panose="02040503050406030204" pitchFamily="18" charset="0"/>
                          </a:rPr>
                          <m:t>𝟏</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𝟐</m:t>
                        </m:r>
                      </m:den>
                    </m:f>
                  </m:oMath>
                </a14:m>
                <a:r>
                  <a:rPr lang="en-AU" sz="3200" b="1"/>
                  <a:t> </a:t>
                </a:r>
              </a:p>
            </p:txBody>
          </p:sp>
        </mc:Choice>
        <mc:Fallback xmlns="">
          <p:sp>
            <p:nvSpPr>
              <p:cNvPr id="4" name="TextBox 3">
                <a:extLst>
                  <a:ext uri="{FF2B5EF4-FFF2-40B4-BE49-F238E27FC236}">
                    <a16:creationId xmlns:a16="http://schemas.microsoft.com/office/drawing/2014/main" id="{FD4092F0-DE1A-43F0-0A49-BEF721BC0ABE}"/>
                  </a:ext>
                </a:extLst>
              </p:cNvPr>
              <p:cNvSpPr txBox="1">
                <a:spLocks noRot="1" noChangeAspect="1" noMove="1" noResize="1" noEditPoints="1" noAdjustHandles="1" noChangeArrowheads="1" noChangeShapeType="1" noTextEdit="1"/>
              </p:cNvSpPr>
              <p:nvPr/>
            </p:nvSpPr>
            <p:spPr>
              <a:xfrm>
                <a:off x="3184841" y="4191734"/>
                <a:ext cx="737277" cy="129977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FF71348-ABA0-F842-DFB5-750A323AD785}"/>
                  </a:ext>
                </a:extLst>
              </p:cNvPr>
              <p:cNvSpPr txBox="1"/>
              <p:nvPr/>
            </p:nvSpPr>
            <p:spPr>
              <a:xfrm>
                <a:off x="4047217"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smtClean="0">
                            <a:effectLst/>
                            <a:latin typeface="Cambria Math" panose="02040503050406030204" pitchFamily="18" charset="0"/>
                            <a:ea typeface="Calibri" panose="020F0502020204030204" pitchFamily="34" charset="0"/>
                            <a:cs typeface="Arial" panose="020B0604020202020204" pitchFamily="34" charset="0"/>
                          </a:rPr>
                          <m:t>𝟑</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𝟖</m:t>
                        </m:r>
                      </m:den>
                    </m:f>
                  </m:oMath>
                </a14:m>
                <a:r>
                  <a:rPr lang="en-AU" sz="3200" b="1"/>
                  <a:t> </a:t>
                </a:r>
              </a:p>
            </p:txBody>
          </p:sp>
        </mc:Choice>
        <mc:Fallback xmlns="">
          <p:sp>
            <p:nvSpPr>
              <p:cNvPr id="5" name="TextBox 4">
                <a:extLst>
                  <a:ext uri="{FF2B5EF4-FFF2-40B4-BE49-F238E27FC236}">
                    <a16:creationId xmlns:a16="http://schemas.microsoft.com/office/drawing/2014/main" id="{AFF71348-ABA0-F842-DFB5-750A323AD785}"/>
                  </a:ext>
                </a:extLst>
              </p:cNvPr>
              <p:cNvSpPr txBox="1">
                <a:spLocks noRot="1" noChangeAspect="1" noMove="1" noResize="1" noEditPoints="1" noAdjustHandles="1" noChangeArrowheads="1" noChangeShapeType="1" noTextEdit="1"/>
              </p:cNvSpPr>
              <p:nvPr/>
            </p:nvSpPr>
            <p:spPr>
              <a:xfrm>
                <a:off x="4047217" y="4191734"/>
                <a:ext cx="737277" cy="129977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0BB63F6-9452-C1F2-B22B-9741BE9E02BB}"/>
                  </a:ext>
                </a:extLst>
              </p:cNvPr>
              <p:cNvSpPr txBox="1"/>
              <p:nvPr/>
            </p:nvSpPr>
            <p:spPr>
              <a:xfrm>
                <a:off x="4909593"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a:effectLst/>
                            <a:latin typeface="Cambria Math" panose="02040503050406030204" pitchFamily="18" charset="0"/>
                            <a:ea typeface="Calibri" panose="020F0502020204030204" pitchFamily="34" charset="0"/>
                            <a:cs typeface="Arial" panose="020B0604020202020204" pitchFamily="34" charset="0"/>
                          </a:rPr>
                          <m:t>𝟏</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3200" b="1"/>
                  <a:t> </a:t>
                </a:r>
              </a:p>
            </p:txBody>
          </p:sp>
        </mc:Choice>
        <mc:Fallback xmlns="">
          <p:sp>
            <p:nvSpPr>
              <p:cNvPr id="6" name="TextBox 5">
                <a:extLst>
                  <a:ext uri="{FF2B5EF4-FFF2-40B4-BE49-F238E27FC236}">
                    <a16:creationId xmlns:a16="http://schemas.microsoft.com/office/drawing/2014/main" id="{00BB63F6-9452-C1F2-B22B-9741BE9E02BB}"/>
                  </a:ext>
                </a:extLst>
              </p:cNvPr>
              <p:cNvSpPr txBox="1">
                <a:spLocks noRot="1" noChangeAspect="1" noMove="1" noResize="1" noEditPoints="1" noAdjustHandles="1" noChangeArrowheads="1" noChangeShapeType="1" noTextEdit="1"/>
              </p:cNvSpPr>
              <p:nvPr/>
            </p:nvSpPr>
            <p:spPr>
              <a:xfrm>
                <a:off x="4909593" y="4191734"/>
                <a:ext cx="737277" cy="129977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CAEF4AE-F15A-3DBA-14A9-07DA9137C934}"/>
                  </a:ext>
                </a:extLst>
              </p:cNvPr>
              <p:cNvSpPr txBox="1"/>
              <p:nvPr/>
            </p:nvSpPr>
            <p:spPr>
              <a:xfrm>
                <a:off x="5771969"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smtClean="0">
                            <a:effectLst/>
                            <a:latin typeface="Cambria Math" panose="02040503050406030204" pitchFamily="18" charset="0"/>
                            <a:ea typeface="Calibri" panose="020F0502020204030204" pitchFamily="34" charset="0"/>
                            <a:cs typeface="Arial" panose="020B0604020202020204" pitchFamily="34" charset="0"/>
                          </a:rPr>
                          <m:t>𝟑</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3200" b="1"/>
                  <a:t> </a:t>
                </a:r>
              </a:p>
            </p:txBody>
          </p:sp>
        </mc:Choice>
        <mc:Fallback xmlns="">
          <p:sp>
            <p:nvSpPr>
              <p:cNvPr id="7" name="TextBox 6">
                <a:extLst>
                  <a:ext uri="{FF2B5EF4-FFF2-40B4-BE49-F238E27FC236}">
                    <a16:creationId xmlns:a16="http://schemas.microsoft.com/office/drawing/2014/main" id="{2CAEF4AE-F15A-3DBA-14A9-07DA9137C934}"/>
                  </a:ext>
                </a:extLst>
              </p:cNvPr>
              <p:cNvSpPr txBox="1">
                <a:spLocks noRot="1" noChangeAspect="1" noMove="1" noResize="1" noEditPoints="1" noAdjustHandles="1" noChangeArrowheads="1" noChangeShapeType="1" noTextEdit="1"/>
              </p:cNvSpPr>
              <p:nvPr/>
            </p:nvSpPr>
            <p:spPr>
              <a:xfrm>
                <a:off x="5771969" y="4191734"/>
                <a:ext cx="737277" cy="129977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BC35D4B-EB1E-2EBC-957B-7C2F5251676D}"/>
                  </a:ext>
                </a:extLst>
              </p:cNvPr>
              <p:cNvSpPr txBox="1"/>
              <p:nvPr/>
            </p:nvSpPr>
            <p:spPr>
              <a:xfrm>
                <a:off x="6634345"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smtClean="0">
                            <a:effectLst/>
                            <a:latin typeface="Cambria Math" panose="02040503050406030204" pitchFamily="18" charset="0"/>
                          </a:rPr>
                          <m:t>𝟕</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𝟖</m:t>
                        </m:r>
                      </m:den>
                    </m:f>
                  </m:oMath>
                </a14:m>
                <a:r>
                  <a:rPr lang="en-AU" sz="3200" b="1"/>
                  <a:t> </a:t>
                </a:r>
              </a:p>
            </p:txBody>
          </p:sp>
        </mc:Choice>
        <mc:Fallback xmlns="">
          <p:sp>
            <p:nvSpPr>
              <p:cNvPr id="8" name="TextBox 7">
                <a:extLst>
                  <a:ext uri="{FF2B5EF4-FFF2-40B4-BE49-F238E27FC236}">
                    <a16:creationId xmlns:a16="http://schemas.microsoft.com/office/drawing/2014/main" id="{CBC35D4B-EB1E-2EBC-957B-7C2F5251676D}"/>
                  </a:ext>
                </a:extLst>
              </p:cNvPr>
              <p:cNvSpPr txBox="1">
                <a:spLocks noRot="1" noChangeAspect="1" noMove="1" noResize="1" noEditPoints="1" noAdjustHandles="1" noChangeArrowheads="1" noChangeShapeType="1" noTextEdit="1"/>
              </p:cNvSpPr>
              <p:nvPr/>
            </p:nvSpPr>
            <p:spPr>
              <a:xfrm>
                <a:off x="6634345" y="4191734"/>
                <a:ext cx="737277" cy="129977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DA909DC-E441-B383-12DE-417708EA9C82}"/>
                  </a:ext>
                </a:extLst>
              </p:cNvPr>
              <p:cNvSpPr txBox="1"/>
              <p:nvPr/>
            </p:nvSpPr>
            <p:spPr>
              <a:xfrm>
                <a:off x="7496721"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smtClean="0">
                            <a:effectLst/>
                            <a:latin typeface="Cambria Math" panose="02040503050406030204" pitchFamily="18" charset="0"/>
                            <a:ea typeface="Calibri" panose="020F0502020204030204" pitchFamily="34" charset="0"/>
                            <a:cs typeface="Arial" panose="020B0604020202020204" pitchFamily="34" charset="0"/>
                          </a:rPr>
                          <m:t>𝟒</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3200" b="1"/>
                  <a:t> </a:t>
                </a:r>
              </a:p>
            </p:txBody>
          </p:sp>
        </mc:Choice>
        <mc:Fallback xmlns="">
          <p:sp>
            <p:nvSpPr>
              <p:cNvPr id="9" name="TextBox 8">
                <a:extLst>
                  <a:ext uri="{FF2B5EF4-FFF2-40B4-BE49-F238E27FC236}">
                    <a16:creationId xmlns:a16="http://schemas.microsoft.com/office/drawing/2014/main" id="{2DA909DC-E441-B383-12DE-417708EA9C82}"/>
                  </a:ext>
                </a:extLst>
              </p:cNvPr>
              <p:cNvSpPr txBox="1">
                <a:spLocks noRot="1" noChangeAspect="1" noMove="1" noResize="1" noEditPoints="1" noAdjustHandles="1" noChangeArrowheads="1" noChangeShapeType="1" noTextEdit="1"/>
              </p:cNvSpPr>
              <p:nvPr/>
            </p:nvSpPr>
            <p:spPr>
              <a:xfrm>
                <a:off x="7496721" y="4191734"/>
                <a:ext cx="737277" cy="129977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AD6AEC3-AD76-4442-36DD-4A78E765EDE9}"/>
                  </a:ext>
                </a:extLst>
              </p:cNvPr>
              <p:cNvSpPr txBox="1"/>
              <p:nvPr/>
            </p:nvSpPr>
            <p:spPr>
              <a:xfrm>
                <a:off x="8359097" y="4191734"/>
                <a:ext cx="737277" cy="1299774"/>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smtClean="0">
                            <a:effectLst/>
                            <a:latin typeface="Cambria Math" panose="02040503050406030204" pitchFamily="18" charset="0"/>
                            <a:ea typeface="Calibri" panose="020F0502020204030204" pitchFamily="34" charset="0"/>
                            <a:cs typeface="Arial" panose="020B0604020202020204" pitchFamily="34" charset="0"/>
                          </a:rPr>
                          <m:t>𝟓</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𝟖</m:t>
                        </m:r>
                      </m:den>
                    </m:f>
                  </m:oMath>
                </a14:m>
                <a:r>
                  <a:rPr lang="en-AU" sz="3200" b="1"/>
                  <a:t> </a:t>
                </a:r>
              </a:p>
            </p:txBody>
          </p:sp>
        </mc:Choice>
        <mc:Fallback xmlns="">
          <p:sp>
            <p:nvSpPr>
              <p:cNvPr id="10" name="TextBox 9">
                <a:extLst>
                  <a:ext uri="{FF2B5EF4-FFF2-40B4-BE49-F238E27FC236}">
                    <a16:creationId xmlns:a16="http://schemas.microsoft.com/office/drawing/2014/main" id="{2AD6AEC3-AD76-4442-36DD-4A78E765EDE9}"/>
                  </a:ext>
                </a:extLst>
              </p:cNvPr>
              <p:cNvSpPr txBox="1">
                <a:spLocks noRot="1" noChangeAspect="1" noMove="1" noResize="1" noEditPoints="1" noAdjustHandles="1" noChangeArrowheads="1" noChangeShapeType="1" noTextEdit="1"/>
              </p:cNvSpPr>
              <p:nvPr/>
            </p:nvSpPr>
            <p:spPr>
              <a:xfrm>
                <a:off x="8359097" y="4191734"/>
                <a:ext cx="737277" cy="1299774"/>
              </a:xfrm>
              <a:prstGeom prst="rect">
                <a:avLst/>
              </a:prstGeom>
              <a:blipFill>
                <a:blip r:embed="rId9"/>
                <a:stretch>
                  <a:fillRect/>
                </a:stretch>
              </a:blipFill>
            </p:spPr>
            <p:txBody>
              <a:bodyPr/>
              <a:lstStyle/>
              <a:p>
                <a:r>
                  <a:rPr lang="en-US">
                    <a:noFill/>
                  </a:rPr>
                  <a:t> </a:t>
                </a:r>
              </a:p>
            </p:txBody>
          </p:sp>
        </mc:Fallback>
      </mc:AlternateContent>
      <p:pic>
        <p:nvPicPr>
          <p:cNvPr id="12" name="Picture 11" descr="image of a clipboard with a pencil recording short answer responses">
            <a:extLst>
              <a:ext uri="{FF2B5EF4-FFF2-40B4-BE49-F238E27FC236}">
                <a16:creationId xmlns:a16="http://schemas.microsoft.com/office/drawing/2014/main" id="{9AA4C562-DA8B-AB67-B4B6-E448C50E15A7}"/>
              </a:ext>
            </a:extLst>
          </p:cNvPr>
          <p:cNvPicPr>
            <a:picLocks noChangeAspect="1"/>
          </p:cNvPicPr>
          <p:nvPr/>
        </p:nvPicPr>
        <p:blipFill>
          <a:blip r:embed="rId10"/>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(7)</a:t>
            </a:r>
          </a:p>
        </p:txBody>
      </p:sp>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1176575" y="2182601"/>
            <a:ext cx="9609887" cy="3056398"/>
          </a:xfrm>
        </p:spPr>
        <p:txBody>
          <a:bodyPr/>
          <a:lstStyle/>
          <a:p>
            <a:pPr algn="ctr"/>
            <a:r>
              <a:rPr lang="en-US" sz="4400">
                <a:latin typeface="Arial"/>
                <a:cs typeface="Arial"/>
              </a:rPr>
              <a:t>Use a </a:t>
            </a:r>
            <a:r>
              <a:rPr lang="en-US" sz="4400" b="1">
                <a:latin typeface="Arial"/>
                <a:cs typeface="Arial"/>
              </a:rPr>
              <a:t>mental strategy </a:t>
            </a:r>
            <a:r>
              <a:rPr lang="en-US" sz="4400">
                <a:latin typeface="Arial"/>
                <a:cs typeface="Arial"/>
              </a:rPr>
              <a:t>to solve</a:t>
            </a:r>
            <a:endParaRPr lang="en-US" sz="4400"/>
          </a:p>
          <a:p>
            <a:pPr algn="ctr"/>
            <a:r>
              <a:rPr lang="en-US" sz="4400">
                <a:latin typeface="Arial"/>
                <a:cs typeface="Arial"/>
              </a:rPr>
              <a:t>455 + 396</a:t>
            </a:r>
          </a:p>
          <a:p>
            <a:pPr algn="ctr"/>
            <a:r>
              <a:rPr lang="en-US" sz="4400">
                <a:latin typeface="Arial"/>
                <a:cs typeface="Arial"/>
              </a:rPr>
              <a:t>Communicate your reasoning.</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78A31AB-6C94-1BFB-9B08-E66847EEC2B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(8)</a:t>
            </a:r>
          </a:p>
        </p:txBody>
      </p:sp>
      <p:sp>
        <p:nvSpPr>
          <p:cNvPr id="11" name="Picture Placeholder 10">
            <a:extLst>
              <a:ext uri="{FF2B5EF4-FFF2-40B4-BE49-F238E27FC236}">
                <a16:creationId xmlns:a16="http://schemas.microsoft.com/office/drawing/2014/main" id="{686F4CE3-1291-37C6-C630-AE7D9898FB44}"/>
              </a:ext>
            </a:extLst>
          </p:cNvPr>
          <p:cNvSpPr>
            <a:spLocks noGrp="1"/>
          </p:cNvSpPr>
          <p:nvPr>
            <p:ph type="pic" sz="quarter" idx="21"/>
          </p:nvPr>
        </p:nvSpPr>
        <p:spPr>
          <a:xfrm>
            <a:off x="413132" y="1105273"/>
            <a:ext cx="4965691" cy="4647454"/>
          </a:xfrm>
        </p:spPr>
        <p:txBody>
          <a:bodyPr/>
          <a:lstStyle/>
          <a:p>
            <a:r>
              <a:rPr lang="en-US" sz="2800">
                <a:latin typeface="Arial"/>
                <a:cs typeface="Arial"/>
              </a:rPr>
              <a:t>Identify and record coordinates </a:t>
            </a:r>
            <a:endParaRPr lang="en-US" sz="2800"/>
          </a:p>
          <a:p>
            <a:pPr marL="457200" indent="-457200" algn="ctr">
              <a:buChar char="•"/>
            </a:pPr>
            <a:r>
              <a:rPr lang="en-US" sz="2800">
                <a:latin typeface="Arial"/>
                <a:cs typeface="Arial"/>
              </a:rPr>
              <a:t>Point A</a:t>
            </a:r>
            <a:endParaRPr lang="en-US" sz="2800"/>
          </a:p>
          <a:p>
            <a:pPr marL="457200" indent="-457200" algn="ctr">
              <a:buChar char="•"/>
            </a:pPr>
            <a:r>
              <a:rPr lang="en-US" sz="2800">
                <a:latin typeface="Arial"/>
                <a:cs typeface="Arial"/>
              </a:rPr>
              <a:t>Point B</a:t>
            </a:r>
            <a:endParaRPr lang="en-US" sz="2800"/>
          </a:p>
          <a:p>
            <a:pPr marL="457200" indent="-457200" algn="ctr">
              <a:buChar char="•"/>
            </a:pPr>
            <a:r>
              <a:rPr lang="en-US" sz="2800">
                <a:latin typeface="Arial"/>
                <a:cs typeface="Arial"/>
              </a:rPr>
              <a:t>Point C</a:t>
            </a:r>
            <a:endParaRPr lang="en-US" sz="2800"/>
          </a:p>
          <a:p>
            <a:endParaRPr lang="en-US">
              <a:latin typeface="Arial"/>
              <a:cs typeface="Arial"/>
            </a:endParaRPr>
          </a:p>
        </p:txBody>
      </p:sp>
      <p:pic>
        <p:nvPicPr>
          <p:cNvPr id="5" name="Picture 4" descr="A graph with a y and x axis labelled with the numbers one to three. 3 dots are labelled point A, B and C. ">
            <a:extLst>
              <a:ext uri="{FF2B5EF4-FFF2-40B4-BE49-F238E27FC236}">
                <a16:creationId xmlns:a16="http://schemas.microsoft.com/office/drawing/2014/main" id="{703EF395-3A2C-8EB3-9AA9-6962E041EEEA}"/>
              </a:ext>
            </a:extLst>
          </p:cNvPr>
          <p:cNvPicPr>
            <a:picLocks noChangeAspect="1"/>
          </p:cNvPicPr>
          <p:nvPr/>
        </p:nvPicPr>
        <p:blipFill>
          <a:blip r:embed="rId3">
            <a:extLst>
              <a:ext uri="{28A0092B-C50C-407E-A947-70E740481C1C}">
                <a14:useLocalDpi xmlns:a14="http://schemas.microsoft.com/office/drawing/2010/main" val="0"/>
              </a:ext>
            </a:extLst>
          </a:blip>
          <a:srcRect l="26482" t="8333" r="5027" b="26667"/>
          <a:stretch/>
        </p:blipFill>
        <p:spPr>
          <a:xfrm>
            <a:off x="5378824" y="1819275"/>
            <a:ext cx="6400043" cy="4457700"/>
          </a:xfrm>
          <a:prstGeom prst="rect">
            <a:avLst/>
          </a:prstGeom>
          <a:ln>
            <a:noFill/>
          </a:ln>
          <a:effectLst>
            <a:outerShdw blurRad="292100" dist="139700" dir="2700000" algn="tl" rotWithShape="0">
              <a:srgbClr val="333333">
                <a:alpha val="65000"/>
              </a:srgbClr>
            </a:outerShdw>
          </a:effectLst>
        </p:spPr>
      </p:pic>
      <p:pic>
        <p:nvPicPr>
          <p:cNvPr id="4" name="Picture 3" descr="image of a clipboard with a pencil recording short answer responses">
            <a:extLst>
              <a:ext uri="{FF2B5EF4-FFF2-40B4-BE49-F238E27FC236}">
                <a16:creationId xmlns:a16="http://schemas.microsoft.com/office/drawing/2014/main" id="{9008FCB9-73D4-8BB4-C873-11DABD7754D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2 – determining factors</a:t>
            </a:r>
          </a:p>
        </p:txBody>
      </p:sp>
      <p:sp>
        <p:nvSpPr>
          <p:cNvPr id="5" name="TextBox 4">
            <a:extLst>
              <a:ext uri="{FF2B5EF4-FFF2-40B4-BE49-F238E27FC236}">
                <a16:creationId xmlns:a16="http://schemas.microsoft.com/office/drawing/2014/main" id="{77B502C4-CFD6-0EF2-6FE9-74A0F91E47F1}"/>
              </a:ext>
            </a:extLst>
          </p:cNvPr>
          <p:cNvSpPr txBox="1"/>
          <p:nvPr/>
        </p:nvSpPr>
        <p:spPr>
          <a:xfrm>
            <a:off x="3945890" y="1000388"/>
            <a:ext cx="7898110" cy="5700278"/>
          </a:xfrm>
          <a:prstGeom prst="rect">
            <a:avLst/>
          </a:prstGeom>
          <a:noFill/>
        </p:spPr>
        <p:txBody>
          <a:bodyPr wrap="square">
            <a:spAutoFit/>
          </a:bodyPr>
          <a:lstStyle/>
          <a:p>
            <a:pPr algn="l" rtl="0" fontAlgn="base">
              <a:lnSpc>
                <a:spcPct val="150000"/>
              </a:lnSpc>
            </a:pPr>
            <a:r>
              <a:rPr lang="en-AU" sz="1800" b="1" i="0" u="none" strike="noStrike">
                <a:solidFill>
                  <a:srgbClr val="22272B"/>
                </a:solidFill>
                <a:effectLst/>
                <a:latin typeface="Arial" panose="020B0604020202020204" pitchFamily="34" charset="0"/>
                <a:cs typeface="Arial" panose="020B0604020202020204" pitchFamily="34" charset="0"/>
              </a:rPr>
              <a:t>Aim of the game</a:t>
            </a:r>
            <a:r>
              <a:rPr lang="en-US" sz="1800" b="0" i="0">
                <a:solidFill>
                  <a:srgbClr val="22272B"/>
                </a:solidFill>
                <a:effectLst/>
                <a:latin typeface="Arial" panose="020B0604020202020204" pitchFamily="34" charset="0"/>
                <a:cs typeface="Arial" panose="020B0604020202020204" pitchFamily="34" charset="0"/>
              </a:rPr>
              <a:t>​</a:t>
            </a:r>
          </a:p>
          <a:p>
            <a:pPr algn="l" rtl="0" fontAlgn="base">
              <a:lnSpc>
                <a:spcPct val="150000"/>
              </a:lnSpc>
            </a:pPr>
            <a:r>
              <a:rPr lang="en-AU" sz="1800" b="0" i="0">
                <a:solidFill>
                  <a:srgbClr val="22272B"/>
                </a:solidFill>
                <a:effectLst/>
                <a:latin typeface="Arial" panose="020B0604020202020204" pitchFamily="34" charset="0"/>
                <a:cs typeface="Arial" panose="020B0604020202020204" pitchFamily="34" charset="0"/>
              </a:rPr>
              <a:t>Solve division questions to get 4 counters in a row.</a:t>
            </a:r>
            <a:endParaRPr lang="en-AU" sz="1050" b="0" i="0">
              <a:solidFill>
                <a:srgbClr val="22272B"/>
              </a:solidFill>
              <a:effectLst/>
              <a:latin typeface="Arial" panose="020B0604020202020204" pitchFamily="34" charset="0"/>
              <a:cs typeface="Arial" panose="020B0604020202020204" pitchFamily="34" charset="0"/>
            </a:endParaRPr>
          </a:p>
          <a:p>
            <a:pPr algn="l" rtl="0" fontAlgn="base">
              <a:lnSpc>
                <a:spcPct val="150000"/>
              </a:lnSpc>
            </a:pPr>
            <a:r>
              <a:rPr lang="en-AU" sz="1050" b="0" i="0">
                <a:solidFill>
                  <a:srgbClr val="22272B"/>
                </a:solidFill>
                <a:effectLst/>
                <a:latin typeface="Arial" panose="020B0604020202020204" pitchFamily="34" charset="0"/>
                <a:cs typeface="Arial" panose="020B0604020202020204" pitchFamily="34" charset="0"/>
              </a:rPr>
              <a:t>​</a:t>
            </a:r>
          </a:p>
          <a:p>
            <a:pPr algn="l" rtl="0" fontAlgn="base">
              <a:lnSpc>
                <a:spcPct val="150000"/>
              </a:lnSpc>
            </a:pPr>
            <a:r>
              <a:rPr lang="en-AU" sz="1800" b="1" i="0" u="none" strike="noStrike">
                <a:solidFill>
                  <a:srgbClr val="22272B"/>
                </a:solidFill>
                <a:effectLst/>
                <a:latin typeface="Arial" panose="020B0604020202020204" pitchFamily="34" charset="0"/>
                <a:cs typeface="Arial" panose="020B0604020202020204" pitchFamily="34" charset="0"/>
              </a:rPr>
              <a:t>Rules:</a:t>
            </a:r>
            <a:r>
              <a:rPr lang="en-AU" sz="1800" b="0" i="0">
                <a:solidFill>
                  <a:srgbClr val="22272B"/>
                </a:solidFill>
                <a:effectLst/>
                <a:latin typeface="Arial" panose="020B0604020202020204" pitchFamily="34" charset="0"/>
                <a:cs typeface="Arial" panose="020B0604020202020204" pitchFamily="34" charset="0"/>
              </a:rPr>
              <a:t>​</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rPr>
              <a:t>take it in turns to spin the spinner and divide the number by the chosen divisor.</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rPr>
              <a:t>work out the solution and explain your thinking to your partner.</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rPr>
              <a:t>your partner records your thinking and, if they agree, places one of their counters on the number on the gameboard, claiming that place.</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rPr>
              <a:t>If the number is taken, miss a turn. If there are no new counters that can be added to the gameboard, you must move an existing counter to a new place.</a:t>
            </a:r>
          </a:p>
        </p:txBody>
      </p:sp>
      <p:pic>
        <p:nvPicPr>
          <p:cNvPr id="6" name="Picture 5" descr="An image shows that counters, a spinner and the recording sheet can be used to play Determining factors&#10;&#10;The image shows a gameboard covered in red and blue counters. The spinner is filled in with multiples of 5. They are 5, 10, 15, 20, 25, 30, 35, 40, 45, 50.&#10;&#10;The recording sheet shows the numbers spun by students, the corresponding division sentence and the number covered. ">
            <a:extLst>
              <a:ext uri="{FF2B5EF4-FFF2-40B4-BE49-F238E27FC236}">
                <a16:creationId xmlns:a16="http://schemas.microsoft.com/office/drawing/2014/main" id="{AE536619-CB10-D9EB-B68E-630DE1C63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22475"/>
            <a:ext cx="3945890" cy="2813050"/>
          </a:xfrm>
          <a:prstGeom prst="rect">
            <a:avLst/>
          </a:prstGeom>
        </p:spPr>
      </p:pic>
      <p:pic>
        <p:nvPicPr>
          <p:cNvPr id="4" name="Picture 3" descr="image of a head with cogs turning inside">
            <a:extLst>
              <a:ext uri="{FF2B5EF4-FFF2-40B4-BE49-F238E27FC236}">
                <a16:creationId xmlns:a16="http://schemas.microsoft.com/office/drawing/2014/main" id="{7A1306BB-7902-319C-CF8F-A2DB61C77D2C}"/>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24967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dirty="0"/>
              <a:t>Multiple choice </a:t>
            </a:r>
            <a:r>
              <a:rPr lang="en-US" dirty="0">
                <a:solidFill>
                  <a:schemeClr val="bg1"/>
                </a:solidFill>
              </a:rPr>
              <a:t>(2)</a:t>
            </a:r>
          </a:p>
        </p:txBody>
      </p:sp>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360000" y="1032209"/>
            <a:ext cx="11249133" cy="1399194"/>
          </a:xfrm>
        </p:spPr>
        <p:txBody>
          <a:bodyPr vert="horz" lIns="0" tIns="0" rIns="0" bIns="0" rtlCol="0" anchor="t">
            <a:noAutofit/>
          </a:bodyPr>
          <a:lstStyle/>
          <a:p>
            <a:pPr algn="ctr"/>
            <a:r>
              <a:rPr lang="en-US" sz="4000">
                <a:latin typeface="Arial"/>
                <a:cs typeface="Arial"/>
              </a:rPr>
              <a:t>I am a number greater than 50. I have </a:t>
            </a:r>
            <a:r>
              <a:rPr lang="en-US" sz="4000" b="1">
                <a:latin typeface="Arial"/>
                <a:cs typeface="Arial"/>
              </a:rPr>
              <a:t>many factors</a:t>
            </a:r>
            <a:r>
              <a:rPr lang="en-US" sz="4000">
                <a:latin typeface="Arial"/>
                <a:cs typeface="Arial"/>
              </a:rPr>
              <a:t>, including </a:t>
            </a:r>
            <a:r>
              <a:rPr lang="en-US" sz="4000" b="1">
                <a:latin typeface="Arial"/>
                <a:cs typeface="Arial"/>
              </a:rPr>
              <a:t>1, 2, 3, 4, 6, 8, 9, and 12</a:t>
            </a:r>
            <a:r>
              <a:rPr lang="en-US" sz="4000">
                <a:latin typeface="Arial"/>
                <a:cs typeface="Arial"/>
              </a:rPr>
              <a:t>. </a:t>
            </a:r>
          </a:p>
          <a:p>
            <a:pPr algn="ctr"/>
            <a:r>
              <a:rPr lang="en-US" sz="4000">
                <a:latin typeface="Arial"/>
                <a:cs typeface="Arial"/>
              </a:rPr>
              <a:t>What number am I?</a:t>
            </a:r>
            <a:endParaRPr lang="en-US"/>
          </a:p>
        </p:txBody>
      </p:sp>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3165223813"/>
              </p:ext>
            </p:extLst>
          </p:nvPr>
        </p:nvGraphicFramePr>
        <p:xfrm>
          <a:off x="572708" y="4426598"/>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64</a:t>
                      </a:r>
                      <a:endParaRPr lang="en-AU" sz="40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70</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72</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81</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35EA0110-8963-8FFF-008C-5572AAB946D2}"/>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(9)</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603839" y="2030849"/>
                <a:ext cx="11243037" cy="3056398"/>
              </a:xfrm>
            </p:spPr>
            <p:txBody>
              <a:bodyPr/>
              <a:lstStyle/>
              <a:p>
                <a:pPr algn="ctr"/>
                <a:r>
                  <a:rPr lang="en-US" sz="4400">
                    <a:latin typeface="Arial"/>
                    <a:cs typeface="Arial"/>
                  </a:rPr>
                  <a:t>If a soccer field has an area of 36 cm</a:t>
                </a:r>
                <a14:m>
                  <m:oMath xmlns:m="http://schemas.openxmlformats.org/officeDocument/2006/math">
                    <m:r>
                      <a:rPr lang="en-US" sz="4400" i="1" baseline="30000" dirty="0" smtClean="0">
                        <a:latin typeface="Cambria Math" panose="02040503050406030204" pitchFamily="18" charset="0"/>
                        <a:cs typeface="Arial"/>
                      </a:rPr>
                      <m:t>2</m:t>
                    </m:r>
                  </m:oMath>
                </a14:m>
                <a:r>
                  <a:rPr lang="en-US" sz="4400">
                    <a:latin typeface="Arial"/>
                    <a:cs typeface="Arial"/>
                  </a:rPr>
                  <a:t>, </a:t>
                </a:r>
              </a:p>
              <a:p>
                <a:pPr algn="ctr"/>
                <a:r>
                  <a:rPr lang="en-US" sz="4400">
                    <a:latin typeface="Arial"/>
                    <a:cs typeface="Arial"/>
                  </a:rPr>
                  <a:t>what could the dimensions be?</a:t>
                </a:r>
                <a:endParaRPr lang="en-US" sz="3600"/>
              </a:p>
              <a:p>
                <a:endParaRPr lang="en-US">
                  <a:latin typeface="Arial"/>
                  <a:cs typeface="Arial"/>
                </a:endParaRPr>
              </a:p>
            </p:txBody>
          </p:sp>
        </mc:Choice>
        <mc:Fallback xmlns="">
          <p:sp>
            <p:nvSpPr>
              <p:cNvPr id="11" name="Picture Placeholder 10">
                <a:extLst>
                  <a:ext uri="{FF2B5EF4-FFF2-40B4-BE49-F238E27FC236}">
                    <a16:creationId xmlns:a16="http://schemas.microsoft.com/office/drawing/2014/main" id="{615793BF-4D97-0D6A-FB17-D26939AF18A8}"/>
                  </a:ext>
                </a:extLst>
              </p:cNvPr>
              <p:cNvSpPr>
                <a:spLocks noGrp="1" noRot="1" noChangeAspect="1" noMove="1" noResize="1" noEditPoints="1" noAdjustHandles="1" noChangeArrowheads="1" noChangeShapeType="1" noTextEdit="1"/>
              </p:cNvSpPr>
              <p:nvPr>
                <p:ph type="pic" sz="quarter" idx="21"/>
              </p:nvPr>
            </p:nvSpPr>
            <p:spPr>
              <a:xfrm>
                <a:off x="603839" y="2030849"/>
                <a:ext cx="11243037" cy="3056398"/>
              </a:xfrm>
              <a:blipFill>
                <a:blip r:embed="rId3"/>
                <a:stretch>
                  <a:fillRect/>
                </a:stretch>
              </a:blipFill>
            </p:spPr>
            <p:txBody>
              <a:bodyPr/>
              <a:lstStyle/>
              <a:p>
                <a:r>
                  <a:rPr lang="en-US">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0BADCB8F-5A5A-827C-24CB-6A28E30A5102}"/>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(10)</a:t>
            </a:r>
          </a:p>
        </p:txBody>
      </p:sp>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603839" y="2030849"/>
            <a:ext cx="11243037" cy="3056398"/>
          </a:xfrm>
        </p:spPr>
        <p:txBody>
          <a:bodyPr/>
          <a:lstStyle/>
          <a:p>
            <a:pPr algn="ctr"/>
            <a:r>
              <a:rPr lang="en-US" sz="4400">
                <a:latin typeface="Arial"/>
                <a:cs typeface="Arial"/>
              </a:rPr>
              <a:t>Mr Wang purchased 360 pencils to share equally between his 10 students. How many pencils did each student get?</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CE7CF1E4-4432-483B-E4F0-A7EDC0414FD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(11)</a:t>
            </a:r>
          </a:p>
        </p:txBody>
      </p:sp>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952500" y="1290185"/>
            <a:ext cx="10048876" cy="4598686"/>
          </a:xfrm>
        </p:spPr>
        <p:txBody>
          <a:bodyPr/>
          <a:lstStyle/>
          <a:p>
            <a:pPr algn="ctr"/>
            <a:r>
              <a:rPr lang="en-US" sz="3600">
                <a:latin typeface="Arial"/>
                <a:cs typeface="Arial"/>
              </a:rPr>
              <a:t>Emily had 135 stickers in her collection.</a:t>
            </a:r>
            <a:br>
              <a:rPr lang="en-US" sz="3600">
                <a:latin typeface="Arial"/>
                <a:cs typeface="Arial"/>
              </a:rPr>
            </a:br>
            <a:r>
              <a:rPr lang="en-US" sz="3600">
                <a:latin typeface="Arial"/>
                <a:cs typeface="Arial"/>
              </a:rPr>
              <a:t> She gave 28 stickers to her friend Mia and later bought 47 more at the store.</a:t>
            </a:r>
            <a:br>
              <a:rPr lang="en-US" sz="3600">
                <a:latin typeface="Arial"/>
                <a:cs typeface="Arial"/>
              </a:rPr>
            </a:br>
            <a:r>
              <a:rPr lang="en-US" sz="3600">
                <a:latin typeface="Arial"/>
                <a:cs typeface="Arial"/>
              </a:rPr>
              <a:t> Then she used 25 stickers to decorate a poster.</a:t>
            </a:r>
            <a:endParaRPr lang="en-US" sz="3600"/>
          </a:p>
          <a:p>
            <a:pPr algn="ctr"/>
            <a:r>
              <a:rPr lang="en-US" sz="3600">
                <a:latin typeface="Arial"/>
                <a:cs typeface="Arial"/>
              </a:rPr>
              <a:t>How many stickers does Emily have now?</a:t>
            </a:r>
            <a:endParaRPr lang="en-US" sz="3600"/>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8D0C62D-183A-CACC-790E-F241DFF5E1EF}"/>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(12)</a:t>
            </a:r>
          </a:p>
        </p:txBody>
      </p:sp>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600963" y="1686425"/>
            <a:ext cx="11243037" cy="3659902"/>
          </a:xfrm>
        </p:spPr>
        <p:txBody>
          <a:bodyPr/>
          <a:lstStyle/>
          <a:p>
            <a:pPr algn="ctr"/>
            <a:r>
              <a:rPr lang="en-US" sz="4000">
                <a:latin typeface="Arial"/>
                <a:cs typeface="Arial"/>
              </a:rPr>
              <a:t>Liam says a triangle with 2 equal sides is an equilateral triangle.</a:t>
            </a:r>
            <a:br>
              <a:rPr lang="en-US" sz="4000"/>
            </a:br>
            <a:r>
              <a:rPr lang="en-US" sz="4000">
                <a:latin typeface="Arial"/>
                <a:cs typeface="Arial"/>
              </a:rPr>
              <a:t> Do you </a:t>
            </a:r>
            <a:r>
              <a:rPr lang="en-US" sz="4000" b="1">
                <a:latin typeface="Arial"/>
                <a:cs typeface="Arial"/>
              </a:rPr>
              <a:t>agree</a:t>
            </a:r>
            <a:r>
              <a:rPr lang="en-US" sz="4000">
                <a:latin typeface="Arial"/>
                <a:cs typeface="Arial"/>
              </a:rPr>
              <a:t> or </a:t>
            </a:r>
            <a:r>
              <a:rPr lang="en-US" sz="4000" b="1">
                <a:latin typeface="Arial"/>
                <a:cs typeface="Arial"/>
              </a:rPr>
              <a:t>disagree</a:t>
            </a:r>
            <a:r>
              <a:rPr lang="en-US" sz="4000">
                <a:latin typeface="Arial"/>
                <a:cs typeface="Arial"/>
              </a:rPr>
              <a:t>? Why?</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84B5940-5140-3FDA-A2C8-AEE3D94BCCEF}"/>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CE83E-162B-B6C8-57BA-E14ADBD2B75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70124D-E74D-F87F-BBEC-902E70862F1C}"/>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695B5D1B-7C0C-37AE-B03B-351DC5EF1723}"/>
              </a:ext>
            </a:extLst>
          </p:cNvPr>
          <p:cNvSpPr>
            <a:spLocks noGrp="1"/>
          </p:cNvSpPr>
          <p:nvPr>
            <p:ph type="title"/>
          </p:nvPr>
        </p:nvSpPr>
        <p:spPr>
          <a:xfrm>
            <a:off x="354000" y="445988"/>
            <a:ext cx="11484000" cy="545601"/>
          </a:xfrm>
        </p:spPr>
        <p:txBody>
          <a:bodyPr/>
          <a:lstStyle/>
          <a:p>
            <a:r>
              <a:rPr lang="en-AU">
                <a:latin typeface="Arial"/>
                <a:cs typeface="Arial"/>
              </a:rPr>
              <a:t>Activity 3 – determining factors</a:t>
            </a:r>
          </a:p>
        </p:txBody>
      </p:sp>
      <p:sp>
        <p:nvSpPr>
          <p:cNvPr id="5" name="TextBox 4">
            <a:extLst>
              <a:ext uri="{FF2B5EF4-FFF2-40B4-BE49-F238E27FC236}">
                <a16:creationId xmlns:a16="http://schemas.microsoft.com/office/drawing/2014/main" id="{A61345E6-9A0F-EBA2-4F0B-781FC1248AFF}"/>
              </a:ext>
            </a:extLst>
          </p:cNvPr>
          <p:cNvSpPr txBox="1"/>
          <p:nvPr/>
        </p:nvSpPr>
        <p:spPr>
          <a:xfrm>
            <a:off x="3945890" y="1000388"/>
            <a:ext cx="7898110" cy="5700278"/>
          </a:xfrm>
          <a:prstGeom prst="rect">
            <a:avLst/>
          </a:prstGeom>
          <a:noFill/>
        </p:spPr>
        <p:txBody>
          <a:bodyPr wrap="square">
            <a:spAutoFit/>
          </a:bodyPr>
          <a:lstStyle/>
          <a:p>
            <a:pPr algn="l" rtl="0" fontAlgn="base">
              <a:lnSpc>
                <a:spcPct val="150000"/>
              </a:lnSpc>
            </a:pPr>
            <a:r>
              <a:rPr lang="en-AU" sz="1800" b="1" i="0" u="none" strike="noStrike">
                <a:solidFill>
                  <a:srgbClr val="22272B"/>
                </a:solidFill>
                <a:effectLst/>
                <a:latin typeface="Arial" panose="020B0604020202020204" pitchFamily="34" charset="0"/>
                <a:cs typeface="Arial" panose="020B0604020202020204" pitchFamily="34" charset="0"/>
              </a:rPr>
              <a:t>Aim of the game</a:t>
            </a:r>
            <a:r>
              <a:rPr lang="en-US" sz="1800" b="0" i="0">
                <a:solidFill>
                  <a:srgbClr val="22272B"/>
                </a:solidFill>
                <a:effectLst/>
                <a:latin typeface="Arial" panose="020B0604020202020204" pitchFamily="34" charset="0"/>
                <a:cs typeface="Arial" panose="020B0604020202020204" pitchFamily="34" charset="0"/>
              </a:rPr>
              <a:t>​</a:t>
            </a:r>
          </a:p>
          <a:p>
            <a:pPr algn="l" rtl="0" fontAlgn="base">
              <a:lnSpc>
                <a:spcPct val="150000"/>
              </a:lnSpc>
            </a:pPr>
            <a:r>
              <a:rPr lang="en-AU" sz="1800" b="0" i="0">
                <a:solidFill>
                  <a:srgbClr val="22272B"/>
                </a:solidFill>
                <a:effectLst/>
                <a:latin typeface="Arial" panose="020B0604020202020204" pitchFamily="34" charset="0"/>
                <a:cs typeface="Arial" panose="020B0604020202020204" pitchFamily="34" charset="0"/>
              </a:rPr>
              <a:t>Solve division questions to get 4 counters in a row</a:t>
            </a:r>
            <a:endParaRPr lang="en-AU" sz="1050" b="0" i="0">
              <a:solidFill>
                <a:srgbClr val="22272B"/>
              </a:solidFill>
              <a:effectLst/>
              <a:latin typeface="Arial" panose="020B0604020202020204" pitchFamily="34" charset="0"/>
              <a:cs typeface="Arial" panose="020B0604020202020204" pitchFamily="34" charset="0"/>
            </a:endParaRPr>
          </a:p>
          <a:p>
            <a:pPr algn="l" rtl="0" fontAlgn="base">
              <a:lnSpc>
                <a:spcPct val="150000"/>
              </a:lnSpc>
            </a:pPr>
            <a:r>
              <a:rPr lang="en-AU" sz="1050" b="0" i="0">
                <a:solidFill>
                  <a:srgbClr val="22272B"/>
                </a:solidFill>
                <a:effectLst/>
                <a:latin typeface="Arial" panose="020B0604020202020204" pitchFamily="34" charset="0"/>
                <a:cs typeface="Arial" panose="020B0604020202020204" pitchFamily="34" charset="0"/>
              </a:rPr>
              <a:t>​</a:t>
            </a:r>
          </a:p>
          <a:p>
            <a:pPr algn="l" rtl="0" fontAlgn="base">
              <a:lnSpc>
                <a:spcPct val="150000"/>
              </a:lnSpc>
            </a:pPr>
            <a:r>
              <a:rPr lang="en-AU" sz="1800" b="1" i="0" u="none" strike="noStrike">
                <a:solidFill>
                  <a:srgbClr val="22272B"/>
                </a:solidFill>
                <a:effectLst/>
                <a:latin typeface="Arial" panose="020B0604020202020204" pitchFamily="34" charset="0"/>
                <a:cs typeface="Arial" panose="020B0604020202020204" pitchFamily="34" charset="0"/>
              </a:rPr>
              <a:t>Rules:</a:t>
            </a:r>
            <a:r>
              <a:rPr lang="en-AU" sz="1800" b="0" i="0">
                <a:solidFill>
                  <a:srgbClr val="22272B"/>
                </a:solidFill>
                <a:effectLst/>
                <a:latin typeface="Arial" panose="020B0604020202020204" pitchFamily="34" charset="0"/>
                <a:cs typeface="Arial" panose="020B0604020202020204" pitchFamily="34" charset="0"/>
              </a:rPr>
              <a:t>​</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rPr>
              <a:t>take it in turns to spin the spinner and divide the number by the chosen divisor.</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rPr>
              <a:t>work out the solution and explain your thinking to your partner.</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rPr>
              <a:t>your partner records your thinking and, if they agree, places one of their counters on the number on the gameboard, claiming that place.</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rPr>
              <a:t>If the number is taken, miss a turn. If there are no new counters that can be added to the gameboard, you must move an existing counter to a new place.</a:t>
            </a:r>
          </a:p>
        </p:txBody>
      </p:sp>
      <p:pic>
        <p:nvPicPr>
          <p:cNvPr id="6" name="Picture 5" descr="An image of how counters, a spinner and the recording sheet can be used to play Factors fun.&#10;&#10;The image shows a gameboard covered in red and blue counters. The spinner is filled in with multiples of 5. They are 5, 10, 15, 20, 25, 30, 35, 40, 45, 50.&#10;&#10;The recording sheet shows the numbers spun by students, the corresponding division sentence and the number covered. ">
            <a:extLst>
              <a:ext uri="{FF2B5EF4-FFF2-40B4-BE49-F238E27FC236}">
                <a16:creationId xmlns:a16="http://schemas.microsoft.com/office/drawing/2014/main" id="{6637DFDC-BB0A-D60F-63BF-18E77CF375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22475"/>
            <a:ext cx="3945890" cy="2813050"/>
          </a:xfrm>
          <a:prstGeom prst="rect">
            <a:avLst/>
          </a:prstGeom>
        </p:spPr>
      </p:pic>
      <p:pic>
        <p:nvPicPr>
          <p:cNvPr id="4" name="Picture 3" descr="image of a head with cogs turning inside">
            <a:extLst>
              <a:ext uri="{FF2B5EF4-FFF2-40B4-BE49-F238E27FC236}">
                <a16:creationId xmlns:a16="http://schemas.microsoft.com/office/drawing/2014/main" id="{04FBAE01-76F7-7386-4896-0917BE2654A2}"/>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425877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dirty="0"/>
              <a:t>True or false </a:t>
            </a:r>
            <a:r>
              <a:rPr lang="en-US" dirty="0">
                <a:solidFill>
                  <a:schemeClr val="bg1"/>
                </a:solidFill>
              </a:rPr>
              <a:t>(2)</a:t>
            </a:r>
          </a:p>
        </p:txBody>
      </p:sp>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474481" y="2005422"/>
            <a:ext cx="11243037" cy="1423578"/>
          </a:xfrm>
        </p:spPr>
        <p:txBody>
          <a:bodyPr vert="horz" lIns="0" tIns="0" rIns="0" bIns="0" rtlCol="0" anchor="t">
            <a:noAutofit/>
          </a:bodyPr>
          <a:lstStyle/>
          <a:p>
            <a:pPr algn="ctr"/>
            <a:r>
              <a:rPr lang="en-US" sz="4400">
                <a:latin typeface="Arial"/>
                <a:cs typeface="Arial"/>
              </a:rPr>
              <a:t>Every factor of 24 is also a multiple of 3.</a:t>
            </a:r>
            <a:endParaRPr lang="en-US" sz="4400"/>
          </a:p>
        </p:txBody>
      </p:sp>
      <p:sp>
        <p:nvSpPr>
          <p:cNvPr id="4" name="Text Placeholder 11">
            <a:extLst>
              <a:ext uri="{FF2B5EF4-FFF2-40B4-BE49-F238E27FC236}">
                <a16:creationId xmlns:a16="http://schemas.microsoft.com/office/drawing/2014/main" id="{0349BF09-6F55-E125-B475-18E20F88B83B}"/>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2541497064"/>
              </p:ext>
            </p:extLst>
          </p:nvPr>
        </p:nvGraphicFramePr>
        <p:xfrm>
          <a:off x="2442981" y="47841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4348276A-08AB-CAAE-2AF9-8F7FE9DCE3A5}"/>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(13)</a:t>
            </a:r>
          </a:p>
        </p:txBody>
      </p:sp>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359999" y="1287137"/>
            <a:ext cx="11243037" cy="1850677"/>
          </a:xfrm>
        </p:spPr>
        <p:txBody>
          <a:bodyPr/>
          <a:lstStyle/>
          <a:p>
            <a:pPr algn="ctr"/>
            <a:r>
              <a:rPr lang="en-US" sz="3600">
                <a:latin typeface="Arial"/>
                <a:cs typeface="Arial"/>
              </a:rPr>
              <a:t>Calculate the area of the following composite shape.</a:t>
            </a:r>
            <a:endParaRPr lang="en-US" sz="3600"/>
          </a:p>
          <a:p>
            <a:endParaRPr lang="en-US">
              <a:latin typeface="Arial"/>
              <a:cs typeface="Arial"/>
            </a:endParaRPr>
          </a:p>
        </p:txBody>
      </p:sp>
      <p:pic>
        <p:nvPicPr>
          <p:cNvPr id="8" name="Picture 7" descr="A six-sided irregular shape overlayed on a grid.">
            <a:extLst>
              <a:ext uri="{FF2B5EF4-FFF2-40B4-BE49-F238E27FC236}">
                <a16:creationId xmlns:a16="http://schemas.microsoft.com/office/drawing/2014/main" id="{569BCBA0-5B26-E769-9B22-DF0D2CBA27C6}"/>
              </a:ext>
            </a:extLst>
          </p:cNvPr>
          <p:cNvPicPr>
            <a:picLocks noChangeAspect="1"/>
          </p:cNvPicPr>
          <p:nvPr/>
        </p:nvPicPr>
        <p:blipFill>
          <a:blip r:embed="rId3"/>
          <a:stretch>
            <a:fillRect/>
          </a:stretch>
        </p:blipFill>
        <p:spPr>
          <a:xfrm>
            <a:off x="3765997" y="2429874"/>
            <a:ext cx="4660006" cy="3393669"/>
          </a:xfrm>
          <a:prstGeom prst="rect">
            <a:avLst/>
          </a:prstGeom>
          <a:ln>
            <a:noFill/>
          </a:ln>
          <a:effectLst>
            <a:outerShdw blurRad="292100" dist="139700" dir="2700000" algn="tl" rotWithShape="0">
              <a:srgbClr val="333333">
                <a:alpha val="65000"/>
              </a:srgbClr>
            </a:outerShdw>
          </a:effectLst>
        </p:spPr>
      </p:pic>
      <p:pic>
        <p:nvPicPr>
          <p:cNvPr id="4" name="Picture 3" descr="image of a clipboard with a pencil recording short answer responses">
            <a:extLst>
              <a:ext uri="{FF2B5EF4-FFF2-40B4-BE49-F238E27FC236}">
                <a16:creationId xmlns:a16="http://schemas.microsoft.com/office/drawing/2014/main" id="{8630EBD8-CFDA-21D1-0781-2E0CE818F684}"/>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(14)</a:t>
            </a:r>
          </a:p>
        </p:txBody>
      </p:sp>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360000" y="2610985"/>
            <a:ext cx="11243037" cy="1636030"/>
          </a:xfrm>
        </p:spPr>
        <p:txBody>
          <a:bodyPr/>
          <a:lstStyle/>
          <a:p>
            <a:pPr algn="ctr"/>
            <a:r>
              <a:rPr lang="en-US" sz="4400">
                <a:latin typeface="Arial"/>
                <a:cs typeface="Arial"/>
              </a:rPr>
              <a:t>What is 10 % of 450? </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1214CBC-B671-BA4C-E583-4EAEC31F1FE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(15)</a:t>
            </a:r>
          </a:p>
        </p:txBody>
      </p:sp>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359999" y="1500497"/>
            <a:ext cx="11243037" cy="3336814"/>
          </a:xfrm>
        </p:spPr>
        <p:txBody>
          <a:bodyPr/>
          <a:lstStyle/>
          <a:p>
            <a:pPr algn="ctr"/>
            <a:r>
              <a:rPr lang="en-US" sz="4400">
                <a:latin typeface="Arial"/>
                <a:cs typeface="Arial"/>
              </a:rPr>
              <a:t>Lina is solving 504 – 298.</a:t>
            </a:r>
            <a:br>
              <a:rPr lang="en-US" sz="4400">
                <a:latin typeface="Arial"/>
                <a:cs typeface="Arial"/>
              </a:rPr>
            </a:br>
            <a:r>
              <a:rPr lang="en-US" sz="4400">
                <a:latin typeface="Arial"/>
                <a:cs typeface="Arial"/>
              </a:rPr>
              <a:t> What </a:t>
            </a:r>
            <a:r>
              <a:rPr lang="en-US" sz="4400" b="1">
                <a:latin typeface="Arial"/>
                <a:cs typeface="Arial"/>
              </a:rPr>
              <a:t>mental strategy </a:t>
            </a:r>
            <a:r>
              <a:rPr lang="en-US" sz="4400">
                <a:latin typeface="Arial"/>
                <a:cs typeface="Arial"/>
              </a:rPr>
              <a:t>could she use to solve it efficiently?</a:t>
            </a:r>
            <a:endParaRPr lang="en-US"/>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AE60A7A-7377-46D6-1913-99B349DCED2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(16)</a:t>
            </a:r>
          </a:p>
        </p:txBody>
      </p:sp>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474480" y="1116943"/>
            <a:ext cx="11243037" cy="3336814"/>
          </a:xfrm>
        </p:spPr>
        <p:txBody>
          <a:bodyPr/>
          <a:lstStyle/>
          <a:p>
            <a:pPr algn="ctr"/>
            <a:r>
              <a:rPr lang="en-US" sz="4400">
                <a:latin typeface="Arial"/>
                <a:cs typeface="Arial"/>
              </a:rPr>
              <a:t>Name the type of pyramid. </a:t>
            </a:r>
            <a:endParaRPr lang="en-US" sz="4400"/>
          </a:p>
          <a:p>
            <a:endParaRPr lang="en-US">
              <a:latin typeface="Arial"/>
              <a:cs typeface="Arial"/>
            </a:endParaRPr>
          </a:p>
        </p:txBody>
      </p:sp>
      <p:pic>
        <p:nvPicPr>
          <p:cNvPr id="8" name="Picture 7" descr="A black and white drawing of a square based pyramid&#10;&#10;">
            <a:extLst>
              <a:ext uri="{FF2B5EF4-FFF2-40B4-BE49-F238E27FC236}">
                <a16:creationId xmlns:a16="http://schemas.microsoft.com/office/drawing/2014/main" id="{AF1811BF-1459-A022-EC1C-B09DEA6A07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1335016">
            <a:off x="3736395" y="2367174"/>
            <a:ext cx="4719208" cy="3336814"/>
          </a:xfrm>
          <a:prstGeom prst="rect">
            <a:avLst/>
          </a:prstGeom>
        </p:spPr>
      </p:pic>
      <p:pic>
        <p:nvPicPr>
          <p:cNvPr id="4" name="Picture 3" descr="image of a clipboard with a pencil recording short answer responses">
            <a:extLst>
              <a:ext uri="{FF2B5EF4-FFF2-40B4-BE49-F238E27FC236}">
                <a16:creationId xmlns:a16="http://schemas.microsoft.com/office/drawing/2014/main" id="{67930802-0D15-204B-8B8B-C39671389CDA}"/>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4 – factor multiple chains</a:t>
            </a:r>
          </a:p>
        </p:txBody>
      </p:sp>
      <p:grpSp>
        <p:nvGrpSpPr>
          <p:cNvPr id="4" name="Group 2" descr="Four blue boxes joined with a bar. Each bar is split into 2 parts. One part is yellow and labelled ‘Factor’, the other part is green and labelled ‘Multiple’. Each blue box contains a number. The numbers are 3, 6, 30 and 90.">
            <a:extLst>
              <a:ext uri="{FF2B5EF4-FFF2-40B4-BE49-F238E27FC236}">
                <a16:creationId xmlns:a16="http://schemas.microsoft.com/office/drawing/2014/main" id="{1FE25E32-DF6F-E449-5593-21F29E490F06}"/>
              </a:ext>
            </a:extLst>
          </p:cNvPr>
          <p:cNvGrpSpPr/>
          <p:nvPr/>
        </p:nvGrpSpPr>
        <p:grpSpPr>
          <a:xfrm>
            <a:off x="816903" y="1272806"/>
            <a:ext cx="10558193" cy="1528011"/>
            <a:chOff x="0" y="-347972"/>
            <a:chExt cx="13591957" cy="2037348"/>
          </a:xfrm>
        </p:grpSpPr>
        <p:grpSp>
          <p:nvGrpSpPr>
            <p:cNvPr id="5" name="Group 3">
              <a:extLst>
                <a:ext uri="{FF2B5EF4-FFF2-40B4-BE49-F238E27FC236}">
                  <a16:creationId xmlns:a16="http://schemas.microsoft.com/office/drawing/2014/main" id="{B1CE10DB-E858-4738-A93E-68DE4CD01B94}"/>
                </a:ext>
              </a:extLst>
            </p:cNvPr>
            <p:cNvGrpSpPr/>
            <p:nvPr/>
          </p:nvGrpSpPr>
          <p:grpSpPr>
            <a:xfrm>
              <a:off x="1774331" y="443814"/>
              <a:ext cx="1083189" cy="656760"/>
              <a:chOff x="0" y="-47625"/>
              <a:chExt cx="355800" cy="215729"/>
            </a:xfrm>
          </p:grpSpPr>
          <p:sp>
            <p:nvSpPr>
              <p:cNvPr id="33" name="Freeform 4">
                <a:extLst>
                  <a:ext uri="{FF2B5EF4-FFF2-40B4-BE49-F238E27FC236}">
                    <a16:creationId xmlns:a16="http://schemas.microsoft.com/office/drawing/2014/main" id="{0EC82EF5-F167-8A4C-71C8-CDF77EF756EE}"/>
                  </a:ext>
                </a:extLst>
              </p:cNvPr>
              <p:cNvSpPr/>
              <p:nvPr/>
            </p:nvSpPr>
            <p:spPr>
              <a:xfrm>
                <a:off x="0" y="0"/>
                <a:ext cx="355800" cy="168104"/>
              </a:xfrm>
              <a:custGeom>
                <a:avLst/>
                <a:gdLst/>
                <a:ahLst/>
                <a:cxnLst/>
                <a:rect l="l" t="t" r="r" b="b"/>
                <a:pathLst>
                  <a:path w="355800" h="168104">
                    <a:moveTo>
                      <a:pt x="0" y="0"/>
                    </a:moveTo>
                    <a:lnTo>
                      <a:pt x="355800" y="0"/>
                    </a:lnTo>
                    <a:lnTo>
                      <a:pt x="355800" y="168104"/>
                    </a:lnTo>
                    <a:lnTo>
                      <a:pt x="0" y="168104"/>
                    </a:lnTo>
                    <a:close/>
                  </a:path>
                </a:pathLst>
              </a:custGeom>
              <a:solidFill>
                <a:srgbClr val="FFDE59"/>
              </a:solidFill>
            </p:spPr>
            <p:txBody>
              <a:bodyPr/>
              <a:lstStyle/>
              <a:p>
                <a:endParaRPr lang="en-AU"/>
              </a:p>
            </p:txBody>
          </p:sp>
          <p:sp>
            <p:nvSpPr>
              <p:cNvPr id="34" name="TextBox 5">
                <a:extLst>
                  <a:ext uri="{FF2B5EF4-FFF2-40B4-BE49-F238E27FC236}">
                    <a16:creationId xmlns:a16="http://schemas.microsoft.com/office/drawing/2014/main" id="{EF64256B-6D00-FDFA-9723-655FE13E21D4}"/>
                  </a:ext>
                </a:extLst>
              </p:cNvPr>
              <p:cNvSpPr txBox="1"/>
              <p:nvPr/>
            </p:nvSpPr>
            <p:spPr>
              <a:xfrm>
                <a:off x="0" y="-47625"/>
                <a:ext cx="355800" cy="215729"/>
              </a:xfrm>
              <a:prstGeom prst="rect">
                <a:avLst/>
              </a:prstGeom>
            </p:spPr>
            <p:txBody>
              <a:bodyPr lIns="50800" tIns="50800" rIns="50800" bIns="50800" rtlCol="0" anchor="ctr"/>
              <a:lstStyle/>
              <a:p>
                <a:pPr algn="ctr">
                  <a:lnSpc>
                    <a:spcPts val="2519"/>
                  </a:lnSpc>
                </a:pPr>
                <a:r>
                  <a:rPr lang="en-US" sz="1799">
                    <a:solidFill>
                      <a:srgbClr val="000000"/>
                    </a:solidFill>
                    <a:latin typeface="Arial" panose="020B0604020202020204" pitchFamily="34" charset="0"/>
                    <a:ea typeface="Canva Student Font"/>
                    <a:cs typeface="Arial" panose="020B0604020202020204" pitchFamily="34" charset="0"/>
                    <a:sym typeface="Canva Student Font"/>
                  </a:rPr>
                  <a:t>Factor</a:t>
                </a:r>
              </a:p>
            </p:txBody>
          </p:sp>
        </p:grpSp>
        <p:grpSp>
          <p:nvGrpSpPr>
            <p:cNvPr id="6" name="Group 6">
              <a:extLst>
                <a:ext uri="{FF2B5EF4-FFF2-40B4-BE49-F238E27FC236}">
                  <a16:creationId xmlns:a16="http://schemas.microsoft.com/office/drawing/2014/main" id="{D12156C5-4A03-9CF0-0ABA-7F98AFF8A140}"/>
                </a:ext>
              </a:extLst>
            </p:cNvPr>
            <p:cNvGrpSpPr/>
            <p:nvPr/>
          </p:nvGrpSpPr>
          <p:grpSpPr>
            <a:xfrm>
              <a:off x="2751562" y="443814"/>
              <a:ext cx="1307331" cy="656760"/>
              <a:chOff x="-34805" y="-47625"/>
              <a:chExt cx="429425" cy="215729"/>
            </a:xfrm>
          </p:grpSpPr>
          <p:sp>
            <p:nvSpPr>
              <p:cNvPr id="31" name="Freeform 7">
                <a:extLst>
                  <a:ext uri="{FF2B5EF4-FFF2-40B4-BE49-F238E27FC236}">
                    <a16:creationId xmlns:a16="http://schemas.microsoft.com/office/drawing/2014/main" id="{63643EBC-1C6D-79F2-D99F-1642BDAD2C2D}"/>
                  </a:ext>
                </a:extLst>
              </p:cNvPr>
              <p:cNvSpPr/>
              <p:nvPr/>
            </p:nvSpPr>
            <p:spPr>
              <a:xfrm>
                <a:off x="0" y="0"/>
                <a:ext cx="355800" cy="168104"/>
              </a:xfrm>
              <a:custGeom>
                <a:avLst/>
                <a:gdLst/>
                <a:ahLst/>
                <a:cxnLst/>
                <a:rect l="l" t="t" r="r" b="b"/>
                <a:pathLst>
                  <a:path w="355800" h="168104">
                    <a:moveTo>
                      <a:pt x="0" y="0"/>
                    </a:moveTo>
                    <a:lnTo>
                      <a:pt x="355800" y="0"/>
                    </a:lnTo>
                    <a:lnTo>
                      <a:pt x="355800" y="168104"/>
                    </a:lnTo>
                    <a:lnTo>
                      <a:pt x="0" y="168104"/>
                    </a:lnTo>
                    <a:close/>
                  </a:path>
                </a:pathLst>
              </a:custGeom>
              <a:solidFill>
                <a:srgbClr val="A7C957"/>
              </a:solidFill>
            </p:spPr>
            <p:txBody>
              <a:bodyPr/>
              <a:lstStyle/>
              <a:p>
                <a:endParaRPr lang="en-AU"/>
              </a:p>
            </p:txBody>
          </p:sp>
          <p:sp>
            <p:nvSpPr>
              <p:cNvPr id="32" name="TextBox 8">
                <a:extLst>
                  <a:ext uri="{FF2B5EF4-FFF2-40B4-BE49-F238E27FC236}">
                    <a16:creationId xmlns:a16="http://schemas.microsoft.com/office/drawing/2014/main" id="{D0A50D66-734A-5E52-9B04-6789BC723786}"/>
                  </a:ext>
                </a:extLst>
              </p:cNvPr>
              <p:cNvSpPr txBox="1"/>
              <p:nvPr/>
            </p:nvSpPr>
            <p:spPr>
              <a:xfrm>
                <a:off x="-34805" y="-47625"/>
                <a:ext cx="429425" cy="215729"/>
              </a:xfrm>
              <a:prstGeom prst="rect">
                <a:avLst/>
              </a:prstGeom>
            </p:spPr>
            <p:txBody>
              <a:bodyPr lIns="50800" tIns="50800" rIns="50800" bIns="50800" rtlCol="0" anchor="ctr"/>
              <a:lstStyle/>
              <a:p>
                <a:pPr algn="ctr">
                  <a:lnSpc>
                    <a:spcPts val="2519"/>
                  </a:lnSpc>
                </a:pPr>
                <a:r>
                  <a:rPr lang="en-US" sz="1799">
                    <a:solidFill>
                      <a:srgbClr val="000000"/>
                    </a:solidFill>
                    <a:latin typeface="Arial" panose="020B0604020202020204" pitchFamily="34" charset="0"/>
                    <a:ea typeface="Canva Student Font"/>
                    <a:cs typeface="Arial" panose="020B0604020202020204" pitchFamily="34" charset="0"/>
                    <a:sym typeface="Canva Student Font"/>
                  </a:rPr>
                  <a:t>Multiple</a:t>
                </a:r>
              </a:p>
            </p:txBody>
          </p:sp>
        </p:grpSp>
        <p:grpSp>
          <p:nvGrpSpPr>
            <p:cNvPr id="7" name="Group 9">
              <a:extLst>
                <a:ext uri="{FF2B5EF4-FFF2-40B4-BE49-F238E27FC236}">
                  <a16:creationId xmlns:a16="http://schemas.microsoft.com/office/drawing/2014/main" id="{F7387914-1E4D-49D3-53B0-D71A047D54A1}"/>
                </a:ext>
              </a:extLst>
            </p:cNvPr>
            <p:cNvGrpSpPr/>
            <p:nvPr/>
          </p:nvGrpSpPr>
          <p:grpSpPr>
            <a:xfrm>
              <a:off x="3940710" y="-347972"/>
              <a:ext cx="1774331" cy="2037348"/>
              <a:chOff x="0" y="-114300"/>
              <a:chExt cx="582823" cy="669217"/>
            </a:xfrm>
          </p:grpSpPr>
          <p:sp>
            <p:nvSpPr>
              <p:cNvPr id="29" name="Freeform 10">
                <a:extLst>
                  <a:ext uri="{FF2B5EF4-FFF2-40B4-BE49-F238E27FC236}">
                    <a16:creationId xmlns:a16="http://schemas.microsoft.com/office/drawing/2014/main" id="{0C96E3D9-B442-EEB4-1BDC-2B5319BD5F65}"/>
                  </a:ext>
                </a:extLst>
              </p:cNvPr>
              <p:cNvSpPr/>
              <p:nvPr/>
            </p:nvSpPr>
            <p:spPr>
              <a:xfrm>
                <a:off x="0" y="0"/>
                <a:ext cx="582823" cy="554917"/>
              </a:xfrm>
              <a:custGeom>
                <a:avLst/>
                <a:gdLst/>
                <a:ahLst/>
                <a:cxnLst/>
                <a:rect l="l" t="t" r="r" b="b"/>
                <a:pathLst>
                  <a:path w="582823" h="554917">
                    <a:moveTo>
                      <a:pt x="218983" y="0"/>
                    </a:moveTo>
                    <a:lnTo>
                      <a:pt x="363840" y="0"/>
                    </a:lnTo>
                    <a:cubicBezTo>
                      <a:pt x="421918" y="0"/>
                      <a:pt x="477617" y="23071"/>
                      <a:pt x="518684" y="64139"/>
                    </a:cubicBezTo>
                    <a:cubicBezTo>
                      <a:pt x="559751" y="105206"/>
                      <a:pt x="582823" y="160905"/>
                      <a:pt x="582823" y="218983"/>
                    </a:cubicBezTo>
                    <a:lnTo>
                      <a:pt x="582823" y="335934"/>
                    </a:lnTo>
                    <a:cubicBezTo>
                      <a:pt x="582823" y="456875"/>
                      <a:pt x="484781" y="554917"/>
                      <a:pt x="363840" y="554917"/>
                    </a:cubicBezTo>
                    <a:lnTo>
                      <a:pt x="218983" y="554917"/>
                    </a:lnTo>
                    <a:cubicBezTo>
                      <a:pt x="98042" y="554917"/>
                      <a:pt x="0" y="456875"/>
                      <a:pt x="0" y="335934"/>
                    </a:cubicBezTo>
                    <a:lnTo>
                      <a:pt x="0" y="218983"/>
                    </a:lnTo>
                    <a:cubicBezTo>
                      <a:pt x="0" y="98042"/>
                      <a:pt x="98042" y="0"/>
                      <a:pt x="218983" y="0"/>
                    </a:cubicBezTo>
                    <a:close/>
                  </a:path>
                </a:pathLst>
              </a:custGeom>
              <a:solidFill>
                <a:srgbClr val="8CE0FF"/>
              </a:solidFill>
            </p:spPr>
            <p:txBody>
              <a:bodyPr/>
              <a:lstStyle/>
              <a:p>
                <a:endParaRPr lang="en-AU"/>
              </a:p>
            </p:txBody>
          </p:sp>
          <p:sp>
            <p:nvSpPr>
              <p:cNvPr id="30" name="TextBox 11">
                <a:extLst>
                  <a:ext uri="{FF2B5EF4-FFF2-40B4-BE49-F238E27FC236}">
                    <a16:creationId xmlns:a16="http://schemas.microsoft.com/office/drawing/2014/main" id="{CCD643F0-D102-5DEE-9C86-4D1B497EABBA}"/>
                  </a:ext>
                </a:extLst>
              </p:cNvPr>
              <p:cNvSpPr txBox="1"/>
              <p:nvPr/>
            </p:nvSpPr>
            <p:spPr>
              <a:xfrm>
                <a:off x="0" y="-114300"/>
                <a:ext cx="582823" cy="669217"/>
              </a:xfrm>
              <a:prstGeom prst="rect">
                <a:avLst/>
              </a:prstGeom>
            </p:spPr>
            <p:txBody>
              <a:bodyPr lIns="63281" tIns="63281" rIns="63281" bIns="63281" rtlCol="0" anchor="ctr"/>
              <a:lstStyle/>
              <a:p>
                <a:pPr algn="ctr">
                  <a:lnSpc>
                    <a:spcPts val="7840"/>
                  </a:lnSpc>
                </a:pPr>
                <a:r>
                  <a:rPr lang="en-US" sz="5600">
                    <a:solidFill>
                      <a:srgbClr val="000000"/>
                    </a:solidFill>
                    <a:latin typeface="Canva Student Font"/>
                    <a:ea typeface="Canva Student Font"/>
                    <a:cs typeface="Canva Student Font"/>
                    <a:sym typeface="Canva Student Font"/>
                  </a:rPr>
                  <a:t>6</a:t>
                </a:r>
              </a:p>
            </p:txBody>
          </p:sp>
        </p:grpSp>
        <p:grpSp>
          <p:nvGrpSpPr>
            <p:cNvPr id="8" name="Group 12">
              <a:extLst>
                <a:ext uri="{FF2B5EF4-FFF2-40B4-BE49-F238E27FC236}">
                  <a16:creationId xmlns:a16="http://schemas.microsoft.com/office/drawing/2014/main" id="{045C931B-FB58-8069-3E7A-E4D733B8BD7C}"/>
                </a:ext>
              </a:extLst>
            </p:cNvPr>
            <p:cNvGrpSpPr/>
            <p:nvPr/>
          </p:nvGrpSpPr>
          <p:grpSpPr>
            <a:xfrm>
              <a:off x="5715041" y="443814"/>
              <a:ext cx="1083189" cy="656760"/>
              <a:chOff x="0" y="-47625"/>
              <a:chExt cx="355800" cy="215729"/>
            </a:xfrm>
          </p:grpSpPr>
          <p:sp>
            <p:nvSpPr>
              <p:cNvPr id="27" name="Freeform 13">
                <a:extLst>
                  <a:ext uri="{FF2B5EF4-FFF2-40B4-BE49-F238E27FC236}">
                    <a16:creationId xmlns:a16="http://schemas.microsoft.com/office/drawing/2014/main" id="{2C11E7EC-8949-A7F5-EB59-589222563B14}"/>
                  </a:ext>
                </a:extLst>
              </p:cNvPr>
              <p:cNvSpPr/>
              <p:nvPr/>
            </p:nvSpPr>
            <p:spPr>
              <a:xfrm>
                <a:off x="0" y="0"/>
                <a:ext cx="355800" cy="168104"/>
              </a:xfrm>
              <a:custGeom>
                <a:avLst/>
                <a:gdLst/>
                <a:ahLst/>
                <a:cxnLst/>
                <a:rect l="l" t="t" r="r" b="b"/>
                <a:pathLst>
                  <a:path w="355800" h="168104">
                    <a:moveTo>
                      <a:pt x="0" y="0"/>
                    </a:moveTo>
                    <a:lnTo>
                      <a:pt x="355800" y="0"/>
                    </a:lnTo>
                    <a:lnTo>
                      <a:pt x="355800" y="168104"/>
                    </a:lnTo>
                    <a:lnTo>
                      <a:pt x="0" y="168104"/>
                    </a:lnTo>
                    <a:close/>
                  </a:path>
                </a:pathLst>
              </a:custGeom>
              <a:solidFill>
                <a:srgbClr val="FFDE59"/>
              </a:solidFill>
            </p:spPr>
            <p:txBody>
              <a:bodyPr/>
              <a:lstStyle/>
              <a:p>
                <a:endParaRPr lang="en-AU"/>
              </a:p>
            </p:txBody>
          </p:sp>
          <p:sp>
            <p:nvSpPr>
              <p:cNvPr id="28" name="TextBox 14">
                <a:extLst>
                  <a:ext uri="{FF2B5EF4-FFF2-40B4-BE49-F238E27FC236}">
                    <a16:creationId xmlns:a16="http://schemas.microsoft.com/office/drawing/2014/main" id="{88075732-CF65-FDB5-8651-C5AA663CDD44}"/>
                  </a:ext>
                </a:extLst>
              </p:cNvPr>
              <p:cNvSpPr txBox="1"/>
              <p:nvPr/>
            </p:nvSpPr>
            <p:spPr>
              <a:xfrm>
                <a:off x="0" y="-47625"/>
                <a:ext cx="355800" cy="215729"/>
              </a:xfrm>
              <a:prstGeom prst="rect">
                <a:avLst/>
              </a:prstGeom>
            </p:spPr>
            <p:txBody>
              <a:bodyPr lIns="50800" tIns="50800" rIns="50800" bIns="50800" rtlCol="0" anchor="ctr"/>
              <a:lstStyle/>
              <a:p>
                <a:pPr algn="ctr">
                  <a:lnSpc>
                    <a:spcPts val="2519"/>
                  </a:lnSpc>
                </a:pPr>
                <a:r>
                  <a:rPr lang="en-US" sz="1799">
                    <a:solidFill>
                      <a:srgbClr val="000000"/>
                    </a:solidFill>
                    <a:latin typeface="Arial" panose="020B0604020202020204" pitchFamily="34" charset="0"/>
                    <a:ea typeface="Canva Student Font"/>
                    <a:cs typeface="Arial" panose="020B0604020202020204" pitchFamily="34" charset="0"/>
                    <a:sym typeface="Canva Student Font"/>
                  </a:rPr>
                  <a:t>Factor</a:t>
                </a:r>
              </a:p>
            </p:txBody>
          </p:sp>
        </p:grpSp>
        <p:grpSp>
          <p:nvGrpSpPr>
            <p:cNvPr id="9" name="Group 15">
              <a:extLst>
                <a:ext uri="{FF2B5EF4-FFF2-40B4-BE49-F238E27FC236}">
                  <a16:creationId xmlns:a16="http://schemas.microsoft.com/office/drawing/2014/main" id="{51D22A56-5D6A-F134-8F07-E7FEAA2EE5B4}"/>
                </a:ext>
              </a:extLst>
            </p:cNvPr>
            <p:cNvGrpSpPr/>
            <p:nvPr/>
          </p:nvGrpSpPr>
          <p:grpSpPr>
            <a:xfrm>
              <a:off x="6798231" y="443814"/>
              <a:ext cx="1167390" cy="656760"/>
              <a:chOff x="0" y="-47625"/>
              <a:chExt cx="383458" cy="215729"/>
            </a:xfrm>
          </p:grpSpPr>
          <p:sp>
            <p:nvSpPr>
              <p:cNvPr id="25" name="Freeform 16">
                <a:extLst>
                  <a:ext uri="{FF2B5EF4-FFF2-40B4-BE49-F238E27FC236}">
                    <a16:creationId xmlns:a16="http://schemas.microsoft.com/office/drawing/2014/main" id="{FF1EA124-C399-FBF4-C790-3AC8D003C2C3}"/>
                  </a:ext>
                </a:extLst>
              </p:cNvPr>
              <p:cNvSpPr/>
              <p:nvPr/>
            </p:nvSpPr>
            <p:spPr>
              <a:xfrm>
                <a:off x="0" y="0"/>
                <a:ext cx="355800" cy="168104"/>
              </a:xfrm>
              <a:custGeom>
                <a:avLst/>
                <a:gdLst/>
                <a:ahLst/>
                <a:cxnLst/>
                <a:rect l="l" t="t" r="r" b="b"/>
                <a:pathLst>
                  <a:path w="355800" h="168104">
                    <a:moveTo>
                      <a:pt x="0" y="0"/>
                    </a:moveTo>
                    <a:lnTo>
                      <a:pt x="355800" y="0"/>
                    </a:lnTo>
                    <a:lnTo>
                      <a:pt x="355800" y="168104"/>
                    </a:lnTo>
                    <a:lnTo>
                      <a:pt x="0" y="168104"/>
                    </a:lnTo>
                    <a:close/>
                  </a:path>
                </a:pathLst>
              </a:custGeom>
              <a:solidFill>
                <a:srgbClr val="A7C957"/>
              </a:solidFill>
            </p:spPr>
            <p:txBody>
              <a:bodyPr/>
              <a:lstStyle/>
              <a:p>
                <a:endParaRPr lang="en-AU"/>
              </a:p>
            </p:txBody>
          </p:sp>
          <p:sp>
            <p:nvSpPr>
              <p:cNvPr id="26" name="TextBox 17">
                <a:extLst>
                  <a:ext uri="{FF2B5EF4-FFF2-40B4-BE49-F238E27FC236}">
                    <a16:creationId xmlns:a16="http://schemas.microsoft.com/office/drawing/2014/main" id="{B81D02AE-8AB3-F63C-0B6E-EF6F922EB1DF}"/>
                  </a:ext>
                </a:extLst>
              </p:cNvPr>
              <p:cNvSpPr txBox="1"/>
              <p:nvPr/>
            </p:nvSpPr>
            <p:spPr>
              <a:xfrm>
                <a:off x="0" y="-47625"/>
                <a:ext cx="383458" cy="215729"/>
              </a:xfrm>
              <a:prstGeom prst="rect">
                <a:avLst/>
              </a:prstGeom>
            </p:spPr>
            <p:txBody>
              <a:bodyPr lIns="50800" tIns="50800" rIns="50800" bIns="50800" rtlCol="0" anchor="ctr"/>
              <a:lstStyle/>
              <a:p>
                <a:pPr algn="ctr">
                  <a:lnSpc>
                    <a:spcPts val="2519"/>
                  </a:lnSpc>
                </a:pPr>
                <a:r>
                  <a:rPr lang="en-US" sz="1799">
                    <a:solidFill>
                      <a:srgbClr val="000000"/>
                    </a:solidFill>
                    <a:latin typeface="Arial" panose="020B0604020202020204" pitchFamily="34" charset="0"/>
                    <a:ea typeface="Canva Student Font"/>
                    <a:cs typeface="Arial" panose="020B0604020202020204" pitchFamily="34" charset="0"/>
                    <a:sym typeface="Canva Student Font"/>
                  </a:rPr>
                  <a:t>Multiple</a:t>
                </a:r>
              </a:p>
            </p:txBody>
          </p:sp>
        </p:grpSp>
        <p:grpSp>
          <p:nvGrpSpPr>
            <p:cNvPr id="10" name="Group 18">
              <a:extLst>
                <a:ext uri="{FF2B5EF4-FFF2-40B4-BE49-F238E27FC236}">
                  <a16:creationId xmlns:a16="http://schemas.microsoft.com/office/drawing/2014/main" id="{85A22706-173C-2F76-653A-C6F51147CD1B}"/>
                </a:ext>
              </a:extLst>
            </p:cNvPr>
            <p:cNvGrpSpPr/>
            <p:nvPr/>
          </p:nvGrpSpPr>
          <p:grpSpPr>
            <a:xfrm>
              <a:off x="7881420" y="-347972"/>
              <a:ext cx="1774331" cy="2037348"/>
              <a:chOff x="0" y="-114300"/>
              <a:chExt cx="582823" cy="669217"/>
            </a:xfrm>
          </p:grpSpPr>
          <p:sp>
            <p:nvSpPr>
              <p:cNvPr id="23" name="Freeform 19">
                <a:extLst>
                  <a:ext uri="{FF2B5EF4-FFF2-40B4-BE49-F238E27FC236}">
                    <a16:creationId xmlns:a16="http://schemas.microsoft.com/office/drawing/2014/main" id="{B6EFFE1A-8BB8-150C-2A55-7C0B9B68BBD2}"/>
                  </a:ext>
                </a:extLst>
              </p:cNvPr>
              <p:cNvSpPr/>
              <p:nvPr/>
            </p:nvSpPr>
            <p:spPr>
              <a:xfrm>
                <a:off x="0" y="0"/>
                <a:ext cx="582823" cy="554917"/>
              </a:xfrm>
              <a:custGeom>
                <a:avLst/>
                <a:gdLst/>
                <a:ahLst/>
                <a:cxnLst/>
                <a:rect l="l" t="t" r="r" b="b"/>
                <a:pathLst>
                  <a:path w="582823" h="554917">
                    <a:moveTo>
                      <a:pt x="218983" y="0"/>
                    </a:moveTo>
                    <a:lnTo>
                      <a:pt x="363840" y="0"/>
                    </a:lnTo>
                    <a:cubicBezTo>
                      <a:pt x="421918" y="0"/>
                      <a:pt x="477617" y="23071"/>
                      <a:pt x="518684" y="64139"/>
                    </a:cubicBezTo>
                    <a:cubicBezTo>
                      <a:pt x="559751" y="105206"/>
                      <a:pt x="582823" y="160905"/>
                      <a:pt x="582823" y="218983"/>
                    </a:cubicBezTo>
                    <a:lnTo>
                      <a:pt x="582823" y="335934"/>
                    </a:lnTo>
                    <a:cubicBezTo>
                      <a:pt x="582823" y="456875"/>
                      <a:pt x="484781" y="554917"/>
                      <a:pt x="363840" y="554917"/>
                    </a:cubicBezTo>
                    <a:lnTo>
                      <a:pt x="218983" y="554917"/>
                    </a:lnTo>
                    <a:cubicBezTo>
                      <a:pt x="98042" y="554917"/>
                      <a:pt x="0" y="456875"/>
                      <a:pt x="0" y="335934"/>
                    </a:cubicBezTo>
                    <a:lnTo>
                      <a:pt x="0" y="218983"/>
                    </a:lnTo>
                    <a:cubicBezTo>
                      <a:pt x="0" y="98042"/>
                      <a:pt x="98042" y="0"/>
                      <a:pt x="218983" y="0"/>
                    </a:cubicBezTo>
                    <a:close/>
                  </a:path>
                </a:pathLst>
              </a:custGeom>
              <a:solidFill>
                <a:srgbClr val="8CE0FF"/>
              </a:solidFill>
            </p:spPr>
            <p:txBody>
              <a:bodyPr/>
              <a:lstStyle/>
              <a:p>
                <a:endParaRPr lang="en-AU"/>
              </a:p>
            </p:txBody>
          </p:sp>
          <p:sp>
            <p:nvSpPr>
              <p:cNvPr id="24" name="TextBox 20">
                <a:extLst>
                  <a:ext uri="{FF2B5EF4-FFF2-40B4-BE49-F238E27FC236}">
                    <a16:creationId xmlns:a16="http://schemas.microsoft.com/office/drawing/2014/main" id="{24FD8022-7742-9427-6A4D-C2BB8153802B}"/>
                  </a:ext>
                </a:extLst>
              </p:cNvPr>
              <p:cNvSpPr txBox="1"/>
              <p:nvPr/>
            </p:nvSpPr>
            <p:spPr>
              <a:xfrm>
                <a:off x="0" y="-114300"/>
                <a:ext cx="582823" cy="669217"/>
              </a:xfrm>
              <a:prstGeom prst="rect">
                <a:avLst/>
              </a:prstGeom>
            </p:spPr>
            <p:txBody>
              <a:bodyPr lIns="63281" tIns="63281" rIns="63281" bIns="63281" rtlCol="0" anchor="ctr"/>
              <a:lstStyle/>
              <a:p>
                <a:pPr algn="ctr">
                  <a:lnSpc>
                    <a:spcPts val="7840"/>
                  </a:lnSpc>
                </a:pPr>
                <a:r>
                  <a:rPr lang="en-US" sz="5600">
                    <a:solidFill>
                      <a:srgbClr val="000000"/>
                    </a:solidFill>
                    <a:latin typeface="Canva Student Font"/>
                    <a:ea typeface="Canva Student Font"/>
                    <a:cs typeface="Canva Student Font"/>
                    <a:sym typeface="Canva Student Font"/>
                  </a:rPr>
                  <a:t>30</a:t>
                </a:r>
              </a:p>
            </p:txBody>
          </p:sp>
        </p:grpSp>
        <p:grpSp>
          <p:nvGrpSpPr>
            <p:cNvPr id="11" name="Group 21">
              <a:extLst>
                <a:ext uri="{FF2B5EF4-FFF2-40B4-BE49-F238E27FC236}">
                  <a16:creationId xmlns:a16="http://schemas.microsoft.com/office/drawing/2014/main" id="{BA3F3DBC-58D7-371A-A874-128173B959F2}"/>
                </a:ext>
              </a:extLst>
            </p:cNvPr>
            <p:cNvGrpSpPr/>
            <p:nvPr/>
          </p:nvGrpSpPr>
          <p:grpSpPr>
            <a:xfrm>
              <a:off x="9655751" y="443814"/>
              <a:ext cx="1083189" cy="656760"/>
              <a:chOff x="0" y="-47625"/>
              <a:chExt cx="355800" cy="215729"/>
            </a:xfrm>
          </p:grpSpPr>
          <p:sp>
            <p:nvSpPr>
              <p:cNvPr id="21" name="Freeform 22">
                <a:extLst>
                  <a:ext uri="{FF2B5EF4-FFF2-40B4-BE49-F238E27FC236}">
                    <a16:creationId xmlns:a16="http://schemas.microsoft.com/office/drawing/2014/main" id="{D99C6C2F-1B32-BDF0-0C64-AF87CFAC7052}"/>
                  </a:ext>
                </a:extLst>
              </p:cNvPr>
              <p:cNvSpPr/>
              <p:nvPr/>
            </p:nvSpPr>
            <p:spPr>
              <a:xfrm>
                <a:off x="0" y="0"/>
                <a:ext cx="355800" cy="168104"/>
              </a:xfrm>
              <a:custGeom>
                <a:avLst/>
                <a:gdLst/>
                <a:ahLst/>
                <a:cxnLst/>
                <a:rect l="l" t="t" r="r" b="b"/>
                <a:pathLst>
                  <a:path w="355800" h="168104">
                    <a:moveTo>
                      <a:pt x="0" y="0"/>
                    </a:moveTo>
                    <a:lnTo>
                      <a:pt x="355800" y="0"/>
                    </a:lnTo>
                    <a:lnTo>
                      <a:pt x="355800" y="168104"/>
                    </a:lnTo>
                    <a:lnTo>
                      <a:pt x="0" y="168104"/>
                    </a:lnTo>
                    <a:close/>
                  </a:path>
                </a:pathLst>
              </a:custGeom>
              <a:solidFill>
                <a:srgbClr val="FFDE59"/>
              </a:solidFill>
            </p:spPr>
            <p:txBody>
              <a:bodyPr/>
              <a:lstStyle/>
              <a:p>
                <a:endParaRPr lang="en-AU"/>
              </a:p>
            </p:txBody>
          </p:sp>
          <p:sp>
            <p:nvSpPr>
              <p:cNvPr id="22" name="TextBox 23">
                <a:extLst>
                  <a:ext uri="{FF2B5EF4-FFF2-40B4-BE49-F238E27FC236}">
                    <a16:creationId xmlns:a16="http://schemas.microsoft.com/office/drawing/2014/main" id="{0108A8DD-3DE0-7225-11A3-A74D56B8E72B}"/>
                  </a:ext>
                </a:extLst>
              </p:cNvPr>
              <p:cNvSpPr txBox="1"/>
              <p:nvPr/>
            </p:nvSpPr>
            <p:spPr>
              <a:xfrm>
                <a:off x="0" y="-47625"/>
                <a:ext cx="355800" cy="215729"/>
              </a:xfrm>
              <a:prstGeom prst="rect">
                <a:avLst/>
              </a:prstGeom>
            </p:spPr>
            <p:txBody>
              <a:bodyPr lIns="50800" tIns="50800" rIns="50800" bIns="50800" rtlCol="0" anchor="ctr"/>
              <a:lstStyle/>
              <a:p>
                <a:pPr algn="ctr">
                  <a:lnSpc>
                    <a:spcPts val="2519"/>
                  </a:lnSpc>
                </a:pPr>
                <a:r>
                  <a:rPr lang="en-US" sz="1799">
                    <a:solidFill>
                      <a:srgbClr val="000000"/>
                    </a:solidFill>
                    <a:latin typeface="Arial" panose="020B0604020202020204" pitchFamily="34" charset="0"/>
                    <a:ea typeface="Canva Student Font"/>
                    <a:cs typeface="Arial" panose="020B0604020202020204" pitchFamily="34" charset="0"/>
                    <a:sym typeface="Canva Student Font"/>
                  </a:rPr>
                  <a:t>Factor</a:t>
                </a:r>
              </a:p>
            </p:txBody>
          </p:sp>
        </p:grpSp>
        <p:grpSp>
          <p:nvGrpSpPr>
            <p:cNvPr id="12" name="Group 24">
              <a:extLst>
                <a:ext uri="{FF2B5EF4-FFF2-40B4-BE49-F238E27FC236}">
                  <a16:creationId xmlns:a16="http://schemas.microsoft.com/office/drawing/2014/main" id="{F2818B26-19E8-9767-5744-F649756D9984}"/>
                </a:ext>
              </a:extLst>
            </p:cNvPr>
            <p:cNvGrpSpPr/>
            <p:nvPr/>
          </p:nvGrpSpPr>
          <p:grpSpPr>
            <a:xfrm>
              <a:off x="10738941" y="443814"/>
              <a:ext cx="1177087" cy="656760"/>
              <a:chOff x="0" y="-47625"/>
              <a:chExt cx="386643" cy="215729"/>
            </a:xfrm>
          </p:grpSpPr>
          <p:sp>
            <p:nvSpPr>
              <p:cNvPr id="19" name="Freeform 25">
                <a:extLst>
                  <a:ext uri="{FF2B5EF4-FFF2-40B4-BE49-F238E27FC236}">
                    <a16:creationId xmlns:a16="http://schemas.microsoft.com/office/drawing/2014/main" id="{DDD4F968-45F9-6A95-C1C1-19F963AD9DD0}"/>
                  </a:ext>
                </a:extLst>
              </p:cNvPr>
              <p:cNvSpPr/>
              <p:nvPr/>
            </p:nvSpPr>
            <p:spPr>
              <a:xfrm>
                <a:off x="0" y="0"/>
                <a:ext cx="355800" cy="168104"/>
              </a:xfrm>
              <a:custGeom>
                <a:avLst/>
                <a:gdLst/>
                <a:ahLst/>
                <a:cxnLst/>
                <a:rect l="l" t="t" r="r" b="b"/>
                <a:pathLst>
                  <a:path w="355800" h="168104">
                    <a:moveTo>
                      <a:pt x="0" y="0"/>
                    </a:moveTo>
                    <a:lnTo>
                      <a:pt x="355800" y="0"/>
                    </a:lnTo>
                    <a:lnTo>
                      <a:pt x="355800" y="168104"/>
                    </a:lnTo>
                    <a:lnTo>
                      <a:pt x="0" y="168104"/>
                    </a:lnTo>
                    <a:close/>
                  </a:path>
                </a:pathLst>
              </a:custGeom>
              <a:solidFill>
                <a:srgbClr val="A7C957"/>
              </a:solidFill>
            </p:spPr>
            <p:txBody>
              <a:bodyPr/>
              <a:lstStyle/>
              <a:p>
                <a:endParaRPr lang="en-AU"/>
              </a:p>
            </p:txBody>
          </p:sp>
          <p:sp>
            <p:nvSpPr>
              <p:cNvPr id="20" name="TextBox 26">
                <a:extLst>
                  <a:ext uri="{FF2B5EF4-FFF2-40B4-BE49-F238E27FC236}">
                    <a16:creationId xmlns:a16="http://schemas.microsoft.com/office/drawing/2014/main" id="{C35FBC0A-FA9B-0213-66DA-16E3C06F43AB}"/>
                  </a:ext>
                </a:extLst>
              </p:cNvPr>
              <p:cNvSpPr txBox="1"/>
              <p:nvPr/>
            </p:nvSpPr>
            <p:spPr>
              <a:xfrm>
                <a:off x="0" y="-47625"/>
                <a:ext cx="386643" cy="215729"/>
              </a:xfrm>
              <a:prstGeom prst="rect">
                <a:avLst/>
              </a:prstGeom>
            </p:spPr>
            <p:txBody>
              <a:bodyPr lIns="50800" tIns="50800" rIns="50800" bIns="50800" rtlCol="0" anchor="ctr"/>
              <a:lstStyle/>
              <a:p>
                <a:pPr algn="ctr">
                  <a:lnSpc>
                    <a:spcPts val="2519"/>
                  </a:lnSpc>
                </a:pPr>
                <a:r>
                  <a:rPr lang="en-US" sz="1799">
                    <a:solidFill>
                      <a:srgbClr val="000000"/>
                    </a:solidFill>
                    <a:latin typeface="Arial" panose="020B0604020202020204" pitchFamily="34" charset="0"/>
                    <a:ea typeface="Canva Student Font"/>
                    <a:cs typeface="Arial" panose="020B0604020202020204" pitchFamily="34" charset="0"/>
                    <a:sym typeface="Canva Student Font"/>
                  </a:rPr>
                  <a:t>Multiple</a:t>
                </a:r>
              </a:p>
            </p:txBody>
          </p:sp>
        </p:grpSp>
        <p:grpSp>
          <p:nvGrpSpPr>
            <p:cNvPr id="13" name="Group 27">
              <a:extLst>
                <a:ext uri="{FF2B5EF4-FFF2-40B4-BE49-F238E27FC236}">
                  <a16:creationId xmlns:a16="http://schemas.microsoft.com/office/drawing/2014/main" id="{B60867D2-9DF6-606C-C2B7-1038A947349D}"/>
                </a:ext>
              </a:extLst>
            </p:cNvPr>
            <p:cNvGrpSpPr/>
            <p:nvPr/>
          </p:nvGrpSpPr>
          <p:grpSpPr>
            <a:xfrm>
              <a:off x="0" y="-347972"/>
              <a:ext cx="1774331" cy="2037348"/>
              <a:chOff x="0" y="-114300"/>
              <a:chExt cx="582823" cy="669217"/>
            </a:xfrm>
          </p:grpSpPr>
          <p:sp>
            <p:nvSpPr>
              <p:cNvPr id="17" name="Freeform 28">
                <a:extLst>
                  <a:ext uri="{FF2B5EF4-FFF2-40B4-BE49-F238E27FC236}">
                    <a16:creationId xmlns:a16="http://schemas.microsoft.com/office/drawing/2014/main" id="{FEBFAB2A-B171-598E-894C-008950DE0E32}"/>
                  </a:ext>
                </a:extLst>
              </p:cNvPr>
              <p:cNvSpPr/>
              <p:nvPr/>
            </p:nvSpPr>
            <p:spPr>
              <a:xfrm>
                <a:off x="0" y="0"/>
                <a:ext cx="582823" cy="554917"/>
              </a:xfrm>
              <a:custGeom>
                <a:avLst/>
                <a:gdLst/>
                <a:ahLst/>
                <a:cxnLst/>
                <a:rect l="l" t="t" r="r" b="b"/>
                <a:pathLst>
                  <a:path w="582823" h="554917">
                    <a:moveTo>
                      <a:pt x="218983" y="0"/>
                    </a:moveTo>
                    <a:lnTo>
                      <a:pt x="363840" y="0"/>
                    </a:lnTo>
                    <a:cubicBezTo>
                      <a:pt x="421918" y="0"/>
                      <a:pt x="477617" y="23071"/>
                      <a:pt x="518684" y="64139"/>
                    </a:cubicBezTo>
                    <a:cubicBezTo>
                      <a:pt x="559751" y="105206"/>
                      <a:pt x="582823" y="160905"/>
                      <a:pt x="582823" y="218983"/>
                    </a:cubicBezTo>
                    <a:lnTo>
                      <a:pt x="582823" y="335934"/>
                    </a:lnTo>
                    <a:cubicBezTo>
                      <a:pt x="582823" y="456875"/>
                      <a:pt x="484781" y="554917"/>
                      <a:pt x="363840" y="554917"/>
                    </a:cubicBezTo>
                    <a:lnTo>
                      <a:pt x="218983" y="554917"/>
                    </a:lnTo>
                    <a:cubicBezTo>
                      <a:pt x="98042" y="554917"/>
                      <a:pt x="0" y="456875"/>
                      <a:pt x="0" y="335934"/>
                    </a:cubicBezTo>
                    <a:lnTo>
                      <a:pt x="0" y="218983"/>
                    </a:lnTo>
                    <a:cubicBezTo>
                      <a:pt x="0" y="98042"/>
                      <a:pt x="98042" y="0"/>
                      <a:pt x="218983" y="0"/>
                    </a:cubicBezTo>
                    <a:close/>
                  </a:path>
                </a:pathLst>
              </a:custGeom>
              <a:solidFill>
                <a:srgbClr val="8CE0FF"/>
              </a:solidFill>
            </p:spPr>
            <p:txBody>
              <a:bodyPr/>
              <a:lstStyle/>
              <a:p>
                <a:endParaRPr lang="en-AU"/>
              </a:p>
            </p:txBody>
          </p:sp>
          <p:sp>
            <p:nvSpPr>
              <p:cNvPr id="18" name="TextBox 29">
                <a:extLst>
                  <a:ext uri="{FF2B5EF4-FFF2-40B4-BE49-F238E27FC236}">
                    <a16:creationId xmlns:a16="http://schemas.microsoft.com/office/drawing/2014/main" id="{0FC72A5F-FBBC-9CFA-16C8-3336445361CC}"/>
                  </a:ext>
                </a:extLst>
              </p:cNvPr>
              <p:cNvSpPr txBox="1"/>
              <p:nvPr/>
            </p:nvSpPr>
            <p:spPr>
              <a:xfrm>
                <a:off x="0" y="-114300"/>
                <a:ext cx="582823" cy="669217"/>
              </a:xfrm>
              <a:prstGeom prst="rect">
                <a:avLst/>
              </a:prstGeom>
            </p:spPr>
            <p:txBody>
              <a:bodyPr lIns="63281" tIns="63281" rIns="63281" bIns="63281" rtlCol="0" anchor="ctr"/>
              <a:lstStyle/>
              <a:p>
                <a:pPr algn="ctr">
                  <a:lnSpc>
                    <a:spcPts val="7840"/>
                  </a:lnSpc>
                </a:pPr>
                <a:r>
                  <a:rPr lang="en-US" sz="5600">
                    <a:solidFill>
                      <a:srgbClr val="000000"/>
                    </a:solidFill>
                    <a:latin typeface="Canva Student Font"/>
                    <a:ea typeface="Canva Student Font"/>
                    <a:cs typeface="Canva Student Font"/>
                    <a:sym typeface="Canva Student Font"/>
                  </a:rPr>
                  <a:t>3</a:t>
                </a:r>
              </a:p>
            </p:txBody>
          </p:sp>
        </p:grpSp>
        <p:grpSp>
          <p:nvGrpSpPr>
            <p:cNvPr id="14" name="Group 30">
              <a:extLst>
                <a:ext uri="{FF2B5EF4-FFF2-40B4-BE49-F238E27FC236}">
                  <a16:creationId xmlns:a16="http://schemas.microsoft.com/office/drawing/2014/main" id="{7482731B-86CE-41E9-B936-C7F834AA3FDE}"/>
                </a:ext>
              </a:extLst>
            </p:cNvPr>
            <p:cNvGrpSpPr/>
            <p:nvPr/>
          </p:nvGrpSpPr>
          <p:grpSpPr>
            <a:xfrm>
              <a:off x="11817626" y="-347972"/>
              <a:ext cx="1774331" cy="2037348"/>
              <a:chOff x="0" y="-114300"/>
              <a:chExt cx="582823" cy="669217"/>
            </a:xfrm>
          </p:grpSpPr>
          <p:sp>
            <p:nvSpPr>
              <p:cNvPr id="15" name="Freeform 31">
                <a:extLst>
                  <a:ext uri="{FF2B5EF4-FFF2-40B4-BE49-F238E27FC236}">
                    <a16:creationId xmlns:a16="http://schemas.microsoft.com/office/drawing/2014/main" id="{6B921E7D-6A98-2D5E-856F-6737D2F10936}"/>
                  </a:ext>
                </a:extLst>
              </p:cNvPr>
              <p:cNvSpPr/>
              <p:nvPr/>
            </p:nvSpPr>
            <p:spPr>
              <a:xfrm>
                <a:off x="0" y="0"/>
                <a:ext cx="582823" cy="554917"/>
              </a:xfrm>
              <a:custGeom>
                <a:avLst/>
                <a:gdLst/>
                <a:ahLst/>
                <a:cxnLst/>
                <a:rect l="l" t="t" r="r" b="b"/>
                <a:pathLst>
                  <a:path w="582823" h="554917">
                    <a:moveTo>
                      <a:pt x="218983" y="0"/>
                    </a:moveTo>
                    <a:lnTo>
                      <a:pt x="363840" y="0"/>
                    </a:lnTo>
                    <a:cubicBezTo>
                      <a:pt x="421918" y="0"/>
                      <a:pt x="477617" y="23071"/>
                      <a:pt x="518684" y="64139"/>
                    </a:cubicBezTo>
                    <a:cubicBezTo>
                      <a:pt x="559751" y="105206"/>
                      <a:pt x="582823" y="160905"/>
                      <a:pt x="582823" y="218983"/>
                    </a:cubicBezTo>
                    <a:lnTo>
                      <a:pt x="582823" y="335934"/>
                    </a:lnTo>
                    <a:cubicBezTo>
                      <a:pt x="582823" y="456875"/>
                      <a:pt x="484781" y="554917"/>
                      <a:pt x="363840" y="554917"/>
                    </a:cubicBezTo>
                    <a:lnTo>
                      <a:pt x="218983" y="554917"/>
                    </a:lnTo>
                    <a:cubicBezTo>
                      <a:pt x="98042" y="554917"/>
                      <a:pt x="0" y="456875"/>
                      <a:pt x="0" y="335934"/>
                    </a:cubicBezTo>
                    <a:lnTo>
                      <a:pt x="0" y="218983"/>
                    </a:lnTo>
                    <a:cubicBezTo>
                      <a:pt x="0" y="98042"/>
                      <a:pt x="98042" y="0"/>
                      <a:pt x="218983" y="0"/>
                    </a:cubicBezTo>
                    <a:close/>
                  </a:path>
                </a:pathLst>
              </a:custGeom>
              <a:solidFill>
                <a:srgbClr val="8CE0FF"/>
              </a:solidFill>
            </p:spPr>
            <p:txBody>
              <a:bodyPr/>
              <a:lstStyle/>
              <a:p>
                <a:endParaRPr lang="en-AU"/>
              </a:p>
            </p:txBody>
          </p:sp>
          <p:sp>
            <p:nvSpPr>
              <p:cNvPr id="16" name="TextBox 32">
                <a:extLst>
                  <a:ext uri="{FF2B5EF4-FFF2-40B4-BE49-F238E27FC236}">
                    <a16:creationId xmlns:a16="http://schemas.microsoft.com/office/drawing/2014/main" id="{C404E35C-230A-0024-4BD1-4B288D81A29E}"/>
                  </a:ext>
                </a:extLst>
              </p:cNvPr>
              <p:cNvSpPr txBox="1"/>
              <p:nvPr/>
            </p:nvSpPr>
            <p:spPr>
              <a:xfrm>
                <a:off x="0" y="-114300"/>
                <a:ext cx="582823" cy="669217"/>
              </a:xfrm>
              <a:prstGeom prst="rect">
                <a:avLst/>
              </a:prstGeom>
            </p:spPr>
            <p:txBody>
              <a:bodyPr lIns="63281" tIns="63281" rIns="63281" bIns="63281" rtlCol="0" anchor="ctr"/>
              <a:lstStyle/>
              <a:p>
                <a:pPr algn="ctr">
                  <a:lnSpc>
                    <a:spcPts val="7840"/>
                  </a:lnSpc>
                </a:pPr>
                <a:r>
                  <a:rPr lang="en-US" sz="5600">
                    <a:solidFill>
                      <a:srgbClr val="000000"/>
                    </a:solidFill>
                    <a:latin typeface="Canva Student Font"/>
                    <a:ea typeface="Canva Student Font"/>
                    <a:cs typeface="Canva Student Font"/>
                    <a:sym typeface="Canva Student Font"/>
                  </a:rPr>
                  <a:t>90</a:t>
                </a:r>
              </a:p>
            </p:txBody>
          </p:sp>
        </p:grpSp>
      </p:grpSp>
      <p:sp>
        <p:nvSpPr>
          <p:cNvPr id="36" name="TextBox 35">
            <a:extLst>
              <a:ext uri="{FF2B5EF4-FFF2-40B4-BE49-F238E27FC236}">
                <a16:creationId xmlns:a16="http://schemas.microsoft.com/office/drawing/2014/main" id="{E06F065D-AC58-EE04-7077-11BD0C580D92}"/>
              </a:ext>
            </a:extLst>
          </p:cNvPr>
          <p:cNvSpPr txBox="1"/>
          <p:nvPr/>
        </p:nvSpPr>
        <p:spPr>
          <a:xfrm>
            <a:off x="766439" y="3429000"/>
            <a:ext cx="9821200" cy="2793842"/>
          </a:xfrm>
          <a:prstGeom prst="rect">
            <a:avLst/>
          </a:prstGeom>
          <a:noFill/>
        </p:spPr>
        <p:txBody>
          <a:bodyPr wrap="square">
            <a:spAutoFit/>
          </a:bodyPr>
          <a:lstStyle/>
          <a:p>
            <a:pPr marL="285750" indent="-285750" algn="l" rtl="0" fontAlgn="base">
              <a:lnSpc>
                <a:spcPct val="150000"/>
              </a:lnSpc>
              <a:buFont typeface="Arial" panose="020B0604020202020204" pitchFamily="34" charset="0"/>
              <a:buChar char="•"/>
            </a:pPr>
            <a:r>
              <a:rPr lang="en-AU" sz="2400" b="0" i="0">
                <a:solidFill>
                  <a:srgbClr val="000000"/>
                </a:solidFill>
                <a:effectLst/>
                <a:highlight>
                  <a:srgbClr val="FFFFFF"/>
                </a:highlight>
                <a:latin typeface="Arial" panose="020B0604020202020204" pitchFamily="34" charset="0"/>
              </a:rPr>
              <a:t>Can you see how this works? </a:t>
            </a:r>
          </a:p>
          <a:p>
            <a:pPr marL="285750" indent="-285750" algn="l" rtl="0" fontAlgn="base">
              <a:lnSpc>
                <a:spcPct val="150000"/>
              </a:lnSpc>
              <a:buFont typeface="Arial" panose="020B0604020202020204" pitchFamily="34" charset="0"/>
              <a:buChar char="•"/>
            </a:pPr>
            <a:r>
              <a:rPr lang="en-AU" sz="2400" b="0" i="0">
                <a:solidFill>
                  <a:srgbClr val="000000"/>
                </a:solidFill>
                <a:effectLst/>
                <a:highlight>
                  <a:srgbClr val="FFFFFF"/>
                </a:highlight>
                <a:latin typeface="Arial" panose="020B0604020202020204" pitchFamily="34" charset="0"/>
              </a:rPr>
              <a:t>What does the word </a:t>
            </a:r>
            <a:r>
              <a:rPr lang="en-AU" sz="2400" b="0" i="1">
                <a:solidFill>
                  <a:srgbClr val="000000"/>
                </a:solidFill>
                <a:effectLst/>
                <a:highlight>
                  <a:srgbClr val="FFFFFF"/>
                </a:highlight>
                <a:latin typeface="Arial" panose="020B0604020202020204" pitchFamily="34" charset="0"/>
              </a:rPr>
              <a:t>factor</a:t>
            </a:r>
            <a:r>
              <a:rPr lang="en-AU" sz="2400" b="0" i="0">
                <a:solidFill>
                  <a:srgbClr val="000000"/>
                </a:solidFill>
                <a:effectLst/>
                <a:highlight>
                  <a:srgbClr val="FFFFFF"/>
                </a:highlight>
                <a:latin typeface="Arial" panose="020B0604020202020204" pitchFamily="34" charset="0"/>
              </a:rPr>
              <a:t> mean? </a:t>
            </a:r>
          </a:p>
          <a:p>
            <a:pPr marL="285750" indent="-285750" algn="l" rtl="0" fontAlgn="base">
              <a:lnSpc>
                <a:spcPct val="150000"/>
              </a:lnSpc>
              <a:buFont typeface="Arial" panose="020B0604020202020204" pitchFamily="34" charset="0"/>
              <a:buChar char="•"/>
            </a:pPr>
            <a:r>
              <a:rPr lang="en-AU" sz="2400" b="0" i="0">
                <a:solidFill>
                  <a:srgbClr val="000000"/>
                </a:solidFill>
                <a:effectLst/>
                <a:highlight>
                  <a:srgbClr val="FFFFFF"/>
                </a:highlight>
                <a:latin typeface="Arial" panose="020B0604020202020204" pitchFamily="34" charset="0"/>
              </a:rPr>
              <a:t>What does the word </a:t>
            </a:r>
            <a:r>
              <a:rPr lang="en-AU" sz="2400" b="0" i="1">
                <a:solidFill>
                  <a:srgbClr val="000000"/>
                </a:solidFill>
                <a:effectLst/>
                <a:highlight>
                  <a:srgbClr val="FFFFFF"/>
                </a:highlight>
                <a:latin typeface="Arial" panose="020B0604020202020204" pitchFamily="34" charset="0"/>
              </a:rPr>
              <a:t>multiple</a:t>
            </a:r>
            <a:r>
              <a:rPr lang="en-AU" sz="2400" b="0" i="0">
                <a:solidFill>
                  <a:srgbClr val="000000"/>
                </a:solidFill>
                <a:effectLst/>
                <a:highlight>
                  <a:srgbClr val="FFFFFF"/>
                </a:highlight>
                <a:latin typeface="Arial" panose="020B0604020202020204" pitchFamily="34" charset="0"/>
              </a:rPr>
              <a:t> mean? </a:t>
            </a:r>
          </a:p>
          <a:p>
            <a:pPr marL="285750" indent="-285750" algn="l" rtl="0" fontAlgn="base">
              <a:lnSpc>
                <a:spcPct val="150000"/>
              </a:lnSpc>
              <a:buFont typeface="Arial" panose="020B0604020202020204" pitchFamily="34" charset="0"/>
              <a:buChar char="•"/>
            </a:pPr>
            <a:r>
              <a:rPr lang="en-AU" sz="2400" b="0" i="0">
                <a:solidFill>
                  <a:srgbClr val="000000"/>
                </a:solidFill>
                <a:effectLst/>
                <a:highlight>
                  <a:srgbClr val="FFFFFF"/>
                </a:highlight>
                <a:latin typeface="Arial" panose="020B0604020202020204" pitchFamily="34" charset="0"/>
              </a:rPr>
              <a:t>Can you explain the connection between the numbers in the chain? </a:t>
            </a:r>
          </a:p>
          <a:p>
            <a:pPr marL="285750" indent="-285750" algn="l" rtl="0" fontAlgn="base">
              <a:lnSpc>
                <a:spcPct val="150000"/>
              </a:lnSpc>
              <a:buFont typeface="Arial" panose="020B0604020202020204" pitchFamily="34" charset="0"/>
              <a:buChar char="•"/>
            </a:pPr>
            <a:r>
              <a:rPr lang="en-AU" sz="2400" b="0" i="0">
                <a:solidFill>
                  <a:srgbClr val="000000"/>
                </a:solidFill>
                <a:effectLst/>
                <a:highlight>
                  <a:srgbClr val="FFFFFF"/>
                </a:highlight>
                <a:latin typeface="Arial" panose="020B0604020202020204" pitchFamily="34" charset="0"/>
              </a:rPr>
              <a:t>Are there any numbers that could change to still make it a chain? </a:t>
            </a:r>
          </a:p>
        </p:txBody>
      </p:sp>
      <p:pic>
        <p:nvPicPr>
          <p:cNvPr id="37" name="Picture 36" descr="image of a head with cogs turning inside">
            <a:extLst>
              <a:ext uri="{FF2B5EF4-FFF2-40B4-BE49-F238E27FC236}">
                <a16:creationId xmlns:a16="http://schemas.microsoft.com/office/drawing/2014/main" id="{A8A9B36F-AE3F-071C-A58E-9514E08F1D5A}"/>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4261653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dirty="0"/>
              <a:t>Multiple choice </a:t>
            </a:r>
            <a:r>
              <a:rPr lang="en-US" dirty="0">
                <a:solidFill>
                  <a:schemeClr val="bg1"/>
                </a:solidFill>
              </a:rPr>
              <a:t>(3)</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a:xfrm>
            <a:off x="9371920" y="3987103"/>
            <a:ext cx="2226583" cy="1312255"/>
          </a:xfrm>
        </p:spPr>
        <p:txBody>
          <a:bodyPr/>
          <a:lstStyle/>
          <a:p>
            <a:pPr algn="ctr"/>
            <a:r>
              <a:rPr lang="en-AU" sz="3600">
                <a:latin typeface="Arial"/>
                <a:cs typeface="Arial"/>
              </a:rPr>
              <a:t> </a:t>
            </a:r>
            <a:endParaRPr lang="en-AU" sz="3600"/>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360000" y="1571992"/>
            <a:ext cx="11243037" cy="893226"/>
          </a:xfrm>
        </p:spPr>
        <p:txBody>
          <a:bodyPr vert="horz" lIns="0" tIns="0" rIns="0" bIns="0" rtlCol="0" anchor="t">
            <a:noAutofit/>
          </a:bodyPr>
          <a:lstStyle/>
          <a:p>
            <a:pPr algn="ctr"/>
            <a:r>
              <a:rPr lang="en-US" sz="4000">
                <a:latin typeface="Arial"/>
                <a:cs typeface="Arial"/>
              </a:rPr>
              <a:t>0.560 is the same as</a:t>
            </a:r>
            <a:endParaRPr lang="en-US" sz="4000"/>
          </a:p>
        </p:txBody>
      </p:sp>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773563952"/>
              </p:ext>
            </p:extLst>
          </p:nvPr>
        </p:nvGraphicFramePr>
        <p:xfrm>
          <a:off x="360000" y="3429000"/>
          <a:ext cx="11484000" cy="188976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latin typeface="+mn-lt"/>
                          <a:cs typeface="Arial"/>
                        </a:rPr>
                        <a:t>56 hundredths</a:t>
                      </a:r>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560 ten thousandths</a:t>
                      </a:r>
                      <a:endParaRPr lang="en-US"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560 tenths</a:t>
                      </a:r>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latin typeface="+mn-lt"/>
                          <a:cs typeface="Arial"/>
                        </a:rPr>
                        <a:t>56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F31D1F19-3C77-CBD3-78E2-B3C67CA06991}"/>
              </a:ext>
            </a:extLst>
          </p:cNvPr>
          <p:cNvPicPr>
            <a:picLocks noChangeAspect="1"/>
          </p:cNvPicPr>
          <p:nvPr/>
        </p:nvPicPr>
        <p:blipFill>
          <a:blip r:embed="rId3"/>
          <a:stretch>
            <a:fillRect/>
          </a:stretch>
        </p:blipFill>
        <p:spPr>
          <a:xfrm>
            <a:off x="10639184" y="43303"/>
            <a:ext cx="1334510" cy="1305812"/>
          </a:xfrm>
          <a:prstGeom prst="rect">
            <a:avLst/>
          </a:prstGeom>
        </p:spPr>
      </p:pic>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(17)</a:t>
            </a:r>
          </a:p>
        </p:txBody>
      </p:sp>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1543049" y="1539872"/>
            <a:ext cx="9105901" cy="3778256"/>
          </a:xfrm>
        </p:spPr>
        <p:txBody>
          <a:bodyPr/>
          <a:lstStyle/>
          <a:p>
            <a:pPr algn="ctr"/>
            <a:r>
              <a:rPr lang="en-US" sz="4400">
                <a:latin typeface="Arial"/>
                <a:cs typeface="Arial"/>
              </a:rPr>
              <a:t>A rectangular classroom has an area of 288 square metres. The width of the room is 12 metres. What is the length of the classroom?</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B099BAB-328B-59D1-278A-FFBF494FA8C0}"/>
              </a:ext>
            </a:extLst>
          </p:cNvPr>
          <p:cNvPicPr>
            <a:picLocks noChangeAspect="1"/>
          </p:cNvPicPr>
          <p:nvPr/>
        </p:nvPicPr>
        <p:blipFill>
          <a:blip r:embed="rId3"/>
          <a:stretch>
            <a:fillRect/>
          </a:stretch>
        </p:blipFill>
        <p:spPr>
          <a:xfrm>
            <a:off x="11124000" y="162000"/>
            <a:ext cx="915500" cy="915500"/>
          </a:xfrm>
          <a:prstGeom prst="rect">
            <a:avLst/>
          </a:prstGeom>
        </p:spPr>
      </p:pic>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(18)</a:t>
            </a:r>
          </a:p>
        </p:txBody>
      </p:sp>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668144" y="2061717"/>
            <a:ext cx="10626750" cy="3632255"/>
          </a:xfrm>
        </p:spPr>
        <p:txBody>
          <a:bodyPr/>
          <a:lstStyle/>
          <a:p>
            <a:pPr algn="ctr"/>
            <a:r>
              <a:rPr lang="en-US" sz="4400">
                <a:latin typeface="Arial"/>
                <a:cs typeface="Arial"/>
              </a:rPr>
              <a:t>Using a </a:t>
            </a:r>
            <a:r>
              <a:rPr lang="en-US" sz="4400" b="1">
                <a:latin typeface="Arial"/>
                <a:cs typeface="Arial"/>
              </a:rPr>
              <a:t>bar model</a:t>
            </a:r>
            <a:r>
              <a:rPr lang="en-US" sz="4400">
                <a:latin typeface="Arial"/>
                <a:cs typeface="Arial"/>
              </a:rPr>
              <a:t>, solve</a:t>
            </a:r>
            <a:endParaRPr lang="en-US" sz="4400"/>
          </a:p>
          <a:p>
            <a:pPr algn="ctr"/>
            <a:r>
              <a:rPr lang="en-US" sz="4400">
                <a:latin typeface="Arial Narrow"/>
                <a:cs typeface="Arial"/>
              </a:rPr>
              <a:t>1 -</a:t>
            </a:r>
            <a:r>
              <a:rPr lang="en-US" sz="4400">
                <a:latin typeface="Arial"/>
                <a:cs typeface="Arial"/>
              </a:rPr>
              <a:t> </a:t>
            </a:r>
            <a:endParaRPr lang="en-US" sz="4400"/>
          </a:p>
          <a:p>
            <a:endParaRPr lang="en-US">
              <a:latin typeface="Arial"/>
              <a:cs typeface="Aria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D04C057-0866-DC38-4F86-7A97A8F018A5}"/>
                  </a:ext>
                </a:extLst>
              </p:cNvPr>
              <p:cNvSpPr txBox="1"/>
              <p:nvPr/>
            </p:nvSpPr>
            <p:spPr>
              <a:xfrm>
                <a:off x="6274890" y="3429000"/>
                <a:ext cx="419098" cy="1070038"/>
              </a:xfrm>
              <a:prstGeom prst="rect">
                <a:avLst/>
              </a:prstGeom>
              <a:noFill/>
            </p:spPr>
            <p:txBody>
              <a:bodyPr wrap="square" lIns="0" tIns="0" rIns="0" bIns="0" rtlCol="0">
                <a:noAutofit/>
              </a:bodyPr>
              <a:lstStyle/>
              <a:p>
                <a:pPr algn="ctr"/>
                <a14:m>
                  <m:oMath xmlns:m="http://schemas.openxmlformats.org/officeDocument/2006/math">
                    <m:f>
                      <m:fPr>
                        <m:ctrlPr>
                          <a:rPr lang="en-AU" sz="3200" b="1" i="1" smtClean="0">
                            <a:effectLst/>
                            <a:latin typeface="Cambria Math" panose="02040503050406030204" pitchFamily="18" charset="0"/>
                          </a:rPr>
                        </m:ctrlPr>
                      </m:fPr>
                      <m:num>
                        <m:r>
                          <a:rPr lang="en-AU" sz="3200" b="1" i="1" smtClean="0">
                            <a:effectLst/>
                            <a:latin typeface="Cambria Math" panose="02040503050406030204" pitchFamily="18" charset="0"/>
                            <a:ea typeface="Calibri" panose="020F0502020204030204" pitchFamily="34" charset="0"/>
                            <a:cs typeface="Arial" panose="020B0604020202020204" pitchFamily="34" charset="0"/>
                          </a:rPr>
                          <m:t>𝟑</m:t>
                        </m:r>
                      </m:num>
                      <m:den>
                        <m:r>
                          <a:rPr lang="en-AU" sz="3200" b="1" i="1" smtClean="0">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3200" b="1"/>
                  <a:t> </a:t>
                </a:r>
              </a:p>
            </p:txBody>
          </p:sp>
        </mc:Choice>
        <mc:Fallback xmlns="">
          <p:sp>
            <p:nvSpPr>
              <p:cNvPr id="4" name="TextBox 3">
                <a:extLst>
                  <a:ext uri="{FF2B5EF4-FFF2-40B4-BE49-F238E27FC236}">
                    <a16:creationId xmlns:a16="http://schemas.microsoft.com/office/drawing/2014/main" id="{DD04C057-0866-DC38-4F86-7A97A8F018A5}"/>
                  </a:ext>
                </a:extLst>
              </p:cNvPr>
              <p:cNvSpPr txBox="1">
                <a:spLocks noRot="1" noChangeAspect="1" noMove="1" noResize="1" noEditPoints="1" noAdjustHandles="1" noChangeArrowheads="1" noChangeShapeType="1" noTextEdit="1"/>
              </p:cNvSpPr>
              <p:nvPr/>
            </p:nvSpPr>
            <p:spPr>
              <a:xfrm>
                <a:off x="6274890" y="3429000"/>
                <a:ext cx="419098" cy="1070038"/>
              </a:xfrm>
              <a:prstGeom prst="rect">
                <a:avLst/>
              </a:prstGeom>
              <a:blipFill>
                <a:blip r:embed="rId3"/>
                <a:stretch>
                  <a:fillRect/>
                </a:stretch>
              </a:blipFill>
            </p:spPr>
            <p:txBody>
              <a:bodyPr/>
              <a:lstStyle/>
              <a:p>
                <a:r>
                  <a:rPr lang="en-US">
                    <a:noFill/>
                  </a:rPr>
                  <a:t> </a:t>
                </a:r>
              </a:p>
            </p:txBody>
          </p:sp>
        </mc:Fallback>
      </mc:AlternateContent>
      <p:pic>
        <p:nvPicPr>
          <p:cNvPr id="5" name="Picture 4" descr="image of a clipboard with a pencil recording short answer responses">
            <a:extLst>
              <a:ext uri="{FF2B5EF4-FFF2-40B4-BE49-F238E27FC236}">
                <a16:creationId xmlns:a16="http://schemas.microsoft.com/office/drawing/2014/main" id="{FE345378-20FF-A172-6D0E-53FEDBC94114}"/>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(19)</a:t>
            </a:r>
          </a:p>
        </p:txBody>
      </p:sp>
      <p:sp>
        <p:nvSpPr>
          <p:cNvPr id="11" name="Picture Placeholder 10">
            <a:extLst>
              <a:ext uri="{FF2B5EF4-FFF2-40B4-BE49-F238E27FC236}">
                <a16:creationId xmlns:a16="http://schemas.microsoft.com/office/drawing/2014/main" id="{9746C590-5EAE-E428-0D12-C870AC29AF8E}"/>
              </a:ext>
            </a:extLst>
          </p:cNvPr>
          <p:cNvSpPr>
            <a:spLocks noGrp="1"/>
          </p:cNvSpPr>
          <p:nvPr>
            <p:ph type="pic" sz="quarter" idx="21"/>
          </p:nvPr>
        </p:nvSpPr>
        <p:spPr>
          <a:xfrm>
            <a:off x="1909762" y="1894673"/>
            <a:ext cx="8372475" cy="3632255"/>
          </a:xfrm>
        </p:spPr>
        <p:txBody>
          <a:bodyPr/>
          <a:lstStyle/>
          <a:p>
            <a:pPr algn="ctr"/>
            <a:r>
              <a:rPr lang="en-US" sz="4400">
                <a:latin typeface="Arial"/>
                <a:cs typeface="Arial"/>
              </a:rPr>
              <a:t>Use </a:t>
            </a:r>
            <a:r>
              <a:rPr lang="en-US" sz="4400" b="1">
                <a:latin typeface="Arial"/>
                <a:cs typeface="Arial"/>
              </a:rPr>
              <a:t>addition for subtraction strategy </a:t>
            </a:r>
            <a:r>
              <a:rPr lang="en-US" sz="4400">
                <a:latin typeface="Arial"/>
                <a:cs typeface="Arial"/>
              </a:rPr>
              <a:t>to solve</a:t>
            </a:r>
            <a:endParaRPr lang="en-US"/>
          </a:p>
          <a:p>
            <a:pPr algn="ctr"/>
            <a:r>
              <a:rPr lang="en-US" sz="4400">
                <a:latin typeface="Arial"/>
                <a:cs typeface="Arial"/>
              </a:rPr>
              <a:t>5875 - 2655</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DFD27BE-68F7-D289-2C28-ACC03945378F}"/>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(20)</a:t>
            </a:r>
          </a:p>
        </p:txBody>
      </p:sp>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273160" y="2675379"/>
            <a:ext cx="11210840" cy="1507241"/>
          </a:xfrm>
        </p:spPr>
        <p:txBody>
          <a:bodyPr/>
          <a:lstStyle/>
          <a:p>
            <a:pPr algn="ctr"/>
            <a:r>
              <a:rPr lang="en-US" sz="4400">
                <a:latin typeface="Arial"/>
                <a:cs typeface="Arial"/>
              </a:rPr>
              <a:t>What is 4:00pm in 24-hour time?</a:t>
            </a:r>
            <a:endParaRPr lang="en-US"/>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9697BB4-4FB9-C885-399C-CADFAFEEE3D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5 – decimals on a number line</a:t>
            </a:r>
          </a:p>
        </p:txBody>
      </p:sp>
      <p:cxnSp>
        <p:nvCxnSpPr>
          <p:cNvPr id="6" name="Straight Arrow Connector 5" descr="blank number line with arrows on each end">
            <a:extLst>
              <a:ext uri="{FF2B5EF4-FFF2-40B4-BE49-F238E27FC236}">
                <a16:creationId xmlns:a16="http://schemas.microsoft.com/office/drawing/2014/main" id="{4EE20A0C-D33D-C709-8AB3-8DE2CA734E96}"/>
              </a:ext>
            </a:extLst>
          </p:cNvPr>
          <p:cNvCxnSpPr/>
          <p:nvPr/>
        </p:nvCxnSpPr>
        <p:spPr>
          <a:xfrm>
            <a:off x="1096791" y="2934654"/>
            <a:ext cx="10011905" cy="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7" name="Rectangle 5">
            <a:extLst>
              <a:ext uri="{FF2B5EF4-FFF2-40B4-BE49-F238E27FC236}">
                <a16:creationId xmlns:a16="http://schemas.microsoft.com/office/drawing/2014/main" id="{86B5D8ED-E5D3-3A31-D9A3-E607AB879A3A}"/>
              </a:ext>
            </a:extLst>
          </p:cNvPr>
          <p:cNvSpPr>
            <a:spLocks noChangeArrowheads="1"/>
          </p:cNvSpPr>
          <p:nvPr/>
        </p:nvSpPr>
        <p:spPr bwMode="auto">
          <a:xfrm>
            <a:off x="938508" y="4480465"/>
            <a:ext cx="10961076" cy="1866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ctr" defTabSz="914400" rtl="0" eaLnBrk="0" fontAlgn="base" latinLnBrk="0" hangingPunct="0">
              <a:lnSpc>
                <a:spcPct val="150000"/>
              </a:lnSpc>
              <a:spcBef>
                <a:spcPct val="0"/>
              </a:spcBef>
              <a:spcAft>
                <a:spcPts val="600"/>
              </a:spcAft>
              <a:buClrTx/>
              <a:buSzTx/>
              <a:tabLst/>
            </a:pPr>
            <a:r>
              <a:rPr kumimoji="0" lang="en-AU" altLang="en-US" sz="2800" b="0" i="0" u="none" strike="noStrike" cap="none" normalizeH="0" baseline="0">
                <a:ln>
                  <a:noFill/>
                </a:ln>
                <a:effectLst/>
                <a:latin typeface="Arial"/>
                <a:ea typeface="Calibri"/>
                <a:cs typeface="Arial"/>
              </a:rPr>
              <a:t>Which decimal cards should be placed first to provide a benchmark for other numbers</a:t>
            </a:r>
            <a:r>
              <a:rPr lang="en-AU" altLang="en-US" sz="2800">
                <a:latin typeface="Arial"/>
                <a:ea typeface="Calibri"/>
                <a:cs typeface="Arial"/>
              </a:rPr>
              <a:t>?</a:t>
            </a:r>
            <a:endParaRPr lang="en-US"/>
          </a:p>
          <a:p>
            <a:pPr marL="342900" marR="0" lvl="0" indent="-342900" algn="l" defTabSz="914400" rtl="0" eaLnBrk="0" fontAlgn="base" latinLnBrk="0" hangingPunct="0">
              <a:lnSpc>
                <a:spcPct val="150000"/>
              </a:lnSpc>
              <a:spcBef>
                <a:spcPct val="0"/>
              </a:spcBef>
              <a:spcAft>
                <a:spcPts val="600"/>
              </a:spcAft>
              <a:buClrTx/>
              <a:buSzTx/>
              <a:buFont typeface="Arial" panose="020B0604020202020204" pitchFamily="34" charset="0"/>
              <a:buChar char="•"/>
              <a:tabLst/>
            </a:pPr>
            <a:endParaRPr lang="en-AU" altLang="en-US" sz="2000" b="0" i="0" u="none" strike="noStrike" cap="none" normalizeH="0" baseline="0">
              <a:ln>
                <a:noFill/>
              </a:ln>
              <a:effectLst/>
              <a:ea typeface="Calibri"/>
              <a:cs typeface="Arial"/>
            </a:endParaRPr>
          </a:p>
        </p:txBody>
      </p:sp>
      <p:pic>
        <p:nvPicPr>
          <p:cNvPr id="5" name="Picture 4" descr="image of a head with cogs turning inside">
            <a:extLst>
              <a:ext uri="{FF2B5EF4-FFF2-40B4-BE49-F238E27FC236}">
                <a16:creationId xmlns:a16="http://schemas.microsoft.com/office/drawing/2014/main" id="{BCAF02A7-5A84-CB69-0FAE-1E0108277AAA}"/>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96812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dirty="0"/>
              <a:t>True or false </a:t>
            </a:r>
            <a:r>
              <a:rPr lang="en-US" dirty="0">
                <a:solidFill>
                  <a:schemeClr val="bg1"/>
                </a:solidFill>
              </a:rPr>
              <a:t>(3)</a:t>
            </a:r>
          </a:p>
        </p:txBody>
      </p:sp>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303295" y="1279509"/>
            <a:ext cx="11185528" cy="2128068"/>
          </a:xfrm>
        </p:spPr>
        <p:txBody>
          <a:bodyPr vert="horz" lIns="0" tIns="0" rIns="0" bIns="0" rtlCol="0" anchor="t">
            <a:noAutofit/>
          </a:bodyPr>
          <a:lstStyle/>
          <a:p>
            <a:pPr algn="ctr"/>
            <a:r>
              <a:rPr lang="en-US" sz="4400">
                <a:latin typeface="Arial"/>
                <a:cs typeface="Arial"/>
              </a:rPr>
              <a:t>0.678 is greater than 0.8 because it has more digits.</a:t>
            </a:r>
            <a:endParaRPr lang="en-US"/>
          </a:p>
        </p:txBody>
      </p:sp>
      <p:sp>
        <p:nvSpPr>
          <p:cNvPr id="4" name="Text Placeholder 11">
            <a:extLst>
              <a:ext uri="{FF2B5EF4-FFF2-40B4-BE49-F238E27FC236}">
                <a16:creationId xmlns:a16="http://schemas.microsoft.com/office/drawing/2014/main" id="{D2DDFA34-F5E2-0F60-D99B-A9A9DBAF8E4D}"/>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0073" y="5098135"/>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Communicate your reasoning. </a:t>
            </a:r>
            <a:endParaRPr lang="en-US" sz="4400"/>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2172982458"/>
              </p:ext>
            </p:extLst>
          </p:nvPr>
        </p:nvGraphicFramePr>
        <p:xfrm>
          <a:off x="2442981" y="388201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55D61279-F839-6A02-5B10-40DD79748FE7}"/>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(21)</a:t>
            </a:r>
          </a:p>
        </p:txBody>
      </p:sp>
      <p:sp>
        <p:nvSpPr>
          <p:cNvPr id="11" name="Picture Placeholder 10">
            <a:extLst>
              <a:ext uri="{FF2B5EF4-FFF2-40B4-BE49-F238E27FC236}">
                <a16:creationId xmlns:a16="http://schemas.microsoft.com/office/drawing/2014/main" id="{6AEDAC5B-7D79-7FBF-9542-5724B621995A}"/>
              </a:ext>
            </a:extLst>
          </p:cNvPr>
          <p:cNvSpPr>
            <a:spLocks noGrp="1"/>
          </p:cNvSpPr>
          <p:nvPr>
            <p:ph type="pic" sz="quarter" idx="21"/>
          </p:nvPr>
        </p:nvSpPr>
        <p:spPr>
          <a:xfrm>
            <a:off x="360000" y="1556533"/>
            <a:ext cx="11189376" cy="4168875"/>
          </a:xfrm>
        </p:spPr>
        <p:txBody>
          <a:bodyPr/>
          <a:lstStyle/>
          <a:p>
            <a:pPr algn="ctr"/>
            <a:r>
              <a:rPr lang="en-US" sz="4400">
                <a:latin typeface="Arial"/>
                <a:cs typeface="Arial"/>
              </a:rPr>
              <a:t> A </a:t>
            </a:r>
            <a:r>
              <a:rPr lang="en-US" sz="4400" b="1">
                <a:latin typeface="Arial"/>
                <a:cs typeface="Arial"/>
              </a:rPr>
              <a:t>rectangular prism</a:t>
            </a:r>
            <a:r>
              <a:rPr lang="en-US" sz="4400">
                <a:latin typeface="Arial"/>
                <a:cs typeface="Arial"/>
              </a:rPr>
              <a:t> has a volume of 64 cubic </a:t>
            </a:r>
            <a:r>
              <a:rPr lang="en-US" sz="4400" dirty="0">
                <a:latin typeface="Arial"/>
                <a:cs typeface="Arial"/>
              </a:rPr>
              <a:t>centimetres</a:t>
            </a:r>
            <a:r>
              <a:rPr lang="en-US" sz="4400">
                <a:latin typeface="Arial"/>
                <a:cs typeface="Arial"/>
              </a:rPr>
              <a:t>. What dimensions could it have?</a:t>
            </a:r>
            <a:endParaRPr lang="en-US" sz="4400"/>
          </a:p>
          <a:p>
            <a:pPr algn="ctr"/>
            <a:endParaRPr lang="en-US" sz="4400"/>
          </a:p>
          <a:p>
            <a:endParaRPr lang="en-US">
              <a:latin typeface="Arial"/>
              <a:cs typeface="Arial"/>
            </a:endParaRPr>
          </a:p>
        </p:txBody>
      </p:sp>
      <p:pic>
        <p:nvPicPr>
          <p:cNvPr id="1026" name="Picture 2" descr="A drawing of a rectangular prism  showing the dimensions length, width and height.">
            <a:extLst>
              <a:ext uri="{FF2B5EF4-FFF2-40B4-BE49-F238E27FC236}">
                <a16:creationId xmlns:a16="http://schemas.microsoft.com/office/drawing/2014/main" id="{4A3F6D14-6648-8D31-8C39-C07F6C9CF9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5219" y="4072766"/>
            <a:ext cx="4117769" cy="242523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mage of a clipboard with a pencil recording short answer responses">
            <a:extLst>
              <a:ext uri="{FF2B5EF4-FFF2-40B4-BE49-F238E27FC236}">
                <a16:creationId xmlns:a16="http://schemas.microsoft.com/office/drawing/2014/main" id="{FFC89052-219D-2803-0123-F3BA24E9962C}"/>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(22)</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80B7212B-2801-5D27-0B76-52A657270CAF}"/>
                  </a:ext>
                </a:extLst>
              </p:cNvPr>
              <p:cNvSpPr>
                <a:spLocks noGrp="1"/>
              </p:cNvSpPr>
              <p:nvPr>
                <p:ph type="pic" sz="quarter" idx="21"/>
              </p:nvPr>
            </p:nvSpPr>
            <p:spPr>
              <a:xfrm>
                <a:off x="360001" y="1164870"/>
                <a:ext cx="11243037" cy="5091860"/>
              </a:xfrm>
            </p:spPr>
            <p:txBody>
              <a:bodyPr/>
              <a:lstStyle/>
              <a:p>
                <a:pPr algn="ctr"/>
                <a:r>
                  <a:rPr lang="en-US" sz="3200">
                    <a:latin typeface="Arial"/>
                    <a:cs typeface="Arial"/>
                  </a:rPr>
                  <a:t>Tahlia ate </a:t>
                </a:r>
                <a14:m>
                  <m:oMath xmlns:m="http://schemas.openxmlformats.org/officeDocument/2006/math">
                    <m:f>
                      <m:fPr>
                        <m:ctrlPr>
                          <a:rPr lang="en-US" sz="3200" i="1" smtClean="0">
                            <a:latin typeface="Cambria Math" panose="02040503050406030204" pitchFamily="18" charset="0"/>
                            <a:cs typeface="Arial"/>
                          </a:rPr>
                        </m:ctrlPr>
                      </m:fPr>
                      <m:num>
                        <m:r>
                          <a:rPr lang="en-AU" sz="3200" b="0" i="1" smtClean="0">
                            <a:latin typeface="Cambria Math" panose="02040503050406030204" pitchFamily="18" charset="0"/>
                            <a:cs typeface="Arial"/>
                          </a:rPr>
                          <m:t>3</m:t>
                        </m:r>
                      </m:num>
                      <m:den>
                        <m:r>
                          <a:rPr lang="en-AU" sz="3200" b="0" i="1" smtClean="0">
                            <a:latin typeface="Cambria Math" panose="02040503050406030204" pitchFamily="18" charset="0"/>
                            <a:cs typeface="Arial"/>
                          </a:rPr>
                          <m:t>8</m:t>
                        </m:r>
                      </m:den>
                    </m:f>
                  </m:oMath>
                </a14:m>
                <a:r>
                  <a:rPr lang="en-US" sz="3200">
                    <a:latin typeface="Arial"/>
                    <a:cs typeface="Arial"/>
                  </a:rPr>
                  <a:t> of a chocolate bar in the morning and </a:t>
                </a:r>
                <a14:m>
                  <m:oMath xmlns:m="http://schemas.openxmlformats.org/officeDocument/2006/math">
                    <m:f>
                      <m:fPr>
                        <m:ctrlPr>
                          <a:rPr lang="en-US" sz="3200" i="1" smtClean="0">
                            <a:latin typeface="Cambria Math" panose="02040503050406030204" pitchFamily="18" charset="0"/>
                            <a:cs typeface="Arial"/>
                          </a:rPr>
                        </m:ctrlPr>
                      </m:fPr>
                      <m:num>
                        <m:r>
                          <a:rPr lang="en-AU" sz="3200" b="0" i="1" smtClean="0">
                            <a:latin typeface="Cambria Math" panose="02040503050406030204" pitchFamily="18" charset="0"/>
                            <a:cs typeface="Arial"/>
                          </a:rPr>
                          <m:t>2</m:t>
                        </m:r>
                      </m:num>
                      <m:den>
                        <m:r>
                          <a:rPr lang="en-AU" sz="3200" b="0" i="1" smtClean="0">
                            <a:latin typeface="Cambria Math" panose="02040503050406030204" pitchFamily="18" charset="0"/>
                            <a:cs typeface="Arial"/>
                          </a:rPr>
                          <m:t>8</m:t>
                        </m:r>
                      </m:den>
                    </m:f>
                  </m:oMath>
                </a14:m>
                <a:r>
                  <a:rPr lang="en-US" sz="3200">
                    <a:latin typeface="Arial"/>
                    <a:cs typeface="Arial"/>
                  </a:rPr>
                  <a:t> in the afternoon.</a:t>
                </a:r>
                <a:br>
                  <a:rPr lang="en-US" sz="3200">
                    <a:latin typeface="Arial"/>
                    <a:cs typeface="Arial"/>
                  </a:rPr>
                </a:br>
                <a:r>
                  <a:rPr lang="en-US" sz="3200">
                    <a:latin typeface="Arial"/>
                    <a:cs typeface="Arial"/>
                  </a:rPr>
                  <a:t> Later, her brother ate </a:t>
                </a:r>
                <a14:m>
                  <m:oMath xmlns:m="http://schemas.openxmlformats.org/officeDocument/2006/math">
                    <m:f>
                      <m:fPr>
                        <m:ctrlPr>
                          <a:rPr lang="en-US" sz="3200" i="1" smtClean="0">
                            <a:latin typeface="Cambria Math" panose="02040503050406030204" pitchFamily="18" charset="0"/>
                            <a:cs typeface="Arial"/>
                          </a:rPr>
                        </m:ctrlPr>
                      </m:fPr>
                      <m:num>
                        <m:r>
                          <a:rPr lang="en-AU" sz="3200" b="0" i="1" smtClean="0">
                            <a:latin typeface="Cambria Math" panose="02040503050406030204" pitchFamily="18" charset="0"/>
                            <a:cs typeface="Arial"/>
                          </a:rPr>
                          <m:t>1</m:t>
                        </m:r>
                      </m:num>
                      <m:den>
                        <m:r>
                          <a:rPr lang="en-AU" sz="3200" b="0" i="1" smtClean="0">
                            <a:latin typeface="Cambria Math" panose="02040503050406030204" pitchFamily="18" charset="0"/>
                            <a:cs typeface="Arial"/>
                          </a:rPr>
                          <m:t>8</m:t>
                        </m:r>
                      </m:den>
                    </m:f>
                  </m:oMath>
                </a14:m>
                <a:r>
                  <a:rPr lang="en-US" sz="3200">
                    <a:latin typeface="Arial"/>
                    <a:cs typeface="Arial"/>
                  </a:rPr>
                  <a:t>.</a:t>
                </a:r>
                <a:endParaRPr lang="en-US" sz="3200"/>
              </a:p>
              <a:p>
                <a:pPr algn="ctr"/>
                <a:r>
                  <a:rPr lang="en-US" sz="3200">
                    <a:latin typeface="Arial"/>
                    <a:cs typeface="Arial"/>
                  </a:rPr>
                  <a:t>How much of the chocolate bar did Tahlia eat altogether?</a:t>
                </a:r>
                <a:br>
                  <a:rPr lang="en-US" sz="3200">
                    <a:latin typeface="Arial"/>
                    <a:cs typeface="Arial"/>
                  </a:rPr>
                </a:br>
                <a:r>
                  <a:rPr lang="en-US" sz="3200">
                    <a:latin typeface="Arial"/>
                    <a:cs typeface="Arial"/>
                  </a:rPr>
                  <a:t> How much was left after Tahlia ate?</a:t>
                </a:r>
                <a:br>
                  <a:rPr lang="en-US" sz="3200">
                    <a:latin typeface="Arial"/>
                    <a:cs typeface="Arial"/>
                  </a:rPr>
                </a:br>
                <a:r>
                  <a:rPr lang="en-US" sz="3200">
                    <a:latin typeface="Arial"/>
                    <a:cs typeface="Arial"/>
                  </a:rPr>
                  <a:t> How much is left now, after her brother also ate some?</a:t>
                </a:r>
                <a:endParaRPr lang="en-US" sz="3200"/>
              </a:p>
              <a:p>
                <a:pPr algn="ctr"/>
                <a:endParaRPr lang="en-US" sz="3200"/>
              </a:p>
              <a:p>
                <a:pPr algn="ctr"/>
                <a:endParaRPr lang="en-US" sz="4400"/>
              </a:p>
              <a:p>
                <a:endParaRPr lang="en-US">
                  <a:latin typeface="Arial"/>
                  <a:cs typeface="Arial"/>
                </a:endParaRPr>
              </a:p>
            </p:txBody>
          </p:sp>
        </mc:Choice>
        <mc:Fallback xmlns="">
          <p:sp>
            <p:nvSpPr>
              <p:cNvPr id="11" name="Picture Placeholder 10">
                <a:extLst>
                  <a:ext uri="{FF2B5EF4-FFF2-40B4-BE49-F238E27FC236}">
                    <a16:creationId xmlns:a16="http://schemas.microsoft.com/office/drawing/2014/main" id="{80B7212B-2801-5D27-0B76-52A657270CAF}"/>
                  </a:ext>
                </a:extLst>
              </p:cNvPr>
              <p:cNvSpPr>
                <a:spLocks noGrp="1" noRot="1" noChangeAspect="1" noMove="1" noResize="1" noEditPoints="1" noAdjustHandles="1" noChangeArrowheads="1" noChangeShapeType="1" noTextEdit="1"/>
              </p:cNvSpPr>
              <p:nvPr>
                <p:ph type="pic" sz="quarter" idx="21"/>
              </p:nvPr>
            </p:nvSpPr>
            <p:spPr>
              <a:xfrm>
                <a:off x="360001" y="1164870"/>
                <a:ext cx="11243037" cy="5091860"/>
              </a:xfrm>
              <a:blipFill>
                <a:blip r:embed="rId3"/>
                <a:stretch>
                  <a:fillRect b="-4431"/>
                </a:stretch>
              </a:blipFill>
            </p:spPr>
            <p:txBody>
              <a:bodyPr/>
              <a:lstStyle/>
              <a:p>
                <a:r>
                  <a:rPr lang="en-US">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A5C75FC3-3580-0C1D-8090-EC44658DAC9E}"/>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(23)</a:t>
            </a:r>
          </a:p>
        </p:txBody>
      </p:sp>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360000" y="1322701"/>
            <a:ext cx="11243037" cy="5091860"/>
          </a:xfrm>
        </p:spPr>
        <p:txBody>
          <a:bodyPr/>
          <a:lstStyle/>
          <a:p>
            <a:pPr algn="ctr"/>
            <a:r>
              <a:rPr lang="en-US" sz="3200">
                <a:latin typeface="Arial"/>
                <a:cs typeface="Arial"/>
              </a:rPr>
              <a:t>What mistake did Raina make? How would you fix it?</a:t>
            </a:r>
            <a:endParaRPr lang="en-US"/>
          </a:p>
          <a:p>
            <a:pPr algn="ctr"/>
            <a:endParaRPr lang="en-US" sz="3200"/>
          </a:p>
          <a:p>
            <a:pPr algn="ctr"/>
            <a:endParaRPr lang="en-US" sz="4400"/>
          </a:p>
          <a:p>
            <a:endParaRPr lang="en-US">
              <a:latin typeface="Arial"/>
              <a:cs typeface="Arial"/>
            </a:endParaRPr>
          </a:p>
        </p:txBody>
      </p:sp>
      <p:pic>
        <p:nvPicPr>
          <p:cNvPr id="19" name="Picture 18" descr="An addition algorithm showing 327 plus 46 equals 887. The algorithm shows incorrect layout. &#10;&#10;">
            <a:extLst>
              <a:ext uri="{FF2B5EF4-FFF2-40B4-BE49-F238E27FC236}">
                <a16:creationId xmlns:a16="http://schemas.microsoft.com/office/drawing/2014/main" id="{7A7BA33B-1074-9E4D-04DD-12498ABA1EEA}"/>
              </a:ext>
            </a:extLst>
          </p:cNvPr>
          <p:cNvPicPr>
            <a:picLocks noChangeAspect="1"/>
          </p:cNvPicPr>
          <p:nvPr/>
        </p:nvPicPr>
        <p:blipFill>
          <a:blip r:embed="rId3">
            <a:extLst>
              <a:ext uri="{28A0092B-C50C-407E-A947-70E740481C1C}">
                <a14:useLocalDpi xmlns:a14="http://schemas.microsoft.com/office/drawing/2010/main" val="0"/>
              </a:ext>
            </a:extLst>
          </a:blip>
          <a:srcRect l="27037" t="13205" r="30857" b="34279"/>
          <a:stretch/>
        </p:blipFill>
        <p:spPr>
          <a:xfrm>
            <a:off x="4053828" y="2201761"/>
            <a:ext cx="4084343" cy="3601518"/>
          </a:xfrm>
          <a:prstGeom prst="rect">
            <a:avLst/>
          </a:prstGeom>
          <a:ln>
            <a:solidFill>
              <a:srgbClr val="C00000"/>
            </a:solidFill>
          </a:ln>
          <a:effectLst>
            <a:outerShdw blurRad="292100" dist="139700" dir="2700000" algn="tl" rotWithShape="0">
              <a:srgbClr val="333333">
                <a:alpha val="65000"/>
              </a:srgbClr>
            </a:outerShdw>
          </a:effectLst>
        </p:spPr>
      </p:pic>
      <p:pic>
        <p:nvPicPr>
          <p:cNvPr id="4" name="Picture 3" descr="image of a clipboard with a pencil recording short answer responses">
            <a:extLst>
              <a:ext uri="{FF2B5EF4-FFF2-40B4-BE49-F238E27FC236}">
                <a16:creationId xmlns:a16="http://schemas.microsoft.com/office/drawing/2014/main" id="{60BD3A60-80E3-562B-92FB-07B4A07F11E3}"/>
              </a:ext>
            </a:extLst>
          </p:cNvPr>
          <p:cNvPicPr>
            <a:picLocks noChangeAspect="1"/>
          </p:cNvPicPr>
          <p:nvPr/>
        </p:nvPicPr>
        <p:blipFill>
          <a:blip r:embed="rId4"/>
          <a:stretch>
            <a:fillRect/>
          </a:stretch>
        </p:blipFill>
        <p:spPr>
          <a:xfrm>
            <a:off x="11030476" y="268723"/>
            <a:ext cx="915500" cy="915500"/>
          </a:xfrm>
          <a:prstGeom prst="rect">
            <a:avLst/>
          </a:prstGeom>
        </p:spPr>
      </p:pic>
      <p:pic>
        <p:nvPicPr>
          <p:cNvPr id="5" name="Picture 4" descr="A red x symbol on a white background&#10;&#10;AI-generated content may be incorrect.">
            <a:extLst>
              <a:ext uri="{FF2B5EF4-FFF2-40B4-BE49-F238E27FC236}">
                <a16:creationId xmlns:a16="http://schemas.microsoft.com/office/drawing/2014/main" id="{1F5D5405-13B2-4BD0-E41A-825C1FC4455A}"/>
              </a:ext>
            </a:extLst>
          </p:cNvPr>
          <p:cNvPicPr>
            <a:picLocks noChangeAspect="1"/>
          </p:cNvPicPr>
          <p:nvPr/>
        </p:nvPicPr>
        <p:blipFill>
          <a:blip r:embed="rId5"/>
          <a:stretch>
            <a:fillRect/>
          </a:stretch>
        </p:blipFill>
        <p:spPr>
          <a:xfrm>
            <a:off x="7618023" y="2200904"/>
            <a:ext cx="420898" cy="529626"/>
          </a:xfrm>
          <a:prstGeom prst="rect">
            <a:avLst/>
          </a:prstGeom>
        </p:spPr>
      </p:pic>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(24)</a:t>
            </a:r>
          </a:p>
        </p:txBody>
      </p:sp>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360000" y="1164870"/>
            <a:ext cx="11243037" cy="5091860"/>
          </a:xfrm>
        </p:spPr>
        <p:txBody>
          <a:bodyPr/>
          <a:lstStyle/>
          <a:p>
            <a:pPr algn="ctr"/>
            <a:r>
              <a:rPr lang="en-US" sz="3200">
                <a:latin typeface="Arial"/>
                <a:cs typeface="Arial"/>
              </a:rPr>
              <a:t>Calculate the perimeter.</a:t>
            </a:r>
            <a:endParaRPr lang="en-US"/>
          </a:p>
          <a:p>
            <a:pPr algn="ctr"/>
            <a:endParaRPr lang="en-US" sz="3200"/>
          </a:p>
          <a:p>
            <a:pPr algn="ctr"/>
            <a:endParaRPr lang="en-US" sz="4400"/>
          </a:p>
          <a:p>
            <a:endParaRPr lang="en-US">
              <a:latin typeface="Arial"/>
              <a:cs typeface="Arial"/>
            </a:endParaRPr>
          </a:p>
        </p:txBody>
      </p:sp>
      <p:pic>
        <p:nvPicPr>
          <p:cNvPr id="9" name="Picture 8" descr="A rhombus with one side labelled 15 cm.">
            <a:extLst>
              <a:ext uri="{FF2B5EF4-FFF2-40B4-BE49-F238E27FC236}">
                <a16:creationId xmlns:a16="http://schemas.microsoft.com/office/drawing/2014/main" id="{AF0F288E-C2A1-455F-2530-DCFCF29E8DBF}"/>
              </a:ext>
            </a:extLst>
          </p:cNvPr>
          <p:cNvPicPr>
            <a:picLocks noChangeAspect="1"/>
          </p:cNvPicPr>
          <p:nvPr/>
        </p:nvPicPr>
        <p:blipFill>
          <a:blip r:embed="rId3">
            <a:extLst>
              <a:ext uri="{28A0092B-C50C-407E-A947-70E740481C1C}">
                <a14:useLocalDpi xmlns:a14="http://schemas.microsoft.com/office/drawing/2010/main" val="0"/>
              </a:ext>
            </a:extLst>
          </a:blip>
          <a:srcRect l="20149" t="18788" r="13293" b="18384"/>
          <a:stretch/>
        </p:blipFill>
        <p:spPr>
          <a:xfrm>
            <a:off x="3213266" y="1978711"/>
            <a:ext cx="5765467" cy="3847769"/>
          </a:xfrm>
          <a:prstGeom prst="rect">
            <a:avLst/>
          </a:prstGeom>
        </p:spPr>
      </p:pic>
      <p:pic>
        <p:nvPicPr>
          <p:cNvPr id="4" name="Picture 3" descr="image of a clipboard with a pencil recording short answer responses">
            <a:extLst>
              <a:ext uri="{FF2B5EF4-FFF2-40B4-BE49-F238E27FC236}">
                <a16:creationId xmlns:a16="http://schemas.microsoft.com/office/drawing/2014/main" id="{9413A593-D677-BE14-4F68-8ED6884EFE14}"/>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6 – ordering decimals </a:t>
            </a:r>
          </a:p>
        </p:txBody>
      </p:sp>
      <p:pic>
        <p:nvPicPr>
          <p:cNvPr id="10" name="Picture 9" descr="A 0 to 1 number staircase for students to order decimals.">
            <a:extLst>
              <a:ext uri="{FF2B5EF4-FFF2-40B4-BE49-F238E27FC236}">
                <a16:creationId xmlns:a16="http://schemas.microsoft.com/office/drawing/2014/main" id="{54B3999D-2E94-37FD-03E0-B9A87207A772}"/>
              </a:ext>
            </a:extLst>
          </p:cNvPr>
          <p:cNvPicPr>
            <a:picLocks noChangeAspect="1"/>
          </p:cNvPicPr>
          <p:nvPr/>
        </p:nvPicPr>
        <p:blipFill>
          <a:blip r:embed="rId3"/>
          <a:stretch>
            <a:fillRect/>
          </a:stretch>
        </p:blipFill>
        <p:spPr>
          <a:xfrm>
            <a:off x="2622430" y="1203475"/>
            <a:ext cx="6400800" cy="5514975"/>
          </a:xfrm>
          <a:prstGeom prst="rect">
            <a:avLst/>
          </a:prstGeom>
        </p:spPr>
      </p:pic>
      <p:pic>
        <p:nvPicPr>
          <p:cNvPr id="5" name="Picture 4" descr="image of a head with cogs turning inside">
            <a:extLst>
              <a:ext uri="{FF2B5EF4-FFF2-40B4-BE49-F238E27FC236}">
                <a16:creationId xmlns:a16="http://schemas.microsoft.com/office/drawing/2014/main" id="{F7AC7457-76E6-8D53-F23B-FA6A7DBB46C1}"/>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032192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EC98-6E64-B27A-62A0-329A669AEC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4353F3-AFA1-F86F-DE0E-4EEDDC077D1C}"/>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E0021225-41F1-0C16-7955-7A20CE3F9226}"/>
              </a:ext>
            </a:extLst>
          </p:cNvPr>
          <p:cNvSpPr>
            <a:spLocks noGrp="1"/>
          </p:cNvSpPr>
          <p:nvPr>
            <p:ph type="title"/>
          </p:nvPr>
        </p:nvSpPr>
        <p:spPr/>
        <p:txBody>
          <a:bodyPr/>
          <a:lstStyle/>
          <a:p>
            <a:r>
              <a:rPr lang="en-US" dirty="0"/>
              <a:t>Multiple choice </a:t>
            </a:r>
            <a:r>
              <a:rPr lang="en-US" dirty="0">
                <a:solidFill>
                  <a:schemeClr val="bg1"/>
                </a:solidFill>
              </a:rPr>
              <a:t>(4)</a:t>
            </a:r>
          </a:p>
        </p:txBody>
      </p:sp>
      <p:sp>
        <p:nvSpPr>
          <p:cNvPr id="14" name="Text Placeholder 13">
            <a:extLst>
              <a:ext uri="{FF2B5EF4-FFF2-40B4-BE49-F238E27FC236}">
                <a16:creationId xmlns:a16="http://schemas.microsoft.com/office/drawing/2014/main" id="{675CACB5-5FB0-E2CF-54E9-1F4523AF622E}"/>
              </a:ext>
            </a:extLst>
          </p:cNvPr>
          <p:cNvSpPr>
            <a:spLocks noGrp="1"/>
          </p:cNvSpPr>
          <p:nvPr>
            <p:ph type="body" sz="quarter" idx="27"/>
          </p:nvPr>
        </p:nvSpPr>
        <p:spPr>
          <a:xfrm>
            <a:off x="1345520" y="5267227"/>
            <a:ext cx="10175920" cy="641396"/>
          </a:xfrm>
        </p:spPr>
        <p:txBody>
          <a:bodyPr vert="horz" lIns="0" tIns="0" rIns="0" bIns="0" rtlCol="0" anchor="t">
            <a:noAutofit/>
          </a:bodyPr>
          <a:lstStyle/>
          <a:p>
            <a:r>
              <a:rPr lang="en-US" sz="4000">
                <a:ea typeface="+mn-lt"/>
                <a:cs typeface="+mn-lt"/>
              </a:rPr>
              <a:t>6.85</a:t>
            </a:r>
            <a:endParaRPr lang="en-US" sz="4000"/>
          </a:p>
        </p:txBody>
      </p:sp>
      <p:sp>
        <p:nvSpPr>
          <p:cNvPr id="15" name="Text Placeholder 14">
            <a:extLst>
              <a:ext uri="{FF2B5EF4-FFF2-40B4-BE49-F238E27FC236}">
                <a16:creationId xmlns:a16="http://schemas.microsoft.com/office/drawing/2014/main" id="{CA95A8D3-8910-15F9-8CCD-CC5CE999586C}"/>
              </a:ext>
            </a:extLst>
          </p:cNvPr>
          <p:cNvSpPr>
            <a:spLocks noGrp="1"/>
          </p:cNvSpPr>
          <p:nvPr>
            <p:ph type="body" sz="quarter" idx="28"/>
          </p:nvPr>
        </p:nvSpPr>
        <p:spPr>
          <a:xfrm>
            <a:off x="360000" y="1408922"/>
            <a:ext cx="11639167" cy="1420148"/>
          </a:xfrm>
        </p:spPr>
        <p:txBody>
          <a:bodyPr vert="horz" lIns="0" tIns="0" rIns="0" bIns="0" rtlCol="0" anchor="t">
            <a:noAutofit/>
          </a:bodyPr>
          <a:lstStyle/>
          <a:p>
            <a:r>
              <a:rPr lang="en-US" sz="3600">
                <a:latin typeface="Arial"/>
                <a:cs typeface="Arial"/>
              </a:rPr>
              <a:t>Which shows 6.478 rounded to two decimal places?</a:t>
            </a:r>
            <a:endParaRPr lang="en-US" sz="1600"/>
          </a:p>
          <a:p>
            <a:endParaRPr lang="en-US" sz="4000">
              <a:latin typeface="Arial"/>
              <a:cs typeface="Arial"/>
            </a:endParaRPr>
          </a:p>
        </p:txBody>
      </p:sp>
      <p:sp>
        <p:nvSpPr>
          <p:cNvPr id="16" name="Text Placeholder 15">
            <a:extLst>
              <a:ext uri="{FF2B5EF4-FFF2-40B4-BE49-F238E27FC236}">
                <a16:creationId xmlns:a16="http://schemas.microsoft.com/office/drawing/2014/main" id="{E0D6F30C-8CEC-E4E0-1551-B27B081FFF00}"/>
              </a:ext>
            </a:extLst>
          </p:cNvPr>
          <p:cNvSpPr>
            <a:spLocks noGrp="1"/>
          </p:cNvSpPr>
          <p:nvPr>
            <p:ph type="body" sz="quarter" idx="29"/>
          </p:nvPr>
        </p:nvSpPr>
        <p:spPr>
          <a:xfrm>
            <a:off x="1345520" y="4417174"/>
            <a:ext cx="10175920" cy="641396"/>
          </a:xfrm>
        </p:spPr>
        <p:txBody>
          <a:bodyPr vert="horz" lIns="0" tIns="0" rIns="0" bIns="0" rtlCol="0" anchor="t">
            <a:noAutofit/>
          </a:bodyPr>
          <a:lstStyle/>
          <a:p>
            <a:r>
              <a:rPr lang="en-US" sz="4000">
                <a:ea typeface="+mn-lt"/>
                <a:cs typeface="+mn-lt"/>
              </a:rPr>
              <a:t>6.48</a:t>
            </a:r>
            <a:endParaRPr lang="en-US" sz="4000"/>
          </a:p>
        </p:txBody>
      </p:sp>
      <p:sp>
        <p:nvSpPr>
          <p:cNvPr id="17" name="Text Placeholder 16">
            <a:extLst>
              <a:ext uri="{FF2B5EF4-FFF2-40B4-BE49-F238E27FC236}">
                <a16:creationId xmlns:a16="http://schemas.microsoft.com/office/drawing/2014/main" id="{44BFA8E5-50BD-0893-BC01-B6B36BC802E1}"/>
              </a:ext>
            </a:extLst>
          </p:cNvPr>
          <p:cNvSpPr>
            <a:spLocks noGrp="1"/>
          </p:cNvSpPr>
          <p:nvPr>
            <p:ph type="body" sz="quarter" idx="30"/>
          </p:nvPr>
        </p:nvSpPr>
        <p:spPr>
          <a:xfrm>
            <a:off x="1345520" y="3567121"/>
            <a:ext cx="10175920" cy="641396"/>
          </a:xfrm>
        </p:spPr>
        <p:txBody>
          <a:bodyPr vert="horz" lIns="0" tIns="0" rIns="0" bIns="0" rtlCol="0" anchor="t">
            <a:noAutofit/>
          </a:bodyPr>
          <a:lstStyle/>
          <a:p>
            <a:r>
              <a:rPr lang="en-US" sz="4000">
                <a:cs typeface="Arial"/>
              </a:rPr>
              <a:t>6.50</a:t>
            </a:r>
          </a:p>
        </p:txBody>
      </p:sp>
      <p:sp>
        <p:nvSpPr>
          <p:cNvPr id="18" name="Text Placeholder 17">
            <a:extLst>
              <a:ext uri="{FF2B5EF4-FFF2-40B4-BE49-F238E27FC236}">
                <a16:creationId xmlns:a16="http://schemas.microsoft.com/office/drawing/2014/main" id="{9E79809D-9372-E31A-587E-B87233AE7FEB}"/>
              </a:ext>
            </a:extLst>
          </p:cNvPr>
          <p:cNvSpPr>
            <a:spLocks noGrp="1"/>
          </p:cNvSpPr>
          <p:nvPr>
            <p:ph type="body" sz="quarter" idx="31"/>
          </p:nvPr>
        </p:nvSpPr>
        <p:spPr>
          <a:xfrm>
            <a:off x="1345520" y="2688728"/>
            <a:ext cx="10175920" cy="641396"/>
          </a:xfrm>
        </p:spPr>
        <p:txBody>
          <a:bodyPr vert="horz" lIns="0" tIns="0" rIns="0" bIns="0" rtlCol="0" anchor="t">
            <a:noAutofit/>
          </a:bodyPr>
          <a:lstStyle/>
          <a:p>
            <a:r>
              <a:rPr lang="en-US" sz="4000">
                <a:cs typeface="Arial"/>
              </a:rPr>
              <a:t>6.47</a:t>
            </a:r>
          </a:p>
        </p:txBody>
      </p:sp>
      <p:sp>
        <p:nvSpPr>
          <p:cNvPr id="9" name="TextBox 8">
            <a:extLst>
              <a:ext uri="{FF2B5EF4-FFF2-40B4-BE49-F238E27FC236}">
                <a16:creationId xmlns:a16="http://schemas.microsoft.com/office/drawing/2014/main" id="{01959E7F-5339-4140-06DD-3FCB073486C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BEE40492-9435-5860-3C94-30096476C915}"/>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912478F-CB84-AC6C-FE6E-1FCE453E61F6}"/>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C86D3D05-3E76-5A4E-DF8C-4677FB0BC3BF}"/>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762B9242-51CC-E9FE-F0ED-48F177A9021B}"/>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2587296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(25)</a:t>
            </a:r>
          </a:p>
        </p:txBody>
      </p:sp>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360000" y="1423183"/>
            <a:ext cx="11189376" cy="4168875"/>
          </a:xfrm>
        </p:spPr>
        <p:txBody>
          <a:bodyPr/>
          <a:lstStyle/>
          <a:p>
            <a:pPr algn="ctr"/>
            <a:r>
              <a:rPr lang="en-US" sz="4400">
                <a:latin typeface="Arial"/>
                <a:cs typeface="Arial"/>
              </a:rPr>
              <a:t> A rectangular prism has a volume of 54 cubic centimetres. What dimensions could it have?</a:t>
            </a:r>
            <a:endParaRPr lang="en-US" sz="4400"/>
          </a:p>
          <a:p>
            <a:pPr algn="ctr"/>
            <a:endParaRPr lang="en-US" sz="4400"/>
          </a:p>
          <a:p>
            <a:endParaRPr lang="en-US">
              <a:latin typeface="Arial"/>
              <a:cs typeface="Arial"/>
            </a:endParaRPr>
          </a:p>
        </p:txBody>
      </p:sp>
      <p:pic>
        <p:nvPicPr>
          <p:cNvPr id="5" name="Picture 2" descr="A drawing of a rectangular prism  showing the dimensions length, width and height.">
            <a:extLst>
              <a:ext uri="{FF2B5EF4-FFF2-40B4-BE49-F238E27FC236}">
                <a16:creationId xmlns:a16="http://schemas.microsoft.com/office/drawing/2014/main" id="{64216F3A-28B5-8FC6-7DE7-9A0BE701D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6231" y="3685289"/>
            <a:ext cx="4117769" cy="242523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mage of a clipboard with a pencil recording short answer responses">
            <a:extLst>
              <a:ext uri="{FF2B5EF4-FFF2-40B4-BE49-F238E27FC236}">
                <a16:creationId xmlns:a16="http://schemas.microsoft.com/office/drawing/2014/main" id="{0B2658E5-897D-F102-F9BC-10C464CD9E83}"/>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(26)</a:t>
            </a:r>
          </a:p>
        </p:txBody>
      </p:sp>
      <p:sp>
        <p:nvSpPr>
          <p:cNvPr id="11" name="Picture Placeholder 10">
            <a:extLst>
              <a:ext uri="{FF2B5EF4-FFF2-40B4-BE49-F238E27FC236}">
                <a16:creationId xmlns:a16="http://schemas.microsoft.com/office/drawing/2014/main" id="{21E9C82F-FE72-F379-EE54-EC40C9DE00C1}"/>
              </a:ext>
            </a:extLst>
          </p:cNvPr>
          <p:cNvSpPr>
            <a:spLocks noGrp="1"/>
          </p:cNvSpPr>
          <p:nvPr>
            <p:ph type="pic" sz="quarter" idx="21"/>
          </p:nvPr>
        </p:nvSpPr>
        <p:spPr>
          <a:xfrm>
            <a:off x="359999" y="1042317"/>
            <a:ext cx="11210840" cy="4769889"/>
          </a:xfrm>
        </p:spPr>
        <p:txBody>
          <a:bodyPr/>
          <a:lstStyle/>
          <a:p>
            <a:pPr algn="ctr"/>
            <a:r>
              <a:rPr lang="en-US" sz="4000">
                <a:latin typeface="Arial"/>
                <a:cs typeface="Arial"/>
              </a:rPr>
              <a:t>What </a:t>
            </a:r>
            <a:r>
              <a:rPr lang="en-US" sz="4000" b="1">
                <a:latin typeface="Arial"/>
                <a:cs typeface="Arial"/>
              </a:rPr>
              <a:t>fraction</a:t>
            </a:r>
            <a:r>
              <a:rPr lang="en-US" sz="4000">
                <a:latin typeface="Arial"/>
                <a:cs typeface="Arial"/>
              </a:rPr>
              <a:t> of the squares has a star?</a:t>
            </a:r>
            <a:endParaRPr lang="en-US" sz="4000"/>
          </a:p>
          <a:p>
            <a:pPr algn="ctr"/>
            <a:r>
              <a:rPr lang="en-US" sz="4000">
                <a:latin typeface="Arial"/>
                <a:cs typeface="Arial"/>
              </a:rPr>
              <a:t>What </a:t>
            </a:r>
            <a:r>
              <a:rPr lang="en-US" sz="4000" b="1">
                <a:latin typeface="Arial"/>
                <a:cs typeface="Arial"/>
              </a:rPr>
              <a:t>fraction</a:t>
            </a:r>
            <a:r>
              <a:rPr lang="en-US" sz="4000">
                <a:latin typeface="Arial"/>
                <a:cs typeface="Arial"/>
              </a:rPr>
              <a:t> of the squares has a circle?</a:t>
            </a:r>
            <a:endParaRPr lang="en-US" sz="4000"/>
          </a:p>
          <a:p>
            <a:pPr algn="ctr"/>
            <a:r>
              <a:rPr lang="en-US" sz="4000">
                <a:latin typeface="Arial"/>
                <a:cs typeface="Arial"/>
              </a:rPr>
              <a:t>What </a:t>
            </a:r>
            <a:r>
              <a:rPr lang="en-US" sz="4000" b="1">
                <a:latin typeface="Arial"/>
                <a:cs typeface="Arial"/>
              </a:rPr>
              <a:t>fraction</a:t>
            </a:r>
            <a:r>
              <a:rPr lang="en-US" sz="4000">
                <a:latin typeface="Arial"/>
                <a:cs typeface="Arial"/>
              </a:rPr>
              <a:t> of the squares has no image?</a:t>
            </a:r>
            <a:endParaRPr lang="en-US" sz="4000"/>
          </a:p>
          <a:p>
            <a:pPr algn="ctr"/>
            <a:endParaRPr lang="en-US" sz="4400"/>
          </a:p>
          <a:p>
            <a:pPr algn="ctr"/>
            <a:endParaRPr lang="en-US" sz="4400"/>
          </a:p>
          <a:p>
            <a:endParaRPr lang="en-US">
              <a:latin typeface="Arial"/>
              <a:cs typeface="Arial"/>
            </a:endParaRPr>
          </a:p>
        </p:txBody>
      </p:sp>
      <p:pic>
        <p:nvPicPr>
          <p:cNvPr id="6" name="Picture 5" descr="A black and white 2 by 3 rectangular grid. The grid contains 3 grey stars and 1 yellow circle counter.">
            <a:extLst>
              <a:ext uri="{FF2B5EF4-FFF2-40B4-BE49-F238E27FC236}">
                <a16:creationId xmlns:a16="http://schemas.microsoft.com/office/drawing/2014/main" id="{176979A8-4F86-7BCB-9F58-710CE35E9CA8}"/>
              </a:ext>
            </a:extLst>
          </p:cNvPr>
          <p:cNvPicPr>
            <a:picLocks noChangeAspect="1"/>
          </p:cNvPicPr>
          <p:nvPr/>
        </p:nvPicPr>
        <p:blipFill>
          <a:blip r:embed="rId3">
            <a:extLst>
              <a:ext uri="{28A0092B-C50C-407E-A947-70E740481C1C}">
                <a14:useLocalDpi xmlns:a14="http://schemas.microsoft.com/office/drawing/2010/main" val="0"/>
              </a:ext>
            </a:extLst>
          </a:blip>
          <a:srcRect l="10007" t="15556" r="13864" b="18485"/>
          <a:stretch/>
        </p:blipFill>
        <p:spPr>
          <a:xfrm>
            <a:off x="4174289" y="4051971"/>
            <a:ext cx="3861970" cy="2446029"/>
          </a:xfrm>
          <a:prstGeom prst="rect">
            <a:avLst/>
          </a:prstGeom>
        </p:spPr>
      </p:pic>
      <p:pic>
        <p:nvPicPr>
          <p:cNvPr id="4" name="Picture 3" descr="image of a clipboard with a pencil recording short answer responses">
            <a:extLst>
              <a:ext uri="{FF2B5EF4-FFF2-40B4-BE49-F238E27FC236}">
                <a16:creationId xmlns:a16="http://schemas.microsoft.com/office/drawing/2014/main" id="{03DE4DA9-4B9A-92DD-CA74-B2C1DDF4FB03}"/>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(27)</a:t>
            </a:r>
          </a:p>
        </p:txBody>
      </p:sp>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353365" y="913443"/>
            <a:ext cx="11235949" cy="5146131"/>
          </a:xfrm>
        </p:spPr>
        <p:txBody>
          <a:bodyPr/>
          <a:lstStyle/>
          <a:p>
            <a:pPr algn="ctr"/>
            <a:endParaRPr lang="en-US" sz="4400"/>
          </a:p>
          <a:p>
            <a:pPr algn="ctr"/>
            <a:r>
              <a:rPr lang="en-US" sz="4400">
                <a:latin typeface="Arial"/>
                <a:cs typeface="Arial"/>
              </a:rPr>
              <a:t>1087 – 675 – 22 =</a:t>
            </a:r>
            <a:endParaRPr lang="en-US" sz="4400"/>
          </a:p>
          <a:p>
            <a:pPr algn="ctr"/>
            <a:r>
              <a:rPr lang="en-US" sz="4400" b="1">
                <a:latin typeface="Arial"/>
                <a:cs typeface="Arial"/>
              </a:rPr>
              <a:t>Communicate</a:t>
            </a:r>
            <a:r>
              <a:rPr lang="en-US" sz="4400">
                <a:latin typeface="Arial"/>
                <a:cs typeface="Arial"/>
              </a:rPr>
              <a:t> how you used </a:t>
            </a:r>
            <a:r>
              <a:rPr lang="en-US" sz="4400" b="1">
                <a:latin typeface="Arial"/>
                <a:cs typeface="Arial"/>
              </a:rPr>
              <a:t>place value understanding.</a:t>
            </a:r>
            <a:endParaRPr lang="en-US" sz="4400" b="1"/>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E63D2BF-38DB-BA0C-BA80-947F471E806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(28)</a:t>
            </a:r>
          </a:p>
        </p:txBody>
      </p:sp>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274140" y="2255077"/>
            <a:ext cx="11221572" cy="2730735"/>
          </a:xfrm>
        </p:spPr>
        <p:txBody>
          <a:bodyPr/>
          <a:lstStyle/>
          <a:p>
            <a:pPr algn="ctr"/>
            <a:r>
              <a:rPr lang="en-US" sz="4400">
                <a:latin typeface="Arial"/>
                <a:cs typeface="Arial"/>
              </a:rPr>
              <a:t>The term </a:t>
            </a:r>
            <a:r>
              <a:rPr lang="en-US" sz="4400" b="1">
                <a:latin typeface="Arial"/>
                <a:cs typeface="Arial"/>
              </a:rPr>
              <a:t>probability</a:t>
            </a:r>
            <a:r>
              <a:rPr lang="en-US" sz="4400">
                <a:latin typeface="Arial"/>
                <a:cs typeface="Arial"/>
              </a:rPr>
              <a:t> means...</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4B75951C-A82E-F9E5-67E0-9214B5EB3E9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7 – approximating decimals </a:t>
            </a:r>
            <a:r>
              <a:rPr lang="en-AU">
                <a:solidFill>
                  <a:schemeClr val="bg1"/>
                </a:solidFill>
                <a:latin typeface="Arial"/>
                <a:cs typeface="Arial"/>
              </a:rPr>
              <a:t>(1)</a:t>
            </a:r>
          </a:p>
        </p:txBody>
      </p:sp>
      <p:pic>
        <p:nvPicPr>
          <p:cNvPr id="4" name="Picture 3" descr="9 sided dice">
            <a:extLst>
              <a:ext uri="{FF2B5EF4-FFF2-40B4-BE49-F238E27FC236}">
                <a16:creationId xmlns:a16="http://schemas.microsoft.com/office/drawing/2014/main" id="{3E8C8460-8188-9985-FBF7-6042A8D995CC}"/>
              </a:ext>
            </a:extLst>
          </p:cNvPr>
          <p:cNvPicPr>
            <a:picLocks noChangeAspect="1"/>
          </p:cNvPicPr>
          <p:nvPr/>
        </p:nvPicPr>
        <p:blipFill>
          <a:blip r:embed="rId3"/>
          <a:stretch>
            <a:fillRect/>
          </a:stretch>
        </p:blipFill>
        <p:spPr>
          <a:xfrm>
            <a:off x="905055" y="2402636"/>
            <a:ext cx="2143664" cy="2052728"/>
          </a:xfrm>
          <a:prstGeom prst="rect">
            <a:avLst/>
          </a:prstGeom>
        </p:spPr>
      </p:pic>
      <p:pic>
        <p:nvPicPr>
          <p:cNvPr id="6" name="Picture 5" descr="9 sided dice">
            <a:extLst>
              <a:ext uri="{FF2B5EF4-FFF2-40B4-BE49-F238E27FC236}">
                <a16:creationId xmlns:a16="http://schemas.microsoft.com/office/drawing/2014/main" id="{18156450-0619-EA41-F316-66D2DE54DE64}"/>
              </a:ext>
            </a:extLst>
          </p:cNvPr>
          <p:cNvPicPr>
            <a:picLocks noChangeAspect="1"/>
          </p:cNvPicPr>
          <p:nvPr/>
        </p:nvPicPr>
        <p:blipFill>
          <a:blip r:embed="rId3"/>
          <a:stretch>
            <a:fillRect/>
          </a:stretch>
        </p:blipFill>
        <p:spPr>
          <a:xfrm>
            <a:off x="3464224" y="2402635"/>
            <a:ext cx="2143664" cy="2052728"/>
          </a:xfrm>
          <a:prstGeom prst="rect">
            <a:avLst/>
          </a:prstGeom>
        </p:spPr>
      </p:pic>
      <p:pic>
        <p:nvPicPr>
          <p:cNvPr id="7" name="Picture 6" descr="9 sided dice">
            <a:extLst>
              <a:ext uri="{FF2B5EF4-FFF2-40B4-BE49-F238E27FC236}">
                <a16:creationId xmlns:a16="http://schemas.microsoft.com/office/drawing/2014/main" id="{944F7BA4-D186-22BD-DE04-7B2A01D01DB8}"/>
              </a:ext>
            </a:extLst>
          </p:cNvPr>
          <p:cNvPicPr>
            <a:picLocks noChangeAspect="1"/>
          </p:cNvPicPr>
          <p:nvPr/>
        </p:nvPicPr>
        <p:blipFill>
          <a:blip r:embed="rId3"/>
          <a:stretch>
            <a:fillRect/>
          </a:stretch>
        </p:blipFill>
        <p:spPr>
          <a:xfrm>
            <a:off x="6095280" y="2402634"/>
            <a:ext cx="2143664" cy="2052728"/>
          </a:xfrm>
          <a:prstGeom prst="rect">
            <a:avLst/>
          </a:prstGeom>
        </p:spPr>
      </p:pic>
      <p:pic>
        <p:nvPicPr>
          <p:cNvPr id="8" name="Picture 7" descr="9 sided dice">
            <a:extLst>
              <a:ext uri="{FF2B5EF4-FFF2-40B4-BE49-F238E27FC236}">
                <a16:creationId xmlns:a16="http://schemas.microsoft.com/office/drawing/2014/main" id="{7D222EED-FE14-CFDC-F931-4FAB148FB60F}"/>
              </a:ext>
            </a:extLst>
          </p:cNvPr>
          <p:cNvPicPr>
            <a:picLocks noChangeAspect="1"/>
          </p:cNvPicPr>
          <p:nvPr/>
        </p:nvPicPr>
        <p:blipFill>
          <a:blip r:embed="rId3"/>
          <a:stretch>
            <a:fillRect/>
          </a:stretch>
        </p:blipFill>
        <p:spPr>
          <a:xfrm>
            <a:off x="8697583" y="2402635"/>
            <a:ext cx="2143664" cy="2052728"/>
          </a:xfrm>
          <a:prstGeom prst="rect">
            <a:avLst/>
          </a:prstGeom>
        </p:spPr>
      </p:pic>
      <p:pic>
        <p:nvPicPr>
          <p:cNvPr id="5" name="Picture 4" descr="image of a head with cogs turning inside">
            <a:extLst>
              <a:ext uri="{FF2B5EF4-FFF2-40B4-BE49-F238E27FC236}">
                <a16:creationId xmlns:a16="http://schemas.microsoft.com/office/drawing/2014/main" id="{C3FEAD58-BAD0-EE9D-1953-A11224A2C721}"/>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468503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dirty="0"/>
              <a:t>True or false </a:t>
            </a:r>
            <a:r>
              <a:rPr lang="en-US" dirty="0">
                <a:solidFill>
                  <a:schemeClr val="bg1"/>
                </a:solidFill>
              </a:rPr>
              <a:t>(4)</a:t>
            </a:r>
          </a:p>
        </p:txBody>
      </p:sp>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314027" y="1279509"/>
            <a:ext cx="11217725" cy="4220884"/>
          </a:xfrm>
        </p:spPr>
        <p:txBody>
          <a:bodyPr vert="horz" lIns="0" tIns="0" rIns="0" bIns="0" rtlCol="0" anchor="t">
            <a:noAutofit/>
          </a:bodyPr>
          <a:lstStyle/>
          <a:p>
            <a:pPr algn="ctr"/>
            <a:r>
              <a:rPr lang="en-US" sz="3600">
                <a:latin typeface="Arial"/>
                <a:cs typeface="Arial"/>
              </a:rPr>
              <a:t>Luca and Mia were </a:t>
            </a:r>
            <a:r>
              <a:rPr lang="en-US" sz="3600" b="1">
                <a:latin typeface="Arial"/>
                <a:cs typeface="Arial"/>
              </a:rPr>
              <a:t>comparing decimals</a:t>
            </a:r>
            <a:r>
              <a:rPr lang="en-US" sz="3600">
                <a:latin typeface="Arial"/>
                <a:cs typeface="Arial"/>
              </a:rPr>
              <a:t>.</a:t>
            </a:r>
            <a:br>
              <a:rPr lang="en-US" sz="3600">
                <a:latin typeface="Arial"/>
                <a:cs typeface="Arial"/>
              </a:rPr>
            </a:br>
            <a:r>
              <a:rPr lang="en-US" sz="3600">
                <a:latin typeface="Arial"/>
                <a:cs typeface="Arial"/>
              </a:rPr>
              <a:t> Luca said, “0.50 is smaller than 0.5 because it has an extra zero.”</a:t>
            </a:r>
            <a:br>
              <a:rPr lang="en-US" sz="3600">
                <a:latin typeface="Arial"/>
                <a:cs typeface="Arial"/>
              </a:rPr>
            </a:br>
            <a:r>
              <a:rPr lang="en-US" sz="3600">
                <a:latin typeface="Arial"/>
                <a:cs typeface="Arial"/>
              </a:rPr>
              <a:t> Mia shook her head and said, “That can’t be right!”</a:t>
            </a:r>
          </a:p>
          <a:p>
            <a:pPr algn="ctr"/>
            <a:r>
              <a:rPr lang="en-US" sz="3600" b="1">
                <a:latin typeface="Arial"/>
                <a:cs typeface="Arial"/>
              </a:rPr>
              <a:t>Is Luca's statement true or false?</a:t>
            </a:r>
            <a:endParaRPr lang="en-US" sz="3600" b="1"/>
          </a:p>
        </p:txBody>
      </p:sp>
      <p:sp>
        <p:nvSpPr>
          <p:cNvPr id="4" name="Text Placeholder 11">
            <a:extLst>
              <a:ext uri="{FF2B5EF4-FFF2-40B4-BE49-F238E27FC236}">
                <a16:creationId xmlns:a16="http://schemas.microsoft.com/office/drawing/2014/main" id="{E23787D2-1639-51C7-8B9A-B1BB62CAB6AA}"/>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3532031224"/>
              </p:ext>
            </p:extLst>
          </p:nvPr>
        </p:nvGraphicFramePr>
        <p:xfrm>
          <a:off x="2442981" y="563735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75557DD5-EF65-9FF3-3C88-C4692F9C2F2F}"/>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(29)</a:t>
            </a:r>
          </a:p>
        </p:txBody>
      </p:sp>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359999" y="2147754"/>
            <a:ext cx="11189376" cy="4168875"/>
          </a:xfrm>
        </p:spPr>
        <p:txBody>
          <a:bodyPr/>
          <a:lstStyle/>
          <a:p>
            <a:pPr algn="ctr"/>
            <a:r>
              <a:rPr lang="en-US" sz="4400">
                <a:latin typeface="Arial"/>
                <a:cs typeface="Arial"/>
              </a:rPr>
              <a:t>Give 3 examples of when you would measure volume in cubic metres. </a:t>
            </a:r>
            <a:endParaRPr lang="en-US" sz="4400"/>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A2578A1-ADBB-72FE-B090-2577A9392D2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(30)</a:t>
            </a:r>
          </a:p>
        </p:txBody>
      </p:sp>
      <p:sp>
        <p:nvSpPr>
          <p:cNvPr id="11" name="Picture Placeholder 10">
            <a:extLst>
              <a:ext uri="{FF2B5EF4-FFF2-40B4-BE49-F238E27FC236}">
                <a16:creationId xmlns:a16="http://schemas.microsoft.com/office/drawing/2014/main" id="{D23D2566-41DB-141E-5859-22E86591C65C}"/>
              </a:ext>
            </a:extLst>
          </p:cNvPr>
          <p:cNvSpPr>
            <a:spLocks noGrp="1"/>
          </p:cNvSpPr>
          <p:nvPr>
            <p:ph type="pic" sz="quarter" idx="21"/>
          </p:nvPr>
        </p:nvSpPr>
        <p:spPr>
          <a:xfrm>
            <a:off x="600963" y="1419344"/>
            <a:ext cx="11243037" cy="3056398"/>
          </a:xfrm>
        </p:spPr>
        <p:txBody>
          <a:bodyPr/>
          <a:lstStyle/>
          <a:p>
            <a:pPr algn="ctr"/>
            <a:r>
              <a:rPr lang="en-US" sz="4400">
                <a:latin typeface="Arial"/>
                <a:cs typeface="Arial"/>
              </a:rPr>
              <a:t>Draw a number line 0-1. </a:t>
            </a:r>
          </a:p>
          <a:p>
            <a:pPr algn="ctr"/>
            <a:r>
              <a:rPr lang="en-US" sz="4400">
                <a:latin typeface="Arial"/>
                <a:cs typeface="Arial"/>
              </a:rPr>
              <a:t>Order the following </a:t>
            </a:r>
            <a:r>
              <a:rPr lang="en-US" sz="4400" b="1">
                <a:latin typeface="Arial"/>
                <a:cs typeface="Arial"/>
              </a:rPr>
              <a:t>fractions</a:t>
            </a:r>
            <a:r>
              <a:rPr lang="en-US" sz="4400">
                <a:latin typeface="Arial"/>
                <a:cs typeface="Arial"/>
              </a:rPr>
              <a:t>:</a:t>
            </a:r>
            <a:endParaRPr lang="en-US" sz="4400"/>
          </a:p>
          <a:p>
            <a:pPr algn="ctr"/>
            <a:endParaRPr lang="en-US" sz="4400">
              <a:latin typeface="Arial"/>
              <a:cs typeface="Arial"/>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3CB7850-2242-1AA8-094E-47B40D2B6A05}"/>
                  </a:ext>
                </a:extLst>
              </p:cNvPr>
              <p:cNvGraphicFramePr>
                <a:graphicFrameLocks noGrp="1"/>
              </p:cNvGraphicFramePr>
              <p:nvPr>
                <p:extLst>
                  <p:ext uri="{D42A27DB-BD31-4B8C-83A1-F6EECF244321}">
                    <p14:modId xmlns:p14="http://schemas.microsoft.com/office/powerpoint/2010/main" val="1017687949"/>
                  </p:ext>
                </p:extLst>
              </p:nvPr>
            </p:nvGraphicFramePr>
            <p:xfrm>
              <a:off x="2158480" y="4475741"/>
              <a:ext cx="8271396" cy="1523429"/>
            </p:xfrm>
            <a:graphic>
              <a:graphicData uri="http://schemas.openxmlformats.org/drawingml/2006/table">
                <a:tbl>
                  <a:tblPr firstRow="1" bandRow="1">
                    <a:tableStyleId>{5A111915-BE36-4E01-A7E5-04B1672EAD32}</a:tableStyleId>
                  </a:tblPr>
                  <a:tblGrid>
                    <a:gridCol w="1181628">
                      <a:extLst>
                        <a:ext uri="{9D8B030D-6E8A-4147-A177-3AD203B41FA5}">
                          <a16:colId xmlns:a16="http://schemas.microsoft.com/office/drawing/2014/main" val="1840471698"/>
                        </a:ext>
                      </a:extLst>
                    </a:gridCol>
                    <a:gridCol w="1181628">
                      <a:extLst>
                        <a:ext uri="{9D8B030D-6E8A-4147-A177-3AD203B41FA5}">
                          <a16:colId xmlns:a16="http://schemas.microsoft.com/office/drawing/2014/main" val="3334834337"/>
                        </a:ext>
                      </a:extLst>
                    </a:gridCol>
                    <a:gridCol w="1181628">
                      <a:extLst>
                        <a:ext uri="{9D8B030D-6E8A-4147-A177-3AD203B41FA5}">
                          <a16:colId xmlns:a16="http://schemas.microsoft.com/office/drawing/2014/main" val="2438142639"/>
                        </a:ext>
                      </a:extLst>
                    </a:gridCol>
                    <a:gridCol w="1181628">
                      <a:extLst>
                        <a:ext uri="{9D8B030D-6E8A-4147-A177-3AD203B41FA5}">
                          <a16:colId xmlns:a16="http://schemas.microsoft.com/office/drawing/2014/main" val="2464327404"/>
                        </a:ext>
                      </a:extLst>
                    </a:gridCol>
                    <a:gridCol w="1181628">
                      <a:extLst>
                        <a:ext uri="{9D8B030D-6E8A-4147-A177-3AD203B41FA5}">
                          <a16:colId xmlns:a16="http://schemas.microsoft.com/office/drawing/2014/main" val="428090746"/>
                        </a:ext>
                      </a:extLst>
                    </a:gridCol>
                    <a:gridCol w="1181628">
                      <a:extLst>
                        <a:ext uri="{9D8B030D-6E8A-4147-A177-3AD203B41FA5}">
                          <a16:colId xmlns:a16="http://schemas.microsoft.com/office/drawing/2014/main" val="299356817"/>
                        </a:ext>
                      </a:extLst>
                    </a:gridCol>
                    <a:gridCol w="1181628">
                      <a:extLst>
                        <a:ext uri="{9D8B030D-6E8A-4147-A177-3AD203B41FA5}">
                          <a16:colId xmlns:a16="http://schemas.microsoft.com/office/drawing/2014/main" val="3565431955"/>
                        </a:ext>
                      </a:extLst>
                    </a:gridCol>
                  </a:tblGrid>
                  <a:tr h="1477383">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tx1"/>
                                        </a:solidFill>
                                        <a:latin typeface="Cambria Math" panose="02040503050406030204" pitchFamily="18" charset="0"/>
                                        <a:ea typeface="Cambria Math" panose="02040503050406030204" pitchFamily="18" charset="0"/>
                                        <a:cs typeface="Arial"/>
                                      </a:rPr>
                                    </m:ctrlPr>
                                  </m:fPr>
                                  <m:num>
                                    <m:r>
                                      <a:rPr lang="en-AU" sz="4000" b="0" i="1" smtClean="0">
                                        <a:solidFill>
                                          <a:schemeClr val="tx1"/>
                                        </a:solidFill>
                                        <a:latin typeface="Cambria Math" panose="02040503050406030204" pitchFamily="18" charset="0"/>
                                        <a:ea typeface="Cambria Math" panose="02040503050406030204" pitchFamily="18" charset="0"/>
                                        <a:cs typeface="Arial"/>
                                      </a:rPr>
                                      <m:t>2</m:t>
                                    </m:r>
                                  </m:num>
                                  <m:den>
                                    <m:r>
                                      <a:rPr lang="en-AU" sz="4000" b="0" i="1" smtClean="0">
                                        <a:solidFill>
                                          <a:schemeClr val="tx1"/>
                                        </a:solidFill>
                                        <a:latin typeface="Cambria Math" panose="02040503050406030204" pitchFamily="18" charset="0"/>
                                        <a:ea typeface="Cambria Math" panose="02040503050406030204" pitchFamily="18" charset="0"/>
                                        <a:cs typeface="Arial"/>
                                      </a:rPr>
                                      <m:t>3</m:t>
                                    </m:r>
                                  </m:den>
                                </m:f>
                                <m:r>
                                  <a:rPr lang="en-AU" sz="4000" b="0" i="1" smtClean="0">
                                    <a:solidFill>
                                      <a:schemeClr val="tx1"/>
                                    </a:solidFill>
                                    <a:latin typeface="Cambria Math" panose="02040503050406030204" pitchFamily="18" charset="0"/>
                                    <a:ea typeface="Cambria Math" panose="02040503050406030204" pitchFamily="18" charset="0"/>
                                    <a:cs typeface="Arial"/>
                                  </a:rPr>
                                  <m:t>,</m:t>
                                </m:r>
                              </m:oMath>
                            </m:oMathPara>
                          </a14:m>
                          <a:endParaRPr lang="en-AU" sz="4000">
                            <a:solidFill>
                              <a:schemeClr val="tx1"/>
                            </a:solidFill>
                            <a:latin typeface="Cambria Math" panose="02040503050406030204" pitchFamily="18" charset="0"/>
                            <a:ea typeface="Cambria Math"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tx1"/>
                                        </a:solidFill>
                                        <a:latin typeface="Cambria Math" panose="02040503050406030204" pitchFamily="18" charset="0"/>
                                        <a:ea typeface="Cambria Math" panose="02040503050406030204" pitchFamily="18" charset="0"/>
                                        <a:cs typeface="Arial"/>
                                      </a:rPr>
                                    </m:ctrlPr>
                                  </m:fPr>
                                  <m:num>
                                    <m:r>
                                      <a:rPr lang="en-AU" sz="4000" b="0" i="1" smtClean="0">
                                        <a:solidFill>
                                          <a:schemeClr val="tx1"/>
                                        </a:solidFill>
                                        <a:latin typeface="Cambria Math" panose="02040503050406030204" pitchFamily="18" charset="0"/>
                                        <a:ea typeface="Cambria Math" panose="02040503050406030204" pitchFamily="18" charset="0"/>
                                        <a:cs typeface="Arial"/>
                                      </a:rPr>
                                      <m:t>1</m:t>
                                    </m:r>
                                  </m:num>
                                  <m:den>
                                    <m:r>
                                      <a:rPr lang="en-AU" sz="4000" b="0" i="1" smtClean="0">
                                        <a:solidFill>
                                          <a:schemeClr val="tx1"/>
                                        </a:solidFill>
                                        <a:latin typeface="Cambria Math" panose="02040503050406030204" pitchFamily="18" charset="0"/>
                                        <a:ea typeface="Cambria Math" panose="02040503050406030204" pitchFamily="18" charset="0"/>
                                        <a:cs typeface="Arial"/>
                                      </a:rPr>
                                      <m:t>6</m:t>
                                    </m:r>
                                  </m:den>
                                </m:f>
                                <m:r>
                                  <a:rPr lang="en-AU" sz="4000" b="0" i="1" smtClean="0">
                                    <a:solidFill>
                                      <a:schemeClr val="tx1"/>
                                    </a:solidFill>
                                    <a:latin typeface="Cambria Math" panose="02040503050406030204" pitchFamily="18" charset="0"/>
                                    <a:ea typeface="Cambria Math" panose="02040503050406030204" pitchFamily="18" charset="0"/>
                                    <a:cs typeface="Arial"/>
                                  </a:rPr>
                                  <m:t>, </m:t>
                                </m:r>
                              </m:oMath>
                            </m:oMathPara>
                          </a14:m>
                          <a:endParaRPr lang="en-AU" sz="4000">
                            <a:solidFill>
                              <a:schemeClr val="tx1"/>
                            </a:solidFill>
                            <a:latin typeface="Cambria Math" panose="02040503050406030204" pitchFamily="18" charset="0"/>
                            <a:ea typeface="Cambria Math"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AU" sz="4000" b="0" i="1" smtClean="0">
                                        <a:solidFill>
                                          <a:schemeClr val="tx1"/>
                                        </a:solidFill>
                                        <a:latin typeface="Cambria Math" panose="02040503050406030204" pitchFamily="18" charset="0"/>
                                        <a:ea typeface="Cambria Math" panose="02040503050406030204" pitchFamily="18" charset="0"/>
                                        <a:cs typeface="Arial"/>
                                      </a:rPr>
                                    </m:ctrlPr>
                                  </m:fPr>
                                  <m:num>
                                    <m:r>
                                      <a:rPr lang="en-AU" sz="4000" b="0" i="1" smtClean="0">
                                        <a:solidFill>
                                          <a:schemeClr val="tx1"/>
                                        </a:solidFill>
                                        <a:latin typeface="Cambria Math" panose="02040503050406030204" pitchFamily="18" charset="0"/>
                                        <a:ea typeface="Cambria Math" panose="02040503050406030204" pitchFamily="18" charset="0"/>
                                        <a:cs typeface="Arial"/>
                                      </a:rPr>
                                      <m:t>4</m:t>
                                    </m:r>
                                  </m:num>
                                  <m:den>
                                    <m:r>
                                      <a:rPr lang="en-AU" sz="4000" b="0" i="1" smtClean="0">
                                        <a:solidFill>
                                          <a:schemeClr val="tx1"/>
                                        </a:solidFill>
                                        <a:latin typeface="Cambria Math" panose="02040503050406030204" pitchFamily="18" charset="0"/>
                                        <a:ea typeface="Cambria Math" panose="02040503050406030204" pitchFamily="18" charset="0"/>
                                        <a:cs typeface="Arial"/>
                                      </a:rPr>
                                      <m:t>6</m:t>
                                    </m:r>
                                  </m:den>
                                </m:f>
                                <m:r>
                                  <a:rPr lang="en-AU" sz="4000" b="0" i="1" smtClean="0">
                                    <a:solidFill>
                                      <a:schemeClr val="tx1"/>
                                    </a:solidFill>
                                    <a:latin typeface="Cambria Math" panose="02040503050406030204" pitchFamily="18" charset="0"/>
                                    <a:ea typeface="Cambria Math" panose="02040503050406030204" pitchFamily="18" charset="0"/>
                                    <a:cs typeface="Arial"/>
                                  </a:rPr>
                                  <m:t>, </m:t>
                                </m:r>
                              </m:oMath>
                            </m:oMathPara>
                          </a14:m>
                          <a:endParaRPr lang="en-AU" sz="4000">
                            <a:solidFill>
                              <a:schemeClr val="tx1"/>
                            </a:solidFill>
                            <a:latin typeface="Cambria Math" panose="02040503050406030204" pitchFamily="18" charset="0"/>
                            <a:ea typeface="Cambria Math"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AU" sz="4000" b="0" i="1" smtClean="0">
                                        <a:solidFill>
                                          <a:schemeClr val="tx1"/>
                                        </a:solidFill>
                                        <a:latin typeface="Cambria Math" panose="02040503050406030204" pitchFamily="18" charset="0"/>
                                        <a:ea typeface="Cambria Math" panose="02040503050406030204" pitchFamily="18" charset="0"/>
                                        <a:cs typeface="Arial"/>
                                      </a:rPr>
                                    </m:ctrlPr>
                                  </m:fPr>
                                  <m:num>
                                    <m:r>
                                      <a:rPr lang="en-AU" sz="4000" b="0" i="1" smtClean="0">
                                        <a:solidFill>
                                          <a:schemeClr val="tx1"/>
                                        </a:solidFill>
                                        <a:latin typeface="Cambria Math" panose="02040503050406030204" pitchFamily="18" charset="0"/>
                                        <a:ea typeface="Cambria Math" panose="02040503050406030204" pitchFamily="18" charset="0"/>
                                        <a:cs typeface="Arial"/>
                                      </a:rPr>
                                      <m:t>3</m:t>
                                    </m:r>
                                  </m:num>
                                  <m:den>
                                    <m:r>
                                      <a:rPr lang="en-AU" sz="4000" b="0" i="1" smtClean="0">
                                        <a:solidFill>
                                          <a:schemeClr val="tx1"/>
                                        </a:solidFill>
                                        <a:latin typeface="Cambria Math" panose="02040503050406030204" pitchFamily="18" charset="0"/>
                                        <a:ea typeface="Cambria Math" panose="02040503050406030204" pitchFamily="18" charset="0"/>
                                        <a:cs typeface="Arial"/>
                                      </a:rPr>
                                      <m:t>6</m:t>
                                    </m:r>
                                  </m:den>
                                </m:f>
                                <m:r>
                                  <a:rPr lang="en-AU" sz="4000" b="0" i="1" smtClean="0">
                                    <a:solidFill>
                                      <a:schemeClr val="tx1"/>
                                    </a:solidFill>
                                    <a:latin typeface="Cambria Math" panose="02040503050406030204" pitchFamily="18" charset="0"/>
                                    <a:ea typeface="Cambria Math" panose="02040503050406030204" pitchFamily="18" charset="0"/>
                                    <a:cs typeface="Arial"/>
                                  </a:rPr>
                                  <m:t>, </m:t>
                                </m:r>
                              </m:oMath>
                            </m:oMathPara>
                          </a14:m>
                          <a:endParaRPr lang="en-AU" sz="4000">
                            <a:solidFill>
                              <a:schemeClr val="tx1"/>
                            </a:solidFill>
                            <a:latin typeface="Cambria Math" panose="02040503050406030204" pitchFamily="18" charset="0"/>
                            <a:ea typeface="Cambria Math"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AU" sz="4000" b="0" i="1" smtClean="0">
                                        <a:solidFill>
                                          <a:schemeClr val="tx1"/>
                                        </a:solidFill>
                                        <a:latin typeface="Cambria Math" panose="02040503050406030204" pitchFamily="18" charset="0"/>
                                        <a:ea typeface="Cambria Math" panose="02040503050406030204" pitchFamily="18" charset="0"/>
                                        <a:cs typeface="Arial"/>
                                      </a:rPr>
                                    </m:ctrlPr>
                                  </m:fPr>
                                  <m:num>
                                    <m:r>
                                      <a:rPr lang="en-AU" sz="4000" b="0" i="1" smtClean="0">
                                        <a:solidFill>
                                          <a:schemeClr val="tx1"/>
                                        </a:solidFill>
                                        <a:latin typeface="Cambria Math" panose="02040503050406030204" pitchFamily="18" charset="0"/>
                                        <a:ea typeface="Cambria Math" panose="02040503050406030204" pitchFamily="18" charset="0"/>
                                        <a:cs typeface="Arial"/>
                                      </a:rPr>
                                      <m:t>3</m:t>
                                    </m:r>
                                  </m:num>
                                  <m:den>
                                    <m:r>
                                      <a:rPr lang="en-AU" sz="4000" b="0" i="1" smtClean="0">
                                        <a:solidFill>
                                          <a:schemeClr val="tx1"/>
                                        </a:solidFill>
                                        <a:latin typeface="Cambria Math" panose="02040503050406030204" pitchFamily="18" charset="0"/>
                                        <a:ea typeface="Cambria Math" panose="02040503050406030204" pitchFamily="18" charset="0"/>
                                        <a:cs typeface="Arial"/>
                                      </a:rPr>
                                      <m:t>3</m:t>
                                    </m:r>
                                  </m:den>
                                </m:f>
                                <m:r>
                                  <a:rPr lang="en-AU" sz="4000" b="0" i="1" smtClean="0">
                                    <a:solidFill>
                                      <a:schemeClr val="tx1"/>
                                    </a:solidFill>
                                    <a:latin typeface="Cambria Math" panose="02040503050406030204" pitchFamily="18" charset="0"/>
                                    <a:ea typeface="Cambria Math" panose="02040503050406030204" pitchFamily="18" charset="0"/>
                                    <a:cs typeface="Arial"/>
                                  </a:rPr>
                                  <m:t>,</m:t>
                                </m:r>
                              </m:oMath>
                            </m:oMathPara>
                          </a14:m>
                          <a:endParaRPr lang="en-AU" sz="4000">
                            <a:solidFill>
                              <a:schemeClr val="tx1"/>
                            </a:solidFill>
                            <a:latin typeface="Cambria Math" panose="02040503050406030204" pitchFamily="18" charset="0"/>
                            <a:ea typeface="Cambria Math"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AU" sz="4000" b="0" i="1" u="none" strike="noStrike" kern="1200" cap="none" spc="0" normalizeH="0" baseline="0" noProof="0" smtClean="0">
                                        <a:ln>
                                          <a:noFill/>
                                        </a:ln>
                                        <a:solidFill>
                                          <a:srgbClr val="22272B"/>
                                        </a:solidFill>
                                        <a:effectLst/>
                                        <a:uLnTx/>
                                        <a:uFillTx/>
                                        <a:latin typeface="Cambria Math" panose="02040503050406030204" pitchFamily="18" charset="0"/>
                                        <a:ea typeface="Cambria Math" panose="02040503050406030204" pitchFamily="18" charset="0"/>
                                        <a:cs typeface="Arial"/>
                                      </a:rPr>
                                    </m:ctrlPr>
                                  </m:fPr>
                                  <m:num>
                                    <m:r>
                                      <a:rPr kumimoji="0" lang="en-AU" sz="4000" b="0" i="1" u="none" strike="noStrike" kern="1200" cap="none" spc="0" normalizeH="0" baseline="0" noProof="0" smtClean="0">
                                        <a:ln>
                                          <a:noFill/>
                                        </a:ln>
                                        <a:solidFill>
                                          <a:srgbClr val="22272B"/>
                                        </a:solidFill>
                                        <a:effectLst/>
                                        <a:uLnTx/>
                                        <a:uFillTx/>
                                        <a:latin typeface="Cambria Math" panose="02040503050406030204" pitchFamily="18" charset="0"/>
                                        <a:ea typeface="Cambria Math" panose="02040503050406030204" pitchFamily="18" charset="0"/>
                                        <a:cs typeface="Arial"/>
                                      </a:rPr>
                                      <m:t>5</m:t>
                                    </m:r>
                                  </m:num>
                                  <m:den>
                                    <m:r>
                                      <a:rPr kumimoji="0" lang="en-AU" sz="4000" b="0" i="1" u="none" strike="noStrike" kern="1200" cap="none" spc="0" normalizeH="0" baseline="0" noProof="0" smtClean="0">
                                        <a:ln>
                                          <a:noFill/>
                                        </a:ln>
                                        <a:solidFill>
                                          <a:srgbClr val="22272B"/>
                                        </a:solidFill>
                                        <a:effectLst/>
                                        <a:uLnTx/>
                                        <a:uFillTx/>
                                        <a:latin typeface="Cambria Math" panose="02040503050406030204" pitchFamily="18" charset="0"/>
                                        <a:ea typeface="Cambria Math" panose="02040503050406030204" pitchFamily="18" charset="0"/>
                                        <a:cs typeface="Arial"/>
                                      </a:rPr>
                                      <m:t>6</m:t>
                                    </m:r>
                                  </m:den>
                                </m:f>
                                <m:r>
                                  <a:rPr kumimoji="0" lang="en-AU" sz="4000" b="0" i="1" u="none" strike="noStrike" kern="1200" cap="none" spc="0" normalizeH="0" baseline="0" noProof="0" smtClean="0">
                                    <a:ln>
                                      <a:noFill/>
                                    </a:ln>
                                    <a:solidFill>
                                      <a:srgbClr val="22272B"/>
                                    </a:solidFill>
                                    <a:effectLst/>
                                    <a:uLnTx/>
                                    <a:uFillTx/>
                                    <a:latin typeface="Cambria Math" panose="02040503050406030204" pitchFamily="18" charset="0"/>
                                    <a:ea typeface="Cambria Math" panose="02040503050406030204" pitchFamily="18" charset="0"/>
                                    <a:cs typeface="Arial"/>
                                  </a:rPr>
                                  <m:t>, </m:t>
                                </m:r>
                              </m:oMath>
                            </m:oMathPara>
                          </a14:m>
                          <a:endParaRPr kumimoji="0" lang="en-AU" sz="4000" b="1" i="0" u="none" strike="noStrike" kern="1200" cap="none" spc="0" normalizeH="0" baseline="0" noProof="0">
                            <a:ln>
                              <a:noFill/>
                            </a:ln>
                            <a:solidFill>
                              <a:srgbClr val="22272B"/>
                            </a:solidFill>
                            <a:effectLst/>
                            <a:uLnTx/>
                            <a:uFillTx/>
                            <a:latin typeface="Cambria Math" panose="02040503050406030204" pitchFamily="18" charset="0"/>
                            <a:ea typeface="Cambria Math" panose="02040503050406030204" pitchFamily="18" charset="0"/>
                            <a:cs typeface="+mn-cs"/>
                          </a:endParaRPr>
                        </a:p>
                        <a:p>
                          <a:pPr algn="ctr"/>
                          <a:endParaRPr lang="en-AU"/>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4000" i="1" smtClean="0">
                                        <a:solidFill>
                                          <a:schemeClr val="tx1"/>
                                        </a:solidFill>
                                        <a:latin typeface="Cambria Math" panose="02040503050406030204" pitchFamily="18" charset="0"/>
                                        <a:ea typeface="Cambria Math" panose="02040503050406030204" pitchFamily="18" charset="0"/>
                                        <a:cs typeface="Arial"/>
                                      </a:rPr>
                                    </m:ctrlPr>
                                  </m:fPr>
                                  <m:num>
                                    <m:r>
                                      <a:rPr lang="en-AU" sz="4000" b="0" i="1" smtClean="0">
                                        <a:solidFill>
                                          <a:schemeClr val="tx1"/>
                                        </a:solidFill>
                                        <a:latin typeface="Cambria Math" panose="02040503050406030204" pitchFamily="18" charset="0"/>
                                        <a:ea typeface="Cambria Math" panose="02040503050406030204" pitchFamily="18" charset="0"/>
                                        <a:cs typeface="Arial"/>
                                      </a:rPr>
                                      <m:t>1</m:t>
                                    </m:r>
                                  </m:num>
                                  <m:den>
                                    <m:r>
                                      <a:rPr lang="en-AU" sz="4000" b="0" i="1" smtClean="0">
                                        <a:solidFill>
                                          <a:schemeClr val="tx1"/>
                                        </a:solidFill>
                                        <a:latin typeface="Cambria Math" panose="02040503050406030204" pitchFamily="18" charset="0"/>
                                        <a:ea typeface="Cambria Math" panose="02040503050406030204" pitchFamily="18" charset="0"/>
                                        <a:cs typeface="Arial"/>
                                      </a:rPr>
                                      <m:t>6</m:t>
                                    </m:r>
                                  </m:den>
                                </m:f>
                              </m:oMath>
                            </m:oMathPara>
                          </a14:m>
                          <a:endParaRPr lang="en-AU" sz="4000">
                            <a:solidFill>
                              <a:schemeClr val="tx1"/>
                            </a:solidFill>
                            <a:latin typeface="Cambria Math" panose="02040503050406030204" pitchFamily="18" charset="0"/>
                            <a:ea typeface="Cambria Math"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1664746"/>
                      </a:ext>
                    </a:extLst>
                  </a:tr>
                </a:tbl>
              </a:graphicData>
            </a:graphic>
          </p:graphicFrame>
        </mc:Choice>
        <mc:Fallback xmlns="">
          <p:graphicFrame>
            <p:nvGraphicFramePr>
              <p:cNvPr id="4" name="Table 3">
                <a:extLst>
                  <a:ext uri="{FF2B5EF4-FFF2-40B4-BE49-F238E27FC236}">
                    <a16:creationId xmlns:a16="http://schemas.microsoft.com/office/drawing/2014/main" id="{E3CB7850-2242-1AA8-094E-47B40D2B6A05}"/>
                  </a:ext>
                </a:extLst>
              </p:cNvPr>
              <p:cNvGraphicFramePr>
                <a:graphicFrameLocks noGrp="1"/>
              </p:cNvGraphicFramePr>
              <p:nvPr>
                <p:extLst>
                  <p:ext uri="{D42A27DB-BD31-4B8C-83A1-F6EECF244321}">
                    <p14:modId xmlns:p14="http://schemas.microsoft.com/office/powerpoint/2010/main" val="1017687949"/>
                  </p:ext>
                </p:extLst>
              </p:nvPr>
            </p:nvGraphicFramePr>
            <p:xfrm>
              <a:off x="2158480" y="4475741"/>
              <a:ext cx="8271396" cy="1523429"/>
            </p:xfrm>
            <a:graphic>
              <a:graphicData uri="http://schemas.openxmlformats.org/drawingml/2006/table">
                <a:tbl>
                  <a:tblPr firstRow="1" bandRow="1">
                    <a:tableStyleId>{5A111915-BE36-4E01-A7E5-04B1672EAD32}</a:tableStyleId>
                  </a:tblPr>
                  <a:tblGrid>
                    <a:gridCol w="1181628">
                      <a:extLst>
                        <a:ext uri="{9D8B030D-6E8A-4147-A177-3AD203B41FA5}">
                          <a16:colId xmlns:a16="http://schemas.microsoft.com/office/drawing/2014/main" val="1840471698"/>
                        </a:ext>
                      </a:extLst>
                    </a:gridCol>
                    <a:gridCol w="1181628">
                      <a:extLst>
                        <a:ext uri="{9D8B030D-6E8A-4147-A177-3AD203B41FA5}">
                          <a16:colId xmlns:a16="http://schemas.microsoft.com/office/drawing/2014/main" val="3334834337"/>
                        </a:ext>
                      </a:extLst>
                    </a:gridCol>
                    <a:gridCol w="1181628">
                      <a:extLst>
                        <a:ext uri="{9D8B030D-6E8A-4147-A177-3AD203B41FA5}">
                          <a16:colId xmlns:a16="http://schemas.microsoft.com/office/drawing/2014/main" val="2438142639"/>
                        </a:ext>
                      </a:extLst>
                    </a:gridCol>
                    <a:gridCol w="1181628">
                      <a:extLst>
                        <a:ext uri="{9D8B030D-6E8A-4147-A177-3AD203B41FA5}">
                          <a16:colId xmlns:a16="http://schemas.microsoft.com/office/drawing/2014/main" val="2464327404"/>
                        </a:ext>
                      </a:extLst>
                    </a:gridCol>
                    <a:gridCol w="1181628">
                      <a:extLst>
                        <a:ext uri="{9D8B030D-6E8A-4147-A177-3AD203B41FA5}">
                          <a16:colId xmlns:a16="http://schemas.microsoft.com/office/drawing/2014/main" val="428090746"/>
                        </a:ext>
                      </a:extLst>
                    </a:gridCol>
                    <a:gridCol w="1181628">
                      <a:extLst>
                        <a:ext uri="{9D8B030D-6E8A-4147-A177-3AD203B41FA5}">
                          <a16:colId xmlns:a16="http://schemas.microsoft.com/office/drawing/2014/main" val="299356817"/>
                        </a:ext>
                      </a:extLst>
                    </a:gridCol>
                    <a:gridCol w="1181628">
                      <a:extLst>
                        <a:ext uri="{9D8B030D-6E8A-4147-A177-3AD203B41FA5}">
                          <a16:colId xmlns:a16="http://schemas.microsoft.com/office/drawing/2014/main" val="3565431955"/>
                        </a:ext>
                      </a:extLst>
                    </a:gridCol>
                  </a:tblGrid>
                  <a:tr h="1523429">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r="-599485"/>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0000" r="-499485"/>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00000" r="-399485"/>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01554" r="-301554"/>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99485" r="-2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499485"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599485"/>
                          </a:stretch>
                        </a:blipFill>
                      </a:tcPr>
                    </a:tc>
                    <a:extLst>
                      <a:ext uri="{0D108BD9-81ED-4DB2-BD59-A6C34878D82A}">
                        <a16:rowId xmlns:a16="http://schemas.microsoft.com/office/drawing/2014/main" val="811664746"/>
                      </a:ext>
                    </a:extLst>
                  </a:tr>
                </a:tbl>
              </a:graphicData>
            </a:graphic>
          </p:graphicFrame>
        </mc:Fallback>
      </mc:AlternateContent>
      <p:pic>
        <p:nvPicPr>
          <p:cNvPr id="5" name="Picture 4" descr="image of a clipboard with a pencil recording short answer responses">
            <a:extLst>
              <a:ext uri="{FF2B5EF4-FFF2-40B4-BE49-F238E27FC236}">
                <a16:creationId xmlns:a16="http://schemas.microsoft.com/office/drawing/2014/main" id="{96D03F5E-A893-89A8-C765-B38394489A2E}"/>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(31)</a:t>
            </a:r>
          </a:p>
        </p:txBody>
      </p:sp>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47832" y="1986768"/>
            <a:ext cx="11178643" cy="2880988"/>
          </a:xfrm>
        </p:spPr>
        <p:txBody>
          <a:bodyPr/>
          <a:lstStyle/>
          <a:p>
            <a:pPr algn="ctr"/>
            <a:r>
              <a:rPr lang="en-US" sz="4400">
                <a:latin typeface="Arial"/>
                <a:cs typeface="Arial"/>
              </a:rPr>
              <a:t>Solve</a:t>
            </a:r>
            <a:endParaRPr lang="en-US" sz="4400"/>
          </a:p>
          <a:p>
            <a:pPr algn="ctr"/>
            <a:r>
              <a:rPr lang="en-US" sz="4400">
                <a:latin typeface="Arial"/>
                <a:cs typeface="Arial"/>
              </a:rPr>
              <a:t>9000 - 587</a:t>
            </a:r>
            <a:endParaRPr lang="en-US" sz="4400"/>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F091A0-BE16-4A35-B2E1-6ACE56F3AA88}"/>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pic>
        <p:nvPicPr>
          <p:cNvPr id="13" name="Picture 12" descr="An irregular 6 sided shape with different angles and side lengths.">
            <a:extLst>
              <a:ext uri="{FF2B5EF4-FFF2-40B4-BE49-F238E27FC236}">
                <a16:creationId xmlns:a16="http://schemas.microsoft.com/office/drawing/2014/main" id="{95955354-C8D7-99C9-188A-526F1C2EDAAF}"/>
              </a:ext>
            </a:extLst>
          </p:cNvPr>
          <p:cNvPicPr>
            <a:picLocks noChangeAspect="1"/>
          </p:cNvPicPr>
          <p:nvPr/>
        </p:nvPicPr>
        <p:blipFill>
          <a:blip r:embed="rId3">
            <a:extLst>
              <a:ext uri="{28A0092B-C50C-407E-A947-70E740481C1C}">
                <a14:useLocalDpi xmlns:a14="http://schemas.microsoft.com/office/drawing/2010/main" val="0"/>
              </a:ext>
            </a:extLst>
          </a:blip>
          <a:srcRect l="32967" t="21079" r="31861" b="21863"/>
          <a:stretch>
            <a:fillRect/>
          </a:stretch>
        </p:blipFill>
        <p:spPr>
          <a:xfrm rot="4544162">
            <a:off x="6808770" y="1554299"/>
            <a:ext cx="2642795" cy="3031050"/>
          </a:xfrm>
          <a:prstGeom prst="rect">
            <a:avLst/>
          </a:prstGeom>
        </p:spPr>
      </p:pic>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(32)</a:t>
            </a:r>
          </a:p>
        </p:txBody>
      </p:sp>
      <p:sp>
        <p:nvSpPr>
          <p:cNvPr id="11" name="Picture Placeholder 10">
            <a:extLst>
              <a:ext uri="{FF2B5EF4-FFF2-40B4-BE49-F238E27FC236}">
                <a16:creationId xmlns:a16="http://schemas.microsoft.com/office/drawing/2014/main" id="{57DCC576-F92F-1793-E208-C0A079F57864}"/>
              </a:ext>
            </a:extLst>
          </p:cNvPr>
          <p:cNvSpPr>
            <a:spLocks noGrp="1"/>
          </p:cNvSpPr>
          <p:nvPr>
            <p:ph type="pic" sz="quarter" idx="21"/>
          </p:nvPr>
        </p:nvSpPr>
        <p:spPr>
          <a:xfrm>
            <a:off x="410085" y="1005429"/>
            <a:ext cx="11371829" cy="956721"/>
          </a:xfrm>
        </p:spPr>
        <p:txBody>
          <a:bodyPr/>
          <a:lstStyle/>
          <a:p>
            <a:pPr algn="ctr"/>
            <a:r>
              <a:rPr lang="en-US" sz="3200">
                <a:latin typeface="Arial"/>
                <a:cs typeface="Arial"/>
              </a:rPr>
              <a:t>Look at these 2 shapes:</a:t>
            </a:r>
            <a:endParaRPr lang="en-US" sz="2800"/>
          </a:p>
          <a:p>
            <a:pPr algn="ctr"/>
            <a:endParaRPr lang="en-US" sz="4400"/>
          </a:p>
          <a:p>
            <a:pPr algn="ctr"/>
            <a:endParaRPr lang="en-US" sz="4400"/>
          </a:p>
          <a:p>
            <a:endParaRPr lang="en-US">
              <a:latin typeface="Arial"/>
              <a:cs typeface="Arial"/>
            </a:endParaRPr>
          </a:p>
        </p:txBody>
      </p:sp>
      <p:sp>
        <p:nvSpPr>
          <p:cNvPr id="4" name="Hexagon 3" descr="A regular hexagon.">
            <a:extLst>
              <a:ext uri="{FF2B5EF4-FFF2-40B4-BE49-F238E27FC236}">
                <a16:creationId xmlns:a16="http://schemas.microsoft.com/office/drawing/2014/main" id="{4D295FCB-952E-CAC4-8DD9-F944035EC4AC}"/>
              </a:ext>
            </a:extLst>
          </p:cNvPr>
          <p:cNvSpPr/>
          <p:nvPr/>
        </p:nvSpPr>
        <p:spPr>
          <a:xfrm>
            <a:off x="2456585" y="2061978"/>
            <a:ext cx="2452254" cy="2161309"/>
          </a:xfrm>
          <a:prstGeom prst="hexagon">
            <a:avLst/>
          </a:prstGeom>
          <a:solidFill>
            <a:schemeClr val="accent1"/>
          </a:solidFill>
          <a:ln w="57150"/>
        </p:spPr>
        <p:style>
          <a:lnRef idx="2">
            <a:schemeClr val="dk1"/>
          </a:lnRef>
          <a:fillRef idx="1">
            <a:schemeClr val="lt1"/>
          </a:fillRef>
          <a:effectRef idx="0">
            <a:schemeClr val="dk1"/>
          </a:effectRef>
          <a:fontRef idx="minor">
            <a:schemeClr val="dk1"/>
          </a:fontRef>
        </p:style>
        <p:txBody>
          <a:bodyPr rtlCol="0" anchor="ctr"/>
          <a:lstStyle/>
          <a:p>
            <a:pPr algn="ctr"/>
            <a:r>
              <a:rPr lang="en-AU" b="1">
                <a:solidFill>
                  <a:schemeClr val="bg1"/>
                </a:solidFill>
              </a:rPr>
              <a:t>Shape A</a:t>
            </a:r>
          </a:p>
        </p:txBody>
      </p:sp>
      <p:sp>
        <p:nvSpPr>
          <p:cNvPr id="8" name="Rectangle 1">
            <a:extLst>
              <a:ext uri="{FF2B5EF4-FFF2-40B4-BE49-F238E27FC236}">
                <a16:creationId xmlns:a16="http://schemas.microsoft.com/office/drawing/2014/main" id="{5AC34F0C-28B1-3022-A067-304B23CEDBC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14" name="TextBox 13">
            <a:extLst>
              <a:ext uri="{FF2B5EF4-FFF2-40B4-BE49-F238E27FC236}">
                <a16:creationId xmlns:a16="http://schemas.microsoft.com/office/drawing/2014/main" id="{51BCFBB5-7824-F17B-5948-CE18B7EDA9D7}"/>
              </a:ext>
            </a:extLst>
          </p:cNvPr>
          <p:cNvSpPr txBox="1"/>
          <p:nvPr/>
        </p:nvSpPr>
        <p:spPr>
          <a:xfrm>
            <a:off x="7598352" y="3069824"/>
            <a:ext cx="1385454" cy="717341"/>
          </a:xfrm>
          <a:prstGeom prst="rect">
            <a:avLst/>
          </a:prstGeom>
          <a:noFill/>
        </p:spPr>
        <p:txBody>
          <a:bodyPr wrap="square" lIns="0" tIns="0" rIns="0" bIns="0" rtlCol="0">
            <a:noAutofit/>
          </a:bodyPr>
          <a:lstStyle/>
          <a:p>
            <a:pPr algn="l"/>
            <a:r>
              <a:rPr lang="en-AU" b="1">
                <a:solidFill>
                  <a:schemeClr val="bg1"/>
                </a:solidFill>
              </a:rPr>
              <a:t>Shape B</a:t>
            </a:r>
          </a:p>
        </p:txBody>
      </p:sp>
      <p:sp>
        <p:nvSpPr>
          <p:cNvPr id="9" name="TextBox 8">
            <a:extLst>
              <a:ext uri="{FF2B5EF4-FFF2-40B4-BE49-F238E27FC236}">
                <a16:creationId xmlns:a16="http://schemas.microsoft.com/office/drawing/2014/main" id="{ACA9A726-B081-C317-3845-5E96B3999E52}"/>
              </a:ext>
            </a:extLst>
          </p:cNvPr>
          <p:cNvSpPr txBox="1"/>
          <p:nvPr/>
        </p:nvSpPr>
        <p:spPr>
          <a:xfrm>
            <a:off x="1709232" y="4026223"/>
            <a:ext cx="9282618" cy="2123658"/>
          </a:xfrm>
          <a:prstGeom prst="rect">
            <a:avLst/>
          </a:prstGeom>
          <a:noFill/>
        </p:spPr>
        <p:txBody>
          <a:bodyPr wrap="square">
            <a:spAutoFit/>
          </a:bodyPr>
          <a:lstStyle/>
          <a:p>
            <a:pPr algn="ctr"/>
            <a:endParaRPr lang="en-US" sz="2400">
              <a:latin typeface="Arial"/>
              <a:cs typeface="Arial"/>
            </a:endParaRPr>
          </a:p>
          <a:p>
            <a:pPr algn="ctr"/>
            <a:endParaRPr lang="en-US" sz="2400">
              <a:latin typeface="Arial"/>
              <a:cs typeface="Arial"/>
            </a:endParaRPr>
          </a:p>
          <a:p>
            <a:pPr algn="ctr"/>
            <a:br>
              <a:rPr lang="en-US" sz="2800">
                <a:latin typeface="Arial"/>
                <a:cs typeface="Arial"/>
              </a:rPr>
            </a:br>
            <a:r>
              <a:rPr lang="en-US" sz="2800">
                <a:latin typeface="Arial"/>
                <a:cs typeface="Arial"/>
              </a:rPr>
              <a:t> Which shape is the regular polygon? How do you know?</a:t>
            </a:r>
            <a:br>
              <a:rPr lang="en-US" sz="2800">
                <a:latin typeface="Arial"/>
                <a:cs typeface="Arial"/>
              </a:rPr>
            </a:br>
            <a:endParaRPr lang="en-US" sz="2800"/>
          </a:p>
        </p:txBody>
      </p:sp>
      <p:pic>
        <p:nvPicPr>
          <p:cNvPr id="5" name="Picture 4" descr="image of a clipboard with a pencil recording short answer responses">
            <a:extLst>
              <a:ext uri="{FF2B5EF4-FFF2-40B4-BE49-F238E27FC236}">
                <a16:creationId xmlns:a16="http://schemas.microsoft.com/office/drawing/2014/main" id="{41CBD14D-6B43-D6D7-65E4-0BA5584EEAD7}"/>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678F2-4E06-253C-7FA4-41B04B2257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0FD35F-6187-C003-82CF-A82BC3DF3DA5}"/>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59</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44983AAD-3169-9F03-9285-FDCB0BC94F9E}"/>
              </a:ext>
            </a:extLst>
          </p:cNvPr>
          <p:cNvSpPr>
            <a:spLocks noGrp="1"/>
          </p:cNvSpPr>
          <p:nvPr>
            <p:ph type="title"/>
          </p:nvPr>
        </p:nvSpPr>
        <p:spPr>
          <a:xfrm>
            <a:off x="360000" y="360000"/>
            <a:ext cx="11484000" cy="545601"/>
          </a:xfrm>
        </p:spPr>
        <p:txBody>
          <a:bodyPr/>
          <a:lstStyle/>
          <a:p>
            <a:r>
              <a:rPr lang="en-AU">
                <a:latin typeface="Arial"/>
                <a:cs typeface="Arial"/>
              </a:rPr>
              <a:t>Activity 8 – approximating decimals </a:t>
            </a:r>
            <a:r>
              <a:rPr lang="en-AU">
                <a:solidFill>
                  <a:schemeClr val="bg1"/>
                </a:solidFill>
                <a:latin typeface="Arial"/>
                <a:cs typeface="Arial"/>
              </a:rPr>
              <a:t>(2)</a:t>
            </a:r>
          </a:p>
        </p:txBody>
      </p:sp>
      <p:pic>
        <p:nvPicPr>
          <p:cNvPr id="6" name="Picture 5" descr="9 sided dice">
            <a:extLst>
              <a:ext uri="{FF2B5EF4-FFF2-40B4-BE49-F238E27FC236}">
                <a16:creationId xmlns:a16="http://schemas.microsoft.com/office/drawing/2014/main" id="{FAC8B7B4-FDCE-6D58-76BC-927278BEED7C}"/>
              </a:ext>
            </a:extLst>
          </p:cNvPr>
          <p:cNvPicPr>
            <a:picLocks noChangeAspect="1"/>
          </p:cNvPicPr>
          <p:nvPr/>
        </p:nvPicPr>
        <p:blipFill>
          <a:blip r:embed="rId3"/>
          <a:stretch>
            <a:fillRect/>
          </a:stretch>
        </p:blipFill>
        <p:spPr>
          <a:xfrm>
            <a:off x="905055" y="2402636"/>
            <a:ext cx="2143664" cy="2052728"/>
          </a:xfrm>
          <a:prstGeom prst="rect">
            <a:avLst/>
          </a:prstGeom>
        </p:spPr>
      </p:pic>
      <p:pic>
        <p:nvPicPr>
          <p:cNvPr id="8" name="Picture 7" descr="9 sided dice">
            <a:extLst>
              <a:ext uri="{FF2B5EF4-FFF2-40B4-BE49-F238E27FC236}">
                <a16:creationId xmlns:a16="http://schemas.microsoft.com/office/drawing/2014/main" id="{F8D73BFF-F26C-404C-46DD-083AE9B48D51}"/>
              </a:ext>
            </a:extLst>
          </p:cNvPr>
          <p:cNvPicPr>
            <a:picLocks noChangeAspect="1"/>
          </p:cNvPicPr>
          <p:nvPr/>
        </p:nvPicPr>
        <p:blipFill>
          <a:blip r:embed="rId3"/>
          <a:stretch>
            <a:fillRect/>
          </a:stretch>
        </p:blipFill>
        <p:spPr>
          <a:xfrm>
            <a:off x="3464224" y="2402635"/>
            <a:ext cx="2143664" cy="2052728"/>
          </a:xfrm>
          <a:prstGeom prst="rect">
            <a:avLst/>
          </a:prstGeom>
        </p:spPr>
      </p:pic>
      <p:pic>
        <p:nvPicPr>
          <p:cNvPr id="10" name="Picture 9" descr="9 sided dice">
            <a:extLst>
              <a:ext uri="{FF2B5EF4-FFF2-40B4-BE49-F238E27FC236}">
                <a16:creationId xmlns:a16="http://schemas.microsoft.com/office/drawing/2014/main" id="{737B1947-CF27-63A1-5476-B87498C7E034}"/>
              </a:ext>
            </a:extLst>
          </p:cNvPr>
          <p:cNvPicPr>
            <a:picLocks noChangeAspect="1"/>
          </p:cNvPicPr>
          <p:nvPr/>
        </p:nvPicPr>
        <p:blipFill>
          <a:blip r:embed="rId3"/>
          <a:stretch>
            <a:fillRect/>
          </a:stretch>
        </p:blipFill>
        <p:spPr>
          <a:xfrm>
            <a:off x="6095280" y="2402634"/>
            <a:ext cx="2143664" cy="2052728"/>
          </a:xfrm>
          <a:prstGeom prst="rect">
            <a:avLst/>
          </a:prstGeom>
        </p:spPr>
      </p:pic>
      <p:pic>
        <p:nvPicPr>
          <p:cNvPr id="12" name="Picture 11" descr="9 sided dice">
            <a:extLst>
              <a:ext uri="{FF2B5EF4-FFF2-40B4-BE49-F238E27FC236}">
                <a16:creationId xmlns:a16="http://schemas.microsoft.com/office/drawing/2014/main" id="{35DC3ABE-E9AB-CE10-C095-36E6B54AEF67}"/>
              </a:ext>
            </a:extLst>
          </p:cNvPr>
          <p:cNvPicPr>
            <a:picLocks noChangeAspect="1"/>
          </p:cNvPicPr>
          <p:nvPr/>
        </p:nvPicPr>
        <p:blipFill>
          <a:blip r:embed="rId3"/>
          <a:stretch>
            <a:fillRect/>
          </a:stretch>
        </p:blipFill>
        <p:spPr>
          <a:xfrm>
            <a:off x="8697583" y="2402635"/>
            <a:ext cx="2143664" cy="2052728"/>
          </a:xfrm>
          <a:prstGeom prst="rect">
            <a:avLst/>
          </a:prstGeom>
        </p:spPr>
      </p:pic>
      <p:pic>
        <p:nvPicPr>
          <p:cNvPr id="4" name="Picture 3" descr="image of a head with cogs turning inside">
            <a:extLst>
              <a:ext uri="{FF2B5EF4-FFF2-40B4-BE49-F238E27FC236}">
                <a16:creationId xmlns:a16="http://schemas.microsoft.com/office/drawing/2014/main" id="{87576929-8103-4A0A-E4C9-FC4E6E7607D7}"/>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398563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a:t>Multiple choice </a:t>
            </a:r>
            <a:r>
              <a:rPr lang="en-US" dirty="0">
                <a:solidFill>
                  <a:schemeClr val="bg1"/>
                </a:solidFill>
              </a:rPr>
              <a:t>(1)</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a:t>Multiple choice </a:t>
            </a:r>
            <a:r>
              <a:rPr lang="en-US" dirty="0">
                <a:solidFill>
                  <a:schemeClr val="bg1"/>
                </a:solidFill>
              </a:rPr>
              <a:t>(2)</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noRot="1" noMove="1" noResize="1" noEditPoints="1" noAdjustHandles="1" noChangeArrowheads="1" noChangeShapeType="1"/>
          </p:cNvSpPr>
          <p:nvPr>
            <p:ph idx="1"/>
          </p:nvPr>
        </p:nvSpPr>
        <p:spPr/>
        <p:txBody>
          <a:bodyPr vert="horz" lIns="0" tIns="0" rIns="0" bIns="0" rtlCol="0" anchor="t">
            <a:noAutofit/>
          </a:bodyPr>
          <a:lstStyle/>
          <a:p>
            <a:pPr algn="l" rtl="0" fontAlgn="base"/>
            <a:r>
              <a:rPr lang="en-AU" b="0" i="0" u="sng" strike="noStrike" dirty="0">
                <a:solidFill>
                  <a:srgbClr val="2F5496"/>
                </a:solidFill>
                <a:effectLst/>
                <a:latin typeface="Arial"/>
                <a:cs typeface="Arial"/>
                <a:hlinkClick r:id="rId2"/>
              </a:rPr>
              <a:t>Mathematics K–10 Syllabus</a:t>
            </a:r>
            <a:r>
              <a:rPr lang="en-AU" b="0" i="0" dirty="0">
                <a:solidFill>
                  <a:srgbClr val="000000"/>
                </a:solidFill>
                <a:effectLst/>
                <a:latin typeface="Arial"/>
                <a:cs typeface="Arial"/>
              </a:rPr>
              <a:t> © NSW Education Standards Authority (NESA) for and on behalf of the Crown in right of the State of New South Wales, 2022. </a:t>
            </a:r>
          </a:p>
          <a:p>
            <a:pPr algn="l" rtl="0" fontAlgn="base"/>
            <a:r>
              <a:rPr lang="en-AU" b="0" i="0" u="sng" strike="noStrike" dirty="0">
                <a:solidFill>
                  <a:srgbClr val="2F5496"/>
                </a:solidFill>
                <a:effectLst/>
                <a:latin typeface="Arial"/>
                <a:cs typeface="Arial"/>
                <a:hlinkClick r:id="rId3"/>
              </a:rPr>
              <a:t>National Numeracy Learning Progression</a:t>
            </a:r>
            <a:r>
              <a:rPr lang="en-AU" b="0" i="0">
                <a:solidFill>
                  <a:srgbClr val="000000"/>
                </a:solidFill>
                <a:effectLst/>
                <a:latin typeface="Arial"/>
                <a:cs typeface="Arial"/>
              </a:rPr>
              <a:t> © Australian Curriculum, Assessment and Reporting Authority (ACARA) 2010 to present, unless otherwise indicated. This material was downloaded from the </a:t>
            </a:r>
            <a:r>
              <a:rPr lang="en-AU" b="0" i="0" u="sng" strike="noStrike" dirty="0">
                <a:solidFill>
                  <a:srgbClr val="2F5496"/>
                </a:solidFill>
                <a:effectLst/>
                <a:latin typeface="Arial"/>
                <a:cs typeface="Arial"/>
                <a:hlinkClick r:id="rId4"/>
              </a:rPr>
              <a:t>Australian Curriculum</a:t>
            </a:r>
            <a:r>
              <a:rPr lang="en-AU" b="0" i="0">
                <a:solidFill>
                  <a:srgbClr val="000000"/>
                </a:solidFill>
                <a:effectLst/>
                <a:latin typeface="Arial"/>
                <a:cs typeface="Arial"/>
              </a:rPr>
              <a:t> website (National Literacy Learning Progression) (accessed 8 April 2024 and was not modified. </a:t>
            </a:r>
          </a:p>
          <a:p>
            <a:pPr algn="l" rtl="0" fontAlgn="base"/>
            <a:r>
              <a:rPr lang="en-AU" b="0" i="0" dirty="0">
                <a:solidFill>
                  <a:srgbClr val="000000"/>
                </a:solidFill>
                <a:effectLst/>
                <a:latin typeface="Arial"/>
                <a:cs typeface="Arial"/>
              </a:rPr>
              <a:t>Barton C (2019) </a:t>
            </a:r>
            <a:r>
              <a:rPr lang="en-AU" b="0" i="1" u="sng" strike="noStrike" dirty="0">
                <a:solidFill>
                  <a:srgbClr val="2F5496"/>
                </a:solidFill>
                <a:effectLst/>
                <a:latin typeface="Arial"/>
                <a:cs typeface="Arial"/>
                <a:hlinkClick r:id="rId5"/>
              </a:rPr>
              <a:t>Volume of a cuboid 1</a:t>
            </a:r>
            <a:r>
              <a:rPr lang="en-AU" b="0" i="0" dirty="0">
                <a:solidFill>
                  <a:srgbClr val="000000"/>
                </a:solidFill>
                <a:effectLst/>
                <a:latin typeface="Arial"/>
                <a:cs typeface="Arial"/>
              </a:rPr>
              <a:t>, Maths </a:t>
            </a:r>
            <a:r>
              <a:rPr lang="en-AU" b="0" i="0" dirty="0" err="1">
                <a:solidFill>
                  <a:srgbClr val="000000"/>
                </a:solidFill>
                <a:effectLst/>
                <a:latin typeface="Arial"/>
                <a:cs typeface="Arial"/>
              </a:rPr>
              <a:t>Venns</a:t>
            </a:r>
            <a:r>
              <a:rPr lang="en-AU" b="0" i="0" dirty="0">
                <a:solidFill>
                  <a:srgbClr val="000000"/>
                </a:solidFill>
                <a:effectLst/>
                <a:latin typeface="Arial"/>
                <a:cs typeface="Arial"/>
              </a:rPr>
              <a:t> Website, accessed 8 April 2024. </a:t>
            </a:r>
          </a:p>
          <a:p>
            <a:pPr algn="l" rtl="0" fontAlgn="base"/>
            <a:r>
              <a:rPr lang="en-AU" b="0" i="0" dirty="0">
                <a:solidFill>
                  <a:srgbClr val="000000"/>
                </a:solidFill>
                <a:effectLst/>
                <a:latin typeface="Arial"/>
                <a:cs typeface="Arial"/>
              </a:rPr>
              <a:t>Finkel D (2019) </a:t>
            </a:r>
            <a:r>
              <a:rPr lang="en-AU" b="0" i="1" u="sng" strike="noStrike" dirty="0">
                <a:solidFill>
                  <a:srgbClr val="2F5496"/>
                </a:solidFill>
                <a:effectLst/>
                <a:latin typeface="Arial"/>
                <a:cs typeface="Arial"/>
                <a:hlinkClick r:id="rId6"/>
              </a:rPr>
              <a:t>Fill the Stairs</a:t>
            </a:r>
            <a:r>
              <a:rPr lang="en-AU" b="0" i="0" dirty="0">
                <a:solidFill>
                  <a:srgbClr val="000000"/>
                </a:solidFill>
                <a:effectLst/>
                <a:latin typeface="Arial"/>
                <a:cs typeface="Arial"/>
              </a:rPr>
              <a:t>, Math for Love website, accessed 8 April 2024. </a:t>
            </a:r>
          </a:p>
          <a:p>
            <a:pPr algn="l" rtl="0" fontAlgn="base"/>
            <a:r>
              <a:rPr lang="en-AU" b="0" i="0" dirty="0">
                <a:solidFill>
                  <a:srgbClr val="000000"/>
                </a:solidFill>
                <a:effectLst/>
                <a:latin typeface="Arial"/>
                <a:cs typeface="Arial"/>
              </a:rPr>
              <a:t>NESA (NSW Education Standards Authority) (2024) ‘</a:t>
            </a:r>
            <a:r>
              <a:rPr lang="en-AU" b="0" i="0" u="sng" strike="noStrike" dirty="0">
                <a:solidFill>
                  <a:srgbClr val="2F5496"/>
                </a:solidFill>
                <a:effectLst/>
                <a:latin typeface="Arial"/>
                <a:cs typeface="Arial"/>
                <a:hlinkClick r:id="rId7"/>
              </a:rPr>
              <a:t>Teaching advice for Three-dimensional spatial structure A</a:t>
            </a:r>
            <a:r>
              <a:rPr lang="en-AU" b="0" i="0" dirty="0">
                <a:solidFill>
                  <a:srgbClr val="000000"/>
                </a:solidFill>
                <a:effectLst/>
                <a:latin typeface="Arial"/>
                <a:cs typeface="Arial"/>
              </a:rPr>
              <a:t>’, </a:t>
            </a:r>
            <a:r>
              <a:rPr lang="en-AU" b="0" i="1" dirty="0">
                <a:solidFill>
                  <a:srgbClr val="000000"/>
                </a:solidFill>
                <a:effectLst/>
                <a:latin typeface="Arial"/>
                <a:cs typeface="Arial"/>
              </a:rPr>
              <a:t>Stage 3</a:t>
            </a:r>
            <a:r>
              <a:rPr lang="en-AU" b="0" i="0" dirty="0">
                <a:solidFill>
                  <a:srgbClr val="000000"/>
                </a:solidFill>
                <a:effectLst/>
                <a:latin typeface="Arial"/>
                <a:cs typeface="Arial"/>
              </a:rPr>
              <a:t>, NESA website, accessed 30 May 2024. </a:t>
            </a:r>
          </a:p>
          <a:p>
            <a:pPr algn="l" rtl="0" fontAlgn="base"/>
            <a:r>
              <a:rPr lang="en-AU" b="0" i="0">
                <a:solidFill>
                  <a:srgbClr val="000000"/>
                </a:solidFill>
                <a:effectLst/>
                <a:latin typeface="Arial"/>
                <a:cs typeface="Arial"/>
              </a:rPr>
              <a:t>State of New South Wales (Department of Education) (2023) </a:t>
            </a:r>
            <a:r>
              <a:rPr lang="en-AU" b="0" i="1">
                <a:solidFill>
                  <a:srgbClr val="000000"/>
                </a:solidFill>
                <a:effectLst/>
                <a:latin typeface="Arial"/>
                <a:cs typeface="Arial"/>
              </a:rPr>
              <a:t>‘</a:t>
            </a:r>
            <a:r>
              <a:rPr lang="en-AU" b="0" i="0" u="sng" strike="noStrike">
                <a:solidFill>
                  <a:srgbClr val="2F5496"/>
                </a:solidFill>
                <a:effectLst/>
                <a:latin typeface="Arial"/>
                <a:cs typeface="Arial"/>
                <a:hlinkClick r:id="rId8"/>
              </a:rPr>
              <a:t>Factors fun</a:t>
            </a:r>
            <a:r>
              <a:rPr lang="en-AU" b="0" i="0">
                <a:solidFill>
                  <a:srgbClr val="000000"/>
                </a:solidFill>
                <a:effectLst/>
                <a:latin typeface="Arial"/>
                <a:cs typeface="Arial"/>
              </a:rPr>
              <a:t>’,</a:t>
            </a:r>
            <a:r>
              <a:rPr lang="en-AU" b="0" i="1">
                <a:solidFill>
                  <a:srgbClr val="000000"/>
                </a:solidFill>
                <a:effectLst/>
                <a:latin typeface="Arial"/>
                <a:cs typeface="Arial"/>
              </a:rPr>
              <a:t> Mathematics K–6 resources</a:t>
            </a:r>
            <a:r>
              <a:rPr lang="en-AU" b="0" i="0">
                <a:solidFill>
                  <a:srgbClr val="000000"/>
                </a:solidFill>
                <a:effectLst/>
                <a:latin typeface="Arial"/>
                <a:cs typeface="Arial"/>
              </a:rPr>
              <a:t>, NSW Department of Education website, accessed 3 April 2024. </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9">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0">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1">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noRot="1" noMove="1" noResize="1" noEditPoints="1" noAdjustHandles="1" noChangeArrowheads="1" noChangeShapeType="1"/>
          </p:cNvSpPr>
          <p:nvPr>
            <p:ph idx="1"/>
          </p:nvPr>
        </p:nvSpPr>
        <p:spPr/>
        <p:txBody>
          <a:bodyPr/>
          <a:lstStyle/>
          <a:p>
            <a:pPr algn="l" rtl="0" fontAlgn="base"/>
            <a:r>
              <a:rPr lang="en-AU" b="0" i="0">
                <a:solidFill>
                  <a:srgbClr val="000000"/>
                </a:solidFill>
                <a:effectLst/>
                <a:latin typeface="Arial" panose="020B0604020202020204" pitchFamily="34" charset="0"/>
              </a:rPr>
              <a:t>Sullivan P (2018) </a:t>
            </a:r>
            <a:r>
              <a:rPr lang="en-AU" b="0" i="1">
                <a:solidFill>
                  <a:srgbClr val="000000"/>
                </a:solidFill>
                <a:effectLst/>
                <a:latin typeface="Arial" panose="020B0604020202020204" pitchFamily="34" charset="0"/>
              </a:rPr>
              <a:t>Challenging Mathematical Tasks</a:t>
            </a:r>
            <a:r>
              <a:rPr lang="en-AU" b="0" i="0">
                <a:solidFill>
                  <a:srgbClr val="000000"/>
                </a:solidFill>
                <a:effectLst/>
                <a:latin typeface="Arial" panose="020B0604020202020204" pitchFamily="34" charset="0"/>
              </a:rPr>
              <a:t>, Oxford University Press Australia and New Zealand. </a:t>
            </a:r>
          </a:p>
          <a:p>
            <a:pPr algn="l" rtl="0" fontAlgn="base"/>
            <a:r>
              <a:rPr lang="en-AU" b="0" i="0">
                <a:solidFill>
                  <a:srgbClr val="000000"/>
                </a:solidFill>
                <a:effectLst/>
                <a:latin typeface="Arial" panose="020B0604020202020204" pitchFamily="34" charset="0"/>
              </a:rPr>
              <a:t>University of Cambridge (</a:t>
            </a:r>
            <a:r>
              <a:rPr lang="en-AU" b="0" i="0" err="1">
                <a:solidFill>
                  <a:srgbClr val="000000"/>
                </a:solidFill>
                <a:effectLst/>
                <a:latin typeface="Arial" panose="020B0604020202020204" pitchFamily="34" charset="0"/>
              </a:rPr>
              <a:t>n.d.a</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2"/>
              </a:rPr>
              <a:t>Area and Perimeter</a:t>
            </a:r>
            <a:r>
              <a:rPr lang="en-AU" b="0" i="0">
                <a:solidFill>
                  <a:srgbClr val="000000"/>
                </a:solidFill>
                <a:effectLst/>
                <a:latin typeface="Arial" panose="020B0604020202020204" pitchFamily="34" charset="0"/>
              </a:rPr>
              <a:t>,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n.d.b</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3"/>
              </a:rPr>
              <a:t>Factor-multiple Chains</a:t>
            </a:r>
            <a:r>
              <a:rPr lang="en-AU" b="0" i="0">
                <a:solidFill>
                  <a:srgbClr val="000000"/>
                </a:solidFill>
                <a:effectLst/>
                <a:latin typeface="Arial" panose="020B0604020202020204" pitchFamily="34" charset="0"/>
              </a:rPr>
              <a:t>,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n.d.c</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4"/>
              </a:rPr>
              <a:t>Rod Area</a:t>
            </a:r>
            <a:r>
              <a:rPr lang="en-AU" b="0" i="0">
                <a:solidFill>
                  <a:srgbClr val="000000"/>
                </a:solidFill>
                <a:effectLst/>
                <a:latin typeface="Arial" panose="020B0604020202020204" pitchFamily="34" charset="0"/>
              </a:rPr>
              <a:t>, NRICH website, accessed 4 April 2024. </a:t>
            </a:r>
          </a:p>
          <a:p>
            <a:pPr algn="l" rtl="0" fontAlgn="base"/>
            <a:r>
              <a:rPr lang="en-AU" b="0" i="0">
                <a:solidFill>
                  <a:srgbClr val="000000"/>
                </a:solidFill>
                <a:effectLst/>
                <a:latin typeface="Arial" panose="020B0604020202020204" pitchFamily="34" charset="0"/>
              </a:rPr>
              <a:t>——(</a:t>
            </a:r>
            <a:r>
              <a:rPr lang="en-AU" b="0" i="0" err="1">
                <a:solidFill>
                  <a:srgbClr val="000000"/>
                </a:solidFill>
                <a:effectLst/>
                <a:latin typeface="Arial" panose="020B0604020202020204" pitchFamily="34" charset="0"/>
              </a:rPr>
              <a:t>n.d.d</a:t>
            </a:r>
            <a:r>
              <a:rPr lang="en-AU" b="0" i="0">
                <a:solidFill>
                  <a:srgbClr val="000000"/>
                </a:solidFill>
                <a:effectLst/>
                <a:latin typeface="Arial" panose="020B0604020202020204" pitchFamily="34" charset="0"/>
              </a:rPr>
              <a:t>) </a:t>
            </a:r>
            <a:r>
              <a:rPr lang="en-AU" b="0" i="1" u="sng" strike="noStrike">
                <a:solidFill>
                  <a:srgbClr val="2F5496"/>
                </a:solidFill>
                <a:effectLst/>
                <a:latin typeface="Arial" panose="020B0604020202020204" pitchFamily="34" charset="0"/>
                <a:hlinkClick r:id="rId5"/>
              </a:rPr>
              <a:t>Route Product</a:t>
            </a:r>
            <a:r>
              <a:rPr lang="en-AU" b="0" i="0">
                <a:solidFill>
                  <a:srgbClr val="000000"/>
                </a:solidFill>
                <a:effectLst/>
                <a:latin typeface="Arial" panose="020B0604020202020204" pitchFamily="34" charset="0"/>
              </a:rPr>
              <a:t>, NRICH website, accessed 4 April 2024. </a:t>
            </a:r>
          </a:p>
          <a:p>
            <a:pPr algn="l" rtl="0" fontAlgn="base"/>
            <a:endParaRPr lang="en-AU" b="0" i="0">
              <a:solidFill>
                <a:srgbClr val="000000"/>
              </a:solidFill>
              <a:effectLst/>
              <a:latin typeface="Arial" panose="020B0604020202020204" pitchFamily="34" charset="0"/>
            </a:endParaRPr>
          </a:p>
          <a:p>
            <a:pPr algn="l" rtl="0" fontAlgn="base"/>
            <a:endParaRPr lang="en-AU" b="0" i="0">
              <a:solidFill>
                <a:srgbClr val="000000"/>
              </a:solidFill>
              <a:effectLst/>
              <a:latin typeface="Arial" panose="020B0604020202020204" pitchFamily="34" charset="0"/>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6">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7">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8">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1293536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1" ma:contentTypeDescription="Create a new document." ma:contentTypeScope="" ma:versionID="9688e37b2af58268cd21140b8063bd69">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bfa7b24e970bd6c4c2e6a1c402160d7"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rojectleadreview xmlns="7e763d47-3c66-4c58-9425-1477fd3ccd1e" xsi:nil="true"/>
    <Workstreamleadendorsement xmlns="7e763d47-3c66-4c58-9425-1477fd3ccd1e" xsi:nil="true"/>
    <Digitalsupport xmlns="7e763d47-3c66-4c58-9425-1477fd3ccd1e" xsi:nil="true"/>
    <TaxCatchAll xmlns="60129b06-f64b-40a8-96e2-c5b2f86112b1"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lcf76f155ced4ddcb4097134ff3c332f xmlns="7e763d47-3c66-4c58-9425-1477fd3ccd1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2.xml><?xml version="1.0" encoding="utf-8"?>
<ds:datastoreItem xmlns:ds="http://schemas.openxmlformats.org/officeDocument/2006/customXml" ds:itemID="{BD5E22E3-A99B-4A9A-BE8C-FC00E7756EC5}">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524F4DA-5415-43D4-8474-C9BE68919175}">
  <ds:schemaRefs>
    <ds:schemaRef ds:uri="http://purl.org/dc/dcmitype/"/>
    <ds:schemaRef ds:uri="http://schemas.openxmlformats.org/package/2006/metadata/core-properties"/>
    <ds:schemaRef ds:uri="7e763d47-3c66-4c58-9425-1477fd3ccd1e"/>
    <ds:schemaRef ds:uri="http://schemas.microsoft.com/office/infopath/2007/PartnerControls"/>
    <ds:schemaRef ds:uri="http://schemas.microsoft.com/office/2006/metadata/properties"/>
    <ds:schemaRef ds:uri="http://www.w3.org/XML/1998/namespace"/>
    <ds:schemaRef ds:uri="http://purl.org/dc/elements/1.1/"/>
    <ds:schemaRef ds:uri="http://schemas.microsoft.com/office/2006/documentManagement/types"/>
    <ds:schemaRef ds:uri="60129b06-f64b-40a8-96e2-c5b2f86112b1"/>
    <ds:schemaRef ds:uri="http://purl.org/dc/terms/"/>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31</TotalTime>
  <Words>6773</Words>
  <Application>Microsoft Office PowerPoint</Application>
  <PresentationFormat>Widescreen</PresentationFormat>
  <Paragraphs>864</Paragraphs>
  <Slides>69</Slides>
  <Notes>67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69</vt:i4>
      </vt:variant>
    </vt:vector>
  </HeadingPairs>
  <TitlesOfParts>
    <vt:vector size="82" baseType="lpstr">
      <vt:lpstr>Public Sans Light</vt:lpstr>
      <vt:lpstr>Symbol</vt:lpstr>
      <vt:lpstr>Wingdings</vt:lpstr>
      <vt:lpstr>Arial,Sans-Serif</vt:lpstr>
      <vt:lpstr>Calibri</vt:lpstr>
      <vt:lpstr>Canva Student Font</vt:lpstr>
      <vt:lpstr>Times New Roman</vt:lpstr>
      <vt:lpstr>Cambria Math</vt:lpstr>
      <vt:lpstr>Montserrat</vt:lpstr>
      <vt:lpstr>Arial</vt:lpstr>
      <vt:lpstr>Public Sans</vt:lpstr>
      <vt:lpstr>Arial Narrow</vt:lpstr>
      <vt:lpstr>NSWG Corporate</vt:lpstr>
      <vt:lpstr>Instructions for use</vt:lpstr>
      <vt:lpstr>Review of Learning </vt:lpstr>
      <vt:lpstr>Lessons</vt:lpstr>
      <vt:lpstr>Review of learning 1</vt:lpstr>
      <vt:lpstr>Multiple choice (1)</vt:lpstr>
      <vt:lpstr>Short response (1)</vt:lpstr>
      <vt:lpstr>Short response (2)</vt:lpstr>
      <vt:lpstr>Short response (3)</vt:lpstr>
      <vt:lpstr>Short response (4)</vt:lpstr>
      <vt:lpstr>Activity 1 – rearrange arrays</vt:lpstr>
      <vt:lpstr>Review of learning  2</vt:lpstr>
      <vt:lpstr>True or false (1)</vt:lpstr>
      <vt:lpstr>Short response (5)</vt:lpstr>
      <vt:lpstr>Short response (6)</vt:lpstr>
      <vt:lpstr>Short response (7)</vt:lpstr>
      <vt:lpstr>Short response (8)</vt:lpstr>
      <vt:lpstr>Activity 2 – determining factors</vt:lpstr>
      <vt:lpstr>Review of learning 3</vt:lpstr>
      <vt:lpstr>Multiple choice (2)</vt:lpstr>
      <vt:lpstr>Short response (9)</vt:lpstr>
      <vt:lpstr>Short response (10)</vt:lpstr>
      <vt:lpstr>Short response (11)</vt:lpstr>
      <vt:lpstr>Short response (12)</vt:lpstr>
      <vt:lpstr>Activity 3 – determining factors</vt:lpstr>
      <vt:lpstr>Review of learning 4</vt:lpstr>
      <vt:lpstr>True or false (2)</vt:lpstr>
      <vt:lpstr>Short response (13)</vt:lpstr>
      <vt:lpstr>Short response (14)</vt:lpstr>
      <vt:lpstr>Short response (15)</vt:lpstr>
      <vt:lpstr>Short response (16)</vt:lpstr>
      <vt:lpstr>Activity 4 – factor multiple chains</vt:lpstr>
      <vt:lpstr>Review of learning 5</vt:lpstr>
      <vt:lpstr>Multiple choice (3)</vt:lpstr>
      <vt:lpstr>Short response (17)</vt:lpstr>
      <vt:lpstr>Short response (18)</vt:lpstr>
      <vt:lpstr>Short response (19)</vt:lpstr>
      <vt:lpstr>Short response (20)</vt:lpstr>
      <vt:lpstr>Activity 5 – decimals on a number line</vt:lpstr>
      <vt:lpstr>Review of learning 6</vt:lpstr>
      <vt:lpstr>True or false (3)</vt:lpstr>
      <vt:lpstr>Short response (21)</vt:lpstr>
      <vt:lpstr>Short response (22)</vt:lpstr>
      <vt:lpstr>Short response (23)</vt:lpstr>
      <vt:lpstr>Short response (24)</vt:lpstr>
      <vt:lpstr>Activity 6 – ordering decimals </vt:lpstr>
      <vt:lpstr>Review of learning  7</vt:lpstr>
      <vt:lpstr>Multiple choice (4)</vt:lpstr>
      <vt:lpstr>Short response (25)</vt:lpstr>
      <vt:lpstr>Short response (26)</vt:lpstr>
      <vt:lpstr>Short response (27)</vt:lpstr>
      <vt:lpstr>Short response (28)</vt:lpstr>
      <vt:lpstr>Activity 7 – approximating decimals (1)</vt:lpstr>
      <vt:lpstr>Review of learning 8</vt:lpstr>
      <vt:lpstr>True or false (4)</vt:lpstr>
      <vt:lpstr>Short response (29)</vt:lpstr>
      <vt:lpstr>Short response (30)</vt:lpstr>
      <vt:lpstr>Short response (31)</vt:lpstr>
      <vt:lpstr>Short response (32)</vt:lpstr>
      <vt:lpstr>Activity 8 – approximating decimals (2)</vt:lpstr>
      <vt:lpstr>Double Venn diagram</vt:lpstr>
      <vt:lpstr>Frayer</vt:lpstr>
      <vt:lpstr>Spider map</vt:lpstr>
      <vt:lpstr>Cline</vt:lpstr>
      <vt:lpstr>Compare and contrast</vt:lpstr>
      <vt:lpstr>Multiple choice (1)</vt:lpstr>
      <vt:lpstr>Multiple choice (2)</vt:lpstr>
      <vt:lpstr>References</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6</cp:revision>
  <dcterms:created xsi:type="dcterms:W3CDTF">2025-07-07T07:05:15Z</dcterms:created>
  <dcterms:modified xsi:type="dcterms:W3CDTF">2025-08-03T23:51:07Z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