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47"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0"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70FF"/>
    <a:srgbClr val="FFFFFF"/>
    <a:srgbClr val="39B54A"/>
    <a:srgbClr val="FCEE21"/>
    <a:srgbClr val="F9A045"/>
    <a:srgbClr val="F9A147"/>
    <a:srgbClr val="EA9B0C"/>
    <a:srgbClr val="9933FF"/>
    <a:srgbClr val="007A8A"/>
    <a:srgbClr val="9B6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A2EB0-28FD-4BDB-B3E2-CBBF9FA33BDE}" v="412" dt="2026-04-01T04:35:27.986"/>
    <p1510:client id="{4713D0CB-1F74-4A4E-815F-17C96CAFEB2B}" v="1455" dt="2026-04-01T04:35:35.859"/>
    <p1510:client id="{B39AFB26-C400-499E-AF66-92D79EEA813D}" v="304" dt="2026-04-01T03:31:57.47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21" autoAdjust="0"/>
    <p:restoredTop sz="83920" autoAdjust="0"/>
  </p:normalViewPr>
  <p:slideViewPr>
    <p:cSldViewPr snapToGrid="0">
      <p:cViewPr varScale="1">
        <p:scale>
          <a:sx n="22" d="100"/>
          <a:sy n="22" d="100"/>
        </p:scale>
        <p:origin x="660" y="36"/>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3 Year B Unit 30</a:t>
            </a:r>
          </a:p>
          <a:p>
            <a:pPr marL="285750" indent="-285750">
              <a:buFont typeface="Arial" panose="020B0604020202020204" pitchFamily="34" charset="0"/>
              <a:buChar char="•"/>
            </a:pPr>
            <a:r>
              <a:rPr lang="en-AU" dirty="0"/>
              <a:t>Stage 3 Year B Unit 29</a:t>
            </a:r>
          </a:p>
          <a:p>
            <a:pPr marL="285750" indent="-285750">
              <a:buFont typeface="Arial" panose="020B0604020202020204" pitchFamily="34" charset="0"/>
              <a:buChar char="•"/>
            </a:pPr>
            <a:r>
              <a:rPr lang="en-AU" dirty="0"/>
              <a:t>Stage 3 Year B Unit 28</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quantity fractions B</a:t>
            </a:r>
            <a:endParaRPr lang="en-AU" sz="1600" i="0" dirty="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B</a:t>
            </a: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quantity fractions B </a:t>
            </a:r>
          </a:p>
          <a:p>
            <a:endParaRPr lang="en-AU" dirty="0"/>
          </a:p>
          <a:p>
            <a:r>
              <a:rPr lang="en-AU" b="1" dirty="0"/>
              <a:t>Build to the whole 1</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to students that if a fraction of a total is known, it can be used to find the total amount.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how they could find the total length of a rope if they were given three-fifths.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Draw a line on the board and tell students that </a:t>
            </a:r>
            <a:r>
              <a:rPr lang="en-AU" sz="1600" kern="1200">
                <a:solidFill>
                  <a:schemeClr val="tx1"/>
                </a:solidFill>
                <a:effectLst/>
                <a:latin typeface="Arial" panose="020B0604020202020204" pitchFamily="34" charset="0"/>
                <a:ea typeface="+mn-ea"/>
                <a:cs typeface="Arial" panose="020B0604020202020204" pitchFamily="34" charset="0"/>
              </a:rPr>
              <a:t>three-fifths</a:t>
            </a:r>
            <a:r>
              <a:rPr lang="en-AU" sz="1600" kern="1200" dirty="0">
                <a:solidFill>
                  <a:schemeClr val="tx1"/>
                </a:solidFill>
                <a:effectLst/>
                <a:latin typeface="Arial" panose="020B0604020202020204" pitchFamily="34" charset="0"/>
                <a:ea typeface="+mn-ea"/>
                <a:cs typeface="Arial" panose="020B0604020202020204" pitchFamily="34" charset="0"/>
              </a:rPr>
              <a:t> of this rope is 15 metres long.</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Allow time for students to think and turn and talk to discuss how they could find the total length.</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explain their strategy. Record student responses.</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kern="1200" dirty="0">
                <a:solidFill>
                  <a:schemeClr val="tx1"/>
                </a:solidFill>
                <a:effectLst/>
                <a:latin typeface="Arial" panose="020B0604020202020204" pitchFamily="34" charset="0"/>
                <a:ea typeface="+mn-ea"/>
                <a:cs typeface="Arial" panose="020B0604020202020204" pitchFamily="34" charset="0"/>
              </a:rPr>
              <a:t>The table below outlines stimulus prompts to generate conversation about the topic, along with anticipated responses from students.</a:t>
            </a:r>
          </a:p>
          <a:p>
            <a:r>
              <a:rPr lang="en-AU" sz="1600" b="1" kern="1200" dirty="0">
                <a:solidFill>
                  <a:schemeClr val="tx1"/>
                </a:solidFill>
                <a:effectLst/>
                <a:latin typeface="Arial" panose="020B0604020202020204" pitchFamily="34" charset="0"/>
                <a:ea typeface="+mn-ea"/>
                <a:cs typeface="Arial" panose="020B0604020202020204" pitchFamily="34" charset="0"/>
              </a:rPr>
              <a:t>Prompt</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How can you find the total length of the rope?</a:t>
            </a:r>
          </a:p>
          <a:p>
            <a:endParaRPr lang="en-AU" sz="1600" b="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Anticipated student responses</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We would find how long one-fifth of the rope is first, then build it up to have all 5 of those amounts for the total length.</a:t>
            </a:r>
          </a:p>
          <a:p>
            <a:pPr lvl="0"/>
            <a:r>
              <a:rPr lang="en-AU" sz="1600" kern="1200" dirty="0">
                <a:solidFill>
                  <a:schemeClr val="tx1"/>
                </a:solidFill>
                <a:effectLst/>
                <a:latin typeface="Arial" panose="020B0604020202020204" pitchFamily="34" charset="0"/>
                <a:ea typeface="+mn-ea"/>
                <a:cs typeface="Arial" panose="020B0604020202020204" pitchFamily="34" charset="0"/>
              </a:rPr>
              <a:t>One-fifth is 5 metres long, so the total length of the rope is 25 metres.</a:t>
            </a:r>
          </a:p>
          <a:p>
            <a:pPr lvl="0"/>
            <a:r>
              <a:rPr lang="en-AU" sz="1600" kern="1200" dirty="0">
                <a:solidFill>
                  <a:schemeClr val="tx1"/>
                </a:solidFill>
                <a:effectLst/>
                <a:latin typeface="Arial" panose="020B0604020202020204" pitchFamily="34" charset="0"/>
                <a:ea typeface="+mn-ea"/>
                <a:cs typeface="Arial" panose="020B0604020202020204" pitchFamily="34" charset="0"/>
              </a:rPr>
              <a:t>We know that 3 fives is 15, so one-fifth must be 5 metres long. We would then multiply 5 metres by the 5 fifths, making a total of 25 metres.</a:t>
            </a: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Does it matter what fraction of the length of rope you are given?</a:t>
            </a: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Does the size of the fraction change your strategy? Why or why not?</a:t>
            </a: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quantity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a:t>
            </a: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quantity fractions B </a:t>
            </a:r>
          </a:p>
          <a:p>
            <a:endParaRPr lang="en-AU" dirty="0"/>
          </a:p>
          <a:p>
            <a:r>
              <a:rPr lang="en-AU" b="1" dirty="0"/>
              <a:t>Build the whole 2</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Remind students that, if a fraction of a total is known, it can be used to find the total amount.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you have seen a new outdoor table setting that you want to get but you are not sure if it will fit in your outdoor area. You know that </a:t>
            </a:r>
            <a:r>
              <a:rPr lang="en-AU" sz="1600" kern="1200">
                <a:solidFill>
                  <a:schemeClr val="tx1"/>
                </a:solidFill>
                <a:effectLst/>
                <a:latin typeface="Arial" panose="020B0604020202020204" pitchFamily="34" charset="0"/>
                <a:ea typeface="+mn-ea"/>
                <a:cs typeface="Arial" panose="020B0604020202020204" pitchFamily="34" charset="0"/>
              </a:rPr>
              <a:t>five-eighths of</a:t>
            </a:r>
            <a:r>
              <a:rPr lang="en-AU" sz="1600" kern="1200" dirty="0">
                <a:solidFill>
                  <a:schemeClr val="tx1"/>
                </a:solidFill>
                <a:effectLst/>
                <a:latin typeface="Arial" panose="020B0604020202020204" pitchFamily="34" charset="0"/>
                <a:ea typeface="+mn-ea"/>
                <a:cs typeface="Arial" panose="020B0604020202020204" pitchFamily="34" charset="0"/>
              </a:rPr>
              <a:t> the table is 150 cm. Ask how long the whole table is.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how they could find the total length of a table if they know five-eighths of the length.</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Allow time for students to think and then turn and talk to discuss how they could find the total length.</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explain their strategy. Record and test student responses.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Tell students that there is another table setting you like, but five-eighths of the table is 160 cm. Ask what the total length of this table would be.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findings and explain their strategy. Record and test student responses.</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kern="1200" dirty="0">
                <a:solidFill>
                  <a:schemeClr val="tx1"/>
                </a:solidFill>
                <a:effectLst/>
                <a:latin typeface="Arial" panose="020B0604020202020204" pitchFamily="34" charset="0"/>
                <a:ea typeface="+mn-ea"/>
                <a:cs typeface="Arial" panose="020B0604020202020204" pitchFamily="34" charset="0"/>
              </a:rPr>
              <a:t>The table below outlines stimulus prompts to generate conversation about the topic, along with anticipated responses from students.</a:t>
            </a:r>
          </a:p>
          <a:p>
            <a:r>
              <a:rPr lang="en-AU" sz="1600" b="1" kern="1200" dirty="0">
                <a:solidFill>
                  <a:schemeClr val="tx1"/>
                </a:solidFill>
                <a:effectLst/>
                <a:latin typeface="Arial" panose="020B0604020202020204" pitchFamily="34" charset="0"/>
                <a:ea typeface="+mn-ea"/>
                <a:cs typeface="Arial" panose="020B0604020202020204" pitchFamily="34" charset="0"/>
              </a:rPr>
              <a:t>Prompt</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How can you find the total length of the table if five-eighths of the table is 160 cm?</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Anticipated student responses</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We would find out how long one-eighth of the table is first, then build it up to have all 8 of those amounts for the total length.</a:t>
            </a: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160 cm divided by 5 equals 32 cm.</a:t>
            </a: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One-eighth is 32 cm long, so the total length of the table is 256 cm long.</a:t>
            </a:r>
          </a:p>
          <a:p>
            <a:pPr marL="895335" lvl="1"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256 cm is the same as 2 metres and 56 centimetres, or 2.56 m.</a:t>
            </a:r>
          </a:p>
          <a:p>
            <a:pPr lvl="0"/>
            <a:r>
              <a:rPr lang="en-AU" sz="1600" kern="1200" dirty="0">
                <a:solidFill>
                  <a:schemeClr val="tx1"/>
                </a:solidFill>
                <a:effectLst/>
                <a:latin typeface="Arial" panose="020B0604020202020204" pitchFamily="34" charset="0"/>
                <a:ea typeface="+mn-ea"/>
                <a:cs typeface="Arial" panose="020B0604020202020204" pitchFamily="34" charset="0"/>
              </a:rPr>
              <a:t>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quantity fractions B</a:t>
            </a:r>
            <a:endParaRPr lang="en-AU" sz="1600" i="0" dirty="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B</a:t>
            </a: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quantity fractions B </a:t>
            </a:r>
          </a:p>
          <a:p>
            <a:endParaRPr lang="en-AU" dirty="0"/>
          </a:p>
          <a:p>
            <a:r>
              <a:rPr lang="en-AU" b="1" dirty="0"/>
              <a:t>Given fraction parts</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Remind students that, if a fraction of a total is known, it can be used to find the total amount.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a pastry chef is decorating 10 cakes with strawberries. So far, he has decorated 4 cakes and has already used 60 strawberries. Each cake needs the same number of decorations. The pastry chef wants to know the number of strawberries he will need for all 10 cakes.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how they could find the total number of objects if they were given four-tenths of a collection.</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Allow time for students to think and turn and talk to discuss how they could find the total number.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explain their strategy. Record and test student responses.</a:t>
            </a:r>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quantity fractions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B</a:t>
            </a: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quantity fractions B </a:t>
            </a:r>
          </a:p>
          <a:p>
            <a:endParaRPr lang="en-AU" dirty="0"/>
          </a:p>
          <a:p>
            <a:r>
              <a:rPr lang="en-AU" b="1" dirty="0"/>
              <a:t>Fraction word problem</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Revise the idea that if a fraction of a total is known, it can be used to find the total amount.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Pose the question: Jessica ordered 72 balloons for her birthday party. Three-eighths were delivered.</a:t>
            </a:r>
          </a:p>
          <a:p>
            <a:pPr marL="952485" lvl="1"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balloons were delivered?</a:t>
            </a:r>
          </a:p>
          <a:p>
            <a:pPr marL="952485" lvl="1"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balloons still needed to be delivered?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solve the problem in their workbooks.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explain their strategy.</a:t>
            </a:r>
          </a:p>
          <a:p>
            <a:pPr marL="342900" indent="-342900">
              <a:buFont typeface="+mj-lt"/>
              <a:buAutoNum type="arabicPeriod"/>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a:t>
            </a: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 </a:t>
            </a:r>
          </a:p>
          <a:p>
            <a:endParaRPr lang="en-AU" dirty="0"/>
          </a:p>
          <a:p>
            <a:r>
              <a:rPr lang="en-AU" b="1" dirty="0"/>
              <a:t>Strategies for solving addition problems</a:t>
            </a:r>
          </a:p>
          <a:p>
            <a:r>
              <a:rPr lang="en-AU" b="0" dirty="0"/>
              <a:t>This resource corresponds to Resource 20 – addition problems in Stage 3 Year B Unit 30. </a:t>
            </a:r>
          </a:p>
          <a:p>
            <a:endParaRPr lang="en-AU" b="0" dirty="0"/>
          </a:p>
          <a:p>
            <a:r>
              <a:rPr lang="en-AU" b="0" dirty="0"/>
              <a:t>This activity is an adaptation of 3–6: Remote Maths – Edition 2 [PDF 417 KB] from MAV Learning Activities by The Mathematical Association of Victoria (2020).</a:t>
            </a:r>
          </a:p>
          <a:p>
            <a:endParaRPr lang="en-AU" b="0" dirty="0"/>
          </a:p>
          <a:p>
            <a:pPr marL="342900" indent="-342900">
              <a:buFont typeface="+mj-lt"/>
              <a:buAutoNum type="arabicPeriod"/>
            </a:pPr>
            <a:r>
              <a:rPr lang="en-AU" b="0" dirty="0"/>
              <a:t>Discuss the various ways addition problems can be represented and solved.</a:t>
            </a:r>
          </a:p>
          <a:p>
            <a:pPr marL="342900" indent="-342900">
              <a:buFont typeface="+mj-lt"/>
              <a:buAutoNum type="arabicPeriod"/>
            </a:pPr>
            <a:r>
              <a:rPr lang="en-AU" b="0" dirty="0"/>
              <a:t>Display Resource 20 – addition problems and explain that students will choose one of the equations from the table and then use it to complete each of the 4 tasks.</a:t>
            </a:r>
          </a:p>
          <a:p>
            <a:pPr marL="342900" indent="-342900">
              <a:buFont typeface="+mj-lt"/>
              <a:buAutoNum type="arabicPeriod"/>
            </a:pPr>
            <a:r>
              <a:rPr lang="en-AU" b="0" dirty="0"/>
              <a:t>Students choose another student who completed the same equation to compare representations and solutions.</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 </a:t>
            </a:r>
          </a:p>
          <a:p>
            <a:endParaRPr lang="en-AU" dirty="0"/>
          </a:p>
          <a:p>
            <a:r>
              <a:rPr lang="en-AU" b="1" dirty="0"/>
              <a:t>Addition and subtraction problems that require more than one operation</a:t>
            </a:r>
          </a:p>
          <a:p>
            <a:r>
              <a:rPr lang="en-AU" b="0" dirty="0"/>
              <a:t>This resource corresponds to Resource 21 – word problems in Stage 3 Year B Unit 30.</a:t>
            </a:r>
          </a:p>
          <a:p>
            <a:endParaRPr lang="en-AU" b="0" dirty="0"/>
          </a:p>
          <a:p>
            <a:pPr marL="342900" indent="-342900">
              <a:buFont typeface="+mj-lt"/>
              <a:buAutoNum type="arabicPeriod"/>
            </a:pPr>
            <a:r>
              <a:rPr lang="en-AU" b="0" dirty="0"/>
              <a:t>Provide students with Resource 21 – word problems and their workbook.</a:t>
            </a:r>
          </a:p>
          <a:p>
            <a:pPr marL="342900" indent="-342900">
              <a:buFont typeface="+mj-lt"/>
              <a:buAutoNum type="arabicPeriod"/>
            </a:pPr>
            <a:r>
              <a:rPr lang="en-AU" b="0" dirty="0"/>
              <a:t>Students solve the problems on Resource 21 – word problems using an efficient strategy.</a:t>
            </a:r>
          </a:p>
          <a:p>
            <a:pPr marL="342900" indent="-342900">
              <a:buFont typeface="+mj-lt"/>
              <a:buAutoNum type="arabicPeriod"/>
            </a:pPr>
            <a:r>
              <a:rPr lang="en-AU" b="0" dirty="0"/>
              <a:t>Select students to share and explain their strategy and answers. </a:t>
            </a:r>
          </a:p>
          <a:p>
            <a:pPr marL="342900" indent="-342900">
              <a:buFont typeface="+mj-lt"/>
              <a:buAutoNum type="arabicPeriod"/>
            </a:pPr>
            <a:r>
              <a:rPr lang="en-AU" b="0" dirty="0"/>
              <a:t>Discuss strategies chosen as a class.</a:t>
            </a:r>
          </a:p>
          <a:p>
            <a:pPr marL="342900" indent="-342900">
              <a:buFont typeface="+mj-lt"/>
              <a:buAutoNum type="arabicPeriod"/>
            </a:pP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a:t>
            </a: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 </a:t>
            </a:r>
          </a:p>
          <a:p>
            <a:endParaRPr lang="en-AU" dirty="0"/>
          </a:p>
          <a:p>
            <a:r>
              <a:rPr lang="en-AU" b="1" dirty="0"/>
              <a:t>Compare, evaluate and communicate addition and subtraction strategies</a:t>
            </a:r>
          </a:p>
          <a:p>
            <a:endParaRPr lang="en-AU" b="1" dirty="0"/>
          </a:p>
          <a:p>
            <a:pPr marL="342900" indent="-342900">
              <a:buFont typeface="+mj-lt"/>
              <a:buAutoNum type="arabicPeriod"/>
            </a:pPr>
            <a:r>
              <a:rPr lang="en-AU" b="0" dirty="0"/>
              <a:t>Draw a 4-box grid on the board and write the numbers 3, 27, 123 and 31 in one box each.</a:t>
            </a:r>
          </a:p>
          <a:p>
            <a:pPr marL="342900" indent="-342900">
              <a:buFont typeface="+mj-lt"/>
              <a:buAutoNum type="arabicPeriod"/>
            </a:pPr>
            <a:r>
              <a:rPr lang="en-AU" b="0" dirty="0"/>
              <a:t>In pairs, students must decide which number doesn’t belong using addition or subtraction and explain their mathematical thinking. For example, the number 31 is the only number that is not divisible by 3.</a:t>
            </a:r>
          </a:p>
          <a:p>
            <a:pPr marL="342900" indent="-342900">
              <a:buFont typeface="+mj-lt"/>
              <a:buAutoNum type="arabicPeriod"/>
            </a:pPr>
            <a:r>
              <a:rPr lang="en-AU" b="0" dirty="0"/>
              <a:t>Students record their ideas on a whiteboard.</a:t>
            </a:r>
          </a:p>
          <a:p>
            <a:pPr marL="342900" indent="-342900">
              <a:buFont typeface="+mj-lt"/>
              <a:buAutoNum type="arabicPeriod"/>
            </a:pPr>
            <a:r>
              <a:rPr lang="en-AU" b="0" dirty="0"/>
              <a:t>Challenge students who finish quickly to make a case for why each of the numbers does not belong.</a:t>
            </a:r>
          </a:p>
          <a:p>
            <a:pPr marL="342900" indent="-342900">
              <a:buFont typeface="+mj-lt"/>
              <a:buAutoNum type="arabicPeriod"/>
            </a:pPr>
            <a:r>
              <a:rPr lang="en-AU" b="0" dirty="0"/>
              <a:t>When all pairs have a solution, students report back to the class, explaining which number they decided didn’t belong and why. </a:t>
            </a:r>
          </a:p>
          <a:p>
            <a:pPr marL="342900" indent="-342900">
              <a:buFont typeface="+mj-lt"/>
              <a:buAutoNum type="arabicPeriod"/>
            </a:pPr>
            <a:endParaRPr lang="en-AU" b="0"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Three-dimensional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B</a:t>
            </a: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Additive relations B </a:t>
            </a:r>
          </a:p>
          <a:p>
            <a:endParaRPr lang="en-AU" dirty="0"/>
          </a:p>
          <a:p>
            <a:r>
              <a:rPr lang="en-AU" b="1" dirty="0"/>
              <a:t>Multi-step problems</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the question: A library had </a:t>
            </a:r>
            <a:r>
              <a:rPr lang="en-AU" sz="1600" b="0" kern="1200" dirty="0">
                <a:solidFill>
                  <a:schemeClr val="tx1"/>
                </a:solidFill>
                <a:effectLst/>
                <a:latin typeface="Arial" panose="020B0604020202020204" pitchFamily="34" charset="0"/>
                <a:ea typeface="+mn-ea"/>
                <a:cs typeface="Arial" panose="020B0604020202020204" pitchFamily="34" charset="0"/>
              </a:rPr>
              <a:t>2,475 books</a:t>
            </a:r>
            <a:r>
              <a:rPr lang="en-AU" sz="1600" kern="1200" dirty="0">
                <a:solidFill>
                  <a:schemeClr val="tx1"/>
                </a:solidFill>
                <a:effectLst/>
                <a:latin typeface="Arial" panose="020B0604020202020204" pitchFamily="34" charset="0"/>
                <a:ea typeface="+mn-ea"/>
                <a:cs typeface="Arial" panose="020B0604020202020204" pitchFamily="34" charset="0"/>
              </a:rPr>
              <a:t> at the start of the year. In March, they bought </a:t>
            </a:r>
            <a:r>
              <a:rPr lang="en-AU" sz="1600" b="0" kern="1200" dirty="0">
                <a:solidFill>
                  <a:schemeClr val="tx1"/>
                </a:solidFill>
                <a:effectLst/>
                <a:latin typeface="Arial" panose="020B0604020202020204" pitchFamily="34" charset="0"/>
                <a:ea typeface="+mn-ea"/>
                <a:cs typeface="Arial" panose="020B0604020202020204" pitchFamily="34" charset="0"/>
              </a:rPr>
              <a:t>385 new books</a:t>
            </a:r>
            <a:r>
              <a:rPr lang="en-AU" sz="1600" kern="1200" dirty="0">
                <a:solidFill>
                  <a:schemeClr val="tx1"/>
                </a:solidFill>
                <a:effectLst/>
                <a:latin typeface="Arial" panose="020B0604020202020204" pitchFamily="34" charset="0"/>
                <a:ea typeface="+mn-ea"/>
                <a:cs typeface="Arial" panose="020B0604020202020204" pitchFamily="34" charset="0"/>
              </a:rPr>
              <a:t>, and in June, they received a donation of </a:t>
            </a:r>
            <a:r>
              <a:rPr lang="en-AU" sz="1600" b="0" kern="1200" dirty="0">
                <a:solidFill>
                  <a:schemeClr val="tx1"/>
                </a:solidFill>
                <a:effectLst/>
                <a:latin typeface="Arial" panose="020B0604020202020204" pitchFamily="34" charset="0"/>
                <a:ea typeface="+mn-ea"/>
                <a:cs typeface="Arial" panose="020B0604020202020204" pitchFamily="34" charset="0"/>
              </a:rPr>
              <a:t>642 more books</a:t>
            </a:r>
            <a:r>
              <a:rPr lang="en-AU" sz="1600" kern="1200" dirty="0">
                <a:solidFill>
                  <a:schemeClr val="tx1"/>
                </a:solidFill>
                <a:effectLst/>
                <a:latin typeface="Arial" panose="020B0604020202020204" pitchFamily="34" charset="0"/>
                <a:ea typeface="+mn-ea"/>
                <a:cs typeface="Arial" panose="020B0604020202020204" pitchFamily="34" charset="0"/>
              </a:rPr>
              <a:t>. During Term 4, </a:t>
            </a:r>
            <a:r>
              <a:rPr lang="en-AU" sz="1600" b="0" kern="1200" dirty="0">
                <a:solidFill>
                  <a:schemeClr val="tx1"/>
                </a:solidFill>
                <a:effectLst/>
                <a:latin typeface="Arial" panose="020B0604020202020204" pitchFamily="34" charset="0"/>
                <a:ea typeface="+mn-ea"/>
                <a:cs typeface="Arial" panose="020B0604020202020204" pitchFamily="34" charset="0"/>
              </a:rPr>
              <a:t>1,128 books were borrowed</a:t>
            </a:r>
            <a:r>
              <a:rPr lang="en-AU" sz="1600" kern="1200" dirty="0">
                <a:solidFill>
                  <a:schemeClr val="tx1"/>
                </a:solidFill>
                <a:effectLst/>
                <a:latin typeface="Arial" panose="020B0604020202020204" pitchFamily="34" charset="0"/>
                <a:ea typeface="+mn-ea"/>
                <a:cs typeface="Arial" panose="020B0604020202020204" pitchFamily="34" charset="0"/>
              </a:rPr>
              <a:t>, but </a:t>
            </a:r>
            <a:r>
              <a:rPr lang="en-AU" sz="1600" b="0" kern="1200" dirty="0">
                <a:solidFill>
                  <a:schemeClr val="tx1"/>
                </a:solidFill>
                <a:effectLst/>
                <a:latin typeface="Arial" panose="020B0604020202020204" pitchFamily="34" charset="0"/>
                <a:ea typeface="+mn-ea"/>
                <a:cs typeface="Arial" panose="020B0604020202020204" pitchFamily="34" charset="0"/>
              </a:rPr>
              <a:t>1,056 were returned</a:t>
            </a:r>
            <a:r>
              <a:rPr lang="en-AU" sz="1600" kern="1200" dirty="0">
                <a:solidFill>
                  <a:schemeClr val="tx1"/>
                </a:solidFill>
                <a:effectLst/>
                <a:latin typeface="Arial" panose="020B0604020202020204" pitchFamily="34" charset="0"/>
                <a:ea typeface="+mn-ea"/>
                <a:cs typeface="Arial" panose="020B0604020202020204" pitchFamily="34" charset="0"/>
              </a:rPr>
              <a:t> by the end of the term. </a:t>
            </a:r>
            <a:r>
              <a:rPr lang="en-AU" sz="1600" b="0" kern="1200" dirty="0">
                <a:solidFill>
                  <a:schemeClr val="tx1"/>
                </a:solidFill>
                <a:effectLst/>
                <a:latin typeface="Arial" panose="020B0604020202020204" pitchFamily="34" charset="0"/>
                <a:ea typeface="+mn-ea"/>
                <a:cs typeface="Arial" panose="020B0604020202020204" pitchFamily="34" charset="0"/>
              </a:rPr>
              <a:t>How many books are in the library now?</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On whiteboards, students solve the problem using an efficient strategy.</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steps and operations had to be taken to solve the problem? </a:t>
            </a:r>
          </a:p>
          <a:p>
            <a:pPr marL="952485" lvl="1"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strategies were used to solve the problem?</a:t>
            </a:r>
          </a:p>
          <a:p>
            <a:pPr marL="952485" lvl="1"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Were these the most efficient? Why or why not?</a:t>
            </a:r>
          </a:p>
          <a:p>
            <a:pPr marL="342900" indent="-342900">
              <a:buFont typeface="+mj-lt"/>
              <a:buAutoNum type="arabicPeriod"/>
            </a:pP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742DB-386F-C837-D204-9B98549E6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71A3F-B01C-C1B1-C441-FFC4FA49491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8F8CC2A-8E91-CB16-430F-FC4DC2E074BE}"/>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BBB3693-350F-07CD-2E88-422D220D1F92}"/>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1932380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4.sv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4.sv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60.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9.png"/><Relationship Id="rId7" Type="http://schemas.openxmlformats.org/officeDocument/2006/relationships/image" Target="../media/image39.svg"/><Relationship Id="rId2" Type="http://schemas.openxmlformats.org/officeDocument/2006/relationships/notesSlide" Target="../notesSlides/notesSlide43.xml"/><Relationship Id="rId1" Type="http://schemas.openxmlformats.org/officeDocument/2006/relationships/slideLayout" Target="../slideLayouts/slideLayout4.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13" Type="http://schemas.openxmlformats.org/officeDocument/2006/relationships/hyperlink" Target="https://nrich.maths.org/2305"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www.mav.vic.edu.au/Tenant/C0000019/00000001/downloads/Resources/remote-learning-support/home-learning-tasks/edition-02/2020-3-6_EDITION-2.pdf"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fuse.education.vic.gov.au/mcc/CurriculumItem?code=VCMMG227"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teaching-and-learning/curriculum/mathematics/mathematics-curriculum-resources-k-12/thinking-mathematically-resources/mathematics-s3-lets-get-magical"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resolve.edu.au/spatial-reasoning-right-angles"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fuse.education.vic.gov.au/Pages/arc-learning"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arc.educationapps.vic.gov.au/"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fuse.education.vic.gov.au/MCC"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3 Year B Unit 30.</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dirty="0">
                <a:latin typeface="+mj-lt"/>
              </a:rPr>
              <a:t>Mathematics Stage 3 – Unit 30</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3" action="ppaction://hlinksldjump"/>
                </a:rPr>
                <a:t>Review of learning </a:t>
              </a:r>
              <a:r>
                <a:rPr lang="en-AU" dirty="0">
                  <a:solidFill>
                    <a:schemeClr val="accent1"/>
                  </a:solidFill>
                  <a:latin typeface="+mj-lt"/>
                  <a:hlinkClick r:id="rId3" action="ppaction://hlinksldjump"/>
                </a:rPr>
                <a:t>1</a:t>
              </a:r>
              <a:endParaRPr lang="en-AU" dirty="0">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4" action="ppaction://hlinksldjump"/>
                </a:rPr>
                <a:t>Review of learning </a:t>
              </a:r>
              <a:r>
                <a:rPr lang="en-AU" dirty="0">
                  <a:solidFill>
                    <a:schemeClr val="accent1"/>
                  </a:solidFill>
                  <a:latin typeface="+mj-lt"/>
                  <a:hlinkClick r:id="rId4" action="ppaction://hlinksldjump"/>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5" action="ppaction://hlinksldjump"/>
                </a:rPr>
                <a:t>Review of learning </a:t>
              </a:r>
              <a:r>
                <a:rPr lang="en-AU" dirty="0">
                  <a:solidFill>
                    <a:schemeClr val="accent1"/>
                  </a:solidFill>
                  <a:latin typeface="+mj-lt"/>
                  <a:hlinkClick r:id="rId5" action="ppaction://hlinksldjump"/>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6" action="ppaction://hlinksldjump"/>
                </a:rPr>
                <a:t>Review of learning </a:t>
              </a:r>
              <a:r>
                <a:rPr lang="en-AU" dirty="0">
                  <a:solidFill>
                    <a:schemeClr val="accent1"/>
                  </a:solidFill>
                  <a:latin typeface="+mj-lt"/>
                  <a:hlinkClick r:id="rId6" action="ppaction://hlinksldjump"/>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7" action="ppaction://hlinksldjump"/>
                </a:rPr>
                <a:t>Review of learning </a:t>
              </a:r>
              <a:r>
                <a:rPr lang="en-AU" dirty="0">
                  <a:solidFill>
                    <a:schemeClr val="accent1"/>
                  </a:solidFill>
                  <a:latin typeface="+mj-lt"/>
                  <a:hlinkClick r:id="rId7" action="ppaction://hlinksldjump"/>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8" action="ppaction://hlinksldjump"/>
                </a:rPr>
                <a:t>Review of learning </a:t>
              </a:r>
              <a:r>
                <a:rPr lang="en-AU" dirty="0">
                  <a:solidFill>
                    <a:schemeClr val="accent1"/>
                  </a:solidFill>
                  <a:latin typeface="+mj-lt"/>
                  <a:hlinkClick r:id="rId8" action="ppaction://hlinksldjump"/>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9" action="ppaction://hlinksldjump"/>
                </a:rPr>
                <a:t>Review of learning </a:t>
              </a:r>
              <a:r>
                <a:rPr lang="en-AU" dirty="0">
                  <a:solidFill>
                    <a:schemeClr val="accent1"/>
                  </a:solidFill>
                  <a:latin typeface="+mj-lt"/>
                  <a:hlinkClick r:id="rId9" action="ppaction://hlinksldjump"/>
                </a:rPr>
                <a:t>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10" action="ppaction://hlinksldjump"/>
                </a:rPr>
                <a:t>Review of learning </a:t>
              </a:r>
              <a:r>
                <a:rPr lang="en-AU" dirty="0">
                  <a:solidFill>
                    <a:schemeClr val="accent1"/>
                  </a:solidFill>
                  <a:latin typeface="+mj-lt"/>
                  <a:hlinkClick r:id="rId10" action="ppaction://hlinksldjump"/>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74478" y="532168"/>
                <a:ext cx="11243037" cy="1618345"/>
              </a:xfrm>
            </p:spPr>
            <p:txBody>
              <a:bodyPr/>
              <a:lstStyle/>
              <a:p>
                <a:pPr algn="ctr"/>
                <a14:m>
                  <m:oMath xmlns:m="http://schemas.openxmlformats.org/officeDocument/2006/math">
                    <m:f>
                      <m:fPr>
                        <m:ctrlPr>
                          <a:rPr lang="en-US" sz="5400" i="1" smtClean="0">
                            <a:latin typeface="Cambria Math" panose="02040503050406030204" pitchFamily="18" charset="0"/>
                          </a:rPr>
                        </m:ctrlPr>
                      </m:fPr>
                      <m:num>
                        <m:r>
                          <a:rPr lang="en-AU" sz="5400" b="0" i="1" smtClean="0">
                            <a:latin typeface="Cambria Math" panose="02040503050406030204" pitchFamily="18" charset="0"/>
                          </a:rPr>
                          <m:t>2</m:t>
                        </m:r>
                      </m:num>
                      <m:den>
                        <m:r>
                          <a:rPr lang="en-AU" sz="5400" b="0" i="1" smtClean="0">
                            <a:latin typeface="Cambria Math" panose="02040503050406030204" pitchFamily="18" charset="0"/>
                          </a:rPr>
                          <m:t>5</m:t>
                        </m:r>
                      </m:den>
                    </m:f>
                  </m:oMath>
                </a14:m>
                <a:r>
                  <a:rPr lang="en-US" sz="4400" dirty="0"/>
                  <a:t> </a:t>
                </a:r>
                <a:r>
                  <a:rPr lang="en-AU" sz="4400" dirty="0"/>
                  <a:t>of this ribbon is 14 metres long.</a:t>
                </a:r>
              </a:p>
            </p:txBody>
          </p:sp>
        </mc:Choice>
        <mc:Fallback xmlns="">
          <p:sp>
            <p:nvSpPr>
              <p:cNvPr id="18" name="Text Placeholder 17">
                <a:extLst>
                  <a:ext uri="{FF2B5EF4-FFF2-40B4-BE49-F238E27FC236}">
                    <a16:creationId xmlns:a16="http://schemas.microsoft.com/office/drawing/2014/main" id="{8CC6182B-05A0-DCFF-C12E-FB8272E0C6A8}"/>
                  </a:ext>
                </a:extLst>
              </p:cNvPr>
              <p:cNvSpPr>
                <a:spLocks noGrp="1" noRot="1" noChangeAspect="1" noMove="1" noResize="1" noEditPoints="1" noAdjustHandles="1" noChangeArrowheads="1" noChangeShapeType="1" noTextEdit="1"/>
              </p:cNvSpPr>
              <p:nvPr>
                <p:ph type="body" sz="quarter" idx="24"/>
              </p:nvPr>
            </p:nvSpPr>
            <p:spPr>
              <a:xfrm>
                <a:off x="474478" y="532168"/>
                <a:ext cx="11243037" cy="1618345"/>
              </a:xfrm>
              <a:blipFill>
                <a:blip r:embed="rId4"/>
                <a:stretch>
                  <a:fillRect b="-6015"/>
                </a:stretch>
              </a:blipFill>
            </p:spPr>
            <p:txBody>
              <a:bodyPr/>
              <a:lstStyle/>
              <a:p>
                <a:r>
                  <a:rPr lang="en-US">
                    <a:noFill/>
                  </a:rPr>
                  <a:t> </a:t>
                </a:r>
              </a:p>
            </p:txBody>
          </p:sp>
        </mc:Fallback>
      </mc:AlternateContent>
      <p:pic>
        <p:nvPicPr>
          <p:cNvPr id="8" name="Picture 7" descr="An image containing a purple ribbon is shown as a long horizontal strip measuring 14 metres and a long rectangular bar is divided into 5 equal sections. The first 2 sections are shaded blue, and the remaining 3 sections are unshaded.">
            <a:extLst>
              <a:ext uri="{FF2B5EF4-FFF2-40B4-BE49-F238E27FC236}">
                <a16:creationId xmlns:a16="http://schemas.microsoft.com/office/drawing/2014/main" id="{FB59FDC1-5E4C-B4AD-6375-1157890FAB26}"/>
              </a:ext>
            </a:extLst>
          </p:cNvPr>
          <p:cNvPicPr>
            <a:picLocks noChangeAspect="1"/>
          </p:cNvPicPr>
          <p:nvPr/>
        </p:nvPicPr>
        <p:blipFill>
          <a:blip r:embed="rId5"/>
          <a:stretch>
            <a:fillRect/>
          </a:stretch>
        </p:blipFill>
        <p:spPr>
          <a:xfrm>
            <a:off x="2566717" y="2150513"/>
            <a:ext cx="7058557" cy="1869353"/>
          </a:xfrm>
          <a:prstGeom prst="rect">
            <a:avLst/>
          </a:prstGeom>
        </p:spPr>
      </p:pic>
      <p:sp>
        <p:nvSpPr>
          <p:cNvPr id="6" name="Text Placeholder 17">
            <a:extLst>
              <a:ext uri="{FF2B5EF4-FFF2-40B4-BE49-F238E27FC236}">
                <a16:creationId xmlns:a16="http://schemas.microsoft.com/office/drawing/2014/main" id="{E895EB4D-93B9-9CCF-FBE3-C66CB09F647E}"/>
              </a:ext>
            </a:extLst>
          </p:cNvPr>
          <p:cNvSpPr txBox="1">
            <a:spLocks/>
          </p:cNvSpPr>
          <p:nvPr/>
        </p:nvSpPr>
        <p:spPr>
          <a:xfrm>
            <a:off x="474478" y="3794278"/>
            <a:ext cx="11243037"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How long is the ribbon?</a:t>
            </a:r>
            <a:endParaRPr lang="en-US" sz="4400" dirty="0"/>
          </a:p>
        </p:txBody>
      </p:sp>
      <p:sp>
        <p:nvSpPr>
          <p:cNvPr id="9" name="TextBox 8">
            <a:extLst>
              <a:ext uri="{FF2B5EF4-FFF2-40B4-BE49-F238E27FC236}">
                <a16:creationId xmlns:a16="http://schemas.microsoft.com/office/drawing/2014/main" id="{055D882C-AF43-C390-844D-CF785253532C}"/>
              </a:ext>
            </a:extLst>
          </p:cNvPr>
          <p:cNvSpPr txBox="1"/>
          <p:nvPr/>
        </p:nvSpPr>
        <p:spPr>
          <a:xfrm>
            <a:off x="1119370" y="52321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b="1" dirty="0"/>
              <a:t>A</a:t>
            </a:r>
          </a:p>
        </p:txBody>
      </p:sp>
      <p:sp>
        <p:nvSpPr>
          <p:cNvPr id="13" name="Text Placeholder 17">
            <a:extLst>
              <a:ext uri="{FF2B5EF4-FFF2-40B4-BE49-F238E27FC236}">
                <a16:creationId xmlns:a16="http://schemas.microsoft.com/office/drawing/2014/main" id="{2B8DF1E6-1C18-BFA5-7CD0-57D0E3A70D10}"/>
              </a:ext>
            </a:extLst>
          </p:cNvPr>
          <p:cNvSpPr txBox="1">
            <a:spLocks/>
          </p:cNvSpPr>
          <p:nvPr/>
        </p:nvSpPr>
        <p:spPr>
          <a:xfrm>
            <a:off x="670638" y="5889660"/>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14</a:t>
            </a:r>
            <a:r>
              <a:rPr lang="en-AU" sz="3600"/>
              <a:t> m</a:t>
            </a:r>
            <a:endParaRPr lang="en-US" sz="3600" dirty="0"/>
          </a:p>
        </p:txBody>
      </p:sp>
      <p:sp>
        <p:nvSpPr>
          <p:cNvPr id="10" name="TextBox 9">
            <a:extLst>
              <a:ext uri="{FF2B5EF4-FFF2-40B4-BE49-F238E27FC236}">
                <a16:creationId xmlns:a16="http://schemas.microsoft.com/office/drawing/2014/main" id="{3A7CB9AE-0F31-FA92-BCB3-C4AD3EF18B05}"/>
              </a:ext>
            </a:extLst>
          </p:cNvPr>
          <p:cNvSpPr txBox="1"/>
          <p:nvPr/>
        </p:nvSpPr>
        <p:spPr>
          <a:xfrm>
            <a:off x="4155475" y="52321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b="1" dirty="0"/>
              <a:t>B</a:t>
            </a:r>
          </a:p>
        </p:txBody>
      </p:sp>
      <p:sp>
        <p:nvSpPr>
          <p:cNvPr id="15" name="Text Placeholder 17">
            <a:extLst>
              <a:ext uri="{FF2B5EF4-FFF2-40B4-BE49-F238E27FC236}">
                <a16:creationId xmlns:a16="http://schemas.microsoft.com/office/drawing/2014/main" id="{A9806670-3F90-056F-7D55-B340FA19F38E}"/>
              </a:ext>
            </a:extLst>
          </p:cNvPr>
          <p:cNvSpPr txBox="1">
            <a:spLocks/>
          </p:cNvSpPr>
          <p:nvPr/>
        </p:nvSpPr>
        <p:spPr>
          <a:xfrm>
            <a:off x="3706742" y="5889660"/>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35</a:t>
            </a:r>
            <a:r>
              <a:rPr lang="en-AU" sz="3600"/>
              <a:t> m</a:t>
            </a:r>
            <a:endParaRPr lang="en-US" sz="3600" dirty="0"/>
          </a:p>
        </p:txBody>
      </p:sp>
      <p:sp>
        <p:nvSpPr>
          <p:cNvPr id="12" name="TextBox 11">
            <a:extLst>
              <a:ext uri="{FF2B5EF4-FFF2-40B4-BE49-F238E27FC236}">
                <a16:creationId xmlns:a16="http://schemas.microsoft.com/office/drawing/2014/main" id="{92ADCA88-1230-AEE8-EFD6-D8F0DF7EEE5C}"/>
              </a:ext>
            </a:extLst>
          </p:cNvPr>
          <p:cNvSpPr txBox="1"/>
          <p:nvPr/>
        </p:nvSpPr>
        <p:spPr>
          <a:xfrm>
            <a:off x="7191580" y="52321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b="1" dirty="0"/>
              <a:t>C</a:t>
            </a:r>
          </a:p>
        </p:txBody>
      </p:sp>
      <p:sp>
        <p:nvSpPr>
          <p:cNvPr id="16" name="Text Placeholder 17">
            <a:extLst>
              <a:ext uri="{FF2B5EF4-FFF2-40B4-BE49-F238E27FC236}">
                <a16:creationId xmlns:a16="http://schemas.microsoft.com/office/drawing/2014/main" id="{1D6AC4ED-6F87-0D8B-F7E3-30A61A94920A}"/>
              </a:ext>
            </a:extLst>
          </p:cNvPr>
          <p:cNvSpPr txBox="1">
            <a:spLocks/>
          </p:cNvSpPr>
          <p:nvPr/>
        </p:nvSpPr>
        <p:spPr>
          <a:xfrm>
            <a:off x="6742846" y="5889660"/>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70</a:t>
            </a:r>
            <a:r>
              <a:rPr lang="en-AU" sz="3600"/>
              <a:t> m</a:t>
            </a:r>
            <a:endParaRPr lang="en-US" sz="3600" dirty="0"/>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523217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800" b="1" dirty="0"/>
              <a:t>D</a:t>
            </a:r>
          </a:p>
        </p:txBody>
      </p:sp>
      <p:sp>
        <p:nvSpPr>
          <p:cNvPr id="17" name="Text Placeholder 17">
            <a:extLst>
              <a:ext uri="{FF2B5EF4-FFF2-40B4-BE49-F238E27FC236}">
                <a16:creationId xmlns:a16="http://schemas.microsoft.com/office/drawing/2014/main" id="{6FCB26E0-10FE-B351-B6F9-801D11616ECE}"/>
              </a:ext>
            </a:extLst>
          </p:cNvPr>
          <p:cNvSpPr txBox="1">
            <a:spLocks/>
          </p:cNvSpPr>
          <p:nvPr/>
        </p:nvSpPr>
        <p:spPr>
          <a:xfrm>
            <a:off x="9778950" y="5889660"/>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7</a:t>
            </a:r>
            <a:r>
              <a:rPr lang="en-AU" sz="3600"/>
              <a:t> m</a:t>
            </a:r>
            <a:endParaRPr lang="en-US" sz="3600" dirty="0"/>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dirty="0"/>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10">
            <a:extLst>
              <a:ext uri="{FF2B5EF4-FFF2-40B4-BE49-F238E27FC236}">
                <a16:creationId xmlns:a16="http://schemas.microsoft.com/office/drawing/2014/main" id="{45380772-6C77-4870-5624-D9CEEDABDFD1}"/>
              </a:ext>
            </a:extLst>
          </p:cNvPr>
          <p:cNvSpPr txBox="1">
            <a:spLocks/>
          </p:cNvSpPr>
          <p:nvPr/>
        </p:nvSpPr>
        <p:spPr>
          <a:xfrm>
            <a:off x="474480" y="1451202"/>
            <a:ext cx="11243037" cy="99488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Explain</a:t>
            </a:r>
            <a:r>
              <a:rPr lang="en-AU" sz="4400" dirty="0">
                <a:latin typeface="Arial"/>
                <a:cs typeface="Arial"/>
              </a:rPr>
              <a:t> why a </a:t>
            </a:r>
            <a:r>
              <a:rPr lang="en-AU" sz="4400" b="1" dirty="0">
                <a:latin typeface="Arial"/>
                <a:cs typeface="Arial"/>
              </a:rPr>
              <a:t>protractor</a:t>
            </a:r>
            <a:r>
              <a:rPr lang="en-AU" sz="4400" dirty="0">
                <a:latin typeface="Arial"/>
                <a:cs typeface="Arial"/>
              </a:rPr>
              <a:t> has </a:t>
            </a:r>
            <a:r>
              <a:rPr lang="en-AU" sz="4400" b="1">
                <a:latin typeface="Arial"/>
                <a:cs typeface="Arial"/>
              </a:rPr>
              <a:t>2</a:t>
            </a:r>
            <a:r>
              <a:rPr lang="en-AU" sz="4400" b="1" dirty="0">
                <a:latin typeface="Arial"/>
                <a:cs typeface="Arial"/>
              </a:rPr>
              <a:t> scales</a:t>
            </a:r>
            <a:r>
              <a:rPr lang="en-AU" sz="4400" dirty="0">
                <a:latin typeface="Arial"/>
                <a:cs typeface="Arial"/>
              </a:rPr>
              <a:t>.</a:t>
            </a:r>
            <a:r>
              <a:rPr lang="en-US" sz="4400" dirty="0">
                <a:latin typeface="Arial"/>
                <a:cs typeface="Arial"/>
              </a:rPr>
              <a:t> </a:t>
            </a:r>
            <a:endParaRPr lang="en-US" sz="4400" dirty="0"/>
          </a:p>
          <a:p>
            <a:endParaRPr lang="en-US" dirty="0">
              <a:latin typeface="Arial"/>
              <a:cs typeface="Arial"/>
            </a:endParaRPr>
          </a:p>
        </p:txBody>
      </p:sp>
      <p:sp>
        <p:nvSpPr>
          <p:cNvPr id="5" name="Freeform 7" descr="Protractor.">
            <a:extLst>
              <a:ext uri="{FF2B5EF4-FFF2-40B4-BE49-F238E27FC236}">
                <a16:creationId xmlns:a16="http://schemas.microsoft.com/office/drawing/2014/main" id="{A1225E52-DF17-DFBA-A2C5-11AA7F59F5D0}"/>
              </a:ext>
            </a:extLst>
          </p:cNvPr>
          <p:cNvSpPr/>
          <p:nvPr/>
        </p:nvSpPr>
        <p:spPr>
          <a:xfrm>
            <a:off x="2994437" y="2991689"/>
            <a:ext cx="6203121" cy="3424122"/>
          </a:xfrm>
          <a:custGeom>
            <a:avLst/>
            <a:gdLst/>
            <a:ahLst/>
            <a:cxnLst/>
            <a:rect l="l" t="t" r="r" b="b"/>
            <a:pathLst>
              <a:path w="2221289" h="1226151">
                <a:moveTo>
                  <a:pt x="0" y="0"/>
                </a:moveTo>
                <a:lnTo>
                  <a:pt x="2221289" y="0"/>
                </a:lnTo>
                <a:lnTo>
                  <a:pt x="2221289" y="1226151"/>
                </a:lnTo>
                <a:lnTo>
                  <a:pt x="0" y="1226151"/>
                </a:lnTo>
                <a:lnTo>
                  <a:pt x="0" y="0"/>
                </a:lnTo>
                <a:close/>
              </a:path>
            </a:pathLst>
          </a:custGeom>
          <a:blipFill>
            <a:blip r:embed="rId4"/>
            <a:stretch>
              <a:fillRect/>
            </a:stretch>
          </a:blipFill>
        </p:spPr>
        <p:txBody>
          <a:bodyPr/>
          <a:lstStyle/>
          <a:p>
            <a:endParaRPr lang="en-AU" dirty="0"/>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10">
            <a:extLst>
              <a:ext uri="{FF2B5EF4-FFF2-40B4-BE49-F238E27FC236}">
                <a16:creationId xmlns:a16="http://schemas.microsoft.com/office/drawing/2014/main" id="{C5A5A009-1AC3-56C6-1F10-2FCCA08318B9}"/>
              </a:ext>
            </a:extLst>
          </p:cNvPr>
          <p:cNvSpPr txBox="1">
            <a:spLocks/>
          </p:cNvSpPr>
          <p:nvPr/>
        </p:nvSpPr>
        <p:spPr>
          <a:xfrm>
            <a:off x="474480" y="1116943"/>
            <a:ext cx="11243037" cy="99488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latin typeface="Arial"/>
                <a:cs typeface="Arial"/>
              </a:rPr>
              <a:t>Name the </a:t>
            </a:r>
            <a:r>
              <a:rPr lang="en-US" sz="4400" b="1" dirty="0">
                <a:latin typeface="Arial"/>
                <a:cs typeface="Arial"/>
              </a:rPr>
              <a:t>type</a:t>
            </a:r>
            <a:r>
              <a:rPr lang="en-US" sz="4400" dirty="0">
                <a:latin typeface="Arial"/>
                <a:cs typeface="Arial"/>
              </a:rPr>
              <a:t> of </a:t>
            </a:r>
            <a:r>
              <a:rPr lang="en-US" sz="4400" b="1" dirty="0">
                <a:latin typeface="Arial"/>
                <a:cs typeface="Arial"/>
              </a:rPr>
              <a:t>prism</a:t>
            </a:r>
            <a:r>
              <a:rPr lang="en-US" sz="4400" dirty="0">
                <a:latin typeface="Arial"/>
                <a:cs typeface="Arial"/>
              </a:rPr>
              <a:t>. </a:t>
            </a:r>
            <a:endParaRPr lang="en-US" sz="4400" dirty="0"/>
          </a:p>
          <a:p>
            <a:endParaRPr lang="en-US" dirty="0">
              <a:latin typeface="Arial"/>
              <a:cs typeface="Arial"/>
            </a:endParaRPr>
          </a:p>
        </p:txBody>
      </p:sp>
      <p:sp>
        <p:nvSpPr>
          <p:cNvPr id="5" name="Freeform 3" descr="A three-dimensional shape with a pentagon at the top and base. Each of the 5 sides is a rectangle.">
            <a:extLst>
              <a:ext uri="{FF2B5EF4-FFF2-40B4-BE49-F238E27FC236}">
                <a16:creationId xmlns:a16="http://schemas.microsoft.com/office/drawing/2014/main" id="{FD5D468D-D742-0EF5-57A8-C5C2F99E8B36}"/>
              </a:ext>
            </a:extLst>
          </p:cNvPr>
          <p:cNvSpPr/>
          <p:nvPr/>
        </p:nvSpPr>
        <p:spPr>
          <a:xfrm>
            <a:off x="4830070" y="2627085"/>
            <a:ext cx="2531860" cy="3580494"/>
          </a:xfrm>
          <a:custGeom>
            <a:avLst/>
            <a:gdLst/>
            <a:ahLst/>
            <a:cxnLst/>
            <a:rect l="l" t="t" r="r" b="b"/>
            <a:pathLst>
              <a:path w="1544330" h="2417737">
                <a:moveTo>
                  <a:pt x="0" y="0"/>
                </a:moveTo>
                <a:lnTo>
                  <a:pt x="1544330" y="0"/>
                </a:lnTo>
                <a:lnTo>
                  <a:pt x="1544330" y="2417737"/>
                </a:lnTo>
                <a:lnTo>
                  <a:pt x="0" y="2417737"/>
                </a:lnTo>
                <a:lnTo>
                  <a:pt x="0" y="0"/>
                </a:lnTo>
                <a:close/>
              </a:path>
            </a:pathLst>
          </a:custGeom>
          <a:blipFill>
            <a:blip r:embed="rId4"/>
            <a:stretch>
              <a:fillRect/>
            </a:stretch>
          </a:blipFill>
          <a:ln cap="sq">
            <a:noFill/>
            <a:prstDash val="solid"/>
            <a:miter/>
          </a:ln>
        </p:spPr>
        <p:txBody>
          <a:bodyPr/>
          <a:lstStyle/>
          <a:p>
            <a:endParaRPr lang="en-AU" dirty="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0946BC1D-5206-6A59-EB0D-2CA6E4C642D1}"/>
              </a:ext>
            </a:extLst>
          </p:cNvPr>
          <p:cNvSpPr txBox="1"/>
          <p:nvPr/>
        </p:nvSpPr>
        <p:spPr>
          <a:xfrm>
            <a:off x="347998" y="882288"/>
            <a:ext cx="5748001" cy="5910401"/>
          </a:xfrm>
          <a:prstGeom prst="rect">
            <a:avLst/>
          </a:prstGeom>
          <a:noFill/>
        </p:spPr>
        <p:txBody>
          <a:bodyPr wrap="square">
            <a:spAutoFit/>
          </a:bodyPr>
          <a:lstStyle/>
          <a:p>
            <a:pPr algn="ctr">
              <a:lnSpc>
                <a:spcPct val="150000"/>
              </a:lnSpc>
            </a:pPr>
            <a:r>
              <a:rPr lang="en-AU" sz="3200" dirty="0">
                <a:solidFill>
                  <a:srgbClr val="000000"/>
                </a:solidFill>
              </a:rPr>
              <a:t>R</a:t>
            </a:r>
            <a:r>
              <a:rPr lang="en-AU" sz="3200" b="0" i="0" u="none" strike="noStrike" dirty="0">
                <a:solidFill>
                  <a:srgbClr val="000000"/>
                </a:solidFill>
                <a:effectLst/>
              </a:rPr>
              <a:t>ecord the </a:t>
            </a:r>
            <a:r>
              <a:rPr lang="en-AU" sz="3200" b="1" i="0" u="none" strike="noStrike" dirty="0">
                <a:solidFill>
                  <a:srgbClr val="000000"/>
                </a:solidFill>
                <a:effectLst/>
              </a:rPr>
              <a:t>coordinates</a:t>
            </a:r>
            <a:r>
              <a:rPr lang="en-AU" sz="3200" b="0" i="0" u="none" strike="noStrike" dirty="0">
                <a:solidFill>
                  <a:srgbClr val="000000"/>
                </a:solidFill>
                <a:effectLst/>
              </a:rPr>
              <a:t> of each animal on the </a:t>
            </a:r>
            <a:r>
              <a:rPr lang="en-AU" sz="3200" b="1" i="0" u="none" strike="noStrike" dirty="0">
                <a:solidFill>
                  <a:srgbClr val="000000"/>
                </a:solidFill>
                <a:effectLst/>
              </a:rPr>
              <a:t>first quadrant </a:t>
            </a:r>
            <a:r>
              <a:rPr lang="en-AU" sz="3200" b="0" i="0" u="none" strike="noStrike" dirty="0">
                <a:solidFill>
                  <a:srgbClr val="000000"/>
                </a:solidFill>
                <a:effectLst/>
              </a:rPr>
              <a:t>of the </a:t>
            </a:r>
            <a:r>
              <a:rPr lang="en-AU" sz="3200" b="1" i="0" u="none" strike="noStrike" dirty="0">
                <a:solidFill>
                  <a:srgbClr val="000000"/>
                </a:solidFill>
                <a:effectLst/>
              </a:rPr>
              <a:t>Cartesian plane</a:t>
            </a:r>
            <a:r>
              <a:rPr lang="en-AU" sz="3200" b="0" i="0" u="none" strike="noStrike" dirty="0">
                <a:solidFill>
                  <a:srgbClr val="000000"/>
                </a:solidFill>
                <a:effectLst/>
              </a:rPr>
              <a:t>.</a:t>
            </a:r>
          </a:p>
          <a:p>
            <a:pPr marL="742950" indent="-742950">
              <a:lnSpc>
                <a:spcPct val="150000"/>
              </a:lnSpc>
              <a:buAutoNum type="alphaLcPeriod"/>
            </a:pPr>
            <a:r>
              <a:rPr lang="en-AU" sz="3200" dirty="0">
                <a:solidFill>
                  <a:srgbClr val="000000"/>
                </a:solidFill>
              </a:rPr>
              <a:t>rhinoceros</a:t>
            </a:r>
          </a:p>
          <a:p>
            <a:pPr marL="742950" indent="-742950">
              <a:lnSpc>
                <a:spcPct val="150000"/>
              </a:lnSpc>
              <a:buAutoNum type="alphaLcPeriod"/>
            </a:pPr>
            <a:r>
              <a:rPr lang="en-AU" sz="3200" dirty="0"/>
              <a:t>crocodile</a:t>
            </a:r>
          </a:p>
          <a:p>
            <a:pPr marL="742950" indent="-742950">
              <a:lnSpc>
                <a:spcPct val="150000"/>
              </a:lnSpc>
              <a:buAutoNum type="alphaLcPeriod"/>
            </a:pPr>
            <a:r>
              <a:rPr lang="en-AU" sz="3200" dirty="0"/>
              <a:t>shark</a:t>
            </a:r>
          </a:p>
          <a:p>
            <a:pPr marL="742950" indent="-742950">
              <a:lnSpc>
                <a:spcPct val="150000"/>
              </a:lnSpc>
              <a:buAutoNum type="alphaLcPeriod"/>
            </a:pPr>
            <a:r>
              <a:rPr lang="en-AU" sz="3200" dirty="0"/>
              <a:t>ostrich </a:t>
            </a:r>
          </a:p>
        </p:txBody>
      </p:sp>
      <p:pic>
        <p:nvPicPr>
          <p:cNvPr id="7" name="Picture 6" descr="A coordinate grid is shown with the x-axis running horizontally and the y-axis running vertically, both labelled and marked with numbers from 0 to 7. Four animals are placed at different points on the grid: a rhinoceros on point 1 on the x-axis and point 6 on the y-axis, a crocodile on point 4 on the x-axis and point 4 on the y-axis, a shark on point 2 on the x-axis and point 2 on the y-axis, and an ostrich on point 6 on the x-axis and point 1 on the y-axis.">
            <a:extLst>
              <a:ext uri="{FF2B5EF4-FFF2-40B4-BE49-F238E27FC236}">
                <a16:creationId xmlns:a16="http://schemas.microsoft.com/office/drawing/2014/main" id="{F5849107-6D1A-4358-A0AC-DAC502B75DDF}"/>
              </a:ext>
            </a:extLst>
          </p:cNvPr>
          <p:cNvPicPr>
            <a:picLocks noChangeAspect="1"/>
          </p:cNvPicPr>
          <p:nvPr/>
        </p:nvPicPr>
        <p:blipFill>
          <a:blip r:embed="rId4">
            <a:extLst>
              <a:ext uri="{28A0092B-C50C-407E-A947-70E740481C1C}">
                <a14:useLocalDpi xmlns:a14="http://schemas.microsoft.com/office/drawing/2010/main" val="0"/>
              </a:ext>
            </a:extLst>
          </a:blip>
          <a:srcRect l="21755" t="3918" r="19130" b="11530"/>
          <a:stretch>
            <a:fillRect/>
          </a:stretch>
        </p:blipFill>
        <p:spPr>
          <a:xfrm>
            <a:off x="6095999" y="1177758"/>
            <a:ext cx="5456608" cy="551824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D895E930-356D-6AEF-9776-61CADB6E61A7}"/>
              </a:ext>
            </a:extLst>
          </p:cNvPr>
          <p:cNvSpPr txBox="1"/>
          <p:nvPr/>
        </p:nvSpPr>
        <p:spPr>
          <a:xfrm>
            <a:off x="493486" y="1028351"/>
            <a:ext cx="10866384" cy="901593"/>
          </a:xfrm>
          <a:prstGeom prst="rect">
            <a:avLst/>
          </a:prstGeom>
          <a:noFill/>
        </p:spPr>
        <p:txBody>
          <a:bodyPr wrap="square">
            <a:spAutoFit/>
          </a:bodyPr>
          <a:lstStyle/>
          <a:p>
            <a:pPr algn="ctr">
              <a:lnSpc>
                <a:spcPct val="150000"/>
              </a:lnSpc>
            </a:pPr>
            <a:r>
              <a:rPr lang="en-AU" sz="4000" dirty="0"/>
              <a:t>“Cool Cola is </a:t>
            </a:r>
            <a:r>
              <a:rPr lang="en-AU" sz="4000" b="1" dirty="0"/>
              <a:t>more popular </a:t>
            </a:r>
            <a:r>
              <a:rPr lang="en-AU" sz="4000" dirty="0"/>
              <a:t>than Super Soda.”</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5" name="Picture 4" descr="A line graph titled “2023 Drink sales” shows monthly sales for two companies from April to November. Cool Cola (red) rises to a peak in August then drops, while Super Soda (blue) increases overall with a dip in September and highest sales in November.">
            <a:extLst>
              <a:ext uri="{FF2B5EF4-FFF2-40B4-BE49-F238E27FC236}">
                <a16:creationId xmlns:a16="http://schemas.microsoft.com/office/drawing/2014/main" id="{233D0ED4-1F05-F9DA-50B1-9EA7F3110174}"/>
              </a:ext>
            </a:extLst>
          </p:cNvPr>
          <p:cNvPicPr>
            <a:picLocks noChangeAspect="1"/>
          </p:cNvPicPr>
          <p:nvPr/>
        </p:nvPicPr>
        <p:blipFill>
          <a:blip r:embed="rId4">
            <a:extLst>
              <a:ext uri="{28A0092B-C50C-407E-A947-70E740481C1C}">
                <a14:useLocalDpi xmlns:a14="http://schemas.microsoft.com/office/drawing/2010/main" val="0"/>
              </a:ext>
            </a:extLst>
          </a:blip>
          <a:srcRect l="5042" t="11050" r="4677" b="8426"/>
          <a:stretch>
            <a:fillRect/>
          </a:stretch>
        </p:blipFill>
        <p:spPr>
          <a:xfrm>
            <a:off x="5245775" y="2190307"/>
            <a:ext cx="6700201" cy="4225354"/>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6FF432EF-5539-BF9D-7FC0-A31B75728200}"/>
              </a:ext>
            </a:extLst>
          </p:cNvPr>
          <p:cNvSpPr txBox="1"/>
          <p:nvPr/>
        </p:nvSpPr>
        <p:spPr>
          <a:xfrm>
            <a:off x="246024" y="2425311"/>
            <a:ext cx="4860586" cy="1824923"/>
          </a:xfrm>
          <a:prstGeom prst="rect">
            <a:avLst/>
          </a:prstGeom>
          <a:noFill/>
        </p:spPr>
        <p:txBody>
          <a:bodyPr wrap="square">
            <a:spAutoFit/>
          </a:bodyPr>
          <a:lstStyle/>
          <a:p>
            <a:pPr algn="ctr">
              <a:lnSpc>
                <a:spcPct val="150000"/>
              </a:lnSpc>
            </a:pPr>
            <a:r>
              <a:rPr lang="en-AU" sz="4000" dirty="0">
                <a:solidFill>
                  <a:srgbClr val="000000"/>
                </a:solidFill>
              </a:rPr>
              <a:t>Do you </a:t>
            </a:r>
            <a:r>
              <a:rPr lang="en-AU" sz="4000" b="1" dirty="0">
                <a:solidFill>
                  <a:srgbClr val="000000"/>
                </a:solidFill>
              </a:rPr>
              <a:t>agree</a:t>
            </a:r>
            <a:r>
              <a:rPr lang="en-AU" sz="4000" dirty="0">
                <a:solidFill>
                  <a:srgbClr val="000000"/>
                </a:solidFill>
              </a:rPr>
              <a:t> or </a:t>
            </a:r>
            <a:r>
              <a:rPr lang="en-AU" sz="4000" b="1" dirty="0">
                <a:solidFill>
                  <a:srgbClr val="000000"/>
                </a:solidFill>
              </a:rPr>
              <a:t>disagree</a:t>
            </a:r>
            <a:r>
              <a:rPr lang="en-AU" sz="4000" dirty="0">
                <a:solidFill>
                  <a:srgbClr val="000000"/>
                </a:solidFill>
              </a:rPr>
              <a:t>?</a:t>
            </a:r>
            <a:endParaRPr lang="en-AU" sz="4000" dirty="0"/>
          </a:p>
        </p:txBody>
      </p:sp>
      <p:sp>
        <p:nvSpPr>
          <p:cNvPr id="10" name="TextBox 9">
            <a:extLst>
              <a:ext uri="{FF2B5EF4-FFF2-40B4-BE49-F238E27FC236}">
                <a16:creationId xmlns:a16="http://schemas.microsoft.com/office/drawing/2014/main" id="{F2F12B3C-F6E2-E6B2-9E6D-4B876FBBD9B2}"/>
              </a:ext>
            </a:extLst>
          </p:cNvPr>
          <p:cNvSpPr txBox="1"/>
          <p:nvPr/>
        </p:nvSpPr>
        <p:spPr>
          <a:xfrm>
            <a:off x="246024" y="4745601"/>
            <a:ext cx="4860586" cy="2748253"/>
          </a:xfrm>
          <a:prstGeom prst="rect">
            <a:avLst/>
          </a:prstGeom>
          <a:noFill/>
        </p:spPr>
        <p:txBody>
          <a:bodyPr wrap="square">
            <a:spAutoFit/>
          </a:bodyPr>
          <a:lstStyle/>
          <a:p>
            <a:pPr algn="ctr">
              <a:lnSpc>
                <a:spcPct val="150000"/>
              </a:lnSpc>
            </a:pPr>
            <a:r>
              <a:rPr lang="en-US" sz="4000" b="1" dirty="0">
                <a:cs typeface="Arial"/>
              </a:rPr>
              <a:t>Communicate </a:t>
            </a:r>
            <a:r>
              <a:rPr lang="en-US" sz="4000" dirty="0">
                <a:cs typeface="Arial"/>
              </a:rPr>
              <a:t>your</a:t>
            </a:r>
            <a:r>
              <a:rPr lang="en-US" sz="4000" b="1" dirty="0">
                <a:cs typeface="Arial"/>
              </a:rPr>
              <a:t> reasoning.</a:t>
            </a:r>
            <a:endParaRPr lang="en-US" sz="4000" dirty="0"/>
          </a:p>
          <a:p>
            <a:pPr algn="ctr">
              <a:lnSpc>
                <a:spcPct val="150000"/>
              </a:lnSpc>
            </a:pPr>
            <a:endParaRPr lang="en-AU" sz="4000" dirty="0"/>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t>Activity 1 – build to the whole 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 name="Picture 9" descr="A long rope is shown as a horizontal strip measuring 15 metres. Above it, a rectangular bar is divided into 5 equal sections, with 3 sections shaded blue and 2 sections unshaded.">
            <a:extLst>
              <a:ext uri="{FF2B5EF4-FFF2-40B4-BE49-F238E27FC236}">
                <a16:creationId xmlns:a16="http://schemas.microsoft.com/office/drawing/2014/main" id="{0A6C3483-1D6E-2C29-DE4B-C3302E9B9BA0}"/>
              </a:ext>
            </a:extLst>
          </p:cNvPr>
          <p:cNvPicPr>
            <a:picLocks noChangeAspect="1"/>
          </p:cNvPicPr>
          <p:nvPr/>
        </p:nvPicPr>
        <p:blipFill>
          <a:blip r:embed="rId4"/>
          <a:stretch>
            <a:fillRect/>
          </a:stretch>
        </p:blipFill>
        <p:spPr>
          <a:xfrm>
            <a:off x="425355" y="2287972"/>
            <a:ext cx="11341290" cy="2986117"/>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pic>
        <p:nvPicPr>
          <p:cNvPr id="7" name="Picture 6" descr="A chocolate bar made up of 6 equal pieces is shown as a horizontal strip measuring 24 centimetres. Above it, a rectangular bar is divided into 5 equal sections, with 4 sections shaded blue and 1 section unshaded.">
            <a:extLst>
              <a:ext uri="{FF2B5EF4-FFF2-40B4-BE49-F238E27FC236}">
                <a16:creationId xmlns:a16="http://schemas.microsoft.com/office/drawing/2014/main" id="{9165A238-ADF9-ABF5-6654-6F58415E218D}"/>
              </a:ext>
            </a:extLst>
          </p:cNvPr>
          <p:cNvPicPr>
            <a:picLocks noChangeAspect="1"/>
          </p:cNvPicPr>
          <p:nvPr/>
        </p:nvPicPr>
        <p:blipFill>
          <a:blip r:embed="rId3"/>
          <a:stretch>
            <a:fillRect/>
          </a:stretch>
        </p:blipFill>
        <p:spPr>
          <a:xfrm>
            <a:off x="1562538" y="2382216"/>
            <a:ext cx="9066922" cy="3144905"/>
          </a:xfrm>
          <a:prstGeom prst="rect">
            <a:avLst/>
          </a:prstGeom>
        </p:spPr>
      </p:pic>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330879"/>
            <a:ext cx="11243037" cy="893226"/>
          </a:xfrm>
        </p:spPr>
        <p:txBody>
          <a:bodyPr/>
          <a:lstStyle/>
          <a:p>
            <a:pPr algn="ctr"/>
            <a:r>
              <a:rPr lang="en-AU" sz="4400" dirty="0"/>
              <a:t>The whole chocolate bar is 30 cm. </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642869241"/>
              </p:ext>
            </p:extLst>
          </p:nvPr>
        </p:nvGraphicFramePr>
        <p:xfrm>
          <a:off x="2442981" y="558997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Picture Placeholder 10">
            <a:extLst>
              <a:ext uri="{FF2B5EF4-FFF2-40B4-BE49-F238E27FC236}">
                <a16:creationId xmlns:a16="http://schemas.microsoft.com/office/drawing/2014/main" id="{DEB1C31E-3568-03BC-756D-FC67D946CFB7}"/>
              </a:ext>
            </a:extLst>
          </p:cNvPr>
          <p:cNvSpPr txBox="1">
            <a:spLocks/>
          </p:cNvSpPr>
          <p:nvPr/>
        </p:nvSpPr>
        <p:spPr>
          <a:xfrm>
            <a:off x="474480" y="892315"/>
            <a:ext cx="11243037" cy="203531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Which</a:t>
            </a:r>
            <a:r>
              <a:rPr lang="en-US" sz="4400" b="1">
                <a:latin typeface="Arial"/>
                <a:cs typeface="Arial"/>
              </a:rPr>
              <a:t> 2 lines </a:t>
            </a:r>
            <a:r>
              <a:rPr lang="en-US" sz="4400">
                <a:latin typeface="Arial"/>
                <a:cs typeface="Arial"/>
              </a:rPr>
              <a:t>are </a:t>
            </a:r>
            <a:r>
              <a:rPr lang="en-US" sz="4400" b="1">
                <a:latin typeface="Arial"/>
                <a:cs typeface="Arial"/>
              </a:rPr>
              <a:t>perpendicular</a:t>
            </a:r>
            <a:r>
              <a:rPr lang="en-US" sz="4400">
                <a:latin typeface="Arial"/>
                <a:cs typeface="Arial"/>
              </a:rPr>
              <a:t>?</a:t>
            </a:r>
            <a:endParaRPr lang="en-US" sz="4400"/>
          </a:p>
          <a:p>
            <a:endParaRPr lang="en-US">
              <a:latin typeface="Arial"/>
              <a:cs typeface="Arial"/>
            </a:endParaRP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8" name="Picture 7" descr="4 intersecting lines labelled A, B, C and D.">
            <a:extLst>
              <a:ext uri="{FF2B5EF4-FFF2-40B4-BE49-F238E27FC236}">
                <a16:creationId xmlns:a16="http://schemas.microsoft.com/office/drawing/2014/main" id="{264517D3-1066-9FEA-FBE3-8C044F4EB0B7}"/>
              </a:ext>
            </a:extLst>
          </p:cNvPr>
          <p:cNvPicPr>
            <a:picLocks noChangeAspect="1"/>
          </p:cNvPicPr>
          <p:nvPr/>
        </p:nvPicPr>
        <p:blipFill>
          <a:blip r:embed="rId4"/>
          <a:stretch>
            <a:fillRect/>
          </a:stretch>
        </p:blipFill>
        <p:spPr>
          <a:xfrm>
            <a:off x="3286004" y="1997476"/>
            <a:ext cx="5619987" cy="4789503"/>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44AE5E1F-4016-D5B0-8BA4-5C408BB03042}"/>
              </a:ext>
            </a:extLst>
          </p:cNvPr>
          <p:cNvSpPr txBox="1">
            <a:spLocks/>
          </p:cNvSpPr>
          <p:nvPr/>
        </p:nvSpPr>
        <p:spPr>
          <a:xfrm>
            <a:off x="474480" y="1116943"/>
            <a:ext cx="11243037" cy="103842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latin typeface="Arial"/>
                <a:cs typeface="Arial"/>
              </a:rPr>
              <a:t>Name the </a:t>
            </a:r>
            <a:r>
              <a:rPr lang="en-US" sz="4400" b="1" dirty="0">
                <a:latin typeface="Arial"/>
                <a:cs typeface="Arial"/>
              </a:rPr>
              <a:t>shape</a:t>
            </a:r>
            <a:r>
              <a:rPr lang="en-US" sz="4400" dirty="0">
                <a:latin typeface="Arial"/>
                <a:cs typeface="Arial"/>
              </a:rPr>
              <a:t> this </a:t>
            </a:r>
            <a:r>
              <a:rPr lang="en-US" sz="4400" b="1" dirty="0">
                <a:latin typeface="Arial"/>
                <a:cs typeface="Arial"/>
              </a:rPr>
              <a:t>net</a:t>
            </a:r>
            <a:r>
              <a:rPr lang="en-US" sz="4400" dirty="0">
                <a:latin typeface="Arial"/>
                <a:cs typeface="Arial"/>
              </a:rPr>
              <a:t> would create. </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8" name="Picture 7" descr="A net made of 2 large rectangles, 2 medium rectangles and 2 two small rectangles.">
            <a:extLst>
              <a:ext uri="{FF2B5EF4-FFF2-40B4-BE49-F238E27FC236}">
                <a16:creationId xmlns:a16="http://schemas.microsoft.com/office/drawing/2014/main" id="{17BE67A8-64F4-708C-8270-11B7D2C3AD6B}"/>
              </a:ext>
            </a:extLst>
          </p:cNvPr>
          <p:cNvPicPr>
            <a:picLocks noChangeAspect="1"/>
          </p:cNvPicPr>
          <p:nvPr/>
        </p:nvPicPr>
        <p:blipFill>
          <a:blip r:embed="rId4"/>
          <a:stretch>
            <a:fillRect/>
          </a:stretch>
        </p:blipFill>
        <p:spPr>
          <a:xfrm>
            <a:off x="2001912" y="2479058"/>
            <a:ext cx="8188171" cy="3892737"/>
          </a:xfrm>
          <a:prstGeom prst="rect">
            <a:avLst/>
          </a:prstGeom>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CFB7394-741E-AC3B-1598-1923495EA38A}"/>
              </a:ext>
            </a:extLst>
          </p:cNvPr>
          <p:cNvSpPr txBox="1"/>
          <p:nvPr/>
        </p:nvSpPr>
        <p:spPr>
          <a:xfrm>
            <a:off x="246024" y="785599"/>
            <a:ext cx="4515943" cy="5910401"/>
          </a:xfrm>
          <a:prstGeom prst="rect">
            <a:avLst/>
          </a:prstGeom>
          <a:noFill/>
        </p:spPr>
        <p:txBody>
          <a:bodyPr wrap="square">
            <a:spAutoFit/>
          </a:bodyPr>
          <a:lstStyle/>
          <a:p>
            <a:pPr marL="0" marR="0" lvl="0" indent="0" algn="ctr" defTabSz="609585" rtl="0" eaLnBrk="1" fontAlgn="auto" latinLnBrk="0" hangingPunct="1">
              <a:lnSpc>
                <a:spcPct val="150000"/>
              </a:lnSpc>
              <a:spcBef>
                <a:spcPts val="0"/>
              </a:spcBef>
              <a:spcAft>
                <a:spcPts val="0"/>
              </a:spcAft>
              <a:buClrTx/>
              <a:buSzTx/>
              <a:buFontTx/>
              <a:buNone/>
              <a:tabLst/>
              <a:defRPr/>
            </a:pPr>
            <a:r>
              <a:rPr kumimoji="0" lang="en-AU" sz="3200" b="0" i="0" u="none" strike="noStrike" kern="1200" cap="none" spc="0" normalizeH="0" baseline="0" noProof="0" dirty="0">
                <a:ln>
                  <a:noFill/>
                </a:ln>
                <a:solidFill>
                  <a:srgbClr val="000000"/>
                </a:solidFill>
                <a:effectLst/>
                <a:uLnTx/>
                <a:uFillTx/>
                <a:latin typeface="Arial" panose="020B0604020202020204"/>
                <a:ea typeface="+mn-ea"/>
                <a:cs typeface="+mn-cs"/>
              </a:rPr>
              <a:t>Record the </a:t>
            </a:r>
            <a:r>
              <a:rPr kumimoji="0" lang="en-AU" sz="3200" b="1" i="0" u="none" strike="noStrike" kern="1200" cap="none" spc="0" normalizeH="0" baseline="0" noProof="0" dirty="0">
                <a:ln>
                  <a:noFill/>
                </a:ln>
                <a:solidFill>
                  <a:srgbClr val="000000"/>
                </a:solidFill>
                <a:effectLst/>
                <a:uLnTx/>
                <a:uFillTx/>
                <a:latin typeface="Arial" panose="020B0604020202020204"/>
                <a:ea typeface="+mn-ea"/>
                <a:cs typeface="+mn-cs"/>
              </a:rPr>
              <a:t>coordinates</a:t>
            </a:r>
            <a:r>
              <a:rPr kumimoji="0" lang="en-AU" sz="3200" b="0" i="0" u="none" strike="noStrike" kern="1200" cap="none" spc="0" normalizeH="0" baseline="0" noProof="0" dirty="0">
                <a:ln>
                  <a:noFill/>
                </a:ln>
                <a:solidFill>
                  <a:srgbClr val="000000"/>
                </a:solidFill>
                <a:effectLst/>
                <a:uLnTx/>
                <a:uFillTx/>
                <a:latin typeface="Arial" panose="020B0604020202020204"/>
                <a:ea typeface="+mn-ea"/>
                <a:cs typeface="+mn-cs"/>
              </a:rPr>
              <a:t> of each animal on the </a:t>
            </a:r>
            <a:r>
              <a:rPr kumimoji="0" lang="en-AU" sz="3200" b="1" i="0" u="none" strike="noStrike" kern="1200" cap="none" spc="0" normalizeH="0" baseline="0" noProof="0" dirty="0">
                <a:ln>
                  <a:noFill/>
                </a:ln>
                <a:solidFill>
                  <a:srgbClr val="000000"/>
                </a:solidFill>
                <a:effectLst/>
                <a:uLnTx/>
                <a:uFillTx/>
                <a:latin typeface="Arial" panose="020B0604020202020204"/>
                <a:ea typeface="+mn-ea"/>
                <a:cs typeface="+mn-cs"/>
              </a:rPr>
              <a:t>Cartesian plane</a:t>
            </a:r>
            <a:r>
              <a:rPr kumimoji="0" lang="en-AU" sz="32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742950" marR="0" lvl="0" indent="-742950" algn="l" defTabSz="609585" rtl="0" eaLnBrk="1" fontAlgn="auto" latinLnBrk="0" hangingPunct="1">
              <a:lnSpc>
                <a:spcPct val="150000"/>
              </a:lnSpc>
              <a:spcBef>
                <a:spcPts val="0"/>
              </a:spcBef>
              <a:spcAft>
                <a:spcPts val="0"/>
              </a:spcAft>
              <a:buClrTx/>
              <a:buSzTx/>
              <a:buFontTx/>
              <a:buAutoNum type="alphaLcPeriod"/>
              <a:tabLst/>
              <a:defRPr/>
            </a:pPr>
            <a:r>
              <a:rPr kumimoji="0" lang="en-AU" sz="3200" b="0" i="0" u="none" strike="noStrike" kern="1200" cap="none" spc="0" normalizeH="0" baseline="0" noProof="0" dirty="0">
                <a:ln>
                  <a:noFill/>
                </a:ln>
                <a:solidFill>
                  <a:srgbClr val="000000"/>
                </a:solidFill>
                <a:effectLst/>
                <a:uLnTx/>
                <a:uFillTx/>
                <a:latin typeface="Arial" panose="020B0604020202020204"/>
                <a:ea typeface="+mn-ea"/>
                <a:cs typeface="+mn-cs"/>
              </a:rPr>
              <a:t>rooster</a:t>
            </a:r>
          </a:p>
          <a:p>
            <a:pPr marL="742950" marR="0" lvl="0" indent="-742950" algn="l" defTabSz="609585" rtl="0" eaLnBrk="1" fontAlgn="auto" latinLnBrk="0" hangingPunct="1">
              <a:lnSpc>
                <a:spcPct val="150000"/>
              </a:lnSpc>
              <a:spcBef>
                <a:spcPts val="0"/>
              </a:spcBef>
              <a:spcAft>
                <a:spcPts val="0"/>
              </a:spcAft>
              <a:buClrTx/>
              <a:buSzTx/>
              <a:buFontTx/>
              <a:buAutoNum type="alphaLcPeriod"/>
              <a:tabLst/>
              <a:defRPr/>
            </a:pPr>
            <a:r>
              <a:rPr kumimoji="0" lang="en-AU" sz="3200" b="0" i="0" u="none" strike="noStrike" kern="1200" cap="none" spc="0" normalizeH="0" baseline="0" noProof="0" dirty="0">
                <a:ln>
                  <a:noFill/>
                </a:ln>
                <a:solidFill>
                  <a:srgbClr val="22272B"/>
                </a:solidFill>
                <a:effectLst/>
                <a:uLnTx/>
                <a:uFillTx/>
                <a:latin typeface="Arial" panose="020B0604020202020204"/>
                <a:ea typeface="+mn-ea"/>
                <a:cs typeface="+mn-cs"/>
              </a:rPr>
              <a:t>pig</a:t>
            </a:r>
          </a:p>
          <a:p>
            <a:pPr marL="742950" marR="0" lvl="0" indent="-742950" algn="l" defTabSz="609585" rtl="0" eaLnBrk="1" fontAlgn="auto" latinLnBrk="0" hangingPunct="1">
              <a:lnSpc>
                <a:spcPct val="150000"/>
              </a:lnSpc>
              <a:spcBef>
                <a:spcPts val="0"/>
              </a:spcBef>
              <a:spcAft>
                <a:spcPts val="0"/>
              </a:spcAft>
              <a:buClrTx/>
              <a:buSzTx/>
              <a:buFontTx/>
              <a:buAutoNum type="alphaLcPeriod"/>
              <a:tabLst/>
              <a:defRPr/>
            </a:pPr>
            <a:r>
              <a:rPr kumimoji="0" lang="en-AU" sz="3200" b="0" i="0" u="none" strike="noStrike" kern="1200" cap="none" spc="0" normalizeH="0" baseline="0" noProof="0" dirty="0">
                <a:ln>
                  <a:noFill/>
                </a:ln>
                <a:solidFill>
                  <a:srgbClr val="22272B"/>
                </a:solidFill>
                <a:effectLst/>
                <a:uLnTx/>
                <a:uFillTx/>
                <a:latin typeface="Arial" panose="020B0604020202020204"/>
                <a:ea typeface="+mn-ea"/>
                <a:cs typeface="+mn-cs"/>
              </a:rPr>
              <a:t>cow</a:t>
            </a:r>
          </a:p>
          <a:p>
            <a:pPr marL="742950" marR="0" lvl="0" indent="-742950" algn="l" defTabSz="609585" rtl="0" eaLnBrk="1" fontAlgn="auto" latinLnBrk="0" hangingPunct="1">
              <a:lnSpc>
                <a:spcPct val="150000"/>
              </a:lnSpc>
              <a:spcBef>
                <a:spcPts val="0"/>
              </a:spcBef>
              <a:spcAft>
                <a:spcPts val="0"/>
              </a:spcAft>
              <a:buClrTx/>
              <a:buSzTx/>
              <a:buFontTx/>
              <a:buAutoNum type="alphaLcPeriod"/>
              <a:tabLst/>
              <a:defRPr/>
            </a:pPr>
            <a:r>
              <a:rPr kumimoji="0" lang="en-AU" sz="3200" b="0" i="0" u="none" strike="noStrike" kern="1200" cap="none" spc="0" normalizeH="0" baseline="0" noProof="0" dirty="0">
                <a:ln>
                  <a:noFill/>
                </a:ln>
                <a:solidFill>
                  <a:srgbClr val="22272B"/>
                </a:solidFill>
                <a:effectLst/>
                <a:uLnTx/>
                <a:uFillTx/>
                <a:latin typeface="Arial" panose="020B0604020202020204"/>
                <a:ea typeface="+mn-ea"/>
                <a:cs typeface="+mn-cs"/>
              </a:rPr>
              <a:t>goat</a:t>
            </a:r>
          </a:p>
        </p:txBody>
      </p:sp>
      <p:pic>
        <p:nvPicPr>
          <p:cNvPr id="8" name="Picture 7" descr="A coordinate grid is shown with the x-axis running horizontally and the y-axis running vertically, both labelled and marked with positive and negative numbers. Four animals are placed at different points on the grid: a rooster at -4 on the x-axis and 4 on the y-axis, a pig at 1 on the x-axis and 1 on the y-axis, a cow at -3 on the x-axis and -3 on the y-axis, and a goat at 5 on the x-axis and -5 on the y-axis.">
            <a:extLst>
              <a:ext uri="{FF2B5EF4-FFF2-40B4-BE49-F238E27FC236}">
                <a16:creationId xmlns:a16="http://schemas.microsoft.com/office/drawing/2014/main" id="{1EC463E8-CBC3-9580-6A11-F047E74D56CE}"/>
              </a:ext>
            </a:extLst>
          </p:cNvPr>
          <p:cNvPicPr>
            <a:picLocks noChangeAspect="1"/>
          </p:cNvPicPr>
          <p:nvPr/>
        </p:nvPicPr>
        <p:blipFill>
          <a:blip r:embed="rId4">
            <a:extLst>
              <a:ext uri="{28A0092B-C50C-407E-A947-70E740481C1C}">
                <a14:useLocalDpi xmlns:a14="http://schemas.microsoft.com/office/drawing/2010/main" val="0"/>
              </a:ext>
            </a:extLst>
          </a:blip>
          <a:srcRect l="18761" t="5249" r="21570" b="11215"/>
          <a:stretch>
            <a:fillRect/>
          </a:stretch>
        </p:blipFill>
        <p:spPr>
          <a:xfrm>
            <a:off x="4817297" y="381349"/>
            <a:ext cx="6157849" cy="6095301"/>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4A314A09-89D4-8109-993A-D811021FBF7F}"/>
              </a:ext>
            </a:extLst>
          </p:cNvPr>
          <p:cNvSpPr txBox="1">
            <a:spLocks/>
          </p:cNvSpPr>
          <p:nvPr/>
        </p:nvSpPr>
        <p:spPr>
          <a:xfrm>
            <a:off x="600076" y="994752"/>
            <a:ext cx="10563656" cy="10363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Convert between </a:t>
            </a:r>
            <a:r>
              <a:rPr lang="en-AU" sz="4400" b="1" dirty="0">
                <a:latin typeface="Arial"/>
                <a:cs typeface="Arial"/>
              </a:rPr>
              <a:t>kilograms</a:t>
            </a:r>
            <a:r>
              <a:rPr lang="en-AU" sz="4400" dirty="0">
                <a:latin typeface="Arial"/>
                <a:cs typeface="Arial"/>
              </a:rPr>
              <a:t> and </a:t>
            </a:r>
            <a:r>
              <a:rPr lang="en-AU" sz="4400" b="1" dirty="0">
                <a:latin typeface="Arial"/>
                <a:cs typeface="Arial"/>
              </a:rPr>
              <a:t>tonnes</a:t>
            </a:r>
            <a:r>
              <a:rPr lang="en-AU" sz="4400" dirty="0">
                <a:latin typeface="Arial"/>
                <a:cs typeface="Arial"/>
              </a:rPr>
              <a:t>: </a:t>
            </a:r>
            <a:endParaRPr lang="en-US" sz="4400" dirty="0">
              <a:latin typeface="Arial"/>
              <a:cs typeface="Arial"/>
            </a:endParaRPr>
          </a:p>
        </p:txBody>
      </p:sp>
      <p:sp>
        <p:nvSpPr>
          <p:cNvPr id="7" name="Picture Placeholder 10">
            <a:extLst>
              <a:ext uri="{FF2B5EF4-FFF2-40B4-BE49-F238E27FC236}">
                <a16:creationId xmlns:a16="http://schemas.microsoft.com/office/drawing/2014/main" id="{04F2291E-0A46-432A-CAEB-DF3441AF5997}"/>
              </a:ext>
            </a:extLst>
          </p:cNvPr>
          <p:cNvSpPr txBox="1">
            <a:spLocks/>
          </p:cNvSpPr>
          <p:nvPr/>
        </p:nvSpPr>
        <p:spPr>
          <a:xfrm>
            <a:off x="1028268" y="2309717"/>
            <a:ext cx="10135463" cy="38530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indent="-685800" algn="ctr">
              <a:buFont typeface="Arial" panose="020B0604020202020204" pitchFamily="34" charset="0"/>
              <a:buChar char="•"/>
            </a:pPr>
            <a:r>
              <a:rPr lang="en-US" sz="5400" dirty="0">
                <a:latin typeface="Arial"/>
                <a:cs typeface="Arial"/>
              </a:rPr>
              <a:t>2.75 t</a:t>
            </a:r>
            <a:endParaRPr lang="en-US" sz="5400">
              <a:latin typeface="Arial"/>
              <a:cs typeface="Arial"/>
            </a:endParaRPr>
          </a:p>
          <a:p>
            <a:pPr marL="685800" indent="-685800" algn="ctr">
              <a:buFont typeface="Arial" panose="020B0604020202020204" pitchFamily="34" charset="0"/>
              <a:buChar char="•"/>
            </a:pPr>
            <a:r>
              <a:rPr lang="en-US" sz="5400" dirty="0">
                <a:latin typeface="Arial"/>
                <a:cs typeface="Arial"/>
              </a:rPr>
              <a:t>0.25 t</a:t>
            </a:r>
            <a:endParaRPr lang="en-US" sz="5400">
              <a:latin typeface="Arial"/>
              <a:cs typeface="Arial"/>
            </a:endParaRPr>
          </a:p>
          <a:p>
            <a:pPr marL="685800" indent="-685800" algn="ctr">
              <a:buFont typeface="Arial" panose="020B0604020202020204" pitchFamily="34" charset="0"/>
              <a:buChar char="•"/>
            </a:pPr>
            <a:r>
              <a:rPr lang="en-US" sz="5400" dirty="0">
                <a:latin typeface="Arial"/>
                <a:cs typeface="Arial"/>
              </a:rPr>
              <a:t>5250 kg</a:t>
            </a:r>
            <a:endParaRPr lang="en-US" sz="540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t>Activity 2 – build the whole 2</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table with a red line indicating 5/8 of the length as 150cm. Above this is a bar model with 5 eighths blue and 3 eighths white.">
            <a:extLst>
              <a:ext uri="{FF2B5EF4-FFF2-40B4-BE49-F238E27FC236}">
                <a16:creationId xmlns:a16="http://schemas.microsoft.com/office/drawing/2014/main" id="{E2B06296-5ED9-6599-5FD7-1BFEFFA1F640}"/>
              </a:ext>
            </a:extLst>
          </p:cNvPr>
          <p:cNvPicPr>
            <a:picLocks noChangeAspect="1"/>
          </p:cNvPicPr>
          <p:nvPr/>
        </p:nvPicPr>
        <p:blipFill>
          <a:blip r:embed="rId4"/>
          <a:srcRect t="4908" b="5776"/>
          <a:stretch>
            <a:fillRect/>
          </a:stretch>
        </p:blipFill>
        <p:spPr>
          <a:xfrm>
            <a:off x="1996910" y="1318299"/>
            <a:ext cx="8198179" cy="5287701"/>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474481" y="1113754"/>
                <a:ext cx="11243037" cy="3695835"/>
              </a:xfrm>
            </p:spPr>
            <p:txBody>
              <a:bodyPr/>
              <a:lstStyle/>
              <a:p>
                <a:pPr algn="ctr"/>
                <a:r>
                  <a:rPr lang="en-AU" sz="3600" dirty="0"/>
                  <a:t>You are unsure if a rug will fit your lounge room. </a:t>
                </a:r>
              </a:p>
              <a:p>
                <a:pPr algn="ctr"/>
                <a:r>
                  <a:rPr lang="en-AU" sz="3600" dirty="0"/>
                  <a:t>You know that</a:t>
                </a:r>
                <a:r>
                  <a:rPr lang="en-AU" sz="3600" b="1" dirty="0"/>
                  <a:t> </a:t>
                </a:r>
                <a14:m>
                  <m:oMath xmlns:m="http://schemas.openxmlformats.org/officeDocument/2006/math">
                    <m:f>
                      <m:fPr>
                        <m:ctrlPr>
                          <a:rPr lang="en-AU" sz="3600" b="1" i="1" smtClean="0">
                            <a:latin typeface="Cambria Math" panose="02040503050406030204" pitchFamily="18" charset="0"/>
                          </a:rPr>
                        </m:ctrlPr>
                      </m:fPr>
                      <m:num>
                        <m:r>
                          <a:rPr lang="en-AU" sz="3600" b="1" i="1" smtClean="0">
                            <a:latin typeface="Cambria Math" panose="02040503050406030204" pitchFamily="18" charset="0"/>
                          </a:rPr>
                          <m:t>𝟑</m:t>
                        </m:r>
                      </m:num>
                      <m:den>
                        <m:r>
                          <a:rPr lang="en-AU" sz="3600" b="1" i="1" smtClean="0">
                            <a:latin typeface="Cambria Math" panose="02040503050406030204" pitchFamily="18" charset="0"/>
                          </a:rPr>
                          <m:t>𝟒</m:t>
                        </m:r>
                      </m:den>
                    </m:f>
                  </m:oMath>
                </a14:m>
                <a:r>
                  <a:rPr lang="en-AU" sz="3600" b="1" dirty="0"/>
                  <a:t> </a:t>
                </a:r>
                <a:r>
                  <a:rPr lang="en-AU" sz="3600" dirty="0"/>
                  <a:t>of the rug is </a:t>
                </a:r>
                <a:r>
                  <a:rPr lang="en-AU" sz="3600" b="1" dirty="0"/>
                  <a:t>96 cm</a:t>
                </a:r>
                <a:r>
                  <a:rPr lang="en-AU" sz="3600" dirty="0"/>
                  <a:t>. </a:t>
                </a:r>
              </a:p>
              <a:p>
                <a:pPr algn="ctr"/>
                <a:r>
                  <a:rPr lang="en-AU" sz="3600" dirty="0"/>
                  <a:t>How </a:t>
                </a:r>
                <a:r>
                  <a:rPr lang="en-AU" sz="3600" b="1" dirty="0"/>
                  <a:t>long</a:t>
                </a:r>
                <a:r>
                  <a:rPr lang="en-AU" sz="3600" dirty="0"/>
                  <a:t> is the </a:t>
                </a:r>
                <a:r>
                  <a:rPr lang="en-AU" sz="3600" b="1" dirty="0"/>
                  <a:t>whole</a:t>
                </a:r>
                <a:r>
                  <a:rPr lang="en-AU" sz="3600" dirty="0"/>
                  <a:t> rug?</a:t>
                </a:r>
                <a:endParaRPr lang="en-US" sz="3600" dirty="0"/>
              </a:p>
            </p:txBody>
          </p:sp>
        </mc:Choice>
        <mc:Fallback xmlns="">
          <p:sp>
            <p:nvSpPr>
              <p:cNvPr id="18" name="Text Placeholder 17">
                <a:extLst>
                  <a:ext uri="{FF2B5EF4-FFF2-40B4-BE49-F238E27FC236}">
                    <a16:creationId xmlns:a16="http://schemas.microsoft.com/office/drawing/2014/main" id="{60D87FE7-103F-733E-E64E-89AD0B777B6B}"/>
                  </a:ext>
                </a:extLst>
              </p:cNvPr>
              <p:cNvSpPr>
                <a:spLocks noGrp="1" noRot="1" noChangeAspect="1" noMove="1" noResize="1" noEditPoints="1" noAdjustHandles="1" noChangeArrowheads="1" noChangeShapeType="1" noTextEdit="1"/>
              </p:cNvSpPr>
              <p:nvPr>
                <p:ph type="body" sz="quarter" idx="24"/>
              </p:nvPr>
            </p:nvSpPr>
            <p:spPr>
              <a:xfrm>
                <a:off x="474481" y="1113754"/>
                <a:ext cx="11243037" cy="3695835"/>
              </a:xfr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F13415D-5ABE-8CE1-9EF6-D83C6FF3BAC9}"/>
              </a:ext>
            </a:extLst>
          </p:cNvPr>
          <p:cNvSpPr txBox="1"/>
          <p:nvPr/>
        </p:nvSpPr>
        <p:spPr>
          <a:xfrm>
            <a:off x="1215766" y="52617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6" name="Text Placeholder 17">
            <a:extLst>
              <a:ext uri="{FF2B5EF4-FFF2-40B4-BE49-F238E27FC236}">
                <a16:creationId xmlns:a16="http://schemas.microsoft.com/office/drawing/2014/main" id="{B179E039-AF29-0724-2D04-C7E1305CF322}"/>
              </a:ext>
            </a:extLst>
          </p:cNvPr>
          <p:cNvSpPr txBox="1">
            <a:spLocks/>
          </p:cNvSpPr>
          <p:nvPr/>
        </p:nvSpPr>
        <p:spPr>
          <a:xfrm>
            <a:off x="702768" y="5794589"/>
            <a:ext cx="155542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128 cm</a:t>
            </a:r>
            <a:endParaRPr lang="en-US" sz="3600" dirty="0"/>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2617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7" name="Text Placeholder 17">
            <a:extLst>
              <a:ext uri="{FF2B5EF4-FFF2-40B4-BE49-F238E27FC236}">
                <a16:creationId xmlns:a16="http://schemas.microsoft.com/office/drawing/2014/main" id="{30B3BA6D-5464-5EC0-24B2-D4D77709AD58}"/>
              </a:ext>
            </a:extLst>
          </p:cNvPr>
          <p:cNvSpPr txBox="1">
            <a:spLocks/>
          </p:cNvSpPr>
          <p:nvPr/>
        </p:nvSpPr>
        <p:spPr>
          <a:xfrm>
            <a:off x="3706741" y="5796656"/>
            <a:ext cx="155542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384 cm</a:t>
            </a:r>
            <a:endParaRPr lang="en-US" sz="3600" dirty="0"/>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2617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8" name="Text Placeholder 17">
            <a:extLst>
              <a:ext uri="{FF2B5EF4-FFF2-40B4-BE49-F238E27FC236}">
                <a16:creationId xmlns:a16="http://schemas.microsoft.com/office/drawing/2014/main" id="{2FAB605B-6E8D-3864-1070-814866F1AC57}"/>
              </a:ext>
            </a:extLst>
          </p:cNvPr>
          <p:cNvSpPr txBox="1">
            <a:spLocks/>
          </p:cNvSpPr>
          <p:nvPr/>
        </p:nvSpPr>
        <p:spPr>
          <a:xfrm>
            <a:off x="6742846" y="5794589"/>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72 cm</a:t>
            </a:r>
            <a:endParaRPr lang="en-US" sz="3600" dirty="0"/>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26179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3" name="Text Placeholder 17">
            <a:extLst>
              <a:ext uri="{FF2B5EF4-FFF2-40B4-BE49-F238E27FC236}">
                <a16:creationId xmlns:a16="http://schemas.microsoft.com/office/drawing/2014/main" id="{C58C4AE5-DF2E-A8AE-8F93-962B82E38E27}"/>
              </a:ext>
            </a:extLst>
          </p:cNvPr>
          <p:cNvSpPr txBox="1">
            <a:spLocks/>
          </p:cNvSpPr>
          <p:nvPr/>
        </p:nvSpPr>
        <p:spPr>
          <a:xfrm>
            <a:off x="9778950" y="5794589"/>
            <a:ext cx="1426893" cy="91321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32 cm</a:t>
            </a:r>
            <a:endParaRPr lang="en-US" sz="3600" dirty="0"/>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Picture Placeholder 10">
            <a:extLst>
              <a:ext uri="{FF2B5EF4-FFF2-40B4-BE49-F238E27FC236}">
                <a16:creationId xmlns:a16="http://schemas.microsoft.com/office/drawing/2014/main" id="{7264D107-3E9F-96FD-3C8A-62E0EEAA0F36}"/>
              </a:ext>
            </a:extLst>
          </p:cNvPr>
          <p:cNvSpPr txBox="1">
            <a:spLocks/>
          </p:cNvSpPr>
          <p:nvPr/>
        </p:nvSpPr>
        <p:spPr>
          <a:xfrm>
            <a:off x="686613" y="1048299"/>
            <a:ext cx="4429466" cy="199637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 the size of the </a:t>
            </a:r>
            <a:r>
              <a:rPr lang="en-US" sz="4400" b="1" dirty="0">
                <a:solidFill>
                  <a:srgbClr val="F9A147"/>
                </a:solidFill>
                <a:latin typeface="Arial"/>
                <a:cs typeface="Arial"/>
              </a:rPr>
              <a:t>orange</a:t>
            </a:r>
            <a:r>
              <a:rPr lang="en-US" sz="4400" b="1" dirty="0">
                <a:latin typeface="Arial"/>
                <a:cs typeface="Arial"/>
              </a:rPr>
              <a:t> angle.</a:t>
            </a:r>
            <a:endParaRPr lang="en-US" sz="4400" dirty="0"/>
          </a:p>
        </p:txBody>
      </p:sp>
      <p:sp>
        <p:nvSpPr>
          <p:cNvPr id="15" name="Picture Placeholder 10">
            <a:extLst>
              <a:ext uri="{FF2B5EF4-FFF2-40B4-BE49-F238E27FC236}">
                <a16:creationId xmlns:a16="http://schemas.microsoft.com/office/drawing/2014/main" id="{B14586FC-22DA-DD59-66D8-FF31520AB31C}"/>
              </a:ext>
            </a:extLst>
          </p:cNvPr>
          <p:cNvSpPr txBox="1">
            <a:spLocks/>
          </p:cNvSpPr>
          <p:nvPr/>
        </p:nvSpPr>
        <p:spPr>
          <a:xfrm>
            <a:off x="51897" y="4525520"/>
            <a:ext cx="5698899" cy="217048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 </a:t>
            </a:r>
            <a:r>
              <a:rPr lang="en-US" sz="4400" dirty="0">
                <a:latin typeface="Arial"/>
                <a:cs typeface="Arial"/>
              </a:rPr>
              <a:t>your</a:t>
            </a:r>
            <a:r>
              <a:rPr lang="en-US" sz="4400" b="1" dirty="0">
                <a:latin typeface="Arial"/>
                <a:cs typeface="Arial"/>
              </a:rPr>
              <a:t> reasoning.</a:t>
            </a:r>
            <a:endParaRPr lang="en-US" sz="4400" dirty="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5" name="Picture 4" descr="A right angle is shown with a horizontal and vertical line. A slanted red line forms a 30° angle with the horizontal, highlighted by a blue curved arc. A larger orange curved arrow shows rotation from the vertical line to the slanted line.">
            <a:extLst>
              <a:ext uri="{FF2B5EF4-FFF2-40B4-BE49-F238E27FC236}">
                <a16:creationId xmlns:a16="http://schemas.microsoft.com/office/drawing/2014/main" id="{5E1B41CD-58AE-D088-4157-52C717B02049}"/>
              </a:ext>
            </a:extLst>
          </p:cNvPr>
          <p:cNvPicPr>
            <a:picLocks noChangeAspect="1"/>
          </p:cNvPicPr>
          <p:nvPr/>
        </p:nvPicPr>
        <p:blipFill>
          <a:blip r:embed="rId4"/>
          <a:stretch>
            <a:fillRect/>
          </a:stretch>
        </p:blipFill>
        <p:spPr>
          <a:xfrm>
            <a:off x="6096000" y="1484368"/>
            <a:ext cx="5548109" cy="47035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D720A818-9834-9B22-952B-B48AF1427BF0}"/>
              </a:ext>
            </a:extLst>
          </p:cNvPr>
          <p:cNvSpPr txBox="1">
            <a:spLocks/>
          </p:cNvSpPr>
          <p:nvPr/>
        </p:nvSpPr>
        <p:spPr>
          <a:xfrm>
            <a:off x="771240" y="1095171"/>
            <a:ext cx="10649520" cy="199637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Draw</a:t>
            </a:r>
            <a:r>
              <a:rPr lang="en-US" sz="4400" dirty="0">
                <a:latin typeface="Arial"/>
                <a:cs typeface="Arial"/>
              </a:rPr>
              <a:t> the </a:t>
            </a:r>
            <a:r>
              <a:rPr lang="en-US" sz="4400" b="1" dirty="0">
                <a:latin typeface="Arial"/>
                <a:cs typeface="Arial"/>
              </a:rPr>
              <a:t>top</a:t>
            </a:r>
            <a:r>
              <a:rPr lang="en-US" sz="4400" dirty="0">
                <a:latin typeface="Arial"/>
                <a:cs typeface="Arial"/>
              </a:rPr>
              <a:t>, </a:t>
            </a:r>
            <a:r>
              <a:rPr lang="en-US" sz="4400" b="1" dirty="0">
                <a:latin typeface="Arial"/>
                <a:cs typeface="Arial"/>
              </a:rPr>
              <a:t>front</a:t>
            </a:r>
            <a:r>
              <a:rPr lang="en-US" sz="4400" dirty="0">
                <a:latin typeface="Arial"/>
                <a:cs typeface="Arial"/>
              </a:rPr>
              <a:t> and </a:t>
            </a:r>
            <a:r>
              <a:rPr lang="en-US" sz="4400" b="1" dirty="0">
                <a:latin typeface="Arial"/>
                <a:cs typeface="Arial"/>
              </a:rPr>
              <a:t>side view </a:t>
            </a:r>
            <a:r>
              <a:rPr lang="en-US" sz="4400" dirty="0">
                <a:latin typeface="Arial"/>
                <a:cs typeface="Arial"/>
              </a:rPr>
              <a:t>of this </a:t>
            </a:r>
            <a:r>
              <a:rPr lang="en-US" sz="4400" b="1" dirty="0">
                <a:latin typeface="Arial"/>
                <a:cs typeface="Arial"/>
              </a:rPr>
              <a:t>3D object</a:t>
            </a:r>
            <a:r>
              <a:rPr lang="en-US" sz="4400" dirty="0">
                <a:latin typeface="Arial"/>
                <a:cs typeface="Arial"/>
              </a:rPr>
              <a:t>.</a:t>
            </a:r>
            <a:endParaRPr lang="en-US" sz="4400" dirty="0"/>
          </a:p>
        </p:txBody>
      </p:sp>
      <p:grpSp>
        <p:nvGrpSpPr>
          <p:cNvPr id="21" name="Group 20" descr="8 cubes are joined to form an L-shaped 3D structure, with yellow tops, blue sides, and green faces.">
            <a:extLst>
              <a:ext uri="{FF2B5EF4-FFF2-40B4-BE49-F238E27FC236}">
                <a16:creationId xmlns:a16="http://schemas.microsoft.com/office/drawing/2014/main" id="{F4C01780-CBBC-5FF3-C815-E72DC0DC81D0}"/>
              </a:ext>
            </a:extLst>
          </p:cNvPr>
          <p:cNvGrpSpPr/>
          <p:nvPr/>
        </p:nvGrpSpPr>
        <p:grpSpPr>
          <a:xfrm>
            <a:off x="4658000" y="3579939"/>
            <a:ext cx="2876000" cy="2863490"/>
            <a:chOff x="3757030" y="3652510"/>
            <a:chExt cx="2876000" cy="2863490"/>
          </a:xfrm>
        </p:grpSpPr>
        <p:grpSp>
          <p:nvGrpSpPr>
            <p:cNvPr id="12" name="Group 11">
              <a:extLst>
                <a:ext uri="{FF2B5EF4-FFF2-40B4-BE49-F238E27FC236}">
                  <a16:creationId xmlns:a16="http://schemas.microsoft.com/office/drawing/2014/main" id="{1A6D86DC-5FBA-B72B-06CB-559CC2A1722B}"/>
                </a:ext>
              </a:extLst>
            </p:cNvPr>
            <p:cNvGrpSpPr/>
            <p:nvPr/>
          </p:nvGrpSpPr>
          <p:grpSpPr>
            <a:xfrm>
              <a:off x="4314658" y="4473117"/>
              <a:ext cx="2318372" cy="1811804"/>
              <a:chOff x="3734087" y="4942532"/>
              <a:chExt cx="2318372" cy="1811804"/>
            </a:xfrm>
          </p:grpSpPr>
          <p:sp>
            <p:nvSpPr>
              <p:cNvPr id="7" name="Freeform 2">
                <a:extLst>
                  <a:ext uri="{FF2B5EF4-FFF2-40B4-BE49-F238E27FC236}">
                    <a16:creationId xmlns:a16="http://schemas.microsoft.com/office/drawing/2014/main" id="{909CD9A5-48C4-7BC5-18CD-ED07492552F5}"/>
                  </a:ext>
                </a:extLst>
              </p:cNvPr>
              <p:cNvSpPr/>
              <p:nvPr/>
            </p:nvSpPr>
            <p:spPr>
              <a:xfrm>
                <a:off x="3734087" y="4942532"/>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4">
                <a:extLst>
                  <a:ext uri="{FF2B5EF4-FFF2-40B4-BE49-F238E27FC236}">
                    <a16:creationId xmlns:a16="http://schemas.microsoft.com/office/drawing/2014/main" id="{3E7F7B4D-048A-BB16-71EF-DEE0A889291E}"/>
                  </a:ext>
                </a:extLst>
              </p:cNvPr>
              <p:cNvSpPr/>
              <p:nvPr/>
            </p:nvSpPr>
            <p:spPr>
              <a:xfrm>
                <a:off x="4291715" y="5173611"/>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1" name="Freeform 6">
                <a:extLst>
                  <a:ext uri="{FF2B5EF4-FFF2-40B4-BE49-F238E27FC236}">
                    <a16:creationId xmlns:a16="http://schemas.microsoft.com/office/drawing/2014/main" id="{07755EA0-8502-06A1-5C03-AD235BA2B076}"/>
                  </a:ext>
                </a:extLst>
              </p:cNvPr>
              <p:cNvSpPr/>
              <p:nvPr/>
            </p:nvSpPr>
            <p:spPr>
              <a:xfrm>
                <a:off x="4849343" y="5411947"/>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13" name="Group 12">
              <a:extLst>
                <a:ext uri="{FF2B5EF4-FFF2-40B4-BE49-F238E27FC236}">
                  <a16:creationId xmlns:a16="http://schemas.microsoft.com/office/drawing/2014/main" id="{19D87496-D9C7-3595-A4BF-9D33CC317FB8}"/>
                </a:ext>
              </a:extLst>
            </p:cNvPr>
            <p:cNvGrpSpPr/>
            <p:nvPr/>
          </p:nvGrpSpPr>
          <p:grpSpPr>
            <a:xfrm>
              <a:off x="3757030" y="4704196"/>
              <a:ext cx="2318372" cy="1811804"/>
              <a:chOff x="3734087" y="4942532"/>
              <a:chExt cx="2318372" cy="1811804"/>
            </a:xfrm>
          </p:grpSpPr>
          <p:sp>
            <p:nvSpPr>
              <p:cNvPr id="14" name="Freeform 2">
                <a:extLst>
                  <a:ext uri="{FF2B5EF4-FFF2-40B4-BE49-F238E27FC236}">
                    <a16:creationId xmlns:a16="http://schemas.microsoft.com/office/drawing/2014/main" id="{18474B1C-BC8D-CC7C-A4AB-9DBD99C6DD07}"/>
                  </a:ext>
                </a:extLst>
              </p:cNvPr>
              <p:cNvSpPr/>
              <p:nvPr/>
            </p:nvSpPr>
            <p:spPr>
              <a:xfrm>
                <a:off x="3734087" y="4942532"/>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4">
                <a:extLst>
                  <a:ext uri="{FF2B5EF4-FFF2-40B4-BE49-F238E27FC236}">
                    <a16:creationId xmlns:a16="http://schemas.microsoft.com/office/drawing/2014/main" id="{F133B037-A636-FC9F-71EB-C09D7527B518}"/>
                  </a:ext>
                </a:extLst>
              </p:cNvPr>
              <p:cNvSpPr/>
              <p:nvPr/>
            </p:nvSpPr>
            <p:spPr>
              <a:xfrm>
                <a:off x="4291715" y="5173611"/>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Freeform 6">
                <a:extLst>
                  <a:ext uri="{FF2B5EF4-FFF2-40B4-BE49-F238E27FC236}">
                    <a16:creationId xmlns:a16="http://schemas.microsoft.com/office/drawing/2014/main" id="{2C9D03D5-DD9A-B6E1-1DF9-423FDF2F56A3}"/>
                  </a:ext>
                </a:extLst>
              </p:cNvPr>
              <p:cNvSpPr/>
              <p:nvPr/>
            </p:nvSpPr>
            <p:spPr>
              <a:xfrm>
                <a:off x="4849343" y="5411947"/>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18" name="Freeform 2">
              <a:extLst>
                <a:ext uri="{FF2B5EF4-FFF2-40B4-BE49-F238E27FC236}">
                  <a16:creationId xmlns:a16="http://schemas.microsoft.com/office/drawing/2014/main" id="{3AA587D2-F641-1F45-2AD2-F98216620865}"/>
                </a:ext>
              </a:extLst>
            </p:cNvPr>
            <p:cNvSpPr/>
            <p:nvPr/>
          </p:nvSpPr>
          <p:spPr>
            <a:xfrm>
              <a:off x="4314658" y="3652510"/>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Freeform 4">
              <a:extLst>
                <a:ext uri="{FF2B5EF4-FFF2-40B4-BE49-F238E27FC236}">
                  <a16:creationId xmlns:a16="http://schemas.microsoft.com/office/drawing/2014/main" id="{C7839406-ECCE-5E57-DBBE-2E8ECD4ADF23}"/>
                </a:ext>
              </a:extLst>
            </p:cNvPr>
            <p:cNvSpPr/>
            <p:nvPr/>
          </p:nvSpPr>
          <p:spPr>
            <a:xfrm>
              <a:off x="3757030" y="3890114"/>
              <a:ext cx="1203116" cy="1342389"/>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DFF803AD-3656-0AEA-B759-894ABE5AE0F1}"/>
              </a:ext>
            </a:extLst>
          </p:cNvPr>
          <p:cNvSpPr txBox="1"/>
          <p:nvPr/>
        </p:nvSpPr>
        <p:spPr>
          <a:xfrm>
            <a:off x="4580042" y="5980539"/>
            <a:ext cx="914400" cy="467398"/>
          </a:xfrm>
          <a:prstGeom prst="rect">
            <a:avLst/>
          </a:prstGeom>
          <a:noFill/>
        </p:spPr>
        <p:txBody>
          <a:bodyPr wrap="square" lIns="0" tIns="0" rIns="0" bIns="0" rtlCol="0">
            <a:noAutofit/>
          </a:bodyPr>
          <a:lstStyle/>
          <a:p>
            <a:pPr algn="l"/>
            <a:r>
              <a:rPr lang="en-AU" sz="2800">
                <a:latin typeface="+mj-lt"/>
              </a:rPr>
              <a:t>Front</a:t>
            </a:r>
          </a:p>
        </p:txBody>
      </p:sp>
      <p:sp>
        <p:nvSpPr>
          <p:cNvPr id="8" name="TextBox 7">
            <a:extLst>
              <a:ext uri="{FF2B5EF4-FFF2-40B4-BE49-F238E27FC236}">
                <a16:creationId xmlns:a16="http://schemas.microsoft.com/office/drawing/2014/main" id="{BE91E422-C19A-34FD-6FB4-F42B7178F5AD}"/>
              </a:ext>
            </a:extLst>
          </p:cNvPr>
          <p:cNvSpPr txBox="1"/>
          <p:nvPr/>
        </p:nvSpPr>
        <p:spPr>
          <a:xfrm>
            <a:off x="7177228" y="6094191"/>
            <a:ext cx="914400" cy="467398"/>
          </a:xfrm>
          <a:prstGeom prst="rect">
            <a:avLst/>
          </a:prstGeom>
          <a:noFill/>
        </p:spPr>
        <p:txBody>
          <a:bodyPr wrap="square" lIns="0" tIns="0" rIns="0" bIns="0" rtlCol="0">
            <a:noAutofit/>
          </a:bodyPr>
          <a:lstStyle/>
          <a:p>
            <a:pPr algn="l"/>
            <a:r>
              <a:rPr lang="en-AU" sz="2800">
                <a:latin typeface="+mj-lt"/>
              </a:rPr>
              <a:t>Side</a:t>
            </a:r>
          </a:p>
        </p:txBody>
      </p:sp>
      <p:sp>
        <p:nvSpPr>
          <p:cNvPr id="17" name="TextBox 16">
            <a:extLst>
              <a:ext uri="{FF2B5EF4-FFF2-40B4-BE49-F238E27FC236}">
                <a16:creationId xmlns:a16="http://schemas.microsoft.com/office/drawing/2014/main" id="{26F8D29E-2EC2-6865-AC00-41A9CED2404B}"/>
              </a:ext>
            </a:extLst>
          </p:cNvPr>
          <p:cNvSpPr txBox="1"/>
          <p:nvPr/>
        </p:nvSpPr>
        <p:spPr>
          <a:xfrm>
            <a:off x="4580042" y="3322621"/>
            <a:ext cx="914400" cy="467398"/>
          </a:xfrm>
          <a:prstGeom prst="rect">
            <a:avLst/>
          </a:prstGeom>
          <a:noFill/>
        </p:spPr>
        <p:txBody>
          <a:bodyPr wrap="square" lIns="0" tIns="0" rIns="0" bIns="0" rtlCol="0">
            <a:noAutofit/>
          </a:bodyPr>
          <a:lstStyle/>
          <a:p>
            <a:pPr algn="l"/>
            <a:r>
              <a:rPr lang="en-AU" sz="2800">
                <a:latin typeface="+mj-lt"/>
              </a:rPr>
              <a:t>Top</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1830804A-0507-6381-FB8C-434A8A1FA139}"/>
              </a:ext>
            </a:extLst>
          </p:cNvPr>
          <p:cNvSpPr txBox="1"/>
          <p:nvPr/>
        </p:nvSpPr>
        <p:spPr>
          <a:xfrm>
            <a:off x="490143" y="1954299"/>
            <a:ext cx="5849976" cy="3671583"/>
          </a:xfrm>
          <a:prstGeom prst="rect">
            <a:avLst/>
          </a:prstGeom>
          <a:noFill/>
        </p:spPr>
        <p:txBody>
          <a:bodyPr wrap="square">
            <a:spAutoFit/>
          </a:bodyPr>
          <a:lstStyle/>
          <a:p>
            <a:pPr algn="ctr">
              <a:lnSpc>
                <a:spcPct val="150000"/>
              </a:lnSpc>
            </a:pPr>
            <a:r>
              <a:rPr lang="en-AU" sz="4000" b="1" dirty="0">
                <a:solidFill>
                  <a:srgbClr val="000000"/>
                </a:solidFill>
              </a:rPr>
              <a:t>Describe</a:t>
            </a:r>
            <a:r>
              <a:rPr lang="en-AU" sz="4000" dirty="0">
                <a:solidFill>
                  <a:srgbClr val="000000"/>
                </a:solidFill>
              </a:rPr>
              <a:t> the changes to </a:t>
            </a:r>
            <a:r>
              <a:rPr lang="en-AU" sz="4000" b="1" dirty="0">
                <a:solidFill>
                  <a:srgbClr val="000000"/>
                </a:solidFill>
              </a:rPr>
              <a:t>coordinates</a:t>
            </a:r>
            <a:r>
              <a:rPr lang="en-AU" sz="4000" dirty="0">
                <a:solidFill>
                  <a:srgbClr val="000000"/>
                </a:solidFill>
              </a:rPr>
              <a:t> when a point is </a:t>
            </a:r>
            <a:r>
              <a:rPr lang="en-AU" sz="4000" b="1" dirty="0">
                <a:solidFill>
                  <a:srgbClr val="000000"/>
                </a:solidFill>
              </a:rPr>
              <a:t>reflected</a:t>
            </a:r>
            <a:r>
              <a:rPr lang="en-AU" sz="4000" dirty="0">
                <a:solidFill>
                  <a:srgbClr val="000000"/>
                </a:solidFill>
              </a:rPr>
              <a:t> across an axis.</a:t>
            </a:r>
            <a:endParaRPr lang="en-AU" sz="4000" dirty="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5" name="Picture 4" descr="A coordinate grid is shown with the x-axis running horizontally and the y-axis running vertically, both labelled and marked with positive and negative numbers. One point is plotted: one at -3 on the x-axis and 2 on the y-axis.">
            <a:extLst>
              <a:ext uri="{FF2B5EF4-FFF2-40B4-BE49-F238E27FC236}">
                <a16:creationId xmlns:a16="http://schemas.microsoft.com/office/drawing/2014/main" id="{4B0D2ACE-3064-CA9F-22F2-D4ACFFBB15DA}"/>
              </a:ext>
            </a:extLst>
          </p:cNvPr>
          <p:cNvPicPr>
            <a:picLocks noChangeAspect="1"/>
          </p:cNvPicPr>
          <p:nvPr/>
        </p:nvPicPr>
        <p:blipFill>
          <a:blip r:embed="rId4"/>
          <a:srcRect l="7261" t="4253" r="5301" b="2831"/>
          <a:stretch>
            <a:fillRect/>
          </a:stretch>
        </p:blipFill>
        <p:spPr>
          <a:xfrm>
            <a:off x="7051779" y="1502072"/>
            <a:ext cx="4792221" cy="46960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8" name="Picture Placeholder 10">
            <a:extLst>
              <a:ext uri="{FF2B5EF4-FFF2-40B4-BE49-F238E27FC236}">
                <a16:creationId xmlns:a16="http://schemas.microsoft.com/office/drawing/2014/main" id="{0A9B6C84-6BDC-1FDF-6942-38196A7DEC8E}"/>
              </a:ext>
            </a:extLst>
          </p:cNvPr>
          <p:cNvSpPr txBox="1">
            <a:spLocks/>
          </p:cNvSpPr>
          <p:nvPr/>
        </p:nvSpPr>
        <p:spPr>
          <a:xfrm>
            <a:off x="781383" y="1277282"/>
            <a:ext cx="5347252" cy="518855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latin typeface="Arial"/>
                <a:cs typeface="Arial"/>
              </a:rPr>
              <a:t>Describe</a:t>
            </a:r>
            <a:r>
              <a:rPr lang="en-AU" sz="4400" dirty="0">
                <a:latin typeface="Arial"/>
                <a:cs typeface="Arial"/>
              </a:rPr>
              <a:t> the </a:t>
            </a:r>
            <a:r>
              <a:rPr lang="en-AU" sz="4400" b="1" dirty="0">
                <a:latin typeface="Arial"/>
                <a:cs typeface="Arial"/>
              </a:rPr>
              <a:t>arrangement</a:t>
            </a:r>
            <a:r>
              <a:rPr lang="en-AU" sz="4400" dirty="0">
                <a:latin typeface="Arial"/>
                <a:cs typeface="Arial"/>
              </a:rPr>
              <a:t> of </a:t>
            </a:r>
            <a:r>
              <a:rPr lang="en-AU" sz="4400" b="1" dirty="0">
                <a:latin typeface="Arial"/>
                <a:cs typeface="Arial"/>
              </a:rPr>
              <a:t>cubic-centimetre blocks </a:t>
            </a:r>
            <a:r>
              <a:rPr lang="en-AU" sz="4400" dirty="0">
                <a:latin typeface="Arial"/>
                <a:cs typeface="Arial"/>
              </a:rPr>
              <a:t>in terms of </a:t>
            </a:r>
            <a:r>
              <a:rPr lang="en-AU" sz="4400" b="1" dirty="0">
                <a:latin typeface="Arial"/>
                <a:cs typeface="Arial"/>
              </a:rPr>
              <a:t>layers</a:t>
            </a:r>
            <a:r>
              <a:rPr lang="en-US" sz="4400" dirty="0">
                <a:latin typeface="Arial"/>
                <a:cs typeface="Arial"/>
              </a:rPr>
              <a:t>.</a:t>
            </a:r>
            <a:endParaRPr lang="en-US" sz="4400" dirty="0"/>
          </a:p>
        </p:txBody>
      </p:sp>
      <p:grpSp>
        <p:nvGrpSpPr>
          <p:cNvPr id="47" name="Group 46" descr="A large rectangular prism is built from many small cubes arranged in equal rows and columns. The top layer is visible with a grid of cubes, and the front and side faces show multiple stacked layers. The cubes have yellow tops, green front faces, and blue side faces.">
            <a:extLst>
              <a:ext uri="{FF2B5EF4-FFF2-40B4-BE49-F238E27FC236}">
                <a16:creationId xmlns:a16="http://schemas.microsoft.com/office/drawing/2014/main" id="{101503DC-7132-F96C-C09F-E5F483408585}"/>
              </a:ext>
            </a:extLst>
          </p:cNvPr>
          <p:cNvGrpSpPr/>
          <p:nvPr/>
        </p:nvGrpSpPr>
        <p:grpSpPr>
          <a:xfrm>
            <a:off x="6748269" y="1095171"/>
            <a:ext cx="3756991" cy="5188555"/>
            <a:chOff x="3915284" y="1327445"/>
            <a:chExt cx="3756991" cy="5188555"/>
          </a:xfrm>
        </p:grpSpPr>
        <p:grpSp>
          <p:nvGrpSpPr>
            <p:cNvPr id="11" name="Group 10">
              <a:extLst>
                <a:ext uri="{FF2B5EF4-FFF2-40B4-BE49-F238E27FC236}">
                  <a16:creationId xmlns:a16="http://schemas.microsoft.com/office/drawing/2014/main" id="{0FD252AC-C4A8-D8BF-A4DD-9326DDF8390D}"/>
                </a:ext>
              </a:extLst>
            </p:cNvPr>
            <p:cNvGrpSpPr/>
            <p:nvPr/>
          </p:nvGrpSpPr>
          <p:grpSpPr>
            <a:xfrm>
              <a:off x="4519725" y="3994550"/>
              <a:ext cx="3152550" cy="2258948"/>
              <a:chOff x="1527947" y="1697786"/>
              <a:chExt cx="3152550" cy="2258948"/>
            </a:xfrm>
          </p:grpSpPr>
          <p:sp>
            <p:nvSpPr>
              <p:cNvPr id="5" name="Freeform 2">
                <a:extLst>
                  <a:ext uri="{FF2B5EF4-FFF2-40B4-BE49-F238E27FC236}">
                    <a16:creationId xmlns:a16="http://schemas.microsoft.com/office/drawing/2014/main" id="{8491A7E1-EF18-FE91-BD77-FA6842CC59D9}"/>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3">
                <a:extLst>
                  <a:ext uri="{FF2B5EF4-FFF2-40B4-BE49-F238E27FC236}">
                    <a16:creationId xmlns:a16="http://schemas.microsoft.com/office/drawing/2014/main" id="{F9EC908E-D3B0-17DB-2D01-C256C352F02E}"/>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4">
                <a:extLst>
                  <a:ext uri="{FF2B5EF4-FFF2-40B4-BE49-F238E27FC236}">
                    <a16:creationId xmlns:a16="http://schemas.microsoft.com/office/drawing/2014/main" id="{495623E5-873F-1034-40BE-8481670EDD14}"/>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Freeform 6">
                <a:extLst>
                  <a:ext uri="{FF2B5EF4-FFF2-40B4-BE49-F238E27FC236}">
                    <a16:creationId xmlns:a16="http://schemas.microsoft.com/office/drawing/2014/main" id="{2247AA8D-4662-7FEA-3EB1-35E1AEE2AD61}"/>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12" name="Group 11">
              <a:extLst>
                <a:ext uri="{FF2B5EF4-FFF2-40B4-BE49-F238E27FC236}">
                  <a16:creationId xmlns:a16="http://schemas.microsoft.com/office/drawing/2014/main" id="{9DD19D51-45D1-AD0E-0B79-5057B60E93A1}"/>
                </a:ext>
              </a:extLst>
            </p:cNvPr>
            <p:cNvGrpSpPr/>
            <p:nvPr/>
          </p:nvGrpSpPr>
          <p:grpSpPr>
            <a:xfrm>
              <a:off x="4519725" y="3105611"/>
              <a:ext cx="3152550" cy="2258948"/>
              <a:chOff x="1527947" y="1697786"/>
              <a:chExt cx="3152550" cy="2258948"/>
            </a:xfrm>
          </p:grpSpPr>
          <p:sp>
            <p:nvSpPr>
              <p:cNvPr id="13" name="Freeform 2">
                <a:extLst>
                  <a:ext uri="{FF2B5EF4-FFF2-40B4-BE49-F238E27FC236}">
                    <a16:creationId xmlns:a16="http://schemas.microsoft.com/office/drawing/2014/main" id="{6F999006-67BD-3597-AA85-B81583DEF288}"/>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Freeform 3">
                <a:extLst>
                  <a:ext uri="{FF2B5EF4-FFF2-40B4-BE49-F238E27FC236}">
                    <a16:creationId xmlns:a16="http://schemas.microsoft.com/office/drawing/2014/main" id="{9538660F-8433-8E5F-D4E2-9E9AEFC63B8A}"/>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4">
                <a:extLst>
                  <a:ext uri="{FF2B5EF4-FFF2-40B4-BE49-F238E27FC236}">
                    <a16:creationId xmlns:a16="http://schemas.microsoft.com/office/drawing/2014/main" id="{789275AF-0EF1-3961-77F6-7D7C95FDB0F6}"/>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Freeform 6">
                <a:extLst>
                  <a:ext uri="{FF2B5EF4-FFF2-40B4-BE49-F238E27FC236}">
                    <a16:creationId xmlns:a16="http://schemas.microsoft.com/office/drawing/2014/main" id="{915634C7-E3B7-FDAA-BDB8-A104FE89AC86}"/>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17" name="Group 16">
              <a:extLst>
                <a:ext uri="{FF2B5EF4-FFF2-40B4-BE49-F238E27FC236}">
                  <a16:creationId xmlns:a16="http://schemas.microsoft.com/office/drawing/2014/main" id="{798CAC45-83C5-3D69-31ED-9CC627D90B0E}"/>
                </a:ext>
              </a:extLst>
            </p:cNvPr>
            <p:cNvGrpSpPr/>
            <p:nvPr/>
          </p:nvGrpSpPr>
          <p:grpSpPr>
            <a:xfrm>
              <a:off x="4519725" y="2216672"/>
              <a:ext cx="3152550" cy="2258948"/>
              <a:chOff x="1527947" y="1697786"/>
              <a:chExt cx="3152550" cy="2258948"/>
            </a:xfrm>
          </p:grpSpPr>
          <p:sp>
            <p:nvSpPr>
              <p:cNvPr id="18" name="Freeform 2">
                <a:extLst>
                  <a:ext uri="{FF2B5EF4-FFF2-40B4-BE49-F238E27FC236}">
                    <a16:creationId xmlns:a16="http://schemas.microsoft.com/office/drawing/2014/main" id="{7982EB83-7262-AE02-1DD9-183B26B80036}"/>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Freeform 3">
                <a:extLst>
                  <a:ext uri="{FF2B5EF4-FFF2-40B4-BE49-F238E27FC236}">
                    <a16:creationId xmlns:a16="http://schemas.microsoft.com/office/drawing/2014/main" id="{193458ED-383A-D724-3A34-1EBD6E06DEA0}"/>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0" name="Freeform 4">
                <a:extLst>
                  <a:ext uri="{FF2B5EF4-FFF2-40B4-BE49-F238E27FC236}">
                    <a16:creationId xmlns:a16="http://schemas.microsoft.com/office/drawing/2014/main" id="{A02D643D-972A-EB44-73D4-4E15926A0A19}"/>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1" name="Freeform 6">
                <a:extLst>
                  <a:ext uri="{FF2B5EF4-FFF2-40B4-BE49-F238E27FC236}">
                    <a16:creationId xmlns:a16="http://schemas.microsoft.com/office/drawing/2014/main" id="{FCF795CE-1CC3-051B-3B31-F83FC47FA5BA}"/>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22" name="Group 21">
              <a:extLst>
                <a:ext uri="{FF2B5EF4-FFF2-40B4-BE49-F238E27FC236}">
                  <a16:creationId xmlns:a16="http://schemas.microsoft.com/office/drawing/2014/main" id="{A60477F7-27C6-27CD-67F3-25FE612FF2AD}"/>
                </a:ext>
              </a:extLst>
            </p:cNvPr>
            <p:cNvGrpSpPr/>
            <p:nvPr/>
          </p:nvGrpSpPr>
          <p:grpSpPr>
            <a:xfrm>
              <a:off x="4519725" y="1327445"/>
              <a:ext cx="3152550" cy="2258948"/>
              <a:chOff x="1527947" y="1697786"/>
              <a:chExt cx="3152550" cy="2258948"/>
            </a:xfrm>
          </p:grpSpPr>
          <p:sp>
            <p:nvSpPr>
              <p:cNvPr id="23" name="Freeform 2">
                <a:extLst>
                  <a:ext uri="{FF2B5EF4-FFF2-40B4-BE49-F238E27FC236}">
                    <a16:creationId xmlns:a16="http://schemas.microsoft.com/office/drawing/2014/main" id="{229726F0-29BA-0A1F-41D2-5C65BBE2B776}"/>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4" name="Freeform 3">
                <a:extLst>
                  <a:ext uri="{FF2B5EF4-FFF2-40B4-BE49-F238E27FC236}">
                    <a16:creationId xmlns:a16="http://schemas.microsoft.com/office/drawing/2014/main" id="{D4492D73-5F1E-5651-49BE-D5399B743BC9}"/>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5" name="Freeform 4">
                <a:extLst>
                  <a:ext uri="{FF2B5EF4-FFF2-40B4-BE49-F238E27FC236}">
                    <a16:creationId xmlns:a16="http://schemas.microsoft.com/office/drawing/2014/main" id="{0403893F-E230-3BDA-D4F1-9971FF9F11EF}"/>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6" name="Freeform 6">
                <a:extLst>
                  <a:ext uri="{FF2B5EF4-FFF2-40B4-BE49-F238E27FC236}">
                    <a16:creationId xmlns:a16="http://schemas.microsoft.com/office/drawing/2014/main" id="{619B7E61-30C2-2B01-F15F-F691A99DAB3E}"/>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27" name="Group 26">
              <a:extLst>
                <a:ext uri="{FF2B5EF4-FFF2-40B4-BE49-F238E27FC236}">
                  <a16:creationId xmlns:a16="http://schemas.microsoft.com/office/drawing/2014/main" id="{E056BDF1-E844-5140-7BB9-FAAC763D5D8B}"/>
                </a:ext>
              </a:extLst>
            </p:cNvPr>
            <p:cNvGrpSpPr/>
            <p:nvPr/>
          </p:nvGrpSpPr>
          <p:grpSpPr>
            <a:xfrm>
              <a:off x="3915284" y="4257052"/>
              <a:ext cx="3152550" cy="2258948"/>
              <a:chOff x="1527947" y="1697786"/>
              <a:chExt cx="3152550" cy="2258948"/>
            </a:xfrm>
          </p:grpSpPr>
          <p:sp>
            <p:nvSpPr>
              <p:cNvPr id="28" name="Freeform 2">
                <a:extLst>
                  <a:ext uri="{FF2B5EF4-FFF2-40B4-BE49-F238E27FC236}">
                    <a16:creationId xmlns:a16="http://schemas.microsoft.com/office/drawing/2014/main" id="{4D5B3580-262B-BC42-C829-C22925CA7B6E}"/>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9" name="Freeform 3">
                <a:extLst>
                  <a:ext uri="{FF2B5EF4-FFF2-40B4-BE49-F238E27FC236}">
                    <a16:creationId xmlns:a16="http://schemas.microsoft.com/office/drawing/2014/main" id="{22F51E35-C1A4-8C1A-C561-E5157353F903}"/>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0" name="Freeform 4">
                <a:extLst>
                  <a:ext uri="{FF2B5EF4-FFF2-40B4-BE49-F238E27FC236}">
                    <a16:creationId xmlns:a16="http://schemas.microsoft.com/office/drawing/2014/main" id="{2697F0A2-E475-E64E-9D3C-76D9AA6D3B1D}"/>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1" name="Freeform 6">
                <a:extLst>
                  <a:ext uri="{FF2B5EF4-FFF2-40B4-BE49-F238E27FC236}">
                    <a16:creationId xmlns:a16="http://schemas.microsoft.com/office/drawing/2014/main" id="{846E325E-8C04-4771-3D07-9CE78997D45A}"/>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32" name="Group 31">
              <a:extLst>
                <a:ext uri="{FF2B5EF4-FFF2-40B4-BE49-F238E27FC236}">
                  <a16:creationId xmlns:a16="http://schemas.microsoft.com/office/drawing/2014/main" id="{30DE527F-BA91-84DD-F250-8CAF96523424}"/>
                </a:ext>
              </a:extLst>
            </p:cNvPr>
            <p:cNvGrpSpPr/>
            <p:nvPr/>
          </p:nvGrpSpPr>
          <p:grpSpPr>
            <a:xfrm>
              <a:off x="3915284" y="3368113"/>
              <a:ext cx="3152550" cy="2258948"/>
              <a:chOff x="1527947" y="1697786"/>
              <a:chExt cx="3152550" cy="2258948"/>
            </a:xfrm>
          </p:grpSpPr>
          <p:sp>
            <p:nvSpPr>
              <p:cNvPr id="33" name="Freeform 2">
                <a:extLst>
                  <a:ext uri="{FF2B5EF4-FFF2-40B4-BE49-F238E27FC236}">
                    <a16:creationId xmlns:a16="http://schemas.microsoft.com/office/drawing/2014/main" id="{1319F419-5DDE-8CAA-05EF-659F9EAAB090}"/>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4" name="Freeform 3">
                <a:extLst>
                  <a:ext uri="{FF2B5EF4-FFF2-40B4-BE49-F238E27FC236}">
                    <a16:creationId xmlns:a16="http://schemas.microsoft.com/office/drawing/2014/main" id="{241ADA96-0AF2-C8A9-604A-DBB8A3118429}"/>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5" name="Freeform 4">
                <a:extLst>
                  <a:ext uri="{FF2B5EF4-FFF2-40B4-BE49-F238E27FC236}">
                    <a16:creationId xmlns:a16="http://schemas.microsoft.com/office/drawing/2014/main" id="{C6C3F4D3-8712-2D13-15EC-A8F28389198C}"/>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6" name="Freeform 6">
                <a:extLst>
                  <a:ext uri="{FF2B5EF4-FFF2-40B4-BE49-F238E27FC236}">
                    <a16:creationId xmlns:a16="http://schemas.microsoft.com/office/drawing/2014/main" id="{074ED3EE-C9A9-E276-5F80-E825E7C66768}"/>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37" name="Group 36">
              <a:extLst>
                <a:ext uri="{FF2B5EF4-FFF2-40B4-BE49-F238E27FC236}">
                  <a16:creationId xmlns:a16="http://schemas.microsoft.com/office/drawing/2014/main" id="{6F1C51C4-93CF-E204-D938-03C20AE1CC98}"/>
                </a:ext>
              </a:extLst>
            </p:cNvPr>
            <p:cNvGrpSpPr/>
            <p:nvPr/>
          </p:nvGrpSpPr>
          <p:grpSpPr>
            <a:xfrm>
              <a:off x="3915284" y="2479174"/>
              <a:ext cx="3152550" cy="2258948"/>
              <a:chOff x="1527947" y="1697786"/>
              <a:chExt cx="3152550" cy="2258948"/>
            </a:xfrm>
          </p:grpSpPr>
          <p:sp>
            <p:nvSpPr>
              <p:cNvPr id="38" name="Freeform 2">
                <a:extLst>
                  <a:ext uri="{FF2B5EF4-FFF2-40B4-BE49-F238E27FC236}">
                    <a16:creationId xmlns:a16="http://schemas.microsoft.com/office/drawing/2014/main" id="{434DB826-AA12-07E4-82AD-4788784B6F9E}"/>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9" name="Freeform 3">
                <a:extLst>
                  <a:ext uri="{FF2B5EF4-FFF2-40B4-BE49-F238E27FC236}">
                    <a16:creationId xmlns:a16="http://schemas.microsoft.com/office/drawing/2014/main" id="{D15C9C56-B0EA-91B8-AF9E-C5BB20E8C53A}"/>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0" name="Freeform 4">
                <a:extLst>
                  <a:ext uri="{FF2B5EF4-FFF2-40B4-BE49-F238E27FC236}">
                    <a16:creationId xmlns:a16="http://schemas.microsoft.com/office/drawing/2014/main" id="{807CDFE6-1C9C-1DBC-4E7A-7119CEF56509}"/>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1" name="Freeform 6">
                <a:extLst>
                  <a:ext uri="{FF2B5EF4-FFF2-40B4-BE49-F238E27FC236}">
                    <a16:creationId xmlns:a16="http://schemas.microsoft.com/office/drawing/2014/main" id="{ACD1E6C6-EA8C-E525-B055-56F8D1A0ADBE}"/>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42" name="Group 41">
              <a:extLst>
                <a:ext uri="{FF2B5EF4-FFF2-40B4-BE49-F238E27FC236}">
                  <a16:creationId xmlns:a16="http://schemas.microsoft.com/office/drawing/2014/main" id="{73CFADB1-7233-F63F-9290-18177D6EE99C}"/>
                </a:ext>
              </a:extLst>
            </p:cNvPr>
            <p:cNvGrpSpPr/>
            <p:nvPr/>
          </p:nvGrpSpPr>
          <p:grpSpPr>
            <a:xfrm>
              <a:off x="3915284" y="1589947"/>
              <a:ext cx="3152550" cy="2258948"/>
              <a:chOff x="1527947" y="1697786"/>
              <a:chExt cx="3152550" cy="2258948"/>
            </a:xfrm>
          </p:grpSpPr>
          <p:sp>
            <p:nvSpPr>
              <p:cNvPr id="43" name="Freeform 2">
                <a:extLst>
                  <a:ext uri="{FF2B5EF4-FFF2-40B4-BE49-F238E27FC236}">
                    <a16:creationId xmlns:a16="http://schemas.microsoft.com/office/drawing/2014/main" id="{9E0C88E4-E703-DAD1-6621-35D4F1D0B15A}"/>
                  </a:ext>
                </a:extLst>
              </p:cNvPr>
              <p:cNvSpPr/>
              <p:nvPr/>
            </p:nvSpPr>
            <p:spPr>
              <a:xfrm>
                <a:off x="1527947" y="1697786"/>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4" name="Freeform 3">
                <a:extLst>
                  <a:ext uri="{FF2B5EF4-FFF2-40B4-BE49-F238E27FC236}">
                    <a16:creationId xmlns:a16="http://schemas.microsoft.com/office/drawing/2014/main" id="{66C84676-15B4-B0D7-618C-A75C878A0E5C}"/>
                  </a:ext>
                </a:extLst>
              </p:cNvPr>
              <p:cNvSpPr/>
              <p:nvPr/>
            </p:nvSpPr>
            <p:spPr>
              <a:xfrm>
                <a:off x="2147581" y="1960288"/>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5" name="Freeform 4">
                <a:extLst>
                  <a:ext uri="{FF2B5EF4-FFF2-40B4-BE49-F238E27FC236}">
                    <a16:creationId xmlns:a16="http://schemas.microsoft.com/office/drawing/2014/main" id="{46917FDD-3F46-C6E2-3674-6F942E6EAAEE}"/>
                  </a:ext>
                </a:extLst>
              </p:cNvPr>
              <p:cNvSpPr/>
              <p:nvPr/>
            </p:nvSpPr>
            <p:spPr>
              <a:xfrm>
                <a:off x="2767215" y="2222790"/>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6" name="Freeform 6">
                <a:extLst>
                  <a:ext uri="{FF2B5EF4-FFF2-40B4-BE49-F238E27FC236}">
                    <a16:creationId xmlns:a16="http://schemas.microsoft.com/office/drawing/2014/main" id="{994A8586-374A-5961-3BFA-E6D02CA739D8}"/>
                  </a:ext>
                </a:extLst>
              </p:cNvPr>
              <p:cNvSpPr/>
              <p:nvPr/>
            </p:nvSpPr>
            <p:spPr>
              <a:xfrm>
                <a:off x="3361717" y="2485292"/>
                <a:ext cx="1318780" cy="1471442"/>
              </a:xfrm>
              <a:custGeom>
                <a:avLst/>
                <a:gdLst/>
                <a:ahLst/>
                <a:cxnLst/>
                <a:rect l="l" t="t" r="r" b="b"/>
                <a:pathLst>
                  <a:path w="1947897" h="2173386">
                    <a:moveTo>
                      <a:pt x="0" y="0"/>
                    </a:moveTo>
                    <a:lnTo>
                      <a:pt x="1947897" y="0"/>
                    </a:lnTo>
                    <a:lnTo>
                      <a:pt x="1947897" y="2173386"/>
                    </a:lnTo>
                    <a:lnTo>
                      <a:pt x="0" y="21733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given fraction parts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 cartoon chef stands beside two tables displaying cakes. On the left table, there are four decorated cakes topped with strawberries. On the right table, there are six plain pink cakes without toppings.">
            <a:extLst>
              <a:ext uri="{FF2B5EF4-FFF2-40B4-BE49-F238E27FC236}">
                <a16:creationId xmlns:a16="http://schemas.microsoft.com/office/drawing/2014/main" id="{2F76C687-2EB3-5516-C642-1A2430269B82}"/>
              </a:ext>
            </a:extLst>
          </p:cNvPr>
          <p:cNvPicPr>
            <a:picLocks noChangeAspect="1"/>
          </p:cNvPicPr>
          <p:nvPr/>
        </p:nvPicPr>
        <p:blipFill>
          <a:blip r:embed="rId4"/>
          <a:stretch>
            <a:fillRect/>
          </a:stretch>
        </p:blipFill>
        <p:spPr>
          <a:xfrm>
            <a:off x="859809" y="1510316"/>
            <a:ext cx="10472382" cy="4814027"/>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74481" y="1318296"/>
                <a:ext cx="11243037" cy="2587131"/>
              </a:xfrm>
            </p:spPr>
            <p:txBody>
              <a:bodyPr/>
              <a:lstStyle/>
              <a:p>
                <a:pPr algn="ctr"/>
                <a:r>
                  <a:rPr lang="en-AU" sz="4400" dirty="0"/>
                  <a:t>You know that</a:t>
                </a:r>
                <a:r>
                  <a:rPr lang="en-AU" sz="4400" b="1" dirty="0"/>
                  <a:t> </a:t>
                </a:r>
                <a14:m>
                  <m:oMath xmlns:m="http://schemas.openxmlformats.org/officeDocument/2006/math">
                    <m:f>
                      <m:fPr>
                        <m:ctrlPr>
                          <a:rPr lang="en-AU" sz="4400" b="1" i="1">
                            <a:latin typeface="Cambria Math" panose="02040503050406030204" pitchFamily="18" charset="0"/>
                          </a:rPr>
                        </m:ctrlPr>
                      </m:fPr>
                      <m:num>
                        <m:r>
                          <a:rPr lang="en-AU" sz="4400" b="1" i="1">
                            <a:latin typeface="Cambria Math" panose="02040503050406030204" pitchFamily="18" charset="0"/>
                          </a:rPr>
                          <m:t>𝟑</m:t>
                        </m:r>
                      </m:num>
                      <m:den>
                        <m:r>
                          <a:rPr lang="en-AU" sz="4400" b="1" i="1" smtClean="0">
                            <a:latin typeface="Cambria Math" panose="02040503050406030204" pitchFamily="18" charset="0"/>
                          </a:rPr>
                          <m:t>𝟓</m:t>
                        </m:r>
                      </m:den>
                    </m:f>
                  </m:oMath>
                </a14:m>
                <a:r>
                  <a:rPr lang="en-AU" sz="4400" b="1" dirty="0"/>
                  <a:t> </a:t>
                </a:r>
                <a:r>
                  <a:rPr lang="en-AU" sz="4400" dirty="0"/>
                  <a:t>of the stick is 18 cm. </a:t>
                </a:r>
              </a:p>
              <a:p>
                <a:pPr algn="ctr"/>
                <a:r>
                  <a:rPr lang="en-AU" sz="4400" dirty="0"/>
                  <a:t>This means the </a:t>
                </a:r>
                <a:r>
                  <a:rPr lang="en-AU" sz="4400" b="1" dirty="0"/>
                  <a:t>whole</a:t>
                </a:r>
                <a:r>
                  <a:rPr lang="en-AU" sz="4400" dirty="0"/>
                  <a:t> stick is 35 cm.</a:t>
                </a:r>
                <a:endParaRPr lang="en-US" sz="4400" dirty="0"/>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474481" y="1318296"/>
                <a:ext cx="11243037" cy="2587131"/>
              </a:xfrm>
              <a:blipFill>
                <a:blip r:embed="rId4"/>
                <a:stretch>
                  <a:fillRect b="-6118"/>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EE1062B0-4C70-D441-72A8-72B8553B783C}"/>
              </a:ext>
            </a:extLst>
          </p:cNvPr>
          <p:cNvGraphicFramePr>
            <a:graphicFrameLocks noGrp="1"/>
          </p:cNvGraphicFramePr>
          <p:nvPr>
            <p:extLst>
              <p:ext uri="{D42A27DB-BD31-4B8C-83A1-F6EECF244321}">
                <p14:modId xmlns:p14="http://schemas.microsoft.com/office/powerpoint/2010/main" val="1125379697"/>
              </p:ext>
            </p:extLst>
          </p:nvPr>
        </p:nvGraphicFramePr>
        <p:xfrm>
          <a:off x="2442981" y="558997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Picture Placeholder 10">
            <a:extLst>
              <a:ext uri="{FF2B5EF4-FFF2-40B4-BE49-F238E27FC236}">
                <a16:creationId xmlns:a16="http://schemas.microsoft.com/office/drawing/2014/main" id="{922B9DB9-9D1B-18A1-B7EB-EDED90FC89DE}"/>
              </a:ext>
            </a:extLst>
          </p:cNvPr>
          <p:cNvSpPr txBox="1">
            <a:spLocks/>
          </p:cNvSpPr>
          <p:nvPr/>
        </p:nvSpPr>
        <p:spPr>
          <a:xfrm>
            <a:off x="672277" y="1649637"/>
            <a:ext cx="5136877" cy="199637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 the size of the </a:t>
            </a:r>
            <a:r>
              <a:rPr lang="en-US" sz="4400" b="1" dirty="0">
                <a:solidFill>
                  <a:srgbClr val="F9A045"/>
                </a:solidFill>
                <a:latin typeface="Arial"/>
                <a:cs typeface="Arial"/>
              </a:rPr>
              <a:t>orange</a:t>
            </a:r>
            <a:r>
              <a:rPr lang="en-US" sz="4400" b="1" dirty="0">
                <a:latin typeface="Arial"/>
                <a:cs typeface="Arial"/>
              </a:rPr>
              <a:t> </a:t>
            </a:r>
            <a:r>
              <a:rPr lang="en-US" sz="4400" b="1" dirty="0">
                <a:solidFill>
                  <a:srgbClr val="F9A045"/>
                </a:solidFill>
                <a:latin typeface="Arial"/>
                <a:cs typeface="Arial"/>
              </a:rPr>
              <a:t>angle</a:t>
            </a:r>
            <a:r>
              <a:rPr lang="en-US" sz="4400" b="1" dirty="0">
                <a:latin typeface="Arial"/>
                <a:cs typeface="Arial"/>
              </a:rPr>
              <a:t>.</a:t>
            </a:r>
            <a:endParaRPr lang="en-US" sz="4400" dirty="0"/>
          </a:p>
        </p:txBody>
      </p:sp>
      <p:sp>
        <p:nvSpPr>
          <p:cNvPr id="14" name="Picture Placeholder 10">
            <a:extLst>
              <a:ext uri="{FF2B5EF4-FFF2-40B4-BE49-F238E27FC236}">
                <a16:creationId xmlns:a16="http://schemas.microsoft.com/office/drawing/2014/main" id="{E0156788-CE8A-28EB-BF9E-EB2FF2B4E974}"/>
              </a:ext>
            </a:extLst>
          </p:cNvPr>
          <p:cNvSpPr txBox="1">
            <a:spLocks/>
          </p:cNvSpPr>
          <p:nvPr/>
        </p:nvSpPr>
        <p:spPr>
          <a:xfrm>
            <a:off x="552410" y="4560179"/>
            <a:ext cx="5543590" cy="10194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Communicate </a:t>
            </a:r>
            <a:r>
              <a:rPr lang="en-US" sz="4400" dirty="0">
                <a:latin typeface="Arial"/>
                <a:cs typeface="Arial"/>
              </a:rPr>
              <a:t>your</a:t>
            </a:r>
            <a:r>
              <a:rPr lang="en-US" sz="4400" b="1" dirty="0">
                <a:latin typeface="Arial"/>
                <a:cs typeface="Arial"/>
              </a:rPr>
              <a:t> reasoning.</a:t>
            </a:r>
            <a:endParaRPr lang="en-US" sz="4400" dirty="0"/>
          </a:p>
        </p:txBody>
      </p:sp>
      <p:pic>
        <p:nvPicPr>
          <p:cNvPr id="11" name="Picture 10" descr="Several blue lines meet at a point to form angles labelled 30°, 70°, 80° and 60°. A curved orange arrow shows a larger unknown angle.">
            <a:extLst>
              <a:ext uri="{FF2B5EF4-FFF2-40B4-BE49-F238E27FC236}">
                <a16:creationId xmlns:a16="http://schemas.microsoft.com/office/drawing/2014/main" id="{B2F2C968-42B8-E871-FE4D-9C8380B1CD02}"/>
              </a:ext>
            </a:extLst>
          </p:cNvPr>
          <p:cNvPicPr>
            <a:picLocks noChangeAspect="1"/>
          </p:cNvPicPr>
          <p:nvPr/>
        </p:nvPicPr>
        <p:blipFill>
          <a:blip r:embed="rId4"/>
          <a:srcRect l="5294"/>
          <a:stretch>
            <a:fillRect/>
          </a:stretch>
        </p:blipFill>
        <p:spPr>
          <a:xfrm>
            <a:off x="6586201" y="1381059"/>
            <a:ext cx="5136878" cy="493810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10">
            <a:extLst>
              <a:ext uri="{FF2B5EF4-FFF2-40B4-BE49-F238E27FC236}">
                <a16:creationId xmlns:a16="http://schemas.microsoft.com/office/drawing/2014/main" id="{379C09D7-03E8-7896-2130-76B2F2F0AF57}"/>
              </a:ext>
            </a:extLst>
          </p:cNvPr>
          <p:cNvSpPr txBox="1">
            <a:spLocks/>
          </p:cNvSpPr>
          <p:nvPr/>
        </p:nvSpPr>
        <p:spPr>
          <a:xfrm>
            <a:off x="474480" y="1116943"/>
            <a:ext cx="11243037" cy="99488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latin typeface="Arial"/>
                <a:cs typeface="Arial"/>
              </a:rPr>
              <a:t>Name the </a:t>
            </a:r>
            <a:r>
              <a:rPr lang="en-US" sz="4400" b="1" dirty="0">
                <a:latin typeface="Arial"/>
                <a:cs typeface="Arial"/>
              </a:rPr>
              <a:t>type</a:t>
            </a:r>
            <a:r>
              <a:rPr lang="en-US" sz="4400" dirty="0">
                <a:latin typeface="Arial"/>
                <a:cs typeface="Arial"/>
              </a:rPr>
              <a:t> of </a:t>
            </a:r>
            <a:r>
              <a:rPr lang="en-US" sz="4400" b="1" dirty="0">
                <a:latin typeface="Arial"/>
                <a:cs typeface="Arial"/>
              </a:rPr>
              <a:t>pyramid</a:t>
            </a:r>
            <a:r>
              <a:rPr lang="en-US" sz="4400" dirty="0">
                <a:latin typeface="Arial"/>
                <a:cs typeface="Arial"/>
              </a:rPr>
              <a:t>. </a:t>
            </a:r>
            <a:endParaRPr lang="en-US" sz="4400" dirty="0"/>
          </a:p>
          <a:p>
            <a:endParaRPr lang="en-US" dirty="0">
              <a:latin typeface="Arial"/>
              <a:cs typeface="Arial"/>
            </a:endParaRPr>
          </a:p>
        </p:txBody>
      </p:sp>
      <p:sp>
        <p:nvSpPr>
          <p:cNvPr id="5" name="Freeform 6" descr="A three-dimensional pyramid is shown with a 5-sided polygon base and triangular faces meeting at a single point at the top. Solid lines show visible edges, and dashed lines indicate hidden edges inside the shape.">
            <a:extLst>
              <a:ext uri="{FF2B5EF4-FFF2-40B4-BE49-F238E27FC236}">
                <a16:creationId xmlns:a16="http://schemas.microsoft.com/office/drawing/2014/main" id="{23F4F241-D9F3-B342-9593-060894C98C9E}"/>
              </a:ext>
            </a:extLst>
          </p:cNvPr>
          <p:cNvSpPr/>
          <p:nvPr/>
        </p:nvSpPr>
        <p:spPr>
          <a:xfrm>
            <a:off x="4496801" y="2602017"/>
            <a:ext cx="3198394" cy="3423794"/>
          </a:xfrm>
          <a:custGeom>
            <a:avLst/>
            <a:gdLst/>
            <a:ahLst/>
            <a:cxnLst/>
            <a:rect l="l" t="t" r="r" b="b"/>
            <a:pathLst>
              <a:path w="2258569" h="2417737">
                <a:moveTo>
                  <a:pt x="0" y="0"/>
                </a:moveTo>
                <a:lnTo>
                  <a:pt x="2258569" y="0"/>
                </a:lnTo>
                <a:lnTo>
                  <a:pt x="2258569" y="2417737"/>
                </a:lnTo>
                <a:lnTo>
                  <a:pt x="0" y="2417737"/>
                </a:lnTo>
                <a:lnTo>
                  <a:pt x="0" y="0"/>
                </a:lnTo>
                <a:close/>
              </a:path>
            </a:pathLst>
          </a:custGeom>
          <a:blipFill>
            <a:blip r:embed="rId4"/>
            <a:stretch>
              <a:fillRect/>
            </a:stretch>
          </a:blipFill>
          <a:ln cap="sq">
            <a:noFill/>
            <a:prstDash val="solid"/>
            <a:miter/>
          </a:ln>
        </p:spPr>
        <p:txBody>
          <a:bodyPr/>
          <a:lstStyle/>
          <a:p>
            <a:endParaRPr lang="en-AU"/>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1B78FE65-5E6F-4571-172F-3856F29D8247}"/>
              </a:ext>
            </a:extLst>
          </p:cNvPr>
          <p:cNvSpPr txBox="1"/>
          <p:nvPr/>
        </p:nvSpPr>
        <p:spPr>
          <a:xfrm>
            <a:off x="348000" y="1842941"/>
            <a:ext cx="5951153" cy="3671583"/>
          </a:xfrm>
          <a:prstGeom prst="rect">
            <a:avLst/>
          </a:prstGeom>
          <a:noFill/>
        </p:spPr>
        <p:txBody>
          <a:bodyPr wrap="square">
            <a:spAutoFit/>
          </a:bodyPr>
          <a:lstStyle/>
          <a:p>
            <a:pPr algn="ctr">
              <a:lnSpc>
                <a:spcPct val="150000"/>
              </a:lnSpc>
            </a:pPr>
            <a:r>
              <a:rPr lang="en-AU" sz="4000" b="1" dirty="0">
                <a:solidFill>
                  <a:srgbClr val="000000"/>
                </a:solidFill>
              </a:rPr>
              <a:t>Describe</a:t>
            </a:r>
            <a:r>
              <a:rPr lang="en-AU" sz="4000" dirty="0">
                <a:solidFill>
                  <a:srgbClr val="000000"/>
                </a:solidFill>
              </a:rPr>
              <a:t> the changes to </a:t>
            </a:r>
            <a:r>
              <a:rPr lang="en-AU" sz="4000" b="1" dirty="0">
                <a:solidFill>
                  <a:srgbClr val="000000"/>
                </a:solidFill>
              </a:rPr>
              <a:t>coordinates</a:t>
            </a:r>
            <a:r>
              <a:rPr lang="en-AU" sz="4000" dirty="0">
                <a:solidFill>
                  <a:srgbClr val="000000"/>
                </a:solidFill>
              </a:rPr>
              <a:t> when this point is </a:t>
            </a:r>
            <a:r>
              <a:rPr lang="en-AU" sz="4000" b="1" dirty="0">
                <a:solidFill>
                  <a:srgbClr val="000000"/>
                </a:solidFill>
              </a:rPr>
              <a:t>translated</a:t>
            </a:r>
            <a:r>
              <a:rPr lang="en-AU" sz="4000" dirty="0">
                <a:solidFill>
                  <a:srgbClr val="000000"/>
                </a:solidFill>
              </a:rPr>
              <a:t> across an axis.</a:t>
            </a:r>
            <a:endParaRPr lang="en-AU" sz="4000" dirty="0"/>
          </a:p>
        </p:txBody>
      </p:sp>
      <p:pic>
        <p:nvPicPr>
          <p:cNvPr id="9" name="Picture 8" descr="A coordinate grid is shown with the x-axis running horizontally and the y-axis running vertically, both labelled and marked with positive and negative numbers. One point is plotted at 5 on the x-axis and 1 on the y-axis.">
            <a:extLst>
              <a:ext uri="{FF2B5EF4-FFF2-40B4-BE49-F238E27FC236}">
                <a16:creationId xmlns:a16="http://schemas.microsoft.com/office/drawing/2014/main" id="{2990466B-7C57-BA81-DE45-797362FCCF7A}"/>
              </a:ext>
            </a:extLst>
          </p:cNvPr>
          <p:cNvPicPr>
            <a:picLocks noChangeAspect="1"/>
          </p:cNvPicPr>
          <p:nvPr/>
        </p:nvPicPr>
        <p:blipFill>
          <a:blip r:embed="rId4">
            <a:extLst>
              <a:ext uri="{28A0092B-C50C-407E-A947-70E740481C1C}">
                <a14:useLocalDpi xmlns:a14="http://schemas.microsoft.com/office/drawing/2010/main" val="0"/>
              </a:ext>
            </a:extLst>
          </a:blip>
          <a:srcRect l="18206" t="5249" r="21238" b="10205"/>
          <a:stretch>
            <a:fillRect/>
          </a:stretch>
        </p:blipFill>
        <p:spPr>
          <a:xfrm>
            <a:off x="6635728" y="1279475"/>
            <a:ext cx="5208272" cy="514127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11DC7D87-7BBB-C326-C048-03BCFF7ACC1B}"/>
              </a:ext>
            </a:extLst>
          </p:cNvPr>
          <p:cNvSpPr txBox="1">
            <a:spLocks/>
          </p:cNvSpPr>
          <p:nvPr/>
        </p:nvSpPr>
        <p:spPr>
          <a:xfrm>
            <a:off x="84912" y="1027616"/>
            <a:ext cx="12022176" cy="323196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A </a:t>
            </a:r>
            <a:r>
              <a:rPr lang="en-AU" sz="4400" b="1" dirty="0">
                <a:latin typeface="Arial"/>
                <a:cs typeface="Arial"/>
              </a:rPr>
              <a:t>rectangular prism </a:t>
            </a:r>
            <a:r>
              <a:rPr lang="en-AU" sz="4400" dirty="0">
                <a:latin typeface="Arial"/>
                <a:cs typeface="Arial"/>
              </a:rPr>
              <a:t>is built using 1 cm cubes. One layer has 12 cubes.</a:t>
            </a:r>
          </a:p>
          <a:p>
            <a:pPr algn="ctr"/>
            <a:r>
              <a:rPr lang="en-AU" sz="4400" dirty="0">
                <a:latin typeface="Arial"/>
                <a:cs typeface="Arial"/>
              </a:rPr>
              <a:t>The prism has 5 layers.</a:t>
            </a:r>
          </a:p>
        </p:txBody>
      </p:sp>
      <p:sp>
        <p:nvSpPr>
          <p:cNvPr id="9" name="Picture Placeholder 10">
            <a:extLst>
              <a:ext uri="{FF2B5EF4-FFF2-40B4-BE49-F238E27FC236}">
                <a16:creationId xmlns:a16="http://schemas.microsoft.com/office/drawing/2014/main" id="{8B958E33-156E-2B18-4F8F-FC8EE75D7D59}"/>
              </a:ext>
            </a:extLst>
          </p:cNvPr>
          <p:cNvSpPr txBox="1">
            <a:spLocks/>
          </p:cNvSpPr>
          <p:nvPr/>
        </p:nvSpPr>
        <p:spPr>
          <a:xfrm>
            <a:off x="84912" y="5018473"/>
            <a:ext cx="12022176" cy="103740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 What is the </a:t>
            </a:r>
            <a:r>
              <a:rPr lang="en-AU" sz="4400" b="1" dirty="0">
                <a:latin typeface="Arial"/>
                <a:cs typeface="Arial"/>
              </a:rPr>
              <a:t>volume</a:t>
            </a:r>
            <a:r>
              <a:rPr lang="en-AU" sz="4400" dirty="0">
                <a:latin typeface="Arial"/>
                <a:cs typeface="Arial"/>
              </a:rPr>
              <a:t> of the </a:t>
            </a:r>
            <a:r>
              <a:rPr lang="en-AU" sz="4400" b="1" dirty="0">
                <a:latin typeface="Arial"/>
                <a:cs typeface="Arial"/>
              </a:rPr>
              <a:t>prism</a:t>
            </a:r>
            <a:r>
              <a:rPr lang="en-AU" sz="4400" dirty="0">
                <a:latin typeface="Arial"/>
                <a:cs typeface="Arial"/>
              </a:rPr>
              <a:t>?</a:t>
            </a:r>
            <a:endParaRPr lang="en-US" sz="4400" dirty="0">
              <a:latin typeface="Arial"/>
              <a:cs typeface="Arial"/>
            </a:endParaRP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 fraction word problem</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A girl stands smiling with one arm raised beside a “Happy Birthday” banner decorated with stars. On the other side, there is a large bunch of pink balloons.">
            <a:extLst>
              <a:ext uri="{FF2B5EF4-FFF2-40B4-BE49-F238E27FC236}">
                <a16:creationId xmlns:a16="http://schemas.microsoft.com/office/drawing/2014/main" id="{2FB34198-B6E4-D601-93F5-6B6C4B96B401}"/>
              </a:ext>
            </a:extLst>
          </p:cNvPr>
          <p:cNvPicPr>
            <a:picLocks noChangeAspect="1"/>
          </p:cNvPicPr>
          <p:nvPr/>
        </p:nvPicPr>
        <p:blipFill>
          <a:blip r:embed="rId4"/>
          <a:srcRect/>
          <a:stretch>
            <a:fillRect/>
          </a:stretch>
        </p:blipFill>
        <p:spPr>
          <a:xfrm>
            <a:off x="912365" y="851693"/>
            <a:ext cx="10367269" cy="6006307"/>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a:extLst>
              <a:ext uri="{FF2B5EF4-FFF2-40B4-BE49-F238E27FC236}">
                <a16:creationId xmlns:a16="http://schemas.microsoft.com/office/drawing/2014/main" id="{ED373717-0E00-BB99-77D7-7C189BAA0132}"/>
              </a:ext>
            </a:extLst>
          </p:cNvPr>
          <p:cNvSpPr txBox="1">
            <a:spLocks/>
          </p:cNvSpPr>
          <p:nvPr/>
        </p:nvSpPr>
        <p:spPr>
          <a:xfrm>
            <a:off x="4143285" y="1840117"/>
            <a:ext cx="3905428" cy="97798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5400" b="1" dirty="0"/>
              <a:t>398 + 276</a:t>
            </a:r>
          </a:p>
        </p:txBody>
      </p:sp>
      <p:sp>
        <p:nvSpPr>
          <p:cNvPr id="6" name="Text Placeholder">
            <a:extLst>
              <a:ext uri="{FF2B5EF4-FFF2-40B4-BE49-F238E27FC236}">
                <a16:creationId xmlns:a16="http://schemas.microsoft.com/office/drawing/2014/main" id="{E13261CB-473B-92B5-6331-9522525AA01C}"/>
              </a:ext>
            </a:extLst>
          </p:cNvPr>
          <p:cNvSpPr txBox="1">
            <a:spLocks/>
          </p:cNvSpPr>
          <p:nvPr/>
        </p:nvSpPr>
        <p:spPr>
          <a:xfrm>
            <a:off x="1145200" y="1085874"/>
            <a:ext cx="9901599"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000" dirty="0"/>
              <a:t>Which </a:t>
            </a:r>
            <a:r>
              <a:rPr lang="en-AU" sz="4000" b="1" dirty="0"/>
              <a:t>strategy</a:t>
            </a:r>
            <a:r>
              <a:rPr lang="en-AU" sz="4000" dirty="0"/>
              <a:t> is most </a:t>
            </a:r>
            <a:r>
              <a:rPr lang="en-AU" sz="4000" b="1" dirty="0"/>
              <a:t>efficient to calculate: </a:t>
            </a:r>
            <a:endParaRPr lang="en-US" sz="4000" dirty="0"/>
          </a:p>
        </p:txBody>
      </p:sp>
      <p:sp>
        <p:nvSpPr>
          <p:cNvPr id="9" name="B">
            <a:extLst>
              <a:ext uri="{FF2B5EF4-FFF2-40B4-BE49-F238E27FC236}">
                <a16:creationId xmlns:a16="http://schemas.microsoft.com/office/drawing/2014/main" id="{8B0BBB3C-FC71-5899-8378-058EBBB23E5C}"/>
              </a:ext>
            </a:extLst>
          </p:cNvPr>
          <p:cNvSpPr txBox="1"/>
          <p:nvPr/>
        </p:nvSpPr>
        <p:spPr>
          <a:xfrm>
            <a:off x="670560" y="32990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3347725"/>
            <a:ext cx="10175920" cy="641396"/>
          </a:xfrm>
        </p:spPr>
        <p:txBody>
          <a:bodyPr anchor="ctr"/>
          <a:lstStyle/>
          <a:p>
            <a:r>
              <a:rPr lang="en-AU" sz="3600" dirty="0"/>
              <a:t>Add 398 + 200, then +70, then +6</a:t>
            </a:r>
            <a:endParaRPr lang="en-US" sz="3600" dirty="0"/>
          </a:p>
        </p:txBody>
      </p:sp>
      <p:sp>
        <p:nvSpPr>
          <p:cNvPr id="10" name="B">
            <a:extLst>
              <a:ext uri="{FF2B5EF4-FFF2-40B4-BE49-F238E27FC236}">
                <a16:creationId xmlns:a16="http://schemas.microsoft.com/office/drawing/2014/main" id="{1BD38033-43C3-A0A1-88CB-3ABF45A80763}"/>
              </a:ext>
            </a:extLst>
          </p:cNvPr>
          <p:cNvSpPr txBox="1"/>
          <p:nvPr/>
        </p:nvSpPr>
        <p:spPr>
          <a:xfrm>
            <a:off x="670559" y="41470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4195638"/>
            <a:ext cx="10175920" cy="641396"/>
          </a:xfrm>
        </p:spPr>
        <p:txBody>
          <a:bodyPr anchor="ctr"/>
          <a:lstStyle/>
          <a:p>
            <a:r>
              <a:rPr lang="en-AU" sz="3600" dirty="0"/>
              <a:t>Round 398 to 400, add 276, then subtract 2</a:t>
            </a:r>
            <a:endParaRPr lang="en-US" sz="3600" dirty="0"/>
          </a:p>
        </p:txBody>
      </p:sp>
      <p:sp>
        <p:nvSpPr>
          <p:cNvPr id="12" name="C">
            <a:extLst>
              <a:ext uri="{FF2B5EF4-FFF2-40B4-BE49-F238E27FC236}">
                <a16:creationId xmlns:a16="http://schemas.microsoft.com/office/drawing/2014/main" id="{8CBBF2BA-64EE-4290-7852-A8F6CCA03E54}"/>
              </a:ext>
            </a:extLst>
          </p:cNvPr>
          <p:cNvSpPr txBox="1"/>
          <p:nvPr/>
        </p:nvSpPr>
        <p:spPr>
          <a:xfrm>
            <a:off x="670558" y="49970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5045691"/>
            <a:ext cx="10175920" cy="641396"/>
          </a:xfrm>
        </p:spPr>
        <p:txBody>
          <a:bodyPr anchor="ctr"/>
          <a:lstStyle/>
          <a:p>
            <a:r>
              <a:rPr lang="en-AU" sz="3600" dirty="0"/>
              <a:t>Use repeated addition of 10</a:t>
            </a:r>
            <a:endParaRPr lang="en-US" sz="3600" dirty="0"/>
          </a:p>
        </p:txBody>
      </p:sp>
      <p:sp>
        <p:nvSpPr>
          <p:cNvPr id="11" name="D">
            <a:extLst>
              <a:ext uri="{FF2B5EF4-FFF2-40B4-BE49-F238E27FC236}">
                <a16:creationId xmlns:a16="http://schemas.microsoft.com/office/drawing/2014/main" id="{388F2FE9-EF5E-B818-71B7-04503183ED79}"/>
              </a:ext>
            </a:extLst>
          </p:cNvPr>
          <p:cNvSpPr txBox="1"/>
          <p:nvPr/>
        </p:nvSpPr>
        <p:spPr>
          <a:xfrm>
            <a:off x="670557" y="58471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895744"/>
            <a:ext cx="10175920" cy="641396"/>
          </a:xfrm>
        </p:spPr>
        <p:txBody>
          <a:bodyPr anchor="ctr"/>
          <a:lstStyle/>
          <a:p>
            <a:r>
              <a:rPr lang="en-AU" sz="3600" dirty="0"/>
              <a:t>Write the numbers in words and estimate</a:t>
            </a:r>
            <a:endParaRPr lang="en-US" sz="3600" dirty="0"/>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CB6BDE57-E869-3518-6D90-3EF171BC0E8F}"/>
              </a:ext>
            </a:extLst>
          </p:cNvPr>
          <p:cNvSpPr txBox="1">
            <a:spLocks/>
          </p:cNvSpPr>
          <p:nvPr/>
        </p:nvSpPr>
        <p:spPr>
          <a:xfrm>
            <a:off x="189366" y="1556251"/>
            <a:ext cx="6663832" cy="323196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What is the </a:t>
            </a:r>
            <a:r>
              <a:rPr lang="en-AU" sz="4400" b="1" dirty="0">
                <a:latin typeface="Arial"/>
                <a:cs typeface="Arial"/>
              </a:rPr>
              <a:t>total</a:t>
            </a:r>
            <a:r>
              <a:rPr lang="en-AU" sz="4400" dirty="0">
                <a:latin typeface="Arial"/>
                <a:cs typeface="Arial"/>
              </a:rPr>
              <a:t> of the </a:t>
            </a:r>
            <a:r>
              <a:rPr lang="en-AU" sz="4400" b="1" dirty="0">
                <a:latin typeface="Arial"/>
                <a:cs typeface="Arial"/>
              </a:rPr>
              <a:t>angles at a point </a:t>
            </a:r>
            <a:r>
              <a:rPr lang="en-AU" sz="4400" dirty="0">
                <a:latin typeface="Arial"/>
                <a:cs typeface="Arial"/>
              </a:rPr>
              <a:t>in this </a:t>
            </a:r>
            <a:r>
              <a:rPr lang="en-AU" sz="4400" b="1" dirty="0">
                <a:latin typeface="Arial"/>
                <a:cs typeface="Arial"/>
              </a:rPr>
              <a:t>diagram</a:t>
            </a:r>
            <a:r>
              <a:rPr lang="en-AU" sz="4400" dirty="0">
                <a:latin typeface="Arial"/>
                <a:cs typeface="Arial"/>
              </a:rPr>
              <a:t>?</a:t>
            </a:r>
          </a:p>
        </p:txBody>
      </p:sp>
      <p:grpSp>
        <p:nvGrpSpPr>
          <p:cNvPr id="10" name="Group 9" descr="A pattern of irregular shapes is formed by straight lines meeting at different points. One intersection is highlighted with a red circle, showing several angles around a single point, with some angles shaded in yellow.">
            <a:extLst>
              <a:ext uri="{FF2B5EF4-FFF2-40B4-BE49-F238E27FC236}">
                <a16:creationId xmlns:a16="http://schemas.microsoft.com/office/drawing/2014/main" id="{A0F20FE5-4D42-5C29-1D29-06AFB7E262C5}"/>
              </a:ext>
            </a:extLst>
          </p:cNvPr>
          <p:cNvGrpSpPr/>
          <p:nvPr/>
        </p:nvGrpSpPr>
        <p:grpSpPr>
          <a:xfrm>
            <a:off x="7163141" y="1975937"/>
            <a:ext cx="4469283" cy="4006343"/>
            <a:chOff x="7127631" y="2002571"/>
            <a:chExt cx="3693422" cy="3407554"/>
          </a:xfrm>
        </p:grpSpPr>
        <p:pic>
          <p:nvPicPr>
            <p:cNvPr id="7" name="Picture 6">
              <a:extLst>
                <a:ext uri="{FF2B5EF4-FFF2-40B4-BE49-F238E27FC236}">
                  <a16:creationId xmlns:a16="http://schemas.microsoft.com/office/drawing/2014/main" id="{AB8334DA-34B2-C8FF-27DA-BFD6F4A8246E}"/>
                </a:ext>
              </a:extLst>
            </p:cNvPr>
            <p:cNvPicPr>
              <a:picLocks noChangeAspect="1"/>
            </p:cNvPicPr>
            <p:nvPr/>
          </p:nvPicPr>
          <p:blipFill>
            <a:blip r:embed="rId4"/>
            <a:srcRect l="7322" t="21124" r="41365" b="31686"/>
            <a:stretch>
              <a:fillRect/>
            </a:stretch>
          </p:blipFill>
          <p:spPr>
            <a:xfrm>
              <a:off x="7127631" y="2002571"/>
              <a:ext cx="3693422" cy="3407554"/>
            </a:xfrm>
            <a:prstGeom prst="rect">
              <a:avLst/>
            </a:prstGeom>
            <a:ln w="76200">
              <a:solidFill>
                <a:schemeClr val="tx1"/>
              </a:solid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8FAE9E76-FB91-29CA-87FE-40E067EA5FC6}"/>
                </a:ext>
              </a:extLst>
            </p:cNvPr>
            <p:cNvSpPr/>
            <p:nvPr/>
          </p:nvSpPr>
          <p:spPr>
            <a:xfrm>
              <a:off x="7854482" y="2640057"/>
              <a:ext cx="1834537" cy="1731815"/>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12" name="TextBox 11">
            <a:extLst>
              <a:ext uri="{FF2B5EF4-FFF2-40B4-BE49-F238E27FC236}">
                <a16:creationId xmlns:a16="http://schemas.microsoft.com/office/drawing/2014/main" id="{F9A268BD-8597-3A94-8174-4919F03C894E}"/>
              </a:ext>
            </a:extLst>
          </p:cNvPr>
          <p:cNvSpPr txBox="1"/>
          <p:nvPr/>
        </p:nvSpPr>
        <p:spPr>
          <a:xfrm>
            <a:off x="759580" y="5051450"/>
            <a:ext cx="6093618" cy="1446550"/>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22272B"/>
                </a:solidFill>
                <a:effectLst/>
                <a:uLnTx/>
                <a:uFillTx/>
                <a:latin typeface="Arial"/>
                <a:ea typeface="+mn-ea"/>
                <a:cs typeface="Arial"/>
              </a:rPr>
              <a:t>Communicate </a:t>
            </a:r>
            <a:r>
              <a:rPr kumimoji="0" lang="en-US" sz="4400" b="0" i="0" u="none" strike="noStrike" kern="1200" cap="none" spc="0" normalizeH="0" baseline="0" noProof="0" dirty="0">
                <a:ln>
                  <a:noFill/>
                </a:ln>
                <a:solidFill>
                  <a:srgbClr val="22272B"/>
                </a:solidFill>
                <a:effectLst/>
                <a:uLnTx/>
                <a:uFillTx/>
                <a:latin typeface="Arial"/>
                <a:ea typeface="+mn-ea"/>
                <a:cs typeface="Arial"/>
              </a:rPr>
              <a:t>your</a:t>
            </a:r>
            <a:r>
              <a:rPr kumimoji="0" lang="en-US" sz="4400" b="1" i="0" u="none" strike="noStrike" kern="1200" cap="none" spc="0" normalizeH="0" baseline="0" noProof="0" dirty="0">
                <a:ln>
                  <a:noFill/>
                </a:ln>
                <a:solidFill>
                  <a:srgbClr val="22272B"/>
                </a:solidFill>
                <a:effectLst/>
                <a:uLnTx/>
                <a:uFillTx/>
                <a:latin typeface="Arial"/>
                <a:ea typeface="+mn-ea"/>
                <a:cs typeface="Arial"/>
              </a:rPr>
              <a:t> reasoning.</a:t>
            </a:r>
            <a:endParaRPr kumimoji="0" lang="en-US" sz="4400" b="0" i="0" u="none" strike="noStrike" kern="1200" cap="none" spc="0" normalizeH="0" baseline="0" noProof="0" dirty="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E13D3788-A56E-03E4-9D75-5D166DC31606}"/>
              </a:ext>
            </a:extLst>
          </p:cNvPr>
          <p:cNvSpPr txBox="1">
            <a:spLocks/>
          </p:cNvSpPr>
          <p:nvPr/>
        </p:nvSpPr>
        <p:spPr>
          <a:xfrm>
            <a:off x="1028268" y="726473"/>
            <a:ext cx="10135463" cy="195282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latin typeface="Arial"/>
                <a:cs typeface="Arial"/>
              </a:rPr>
              <a:t>Record this </a:t>
            </a:r>
            <a:r>
              <a:rPr lang="en-US" sz="4400" b="1" dirty="0">
                <a:latin typeface="Arial"/>
                <a:cs typeface="Arial"/>
              </a:rPr>
              <a:t>measurement</a:t>
            </a:r>
            <a:r>
              <a:rPr lang="en-US" sz="4400" dirty="0">
                <a:latin typeface="Arial"/>
                <a:cs typeface="Arial"/>
              </a:rPr>
              <a:t> using </a:t>
            </a:r>
            <a:r>
              <a:rPr lang="en-US" sz="4400" b="1" dirty="0">
                <a:latin typeface="Arial"/>
                <a:cs typeface="Arial"/>
              </a:rPr>
              <a:t>millilitres</a:t>
            </a:r>
            <a:r>
              <a:rPr lang="en-US" sz="4400" dirty="0">
                <a:latin typeface="Arial"/>
                <a:cs typeface="Arial"/>
              </a:rPr>
              <a:t> (mL) and </a:t>
            </a:r>
            <a:r>
              <a:rPr lang="en-US" sz="4400" b="1" dirty="0">
                <a:latin typeface="Arial"/>
                <a:cs typeface="Arial"/>
              </a:rPr>
              <a:t>litres</a:t>
            </a:r>
            <a:r>
              <a:rPr lang="en-US" sz="4400" dirty="0">
                <a:latin typeface="Arial"/>
                <a:cs typeface="Arial"/>
              </a:rPr>
              <a:t> (L).</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7" name="Picture 6" descr="A measuring jug is shown with markings from 100 mL to 1000 mL. The liquid level is at the 450 mL mark.">
            <a:extLst>
              <a:ext uri="{FF2B5EF4-FFF2-40B4-BE49-F238E27FC236}">
                <a16:creationId xmlns:a16="http://schemas.microsoft.com/office/drawing/2014/main" id="{5EA7811B-2A5B-4383-34FA-8E14A9432109}"/>
              </a:ext>
            </a:extLst>
          </p:cNvPr>
          <p:cNvPicPr>
            <a:picLocks noChangeAspect="1"/>
          </p:cNvPicPr>
          <p:nvPr/>
        </p:nvPicPr>
        <p:blipFill>
          <a:blip r:embed="rId4"/>
          <a:stretch>
            <a:fillRect/>
          </a:stretch>
        </p:blipFill>
        <p:spPr>
          <a:xfrm>
            <a:off x="4326164" y="2695909"/>
            <a:ext cx="3965797" cy="4135457"/>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B635F7C2-4A7A-0EAE-50E0-366D89DFEF8D}"/>
              </a:ext>
            </a:extLst>
          </p:cNvPr>
          <p:cNvSpPr txBox="1"/>
          <p:nvPr/>
        </p:nvSpPr>
        <p:spPr>
          <a:xfrm>
            <a:off x="1050663" y="990090"/>
            <a:ext cx="10090673" cy="978946"/>
          </a:xfrm>
          <a:prstGeom prst="rect">
            <a:avLst/>
          </a:prstGeom>
          <a:noFill/>
        </p:spPr>
        <p:txBody>
          <a:bodyPr wrap="square" lIns="0" tIns="0" rIns="0" bIns="0" rtlCol="0">
            <a:noAutofit/>
          </a:bodyPr>
          <a:lstStyle/>
          <a:p>
            <a:pPr algn="ctr">
              <a:lnSpc>
                <a:spcPct val="150000"/>
              </a:lnSpc>
            </a:pPr>
            <a:r>
              <a:rPr lang="en-AU" sz="4400" dirty="0"/>
              <a:t>In a </a:t>
            </a:r>
            <a:r>
              <a:rPr lang="en-AU" sz="4400" b="1" dirty="0"/>
              <a:t>chance experiment</a:t>
            </a:r>
            <a:r>
              <a:rPr lang="en-AU" sz="4400" dirty="0"/>
              <a:t>, which number is </a:t>
            </a:r>
            <a:r>
              <a:rPr lang="en-AU" sz="4400" b="1" dirty="0"/>
              <a:t>most likely </a:t>
            </a:r>
            <a:r>
              <a:rPr lang="en-AU" sz="4400" dirty="0"/>
              <a:t>to be rolled? </a:t>
            </a:r>
          </a:p>
        </p:txBody>
      </p:sp>
      <p:sp>
        <p:nvSpPr>
          <p:cNvPr id="5" name="Freeform 3" descr="Six sided die.">
            <a:extLst>
              <a:ext uri="{FF2B5EF4-FFF2-40B4-BE49-F238E27FC236}">
                <a16:creationId xmlns:a16="http://schemas.microsoft.com/office/drawing/2014/main" id="{68C4E471-3D59-2814-FE96-163CFCEDE8A9}"/>
              </a:ext>
            </a:extLst>
          </p:cNvPr>
          <p:cNvSpPr/>
          <p:nvPr/>
        </p:nvSpPr>
        <p:spPr>
          <a:xfrm>
            <a:off x="4986296" y="2947488"/>
            <a:ext cx="2219406" cy="2244838"/>
          </a:xfrm>
          <a:custGeom>
            <a:avLst/>
            <a:gdLst/>
            <a:ahLst/>
            <a:cxnLst/>
            <a:rect l="l" t="t" r="r" b="b"/>
            <a:pathLst>
              <a:path w="4801792" h="2244838">
                <a:moveTo>
                  <a:pt x="0" y="0"/>
                </a:moveTo>
                <a:lnTo>
                  <a:pt x="4801792" y="0"/>
                </a:lnTo>
                <a:lnTo>
                  <a:pt x="4801792" y="2244838"/>
                </a:lnTo>
                <a:lnTo>
                  <a:pt x="0" y="2244838"/>
                </a:lnTo>
                <a:lnTo>
                  <a:pt x="0" y="0"/>
                </a:lnTo>
                <a:close/>
              </a:path>
            </a:pathLst>
          </a:custGeom>
          <a:blipFill>
            <a:blip r:embed="rId4"/>
            <a:stretch>
              <a:fillRect l="-116355"/>
            </a:stretch>
          </a:blipFill>
        </p:spPr>
        <p:txBody>
          <a:bodyPr/>
          <a:lstStyle/>
          <a:p>
            <a:endParaRPr lang="en-AU"/>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8" name="TextBox 7">
            <a:extLst>
              <a:ext uri="{FF2B5EF4-FFF2-40B4-BE49-F238E27FC236}">
                <a16:creationId xmlns:a16="http://schemas.microsoft.com/office/drawing/2014/main" id="{C4C73939-5FD5-114F-215A-6F46973CB639}"/>
              </a:ext>
            </a:extLst>
          </p:cNvPr>
          <p:cNvSpPr txBox="1"/>
          <p:nvPr/>
        </p:nvSpPr>
        <p:spPr>
          <a:xfrm>
            <a:off x="2277979" y="5483189"/>
            <a:ext cx="8449289" cy="769441"/>
          </a:xfrm>
          <a:prstGeom prst="rect">
            <a:avLst/>
          </a:prstGeom>
          <a:noFill/>
        </p:spPr>
        <p:txBody>
          <a:bodyPr wrap="square">
            <a:spAutoFit/>
          </a:bodyPr>
          <a:lstStyle/>
          <a:p>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F006FC7B-B11E-A0AA-CD15-40D0C6E55A8A}"/>
              </a:ext>
            </a:extLst>
          </p:cNvPr>
          <p:cNvSpPr txBox="1">
            <a:spLocks/>
          </p:cNvSpPr>
          <p:nvPr/>
        </p:nvSpPr>
        <p:spPr>
          <a:xfrm>
            <a:off x="360001" y="1250891"/>
            <a:ext cx="11585976" cy="20596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a:latin typeface="Arial"/>
                <a:cs typeface="Arial"/>
              </a:rPr>
              <a:t>Draw</a:t>
            </a:r>
            <a:r>
              <a:rPr lang="en-AU" sz="4000">
                <a:latin typeface="Arial"/>
                <a:cs typeface="Arial"/>
              </a:rPr>
              <a:t> this </a:t>
            </a:r>
            <a:r>
              <a:rPr lang="en-AU" sz="4000" b="1">
                <a:latin typeface="Arial"/>
                <a:cs typeface="Arial"/>
              </a:rPr>
              <a:t>shape including the dot</a:t>
            </a:r>
            <a:r>
              <a:rPr lang="en-AU" sz="4000">
                <a:latin typeface="Arial"/>
                <a:cs typeface="Arial"/>
              </a:rPr>
              <a:t> after it has been:</a:t>
            </a:r>
          </a:p>
          <a:p>
            <a:pPr marL="742950" indent="-742950">
              <a:buFont typeface="+mj-lt"/>
              <a:buAutoNum type="alphaLcPeriod"/>
            </a:pPr>
            <a:r>
              <a:rPr lang="en-AU" sz="4000">
                <a:latin typeface="Arial"/>
                <a:cs typeface="Arial"/>
              </a:rPr>
              <a:t>translated</a:t>
            </a:r>
          </a:p>
          <a:p>
            <a:pPr marL="742950" indent="-742950">
              <a:buFont typeface="+mj-lt"/>
              <a:buAutoNum type="alphaLcPeriod"/>
            </a:pPr>
            <a:r>
              <a:rPr lang="en-AU" sz="4000">
                <a:latin typeface="Arial"/>
                <a:cs typeface="Arial"/>
              </a:rPr>
              <a:t>reflected </a:t>
            </a:r>
          </a:p>
          <a:p>
            <a:pPr marL="742950" indent="-742950">
              <a:buFont typeface="+mj-lt"/>
              <a:buAutoNum type="alphaLcPeriod"/>
            </a:pPr>
            <a:r>
              <a:rPr lang="en-AU" sz="4000">
                <a:latin typeface="Arial"/>
                <a:cs typeface="Arial"/>
              </a:rPr>
              <a:t>rotated.</a:t>
            </a:r>
            <a:endParaRPr lang="en-US" sz="4000"/>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5" name="Picture 4" descr="Red parallelogram with black dot in the bottom right corner.">
            <a:extLst>
              <a:ext uri="{FF2B5EF4-FFF2-40B4-BE49-F238E27FC236}">
                <a16:creationId xmlns:a16="http://schemas.microsoft.com/office/drawing/2014/main" id="{F66A7C97-B801-3D32-2766-BBD4940485B1}"/>
              </a:ext>
            </a:extLst>
          </p:cNvPr>
          <p:cNvPicPr>
            <a:picLocks noChangeAspect="1"/>
          </p:cNvPicPr>
          <p:nvPr/>
        </p:nvPicPr>
        <p:blipFill>
          <a:blip r:embed="rId4"/>
          <a:srcRect r="2950"/>
          <a:stretch>
            <a:fillRect/>
          </a:stretch>
        </p:blipFill>
        <p:spPr>
          <a:xfrm>
            <a:off x="5607206" y="3391218"/>
            <a:ext cx="5120062" cy="3106782"/>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t>Activity 5 – strategies for solving addition problems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2" name="TextBox 11">
            <a:extLst>
              <a:ext uri="{FF2B5EF4-FFF2-40B4-BE49-F238E27FC236}">
                <a16:creationId xmlns:a16="http://schemas.microsoft.com/office/drawing/2014/main" id="{AE0E7921-5BFF-9053-F0B7-A3C930DD0549}"/>
              </a:ext>
            </a:extLst>
          </p:cNvPr>
          <p:cNvSpPr txBox="1"/>
          <p:nvPr/>
        </p:nvSpPr>
        <p:spPr>
          <a:xfrm>
            <a:off x="1242455" y="1802313"/>
            <a:ext cx="2283503" cy="584775"/>
          </a:xfrm>
          <a:prstGeom prst="rect">
            <a:avLst/>
          </a:prstGeom>
          <a:noFill/>
        </p:spPr>
        <p:txBody>
          <a:bodyPr wrap="square">
            <a:spAutoFit/>
          </a:bodyPr>
          <a:lstStyle/>
          <a:p>
            <a:pPr algn="ctr"/>
            <a:r>
              <a:rPr lang="en-US" sz="3200" dirty="0">
                <a:solidFill>
                  <a:srgbClr val="000000"/>
                </a:solidFill>
                <a:latin typeface="Edu NSW ACT Foundation" panose="020B0604020202020204" charset="0"/>
                <a:ea typeface="Canva Student Font"/>
                <a:cs typeface="Canva Student Font"/>
                <a:sym typeface="Canva Student Font"/>
              </a:rPr>
              <a:t>52 + 79 + 135</a:t>
            </a:r>
            <a:endParaRPr lang="en-AU" sz="3200" dirty="0"/>
          </a:p>
        </p:txBody>
      </p:sp>
      <p:sp>
        <p:nvSpPr>
          <p:cNvPr id="13" name="TextBox 12">
            <a:extLst>
              <a:ext uri="{FF2B5EF4-FFF2-40B4-BE49-F238E27FC236}">
                <a16:creationId xmlns:a16="http://schemas.microsoft.com/office/drawing/2014/main" id="{58299990-257E-43B2-DF36-05B2FE9B4EBA}"/>
              </a:ext>
            </a:extLst>
          </p:cNvPr>
          <p:cNvSpPr txBox="1"/>
          <p:nvPr/>
        </p:nvSpPr>
        <p:spPr>
          <a:xfrm>
            <a:off x="4770581" y="1802313"/>
            <a:ext cx="2650838" cy="584775"/>
          </a:xfrm>
          <a:prstGeom prst="rect">
            <a:avLst/>
          </a:prstGeom>
          <a:noFill/>
        </p:spPr>
        <p:txBody>
          <a:bodyPr wrap="square">
            <a:spAutoFit/>
          </a:bodyPr>
          <a:lstStyle/>
          <a:p>
            <a:pPr algn="ctr"/>
            <a:r>
              <a:rPr lang="en-US" sz="3200" dirty="0">
                <a:solidFill>
                  <a:srgbClr val="000000"/>
                </a:solidFill>
                <a:latin typeface="Edu NSW ACT Foundation" panose="020B0604020202020204" charset="0"/>
                <a:ea typeface="Canva Student Font"/>
                <a:cs typeface="Canva Student Font"/>
                <a:sym typeface="Canva Student Font"/>
              </a:rPr>
              <a:t>162 + 258 + 575</a:t>
            </a:r>
            <a:endParaRPr lang="en-AU" sz="3200" dirty="0"/>
          </a:p>
        </p:txBody>
      </p:sp>
      <p:sp>
        <p:nvSpPr>
          <p:cNvPr id="14" name="TextBox 13">
            <a:extLst>
              <a:ext uri="{FF2B5EF4-FFF2-40B4-BE49-F238E27FC236}">
                <a16:creationId xmlns:a16="http://schemas.microsoft.com/office/drawing/2014/main" id="{F0CD7724-DEAA-1366-5E01-69F8E5A2332F}"/>
              </a:ext>
            </a:extLst>
          </p:cNvPr>
          <p:cNvSpPr txBox="1"/>
          <p:nvPr/>
        </p:nvSpPr>
        <p:spPr>
          <a:xfrm>
            <a:off x="8366487" y="1802313"/>
            <a:ext cx="2882615" cy="584775"/>
          </a:xfrm>
          <a:prstGeom prst="rect">
            <a:avLst/>
          </a:prstGeom>
          <a:noFill/>
        </p:spPr>
        <p:txBody>
          <a:bodyPr wrap="square">
            <a:spAutoFit/>
          </a:bodyPr>
          <a:lstStyle/>
          <a:p>
            <a:pPr algn="ctr"/>
            <a:r>
              <a:rPr lang="en-US" sz="3200" dirty="0">
                <a:solidFill>
                  <a:srgbClr val="000000"/>
                </a:solidFill>
                <a:latin typeface="Edu NSW ACT Foundation" panose="020B0604020202020204" charset="0"/>
                <a:ea typeface="Canva Student Font"/>
                <a:cs typeface="Canva Student Font"/>
                <a:sym typeface="Canva Student Font"/>
              </a:rPr>
              <a:t>807 + 648 + 1649</a:t>
            </a:r>
            <a:endParaRPr lang="en-AU" sz="3200" dirty="0"/>
          </a:p>
        </p:txBody>
      </p:sp>
      <p:sp>
        <p:nvSpPr>
          <p:cNvPr id="8" name="TextBox 2">
            <a:extLst>
              <a:ext uri="{FF2B5EF4-FFF2-40B4-BE49-F238E27FC236}">
                <a16:creationId xmlns:a16="http://schemas.microsoft.com/office/drawing/2014/main" id="{BF518986-38EE-8BF7-9256-C43A69EEE180}"/>
              </a:ext>
            </a:extLst>
          </p:cNvPr>
          <p:cNvSpPr txBox="1"/>
          <p:nvPr/>
        </p:nvSpPr>
        <p:spPr>
          <a:xfrm>
            <a:off x="1046937" y="3092143"/>
            <a:ext cx="10098126" cy="3255507"/>
          </a:xfrm>
          <a:prstGeom prst="rect">
            <a:avLst/>
          </a:prstGeom>
        </p:spPr>
        <p:txBody>
          <a:bodyPr wrap="square" lIns="0" tIns="0" rIns="0" bIns="0" rtlCol="0" anchor="t">
            <a:spAutoFit/>
          </a:bodyPr>
          <a:lstStyle/>
          <a:p>
            <a:pPr algn="l">
              <a:lnSpc>
                <a:spcPct val="150000"/>
              </a:lnSpc>
            </a:pPr>
            <a:r>
              <a:rPr lang="en-US" b="1" dirty="0">
                <a:solidFill>
                  <a:srgbClr val="000000"/>
                </a:solidFill>
                <a:latin typeface="Arial"/>
                <a:ea typeface="Canva Student Font"/>
                <a:cs typeface="Canva Student Font"/>
                <a:sym typeface="Canva Student Font"/>
              </a:rPr>
              <a:t>Choose one of these number sentences and represent it by completing the four tasks below:</a:t>
            </a:r>
            <a:endParaRPr lang="en-US" b="1" dirty="0">
              <a:solidFill>
                <a:srgbClr val="000000"/>
              </a:solidFill>
              <a:latin typeface="Arial"/>
              <a:ea typeface="Canva Student Font"/>
              <a:cs typeface="Canva Student Font"/>
            </a:endParaRPr>
          </a:p>
          <a:p>
            <a:pPr marL="529590" lvl="1" indent="-264795" algn="l">
              <a:lnSpc>
                <a:spcPct val="150000"/>
              </a:lnSpc>
              <a:buFont typeface="Arial"/>
              <a:buChar char="•"/>
            </a:pPr>
            <a:r>
              <a:rPr lang="en-US" dirty="0">
                <a:solidFill>
                  <a:srgbClr val="000000"/>
                </a:solidFill>
                <a:latin typeface="Arial"/>
                <a:ea typeface="Canva Student Font"/>
                <a:cs typeface="Canva Student Font"/>
                <a:sym typeface="Canva Student Font"/>
              </a:rPr>
              <a:t>Estimate a reasonable answer without calculating the exact amount.</a:t>
            </a:r>
            <a:endParaRPr lang="en-US" dirty="0">
              <a:solidFill>
                <a:srgbClr val="000000"/>
              </a:solidFill>
              <a:latin typeface="Arial"/>
              <a:ea typeface="Canva Student Font"/>
              <a:cs typeface="Canva Student Font"/>
            </a:endParaRPr>
          </a:p>
          <a:p>
            <a:pPr marL="529590" lvl="1" indent="-264795" algn="l">
              <a:lnSpc>
                <a:spcPct val="150000"/>
              </a:lnSpc>
              <a:buFont typeface="Arial"/>
              <a:buChar char="•"/>
            </a:pPr>
            <a:r>
              <a:rPr lang="en-US" dirty="0">
                <a:solidFill>
                  <a:srgbClr val="000000"/>
                </a:solidFill>
                <a:latin typeface="Arial"/>
                <a:ea typeface="Canva Student Font"/>
                <a:cs typeface="Canva Student Font"/>
                <a:sym typeface="Canva Student Font"/>
              </a:rPr>
              <a:t>Write a number story using the amounts.</a:t>
            </a:r>
            <a:endParaRPr lang="en-US" dirty="0">
              <a:solidFill>
                <a:srgbClr val="000000"/>
              </a:solidFill>
              <a:latin typeface="Arial"/>
              <a:ea typeface="Canva Student Font"/>
              <a:cs typeface="Canva Student Font"/>
            </a:endParaRPr>
          </a:p>
          <a:p>
            <a:pPr marL="529590" lvl="1" indent="-264795" algn="l">
              <a:lnSpc>
                <a:spcPct val="150000"/>
              </a:lnSpc>
              <a:buFont typeface="Arial"/>
              <a:buChar char="•"/>
            </a:pPr>
            <a:r>
              <a:rPr lang="en-US" dirty="0">
                <a:solidFill>
                  <a:srgbClr val="000000"/>
                </a:solidFill>
                <a:latin typeface="Arial"/>
                <a:ea typeface="Canva Student Font"/>
                <a:cs typeface="Canva Student Font"/>
                <a:sym typeface="Canva Student Font"/>
              </a:rPr>
              <a:t>Solve the problem using your preferred solution method.</a:t>
            </a:r>
            <a:endParaRPr lang="en-US" dirty="0">
              <a:solidFill>
                <a:srgbClr val="000000"/>
              </a:solidFill>
              <a:latin typeface="Arial"/>
              <a:ea typeface="Canva Student Font"/>
              <a:cs typeface="Canva Student Font"/>
            </a:endParaRPr>
          </a:p>
          <a:p>
            <a:pPr marL="529590" lvl="1" indent="-264795" algn="l">
              <a:lnSpc>
                <a:spcPct val="150000"/>
              </a:lnSpc>
              <a:buFont typeface="Arial"/>
              <a:buChar char="•"/>
            </a:pPr>
            <a:r>
              <a:rPr lang="en-US" dirty="0">
                <a:solidFill>
                  <a:srgbClr val="000000"/>
                </a:solidFill>
                <a:latin typeface="Arial"/>
                <a:ea typeface="Canva Student Font"/>
                <a:cs typeface="Canva Student Font"/>
                <a:sym typeface="Canva Student Font"/>
              </a:rPr>
              <a:t>Use a number line to check the accuracy of your solution.</a:t>
            </a:r>
            <a:endParaRPr lang="en-US" dirty="0">
              <a:solidFill>
                <a:srgbClr val="000000"/>
              </a:solidFill>
              <a:latin typeface="Arial"/>
              <a:ea typeface="Canva Student Font"/>
              <a:cs typeface="Canva Student Font"/>
            </a:endParaRPr>
          </a:p>
        </p:txBody>
      </p:sp>
      <p:sp>
        <p:nvSpPr>
          <p:cNvPr id="10" name="Freeform 10">
            <a:extLst>
              <a:ext uri="{FF2B5EF4-FFF2-40B4-BE49-F238E27FC236}">
                <a16:creationId xmlns:a16="http://schemas.microsoft.com/office/drawing/2014/main" id="{AE81C81E-96D4-CFA1-7865-52A3180BC56A}"/>
              </a:ext>
              <a:ext uri="{C183D7F6-B498-43B3-948B-1728B52AA6E4}">
                <adec:decorative xmlns:adec="http://schemas.microsoft.com/office/drawing/2017/decorative" val="1"/>
              </a:ext>
            </a:extLst>
          </p:cNvPr>
          <p:cNvSpPr/>
          <p:nvPr/>
        </p:nvSpPr>
        <p:spPr>
          <a:xfrm>
            <a:off x="8270396" y="1755454"/>
            <a:ext cx="3074796" cy="678492"/>
          </a:xfrm>
          <a:custGeom>
            <a:avLst/>
            <a:gdLst/>
            <a:ahLst/>
            <a:cxnLst/>
            <a:rect l="l" t="t" r="r" b="b"/>
            <a:pathLst>
              <a:path w="1101937" h="243156">
                <a:moveTo>
                  <a:pt x="0" y="0"/>
                </a:moveTo>
                <a:lnTo>
                  <a:pt x="1101937" y="0"/>
                </a:lnTo>
                <a:lnTo>
                  <a:pt x="1101937" y="243156"/>
                </a:lnTo>
                <a:lnTo>
                  <a:pt x="0" y="243156"/>
                </a:lnTo>
                <a:close/>
              </a:path>
            </a:pathLst>
          </a:custGeom>
          <a:solidFill>
            <a:srgbClr val="000000">
              <a:alpha val="0"/>
            </a:srgbClr>
          </a:solidFill>
          <a:ln w="38100" cap="sq">
            <a:solidFill>
              <a:srgbClr val="000000"/>
            </a:solidFill>
            <a:prstDash val="solid"/>
            <a:miter/>
          </a:ln>
        </p:spPr>
        <p:txBody>
          <a:bodyPr/>
          <a:lstStyle/>
          <a:p>
            <a:endParaRPr lang="en-AU" sz="1800">
              <a:latin typeface="Edu NSW ACT Foundation" panose="020B0604020202020204" charset="0"/>
            </a:endParaRPr>
          </a:p>
        </p:txBody>
      </p:sp>
      <p:sp>
        <p:nvSpPr>
          <p:cNvPr id="5" name="Freeform 10">
            <a:extLst>
              <a:ext uri="{FF2B5EF4-FFF2-40B4-BE49-F238E27FC236}">
                <a16:creationId xmlns:a16="http://schemas.microsoft.com/office/drawing/2014/main" id="{483CDAD5-4225-1CD1-53DA-B768157F11D9}"/>
              </a:ext>
              <a:ext uri="{C183D7F6-B498-43B3-948B-1728B52AA6E4}">
                <adec:decorative xmlns:adec="http://schemas.microsoft.com/office/drawing/2017/decorative" val="1"/>
              </a:ext>
            </a:extLst>
          </p:cNvPr>
          <p:cNvSpPr/>
          <p:nvPr/>
        </p:nvSpPr>
        <p:spPr>
          <a:xfrm>
            <a:off x="846808" y="1755454"/>
            <a:ext cx="3074796" cy="678492"/>
          </a:xfrm>
          <a:custGeom>
            <a:avLst/>
            <a:gdLst/>
            <a:ahLst/>
            <a:cxnLst/>
            <a:rect l="l" t="t" r="r" b="b"/>
            <a:pathLst>
              <a:path w="1101937" h="243156">
                <a:moveTo>
                  <a:pt x="0" y="0"/>
                </a:moveTo>
                <a:lnTo>
                  <a:pt x="1101937" y="0"/>
                </a:lnTo>
                <a:lnTo>
                  <a:pt x="1101937" y="243156"/>
                </a:lnTo>
                <a:lnTo>
                  <a:pt x="0" y="243156"/>
                </a:lnTo>
                <a:close/>
              </a:path>
            </a:pathLst>
          </a:custGeom>
          <a:solidFill>
            <a:srgbClr val="000000">
              <a:alpha val="0"/>
            </a:srgbClr>
          </a:solidFill>
          <a:ln w="38100" cap="sq">
            <a:solidFill>
              <a:srgbClr val="000000"/>
            </a:solidFill>
            <a:prstDash val="solid"/>
            <a:miter/>
          </a:ln>
        </p:spPr>
        <p:txBody>
          <a:bodyPr/>
          <a:lstStyle/>
          <a:p>
            <a:endParaRPr lang="en-AU" sz="1800">
              <a:latin typeface="Edu NSW ACT Foundation" panose="020B0604020202020204" charset="0"/>
            </a:endParaRPr>
          </a:p>
        </p:txBody>
      </p:sp>
      <p:sp>
        <p:nvSpPr>
          <p:cNvPr id="16" name="Freeform 10">
            <a:extLst>
              <a:ext uri="{FF2B5EF4-FFF2-40B4-BE49-F238E27FC236}">
                <a16:creationId xmlns:a16="http://schemas.microsoft.com/office/drawing/2014/main" id="{3F88C480-8E64-BB0D-076A-B1B8371EF594}"/>
              </a:ext>
              <a:ext uri="{C183D7F6-B498-43B3-948B-1728B52AA6E4}">
                <adec:decorative xmlns:adec="http://schemas.microsoft.com/office/drawing/2017/decorative" val="1"/>
              </a:ext>
            </a:extLst>
          </p:cNvPr>
          <p:cNvSpPr/>
          <p:nvPr/>
        </p:nvSpPr>
        <p:spPr>
          <a:xfrm>
            <a:off x="4558602" y="1755454"/>
            <a:ext cx="3074796" cy="678492"/>
          </a:xfrm>
          <a:custGeom>
            <a:avLst/>
            <a:gdLst/>
            <a:ahLst/>
            <a:cxnLst/>
            <a:rect l="l" t="t" r="r" b="b"/>
            <a:pathLst>
              <a:path w="1101937" h="243156">
                <a:moveTo>
                  <a:pt x="0" y="0"/>
                </a:moveTo>
                <a:lnTo>
                  <a:pt x="1101937" y="0"/>
                </a:lnTo>
                <a:lnTo>
                  <a:pt x="1101937" y="243156"/>
                </a:lnTo>
                <a:lnTo>
                  <a:pt x="0" y="243156"/>
                </a:lnTo>
                <a:close/>
              </a:path>
            </a:pathLst>
          </a:custGeom>
          <a:solidFill>
            <a:srgbClr val="000000">
              <a:alpha val="0"/>
            </a:srgbClr>
          </a:solidFill>
          <a:ln w="38100" cap="sq">
            <a:solidFill>
              <a:srgbClr val="000000"/>
            </a:solidFill>
            <a:prstDash val="solid"/>
            <a:miter/>
          </a:ln>
        </p:spPr>
        <p:txBody>
          <a:bodyPr/>
          <a:lstStyle/>
          <a:p>
            <a:endParaRPr lang="en-AU" sz="1800">
              <a:latin typeface="Edu NSW ACT Foundation" panose="020B0604020202020204" charset="0"/>
            </a:endParaRP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4" name="Text Placeholder 5">
            <a:extLst>
              <a:ext uri="{FF2B5EF4-FFF2-40B4-BE49-F238E27FC236}">
                <a16:creationId xmlns:a16="http://schemas.microsoft.com/office/drawing/2014/main" id="{3F9ACA79-EF1C-902D-50A6-23E692627246}"/>
              </a:ext>
            </a:extLst>
          </p:cNvPr>
          <p:cNvSpPr txBox="1">
            <a:spLocks/>
          </p:cNvSpPr>
          <p:nvPr/>
        </p:nvSpPr>
        <p:spPr>
          <a:xfrm>
            <a:off x="474480" y="1184019"/>
            <a:ext cx="11243037" cy="288219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A school collected 485 cans on Monday and 376 cans on Tuesday. They donated 214 cans to a food bank.</a:t>
            </a:r>
          </a:p>
        </p:txBody>
      </p:sp>
      <p:sp>
        <p:nvSpPr>
          <p:cNvPr id="15" name="Text Placeholder 5">
            <a:extLst>
              <a:ext uri="{FF2B5EF4-FFF2-40B4-BE49-F238E27FC236}">
                <a16:creationId xmlns:a16="http://schemas.microsoft.com/office/drawing/2014/main" id="{FB9C7D3B-2090-AA4B-24BE-35EF616EF96D}"/>
              </a:ext>
            </a:extLst>
          </p:cNvPr>
          <p:cNvSpPr txBox="1">
            <a:spLocks/>
          </p:cNvSpPr>
          <p:nvPr/>
        </p:nvSpPr>
        <p:spPr>
          <a:xfrm>
            <a:off x="899002" y="3320716"/>
            <a:ext cx="10165034" cy="157029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To find </a:t>
            </a:r>
            <a:r>
              <a:rPr lang="en-AU" sz="3600" b="1" dirty="0"/>
              <a:t>how many </a:t>
            </a:r>
            <a:r>
              <a:rPr lang="en-AU" sz="3600" dirty="0"/>
              <a:t>cans are </a:t>
            </a:r>
            <a:r>
              <a:rPr lang="en-AU" sz="3600" b="1" dirty="0"/>
              <a:t>left</a:t>
            </a:r>
            <a:r>
              <a:rPr lang="en-AU" sz="3600" dirty="0"/>
              <a:t>, you </a:t>
            </a:r>
            <a:r>
              <a:rPr lang="en-AU" sz="3600" b="1" dirty="0"/>
              <a:t>calculate</a:t>
            </a:r>
            <a:r>
              <a:rPr lang="en-AU" sz="3600" dirty="0"/>
              <a:t> 485 + 376 − 214.</a:t>
            </a:r>
          </a:p>
        </p:txBody>
      </p:sp>
      <p:graphicFrame>
        <p:nvGraphicFramePr>
          <p:cNvPr id="7" name="Table 6">
            <a:extLst>
              <a:ext uri="{FF2B5EF4-FFF2-40B4-BE49-F238E27FC236}">
                <a16:creationId xmlns:a16="http://schemas.microsoft.com/office/drawing/2014/main" id="{0AD09960-6307-6A0A-7369-C60449BE3990}"/>
              </a:ext>
            </a:extLst>
          </p:cNvPr>
          <p:cNvGraphicFramePr>
            <a:graphicFrameLocks noGrp="1"/>
          </p:cNvGraphicFramePr>
          <p:nvPr>
            <p:extLst>
              <p:ext uri="{D42A27DB-BD31-4B8C-83A1-F6EECF244321}">
                <p14:modId xmlns:p14="http://schemas.microsoft.com/office/powerpoint/2010/main" val="341026781"/>
              </p:ext>
            </p:extLst>
          </p:nvPr>
        </p:nvGraphicFramePr>
        <p:xfrm>
          <a:off x="2442981" y="584634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Picture Placeholder 10">
            <a:extLst>
              <a:ext uri="{FF2B5EF4-FFF2-40B4-BE49-F238E27FC236}">
                <a16:creationId xmlns:a16="http://schemas.microsoft.com/office/drawing/2014/main" id="{55579597-01BA-C8DF-7CC8-47AA07FEA1D1}"/>
              </a:ext>
            </a:extLst>
          </p:cNvPr>
          <p:cNvSpPr txBox="1">
            <a:spLocks/>
          </p:cNvSpPr>
          <p:nvPr/>
        </p:nvSpPr>
        <p:spPr>
          <a:xfrm>
            <a:off x="176178" y="1341988"/>
            <a:ext cx="5919822" cy="520094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Name each </a:t>
            </a:r>
            <a:r>
              <a:rPr lang="en-AU" sz="4400" b="1" dirty="0">
                <a:latin typeface="Arial"/>
                <a:cs typeface="Arial"/>
              </a:rPr>
              <a:t>type of angle </a:t>
            </a:r>
            <a:r>
              <a:rPr lang="en-AU" sz="4400" dirty="0">
                <a:latin typeface="Arial"/>
                <a:cs typeface="Arial"/>
              </a:rPr>
              <a:t>and give a </a:t>
            </a:r>
            <a:r>
              <a:rPr lang="en-AU" sz="4400" b="1" dirty="0">
                <a:latin typeface="Arial"/>
                <a:cs typeface="Arial"/>
              </a:rPr>
              <a:t>possible range of degrees </a:t>
            </a:r>
            <a:r>
              <a:rPr lang="en-AU" sz="4400" dirty="0">
                <a:latin typeface="Arial"/>
                <a:cs typeface="Arial"/>
              </a:rPr>
              <a:t>for each.</a:t>
            </a:r>
          </a:p>
        </p:txBody>
      </p:sp>
      <p:pic>
        <p:nvPicPr>
          <p:cNvPr id="7" name="Picture 6" descr="Three diagrams labelled A, B and C show arrows and angle markings.&#10;A shows a circle with a horizontal arrow pointing right from its centre.&#10;B shows two connected lines forming an angle, with one horizontal arrow to the right and one slanted upward.&#10;C shows two connected lines with arrows, one pointing right and one pointing down-left, with a curved angle marking at the vertex.">
            <a:extLst>
              <a:ext uri="{FF2B5EF4-FFF2-40B4-BE49-F238E27FC236}">
                <a16:creationId xmlns:a16="http://schemas.microsoft.com/office/drawing/2014/main" id="{6B3E60C0-0EB1-FA04-26F2-E942CFCD991C}"/>
              </a:ext>
            </a:extLst>
          </p:cNvPr>
          <p:cNvPicPr>
            <a:picLocks noChangeAspect="1"/>
          </p:cNvPicPr>
          <p:nvPr/>
        </p:nvPicPr>
        <p:blipFill>
          <a:blip r:embed="rId4"/>
          <a:srcRect l="9999" r="6020"/>
          <a:stretch>
            <a:fillRect/>
          </a:stretch>
        </p:blipFill>
        <p:spPr>
          <a:xfrm>
            <a:off x="6697667" y="360000"/>
            <a:ext cx="4029601" cy="6481692"/>
          </a:xfrm>
          <a:prstGeom prst="rect">
            <a:avLst/>
          </a:prstGeom>
          <a:ln>
            <a:noFill/>
          </a:ln>
          <a:effectLst/>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Picture Placeholder 10">
            <a:extLst>
              <a:ext uri="{FF2B5EF4-FFF2-40B4-BE49-F238E27FC236}">
                <a16:creationId xmlns:a16="http://schemas.microsoft.com/office/drawing/2014/main" id="{451A59DD-C2ED-832B-9106-8E70A2068A2C}"/>
              </a:ext>
            </a:extLst>
          </p:cNvPr>
          <p:cNvSpPr txBox="1">
            <a:spLocks/>
          </p:cNvSpPr>
          <p:nvPr/>
        </p:nvSpPr>
        <p:spPr>
          <a:xfrm>
            <a:off x="360000" y="1060971"/>
            <a:ext cx="11484000" cy="103634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a:t>
            </a:r>
            <a:r>
              <a:rPr lang="en-US" sz="4400" b="1">
                <a:latin typeface="Arial"/>
                <a:cs typeface="Arial"/>
              </a:rPr>
              <a:t> </a:t>
            </a:r>
            <a:r>
              <a:rPr lang="en-US" sz="4400">
                <a:latin typeface="Arial"/>
                <a:cs typeface="Arial"/>
              </a:rPr>
              <a:t>these </a:t>
            </a:r>
            <a:r>
              <a:rPr lang="en-US" sz="4400" b="1">
                <a:latin typeface="Arial"/>
                <a:cs typeface="Arial"/>
              </a:rPr>
              <a:t>capacities </a:t>
            </a:r>
            <a:r>
              <a:rPr lang="en-US" sz="4400">
                <a:latin typeface="Arial"/>
                <a:cs typeface="Arial"/>
              </a:rPr>
              <a:t>in another way</a:t>
            </a:r>
            <a:r>
              <a:rPr lang="en-US" sz="4400" dirty="0">
                <a:latin typeface="Arial"/>
                <a:cs typeface="Arial"/>
              </a:rPr>
              <a:t>.</a:t>
            </a:r>
            <a:r>
              <a:rPr lang="en-US" sz="4400">
                <a:latin typeface="Arial"/>
                <a:cs typeface="Arial"/>
              </a:rPr>
              <a:t> How can these capacities be recorded… what is another way you can record these capacities. </a:t>
            </a:r>
            <a:endParaRPr lang="en-US" sz="4400" dirty="0"/>
          </a:p>
        </p:txBody>
      </p:sp>
      <p:sp>
        <p:nvSpPr>
          <p:cNvPr id="8" name="Picture Placeholder 10">
            <a:extLst>
              <a:ext uri="{FF2B5EF4-FFF2-40B4-BE49-F238E27FC236}">
                <a16:creationId xmlns:a16="http://schemas.microsoft.com/office/drawing/2014/main" id="{C3629B94-BC02-D81B-4C9E-5A09F286E4C7}"/>
              </a:ext>
            </a:extLst>
          </p:cNvPr>
          <p:cNvSpPr txBox="1">
            <a:spLocks/>
          </p:cNvSpPr>
          <p:nvPr/>
        </p:nvSpPr>
        <p:spPr>
          <a:xfrm>
            <a:off x="1028268" y="2309717"/>
            <a:ext cx="10135463" cy="38530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914400" algn="ctr">
              <a:buFont typeface="+mj-lt"/>
              <a:buAutoNum type="alphaLcParenR"/>
            </a:pPr>
            <a:r>
              <a:rPr lang="en-US" sz="5400" dirty="0">
                <a:latin typeface="Arial"/>
                <a:cs typeface="Arial"/>
              </a:rPr>
              <a:t>1.5 L</a:t>
            </a:r>
            <a:endParaRPr lang="en-US" sz="5400">
              <a:latin typeface="Arial"/>
              <a:cs typeface="Arial"/>
            </a:endParaRPr>
          </a:p>
          <a:p>
            <a:pPr marL="914400" indent="-914400" algn="ctr">
              <a:buFont typeface="+mj-lt"/>
              <a:buAutoNum type="alphaLcParenR"/>
            </a:pPr>
            <a:r>
              <a:rPr lang="en-US" sz="5400" dirty="0">
                <a:latin typeface="Arial"/>
                <a:cs typeface="Arial"/>
              </a:rPr>
              <a:t>0.75 L</a:t>
            </a:r>
            <a:endParaRPr lang="en-US" sz="5400">
              <a:latin typeface="Arial"/>
              <a:cs typeface="Arial"/>
            </a:endParaRPr>
          </a:p>
          <a:p>
            <a:pPr marL="914400" indent="-914400" algn="ctr">
              <a:buFont typeface="+mj-lt"/>
              <a:buAutoNum type="alphaLcParenR"/>
            </a:pPr>
            <a:r>
              <a:rPr lang="en-US" sz="5400" dirty="0">
                <a:latin typeface="Arial"/>
                <a:cs typeface="Arial"/>
              </a:rPr>
              <a:t>1250 mL</a:t>
            </a:r>
            <a:endParaRPr lang="en-US" sz="5400"/>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CAFBFFC-3276-33BE-42D4-1BB8B175D163}"/>
              </a:ext>
            </a:extLst>
          </p:cNvPr>
          <p:cNvSpPr txBox="1"/>
          <p:nvPr/>
        </p:nvSpPr>
        <p:spPr>
          <a:xfrm>
            <a:off x="129896" y="3122334"/>
            <a:ext cx="11932208" cy="767825"/>
          </a:xfrm>
          <a:prstGeom prst="rect">
            <a:avLst/>
          </a:prstGeom>
          <a:noFill/>
        </p:spPr>
        <p:txBody>
          <a:bodyPr wrap="square" lIns="0" tIns="0" rIns="0" bIns="0" rtlCol="0">
            <a:noAutofit/>
          </a:bodyPr>
          <a:lstStyle/>
          <a:p>
            <a:pPr algn="ctr">
              <a:lnSpc>
                <a:spcPct val="150000"/>
              </a:lnSpc>
            </a:pPr>
            <a:r>
              <a:rPr lang="en-AU" sz="3600"/>
              <a:t>Record the </a:t>
            </a:r>
            <a:r>
              <a:rPr lang="en-AU" sz="3600" b="1"/>
              <a:t>probability</a:t>
            </a:r>
            <a:r>
              <a:rPr lang="en-AU" sz="3600"/>
              <a:t> of each outcome using a </a:t>
            </a:r>
            <a:r>
              <a:rPr lang="en-AU" sz="3600" b="1"/>
              <a:t>fraction</a:t>
            </a:r>
            <a:r>
              <a:rPr lang="en-AU" sz="3600"/>
              <a:t>.</a:t>
            </a:r>
          </a:p>
        </p:txBody>
      </p:sp>
      <p:grpSp>
        <p:nvGrpSpPr>
          <p:cNvPr id="16" name="Group 15" descr="8 coloured balls - 2 red, 3 purple, 2 blue and 1 yellow.">
            <a:extLst>
              <a:ext uri="{FF2B5EF4-FFF2-40B4-BE49-F238E27FC236}">
                <a16:creationId xmlns:a16="http://schemas.microsoft.com/office/drawing/2014/main" id="{C2616CBB-3A96-1372-CECE-0FC97C32F243}"/>
              </a:ext>
            </a:extLst>
          </p:cNvPr>
          <p:cNvGrpSpPr/>
          <p:nvPr/>
        </p:nvGrpSpPr>
        <p:grpSpPr>
          <a:xfrm>
            <a:off x="1406172" y="4353467"/>
            <a:ext cx="9379656" cy="2144533"/>
            <a:chOff x="1650820" y="4592913"/>
            <a:chExt cx="9379656" cy="2144533"/>
          </a:xfrm>
        </p:grpSpPr>
        <p:sp>
          <p:nvSpPr>
            <p:cNvPr id="7" name="Freeform 2" descr="Red ball">
              <a:extLst>
                <a:ext uri="{FF2B5EF4-FFF2-40B4-BE49-F238E27FC236}">
                  <a16:creationId xmlns:a16="http://schemas.microsoft.com/office/drawing/2014/main" id="{FDE8C6E6-71B1-2AEF-282B-FDC9C7CD2D22}"/>
                </a:ext>
              </a:extLst>
            </p:cNvPr>
            <p:cNvSpPr/>
            <p:nvPr/>
          </p:nvSpPr>
          <p:spPr>
            <a:xfrm>
              <a:off x="1650820" y="4985800"/>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1" name="Freeform 2" descr="Red ball">
              <a:extLst>
                <a:ext uri="{FF2B5EF4-FFF2-40B4-BE49-F238E27FC236}">
                  <a16:creationId xmlns:a16="http://schemas.microsoft.com/office/drawing/2014/main" id="{BB269AAB-EF5D-4EF5-3397-1A51937EB508}"/>
                </a:ext>
              </a:extLst>
            </p:cNvPr>
            <p:cNvSpPr/>
            <p:nvPr/>
          </p:nvSpPr>
          <p:spPr>
            <a:xfrm>
              <a:off x="2833547" y="5739264"/>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3" descr="Purple ball">
              <a:extLst>
                <a:ext uri="{FF2B5EF4-FFF2-40B4-BE49-F238E27FC236}">
                  <a16:creationId xmlns:a16="http://schemas.microsoft.com/office/drawing/2014/main" id="{BE503858-976F-A64D-17A1-11D997AF3E7E}"/>
                </a:ext>
              </a:extLst>
            </p:cNvPr>
            <p:cNvSpPr/>
            <p:nvPr/>
          </p:nvSpPr>
          <p:spPr>
            <a:xfrm>
              <a:off x="5084824" y="5591095"/>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Freeform 3" descr="Purple ball">
              <a:extLst>
                <a:ext uri="{FF2B5EF4-FFF2-40B4-BE49-F238E27FC236}">
                  <a16:creationId xmlns:a16="http://schemas.microsoft.com/office/drawing/2014/main" id="{7518FA63-7A47-4ADB-071C-AA32202C2126}"/>
                </a:ext>
              </a:extLst>
            </p:cNvPr>
            <p:cNvSpPr/>
            <p:nvPr/>
          </p:nvSpPr>
          <p:spPr>
            <a:xfrm>
              <a:off x="3926336" y="4794868"/>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dirty="0"/>
            </a:p>
          </p:txBody>
        </p:sp>
        <p:sp>
          <p:nvSpPr>
            <p:cNvPr id="13" name="Freeform 3" descr="Purple ball">
              <a:extLst>
                <a:ext uri="{FF2B5EF4-FFF2-40B4-BE49-F238E27FC236}">
                  <a16:creationId xmlns:a16="http://schemas.microsoft.com/office/drawing/2014/main" id="{2A4A5E0A-E384-86FE-B321-D069FCC3EFB6}"/>
                </a:ext>
              </a:extLst>
            </p:cNvPr>
            <p:cNvSpPr/>
            <p:nvPr/>
          </p:nvSpPr>
          <p:spPr>
            <a:xfrm>
              <a:off x="6446186" y="5739264"/>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9" name="Freeform 4" descr="Blue ball">
              <a:extLst>
                <a:ext uri="{FF2B5EF4-FFF2-40B4-BE49-F238E27FC236}">
                  <a16:creationId xmlns:a16="http://schemas.microsoft.com/office/drawing/2014/main" id="{44CE1B57-63C0-EF07-A8FA-2C9E8BF17348}"/>
                </a:ext>
              </a:extLst>
            </p:cNvPr>
            <p:cNvSpPr/>
            <p:nvPr/>
          </p:nvSpPr>
          <p:spPr>
            <a:xfrm>
              <a:off x="7489961" y="4733248"/>
              <a:ext cx="998182" cy="998182"/>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4" name="Freeform 4" descr="Blue ball">
              <a:extLst>
                <a:ext uri="{FF2B5EF4-FFF2-40B4-BE49-F238E27FC236}">
                  <a16:creationId xmlns:a16="http://schemas.microsoft.com/office/drawing/2014/main" id="{2681E60E-84D1-BCFD-72FB-63334F4AF0F3}"/>
                </a:ext>
              </a:extLst>
            </p:cNvPr>
            <p:cNvSpPr/>
            <p:nvPr/>
          </p:nvSpPr>
          <p:spPr>
            <a:xfrm>
              <a:off x="9060643" y="5591095"/>
              <a:ext cx="998182" cy="998182"/>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0" name="Freeform 5" descr="Yellow ball">
              <a:extLst>
                <a:ext uri="{FF2B5EF4-FFF2-40B4-BE49-F238E27FC236}">
                  <a16:creationId xmlns:a16="http://schemas.microsoft.com/office/drawing/2014/main" id="{6885021B-9095-20AB-19C2-3DB4FB77A323}"/>
                </a:ext>
              </a:extLst>
            </p:cNvPr>
            <p:cNvSpPr/>
            <p:nvPr/>
          </p:nvSpPr>
          <p:spPr>
            <a:xfrm>
              <a:off x="10032294" y="4592913"/>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gr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15" name="TextBox 14">
            <a:extLst>
              <a:ext uri="{FF2B5EF4-FFF2-40B4-BE49-F238E27FC236}">
                <a16:creationId xmlns:a16="http://schemas.microsoft.com/office/drawing/2014/main" id="{31B368C1-8511-BCFA-A7DD-CE9A9A088F6B}"/>
              </a:ext>
            </a:extLst>
          </p:cNvPr>
          <p:cNvSpPr txBox="1"/>
          <p:nvPr/>
        </p:nvSpPr>
        <p:spPr>
          <a:xfrm>
            <a:off x="2543100" y="1014081"/>
            <a:ext cx="7105800" cy="2028167"/>
          </a:xfrm>
          <a:prstGeom prst="rect">
            <a:avLst/>
          </a:prstGeom>
          <a:noFill/>
        </p:spPr>
        <p:txBody>
          <a:bodyPr wrap="square" lIns="0" tIns="0" rIns="0" bIns="0" rtlCol="0">
            <a:noAutofit/>
          </a:bodyPr>
          <a:lstStyle/>
          <a:p>
            <a:pPr algn="ctr">
              <a:lnSpc>
                <a:spcPct val="150000"/>
              </a:lnSpc>
            </a:pPr>
            <a:r>
              <a:rPr lang="en-AU" sz="3600" b="1"/>
              <a:t>Eight balls </a:t>
            </a:r>
            <a:r>
              <a:rPr lang="en-AU" sz="3600"/>
              <a:t>are placed in a bag. </a:t>
            </a:r>
            <a:r>
              <a:rPr lang="en-AU" sz="3600" b="1"/>
              <a:t>One ball </a:t>
            </a:r>
            <a:r>
              <a:rPr lang="en-AU" sz="3600"/>
              <a:t>is selected from the bag.</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54C593F8-2EE8-096E-98DC-75299F110EE0}"/>
              </a:ext>
            </a:extLst>
          </p:cNvPr>
          <p:cNvSpPr txBox="1">
            <a:spLocks/>
          </p:cNvSpPr>
          <p:nvPr/>
        </p:nvSpPr>
        <p:spPr>
          <a:xfrm>
            <a:off x="242917" y="1184223"/>
            <a:ext cx="5300717" cy="301439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latin typeface="Arial"/>
                <a:cs typeface="Arial"/>
              </a:rPr>
              <a:t>Match </a:t>
            </a:r>
            <a:r>
              <a:rPr lang="en-AU" sz="4400" dirty="0">
                <a:latin typeface="Arial"/>
                <a:cs typeface="Arial"/>
              </a:rPr>
              <a:t>each </a:t>
            </a:r>
            <a:r>
              <a:rPr lang="en-AU" sz="4400" b="1" dirty="0">
                <a:latin typeface="Arial"/>
                <a:cs typeface="Arial"/>
              </a:rPr>
              <a:t>transformation </a:t>
            </a:r>
            <a:r>
              <a:rPr lang="en-AU" sz="4400" dirty="0">
                <a:latin typeface="Arial"/>
                <a:cs typeface="Arial"/>
              </a:rPr>
              <a:t>to the </a:t>
            </a:r>
            <a:r>
              <a:rPr lang="en-AU" sz="4400" b="1" dirty="0">
                <a:latin typeface="Arial"/>
                <a:cs typeface="Arial"/>
              </a:rPr>
              <a:t>correct term.</a:t>
            </a:r>
            <a:endParaRPr lang="en-US" sz="4400" dirty="0"/>
          </a:p>
        </p:txBody>
      </p:sp>
      <p:sp>
        <p:nvSpPr>
          <p:cNvPr id="9" name="Picture Placeholder 10">
            <a:extLst>
              <a:ext uri="{FF2B5EF4-FFF2-40B4-BE49-F238E27FC236}">
                <a16:creationId xmlns:a16="http://schemas.microsoft.com/office/drawing/2014/main" id="{FCBE1115-607E-37F5-48D1-FAB12AEBC458}"/>
              </a:ext>
            </a:extLst>
          </p:cNvPr>
          <p:cNvSpPr txBox="1">
            <a:spLocks/>
          </p:cNvSpPr>
          <p:nvPr/>
        </p:nvSpPr>
        <p:spPr>
          <a:xfrm>
            <a:off x="0" y="4284454"/>
            <a:ext cx="3487007" cy="86867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solidFill>
                  <a:schemeClr val="accent2"/>
                </a:solidFill>
                <a:latin typeface="Arial"/>
                <a:cs typeface="Arial"/>
              </a:rPr>
              <a:t>translate</a:t>
            </a:r>
            <a:endParaRPr lang="en-US" sz="4400" dirty="0">
              <a:solidFill>
                <a:schemeClr val="accent2"/>
              </a:solidFill>
            </a:endParaRPr>
          </a:p>
        </p:txBody>
      </p:sp>
      <p:sp>
        <p:nvSpPr>
          <p:cNvPr id="10" name="Picture Placeholder 10">
            <a:extLst>
              <a:ext uri="{FF2B5EF4-FFF2-40B4-BE49-F238E27FC236}">
                <a16:creationId xmlns:a16="http://schemas.microsoft.com/office/drawing/2014/main" id="{03CF81A7-6796-8101-3AB1-70206D6CBE52}"/>
              </a:ext>
            </a:extLst>
          </p:cNvPr>
          <p:cNvSpPr txBox="1">
            <a:spLocks/>
          </p:cNvSpPr>
          <p:nvPr/>
        </p:nvSpPr>
        <p:spPr>
          <a:xfrm>
            <a:off x="2608993" y="4259797"/>
            <a:ext cx="3487007" cy="86867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solidFill>
                  <a:schemeClr val="accent2"/>
                </a:solidFill>
                <a:latin typeface="Arial"/>
                <a:cs typeface="Arial"/>
              </a:rPr>
              <a:t>reflect</a:t>
            </a:r>
            <a:endParaRPr lang="en-US" sz="4400" dirty="0">
              <a:solidFill>
                <a:schemeClr val="accent2"/>
              </a:solidFill>
            </a:endParaRPr>
          </a:p>
        </p:txBody>
      </p:sp>
      <p:sp>
        <p:nvSpPr>
          <p:cNvPr id="11" name="Picture Placeholder 10">
            <a:extLst>
              <a:ext uri="{FF2B5EF4-FFF2-40B4-BE49-F238E27FC236}">
                <a16:creationId xmlns:a16="http://schemas.microsoft.com/office/drawing/2014/main" id="{4306C39B-4498-BA99-A2FD-115D8D2EB554}"/>
              </a:ext>
            </a:extLst>
          </p:cNvPr>
          <p:cNvSpPr txBox="1">
            <a:spLocks/>
          </p:cNvSpPr>
          <p:nvPr/>
        </p:nvSpPr>
        <p:spPr>
          <a:xfrm>
            <a:off x="1317587" y="5300043"/>
            <a:ext cx="3487007" cy="86867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solidFill>
                  <a:schemeClr val="accent2"/>
                </a:solidFill>
                <a:latin typeface="Arial"/>
                <a:cs typeface="Arial"/>
              </a:rPr>
              <a:t>rotate</a:t>
            </a:r>
            <a:endParaRPr lang="en-US" sz="4400" dirty="0">
              <a:solidFill>
                <a:schemeClr val="accent2"/>
              </a:solidFill>
            </a:endParaRPr>
          </a:p>
        </p:txBody>
      </p:sp>
      <p:pic>
        <p:nvPicPr>
          <p:cNvPr id="8" name="Picture 7" descr="A table compares original and transformed shapes in three rows labelled A, B and C. Each row shows the same shape before and after a change, with a small black dot marking a point on each shape in both columns.">
            <a:extLst>
              <a:ext uri="{FF2B5EF4-FFF2-40B4-BE49-F238E27FC236}">
                <a16:creationId xmlns:a16="http://schemas.microsoft.com/office/drawing/2014/main" id="{C117362F-2AD1-B874-27EC-A5F557C983F7}"/>
              </a:ext>
            </a:extLst>
          </p:cNvPr>
          <p:cNvPicPr>
            <a:picLocks noChangeAspect="1"/>
          </p:cNvPicPr>
          <p:nvPr/>
        </p:nvPicPr>
        <p:blipFill>
          <a:blip r:embed="rId4"/>
          <a:stretch>
            <a:fillRect/>
          </a:stretch>
        </p:blipFill>
        <p:spPr>
          <a:xfrm>
            <a:off x="5767908" y="1359933"/>
            <a:ext cx="5716092" cy="498035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118921"/>
            <a:ext cx="10367268" cy="1100310"/>
          </a:xfrm>
        </p:spPr>
        <p:txBody>
          <a:bodyPr/>
          <a:lstStyle/>
          <a:p>
            <a:pPr>
              <a:lnSpc>
                <a:spcPct val="150000"/>
              </a:lnSpc>
            </a:pPr>
            <a:r>
              <a:rPr lang="en-AU" dirty="0"/>
              <a:t>Activity 6 – addition and subtraction problems that require more than one operation</a:t>
            </a:r>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C775D448-8E84-8D61-C1C6-BDFDCDFDE7C9}"/>
              </a:ext>
            </a:extLst>
          </p:cNvPr>
          <p:cNvGraphicFramePr>
            <a:graphicFrameLocks noGrp="1"/>
          </p:cNvGraphicFramePr>
          <p:nvPr>
            <p:extLst>
              <p:ext uri="{D42A27DB-BD31-4B8C-83A1-F6EECF244321}">
                <p14:modId xmlns:p14="http://schemas.microsoft.com/office/powerpoint/2010/main" val="1882105659"/>
              </p:ext>
            </p:extLst>
          </p:nvPr>
        </p:nvGraphicFramePr>
        <p:xfrm>
          <a:off x="595532" y="1920403"/>
          <a:ext cx="11000936" cy="4595597"/>
        </p:xfrm>
        <a:graphic>
          <a:graphicData uri="http://schemas.openxmlformats.org/drawingml/2006/table">
            <a:tbl>
              <a:tblPr firstRow="1" firstCol="1" bandRow="1">
                <a:tableStyleId>{69012ECD-51FC-41F1-AA8D-1B2483CD663E}</a:tableStyleId>
              </a:tblPr>
              <a:tblGrid>
                <a:gridCol w="4792394">
                  <a:extLst>
                    <a:ext uri="{9D8B030D-6E8A-4147-A177-3AD203B41FA5}">
                      <a16:colId xmlns:a16="http://schemas.microsoft.com/office/drawing/2014/main" val="3297865130"/>
                    </a:ext>
                  </a:extLst>
                </a:gridCol>
                <a:gridCol w="6208542">
                  <a:extLst>
                    <a:ext uri="{9D8B030D-6E8A-4147-A177-3AD203B41FA5}">
                      <a16:colId xmlns:a16="http://schemas.microsoft.com/office/drawing/2014/main" val="3177744741"/>
                    </a:ext>
                  </a:extLst>
                </a:gridCol>
              </a:tblGrid>
              <a:tr h="459560">
                <a:tc>
                  <a:txBody>
                    <a:bodyPr/>
                    <a:lstStyle/>
                    <a:p>
                      <a:pPr>
                        <a:lnSpc>
                          <a:spcPct val="150000"/>
                        </a:lnSpc>
                        <a:spcBef>
                          <a:spcPts val="1200"/>
                        </a:spcBef>
                        <a:spcAft>
                          <a:spcPts val="600"/>
                        </a:spcAft>
                        <a:buNone/>
                      </a:pPr>
                      <a:r>
                        <a:rPr lang="en-AU" sz="2000" dirty="0">
                          <a:effectLst/>
                        </a:rPr>
                        <a:t>Word problems</a:t>
                      </a:r>
                      <a:endParaRPr lang="en-AU" sz="200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dirty="0">
                          <a:effectLst/>
                        </a:rPr>
                        <a:t>Working out</a:t>
                      </a:r>
                      <a:endParaRPr lang="en-AU" sz="200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942818"/>
                  </a:ext>
                </a:extLst>
              </a:tr>
              <a:tr h="1378679">
                <a:tc>
                  <a:txBody>
                    <a:bodyPr/>
                    <a:lstStyle/>
                    <a:p>
                      <a:pPr>
                        <a:lnSpc>
                          <a:spcPct val="150000"/>
                        </a:lnSpc>
                        <a:spcBef>
                          <a:spcPts val="1200"/>
                        </a:spcBef>
                        <a:spcAft>
                          <a:spcPts val="600"/>
                        </a:spcAft>
                        <a:buNone/>
                      </a:pPr>
                      <a:r>
                        <a:rPr lang="en-AU" sz="1400" b="0" dirty="0">
                          <a:effectLst/>
                        </a:rPr>
                        <a:t>Year 6 donated 123 cans of food to the food drive. Year 5 donated 53 more cans of food than Year 6. Year 4 donated 23 less cans than year 6. How many cans did they donate altogether?</a:t>
                      </a:r>
                      <a:endParaRPr lang="en-AU" sz="1400" b="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700" dirty="0">
                          <a:effectLst/>
                        </a:rPr>
                        <a:t> </a:t>
                      </a:r>
                      <a:endParaRPr lang="en-AU" sz="70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6402222"/>
                  </a:ext>
                </a:extLst>
              </a:tr>
              <a:tr h="1378679">
                <a:tc>
                  <a:txBody>
                    <a:bodyPr/>
                    <a:lstStyle/>
                    <a:p>
                      <a:pPr>
                        <a:lnSpc>
                          <a:spcPct val="150000"/>
                        </a:lnSpc>
                        <a:spcBef>
                          <a:spcPts val="1200"/>
                        </a:spcBef>
                        <a:spcAft>
                          <a:spcPts val="600"/>
                        </a:spcAft>
                        <a:buNone/>
                      </a:pPr>
                      <a:r>
                        <a:rPr lang="en-AU" sz="1400" b="0" dirty="0">
                          <a:effectLst/>
                        </a:rPr>
                        <a:t>Rod wanted to be a photographer. He took 237 photos of nature and 369 of buildings. He added 419 to his portfolio. How many did he not add to his portfolio?</a:t>
                      </a:r>
                      <a:endParaRPr lang="en-AU" sz="1400" b="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700" dirty="0">
                          <a:effectLst/>
                        </a:rPr>
                        <a:t> </a:t>
                      </a:r>
                      <a:endParaRPr lang="en-AU" sz="70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686692"/>
                  </a:ext>
                </a:extLst>
              </a:tr>
              <a:tr h="1378679">
                <a:tc>
                  <a:txBody>
                    <a:bodyPr/>
                    <a:lstStyle/>
                    <a:p>
                      <a:pPr>
                        <a:lnSpc>
                          <a:spcPct val="150000"/>
                        </a:lnSpc>
                        <a:spcBef>
                          <a:spcPts val="1200"/>
                        </a:spcBef>
                        <a:spcAft>
                          <a:spcPts val="600"/>
                        </a:spcAft>
                        <a:buNone/>
                      </a:pPr>
                      <a:r>
                        <a:rPr lang="en-AU" sz="1400" b="0" dirty="0">
                          <a:effectLst/>
                        </a:rPr>
                        <a:t>Carolyn has 216 points in darts. On her next throw she scores 180. How many more points does she need to reach 500 points?</a:t>
                      </a:r>
                      <a:endParaRPr lang="en-AU" sz="1400" b="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700" dirty="0">
                          <a:effectLst/>
                        </a:rPr>
                        <a:t> </a:t>
                      </a:r>
                      <a:endParaRPr lang="en-AU" sz="700" dirty="0">
                        <a:effectLst/>
                        <a:latin typeface="Arial" panose="020B0604020202020204" pitchFamily="34" charset="0"/>
                        <a:ea typeface="Calibri" panose="020F0502020204030204" pitchFamily="34" charset="0"/>
                        <a:cs typeface="Cordia New" panose="020B0304020202020204" pitchFamily="34" charset="-34"/>
                      </a:endParaRPr>
                    </a:p>
                  </a:txBody>
                  <a:tcPr marL="51416" marR="5141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2857897"/>
                  </a:ext>
                </a:extLst>
              </a:tr>
            </a:tbl>
          </a:graphicData>
        </a:graphic>
      </p:graphicFrame>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29" name="B">
            <a:extLst>
              <a:ext uri="{FF2B5EF4-FFF2-40B4-BE49-F238E27FC236}">
                <a16:creationId xmlns:a16="http://schemas.microsoft.com/office/drawing/2014/main" id="{77C4D8D2-FD2A-9CCC-6211-CEC23EE0274B}"/>
              </a:ext>
            </a:extLst>
          </p:cNvPr>
          <p:cNvSpPr txBox="1"/>
          <p:nvPr/>
        </p:nvSpPr>
        <p:spPr>
          <a:xfrm>
            <a:off x="669603" y="3814426"/>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a:t>A</a:t>
            </a:r>
          </a:p>
        </p:txBody>
      </p:sp>
      <p:sp>
        <p:nvSpPr>
          <p:cNvPr id="30" name="A text">
            <a:extLst>
              <a:ext uri="{FF2B5EF4-FFF2-40B4-BE49-F238E27FC236}">
                <a16:creationId xmlns:a16="http://schemas.microsoft.com/office/drawing/2014/main" id="{C799E960-50BE-61FE-675E-A5833ECC346A}"/>
              </a:ext>
            </a:extLst>
          </p:cNvPr>
          <p:cNvSpPr txBox="1">
            <a:spLocks/>
          </p:cNvSpPr>
          <p:nvPr/>
        </p:nvSpPr>
        <p:spPr>
          <a:xfrm>
            <a:off x="1344563" y="3832282"/>
            <a:ext cx="6547017"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a:t>Ava's strategy is more efficient</a:t>
            </a:r>
            <a:endParaRPr lang="en-US" sz="2800"/>
          </a:p>
        </p:txBody>
      </p:sp>
      <p:sp>
        <p:nvSpPr>
          <p:cNvPr id="31" name="B">
            <a:extLst>
              <a:ext uri="{FF2B5EF4-FFF2-40B4-BE49-F238E27FC236}">
                <a16:creationId xmlns:a16="http://schemas.microsoft.com/office/drawing/2014/main" id="{5E8D4403-4FF7-A379-241B-074133EBD724}"/>
              </a:ext>
            </a:extLst>
          </p:cNvPr>
          <p:cNvSpPr txBox="1"/>
          <p:nvPr/>
        </p:nvSpPr>
        <p:spPr>
          <a:xfrm>
            <a:off x="669602" y="4606815"/>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a:t>B</a:t>
            </a:r>
          </a:p>
        </p:txBody>
      </p:sp>
      <p:sp>
        <p:nvSpPr>
          <p:cNvPr id="32" name="B text">
            <a:extLst>
              <a:ext uri="{FF2B5EF4-FFF2-40B4-BE49-F238E27FC236}">
                <a16:creationId xmlns:a16="http://schemas.microsoft.com/office/drawing/2014/main" id="{FF24AB20-E9A7-57B0-F3B3-8057288A7E15}"/>
              </a:ext>
            </a:extLst>
          </p:cNvPr>
          <p:cNvSpPr txBox="1">
            <a:spLocks/>
          </p:cNvSpPr>
          <p:nvPr/>
        </p:nvSpPr>
        <p:spPr>
          <a:xfrm>
            <a:off x="1344563" y="4624671"/>
            <a:ext cx="6547017"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a:t>Noah's strategy is more efficient</a:t>
            </a:r>
            <a:endParaRPr lang="en-US" sz="2800"/>
          </a:p>
        </p:txBody>
      </p:sp>
      <p:sp>
        <p:nvSpPr>
          <p:cNvPr id="33" name="C">
            <a:extLst>
              <a:ext uri="{FF2B5EF4-FFF2-40B4-BE49-F238E27FC236}">
                <a16:creationId xmlns:a16="http://schemas.microsoft.com/office/drawing/2014/main" id="{E2720C36-4730-75A3-D716-140E5119C610}"/>
              </a:ext>
            </a:extLst>
          </p:cNvPr>
          <p:cNvSpPr txBox="1"/>
          <p:nvPr/>
        </p:nvSpPr>
        <p:spPr>
          <a:xfrm>
            <a:off x="669600" y="5402636"/>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a:t>C</a:t>
            </a:r>
          </a:p>
        </p:txBody>
      </p:sp>
      <p:sp>
        <p:nvSpPr>
          <p:cNvPr id="34" name="C text">
            <a:extLst>
              <a:ext uri="{FF2B5EF4-FFF2-40B4-BE49-F238E27FC236}">
                <a16:creationId xmlns:a16="http://schemas.microsoft.com/office/drawing/2014/main" id="{4500844E-65A3-D2FC-86D0-16D389912B0D}"/>
              </a:ext>
            </a:extLst>
          </p:cNvPr>
          <p:cNvSpPr txBox="1">
            <a:spLocks/>
          </p:cNvSpPr>
          <p:nvPr/>
        </p:nvSpPr>
        <p:spPr>
          <a:xfrm>
            <a:off x="1344562" y="5420492"/>
            <a:ext cx="6547017"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dirty="0"/>
              <a:t>Both strategies are equally efficient</a:t>
            </a:r>
            <a:endParaRPr lang="en-US" sz="2800" dirty="0"/>
          </a:p>
        </p:txBody>
      </p:sp>
      <p:sp>
        <p:nvSpPr>
          <p:cNvPr id="35" name="D">
            <a:extLst>
              <a:ext uri="{FF2B5EF4-FFF2-40B4-BE49-F238E27FC236}">
                <a16:creationId xmlns:a16="http://schemas.microsoft.com/office/drawing/2014/main" id="{4335AB32-11B0-D81D-6AD7-B83352F95FB0}"/>
              </a:ext>
            </a:extLst>
          </p:cNvPr>
          <p:cNvSpPr txBox="1"/>
          <p:nvPr/>
        </p:nvSpPr>
        <p:spPr>
          <a:xfrm>
            <a:off x="669600" y="6198748"/>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a:t>D</a:t>
            </a:r>
          </a:p>
        </p:txBody>
      </p:sp>
      <p:sp>
        <p:nvSpPr>
          <p:cNvPr id="36" name="D text">
            <a:extLst>
              <a:ext uri="{FF2B5EF4-FFF2-40B4-BE49-F238E27FC236}">
                <a16:creationId xmlns:a16="http://schemas.microsoft.com/office/drawing/2014/main" id="{E0ED7DFA-0F36-0815-881D-89D6E6B15757}"/>
              </a:ext>
            </a:extLst>
          </p:cNvPr>
          <p:cNvSpPr txBox="1">
            <a:spLocks/>
          </p:cNvSpPr>
          <p:nvPr/>
        </p:nvSpPr>
        <p:spPr>
          <a:xfrm>
            <a:off x="1344562" y="6216604"/>
            <a:ext cx="6547017"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a:t>Neither strategy will work</a:t>
            </a:r>
          </a:p>
        </p:txBody>
      </p:sp>
      <p:pic>
        <p:nvPicPr>
          <p:cNvPr id="37" name="Picture 36" descr="Two students, Ava and Noah, are shown working at desks. Ava writes “764 − 400 = 364, then +1”, while Noah writes “764 − 300 − 90 − 9”, showing different methods for solving the same subtraction problem.">
            <a:extLst>
              <a:ext uri="{FF2B5EF4-FFF2-40B4-BE49-F238E27FC236}">
                <a16:creationId xmlns:a16="http://schemas.microsoft.com/office/drawing/2014/main" id="{1C7C1BCD-F348-F8E9-8541-DABBDAB1F2A5}"/>
              </a:ext>
            </a:extLst>
          </p:cNvPr>
          <p:cNvPicPr>
            <a:picLocks noChangeAspect="1"/>
          </p:cNvPicPr>
          <p:nvPr/>
        </p:nvPicPr>
        <p:blipFill>
          <a:blip r:embed="rId4"/>
          <a:srcRect l="6257" t="3878" r="8127" b="1284"/>
          <a:stretch>
            <a:fillRect/>
          </a:stretch>
        </p:blipFill>
        <p:spPr>
          <a:xfrm>
            <a:off x="7498041" y="184349"/>
            <a:ext cx="3349396" cy="6656990"/>
          </a:xfrm>
          <a:prstGeom prst="rect">
            <a:avLst/>
          </a:prstGeom>
        </p:spPr>
      </p:pic>
      <p:sp>
        <p:nvSpPr>
          <p:cNvPr id="38" name="Text Placeholder 5">
            <a:extLst>
              <a:ext uri="{FF2B5EF4-FFF2-40B4-BE49-F238E27FC236}">
                <a16:creationId xmlns:a16="http://schemas.microsoft.com/office/drawing/2014/main" id="{4DDFAF96-9FA8-51D3-D93B-4EA7E52F8A83}"/>
              </a:ext>
            </a:extLst>
          </p:cNvPr>
          <p:cNvSpPr txBox="1">
            <a:spLocks/>
          </p:cNvSpPr>
          <p:nvPr/>
        </p:nvSpPr>
        <p:spPr>
          <a:xfrm>
            <a:off x="291977" y="1050200"/>
            <a:ext cx="6547018" cy="146160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6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dirty="0"/>
              <a:t>To </a:t>
            </a:r>
            <a:r>
              <a:rPr lang="en-AU" sz="3200" b="1" dirty="0"/>
              <a:t>solve</a:t>
            </a:r>
            <a:r>
              <a:rPr lang="en-AU" sz="3200" dirty="0"/>
              <a:t> </a:t>
            </a:r>
            <a:r>
              <a:rPr lang="en-AU" sz="3200" b="1" dirty="0"/>
              <a:t>764 – 399, </a:t>
            </a:r>
            <a:r>
              <a:rPr lang="en-AU" sz="3200" dirty="0"/>
              <a:t>two students used </a:t>
            </a:r>
            <a:r>
              <a:rPr lang="en-AU" sz="3200" b="1" dirty="0"/>
              <a:t>different strategies</a:t>
            </a:r>
            <a:r>
              <a:rPr lang="en-AU" sz="3200" dirty="0"/>
              <a:t>. Which </a:t>
            </a:r>
            <a:r>
              <a:rPr lang="en-AU" sz="3200" b="1" dirty="0"/>
              <a:t>statement</a:t>
            </a:r>
            <a:r>
              <a:rPr lang="en-AU" sz="3200" dirty="0"/>
              <a:t> is </a:t>
            </a:r>
            <a:r>
              <a:rPr lang="en-AU" sz="3200" b="1" dirty="0"/>
              <a:t>correct</a:t>
            </a:r>
            <a:r>
              <a:rPr lang="en-AU" sz="3200" dirty="0"/>
              <a:t>?</a:t>
            </a:r>
            <a:endParaRPr lang="en-AU" sz="3200" b="1" dirty="0"/>
          </a:p>
          <a:p>
            <a:pPr algn="ctr"/>
            <a:endParaRPr lang="en-AU" sz="3200" dirty="0"/>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9DFA2247-6257-4444-4F4F-69C7A33577DC}"/>
              </a:ext>
            </a:extLst>
          </p:cNvPr>
          <p:cNvSpPr txBox="1">
            <a:spLocks/>
          </p:cNvSpPr>
          <p:nvPr/>
        </p:nvSpPr>
        <p:spPr>
          <a:xfrm>
            <a:off x="516061" y="1059880"/>
            <a:ext cx="11159877" cy="214161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dirty="0"/>
              <a:t>The train </a:t>
            </a:r>
            <a:r>
              <a:rPr lang="en-US" sz="3600" b="1" dirty="0"/>
              <a:t>left</a:t>
            </a:r>
            <a:r>
              <a:rPr lang="en-US" sz="3600" dirty="0"/>
              <a:t> the station at </a:t>
            </a:r>
            <a:r>
              <a:rPr lang="en-US" sz="3600" b="1" dirty="0"/>
              <a:t>6:45 am </a:t>
            </a:r>
            <a:r>
              <a:rPr lang="en-US" sz="3600" dirty="0"/>
              <a:t>and </a:t>
            </a:r>
            <a:r>
              <a:rPr lang="en-US" sz="3600" b="1" dirty="0"/>
              <a:t>arrived</a:t>
            </a:r>
            <a:r>
              <a:rPr lang="en-US" sz="3600" dirty="0"/>
              <a:t> at the next station at </a:t>
            </a:r>
            <a:r>
              <a:rPr lang="en-US" sz="3600" b="1" dirty="0"/>
              <a:t>7:30 am</a:t>
            </a:r>
            <a:r>
              <a:rPr lang="en-US" sz="3600" dirty="0"/>
              <a:t>.</a:t>
            </a:r>
          </a:p>
          <a:p>
            <a:pPr algn="ctr"/>
            <a:r>
              <a:rPr lang="en-US" sz="3600" dirty="0"/>
              <a:t>Use a</a:t>
            </a:r>
            <a:r>
              <a:rPr lang="en-US" sz="3600" b="1" dirty="0"/>
              <a:t> bridging strategy mentally </a:t>
            </a:r>
            <a:r>
              <a:rPr lang="en-US" sz="3600" dirty="0"/>
              <a:t>to calculate the </a:t>
            </a:r>
            <a:r>
              <a:rPr lang="en-US" sz="3600" b="1" dirty="0"/>
              <a:t>elapsed time. </a:t>
            </a:r>
          </a:p>
          <a:p>
            <a:pPr algn="ctr"/>
            <a:r>
              <a:rPr lang="en-US" sz="3600" b="1" dirty="0"/>
              <a:t>Record </a:t>
            </a:r>
            <a:r>
              <a:rPr lang="en-US" sz="3600" dirty="0"/>
              <a:t>your calculation on an </a:t>
            </a:r>
            <a:r>
              <a:rPr lang="en-US" sz="3600" b="1" dirty="0"/>
              <a:t>empty number line.</a:t>
            </a:r>
            <a:endParaRPr lang="en-AU" sz="3600" dirty="0"/>
          </a:p>
          <a:p>
            <a:pPr algn="ctr"/>
            <a:endParaRPr lang="en-AU" sz="3600" dirty="0"/>
          </a:p>
        </p:txBody>
      </p:sp>
      <p:cxnSp>
        <p:nvCxnSpPr>
          <p:cNvPr id="9" name="Straight Connector 8" descr="Empty number line.">
            <a:extLst>
              <a:ext uri="{FF2B5EF4-FFF2-40B4-BE49-F238E27FC236}">
                <a16:creationId xmlns:a16="http://schemas.microsoft.com/office/drawing/2014/main" id="{AAC333F9-F280-3E9C-F942-79FE73DB5A01}"/>
              </a:ext>
            </a:extLst>
          </p:cNvPr>
          <p:cNvCxnSpPr>
            <a:cxnSpLocks/>
          </p:cNvCxnSpPr>
          <p:nvPr/>
        </p:nvCxnSpPr>
        <p:spPr>
          <a:xfrm>
            <a:off x="1010608" y="6361720"/>
            <a:ext cx="10170784" cy="0"/>
          </a:xfrm>
          <a:prstGeom prst="line">
            <a:avLst/>
          </a:prstGeom>
          <a:ln w="38100">
            <a:solidFill>
              <a:schemeClr val="accent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25716258-0E48-CD3E-4AD3-E86657616969}"/>
              </a:ext>
            </a:extLst>
          </p:cNvPr>
          <p:cNvSpPr txBox="1">
            <a:spLocks/>
          </p:cNvSpPr>
          <p:nvPr/>
        </p:nvSpPr>
        <p:spPr>
          <a:xfrm>
            <a:off x="1333068" y="1789526"/>
            <a:ext cx="5482589" cy="306123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Record 2125 </a:t>
            </a:r>
            <a:r>
              <a:rPr lang="en-US" sz="4400" b="1" dirty="0"/>
              <a:t>millilitres</a:t>
            </a:r>
            <a:r>
              <a:rPr lang="en-US" sz="4400" dirty="0"/>
              <a:t> using </a:t>
            </a:r>
            <a:r>
              <a:rPr lang="en-US" sz="4400" b="1" dirty="0"/>
              <a:t>litres</a:t>
            </a:r>
            <a:r>
              <a:rPr lang="en-US" sz="4400" dirty="0"/>
              <a:t>.</a:t>
            </a:r>
            <a:endParaRPr lang="en-AU" sz="4400" dirty="0"/>
          </a:p>
        </p:txBody>
      </p:sp>
      <p:pic>
        <p:nvPicPr>
          <p:cNvPr id="8" name="Picture 7" descr="Soft drink bottle.">
            <a:extLst>
              <a:ext uri="{FF2B5EF4-FFF2-40B4-BE49-F238E27FC236}">
                <a16:creationId xmlns:a16="http://schemas.microsoft.com/office/drawing/2014/main" id="{D86B6808-100A-C478-AA48-6019BBC1C87D}"/>
              </a:ext>
            </a:extLst>
          </p:cNvPr>
          <p:cNvPicPr>
            <a:picLocks noChangeAspect="1"/>
          </p:cNvPicPr>
          <p:nvPr/>
        </p:nvPicPr>
        <p:blipFill>
          <a:blip r:embed="rId4"/>
          <a:stretch>
            <a:fillRect/>
          </a:stretch>
        </p:blipFill>
        <p:spPr>
          <a:xfrm>
            <a:off x="7566204" y="726473"/>
            <a:ext cx="2305039" cy="5573485"/>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6BCCA36-0592-15FB-6C51-EA27E704E1C8}"/>
              </a:ext>
            </a:extLst>
          </p:cNvPr>
          <p:cNvSpPr txBox="1"/>
          <p:nvPr/>
        </p:nvSpPr>
        <p:spPr>
          <a:xfrm>
            <a:off x="512733" y="1062866"/>
            <a:ext cx="11166533" cy="2349874"/>
          </a:xfrm>
          <a:prstGeom prst="rect">
            <a:avLst/>
          </a:prstGeom>
          <a:noFill/>
        </p:spPr>
        <p:txBody>
          <a:bodyPr wrap="square">
            <a:spAutoFit/>
          </a:bodyPr>
          <a:lstStyle/>
          <a:p>
            <a:pPr algn="ctr">
              <a:lnSpc>
                <a:spcPct val="150000"/>
              </a:lnSpc>
            </a:pPr>
            <a:r>
              <a:rPr lang="en-AU" sz="3400" dirty="0"/>
              <a:t>Taj is designing a game using a bag with </a:t>
            </a:r>
            <a:r>
              <a:rPr lang="en-AU" sz="3400" b="1" dirty="0"/>
              <a:t>8 counters</a:t>
            </a:r>
            <a:r>
              <a:rPr lang="en-AU" sz="3400" dirty="0"/>
              <a:t>: </a:t>
            </a:r>
          </a:p>
          <a:p>
            <a:pPr algn="ctr">
              <a:lnSpc>
                <a:spcPct val="150000"/>
              </a:lnSpc>
            </a:pPr>
            <a:r>
              <a:rPr lang="en-AU" sz="3400" b="1" dirty="0">
                <a:solidFill>
                  <a:srgbClr val="FF0000"/>
                </a:solidFill>
              </a:rPr>
              <a:t>2 red</a:t>
            </a:r>
            <a:r>
              <a:rPr lang="en-AU" sz="3400" dirty="0"/>
              <a:t>, </a:t>
            </a:r>
            <a:r>
              <a:rPr lang="en-AU" sz="3400" b="1" dirty="0">
                <a:solidFill>
                  <a:schemeClr val="accent2"/>
                </a:solidFill>
              </a:rPr>
              <a:t>1 blue</a:t>
            </a:r>
            <a:r>
              <a:rPr lang="en-AU" sz="3400" dirty="0"/>
              <a:t>, </a:t>
            </a:r>
            <a:r>
              <a:rPr lang="en-AU" sz="3400" b="1" dirty="0">
                <a:solidFill>
                  <a:srgbClr val="EA9B0C"/>
                </a:solidFill>
              </a:rPr>
              <a:t>3 orange </a:t>
            </a:r>
            <a:r>
              <a:rPr lang="en-AU" sz="3400" dirty="0"/>
              <a:t>and </a:t>
            </a:r>
            <a:r>
              <a:rPr lang="en-AU" sz="3400" b="1" dirty="0">
                <a:solidFill>
                  <a:srgbClr val="7030A0"/>
                </a:solidFill>
              </a:rPr>
              <a:t>2 purple</a:t>
            </a:r>
            <a:r>
              <a:rPr lang="en-AU" sz="3400" dirty="0"/>
              <a:t>. A player draws one counter at random.</a:t>
            </a:r>
          </a:p>
        </p:txBody>
      </p:sp>
      <p:sp>
        <p:nvSpPr>
          <p:cNvPr id="8" name="TextBox 7">
            <a:extLst>
              <a:ext uri="{FF2B5EF4-FFF2-40B4-BE49-F238E27FC236}">
                <a16:creationId xmlns:a16="http://schemas.microsoft.com/office/drawing/2014/main" id="{1DED9845-53A7-E063-AB98-DD1AD725BD38}"/>
              </a:ext>
            </a:extLst>
          </p:cNvPr>
          <p:cNvSpPr txBox="1"/>
          <p:nvPr/>
        </p:nvSpPr>
        <p:spPr>
          <a:xfrm>
            <a:off x="334927" y="3570005"/>
            <a:ext cx="11344339" cy="3134704"/>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AU" sz="3400" dirty="0"/>
              <a:t>Record </a:t>
            </a:r>
            <a:r>
              <a:rPr lang="en-AU" sz="3400" b="1" dirty="0"/>
              <a:t>all possible outcomes </a:t>
            </a:r>
            <a:r>
              <a:rPr lang="en-AU" sz="3400" dirty="0"/>
              <a:t>and assign a </a:t>
            </a:r>
            <a:r>
              <a:rPr lang="en-AU" sz="3400" b="1" dirty="0"/>
              <a:t>fraction</a:t>
            </a:r>
            <a:r>
              <a:rPr lang="en-AU" sz="3400" dirty="0"/>
              <a:t> to show the </a:t>
            </a:r>
            <a:r>
              <a:rPr lang="en-AU" sz="3400" b="1" dirty="0"/>
              <a:t>probability</a:t>
            </a:r>
            <a:r>
              <a:rPr lang="en-AU" sz="3400" dirty="0"/>
              <a:t> of drawing each colour.</a:t>
            </a:r>
          </a:p>
          <a:p>
            <a:pPr marL="571500" indent="-571500">
              <a:lnSpc>
                <a:spcPct val="150000"/>
              </a:lnSpc>
              <a:buFont typeface="Arial" panose="020B0604020202020204" pitchFamily="34" charset="0"/>
              <a:buChar char="•"/>
            </a:pPr>
            <a:r>
              <a:rPr lang="en-AU" sz="3400" dirty="0"/>
              <a:t>Which outcomes are </a:t>
            </a:r>
            <a:r>
              <a:rPr lang="en-AU" sz="3400" b="1" dirty="0"/>
              <a:t>not equally likely</a:t>
            </a:r>
            <a:r>
              <a:rPr lang="en-AU" sz="3400" dirty="0"/>
              <a:t>? </a:t>
            </a:r>
            <a:r>
              <a:rPr lang="en-AU" sz="3400" b="1"/>
              <a:t>Communicate</a:t>
            </a:r>
            <a:r>
              <a:rPr lang="en-AU" sz="3400"/>
              <a:t> your </a:t>
            </a:r>
            <a:r>
              <a:rPr lang="en-AU" sz="3400" b="1"/>
              <a:t>reasoning</a:t>
            </a:r>
            <a:r>
              <a:rPr lang="en-AU" sz="3400" dirty="0"/>
              <a:t>.</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Picture Placeholder 10">
            <a:extLst>
              <a:ext uri="{FF2B5EF4-FFF2-40B4-BE49-F238E27FC236}">
                <a16:creationId xmlns:a16="http://schemas.microsoft.com/office/drawing/2014/main" id="{6450AA03-C4BF-DBE0-EBCE-83448588D806}"/>
              </a:ext>
            </a:extLst>
          </p:cNvPr>
          <p:cNvSpPr txBox="1">
            <a:spLocks/>
          </p:cNvSpPr>
          <p:nvPr/>
        </p:nvSpPr>
        <p:spPr>
          <a:xfrm>
            <a:off x="246024" y="1184223"/>
            <a:ext cx="5300717" cy="52056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a:t>
            </a:r>
            <a:r>
              <a:rPr lang="en-US" sz="4400" dirty="0">
                <a:latin typeface="Arial"/>
                <a:cs typeface="Arial"/>
              </a:rPr>
              <a:t> </a:t>
            </a:r>
            <a:r>
              <a:rPr lang="en-AU" sz="4400" dirty="0">
                <a:latin typeface="Arial"/>
                <a:cs typeface="Arial"/>
              </a:rPr>
              <a:t>a different way to </a:t>
            </a:r>
            <a:r>
              <a:rPr lang="en-AU" sz="4400" b="1" dirty="0">
                <a:latin typeface="Arial"/>
                <a:cs typeface="Arial"/>
              </a:rPr>
              <a:t>calculate the area </a:t>
            </a:r>
            <a:r>
              <a:rPr lang="en-AU" sz="4400" dirty="0">
                <a:latin typeface="Arial"/>
                <a:cs typeface="Arial"/>
              </a:rPr>
              <a:t>of this </a:t>
            </a:r>
            <a:r>
              <a:rPr lang="en-AU" sz="4400" b="1" dirty="0">
                <a:latin typeface="Arial"/>
                <a:cs typeface="Arial"/>
              </a:rPr>
              <a:t>composite L-shape </a:t>
            </a:r>
            <a:r>
              <a:rPr lang="en-AU" sz="4400" dirty="0">
                <a:latin typeface="Arial"/>
                <a:cs typeface="Arial"/>
              </a:rPr>
              <a:t>figure</a:t>
            </a:r>
            <a:r>
              <a:rPr lang="en-US" sz="4400" dirty="0">
                <a:latin typeface="Arial"/>
                <a:cs typeface="Arial"/>
              </a:rPr>
              <a:t>.</a:t>
            </a:r>
            <a:endParaRPr lang="en-US" sz="4400" dirty="0"/>
          </a:p>
        </p:txBody>
      </p:sp>
      <p:pic>
        <p:nvPicPr>
          <p:cNvPr id="12" name="Picture 11" descr="A composite shape is shown on a grid, divided by a dashed horizontal line into two rectangles. The top rectangle is labelled “1 × 4 = 4” and the bottom rectangle “2 × 7 = 14”. Above, a whiteboard shows the calculations and a total area written as 28 cm².">
            <a:extLst>
              <a:ext uri="{FF2B5EF4-FFF2-40B4-BE49-F238E27FC236}">
                <a16:creationId xmlns:a16="http://schemas.microsoft.com/office/drawing/2014/main" id="{1192701C-0677-14C5-1F30-62CCF392CC0E}"/>
              </a:ext>
            </a:extLst>
          </p:cNvPr>
          <p:cNvPicPr>
            <a:picLocks noChangeAspect="1"/>
          </p:cNvPicPr>
          <p:nvPr/>
        </p:nvPicPr>
        <p:blipFill>
          <a:blip r:embed="rId4"/>
          <a:stretch>
            <a:fillRect/>
          </a:stretch>
        </p:blipFill>
        <p:spPr>
          <a:xfrm>
            <a:off x="6097973" y="995720"/>
            <a:ext cx="4780899" cy="486655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156E681C-F4CA-73CA-E62F-1999F5515109}"/>
              </a:ext>
            </a:extLst>
          </p:cNvPr>
          <p:cNvSpPr>
            <a:spLocks noGrp="1"/>
          </p:cNvSpPr>
          <p:nvPr>
            <p:ph type="title"/>
          </p:nvPr>
        </p:nvSpPr>
        <p:spPr>
          <a:xfrm>
            <a:off x="360000" y="118921"/>
            <a:ext cx="10367268" cy="1100310"/>
          </a:xfrm>
        </p:spPr>
        <p:txBody>
          <a:bodyPr/>
          <a:lstStyle/>
          <a:p>
            <a:pPr>
              <a:lnSpc>
                <a:spcPct val="150000"/>
              </a:lnSpc>
            </a:pPr>
            <a:r>
              <a:rPr lang="en-AU" dirty="0"/>
              <a:t>Activity 7 – compare, evaluate and communicate addition and subtraction strategies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8" name="Table 7">
            <a:extLst>
              <a:ext uri="{FF2B5EF4-FFF2-40B4-BE49-F238E27FC236}">
                <a16:creationId xmlns:a16="http://schemas.microsoft.com/office/drawing/2014/main" id="{B35D6D39-4C51-6CFD-0AD4-4E88804D3271}"/>
              </a:ext>
            </a:extLst>
          </p:cNvPr>
          <p:cNvGraphicFramePr>
            <a:graphicFrameLocks noGrp="1"/>
          </p:cNvGraphicFramePr>
          <p:nvPr>
            <p:extLst>
              <p:ext uri="{D42A27DB-BD31-4B8C-83A1-F6EECF244321}">
                <p14:modId xmlns:p14="http://schemas.microsoft.com/office/powerpoint/2010/main" val="3716413487"/>
              </p:ext>
            </p:extLst>
          </p:nvPr>
        </p:nvGraphicFramePr>
        <p:xfrm>
          <a:off x="1839036" y="2357396"/>
          <a:ext cx="8513928" cy="3579380"/>
        </p:xfrm>
        <a:graphic>
          <a:graphicData uri="http://schemas.openxmlformats.org/drawingml/2006/table">
            <a:tbl>
              <a:tblPr firstRow="1" bandRow="1">
                <a:tableStyleId>{2D5ABB26-0587-4C30-8999-92F81FD0307C}</a:tableStyleId>
              </a:tblPr>
              <a:tblGrid>
                <a:gridCol w="4256964">
                  <a:extLst>
                    <a:ext uri="{9D8B030D-6E8A-4147-A177-3AD203B41FA5}">
                      <a16:colId xmlns:a16="http://schemas.microsoft.com/office/drawing/2014/main" val="1478648116"/>
                    </a:ext>
                  </a:extLst>
                </a:gridCol>
                <a:gridCol w="4256964">
                  <a:extLst>
                    <a:ext uri="{9D8B030D-6E8A-4147-A177-3AD203B41FA5}">
                      <a16:colId xmlns:a16="http://schemas.microsoft.com/office/drawing/2014/main" val="1154603937"/>
                    </a:ext>
                  </a:extLst>
                </a:gridCol>
              </a:tblGrid>
              <a:tr h="1789690">
                <a:tc>
                  <a:txBody>
                    <a:bodyPr/>
                    <a:lstStyle/>
                    <a:p>
                      <a:pPr algn="ctr"/>
                      <a:r>
                        <a:rPr lang="en-AU" sz="8000" dirty="0">
                          <a:latin typeface="Edu NSW ACT Foundation" pitchFamily="2"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8000" dirty="0">
                          <a:latin typeface="Edu NSW ACT Foundation" pitchFamily="2" charset="0"/>
                        </a:rPr>
                        <a:t>27</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7541881"/>
                  </a:ext>
                </a:extLst>
              </a:tr>
              <a:tr h="1789690">
                <a:tc>
                  <a:txBody>
                    <a:bodyPr/>
                    <a:lstStyle/>
                    <a:p>
                      <a:pPr algn="ctr"/>
                      <a:r>
                        <a:rPr lang="en-AU" sz="8000" dirty="0">
                          <a:latin typeface="Edu NSW ACT Foundation" pitchFamily="2" charset="0"/>
                        </a:rPr>
                        <a:t>123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8000" dirty="0">
                          <a:latin typeface="Edu NSW ACT Foundation" pitchFamily="2" charset="0"/>
                        </a:rPr>
                        <a:t>31</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146195"/>
                  </a:ext>
                </a:extLst>
              </a:tr>
            </a:tbl>
          </a:graphicData>
        </a:graphic>
      </p:graphicFrame>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 Placeholder 5">
            <a:extLst>
              <a:ext uri="{FF2B5EF4-FFF2-40B4-BE49-F238E27FC236}">
                <a16:creationId xmlns:a16="http://schemas.microsoft.com/office/drawing/2014/main" id="{2B6D17C4-5260-8608-138A-775E9A7CB765}"/>
              </a:ext>
            </a:extLst>
          </p:cNvPr>
          <p:cNvSpPr txBox="1">
            <a:spLocks/>
          </p:cNvSpPr>
          <p:nvPr/>
        </p:nvSpPr>
        <p:spPr>
          <a:xfrm>
            <a:off x="474480" y="1184019"/>
            <a:ext cx="11243037" cy="167882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dirty="0"/>
              <a:t>A theatre </a:t>
            </a:r>
            <a:r>
              <a:rPr lang="en-AU" sz="3600" b="1" dirty="0"/>
              <a:t>sold 468 </a:t>
            </a:r>
            <a:r>
              <a:rPr lang="en-AU" sz="3600" dirty="0"/>
              <a:t>tickets on Friday and </a:t>
            </a:r>
            <a:r>
              <a:rPr lang="en-AU" sz="3600" b="1" dirty="0"/>
              <a:t>395 tickets </a:t>
            </a:r>
            <a:r>
              <a:rPr lang="en-AU" sz="3600" dirty="0"/>
              <a:t>on Saturday. The theatre </a:t>
            </a:r>
            <a:r>
              <a:rPr lang="en-AU" sz="3600" b="1" dirty="0"/>
              <a:t>holds 1000 </a:t>
            </a:r>
            <a:r>
              <a:rPr lang="en-AU" sz="3600" dirty="0"/>
              <a:t>people.</a:t>
            </a:r>
          </a:p>
        </p:txBody>
      </p:sp>
      <p:sp>
        <p:nvSpPr>
          <p:cNvPr id="9" name="Text Placeholder 5">
            <a:extLst>
              <a:ext uri="{FF2B5EF4-FFF2-40B4-BE49-F238E27FC236}">
                <a16:creationId xmlns:a16="http://schemas.microsoft.com/office/drawing/2014/main" id="{8FCBDF25-9F1C-0945-6E5F-A4E017F4677E}"/>
              </a:ext>
            </a:extLst>
          </p:cNvPr>
          <p:cNvSpPr txBox="1">
            <a:spLocks/>
          </p:cNvSpPr>
          <p:nvPr/>
        </p:nvSpPr>
        <p:spPr>
          <a:xfrm>
            <a:off x="1097295" y="3441261"/>
            <a:ext cx="9997406" cy="157029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To </a:t>
            </a:r>
            <a:r>
              <a:rPr lang="en-AU" sz="3600" dirty="0"/>
              <a:t>find </a:t>
            </a:r>
            <a:r>
              <a:rPr lang="en-AU" sz="3600" b="1"/>
              <a:t>how many </a:t>
            </a:r>
            <a:r>
              <a:rPr lang="en-AU" sz="3600" dirty="0"/>
              <a:t>seats are </a:t>
            </a:r>
            <a:r>
              <a:rPr lang="en-AU" sz="3600" b="1"/>
              <a:t>left</a:t>
            </a:r>
            <a:r>
              <a:rPr lang="en-AU" sz="3600"/>
              <a:t>, you </a:t>
            </a:r>
            <a:r>
              <a:rPr lang="en-AU" sz="3600" b="1"/>
              <a:t>calculate</a:t>
            </a:r>
            <a:r>
              <a:rPr lang="en-AU" sz="3600"/>
              <a:t> 468 + 395 </a:t>
            </a:r>
            <a:r>
              <a:rPr lang="en-AU" sz="3600" dirty="0"/>
              <a:t>− </a:t>
            </a:r>
            <a:r>
              <a:rPr lang="en-AU" sz="3600"/>
              <a:t>1000</a:t>
            </a:r>
            <a:r>
              <a:rPr lang="en-AU" sz="3600" dirty="0"/>
              <a:t>.</a:t>
            </a:r>
          </a:p>
        </p:txBody>
      </p:sp>
      <p:graphicFrame>
        <p:nvGraphicFramePr>
          <p:cNvPr id="7" name="Table 6">
            <a:extLst>
              <a:ext uri="{FF2B5EF4-FFF2-40B4-BE49-F238E27FC236}">
                <a16:creationId xmlns:a16="http://schemas.microsoft.com/office/drawing/2014/main" id="{C4EB6C86-69D5-C344-552D-3A2DE7E49590}"/>
              </a:ext>
            </a:extLst>
          </p:cNvPr>
          <p:cNvGraphicFramePr>
            <a:graphicFrameLocks noGrp="1"/>
          </p:cNvGraphicFramePr>
          <p:nvPr>
            <p:extLst>
              <p:ext uri="{D42A27DB-BD31-4B8C-83A1-F6EECF244321}">
                <p14:modId xmlns:p14="http://schemas.microsoft.com/office/powerpoint/2010/main" val="1125379697"/>
              </p:ext>
            </p:extLst>
          </p:nvPr>
        </p:nvGraphicFramePr>
        <p:xfrm>
          <a:off x="2442981" y="558997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CC8D5042-92D8-BCA1-405F-5C5FFB53BEED}"/>
              </a:ext>
            </a:extLst>
          </p:cNvPr>
          <p:cNvSpPr txBox="1">
            <a:spLocks/>
          </p:cNvSpPr>
          <p:nvPr/>
        </p:nvSpPr>
        <p:spPr>
          <a:xfrm>
            <a:off x="516058" y="1095957"/>
            <a:ext cx="11159877" cy="214161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800" dirty="0"/>
              <a:t>The movie </a:t>
            </a:r>
            <a:r>
              <a:rPr lang="en-US" sz="3800" b="1" dirty="0"/>
              <a:t>started</a:t>
            </a:r>
            <a:r>
              <a:rPr lang="en-US" sz="3800" dirty="0"/>
              <a:t> at </a:t>
            </a:r>
            <a:r>
              <a:rPr lang="en-US" sz="3800" b="1" dirty="0"/>
              <a:t>18:20 </a:t>
            </a:r>
            <a:r>
              <a:rPr lang="en-US" sz="3800" dirty="0"/>
              <a:t>and </a:t>
            </a:r>
            <a:r>
              <a:rPr lang="en-US" sz="3800" b="1" dirty="0"/>
              <a:t>finished</a:t>
            </a:r>
            <a:r>
              <a:rPr lang="en-US" sz="3800" dirty="0"/>
              <a:t> at </a:t>
            </a:r>
            <a:r>
              <a:rPr lang="en-US" sz="3800" b="1" dirty="0"/>
              <a:t>20:45</a:t>
            </a:r>
            <a:r>
              <a:rPr lang="en-US" sz="3800" dirty="0"/>
              <a:t>.</a:t>
            </a:r>
          </a:p>
          <a:p>
            <a:pPr algn="ctr"/>
            <a:r>
              <a:rPr lang="en-US" sz="3800" dirty="0"/>
              <a:t>Use a</a:t>
            </a:r>
            <a:r>
              <a:rPr lang="en-US" sz="3800" b="1" dirty="0"/>
              <a:t> bridging strategy mentally </a:t>
            </a:r>
            <a:r>
              <a:rPr lang="en-US" sz="3800" dirty="0"/>
              <a:t>to calculate the </a:t>
            </a:r>
            <a:r>
              <a:rPr lang="en-US" sz="3800" b="1" dirty="0"/>
              <a:t>elapsed time. </a:t>
            </a:r>
          </a:p>
          <a:p>
            <a:pPr algn="ctr"/>
            <a:r>
              <a:rPr lang="en-US" sz="3800" b="1" dirty="0"/>
              <a:t>Record </a:t>
            </a:r>
            <a:r>
              <a:rPr lang="en-US" sz="3800" dirty="0"/>
              <a:t>your calculation on an </a:t>
            </a:r>
            <a:r>
              <a:rPr lang="en-US" sz="3800" b="1" dirty="0"/>
              <a:t>empty number line.</a:t>
            </a:r>
            <a:endParaRPr lang="en-AU" sz="3800" dirty="0"/>
          </a:p>
          <a:p>
            <a:pPr algn="ctr"/>
            <a:endParaRPr lang="en-AU" sz="3800" dirty="0"/>
          </a:p>
        </p:txBody>
      </p:sp>
      <p:cxnSp>
        <p:nvCxnSpPr>
          <p:cNvPr id="8" name="Straight Connector 7" descr="Empty number line.">
            <a:extLst>
              <a:ext uri="{FF2B5EF4-FFF2-40B4-BE49-F238E27FC236}">
                <a16:creationId xmlns:a16="http://schemas.microsoft.com/office/drawing/2014/main" id="{F3A0AC40-F6E6-0A2D-B07E-220A692C62DA}"/>
              </a:ext>
            </a:extLst>
          </p:cNvPr>
          <p:cNvCxnSpPr>
            <a:cxnSpLocks/>
          </p:cNvCxnSpPr>
          <p:nvPr/>
        </p:nvCxnSpPr>
        <p:spPr>
          <a:xfrm>
            <a:off x="1010608" y="6361720"/>
            <a:ext cx="10170784" cy="0"/>
          </a:xfrm>
          <a:prstGeom prst="line">
            <a:avLst/>
          </a:prstGeom>
          <a:ln w="38100">
            <a:solidFill>
              <a:schemeClr val="accent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9D3B07D1-8733-06CF-8BCD-8ED88E6E6FFF}"/>
              </a:ext>
            </a:extLst>
          </p:cNvPr>
          <p:cNvSpPr txBox="1">
            <a:spLocks/>
          </p:cNvSpPr>
          <p:nvPr/>
        </p:nvSpPr>
        <p:spPr>
          <a:xfrm>
            <a:off x="508819" y="1088472"/>
            <a:ext cx="11174361" cy="195282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dirty="0">
                <a:latin typeface="Arial"/>
                <a:cs typeface="Arial"/>
              </a:rPr>
              <a:t>Record</a:t>
            </a:r>
            <a:r>
              <a:rPr lang="en-US" sz="4400" dirty="0">
                <a:latin typeface="Arial"/>
                <a:cs typeface="Arial"/>
              </a:rPr>
              <a:t> </a:t>
            </a:r>
            <a:r>
              <a:rPr lang="en-AU" sz="4400" dirty="0">
                <a:latin typeface="Arial"/>
                <a:cs typeface="Arial"/>
              </a:rPr>
              <a:t>what happened to the </a:t>
            </a:r>
            <a:r>
              <a:rPr lang="en-AU" sz="4400" b="1" dirty="0">
                <a:latin typeface="Arial"/>
                <a:cs typeface="Arial"/>
              </a:rPr>
              <a:t>water level </a:t>
            </a:r>
            <a:r>
              <a:rPr lang="en-AU" sz="4400" dirty="0">
                <a:latin typeface="Arial"/>
                <a:cs typeface="Arial"/>
              </a:rPr>
              <a:t>when the rock was </a:t>
            </a:r>
            <a:r>
              <a:rPr lang="en-AU" sz="4400" b="1" dirty="0">
                <a:latin typeface="Arial"/>
                <a:cs typeface="Arial"/>
              </a:rPr>
              <a:t>added</a:t>
            </a:r>
            <a:r>
              <a:rPr lang="en-AU" sz="4400" dirty="0">
                <a:latin typeface="Arial"/>
                <a:cs typeface="Arial"/>
              </a:rPr>
              <a:t> to </a:t>
            </a:r>
            <a:r>
              <a:rPr lang="en-US" sz="4400" dirty="0">
                <a:latin typeface="Arial"/>
                <a:cs typeface="Arial"/>
              </a:rPr>
              <a:t>the </a:t>
            </a:r>
            <a:r>
              <a:rPr lang="en-US" sz="4400" b="1" dirty="0">
                <a:latin typeface="Arial"/>
                <a:cs typeface="Arial"/>
              </a:rPr>
              <a:t>container</a:t>
            </a:r>
            <a:r>
              <a:rPr lang="en-US" sz="4400" dirty="0">
                <a:latin typeface="Arial"/>
                <a:cs typeface="Arial"/>
              </a:rPr>
              <a:t>.</a:t>
            </a:r>
            <a:endParaRPr lang="en-US" sz="4400" dirty="0"/>
          </a:p>
          <a:p>
            <a:endParaRPr lang="en-US" dirty="0">
              <a:latin typeface="Arial"/>
              <a:cs typeface="Arial"/>
            </a:endParaRP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5" name="Picture 4" descr="Two measuring jugs are shown side by side with markings from 10 mL to 70 mL. The first jug has liquid at about 20 mL. The second jug shows a liquid level of 40 mL, with a rock placed inside.">
            <a:extLst>
              <a:ext uri="{FF2B5EF4-FFF2-40B4-BE49-F238E27FC236}">
                <a16:creationId xmlns:a16="http://schemas.microsoft.com/office/drawing/2014/main" id="{CEE18BD7-670E-53D5-790E-2499BDF01A2D}"/>
              </a:ext>
            </a:extLst>
          </p:cNvPr>
          <p:cNvPicPr>
            <a:picLocks noChangeAspect="1"/>
          </p:cNvPicPr>
          <p:nvPr/>
        </p:nvPicPr>
        <p:blipFill>
          <a:blip r:embed="rId4"/>
          <a:srcRect t="6544" b="4284"/>
          <a:stretch>
            <a:fillRect/>
          </a:stretch>
        </p:blipFill>
        <p:spPr>
          <a:xfrm>
            <a:off x="1909748" y="3224171"/>
            <a:ext cx="8372504" cy="3452378"/>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680017A-ACFF-3C0B-F927-50E596E8E891}"/>
              </a:ext>
            </a:extLst>
          </p:cNvPr>
          <p:cNvSpPr txBox="1"/>
          <p:nvPr/>
        </p:nvSpPr>
        <p:spPr>
          <a:xfrm>
            <a:off x="1050662" y="905600"/>
            <a:ext cx="10090673" cy="2376811"/>
          </a:xfrm>
          <a:prstGeom prst="rect">
            <a:avLst/>
          </a:prstGeom>
          <a:noFill/>
        </p:spPr>
        <p:txBody>
          <a:bodyPr wrap="square" lIns="0" tIns="0" rIns="0" bIns="0" rtlCol="0">
            <a:noAutofit/>
          </a:bodyPr>
          <a:lstStyle/>
          <a:p>
            <a:pPr algn="ctr">
              <a:lnSpc>
                <a:spcPct val="150000"/>
              </a:lnSpc>
            </a:pPr>
            <a:r>
              <a:rPr lang="en-AU" sz="3600" dirty="0"/>
              <a:t>A jar contains </a:t>
            </a:r>
            <a:r>
              <a:rPr lang="en-AU" sz="3600" b="1" dirty="0">
                <a:solidFill>
                  <a:srgbClr val="FF0000"/>
                </a:solidFill>
              </a:rPr>
              <a:t>red</a:t>
            </a:r>
            <a:r>
              <a:rPr lang="en-AU" sz="3600" dirty="0"/>
              <a:t> and </a:t>
            </a:r>
            <a:r>
              <a:rPr lang="en-AU" sz="3600" b="1" dirty="0">
                <a:solidFill>
                  <a:schemeClr val="accent2"/>
                </a:solidFill>
              </a:rPr>
              <a:t>blue</a:t>
            </a:r>
            <a:r>
              <a:rPr lang="en-AU" sz="3600" dirty="0"/>
              <a:t> lollies.</a:t>
            </a:r>
            <a:br>
              <a:rPr lang="en-AU" sz="3600" dirty="0"/>
            </a:br>
            <a:r>
              <a:rPr lang="en-AU" sz="3600" dirty="0"/>
              <a:t>You take a sample of </a:t>
            </a:r>
            <a:r>
              <a:rPr lang="en-AU" sz="3600" b="1" dirty="0"/>
              <a:t>10 </a:t>
            </a:r>
            <a:r>
              <a:rPr lang="en-AU" sz="3600" dirty="0"/>
              <a:t>lollies, record the colour, and return them each time.</a:t>
            </a:r>
          </a:p>
        </p:txBody>
      </p:sp>
      <p:sp>
        <p:nvSpPr>
          <p:cNvPr id="8" name="TextBox 7">
            <a:extLst>
              <a:ext uri="{FF2B5EF4-FFF2-40B4-BE49-F238E27FC236}">
                <a16:creationId xmlns:a16="http://schemas.microsoft.com/office/drawing/2014/main" id="{A1DD9298-E7B0-E7BD-F1E2-B7230101B374}"/>
              </a:ext>
            </a:extLst>
          </p:cNvPr>
          <p:cNvSpPr txBox="1"/>
          <p:nvPr/>
        </p:nvSpPr>
        <p:spPr>
          <a:xfrm>
            <a:off x="484736" y="3378651"/>
            <a:ext cx="11359264" cy="1631409"/>
          </a:xfrm>
          <a:prstGeom prst="rect">
            <a:avLst/>
          </a:prstGeom>
          <a:noFill/>
        </p:spPr>
        <p:txBody>
          <a:bodyPr wrap="square">
            <a:spAutoFit/>
          </a:bodyPr>
          <a:lstStyle/>
          <a:p>
            <a:pPr>
              <a:lnSpc>
                <a:spcPct val="150000"/>
              </a:lnSpc>
            </a:pPr>
            <a:r>
              <a:rPr lang="en-AU" sz="3600" dirty="0"/>
              <a:t>Your sample results were:</a:t>
            </a:r>
          </a:p>
          <a:p>
            <a:pPr>
              <a:lnSpc>
                <a:spcPct val="150000"/>
              </a:lnSpc>
            </a:pPr>
            <a:r>
              <a:rPr lang="en-AU" sz="3500" b="1" dirty="0">
                <a:solidFill>
                  <a:srgbClr val="FF0000"/>
                </a:solidFill>
              </a:rPr>
              <a:t>Red</a:t>
            </a:r>
            <a:r>
              <a:rPr lang="en-AU" sz="3500" dirty="0"/>
              <a:t>, </a:t>
            </a:r>
            <a:r>
              <a:rPr lang="en-AU" sz="3500" b="1" dirty="0">
                <a:solidFill>
                  <a:schemeClr val="accent2"/>
                </a:solidFill>
              </a:rPr>
              <a:t>Blue</a:t>
            </a:r>
            <a:r>
              <a:rPr lang="en-AU" sz="3500" b="1" dirty="0"/>
              <a:t>, </a:t>
            </a:r>
            <a:r>
              <a:rPr lang="en-AU" sz="3500" b="1" dirty="0">
                <a:solidFill>
                  <a:srgbClr val="FF0000"/>
                </a:solidFill>
              </a:rPr>
              <a:t>Red</a:t>
            </a:r>
            <a:r>
              <a:rPr lang="en-AU" sz="3500" dirty="0"/>
              <a:t>, </a:t>
            </a:r>
            <a:r>
              <a:rPr lang="en-AU" sz="3500" b="1" dirty="0">
                <a:solidFill>
                  <a:srgbClr val="FF0000"/>
                </a:solidFill>
              </a:rPr>
              <a:t>Red</a:t>
            </a:r>
            <a:r>
              <a:rPr lang="en-AU" sz="3500" dirty="0"/>
              <a:t>, </a:t>
            </a:r>
            <a:r>
              <a:rPr lang="en-AU" sz="3500" b="1" dirty="0">
                <a:solidFill>
                  <a:schemeClr val="accent2"/>
                </a:solidFill>
              </a:rPr>
              <a:t>Blue</a:t>
            </a:r>
            <a:r>
              <a:rPr lang="en-AU" sz="3500" dirty="0"/>
              <a:t>, </a:t>
            </a:r>
            <a:r>
              <a:rPr lang="en-AU" sz="3500" b="1" dirty="0">
                <a:solidFill>
                  <a:srgbClr val="FF0000"/>
                </a:solidFill>
              </a:rPr>
              <a:t>Red</a:t>
            </a:r>
            <a:r>
              <a:rPr lang="en-AU" sz="3500" dirty="0"/>
              <a:t>, </a:t>
            </a:r>
            <a:r>
              <a:rPr lang="en-AU" sz="3500" b="1" dirty="0">
                <a:solidFill>
                  <a:srgbClr val="FF0000"/>
                </a:solidFill>
              </a:rPr>
              <a:t>Red</a:t>
            </a:r>
            <a:r>
              <a:rPr lang="en-AU" sz="3500" dirty="0"/>
              <a:t>, </a:t>
            </a:r>
            <a:r>
              <a:rPr lang="en-AU" sz="3500" b="1" dirty="0">
                <a:solidFill>
                  <a:schemeClr val="accent2"/>
                </a:solidFill>
              </a:rPr>
              <a:t>Blue</a:t>
            </a:r>
            <a:r>
              <a:rPr lang="en-AU" sz="3500" dirty="0"/>
              <a:t>, </a:t>
            </a:r>
            <a:r>
              <a:rPr lang="en-AU" sz="3500" b="1" dirty="0">
                <a:solidFill>
                  <a:srgbClr val="FF0000"/>
                </a:solidFill>
              </a:rPr>
              <a:t>Red</a:t>
            </a:r>
            <a:r>
              <a:rPr lang="en-AU" sz="3500" dirty="0"/>
              <a:t>, </a:t>
            </a:r>
            <a:r>
              <a:rPr lang="en-AU" sz="3500" b="1" dirty="0">
                <a:solidFill>
                  <a:srgbClr val="FF0000"/>
                </a:solidFill>
              </a:rPr>
              <a:t>Red</a:t>
            </a:r>
          </a:p>
        </p:txBody>
      </p:sp>
      <p:sp>
        <p:nvSpPr>
          <p:cNvPr id="9" name="TextBox 8">
            <a:extLst>
              <a:ext uri="{FF2B5EF4-FFF2-40B4-BE49-F238E27FC236}">
                <a16:creationId xmlns:a16="http://schemas.microsoft.com/office/drawing/2014/main" id="{4D0E8C44-7BDC-86AA-797C-7EA0AC6C6FD0}"/>
              </a:ext>
            </a:extLst>
          </p:cNvPr>
          <p:cNvSpPr txBox="1"/>
          <p:nvPr/>
        </p:nvSpPr>
        <p:spPr>
          <a:xfrm>
            <a:off x="524097" y="5126562"/>
            <a:ext cx="11143803" cy="1651671"/>
          </a:xfrm>
          <a:prstGeom prst="rect">
            <a:avLst/>
          </a:prstGeom>
          <a:noFill/>
        </p:spPr>
        <p:txBody>
          <a:bodyPr wrap="square">
            <a:spAutoFit/>
          </a:bodyPr>
          <a:lstStyle/>
          <a:p>
            <a:pPr algn="ctr">
              <a:lnSpc>
                <a:spcPct val="150000"/>
              </a:lnSpc>
            </a:pPr>
            <a:r>
              <a:rPr lang="en-AU" sz="3600" dirty="0"/>
              <a:t>Which </a:t>
            </a:r>
            <a:r>
              <a:rPr lang="en-AU" sz="3600" b="1" dirty="0"/>
              <a:t>colour</a:t>
            </a:r>
            <a:r>
              <a:rPr lang="en-AU" sz="3600" dirty="0"/>
              <a:t> lolly is </a:t>
            </a:r>
            <a:r>
              <a:rPr lang="en-AU" sz="3600" b="1" dirty="0"/>
              <a:t>likely</a:t>
            </a:r>
            <a:r>
              <a:rPr lang="en-AU" sz="3600" dirty="0"/>
              <a:t> to make up </a:t>
            </a:r>
            <a:r>
              <a:rPr lang="en-AU" sz="3600" b="1" dirty="0"/>
              <a:t>most</a:t>
            </a:r>
            <a:r>
              <a:rPr lang="en-AU" sz="3600" dirty="0"/>
              <a:t> of the jar? </a:t>
            </a:r>
            <a:r>
              <a:rPr lang="en-AU" sz="3600" b="1"/>
              <a:t>Communicate</a:t>
            </a:r>
            <a:r>
              <a:rPr lang="en-AU" sz="3600"/>
              <a:t> your </a:t>
            </a:r>
            <a:r>
              <a:rPr lang="en-AU" sz="3600" b="1"/>
              <a:t>reasoning</a:t>
            </a:r>
            <a:r>
              <a:rPr lang="en-AU" sz="3600" dirty="0"/>
              <a:t>.</a:t>
            </a:r>
            <a:endParaRPr lang="en-AU" sz="3600" dirty="0">
              <a:solidFill>
                <a:srgbClr val="FF0000"/>
              </a:solidFill>
            </a:endParaRP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Picture Placeholder 10">
            <a:extLst>
              <a:ext uri="{FF2B5EF4-FFF2-40B4-BE49-F238E27FC236}">
                <a16:creationId xmlns:a16="http://schemas.microsoft.com/office/drawing/2014/main" id="{24EF258E-15EA-F587-FCDD-AB4DE9DC0A99}"/>
              </a:ext>
            </a:extLst>
          </p:cNvPr>
          <p:cNvSpPr txBox="1">
            <a:spLocks/>
          </p:cNvSpPr>
          <p:nvPr/>
        </p:nvSpPr>
        <p:spPr>
          <a:xfrm>
            <a:off x="360000" y="1306142"/>
            <a:ext cx="6532676" cy="470603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latin typeface="Arial"/>
                <a:cs typeface="Arial"/>
              </a:rPr>
              <a:t>Identify</a:t>
            </a:r>
            <a:r>
              <a:rPr lang="en-AU" sz="4400" dirty="0">
                <a:latin typeface="Arial"/>
                <a:cs typeface="Arial"/>
              </a:rPr>
              <a:t> which shape is:</a:t>
            </a:r>
          </a:p>
          <a:p>
            <a:pPr marL="571500" indent="-571500">
              <a:buFont typeface="Arial" panose="020B0604020202020204" pitchFamily="34" charset="0"/>
              <a:buChar char="•"/>
            </a:pPr>
            <a:r>
              <a:rPr lang="en-AU" sz="4400" dirty="0">
                <a:latin typeface="Arial"/>
                <a:cs typeface="Arial"/>
              </a:rPr>
              <a:t>a </a:t>
            </a:r>
            <a:r>
              <a:rPr lang="en-AU" sz="4400" b="1" dirty="0">
                <a:latin typeface="Arial"/>
                <a:cs typeface="Arial"/>
              </a:rPr>
              <a:t>regular polygon</a:t>
            </a:r>
          </a:p>
          <a:p>
            <a:pPr marL="571500" indent="-571500">
              <a:buFont typeface="Arial" panose="020B0604020202020204" pitchFamily="34" charset="0"/>
              <a:buChar char="•"/>
            </a:pPr>
            <a:r>
              <a:rPr lang="en-AU" sz="4400" dirty="0">
                <a:latin typeface="Arial"/>
                <a:cs typeface="Arial"/>
              </a:rPr>
              <a:t>an </a:t>
            </a:r>
            <a:r>
              <a:rPr lang="en-AU" sz="4400" b="1" dirty="0">
                <a:latin typeface="Arial"/>
                <a:cs typeface="Arial"/>
              </a:rPr>
              <a:t>irregular polygon</a:t>
            </a:r>
          </a:p>
          <a:p>
            <a:pPr marL="571500" indent="-571500">
              <a:buFont typeface="Arial" panose="020B0604020202020204" pitchFamily="34" charset="0"/>
              <a:buChar char="•"/>
            </a:pPr>
            <a:r>
              <a:rPr lang="en-AU" sz="4400" b="1" dirty="0">
                <a:latin typeface="Arial"/>
                <a:cs typeface="Arial"/>
              </a:rPr>
              <a:t>not</a:t>
            </a:r>
            <a:r>
              <a:rPr lang="en-AU" sz="4400" dirty="0">
                <a:latin typeface="Arial"/>
                <a:cs typeface="Arial"/>
              </a:rPr>
              <a:t> a </a:t>
            </a:r>
            <a:r>
              <a:rPr lang="en-AU" sz="4400" b="1" dirty="0">
                <a:latin typeface="Arial"/>
                <a:cs typeface="Arial"/>
              </a:rPr>
              <a:t>polygon</a:t>
            </a:r>
            <a:r>
              <a:rPr lang="en-AU" sz="4400" dirty="0">
                <a:latin typeface="Arial"/>
                <a:cs typeface="Arial"/>
              </a:rPr>
              <a:t>.</a:t>
            </a:r>
            <a:endParaRPr lang="en-US" sz="4400" b="1" dirty="0"/>
          </a:p>
          <a:p>
            <a:endParaRPr lang="en-US" dirty="0">
              <a:latin typeface="Arial"/>
              <a:cs typeface="Arial"/>
            </a:endParaRPr>
          </a:p>
        </p:txBody>
      </p:sp>
      <p:sp>
        <p:nvSpPr>
          <p:cNvPr id="10" name="TextBox 9">
            <a:extLst>
              <a:ext uri="{FF2B5EF4-FFF2-40B4-BE49-F238E27FC236}">
                <a16:creationId xmlns:a16="http://schemas.microsoft.com/office/drawing/2014/main" id="{4FF85B83-851D-7D40-5098-6783072EB123}"/>
              </a:ext>
            </a:extLst>
          </p:cNvPr>
          <p:cNvSpPr txBox="1"/>
          <p:nvPr/>
        </p:nvSpPr>
        <p:spPr>
          <a:xfrm>
            <a:off x="7418318" y="632800"/>
            <a:ext cx="692218" cy="457750"/>
          </a:xfrm>
          <a:prstGeom prst="rect">
            <a:avLst/>
          </a:prstGeom>
          <a:noFill/>
        </p:spPr>
        <p:txBody>
          <a:bodyPr wrap="square" lIns="0" tIns="0" rIns="0" bIns="0" rtlCol="0">
            <a:noAutofit/>
          </a:bodyPr>
          <a:lstStyle/>
          <a:p>
            <a:pPr algn="ctr"/>
            <a:r>
              <a:rPr lang="en-AU" sz="3600" b="1" dirty="0"/>
              <a:t>A.</a:t>
            </a:r>
          </a:p>
        </p:txBody>
      </p:sp>
      <p:sp>
        <p:nvSpPr>
          <p:cNvPr id="9" name="Cloud 8" descr="Orange cloud shape.">
            <a:extLst>
              <a:ext uri="{FF2B5EF4-FFF2-40B4-BE49-F238E27FC236}">
                <a16:creationId xmlns:a16="http://schemas.microsoft.com/office/drawing/2014/main" id="{6EB52C4D-6F85-3261-F7E2-666B8F858212}"/>
              </a:ext>
            </a:extLst>
          </p:cNvPr>
          <p:cNvSpPr/>
          <p:nvPr/>
        </p:nvSpPr>
        <p:spPr>
          <a:xfrm rot="867166">
            <a:off x="7727522" y="567253"/>
            <a:ext cx="2208211" cy="2208211"/>
          </a:xfrm>
          <a:prstGeom prst="cloud">
            <a:avLst/>
          </a:prstGeom>
          <a:solidFill>
            <a:srgbClr val="EA9B0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604398F5-1C92-0C83-FB87-DA0DB5CBEB94}"/>
              </a:ext>
            </a:extLst>
          </p:cNvPr>
          <p:cNvSpPr txBox="1"/>
          <p:nvPr/>
        </p:nvSpPr>
        <p:spPr>
          <a:xfrm>
            <a:off x="9737765" y="2874433"/>
            <a:ext cx="692218" cy="457750"/>
          </a:xfrm>
          <a:prstGeom prst="rect">
            <a:avLst/>
          </a:prstGeom>
          <a:noFill/>
        </p:spPr>
        <p:txBody>
          <a:bodyPr wrap="square" lIns="0" tIns="0" rIns="0" bIns="0" rtlCol="0">
            <a:noAutofit/>
          </a:bodyPr>
          <a:lstStyle/>
          <a:p>
            <a:pPr algn="ctr"/>
            <a:r>
              <a:rPr lang="en-AU" sz="3600" b="1" dirty="0"/>
              <a:t>B.</a:t>
            </a:r>
          </a:p>
        </p:txBody>
      </p:sp>
      <p:sp>
        <p:nvSpPr>
          <p:cNvPr id="7" name="Pentagon 6" descr="Purple pentagon.">
            <a:extLst>
              <a:ext uri="{FF2B5EF4-FFF2-40B4-BE49-F238E27FC236}">
                <a16:creationId xmlns:a16="http://schemas.microsoft.com/office/drawing/2014/main" id="{D45011EF-BB1B-B1EE-90E2-8C63551386B6}"/>
              </a:ext>
            </a:extLst>
          </p:cNvPr>
          <p:cNvSpPr/>
          <p:nvPr/>
        </p:nvSpPr>
        <p:spPr>
          <a:xfrm>
            <a:off x="9737765" y="2924650"/>
            <a:ext cx="2208211" cy="2103058"/>
          </a:xfrm>
          <a:prstGeom prst="pentagon">
            <a:avLst/>
          </a:prstGeom>
          <a:solidFill>
            <a:srgbClr val="9933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6560F0E1-61DB-F4B5-B07D-CD409FC7BD79}"/>
              </a:ext>
            </a:extLst>
          </p:cNvPr>
          <p:cNvSpPr txBox="1"/>
          <p:nvPr/>
        </p:nvSpPr>
        <p:spPr>
          <a:xfrm>
            <a:off x="6997101" y="5175673"/>
            <a:ext cx="692218" cy="457750"/>
          </a:xfrm>
          <a:prstGeom prst="rect">
            <a:avLst/>
          </a:prstGeom>
          <a:noFill/>
        </p:spPr>
        <p:txBody>
          <a:bodyPr wrap="square" lIns="0" tIns="0" rIns="0" bIns="0" rtlCol="0">
            <a:noAutofit/>
          </a:bodyPr>
          <a:lstStyle/>
          <a:p>
            <a:pPr algn="ctr"/>
            <a:r>
              <a:rPr lang="en-AU" sz="3600" b="1" dirty="0"/>
              <a:t>C.</a:t>
            </a:r>
          </a:p>
        </p:txBody>
      </p:sp>
      <p:sp>
        <p:nvSpPr>
          <p:cNvPr id="8" name="Pentagon 7" descr="Green 5-sided shape.">
            <a:extLst>
              <a:ext uri="{FF2B5EF4-FFF2-40B4-BE49-F238E27FC236}">
                <a16:creationId xmlns:a16="http://schemas.microsoft.com/office/drawing/2014/main" id="{A954E232-D7DA-E3F6-F345-DA432CAE332A}"/>
              </a:ext>
            </a:extLst>
          </p:cNvPr>
          <p:cNvSpPr/>
          <p:nvPr/>
        </p:nvSpPr>
        <p:spPr>
          <a:xfrm>
            <a:off x="6827520" y="4502948"/>
            <a:ext cx="2703193" cy="2103052"/>
          </a:xfrm>
          <a:custGeom>
            <a:avLst/>
            <a:gdLst>
              <a:gd name="csX0" fmla="*/ 2 w 1560195"/>
              <a:gd name="csY0" fmla="*/ 567562 h 1485900"/>
              <a:gd name="csX1" fmla="*/ 780098 w 1560195"/>
              <a:gd name="csY1" fmla="*/ 0 h 1485900"/>
              <a:gd name="csX2" fmla="*/ 1560193 w 1560195"/>
              <a:gd name="csY2" fmla="*/ 567562 h 1485900"/>
              <a:gd name="csX3" fmla="*/ 1262223 w 1560195"/>
              <a:gd name="csY3" fmla="*/ 1485896 h 1485900"/>
              <a:gd name="csX4" fmla="*/ 297972 w 1560195"/>
              <a:gd name="csY4" fmla="*/ 1485896 h 1485900"/>
              <a:gd name="csX5" fmla="*/ 2 w 1560195"/>
              <a:gd name="csY5" fmla="*/ 567562 h 1485900"/>
              <a:gd name="csX0" fmla="*/ 753590 w 1262221"/>
              <a:gd name="csY0" fmla="*/ 864742 h 1485896"/>
              <a:gd name="csX1" fmla="*/ 482126 w 1262221"/>
              <a:gd name="csY1" fmla="*/ 0 h 1485896"/>
              <a:gd name="csX2" fmla="*/ 1262221 w 1262221"/>
              <a:gd name="csY2" fmla="*/ 567562 h 1485896"/>
              <a:gd name="csX3" fmla="*/ 964251 w 1262221"/>
              <a:gd name="csY3" fmla="*/ 1485896 h 1485896"/>
              <a:gd name="csX4" fmla="*/ 0 w 1262221"/>
              <a:gd name="csY4" fmla="*/ 1485896 h 1485896"/>
              <a:gd name="csX5" fmla="*/ 753590 w 1262221"/>
              <a:gd name="csY5" fmla="*/ 864742 h 1485896"/>
              <a:gd name="csX0" fmla="*/ 1401290 w 1909921"/>
              <a:gd name="csY0" fmla="*/ 864742 h 1485896"/>
              <a:gd name="csX1" fmla="*/ 1129826 w 1909921"/>
              <a:gd name="csY1" fmla="*/ 0 h 1485896"/>
              <a:gd name="csX2" fmla="*/ 1909921 w 1909921"/>
              <a:gd name="csY2" fmla="*/ 567562 h 1485896"/>
              <a:gd name="csX3" fmla="*/ 1611951 w 1909921"/>
              <a:gd name="csY3" fmla="*/ 1485896 h 1485896"/>
              <a:gd name="csX4" fmla="*/ 0 w 1909921"/>
              <a:gd name="csY4" fmla="*/ 792476 h 1485896"/>
              <a:gd name="csX5" fmla="*/ 1401290 w 1909921"/>
              <a:gd name="csY5" fmla="*/ 864742 h 1485896"/>
            </a:gdLst>
            <a:ahLst/>
            <a:cxnLst>
              <a:cxn ang="0">
                <a:pos x="csX0" y="csY0"/>
              </a:cxn>
              <a:cxn ang="0">
                <a:pos x="csX1" y="csY1"/>
              </a:cxn>
              <a:cxn ang="0">
                <a:pos x="csX2" y="csY2"/>
              </a:cxn>
              <a:cxn ang="0">
                <a:pos x="csX3" y="csY3"/>
              </a:cxn>
              <a:cxn ang="0">
                <a:pos x="csX4" y="csY4"/>
              </a:cxn>
              <a:cxn ang="0">
                <a:pos x="csX5" y="csY5"/>
              </a:cxn>
            </a:cxnLst>
            <a:rect l="l" t="t" r="r" b="b"/>
            <a:pathLst>
              <a:path w="1909921" h="1485896">
                <a:moveTo>
                  <a:pt x="1401290" y="864742"/>
                </a:moveTo>
                <a:lnTo>
                  <a:pt x="1129826" y="0"/>
                </a:lnTo>
                <a:lnTo>
                  <a:pt x="1909921" y="567562"/>
                </a:lnTo>
                <a:lnTo>
                  <a:pt x="1611951" y="1485896"/>
                </a:lnTo>
                <a:lnTo>
                  <a:pt x="0" y="792476"/>
                </a:lnTo>
                <a:lnTo>
                  <a:pt x="1401290" y="864742"/>
                </a:lnTo>
                <a:close/>
              </a:path>
            </a:pathLst>
          </a:cu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multi-step problems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76DF2A78-2742-F9E2-CA9D-FDAC9ACD8C38}"/>
              </a:ext>
            </a:extLst>
          </p:cNvPr>
          <p:cNvSpPr txBox="1"/>
          <p:nvPr/>
        </p:nvSpPr>
        <p:spPr>
          <a:xfrm>
            <a:off x="862083" y="1152606"/>
            <a:ext cx="10467833" cy="5171737"/>
          </a:xfrm>
          <a:prstGeom prst="rect">
            <a:avLst/>
          </a:prstGeom>
          <a:noFill/>
        </p:spPr>
        <p:txBody>
          <a:bodyPr wrap="square">
            <a:spAutoFit/>
          </a:bodyPr>
          <a:lstStyle/>
          <a:p>
            <a:pPr>
              <a:lnSpc>
                <a:spcPct val="150000"/>
              </a:lnSpc>
            </a:pPr>
            <a:r>
              <a:rPr lang="en-AU" sz="3200" dirty="0">
                <a:effectLst/>
                <a:latin typeface="Arial" panose="020B0604020202020204" pitchFamily="34" charset="0"/>
                <a:ea typeface="Calibri" panose="020F0502020204030204" pitchFamily="34" charset="0"/>
              </a:rPr>
              <a:t>A library had </a:t>
            </a:r>
            <a:r>
              <a:rPr lang="en-AU" sz="3200" b="0" dirty="0">
                <a:effectLst/>
                <a:latin typeface="Arial" panose="020B0604020202020204" pitchFamily="34" charset="0"/>
                <a:ea typeface="Calibri" panose="020F0502020204030204" pitchFamily="34" charset="0"/>
              </a:rPr>
              <a:t>2,475 books</a:t>
            </a:r>
            <a:r>
              <a:rPr lang="en-AU" sz="3200" dirty="0">
                <a:effectLst/>
                <a:latin typeface="Arial" panose="020B0604020202020204" pitchFamily="34" charset="0"/>
                <a:ea typeface="Calibri" panose="020F0502020204030204" pitchFamily="34" charset="0"/>
              </a:rPr>
              <a:t> at the start of the year. In March, they bought </a:t>
            </a:r>
            <a:r>
              <a:rPr lang="en-AU" sz="3200" b="0" dirty="0">
                <a:effectLst/>
                <a:latin typeface="Arial" panose="020B0604020202020204" pitchFamily="34" charset="0"/>
                <a:ea typeface="Calibri" panose="020F0502020204030204" pitchFamily="34" charset="0"/>
              </a:rPr>
              <a:t>385 new books</a:t>
            </a:r>
            <a:r>
              <a:rPr lang="en-AU" sz="3200" dirty="0">
                <a:effectLst/>
                <a:latin typeface="Arial" panose="020B0604020202020204" pitchFamily="34" charset="0"/>
                <a:ea typeface="Calibri" panose="020F0502020204030204" pitchFamily="34" charset="0"/>
              </a:rPr>
              <a:t>, and in June, they received a donation of </a:t>
            </a:r>
            <a:r>
              <a:rPr lang="en-AU" sz="3200" b="0" dirty="0">
                <a:effectLst/>
                <a:latin typeface="Arial" panose="020B0604020202020204" pitchFamily="34" charset="0"/>
                <a:ea typeface="Calibri" panose="020F0502020204030204" pitchFamily="34" charset="0"/>
              </a:rPr>
              <a:t>642 more books</a:t>
            </a:r>
            <a:r>
              <a:rPr lang="en-AU" sz="3200" dirty="0">
                <a:effectLst/>
                <a:latin typeface="Arial" panose="020B0604020202020204" pitchFamily="34" charset="0"/>
                <a:ea typeface="Calibri" panose="020F0502020204030204" pitchFamily="34" charset="0"/>
              </a:rPr>
              <a:t>. During Term 4, </a:t>
            </a:r>
            <a:r>
              <a:rPr lang="en-AU" sz="3200" b="0" dirty="0">
                <a:effectLst/>
                <a:latin typeface="Arial" panose="020B0604020202020204" pitchFamily="34" charset="0"/>
                <a:ea typeface="Calibri" panose="020F0502020204030204" pitchFamily="34" charset="0"/>
              </a:rPr>
              <a:t>1,128 books were borrowed</a:t>
            </a:r>
            <a:r>
              <a:rPr lang="en-AU" sz="3200" dirty="0">
                <a:effectLst/>
                <a:latin typeface="Arial" panose="020B0604020202020204" pitchFamily="34" charset="0"/>
                <a:ea typeface="Calibri" panose="020F0502020204030204" pitchFamily="34" charset="0"/>
              </a:rPr>
              <a:t>, but </a:t>
            </a:r>
            <a:r>
              <a:rPr lang="en-AU" sz="3200" b="0" dirty="0">
                <a:effectLst/>
                <a:latin typeface="Arial" panose="020B0604020202020204" pitchFamily="34" charset="0"/>
                <a:ea typeface="Calibri" panose="020F0502020204030204" pitchFamily="34" charset="0"/>
              </a:rPr>
              <a:t>1,056 were returned</a:t>
            </a:r>
            <a:r>
              <a:rPr lang="en-AU" sz="3200" dirty="0">
                <a:effectLst/>
                <a:latin typeface="Arial" panose="020B0604020202020204" pitchFamily="34" charset="0"/>
                <a:ea typeface="Calibri" panose="020F0502020204030204" pitchFamily="34" charset="0"/>
              </a:rPr>
              <a:t> by the end of the term.</a:t>
            </a:r>
            <a:r>
              <a:rPr lang="en-AU" sz="3200" dirty="0">
                <a:effectLst/>
                <a:latin typeface="Times New Roman" panose="02020603050405020304" pitchFamily="18" charset="0"/>
                <a:ea typeface="Calibri" panose="020F0502020204030204" pitchFamily="34" charset="0"/>
              </a:rPr>
              <a:t> </a:t>
            </a:r>
          </a:p>
          <a:p>
            <a:pPr>
              <a:lnSpc>
                <a:spcPct val="150000"/>
              </a:lnSpc>
            </a:pPr>
            <a:endParaRPr lang="en-AU" sz="3200" b="0" dirty="0">
              <a:latin typeface="Times New Roman" panose="02020603050405020304" pitchFamily="18" charset="0"/>
              <a:ea typeface="Calibri" panose="020F0502020204030204" pitchFamily="34" charset="0"/>
            </a:endParaRPr>
          </a:p>
          <a:p>
            <a:pPr algn="ctr">
              <a:lnSpc>
                <a:spcPct val="150000"/>
              </a:lnSpc>
            </a:pPr>
            <a:r>
              <a:rPr lang="en-AU" sz="3200" b="1" dirty="0">
                <a:effectLst/>
                <a:latin typeface="Arial" panose="020B0604020202020204" pitchFamily="34" charset="0"/>
                <a:ea typeface="Calibri" panose="020F0502020204030204" pitchFamily="34" charset="0"/>
              </a:rPr>
              <a:t>How many </a:t>
            </a:r>
            <a:r>
              <a:rPr lang="en-AU" sz="3200" b="0" dirty="0">
                <a:effectLst/>
                <a:latin typeface="Arial" panose="020B0604020202020204" pitchFamily="34" charset="0"/>
                <a:ea typeface="Calibri" panose="020F0502020204030204" pitchFamily="34" charset="0"/>
              </a:rPr>
              <a:t>books are in the library </a:t>
            </a:r>
            <a:r>
              <a:rPr lang="en-AU" sz="3200" b="1" dirty="0">
                <a:effectLst/>
                <a:latin typeface="Arial" panose="020B0604020202020204" pitchFamily="34" charset="0"/>
                <a:ea typeface="Calibri" panose="020F0502020204030204" pitchFamily="34" charset="0"/>
              </a:rPr>
              <a:t>now</a:t>
            </a:r>
            <a:r>
              <a:rPr lang="en-AU" sz="3200" b="0" dirty="0">
                <a:effectLst/>
                <a:latin typeface="Arial" panose="020B0604020202020204" pitchFamily="34" charset="0"/>
                <a:ea typeface="Calibri" panose="020F0502020204030204" pitchFamily="34" charset="0"/>
              </a:rPr>
              <a:t>?</a:t>
            </a:r>
            <a:endParaRPr lang="en-AU" sz="3200" dirty="0"/>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dirty="0"/>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dirty="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 </a:t>
            </a:r>
            <a:r>
              <a:rPr lang="en-AU" dirty="0">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60000" y="3311795"/>
            <a:ext cx="11484000" cy="3429001"/>
          </a:xfrm>
        </p:spPr>
        <p:txBody>
          <a:bodyPr/>
          <a:lstStyle/>
          <a:p>
            <a:r>
              <a:rPr lang="en-AU" u="sng" dirty="0">
                <a:hlinkClick r:id="rId6"/>
              </a:rPr>
              <a:t>Mathematics K–10 Syllabus</a:t>
            </a:r>
            <a:r>
              <a:rPr lang="en-AU" dirty="0"/>
              <a:t> © Syllabus NSW Education Standards Authority (NESA) for and on behalf of the Crown in right of the State of New South Wales, 2022.</a:t>
            </a:r>
          </a:p>
          <a:p>
            <a:pPr fontAlgn="base"/>
            <a:r>
              <a:rPr lang="en-AU" u="sng" dirty="0">
                <a:hlinkClick r:id="rId7"/>
              </a:rPr>
              <a:t>National Numeracy Learning Progression</a:t>
            </a:r>
            <a:r>
              <a:rPr lang="en-AU" dirty="0"/>
              <a:t> © Australian Curriculum, Assessment and Reporting Authority (ACARA) 2010 to present, unless otherwise indicated. This material was downloaded from the </a:t>
            </a:r>
            <a:r>
              <a:rPr lang="en-AU" u="sng" dirty="0">
                <a:hlinkClick r:id="rId8"/>
              </a:rPr>
              <a:t>Australian Curriculum</a:t>
            </a:r>
            <a:r>
              <a:rPr lang="en-AU" dirty="0"/>
              <a:t> website (National Numeracy Learning Progression) (accessed 04 November 2026) and was not modified. </a:t>
            </a:r>
          </a:p>
          <a:p>
            <a:pPr fontAlgn="base"/>
            <a:r>
              <a:rPr lang="en-AU" dirty="0"/>
              <a:t>Australian Government Department of Education 2023 (2020) </a:t>
            </a:r>
            <a:r>
              <a:rPr lang="en-AU" u="sng" dirty="0">
                <a:hlinkClick r:id="rId9"/>
              </a:rPr>
              <a:t>'Lesson 1: How Many Right Angles'</a:t>
            </a:r>
            <a:r>
              <a:rPr lang="en-AU" dirty="0"/>
              <a:t>, Teaching resources, </a:t>
            </a:r>
            <a:r>
              <a:rPr lang="en-AU" dirty="0" err="1"/>
              <a:t>reSolve</a:t>
            </a:r>
            <a:r>
              <a:rPr lang="en-AU" dirty="0"/>
              <a:t> website, accessed 04 March 2026. </a:t>
            </a:r>
          </a:p>
          <a:p>
            <a:pPr fontAlgn="base"/>
            <a:r>
              <a:rPr lang="en-AU" dirty="0"/>
              <a:t>State of New South Wales (Department of Education) (2023) </a:t>
            </a:r>
            <a:r>
              <a:rPr lang="en-AU" u="sng" dirty="0">
                <a:hlinkClick r:id="rId10"/>
              </a:rPr>
              <a:t>‘Let’s get magical (3-digit addition and subtraction)’</a:t>
            </a:r>
            <a:r>
              <a:rPr lang="en-AU" dirty="0"/>
              <a:t>, Mathematics K–6 resources, NSW Department of Education website, accessed 04 March 2026. </a:t>
            </a:r>
          </a:p>
          <a:p>
            <a:pPr fontAlgn="base"/>
            <a:r>
              <a:rPr lang="en-AU" dirty="0"/>
              <a:t>State of Victoria (Department of Education and Training) (</a:t>
            </a:r>
            <a:r>
              <a:rPr lang="en-AU" dirty="0" err="1"/>
              <a:t>n.d</a:t>
            </a:r>
            <a:r>
              <a:rPr lang="en-AU" dirty="0"/>
              <a:t>) </a:t>
            </a:r>
            <a:r>
              <a:rPr lang="en-AU" u="sng" dirty="0">
                <a:hlinkClick r:id="rId11"/>
              </a:rPr>
              <a:t>‘Measure, calculate and compare elapsed time’</a:t>
            </a:r>
            <a:r>
              <a:rPr lang="en-AU" dirty="0"/>
              <a:t>, Arc website, accessed 04 March 2026. </a:t>
            </a:r>
          </a:p>
          <a:p>
            <a:pPr fontAlgn="base"/>
            <a:r>
              <a:rPr lang="en-AU" dirty="0"/>
              <a:t>The Mathematical Association of Victoria (2020) </a:t>
            </a:r>
            <a:r>
              <a:rPr lang="en-AU" i="1" u="sng" dirty="0">
                <a:hlinkClick r:id="rId12"/>
              </a:rPr>
              <a:t>3–6: Remote Maths – Edition 2 [PDF 417 KB]</a:t>
            </a:r>
            <a:r>
              <a:rPr lang="en-AU" dirty="0"/>
              <a:t>, MAV Learning Activities website, accessed 04 March 2026. </a:t>
            </a:r>
          </a:p>
          <a:p>
            <a:pPr fontAlgn="base"/>
            <a:r>
              <a:rPr lang="en-AU" dirty="0"/>
              <a:t>University of Cambridge (n.d.) </a:t>
            </a:r>
            <a:r>
              <a:rPr lang="en-AU" i="1" u="sng" dirty="0">
                <a:hlinkClick r:id="rId13"/>
              </a:rPr>
              <a:t>Buses</a:t>
            </a:r>
            <a:r>
              <a:rPr lang="en-AU" dirty="0"/>
              <a:t>, NRICH website, accessed 04 March 2026.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865DB-25C8-BC17-1393-1B04F3AFAD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0BB6A8-820B-9BBD-A86E-F18529DB5EBA}"/>
              </a:ext>
            </a:extLst>
          </p:cNvPr>
          <p:cNvSpPr>
            <a:spLocks noGrp="1"/>
          </p:cNvSpPr>
          <p:nvPr>
            <p:ph type="title"/>
          </p:nvPr>
        </p:nvSpPr>
        <p:spPr/>
        <p:txBody>
          <a:bodyPr/>
          <a:lstStyle/>
          <a:p>
            <a:r>
              <a:rPr lang="en-AU" dirty="0">
                <a:latin typeface="+mj-lt"/>
              </a:rPr>
              <a:t>References </a:t>
            </a:r>
            <a:r>
              <a:rPr lang="en-AU" dirty="0">
                <a:solidFill>
                  <a:schemeClr val="accent4"/>
                </a:solidFill>
                <a:latin typeface="+mj-lt"/>
              </a:rPr>
              <a:t>(2)</a:t>
            </a:r>
          </a:p>
        </p:txBody>
      </p:sp>
      <p:sp>
        <p:nvSpPr>
          <p:cNvPr id="6" name="TextBox 5">
            <a:extLst>
              <a:ext uri="{FF2B5EF4-FFF2-40B4-BE49-F238E27FC236}">
                <a16:creationId xmlns:a16="http://schemas.microsoft.com/office/drawing/2014/main" id="{F33289E6-8E5A-AB4B-C22E-F10E2AC212A0}"/>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A8AC938F-5E2C-D6FE-AA56-72263AA7D4F2}"/>
              </a:ext>
            </a:extLst>
          </p:cNvPr>
          <p:cNvSpPr>
            <a:spLocks noGrp="1"/>
          </p:cNvSpPr>
          <p:nvPr>
            <p:ph idx="1"/>
          </p:nvPr>
        </p:nvSpPr>
        <p:spPr>
          <a:xfrm>
            <a:off x="360000" y="3428999"/>
            <a:ext cx="11484000" cy="1861519"/>
          </a:xfrm>
        </p:spPr>
        <p:txBody>
          <a:bodyPr/>
          <a:lstStyle/>
          <a:p>
            <a:pPr fontAlgn="base"/>
            <a:r>
              <a:rPr lang="en-AU" sz="1800" dirty="0">
                <a:solidFill>
                  <a:schemeClr val="accent1"/>
                </a:solidFill>
                <a:latin typeface="+mj-lt"/>
                <a:ea typeface="+mj-ea"/>
              </a:rPr>
              <a:t>Further</a:t>
            </a:r>
            <a:r>
              <a:rPr lang="en-AU" sz="1800" dirty="0"/>
              <a:t> </a:t>
            </a:r>
            <a:r>
              <a:rPr lang="en-AU" sz="1800" dirty="0">
                <a:solidFill>
                  <a:schemeClr val="accent1"/>
                </a:solidFill>
                <a:latin typeface="+mj-lt"/>
                <a:ea typeface="+mj-ea"/>
              </a:rPr>
              <a:t>reading</a:t>
            </a:r>
            <a:r>
              <a:rPr lang="en-AU" sz="1800" dirty="0"/>
              <a:t> </a:t>
            </a:r>
          </a:p>
          <a:p>
            <a:pPr fontAlgn="base"/>
            <a:r>
              <a:rPr lang="en-AU" dirty="0"/>
              <a:t>Siemon D, Warren E, Beswick K, Faragher R, Miller J, Horne Marj, </a:t>
            </a:r>
            <a:r>
              <a:rPr lang="en-AU" dirty="0" err="1"/>
              <a:t>Jazby</a:t>
            </a:r>
            <a:r>
              <a:rPr lang="en-AU" dirty="0"/>
              <a:t> D, Breed M, Clark J, Brady K (2022) </a:t>
            </a:r>
            <a:r>
              <a:rPr lang="en-AU" i="1" dirty="0"/>
              <a:t>Teaching Mathematics: Foundation to Middle Years</a:t>
            </a:r>
            <a:r>
              <a:rPr lang="en-AU" dirty="0"/>
              <a:t>, 3rd </a:t>
            </a:r>
            <a:r>
              <a:rPr lang="en-AU" dirty="0" err="1"/>
              <a:t>edn</a:t>
            </a:r>
            <a:r>
              <a:rPr lang="en-AU" dirty="0"/>
              <a:t> Oxford University Press, Australia. </a:t>
            </a:r>
          </a:p>
          <a:p>
            <a:pPr fontAlgn="base"/>
            <a:r>
              <a:rPr lang="en-AU" dirty="0"/>
              <a:t>Van de Walle J, Karp K, Bay-Williams JM, Brass A, Bentley B, Ferguson S, Goff W, Livy S, Marshman M, Martin D, Pearn C, </a:t>
            </a:r>
            <a:r>
              <a:rPr lang="en-AU" dirty="0" err="1"/>
              <a:t>Prodromou</a:t>
            </a:r>
            <a:r>
              <a:rPr lang="en-AU" dirty="0"/>
              <a:t> T, Symons D and Wilkie K (2019) </a:t>
            </a:r>
            <a:r>
              <a:rPr lang="en-AU" i="1" dirty="0"/>
              <a:t>Primary and Middle Years Mathematics: Teaching Developmentally</a:t>
            </a:r>
            <a:r>
              <a:rPr lang="en-AU" dirty="0"/>
              <a:t>, 1st Australian </a:t>
            </a:r>
            <a:r>
              <a:rPr lang="en-AU" dirty="0" err="1"/>
              <a:t>edn</a:t>
            </a:r>
            <a:r>
              <a:rPr lang="en-AU" dirty="0"/>
              <a:t>, Pearson Education Australia, Melbourne. </a:t>
            </a:r>
          </a:p>
        </p:txBody>
      </p:sp>
      <p:sp>
        <p:nvSpPr>
          <p:cNvPr id="8" name="Rectangle 7">
            <a:extLst>
              <a:ext uri="{FF2B5EF4-FFF2-40B4-BE49-F238E27FC236}">
                <a16:creationId xmlns:a16="http://schemas.microsoft.com/office/drawing/2014/main" id="{5D1FDE2E-1D2A-7A78-EAD0-BFAE3152FFF3}"/>
              </a:ext>
            </a:extLst>
          </p:cNvPr>
          <p:cNvSpPr/>
          <p:nvPr/>
        </p:nvSpPr>
        <p:spPr>
          <a:xfrm>
            <a:off x="360000" y="5715993"/>
            <a:ext cx="11484000" cy="70821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dirty="0">
                <a:solidFill>
                  <a:srgbClr val="000000"/>
                </a:solidFill>
                <a:latin typeface="Arial" panose="020B0604020202020204" pitchFamily="34" charset="0"/>
              </a:rPr>
              <a:t>Note:</a:t>
            </a:r>
            <a:r>
              <a:rPr lang="en-AU" sz="1200" dirty="0">
                <a:solidFill>
                  <a:srgbClr val="000000"/>
                </a:solidFill>
                <a:latin typeface="Arial" panose="020B0604020202020204" pitchFamily="34" charset="0"/>
              </a:rPr>
              <a:t> the State of Victoria Department of Education and Training website </a:t>
            </a:r>
            <a:r>
              <a:rPr lang="en-AU" sz="1200" u="sng" dirty="0">
                <a:solidFill>
                  <a:srgbClr val="2F5496"/>
                </a:solidFill>
                <a:latin typeface="Arial" panose="020B0604020202020204" pitchFamily="34" charset="0"/>
                <a:hlinkClick r:id="rId6"/>
              </a:rPr>
              <a:t>FUSE</a:t>
            </a:r>
            <a:r>
              <a:rPr lang="en-AU" sz="1200" dirty="0">
                <a:solidFill>
                  <a:srgbClr val="000000"/>
                </a:solidFill>
                <a:latin typeface="Arial" panose="020B0604020202020204" pitchFamily="34" charset="0"/>
              </a:rPr>
              <a:t> will redirect to their new platform, </a:t>
            </a:r>
            <a:r>
              <a:rPr lang="en-AU" sz="1200" u="sng" dirty="0">
                <a:solidFill>
                  <a:srgbClr val="2F5496"/>
                </a:solidFill>
                <a:latin typeface="Arial" panose="020B0604020202020204" pitchFamily="34" charset="0"/>
                <a:hlinkClick r:id="rId7"/>
              </a:rPr>
              <a:t>ARC Learning</a:t>
            </a:r>
            <a:r>
              <a:rPr lang="en-AU" sz="1200" dirty="0">
                <a:solidFill>
                  <a:srgbClr val="000000"/>
                </a:solidFill>
                <a:latin typeface="Arial" panose="020B0604020202020204" pitchFamily="34" charset="0"/>
              </a:rPr>
              <a:t>, from Term 1 2024. Information about the transition can be found </a:t>
            </a:r>
            <a:r>
              <a:rPr lang="en-AU" sz="1200" u="sng" dirty="0">
                <a:solidFill>
                  <a:srgbClr val="2F5496"/>
                </a:solidFill>
                <a:latin typeface="Arial" panose="020B0604020202020204" pitchFamily="34" charset="0"/>
                <a:hlinkClick r:id="rId8"/>
              </a:rPr>
              <a:t>here</a:t>
            </a:r>
            <a:r>
              <a:rPr lang="en-AU" sz="1200" dirty="0">
                <a:solidFill>
                  <a:srgbClr val="000000"/>
                </a:solidFill>
                <a:latin typeface="Arial" panose="020B0604020202020204" pitchFamily="34" charset="0"/>
              </a:rPr>
              <a:t>. </a:t>
            </a:r>
            <a:endParaRPr lang="en-AU" sz="1200" dirty="0"/>
          </a:p>
        </p:txBody>
      </p:sp>
      <p:sp>
        <p:nvSpPr>
          <p:cNvPr id="2" name="Slide Number Placeholder 1">
            <a:extLst>
              <a:ext uri="{FF2B5EF4-FFF2-40B4-BE49-F238E27FC236}">
                <a16:creationId xmlns:a16="http://schemas.microsoft.com/office/drawing/2014/main" id="{861EC23E-54F0-F470-F805-75DBF63970DD}"/>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362515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http://purl.org/dc/dcmitype/"/>
    <ds:schemaRef ds:uri="7e763d47-3c66-4c58-9425-1477fd3ccd1e"/>
    <ds:schemaRef ds:uri="http://schemas.microsoft.com/office/2006/metadata/properties"/>
    <ds:schemaRef ds:uri="http://purl.org/dc/terms/"/>
    <ds:schemaRef ds:uri="60129b06-f64b-40a8-96e2-c5b2f86112b1"/>
    <ds:schemaRef ds:uri="http://www.w3.org/XML/1998/namespace"/>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C14A10C3-80FB-4CAD-AF8F-D7B84554DCE6}"/>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2960</TotalTime>
  <Words>6289</Words>
  <Application>Microsoft Office PowerPoint</Application>
  <PresentationFormat>Widescreen</PresentationFormat>
  <Paragraphs>806</Paragraphs>
  <Slides>69</Slides>
  <Notes>69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Montserrat</vt:lpstr>
      <vt:lpstr>Public Sans</vt:lpstr>
      <vt:lpstr>Arial</vt:lpstr>
      <vt:lpstr>Calibri</vt:lpstr>
      <vt:lpstr>Times New Roman</vt:lpstr>
      <vt:lpstr>Cambria Math</vt:lpstr>
      <vt:lpstr>Public Sans Light</vt:lpstr>
      <vt:lpstr>Wingdings</vt:lpstr>
      <vt:lpstr>Edu NSW ACT Foundation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build to the whole 1</vt:lpstr>
      <vt:lpstr>Review of learning 2</vt:lpstr>
      <vt:lpstr>True or false (1)</vt:lpstr>
      <vt:lpstr>Short response (5)</vt:lpstr>
      <vt:lpstr>Short response (6)</vt:lpstr>
      <vt:lpstr>Short response (7)</vt:lpstr>
      <vt:lpstr>Short response (8)</vt:lpstr>
      <vt:lpstr>Activity 2 – build the whole 2</vt:lpstr>
      <vt:lpstr>Review of learning 3</vt:lpstr>
      <vt:lpstr>Multiple choice (2)</vt:lpstr>
      <vt:lpstr>Short response (9)</vt:lpstr>
      <vt:lpstr>Short response (10)</vt:lpstr>
      <vt:lpstr>Short response (11)</vt:lpstr>
      <vt:lpstr>Short response (12)</vt:lpstr>
      <vt:lpstr>Activity 3 – given fraction parts</vt:lpstr>
      <vt:lpstr>Review of learning 4</vt:lpstr>
      <vt:lpstr>True or false (2)</vt:lpstr>
      <vt:lpstr>Short response (13)</vt:lpstr>
      <vt:lpstr>Short response (14)</vt:lpstr>
      <vt:lpstr>Short response (15)</vt:lpstr>
      <vt:lpstr>Short response (16)</vt:lpstr>
      <vt:lpstr>Activity 4 – fraction word problem</vt:lpstr>
      <vt:lpstr>Review of learning 5</vt:lpstr>
      <vt:lpstr>Multiple choice (3)</vt:lpstr>
      <vt:lpstr>Short response (17)</vt:lpstr>
      <vt:lpstr>Short response (18)</vt:lpstr>
      <vt:lpstr>Short response (19)</vt:lpstr>
      <vt:lpstr>Short response (20)</vt:lpstr>
      <vt:lpstr>Activity 5 – strategies for solving addition problems</vt:lpstr>
      <vt:lpstr>Review of learning 6</vt:lpstr>
      <vt:lpstr>True or false (3)</vt:lpstr>
      <vt:lpstr>Short response (21)</vt:lpstr>
      <vt:lpstr>Short response (22)</vt:lpstr>
      <vt:lpstr>Short response (23)</vt:lpstr>
      <vt:lpstr>Short response (24)</vt:lpstr>
      <vt:lpstr>Activity 6 – addition and subtraction problems that require more than one operation</vt:lpstr>
      <vt:lpstr>Review of learning 7</vt:lpstr>
      <vt:lpstr>Multiple choice (4)</vt:lpstr>
      <vt:lpstr>Short response (25)</vt:lpstr>
      <vt:lpstr>Short response (26)</vt:lpstr>
      <vt:lpstr>Short response (27)</vt:lpstr>
      <vt:lpstr>Short response (28)</vt:lpstr>
      <vt:lpstr>Activity 7 – compare, evaluate and communicate addition and subtraction strategies</vt:lpstr>
      <vt:lpstr>Review of learning 8</vt:lpstr>
      <vt:lpstr>True or false (4)</vt:lpstr>
      <vt:lpstr>Short response (29)</vt:lpstr>
      <vt:lpstr>Short response (30)</vt:lpstr>
      <vt:lpstr>Short response (31)</vt:lpstr>
      <vt:lpstr>Short response (32)</vt:lpstr>
      <vt:lpstr>Activity 8 – multi-step problems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2026-04-01T22:02:22Z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