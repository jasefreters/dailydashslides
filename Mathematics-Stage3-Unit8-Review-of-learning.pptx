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5"/>
  </p:notesMasterIdLst>
  <p:handoutMasterIdLst>
    <p:handoutMasterId r:id="rId76"/>
  </p:handoutMasterIdLst>
  <p:sldIdLst>
    <p:sldId id="365" r:id="rId5"/>
    <p:sldId id="26579" r:id="rId6"/>
    <p:sldId id="26359" r:id="rId7"/>
    <p:sldId id="271" r:id="rId8"/>
    <p:sldId id="26646" r:id="rId9"/>
    <p:sldId id="358" r:id="rId10"/>
    <p:sldId id="26580" r:id="rId11"/>
    <p:sldId id="26581" r:id="rId12"/>
    <p:sldId id="26582" r:id="rId13"/>
    <p:sldId id="26576" r:id="rId14"/>
    <p:sldId id="26652" r:id="rId15"/>
    <p:sldId id="26583" r:id="rId16"/>
    <p:sldId id="26586" r:id="rId17"/>
    <p:sldId id="26587" r:id="rId18"/>
    <p:sldId id="26588" r:id="rId19"/>
    <p:sldId id="26589" r:id="rId20"/>
    <p:sldId id="26590" r:id="rId21"/>
    <p:sldId id="26591" r:id="rId22"/>
    <p:sldId id="26592" r:id="rId23"/>
    <p:sldId id="26594" r:id="rId24"/>
    <p:sldId id="26596" r:id="rId25"/>
    <p:sldId id="26597" r:id="rId26"/>
    <p:sldId id="26598" r:id="rId27"/>
    <p:sldId id="26599" r:id="rId28"/>
    <p:sldId id="26600" r:id="rId29"/>
    <p:sldId id="26601" r:id="rId30"/>
    <p:sldId id="26604" r:id="rId31"/>
    <p:sldId id="26605" r:id="rId32"/>
    <p:sldId id="26606" r:id="rId33"/>
    <p:sldId id="26607" r:id="rId34"/>
    <p:sldId id="26608" r:id="rId35"/>
    <p:sldId id="26609" r:id="rId36"/>
    <p:sldId id="26610" r:id="rId37"/>
    <p:sldId id="26611" r:id="rId38"/>
    <p:sldId id="26614" r:id="rId39"/>
    <p:sldId id="26615" r:id="rId40"/>
    <p:sldId id="26616" r:id="rId41"/>
    <p:sldId id="26617" r:id="rId42"/>
    <p:sldId id="26618" r:id="rId43"/>
    <p:sldId id="26619" r:id="rId44"/>
    <p:sldId id="26622" r:id="rId45"/>
    <p:sldId id="26623" r:id="rId46"/>
    <p:sldId id="26624" r:id="rId47"/>
    <p:sldId id="26625" r:id="rId48"/>
    <p:sldId id="26626" r:id="rId49"/>
    <p:sldId id="26627" r:id="rId50"/>
    <p:sldId id="26628" r:id="rId51"/>
    <p:sldId id="26648" r:id="rId52"/>
    <p:sldId id="26632" r:id="rId53"/>
    <p:sldId id="26633" r:id="rId54"/>
    <p:sldId id="26634" r:id="rId55"/>
    <p:sldId id="26635" r:id="rId56"/>
    <p:sldId id="26636" r:id="rId57"/>
    <p:sldId id="26653" r:id="rId58"/>
    <p:sldId id="26637" r:id="rId59"/>
    <p:sldId id="26640" r:id="rId60"/>
    <p:sldId id="26641" r:id="rId61"/>
    <p:sldId id="26642" r:id="rId62"/>
    <p:sldId id="26643" r:id="rId63"/>
    <p:sldId id="26644" r:id="rId64"/>
    <p:sldId id="26645" r:id="rId65"/>
    <p:sldId id="26393" r:id="rId66"/>
    <p:sldId id="26387" r:id="rId67"/>
    <p:sldId id="26395" r:id="rId68"/>
    <p:sldId id="26391" r:id="rId69"/>
    <p:sldId id="26402" r:id="rId70"/>
    <p:sldId id="26507" r:id="rId71"/>
    <p:sldId id="26649" r:id="rId72"/>
    <p:sldId id="360" r:id="rId73"/>
    <p:sldId id="361" r:id="rId74"/>
  </p:sldIdLst>
  <p:sldSz cx="12192000" cy="6858000"/>
  <p:notesSz cx="6858000" cy="9144000"/>
  <p:embeddedFontLst>
    <p:embeddedFont>
      <p:font typeface="Cambria Math" panose="02040503050406030204" pitchFamily="18" charset="0"/>
      <p:regular r:id="rId77"/>
    </p:embeddedFont>
    <p:embeddedFont>
      <p:font typeface="Canva Student Font" panose="020B0604020202020204" charset="0"/>
      <p:regular r:id="rId78"/>
    </p:embeddedFont>
    <p:embeddedFont>
      <p:font typeface="Montserrat" panose="00000500000000000000" pitchFamily="2" charset="0"/>
      <p:regular r:id="rId79"/>
      <p:bold r:id="rId80"/>
      <p:italic r:id="rId81"/>
      <p:boldItalic r:id="rId82"/>
    </p:embeddedFont>
    <p:embeddedFont>
      <p:font typeface="Public Sans" pitchFamily="2" charset="0"/>
      <p:regular r:id="rId83"/>
      <p:bold r:id="rId84"/>
      <p:italic r:id="rId85"/>
      <p:boldItalic r:id="rId86"/>
    </p:embeddedFont>
    <p:embeddedFont>
      <p:font typeface="Public Sans Light" pitchFamily="2" charset="0"/>
      <p:regular r:id="rId87"/>
      <p:italic r:id="rId88"/>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646"/>
            <p14:sldId id="358"/>
            <p14:sldId id="26580"/>
            <p14:sldId id="26581"/>
            <p14:sldId id="26582"/>
            <p14:sldId id="26576"/>
            <p14:sldId id="26652"/>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4"/>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48"/>
            <p14:sldId id="26632"/>
            <p14:sldId id="26633"/>
            <p14:sldId id="26634"/>
            <p14:sldId id="26635"/>
            <p14:sldId id="26636"/>
            <p14:sldId id="26653"/>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8EAAFC52-5D86-6FE7-9D47-1FD3C7D0804D}" name="Lisa Kew" initials="LK" userId="S::LISA.JONES13@det.nsw.edu.au::687d7c21-e1c8-437d-b64b-4b01e8e7487e" providerId="AD"/>
  <p188:author id="{95D16B7D-CADB-F2BF-AC29-D680545C75EE}" name="Carrie Webeck" initials="CW" userId="S::CARRIE-ANN.WEBECK@det.nsw.edu.au::e5c4b697-ca15-4f3a-a906-1289ddc2fc07" providerId="AD"/>
  <p188:author id="{D9FAB2E2-FCDC-C762-1ECD-0FBBF02124FD}" name="Annette Price" initials=""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A9B0C"/>
    <a:srgbClr val="007A8A"/>
    <a:srgbClr val="9B6808"/>
    <a:srgbClr val="427B2D"/>
    <a:srgbClr val="B51458"/>
    <a:srgbClr val="00ACC2"/>
    <a:srgbClr val="64BB47"/>
    <a:srgbClr val="EDF9E0"/>
    <a:srgbClr val="87D8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4B960A-B544-453E-ABCC-0FE1B82CDCBE}" v="36" dt="2026-03-23T01:41:40.774"/>
    <p1510:client id="{E06C603B-E5AF-4B4B-8D5C-1E9175860403}" v="81" dt="2026-03-22T21:10:39.947"/>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79" autoAdjust="0"/>
    <p:restoredTop sz="92904" autoAdjust="0"/>
  </p:normalViewPr>
  <p:slideViewPr>
    <p:cSldViewPr snapToGrid="0">
      <p:cViewPr varScale="1">
        <p:scale>
          <a:sx n="54" d="100"/>
          <a:sy n="54" d="100"/>
        </p:scale>
        <p:origin x="252" y="60"/>
      </p:cViewPr>
      <p:guideLst>
        <p:guide orient="horz" pos="2160"/>
        <p:guide pos="3863"/>
      </p:guideLst>
    </p:cSldViewPr>
  </p:slideViewPr>
  <p:outlineViewPr>
    <p:cViewPr>
      <p:scale>
        <a:sx n="33" d="100"/>
        <a:sy n="33" d="100"/>
      </p:scale>
      <p:origin x="0" y="-1104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5082" y="169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8.fntdata"/><Relationship Id="rId89"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3.fntdata"/><Relationship Id="rId5" Type="http://schemas.openxmlformats.org/officeDocument/2006/relationships/slide" Target="slides/slide1.xml"/><Relationship Id="rId90"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4.fntdata"/><Relationship Id="rId85" Type="http://schemas.openxmlformats.org/officeDocument/2006/relationships/font" Target="fonts/font9.fntdata"/><Relationship Id="rId93"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83" Type="http://schemas.openxmlformats.org/officeDocument/2006/relationships/font" Target="fonts/font7.fntdata"/><Relationship Id="rId88" Type="http://schemas.openxmlformats.org/officeDocument/2006/relationships/font" Target="fonts/font12.fntdata"/><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9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1.fntdata"/><Relationship Id="rId61" Type="http://schemas.openxmlformats.org/officeDocument/2006/relationships/slide" Target="slides/slide57.xml"/><Relationship Id="rId82" Type="http://schemas.openxmlformats.org/officeDocument/2006/relationships/font" Target="fonts/font6.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1.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24/03/2026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24/03/2026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dirty="0"/>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dirty="0"/>
          </a:p>
          <a:p>
            <a:r>
              <a:rPr lang="en-AU" dirty="0"/>
              <a:t>This Review of Learning slide deck revisits key concepts from the following units:</a:t>
            </a:r>
          </a:p>
          <a:p>
            <a:pPr marL="285750" indent="-285750">
              <a:buFont typeface="Arial" panose="020B0604020202020204" pitchFamily="34" charset="0"/>
              <a:buChar char="•"/>
            </a:pPr>
            <a:r>
              <a:rPr lang="en-AU" dirty="0"/>
              <a:t>Stage 3 Year A Unit 8</a:t>
            </a:r>
          </a:p>
          <a:p>
            <a:pPr marL="285750" indent="-285750">
              <a:buFont typeface="Arial" panose="020B0604020202020204" pitchFamily="34" charset="0"/>
              <a:buChar char="•"/>
            </a:pPr>
            <a:r>
              <a:rPr lang="en-AU" dirty="0"/>
              <a:t>Stage 3 Year A Unit 7</a:t>
            </a:r>
          </a:p>
          <a:p>
            <a:pPr marL="285750" indent="-285750">
              <a:buFont typeface="Arial" panose="020B0604020202020204" pitchFamily="34" charset="0"/>
              <a:buChar char="•"/>
            </a:pPr>
            <a:r>
              <a:rPr lang="en-AU" dirty="0"/>
              <a:t>Stage 3 Year A Unit 6</a:t>
            </a:r>
          </a:p>
          <a:p>
            <a:r>
              <a:rPr lang="en-AU" dirty="0"/>
              <a:t>It also includes opportunities to review prior learning in non-number content, supporting consolidation across focus areas.</a:t>
            </a:r>
          </a:p>
          <a:p>
            <a:endParaRPr lang="en-AU" dirty="0"/>
          </a:p>
          <a:p>
            <a:r>
              <a:rPr lang="en-AU" dirty="0"/>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dirty="0"/>
          </a:p>
          <a:p>
            <a:r>
              <a:rPr lang="en-AU" b="1" dirty="0"/>
              <a:t>1.</a:t>
            </a:r>
          </a:p>
          <a:p>
            <a:r>
              <a:rPr lang="en-AU" b="1" dirty="0"/>
              <a:t>Multiple-choice questions/True or false: </a:t>
            </a:r>
            <a:r>
              <a:rPr lang="en-AU" dirty="0"/>
              <a:t>Designed to promote active retrieval of key concepts and identify common misconceptions in number, supporting consolidation, understanding and fluency.</a:t>
            </a:r>
            <a:br>
              <a:rPr lang="en-AU" dirty="0"/>
            </a:br>
            <a:r>
              <a:rPr lang="en-AU" dirty="0"/>
              <a:t>These questions:</a:t>
            </a:r>
          </a:p>
          <a:p>
            <a:endParaRPr lang="en-AU" dirty="0"/>
          </a:p>
          <a:p>
            <a:pPr marL="285750" indent="-285750">
              <a:buFont typeface="Wingdings" panose="05000000000000000000" pitchFamily="2" charset="2"/>
              <a:buChar char="ü"/>
            </a:pPr>
            <a:r>
              <a:rPr lang="en-AU" dirty="0"/>
              <a:t>support spaced and interleaved practice</a:t>
            </a:r>
          </a:p>
          <a:p>
            <a:pPr marL="285750" indent="-285750">
              <a:buFont typeface="Wingdings" panose="05000000000000000000" pitchFamily="2" charset="2"/>
              <a:buChar char="ü"/>
            </a:pPr>
            <a:r>
              <a:rPr lang="en-AU" dirty="0"/>
              <a:t>help identify and address common misconceptions </a:t>
            </a:r>
          </a:p>
          <a:p>
            <a:pPr marL="285750" indent="-285750">
              <a:buFont typeface="Wingdings" panose="05000000000000000000" pitchFamily="2" charset="2"/>
              <a:buChar char="ü"/>
            </a:pPr>
            <a:r>
              <a:rPr lang="en-AU" dirty="0"/>
              <a:t>support active recall and immediate feedback</a:t>
            </a:r>
          </a:p>
          <a:p>
            <a:pPr marL="285750" indent="-285750">
              <a:buFont typeface="Wingdings" panose="05000000000000000000" pitchFamily="2" charset="2"/>
              <a:buChar char="ü"/>
            </a:pPr>
            <a:r>
              <a:rPr lang="en-AU" dirty="0"/>
              <a:t>support whole class participation</a:t>
            </a:r>
          </a:p>
          <a:p>
            <a:pPr marL="285750" indent="-285750">
              <a:buFont typeface="Wingdings" panose="05000000000000000000" pitchFamily="2" charset="2"/>
              <a:buChar char="ü"/>
            </a:pPr>
            <a:r>
              <a:rPr lang="en-AU" dirty="0"/>
              <a:t>identify areas requiring reteach</a:t>
            </a:r>
          </a:p>
          <a:p>
            <a:endParaRPr lang="en-AU" dirty="0"/>
          </a:p>
          <a:p>
            <a:r>
              <a:rPr lang="en-AU" b="1" dirty="0"/>
              <a:t>2.</a:t>
            </a:r>
            <a:br>
              <a:rPr lang="en-AU" b="1" dirty="0"/>
            </a:br>
            <a:r>
              <a:rPr lang="en-AU" b="1" dirty="0"/>
              <a:t>Short-response question sets: </a:t>
            </a:r>
            <a:r>
              <a:rPr lang="en-AU" dirty="0"/>
              <a:t>Carefully grouped questions that encourage spaced and interleaved practice across multiple focus areas, helping students revisit and apply knowledge from different points in time.</a:t>
            </a:r>
            <a:br>
              <a:rPr lang="en-AU" dirty="0"/>
            </a:br>
            <a:r>
              <a:rPr lang="en-AU" dirty="0"/>
              <a:t>These questions:</a:t>
            </a:r>
          </a:p>
          <a:p>
            <a:endParaRPr lang="en-AU" dirty="0"/>
          </a:p>
          <a:p>
            <a:pPr marL="285750" indent="-285750">
              <a:buFont typeface="Wingdings" panose="05000000000000000000" pitchFamily="2" charset="2"/>
              <a:buChar char="ü"/>
            </a:pPr>
            <a:r>
              <a:rPr lang="en-AU" dirty="0"/>
              <a:t>have a combination of question types </a:t>
            </a:r>
          </a:p>
          <a:p>
            <a:pPr marL="285750" indent="-285750">
              <a:buFont typeface="Wingdings" panose="05000000000000000000" pitchFamily="2" charset="2"/>
              <a:buChar char="ü"/>
            </a:pPr>
            <a:r>
              <a:rPr lang="en-AU" dirty="0"/>
              <a:t>address a range of focus areas</a:t>
            </a:r>
          </a:p>
          <a:p>
            <a:pPr marL="285750" indent="-285750">
              <a:buFont typeface="Wingdings" panose="05000000000000000000" pitchFamily="2" charset="2"/>
              <a:buChar char="ü"/>
            </a:pPr>
            <a:r>
              <a:rPr lang="en-AU" dirty="0"/>
              <a:t>build automaticity and fluency</a:t>
            </a:r>
          </a:p>
          <a:p>
            <a:pPr marL="285750" indent="-285750">
              <a:buFont typeface="Wingdings" panose="05000000000000000000" pitchFamily="2" charset="2"/>
              <a:buChar char="ü"/>
            </a:pPr>
            <a:r>
              <a:rPr lang="en-AU" dirty="0"/>
              <a:t>support active recall </a:t>
            </a:r>
          </a:p>
          <a:p>
            <a:pPr marL="285750" indent="-285750">
              <a:buFont typeface="Wingdings" panose="05000000000000000000" pitchFamily="2" charset="2"/>
              <a:buChar char="ü"/>
            </a:pPr>
            <a:r>
              <a:rPr lang="en-AU" dirty="0"/>
              <a:t>allow for immediate feedback</a:t>
            </a:r>
          </a:p>
          <a:p>
            <a:pPr marL="285750" indent="-285750">
              <a:buFont typeface="Wingdings" panose="05000000000000000000" pitchFamily="2" charset="2"/>
              <a:buChar char="ü"/>
            </a:pPr>
            <a:r>
              <a:rPr lang="en-AU" dirty="0"/>
              <a:t>identify content requiring reteach</a:t>
            </a:r>
          </a:p>
          <a:p>
            <a:endParaRPr lang="en-AU" dirty="0"/>
          </a:p>
          <a:p>
            <a:r>
              <a:rPr lang="en-AU" b="1" dirty="0"/>
              <a:t>3.</a:t>
            </a:r>
          </a:p>
          <a:p>
            <a:r>
              <a:rPr lang="en-AU" b="1" dirty="0"/>
              <a:t>Developing number sense activities: </a:t>
            </a:r>
            <a:r>
              <a:rPr lang="en-AU" dirty="0"/>
              <a:t>A variety of practical, purposeful tasks that reinforce current learning and build on prior knowledge. These activities promote reasoning, problem-solving and conceptual understanding.</a:t>
            </a:r>
            <a:br>
              <a:rPr lang="en-AU" dirty="0"/>
            </a:br>
            <a:br>
              <a:rPr lang="en-AU" dirty="0"/>
            </a:br>
            <a:endParaRPr lang="en-AU" dirty="0"/>
          </a:p>
          <a:p>
            <a:r>
              <a:rPr lang="en-AU" dirty="0"/>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Teacher notes:</a:t>
            </a:r>
            <a:endParaRPr lang="en-US" dirty="0"/>
          </a:p>
          <a:p>
            <a:pPr marL="171450" indent="-171450">
              <a:buFont typeface="Arial"/>
              <a:buChar char="•"/>
            </a:pPr>
            <a:r>
              <a:rPr lang="en-AU" dirty="0"/>
              <a:t>Click lesson numbers to go to specific lessons</a:t>
            </a:r>
          </a:p>
          <a:p>
            <a:pPr marL="171450" indent="-171450">
              <a:buFont typeface="Arial"/>
              <a:buChar char="•"/>
            </a:pPr>
            <a:r>
              <a:rPr lang="en-AU" dirty="0">
                <a:cs typeface="Calibri"/>
              </a:rPr>
              <a:t>Interactive features can be viewed in slide show</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4D29-B4F5-A86B-480F-44D16C2AE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826A8-A5AE-3179-C5C9-8D9DF711A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7954E-9F4D-0D11-4B0B-3FF0F27CD732}"/>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r>
              <a:rPr lang="en-AU" sz="1600" b="0" kern="1200" dirty="0">
                <a:solidFill>
                  <a:schemeClr val="tx1"/>
                </a:solidFill>
                <a:effectLst/>
                <a:latin typeface="Arial" panose="020B0604020202020204" pitchFamily="34" charset="0"/>
                <a:ea typeface="+mn-ea"/>
                <a:cs typeface="Arial" panose="020B0604020202020204" pitchFamily="34" charset="0"/>
              </a:rPr>
              <a:t>Representing quantity fractions A</a:t>
            </a:r>
          </a:p>
        </p:txBody>
      </p:sp>
      <p:sp>
        <p:nvSpPr>
          <p:cNvPr id="4" name="Slide Number Placeholder 3">
            <a:extLst>
              <a:ext uri="{FF2B5EF4-FFF2-40B4-BE49-F238E27FC236}">
                <a16:creationId xmlns:a16="http://schemas.microsoft.com/office/drawing/2014/main" id="{A00CD198-B3C3-B3AF-86B2-4D9C310AEBD8}"/>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729947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Geometric measure B (Stage 2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Represents numbers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Representing quantity fractions A</a:t>
            </a:r>
          </a:p>
          <a:p>
            <a:endParaRPr lang="en-AU" dirty="0"/>
          </a:p>
          <a:p>
            <a:r>
              <a:rPr lang="en-AU" b="1" dirty="0"/>
              <a:t>Comparing halves and quarters</a:t>
            </a:r>
          </a:p>
          <a:p>
            <a:r>
              <a:rPr lang="en-AU" b="0" dirty="0"/>
              <a:t>This resource corresponds to Resource 27 – fraction problem solving and Resource 28 – Would you rather? in Stage 3 Year A Unit 8.</a:t>
            </a:r>
          </a:p>
          <a:p>
            <a:endParaRPr lang="en-AU" b="0"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Mia ate a quarter of a pizza and Jacob ate half of a different pizza. Mia said she ate more than Jacob. How could she be correct?</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Guide students to consider the problem and show their working out on a whiteboard.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turn and talk to explain their thinking. </a:t>
            </a:r>
          </a:p>
          <a:p>
            <a:endParaRPr lang="en-AU" b="0" dirty="0"/>
          </a:p>
          <a:p>
            <a:endParaRPr lang="en-AU" b="0" dirty="0"/>
          </a:p>
          <a:p>
            <a:r>
              <a:rPr lang="en-AU" b="0" dirty="0"/>
              <a:t> </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DA6EA-6BC7-1234-E4E1-3CF5C5A7E8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79ED9-358D-8FBF-5790-8E14FF602B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7D9DB8-5392-87D6-DB0E-83120BFE4FC8}"/>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Representing quantity fractions A</a:t>
            </a:r>
          </a:p>
          <a:p>
            <a:endParaRPr lang="en-AU" dirty="0"/>
          </a:p>
          <a:p>
            <a:r>
              <a:rPr lang="en-AU" b="1" dirty="0"/>
              <a:t>Comparing halves and quarters</a:t>
            </a:r>
          </a:p>
          <a:p>
            <a:r>
              <a:rPr lang="en-AU" b="0" dirty="0"/>
              <a:t>This resource corresponds to Resource 27 – fraction problem solving and Resource 28 – Would you rather? in Stage 3 Year A Unit 8.</a:t>
            </a:r>
          </a:p>
          <a:p>
            <a:endParaRPr lang="en-AU" b="0"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discuss how they compared the halves and quarters of different sized pizzas, describe the part eaten and justify the need to represent the common whole. </a:t>
            </a:r>
          </a:p>
          <a:p>
            <a:endParaRPr lang="en-AU" b="0" dirty="0"/>
          </a:p>
          <a:p>
            <a:endParaRPr lang="en-AU" b="0" dirty="0"/>
          </a:p>
          <a:p>
            <a:r>
              <a:rPr lang="en-AU" b="0" dirty="0"/>
              <a:t> </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E35D4819-5EF4-C8DE-3930-6F24D39D7D8E}"/>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15237416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2)</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r>
              <a:rPr lang="en-AU" sz="1600" b="0" kern="1200" dirty="0">
                <a:solidFill>
                  <a:schemeClr val="tx1"/>
                </a:solidFill>
                <a:effectLst/>
                <a:latin typeface="Arial" panose="020B0604020202020204" pitchFamily="34" charset="0"/>
                <a:ea typeface="+mn-ea"/>
                <a:cs typeface="Arial" panose="020B0604020202020204" pitchFamily="34" charset="0"/>
              </a:rPr>
              <a:t>Representing quantity fractions A</a:t>
            </a: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Geometric measure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Represents numbers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Representing quantity fractions A</a:t>
            </a:r>
          </a:p>
          <a:p>
            <a:endParaRPr lang="en-AU" dirty="0"/>
          </a:p>
          <a:p>
            <a:r>
              <a:rPr lang="en-AU" b="1" dirty="0"/>
              <a:t>Ordering unit fractions on a number line</a:t>
            </a:r>
          </a:p>
          <a:p>
            <a:r>
              <a:rPr lang="en-AU" b="0" dirty="0"/>
              <a:t>This resource corresponds to Resource 29 – finding fractions and</a:t>
            </a:r>
            <a:r>
              <a:rPr lang="en-AU" sz="1600" kern="1200" dirty="0">
                <a:solidFill>
                  <a:schemeClr val="tx1"/>
                </a:solidFill>
                <a:effectLst/>
                <a:latin typeface="Arial" panose="020B0604020202020204" pitchFamily="34" charset="0"/>
                <a:ea typeface="+mn-ea"/>
                <a:cs typeface="Arial" panose="020B0604020202020204" pitchFamily="34" charset="0"/>
              </a:rPr>
              <a:t> Figure 15 </a:t>
            </a:r>
            <a:r>
              <a:rPr lang="en-AU" b="0" dirty="0"/>
              <a:t>in Stage 3 Year A Unit 8.</a:t>
            </a:r>
          </a:p>
          <a:p>
            <a:endParaRPr lang="en-AU" b="0"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Prepare Resource 29 – finding fractions.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Provide small groups of students with one of the fractions. Each group discusses where this fraction should be placed.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Model using a half and a quarter as benchmark fractions to assist in placing other fractions along the number line.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When directed, one student will place their fraction on the line, using adhesive materials. </a:t>
            </a:r>
          </a:p>
          <a:p>
            <a:pPr marL="342900" lvl="0" indent="-342900">
              <a:buFont typeface="+mj-lt"/>
              <a:buAutoNum type="arabicPeriod"/>
            </a:pPr>
            <a:endParaRPr lang="en-AU" sz="1600" kern="1200" dirty="0">
              <a:solidFill>
                <a:schemeClr val="tx1"/>
              </a:solidFill>
              <a:effectLst/>
              <a:latin typeface="Arial" panose="020B0604020202020204" pitchFamily="34" charset="0"/>
              <a:ea typeface="+mn-ea"/>
              <a:cs typeface="Arial" panose="020B0604020202020204" pitchFamily="34" charset="0"/>
            </a:endParaRPr>
          </a:p>
          <a:p>
            <a:r>
              <a:rPr lang="en-AU" sz="1600" b="1" kern="1200" dirty="0">
                <a:solidFill>
                  <a:schemeClr val="tx1"/>
                </a:solidFill>
                <a:effectLst/>
                <a:latin typeface="Arial" panose="020B0604020202020204" pitchFamily="34" charset="0"/>
                <a:ea typeface="+mn-ea"/>
                <a:cs typeface="Arial" panose="020B0604020202020204" pitchFamily="34" charset="0"/>
              </a:rPr>
              <a:t>Note</a:t>
            </a:r>
            <a:r>
              <a:rPr lang="en-AU" sz="1600" kern="1200" dirty="0">
                <a:solidFill>
                  <a:schemeClr val="tx1"/>
                </a:solidFill>
                <a:effectLst/>
                <a:latin typeface="Arial" panose="020B0604020202020204" pitchFamily="34" charset="0"/>
                <a:ea typeface="+mn-ea"/>
                <a:cs typeface="Arial" panose="020B0604020202020204" pitchFamily="34" charset="0"/>
              </a:rPr>
              <a:t>: this task can be varied by using string, nine pegs and sticky notes with recorded fractions (see Figure 15). Alternatively, students can draw a line, marking zero to one, and write the given fractions on paper or individual whiteboard.</a:t>
            </a:r>
          </a:p>
          <a:p>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r>
              <a:rPr lang="en-AU" sz="1600" b="0" kern="1200" dirty="0">
                <a:solidFill>
                  <a:schemeClr val="tx1"/>
                </a:solidFill>
                <a:effectLst/>
                <a:latin typeface="Arial" panose="020B0604020202020204" pitchFamily="34" charset="0"/>
                <a:ea typeface="+mn-ea"/>
                <a:cs typeface="Arial" panose="020B0604020202020204" pitchFamily="34" charset="0"/>
              </a:rPr>
              <a:t>Representing quantity fractions A</a:t>
            </a: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Geometric measure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b="0" dirty="0">
                <a:latin typeface="Arial"/>
                <a:cs typeface="Arial"/>
              </a:rPr>
              <a:t>Multiplicative relations A</a:t>
            </a:r>
            <a:endParaRPr lang="en-AU" sz="1600" b="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Represents numbers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B (Stage 2 content reviewed)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Representing quantity fractions A</a:t>
            </a:r>
          </a:p>
          <a:p>
            <a:endParaRPr lang="en-AU" dirty="0"/>
          </a:p>
          <a:p>
            <a:r>
              <a:rPr lang="en-AU" b="1" dirty="0"/>
              <a:t>Applying the common whole (one) when adding fractions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dirty="0"/>
              <a:t>This resource corresponds to Resource 30 – fruit fractions and </a:t>
            </a:r>
            <a:r>
              <a:rPr lang="en-AU" sz="1600" kern="1200" dirty="0">
                <a:solidFill>
                  <a:schemeClr val="tx1"/>
                </a:solidFill>
                <a:effectLst/>
                <a:latin typeface="Arial" panose="020B0604020202020204" pitchFamily="34" charset="0"/>
                <a:ea typeface="+mn-ea"/>
                <a:cs typeface="Arial" panose="020B0604020202020204" pitchFamily="34" charset="0"/>
              </a:rPr>
              <a:t>Figure 16 </a:t>
            </a:r>
            <a:r>
              <a:rPr lang="en-AU" b="0" dirty="0"/>
              <a:t>in Stage 3 Year A Unit 8. </a:t>
            </a:r>
          </a:p>
          <a:p>
            <a:endParaRPr lang="en-AU" b="1"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Remind students that when adding fractions, the number 1 is the common whole. For example, you cannot add a quarter to a half if the size of the wholes you are comparing are different. To add fractions, a common whole (one) is needed (see Figure 16).</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Explain that these fractions displayed represent parts of whole slices that are the same size. Someone has spilt some cola over the plates.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Ask students to turn and talk to answer:</a:t>
            </a:r>
          </a:p>
          <a:p>
            <a:pPr marL="0" lvl="0" indent="0">
              <a:buFont typeface="+mj-lt"/>
              <a:buNone/>
            </a:pPr>
            <a:r>
              <a:rPr lang="en-AU" b="0" dirty="0"/>
              <a:t>— </a:t>
            </a:r>
            <a:r>
              <a:rPr lang="en-AU" sz="1600" kern="1200" dirty="0">
                <a:solidFill>
                  <a:schemeClr val="tx1"/>
                </a:solidFill>
                <a:effectLst/>
                <a:latin typeface="Arial" panose="020B0604020202020204" pitchFamily="34" charset="0"/>
                <a:ea typeface="+mn-ea"/>
                <a:cs typeface="Arial" panose="020B0604020202020204" pitchFamily="34" charset="0"/>
              </a:rPr>
              <a:t>What fraction pieces are visible? (Halves and quarters)</a:t>
            </a:r>
          </a:p>
          <a:p>
            <a:pPr marL="0" lvl="0" indent="0">
              <a:buFont typeface="+mj-lt"/>
              <a:buNone/>
            </a:pPr>
            <a:r>
              <a:rPr lang="en-AU" b="0" dirty="0"/>
              <a:t>— </a:t>
            </a:r>
            <a:r>
              <a:rPr lang="en-AU" sz="1600" kern="1200" dirty="0">
                <a:solidFill>
                  <a:schemeClr val="tx1"/>
                </a:solidFill>
                <a:effectLst/>
                <a:latin typeface="Arial" panose="020B0604020202020204" pitchFamily="34" charset="0"/>
                <a:ea typeface="+mn-ea"/>
                <a:cs typeface="Arial" panose="020B0604020202020204" pitchFamily="34" charset="0"/>
              </a:rPr>
              <a:t>How many whole slices do the visible pieces total? How did you work it out? (5 and a quarter)</a:t>
            </a:r>
          </a:p>
          <a:p>
            <a:pPr marL="0" lvl="0" indent="0">
              <a:buFont typeface="+mj-lt"/>
              <a:buNone/>
            </a:pPr>
            <a:r>
              <a:rPr lang="en-AU" b="0" dirty="0"/>
              <a:t>— </a:t>
            </a:r>
            <a:r>
              <a:rPr lang="en-AU" sz="1600" kern="1200" dirty="0">
                <a:solidFill>
                  <a:schemeClr val="tx1"/>
                </a:solidFill>
                <a:effectLst/>
                <a:latin typeface="Arial" panose="020B0604020202020204" pitchFamily="34" charset="0"/>
                <a:ea typeface="+mn-ea"/>
                <a:cs typeface="Arial" panose="020B0604020202020204" pitchFamily="34" charset="0"/>
              </a:rPr>
              <a:t>On how many plates is it unclear what fraction is on the plate? (10)</a:t>
            </a:r>
          </a:p>
          <a:p>
            <a:pPr marL="0" lvl="0" indent="0">
              <a:buFont typeface="+mj-lt"/>
              <a:buNone/>
            </a:pPr>
            <a:r>
              <a:rPr lang="en-AU" b="0" dirty="0"/>
              <a:t>— </a:t>
            </a:r>
            <a:r>
              <a:rPr lang="en-AU" sz="1600" kern="1200" dirty="0">
                <a:solidFill>
                  <a:schemeClr val="tx1"/>
                </a:solidFill>
                <a:effectLst/>
                <a:latin typeface="Arial" panose="020B0604020202020204" pitchFamily="34" charset="0"/>
                <a:ea typeface="+mn-ea"/>
                <a:cs typeface="Arial" panose="020B0604020202020204" pitchFamily="34" charset="0"/>
              </a:rPr>
              <a:t>What is the range of pieces that could be covered by the cola? (Quarter, half, three-quarters, whole, other fractions)</a:t>
            </a:r>
          </a:p>
          <a:p>
            <a:pPr marL="0" lvl="0" indent="0">
              <a:buFont typeface="+mj-lt"/>
              <a:buNone/>
            </a:pPr>
            <a:r>
              <a:rPr lang="en-AU" sz="1600" kern="1200" dirty="0">
                <a:solidFill>
                  <a:schemeClr val="tx1"/>
                </a:solidFill>
                <a:effectLst/>
                <a:latin typeface="Arial" panose="020B0604020202020204" pitchFamily="34" charset="0"/>
                <a:ea typeface="+mn-ea"/>
                <a:cs typeface="Arial" panose="020B0604020202020204" pitchFamily="34" charset="0"/>
              </a:rPr>
              <a:t>4. Guide students in how these kiwifruit slices are only cut into quarters, halves or three-quarters. There are no whole pieces or other fractions.</a:t>
            </a:r>
          </a:p>
          <a:p>
            <a:pPr marL="0" lvl="0" indent="0">
              <a:buFont typeface="+mj-lt"/>
              <a:buNone/>
            </a:pPr>
            <a:r>
              <a:rPr lang="en-AU" sz="1600" kern="1200" dirty="0">
                <a:solidFill>
                  <a:schemeClr val="tx1"/>
                </a:solidFill>
                <a:effectLst/>
                <a:latin typeface="Arial" panose="020B0604020202020204" pitchFamily="34" charset="0"/>
                <a:ea typeface="+mn-ea"/>
                <a:cs typeface="Arial" panose="020B0604020202020204" pitchFamily="34" charset="0"/>
              </a:rPr>
              <a:t>5. Ask students what the pieces covered by the cola might be if there were between 8 and 9 slices in total. Share different student responses.</a:t>
            </a:r>
          </a:p>
          <a:p>
            <a:pPr marL="0" indent="0">
              <a:buFont typeface="+mj-lt"/>
              <a:buNone/>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4)</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r>
              <a:rPr lang="en-AU" sz="1600" b="0" kern="1200" dirty="0">
                <a:solidFill>
                  <a:schemeClr val="tx1"/>
                </a:solidFill>
                <a:effectLst/>
                <a:latin typeface="Arial" panose="020B0604020202020204" pitchFamily="34" charset="0"/>
                <a:ea typeface="+mn-ea"/>
                <a:cs typeface="Arial" panose="020B0604020202020204" pitchFamily="34" charset="0"/>
              </a:rPr>
              <a:t>Representing quantity fractions A</a:t>
            </a: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Represents numbers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Representing quantity fractions A</a:t>
            </a:r>
          </a:p>
          <a:p>
            <a:endParaRPr lang="en-AU" dirty="0"/>
          </a:p>
          <a:p>
            <a:r>
              <a:rPr lang="en-AU" b="1" dirty="0"/>
              <a:t>Comparing and ordering unit fractions on a number line</a:t>
            </a:r>
          </a:p>
          <a:p>
            <a:endParaRPr lang="en-AU" b="1" dirty="0"/>
          </a:p>
          <a:p>
            <a:r>
              <a:rPr lang="en-AU" b="0" dirty="0"/>
              <a:t>1. In pairs or small groups, students draw and label 3 number lines of approximately the same length, showing zero to one. </a:t>
            </a:r>
          </a:p>
          <a:p>
            <a:r>
              <a:rPr lang="en-AU" b="0" dirty="0"/>
              <a:t>2. Ask students to order and write,</a:t>
            </a:r>
          </a:p>
          <a:p>
            <a:r>
              <a:rPr lang="en-AU" b="0" dirty="0"/>
              <a:t>— half, quarters and eighths on the first number line</a:t>
            </a:r>
          </a:p>
          <a:p>
            <a:r>
              <a:rPr lang="en-AU" b="0" dirty="0"/>
              <a:t>— thirds and sixths on the second number line</a:t>
            </a:r>
          </a:p>
          <a:p>
            <a:r>
              <a:rPr lang="en-AU" b="0" dirty="0"/>
              <a:t>— fifths and tenths on the third number line.</a:t>
            </a:r>
          </a:p>
          <a:p>
            <a:r>
              <a:rPr lang="en-AU" b="0" dirty="0"/>
              <a:t>3. Prompt students to consider where half would be on the second and third number line.</a:t>
            </a:r>
          </a:p>
          <a:p>
            <a:r>
              <a:rPr lang="en-AU" b="0" dirty="0"/>
              <a:t>4. Select 3 number lines to share with the class. Discuss similarities and differences. </a:t>
            </a:r>
          </a:p>
          <a:p>
            <a:r>
              <a:rPr lang="en-AU" b="0" dirty="0"/>
              <a:t>5. Ask students to justify any placements that differ to their peers.</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Represents numbers A</a:t>
            </a:r>
            <a:endParaRPr lang="en-AU" dirty="0">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a:t>
            </a:r>
            <a:r>
              <a:rPr lang="en-AU" sz="1600" b="0" i="0" kern="1200" dirty="0">
                <a:solidFill>
                  <a:schemeClr val="tx1"/>
                </a:solidFill>
                <a:effectLst/>
                <a:latin typeface="Arial" panose="020B0604020202020204" pitchFamily="34" charset="0"/>
                <a:ea typeface="+mn-ea"/>
                <a:cs typeface="Arial" panose="020B0604020202020204" pitchFamily="34" charset="0"/>
              </a:rPr>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Represents numbers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Three-dimensional spatial structure B (Stage 2 content reviewed)</a:t>
            </a:r>
            <a:endParaRPr lang="en-AU" sz="1600" b="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pPr>
              <a:defRPr/>
            </a:pPr>
            <a:r>
              <a:rPr lang="en-AU" dirty="0">
                <a:latin typeface="Arial"/>
                <a:cs typeface="Arial"/>
              </a:rPr>
              <a:t>Represents numbers A</a:t>
            </a:r>
            <a:endParaRPr lang="en-AU" dirty="0">
              <a:highlight>
                <a:srgbClr val="FFFF00"/>
              </a:highlight>
              <a:latin typeface="Arial"/>
              <a:cs typeface="Arial"/>
            </a:endParaRPr>
          </a:p>
          <a:p>
            <a:endParaRPr lang="en-AU" dirty="0"/>
          </a:p>
          <a:p>
            <a:r>
              <a:rPr lang="en-AU" b="1" dirty="0"/>
              <a:t>Applying place value with numbers to 1 billion</a:t>
            </a:r>
          </a:p>
          <a:p>
            <a:r>
              <a:rPr lang="en-AU" b="0" dirty="0"/>
              <a:t>This resource corresponds to Resource 31 – place value houses in Stage 3 Year A Unit 8. </a:t>
            </a:r>
          </a:p>
          <a:p>
            <a:endParaRPr lang="en-AU" b="0" dirty="0"/>
          </a:p>
          <a:p>
            <a:r>
              <a:rPr lang="en-AU" b="0" dirty="0"/>
              <a:t>1. Ask the following questions:</a:t>
            </a:r>
          </a:p>
          <a:p>
            <a:r>
              <a:rPr lang="en-AU" b="0" dirty="0"/>
              <a:t>— How many hundred thousands are in one million?</a:t>
            </a:r>
          </a:p>
          <a:p>
            <a:r>
              <a:rPr lang="en-AU" b="0" dirty="0"/>
              <a:t>— How many hundreds are there in 100 000?</a:t>
            </a:r>
          </a:p>
          <a:p>
            <a:r>
              <a:rPr lang="en-AU" b="0" dirty="0"/>
              <a:t>— How many thousands in one million? How do you know?</a:t>
            </a:r>
          </a:p>
          <a:p>
            <a:r>
              <a:rPr lang="en-AU" b="0" dirty="0"/>
              <a:t>— How can we rename 1000 millions?</a:t>
            </a:r>
          </a:p>
          <a:p>
            <a:r>
              <a:rPr lang="en-AU" b="0" dirty="0"/>
              <a:t>2. Provide students with individual whiteboards to record their responses.</a:t>
            </a:r>
          </a:p>
          <a:p>
            <a:r>
              <a:rPr lang="en-AU" b="0" dirty="0"/>
              <a:t>3. Regroup as a class. Students share and explain their answers.</a:t>
            </a:r>
          </a:p>
          <a:p>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6)</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Represents numbers A</a:t>
            </a:r>
            <a:endParaRPr lang="en-AU" dirty="0">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Chance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Non- spatial measure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pPr>
              <a:defRPr/>
            </a:pPr>
            <a:r>
              <a:rPr lang="en-AU" dirty="0">
                <a:latin typeface="Arial"/>
                <a:cs typeface="Arial"/>
              </a:rPr>
              <a:t>Represents numbers A</a:t>
            </a:r>
            <a:endParaRPr lang="en-AU" dirty="0">
              <a:highlight>
                <a:srgbClr val="FFFF00"/>
              </a:highlight>
              <a:latin typeface="Arial"/>
              <a:cs typeface="Arial"/>
            </a:endParaRPr>
          </a:p>
          <a:p>
            <a:endParaRPr lang="en-AU" dirty="0"/>
          </a:p>
          <a:p>
            <a:r>
              <a:rPr lang="en-AU" b="1" dirty="0"/>
              <a:t>Applying non-standard partitioning</a:t>
            </a:r>
          </a:p>
          <a:p>
            <a:endParaRPr lang="en-AU" b="0" dirty="0"/>
          </a:p>
          <a:p>
            <a:r>
              <a:rPr lang="en-AU" b="0" dirty="0"/>
              <a:t>Note: some students may benefit from having the words printed on cards or sticky notes that they can move around to support their understanding. </a:t>
            </a:r>
          </a:p>
          <a:p>
            <a:endParaRPr lang="en-AU" b="0" dirty="0"/>
          </a:p>
          <a:p>
            <a:r>
              <a:rPr lang="en-AU" b="0" dirty="0"/>
              <a:t>1. In pairs, students form the largest number possible using the words provided.</a:t>
            </a:r>
          </a:p>
          <a:p>
            <a:r>
              <a:rPr lang="en-AU" b="0" dirty="0"/>
              <a:t>2. Select students to read their chosen number aloud, listening for correct place value language.</a:t>
            </a:r>
          </a:p>
          <a:p>
            <a:r>
              <a:rPr lang="en-AU" b="0" dirty="0"/>
              <a:t>3. Ask students to record and partition their number in various non-standard forms.</a:t>
            </a:r>
          </a:p>
          <a:p>
            <a:r>
              <a:rPr lang="en-AU" b="0" dirty="0"/>
              <a:t>4. Regroup as a class and ask:</a:t>
            </a:r>
          </a:p>
          <a:p>
            <a:r>
              <a:rPr lang="en-AU" b="0" dirty="0"/>
              <a:t>— Can you explain the different ways you partitioned the number you formed?</a:t>
            </a:r>
          </a:p>
          <a:p>
            <a:r>
              <a:rPr lang="en-AU" b="0" dirty="0"/>
              <a:t>— Did you use any specific techniques or patterns for partitioning?</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B2C2-56ED-F4C7-04D9-00C4FB5F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568A8-C088-49AE-3548-341C78A6B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8EBC4-5740-59C4-17D3-662AAFE4516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Represents numbers A</a:t>
            </a:r>
          </a:p>
        </p:txBody>
      </p:sp>
      <p:sp>
        <p:nvSpPr>
          <p:cNvPr id="4" name="Slide Number Placeholder 3">
            <a:extLst>
              <a:ext uri="{FF2B5EF4-FFF2-40B4-BE49-F238E27FC236}">
                <a16:creationId xmlns:a16="http://schemas.microsoft.com/office/drawing/2014/main" id="{F1CC597E-188F-1091-E0DB-50B50F81B5D5}"/>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4318185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Chance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Chance B (Stage 2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pPr>
              <a:defRPr/>
            </a:pPr>
            <a:r>
              <a:rPr lang="en-AU" dirty="0">
                <a:latin typeface="Arial"/>
                <a:cs typeface="Arial"/>
              </a:rPr>
              <a:t>Represents numbers A</a:t>
            </a:r>
            <a:endParaRPr lang="en-AU" dirty="0">
              <a:highlight>
                <a:srgbClr val="FFFF00"/>
              </a:highlight>
              <a:latin typeface="Arial"/>
              <a:cs typeface="Arial"/>
            </a:endParaRPr>
          </a:p>
          <a:p>
            <a:endParaRPr lang="en-AU" dirty="0"/>
          </a:p>
          <a:p>
            <a:r>
              <a:rPr lang="en-AU" b="1"/>
              <a:t>Regrouping and renaming numbers to 1 billion</a:t>
            </a:r>
            <a:endParaRPr lang="en-AU" b="1" dirty="0"/>
          </a:p>
          <a:p>
            <a:endParaRPr lang="en-AU" b="1"/>
          </a:p>
          <a:p>
            <a:pPr marL="0" indent="0">
              <a:buFont typeface="+mj-lt"/>
              <a:buNone/>
            </a:pPr>
            <a:r>
              <a:rPr lang="en-AU" b="0"/>
              <a:t>1. Revise grouping the number in spoken and written forms for example:</a:t>
            </a:r>
          </a:p>
          <a:p>
            <a:pPr marL="0" indent="0">
              <a:buFont typeface="+mj-lt"/>
              <a:buNone/>
            </a:pPr>
            <a:r>
              <a:rPr lang="en-AU" b="0"/>
              <a:t>— Spoken – 376 million, 294 thousand, 5 hundred and 91.</a:t>
            </a:r>
          </a:p>
          <a:p>
            <a:pPr marL="0" indent="0">
              <a:buFont typeface="+mj-lt"/>
              <a:buNone/>
            </a:pPr>
            <a:r>
              <a:rPr lang="en-AU" b="0"/>
              <a:t>— Written – 300 000 000 + 70 000 000 + 6 000 000 + 200 000 + 90 000 + 4 000 + 500 + 90 + 1</a:t>
            </a:r>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AA21B-772B-2797-C735-69939029A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BF55CE-309E-B84B-D4AE-2FDF66C0D9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B893E7-11F3-9C34-E2FF-08572BF6DD0E}"/>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pPr>
              <a:defRPr/>
            </a:pPr>
            <a:r>
              <a:rPr lang="en-AU" dirty="0">
                <a:latin typeface="Arial"/>
                <a:cs typeface="Arial"/>
              </a:rPr>
              <a:t>Represents numbers A</a:t>
            </a:r>
            <a:endParaRPr lang="en-AU" dirty="0">
              <a:highlight>
                <a:srgbClr val="FFFF00"/>
              </a:highlight>
              <a:latin typeface="Arial"/>
              <a:cs typeface="Arial"/>
            </a:endParaRPr>
          </a:p>
          <a:p>
            <a:endParaRPr lang="en-AU" dirty="0"/>
          </a:p>
          <a:p>
            <a:r>
              <a:rPr lang="en-AU" b="1" dirty="0"/>
              <a:t>Regrouping and renaming numbers to 1 billion</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dirty="0"/>
              <a:t>This image corresponds to Figure 17 – example of student recording in Stage 3 Year A Unit 8. </a:t>
            </a:r>
          </a:p>
          <a:p>
            <a:endParaRPr lang="en-AU" b="1" dirty="0"/>
          </a:p>
          <a:p>
            <a:pPr marL="0" indent="0">
              <a:buFont typeface="+mj-lt"/>
              <a:buNone/>
            </a:pPr>
            <a:r>
              <a:rPr lang="en-AU" b="0" dirty="0"/>
              <a:t>1. Each student writes a 9-digit number on an individual whiteboard formed from rolling a 0-9 die, nine times.</a:t>
            </a:r>
          </a:p>
          <a:p>
            <a:pPr marL="0" indent="0">
              <a:buFont typeface="+mj-lt"/>
              <a:buNone/>
            </a:pPr>
            <a:r>
              <a:rPr lang="en-AU" b="0" dirty="0"/>
              <a:t>2. Encourage students to use a zero if rolled, as a place holder.</a:t>
            </a:r>
          </a:p>
          <a:p>
            <a:pPr marL="0" indent="0">
              <a:buFont typeface="+mj-lt"/>
              <a:buNone/>
            </a:pPr>
            <a:r>
              <a:rPr lang="en-AU" b="0" dirty="0"/>
              <a:t>3. Ask students to turn and talk, and:</a:t>
            </a:r>
          </a:p>
          <a:p>
            <a:pPr marL="0" indent="0">
              <a:buFont typeface="+mj-lt"/>
              <a:buNone/>
            </a:pPr>
            <a:r>
              <a:rPr lang="en-AU" b="0" dirty="0"/>
              <a:t>— say the name in its spoken form in two different ways</a:t>
            </a:r>
          </a:p>
          <a:p>
            <a:pPr marL="0" indent="0">
              <a:buFont typeface="+mj-lt"/>
              <a:buNone/>
            </a:pPr>
            <a:r>
              <a:rPr lang="en-AU" b="0" dirty="0"/>
              <a:t>— record the number in its expanded form</a:t>
            </a:r>
          </a:p>
          <a:p>
            <a:pPr marL="0" indent="0">
              <a:buFont typeface="+mj-lt"/>
              <a:buNone/>
            </a:pPr>
            <a:r>
              <a:rPr lang="en-AU" b="0" dirty="0"/>
              <a:t>4. Repeat steps 3 to 5 (see Figure 17) </a:t>
            </a:r>
          </a:p>
          <a:p>
            <a:pPr marL="0" indent="0">
              <a:buFont typeface="+mj-lt"/>
              <a:buNone/>
            </a:pPr>
            <a:r>
              <a:rPr lang="en-AU" b="0" dirty="0"/>
              <a:t>5. Prompt students to share their mathematical thinking and responses with the class. </a:t>
            </a:r>
          </a:p>
        </p:txBody>
      </p:sp>
      <p:sp>
        <p:nvSpPr>
          <p:cNvPr id="4" name="Slide Number Placeholder 3">
            <a:extLst>
              <a:ext uri="{FF2B5EF4-FFF2-40B4-BE49-F238E27FC236}">
                <a16:creationId xmlns:a16="http://schemas.microsoft.com/office/drawing/2014/main" id="{677223B6-6111-7A8C-03CD-F474E090DB4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39405835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8)</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Represents numbers A</a:t>
            </a:r>
            <a:endParaRPr lang="en-AU" dirty="0">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Chance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 (Stage 2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pPr>
              <a:defRPr/>
            </a:pPr>
            <a:r>
              <a:rPr lang="en-AU" dirty="0">
                <a:latin typeface="Arial"/>
                <a:cs typeface="Arial"/>
              </a:rPr>
              <a:t>Represents numbers A</a:t>
            </a:r>
            <a:endParaRPr lang="en-AU" dirty="0">
              <a:highlight>
                <a:srgbClr val="FFFF00"/>
              </a:highlight>
              <a:latin typeface="Arial"/>
              <a:cs typeface="Arial"/>
            </a:endParaRPr>
          </a:p>
          <a:p>
            <a:endParaRPr lang="en-AU" dirty="0"/>
          </a:p>
          <a:p>
            <a:r>
              <a:rPr lang="en-AU" b="1" dirty="0"/>
              <a:t>Partitioning and regrouping numbers in standard and non-standard form to 1 billion</a:t>
            </a:r>
          </a:p>
          <a:p>
            <a:r>
              <a:rPr lang="en-AU" b="0" dirty="0"/>
              <a:t>This image corresponds to Figure 18 – example of student recording in Stage 3 Year A Unit 8.</a:t>
            </a:r>
          </a:p>
          <a:p>
            <a:endParaRPr lang="en-AU" b="0"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b="1" dirty="0"/>
              <a:t>Note</a:t>
            </a:r>
            <a:r>
              <a:rPr lang="en-AU" b="0" dirty="0"/>
              <a:t>: this activity can be modified to student need by increasing or decreasing the value. For example, rolling the die seven times. </a:t>
            </a:r>
          </a:p>
          <a:p>
            <a:endParaRPr lang="en-AU" b="0" dirty="0"/>
          </a:p>
          <a:p>
            <a:r>
              <a:rPr lang="en-AU" b="0" dirty="0"/>
              <a:t>1. Each student writes a 9-digit number on an individual whiteboard formed from rolling a 0-9 die, nine times. For example, 247 852 406</a:t>
            </a:r>
          </a:p>
          <a:p>
            <a:r>
              <a:rPr lang="en-AU" b="0" dirty="0"/>
              <a:t>2. Students record the number and at least two different ways to partition and regroup the number in different standard and non-standard forms.</a:t>
            </a:r>
          </a:p>
          <a:p>
            <a:r>
              <a:rPr lang="en-AU" b="0" dirty="0"/>
              <a:t>3. Students swap their whiteboards with a partner, who regroups the partitioned number (see Figure 18).</a:t>
            </a:r>
          </a:p>
          <a:p>
            <a:r>
              <a:rPr lang="en-AU" b="0" dirty="0"/>
              <a:t>4. Conduct a gallery walk to share students’ strategies for partitioning and regrouping the number in different standard and non-standard forms.</a:t>
            </a:r>
          </a:p>
          <a:p>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dirty="0"/>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dirty="0"/>
              <a:t>Presenter name</a:t>
            </a:r>
            <a:endParaRPr lang="en-AU" dirty="0"/>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dirty="0"/>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dirty="0"/>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dirty="0"/>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dirty="0"/>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dirty="0"/>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dirty="0"/>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dirty="0"/>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dirty="0"/>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dirty="0"/>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dirty="0"/>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dirty="0"/>
              <a:t>References</a:t>
            </a:r>
            <a:endParaRPr lang="en-AU" dirty="0"/>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dirty="0"/>
              <a:t>References (x)</a:t>
            </a:r>
            <a:endParaRPr lang="en-AU" dirty="0"/>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dirty="0"/>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endParaRPr kumimoji="0" lang="en-US" sz="1800" b="0" i="0" u="none" strike="noStrike" kern="1200" cap="none" spc="0" normalizeH="0" baseline="0" noProof="0" dirty="0">
              <a:ln>
                <a:noFill/>
              </a:ln>
              <a:solidFill>
                <a:srgbClr val="22272B"/>
              </a:solidFill>
              <a:effectLst/>
              <a:uLnTx/>
              <a:uFillTx/>
              <a:latin typeface="Public Sans Light"/>
              <a:ea typeface="+mn-ea"/>
              <a:cs typeface="+mn-cs"/>
            </a:endParaRP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slide" Target="slide4.xml"/><Relationship Id="rId7" Type="http://schemas.openxmlformats.org/officeDocument/2006/relationships/slide" Target="slide33.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6.xml"/><Relationship Id="rId5" Type="http://schemas.openxmlformats.org/officeDocument/2006/relationships/slide" Target="slide19.xml"/><Relationship Id="rId10" Type="http://schemas.openxmlformats.org/officeDocument/2006/relationships/slide" Target="slide55.xml"/><Relationship Id="rId4" Type="http://schemas.openxmlformats.org/officeDocument/2006/relationships/slide" Target="slide12.xml"/><Relationship Id="rId9" Type="http://schemas.openxmlformats.org/officeDocument/2006/relationships/slide" Target="slide4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32.png"/><Relationship Id="rId5"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4.xml"/><Relationship Id="rId5" Type="http://schemas.openxmlformats.org/officeDocument/2006/relationships/image" Target="../media/image44.svg"/><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2.xml"/><Relationship Id="rId1" Type="http://schemas.openxmlformats.org/officeDocument/2006/relationships/slideLayout" Target="../slideLayouts/slideLayout4.xml"/><Relationship Id="rId5" Type="http://schemas.openxmlformats.org/officeDocument/2006/relationships/image" Target="../media/image47.png"/><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51.png"/><Relationship Id="rId2" Type="http://schemas.openxmlformats.org/officeDocument/2006/relationships/notesSlide" Target="../notesSlides/notesSlide43.xml"/><Relationship Id="rId1" Type="http://schemas.openxmlformats.org/officeDocument/2006/relationships/slideLayout" Target="../slideLayouts/slideLayout4.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54.png"/></Relationships>
</file>

<file path=ppt/slides/_rels/slide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0.xml"/><Relationship Id="rId1" Type="http://schemas.openxmlformats.org/officeDocument/2006/relationships/slideLayout" Target="../slideLayouts/slideLayout4.xml"/><Relationship Id="rId4" Type="http://schemas.openxmlformats.org/officeDocument/2006/relationships/image" Target="../media/image55.png"/></Relationships>
</file>

<file path=ppt/slides/_rels/slide6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1.xml"/><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6.xml"/><Relationship Id="rId1" Type="http://schemas.openxmlformats.org/officeDocument/2006/relationships/slideLayout" Target="../slideLayouts/slideLayout11.xml"/><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slide" Target="slide1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9.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70.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dirty="0">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dirty="0">
                <a:latin typeface="+mn-lt"/>
                <a:ea typeface="+mn-lt"/>
                <a:cs typeface="+mn-lt"/>
              </a:rPr>
              <a:t>This resource is not a teaching and learning program. It should be used in conjunction with Stage 3 Year A Unit 8.</a:t>
            </a:r>
            <a:endParaRPr lang="en-AU" sz="1800" dirty="0">
              <a:solidFill>
                <a:srgbClr val="22272B"/>
              </a:solidFill>
              <a:latin typeface="+mn-lt"/>
            </a:endParaRPr>
          </a:p>
          <a:p>
            <a:pPr marL="342900" indent="-342900">
              <a:lnSpc>
                <a:spcPct val="150000"/>
              </a:lnSpc>
              <a:buFont typeface="Arial"/>
              <a:buChar char="•"/>
            </a:pPr>
            <a:r>
              <a:rPr lang="en-AU" sz="1800" dirty="0">
                <a:solidFill>
                  <a:srgbClr val="22272B"/>
                </a:solidFill>
                <a:latin typeface="+mn-lt"/>
              </a:rPr>
              <a:t>Classroom teachers are encouraged to </a:t>
            </a:r>
            <a:r>
              <a:rPr lang="en-AU" sz="1800" b="1" dirty="0">
                <a:solidFill>
                  <a:srgbClr val="22272B"/>
                </a:solidFill>
                <a:latin typeface="+mn-lt"/>
              </a:rPr>
              <a:t>add and adapt</a:t>
            </a:r>
            <a:r>
              <a:rPr lang="en-AU" sz="1800" dirty="0">
                <a:solidFill>
                  <a:srgbClr val="22272B"/>
                </a:solidFill>
                <a:latin typeface="+mn-lt"/>
              </a:rPr>
              <a:t> slides as required to meet the needs of their students.</a:t>
            </a:r>
          </a:p>
          <a:p>
            <a:pPr marL="342900" indent="-342900">
              <a:lnSpc>
                <a:spcPct val="150000"/>
              </a:lnSpc>
              <a:buFont typeface="Arial"/>
              <a:buChar char="•"/>
            </a:pPr>
            <a:r>
              <a:rPr lang="en-AU" sz="1800" dirty="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dirty="0">
                <a:solidFill>
                  <a:srgbClr val="22272B"/>
                </a:solidFill>
                <a:latin typeface="+mn-lt"/>
              </a:rPr>
              <a:t>To convert the PowerPoint to Google Slides:</a:t>
            </a:r>
          </a:p>
          <a:p>
            <a:pPr marL="913765" lvl="1" indent="-457200">
              <a:lnSpc>
                <a:spcPct val="150000"/>
              </a:lnSpc>
              <a:buFont typeface="+mj-lt"/>
              <a:buAutoNum type="arabicPeriod"/>
            </a:pPr>
            <a:r>
              <a:rPr lang="en-AU" dirty="0">
                <a:solidFill>
                  <a:srgbClr val="22272B"/>
                </a:solidFill>
                <a:latin typeface="+mn-lt"/>
              </a:rPr>
              <a:t>Upload the file into Google Drive and open it.</a:t>
            </a:r>
          </a:p>
          <a:p>
            <a:pPr marL="913765" lvl="1" indent="-457200">
              <a:lnSpc>
                <a:spcPct val="150000"/>
              </a:lnSpc>
              <a:buFont typeface="+mj-lt"/>
              <a:buAutoNum type="arabicPeriod"/>
            </a:pPr>
            <a:r>
              <a:rPr lang="en-AU" dirty="0">
                <a:solidFill>
                  <a:srgbClr val="22272B"/>
                </a:solidFill>
                <a:latin typeface="+mn-lt"/>
              </a:rPr>
              <a:t>Go to File &gt; Save as Google Slides.</a:t>
            </a:r>
          </a:p>
          <a:p>
            <a:pPr marL="456565" lvl="1">
              <a:lnSpc>
                <a:spcPct val="150000"/>
              </a:lnSpc>
            </a:pPr>
            <a:r>
              <a:rPr lang="en-AU" dirty="0">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dirty="0">
                <a:effectLst/>
                <a:latin typeface="+mj-lt"/>
                <a:ea typeface="Times New Roman" panose="02020603050405020304" pitchFamily="18" charset="0"/>
              </a:rPr>
              <a:t>Review of Learning</a:t>
            </a:r>
            <a:endParaRPr lang="en-AU" dirty="0">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dirty="0">
                <a:latin typeface="+mj-lt"/>
              </a:rPr>
              <a:t>Mathematics Stage 3 – Unit 8</a:t>
            </a:r>
          </a:p>
        </p:txBody>
      </p:sp>
      <p:pic>
        <p:nvPicPr>
          <p:cNvPr id="5" name="Picture Placeholder 4" descr="A row of dice on a blue background">
            <a:extLst>
              <a:ext uri="{FF2B5EF4-FFF2-40B4-BE49-F238E27FC236}">
                <a16:creationId xmlns:a16="http://schemas.microsoft.com/office/drawing/2014/main" id="{3492ED26-EFFD-ABC0-5FC2-50C21A88E5D9}"/>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dirty="0">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3" action="ppaction://hlinksldjump"/>
                </a:rPr>
                <a:t>Review of learning </a:t>
              </a:r>
              <a:r>
                <a:rPr lang="en-AU" dirty="0">
                  <a:solidFill>
                    <a:schemeClr val="accent1"/>
                  </a:solidFill>
                  <a:latin typeface="+mj-lt"/>
                  <a:hlinkClick r:id="rId3" action="ppaction://hlinksldjump"/>
                </a:rPr>
                <a:t>1</a:t>
              </a:r>
              <a:endParaRPr lang="en-AU" dirty="0">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4" action="ppaction://hlinksldjump"/>
                </a:rPr>
                <a:t>Review of learning </a:t>
              </a:r>
              <a:r>
                <a:rPr lang="en-AU" dirty="0">
                  <a:solidFill>
                    <a:schemeClr val="accent1"/>
                  </a:solidFill>
                  <a:latin typeface="+mj-lt"/>
                  <a:hlinkClick r:id="rId4" action="ppaction://hlinksldjump"/>
                </a:rPr>
                <a:t>2</a:t>
              </a:r>
              <a:endParaRPr lang="en-AU" dirty="0">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5" action="ppaction://hlinksldjump"/>
                </a:rPr>
                <a:t>Review of learning </a:t>
              </a:r>
              <a:r>
                <a:rPr lang="en-AU" dirty="0">
                  <a:solidFill>
                    <a:schemeClr val="accent1"/>
                  </a:solidFill>
                  <a:latin typeface="+mj-lt"/>
                  <a:hlinkClick r:id="rId5" action="ppaction://hlinksldjump"/>
                </a:rPr>
                <a:t>3</a:t>
              </a:r>
              <a:endParaRPr lang="en-AU" dirty="0">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6" action="ppaction://hlinksldjump"/>
                </a:rPr>
                <a:t>Review of learning </a:t>
              </a:r>
              <a:r>
                <a:rPr lang="en-AU" dirty="0">
                  <a:solidFill>
                    <a:schemeClr val="accent1"/>
                  </a:solidFill>
                  <a:latin typeface="+mj-lt"/>
                  <a:hlinkClick r:id="rId6" action="ppaction://hlinksldjump"/>
                </a:rPr>
                <a:t>4</a:t>
              </a:r>
              <a:endParaRPr lang="en-AU" dirty="0">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7" action="ppaction://hlinksldjump"/>
                </a:rPr>
                <a:t>Review of learning </a:t>
              </a:r>
              <a:r>
                <a:rPr lang="en-AU" dirty="0">
                  <a:solidFill>
                    <a:schemeClr val="accent1"/>
                  </a:solidFill>
                  <a:latin typeface="+mj-lt"/>
                  <a:hlinkClick r:id="rId7" action="ppaction://hlinksldjump"/>
                </a:rPr>
                <a:t>5</a:t>
              </a:r>
              <a:endParaRPr lang="en-AU" dirty="0">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8" action="ppaction://hlinksldjump"/>
                </a:rPr>
                <a:t>Review of learning </a:t>
              </a:r>
              <a:r>
                <a:rPr lang="en-AU" dirty="0">
                  <a:solidFill>
                    <a:schemeClr val="accent1"/>
                  </a:solidFill>
                  <a:latin typeface="+mj-lt"/>
                  <a:hlinkClick r:id="rId8" action="ppaction://hlinksldjump"/>
                </a:rPr>
                <a:t>6</a:t>
              </a:r>
              <a:endParaRPr lang="en-AU" dirty="0">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9" action="ppaction://hlinksldjump"/>
                </a:rPr>
                <a:t>Review of learning </a:t>
              </a:r>
              <a:r>
                <a:rPr lang="en-AU" dirty="0">
                  <a:solidFill>
                    <a:schemeClr val="accent1"/>
                  </a:solidFill>
                  <a:latin typeface="+mj-lt"/>
                  <a:hlinkClick r:id="rId9" action="ppaction://hlinksldjump"/>
                </a:rPr>
                <a:t>7</a:t>
              </a:r>
              <a:endParaRPr lang="en-AU" dirty="0">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10" action="ppaction://hlinksldjump"/>
                </a:rPr>
                <a:t>Review of learning </a:t>
              </a:r>
              <a:r>
                <a:rPr lang="en-AU" dirty="0">
                  <a:solidFill>
                    <a:schemeClr val="accent1"/>
                  </a:solidFill>
                  <a:latin typeface="+mj-lt"/>
                  <a:hlinkClick r:id="rId10" action="ppaction://hlinksldjump"/>
                </a:rPr>
                <a:t>8</a:t>
              </a:r>
              <a:endParaRPr lang="en-AU" dirty="0">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dirty="0">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02BEC-BF78-56D7-9F45-000CDC8A50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5A8139-FDDB-532B-B162-01D27E23A37C}"/>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(1)</a:t>
            </a:r>
          </a:p>
        </p:txBody>
      </p:sp>
      <p:pic>
        <p:nvPicPr>
          <p:cNvPr id="4" name="Picture 3">
            <a:extLst>
              <a:ext uri="{FF2B5EF4-FFF2-40B4-BE49-F238E27FC236}">
                <a16:creationId xmlns:a16="http://schemas.microsoft.com/office/drawing/2014/main" id="{9BDCD778-E71A-A4F2-9CEF-2A78DFB28F6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76976"/>
            <a:ext cx="1165786" cy="1140716"/>
          </a:xfrm>
          <a:prstGeom prst="rect">
            <a:avLst/>
          </a:prstGeom>
        </p:spPr>
      </p:pic>
      <mc:AlternateContent xmlns:mc="http://schemas.openxmlformats.org/markup-compatibility/2006" xmlns:a14="http://schemas.microsoft.com/office/drawing/2010/main">
        <mc:Choice Requires="a14">
          <p:sp>
            <p:nvSpPr>
              <p:cNvPr id="15" name="Text Placeholder">
                <a:extLst>
                  <a:ext uri="{FF2B5EF4-FFF2-40B4-BE49-F238E27FC236}">
                    <a16:creationId xmlns:a16="http://schemas.microsoft.com/office/drawing/2014/main" id="{8326B5E5-C4FA-60BB-FBD1-105717701AB5}"/>
                  </a:ext>
                </a:extLst>
              </p:cNvPr>
              <p:cNvSpPr>
                <a:spLocks noGrp="1"/>
              </p:cNvSpPr>
              <p:nvPr>
                <p:ph type="body" sz="quarter" idx="28"/>
              </p:nvPr>
            </p:nvSpPr>
            <p:spPr>
              <a:xfrm>
                <a:off x="359999" y="776596"/>
                <a:ext cx="11484001" cy="754243"/>
              </a:xfrm>
            </p:spPr>
            <p:txBody>
              <a:bodyPr/>
              <a:lstStyle/>
              <a:p>
                <a:r>
                  <a:rPr lang="en-US" sz="2800" b="1" dirty="0"/>
                  <a:t>Rebecca</a:t>
                </a:r>
                <a:r>
                  <a:rPr lang="en-US" sz="2800" dirty="0"/>
                  <a:t> drank </a:t>
                </a:r>
                <a14:m>
                  <m:oMath xmlns:m="http://schemas.openxmlformats.org/officeDocument/2006/math">
                    <m:f>
                      <m:fPr>
                        <m:ctrlPr>
                          <a:rPr lang="en-US" sz="2800" b="1" i="1" smtClean="0">
                            <a:latin typeface="Cambria Math" panose="02040503050406030204" pitchFamily="18" charset="0"/>
                          </a:rPr>
                        </m:ctrlPr>
                      </m:fPr>
                      <m:num>
                        <m:r>
                          <a:rPr lang="en-AU" sz="2800" b="1" i="1" smtClean="0">
                            <a:latin typeface="Cambria Math" panose="02040503050406030204" pitchFamily="18" charset="0"/>
                          </a:rPr>
                          <m:t>𝟏</m:t>
                        </m:r>
                      </m:num>
                      <m:den>
                        <m:r>
                          <a:rPr lang="en-AU" sz="2800" b="1" i="1" smtClean="0">
                            <a:latin typeface="Cambria Math" panose="02040503050406030204" pitchFamily="18" charset="0"/>
                          </a:rPr>
                          <m:t>𝟑</m:t>
                        </m:r>
                      </m:den>
                    </m:f>
                  </m:oMath>
                </a14:m>
                <a:r>
                  <a:rPr lang="en-US" sz="2800" b="1" dirty="0"/>
                  <a:t> </a:t>
                </a:r>
                <a:r>
                  <a:rPr lang="en-US" sz="2800" dirty="0"/>
                  <a:t>of a glass of juice. Liam drank </a:t>
                </a:r>
                <a14:m>
                  <m:oMath xmlns:m="http://schemas.openxmlformats.org/officeDocument/2006/math">
                    <m:f>
                      <m:fPr>
                        <m:ctrlPr>
                          <a:rPr lang="en-US" sz="2800" b="1" i="1" smtClean="0">
                            <a:latin typeface="Cambria Math" panose="02040503050406030204" pitchFamily="18" charset="0"/>
                          </a:rPr>
                        </m:ctrlPr>
                      </m:fPr>
                      <m:num>
                        <m:r>
                          <a:rPr lang="en-AU" sz="2800" b="1" i="1" smtClean="0">
                            <a:latin typeface="Cambria Math" panose="02040503050406030204" pitchFamily="18" charset="0"/>
                          </a:rPr>
                          <m:t>𝟏</m:t>
                        </m:r>
                      </m:num>
                      <m:den>
                        <m:r>
                          <a:rPr lang="en-AU" sz="2800" b="1" i="1" smtClean="0">
                            <a:latin typeface="Cambria Math" panose="02040503050406030204" pitchFamily="18" charset="0"/>
                          </a:rPr>
                          <m:t>𝟐</m:t>
                        </m:r>
                      </m:den>
                    </m:f>
                  </m:oMath>
                </a14:m>
                <a:r>
                  <a:rPr lang="en-US" sz="2800" b="1" dirty="0"/>
                  <a:t> </a:t>
                </a:r>
                <a:r>
                  <a:rPr lang="en-US" sz="2800" dirty="0"/>
                  <a:t>of a </a:t>
                </a:r>
                <a:r>
                  <a:rPr lang="en-US" sz="2800" b="1" dirty="0"/>
                  <a:t>different</a:t>
                </a:r>
                <a:r>
                  <a:rPr lang="en-US" sz="2800" dirty="0"/>
                  <a:t> glass of juice. Which of the following </a:t>
                </a:r>
                <a:r>
                  <a:rPr lang="en-US" sz="2800" b="1" dirty="0"/>
                  <a:t>could</a:t>
                </a:r>
                <a:r>
                  <a:rPr lang="en-US" sz="2800" dirty="0"/>
                  <a:t> explain how Rebecca drank </a:t>
                </a:r>
                <a:r>
                  <a:rPr lang="en-US" sz="2800" b="1" dirty="0"/>
                  <a:t>more</a:t>
                </a:r>
                <a:r>
                  <a:rPr lang="en-US" sz="2800" dirty="0"/>
                  <a:t> juice than Liam?</a:t>
                </a:r>
              </a:p>
            </p:txBody>
          </p:sp>
        </mc:Choice>
        <mc:Fallback xmlns="">
          <p:sp>
            <p:nvSpPr>
              <p:cNvPr id="15" name="Text Placeholder">
                <a:extLst>
                  <a:ext uri="{FF2B5EF4-FFF2-40B4-BE49-F238E27FC236}">
                    <a16:creationId xmlns:a16="http://schemas.microsoft.com/office/drawing/2014/main" id="{8326B5E5-C4FA-60BB-FBD1-105717701AB5}"/>
                  </a:ext>
                </a:extLst>
              </p:cNvPr>
              <p:cNvSpPr>
                <a:spLocks noGrp="1" noRot="1" noChangeAspect="1" noMove="1" noResize="1" noEditPoints="1" noAdjustHandles="1" noChangeArrowheads="1" noChangeShapeType="1" noTextEdit="1"/>
              </p:cNvSpPr>
              <p:nvPr>
                <p:ph type="body" sz="quarter" idx="28"/>
              </p:nvPr>
            </p:nvSpPr>
            <p:spPr>
              <a:xfrm>
                <a:off x="359999" y="776596"/>
                <a:ext cx="11484001" cy="754243"/>
              </a:xfrm>
              <a:blipFill>
                <a:blip r:embed="rId4"/>
                <a:stretch>
                  <a:fillRect l="-1858" r="-1380" b="-209677"/>
                </a:stretch>
              </a:blipFill>
            </p:spPr>
            <p:txBody>
              <a:bodyPr/>
              <a:lstStyle/>
              <a:p>
                <a:r>
                  <a:rPr lang="en-US">
                    <a:noFill/>
                  </a:rPr>
                  <a:t> </a:t>
                </a:r>
              </a:p>
            </p:txBody>
          </p:sp>
        </mc:Fallback>
      </mc:AlternateContent>
      <p:sp>
        <p:nvSpPr>
          <p:cNvPr id="9" name="B">
            <a:extLst>
              <a:ext uri="{FF2B5EF4-FFF2-40B4-BE49-F238E27FC236}">
                <a16:creationId xmlns:a16="http://schemas.microsoft.com/office/drawing/2014/main" id="{2579E796-78E6-099B-1516-BE205CC4FACD}"/>
              </a:ext>
            </a:extLst>
          </p:cNvPr>
          <p:cNvSpPr txBox="1"/>
          <p:nvPr/>
        </p:nvSpPr>
        <p:spPr>
          <a:xfrm>
            <a:off x="670557" y="31062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A text">
            <a:extLst>
              <a:ext uri="{FF2B5EF4-FFF2-40B4-BE49-F238E27FC236}">
                <a16:creationId xmlns:a16="http://schemas.microsoft.com/office/drawing/2014/main" id="{F399B6F6-69CC-336D-6578-FD4E095E833B}"/>
              </a:ext>
            </a:extLst>
          </p:cNvPr>
          <p:cNvSpPr>
            <a:spLocks noGrp="1"/>
          </p:cNvSpPr>
          <p:nvPr>
            <p:ph type="body" sz="quarter" idx="31"/>
          </p:nvPr>
        </p:nvSpPr>
        <p:spPr>
          <a:xfrm>
            <a:off x="1308080" y="3113725"/>
            <a:ext cx="10175920" cy="641396"/>
          </a:xfrm>
        </p:spPr>
        <p:txBody>
          <a:bodyPr anchor="ctr"/>
          <a:lstStyle/>
          <a:p>
            <a:r>
              <a:rPr lang="en-AU" sz="2800" dirty="0"/>
              <a:t>Rebecca’s glass was larger than Liam’s glass.</a:t>
            </a:r>
            <a:endParaRPr lang="en-US" sz="2800" dirty="0"/>
          </a:p>
        </p:txBody>
      </p:sp>
      <p:sp>
        <p:nvSpPr>
          <p:cNvPr id="10" name="B">
            <a:extLst>
              <a:ext uri="{FF2B5EF4-FFF2-40B4-BE49-F238E27FC236}">
                <a16:creationId xmlns:a16="http://schemas.microsoft.com/office/drawing/2014/main" id="{04CBC687-138E-8135-BF08-A76285D998BD}"/>
              </a:ext>
            </a:extLst>
          </p:cNvPr>
          <p:cNvSpPr txBox="1"/>
          <p:nvPr/>
        </p:nvSpPr>
        <p:spPr>
          <a:xfrm>
            <a:off x="670559" y="405636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mc:AlternateContent xmlns:mc="http://schemas.openxmlformats.org/markup-compatibility/2006" xmlns:a14="http://schemas.microsoft.com/office/drawing/2010/main">
        <mc:Choice Requires="a14">
          <p:sp>
            <p:nvSpPr>
              <p:cNvPr id="17" name="B text">
                <a:extLst>
                  <a:ext uri="{FF2B5EF4-FFF2-40B4-BE49-F238E27FC236}">
                    <a16:creationId xmlns:a16="http://schemas.microsoft.com/office/drawing/2014/main" id="{22AB8397-9C8A-8BCB-A678-8D975278DBA7}"/>
                  </a:ext>
                </a:extLst>
              </p:cNvPr>
              <p:cNvSpPr>
                <a:spLocks noGrp="1"/>
              </p:cNvSpPr>
              <p:nvPr>
                <p:ph type="body" sz="quarter" idx="30"/>
              </p:nvPr>
            </p:nvSpPr>
            <p:spPr>
              <a:xfrm>
                <a:off x="1345520" y="4014031"/>
                <a:ext cx="10175920" cy="641396"/>
              </a:xfrm>
            </p:spPr>
            <p:txBody>
              <a:bodyPr anchor="ctr"/>
              <a:lstStyle/>
              <a:p>
                <a14:m>
                  <m:oMath xmlns:m="http://schemas.openxmlformats.org/officeDocument/2006/math">
                    <m:f>
                      <m:fPr>
                        <m:ctrlPr>
                          <a:rPr lang="en-US" sz="2800" i="1">
                            <a:latin typeface="Cambria Math" panose="02040503050406030204" pitchFamily="18" charset="0"/>
                          </a:rPr>
                        </m:ctrlPr>
                      </m:fPr>
                      <m:num>
                        <m:r>
                          <a:rPr lang="en-AU" sz="2800" i="1">
                            <a:latin typeface="Cambria Math" panose="02040503050406030204" pitchFamily="18" charset="0"/>
                          </a:rPr>
                          <m:t>1</m:t>
                        </m:r>
                      </m:num>
                      <m:den>
                        <m:r>
                          <a:rPr lang="en-AU" sz="2800" i="1">
                            <a:latin typeface="Cambria Math" panose="02040503050406030204" pitchFamily="18" charset="0"/>
                          </a:rPr>
                          <m:t>3</m:t>
                        </m:r>
                      </m:den>
                    </m:f>
                  </m:oMath>
                </a14:m>
                <a:r>
                  <a:rPr lang="en-US" sz="2800" dirty="0"/>
                  <a:t> is always larger than </a:t>
                </a:r>
                <a14:m>
                  <m:oMath xmlns:m="http://schemas.openxmlformats.org/officeDocument/2006/math">
                    <m:f>
                      <m:fPr>
                        <m:ctrlPr>
                          <a:rPr lang="en-US" sz="2800" i="1">
                            <a:latin typeface="Cambria Math" panose="02040503050406030204" pitchFamily="18" charset="0"/>
                          </a:rPr>
                        </m:ctrlPr>
                      </m:fPr>
                      <m:num>
                        <m:r>
                          <a:rPr lang="en-AU" sz="2800" i="1">
                            <a:latin typeface="Cambria Math" panose="02040503050406030204" pitchFamily="18" charset="0"/>
                          </a:rPr>
                          <m:t>1</m:t>
                        </m:r>
                      </m:num>
                      <m:den>
                        <m:r>
                          <a:rPr lang="en-AU" sz="2800" i="1">
                            <a:latin typeface="Cambria Math" panose="02040503050406030204" pitchFamily="18" charset="0"/>
                          </a:rPr>
                          <m:t>2</m:t>
                        </m:r>
                      </m:den>
                    </m:f>
                  </m:oMath>
                </a14:m>
                <a:r>
                  <a:rPr lang="en-US" sz="2000" dirty="0"/>
                  <a:t>.</a:t>
                </a:r>
              </a:p>
            </p:txBody>
          </p:sp>
        </mc:Choice>
        <mc:Fallback xmlns="">
          <p:sp>
            <p:nvSpPr>
              <p:cNvPr id="17" name="B text">
                <a:extLst>
                  <a:ext uri="{FF2B5EF4-FFF2-40B4-BE49-F238E27FC236}">
                    <a16:creationId xmlns:a16="http://schemas.microsoft.com/office/drawing/2014/main" id="{22AB8397-9C8A-8BCB-A678-8D975278DBA7}"/>
                  </a:ext>
                </a:extLst>
              </p:cNvPr>
              <p:cNvSpPr>
                <a:spLocks noGrp="1" noRot="1" noChangeAspect="1" noMove="1" noResize="1" noEditPoints="1" noAdjustHandles="1" noChangeArrowheads="1" noChangeShapeType="1" noTextEdit="1"/>
              </p:cNvSpPr>
              <p:nvPr>
                <p:ph type="body" sz="quarter" idx="30"/>
              </p:nvPr>
            </p:nvSpPr>
            <p:spPr>
              <a:xfrm>
                <a:off x="1345520" y="4014031"/>
                <a:ext cx="10175920" cy="641396"/>
              </a:xfrm>
              <a:blipFill>
                <a:blip r:embed="rId5"/>
                <a:stretch>
                  <a:fillRect l="-60" b="-32075"/>
                </a:stretch>
              </a:blipFill>
            </p:spPr>
            <p:txBody>
              <a:bodyPr/>
              <a:lstStyle/>
              <a:p>
                <a:r>
                  <a:rPr lang="en-US">
                    <a:noFill/>
                  </a:rPr>
                  <a:t> </a:t>
                </a:r>
              </a:p>
            </p:txBody>
          </p:sp>
        </mc:Fallback>
      </mc:AlternateContent>
      <p:sp>
        <p:nvSpPr>
          <p:cNvPr id="12" name="C">
            <a:extLst>
              <a:ext uri="{FF2B5EF4-FFF2-40B4-BE49-F238E27FC236}">
                <a16:creationId xmlns:a16="http://schemas.microsoft.com/office/drawing/2014/main" id="{C605E3A9-768F-B21E-1E87-27B06AEB3AF5}"/>
              </a:ext>
            </a:extLst>
          </p:cNvPr>
          <p:cNvSpPr txBox="1"/>
          <p:nvPr/>
        </p:nvSpPr>
        <p:spPr>
          <a:xfrm>
            <a:off x="670558" y="500651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6" name="C text">
            <a:extLst>
              <a:ext uri="{FF2B5EF4-FFF2-40B4-BE49-F238E27FC236}">
                <a16:creationId xmlns:a16="http://schemas.microsoft.com/office/drawing/2014/main" id="{1D0C85C6-176D-2C26-0652-149EAFA02616}"/>
              </a:ext>
            </a:extLst>
          </p:cNvPr>
          <p:cNvSpPr>
            <a:spLocks noGrp="1"/>
          </p:cNvSpPr>
          <p:nvPr>
            <p:ph type="body" sz="quarter" idx="29"/>
          </p:nvPr>
        </p:nvSpPr>
        <p:spPr>
          <a:xfrm>
            <a:off x="1345520" y="4955053"/>
            <a:ext cx="10175920" cy="641396"/>
          </a:xfrm>
        </p:spPr>
        <p:txBody>
          <a:bodyPr anchor="ctr"/>
          <a:lstStyle/>
          <a:p>
            <a:r>
              <a:rPr lang="en-AU" sz="2800" dirty="0"/>
              <a:t>Liam’s glass was larger than Rebecca’s.</a:t>
            </a:r>
            <a:endParaRPr lang="en-US" sz="2800" dirty="0"/>
          </a:p>
        </p:txBody>
      </p:sp>
      <p:sp>
        <p:nvSpPr>
          <p:cNvPr id="11" name="D">
            <a:extLst>
              <a:ext uri="{FF2B5EF4-FFF2-40B4-BE49-F238E27FC236}">
                <a16:creationId xmlns:a16="http://schemas.microsoft.com/office/drawing/2014/main" id="{8EADE37E-99CA-3A50-524F-30E28DF3B7C4}"/>
              </a:ext>
            </a:extLst>
          </p:cNvPr>
          <p:cNvSpPr txBox="1"/>
          <p:nvPr/>
        </p:nvSpPr>
        <p:spPr>
          <a:xfrm>
            <a:off x="670557" y="595665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4" name="D text">
            <a:extLst>
              <a:ext uri="{FF2B5EF4-FFF2-40B4-BE49-F238E27FC236}">
                <a16:creationId xmlns:a16="http://schemas.microsoft.com/office/drawing/2014/main" id="{D9186568-D62F-6B45-E8D1-7BD11DA09597}"/>
              </a:ext>
            </a:extLst>
          </p:cNvPr>
          <p:cNvSpPr>
            <a:spLocks noGrp="1"/>
          </p:cNvSpPr>
          <p:nvPr>
            <p:ph type="body" sz="quarter" idx="27"/>
          </p:nvPr>
        </p:nvSpPr>
        <p:spPr>
          <a:xfrm>
            <a:off x="1345520" y="5922932"/>
            <a:ext cx="10175920" cy="641396"/>
          </a:xfrm>
        </p:spPr>
        <p:txBody>
          <a:bodyPr anchor="ctr"/>
          <a:lstStyle/>
          <a:p>
            <a:r>
              <a:rPr lang="en-US" sz="2800" dirty="0"/>
              <a:t>Rebecca drank orange juice and Liam drank apple juice. </a:t>
            </a:r>
          </a:p>
        </p:txBody>
      </p:sp>
      <p:sp>
        <p:nvSpPr>
          <p:cNvPr id="2" name="Slide Number Placeholder 1">
            <a:extLst>
              <a:ext uri="{FF2B5EF4-FFF2-40B4-BE49-F238E27FC236}">
                <a16:creationId xmlns:a16="http://schemas.microsoft.com/office/drawing/2014/main" id="{FB6D3FD4-B645-8933-2300-635C9B9344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128654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5" name="TextBox 4">
            <a:extLst>
              <a:ext uri="{FF2B5EF4-FFF2-40B4-BE49-F238E27FC236}">
                <a16:creationId xmlns:a16="http://schemas.microsoft.com/office/drawing/2014/main" id="{8C145B11-7B5C-B057-31C7-FF333A894B0A}"/>
              </a:ext>
            </a:extLst>
          </p:cNvPr>
          <p:cNvSpPr txBox="1"/>
          <p:nvPr/>
        </p:nvSpPr>
        <p:spPr>
          <a:xfrm>
            <a:off x="93623" y="925377"/>
            <a:ext cx="4583151" cy="1317034"/>
          </a:xfrm>
          <a:prstGeom prst="rect">
            <a:avLst/>
          </a:prstGeom>
          <a:noFill/>
        </p:spPr>
        <p:txBody>
          <a:bodyPr wrap="square" lIns="0" tIns="0" rIns="0" bIns="0" rtlCol="0">
            <a:noAutofit/>
          </a:bodyPr>
          <a:lstStyle/>
          <a:p>
            <a:pPr algn="ctr">
              <a:lnSpc>
                <a:spcPct val="150000"/>
              </a:lnSpc>
            </a:pPr>
            <a:r>
              <a:rPr lang="en-AU" sz="2800" dirty="0"/>
              <a:t>Record the </a:t>
            </a:r>
            <a:r>
              <a:rPr lang="en-AU" sz="2800" b="1" dirty="0"/>
              <a:t>grid references </a:t>
            </a:r>
            <a:r>
              <a:rPr lang="en-AU" sz="2800" dirty="0"/>
              <a:t>for the:</a:t>
            </a:r>
          </a:p>
          <a:p>
            <a:pPr marL="457200" indent="-457200" algn="ctr">
              <a:lnSpc>
                <a:spcPct val="150000"/>
              </a:lnSpc>
              <a:buFont typeface="Arial" panose="020B0604020202020204" pitchFamily="34" charset="0"/>
              <a:buChar char="•"/>
            </a:pPr>
            <a:endParaRPr lang="en-AU" sz="2800" dirty="0"/>
          </a:p>
          <a:p>
            <a:pPr marL="285750" indent="-285750" algn="ctr">
              <a:buFont typeface="Arial" panose="020B0604020202020204" pitchFamily="34" charset="0"/>
              <a:buChar char="•"/>
            </a:pPr>
            <a:endParaRPr lang="en-AU" sz="2800" dirty="0"/>
          </a:p>
        </p:txBody>
      </p:sp>
      <p:pic>
        <p:nvPicPr>
          <p:cNvPr id="21" name="Picture 20">
            <a:extLst>
              <a:ext uri="{FF2B5EF4-FFF2-40B4-BE49-F238E27FC236}">
                <a16:creationId xmlns:a16="http://schemas.microsoft.com/office/drawing/2014/main" id="{109BC1FF-4C99-87C2-0669-F35DEEE3507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212088" y="2510837"/>
            <a:ext cx="669627" cy="963703"/>
          </a:xfrm>
          <a:prstGeom prst="rect">
            <a:avLst/>
          </a:prstGeom>
        </p:spPr>
      </p:pic>
      <p:sp>
        <p:nvSpPr>
          <p:cNvPr id="8" name="TextBox 7">
            <a:extLst>
              <a:ext uri="{FF2B5EF4-FFF2-40B4-BE49-F238E27FC236}">
                <a16:creationId xmlns:a16="http://schemas.microsoft.com/office/drawing/2014/main" id="{FEAEFBD4-A45B-004F-73D5-E1C1EA0EA00B}"/>
              </a:ext>
            </a:extLst>
          </p:cNvPr>
          <p:cNvSpPr txBox="1"/>
          <p:nvPr/>
        </p:nvSpPr>
        <p:spPr>
          <a:xfrm>
            <a:off x="2310702" y="2480256"/>
            <a:ext cx="1188160" cy="854849"/>
          </a:xfrm>
          <a:prstGeom prst="rect">
            <a:avLst/>
          </a:prstGeom>
          <a:noFill/>
        </p:spPr>
        <p:txBody>
          <a:bodyPr wrap="square">
            <a:spAutoFit/>
          </a:bodyPr>
          <a:lstStyle/>
          <a:p>
            <a:pPr algn="ctr">
              <a:lnSpc>
                <a:spcPct val="250000"/>
              </a:lnSpc>
              <a:spcAft>
                <a:spcPts val="1200"/>
              </a:spcAft>
            </a:pPr>
            <a:r>
              <a:rPr lang="en-AU" sz="2400" dirty="0"/>
              <a:t>giraffe</a:t>
            </a:r>
          </a:p>
        </p:txBody>
      </p:sp>
      <p:pic>
        <p:nvPicPr>
          <p:cNvPr id="19" name="Picture 18">
            <a:extLst>
              <a:ext uri="{FF2B5EF4-FFF2-40B4-BE49-F238E27FC236}">
                <a16:creationId xmlns:a16="http://schemas.microsoft.com/office/drawing/2014/main" id="{AEB7E861-C7B3-A6C2-1153-3E5D1A5C65FB}"/>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250443" y="3742966"/>
            <a:ext cx="876347" cy="710738"/>
          </a:xfrm>
          <a:prstGeom prst="rect">
            <a:avLst/>
          </a:prstGeom>
        </p:spPr>
      </p:pic>
      <p:sp>
        <p:nvSpPr>
          <p:cNvPr id="10" name="TextBox 9">
            <a:extLst>
              <a:ext uri="{FF2B5EF4-FFF2-40B4-BE49-F238E27FC236}">
                <a16:creationId xmlns:a16="http://schemas.microsoft.com/office/drawing/2014/main" id="{17FA75A9-4EC0-2529-28EA-E67A5EA7B704}"/>
              </a:ext>
            </a:extLst>
          </p:cNvPr>
          <p:cNvSpPr txBox="1"/>
          <p:nvPr/>
        </p:nvSpPr>
        <p:spPr>
          <a:xfrm>
            <a:off x="2126790" y="3572950"/>
            <a:ext cx="1555985" cy="854849"/>
          </a:xfrm>
          <a:prstGeom prst="rect">
            <a:avLst/>
          </a:prstGeom>
          <a:noFill/>
        </p:spPr>
        <p:txBody>
          <a:bodyPr wrap="square">
            <a:spAutoFit/>
          </a:bodyPr>
          <a:lstStyle/>
          <a:p>
            <a:pPr algn="ctr">
              <a:lnSpc>
                <a:spcPct val="250000"/>
              </a:lnSpc>
              <a:spcAft>
                <a:spcPts val="1200"/>
              </a:spcAft>
            </a:pPr>
            <a:r>
              <a:rPr lang="en-AU" sz="2400" dirty="0"/>
              <a:t>snake</a:t>
            </a:r>
          </a:p>
        </p:txBody>
      </p:sp>
      <p:pic>
        <p:nvPicPr>
          <p:cNvPr id="15" name="Picture 14">
            <a:extLst>
              <a:ext uri="{FF2B5EF4-FFF2-40B4-BE49-F238E27FC236}">
                <a16:creationId xmlns:a16="http://schemas.microsoft.com/office/drawing/2014/main" id="{7E676EDE-3304-2EDC-75CF-EE2378089EA5}"/>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348442" y="4932763"/>
            <a:ext cx="511873" cy="818996"/>
          </a:xfrm>
          <a:prstGeom prst="rect">
            <a:avLst/>
          </a:prstGeom>
        </p:spPr>
      </p:pic>
      <p:sp>
        <p:nvSpPr>
          <p:cNvPr id="12" name="TextBox 11">
            <a:extLst>
              <a:ext uri="{FF2B5EF4-FFF2-40B4-BE49-F238E27FC236}">
                <a16:creationId xmlns:a16="http://schemas.microsoft.com/office/drawing/2014/main" id="{A323929F-A27D-194F-698C-C162B21DCF68}"/>
              </a:ext>
            </a:extLst>
          </p:cNvPr>
          <p:cNvSpPr txBox="1"/>
          <p:nvPr/>
        </p:nvSpPr>
        <p:spPr>
          <a:xfrm>
            <a:off x="2003082" y="4722130"/>
            <a:ext cx="1803400" cy="854849"/>
          </a:xfrm>
          <a:prstGeom prst="rect">
            <a:avLst/>
          </a:prstGeom>
          <a:noFill/>
        </p:spPr>
        <p:txBody>
          <a:bodyPr wrap="square">
            <a:spAutoFit/>
          </a:bodyPr>
          <a:lstStyle/>
          <a:p>
            <a:pPr algn="ctr">
              <a:lnSpc>
                <a:spcPct val="250000"/>
              </a:lnSpc>
              <a:spcAft>
                <a:spcPts val="1200"/>
              </a:spcAft>
            </a:pPr>
            <a:r>
              <a:rPr lang="en-AU" sz="2400" dirty="0"/>
              <a:t>quokka</a:t>
            </a:r>
          </a:p>
        </p:txBody>
      </p:sp>
      <p:pic>
        <p:nvPicPr>
          <p:cNvPr id="17" name="Picture 16">
            <a:extLst>
              <a:ext uri="{FF2B5EF4-FFF2-40B4-BE49-F238E27FC236}">
                <a16:creationId xmlns:a16="http://schemas.microsoft.com/office/drawing/2014/main" id="{1865A95D-7B00-F359-DD37-07F33C37B96D}"/>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1212088" y="6067810"/>
            <a:ext cx="747801" cy="710738"/>
          </a:xfrm>
          <a:prstGeom prst="rect">
            <a:avLst/>
          </a:prstGeom>
        </p:spPr>
      </p:pic>
      <p:sp>
        <p:nvSpPr>
          <p:cNvPr id="14" name="TextBox 13">
            <a:extLst>
              <a:ext uri="{FF2B5EF4-FFF2-40B4-BE49-F238E27FC236}">
                <a16:creationId xmlns:a16="http://schemas.microsoft.com/office/drawing/2014/main" id="{DE3F45E7-09F1-633E-A5DB-5491815E02D6}"/>
              </a:ext>
            </a:extLst>
          </p:cNvPr>
          <p:cNvSpPr txBox="1"/>
          <p:nvPr/>
        </p:nvSpPr>
        <p:spPr>
          <a:xfrm>
            <a:off x="2003082" y="5767864"/>
            <a:ext cx="1714775" cy="854849"/>
          </a:xfrm>
          <a:prstGeom prst="rect">
            <a:avLst/>
          </a:prstGeom>
          <a:noFill/>
        </p:spPr>
        <p:txBody>
          <a:bodyPr wrap="square">
            <a:spAutoFit/>
          </a:bodyPr>
          <a:lstStyle/>
          <a:p>
            <a:pPr algn="ctr">
              <a:lnSpc>
                <a:spcPct val="250000"/>
              </a:lnSpc>
              <a:spcAft>
                <a:spcPts val="1200"/>
              </a:spcAft>
            </a:pPr>
            <a:r>
              <a:rPr lang="en-AU" sz="2400" dirty="0"/>
              <a:t>emu</a:t>
            </a:r>
          </a:p>
        </p:txBody>
      </p:sp>
      <p:pic>
        <p:nvPicPr>
          <p:cNvPr id="4" name="Picture 3" descr="A map of a zoo with the following animals at the grid references:&#10;Spiders C2, Chimps B2, elephants C2, emus B3, Parrots, D2, hippo E3, kangaroo C3, koala A3snakes B4, giraffe C5, eagles C4, zebras C4, echidnas D3, tigers, D4, turtles B2, quokkas C3">
            <a:extLst>
              <a:ext uri="{FF2B5EF4-FFF2-40B4-BE49-F238E27FC236}">
                <a16:creationId xmlns:a16="http://schemas.microsoft.com/office/drawing/2014/main" id="{EB33E0F5-ED53-68BC-8D7D-A2292D72CCB4}"/>
              </a:ext>
            </a:extLst>
          </p:cNvPr>
          <p:cNvPicPr>
            <a:picLocks noChangeAspect="1"/>
          </p:cNvPicPr>
          <p:nvPr/>
        </p:nvPicPr>
        <p:blipFill>
          <a:blip r:embed="rId8"/>
          <a:srcRect b="29931"/>
          <a:stretch>
            <a:fillRect/>
          </a:stretch>
        </p:blipFill>
        <p:spPr>
          <a:xfrm>
            <a:off x="4915286" y="176396"/>
            <a:ext cx="6115190" cy="626459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4" name="TextBox 3">
            <a:extLst>
              <a:ext uri="{FF2B5EF4-FFF2-40B4-BE49-F238E27FC236}">
                <a16:creationId xmlns:a16="http://schemas.microsoft.com/office/drawing/2014/main" id="{A90DD81E-F1FD-7753-1D85-28FF5DEFAFB5}"/>
              </a:ext>
            </a:extLst>
          </p:cNvPr>
          <p:cNvSpPr txBox="1"/>
          <p:nvPr/>
        </p:nvSpPr>
        <p:spPr>
          <a:xfrm>
            <a:off x="360000" y="905601"/>
            <a:ext cx="11585976" cy="2105466"/>
          </a:xfrm>
          <a:prstGeom prst="rect">
            <a:avLst/>
          </a:prstGeom>
          <a:noFill/>
        </p:spPr>
        <p:txBody>
          <a:bodyPr wrap="square" lIns="0" tIns="0" rIns="0" bIns="0" rtlCol="0">
            <a:noAutofit/>
          </a:bodyPr>
          <a:lstStyle/>
          <a:p>
            <a:pPr algn="ctr">
              <a:lnSpc>
                <a:spcPct val="150000"/>
              </a:lnSpc>
            </a:pPr>
            <a:r>
              <a:rPr lang="en-AU" sz="4400" dirty="0"/>
              <a:t>Determine whether the following numbers are either </a:t>
            </a:r>
            <a:r>
              <a:rPr lang="en-AU" sz="4400" b="1" dirty="0"/>
              <a:t>prime</a:t>
            </a:r>
            <a:r>
              <a:rPr lang="en-AU" sz="4400" dirty="0"/>
              <a:t>, </a:t>
            </a:r>
            <a:r>
              <a:rPr lang="en-AU" sz="4400" b="1" dirty="0"/>
              <a:t>composite</a:t>
            </a:r>
            <a:r>
              <a:rPr lang="en-AU" sz="4400" dirty="0"/>
              <a:t> or </a:t>
            </a:r>
            <a:r>
              <a:rPr lang="en-AU" sz="4400" b="1" dirty="0"/>
              <a:t>neither</a:t>
            </a:r>
            <a:r>
              <a:rPr lang="en-AU" sz="4400" dirty="0"/>
              <a:t>:</a:t>
            </a:r>
          </a:p>
          <a:p>
            <a:pPr algn="ctr">
              <a:lnSpc>
                <a:spcPct val="150000"/>
              </a:lnSpc>
            </a:pPr>
            <a:endParaRPr lang="en-AU" sz="1800" dirty="0"/>
          </a:p>
        </p:txBody>
      </p:sp>
      <p:sp>
        <p:nvSpPr>
          <p:cNvPr id="7" name="TextBox 6">
            <a:extLst>
              <a:ext uri="{FF2B5EF4-FFF2-40B4-BE49-F238E27FC236}">
                <a16:creationId xmlns:a16="http://schemas.microsoft.com/office/drawing/2014/main" id="{6D332B84-B850-9316-624D-1A0A6E611E1B}"/>
              </a:ext>
            </a:extLst>
          </p:cNvPr>
          <p:cNvSpPr txBox="1"/>
          <p:nvPr/>
        </p:nvSpPr>
        <p:spPr>
          <a:xfrm>
            <a:off x="3553394" y="2877132"/>
            <a:ext cx="3980479" cy="2848232"/>
          </a:xfrm>
          <a:prstGeom prst="rect">
            <a:avLst/>
          </a:prstGeom>
          <a:noFill/>
        </p:spPr>
        <p:txBody>
          <a:bodyPr wrap="square" lIns="0" tIns="0" rIns="0" bIns="0" rtlCol="0">
            <a:noAutofit/>
          </a:bodyPr>
          <a:lstStyle/>
          <a:p>
            <a:pPr marL="571500" indent="-571500" algn="ctr">
              <a:lnSpc>
                <a:spcPct val="150000"/>
              </a:lnSpc>
              <a:buFont typeface="Arial" panose="020B0604020202020204" pitchFamily="34" charset="0"/>
              <a:buChar char="•"/>
            </a:pPr>
            <a:r>
              <a:rPr lang="en-AU" sz="4400" dirty="0"/>
              <a:t>9</a:t>
            </a:r>
          </a:p>
          <a:p>
            <a:pPr marL="571500" indent="-571500" algn="ctr">
              <a:lnSpc>
                <a:spcPct val="150000"/>
              </a:lnSpc>
              <a:buFont typeface="Arial" panose="020B0604020202020204" pitchFamily="34" charset="0"/>
              <a:buChar char="•"/>
            </a:pPr>
            <a:r>
              <a:rPr lang="en-AU" sz="4400" dirty="0"/>
              <a:t>11</a:t>
            </a:r>
          </a:p>
          <a:p>
            <a:pPr marL="571500" indent="-571500" algn="ctr">
              <a:lnSpc>
                <a:spcPct val="150000"/>
              </a:lnSpc>
              <a:buFont typeface="Arial" panose="020B0604020202020204" pitchFamily="34" charset="0"/>
              <a:buChar char="•"/>
            </a:pPr>
            <a:r>
              <a:rPr lang="en-AU" sz="4400" dirty="0"/>
              <a:t>0</a:t>
            </a:r>
          </a:p>
        </p:txBody>
      </p:sp>
      <p:sp>
        <p:nvSpPr>
          <p:cNvPr id="8" name="Text Placeholder 5">
            <a:extLst>
              <a:ext uri="{FF2B5EF4-FFF2-40B4-BE49-F238E27FC236}">
                <a16:creationId xmlns:a16="http://schemas.microsoft.com/office/drawing/2014/main" id="{75CE977D-783E-5E46-8B73-0725E4CECCF6}"/>
              </a:ext>
            </a:extLst>
          </p:cNvPr>
          <p:cNvSpPr txBox="1">
            <a:spLocks/>
          </p:cNvSpPr>
          <p:nvPr/>
        </p:nvSpPr>
        <p:spPr>
          <a:xfrm>
            <a:off x="474481" y="5696051"/>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t>Communicate</a:t>
            </a:r>
            <a:r>
              <a:rPr lang="en-AU" sz="4400" dirty="0"/>
              <a:t> your </a:t>
            </a:r>
            <a:r>
              <a:rPr lang="en-AU" sz="4400" b="1" dirty="0"/>
              <a:t>reasoning</a:t>
            </a:r>
            <a:r>
              <a:rPr lang="en-AU" sz="4400" dirty="0"/>
              <a:t>.</a:t>
            </a:r>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38D1258F-0A34-308F-B2A4-0372FE74A8CB}"/>
              </a:ext>
            </a:extLst>
          </p:cNvPr>
          <p:cNvSpPr txBox="1"/>
          <p:nvPr/>
        </p:nvSpPr>
        <p:spPr>
          <a:xfrm>
            <a:off x="112636" y="1184222"/>
            <a:ext cx="5094364" cy="5509751"/>
          </a:xfrm>
          <a:prstGeom prst="rect">
            <a:avLst/>
          </a:prstGeom>
          <a:noFill/>
        </p:spPr>
        <p:txBody>
          <a:bodyPr wrap="square" lIns="0" tIns="0" rIns="0" bIns="0" rtlCol="0">
            <a:noAutofit/>
          </a:bodyPr>
          <a:lstStyle/>
          <a:p>
            <a:pPr marL="285750" indent="-285750" algn="ctr">
              <a:lnSpc>
                <a:spcPct val="150000"/>
              </a:lnSpc>
              <a:spcBef>
                <a:spcPts val="1200"/>
              </a:spcBef>
              <a:spcAft>
                <a:spcPts val="1200"/>
              </a:spcAft>
              <a:buFont typeface="Arial" panose="020B0604020202020204" pitchFamily="34" charset="0"/>
              <a:buChar char="•"/>
            </a:pPr>
            <a:r>
              <a:rPr lang="en-AU" sz="2800" dirty="0"/>
              <a:t>What is the value of the digit in the </a:t>
            </a:r>
            <a:r>
              <a:rPr lang="en-AU" sz="2800" b="1" dirty="0"/>
              <a:t>hundreds</a:t>
            </a:r>
            <a:r>
              <a:rPr lang="en-AU" sz="2800" dirty="0"/>
              <a:t> place?</a:t>
            </a:r>
          </a:p>
          <a:p>
            <a:pPr marL="285750" indent="-285750" algn="ctr">
              <a:lnSpc>
                <a:spcPct val="150000"/>
              </a:lnSpc>
              <a:spcBef>
                <a:spcPts val="1200"/>
              </a:spcBef>
              <a:spcAft>
                <a:spcPts val="1200"/>
              </a:spcAft>
              <a:buFont typeface="Arial" panose="020B0604020202020204" pitchFamily="34" charset="0"/>
              <a:buChar char="•"/>
            </a:pPr>
            <a:r>
              <a:rPr lang="en-AU" sz="2800" dirty="0"/>
              <a:t>How many </a:t>
            </a:r>
            <a:r>
              <a:rPr lang="en-AU" sz="2800" b="1" dirty="0"/>
              <a:t>ten thousands </a:t>
            </a:r>
            <a:r>
              <a:rPr lang="en-AU" sz="2800" dirty="0"/>
              <a:t>are in the number?</a:t>
            </a:r>
          </a:p>
          <a:p>
            <a:pPr marL="285750" indent="-285750" algn="ctr">
              <a:lnSpc>
                <a:spcPct val="150000"/>
              </a:lnSpc>
              <a:spcBef>
                <a:spcPts val="1200"/>
              </a:spcBef>
              <a:spcAft>
                <a:spcPts val="1200"/>
              </a:spcAft>
              <a:buFont typeface="Arial" panose="020B0604020202020204" pitchFamily="34" charset="0"/>
              <a:buChar char="•"/>
            </a:pPr>
            <a:r>
              <a:rPr lang="en-AU" sz="2800" dirty="0"/>
              <a:t>What is the value of the digit in the </a:t>
            </a:r>
            <a:r>
              <a:rPr lang="en-AU" sz="2800" b="1" dirty="0"/>
              <a:t>hundred millions</a:t>
            </a:r>
            <a:r>
              <a:rPr lang="en-AU" sz="2800" dirty="0"/>
              <a:t> place? </a:t>
            </a:r>
          </a:p>
        </p:txBody>
      </p:sp>
      <p:pic>
        <p:nvPicPr>
          <p:cNvPr id="5" name="Picture 4" descr="Place value house displaying the number: 827 309 146.">
            <a:extLst>
              <a:ext uri="{FF2B5EF4-FFF2-40B4-BE49-F238E27FC236}">
                <a16:creationId xmlns:a16="http://schemas.microsoft.com/office/drawing/2014/main" id="{A49CFC52-4E56-B0FE-9EFC-A9ACA84CA180}"/>
              </a:ext>
            </a:extLst>
          </p:cNvPr>
          <p:cNvPicPr>
            <a:picLocks noChangeAspect="1"/>
          </p:cNvPicPr>
          <p:nvPr/>
        </p:nvPicPr>
        <p:blipFill>
          <a:blip r:embed="rId4"/>
          <a:stretch>
            <a:fillRect/>
          </a:stretch>
        </p:blipFill>
        <p:spPr>
          <a:xfrm>
            <a:off x="5397500" y="1783883"/>
            <a:ext cx="6446500" cy="3463948"/>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4" name="TextBox 3">
            <a:extLst>
              <a:ext uri="{FF2B5EF4-FFF2-40B4-BE49-F238E27FC236}">
                <a16:creationId xmlns:a16="http://schemas.microsoft.com/office/drawing/2014/main" id="{12957AFC-767B-E442-3406-414441D0F875}"/>
              </a:ext>
            </a:extLst>
          </p:cNvPr>
          <p:cNvSpPr txBox="1"/>
          <p:nvPr/>
        </p:nvSpPr>
        <p:spPr>
          <a:xfrm>
            <a:off x="541199" y="769327"/>
            <a:ext cx="10582801" cy="1701852"/>
          </a:xfrm>
          <a:prstGeom prst="rect">
            <a:avLst/>
          </a:prstGeom>
          <a:noFill/>
        </p:spPr>
        <p:txBody>
          <a:bodyPr wrap="square" lIns="0" tIns="0" rIns="0" bIns="0" rtlCol="0">
            <a:noAutofit/>
          </a:bodyPr>
          <a:lstStyle/>
          <a:p>
            <a:pPr algn="ctr">
              <a:lnSpc>
                <a:spcPct val="150000"/>
              </a:lnSpc>
            </a:pPr>
            <a:r>
              <a:rPr lang="en-AU" sz="2800" dirty="0"/>
              <a:t>Which type of data display is </a:t>
            </a:r>
            <a:r>
              <a:rPr lang="en-AU" sz="2800" b="1" dirty="0"/>
              <a:t>appropriate</a:t>
            </a:r>
            <a:r>
              <a:rPr lang="en-AU" sz="2800" dirty="0"/>
              <a:t> to represent the</a:t>
            </a:r>
          </a:p>
          <a:p>
            <a:pPr algn="ctr">
              <a:lnSpc>
                <a:spcPct val="150000"/>
              </a:lnSpc>
            </a:pPr>
            <a:r>
              <a:rPr lang="en-AU" sz="2800" b="1" dirty="0"/>
              <a:t>average temperature in Sydney</a:t>
            </a:r>
            <a:r>
              <a:rPr lang="en-AU" sz="2800" dirty="0"/>
              <a:t>?</a:t>
            </a:r>
          </a:p>
        </p:txBody>
      </p:sp>
      <p:sp>
        <p:nvSpPr>
          <p:cNvPr id="11" name="TextBox 10">
            <a:extLst>
              <a:ext uri="{FF2B5EF4-FFF2-40B4-BE49-F238E27FC236}">
                <a16:creationId xmlns:a16="http://schemas.microsoft.com/office/drawing/2014/main" id="{1CA7BBC3-4D94-2260-213A-9597159E78EB}"/>
              </a:ext>
            </a:extLst>
          </p:cNvPr>
          <p:cNvSpPr txBox="1"/>
          <p:nvPr/>
        </p:nvSpPr>
        <p:spPr>
          <a:xfrm>
            <a:off x="862683" y="2246749"/>
            <a:ext cx="3276602" cy="600675"/>
          </a:xfrm>
          <a:prstGeom prst="rect">
            <a:avLst/>
          </a:prstGeom>
          <a:noFill/>
        </p:spPr>
        <p:txBody>
          <a:bodyPr wrap="square" lIns="0" tIns="0" rIns="0" bIns="0" rtlCol="0">
            <a:noAutofit/>
          </a:bodyPr>
          <a:lstStyle/>
          <a:p>
            <a:pPr algn="ctr"/>
            <a:r>
              <a:rPr lang="en-AU" dirty="0"/>
              <a:t>A. </a:t>
            </a:r>
            <a:r>
              <a:rPr lang="en-AU" b="1" dirty="0"/>
              <a:t>Column graph</a:t>
            </a:r>
          </a:p>
        </p:txBody>
      </p:sp>
      <p:pic>
        <p:nvPicPr>
          <p:cNvPr id="9" name="Picture 3" descr="A column graph with months of the year labelled on the x axis and numbers 0, 5, 10, 15, 20, 25, 30 on the y axis.">
            <a:extLst>
              <a:ext uri="{FF2B5EF4-FFF2-40B4-BE49-F238E27FC236}">
                <a16:creationId xmlns:a16="http://schemas.microsoft.com/office/drawing/2014/main" id="{0B626116-A24F-2BEF-0087-9BDDDE316E3B}"/>
              </a:ext>
            </a:extLst>
          </p:cNvPr>
          <p:cNvPicPr>
            <a:picLocks noChangeAspect="1"/>
          </p:cNvPicPr>
          <p:nvPr/>
        </p:nvPicPr>
        <p:blipFill>
          <a:blip r:embed="rId4"/>
          <a:stretch>
            <a:fillRect/>
          </a:stretch>
        </p:blipFill>
        <p:spPr>
          <a:xfrm>
            <a:off x="360000" y="2026447"/>
            <a:ext cx="4473257" cy="4597485"/>
          </a:xfrm>
          <a:prstGeom prst="rect">
            <a:avLst/>
          </a:prstGeom>
        </p:spPr>
      </p:pic>
      <p:sp>
        <p:nvSpPr>
          <p:cNvPr id="10" name="TextBox 9">
            <a:extLst>
              <a:ext uri="{FF2B5EF4-FFF2-40B4-BE49-F238E27FC236}">
                <a16:creationId xmlns:a16="http://schemas.microsoft.com/office/drawing/2014/main" id="{7130B07B-80BA-3B6E-AEC3-814234F0AEF7}"/>
              </a:ext>
            </a:extLst>
          </p:cNvPr>
          <p:cNvSpPr txBox="1"/>
          <p:nvPr/>
        </p:nvSpPr>
        <p:spPr>
          <a:xfrm>
            <a:off x="7497633" y="2246749"/>
            <a:ext cx="3229635" cy="600675"/>
          </a:xfrm>
          <a:prstGeom prst="rect">
            <a:avLst/>
          </a:prstGeom>
          <a:noFill/>
        </p:spPr>
        <p:txBody>
          <a:bodyPr wrap="square" lIns="0" tIns="0" rIns="0" bIns="0" rtlCol="0">
            <a:noAutofit/>
          </a:bodyPr>
          <a:lstStyle/>
          <a:p>
            <a:pPr algn="ctr"/>
            <a:r>
              <a:rPr lang="en-AU" dirty="0"/>
              <a:t>B. </a:t>
            </a:r>
            <a:r>
              <a:rPr lang="en-AU" b="1" dirty="0"/>
              <a:t>Line graph</a:t>
            </a:r>
          </a:p>
        </p:txBody>
      </p:sp>
      <p:sp>
        <p:nvSpPr>
          <p:cNvPr id="8" name="Freeform 2" descr="A line graph with numbers 1-10 on the x axis and numbers 0, 2, 4, 6, 8, 10, 12, 14 and 16 on the y axis.">
            <a:extLst>
              <a:ext uri="{FF2B5EF4-FFF2-40B4-BE49-F238E27FC236}">
                <a16:creationId xmlns:a16="http://schemas.microsoft.com/office/drawing/2014/main" id="{30574CC0-9351-A8B7-AB6A-1F3D834D27FD}"/>
              </a:ext>
            </a:extLst>
          </p:cNvPr>
          <p:cNvSpPr/>
          <p:nvPr/>
        </p:nvSpPr>
        <p:spPr>
          <a:xfrm>
            <a:off x="6280220" y="2811087"/>
            <a:ext cx="5203780" cy="2943198"/>
          </a:xfrm>
          <a:custGeom>
            <a:avLst/>
            <a:gdLst/>
            <a:ahLst/>
            <a:cxnLst/>
            <a:rect l="l" t="t" r="r" b="b"/>
            <a:pathLst>
              <a:path w="4057605" h="2244382">
                <a:moveTo>
                  <a:pt x="0" y="0"/>
                </a:moveTo>
                <a:lnTo>
                  <a:pt x="4057605" y="0"/>
                </a:lnTo>
                <a:lnTo>
                  <a:pt x="4057605" y="2244382"/>
                </a:lnTo>
                <a:lnTo>
                  <a:pt x="0" y="2244382"/>
                </a:lnTo>
                <a:lnTo>
                  <a:pt x="0" y="0"/>
                </a:lnTo>
                <a:close/>
              </a:path>
            </a:pathLst>
          </a:custGeom>
          <a:blipFill>
            <a:blip r:embed="rId5"/>
            <a:stretch>
              <a:fillRect l="-4152" t="-13055" b="-8159"/>
            </a:stretch>
          </a:blipFill>
        </p:spPr>
        <p:txBody>
          <a:bodyPr/>
          <a:lstStyle/>
          <a:p>
            <a:endParaRPr lang="en-AU" dirty="0"/>
          </a:p>
        </p:txBody>
      </p:sp>
      <p:sp>
        <p:nvSpPr>
          <p:cNvPr id="5" name="Text Placeholder 5">
            <a:extLst>
              <a:ext uri="{FF2B5EF4-FFF2-40B4-BE49-F238E27FC236}">
                <a16:creationId xmlns:a16="http://schemas.microsoft.com/office/drawing/2014/main" id="{674F366D-2039-5137-AAEE-48A2547B3059}"/>
              </a:ext>
            </a:extLst>
          </p:cNvPr>
          <p:cNvSpPr txBox="1">
            <a:spLocks/>
          </p:cNvSpPr>
          <p:nvPr/>
        </p:nvSpPr>
        <p:spPr>
          <a:xfrm>
            <a:off x="474481" y="6032907"/>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200" b="1" dirty="0"/>
              <a:t>Communicate</a:t>
            </a:r>
            <a:r>
              <a:rPr lang="en-AU" sz="3200" dirty="0"/>
              <a:t> your </a:t>
            </a:r>
            <a:r>
              <a:rPr lang="en-AU" sz="3200" b="1" dirty="0"/>
              <a:t>reasoning</a:t>
            </a:r>
            <a:r>
              <a:rPr lang="en-AU" sz="3200" dirty="0"/>
              <a:t>.</a:t>
            </a:r>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dirty="0"/>
              <a:t>Activity 1 – comparing halves and quarters (1)</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3" name="Picture 2" descr="A resource titled fraction problem solving. Mia ate 1/4 of a pizza and Jacob ate half of a different pizza. Mia said she ate more than Jacob. How could she be correct? The image of a boy, a girl and a pizza are decorative. ">
            <a:extLst>
              <a:ext uri="{FF2B5EF4-FFF2-40B4-BE49-F238E27FC236}">
                <a16:creationId xmlns:a16="http://schemas.microsoft.com/office/drawing/2014/main" id="{52817581-6D20-1268-8739-21CD7E627ACB}"/>
              </a:ext>
            </a:extLst>
          </p:cNvPr>
          <p:cNvPicPr>
            <a:picLocks noChangeAspect="1"/>
          </p:cNvPicPr>
          <p:nvPr/>
        </p:nvPicPr>
        <p:blipFill>
          <a:blip r:embed="rId4"/>
          <a:stretch>
            <a:fillRect/>
          </a:stretch>
        </p:blipFill>
        <p:spPr>
          <a:xfrm>
            <a:off x="1730553" y="1097258"/>
            <a:ext cx="8730893" cy="5790399"/>
          </a:xfrm>
          <a:prstGeom prst="rect">
            <a:avLst/>
          </a:prstGeom>
          <a:ln>
            <a:noFill/>
          </a:ln>
          <a:effectLst/>
        </p:spPr>
      </p:pic>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78653-F3F8-D7CD-5EEB-5E8EFDCD99F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33966E-C7AE-6887-C4AC-F9485360E143}"/>
              </a:ext>
            </a:extLst>
          </p:cNvPr>
          <p:cNvSpPr>
            <a:spLocks noGrp="1"/>
          </p:cNvSpPr>
          <p:nvPr>
            <p:ph type="title"/>
          </p:nvPr>
        </p:nvSpPr>
        <p:spPr>
          <a:xfrm>
            <a:off x="360000" y="360000"/>
            <a:ext cx="10367268" cy="545601"/>
          </a:xfrm>
        </p:spPr>
        <p:txBody>
          <a:bodyPr/>
          <a:lstStyle/>
          <a:p>
            <a:r>
              <a:rPr lang="en-AU" dirty="0"/>
              <a:t>Activity 1 – comparing halves and quarters (2)</a:t>
            </a:r>
          </a:p>
        </p:txBody>
      </p:sp>
      <p:pic>
        <p:nvPicPr>
          <p:cNvPr id="4" name="Picture 3">
            <a:extLst>
              <a:ext uri="{FF2B5EF4-FFF2-40B4-BE49-F238E27FC236}">
                <a16:creationId xmlns:a16="http://schemas.microsoft.com/office/drawing/2014/main" id="{AA19F57E-224A-BD9C-DAE3-446AAD1E6E8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CA002617-6E6B-6EBE-84DD-A3244545548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11</a:t>
            </a:fld>
            <a:endParaRPr lang="en-AU"/>
          </a:p>
        </p:txBody>
      </p:sp>
      <p:pic>
        <p:nvPicPr>
          <p:cNvPr id="5" name="Picture 4" descr="A resource title would you rather? An image of a pizza is in the centre with the fraction half sitting on an image of a plate on the left and the fraction two-eighths on an image of a plate on the right. The question to solve is Would you rather 1/2 or 2/8 of the pizza? Explain your reasoning. ">
            <a:extLst>
              <a:ext uri="{FF2B5EF4-FFF2-40B4-BE49-F238E27FC236}">
                <a16:creationId xmlns:a16="http://schemas.microsoft.com/office/drawing/2014/main" id="{730433DB-E2D0-B2E0-1811-5D57339167A9}"/>
              </a:ext>
            </a:extLst>
          </p:cNvPr>
          <p:cNvPicPr>
            <a:picLocks noChangeAspect="1"/>
          </p:cNvPicPr>
          <p:nvPr/>
        </p:nvPicPr>
        <p:blipFill>
          <a:blip r:embed="rId4"/>
          <a:stretch>
            <a:fillRect/>
          </a:stretch>
        </p:blipFill>
        <p:spPr>
          <a:xfrm>
            <a:off x="1707099" y="905601"/>
            <a:ext cx="8777802" cy="5790399"/>
          </a:xfrm>
          <a:prstGeom prst="rect">
            <a:avLst/>
          </a:prstGeom>
          <a:ln>
            <a:noFill/>
          </a:ln>
          <a:effectLst/>
        </p:spPr>
      </p:pic>
    </p:spTree>
    <p:extLst>
      <p:ext uri="{BB962C8B-B14F-4D97-AF65-F5344CB8AC3E}">
        <p14:creationId xmlns:p14="http://schemas.microsoft.com/office/powerpoint/2010/main" val="75241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dirty="0">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dirty="0"/>
              <a:t>True or false </a:t>
            </a:r>
            <a:r>
              <a:rPr lang="en-US" dirty="0">
                <a:solidFill>
                  <a:schemeClr val="bg1"/>
                </a:solidFill>
              </a:rPr>
              <a:t>(1)</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474480" y="1412130"/>
                <a:ext cx="11243037" cy="893226"/>
              </a:xfrm>
            </p:spPr>
            <p:txBody>
              <a:bodyPr/>
              <a:lstStyle/>
              <a:p>
                <a:pPr algn="ctr"/>
                <a14:m>
                  <m:oMath xmlns:m="http://schemas.openxmlformats.org/officeDocument/2006/math">
                    <m:f>
                      <m:fPr>
                        <m:ctrlPr>
                          <a:rPr lang="en-AU" sz="4400" i="1" smtClean="0">
                            <a:latin typeface="Cambria Math" panose="02040503050406030204" pitchFamily="18" charset="0"/>
                          </a:rPr>
                        </m:ctrlPr>
                      </m:fPr>
                      <m:num>
                        <m:r>
                          <a:rPr lang="en-AU" sz="4400" b="0" i="1" smtClean="0">
                            <a:latin typeface="Cambria Math" panose="02040503050406030204" pitchFamily="18" charset="0"/>
                          </a:rPr>
                          <m:t>1</m:t>
                        </m:r>
                      </m:num>
                      <m:den>
                        <m:r>
                          <a:rPr lang="en-AU" sz="4400" b="0" i="1" smtClean="0">
                            <a:latin typeface="Cambria Math" panose="02040503050406030204" pitchFamily="18" charset="0"/>
                          </a:rPr>
                          <m:t>5</m:t>
                        </m:r>
                      </m:den>
                    </m:f>
                  </m:oMath>
                </a14:m>
                <a:r>
                  <a:rPr lang="en-AU" sz="4400" dirty="0"/>
                  <a:t> is </a:t>
                </a:r>
                <a:r>
                  <a:rPr lang="en-AU" sz="4400" b="1" dirty="0"/>
                  <a:t>smaller</a:t>
                </a:r>
                <a:r>
                  <a:rPr lang="en-AU" sz="4400" dirty="0"/>
                  <a:t> than </a:t>
                </a:r>
                <a14:m>
                  <m:oMath xmlns:m="http://schemas.openxmlformats.org/officeDocument/2006/math">
                    <m:f>
                      <m:fPr>
                        <m:ctrlPr>
                          <a:rPr lang="en-AU" sz="4400" i="1">
                            <a:latin typeface="Cambria Math" panose="02040503050406030204" pitchFamily="18" charset="0"/>
                          </a:rPr>
                        </m:ctrlPr>
                      </m:fPr>
                      <m:num>
                        <m:r>
                          <a:rPr lang="en-AU" sz="4400" i="1">
                            <a:latin typeface="Cambria Math" panose="02040503050406030204" pitchFamily="18" charset="0"/>
                          </a:rPr>
                          <m:t>1</m:t>
                        </m:r>
                      </m:num>
                      <m:den>
                        <m:r>
                          <a:rPr lang="en-AU" sz="4400" b="0" i="1" smtClean="0">
                            <a:latin typeface="Cambria Math" panose="02040503050406030204" pitchFamily="18" charset="0"/>
                          </a:rPr>
                          <m:t>2</m:t>
                        </m:r>
                      </m:den>
                    </m:f>
                  </m:oMath>
                </a14:m>
                <a:r>
                  <a:rPr lang="en-AU" sz="4400" dirty="0"/>
                  <a:t>. </a:t>
                </a:r>
              </a:p>
            </p:txBody>
          </p:sp>
        </mc:Choice>
        <mc:Fallback xmlns="">
          <p:sp>
            <p:nvSpPr>
              <p:cNvPr id="6" name="Text Placeholder 5">
                <a:extLst>
                  <a:ext uri="{FF2B5EF4-FFF2-40B4-BE49-F238E27FC236}">
                    <a16:creationId xmlns:a16="http://schemas.microsoft.com/office/drawing/2014/main" id="{8CC0313E-620B-44F6-1CF2-E78C8F63E324}"/>
                  </a:ext>
                </a:extLst>
              </p:cNvPr>
              <p:cNvSpPr>
                <a:spLocks noGrp="1" noRot="1" noChangeAspect="1" noMove="1" noResize="1" noEditPoints="1" noAdjustHandles="1" noChangeArrowheads="1" noChangeShapeType="1" noTextEdit="1"/>
              </p:cNvSpPr>
              <p:nvPr>
                <p:ph type="body" sz="quarter" idx="22"/>
              </p:nvPr>
            </p:nvSpPr>
            <p:spPr>
              <a:xfrm>
                <a:off x="474480" y="1412130"/>
                <a:ext cx="11243037" cy="893226"/>
              </a:xfrm>
              <a:blipFill>
                <a:blip r:embed="rId3"/>
                <a:stretch>
                  <a:fillRect b="-66438"/>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3491131689"/>
              </p:ext>
            </p:extLst>
          </p:nvPr>
        </p:nvGraphicFramePr>
        <p:xfrm>
          <a:off x="2349538" y="4041501"/>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5" name="Text Placeholder 5">
            <a:extLst>
              <a:ext uri="{FF2B5EF4-FFF2-40B4-BE49-F238E27FC236}">
                <a16:creationId xmlns:a16="http://schemas.microsoft.com/office/drawing/2014/main" id="{620A7BC5-4895-EB17-CC2C-B0ED520E2F22}"/>
              </a:ext>
            </a:extLst>
          </p:cNvPr>
          <p:cNvSpPr txBox="1">
            <a:spLocks/>
          </p:cNvSpPr>
          <p:nvPr/>
        </p:nvSpPr>
        <p:spPr>
          <a:xfrm>
            <a:off x="474481" y="5445870"/>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t>Communicate</a:t>
            </a:r>
            <a:r>
              <a:rPr lang="en-AU" sz="4400" dirty="0"/>
              <a:t> your </a:t>
            </a:r>
            <a:r>
              <a:rPr lang="en-AU" sz="4400" b="1" dirty="0"/>
              <a:t>reasoning</a:t>
            </a:r>
            <a:r>
              <a:rPr lang="en-AU" sz="4400" dirty="0"/>
              <a:t>.</a:t>
            </a:r>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7DDA8500-71AD-6B65-D0E4-A98F8CB4FF13}"/>
              </a:ext>
            </a:extLst>
          </p:cNvPr>
          <p:cNvSpPr txBox="1"/>
          <p:nvPr/>
        </p:nvSpPr>
        <p:spPr>
          <a:xfrm>
            <a:off x="1600132" y="824121"/>
            <a:ext cx="8891303" cy="720204"/>
          </a:xfrm>
          <a:prstGeom prst="rect">
            <a:avLst/>
          </a:prstGeom>
          <a:noFill/>
        </p:spPr>
        <p:txBody>
          <a:bodyPr wrap="square" lIns="0" tIns="0" rIns="0" bIns="0" rtlCol="0">
            <a:noAutofit/>
          </a:bodyPr>
          <a:lstStyle/>
          <a:p>
            <a:pPr algn="ctr">
              <a:lnSpc>
                <a:spcPct val="150000"/>
              </a:lnSpc>
            </a:pPr>
            <a:r>
              <a:rPr lang="en-AU" sz="4400" dirty="0"/>
              <a:t>Complete the sentences. </a:t>
            </a:r>
          </a:p>
          <a:p>
            <a:pPr algn="ctr">
              <a:lnSpc>
                <a:spcPct val="150000"/>
              </a:lnSpc>
            </a:pPr>
            <a:endParaRPr lang="en-AU" sz="4400" dirty="0"/>
          </a:p>
        </p:txBody>
      </p:sp>
      <p:pic>
        <p:nvPicPr>
          <p:cNvPr id="7" name="Picture 6" descr="A map of a park within a grid-map A to N and 1 to 8. ">
            <a:extLst>
              <a:ext uri="{FF2B5EF4-FFF2-40B4-BE49-F238E27FC236}">
                <a16:creationId xmlns:a16="http://schemas.microsoft.com/office/drawing/2014/main" id="{679B9A7B-95C9-CFD0-A098-682CA80041F4}"/>
              </a:ext>
            </a:extLst>
          </p:cNvPr>
          <p:cNvPicPr>
            <a:picLocks noChangeAspect="1"/>
          </p:cNvPicPr>
          <p:nvPr/>
        </p:nvPicPr>
        <p:blipFill>
          <a:blip r:embed="rId4"/>
          <a:stretch>
            <a:fillRect/>
          </a:stretch>
        </p:blipFill>
        <p:spPr>
          <a:xfrm>
            <a:off x="264307" y="1842181"/>
            <a:ext cx="2191814" cy="1529130"/>
          </a:xfrm>
          <a:prstGeom prst="rect">
            <a:avLst/>
          </a:prstGeom>
          <a:ln>
            <a:noFill/>
          </a:ln>
          <a:effectLst>
            <a:outerShdw blurRad="292100" dist="139700" dir="2700000" algn="tl" rotWithShape="0">
              <a:srgbClr val="333333">
                <a:alpha val="65000"/>
              </a:srgbClr>
            </a:outerShdw>
          </a:effectLst>
        </p:spPr>
      </p:pic>
      <p:pic>
        <p:nvPicPr>
          <p:cNvPr id="4" name="Picture 3" descr="A number plane with grid lines. The x-axis is labelled zero to 7 and y-axis is labelled zero to 7.  ">
            <a:extLst>
              <a:ext uri="{FF2B5EF4-FFF2-40B4-BE49-F238E27FC236}">
                <a16:creationId xmlns:a16="http://schemas.microsoft.com/office/drawing/2014/main" id="{721AA68B-3F29-EE78-9339-1E120D9A4255}"/>
              </a:ext>
            </a:extLst>
          </p:cNvPr>
          <p:cNvPicPr>
            <a:picLocks noChangeAspect="1"/>
          </p:cNvPicPr>
          <p:nvPr/>
        </p:nvPicPr>
        <p:blipFill>
          <a:blip r:embed="rId5"/>
          <a:stretch>
            <a:fillRect/>
          </a:stretch>
        </p:blipFill>
        <p:spPr>
          <a:xfrm>
            <a:off x="264307" y="3701795"/>
            <a:ext cx="2191814" cy="1797478"/>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11" name="TextBox 10">
            <a:extLst>
              <a:ext uri="{FF2B5EF4-FFF2-40B4-BE49-F238E27FC236}">
                <a16:creationId xmlns:a16="http://schemas.microsoft.com/office/drawing/2014/main" id="{B6AA1269-C508-6924-9CB7-12CAD59EC022}"/>
              </a:ext>
            </a:extLst>
          </p:cNvPr>
          <p:cNvSpPr txBox="1"/>
          <p:nvPr/>
        </p:nvSpPr>
        <p:spPr>
          <a:xfrm>
            <a:off x="2456121" y="4078412"/>
            <a:ext cx="9542839" cy="739754"/>
          </a:xfrm>
          <a:prstGeom prst="rect">
            <a:avLst/>
          </a:prstGeom>
          <a:noFill/>
        </p:spPr>
        <p:txBody>
          <a:bodyPr wrap="square">
            <a:spAutoFit/>
          </a:bodyPr>
          <a:lstStyle/>
          <a:p>
            <a:pPr>
              <a:lnSpc>
                <a:spcPct val="150000"/>
              </a:lnSpc>
            </a:pPr>
            <a:r>
              <a:rPr lang="en-AU" sz="3200" dirty="0"/>
              <a:t>The number plane is used to ________________</a:t>
            </a:r>
            <a:r>
              <a:rPr lang="en-AU" sz="3200" dirty="0">
                <a:solidFill>
                  <a:schemeClr val="tx2"/>
                </a:solidFill>
              </a:rPr>
              <a:t> </a:t>
            </a:r>
            <a:r>
              <a:rPr lang="en-AU" sz="3200" dirty="0"/>
              <a:t>.</a:t>
            </a:r>
          </a:p>
        </p:txBody>
      </p:sp>
      <p:sp>
        <p:nvSpPr>
          <p:cNvPr id="12" name="TextBox 11">
            <a:extLst>
              <a:ext uri="{FF2B5EF4-FFF2-40B4-BE49-F238E27FC236}">
                <a16:creationId xmlns:a16="http://schemas.microsoft.com/office/drawing/2014/main" id="{33A7A418-F554-3A16-1CCE-2F471548A0D1}"/>
              </a:ext>
            </a:extLst>
          </p:cNvPr>
          <p:cNvSpPr txBox="1"/>
          <p:nvPr/>
        </p:nvSpPr>
        <p:spPr>
          <a:xfrm>
            <a:off x="633161" y="5794330"/>
            <a:ext cx="4910473" cy="910568"/>
          </a:xfrm>
          <a:prstGeom prst="rect">
            <a:avLst/>
          </a:prstGeom>
          <a:noFill/>
          <a:ln>
            <a:solidFill>
              <a:schemeClr val="tx2"/>
            </a:solidFill>
          </a:ln>
        </p:spPr>
        <p:txBody>
          <a:bodyPr wrap="square" lIns="0" tIns="0" rIns="0" bIns="0" rtlCol="0">
            <a:noAutofit/>
          </a:bodyPr>
          <a:lstStyle/>
          <a:p>
            <a:pPr algn="ctr">
              <a:lnSpc>
                <a:spcPct val="150000"/>
              </a:lnSpc>
            </a:pPr>
            <a:r>
              <a:rPr lang="en-AU" sz="3200" dirty="0">
                <a:solidFill>
                  <a:schemeClr val="tx2"/>
                </a:solidFill>
              </a:rPr>
              <a:t>identifies a specific point</a:t>
            </a:r>
          </a:p>
        </p:txBody>
      </p:sp>
      <p:sp>
        <p:nvSpPr>
          <p:cNvPr id="15" name="TextBox 14">
            <a:extLst>
              <a:ext uri="{FF2B5EF4-FFF2-40B4-BE49-F238E27FC236}">
                <a16:creationId xmlns:a16="http://schemas.microsoft.com/office/drawing/2014/main" id="{5E9A5AE2-F770-1316-331D-3E126B83F6FA}"/>
              </a:ext>
            </a:extLst>
          </p:cNvPr>
          <p:cNvSpPr txBox="1"/>
          <p:nvPr/>
        </p:nvSpPr>
        <p:spPr>
          <a:xfrm>
            <a:off x="6045784" y="5794330"/>
            <a:ext cx="5078216" cy="910568"/>
          </a:xfrm>
          <a:prstGeom prst="rect">
            <a:avLst/>
          </a:prstGeom>
          <a:noFill/>
          <a:ln>
            <a:solidFill>
              <a:schemeClr val="accent2"/>
            </a:solidFill>
          </a:ln>
        </p:spPr>
        <p:txBody>
          <a:bodyPr wrap="square" lIns="0" tIns="0" rIns="0" bIns="0" rtlCol="0">
            <a:noAutofit/>
          </a:bodyPr>
          <a:lstStyle/>
          <a:p>
            <a:pPr algn="ctr">
              <a:lnSpc>
                <a:spcPct val="150000"/>
              </a:lnSpc>
            </a:pPr>
            <a:r>
              <a:rPr lang="en-AU" sz="3200" dirty="0">
                <a:solidFill>
                  <a:schemeClr val="accent2"/>
                </a:solidFill>
              </a:rPr>
              <a:t>gives the area of a location</a:t>
            </a:r>
          </a:p>
        </p:txBody>
      </p:sp>
      <p:sp>
        <p:nvSpPr>
          <p:cNvPr id="8" name="TextBox 7">
            <a:extLst>
              <a:ext uri="{FF2B5EF4-FFF2-40B4-BE49-F238E27FC236}">
                <a16:creationId xmlns:a16="http://schemas.microsoft.com/office/drawing/2014/main" id="{ABE92FD0-1925-5814-F2AE-CBBF479BA6E4}"/>
              </a:ext>
            </a:extLst>
          </p:cNvPr>
          <p:cNvSpPr txBox="1"/>
          <p:nvPr/>
        </p:nvSpPr>
        <p:spPr>
          <a:xfrm>
            <a:off x="2456121" y="2142848"/>
            <a:ext cx="9542839" cy="739754"/>
          </a:xfrm>
          <a:prstGeom prst="rect">
            <a:avLst/>
          </a:prstGeom>
          <a:noFill/>
        </p:spPr>
        <p:txBody>
          <a:bodyPr wrap="square">
            <a:spAutoFit/>
          </a:bodyPr>
          <a:lstStyle/>
          <a:p>
            <a:pPr>
              <a:lnSpc>
                <a:spcPct val="150000"/>
              </a:lnSpc>
            </a:pPr>
            <a:r>
              <a:rPr lang="en-AU" sz="3200" dirty="0"/>
              <a:t>The grid-map reference is used to _____________ .</a:t>
            </a:r>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4" name="TextBox 3">
            <a:extLst>
              <a:ext uri="{FF2B5EF4-FFF2-40B4-BE49-F238E27FC236}">
                <a16:creationId xmlns:a16="http://schemas.microsoft.com/office/drawing/2014/main" id="{768418F6-4FCA-9C81-8641-692966C0C022}"/>
              </a:ext>
            </a:extLst>
          </p:cNvPr>
          <p:cNvSpPr txBox="1"/>
          <p:nvPr/>
        </p:nvSpPr>
        <p:spPr>
          <a:xfrm>
            <a:off x="360000" y="1569308"/>
            <a:ext cx="11354205" cy="4324865"/>
          </a:xfrm>
          <a:prstGeom prst="rect">
            <a:avLst/>
          </a:prstGeom>
          <a:noFill/>
        </p:spPr>
        <p:txBody>
          <a:bodyPr wrap="square" lIns="0" tIns="0" rIns="0" bIns="0" rtlCol="0">
            <a:noAutofit/>
          </a:bodyPr>
          <a:lstStyle/>
          <a:p>
            <a:pPr lvl="0" algn="ctr">
              <a:lnSpc>
                <a:spcPct val="150000"/>
              </a:lnSpc>
            </a:pPr>
            <a:r>
              <a:rPr lang="en-AU" sz="4000" dirty="0"/>
              <a:t>Use </a:t>
            </a:r>
            <a:r>
              <a:rPr lang="en-AU" sz="4000" b="1" dirty="0"/>
              <a:t>mental strategies </a:t>
            </a:r>
            <a:r>
              <a:rPr lang="en-AU" sz="4000" dirty="0"/>
              <a:t>to calculate the following:</a:t>
            </a:r>
          </a:p>
          <a:p>
            <a:pPr marL="342900" lvl="0" indent="-342900" algn="ctr">
              <a:lnSpc>
                <a:spcPct val="150000"/>
              </a:lnSpc>
              <a:buFont typeface="Arial" panose="020B0604020202020204" pitchFamily="34" charset="0"/>
              <a:buChar char="•"/>
            </a:pPr>
            <a:r>
              <a:rPr lang="en-AU" sz="4000" dirty="0"/>
              <a:t>  7 × 70</a:t>
            </a:r>
          </a:p>
          <a:p>
            <a:pPr marL="342900" lvl="0" indent="-342900" algn="ctr">
              <a:lnSpc>
                <a:spcPct val="150000"/>
              </a:lnSpc>
              <a:buFont typeface="Arial" panose="020B0604020202020204" pitchFamily="34" charset="0"/>
              <a:buChar char="•"/>
            </a:pPr>
            <a:r>
              <a:rPr lang="en-AU" sz="4000" dirty="0"/>
              <a:t>   8 × 600</a:t>
            </a:r>
          </a:p>
          <a:p>
            <a:pPr marL="342900" lvl="0" indent="-342900" algn="ctr">
              <a:lnSpc>
                <a:spcPct val="150000"/>
              </a:lnSpc>
              <a:buFont typeface="Arial" panose="020B0604020202020204" pitchFamily="34" charset="0"/>
              <a:buChar char="•"/>
            </a:pPr>
            <a:r>
              <a:rPr lang="en-AU" sz="4000" dirty="0"/>
              <a:t>   9 × 2000</a:t>
            </a:r>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62A8C252-B18F-8873-76F3-70A4A9D8FC52}"/>
              </a:ext>
            </a:extLst>
          </p:cNvPr>
          <p:cNvSpPr txBox="1"/>
          <p:nvPr/>
        </p:nvSpPr>
        <p:spPr>
          <a:xfrm>
            <a:off x="360000" y="1417816"/>
            <a:ext cx="5329600" cy="5188184"/>
          </a:xfrm>
          <a:prstGeom prst="rect">
            <a:avLst/>
          </a:prstGeom>
          <a:noFill/>
        </p:spPr>
        <p:txBody>
          <a:bodyPr wrap="square" lIns="0" tIns="0" rIns="0" bIns="0" rtlCol="0">
            <a:noAutofit/>
          </a:bodyPr>
          <a:lstStyle/>
          <a:p>
            <a:pPr algn="ctr">
              <a:lnSpc>
                <a:spcPct val="150000"/>
              </a:lnSpc>
            </a:pPr>
            <a:r>
              <a:rPr lang="en-AU" sz="4400" dirty="0"/>
              <a:t>Partition</a:t>
            </a:r>
          </a:p>
          <a:p>
            <a:pPr algn="ctr">
              <a:lnSpc>
                <a:spcPct val="150000"/>
              </a:lnSpc>
            </a:pPr>
            <a:r>
              <a:rPr lang="en-AU" sz="4400" dirty="0">
                <a:solidFill>
                  <a:schemeClr val="accent2"/>
                </a:solidFill>
              </a:rPr>
              <a:t>827 309 146</a:t>
            </a:r>
          </a:p>
          <a:p>
            <a:pPr algn="ctr">
              <a:lnSpc>
                <a:spcPct val="150000"/>
              </a:lnSpc>
            </a:pPr>
            <a:r>
              <a:rPr lang="en-AU" sz="4400" dirty="0"/>
              <a:t>in </a:t>
            </a:r>
            <a:r>
              <a:rPr lang="en-AU" sz="4400" b="1" dirty="0"/>
              <a:t>non-standard</a:t>
            </a:r>
            <a:r>
              <a:rPr lang="en-AU" sz="4400" dirty="0"/>
              <a:t> form.</a:t>
            </a:r>
          </a:p>
        </p:txBody>
      </p:sp>
      <p:pic>
        <p:nvPicPr>
          <p:cNvPr id="4" name="Picture 3" descr="A place value house diplaying the number: 827 309 146.">
            <a:extLst>
              <a:ext uri="{FF2B5EF4-FFF2-40B4-BE49-F238E27FC236}">
                <a16:creationId xmlns:a16="http://schemas.microsoft.com/office/drawing/2014/main" id="{15F19238-2669-026E-4997-C808CD8ABD70}"/>
              </a:ext>
            </a:extLst>
          </p:cNvPr>
          <p:cNvPicPr>
            <a:picLocks noChangeAspect="1"/>
          </p:cNvPicPr>
          <p:nvPr/>
        </p:nvPicPr>
        <p:blipFill>
          <a:blip r:embed="rId4"/>
          <a:stretch>
            <a:fillRect/>
          </a:stretch>
        </p:blipFill>
        <p:spPr>
          <a:xfrm>
            <a:off x="5675179" y="1774854"/>
            <a:ext cx="6156821" cy="3308292"/>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1D30CF8-B458-B2B9-A2E0-CEDF7F895641}"/>
              </a:ext>
            </a:extLst>
          </p:cNvPr>
          <p:cNvSpPr txBox="1"/>
          <p:nvPr/>
        </p:nvSpPr>
        <p:spPr>
          <a:xfrm>
            <a:off x="-268650" y="1300321"/>
            <a:ext cx="12460650" cy="1266825"/>
          </a:xfrm>
          <a:prstGeom prst="rect">
            <a:avLst/>
          </a:prstGeom>
          <a:noFill/>
        </p:spPr>
        <p:txBody>
          <a:bodyPr wrap="square" lIns="0" tIns="0" rIns="0" bIns="0" rtlCol="0">
            <a:noAutofit/>
          </a:bodyPr>
          <a:lstStyle/>
          <a:p>
            <a:pPr algn="ctr"/>
            <a:r>
              <a:rPr lang="en-AU" sz="2800" dirty="0"/>
              <a:t>Calculate the </a:t>
            </a:r>
            <a:r>
              <a:rPr lang="en-AU" sz="2800" b="1" dirty="0"/>
              <a:t>perimeters</a:t>
            </a:r>
            <a:r>
              <a:rPr lang="en-AU" sz="2800" dirty="0"/>
              <a:t> of the following two-dimensional shapes:</a:t>
            </a:r>
          </a:p>
        </p:txBody>
      </p:sp>
      <p:grpSp>
        <p:nvGrpSpPr>
          <p:cNvPr id="36" name="Group 35" descr="A square with one side marked 325 m.">
            <a:extLst>
              <a:ext uri="{FF2B5EF4-FFF2-40B4-BE49-F238E27FC236}">
                <a16:creationId xmlns:a16="http://schemas.microsoft.com/office/drawing/2014/main" id="{059352A9-10B1-19F9-D9B7-CFAE6F54CF8E}"/>
              </a:ext>
            </a:extLst>
          </p:cNvPr>
          <p:cNvGrpSpPr/>
          <p:nvPr/>
        </p:nvGrpSpPr>
        <p:grpSpPr>
          <a:xfrm>
            <a:off x="2727019" y="1990788"/>
            <a:ext cx="2400729" cy="2959328"/>
            <a:chOff x="631114" y="2781300"/>
            <a:chExt cx="2400729" cy="2959328"/>
          </a:xfrm>
        </p:grpSpPr>
        <p:sp>
          <p:nvSpPr>
            <p:cNvPr id="14" name="TextBox 29">
              <a:extLst>
                <a:ext uri="{FF2B5EF4-FFF2-40B4-BE49-F238E27FC236}">
                  <a16:creationId xmlns:a16="http://schemas.microsoft.com/office/drawing/2014/main" id="{43069752-6D82-E58C-F002-8F045455A687}"/>
                </a:ext>
              </a:extLst>
            </p:cNvPr>
            <p:cNvSpPr txBox="1"/>
            <p:nvPr/>
          </p:nvSpPr>
          <p:spPr>
            <a:xfrm>
              <a:off x="1002118" y="2781300"/>
              <a:ext cx="1885092" cy="478144"/>
            </a:xfrm>
            <a:prstGeom prst="rect">
              <a:avLst/>
            </a:prstGeom>
          </p:spPr>
          <p:txBody>
            <a:bodyPr wrap="square" lIns="0" tIns="0" rIns="0" bIns="0" rtlCol="0" anchor="t">
              <a:spAutoFit/>
            </a:bodyPr>
            <a:lstStyle/>
            <a:p>
              <a:pPr algn="ctr">
                <a:lnSpc>
                  <a:spcPts val="3977"/>
                </a:lnSpc>
                <a:spcBef>
                  <a:spcPct val="0"/>
                </a:spcBef>
              </a:pPr>
              <a:r>
                <a:rPr lang="en-US" sz="3200">
                  <a:solidFill>
                    <a:srgbClr val="000000"/>
                  </a:solidFill>
                  <a:ea typeface="Canva Student Font"/>
                  <a:cs typeface="Canva Student Font"/>
                  <a:sym typeface="Canva Student Font"/>
                </a:rPr>
                <a:t>325 m</a:t>
              </a:r>
            </a:p>
          </p:txBody>
        </p:sp>
        <p:grpSp>
          <p:nvGrpSpPr>
            <p:cNvPr id="5" name="Group 2">
              <a:extLst>
                <a:ext uri="{FF2B5EF4-FFF2-40B4-BE49-F238E27FC236}">
                  <a16:creationId xmlns:a16="http://schemas.microsoft.com/office/drawing/2014/main" id="{5778C4F9-ECDD-51C5-376B-3243B6F6E287}"/>
                </a:ext>
              </a:extLst>
            </p:cNvPr>
            <p:cNvGrpSpPr/>
            <p:nvPr/>
          </p:nvGrpSpPr>
          <p:grpSpPr>
            <a:xfrm>
              <a:off x="760923" y="3464282"/>
              <a:ext cx="2126287" cy="2126287"/>
              <a:chOff x="0" y="0"/>
              <a:chExt cx="812800" cy="812800"/>
            </a:xfrm>
          </p:grpSpPr>
          <p:sp>
            <p:nvSpPr>
              <p:cNvPr id="7" name="Freeform 3">
                <a:extLst>
                  <a:ext uri="{FF2B5EF4-FFF2-40B4-BE49-F238E27FC236}">
                    <a16:creationId xmlns:a16="http://schemas.microsoft.com/office/drawing/2014/main" id="{DE76E968-054E-D57C-23DF-F00643BBF8D2}"/>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alpha val="0"/>
                </a:srgbClr>
              </a:solidFill>
              <a:ln w="76200" cap="sq">
                <a:solidFill>
                  <a:srgbClr val="000000"/>
                </a:solidFill>
                <a:prstDash val="solid"/>
                <a:miter/>
              </a:ln>
            </p:spPr>
            <p:txBody>
              <a:bodyPr/>
              <a:lstStyle/>
              <a:p>
                <a:endParaRPr lang="en-AU"/>
              </a:p>
            </p:txBody>
          </p:sp>
          <p:sp>
            <p:nvSpPr>
              <p:cNvPr id="8" name="TextBox 4">
                <a:extLst>
                  <a:ext uri="{FF2B5EF4-FFF2-40B4-BE49-F238E27FC236}">
                    <a16:creationId xmlns:a16="http://schemas.microsoft.com/office/drawing/2014/main" id="{F146FB23-EC15-192B-1D02-2360DD26B4C0}"/>
                  </a:ext>
                </a:extLst>
              </p:cNvPr>
              <p:cNvSpPr txBox="1"/>
              <p:nvPr/>
            </p:nvSpPr>
            <p:spPr>
              <a:xfrm>
                <a:off x="0" y="9525"/>
                <a:ext cx="812800" cy="803275"/>
              </a:xfrm>
              <a:prstGeom prst="rect">
                <a:avLst/>
              </a:prstGeom>
            </p:spPr>
            <p:txBody>
              <a:bodyPr lIns="47626" tIns="47626" rIns="47626" bIns="47626" rtlCol="0" anchor="ctr"/>
              <a:lstStyle/>
              <a:p>
                <a:pPr algn="ctr">
                  <a:lnSpc>
                    <a:spcPts val="1920"/>
                  </a:lnSpc>
                </a:pPr>
                <a:endParaRPr/>
              </a:p>
            </p:txBody>
          </p:sp>
        </p:grpSp>
        <p:sp>
          <p:nvSpPr>
            <p:cNvPr id="9" name="AutoShape 5">
              <a:extLst>
                <a:ext uri="{FF2B5EF4-FFF2-40B4-BE49-F238E27FC236}">
                  <a16:creationId xmlns:a16="http://schemas.microsoft.com/office/drawing/2014/main" id="{F95B982A-E505-34ED-7146-4B9EA48DDDEB}"/>
                </a:ext>
              </a:extLst>
            </p:cNvPr>
            <p:cNvSpPr/>
            <p:nvPr/>
          </p:nvSpPr>
          <p:spPr>
            <a:xfrm>
              <a:off x="2684474" y="4527426"/>
              <a:ext cx="347369" cy="0"/>
            </a:xfrm>
            <a:prstGeom prst="line">
              <a:avLst/>
            </a:prstGeom>
            <a:ln w="38100" cap="flat">
              <a:solidFill>
                <a:srgbClr val="000000"/>
              </a:solidFill>
              <a:prstDash val="solid"/>
              <a:headEnd type="none" w="sm" len="sm"/>
              <a:tailEnd type="none" w="sm" len="sm"/>
            </a:ln>
          </p:spPr>
          <p:txBody>
            <a:bodyPr/>
            <a:lstStyle/>
            <a:p>
              <a:endParaRPr lang="en-AU"/>
            </a:p>
          </p:txBody>
        </p:sp>
        <p:sp>
          <p:nvSpPr>
            <p:cNvPr id="10" name="AutoShape 6">
              <a:extLst>
                <a:ext uri="{FF2B5EF4-FFF2-40B4-BE49-F238E27FC236}">
                  <a16:creationId xmlns:a16="http://schemas.microsoft.com/office/drawing/2014/main" id="{71480951-ADC2-0137-165B-1CF4EE8BFB97}"/>
                </a:ext>
              </a:extLst>
            </p:cNvPr>
            <p:cNvSpPr/>
            <p:nvPr/>
          </p:nvSpPr>
          <p:spPr>
            <a:xfrm flipV="1">
              <a:off x="1841926" y="3327723"/>
              <a:ext cx="0" cy="347369"/>
            </a:xfrm>
            <a:prstGeom prst="line">
              <a:avLst/>
            </a:prstGeom>
            <a:ln w="38100" cap="flat">
              <a:solidFill>
                <a:srgbClr val="000000"/>
              </a:solidFill>
              <a:prstDash val="solid"/>
              <a:headEnd type="none" w="sm" len="sm"/>
              <a:tailEnd type="none" w="sm" len="sm"/>
            </a:ln>
          </p:spPr>
          <p:txBody>
            <a:bodyPr/>
            <a:lstStyle/>
            <a:p>
              <a:endParaRPr lang="en-AU"/>
            </a:p>
          </p:txBody>
        </p:sp>
        <p:sp>
          <p:nvSpPr>
            <p:cNvPr id="11" name="AutoShape 7">
              <a:extLst>
                <a:ext uri="{FF2B5EF4-FFF2-40B4-BE49-F238E27FC236}">
                  <a16:creationId xmlns:a16="http://schemas.microsoft.com/office/drawing/2014/main" id="{CF1E20D4-2158-6315-7CA9-A4F24B2547CE}"/>
                </a:ext>
              </a:extLst>
            </p:cNvPr>
            <p:cNvSpPr/>
            <p:nvPr/>
          </p:nvSpPr>
          <p:spPr>
            <a:xfrm>
              <a:off x="631114" y="4527426"/>
              <a:ext cx="347369" cy="0"/>
            </a:xfrm>
            <a:prstGeom prst="line">
              <a:avLst/>
            </a:prstGeom>
            <a:ln w="38100" cap="flat">
              <a:solidFill>
                <a:srgbClr val="000000"/>
              </a:solidFill>
              <a:prstDash val="solid"/>
              <a:headEnd type="none" w="sm" len="sm"/>
              <a:tailEnd type="none" w="sm" len="sm"/>
            </a:ln>
          </p:spPr>
          <p:txBody>
            <a:bodyPr/>
            <a:lstStyle/>
            <a:p>
              <a:endParaRPr lang="en-AU"/>
            </a:p>
          </p:txBody>
        </p:sp>
        <p:sp>
          <p:nvSpPr>
            <p:cNvPr id="12" name="AutoShape 8">
              <a:extLst>
                <a:ext uri="{FF2B5EF4-FFF2-40B4-BE49-F238E27FC236}">
                  <a16:creationId xmlns:a16="http://schemas.microsoft.com/office/drawing/2014/main" id="{17085831-DF54-EE97-5C83-E90D9951EC2F}"/>
                </a:ext>
              </a:extLst>
            </p:cNvPr>
            <p:cNvSpPr/>
            <p:nvPr/>
          </p:nvSpPr>
          <p:spPr>
            <a:xfrm flipV="1">
              <a:off x="1841926" y="3327723"/>
              <a:ext cx="0" cy="347369"/>
            </a:xfrm>
            <a:prstGeom prst="line">
              <a:avLst/>
            </a:prstGeom>
            <a:ln w="38100" cap="flat">
              <a:solidFill>
                <a:srgbClr val="000000"/>
              </a:solidFill>
              <a:prstDash val="solid"/>
              <a:headEnd type="none" w="sm" len="sm"/>
              <a:tailEnd type="none" w="sm" len="sm"/>
            </a:ln>
          </p:spPr>
          <p:txBody>
            <a:bodyPr/>
            <a:lstStyle/>
            <a:p>
              <a:endParaRPr lang="en-AU"/>
            </a:p>
          </p:txBody>
        </p:sp>
        <p:sp>
          <p:nvSpPr>
            <p:cNvPr id="13" name="AutoShape 9">
              <a:extLst>
                <a:ext uri="{FF2B5EF4-FFF2-40B4-BE49-F238E27FC236}">
                  <a16:creationId xmlns:a16="http://schemas.microsoft.com/office/drawing/2014/main" id="{BAFC3F0C-4F37-BF02-E6BE-9184AE6B8479}"/>
                </a:ext>
              </a:extLst>
            </p:cNvPr>
            <p:cNvSpPr/>
            <p:nvPr/>
          </p:nvSpPr>
          <p:spPr>
            <a:xfrm flipV="1">
              <a:off x="1775251" y="5393259"/>
              <a:ext cx="0" cy="347369"/>
            </a:xfrm>
            <a:prstGeom prst="line">
              <a:avLst/>
            </a:prstGeom>
            <a:ln w="38100" cap="flat">
              <a:solidFill>
                <a:srgbClr val="000000"/>
              </a:solidFill>
              <a:prstDash val="solid"/>
              <a:headEnd type="none" w="sm" len="sm"/>
              <a:tailEnd type="none" w="sm" len="sm"/>
            </a:ln>
          </p:spPr>
          <p:txBody>
            <a:bodyPr/>
            <a:lstStyle/>
            <a:p>
              <a:endParaRPr lang="en-AU"/>
            </a:p>
          </p:txBody>
        </p:sp>
      </p:grpSp>
      <p:grpSp>
        <p:nvGrpSpPr>
          <p:cNvPr id="38" name="Group 37" descr="A triangle with one side marked 415 m and another side marked 280 m.">
            <a:extLst>
              <a:ext uri="{FF2B5EF4-FFF2-40B4-BE49-F238E27FC236}">
                <a16:creationId xmlns:a16="http://schemas.microsoft.com/office/drawing/2014/main" id="{41B66763-AD3C-F9D0-B693-285097B93CB3}"/>
              </a:ext>
            </a:extLst>
          </p:cNvPr>
          <p:cNvGrpSpPr/>
          <p:nvPr/>
        </p:nvGrpSpPr>
        <p:grpSpPr>
          <a:xfrm>
            <a:off x="6712347" y="2006469"/>
            <a:ext cx="3274881" cy="3555712"/>
            <a:chOff x="8569119" y="2634929"/>
            <a:chExt cx="3274881" cy="3555712"/>
          </a:xfrm>
        </p:grpSpPr>
        <p:grpSp>
          <p:nvGrpSpPr>
            <p:cNvPr id="27" name="Group 10">
              <a:extLst>
                <a:ext uri="{FF2B5EF4-FFF2-40B4-BE49-F238E27FC236}">
                  <a16:creationId xmlns:a16="http://schemas.microsoft.com/office/drawing/2014/main" id="{529069E3-6EA0-7613-4FBA-927AF363ACCB}"/>
                </a:ext>
              </a:extLst>
            </p:cNvPr>
            <p:cNvGrpSpPr/>
            <p:nvPr/>
          </p:nvGrpSpPr>
          <p:grpSpPr>
            <a:xfrm>
              <a:off x="8773141" y="2634929"/>
              <a:ext cx="2268000" cy="2708593"/>
              <a:chOff x="0" y="0"/>
              <a:chExt cx="812800" cy="970699"/>
            </a:xfrm>
          </p:grpSpPr>
          <p:sp>
            <p:nvSpPr>
              <p:cNvPr id="28" name="Freeform 11">
                <a:extLst>
                  <a:ext uri="{FF2B5EF4-FFF2-40B4-BE49-F238E27FC236}">
                    <a16:creationId xmlns:a16="http://schemas.microsoft.com/office/drawing/2014/main" id="{C36657F1-4F12-2392-1A2E-E565C7751767}"/>
                  </a:ext>
                </a:extLst>
              </p:cNvPr>
              <p:cNvSpPr/>
              <p:nvPr/>
            </p:nvSpPr>
            <p:spPr>
              <a:xfrm>
                <a:off x="0" y="0"/>
                <a:ext cx="812800" cy="970699"/>
              </a:xfrm>
              <a:custGeom>
                <a:avLst/>
                <a:gdLst/>
                <a:ahLst/>
                <a:cxnLst/>
                <a:rect l="l" t="t" r="r" b="b"/>
                <a:pathLst>
                  <a:path w="812800" h="970699">
                    <a:moveTo>
                      <a:pt x="406400" y="0"/>
                    </a:moveTo>
                    <a:lnTo>
                      <a:pt x="812800" y="970699"/>
                    </a:lnTo>
                    <a:lnTo>
                      <a:pt x="0" y="970699"/>
                    </a:lnTo>
                    <a:lnTo>
                      <a:pt x="406400" y="0"/>
                    </a:lnTo>
                    <a:close/>
                  </a:path>
                </a:pathLst>
              </a:custGeom>
              <a:solidFill>
                <a:srgbClr val="000000">
                  <a:alpha val="0"/>
                </a:srgbClr>
              </a:solidFill>
              <a:ln w="76200" cap="sq">
                <a:solidFill>
                  <a:srgbClr val="000000"/>
                </a:solidFill>
                <a:prstDash val="solid"/>
                <a:miter/>
              </a:ln>
            </p:spPr>
            <p:txBody>
              <a:bodyPr/>
              <a:lstStyle/>
              <a:p>
                <a:endParaRPr lang="en-AU"/>
              </a:p>
            </p:txBody>
          </p:sp>
          <p:sp>
            <p:nvSpPr>
              <p:cNvPr id="29" name="TextBox 12">
                <a:extLst>
                  <a:ext uri="{FF2B5EF4-FFF2-40B4-BE49-F238E27FC236}">
                    <a16:creationId xmlns:a16="http://schemas.microsoft.com/office/drawing/2014/main" id="{FCB865E2-645F-AA7E-611A-017E5E27008E}"/>
                  </a:ext>
                </a:extLst>
              </p:cNvPr>
              <p:cNvSpPr txBox="1"/>
              <p:nvPr/>
            </p:nvSpPr>
            <p:spPr>
              <a:xfrm>
                <a:off x="127000" y="460207"/>
                <a:ext cx="558800" cy="441157"/>
              </a:xfrm>
              <a:prstGeom prst="rect">
                <a:avLst/>
              </a:prstGeom>
            </p:spPr>
            <p:txBody>
              <a:bodyPr lIns="50800" tIns="50800" rIns="50800" bIns="50800" rtlCol="0" anchor="ctr"/>
              <a:lstStyle/>
              <a:p>
                <a:pPr algn="ctr">
                  <a:lnSpc>
                    <a:spcPts val="1920"/>
                  </a:lnSpc>
                </a:pPr>
                <a:endParaRPr/>
              </a:p>
            </p:txBody>
          </p:sp>
        </p:grpSp>
        <p:sp>
          <p:nvSpPr>
            <p:cNvPr id="34" name="TextBox 30">
              <a:extLst>
                <a:ext uri="{FF2B5EF4-FFF2-40B4-BE49-F238E27FC236}">
                  <a16:creationId xmlns:a16="http://schemas.microsoft.com/office/drawing/2014/main" id="{7C4896BB-CFD3-B0D9-0348-CF12BB43BCC6}"/>
                </a:ext>
              </a:extLst>
            </p:cNvPr>
            <p:cNvSpPr txBox="1"/>
            <p:nvPr/>
          </p:nvSpPr>
          <p:spPr>
            <a:xfrm>
              <a:off x="10654507" y="3485746"/>
              <a:ext cx="1189493" cy="436017"/>
            </a:xfrm>
            <a:prstGeom prst="rect">
              <a:avLst/>
            </a:prstGeom>
          </p:spPr>
          <p:txBody>
            <a:bodyPr wrap="square" lIns="0" tIns="0" rIns="0" bIns="0" rtlCol="0" anchor="t">
              <a:spAutoFit/>
            </a:bodyPr>
            <a:lstStyle/>
            <a:p>
              <a:pPr algn="ctr">
                <a:lnSpc>
                  <a:spcPts val="3446"/>
                </a:lnSpc>
                <a:spcBef>
                  <a:spcPct val="0"/>
                </a:spcBef>
              </a:pPr>
              <a:r>
                <a:rPr lang="en-US" sz="3161">
                  <a:solidFill>
                    <a:srgbClr val="000000"/>
                  </a:solidFill>
                  <a:ea typeface="Canva Student Font"/>
                  <a:cs typeface="Canva Student Font"/>
                  <a:sym typeface="Canva Student Font"/>
                </a:rPr>
                <a:t>415 m</a:t>
              </a:r>
            </a:p>
          </p:txBody>
        </p:sp>
        <p:sp>
          <p:nvSpPr>
            <p:cNvPr id="30" name="AutoShape 13">
              <a:extLst>
                <a:ext uri="{FF2B5EF4-FFF2-40B4-BE49-F238E27FC236}">
                  <a16:creationId xmlns:a16="http://schemas.microsoft.com/office/drawing/2014/main" id="{21B2A862-6871-D012-A104-C9C3ADC8C71A}"/>
                </a:ext>
              </a:extLst>
            </p:cNvPr>
            <p:cNvSpPr/>
            <p:nvPr/>
          </p:nvSpPr>
          <p:spPr>
            <a:xfrm flipV="1">
              <a:off x="10288892" y="3971434"/>
              <a:ext cx="294642" cy="224659"/>
            </a:xfrm>
            <a:prstGeom prst="line">
              <a:avLst/>
            </a:prstGeom>
            <a:ln w="38100" cap="flat">
              <a:solidFill>
                <a:srgbClr val="000000"/>
              </a:solidFill>
              <a:prstDash val="solid"/>
              <a:headEnd type="none" w="sm" len="sm"/>
              <a:tailEnd type="none" w="sm" len="sm"/>
            </a:ln>
          </p:spPr>
          <p:txBody>
            <a:bodyPr/>
            <a:lstStyle/>
            <a:p>
              <a:endParaRPr lang="en-AU"/>
            </a:p>
          </p:txBody>
        </p:sp>
        <p:sp>
          <p:nvSpPr>
            <p:cNvPr id="31" name="AutoShape 14">
              <a:extLst>
                <a:ext uri="{FF2B5EF4-FFF2-40B4-BE49-F238E27FC236}">
                  <a16:creationId xmlns:a16="http://schemas.microsoft.com/office/drawing/2014/main" id="{7D9B51CA-3EF1-6F10-4993-184511BE6DDE}"/>
                </a:ext>
              </a:extLst>
            </p:cNvPr>
            <p:cNvSpPr/>
            <p:nvPr/>
          </p:nvSpPr>
          <p:spPr>
            <a:xfrm>
              <a:off x="9966786" y="5208981"/>
              <a:ext cx="8343" cy="370427"/>
            </a:xfrm>
            <a:prstGeom prst="line">
              <a:avLst/>
            </a:prstGeom>
            <a:ln w="38100" cap="flat">
              <a:solidFill>
                <a:srgbClr val="000000"/>
              </a:solidFill>
              <a:prstDash val="solid"/>
              <a:headEnd type="none" w="sm" len="sm"/>
              <a:tailEnd type="none" w="sm" len="sm"/>
            </a:ln>
          </p:spPr>
          <p:txBody>
            <a:bodyPr/>
            <a:lstStyle/>
            <a:p>
              <a:endParaRPr lang="en-AU"/>
            </a:p>
          </p:txBody>
        </p:sp>
        <p:sp>
          <p:nvSpPr>
            <p:cNvPr id="32" name="AutoShape 15">
              <a:extLst>
                <a:ext uri="{FF2B5EF4-FFF2-40B4-BE49-F238E27FC236}">
                  <a16:creationId xmlns:a16="http://schemas.microsoft.com/office/drawing/2014/main" id="{292C6684-7492-742B-4471-BB7AAB15E6A4}"/>
                </a:ext>
              </a:extLst>
            </p:cNvPr>
            <p:cNvSpPr/>
            <p:nvPr/>
          </p:nvSpPr>
          <p:spPr>
            <a:xfrm>
              <a:off x="9822124" y="5212240"/>
              <a:ext cx="8343" cy="370427"/>
            </a:xfrm>
            <a:prstGeom prst="line">
              <a:avLst/>
            </a:prstGeom>
            <a:ln w="38100" cap="flat">
              <a:solidFill>
                <a:srgbClr val="000000"/>
              </a:solidFill>
              <a:prstDash val="solid"/>
              <a:headEnd type="none" w="sm" len="sm"/>
              <a:tailEnd type="none" w="sm" len="sm"/>
            </a:ln>
          </p:spPr>
          <p:txBody>
            <a:bodyPr/>
            <a:lstStyle/>
            <a:p>
              <a:endParaRPr lang="en-AU"/>
            </a:p>
          </p:txBody>
        </p:sp>
        <p:sp>
          <p:nvSpPr>
            <p:cNvPr id="35" name="TextBox 31">
              <a:extLst>
                <a:ext uri="{FF2B5EF4-FFF2-40B4-BE49-F238E27FC236}">
                  <a16:creationId xmlns:a16="http://schemas.microsoft.com/office/drawing/2014/main" id="{BB71CE10-50F7-C864-F77F-6328F24D0526}"/>
                </a:ext>
              </a:extLst>
            </p:cNvPr>
            <p:cNvSpPr txBox="1"/>
            <p:nvPr/>
          </p:nvSpPr>
          <p:spPr>
            <a:xfrm>
              <a:off x="8569119" y="5746419"/>
              <a:ext cx="2676044" cy="444222"/>
            </a:xfrm>
            <a:prstGeom prst="rect">
              <a:avLst/>
            </a:prstGeom>
          </p:spPr>
          <p:txBody>
            <a:bodyPr lIns="0" tIns="0" rIns="0" bIns="0" rtlCol="0" anchor="t">
              <a:spAutoFit/>
            </a:bodyPr>
            <a:lstStyle/>
            <a:p>
              <a:pPr algn="ctr">
                <a:lnSpc>
                  <a:spcPts val="3446"/>
                </a:lnSpc>
                <a:spcBef>
                  <a:spcPct val="0"/>
                </a:spcBef>
              </a:pPr>
              <a:r>
                <a:rPr lang="en-US" sz="3161">
                  <a:solidFill>
                    <a:srgbClr val="000000"/>
                  </a:solidFill>
                  <a:ea typeface="Canva Student Font"/>
                  <a:cs typeface="Canva Student Font"/>
                  <a:sym typeface="Canva Student Font"/>
                </a:rPr>
                <a:t>280 m</a:t>
              </a:r>
            </a:p>
          </p:txBody>
        </p:sp>
        <p:sp>
          <p:nvSpPr>
            <p:cNvPr id="33" name="AutoShape 16">
              <a:extLst>
                <a:ext uri="{FF2B5EF4-FFF2-40B4-BE49-F238E27FC236}">
                  <a16:creationId xmlns:a16="http://schemas.microsoft.com/office/drawing/2014/main" id="{DE229B51-F23E-92EF-6840-643373B4436D}"/>
                </a:ext>
              </a:extLst>
            </p:cNvPr>
            <p:cNvSpPr/>
            <p:nvPr/>
          </p:nvSpPr>
          <p:spPr>
            <a:xfrm flipH="1" flipV="1">
              <a:off x="9168735" y="3989227"/>
              <a:ext cx="317298" cy="191330"/>
            </a:xfrm>
            <a:prstGeom prst="line">
              <a:avLst/>
            </a:prstGeom>
            <a:ln w="38100" cap="flat">
              <a:solidFill>
                <a:srgbClr val="000000"/>
              </a:solidFill>
              <a:prstDash val="solid"/>
              <a:headEnd type="none" w="sm" len="sm"/>
              <a:tailEnd type="none" w="sm" len="sm"/>
            </a:ln>
          </p:spPr>
          <p:txBody>
            <a:bodyPr/>
            <a:lstStyle/>
            <a:p>
              <a:endParaRPr lang="en-AU"/>
            </a:p>
          </p:txBody>
        </p:sp>
      </p:gr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
        <p:nvSpPr>
          <p:cNvPr id="39" name="Text Placeholder 5">
            <a:extLst>
              <a:ext uri="{FF2B5EF4-FFF2-40B4-BE49-F238E27FC236}">
                <a16:creationId xmlns:a16="http://schemas.microsoft.com/office/drawing/2014/main" id="{D99CA5FF-83D4-A55B-1710-98A68AE9D471}"/>
              </a:ext>
            </a:extLst>
          </p:cNvPr>
          <p:cNvSpPr txBox="1">
            <a:spLocks/>
          </p:cNvSpPr>
          <p:nvPr/>
        </p:nvSpPr>
        <p:spPr>
          <a:xfrm>
            <a:off x="474481" y="5646492"/>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t>Communicate</a:t>
            </a:r>
            <a:r>
              <a:rPr lang="en-AU" sz="4400" dirty="0"/>
              <a:t> your </a:t>
            </a:r>
            <a:r>
              <a:rPr lang="en-AU" sz="4400" b="1" dirty="0"/>
              <a:t>strategies</a:t>
            </a:r>
            <a:r>
              <a:rPr lang="en-AU" sz="4400" dirty="0"/>
              <a:t>.</a:t>
            </a:r>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dirty="0"/>
              <a:t>Activity 2 – </a:t>
            </a:r>
            <a:r>
              <a:rPr lang="en-AU"/>
              <a:t>ordering unit fractions on a number line</a:t>
            </a:r>
            <a:endParaRPr lang="en-AU" dirty="0"/>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18</a:t>
            </a:fld>
            <a:endParaRPr lang="en-AU"/>
          </a:p>
        </p:txBody>
      </p:sp>
      <p:cxnSp>
        <p:nvCxnSpPr>
          <p:cNvPr id="8" name="Straight Connector 7">
            <a:extLst>
              <a:ext uri="{FF2B5EF4-FFF2-40B4-BE49-F238E27FC236}">
                <a16:creationId xmlns:a16="http://schemas.microsoft.com/office/drawing/2014/main" id="{756B6D58-CD44-DFDC-25CD-BD5E12A6BE6E}"/>
              </a:ext>
              <a:ext uri="{C183D7F6-B498-43B3-948B-1728B52AA6E4}">
                <adec:decorative xmlns:adec="http://schemas.microsoft.com/office/drawing/2017/decorative" val="1"/>
              </a:ext>
            </a:extLst>
          </p:cNvPr>
          <p:cNvCxnSpPr/>
          <p:nvPr/>
        </p:nvCxnSpPr>
        <p:spPr>
          <a:xfrm>
            <a:off x="747987" y="2153752"/>
            <a:ext cx="0" cy="26449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B5EB75C-5AA9-6205-5A01-4ED13F31CC98}"/>
              </a:ext>
              <a:ext uri="{C183D7F6-B498-43B3-948B-1728B52AA6E4}">
                <adec:decorative xmlns:adec="http://schemas.microsoft.com/office/drawing/2017/decorative" val="1"/>
              </a:ext>
            </a:extLst>
          </p:cNvPr>
          <p:cNvCxnSpPr/>
          <p:nvPr/>
        </p:nvCxnSpPr>
        <p:spPr>
          <a:xfrm>
            <a:off x="11306410" y="2132341"/>
            <a:ext cx="0" cy="264495"/>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3" name="Group 2" descr="An empty number line starting at 0 and ending at 1.">
            <a:extLst>
              <a:ext uri="{FF2B5EF4-FFF2-40B4-BE49-F238E27FC236}">
                <a16:creationId xmlns:a16="http://schemas.microsoft.com/office/drawing/2014/main" id="{0C370E43-5569-D105-D796-093E0BA7D9F1}"/>
              </a:ext>
            </a:extLst>
          </p:cNvPr>
          <p:cNvGrpSpPr/>
          <p:nvPr/>
        </p:nvGrpSpPr>
        <p:grpSpPr>
          <a:xfrm>
            <a:off x="547726" y="2274664"/>
            <a:ext cx="11059706" cy="846385"/>
            <a:chOff x="547726" y="2274664"/>
            <a:chExt cx="11059706" cy="846385"/>
          </a:xfrm>
        </p:grpSpPr>
        <p:cxnSp>
          <p:nvCxnSpPr>
            <p:cNvPr id="5" name="Straight Arrow Connector 4" descr="A number line marked 0-1.">
              <a:extLst>
                <a:ext uri="{FF2B5EF4-FFF2-40B4-BE49-F238E27FC236}">
                  <a16:creationId xmlns:a16="http://schemas.microsoft.com/office/drawing/2014/main" id="{EFF55D33-478D-0987-0D50-E3EAD41A024D}"/>
                </a:ext>
              </a:extLst>
            </p:cNvPr>
            <p:cNvCxnSpPr/>
            <p:nvPr/>
          </p:nvCxnSpPr>
          <p:spPr>
            <a:xfrm>
              <a:off x="747987" y="2274664"/>
              <a:ext cx="10859445"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8263FC9-135F-9348-42DE-FCE98253DAE9}"/>
                </a:ext>
              </a:extLst>
            </p:cNvPr>
            <p:cNvSpPr txBox="1"/>
            <p:nvPr/>
          </p:nvSpPr>
          <p:spPr>
            <a:xfrm>
              <a:off x="547726" y="2395577"/>
              <a:ext cx="400522" cy="725472"/>
            </a:xfrm>
            <a:prstGeom prst="rect">
              <a:avLst/>
            </a:prstGeom>
            <a:noFill/>
          </p:spPr>
          <p:txBody>
            <a:bodyPr wrap="square" lIns="0" tIns="0" rIns="0" bIns="0" rtlCol="0">
              <a:noAutofit/>
            </a:bodyPr>
            <a:lstStyle/>
            <a:p>
              <a:pPr algn="ctr"/>
              <a:r>
                <a:rPr lang="en-AU" sz="4400"/>
                <a:t>0</a:t>
              </a:r>
            </a:p>
          </p:txBody>
        </p:sp>
        <p:sp>
          <p:nvSpPr>
            <p:cNvPr id="11" name="TextBox 10">
              <a:extLst>
                <a:ext uri="{FF2B5EF4-FFF2-40B4-BE49-F238E27FC236}">
                  <a16:creationId xmlns:a16="http://schemas.microsoft.com/office/drawing/2014/main" id="{BC6FF9EC-1DC8-EDF6-22CC-E9A6303A9E52}"/>
                </a:ext>
              </a:extLst>
            </p:cNvPr>
            <p:cNvSpPr txBox="1"/>
            <p:nvPr/>
          </p:nvSpPr>
          <p:spPr>
            <a:xfrm>
              <a:off x="11083478" y="2370796"/>
              <a:ext cx="400522" cy="725472"/>
            </a:xfrm>
            <a:prstGeom prst="rect">
              <a:avLst/>
            </a:prstGeom>
            <a:noFill/>
          </p:spPr>
          <p:txBody>
            <a:bodyPr wrap="square" lIns="0" tIns="0" rIns="0" bIns="0" rtlCol="0">
              <a:noAutofit/>
            </a:bodyPr>
            <a:lstStyle/>
            <a:p>
              <a:pPr algn="ctr"/>
              <a:r>
                <a:rPr lang="en-AU" sz="4400"/>
                <a:t>1</a:t>
              </a:r>
            </a:p>
          </p:txBody>
        </p:sp>
      </p:gr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D37D5DF-B108-DE2D-70E6-482105FE6BDD}"/>
                  </a:ext>
                </a:extLst>
              </p:cNvPr>
              <p:cNvSpPr txBox="1"/>
              <p:nvPr/>
            </p:nvSpPr>
            <p:spPr>
              <a:xfrm>
                <a:off x="547726" y="5342819"/>
                <a:ext cx="642347" cy="861500"/>
              </a:xfrm>
              <a:prstGeom prst="rect">
                <a:avLst/>
              </a:prstGeom>
              <a:noFill/>
              <a:ln w="19050">
                <a:solidFill>
                  <a:schemeClr val="accent1"/>
                </a:solidFill>
              </a:ln>
            </p:spPr>
            <p:txBody>
              <a:bodyPr wrap="square" lIns="0" tIns="0" rIns="0" bIns="0" rtlCol="0">
                <a:noAutofit/>
              </a:bodyPr>
              <a:lstStyle/>
              <a:p>
                <a:pPr algn="ctr"/>
                <a14:m>
                  <m:oMathPara xmlns:m="http://schemas.openxmlformats.org/officeDocument/2006/math">
                    <m:oMathParaPr>
                      <m:jc m:val="center"/>
                    </m:oMathParaPr>
                    <m:oMath xmlns:m="http://schemas.openxmlformats.org/officeDocument/2006/math">
                      <m:r>
                        <a:rPr lang="en-AU" sz="2800" b="0" i="1" smtClean="0">
                          <a:latin typeface="Cambria Math" panose="02040503050406030204" pitchFamily="18" charset="0"/>
                        </a:rPr>
                        <m:t> </m:t>
                      </m:r>
                      <m:f>
                        <m:fPr>
                          <m:ctrlPr>
                            <a:rPr lang="en-AU" sz="2800" i="1" smtClean="0">
                              <a:latin typeface="Cambria Math" panose="02040503050406030204" pitchFamily="18" charset="0"/>
                            </a:rPr>
                          </m:ctrlPr>
                        </m:fPr>
                        <m:num>
                          <m:r>
                            <a:rPr lang="en-AU" sz="2800" b="0" i="1" smtClean="0">
                              <a:latin typeface="Cambria Math" panose="02040503050406030204" pitchFamily="18" charset="0"/>
                            </a:rPr>
                            <m:t>1</m:t>
                          </m:r>
                        </m:num>
                        <m:den>
                          <m:r>
                            <a:rPr lang="en-AU" sz="2800" b="0" i="1" smtClean="0">
                              <a:latin typeface="Cambria Math" panose="02040503050406030204" pitchFamily="18" charset="0"/>
                            </a:rPr>
                            <m:t>2</m:t>
                          </m:r>
                        </m:den>
                      </m:f>
                    </m:oMath>
                  </m:oMathPara>
                </a14:m>
                <a:endParaRPr lang="en-AU" sz="2800"/>
              </a:p>
            </p:txBody>
          </p:sp>
        </mc:Choice>
        <mc:Fallback xmlns="">
          <p:sp>
            <p:nvSpPr>
              <p:cNvPr id="12" name="TextBox 11">
                <a:extLst>
                  <a:ext uri="{FF2B5EF4-FFF2-40B4-BE49-F238E27FC236}">
                    <a16:creationId xmlns:a16="http://schemas.microsoft.com/office/drawing/2014/main" id="{CD37D5DF-B108-DE2D-70E6-482105FE6BDD}"/>
                  </a:ext>
                </a:extLst>
              </p:cNvPr>
              <p:cNvSpPr txBox="1">
                <a:spLocks noRot="1" noChangeAspect="1" noMove="1" noResize="1" noEditPoints="1" noAdjustHandles="1" noChangeArrowheads="1" noChangeShapeType="1" noTextEdit="1"/>
              </p:cNvSpPr>
              <p:nvPr/>
            </p:nvSpPr>
            <p:spPr>
              <a:xfrm>
                <a:off x="547726" y="5342819"/>
                <a:ext cx="642347" cy="861500"/>
              </a:xfrm>
              <a:prstGeom prst="rect">
                <a:avLst/>
              </a:prstGeom>
              <a:blipFill>
                <a:blip r:embed="rId4"/>
                <a:stretch>
                  <a:fillRect/>
                </a:stretch>
              </a:blipFill>
              <a:ln w="19050">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0825FE6-7CAE-AC29-65CC-143E1D7FFD83}"/>
                  </a:ext>
                </a:extLst>
              </p:cNvPr>
              <p:cNvSpPr txBox="1"/>
              <p:nvPr/>
            </p:nvSpPr>
            <p:spPr>
              <a:xfrm>
                <a:off x="2233782" y="5342819"/>
                <a:ext cx="642347" cy="861500"/>
              </a:xfrm>
              <a:prstGeom prst="rect">
                <a:avLst/>
              </a:prstGeom>
              <a:noFill/>
              <a:ln w="19050">
                <a:solidFill>
                  <a:schemeClr val="accent1"/>
                </a:solidFill>
              </a:ln>
            </p:spPr>
            <p:txBody>
              <a:bodyPr wrap="square" lIns="0" tIns="0" rIns="0" bIns="0" rtlCol="0">
                <a:noAutofit/>
              </a:bodyPr>
              <a:lstStyle/>
              <a:p>
                <a:pPr algn="ctr"/>
                <a14:m>
                  <m:oMathPara xmlns:m="http://schemas.openxmlformats.org/officeDocument/2006/math">
                    <m:oMathParaPr>
                      <m:jc m:val="center"/>
                    </m:oMathParaPr>
                    <m:oMath xmlns:m="http://schemas.openxmlformats.org/officeDocument/2006/math">
                      <m:r>
                        <a:rPr lang="en-AU" sz="2800" b="0" i="1" smtClean="0">
                          <a:latin typeface="Cambria Math" panose="02040503050406030204" pitchFamily="18" charset="0"/>
                        </a:rPr>
                        <m:t> </m:t>
                      </m:r>
                      <m:f>
                        <m:fPr>
                          <m:ctrlPr>
                            <a:rPr lang="en-AU" sz="2800" i="1" smtClean="0">
                              <a:latin typeface="Cambria Math" panose="02040503050406030204" pitchFamily="18" charset="0"/>
                            </a:rPr>
                          </m:ctrlPr>
                        </m:fPr>
                        <m:num>
                          <m:r>
                            <a:rPr lang="en-AU" sz="2800" b="0" i="1" smtClean="0">
                              <a:latin typeface="Cambria Math" panose="02040503050406030204" pitchFamily="18" charset="0"/>
                            </a:rPr>
                            <m:t>1</m:t>
                          </m:r>
                        </m:num>
                        <m:den>
                          <m:r>
                            <a:rPr lang="en-AU" sz="2800" b="0" i="1" smtClean="0">
                              <a:latin typeface="Cambria Math" panose="02040503050406030204" pitchFamily="18" charset="0"/>
                            </a:rPr>
                            <m:t>3</m:t>
                          </m:r>
                        </m:den>
                      </m:f>
                    </m:oMath>
                  </m:oMathPara>
                </a14:m>
                <a:endParaRPr lang="en-AU" sz="2800"/>
              </a:p>
            </p:txBody>
          </p:sp>
        </mc:Choice>
        <mc:Fallback xmlns="">
          <p:sp>
            <p:nvSpPr>
              <p:cNvPr id="13" name="TextBox 12">
                <a:extLst>
                  <a:ext uri="{FF2B5EF4-FFF2-40B4-BE49-F238E27FC236}">
                    <a16:creationId xmlns:a16="http://schemas.microsoft.com/office/drawing/2014/main" id="{E0825FE6-7CAE-AC29-65CC-143E1D7FFD83}"/>
                  </a:ext>
                </a:extLst>
              </p:cNvPr>
              <p:cNvSpPr txBox="1">
                <a:spLocks noRot="1" noChangeAspect="1" noMove="1" noResize="1" noEditPoints="1" noAdjustHandles="1" noChangeArrowheads="1" noChangeShapeType="1" noTextEdit="1"/>
              </p:cNvSpPr>
              <p:nvPr/>
            </p:nvSpPr>
            <p:spPr>
              <a:xfrm>
                <a:off x="2233782" y="5342819"/>
                <a:ext cx="642347" cy="861500"/>
              </a:xfrm>
              <a:prstGeom prst="rect">
                <a:avLst/>
              </a:prstGeom>
              <a:blipFill>
                <a:blip r:embed="rId5"/>
                <a:stretch>
                  <a:fillRect/>
                </a:stretch>
              </a:blipFill>
              <a:ln w="19050">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5FB203C-3CE8-69D3-2493-A91F6EF75493}"/>
                  </a:ext>
                </a:extLst>
              </p:cNvPr>
              <p:cNvSpPr txBox="1"/>
              <p:nvPr/>
            </p:nvSpPr>
            <p:spPr>
              <a:xfrm>
                <a:off x="3919838" y="5342819"/>
                <a:ext cx="642347" cy="861500"/>
              </a:xfrm>
              <a:prstGeom prst="rect">
                <a:avLst/>
              </a:prstGeom>
              <a:noFill/>
              <a:ln w="19050">
                <a:solidFill>
                  <a:schemeClr val="accent1"/>
                </a:solidFill>
              </a:ln>
            </p:spPr>
            <p:txBody>
              <a:bodyPr wrap="square" lIns="0" tIns="0" rIns="0" bIns="0" rtlCol="0">
                <a:noAutofit/>
              </a:bodyPr>
              <a:lstStyle/>
              <a:p>
                <a:pPr algn="ctr"/>
                <a14:m>
                  <m:oMathPara xmlns:m="http://schemas.openxmlformats.org/officeDocument/2006/math">
                    <m:oMathParaPr>
                      <m:jc m:val="center"/>
                    </m:oMathParaPr>
                    <m:oMath xmlns:m="http://schemas.openxmlformats.org/officeDocument/2006/math">
                      <m:r>
                        <a:rPr lang="en-AU" sz="2800" b="0" i="1" smtClean="0">
                          <a:latin typeface="Cambria Math" panose="02040503050406030204" pitchFamily="18" charset="0"/>
                        </a:rPr>
                        <m:t> </m:t>
                      </m:r>
                      <m:f>
                        <m:fPr>
                          <m:ctrlPr>
                            <a:rPr lang="en-AU" sz="2800" i="1" smtClean="0">
                              <a:latin typeface="Cambria Math" panose="02040503050406030204" pitchFamily="18" charset="0"/>
                            </a:rPr>
                          </m:ctrlPr>
                        </m:fPr>
                        <m:num>
                          <m:r>
                            <a:rPr lang="en-AU" sz="2800" b="0" i="1" smtClean="0">
                              <a:latin typeface="Cambria Math" panose="02040503050406030204" pitchFamily="18" charset="0"/>
                            </a:rPr>
                            <m:t>1</m:t>
                          </m:r>
                        </m:num>
                        <m:den>
                          <m:r>
                            <a:rPr lang="en-AU" sz="2800" b="0" i="1" smtClean="0">
                              <a:latin typeface="Cambria Math" panose="02040503050406030204" pitchFamily="18" charset="0"/>
                            </a:rPr>
                            <m:t>4</m:t>
                          </m:r>
                        </m:den>
                      </m:f>
                    </m:oMath>
                  </m:oMathPara>
                </a14:m>
                <a:endParaRPr lang="en-AU" sz="2800"/>
              </a:p>
            </p:txBody>
          </p:sp>
        </mc:Choice>
        <mc:Fallback xmlns="">
          <p:sp>
            <p:nvSpPr>
              <p:cNvPr id="14" name="TextBox 13">
                <a:extLst>
                  <a:ext uri="{FF2B5EF4-FFF2-40B4-BE49-F238E27FC236}">
                    <a16:creationId xmlns:a16="http://schemas.microsoft.com/office/drawing/2014/main" id="{15FB203C-3CE8-69D3-2493-A91F6EF75493}"/>
                  </a:ext>
                </a:extLst>
              </p:cNvPr>
              <p:cNvSpPr txBox="1">
                <a:spLocks noRot="1" noChangeAspect="1" noMove="1" noResize="1" noEditPoints="1" noAdjustHandles="1" noChangeArrowheads="1" noChangeShapeType="1" noTextEdit="1"/>
              </p:cNvSpPr>
              <p:nvPr/>
            </p:nvSpPr>
            <p:spPr>
              <a:xfrm>
                <a:off x="3919838" y="5342819"/>
                <a:ext cx="642347" cy="861500"/>
              </a:xfrm>
              <a:prstGeom prst="rect">
                <a:avLst/>
              </a:prstGeom>
              <a:blipFill>
                <a:blip r:embed="rId6"/>
                <a:stretch>
                  <a:fillRect/>
                </a:stretch>
              </a:blipFill>
              <a:ln w="19050">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A7AE3DD-182B-C15F-C568-42516D4D09F1}"/>
                  </a:ext>
                </a:extLst>
              </p:cNvPr>
              <p:cNvSpPr txBox="1"/>
              <p:nvPr/>
            </p:nvSpPr>
            <p:spPr>
              <a:xfrm>
                <a:off x="5605894" y="5342819"/>
                <a:ext cx="642347" cy="861500"/>
              </a:xfrm>
              <a:prstGeom prst="rect">
                <a:avLst/>
              </a:prstGeom>
              <a:noFill/>
              <a:ln w="19050">
                <a:solidFill>
                  <a:schemeClr val="accent1"/>
                </a:solidFill>
              </a:ln>
            </p:spPr>
            <p:txBody>
              <a:bodyPr wrap="square" lIns="0" tIns="0" rIns="0" bIns="0" rtlCol="0">
                <a:noAutofit/>
              </a:bodyPr>
              <a:lstStyle/>
              <a:p>
                <a:pPr algn="ctr"/>
                <a14:m>
                  <m:oMathPara xmlns:m="http://schemas.openxmlformats.org/officeDocument/2006/math">
                    <m:oMathParaPr>
                      <m:jc m:val="center"/>
                    </m:oMathParaPr>
                    <m:oMath xmlns:m="http://schemas.openxmlformats.org/officeDocument/2006/math">
                      <m:r>
                        <a:rPr lang="en-AU" sz="2800" b="0" i="1" smtClean="0">
                          <a:latin typeface="Cambria Math" panose="02040503050406030204" pitchFamily="18" charset="0"/>
                        </a:rPr>
                        <m:t> </m:t>
                      </m:r>
                      <m:f>
                        <m:fPr>
                          <m:ctrlPr>
                            <a:rPr lang="en-AU" sz="2800" i="1" smtClean="0">
                              <a:latin typeface="Cambria Math" panose="02040503050406030204" pitchFamily="18" charset="0"/>
                            </a:rPr>
                          </m:ctrlPr>
                        </m:fPr>
                        <m:num>
                          <m:r>
                            <a:rPr lang="en-AU" sz="2800" b="0" i="1" smtClean="0">
                              <a:latin typeface="Cambria Math" panose="02040503050406030204" pitchFamily="18" charset="0"/>
                            </a:rPr>
                            <m:t>1</m:t>
                          </m:r>
                        </m:num>
                        <m:den>
                          <m:r>
                            <a:rPr lang="en-AU" sz="2800" b="0" i="1" smtClean="0">
                              <a:latin typeface="Cambria Math" panose="02040503050406030204" pitchFamily="18" charset="0"/>
                            </a:rPr>
                            <m:t>5</m:t>
                          </m:r>
                        </m:den>
                      </m:f>
                    </m:oMath>
                  </m:oMathPara>
                </a14:m>
                <a:endParaRPr lang="en-AU" sz="2800"/>
              </a:p>
            </p:txBody>
          </p:sp>
        </mc:Choice>
        <mc:Fallback xmlns="">
          <p:sp>
            <p:nvSpPr>
              <p:cNvPr id="15" name="TextBox 14">
                <a:extLst>
                  <a:ext uri="{FF2B5EF4-FFF2-40B4-BE49-F238E27FC236}">
                    <a16:creationId xmlns:a16="http://schemas.microsoft.com/office/drawing/2014/main" id="{EA7AE3DD-182B-C15F-C568-42516D4D09F1}"/>
                  </a:ext>
                </a:extLst>
              </p:cNvPr>
              <p:cNvSpPr txBox="1">
                <a:spLocks noRot="1" noChangeAspect="1" noMove="1" noResize="1" noEditPoints="1" noAdjustHandles="1" noChangeArrowheads="1" noChangeShapeType="1" noTextEdit="1"/>
              </p:cNvSpPr>
              <p:nvPr/>
            </p:nvSpPr>
            <p:spPr>
              <a:xfrm>
                <a:off x="5605894" y="5342819"/>
                <a:ext cx="642347" cy="861500"/>
              </a:xfrm>
              <a:prstGeom prst="rect">
                <a:avLst/>
              </a:prstGeom>
              <a:blipFill>
                <a:blip r:embed="rId7"/>
                <a:stretch>
                  <a:fillRect/>
                </a:stretch>
              </a:blipFill>
              <a:ln w="19050">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5B2A3DE-F1CA-0C24-B36F-1D7501D2A1BC}"/>
                  </a:ext>
                </a:extLst>
              </p:cNvPr>
              <p:cNvSpPr txBox="1"/>
              <p:nvPr/>
            </p:nvSpPr>
            <p:spPr>
              <a:xfrm>
                <a:off x="7291950" y="5342819"/>
                <a:ext cx="642347" cy="861500"/>
              </a:xfrm>
              <a:prstGeom prst="rect">
                <a:avLst/>
              </a:prstGeom>
              <a:noFill/>
              <a:ln w="19050">
                <a:solidFill>
                  <a:schemeClr val="accent1"/>
                </a:solidFill>
              </a:ln>
            </p:spPr>
            <p:txBody>
              <a:bodyPr wrap="square" lIns="0" tIns="0" rIns="0" bIns="0" rtlCol="0">
                <a:noAutofit/>
              </a:bodyPr>
              <a:lstStyle/>
              <a:p>
                <a:pPr algn="ctr"/>
                <a14:m>
                  <m:oMathPara xmlns:m="http://schemas.openxmlformats.org/officeDocument/2006/math">
                    <m:oMathParaPr>
                      <m:jc m:val="center"/>
                    </m:oMathParaPr>
                    <m:oMath xmlns:m="http://schemas.openxmlformats.org/officeDocument/2006/math">
                      <m:r>
                        <a:rPr lang="en-AU" sz="2800" b="0" i="1" smtClean="0">
                          <a:latin typeface="Cambria Math" panose="02040503050406030204" pitchFamily="18" charset="0"/>
                        </a:rPr>
                        <m:t> </m:t>
                      </m:r>
                      <m:f>
                        <m:fPr>
                          <m:ctrlPr>
                            <a:rPr lang="en-AU" sz="2800" i="1" smtClean="0">
                              <a:latin typeface="Cambria Math" panose="02040503050406030204" pitchFamily="18" charset="0"/>
                            </a:rPr>
                          </m:ctrlPr>
                        </m:fPr>
                        <m:num>
                          <m:r>
                            <a:rPr lang="en-AU" sz="2800" b="0" i="1" smtClean="0">
                              <a:latin typeface="Cambria Math" panose="02040503050406030204" pitchFamily="18" charset="0"/>
                            </a:rPr>
                            <m:t>1</m:t>
                          </m:r>
                        </m:num>
                        <m:den>
                          <m:r>
                            <a:rPr lang="en-AU" sz="2800" b="0" i="1" smtClean="0">
                              <a:latin typeface="Cambria Math" panose="02040503050406030204" pitchFamily="18" charset="0"/>
                            </a:rPr>
                            <m:t>6</m:t>
                          </m:r>
                        </m:den>
                      </m:f>
                    </m:oMath>
                  </m:oMathPara>
                </a14:m>
                <a:endParaRPr lang="en-AU" sz="2800"/>
              </a:p>
            </p:txBody>
          </p:sp>
        </mc:Choice>
        <mc:Fallback xmlns="">
          <p:sp>
            <p:nvSpPr>
              <p:cNvPr id="16" name="TextBox 15">
                <a:extLst>
                  <a:ext uri="{FF2B5EF4-FFF2-40B4-BE49-F238E27FC236}">
                    <a16:creationId xmlns:a16="http://schemas.microsoft.com/office/drawing/2014/main" id="{A5B2A3DE-F1CA-0C24-B36F-1D7501D2A1BC}"/>
                  </a:ext>
                </a:extLst>
              </p:cNvPr>
              <p:cNvSpPr txBox="1">
                <a:spLocks noRot="1" noChangeAspect="1" noMove="1" noResize="1" noEditPoints="1" noAdjustHandles="1" noChangeArrowheads="1" noChangeShapeType="1" noTextEdit="1"/>
              </p:cNvSpPr>
              <p:nvPr/>
            </p:nvSpPr>
            <p:spPr>
              <a:xfrm>
                <a:off x="7291950" y="5342819"/>
                <a:ext cx="642347" cy="861500"/>
              </a:xfrm>
              <a:prstGeom prst="rect">
                <a:avLst/>
              </a:prstGeom>
              <a:blipFill>
                <a:blip r:embed="rId8"/>
                <a:stretch>
                  <a:fillRect/>
                </a:stretch>
              </a:blipFill>
              <a:ln w="19050">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9CC4A1F-25B5-406E-B1DD-CC785BE3F40C}"/>
                  </a:ext>
                </a:extLst>
              </p:cNvPr>
              <p:cNvSpPr txBox="1"/>
              <p:nvPr/>
            </p:nvSpPr>
            <p:spPr>
              <a:xfrm>
                <a:off x="8978006" y="5342819"/>
                <a:ext cx="642347" cy="861500"/>
              </a:xfrm>
              <a:prstGeom prst="rect">
                <a:avLst/>
              </a:prstGeom>
              <a:noFill/>
              <a:ln w="19050">
                <a:solidFill>
                  <a:schemeClr val="accent1"/>
                </a:solidFill>
              </a:ln>
            </p:spPr>
            <p:txBody>
              <a:bodyPr wrap="square" lIns="0" tIns="0" rIns="0" bIns="0" rtlCol="0">
                <a:noAutofit/>
              </a:bodyPr>
              <a:lstStyle/>
              <a:p>
                <a:pPr algn="ctr"/>
                <a14:m>
                  <m:oMathPara xmlns:m="http://schemas.openxmlformats.org/officeDocument/2006/math">
                    <m:oMathParaPr>
                      <m:jc m:val="center"/>
                    </m:oMathParaPr>
                    <m:oMath xmlns:m="http://schemas.openxmlformats.org/officeDocument/2006/math">
                      <m:r>
                        <a:rPr lang="en-AU" sz="2800" b="0" i="1" smtClean="0">
                          <a:latin typeface="Cambria Math" panose="02040503050406030204" pitchFamily="18" charset="0"/>
                        </a:rPr>
                        <m:t> </m:t>
                      </m:r>
                      <m:f>
                        <m:fPr>
                          <m:ctrlPr>
                            <a:rPr lang="en-AU" sz="2800" i="1" smtClean="0">
                              <a:latin typeface="Cambria Math" panose="02040503050406030204" pitchFamily="18" charset="0"/>
                            </a:rPr>
                          </m:ctrlPr>
                        </m:fPr>
                        <m:num>
                          <m:r>
                            <a:rPr lang="en-AU" sz="2800" b="0" i="1" smtClean="0">
                              <a:latin typeface="Cambria Math" panose="02040503050406030204" pitchFamily="18" charset="0"/>
                            </a:rPr>
                            <m:t>1</m:t>
                          </m:r>
                        </m:num>
                        <m:den>
                          <m:r>
                            <a:rPr lang="en-AU" sz="2800" b="0" i="1" smtClean="0">
                              <a:latin typeface="Cambria Math" panose="02040503050406030204" pitchFamily="18" charset="0"/>
                            </a:rPr>
                            <m:t>8</m:t>
                          </m:r>
                        </m:den>
                      </m:f>
                    </m:oMath>
                  </m:oMathPara>
                </a14:m>
                <a:endParaRPr lang="en-AU" sz="2800"/>
              </a:p>
            </p:txBody>
          </p:sp>
        </mc:Choice>
        <mc:Fallback xmlns="">
          <p:sp>
            <p:nvSpPr>
              <p:cNvPr id="17" name="TextBox 16">
                <a:extLst>
                  <a:ext uri="{FF2B5EF4-FFF2-40B4-BE49-F238E27FC236}">
                    <a16:creationId xmlns:a16="http://schemas.microsoft.com/office/drawing/2014/main" id="{29CC4A1F-25B5-406E-B1DD-CC785BE3F40C}"/>
                  </a:ext>
                </a:extLst>
              </p:cNvPr>
              <p:cNvSpPr txBox="1">
                <a:spLocks noRot="1" noChangeAspect="1" noMove="1" noResize="1" noEditPoints="1" noAdjustHandles="1" noChangeArrowheads="1" noChangeShapeType="1" noTextEdit="1"/>
              </p:cNvSpPr>
              <p:nvPr/>
            </p:nvSpPr>
            <p:spPr>
              <a:xfrm>
                <a:off x="8978006" y="5342819"/>
                <a:ext cx="642347" cy="861500"/>
              </a:xfrm>
              <a:prstGeom prst="rect">
                <a:avLst/>
              </a:prstGeom>
              <a:blipFill>
                <a:blip r:embed="rId9"/>
                <a:stretch>
                  <a:fillRect/>
                </a:stretch>
              </a:blipFill>
              <a:ln w="19050">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E34E5DF-6B51-6E0B-1EAD-0E1CEDEFAF97}"/>
                  </a:ext>
                </a:extLst>
              </p:cNvPr>
              <p:cNvSpPr txBox="1"/>
              <p:nvPr/>
            </p:nvSpPr>
            <p:spPr>
              <a:xfrm>
                <a:off x="10664063" y="5263647"/>
                <a:ext cx="642347" cy="861500"/>
              </a:xfrm>
              <a:prstGeom prst="rect">
                <a:avLst/>
              </a:prstGeom>
              <a:noFill/>
              <a:ln w="19050">
                <a:solidFill>
                  <a:schemeClr val="accent1"/>
                </a:solidFill>
              </a:ln>
            </p:spPr>
            <p:txBody>
              <a:bodyPr wrap="square" lIns="0" tIns="0" rIns="0" bIns="0" rtlCol="0">
                <a:noAutofit/>
              </a:bodyPr>
              <a:lstStyle/>
              <a:p>
                <a:pPr algn="ctr"/>
                <a14:m>
                  <m:oMathPara xmlns:m="http://schemas.openxmlformats.org/officeDocument/2006/math">
                    <m:oMathParaPr>
                      <m:jc m:val="center"/>
                    </m:oMathParaPr>
                    <m:oMath xmlns:m="http://schemas.openxmlformats.org/officeDocument/2006/math">
                      <m:r>
                        <a:rPr lang="en-AU" sz="2800" b="0" i="1" smtClean="0">
                          <a:latin typeface="Cambria Math" panose="02040503050406030204" pitchFamily="18" charset="0"/>
                        </a:rPr>
                        <m:t> </m:t>
                      </m:r>
                      <m:f>
                        <m:fPr>
                          <m:ctrlPr>
                            <a:rPr lang="en-AU" sz="2800" i="1" smtClean="0">
                              <a:latin typeface="Cambria Math" panose="02040503050406030204" pitchFamily="18" charset="0"/>
                            </a:rPr>
                          </m:ctrlPr>
                        </m:fPr>
                        <m:num>
                          <m:r>
                            <a:rPr lang="en-AU" sz="2800" b="0" i="1" smtClean="0">
                              <a:latin typeface="Cambria Math" panose="02040503050406030204" pitchFamily="18" charset="0"/>
                            </a:rPr>
                            <m:t>1</m:t>
                          </m:r>
                        </m:num>
                        <m:den>
                          <m:r>
                            <a:rPr lang="en-AU" sz="2800" b="0" i="1" smtClean="0">
                              <a:latin typeface="Cambria Math" panose="02040503050406030204" pitchFamily="18" charset="0"/>
                            </a:rPr>
                            <m:t>10</m:t>
                          </m:r>
                        </m:den>
                      </m:f>
                    </m:oMath>
                  </m:oMathPara>
                </a14:m>
                <a:endParaRPr lang="en-AU" sz="2800"/>
              </a:p>
            </p:txBody>
          </p:sp>
        </mc:Choice>
        <mc:Fallback xmlns="">
          <p:sp>
            <p:nvSpPr>
              <p:cNvPr id="18" name="TextBox 17">
                <a:extLst>
                  <a:ext uri="{FF2B5EF4-FFF2-40B4-BE49-F238E27FC236}">
                    <a16:creationId xmlns:a16="http://schemas.microsoft.com/office/drawing/2014/main" id="{1E34E5DF-6B51-6E0B-1EAD-0E1CEDEFAF97}"/>
                  </a:ext>
                </a:extLst>
              </p:cNvPr>
              <p:cNvSpPr txBox="1">
                <a:spLocks noRot="1" noChangeAspect="1" noMove="1" noResize="1" noEditPoints="1" noAdjustHandles="1" noChangeArrowheads="1" noChangeShapeType="1" noTextEdit="1"/>
              </p:cNvSpPr>
              <p:nvPr/>
            </p:nvSpPr>
            <p:spPr>
              <a:xfrm>
                <a:off x="10664063" y="5263647"/>
                <a:ext cx="642347" cy="861500"/>
              </a:xfrm>
              <a:prstGeom prst="rect">
                <a:avLst/>
              </a:prstGeom>
              <a:blipFill>
                <a:blip r:embed="rId10"/>
                <a:stretch>
                  <a:fillRect/>
                </a:stretch>
              </a:blipFill>
              <a:ln w="19050">
                <a:solidFill>
                  <a:schemeClr val="accent1"/>
                </a:solidFill>
              </a:ln>
            </p:spPr>
            <p:txBody>
              <a:bodyPr/>
              <a:lstStyle/>
              <a:p>
                <a:r>
                  <a:rPr lang="en-US">
                    <a:noFill/>
                  </a:rPr>
                  <a:t> </a:t>
                </a:r>
              </a:p>
            </p:txBody>
          </p:sp>
        </mc:Fallback>
      </mc:AlternateContent>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dirty="0">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(2)</a:t>
            </a:r>
          </a:p>
        </p:txBody>
      </p:sp>
      <p:pic>
        <p:nvPicPr>
          <p:cNvPr id="4" name="Picture 3">
            <a:extLst>
              <a:ext uri="{FF2B5EF4-FFF2-40B4-BE49-F238E27FC236}">
                <a16:creationId xmlns:a16="http://schemas.microsoft.com/office/drawing/2014/main" id="{112D24DC-0614-F76C-9A4C-36E299EAFF5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15" name="Text Placeholder">
                <a:extLst>
                  <a:ext uri="{FF2B5EF4-FFF2-40B4-BE49-F238E27FC236}">
                    <a16:creationId xmlns:a16="http://schemas.microsoft.com/office/drawing/2014/main" id="{9C7C84D9-7468-F57D-99F1-C58A56040A58}"/>
                  </a:ext>
                </a:extLst>
              </p:cNvPr>
              <p:cNvSpPr>
                <a:spLocks noGrp="1"/>
              </p:cNvSpPr>
              <p:nvPr>
                <p:ph type="body" sz="quarter" idx="28"/>
              </p:nvPr>
            </p:nvSpPr>
            <p:spPr>
              <a:xfrm>
                <a:off x="359999" y="937730"/>
                <a:ext cx="11286067" cy="754243"/>
              </a:xfrm>
            </p:spPr>
            <p:txBody>
              <a:bodyPr/>
              <a:lstStyle/>
              <a:p>
                <a:pPr algn="ctr"/>
                <a:r>
                  <a:rPr lang="en-AU" sz="2500" dirty="0"/>
                  <a:t>James has </a:t>
                </a:r>
                <a14:m>
                  <m:oMath xmlns:m="http://schemas.openxmlformats.org/officeDocument/2006/math">
                    <m:f>
                      <m:fPr>
                        <m:ctrlPr>
                          <a:rPr lang="en-AU" sz="2500" b="1" i="1" smtClean="0">
                            <a:latin typeface="Cambria Math" panose="02040503050406030204" pitchFamily="18" charset="0"/>
                          </a:rPr>
                        </m:ctrlPr>
                      </m:fPr>
                      <m:num>
                        <m:r>
                          <a:rPr lang="en-AU" sz="2500" b="1" i="1" smtClean="0">
                            <a:latin typeface="Cambria Math" panose="02040503050406030204" pitchFamily="18" charset="0"/>
                          </a:rPr>
                          <m:t>𝟏</m:t>
                        </m:r>
                      </m:num>
                      <m:den>
                        <m:r>
                          <a:rPr lang="en-AU" sz="2500" b="1" i="1" smtClean="0">
                            <a:latin typeface="Cambria Math" panose="02040503050406030204" pitchFamily="18" charset="0"/>
                          </a:rPr>
                          <m:t>𝟐</m:t>
                        </m:r>
                      </m:den>
                    </m:f>
                  </m:oMath>
                </a14:m>
                <a:r>
                  <a:rPr lang="en-AU" sz="2500" b="1" dirty="0"/>
                  <a:t> </a:t>
                </a:r>
                <a:r>
                  <a:rPr lang="en-AU" sz="2500" dirty="0"/>
                  <a:t>of a chocolate bar and Stella has </a:t>
                </a:r>
                <a14:m>
                  <m:oMath xmlns:m="http://schemas.openxmlformats.org/officeDocument/2006/math">
                    <m:f>
                      <m:fPr>
                        <m:ctrlPr>
                          <a:rPr lang="en-AU" sz="2500" b="1" i="1">
                            <a:latin typeface="Cambria Math" panose="02040503050406030204" pitchFamily="18" charset="0"/>
                          </a:rPr>
                        </m:ctrlPr>
                      </m:fPr>
                      <m:num>
                        <m:r>
                          <a:rPr lang="en-AU" sz="2500" b="1" i="1">
                            <a:latin typeface="Cambria Math" panose="02040503050406030204" pitchFamily="18" charset="0"/>
                          </a:rPr>
                          <m:t>𝟏</m:t>
                        </m:r>
                      </m:num>
                      <m:den>
                        <m:r>
                          <a:rPr lang="en-AU" sz="2500" b="1" i="1" smtClean="0">
                            <a:latin typeface="Cambria Math" panose="02040503050406030204" pitchFamily="18" charset="0"/>
                          </a:rPr>
                          <m:t>𝟑</m:t>
                        </m:r>
                      </m:den>
                    </m:f>
                  </m:oMath>
                </a14:m>
                <a:r>
                  <a:rPr lang="en-AU" sz="2500" b="1" dirty="0"/>
                  <a:t> </a:t>
                </a:r>
                <a:r>
                  <a:rPr lang="en-AU" sz="2500" dirty="0"/>
                  <a:t>of a </a:t>
                </a:r>
                <a:r>
                  <a:rPr lang="en-AU" sz="2500" b="1" dirty="0"/>
                  <a:t>different</a:t>
                </a:r>
                <a:r>
                  <a:rPr lang="en-AU" sz="2500" dirty="0"/>
                  <a:t> sized chocolate bar. Why can’t you </a:t>
                </a:r>
                <a:r>
                  <a:rPr lang="en-AU" sz="2500" b="1" dirty="0"/>
                  <a:t>add </a:t>
                </a:r>
                <a14:m>
                  <m:oMath xmlns:m="http://schemas.openxmlformats.org/officeDocument/2006/math">
                    <m:f>
                      <m:fPr>
                        <m:ctrlPr>
                          <a:rPr lang="en-AU" sz="2500" b="1" i="1">
                            <a:latin typeface="Cambria Math" panose="02040503050406030204" pitchFamily="18" charset="0"/>
                          </a:rPr>
                        </m:ctrlPr>
                      </m:fPr>
                      <m:num>
                        <m:r>
                          <a:rPr lang="en-AU" sz="2500" b="1" i="1">
                            <a:latin typeface="Cambria Math" panose="02040503050406030204" pitchFamily="18" charset="0"/>
                          </a:rPr>
                          <m:t>𝟏</m:t>
                        </m:r>
                      </m:num>
                      <m:den>
                        <m:r>
                          <a:rPr lang="en-AU" sz="2500" b="1" i="1">
                            <a:latin typeface="Cambria Math" panose="02040503050406030204" pitchFamily="18" charset="0"/>
                          </a:rPr>
                          <m:t>𝟐</m:t>
                        </m:r>
                      </m:den>
                    </m:f>
                  </m:oMath>
                </a14:m>
                <a:r>
                  <a:rPr lang="en-AU" sz="2500" b="1" dirty="0"/>
                  <a:t> and </a:t>
                </a:r>
                <a14:m>
                  <m:oMath xmlns:m="http://schemas.openxmlformats.org/officeDocument/2006/math">
                    <m:f>
                      <m:fPr>
                        <m:ctrlPr>
                          <a:rPr lang="en-AU" sz="2500" b="1" i="1">
                            <a:latin typeface="Cambria Math" panose="02040503050406030204" pitchFamily="18" charset="0"/>
                          </a:rPr>
                        </m:ctrlPr>
                      </m:fPr>
                      <m:num>
                        <m:r>
                          <a:rPr lang="en-AU" sz="2500" b="1" i="1">
                            <a:latin typeface="Cambria Math" panose="02040503050406030204" pitchFamily="18" charset="0"/>
                          </a:rPr>
                          <m:t>𝟏</m:t>
                        </m:r>
                      </m:num>
                      <m:den>
                        <m:r>
                          <a:rPr lang="en-AU" sz="2500" b="1" i="1">
                            <a:latin typeface="Cambria Math" panose="02040503050406030204" pitchFamily="18" charset="0"/>
                          </a:rPr>
                          <m:t>𝟑</m:t>
                        </m:r>
                      </m:den>
                    </m:f>
                  </m:oMath>
                </a14:m>
                <a:r>
                  <a:rPr lang="en-AU" sz="2500" b="1" dirty="0"/>
                  <a:t> </a:t>
                </a:r>
                <a:r>
                  <a:rPr lang="en-AU" sz="2500" dirty="0"/>
                  <a:t>to find out </a:t>
                </a:r>
                <a:r>
                  <a:rPr lang="en-AU" sz="2500"/>
                  <a:t>how much </a:t>
                </a:r>
                <a:r>
                  <a:rPr lang="en-AU" sz="2500" dirty="0"/>
                  <a:t>chocolate they </a:t>
                </a:r>
                <a:r>
                  <a:rPr lang="en-AU" sz="2500"/>
                  <a:t>have</a:t>
                </a:r>
                <a:r>
                  <a:rPr lang="en-AU" sz="2500" dirty="0"/>
                  <a:t> altogether?</a:t>
                </a:r>
                <a:r>
                  <a:rPr lang="en-AU" sz="2500" b="1"/>
                  <a:t> </a:t>
                </a:r>
                <a:endParaRPr lang="en-US" sz="2500" b="1" dirty="0"/>
              </a:p>
            </p:txBody>
          </p:sp>
        </mc:Choice>
        <mc:Fallback xmlns="">
          <p:sp>
            <p:nvSpPr>
              <p:cNvPr id="15" name="Text Placeholder">
                <a:extLst>
                  <a:ext uri="{FF2B5EF4-FFF2-40B4-BE49-F238E27FC236}">
                    <a16:creationId xmlns:a16="http://schemas.microsoft.com/office/drawing/2014/main" id="{9C7C84D9-7468-F57D-99F1-C58A56040A58}"/>
                  </a:ext>
                </a:extLst>
              </p:cNvPr>
              <p:cNvSpPr>
                <a:spLocks noGrp="1" noRot="1" noChangeAspect="1" noMove="1" noResize="1" noEditPoints="1" noAdjustHandles="1" noChangeArrowheads="1" noChangeShapeType="1" noTextEdit="1"/>
              </p:cNvSpPr>
              <p:nvPr>
                <p:ph type="body" sz="quarter" idx="28"/>
              </p:nvPr>
            </p:nvSpPr>
            <p:spPr>
              <a:xfrm>
                <a:off x="359999" y="937730"/>
                <a:ext cx="11286067" cy="754243"/>
              </a:xfrm>
              <a:blipFill>
                <a:blip r:embed="rId5"/>
                <a:stretch>
                  <a:fillRect l="-216" r="-1080" b="-209677"/>
                </a:stretch>
              </a:blipFill>
            </p:spPr>
            <p:txBody>
              <a:bodyPr/>
              <a:lstStyle/>
              <a:p>
                <a:r>
                  <a:rPr lang="en-US">
                    <a:noFill/>
                  </a:rPr>
                  <a:t> </a:t>
                </a:r>
              </a:p>
            </p:txBody>
          </p:sp>
        </mc:Fallback>
      </mc:AlternateContent>
      <p:sp>
        <p:nvSpPr>
          <p:cNvPr id="9" name="B">
            <a:extLst>
              <a:ext uri="{FF2B5EF4-FFF2-40B4-BE49-F238E27FC236}">
                <a16:creationId xmlns:a16="http://schemas.microsoft.com/office/drawing/2014/main" id="{F91A42F4-D8C9-20A3-82EB-86FAD4D776A8}"/>
              </a:ext>
            </a:extLst>
          </p:cNvPr>
          <p:cNvSpPr txBox="1"/>
          <p:nvPr/>
        </p:nvSpPr>
        <p:spPr>
          <a:xfrm>
            <a:off x="187961" y="342900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A text">
            <a:extLst>
              <a:ext uri="{FF2B5EF4-FFF2-40B4-BE49-F238E27FC236}">
                <a16:creationId xmlns:a16="http://schemas.microsoft.com/office/drawing/2014/main" id="{D2386B91-F85A-17DD-80EB-F20033E4EC06}"/>
              </a:ext>
            </a:extLst>
          </p:cNvPr>
          <p:cNvSpPr>
            <a:spLocks noGrp="1"/>
          </p:cNvSpPr>
          <p:nvPr>
            <p:ph type="body" sz="quarter" idx="31"/>
          </p:nvPr>
        </p:nvSpPr>
        <p:spPr>
          <a:xfrm>
            <a:off x="787400" y="3429000"/>
            <a:ext cx="11286067" cy="641396"/>
          </a:xfrm>
        </p:spPr>
        <p:txBody>
          <a:bodyPr anchor="ctr"/>
          <a:lstStyle/>
          <a:p>
            <a:r>
              <a:rPr lang="en-AU" sz="2300" dirty="0"/>
              <a:t>The chocolate bars are different sizes, so they are fractions of different sized wholes. </a:t>
            </a:r>
            <a:endParaRPr lang="en-US" sz="2300" dirty="0"/>
          </a:p>
        </p:txBody>
      </p:sp>
      <p:sp>
        <p:nvSpPr>
          <p:cNvPr id="10" name="B">
            <a:extLst>
              <a:ext uri="{FF2B5EF4-FFF2-40B4-BE49-F238E27FC236}">
                <a16:creationId xmlns:a16="http://schemas.microsoft.com/office/drawing/2014/main" id="{CA9D5B15-A13C-EE8B-176F-3B4E3454A1A2}"/>
              </a:ext>
            </a:extLst>
          </p:cNvPr>
          <p:cNvSpPr txBox="1"/>
          <p:nvPr/>
        </p:nvSpPr>
        <p:spPr>
          <a:xfrm>
            <a:off x="187960" y="427691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mc:AlternateContent xmlns:mc="http://schemas.openxmlformats.org/markup-compatibility/2006" xmlns:a14="http://schemas.microsoft.com/office/drawing/2010/main">
        <mc:Choice Requires="a14">
          <p:sp>
            <p:nvSpPr>
              <p:cNvPr id="17" name="B text">
                <a:extLst>
                  <a:ext uri="{FF2B5EF4-FFF2-40B4-BE49-F238E27FC236}">
                    <a16:creationId xmlns:a16="http://schemas.microsoft.com/office/drawing/2014/main" id="{2D36800D-CC3E-E3B5-7DCD-70D138BF62F0}"/>
                  </a:ext>
                </a:extLst>
              </p:cNvPr>
              <p:cNvSpPr>
                <a:spLocks noGrp="1"/>
              </p:cNvSpPr>
              <p:nvPr>
                <p:ph type="body" sz="quarter" idx="30"/>
              </p:nvPr>
            </p:nvSpPr>
            <p:spPr>
              <a:xfrm>
                <a:off x="787400" y="4276913"/>
                <a:ext cx="10175920" cy="641396"/>
              </a:xfrm>
            </p:spPr>
            <p:txBody>
              <a:bodyPr anchor="ctr"/>
              <a:lstStyle/>
              <a:p>
                <a:r>
                  <a:rPr lang="en-AU" sz="2300" dirty="0"/>
                  <a:t>You can</a:t>
                </a:r>
                <a:r>
                  <a:rPr lang="en-AU" sz="2300"/>
                  <a:t>,</a:t>
                </a:r>
                <a:r>
                  <a:rPr lang="en-AU" sz="2300" dirty="0"/>
                  <a:t> they </a:t>
                </a:r>
                <a:r>
                  <a:rPr lang="en-AU" sz="2300"/>
                  <a:t>have </a:t>
                </a:r>
                <a14:m>
                  <m:oMath xmlns:m="http://schemas.openxmlformats.org/officeDocument/2006/math">
                    <m:f>
                      <m:fPr>
                        <m:ctrlPr>
                          <a:rPr lang="en-AU" sz="2300" i="1">
                            <a:latin typeface="Cambria Math" panose="02040503050406030204" pitchFamily="18" charset="0"/>
                          </a:rPr>
                        </m:ctrlPr>
                      </m:fPr>
                      <m:num>
                        <m:r>
                          <a:rPr lang="en-AU" sz="2300" b="0" i="1" smtClean="0">
                            <a:latin typeface="Cambria Math" panose="02040503050406030204" pitchFamily="18" charset="0"/>
                          </a:rPr>
                          <m:t>2</m:t>
                        </m:r>
                      </m:num>
                      <m:den>
                        <m:r>
                          <a:rPr lang="en-AU" sz="2300" b="0" i="1" smtClean="0">
                            <a:latin typeface="Cambria Math" panose="02040503050406030204" pitchFamily="18" charset="0"/>
                          </a:rPr>
                          <m:t>5</m:t>
                        </m:r>
                      </m:den>
                    </m:f>
                  </m:oMath>
                </a14:m>
                <a:r>
                  <a:rPr lang="en-AU" sz="2300"/>
                  <a:t> altogether</a:t>
                </a:r>
                <a:r>
                  <a:rPr lang="en-AU" sz="2300" dirty="0"/>
                  <a:t>.</a:t>
                </a:r>
                <a:endParaRPr lang="en-US" sz="2300" dirty="0"/>
              </a:p>
            </p:txBody>
          </p:sp>
        </mc:Choice>
        <mc:Fallback xmlns="">
          <p:sp>
            <p:nvSpPr>
              <p:cNvPr id="17" name="B text">
                <a:extLst>
                  <a:ext uri="{FF2B5EF4-FFF2-40B4-BE49-F238E27FC236}">
                    <a16:creationId xmlns:a16="http://schemas.microsoft.com/office/drawing/2014/main" id="{2D36800D-CC3E-E3B5-7DCD-70D138BF62F0}"/>
                  </a:ext>
                </a:extLst>
              </p:cNvPr>
              <p:cNvSpPr>
                <a:spLocks noGrp="1" noRot="1" noChangeAspect="1" noMove="1" noResize="1" noEditPoints="1" noAdjustHandles="1" noChangeArrowheads="1" noChangeShapeType="1" noTextEdit="1"/>
              </p:cNvSpPr>
              <p:nvPr>
                <p:ph type="body" sz="quarter" idx="30"/>
              </p:nvPr>
            </p:nvSpPr>
            <p:spPr>
              <a:xfrm>
                <a:off x="787400" y="4276913"/>
                <a:ext cx="10175920" cy="641396"/>
              </a:xfrm>
              <a:blipFill>
                <a:blip r:embed="rId6"/>
                <a:stretch>
                  <a:fillRect l="-1738" b="-19048"/>
                </a:stretch>
              </a:blipFill>
            </p:spPr>
            <p:txBody>
              <a:bodyPr/>
              <a:lstStyle/>
              <a:p>
                <a:r>
                  <a:rPr lang="en-US">
                    <a:noFill/>
                  </a:rPr>
                  <a:t> </a:t>
                </a:r>
              </a:p>
            </p:txBody>
          </p:sp>
        </mc:Fallback>
      </mc:AlternateContent>
      <p:sp>
        <p:nvSpPr>
          <p:cNvPr id="12" name="C">
            <a:extLst>
              <a:ext uri="{FF2B5EF4-FFF2-40B4-BE49-F238E27FC236}">
                <a16:creationId xmlns:a16="http://schemas.microsoft.com/office/drawing/2014/main" id="{B4746450-E4E2-359C-DFCA-0532E811BD1E}"/>
              </a:ext>
            </a:extLst>
          </p:cNvPr>
          <p:cNvSpPr txBox="1"/>
          <p:nvPr/>
        </p:nvSpPr>
        <p:spPr>
          <a:xfrm>
            <a:off x="187959" y="512696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mc:AlternateContent xmlns:mc="http://schemas.openxmlformats.org/markup-compatibility/2006" xmlns:a14="http://schemas.microsoft.com/office/drawing/2010/main">
        <mc:Choice Requires="a14">
          <p:sp>
            <p:nvSpPr>
              <p:cNvPr id="16" name="C text">
                <a:extLst>
                  <a:ext uri="{FF2B5EF4-FFF2-40B4-BE49-F238E27FC236}">
                    <a16:creationId xmlns:a16="http://schemas.microsoft.com/office/drawing/2014/main" id="{8E51689C-1248-B7EC-3B77-B066AB5C6C0D}"/>
                  </a:ext>
                </a:extLst>
              </p:cNvPr>
              <p:cNvSpPr>
                <a:spLocks noGrp="1"/>
              </p:cNvSpPr>
              <p:nvPr>
                <p:ph type="body" sz="quarter" idx="29"/>
              </p:nvPr>
            </p:nvSpPr>
            <p:spPr>
              <a:xfrm>
                <a:off x="787400" y="5126966"/>
                <a:ext cx="10175920" cy="641396"/>
              </a:xfrm>
            </p:spPr>
            <p:txBody>
              <a:bodyPr anchor="ctr"/>
              <a:lstStyle/>
              <a:p>
                <a14:m>
                  <m:oMath xmlns:m="http://schemas.openxmlformats.org/officeDocument/2006/math">
                    <m:f>
                      <m:fPr>
                        <m:ctrlPr>
                          <a:rPr lang="en-AU" sz="2300" i="1">
                            <a:latin typeface="Cambria Math" panose="02040503050406030204" pitchFamily="18" charset="0"/>
                          </a:rPr>
                        </m:ctrlPr>
                      </m:fPr>
                      <m:num>
                        <m:r>
                          <a:rPr lang="en-AU" sz="2300" i="1">
                            <a:latin typeface="Cambria Math" panose="02040503050406030204" pitchFamily="18" charset="0"/>
                          </a:rPr>
                          <m:t>1</m:t>
                        </m:r>
                      </m:num>
                      <m:den>
                        <m:r>
                          <a:rPr lang="en-AU" sz="2300" i="1">
                            <a:latin typeface="Cambria Math" panose="02040503050406030204" pitchFamily="18" charset="0"/>
                          </a:rPr>
                          <m:t>2</m:t>
                        </m:r>
                      </m:den>
                    </m:f>
                  </m:oMath>
                </a14:m>
                <a:r>
                  <a:rPr lang="en-AU" sz="2300" dirty="0"/>
                  <a:t> is bigger than </a:t>
                </a:r>
                <a14:m>
                  <m:oMath xmlns:m="http://schemas.openxmlformats.org/officeDocument/2006/math">
                    <m:f>
                      <m:fPr>
                        <m:ctrlPr>
                          <a:rPr lang="en-AU" sz="2300" i="1">
                            <a:latin typeface="Cambria Math" panose="02040503050406030204" pitchFamily="18" charset="0"/>
                          </a:rPr>
                        </m:ctrlPr>
                      </m:fPr>
                      <m:num>
                        <m:r>
                          <a:rPr lang="en-AU" sz="2300" i="1">
                            <a:latin typeface="Cambria Math" panose="02040503050406030204" pitchFamily="18" charset="0"/>
                          </a:rPr>
                          <m:t>1</m:t>
                        </m:r>
                      </m:num>
                      <m:den>
                        <m:r>
                          <a:rPr lang="en-AU" sz="2300" i="1">
                            <a:latin typeface="Cambria Math" panose="02040503050406030204" pitchFamily="18" charset="0"/>
                          </a:rPr>
                          <m:t>3</m:t>
                        </m:r>
                      </m:den>
                    </m:f>
                  </m:oMath>
                </a14:m>
                <a:r>
                  <a:rPr lang="en-AU" sz="2300" dirty="0"/>
                  <a:t>, so you can not add fractions that are different sizes.</a:t>
                </a:r>
                <a:endParaRPr lang="en-US" sz="2300" dirty="0"/>
              </a:p>
            </p:txBody>
          </p:sp>
        </mc:Choice>
        <mc:Fallback xmlns="">
          <p:sp>
            <p:nvSpPr>
              <p:cNvPr id="16" name="C text">
                <a:extLst>
                  <a:ext uri="{FF2B5EF4-FFF2-40B4-BE49-F238E27FC236}">
                    <a16:creationId xmlns:a16="http://schemas.microsoft.com/office/drawing/2014/main" id="{8E51689C-1248-B7EC-3B77-B066AB5C6C0D}"/>
                  </a:ext>
                </a:extLst>
              </p:cNvPr>
              <p:cNvSpPr>
                <a:spLocks noGrp="1" noRot="1" noChangeAspect="1" noMove="1" noResize="1" noEditPoints="1" noAdjustHandles="1" noChangeArrowheads="1" noChangeShapeType="1" noTextEdit="1"/>
              </p:cNvSpPr>
              <p:nvPr>
                <p:ph type="body" sz="quarter" idx="29"/>
              </p:nvPr>
            </p:nvSpPr>
            <p:spPr>
              <a:xfrm>
                <a:off x="787400" y="5126966"/>
                <a:ext cx="10175920" cy="641396"/>
              </a:xfrm>
              <a:blipFill>
                <a:blip r:embed="rId7"/>
                <a:stretch>
                  <a:fillRect b="-19048"/>
                </a:stretch>
              </a:blipFill>
            </p:spPr>
            <p:txBody>
              <a:bodyPr/>
              <a:lstStyle/>
              <a:p>
                <a:r>
                  <a:rPr lang="en-US">
                    <a:noFill/>
                  </a:rPr>
                  <a:t> </a:t>
                </a:r>
              </a:p>
            </p:txBody>
          </p:sp>
        </mc:Fallback>
      </mc:AlternateContent>
      <p:sp>
        <p:nvSpPr>
          <p:cNvPr id="11" name="D">
            <a:extLst>
              <a:ext uri="{FF2B5EF4-FFF2-40B4-BE49-F238E27FC236}">
                <a16:creationId xmlns:a16="http://schemas.microsoft.com/office/drawing/2014/main" id="{9B8955CE-78C1-2F30-7505-4CA44A86BDFF}"/>
              </a:ext>
            </a:extLst>
          </p:cNvPr>
          <p:cNvSpPr txBox="1"/>
          <p:nvPr/>
        </p:nvSpPr>
        <p:spPr>
          <a:xfrm>
            <a:off x="187958" y="597701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4" name="D text">
            <a:extLst>
              <a:ext uri="{FF2B5EF4-FFF2-40B4-BE49-F238E27FC236}">
                <a16:creationId xmlns:a16="http://schemas.microsoft.com/office/drawing/2014/main" id="{D3F4C1E5-AFB7-4898-29F3-EB98C6384093}"/>
              </a:ext>
            </a:extLst>
          </p:cNvPr>
          <p:cNvSpPr>
            <a:spLocks noGrp="1"/>
          </p:cNvSpPr>
          <p:nvPr>
            <p:ph type="body" sz="quarter" idx="27"/>
          </p:nvPr>
        </p:nvSpPr>
        <p:spPr>
          <a:xfrm>
            <a:off x="717387" y="6025653"/>
            <a:ext cx="10175920" cy="641396"/>
          </a:xfrm>
        </p:spPr>
        <p:txBody>
          <a:bodyPr anchor="ctr"/>
          <a:lstStyle/>
          <a:p>
            <a:r>
              <a:rPr lang="en-US" sz="2300" dirty="0"/>
              <a:t>Chocolate can only be counted in whole bars.</a:t>
            </a:r>
          </a:p>
        </p:txBody>
      </p:sp>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4" name="Picture 3" descr="A number plane with grid lines. The x-axis is labelled zero to 7 and y-axis is labelled zero to 7.">
            <a:extLst>
              <a:ext uri="{FF2B5EF4-FFF2-40B4-BE49-F238E27FC236}">
                <a16:creationId xmlns:a16="http://schemas.microsoft.com/office/drawing/2014/main" id="{F3BD7418-9C8C-AC24-7B41-E16FFEB6BA9D}"/>
              </a:ext>
            </a:extLst>
          </p:cNvPr>
          <p:cNvPicPr>
            <a:picLocks noChangeAspect="1"/>
          </p:cNvPicPr>
          <p:nvPr/>
        </p:nvPicPr>
        <p:blipFill>
          <a:blip r:embed="rId4"/>
          <a:stretch>
            <a:fillRect/>
          </a:stretch>
        </p:blipFill>
        <p:spPr>
          <a:xfrm>
            <a:off x="5543634" y="1294226"/>
            <a:ext cx="6206082" cy="5089528"/>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5DD77C09-A07F-71DC-4D89-807D9528FFB0}"/>
              </a:ext>
            </a:extLst>
          </p:cNvPr>
          <p:cNvSpPr txBox="1"/>
          <p:nvPr/>
        </p:nvSpPr>
        <p:spPr>
          <a:xfrm>
            <a:off x="348000" y="1075155"/>
            <a:ext cx="4982021" cy="5422845"/>
          </a:xfrm>
          <a:prstGeom prst="rect">
            <a:avLst/>
          </a:prstGeom>
          <a:noFill/>
        </p:spPr>
        <p:txBody>
          <a:bodyPr wrap="square" lIns="0" tIns="0" rIns="0" bIns="0" rtlCol="0">
            <a:noAutofit/>
          </a:bodyPr>
          <a:lstStyle/>
          <a:p>
            <a:pPr algn="ctr">
              <a:lnSpc>
                <a:spcPct val="150000"/>
              </a:lnSpc>
            </a:pPr>
            <a:r>
              <a:rPr lang="en-AU" sz="2800" dirty="0"/>
              <a:t>Record the coordinates of:</a:t>
            </a:r>
          </a:p>
          <a:p>
            <a:pPr algn="ctr">
              <a:lnSpc>
                <a:spcPct val="200000"/>
              </a:lnSpc>
            </a:pPr>
            <a:r>
              <a:rPr lang="en-AU" sz="2800" dirty="0"/>
              <a:t>a.</a:t>
            </a:r>
          </a:p>
          <a:p>
            <a:pPr algn="ctr">
              <a:lnSpc>
                <a:spcPct val="200000"/>
              </a:lnSpc>
            </a:pPr>
            <a:r>
              <a:rPr lang="en-AU" sz="2800" dirty="0"/>
              <a:t>b.</a:t>
            </a:r>
          </a:p>
          <a:p>
            <a:pPr algn="ctr">
              <a:lnSpc>
                <a:spcPct val="200000"/>
              </a:lnSpc>
            </a:pPr>
            <a:r>
              <a:rPr lang="en-AU" sz="2800" dirty="0"/>
              <a:t>c. </a:t>
            </a:r>
          </a:p>
          <a:p>
            <a:pPr algn="ctr">
              <a:lnSpc>
                <a:spcPct val="200000"/>
              </a:lnSpc>
            </a:pPr>
            <a:r>
              <a:rPr lang="en-AU" sz="2800" dirty="0"/>
              <a:t>d.</a:t>
            </a:r>
          </a:p>
          <a:p>
            <a:pPr algn="ctr">
              <a:lnSpc>
                <a:spcPct val="200000"/>
              </a:lnSpc>
            </a:pPr>
            <a:r>
              <a:rPr lang="en-AU" sz="2800" dirty="0"/>
              <a:t>e.</a:t>
            </a:r>
          </a:p>
          <a:p>
            <a:pPr algn="l">
              <a:lnSpc>
                <a:spcPct val="150000"/>
              </a:lnSpc>
            </a:pPr>
            <a:endParaRPr lang="en-AU" sz="2800" dirty="0"/>
          </a:p>
          <a:p>
            <a:pPr algn="l"/>
            <a:endParaRPr lang="en-AU" sz="2000" dirty="0"/>
          </a:p>
        </p:txBody>
      </p:sp>
      <p:sp>
        <p:nvSpPr>
          <p:cNvPr id="8" name="Oval 7" descr="Blue circle">
            <a:extLst>
              <a:ext uri="{FF2B5EF4-FFF2-40B4-BE49-F238E27FC236}">
                <a16:creationId xmlns:a16="http://schemas.microsoft.com/office/drawing/2014/main" id="{96FF9B7A-E2F6-8A8D-A85C-5FEDB018E413}"/>
              </a:ext>
            </a:extLst>
          </p:cNvPr>
          <p:cNvSpPr/>
          <p:nvPr/>
        </p:nvSpPr>
        <p:spPr>
          <a:xfrm>
            <a:off x="3341252" y="2116751"/>
            <a:ext cx="220006" cy="2337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Isosceles Triangle 9" descr="Red triangle">
            <a:extLst>
              <a:ext uri="{FF2B5EF4-FFF2-40B4-BE49-F238E27FC236}">
                <a16:creationId xmlns:a16="http://schemas.microsoft.com/office/drawing/2014/main" id="{85018483-50EC-8398-A6A2-1328671E6BFD}"/>
              </a:ext>
            </a:extLst>
          </p:cNvPr>
          <p:cNvSpPr/>
          <p:nvPr/>
        </p:nvSpPr>
        <p:spPr>
          <a:xfrm>
            <a:off x="3293124" y="2932638"/>
            <a:ext cx="295633" cy="254382"/>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Heart 11" descr="Blue heart">
            <a:extLst>
              <a:ext uri="{FF2B5EF4-FFF2-40B4-BE49-F238E27FC236}">
                <a16:creationId xmlns:a16="http://schemas.microsoft.com/office/drawing/2014/main" id="{395867F7-A83E-4B7C-811D-F6D973C3B777}"/>
              </a:ext>
            </a:extLst>
          </p:cNvPr>
          <p:cNvSpPr/>
          <p:nvPr/>
        </p:nvSpPr>
        <p:spPr>
          <a:xfrm>
            <a:off x="3283941" y="3838990"/>
            <a:ext cx="213131" cy="231122"/>
          </a:xfrm>
          <a:prstGeom prst="hear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Smiley Face 13" descr="Pink smiley face">
            <a:extLst>
              <a:ext uri="{FF2B5EF4-FFF2-40B4-BE49-F238E27FC236}">
                <a16:creationId xmlns:a16="http://schemas.microsoft.com/office/drawing/2014/main" id="{F4983C0C-1F65-A30B-9962-80FAC1AA3D36}"/>
              </a:ext>
            </a:extLst>
          </p:cNvPr>
          <p:cNvSpPr/>
          <p:nvPr/>
        </p:nvSpPr>
        <p:spPr>
          <a:xfrm>
            <a:off x="3293124" y="4648434"/>
            <a:ext cx="226882" cy="240462"/>
          </a:xfrm>
          <a:prstGeom prst="smileyFac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Sun 15" descr="Blue sun">
            <a:extLst>
              <a:ext uri="{FF2B5EF4-FFF2-40B4-BE49-F238E27FC236}">
                <a16:creationId xmlns:a16="http://schemas.microsoft.com/office/drawing/2014/main" id="{44F984ED-CAB2-134E-E986-FEF540930664}"/>
              </a:ext>
            </a:extLst>
          </p:cNvPr>
          <p:cNvSpPr/>
          <p:nvPr/>
        </p:nvSpPr>
        <p:spPr>
          <a:xfrm>
            <a:off x="3272499" y="5460646"/>
            <a:ext cx="268132" cy="306266"/>
          </a:xfrm>
          <a:prstGeom prst="sun">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Oval 6" descr="Blue circle at 6th point on x axis and 4th point on y axis.">
            <a:extLst>
              <a:ext uri="{FF2B5EF4-FFF2-40B4-BE49-F238E27FC236}">
                <a16:creationId xmlns:a16="http://schemas.microsoft.com/office/drawing/2014/main" id="{A8D557EE-09ED-5A43-E9EC-EF42DA410195}"/>
              </a:ext>
            </a:extLst>
          </p:cNvPr>
          <p:cNvSpPr/>
          <p:nvPr/>
        </p:nvSpPr>
        <p:spPr>
          <a:xfrm>
            <a:off x="9508385" y="3605234"/>
            <a:ext cx="220006" cy="2337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Isosceles Triangle 8" descr="Red triangle at 2nd point on x axis and 7th point on y axis.">
            <a:extLst>
              <a:ext uri="{FF2B5EF4-FFF2-40B4-BE49-F238E27FC236}">
                <a16:creationId xmlns:a16="http://schemas.microsoft.com/office/drawing/2014/main" id="{EECD0A18-E76B-BC7E-4FA5-6535ADC39337}"/>
              </a:ext>
            </a:extLst>
          </p:cNvPr>
          <p:cNvSpPr/>
          <p:nvPr/>
        </p:nvSpPr>
        <p:spPr>
          <a:xfrm>
            <a:off x="7438953" y="2041931"/>
            <a:ext cx="295633" cy="254382"/>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Heart 10" descr="Blue heart at 4th point on x axis and 3rd point on y axis.">
            <a:extLst>
              <a:ext uri="{FF2B5EF4-FFF2-40B4-BE49-F238E27FC236}">
                <a16:creationId xmlns:a16="http://schemas.microsoft.com/office/drawing/2014/main" id="{E868C64E-4B93-915A-FED2-4CD37709A155}"/>
              </a:ext>
            </a:extLst>
          </p:cNvPr>
          <p:cNvSpPr/>
          <p:nvPr/>
        </p:nvSpPr>
        <p:spPr>
          <a:xfrm>
            <a:off x="8497732" y="4113997"/>
            <a:ext cx="213131" cy="231122"/>
          </a:xfrm>
          <a:prstGeom prst="hear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Smiley Face 12" descr="Pink smiley face at first point on x axis and 2nd point on y axis.">
            <a:extLst>
              <a:ext uri="{FF2B5EF4-FFF2-40B4-BE49-F238E27FC236}">
                <a16:creationId xmlns:a16="http://schemas.microsoft.com/office/drawing/2014/main" id="{17BF7915-0F54-D572-ADA2-936A7C2FF0C3}"/>
              </a:ext>
            </a:extLst>
          </p:cNvPr>
          <p:cNvSpPr/>
          <p:nvPr/>
        </p:nvSpPr>
        <p:spPr>
          <a:xfrm>
            <a:off x="6985191" y="4605398"/>
            <a:ext cx="226882" cy="240462"/>
          </a:xfrm>
          <a:prstGeom prst="smileyFac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Sun 14" descr="Blue sun at the 7th point on the x axis and 1st on the y axis.">
            <a:extLst>
              <a:ext uri="{FF2B5EF4-FFF2-40B4-BE49-F238E27FC236}">
                <a16:creationId xmlns:a16="http://schemas.microsoft.com/office/drawing/2014/main" id="{A000661C-4F05-3452-A618-9CE365793AA9}"/>
              </a:ext>
              <a:ext uri="{C183D7F6-B498-43B3-948B-1728B52AA6E4}">
                <adec:decorative xmlns:adec="http://schemas.microsoft.com/office/drawing/2017/decorative" val="0"/>
              </a:ext>
            </a:extLst>
          </p:cNvPr>
          <p:cNvSpPr/>
          <p:nvPr/>
        </p:nvSpPr>
        <p:spPr>
          <a:xfrm>
            <a:off x="9982772" y="5079954"/>
            <a:ext cx="268132" cy="306266"/>
          </a:xfrm>
          <a:prstGeom prst="sun">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5" name="TextBox 4">
            <a:extLst>
              <a:ext uri="{FF2B5EF4-FFF2-40B4-BE49-F238E27FC236}">
                <a16:creationId xmlns:a16="http://schemas.microsoft.com/office/drawing/2014/main" id="{3D32DB56-3B44-5408-37B6-27C2DBA08E21}"/>
              </a:ext>
            </a:extLst>
          </p:cNvPr>
          <p:cNvSpPr txBox="1"/>
          <p:nvPr/>
        </p:nvSpPr>
        <p:spPr>
          <a:xfrm>
            <a:off x="165004" y="1403394"/>
            <a:ext cx="11570941" cy="4517968"/>
          </a:xfrm>
          <a:prstGeom prst="rect">
            <a:avLst/>
          </a:prstGeom>
          <a:noFill/>
        </p:spPr>
        <p:txBody>
          <a:bodyPr wrap="square">
            <a:spAutoFit/>
          </a:bodyPr>
          <a:lstStyle/>
          <a:p>
            <a:pPr lvl="0" algn="ctr">
              <a:lnSpc>
                <a:spcPct val="150000"/>
              </a:lnSpc>
            </a:pPr>
            <a:r>
              <a:rPr lang="en-AU" sz="4000" dirty="0"/>
              <a:t>Use </a:t>
            </a:r>
            <a:r>
              <a:rPr lang="en-AU" sz="4000" b="1" dirty="0"/>
              <a:t>mental strategies </a:t>
            </a:r>
            <a:r>
              <a:rPr lang="en-AU" sz="4000" dirty="0"/>
              <a:t>to calculate the following:</a:t>
            </a:r>
          </a:p>
          <a:p>
            <a:pPr marL="342900" lvl="0" indent="-342900" algn="ctr">
              <a:lnSpc>
                <a:spcPct val="200000"/>
              </a:lnSpc>
              <a:buFont typeface="Arial" panose="020B0604020202020204" pitchFamily="34" charset="0"/>
              <a:buChar char="•"/>
            </a:pPr>
            <a:r>
              <a:rPr lang="en-AU" sz="4000" dirty="0"/>
              <a:t>  50 × 7</a:t>
            </a:r>
          </a:p>
          <a:p>
            <a:pPr marL="342900" lvl="0" indent="-342900" algn="ctr">
              <a:lnSpc>
                <a:spcPct val="200000"/>
              </a:lnSpc>
              <a:buFont typeface="Arial" panose="020B0604020202020204" pitchFamily="34" charset="0"/>
              <a:buChar char="•"/>
            </a:pPr>
            <a:r>
              <a:rPr lang="en-AU" sz="4000" dirty="0"/>
              <a:t>  900 × 4</a:t>
            </a:r>
          </a:p>
          <a:p>
            <a:pPr marL="342900" lvl="0" indent="-342900" algn="ctr">
              <a:lnSpc>
                <a:spcPct val="200000"/>
              </a:lnSpc>
              <a:buFont typeface="Arial" panose="020B0604020202020204" pitchFamily="34" charset="0"/>
              <a:buChar char="•"/>
            </a:pPr>
            <a:r>
              <a:rPr lang="en-AU" sz="4000" dirty="0"/>
              <a:t>  8000 × 6</a:t>
            </a:r>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9FB74558-1EF3-578E-7E49-A614A25E0E0F}"/>
              </a:ext>
            </a:extLst>
          </p:cNvPr>
          <p:cNvSpPr txBox="1"/>
          <p:nvPr/>
        </p:nvSpPr>
        <p:spPr>
          <a:xfrm>
            <a:off x="106461" y="865899"/>
            <a:ext cx="11585976" cy="1624547"/>
          </a:xfrm>
          <a:prstGeom prst="rect">
            <a:avLst/>
          </a:prstGeom>
          <a:noFill/>
        </p:spPr>
        <p:txBody>
          <a:bodyPr wrap="square" lIns="0" tIns="0" rIns="0" bIns="0" rtlCol="0">
            <a:noAutofit/>
          </a:bodyPr>
          <a:lstStyle/>
          <a:p>
            <a:pPr marL="342900" lvl="0" indent="-342900" algn="ctr">
              <a:lnSpc>
                <a:spcPct val="200000"/>
              </a:lnSpc>
              <a:buFont typeface="Arial" panose="020B0604020202020204" pitchFamily="34" charset="0"/>
              <a:buChar char="•"/>
            </a:pPr>
            <a:r>
              <a:rPr lang="en-AU" sz="2800" dirty="0"/>
              <a:t>What is the value of the digit in the </a:t>
            </a:r>
            <a:r>
              <a:rPr lang="en-AU" sz="2800" b="1" dirty="0"/>
              <a:t>tenths</a:t>
            </a:r>
            <a:r>
              <a:rPr lang="en-AU" sz="2800" dirty="0"/>
              <a:t> place?</a:t>
            </a:r>
          </a:p>
          <a:p>
            <a:pPr marL="342900" lvl="0" indent="-342900" algn="ctr">
              <a:lnSpc>
                <a:spcPct val="200000"/>
              </a:lnSpc>
              <a:buFont typeface="Arial" panose="020B0604020202020204" pitchFamily="34" charset="0"/>
              <a:buChar char="•"/>
            </a:pPr>
            <a:r>
              <a:rPr lang="en-AU" sz="2800" dirty="0"/>
              <a:t>What is the value of the digit in the </a:t>
            </a:r>
            <a:r>
              <a:rPr lang="en-AU" sz="2800" b="1" dirty="0"/>
              <a:t>hundredths</a:t>
            </a:r>
            <a:r>
              <a:rPr lang="en-AU" sz="2800" dirty="0"/>
              <a:t> place?</a:t>
            </a:r>
          </a:p>
          <a:p>
            <a:pPr marL="342900" lvl="0" indent="-342900" algn="ctr">
              <a:lnSpc>
                <a:spcPct val="200000"/>
              </a:lnSpc>
              <a:buFont typeface="Arial" panose="020B0604020202020204" pitchFamily="34" charset="0"/>
              <a:buChar char="•"/>
            </a:pPr>
            <a:r>
              <a:rPr lang="en-AU" sz="2800" dirty="0"/>
              <a:t>What is the value of the digit in the </a:t>
            </a:r>
            <a:r>
              <a:rPr lang="en-AU" sz="2800" b="1" dirty="0"/>
              <a:t>thousandths</a:t>
            </a:r>
            <a:r>
              <a:rPr lang="en-AU" sz="2800" dirty="0"/>
              <a:t> place?</a:t>
            </a:r>
          </a:p>
        </p:txBody>
      </p:sp>
      <p:pic>
        <p:nvPicPr>
          <p:cNvPr id="5" name="Picture 4" descr="A place value house displaying the number: 6.528.">
            <a:extLst>
              <a:ext uri="{FF2B5EF4-FFF2-40B4-BE49-F238E27FC236}">
                <a16:creationId xmlns:a16="http://schemas.microsoft.com/office/drawing/2014/main" id="{302AEE8A-FDCD-437D-AAFC-048B88CB8620}"/>
              </a:ext>
            </a:extLst>
          </p:cNvPr>
          <p:cNvPicPr>
            <a:picLocks noChangeAspect="1"/>
          </p:cNvPicPr>
          <p:nvPr/>
        </p:nvPicPr>
        <p:blipFill>
          <a:blip r:embed="rId4"/>
          <a:stretch>
            <a:fillRect/>
          </a:stretch>
        </p:blipFill>
        <p:spPr>
          <a:xfrm>
            <a:off x="674899" y="3518049"/>
            <a:ext cx="10449101" cy="3177951"/>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6578"/>
            <a:ext cx="10367268" cy="545601"/>
          </a:xfrm>
        </p:spPr>
        <p:txBody>
          <a:bodyPr/>
          <a:lstStyle/>
          <a:p>
            <a:r>
              <a:rPr lang="en-AU" dirty="0"/>
              <a:t>Short response</a:t>
            </a:r>
            <a:r>
              <a:rPr lang="en-AU" dirty="0">
                <a:solidFill>
                  <a:schemeClr val="bg1"/>
                </a:solidFill>
              </a:rPr>
              <a:t> (12)</a:t>
            </a:r>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6" name="TextBox 65">
            <a:extLst>
              <a:ext uri="{FF2B5EF4-FFF2-40B4-BE49-F238E27FC236}">
                <a16:creationId xmlns:a16="http://schemas.microsoft.com/office/drawing/2014/main" id="{AE57EF41-813F-51E7-63B7-A3F55A0069E8}"/>
              </a:ext>
            </a:extLst>
          </p:cNvPr>
          <p:cNvSpPr txBox="1"/>
          <p:nvPr/>
        </p:nvSpPr>
        <p:spPr>
          <a:xfrm>
            <a:off x="360000" y="1184223"/>
            <a:ext cx="6129700" cy="5307199"/>
          </a:xfrm>
          <a:prstGeom prst="rect">
            <a:avLst/>
          </a:prstGeom>
          <a:noFill/>
        </p:spPr>
        <p:txBody>
          <a:bodyPr wrap="square" lIns="0" tIns="0" rIns="0" bIns="0" rtlCol="0">
            <a:noAutofit/>
          </a:bodyPr>
          <a:lstStyle/>
          <a:p>
            <a:pPr algn="ctr">
              <a:lnSpc>
                <a:spcPct val="150000"/>
              </a:lnSpc>
            </a:pPr>
            <a:r>
              <a:rPr lang="en-AU" sz="4000" dirty="0"/>
              <a:t>Describe the amount of rotation using the terms:</a:t>
            </a:r>
          </a:p>
          <a:p>
            <a:pPr marL="457200" indent="-457200" algn="ctr">
              <a:lnSpc>
                <a:spcPct val="150000"/>
              </a:lnSpc>
              <a:buFont typeface="Arial" panose="020B0604020202020204" pitchFamily="34" charset="0"/>
              <a:buChar char="•"/>
            </a:pPr>
            <a:r>
              <a:rPr lang="en-AU" sz="4000" dirty="0"/>
              <a:t>quarter-turn</a:t>
            </a:r>
          </a:p>
          <a:p>
            <a:pPr marL="457200" indent="-457200" algn="ctr">
              <a:lnSpc>
                <a:spcPct val="150000"/>
              </a:lnSpc>
              <a:buFont typeface="Arial" panose="020B0604020202020204" pitchFamily="34" charset="0"/>
              <a:buChar char="•"/>
            </a:pPr>
            <a:r>
              <a:rPr lang="en-AU" sz="4000" dirty="0"/>
              <a:t>half-turn</a:t>
            </a:r>
          </a:p>
          <a:p>
            <a:pPr marL="457200" indent="-457200" algn="ctr">
              <a:lnSpc>
                <a:spcPct val="150000"/>
              </a:lnSpc>
              <a:buFont typeface="Arial" panose="020B0604020202020204" pitchFamily="34" charset="0"/>
              <a:buChar char="•"/>
            </a:pPr>
            <a:r>
              <a:rPr lang="en-AU" sz="4000" dirty="0"/>
              <a:t>three-quarter turn</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69" name="Picture 68" descr="A diagram with 3 labelled rows: a, b and c. Each row shows a purple triangle with a black dot, then a curved arrow, then the same triangle shown in a new position or orientation.&#10;&#10;a. The first triangle is on the left with its dot near the lower right corner. The second triangle has the dot in the bottom left. A curved arrow between them shows the shape turning.&#10;&#10;b. The first triangle is on the left with its dot near the lower right corner. The second triangle is on the right with the dot at the top left left side. A curved arrow between them shows the shape turning.&#10;c. The first triangle is on the left with its dot near the lower right corner. The second triangle is on the right with the dot near the upper right. A circular curved arrow between them shows the shape turning.">
            <a:extLst>
              <a:ext uri="{FF2B5EF4-FFF2-40B4-BE49-F238E27FC236}">
                <a16:creationId xmlns:a16="http://schemas.microsoft.com/office/drawing/2014/main" id="{7E5A6F70-7267-90E0-6D68-1120DF4C696D}"/>
              </a:ext>
            </a:extLst>
          </p:cNvPr>
          <p:cNvPicPr>
            <a:picLocks noChangeAspect="1"/>
          </p:cNvPicPr>
          <p:nvPr/>
        </p:nvPicPr>
        <p:blipFill>
          <a:blip r:embed="rId4"/>
          <a:stretch>
            <a:fillRect/>
          </a:stretch>
        </p:blipFill>
        <p:spPr>
          <a:xfrm>
            <a:off x="6962568" y="1303630"/>
            <a:ext cx="4521432" cy="5092962"/>
          </a:xfrm>
          <a:prstGeom prst="rect">
            <a:avLst/>
          </a:prstGeom>
        </p:spPr>
      </p:pic>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dirty="0"/>
              <a:t>Activity 3 – </a:t>
            </a:r>
            <a:r>
              <a:rPr lang="en-AU"/>
              <a:t>applying the common whole (one) when adding fractions</a:t>
            </a:r>
            <a:endParaRPr lang="en-AU" dirty="0"/>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25</a:t>
            </a:fld>
            <a:endParaRPr lang="en-AU"/>
          </a:p>
        </p:txBody>
      </p:sp>
      <p:pic>
        <p:nvPicPr>
          <p:cNvPr id="3" name="Picture 2" descr="An array of 24 identical plates arranged in four rows of 6. On each plate is a fraction of a slice of kiwifruit cut into quarters or halves. Ten of the plates are covered by a large black irregular shaped object that means you cannot tell what is on the plate.">
            <a:extLst>
              <a:ext uri="{FF2B5EF4-FFF2-40B4-BE49-F238E27FC236}">
                <a16:creationId xmlns:a16="http://schemas.microsoft.com/office/drawing/2014/main" id="{2C374E64-0D54-EFC2-D716-4179B4AE2B22}"/>
              </a:ext>
            </a:extLst>
          </p:cNvPr>
          <p:cNvPicPr>
            <a:picLocks noChangeAspect="1"/>
          </p:cNvPicPr>
          <p:nvPr/>
        </p:nvPicPr>
        <p:blipFill rotWithShape="1">
          <a:blip r:embed="rId4">
            <a:extLst>
              <a:ext uri="{28A0092B-C50C-407E-A947-70E740481C1C}">
                <a14:useLocalDpi xmlns:a14="http://schemas.microsoft.com/office/drawing/2010/main" val="0"/>
              </a:ext>
            </a:extLst>
          </a:blip>
          <a:srcRect l="5074"/>
          <a:stretch>
            <a:fillRect/>
          </a:stretch>
        </p:blipFill>
        <p:spPr bwMode="auto">
          <a:xfrm>
            <a:off x="2904814" y="1426194"/>
            <a:ext cx="6657476" cy="5171845"/>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dirty="0">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dirty="0"/>
              <a:t>True or false </a:t>
            </a:r>
            <a:r>
              <a:rPr lang="en-US" dirty="0">
                <a:solidFill>
                  <a:schemeClr val="bg1"/>
                </a:solidFill>
              </a:rPr>
              <a:t>(2)</a:t>
            </a:r>
          </a:p>
        </p:txBody>
      </p:sp>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600963" y="5663953"/>
            <a:ext cx="11243037" cy="893226"/>
          </a:xfrm>
        </p:spPr>
        <p:txBody>
          <a:bodyPr/>
          <a:lstStyle/>
          <a:p>
            <a:pPr algn="ctr"/>
            <a:r>
              <a:rPr lang="en-AU" sz="4400" b="1" dirty="0"/>
              <a:t>Communicate</a:t>
            </a:r>
            <a:r>
              <a:rPr lang="en-AU" sz="4400" dirty="0"/>
              <a:t> your reasoning.</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5" name="Text Placeholder 5">
            <a:extLst>
              <a:ext uri="{FF2B5EF4-FFF2-40B4-BE49-F238E27FC236}">
                <a16:creationId xmlns:a16="http://schemas.microsoft.com/office/drawing/2014/main" id="{80BF5114-A7C0-11D8-9AAA-309BB1779C80}"/>
              </a:ext>
            </a:extLst>
          </p:cNvPr>
          <p:cNvSpPr txBox="1">
            <a:spLocks/>
          </p:cNvSpPr>
          <p:nvPr/>
        </p:nvSpPr>
        <p:spPr>
          <a:xfrm>
            <a:off x="370642" y="933335"/>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All fractions have been ordered and placed correctly on the number line.</a:t>
            </a:r>
          </a:p>
        </p:txBody>
      </p:sp>
      <p:pic>
        <p:nvPicPr>
          <p:cNvPr id="22" name="Picture 21" descr="A number line labelled 0-1 with increments marked between 0 and half.">
            <a:extLst>
              <a:ext uri="{FF2B5EF4-FFF2-40B4-BE49-F238E27FC236}">
                <a16:creationId xmlns:a16="http://schemas.microsoft.com/office/drawing/2014/main" id="{FD172959-7C5C-E011-2BC1-BBA85CC12383}"/>
              </a:ext>
            </a:extLst>
          </p:cNvPr>
          <p:cNvPicPr>
            <a:picLocks noChangeAspect="1"/>
          </p:cNvPicPr>
          <p:nvPr/>
        </p:nvPicPr>
        <p:blipFill>
          <a:blip r:embed="rId4"/>
          <a:stretch>
            <a:fillRect/>
          </a:stretch>
        </p:blipFill>
        <p:spPr>
          <a:xfrm>
            <a:off x="1644924" y="3175808"/>
            <a:ext cx="9036514" cy="1454225"/>
          </a:xfrm>
          <a:prstGeom prst="rect">
            <a:avLst/>
          </a:prstGeom>
        </p:spPr>
      </p:pic>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79C5E5E-BA46-AB6C-A0F3-469D9C1CBD19}"/>
              </a:ext>
            </a:extLst>
          </p:cNvPr>
          <p:cNvSpPr txBox="1"/>
          <p:nvPr/>
        </p:nvSpPr>
        <p:spPr>
          <a:xfrm>
            <a:off x="194949" y="1184223"/>
            <a:ext cx="4594645" cy="5183891"/>
          </a:xfrm>
          <a:prstGeom prst="rect">
            <a:avLst/>
          </a:prstGeom>
          <a:noFill/>
        </p:spPr>
        <p:txBody>
          <a:bodyPr wrap="square" lIns="0" tIns="0" rIns="0" bIns="0" rtlCol="0">
            <a:noAutofit/>
          </a:bodyPr>
          <a:lstStyle/>
          <a:p>
            <a:pPr algn="ctr">
              <a:lnSpc>
                <a:spcPct val="150000"/>
              </a:lnSpc>
            </a:pPr>
            <a:r>
              <a:rPr lang="en-AU" sz="2800" dirty="0"/>
              <a:t>Record the coordinates of:</a:t>
            </a:r>
          </a:p>
          <a:p>
            <a:pPr algn="ctr">
              <a:lnSpc>
                <a:spcPct val="200000"/>
              </a:lnSpc>
            </a:pPr>
            <a:r>
              <a:rPr lang="en-AU" sz="2800" dirty="0"/>
              <a:t>a.</a:t>
            </a:r>
          </a:p>
          <a:p>
            <a:pPr algn="ctr">
              <a:lnSpc>
                <a:spcPct val="200000"/>
              </a:lnSpc>
            </a:pPr>
            <a:r>
              <a:rPr lang="en-AU" sz="2800" dirty="0"/>
              <a:t>b.</a:t>
            </a:r>
          </a:p>
          <a:p>
            <a:pPr algn="ctr">
              <a:lnSpc>
                <a:spcPct val="200000"/>
              </a:lnSpc>
            </a:pPr>
            <a:r>
              <a:rPr lang="en-AU" sz="2800" dirty="0"/>
              <a:t>c. </a:t>
            </a:r>
          </a:p>
          <a:p>
            <a:pPr algn="ctr">
              <a:lnSpc>
                <a:spcPct val="200000"/>
              </a:lnSpc>
            </a:pPr>
            <a:r>
              <a:rPr lang="en-AU" sz="2800" dirty="0"/>
              <a:t>d.</a:t>
            </a:r>
          </a:p>
          <a:p>
            <a:pPr algn="ctr">
              <a:lnSpc>
                <a:spcPct val="200000"/>
              </a:lnSpc>
            </a:pPr>
            <a:r>
              <a:rPr lang="en-AU" sz="2800" dirty="0"/>
              <a:t>e.</a:t>
            </a:r>
          </a:p>
          <a:p>
            <a:pPr algn="l">
              <a:lnSpc>
                <a:spcPct val="150000"/>
              </a:lnSpc>
            </a:pPr>
            <a:endParaRPr lang="en-AU" sz="2800" dirty="0"/>
          </a:p>
          <a:p>
            <a:pPr algn="l"/>
            <a:endParaRPr lang="en-AU" sz="2000" dirty="0"/>
          </a:p>
        </p:txBody>
      </p:sp>
      <p:sp>
        <p:nvSpPr>
          <p:cNvPr id="7" name="Oval 6" descr="Blue circle">
            <a:extLst>
              <a:ext uri="{FF2B5EF4-FFF2-40B4-BE49-F238E27FC236}">
                <a16:creationId xmlns:a16="http://schemas.microsoft.com/office/drawing/2014/main" id="{29B81C4C-0CB5-7DC6-A2D3-C2FFC5F54790}"/>
              </a:ext>
            </a:extLst>
          </p:cNvPr>
          <p:cNvSpPr/>
          <p:nvPr/>
        </p:nvSpPr>
        <p:spPr>
          <a:xfrm>
            <a:off x="2978746" y="2240037"/>
            <a:ext cx="220006" cy="2337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Isosceles Triangle 7" descr="Red triangle">
            <a:extLst>
              <a:ext uri="{FF2B5EF4-FFF2-40B4-BE49-F238E27FC236}">
                <a16:creationId xmlns:a16="http://schemas.microsoft.com/office/drawing/2014/main" id="{75C54FFD-04CC-D54F-FC34-26326585F194}"/>
              </a:ext>
            </a:extLst>
          </p:cNvPr>
          <p:cNvSpPr/>
          <p:nvPr/>
        </p:nvSpPr>
        <p:spPr>
          <a:xfrm>
            <a:off x="2960912" y="3048627"/>
            <a:ext cx="295633" cy="254382"/>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Heart 8" descr="Blue heart">
            <a:extLst>
              <a:ext uri="{FF2B5EF4-FFF2-40B4-BE49-F238E27FC236}">
                <a16:creationId xmlns:a16="http://schemas.microsoft.com/office/drawing/2014/main" id="{1E65CE24-EC06-E0F4-5A43-18E76728D3E0}"/>
              </a:ext>
            </a:extLst>
          </p:cNvPr>
          <p:cNvSpPr/>
          <p:nvPr/>
        </p:nvSpPr>
        <p:spPr>
          <a:xfrm>
            <a:off x="2979031" y="3904202"/>
            <a:ext cx="213131" cy="231122"/>
          </a:xfrm>
          <a:prstGeom prst="hear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Smiley Face 9" descr="Pink smiley face">
            <a:extLst>
              <a:ext uri="{FF2B5EF4-FFF2-40B4-BE49-F238E27FC236}">
                <a16:creationId xmlns:a16="http://schemas.microsoft.com/office/drawing/2014/main" id="{C5F6B11C-5B48-641A-54F0-328FA9F4DF03}"/>
              </a:ext>
            </a:extLst>
          </p:cNvPr>
          <p:cNvSpPr/>
          <p:nvPr/>
        </p:nvSpPr>
        <p:spPr>
          <a:xfrm>
            <a:off x="2987018" y="4767977"/>
            <a:ext cx="226882" cy="240462"/>
          </a:xfrm>
          <a:prstGeom prst="smileyFac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Sun 10" descr="Blue sun">
            <a:extLst>
              <a:ext uri="{FF2B5EF4-FFF2-40B4-BE49-F238E27FC236}">
                <a16:creationId xmlns:a16="http://schemas.microsoft.com/office/drawing/2014/main" id="{35115FF6-FA77-0326-F28B-30FCBCF3AD8A}"/>
              </a:ext>
            </a:extLst>
          </p:cNvPr>
          <p:cNvSpPr/>
          <p:nvPr/>
        </p:nvSpPr>
        <p:spPr>
          <a:xfrm>
            <a:off x="2974663" y="5641092"/>
            <a:ext cx="268132" cy="306266"/>
          </a:xfrm>
          <a:prstGeom prst="sun">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 name="Picture 3" descr="A Cartesian plan with grid lines. The x-axis is labelled -6 to 6, and y-axis is labelled -6 to 6.">
            <a:extLst>
              <a:ext uri="{FF2B5EF4-FFF2-40B4-BE49-F238E27FC236}">
                <a16:creationId xmlns:a16="http://schemas.microsoft.com/office/drawing/2014/main" id="{8A5B1C3A-2864-08D0-BADA-89460884F326}"/>
              </a:ext>
            </a:extLst>
          </p:cNvPr>
          <p:cNvPicPr>
            <a:picLocks noChangeAspect="1"/>
          </p:cNvPicPr>
          <p:nvPr/>
        </p:nvPicPr>
        <p:blipFill rotWithShape="1">
          <a:blip r:embed="rId4"/>
          <a:srcRect l="4853" t="-1" r="2797" b="3310"/>
          <a:stretch>
            <a:fillRect/>
          </a:stretch>
        </p:blipFill>
        <p:spPr bwMode="auto">
          <a:xfrm>
            <a:off x="5290673" y="905601"/>
            <a:ext cx="5626100" cy="5610860"/>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sp>
        <p:nvSpPr>
          <p:cNvPr id="12" name="Oval 11" descr="Blue circle at -3 point on x axis and -4 point on y axis.">
            <a:extLst>
              <a:ext uri="{FF2B5EF4-FFF2-40B4-BE49-F238E27FC236}">
                <a16:creationId xmlns:a16="http://schemas.microsoft.com/office/drawing/2014/main" id="{591C792B-C0D3-C36B-750F-4A0E992DA3A4}"/>
              </a:ext>
            </a:extLst>
          </p:cNvPr>
          <p:cNvSpPr/>
          <p:nvPr/>
        </p:nvSpPr>
        <p:spPr>
          <a:xfrm>
            <a:off x="6231212" y="4978692"/>
            <a:ext cx="220006" cy="2337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Isosceles Triangle 12" descr="Red triangle -3 point on x axis and 5 point on y axis.">
            <a:extLst>
              <a:ext uri="{FF2B5EF4-FFF2-40B4-BE49-F238E27FC236}">
                <a16:creationId xmlns:a16="http://schemas.microsoft.com/office/drawing/2014/main" id="{CB49B6B2-AA19-D1CB-4C48-E305426BD456}"/>
              </a:ext>
            </a:extLst>
          </p:cNvPr>
          <p:cNvSpPr/>
          <p:nvPr/>
        </p:nvSpPr>
        <p:spPr>
          <a:xfrm>
            <a:off x="6612784" y="1475310"/>
            <a:ext cx="295633" cy="254382"/>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Heart 13" descr="Blue heart -5 point on x axis and -2 point on y axis.">
            <a:extLst>
              <a:ext uri="{FF2B5EF4-FFF2-40B4-BE49-F238E27FC236}">
                <a16:creationId xmlns:a16="http://schemas.microsoft.com/office/drawing/2014/main" id="{95094091-6E3F-665D-CA02-1B3ABB414437}"/>
              </a:ext>
            </a:extLst>
          </p:cNvPr>
          <p:cNvSpPr/>
          <p:nvPr/>
        </p:nvSpPr>
        <p:spPr>
          <a:xfrm>
            <a:off x="7083734" y="5831797"/>
            <a:ext cx="213131" cy="231122"/>
          </a:xfrm>
          <a:prstGeom prst="hear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Smiley Face 14" descr="Pink smiley face -5 point on x axis and 2 point on y axis.">
            <a:extLst>
              <a:ext uri="{FF2B5EF4-FFF2-40B4-BE49-F238E27FC236}">
                <a16:creationId xmlns:a16="http://schemas.microsoft.com/office/drawing/2014/main" id="{FCB119FC-8E56-6EE8-C26F-BE0DEB1D5529}"/>
              </a:ext>
            </a:extLst>
          </p:cNvPr>
          <p:cNvSpPr/>
          <p:nvPr/>
        </p:nvSpPr>
        <p:spPr>
          <a:xfrm>
            <a:off x="5798074" y="2808165"/>
            <a:ext cx="226882" cy="240462"/>
          </a:xfrm>
          <a:prstGeom prst="smileyFac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Sun 15" descr="Blue sun 3 point on x axis and -2 point on y axis.">
            <a:extLst>
              <a:ext uri="{FF2B5EF4-FFF2-40B4-BE49-F238E27FC236}">
                <a16:creationId xmlns:a16="http://schemas.microsoft.com/office/drawing/2014/main" id="{B4BB06AE-0803-635C-450F-2F4E8B6CA800}"/>
              </a:ext>
            </a:extLst>
          </p:cNvPr>
          <p:cNvSpPr/>
          <p:nvPr/>
        </p:nvSpPr>
        <p:spPr>
          <a:xfrm>
            <a:off x="9207023" y="4510613"/>
            <a:ext cx="268132" cy="306266"/>
          </a:xfrm>
          <a:prstGeom prst="sun">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4" name="TextBox 3">
            <a:extLst>
              <a:ext uri="{FF2B5EF4-FFF2-40B4-BE49-F238E27FC236}">
                <a16:creationId xmlns:a16="http://schemas.microsoft.com/office/drawing/2014/main" id="{7FF6B858-7C32-8DE8-D860-46A3CE3E10A8}"/>
              </a:ext>
            </a:extLst>
          </p:cNvPr>
          <p:cNvSpPr txBox="1"/>
          <p:nvPr/>
        </p:nvSpPr>
        <p:spPr>
          <a:xfrm>
            <a:off x="360000" y="1408670"/>
            <a:ext cx="11484000" cy="4609071"/>
          </a:xfrm>
          <a:prstGeom prst="rect">
            <a:avLst/>
          </a:prstGeom>
          <a:noFill/>
        </p:spPr>
        <p:txBody>
          <a:bodyPr wrap="square" lIns="0" tIns="0" rIns="0" bIns="0" rtlCol="0">
            <a:noAutofit/>
          </a:bodyPr>
          <a:lstStyle/>
          <a:p>
            <a:pPr algn="ctr">
              <a:lnSpc>
                <a:spcPct val="150000"/>
              </a:lnSpc>
            </a:pPr>
            <a:r>
              <a:rPr lang="en-AU" sz="4400" dirty="0"/>
              <a:t>Draw </a:t>
            </a:r>
            <a:r>
              <a:rPr lang="en-AU" sz="4400" b="1" dirty="0"/>
              <a:t>the area model </a:t>
            </a:r>
            <a:r>
              <a:rPr lang="en-AU" sz="4400" dirty="0"/>
              <a:t>to solve:</a:t>
            </a:r>
          </a:p>
          <a:p>
            <a:pPr algn="ctr">
              <a:lnSpc>
                <a:spcPct val="150000"/>
              </a:lnSpc>
            </a:pPr>
            <a:endParaRPr lang="en-AU" sz="4400" dirty="0"/>
          </a:p>
          <a:p>
            <a:pPr algn="ctr">
              <a:lnSpc>
                <a:spcPct val="150000"/>
              </a:lnSpc>
            </a:pPr>
            <a:r>
              <a:rPr lang="en-AU" sz="6600" dirty="0"/>
              <a:t>94 × 7</a:t>
            </a:r>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4" name="TextBox 3">
            <a:extLst>
              <a:ext uri="{FF2B5EF4-FFF2-40B4-BE49-F238E27FC236}">
                <a16:creationId xmlns:a16="http://schemas.microsoft.com/office/drawing/2014/main" id="{75C3EFD0-3777-DAFD-92F3-6B5150E202D4}"/>
              </a:ext>
            </a:extLst>
          </p:cNvPr>
          <p:cNvSpPr txBox="1"/>
          <p:nvPr/>
        </p:nvSpPr>
        <p:spPr>
          <a:xfrm>
            <a:off x="360000" y="1184223"/>
            <a:ext cx="11585976" cy="1509550"/>
          </a:xfrm>
          <a:prstGeom prst="rect">
            <a:avLst/>
          </a:prstGeom>
          <a:noFill/>
        </p:spPr>
        <p:txBody>
          <a:bodyPr wrap="square" lIns="0" tIns="0" rIns="0" bIns="0" rtlCol="0">
            <a:noAutofit/>
          </a:bodyPr>
          <a:lstStyle/>
          <a:p>
            <a:pPr algn="ctr">
              <a:lnSpc>
                <a:spcPct val="150000"/>
              </a:lnSpc>
            </a:pPr>
            <a:r>
              <a:rPr lang="en-AU" sz="4400" dirty="0"/>
              <a:t>Arrange the following decimals in </a:t>
            </a:r>
          </a:p>
          <a:p>
            <a:pPr algn="ctr">
              <a:lnSpc>
                <a:spcPct val="150000"/>
              </a:lnSpc>
            </a:pPr>
            <a:r>
              <a:rPr lang="en-AU" sz="4400" b="1" dirty="0"/>
              <a:t>ascending order</a:t>
            </a:r>
            <a:r>
              <a:rPr lang="en-AU" sz="4400" dirty="0"/>
              <a:t>:</a:t>
            </a:r>
          </a:p>
          <a:p>
            <a:pPr algn="ctr"/>
            <a:endParaRPr lang="en-AU" sz="4400" dirty="0"/>
          </a:p>
        </p:txBody>
      </p:sp>
      <p:sp>
        <p:nvSpPr>
          <p:cNvPr id="15" name="Rectangle: Rounded Corners 14">
            <a:extLst>
              <a:ext uri="{FF2B5EF4-FFF2-40B4-BE49-F238E27FC236}">
                <a16:creationId xmlns:a16="http://schemas.microsoft.com/office/drawing/2014/main" id="{671722FC-858C-F023-2D26-F82D6289171A}"/>
              </a:ext>
            </a:extLst>
          </p:cNvPr>
          <p:cNvSpPr/>
          <p:nvPr/>
        </p:nvSpPr>
        <p:spPr>
          <a:xfrm>
            <a:off x="683789" y="4008907"/>
            <a:ext cx="2277322" cy="1018809"/>
          </a:xfrm>
          <a:prstGeom prst="roundRect">
            <a:avLst/>
          </a:prstGeom>
          <a:solidFill>
            <a:schemeClr val="accent4"/>
          </a:solid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200" b="1" dirty="0">
                <a:solidFill>
                  <a:schemeClr val="accent1"/>
                </a:solidFill>
              </a:rPr>
              <a:t>2.935</a:t>
            </a:r>
          </a:p>
        </p:txBody>
      </p:sp>
      <p:sp>
        <p:nvSpPr>
          <p:cNvPr id="14" name="Rectangle: Rounded Corners 13">
            <a:extLst>
              <a:ext uri="{FF2B5EF4-FFF2-40B4-BE49-F238E27FC236}">
                <a16:creationId xmlns:a16="http://schemas.microsoft.com/office/drawing/2014/main" id="{A34EC849-3D3B-D791-52AD-B0D686283A41}"/>
              </a:ext>
            </a:extLst>
          </p:cNvPr>
          <p:cNvSpPr/>
          <p:nvPr/>
        </p:nvSpPr>
        <p:spPr>
          <a:xfrm>
            <a:off x="3581506" y="4008907"/>
            <a:ext cx="2277322" cy="1018809"/>
          </a:xfrm>
          <a:prstGeom prst="roundRect">
            <a:avLst/>
          </a:prstGeom>
          <a:solidFill>
            <a:schemeClr val="accent4"/>
          </a:solid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200" b="1" dirty="0">
                <a:solidFill>
                  <a:schemeClr val="accent1"/>
                </a:solidFill>
              </a:rPr>
              <a:t>2.041</a:t>
            </a:r>
          </a:p>
        </p:txBody>
      </p:sp>
      <p:sp>
        <p:nvSpPr>
          <p:cNvPr id="17" name="Rectangle: Rounded Corners 16">
            <a:extLst>
              <a:ext uri="{FF2B5EF4-FFF2-40B4-BE49-F238E27FC236}">
                <a16:creationId xmlns:a16="http://schemas.microsoft.com/office/drawing/2014/main" id="{0BD7B4A9-79E4-7103-C8B0-4510C201C934}"/>
              </a:ext>
            </a:extLst>
          </p:cNvPr>
          <p:cNvSpPr/>
          <p:nvPr/>
        </p:nvSpPr>
        <p:spPr>
          <a:xfrm>
            <a:off x="6479223" y="4008907"/>
            <a:ext cx="2277322" cy="1018809"/>
          </a:xfrm>
          <a:prstGeom prst="roundRect">
            <a:avLst/>
          </a:prstGeom>
          <a:solidFill>
            <a:schemeClr val="accent4"/>
          </a:solid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200" b="1" dirty="0">
                <a:solidFill>
                  <a:schemeClr val="accent1"/>
                </a:solidFill>
              </a:rPr>
              <a:t>2.608</a:t>
            </a:r>
          </a:p>
        </p:txBody>
      </p:sp>
      <p:sp>
        <p:nvSpPr>
          <p:cNvPr id="16" name="Rectangle: Rounded Corners 15">
            <a:extLst>
              <a:ext uri="{FF2B5EF4-FFF2-40B4-BE49-F238E27FC236}">
                <a16:creationId xmlns:a16="http://schemas.microsoft.com/office/drawing/2014/main" id="{BE8C74AA-309F-6605-8FC9-AA1F09936CA2}"/>
              </a:ext>
            </a:extLst>
          </p:cNvPr>
          <p:cNvSpPr/>
          <p:nvPr/>
        </p:nvSpPr>
        <p:spPr>
          <a:xfrm>
            <a:off x="9376939" y="4008907"/>
            <a:ext cx="2277322" cy="1018809"/>
          </a:xfrm>
          <a:prstGeom prst="roundRect">
            <a:avLst/>
          </a:prstGeom>
          <a:solidFill>
            <a:schemeClr val="accent4"/>
          </a:solid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200" b="1" dirty="0">
                <a:solidFill>
                  <a:schemeClr val="accent1"/>
                </a:solidFill>
              </a:rPr>
              <a:t>2.47</a:t>
            </a:r>
            <a:endParaRPr lang="en-AU" sz="4000" b="1" dirty="0">
              <a:solidFill>
                <a:schemeClr val="accent1"/>
              </a:solidFill>
            </a:endParaRPr>
          </a:p>
        </p:txBody>
      </p:sp>
      <p:sp>
        <p:nvSpPr>
          <p:cNvPr id="18" name="Text Placeholder 5">
            <a:extLst>
              <a:ext uri="{FF2B5EF4-FFF2-40B4-BE49-F238E27FC236}">
                <a16:creationId xmlns:a16="http://schemas.microsoft.com/office/drawing/2014/main" id="{2A22BB0C-874A-E786-7106-B586EB6BD222}"/>
              </a:ext>
            </a:extLst>
          </p:cNvPr>
          <p:cNvSpPr txBox="1">
            <a:spLocks/>
          </p:cNvSpPr>
          <p:nvPr/>
        </p:nvSpPr>
        <p:spPr>
          <a:xfrm>
            <a:off x="948963" y="5673777"/>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t>Communicate</a:t>
            </a:r>
            <a:r>
              <a:rPr lang="en-AU" sz="4400" dirty="0"/>
              <a:t> your </a:t>
            </a:r>
            <a:r>
              <a:rPr lang="en-AU" sz="4400" b="1" dirty="0"/>
              <a:t>reasoning</a:t>
            </a:r>
            <a:r>
              <a:rPr lang="en-AU" sz="4400" dirty="0"/>
              <a:t>.</a:t>
            </a:r>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4" name="TextBox 3">
            <a:extLst>
              <a:ext uri="{FF2B5EF4-FFF2-40B4-BE49-F238E27FC236}">
                <a16:creationId xmlns:a16="http://schemas.microsoft.com/office/drawing/2014/main" id="{F4A422D2-AF7A-9B7D-DADB-8B123ADCA491}"/>
              </a:ext>
            </a:extLst>
          </p:cNvPr>
          <p:cNvSpPr txBox="1"/>
          <p:nvPr/>
        </p:nvSpPr>
        <p:spPr>
          <a:xfrm>
            <a:off x="663208" y="1184223"/>
            <a:ext cx="10367268" cy="1635177"/>
          </a:xfrm>
          <a:prstGeom prst="rect">
            <a:avLst/>
          </a:prstGeom>
          <a:noFill/>
        </p:spPr>
        <p:txBody>
          <a:bodyPr wrap="square" lIns="0" tIns="0" rIns="0" bIns="0" rtlCol="0">
            <a:noAutofit/>
          </a:bodyPr>
          <a:lstStyle/>
          <a:p>
            <a:pPr algn="ctr">
              <a:lnSpc>
                <a:spcPct val="150000"/>
              </a:lnSpc>
            </a:pPr>
            <a:r>
              <a:rPr lang="en-AU" sz="2800" dirty="0"/>
              <a:t>These shapes with a </a:t>
            </a:r>
            <a:r>
              <a:rPr lang="en-AU" sz="2800" b="1" dirty="0"/>
              <a:t>square-centimetre</a:t>
            </a:r>
            <a:r>
              <a:rPr lang="en-AU" sz="2800" dirty="0"/>
              <a:t> grid overlay on them have been torn. Calculate the </a:t>
            </a:r>
            <a:r>
              <a:rPr lang="en-AU" sz="2800" b="1" dirty="0"/>
              <a:t>area</a:t>
            </a:r>
            <a:r>
              <a:rPr lang="en-AU" sz="2800" dirty="0"/>
              <a:t> of each of the shapes.  </a:t>
            </a:r>
          </a:p>
        </p:txBody>
      </p:sp>
      <p:pic>
        <p:nvPicPr>
          <p:cNvPr id="7" name="Picture 6" descr="3 different coloured grid arrays, all with sections missing. &#10;1. a 5 x 6 green rectangle.&#10;2. an L-composite orange shape with 2 rows of 6 and then 3 rows of 3.&#10;3. a composite purple shape with one row of 3, 2 rows of 6 and another row of 3.">
            <a:extLst>
              <a:ext uri="{FF2B5EF4-FFF2-40B4-BE49-F238E27FC236}">
                <a16:creationId xmlns:a16="http://schemas.microsoft.com/office/drawing/2014/main" id="{9FBDA112-DFE8-4D30-FBD3-6CA98CB85EC9}"/>
              </a:ext>
            </a:extLst>
          </p:cNvPr>
          <p:cNvPicPr>
            <a:picLocks noChangeAspect="1"/>
          </p:cNvPicPr>
          <p:nvPr/>
        </p:nvPicPr>
        <p:blipFill>
          <a:blip r:embed="rId4"/>
          <a:stretch>
            <a:fillRect/>
          </a:stretch>
        </p:blipFill>
        <p:spPr>
          <a:xfrm>
            <a:off x="399757" y="2663731"/>
            <a:ext cx="11392485" cy="366413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dirty="0"/>
              <a:t>Activity 4 – </a:t>
            </a:r>
            <a:r>
              <a:rPr lang="en-AU"/>
              <a:t>comparing and ordering unit fractions on a number line</a:t>
            </a:r>
            <a:endParaRPr lang="en-AU" dirty="0"/>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6" name="TextBox 25">
            <a:extLst>
              <a:ext uri="{FF2B5EF4-FFF2-40B4-BE49-F238E27FC236}">
                <a16:creationId xmlns:a16="http://schemas.microsoft.com/office/drawing/2014/main" id="{112759B1-71F1-DBAE-D5EE-C6024580CA4B}"/>
              </a:ext>
            </a:extLst>
          </p:cNvPr>
          <p:cNvSpPr txBox="1"/>
          <p:nvPr/>
        </p:nvSpPr>
        <p:spPr>
          <a:xfrm>
            <a:off x="594268" y="1739364"/>
            <a:ext cx="4454922" cy="618426"/>
          </a:xfrm>
          <a:prstGeom prst="rect">
            <a:avLst/>
          </a:prstGeom>
          <a:noFill/>
        </p:spPr>
        <p:txBody>
          <a:bodyPr wrap="square" lIns="0" tIns="0" rIns="0" bIns="0" rtlCol="0">
            <a:noAutofit/>
          </a:bodyPr>
          <a:lstStyle/>
          <a:p>
            <a:pPr algn="l"/>
            <a:r>
              <a:rPr lang="en-AU" sz="4000"/>
              <a:t>Draw and label:</a:t>
            </a:r>
          </a:p>
        </p:txBody>
      </p:sp>
      <p:sp>
        <p:nvSpPr>
          <p:cNvPr id="27" name="TextBox 26">
            <a:extLst>
              <a:ext uri="{FF2B5EF4-FFF2-40B4-BE49-F238E27FC236}">
                <a16:creationId xmlns:a16="http://schemas.microsoft.com/office/drawing/2014/main" id="{ADB39C85-76DA-B228-0B97-D1B0241893E4}"/>
              </a:ext>
            </a:extLst>
          </p:cNvPr>
          <p:cNvSpPr txBox="1"/>
          <p:nvPr/>
        </p:nvSpPr>
        <p:spPr>
          <a:xfrm>
            <a:off x="6096000" y="1549194"/>
            <a:ext cx="5731003" cy="618426"/>
          </a:xfrm>
          <a:prstGeom prst="rect">
            <a:avLst/>
          </a:prstGeom>
          <a:noFill/>
        </p:spPr>
        <p:txBody>
          <a:bodyPr wrap="square" lIns="0" tIns="0" rIns="0" bIns="0" rtlCol="0">
            <a:noAutofit/>
          </a:bodyPr>
          <a:lstStyle/>
          <a:p>
            <a:pPr algn="l">
              <a:lnSpc>
                <a:spcPct val="150000"/>
              </a:lnSpc>
            </a:pPr>
            <a:r>
              <a:rPr lang="en-AU" sz="4000" dirty="0"/>
              <a:t>Order and write:</a:t>
            </a:r>
          </a:p>
          <a:p>
            <a:pPr marL="342900" lvl="0" indent="-342900">
              <a:lnSpc>
                <a:spcPct val="150000"/>
              </a:lnSpc>
              <a:buFont typeface="Arial" panose="020B0604020202020204" pitchFamily="34" charset="0"/>
              <a:buChar char="•"/>
            </a:pPr>
            <a:r>
              <a:rPr lang="en-AU" b="1" dirty="0"/>
              <a:t>half</a:t>
            </a:r>
            <a:r>
              <a:rPr lang="en-AU" dirty="0"/>
              <a:t>, </a:t>
            </a:r>
            <a:r>
              <a:rPr lang="en-AU" b="1" dirty="0"/>
              <a:t>quarters</a:t>
            </a:r>
            <a:r>
              <a:rPr lang="en-AU" dirty="0"/>
              <a:t> and </a:t>
            </a:r>
            <a:r>
              <a:rPr lang="en-AU" b="1" dirty="0"/>
              <a:t>eighths</a:t>
            </a:r>
            <a:r>
              <a:rPr lang="en-AU" dirty="0"/>
              <a:t> on the first number line</a:t>
            </a:r>
          </a:p>
          <a:p>
            <a:pPr lvl="0">
              <a:lnSpc>
                <a:spcPct val="150000"/>
              </a:lnSpc>
            </a:pPr>
            <a:endParaRPr lang="en-AU" sz="1050" dirty="0"/>
          </a:p>
          <a:p>
            <a:pPr marL="342900" lvl="0" indent="-342900">
              <a:lnSpc>
                <a:spcPct val="150000"/>
              </a:lnSpc>
              <a:buFont typeface="Arial" panose="020B0604020202020204" pitchFamily="34" charset="0"/>
              <a:buChar char="•"/>
            </a:pPr>
            <a:r>
              <a:rPr lang="en-AU" b="1" dirty="0"/>
              <a:t>thirds</a:t>
            </a:r>
            <a:r>
              <a:rPr lang="en-AU" dirty="0"/>
              <a:t> and </a:t>
            </a:r>
            <a:r>
              <a:rPr lang="en-AU" b="1" dirty="0"/>
              <a:t>sixths</a:t>
            </a:r>
            <a:r>
              <a:rPr lang="en-AU" dirty="0"/>
              <a:t> on the second number line</a:t>
            </a:r>
          </a:p>
          <a:p>
            <a:pPr lvl="0">
              <a:lnSpc>
                <a:spcPct val="150000"/>
              </a:lnSpc>
            </a:pPr>
            <a:endParaRPr lang="en-AU" sz="1200" dirty="0"/>
          </a:p>
          <a:p>
            <a:pPr marL="342900" lvl="0" indent="-342900">
              <a:lnSpc>
                <a:spcPct val="150000"/>
              </a:lnSpc>
              <a:buFont typeface="Arial" panose="020B0604020202020204" pitchFamily="34" charset="0"/>
              <a:buChar char="•"/>
            </a:pPr>
            <a:r>
              <a:rPr lang="en-AU" b="1" dirty="0"/>
              <a:t>fifths</a:t>
            </a:r>
            <a:r>
              <a:rPr lang="en-AU" dirty="0"/>
              <a:t> and </a:t>
            </a:r>
            <a:r>
              <a:rPr lang="en-AU" b="1" dirty="0"/>
              <a:t>tenths</a:t>
            </a:r>
            <a:r>
              <a:rPr lang="en-AU" dirty="0"/>
              <a:t> on the third number line.</a:t>
            </a:r>
          </a:p>
          <a:p>
            <a:pPr marL="571500" indent="-571500" algn="l">
              <a:buFont typeface="Arial" panose="020B0604020202020204" pitchFamily="34" charset="0"/>
              <a:buChar char="•"/>
            </a:pPr>
            <a:endParaRPr lang="en-AU" sz="4000" dirty="0"/>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pic>
        <p:nvPicPr>
          <p:cNvPr id="14" name="Picture 13" descr="Three separate number lines marked 0-1.">
            <a:extLst>
              <a:ext uri="{FF2B5EF4-FFF2-40B4-BE49-F238E27FC236}">
                <a16:creationId xmlns:a16="http://schemas.microsoft.com/office/drawing/2014/main" id="{F748B388-2AC2-ABC3-4BC5-A0F83261E7FE}"/>
              </a:ext>
            </a:extLst>
          </p:cNvPr>
          <p:cNvPicPr>
            <a:picLocks noChangeAspect="1"/>
          </p:cNvPicPr>
          <p:nvPr/>
        </p:nvPicPr>
        <p:blipFill>
          <a:blip r:embed="rId4"/>
          <a:stretch>
            <a:fillRect/>
          </a:stretch>
        </p:blipFill>
        <p:spPr>
          <a:xfrm>
            <a:off x="180865" y="2357790"/>
            <a:ext cx="5425954" cy="3890610"/>
          </a:xfrm>
          <a:prstGeom prst="rect">
            <a:avLst/>
          </a:prstGeom>
        </p:spPr>
      </p:pic>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dirty="0">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pic>
        <p:nvPicPr>
          <p:cNvPr id="28" name="Picture 27" descr="Place value houses - 3  columns (H,T,O) for each house ones, thousands, millions and billions.">
            <a:extLst>
              <a:ext uri="{FF2B5EF4-FFF2-40B4-BE49-F238E27FC236}">
                <a16:creationId xmlns:a16="http://schemas.microsoft.com/office/drawing/2014/main" id="{600705CC-248B-8B12-E6DD-FEF1DDFD078C}"/>
              </a:ext>
            </a:extLst>
          </p:cNvPr>
          <p:cNvPicPr>
            <a:picLocks noChangeAspect="1"/>
          </p:cNvPicPr>
          <p:nvPr/>
        </p:nvPicPr>
        <p:blipFill>
          <a:blip r:embed="rId3"/>
          <a:srcRect l="5476" t="4771" r="5627" b="62999"/>
          <a:stretch>
            <a:fillRect/>
          </a:stretch>
        </p:blipFill>
        <p:spPr>
          <a:xfrm>
            <a:off x="3490434" y="1600088"/>
            <a:ext cx="8420311" cy="2157996"/>
          </a:xfrm>
          <a:prstGeom prst="rect">
            <a:avLst/>
          </a:prstGeom>
          <a:effectLst>
            <a:outerShdw blurRad="63500" sx="102000" sy="102000" algn="ctr" rotWithShape="0">
              <a:prstClr val="black">
                <a:alpha val="40000"/>
              </a:prstClr>
            </a:outerShdw>
          </a:effectLst>
        </p:spPr>
      </p:pic>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052C7F21-CF1B-B8E5-D48F-252B3A5306C6}"/>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198263" y="1184019"/>
            <a:ext cx="3463047" cy="893226"/>
          </a:xfrm>
        </p:spPr>
        <p:txBody>
          <a:bodyPr/>
          <a:lstStyle/>
          <a:p>
            <a:pPr algn="ctr"/>
            <a:r>
              <a:rPr lang="en-US" sz="4400" dirty="0"/>
              <a:t>How many </a:t>
            </a:r>
            <a:r>
              <a:rPr lang="en-US" sz="4400" b="1" dirty="0"/>
              <a:t>millions</a:t>
            </a:r>
            <a:r>
              <a:rPr lang="en-US" sz="4400" dirty="0"/>
              <a:t> make </a:t>
            </a:r>
            <a:r>
              <a:rPr lang="en-US" sz="4400" dirty="0">
                <a:solidFill>
                  <a:schemeClr val="accent2"/>
                </a:solidFill>
              </a:rPr>
              <a:t>one billion</a:t>
            </a:r>
            <a:r>
              <a:rPr lang="en-US" sz="4400" dirty="0"/>
              <a:t>? </a:t>
            </a:r>
          </a:p>
        </p:txBody>
      </p:sp>
      <p:grpSp>
        <p:nvGrpSpPr>
          <p:cNvPr id="25" name="Group 24" descr="1 000 000 000.">
            <a:extLst>
              <a:ext uri="{FF2B5EF4-FFF2-40B4-BE49-F238E27FC236}">
                <a16:creationId xmlns:a16="http://schemas.microsoft.com/office/drawing/2014/main" id="{283B6318-BDCA-621B-F0A0-A15E61272994}"/>
              </a:ext>
            </a:extLst>
          </p:cNvPr>
          <p:cNvGrpSpPr/>
          <p:nvPr/>
        </p:nvGrpSpPr>
        <p:grpSpPr>
          <a:xfrm>
            <a:off x="5238397" y="2934861"/>
            <a:ext cx="6275747" cy="344088"/>
            <a:chOff x="5157349" y="2272651"/>
            <a:chExt cx="6275747" cy="344088"/>
          </a:xfrm>
        </p:grpSpPr>
        <p:sp>
          <p:nvSpPr>
            <p:cNvPr id="14" name="TextBox 13">
              <a:extLst>
                <a:ext uri="{FF2B5EF4-FFF2-40B4-BE49-F238E27FC236}">
                  <a16:creationId xmlns:a16="http://schemas.microsoft.com/office/drawing/2014/main" id="{8FC8165B-CFEF-003A-05BF-11A7785B62D0}"/>
                </a:ext>
              </a:extLst>
            </p:cNvPr>
            <p:cNvSpPr txBox="1"/>
            <p:nvPr/>
          </p:nvSpPr>
          <p:spPr>
            <a:xfrm>
              <a:off x="5157349" y="2282384"/>
              <a:ext cx="369651" cy="334355"/>
            </a:xfrm>
            <a:prstGeom prst="rect">
              <a:avLst/>
            </a:prstGeom>
            <a:noFill/>
          </p:spPr>
          <p:txBody>
            <a:bodyPr wrap="square" lIns="0" tIns="0" rIns="0" bIns="0" rtlCol="0">
              <a:noAutofit/>
            </a:bodyPr>
            <a:lstStyle/>
            <a:p>
              <a:pPr algn="ctr"/>
              <a:r>
                <a:rPr lang="en-AU" spc="700"/>
                <a:t>1</a:t>
              </a:r>
            </a:p>
          </p:txBody>
        </p:sp>
        <p:sp>
          <p:nvSpPr>
            <p:cNvPr id="15" name="TextBox 14">
              <a:extLst>
                <a:ext uri="{FF2B5EF4-FFF2-40B4-BE49-F238E27FC236}">
                  <a16:creationId xmlns:a16="http://schemas.microsoft.com/office/drawing/2014/main" id="{153E8C4A-681F-2FED-F582-D88225D6BF93}"/>
                </a:ext>
              </a:extLst>
            </p:cNvPr>
            <p:cNvSpPr txBox="1"/>
            <p:nvPr/>
          </p:nvSpPr>
          <p:spPr>
            <a:xfrm>
              <a:off x="5820384" y="2272659"/>
              <a:ext cx="369651" cy="334355"/>
            </a:xfrm>
            <a:prstGeom prst="rect">
              <a:avLst/>
            </a:prstGeom>
            <a:noFill/>
          </p:spPr>
          <p:txBody>
            <a:bodyPr wrap="square" lIns="0" tIns="0" rIns="0" bIns="0" rtlCol="0">
              <a:noAutofit/>
            </a:bodyPr>
            <a:lstStyle/>
            <a:p>
              <a:pPr algn="ctr"/>
              <a:r>
                <a:rPr lang="en-AU" spc="700"/>
                <a:t>0</a:t>
              </a:r>
            </a:p>
          </p:txBody>
        </p:sp>
        <p:sp>
          <p:nvSpPr>
            <p:cNvPr id="16" name="TextBox 15">
              <a:extLst>
                <a:ext uri="{FF2B5EF4-FFF2-40B4-BE49-F238E27FC236}">
                  <a16:creationId xmlns:a16="http://schemas.microsoft.com/office/drawing/2014/main" id="{5D129105-088A-AD4D-25D1-644E57F8A114}"/>
                </a:ext>
              </a:extLst>
            </p:cNvPr>
            <p:cNvSpPr txBox="1"/>
            <p:nvPr/>
          </p:nvSpPr>
          <p:spPr>
            <a:xfrm>
              <a:off x="6480176" y="2272655"/>
              <a:ext cx="369651" cy="334355"/>
            </a:xfrm>
            <a:prstGeom prst="rect">
              <a:avLst/>
            </a:prstGeom>
            <a:noFill/>
          </p:spPr>
          <p:txBody>
            <a:bodyPr wrap="square" lIns="0" tIns="0" rIns="0" bIns="0" rtlCol="0">
              <a:noAutofit/>
            </a:bodyPr>
            <a:lstStyle/>
            <a:p>
              <a:pPr algn="ctr"/>
              <a:r>
                <a:rPr lang="en-AU" spc="700"/>
                <a:t>0</a:t>
              </a:r>
            </a:p>
          </p:txBody>
        </p:sp>
        <p:sp>
          <p:nvSpPr>
            <p:cNvPr id="17" name="TextBox 16">
              <a:extLst>
                <a:ext uri="{FF2B5EF4-FFF2-40B4-BE49-F238E27FC236}">
                  <a16:creationId xmlns:a16="http://schemas.microsoft.com/office/drawing/2014/main" id="{FFF05648-1C26-C950-EA8D-5C77D739263B}"/>
                </a:ext>
              </a:extLst>
            </p:cNvPr>
            <p:cNvSpPr txBox="1"/>
            <p:nvPr/>
          </p:nvSpPr>
          <p:spPr>
            <a:xfrm>
              <a:off x="7139968" y="2272654"/>
              <a:ext cx="369651" cy="334355"/>
            </a:xfrm>
            <a:prstGeom prst="rect">
              <a:avLst/>
            </a:prstGeom>
            <a:noFill/>
          </p:spPr>
          <p:txBody>
            <a:bodyPr wrap="square" lIns="0" tIns="0" rIns="0" bIns="0" rtlCol="0">
              <a:noAutofit/>
            </a:bodyPr>
            <a:lstStyle/>
            <a:p>
              <a:pPr algn="ctr"/>
              <a:r>
                <a:rPr lang="en-AU" spc="700"/>
                <a:t>0</a:t>
              </a:r>
            </a:p>
          </p:txBody>
        </p:sp>
        <p:sp>
          <p:nvSpPr>
            <p:cNvPr id="19" name="TextBox 18">
              <a:extLst>
                <a:ext uri="{FF2B5EF4-FFF2-40B4-BE49-F238E27FC236}">
                  <a16:creationId xmlns:a16="http://schemas.microsoft.com/office/drawing/2014/main" id="{1D40A98B-5287-7F17-4297-C3DCA1053DA0}"/>
                </a:ext>
              </a:extLst>
            </p:cNvPr>
            <p:cNvSpPr txBox="1"/>
            <p:nvPr/>
          </p:nvSpPr>
          <p:spPr>
            <a:xfrm>
              <a:off x="7783879" y="2272653"/>
              <a:ext cx="369651" cy="334355"/>
            </a:xfrm>
            <a:prstGeom prst="rect">
              <a:avLst/>
            </a:prstGeom>
            <a:noFill/>
          </p:spPr>
          <p:txBody>
            <a:bodyPr wrap="square" lIns="0" tIns="0" rIns="0" bIns="0" rtlCol="0">
              <a:noAutofit/>
            </a:bodyPr>
            <a:lstStyle/>
            <a:p>
              <a:pPr algn="ctr"/>
              <a:r>
                <a:rPr lang="en-AU" spc="700"/>
                <a:t>0</a:t>
              </a:r>
            </a:p>
          </p:txBody>
        </p:sp>
        <p:sp>
          <p:nvSpPr>
            <p:cNvPr id="20" name="TextBox 19">
              <a:extLst>
                <a:ext uri="{FF2B5EF4-FFF2-40B4-BE49-F238E27FC236}">
                  <a16:creationId xmlns:a16="http://schemas.microsoft.com/office/drawing/2014/main" id="{8EC26F6A-4C0C-09FF-F2AB-6A6E974A7C57}"/>
                </a:ext>
              </a:extLst>
            </p:cNvPr>
            <p:cNvSpPr txBox="1"/>
            <p:nvPr/>
          </p:nvSpPr>
          <p:spPr>
            <a:xfrm>
              <a:off x="8451379" y="2282383"/>
              <a:ext cx="369651" cy="334355"/>
            </a:xfrm>
            <a:prstGeom prst="rect">
              <a:avLst/>
            </a:prstGeom>
            <a:noFill/>
          </p:spPr>
          <p:txBody>
            <a:bodyPr wrap="square" lIns="0" tIns="0" rIns="0" bIns="0" rtlCol="0">
              <a:noAutofit/>
            </a:bodyPr>
            <a:lstStyle/>
            <a:p>
              <a:pPr algn="ctr"/>
              <a:r>
                <a:rPr lang="en-AU" spc="700"/>
                <a:t>0</a:t>
              </a:r>
            </a:p>
          </p:txBody>
        </p:sp>
        <p:sp>
          <p:nvSpPr>
            <p:cNvPr id="21" name="TextBox 20">
              <a:extLst>
                <a:ext uri="{FF2B5EF4-FFF2-40B4-BE49-F238E27FC236}">
                  <a16:creationId xmlns:a16="http://schemas.microsoft.com/office/drawing/2014/main" id="{9C3EB2B2-1DBA-0074-7846-09519953620E}"/>
                </a:ext>
              </a:extLst>
            </p:cNvPr>
            <p:cNvSpPr txBox="1"/>
            <p:nvPr/>
          </p:nvSpPr>
          <p:spPr>
            <a:xfrm>
              <a:off x="9093270" y="2282382"/>
              <a:ext cx="369651" cy="334355"/>
            </a:xfrm>
            <a:prstGeom prst="rect">
              <a:avLst/>
            </a:prstGeom>
            <a:noFill/>
          </p:spPr>
          <p:txBody>
            <a:bodyPr wrap="square" lIns="0" tIns="0" rIns="0" bIns="0" rtlCol="0">
              <a:noAutofit/>
            </a:bodyPr>
            <a:lstStyle/>
            <a:p>
              <a:pPr algn="ctr"/>
              <a:r>
                <a:rPr lang="en-AU" spc="700"/>
                <a:t>0</a:t>
              </a:r>
            </a:p>
          </p:txBody>
        </p:sp>
        <p:sp>
          <p:nvSpPr>
            <p:cNvPr id="22" name="TextBox 21">
              <a:extLst>
                <a:ext uri="{FF2B5EF4-FFF2-40B4-BE49-F238E27FC236}">
                  <a16:creationId xmlns:a16="http://schemas.microsoft.com/office/drawing/2014/main" id="{C0222CA7-04D4-1AFE-CCCD-9E5302ECDA19}"/>
                </a:ext>
              </a:extLst>
            </p:cNvPr>
            <p:cNvSpPr txBox="1"/>
            <p:nvPr/>
          </p:nvSpPr>
          <p:spPr>
            <a:xfrm>
              <a:off x="9776092" y="2272652"/>
              <a:ext cx="369651" cy="334355"/>
            </a:xfrm>
            <a:prstGeom prst="rect">
              <a:avLst/>
            </a:prstGeom>
            <a:noFill/>
          </p:spPr>
          <p:txBody>
            <a:bodyPr wrap="square" lIns="0" tIns="0" rIns="0" bIns="0" rtlCol="0">
              <a:noAutofit/>
            </a:bodyPr>
            <a:lstStyle/>
            <a:p>
              <a:pPr algn="ctr"/>
              <a:r>
                <a:rPr lang="en-AU" spc="700"/>
                <a:t>0</a:t>
              </a:r>
            </a:p>
          </p:txBody>
        </p:sp>
        <p:sp>
          <p:nvSpPr>
            <p:cNvPr id="23" name="TextBox 22">
              <a:extLst>
                <a:ext uri="{FF2B5EF4-FFF2-40B4-BE49-F238E27FC236}">
                  <a16:creationId xmlns:a16="http://schemas.microsoft.com/office/drawing/2014/main" id="{02F8FEA2-A43E-C9B8-3DDB-EFBDC657FA2F}"/>
                </a:ext>
              </a:extLst>
            </p:cNvPr>
            <p:cNvSpPr txBox="1"/>
            <p:nvPr/>
          </p:nvSpPr>
          <p:spPr>
            <a:xfrm>
              <a:off x="10425840" y="2282382"/>
              <a:ext cx="369651" cy="334355"/>
            </a:xfrm>
            <a:prstGeom prst="rect">
              <a:avLst/>
            </a:prstGeom>
            <a:noFill/>
          </p:spPr>
          <p:txBody>
            <a:bodyPr wrap="square" lIns="0" tIns="0" rIns="0" bIns="0" rtlCol="0">
              <a:noAutofit/>
            </a:bodyPr>
            <a:lstStyle/>
            <a:p>
              <a:pPr algn="ctr"/>
              <a:r>
                <a:rPr lang="en-AU" spc="700"/>
                <a:t>0</a:t>
              </a:r>
            </a:p>
          </p:txBody>
        </p:sp>
        <p:sp>
          <p:nvSpPr>
            <p:cNvPr id="24" name="TextBox 23">
              <a:extLst>
                <a:ext uri="{FF2B5EF4-FFF2-40B4-BE49-F238E27FC236}">
                  <a16:creationId xmlns:a16="http://schemas.microsoft.com/office/drawing/2014/main" id="{41114D5F-904A-C919-6A72-3B379A9048FB}"/>
                </a:ext>
              </a:extLst>
            </p:cNvPr>
            <p:cNvSpPr txBox="1"/>
            <p:nvPr/>
          </p:nvSpPr>
          <p:spPr>
            <a:xfrm>
              <a:off x="11063445" y="2272651"/>
              <a:ext cx="369651" cy="334355"/>
            </a:xfrm>
            <a:prstGeom prst="rect">
              <a:avLst/>
            </a:prstGeom>
            <a:noFill/>
          </p:spPr>
          <p:txBody>
            <a:bodyPr wrap="square" lIns="0" tIns="0" rIns="0" bIns="0" rtlCol="0">
              <a:noAutofit/>
            </a:bodyPr>
            <a:lstStyle/>
            <a:p>
              <a:pPr algn="ctr"/>
              <a:r>
                <a:rPr lang="en-AU" spc="700"/>
                <a:t>0</a:t>
              </a:r>
            </a:p>
          </p:txBody>
        </p:sp>
      </p:grpSp>
      <p:sp>
        <p:nvSpPr>
          <p:cNvPr id="9" name="TextBox 8">
            <a:extLst>
              <a:ext uri="{FF2B5EF4-FFF2-40B4-BE49-F238E27FC236}">
                <a16:creationId xmlns:a16="http://schemas.microsoft.com/office/drawing/2014/main" id="{4E6EA9CC-6235-8807-420B-A4371AC418C0}"/>
              </a:ext>
            </a:extLst>
          </p:cNvPr>
          <p:cNvSpPr txBox="1"/>
          <p:nvPr/>
        </p:nvSpPr>
        <p:spPr>
          <a:xfrm>
            <a:off x="1253866" y="530464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3" name="Text Placeholder 17">
            <a:extLst>
              <a:ext uri="{FF2B5EF4-FFF2-40B4-BE49-F238E27FC236}">
                <a16:creationId xmlns:a16="http://schemas.microsoft.com/office/drawing/2014/main" id="{6E8FD62B-CB74-0FAA-A532-046D05AAEC64}"/>
              </a:ext>
            </a:extLst>
          </p:cNvPr>
          <p:cNvSpPr txBox="1">
            <a:spLocks/>
          </p:cNvSpPr>
          <p:nvPr/>
        </p:nvSpPr>
        <p:spPr>
          <a:xfrm>
            <a:off x="327340" y="5802774"/>
            <a:ext cx="2177796"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10</a:t>
            </a:r>
          </a:p>
        </p:txBody>
      </p:sp>
      <p:sp>
        <p:nvSpPr>
          <p:cNvPr id="10" name="TextBox 9">
            <a:extLst>
              <a:ext uri="{FF2B5EF4-FFF2-40B4-BE49-F238E27FC236}">
                <a16:creationId xmlns:a16="http://schemas.microsoft.com/office/drawing/2014/main" id="{4AB24A3E-5574-D79C-6A0F-06D3F8A29BB1}"/>
              </a:ext>
            </a:extLst>
          </p:cNvPr>
          <p:cNvSpPr txBox="1"/>
          <p:nvPr/>
        </p:nvSpPr>
        <p:spPr>
          <a:xfrm>
            <a:off x="4124497" y="534061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8" name="Text Placeholder 17">
            <a:extLst>
              <a:ext uri="{FF2B5EF4-FFF2-40B4-BE49-F238E27FC236}">
                <a16:creationId xmlns:a16="http://schemas.microsoft.com/office/drawing/2014/main" id="{A6B113DB-1EDB-E926-3280-95C7BDD67B39}"/>
              </a:ext>
            </a:extLst>
          </p:cNvPr>
          <p:cNvSpPr txBox="1">
            <a:spLocks/>
          </p:cNvSpPr>
          <p:nvPr/>
        </p:nvSpPr>
        <p:spPr>
          <a:xfrm>
            <a:off x="3223862" y="5802774"/>
            <a:ext cx="2177796"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100</a:t>
            </a:r>
          </a:p>
        </p:txBody>
      </p:sp>
      <p:sp>
        <p:nvSpPr>
          <p:cNvPr id="12" name="TextBox 11">
            <a:extLst>
              <a:ext uri="{FF2B5EF4-FFF2-40B4-BE49-F238E27FC236}">
                <a16:creationId xmlns:a16="http://schemas.microsoft.com/office/drawing/2014/main" id="{D92289C6-858E-E449-16B6-10640E9A4385}"/>
              </a:ext>
            </a:extLst>
          </p:cNvPr>
          <p:cNvSpPr txBox="1"/>
          <p:nvPr/>
        </p:nvSpPr>
        <p:spPr>
          <a:xfrm>
            <a:off x="7128471" y="534061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7" name="Text Placeholder 17">
            <a:extLst>
              <a:ext uri="{FF2B5EF4-FFF2-40B4-BE49-F238E27FC236}">
                <a16:creationId xmlns:a16="http://schemas.microsoft.com/office/drawing/2014/main" id="{C43D9F9F-0C6B-66C1-A6C3-F4D1329E21B2}"/>
              </a:ext>
            </a:extLst>
          </p:cNvPr>
          <p:cNvSpPr txBox="1">
            <a:spLocks/>
          </p:cNvSpPr>
          <p:nvPr/>
        </p:nvSpPr>
        <p:spPr>
          <a:xfrm>
            <a:off x="6317368" y="5802774"/>
            <a:ext cx="2177796"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1000</a:t>
            </a:r>
          </a:p>
        </p:txBody>
      </p:sp>
      <p:sp>
        <p:nvSpPr>
          <p:cNvPr id="11" name="TextBox 10">
            <a:extLst>
              <a:ext uri="{FF2B5EF4-FFF2-40B4-BE49-F238E27FC236}">
                <a16:creationId xmlns:a16="http://schemas.microsoft.com/office/drawing/2014/main" id="{C22AC239-77AC-A298-F7CD-0F89091EC017}"/>
              </a:ext>
            </a:extLst>
          </p:cNvPr>
          <p:cNvSpPr txBox="1"/>
          <p:nvPr/>
        </p:nvSpPr>
        <p:spPr>
          <a:xfrm>
            <a:off x="10132444" y="534061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6" name="Text Placeholder 17">
            <a:extLst>
              <a:ext uri="{FF2B5EF4-FFF2-40B4-BE49-F238E27FC236}">
                <a16:creationId xmlns:a16="http://schemas.microsoft.com/office/drawing/2014/main" id="{C371F027-20DC-5DB3-BAC3-18A52B54B6B1}"/>
              </a:ext>
            </a:extLst>
          </p:cNvPr>
          <p:cNvSpPr txBox="1">
            <a:spLocks/>
          </p:cNvSpPr>
          <p:nvPr/>
        </p:nvSpPr>
        <p:spPr>
          <a:xfrm>
            <a:off x="9255300" y="5806775"/>
            <a:ext cx="2177796"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10 000</a:t>
            </a:r>
          </a:p>
        </p:txBody>
      </p:sp>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B8C72BDE-D134-D811-6EBC-722F5F91F730}"/>
              </a:ext>
            </a:extLst>
          </p:cNvPr>
          <p:cNvSpPr txBox="1"/>
          <p:nvPr/>
        </p:nvSpPr>
        <p:spPr>
          <a:xfrm>
            <a:off x="146924" y="1184223"/>
            <a:ext cx="4741389" cy="5238893"/>
          </a:xfrm>
          <a:prstGeom prst="rect">
            <a:avLst/>
          </a:prstGeom>
          <a:noFill/>
        </p:spPr>
        <p:txBody>
          <a:bodyPr wrap="square" lIns="0" tIns="0" rIns="0" bIns="0" rtlCol="0">
            <a:noAutofit/>
          </a:bodyPr>
          <a:lstStyle/>
          <a:p>
            <a:pPr marL="342900" indent="-342900" algn="ctr">
              <a:lnSpc>
                <a:spcPct val="150000"/>
              </a:lnSpc>
              <a:buFont typeface="Arial" panose="020B0604020202020204" pitchFamily="34" charset="0"/>
              <a:buChar char="•"/>
            </a:pPr>
            <a:r>
              <a:rPr lang="en-AU" dirty="0"/>
              <a:t>If I reflected the point across the </a:t>
            </a:r>
            <a:r>
              <a:rPr lang="en-AU" b="1" dirty="0"/>
              <a:t>y-axis</a:t>
            </a:r>
            <a:r>
              <a:rPr lang="en-AU" dirty="0"/>
              <a:t>, what would the coordinates be in the </a:t>
            </a:r>
            <a:r>
              <a:rPr lang="en-AU" dirty="0">
                <a:solidFill>
                  <a:schemeClr val="accent2"/>
                </a:solidFill>
              </a:rPr>
              <a:t>second quadrant</a:t>
            </a:r>
            <a:r>
              <a:rPr lang="en-AU" dirty="0"/>
              <a:t>?</a:t>
            </a:r>
          </a:p>
          <a:p>
            <a:pPr marL="342900" indent="-342900" algn="ctr">
              <a:lnSpc>
                <a:spcPct val="150000"/>
              </a:lnSpc>
              <a:buFont typeface="Arial" panose="020B0604020202020204" pitchFamily="34" charset="0"/>
              <a:buChar char="•"/>
            </a:pPr>
            <a:endParaRPr lang="en-AU" dirty="0"/>
          </a:p>
          <a:p>
            <a:pPr marL="342900" indent="-342900" algn="ctr">
              <a:lnSpc>
                <a:spcPct val="150000"/>
              </a:lnSpc>
              <a:buFont typeface="Arial" panose="020B0604020202020204" pitchFamily="34" charset="0"/>
              <a:buChar char="•"/>
            </a:pPr>
            <a:r>
              <a:rPr lang="en-AU" dirty="0"/>
              <a:t>If I reflected the point across the </a:t>
            </a:r>
            <a:r>
              <a:rPr lang="en-AU" b="1" dirty="0"/>
              <a:t>x-axis</a:t>
            </a:r>
            <a:r>
              <a:rPr lang="en-AU" dirty="0"/>
              <a:t>, what would the coordinates be in the </a:t>
            </a:r>
            <a:r>
              <a:rPr lang="en-AU" dirty="0">
                <a:solidFill>
                  <a:schemeClr val="accent2"/>
                </a:solidFill>
              </a:rPr>
              <a:t>fourth quadrant</a:t>
            </a:r>
            <a:r>
              <a:rPr lang="en-AU" dirty="0"/>
              <a:t>?</a:t>
            </a:r>
          </a:p>
        </p:txBody>
      </p:sp>
      <p:pic>
        <p:nvPicPr>
          <p:cNvPr id="8" name="Picture 7" descr="A Cartesian plane showing all four quadrants from -6 to 6. ">
            <a:extLst>
              <a:ext uri="{FF2B5EF4-FFF2-40B4-BE49-F238E27FC236}">
                <a16:creationId xmlns:a16="http://schemas.microsoft.com/office/drawing/2014/main" id="{243735DA-7383-FA87-9B3B-BAE4C0BC0CF4}"/>
              </a:ext>
            </a:extLst>
          </p:cNvPr>
          <p:cNvPicPr>
            <a:picLocks noChangeAspect="1"/>
          </p:cNvPicPr>
          <p:nvPr/>
        </p:nvPicPr>
        <p:blipFill>
          <a:blip r:embed="rId4"/>
          <a:stretch>
            <a:fillRect/>
          </a:stretch>
        </p:blipFill>
        <p:spPr>
          <a:xfrm>
            <a:off x="5302971" y="726473"/>
            <a:ext cx="5645440" cy="5600988"/>
          </a:xfrm>
          <a:prstGeom prst="rect">
            <a:avLst/>
          </a:prstGeom>
          <a:ln>
            <a:noFill/>
          </a:ln>
          <a:effectLst>
            <a:outerShdw blurRad="292100" dist="139700" dir="2700000" algn="tl" rotWithShape="0">
              <a:srgbClr val="333333">
                <a:alpha val="65000"/>
              </a:srgbClr>
            </a:outerShdw>
          </a:effectLst>
        </p:spPr>
      </p:pic>
      <p:sp>
        <p:nvSpPr>
          <p:cNvPr id="9" name="Oval 8" descr="Blue circle 3rd point on x axis and 4th point on y axis.">
            <a:extLst>
              <a:ext uri="{FF2B5EF4-FFF2-40B4-BE49-F238E27FC236}">
                <a16:creationId xmlns:a16="http://schemas.microsoft.com/office/drawing/2014/main" id="{74D56DE1-3B19-C7AD-EE54-8D46D3DBA995}"/>
              </a:ext>
            </a:extLst>
          </p:cNvPr>
          <p:cNvSpPr/>
          <p:nvPr/>
        </p:nvSpPr>
        <p:spPr>
          <a:xfrm>
            <a:off x="9215044" y="1740479"/>
            <a:ext cx="220006" cy="2337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4" name="TextBox 3">
            <a:extLst>
              <a:ext uri="{FF2B5EF4-FFF2-40B4-BE49-F238E27FC236}">
                <a16:creationId xmlns:a16="http://schemas.microsoft.com/office/drawing/2014/main" id="{8AB06213-5742-3454-050F-93C2D4BA8838}"/>
              </a:ext>
            </a:extLst>
          </p:cNvPr>
          <p:cNvSpPr txBox="1"/>
          <p:nvPr/>
        </p:nvSpPr>
        <p:spPr>
          <a:xfrm>
            <a:off x="360000" y="1272746"/>
            <a:ext cx="11156497" cy="3546389"/>
          </a:xfrm>
          <a:prstGeom prst="rect">
            <a:avLst/>
          </a:prstGeom>
          <a:noFill/>
        </p:spPr>
        <p:txBody>
          <a:bodyPr wrap="square" lIns="0" tIns="0" rIns="0" bIns="0" rtlCol="0">
            <a:noAutofit/>
          </a:bodyPr>
          <a:lstStyle/>
          <a:p>
            <a:pPr algn="ctr">
              <a:lnSpc>
                <a:spcPct val="150000"/>
              </a:lnSpc>
            </a:pPr>
            <a:r>
              <a:rPr lang="en-AU" sz="4400" dirty="0"/>
              <a:t>Use the </a:t>
            </a:r>
            <a:r>
              <a:rPr lang="en-AU" sz="4400" b="1" dirty="0"/>
              <a:t>distributive property </a:t>
            </a:r>
            <a:r>
              <a:rPr lang="en-AU" sz="4400" dirty="0"/>
              <a:t>and </a:t>
            </a:r>
            <a:r>
              <a:rPr lang="en-AU" sz="4400" b="1" dirty="0"/>
              <a:t>the area model</a:t>
            </a:r>
            <a:r>
              <a:rPr lang="en-AU" sz="4400" dirty="0"/>
              <a:t> to solve:</a:t>
            </a:r>
          </a:p>
          <a:p>
            <a:pPr algn="ctr">
              <a:lnSpc>
                <a:spcPct val="150000"/>
              </a:lnSpc>
            </a:pPr>
            <a:endParaRPr lang="en-AU" sz="4400" dirty="0"/>
          </a:p>
          <a:p>
            <a:pPr algn="ctr">
              <a:lnSpc>
                <a:spcPct val="150000"/>
              </a:lnSpc>
            </a:pPr>
            <a:r>
              <a:rPr lang="en-AU" sz="6600" dirty="0"/>
              <a:t>8.53 × 4</a:t>
            </a:r>
          </a:p>
          <a:p>
            <a:pPr marL="571500" indent="-571500" algn="ctr">
              <a:lnSpc>
                <a:spcPct val="150000"/>
              </a:lnSpc>
              <a:buFont typeface="Arial" panose="020B0604020202020204" pitchFamily="34" charset="0"/>
              <a:buChar char="•"/>
            </a:pPr>
            <a:endParaRPr lang="en-AU" sz="4400" dirty="0"/>
          </a:p>
          <a:p>
            <a:pPr algn="l"/>
            <a:endParaRPr lang="en-AU" sz="1800" dirty="0"/>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4" name="TextBox 3">
            <a:extLst>
              <a:ext uri="{FF2B5EF4-FFF2-40B4-BE49-F238E27FC236}">
                <a16:creationId xmlns:a16="http://schemas.microsoft.com/office/drawing/2014/main" id="{BC3D62B7-2D6F-1D37-FD87-F54C46B4D30D}"/>
              </a:ext>
            </a:extLst>
          </p:cNvPr>
          <p:cNvSpPr txBox="1"/>
          <p:nvPr/>
        </p:nvSpPr>
        <p:spPr>
          <a:xfrm>
            <a:off x="360001" y="1357619"/>
            <a:ext cx="11483996" cy="760016"/>
          </a:xfrm>
          <a:prstGeom prst="rect">
            <a:avLst/>
          </a:prstGeom>
          <a:noFill/>
        </p:spPr>
        <p:txBody>
          <a:bodyPr wrap="square">
            <a:spAutoFit/>
          </a:bodyPr>
          <a:lstStyle/>
          <a:p>
            <a:pPr algn="ctr">
              <a:lnSpc>
                <a:spcPct val="150000"/>
              </a:lnSpc>
            </a:pPr>
            <a:r>
              <a:rPr lang="en-AU" sz="3300" dirty="0"/>
              <a:t>Draw an empty number line starting at 0 and ending at 1.</a:t>
            </a:r>
          </a:p>
        </p:txBody>
      </p:sp>
      <p:grpSp>
        <p:nvGrpSpPr>
          <p:cNvPr id="10" name="Group 9" descr="An empty number line starting at 0 and ending at 1.">
            <a:extLst>
              <a:ext uri="{FF2B5EF4-FFF2-40B4-BE49-F238E27FC236}">
                <a16:creationId xmlns:a16="http://schemas.microsoft.com/office/drawing/2014/main" id="{335A9A58-6FBC-1814-E46F-911D82F35782}"/>
              </a:ext>
            </a:extLst>
          </p:cNvPr>
          <p:cNvGrpSpPr/>
          <p:nvPr/>
        </p:nvGrpSpPr>
        <p:grpSpPr>
          <a:xfrm>
            <a:off x="808866" y="2691736"/>
            <a:ext cx="10574268" cy="996075"/>
            <a:chOff x="766775" y="5501925"/>
            <a:chExt cx="10574268" cy="996075"/>
          </a:xfrm>
        </p:grpSpPr>
        <p:sp>
          <p:nvSpPr>
            <p:cNvPr id="11" name="TextBox 10">
              <a:extLst>
                <a:ext uri="{FF2B5EF4-FFF2-40B4-BE49-F238E27FC236}">
                  <a16:creationId xmlns:a16="http://schemas.microsoft.com/office/drawing/2014/main" id="{E4FE8E44-2166-D2FD-8B01-82969D029BC1}"/>
                </a:ext>
              </a:extLst>
            </p:cNvPr>
            <p:cNvSpPr txBox="1"/>
            <p:nvPr/>
          </p:nvSpPr>
          <p:spPr>
            <a:xfrm>
              <a:off x="10776625" y="5910470"/>
              <a:ext cx="530087" cy="587530"/>
            </a:xfrm>
            <a:prstGeom prst="rect">
              <a:avLst/>
            </a:prstGeom>
            <a:noFill/>
          </p:spPr>
          <p:txBody>
            <a:bodyPr wrap="square" lIns="0" tIns="0" rIns="0" bIns="0" rtlCol="0">
              <a:noAutofit/>
            </a:bodyPr>
            <a:lstStyle/>
            <a:p>
              <a:pPr algn="ctr"/>
              <a:r>
                <a:rPr lang="en-AU" sz="3200"/>
                <a:t>1</a:t>
              </a:r>
            </a:p>
          </p:txBody>
        </p:sp>
        <p:sp>
          <p:nvSpPr>
            <p:cNvPr id="12" name="TextBox 11">
              <a:extLst>
                <a:ext uri="{FF2B5EF4-FFF2-40B4-BE49-F238E27FC236}">
                  <a16:creationId xmlns:a16="http://schemas.microsoft.com/office/drawing/2014/main" id="{BE4A1ABC-5F72-DC08-180C-BF034486BF2C}"/>
                </a:ext>
              </a:extLst>
            </p:cNvPr>
            <p:cNvSpPr txBox="1"/>
            <p:nvPr/>
          </p:nvSpPr>
          <p:spPr>
            <a:xfrm>
              <a:off x="766775" y="5910470"/>
              <a:ext cx="530087" cy="587530"/>
            </a:xfrm>
            <a:prstGeom prst="rect">
              <a:avLst/>
            </a:prstGeom>
            <a:noFill/>
          </p:spPr>
          <p:txBody>
            <a:bodyPr wrap="square" lIns="0" tIns="0" rIns="0" bIns="0" rtlCol="0">
              <a:noAutofit/>
            </a:bodyPr>
            <a:lstStyle/>
            <a:p>
              <a:pPr algn="ctr"/>
              <a:r>
                <a:rPr lang="en-AU" sz="3200"/>
                <a:t>0</a:t>
              </a:r>
            </a:p>
          </p:txBody>
        </p:sp>
        <p:cxnSp>
          <p:nvCxnSpPr>
            <p:cNvPr id="13" name="Straight Arrow Connector 12">
              <a:extLst>
                <a:ext uri="{FF2B5EF4-FFF2-40B4-BE49-F238E27FC236}">
                  <a16:creationId xmlns:a16="http://schemas.microsoft.com/office/drawing/2014/main" id="{7F544C2A-42EE-2726-64CE-597F8145CC8D}"/>
                </a:ext>
              </a:extLst>
            </p:cNvPr>
            <p:cNvCxnSpPr/>
            <p:nvPr/>
          </p:nvCxnSpPr>
          <p:spPr>
            <a:xfrm>
              <a:off x="850956" y="5671931"/>
              <a:ext cx="1049008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1C41F7D-9CE8-9921-1D77-81A018F88F34}"/>
                </a:ext>
              </a:extLst>
            </p:cNvPr>
            <p:cNvCxnSpPr>
              <a:cxnSpLocks/>
            </p:cNvCxnSpPr>
            <p:nvPr/>
          </p:nvCxnSpPr>
          <p:spPr>
            <a:xfrm>
              <a:off x="1018567" y="5501925"/>
              <a:ext cx="1" cy="34001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019C2E-C450-6610-BEE2-50BB3EA2D38D}"/>
                </a:ext>
              </a:extLst>
            </p:cNvPr>
            <p:cNvCxnSpPr>
              <a:cxnSpLocks/>
            </p:cNvCxnSpPr>
            <p:nvPr/>
          </p:nvCxnSpPr>
          <p:spPr>
            <a:xfrm>
              <a:off x="11041668" y="5501925"/>
              <a:ext cx="1" cy="34001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9DB348C6-2863-D216-B39D-B6199BEAD84D}"/>
              </a:ext>
            </a:extLst>
          </p:cNvPr>
          <p:cNvSpPr txBox="1"/>
          <p:nvPr/>
        </p:nvSpPr>
        <p:spPr>
          <a:xfrm>
            <a:off x="123953" y="3926966"/>
            <a:ext cx="11822023" cy="820674"/>
          </a:xfrm>
          <a:prstGeom prst="rect">
            <a:avLst/>
          </a:prstGeom>
          <a:noFill/>
        </p:spPr>
        <p:txBody>
          <a:bodyPr wrap="square">
            <a:spAutoFit/>
          </a:bodyPr>
          <a:lstStyle/>
          <a:p>
            <a:pPr algn="ctr">
              <a:lnSpc>
                <a:spcPct val="150000"/>
              </a:lnSpc>
            </a:pPr>
            <a:r>
              <a:rPr lang="en-AU" sz="3300" dirty="0"/>
              <a:t>Mark the following </a:t>
            </a:r>
            <a:r>
              <a:rPr lang="en-AU" sz="3300" b="1" dirty="0"/>
              <a:t>decimals </a:t>
            </a:r>
            <a:r>
              <a:rPr lang="en-AU" sz="3300" dirty="0"/>
              <a:t>on the number line</a:t>
            </a:r>
            <a:r>
              <a:rPr lang="en-AU" sz="3600" dirty="0"/>
              <a:t>:</a:t>
            </a:r>
          </a:p>
        </p:txBody>
      </p:sp>
      <p:sp>
        <p:nvSpPr>
          <p:cNvPr id="5" name="TextBox 4">
            <a:extLst>
              <a:ext uri="{FF2B5EF4-FFF2-40B4-BE49-F238E27FC236}">
                <a16:creationId xmlns:a16="http://schemas.microsoft.com/office/drawing/2014/main" id="{2F05DD04-EE30-CB6A-E119-2BE6F163624F}"/>
              </a:ext>
            </a:extLst>
          </p:cNvPr>
          <p:cNvSpPr txBox="1"/>
          <p:nvPr/>
        </p:nvSpPr>
        <p:spPr>
          <a:xfrm>
            <a:off x="1205414" y="5491748"/>
            <a:ext cx="1200678" cy="795130"/>
          </a:xfrm>
          <a:prstGeom prst="rect">
            <a:avLst/>
          </a:prstGeom>
          <a:noFill/>
        </p:spPr>
        <p:txBody>
          <a:bodyPr wrap="square" lIns="0" tIns="0" rIns="0" bIns="0" rtlCol="0" anchor="t">
            <a:noAutofit/>
          </a:bodyPr>
          <a:lstStyle/>
          <a:p>
            <a:pPr algn="ctr"/>
            <a:r>
              <a:rPr lang="en-AU" sz="3200" dirty="0">
                <a:solidFill>
                  <a:schemeClr val="accent2"/>
                </a:solidFill>
              </a:rPr>
              <a:t>0.375</a:t>
            </a:r>
          </a:p>
        </p:txBody>
      </p:sp>
      <p:sp>
        <p:nvSpPr>
          <p:cNvPr id="7" name="TextBox 6">
            <a:extLst>
              <a:ext uri="{FF2B5EF4-FFF2-40B4-BE49-F238E27FC236}">
                <a16:creationId xmlns:a16="http://schemas.microsoft.com/office/drawing/2014/main" id="{B782B02A-431C-37D0-CDA7-1A69B87832B1}"/>
              </a:ext>
            </a:extLst>
          </p:cNvPr>
          <p:cNvSpPr txBox="1"/>
          <p:nvPr/>
        </p:nvSpPr>
        <p:spPr>
          <a:xfrm>
            <a:off x="4014877" y="5500381"/>
            <a:ext cx="1200678" cy="795130"/>
          </a:xfrm>
          <a:prstGeom prst="rect">
            <a:avLst/>
          </a:prstGeom>
          <a:noFill/>
        </p:spPr>
        <p:txBody>
          <a:bodyPr wrap="square" lIns="0" tIns="0" rIns="0" bIns="0" rtlCol="0" anchor="t">
            <a:noAutofit/>
          </a:bodyPr>
          <a:lstStyle/>
          <a:p>
            <a:pPr algn="ctr"/>
            <a:r>
              <a:rPr lang="en-AU" sz="3200" dirty="0">
                <a:solidFill>
                  <a:schemeClr val="accent2"/>
                </a:solidFill>
              </a:rPr>
              <a:t>0.592</a:t>
            </a:r>
          </a:p>
        </p:txBody>
      </p:sp>
      <p:sp>
        <p:nvSpPr>
          <p:cNvPr id="8" name="TextBox 7">
            <a:extLst>
              <a:ext uri="{FF2B5EF4-FFF2-40B4-BE49-F238E27FC236}">
                <a16:creationId xmlns:a16="http://schemas.microsoft.com/office/drawing/2014/main" id="{02925B14-9074-06E0-4061-627A23CECD8A}"/>
              </a:ext>
            </a:extLst>
          </p:cNvPr>
          <p:cNvSpPr txBox="1"/>
          <p:nvPr/>
        </p:nvSpPr>
        <p:spPr>
          <a:xfrm>
            <a:off x="6824339" y="5509014"/>
            <a:ext cx="1040857" cy="795130"/>
          </a:xfrm>
          <a:prstGeom prst="rect">
            <a:avLst/>
          </a:prstGeom>
          <a:noFill/>
        </p:spPr>
        <p:txBody>
          <a:bodyPr wrap="square" lIns="0" tIns="0" rIns="0" bIns="0" rtlCol="0" anchor="t">
            <a:noAutofit/>
          </a:bodyPr>
          <a:lstStyle/>
          <a:p>
            <a:pPr algn="ctr"/>
            <a:r>
              <a:rPr lang="en-AU" sz="3200" dirty="0">
                <a:solidFill>
                  <a:schemeClr val="accent2"/>
                </a:solidFill>
              </a:rPr>
              <a:t>0.105</a:t>
            </a:r>
          </a:p>
        </p:txBody>
      </p:sp>
      <p:sp>
        <p:nvSpPr>
          <p:cNvPr id="9" name="TextBox 8">
            <a:extLst>
              <a:ext uri="{FF2B5EF4-FFF2-40B4-BE49-F238E27FC236}">
                <a16:creationId xmlns:a16="http://schemas.microsoft.com/office/drawing/2014/main" id="{BD26293F-8EAF-8578-5BB9-90C264FF852E}"/>
              </a:ext>
            </a:extLst>
          </p:cNvPr>
          <p:cNvSpPr txBox="1"/>
          <p:nvPr/>
        </p:nvSpPr>
        <p:spPr>
          <a:xfrm>
            <a:off x="9633802" y="5505605"/>
            <a:ext cx="1093466" cy="795130"/>
          </a:xfrm>
          <a:prstGeom prst="rect">
            <a:avLst/>
          </a:prstGeom>
          <a:noFill/>
        </p:spPr>
        <p:txBody>
          <a:bodyPr wrap="square" lIns="0" tIns="0" rIns="0" bIns="0" rtlCol="0" anchor="t">
            <a:noAutofit/>
          </a:bodyPr>
          <a:lstStyle/>
          <a:p>
            <a:pPr algn="ctr"/>
            <a:r>
              <a:rPr lang="en-AU" sz="3200">
                <a:solidFill>
                  <a:schemeClr val="accent2"/>
                </a:solidFill>
              </a:rPr>
              <a:t>0.820</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4" name="TextBox 3">
            <a:extLst>
              <a:ext uri="{FF2B5EF4-FFF2-40B4-BE49-F238E27FC236}">
                <a16:creationId xmlns:a16="http://schemas.microsoft.com/office/drawing/2014/main" id="{113E52FD-6C7A-AE1C-E55C-0292AF453724}"/>
              </a:ext>
            </a:extLst>
          </p:cNvPr>
          <p:cNvSpPr txBox="1"/>
          <p:nvPr/>
        </p:nvSpPr>
        <p:spPr>
          <a:xfrm>
            <a:off x="832932" y="1362075"/>
            <a:ext cx="10367268" cy="1838325"/>
          </a:xfrm>
          <a:prstGeom prst="rect">
            <a:avLst/>
          </a:prstGeom>
          <a:noFill/>
        </p:spPr>
        <p:txBody>
          <a:bodyPr wrap="square" lIns="0" tIns="0" rIns="0" bIns="0" rtlCol="0">
            <a:noAutofit/>
          </a:bodyPr>
          <a:lstStyle/>
          <a:p>
            <a:pPr algn="ctr">
              <a:lnSpc>
                <a:spcPct val="150000"/>
              </a:lnSpc>
            </a:pPr>
            <a:r>
              <a:rPr lang="en-AU" sz="4400" dirty="0"/>
              <a:t>Draw the top, front and side view of this </a:t>
            </a:r>
            <a:r>
              <a:rPr lang="en-AU" sz="4400" b="1" dirty="0"/>
              <a:t>rectangular prism</a:t>
            </a:r>
            <a:r>
              <a:rPr lang="en-AU" sz="4400" dirty="0"/>
              <a:t>.</a:t>
            </a:r>
          </a:p>
        </p:txBody>
      </p:sp>
      <p:sp>
        <p:nvSpPr>
          <p:cNvPr id="5" name="Freeform 2" descr="A rectangular prism.">
            <a:extLst>
              <a:ext uri="{FF2B5EF4-FFF2-40B4-BE49-F238E27FC236}">
                <a16:creationId xmlns:a16="http://schemas.microsoft.com/office/drawing/2014/main" id="{E164EF23-FFEC-EA76-2BBB-54453210822C}"/>
              </a:ext>
            </a:extLst>
          </p:cNvPr>
          <p:cNvSpPr/>
          <p:nvPr/>
        </p:nvSpPr>
        <p:spPr>
          <a:xfrm>
            <a:off x="3957600" y="3869442"/>
            <a:ext cx="4276800" cy="2206116"/>
          </a:xfrm>
          <a:custGeom>
            <a:avLst/>
            <a:gdLst/>
            <a:ahLst/>
            <a:cxnLst/>
            <a:rect l="l" t="t" r="r" b="b"/>
            <a:pathLst>
              <a:path w="4276800" h="2206116">
                <a:moveTo>
                  <a:pt x="0" y="0"/>
                </a:moveTo>
                <a:lnTo>
                  <a:pt x="4276800" y="0"/>
                </a:lnTo>
                <a:lnTo>
                  <a:pt x="4276800" y="2206116"/>
                </a:lnTo>
                <a:lnTo>
                  <a:pt x="0" y="22061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dirty="0"/>
              <a:t>Activity 5 – </a:t>
            </a:r>
            <a:r>
              <a:rPr lang="en-AU"/>
              <a:t>applying place value with numbers to 1 billion</a:t>
            </a:r>
            <a:endParaRPr lang="en-AU" dirty="0"/>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Place value houses - 3  columns (H,T,O) for each house ones, thousands, millions and billions.">
            <a:extLst>
              <a:ext uri="{FF2B5EF4-FFF2-40B4-BE49-F238E27FC236}">
                <a16:creationId xmlns:a16="http://schemas.microsoft.com/office/drawing/2014/main" id="{10657A7D-8B1E-CD65-79BB-341D65618878}"/>
              </a:ext>
            </a:extLst>
          </p:cNvPr>
          <p:cNvPicPr>
            <a:picLocks noChangeAspect="1"/>
          </p:cNvPicPr>
          <p:nvPr/>
        </p:nvPicPr>
        <p:blipFill>
          <a:blip r:embed="rId4"/>
          <a:stretch>
            <a:fillRect/>
          </a:stretch>
        </p:blipFill>
        <p:spPr>
          <a:xfrm>
            <a:off x="3488641" y="1097258"/>
            <a:ext cx="5214717" cy="2844342"/>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5157CC7D-3D08-96F4-BF11-469E4D2C967B}"/>
              </a:ext>
            </a:extLst>
          </p:cNvPr>
          <p:cNvSpPr txBox="1"/>
          <p:nvPr/>
        </p:nvSpPr>
        <p:spPr>
          <a:xfrm>
            <a:off x="664540" y="4222141"/>
            <a:ext cx="11527460" cy="3922096"/>
          </a:xfrm>
          <a:prstGeom prst="rect">
            <a:avLst/>
          </a:prstGeom>
          <a:noFill/>
        </p:spPr>
        <p:txBody>
          <a:bodyPr wrap="square" lIns="0" tIns="0" rIns="0" bIns="0" rtlCol="0">
            <a:noAutofit/>
          </a:bodyPr>
          <a:lstStyle/>
          <a:p>
            <a:pPr algn="ctr">
              <a:lnSpc>
                <a:spcPct val="150000"/>
              </a:lnSpc>
            </a:pPr>
            <a:r>
              <a:rPr lang="en-AU" sz="2600" dirty="0"/>
              <a:t>1</a:t>
            </a:r>
            <a:r>
              <a:rPr lang="en-AU" sz="2800" dirty="0"/>
              <a:t>. How many </a:t>
            </a:r>
            <a:r>
              <a:rPr lang="en-AU" sz="2800" b="1" dirty="0"/>
              <a:t>hundred thousands</a:t>
            </a:r>
            <a:r>
              <a:rPr lang="en-AU" sz="2800" dirty="0"/>
              <a:t> are in </a:t>
            </a:r>
            <a:r>
              <a:rPr lang="en-AU" sz="2800" dirty="0">
                <a:solidFill>
                  <a:schemeClr val="accent2"/>
                </a:solidFill>
              </a:rPr>
              <a:t>one million</a:t>
            </a:r>
            <a:r>
              <a:rPr lang="en-AU" sz="2800" dirty="0"/>
              <a:t>?</a:t>
            </a:r>
          </a:p>
          <a:p>
            <a:pPr algn="ctr">
              <a:lnSpc>
                <a:spcPct val="150000"/>
              </a:lnSpc>
            </a:pPr>
            <a:r>
              <a:rPr lang="en-AU" sz="2800" dirty="0"/>
              <a:t>2. How many </a:t>
            </a:r>
            <a:r>
              <a:rPr lang="en-AU" sz="2800" b="1" dirty="0"/>
              <a:t>hundreds</a:t>
            </a:r>
            <a:r>
              <a:rPr lang="en-AU" sz="2800" dirty="0"/>
              <a:t> are there in </a:t>
            </a:r>
            <a:r>
              <a:rPr lang="en-AU" sz="2800" dirty="0">
                <a:solidFill>
                  <a:schemeClr val="accent2"/>
                </a:solidFill>
              </a:rPr>
              <a:t>100 000</a:t>
            </a:r>
            <a:r>
              <a:rPr lang="en-AU" sz="2800" dirty="0"/>
              <a:t>?</a:t>
            </a:r>
          </a:p>
          <a:p>
            <a:pPr algn="ctr">
              <a:lnSpc>
                <a:spcPct val="150000"/>
              </a:lnSpc>
            </a:pPr>
            <a:r>
              <a:rPr lang="en-AU" sz="2800" dirty="0"/>
              <a:t>3. How many </a:t>
            </a:r>
            <a:r>
              <a:rPr lang="en-AU" sz="2800" b="1" dirty="0"/>
              <a:t>thousands</a:t>
            </a:r>
            <a:r>
              <a:rPr lang="en-AU" sz="2800" dirty="0"/>
              <a:t> in </a:t>
            </a:r>
            <a:r>
              <a:rPr lang="en-AU" sz="2800" dirty="0">
                <a:solidFill>
                  <a:schemeClr val="accent2"/>
                </a:solidFill>
              </a:rPr>
              <a:t>one million</a:t>
            </a:r>
            <a:r>
              <a:rPr lang="en-AU" sz="2800" dirty="0"/>
              <a:t>? How do you know?</a:t>
            </a:r>
          </a:p>
          <a:p>
            <a:pPr algn="ctr">
              <a:lnSpc>
                <a:spcPct val="150000"/>
              </a:lnSpc>
            </a:pPr>
            <a:r>
              <a:rPr lang="en-AU" sz="2800" dirty="0"/>
              <a:t>4. How can we </a:t>
            </a:r>
            <a:r>
              <a:rPr lang="en-AU" sz="2800" b="1" dirty="0"/>
              <a:t>rename </a:t>
            </a:r>
            <a:r>
              <a:rPr lang="en-AU" sz="2800" dirty="0">
                <a:solidFill>
                  <a:schemeClr val="accent2"/>
                </a:solidFill>
              </a:rPr>
              <a:t>1000 millions</a:t>
            </a:r>
            <a:r>
              <a:rPr lang="en-AU" sz="2800" dirty="0"/>
              <a:t>?</a:t>
            </a:r>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dirty="0">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 uri="{C183D7F6-B498-43B3-948B-1728B52AA6E4}">
                <adec:decorative xmlns:adec="http://schemas.microsoft.com/office/drawing/2017/decorative" val="1"/>
              </a:ext>
            </a:extLst>
          </p:cNvPr>
          <p:cNvSpPr>
            <a:spLocks noGrp="1"/>
          </p:cNvSpPr>
          <p:nvPr>
            <p:ph type="title"/>
          </p:nvPr>
        </p:nvSpPr>
        <p:spPr/>
        <p:txBody>
          <a:bodyPr/>
          <a:lstStyle/>
          <a:p>
            <a:r>
              <a:rPr lang="en-US" dirty="0"/>
              <a:t>True or false </a:t>
            </a:r>
            <a:r>
              <a:rPr lang="en-US" dirty="0">
                <a:solidFill>
                  <a:schemeClr val="bg1"/>
                </a:solidFill>
              </a:rPr>
              <a:t>(3)</a:t>
            </a:r>
          </a:p>
        </p:txBody>
      </p:sp>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360001" y="1184019"/>
            <a:ext cx="11243037" cy="893226"/>
          </a:xfrm>
        </p:spPr>
        <p:txBody>
          <a:bodyPr/>
          <a:lstStyle/>
          <a:p>
            <a:pPr algn="ctr"/>
            <a:r>
              <a:rPr lang="en-AU" sz="4400" b="1"/>
              <a:t>1 384 790 </a:t>
            </a:r>
            <a:r>
              <a:rPr lang="en-AU" sz="4400"/>
              <a:t>can be regrouped as:</a:t>
            </a:r>
          </a:p>
          <a:p>
            <a:pPr algn="ctr"/>
            <a:r>
              <a:rPr lang="en-AU" sz="4400"/>
              <a:t>1 000 000 + 30 000 + 8000 + 400 + 70 + 9. </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3463969887"/>
              </p:ext>
            </p:extLst>
          </p:nvPr>
        </p:nvGraphicFramePr>
        <p:xfrm>
          <a:off x="2442981" y="3925782"/>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5" name="Text Placeholder 5">
            <a:extLst>
              <a:ext uri="{FF2B5EF4-FFF2-40B4-BE49-F238E27FC236}">
                <a16:creationId xmlns:a16="http://schemas.microsoft.com/office/drawing/2014/main" id="{3B61794B-E196-0E45-E682-73E352A60ABA}"/>
              </a:ext>
            </a:extLst>
          </p:cNvPr>
          <p:cNvSpPr txBox="1">
            <a:spLocks/>
          </p:cNvSpPr>
          <p:nvPr/>
        </p:nvSpPr>
        <p:spPr>
          <a:xfrm>
            <a:off x="600963" y="5227368"/>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t>Communicate </a:t>
            </a:r>
            <a:r>
              <a:rPr lang="en-AU" sz="4400" dirty="0"/>
              <a:t>your reasoning.</a:t>
            </a:r>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49530A57-40D5-8716-D4E8-1312199B4B0C}"/>
              </a:ext>
            </a:extLst>
          </p:cNvPr>
          <p:cNvSpPr txBox="1"/>
          <p:nvPr/>
        </p:nvSpPr>
        <p:spPr>
          <a:xfrm>
            <a:off x="360000" y="1080503"/>
            <a:ext cx="11484000" cy="1161907"/>
          </a:xfrm>
          <a:prstGeom prst="rect">
            <a:avLst/>
          </a:prstGeom>
          <a:noFill/>
        </p:spPr>
        <p:txBody>
          <a:bodyPr wrap="square" lIns="0" tIns="0" rIns="0" bIns="0" rtlCol="0">
            <a:noAutofit/>
          </a:bodyPr>
          <a:lstStyle/>
          <a:p>
            <a:pPr algn="ctr"/>
            <a:r>
              <a:rPr lang="en-AU" sz="4000" dirty="0"/>
              <a:t>Sort the numerical values into the 3 categories:</a:t>
            </a:r>
          </a:p>
        </p:txBody>
      </p:sp>
      <p:sp>
        <p:nvSpPr>
          <p:cNvPr id="9" name="TextBox 8">
            <a:extLst>
              <a:ext uri="{FF2B5EF4-FFF2-40B4-BE49-F238E27FC236}">
                <a16:creationId xmlns:a16="http://schemas.microsoft.com/office/drawing/2014/main" id="{D8E2A532-E523-FC06-CC94-8E88392DC51A}"/>
              </a:ext>
            </a:extLst>
          </p:cNvPr>
          <p:cNvSpPr txBox="1"/>
          <p:nvPr/>
        </p:nvSpPr>
        <p:spPr>
          <a:xfrm>
            <a:off x="173463" y="2274903"/>
            <a:ext cx="1943188" cy="701702"/>
          </a:xfrm>
          <a:prstGeom prst="rect">
            <a:avLst/>
          </a:prstGeom>
          <a:noFill/>
          <a:ln w="38100">
            <a:solidFill>
              <a:schemeClr val="accent1"/>
            </a:solidFill>
          </a:ln>
        </p:spPr>
        <p:txBody>
          <a:bodyPr wrap="square" lIns="0" tIns="0" rIns="0" bIns="0" rtlCol="0">
            <a:noAutofit/>
          </a:bodyPr>
          <a:lstStyle/>
          <a:p>
            <a:pPr algn="ctr"/>
            <a:r>
              <a:rPr lang="en-AU" sz="4400" dirty="0"/>
              <a:t>1 in 2</a:t>
            </a:r>
          </a:p>
        </p:txBody>
      </p:sp>
      <p:sp>
        <p:nvSpPr>
          <p:cNvPr id="22" name="TextBox 21">
            <a:extLst>
              <a:ext uri="{FF2B5EF4-FFF2-40B4-BE49-F238E27FC236}">
                <a16:creationId xmlns:a16="http://schemas.microsoft.com/office/drawing/2014/main" id="{1EC86F0D-1EB0-7030-D4C5-029CF666742B}"/>
              </a:ext>
            </a:extLst>
          </p:cNvPr>
          <p:cNvSpPr txBox="1"/>
          <p:nvPr/>
        </p:nvSpPr>
        <p:spPr>
          <a:xfrm>
            <a:off x="2665719" y="2274903"/>
            <a:ext cx="1943188" cy="701702"/>
          </a:xfrm>
          <a:prstGeom prst="rect">
            <a:avLst/>
          </a:prstGeom>
          <a:noFill/>
          <a:ln w="38100">
            <a:solidFill>
              <a:schemeClr val="accent1"/>
            </a:solidFill>
          </a:ln>
        </p:spPr>
        <p:txBody>
          <a:bodyPr wrap="square" lIns="0" tIns="0" rIns="0" bIns="0" rtlCol="0">
            <a:noAutofit/>
          </a:bodyPr>
          <a:lstStyle/>
          <a:p>
            <a:pPr algn="ctr"/>
            <a:r>
              <a:rPr lang="en-AU" sz="4400" dirty="0"/>
              <a:t>0-1</a:t>
            </a:r>
          </a:p>
        </p:txBody>
      </p:sp>
      <p:sp>
        <p:nvSpPr>
          <p:cNvPr id="19" name="TextBox 18">
            <a:extLst>
              <a:ext uri="{FF2B5EF4-FFF2-40B4-BE49-F238E27FC236}">
                <a16:creationId xmlns:a16="http://schemas.microsoft.com/office/drawing/2014/main" id="{A3116D59-7F43-C903-1F29-3FD629926B09}"/>
              </a:ext>
            </a:extLst>
          </p:cNvPr>
          <p:cNvSpPr txBox="1"/>
          <p:nvPr/>
        </p:nvSpPr>
        <p:spPr>
          <a:xfrm>
            <a:off x="5157975" y="2274903"/>
            <a:ext cx="1943188" cy="701702"/>
          </a:xfrm>
          <a:prstGeom prst="rect">
            <a:avLst/>
          </a:prstGeom>
          <a:noFill/>
          <a:ln w="38100">
            <a:solidFill>
              <a:schemeClr val="accent1"/>
            </a:solidFill>
          </a:ln>
        </p:spPr>
        <p:txBody>
          <a:bodyPr wrap="square" lIns="0" tIns="0" rIns="0" bIns="0" rtlCol="0">
            <a:noAutofit/>
          </a:bodyPr>
          <a:lstStyle/>
          <a:p>
            <a:pPr algn="ctr"/>
            <a:r>
              <a:rPr lang="en-AU" sz="4400" dirty="0"/>
              <a:t>25%</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671E6A1-1744-9475-3B2F-B073CBC5FBE7}"/>
                  </a:ext>
                </a:extLst>
              </p:cNvPr>
              <p:cNvSpPr txBox="1"/>
              <p:nvPr/>
            </p:nvSpPr>
            <p:spPr>
              <a:xfrm>
                <a:off x="7650231" y="2274903"/>
                <a:ext cx="1943188" cy="701702"/>
              </a:xfrm>
              <a:prstGeom prst="rect">
                <a:avLst/>
              </a:prstGeom>
              <a:noFill/>
              <a:ln w="38100">
                <a:solidFill>
                  <a:schemeClr val="accent1"/>
                </a:solidFill>
              </a:ln>
            </p:spPr>
            <p:txBody>
              <a:bodyPr wrap="square" lIns="0" tIns="0" rIns="0" bIns="0" rtlCol="0">
                <a:noAutofit/>
              </a:bodyPr>
              <a:lstStyle/>
              <a:p>
                <a:pPr algn="ctr"/>
                <a14:m>
                  <m:oMathPara xmlns:m="http://schemas.openxmlformats.org/officeDocument/2006/math">
                    <m:oMathParaPr>
                      <m:jc m:val="centerGroup"/>
                    </m:oMathParaPr>
                    <m:oMath xmlns:m="http://schemas.openxmlformats.org/officeDocument/2006/math">
                      <m:f>
                        <m:fPr>
                          <m:ctrlPr>
                            <a:rPr lang="en-AU" sz="2300" i="1" smtClean="0">
                              <a:latin typeface="Cambria Math" panose="02040503050406030204" pitchFamily="18" charset="0"/>
                            </a:rPr>
                          </m:ctrlPr>
                        </m:fPr>
                        <m:num>
                          <m:r>
                            <a:rPr lang="en-AU" sz="2300" b="0" i="1" smtClean="0">
                              <a:latin typeface="Cambria Math" panose="02040503050406030204" pitchFamily="18" charset="0"/>
                            </a:rPr>
                            <m:t>1</m:t>
                          </m:r>
                        </m:num>
                        <m:den>
                          <m:r>
                            <a:rPr lang="en-AU" sz="2300" b="0" i="1" smtClean="0">
                              <a:latin typeface="Cambria Math" panose="02040503050406030204" pitchFamily="18" charset="0"/>
                            </a:rPr>
                            <m:t>3</m:t>
                          </m:r>
                        </m:den>
                      </m:f>
                    </m:oMath>
                  </m:oMathPara>
                </a14:m>
                <a:endParaRPr lang="en-AU" sz="2300" dirty="0"/>
              </a:p>
            </p:txBody>
          </p:sp>
        </mc:Choice>
        <mc:Fallback xmlns="">
          <p:sp>
            <p:nvSpPr>
              <p:cNvPr id="20" name="TextBox 19">
                <a:extLst>
                  <a:ext uri="{FF2B5EF4-FFF2-40B4-BE49-F238E27FC236}">
                    <a16:creationId xmlns:a16="http://schemas.microsoft.com/office/drawing/2014/main" id="{7671E6A1-1744-9475-3B2F-B073CBC5FBE7}"/>
                  </a:ext>
                </a:extLst>
              </p:cNvPr>
              <p:cNvSpPr txBox="1">
                <a:spLocks noRot="1" noChangeAspect="1" noMove="1" noResize="1" noEditPoints="1" noAdjustHandles="1" noChangeArrowheads="1" noChangeShapeType="1" noTextEdit="1"/>
              </p:cNvSpPr>
              <p:nvPr/>
            </p:nvSpPr>
            <p:spPr>
              <a:xfrm>
                <a:off x="7650231" y="2274903"/>
                <a:ext cx="1943188" cy="701702"/>
              </a:xfrm>
              <a:prstGeom prst="rect">
                <a:avLst/>
              </a:prstGeom>
              <a:blipFill>
                <a:blip r:embed="rId4"/>
                <a:stretch>
                  <a:fillRect/>
                </a:stretch>
              </a:blipFill>
              <a:ln w="38100">
                <a:solidFill>
                  <a:schemeClr val="accent1"/>
                </a:solidFill>
              </a:ln>
            </p:spPr>
            <p:txBody>
              <a:bodyPr/>
              <a:lstStyle/>
              <a:p>
                <a:r>
                  <a:rPr lang="en-US">
                    <a:noFill/>
                  </a:rPr>
                  <a:t> </a:t>
                </a:r>
              </a:p>
            </p:txBody>
          </p:sp>
        </mc:Fallback>
      </mc:AlternateContent>
      <p:sp>
        <p:nvSpPr>
          <p:cNvPr id="21" name="TextBox 20">
            <a:extLst>
              <a:ext uri="{FF2B5EF4-FFF2-40B4-BE49-F238E27FC236}">
                <a16:creationId xmlns:a16="http://schemas.microsoft.com/office/drawing/2014/main" id="{A9B07CB0-41E3-2487-3EC5-5BDF567D29AB}"/>
              </a:ext>
            </a:extLst>
          </p:cNvPr>
          <p:cNvSpPr txBox="1"/>
          <p:nvPr/>
        </p:nvSpPr>
        <p:spPr>
          <a:xfrm>
            <a:off x="10142488" y="2274903"/>
            <a:ext cx="1943188" cy="701702"/>
          </a:xfrm>
          <a:prstGeom prst="rect">
            <a:avLst/>
          </a:prstGeom>
          <a:noFill/>
          <a:ln w="38100">
            <a:solidFill>
              <a:schemeClr val="accent1"/>
            </a:solidFill>
          </a:ln>
        </p:spPr>
        <p:txBody>
          <a:bodyPr wrap="square" lIns="0" tIns="0" rIns="0" bIns="0" rtlCol="0">
            <a:noAutofit/>
          </a:bodyPr>
          <a:lstStyle/>
          <a:p>
            <a:pPr algn="ctr"/>
            <a:r>
              <a:rPr lang="en-AU" sz="4400" dirty="0"/>
              <a:t>0.1</a:t>
            </a:r>
          </a:p>
        </p:txBody>
      </p:sp>
      <p:pic>
        <p:nvPicPr>
          <p:cNvPr id="14" name="Picture 13" descr="A three column table with the headings: impossible, possible and certain.">
            <a:extLst>
              <a:ext uri="{FF2B5EF4-FFF2-40B4-BE49-F238E27FC236}">
                <a16:creationId xmlns:a16="http://schemas.microsoft.com/office/drawing/2014/main" id="{C0F98315-88AB-5321-45F1-49257775703F}"/>
              </a:ext>
            </a:extLst>
          </p:cNvPr>
          <p:cNvPicPr>
            <a:picLocks noChangeAspect="1"/>
          </p:cNvPicPr>
          <p:nvPr/>
        </p:nvPicPr>
        <p:blipFill>
          <a:blip r:embed="rId5"/>
          <a:stretch>
            <a:fillRect/>
          </a:stretch>
        </p:blipFill>
        <p:spPr>
          <a:xfrm>
            <a:off x="938177" y="3207728"/>
            <a:ext cx="10382784" cy="3381549"/>
          </a:xfrm>
          <a:prstGeom prst="rect">
            <a:avLst/>
          </a:prstGeom>
        </p:spPr>
      </p:pic>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8721DF96-5C34-7595-0E43-5A3C7B898875}"/>
              </a:ext>
            </a:extLst>
          </p:cNvPr>
          <p:cNvSpPr txBox="1"/>
          <p:nvPr/>
        </p:nvSpPr>
        <p:spPr>
          <a:xfrm>
            <a:off x="360000" y="905601"/>
            <a:ext cx="11472000" cy="4732637"/>
          </a:xfrm>
          <a:prstGeom prst="rect">
            <a:avLst/>
          </a:prstGeom>
          <a:noFill/>
        </p:spPr>
        <p:txBody>
          <a:bodyPr wrap="square" lIns="0" tIns="0" rIns="0" bIns="0" rtlCol="0">
            <a:noAutofit/>
          </a:bodyPr>
          <a:lstStyle/>
          <a:p>
            <a:pPr algn="ctr">
              <a:lnSpc>
                <a:spcPct val="150000"/>
              </a:lnSpc>
            </a:pPr>
            <a:r>
              <a:rPr lang="en-AU" sz="4000" dirty="0"/>
              <a:t>Which algorithm matches this area model?</a:t>
            </a:r>
          </a:p>
          <a:p>
            <a:pPr algn="l">
              <a:lnSpc>
                <a:spcPct val="150000"/>
              </a:lnSpc>
            </a:pPr>
            <a:endParaRPr lang="en-AU" sz="400" dirty="0"/>
          </a:p>
          <a:p>
            <a:pPr algn="l">
              <a:lnSpc>
                <a:spcPct val="150000"/>
              </a:lnSpc>
            </a:pPr>
            <a:endParaRPr lang="en-AU" sz="4000" dirty="0"/>
          </a:p>
          <a:p>
            <a:pPr algn="l">
              <a:lnSpc>
                <a:spcPct val="150000"/>
              </a:lnSpc>
            </a:pPr>
            <a:endParaRPr lang="en-AU" sz="4000" dirty="0"/>
          </a:p>
        </p:txBody>
      </p:sp>
      <p:grpSp>
        <p:nvGrpSpPr>
          <p:cNvPr id="42" name="Group 41" descr="An area model. Across the top, the number 458 is partitioned into 400, 50 and 8. On the left side of the full rectangle is 5. Inside each part,  are shown as 5 × 400, 5 × 50 and 5 × 8. ">
            <a:extLst>
              <a:ext uri="{FF2B5EF4-FFF2-40B4-BE49-F238E27FC236}">
                <a16:creationId xmlns:a16="http://schemas.microsoft.com/office/drawing/2014/main" id="{4082A240-2D71-B737-E470-D504192DA1FB}"/>
              </a:ext>
            </a:extLst>
          </p:cNvPr>
          <p:cNvGrpSpPr/>
          <p:nvPr/>
        </p:nvGrpSpPr>
        <p:grpSpPr>
          <a:xfrm>
            <a:off x="-738132" y="3035581"/>
            <a:ext cx="6683084" cy="1980078"/>
            <a:chOff x="228600" y="1764037"/>
            <a:chExt cx="5034086" cy="1375603"/>
          </a:xfrm>
        </p:grpSpPr>
        <p:pic>
          <p:nvPicPr>
            <p:cNvPr id="20" name="Picture 19">
              <a:extLst>
                <a:ext uri="{FF2B5EF4-FFF2-40B4-BE49-F238E27FC236}">
                  <a16:creationId xmlns:a16="http://schemas.microsoft.com/office/drawing/2014/main" id="{90751932-7CAB-92EE-B173-1CB8A21766F7}"/>
                </a:ext>
              </a:extLst>
            </p:cNvPr>
            <p:cNvPicPr>
              <a:picLocks noChangeAspect="1"/>
            </p:cNvPicPr>
            <p:nvPr/>
          </p:nvPicPr>
          <p:blipFill>
            <a:blip r:embed="rId4"/>
            <a:stretch>
              <a:fillRect/>
            </a:stretch>
          </p:blipFill>
          <p:spPr>
            <a:xfrm>
              <a:off x="819228" y="1764037"/>
              <a:ext cx="4427568" cy="1240347"/>
            </a:xfrm>
            <a:prstGeom prst="rect">
              <a:avLst/>
            </a:prstGeom>
            <a:ln>
              <a:noFill/>
            </a:ln>
          </p:spPr>
        </p:pic>
        <p:sp>
          <p:nvSpPr>
            <p:cNvPr id="34" name="Rectangle 33">
              <a:extLst>
                <a:ext uri="{FF2B5EF4-FFF2-40B4-BE49-F238E27FC236}">
                  <a16:creationId xmlns:a16="http://schemas.microsoft.com/office/drawing/2014/main" id="{D5ED8B02-8B1C-9EEE-FD90-0696AFC575DA}"/>
                </a:ext>
              </a:extLst>
            </p:cNvPr>
            <p:cNvSpPr/>
            <p:nvPr/>
          </p:nvSpPr>
          <p:spPr>
            <a:xfrm>
              <a:off x="228600" y="1764037"/>
              <a:ext cx="5034086" cy="137560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grpSp>
      <p:grpSp>
        <p:nvGrpSpPr>
          <p:cNvPr id="45" name="Group 44" descr="3 algorithms: 721 multiplied by 6, 458 multiplied by  5 and 369 multiplied by  3.">
            <a:extLst>
              <a:ext uri="{FF2B5EF4-FFF2-40B4-BE49-F238E27FC236}">
                <a16:creationId xmlns:a16="http://schemas.microsoft.com/office/drawing/2014/main" id="{59851C9C-A995-CDB9-F0E6-5291BC888523}"/>
              </a:ext>
            </a:extLst>
          </p:cNvPr>
          <p:cNvGrpSpPr/>
          <p:nvPr/>
        </p:nvGrpSpPr>
        <p:grpSpPr>
          <a:xfrm>
            <a:off x="6327984" y="1887125"/>
            <a:ext cx="5617992" cy="4610875"/>
            <a:chOff x="5506292" y="1689354"/>
            <a:chExt cx="6089464" cy="5168646"/>
          </a:xfrm>
        </p:grpSpPr>
        <p:sp>
          <p:nvSpPr>
            <p:cNvPr id="25" name="TextBox 24">
              <a:extLst>
                <a:ext uri="{FF2B5EF4-FFF2-40B4-BE49-F238E27FC236}">
                  <a16:creationId xmlns:a16="http://schemas.microsoft.com/office/drawing/2014/main" id="{39048A58-63D3-D2EA-5572-4B43217F2265}"/>
                </a:ext>
              </a:extLst>
            </p:cNvPr>
            <p:cNvSpPr txBox="1"/>
            <p:nvPr/>
          </p:nvSpPr>
          <p:spPr>
            <a:xfrm>
              <a:off x="5537547" y="1754637"/>
              <a:ext cx="459228" cy="4625153"/>
            </a:xfrm>
            <a:prstGeom prst="rect">
              <a:avLst/>
            </a:prstGeom>
            <a:noFill/>
          </p:spPr>
          <p:txBody>
            <a:bodyPr wrap="square" lIns="0" tIns="0" rIns="0" bIns="0" rtlCol="0">
              <a:noAutofit/>
            </a:bodyPr>
            <a:lstStyle/>
            <a:p>
              <a:pPr algn="l"/>
              <a:r>
                <a:rPr lang="en-AU" sz="4000" dirty="0"/>
                <a:t>A</a:t>
              </a:r>
            </a:p>
            <a:p>
              <a:pPr algn="l"/>
              <a:endParaRPr lang="en-AU" sz="4000" dirty="0"/>
            </a:p>
            <a:p>
              <a:pPr algn="l"/>
              <a:endParaRPr lang="en-AU" sz="4000" dirty="0"/>
            </a:p>
            <a:p>
              <a:pPr algn="l"/>
              <a:endParaRPr lang="en-AU" sz="4000" dirty="0"/>
            </a:p>
          </p:txBody>
        </p:sp>
        <p:sp>
          <p:nvSpPr>
            <p:cNvPr id="26" name="TextBox 25">
              <a:extLst>
                <a:ext uri="{FF2B5EF4-FFF2-40B4-BE49-F238E27FC236}">
                  <a16:creationId xmlns:a16="http://schemas.microsoft.com/office/drawing/2014/main" id="{DF7E8385-2C34-2592-F326-2D43B2B9A1FB}"/>
                </a:ext>
              </a:extLst>
            </p:cNvPr>
            <p:cNvSpPr txBox="1"/>
            <p:nvPr/>
          </p:nvSpPr>
          <p:spPr>
            <a:xfrm>
              <a:off x="7628333" y="1689354"/>
              <a:ext cx="459228" cy="4625153"/>
            </a:xfrm>
            <a:prstGeom prst="rect">
              <a:avLst/>
            </a:prstGeom>
            <a:noFill/>
          </p:spPr>
          <p:txBody>
            <a:bodyPr wrap="square" lIns="0" tIns="0" rIns="0" bIns="0" rtlCol="0">
              <a:noAutofit/>
            </a:bodyPr>
            <a:lstStyle/>
            <a:p>
              <a:pPr algn="l"/>
              <a:r>
                <a:rPr lang="en-AU" sz="4000" dirty="0"/>
                <a:t>B.</a:t>
              </a:r>
            </a:p>
            <a:p>
              <a:pPr algn="l"/>
              <a:endParaRPr lang="en-AU" sz="4000" dirty="0"/>
            </a:p>
            <a:p>
              <a:pPr algn="l"/>
              <a:endParaRPr lang="en-AU" sz="4000" dirty="0"/>
            </a:p>
            <a:p>
              <a:pPr algn="l"/>
              <a:endParaRPr lang="en-AU" sz="4000" dirty="0"/>
            </a:p>
          </p:txBody>
        </p:sp>
        <p:sp>
          <p:nvSpPr>
            <p:cNvPr id="27" name="TextBox 26">
              <a:extLst>
                <a:ext uri="{FF2B5EF4-FFF2-40B4-BE49-F238E27FC236}">
                  <a16:creationId xmlns:a16="http://schemas.microsoft.com/office/drawing/2014/main" id="{1BAF01FE-4CAD-AAF8-5A59-0AB210D31125}"/>
                </a:ext>
              </a:extLst>
            </p:cNvPr>
            <p:cNvSpPr txBox="1"/>
            <p:nvPr/>
          </p:nvSpPr>
          <p:spPr>
            <a:xfrm>
              <a:off x="9689782" y="1689354"/>
              <a:ext cx="459228" cy="4625153"/>
            </a:xfrm>
            <a:prstGeom prst="rect">
              <a:avLst/>
            </a:prstGeom>
            <a:noFill/>
          </p:spPr>
          <p:txBody>
            <a:bodyPr wrap="square" lIns="0" tIns="0" rIns="0" bIns="0" rtlCol="0">
              <a:noAutofit/>
            </a:bodyPr>
            <a:lstStyle/>
            <a:p>
              <a:pPr algn="l"/>
              <a:r>
                <a:rPr lang="en-AU" sz="4000" dirty="0"/>
                <a:t>C.</a:t>
              </a:r>
            </a:p>
            <a:p>
              <a:pPr algn="l"/>
              <a:endParaRPr lang="en-AU" sz="4000" dirty="0"/>
            </a:p>
            <a:p>
              <a:pPr algn="l"/>
              <a:endParaRPr lang="en-AU" sz="4000" dirty="0"/>
            </a:p>
            <a:p>
              <a:pPr algn="l"/>
              <a:endParaRPr lang="en-AU" sz="4000" dirty="0"/>
            </a:p>
          </p:txBody>
        </p:sp>
        <p:pic>
          <p:nvPicPr>
            <p:cNvPr id="29" name="Picture 28">
              <a:extLst>
                <a:ext uri="{FF2B5EF4-FFF2-40B4-BE49-F238E27FC236}">
                  <a16:creationId xmlns:a16="http://schemas.microsoft.com/office/drawing/2014/main" id="{554ACC48-6F66-116A-D485-2A0E0D363BCE}"/>
                </a:ext>
              </a:extLst>
            </p:cNvPr>
            <p:cNvPicPr>
              <a:picLocks noChangeAspect="1"/>
            </p:cNvPicPr>
            <p:nvPr/>
          </p:nvPicPr>
          <p:blipFill>
            <a:blip r:embed="rId5"/>
            <a:stretch>
              <a:fillRect/>
            </a:stretch>
          </p:blipFill>
          <p:spPr>
            <a:xfrm>
              <a:off x="7525198" y="2590581"/>
              <a:ext cx="2082907" cy="4267419"/>
            </a:xfrm>
            <a:prstGeom prst="rect">
              <a:avLst/>
            </a:prstGeom>
          </p:spPr>
        </p:pic>
        <p:pic>
          <p:nvPicPr>
            <p:cNvPr id="31" name="Picture 30">
              <a:extLst>
                <a:ext uri="{FF2B5EF4-FFF2-40B4-BE49-F238E27FC236}">
                  <a16:creationId xmlns:a16="http://schemas.microsoft.com/office/drawing/2014/main" id="{5629DE5B-C22C-5FEC-81BD-DEC6A722AC20}"/>
                </a:ext>
              </a:extLst>
            </p:cNvPr>
            <p:cNvPicPr>
              <a:picLocks noChangeAspect="1"/>
            </p:cNvPicPr>
            <p:nvPr/>
          </p:nvPicPr>
          <p:blipFill>
            <a:blip r:embed="rId6"/>
            <a:stretch>
              <a:fillRect/>
            </a:stretch>
          </p:blipFill>
          <p:spPr>
            <a:xfrm>
              <a:off x="5597106" y="2615821"/>
              <a:ext cx="1949550" cy="4178515"/>
            </a:xfrm>
            <a:prstGeom prst="rect">
              <a:avLst/>
            </a:prstGeom>
          </p:spPr>
        </p:pic>
        <p:pic>
          <p:nvPicPr>
            <p:cNvPr id="33" name="Picture 32">
              <a:extLst>
                <a:ext uri="{FF2B5EF4-FFF2-40B4-BE49-F238E27FC236}">
                  <a16:creationId xmlns:a16="http://schemas.microsoft.com/office/drawing/2014/main" id="{0EADCB6B-4866-2136-AAB2-7417C8DBF39C}"/>
                </a:ext>
              </a:extLst>
            </p:cNvPr>
            <p:cNvPicPr>
              <a:picLocks noChangeAspect="1"/>
            </p:cNvPicPr>
            <p:nvPr/>
          </p:nvPicPr>
          <p:blipFill>
            <a:blip r:embed="rId7"/>
            <a:stretch>
              <a:fillRect/>
            </a:stretch>
          </p:blipFill>
          <p:spPr>
            <a:xfrm>
              <a:off x="9608104" y="2711077"/>
              <a:ext cx="1987652" cy="3988005"/>
            </a:xfrm>
            <a:prstGeom prst="rect">
              <a:avLst/>
            </a:prstGeom>
          </p:spPr>
        </p:pic>
        <p:sp>
          <p:nvSpPr>
            <p:cNvPr id="37" name="Rectangle 36">
              <a:extLst>
                <a:ext uri="{FF2B5EF4-FFF2-40B4-BE49-F238E27FC236}">
                  <a16:creationId xmlns:a16="http://schemas.microsoft.com/office/drawing/2014/main" id="{756FA2F6-BCF0-3DD0-91F1-A87FF53482B7}"/>
                </a:ext>
              </a:extLst>
            </p:cNvPr>
            <p:cNvSpPr/>
            <p:nvPr/>
          </p:nvSpPr>
          <p:spPr>
            <a:xfrm>
              <a:off x="5506292" y="1764036"/>
              <a:ext cx="1949550" cy="4851363"/>
            </a:xfrm>
            <a:prstGeom prst="rect">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40" name="Rectangle 39">
              <a:extLst>
                <a:ext uri="{FF2B5EF4-FFF2-40B4-BE49-F238E27FC236}">
                  <a16:creationId xmlns:a16="http://schemas.microsoft.com/office/drawing/2014/main" id="{F59C24A5-9016-4FA9-F7D4-65FAAF482DDF}"/>
                </a:ext>
              </a:extLst>
            </p:cNvPr>
            <p:cNvSpPr/>
            <p:nvPr/>
          </p:nvSpPr>
          <p:spPr>
            <a:xfrm>
              <a:off x="7544984" y="1754637"/>
              <a:ext cx="1949550" cy="4851363"/>
            </a:xfrm>
            <a:prstGeom prst="rect">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41" name="Rectangle 40">
              <a:extLst>
                <a:ext uri="{FF2B5EF4-FFF2-40B4-BE49-F238E27FC236}">
                  <a16:creationId xmlns:a16="http://schemas.microsoft.com/office/drawing/2014/main" id="{60C7C438-90DF-2EF1-EF94-BFF614AF2BF4}"/>
                </a:ext>
              </a:extLst>
            </p:cNvPr>
            <p:cNvSpPr/>
            <p:nvPr/>
          </p:nvSpPr>
          <p:spPr>
            <a:xfrm>
              <a:off x="9586647" y="1754637"/>
              <a:ext cx="1949550" cy="4851363"/>
            </a:xfrm>
            <a:prstGeom prst="rect">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gr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a:xfrm>
            <a:off x="11135759" y="6562541"/>
            <a:ext cx="720000" cy="180000"/>
          </a:xfrm>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4" name="TextBox 3">
            <a:extLst>
              <a:ext uri="{FF2B5EF4-FFF2-40B4-BE49-F238E27FC236}">
                <a16:creationId xmlns:a16="http://schemas.microsoft.com/office/drawing/2014/main" id="{E4EE14F3-5AB7-9F2B-63EA-969AA48F1B23}"/>
              </a:ext>
            </a:extLst>
          </p:cNvPr>
          <p:cNvSpPr txBox="1"/>
          <p:nvPr/>
        </p:nvSpPr>
        <p:spPr>
          <a:xfrm>
            <a:off x="910725" y="1184223"/>
            <a:ext cx="10573275" cy="4522573"/>
          </a:xfrm>
          <a:prstGeom prst="rect">
            <a:avLst/>
          </a:prstGeom>
          <a:noFill/>
        </p:spPr>
        <p:txBody>
          <a:bodyPr wrap="square" lIns="0" tIns="0" rIns="0" bIns="0" rtlCol="0">
            <a:noAutofit/>
          </a:bodyPr>
          <a:lstStyle/>
          <a:p>
            <a:pPr algn="ctr">
              <a:lnSpc>
                <a:spcPct val="150000"/>
              </a:lnSpc>
            </a:pPr>
            <a:r>
              <a:rPr lang="en-AU" sz="3600" dirty="0"/>
              <a:t>The school canteen has </a:t>
            </a:r>
            <a:r>
              <a:rPr lang="en-AU" sz="3600" dirty="0">
                <a:solidFill>
                  <a:schemeClr val="accent2"/>
                </a:solidFill>
              </a:rPr>
              <a:t>864</a:t>
            </a:r>
            <a:r>
              <a:rPr lang="en-AU" sz="3600" dirty="0"/>
              <a:t> cartons of juice in storage. Before a delivery arrives, </a:t>
            </a:r>
            <a:r>
              <a:rPr lang="en-AU" sz="3600" dirty="0">
                <a:solidFill>
                  <a:schemeClr val="accent2"/>
                </a:solidFill>
              </a:rPr>
              <a:t>529</a:t>
            </a:r>
            <a:r>
              <a:rPr lang="en-AU" sz="3600" dirty="0"/>
              <a:t> cartons are taken out for a sports carnival. Later, the canteen manager realises that </a:t>
            </a:r>
            <a:r>
              <a:rPr lang="en-AU" sz="3600" dirty="0">
                <a:solidFill>
                  <a:schemeClr val="accent2"/>
                </a:solidFill>
              </a:rPr>
              <a:t>36</a:t>
            </a:r>
            <a:r>
              <a:rPr lang="en-AU" sz="3600" dirty="0"/>
              <a:t> cartons are past their use-by date and removes those as well.</a:t>
            </a:r>
            <a:br>
              <a:rPr lang="en-AU" sz="3600" dirty="0"/>
            </a:br>
            <a:r>
              <a:rPr lang="en-AU" sz="3600" dirty="0"/>
              <a:t>How many cartons of juice </a:t>
            </a:r>
            <a:r>
              <a:rPr lang="en-AU" sz="3600" b="1" dirty="0"/>
              <a:t>are left </a:t>
            </a:r>
            <a:r>
              <a:rPr lang="en-AU" sz="3600" dirty="0"/>
              <a:t>in storage?</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4" name="TextBox 3">
            <a:extLst>
              <a:ext uri="{FF2B5EF4-FFF2-40B4-BE49-F238E27FC236}">
                <a16:creationId xmlns:a16="http://schemas.microsoft.com/office/drawing/2014/main" id="{77E13B27-E372-B20B-B598-6A78BFD49CFC}"/>
              </a:ext>
            </a:extLst>
          </p:cNvPr>
          <p:cNvSpPr txBox="1"/>
          <p:nvPr/>
        </p:nvSpPr>
        <p:spPr>
          <a:xfrm>
            <a:off x="298450" y="1256200"/>
            <a:ext cx="10732026" cy="915500"/>
          </a:xfrm>
          <a:prstGeom prst="rect">
            <a:avLst/>
          </a:prstGeom>
          <a:noFill/>
        </p:spPr>
        <p:txBody>
          <a:bodyPr wrap="square" lIns="0" tIns="0" rIns="0" bIns="0" rtlCol="0">
            <a:noAutofit/>
          </a:bodyPr>
          <a:lstStyle/>
          <a:p>
            <a:pPr algn="ctr"/>
            <a:r>
              <a:rPr lang="en-AU" sz="4000" dirty="0"/>
              <a:t>Convert to </a:t>
            </a:r>
            <a:r>
              <a:rPr lang="en-AU" sz="4000" b="1" dirty="0"/>
              <a:t>24-hour</a:t>
            </a:r>
            <a:r>
              <a:rPr lang="en-AU" sz="4000" dirty="0"/>
              <a:t> time:</a:t>
            </a:r>
          </a:p>
        </p:txBody>
      </p:sp>
      <p:sp>
        <p:nvSpPr>
          <p:cNvPr id="5" name="TextBox 4">
            <a:extLst>
              <a:ext uri="{FF2B5EF4-FFF2-40B4-BE49-F238E27FC236}">
                <a16:creationId xmlns:a16="http://schemas.microsoft.com/office/drawing/2014/main" id="{53FA4A35-27EA-9264-3F9B-70892626F5CC}"/>
              </a:ext>
            </a:extLst>
          </p:cNvPr>
          <p:cNvSpPr txBox="1"/>
          <p:nvPr/>
        </p:nvSpPr>
        <p:spPr>
          <a:xfrm>
            <a:off x="4632325" y="2171700"/>
            <a:ext cx="5289550" cy="2746300"/>
          </a:xfrm>
          <a:prstGeom prst="rect">
            <a:avLst/>
          </a:prstGeom>
          <a:noFill/>
        </p:spPr>
        <p:txBody>
          <a:bodyPr wrap="square" lIns="0" tIns="0" rIns="0" bIns="0" rtlCol="0">
            <a:noAutofit/>
          </a:bodyPr>
          <a:lstStyle/>
          <a:p>
            <a:pPr marL="457200" indent="-457200" algn="l">
              <a:lnSpc>
                <a:spcPct val="200000"/>
              </a:lnSpc>
              <a:buFont typeface="Arial" panose="020B0604020202020204" pitchFamily="34" charset="0"/>
              <a:buChar char="•"/>
            </a:pPr>
            <a:r>
              <a:rPr lang="en-AU" sz="4400" dirty="0"/>
              <a:t> 7:30 pm</a:t>
            </a:r>
          </a:p>
          <a:p>
            <a:pPr marL="457200" indent="-457200" algn="l">
              <a:lnSpc>
                <a:spcPct val="200000"/>
              </a:lnSpc>
              <a:buFont typeface="Arial" panose="020B0604020202020204" pitchFamily="34" charset="0"/>
              <a:buChar char="•"/>
            </a:pPr>
            <a:r>
              <a:rPr lang="en-AU" sz="4400" dirty="0"/>
              <a:t> 10:00 pm</a:t>
            </a:r>
          </a:p>
          <a:p>
            <a:pPr marL="457200" indent="-457200" algn="l">
              <a:lnSpc>
                <a:spcPct val="200000"/>
              </a:lnSpc>
              <a:buFont typeface="Arial" panose="020B0604020202020204" pitchFamily="34" charset="0"/>
              <a:buChar char="•"/>
            </a:pPr>
            <a:r>
              <a:rPr lang="en-AU" sz="4400" dirty="0"/>
              <a:t> 12:30 am</a:t>
            </a: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dirty="0"/>
              <a:t>Activity 6 – </a:t>
            </a:r>
            <a:r>
              <a:rPr lang="en-AU"/>
              <a:t>applying non-standard partitioning</a:t>
            </a:r>
            <a:endParaRPr lang="en-AU" dirty="0"/>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TextBox 6">
            <a:extLst>
              <a:ext uri="{FF2B5EF4-FFF2-40B4-BE49-F238E27FC236}">
                <a16:creationId xmlns:a16="http://schemas.microsoft.com/office/drawing/2014/main" id="{DCCB41EE-B054-7766-7747-49C6D0057015}"/>
              </a:ext>
            </a:extLst>
          </p:cNvPr>
          <p:cNvSpPr txBox="1"/>
          <p:nvPr/>
        </p:nvSpPr>
        <p:spPr>
          <a:xfrm>
            <a:off x="1185194" y="1097258"/>
            <a:ext cx="3619815" cy="1800417"/>
          </a:xfrm>
          <a:prstGeom prst="rect">
            <a:avLst/>
          </a:prstGeom>
          <a:noFill/>
        </p:spPr>
        <p:txBody>
          <a:bodyPr wrap="square" lIns="0" tIns="0" rIns="0" bIns="0" rtlCol="0">
            <a:noAutofit/>
          </a:bodyPr>
          <a:lstStyle/>
          <a:p>
            <a:pPr marL="457200" indent="-457200" algn="ctr">
              <a:lnSpc>
                <a:spcPct val="200000"/>
              </a:lnSpc>
              <a:buFont typeface="Arial" panose="020B0604020202020204" pitchFamily="34" charset="0"/>
              <a:buChar char="•"/>
            </a:pPr>
            <a:r>
              <a:rPr lang="en-AU" sz="4400" dirty="0"/>
              <a:t>two</a:t>
            </a:r>
          </a:p>
          <a:p>
            <a:pPr marL="457200" indent="-457200" algn="ctr">
              <a:lnSpc>
                <a:spcPct val="200000"/>
              </a:lnSpc>
              <a:buFont typeface="Arial" panose="020B0604020202020204" pitchFamily="34" charset="0"/>
              <a:buChar char="•"/>
            </a:pPr>
            <a:r>
              <a:rPr lang="en-AU" sz="4400" dirty="0"/>
              <a:t>forty</a:t>
            </a:r>
          </a:p>
          <a:p>
            <a:pPr marL="457200" indent="-457200" algn="ctr">
              <a:lnSpc>
                <a:spcPct val="200000"/>
              </a:lnSpc>
              <a:buFont typeface="Arial" panose="020B0604020202020204" pitchFamily="34" charset="0"/>
              <a:buChar char="•"/>
            </a:pPr>
            <a:r>
              <a:rPr lang="en-AU" sz="4400" dirty="0"/>
              <a:t>hundred</a:t>
            </a:r>
          </a:p>
          <a:p>
            <a:pPr marL="457200" indent="-457200" algn="ctr">
              <a:lnSpc>
                <a:spcPct val="200000"/>
              </a:lnSpc>
              <a:buFont typeface="Arial" panose="020B0604020202020204" pitchFamily="34" charset="0"/>
              <a:buChar char="•"/>
            </a:pPr>
            <a:r>
              <a:rPr lang="en-AU" sz="4400" dirty="0"/>
              <a:t>seven</a:t>
            </a:r>
          </a:p>
          <a:p>
            <a:pPr algn="l"/>
            <a:endParaRPr lang="en-AU" sz="4400" dirty="0"/>
          </a:p>
        </p:txBody>
      </p:sp>
      <p:sp>
        <p:nvSpPr>
          <p:cNvPr id="3" name="TextBox 2">
            <a:extLst>
              <a:ext uri="{FF2B5EF4-FFF2-40B4-BE49-F238E27FC236}">
                <a16:creationId xmlns:a16="http://schemas.microsoft.com/office/drawing/2014/main" id="{9D7C4113-BD22-FB67-8C13-7FD7DAF58AEC}"/>
              </a:ext>
            </a:extLst>
          </p:cNvPr>
          <p:cNvSpPr txBox="1"/>
          <p:nvPr/>
        </p:nvSpPr>
        <p:spPr>
          <a:xfrm>
            <a:off x="6079626" y="1172499"/>
            <a:ext cx="4927180" cy="5433501"/>
          </a:xfrm>
          <a:prstGeom prst="rect">
            <a:avLst/>
          </a:prstGeom>
          <a:noFill/>
        </p:spPr>
        <p:txBody>
          <a:bodyPr wrap="square" lIns="0" tIns="0" rIns="0" bIns="0" rtlCol="0">
            <a:noAutofit/>
          </a:bodyPr>
          <a:lstStyle/>
          <a:p>
            <a:pPr marL="457200" indent="-457200" algn="ctr">
              <a:lnSpc>
                <a:spcPct val="200000"/>
              </a:lnSpc>
              <a:buFont typeface="Arial" panose="020B0604020202020204" pitchFamily="34" charset="0"/>
              <a:buChar char="•"/>
            </a:pPr>
            <a:r>
              <a:rPr lang="en-AU" sz="4400" dirty="0"/>
              <a:t>million</a:t>
            </a:r>
          </a:p>
          <a:p>
            <a:pPr marL="457200" indent="-457200" algn="ctr">
              <a:lnSpc>
                <a:spcPct val="200000"/>
              </a:lnSpc>
              <a:buFont typeface="Arial" panose="020B0604020202020204" pitchFamily="34" charset="0"/>
              <a:buChar char="•"/>
            </a:pPr>
            <a:r>
              <a:rPr lang="en-AU" sz="4400" dirty="0"/>
              <a:t>thousand</a:t>
            </a:r>
          </a:p>
          <a:p>
            <a:pPr marL="457200" indent="-457200" algn="ctr">
              <a:lnSpc>
                <a:spcPct val="200000"/>
              </a:lnSpc>
              <a:buFont typeface="Arial" panose="020B0604020202020204" pitchFamily="34" charset="0"/>
              <a:buChar char="•"/>
            </a:pPr>
            <a:r>
              <a:rPr lang="en-AU" sz="4400" dirty="0"/>
              <a:t>one</a:t>
            </a:r>
          </a:p>
          <a:p>
            <a:pPr marL="457200" indent="-457200" algn="ctr">
              <a:lnSpc>
                <a:spcPct val="200000"/>
              </a:lnSpc>
              <a:buFont typeface="Arial" panose="020B0604020202020204" pitchFamily="34" charset="0"/>
              <a:buChar char="•"/>
            </a:pPr>
            <a:r>
              <a:rPr lang="en-AU" sz="4400" dirty="0"/>
              <a:t>five</a:t>
            </a:r>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dirty="0">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B0F-EDB3-D42C-B9F0-90D9CE8D9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806A67-4A8B-CFA0-2639-260EFA3DE028}"/>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(4)</a:t>
            </a:r>
          </a:p>
        </p:txBody>
      </p:sp>
      <p:pic>
        <p:nvPicPr>
          <p:cNvPr id="4" name="Picture 3">
            <a:extLst>
              <a:ext uri="{FF2B5EF4-FFF2-40B4-BE49-F238E27FC236}">
                <a16:creationId xmlns:a16="http://schemas.microsoft.com/office/drawing/2014/main" id="{9E6DEC87-1992-0ACF-8BBC-408DC4F8B51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F4BCB582-8EFA-EA48-C6B2-3E84380A7733}"/>
              </a:ext>
            </a:extLst>
          </p:cNvPr>
          <p:cNvSpPr>
            <a:spLocks noGrp="1"/>
          </p:cNvSpPr>
          <p:nvPr>
            <p:ph type="body" sz="quarter" idx="28"/>
          </p:nvPr>
        </p:nvSpPr>
        <p:spPr>
          <a:xfrm>
            <a:off x="-143238" y="868104"/>
            <a:ext cx="11746275" cy="754243"/>
          </a:xfrm>
        </p:spPr>
        <p:txBody>
          <a:bodyPr/>
          <a:lstStyle/>
          <a:p>
            <a:pPr algn="ctr"/>
            <a:r>
              <a:rPr lang="en-US" sz="4400" dirty="0">
                <a:solidFill>
                  <a:schemeClr val="accent2"/>
                </a:solidFill>
              </a:rPr>
              <a:t>49 687 329 </a:t>
            </a:r>
            <a:r>
              <a:rPr lang="en-US" sz="4400" dirty="0"/>
              <a:t>can be regrouped as:</a:t>
            </a:r>
          </a:p>
        </p:txBody>
      </p:sp>
      <p:sp>
        <p:nvSpPr>
          <p:cNvPr id="6" name="TextBox 5">
            <a:extLst>
              <a:ext uri="{FF2B5EF4-FFF2-40B4-BE49-F238E27FC236}">
                <a16:creationId xmlns:a16="http://schemas.microsoft.com/office/drawing/2014/main" id="{2F6F994A-6F5F-D1A0-AF43-558FAAF5225D}"/>
              </a:ext>
            </a:extLst>
          </p:cNvPr>
          <p:cNvSpPr txBox="1"/>
          <p:nvPr/>
        </p:nvSpPr>
        <p:spPr>
          <a:xfrm>
            <a:off x="1281583" y="1762291"/>
            <a:ext cx="9258482" cy="769441"/>
          </a:xfrm>
          <a:prstGeom prst="rect">
            <a:avLst/>
          </a:prstGeom>
          <a:noFill/>
        </p:spPr>
        <p:txBody>
          <a:bodyPr wrap="square">
            <a:spAutoFit/>
          </a:bodyPr>
          <a:lstStyle/>
          <a:p>
            <a:pPr algn="ctr"/>
            <a:r>
              <a:rPr lang="en-AU" sz="4400" dirty="0"/>
              <a:t>You may select </a:t>
            </a:r>
            <a:r>
              <a:rPr lang="en-AU" sz="4400" b="1" dirty="0"/>
              <a:t>more than one</a:t>
            </a:r>
            <a:r>
              <a:rPr lang="en-AU" sz="4400" dirty="0"/>
              <a:t>. </a:t>
            </a:r>
          </a:p>
        </p:txBody>
      </p:sp>
      <p:sp>
        <p:nvSpPr>
          <p:cNvPr id="9" name="B">
            <a:extLst>
              <a:ext uri="{FF2B5EF4-FFF2-40B4-BE49-F238E27FC236}">
                <a16:creationId xmlns:a16="http://schemas.microsoft.com/office/drawing/2014/main" id="{C9B406B5-1B1B-BC84-2596-01F05852F38E}"/>
              </a:ext>
            </a:extLst>
          </p:cNvPr>
          <p:cNvSpPr txBox="1"/>
          <p:nvPr/>
        </p:nvSpPr>
        <p:spPr>
          <a:xfrm>
            <a:off x="324248" y="271486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A text">
            <a:extLst>
              <a:ext uri="{FF2B5EF4-FFF2-40B4-BE49-F238E27FC236}">
                <a16:creationId xmlns:a16="http://schemas.microsoft.com/office/drawing/2014/main" id="{31DF2179-CC68-4EE0-97E0-A4308D927550}"/>
              </a:ext>
            </a:extLst>
          </p:cNvPr>
          <p:cNvSpPr>
            <a:spLocks noGrp="1"/>
          </p:cNvSpPr>
          <p:nvPr>
            <p:ph type="body" sz="quarter" idx="31"/>
          </p:nvPr>
        </p:nvSpPr>
        <p:spPr>
          <a:xfrm>
            <a:off x="976654" y="2733913"/>
            <a:ext cx="10867345" cy="641396"/>
          </a:xfrm>
        </p:spPr>
        <p:txBody>
          <a:bodyPr anchor="ctr"/>
          <a:lstStyle/>
          <a:p>
            <a:r>
              <a:rPr lang="en-US" sz="2400" dirty="0"/>
              <a:t>400 000 000 + 90 000 000 + 6 000 000 + 800 000 + 70 000 + 329</a:t>
            </a:r>
          </a:p>
        </p:txBody>
      </p:sp>
      <p:sp>
        <p:nvSpPr>
          <p:cNvPr id="10" name="B">
            <a:extLst>
              <a:ext uri="{FF2B5EF4-FFF2-40B4-BE49-F238E27FC236}">
                <a16:creationId xmlns:a16="http://schemas.microsoft.com/office/drawing/2014/main" id="{E50622FB-E2C3-695B-EB8A-A6DCC20CB21A}"/>
              </a:ext>
            </a:extLst>
          </p:cNvPr>
          <p:cNvSpPr txBox="1"/>
          <p:nvPr/>
        </p:nvSpPr>
        <p:spPr>
          <a:xfrm>
            <a:off x="324247" y="373885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7" name="B text">
            <a:extLst>
              <a:ext uri="{FF2B5EF4-FFF2-40B4-BE49-F238E27FC236}">
                <a16:creationId xmlns:a16="http://schemas.microsoft.com/office/drawing/2014/main" id="{C73A00ED-7DB5-30D2-B4A9-C92DE2E894C8}"/>
              </a:ext>
            </a:extLst>
          </p:cNvPr>
          <p:cNvSpPr>
            <a:spLocks noGrp="1"/>
          </p:cNvSpPr>
          <p:nvPr>
            <p:ph type="body" sz="quarter" idx="30"/>
          </p:nvPr>
        </p:nvSpPr>
        <p:spPr>
          <a:xfrm>
            <a:off x="1008045" y="3683510"/>
            <a:ext cx="10175920" cy="641396"/>
          </a:xfrm>
        </p:spPr>
        <p:txBody>
          <a:bodyPr anchor="ctr"/>
          <a:lstStyle/>
          <a:p>
            <a:r>
              <a:rPr lang="en-US" sz="2400" dirty="0"/>
              <a:t>40 000 000 + 9 000 000 + 600 000 + 80 000 + 7000 + 300 + 20 + 9</a:t>
            </a:r>
          </a:p>
        </p:txBody>
      </p:sp>
      <p:sp>
        <p:nvSpPr>
          <p:cNvPr id="12" name="C">
            <a:extLst>
              <a:ext uri="{FF2B5EF4-FFF2-40B4-BE49-F238E27FC236}">
                <a16:creationId xmlns:a16="http://schemas.microsoft.com/office/drawing/2014/main" id="{0C258EAC-2959-18FA-F510-CFBA4E15CEE5}"/>
              </a:ext>
            </a:extLst>
          </p:cNvPr>
          <p:cNvSpPr txBox="1"/>
          <p:nvPr/>
        </p:nvSpPr>
        <p:spPr>
          <a:xfrm>
            <a:off x="324246" y="471085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6" name="C text">
            <a:extLst>
              <a:ext uri="{FF2B5EF4-FFF2-40B4-BE49-F238E27FC236}">
                <a16:creationId xmlns:a16="http://schemas.microsoft.com/office/drawing/2014/main" id="{4F46D482-F339-0F56-69AD-E717BD10B08B}"/>
              </a:ext>
            </a:extLst>
          </p:cNvPr>
          <p:cNvSpPr>
            <a:spLocks noGrp="1"/>
          </p:cNvSpPr>
          <p:nvPr>
            <p:ph type="body" sz="quarter" idx="29"/>
          </p:nvPr>
        </p:nvSpPr>
        <p:spPr>
          <a:xfrm>
            <a:off x="1008045" y="4690733"/>
            <a:ext cx="10175920" cy="641396"/>
          </a:xfrm>
        </p:spPr>
        <p:txBody>
          <a:bodyPr anchor="ctr"/>
          <a:lstStyle/>
          <a:p>
            <a:r>
              <a:rPr lang="en-US" sz="2400" dirty="0"/>
              <a:t>4 900 000 + 680 000 + 7320 + 9</a:t>
            </a:r>
          </a:p>
        </p:txBody>
      </p:sp>
      <p:sp>
        <p:nvSpPr>
          <p:cNvPr id="11" name="D">
            <a:extLst>
              <a:ext uri="{FF2B5EF4-FFF2-40B4-BE49-F238E27FC236}">
                <a16:creationId xmlns:a16="http://schemas.microsoft.com/office/drawing/2014/main" id="{14776889-F079-73F7-28AB-FA54A997A57B}"/>
              </a:ext>
            </a:extLst>
          </p:cNvPr>
          <p:cNvSpPr txBox="1"/>
          <p:nvPr/>
        </p:nvSpPr>
        <p:spPr>
          <a:xfrm>
            <a:off x="324245" y="573484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4" name="D text">
            <a:extLst>
              <a:ext uri="{FF2B5EF4-FFF2-40B4-BE49-F238E27FC236}">
                <a16:creationId xmlns:a16="http://schemas.microsoft.com/office/drawing/2014/main" id="{6A6EC998-9E5D-373F-B144-268EE2D0342A}"/>
              </a:ext>
            </a:extLst>
          </p:cNvPr>
          <p:cNvSpPr>
            <a:spLocks noGrp="1"/>
          </p:cNvSpPr>
          <p:nvPr>
            <p:ph type="body" sz="quarter" idx="27"/>
          </p:nvPr>
        </p:nvSpPr>
        <p:spPr>
          <a:xfrm>
            <a:off x="1008045" y="5697957"/>
            <a:ext cx="10175920" cy="641396"/>
          </a:xfrm>
        </p:spPr>
        <p:txBody>
          <a:bodyPr anchor="ctr"/>
          <a:lstStyle/>
          <a:p>
            <a:r>
              <a:rPr lang="en-US" sz="2400" dirty="0"/>
              <a:t>49 000 000 + 680 000 + 7300 + 29</a:t>
            </a:r>
          </a:p>
        </p:txBody>
      </p:sp>
      <p:sp>
        <p:nvSpPr>
          <p:cNvPr id="2" name="Slide Number Placeholder 1">
            <a:extLst>
              <a:ext uri="{FF2B5EF4-FFF2-40B4-BE49-F238E27FC236}">
                <a16:creationId xmlns:a16="http://schemas.microsoft.com/office/drawing/2014/main" id="{EA003EA6-BD98-8C0D-720D-A89B6A010C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283678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(25)</a:t>
            </a:r>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4" name="TextBox 13">
            <a:extLst>
              <a:ext uri="{FF2B5EF4-FFF2-40B4-BE49-F238E27FC236}">
                <a16:creationId xmlns:a16="http://schemas.microsoft.com/office/drawing/2014/main" id="{AF904CF5-7D1D-BD50-E526-4FDDF3AF0513}"/>
              </a:ext>
            </a:extLst>
          </p:cNvPr>
          <p:cNvSpPr txBox="1"/>
          <p:nvPr/>
        </p:nvSpPr>
        <p:spPr>
          <a:xfrm>
            <a:off x="119227" y="944928"/>
            <a:ext cx="3964987" cy="5273269"/>
          </a:xfrm>
          <a:prstGeom prst="rect">
            <a:avLst/>
          </a:prstGeom>
          <a:noFill/>
        </p:spPr>
        <p:txBody>
          <a:bodyPr wrap="square" lIns="0" tIns="0" rIns="0" bIns="0" rtlCol="0">
            <a:noAutofit/>
          </a:bodyPr>
          <a:lstStyle/>
          <a:p>
            <a:pPr algn="ctr">
              <a:lnSpc>
                <a:spcPct val="150000"/>
              </a:lnSpc>
            </a:pPr>
            <a:r>
              <a:rPr lang="en-AU" sz="3200" dirty="0"/>
              <a:t>Which animals represent:</a:t>
            </a:r>
          </a:p>
          <a:p>
            <a:pPr marL="342900" indent="-342900" algn="ctr">
              <a:lnSpc>
                <a:spcPct val="150000"/>
              </a:lnSpc>
              <a:buAutoNum type="arabicPeriod"/>
            </a:pPr>
            <a:r>
              <a:rPr lang="en-AU" sz="3200" b="1" dirty="0"/>
              <a:t>Equally likely </a:t>
            </a:r>
            <a:r>
              <a:rPr lang="en-AU" sz="3200" dirty="0"/>
              <a:t>outcomes</a:t>
            </a:r>
          </a:p>
          <a:p>
            <a:pPr marL="342900" indent="-342900" algn="ctr">
              <a:lnSpc>
                <a:spcPct val="150000"/>
              </a:lnSpc>
              <a:buAutoNum type="arabicPeriod"/>
            </a:pPr>
            <a:r>
              <a:rPr lang="en-AU" sz="3200" b="1" dirty="0"/>
              <a:t>Unequal</a:t>
            </a:r>
            <a:r>
              <a:rPr lang="en-AU" sz="3200" dirty="0"/>
              <a:t> chance</a:t>
            </a:r>
          </a:p>
          <a:p>
            <a:pPr marL="342900" indent="-342900" algn="ctr">
              <a:lnSpc>
                <a:spcPct val="150000"/>
              </a:lnSpc>
              <a:buAutoNum type="arabicPeriod"/>
            </a:pPr>
            <a:endParaRPr lang="en-AU" sz="3000" dirty="0"/>
          </a:p>
          <a:p>
            <a:pPr algn="ctr">
              <a:lnSpc>
                <a:spcPct val="150000"/>
              </a:lnSpc>
            </a:pPr>
            <a:r>
              <a:rPr lang="en-AU" sz="3200" b="1" dirty="0"/>
              <a:t>Explain</a:t>
            </a:r>
            <a:r>
              <a:rPr lang="en-AU" sz="3200" dirty="0"/>
              <a:t> your reasoning.</a:t>
            </a:r>
          </a:p>
        </p:txBody>
      </p:sp>
      <p:pic>
        <p:nvPicPr>
          <p:cNvPr id="4" name="Picture 3" descr="A resource labelled equally likely cartoon with 4 avatars: an owl, a rabbit, a rooster and a goat. Each avatar has a bag of counters and fraction strips that represent the proportion of different coloured counters in each bag. &#10;&#10;The owl has a bag with 2 yellow, 2 blue, 2 purple and 2 green counters. the fraction strips are drawn to show four quarters and eight eighths. The fraction strip colours match the colours of the counters in the bag. &#10;&#10;The rabbit has a bag with 3 yellow, 3 purple, 3 blue, 2 green and one orange counter. The fraction strip colours match the colours of the counters in the bag and are drawn to represent the fractional part of the collection. &#10;&#10;The rooster has a bag with 2 yellow, 2 blue, 2 purple, one green and one orange counter. The fraction strips are drawn to match the colours and fractional parts of the counters. &#10;&#10;The goat has a bag with 3 yellow, 3 purple, 3 blue and 3 green counters. The fractional strips are drawn to show 4 quarters and 12 twelfths.">
            <a:extLst>
              <a:ext uri="{FF2B5EF4-FFF2-40B4-BE49-F238E27FC236}">
                <a16:creationId xmlns:a16="http://schemas.microsoft.com/office/drawing/2014/main" id="{BF7662FD-73C3-BE2E-1A7F-819C4D7A1E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62883" y="1184223"/>
            <a:ext cx="7288996" cy="5102297"/>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4093DA9F-1A1B-544C-49AA-78F42D5F3060}"/>
              </a:ext>
              <a:ext uri="{C183D7F6-B498-43B3-948B-1728B52AA6E4}">
                <adec:decorative xmlns:adec="http://schemas.microsoft.com/office/drawing/2017/decorative" val="1"/>
              </a:ext>
            </a:extLst>
          </p:cNvPr>
          <p:cNvSpPr txBox="1"/>
          <p:nvPr/>
        </p:nvSpPr>
        <p:spPr>
          <a:xfrm>
            <a:off x="6067764" y="1184223"/>
            <a:ext cx="1278827" cy="793002"/>
          </a:xfrm>
          <a:prstGeom prst="rect">
            <a:avLst/>
          </a:prstGeom>
          <a:noFill/>
        </p:spPr>
        <p:txBody>
          <a:bodyPr wrap="square" lIns="0" tIns="0" rIns="0" bIns="0" rtlCol="0">
            <a:noAutofit/>
          </a:bodyPr>
          <a:lstStyle/>
          <a:p>
            <a:pPr algn="ctr"/>
            <a:r>
              <a:rPr lang="en-AU" sz="3200" b="1" dirty="0"/>
              <a:t>owl</a:t>
            </a:r>
          </a:p>
        </p:txBody>
      </p:sp>
      <p:sp>
        <p:nvSpPr>
          <p:cNvPr id="11" name="TextBox 10">
            <a:extLst>
              <a:ext uri="{FF2B5EF4-FFF2-40B4-BE49-F238E27FC236}">
                <a16:creationId xmlns:a16="http://schemas.microsoft.com/office/drawing/2014/main" id="{F965F39F-0186-CD35-A57A-05F192EA1F14}"/>
              </a:ext>
              <a:ext uri="{C183D7F6-B498-43B3-948B-1728B52AA6E4}">
                <adec:decorative xmlns:adec="http://schemas.microsoft.com/office/drawing/2017/decorative" val="1"/>
              </a:ext>
            </a:extLst>
          </p:cNvPr>
          <p:cNvSpPr txBox="1"/>
          <p:nvPr/>
        </p:nvSpPr>
        <p:spPr>
          <a:xfrm>
            <a:off x="10087854" y="1184223"/>
            <a:ext cx="1278827" cy="793002"/>
          </a:xfrm>
          <a:prstGeom prst="rect">
            <a:avLst/>
          </a:prstGeom>
          <a:noFill/>
        </p:spPr>
        <p:txBody>
          <a:bodyPr wrap="square" lIns="0" tIns="0" rIns="0" bIns="0" rtlCol="0">
            <a:noAutofit/>
          </a:bodyPr>
          <a:lstStyle/>
          <a:p>
            <a:pPr algn="ctr"/>
            <a:r>
              <a:rPr lang="en-AU" sz="3200" b="1" dirty="0"/>
              <a:t>rabbit</a:t>
            </a:r>
          </a:p>
        </p:txBody>
      </p:sp>
      <p:sp>
        <p:nvSpPr>
          <p:cNvPr id="12" name="TextBox 11">
            <a:extLst>
              <a:ext uri="{FF2B5EF4-FFF2-40B4-BE49-F238E27FC236}">
                <a16:creationId xmlns:a16="http://schemas.microsoft.com/office/drawing/2014/main" id="{8290986A-0C42-0D0F-73D4-912D70B3D98A}"/>
              </a:ext>
              <a:ext uri="{C183D7F6-B498-43B3-948B-1728B52AA6E4}">
                <adec:decorative xmlns:adec="http://schemas.microsoft.com/office/drawing/2017/decorative" val="1"/>
              </a:ext>
            </a:extLst>
          </p:cNvPr>
          <p:cNvSpPr txBox="1"/>
          <p:nvPr/>
        </p:nvSpPr>
        <p:spPr>
          <a:xfrm>
            <a:off x="6293158" y="3757276"/>
            <a:ext cx="1585751" cy="793002"/>
          </a:xfrm>
          <a:prstGeom prst="rect">
            <a:avLst/>
          </a:prstGeom>
          <a:noFill/>
        </p:spPr>
        <p:txBody>
          <a:bodyPr wrap="square" lIns="0" tIns="0" rIns="0" bIns="0" rtlCol="0">
            <a:noAutofit/>
          </a:bodyPr>
          <a:lstStyle/>
          <a:p>
            <a:pPr algn="ctr"/>
            <a:r>
              <a:rPr lang="en-AU" sz="3200" b="1" dirty="0"/>
              <a:t>rooster</a:t>
            </a:r>
          </a:p>
        </p:txBody>
      </p:sp>
      <p:sp>
        <p:nvSpPr>
          <p:cNvPr id="13" name="TextBox 12">
            <a:extLst>
              <a:ext uri="{FF2B5EF4-FFF2-40B4-BE49-F238E27FC236}">
                <a16:creationId xmlns:a16="http://schemas.microsoft.com/office/drawing/2014/main" id="{A87BABAC-8063-76D7-4847-C20EF00F110D}"/>
              </a:ext>
              <a:ext uri="{C183D7F6-B498-43B3-948B-1728B52AA6E4}">
                <adec:decorative xmlns:adec="http://schemas.microsoft.com/office/drawing/2017/decorative" val="1"/>
              </a:ext>
            </a:extLst>
          </p:cNvPr>
          <p:cNvSpPr txBox="1"/>
          <p:nvPr/>
        </p:nvSpPr>
        <p:spPr>
          <a:xfrm>
            <a:off x="9909184" y="3735371"/>
            <a:ext cx="1278827" cy="793002"/>
          </a:xfrm>
          <a:prstGeom prst="rect">
            <a:avLst/>
          </a:prstGeom>
          <a:noFill/>
        </p:spPr>
        <p:txBody>
          <a:bodyPr wrap="square" lIns="0" tIns="0" rIns="0" bIns="0" rtlCol="0">
            <a:noAutofit/>
          </a:bodyPr>
          <a:lstStyle/>
          <a:p>
            <a:pPr algn="ctr"/>
            <a:r>
              <a:rPr lang="en-AU" sz="3200" b="1" dirty="0"/>
              <a:t>goat</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7" name="TextBox 6">
            <a:extLst>
              <a:ext uri="{FF2B5EF4-FFF2-40B4-BE49-F238E27FC236}">
                <a16:creationId xmlns:a16="http://schemas.microsoft.com/office/drawing/2014/main" id="{ABE31BC7-B8F0-E5F6-3C6D-C64FCDD00986}"/>
              </a:ext>
            </a:extLst>
          </p:cNvPr>
          <p:cNvSpPr txBox="1"/>
          <p:nvPr/>
        </p:nvSpPr>
        <p:spPr>
          <a:xfrm>
            <a:off x="495300" y="1382732"/>
            <a:ext cx="11564600" cy="3013838"/>
          </a:xfrm>
          <a:prstGeom prst="rect">
            <a:avLst/>
          </a:prstGeom>
          <a:noFill/>
        </p:spPr>
        <p:txBody>
          <a:bodyPr wrap="square">
            <a:spAutoFit/>
          </a:bodyPr>
          <a:lstStyle/>
          <a:p>
            <a:pPr algn="ctr">
              <a:lnSpc>
                <a:spcPct val="150000"/>
              </a:lnSpc>
            </a:pPr>
            <a:r>
              <a:rPr lang="en-AU" sz="4400" dirty="0"/>
              <a:t>Solve this division problem by showing the </a:t>
            </a:r>
            <a:r>
              <a:rPr lang="en-AU" sz="4400" b="1" dirty="0"/>
              <a:t>division</a:t>
            </a:r>
            <a:r>
              <a:rPr lang="en-AU" sz="4400" dirty="0"/>
              <a:t> modelled as an </a:t>
            </a:r>
            <a:r>
              <a:rPr lang="en-AU" sz="4400" b="1" dirty="0"/>
              <a:t>array </a:t>
            </a:r>
            <a:r>
              <a:rPr lang="en-AU" sz="4400" dirty="0"/>
              <a:t>and </a:t>
            </a:r>
          </a:p>
          <a:p>
            <a:pPr algn="ctr">
              <a:lnSpc>
                <a:spcPct val="150000"/>
              </a:lnSpc>
            </a:pPr>
            <a:r>
              <a:rPr lang="en-AU" sz="4400" dirty="0"/>
              <a:t>the </a:t>
            </a:r>
            <a:r>
              <a:rPr lang="en-AU" sz="4400" b="1" dirty="0"/>
              <a:t>remainder</a:t>
            </a:r>
            <a:r>
              <a:rPr lang="en-AU" sz="4400" dirty="0"/>
              <a:t> recorded using </a:t>
            </a:r>
            <a:r>
              <a:rPr lang="en-AU" sz="4400" b="1" dirty="0"/>
              <a:t>words</a:t>
            </a:r>
            <a:r>
              <a:rPr lang="en-AU" sz="4400" dirty="0"/>
              <a:t>.</a:t>
            </a:r>
          </a:p>
        </p:txBody>
      </p:sp>
      <p:sp>
        <p:nvSpPr>
          <p:cNvPr id="5" name="TextBox 4">
            <a:extLst>
              <a:ext uri="{FF2B5EF4-FFF2-40B4-BE49-F238E27FC236}">
                <a16:creationId xmlns:a16="http://schemas.microsoft.com/office/drawing/2014/main" id="{7ADCAB8C-9221-D144-18F5-B6ECECF7D977}"/>
              </a:ext>
            </a:extLst>
          </p:cNvPr>
          <p:cNvSpPr txBox="1"/>
          <p:nvPr/>
        </p:nvSpPr>
        <p:spPr>
          <a:xfrm>
            <a:off x="3230230" y="4686339"/>
            <a:ext cx="6094740" cy="1184876"/>
          </a:xfrm>
          <a:prstGeom prst="rect">
            <a:avLst/>
          </a:prstGeom>
          <a:noFill/>
        </p:spPr>
        <p:txBody>
          <a:bodyPr wrap="square">
            <a:spAutoFit/>
          </a:bodyPr>
          <a:lstStyle/>
          <a:p>
            <a:pPr algn="ctr">
              <a:lnSpc>
                <a:spcPct val="150000"/>
              </a:lnSpc>
            </a:pPr>
            <a:r>
              <a:rPr lang="en-AU" sz="5400" dirty="0"/>
              <a:t>24 ÷ 5 </a:t>
            </a:r>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4" name="TextBox 3">
            <a:extLst>
              <a:ext uri="{FF2B5EF4-FFF2-40B4-BE49-F238E27FC236}">
                <a16:creationId xmlns:a16="http://schemas.microsoft.com/office/drawing/2014/main" id="{10532223-5200-FEC0-0509-94B7014F1C86}"/>
              </a:ext>
            </a:extLst>
          </p:cNvPr>
          <p:cNvSpPr txBox="1"/>
          <p:nvPr/>
        </p:nvSpPr>
        <p:spPr>
          <a:xfrm>
            <a:off x="133347" y="1444845"/>
            <a:ext cx="11812629" cy="5053155"/>
          </a:xfrm>
          <a:prstGeom prst="rect">
            <a:avLst/>
          </a:prstGeom>
          <a:noFill/>
        </p:spPr>
        <p:txBody>
          <a:bodyPr wrap="square" lIns="0" tIns="0" rIns="0" bIns="0" rtlCol="0">
            <a:noAutofit/>
          </a:bodyPr>
          <a:lstStyle/>
          <a:p>
            <a:pPr algn="ctr">
              <a:lnSpc>
                <a:spcPct val="150000"/>
              </a:lnSpc>
              <a:spcBef>
                <a:spcPts val="600"/>
              </a:spcBef>
              <a:spcAft>
                <a:spcPts val="1200"/>
              </a:spcAft>
            </a:pPr>
            <a:r>
              <a:rPr lang="en-AU" sz="3600" dirty="0"/>
              <a:t>Teal Public School held a fun run to raise money for the school. </a:t>
            </a:r>
            <a:r>
              <a:rPr lang="en-AU" sz="3600" dirty="0">
                <a:solidFill>
                  <a:schemeClr val="accent2"/>
                </a:solidFill>
              </a:rPr>
              <a:t>$865 </a:t>
            </a:r>
            <a:r>
              <a:rPr lang="en-AU" sz="3600" dirty="0"/>
              <a:t>was raised from the cake stall. </a:t>
            </a:r>
            <a:r>
              <a:rPr lang="en-AU" sz="3600" dirty="0">
                <a:solidFill>
                  <a:schemeClr val="accent2"/>
                </a:solidFill>
              </a:rPr>
              <a:t>$1740 </a:t>
            </a:r>
            <a:r>
              <a:rPr lang="en-AU" sz="3600" dirty="0"/>
              <a:t>was raised from sponsorships. </a:t>
            </a:r>
            <a:r>
              <a:rPr lang="en-AU" sz="3600" dirty="0">
                <a:solidFill>
                  <a:schemeClr val="accent2"/>
                </a:solidFill>
              </a:rPr>
              <a:t>$96 </a:t>
            </a:r>
            <a:r>
              <a:rPr lang="en-AU" sz="3600" dirty="0"/>
              <a:t>was raised from the raffle. The school spent </a:t>
            </a:r>
            <a:r>
              <a:rPr lang="en-AU" sz="3600" dirty="0">
                <a:solidFill>
                  <a:schemeClr val="accent2"/>
                </a:solidFill>
              </a:rPr>
              <a:t>$2318 </a:t>
            </a:r>
            <a:r>
              <a:rPr lang="en-AU" sz="3600" dirty="0"/>
              <a:t>on new sports equipment.</a:t>
            </a:r>
          </a:p>
          <a:p>
            <a:pPr algn="ctr">
              <a:lnSpc>
                <a:spcPct val="150000"/>
              </a:lnSpc>
              <a:spcBef>
                <a:spcPts val="600"/>
              </a:spcBef>
              <a:spcAft>
                <a:spcPts val="1200"/>
              </a:spcAft>
            </a:pPr>
            <a:r>
              <a:rPr lang="en-AU" sz="3600" dirty="0"/>
              <a:t>How much money </a:t>
            </a:r>
            <a:r>
              <a:rPr lang="en-AU" sz="3600" b="1" dirty="0"/>
              <a:t>is left </a:t>
            </a:r>
            <a:r>
              <a:rPr lang="en-AU" sz="3600" dirty="0"/>
              <a:t>to spend?</a:t>
            </a:r>
          </a:p>
          <a:p>
            <a:pPr algn="ctr"/>
            <a:endParaRPr lang="en-AU" sz="3600" dirty="0"/>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CACBA99-AF5D-195A-D1F1-FAC287E8E05E}"/>
              </a:ext>
            </a:extLst>
          </p:cNvPr>
          <p:cNvSpPr txBox="1"/>
          <p:nvPr/>
        </p:nvSpPr>
        <p:spPr>
          <a:xfrm>
            <a:off x="266476" y="1146227"/>
            <a:ext cx="10764000" cy="1025577"/>
          </a:xfrm>
          <a:prstGeom prst="rect">
            <a:avLst/>
          </a:prstGeom>
          <a:noFill/>
        </p:spPr>
        <p:txBody>
          <a:bodyPr wrap="square" lIns="0" tIns="0" rIns="0" bIns="0" rtlCol="0">
            <a:noAutofit/>
          </a:bodyPr>
          <a:lstStyle/>
          <a:p>
            <a:pPr algn="ctr"/>
            <a:r>
              <a:rPr lang="en-AU" sz="4400" dirty="0"/>
              <a:t>Match each event to the correct term:</a:t>
            </a:r>
          </a:p>
        </p:txBody>
      </p:sp>
      <p:sp>
        <p:nvSpPr>
          <p:cNvPr id="9" name="TextBox 8">
            <a:extLst>
              <a:ext uri="{FF2B5EF4-FFF2-40B4-BE49-F238E27FC236}">
                <a16:creationId xmlns:a16="http://schemas.microsoft.com/office/drawing/2014/main" id="{852EFC0D-4A2D-01BC-7025-F8364EAF25E6}"/>
              </a:ext>
            </a:extLst>
          </p:cNvPr>
          <p:cNvSpPr txBox="1"/>
          <p:nvPr/>
        </p:nvSpPr>
        <p:spPr>
          <a:xfrm>
            <a:off x="411514" y="2284893"/>
            <a:ext cx="7945086" cy="842493"/>
          </a:xfrm>
          <a:prstGeom prst="rect">
            <a:avLst/>
          </a:prstGeom>
          <a:noFill/>
        </p:spPr>
        <p:txBody>
          <a:bodyPr wrap="square" lIns="0" tIns="0" rIns="0" bIns="0" rtlCol="0">
            <a:noAutofit/>
          </a:bodyPr>
          <a:lstStyle/>
          <a:p>
            <a:pPr algn="ctr"/>
            <a:r>
              <a:rPr lang="en-AU" sz="2800" dirty="0"/>
              <a:t>a. Rolling an </a:t>
            </a:r>
            <a:r>
              <a:rPr lang="en-AU" sz="2800" dirty="0">
                <a:solidFill>
                  <a:schemeClr val="accent2"/>
                </a:solidFill>
              </a:rPr>
              <a:t>even</a:t>
            </a:r>
            <a:r>
              <a:rPr lang="en-AU" sz="2800" dirty="0"/>
              <a:t> or </a:t>
            </a:r>
            <a:r>
              <a:rPr lang="en-AU" sz="2800" dirty="0">
                <a:solidFill>
                  <a:schemeClr val="accent2"/>
                </a:solidFill>
              </a:rPr>
              <a:t>odd</a:t>
            </a:r>
            <a:r>
              <a:rPr lang="en-AU" sz="2800" dirty="0"/>
              <a:t> number on a </a:t>
            </a:r>
            <a:r>
              <a:rPr lang="en-AU" sz="2800" b="1" dirty="0"/>
              <a:t>6-sided die</a:t>
            </a:r>
          </a:p>
        </p:txBody>
      </p:sp>
      <p:sp>
        <p:nvSpPr>
          <p:cNvPr id="10" name="TextBox 9">
            <a:extLst>
              <a:ext uri="{FF2B5EF4-FFF2-40B4-BE49-F238E27FC236}">
                <a16:creationId xmlns:a16="http://schemas.microsoft.com/office/drawing/2014/main" id="{D0726B66-7576-C7DD-A0A2-56AED926E682}"/>
              </a:ext>
            </a:extLst>
          </p:cNvPr>
          <p:cNvSpPr txBox="1"/>
          <p:nvPr/>
        </p:nvSpPr>
        <p:spPr>
          <a:xfrm>
            <a:off x="554032" y="3595797"/>
            <a:ext cx="7710478" cy="842493"/>
          </a:xfrm>
          <a:prstGeom prst="rect">
            <a:avLst/>
          </a:prstGeom>
          <a:noFill/>
        </p:spPr>
        <p:txBody>
          <a:bodyPr wrap="square" lIns="0" tIns="0" rIns="0" bIns="0" rtlCol="0">
            <a:noAutofit/>
          </a:bodyPr>
          <a:lstStyle/>
          <a:p>
            <a:pPr algn="ctr"/>
            <a:r>
              <a:rPr lang="en-AU" sz="2800" dirty="0"/>
              <a:t>b. Landing on </a:t>
            </a:r>
            <a:r>
              <a:rPr lang="en-AU" sz="2800" b="1" dirty="0"/>
              <a:t>green</a:t>
            </a:r>
            <a:r>
              <a:rPr lang="en-AU" sz="2800" dirty="0"/>
              <a:t> on a spinner that has </a:t>
            </a:r>
            <a:r>
              <a:rPr lang="en-AU" sz="2800" dirty="0">
                <a:solidFill>
                  <a:schemeClr val="accent2"/>
                </a:solidFill>
              </a:rPr>
              <a:t>20</a:t>
            </a:r>
            <a:r>
              <a:rPr lang="en-AU" sz="2800" b="1" dirty="0"/>
              <a:t> equal sections</a:t>
            </a:r>
            <a:r>
              <a:rPr lang="en-AU" sz="2800" dirty="0"/>
              <a:t> and only </a:t>
            </a:r>
            <a:r>
              <a:rPr lang="en-AU" sz="2800" dirty="0">
                <a:solidFill>
                  <a:schemeClr val="accent2"/>
                </a:solidFill>
              </a:rPr>
              <a:t>one</a:t>
            </a:r>
            <a:r>
              <a:rPr lang="en-AU" sz="2800" b="1" dirty="0"/>
              <a:t> section is green</a:t>
            </a:r>
            <a:r>
              <a:rPr lang="en-AU" sz="2800" dirty="0"/>
              <a:t>. </a:t>
            </a:r>
          </a:p>
        </p:txBody>
      </p:sp>
      <p:sp>
        <p:nvSpPr>
          <p:cNvPr id="11" name="TextBox 10">
            <a:extLst>
              <a:ext uri="{FF2B5EF4-FFF2-40B4-BE49-F238E27FC236}">
                <a16:creationId xmlns:a16="http://schemas.microsoft.com/office/drawing/2014/main" id="{8199669F-AF96-BA7F-8BE3-1418DD4C086E}"/>
              </a:ext>
            </a:extLst>
          </p:cNvPr>
          <p:cNvSpPr txBox="1"/>
          <p:nvPr/>
        </p:nvSpPr>
        <p:spPr>
          <a:xfrm>
            <a:off x="360000" y="5187429"/>
            <a:ext cx="7855291" cy="842493"/>
          </a:xfrm>
          <a:prstGeom prst="rect">
            <a:avLst/>
          </a:prstGeom>
          <a:noFill/>
        </p:spPr>
        <p:txBody>
          <a:bodyPr wrap="square" lIns="0" tIns="0" rIns="0" bIns="0" rtlCol="0">
            <a:noAutofit/>
          </a:bodyPr>
          <a:lstStyle/>
          <a:p>
            <a:pPr algn="ctr"/>
            <a:r>
              <a:rPr lang="en-AU" sz="2800" dirty="0"/>
              <a:t>c. picking a </a:t>
            </a:r>
            <a:r>
              <a:rPr lang="en-AU" sz="2800" b="1" dirty="0"/>
              <a:t>blue counter </a:t>
            </a:r>
            <a:r>
              <a:rPr lang="en-AU" sz="2800" dirty="0"/>
              <a:t>from a bag containing </a:t>
            </a:r>
            <a:r>
              <a:rPr lang="en-AU" sz="2800" dirty="0">
                <a:solidFill>
                  <a:schemeClr val="accent2"/>
                </a:solidFill>
              </a:rPr>
              <a:t>12</a:t>
            </a:r>
            <a:r>
              <a:rPr lang="en-AU" sz="2800" b="1" dirty="0"/>
              <a:t> blue counters</a:t>
            </a:r>
            <a:r>
              <a:rPr lang="en-AU" sz="2800" dirty="0"/>
              <a:t> and </a:t>
            </a:r>
            <a:r>
              <a:rPr lang="en-AU" sz="2800" dirty="0">
                <a:solidFill>
                  <a:schemeClr val="accent2"/>
                </a:solidFill>
              </a:rPr>
              <a:t>one</a:t>
            </a:r>
            <a:r>
              <a:rPr lang="en-AU" sz="2800" b="1" dirty="0"/>
              <a:t> red counter</a:t>
            </a:r>
            <a:r>
              <a:rPr lang="en-AU" sz="2800" dirty="0"/>
              <a:t>.</a:t>
            </a:r>
          </a:p>
        </p:txBody>
      </p:sp>
      <p:sp>
        <p:nvSpPr>
          <p:cNvPr id="5" name="TextBox 4">
            <a:extLst>
              <a:ext uri="{FF2B5EF4-FFF2-40B4-BE49-F238E27FC236}">
                <a16:creationId xmlns:a16="http://schemas.microsoft.com/office/drawing/2014/main" id="{006898AA-AFCB-15D8-0226-4A08BC245CF4}"/>
              </a:ext>
            </a:extLst>
          </p:cNvPr>
          <p:cNvSpPr txBox="1"/>
          <p:nvPr/>
        </p:nvSpPr>
        <p:spPr>
          <a:xfrm>
            <a:off x="8608989" y="2258008"/>
            <a:ext cx="2936085" cy="764414"/>
          </a:xfrm>
          <a:prstGeom prst="rect">
            <a:avLst/>
          </a:prstGeom>
          <a:noFill/>
        </p:spPr>
        <p:txBody>
          <a:bodyPr wrap="square" lIns="0" tIns="0" rIns="0" bIns="0" rtlCol="0">
            <a:noAutofit/>
          </a:bodyPr>
          <a:lstStyle/>
          <a:p>
            <a:pPr algn="ctr"/>
            <a:r>
              <a:rPr lang="en-AU" sz="3600" dirty="0"/>
              <a:t>unlikely</a:t>
            </a:r>
          </a:p>
        </p:txBody>
      </p:sp>
      <p:sp>
        <p:nvSpPr>
          <p:cNvPr id="7" name="TextBox 6">
            <a:extLst>
              <a:ext uri="{FF2B5EF4-FFF2-40B4-BE49-F238E27FC236}">
                <a16:creationId xmlns:a16="http://schemas.microsoft.com/office/drawing/2014/main" id="{BB79B507-007F-08E1-EB66-DC3B228C556B}"/>
              </a:ext>
            </a:extLst>
          </p:cNvPr>
          <p:cNvSpPr txBox="1"/>
          <p:nvPr/>
        </p:nvSpPr>
        <p:spPr>
          <a:xfrm>
            <a:off x="8673689" y="3851528"/>
            <a:ext cx="2790842" cy="909168"/>
          </a:xfrm>
          <a:prstGeom prst="rect">
            <a:avLst/>
          </a:prstGeom>
          <a:noFill/>
        </p:spPr>
        <p:txBody>
          <a:bodyPr wrap="square" lIns="0" tIns="0" rIns="0" bIns="0" rtlCol="0">
            <a:noAutofit/>
          </a:bodyPr>
          <a:lstStyle/>
          <a:p>
            <a:pPr algn="ctr"/>
            <a:r>
              <a:rPr lang="en-AU" sz="3600" dirty="0"/>
              <a:t>likely</a:t>
            </a:r>
          </a:p>
        </p:txBody>
      </p:sp>
      <p:sp>
        <p:nvSpPr>
          <p:cNvPr id="8" name="TextBox 7">
            <a:extLst>
              <a:ext uri="{FF2B5EF4-FFF2-40B4-BE49-F238E27FC236}">
                <a16:creationId xmlns:a16="http://schemas.microsoft.com/office/drawing/2014/main" id="{09986C95-282F-C6FF-0643-CA69A1A7E687}"/>
              </a:ext>
            </a:extLst>
          </p:cNvPr>
          <p:cNvSpPr txBox="1"/>
          <p:nvPr/>
        </p:nvSpPr>
        <p:spPr>
          <a:xfrm>
            <a:off x="8264510" y="5338098"/>
            <a:ext cx="3329785" cy="722106"/>
          </a:xfrm>
          <a:prstGeom prst="rect">
            <a:avLst/>
          </a:prstGeom>
          <a:noFill/>
        </p:spPr>
        <p:txBody>
          <a:bodyPr wrap="square" lIns="0" tIns="0" rIns="0" bIns="0" rtlCol="0">
            <a:noAutofit/>
          </a:bodyPr>
          <a:lstStyle/>
          <a:p>
            <a:pPr algn="ctr"/>
            <a:r>
              <a:rPr lang="en-AU" sz="3600" dirty="0"/>
              <a:t>equally likely</a:t>
            </a:r>
          </a:p>
        </p:txBody>
      </p:sp>
      <p:sp>
        <p:nvSpPr>
          <p:cNvPr id="14" name="Rectangle: Rounded Corners 13">
            <a:extLst>
              <a:ext uri="{FF2B5EF4-FFF2-40B4-BE49-F238E27FC236}">
                <a16:creationId xmlns:a16="http://schemas.microsoft.com/office/drawing/2014/main" id="{105DA662-0AAB-D4DD-2923-A555892DD9D3}"/>
              </a:ext>
              <a:ext uri="{C183D7F6-B498-43B3-948B-1728B52AA6E4}">
                <adec:decorative xmlns:adec="http://schemas.microsoft.com/office/drawing/2017/decorative" val="1"/>
              </a:ext>
            </a:extLst>
          </p:cNvPr>
          <p:cNvSpPr/>
          <p:nvPr/>
        </p:nvSpPr>
        <p:spPr>
          <a:xfrm>
            <a:off x="8470900" y="5070553"/>
            <a:ext cx="3074176" cy="1076247"/>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15" name="Rectangle: Rounded Corners 14">
            <a:extLst>
              <a:ext uri="{FF2B5EF4-FFF2-40B4-BE49-F238E27FC236}">
                <a16:creationId xmlns:a16="http://schemas.microsoft.com/office/drawing/2014/main" id="{D0B56727-A928-7C1A-3B68-E4390E8CE57D}"/>
              </a:ext>
              <a:ext uri="{C183D7F6-B498-43B3-948B-1728B52AA6E4}">
                <adec:decorative xmlns:adec="http://schemas.microsoft.com/office/drawing/2017/decorative" val="1"/>
              </a:ext>
            </a:extLst>
          </p:cNvPr>
          <p:cNvSpPr/>
          <p:nvPr/>
        </p:nvSpPr>
        <p:spPr>
          <a:xfrm>
            <a:off x="8470900" y="3642137"/>
            <a:ext cx="3074176" cy="1076247"/>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Rounded Corners 15">
            <a:extLst>
              <a:ext uri="{FF2B5EF4-FFF2-40B4-BE49-F238E27FC236}">
                <a16:creationId xmlns:a16="http://schemas.microsoft.com/office/drawing/2014/main" id="{3018B872-238D-B70C-6EBE-9E1DD1C9B469}"/>
              </a:ext>
              <a:ext uri="{C183D7F6-B498-43B3-948B-1728B52AA6E4}">
                <adec:decorative xmlns:adec="http://schemas.microsoft.com/office/drawing/2017/decorative" val="1"/>
              </a:ext>
            </a:extLst>
          </p:cNvPr>
          <p:cNvSpPr/>
          <p:nvPr/>
        </p:nvSpPr>
        <p:spPr>
          <a:xfrm>
            <a:off x="8470900" y="2032072"/>
            <a:ext cx="3074176" cy="1076247"/>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dirty="0"/>
              <a:t>Activity 7 – regrouping and renaming numbers to 1 billion (1)</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sp>
        <p:nvSpPr>
          <p:cNvPr id="5" name="TextBox 4">
            <a:extLst>
              <a:ext uri="{FF2B5EF4-FFF2-40B4-BE49-F238E27FC236}">
                <a16:creationId xmlns:a16="http://schemas.microsoft.com/office/drawing/2014/main" id="{C09BD429-4E19-3D52-10C8-A32E47A075E9}"/>
              </a:ext>
            </a:extLst>
          </p:cNvPr>
          <p:cNvSpPr txBox="1"/>
          <p:nvPr/>
        </p:nvSpPr>
        <p:spPr>
          <a:xfrm>
            <a:off x="3048630" y="3016045"/>
            <a:ext cx="6094740" cy="1323439"/>
          </a:xfrm>
          <a:prstGeom prst="rect">
            <a:avLst/>
          </a:prstGeom>
          <a:noFill/>
        </p:spPr>
        <p:txBody>
          <a:bodyPr wrap="square">
            <a:spAutoFit/>
          </a:bodyPr>
          <a:lstStyle/>
          <a:p>
            <a:pPr algn="ctr"/>
            <a:r>
              <a:rPr lang="en-AU" sz="8000" b="0" dirty="0">
                <a:solidFill>
                  <a:schemeClr val="accent2"/>
                </a:solidFill>
              </a:rPr>
              <a:t>376 294 591 </a:t>
            </a:r>
            <a:endParaRPr lang="en-AU" sz="8000" dirty="0">
              <a:solidFill>
                <a:schemeClr val="accent2"/>
              </a:solidFill>
            </a:endParaRPr>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F6017-031E-A064-08CC-0257530CAEA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B69076-7ADC-13DC-AD41-5BA4F82CE7F8}"/>
              </a:ext>
            </a:extLst>
          </p:cNvPr>
          <p:cNvSpPr>
            <a:spLocks noGrp="1"/>
          </p:cNvSpPr>
          <p:nvPr>
            <p:ph type="title"/>
          </p:nvPr>
        </p:nvSpPr>
        <p:spPr>
          <a:xfrm>
            <a:off x="360000" y="360000"/>
            <a:ext cx="10367268" cy="545601"/>
          </a:xfrm>
        </p:spPr>
        <p:txBody>
          <a:bodyPr/>
          <a:lstStyle/>
          <a:p>
            <a:r>
              <a:rPr lang="en-AU" dirty="0"/>
              <a:t>Activity 7 – regrouping and renaming numbers to 1 billion (2)</a:t>
            </a:r>
          </a:p>
        </p:txBody>
      </p:sp>
      <p:pic>
        <p:nvPicPr>
          <p:cNvPr id="4" name="Picture 3">
            <a:extLst>
              <a:ext uri="{FF2B5EF4-FFF2-40B4-BE49-F238E27FC236}">
                <a16:creationId xmlns:a16="http://schemas.microsoft.com/office/drawing/2014/main" id="{FF2BEF7C-5C20-DED8-B791-C6B9FF0D742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A white board with a blue dice and the number five hundred and forty-three million, nine hundred and two thousand, one hundred and thirty-six. Number showing expanded notation.">
            <a:extLst>
              <a:ext uri="{FF2B5EF4-FFF2-40B4-BE49-F238E27FC236}">
                <a16:creationId xmlns:a16="http://schemas.microsoft.com/office/drawing/2014/main" id="{C7429736-5E31-4D0E-D4A4-479F7CD4771B}"/>
              </a:ext>
            </a:extLst>
          </p:cNvPr>
          <p:cNvPicPr>
            <a:picLocks noChangeAspect="1"/>
          </p:cNvPicPr>
          <p:nvPr/>
        </p:nvPicPr>
        <p:blipFill>
          <a:blip r:embed="rId4"/>
          <a:stretch>
            <a:fillRect/>
          </a:stretch>
        </p:blipFill>
        <p:spPr>
          <a:xfrm>
            <a:off x="2645659" y="1595038"/>
            <a:ext cx="7316221" cy="4920962"/>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6E028DFA-54D7-B4F9-17E0-A5FEB1523E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1442299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dirty="0">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dirty="0"/>
              <a:t>True or false </a:t>
            </a:r>
            <a:r>
              <a:rPr lang="en-US" dirty="0">
                <a:solidFill>
                  <a:schemeClr val="bg1"/>
                </a:solidFill>
              </a:rPr>
              <a:t>(4)</a:t>
            </a:r>
          </a:p>
        </p:txBody>
      </p:sp>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360001" y="1132812"/>
            <a:ext cx="11243037" cy="893226"/>
          </a:xfrm>
        </p:spPr>
        <p:txBody>
          <a:bodyPr/>
          <a:lstStyle/>
          <a:p>
            <a:pPr algn="ctr"/>
            <a:r>
              <a:rPr lang="en-AU" sz="4400" b="1"/>
              <a:t>429 305 968 </a:t>
            </a:r>
            <a:r>
              <a:rPr lang="en-AU" sz="4400"/>
              <a:t>can be regrouped as:</a:t>
            </a:r>
          </a:p>
          <a:p>
            <a:pPr algn="ctr"/>
            <a:r>
              <a:rPr lang="en-AU" sz="4400"/>
              <a:t>429 000 000 + 30 000 + 5900 + 68.</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3932256633"/>
              </p:ext>
            </p:extLst>
          </p:nvPr>
        </p:nvGraphicFramePr>
        <p:xfrm>
          <a:off x="2442981" y="3853689"/>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5" name="Text Placeholder 5">
            <a:extLst>
              <a:ext uri="{FF2B5EF4-FFF2-40B4-BE49-F238E27FC236}">
                <a16:creationId xmlns:a16="http://schemas.microsoft.com/office/drawing/2014/main" id="{CA80CB52-A16E-C64A-2E8D-39772A92D339}"/>
              </a:ext>
            </a:extLst>
          </p:cNvPr>
          <p:cNvSpPr txBox="1">
            <a:spLocks/>
          </p:cNvSpPr>
          <p:nvPr/>
        </p:nvSpPr>
        <p:spPr>
          <a:xfrm>
            <a:off x="600963" y="5227368"/>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t>Communicate </a:t>
            </a:r>
            <a:r>
              <a:rPr lang="en-AU" sz="4400" dirty="0"/>
              <a:t>your reasoning.</a:t>
            </a:r>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80D0FF69-FB64-E8B8-3609-C35BAF14908F}"/>
              </a:ext>
            </a:extLst>
          </p:cNvPr>
          <p:cNvSpPr txBox="1"/>
          <p:nvPr/>
        </p:nvSpPr>
        <p:spPr>
          <a:xfrm>
            <a:off x="294150" y="1094623"/>
            <a:ext cx="11651826" cy="5149516"/>
          </a:xfrm>
          <a:prstGeom prst="rect">
            <a:avLst/>
          </a:prstGeom>
          <a:noFill/>
        </p:spPr>
        <p:txBody>
          <a:bodyPr wrap="square" lIns="0" tIns="0" rIns="0" bIns="0" rtlCol="0">
            <a:noAutofit/>
          </a:bodyPr>
          <a:lstStyle/>
          <a:p>
            <a:pPr algn="ctr">
              <a:lnSpc>
                <a:spcPct val="150000"/>
              </a:lnSpc>
            </a:pPr>
            <a:r>
              <a:rPr lang="en-AU" sz="3600" dirty="0"/>
              <a:t>Record the expected </a:t>
            </a:r>
            <a:r>
              <a:rPr lang="en-AU" sz="3600" dirty="0">
                <a:solidFill>
                  <a:schemeClr val="accent2"/>
                </a:solidFill>
              </a:rPr>
              <a:t>frequency</a:t>
            </a:r>
            <a:r>
              <a:rPr lang="en-AU" sz="3600" dirty="0"/>
              <a:t> for the </a:t>
            </a:r>
            <a:r>
              <a:rPr lang="en-AU" sz="3600" b="1" dirty="0"/>
              <a:t>chance</a:t>
            </a:r>
            <a:r>
              <a:rPr lang="en-AU" sz="3600" dirty="0"/>
              <a:t> scenario:</a:t>
            </a:r>
          </a:p>
        </p:txBody>
      </p:sp>
      <p:pic>
        <p:nvPicPr>
          <p:cNvPr id="9" name="Picture 8" descr="A person with a speech bubble saying: A weather forecast says there is a 50%chance of rain and a 50% chance of sunshine each day.  You record the weather over 14 days. The expected frequency for each outcome would be ?">
            <a:extLst>
              <a:ext uri="{FF2B5EF4-FFF2-40B4-BE49-F238E27FC236}">
                <a16:creationId xmlns:a16="http://schemas.microsoft.com/office/drawing/2014/main" id="{C00821D1-0928-CE9C-F8BD-4F8C0DE8E61D}"/>
              </a:ext>
            </a:extLst>
          </p:cNvPr>
          <p:cNvPicPr>
            <a:picLocks noChangeAspect="1"/>
          </p:cNvPicPr>
          <p:nvPr/>
        </p:nvPicPr>
        <p:blipFill>
          <a:blip r:embed="rId4"/>
          <a:srcRect b="6563"/>
          <a:stretch>
            <a:fillRect/>
          </a:stretch>
        </p:blipFill>
        <p:spPr>
          <a:xfrm>
            <a:off x="1638300" y="2116846"/>
            <a:ext cx="9664700" cy="4579154"/>
          </a:xfrm>
          <a:prstGeom prst="rect">
            <a:avLst/>
          </a:prstGeom>
        </p:spPr>
      </p:pic>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5" name="TextBox 4">
            <a:extLst>
              <a:ext uri="{FF2B5EF4-FFF2-40B4-BE49-F238E27FC236}">
                <a16:creationId xmlns:a16="http://schemas.microsoft.com/office/drawing/2014/main" id="{4D461B27-E77C-C9F1-F517-77B07AA4B680}"/>
              </a:ext>
            </a:extLst>
          </p:cNvPr>
          <p:cNvSpPr txBox="1"/>
          <p:nvPr/>
        </p:nvSpPr>
        <p:spPr>
          <a:xfrm>
            <a:off x="245700" y="1445677"/>
            <a:ext cx="11375464" cy="5160323"/>
          </a:xfrm>
          <a:prstGeom prst="rect">
            <a:avLst/>
          </a:prstGeom>
          <a:noFill/>
        </p:spPr>
        <p:txBody>
          <a:bodyPr wrap="square">
            <a:spAutoFit/>
          </a:bodyPr>
          <a:lstStyle/>
          <a:p>
            <a:pPr algn="ctr">
              <a:lnSpc>
                <a:spcPct val="150000"/>
              </a:lnSpc>
            </a:pPr>
            <a:r>
              <a:rPr lang="en-AU" sz="3600" dirty="0"/>
              <a:t>Use </a:t>
            </a:r>
            <a:r>
              <a:rPr lang="en-AU" sz="3600" b="1" dirty="0"/>
              <a:t>estimation</a:t>
            </a:r>
            <a:r>
              <a:rPr lang="en-AU" sz="3600" dirty="0"/>
              <a:t> to determine a reasonable answer for: </a:t>
            </a:r>
          </a:p>
          <a:p>
            <a:pPr algn="ctr">
              <a:lnSpc>
                <a:spcPct val="150000"/>
              </a:lnSpc>
            </a:pPr>
            <a:r>
              <a:rPr lang="en-AU" sz="4400" dirty="0"/>
              <a:t>648 ÷ 8 </a:t>
            </a:r>
          </a:p>
          <a:p>
            <a:pPr algn="ctr">
              <a:lnSpc>
                <a:spcPct val="150000"/>
              </a:lnSpc>
            </a:pPr>
            <a:endParaRPr lang="en-AU" sz="3600" dirty="0"/>
          </a:p>
          <a:p>
            <a:pPr algn="ctr">
              <a:lnSpc>
                <a:spcPct val="150000"/>
              </a:lnSpc>
            </a:pPr>
            <a:r>
              <a:rPr lang="en-AU" sz="3600" dirty="0"/>
              <a:t>Next use </a:t>
            </a:r>
            <a:r>
              <a:rPr lang="en-AU" sz="3600" b="1" dirty="0"/>
              <a:t>the area model </a:t>
            </a:r>
            <a:r>
              <a:rPr lang="en-AU" sz="3600" dirty="0"/>
              <a:t>to calculate the quotient and check the reasonableness of your estimate.</a:t>
            </a:r>
          </a:p>
          <a:p>
            <a:pPr algn="ctr">
              <a:lnSpc>
                <a:spcPct val="150000"/>
              </a:lnSpc>
            </a:pPr>
            <a:endParaRPr lang="en-AU" sz="3600" dirty="0"/>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5" name="TextBox 4">
            <a:extLst>
              <a:ext uri="{FF2B5EF4-FFF2-40B4-BE49-F238E27FC236}">
                <a16:creationId xmlns:a16="http://schemas.microsoft.com/office/drawing/2014/main" id="{9A186029-B0BE-9902-FB03-0B41E45E34EF}"/>
              </a:ext>
            </a:extLst>
          </p:cNvPr>
          <p:cNvSpPr txBox="1"/>
          <p:nvPr/>
        </p:nvSpPr>
        <p:spPr>
          <a:xfrm>
            <a:off x="348000" y="905601"/>
            <a:ext cx="11484000" cy="6063198"/>
          </a:xfrm>
          <a:prstGeom prst="rect">
            <a:avLst/>
          </a:prstGeom>
          <a:noFill/>
        </p:spPr>
        <p:txBody>
          <a:bodyPr wrap="square">
            <a:spAutoFit/>
          </a:bodyPr>
          <a:lstStyle/>
          <a:p>
            <a:pPr algn="ctr">
              <a:lnSpc>
                <a:spcPct val="150000"/>
              </a:lnSpc>
              <a:spcBef>
                <a:spcPts val="600"/>
              </a:spcBef>
              <a:spcAft>
                <a:spcPts val="1200"/>
              </a:spcAft>
            </a:pPr>
            <a:r>
              <a:rPr lang="en-AU" sz="3600" dirty="0">
                <a:effectLst/>
                <a:latin typeface="Arial" panose="020B0604020202020204" pitchFamily="34" charset="0"/>
                <a:ea typeface="Calibri" panose="020F0502020204030204" pitchFamily="34" charset="0"/>
              </a:rPr>
              <a:t>Use </a:t>
            </a:r>
            <a:r>
              <a:rPr lang="en-AU" sz="3600" b="1" dirty="0">
                <a:effectLst/>
                <a:latin typeface="Arial" panose="020B0604020202020204" pitchFamily="34" charset="0"/>
                <a:ea typeface="Calibri" panose="020F0502020204030204" pitchFamily="34" charset="0"/>
              </a:rPr>
              <a:t>estimation</a:t>
            </a:r>
            <a:r>
              <a:rPr lang="en-AU" sz="3600" dirty="0">
                <a:effectLst/>
                <a:latin typeface="Arial" panose="020B0604020202020204" pitchFamily="34" charset="0"/>
                <a:ea typeface="Calibri" panose="020F0502020204030204" pitchFamily="34" charset="0"/>
              </a:rPr>
              <a:t> to roughly calculate the answer to this worded problem:</a:t>
            </a:r>
          </a:p>
          <a:p>
            <a:pPr algn="ctr">
              <a:lnSpc>
                <a:spcPct val="150000"/>
              </a:lnSpc>
              <a:spcBef>
                <a:spcPts val="600"/>
              </a:spcBef>
              <a:spcAft>
                <a:spcPts val="1200"/>
              </a:spcAft>
            </a:pPr>
            <a:r>
              <a:rPr lang="en-AU" sz="3600" dirty="0"/>
              <a:t>At an outdoor movie night, </a:t>
            </a:r>
            <a:r>
              <a:rPr lang="en-AU" sz="3600" b="1" dirty="0">
                <a:solidFill>
                  <a:schemeClr val="accent2"/>
                </a:solidFill>
              </a:rPr>
              <a:t>846</a:t>
            </a:r>
            <a:r>
              <a:rPr lang="en-AU" sz="3600" b="1" dirty="0"/>
              <a:t> </a:t>
            </a:r>
            <a:r>
              <a:rPr lang="en-AU" sz="3600" dirty="0"/>
              <a:t>people attended.</a:t>
            </a:r>
          </a:p>
          <a:p>
            <a:pPr algn="ctr">
              <a:lnSpc>
                <a:spcPct val="150000"/>
              </a:lnSpc>
              <a:spcBef>
                <a:spcPts val="600"/>
              </a:spcBef>
              <a:spcAft>
                <a:spcPts val="1200"/>
              </a:spcAft>
            </a:pPr>
            <a:r>
              <a:rPr lang="en-AU" sz="3600" dirty="0"/>
              <a:t>During the movie it started to rain, so </a:t>
            </a:r>
            <a:r>
              <a:rPr lang="en-AU" sz="3600" b="1" dirty="0">
                <a:solidFill>
                  <a:schemeClr val="accent2"/>
                </a:solidFill>
              </a:rPr>
              <a:t>312</a:t>
            </a:r>
            <a:r>
              <a:rPr lang="en-AU" sz="3600" b="1" dirty="0"/>
              <a:t> </a:t>
            </a:r>
            <a:r>
              <a:rPr lang="en-AU" sz="3600" dirty="0"/>
              <a:t>people left early. Of those who stayed, </a:t>
            </a:r>
            <a:r>
              <a:rPr lang="en-AU" sz="3600" b="1" dirty="0">
                <a:solidFill>
                  <a:schemeClr val="accent2"/>
                </a:solidFill>
              </a:rPr>
              <a:t>387 </a:t>
            </a:r>
            <a:r>
              <a:rPr lang="en-AU" sz="3600" dirty="0"/>
              <a:t>were adults.</a:t>
            </a:r>
            <a:br>
              <a:rPr lang="en-AU" sz="3600" dirty="0"/>
            </a:br>
            <a:r>
              <a:rPr lang="en-AU" sz="3600" b="1" dirty="0"/>
              <a:t>How many </a:t>
            </a:r>
            <a:r>
              <a:rPr lang="en-AU" sz="3600" dirty="0"/>
              <a:t>were children?</a:t>
            </a:r>
          </a:p>
          <a:p>
            <a:endParaRPr lang="en-AU" dirty="0"/>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A6A73AC-F508-C409-4E3E-A1B0CA2B1828}"/>
              </a:ext>
            </a:extLst>
          </p:cNvPr>
          <p:cNvSpPr txBox="1"/>
          <p:nvPr/>
        </p:nvSpPr>
        <p:spPr>
          <a:xfrm>
            <a:off x="406762" y="1184223"/>
            <a:ext cx="4146523" cy="4881726"/>
          </a:xfrm>
          <a:prstGeom prst="rect">
            <a:avLst/>
          </a:prstGeom>
          <a:noFill/>
        </p:spPr>
        <p:txBody>
          <a:bodyPr wrap="square" lIns="0" tIns="0" rIns="0" bIns="0" rtlCol="0">
            <a:noAutofit/>
          </a:bodyPr>
          <a:lstStyle/>
          <a:p>
            <a:pPr algn="l">
              <a:lnSpc>
                <a:spcPct val="150000"/>
              </a:lnSpc>
            </a:pPr>
            <a:r>
              <a:rPr lang="en-AU" sz="3100" dirty="0"/>
              <a:t>Use the grid map and compass directions (N, S, E, W) to describe the following route from the park to the hospital.</a:t>
            </a:r>
          </a:p>
        </p:txBody>
      </p:sp>
      <p:pic>
        <p:nvPicPr>
          <p:cNvPr id="4" name="Picture 3" descr="A map of a town with roads and a river running through (top left to bottom right).&#10;&#10;Landmarks are at the following grid references:&#10;A8: house&#10;A5-A6: bus stop&#10;C5: pond&#10;C6-E6: park&#10;E1-F1: hospital&#10;E7-F7: bridge&#10;E10: apple tree&#10;F5: house&#10;F9: house&#10;G6: house&#10;H4: house&#10;I8: house&#10;I6-I7 Field">
            <a:extLst>
              <a:ext uri="{FF2B5EF4-FFF2-40B4-BE49-F238E27FC236}">
                <a16:creationId xmlns:a16="http://schemas.microsoft.com/office/drawing/2014/main" id="{F0557A7D-A574-71ED-A94E-B653C3D1A4AC}"/>
              </a:ext>
            </a:extLst>
          </p:cNvPr>
          <p:cNvPicPr>
            <a:picLocks noChangeAspect="1"/>
          </p:cNvPicPr>
          <p:nvPr/>
        </p:nvPicPr>
        <p:blipFill>
          <a:blip r:embed="rId4"/>
          <a:stretch>
            <a:fillRect/>
          </a:stretch>
        </p:blipFill>
        <p:spPr>
          <a:xfrm>
            <a:off x="4693570" y="833407"/>
            <a:ext cx="6430430" cy="5772593"/>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dirty="0"/>
              <a:t>Activity 8 – </a:t>
            </a:r>
            <a:r>
              <a:rPr lang="en-AU"/>
              <a:t>partitioning and regrouping numbers in standard and non-standard form to 1 billion</a:t>
            </a:r>
            <a:endParaRPr lang="en-AU" dirty="0"/>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A white board with a blue dice and number two hundred and forty-seven million, eight hundred and fifty-two thousand, four hundred and six. Number expanded into place value parts. ">
            <a:extLst>
              <a:ext uri="{FF2B5EF4-FFF2-40B4-BE49-F238E27FC236}">
                <a16:creationId xmlns:a16="http://schemas.microsoft.com/office/drawing/2014/main" id="{DF82409B-3E70-C798-5E21-5774E335EB11}"/>
              </a:ext>
            </a:extLst>
          </p:cNvPr>
          <p:cNvPicPr>
            <a:picLocks noChangeAspect="1"/>
          </p:cNvPicPr>
          <p:nvPr/>
        </p:nvPicPr>
        <p:blipFill>
          <a:blip r:embed="rId4"/>
          <a:stretch>
            <a:fillRect/>
          </a:stretch>
        </p:blipFill>
        <p:spPr>
          <a:xfrm>
            <a:off x="2599469" y="1623562"/>
            <a:ext cx="6993061" cy="4874438"/>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dirty="0">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dirty="0">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dirty="0">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of object 1</a:t>
            </a:r>
            <a:endParaRPr sz="1600" kern="0" dirty="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similar to both objects</a:t>
            </a:r>
            <a:endParaRPr sz="1600" kern="0" dirty="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of object 2</a:t>
            </a:r>
            <a:endParaRPr sz="1600" kern="0" dirty="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dirty="0">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dirty="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dirty="0">
                <a:latin typeface="+mj-lt"/>
                <a:ea typeface="Calibri"/>
                <a:cs typeface="Arial" panose="020B0604020202020204" pitchFamily="34" charset="0"/>
                <a:sym typeface="Calibri"/>
              </a:rPr>
              <a:t>Definition </a:t>
            </a:r>
            <a:endParaRPr sz="2000" dirty="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dirty="0">
                <a:latin typeface="+mj-lt"/>
                <a:ea typeface="Calibri"/>
                <a:cs typeface="Arial" panose="020B0604020202020204" pitchFamily="34" charset="0"/>
                <a:sym typeface="Calibri"/>
              </a:rPr>
              <a:t>Facts/Characteristics</a:t>
            </a:r>
            <a:endParaRPr sz="2000" dirty="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dirty="0">
                <a:latin typeface="+mj-lt"/>
                <a:ea typeface="Calibri"/>
                <a:cs typeface="Arial" panose="020B0604020202020204" pitchFamily="34" charset="0"/>
                <a:sym typeface="Calibri"/>
              </a:rPr>
              <a:t>Examples</a:t>
            </a:r>
            <a:br>
              <a:rPr lang="en" sz="2000" b="1" dirty="0">
                <a:latin typeface="+mj-lt"/>
                <a:ea typeface="Calibri"/>
                <a:cs typeface="Arial" panose="020B0604020202020204" pitchFamily="34" charset="0"/>
                <a:sym typeface="Calibri"/>
              </a:rPr>
            </a:br>
            <a:endParaRPr sz="2000" dirty="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dirty="0">
                <a:latin typeface="+mj-lt"/>
                <a:ea typeface="Calibri"/>
                <a:cs typeface="Arial" panose="020B0604020202020204" pitchFamily="34" charset="0"/>
                <a:sym typeface="Calibri"/>
              </a:rPr>
              <a:t>Non-examples</a:t>
            </a:r>
            <a:br>
              <a:rPr lang="en" sz="2000" b="1" dirty="0">
                <a:latin typeface="+mj-lt"/>
                <a:ea typeface="Calibri"/>
                <a:cs typeface="Arial" panose="020B0604020202020204" pitchFamily="34" charset="0"/>
                <a:sym typeface="Calibri"/>
              </a:rPr>
            </a:br>
            <a:endParaRPr sz="2000" dirty="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dirty="0">
                <a:latin typeface="+mj-lt"/>
                <a:ea typeface="Calibri"/>
                <a:cs typeface="Arial" panose="020B0604020202020204" pitchFamily="34" charset="0"/>
                <a:sym typeface="Calibri"/>
              </a:rPr>
              <a:t>Word, term, concept</a:t>
            </a:r>
            <a:endParaRPr dirty="0">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63</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dirty="0">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dirty="0">
                <a:latin typeface="+mj-lt"/>
                <a:cs typeface="Arial" panose="020B0604020202020204" pitchFamily="34" charset="0"/>
                <a:sym typeface="Montserrat"/>
              </a:rPr>
              <a:t>Subject</a:t>
            </a:r>
            <a:endParaRPr sz="2000" b="1" dirty="0">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dirty="0">
                <a:solidFill>
                  <a:srgbClr val="000000"/>
                </a:solidFill>
                <a:cs typeface="Arial" panose="020B0604020202020204" pitchFamily="34" charset="0"/>
                <a:sym typeface="Montserrat Medium"/>
              </a:rPr>
              <a:t>Idea</a:t>
            </a:r>
            <a:endParaRPr sz="1400" dirty="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dirty="0">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dirty="0">
                <a:latin typeface="+mj-lt"/>
                <a:sym typeface="Calibri"/>
              </a:rPr>
              <a:t>Concept 1</a:t>
            </a:r>
            <a:endParaRPr dirty="0">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dirty="0">
                <a:ea typeface="Calibri"/>
                <a:cs typeface="Arial" panose="020B0604020202020204" pitchFamily="34" charset="0"/>
                <a:sym typeface="Calibri"/>
              </a:rPr>
              <a:t>Word</a:t>
            </a:r>
            <a:endParaRPr sz="2000" dirty="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dirty="0">
                <a:latin typeface="+mj-lt"/>
                <a:sym typeface="Calibri"/>
              </a:rPr>
              <a:t>Concept 2</a:t>
            </a:r>
            <a:endParaRPr dirty="0">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dirty="0">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dirty="0"/>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dirty="0"/>
              <a:t>Multiple choice </a:t>
            </a:r>
            <a:r>
              <a:rPr lang="en-US" dirty="0">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dirty="0"/>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dirty="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dirty="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68</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cs typeface="Arial"/>
              </a:rPr>
              <a:t>References</a:t>
            </a:r>
            <a:endParaRPr lang="en-AU" dirty="0">
              <a:latin typeface="+mj-lt"/>
            </a:endParaRP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dirty="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dirty="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dirty="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dirty="0">
                <a:ln>
                  <a:noFill/>
                </a:ln>
                <a:solidFill>
                  <a:srgbClr val="CBEDFD"/>
                </a:solidFill>
                <a:effectLst/>
                <a:uLnTx/>
                <a:uFillTx/>
                <a:ea typeface="+mn-ea"/>
                <a:cs typeface="+mn-cs"/>
              </a:rPr>
              <a:t> </a:t>
            </a:r>
            <a:r>
              <a:rPr kumimoji="0" lang="en-AU" sz="1200" b="0" i="0" u="none" strike="noStrike" kern="1200" cap="none" spc="0" normalizeH="0" baseline="0" noProof="0" dirty="0">
                <a:ln>
                  <a:noFill/>
                </a:ln>
                <a:solidFill>
                  <a:srgbClr val="FFFFFF"/>
                </a:solidFill>
                <a:effectLst/>
                <a:uLnTx/>
                <a:uFillTx/>
                <a:ea typeface="+mn-ea"/>
                <a:cs typeface="+mn-cs"/>
              </a:rPr>
              <a:t>and the NSW Curriculum website </a:t>
            </a:r>
            <a:r>
              <a:rPr kumimoji="0" lang="en-AU" sz="1200" b="0" i="0" u="none" strike="noStrike" kern="1200" cap="none" spc="0" normalizeH="0" baseline="0" noProof="0" dirty="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dirty="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a:latin typeface="Public Sans Light"/>
                <a:cs typeface="Arial"/>
                <a:hlinkClick r:id="rId6"/>
              </a:rPr>
              <a:t>Mathematics K–10 Syllabus </a:t>
            </a:r>
            <a:r>
              <a:rPr lang="en-AU">
                <a:latin typeface="Public Sans Light"/>
                <a:cs typeface="Arial"/>
              </a:rPr>
              <a:t> © NSW Education Standards Authority (NESA) for and on behalf of the Crown in right of the State of New South Wales, 2022.</a:t>
            </a:r>
            <a:endParaRPr lang="en-US">
              <a:latin typeface="Public Sans Light"/>
            </a:endParaRPr>
          </a:p>
          <a:p>
            <a:r>
              <a:rPr lang="en-AU">
                <a:latin typeface="Public Sans Light"/>
                <a:cs typeface="Arial"/>
                <a:hlinkClick r:id="rId7"/>
              </a:rPr>
              <a:t>National Numeracy Learning Progression </a:t>
            </a:r>
            <a:r>
              <a:rPr lang="en-AU">
                <a:latin typeface="Public Sans Light"/>
                <a:cs typeface="Arial"/>
              </a:rPr>
              <a:t>© Australian Curriculum, Assessment and Reporting Authority (ACARA) 2010 to present, unless otherwise indicated. This material was downloaded from the </a:t>
            </a:r>
            <a:r>
              <a:rPr lang="en-AU">
                <a:latin typeface="Public Sans Light"/>
                <a:cs typeface="Arial"/>
                <a:hlinkClick r:id="rId8"/>
              </a:rPr>
              <a:t>Australian Curriculum </a:t>
            </a:r>
            <a:r>
              <a:rPr lang="en-AU">
                <a:latin typeface="Public Sans Light"/>
                <a:cs typeface="Arial"/>
              </a:rPr>
              <a:t>website (National Literacy Learning Progression) (accessed 19 September 2025) and was not modified.</a:t>
            </a:r>
            <a:endParaRPr lang="en-US">
              <a:latin typeface="Public Sans Light"/>
              <a:cs typeface="Arial"/>
            </a:endParaRPr>
          </a:p>
          <a:p>
            <a:endParaRPr lang="en-AU"/>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69</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dirty="0">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dirty="0">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dirty="0">
                <a:solidFill>
                  <a:schemeClr val="bg1"/>
                </a:solidFill>
              </a:rPr>
              <a:t>The copyright material published in this resource is subject to the </a:t>
            </a:r>
            <a:r>
              <a:rPr lang="en-AU" sz="1200" i="1" dirty="0">
                <a:solidFill>
                  <a:schemeClr val="bg1"/>
                </a:solidFill>
              </a:rPr>
              <a:t>Copyright Act 1968</a:t>
            </a:r>
            <a:r>
              <a:rPr lang="en-AU" sz="1200" dirty="0">
                <a:solidFill>
                  <a:schemeClr val="bg1"/>
                </a:solidFill>
              </a:rPr>
              <a:t> (</a:t>
            </a:r>
            <a:r>
              <a:rPr lang="en-AU" sz="1200" dirty="0" err="1">
                <a:solidFill>
                  <a:schemeClr val="bg1"/>
                </a:solidFill>
              </a:rPr>
              <a:t>Cth</a:t>
            </a:r>
            <a:r>
              <a:rPr lang="en-AU" sz="1200" dirty="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dirty="0">
                <a:solidFill>
                  <a:schemeClr val="bg1"/>
                </a:solidFill>
              </a:rPr>
              <a:t>Copyright material available in this resource and owned by the NSW Department of Education is licensed under a </a:t>
            </a:r>
            <a:r>
              <a:rPr lang="en-AU" sz="1200" dirty="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dirty="0">
                <a:solidFill>
                  <a:schemeClr val="bg1"/>
                </a:solidFill>
              </a:rPr>
              <a:t>.</a:t>
            </a:r>
          </a:p>
          <a:p>
            <a:pPr algn="l">
              <a:lnSpc>
                <a:spcPct val="150000"/>
              </a:lnSpc>
              <a:spcAft>
                <a:spcPts val="600"/>
              </a:spcAft>
            </a:pPr>
            <a:r>
              <a:rPr lang="en-AU" sz="1200" dirty="0">
                <a:solidFill>
                  <a:schemeClr val="bg1"/>
                </a:solidFill>
              </a:rPr>
              <a:t>This license allows you to share and adapt the material for any purpose, even commercially.</a:t>
            </a:r>
          </a:p>
          <a:p>
            <a:pPr algn="l">
              <a:lnSpc>
                <a:spcPct val="150000"/>
              </a:lnSpc>
              <a:spcAft>
                <a:spcPts val="600"/>
              </a:spcAft>
            </a:pPr>
            <a:r>
              <a:rPr lang="en-AU" sz="1200" dirty="0">
                <a:solidFill>
                  <a:schemeClr val="bg1"/>
                </a:solidFill>
              </a:rPr>
              <a:t>Attribution should be given to © State of New South Wales (Department of Education), 2025.</a:t>
            </a:r>
          </a:p>
          <a:p>
            <a:pPr algn="l">
              <a:lnSpc>
                <a:spcPct val="150000"/>
              </a:lnSpc>
            </a:pPr>
            <a:r>
              <a:rPr lang="en-AU" sz="1200" dirty="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dirty="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dirty="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dirty="0">
                <a:solidFill>
                  <a:schemeClr val="bg1"/>
                </a:solidFill>
                <a:latin typeface="+mj-lt"/>
              </a:rPr>
              <a:t>Links to third-party material and websites</a:t>
            </a:r>
          </a:p>
          <a:p>
            <a:pPr algn="l">
              <a:lnSpc>
                <a:spcPct val="150000"/>
              </a:lnSpc>
              <a:spcAft>
                <a:spcPts val="600"/>
              </a:spcAft>
            </a:pPr>
            <a:r>
              <a:rPr lang="en-AU" sz="1200" dirty="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dirty="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dirty="0">
                <a:solidFill>
                  <a:schemeClr val="bg1"/>
                </a:solidFill>
              </a:rPr>
              <a:t>Copyright Act 1968 </a:t>
            </a:r>
            <a:r>
              <a:rPr lang="en-AU" sz="1200" dirty="0">
                <a:solidFill>
                  <a:schemeClr val="bg1"/>
                </a:solidFill>
              </a:rPr>
              <a:t>(</a:t>
            </a:r>
            <a:r>
              <a:rPr lang="en-AU" sz="1200" dirty="0" err="1">
                <a:solidFill>
                  <a:schemeClr val="bg1"/>
                </a:solidFill>
              </a:rPr>
              <a:t>Cth</a:t>
            </a:r>
            <a:r>
              <a:rPr lang="en-AU" sz="1200" dirty="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555570-2BD4-426B-AA32-0A79CB6508A8}">
  <ds:schemaRefs>
    <ds:schemaRef ds:uri="http://purl.org/dc/dcmitype/"/>
    <ds:schemaRef ds:uri="http://schemas.openxmlformats.org/package/2006/metadata/core-properties"/>
    <ds:schemaRef ds:uri="http://purl.org/dc/terms/"/>
    <ds:schemaRef ds:uri="http://www.w3.org/XML/1998/namespace"/>
    <ds:schemaRef ds:uri="http://schemas.microsoft.com/office/infopath/2007/PartnerControls"/>
    <ds:schemaRef ds:uri="http://schemas.microsoft.com/office/2006/metadata/properties"/>
    <ds:schemaRef ds:uri="http://schemas.microsoft.com/office/2006/documentManagement/types"/>
    <ds:schemaRef ds:uri="60129b06-f64b-40a8-96e2-c5b2f86112b1"/>
    <ds:schemaRef ds:uri="7e763d47-3c66-4c58-9425-1477fd3ccd1e"/>
    <ds:schemaRef ds:uri="http://purl.org/dc/elements/1.1/"/>
  </ds:schemaRefs>
</ds:datastoreItem>
</file>

<file path=customXml/itemProps2.xml><?xml version="1.0" encoding="utf-8"?>
<ds:datastoreItem xmlns:ds="http://schemas.openxmlformats.org/officeDocument/2006/customXml" ds:itemID="{906D4431-3439-4266-80D7-8AC17C6220D0}"/>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Review of learning template (1)</Template>
  <TotalTime>4394</TotalTime>
  <Words>6265</Words>
  <Application>Microsoft Office PowerPoint</Application>
  <PresentationFormat>Widescreen</PresentationFormat>
  <Paragraphs>886</Paragraphs>
  <Slides>70</Slides>
  <Notes>70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70</vt:i4>
      </vt:variant>
    </vt:vector>
  </HeadingPairs>
  <TitlesOfParts>
    <vt:vector size="80" baseType="lpstr">
      <vt:lpstr>Arial</vt:lpstr>
      <vt:lpstr>Public Sans</vt:lpstr>
      <vt:lpstr>Times New Roman</vt:lpstr>
      <vt:lpstr>Calibri</vt:lpstr>
      <vt:lpstr>Cambria Math</vt:lpstr>
      <vt:lpstr>Public Sans Light</vt:lpstr>
      <vt:lpstr>Montserrat</vt:lpstr>
      <vt:lpstr>Wingdings</vt:lpstr>
      <vt:lpstr>Canva Student Font</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comparing halves and quarters (1)</vt:lpstr>
      <vt:lpstr>Activity 1 – comparing halves and quarters (2)</vt:lpstr>
      <vt:lpstr>Review of learning 2</vt:lpstr>
      <vt:lpstr>True or false (1)</vt:lpstr>
      <vt:lpstr>Short response (5)</vt:lpstr>
      <vt:lpstr>Short response (6)</vt:lpstr>
      <vt:lpstr>Short response (7)</vt:lpstr>
      <vt:lpstr>Short response (8)</vt:lpstr>
      <vt:lpstr>Activity 2 – ordering unit fractions on a number line</vt:lpstr>
      <vt:lpstr>Review of learning 3</vt:lpstr>
      <vt:lpstr>Multiple choice (2)</vt:lpstr>
      <vt:lpstr>Short response (9)</vt:lpstr>
      <vt:lpstr>Short response (10)</vt:lpstr>
      <vt:lpstr>Short response (11)</vt:lpstr>
      <vt:lpstr>Short response (12)</vt:lpstr>
      <vt:lpstr>Activity 3 – applying the common whole (one) when adding fractions</vt:lpstr>
      <vt:lpstr>Review of learning 4</vt:lpstr>
      <vt:lpstr>True or false (2)</vt:lpstr>
      <vt:lpstr>Short response (13)</vt:lpstr>
      <vt:lpstr>Short response (14)</vt:lpstr>
      <vt:lpstr>Short response (15)</vt:lpstr>
      <vt:lpstr>Short response (16)</vt:lpstr>
      <vt:lpstr>Activity 4 – comparing and ordering unit fractions on a number line</vt:lpstr>
      <vt:lpstr>Review of learning 5</vt:lpstr>
      <vt:lpstr>Multiple choice (3)</vt:lpstr>
      <vt:lpstr>Short response (17)</vt:lpstr>
      <vt:lpstr>Short response (18)</vt:lpstr>
      <vt:lpstr>Short response (19)</vt:lpstr>
      <vt:lpstr>Short response (20)</vt:lpstr>
      <vt:lpstr>Activity 5 – applying place value with numbers to 1 billion</vt:lpstr>
      <vt:lpstr>Review of learning 6</vt:lpstr>
      <vt:lpstr>True or false (3)</vt:lpstr>
      <vt:lpstr>Short response (21)</vt:lpstr>
      <vt:lpstr>Short response (22)</vt:lpstr>
      <vt:lpstr>Short response (23)</vt:lpstr>
      <vt:lpstr>Short response (24)</vt:lpstr>
      <vt:lpstr>Activity 6 – applying non-standard partitioning</vt:lpstr>
      <vt:lpstr>Review of learning 7</vt:lpstr>
      <vt:lpstr>Multiple choice (4)</vt:lpstr>
      <vt:lpstr>Short response (25)</vt:lpstr>
      <vt:lpstr>Short response (26)</vt:lpstr>
      <vt:lpstr>Short response (27)</vt:lpstr>
      <vt:lpstr>Short response (28)</vt:lpstr>
      <vt:lpstr>Activity 7 – regrouping and renaming numbers to 1 billion (1)</vt:lpstr>
      <vt:lpstr>Activity 7 – regrouping and renaming numbers to 1 billion (2)</vt:lpstr>
      <vt:lpstr>Review of learning 8</vt:lpstr>
      <vt:lpstr>True or false (4)</vt:lpstr>
      <vt:lpstr>Short response (29)</vt:lpstr>
      <vt:lpstr>Short response (30)</vt:lpstr>
      <vt:lpstr>Short response (31)</vt:lpstr>
      <vt:lpstr>Short response (32)</vt:lpstr>
      <vt:lpstr>Activity 8 – partitioning and regrouping numbers in standard and non-standard form to 1 billion</vt:lpstr>
      <vt:lpstr>Double Venn diagram</vt:lpstr>
      <vt:lpstr>Frayer</vt:lpstr>
      <vt:lpstr>Spider map</vt:lpstr>
      <vt:lpstr>Cline</vt:lpstr>
      <vt:lpstr>Compare and contrast</vt:lpstr>
      <vt:lpstr>Multiple choice (5)</vt:lpstr>
      <vt:lpstr>Multiple choice</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5</cp:revision>
  <dcterms:created xsi:type="dcterms:W3CDTF">2025-10-28T21:34:25Z</dcterms:created>
  <dcterms:modified xsi:type="dcterms:W3CDTF">2026-03-23T20:53:20Z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