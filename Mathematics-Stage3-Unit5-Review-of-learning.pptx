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75"/>
  </p:notesMasterIdLst>
  <p:handoutMasterIdLst>
    <p:handoutMasterId r:id="rId76"/>
  </p:handoutMasterIdLst>
  <p:sldIdLst>
    <p:sldId id="365" r:id="rId6"/>
    <p:sldId id="26579" r:id="rId7"/>
    <p:sldId id="26359" r:id="rId8"/>
    <p:sldId id="271" r:id="rId9"/>
    <p:sldId id="26577" r:id="rId10"/>
    <p:sldId id="358" r:id="rId11"/>
    <p:sldId id="26581" r:id="rId12"/>
    <p:sldId id="26648" r:id="rId13"/>
    <p:sldId id="26582" r:id="rId14"/>
    <p:sldId id="26576" r:id="rId15"/>
    <p:sldId id="26583" r:id="rId16"/>
    <p:sldId id="26586" r:id="rId17"/>
    <p:sldId id="26587" r:id="rId18"/>
    <p:sldId id="26588" r:id="rId19"/>
    <p:sldId id="26589" r:id="rId20"/>
    <p:sldId id="26590" r:id="rId21"/>
    <p:sldId id="26591" r:id="rId22"/>
    <p:sldId id="26592" r:id="rId23"/>
    <p:sldId id="26594" r:id="rId24"/>
    <p:sldId id="26596" r:id="rId25"/>
    <p:sldId id="26597" r:id="rId26"/>
    <p:sldId id="26598" r:id="rId27"/>
    <p:sldId id="26599" r:id="rId28"/>
    <p:sldId id="26646" r:id="rId29"/>
    <p:sldId id="26601" r:id="rId30"/>
    <p:sldId id="26604" r:id="rId31"/>
    <p:sldId id="26605" r:id="rId32"/>
    <p:sldId id="26606" r:id="rId33"/>
    <p:sldId id="26607" r:id="rId34"/>
    <p:sldId id="26608" r:id="rId35"/>
    <p:sldId id="26609" r:id="rId36"/>
    <p:sldId id="26610" r:id="rId37"/>
    <p:sldId id="26611"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29" r:id="rId52"/>
    <p:sldId id="26647" r:id="rId53"/>
    <p:sldId id="26633" r:id="rId54"/>
    <p:sldId id="26651" r:id="rId55"/>
    <p:sldId id="26635" r:id="rId56"/>
    <p:sldId id="26430" r:id="rId57"/>
    <p:sldId id="26637" r:id="rId58"/>
    <p:sldId id="26640" r:id="rId59"/>
    <p:sldId id="26641" r:id="rId60"/>
    <p:sldId id="26642" r:id="rId61"/>
    <p:sldId id="26650" r:id="rId62"/>
    <p:sldId id="26644" r:id="rId63"/>
    <p:sldId id="26645" r:id="rId64"/>
    <p:sldId id="26393" r:id="rId65"/>
    <p:sldId id="26387" r:id="rId66"/>
    <p:sldId id="26395" r:id="rId67"/>
    <p:sldId id="26391" r:id="rId68"/>
    <p:sldId id="26402" r:id="rId69"/>
    <p:sldId id="26507" r:id="rId70"/>
    <p:sldId id="26510" r:id="rId71"/>
    <p:sldId id="360" r:id="rId72"/>
    <p:sldId id="26649" r:id="rId73"/>
    <p:sldId id="361" r:id="rId74"/>
  </p:sldIdLst>
  <p:sldSz cx="12192000" cy="6858000"/>
  <p:notesSz cx="6858000" cy="9144000"/>
  <p:embeddedFontLst>
    <p:embeddedFont>
      <p:font typeface="Cambria Math" panose="02040503050406030204" pitchFamily="18" charset="0"/>
      <p:regular r:id="rId77"/>
    </p:embeddedFont>
    <p:embeddedFont>
      <p:font typeface="Edu NSW ACT Foundation" panose="020B0604020202020204" charset="0"/>
      <p:regular r:id="rId78"/>
      <p:bold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1"/>
            <p14:sldId id="26648"/>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46"/>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47"/>
            <p14:sldId id="26633"/>
            <p14:sldId id="26651"/>
            <p14:sldId id="26635"/>
            <p14:sldId id="26430"/>
          </p14:sldIdLst>
        </p14:section>
        <p14:section name="Review of learning 8" id="{6FF8F7EC-803E-4F84-BA41-6B3ED673D597}">
          <p14:sldIdLst>
            <p14:sldId id="26637"/>
            <p14:sldId id="26640"/>
            <p14:sldId id="26641"/>
            <p14:sldId id="26642"/>
            <p14:sldId id="26650"/>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649"/>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084C0B-0E90-4606-B289-2FAC5810AAF1}" v="796" dt="2025-11-30T23:18:48.740"/>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font" Target="fonts/font3.fntdata"/><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4.fntdata"/><Relationship Id="rId85" Type="http://schemas.openxmlformats.org/officeDocument/2006/relationships/font" Target="fonts/font9.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1.fntdata"/><Relationship Id="rId61" Type="http://schemas.openxmlformats.org/officeDocument/2006/relationships/slide" Target="slides/slide56.xml"/><Relationship Id="rId82" Type="http://schemas.openxmlformats.org/officeDocument/2006/relationships/font" Target="fonts/font6.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3-let-s-talk-2-number-talk-15x9"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games.abc.net.au/education/goat-busters/"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5</a:t>
            </a:r>
          </a:p>
          <a:p>
            <a:pPr marL="285750" indent="-285750">
              <a:buFont typeface="Arial" panose="020B0604020202020204" pitchFamily="34" charset="0"/>
              <a:buChar char="•"/>
            </a:pPr>
            <a:r>
              <a:rPr lang="en-AU"/>
              <a:t>Stage 3 Year A Unit 4</a:t>
            </a:r>
          </a:p>
          <a:p>
            <a:pPr marL="285750" indent="-285750">
              <a:buFont typeface="Arial" panose="020B0604020202020204" pitchFamily="34" charset="0"/>
              <a:buChar char="•"/>
            </a:pPr>
            <a:r>
              <a:rPr lang="en-AU"/>
              <a:t>Stage 3 Year A Unit 3</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6198-776F-5907-EEBA-701697A2B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6B4FB-9D6E-50FE-4552-8617F35FE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2B959-F281-ADE3-16A1-FD53CD12763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8A4856-753D-863E-DAA5-4A9D11AFC66A}"/>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3814250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Activity 1- naming numbers in the millions 1</a:t>
            </a:r>
          </a:p>
          <a:p>
            <a:pPr lvl="0"/>
            <a:r>
              <a:rPr lang="en-AU" sz="1600" kern="1200">
                <a:solidFill>
                  <a:schemeClr val="tx1"/>
                </a:solidFill>
                <a:effectLst/>
                <a:latin typeface="Public Sans" pitchFamily="2" charset="0"/>
                <a:ea typeface="+mn-ea"/>
                <a:cs typeface="Arial" panose="020B0604020202020204" pitchFamily="34" charset="0"/>
              </a:rPr>
              <a:t>1. Prompt students that you are thinking of a number. Give the following clues:</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number is larger than 10 million</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first 3 digits add to a number greater than 5</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digit in the tens of thousands place is smaller than 4</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thousands digit is even</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hundreds digit is larger than the units digit</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tens digit is larger than the hundreds digit and is odd</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the number is a multiple of 5.</a:t>
            </a:r>
          </a:p>
          <a:p>
            <a:pPr lvl="0"/>
            <a:r>
              <a:rPr lang="en-AU" sz="1600" kern="1200">
                <a:solidFill>
                  <a:schemeClr val="tx1"/>
                </a:solidFill>
                <a:effectLst/>
                <a:latin typeface="Public Sans" pitchFamily="2" charset="0"/>
                <a:ea typeface="+mn-ea"/>
                <a:cs typeface="Arial" panose="020B0604020202020204" pitchFamily="34" charset="0"/>
              </a:rPr>
              <a:t>2. Instruct students to use the clues to record the number on individual whiteboards.</a:t>
            </a:r>
          </a:p>
          <a:p>
            <a:pPr lvl="0"/>
            <a:r>
              <a:rPr lang="en-AU" sz="1600" kern="1200">
                <a:solidFill>
                  <a:schemeClr val="tx1"/>
                </a:solidFill>
                <a:effectLst/>
                <a:latin typeface="Public Sans" pitchFamily="2" charset="0"/>
                <a:ea typeface="+mn-ea"/>
                <a:cs typeface="Arial" panose="020B0604020202020204" pitchFamily="34" charset="0"/>
              </a:rPr>
              <a:t>3. Students share their answer with a partner and justify their thinking. Allow time for students to refine their answers.</a:t>
            </a:r>
          </a:p>
          <a:p>
            <a:pPr lvl="0"/>
            <a:r>
              <a:rPr lang="en-AU" sz="1600" kern="1200">
                <a:solidFill>
                  <a:schemeClr val="tx1"/>
                </a:solidFill>
                <a:effectLst/>
                <a:latin typeface="Public Sans" pitchFamily="2" charset="0"/>
                <a:ea typeface="+mn-ea"/>
                <a:cs typeface="Arial" panose="020B0604020202020204" pitchFamily="34" charset="0"/>
              </a:rPr>
              <a:t>4. As a class, discuss student thinking. Ask:</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What is your number?</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Can you explain why your number could be correct?</a:t>
            </a:r>
          </a:p>
          <a:p>
            <a:pPr marL="285750" lvl="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Is your number larger or smaller than your partner’s?</a:t>
            </a:r>
          </a:p>
          <a:p>
            <a:pPr marL="285750" indent="-285750">
              <a:buFont typeface="Arial" panose="020B0604020202020204" pitchFamily="34" charset="0"/>
              <a:buChar char="•"/>
            </a:pPr>
            <a:r>
              <a:rPr lang="en-AU" sz="1600" kern="1200">
                <a:solidFill>
                  <a:schemeClr val="tx1"/>
                </a:solidFill>
                <a:effectLst/>
                <a:latin typeface="Public Sans" pitchFamily="2" charset="0"/>
                <a:ea typeface="+mn-ea"/>
                <a:cs typeface="Arial" panose="020B0604020202020204" pitchFamily="34" charset="0"/>
              </a:rPr>
              <a:t>Can you think of another possible number?</a:t>
            </a:r>
          </a:p>
          <a:p>
            <a:pPr marL="285750" indent="-285750">
              <a:buFont typeface="Arial" panose="020B0604020202020204" pitchFamily="34" charset="0"/>
              <a:buChar char="•"/>
            </a:pPr>
            <a:endParaRPr lang="en-AU" sz="1600" kern="1200">
              <a:solidFill>
                <a:schemeClr val="tx1"/>
              </a:solidFill>
              <a:effectLst/>
              <a:latin typeface="Public Sans" pitchFamily="2"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from </a:t>
            </a:r>
            <a:r>
              <a:rPr lang="en-AU" sz="1600" i="1" kern="1200">
                <a:solidFill>
                  <a:schemeClr val="tx1"/>
                </a:solidFill>
                <a:effectLst/>
                <a:latin typeface="Arial" panose="020B0604020202020204" pitchFamily="34" charset="0"/>
                <a:ea typeface="+mn-ea"/>
                <a:cs typeface="Arial" panose="020B0604020202020204" pitchFamily="34" charset="0"/>
              </a:rPr>
              <a:t>Open-ended Maths Activities: Using ‘Good’ Questions to Enhance Learning in Mathematics</a:t>
            </a:r>
            <a:r>
              <a:rPr lang="en-AU" sz="1600" kern="1200">
                <a:solidFill>
                  <a:schemeClr val="tx1"/>
                </a:solidFill>
                <a:effectLst/>
                <a:latin typeface="Arial" panose="020B0604020202020204" pitchFamily="34" charset="0"/>
                <a:ea typeface="+mn-ea"/>
                <a:cs typeface="Arial" panose="020B0604020202020204" pitchFamily="34" charset="0"/>
              </a:rPr>
              <a:t>, Revised </a:t>
            </a:r>
            <a:r>
              <a:rPr lang="en-AU" sz="1600" kern="1200" err="1">
                <a:solidFill>
                  <a:schemeClr val="tx1"/>
                </a:solidFill>
                <a:effectLst/>
                <a:latin typeface="Arial" panose="020B0604020202020204" pitchFamily="34" charset="0"/>
                <a:ea typeface="+mn-ea"/>
                <a:cs typeface="Arial" panose="020B0604020202020204" pitchFamily="34" charset="0"/>
              </a:rPr>
              <a:t>edn</a:t>
            </a:r>
            <a:r>
              <a:rPr lang="en-AU" sz="1600" kern="1200">
                <a:solidFill>
                  <a:schemeClr val="tx1"/>
                </a:solidFill>
                <a:effectLst/>
                <a:latin typeface="Arial" panose="020B0604020202020204" pitchFamily="34" charset="0"/>
                <a:ea typeface="+mn-ea"/>
                <a:cs typeface="Arial" panose="020B0604020202020204" pitchFamily="34" charset="0"/>
              </a:rPr>
              <a:t> by Sullivan and Lilburn.</a:t>
            </a:r>
          </a:p>
          <a:p>
            <a:pPr marL="0" indent="0">
              <a:buFont typeface="Arial" panose="020B0604020202020204" pitchFamily="34" charset="0"/>
              <a:buNone/>
            </a:pPr>
            <a:endParaRPr lang="en-AU"/>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 </a:t>
            </a:r>
          </a:p>
          <a:p>
            <a:pPr>
              <a:defRPr/>
            </a:pPr>
            <a:r>
              <a:rPr lang="en-AU">
                <a:latin typeface="Arial"/>
                <a:cs typeface="Arial"/>
              </a:rPr>
              <a:t>Geometric measure B: Angles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Activity 2 – ordering numbers in the millions 1</a:t>
            </a:r>
          </a:p>
          <a:p>
            <a:r>
              <a:rPr lang="en-AU" b="0"/>
              <a:t>This resource corresponds to Resource 27 – number cards in Stage 3 Year A Unit 5.</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Divide the class into equal teams and provide each student with a number card from </a:t>
            </a:r>
            <a:r>
              <a:rPr lang="en-AU" b="0"/>
              <a:t>Resource 27 – number cards</a:t>
            </a:r>
            <a:r>
              <a:rPr lang="en-AU" sz="1600" kern="1200">
                <a:solidFill>
                  <a:schemeClr val="tx1"/>
                </a:solidFill>
                <a:effectLst/>
                <a:latin typeface="Arial" panose="020B0604020202020204" pitchFamily="34" charset="0"/>
                <a:ea typeface="+mn-ea"/>
                <a:cs typeface="Arial" panose="020B0604020202020204" pitchFamily="34" charset="0"/>
              </a:rPr>
              <a:t>. Instruct them not to look at the number</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that students will be playing a game where they will need to arrange themselves in ascending order according to their number card.</a:t>
            </a:r>
          </a:p>
          <a:p>
            <a:pPr lvl="0"/>
            <a:r>
              <a:rPr lang="en-AU" sz="1600" kern="1200">
                <a:solidFill>
                  <a:schemeClr val="tx1"/>
                </a:solidFill>
                <a:effectLst/>
                <a:latin typeface="Arial" panose="020B0604020202020204" pitchFamily="34" charset="0"/>
                <a:ea typeface="+mn-ea"/>
                <a:cs typeface="Arial" panose="020B0604020202020204" pitchFamily="34" charset="0"/>
              </a:rPr>
              <a:t>3. Give a prearranged signal to start the game.</a:t>
            </a:r>
          </a:p>
          <a:p>
            <a:pPr lvl="0"/>
            <a:r>
              <a:rPr lang="en-AU" sz="1600" kern="1200">
                <a:solidFill>
                  <a:schemeClr val="tx1"/>
                </a:solidFill>
                <a:effectLst/>
                <a:latin typeface="Arial" panose="020B0604020202020204" pitchFamily="34" charset="0"/>
                <a:ea typeface="+mn-ea"/>
                <a:cs typeface="Arial" panose="020B0604020202020204" pitchFamily="34" charset="0"/>
              </a:rPr>
              <a:t>4. Students look at their number and teams arrange themselves in ascending order, displaying their number cards.</a:t>
            </a:r>
          </a:p>
          <a:p>
            <a:pPr lvl="0"/>
            <a:r>
              <a:rPr lang="en-AU" sz="1600" kern="1200">
                <a:solidFill>
                  <a:schemeClr val="tx1"/>
                </a:solidFill>
                <a:effectLst/>
                <a:latin typeface="Arial" panose="020B0604020202020204" pitchFamily="34" charset="0"/>
                <a:ea typeface="+mn-ea"/>
                <a:cs typeface="Arial" panose="020B0604020202020204" pitchFamily="34" charset="0"/>
              </a:rPr>
              <a:t>5. When all teams have finished, check each team’s order by asking students to read out the numbers.</a:t>
            </a:r>
          </a:p>
          <a:p>
            <a:pPr lvl="0"/>
            <a:r>
              <a:rPr lang="en-AU" sz="1600" kern="1200">
                <a:solidFill>
                  <a:schemeClr val="tx1"/>
                </a:solidFill>
                <a:effectLst/>
                <a:latin typeface="Arial" panose="020B0604020202020204" pitchFamily="34" charset="0"/>
                <a:ea typeface="+mn-ea"/>
                <a:cs typeface="Arial" panose="020B0604020202020204" pitchFamily="34" charset="0"/>
              </a:rPr>
              <a:t>6. Repeat using different number cards.</a:t>
            </a:r>
          </a:p>
          <a:p>
            <a:pPr lvl="0"/>
            <a:r>
              <a:rPr lang="en-AU" sz="1600" kern="1200">
                <a:solidFill>
                  <a:schemeClr val="tx1"/>
                </a:solidFill>
                <a:effectLst/>
                <a:latin typeface="Arial" panose="020B0604020202020204" pitchFamily="34" charset="0"/>
                <a:ea typeface="+mn-ea"/>
                <a:cs typeface="Arial" panose="020B0604020202020204" pitchFamily="34" charset="0"/>
              </a:rPr>
              <a:t>7. Variations could include:</a:t>
            </a:r>
          </a:p>
          <a:p>
            <a:pPr lvl="0"/>
            <a:r>
              <a:rPr lang="en-AU" sz="1600" kern="1200">
                <a:solidFill>
                  <a:schemeClr val="tx1"/>
                </a:solidFill>
                <a:effectLst/>
                <a:latin typeface="Arial" panose="020B0604020202020204" pitchFamily="34" charset="0"/>
                <a:ea typeface="+mn-ea"/>
                <a:cs typeface="Arial" panose="020B0604020202020204" pitchFamily="34" charset="0"/>
              </a:rPr>
              <a:t>- the first team to arrange themselves in the correct order scores a point</a:t>
            </a:r>
          </a:p>
          <a:p>
            <a:pPr lvl="0"/>
            <a:r>
              <a:rPr lang="en-AU" sz="1600" kern="1200">
                <a:solidFill>
                  <a:schemeClr val="tx1"/>
                </a:solidFill>
                <a:effectLst/>
                <a:latin typeface="Arial" panose="020B0604020202020204" pitchFamily="34" charset="0"/>
                <a:ea typeface="+mn-ea"/>
                <a:cs typeface="Arial" panose="020B0604020202020204" pitchFamily="34" charset="0"/>
              </a:rPr>
              <a:t>- teams arrange themselves in descending order</a:t>
            </a:r>
          </a:p>
          <a:p>
            <a:pPr lvl="0"/>
            <a:r>
              <a:rPr lang="en-AU" sz="1600" kern="1200">
                <a:solidFill>
                  <a:schemeClr val="tx1"/>
                </a:solidFill>
                <a:effectLst/>
                <a:latin typeface="Arial" panose="020B0604020202020204" pitchFamily="34" charset="0"/>
                <a:ea typeface="+mn-ea"/>
                <a:cs typeface="Arial" panose="020B0604020202020204" pitchFamily="34" charset="0"/>
              </a:rPr>
              <a:t>- in pairs, students arrange all the numbers from </a:t>
            </a:r>
            <a:r>
              <a:rPr lang="en-AU" b="0"/>
              <a:t>Resource 27 – number cards</a:t>
            </a:r>
            <a:r>
              <a:rPr lang="en-AU" sz="1600" kern="1200">
                <a:solidFill>
                  <a:schemeClr val="tx1"/>
                </a:solidFill>
                <a:effectLst/>
                <a:latin typeface="Arial" panose="020B0604020202020204" pitchFamily="34" charset="0"/>
                <a:ea typeface="+mn-ea"/>
                <a:cs typeface="Arial" panose="020B0604020202020204" pitchFamily="34" charset="0"/>
              </a:rPr>
              <a:t>. in ascending order.</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7E0D-7135-1AB6-2DE4-8CDC86D08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9EC92-8B30-3A23-C64C-B6A01023D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3188E-D573-0E3E-8820-814B17EE4567}"/>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Activity 3 – ordering numbers in the millions 2</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‘Order! Order! (four-digit numbers)’ from Thinking mathematically resources by State of New South Wales (Department of Education).</a:t>
            </a:r>
          </a:p>
          <a:p>
            <a:endParaRPr lang="en-AU" b="0"/>
          </a:p>
          <a:p>
            <a:r>
              <a:rPr lang="en-AU" b="0"/>
              <a:t>This resource corresponds to Resource 27 – number cards in Stage 3 Year A Unit 5.</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Place </a:t>
            </a:r>
            <a:r>
              <a:rPr lang="en-AU" b="0"/>
              <a:t>Resource 27 – number cards </a:t>
            </a:r>
            <a:r>
              <a:rPr lang="en-AU" sz="1600" kern="1200">
                <a:solidFill>
                  <a:schemeClr val="tx1"/>
                </a:solidFill>
                <a:effectLst/>
                <a:latin typeface="Arial" panose="020B0604020202020204" pitchFamily="34" charset="0"/>
                <a:ea typeface="+mn-ea"/>
                <a:cs typeface="Arial" panose="020B0604020202020204" pitchFamily="34" charset="0"/>
              </a:rPr>
              <a:t>in a pile face down.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players draw 4 cards each and place them facing up in front of them.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are to rearrange the cards so that the numbers are in ascending order.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aim of the game is to order the cards in the fewest moves possible, moving adjacent cards only.</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take turns rearranging their cards and recording the number of moves it takes to order them.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winner is the player who uses the fewest moves possible.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Observe students as they play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will your next move be?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largest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smallest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moves have you made so far?</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lvl="0" indent="0">
              <a:buFont typeface="+mj-lt"/>
              <a:buNone/>
            </a:pPr>
            <a:r>
              <a:rPr lang="en-AU" sz="1600" kern="1200">
                <a:solidFill>
                  <a:schemeClr val="tx1"/>
                </a:solidFill>
                <a:effectLst/>
                <a:latin typeface="Arial" panose="020B0604020202020204" pitchFamily="34" charset="0"/>
                <a:ea typeface="+mn-ea"/>
                <a:cs typeface="Arial" panose="020B0604020202020204" pitchFamily="34" charset="0"/>
              </a:rPr>
              <a:t>Repeat with 4 new numbers and order these in descending order.</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B9B4E7F6-8885-B990-C8F7-302A984BB72A}"/>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946505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Two-dimensional spatial structure A: 2D shapes </a:t>
            </a:r>
            <a:r>
              <a:rPr lang="en-AU" b="1">
                <a:latin typeface="Arial"/>
                <a:cs typeface="Arial"/>
              </a:rPr>
              <a:t>(Note: Stage 2 content reviewed)</a:t>
            </a:r>
            <a:endParaRPr lang="en-AU">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latin typeface="Arial"/>
              <a:cs typeface="Arial"/>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Activity 4 - </a:t>
            </a:r>
            <a:r>
              <a:rPr lang="en-AU" sz="1600" b="1" kern="1200">
                <a:solidFill>
                  <a:schemeClr val="tx1"/>
                </a:solidFill>
                <a:effectLst/>
                <a:latin typeface="Arial" panose="020B0604020202020204" pitchFamily="34" charset="0"/>
                <a:ea typeface="+mn-ea"/>
                <a:cs typeface="Arial" panose="020B0604020202020204" pitchFamily="34" charset="0"/>
              </a:rPr>
              <a:t>ordering numbers in the millions 3</a:t>
            </a:r>
            <a:endParaRPr lang="en-AU" b="1"/>
          </a:p>
          <a:p>
            <a:r>
              <a:rPr lang="en-AU" b="0"/>
              <a:t>This resource corresponds to Resource 27 – number cards in Stage 3 Year A Unit 5. </a:t>
            </a:r>
          </a:p>
          <a:p>
            <a:endParaRPr lang="en-AU" b="1"/>
          </a:p>
          <a:p>
            <a:pPr marL="342900" lvl="0" indent="-342900">
              <a:buAutoNum type="arabicPeriod"/>
            </a:pPr>
            <a:r>
              <a:rPr lang="en-AU" sz="1600" kern="1200">
                <a:solidFill>
                  <a:schemeClr val="tx1"/>
                </a:solidFill>
                <a:effectLst/>
                <a:latin typeface="Public Sans" pitchFamily="2" charset="0"/>
                <a:ea typeface="+mn-ea"/>
                <a:cs typeface="Arial" panose="020B0604020202020204" pitchFamily="34" charset="0"/>
              </a:rPr>
              <a:t>Provide pairs of students (or small groups) with </a:t>
            </a:r>
            <a:r>
              <a:rPr lang="en-AU" b="0"/>
              <a:t>Resource 27 – number cards.</a:t>
            </a:r>
          </a:p>
          <a:p>
            <a:pPr marL="342900" lvl="0" indent="-342900">
              <a:buAutoNum type="arabicPeriod"/>
            </a:pPr>
            <a:r>
              <a:rPr lang="en-AU" sz="1600" kern="1200">
                <a:solidFill>
                  <a:schemeClr val="tx1"/>
                </a:solidFill>
                <a:effectLst/>
                <a:latin typeface="Public Sans" pitchFamily="2" charset="0"/>
                <a:ea typeface="+mn-ea"/>
                <a:cs typeface="Arial" panose="020B0604020202020204" pitchFamily="34" charset="0"/>
              </a:rPr>
              <a:t>Deal 5 cards to each player and place the rest of the cards face down in a pile.</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3. Player 1 starts by putting down their smallest number.</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4. Player 2 then puts down a number that is larger.</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5. Players take turns putting down numbers in ascending order.</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6. Players can choose to miss a turn, discard one of their cards and swap it with a card from the pile.</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7. The winner is the first player to put down all the cards in their hand.</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 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Non-spatial measure B: Time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Activity 5 – multiplicative number talk</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‘Let's talk 2 – number talk (15 x 9) Stage 3’ from Mathematics K-6 resources by the New South Wales (Department of Education).</a:t>
            </a:r>
          </a:p>
          <a:p>
            <a:endParaRPr lang="en-AU" b="1"/>
          </a:p>
          <a:p>
            <a:pPr lvl="0"/>
            <a:r>
              <a:rPr lang="en-AU" sz="1600" kern="1200">
                <a:solidFill>
                  <a:schemeClr val="tx1"/>
                </a:solidFill>
                <a:effectLst/>
                <a:latin typeface="Public Sans" pitchFamily="2" charset="0"/>
                <a:ea typeface="+mn-ea"/>
                <a:cs typeface="Arial" panose="020B0604020202020204" pitchFamily="34" charset="0"/>
              </a:rPr>
              <a:t>1. Watch </a:t>
            </a:r>
            <a:r>
              <a:rPr lang="en-AU" sz="1600" u="sng" kern="1200">
                <a:solidFill>
                  <a:schemeClr val="tx1"/>
                </a:solidFill>
                <a:effectLst/>
                <a:latin typeface="Public Sans" pitchFamily="2" charset="0"/>
                <a:ea typeface="+mn-ea"/>
                <a:cs typeface="Arial" panose="020B0604020202020204" pitchFamily="34" charset="0"/>
                <a:hlinkClick r:id="rId3"/>
              </a:rPr>
              <a:t>Let's talk 2: number talk (15 x 9) Stage 3 (6:15)</a:t>
            </a:r>
            <a:r>
              <a:rPr lang="en-AU" sz="1600" kern="1200">
                <a:solidFill>
                  <a:schemeClr val="tx1"/>
                </a:solidFill>
                <a:effectLst/>
                <a:latin typeface="Public Sans" pitchFamily="2" charset="0"/>
                <a:ea typeface="+mn-ea"/>
                <a:cs typeface="Arial" panose="020B0604020202020204" pitchFamily="34" charset="0"/>
              </a:rPr>
              <a:t> as a class.</a:t>
            </a:r>
          </a:p>
          <a:p>
            <a:pPr lvl="0"/>
            <a:r>
              <a:rPr lang="en-AU" sz="1600" kern="1200">
                <a:solidFill>
                  <a:schemeClr val="tx1"/>
                </a:solidFill>
                <a:effectLst/>
                <a:latin typeface="Public Sans" pitchFamily="2" charset="0"/>
                <a:ea typeface="+mn-ea"/>
                <a:cs typeface="Arial" panose="020B0604020202020204" pitchFamily="34" charset="0"/>
              </a:rPr>
              <a:t>2. Prompt students to record at least 2 other strategies that could be used to solve 15 × 9.</a:t>
            </a:r>
          </a:p>
          <a:p>
            <a:pPr lvl="0"/>
            <a:r>
              <a:rPr lang="en-AU" sz="1600" kern="1200">
                <a:solidFill>
                  <a:schemeClr val="tx1"/>
                </a:solidFill>
                <a:effectLst/>
                <a:latin typeface="Public Sans" pitchFamily="2" charset="0"/>
                <a:ea typeface="+mn-ea"/>
                <a:cs typeface="Arial" panose="020B0604020202020204" pitchFamily="34" charset="0"/>
              </a:rPr>
              <a:t>3. Select students to share their thinking. Ask:</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 Why did you choose that strategy?</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 Are there any other strategies that are like this one?</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 Have you used any of these strategies before?</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 Which strategy do you think is the most efficient? Why?</a:t>
            </a:r>
          </a:p>
          <a:p>
            <a:pPr lvl="0"/>
            <a:r>
              <a:rPr lang="en-AU" sz="1600" kern="1200">
                <a:solidFill>
                  <a:schemeClr val="tx1"/>
                </a:solidFill>
                <a:effectLst/>
                <a:latin typeface="Public Sans" pitchFamily="2" charset="0"/>
                <a:ea typeface="+mn-ea"/>
                <a:cs typeface="Arial" panose="020B0604020202020204" pitchFamily="34" charset="0"/>
              </a:rPr>
              <a:t>4. Ask students if any of the strategies shared in the video could be used to solve 16 × 25.</a:t>
            </a:r>
          </a:p>
          <a:p>
            <a:pPr lvl="0"/>
            <a:r>
              <a:rPr lang="en-AU" sz="1600" kern="1200">
                <a:solidFill>
                  <a:schemeClr val="tx1"/>
                </a:solidFill>
                <a:effectLst/>
                <a:latin typeface="Public Sans" pitchFamily="2" charset="0"/>
                <a:ea typeface="+mn-ea"/>
                <a:cs typeface="Arial" panose="020B0604020202020204" pitchFamily="34" charset="0"/>
              </a:rPr>
              <a:t>5. Select students to share their thinking. Ask:</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 What makes this strategy suitable for both problems?</a:t>
            </a:r>
          </a:p>
          <a:p>
            <a:pPr marL="0" lvl="0" indent="0">
              <a:buFont typeface="Arial" panose="020B0604020202020204" pitchFamily="34" charset="0"/>
              <a:buNone/>
            </a:pPr>
            <a:r>
              <a:rPr lang="en-AU" sz="1600" kern="1200">
                <a:solidFill>
                  <a:schemeClr val="tx1"/>
                </a:solidFill>
                <a:effectLst/>
                <a:latin typeface="Public Sans" pitchFamily="2" charset="0"/>
                <a:ea typeface="+mn-ea"/>
                <a:cs typeface="Arial" panose="020B0604020202020204" pitchFamily="34" charset="0"/>
              </a:rPr>
              <a:t>- What other problems could this strategy be used for?</a:t>
            </a:r>
          </a:p>
          <a:p>
            <a:pPr marL="0" lvl="0" indent="0">
              <a:buFont typeface="Arial" panose="020B0604020202020204" pitchFamily="34" charset="0"/>
              <a:buNone/>
            </a:pPr>
            <a:endParaRPr lang="en-AU" sz="1600" kern="1200">
              <a:solidFill>
                <a:schemeClr val="tx1"/>
              </a:solidFill>
              <a:effectLst/>
              <a:latin typeface="Public Sans" pitchFamily="2" charset="0"/>
              <a:ea typeface="+mn-ea"/>
              <a:cs typeface="Arial" panose="020B0604020202020204" pitchFamily="34" charset="0"/>
            </a:endParaRPr>
          </a:p>
          <a:p>
            <a:pPr marL="0" lvl="0" indent="0">
              <a:buFont typeface="Arial" panose="020B0604020202020204" pitchFamily="34" charset="0"/>
              <a:buNone/>
            </a:pPr>
            <a:endParaRPr lang="en-AU" sz="1600" kern="1200">
              <a:solidFill>
                <a:schemeClr val="tx1"/>
              </a:solidFill>
              <a:effectLst/>
              <a:latin typeface="Public Sans" pitchFamily="2" charset="0"/>
              <a:ea typeface="+mn-ea"/>
              <a:cs typeface="Arial" panose="020B0604020202020204" pitchFamily="34" charset="0"/>
            </a:endParaRP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Non spatial measure A: Time</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Non-spatial measure B: Mass </a:t>
            </a:r>
            <a:r>
              <a:rPr lang="en-AU" b="1">
                <a:latin typeface="Arial"/>
                <a:cs typeface="Arial"/>
              </a:rPr>
              <a:t>(Note: Stage 2 content reviewed)</a:t>
            </a:r>
            <a:endParaRPr lang="en-AU" b="0"/>
          </a:p>
          <a:p>
            <a:endParaRPr lang="en-AU" b="1"/>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Activity 6 – using the area model for multiplication</a:t>
            </a:r>
          </a:p>
          <a:p>
            <a:pPr lvl="0"/>
            <a:r>
              <a:rPr lang="en-AU" sz="1600" kern="1200">
                <a:solidFill>
                  <a:schemeClr val="tx1"/>
                </a:solidFill>
                <a:effectLst/>
                <a:latin typeface="Public Sans" pitchFamily="2" charset="0"/>
                <a:ea typeface="+mn-ea"/>
                <a:cs typeface="Arial" panose="020B0604020202020204" pitchFamily="34" charset="0"/>
              </a:rPr>
              <a:t>1. Connect back to Stage 3 unit 1 and remind students how to use the area model to multiply a one-digit number by a 2-digit number.</a:t>
            </a:r>
          </a:p>
          <a:p>
            <a:r>
              <a:rPr lang="en-AU" sz="1600" kern="1200">
                <a:solidFill>
                  <a:schemeClr val="tx1"/>
                </a:solidFill>
                <a:effectLst/>
                <a:latin typeface="Public Sans" pitchFamily="2" charset="0"/>
                <a:ea typeface="+mn-ea"/>
                <a:cs typeface="Arial" panose="020B0604020202020204" pitchFamily="34" charset="0"/>
              </a:rPr>
              <a:t>2. Model partitioning 23 into tens and ones before multiplying.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Public Sans" pitchFamily="2" charset="0"/>
                <a:ea typeface="+mn-ea"/>
                <a:cs typeface="Arial" panose="020B0604020202020204" pitchFamily="34" charset="0"/>
              </a:rPr>
              <a:t>3. Provide students with digital devices and prompt them to play </a:t>
            </a:r>
            <a:r>
              <a:rPr lang="en-AU" sz="1600" u="sng" kern="1200">
                <a:solidFill>
                  <a:schemeClr val="tx1"/>
                </a:solidFill>
                <a:effectLst/>
                <a:latin typeface="Public Sans" pitchFamily="2" charset="0"/>
                <a:ea typeface="+mn-ea"/>
                <a:cs typeface="Arial" panose="020B0604020202020204" pitchFamily="34" charset="0"/>
                <a:hlinkClick r:id="rId3"/>
              </a:rPr>
              <a:t>Goat busters</a:t>
            </a:r>
            <a:r>
              <a:rPr lang="en-AU" sz="1600" u="sng" kern="1200">
                <a:solidFill>
                  <a:schemeClr val="tx1"/>
                </a:solidFill>
                <a:effectLst/>
                <a:latin typeface="Public Sans" pitchFamily="2" charset="0"/>
                <a:ea typeface="+mn-ea"/>
                <a:cs typeface="Arial" panose="020B0604020202020204" pitchFamily="34" charset="0"/>
              </a:rPr>
              <a:t> </a:t>
            </a:r>
            <a:r>
              <a:rPr lang="en-AU" sz="1600" u="none" kern="1200">
                <a:solidFill>
                  <a:schemeClr val="tx1"/>
                </a:solidFill>
                <a:effectLst/>
                <a:latin typeface="Public Sans" pitchFamily="2" charset="0"/>
                <a:ea typeface="+mn-ea"/>
                <a:cs typeface="Arial" panose="020B0604020202020204" pitchFamily="34" charset="0"/>
              </a:rPr>
              <a:t>level 1.</a:t>
            </a:r>
            <a:endParaRPr lang="en-AU" b="1" u="none"/>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75B4-573F-89B4-721A-AE72AE0A7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36249-B90E-4721-9CBA-E7FA347C4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CF4AB-5EFB-3FB5-9B6D-6A0F349D36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E9C7EBA-0F98-5EA3-BB82-6A2F901E3A6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42545503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2081005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Multiplicative relations A</a:t>
            </a:r>
          </a:p>
          <a:p>
            <a:endParaRPr lang="en-AU" sz="1800"/>
          </a:p>
          <a:p>
            <a:r>
              <a:rPr lang="en-AU" sz="1800" b="1">
                <a:latin typeface="Arial"/>
                <a:cs typeface="Arial"/>
              </a:rPr>
              <a:t>Activity 7 – multiplicative strategies</a:t>
            </a:r>
          </a:p>
          <a:p>
            <a:r>
              <a:rPr lang="en-AU" sz="1800" b="0"/>
              <a:t>This resource corresponds to Resource 28 – which one doesn’t belong? in Stage 3 Year A Unit 5. </a:t>
            </a:r>
          </a:p>
          <a:p>
            <a:endParaRPr lang="en-AU" sz="1800"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solve each equation, then determine which one doesn’t belong and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Remind students that they can use a range of mental or written strategies, such as using multiples of 10 or partitioning using the distributive property with the area model.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there are no wrong answers in this activity as there is a case to be made for each of the equations being different to the others.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think-pair-share their solution, justifying their reasoning.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Solutions include: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 is the only equation where the digits in the answer add to a number less than 10.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 is the only equation where the digits in the answer are consecutive.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 is the only equation where both numbers in the question are odd.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 is the only equation where the answer is a palindrome.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 is the only equation where a number in the question has 3 digits.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 is the only equation where the answer does not contain a 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 is the only equation where all the digits in the question are the same.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 is the only equation where there is a zero in the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and compare strategies that students used to solve the equations.</a:t>
            </a:r>
          </a:p>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4044850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0271881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 </a:t>
            </a:r>
            <a:r>
              <a:rPr lang="en-AU" b="1">
                <a:latin typeface="Arial"/>
                <a:cs typeface="Arial"/>
              </a:rPr>
              <a:t>(Note: Stage 2 content reviewed)</a:t>
            </a: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Activity 8 – multiplying by 10 and 100</a:t>
            </a:r>
          </a:p>
          <a:p>
            <a:r>
              <a:rPr lang="en-AU" sz="1600" kern="1200">
                <a:solidFill>
                  <a:schemeClr val="tx1"/>
                </a:solidFill>
                <a:effectLst/>
                <a:latin typeface="Public Sans" pitchFamily="2" charset="0"/>
                <a:ea typeface="+mn-ea"/>
                <a:cs typeface="Arial" panose="020B0604020202020204" pitchFamily="34" charset="0"/>
              </a:rPr>
              <a:t>1. Display _0 × _ = _0 × _. </a:t>
            </a:r>
          </a:p>
          <a:p>
            <a:pPr lvl="0"/>
            <a:r>
              <a:rPr lang="en-AU" sz="1600" kern="1200">
                <a:solidFill>
                  <a:schemeClr val="tx1"/>
                </a:solidFill>
                <a:effectLst/>
                <a:latin typeface="Public Sans" pitchFamily="2" charset="0"/>
                <a:ea typeface="+mn-ea"/>
                <a:cs typeface="Arial" panose="020B0604020202020204" pitchFamily="34" charset="0"/>
              </a:rPr>
              <a:t>2. Explain</a:t>
            </a:r>
            <a:r>
              <a:rPr lang="en-AU" sz="1600" b="1" kern="1200">
                <a:solidFill>
                  <a:schemeClr val="tx1"/>
                </a:solidFill>
                <a:effectLst/>
                <a:latin typeface="Public Sans" pitchFamily="2" charset="0"/>
                <a:ea typeface="+mn-ea"/>
                <a:cs typeface="Arial" panose="020B0604020202020204" pitchFamily="34" charset="0"/>
              </a:rPr>
              <a:t> </a:t>
            </a:r>
            <a:r>
              <a:rPr lang="en-AU" sz="1600" kern="1200">
                <a:solidFill>
                  <a:schemeClr val="tx1"/>
                </a:solidFill>
                <a:effectLst/>
                <a:latin typeface="Public Sans" pitchFamily="2" charset="0"/>
                <a:ea typeface="+mn-ea"/>
                <a:cs typeface="Arial" panose="020B0604020202020204" pitchFamily="34" charset="0"/>
              </a:rPr>
              <a:t>that each _ represents a missing digit and that students need to work out different ways to balance the equation. </a:t>
            </a:r>
          </a:p>
          <a:p>
            <a:pPr lvl="0"/>
            <a:r>
              <a:rPr lang="en-AU" sz="1600" kern="1200">
                <a:solidFill>
                  <a:schemeClr val="tx1"/>
                </a:solidFill>
                <a:effectLst/>
                <a:latin typeface="Public Sans" pitchFamily="2" charset="0"/>
                <a:ea typeface="+mn-ea"/>
                <a:cs typeface="Arial" panose="020B0604020202020204" pitchFamily="34" charset="0"/>
              </a:rPr>
              <a:t>3. Prompt students to write as many equations as possible on individual whiteboards.</a:t>
            </a:r>
          </a:p>
          <a:p>
            <a:pPr lvl="0"/>
            <a:r>
              <a:rPr lang="en-AU" sz="1600" kern="1200">
                <a:solidFill>
                  <a:schemeClr val="tx1"/>
                </a:solidFill>
                <a:effectLst/>
                <a:latin typeface="Public Sans" pitchFamily="2" charset="0"/>
                <a:ea typeface="+mn-ea"/>
                <a:cs typeface="Arial" panose="020B0604020202020204" pitchFamily="34" charset="0"/>
              </a:rPr>
              <a:t>4. Students turn and talk and share their equations. Ask:</a:t>
            </a:r>
          </a:p>
          <a:p>
            <a:pPr lvl="0"/>
            <a:r>
              <a:rPr lang="en-AU" sz="1600" kern="1200">
                <a:solidFill>
                  <a:schemeClr val="tx1"/>
                </a:solidFill>
                <a:effectLst/>
                <a:latin typeface="Public Sans" pitchFamily="2" charset="0"/>
                <a:ea typeface="+mn-ea"/>
                <a:cs typeface="Arial" panose="020B0604020202020204" pitchFamily="34" charset="0"/>
              </a:rPr>
              <a:t>- What patterns did you notice?</a:t>
            </a:r>
          </a:p>
          <a:p>
            <a:pPr lvl="0"/>
            <a:r>
              <a:rPr lang="en-AU" sz="1600" kern="1200">
                <a:solidFill>
                  <a:schemeClr val="tx1"/>
                </a:solidFill>
                <a:effectLst/>
                <a:latin typeface="Public Sans" pitchFamily="2" charset="0"/>
                <a:ea typeface="+mn-ea"/>
                <a:cs typeface="Arial" panose="020B0604020202020204" pitchFamily="34" charset="0"/>
              </a:rPr>
              <a:t>- How did you use multiplication facts and place value to help create different equations?</a:t>
            </a:r>
          </a:p>
          <a:p>
            <a:pPr lvl="0"/>
            <a:r>
              <a:rPr lang="en-AU" sz="1600" kern="1200">
                <a:solidFill>
                  <a:schemeClr val="tx1"/>
                </a:solidFill>
                <a:effectLst/>
                <a:latin typeface="Public Sans" pitchFamily="2" charset="0"/>
                <a:ea typeface="+mn-ea"/>
                <a:cs typeface="Arial" panose="020B0604020202020204" pitchFamily="34" charset="0"/>
              </a:rPr>
              <a:t>5. Repeat the process with the equation _00 × _ = _00 × _.</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Public Sans" pitchFamily="2" charset="0"/>
                <a:ea typeface="+mn-ea"/>
                <a:cs typeface="Arial" panose="020B0604020202020204" pitchFamily="34" charset="0"/>
              </a:rPr>
              <a:t>This activity is an adaptation of Multiply Multiples 1 from NRICH by University of Cambridge (Faculty of Mathematics).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2771-3B99-A86F-DC3A-1DD7BDA62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E6B35-B0AB-FE24-BB68-4F6A57D63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DA4EF-ED3E-C7CA-A74A-E34267AC9EB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479736E5-DC83-5B61-D4BD-89711DC0B0EA}"/>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6361557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231506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3360649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4253640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424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404315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832795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395655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896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083029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898896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257159363"/>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8.sv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hyperlink" Target="https://education.nsw.gov.au/teaching-and-learning/curriculum/mathematics/mathematics-curriculum-resources-k-12/thinking-mathematically-resources/mathematics-s3-let-s-talk-2-number-talk-15x9"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hyperlink" Target="https://games.abc.net.au/education/goat-busters/"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19.xml"/><Relationship Id="rId4" Type="http://schemas.openxmlformats.org/officeDocument/2006/relationships/image" Target="../media/image18.sv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newzealandcurriculum.tahurangi.education.govt.nz/discussing-data/5637190470.p"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newzealandcurriculum.tahurangi.education.govt.nz/data-distortion/5637199493.p"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curriculum.nsw.edu.au/learning-areas/mathematics/mathematics-k-10-2022/content/stage-3/fa0a18f458?show=advice" TargetMode="External"/><Relationship Id="rId5" Type="http://schemas.openxmlformats.org/officeDocument/2006/relationships/hyperlink" Target="https://curriculum.nsw.edu.au/" TargetMode="External"/><Relationship Id="rId10" Type="http://schemas.openxmlformats.org/officeDocument/2006/relationships/hyperlink" Target="https://curriculum.nsw.edu.au/learning-areas/mathematics/mathematics-k-10-2022/content/stage-3/fa0c228e92?show=advic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3/fa934b5e3a?show=advice"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education.nsw.gov.au/teaching-and-learning/curriculum/mathematics/mathematics-curriculum-resources-k-12/thinking-mathematically-resources/mathematics-s3-let-s-talk-2-number-talk-15x9"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resolve.edu.au/data-making-deci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games.abc.net.au/education/goat-busters/"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thinking-mathematically-resources/mathematics-s2-s3-order-order-four-digit-numbers"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5</a:t>
            </a:r>
            <a:r>
              <a:rPr lang="en-AU" sz="1800" dirty="0">
                <a:latin typeface="+mn-lt"/>
                <a:ea typeface="+mn-lt"/>
                <a:cs typeface="+mn-lt"/>
              </a:rPr>
              <a:t>.</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5</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525274" y="1001839"/>
            <a:ext cx="10282634" cy="893226"/>
          </a:xfrm>
        </p:spPr>
        <p:txBody>
          <a:bodyPr/>
          <a:lstStyle/>
          <a:p>
            <a:r>
              <a:rPr lang="en-AU" sz="4000"/>
              <a:t>What is </a:t>
            </a:r>
            <a:r>
              <a:rPr lang="en-AU" sz="4000" b="1"/>
              <a:t>three million, four hundred and eighty-seven thousand, two hundred and nine</a:t>
            </a:r>
            <a:r>
              <a:rPr lang="en-AU" sz="4000"/>
              <a:t> written as a number?</a:t>
            </a:r>
            <a:endParaRPr lang="en-US" sz="4000"/>
          </a:p>
        </p:txBody>
      </p:sp>
      <p:sp>
        <p:nvSpPr>
          <p:cNvPr id="9" name="TextBox 8">
            <a:extLst>
              <a:ext uri="{FF2B5EF4-FFF2-40B4-BE49-F238E27FC236}">
                <a16:creationId xmlns:a16="http://schemas.microsoft.com/office/drawing/2014/main" id="{055D882C-AF43-C390-844D-CF785253532C}"/>
              </a:ext>
            </a:extLst>
          </p:cNvPr>
          <p:cNvSpPr txBox="1"/>
          <p:nvPr/>
        </p:nvSpPr>
        <p:spPr>
          <a:xfrm>
            <a:off x="1232601" y="42238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1232601" y="550411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4" name="TextBox 13">
            <a:extLst>
              <a:ext uri="{FF2B5EF4-FFF2-40B4-BE49-F238E27FC236}">
                <a16:creationId xmlns:a16="http://schemas.microsoft.com/office/drawing/2014/main" id="{22B26A70-687E-359A-4D62-BAF2BF295792}"/>
              </a:ext>
            </a:extLst>
          </p:cNvPr>
          <p:cNvSpPr txBox="1"/>
          <p:nvPr/>
        </p:nvSpPr>
        <p:spPr>
          <a:xfrm>
            <a:off x="2007231" y="5534888"/>
            <a:ext cx="2686050" cy="707886"/>
          </a:xfrm>
          <a:prstGeom prst="rect">
            <a:avLst/>
          </a:prstGeom>
          <a:noFill/>
        </p:spPr>
        <p:txBody>
          <a:bodyPr wrap="square">
            <a:spAutoFit/>
          </a:bodyPr>
          <a:lstStyle/>
          <a:p>
            <a:r>
              <a:rPr lang="en-AU" sz="4000"/>
              <a:t>3 748 029 </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787854" y="42238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6E633F4E-DF01-03A8-7F86-0F2C608115CE}"/>
              </a:ext>
            </a:extLst>
          </p:cNvPr>
          <p:cNvSpPr txBox="1"/>
          <p:nvPr/>
        </p:nvSpPr>
        <p:spPr>
          <a:xfrm>
            <a:off x="8511017" y="4195430"/>
            <a:ext cx="2686050" cy="707886"/>
          </a:xfrm>
          <a:prstGeom prst="rect">
            <a:avLst/>
          </a:prstGeom>
          <a:noFill/>
        </p:spPr>
        <p:txBody>
          <a:bodyPr wrap="square">
            <a:spAutoFit/>
          </a:bodyPr>
          <a:lstStyle/>
          <a:p>
            <a:r>
              <a:rPr lang="en-AU" sz="4000"/>
              <a:t>3 847 290 </a:t>
            </a:r>
          </a:p>
        </p:txBody>
      </p:sp>
      <p:sp>
        <p:nvSpPr>
          <p:cNvPr id="11" name="TextBox 10">
            <a:extLst>
              <a:ext uri="{FF2B5EF4-FFF2-40B4-BE49-F238E27FC236}">
                <a16:creationId xmlns:a16="http://schemas.microsoft.com/office/drawing/2014/main" id="{F2C63D4C-D53C-5250-A986-AB949B67DEB8}"/>
              </a:ext>
            </a:extLst>
          </p:cNvPr>
          <p:cNvSpPr txBox="1"/>
          <p:nvPr/>
        </p:nvSpPr>
        <p:spPr>
          <a:xfrm>
            <a:off x="7857320" y="550411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656163D3-2173-1394-3EA9-3239DEAEEFCB}"/>
              </a:ext>
            </a:extLst>
          </p:cNvPr>
          <p:cNvSpPr txBox="1"/>
          <p:nvPr/>
        </p:nvSpPr>
        <p:spPr>
          <a:xfrm>
            <a:off x="8545993" y="5500041"/>
            <a:ext cx="2686050" cy="707886"/>
          </a:xfrm>
          <a:prstGeom prst="rect">
            <a:avLst/>
          </a:prstGeom>
          <a:noFill/>
        </p:spPr>
        <p:txBody>
          <a:bodyPr wrap="square">
            <a:spAutoFit/>
          </a:bodyPr>
          <a:lstStyle/>
          <a:p>
            <a:r>
              <a:rPr lang="en-AU" sz="4000"/>
              <a:t>3 487 209 </a:t>
            </a:r>
          </a:p>
        </p:txBody>
      </p:sp>
      <p:sp>
        <p:nvSpPr>
          <p:cNvPr id="15" name="TextBox 14">
            <a:extLst>
              <a:ext uri="{FF2B5EF4-FFF2-40B4-BE49-F238E27FC236}">
                <a16:creationId xmlns:a16="http://schemas.microsoft.com/office/drawing/2014/main" id="{F0519762-D811-7404-C62D-227FA7C44317}"/>
              </a:ext>
            </a:extLst>
          </p:cNvPr>
          <p:cNvSpPr txBox="1"/>
          <p:nvPr/>
        </p:nvSpPr>
        <p:spPr>
          <a:xfrm>
            <a:off x="2007231" y="4254594"/>
            <a:ext cx="2686050" cy="707886"/>
          </a:xfrm>
          <a:prstGeom prst="rect">
            <a:avLst/>
          </a:prstGeom>
          <a:noFill/>
        </p:spPr>
        <p:txBody>
          <a:bodyPr wrap="square">
            <a:spAutoFit/>
          </a:bodyPr>
          <a:lstStyle/>
          <a:p>
            <a:r>
              <a:rPr lang="en-AU" sz="4000"/>
              <a:t>3 784 902 </a:t>
            </a:r>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F99DE10-FF0C-2EF5-41F2-500A7FCCB0E0}"/>
              </a:ext>
            </a:extLst>
          </p:cNvPr>
          <p:cNvSpPr txBox="1"/>
          <p:nvPr/>
        </p:nvSpPr>
        <p:spPr>
          <a:xfrm>
            <a:off x="571500" y="927774"/>
            <a:ext cx="9431868" cy="1824923"/>
          </a:xfrm>
          <a:prstGeom prst="rect">
            <a:avLst/>
          </a:prstGeom>
          <a:noFill/>
        </p:spPr>
        <p:txBody>
          <a:bodyPr wrap="square">
            <a:spAutoFit/>
          </a:bodyPr>
          <a:lstStyle/>
          <a:p>
            <a:pPr>
              <a:lnSpc>
                <a:spcPct val="150000"/>
              </a:lnSpc>
            </a:pPr>
            <a:r>
              <a:rPr lang="en-AU" sz="4000"/>
              <a:t>Write a question that can be answered </a:t>
            </a:r>
          </a:p>
          <a:p>
            <a:pPr>
              <a:lnSpc>
                <a:spcPct val="150000"/>
              </a:lnSpc>
            </a:pPr>
            <a:r>
              <a:rPr lang="en-AU" sz="4000"/>
              <a:t>using this data</a:t>
            </a:r>
            <a:r>
              <a:rPr lang="en-AU" sz="4000" dirty="0"/>
              <a:t>.</a:t>
            </a:r>
            <a:endParaRPr lang="en-AU" sz="4000"/>
          </a:p>
        </p:txBody>
      </p:sp>
      <p:pic>
        <p:nvPicPr>
          <p:cNvPr id="8" name="Picture 7" descr="A vertical bar chart comparing participation numbers across seven sports. The sports along the horizontal axis, from left to right, are Tennis, Football, Badminton, Basketball, Volleyball, Baseball and Swimming. The vertical axis is labelled from 0 to 200. The heights of the bars indicate approximate participation values:&#10;&#10;Tennis: 100&#10;&#10;Football: 200&#10;&#10;Badminton: 150&#10;&#10;Basketball: 75&#10;&#10;Volleyball: 90&#10;&#10;Baseball: 130">
            <a:extLst>
              <a:ext uri="{FF2B5EF4-FFF2-40B4-BE49-F238E27FC236}">
                <a16:creationId xmlns:a16="http://schemas.microsoft.com/office/drawing/2014/main" id="{3EAF56B1-3287-2A6F-CBF5-76F458F69F3B}"/>
              </a:ext>
            </a:extLst>
          </p:cNvPr>
          <p:cNvPicPr>
            <a:picLocks noChangeAspect="1"/>
          </p:cNvPicPr>
          <p:nvPr/>
        </p:nvPicPr>
        <p:blipFill>
          <a:blip r:embed="rId4"/>
          <a:stretch>
            <a:fillRect/>
          </a:stretch>
        </p:blipFill>
        <p:spPr>
          <a:xfrm>
            <a:off x="4193721" y="1968677"/>
            <a:ext cx="7312479" cy="42732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CD0ABDD-CF11-76E2-D0C4-C8CAB4A4FE7C}"/>
              </a:ext>
            </a:extLst>
          </p:cNvPr>
          <p:cNvSpPr txBox="1"/>
          <p:nvPr/>
        </p:nvSpPr>
        <p:spPr>
          <a:xfrm>
            <a:off x="360000" y="1184222"/>
            <a:ext cx="11585976" cy="789779"/>
          </a:xfrm>
          <a:prstGeom prst="rect">
            <a:avLst/>
          </a:prstGeom>
          <a:noFill/>
        </p:spPr>
        <p:txBody>
          <a:bodyPr wrap="square" lIns="0" tIns="0" rIns="0" bIns="0" rtlCol="0">
            <a:noAutofit/>
          </a:bodyPr>
          <a:lstStyle/>
          <a:p>
            <a:pPr algn="l"/>
            <a:r>
              <a:rPr lang="en-AU" sz="4400" b="1"/>
              <a:t>Record</a:t>
            </a:r>
            <a:r>
              <a:rPr lang="en-AU" sz="4400"/>
              <a:t> these </a:t>
            </a:r>
            <a:r>
              <a:rPr lang="en-AU" sz="4400" b="1"/>
              <a:t>fractions</a:t>
            </a:r>
            <a:r>
              <a:rPr lang="en-AU" sz="4400"/>
              <a:t> on a </a:t>
            </a:r>
            <a:r>
              <a:rPr lang="en-AU" sz="4400" b="1"/>
              <a:t>number line:</a:t>
            </a:r>
          </a:p>
        </p:txBody>
      </p:sp>
      <p:sp>
        <p:nvSpPr>
          <p:cNvPr id="7" name="TextBox 6">
            <a:extLst>
              <a:ext uri="{FF2B5EF4-FFF2-40B4-BE49-F238E27FC236}">
                <a16:creationId xmlns:a16="http://schemas.microsoft.com/office/drawing/2014/main" id="{A7FDE3E3-9D06-D691-5CEE-9ED232ACD929}"/>
              </a:ext>
            </a:extLst>
          </p:cNvPr>
          <p:cNvSpPr txBox="1"/>
          <p:nvPr/>
        </p:nvSpPr>
        <p:spPr>
          <a:xfrm>
            <a:off x="3705446" y="1974002"/>
            <a:ext cx="6092456" cy="4721998"/>
          </a:xfrm>
          <a:prstGeom prst="rect">
            <a:avLst/>
          </a:prstGeom>
          <a:noFill/>
        </p:spPr>
        <p:txBody>
          <a:bodyPr wrap="square">
            <a:spAutoFit/>
          </a:bodyPr>
          <a:lstStyle/>
          <a:p>
            <a:pPr marL="931545" indent="-571500">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rPr>
              <a:t>2-quarters</a:t>
            </a:r>
            <a:endParaRPr lang="en-AU" sz="4400">
              <a:effectLst/>
              <a:latin typeface="Arial" panose="020B0604020202020204" pitchFamily="34" charset="0"/>
              <a:ea typeface="Calibri" panose="020F0502020204030204" pitchFamily="34" charset="0"/>
            </a:endParaRPr>
          </a:p>
          <a:p>
            <a:pPr marL="931545" indent="-571500">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rPr>
              <a:t>6-quarters</a:t>
            </a:r>
            <a:endParaRPr lang="en-AU" sz="4400">
              <a:effectLst/>
              <a:latin typeface="Arial" panose="020B0604020202020204" pitchFamily="34" charset="0"/>
              <a:ea typeface="Calibri" panose="020F0502020204030204" pitchFamily="34" charset="0"/>
            </a:endParaRPr>
          </a:p>
          <a:p>
            <a:pPr marL="931545" indent="-571500">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rPr>
              <a:t>2-thirds</a:t>
            </a:r>
            <a:endParaRPr lang="en-AU" sz="4400">
              <a:effectLst/>
              <a:latin typeface="Arial" panose="020B0604020202020204" pitchFamily="34" charset="0"/>
              <a:ea typeface="Calibri" panose="020F0502020204030204" pitchFamily="34" charset="0"/>
            </a:endParaRPr>
          </a:p>
          <a:p>
            <a:pPr marL="931545" indent="-571500">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rPr>
              <a:t>4-thirds</a:t>
            </a:r>
            <a:r>
              <a:rPr lang="en-AU" sz="4400">
                <a:effectLst/>
                <a:latin typeface="Arial" panose="020B0604020202020204" pitchFamily="34" charset="0"/>
                <a:ea typeface="Calibri" panose="020F0502020204030204" pitchFamily="34" charset="0"/>
              </a:rPr>
              <a:t>.</a:t>
            </a:r>
            <a:endParaRPr lang="en-AU" sz="24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8F260-6032-F93C-1D1B-D2F3A7C2E9C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01A2C87-35CF-0C14-6F7C-687454C8CD7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EC9995B3-8340-A953-03DE-5CB1D96718D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56BFDD02-7C77-B835-83EE-4ABED5CDBA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97AA372-E4D3-AE6E-0B37-277485323816}"/>
              </a:ext>
            </a:extLst>
          </p:cNvPr>
          <p:cNvSpPr txBox="1"/>
          <p:nvPr/>
        </p:nvSpPr>
        <p:spPr>
          <a:xfrm>
            <a:off x="290379" y="1086600"/>
            <a:ext cx="11611239" cy="1727791"/>
          </a:xfrm>
          <a:prstGeom prst="rect">
            <a:avLst/>
          </a:prstGeom>
          <a:noFill/>
        </p:spPr>
        <p:txBody>
          <a:bodyPr wrap="square" lIns="0" tIns="0" rIns="0" bIns="0" rtlCol="0">
            <a:noAutofit/>
          </a:bodyPr>
          <a:lstStyle/>
          <a:p>
            <a:pPr algn="ctr">
              <a:lnSpc>
                <a:spcPct val="150000"/>
              </a:lnSpc>
            </a:pPr>
            <a:r>
              <a:rPr lang="en-AU" sz="4000"/>
              <a:t>Which </a:t>
            </a:r>
            <a:r>
              <a:rPr lang="en-AU" sz="4000" b="1"/>
              <a:t>instrument</a:t>
            </a:r>
            <a:r>
              <a:rPr lang="en-AU" sz="4000"/>
              <a:t> is most effective for </a:t>
            </a:r>
            <a:r>
              <a:rPr lang="en-AU" sz="4000" b="1"/>
              <a:t>measuring</a:t>
            </a:r>
            <a:r>
              <a:rPr lang="en-AU" sz="4000"/>
              <a:t> the </a:t>
            </a:r>
            <a:r>
              <a:rPr lang="en-AU" sz="4000" b="1"/>
              <a:t>perimeter</a:t>
            </a:r>
            <a:r>
              <a:rPr lang="en-AU" sz="4000"/>
              <a:t> of the school playground?</a:t>
            </a:r>
          </a:p>
        </p:txBody>
      </p:sp>
      <p:pic>
        <p:nvPicPr>
          <p:cNvPr id="7" name="Picture 6" descr="A drawing of a trundle wheel, tape measure and metre ruler.">
            <a:extLst>
              <a:ext uri="{FF2B5EF4-FFF2-40B4-BE49-F238E27FC236}">
                <a16:creationId xmlns:a16="http://schemas.microsoft.com/office/drawing/2014/main" id="{10F023DC-148C-B607-AC65-F3DF226E39AA}"/>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725819" y="2995390"/>
            <a:ext cx="8740361" cy="3610610"/>
          </a:xfrm>
          <a:prstGeom prst="rect">
            <a:avLst/>
          </a:prstGeom>
        </p:spPr>
      </p:pic>
    </p:spTree>
    <p:extLst>
      <p:ext uri="{BB962C8B-B14F-4D97-AF65-F5344CB8AC3E}">
        <p14:creationId xmlns:p14="http://schemas.microsoft.com/office/powerpoint/2010/main" val="2314602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202FDBE-379E-DF6A-9154-307C996655D3}"/>
              </a:ext>
            </a:extLst>
          </p:cNvPr>
          <p:cNvSpPr txBox="1"/>
          <p:nvPr/>
        </p:nvSpPr>
        <p:spPr>
          <a:xfrm>
            <a:off x="360000" y="1184223"/>
            <a:ext cx="4452071" cy="3987962"/>
          </a:xfrm>
          <a:prstGeom prst="rect">
            <a:avLst/>
          </a:prstGeom>
          <a:noFill/>
        </p:spPr>
        <p:txBody>
          <a:bodyPr wrap="square" lIns="0" tIns="0" rIns="0" bIns="0" rtlCol="0">
            <a:noAutofit/>
          </a:bodyPr>
          <a:lstStyle/>
          <a:p>
            <a:pPr algn="l">
              <a:lnSpc>
                <a:spcPct val="150000"/>
              </a:lnSpc>
            </a:pPr>
            <a:r>
              <a:rPr lang="en-AU" sz="4000" dirty="0"/>
              <a:t>Use </a:t>
            </a:r>
            <a:r>
              <a:rPr lang="en-AU" sz="4000" b="1" dirty="0"/>
              <a:t>directional</a:t>
            </a:r>
            <a:r>
              <a:rPr lang="en-AU" sz="4000" dirty="0"/>
              <a:t> </a:t>
            </a:r>
            <a:r>
              <a:rPr lang="en-AU" sz="4000" b="1" dirty="0"/>
              <a:t>language</a:t>
            </a:r>
            <a:r>
              <a:rPr lang="en-AU" sz="4000" dirty="0"/>
              <a:t> to </a:t>
            </a:r>
            <a:r>
              <a:rPr lang="en-AU" sz="4000" b="1" dirty="0"/>
              <a:t>plan</a:t>
            </a:r>
            <a:r>
              <a:rPr lang="en-AU" sz="4000" dirty="0"/>
              <a:t> a </a:t>
            </a:r>
            <a:r>
              <a:rPr lang="en-AU" sz="4000" b="1" dirty="0"/>
              <a:t>route</a:t>
            </a:r>
            <a:r>
              <a:rPr lang="en-AU" sz="4000" dirty="0"/>
              <a:t> from the birds to the pandas. </a:t>
            </a:r>
          </a:p>
        </p:txBody>
      </p:sp>
      <p:pic>
        <p:nvPicPr>
          <p:cNvPr id="7" name="Picture 6" descr="A zoo map is covered by a 7×7 grid. Rows are numbered 1 (bottom) to 7 (top), and columns are labelled A to G from left to right. Animals and features appear in the following grid squares:&#10;&#10;Row 1: A1 blue bird, B1 empty, C1 empty, D1 empty, E1 kangaroo, F1 empty, G1 emu.&#10;&#10;Row 2: A2 empty, B2 koala on a tree branch, C2 tree, D2 empty, E2 empty, F2 empty, G2 tiger.&#10;&#10;Row 3: A3 empty, B3 empty, C3 empty, D3 empty, E3 empty, F3 three meerkats, G3 empty.&#10;&#10;Row 4: A4 empty, B4 empty, C4 monkey hanging from a branch, D4 empty, E4 sloth, F4 empty, G4 gorilla.&#10;&#10;Row 5: A5 empty, B5 empty, C5 empty, D5 empty, E5 empty, F5 empty, G5 empty (pathway only).&#10;&#10;Row 6: A6 giraffe, B6 empty, C6 empty, D6 empty, E6 empty, F6 empty, G6 elephant.&#10;&#10;Row 7: A7 empty, B7 zebra, C7 empty, D7 empty, E7 panda, F7 empty, G7 empty.&#10;One path starts at the bottom of the map. It goes from C1 to C2. At C2 the path branches: one branch goes to the right through D2, E2, F2 and G2; the other branch goes straight up from C2 to C3, where it bends to the left and continues through B3 to A3. From A3 the path goes up to A4 and then to A5, where it turns right through B5 and C5. The path splits again, with one branch going up through C6 to C7, and the other branch continuing right through D5, E5, F5 and G5.">
            <a:extLst>
              <a:ext uri="{FF2B5EF4-FFF2-40B4-BE49-F238E27FC236}">
                <a16:creationId xmlns:a16="http://schemas.microsoft.com/office/drawing/2014/main" id="{F0EB0E26-4BE8-F4D5-6D46-7521B8482D05}"/>
              </a:ext>
            </a:extLst>
          </p:cNvPr>
          <p:cNvPicPr>
            <a:picLocks noChangeAspect="1"/>
          </p:cNvPicPr>
          <p:nvPr/>
        </p:nvPicPr>
        <p:blipFill>
          <a:blip r:embed="rId4"/>
          <a:stretch>
            <a:fillRect/>
          </a:stretch>
        </p:blipFill>
        <p:spPr>
          <a:xfrm>
            <a:off x="4812071" y="1184223"/>
            <a:ext cx="5660016" cy="5382270"/>
          </a:xfrm>
          <a:prstGeom prst="rect">
            <a:avLst/>
          </a:prstGeom>
        </p:spPr>
      </p:pic>
      <p:pic>
        <p:nvPicPr>
          <p:cNvPr id="9" name="Picture 8" descr="A compass. From the top and going clockwise, this shows north east, south and west.&#10;">
            <a:extLst>
              <a:ext uri="{FF2B5EF4-FFF2-40B4-BE49-F238E27FC236}">
                <a16:creationId xmlns:a16="http://schemas.microsoft.com/office/drawing/2014/main" id="{29B7FD92-24D5-4B53-9142-8C74ECEA234F}"/>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267920" y="2812510"/>
            <a:ext cx="2116304" cy="1765359"/>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naming numbers in the millions</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B6279800-81B0-4856-B77F-0E4B84762F20}"/>
              </a:ext>
            </a:extLst>
          </p:cNvPr>
          <p:cNvSpPr txBox="1"/>
          <p:nvPr/>
        </p:nvSpPr>
        <p:spPr>
          <a:xfrm>
            <a:off x="359999" y="1549510"/>
            <a:ext cx="2756687" cy="1827193"/>
          </a:xfrm>
          <a:prstGeom prst="cloudCallout">
            <a:avLst>
              <a:gd name="adj1" fmla="val -42324"/>
              <a:gd name="adj2" fmla="val 80826"/>
            </a:avLst>
          </a:prstGeom>
          <a:solidFill>
            <a:schemeClr val="accent1"/>
          </a:solidFill>
        </p:spPr>
        <p:txBody>
          <a:bodyPr wrap="square">
            <a:spAutoFit/>
          </a:bodyPr>
          <a:lstStyle/>
          <a:p>
            <a:pPr algn="ctr"/>
            <a:r>
              <a:rPr lang="en-AU">
                <a:solidFill>
                  <a:schemeClr val="bg1"/>
                </a:solidFill>
                <a:latin typeface="Arial" panose="020B0604020202020204" pitchFamily="34" charset="0"/>
                <a:cs typeface="Arial" panose="020B0604020202020204" pitchFamily="34" charset="0"/>
              </a:rPr>
              <a:t>What could my number be?</a:t>
            </a:r>
          </a:p>
        </p:txBody>
      </p:sp>
      <p:sp>
        <p:nvSpPr>
          <p:cNvPr id="5" name="TextBox 4">
            <a:extLst>
              <a:ext uri="{FF2B5EF4-FFF2-40B4-BE49-F238E27FC236}">
                <a16:creationId xmlns:a16="http://schemas.microsoft.com/office/drawing/2014/main" id="{2D4A3150-A5A0-BC8A-FB90-2FE4AAA3D4CA}"/>
              </a:ext>
            </a:extLst>
          </p:cNvPr>
          <p:cNvSpPr txBox="1"/>
          <p:nvPr/>
        </p:nvSpPr>
        <p:spPr>
          <a:xfrm>
            <a:off x="3258354" y="905601"/>
            <a:ext cx="9143999" cy="5614037"/>
          </a:xfrm>
          <a:prstGeom prst="rect">
            <a:avLst/>
          </a:prstGeom>
          <a:noFill/>
        </p:spPr>
        <p:txBody>
          <a:bodyPr wrap="square">
            <a:spAutoFit/>
          </a:bodyPr>
          <a:lstStyle/>
          <a:p>
            <a:pPr algn="l"/>
            <a:endParaRPr lang="en-AU" sz="2800">
              <a:latin typeface="Arial" panose="020B0604020202020204" pitchFamily="34" charset="0"/>
              <a:cs typeface="Arial" panose="020B0604020202020204" pitchFamily="34" charset="0"/>
            </a:endParaRP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it is larger than 10 million</a:t>
            </a: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the first 3 digits add to a number greater than 5</a:t>
            </a: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the digit in the 10 thousands is smaller than 4</a:t>
            </a: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the thousand digit is even</a:t>
            </a: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the hundreds digit is larger than the ones digit</a:t>
            </a: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the tens digit is larger than the hundreds digit and is odd</a:t>
            </a:r>
          </a:p>
          <a:p>
            <a:pPr marL="285750" indent="-285750" algn="l">
              <a:lnSpc>
                <a:spcPct val="150000"/>
              </a:lnSpc>
              <a:buFont typeface="Arial" panose="020B0604020202020204" pitchFamily="34" charset="0"/>
              <a:buChar char="•"/>
            </a:pPr>
            <a:r>
              <a:rPr lang="en-AU" sz="2800">
                <a:latin typeface="Arial" panose="020B0604020202020204" pitchFamily="34" charset="0"/>
                <a:cs typeface="Arial" panose="020B0604020202020204" pitchFamily="34" charset="0"/>
              </a:rPr>
              <a:t>the number is a multiple of 5.</a:t>
            </a:r>
            <a:endParaRPr lang="en-AU"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342050" y="2046911"/>
            <a:ext cx="9507899" cy="893226"/>
          </a:xfrm>
        </p:spPr>
        <p:txBody>
          <a:bodyPr/>
          <a:lstStyle/>
          <a:p>
            <a:r>
              <a:rPr lang="en-AU" sz="4400"/>
              <a:t>10 502 896 </a:t>
            </a:r>
            <a:r>
              <a:rPr lang="en-AU" sz="4400" b="1"/>
              <a:t>comes</a:t>
            </a:r>
            <a:r>
              <a:rPr lang="en-AU" sz="4400"/>
              <a:t> </a:t>
            </a:r>
            <a:r>
              <a:rPr lang="en-AU" sz="4400" b="1"/>
              <a:t>after</a:t>
            </a:r>
            <a:r>
              <a:rPr lang="en-AU" sz="4400"/>
              <a:t> 10 205 689.</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3495589-2008-4388-99D5-5295949E069F}"/>
              </a:ext>
            </a:extLst>
          </p:cNvPr>
          <p:cNvSpPr txBox="1"/>
          <p:nvPr/>
        </p:nvSpPr>
        <p:spPr>
          <a:xfrm>
            <a:off x="1491518" y="1574248"/>
            <a:ext cx="9632482" cy="3937552"/>
          </a:xfrm>
          <a:prstGeom prst="rect">
            <a:avLst/>
          </a:prstGeom>
          <a:noFill/>
        </p:spPr>
        <p:txBody>
          <a:bodyPr wrap="none" lIns="0" tIns="0" rIns="0" bIns="0" rtlCol="0">
            <a:noAutofit/>
          </a:bodyPr>
          <a:lstStyle/>
          <a:p>
            <a:pPr algn="ctr">
              <a:lnSpc>
                <a:spcPct val="150000"/>
              </a:lnSpc>
            </a:pPr>
            <a:r>
              <a:rPr lang="en-AU" sz="4400">
                <a:latin typeface="Arial" panose="020B0604020202020204" pitchFamily="34" charset="0"/>
                <a:cs typeface="Arial" panose="020B0604020202020204" pitchFamily="34" charset="0"/>
              </a:rPr>
              <a:t>Write a </a:t>
            </a:r>
            <a:r>
              <a:rPr lang="en-AU" sz="4400" b="1">
                <a:latin typeface="Arial" panose="020B0604020202020204" pitchFamily="34" charset="0"/>
                <a:cs typeface="Arial" panose="020B0604020202020204" pitchFamily="34" charset="0"/>
              </a:rPr>
              <a:t>survey question </a:t>
            </a:r>
            <a:r>
              <a:rPr lang="en-AU" sz="4400">
                <a:latin typeface="Arial" panose="020B0604020202020204" pitchFamily="34" charset="0"/>
                <a:cs typeface="Arial" panose="020B0604020202020204" pitchFamily="34" charset="0"/>
              </a:rPr>
              <a:t>using the      </a:t>
            </a:r>
          </a:p>
          <a:p>
            <a:pPr algn="ctr">
              <a:lnSpc>
                <a:spcPct val="150000"/>
              </a:lnSpc>
            </a:pPr>
            <a:r>
              <a:rPr lang="en-AU" sz="4400" b="1">
                <a:latin typeface="Arial" panose="020B0604020202020204" pitchFamily="34" charset="0"/>
                <a:cs typeface="Arial" panose="020B0604020202020204" pitchFamily="34" charset="0"/>
              </a:rPr>
              <a:t>Likert scale</a:t>
            </a:r>
            <a:r>
              <a:rPr lang="en-AU" sz="4400">
                <a:latin typeface="Arial" panose="020B0604020202020204" pitchFamily="34" charset="0"/>
                <a:cs typeface="Arial" panose="020B0604020202020204" pitchFamily="34" charset="0"/>
              </a:rPr>
              <a:t> to find out </a:t>
            </a:r>
            <a:r>
              <a:rPr lang="en-AU" sz="4400" b="1">
                <a:latin typeface="Arial" panose="020B0604020202020204" pitchFamily="34" charset="0"/>
                <a:cs typeface="Arial" panose="020B0604020202020204" pitchFamily="34" charset="0"/>
              </a:rPr>
              <a:t>how much </a:t>
            </a:r>
          </a:p>
          <a:p>
            <a:pPr algn="ctr">
              <a:lnSpc>
                <a:spcPct val="150000"/>
              </a:lnSpc>
            </a:pPr>
            <a:r>
              <a:rPr lang="en-AU" sz="4400">
                <a:latin typeface="Arial" panose="020B0604020202020204" pitchFamily="34" charset="0"/>
                <a:cs typeface="Arial" panose="020B0604020202020204" pitchFamily="34" charset="0"/>
              </a:rPr>
              <a:t>Stage 3 students enjoy playing </a:t>
            </a:r>
          </a:p>
          <a:p>
            <a:pPr algn="ctr">
              <a:lnSpc>
                <a:spcPct val="150000"/>
              </a:lnSpc>
            </a:pPr>
            <a:r>
              <a:rPr lang="en-AU" sz="4400">
                <a:latin typeface="Arial" panose="020B0604020202020204" pitchFamily="34" charset="0"/>
                <a:cs typeface="Arial" panose="020B0604020202020204" pitchFamily="34" charset="0"/>
              </a:rPr>
              <a:t>soccer during sport time. </a:t>
            </a:r>
          </a:p>
          <a:p>
            <a:pPr algn="l"/>
            <a:endParaRPr lang="en-AU" sz="4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FDF158-BE62-73D8-D695-C1259129F28E}"/>
                  </a:ext>
                </a:extLst>
              </p:cNvPr>
              <p:cNvSpPr txBox="1"/>
              <p:nvPr/>
            </p:nvSpPr>
            <p:spPr>
              <a:xfrm>
                <a:off x="949615" y="1529579"/>
                <a:ext cx="9777653" cy="2244777"/>
              </a:xfrm>
              <a:prstGeom prst="rect">
                <a:avLst/>
              </a:prstGeom>
              <a:noFill/>
            </p:spPr>
            <p:txBody>
              <a:bodyPr wrap="square" lIns="0" tIns="0" rIns="0" bIns="0" rtlCol="0">
                <a:noAutofit/>
              </a:bodyPr>
              <a:lstStyle/>
              <a:p>
                <a:pPr algn="ctr">
                  <a:lnSpc>
                    <a:spcPct val="150000"/>
                  </a:lnSpc>
                </a:pPr>
                <a:r>
                  <a:rPr lang="en-AU" sz="4400" b="1" i="0" dirty="0">
                    <a:effectLst/>
                    <a:latin typeface="+mj-lt"/>
                  </a:rPr>
                  <a:t>Draw a number line showing</a:t>
                </a:r>
                <a:r>
                  <a:rPr lang="en-AU" sz="4400" dirty="0">
                    <a:latin typeface="+mj-lt"/>
                  </a:rPr>
                  <a:t>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2</m:t>
                        </m:r>
                      </m:den>
                    </m:f>
                    <m:r>
                      <a:rPr lang="en-AU" sz="4400" b="0" i="1" smtClean="0">
                        <a:latin typeface="Cambria Math" panose="02040503050406030204" pitchFamily="18" charset="0"/>
                      </a:rPr>
                      <m:t>. </m:t>
                    </m:r>
                  </m:oMath>
                </a14:m>
                <a:endParaRPr lang="en-AU" sz="4400" b="0" i="1" dirty="0">
                  <a:latin typeface="Cambria Math" panose="02040503050406030204" pitchFamily="18" charset="0"/>
                </a:endParaRPr>
              </a:p>
              <a:p>
                <a:pPr algn="ctr">
                  <a:lnSpc>
                    <a:spcPct val="150000"/>
                  </a:lnSpc>
                </a:pPr>
                <a:r>
                  <a:rPr lang="en-AU" sz="4400" dirty="0">
                    <a:latin typeface="+mj-lt"/>
                  </a:rPr>
                  <a:t>Then place and label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3</m:t>
                        </m:r>
                      </m:den>
                    </m:f>
                  </m:oMath>
                </a14:m>
                <a:r>
                  <a:rPr lang="en-AU" sz="4400" dirty="0">
                    <a:latin typeface="+mj-lt"/>
                  </a:rPr>
                  <a:t> and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5.</m:t>
                        </m:r>
                      </m:den>
                    </m:f>
                  </m:oMath>
                </a14:m>
                <a:endParaRPr lang="en-AU" sz="4400" dirty="0">
                  <a:latin typeface="+mj-lt"/>
                </a:endParaRPr>
              </a:p>
              <a:p>
                <a:pPr algn="ctr"/>
                <a:endParaRPr lang="en-AU" sz="4400" dirty="0">
                  <a:latin typeface="+mj-lt"/>
                </a:endParaRPr>
              </a:p>
              <a:p>
                <a:pPr algn="ctr"/>
                <a:endParaRPr lang="en-AU" sz="4400" dirty="0">
                  <a:latin typeface="+mj-lt"/>
                </a:endParaRPr>
              </a:p>
            </p:txBody>
          </p:sp>
        </mc:Choice>
        <mc:Fallback xmlns="">
          <p:sp>
            <p:nvSpPr>
              <p:cNvPr id="4" name="TextBox 3">
                <a:extLst>
                  <a:ext uri="{FF2B5EF4-FFF2-40B4-BE49-F238E27FC236}">
                    <a16:creationId xmlns:a16="http://schemas.microsoft.com/office/drawing/2014/main" id="{2AFDF158-BE62-73D8-D695-C1259129F28E}"/>
                  </a:ext>
                </a:extLst>
              </p:cNvPr>
              <p:cNvSpPr txBox="1">
                <a:spLocks noRot="1" noChangeAspect="1" noMove="1" noResize="1" noEditPoints="1" noAdjustHandles="1" noChangeArrowheads="1" noChangeShapeType="1" noTextEdit="1"/>
              </p:cNvSpPr>
              <p:nvPr/>
            </p:nvSpPr>
            <p:spPr>
              <a:xfrm>
                <a:off x="949615" y="1529579"/>
                <a:ext cx="9777653" cy="2244777"/>
              </a:xfrm>
              <a:prstGeom prst="rect">
                <a:avLst/>
              </a:prstGeom>
              <a:blipFill>
                <a:blip r:embed="rId4"/>
                <a:stretch>
                  <a:fillRect b="-29348"/>
                </a:stretch>
              </a:blipFill>
            </p:spPr>
            <p:txBody>
              <a:bodyPr/>
              <a:lstStyle/>
              <a:p>
                <a:r>
                  <a:rPr lang="en-AU">
                    <a:noFill/>
                  </a:rPr>
                  <a:t> </a:t>
                </a:r>
              </a:p>
            </p:txBody>
          </p:sp>
        </mc:Fallback>
      </mc:AlternateContent>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4CE62AE-494A-B0DF-D811-CF6A282B92AE}"/>
              </a:ext>
            </a:extLst>
          </p:cNvPr>
          <p:cNvSpPr txBox="1"/>
          <p:nvPr/>
        </p:nvSpPr>
        <p:spPr>
          <a:xfrm>
            <a:off x="5543634" y="1930400"/>
            <a:ext cx="914400" cy="914400"/>
          </a:xfrm>
          <a:prstGeom prst="rect">
            <a:avLst/>
          </a:prstGeom>
          <a:noFill/>
        </p:spPr>
        <p:txBody>
          <a:bodyPr wrap="none" lIns="0" tIns="0" rIns="0" bIns="0" rtlCol="0">
            <a:noAutofit/>
          </a:bodyPr>
          <a:lstStyle/>
          <a:p>
            <a:pPr algn="ctr">
              <a:lnSpc>
                <a:spcPct val="150000"/>
              </a:lnSpc>
            </a:pPr>
            <a:r>
              <a:rPr lang="en-AU" sz="4400" b="1"/>
              <a:t>Record</a:t>
            </a:r>
            <a:r>
              <a:rPr lang="en-AU" sz="4400"/>
              <a:t> something that is </a:t>
            </a:r>
          </a:p>
          <a:p>
            <a:pPr algn="ctr">
              <a:lnSpc>
                <a:spcPct val="150000"/>
              </a:lnSpc>
            </a:pPr>
            <a:r>
              <a:rPr lang="en-AU" sz="4400" b="1"/>
              <a:t>approximately</a:t>
            </a:r>
            <a:r>
              <a:rPr lang="en-AU" sz="4400"/>
              <a:t> 100 metres away</a:t>
            </a:r>
          </a:p>
          <a:p>
            <a:pPr algn="ctr">
              <a:lnSpc>
                <a:spcPct val="150000"/>
              </a:lnSpc>
            </a:pPr>
            <a:r>
              <a:rPr lang="en-AU" sz="4400"/>
              <a:t>from where you are.</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9B3D107-A272-38F2-DA24-953414664C79}"/>
              </a:ext>
            </a:extLst>
          </p:cNvPr>
          <p:cNvSpPr txBox="1"/>
          <p:nvPr/>
        </p:nvSpPr>
        <p:spPr>
          <a:xfrm>
            <a:off x="602580" y="1335682"/>
            <a:ext cx="10986840" cy="1379843"/>
          </a:xfrm>
          <a:prstGeom prst="rect">
            <a:avLst/>
          </a:prstGeom>
          <a:noFill/>
        </p:spPr>
        <p:txBody>
          <a:bodyPr wrap="square" lIns="0" tIns="0" rIns="0" bIns="0" rtlCol="0">
            <a:noAutofit/>
          </a:bodyPr>
          <a:lstStyle/>
          <a:p>
            <a:pPr algn="ctr">
              <a:lnSpc>
                <a:spcPct val="150000"/>
              </a:lnSpc>
            </a:pPr>
            <a:r>
              <a:rPr lang="en-AU" sz="4400" b="1">
                <a:latin typeface="+mj-lt"/>
              </a:rPr>
              <a:t>Record</a:t>
            </a:r>
            <a:r>
              <a:rPr lang="en-AU" sz="4400">
                <a:latin typeface="+mj-lt"/>
              </a:rPr>
              <a:t> the </a:t>
            </a:r>
            <a:r>
              <a:rPr lang="en-AU" sz="4400" b="1">
                <a:latin typeface="+mj-lt"/>
              </a:rPr>
              <a:t>names </a:t>
            </a:r>
            <a:r>
              <a:rPr lang="en-AU" sz="4400">
                <a:latin typeface="+mj-lt"/>
              </a:rPr>
              <a:t>of the </a:t>
            </a:r>
            <a:r>
              <a:rPr lang="en-AU" sz="4400" b="1">
                <a:latin typeface="+mj-lt"/>
              </a:rPr>
              <a:t>angles </a:t>
            </a:r>
            <a:r>
              <a:rPr lang="en-AU" sz="4400">
                <a:latin typeface="+mj-lt"/>
              </a:rPr>
              <a:t>shown:</a:t>
            </a:r>
          </a:p>
        </p:txBody>
      </p:sp>
      <p:pic>
        <p:nvPicPr>
          <p:cNvPr id="9" name="Picture 8" descr="An angle. One arm extends horizontally to the right. The other line slopes upward to the left. A curved arc is drawn between the two arms to show the angle at the vertex.">
            <a:extLst>
              <a:ext uri="{FF2B5EF4-FFF2-40B4-BE49-F238E27FC236}">
                <a16:creationId xmlns:a16="http://schemas.microsoft.com/office/drawing/2014/main" id="{8B6FCB61-9A25-D917-03FB-E1AC4B664FC7}"/>
              </a:ext>
            </a:extLst>
          </p:cNvPr>
          <p:cNvPicPr>
            <a:picLocks noChangeAspect="1"/>
          </p:cNvPicPr>
          <p:nvPr/>
        </p:nvPicPr>
        <p:blipFill>
          <a:blip r:embed="rId4"/>
          <a:stretch>
            <a:fillRect/>
          </a:stretch>
        </p:blipFill>
        <p:spPr>
          <a:xfrm>
            <a:off x="189879" y="3764442"/>
            <a:ext cx="3446456" cy="1711623"/>
          </a:xfrm>
          <a:prstGeom prst="rect">
            <a:avLst/>
          </a:prstGeom>
        </p:spPr>
      </p:pic>
      <p:sp>
        <p:nvSpPr>
          <p:cNvPr id="13" name="TextBox 12">
            <a:extLst>
              <a:ext uri="{FF2B5EF4-FFF2-40B4-BE49-F238E27FC236}">
                <a16:creationId xmlns:a16="http://schemas.microsoft.com/office/drawing/2014/main" id="{3170BA91-79BF-79BE-7F81-4E6F09B34D73}"/>
              </a:ext>
            </a:extLst>
          </p:cNvPr>
          <p:cNvSpPr txBox="1"/>
          <p:nvPr/>
        </p:nvSpPr>
        <p:spPr>
          <a:xfrm>
            <a:off x="1067253" y="5603712"/>
            <a:ext cx="1691708"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200" b="1"/>
              <a:t>Angle A</a:t>
            </a:r>
          </a:p>
        </p:txBody>
      </p:sp>
      <p:pic>
        <p:nvPicPr>
          <p:cNvPr id="7" name="Picture 6" descr="An angle. One arm extends horizontally to the right, and the other extends vertically upward. A small square is drawn in the corner at the vertex to mark the angle.">
            <a:extLst>
              <a:ext uri="{FF2B5EF4-FFF2-40B4-BE49-F238E27FC236}">
                <a16:creationId xmlns:a16="http://schemas.microsoft.com/office/drawing/2014/main" id="{905616C0-3586-2589-1761-7AA4E5378B02}"/>
              </a:ext>
            </a:extLst>
          </p:cNvPr>
          <p:cNvPicPr>
            <a:picLocks noChangeAspect="1"/>
          </p:cNvPicPr>
          <p:nvPr/>
        </p:nvPicPr>
        <p:blipFill>
          <a:blip r:embed="rId5"/>
          <a:stretch>
            <a:fillRect/>
          </a:stretch>
        </p:blipFill>
        <p:spPr>
          <a:xfrm>
            <a:off x="5262351" y="3427874"/>
            <a:ext cx="2207102" cy="2048191"/>
          </a:xfrm>
          <a:prstGeom prst="rect">
            <a:avLst/>
          </a:prstGeom>
        </p:spPr>
      </p:pic>
      <p:sp>
        <p:nvSpPr>
          <p:cNvPr id="14" name="TextBox 13">
            <a:extLst>
              <a:ext uri="{FF2B5EF4-FFF2-40B4-BE49-F238E27FC236}">
                <a16:creationId xmlns:a16="http://schemas.microsoft.com/office/drawing/2014/main" id="{E1FEA3FF-525D-ED0F-0F89-C75BB8E602B2}"/>
              </a:ext>
            </a:extLst>
          </p:cNvPr>
          <p:cNvSpPr txBox="1"/>
          <p:nvPr/>
        </p:nvSpPr>
        <p:spPr>
          <a:xfrm>
            <a:off x="5491463" y="5606724"/>
            <a:ext cx="1691708"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2272B"/>
                </a:solidFill>
                <a:effectLst/>
                <a:uLnTx/>
                <a:uFillTx/>
                <a:latin typeface="Arial" panose="020B0604020202020204"/>
                <a:ea typeface="+mn-ea"/>
                <a:cs typeface="+mn-cs"/>
              </a:rPr>
              <a:t>Angle B</a:t>
            </a:r>
          </a:p>
        </p:txBody>
      </p:sp>
      <p:pic>
        <p:nvPicPr>
          <p:cNvPr id="11" name="Picture 10" descr="An angle. One arm extends horizontally to the right. The other line slopes upward to the right. A curved arc is drawn between the two arms to show the angle at the vertex.">
            <a:extLst>
              <a:ext uri="{FF2B5EF4-FFF2-40B4-BE49-F238E27FC236}">
                <a16:creationId xmlns:a16="http://schemas.microsoft.com/office/drawing/2014/main" id="{D91DF29C-FE15-76C3-4E68-AF5A7BE9DF12}"/>
              </a:ext>
            </a:extLst>
          </p:cNvPr>
          <p:cNvPicPr>
            <a:picLocks noChangeAspect="1"/>
          </p:cNvPicPr>
          <p:nvPr/>
        </p:nvPicPr>
        <p:blipFill>
          <a:blip r:embed="rId6"/>
          <a:stretch>
            <a:fillRect/>
          </a:stretch>
        </p:blipFill>
        <p:spPr>
          <a:xfrm>
            <a:off x="8615803" y="3611140"/>
            <a:ext cx="2716538" cy="1864925"/>
          </a:xfrm>
          <a:prstGeom prst="rect">
            <a:avLst/>
          </a:prstGeom>
        </p:spPr>
      </p:pic>
      <p:sp>
        <p:nvSpPr>
          <p:cNvPr id="16" name="TextBox 15">
            <a:extLst>
              <a:ext uri="{FF2B5EF4-FFF2-40B4-BE49-F238E27FC236}">
                <a16:creationId xmlns:a16="http://schemas.microsoft.com/office/drawing/2014/main" id="{06334801-0038-0B26-8D43-BF7BB9EDB98C}"/>
              </a:ext>
            </a:extLst>
          </p:cNvPr>
          <p:cNvSpPr txBox="1"/>
          <p:nvPr/>
        </p:nvSpPr>
        <p:spPr>
          <a:xfrm>
            <a:off x="9182100" y="5595856"/>
            <a:ext cx="1691708"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22272B"/>
                </a:solidFill>
                <a:effectLst/>
                <a:uLnTx/>
                <a:uFillTx/>
                <a:latin typeface="Arial" panose="020B0604020202020204"/>
                <a:ea typeface="+mn-ea"/>
                <a:cs typeface="+mn-cs"/>
              </a:rPr>
              <a:t>Angle C</a:t>
            </a:r>
          </a:p>
        </p:txBody>
      </p:sp>
      <p:sp>
        <p:nvSpPr>
          <p:cNvPr id="12" name="Slide Number Placeholder 1">
            <a:extLst>
              <a:ext uri="{FF2B5EF4-FFF2-40B4-BE49-F238E27FC236}">
                <a16:creationId xmlns:a16="http://schemas.microsoft.com/office/drawing/2014/main" id="{6EE10BC8-AF1C-7543-B9B8-D67D3A0848C7}"/>
              </a:ext>
              <a:ext uri="{C183D7F6-B498-43B3-948B-1728B52AA6E4}">
                <adec:decorative xmlns:adec="http://schemas.microsoft.com/office/drawing/2017/decorative" val="1"/>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ordering numbers in the millions 1</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16" name="Group 2">
            <a:extLst>
              <a:ext uri="{FF2B5EF4-FFF2-40B4-BE49-F238E27FC236}">
                <a16:creationId xmlns:a16="http://schemas.microsoft.com/office/drawing/2014/main" id="{53AE9BFC-1441-D8B9-4870-03B851C564AD}"/>
              </a:ext>
              <a:ext uri="{C183D7F6-B498-43B3-948B-1728B52AA6E4}">
                <adec:decorative xmlns:adec="http://schemas.microsoft.com/office/drawing/2017/decorative" val="1"/>
              </a:ext>
            </a:extLst>
          </p:cNvPr>
          <p:cNvGrpSpPr/>
          <p:nvPr/>
        </p:nvGrpSpPr>
        <p:grpSpPr>
          <a:xfrm>
            <a:off x="360000" y="4240368"/>
            <a:ext cx="10969511" cy="1250299"/>
            <a:chOff x="676207" y="2056224"/>
            <a:chExt cx="7371912" cy="935052"/>
          </a:xfrm>
        </p:grpSpPr>
        <p:sp>
          <p:nvSpPr>
            <p:cNvPr id="18" name="Freeform 4">
              <a:extLst>
                <a:ext uri="{FF2B5EF4-FFF2-40B4-BE49-F238E27FC236}">
                  <a16:creationId xmlns:a16="http://schemas.microsoft.com/office/drawing/2014/main" id="{BA736E64-ABDC-0810-DA96-63C91F281624}"/>
                </a:ext>
              </a:extLst>
            </p:cNvPr>
            <p:cNvSpPr/>
            <p:nvPr/>
          </p:nvSpPr>
          <p:spPr>
            <a:xfrm rot="16200000">
              <a:off x="1026701" y="1705730"/>
              <a:ext cx="908408" cy="1609395"/>
            </a:xfrm>
            <a:custGeom>
              <a:avLst/>
              <a:gdLst/>
              <a:ahLst/>
              <a:cxnLst/>
              <a:rect l="l" t="t" r="r" b="b"/>
              <a:pathLst>
                <a:path w="1122553" h="1609395">
                  <a:moveTo>
                    <a:pt x="0" y="0"/>
                  </a:moveTo>
                  <a:lnTo>
                    <a:pt x="1122552" y="0"/>
                  </a:lnTo>
                  <a:lnTo>
                    <a:pt x="1122552" y="1609394"/>
                  </a:lnTo>
                  <a:lnTo>
                    <a:pt x="0" y="16093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TextBox 5">
              <a:extLst>
                <a:ext uri="{FF2B5EF4-FFF2-40B4-BE49-F238E27FC236}">
                  <a16:creationId xmlns:a16="http://schemas.microsoft.com/office/drawing/2014/main" id="{5B50CB13-D020-E6D0-728A-ECDD82EC8DAD}"/>
                </a:ext>
              </a:extLst>
            </p:cNvPr>
            <p:cNvSpPr txBox="1"/>
            <p:nvPr/>
          </p:nvSpPr>
          <p:spPr>
            <a:xfrm>
              <a:off x="762149" y="2483781"/>
              <a:ext cx="1387724" cy="213727"/>
            </a:xfrm>
            <a:prstGeom prst="rect">
              <a:avLst/>
            </a:prstGeom>
          </p:spPr>
          <p:txBody>
            <a:bodyPr lIns="0" tIns="0" rIns="0" bIns="0" rtlCol="0" anchor="t">
              <a:spAutoFit/>
            </a:bodyPr>
            <a:lstStyle/>
            <a:p>
              <a:pPr algn="ctr">
                <a:lnSpc>
                  <a:spcPts val="2011"/>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3803</a:t>
              </a:r>
            </a:p>
          </p:txBody>
        </p:sp>
        <p:sp>
          <p:nvSpPr>
            <p:cNvPr id="20" name="Freeform 6">
              <a:extLst>
                <a:ext uri="{FF2B5EF4-FFF2-40B4-BE49-F238E27FC236}">
                  <a16:creationId xmlns:a16="http://schemas.microsoft.com/office/drawing/2014/main" id="{D4A0F181-B087-7E5C-CAA1-A6E6EF0D439A}"/>
                </a:ext>
              </a:extLst>
            </p:cNvPr>
            <p:cNvSpPr/>
            <p:nvPr/>
          </p:nvSpPr>
          <p:spPr>
            <a:xfrm rot="16200000">
              <a:off x="6756796" y="1699952"/>
              <a:ext cx="935052" cy="1647595"/>
            </a:xfrm>
            <a:custGeom>
              <a:avLst/>
              <a:gdLst/>
              <a:ahLst/>
              <a:cxnLst/>
              <a:rect l="l" t="t" r="r" b="b"/>
              <a:pathLst>
                <a:path w="1149197" h="1647595">
                  <a:moveTo>
                    <a:pt x="0" y="0"/>
                  </a:moveTo>
                  <a:lnTo>
                    <a:pt x="1149197" y="0"/>
                  </a:lnTo>
                  <a:lnTo>
                    <a:pt x="1149197" y="1647595"/>
                  </a:lnTo>
                  <a:lnTo>
                    <a:pt x="0" y="16475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1" name="TextBox 7">
              <a:extLst>
                <a:ext uri="{FF2B5EF4-FFF2-40B4-BE49-F238E27FC236}">
                  <a16:creationId xmlns:a16="http://schemas.microsoft.com/office/drawing/2014/main" id="{4CD455FF-3A9F-558F-9AED-663E1E253B1F}"/>
                </a:ext>
              </a:extLst>
            </p:cNvPr>
            <p:cNvSpPr txBox="1"/>
            <p:nvPr/>
          </p:nvSpPr>
          <p:spPr>
            <a:xfrm>
              <a:off x="6512494" y="2494834"/>
              <a:ext cx="1369698" cy="220920"/>
            </a:xfrm>
            <a:prstGeom prst="rect">
              <a:avLst/>
            </a:prstGeom>
          </p:spPr>
          <p:txBody>
            <a:bodyPr lIns="0" tIns="0" rIns="0" bIns="0" rtlCol="0" anchor="t">
              <a:spAutoFit/>
            </a:bodyPr>
            <a:lstStyle/>
            <a:p>
              <a:pPr algn="ctr">
                <a:lnSpc>
                  <a:spcPts val="2059"/>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71 149 000</a:t>
              </a:r>
            </a:p>
          </p:txBody>
        </p:sp>
        <p:sp>
          <p:nvSpPr>
            <p:cNvPr id="22" name="Freeform 8">
              <a:extLst>
                <a:ext uri="{FF2B5EF4-FFF2-40B4-BE49-F238E27FC236}">
                  <a16:creationId xmlns:a16="http://schemas.microsoft.com/office/drawing/2014/main" id="{9AD4B185-9147-7394-F209-7286F3C4438F}"/>
                </a:ext>
              </a:extLst>
            </p:cNvPr>
            <p:cNvSpPr/>
            <p:nvPr/>
          </p:nvSpPr>
          <p:spPr>
            <a:xfrm rot="16200000">
              <a:off x="2934806" y="1705730"/>
              <a:ext cx="908408" cy="1609395"/>
            </a:xfrm>
            <a:custGeom>
              <a:avLst/>
              <a:gdLst/>
              <a:ahLst/>
              <a:cxnLst/>
              <a:rect l="l" t="t" r="r" b="b"/>
              <a:pathLst>
                <a:path w="1122553" h="1609395">
                  <a:moveTo>
                    <a:pt x="0" y="0"/>
                  </a:moveTo>
                  <a:lnTo>
                    <a:pt x="1122553" y="0"/>
                  </a:lnTo>
                  <a:lnTo>
                    <a:pt x="1122553" y="1609394"/>
                  </a:lnTo>
                  <a:lnTo>
                    <a:pt x="0" y="16093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3" name="TextBox 9">
              <a:extLst>
                <a:ext uri="{FF2B5EF4-FFF2-40B4-BE49-F238E27FC236}">
                  <a16:creationId xmlns:a16="http://schemas.microsoft.com/office/drawing/2014/main" id="{33DA4BFD-D032-34FC-0497-2751507190EE}"/>
                </a:ext>
              </a:extLst>
            </p:cNvPr>
            <p:cNvSpPr txBox="1"/>
            <p:nvPr/>
          </p:nvSpPr>
          <p:spPr>
            <a:xfrm>
              <a:off x="2584313" y="2433278"/>
              <a:ext cx="1525227" cy="213727"/>
            </a:xfrm>
            <a:prstGeom prst="rect">
              <a:avLst/>
            </a:prstGeom>
          </p:spPr>
          <p:txBody>
            <a:bodyPr wrap="square" lIns="0" tIns="0" rIns="0" bIns="0" rtlCol="0" anchor="t">
              <a:spAutoFit/>
            </a:bodyPr>
            <a:lstStyle/>
            <a:p>
              <a:pPr algn="ctr">
                <a:lnSpc>
                  <a:spcPts val="2011"/>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13 207 913</a:t>
              </a:r>
            </a:p>
          </p:txBody>
        </p:sp>
        <p:sp>
          <p:nvSpPr>
            <p:cNvPr id="24" name="Freeform 10">
              <a:extLst>
                <a:ext uri="{FF2B5EF4-FFF2-40B4-BE49-F238E27FC236}">
                  <a16:creationId xmlns:a16="http://schemas.microsoft.com/office/drawing/2014/main" id="{936E53C3-5B70-9506-BECF-F8FCB35AD3C1}"/>
                </a:ext>
              </a:extLst>
            </p:cNvPr>
            <p:cNvSpPr/>
            <p:nvPr/>
          </p:nvSpPr>
          <p:spPr>
            <a:xfrm rot="16200000">
              <a:off x="4842912" y="1732374"/>
              <a:ext cx="908408" cy="1609395"/>
            </a:xfrm>
            <a:custGeom>
              <a:avLst/>
              <a:gdLst/>
              <a:ahLst/>
              <a:cxnLst/>
              <a:rect l="l" t="t" r="r" b="b"/>
              <a:pathLst>
                <a:path w="1122553" h="1609395">
                  <a:moveTo>
                    <a:pt x="0" y="0"/>
                  </a:moveTo>
                  <a:lnTo>
                    <a:pt x="1122553" y="0"/>
                  </a:lnTo>
                  <a:lnTo>
                    <a:pt x="1122553" y="1609395"/>
                  </a:lnTo>
                  <a:lnTo>
                    <a:pt x="0" y="1609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5" name="TextBox 11">
              <a:extLst>
                <a:ext uri="{FF2B5EF4-FFF2-40B4-BE49-F238E27FC236}">
                  <a16:creationId xmlns:a16="http://schemas.microsoft.com/office/drawing/2014/main" id="{7D4BB0ED-ADC6-8229-6593-86BC591109E4}"/>
                </a:ext>
              </a:extLst>
            </p:cNvPr>
            <p:cNvSpPr txBox="1"/>
            <p:nvPr/>
          </p:nvSpPr>
          <p:spPr>
            <a:xfrm>
              <a:off x="4610486" y="2460556"/>
              <a:ext cx="1387724" cy="213727"/>
            </a:xfrm>
            <a:prstGeom prst="rect">
              <a:avLst/>
            </a:prstGeom>
          </p:spPr>
          <p:txBody>
            <a:bodyPr lIns="0" tIns="0" rIns="0" bIns="0" rtlCol="0" anchor="t">
              <a:spAutoFit/>
            </a:bodyPr>
            <a:lstStyle/>
            <a:p>
              <a:pPr algn="ctr">
                <a:lnSpc>
                  <a:spcPts val="2011"/>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38 380 689</a:t>
              </a:r>
            </a:p>
          </p:txBody>
        </p:sp>
      </p:grpSp>
      <p:sp>
        <p:nvSpPr>
          <p:cNvPr id="27" name="TextBox 26">
            <a:extLst>
              <a:ext uri="{FF2B5EF4-FFF2-40B4-BE49-F238E27FC236}">
                <a16:creationId xmlns:a16="http://schemas.microsoft.com/office/drawing/2014/main" id="{4DAEB095-6772-F13F-78A8-7FDC313BF774}"/>
              </a:ext>
            </a:extLst>
          </p:cNvPr>
          <p:cNvSpPr txBox="1"/>
          <p:nvPr/>
        </p:nvSpPr>
        <p:spPr>
          <a:xfrm>
            <a:off x="360000" y="1182120"/>
            <a:ext cx="11346896" cy="1094705"/>
          </a:xfrm>
          <a:prstGeom prst="rect">
            <a:avLst/>
          </a:prstGeom>
          <a:noFill/>
        </p:spPr>
        <p:txBody>
          <a:bodyPr wrap="square" lIns="0" tIns="0" rIns="0" bIns="0" rtlCol="0">
            <a:noAutofit/>
          </a:bodyPr>
          <a:lstStyle/>
          <a:p>
            <a:pPr>
              <a:lnSpc>
                <a:spcPct val="150000"/>
              </a:lnSpc>
            </a:pPr>
            <a:r>
              <a:rPr lang="en-AU" sz="3600"/>
              <a:t>As a team, </a:t>
            </a:r>
            <a:r>
              <a:rPr lang="en-AU" sz="3600" b="1"/>
              <a:t>arrange</a:t>
            </a:r>
            <a:r>
              <a:rPr lang="en-AU" sz="3600"/>
              <a:t> yourselves into </a:t>
            </a:r>
            <a:r>
              <a:rPr lang="en-AU" sz="3600" b="1"/>
              <a:t>ascending order </a:t>
            </a:r>
            <a:r>
              <a:rPr lang="en-AU" sz="3600"/>
              <a:t>based on the given numbers. </a:t>
            </a:r>
          </a:p>
          <a:p>
            <a:pPr algn="l"/>
            <a:endParaRPr lang="en-AU" sz="3600"/>
          </a:p>
          <a:p>
            <a:pPr algn="l"/>
            <a:endParaRPr lang="en-AU" sz="1200"/>
          </a:p>
          <a:p>
            <a:pPr algn="l"/>
            <a:r>
              <a:rPr lang="en-AU" sz="3600"/>
              <a:t>For example, </a:t>
            </a:r>
          </a:p>
        </p:txBody>
      </p:sp>
      <p:pic>
        <p:nvPicPr>
          <p:cNvPr id="30" name="Picture 29">
            <a:extLst>
              <a:ext uri="{FF2B5EF4-FFF2-40B4-BE49-F238E27FC236}">
                <a16:creationId xmlns:a16="http://schemas.microsoft.com/office/drawing/2014/main" id="{4F7A4AE8-6511-09D9-080C-8BDF04F0F196}"/>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167916" y="5490667"/>
            <a:ext cx="704886" cy="819192"/>
          </a:xfrm>
          <a:prstGeom prst="rect">
            <a:avLst/>
          </a:prstGeom>
        </p:spPr>
      </p:pic>
      <p:pic>
        <p:nvPicPr>
          <p:cNvPr id="32" name="Picture 31">
            <a:extLst>
              <a:ext uri="{FF2B5EF4-FFF2-40B4-BE49-F238E27FC236}">
                <a16:creationId xmlns:a16="http://schemas.microsoft.com/office/drawing/2014/main" id="{A4E2C715-0A25-B23F-0111-378B68FC4233}"/>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072823" y="5542152"/>
            <a:ext cx="647733" cy="800141"/>
          </a:xfrm>
          <a:prstGeom prst="rect">
            <a:avLst/>
          </a:prstGeom>
        </p:spPr>
      </p:pic>
      <p:pic>
        <p:nvPicPr>
          <p:cNvPr id="34" name="Picture 33">
            <a:extLst>
              <a:ext uri="{FF2B5EF4-FFF2-40B4-BE49-F238E27FC236}">
                <a16:creationId xmlns:a16="http://schemas.microsoft.com/office/drawing/2014/main" id="{840BD716-C119-0A3F-0721-14D34C3A3286}"/>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938749" y="5571827"/>
            <a:ext cx="615982" cy="787440"/>
          </a:xfrm>
          <a:prstGeom prst="rect">
            <a:avLst/>
          </a:prstGeom>
        </p:spPr>
      </p:pic>
      <p:pic>
        <p:nvPicPr>
          <p:cNvPr id="36" name="Picture 35">
            <a:extLst>
              <a:ext uri="{FF2B5EF4-FFF2-40B4-BE49-F238E27FC236}">
                <a16:creationId xmlns:a16="http://schemas.microsoft.com/office/drawing/2014/main" id="{6087A1A1-C24A-D01D-3E7D-4F0628B2A5EB}"/>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786172" y="5497700"/>
            <a:ext cx="635033" cy="844593"/>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1145225"/>
            <a:ext cx="11243037" cy="754243"/>
          </a:xfrm>
        </p:spPr>
        <p:txBody>
          <a:bodyPr/>
          <a:lstStyle/>
          <a:p>
            <a:r>
              <a:rPr lang="en-US" sz="3600"/>
              <a:t>Which number is </a:t>
            </a:r>
            <a:r>
              <a:rPr lang="en-US" sz="3600" b="1"/>
              <a:t>between</a:t>
            </a:r>
            <a:r>
              <a:rPr lang="en-US" sz="3600"/>
              <a:t> 3 691 104 </a:t>
            </a:r>
            <a:r>
              <a:rPr lang="en-US" sz="3600" b="1"/>
              <a:t>and</a:t>
            </a:r>
            <a:r>
              <a:rPr lang="en-US" sz="3600"/>
              <a:t> 3 691 604?</a:t>
            </a:r>
          </a:p>
          <a:p>
            <a:endParaRPr lang="en-US" sz="4400"/>
          </a:p>
        </p:txBody>
      </p:sp>
      <p:sp>
        <p:nvSpPr>
          <p:cNvPr id="9" name="TextBox 8">
            <a:extLst>
              <a:ext uri="{FF2B5EF4-FFF2-40B4-BE49-F238E27FC236}">
                <a16:creationId xmlns:a16="http://schemas.microsoft.com/office/drawing/2014/main" id="{F91A42F4-D8C9-20A3-82EB-86FAD4D776A8}"/>
              </a:ext>
            </a:extLst>
          </p:cNvPr>
          <p:cNvSpPr txBox="1"/>
          <p:nvPr/>
        </p:nvSpPr>
        <p:spPr>
          <a:xfrm>
            <a:off x="670557" y="23137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668080" y="2181640"/>
            <a:ext cx="2688020" cy="880860"/>
          </a:xfrm>
        </p:spPr>
        <p:txBody>
          <a:bodyPr anchor="ctr"/>
          <a:lstStyle/>
          <a:p>
            <a:r>
              <a:rPr lang="en-US" sz="4400"/>
              <a:t>3 691 512</a:t>
            </a:r>
            <a:endParaRPr lang="en-AU" sz="4400"/>
          </a:p>
        </p:txBody>
      </p:sp>
      <p:sp>
        <p:nvSpPr>
          <p:cNvPr id="10" name="TextBox 9">
            <a:extLst>
              <a:ext uri="{FF2B5EF4-FFF2-40B4-BE49-F238E27FC236}">
                <a16:creationId xmlns:a16="http://schemas.microsoft.com/office/drawing/2014/main" id="{CA9D5B15-A13C-EE8B-176F-3B4E3454A1A2}"/>
              </a:ext>
            </a:extLst>
          </p:cNvPr>
          <p:cNvSpPr txBox="1"/>
          <p:nvPr/>
        </p:nvSpPr>
        <p:spPr>
          <a:xfrm>
            <a:off x="670559" y="34356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655380" y="3223966"/>
            <a:ext cx="2954720" cy="880860"/>
          </a:xfrm>
        </p:spPr>
        <p:txBody>
          <a:bodyPr anchor="ctr"/>
          <a:lstStyle/>
          <a:p>
            <a:r>
              <a:rPr lang="en-US" sz="4400"/>
              <a:t>3 691 645</a:t>
            </a:r>
            <a:endParaRPr lang="en-AU" sz="4400"/>
          </a:p>
        </p:txBody>
      </p:sp>
      <p:sp>
        <p:nvSpPr>
          <p:cNvPr id="12" name="TextBox 11">
            <a:extLst>
              <a:ext uri="{FF2B5EF4-FFF2-40B4-BE49-F238E27FC236}">
                <a16:creationId xmlns:a16="http://schemas.microsoft.com/office/drawing/2014/main" id="{B4746450-E4E2-359C-DFCA-0532E811BD1E}"/>
              </a:ext>
            </a:extLst>
          </p:cNvPr>
          <p:cNvSpPr txBox="1"/>
          <p:nvPr/>
        </p:nvSpPr>
        <p:spPr>
          <a:xfrm>
            <a:off x="670558" y="45575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668080" y="4266292"/>
            <a:ext cx="2942020" cy="977393"/>
          </a:xfrm>
        </p:spPr>
        <p:txBody>
          <a:bodyPr anchor="ctr"/>
          <a:lstStyle/>
          <a:p>
            <a:r>
              <a:rPr lang="en-US" sz="4400"/>
              <a:t>3 691 102</a:t>
            </a:r>
            <a:endParaRPr lang="en-AU" sz="4400"/>
          </a:p>
        </p:txBody>
      </p:sp>
      <p:sp>
        <p:nvSpPr>
          <p:cNvPr id="11" name="TextBox 10">
            <a:extLst>
              <a:ext uri="{FF2B5EF4-FFF2-40B4-BE49-F238E27FC236}">
                <a16:creationId xmlns:a16="http://schemas.microsoft.com/office/drawing/2014/main" id="{9B8955CE-78C1-2F30-7505-4CA44A86BDFF}"/>
              </a:ext>
            </a:extLst>
          </p:cNvPr>
          <p:cNvSpPr txBox="1"/>
          <p:nvPr/>
        </p:nvSpPr>
        <p:spPr>
          <a:xfrm>
            <a:off x="670557" y="567944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655380" y="5405150"/>
            <a:ext cx="2522920" cy="977393"/>
          </a:xfrm>
        </p:spPr>
        <p:txBody>
          <a:bodyPr anchor="ctr"/>
          <a:lstStyle/>
          <a:p>
            <a:r>
              <a:rPr lang="en-US" sz="4400"/>
              <a:t>3 691 640</a:t>
            </a:r>
            <a:endParaRPr lang="en-AU" sz="4400"/>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F6C0C88-CD16-35CE-5F45-3FAE029F76D0}"/>
              </a:ext>
            </a:extLst>
          </p:cNvPr>
          <p:cNvSpPr txBox="1"/>
          <p:nvPr/>
        </p:nvSpPr>
        <p:spPr>
          <a:xfrm>
            <a:off x="567485" y="2067286"/>
            <a:ext cx="1645557" cy="2122715"/>
          </a:xfrm>
          <a:prstGeom prst="rect">
            <a:avLst/>
          </a:prstGeom>
          <a:noFill/>
        </p:spPr>
        <p:txBody>
          <a:bodyPr wrap="none" lIns="0" tIns="0" rIns="0" bIns="0" rtlCol="0">
            <a:noAutofit/>
          </a:bodyPr>
          <a:lstStyle/>
          <a:p>
            <a:pPr algn="l">
              <a:lnSpc>
                <a:spcPct val="150000"/>
              </a:lnSpc>
            </a:pPr>
            <a:r>
              <a:rPr lang="en-AU" sz="4400">
                <a:latin typeface="Arial" panose="020B0604020202020204" pitchFamily="34" charset="0"/>
                <a:cs typeface="Arial" panose="020B0604020202020204" pitchFamily="34" charset="0"/>
              </a:rPr>
              <a:t>What </a:t>
            </a:r>
            <a:r>
              <a:rPr lang="en-AU" sz="4400" b="1">
                <a:latin typeface="Arial" panose="020B0604020202020204" pitchFamily="34" charset="0"/>
                <a:cs typeface="Arial" panose="020B0604020202020204" pitchFamily="34" charset="0"/>
              </a:rPr>
              <a:t>information</a:t>
            </a:r>
          </a:p>
          <a:p>
            <a:pPr algn="l">
              <a:lnSpc>
                <a:spcPct val="150000"/>
              </a:lnSpc>
            </a:pPr>
            <a:r>
              <a:rPr lang="en-AU" sz="4400">
                <a:latin typeface="Arial" panose="020B0604020202020204" pitchFamily="34" charset="0"/>
                <a:cs typeface="Arial" panose="020B0604020202020204" pitchFamily="34" charset="0"/>
              </a:rPr>
              <a:t>is missing to interpret</a:t>
            </a:r>
          </a:p>
          <a:p>
            <a:pPr algn="l">
              <a:lnSpc>
                <a:spcPct val="150000"/>
              </a:lnSpc>
            </a:pPr>
            <a:r>
              <a:rPr lang="en-AU" sz="4400">
                <a:latin typeface="Arial" panose="020B0604020202020204" pitchFamily="34" charset="0"/>
                <a:cs typeface="Arial" panose="020B0604020202020204" pitchFamily="34" charset="0"/>
              </a:rPr>
              <a:t>this </a:t>
            </a:r>
            <a:r>
              <a:rPr lang="en-AU" sz="4400" b="1">
                <a:latin typeface="Arial" panose="020B0604020202020204" pitchFamily="34" charset="0"/>
                <a:cs typeface="Arial" panose="020B0604020202020204" pitchFamily="34" charset="0"/>
              </a:rPr>
              <a:t>column graph</a:t>
            </a:r>
            <a:r>
              <a:rPr lang="en-AU" sz="4400">
                <a:latin typeface="Arial" panose="020B0604020202020204" pitchFamily="34" charset="0"/>
                <a:cs typeface="Arial" panose="020B0604020202020204" pitchFamily="34" charset="0"/>
              </a:rPr>
              <a:t>?</a:t>
            </a:r>
          </a:p>
          <a:p>
            <a:pPr algn="l"/>
            <a:endParaRPr lang="en-AU" sz="4400">
              <a:latin typeface="Arial" panose="020B0604020202020204" pitchFamily="34" charset="0"/>
              <a:cs typeface="Arial" panose="020B0604020202020204" pitchFamily="34" charset="0"/>
            </a:endParaRPr>
          </a:p>
        </p:txBody>
      </p:sp>
      <p:pic>
        <p:nvPicPr>
          <p:cNvPr id="9" name="Picture 8" descr="A column graph with four vertical bars of different colours: red, blue, yellow and green. The bars rise to different heights against a background of evenly spaced horizontal grid lines. ">
            <a:extLst>
              <a:ext uri="{FF2B5EF4-FFF2-40B4-BE49-F238E27FC236}">
                <a16:creationId xmlns:a16="http://schemas.microsoft.com/office/drawing/2014/main" id="{7513104F-A7B0-C6ED-9B64-67F75B612127}"/>
              </a:ext>
            </a:extLst>
          </p:cNvPr>
          <p:cNvPicPr>
            <a:picLocks noChangeAspect="1"/>
          </p:cNvPicPr>
          <p:nvPr/>
        </p:nvPicPr>
        <p:blipFill>
          <a:blip r:embed="rId4"/>
          <a:stretch>
            <a:fillRect/>
          </a:stretch>
        </p:blipFill>
        <p:spPr>
          <a:xfrm>
            <a:off x="6383846" y="1303922"/>
            <a:ext cx="4740154" cy="4832872"/>
          </a:xfrm>
          <a:prstGeom prst="rect">
            <a:avLst/>
          </a:prstGeom>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836A829-5F91-B28F-2EE0-14A3FA4426C7}"/>
              </a:ext>
            </a:extLst>
          </p:cNvPr>
          <p:cNvSpPr txBox="1"/>
          <p:nvPr/>
        </p:nvSpPr>
        <p:spPr>
          <a:xfrm>
            <a:off x="912366" y="1170557"/>
            <a:ext cx="10367268" cy="914400"/>
          </a:xfrm>
          <a:prstGeom prst="rect">
            <a:avLst/>
          </a:prstGeom>
          <a:noFill/>
        </p:spPr>
        <p:txBody>
          <a:bodyPr wrap="none" lIns="0" tIns="0" rIns="0" bIns="0" rtlCol="0">
            <a:noAutofit/>
          </a:bodyPr>
          <a:lstStyle/>
          <a:p>
            <a:pPr algn="ctr"/>
            <a:r>
              <a:rPr lang="en-AU" sz="4400" dirty="0"/>
              <a:t>Record an </a:t>
            </a:r>
            <a:r>
              <a:rPr lang="en-AU" sz="4400" b="1" dirty="0"/>
              <a:t>equivalent fraction.</a:t>
            </a:r>
            <a:endParaRPr lang="en-AU" sz="4400" dirty="0"/>
          </a:p>
        </p:txBody>
      </p:sp>
      <p:pic>
        <p:nvPicPr>
          <p:cNvPr id="9" name="Picture 8">
            <a:extLst>
              <a:ext uri="{FF2B5EF4-FFF2-40B4-BE49-F238E27FC236}">
                <a16:creationId xmlns:a16="http://schemas.microsoft.com/office/drawing/2014/main" id="{C17898DD-B34C-F0D6-76CF-B5BDF95C6D0E}"/>
              </a:ext>
            </a:extLst>
          </p:cNvPr>
          <p:cNvPicPr>
            <a:picLocks noChangeAspect="1"/>
          </p:cNvPicPr>
          <p:nvPr/>
        </p:nvPicPr>
        <p:blipFill>
          <a:blip r:embed="rId4"/>
          <a:stretch>
            <a:fillRect/>
          </a:stretch>
        </p:blipFill>
        <p:spPr>
          <a:xfrm>
            <a:off x="2737782" y="2236297"/>
            <a:ext cx="6396694" cy="4128363"/>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721D4CC-7520-8424-3A04-0DC90C7C5A62}"/>
              </a:ext>
            </a:extLst>
          </p:cNvPr>
          <p:cNvSpPr txBox="1"/>
          <p:nvPr/>
        </p:nvSpPr>
        <p:spPr>
          <a:xfrm>
            <a:off x="499138" y="2282066"/>
            <a:ext cx="7336762" cy="2489200"/>
          </a:xfrm>
          <a:prstGeom prst="rect">
            <a:avLst/>
          </a:prstGeom>
          <a:noFill/>
        </p:spPr>
        <p:txBody>
          <a:bodyPr wrap="square" lIns="0" tIns="0" rIns="0" bIns="0" rtlCol="0">
            <a:noAutofit/>
          </a:bodyPr>
          <a:lstStyle/>
          <a:p>
            <a:pPr algn="l">
              <a:lnSpc>
                <a:spcPct val="150000"/>
              </a:lnSpc>
            </a:pPr>
            <a:r>
              <a:rPr lang="en-AU" sz="4400"/>
              <a:t>If </a:t>
            </a:r>
            <a:r>
              <a:rPr lang="en-AU" sz="4400" b="1"/>
              <a:t>all sides </a:t>
            </a:r>
            <a:r>
              <a:rPr lang="en-AU" sz="4400"/>
              <a:t>of this triangle are </a:t>
            </a:r>
            <a:r>
              <a:rPr lang="en-AU" sz="4400" b="1"/>
              <a:t>equal</a:t>
            </a:r>
            <a:r>
              <a:rPr lang="en-AU" sz="4400"/>
              <a:t>, what is its </a:t>
            </a:r>
            <a:r>
              <a:rPr lang="en-AU" sz="4400" b="1"/>
              <a:t>perimeter</a:t>
            </a:r>
            <a:r>
              <a:rPr lang="en-AU" sz="4400"/>
              <a:t>? </a:t>
            </a:r>
          </a:p>
        </p:txBody>
      </p:sp>
      <p:pic>
        <p:nvPicPr>
          <p:cNvPr id="12" name="Picture 11" descr="a purple triangle. One side is labelled 6 cm.">
            <a:extLst>
              <a:ext uri="{FF2B5EF4-FFF2-40B4-BE49-F238E27FC236}">
                <a16:creationId xmlns:a16="http://schemas.microsoft.com/office/drawing/2014/main" id="{15E40CEC-CFE6-6A40-2428-A727321BE1C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991" b="97253" l="5950" r="93424">
                        <a14:foregroundMark x1="14405" y1="94007" x2="14405" y2="94007"/>
                        <a14:foregroundMark x1="6054" y1="97378" x2="6054" y2="97378"/>
                        <a14:foregroundMark x1="93528" y1="97378" x2="93528" y2="97378"/>
                        <a14:foregroundMark x1="50209" y1="6991" x2="50209" y2="6991"/>
                      </a14:backgroundRemoval>
                    </a14:imgEffect>
                  </a14:imgLayer>
                </a14:imgProps>
              </a:ext>
            </a:extLst>
          </a:blip>
          <a:stretch>
            <a:fillRect/>
          </a:stretch>
        </p:blipFill>
        <p:spPr>
          <a:xfrm>
            <a:off x="6912999" y="2282066"/>
            <a:ext cx="4571001" cy="3821891"/>
          </a:xfrm>
          <a:prstGeom prst="rect">
            <a:avLst/>
          </a:prstGeom>
        </p:spPr>
      </p:pic>
      <p:sp>
        <p:nvSpPr>
          <p:cNvPr id="14" name="TextBox 13">
            <a:extLst>
              <a:ext uri="{FF2B5EF4-FFF2-40B4-BE49-F238E27FC236}">
                <a16:creationId xmlns:a16="http://schemas.microsoft.com/office/drawing/2014/main" id="{0CE4037D-8590-CA0B-AAC7-B61871144CA9}"/>
              </a:ext>
            </a:extLst>
          </p:cNvPr>
          <p:cNvSpPr txBox="1"/>
          <p:nvPr/>
        </p:nvSpPr>
        <p:spPr>
          <a:xfrm>
            <a:off x="8656300" y="6036335"/>
            <a:ext cx="6096000" cy="461665"/>
          </a:xfrm>
          <a:prstGeom prst="rect">
            <a:avLst/>
          </a:prstGeom>
          <a:noFill/>
        </p:spPr>
        <p:txBody>
          <a:bodyPr wrap="square">
            <a:spAutoFit/>
          </a:bodyPr>
          <a:lstStyle/>
          <a:p>
            <a:r>
              <a:rPr lang="en-AU" sz="2400" b="1"/>
              <a:t>6 cm</a:t>
            </a:r>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739F281-BE7D-8A55-5361-BE65757699EB}"/>
              </a:ext>
            </a:extLst>
          </p:cNvPr>
          <p:cNvSpPr txBox="1"/>
          <p:nvPr/>
        </p:nvSpPr>
        <p:spPr>
          <a:xfrm>
            <a:off x="863406" y="2509284"/>
            <a:ext cx="10167070" cy="3024962"/>
          </a:xfrm>
          <a:prstGeom prst="rect">
            <a:avLst/>
          </a:prstGeom>
          <a:noFill/>
        </p:spPr>
        <p:txBody>
          <a:bodyPr wrap="square" lIns="0" tIns="0" rIns="0" bIns="0" rtlCol="0">
            <a:noAutofit/>
          </a:bodyPr>
          <a:lstStyle/>
          <a:p>
            <a:pPr algn="ctr">
              <a:lnSpc>
                <a:spcPct val="150000"/>
              </a:lnSpc>
            </a:pPr>
            <a:r>
              <a:rPr lang="en-AU" sz="4400"/>
              <a:t>List </a:t>
            </a:r>
            <a:r>
              <a:rPr lang="en-AU" sz="4400" b="1"/>
              <a:t>3 items </a:t>
            </a:r>
            <a:r>
              <a:rPr lang="en-AU" sz="4400"/>
              <a:t>in the classroom that </a:t>
            </a:r>
          </a:p>
          <a:p>
            <a:pPr algn="ctr">
              <a:lnSpc>
                <a:spcPct val="150000"/>
              </a:lnSpc>
            </a:pPr>
            <a:r>
              <a:rPr lang="en-AU" sz="4400"/>
              <a:t>have </a:t>
            </a:r>
            <a:r>
              <a:rPr lang="en-AU" sz="4400" b="1"/>
              <a:t>one</a:t>
            </a:r>
            <a:r>
              <a:rPr lang="en-AU" sz="4400"/>
              <a:t> or </a:t>
            </a:r>
            <a:r>
              <a:rPr lang="en-AU" sz="4400" b="1"/>
              <a:t>more right angles</a:t>
            </a:r>
            <a:r>
              <a:rPr lang="en-AU" sz="4400"/>
              <a:t>.</a:t>
            </a:r>
          </a:p>
          <a:p>
            <a:pPr marL="742950" indent="-742950" algn="ctr">
              <a:buAutoNum type="alphaLcParenR"/>
            </a:pPr>
            <a:endParaRPr lang="en-AU" sz="4400"/>
          </a:p>
          <a:p>
            <a:pPr algn="ctr"/>
            <a:endParaRPr lang="en-AU" sz="4400"/>
          </a:p>
          <a:p>
            <a:pPr algn="ctr"/>
            <a:endParaRPr lang="en-AU" sz="4400"/>
          </a:p>
          <a:p>
            <a:pPr algn="ctr"/>
            <a:endParaRPr lang="en-AU" sz="4400"/>
          </a:p>
          <a:p>
            <a:pPr algn="ctr"/>
            <a:endParaRPr lang="en-AU" sz="4400"/>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FF7FB-1D11-FFF3-08EC-2AFB63DDE0C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92E5BFB-7D00-7CE0-20C7-FEC4935B630E}"/>
              </a:ext>
            </a:extLst>
          </p:cNvPr>
          <p:cNvSpPr>
            <a:spLocks noGrp="1"/>
          </p:cNvSpPr>
          <p:nvPr>
            <p:ph type="title"/>
          </p:nvPr>
        </p:nvSpPr>
        <p:spPr>
          <a:xfrm>
            <a:off x="360000" y="360000"/>
            <a:ext cx="10367268" cy="545601"/>
          </a:xfrm>
        </p:spPr>
        <p:txBody>
          <a:bodyPr/>
          <a:lstStyle/>
          <a:p>
            <a:r>
              <a:rPr lang="en-AU"/>
              <a:t>Activity 3 – ordering numbers in the millions 2</a:t>
            </a:r>
          </a:p>
        </p:txBody>
      </p:sp>
      <p:sp>
        <p:nvSpPr>
          <p:cNvPr id="2" name="Slide Number Placeholder 1">
            <a:extLst>
              <a:ext uri="{FF2B5EF4-FFF2-40B4-BE49-F238E27FC236}">
                <a16:creationId xmlns:a16="http://schemas.microsoft.com/office/drawing/2014/main" id="{E168AE20-889F-96B9-9342-542B914DD8B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13ED9C5-78D0-A84F-5779-47F68A4A910B}"/>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16" name="Group 2">
            <a:extLst>
              <a:ext uri="{FF2B5EF4-FFF2-40B4-BE49-F238E27FC236}">
                <a16:creationId xmlns:a16="http://schemas.microsoft.com/office/drawing/2014/main" id="{957957B2-0DC0-9C87-9A1A-0084D70FDA18}"/>
              </a:ext>
              <a:ext uri="{C183D7F6-B498-43B3-948B-1728B52AA6E4}">
                <adec:decorative xmlns:adec="http://schemas.microsoft.com/office/drawing/2017/decorative" val="1"/>
              </a:ext>
            </a:extLst>
          </p:cNvPr>
          <p:cNvGrpSpPr/>
          <p:nvPr/>
        </p:nvGrpSpPr>
        <p:grpSpPr>
          <a:xfrm>
            <a:off x="497492" y="4810726"/>
            <a:ext cx="10986507" cy="1250299"/>
            <a:chOff x="676207" y="2056224"/>
            <a:chExt cx="7383334" cy="935052"/>
          </a:xfrm>
        </p:grpSpPr>
        <p:sp>
          <p:nvSpPr>
            <p:cNvPr id="24" name="Freeform 10">
              <a:extLst>
                <a:ext uri="{FF2B5EF4-FFF2-40B4-BE49-F238E27FC236}">
                  <a16:creationId xmlns:a16="http://schemas.microsoft.com/office/drawing/2014/main" id="{DF45CB64-64F9-95DD-3363-1A2572F62DCC}"/>
                </a:ext>
              </a:extLst>
            </p:cNvPr>
            <p:cNvSpPr/>
            <p:nvPr/>
          </p:nvSpPr>
          <p:spPr>
            <a:xfrm rot="16200000">
              <a:off x="4842912" y="1732374"/>
              <a:ext cx="908408" cy="1609395"/>
            </a:xfrm>
            <a:custGeom>
              <a:avLst/>
              <a:gdLst/>
              <a:ahLst/>
              <a:cxnLst/>
              <a:rect l="l" t="t" r="r" b="b"/>
              <a:pathLst>
                <a:path w="1122553" h="1609395">
                  <a:moveTo>
                    <a:pt x="0" y="0"/>
                  </a:moveTo>
                  <a:lnTo>
                    <a:pt x="1122553" y="0"/>
                  </a:lnTo>
                  <a:lnTo>
                    <a:pt x="1122553" y="1609395"/>
                  </a:lnTo>
                  <a:lnTo>
                    <a:pt x="0" y="1609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2" name="Freeform 8">
              <a:extLst>
                <a:ext uri="{FF2B5EF4-FFF2-40B4-BE49-F238E27FC236}">
                  <a16:creationId xmlns:a16="http://schemas.microsoft.com/office/drawing/2014/main" id="{44E4AEE1-DE96-0A93-614D-2FE8779FBCBF}"/>
                </a:ext>
              </a:extLst>
            </p:cNvPr>
            <p:cNvSpPr/>
            <p:nvPr/>
          </p:nvSpPr>
          <p:spPr>
            <a:xfrm rot="16200000">
              <a:off x="2883245" y="1721310"/>
              <a:ext cx="908408" cy="1609395"/>
            </a:xfrm>
            <a:custGeom>
              <a:avLst/>
              <a:gdLst/>
              <a:ahLst/>
              <a:cxnLst/>
              <a:rect l="l" t="t" r="r" b="b"/>
              <a:pathLst>
                <a:path w="1122553" h="1609395">
                  <a:moveTo>
                    <a:pt x="0" y="0"/>
                  </a:moveTo>
                  <a:lnTo>
                    <a:pt x="1122553" y="0"/>
                  </a:lnTo>
                  <a:lnTo>
                    <a:pt x="1122553" y="1609394"/>
                  </a:lnTo>
                  <a:lnTo>
                    <a:pt x="0" y="16093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8" name="Freeform 4">
              <a:extLst>
                <a:ext uri="{FF2B5EF4-FFF2-40B4-BE49-F238E27FC236}">
                  <a16:creationId xmlns:a16="http://schemas.microsoft.com/office/drawing/2014/main" id="{CFC4261F-ADE2-8A1F-A87A-76B21045228E}"/>
                </a:ext>
              </a:extLst>
            </p:cNvPr>
            <p:cNvSpPr/>
            <p:nvPr/>
          </p:nvSpPr>
          <p:spPr>
            <a:xfrm rot="16200000">
              <a:off x="1026701" y="1705730"/>
              <a:ext cx="908408" cy="1609395"/>
            </a:xfrm>
            <a:custGeom>
              <a:avLst/>
              <a:gdLst/>
              <a:ahLst/>
              <a:cxnLst/>
              <a:rect l="l" t="t" r="r" b="b"/>
              <a:pathLst>
                <a:path w="1122553" h="1609395">
                  <a:moveTo>
                    <a:pt x="0" y="0"/>
                  </a:moveTo>
                  <a:lnTo>
                    <a:pt x="1122552" y="0"/>
                  </a:lnTo>
                  <a:lnTo>
                    <a:pt x="1122552" y="1609394"/>
                  </a:lnTo>
                  <a:lnTo>
                    <a:pt x="0" y="16093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TextBox 5">
              <a:extLst>
                <a:ext uri="{FF2B5EF4-FFF2-40B4-BE49-F238E27FC236}">
                  <a16:creationId xmlns:a16="http://schemas.microsoft.com/office/drawing/2014/main" id="{F1F772E9-C252-69C1-C931-BFFA09027A8C}"/>
                </a:ext>
              </a:extLst>
            </p:cNvPr>
            <p:cNvSpPr txBox="1"/>
            <p:nvPr/>
          </p:nvSpPr>
          <p:spPr>
            <a:xfrm>
              <a:off x="2635874" y="2461276"/>
              <a:ext cx="1387724" cy="213727"/>
            </a:xfrm>
            <a:prstGeom prst="rect">
              <a:avLst/>
            </a:prstGeom>
          </p:spPr>
          <p:txBody>
            <a:bodyPr lIns="0" tIns="0" rIns="0" bIns="0" rtlCol="0" anchor="t">
              <a:spAutoFit/>
            </a:bodyPr>
            <a:lstStyle/>
            <a:p>
              <a:pPr algn="ctr">
                <a:lnSpc>
                  <a:spcPts val="2011"/>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3803</a:t>
              </a:r>
            </a:p>
          </p:txBody>
        </p:sp>
        <p:sp>
          <p:nvSpPr>
            <p:cNvPr id="20" name="Freeform 6">
              <a:extLst>
                <a:ext uri="{FF2B5EF4-FFF2-40B4-BE49-F238E27FC236}">
                  <a16:creationId xmlns:a16="http://schemas.microsoft.com/office/drawing/2014/main" id="{99047B0A-F92C-76B1-5DC3-F0120683DC67}"/>
                </a:ext>
              </a:extLst>
            </p:cNvPr>
            <p:cNvSpPr/>
            <p:nvPr/>
          </p:nvSpPr>
          <p:spPr>
            <a:xfrm rot="16200000">
              <a:off x="6768218" y="1699952"/>
              <a:ext cx="935052" cy="1647595"/>
            </a:xfrm>
            <a:custGeom>
              <a:avLst/>
              <a:gdLst/>
              <a:ahLst/>
              <a:cxnLst/>
              <a:rect l="l" t="t" r="r" b="b"/>
              <a:pathLst>
                <a:path w="1149197" h="1647595">
                  <a:moveTo>
                    <a:pt x="0" y="0"/>
                  </a:moveTo>
                  <a:lnTo>
                    <a:pt x="1149197" y="0"/>
                  </a:lnTo>
                  <a:lnTo>
                    <a:pt x="1149197" y="1647595"/>
                  </a:lnTo>
                  <a:lnTo>
                    <a:pt x="0" y="16475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1" name="TextBox 7">
              <a:extLst>
                <a:ext uri="{FF2B5EF4-FFF2-40B4-BE49-F238E27FC236}">
                  <a16:creationId xmlns:a16="http://schemas.microsoft.com/office/drawing/2014/main" id="{453704B2-21A2-09FF-8BDF-3541B7C15086}"/>
                </a:ext>
              </a:extLst>
            </p:cNvPr>
            <p:cNvSpPr txBox="1"/>
            <p:nvPr/>
          </p:nvSpPr>
          <p:spPr>
            <a:xfrm>
              <a:off x="4612267" y="2438812"/>
              <a:ext cx="1369698" cy="220920"/>
            </a:xfrm>
            <a:prstGeom prst="rect">
              <a:avLst/>
            </a:prstGeom>
          </p:spPr>
          <p:txBody>
            <a:bodyPr lIns="0" tIns="0" rIns="0" bIns="0" rtlCol="0" anchor="t">
              <a:spAutoFit/>
            </a:bodyPr>
            <a:lstStyle/>
            <a:p>
              <a:pPr algn="ctr">
                <a:lnSpc>
                  <a:spcPts val="2059"/>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71 149 000</a:t>
              </a:r>
            </a:p>
          </p:txBody>
        </p:sp>
        <p:sp>
          <p:nvSpPr>
            <p:cNvPr id="23" name="TextBox 9">
              <a:extLst>
                <a:ext uri="{FF2B5EF4-FFF2-40B4-BE49-F238E27FC236}">
                  <a16:creationId xmlns:a16="http://schemas.microsoft.com/office/drawing/2014/main" id="{C51BBCE0-ACCA-22AF-D32F-D06D617D75B7}"/>
                </a:ext>
              </a:extLst>
            </p:cNvPr>
            <p:cNvSpPr txBox="1"/>
            <p:nvPr/>
          </p:nvSpPr>
          <p:spPr>
            <a:xfrm>
              <a:off x="718291" y="2489626"/>
              <a:ext cx="1525227" cy="213727"/>
            </a:xfrm>
            <a:prstGeom prst="rect">
              <a:avLst/>
            </a:prstGeom>
          </p:spPr>
          <p:txBody>
            <a:bodyPr wrap="square" lIns="0" tIns="0" rIns="0" bIns="0" rtlCol="0" anchor="t">
              <a:spAutoFit/>
            </a:bodyPr>
            <a:lstStyle/>
            <a:p>
              <a:pPr algn="ctr">
                <a:lnSpc>
                  <a:spcPts val="2011"/>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13 207 913</a:t>
              </a:r>
            </a:p>
          </p:txBody>
        </p:sp>
        <p:sp>
          <p:nvSpPr>
            <p:cNvPr id="25" name="TextBox 11">
              <a:extLst>
                <a:ext uri="{FF2B5EF4-FFF2-40B4-BE49-F238E27FC236}">
                  <a16:creationId xmlns:a16="http://schemas.microsoft.com/office/drawing/2014/main" id="{02CB9190-B4B2-4A0B-69A5-AB89E3B3D157}"/>
                </a:ext>
              </a:extLst>
            </p:cNvPr>
            <p:cNvSpPr txBox="1"/>
            <p:nvPr/>
          </p:nvSpPr>
          <p:spPr>
            <a:xfrm>
              <a:off x="6614595" y="2461276"/>
              <a:ext cx="1387724" cy="213727"/>
            </a:xfrm>
            <a:prstGeom prst="rect">
              <a:avLst/>
            </a:prstGeom>
          </p:spPr>
          <p:txBody>
            <a:bodyPr lIns="0" tIns="0" rIns="0" bIns="0" rtlCol="0" anchor="t">
              <a:spAutoFit/>
            </a:bodyPr>
            <a:lstStyle/>
            <a:p>
              <a:pPr algn="ctr">
                <a:lnSpc>
                  <a:spcPts val="2011"/>
                </a:lnSpc>
                <a:spcBef>
                  <a:spcPct val="0"/>
                </a:spcBef>
              </a:pPr>
              <a:r>
                <a:rPr lang="en-US" sz="3200">
                  <a:solidFill>
                    <a:srgbClr val="000000"/>
                  </a:solidFill>
                  <a:latin typeface="Arial" panose="020B0604020202020204" pitchFamily="34" charset="0"/>
                  <a:ea typeface="Public Sans"/>
                  <a:cs typeface="Arial" panose="020B0604020202020204" pitchFamily="34" charset="0"/>
                  <a:sym typeface="Public Sans"/>
                </a:rPr>
                <a:t>38 380 689</a:t>
              </a:r>
            </a:p>
          </p:txBody>
        </p:sp>
      </p:grpSp>
      <p:sp>
        <p:nvSpPr>
          <p:cNvPr id="27" name="TextBox 26">
            <a:extLst>
              <a:ext uri="{FF2B5EF4-FFF2-40B4-BE49-F238E27FC236}">
                <a16:creationId xmlns:a16="http://schemas.microsoft.com/office/drawing/2014/main" id="{DC851661-469D-F799-0295-DD0512967F01}"/>
              </a:ext>
            </a:extLst>
          </p:cNvPr>
          <p:cNvSpPr txBox="1"/>
          <p:nvPr/>
        </p:nvSpPr>
        <p:spPr>
          <a:xfrm>
            <a:off x="680958" y="967014"/>
            <a:ext cx="11346896" cy="1094705"/>
          </a:xfrm>
          <a:prstGeom prst="rect">
            <a:avLst/>
          </a:prstGeom>
          <a:noFill/>
        </p:spPr>
        <p:txBody>
          <a:bodyPr wrap="square" lIns="0" tIns="0" rIns="0" bIns="0" rtlCol="0">
            <a:noAutofit/>
          </a:bodyPr>
          <a:lstStyle/>
          <a:p>
            <a:pPr algn="l">
              <a:lnSpc>
                <a:spcPct val="150000"/>
              </a:lnSpc>
            </a:pPr>
            <a:r>
              <a:rPr lang="en-AU" sz="3600"/>
              <a:t>As a pair, </a:t>
            </a:r>
            <a:r>
              <a:rPr lang="en-AU" sz="3600" b="1"/>
              <a:t>arrange</a:t>
            </a:r>
            <a:r>
              <a:rPr lang="en-AU" sz="3600"/>
              <a:t> the drawn cards in </a:t>
            </a:r>
            <a:r>
              <a:rPr lang="en-AU" sz="3600" b="1"/>
              <a:t>ascending order</a:t>
            </a:r>
            <a:r>
              <a:rPr lang="en-AU" sz="3600"/>
              <a:t>, using the </a:t>
            </a:r>
            <a:r>
              <a:rPr lang="en-AU" sz="3600" b="1"/>
              <a:t>fewest moves </a:t>
            </a:r>
            <a:r>
              <a:rPr lang="en-AU" sz="3600"/>
              <a:t>as possible. </a:t>
            </a:r>
          </a:p>
          <a:p>
            <a:pPr algn="l"/>
            <a:endParaRPr lang="en-AU" sz="3600"/>
          </a:p>
          <a:p>
            <a:pPr algn="l"/>
            <a:endParaRPr lang="en-AU" sz="1200"/>
          </a:p>
          <a:p>
            <a:pPr algn="l"/>
            <a:r>
              <a:rPr lang="en-AU" sz="3600"/>
              <a:t>For example, </a:t>
            </a:r>
          </a:p>
        </p:txBody>
      </p:sp>
      <p:sp>
        <p:nvSpPr>
          <p:cNvPr id="3" name="TextBox 2">
            <a:extLst>
              <a:ext uri="{FF2B5EF4-FFF2-40B4-BE49-F238E27FC236}">
                <a16:creationId xmlns:a16="http://schemas.microsoft.com/office/drawing/2014/main" id="{E4B367BC-BF43-CC1D-7A7F-3ECBFE803725}"/>
              </a:ext>
            </a:extLst>
          </p:cNvPr>
          <p:cNvSpPr txBox="1"/>
          <p:nvPr/>
        </p:nvSpPr>
        <p:spPr>
          <a:xfrm>
            <a:off x="7822598" y="2422622"/>
            <a:ext cx="4051966" cy="1687890"/>
          </a:xfrm>
          <a:prstGeom prst="wedgeEllipseCallout">
            <a:avLst>
              <a:gd name="adj1" fmla="val 49728"/>
              <a:gd name="adj2" fmla="val -35929"/>
            </a:avLst>
          </a:prstGeom>
          <a:solidFill>
            <a:schemeClr val="accent1"/>
          </a:solidFill>
        </p:spPr>
        <p:txBody>
          <a:bodyPr wrap="square">
            <a:spAutoFit/>
          </a:bodyPr>
          <a:lstStyle/>
          <a:p>
            <a:pPr algn="ctr"/>
            <a:r>
              <a:rPr lang="en-AU">
                <a:solidFill>
                  <a:schemeClr val="bg1"/>
                </a:solidFill>
                <a:latin typeface="Arial" panose="020B0604020202020204" pitchFamily="34" charset="0"/>
                <a:cs typeface="Arial" panose="020B0604020202020204" pitchFamily="34" charset="0"/>
              </a:rPr>
              <a:t>We could order these four cards in  2 moves.</a:t>
            </a:r>
          </a:p>
        </p:txBody>
      </p:sp>
      <p:sp>
        <p:nvSpPr>
          <p:cNvPr id="8" name="Arrow: Circular 7" descr="a curved arrow pointing to the left">
            <a:extLst>
              <a:ext uri="{FF2B5EF4-FFF2-40B4-BE49-F238E27FC236}">
                <a16:creationId xmlns:a16="http://schemas.microsoft.com/office/drawing/2014/main" id="{BEA2906E-E18F-76D4-41E3-5772461BB3AC}"/>
              </a:ext>
            </a:extLst>
          </p:cNvPr>
          <p:cNvSpPr/>
          <p:nvPr/>
        </p:nvSpPr>
        <p:spPr>
          <a:xfrm flipH="1">
            <a:off x="2521503" y="4182003"/>
            <a:ext cx="955898" cy="918483"/>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9" name="Arrow: Circular 8" descr="a curved arrow pointing to the right">
            <a:extLst>
              <a:ext uri="{FF2B5EF4-FFF2-40B4-BE49-F238E27FC236}">
                <a16:creationId xmlns:a16="http://schemas.microsoft.com/office/drawing/2014/main" id="{EC8E6F54-2833-736D-7059-4EAD1825E220}"/>
              </a:ext>
            </a:extLst>
          </p:cNvPr>
          <p:cNvSpPr/>
          <p:nvPr/>
        </p:nvSpPr>
        <p:spPr>
          <a:xfrm>
            <a:off x="8323665" y="4256309"/>
            <a:ext cx="955898" cy="918483"/>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331064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470828" y="2493524"/>
            <a:ext cx="9250344" cy="893226"/>
          </a:xfrm>
        </p:spPr>
        <p:txBody>
          <a:bodyPr/>
          <a:lstStyle/>
          <a:p>
            <a:r>
              <a:rPr lang="en-AU" sz="4400"/>
              <a:t>5 420 231 </a:t>
            </a:r>
            <a:r>
              <a:rPr lang="en-AU" sz="4400" b="1"/>
              <a:t>comes before </a:t>
            </a:r>
            <a:r>
              <a:rPr lang="en-AU" sz="4400"/>
              <a:t>5 402 319.</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51263FD-44B9-9417-D242-5614BAE25956}"/>
              </a:ext>
            </a:extLst>
          </p:cNvPr>
          <p:cNvSpPr txBox="1"/>
          <p:nvPr/>
        </p:nvSpPr>
        <p:spPr>
          <a:xfrm>
            <a:off x="5638800" y="1298523"/>
            <a:ext cx="914400" cy="914400"/>
          </a:xfrm>
          <a:prstGeom prst="rect">
            <a:avLst/>
          </a:prstGeom>
          <a:noFill/>
        </p:spPr>
        <p:txBody>
          <a:bodyPr wrap="none" lIns="0" tIns="0" rIns="0" bIns="0" rtlCol="0">
            <a:noAutofit/>
          </a:bodyPr>
          <a:lstStyle/>
          <a:p>
            <a:pPr algn="ctr"/>
            <a:r>
              <a:rPr lang="en-AU" sz="4400">
                <a:latin typeface="Arial" panose="020B0604020202020204" pitchFamily="34" charset="0"/>
                <a:cs typeface="Arial" panose="020B0604020202020204" pitchFamily="34" charset="0"/>
              </a:rPr>
              <a:t>Write the </a:t>
            </a:r>
            <a:r>
              <a:rPr lang="en-AU" sz="4400" b="1">
                <a:latin typeface="Arial" panose="020B0604020202020204" pitchFamily="34" charset="0"/>
                <a:cs typeface="Arial" panose="020B0604020202020204" pitchFamily="34" charset="0"/>
              </a:rPr>
              <a:t>range</a:t>
            </a:r>
            <a:r>
              <a:rPr lang="en-AU" sz="4400">
                <a:latin typeface="Arial" panose="020B0604020202020204" pitchFamily="34" charset="0"/>
                <a:cs typeface="Arial" panose="020B0604020202020204" pitchFamily="34" charset="0"/>
              </a:rPr>
              <a:t> and the </a:t>
            </a:r>
            <a:r>
              <a:rPr lang="en-AU" sz="4400" b="1">
                <a:latin typeface="Arial" panose="020B0604020202020204" pitchFamily="34" charset="0"/>
                <a:cs typeface="Arial" panose="020B0604020202020204" pitchFamily="34" charset="0"/>
              </a:rPr>
              <a:t>mode </a:t>
            </a:r>
            <a:r>
              <a:rPr lang="en-AU" sz="4400">
                <a:latin typeface="Arial" panose="020B0604020202020204" pitchFamily="34" charset="0"/>
                <a:cs typeface="Arial" panose="020B0604020202020204" pitchFamily="34" charset="0"/>
              </a:rPr>
              <a:t>for the </a:t>
            </a:r>
          </a:p>
          <a:p>
            <a:pPr algn="ctr"/>
            <a:r>
              <a:rPr lang="en-AU" sz="4400">
                <a:latin typeface="Arial" panose="020B0604020202020204" pitchFamily="34" charset="0"/>
                <a:cs typeface="Arial" panose="020B0604020202020204" pitchFamily="34" charset="0"/>
              </a:rPr>
              <a:t>following </a:t>
            </a:r>
            <a:r>
              <a:rPr lang="en-AU" sz="4400" b="1">
                <a:latin typeface="Arial" panose="020B0604020202020204" pitchFamily="34" charset="0"/>
                <a:cs typeface="Arial" panose="020B0604020202020204" pitchFamily="34" charset="0"/>
              </a:rPr>
              <a:t>data display</a:t>
            </a:r>
            <a:r>
              <a:rPr lang="en-AU" sz="4400">
                <a:latin typeface="Arial" panose="020B0604020202020204" pitchFamily="34" charset="0"/>
                <a:cs typeface="Arial" panose="020B0604020202020204" pitchFamily="34" charset="0"/>
              </a:rPr>
              <a:t>.</a:t>
            </a:r>
          </a:p>
        </p:txBody>
      </p:sp>
      <p:pic>
        <p:nvPicPr>
          <p:cNvPr id="7" name="Picture 6" descr="A graph of a extra-curricula activites.">
            <a:extLst>
              <a:ext uri="{FF2B5EF4-FFF2-40B4-BE49-F238E27FC236}">
                <a16:creationId xmlns:a16="http://schemas.microsoft.com/office/drawing/2014/main" id="{FC316156-1D48-3099-20B2-A9958A0D404B}"/>
              </a:ext>
            </a:extLst>
          </p:cNvPr>
          <p:cNvPicPr>
            <a:picLocks noChangeAspect="1"/>
          </p:cNvPicPr>
          <p:nvPr/>
        </p:nvPicPr>
        <p:blipFill>
          <a:blip r:embed="rId4"/>
          <a:stretch>
            <a:fillRect/>
          </a:stretch>
        </p:blipFill>
        <p:spPr>
          <a:xfrm>
            <a:off x="1004918" y="2967263"/>
            <a:ext cx="9722350" cy="36387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7DD303C-4A8C-2FF2-D02F-A7800103CEA4}"/>
                  </a:ext>
                </a:extLst>
              </p:cNvPr>
              <p:cNvSpPr txBox="1"/>
              <p:nvPr/>
            </p:nvSpPr>
            <p:spPr>
              <a:xfrm>
                <a:off x="912366" y="1323534"/>
                <a:ext cx="10367267" cy="5053155"/>
              </a:xfrm>
              <a:prstGeom prst="rect">
                <a:avLst/>
              </a:prstGeom>
              <a:noFill/>
            </p:spPr>
            <p:txBody>
              <a:bodyPr wrap="none" lIns="0" tIns="0" rIns="0" bIns="0" rtlCol="0">
                <a:noAutofit/>
              </a:bodyPr>
              <a:lstStyle/>
              <a:p>
                <a:pPr algn="ctr"/>
                <a:r>
                  <a:rPr lang="en-AU" sz="4400">
                    <a:latin typeface="+mj-lt"/>
                  </a:rPr>
                  <a:t>         </a:t>
                </a:r>
                <a:r>
                  <a:rPr lang="en-AU" sz="4400" b="1">
                    <a:latin typeface="+mj-lt"/>
                  </a:rPr>
                  <a:t>Draw</a:t>
                </a:r>
                <a:r>
                  <a:rPr lang="en-AU" sz="4400">
                    <a:latin typeface="+mj-lt"/>
                  </a:rPr>
                  <a:t> and </a:t>
                </a:r>
                <a:r>
                  <a:rPr lang="en-AU" sz="4400" b="1">
                    <a:latin typeface="+mj-lt"/>
                  </a:rPr>
                  <a:t>record</a:t>
                </a:r>
                <a:r>
                  <a:rPr lang="en-AU" sz="4400">
                    <a:latin typeface="+mj-lt"/>
                  </a:rPr>
                  <a:t> how 4 children </a:t>
                </a:r>
              </a:p>
              <a:p>
                <a:pPr algn="ctr"/>
                <a:r>
                  <a:rPr lang="en-AU" sz="4400">
                    <a:latin typeface="+mj-lt"/>
                  </a:rPr>
                  <a:t>       </a:t>
                </a:r>
                <a:r>
                  <a:rPr lang="en-AU" sz="4400" b="1">
                    <a:latin typeface="+mj-lt"/>
                  </a:rPr>
                  <a:t>shared</a:t>
                </a:r>
                <a:r>
                  <a:rPr lang="en-AU" sz="4400">
                    <a:latin typeface="+mj-lt"/>
                  </a:rPr>
                  <a:t> a chocolate bar.</a:t>
                </a:r>
              </a:p>
              <a:p>
                <a:pPr algn="ctr"/>
                <a:endParaRPr lang="en-AU" sz="4400">
                  <a:latin typeface="+mj-lt"/>
                </a:endParaRPr>
              </a:p>
              <a:p>
                <a:pPr algn="ctr"/>
                <a:r>
                  <a:rPr lang="en-AU" sz="4400">
                    <a:latin typeface="+mj-lt"/>
                  </a:rPr>
                  <a:t>Chris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8</m:t>
                        </m:r>
                      </m:den>
                    </m:f>
                  </m:oMath>
                </a14:m>
                <a:r>
                  <a:rPr lang="en-AU" sz="4400" b="0">
                    <a:latin typeface="+mj-lt"/>
                  </a:rPr>
                  <a:t>         </a:t>
                </a:r>
                <a:r>
                  <a:rPr lang="en-AU" sz="4400"/>
                  <a:t>Zara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3</m:t>
                        </m:r>
                      </m:num>
                      <m:den>
                        <m:r>
                          <a:rPr lang="en-AU" sz="4400" i="1">
                            <a:latin typeface="Cambria Math" panose="02040503050406030204" pitchFamily="18" charset="0"/>
                          </a:rPr>
                          <m:t>8</m:t>
                        </m:r>
                      </m:den>
                    </m:f>
                  </m:oMath>
                </a14:m>
                <a:endParaRPr lang="en-AU" sz="4400" b="0">
                  <a:latin typeface="+mj-lt"/>
                </a:endParaRPr>
              </a:p>
              <a:p>
                <a:pPr algn="ctr"/>
                <a:endParaRPr lang="en-AU" sz="4400">
                  <a:latin typeface="+mj-lt"/>
                </a:endParaRPr>
              </a:p>
              <a:p>
                <a:pPr algn="ctr"/>
                <a:r>
                  <a:rPr lang="en-AU" sz="4400">
                    <a:latin typeface="+mj-lt"/>
                  </a:rPr>
                  <a:t>Mikah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b="0" i="1" smtClean="0">
                            <a:latin typeface="Cambria Math" panose="02040503050406030204" pitchFamily="18" charset="0"/>
                          </a:rPr>
                          <m:t>4</m:t>
                        </m:r>
                      </m:den>
                    </m:f>
                  </m:oMath>
                </a14:m>
                <a:r>
                  <a:rPr lang="en-AU" sz="4400">
                    <a:latin typeface="+mj-lt"/>
                  </a:rPr>
                  <a:t>        </a:t>
                </a:r>
                <a:r>
                  <a:rPr lang="en-AU" sz="4400"/>
                  <a:t>Jona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2</m:t>
                        </m:r>
                      </m:num>
                      <m:den>
                        <m:r>
                          <a:rPr lang="en-AU" sz="4400" i="1">
                            <a:latin typeface="Cambria Math" panose="02040503050406030204" pitchFamily="18" charset="0"/>
                          </a:rPr>
                          <m:t>8</m:t>
                        </m:r>
                      </m:den>
                    </m:f>
                  </m:oMath>
                </a14:m>
                <a:endParaRPr lang="en-AU" sz="4400"/>
              </a:p>
              <a:p>
                <a:endParaRPr lang="en-AU" sz="4400"/>
              </a:p>
              <a:p>
                <a:endParaRPr lang="en-AU" sz="4400"/>
              </a:p>
              <a:p>
                <a:endParaRPr lang="en-AU" sz="4400">
                  <a:latin typeface="+mj-lt"/>
                </a:endParaRPr>
              </a:p>
              <a:p>
                <a:endParaRPr lang="en-AU" sz="1800"/>
              </a:p>
            </p:txBody>
          </p:sp>
        </mc:Choice>
        <mc:Fallback xmlns="">
          <p:sp>
            <p:nvSpPr>
              <p:cNvPr id="4" name="TextBox 3">
                <a:extLst>
                  <a:ext uri="{FF2B5EF4-FFF2-40B4-BE49-F238E27FC236}">
                    <a16:creationId xmlns:a16="http://schemas.microsoft.com/office/drawing/2014/main" id="{17DD303C-4A8C-2FF2-D02F-A7800103CEA4}"/>
                  </a:ext>
                </a:extLst>
              </p:cNvPr>
              <p:cNvSpPr txBox="1">
                <a:spLocks noRot="1" noChangeAspect="1" noMove="1" noResize="1" noEditPoints="1" noAdjustHandles="1" noChangeArrowheads="1" noChangeShapeType="1" noTextEdit="1"/>
              </p:cNvSpPr>
              <p:nvPr/>
            </p:nvSpPr>
            <p:spPr>
              <a:xfrm>
                <a:off x="912366" y="1323534"/>
                <a:ext cx="10367267" cy="5053155"/>
              </a:xfrm>
              <a:prstGeom prst="rect">
                <a:avLst/>
              </a:prstGeom>
              <a:blipFill>
                <a:blip r:embed="rId4"/>
                <a:stretch>
                  <a:fillRect t="-3498"/>
                </a:stretch>
              </a:blipFill>
            </p:spPr>
            <p:txBody>
              <a:bodyPr/>
              <a:lstStyle/>
              <a:p>
                <a:r>
                  <a:rPr lang="en-AU">
                    <a:noFill/>
                  </a:rPr>
                  <a:t> </a:t>
                </a:r>
              </a:p>
            </p:txBody>
          </p:sp>
        </mc:Fallback>
      </mc:AlternateContent>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AA03A7B8-C877-1F6F-8EFD-CBD31910F436}"/>
              </a:ext>
            </a:extLst>
          </p:cNvPr>
          <p:cNvSpPr txBox="1"/>
          <p:nvPr/>
        </p:nvSpPr>
        <p:spPr>
          <a:xfrm>
            <a:off x="740438" y="2232501"/>
            <a:ext cx="5622262" cy="2618400"/>
          </a:xfrm>
          <a:prstGeom prst="rect">
            <a:avLst/>
          </a:prstGeom>
          <a:noFill/>
        </p:spPr>
        <p:txBody>
          <a:bodyPr wrap="square" lIns="0" tIns="0" rIns="0" bIns="0" rtlCol="0">
            <a:noAutofit/>
          </a:bodyPr>
          <a:lstStyle/>
          <a:p>
            <a:pPr algn="l">
              <a:lnSpc>
                <a:spcPct val="150000"/>
              </a:lnSpc>
            </a:pPr>
            <a:r>
              <a:rPr lang="en-AU" sz="4400"/>
              <a:t>What is the </a:t>
            </a:r>
            <a:r>
              <a:rPr lang="en-AU" sz="4400" b="1"/>
              <a:t>perimeter </a:t>
            </a:r>
            <a:r>
              <a:rPr lang="en-AU" sz="4400"/>
              <a:t>of this </a:t>
            </a:r>
            <a:r>
              <a:rPr lang="en-AU" sz="4400" b="1"/>
              <a:t>square</a:t>
            </a:r>
            <a:r>
              <a:rPr lang="en-AU" sz="4400"/>
              <a:t>? </a:t>
            </a:r>
          </a:p>
        </p:txBody>
      </p:sp>
      <p:pic>
        <p:nvPicPr>
          <p:cNvPr id="11" name="Picture 10" descr="A square with one side labelled 6cm.">
            <a:extLst>
              <a:ext uri="{FF2B5EF4-FFF2-40B4-BE49-F238E27FC236}">
                <a16:creationId xmlns:a16="http://schemas.microsoft.com/office/drawing/2014/main" id="{F1FF25C1-8157-03C9-C075-D841C6602D18}"/>
              </a:ext>
            </a:extLst>
          </p:cNvPr>
          <p:cNvPicPr>
            <a:picLocks noChangeAspect="1"/>
          </p:cNvPicPr>
          <p:nvPr/>
        </p:nvPicPr>
        <p:blipFill>
          <a:blip r:embed="rId4"/>
          <a:stretch>
            <a:fillRect/>
          </a:stretch>
        </p:blipFill>
        <p:spPr>
          <a:xfrm>
            <a:off x="6989868" y="1686900"/>
            <a:ext cx="4461694" cy="3784600"/>
          </a:xfrm>
          <a:prstGeom prst="rect">
            <a:avLst/>
          </a:prstGeom>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482B0DC-815D-F01D-2CF0-E374F1F74BE6}"/>
              </a:ext>
            </a:extLst>
          </p:cNvPr>
          <p:cNvSpPr txBox="1"/>
          <p:nvPr/>
        </p:nvSpPr>
        <p:spPr>
          <a:xfrm>
            <a:off x="637953" y="1065222"/>
            <a:ext cx="10486047" cy="4727555"/>
          </a:xfrm>
          <a:prstGeom prst="rect">
            <a:avLst/>
          </a:prstGeom>
          <a:noFill/>
        </p:spPr>
        <p:txBody>
          <a:bodyPr wrap="square" lIns="0" tIns="0" rIns="0" bIns="0" rtlCol="0">
            <a:noAutofit/>
          </a:bodyPr>
          <a:lstStyle/>
          <a:p>
            <a:pPr algn="ctr"/>
            <a:r>
              <a:rPr lang="en-AU" sz="4400" b="1">
                <a:latin typeface="+mj-lt"/>
              </a:rPr>
              <a:t>Draw </a:t>
            </a:r>
            <a:r>
              <a:rPr lang="en-AU" sz="4400">
                <a:latin typeface="+mj-lt"/>
              </a:rPr>
              <a:t>a </a:t>
            </a:r>
            <a:r>
              <a:rPr lang="en-AU" sz="4400" b="1">
                <a:latin typeface="+mj-lt"/>
              </a:rPr>
              <a:t>trapezium</a:t>
            </a:r>
            <a:r>
              <a:rPr lang="en-AU" sz="4400">
                <a:latin typeface="+mj-lt"/>
              </a:rPr>
              <a:t> and </a:t>
            </a:r>
            <a:r>
              <a:rPr lang="en-AU" sz="4400" b="1">
                <a:latin typeface="+mj-lt"/>
              </a:rPr>
              <a:t>record </a:t>
            </a:r>
            <a:r>
              <a:rPr lang="en-AU" sz="4400">
                <a:latin typeface="+mj-lt"/>
              </a:rPr>
              <a:t>the:</a:t>
            </a:r>
          </a:p>
          <a:p>
            <a:pPr algn="ctr"/>
            <a:endParaRPr lang="en-AU" sz="2200">
              <a:latin typeface="+mj-lt"/>
            </a:endParaRPr>
          </a:p>
          <a:p>
            <a:pPr marL="571500" indent="-571500">
              <a:lnSpc>
                <a:spcPct val="150000"/>
              </a:lnSpc>
              <a:buFont typeface="Arial" panose="020B0604020202020204" pitchFamily="34" charset="0"/>
              <a:buChar char="•"/>
            </a:pPr>
            <a:r>
              <a:rPr lang="en-AU" sz="4400">
                <a:latin typeface="+mj-lt"/>
              </a:rPr>
              <a:t>number of </a:t>
            </a:r>
            <a:r>
              <a:rPr lang="en-AU" sz="4400" b="1">
                <a:latin typeface="+mj-lt"/>
              </a:rPr>
              <a:t>sides</a:t>
            </a:r>
          </a:p>
          <a:p>
            <a:pPr marL="571500" indent="-571500">
              <a:lnSpc>
                <a:spcPct val="150000"/>
              </a:lnSpc>
              <a:buFont typeface="Arial" panose="020B0604020202020204" pitchFamily="34" charset="0"/>
              <a:buChar char="•"/>
            </a:pPr>
            <a:r>
              <a:rPr lang="en-AU" sz="4400">
                <a:latin typeface="+mj-lt"/>
              </a:rPr>
              <a:t>number of </a:t>
            </a:r>
            <a:r>
              <a:rPr lang="en-AU" sz="4400" b="1">
                <a:latin typeface="+mj-lt"/>
              </a:rPr>
              <a:t>angles</a:t>
            </a:r>
          </a:p>
          <a:p>
            <a:pPr marL="571500" indent="-571500">
              <a:lnSpc>
                <a:spcPct val="150000"/>
              </a:lnSpc>
              <a:buFont typeface="Arial" panose="020B0604020202020204" pitchFamily="34" charset="0"/>
              <a:buChar char="•"/>
            </a:pPr>
            <a:r>
              <a:rPr lang="en-AU" sz="4400" b="1">
                <a:latin typeface="+mj-lt"/>
              </a:rPr>
              <a:t>types</a:t>
            </a:r>
            <a:r>
              <a:rPr lang="en-AU" sz="4400">
                <a:latin typeface="+mj-lt"/>
              </a:rPr>
              <a:t> of </a:t>
            </a:r>
            <a:r>
              <a:rPr lang="en-AU" sz="4400" b="1">
                <a:latin typeface="+mj-lt"/>
              </a:rPr>
              <a:t>angles</a:t>
            </a:r>
          </a:p>
          <a:p>
            <a:pPr marL="571500" indent="-571500">
              <a:lnSpc>
                <a:spcPct val="150000"/>
              </a:lnSpc>
              <a:buFont typeface="Arial" panose="020B0604020202020204" pitchFamily="34" charset="0"/>
              <a:buChar char="•"/>
            </a:pPr>
            <a:r>
              <a:rPr lang="en-AU" sz="4400">
                <a:latin typeface="+mj-lt"/>
              </a:rPr>
              <a:t>number of </a:t>
            </a:r>
            <a:r>
              <a:rPr lang="en-AU" sz="4400" b="1">
                <a:latin typeface="+mj-lt"/>
              </a:rPr>
              <a:t>pairs</a:t>
            </a:r>
            <a:r>
              <a:rPr lang="en-AU" sz="4400">
                <a:latin typeface="+mj-lt"/>
              </a:rPr>
              <a:t> of </a:t>
            </a:r>
            <a:r>
              <a:rPr lang="en-AU" sz="4400" b="1">
                <a:latin typeface="+mj-lt"/>
              </a:rPr>
              <a:t>parallel sides.</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ordering numbers in the millions 3</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47703524-817B-7176-BE9F-1F9640C4421A}"/>
              </a:ext>
            </a:extLst>
          </p:cNvPr>
          <p:cNvSpPr txBox="1"/>
          <p:nvPr/>
        </p:nvSpPr>
        <p:spPr>
          <a:xfrm>
            <a:off x="231210" y="1165827"/>
            <a:ext cx="11784779" cy="2128234"/>
          </a:xfrm>
          <a:prstGeom prst="rect">
            <a:avLst/>
          </a:prstGeom>
          <a:noFill/>
        </p:spPr>
        <p:txBody>
          <a:bodyPr wrap="none" lIns="0" tIns="0" rIns="0" bIns="0" rtlCol="0">
            <a:noAutofit/>
          </a:bodyPr>
          <a:lstStyle/>
          <a:p>
            <a:pPr algn="l">
              <a:lnSpc>
                <a:spcPct val="150000"/>
              </a:lnSpc>
            </a:pPr>
            <a:r>
              <a:rPr lang="en-AU" sz="4000" b="1">
                <a:latin typeface="Arial" panose="020B0604020202020204" pitchFamily="34" charset="0"/>
                <a:cs typeface="Arial" panose="020B0604020202020204" pitchFamily="34" charset="0"/>
              </a:rPr>
              <a:t>Discard</a:t>
            </a:r>
            <a:r>
              <a:rPr lang="en-AU" sz="4000">
                <a:latin typeface="Arial" panose="020B0604020202020204" pitchFamily="34" charset="0"/>
                <a:cs typeface="Arial" panose="020B0604020202020204" pitchFamily="34" charset="0"/>
              </a:rPr>
              <a:t> your dealt 5 cards by taking turns to </a:t>
            </a:r>
          </a:p>
          <a:p>
            <a:pPr algn="l">
              <a:lnSpc>
                <a:spcPct val="150000"/>
              </a:lnSpc>
            </a:pPr>
            <a:r>
              <a:rPr lang="en-AU" sz="4000">
                <a:latin typeface="Arial" panose="020B0604020202020204" pitchFamily="34" charset="0"/>
                <a:cs typeface="Arial" panose="020B0604020202020204" pitchFamily="34" charset="0"/>
              </a:rPr>
              <a:t>place down on the pile, from </a:t>
            </a:r>
            <a:r>
              <a:rPr lang="en-AU" sz="4000" b="1">
                <a:latin typeface="Arial" panose="020B0604020202020204" pitchFamily="34" charset="0"/>
                <a:cs typeface="Arial" panose="020B0604020202020204" pitchFamily="34" charset="0"/>
              </a:rPr>
              <a:t>smallest </a:t>
            </a:r>
            <a:r>
              <a:rPr lang="en-AU" sz="4000">
                <a:latin typeface="Arial" panose="020B0604020202020204" pitchFamily="34" charset="0"/>
                <a:cs typeface="Arial" panose="020B0604020202020204" pitchFamily="34" charset="0"/>
              </a:rPr>
              <a:t>to</a:t>
            </a:r>
            <a:r>
              <a:rPr lang="en-AU" sz="4000" b="1">
                <a:latin typeface="Arial" panose="020B0604020202020204" pitchFamily="34" charset="0"/>
                <a:cs typeface="Arial" panose="020B0604020202020204" pitchFamily="34" charset="0"/>
              </a:rPr>
              <a:t> largest</a:t>
            </a:r>
            <a:r>
              <a:rPr lang="en-AU" sz="4000">
                <a:latin typeface="Arial" panose="020B0604020202020204" pitchFamily="34" charset="0"/>
                <a:cs typeface="Arial" panose="020B0604020202020204" pitchFamily="34" charset="0"/>
              </a:rPr>
              <a:t>. </a:t>
            </a:r>
          </a:p>
          <a:p>
            <a:pPr algn="l">
              <a:lnSpc>
                <a:spcPct val="150000"/>
              </a:lnSpc>
            </a:pPr>
            <a:endParaRPr lang="en-AU" sz="140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B46C3CD1-EE2B-1CD2-E4ED-6EDC9D83AAB4}"/>
              </a:ext>
              <a:ext uri="{C183D7F6-B498-43B3-948B-1728B52AA6E4}">
                <adec:decorative xmlns:adec="http://schemas.microsoft.com/office/drawing/2017/decorative" val="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72" b="95366" l="4237" r="91243">
                        <a14:foregroundMark x1="6685" y1="24215" x2="6685" y2="24215"/>
                        <a14:foregroundMark x1="37382" y1="8072" x2="37382" y2="8072"/>
                        <a14:foregroundMark x1="91243" y1="28102" x2="91243" y2="28102"/>
                        <a14:foregroundMark x1="72599" y1="93124" x2="72599" y2="93124"/>
                        <a14:foregroundMark x1="20245" y1="93871" x2="20245" y2="93871"/>
                        <a14:foregroundMark x1="6026" y1="24963" x2="6026" y2="24963"/>
                        <a14:foregroundMark x1="4331" y1="21076" x2="4331" y2="21076"/>
                        <a14:foregroundMark x1="72787" y1="95366" x2="72787" y2="95366"/>
                        <a14:foregroundMark x1="18738" y1="93572" x2="18738" y2="93572"/>
                        <a14:foregroundMark x1="4237" y1="20927" x2="4237" y2="20927"/>
                        <a14:foregroundMark x1="51789" y1="82810" x2="51789" y2="82810"/>
                        <a14:foregroundMark x1="51318" y1="82960" x2="53861" y2="82212"/>
                      </a14:backgroundRemoval>
                    </a14:imgEffect>
                  </a14:imgLayer>
                </a14:imgProps>
              </a:ext>
            </a:extLst>
          </a:blip>
          <a:stretch>
            <a:fillRect/>
          </a:stretch>
        </p:blipFill>
        <p:spPr>
          <a:xfrm>
            <a:off x="3977569" y="3039494"/>
            <a:ext cx="5922873" cy="37310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2159169"/>
            <a:ext cx="11243037" cy="893226"/>
          </a:xfrm>
        </p:spPr>
        <p:txBody>
          <a:bodyPr/>
          <a:lstStyle/>
          <a:p>
            <a:pPr algn="ctr"/>
            <a:r>
              <a:rPr lang="en-US" sz="4400"/>
              <a:t>What is </a:t>
            </a:r>
            <a:r>
              <a:rPr lang="en-US" sz="4400" b="1"/>
              <a:t>13 x 2</a:t>
            </a:r>
            <a:r>
              <a:rPr lang="en-US" sz="4400"/>
              <a:t>?</a:t>
            </a:r>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47969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4C03396E-F348-A658-008A-DC7A9D534CF0}"/>
              </a:ext>
            </a:extLst>
          </p:cNvPr>
          <p:cNvSpPr txBox="1"/>
          <p:nvPr/>
        </p:nvSpPr>
        <p:spPr>
          <a:xfrm>
            <a:off x="1012162" y="5535581"/>
            <a:ext cx="1815650" cy="769441"/>
          </a:xfrm>
          <a:prstGeom prst="rect">
            <a:avLst/>
          </a:prstGeom>
          <a:noFill/>
        </p:spPr>
        <p:txBody>
          <a:bodyPr wrap="square">
            <a:spAutoFit/>
          </a:bodyPr>
          <a:lstStyle/>
          <a:p>
            <a:r>
              <a:rPr lang="en-US" sz="4400"/>
              <a:t>23</a:t>
            </a:r>
            <a:endParaRPr lang="en-AU" sz="4400"/>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47969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6B861490-1ED4-5CE3-3BF6-6A4D6E8762C1}"/>
              </a:ext>
            </a:extLst>
          </p:cNvPr>
          <p:cNvSpPr txBox="1"/>
          <p:nvPr/>
        </p:nvSpPr>
        <p:spPr>
          <a:xfrm>
            <a:off x="3964912" y="5535580"/>
            <a:ext cx="1815650" cy="769441"/>
          </a:xfrm>
          <a:prstGeom prst="rect">
            <a:avLst/>
          </a:prstGeom>
          <a:noFill/>
        </p:spPr>
        <p:txBody>
          <a:bodyPr wrap="square">
            <a:spAutoFit/>
          </a:bodyPr>
          <a:lstStyle/>
          <a:p>
            <a:r>
              <a:rPr lang="en-US" sz="4400"/>
              <a:t>25</a:t>
            </a:r>
            <a:endParaRPr lang="en-AU" sz="4400"/>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47969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C008F546-FC6A-FB35-B9AD-48482E428A88}"/>
              </a:ext>
            </a:extLst>
          </p:cNvPr>
          <p:cNvSpPr txBox="1"/>
          <p:nvPr/>
        </p:nvSpPr>
        <p:spPr>
          <a:xfrm>
            <a:off x="7112540" y="5535580"/>
            <a:ext cx="1815650" cy="769441"/>
          </a:xfrm>
          <a:prstGeom prst="rect">
            <a:avLst/>
          </a:prstGeom>
          <a:noFill/>
        </p:spPr>
        <p:txBody>
          <a:bodyPr wrap="square">
            <a:spAutoFit/>
          </a:bodyPr>
          <a:lstStyle/>
          <a:p>
            <a:r>
              <a:rPr lang="en-US" sz="4400"/>
              <a:t>26</a:t>
            </a:r>
            <a:endParaRPr lang="en-AU" sz="4400"/>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47969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DF3413A4-D1A9-8032-2A3F-F6E6A7E66A53}"/>
              </a:ext>
            </a:extLst>
          </p:cNvPr>
          <p:cNvSpPr txBox="1"/>
          <p:nvPr/>
        </p:nvSpPr>
        <p:spPr>
          <a:xfrm>
            <a:off x="9992944" y="5457455"/>
            <a:ext cx="1815650" cy="769441"/>
          </a:xfrm>
          <a:prstGeom prst="rect">
            <a:avLst/>
          </a:prstGeom>
          <a:noFill/>
        </p:spPr>
        <p:txBody>
          <a:bodyPr wrap="square">
            <a:spAutoFit/>
          </a:bodyPr>
          <a:lstStyle/>
          <a:p>
            <a:r>
              <a:rPr lang="en-US" sz="4400"/>
              <a:t>29</a:t>
            </a:r>
            <a:endParaRPr lang="en-AU" sz="4400"/>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F9BFAB4-B58B-448D-C7FE-D21F6C5D1F8F}"/>
              </a:ext>
            </a:extLst>
          </p:cNvPr>
          <p:cNvSpPr txBox="1"/>
          <p:nvPr/>
        </p:nvSpPr>
        <p:spPr>
          <a:xfrm>
            <a:off x="5894615" y="1280912"/>
            <a:ext cx="914400" cy="914400"/>
          </a:xfrm>
          <a:prstGeom prst="rect">
            <a:avLst/>
          </a:prstGeom>
          <a:noFill/>
        </p:spPr>
        <p:txBody>
          <a:bodyPr wrap="none" lIns="0" tIns="0" rIns="0" bIns="0" rtlCol="0">
            <a:noAutofit/>
          </a:bodyPr>
          <a:lstStyle/>
          <a:p>
            <a:pPr algn="ctr">
              <a:lnSpc>
                <a:spcPct val="150000"/>
              </a:lnSpc>
            </a:pPr>
            <a:r>
              <a:rPr lang="en-AU" sz="4400" b="1">
                <a:latin typeface="Arial" panose="020B0604020202020204" pitchFamily="34" charset="0"/>
                <a:cs typeface="Arial" panose="020B0604020202020204" pitchFamily="34" charset="0"/>
              </a:rPr>
              <a:t>Draw</a:t>
            </a:r>
            <a:r>
              <a:rPr lang="en-AU" sz="4400">
                <a:latin typeface="Arial" panose="020B0604020202020204" pitchFamily="34" charset="0"/>
                <a:cs typeface="Arial" panose="020B0604020202020204" pitchFamily="34" charset="0"/>
              </a:rPr>
              <a:t> a </a:t>
            </a:r>
            <a:r>
              <a:rPr lang="en-AU" sz="4400" b="1">
                <a:latin typeface="Arial" panose="020B0604020202020204" pitchFamily="34" charset="0"/>
                <a:cs typeface="Arial" panose="020B0604020202020204" pitchFamily="34" charset="0"/>
              </a:rPr>
              <a:t>timeline</a:t>
            </a:r>
            <a:r>
              <a:rPr lang="en-AU" sz="4400">
                <a:latin typeface="Arial" panose="020B0604020202020204" pitchFamily="34" charset="0"/>
                <a:cs typeface="Arial" panose="020B0604020202020204" pitchFamily="34" charset="0"/>
              </a:rPr>
              <a:t> with the following years </a:t>
            </a:r>
          </a:p>
          <a:p>
            <a:pPr algn="ctr">
              <a:lnSpc>
                <a:spcPct val="150000"/>
              </a:lnSpc>
            </a:pPr>
            <a:r>
              <a:rPr lang="en-AU" sz="4400">
                <a:latin typeface="Arial" panose="020B0604020202020204" pitchFamily="34" charset="0"/>
                <a:cs typeface="Arial" panose="020B0604020202020204" pitchFamily="34" charset="0"/>
              </a:rPr>
              <a:t>as </a:t>
            </a:r>
            <a:r>
              <a:rPr lang="en-AU" sz="4400" b="1">
                <a:latin typeface="Arial" panose="020B0604020202020204" pitchFamily="34" charset="0"/>
                <a:cs typeface="Arial" panose="020B0604020202020204" pitchFamily="34" charset="0"/>
              </a:rPr>
              <a:t>points</a:t>
            </a:r>
            <a:r>
              <a:rPr lang="en-AU" sz="4400">
                <a:latin typeface="Arial" panose="020B0604020202020204" pitchFamily="34" charset="0"/>
                <a:cs typeface="Arial" panose="020B0604020202020204" pitchFamily="34" charset="0"/>
              </a:rPr>
              <a:t> on a </a:t>
            </a:r>
            <a:r>
              <a:rPr lang="en-AU" sz="4400" b="1">
                <a:latin typeface="Arial" panose="020B0604020202020204" pitchFamily="34" charset="0"/>
                <a:cs typeface="Arial" panose="020B0604020202020204" pitchFamily="34" charset="0"/>
              </a:rPr>
              <a:t>number line</a:t>
            </a:r>
            <a:r>
              <a:rPr lang="en-AU" sz="4400">
                <a:latin typeface="Arial" panose="020B0604020202020204" pitchFamily="34" charset="0"/>
                <a:cs typeface="Arial" panose="020B0604020202020204" pitchFamily="34" charset="0"/>
              </a:rPr>
              <a:t>.</a:t>
            </a:r>
          </a:p>
          <a:p>
            <a:pPr algn="l"/>
            <a:endParaRPr lang="en-AU" sz="48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6BA89179-F71E-8724-B365-FEC6880B2D96}"/>
              </a:ext>
            </a:extLst>
          </p:cNvPr>
          <p:cNvSpPr txBox="1"/>
          <p:nvPr/>
        </p:nvSpPr>
        <p:spPr>
          <a:xfrm>
            <a:off x="740058" y="4662688"/>
            <a:ext cx="11223514" cy="769441"/>
          </a:xfrm>
          <a:prstGeom prst="rect">
            <a:avLst/>
          </a:prstGeom>
          <a:noFill/>
        </p:spPr>
        <p:txBody>
          <a:bodyPr wrap="square">
            <a:spAutoFit/>
          </a:bodyPr>
          <a:lstStyle/>
          <a:p>
            <a:r>
              <a:rPr lang="en-AU" sz="4400"/>
              <a:t>2015		1985		2005	  1995     2025</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354977-0F5A-7547-46F2-5E8BB361BC51}"/>
                  </a:ext>
                </a:extLst>
              </p:cNvPr>
              <p:cNvSpPr txBox="1"/>
              <p:nvPr/>
            </p:nvSpPr>
            <p:spPr>
              <a:xfrm>
                <a:off x="556210" y="1451344"/>
                <a:ext cx="9974847" cy="1977656"/>
              </a:xfrm>
              <a:prstGeom prst="rect">
                <a:avLst/>
              </a:prstGeom>
              <a:noFill/>
            </p:spPr>
            <p:txBody>
              <a:bodyPr wrap="none" lIns="0" tIns="0" rIns="0" bIns="0" rtlCol="0">
                <a:noAutofit/>
              </a:bodyPr>
              <a:lstStyle/>
              <a:p>
                <a:pPr algn="ctr"/>
                <a:r>
                  <a:rPr lang="en-AU" sz="4400" b="1">
                    <a:latin typeface="+mj-lt"/>
                  </a:rPr>
                  <a:t>Solve</a:t>
                </a:r>
                <a:r>
                  <a:rPr lang="en-AU" sz="4400">
                    <a:latin typeface="+mj-lt"/>
                  </a:rPr>
                  <a:t>:</a:t>
                </a:r>
              </a:p>
              <a:p>
                <a:pPr algn="l"/>
                <a:endParaRPr lang="en-AU" sz="4400">
                  <a:latin typeface="+mj-lt"/>
                </a:endParaRPr>
              </a:p>
              <a:p>
                <a:pPr algn="ctr"/>
                <a:r>
                  <a:rPr lang="en-AU" sz="4400">
                    <a:latin typeface="+mj-lt"/>
                  </a:rPr>
                  <a:t>  </a:t>
                </a:r>
                <a14:m>
                  <m:oMath xmlns:m="http://schemas.openxmlformats.org/officeDocument/2006/math">
                    <m:f>
                      <m:fPr>
                        <m:ctrlPr>
                          <a:rPr lang="en-AU" sz="8000" i="1">
                            <a:latin typeface="Cambria Math" panose="02040503050406030204" pitchFamily="18" charset="0"/>
                          </a:rPr>
                        </m:ctrlPr>
                      </m:fPr>
                      <m:num>
                        <m:r>
                          <a:rPr lang="en-AU" sz="8000" b="0" i="1" smtClean="0">
                            <a:latin typeface="Cambria Math" panose="02040503050406030204" pitchFamily="18" charset="0"/>
                          </a:rPr>
                          <m:t>1</m:t>
                        </m:r>
                      </m:num>
                      <m:den>
                        <m:r>
                          <a:rPr lang="en-AU" sz="8000" b="0" i="1" smtClean="0">
                            <a:latin typeface="Cambria Math" panose="02040503050406030204" pitchFamily="18" charset="0"/>
                          </a:rPr>
                          <m:t>5</m:t>
                        </m:r>
                      </m:den>
                    </m:f>
                  </m:oMath>
                </a14:m>
                <a:r>
                  <a:rPr lang="en-AU" sz="8000"/>
                  <a:t>  +  </a:t>
                </a:r>
                <a14:m>
                  <m:oMath xmlns:m="http://schemas.openxmlformats.org/officeDocument/2006/math">
                    <m:f>
                      <m:fPr>
                        <m:ctrlPr>
                          <a:rPr lang="en-AU" sz="8000" i="1">
                            <a:solidFill>
                              <a:srgbClr val="22272B"/>
                            </a:solidFill>
                            <a:latin typeface="Cambria Math" panose="02040503050406030204" pitchFamily="18" charset="0"/>
                          </a:rPr>
                        </m:ctrlPr>
                      </m:fPr>
                      <m:num>
                        <m:r>
                          <a:rPr lang="en-AU" sz="8000" i="1">
                            <a:solidFill>
                              <a:srgbClr val="22272B"/>
                            </a:solidFill>
                            <a:latin typeface="Cambria Math" panose="02040503050406030204" pitchFamily="18" charset="0"/>
                          </a:rPr>
                          <m:t>1</m:t>
                        </m:r>
                      </m:num>
                      <m:den>
                        <m:r>
                          <a:rPr lang="en-AU" sz="8000" i="1">
                            <a:solidFill>
                              <a:srgbClr val="22272B"/>
                            </a:solidFill>
                            <a:latin typeface="Cambria Math" panose="02040503050406030204" pitchFamily="18" charset="0"/>
                          </a:rPr>
                          <m:t>5</m:t>
                        </m:r>
                      </m:den>
                    </m:f>
                  </m:oMath>
                </a14:m>
                <a:r>
                  <a:rPr lang="en-AU" sz="8000">
                    <a:solidFill>
                      <a:srgbClr val="22272B"/>
                    </a:solidFill>
                  </a:rPr>
                  <a:t>  +  </a:t>
                </a:r>
                <a14:m>
                  <m:oMath xmlns:m="http://schemas.openxmlformats.org/officeDocument/2006/math">
                    <m:f>
                      <m:fPr>
                        <m:ctrlPr>
                          <a:rPr lang="en-AU" sz="8000" i="1">
                            <a:solidFill>
                              <a:srgbClr val="22272B"/>
                            </a:solidFill>
                            <a:latin typeface="Cambria Math" panose="02040503050406030204" pitchFamily="18" charset="0"/>
                          </a:rPr>
                        </m:ctrlPr>
                      </m:fPr>
                      <m:num>
                        <m:r>
                          <a:rPr lang="en-AU" sz="8000" b="0" i="1" smtClean="0">
                            <a:solidFill>
                              <a:srgbClr val="22272B"/>
                            </a:solidFill>
                            <a:latin typeface="Cambria Math" panose="02040503050406030204" pitchFamily="18" charset="0"/>
                          </a:rPr>
                          <m:t>2</m:t>
                        </m:r>
                      </m:num>
                      <m:den>
                        <m:r>
                          <a:rPr lang="en-AU" sz="8000" i="1">
                            <a:solidFill>
                              <a:srgbClr val="22272B"/>
                            </a:solidFill>
                            <a:latin typeface="Cambria Math" panose="02040503050406030204" pitchFamily="18" charset="0"/>
                          </a:rPr>
                          <m:t>5</m:t>
                        </m:r>
                      </m:den>
                    </m:f>
                  </m:oMath>
                </a14:m>
                <a:r>
                  <a:rPr lang="en-AU" sz="8000">
                    <a:solidFill>
                      <a:srgbClr val="22272B"/>
                    </a:solidFill>
                  </a:rPr>
                  <a:t> </a:t>
                </a:r>
                <a:endParaRPr lang="en-AU" sz="4400"/>
              </a:p>
            </p:txBody>
          </p:sp>
        </mc:Choice>
        <mc:Fallback xmlns="">
          <p:sp>
            <p:nvSpPr>
              <p:cNvPr id="7" name="TextBox 6">
                <a:extLst>
                  <a:ext uri="{FF2B5EF4-FFF2-40B4-BE49-F238E27FC236}">
                    <a16:creationId xmlns:a16="http://schemas.microsoft.com/office/drawing/2014/main" id="{03354977-0F5A-7547-46F2-5E8BB361BC51}"/>
                  </a:ext>
                </a:extLst>
              </p:cNvPr>
              <p:cNvSpPr txBox="1">
                <a:spLocks noRot="1" noChangeAspect="1" noMove="1" noResize="1" noEditPoints="1" noAdjustHandles="1" noChangeArrowheads="1" noChangeShapeType="1" noTextEdit="1"/>
              </p:cNvSpPr>
              <p:nvPr/>
            </p:nvSpPr>
            <p:spPr>
              <a:xfrm>
                <a:off x="556210" y="1451344"/>
                <a:ext cx="9974847" cy="1977656"/>
              </a:xfrm>
              <a:prstGeom prst="rect">
                <a:avLst/>
              </a:prstGeom>
              <a:blipFill>
                <a:blip r:embed="rId4"/>
                <a:stretch>
                  <a:fillRect t="-8923" b="-71692"/>
                </a:stretch>
              </a:blipFill>
            </p:spPr>
            <p:txBody>
              <a:bodyPr/>
              <a:lstStyle/>
              <a:p>
                <a:r>
                  <a:rPr lang="en-AU">
                    <a:noFill/>
                  </a:rPr>
                  <a:t> </a:t>
                </a:r>
              </a:p>
            </p:txBody>
          </p:sp>
        </mc:Fallback>
      </mc:AlternateContent>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DF847D9-8889-BFD5-4D54-0604822663C3}"/>
              </a:ext>
            </a:extLst>
          </p:cNvPr>
          <p:cNvSpPr txBox="1"/>
          <p:nvPr/>
        </p:nvSpPr>
        <p:spPr>
          <a:xfrm>
            <a:off x="533794" y="2221445"/>
            <a:ext cx="5749349" cy="3700130"/>
          </a:xfrm>
          <a:prstGeom prst="rect">
            <a:avLst/>
          </a:prstGeom>
          <a:noFill/>
        </p:spPr>
        <p:txBody>
          <a:bodyPr wrap="square" lIns="0" tIns="0" rIns="0" bIns="0" rtlCol="0">
            <a:noAutofit/>
          </a:bodyPr>
          <a:lstStyle/>
          <a:p>
            <a:pPr algn="l">
              <a:lnSpc>
                <a:spcPct val="150000"/>
              </a:lnSpc>
            </a:pPr>
            <a:r>
              <a:rPr lang="en-AU" sz="4400" b="0" i="0">
                <a:solidFill>
                  <a:srgbClr val="000000"/>
                </a:solidFill>
                <a:effectLst/>
                <a:latin typeface="Arial" panose="020B0604020202020204" pitchFamily="34" charset="0"/>
                <a:cs typeface="Arial" panose="020B0604020202020204" pitchFamily="34" charset="0"/>
              </a:rPr>
              <a:t>What is </a:t>
            </a:r>
            <a:r>
              <a:rPr lang="en-AU" sz="4400" b="1" i="0">
                <a:solidFill>
                  <a:srgbClr val="000000"/>
                </a:solidFill>
                <a:effectLst/>
                <a:latin typeface="Arial" panose="020B0604020202020204" pitchFamily="34" charset="0"/>
                <a:cs typeface="Arial" panose="020B0604020202020204" pitchFamily="34" charset="0"/>
              </a:rPr>
              <a:t>10:30 pm </a:t>
            </a:r>
          </a:p>
          <a:p>
            <a:pPr algn="l">
              <a:lnSpc>
                <a:spcPct val="150000"/>
              </a:lnSpc>
            </a:pPr>
            <a:r>
              <a:rPr lang="en-AU" sz="4400" b="0" i="0">
                <a:solidFill>
                  <a:srgbClr val="000000"/>
                </a:solidFill>
                <a:effectLst/>
                <a:latin typeface="Arial" panose="020B0604020202020204" pitchFamily="34" charset="0"/>
                <a:cs typeface="Arial" panose="020B0604020202020204" pitchFamily="34" charset="0"/>
              </a:rPr>
              <a:t>in </a:t>
            </a:r>
            <a:r>
              <a:rPr lang="en-AU" sz="4400" b="1" i="0">
                <a:solidFill>
                  <a:srgbClr val="000000"/>
                </a:solidFill>
                <a:effectLst/>
                <a:latin typeface="Arial" panose="020B0604020202020204" pitchFamily="34" charset="0"/>
                <a:cs typeface="Arial" panose="020B0604020202020204" pitchFamily="34" charset="0"/>
              </a:rPr>
              <a:t>24-hour time</a:t>
            </a:r>
            <a:r>
              <a:rPr lang="en-AU" sz="4400" b="0" i="0">
                <a:solidFill>
                  <a:srgbClr val="000000"/>
                </a:solidFill>
                <a:effectLst/>
                <a:latin typeface="Arial" panose="020B0604020202020204" pitchFamily="34" charset="0"/>
                <a:cs typeface="Arial" panose="020B0604020202020204" pitchFamily="34" charset="0"/>
              </a:rPr>
              <a:t>?</a:t>
            </a:r>
            <a:endParaRPr lang="en-AU">
              <a:latin typeface="Arial" panose="020B0604020202020204" pitchFamily="34" charset="0"/>
              <a:cs typeface="Arial" panose="020B0604020202020204" pitchFamily="34" charset="0"/>
            </a:endParaRPr>
          </a:p>
        </p:txBody>
      </p:sp>
      <p:pic>
        <p:nvPicPr>
          <p:cNvPr id="4" name="Picture 3" descr="A teaching analog clock showing 24-hour times as well as 12-hour times. ">
            <a:extLst>
              <a:ext uri="{FF2B5EF4-FFF2-40B4-BE49-F238E27FC236}">
                <a16:creationId xmlns:a16="http://schemas.microsoft.com/office/drawing/2014/main" id="{150E5494-C999-E6CE-C9D9-D40663A30847}"/>
              </a:ext>
            </a:extLst>
          </p:cNvPr>
          <p:cNvPicPr>
            <a:picLocks noChangeAspect="1"/>
          </p:cNvPicPr>
          <p:nvPr/>
        </p:nvPicPr>
        <p:blipFill>
          <a:blip r:embed="rId4"/>
          <a:stretch>
            <a:fillRect/>
          </a:stretch>
        </p:blipFill>
        <p:spPr>
          <a:xfrm>
            <a:off x="6096000" y="1184223"/>
            <a:ext cx="5562206" cy="5145588"/>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9E1AB20-C520-AAF9-8533-1BC483AF1A91}"/>
              </a:ext>
            </a:extLst>
          </p:cNvPr>
          <p:cNvSpPr txBox="1"/>
          <p:nvPr/>
        </p:nvSpPr>
        <p:spPr>
          <a:xfrm>
            <a:off x="531628" y="1184223"/>
            <a:ext cx="10498848" cy="1573619"/>
          </a:xfrm>
          <a:prstGeom prst="rect">
            <a:avLst/>
          </a:prstGeom>
          <a:noFill/>
        </p:spPr>
        <p:txBody>
          <a:bodyPr wrap="square" lIns="0" tIns="0" rIns="0" bIns="0" rtlCol="0">
            <a:noAutofit/>
          </a:bodyPr>
          <a:lstStyle/>
          <a:p>
            <a:pPr algn="ctr">
              <a:lnSpc>
                <a:spcPct val="150000"/>
              </a:lnSpc>
            </a:pPr>
            <a:r>
              <a:rPr lang="en-AU" sz="4400" b="1"/>
              <a:t>Record</a:t>
            </a:r>
            <a:r>
              <a:rPr lang="en-AU" sz="4400"/>
              <a:t> in words, the </a:t>
            </a:r>
            <a:r>
              <a:rPr lang="en-AU" sz="4400" b="1"/>
              <a:t>time</a:t>
            </a:r>
            <a:r>
              <a:rPr lang="en-AU" sz="4400"/>
              <a:t>                           displayed on each </a:t>
            </a:r>
            <a:r>
              <a:rPr lang="en-AU" sz="4400" b="1"/>
              <a:t>digital </a:t>
            </a:r>
            <a:r>
              <a:rPr lang="en-AU" sz="4400"/>
              <a:t>clock.</a:t>
            </a:r>
          </a:p>
        </p:txBody>
      </p:sp>
      <p:pic>
        <p:nvPicPr>
          <p:cNvPr id="9" name="Picture 8" descr="Clock A is a digital clock with white numbers. These numbers are: zero two colon four five. ">
            <a:extLst>
              <a:ext uri="{FF2B5EF4-FFF2-40B4-BE49-F238E27FC236}">
                <a16:creationId xmlns:a16="http://schemas.microsoft.com/office/drawing/2014/main" id="{42A2761A-CF73-0872-6947-8198D00A1122}"/>
              </a:ext>
            </a:extLst>
          </p:cNvPr>
          <p:cNvPicPr>
            <a:picLocks noChangeAspect="1"/>
          </p:cNvPicPr>
          <p:nvPr/>
        </p:nvPicPr>
        <p:blipFill>
          <a:blip r:embed="rId4"/>
          <a:stretch>
            <a:fillRect/>
          </a:stretch>
        </p:blipFill>
        <p:spPr>
          <a:xfrm>
            <a:off x="360001" y="3429001"/>
            <a:ext cx="3530782" cy="2385664"/>
          </a:xfrm>
          <a:prstGeom prst="rect">
            <a:avLst/>
          </a:prstGeom>
        </p:spPr>
      </p:pic>
      <p:sp>
        <p:nvSpPr>
          <p:cNvPr id="16" name="TextBox 15">
            <a:extLst>
              <a:ext uri="{FF2B5EF4-FFF2-40B4-BE49-F238E27FC236}">
                <a16:creationId xmlns:a16="http://schemas.microsoft.com/office/drawing/2014/main" id="{29FDC162-6DAA-F924-D211-4504B645E62A}"/>
              </a:ext>
            </a:extLst>
          </p:cNvPr>
          <p:cNvSpPr txBox="1"/>
          <p:nvPr/>
        </p:nvSpPr>
        <p:spPr>
          <a:xfrm>
            <a:off x="974391" y="5957336"/>
            <a:ext cx="263710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clock A</a:t>
            </a:r>
          </a:p>
        </p:txBody>
      </p:sp>
      <p:pic>
        <p:nvPicPr>
          <p:cNvPr id="13" name="Picture 12" descr="Clock B is a digital clock with white numbers. These numbers are: zero eight colon three zero. ">
            <a:extLst>
              <a:ext uri="{FF2B5EF4-FFF2-40B4-BE49-F238E27FC236}">
                <a16:creationId xmlns:a16="http://schemas.microsoft.com/office/drawing/2014/main" id="{FF97284F-35E9-61E8-9854-F1A464C958DF}"/>
              </a:ext>
            </a:extLst>
          </p:cNvPr>
          <p:cNvPicPr>
            <a:picLocks noChangeAspect="1"/>
          </p:cNvPicPr>
          <p:nvPr/>
        </p:nvPicPr>
        <p:blipFill>
          <a:blip r:embed="rId5"/>
          <a:stretch>
            <a:fillRect/>
          </a:stretch>
        </p:blipFill>
        <p:spPr>
          <a:xfrm>
            <a:off x="4333533" y="3673342"/>
            <a:ext cx="3619686" cy="1619333"/>
          </a:xfrm>
          <a:prstGeom prst="rect">
            <a:avLst/>
          </a:prstGeom>
        </p:spPr>
      </p:pic>
      <p:sp>
        <p:nvSpPr>
          <p:cNvPr id="17" name="TextBox 16">
            <a:extLst>
              <a:ext uri="{FF2B5EF4-FFF2-40B4-BE49-F238E27FC236}">
                <a16:creationId xmlns:a16="http://schemas.microsoft.com/office/drawing/2014/main" id="{97FE494C-3A55-CA80-5D27-208EF18FDC4A}"/>
              </a:ext>
            </a:extLst>
          </p:cNvPr>
          <p:cNvSpPr txBox="1"/>
          <p:nvPr/>
        </p:nvSpPr>
        <p:spPr>
          <a:xfrm>
            <a:off x="4977428" y="5957336"/>
            <a:ext cx="233189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clock B</a:t>
            </a:r>
          </a:p>
        </p:txBody>
      </p:sp>
      <p:pic>
        <p:nvPicPr>
          <p:cNvPr id="15" name="Picture 14" descr="Clock C is a digital clock with white numbers. These numbers are: one zero colon two five. ">
            <a:extLst>
              <a:ext uri="{FF2B5EF4-FFF2-40B4-BE49-F238E27FC236}">
                <a16:creationId xmlns:a16="http://schemas.microsoft.com/office/drawing/2014/main" id="{0018D0B9-D8EA-C859-F356-7E7D34ABC92D}"/>
              </a:ext>
            </a:extLst>
          </p:cNvPr>
          <p:cNvPicPr>
            <a:picLocks noChangeAspect="1"/>
          </p:cNvPicPr>
          <p:nvPr/>
        </p:nvPicPr>
        <p:blipFill>
          <a:blip r:embed="rId6"/>
          <a:stretch>
            <a:fillRect/>
          </a:stretch>
        </p:blipFill>
        <p:spPr>
          <a:xfrm>
            <a:off x="8450693" y="3673342"/>
            <a:ext cx="3254553" cy="1779468"/>
          </a:xfrm>
          <a:prstGeom prst="rect">
            <a:avLst/>
          </a:prstGeom>
        </p:spPr>
      </p:pic>
      <p:sp>
        <p:nvSpPr>
          <p:cNvPr id="19" name="TextBox 18">
            <a:extLst>
              <a:ext uri="{FF2B5EF4-FFF2-40B4-BE49-F238E27FC236}">
                <a16:creationId xmlns:a16="http://schemas.microsoft.com/office/drawing/2014/main" id="{3701F8D5-AD75-6525-DB9C-9EB87C1ECA7C}"/>
              </a:ext>
            </a:extLst>
          </p:cNvPr>
          <p:cNvSpPr txBox="1"/>
          <p:nvPr/>
        </p:nvSpPr>
        <p:spPr>
          <a:xfrm>
            <a:off x="9068138" y="6018901"/>
            <a:ext cx="263710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clock C</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multiplicative number talk</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026" name="Picture 2">
            <a:hlinkClick r:id="rId4"/>
            <a:extLst>
              <a:ext uri="{FF2B5EF4-FFF2-40B4-BE49-F238E27FC236}">
                <a16:creationId xmlns:a16="http://schemas.microsoft.com/office/drawing/2014/main" id="{1CF492E9-83B5-A6DD-C694-31A210A09CD0}"/>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788" y="1550349"/>
            <a:ext cx="1419225" cy="1409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6">
            <a:extLst>
              <a:ext uri="{FF2B5EF4-FFF2-40B4-BE49-F238E27FC236}">
                <a16:creationId xmlns:a16="http://schemas.microsoft.com/office/drawing/2014/main" id="{12604E04-084C-64C9-222D-561684D46B29}"/>
              </a:ext>
            </a:extLst>
          </p:cNvPr>
          <p:cNvSpPr txBox="1"/>
          <p:nvPr/>
        </p:nvSpPr>
        <p:spPr>
          <a:xfrm>
            <a:off x="2403627" y="2024366"/>
            <a:ext cx="4289273" cy="830997"/>
          </a:xfrm>
          <a:prstGeom prst="rect">
            <a:avLst/>
          </a:prstGeom>
          <a:noFill/>
        </p:spPr>
        <p:txBody>
          <a:bodyPr wrap="square">
            <a:spAutoFit/>
          </a:bodyPr>
          <a:lstStyle>
            <a:defPPr>
              <a:defRPr lang="en-US"/>
            </a:defPPr>
            <a:lvl1pPr marL="0" algn="l" defTabSz="609585" rtl="0" eaLnBrk="1" latinLnBrk="0" hangingPunct="1">
              <a:defRPr sz="2400" kern="1200">
                <a:solidFill>
                  <a:srgbClr val="22272B"/>
                </a:solidFill>
                <a:latin typeface="Arial" panose="020B0604020202020204"/>
              </a:defRPr>
            </a:lvl1pPr>
            <a:lvl2pPr marL="609585" algn="l" defTabSz="609585" rtl="0" eaLnBrk="1" latinLnBrk="0" hangingPunct="1">
              <a:defRPr sz="2400" kern="1200">
                <a:solidFill>
                  <a:srgbClr val="22272B"/>
                </a:solidFill>
                <a:latin typeface="Arial" panose="020B0604020202020204"/>
              </a:defRPr>
            </a:lvl2pPr>
            <a:lvl3pPr marL="1219170" algn="l" defTabSz="609585" rtl="0" eaLnBrk="1" latinLnBrk="0" hangingPunct="1">
              <a:defRPr sz="2400" kern="1200">
                <a:solidFill>
                  <a:srgbClr val="22272B"/>
                </a:solidFill>
                <a:latin typeface="Arial" panose="020B0604020202020204"/>
              </a:defRPr>
            </a:lvl3pPr>
            <a:lvl4pPr marL="1828754" algn="l" defTabSz="609585" rtl="0" eaLnBrk="1" latinLnBrk="0" hangingPunct="1">
              <a:defRPr sz="2400" kern="1200">
                <a:solidFill>
                  <a:srgbClr val="22272B"/>
                </a:solidFill>
                <a:latin typeface="Arial" panose="020B0604020202020204"/>
              </a:defRPr>
            </a:lvl4pPr>
            <a:lvl5pPr marL="2438339" algn="l" defTabSz="609585" rtl="0" eaLnBrk="1" latinLnBrk="0" hangingPunct="1">
              <a:defRPr sz="2400" kern="1200">
                <a:solidFill>
                  <a:srgbClr val="22272B"/>
                </a:solidFill>
                <a:latin typeface="Arial" panose="020B0604020202020204"/>
              </a:defRPr>
            </a:lvl5pPr>
            <a:lvl6pPr marL="3047924" algn="l" defTabSz="609585" rtl="0" eaLnBrk="1" latinLnBrk="0" hangingPunct="1">
              <a:defRPr sz="2400" kern="1200">
                <a:solidFill>
                  <a:srgbClr val="22272B"/>
                </a:solidFill>
                <a:latin typeface="Arial" panose="020B0604020202020204"/>
              </a:defRPr>
            </a:lvl6pPr>
            <a:lvl7pPr marL="3657509" algn="l" defTabSz="609585" rtl="0" eaLnBrk="1" latinLnBrk="0" hangingPunct="1">
              <a:defRPr sz="2400" kern="1200">
                <a:solidFill>
                  <a:srgbClr val="22272B"/>
                </a:solidFill>
                <a:latin typeface="Arial" panose="020B0604020202020204"/>
              </a:defRPr>
            </a:lvl7pPr>
            <a:lvl8pPr marL="4267093" algn="l" defTabSz="609585" rtl="0" eaLnBrk="1" latinLnBrk="0" hangingPunct="1">
              <a:defRPr sz="2400" kern="1200">
                <a:solidFill>
                  <a:srgbClr val="22272B"/>
                </a:solidFill>
                <a:latin typeface="Arial" panose="020B0604020202020204"/>
              </a:defRPr>
            </a:lvl8pPr>
            <a:lvl9pPr marL="4876678" algn="l" defTabSz="609585" rtl="0" eaLnBrk="1" latinLnBrk="0" hangingPunct="1">
              <a:defRPr sz="2400" kern="1200">
                <a:solidFill>
                  <a:srgbClr val="22272B"/>
                </a:solidFill>
                <a:latin typeface="Arial" panose="020B0604020202020204"/>
              </a:defRPr>
            </a:lvl9pPr>
          </a:lstStyle>
          <a:p>
            <a:r>
              <a:rPr lang="en-AU" sz="2400" u="sng">
                <a:solidFill>
                  <a:srgbClr val="146CFD"/>
                </a:solidFill>
                <a:effectLst/>
                <a:latin typeface="Arial" panose="020B0604020202020204" pitchFamily="34" charset="0"/>
                <a:ea typeface="Arial" panose="020B0604020202020204" pitchFamily="34" charset="0"/>
                <a:hlinkClick r:id="rId4">
                  <a:extLst>
                    <a:ext uri="{A12FA001-AC4F-418D-AE19-62706E023703}">
                      <ahyp:hlinkClr xmlns:ahyp="http://schemas.microsoft.com/office/drawing/2018/hyperlinkcolor" val="tx"/>
                    </a:ext>
                  </a:extLst>
                </a:hlinkClick>
              </a:rPr>
              <a:t>Let's talk 2: number talk </a:t>
            </a:r>
            <a:r>
              <a:rPr lang="en-AU" sz="2400" u="sng">
                <a:solidFill>
                  <a:schemeClr val="bg1"/>
                </a:solidFill>
                <a:effectLst/>
                <a:latin typeface="Arial" panose="020B0604020202020204" pitchFamily="34" charset="0"/>
                <a:ea typeface="Arial" panose="020B0604020202020204" pitchFamily="34" charset="0"/>
                <a:hlinkClick r:id="rId4">
                  <a:extLst>
                    <a:ext uri="{A12FA001-AC4F-418D-AE19-62706E023703}">
                      <ahyp:hlinkClr xmlns:ahyp="http://schemas.microsoft.com/office/drawing/2018/hyperlinkcolor" val="tx"/>
                    </a:ext>
                  </a:extLst>
                </a:hlinkClick>
              </a:rPr>
              <a:t>(15 x 9) Stage 3 (6:15)</a:t>
            </a:r>
            <a:endParaRPr lang="en-AU">
              <a:solidFill>
                <a:schemeClr val="bg1"/>
              </a:solidFill>
            </a:endParaRPr>
          </a:p>
        </p:txBody>
      </p:sp>
      <p:sp>
        <p:nvSpPr>
          <p:cNvPr id="3" name="TextBox 2">
            <a:extLst>
              <a:ext uri="{FF2B5EF4-FFF2-40B4-BE49-F238E27FC236}">
                <a16:creationId xmlns:a16="http://schemas.microsoft.com/office/drawing/2014/main" id="{B5774995-4B66-89D8-F0F9-4F96D7F3A29C}"/>
              </a:ext>
            </a:extLst>
          </p:cNvPr>
          <p:cNvSpPr txBox="1"/>
          <p:nvPr/>
        </p:nvSpPr>
        <p:spPr>
          <a:xfrm>
            <a:off x="802077" y="3429000"/>
            <a:ext cx="10587845" cy="3253203"/>
          </a:xfrm>
          <a:prstGeom prst="rect">
            <a:avLst/>
          </a:prstGeom>
          <a:noFill/>
        </p:spPr>
        <p:txBody>
          <a:bodyPr wrap="square" lIns="0" tIns="0" rIns="0" bIns="0" rtlCol="0">
            <a:noAutofit/>
          </a:bodyPr>
          <a:lstStyle/>
          <a:p>
            <a:pPr algn="ctr"/>
            <a:r>
              <a:rPr lang="en-AU" sz="4400">
                <a:latin typeface="Arial" panose="020B0604020202020204" pitchFamily="34" charset="0"/>
                <a:cs typeface="Arial" panose="020B0604020202020204" pitchFamily="34" charset="0"/>
              </a:rPr>
              <a:t>Record </a:t>
            </a:r>
            <a:r>
              <a:rPr lang="en-AU" sz="4400" b="1" dirty="0">
                <a:latin typeface="Arial" panose="020B0604020202020204" pitchFamily="34" charset="0"/>
                <a:cs typeface="Arial" panose="020B0604020202020204" pitchFamily="34" charset="0"/>
              </a:rPr>
              <a:t>2</a:t>
            </a:r>
            <a:r>
              <a:rPr lang="en-AU" sz="4400" b="1">
                <a:latin typeface="Arial" panose="020B0604020202020204" pitchFamily="34" charset="0"/>
                <a:cs typeface="Arial" panose="020B0604020202020204" pitchFamily="34" charset="0"/>
              </a:rPr>
              <a:t> strategies </a:t>
            </a:r>
            <a:r>
              <a:rPr lang="en-AU" sz="4400">
                <a:latin typeface="Arial" panose="020B0604020202020204" pitchFamily="34" charset="0"/>
                <a:cs typeface="Arial" panose="020B0604020202020204" pitchFamily="34" charset="0"/>
              </a:rPr>
              <a:t>to </a:t>
            </a:r>
            <a:r>
              <a:rPr lang="en-AU" sz="4400" b="1">
                <a:latin typeface="Arial" panose="020B0604020202020204" pitchFamily="34" charset="0"/>
                <a:cs typeface="Arial" panose="020B0604020202020204" pitchFamily="34" charset="0"/>
              </a:rPr>
              <a:t>solve</a:t>
            </a:r>
            <a:r>
              <a:rPr lang="en-AU" sz="4400">
                <a:latin typeface="Arial" panose="020B0604020202020204" pitchFamily="34" charset="0"/>
                <a:cs typeface="Arial" panose="020B0604020202020204" pitchFamily="34" charset="0"/>
              </a:rPr>
              <a:t>:</a:t>
            </a:r>
          </a:p>
          <a:p>
            <a:pPr algn="ctr"/>
            <a:endParaRPr lang="en-AU" sz="4400">
              <a:latin typeface="Arial" panose="020B0604020202020204" pitchFamily="34" charset="0"/>
              <a:cs typeface="Arial" panose="020B0604020202020204" pitchFamily="34" charset="0"/>
            </a:endParaRPr>
          </a:p>
          <a:p>
            <a:pPr algn="ctr"/>
            <a:r>
              <a:rPr lang="en-AU" sz="8000">
                <a:solidFill>
                  <a:schemeClr val="accent2"/>
                </a:solidFill>
                <a:latin typeface="Arial" panose="020B0604020202020204" pitchFamily="34" charset="0"/>
                <a:cs typeface="Arial" panose="020B0604020202020204" pitchFamily="34" charset="0"/>
              </a:rPr>
              <a:t>15 x 9</a:t>
            </a:r>
          </a:p>
          <a:p>
            <a:pPr algn="ctr"/>
            <a:endParaRPr lang="en-AU">
              <a:solidFill>
                <a:schemeClr val="accent2"/>
              </a:solidFill>
              <a:latin typeface="Arial" panose="020B0604020202020204" pitchFamily="34" charset="0"/>
              <a:cs typeface="Arial" panose="020B0604020202020204" pitchFamily="34" charset="0"/>
            </a:endParaRPr>
          </a:p>
          <a:p>
            <a:pPr algn="ctr"/>
            <a:endParaRPr lang="en-AU">
              <a:solidFill>
                <a:schemeClr val="accent2"/>
              </a:solidFill>
              <a:latin typeface="Arial" panose="020B0604020202020204" pitchFamily="34" charset="0"/>
              <a:cs typeface="Arial" panose="020B0604020202020204" pitchFamily="34" charset="0"/>
            </a:endParaRPr>
          </a:p>
          <a:p>
            <a:pPr algn="ctr"/>
            <a:endParaRPr lang="en-AU">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2442981" y="1222298"/>
            <a:ext cx="7450500" cy="893226"/>
          </a:xfrm>
        </p:spPr>
        <p:txBody>
          <a:bodyPr/>
          <a:lstStyle/>
          <a:p>
            <a:pPr algn="ctr"/>
            <a:r>
              <a:rPr lang="en-AU" sz="4400" b="1"/>
              <a:t>15 x 4 </a:t>
            </a:r>
          </a:p>
          <a:p>
            <a:pPr algn="ctr"/>
            <a:r>
              <a:rPr lang="en-AU" sz="4400"/>
              <a:t>can be represented as </a:t>
            </a:r>
          </a:p>
          <a:p>
            <a:pPr algn="ctr"/>
            <a:r>
              <a:rPr lang="en-AU" sz="4400" b="1"/>
              <a:t>15 x 2 + 15 x 2</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A1D2C51-1104-2D72-121D-7811FC198DCB}"/>
              </a:ext>
            </a:extLst>
          </p:cNvPr>
          <p:cNvSpPr txBox="1"/>
          <p:nvPr/>
        </p:nvSpPr>
        <p:spPr>
          <a:xfrm>
            <a:off x="360000" y="905601"/>
            <a:ext cx="11133222" cy="1792705"/>
          </a:xfrm>
          <a:prstGeom prst="rect">
            <a:avLst/>
          </a:prstGeom>
          <a:noFill/>
        </p:spPr>
        <p:txBody>
          <a:bodyPr wrap="square" lIns="0" tIns="0" rIns="0" bIns="0" rtlCol="0">
            <a:noAutofit/>
          </a:bodyPr>
          <a:lstStyle/>
          <a:p>
            <a:pPr algn="ctr">
              <a:lnSpc>
                <a:spcPct val="150000"/>
              </a:lnSpc>
            </a:pPr>
            <a:r>
              <a:rPr lang="en-AU" sz="4400" b="1"/>
              <a:t>Order</a:t>
            </a:r>
            <a:r>
              <a:rPr lang="en-AU" sz="4400"/>
              <a:t> the following </a:t>
            </a:r>
            <a:r>
              <a:rPr lang="en-AU" sz="4400" b="1"/>
              <a:t>decimals </a:t>
            </a:r>
            <a:r>
              <a:rPr lang="en-AU" sz="4400"/>
              <a:t>from </a:t>
            </a:r>
          </a:p>
          <a:p>
            <a:pPr algn="ctr">
              <a:lnSpc>
                <a:spcPct val="150000"/>
              </a:lnSpc>
            </a:pPr>
            <a:r>
              <a:rPr lang="en-AU" sz="4400" b="1"/>
              <a:t>smallest</a:t>
            </a:r>
            <a:r>
              <a:rPr lang="en-AU" sz="4400"/>
              <a:t> to </a:t>
            </a:r>
            <a:r>
              <a:rPr lang="en-AU" sz="4400" b="1"/>
              <a:t>largest</a:t>
            </a:r>
            <a:r>
              <a:rPr lang="en-AU" sz="4400"/>
              <a:t>:</a:t>
            </a:r>
          </a:p>
          <a:p>
            <a:pPr marL="571500" indent="-571500" algn="ctr">
              <a:lnSpc>
                <a:spcPct val="200000"/>
              </a:lnSpc>
              <a:buFont typeface="Arial" panose="020B0604020202020204" pitchFamily="34" charset="0"/>
              <a:buChar char="•"/>
            </a:pPr>
            <a:r>
              <a:rPr lang="en-AU" sz="4400"/>
              <a:t>0.34</a:t>
            </a:r>
          </a:p>
          <a:p>
            <a:pPr marL="571500" indent="-571500" algn="ctr">
              <a:lnSpc>
                <a:spcPct val="200000"/>
              </a:lnSpc>
              <a:buFont typeface="Arial" panose="020B0604020202020204" pitchFamily="34" charset="0"/>
              <a:buChar char="•"/>
            </a:pPr>
            <a:r>
              <a:rPr lang="en-AU" sz="4400"/>
              <a:t>0.4</a:t>
            </a:r>
          </a:p>
          <a:p>
            <a:pPr marL="571500" indent="-571500" algn="ctr">
              <a:lnSpc>
                <a:spcPct val="200000"/>
              </a:lnSpc>
              <a:buFont typeface="Arial" panose="020B0604020202020204" pitchFamily="34" charset="0"/>
              <a:buChar char="•"/>
            </a:pPr>
            <a:r>
              <a:rPr lang="en-AU" sz="4400"/>
              <a:t>0.0043</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C51D01D-359C-BC5B-D4EA-47E776691198}"/>
              </a:ext>
            </a:extLst>
          </p:cNvPr>
          <p:cNvSpPr txBox="1"/>
          <p:nvPr/>
        </p:nvSpPr>
        <p:spPr>
          <a:xfrm>
            <a:off x="744204" y="1028800"/>
            <a:ext cx="11099796" cy="1339702"/>
          </a:xfrm>
          <a:prstGeom prst="rect">
            <a:avLst/>
          </a:prstGeom>
          <a:noFill/>
        </p:spPr>
        <p:txBody>
          <a:bodyPr wrap="square" lIns="0" tIns="0" rIns="0" bIns="0" rtlCol="0">
            <a:noAutofit/>
          </a:bodyPr>
          <a:lstStyle/>
          <a:p>
            <a:pPr algn="ctr">
              <a:lnSpc>
                <a:spcPct val="150000"/>
              </a:lnSpc>
            </a:pPr>
            <a:r>
              <a:rPr lang="en-AU" sz="4400"/>
              <a:t>Which </a:t>
            </a:r>
            <a:r>
              <a:rPr lang="en-AU" sz="4400" b="1"/>
              <a:t>fraction</a:t>
            </a:r>
            <a:r>
              <a:rPr lang="en-AU" sz="4400"/>
              <a:t> addition problem is</a:t>
            </a:r>
            <a:r>
              <a:rPr lang="en-AU" sz="4400" b="1"/>
              <a:t> correct</a:t>
            </a:r>
            <a:r>
              <a:rPr lang="en-AU" sz="4400"/>
              <a:t>? </a:t>
            </a:r>
          </a:p>
        </p:txBody>
      </p:sp>
      <p:pic>
        <p:nvPicPr>
          <p:cNvPr id="14" name="Picture 13" descr="2 thirds plus 2 thirds equals 4 sixths.">
            <a:extLst>
              <a:ext uri="{FF2B5EF4-FFF2-40B4-BE49-F238E27FC236}">
                <a16:creationId xmlns:a16="http://schemas.microsoft.com/office/drawing/2014/main" id="{9C46FA7B-9388-4EB8-D3E7-95D5744CFE74}"/>
              </a:ext>
            </a:extLst>
          </p:cNvPr>
          <p:cNvPicPr>
            <a:picLocks noChangeAspect="1"/>
          </p:cNvPicPr>
          <p:nvPr/>
        </p:nvPicPr>
        <p:blipFill>
          <a:blip r:embed="rId4"/>
          <a:stretch>
            <a:fillRect/>
          </a:stretch>
        </p:blipFill>
        <p:spPr>
          <a:xfrm>
            <a:off x="229548" y="3605387"/>
            <a:ext cx="4506115" cy="1768223"/>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7F2DAB5B-9E10-F582-DFC2-E154DEEFAB66}"/>
              </a:ext>
            </a:extLst>
          </p:cNvPr>
          <p:cNvSpPr txBox="1"/>
          <p:nvPr/>
        </p:nvSpPr>
        <p:spPr>
          <a:xfrm>
            <a:off x="5248359" y="4199731"/>
            <a:ext cx="590550" cy="628650"/>
          </a:xfrm>
          <a:prstGeom prst="rect">
            <a:avLst/>
          </a:prstGeom>
          <a:noFill/>
        </p:spPr>
        <p:txBody>
          <a:bodyPr wrap="square" lIns="0" tIns="0" rIns="0" bIns="0" rtlCol="0">
            <a:noAutofit/>
          </a:bodyPr>
          <a:lstStyle/>
          <a:p>
            <a:pPr algn="l"/>
            <a:r>
              <a:rPr lang="en-AU" sz="4400"/>
              <a:t>or</a:t>
            </a:r>
          </a:p>
        </p:txBody>
      </p:sp>
      <p:pic>
        <p:nvPicPr>
          <p:cNvPr id="11" name="Picture 10" descr="2 thirds plus 2 thirds equals 4thirds equals 1 and one third..">
            <a:extLst>
              <a:ext uri="{FF2B5EF4-FFF2-40B4-BE49-F238E27FC236}">
                <a16:creationId xmlns:a16="http://schemas.microsoft.com/office/drawing/2014/main" id="{84FF9355-5DF0-CC37-1D10-95B6661739EC}"/>
              </a:ext>
            </a:extLst>
          </p:cNvPr>
          <p:cNvPicPr>
            <a:picLocks noChangeAspect="1"/>
          </p:cNvPicPr>
          <p:nvPr/>
        </p:nvPicPr>
        <p:blipFill>
          <a:blip r:embed="rId5"/>
          <a:stretch>
            <a:fillRect/>
          </a:stretch>
        </p:blipFill>
        <p:spPr>
          <a:xfrm>
            <a:off x="6112476" y="3654502"/>
            <a:ext cx="5849976" cy="17191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817896B-A7AA-6CA7-4975-7F753120459E}"/>
              </a:ext>
            </a:extLst>
          </p:cNvPr>
          <p:cNvSpPr txBox="1"/>
          <p:nvPr/>
        </p:nvSpPr>
        <p:spPr>
          <a:xfrm>
            <a:off x="868409" y="1065194"/>
            <a:ext cx="10615591" cy="4524411"/>
          </a:xfrm>
          <a:prstGeom prst="rect">
            <a:avLst/>
          </a:prstGeom>
          <a:noFill/>
        </p:spPr>
        <p:txBody>
          <a:bodyPr wrap="square" lIns="0" tIns="0" rIns="0" bIns="0" rtlCol="0">
            <a:noAutofit/>
          </a:bodyPr>
          <a:lstStyle/>
          <a:p>
            <a:pPr algn="ctr">
              <a:lnSpc>
                <a:spcPct val="150000"/>
              </a:lnSpc>
            </a:pPr>
            <a:r>
              <a:rPr lang="en-AU" sz="4400" b="1"/>
              <a:t>Record</a:t>
            </a:r>
            <a:r>
              <a:rPr lang="en-AU" sz="4400"/>
              <a:t> the following </a:t>
            </a:r>
            <a:r>
              <a:rPr lang="en-AU" sz="4400" b="1"/>
              <a:t>12-hour</a:t>
            </a:r>
            <a:r>
              <a:rPr lang="en-AU" sz="4400"/>
              <a:t> </a:t>
            </a:r>
          </a:p>
          <a:p>
            <a:pPr algn="ctr">
              <a:lnSpc>
                <a:spcPct val="150000"/>
              </a:lnSpc>
            </a:pPr>
            <a:r>
              <a:rPr lang="en-AU" sz="4400" b="1"/>
              <a:t> times </a:t>
            </a:r>
            <a:r>
              <a:rPr lang="en-AU" sz="4400"/>
              <a:t>in </a:t>
            </a:r>
            <a:r>
              <a:rPr lang="en-AU" sz="4400" b="1"/>
              <a:t>24-hour time</a:t>
            </a:r>
            <a:r>
              <a:rPr lang="en-AU" sz="4400"/>
              <a:t>:</a:t>
            </a:r>
          </a:p>
          <a:p>
            <a:pPr marL="571500" indent="-571500" algn="ctr">
              <a:lnSpc>
                <a:spcPct val="150000"/>
              </a:lnSpc>
              <a:buFont typeface="Arial" panose="020B0604020202020204" pitchFamily="34" charset="0"/>
              <a:buChar char="•"/>
            </a:pPr>
            <a:r>
              <a:rPr lang="en-AU" sz="4400"/>
              <a:t>3:15 pm</a:t>
            </a:r>
          </a:p>
          <a:p>
            <a:pPr marL="571500" indent="-571500" algn="ctr">
              <a:lnSpc>
                <a:spcPct val="150000"/>
              </a:lnSpc>
              <a:buFont typeface="Arial" panose="020B0604020202020204" pitchFamily="34" charset="0"/>
              <a:buChar char="•"/>
            </a:pPr>
            <a:r>
              <a:rPr lang="en-AU" sz="4400"/>
              <a:t>6:30 pm</a:t>
            </a:r>
          </a:p>
          <a:p>
            <a:pPr marL="571500" indent="-571500" algn="ctr">
              <a:lnSpc>
                <a:spcPct val="150000"/>
              </a:lnSpc>
              <a:buFont typeface="Arial" panose="020B0604020202020204" pitchFamily="34" charset="0"/>
              <a:buChar char="•"/>
            </a:pPr>
            <a:r>
              <a:rPr lang="en-AU" sz="4400"/>
              <a:t>9:25 pm</a:t>
            </a:r>
            <a:endParaRPr lang="en-AU" sz="1800"/>
          </a:p>
          <a:p>
            <a:pPr algn="l"/>
            <a:endParaRPr lang="en-AU" sz="180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9CFB169-75C7-7E89-1CF7-B6FA39AA969D}"/>
              </a:ext>
            </a:extLst>
          </p:cNvPr>
          <p:cNvSpPr txBox="1"/>
          <p:nvPr/>
        </p:nvSpPr>
        <p:spPr>
          <a:xfrm>
            <a:off x="773137" y="2181342"/>
            <a:ext cx="5322863" cy="2743200"/>
          </a:xfrm>
          <a:prstGeom prst="rect">
            <a:avLst/>
          </a:prstGeom>
          <a:noFill/>
        </p:spPr>
        <p:txBody>
          <a:bodyPr wrap="square" lIns="0" tIns="0" rIns="0" bIns="0" rtlCol="0">
            <a:noAutofit/>
          </a:bodyPr>
          <a:lstStyle/>
          <a:p>
            <a:pPr algn="l">
              <a:lnSpc>
                <a:spcPct val="150000"/>
              </a:lnSpc>
            </a:pPr>
            <a:r>
              <a:rPr lang="en-AU" sz="4400" b="1"/>
              <a:t>Record</a:t>
            </a:r>
            <a:r>
              <a:rPr lang="en-AU" sz="4400"/>
              <a:t> the </a:t>
            </a:r>
            <a:r>
              <a:rPr lang="en-AU" sz="4400" b="1"/>
              <a:t>mass</a:t>
            </a:r>
            <a:r>
              <a:rPr lang="en-AU" sz="4400"/>
              <a:t> of the apples in </a:t>
            </a:r>
            <a:r>
              <a:rPr lang="en-AU" sz="4400" b="1"/>
              <a:t>grams</a:t>
            </a:r>
            <a:r>
              <a:rPr lang="en-AU" sz="4400"/>
              <a:t> and </a:t>
            </a:r>
            <a:r>
              <a:rPr lang="en-AU" sz="4400" b="1"/>
              <a:t>kilograms</a:t>
            </a:r>
            <a:r>
              <a:rPr lang="en-AU" sz="4400"/>
              <a:t>.</a:t>
            </a:r>
          </a:p>
        </p:txBody>
      </p:sp>
      <p:pic>
        <p:nvPicPr>
          <p:cNvPr id="5" name="Picture 4" descr="A box of apples on a scale. The scale displays 1858 g.">
            <a:extLst>
              <a:ext uri="{FF2B5EF4-FFF2-40B4-BE49-F238E27FC236}">
                <a16:creationId xmlns:a16="http://schemas.microsoft.com/office/drawing/2014/main" id="{4DEE4AF2-DF44-D3FF-8A19-1490FE215E16}"/>
              </a:ext>
            </a:extLst>
          </p:cNvPr>
          <p:cNvPicPr>
            <a:picLocks noChangeAspect="1"/>
          </p:cNvPicPr>
          <p:nvPr/>
        </p:nvPicPr>
        <p:blipFill>
          <a:blip r:embed="rId4">
            <a:extLst>
              <a:ext uri="{28A0092B-C50C-407E-A947-70E740481C1C}">
                <a14:useLocalDpi xmlns:a14="http://schemas.microsoft.com/office/drawing/2010/main" val="0"/>
              </a:ext>
            </a:extLst>
          </a:blip>
          <a:srcRect l="10617" r="19595"/>
          <a:stretch>
            <a:fillRect/>
          </a:stretch>
        </p:blipFill>
        <p:spPr>
          <a:xfrm>
            <a:off x="6120200" y="1018184"/>
            <a:ext cx="5003800" cy="5069516"/>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using the area model for multiplication</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Slide Number Placeholder 1">
            <a:extLst>
              <a:ext uri="{FF2B5EF4-FFF2-40B4-BE49-F238E27FC236}">
                <a16:creationId xmlns:a16="http://schemas.microsoft.com/office/drawing/2014/main" id="{DFC38DD8-519F-4C8B-5344-DAB0913AA6D9}"/>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45</a:t>
            </a:fld>
            <a:endParaRPr lang="en-AU"/>
          </a:p>
        </p:txBody>
      </p:sp>
      <p:pic>
        <p:nvPicPr>
          <p:cNvPr id="5" name="Picture 4">
            <a:hlinkClick r:id="rId4"/>
            <a:extLst>
              <a:ext uri="{FF2B5EF4-FFF2-40B4-BE49-F238E27FC236}">
                <a16:creationId xmlns:a16="http://schemas.microsoft.com/office/drawing/2014/main" id="{9FCF7C53-24E6-97A1-AE1E-2C5DB7A2701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240350" y="1239855"/>
            <a:ext cx="1080000" cy="1080000"/>
          </a:xfrm>
          <a:prstGeom prst="rect">
            <a:avLst/>
          </a:prstGeom>
        </p:spPr>
      </p:pic>
      <p:sp>
        <p:nvSpPr>
          <p:cNvPr id="7" name="TextBox 6">
            <a:extLst>
              <a:ext uri="{FF2B5EF4-FFF2-40B4-BE49-F238E27FC236}">
                <a16:creationId xmlns:a16="http://schemas.microsoft.com/office/drawing/2014/main" id="{3A89C14F-A5E5-A812-4303-98ABB7F8A22A}"/>
              </a:ext>
            </a:extLst>
          </p:cNvPr>
          <p:cNvSpPr txBox="1"/>
          <p:nvPr/>
        </p:nvSpPr>
        <p:spPr>
          <a:xfrm>
            <a:off x="10044000" y="2439983"/>
            <a:ext cx="2552700" cy="540000"/>
          </a:xfrm>
          <a:prstGeom prst="rect">
            <a:avLst/>
          </a:prstGeom>
          <a:noFill/>
        </p:spPr>
        <p:txBody>
          <a:bodyPr wrap="square" lIns="0" tIns="0" rIns="0" bIns="0" rtlCol="0">
            <a:noAutofit/>
          </a:bodyPr>
          <a:lstStyle/>
          <a:p>
            <a:pPr algn="l"/>
            <a:r>
              <a:rPr lang="en-AU" sz="2000">
                <a:solidFill>
                  <a:schemeClr val="accent2"/>
                </a:solidFill>
                <a:hlinkClick r:id="rId4">
                  <a:extLst>
                    <a:ext uri="{A12FA001-AC4F-418D-AE19-62706E023703}">
                      <ahyp:hlinkClr xmlns:ahyp="http://schemas.microsoft.com/office/drawing/2018/hyperlinkcolor" val="tx"/>
                    </a:ext>
                  </a:extLst>
                </a:hlinkClick>
              </a:rPr>
              <a:t>Goat busters</a:t>
            </a:r>
            <a:endParaRPr lang="en-AU" sz="2000">
              <a:solidFill>
                <a:schemeClr val="accent2"/>
              </a:solidFill>
            </a:endParaRPr>
          </a:p>
        </p:txBody>
      </p:sp>
      <p:sp>
        <p:nvSpPr>
          <p:cNvPr id="8" name="TextBox 7">
            <a:extLst>
              <a:ext uri="{FF2B5EF4-FFF2-40B4-BE49-F238E27FC236}">
                <a16:creationId xmlns:a16="http://schemas.microsoft.com/office/drawing/2014/main" id="{39031873-C5F6-5199-6AD1-62412D68903A}"/>
              </a:ext>
            </a:extLst>
          </p:cNvPr>
          <p:cNvSpPr txBox="1"/>
          <p:nvPr/>
        </p:nvSpPr>
        <p:spPr>
          <a:xfrm>
            <a:off x="5071731" y="1437378"/>
            <a:ext cx="1382233" cy="723014"/>
          </a:xfrm>
          <a:prstGeom prst="rect">
            <a:avLst/>
          </a:prstGeom>
          <a:noFill/>
        </p:spPr>
        <p:txBody>
          <a:bodyPr wrap="square" lIns="0" tIns="0" rIns="0" bIns="0" rtlCol="0">
            <a:noAutofit/>
          </a:bodyPr>
          <a:lstStyle/>
          <a:p>
            <a:pPr algn="l"/>
            <a:r>
              <a:rPr lang="en-AU" sz="4400" b="1">
                <a:solidFill>
                  <a:schemeClr val="accent2"/>
                </a:solidFill>
                <a:latin typeface="Edu NSW ACT Foundation" pitchFamily="2" charset="0"/>
              </a:rPr>
              <a:t>23 x 3</a:t>
            </a:r>
          </a:p>
        </p:txBody>
      </p:sp>
      <p:pic>
        <p:nvPicPr>
          <p:cNvPr id="26" name="Picture 25" descr="An area model diagram showing a multiplication broken into place-value parts. One factor is partitioned into two numbers, labelled 20 and 3 and the height of the model is 3. This creates two rectangles: the first rectangle represents 20 ×3 labelled 60. The second rectangle represents 3 × 3, labelled 9">
            <a:extLst>
              <a:ext uri="{FF2B5EF4-FFF2-40B4-BE49-F238E27FC236}">
                <a16:creationId xmlns:a16="http://schemas.microsoft.com/office/drawing/2014/main" id="{8BD766B9-92B9-DB9C-C9C6-E54E2C0AC4F0}"/>
              </a:ext>
            </a:extLst>
          </p:cNvPr>
          <p:cNvPicPr>
            <a:picLocks noChangeAspect="1"/>
          </p:cNvPicPr>
          <p:nvPr/>
        </p:nvPicPr>
        <p:blipFill>
          <a:blip r:embed="rId6"/>
          <a:stretch>
            <a:fillRect/>
          </a:stretch>
        </p:blipFill>
        <p:spPr>
          <a:xfrm>
            <a:off x="871650" y="2319855"/>
            <a:ext cx="8661407" cy="2874189"/>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949505"/>
            <a:ext cx="11243037" cy="893226"/>
          </a:xfrm>
        </p:spPr>
        <p:txBody>
          <a:bodyPr/>
          <a:lstStyle/>
          <a:p>
            <a:pPr algn="ctr"/>
            <a:r>
              <a:rPr lang="en-US" sz="4000"/>
              <a:t>Which problem </a:t>
            </a:r>
            <a:r>
              <a:rPr lang="en-US" sz="4000" b="1"/>
              <a:t>matches</a:t>
            </a:r>
            <a:r>
              <a:rPr lang="en-US" sz="4000"/>
              <a:t> this </a:t>
            </a:r>
            <a:r>
              <a:rPr lang="en-US" sz="4000" b="1"/>
              <a:t>area model</a:t>
            </a:r>
            <a:r>
              <a:rPr lang="en-US" sz="4000"/>
              <a:t>?</a:t>
            </a:r>
          </a:p>
        </p:txBody>
      </p:sp>
      <p:pic>
        <p:nvPicPr>
          <p:cNvPr id="6" name="Picture 5" descr="An area model diagram shows the multiplication broken into place-value parts. The number 32 is partitioned into 30 and 2, and the height of the model is 3. This creates two rectangles: the larger rectangle represents 30 × 3, labelled 90, and the smaller rectangle represents 2 × 3, labelled 6. The answers to these simpler equations are added to get a final answer of 96.">
            <a:extLst>
              <a:ext uri="{FF2B5EF4-FFF2-40B4-BE49-F238E27FC236}">
                <a16:creationId xmlns:a16="http://schemas.microsoft.com/office/drawing/2014/main" id="{66D68EC9-17AC-261C-5971-715CD9FACE7C}"/>
              </a:ext>
            </a:extLst>
          </p:cNvPr>
          <p:cNvPicPr>
            <a:picLocks noChangeAspect="1"/>
          </p:cNvPicPr>
          <p:nvPr/>
        </p:nvPicPr>
        <p:blipFill>
          <a:blip r:embed="rId4"/>
          <a:stretch>
            <a:fillRect/>
          </a:stretch>
        </p:blipFill>
        <p:spPr>
          <a:xfrm>
            <a:off x="4144250" y="1947788"/>
            <a:ext cx="3608891" cy="2795067"/>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8B9CE09D-4912-352C-EDD3-2F5B22293E2B}"/>
              </a:ext>
            </a:extLst>
          </p:cNvPr>
          <p:cNvSpPr txBox="1"/>
          <p:nvPr/>
        </p:nvSpPr>
        <p:spPr>
          <a:xfrm>
            <a:off x="1215766" y="50152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E6A3A94C-B868-EAF0-54A5-B6BFCA30F047}"/>
              </a:ext>
            </a:extLst>
          </p:cNvPr>
          <p:cNvSpPr txBox="1"/>
          <p:nvPr/>
        </p:nvSpPr>
        <p:spPr>
          <a:xfrm>
            <a:off x="437822" y="5858991"/>
            <a:ext cx="1890630" cy="806925"/>
          </a:xfrm>
          <a:prstGeom prst="rect">
            <a:avLst/>
          </a:prstGeom>
          <a:noFill/>
        </p:spPr>
        <p:txBody>
          <a:bodyPr wrap="square" lIns="0" tIns="0" rIns="0" bIns="0" rtlCol="0">
            <a:noAutofit/>
          </a:bodyPr>
          <a:lstStyle/>
          <a:p>
            <a:pPr algn="ctr"/>
            <a:r>
              <a:rPr lang="en-AU" sz="4400">
                <a:latin typeface="Arial" panose="020B0604020202020204" pitchFamily="34" charset="0"/>
                <a:cs typeface="Arial" panose="020B0604020202020204" pitchFamily="34" charset="0"/>
              </a:rPr>
              <a:t>30 x 2</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50152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3D359FFE-199C-7BFF-73C4-70E1B064C4E6}"/>
              </a:ext>
            </a:extLst>
          </p:cNvPr>
          <p:cNvSpPr txBox="1"/>
          <p:nvPr/>
        </p:nvSpPr>
        <p:spPr>
          <a:xfrm>
            <a:off x="3441795" y="5858991"/>
            <a:ext cx="1890630" cy="806925"/>
          </a:xfrm>
          <a:prstGeom prst="rect">
            <a:avLst/>
          </a:prstGeom>
          <a:noFill/>
        </p:spPr>
        <p:txBody>
          <a:bodyPr wrap="square" lIns="0" tIns="0" rIns="0" bIns="0" rtlCol="0">
            <a:noAutofit/>
          </a:bodyPr>
          <a:lstStyle/>
          <a:p>
            <a:pPr algn="ctr"/>
            <a:r>
              <a:rPr lang="en-AU" sz="4400">
                <a:latin typeface="Arial" panose="020B0604020202020204" pitchFamily="34" charset="0"/>
                <a:cs typeface="Arial" panose="020B0604020202020204" pitchFamily="34" charset="0"/>
              </a:rPr>
              <a:t>32 x 3</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2" y="50152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335976E2-57B2-D5CA-5B78-8AC24F936876}"/>
              </a:ext>
            </a:extLst>
          </p:cNvPr>
          <p:cNvSpPr txBox="1"/>
          <p:nvPr/>
        </p:nvSpPr>
        <p:spPr>
          <a:xfrm>
            <a:off x="6445768" y="5858991"/>
            <a:ext cx="1890630" cy="806925"/>
          </a:xfrm>
          <a:prstGeom prst="rect">
            <a:avLst/>
          </a:prstGeom>
          <a:noFill/>
        </p:spPr>
        <p:txBody>
          <a:bodyPr wrap="square" lIns="0" tIns="0" rIns="0" bIns="0" rtlCol="0">
            <a:noAutofit/>
          </a:bodyPr>
          <a:lstStyle/>
          <a:p>
            <a:pPr algn="ctr"/>
            <a:r>
              <a:rPr lang="en-AU" sz="4400">
                <a:latin typeface="Arial" panose="020B0604020202020204" pitchFamily="34" charset="0"/>
                <a:cs typeface="Arial" panose="020B0604020202020204" pitchFamily="34" charset="0"/>
              </a:rPr>
              <a:t>302 x 3</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27686" y="50152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Box 13">
            <a:extLst>
              <a:ext uri="{FF2B5EF4-FFF2-40B4-BE49-F238E27FC236}">
                <a16:creationId xmlns:a16="http://schemas.microsoft.com/office/drawing/2014/main" id="{7483C9AB-1977-CF9F-25A4-60F6CA739B87}"/>
              </a:ext>
            </a:extLst>
          </p:cNvPr>
          <p:cNvSpPr txBox="1"/>
          <p:nvPr/>
        </p:nvSpPr>
        <p:spPr>
          <a:xfrm>
            <a:off x="9449741" y="5877209"/>
            <a:ext cx="1890630" cy="806925"/>
          </a:xfrm>
          <a:prstGeom prst="rect">
            <a:avLst/>
          </a:prstGeom>
          <a:noFill/>
        </p:spPr>
        <p:txBody>
          <a:bodyPr wrap="square" lIns="0" tIns="0" rIns="0" bIns="0" rtlCol="0">
            <a:noAutofit/>
          </a:bodyPr>
          <a:lstStyle/>
          <a:p>
            <a:pPr algn="ctr"/>
            <a:r>
              <a:rPr lang="en-AU" sz="4400">
                <a:latin typeface="Arial" panose="020B0604020202020204" pitchFamily="34" charset="0"/>
                <a:cs typeface="Arial" panose="020B0604020202020204" pitchFamily="34" charset="0"/>
              </a:rPr>
              <a:t>3 x 302</a:t>
            </a:r>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85960-70D6-4D88-3E22-E7E81A1D00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8161CB0-CE4D-4CA1-16E7-1BC15D453B4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5CC910D7-718E-DE47-9272-19ADD34E9304}"/>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48</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64789A57-1E41-F2A6-6F87-86178B5EBAA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D2FA894-0BF8-3784-DD6E-CF838EC65FFC}"/>
              </a:ext>
            </a:extLst>
          </p:cNvPr>
          <p:cNvSpPr txBox="1"/>
          <p:nvPr/>
        </p:nvSpPr>
        <p:spPr>
          <a:xfrm>
            <a:off x="1644771" y="1476618"/>
            <a:ext cx="8687747" cy="927653"/>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Record the </a:t>
            </a:r>
            <a:r>
              <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missing numbers</a:t>
            </a:r>
            <a:r>
              <a:rPr lang="en-AU" sz="4400">
                <a:solidFill>
                  <a:srgbClr val="22272B"/>
                </a:solidFill>
                <a:latin typeface="Arial" panose="020B0604020202020204" pitchFamily="34" charset="0"/>
                <a:cs typeface="Arial" panose="020B0604020202020204" pitchFamily="34" charset="0"/>
              </a:rPr>
              <a:t>.</a:t>
            </a:r>
            <a:endPar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48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pic>
        <p:nvPicPr>
          <p:cNvPr id="7" name="Picture 6" descr="A horizontal number line with evenly spaced tick marks and arrows at both ends. Under the second tick mark from the left is the label –3. Two blank boxes appear under later tick marks, separated by the labels –1 and 2. One blank box is positioned under a tick mark between –3 and –1, another blank box sits under a tick mark between –1 and 2, and a third blank box is under a tick mark to the right of 2.">
            <a:extLst>
              <a:ext uri="{FF2B5EF4-FFF2-40B4-BE49-F238E27FC236}">
                <a16:creationId xmlns:a16="http://schemas.microsoft.com/office/drawing/2014/main" id="{653D67A2-099B-A161-4910-9EF785A64316}"/>
              </a:ext>
            </a:extLst>
          </p:cNvPr>
          <p:cNvPicPr>
            <a:picLocks noChangeAspect="1"/>
          </p:cNvPicPr>
          <p:nvPr/>
        </p:nvPicPr>
        <p:blipFill>
          <a:blip r:embed="rId4"/>
          <a:stretch>
            <a:fillRect/>
          </a:stretch>
        </p:blipFill>
        <p:spPr>
          <a:xfrm>
            <a:off x="1795707" y="2975288"/>
            <a:ext cx="8931561" cy="2690317"/>
          </a:xfrm>
          <a:prstGeom prst="rect">
            <a:avLst/>
          </a:prstGeom>
        </p:spPr>
      </p:pic>
    </p:spTree>
    <p:extLst>
      <p:ext uri="{BB962C8B-B14F-4D97-AF65-F5344CB8AC3E}">
        <p14:creationId xmlns:p14="http://schemas.microsoft.com/office/powerpoint/2010/main" val="37289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FFF32F3-8FF0-5AB6-416F-E20A800F85D2}"/>
              </a:ext>
            </a:extLst>
          </p:cNvPr>
          <p:cNvSpPr txBox="1"/>
          <p:nvPr/>
        </p:nvSpPr>
        <p:spPr>
          <a:xfrm>
            <a:off x="1297173" y="1065394"/>
            <a:ext cx="9186530" cy="808075"/>
          </a:xfrm>
          <a:prstGeom prst="rect">
            <a:avLst/>
          </a:prstGeom>
          <a:noFill/>
        </p:spPr>
        <p:txBody>
          <a:bodyPr wrap="square" lIns="0" tIns="0" rIns="0" bIns="0" rtlCol="0">
            <a:noAutofit/>
          </a:bodyPr>
          <a:lstStyle/>
          <a:p>
            <a:pPr algn="ctr"/>
            <a:r>
              <a:rPr lang="en-AU" sz="4400"/>
              <a:t>What are the </a:t>
            </a:r>
            <a:r>
              <a:rPr lang="en-AU" sz="4400" b="1"/>
              <a:t>missing fractions</a:t>
            </a:r>
            <a:r>
              <a:rPr lang="en-AU" sz="4400"/>
              <a:t>?</a:t>
            </a:r>
          </a:p>
        </p:txBody>
      </p:sp>
      <p:pic>
        <p:nvPicPr>
          <p:cNvPr id="22" name="Picture 21" descr="An equation showing one third plus four thirds plus a blank box equals 2.">
            <a:extLst>
              <a:ext uri="{FF2B5EF4-FFF2-40B4-BE49-F238E27FC236}">
                <a16:creationId xmlns:a16="http://schemas.microsoft.com/office/drawing/2014/main" id="{B3118F8C-96B1-DC15-A7FB-77294DE270E6}"/>
              </a:ext>
            </a:extLst>
          </p:cNvPr>
          <p:cNvPicPr>
            <a:picLocks noChangeAspect="1"/>
          </p:cNvPicPr>
          <p:nvPr/>
        </p:nvPicPr>
        <p:blipFill>
          <a:blip r:embed="rId4"/>
          <a:stretch>
            <a:fillRect/>
          </a:stretch>
        </p:blipFill>
        <p:spPr>
          <a:xfrm>
            <a:off x="417234" y="2118474"/>
            <a:ext cx="4974000" cy="2216043"/>
          </a:xfrm>
          <a:prstGeom prst="rect">
            <a:avLst/>
          </a:prstGeom>
        </p:spPr>
      </p:pic>
      <p:pic>
        <p:nvPicPr>
          <p:cNvPr id="24" name="Picture 23" descr="An equation showing six tenths plus a blank box plus four tenths equals 2.">
            <a:extLst>
              <a:ext uri="{FF2B5EF4-FFF2-40B4-BE49-F238E27FC236}">
                <a16:creationId xmlns:a16="http://schemas.microsoft.com/office/drawing/2014/main" id="{E6D505DF-DF6E-1B1E-9CC9-EFCFEE74779C}"/>
              </a:ext>
            </a:extLst>
          </p:cNvPr>
          <p:cNvPicPr>
            <a:picLocks noChangeAspect="1"/>
          </p:cNvPicPr>
          <p:nvPr/>
        </p:nvPicPr>
        <p:blipFill>
          <a:blip r:embed="rId5"/>
          <a:stretch>
            <a:fillRect/>
          </a:stretch>
        </p:blipFill>
        <p:spPr>
          <a:xfrm>
            <a:off x="6375510" y="2161294"/>
            <a:ext cx="5589840" cy="2077973"/>
          </a:xfrm>
          <a:prstGeom prst="rect">
            <a:avLst/>
          </a:prstGeom>
        </p:spPr>
      </p:pic>
      <p:pic>
        <p:nvPicPr>
          <p:cNvPr id="26" name="Picture 25" descr="An equation showing eight tenths plus two fifths plus a blank box equals 2.">
            <a:extLst>
              <a:ext uri="{FF2B5EF4-FFF2-40B4-BE49-F238E27FC236}">
                <a16:creationId xmlns:a16="http://schemas.microsoft.com/office/drawing/2014/main" id="{5C23B2F0-B97D-0A24-904E-06F370AD080F}"/>
              </a:ext>
            </a:extLst>
          </p:cNvPr>
          <p:cNvPicPr>
            <a:picLocks noChangeAspect="1"/>
          </p:cNvPicPr>
          <p:nvPr/>
        </p:nvPicPr>
        <p:blipFill>
          <a:blip r:embed="rId6"/>
          <a:stretch>
            <a:fillRect/>
          </a:stretch>
        </p:blipFill>
        <p:spPr>
          <a:xfrm>
            <a:off x="3755160" y="4681915"/>
            <a:ext cx="4974000" cy="1810536"/>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50</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721D4CC-7520-8424-3A04-0DC90C7C5A62}"/>
              </a:ext>
            </a:extLst>
          </p:cNvPr>
          <p:cNvSpPr txBox="1"/>
          <p:nvPr/>
        </p:nvSpPr>
        <p:spPr>
          <a:xfrm>
            <a:off x="1860445" y="1199405"/>
            <a:ext cx="8471110" cy="1424763"/>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Complete this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conversion table</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a:t>
            </a:r>
          </a:p>
        </p:txBody>
      </p:sp>
      <p:pic>
        <p:nvPicPr>
          <p:cNvPr id="12" name="Picture 11">
            <a:extLst>
              <a:ext uri="{FF2B5EF4-FFF2-40B4-BE49-F238E27FC236}">
                <a16:creationId xmlns:a16="http://schemas.microsoft.com/office/drawing/2014/main" id="{F1ADEDAA-AB83-201B-E6E0-AAE3E65DB64D}"/>
              </a:ext>
            </a:extLst>
          </p:cNvPr>
          <p:cNvPicPr>
            <a:picLocks noChangeAspect="1"/>
          </p:cNvPicPr>
          <p:nvPr/>
        </p:nvPicPr>
        <p:blipFill>
          <a:blip r:embed="rId4"/>
          <a:stretch>
            <a:fillRect/>
          </a:stretch>
        </p:blipFill>
        <p:spPr>
          <a:xfrm>
            <a:off x="1151467" y="2139706"/>
            <a:ext cx="9879009" cy="4376294"/>
          </a:xfrm>
          <a:prstGeom prst="rect">
            <a:avLst/>
          </a:prstGeom>
        </p:spPr>
      </p:pic>
    </p:spTree>
    <p:extLst>
      <p:ext uri="{BB962C8B-B14F-4D97-AF65-F5344CB8AC3E}">
        <p14:creationId xmlns:p14="http://schemas.microsoft.com/office/powerpoint/2010/main" val="318276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2B6FA9B-9228-6121-F6E5-9DE4C688C1DB}"/>
              </a:ext>
            </a:extLst>
          </p:cNvPr>
          <p:cNvSpPr txBox="1"/>
          <p:nvPr/>
        </p:nvSpPr>
        <p:spPr>
          <a:xfrm>
            <a:off x="1050917" y="1184223"/>
            <a:ext cx="10090165" cy="3232298"/>
          </a:xfrm>
          <a:prstGeom prst="rect">
            <a:avLst/>
          </a:prstGeom>
          <a:noFill/>
        </p:spPr>
        <p:txBody>
          <a:bodyPr wrap="square" lIns="0" tIns="0" rIns="0" bIns="0" rtlCol="0">
            <a:noAutofit/>
          </a:bodyPr>
          <a:lstStyle/>
          <a:p>
            <a:pPr algn="ctr">
              <a:lnSpc>
                <a:spcPct val="150000"/>
              </a:lnSpc>
            </a:pPr>
            <a:r>
              <a:rPr lang="en-AU" sz="4400" b="1"/>
              <a:t>Record </a:t>
            </a:r>
            <a:r>
              <a:rPr lang="en-AU" sz="4400"/>
              <a:t>the number of </a:t>
            </a:r>
            <a:r>
              <a:rPr lang="en-AU" sz="4400" b="1"/>
              <a:t>faces</a:t>
            </a:r>
            <a:r>
              <a:rPr lang="en-AU" sz="4400"/>
              <a:t>, </a:t>
            </a:r>
            <a:r>
              <a:rPr lang="en-AU" sz="4400" b="1"/>
              <a:t>vertices</a:t>
            </a:r>
            <a:r>
              <a:rPr lang="en-AU" sz="4400"/>
              <a:t> and </a:t>
            </a:r>
            <a:r>
              <a:rPr lang="en-AU" sz="4400" b="1"/>
              <a:t>edges</a:t>
            </a:r>
            <a:r>
              <a:rPr lang="en-AU" sz="4400"/>
              <a:t> of a </a:t>
            </a:r>
            <a:r>
              <a:rPr lang="en-AU" sz="4400" b="1"/>
              <a:t>square-based pyramid</a:t>
            </a:r>
            <a:r>
              <a:rPr lang="en-AU" sz="4400"/>
              <a:t>.</a:t>
            </a:r>
          </a:p>
          <a:p>
            <a:pPr algn="ctr"/>
            <a:endParaRPr lang="en-AU" sz="4400"/>
          </a:p>
        </p:txBody>
      </p:sp>
      <p:pic>
        <p:nvPicPr>
          <p:cNvPr id="7" name="Picture 6" descr="A black and white drawing of asquare-based pyramid">
            <a:extLst>
              <a:ext uri="{FF2B5EF4-FFF2-40B4-BE49-F238E27FC236}">
                <a16:creationId xmlns:a16="http://schemas.microsoft.com/office/drawing/2014/main" id="{2129A8B4-617C-D3FF-C838-792539D8A642}"/>
              </a:ext>
            </a:extLst>
          </p:cNvPr>
          <p:cNvPicPr>
            <a:picLocks noChangeAspect="1"/>
          </p:cNvPicPr>
          <p:nvPr/>
        </p:nvPicPr>
        <p:blipFill>
          <a:blip r:embed="rId4"/>
          <a:stretch>
            <a:fillRect/>
          </a:stretch>
        </p:blipFill>
        <p:spPr>
          <a:xfrm>
            <a:off x="4572463" y="3155392"/>
            <a:ext cx="3738779" cy="3321149"/>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multiplicative strategies</a:t>
            </a:r>
          </a:p>
        </p:txBody>
      </p:sp>
      <p:grpSp>
        <p:nvGrpSpPr>
          <p:cNvPr id="26" name="Group 25" descr="Which one doesn't belong? &#10;a) 26 x 9&#10;b) 83 x 9&#10;c) 132 x 4&#10;d) 88 x 8">
            <a:extLst>
              <a:ext uri="{FF2B5EF4-FFF2-40B4-BE49-F238E27FC236}">
                <a16:creationId xmlns:a16="http://schemas.microsoft.com/office/drawing/2014/main" id="{63B2E482-2AFD-3673-F23B-4B7A6550454B}"/>
              </a:ext>
            </a:extLst>
          </p:cNvPr>
          <p:cNvGrpSpPr/>
          <p:nvPr/>
        </p:nvGrpSpPr>
        <p:grpSpPr>
          <a:xfrm>
            <a:off x="634338" y="1088837"/>
            <a:ext cx="8637324" cy="5568539"/>
            <a:chOff x="1708981" y="926531"/>
            <a:chExt cx="8637324" cy="5568539"/>
          </a:xfrm>
        </p:grpSpPr>
        <p:grpSp>
          <p:nvGrpSpPr>
            <p:cNvPr id="4" name="Group 3">
              <a:extLst>
                <a:ext uri="{FF2B5EF4-FFF2-40B4-BE49-F238E27FC236}">
                  <a16:creationId xmlns:a16="http://schemas.microsoft.com/office/drawing/2014/main" id="{B708B849-61B8-7061-3C2B-3B8DDD731A2C}"/>
                </a:ext>
              </a:extLst>
            </p:cNvPr>
            <p:cNvGrpSpPr/>
            <p:nvPr/>
          </p:nvGrpSpPr>
          <p:grpSpPr>
            <a:xfrm>
              <a:off x="1709436" y="926531"/>
              <a:ext cx="3998773" cy="2706929"/>
              <a:chOff x="0" y="0"/>
              <a:chExt cx="5394436" cy="3762619"/>
            </a:xfrm>
          </p:grpSpPr>
          <p:sp>
            <p:nvSpPr>
              <p:cNvPr id="5" name="Freeform 4">
                <a:extLst>
                  <a:ext uri="{FF2B5EF4-FFF2-40B4-BE49-F238E27FC236}">
                    <a16:creationId xmlns:a16="http://schemas.microsoft.com/office/drawing/2014/main" id="{515B5AEF-5E6A-7A3F-8FD9-63FD2F522068}"/>
                  </a:ext>
                </a:extLst>
              </p:cNvPr>
              <p:cNvSpPr/>
              <p:nvPr/>
            </p:nvSpPr>
            <p:spPr>
              <a:xfrm rot="5400000">
                <a:off x="815908" y="-815908"/>
                <a:ext cx="3762619" cy="5394436"/>
              </a:xfrm>
              <a:custGeom>
                <a:avLst/>
                <a:gdLst/>
                <a:ahLst/>
                <a:cxnLst/>
                <a:rect l="l" t="t" r="r" b="b"/>
                <a:pathLst>
                  <a:path w="3762619" h="5394436">
                    <a:moveTo>
                      <a:pt x="0" y="0"/>
                    </a:moveTo>
                    <a:lnTo>
                      <a:pt x="3762620" y="0"/>
                    </a:lnTo>
                    <a:lnTo>
                      <a:pt x="3762620" y="5394436"/>
                    </a:lnTo>
                    <a:lnTo>
                      <a:pt x="0" y="53944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 name="TextBox 5">
                <a:extLst>
                  <a:ext uri="{FF2B5EF4-FFF2-40B4-BE49-F238E27FC236}">
                    <a16:creationId xmlns:a16="http://schemas.microsoft.com/office/drawing/2014/main" id="{531EB1E3-02F9-8141-A0A6-AA059BEFCADB}"/>
                  </a:ext>
                </a:extLst>
              </p:cNvPr>
              <p:cNvSpPr txBox="1"/>
              <p:nvPr/>
            </p:nvSpPr>
            <p:spPr>
              <a:xfrm>
                <a:off x="1295158" y="1136812"/>
                <a:ext cx="2804120" cy="1107019"/>
              </a:xfrm>
              <a:prstGeom prst="rect">
                <a:avLst/>
              </a:prstGeom>
            </p:spPr>
            <p:txBody>
              <a:bodyPr lIns="0" tIns="0" rIns="0" bIns="0" rtlCol="0" anchor="t">
                <a:spAutoFit/>
              </a:bodyPr>
              <a:lstStyle/>
              <a:p>
                <a:pPr marL="0" marR="0" lvl="0" indent="0" algn="ctr" defTabSz="609585" rtl="0" eaLnBrk="1" fontAlgn="auto" latinLnBrk="0" hangingPunct="1">
                  <a:lnSpc>
                    <a:spcPts val="6999"/>
                  </a:lnSpc>
                  <a:spcBef>
                    <a:spcPct val="0"/>
                  </a:spcBef>
                  <a:spcAft>
                    <a:spcPts val="0"/>
                  </a:spcAft>
                  <a:buClrTx/>
                  <a:buSzTx/>
                  <a:buFontTx/>
                  <a:buNone/>
                  <a:tabLst/>
                  <a:defRPr/>
                </a:pPr>
                <a:r>
                  <a:rPr kumimoji="0" lang="en-US" sz="4999" b="0" i="0" u="none" strike="noStrike" kern="1200" cap="none" spc="0" normalizeH="0" baseline="0" noProof="0">
                    <a:ln>
                      <a:noFill/>
                    </a:ln>
                    <a:solidFill>
                      <a:srgbClr val="000000"/>
                    </a:solidFill>
                    <a:effectLst/>
                    <a:uLnTx/>
                    <a:uFillTx/>
                    <a:latin typeface="Public Sans"/>
                    <a:ea typeface="Public Sans"/>
                    <a:cs typeface="Public Sans"/>
                    <a:sym typeface="Public Sans"/>
                  </a:rPr>
                  <a:t>26 x 9</a:t>
                </a:r>
              </a:p>
            </p:txBody>
          </p:sp>
        </p:grpSp>
        <p:sp>
          <p:nvSpPr>
            <p:cNvPr id="18" name="Freeform 4">
              <a:extLst>
                <a:ext uri="{FF2B5EF4-FFF2-40B4-BE49-F238E27FC236}">
                  <a16:creationId xmlns:a16="http://schemas.microsoft.com/office/drawing/2014/main" id="{6C2B4549-6896-2E4E-CA57-CDC587D578E1}"/>
                </a:ext>
              </a:extLst>
            </p:cNvPr>
            <p:cNvSpPr/>
            <p:nvPr/>
          </p:nvSpPr>
          <p:spPr>
            <a:xfrm rot="5400000">
              <a:off x="6993454" y="301144"/>
              <a:ext cx="2706929" cy="3998773"/>
            </a:xfrm>
            <a:custGeom>
              <a:avLst/>
              <a:gdLst/>
              <a:ahLst/>
              <a:cxnLst/>
              <a:rect l="l" t="t" r="r" b="b"/>
              <a:pathLst>
                <a:path w="3762619" h="5394436">
                  <a:moveTo>
                    <a:pt x="0" y="0"/>
                  </a:moveTo>
                  <a:lnTo>
                    <a:pt x="3762620" y="0"/>
                  </a:lnTo>
                  <a:lnTo>
                    <a:pt x="3762620" y="5394436"/>
                  </a:lnTo>
                  <a:lnTo>
                    <a:pt x="0" y="53944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 name="Freeform 4">
              <a:extLst>
                <a:ext uri="{FF2B5EF4-FFF2-40B4-BE49-F238E27FC236}">
                  <a16:creationId xmlns:a16="http://schemas.microsoft.com/office/drawing/2014/main" id="{F2B55C9B-874E-60EC-9E9D-471B406A3561}"/>
                </a:ext>
              </a:extLst>
            </p:cNvPr>
            <p:cNvSpPr/>
            <p:nvPr/>
          </p:nvSpPr>
          <p:spPr>
            <a:xfrm rot="5400000">
              <a:off x="2354903" y="3142219"/>
              <a:ext cx="2706929" cy="3998773"/>
            </a:xfrm>
            <a:custGeom>
              <a:avLst/>
              <a:gdLst/>
              <a:ahLst/>
              <a:cxnLst/>
              <a:rect l="l" t="t" r="r" b="b"/>
              <a:pathLst>
                <a:path w="3762619" h="5394436">
                  <a:moveTo>
                    <a:pt x="0" y="0"/>
                  </a:moveTo>
                  <a:lnTo>
                    <a:pt x="3762620" y="0"/>
                  </a:lnTo>
                  <a:lnTo>
                    <a:pt x="3762620" y="5394436"/>
                  </a:lnTo>
                  <a:lnTo>
                    <a:pt x="0" y="53944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4" name="Freeform 4">
              <a:extLst>
                <a:ext uri="{FF2B5EF4-FFF2-40B4-BE49-F238E27FC236}">
                  <a16:creationId xmlns:a16="http://schemas.microsoft.com/office/drawing/2014/main" id="{3B2D4582-55E9-A311-5F0C-F3224AD1FC8E}"/>
                </a:ext>
              </a:extLst>
            </p:cNvPr>
            <p:cNvSpPr/>
            <p:nvPr/>
          </p:nvSpPr>
          <p:spPr>
            <a:xfrm rot="5400000">
              <a:off x="6993454" y="3142218"/>
              <a:ext cx="2706929" cy="3998773"/>
            </a:xfrm>
            <a:custGeom>
              <a:avLst/>
              <a:gdLst/>
              <a:ahLst/>
              <a:cxnLst/>
              <a:rect l="l" t="t" r="r" b="b"/>
              <a:pathLst>
                <a:path w="3762619" h="5394436">
                  <a:moveTo>
                    <a:pt x="0" y="0"/>
                  </a:moveTo>
                  <a:lnTo>
                    <a:pt x="3762620" y="0"/>
                  </a:lnTo>
                  <a:lnTo>
                    <a:pt x="3762620" y="5394436"/>
                  </a:lnTo>
                  <a:lnTo>
                    <a:pt x="0" y="53944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 name="TextBox 7">
              <a:extLst>
                <a:ext uri="{FF2B5EF4-FFF2-40B4-BE49-F238E27FC236}">
                  <a16:creationId xmlns:a16="http://schemas.microsoft.com/office/drawing/2014/main" id="{428F399F-5ED4-5BE4-6541-B1559DDB53C7}"/>
                </a:ext>
              </a:extLst>
            </p:cNvPr>
            <p:cNvSpPr txBox="1"/>
            <p:nvPr/>
          </p:nvSpPr>
          <p:spPr>
            <a:xfrm>
              <a:off x="7110611" y="1878459"/>
              <a:ext cx="2472615" cy="844143"/>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ct val="0"/>
                </a:spcBef>
                <a:spcAft>
                  <a:spcPts val="0"/>
                </a:spcAft>
                <a:buClrTx/>
                <a:buSzTx/>
                <a:buFontTx/>
                <a:buNone/>
                <a:tabLst/>
                <a:defRPr/>
              </a:pPr>
              <a:r>
                <a:rPr kumimoji="0" lang="en-US" sz="4999" b="0" i="0" u="none" strike="noStrike" kern="1200" cap="none" spc="0" normalizeH="0" baseline="0" noProof="0">
                  <a:ln>
                    <a:noFill/>
                  </a:ln>
                  <a:solidFill>
                    <a:srgbClr val="000000"/>
                  </a:solidFill>
                  <a:effectLst/>
                  <a:uLnTx/>
                  <a:uFillTx/>
                  <a:latin typeface="Public Sans"/>
                  <a:ea typeface="Public Sans"/>
                  <a:cs typeface="Public Sans"/>
                  <a:sym typeface="Public Sans"/>
                </a:rPr>
                <a:t>83 x 9</a:t>
              </a:r>
            </a:p>
          </p:txBody>
        </p:sp>
        <p:sp>
          <p:nvSpPr>
            <p:cNvPr id="10" name="TextBox 9">
              <a:extLst>
                <a:ext uri="{FF2B5EF4-FFF2-40B4-BE49-F238E27FC236}">
                  <a16:creationId xmlns:a16="http://schemas.microsoft.com/office/drawing/2014/main" id="{F1642707-A48C-34C8-9F5C-1CF10010BC08}"/>
                </a:ext>
              </a:extLst>
            </p:cNvPr>
            <p:cNvSpPr txBox="1"/>
            <p:nvPr/>
          </p:nvSpPr>
          <p:spPr>
            <a:xfrm>
              <a:off x="2553573" y="4719534"/>
              <a:ext cx="2309588" cy="844143"/>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ct val="0"/>
                </a:spcBef>
                <a:spcAft>
                  <a:spcPts val="0"/>
                </a:spcAft>
                <a:buClrTx/>
                <a:buSzTx/>
                <a:buFontTx/>
                <a:buNone/>
                <a:tabLst/>
                <a:defRPr/>
              </a:pPr>
              <a:r>
                <a:rPr kumimoji="0" lang="en-US" sz="4999" b="0" i="0" u="none" strike="noStrike" kern="1200" cap="none" spc="0" normalizeH="0" baseline="0" noProof="0">
                  <a:ln>
                    <a:noFill/>
                  </a:ln>
                  <a:solidFill>
                    <a:srgbClr val="000000"/>
                  </a:solidFill>
                  <a:effectLst/>
                  <a:uLnTx/>
                  <a:uFillTx/>
                  <a:latin typeface="Public Sans"/>
                  <a:ea typeface="Public Sans"/>
                  <a:cs typeface="Public Sans"/>
                  <a:sym typeface="Public Sans"/>
                </a:rPr>
                <a:t>132 x 4</a:t>
              </a:r>
            </a:p>
          </p:txBody>
        </p:sp>
        <p:sp>
          <p:nvSpPr>
            <p:cNvPr id="12" name="TextBox 11">
              <a:extLst>
                <a:ext uri="{FF2B5EF4-FFF2-40B4-BE49-F238E27FC236}">
                  <a16:creationId xmlns:a16="http://schemas.microsoft.com/office/drawing/2014/main" id="{BB9911E3-4242-D01E-4E27-BC3FD9B9A488}"/>
                </a:ext>
              </a:extLst>
            </p:cNvPr>
            <p:cNvSpPr txBox="1"/>
            <p:nvPr/>
          </p:nvSpPr>
          <p:spPr>
            <a:xfrm>
              <a:off x="7124196" y="4719533"/>
              <a:ext cx="2445444" cy="844143"/>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ct val="0"/>
                </a:spcBef>
                <a:spcAft>
                  <a:spcPts val="0"/>
                </a:spcAft>
                <a:buClrTx/>
                <a:buSzTx/>
                <a:buFontTx/>
                <a:buNone/>
                <a:tabLst/>
                <a:defRPr/>
              </a:pPr>
              <a:r>
                <a:rPr kumimoji="0" lang="en-US" sz="4999" b="0" i="0" u="none" strike="noStrike" kern="1200" cap="none" spc="0" normalizeH="0" baseline="0" noProof="0">
                  <a:ln>
                    <a:noFill/>
                  </a:ln>
                  <a:solidFill>
                    <a:srgbClr val="000000"/>
                  </a:solidFill>
                  <a:effectLst/>
                  <a:uLnTx/>
                  <a:uFillTx/>
                  <a:latin typeface="Public Sans"/>
                  <a:ea typeface="Public Sans"/>
                  <a:cs typeface="Public Sans"/>
                  <a:sym typeface="Public Sans"/>
                </a:rPr>
                <a:t>88 x 8</a:t>
              </a:r>
            </a:p>
          </p:txBody>
        </p:sp>
        <p:sp>
          <p:nvSpPr>
            <p:cNvPr id="13" name="TextBox 12">
              <a:extLst>
                <a:ext uri="{FF2B5EF4-FFF2-40B4-BE49-F238E27FC236}">
                  <a16:creationId xmlns:a16="http://schemas.microsoft.com/office/drawing/2014/main" id="{9D351980-F549-0BF4-368C-54D18CEFA653}"/>
                </a:ext>
              </a:extLst>
            </p:cNvPr>
            <p:cNvSpPr txBox="1"/>
            <p:nvPr/>
          </p:nvSpPr>
          <p:spPr>
            <a:xfrm>
              <a:off x="1999383" y="1088184"/>
              <a:ext cx="178282" cy="328231"/>
            </a:xfrm>
            <a:prstGeom prst="rect">
              <a:avLst/>
            </a:prstGeom>
          </p:spPr>
          <p:txBody>
            <a:bodyPr wrap="square" lIns="0" tIns="0" rIns="0" bIns="0" rtlCol="0" anchor="t">
              <a:spAutoFit/>
            </a:bodyPr>
            <a:lstStyle/>
            <a:p>
              <a:pPr marL="0" marR="0" lvl="0" indent="0" algn="ctr" defTabSz="609585" rtl="0" eaLnBrk="1" fontAlgn="auto" latinLnBrk="0" hangingPunct="1">
                <a:lnSpc>
                  <a:spcPts val="2799"/>
                </a:lnSpc>
                <a:spcBef>
                  <a:spcPct val="0"/>
                </a:spcBef>
                <a:spcAft>
                  <a:spcPts val="0"/>
                </a:spcAft>
                <a:buClrTx/>
                <a:buSzTx/>
                <a:buFontTx/>
                <a:buNone/>
                <a:tabLst/>
                <a:defRPr/>
              </a:pPr>
              <a:r>
                <a:rPr kumimoji="0" lang="en-US" sz="1999" b="0" i="0" u="none" strike="noStrike" kern="1200" cap="none" spc="0" normalizeH="0" baseline="0" noProof="0">
                  <a:ln>
                    <a:noFill/>
                  </a:ln>
                  <a:solidFill>
                    <a:srgbClr val="000000"/>
                  </a:solidFill>
                  <a:effectLst/>
                  <a:uLnTx/>
                  <a:uFillTx/>
                  <a:latin typeface="Public Sans"/>
                  <a:ea typeface="Public Sans"/>
                  <a:cs typeface="Public Sans"/>
                  <a:sym typeface="Public Sans"/>
                </a:rPr>
                <a:t>A</a:t>
              </a:r>
            </a:p>
          </p:txBody>
        </p:sp>
        <p:sp>
          <p:nvSpPr>
            <p:cNvPr id="14" name="TextBox 13">
              <a:extLst>
                <a:ext uri="{FF2B5EF4-FFF2-40B4-BE49-F238E27FC236}">
                  <a16:creationId xmlns:a16="http://schemas.microsoft.com/office/drawing/2014/main" id="{27564861-A52B-7F89-7F1D-A7238DB07CC4}"/>
                </a:ext>
              </a:extLst>
            </p:cNvPr>
            <p:cNvSpPr txBox="1"/>
            <p:nvPr/>
          </p:nvSpPr>
          <p:spPr>
            <a:xfrm>
              <a:off x="6634659" y="4178708"/>
              <a:ext cx="174089" cy="328231"/>
            </a:xfrm>
            <a:prstGeom prst="rect">
              <a:avLst/>
            </a:prstGeom>
          </p:spPr>
          <p:txBody>
            <a:bodyPr wrap="square" lIns="0" tIns="0" rIns="0" bIns="0" rtlCol="0" anchor="t">
              <a:spAutoFit/>
            </a:bodyPr>
            <a:lstStyle/>
            <a:p>
              <a:pPr marL="0" marR="0" lvl="0" indent="0" algn="ctr" defTabSz="609585" rtl="0" eaLnBrk="1" fontAlgn="auto" latinLnBrk="0" hangingPunct="1">
                <a:lnSpc>
                  <a:spcPts val="2799"/>
                </a:lnSpc>
                <a:spcBef>
                  <a:spcPct val="0"/>
                </a:spcBef>
                <a:spcAft>
                  <a:spcPts val="0"/>
                </a:spcAft>
                <a:buClrTx/>
                <a:buSzTx/>
                <a:buFontTx/>
                <a:buNone/>
                <a:tabLst/>
                <a:defRPr/>
              </a:pPr>
              <a:r>
                <a:rPr kumimoji="0" lang="en-US" sz="1999" b="0" i="0" u="none" strike="noStrike" kern="1200" cap="none" spc="0" normalizeH="0" baseline="0" noProof="0">
                  <a:ln>
                    <a:noFill/>
                  </a:ln>
                  <a:solidFill>
                    <a:srgbClr val="000000"/>
                  </a:solidFill>
                  <a:effectLst/>
                  <a:uLnTx/>
                  <a:uFillTx/>
                  <a:latin typeface="Public Sans"/>
                  <a:ea typeface="Public Sans"/>
                  <a:cs typeface="Public Sans"/>
                  <a:sym typeface="Public Sans"/>
                </a:rPr>
                <a:t>D</a:t>
              </a:r>
            </a:p>
          </p:txBody>
        </p:sp>
        <p:sp>
          <p:nvSpPr>
            <p:cNvPr id="15" name="TextBox 14">
              <a:extLst>
                <a:ext uri="{FF2B5EF4-FFF2-40B4-BE49-F238E27FC236}">
                  <a16:creationId xmlns:a16="http://schemas.microsoft.com/office/drawing/2014/main" id="{0B46D0CE-BFA9-5BEE-180A-2FF8BCB7ED0D}"/>
                </a:ext>
              </a:extLst>
            </p:cNvPr>
            <p:cNvSpPr txBox="1"/>
            <p:nvPr/>
          </p:nvSpPr>
          <p:spPr>
            <a:xfrm>
              <a:off x="2004890" y="4178707"/>
              <a:ext cx="172839" cy="328231"/>
            </a:xfrm>
            <a:prstGeom prst="rect">
              <a:avLst/>
            </a:prstGeom>
          </p:spPr>
          <p:txBody>
            <a:bodyPr wrap="square" lIns="0" tIns="0" rIns="0" bIns="0" rtlCol="0" anchor="t">
              <a:spAutoFit/>
            </a:bodyPr>
            <a:lstStyle/>
            <a:p>
              <a:pPr marL="0" marR="0" lvl="0" indent="0" algn="ctr" defTabSz="609585" rtl="0" eaLnBrk="1" fontAlgn="auto" latinLnBrk="0" hangingPunct="1">
                <a:lnSpc>
                  <a:spcPts val="2799"/>
                </a:lnSpc>
                <a:spcBef>
                  <a:spcPct val="0"/>
                </a:spcBef>
                <a:spcAft>
                  <a:spcPts val="0"/>
                </a:spcAft>
                <a:buClrTx/>
                <a:buSzTx/>
                <a:buFontTx/>
                <a:buNone/>
                <a:tabLst/>
                <a:defRPr/>
              </a:pPr>
              <a:r>
                <a:rPr kumimoji="0" lang="en-US" sz="1999" b="0" i="0" u="none" strike="noStrike" kern="1200" cap="none" spc="0" normalizeH="0" baseline="0" noProof="0">
                  <a:ln>
                    <a:noFill/>
                  </a:ln>
                  <a:solidFill>
                    <a:srgbClr val="000000"/>
                  </a:solidFill>
                  <a:effectLst/>
                  <a:uLnTx/>
                  <a:uFillTx/>
                  <a:latin typeface="Public Sans"/>
                  <a:ea typeface="Public Sans"/>
                  <a:cs typeface="Public Sans"/>
                  <a:sym typeface="Public Sans"/>
                </a:rPr>
                <a:t>C</a:t>
              </a:r>
            </a:p>
          </p:txBody>
        </p:sp>
        <p:sp>
          <p:nvSpPr>
            <p:cNvPr id="16" name="TextBox 15">
              <a:extLst>
                <a:ext uri="{FF2B5EF4-FFF2-40B4-BE49-F238E27FC236}">
                  <a16:creationId xmlns:a16="http://schemas.microsoft.com/office/drawing/2014/main" id="{EEF2CE43-7934-F8AF-BCBC-10E595BAC753}"/>
                </a:ext>
              </a:extLst>
            </p:cNvPr>
            <p:cNvSpPr txBox="1"/>
            <p:nvPr/>
          </p:nvSpPr>
          <p:spPr>
            <a:xfrm>
              <a:off x="6549492" y="1088184"/>
              <a:ext cx="168353" cy="328231"/>
            </a:xfrm>
            <a:prstGeom prst="rect">
              <a:avLst/>
            </a:prstGeom>
          </p:spPr>
          <p:txBody>
            <a:bodyPr wrap="square" lIns="0" tIns="0" rIns="0" bIns="0" rtlCol="0" anchor="t">
              <a:spAutoFit/>
            </a:bodyPr>
            <a:lstStyle/>
            <a:p>
              <a:pPr marL="0" marR="0" lvl="0" indent="0" algn="ctr" defTabSz="609585" rtl="0" eaLnBrk="1" fontAlgn="auto" latinLnBrk="0" hangingPunct="1">
                <a:lnSpc>
                  <a:spcPts val="2799"/>
                </a:lnSpc>
                <a:spcBef>
                  <a:spcPct val="0"/>
                </a:spcBef>
                <a:spcAft>
                  <a:spcPts val="0"/>
                </a:spcAft>
                <a:buClrTx/>
                <a:buSzTx/>
                <a:buFontTx/>
                <a:buNone/>
                <a:tabLst/>
                <a:defRPr/>
              </a:pPr>
              <a:r>
                <a:rPr kumimoji="0" lang="en-US" sz="1999" b="0" i="0" u="none" strike="noStrike" kern="1200" cap="none" spc="0" normalizeH="0" baseline="0" noProof="0">
                  <a:ln>
                    <a:noFill/>
                  </a:ln>
                  <a:solidFill>
                    <a:srgbClr val="000000"/>
                  </a:solidFill>
                  <a:effectLst/>
                  <a:uLnTx/>
                  <a:uFillTx/>
                  <a:latin typeface="Public Sans"/>
                  <a:ea typeface="Public Sans"/>
                  <a:cs typeface="Public Sans"/>
                  <a:sym typeface="Public Sans"/>
                </a:rPr>
                <a:t>B</a:t>
              </a:r>
            </a:p>
          </p:txBody>
        </p:sp>
      </p:grpSp>
      <p:sp>
        <p:nvSpPr>
          <p:cNvPr id="7" name="TextBox 6">
            <a:extLst>
              <a:ext uri="{FF2B5EF4-FFF2-40B4-BE49-F238E27FC236}">
                <a16:creationId xmlns:a16="http://schemas.microsoft.com/office/drawing/2014/main" id="{EE8DA95F-3312-DD28-D617-FE542C07F9F7}"/>
              </a:ext>
            </a:extLst>
          </p:cNvPr>
          <p:cNvSpPr txBox="1"/>
          <p:nvPr/>
        </p:nvSpPr>
        <p:spPr>
          <a:xfrm>
            <a:off x="9558789" y="2653123"/>
            <a:ext cx="2472615" cy="1687890"/>
          </a:xfrm>
          <a:prstGeom prst="wedgeEllipseCallout">
            <a:avLst>
              <a:gd name="adj1" fmla="val 49728"/>
              <a:gd name="adj2" fmla="val -35929"/>
            </a:avLst>
          </a:prstGeom>
          <a:solidFill>
            <a:schemeClr val="accent1"/>
          </a:solidFill>
        </p:spPr>
        <p:txBody>
          <a:bodyPr wrap="square">
            <a:spAutoFit/>
          </a:bodyPr>
          <a:lstStyle/>
          <a:p>
            <a:pPr algn="ctr"/>
            <a:r>
              <a:rPr lang="en-AU">
                <a:solidFill>
                  <a:schemeClr val="bg1"/>
                </a:solidFill>
                <a:latin typeface="Arial" panose="020B0604020202020204" pitchFamily="34" charset="0"/>
                <a:cs typeface="Arial" panose="020B0604020202020204" pitchFamily="34" charset="0"/>
              </a:rPr>
              <a:t>Which one doesn’t belong?</a:t>
            </a:r>
          </a:p>
        </p:txBody>
      </p:sp>
    </p:spTree>
    <p:extLst>
      <p:ext uri="{BB962C8B-B14F-4D97-AF65-F5344CB8AC3E}">
        <p14:creationId xmlns:p14="http://schemas.microsoft.com/office/powerpoint/2010/main" val="270543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600963" y="2046911"/>
            <a:ext cx="11243037" cy="893226"/>
          </a:xfrm>
        </p:spPr>
        <p:txBody>
          <a:bodyPr/>
          <a:lstStyle/>
          <a:p>
            <a:pPr algn="ctr"/>
            <a:r>
              <a:rPr lang="en-AU" sz="5400" b="1" dirty="0"/>
              <a:t>40 x 5 </a:t>
            </a:r>
            <a:r>
              <a:rPr lang="en-AU" sz="5400" dirty="0"/>
              <a:t>= </a:t>
            </a:r>
            <a:r>
              <a:rPr lang="en-AU" sz="5400" b="1" dirty="0"/>
              <a:t>20 x 10</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4234474987"/>
              </p:ext>
            </p:extLst>
          </p:nvPr>
        </p:nvGraphicFramePr>
        <p:xfrm>
          <a:off x="2683943" y="371060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TextBox 6">
            <a:extLst>
              <a:ext uri="{FF2B5EF4-FFF2-40B4-BE49-F238E27FC236}">
                <a16:creationId xmlns:a16="http://schemas.microsoft.com/office/drawing/2014/main" id="{4F3FB8AD-C93E-C5F2-42D0-EE2FA90AD758}"/>
              </a:ext>
            </a:extLst>
          </p:cNvPr>
          <p:cNvSpPr txBox="1"/>
          <p:nvPr/>
        </p:nvSpPr>
        <p:spPr>
          <a:xfrm>
            <a:off x="2133600" y="5222757"/>
            <a:ext cx="8484669" cy="982513"/>
          </a:xfrm>
          <a:prstGeom prst="rect">
            <a:avLst/>
          </a:prstGeom>
          <a:noFill/>
        </p:spPr>
        <p:txBody>
          <a:bodyPr wrap="square">
            <a:spAutoFit/>
          </a:bodyPr>
          <a:lstStyle/>
          <a:p>
            <a:pPr>
              <a:lnSpc>
                <a:spcPct val="150000"/>
              </a:lnSpc>
            </a:pP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E63DBF2-E60B-A6B0-7737-77AA52ECBDE9}"/>
              </a:ext>
            </a:extLst>
          </p:cNvPr>
          <p:cNvSpPr txBox="1"/>
          <p:nvPr/>
        </p:nvSpPr>
        <p:spPr>
          <a:xfrm>
            <a:off x="360000" y="1077499"/>
            <a:ext cx="11585976" cy="5511778"/>
          </a:xfrm>
          <a:prstGeom prst="rect">
            <a:avLst/>
          </a:prstGeom>
          <a:noFill/>
        </p:spPr>
        <p:txBody>
          <a:bodyPr wrap="square" lIns="0" tIns="0" rIns="0" bIns="0" rtlCol="0">
            <a:noAutofit/>
          </a:bodyPr>
          <a:lstStyle/>
          <a:p>
            <a:pPr algn="ctr">
              <a:lnSpc>
                <a:spcPct val="150000"/>
              </a:lnSpc>
            </a:pPr>
            <a:r>
              <a:rPr lang="en-AU" sz="4000"/>
              <a:t>What is the </a:t>
            </a:r>
            <a:r>
              <a:rPr lang="en-AU" sz="4000" b="1"/>
              <a:t>most</a:t>
            </a:r>
            <a:r>
              <a:rPr lang="en-AU" sz="4000"/>
              <a:t> effective </a:t>
            </a:r>
            <a:r>
              <a:rPr lang="en-AU" sz="4000" b="1"/>
              <a:t>data display                     (column or line graph) </a:t>
            </a:r>
            <a:r>
              <a:rPr lang="en-AU" sz="4000"/>
              <a:t>for: </a:t>
            </a:r>
          </a:p>
          <a:p>
            <a:pPr marL="571500" indent="-571500">
              <a:lnSpc>
                <a:spcPct val="150000"/>
              </a:lnSpc>
              <a:buFont typeface="Arial" panose="020B0604020202020204" pitchFamily="34" charset="0"/>
              <a:buChar char="•"/>
            </a:pPr>
            <a:r>
              <a:rPr lang="en-AU" sz="4000" b="1"/>
              <a:t>Monitoring</a:t>
            </a:r>
            <a:r>
              <a:rPr lang="en-AU" sz="4000"/>
              <a:t> the daily sales in a bakery</a:t>
            </a:r>
          </a:p>
          <a:p>
            <a:pPr marL="571500" indent="-571500">
              <a:lnSpc>
                <a:spcPct val="150000"/>
              </a:lnSpc>
              <a:buFont typeface="Arial" panose="020B0604020202020204" pitchFamily="34" charset="0"/>
              <a:buChar char="•"/>
            </a:pPr>
            <a:r>
              <a:rPr lang="en-AU" sz="4000" b="1"/>
              <a:t>Recording</a:t>
            </a:r>
            <a:r>
              <a:rPr lang="en-AU" sz="4000"/>
              <a:t> the number of students attending choir each week</a:t>
            </a:r>
          </a:p>
          <a:p>
            <a:pPr marL="571500" indent="-571500">
              <a:lnSpc>
                <a:spcPct val="150000"/>
              </a:lnSpc>
              <a:buFont typeface="Arial" panose="020B0604020202020204" pitchFamily="34" charset="0"/>
              <a:buChar char="•"/>
            </a:pPr>
            <a:r>
              <a:rPr lang="en-AU" sz="4000" b="1"/>
              <a:t>Tracking </a:t>
            </a:r>
            <a:r>
              <a:rPr lang="en-AU" sz="4000"/>
              <a:t>the height growth of a sunflower</a:t>
            </a:r>
            <a:r>
              <a:rPr lang="en-AU" sz="4000" dirty="0"/>
              <a:t>.</a:t>
            </a:r>
            <a:endParaRPr lang="en-AU" sz="4000"/>
          </a:p>
          <a:p>
            <a:pPr marL="571500" indent="-571500" algn="ctr">
              <a:buFont typeface="Arial" panose="020B0604020202020204" pitchFamily="34" charset="0"/>
              <a:buChar char="•"/>
            </a:pPr>
            <a:endParaRPr lang="en-AU" sz="4400"/>
          </a:p>
          <a:p>
            <a:pPr marL="571500" indent="-571500" algn="ctr">
              <a:buFont typeface="Arial" panose="020B0604020202020204" pitchFamily="34" charset="0"/>
              <a:buChar char="•"/>
            </a:pPr>
            <a:endParaRPr lang="en-AU" sz="4400"/>
          </a:p>
          <a:p>
            <a:pPr algn="ctr"/>
            <a:endParaRPr lang="en-AU" sz="4400"/>
          </a:p>
          <a:p>
            <a:pPr algn="l"/>
            <a:endParaRPr lang="en-AU" sz="1800"/>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06FE3170-8CCE-AB16-09A1-09DBB0F1A4EB}"/>
              </a:ext>
            </a:extLst>
          </p:cNvPr>
          <p:cNvSpPr txBox="1"/>
          <p:nvPr/>
        </p:nvSpPr>
        <p:spPr>
          <a:xfrm>
            <a:off x="720000" y="1416026"/>
            <a:ext cx="10764000" cy="1145456"/>
          </a:xfrm>
          <a:prstGeom prst="rect">
            <a:avLst/>
          </a:prstGeom>
          <a:noFill/>
        </p:spPr>
        <p:txBody>
          <a:bodyPr wrap="square" lIns="0" tIns="0" rIns="0" bIns="0" rtlCol="0">
            <a:noAutofit/>
          </a:bodyPr>
          <a:lstStyle/>
          <a:p>
            <a:pPr algn="ctr">
              <a:lnSpc>
                <a:spcPct val="150000"/>
              </a:lnSpc>
            </a:pPr>
            <a:r>
              <a:rPr lang="en-AU" sz="4400" dirty="0"/>
              <a:t>Write a </a:t>
            </a:r>
            <a:r>
              <a:rPr lang="en-AU" sz="4400" b="1" dirty="0"/>
              <a:t>real-life</a:t>
            </a:r>
            <a:r>
              <a:rPr lang="en-AU" sz="4400" dirty="0"/>
              <a:t> mathematical problem for this equation and then </a:t>
            </a:r>
            <a:r>
              <a:rPr lang="en-AU" sz="4400" b="1" dirty="0"/>
              <a:t>solve it.</a:t>
            </a:r>
            <a:endParaRPr lang="en-AU" sz="1800" dirty="0"/>
          </a:p>
        </p:txBody>
      </p:sp>
      <p:pic>
        <p:nvPicPr>
          <p:cNvPr id="8" name="Picture 7" descr="An equation showing five thirds minus two thirds equals a fraction with a blank numerator box and a blank denominator box.">
            <a:extLst>
              <a:ext uri="{FF2B5EF4-FFF2-40B4-BE49-F238E27FC236}">
                <a16:creationId xmlns:a16="http://schemas.microsoft.com/office/drawing/2014/main" id="{F2DE422F-9ED7-883C-D7A3-A1D1A5C189BA}"/>
              </a:ext>
            </a:extLst>
          </p:cNvPr>
          <p:cNvPicPr>
            <a:picLocks noChangeAspect="1"/>
          </p:cNvPicPr>
          <p:nvPr/>
        </p:nvPicPr>
        <p:blipFill>
          <a:blip r:embed="rId4"/>
          <a:stretch>
            <a:fillRect/>
          </a:stretch>
        </p:blipFill>
        <p:spPr>
          <a:xfrm>
            <a:off x="3377540" y="3660120"/>
            <a:ext cx="5436919" cy="2397020"/>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57</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3AAFB76-9BF5-8702-0E3E-19109639DFAF}"/>
              </a:ext>
            </a:extLst>
          </p:cNvPr>
          <p:cNvSpPr txBox="1"/>
          <p:nvPr/>
        </p:nvSpPr>
        <p:spPr>
          <a:xfrm>
            <a:off x="743865" y="726473"/>
            <a:ext cx="5867248" cy="3388327"/>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Arial" panose="020B0604020202020204"/>
              <a:ea typeface="+mn-ea"/>
              <a:cs typeface="+mn-cs"/>
            </a:endParaRP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2272B"/>
              </a:solidFill>
              <a:effectLst/>
              <a:uLnTx/>
              <a:uFillTx/>
              <a:latin typeface="Arial" panose="020B0604020202020204"/>
              <a:ea typeface="+mn-ea"/>
              <a:cs typeface="+mn-cs"/>
            </a:endParaRP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Use the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conversion</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graphic to solve:</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40 m</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is the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same as</a:t>
            </a: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a:t>
            </a: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cm</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1400" b="0" i="0" u="none" strike="noStrike" kern="1200" cap="none" spc="0" normalizeH="0" baseline="0" noProof="0">
              <a:ln>
                <a:noFill/>
              </a:ln>
              <a:solidFill>
                <a:srgbClr val="22272B"/>
              </a:solidFill>
              <a:effectLst/>
              <a:uLnTx/>
              <a:uFillTx/>
              <a:latin typeface="Arial" panose="020B0604020202020204"/>
              <a:ea typeface="+mn-ea"/>
              <a:cs typeface="+mn-cs"/>
            </a:endParaRP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km</a:t>
            </a:r>
          </a:p>
        </p:txBody>
      </p:sp>
      <p:sp>
        <p:nvSpPr>
          <p:cNvPr id="5" name="Rectangle 4" descr="blank box indicating missing number">
            <a:extLst>
              <a:ext uri="{FF2B5EF4-FFF2-40B4-BE49-F238E27FC236}">
                <a16:creationId xmlns:a16="http://schemas.microsoft.com/office/drawing/2014/main" id="{99B95BA6-5339-67C0-C494-C7E8BD34F78F}"/>
              </a:ext>
            </a:extLst>
          </p:cNvPr>
          <p:cNvSpPr/>
          <p:nvPr/>
        </p:nvSpPr>
        <p:spPr>
          <a:xfrm>
            <a:off x="1546017" y="4470465"/>
            <a:ext cx="1622484" cy="984819"/>
          </a:xfrm>
          <a:prstGeom prst="rect">
            <a:avLst/>
          </a:prstGeom>
          <a:noFill/>
          <a:ln w="127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descr="blank box indicating missing number">
            <a:extLst>
              <a:ext uri="{FF2B5EF4-FFF2-40B4-BE49-F238E27FC236}">
                <a16:creationId xmlns:a16="http://schemas.microsoft.com/office/drawing/2014/main" id="{ECE80BC7-9481-A685-03F3-51B1BE318DCA}"/>
              </a:ext>
            </a:extLst>
          </p:cNvPr>
          <p:cNvSpPr/>
          <p:nvPr/>
        </p:nvSpPr>
        <p:spPr>
          <a:xfrm>
            <a:off x="1546017" y="5644841"/>
            <a:ext cx="1622484" cy="984819"/>
          </a:xfrm>
          <a:prstGeom prst="rect">
            <a:avLst/>
          </a:prstGeom>
          <a:noFill/>
          <a:ln w="127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Picture 6" descr="A diagram showing the relationships between millimetres, centimetres and metres. Three ovals are shown in a row, labelled “mm”, “cm” and “m”. Arrows between mm and cm show dividing by 10 in one direction and multiplying by 10 in the other. Arrows between cm and m show dividing by 100 in one direction and multiplying by 100 in the other. Below the diagram are the statements “10 mm = 1 cm” and “100 cm = 1 m”.">
            <a:extLst>
              <a:ext uri="{FF2B5EF4-FFF2-40B4-BE49-F238E27FC236}">
                <a16:creationId xmlns:a16="http://schemas.microsoft.com/office/drawing/2014/main" id="{CAB23040-CA3B-0112-227C-1119B007D6D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09584" y="1408177"/>
            <a:ext cx="4264059" cy="45472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8763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C26E30C-6686-3F71-A1AA-11007CA9689E}"/>
              </a:ext>
            </a:extLst>
          </p:cNvPr>
          <p:cNvSpPr txBox="1"/>
          <p:nvPr/>
        </p:nvSpPr>
        <p:spPr>
          <a:xfrm>
            <a:off x="1965215" y="1067111"/>
            <a:ext cx="9878785" cy="1371600"/>
          </a:xfrm>
          <a:prstGeom prst="rect">
            <a:avLst/>
          </a:prstGeom>
          <a:noFill/>
        </p:spPr>
        <p:txBody>
          <a:bodyPr wrap="square" lIns="0" tIns="0" rIns="0" bIns="0" rtlCol="0">
            <a:noAutofit/>
          </a:bodyPr>
          <a:lstStyle/>
          <a:p>
            <a:pPr algn="l"/>
            <a:r>
              <a:rPr lang="en-AU" sz="4400" b="1"/>
              <a:t>Record</a:t>
            </a:r>
            <a:r>
              <a:rPr lang="en-AU" sz="4400"/>
              <a:t> the </a:t>
            </a:r>
            <a:r>
              <a:rPr lang="en-AU" sz="4400" b="1"/>
              <a:t>area</a:t>
            </a:r>
            <a:r>
              <a:rPr lang="en-AU" sz="4400"/>
              <a:t> of the blue </a:t>
            </a:r>
            <a:r>
              <a:rPr lang="en-AU" sz="4400" b="1"/>
              <a:t>shape</a:t>
            </a:r>
            <a:r>
              <a:rPr lang="en-AU" sz="4400"/>
              <a:t>:</a:t>
            </a:r>
          </a:p>
        </p:txBody>
      </p:sp>
      <p:pic>
        <p:nvPicPr>
          <p:cNvPr id="8" name="Picture 7" descr="A 6-by-10 square grid. Several cells are shaded blue to form a symmetrical arrow-like shape that points to the right. The shape spans rows 2, 3 and 4.&#10;&#10;In row 2, columns 2 and 3 are fully shaded, and columns 4 and 9 contain right-triangular blue halves that slope downwards to the right. Columns 5, 6, 7 and 8 are fully shaded.&#10;&#10;In row 3, columns 1 to 4 are fully shaded, column 5 is unshaded, columns 6 to 9 are fully shaded, and column 10 is unshaded.&#10;&#10;In row 4, columns 2 and 3 contain right-triangular blue halves that slope upwards to the right, and columns 4 to 8 are fully shaded. Column 9 contains a right-triangular blue half that slopes upwards to the left.">
            <a:extLst>
              <a:ext uri="{FF2B5EF4-FFF2-40B4-BE49-F238E27FC236}">
                <a16:creationId xmlns:a16="http://schemas.microsoft.com/office/drawing/2014/main" id="{CD80EB86-6859-6780-3049-766EFA76A6A7}"/>
              </a:ext>
            </a:extLst>
          </p:cNvPr>
          <p:cNvPicPr>
            <a:picLocks noChangeAspect="1"/>
          </p:cNvPicPr>
          <p:nvPr/>
        </p:nvPicPr>
        <p:blipFill>
          <a:blip r:embed="rId4"/>
          <a:stretch>
            <a:fillRect/>
          </a:stretch>
        </p:blipFill>
        <p:spPr>
          <a:xfrm rot="5400000">
            <a:off x="4011110" y="1342292"/>
            <a:ext cx="3915779" cy="6108617"/>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multiplying by 10 and 100</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D14667E2-62DF-0061-579A-30B65119470A}"/>
              </a:ext>
            </a:extLst>
          </p:cNvPr>
          <p:cNvSpPr txBox="1"/>
          <p:nvPr/>
        </p:nvSpPr>
        <p:spPr>
          <a:xfrm>
            <a:off x="5404757" y="1421444"/>
            <a:ext cx="914400" cy="914400"/>
          </a:xfrm>
          <a:prstGeom prst="rect">
            <a:avLst/>
          </a:prstGeom>
          <a:noFill/>
        </p:spPr>
        <p:txBody>
          <a:bodyPr wrap="none" lIns="0" tIns="0" rIns="0" bIns="0" rtlCol="0">
            <a:noAutofit/>
          </a:bodyPr>
          <a:lstStyle/>
          <a:p>
            <a:pPr algn="ctr">
              <a:lnSpc>
                <a:spcPct val="150000"/>
              </a:lnSpc>
            </a:pPr>
            <a:r>
              <a:rPr lang="en-AU" sz="4400"/>
              <a:t>What are some ways we can</a:t>
            </a:r>
          </a:p>
          <a:p>
            <a:pPr algn="ctr">
              <a:lnSpc>
                <a:spcPct val="150000"/>
              </a:lnSpc>
            </a:pPr>
            <a:r>
              <a:rPr lang="en-AU" sz="4400" b="1"/>
              <a:t>balance the equations:</a:t>
            </a:r>
            <a:r>
              <a:rPr lang="en-AU" sz="4400"/>
              <a:t> </a:t>
            </a:r>
          </a:p>
        </p:txBody>
      </p:sp>
      <p:sp>
        <p:nvSpPr>
          <p:cNvPr id="3" name="TextBox 2">
            <a:extLst>
              <a:ext uri="{FF2B5EF4-FFF2-40B4-BE49-F238E27FC236}">
                <a16:creationId xmlns:a16="http://schemas.microsoft.com/office/drawing/2014/main" id="{8365A4F6-AD3A-7545-8467-1083A6D1D663}"/>
              </a:ext>
            </a:extLst>
          </p:cNvPr>
          <p:cNvSpPr txBox="1"/>
          <p:nvPr/>
        </p:nvSpPr>
        <p:spPr>
          <a:xfrm>
            <a:off x="3269172" y="3766088"/>
            <a:ext cx="5653653" cy="1545956"/>
          </a:xfrm>
          <a:prstGeom prst="rect">
            <a:avLst/>
          </a:prstGeom>
          <a:noFill/>
        </p:spPr>
        <p:txBody>
          <a:bodyPr wrap="square" lIns="0" tIns="0" rIns="0" bIns="0" rtlCol="0">
            <a:noAutofit/>
          </a:bodyPr>
          <a:lstStyle/>
          <a:p>
            <a:pPr algn="ctr"/>
            <a:r>
              <a:rPr lang="en-AU" sz="5400">
                <a:solidFill>
                  <a:schemeClr val="accent2"/>
                </a:solidFill>
                <a:latin typeface="Edu NSW ACT Foundation" pitchFamily="2" charset="0"/>
              </a:rPr>
              <a:t>_0 × _ = _0 × _</a:t>
            </a:r>
            <a:endParaRPr lang="en-AU" sz="7200">
              <a:solidFill>
                <a:schemeClr val="accent2"/>
              </a:solidFill>
              <a:latin typeface="Edu NSW ACT Foundation" pitchFamily="2" charset="0"/>
              <a:cs typeface="Arial" panose="020B0604020202020204" pitchFamily="34" charset="0"/>
            </a:endParaRPr>
          </a:p>
        </p:txBody>
      </p:sp>
      <p:sp>
        <p:nvSpPr>
          <p:cNvPr id="5" name="TextBox 4">
            <a:extLst>
              <a:ext uri="{FF2B5EF4-FFF2-40B4-BE49-F238E27FC236}">
                <a16:creationId xmlns:a16="http://schemas.microsoft.com/office/drawing/2014/main" id="{C8EC3279-4F30-9772-3BDC-35044BD7A52C}"/>
              </a:ext>
            </a:extLst>
          </p:cNvPr>
          <p:cNvSpPr txBox="1"/>
          <p:nvPr/>
        </p:nvSpPr>
        <p:spPr>
          <a:xfrm>
            <a:off x="3269173" y="5312044"/>
            <a:ext cx="5653653" cy="1545956"/>
          </a:xfrm>
          <a:prstGeom prst="rect">
            <a:avLst/>
          </a:prstGeom>
          <a:noFill/>
        </p:spPr>
        <p:txBody>
          <a:bodyPr wrap="square" lIns="0" tIns="0" rIns="0" bIns="0" rtlCol="0">
            <a:noAutofit/>
          </a:bodyPr>
          <a:lstStyle/>
          <a:p>
            <a:pPr algn="ctr"/>
            <a:r>
              <a:rPr lang="en-AU" sz="5400">
                <a:solidFill>
                  <a:schemeClr val="accent2"/>
                </a:solidFill>
                <a:latin typeface="Edu NSW ACT Foundation" pitchFamily="2" charset="0"/>
              </a:rPr>
              <a:t>_00 × _ = _00 × _</a:t>
            </a:r>
            <a:endParaRPr lang="en-AU" sz="7200">
              <a:solidFill>
                <a:schemeClr val="accent2"/>
              </a:solidFill>
              <a:latin typeface="Edu NSW ACT Foundation" pitchFamily="2" charset="0"/>
              <a:cs typeface="Arial" panose="020B0604020202020204" pitchFamily="34" charset="0"/>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192946" y="3429000"/>
            <a:ext cx="11614879" cy="2941685"/>
          </a:xfrm>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13 August 2025) and was not modified.</a:t>
            </a:r>
          </a:p>
          <a:p>
            <a:r>
              <a:rPr lang="en-AU"/>
              <a:t>NSW Education Standards Authority (NESA) (2022a) ‘</a:t>
            </a:r>
            <a:r>
              <a:rPr lang="en-AU" u="sng">
                <a:hlinkClick r:id="rId9"/>
              </a:rPr>
              <a:t>Teaching advice for Data A</a:t>
            </a:r>
            <a:r>
              <a:rPr lang="en-AU"/>
              <a:t>’, </a:t>
            </a:r>
            <a:r>
              <a:rPr lang="en-AU" i="1"/>
              <a:t>Stage 3</a:t>
            </a:r>
            <a:r>
              <a:rPr lang="en-AU"/>
              <a:t>, NSW Curriculum website, accessed 14 October 2025.</a:t>
            </a:r>
          </a:p>
          <a:p>
            <a:r>
              <a:rPr lang="en-AU"/>
              <a:t>NSW Education Standards Authority (NESA) (2022b) ‘</a:t>
            </a:r>
            <a:r>
              <a:rPr lang="en-AU" u="sng">
                <a:hlinkClick r:id="rId10"/>
              </a:rPr>
              <a:t>Teaching advice for Data B</a:t>
            </a:r>
            <a:r>
              <a:rPr lang="en-AU"/>
              <a:t>’, </a:t>
            </a:r>
            <a:r>
              <a:rPr lang="en-AU" i="1"/>
              <a:t>Stage 3</a:t>
            </a:r>
            <a:r>
              <a:rPr lang="en-AU"/>
              <a:t>, NSW Curriculum website, accessed 14 October 2025.</a:t>
            </a:r>
          </a:p>
          <a:p>
            <a:r>
              <a:rPr lang="en-AU"/>
              <a:t>NSW Education Standards Authority (NESA) (2022c) ‘</a:t>
            </a:r>
            <a:r>
              <a:rPr lang="en-AU" u="sng">
                <a:hlinkClick r:id="rId11"/>
              </a:rPr>
              <a:t>Teaching advice for Represents numbers B</a:t>
            </a:r>
            <a:r>
              <a:rPr lang="en-AU"/>
              <a:t>’, </a:t>
            </a:r>
            <a:r>
              <a:rPr lang="en-AU" i="1"/>
              <a:t>Stage 3</a:t>
            </a:r>
            <a:r>
              <a:rPr lang="en-AU"/>
              <a:t>, NSW Curriculum website, accessed 14 October 2025.</a:t>
            </a:r>
          </a:p>
          <a:p>
            <a:r>
              <a:rPr lang="en-AU"/>
              <a:t>New Zealand Ministry of Education (n.d.) </a:t>
            </a:r>
            <a:r>
              <a:rPr lang="en-AU" u="sng">
                <a:hlinkClick r:id="rId12"/>
              </a:rPr>
              <a:t>‘Data Distortion’</a:t>
            </a:r>
            <a:r>
              <a:rPr lang="en-AU"/>
              <a:t>, </a:t>
            </a:r>
            <a:r>
              <a:rPr lang="en-AU" i="1"/>
              <a:t>Figure It Out</a:t>
            </a:r>
            <a:r>
              <a:rPr lang="en-AU"/>
              <a:t>, </a:t>
            </a:r>
            <a:r>
              <a:rPr lang="en-AU" err="1"/>
              <a:t>Tāhūrangi</a:t>
            </a:r>
            <a:r>
              <a:rPr lang="en-AU"/>
              <a:t> - New Zealand Curriculum website, accessed 16 June 2023.</a:t>
            </a:r>
          </a:p>
          <a:p>
            <a:r>
              <a:rPr lang="en-AU"/>
              <a:t>New Zealand Ministry of Education (n.d.) </a:t>
            </a:r>
            <a:r>
              <a:rPr lang="en-AU" u="sng">
                <a:hlinkClick r:id="rId13"/>
              </a:rPr>
              <a:t>‘Discussing Data’</a:t>
            </a:r>
            <a:r>
              <a:rPr lang="en-AU"/>
              <a:t>, </a:t>
            </a:r>
            <a:r>
              <a:rPr lang="en-AU" i="1"/>
              <a:t>Figure It Out</a:t>
            </a:r>
            <a:r>
              <a:rPr lang="en-AU"/>
              <a:t>, </a:t>
            </a:r>
            <a:r>
              <a:rPr lang="en-AU" err="1"/>
              <a:t>Tāhūrangi</a:t>
            </a:r>
            <a:r>
              <a:rPr lang="en-AU"/>
              <a:t> - New Zealand Curriculum website, accessed 15 June 2023. </a:t>
            </a:r>
          </a:p>
          <a:p>
            <a:endParaRPr lang="en-AU"/>
          </a:p>
          <a:p>
            <a:endParaRPr lang="en-AU"/>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9A67A-F13A-2F83-A594-E7155E1BDF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949FD4-8906-58EB-2B40-964F73ADA0AB}"/>
              </a:ext>
            </a:extLst>
          </p:cNvPr>
          <p:cNvSpPr>
            <a:spLocks noGrp="1"/>
          </p:cNvSpPr>
          <p:nvPr>
            <p:ph type="title"/>
          </p:nvPr>
        </p:nvSpPr>
        <p:spPr/>
        <p:txBody>
          <a:bodyPr/>
          <a:lstStyle/>
          <a:p>
            <a:r>
              <a:rPr lang="en-AU">
                <a:latin typeface="+mj-lt"/>
              </a:rPr>
              <a:t>References 2</a:t>
            </a:r>
          </a:p>
        </p:txBody>
      </p:sp>
      <p:sp>
        <p:nvSpPr>
          <p:cNvPr id="6" name="TextBox 5">
            <a:extLst>
              <a:ext uri="{FF2B5EF4-FFF2-40B4-BE49-F238E27FC236}">
                <a16:creationId xmlns:a16="http://schemas.microsoft.com/office/drawing/2014/main" id="{98C3772F-6CD0-CBCC-91E5-C54DAA6D71FA}"/>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A62F6A18-F1E1-16C3-D65A-A79A6D6CE2CC}"/>
              </a:ext>
            </a:extLst>
          </p:cNvPr>
          <p:cNvSpPr>
            <a:spLocks noGrp="1"/>
          </p:cNvSpPr>
          <p:nvPr>
            <p:ph idx="1"/>
          </p:nvPr>
        </p:nvSpPr>
        <p:spPr>
          <a:xfrm>
            <a:off x="229121" y="3429000"/>
            <a:ext cx="11614879" cy="2976854"/>
          </a:xfrm>
        </p:spPr>
        <p:txBody>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ABC Education. (n.d.). </a:t>
            </a:r>
            <a:r>
              <a:rPr kumimoji="0" lang="en-AU" sz="1200" b="0" i="1"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6"/>
              </a:rPr>
              <a:t>Goat Busters</a:t>
            </a: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6"/>
              </a:rPr>
              <a:t> </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[Online game]. Australian Broadcasting Corporation. Retrieved April 27, 2024, from https://games.abc.net.au/education/goat-busters/.</a:t>
            </a:r>
          </a:p>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Australian Government Department of Education (2020) ‘</a:t>
            </a: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7"/>
              </a:rPr>
              <a:t>Data: Making Decisions</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a:t>
            </a:r>
            <a:r>
              <a:rPr kumimoji="0" lang="en-AU" sz="1200" b="0" i="1"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Teaching resources</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a:t>
            </a:r>
            <a:r>
              <a:rPr kumimoji="0" lang="en-AU" sz="1200" b="0" i="0" u="none" strike="noStrike" kern="1200" cap="none" spc="0" normalizeH="0" baseline="0" noProof="0" err="1">
                <a:ln>
                  <a:noFill/>
                </a:ln>
                <a:solidFill>
                  <a:srgbClr val="22272B"/>
                </a:solidFill>
                <a:effectLst/>
                <a:uLnTx/>
                <a:uFillTx/>
                <a:latin typeface="Arial" panose="020B0604020202020204"/>
                <a:ea typeface="+mn-ea"/>
                <a:cs typeface="Arial" panose="020B0604020202020204" pitchFamily="34" charset="0"/>
              </a:rPr>
              <a:t>reSolve</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Maths by Inquiry website, accessed 18 June 2023.</a:t>
            </a:r>
          </a:p>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State of New South Wales (Department of Education) (n.d.) ‘</a:t>
            </a: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8"/>
              </a:rPr>
              <a:t>Let's talk 2 – number talk (15 x 9) Stage 3</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a:t>
            </a:r>
            <a:r>
              <a:rPr kumimoji="0" lang="en-AU" sz="1200" b="0" i="1"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Mathematics K-6 resources</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NSW Department of Education website, accessed 15 June 2023.</a:t>
            </a:r>
          </a:p>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——(n.d.) ‘</a:t>
            </a: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9"/>
              </a:rPr>
              <a:t>Order! Order! (four-digit numbers)</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a:t>
            </a:r>
            <a:r>
              <a:rPr kumimoji="0" lang="en-AU" sz="1200" b="0" i="1"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Thinking mathematically resources</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NSW Department of Education website, accessed 14 June 2023.</a:t>
            </a:r>
          </a:p>
          <a:p>
            <a:r>
              <a:rPr lang="en-AU"/>
              <a:t>Sullivan P and Lilburn P (2017) </a:t>
            </a:r>
            <a:r>
              <a:rPr lang="en-AU" i="1"/>
              <a:t>Open-ended Maths Activities: Using ‘Good’ Questions to Enhance Learning in Mathematics</a:t>
            </a:r>
            <a:r>
              <a:rPr lang="en-AU"/>
              <a:t>, Revised </a:t>
            </a:r>
            <a:r>
              <a:rPr lang="en-AU" err="1"/>
              <a:t>edn</a:t>
            </a:r>
            <a:r>
              <a:rPr lang="en-AU"/>
              <a:t>, Oxford University Press ANZ, Great Britain.</a:t>
            </a:r>
          </a:p>
          <a:p>
            <a:endParaRPr lang="en-AU"/>
          </a:p>
        </p:txBody>
      </p:sp>
      <p:sp>
        <p:nvSpPr>
          <p:cNvPr id="2" name="Slide Number Placeholder 1">
            <a:extLst>
              <a:ext uri="{FF2B5EF4-FFF2-40B4-BE49-F238E27FC236}">
                <a16:creationId xmlns:a16="http://schemas.microsoft.com/office/drawing/2014/main" id="{B493A82D-8526-437F-3315-5416BB7FD69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344411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0DA3D-9F99-458E-9DAB-0CE3DD324CEB}">
  <ds:schemaRefs>
    <ds:schemaRef ds:uri="http://schemas.microsoft.com/sharepoint/v3/contenttype/forms"/>
  </ds:schemaRefs>
</ds:datastoreItem>
</file>

<file path=customXml/itemProps2.xml><?xml version="1.0" encoding="utf-8"?>
<ds:datastoreItem xmlns:ds="http://schemas.openxmlformats.org/officeDocument/2006/customXml" ds:itemID="{92A79ED5-3D27-435D-B83C-BD2537F20B0A}">
  <ds:schemaRefs>
    <ds:schemaRef ds:uri="http://purl.org/dc/elements/1.1/"/>
    <ds:schemaRef ds:uri="60129b06-f64b-40a8-96e2-c5b2f86112b1"/>
    <ds:schemaRef ds:uri="http://www.w3.org/XML/1998/namespace"/>
    <ds:schemaRef ds:uri="http://schemas.microsoft.com/office/2006/metadata/propertie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7e763d47-3c66-4c58-9425-1477fd3ccd1e"/>
    <ds:schemaRef ds:uri="http://purl.org/dc/terms/"/>
  </ds:schemaRefs>
</ds:datastoreItem>
</file>

<file path=customXml/itemProps3.xml><?xml version="1.0" encoding="utf-8"?>
<ds:datastoreItem xmlns:ds="http://schemas.openxmlformats.org/officeDocument/2006/customXml" ds:itemID="{2DB71E2A-AAA5-4ECA-927C-CF8BA0DC4C46}"/>
</file>

<file path=docProps/app.xml><?xml version="1.0" encoding="utf-8"?>
<Properties xmlns="http://schemas.openxmlformats.org/officeDocument/2006/extended-properties" xmlns:vt="http://schemas.openxmlformats.org/officeDocument/2006/docPropsVTypes">
  <Template>student-facing-primary-template-2025-v1-5</Template>
  <TotalTime>0</TotalTime>
  <Words>6267</Words>
  <Application>Microsoft Office PowerPoint</Application>
  <PresentationFormat>Widescreen</PresentationFormat>
  <Paragraphs>860</Paragraphs>
  <Slides>69</Slides>
  <Notes>69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69</vt:i4>
      </vt:variant>
    </vt:vector>
  </HeadingPairs>
  <TitlesOfParts>
    <vt:vector size="80" baseType="lpstr">
      <vt:lpstr>Wingdings</vt:lpstr>
      <vt:lpstr>Arial</vt:lpstr>
      <vt:lpstr>Times New Roman</vt:lpstr>
      <vt:lpstr>Public Sans</vt:lpstr>
      <vt:lpstr>Calibri</vt:lpstr>
      <vt:lpstr>Montserrat</vt:lpstr>
      <vt:lpstr>Cambria Math</vt:lpstr>
      <vt:lpstr>Public Sans Light</vt:lpstr>
      <vt:lpstr>Edu NSW ACT Foundation</vt:lpstr>
      <vt:lpstr>NSWG Corporate</vt:lpstr>
      <vt:lpstr>1_NSWG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naming numbers in the millions</vt:lpstr>
      <vt:lpstr>Review of learning 2</vt:lpstr>
      <vt:lpstr>True or false (1)</vt:lpstr>
      <vt:lpstr>Short response (5)</vt:lpstr>
      <vt:lpstr>Short response</vt:lpstr>
      <vt:lpstr>Short response (7)</vt:lpstr>
      <vt:lpstr>Short response (8)</vt:lpstr>
      <vt:lpstr>Activity 2 – ordering numbers in the millions 1</vt:lpstr>
      <vt:lpstr>Review of learning 3</vt:lpstr>
      <vt:lpstr>Multiple choice (2)</vt:lpstr>
      <vt:lpstr>Short response (9)</vt:lpstr>
      <vt:lpstr>Short response (10)</vt:lpstr>
      <vt:lpstr>Short response (11)</vt:lpstr>
      <vt:lpstr>Short response (12)</vt:lpstr>
      <vt:lpstr>Activity 3 – ordering numbers in the millions 2</vt:lpstr>
      <vt:lpstr>Review of learning 4</vt:lpstr>
      <vt:lpstr>True or false (2)</vt:lpstr>
      <vt:lpstr>Short response (13)</vt:lpstr>
      <vt:lpstr>Short response (14)</vt:lpstr>
      <vt:lpstr>Short response (15)</vt:lpstr>
      <vt:lpstr>Short response (16)</vt:lpstr>
      <vt:lpstr>Activity 4 – ordering numbers in the millions 3</vt:lpstr>
      <vt:lpstr>Review of learning 5</vt:lpstr>
      <vt:lpstr>Multiple choice (3)</vt:lpstr>
      <vt:lpstr>Short response (17)</vt:lpstr>
      <vt:lpstr>Short response (18)</vt:lpstr>
      <vt:lpstr>Short response (19)</vt:lpstr>
      <vt:lpstr>Short response (20)</vt:lpstr>
      <vt:lpstr>Activity 5 – multiplicative number talk</vt:lpstr>
      <vt:lpstr>Review of learning 6</vt:lpstr>
      <vt:lpstr>True or false (3)</vt:lpstr>
      <vt:lpstr>Short response (21)</vt:lpstr>
      <vt:lpstr>Short response (22)</vt:lpstr>
      <vt:lpstr>Short response (23)</vt:lpstr>
      <vt:lpstr>Short response (24)</vt:lpstr>
      <vt:lpstr>Activity 6 – using the area model for multiplication</vt:lpstr>
      <vt:lpstr>Review of learning 7</vt:lpstr>
      <vt:lpstr>Multiple choice (4)</vt:lpstr>
      <vt:lpstr>Short response (25)</vt:lpstr>
      <vt:lpstr>Short response (26)</vt:lpstr>
      <vt:lpstr>Short response (27)</vt:lpstr>
      <vt:lpstr>Short response (28)</vt:lpstr>
      <vt:lpstr>Activity 7 – multiplicative strategies</vt:lpstr>
      <vt:lpstr>Review of learning 8</vt:lpstr>
      <vt:lpstr>True or false (4)</vt:lpstr>
      <vt:lpstr>Short response (29)</vt:lpstr>
      <vt:lpstr>Short response (30)</vt:lpstr>
      <vt:lpstr>Short response (31)</vt:lpstr>
      <vt:lpstr>Short response (32)</vt:lpstr>
      <vt:lpstr>Activity 8 – multiplying by 10 and 100</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2025-12-01T01:58:23Z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