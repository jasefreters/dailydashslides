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755" r:id="rId5"/>
    <p:sldMasterId id="2147483766" r:id="rId6"/>
  </p:sldMasterIdLst>
  <p:notesMasterIdLst>
    <p:notesMasterId r:id="rId76"/>
  </p:notesMasterIdLst>
  <p:handoutMasterIdLst>
    <p:handoutMasterId r:id="rId77"/>
  </p:handoutMasterIdLst>
  <p:sldIdLst>
    <p:sldId id="365" r:id="rId7"/>
    <p:sldId id="26505" r:id="rId8"/>
    <p:sldId id="26359" r:id="rId9"/>
    <p:sldId id="271" r:id="rId10"/>
    <p:sldId id="26578" r:id="rId11"/>
    <p:sldId id="358" r:id="rId12"/>
    <p:sldId id="26580" r:id="rId13"/>
    <p:sldId id="26581" r:id="rId14"/>
    <p:sldId id="26582" r:id="rId15"/>
    <p:sldId id="26646" r:id="rId16"/>
    <p:sldId id="26583" r:id="rId17"/>
    <p:sldId id="26586" r:id="rId18"/>
    <p:sldId id="26587" r:id="rId19"/>
    <p:sldId id="26588" r:id="rId20"/>
    <p:sldId id="26589" r:id="rId21"/>
    <p:sldId id="26590" r:id="rId22"/>
    <p:sldId id="26519" r:id="rId23"/>
    <p:sldId id="26592" r:id="rId24"/>
    <p:sldId id="26594" r:id="rId25"/>
    <p:sldId id="26596" r:id="rId26"/>
    <p:sldId id="26597" r:id="rId27"/>
    <p:sldId id="26598" r:id="rId28"/>
    <p:sldId id="26599" r:id="rId29"/>
    <p:sldId id="26405" r:id="rId30"/>
    <p:sldId id="26601" r:id="rId31"/>
    <p:sldId id="26604" r:id="rId32"/>
    <p:sldId id="26605" r:id="rId33"/>
    <p:sldId id="26606" r:id="rId34"/>
    <p:sldId id="26607" r:id="rId35"/>
    <p:sldId id="26608" r:id="rId36"/>
    <p:sldId id="26514" r:id="rId37"/>
    <p:sldId id="26610" r:id="rId38"/>
    <p:sldId id="26612" r:id="rId39"/>
    <p:sldId id="26614" r:id="rId40"/>
    <p:sldId id="26615" r:id="rId41"/>
    <p:sldId id="26616" r:id="rId42"/>
    <p:sldId id="26617" r:id="rId43"/>
    <p:sldId id="26455" r:id="rId44"/>
    <p:sldId id="26523" r:id="rId45"/>
    <p:sldId id="26619" r:id="rId46"/>
    <p:sldId id="26622" r:id="rId47"/>
    <p:sldId id="26623" r:id="rId48"/>
    <p:sldId id="26624" r:id="rId49"/>
    <p:sldId id="26625" r:id="rId50"/>
    <p:sldId id="26626" r:id="rId51"/>
    <p:sldId id="26439" r:id="rId52"/>
    <p:sldId id="26628" r:id="rId53"/>
    <p:sldId id="26629" r:id="rId54"/>
    <p:sldId id="26632" r:id="rId55"/>
    <p:sldId id="26633" r:id="rId56"/>
    <p:sldId id="26634" r:id="rId57"/>
    <p:sldId id="26635" r:id="rId58"/>
    <p:sldId id="26522" r:id="rId59"/>
    <p:sldId id="26637" r:id="rId60"/>
    <p:sldId id="26640" r:id="rId61"/>
    <p:sldId id="26641" r:id="rId62"/>
    <p:sldId id="26642" r:id="rId63"/>
    <p:sldId id="26643" r:id="rId64"/>
    <p:sldId id="26644" r:id="rId65"/>
    <p:sldId id="26517" r:id="rId66"/>
    <p:sldId id="26393" r:id="rId67"/>
    <p:sldId id="26387" r:id="rId68"/>
    <p:sldId id="26395" r:id="rId69"/>
    <p:sldId id="26391" r:id="rId70"/>
    <p:sldId id="26402" r:id="rId71"/>
    <p:sldId id="26507" r:id="rId72"/>
    <p:sldId id="26510" r:id="rId73"/>
    <p:sldId id="360" r:id="rId74"/>
    <p:sldId id="361" r:id="rId75"/>
  </p:sldIdLst>
  <p:sldSz cx="12192000" cy="6858000"/>
  <p:notesSz cx="6858000" cy="9144000"/>
  <p:embeddedFontLst>
    <p:embeddedFont>
      <p:font typeface="Edu NSW ACT Foundation" panose="020B0604020202020204" charset="0"/>
      <p:regular r:id="rId78"/>
      <p:bold r:id="rId79"/>
    </p:embeddedFont>
    <p:embeddedFont>
      <p:font typeface="Montserrat" panose="00000500000000000000" pitchFamily="2" charset="0"/>
      <p:regular r:id="rId80"/>
      <p:bold r:id="rId81"/>
      <p:italic r:id="rId82"/>
      <p:boldItalic r:id="rId83"/>
    </p:embeddedFont>
    <p:embeddedFont>
      <p:font typeface="Public Sans" pitchFamily="2" charset="0"/>
      <p:regular r:id="rId84"/>
      <p:bold r:id="rId85"/>
      <p:italic r:id="rId86"/>
      <p:boldItalic r:id="rId87"/>
    </p:embeddedFont>
    <p:embeddedFont>
      <p:font typeface="Public Sans Light" pitchFamily="2" charset="0"/>
      <p:regular r:id="rId88"/>
      <p:italic r:id="rId89"/>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8"/>
            <p14:sldId id="358"/>
            <p14:sldId id="26580"/>
            <p14:sldId id="26581"/>
            <p14:sldId id="26582"/>
            <p14:sldId id="26646"/>
          </p14:sldIdLst>
        </p14:section>
        <p14:section name="Review of learning 2" id="{0AC6BBCB-7E49-46CE-B777-EFCDD4B60F91}">
          <p14:sldIdLst>
            <p14:sldId id="26583"/>
            <p14:sldId id="26586"/>
            <p14:sldId id="26587"/>
            <p14:sldId id="26588"/>
            <p14:sldId id="26589"/>
            <p14:sldId id="26590"/>
            <p14:sldId id="26519"/>
          </p14:sldIdLst>
        </p14:section>
        <p14:section name="Review of learning 3" id="{6F5E1C19-5255-4FF7-A3CD-4549F7EF69B2}">
          <p14:sldIdLst>
            <p14:sldId id="26592"/>
            <p14:sldId id="26594"/>
            <p14:sldId id="26596"/>
            <p14:sldId id="26597"/>
            <p14:sldId id="26598"/>
            <p14:sldId id="26599"/>
            <p14:sldId id="26405"/>
          </p14:sldIdLst>
        </p14:section>
        <p14:section name="Review of learning 4" id="{6EB8E1CE-ED7B-4635-88AB-9D1D052BB011}">
          <p14:sldIdLst>
            <p14:sldId id="26601"/>
            <p14:sldId id="26604"/>
            <p14:sldId id="26605"/>
            <p14:sldId id="26606"/>
            <p14:sldId id="26607"/>
            <p14:sldId id="26608"/>
            <p14:sldId id="26514"/>
          </p14:sldIdLst>
        </p14:section>
        <p14:section name="Review of learning 5" id="{E365C8CF-14E0-4F5A-BCE8-2E930DEEA864}">
          <p14:sldIdLst>
            <p14:sldId id="26610"/>
            <p14:sldId id="26612"/>
            <p14:sldId id="26614"/>
            <p14:sldId id="26615"/>
            <p14:sldId id="26616"/>
            <p14:sldId id="26617"/>
            <p14:sldId id="26455"/>
            <p14:sldId id="26523"/>
          </p14:sldIdLst>
        </p14:section>
        <p14:section name="Review of learning 6" id="{6721D3DC-F7BB-49CA-9E61-8454C104591D}">
          <p14:sldIdLst>
            <p14:sldId id="26619"/>
            <p14:sldId id="26622"/>
            <p14:sldId id="26623"/>
            <p14:sldId id="26624"/>
            <p14:sldId id="26625"/>
            <p14:sldId id="26626"/>
            <p14:sldId id="26439"/>
          </p14:sldIdLst>
        </p14:section>
        <p14:section name="Review of learning 7" id="{CF63834E-0BE9-495B-9761-037C836F185E}">
          <p14:sldIdLst>
            <p14:sldId id="26628"/>
            <p14:sldId id="26629"/>
            <p14:sldId id="26632"/>
            <p14:sldId id="26633"/>
            <p14:sldId id="26634"/>
            <p14:sldId id="26635"/>
            <p14:sldId id="26522"/>
          </p14:sldIdLst>
        </p14:section>
        <p14:section name="Review of learning 8" id="{6FF8F7EC-803E-4F84-BA41-6B3ED673D597}">
          <p14:sldIdLst>
            <p14:sldId id="26637"/>
            <p14:sldId id="26640"/>
            <p14:sldId id="26641"/>
            <p14:sldId id="26642"/>
            <p14:sldId id="26643"/>
            <p14:sldId id="26644"/>
            <p14:sldId id="26517"/>
          </p14:sldIdLst>
        </p14:section>
        <p14:section name="Assets" id="{943D30AA-CFD9-4196-A414-FFBF2D6203C0}">
          <p14:sldIdLst>
            <p14:sldId id="26393"/>
            <p14:sldId id="26387"/>
            <p14:sldId id="26395"/>
            <p14:sldId id="26391"/>
            <p14:sldId id="26402"/>
            <p14:sldId id="26507"/>
            <p14:sldId id="26510"/>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8C6D2936-6756-1476-1E4B-4B33D1F539E1}" name="Carrie Webeck" initials="CW" userId="S::carrie-ann.webeck@det.nsw.edu.au::e5c4b697-ca15-4f3a-a906-1289ddc2fc07" providerId="AD"/>
  <p188:author id="{0EB36D6E-3AE9-3B2C-28D2-8291BFBA4A39}" name="Christie Williams" initials="CW" userId="S::christie.williams2@det.nsw.edu.au::881f3a5c-b614-46db-a2f1-8ad4840e9c37" providerId="AD"/>
  <p188:author id="{95D16B7D-CADB-F2BF-AC29-D680545C75EE}" name="Carrie Webeck" initials="CW" userId="S::CARRIE-ANN.WEBECK@det.nsw.edu.au::e5c4b697-ca15-4f3a-a906-1289ddc2fc07" providerId="AD"/>
  <p188:author id="{3FDA68B6-B52B-FE76-39D1-E268A1C28951}" name="Phil HOLLINS (Phil Hollins)" initials="PH" userId="S::philip.hollins@det.nsw.edu.au::2b9063ba-35fe-4c7f-aa4d-5bf1098ac266"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CC"/>
    <a:srgbClr val="EDF9E0"/>
    <a:srgbClr val="9966FF"/>
    <a:srgbClr val="CC99FF"/>
    <a:srgbClr val="EA9B0C"/>
    <a:srgbClr val="007A8A"/>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0C1F35-3FE6-F366-9F42-217C313A182C}" v="1" dt="2025-11-03T01:38:52.039"/>
    <p1510:client id="{61796DE1-E95F-3BBA-329C-4C4A4CA58EA1}" v="5" dt="2025-11-02T23:12:30.363"/>
    <p1510:client id="{6A8F0796-DD3D-495F-BF59-D2F8B6104146}" v="102" dt="2025-11-03T04:14:14.377"/>
    <p1510:client id="{BCC88688-27C5-434A-A68F-BCCA5DDD13DF}" v="1" dt="2025-11-03T04:13:36.959"/>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228" y="68"/>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font" Target="fonts/font7.fntdata"/><Relationship Id="rId89" Type="http://schemas.openxmlformats.org/officeDocument/2006/relationships/font" Target="fonts/font12.fntdata"/><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font" Target="fonts/font2.fntdata"/><Relationship Id="rId5" Type="http://schemas.openxmlformats.org/officeDocument/2006/relationships/slideMaster" Target="slideMasters/slideMaster2.xml"/><Relationship Id="rId90" Type="http://schemas.openxmlformats.org/officeDocument/2006/relationships/presProps" Target="presProps.xml"/><Relationship Id="rId95" Type="http://schemas.microsoft.com/office/2018/10/relationships/authors" Target="authors.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font" Target="fonts/font3.fntdata"/><Relationship Id="rId85" Type="http://schemas.openxmlformats.org/officeDocument/2006/relationships/font" Target="fonts/font8.fntdata"/><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font" Target="fonts/font6.fntdata"/><Relationship Id="rId88" Type="http://schemas.openxmlformats.org/officeDocument/2006/relationships/font" Target="fonts/font11.fntdata"/><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9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notesMaster" Target="notesMasters/notesMaster1.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font" Target="fonts/font10.fntdata"/><Relationship Id="rId61" Type="http://schemas.openxmlformats.org/officeDocument/2006/relationships/slide" Target="slides/slide55.xml"/><Relationship Id="rId82" Type="http://schemas.openxmlformats.org/officeDocument/2006/relationships/font" Target="fonts/font5.fntdata"/><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27/11/2025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27/11/2025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A Unit 3</a:t>
            </a:r>
          </a:p>
          <a:p>
            <a:pPr marL="285750" indent="-285750">
              <a:buFont typeface="Arial" panose="020B0604020202020204" pitchFamily="34" charset="0"/>
              <a:buChar char="•"/>
            </a:pPr>
            <a:r>
              <a:rPr lang="en-AU"/>
              <a:t>Stage 2 Year A Unit 2</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a:t>Stage 2 Year A Unit 1</a:t>
            </a:r>
          </a:p>
          <a:p>
            <a:pPr marL="285750" indent="-285750">
              <a:buFont typeface="Arial" panose="020B0604020202020204" pitchFamily="34" charset="0"/>
              <a:buChar char="•"/>
            </a:pPr>
            <a:endParaRPr lang="en-AU"/>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AD8F1-B663-3F40-07A2-C014D8EB5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45E08-15DA-0856-A514-FAF9EC64C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0C8C4-7957-6426-57E3-FED49065047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A</a:t>
            </a:r>
          </a:p>
        </p:txBody>
      </p:sp>
      <p:sp>
        <p:nvSpPr>
          <p:cNvPr id="4" name="Slide Number Placeholder 3">
            <a:extLst>
              <a:ext uri="{FF2B5EF4-FFF2-40B4-BE49-F238E27FC236}">
                <a16:creationId xmlns:a16="http://schemas.microsoft.com/office/drawing/2014/main" id="{C4FD5696-9180-2B5B-47E9-EC0CAC013312}"/>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891581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t>
            </a:r>
            <a:r>
              <a:rPr lang="en-AU" sz="1600" b="0" kern="1200">
                <a:solidFill>
                  <a:schemeClr val="tx1"/>
                </a:solidFill>
                <a:effectLst/>
                <a:latin typeface="Arial" panose="020B0604020202020204" pitchFamily="34" charset="0"/>
                <a:ea typeface="+mn-ea"/>
                <a:cs typeface="Arial" panose="020B0604020202020204" pitchFamily="34" charset="0"/>
              </a:rPr>
              <a:t>(</a:t>
            </a:r>
            <a:r>
              <a:rPr lang="en-AU" sz="1600" b="1" kern="1200">
                <a:solidFill>
                  <a:schemeClr val="tx1"/>
                </a:solidFill>
                <a:effectLst/>
                <a:latin typeface="Arial" panose="020B0604020202020204" pitchFamily="34" charset="0"/>
                <a:ea typeface="+mn-ea"/>
                <a:cs typeface="Arial" panose="020B0604020202020204" pitchFamily="34" charset="0"/>
              </a:rPr>
              <a:t>Note: </a:t>
            </a:r>
            <a:r>
              <a:rPr lang="en-AU" sz="1600" b="0" kern="1200">
                <a:solidFill>
                  <a:schemeClr val="tx1"/>
                </a:solidFill>
                <a:effectLst/>
                <a:latin typeface="Arial" panose="020B0604020202020204" pitchFamily="34" charset="0"/>
                <a:ea typeface="+mn-ea"/>
                <a:cs typeface="Arial" panose="020B0604020202020204" pitchFamily="34" charset="0"/>
              </a:rPr>
              <a:t>Stage 1 content reviewed)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whole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Position</a:t>
            </a:r>
            <a:r>
              <a:rPr lang="en-AU" sz="1600" b="1" kern="1200">
                <a:solidFill>
                  <a:schemeClr val="tx1"/>
                </a:solidFill>
                <a:effectLst/>
                <a:latin typeface="Arial" panose="020B0604020202020204" pitchFamily="34" charset="0"/>
                <a:ea typeface="+mn-ea"/>
                <a:cs typeface="Arial" panose="020B0604020202020204" pitchFamily="34" charset="0"/>
              </a:rPr>
              <a:t> </a:t>
            </a:r>
            <a:r>
              <a:rPr lang="en-AU" sz="1600" b="0" kern="1200">
                <a:solidFill>
                  <a:schemeClr val="tx1"/>
                </a:solidFill>
                <a:effectLst/>
                <a:latin typeface="Arial" panose="020B0604020202020204" pitchFamily="34" charset="0"/>
                <a:ea typeface="+mn-ea"/>
                <a:cs typeface="Arial" panose="020B0604020202020204" pitchFamily="34" charset="0"/>
              </a:rPr>
              <a:t>(</a:t>
            </a:r>
            <a:r>
              <a:rPr lang="en-AU" sz="1600" b="1" kern="1200">
                <a:solidFill>
                  <a:schemeClr val="tx1"/>
                </a:solidFill>
                <a:effectLst/>
                <a:latin typeface="Arial" panose="020B0604020202020204" pitchFamily="34" charset="0"/>
                <a:ea typeface="+mn-ea"/>
                <a:cs typeface="Arial" panose="020B0604020202020204" pitchFamily="34" charset="0"/>
              </a:rPr>
              <a:t>Note: </a:t>
            </a:r>
            <a:r>
              <a:rPr lang="en-AU" sz="1600" b="0" kern="1200">
                <a:solidFill>
                  <a:schemeClr val="tx1"/>
                </a:solidFill>
                <a:effectLst/>
                <a:latin typeface="Arial" panose="020B0604020202020204" pitchFamily="34" charset="0"/>
                <a:ea typeface="+mn-ea"/>
                <a:cs typeface="Arial" panose="020B0604020202020204" pitchFamily="34" charset="0"/>
              </a:rPr>
              <a:t>Stage 1 content reviewed) </a:t>
            </a:r>
            <a:endParaRPr lang="en-AU" sz="1600" b="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latin typeface="Arial" panose="020B0604020202020204" pitchFamily="34" charset="0"/>
                <a:cs typeface="Arial" panose="020B0604020202020204" pitchFamily="34" charset="0"/>
              </a:rPr>
              <a:t>This is a developing number sense activity. </a:t>
            </a:r>
          </a:p>
          <a:p>
            <a:endParaRPr lang="en-AU">
              <a:latin typeface="Arial" panose="020B0604020202020204" pitchFamily="34" charset="0"/>
              <a:cs typeface="Arial" panose="020B0604020202020204" pitchFamily="34" charset="0"/>
            </a:endParaRPr>
          </a:p>
          <a:p>
            <a:r>
              <a:rPr lang="en-AU">
                <a:latin typeface="Arial" panose="020B0604020202020204" pitchFamily="34" charset="0"/>
                <a:cs typeface="Arial" panose="020B0604020202020204" pitchFamily="34" charset="0"/>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Syllabus focus area:</a:t>
            </a:r>
          </a:p>
          <a:p>
            <a:r>
              <a:rPr lang="en-AU">
                <a:latin typeface="Arial" panose="020B0604020202020204" pitchFamily="34" charset="0"/>
                <a:cs typeface="Arial" panose="020B0604020202020204" pitchFamily="34" charset="0"/>
              </a:rPr>
              <a:t>Representing numbers using place value A</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4-digit place value</a:t>
            </a:r>
          </a:p>
          <a:p>
            <a:r>
              <a:rPr lang="en-AU" b="0">
                <a:latin typeface="Arial" panose="020B0604020202020204" pitchFamily="34" charset="0"/>
                <a:cs typeface="Arial" panose="020B0604020202020204" pitchFamily="34" charset="0"/>
              </a:rPr>
              <a:t>This resource corresponds to</a:t>
            </a:r>
            <a:r>
              <a:rPr lang="en-AU">
                <a:latin typeface="Arial" panose="020B0604020202020204" pitchFamily="34" charset="0"/>
                <a:cs typeface="Arial" panose="020B0604020202020204" pitchFamily="34" charset="0"/>
              </a:rPr>
              <a:t> Resource 22 –  Place value game </a:t>
            </a:r>
            <a:r>
              <a:rPr lang="en-AU" b="0">
                <a:latin typeface="Arial" panose="020B0604020202020204" pitchFamily="34" charset="0"/>
                <a:cs typeface="Arial" panose="020B0604020202020204" pitchFamily="34" charset="0"/>
              </a:rPr>
              <a:t>in Stage 2 Year A Unit 3. </a:t>
            </a:r>
          </a:p>
          <a:p>
            <a:pPr marL="342900" lvl="0" indent="-342900">
              <a:buFont typeface="+mj-lt"/>
              <a:buAutoNum type="arabicPeriod"/>
            </a:pPr>
            <a:r>
              <a:rPr lang="en-AU" sz="1600" kern="1200">
                <a:solidFill>
                  <a:schemeClr val="tx1"/>
                </a:solidFill>
                <a:effectLst/>
                <a:latin typeface="Arial" panose="020B0604020202020204" pitchFamily="34" charset="0"/>
                <a:cs typeface="Arial" panose="020B0604020202020204" pitchFamily="34" charset="0"/>
              </a:rPr>
              <a:t>Explain that the aim of the game is to order 4-digit numbers in ascending order on a gameboard.</a:t>
            </a:r>
          </a:p>
          <a:p>
            <a:pPr marL="342900" indent="-342900">
              <a:buAutoNum type="arabicPeriod"/>
            </a:pPr>
            <a:r>
              <a:rPr lang="en-AU" sz="1600" kern="1200">
                <a:solidFill>
                  <a:schemeClr val="tx1"/>
                </a:solidFill>
                <a:effectLst/>
                <a:latin typeface="Arial" panose="020B0604020202020204" pitchFamily="34" charset="0"/>
                <a:cs typeface="Arial" panose="020B0604020202020204" pitchFamily="34" charset="0"/>
              </a:rPr>
              <a:t>Provide pairs with four 9-sided dice and </a:t>
            </a:r>
            <a:r>
              <a:rPr lang="en-AU" kern="1200">
                <a:solidFill>
                  <a:schemeClr val="tx1"/>
                </a:solidFill>
                <a:effectLst/>
                <a:latin typeface="Arial" panose="020B0604020202020204" pitchFamily="34" charset="0"/>
                <a:cs typeface="Arial" panose="020B0604020202020204" pitchFamily="34" charset="0"/>
              </a:rPr>
              <a:t>Resource 22 – </a:t>
            </a:r>
            <a:r>
              <a:rPr lang="en-AU">
                <a:latin typeface="Arial" panose="020B0604020202020204" pitchFamily="34" charset="0"/>
                <a:cs typeface="Arial" panose="020B0604020202020204" pitchFamily="34" charset="0"/>
              </a:rPr>
              <a:t>Place </a:t>
            </a:r>
            <a:r>
              <a:rPr lang="en-AU" kern="1200">
                <a:solidFill>
                  <a:schemeClr val="tx1"/>
                </a:solidFill>
                <a:effectLst/>
                <a:latin typeface="Arial" panose="020B0604020202020204" pitchFamily="34" charset="0"/>
                <a:cs typeface="Arial" panose="020B0604020202020204" pitchFamily="34" charset="0"/>
              </a:rPr>
              <a:t>value </a:t>
            </a:r>
            <a:r>
              <a:rPr lang="en-AU">
                <a:latin typeface="Arial" panose="020B0604020202020204" pitchFamily="34" charset="0"/>
                <a:cs typeface="Arial" panose="020B0604020202020204" pitchFamily="34" charset="0"/>
              </a:rPr>
              <a:t>game or</a:t>
            </a:r>
            <a:r>
              <a:rPr lang="en-AU" sz="1600" kern="1200">
                <a:solidFill>
                  <a:schemeClr val="tx1"/>
                </a:solidFill>
                <a:effectLst/>
                <a:latin typeface="Arial" panose="020B0604020202020204" pitchFamily="34" charset="0"/>
                <a:cs typeface="Arial" panose="020B0604020202020204" pitchFamily="34" charset="0"/>
              </a:rPr>
              <a:t> each player.</a:t>
            </a:r>
          </a:p>
          <a:p>
            <a:pPr marL="342900" lvl="0" indent="-342900">
              <a:buFont typeface="+mj-lt"/>
              <a:buAutoNum type="arabicPeriod"/>
            </a:pPr>
            <a:r>
              <a:rPr lang="en-AU" sz="1600" kern="1200">
                <a:solidFill>
                  <a:schemeClr val="tx1"/>
                </a:solidFill>
                <a:effectLst/>
                <a:latin typeface="Arial" panose="020B0604020202020204" pitchFamily="34" charset="0"/>
                <a:cs typeface="Arial" panose="020B0604020202020204" pitchFamily="34" charset="0"/>
              </a:rPr>
              <a:t>Students roll the dice and create a 4-digit number. For example, 6, 2, 8, 3 could be recorded as 6238, 3682, 2863, 3826, 3628 and so on. Players record their chosen number in the most appropriate position between 1000 and 10 000.</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If numbers cannot be placed, students miss their turn. Play continues until all boxes are filled.</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the game can also be played as a whole class. It is recommended to use dice that have a zero. It is important that students understand the role of zero in changing the value of the 4-digit numbers created. Using a reusable sleeve for the gameboard and non-permanent markers will allow students to play multiple games.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1">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84323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A</a:t>
            </a: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t>
            </a:r>
            <a:r>
              <a:rPr lang="en-AU" sz="1600" b="0" kern="1200">
                <a:solidFill>
                  <a:schemeClr val="tx1"/>
                </a:solidFill>
                <a:effectLst/>
                <a:latin typeface="Arial" panose="020B0604020202020204" pitchFamily="34" charset="0"/>
                <a:ea typeface="+mn-ea"/>
                <a:cs typeface="Arial" panose="020B0604020202020204" pitchFamily="34" charset="0"/>
              </a:rPr>
              <a:t>(</a:t>
            </a:r>
            <a:r>
              <a:rPr lang="en-AU" sz="1600" b="1" kern="1200">
                <a:solidFill>
                  <a:schemeClr val="tx1"/>
                </a:solidFill>
                <a:effectLst/>
                <a:latin typeface="Arial" panose="020B0604020202020204" pitchFamily="34" charset="0"/>
                <a:ea typeface="+mn-ea"/>
                <a:cs typeface="Arial" panose="020B0604020202020204" pitchFamily="34" charset="0"/>
              </a:rPr>
              <a:t>Note: </a:t>
            </a:r>
            <a:r>
              <a:rPr lang="en-AU" sz="1600" b="0" kern="1200">
                <a:solidFill>
                  <a:schemeClr val="tx1"/>
                </a:solidFill>
                <a:effectLst/>
                <a:latin typeface="Arial" panose="020B0604020202020204" pitchFamily="34" charset="0"/>
                <a:ea typeface="+mn-ea"/>
                <a:cs typeface="Arial" panose="020B0604020202020204" pitchFamily="34" charset="0"/>
              </a:rPr>
              <a:t>Stage 1 content reviewed)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4F2E6-13DE-460D-248D-F108974CD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6391A5-BA9B-B1B5-0E21-660EC5919F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A80255-69A9-E6AA-9BFC-2BF4D1310216}"/>
              </a:ext>
            </a:extLst>
          </p:cNvPr>
          <p:cNvSpPr>
            <a:spLocks noGrp="1"/>
          </p:cNvSpPr>
          <p:nvPr>
            <p:ph type="body" idx="1"/>
          </p:nvPr>
        </p:nvSpPr>
        <p:spPr/>
        <p:txBody>
          <a:bodyPr/>
          <a:lstStyle/>
          <a:p>
            <a:r>
              <a:rPr lang="en-AU">
                <a:latin typeface="Arial" panose="020B0604020202020204" pitchFamily="34" charset="0"/>
                <a:cs typeface="Arial" panose="020B0604020202020204" pitchFamily="34" charset="0"/>
              </a:rPr>
              <a:t>This is a developing number sense activity. </a:t>
            </a:r>
          </a:p>
          <a:p>
            <a:endParaRPr lang="en-AU">
              <a:latin typeface="Arial" panose="020B0604020202020204" pitchFamily="34" charset="0"/>
              <a:cs typeface="Arial" panose="020B0604020202020204" pitchFamily="34" charset="0"/>
            </a:endParaRPr>
          </a:p>
          <a:p>
            <a:r>
              <a:rPr lang="en-AU">
                <a:latin typeface="Arial" panose="020B0604020202020204" pitchFamily="34" charset="0"/>
                <a:cs typeface="Arial" panose="020B0604020202020204" pitchFamily="34" charset="0"/>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Syllabus focus area:</a:t>
            </a:r>
          </a:p>
          <a:p>
            <a:r>
              <a:rPr lang="en-AU">
                <a:latin typeface="Arial" panose="020B0604020202020204" pitchFamily="34" charset="0"/>
                <a:cs typeface="Arial" panose="020B0604020202020204" pitchFamily="34" charset="0"/>
              </a:rPr>
              <a:t>Representing numbers using place value A</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Ordering 4-digit numbers 1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work in groups of 4–6.</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each group with four 10-sided dice.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take turns rolling the dice to create a 4-digit number. Students record the number on a sticky note and, one by one, read their number aloud and then place themselves in order from smallest to largest.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When each group has all their members in order, have 2 groups combine. Group members need to adjust their order to ensure they are still in order from smallest to largest.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Continue to combine groups and adjust placements until the whole class is in order.</a:t>
            </a: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Note: this activity can be adapted to use only two or three 10-sided dice.</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1">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A00B9D6C-B4B5-8328-39CB-AA351DA77DB9}"/>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316708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A</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2D shapes </a:t>
            </a:r>
            <a:r>
              <a:rPr lang="en-AU" sz="1600" b="0" kern="1200">
                <a:solidFill>
                  <a:schemeClr val="tx1"/>
                </a:solidFill>
                <a:effectLst/>
                <a:latin typeface="Arial" panose="020B0604020202020204" pitchFamily="34" charset="0"/>
                <a:ea typeface="+mn-ea"/>
                <a:cs typeface="Arial" panose="020B0604020202020204" pitchFamily="34" charset="0"/>
              </a:rPr>
              <a:t>(</a:t>
            </a:r>
            <a:r>
              <a:rPr lang="en-AU" sz="1600" b="1" kern="1200">
                <a:solidFill>
                  <a:schemeClr val="tx1"/>
                </a:solidFill>
                <a:effectLst/>
                <a:latin typeface="Arial" panose="020B0604020202020204" pitchFamily="34" charset="0"/>
                <a:ea typeface="+mn-ea"/>
                <a:cs typeface="Arial" panose="020B0604020202020204" pitchFamily="34" charset="0"/>
              </a:rPr>
              <a:t>Note: </a:t>
            </a:r>
            <a:r>
              <a:rPr lang="en-AU" sz="1600" b="0" kern="1200">
                <a:solidFill>
                  <a:schemeClr val="tx1"/>
                </a:solidFill>
                <a:effectLst/>
                <a:latin typeface="Arial" panose="020B0604020202020204" pitchFamily="34" charset="0"/>
                <a:ea typeface="+mn-ea"/>
                <a:cs typeface="Arial" panose="020B0604020202020204" pitchFamily="34" charset="0"/>
              </a:rPr>
              <a:t>Stage 1 content reviewed)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latin typeface="Arial" panose="020B0604020202020204" pitchFamily="34" charset="0"/>
                <a:cs typeface="Arial" panose="020B0604020202020204" pitchFamily="34" charset="0"/>
              </a:rPr>
              <a:t>This is a developing number sense activity. </a:t>
            </a:r>
          </a:p>
          <a:p>
            <a:endParaRPr lang="en-AU">
              <a:latin typeface="Arial" panose="020B0604020202020204" pitchFamily="34" charset="0"/>
              <a:cs typeface="Arial" panose="020B0604020202020204" pitchFamily="34" charset="0"/>
            </a:endParaRPr>
          </a:p>
          <a:p>
            <a:r>
              <a:rPr lang="en-AU">
                <a:latin typeface="Arial" panose="020B0604020202020204" pitchFamily="34" charset="0"/>
                <a:cs typeface="Arial" panose="020B0604020202020204" pitchFamily="34" charset="0"/>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Syllabus focus area:</a:t>
            </a:r>
          </a:p>
          <a:p>
            <a:r>
              <a:rPr lang="en-AU">
                <a:latin typeface="Arial" panose="020B0604020202020204" pitchFamily="34" charset="0"/>
                <a:cs typeface="Arial" panose="020B0604020202020204" pitchFamily="34" charset="0"/>
              </a:rPr>
              <a:t>Representing numbers using place value A</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Number before and after</a:t>
            </a: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students with a 10-sided die. Students roll the die 4 times to create a 4-digit number and record their number in the middle of their individual whiteboard. </a:t>
            </a: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using a 10-sided dice with 0–9 will allow students to use and understand the role of the internal zero.</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identify and record the number before and the number after their 4-digit number.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Select students to share their working and justify how they </a:t>
            </a:r>
            <a:r>
              <a:rPr lang="en-AU" sz="1600" kern="1200">
                <a:solidFill>
                  <a:schemeClr val="tx1"/>
                </a:solidFill>
                <a:effectLst/>
                <a:latin typeface="Public Sans" pitchFamily="2" charset="0"/>
                <a:ea typeface="+mn-ea"/>
                <a:cs typeface="+mn-cs"/>
              </a:rPr>
              <a:t>know the number is more or less than their number.</a:t>
            </a:r>
          </a:p>
          <a:p>
            <a:pPr marL="342900" lvl="0" indent="-342900">
              <a:buFont typeface="+mj-lt"/>
              <a:buAutoNum type="arabicPeriod"/>
            </a:pPr>
            <a:r>
              <a:rPr lang="en-AU" sz="1600" kern="1200">
                <a:solidFill>
                  <a:schemeClr val="tx1"/>
                </a:solidFill>
                <a:effectLst/>
                <a:latin typeface="Public Sans" pitchFamily="2" charset="0"/>
                <a:ea typeface="+mn-ea"/>
                <a:cs typeface="+mn-cs"/>
              </a:rPr>
              <a:t>Students repeat the above steps with other 4-digit numbers.</a:t>
            </a:r>
          </a:p>
          <a:p>
            <a:endParaRPr lang="en-AU"/>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7841886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A</a:t>
            </a: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special structure B: Area </a:t>
            </a:r>
            <a:r>
              <a:rPr lang="en-AU" sz="1600" b="0" kern="1200">
                <a:solidFill>
                  <a:schemeClr val="tx1"/>
                </a:solidFill>
                <a:effectLst/>
                <a:latin typeface="Arial" panose="020B0604020202020204" pitchFamily="34" charset="0"/>
                <a:ea typeface="+mn-ea"/>
                <a:cs typeface="Arial" panose="020B0604020202020204" pitchFamily="34" charset="0"/>
              </a:rPr>
              <a:t>(</a:t>
            </a:r>
            <a:r>
              <a:rPr lang="en-AU" sz="1600" b="1" kern="1200">
                <a:solidFill>
                  <a:schemeClr val="tx1"/>
                </a:solidFill>
                <a:effectLst/>
                <a:latin typeface="Arial" panose="020B0604020202020204" pitchFamily="34" charset="0"/>
                <a:ea typeface="+mn-ea"/>
                <a:cs typeface="Arial" panose="020B0604020202020204" pitchFamily="34" charset="0"/>
              </a:rPr>
              <a:t>Note: </a:t>
            </a:r>
            <a:r>
              <a:rPr lang="en-AU" sz="1600" b="0" kern="1200">
                <a:solidFill>
                  <a:schemeClr val="tx1"/>
                </a:solidFill>
                <a:effectLst/>
                <a:latin typeface="Arial" panose="020B0604020202020204" pitchFamily="34" charset="0"/>
                <a:ea typeface="+mn-ea"/>
                <a:cs typeface="Arial" panose="020B0604020202020204" pitchFamily="34" charset="0"/>
              </a:rPr>
              <a:t>Stage 1 content reviewed)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D9C39-E69E-68B7-AA9A-861A3A0B0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03EF3-8F40-A16C-ABCA-043F4826ED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37F0B7-37FB-69CB-ECB8-E8198E3939FD}"/>
              </a:ext>
            </a:extLst>
          </p:cNvPr>
          <p:cNvSpPr>
            <a:spLocks noGrp="1"/>
          </p:cNvSpPr>
          <p:nvPr>
            <p:ph type="body" idx="1"/>
          </p:nvPr>
        </p:nvSpPr>
        <p:spPr/>
        <p:txBody>
          <a:bodyPr/>
          <a:lstStyle/>
          <a:p>
            <a:r>
              <a:rPr lang="en-AU">
                <a:latin typeface="Arial" panose="020B0604020202020204" pitchFamily="34" charset="0"/>
                <a:cs typeface="Arial" panose="020B0604020202020204" pitchFamily="34" charset="0"/>
              </a:rPr>
              <a:t>This is a developing number sense activity. </a:t>
            </a:r>
          </a:p>
          <a:p>
            <a:endParaRPr lang="en-AU">
              <a:latin typeface="Arial" panose="020B0604020202020204" pitchFamily="34" charset="0"/>
              <a:cs typeface="Arial" panose="020B0604020202020204" pitchFamily="34" charset="0"/>
            </a:endParaRPr>
          </a:p>
          <a:p>
            <a:r>
              <a:rPr lang="en-AU">
                <a:latin typeface="Arial" panose="020B0604020202020204" pitchFamily="34" charset="0"/>
                <a:cs typeface="Arial" panose="020B0604020202020204" pitchFamily="34" charset="0"/>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Syllabus focus area:</a:t>
            </a:r>
          </a:p>
          <a:p>
            <a:r>
              <a:rPr lang="en-AU">
                <a:latin typeface="Arial" panose="020B0604020202020204" pitchFamily="34" charset="0"/>
                <a:cs typeface="Arial" panose="020B0604020202020204" pitchFamily="34" charset="0"/>
              </a:rPr>
              <a:t>Representing numbers using place value A</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Ordering 4-digit numbers 2</a:t>
            </a:r>
          </a:p>
          <a:p>
            <a:r>
              <a:rPr lang="en-AU">
                <a:solidFill>
                  <a:srgbClr val="333333"/>
                </a:solidFill>
                <a:latin typeface="Arial" panose="020B0604020202020204" pitchFamily="34" charset="0"/>
                <a:cs typeface="Arial" panose="020B0604020202020204" pitchFamily="34" charset="0"/>
              </a:rPr>
              <a:t>This activity is an adaptation of ‘From here to there’ from Dice Dazzlers by Swan.</a:t>
            </a:r>
            <a:endParaRPr lang="en-AU" b="0">
              <a:solidFill>
                <a:srgbClr val="333333"/>
              </a:solidFill>
              <a:latin typeface="Arial" panose="020B0604020202020204" pitchFamily="34" charset="0"/>
              <a:cs typeface="Arial" panose="020B0604020202020204" pitchFamily="34" charset="0"/>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Group students into pairs and provide each pair with an individual whiteboard and four 10-sided dice. </a:t>
            </a: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different dice can be used for this activity. If so, guide the students to understand the starting and finishing numbers. For example, if students use four 6-sided dice, the maximum finishing number will be 6666 and the starting number has to be above 1111.</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One student draws a gameboard on their whiteboard with at least 12 squares. Together they set the starting and finishing numbers and write them on the gameboard.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The first player rolls the dice to form a number. The player must decide where to place the number on the gameboard so that the sequence of numbers remains in order. The next player rolls the dice and places their number on the same gameboard. If a number cannot be placed, the player misses their turn.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The winner is the person who completes the sequence of numbers from the starting to the finishing number. </a:t>
            </a: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the game can also be played as a whole class. It is recommended to use dice that have a zero. It is important that students understand the role of zero in changing the value of the 4-digit numbers created. Using a reusable sleeve for the gameboard and non-permanent markers will allow students to play multiple games.</a:t>
            </a:r>
          </a:p>
          <a:p>
            <a:pPr marL="342900" lvl="0" indent="-342900">
              <a:lnSpc>
                <a:spcPct val="150000"/>
              </a:lnSpc>
              <a:spcBef>
                <a:spcPts val="1200"/>
              </a:spcBef>
              <a:buFont typeface="+mj-lt"/>
              <a:buAutoNum type="arabicPeriod"/>
            </a:pPr>
            <a:endParaRPr lang="en-AU" sz="1800">
              <a:effectLst/>
              <a:latin typeface="Arial" panose="020B0604020202020204" pitchFamily="34" charset="0"/>
              <a:ea typeface="Calibri" panose="020F0502020204030204" pitchFamily="34" charset="0"/>
              <a:cs typeface="Arial"/>
            </a:endParaRPr>
          </a:p>
        </p:txBody>
      </p:sp>
      <p:sp>
        <p:nvSpPr>
          <p:cNvPr id="4" name="Slide Number Placeholder 3">
            <a:extLst>
              <a:ext uri="{FF2B5EF4-FFF2-40B4-BE49-F238E27FC236}">
                <a16:creationId xmlns:a16="http://schemas.microsoft.com/office/drawing/2014/main" id="{DEB3AE30-4ED3-05DC-F920-FBB1754B845F}"/>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15442835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34F17-CD8E-8D00-54E2-6FEB75C9B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01F71-E848-F722-C2A1-8D30DD114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533E3-1064-AE44-0F73-0B71A2F1CF0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p>
        </p:txBody>
      </p:sp>
      <p:sp>
        <p:nvSpPr>
          <p:cNvPr id="4" name="Slide Number Placeholder 3">
            <a:extLst>
              <a:ext uri="{FF2B5EF4-FFF2-40B4-BE49-F238E27FC236}">
                <a16:creationId xmlns:a16="http://schemas.microsoft.com/office/drawing/2014/main" id="{D3C98C79-F24D-D293-5D72-3E1A9BA0B197}"/>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33</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3562966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Time </a:t>
            </a:r>
            <a:r>
              <a:rPr lang="en-AU" sz="1600" b="0" kern="1200">
                <a:solidFill>
                  <a:schemeClr val="tx1"/>
                </a:solidFill>
                <a:effectLst/>
                <a:latin typeface="Arial" panose="020B0604020202020204" pitchFamily="34" charset="0"/>
                <a:ea typeface="+mn-ea"/>
                <a:cs typeface="Arial" panose="020B0604020202020204" pitchFamily="34" charset="0"/>
              </a:rPr>
              <a:t>(</a:t>
            </a:r>
            <a:r>
              <a:rPr lang="en-AU" sz="1600" b="1" kern="1200">
                <a:solidFill>
                  <a:schemeClr val="tx1"/>
                </a:solidFill>
                <a:effectLst/>
                <a:latin typeface="Arial" panose="020B0604020202020204" pitchFamily="34" charset="0"/>
                <a:ea typeface="+mn-ea"/>
                <a:cs typeface="Arial" panose="020B0604020202020204" pitchFamily="34" charset="0"/>
              </a:rPr>
              <a:t>Note: </a:t>
            </a:r>
            <a:r>
              <a:rPr lang="en-AU" sz="1600" b="0" kern="1200">
                <a:solidFill>
                  <a:schemeClr val="tx1"/>
                </a:solidFill>
                <a:effectLst/>
                <a:latin typeface="Arial" panose="020B0604020202020204" pitchFamily="34" charset="0"/>
                <a:ea typeface="+mn-ea"/>
                <a:cs typeface="Arial" panose="020B0604020202020204" pitchFamily="34" charset="0"/>
              </a:rPr>
              <a:t>Stage 1 content reviewed)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latin typeface="Arial" panose="020B0604020202020204" pitchFamily="34" charset="0"/>
                <a:cs typeface="Arial" panose="020B0604020202020204" pitchFamily="34" charset="0"/>
              </a:rPr>
              <a:t>This is a developing number sense activity. </a:t>
            </a:r>
          </a:p>
          <a:p>
            <a:endParaRPr lang="en-AU">
              <a:latin typeface="Arial" panose="020B0604020202020204" pitchFamily="34" charset="0"/>
              <a:cs typeface="Arial" panose="020B0604020202020204" pitchFamily="34" charset="0"/>
            </a:endParaRPr>
          </a:p>
          <a:p>
            <a:r>
              <a:rPr lang="en-AU">
                <a:latin typeface="Arial" panose="020B0604020202020204" pitchFamily="34" charset="0"/>
                <a:cs typeface="Arial" panose="020B0604020202020204" pitchFamily="34" charset="0"/>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Syllabus focus area:</a:t>
            </a:r>
          </a:p>
          <a:p>
            <a:r>
              <a:rPr lang="en-AU">
                <a:latin typeface="Arial" panose="020B0604020202020204" pitchFamily="34" charset="0"/>
                <a:cs typeface="Arial" panose="020B0604020202020204" pitchFamily="34" charset="0"/>
              </a:rPr>
              <a:t>Additive relations A</a:t>
            </a:r>
          </a:p>
          <a:p>
            <a:endParaRPr lang="en-AU">
              <a:latin typeface="Arial" panose="020B0604020202020204" pitchFamily="34" charset="0"/>
              <a:cs typeface="Arial" panose="020B0604020202020204" pitchFamily="34" charset="0"/>
            </a:endParaRPr>
          </a:p>
          <a:p>
            <a:pPr marL="0" indent="0">
              <a:buFont typeface="+mj-lt"/>
              <a:buNone/>
            </a:pPr>
            <a:r>
              <a:rPr lang="en-AU" b="1">
                <a:latin typeface="Arial" panose="020B0604020202020204" pitchFamily="34" charset="0"/>
                <a:cs typeface="Arial" panose="020B0604020202020204" pitchFamily="34" charset="0"/>
              </a:rPr>
              <a:t>Number line addition and subtraction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students how they could solve the problem using the number line and have students record their thinking on an individual whiteboard.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Select students to share and justify their ideas, checking solutions on the number line.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38 + 43 = _ (NEXT SLIDE) and have students record and solve the problem on their whiteboard using a number line. Students share and demonstrate their working.</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Repeat multiple times with other 2- and 3-digit addition and subtraction problems.</a:t>
            </a: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this activity can be adapted to 1- or 3-digit numbers.</a:t>
            </a:r>
          </a:p>
          <a:p>
            <a:endParaRPr lang="en-AU"/>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38</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9473117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8701-9F05-CDC9-178A-FAA11105B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D6C9E-132E-AB3E-209B-813741D80B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12C04-9670-E8C7-5D26-B6061F1D2C29}"/>
              </a:ext>
            </a:extLst>
          </p:cNvPr>
          <p:cNvSpPr>
            <a:spLocks noGrp="1"/>
          </p:cNvSpPr>
          <p:nvPr>
            <p:ph type="body" idx="1"/>
          </p:nvPr>
        </p:nvSpPr>
        <p:spPr/>
        <p:txBody>
          <a:bodyPr/>
          <a:lstStyle/>
          <a:p>
            <a:r>
              <a:rPr lang="en-AU">
                <a:latin typeface="Arial" panose="020B0604020202020204" pitchFamily="34" charset="0"/>
                <a:cs typeface="Arial" panose="020B0604020202020204" pitchFamily="34" charset="0"/>
              </a:rPr>
              <a:t>This is a developing number sense activity. </a:t>
            </a:r>
          </a:p>
          <a:p>
            <a:endParaRPr lang="en-AU">
              <a:latin typeface="Arial" panose="020B0604020202020204" pitchFamily="34" charset="0"/>
              <a:cs typeface="Arial" panose="020B0604020202020204" pitchFamily="34" charset="0"/>
            </a:endParaRPr>
          </a:p>
          <a:p>
            <a:r>
              <a:rPr lang="en-AU">
                <a:latin typeface="Arial" panose="020B0604020202020204" pitchFamily="34" charset="0"/>
                <a:cs typeface="Arial" panose="020B0604020202020204" pitchFamily="34" charset="0"/>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Syllabus focus area:</a:t>
            </a:r>
          </a:p>
          <a:p>
            <a:r>
              <a:rPr lang="en-AU">
                <a:latin typeface="Arial" panose="020B0604020202020204" pitchFamily="34" charset="0"/>
                <a:cs typeface="Arial" panose="020B0604020202020204" pitchFamily="34" charset="0"/>
              </a:rPr>
              <a:t>Additive relations A</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Activity title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Have students record and solve the problem on their whiteboard using a number line. Students share and demonstrate their working.</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Repeat multiple times with other 2- and 3-digit addition and subtraction problems.</a:t>
            </a: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this activity can be adapted to 1- or 3-digit numbers.</a:t>
            </a:r>
          </a:p>
          <a:p>
            <a:endParaRPr lang="en-AU"/>
          </a:p>
        </p:txBody>
      </p:sp>
      <p:sp>
        <p:nvSpPr>
          <p:cNvPr id="4" name="Slide Number Placeholder 3">
            <a:extLst>
              <a:ext uri="{FF2B5EF4-FFF2-40B4-BE49-F238E27FC236}">
                <a16:creationId xmlns:a16="http://schemas.microsoft.com/office/drawing/2014/main" id="{8327019C-30CB-0FE6-12C7-59C530F1C3B1}"/>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39</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1162558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Time </a:t>
            </a:r>
            <a:r>
              <a:rPr lang="en-AU" sz="1600" b="0" kern="1200">
                <a:solidFill>
                  <a:schemeClr val="tx1"/>
                </a:solidFill>
                <a:effectLst/>
                <a:latin typeface="Arial" panose="020B0604020202020204" pitchFamily="34" charset="0"/>
                <a:ea typeface="+mn-ea"/>
                <a:cs typeface="Arial" panose="020B0604020202020204" pitchFamily="34" charset="0"/>
              </a:rPr>
              <a:t>(</a:t>
            </a: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b="0" kern="1200">
                <a:solidFill>
                  <a:schemeClr val="tx1"/>
                </a:solidFill>
                <a:effectLst/>
                <a:latin typeface="Arial" panose="020B0604020202020204" pitchFamily="34" charset="0"/>
                <a:ea typeface="+mn-ea"/>
                <a:cs typeface="Arial" panose="020B0604020202020204" pitchFamily="34" charset="0"/>
              </a:rPr>
              <a:t>: Stage 1 content reviewed)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latin typeface="Arial" panose="020B0604020202020204" pitchFamily="34" charset="0"/>
                <a:cs typeface="Arial" panose="020B0604020202020204" pitchFamily="34" charset="0"/>
              </a:rPr>
              <a:t>This is a developing number sense activity. </a:t>
            </a:r>
          </a:p>
          <a:p>
            <a:endParaRPr lang="en-AU">
              <a:latin typeface="Arial" panose="020B0604020202020204" pitchFamily="34" charset="0"/>
              <a:cs typeface="Arial" panose="020B0604020202020204" pitchFamily="34" charset="0"/>
            </a:endParaRPr>
          </a:p>
          <a:p>
            <a:r>
              <a:rPr lang="en-AU">
                <a:latin typeface="Arial" panose="020B0604020202020204" pitchFamily="34" charset="0"/>
                <a:cs typeface="Arial" panose="020B0604020202020204" pitchFamily="34" charset="0"/>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Syllabus focus area:</a:t>
            </a:r>
          </a:p>
          <a:p>
            <a:r>
              <a:rPr lang="en-AU">
                <a:latin typeface="Arial" panose="020B0604020202020204" pitchFamily="34" charset="0"/>
                <a:cs typeface="Arial" panose="020B0604020202020204" pitchFamily="34" charset="0"/>
              </a:rPr>
              <a:t>Additive relations</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Compensation strategy</a:t>
            </a: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Demonstrate how to use the compensation strategy by rolling a 9-sided die 4 times to make two 2-digit numbers.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After each throw of the die, decide whether the number is placed in the ones or tens column.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the goal is to get as close to 100 as possible. Ask what students need to think about before putting a number in a certain column. For example, putting the 9 in the tens place brings the total too close to 100; you will bust over 100 if you don’t roll a one.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Model solving the addition number sentence using the compensation strategy. For example, 28 + 35 is the same as 30 + 35 = 65, subtract 2 to obtain 63.</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Once students are confident, provide them with a 9-sided die and an individual whiteboard.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repeat the activity multiple times with both 2-digit addition and subtraction problems.</a:t>
            </a: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this activity can be adapted to allow students to add a 2-digit and 1-digit numbers.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5822258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48</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4719890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3D objects </a:t>
            </a:r>
            <a:r>
              <a:rPr lang="en-AU" sz="1600" b="0" kern="1200">
                <a:solidFill>
                  <a:schemeClr val="tx1"/>
                </a:solidFill>
                <a:effectLst/>
                <a:latin typeface="Arial" panose="020B0604020202020204" pitchFamily="34" charset="0"/>
                <a:ea typeface="+mn-ea"/>
                <a:cs typeface="Arial" panose="020B0604020202020204" pitchFamily="34" charset="0"/>
              </a:rPr>
              <a:t>(</a:t>
            </a: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b="0" kern="1200">
                <a:solidFill>
                  <a:schemeClr val="tx1"/>
                </a:solidFill>
                <a:effectLst/>
                <a:latin typeface="Arial" panose="020B0604020202020204" pitchFamily="34" charset="0"/>
                <a:ea typeface="+mn-ea"/>
                <a:cs typeface="Arial" panose="020B0604020202020204" pitchFamily="34" charset="0"/>
              </a:rPr>
              <a:t>: Stage 1 content reviewed)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latin typeface="Arial" panose="020B0604020202020204" pitchFamily="34" charset="0"/>
                <a:cs typeface="Arial" panose="020B0604020202020204" pitchFamily="34" charset="0"/>
              </a:rPr>
              <a:t>This is a developing number sense activity. </a:t>
            </a:r>
          </a:p>
          <a:p>
            <a:endParaRPr lang="en-AU">
              <a:latin typeface="Arial" panose="020B0604020202020204" pitchFamily="34" charset="0"/>
              <a:cs typeface="Arial" panose="020B0604020202020204" pitchFamily="34" charset="0"/>
            </a:endParaRPr>
          </a:p>
          <a:p>
            <a:r>
              <a:rPr lang="en-AU">
                <a:latin typeface="Arial" panose="020B0604020202020204" pitchFamily="34" charset="0"/>
                <a:cs typeface="Arial" panose="020B0604020202020204" pitchFamily="34" charset="0"/>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Syllabus focus area:</a:t>
            </a:r>
          </a:p>
          <a:p>
            <a:r>
              <a:rPr lang="en-AU">
                <a:latin typeface="Arial" panose="020B0604020202020204" pitchFamily="34" charset="0"/>
                <a:cs typeface="Arial" panose="020B0604020202020204" pitchFamily="34" charset="0"/>
              </a:rPr>
              <a:t>Additive relations A</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Using the bar model</a:t>
            </a:r>
          </a:p>
          <a:p>
            <a:r>
              <a:rPr lang="en-AU" b="0">
                <a:latin typeface="Arial" panose="020B0604020202020204" pitchFamily="34" charset="0"/>
                <a:cs typeface="Arial" panose="020B0604020202020204" pitchFamily="34" charset="0"/>
              </a:rPr>
              <a:t>This resource corresponds to </a:t>
            </a:r>
            <a:r>
              <a:rPr lang="en-AU" sz="1600" kern="1200">
                <a:solidFill>
                  <a:schemeClr val="tx1"/>
                </a:solidFill>
                <a:effectLst/>
                <a:latin typeface="Arial" panose="020B0604020202020204" pitchFamily="34" charset="0"/>
                <a:ea typeface="+mn-ea"/>
                <a:cs typeface="Arial" panose="020B0604020202020204" pitchFamily="34" charset="0"/>
              </a:rPr>
              <a:t>Resource 23 in Stage 2 Unit 3</a:t>
            </a: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Model the equation represented by the bar model.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Demonstrate how to use the inverse operation 50 − 38 = _ to solve the equation.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the connection between addition and subtraction means subtraction can be used to solve the problem.</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record their solution on an individual whiteboard, sharing and justifying their working. Record the answer 50 − 38 = 12.</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Could you write this subtraction equation in a different way? How many ways can you write it?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the following equations: 37 + _ = 57,  58 = 70 − _, 72 = _ + 15, 94 − _ = 23</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select 2 of the equations, create a bar model to represent the equations and calculate the missing value.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Seek student input to share and justify their answers.</a:t>
            </a:r>
          </a:p>
          <a:p>
            <a:endParaRPr lang="en-AU" sz="1800">
              <a:latin typeface="Arial"/>
              <a:ea typeface="Calibri"/>
              <a:cs typeface="Arial"/>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53</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2855908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2D shapes </a:t>
            </a:r>
            <a:r>
              <a:rPr lang="en-AU" sz="1600" b="0" kern="1200">
                <a:solidFill>
                  <a:schemeClr val="tx1"/>
                </a:solidFill>
                <a:effectLst/>
                <a:latin typeface="Arial" panose="020B0604020202020204" pitchFamily="34" charset="0"/>
                <a:ea typeface="+mn-ea"/>
                <a:cs typeface="Arial" panose="020B0604020202020204" pitchFamily="34" charset="0"/>
              </a:rPr>
              <a:t>(</a:t>
            </a: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b="0" kern="1200">
                <a:solidFill>
                  <a:schemeClr val="tx1"/>
                </a:solidFill>
                <a:effectLst/>
                <a:latin typeface="Arial" panose="020B0604020202020204" pitchFamily="34" charset="0"/>
                <a:ea typeface="+mn-ea"/>
                <a:cs typeface="Arial" panose="020B0604020202020204" pitchFamily="34" charset="0"/>
              </a:rPr>
              <a:t>: Stage 1 content reviewed)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9FC50-8416-D2B5-0B81-61D0FA2473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851099-B8AA-7C95-0031-632F2F210E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A54314-45D0-1B0E-C8EA-BCF5A584DEEF}"/>
              </a:ext>
            </a:extLst>
          </p:cNvPr>
          <p:cNvSpPr>
            <a:spLocks noGrp="1"/>
          </p:cNvSpPr>
          <p:nvPr>
            <p:ph type="body" idx="1"/>
          </p:nvPr>
        </p:nvSpPr>
        <p:spPr/>
        <p:txBody>
          <a:bodyPr/>
          <a:lstStyle/>
          <a:p>
            <a:r>
              <a:rPr lang="en-AU">
                <a:latin typeface="Arial" panose="020B0604020202020204" pitchFamily="34" charset="0"/>
                <a:cs typeface="Arial" panose="020B0604020202020204" pitchFamily="34" charset="0"/>
              </a:rPr>
              <a:t>This is a developing number sense activity. </a:t>
            </a:r>
          </a:p>
          <a:p>
            <a:endParaRPr lang="en-AU">
              <a:latin typeface="Arial" panose="020B0604020202020204" pitchFamily="34" charset="0"/>
              <a:cs typeface="Arial" panose="020B0604020202020204" pitchFamily="34" charset="0"/>
            </a:endParaRPr>
          </a:p>
          <a:p>
            <a:r>
              <a:rPr lang="en-AU">
                <a:latin typeface="Arial" panose="020B0604020202020204" pitchFamily="34" charset="0"/>
                <a:cs typeface="Arial" panose="020B0604020202020204" pitchFamily="34" charset="0"/>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Syllabus focus area:</a:t>
            </a:r>
          </a:p>
          <a:p>
            <a:r>
              <a:rPr lang="en-AU">
                <a:latin typeface="Arial" panose="020B0604020202020204" pitchFamily="34" charset="0"/>
                <a:cs typeface="Arial" panose="020B0604020202020204" pitchFamily="34" charset="0"/>
              </a:rPr>
              <a:t>Additive relations A</a:t>
            </a:r>
          </a:p>
          <a:p>
            <a:endParaRPr lang="en-AU">
              <a:latin typeface="Arial" panose="020B0604020202020204" pitchFamily="34" charset="0"/>
              <a:cs typeface="Arial" panose="020B0604020202020204" pitchFamily="34" charset="0"/>
            </a:endParaRPr>
          </a:p>
          <a:p>
            <a:r>
              <a:rPr lang="en-AU" b="1">
                <a:latin typeface="Arial" panose="020B0604020202020204" pitchFamily="34" charset="0"/>
                <a:cs typeface="Arial" panose="020B0604020202020204" pitchFamily="34" charset="0"/>
              </a:rPr>
              <a:t>Bar model addition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Revise mental strategies to add 2 numbers together, including bridging the decades.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each student with an individual whiteboard and ask them to draw an empty number line and a bar model.</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Working in pairs, students roll 3 dice.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use the numbers rolled to form two 3-digit numbers, for example, 264 and 426.</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The aim is to use mental strategies to calculate the sum of the 2 numbers. Students then represent their solution using a bar model or number line.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the following questions:</a:t>
            </a:r>
          </a:p>
          <a:p>
            <a:pPr marL="285750" lvl="0" indent="-285750">
              <a:buFont typeface="Public Sans" pitchFamily="2"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strategy did you use? Explain why.</a:t>
            </a:r>
          </a:p>
          <a:p>
            <a:pPr marL="285750" lvl="0" indent="-285750">
              <a:buFont typeface="Public Sans" pitchFamily="2" charset="0"/>
              <a:buChar char="−"/>
            </a:pPr>
            <a:r>
              <a:rPr lang="en-AU" sz="1600" kern="1200">
                <a:solidFill>
                  <a:schemeClr val="tx1"/>
                </a:solidFill>
                <a:effectLst/>
                <a:latin typeface="Arial" panose="020B0604020202020204" pitchFamily="34" charset="0"/>
                <a:ea typeface="+mn-ea"/>
                <a:cs typeface="Arial" panose="020B0604020202020204" pitchFamily="34" charset="0"/>
              </a:rPr>
              <a:t>Can you explain your representation to a partner?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roll the dice again and repeat the activity</a:t>
            </a:r>
          </a:p>
        </p:txBody>
      </p:sp>
      <p:sp>
        <p:nvSpPr>
          <p:cNvPr id="4" name="Slide Number Placeholder 3">
            <a:extLst>
              <a:ext uri="{FF2B5EF4-FFF2-40B4-BE49-F238E27FC236}">
                <a16:creationId xmlns:a16="http://schemas.microsoft.com/office/drawing/2014/main" id="{1CDA2104-6DE4-F06A-3B77-273EF0AABCD1}"/>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60</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2977107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3075069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433370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8825494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5528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364711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449238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561909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204905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02049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4876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52538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3055497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6735932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2082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07736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3461236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885138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1104091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638948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63778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99459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867581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05393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009016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757126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theme" Target="../theme/theme2.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theme" Target="../theme/theme3.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1314881335"/>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233402498"/>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4.xml"/><Relationship Id="rId4" Type="http://schemas.openxmlformats.org/officeDocument/2006/relationships/slide" Target="slide11.xml"/><Relationship Id="rId9" Type="http://schemas.openxmlformats.org/officeDocument/2006/relationships/slide" Target="slide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3" Type="http://schemas.openxmlformats.org/officeDocument/2006/relationships/image" Target="../media/image8.png"/><Relationship Id="rId7" Type="http://schemas.openxmlformats.org/officeDocument/2006/relationships/image" Target="../media/image14.svg"/><Relationship Id="rId12" Type="http://schemas.openxmlformats.org/officeDocument/2006/relationships/image" Target="../media/image19.png"/><Relationship Id="rId2" Type="http://schemas.openxmlformats.org/officeDocument/2006/relationships/notesSlide" Target="../notesSlides/notesSlide17.xml"/><Relationship Id="rId16" Type="http://schemas.openxmlformats.org/officeDocument/2006/relationships/image" Target="../media/image23.png"/><Relationship Id="rId1" Type="http://schemas.openxmlformats.org/officeDocument/2006/relationships/slideLayout" Target="../slideLayouts/slideLayout21.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5" Type="http://schemas.openxmlformats.org/officeDocument/2006/relationships/image" Target="../media/image2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 Id="rId1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9.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19.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31.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19.xml"/><Relationship Id="rId5" Type="http://schemas.openxmlformats.org/officeDocument/2006/relationships/image" Target="../media/image33.png"/><Relationship Id="rId4" Type="http://schemas.openxmlformats.org/officeDocument/2006/relationships/image" Target="../media/image32.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30.xml"/><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19.xml"/><Relationship Id="rId4" Type="http://schemas.openxmlformats.org/officeDocument/2006/relationships/image" Target="../media/image37.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8.xml"/><Relationship Id="rId5" Type="http://schemas.openxmlformats.org/officeDocument/2006/relationships/image" Target="../media/image39.png"/><Relationship Id="rId4" Type="http://schemas.openxmlformats.org/officeDocument/2006/relationships/image" Target="../media/image38.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0.xml"/><Relationship Id="rId1" Type="http://schemas.openxmlformats.org/officeDocument/2006/relationships/slideLayout" Target="../slideLayouts/slideLayout21.xml"/><Relationship Id="rId5" Type="http://schemas.openxmlformats.org/officeDocument/2006/relationships/image" Target="../media/image42.png"/><Relationship Id="rId4" Type="http://schemas.openxmlformats.org/officeDocument/2006/relationships/image" Target="../media/image41.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5.xml"/><Relationship Id="rId1" Type="http://schemas.openxmlformats.org/officeDocument/2006/relationships/slideLayout" Target="../slideLayouts/slideLayout11.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slide" Target="slide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www.australiancurriculum.edu.au/resources/national-literacy-and-numeracy-learning-progressions/version-3-of-national-literacy-and-numeracy-learning-progressions/"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education.nsw.gov.au/teaching-and-learning/curriculum/mathematics/mathematics-curriculum-resources-k-12/thinking-mathematically-resources/mathematics-s1-s3-place-value-game"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2 Year A Unit 3.</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3</a:t>
            </a:r>
          </a:p>
        </p:txBody>
      </p:sp>
      <p:pic>
        <p:nvPicPr>
          <p:cNvPr id="5" name="Picture Placeholder 4" descr="A group of dice on an orange surface">
            <a:extLst>
              <a:ext uri="{FF2B5EF4-FFF2-40B4-BE49-F238E27FC236}">
                <a16:creationId xmlns:a16="http://schemas.microsoft.com/office/drawing/2014/main" id="{80978C62-0887-B1BD-5142-01CF7146B8A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1" descr="RoL1">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1 </a:t>
              </a:r>
              <a:endParaRPr lang="en-AU">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2" descr="RoL2">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2 </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3" descr="Rol3">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3 </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4" descr="Rol4">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4 </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Group 5" descr="Rol5">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5 </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Group 6" descr="Rol6">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6 </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7" descr="Rol7">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7 </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8" descr="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0"/>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8 </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7755-CE98-1625-63C2-6E57BB6FA2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C1774B-AA04-FE2E-2D30-B11CDA0F2C2B}"/>
              </a:ext>
            </a:extLst>
          </p:cNvPr>
          <p:cNvSpPr>
            <a:spLocks noGrp="1"/>
          </p:cNvSpPr>
          <p:nvPr>
            <p:ph type="title"/>
          </p:nvPr>
        </p:nvSpPr>
        <p:spPr>
          <a:xfrm>
            <a:off x="360000" y="360000"/>
            <a:ext cx="9901600" cy="545601"/>
          </a:xfrm>
        </p:spPr>
        <p:txBody>
          <a:bodyPr/>
          <a:lstStyle/>
          <a:p>
            <a:r>
              <a:rPr lang="en-US"/>
              <a:t>Multiple choice</a:t>
            </a:r>
            <a:r>
              <a:rPr lang="en-US">
                <a:solidFill>
                  <a:schemeClr val="bg1"/>
                </a:solidFill>
              </a:rPr>
              <a:t> (1)</a:t>
            </a:r>
          </a:p>
        </p:txBody>
      </p:sp>
      <p:pic>
        <p:nvPicPr>
          <p:cNvPr id="4" name="Picture 3" descr="image of a finger selecting an option for a multiple choice or true and false">
            <a:extLst>
              <a:ext uri="{FF2B5EF4-FFF2-40B4-BE49-F238E27FC236}">
                <a16:creationId xmlns:a16="http://schemas.microsoft.com/office/drawing/2014/main" id="{4CB8848C-93F2-E2F9-DB5A-FC58F0111C10}"/>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15" name="Text Placeholder 14">
            <a:extLst>
              <a:ext uri="{FF2B5EF4-FFF2-40B4-BE49-F238E27FC236}">
                <a16:creationId xmlns:a16="http://schemas.microsoft.com/office/drawing/2014/main" id="{AB0D8C4B-A26D-492E-C691-C64EF884A7AF}"/>
              </a:ext>
            </a:extLst>
          </p:cNvPr>
          <p:cNvSpPr>
            <a:spLocks noGrp="1"/>
          </p:cNvSpPr>
          <p:nvPr>
            <p:ph type="body" sz="quarter" idx="28"/>
          </p:nvPr>
        </p:nvSpPr>
        <p:spPr>
          <a:xfrm>
            <a:off x="360000" y="1334453"/>
            <a:ext cx="11243037" cy="754243"/>
          </a:xfrm>
        </p:spPr>
        <p:txBody>
          <a:bodyPr vert="horz" lIns="0" tIns="0" rIns="0" bIns="0" rtlCol="0" anchor="t">
            <a:noAutofit/>
          </a:bodyPr>
          <a:lstStyle/>
          <a:p>
            <a:pPr algn="ctr"/>
            <a:r>
              <a:rPr lang="en-US" sz="4400">
                <a:latin typeface="Arial"/>
                <a:cs typeface="Arial"/>
              </a:rPr>
              <a:t>How is the number 2046 read correctly? </a:t>
            </a:r>
            <a:endParaRPr lang="en-US"/>
          </a:p>
          <a:p>
            <a:pPr algn="ctr"/>
            <a:endParaRPr lang="en-US" sz="4400"/>
          </a:p>
        </p:txBody>
      </p:sp>
      <p:sp>
        <p:nvSpPr>
          <p:cNvPr id="9" name="TextBox 8">
            <a:extLst>
              <a:ext uri="{FF2B5EF4-FFF2-40B4-BE49-F238E27FC236}">
                <a16:creationId xmlns:a16="http://schemas.microsoft.com/office/drawing/2014/main" id="{EF8DF706-D80F-92B1-7253-8E6E8E474570}"/>
              </a:ext>
            </a:extLst>
          </p:cNvPr>
          <p:cNvSpPr txBox="1"/>
          <p:nvPr/>
        </p:nvSpPr>
        <p:spPr>
          <a:xfrm>
            <a:off x="429597" y="326220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249CF990-9203-0FC6-FA8E-0E52BA054215}"/>
              </a:ext>
            </a:extLst>
          </p:cNvPr>
          <p:cNvSpPr>
            <a:spLocks noGrp="1"/>
          </p:cNvSpPr>
          <p:nvPr>
            <p:ph type="body" sz="quarter" idx="31"/>
          </p:nvPr>
        </p:nvSpPr>
        <p:spPr>
          <a:xfrm>
            <a:off x="1104557" y="3255250"/>
            <a:ext cx="10175920" cy="641396"/>
          </a:xfrm>
        </p:spPr>
        <p:txBody>
          <a:bodyPr anchor="ctr"/>
          <a:lstStyle/>
          <a:p>
            <a:r>
              <a:rPr lang="en-AU" sz="4400">
                <a:cs typeface="Arial"/>
              </a:rPr>
              <a:t>Two thousand four hundred and sixty</a:t>
            </a:r>
            <a:endParaRPr lang="en-US" sz="4400"/>
          </a:p>
        </p:txBody>
      </p:sp>
      <p:sp>
        <p:nvSpPr>
          <p:cNvPr id="10" name="TextBox 9">
            <a:extLst>
              <a:ext uri="{FF2B5EF4-FFF2-40B4-BE49-F238E27FC236}">
                <a16:creationId xmlns:a16="http://schemas.microsoft.com/office/drawing/2014/main" id="{E8E3048F-F2CC-3A16-FD64-BA70C679B369}"/>
              </a:ext>
            </a:extLst>
          </p:cNvPr>
          <p:cNvSpPr txBox="1"/>
          <p:nvPr/>
        </p:nvSpPr>
        <p:spPr>
          <a:xfrm>
            <a:off x="429596" y="411011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C6C948D4-2A38-1E27-BC1F-1141CAAF7C2A}"/>
              </a:ext>
            </a:extLst>
          </p:cNvPr>
          <p:cNvSpPr>
            <a:spLocks noGrp="1"/>
          </p:cNvSpPr>
          <p:nvPr>
            <p:ph type="body" sz="quarter" idx="30"/>
          </p:nvPr>
        </p:nvSpPr>
        <p:spPr>
          <a:xfrm>
            <a:off x="1067117" y="4105303"/>
            <a:ext cx="10175920" cy="641396"/>
          </a:xfrm>
        </p:spPr>
        <p:txBody>
          <a:bodyPr anchor="ctr"/>
          <a:lstStyle/>
          <a:p>
            <a:r>
              <a:rPr lang="en-US" sz="4400">
                <a:cs typeface="Arial"/>
              </a:rPr>
              <a:t>Two hundred and forty-six</a:t>
            </a:r>
            <a:endParaRPr lang="en-US" sz="4400"/>
          </a:p>
        </p:txBody>
      </p:sp>
      <p:sp>
        <p:nvSpPr>
          <p:cNvPr id="12" name="TextBox 11">
            <a:extLst>
              <a:ext uri="{FF2B5EF4-FFF2-40B4-BE49-F238E27FC236}">
                <a16:creationId xmlns:a16="http://schemas.microsoft.com/office/drawing/2014/main" id="{653CFB63-79BB-2581-B3F1-80CDC52E39F6}"/>
              </a:ext>
            </a:extLst>
          </p:cNvPr>
          <p:cNvSpPr txBox="1"/>
          <p:nvPr/>
        </p:nvSpPr>
        <p:spPr>
          <a:xfrm>
            <a:off x="429595" y="496017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4DADA01A-C328-7361-07E5-3C59D9534D7B}"/>
              </a:ext>
            </a:extLst>
          </p:cNvPr>
          <p:cNvSpPr>
            <a:spLocks noGrp="1"/>
          </p:cNvSpPr>
          <p:nvPr>
            <p:ph type="body" sz="quarter" idx="29"/>
          </p:nvPr>
        </p:nvSpPr>
        <p:spPr>
          <a:xfrm>
            <a:off x="1104557" y="4918829"/>
            <a:ext cx="10175920" cy="641396"/>
          </a:xfrm>
        </p:spPr>
        <p:txBody>
          <a:bodyPr anchor="ctr"/>
          <a:lstStyle/>
          <a:p>
            <a:r>
              <a:rPr lang="en-US" sz="4400">
                <a:cs typeface="Arial"/>
              </a:rPr>
              <a:t>Two thousand and forty-six</a:t>
            </a:r>
          </a:p>
        </p:txBody>
      </p:sp>
      <p:sp>
        <p:nvSpPr>
          <p:cNvPr id="11" name="TextBox 10">
            <a:extLst>
              <a:ext uri="{FF2B5EF4-FFF2-40B4-BE49-F238E27FC236}">
                <a16:creationId xmlns:a16="http://schemas.microsoft.com/office/drawing/2014/main" id="{A7CF7502-CF88-ED76-425C-93F1166598D5}"/>
              </a:ext>
            </a:extLst>
          </p:cNvPr>
          <p:cNvSpPr txBox="1"/>
          <p:nvPr/>
        </p:nvSpPr>
        <p:spPr>
          <a:xfrm>
            <a:off x="429594" y="58102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7DB50E8A-7E96-50A9-15AA-962C16AA899C}"/>
              </a:ext>
            </a:extLst>
          </p:cNvPr>
          <p:cNvSpPr>
            <a:spLocks noGrp="1"/>
          </p:cNvSpPr>
          <p:nvPr>
            <p:ph type="body" sz="quarter" idx="27"/>
          </p:nvPr>
        </p:nvSpPr>
        <p:spPr>
          <a:xfrm>
            <a:off x="960179" y="5768882"/>
            <a:ext cx="10175920" cy="641396"/>
          </a:xfrm>
        </p:spPr>
        <p:txBody>
          <a:bodyPr anchor="ctr"/>
          <a:lstStyle/>
          <a:p>
            <a:r>
              <a:rPr lang="en-US" sz="4400">
                <a:cs typeface="Arial"/>
              </a:rPr>
              <a:t> Two thousand and sixty-four</a:t>
            </a:r>
          </a:p>
        </p:txBody>
      </p:sp>
      <p:sp>
        <p:nvSpPr>
          <p:cNvPr id="2" name="Slide Number Placeholder 1">
            <a:extLst>
              <a:ext uri="{FF2B5EF4-FFF2-40B4-BE49-F238E27FC236}">
                <a16:creationId xmlns:a16="http://schemas.microsoft.com/office/drawing/2014/main" id="{9B65148B-F5B2-7EDD-CE57-A079E0DD806D}"/>
              </a:ext>
              <a:ext uri="{C183D7F6-B498-43B3-948B-1728B52AA6E4}">
                <adec:decorative xmlns:adec="http://schemas.microsoft.com/office/drawing/2017/decorative" val="1"/>
              </a:ext>
            </a:extLst>
          </p:cNvPr>
          <p:cNvSpPr>
            <a:spLocks noGrp="1"/>
          </p:cNvSpPr>
          <p:nvPr>
            <p:ph type="sldNum" sz="quarter" idx="12"/>
          </p:nvPr>
        </p:nvSpPr>
        <p:spPr>
          <a:xfrm>
            <a:off x="11136099" y="6348620"/>
            <a:ext cx="720000" cy="180000"/>
          </a:xfrm>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2409251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EEFB8D52-4BC3-B8A2-883E-700B8A9E13F6}"/>
              </a:ext>
            </a:extLst>
          </p:cNvPr>
          <p:cNvSpPr txBox="1"/>
          <p:nvPr/>
        </p:nvSpPr>
        <p:spPr>
          <a:xfrm>
            <a:off x="729915" y="1184223"/>
            <a:ext cx="10960769" cy="4186989"/>
          </a:xfrm>
          <a:prstGeom prst="rect">
            <a:avLst/>
          </a:prstGeom>
          <a:noFill/>
        </p:spPr>
        <p:txBody>
          <a:bodyPr wrap="square" lIns="0" tIns="0" rIns="0" bIns="0" rtlCol="0" anchor="t">
            <a:noAutofit/>
          </a:bodyPr>
          <a:lstStyle/>
          <a:p>
            <a:pPr algn="ctr">
              <a:lnSpc>
                <a:spcPct val="150000"/>
              </a:lnSpc>
            </a:pPr>
            <a:endParaRPr lang="en-AU" sz="4400" b="1"/>
          </a:p>
          <a:p>
            <a:pPr algn="ctr">
              <a:lnSpc>
                <a:spcPct val="150000"/>
              </a:lnSpc>
            </a:pPr>
            <a:r>
              <a:rPr lang="en-AU" sz="4400" b="1"/>
              <a:t>Record something </a:t>
            </a:r>
            <a:r>
              <a:rPr lang="en-AU" sz="4400"/>
              <a:t>you would </a:t>
            </a:r>
            <a:r>
              <a:rPr lang="en-AU" sz="4400" b="1"/>
              <a:t>measure</a:t>
            </a:r>
            <a:r>
              <a:rPr lang="en-AU" sz="4400"/>
              <a:t> in:</a:t>
            </a:r>
          </a:p>
          <a:p>
            <a:pPr marL="571500" indent="-571500" algn="ctr">
              <a:lnSpc>
                <a:spcPct val="150000"/>
              </a:lnSpc>
              <a:buFont typeface="Arial" panose="020B0604020202020204" pitchFamily="34" charset="0"/>
              <a:buChar char="•"/>
            </a:pPr>
            <a:r>
              <a:rPr lang="en-AU" sz="4400"/>
              <a:t>centimetres</a:t>
            </a:r>
          </a:p>
          <a:p>
            <a:pPr marL="571500" indent="-571500" algn="ctr">
              <a:lnSpc>
                <a:spcPct val="150000"/>
              </a:lnSpc>
              <a:buFont typeface="Arial" panose="020B0604020202020204" pitchFamily="34" charset="0"/>
              <a:buChar char="•"/>
            </a:pPr>
            <a:r>
              <a:rPr lang="en-AU" sz="4400"/>
              <a:t>metres</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86E5B65-7254-B88F-A2D9-D2BB6DEB9FAC}"/>
              </a:ext>
            </a:extLst>
          </p:cNvPr>
          <p:cNvSpPr txBox="1"/>
          <p:nvPr/>
        </p:nvSpPr>
        <p:spPr>
          <a:xfrm>
            <a:off x="432679" y="948317"/>
            <a:ext cx="11326642" cy="4319337"/>
          </a:xfrm>
          <a:prstGeom prst="rect">
            <a:avLst/>
          </a:prstGeom>
          <a:noFill/>
        </p:spPr>
        <p:txBody>
          <a:bodyPr wrap="square" lIns="0" tIns="0" rIns="0" bIns="0" rtlCol="0" anchor="t">
            <a:noAutofit/>
          </a:bodyPr>
          <a:lstStyle/>
          <a:p>
            <a:pPr algn="ctr"/>
            <a:r>
              <a:rPr lang="en-AU" sz="4400" b="1"/>
              <a:t>Find</a:t>
            </a:r>
            <a:r>
              <a:rPr lang="en-AU" sz="4400"/>
              <a:t> the </a:t>
            </a:r>
            <a:r>
              <a:rPr lang="en-AU" sz="4400" b="1"/>
              <a:t>missing numbers.</a:t>
            </a:r>
          </a:p>
          <a:p>
            <a:pPr marL="571500" lvl="0" indent="-571500">
              <a:lnSpc>
                <a:spcPct val="250000"/>
              </a:lnSpc>
              <a:buFont typeface="Arial" panose="020B0604020202020204" pitchFamily="34" charset="0"/>
              <a:buChar char="•"/>
            </a:pPr>
            <a:r>
              <a:rPr lang="en-AU" sz="4400"/>
              <a:t>13 + 8 = 12 +  </a:t>
            </a:r>
          </a:p>
          <a:p>
            <a:pPr marL="571500" indent="-571500">
              <a:lnSpc>
                <a:spcPct val="250000"/>
              </a:lnSpc>
              <a:buFont typeface="Arial" panose="020B0604020202020204" pitchFamily="34" charset="0"/>
              <a:buChar char="•"/>
            </a:pPr>
            <a:r>
              <a:rPr lang="en-AU" sz="4400"/>
              <a:t>25 − 14 = 15 − </a:t>
            </a:r>
          </a:p>
          <a:p>
            <a:pPr marL="571500" indent="-571500">
              <a:lnSpc>
                <a:spcPct val="250000"/>
              </a:lnSpc>
              <a:buFont typeface="Arial" panose="020B0604020202020204" pitchFamily="34" charset="0"/>
              <a:buChar char="•"/>
            </a:pPr>
            <a:r>
              <a:rPr lang="en-AU" sz="4400"/>
              <a:t>5 + 6 = 10 + </a:t>
            </a:r>
          </a:p>
          <a:p>
            <a:endParaRPr lang="en-AU"/>
          </a:p>
        </p:txBody>
      </p:sp>
      <p:sp>
        <p:nvSpPr>
          <p:cNvPr id="9" name="Rectangle 8">
            <a:extLst>
              <a:ext uri="{FF2B5EF4-FFF2-40B4-BE49-F238E27FC236}">
                <a16:creationId xmlns:a16="http://schemas.microsoft.com/office/drawing/2014/main" id="{7CCD273F-EE75-C532-B79B-97695E8B3D9B}"/>
              </a:ext>
              <a:ext uri="{C183D7F6-B498-43B3-948B-1728B52AA6E4}">
                <adec:decorative xmlns:adec="http://schemas.microsoft.com/office/drawing/2017/decorative" val="1"/>
              </a:ext>
            </a:extLst>
          </p:cNvPr>
          <p:cNvSpPr/>
          <p:nvPr/>
        </p:nvSpPr>
        <p:spPr>
          <a:xfrm>
            <a:off x="4481843" y="2343947"/>
            <a:ext cx="721217" cy="683189"/>
          </a:xfrm>
          <a:prstGeom prst="rect">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1F498C86-DB39-47B6-DD4E-2CEAF15D4A0A}"/>
              </a:ext>
              <a:ext uri="{C183D7F6-B498-43B3-948B-1728B52AA6E4}">
                <adec:decorative xmlns:adec="http://schemas.microsoft.com/office/drawing/2017/decorative" val="1"/>
              </a:ext>
            </a:extLst>
          </p:cNvPr>
          <p:cNvSpPr/>
          <p:nvPr/>
        </p:nvSpPr>
        <p:spPr>
          <a:xfrm>
            <a:off x="4687900" y="3933888"/>
            <a:ext cx="721217" cy="683189"/>
          </a:xfrm>
          <a:prstGeom prst="rect">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ectangle 10">
            <a:extLst>
              <a:ext uri="{FF2B5EF4-FFF2-40B4-BE49-F238E27FC236}">
                <a16:creationId xmlns:a16="http://schemas.microsoft.com/office/drawing/2014/main" id="{B1FA7F8C-85D0-9CAF-937F-A6DADFD9C245}"/>
              </a:ext>
              <a:ext uri="{C183D7F6-B498-43B3-948B-1728B52AA6E4}">
                <adec:decorative xmlns:adec="http://schemas.microsoft.com/office/drawing/2017/decorative" val="1"/>
              </a:ext>
            </a:extLst>
          </p:cNvPr>
          <p:cNvSpPr/>
          <p:nvPr/>
        </p:nvSpPr>
        <p:spPr>
          <a:xfrm>
            <a:off x="4121234" y="5671112"/>
            <a:ext cx="721217" cy="683189"/>
          </a:xfrm>
          <a:prstGeom prst="rect">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4D450BB-F837-52CE-EC94-BD7267AE4DB1}"/>
              </a:ext>
            </a:extLst>
          </p:cNvPr>
          <p:cNvSpPr txBox="1"/>
          <p:nvPr/>
        </p:nvSpPr>
        <p:spPr>
          <a:xfrm>
            <a:off x="354000" y="1320763"/>
            <a:ext cx="11484000" cy="4764505"/>
          </a:xfrm>
          <a:prstGeom prst="rect">
            <a:avLst/>
          </a:prstGeom>
          <a:noFill/>
        </p:spPr>
        <p:txBody>
          <a:bodyPr wrap="square" lIns="0" tIns="0" rIns="0" bIns="0" rtlCol="0" anchor="t">
            <a:noAutofit/>
          </a:bodyPr>
          <a:lstStyle/>
          <a:p>
            <a:pPr algn="ctr">
              <a:lnSpc>
                <a:spcPct val="200000"/>
              </a:lnSpc>
            </a:pPr>
            <a:r>
              <a:rPr lang="en-AU" sz="4400" b="1"/>
              <a:t>Rename </a:t>
            </a:r>
          </a:p>
          <a:p>
            <a:pPr algn="ctr">
              <a:lnSpc>
                <a:spcPct val="200000"/>
              </a:lnSpc>
            </a:pPr>
            <a:r>
              <a:rPr lang="en-AU" sz="4400"/>
              <a:t>4 groups of 100, 3 groups of 10 </a:t>
            </a:r>
            <a:endParaRPr lang="en-US"/>
          </a:p>
          <a:p>
            <a:pPr algn="ctr">
              <a:lnSpc>
                <a:spcPct val="200000"/>
              </a:lnSpc>
            </a:pPr>
            <a:r>
              <a:rPr lang="en-AU" sz="4400"/>
              <a:t>and 6 ones.</a:t>
            </a:r>
            <a:endParaRPr lang="en-US">
              <a:cs typeface="Arial"/>
            </a:endParaRP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FD6EF8B8-6667-2BBF-8723-CFDA3FC864DA}"/>
              </a:ext>
            </a:extLst>
          </p:cNvPr>
          <p:cNvSpPr txBox="1"/>
          <p:nvPr/>
        </p:nvSpPr>
        <p:spPr>
          <a:xfrm>
            <a:off x="441158" y="2574758"/>
            <a:ext cx="11309684" cy="4559968"/>
          </a:xfrm>
          <a:prstGeom prst="rect">
            <a:avLst/>
          </a:prstGeom>
          <a:noFill/>
        </p:spPr>
        <p:txBody>
          <a:bodyPr wrap="square" lIns="0" tIns="0" rIns="0" bIns="0" rtlCol="0" anchor="t">
            <a:noAutofit/>
          </a:bodyPr>
          <a:lstStyle/>
          <a:p>
            <a:pPr algn="ctr">
              <a:lnSpc>
                <a:spcPct val="150000"/>
              </a:lnSpc>
            </a:pPr>
            <a:r>
              <a:rPr lang="en-AU" sz="4400" b="1"/>
              <a:t>Sketch</a:t>
            </a:r>
            <a:r>
              <a:rPr lang="en-AU" sz="4400"/>
              <a:t> a </a:t>
            </a:r>
            <a:r>
              <a:rPr lang="en-AU" sz="4400" b="1"/>
              <a:t>simple map</a:t>
            </a:r>
            <a:r>
              <a:rPr lang="en-AU" sz="4400"/>
              <a:t> to go from your </a:t>
            </a:r>
            <a:r>
              <a:rPr lang="en-AU" sz="4400" b="1"/>
              <a:t>classroom</a:t>
            </a:r>
            <a:r>
              <a:rPr lang="en-AU" sz="4400"/>
              <a:t> to the </a:t>
            </a:r>
            <a:r>
              <a:rPr lang="en-AU" sz="4400" b="1"/>
              <a:t>office.</a:t>
            </a:r>
            <a:endParaRPr lang="en-US"/>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E72EB4-FE41-E20F-CE83-7E946BD44A61}"/>
              </a:ext>
            </a:extLst>
          </p:cNvPr>
          <p:cNvSpPr>
            <a:spLocks noGrp="1"/>
          </p:cNvSpPr>
          <p:nvPr>
            <p:ph type="title"/>
          </p:nvPr>
        </p:nvSpPr>
        <p:spPr/>
        <p:txBody>
          <a:bodyPr/>
          <a:lstStyle/>
          <a:p>
            <a:r>
              <a:rPr lang="en-AU">
                <a:latin typeface="Arial"/>
                <a:cs typeface="Arial"/>
              </a:rPr>
              <a:t>Activity 1 – 4-digit place value</a:t>
            </a:r>
            <a:br>
              <a:rPr lang="en-AU">
                <a:latin typeface="Arial"/>
                <a:cs typeface="Arial"/>
              </a:rPr>
            </a:br>
            <a:endParaRPr lang="en-AU">
              <a:latin typeface="Arial"/>
              <a:cs typeface="Arial"/>
            </a:endParaRPr>
          </a:p>
        </p:txBody>
      </p:sp>
      <p:pic>
        <p:nvPicPr>
          <p:cNvPr id="6" name="Picture 5" descr="image of a head with cogs turning inside">
            <a:extLst>
              <a:ext uri="{FF2B5EF4-FFF2-40B4-BE49-F238E27FC236}">
                <a16:creationId xmlns:a16="http://schemas.microsoft.com/office/drawing/2014/main" id="{2FE8F468-DE34-0F0A-F577-06978AD0DB1A}"/>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Gameboard with 18 blank squares from 1000 to 10 000.">
            <a:extLst>
              <a:ext uri="{FF2B5EF4-FFF2-40B4-BE49-F238E27FC236}">
                <a16:creationId xmlns:a16="http://schemas.microsoft.com/office/drawing/2014/main" id="{1659F067-92D5-5024-B13B-F0B6E9C0B501}"/>
              </a:ext>
            </a:extLst>
          </p:cNvPr>
          <p:cNvPicPr>
            <a:picLocks noChangeAspect="1"/>
          </p:cNvPicPr>
          <p:nvPr/>
        </p:nvPicPr>
        <p:blipFill>
          <a:blip r:embed="rId4"/>
          <a:stretch>
            <a:fillRect/>
          </a:stretch>
        </p:blipFill>
        <p:spPr>
          <a:xfrm>
            <a:off x="2090825" y="1064769"/>
            <a:ext cx="8010350" cy="5451231"/>
          </a:xfrm>
          <a:prstGeom prst="rect">
            <a:avLst/>
          </a:prstGeom>
        </p:spPr>
      </p:pic>
      <p:sp>
        <p:nvSpPr>
          <p:cNvPr id="2" name="Slide Number Placeholder 1">
            <a:extLst>
              <a:ext uri="{FF2B5EF4-FFF2-40B4-BE49-F238E27FC236}">
                <a16:creationId xmlns:a16="http://schemas.microsoft.com/office/drawing/2014/main" id="{F629FAED-B69A-66E7-7501-DFF54541359B}"/>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Tree>
    <p:extLst>
      <p:ext uri="{BB962C8B-B14F-4D97-AF65-F5344CB8AC3E}">
        <p14:creationId xmlns:p14="http://schemas.microsoft.com/office/powerpoint/2010/main" val="904910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0" y="1222298"/>
            <a:ext cx="11243037" cy="893226"/>
          </a:xfrm>
        </p:spPr>
        <p:txBody>
          <a:bodyPr/>
          <a:lstStyle/>
          <a:p>
            <a:pPr algn="ctr"/>
            <a:r>
              <a:rPr lang="en-AU" sz="4400"/>
              <a:t>These </a:t>
            </a:r>
            <a:r>
              <a:rPr lang="en-AU" sz="4400" b="1"/>
              <a:t>numbers</a:t>
            </a:r>
            <a:r>
              <a:rPr lang="en-AU" sz="4400"/>
              <a:t> are in </a:t>
            </a:r>
            <a:r>
              <a:rPr lang="en-AU" sz="4400" b="1"/>
              <a:t>ascending order.</a:t>
            </a:r>
          </a:p>
          <a:p>
            <a:pPr algn="ctr"/>
            <a:r>
              <a:rPr lang="en-AU" sz="4400"/>
              <a:t>1013</a:t>
            </a:r>
          </a:p>
          <a:p>
            <a:pPr algn="ctr"/>
            <a:r>
              <a:rPr lang="en-AU" sz="4400"/>
              <a:t>1021</a:t>
            </a:r>
          </a:p>
          <a:p>
            <a:pPr algn="ctr"/>
            <a:r>
              <a:rPr lang="en-AU" sz="4400"/>
              <a:t>1012</a:t>
            </a:r>
          </a:p>
          <a:p>
            <a:pPr algn="ctr"/>
            <a:endParaRPr lang="en-AU" sz="4400"/>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3046986772"/>
              </p:ext>
            </p:extLst>
          </p:nvPr>
        </p:nvGraphicFramePr>
        <p:xfrm>
          <a:off x="2442980" y="563570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FCFD6C2-4500-846D-80E1-8CF9EEA1C9F8}"/>
              </a:ext>
            </a:extLst>
          </p:cNvPr>
          <p:cNvSpPr txBox="1"/>
          <p:nvPr/>
        </p:nvSpPr>
        <p:spPr>
          <a:xfrm>
            <a:off x="927691" y="1036230"/>
            <a:ext cx="10102785" cy="4402851"/>
          </a:xfrm>
          <a:prstGeom prst="rect">
            <a:avLst/>
          </a:prstGeom>
          <a:noFill/>
        </p:spPr>
        <p:txBody>
          <a:bodyPr wrap="square" lIns="0" tIns="0" rIns="0" bIns="0" rtlCol="0" anchor="t">
            <a:noAutofit/>
          </a:bodyPr>
          <a:lstStyle/>
          <a:p>
            <a:pPr algn="ctr"/>
            <a:r>
              <a:rPr lang="en-AU" sz="4400" b="1"/>
              <a:t>Record</a:t>
            </a:r>
            <a:r>
              <a:rPr lang="en-AU" sz="4400"/>
              <a:t> the lengths of the box and the table using the abbreviations </a:t>
            </a:r>
            <a:r>
              <a:rPr lang="en-AU" sz="4400" b="1"/>
              <a:t>m</a:t>
            </a:r>
            <a:r>
              <a:rPr lang="en-AU" sz="4400"/>
              <a:t> and </a:t>
            </a:r>
            <a:r>
              <a:rPr lang="en-AU" sz="4400" b="1"/>
              <a:t>cm. </a:t>
            </a:r>
            <a:endParaRPr lang="en-AU" sz="4400" b="1">
              <a:cs typeface="Arial"/>
            </a:endParaRPr>
          </a:p>
          <a:p>
            <a:pPr algn="ctr"/>
            <a:endParaRPr lang="en-AU" sz="1800"/>
          </a:p>
          <a:p>
            <a:pPr algn="ctr">
              <a:lnSpc>
                <a:spcPct val="150000"/>
              </a:lnSpc>
            </a:pPr>
            <a:endParaRPr lang="en-AU" sz="4400"/>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7" name="Picture 6">
            <a:extLst>
              <a:ext uri="{FF2B5EF4-FFF2-40B4-BE49-F238E27FC236}">
                <a16:creationId xmlns:a16="http://schemas.microsoft.com/office/drawing/2014/main" id="{A75326A0-D6C5-B903-4205-CB878B37E9D8}"/>
              </a:ext>
            </a:extLst>
          </p:cNvPr>
          <p:cNvPicPr>
            <a:picLocks noChangeAspect="1"/>
          </p:cNvPicPr>
          <p:nvPr/>
        </p:nvPicPr>
        <p:blipFill>
          <a:blip r:embed="rId4"/>
          <a:stretch>
            <a:fillRect/>
          </a:stretch>
        </p:blipFill>
        <p:spPr>
          <a:xfrm>
            <a:off x="912366" y="2683125"/>
            <a:ext cx="10367268" cy="3706372"/>
          </a:xfrm>
          <a:prstGeom prst="rect">
            <a:avLst/>
          </a:prstGeom>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1749C12-53F3-41FA-9CC4-413B74FBE30C}"/>
              </a:ext>
            </a:extLst>
          </p:cNvPr>
          <p:cNvSpPr txBox="1"/>
          <p:nvPr/>
        </p:nvSpPr>
        <p:spPr>
          <a:xfrm>
            <a:off x="469232" y="1576137"/>
            <a:ext cx="11201400" cy="3705726"/>
          </a:xfrm>
          <a:prstGeom prst="rect">
            <a:avLst/>
          </a:prstGeom>
          <a:noFill/>
        </p:spPr>
        <p:txBody>
          <a:bodyPr wrap="square" lIns="0" tIns="0" rIns="0" bIns="0" rtlCol="0">
            <a:noAutofit/>
          </a:bodyPr>
          <a:lstStyle/>
          <a:p>
            <a:pPr algn="ctr"/>
            <a:r>
              <a:rPr lang="en-AU" sz="4400" b="1"/>
              <a:t>Complete</a:t>
            </a:r>
            <a:r>
              <a:rPr lang="en-AU" sz="4400"/>
              <a:t> the </a:t>
            </a:r>
            <a:r>
              <a:rPr lang="en-AU" sz="4400" b="1"/>
              <a:t>number sentences.</a:t>
            </a:r>
          </a:p>
          <a:p>
            <a:pPr algn="ctr"/>
            <a:r>
              <a:rPr lang="en-AU" sz="4400"/>
              <a:t> </a:t>
            </a:r>
          </a:p>
          <a:p>
            <a:pPr algn="ctr"/>
            <a:r>
              <a:rPr lang="en-AU" sz="5400"/>
              <a:t>18 = 10 +</a:t>
            </a:r>
          </a:p>
          <a:p>
            <a:pPr algn="ctr"/>
            <a:endParaRPr lang="en-AU" sz="5400"/>
          </a:p>
          <a:p>
            <a:pPr algn="ctr"/>
            <a:r>
              <a:rPr lang="en-AU" sz="5400"/>
              <a:t>25 + 5 =        + 15</a:t>
            </a:r>
          </a:p>
        </p:txBody>
      </p:sp>
      <p:sp>
        <p:nvSpPr>
          <p:cNvPr id="5" name="Rectangle 4">
            <a:extLst>
              <a:ext uri="{FF2B5EF4-FFF2-40B4-BE49-F238E27FC236}">
                <a16:creationId xmlns:a16="http://schemas.microsoft.com/office/drawing/2014/main" id="{B289BCAC-D64C-6026-B107-FA7ED278D0EF}"/>
              </a:ext>
              <a:ext uri="{C183D7F6-B498-43B3-948B-1728B52AA6E4}">
                <adec:decorative xmlns:adec="http://schemas.microsoft.com/office/drawing/2017/decorative" val="1"/>
              </a:ext>
            </a:extLst>
          </p:cNvPr>
          <p:cNvSpPr/>
          <p:nvPr/>
        </p:nvSpPr>
        <p:spPr>
          <a:xfrm>
            <a:off x="7646859" y="2999327"/>
            <a:ext cx="806116" cy="637673"/>
          </a:xfrm>
          <a:prstGeom prst="rect">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0D305307-7D04-C672-C707-FDBEB46D6339}"/>
              </a:ext>
              <a:ext uri="{C183D7F6-B498-43B3-948B-1728B52AA6E4}">
                <adec:decorative xmlns:adec="http://schemas.microsoft.com/office/drawing/2017/decorative" val="1"/>
              </a:ext>
            </a:extLst>
          </p:cNvPr>
          <p:cNvSpPr/>
          <p:nvPr/>
        </p:nvSpPr>
        <p:spPr>
          <a:xfrm>
            <a:off x="6263896" y="4644190"/>
            <a:ext cx="806116" cy="637673"/>
          </a:xfrm>
          <a:prstGeom prst="rect">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B6CA2BD-61D7-B27A-32F3-335636FB7F9C}"/>
              </a:ext>
            </a:extLst>
          </p:cNvPr>
          <p:cNvSpPr txBox="1"/>
          <p:nvPr/>
        </p:nvSpPr>
        <p:spPr>
          <a:xfrm>
            <a:off x="481263" y="1359568"/>
            <a:ext cx="11225463" cy="4877810"/>
          </a:xfrm>
          <a:prstGeom prst="rect">
            <a:avLst/>
          </a:prstGeom>
          <a:noFill/>
        </p:spPr>
        <p:txBody>
          <a:bodyPr wrap="square" lIns="0" tIns="0" rIns="0" bIns="0" rtlCol="0">
            <a:noAutofit/>
          </a:bodyPr>
          <a:lstStyle/>
          <a:p>
            <a:pPr algn="ctr"/>
            <a:r>
              <a:rPr lang="en-AU" sz="4400" b="1"/>
              <a:t>Record</a:t>
            </a:r>
            <a:r>
              <a:rPr lang="en-AU" sz="4400"/>
              <a:t> the </a:t>
            </a:r>
            <a:r>
              <a:rPr lang="en-AU" sz="4400" b="1"/>
              <a:t>numbers</a:t>
            </a:r>
            <a:r>
              <a:rPr lang="en-AU" sz="4400"/>
              <a:t> that are </a:t>
            </a:r>
            <a:r>
              <a:rPr lang="en-AU" sz="4400" b="1"/>
              <a:t>before</a:t>
            </a:r>
            <a:r>
              <a:rPr lang="en-AU" sz="4400"/>
              <a:t> and </a:t>
            </a:r>
            <a:r>
              <a:rPr lang="en-AU" sz="4400" b="1"/>
              <a:t>after.</a:t>
            </a:r>
          </a:p>
          <a:p>
            <a:pPr algn="ctr"/>
            <a:endParaRPr lang="en-AU" sz="4400"/>
          </a:p>
          <a:p>
            <a:pPr algn="ctr"/>
            <a:r>
              <a:rPr lang="en-AU" sz="4400"/>
              <a:t>___, 109, ___</a:t>
            </a:r>
          </a:p>
          <a:p>
            <a:pPr algn="ctr"/>
            <a:endParaRPr lang="en-AU" sz="4400"/>
          </a:p>
          <a:p>
            <a:pPr algn="ctr"/>
            <a:r>
              <a:rPr lang="en-AU" sz="4400"/>
              <a:t>___, 119, ___</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6069A6A-257B-9184-E910-D22C9D1EB764}"/>
              </a:ext>
            </a:extLst>
          </p:cNvPr>
          <p:cNvSpPr txBox="1"/>
          <p:nvPr/>
        </p:nvSpPr>
        <p:spPr>
          <a:xfrm>
            <a:off x="409074" y="1179095"/>
            <a:ext cx="11225463" cy="4499810"/>
          </a:xfrm>
          <a:prstGeom prst="rect">
            <a:avLst/>
          </a:prstGeom>
          <a:noFill/>
        </p:spPr>
        <p:txBody>
          <a:bodyPr wrap="square" lIns="0" tIns="0" rIns="0" bIns="0" rtlCol="0">
            <a:noAutofit/>
          </a:bodyPr>
          <a:lstStyle/>
          <a:p>
            <a:pPr algn="ctr">
              <a:lnSpc>
                <a:spcPct val="200000"/>
              </a:lnSpc>
            </a:pPr>
            <a:r>
              <a:rPr lang="en-AU" sz="4400"/>
              <a:t>Which is </a:t>
            </a:r>
            <a:r>
              <a:rPr lang="en-AU" sz="4400" b="1"/>
              <a:t>longer,</a:t>
            </a:r>
          </a:p>
          <a:p>
            <a:pPr algn="ctr">
              <a:lnSpc>
                <a:spcPct val="200000"/>
              </a:lnSpc>
            </a:pPr>
            <a:r>
              <a:rPr lang="en-AU" sz="4400"/>
              <a:t>168 cm </a:t>
            </a:r>
            <a:r>
              <a:rPr lang="en-AU" sz="4400" b="1"/>
              <a:t>or</a:t>
            </a:r>
            <a:r>
              <a:rPr lang="en-AU" sz="4400"/>
              <a:t> 1 metre and 40 cm?</a:t>
            </a:r>
          </a:p>
          <a:p>
            <a:pPr algn="ctr">
              <a:lnSpc>
                <a:spcPct val="200000"/>
              </a:lnSpc>
            </a:pPr>
            <a:r>
              <a:rPr lang="en-AU" sz="4400" b="1"/>
              <a:t>Communicate </a:t>
            </a:r>
            <a:r>
              <a:rPr lang="en-AU" sz="4400"/>
              <a:t>your</a:t>
            </a:r>
            <a:r>
              <a:rPr lang="en-AU" sz="4400" b="1"/>
              <a:t> reasoning.</a:t>
            </a:r>
          </a:p>
          <a:p>
            <a:pPr algn="ctr">
              <a:lnSpc>
                <a:spcPct val="150000"/>
              </a:lnSpc>
            </a:pPr>
            <a:endParaRPr lang="en-AU" sz="4400" b="1"/>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72FFF-F356-6A66-9E96-2B7908F285B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3A99F31-8277-4680-29C6-AD74B89208E2}"/>
              </a:ext>
            </a:extLst>
          </p:cNvPr>
          <p:cNvSpPr>
            <a:spLocks noGrp="1"/>
          </p:cNvSpPr>
          <p:nvPr>
            <p:ph type="title"/>
          </p:nvPr>
        </p:nvSpPr>
        <p:spPr/>
        <p:txBody>
          <a:bodyPr/>
          <a:lstStyle/>
          <a:p>
            <a:r>
              <a:rPr lang="en-AU">
                <a:latin typeface="Arial"/>
                <a:cs typeface="Arial"/>
              </a:rPr>
              <a:t>Activity 2 – ordering 4-digit numbers 1 </a:t>
            </a:r>
          </a:p>
        </p:txBody>
      </p:sp>
      <p:pic>
        <p:nvPicPr>
          <p:cNvPr id="6" name="Picture 5" descr="image of a head with cogs turning inside">
            <a:extLst>
              <a:ext uri="{FF2B5EF4-FFF2-40B4-BE49-F238E27FC236}">
                <a16:creationId xmlns:a16="http://schemas.microsoft.com/office/drawing/2014/main" id="{6C4606A4-FD6B-119E-AD06-2A8406C7D8C8}"/>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FFAB0507-AB34-A148-7E57-8F1AC43063AE}"/>
              </a:ext>
            </a:extLst>
          </p:cNvPr>
          <p:cNvSpPr txBox="1"/>
          <p:nvPr/>
        </p:nvSpPr>
        <p:spPr>
          <a:xfrm>
            <a:off x="540286" y="1108309"/>
            <a:ext cx="11419800" cy="3206338"/>
          </a:xfrm>
          <a:prstGeom prst="rect">
            <a:avLst/>
          </a:prstGeom>
          <a:noFill/>
        </p:spPr>
        <p:txBody>
          <a:bodyPr wrap="square" lIns="0" tIns="0" rIns="0" bIns="0" rtlCol="0" anchor="t">
            <a:noAutofit/>
          </a:bodyPr>
          <a:lstStyle/>
          <a:p>
            <a:pPr marL="342900" marR="0" lvl="0" indent="-342900" defTabSz="609585" rtl="0" eaLnBrk="1" fontAlgn="auto" latinLnBrk="0" hangingPunct="1">
              <a:lnSpc>
                <a:spcPct val="200000"/>
              </a:lnSpc>
              <a:spcBef>
                <a:spcPts val="0"/>
              </a:spcBef>
              <a:spcAft>
                <a:spcPts val="0"/>
              </a:spcAft>
              <a:buClrTx/>
              <a:buSzTx/>
              <a:buFont typeface="Arial" panose="020B0604020202020204" pitchFamily="34" charset="0"/>
              <a:buChar char="•"/>
              <a:tabLst/>
              <a:defRPr/>
            </a:pPr>
            <a:r>
              <a:rPr lang="en-AU" sz="2200">
                <a:solidFill>
                  <a:srgbClr val="22272B"/>
                </a:solidFill>
                <a:latin typeface="Arial"/>
                <a:cs typeface="Arial"/>
              </a:rPr>
              <a:t>take turns rolling four 10-sided dice to create a 4-digit number</a:t>
            </a:r>
          </a:p>
          <a:p>
            <a:pPr marL="342900" marR="0" lvl="0" indent="-342900" defTabSz="609585" rtl="0" eaLnBrk="1" fontAlgn="auto" latinLnBrk="0" hangingPunct="1">
              <a:lnSpc>
                <a:spcPct val="200000"/>
              </a:lnSpc>
              <a:spcBef>
                <a:spcPts val="0"/>
              </a:spcBef>
              <a:spcAft>
                <a:spcPts val="0"/>
              </a:spcAft>
              <a:buClrTx/>
              <a:buSzTx/>
              <a:buFont typeface="Arial" panose="020B0604020202020204" pitchFamily="34" charset="0"/>
              <a:buChar char="•"/>
              <a:tabLst/>
              <a:defRPr/>
            </a:pPr>
            <a:r>
              <a:rPr lang="en-AU" sz="2200">
                <a:solidFill>
                  <a:srgbClr val="22272B"/>
                </a:solidFill>
                <a:latin typeface="Arial"/>
                <a:cs typeface="Arial"/>
              </a:rPr>
              <a:t>write your number on a sticky note</a:t>
            </a:r>
          </a:p>
          <a:p>
            <a:pPr marL="342900" marR="0" lvl="0" indent="-342900" defTabSz="609585" rtl="0" eaLnBrk="1" fontAlgn="auto" latinLnBrk="0" hangingPunct="1">
              <a:lnSpc>
                <a:spcPct val="200000"/>
              </a:lnSpc>
              <a:spcBef>
                <a:spcPts val="0"/>
              </a:spcBef>
              <a:spcAft>
                <a:spcPts val="0"/>
              </a:spcAft>
              <a:buClrTx/>
              <a:buSzTx/>
              <a:buFont typeface="Arial" panose="020B0604020202020204" pitchFamily="34" charset="0"/>
              <a:buChar char="•"/>
              <a:tabLst/>
              <a:defRPr/>
            </a:pPr>
            <a:r>
              <a:rPr lang="en-AU" sz="2200">
                <a:solidFill>
                  <a:srgbClr val="22272B"/>
                </a:solidFill>
                <a:latin typeface="Arial"/>
                <a:cs typeface="Arial"/>
              </a:rPr>
              <a:t>read your numbers aloud and arrange yourselves from smallest to largest</a:t>
            </a:r>
          </a:p>
          <a:p>
            <a:pPr marL="342900" marR="0" lvl="0" indent="-342900" defTabSz="609585" rtl="0" eaLnBrk="1" fontAlgn="auto" latinLnBrk="0" hangingPunct="1">
              <a:lnSpc>
                <a:spcPct val="200000"/>
              </a:lnSpc>
              <a:spcBef>
                <a:spcPts val="0"/>
              </a:spcBef>
              <a:spcAft>
                <a:spcPts val="0"/>
              </a:spcAft>
              <a:buClrTx/>
              <a:buSzTx/>
              <a:buFont typeface="Arial" panose="020B0604020202020204" pitchFamily="34" charset="0"/>
              <a:buChar char="•"/>
              <a:tabLst/>
              <a:defRPr/>
            </a:pPr>
            <a:r>
              <a:rPr lang="en-AU" sz="2200">
                <a:solidFill>
                  <a:srgbClr val="22272B"/>
                </a:solidFill>
                <a:latin typeface="Arial"/>
                <a:cs typeface="Arial"/>
              </a:rPr>
              <a:t>combine with another group and reorder yourselves to keep everyone in ascending order</a:t>
            </a:r>
          </a:p>
          <a:p>
            <a:pPr marL="342900" marR="0" lvl="0" indent="-342900" defTabSz="609585" rtl="0" eaLnBrk="1" fontAlgn="auto" latinLnBrk="0" hangingPunct="1">
              <a:lnSpc>
                <a:spcPct val="200000"/>
              </a:lnSpc>
              <a:spcBef>
                <a:spcPts val="0"/>
              </a:spcBef>
              <a:spcAft>
                <a:spcPts val="0"/>
              </a:spcAft>
              <a:buClrTx/>
              <a:buSzTx/>
              <a:buFont typeface="Arial" panose="020B0604020202020204" pitchFamily="34" charset="0"/>
              <a:buChar char="•"/>
              <a:tabLst/>
              <a:defRPr/>
            </a:pPr>
            <a:r>
              <a:rPr lang="en-AU" sz="2200">
                <a:solidFill>
                  <a:srgbClr val="22272B"/>
                </a:solidFill>
                <a:latin typeface="Arial"/>
                <a:cs typeface="Arial"/>
              </a:rPr>
              <a:t>repeat until the entire class is arranged from smallest to largest.</a:t>
            </a:r>
          </a:p>
          <a:p>
            <a:pPr marL="342900" marR="0" lvl="0" indent="-342900"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endParaRPr lang="en-AU" sz="2200">
              <a:solidFill>
                <a:srgbClr val="22272B"/>
              </a:solidFill>
              <a:latin typeface="Arial"/>
              <a:cs typeface="Arial"/>
            </a:endParaRPr>
          </a:p>
          <a:p>
            <a:pPr marL="342900" marR="0" lvl="0" indent="-342900"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endParaRPr lang="en-AU" sz="2000">
              <a:solidFill>
                <a:srgbClr val="22272B"/>
              </a:solidFill>
              <a:latin typeface="Arial"/>
              <a:cs typeface="Arial"/>
            </a:endParaRPr>
          </a:p>
          <a:p>
            <a:pPr marR="0" lvl="0" defTabSz="609585" rtl="0" eaLnBrk="1" fontAlgn="auto" latinLnBrk="0" hangingPunct="1">
              <a:lnSpc>
                <a:spcPct val="150000"/>
              </a:lnSpc>
              <a:spcBef>
                <a:spcPts val="0"/>
              </a:spcBef>
              <a:spcAft>
                <a:spcPts val="0"/>
              </a:spcAft>
              <a:buClrTx/>
              <a:buSzTx/>
              <a:tabLst/>
              <a:defRPr/>
            </a:pPr>
            <a:endParaRPr lang="en-AU" sz="2000">
              <a:solidFill>
                <a:srgbClr val="22272B"/>
              </a:solidFill>
              <a:latin typeface="Arial"/>
              <a:cs typeface="Arial"/>
            </a:endParaRPr>
          </a:p>
          <a:p>
            <a:pPr marL="342900" marR="0" lvl="0" indent="-342900"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AU" b="0" i="0" u="none" strike="noStrike" kern="1200" cap="none" spc="0" normalizeH="0" baseline="0" noProof="0">
              <a:ln>
                <a:noFill/>
              </a:ln>
              <a:solidFill>
                <a:srgbClr val="22272B"/>
              </a:solidFill>
              <a:effectLst/>
              <a:uLnTx/>
              <a:uFillTx/>
              <a:latin typeface="Arial"/>
              <a:cs typeface="Arial"/>
            </a:endParaRPr>
          </a:p>
          <a:p>
            <a:pPr marL="0" marR="0" lvl="0" indent="0" defTabSz="609585" rtl="0" eaLnBrk="1" fontAlgn="auto" latinLnBrk="0" hangingPunct="1">
              <a:lnSpc>
                <a:spcPct val="150000"/>
              </a:lnSpc>
              <a:spcBef>
                <a:spcPts val="0"/>
              </a:spcBef>
              <a:spcAft>
                <a:spcPts val="0"/>
              </a:spcAft>
              <a:buClrTx/>
              <a:buSzTx/>
              <a:buFontTx/>
              <a:buNone/>
              <a:tabLst/>
              <a:defRPr/>
            </a:pPr>
            <a:endParaRPr kumimoji="0" lang="en-AU" sz="2800" b="0" i="0" u="none" strike="noStrike" kern="1200" cap="none" spc="0" normalizeH="0" baseline="0" noProof="0">
              <a:ln>
                <a:noFill/>
              </a:ln>
              <a:solidFill>
                <a:srgbClr val="22272B"/>
              </a:solidFill>
              <a:effectLst/>
              <a:uLnTx/>
              <a:uFillTx/>
              <a:latin typeface="Arial"/>
              <a:cs typeface="Arial"/>
            </a:endParaRPr>
          </a:p>
          <a:p>
            <a:pPr marL="0" marR="0" lvl="0" indent="0" defTabSz="609585" rtl="0" eaLnBrk="1" fontAlgn="auto" latinLnBrk="0" hangingPunct="1">
              <a:lnSpc>
                <a:spcPct val="150000"/>
              </a:lnSpc>
              <a:spcBef>
                <a:spcPts val="0"/>
              </a:spcBef>
              <a:spcAft>
                <a:spcPts val="0"/>
              </a:spcAft>
              <a:buClrTx/>
              <a:buSzTx/>
              <a:buFontTx/>
              <a:buNone/>
              <a:tabLst/>
              <a:defRPr/>
            </a:pPr>
            <a:endParaRPr lang="en-AU" sz="2800" b="0" i="0" u="none" strike="noStrike" kern="1200" cap="none" spc="0" normalizeH="0" baseline="0" noProof="0">
              <a:ln>
                <a:noFill/>
              </a:ln>
              <a:solidFill>
                <a:srgbClr val="22272B"/>
              </a:solidFill>
              <a:effectLst/>
              <a:uLnTx/>
              <a:uFillTx/>
              <a:latin typeface="Arial"/>
              <a:cs typeface="Arial"/>
            </a:endParaRPr>
          </a:p>
        </p:txBody>
      </p:sp>
      <p:sp>
        <p:nvSpPr>
          <p:cNvPr id="9" name="Freeform 2">
            <a:extLst>
              <a:ext uri="{FF2B5EF4-FFF2-40B4-BE49-F238E27FC236}">
                <a16:creationId xmlns:a16="http://schemas.microsoft.com/office/drawing/2014/main" id="{1B68735F-5834-F0C3-0025-0A245A5F3812}"/>
              </a:ext>
              <a:ext uri="{C183D7F6-B498-43B3-948B-1728B52AA6E4}">
                <adec:decorative xmlns:adec="http://schemas.microsoft.com/office/drawing/2017/decorative" val="1"/>
              </a:ext>
            </a:extLst>
          </p:cNvPr>
          <p:cNvSpPr/>
          <p:nvPr/>
        </p:nvSpPr>
        <p:spPr>
          <a:xfrm>
            <a:off x="540286" y="5115326"/>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0" name="Freeform 2">
            <a:extLst>
              <a:ext uri="{FF2B5EF4-FFF2-40B4-BE49-F238E27FC236}">
                <a16:creationId xmlns:a16="http://schemas.microsoft.com/office/drawing/2014/main" id="{FF1E29DF-19FF-3B44-2FDD-BC026D7D393C}"/>
              </a:ext>
              <a:ext uri="{C183D7F6-B498-43B3-948B-1728B52AA6E4}">
                <adec:decorative xmlns:adec="http://schemas.microsoft.com/office/drawing/2017/decorative" val="1"/>
              </a:ext>
            </a:extLst>
          </p:cNvPr>
          <p:cNvSpPr/>
          <p:nvPr/>
        </p:nvSpPr>
        <p:spPr>
          <a:xfrm>
            <a:off x="540286" y="5115326"/>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1" name="Freeform 2">
            <a:extLst>
              <a:ext uri="{FF2B5EF4-FFF2-40B4-BE49-F238E27FC236}">
                <a16:creationId xmlns:a16="http://schemas.microsoft.com/office/drawing/2014/main" id="{66C9EF78-5223-5E2C-DE4B-DCACC13509BE}"/>
              </a:ext>
              <a:ext uri="{C183D7F6-B498-43B3-948B-1728B52AA6E4}">
                <adec:decorative xmlns:adec="http://schemas.microsoft.com/office/drawing/2017/decorative" val="1"/>
              </a:ext>
            </a:extLst>
          </p:cNvPr>
          <p:cNvSpPr/>
          <p:nvPr/>
        </p:nvSpPr>
        <p:spPr>
          <a:xfrm>
            <a:off x="540286" y="5115326"/>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3" name="Freeform 2">
            <a:extLst>
              <a:ext uri="{FF2B5EF4-FFF2-40B4-BE49-F238E27FC236}">
                <a16:creationId xmlns:a16="http://schemas.microsoft.com/office/drawing/2014/main" id="{11FAE177-1A1F-ACA1-3238-F310F1D52EF5}"/>
              </a:ext>
              <a:ext uri="{C183D7F6-B498-43B3-948B-1728B52AA6E4}">
                <adec:decorative xmlns:adec="http://schemas.microsoft.com/office/drawing/2017/decorative" val="1"/>
              </a:ext>
            </a:extLst>
          </p:cNvPr>
          <p:cNvSpPr/>
          <p:nvPr/>
        </p:nvSpPr>
        <p:spPr>
          <a:xfrm>
            <a:off x="540286" y="5115326"/>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4" name="Freeform 3">
            <a:extLst>
              <a:ext uri="{FF2B5EF4-FFF2-40B4-BE49-F238E27FC236}">
                <a16:creationId xmlns:a16="http://schemas.microsoft.com/office/drawing/2014/main" id="{9F0329FD-86DF-F50E-DD65-BEA942CD6628}"/>
              </a:ext>
              <a:ext uri="{C183D7F6-B498-43B3-948B-1728B52AA6E4}">
                <adec:decorative xmlns:adec="http://schemas.microsoft.com/office/drawing/2017/decorative" val="1"/>
              </a:ext>
            </a:extLst>
          </p:cNvPr>
          <p:cNvSpPr/>
          <p:nvPr/>
        </p:nvSpPr>
        <p:spPr>
          <a:xfrm>
            <a:off x="2027548"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2" name="Freeform 2">
            <a:extLst>
              <a:ext uri="{FF2B5EF4-FFF2-40B4-BE49-F238E27FC236}">
                <a16:creationId xmlns:a16="http://schemas.microsoft.com/office/drawing/2014/main" id="{9ADE47D9-9C01-7488-2A0B-148EC2B700C1}"/>
              </a:ext>
              <a:ext uri="{C183D7F6-B498-43B3-948B-1728B52AA6E4}">
                <adec:decorative xmlns:adec="http://schemas.microsoft.com/office/drawing/2017/decorative" val="1"/>
              </a:ext>
            </a:extLst>
          </p:cNvPr>
          <p:cNvSpPr/>
          <p:nvPr/>
        </p:nvSpPr>
        <p:spPr>
          <a:xfrm>
            <a:off x="540286" y="5115326"/>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5" name="Freeform 3">
            <a:extLst>
              <a:ext uri="{FF2B5EF4-FFF2-40B4-BE49-F238E27FC236}">
                <a16:creationId xmlns:a16="http://schemas.microsoft.com/office/drawing/2014/main" id="{1BE9B563-07EF-976D-7C37-E5B052902363}"/>
              </a:ext>
              <a:ext uri="{C183D7F6-B498-43B3-948B-1728B52AA6E4}">
                <adec:decorative xmlns:adec="http://schemas.microsoft.com/office/drawing/2017/decorative" val="1"/>
              </a:ext>
            </a:extLst>
          </p:cNvPr>
          <p:cNvSpPr/>
          <p:nvPr/>
        </p:nvSpPr>
        <p:spPr>
          <a:xfrm>
            <a:off x="2027548"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6" name="Freeform 3">
            <a:extLst>
              <a:ext uri="{FF2B5EF4-FFF2-40B4-BE49-F238E27FC236}">
                <a16:creationId xmlns:a16="http://schemas.microsoft.com/office/drawing/2014/main" id="{0D4127C1-1F0C-B7EF-87F5-C951508DB621}"/>
              </a:ext>
              <a:ext uri="{C183D7F6-B498-43B3-948B-1728B52AA6E4}">
                <adec:decorative xmlns:adec="http://schemas.microsoft.com/office/drawing/2017/decorative" val="1"/>
              </a:ext>
            </a:extLst>
          </p:cNvPr>
          <p:cNvSpPr/>
          <p:nvPr/>
        </p:nvSpPr>
        <p:spPr>
          <a:xfrm>
            <a:off x="2027548"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7" name="Freeform 3">
            <a:extLst>
              <a:ext uri="{FF2B5EF4-FFF2-40B4-BE49-F238E27FC236}">
                <a16:creationId xmlns:a16="http://schemas.microsoft.com/office/drawing/2014/main" id="{B22A3690-4A9F-E8DE-FE21-F98C80D7AFB2}"/>
              </a:ext>
              <a:ext uri="{C183D7F6-B498-43B3-948B-1728B52AA6E4}">
                <adec:decorative xmlns:adec="http://schemas.microsoft.com/office/drawing/2017/decorative" val="1"/>
              </a:ext>
            </a:extLst>
          </p:cNvPr>
          <p:cNvSpPr/>
          <p:nvPr/>
        </p:nvSpPr>
        <p:spPr>
          <a:xfrm>
            <a:off x="2027548"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8" name="Freeform 3">
            <a:extLst>
              <a:ext uri="{FF2B5EF4-FFF2-40B4-BE49-F238E27FC236}">
                <a16:creationId xmlns:a16="http://schemas.microsoft.com/office/drawing/2014/main" id="{D6ED7D55-0BD7-4181-D4F6-9C0C0ECF4086}"/>
              </a:ext>
              <a:ext uri="{C183D7F6-B498-43B3-948B-1728B52AA6E4}">
                <adec:decorative xmlns:adec="http://schemas.microsoft.com/office/drawing/2017/decorative" val="1"/>
              </a:ext>
            </a:extLst>
          </p:cNvPr>
          <p:cNvSpPr/>
          <p:nvPr/>
        </p:nvSpPr>
        <p:spPr>
          <a:xfrm>
            <a:off x="2027548"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9" name="Freeform 4">
            <a:extLst>
              <a:ext uri="{FF2B5EF4-FFF2-40B4-BE49-F238E27FC236}">
                <a16:creationId xmlns:a16="http://schemas.microsoft.com/office/drawing/2014/main" id="{12EC9859-AC4C-93D2-0FD6-53E3E043B620}"/>
              </a:ext>
              <a:ext uri="{C183D7F6-B498-43B3-948B-1728B52AA6E4}">
                <adec:decorative xmlns:adec="http://schemas.microsoft.com/office/drawing/2017/decorative" val="1"/>
              </a:ext>
            </a:extLst>
          </p:cNvPr>
          <p:cNvSpPr/>
          <p:nvPr/>
        </p:nvSpPr>
        <p:spPr>
          <a:xfrm>
            <a:off x="3514810"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0" name="Freeform 4">
            <a:extLst>
              <a:ext uri="{FF2B5EF4-FFF2-40B4-BE49-F238E27FC236}">
                <a16:creationId xmlns:a16="http://schemas.microsoft.com/office/drawing/2014/main" id="{7F6544BD-5819-A59C-0B07-A9BDA72E41AA}"/>
              </a:ext>
              <a:ext uri="{C183D7F6-B498-43B3-948B-1728B52AA6E4}">
                <adec:decorative xmlns:adec="http://schemas.microsoft.com/office/drawing/2017/decorative" val="1"/>
              </a:ext>
            </a:extLst>
          </p:cNvPr>
          <p:cNvSpPr/>
          <p:nvPr/>
        </p:nvSpPr>
        <p:spPr>
          <a:xfrm>
            <a:off x="3514810"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1" name="Freeform 4">
            <a:extLst>
              <a:ext uri="{FF2B5EF4-FFF2-40B4-BE49-F238E27FC236}">
                <a16:creationId xmlns:a16="http://schemas.microsoft.com/office/drawing/2014/main" id="{AAE0E576-FD70-D787-BB38-A748E75014AE}"/>
              </a:ext>
              <a:ext uri="{C183D7F6-B498-43B3-948B-1728B52AA6E4}">
                <adec:decorative xmlns:adec="http://schemas.microsoft.com/office/drawing/2017/decorative" val="1"/>
              </a:ext>
            </a:extLst>
          </p:cNvPr>
          <p:cNvSpPr/>
          <p:nvPr/>
        </p:nvSpPr>
        <p:spPr>
          <a:xfrm>
            <a:off x="3514810"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2" name="Freeform 4">
            <a:extLst>
              <a:ext uri="{FF2B5EF4-FFF2-40B4-BE49-F238E27FC236}">
                <a16:creationId xmlns:a16="http://schemas.microsoft.com/office/drawing/2014/main" id="{40E2E865-3C92-05A6-E314-DF8384D34D58}"/>
              </a:ext>
              <a:ext uri="{C183D7F6-B498-43B3-948B-1728B52AA6E4}">
                <adec:decorative xmlns:adec="http://schemas.microsoft.com/office/drawing/2017/decorative" val="1"/>
              </a:ext>
            </a:extLst>
          </p:cNvPr>
          <p:cNvSpPr/>
          <p:nvPr/>
        </p:nvSpPr>
        <p:spPr>
          <a:xfrm>
            <a:off x="3514810"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3" name="Freeform 4">
            <a:extLst>
              <a:ext uri="{FF2B5EF4-FFF2-40B4-BE49-F238E27FC236}">
                <a16:creationId xmlns:a16="http://schemas.microsoft.com/office/drawing/2014/main" id="{7C60EFE1-C387-411F-D87F-79C3433FA564}"/>
              </a:ext>
              <a:ext uri="{C183D7F6-B498-43B3-948B-1728B52AA6E4}">
                <adec:decorative xmlns:adec="http://schemas.microsoft.com/office/drawing/2017/decorative" val="1"/>
              </a:ext>
            </a:extLst>
          </p:cNvPr>
          <p:cNvSpPr/>
          <p:nvPr/>
        </p:nvSpPr>
        <p:spPr>
          <a:xfrm>
            <a:off x="3514810"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4" name="Freeform 5">
            <a:extLst>
              <a:ext uri="{FF2B5EF4-FFF2-40B4-BE49-F238E27FC236}">
                <a16:creationId xmlns:a16="http://schemas.microsoft.com/office/drawing/2014/main" id="{13637146-0632-ED68-B9F7-9947324D4CAE}"/>
              </a:ext>
              <a:ext uri="{C183D7F6-B498-43B3-948B-1728B52AA6E4}">
                <adec:decorative xmlns:adec="http://schemas.microsoft.com/office/drawing/2017/decorative" val="1"/>
              </a:ext>
            </a:extLst>
          </p:cNvPr>
          <p:cNvSpPr/>
          <p:nvPr/>
        </p:nvSpPr>
        <p:spPr>
          <a:xfrm>
            <a:off x="5002072"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5" name="Freeform 5">
            <a:extLst>
              <a:ext uri="{FF2B5EF4-FFF2-40B4-BE49-F238E27FC236}">
                <a16:creationId xmlns:a16="http://schemas.microsoft.com/office/drawing/2014/main" id="{15A35F09-B371-381A-B5DE-2AE29E4DD24D}"/>
              </a:ext>
              <a:ext uri="{C183D7F6-B498-43B3-948B-1728B52AA6E4}">
                <adec:decorative xmlns:adec="http://schemas.microsoft.com/office/drawing/2017/decorative" val="1"/>
              </a:ext>
            </a:extLst>
          </p:cNvPr>
          <p:cNvSpPr/>
          <p:nvPr/>
        </p:nvSpPr>
        <p:spPr>
          <a:xfrm>
            <a:off x="5002072"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6" name="Freeform 5">
            <a:extLst>
              <a:ext uri="{FF2B5EF4-FFF2-40B4-BE49-F238E27FC236}">
                <a16:creationId xmlns:a16="http://schemas.microsoft.com/office/drawing/2014/main" id="{00DCE861-D3FC-E0AD-BEDE-64787C04C752}"/>
              </a:ext>
              <a:ext uri="{C183D7F6-B498-43B3-948B-1728B52AA6E4}">
                <adec:decorative xmlns:adec="http://schemas.microsoft.com/office/drawing/2017/decorative" val="1"/>
              </a:ext>
            </a:extLst>
          </p:cNvPr>
          <p:cNvSpPr/>
          <p:nvPr/>
        </p:nvSpPr>
        <p:spPr>
          <a:xfrm>
            <a:off x="5002072"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7" name="Freeform 5">
            <a:extLst>
              <a:ext uri="{FF2B5EF4-FFF2-40B4-BE49-F238E27FC236}">
                <a16:creationId xmlns:a16="http://schemas.microsoft.com/office/drawing/2014/main" id="{EBFED9D7-107B-2E21-60EC-FA346DD49B82}"/>
              </a:ext>
              <a:ext uri="{C183D7F6-B498-43B3-948B-1728B52AA6E4}">
                <adec:decorative xmlns:adec="http://schemas.microsoft.com/office/drawing/2017/decorative" val="1"/>
              </a:ext>
            </a:extLst>
          </p:cNvPr>
          <p:cNvSpPr/>
          <p:nvPr/>
        </p:nvSpPr>
        <p:spPr>
          <a:xfrm>
            <a:off x="5002072"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8" name="Freeform 5">
            <a:extLst>
              <a:ext uri="{FF2B5EF4-FFF2-40B4-BE49-F238E27FC236}">
                <a16:creationId xmlns:a16="http://schemas.microsoft.com/office/drawing/2014/main" id="{90260B48-0211-C8C0-880B-D906B18C7186}"/>
              </a:ext>
              <a:ext uri="{C183D7F6-B498-43B3-948B-1728B52AA6E4}">
                <adec:decorative xmlns:adec="http://schemas.microsoft.com/office/drawing/2017/decorative" val="1"/>
              </a:ext>
            </a:extLst>
          </p:cNvPr>
          <p:cNvSpPr/>
          <p:nvPr/>
        </p:nvSpPr>
        <p:spPr>
          <a:xfrm>
            <a:off x="5002072"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9" name="Freeform 6">
            <a:extLst>
              <a:ext uri="{FF2B5EF4-FFF2-40B4-BE49-F238E27FC236}">
                <a16:creationId xmlns:a16="http://schemas.microsoft.com/office/drawing/2014/main" id="{92CF2C6E-FC8D-C039-ACD6-713207F3F5D5}"/>
              </a:ext>
              <a:ext uri="{C183D7F6-B498-43B3-948B-1728B52AA6E4}">
                <adec:decorative xmlns:adec="http://schemas.microsoft.com/office/drawing/2017/decorative" val="1"/>
              </a:ext>
            </a:extLst>
          </p:cNvPr>
          <p:cNvSpPr/>
          <p:nvPr/>
        </p:nvSpPr>
        <p:spPr>
          <a:xfrm>
            <a:off x="6489334"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0" name="Freeform 6">
            <a:extLst>
              <a:ext uri="{FF2B5EF4-FFF2-40B4-BE49-F238E27FC236}">
                <a16:creationId xmlns:a16="http://schemas.microsoft.com/office/drawing/2014/main" id="{74E2A0D7-98AE-E8F0-EE6D-2DF60D245FC0}"/>
              </a:ext>
              <a:ext uri="{C183D7F6-B498-43B3-948B-1728B52AA6E4}">
                <adec:decorative xmlns:adec="http://schemas.microsoft.com/office/drawing/2017/decorative" val="1"/>
              </a:ext>
            </a:extLst>
          </p:cNvPr>
          <p:cNvSpPr/>
          <p:nvPr/>
        </p:nvSpPr>
        <p:spPr>
          <a:xfrm>
            <a:off x="6489334"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1" name="Freeform 6">
            <a:extLst>
              <a:ext uri="{FF2B5EF4-FFF2-40B4-BE49-F238E27FC236}">
                <a16:creationId xmlns:a16="http://schemas.microsoft.com/office/drawing/2014/main" id="{C6910C25-551E-3486-AE1C-5E8E7D50C038}"/>
              </a:ext>
              <a:ext uri="{C183D7F6-B498-43B3-948B-1728B52AA6E4}">
                <adec:decorative xmlns:adec="http://schemas.microsoft.com/office/drawing/2017/decorative" val="1"/>
              </a:ext>
            </a:extLst>
          </p:cNvPr>
          <p:cNvSpPr/>
          <p:nvPr/>
        </p:nvSpPr>
        <p:spPr>
          <a:xfrm>
            <a:off x="6489334"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2" name="Freeform 6">
            <a:extLst>
              <a:ext uri="{FF2B5EF4-FFF2-40B4-BE49-F238E27FC236}">
                <a16:creationId xmlns:a16="http://schemas.microsoft.com/office/drawing/2014/main" id="{692C9440-1963-921F-97D8-FED711845EC8}"/>
              </a:ext>
              <a:ext uri="{C183D7F6-B498-43B3-948B-1728B52AA6E4}">
                <adec:decorative xmlns:adec="http://schemas.microsoft.com/office/drawing/2017/decorative" val="1"/>
              </a:ext>
            </a:extLst>
          </p:cNvPr>
          <p:cNvSpPr/>
          <p:nvPr/>
        </p:nvSpPr>
        <p:spPr>
          <a:xfrm>
            <a:off x="6489334"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3" name="Freeform 6">
            <a:extLst>
              <a:ext uri="{FF2B5EF4-FFF2-40B4-BE49-F238E27FC236}">
                <a16:creationId xmlns:a16="http://schemas.microsoft.com/office/drawing/2014/main" id="{16228363-239E-1597-5068-CFAE0E80E38B}"/>
              </a:ext>
              <a:ext uri="{C183D7F6-B498-43B3-948B-1728B52AA6E4}">
                <adec:decorative xmlns:adec="http://schemas.microsoft.com/office/drawing/2017/decorative" val="1"/>
              </a:ext>
            </a:extLst>
          </p:cNvPr>
          <p:cNvSpPr/>
          <p:nvPr/>
        </p:nvSpPr>
        <p:spPr>
          <a:xfrm>
            <a:off x="6489334"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4" name="Freeform 7">
            <a:extLst>
              <a:ext uri="{FF2B5EF4-FFF2-40B4-BE49-F238E27FC236}">
                <a16:creationId xmlns:a16="http://schemas.microsoft.com/office/drawing/2014/main" id="{BCDFEBDE-AD41-FD06-42FB-36CB6DC6E634}"/>
              </a:ext>
              <a:ext uri="{C183D7F6-B498-43B3-948B-1728B52AA6E4}">
                <adec:decorative xmlns:adec="http://schemas.microsoft.com/office/drawing/2017/decorative" val="1"/>
              </a:ext>
            </a:extLst>
          </p:cNvPr>
          <p:cNvSpPr/>
          <p:nvPr/>
        </p:nvSpPr>
        <p:spPr>
          <a:xfrm>
            <a:off x="7976597"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5" name="Freeform 7">
            <a:extLst>
              <a:ext uri="{FF2B5EF4-FFF2-40B4-BE49-F238E27FC236}">
                <a16:creationId xmlns:a16="http://schemas.microsoft.com/office/drawing/2014/main" id="{D3668104-1BDB-E884-1191-C8939E14263E}"/>
              </a:ext>
              <a:ext uri="{C183D7F6-B498-43B3-948B-1728B52AA6E4}">
                <adec:decorative xmlns:adec="http://schemas.microsoft.com/office/drawing/2017/decorative" val="1"/>
              </a:ext>
            </a:extLst>
          </p:cNvPr>
          <p:cNvSpPr/>
          <p:nvPr/>
        </p:nvSpPr>
        <p:spPr>
          <a:xfrm>
            <a:off x="7976597"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6" name="Freeform 7">
            <a:extLst>
              <a:ext uri="{FF2B5EF4-FFF2-40B4-BE49-F238E27FC236}">
                <a16:creationId xmlns:a16="http://schemas.microsoft.com/office/drawing/2014/main" id="{49AA5706-EB8B-3E95-9433-EA88C55D44D1}"/>
              </a:ext>
              <a:ext uri="{C183D7F6-B498-43B3-948B-1728B52AA6E4}">
                <adec:decorative xmlns:adec="http://schemas.microsoft.com/office/drawing/2017/decorative" val="1"/>
              </a:ext>
            </a:extLst>
          </p:cNvPr>
          <p:cNvSpPr/>
          <p:nvPr/>
        </p:nvSpPr>
        <p:spPr>
          <a:xfrm>
            <a:off x="7976597"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7" name="Freeform 7">
            <a:extLst>
              <a:ext uri="{FF2B5EF4-FFF2-40B4-BE49-F238E27FC236}">
                <a16:creationId xmlns:a16="http://schemas.microsoft.com/office/drawing/2014/main" id="{739D86AF-869A-A3E2-73BB-C1A8A834763A}"/>
              </a:ext>
              <a:ext uri="{C183D7F6-B498-43B3-948B-1728B52AA6E4}">
                <adec:decorative xmlns:adec="http://schemas.microsoft.com/office/drawing/2017/decorative" val="1"/>
              </a:ext>
            </a:extLst>
          </p:cNvPr>
          <p:cNvSpPr/>
          <p:nvPr/>
        </p:nvSpPr>
        <p:spPr>
          <a:xfrm>
            <a:off x="7976597"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8" name="Freeform 7">
            <a:extLst>
              <a:ext uri="{FF2B5EF4-FFF2-40B4-BE49-F238E27FC236}">
                <a16:creationId xmlns:a16="http://schemas.microsoft.com/office/drawing/2014/main" id="{7FD7738B-F7C2-A075-CF8F-6FA65AAB5EBC}"/>
              </a:ext>
              <a:ext uri="{C183D7F6-B498-43B3-948B-1728B52AA6E4}">
                <adec:decorative xmlns:adec="http://schemas.microsoft.com/office/drawing/2017/decorative" val="1"/>
              </a:ext>
            </a:extLst>
          </p:cNvPr>
          <p:cNvSpPr/>
          <p:nvPr/>
        </p:nvSpPr>
        <p:spPr>
          <a:xfrm>
            <a:off x="7976597" y="5115327"/>
            <a:ext cx="1400673" cy="1400673"/>
          </a:xfrm>
          <a:custGeom>
            <a:avLst/>
            <a:gdLst/>
            <a:ahLst/>
            <a:cxnLst/>
            <a:rect l="l" t="t" r="r" b="b"/>
            <a:pathLst>
              <a:path w="1632805" h="1632805">
                <a:moveTo>
                  <a:pt x="0" y="0"/>
                </a:moveTo>
                <a:lnTo>
                  <a:pt x="1632805" y="0"/>
                </a:lnTo>
                <a:lnTo>
                  <a:pt x="1632805" y="1632805"/>
                </a:lnTo>
                <a:lnTo>
                  <a:pt x="0" y="163280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pic>
        <p:nvPicPr>
          <p:cNvPr id="4" name="Picture 3">
            <a:extLst>
              <a:ext uri="{FF2B5EF4-FFF2-40B4-BE49-F238E27FC236}">
                <a16:creationId xmlns:a16="http://schemas.microsoft.com/office/drawing/2014/main" id="{7C58EC55-47EA-6CDC-4215-78D92E3D63EC}"/>
              </a:ext>
              <a:ext uri="{C183D7F6-B498-43B3-948B-1728B52AA6E4}">
                <adec:decorative xmlns:adec="http://schemas.microsoft.com/office/drawing/2017/decorative" val="1"/>
              </a:ext>
            </a:extLst>
          </p:cNvPr>
          <p:cNvPicPr>
            <a:picLocks noChangeAspect="1"/>
          </p:cNvPicPr>
          <p:nvPr/>
        </p:nvPicPr>
        <p:blipFill>
          <a:blip r:embed="rId16"/>
          <a:srcRect l="6711" r="5477"/>
          <a:stretch/>
        </p:blipFill>
        <p:spPr>
          <a:xfrm>
            <a:off x="9717539" y="5358120"/>
            <a:ext cx="2242547" cy="749541"/>
          </a:xfrm>
          <a:prstGeom prst="rect">
            <a:avLst/>
          </a:prstGeom>
        </p:spPr>
      </p:pic>
      <p:sp>
        <p:nvSpPr>
          <p:cNvPr id="2" name="Slide Number Placeholder 1">
            <a:extLst>
              <a:ext uri="{FF2B5EF4-FFF2-40B4-BE49-F238E27FC236}">
                <a16:creationId xmlns:a16="http://schemas.microsoft.com/office/drawing/2014/main" id="{54A306B1-02C9-C932-E5DE-25ED76748D7B}"/>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Tree>
    <p:extLst>
      <p:ext uri="{BB962C8B-B14F-4D97-AF65-F5344CB8AC3E}">
        <p14:creationId xmlns:p14="http://schemas.microsoft.com/office/powerpoint/2010/main" val="2280834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12D24DC-0614-F76C-9A4C-36E299EAFF53}"/>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9C7C84D9-7468-F57D-99F1-C58A56040A58}"/>
              </a:ext>
            </a:extLst>
          </p:cNvPr>
          <p:cNvSpPr>
            <a:spLocks noGrp="1"/>
          </p:cNvSpPr>
          <p:nvPr>
            <p:ph type="body" sz="quarter" idx="28"/>
          </p:nvPr>
        </p:nvSpPr>
        <p:spPr>
          <a:xfrm>
            <a:off x="360000" y="778315"/>
            <a:ext cx="11243037" cy="2324093"/>
          </a:xfrm>
        </p:spPr>
        <p:txBody>
          <a:bodyPr/>
          <a:lstStyle/>
          <a:p>
            <a:pPr algn="ctr"/>
            <a:r>
              <a:rPr lang="en-US" sz="4400"/>
              <a:t>Which number is </a:t>
            </a:r>
            <a:r>
              <a:rPr lang="en-US" sz="4400" b="1"/>
              <a:t>missing </a:t>
            </a:r>
            <a:r>
              <a:rPr lang="en-US" sz="4400"/>
              <a:t>in this counting sequence?  1009, 1010, ____, 1012, 1013</a:t>
            </a:r>
          </a:p>
          <a:p>
            <a:pPr algn="ctr"/>
            <a:endParaRPr lang="en-US" sz="4400"/>
          </a:p>
        </p:txBody>
      </p:sp>
      <p:sp>
        <p:nvSpPr>
          <p:cNvPr id="9" name="TextBox 8">
            <a:extLst>
              <a:ext uri="{FF2B5EF4-FFF2-40B4-BE49-F238E27FC236}">
                <a16:creationId xmlns:a16="http://schemas.microsoft.com/office/drawing/2014/main" id="{F91A42F4-D8C9-20A3-82EB-86FAD4D776A8}"/>
              </a:ext>
            </a:extLst>
          </p:cNvPr>
          <p:cNvSpPr txBox="1"/>
          <p:nvPr/>
        </p:nvSpPr>
        <p:spPr>
          <a:xfrm>
            <a:off x="670560" y="305966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D2386B91-F85A-17DD-80EB-F20033E4EC06}"/>
              </a:ext>
            </a:extLst>
          </p:cNvPr>
          <p:cNvSpPr>
            <a:spLocks noGrp="1"/>
          </p:cNvSpPr>
          <p:nvPr>
            <p:ph type="body" sz="quarter" idx="31"/>
          </p:nvPr>
        </p:nvSpPr>
        <p:spPr>
          <a:xfrm>
            <a:off x="1345520" y="3108302"/>
            <a:ext cx="10175920" cy="641396"/>
          </a:xfrm>
        </p:spPr>
        <p:txBody>
          <a:bodyPr anchor="ctr"/>
          <a:lstStyle/>
          <a:p>
            <a:r>
              <a:rPr lang="en-US" sz="3600"/>
              <a:t>111</a:t>
            </a:r>
          </a:p>
        </p:txBody>
      </p:sp>
      <p:sp>
        <p:nvSpPr>
          <p:cNvPr id="10" name="TextBox 9">
            <a:extLst>
              <a:ext uri="{FF2B5EF4-FFF2-40B4-BE49-F238E27FC236}">
                <a16:creationId xmlns:a16="http://schemas.microsoft.com/office/drawing/2014/main" id="{CA9D5B15-A13C-EE8B-176F-3B4E3454A1A2}"/>
              </a:ext>
            </a:extLst>
          </p:cNvPr>
          <p:cNvSpPr txBox="1"/>
          <p:nvPr/>
        </p:nvSpPr>
        <p:spPr>
          <a:xfrm>
            <a:off x="670559" y="390758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3956215"/>
            <a:ext cx="10175920" cy="641396"/>
          </a:xfrm>
        </p:spPr>
        <p:txBody>
          <a:bodyPr anchor="ctr"/>
          <a:lstStyle/>
          <a:p>
            <a:r>
              <a:rPr lang="en-US" sz="3600"/>
              <a:t>1011</a:t>
            </a:r>
          </a:p>
        </p:txBody>
      </p:sp>
      <p:sp>
        <p:nvSpPr>
          <p:cNvPr id="12" name="TextBox 11">
            <a:extLst>
              <a:ext uri="{FF2B5EF4-FFF2-40B4-BE49-F238E27FC236}">
                <a16:creationId xmlns:a16="http://schemas.microsoft.com/office/drawing/2014/main" id="{B4746450-E4E2-359C-DFCA-0532E811BD1E}"/>
              </a:ext>
            </a:extLst>
          </p:cNvPr>
          <p:cNvSpPr txBox="1"/>
          <p:nvPr/>
        </p:nvSpPr>
        <p:spPr>
          <a:xfrm>
            <a:off x="670558" y="475763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8E51689C-1248-B7EC-3B77-B066AB5C6C0D}"/>
              </a:ext>
            </a:extLst>
          </p:cNvPr>
          <p:cNvSpPr>
            <a:spLocks noGrp="1"/>
          </p:cNvSpPr>
          <p:nvPr>
            <p:ph type="body" sz="quarter" idx="29"/>
          </p:nvPr>
        </p:nvSpPr>
        <p:spPr>
          <a:xfrm>
            <a:off x="1345520" y="4806268"/>
            <a:ext cx="10175920" cy="641396"/>
          </a:xfrm>
        </p:spPr>
        <p:txBody>
          <a:bodyPr anchor="ctr"/>
          <a:lstStyle/>
          <a:p>
            <a:r>
              <a:rPr lang="en-US" sz="3600"/>
              <a:t>10011</a:t>
            </a:r>
          </a:p>
        </p:txBody>
      </p:sp>
      <p:sp>
        <p:nvSpPr>
          <p:cNvPr id="11" name="TextBox 10">
            <a:extLst>
              <a:ext uri="{FF2B5EF4-FFF2-40B4-BE49-F238E27FC236}">
                <a16:creationId xmlns:a16="http://schemas.microsoft.com/office/drawing/2014/main" id="{9B8955CE-78C1-2F30-7505-4CA44A86BDFF}"/>
              </a:ext>
            </a:extLst>
          </p:cNvPr>
          <p:cNvSpPr txBox="1"/>
          <p:nvPr/>
        </p:nvSpPr>
        <p:spPr>
          <a:xfrm>
            <a:off x="670557" y="560768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D3F4C1E5-AFB7-4898-29F3-EB98C6384093}"/>
              </a:ext>
            </a:extLst>
          </p:cNvPr>
          <p:cNvSpPr>
            <a:spLocks noGrp="1"/>
          </p:cNvSpPr>
          <p:nvPr>
            <p:ph type="body" sz="quarter" idx="27"/>
          </p:nvPr>
        </p:nvSpPr>
        <p:spPr>
          <a:xfrm>
            <a:off x="1345520" y="5656321"/>
            <a:ext cx="10175920" cy="641396"/>
          </a:xfrm>
        </p:spPr>
        <p:txBody>
          <a:bodyPr anchor="ctr"/>
          <a:lstStyle/>
          <a:p>
            <a:r>
              <a:rPr lang="en-US" sz="3600"/>
              <a:t>1101</a:t>
            </a:r>
          </a:p>
        </p:txBody>
      </p:sp>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 uri="{C183D7F6-B498-43B3-948B-1728B52AA6E4}">
                <adec:decorative xmlns:adec="http://schemas.microsoft.com/office/drawing/2017/decorative" val="0"/>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106A2C2-E28C-3128-4F0C-37F058D91E74}"/>
              </a:ext>
            </a:extLst>
          </p:cNvPr>
          <p:cNvSpPr txBox="1"/>
          <p:nvPr/>
        </p:nvSpPr>
        <p:spPr>
          <a:xfrm>
            <a:off x="517358" y="2093495"/>
            <a:ext cx="11326642" cy="2887579"/>
          </a:xfrm>
          <a:prstGeom prst="rect">
            <a:avLst/>
          </a:prstGeom>
          <a:noFill/>
        </p:spPr>
        <p:txBody>
          <a:bodyPr wrap="square" lIns="0" tIns="0" rIns="0" bIns="0" rtlCol="0">
            <a:noAutofit/>
          </a:bodyPr>
          <a:lstStyle/>
          <a:p>
            <a:pPr algn="ctr">
              <a:lnSpc>
                <a:spcPct val="150000"/>
              </a:lnSpc>
            </a:pPr>
            <a:r>
              <a:rPr lang="en-AU" sz="4400"/>
              <a:t>Record </a:t>
            </a:r>
            <a:r>
              <a:rPr lang="en-AU" sz="4400" b="1"/>
              <a:t>3 items </a:t>
            </a:r>
            <a:r>
              <a:rPr lang="en-AU" sz="4400"/>
              <a:t>that would be </a:t>
            </a:r>
          </a:p>
          <a:p>
            <a:pPr algn="ctr">
              <a:lnSpc>
                <a:spcPct val="150000"/>
              </a:lnSpc>
            </a:pPr>
            <a:r>
              <a:rPr lang="en-AU" sz="4400" b="1"/>
              <a:t>about 30 cm </a:t>
            </a:r>
            <a:r>
              <a:rPr lang="en-AU" sz="4400"/>
              <a:t>long.</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a:extLst>
              <a:ext uri="{FF2B5EF4-FFF2-40B4-BE49-F238E27FC236}">
                <a16:creationId xmlns:a16="http://schemas.microsoft.com/office/drawing/2014/main" id="{7D6DC724-FDA4-FA66-5E19-0ED3DC26FC04}"/>
              </a:ext>
              <a:ext uri="{C183D7F6-B498-43B3-948B-1728B52AA6E4}">
                <adec:decorative xmlns:adec="http://schemas.microsoft.com/office/drawing/2017/decorative" val="1"/>
              </a:ext>
            </a:extLst>
          </p:cNvPr>
          <p:cNvSpPr txBox="1"/>
          <p:nvPr/>
        </p:nvSpPr>
        <p:spPr>
          <a:xfrm>
            <a:off x="493295" y="1503947"/>
            <a:ext cx="11225463" cy="4463716"/>
          </a:xfrm>
          <a:prstGeom prst="rect">
            <a:avLst/>
          </a:prstGeom>
          <a:noFill/>
        </p:spPr>
        <p:txBody>
          <a:bodyPr wrap="square" lIns="0" tIns="0" rIns="0" bIns="0" rtlCol="0">
            <a:noAutofit/>
          </a:bodyPr>
          <a:lstStyle/>
          <a:p>
            <a:pPr algn="ctr">
              <a:lnSpc>
                <a:spcPct val="150000"/>
              </a:lnSpc>
            </a:pPr>
            <a:endParaRPr lang="en-AU" sz="4400"/>
          </a:p>
        </p:txBody>
      </p:sp>
      <p:sp>
        <p:nvSpPr>
          <p:cNvPr id="7" name="TextBox 6">
            <a:extLst>
              <a:ext uri="{FF2B5EF4-FFF2-40B4-BE49-F238E27FC236}">
                <a16:creationId xmlns:a16="http://schemas.microsoft.com/office/drawing/2014/main" id="{2CEB8EB4-9575-D601-05B5-D05CFE41EC39}"/>
              </a:ext>
            </a:extLst>
          </p:cNvPr>
          <p:cNvSpPr txBox="1"/>
          <p:nvPr/>
        </p:nvSpPr>
        <p:spPr>
          <a:xfrm>
            <a:off x="360000" y="955610"/>
            <a:ext cx="11035496" cy="2273968"/>
          </a:xfrm>
          <a:prstGeom prst="rect">
            <a:avLst/>
          </a:prstGeom>
          <a:noFill/>
        </p:spPr>
        <p:txBody>
          <a:bodyPr wrap="square" lIns="0" tIns="0" rIns="0" bIns="0" rtlCol="0" anchor="t">
            <a:noAutofit/>
          </a:bodyPr>
          <a:lstStyle/>
          <a:p>
            <a:pPr algn="ctr">
              <a:lnSpc>
                <a:spcPct val="150000"/>
              </a:lnSpc>
            </a:pPr>
            <a:r>
              <a:rPr lang="en-AU" sz="4400"/>
              <a:t>Find the </a:t>
            </a:r>
            <a:r>
              <a:rPr lang="en-AU" sz="4400" b="1"/>
              <a:t>missing number </a:t>
            </a:r>
            <a:r>
              <a:rPr lang="en-AU" sz="4400"/>
              <a:t>in the </a:t>
            </a:r>
            <a:r>
              <a:rPr lang="en-AU" sz="4400" b="1"/>
              <a:t>bar model. </a:t>
            </a:r>
            <a:endParaRPr lang="en-AU" sz="4400">
              <a:cs typeface="Arial" panose="020B0604020202020204"/>
            </a:endParaRPr>
          </a:p>
          <a:p>
            <a:pPr algn="ctr">
              <a:lnSpc>
                <a:spcPct val="150000"/>
              </a:lnSpc>
            </a:pPr>
            <a:r>
              <a:rPr lang="en-AU" sz="4400" b="1"/>
              <a:t>Record 3 different</a:t>
            </a:r>
            <a:r>
              <a:rPr lang="en-AU" sz="4400"/>
              <a:t> number sentences. </a:t>
            </a:r>
            <a:endParaRPr lang="en-AU" sz="4400">
              <a:cs typeface="Arial"/>
            </a:endParaRPr>
          </a:p>
        </p:txBody>
      </p:sp>
      <p:pic>
        <p:nvPicPr>
          <p:cNvPr id="9" name="Picture 8" descr="his image shows a bar model divided into two parts:&#10;&#10;The top bar is blue and labelled 80, representing a total.&#10;&#10;The bottom bar is yellow and divided into two parts: one labelled 55 and the other labelled with a question mark representing the missing part. ">
            <a:extLst>
              <a:ext uri="{FF2B5EF4-FFF2-40B4-BE49-F238E27FC236}">
                <a16:creationId xmlns:a16="http://schemas.microsoft.com/office/drawing/2014/main" id="{A913CE73-5272-162D-CD63-5988C3D98515}"/>
              </a:ext>
            </a:extLst>
          </p:cNvPr>
          <p:cNvPicPr>
            <a:picLocks noChangeAspect="1"/>
          </p:cNvPicPr>
          <p:nvPr/>
        </p:nvPicPr>
        <p:blipFill>
          <a:blip r:embed="rId4"/>
          <a:stretch>
            <a:fillRect/>
          </a:stretch>
        </p:blipFill>
        <p:spPr>
          <a:xfrm>
            <a:off x="1692851" y="3828131"/>
            <a:ext cx="8806298" cy="1540979"/>
          </a:xfrm>
          <a:prstGeom prst="rect">
            <a:avLst/>
          </a:prstGeom>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a:extLst>
              <a:ext uri="{FF2B5EF4-FFF2-40B4-BE49-F238E27FC236}">
                <a16:creationId xmlns:a16="http://schemas.microsoft.com/office/drawing/2014/main" id="{DC8E23E1-6FF5-37B4-D693-4B5155A959A1}"/>
              </a:ext>
            </a:extLst>
          </p:cNvPr>
          <p:cNvSpPr txBox="1"/>
          <p:nvPr/>
        </p:nvSpPr>
        <p:spPr>
          <a:xfrm>
            <a:off x="360000" y="162000"/>
            <a:ext cx="11484000" cy="4072489"/>
          </a:xfrm>
          <a:prstGeom prst="rect">
            <a:avLst/>
          </a:prstGeom>
          <a:noFill/>
        </p:spPr>
        <p:txBody>
          <a:bodyPr wrap="square" lIns="0" tIns="0" rIns="0" bIns="0" rtlCol="0" anchor="t">
            <a:noAutofit/>
          </a:bodyPr>
          <a:lstStyle/>
          <a:p>
            <a:pPr algn="ctr">
              <a:lnSpc>
                <a:spcPct val="150000"/>
              </a:lnSpc>
            </a:pPr>
            <a:r>
              <a:rPr lang="en-AU" sz="6600">
                <a:cs typeface="Arial"/>
              </a:rPr>
              <a:t>547</a:t>
            </a:r>
          </a:p>
          <a:p>
            <a:pPr marL="571500" lvl="0" indent="-571500">
              <a:lnSpc>
                <a:spcPct val="150000"/>
              </a:lnSpc>
              <a:buFont typeface="Arial" panose="020B0604020202020204" pitchFamily="34" charset="0"/>
              <a:buChar char="•"/>
            </a:pPr>
            <a:r>
              <a:rPr lang="en-AU" sz="4400"/>
              <a:t>How many </a:t>
            </a:r>
            <a:r>
              <a:rPr lang="en-AU" sz="4400" b="1"/>
              <a:t>hundreds</a:t>
            </a:r>
            <a:r>
              <a:rPr lang="en-AU" sz="4400"/>
              <a:t> are in this number?</a:t>
            </a:r>
          </a:p>
          <a:p>
            <a:pPr marL="571500" lvl="0" indent="-571500">
              <a:lnSpc>
                <a:spcPct val="150000"/>
              </a:lnSpc>
              <a:buFont typeface="Arial" panose="020B0604020202020204" pitchFamily="34" charset="0"/>
              <a:buChar char="•"/>
            </a:pPr>
            <a:r>
              <a:rPr lang="en-AU" sz="4400"/>
              <a:t>What does the digit in the </a:t>
            </a:r>
            <a:r>
              <a:rPr lang="en-AU" sz="4400" b="1"/>
              <a:t>tens</a:t>
            </a:r>
            <a:r>
              <a:rPr lang="en-AU" sz="4400"/>
              <a:t> place represent?</a:t>
            </a:r>
          </a:p>
          <a:p>
            <a:pPr marL="571500" lvl="0" indent="-571500">
              <a:lnSpc>
                <a:spcPct val="150000"/>
              </a:lnSpc>
              <a:buFont typeface="Arial" panose="020B0604020202020204" pitchFamily="34" charset="0"/>
              <a:buChar char="•"/>
            </a:pPr>
            <a:r>
              <a:rPr lang="en-AU" sz="4400"/>
              <a:t>What is the </a:t>
            </a:r>
            <a:r>
              <a:rPr lang="en-AU" sz="4400" b="1"/>
              <a:t>value</a:t>
            </a:r>
            <a:r>
              <a:rPr lang="en-AU" sz="4400"/>
              <a:t> of the digit in the ones place?</a:t>
            </a:r>
          </a:p>
          <a:p>
            <a:pPr algn="ctr">
              <a:lnSpc>
                <a:spcPct val="150000"/>
              </a:lnSpc>
            </a:pPr>
            <a:endParaRPr lang="en-US">
              <a:cs typeface="Arial"/>
            </a:endParaRP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CEBB6280-01E8-4B49-9998-4076394043E2}"/>
              </a:ext>
            </a:extLst>
          </p:cNvPr>
          <p:cNvSpPr txBox="1"/>
          <p:nvPr/>
        </p:nvSpPr>
        <p:spPr>
          <a:xfrm>
            <a:off x="517358" y="1054345"/>
            <a:ext cx="11326642" cy="2887579"/>
          </a:xfrm>
          <a:prstGeom prst="rect">
            <a:avLst/>
          </a:prstGeom>
          <a:noFill/>
        </p:spPr>
        <p:txBody>
          <a:bodyPr wrap="square" lIns="0" tIns="0" rIns="0" bIns="0" rtlCol="0">
            <a:noAutofit/>
          </a:bodyPr>
          <a:lstStyle/>
          <a:p>
            <a:pPr algn="ctr">
              <a:lnSpc>
                <a:spcPct val="150000"/>
              </a:lnSpc>
            </a:pPr>
            <a:r>
              <a:rPr lang="en-AU" sz="4400"/>
              <a:t>Tayla combined </a:t>
            </a:r>
            <a:r>
              <a:rPr lang="en-AU" sz="4400" b="1"/>
              <a:t>3 shapes </a:t>
            </a:r>
            <a:r>
              <a:rPr lang="en-AU" sz="4400"/>
              <a:t>to make a rectangle.  </a:t>
            </a:r>
            <a:r>
              <a:rPr lang="en-AU" sz="4400" b="1"/>
              <a:t>Which shapes </a:t>
            </a:r>
            <a:r>
              <a:rPr lang="en-AU" sz="4400"/>
              <a:t>did Tayla use? </a:t>
            </a:r>
          </a:p>
        </p:txBody>
      </p:sp>
      <p:pic>
        <p:nvPicPr>
          <p:cNvPr id="7" name="Picture 6" descr="A large rectangle divided diagonally into three coloured sections.&#10;&#10;">
            <a:extLst>
              <a:ext uri="{FF2B5EF4-FFF2-40B4-BE49-F238E27FC236}">
                <a16:creationId xmlns:a16="http://schemas.microsoft.com/office/drawing/2014/main" id="{4DB18A42-4856-C3E3-F084-0A2742D73C17}"/>
              </a:ext>
            </a:extLst>
          </p:cNvPr>
          <p:cNvPicPr>
            <a:picLocks noChangeAspect="1"/>
          </p:cNvPicPr>
          <p:nvPr/>
        </p:nvPicPr>
        <p:blipFill>
          <a:blip r:embed="rId4"/>
          <a:stretch>
            <a:fillRect/>
          </a:stretch>
        </p:blipFill>
        <p:spPr>
          <a:xfrm>
            <a:off x="3081867" y="3533424"/>
            <a:ext cx="5734245" cy="2484201"/>
          </a:xfrm>
          <a:prstGeom prst="rect">
            <a:avLst/>
          </a:prstGeom>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3 – number before and after</a:t>
            </a:r>
            <a:endParaRPr lang="en-AU"/>
          </a:p>
        </p:txBody>
      </p:sp>
      <p:pic>
        <p:nvPicPr>
          <p:cNvPr id="4" name="Picture 3" descr="image of a head with cogs turning inside">
            <a:extLst>
              <a:ext uri="{FF2B5EF4-FFF2-40B4-BE49-F238E27FC236}">
                <a16:creationId xmlns:a16="http://schemas.microsoft.com/office/drawing/2014/main" id="{4752CFBE-7F92-8687-B9FC-E672239B674A}"/>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A whiteboard showing a box labelled My 4-digit number in the centre. To the left is a line labelled before with an arrow pointing toward the line. To the right is a line labelled after with an arrow pointing toward the line. ">
            <a:extLst>
              <a:ext uri="{FF2B5EF4-FFF2-40B4-BE49-F238E27FC236}">
                <a16:creationId xmlns:a16="http://schemas.microsoft.com/office/drawing/2014/main" id="{31F49A4A-A988-E264-4CD8-94EF85CE5AA9}"/>
              </a:ext>
            </a:extLst>
          </p:cNvPr>
          <p:cNvPicPr>
            <a:picLocks noChangeAspect="1"/>
          </p:cNvPicPr>
          <p:nvPr/>
        </p:nvPicPr>
        <p:blipFill>
          <a:blip r:embed="rId4">
            <a:extLst>
              <a:ext uri="{28A0092B-C50C-407E-A947-70E740481C1C}">
                <a14:useLocalDpi xmlns:a14="http://schemas.microsoft.com/office/drawing/2010/main" val="0"/>
              </a:ext>
            </a:extLst>
          </a:blip>
          <a:srcRect l="1602" t="3333" r="5360" b="5249"/>
          <a:stretch>
            <a:fillRect/>
          </a:stretch>
        </p:blipFill>
        <p:spPr>
          <a:xfrm>
            <a:off x="2155652" y="905601"/>
            <a:ext cx="7880696" cy="5474628"/>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a:xfrm>
            <a:off x="11124000" y="6318000"/>
            <a:ext cx="720000" cy="180000"/>
          </a:xfrm>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Tree>
    <p:extLst>
      <p:ext uri="{BB962C8B-B14F-4D97-AF65-F5344CB8AC3E}">
        <p14:creationId xmlns:p14="http://schemas.microsoft.com/office/powerpoint/2010/main" val="309489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p:txBody>
          <a:bodyPr vert="horz" lIns="0" tIns="0" rIns="0" bIns="0" rtlCol="0" anchor="t">
            <a:noAutofit/>
          </a:bodyPr>
          <a:lstStyle/>
          <a:p>
            <a:pPr algn="ctr"/>
            <a:r>
              <a:rPr lang="en-AU" sz="4400">
                <a:latin typeface="Arial"/>
                <a:cs typeface="Arial"/>
              </a:rPr>
              <a:t> 24 hundreds is the same as </a:t>
            </a:r>
          </a:p>
          <a:p>
            <a:pPr algn="ctr"/>
            <a:r>
              <a:rPr lang="en-AU" sz="4400">
                <a:latin typeface="Arial"/>
                <a:cs typeface="Arial"/>
              </a:rPr>
              <a:t>2000 and 4 hundreds.</a:t>
            </a:r>
            <a:endParaRPr lang="en-US"/>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FF3EBB7-1B9B-1A0D-AF83-3D9A9D15FD2C}"/>
              </a:ext>
            </a:extLst>
          </p:cNvPr>
          <p:cNvSpPr txBox="1"/>
          <p:nvPr/>
        </p:nvSpPr>
        <p:spPr>
          <a:xfrm>
            <a:off x="360000" y="1273464"/>
            <a:ext cx="11262505" cy="4874673"/>
          </a:xfrm>
          <a:prstGeom prst="rect">
            <a:avLst/>
          </a:prstGeom>
          <a:noFill/>
        </p:spPr>
        <p:txBody>
          <a:bodyPr wrap="square" lIns="0" tIns="0" rIns="0" bIns="0" rtlCol="0" anchor="t">
            <a:noAutofit/>
          </a:bodyPr>
          <a:lstStyle/>
          <a:p>
            <a:pPr algn="ctr"/>
            <a:r>
              <a:rPr lang="en-AU" sz="4400" b="1"/>
              <a:t>How many millimetres </a:t>
            </a:r>
            <a:r>
              <a:rPr lang="en-AU" sz="4400"/>
              <a:t>are there in: </a:t>
            </a:r>
          </a:p>
          <a:p>
            <a:pPr algn="ctr">
              <a:lnSpc>
                <a:spcPct val="150000"/>
              </a:lnSpc>
            </a:pPr>
            <a:r>
              <a:rPr lang="en-AU" sz="4400"/>
              <a:t>1 cm</a:t>
            </a:r>
          </a:p>
          <a:p>
            <a:pPr algn="ctr">
              <a:lnSpc>
                <a:spcPct val="150000"/>
              </a:lnSpc>
            </a:pPr>
            <a:r>
              <a:rPr lang="en-AU" sz="4400"/>
              <a:t>2 cm</a:t>
            </a:r>
          </a:p>
          <a:p>
            <a:pPr algn="ctr">
              <a:lnSpc>
                <a:spcPct val="150000"/>
              </a:lnSpc>
            </a:pPr>
            <a:r>
              <a:rPr lang="en-AU" sz="4400"/>
              <a:t>5 cm</a:t>
            </a:r>
          </a:p>
          <a:p>
            <a:pPr algn="ctr">
              <a:lnSpc>
                <a:spcPct val="150000"/>
              </a:lnSpc>
            </a:pPr>
            <a:r>
              <a:rPr lang="en-AU" sz="4400"/>
              <a:t>10 cm</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74EECA0-FA73-5107-DDBF-5C42F82F31C8}"/>
              </a:ext>
            </a:extLst>
          </p:cNvPr>
          <p:cNvSpPr txBox="1"/>
          <p:nvPr/>
        </p:nvSpPr>
        <p:spPr>
          <a:xfrm>
            <a:off x="731520" y="2057401"/>
            <a:ext cx="10558272" cy="4920915"/>
          </a:xfrm>
          <a:prstGeom prst="rect">
            <a:avLst/>
          </a:prstGeom>
          <a:noFill/>
        </p:spPr>
        <p:txBody>
          <a:bodyPr wrap="square" lIns="0" tIns="0" rIns="0" bIns="0" rtlCol="0">
            <a:noAutofit/>
          </a:bodyPr>
          <a:lstStyle/>
          <a:p>
            <a:pPr algn="ctr">
              <a:lnSpc>
                <a:spcPct val="150000"/>
              </a:lnSpc>
            </a:pPr>
            <a:r>
              <a:rPr lang="en-AU" sz="4400" b="1"/>
              <a:t>Draw</a:t>
            </a:r>
            <a:r>
              <a:rPr lang="en-AU" sz="4400"/>
              <a:t> a </a:t>
            </a:r>
            <a:r>
              <a:rPr lang="en-AU" sz="4400" b="1"/>
              <a:t>number line </a:t>
            </a:r>
            <a:r>
              <a:rPr lang="en-AU" sz="4400"/>
              <a:t>to find the </a:t>
            </a:r>
            <a:r>
              <a:rPr lang="en-AU" sz="4400" b="1"/>
              <a:t>difference</a:t>
            </a:r>
            <a:r>
              <a:rPr lang="en-AU" sz="4400"/>
              <a:t> </a:t>
            </a:r>
            <a:r>
              <a:rPr lang="en-AU" sz="4400" b="1"/>
              <a:t>between</a:t>
            </a:r>
            <a:r>
              <a:rPr lang="en-AU" sz="4400"/>
              <a:t> 25 and 108. </a:t>
            </a:r>
          </a:p>
          <a:p>
            <a:pPr algn="ctr">
              <a:lnSpc>
                <a:spcPct val="150000"/>
              </a:lnSpc>
            </a:pPr>
            <a:r>
              <a:rPr lang="en-AU" sz="4400" b="1"/>
              <a:t>Record</a:t>
            </a:r>
            <a:r>
              <a:rPr lang="en-AU" sz="4400"/>
              <a:t> your </a:t>
            </a:r>
            <a:r>
              <a:rPr lang="en-AU" sz="4400" b="1"/>
              <a:t>answer</a:t>
            </a:r>
            <a:r>
              <a:rPr lang="en-AU" sz="4400"/>
              <a:t>.</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7F72E05-FCB8-8006-E9C4-6F1BCB2FFBB5}"/>
              </a:ext>
            </a:extLst>
          </p:cNvPr>
          <p:cNvSpPr txBox="1"/>
          <p:nvPr/>
        </p:nvSpPr>
        <p:spPr>
          <a:xfrm>
            <a:off x="435142" y="1870023"/>
            <a:ext cx="11321716" cy="4987977"/>
          </a:xfrm>
          <a:prstGeom prst="rect">
            <a:avLst/>
          </a:prstGeom>
          <a:noFill/>
        </p:spPr>
        <p:txBody>
          <a:bodyPr wrap="square" lIns="0" tIns="0" rIns="0" bIns="0" rtlCol="0">
            <a:noAutofit/>
          </a:bodyPr>
          <a:lstStyle/>
          <a:p>
            <a:pPr algn="ctr">
              <a:lnSpc>
                <a:spcPct val="150000"/>
              </a:lnSpc>
            </a:pPr>
            <a:r>
              <a:rPr lang="en-AU" sz="4400" b="1"/>
              <a:t>Record</a:t>
            </a:r>
            <a:r>
              <a:rPr lang="en-AU" sz="4400"/>
              <a:t> the </a:t>
            </a:r>
            <a:r>
              <a:rPr lang="en-AU" sz="4400" b="1"/>
              <a:t>numbers</a:t>
            </a:r>
            <a:r>
              <a:rPr lang="en-AU" sz="4400"/>
              <a:t> in </a:t>
            </a:r>
            <a:r>
              <a:rPr lang="en-AU" sz="4400" b="1"/>
              <a:t>order</a:t>
            </a:r>
          </a:p>
          <a:p>
            <a:pPr algn="ctr">
              <a:lnSpc>
                <a:spcPct val="150000"/>
              </a:lnSpc>
            </a:pPr>
            <a:r>
              <a:rPr lang="en-AU" sz="4400"/>
              <a:t>from </a:t>
            </a:r>
            <a:r>
              <a:rPr lang="en-AU" sz="4400" b="1"/>
              <a:t>smallest</a:t>
            </a:r>
            <a:r>
              <a:rPr lang="en-AU" sz="4400"/>
              <a:t> to </a:t>
            </a:r>
            <a:r>
              <a:rPr lang="en-AU" sz="4400" b="1"/>
              <a:t>largest.</a:t>
            </a:r>
          </a:p>
          <a:p>
            <a:pPr algn="ctr"/>
            <a:endParaRPr lang="en-AU" sz="4400"/>
          </a:p>
          <a:p>
            <a:pPr algn="ctr"/>
            <a:r>
              <a:rPr lang="en-AU" sz="4400"/>
              <a:t>97, 103, 1009, 745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837A16D-3D75-B585-37A5-E559ADD500E2}"/>
              </a:ext>
            </a:extLst>
          </p:cNvPr>
          <p:cNvSpPr txBox="1"/>
          <p:nvPr/>
        </p:nvSpPr>
        <p:spPr>
          <a:xfrm>
            <a:off x="1302056" y="905601"/>
            <a:ext cx="9576816" cy="4318385"/>
          </a:xfrm>
          <a:prstGeom prst="rect">
            <a:avLst/>
          </a:prstGeom>
          <a:noFill/>
        </p:spPr>
        <p:txBody>
          <a:bodyPr wrap="square" lIns="0" tIns="0" rIns="0" bIns="0" rtlCol="0">
            <a:noAutofit/>
          </a:bodyPr>
          <a:lstStyle/>
          <a:p>
            <a:pPr algn="ctr"/>
            <a:r>
              <a:rPr lang="en-AU" sz="4400" b="1"/>
              <a:t>Complete</a:t>
            </a:r>
            <a:r>
              <a:rPr lang="en-AU" sz="4400"/>
              <a:t> this </a:t>
            </a:r>
            <a:r>
              <a:rPr lang="en-AU" sz="4400" b="1"/>
              <a:t>sentence</a:t>
            </a:r>
            <a:r>
              <a:rPr lang="en-AU" sz="4400"/>
              <a:t>:</a:t>
            </a:r>
          </a:p>
          <a:p>
            <a:pPr algn="l"/>
            <a:endParaRPr lang="en-AU" sz="4400"/>
          </a:p>
          <a:p>
            <a:pPr algn="ctr">
              <a:lnSpc>
                <a:spcPct val="150000"/>
              </a:lnSpc>
            </a:pPr>
            <a:r>
              <a:rPr lang="en-AU" sz="4400"/>
              <a:t>I can use a grid of rows and columns to find the area because…</a:t>
            </a:r>
          </a:p>
        </p:txBody>
      </p:sp>
      <p:pic>
        <p:nvPicPr>
          <p:cNvPr id="12" name="Picture 11" descr="A rectangular grid divided into 2 rows of 3  squares.">
            <a:extLst>
              <a:ext uri="{FF2B5EF4-FFF2-40B4-BE49-F238E27FC236}">
                <a16:creationId xmlns:a16="http://schemas.microsoft.com/office/drawing/2014/main" id="{81E35AE6-280D-11D0-18D4-11E0B2F6CB45}"/>
              </a:ext>
            </a:extLst>
          </p:cNvPr>
          <p:cNvPicPr>
            <a:picLocks noChangeAspect="1"/>
          </p:cNvPicPr>
          <p:nvPr/>
        </p:nvPicPr>
        <p:blipFill>
          <a:blip r:embed="rId4"/>
          <a:stretch>
            <a:fillRect/>
          </a:stretch>
        </p:blipFill>
        <p:spPr>
          <a:xfrm>
            <a:off x="4552020" y="4617343"/>
            <a:ext cx="3041476" cy="1988657"/>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6967C-2AE4-61ED-179F-0A82AAC8CB4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1925C6F-475F-0493-1CF7-5038086BCBA8}"/>
              </a:ext>
            </a:extLst>
          </p:cNvPr>
          <p:cNvSpPr>
            <a:spLocks noGrp="1"/>
          </p:cNvSpPr>
          <p:nvPr>
            <p:ph type="title"/>
          </p:nvPr>
        </p:nvSpPr>
        <p:spPr>
          <a:xfrm>
            <a:off x="359999" y="488790"/>
            <a:ext cx="11483999" cy="545601"/>
          </a:xfrm>
        </p:spPr>
        <p:txBody>
          <a:bodyPr/>
          <a:lstStyle/>
          <a:p>
            <a:r>
              <a:rPr lang="en-AU">
                <a:latin typeface="Arial"/>
                <a:cs typeface="Arial"/>
              </a:rPr>
              <a:t>Activity 4 – ordering 4-digit numbers 2</a:t>
            </a:r>
          </a:p>
        </p:txBody>
      </p:sp>
      <p:pic>
        <p:nvPicPr>
          <p:cNvPr id="6" name="Picture 5" descr="image of a head with cogs turning inside">
            <a:extLst>
              <a:ext uri="{FF2B5EF4-FFF2-40B4-BE49-F238E27FC236}">
                <a16:creationId xmlns:a16="http://schemas.microsoft.com/office/drawing/2014/main" id="{D7879E94-C54F-CD3F-275F-FFC3A2C5569F}"/>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4" name="Picture 3">
            <a:extLst>
              <a:ext uri="{FF2B5EF4-FFF2-40B4-BE49-F238E27FC236}">
                <a16:creationId xmlns:a16="http://schemas.microsoft.com/office/drawing/2014/main" id="{8129A0C5-4981-763C-E245-EE303A0BE0B5}"/>
              </a:ext>
              <a:ext uri="{C183D7F6-B498-43B3-948B-1728B52AA6E4}">
                <adec:decorative xmlns:adec="http://schemas.microsoft.com/office/drawing/2017/decorative" val="1"/>
              </a:ext>
            </a:extLst>
          </p:cNvPr>
          <p:cNvPicPr>
            <a:picLocks noChangeAspect="1"/>
          </p:cNvPicPr>
          <p:nvPr/>
        </p:nvPicPr>
        <p:blipFill>
          <a:blip r:embed="rId4"/>
          <a:srcRect l="6711" r="5477"/>
          <a:stretch/>
        </p:blipFill>
        <p:spPr>
          <a:xfrm rot="20544385">
            <a:off x="2118105" y="1396649"/>
            <a:ext cx="2186527" cy="730817"/>
          </a:xfrm>
          <a:prstGeom prst="rect">
            <a:avLst/>
          </a:prstGeom>
        </p:spPr>
      </p:pic>
      <p:sp>
        <p:nvSpPr>
          <p:cNvPr id="7" name="TextBox 6">
            <a:extLst>
              <a:ext uri="{FF2B5EF4-FFF2-40B4-BE49-F238E27FC236}">
                <a16:creationId xmlns:a16="http://schemas.microsoft.com/office/drawing/2014/main" id="{BDAC1764-30C2-9DE5-96BE-30B34DCE177D}"/>
              </a:ext>
            </a:extLst>
          </p:cNvPr>
          <p:cNvSpPr txBox="1"/>
          <p:nvPr/>
        </p:nvSpPr>
        <p:spPr>
          <a:xfrm>
            <a:off x="563964" y="2065432"/>
            <a:ext cx="836908" cy="325465"/>
          </a:xfrm>
          <a:prstGeom prst="rect">
            <a:avLst/>
          </a:prstGeom>
          <a:noFill/>
        </p:spPr>
        <p:txBody>
          <a:bodyPr wrap="square" lIns="0" tIns="0" rIns="0" bIns="0" rtlCol="0">
            <a:noAutofit/>
          </a:bodyPr>
          <a:lstStyle/>
          <a:p>
            <a:pPr algn="ctr"/>
            <a:r>
              <a:rPr lang="en-AU">
                <a:solidFill>
                  <a:schemeClr val="tx2"/>
                </a:solidFill>
                <a:latin typeface="Edu NSW ACT Foundation" pitchFamily="2" charset="0"/>
                <a:cs typeface="Arial" panose="020B0604020202020204" pitchFamily="34" charset="0"/>
              </a:rPr>
              <a:t>Start</a:t>
            </a:r>
            <a:endParaRPr lang="en-AU" sz="1800">
              <a:solidFill>
                <a:schemeClr val="tx2"/>
              </a:solidFill>
              <a:latin typeface="Edu NSW ACT Foundation" pitchFamily="2" charset="0"/>
              <a:cs typeface="Arial" panose="020B0604020202020204" pitchFamily="34" charset="0"/>
            </a:endParaRPr>
          </a:p>
        </p:txBody>
      </p:sp>
      <p:graphicFrame>
        <p:nvGraphicFramePr>
          <p:cNvPr id="5" name="Table 4">
            <a:extLst>
              <a:ext uri="{FF2B5EF4-FFF2-40B4-BE49-F238E27FC236}">
                <a16:creationId xmlns:a16="http://schemas.microsoft.com/office/drawing/2014/main" id="{28960238-D03B-B6B5-AD56-A0FC99C1D253}"/>
              </a:ext>
            </a:extLst>
          </p:cNvPr>
          <p:cNvGraphicFramePr>
            <a:graphicFrameLocks noGrp="1"/>
          </p:cNvGraphicFramePr>
          <p:nvPr>
            <p:extLst>
              <p:ext uri="{D42A27DB-BD31-4B8C-83A1-F6EECF244321}">
                <p14:modId xmlns:p14="http://schemas.microsoft.com/office/powerpoint/2010/main" val="405848863"/>
              </p:ext>
            </p:extLst>
          </p:nvPr>
        </p:nvGraphicFramePr>
        <p:xfrm>
          <a:off x="563964" y="2506103"/>
          <a:ext cx="11064072" cy="1045510"/>
        </p:xfrm>
        <a:graphic>
          <a:graphicData uri="http://schemas.openxmlformats.org/drawingml/2006/table">
            <a:tbl>
              <a:tblPr firstRow="1" bandRow="1">
                <a:tableStyleId>{5A111915-BE36-4E01-A7E5-04B1672EAD32}</a:tableStyleId>
              </a:tblPr>
              <a:tblGrid>
                <a:gridCol w="922006">
                  <a:extLst>
                    <a:ext uri="{9D8B030D-6E8A-4147-A177-3AD203B41FA5}">
                      <a16:colId xmlns:a16="http://schemas.microsoft.com/office/drawing/2014/main" val="3837280857"/>
                    </a:ext>
                  </a:extLst>
                </a:gridCol>
                <a:gridCol w="922006">
                  <a:extLst>
                    <a:ext uri="{9D8B030D-6E8A-4147-A177-3AD203B41FA5}">
                      <a16:colId xmlns:a16="http://schemas.microsoft.com/office/drawing/2014/main" val="2194661970"/>
                    </a:ext>
                  </a:extLst>
                </a:gridCol>
                <a:gridCol w="922006">
                  <a:extLst>
                    <a:ext uri="{9D8B030D-6E8A-4147-A177-3AD203B41FA5}">
                      <a16:colId xmlns:a16="http://schemas.microsoft.com/office/drawing/2014/main" val="4161598754"/>
                    </a:ext>
                  </a:extLst>
                </a:gridCol>
                <a:gridCol w="922006">
                  <a:extLst>
                    <a:ext uri="{9D8B030D-6E8A-4147-A177-3AD203B41FA5}">
                      <a16:colId xmlns:a16="http://schemas.microsoft.com/office/drawing/2014/main" val="1010470961"/>
                    </a:ext>
                  </a:extLst>
                </a:gridCol>
                <a:gridCol w="922006">
                  <a:extLst>
                    <a:ext uri="{9D8B030D-6E8A-4147-A177-3AD203B41FA5}">
                      <a16:colId xmlns:a16="http://schemas.microsoft.com/office/drawing/2014/main" val="154564"/>
                    </a:ext>
                  </a:extLst>
                </a:gridCol>
                <a:gridCol w="922006">
                  <a:extLst>
                    <a:ext uri="{9D8B030D-6E8A-4147-A177-3AD203B41FA5}">
                      <a16:colId xmlns:a16="http://schemas.microsoft.com/office/drawing/2014/main" val="306756573"/>
                    </a:ext>
                  </a:extLst>
                </a:gridCol>
                <a:gridCol w="922006">
                  <a:extLst>
                    <a:ext uri="{9D8B030D-6E8A-4147-A177-3AD203B41FA5}">
                      <a16:colId xmlns:a16="http://schemas.microsoft.com/office/drawing/2014/main" val="2205256726"/>
                    </a:ext>
                  </a:extLst>
                </a:gridCol>
                <a:gridCol w="922006">
                  <a:extLst>
                    <a:ext uri="{9D8B030D-6E8A-4147-A177-3AD203B41FA5}">
                      <a16:colId xmlns:a16="http://schemas.microsoft.com/office/drawing/2014/main" val="4124084128"/>
                    </a:ext>
                  </a:extLst>
                </a:gridCol>
                <a:gridCol w="922006">
                  <a:extLst>
                    <a:ext uri="{9D8B030D-6E8A-4147-A177-3AD203B41FA5}">
                      <a16:colId xmlns:a16="http://schemas.microsoft.com/office/drawing/2014/main" val="152913619"/>
                    </a:ext>
                  </a:extLst>
                </a:gridCol>
                <a:gridCol w="922006">
                  <a:extLst>
                    <a:ext uri="{9D8B030D-6E8A-4147-A177-3AD203B41FA5}">
                      <a16:colId xmlns:a16="http://schemas.microsoft.com/office/drawing/2014/main" val="1394205657"/>
                    </a:ext>
                  </a:extLst>
                </a:gridCol>
                <a:gridCol w="922006">
                  <a:extLst>
                    <a:ext uri="{9D8B030D-6E8A-4147-A177-3AD203B41FA5}">
                      <a16:colId xmlns:a16="http://schemas.microsoft.com/office/drawing/2014/main" val="935707309"/>
                    </a:ext>
                  </a:extLst>
                </a:gridCol>
                <a:gridCol w="922006">
                  <a:extLst>
                    <a:ext uri="{9D8B030D-6E8A-4147-A177-3AD203B41FA5}">
                      <a16:colId xmlns:a16="http://schemas.microsoft.com/office/drawing/2014/main" val="487731245"/>
                    </a:ext>
                  </a:extLst>
                </a:gridCol>
              </a:tblGrid>
              <a:tr h="1045510">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59883082"/>
                  </a:ext>
                </a:extLst>
              </a:tr>
            </a:tbl>
          </a:graphicData>
        </a:graphic>
      </p:graphicFrame>
      <p:sp>
        <p:nvSpPr>
          <p:cNvPr id="8" name="TextBox 7">
            <a:extLst>
              <a:ext uri="{FF2B5EF4-FFF2-40B4-BE49-F238E27FC236}">
                <a16:creationId xmlns:a16="http://schemas.microsoft.com/office/drawing/2014/main" id="{42E83727-96ED-1607-8649-D864BBF6C99A}"/>
              </a:ext>
            </a:extLst>
          </p:cNvPr>
          <p:cNvSpPr txBox="1"/>
          <p:nvPr/>
        </p:nvSpPr>
        <p:spPr>
          <a:xfrm>
            <a:off x="10791128" y="2062022"/>
            <a:ext cx="836908" cy="325465"/>
          </a:xfrm>
          <a:prstGeom prst="rect">
            <a:avLst/>
          </a:prstGeom>
          <a:noFill/>
        </p:spPr>
        <p:txBody>
          <a:bodyPr wrap="square" lIns="0" tIns="0" rIns="0" bIns="0" rtlCol="0">
            <a:noAutofit/>
          </a:bodyPr>
          <a:lstStyle/>
          <a:p>
            <a:pPr algn="ctr"/>
            <a:r>
              <a:rPr lang="en-AU">
                <a:solidFill>
                  <a:schemeClr val="tx2"/>
                </a:solidFill>
                <a:latin typeface="Edu NSW ACT Foundation" pitchFamily="2" charset="0"/>
                <a:cs typeface="Arial" panose="020B0604020202020204" pitchFamily="34" charset="0"/>
              </a:rPr>
              <a:t>Finish</a:t>
            </a:r>
            <a:endParaRPr lang="en-AU" sz="1800">
              <a:solidFill>
                <a:schemeClr val="tx2"/>
              </a:solidFill>
              <a:latin typeface="Edu NSW ACT Foundation" pitchFamily="2" charset="0"/>
              <a:cs typeface="Arial" panose="020B0604020202020204" pitchFamily="34" charset="0"/>
            </a:endParaRPr>
          </a:p>
        </p:txBody>
      </p:sp>
      <p:sp>
        <p:nvSpPr>
          <p:cNvPr id="13" name="TextBox 12">
            <a:extLst>
              <a:ext uri="{FF2B5EF4-FFF2-40B4-BE49-F238E27FC236}">
                <a16:creationId xmlns:a16="http://schemas.microsoft.com/office/drawing/2014/main" id="{C5FC9C9D-7C53-D2AA-A292-85AE1D630A55}"/>
              </a:ext>
            </a:extLst>
          </p:cNvPr>
          <p:cNvSpPr txBox="1"/>
          <p:nvPr/>
        </p:nvSpPr>
        <p:spPr>
          <a:xfrm>
            <a:off x="455983" y="3682162"/>
            <a:ext cx="11280033" cy="2748253"/>
          </a:xfrm>
          <a:prstGeom prst="rect">
            <a:avLst/>
          </a:prstGeom>
          <a:noFill/>
        </p:spPr>
        <p:txBody>
          <a:bodyPr wrap="square">
            <a:spAutoFit/>
          </a:bodyPr>
          <a:lstStyle/>
          <a:p>
            <a:pPr algn="ctr">
              <a:lnSpc>
                <a:spcPct val="150000"/>
              </a:lnSpc>
            </a:pPr>
            <a:r>
              <a:rPr lang="en-AU" sz="4000" b="0" i="0">
                <a:solidFill>
                  <a:srgbClr val="000000"/>
                </a:solidFill>
                <a:effectLst/>
                <a:latin typeface="Arial" panose="020B0604020202020204" pitchFamily="34" charset="0"/>
                <a:cs typeface="Arial" panose="020B0604020202020204" pitchFamily="34" charset="0"/>
              </a:rPr>
              <a:t>Can you decide where to place your number on the gameboard so that the sequence of numbers remains in order? </a:t>
            </a:r>
            <a:endParaRPr lang="en-AU" sz="400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25C41C88-6CB6-1EC9-9C06-5B1E1AA461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2056181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56DE5-9054-EDB9-6AA0-DC7E8299AE3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1C5526B-34A8-E53A-E009-C45A1F7CD57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A4D93B1C-8640-0057-E118-4A82C116762C}"/>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0443E027-E11B-A12B-53A8-A4F27E680A18}"/>
              </a:ext>
            </a:extLst>
          </p:cNvPr>
          <p:cNvSpPr>
            <a:spLocks noGrp="1"/>
          </p:cNvSpPr>
          <p:nvPr>
            <p:ph type="body" sz="quarter" idx="28"/>
          </p:nvPr>
        </p:nvSpPr>
        <p:spPr>
          <a:xfrm>
            <a:off x="224589" y="1227984"/>
            <a:ext cx="11619411" cy="754243"/>
          </a:xfrm>
        </p:spPr>
        <p:txBody>
          <a:bodyPr/>
          <a:lstStyle/>
          <a:p>
            <a:r>
              <a:rPr lang="en-AU" sz="4000"/>
              <a:t>Which calculation does this number line represent?</a:t>
            </a:r>
            <a:endParaRPr lang="en-US" sz="4000"/>
          </a:p>
          <a:p>
            <a:endParaRPr lang="en-US" sz="4400"/>
          </a:p>
        </p:txBody>
      </p:sp>
      <p:sp>
        <p:nvSpPr>
          <p:cNvPr id="9" name="TextBox 8">
            <a:extLst>
              <a:ext uri="{FF2B5EF4-FFF2-40B4-BE49-F238E27FC236}">
                <a16:creationId xmlns:a16="http://schemas.microsoft.com/office/drawing/2014/main" id="{9DAA2006-ADB4-D15B-B158-97DC39D26683}"/>
              </a:ext>
            </a:extLst>
          </p:cNvPr>
          <p:cNvSpPr txBox="1"/>
          <p:nvPr/>
        </p:nvSpPr>
        <p:spPr>
          <a:xfrm>
            <a:off x="670560" y="310178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A</a:t>
            </a:r>
          </a:p>
        </p:txBody>
      </p:sp>
      <p:sp>
        <p:nvSpPr>
          <p:cNvPr id="18" name="Text Placeholder 17">
            <a:extLst>
              <a:ext uri="{FF2B5EF4-FFF2-40B4-BE49-F238E27FC236}">
                <a16:creationId xmlns:a16="http://schemas.microsoft.com/office/drawing/2014/main" id="{09A20CC9-6FEE-6369-4AC1-968CEAB9E49B}"/>
              </a:ext>
            </a:extLst>
          </p:cNvPr>
          <p:cNvSpPr>
            <a:spLocks noGrp="1"/>
          </p:cNvSpPr>
          <p:nvPr>
            <p:ph type="body" sz="quarter" idx="31"/>
          </p:nvPr>
        </p:nvSpPr>
        <p:spPr>
          <a:xfrm>
            <a:off x="1345520" y="3035587"/>
            <a:ext cx="10175920" cy="641396"/>
          </a:xfrm>
        </p:spPr>
        <p:txBody>
          <a:bodyPr anchor="ctr"/>
          <a:lstStyle/>
          <a:p>
            <a:r>
              <a:rPr lang="en-US" sz="3600"/>
              <a:t>153 + 99</a:t>
            </a:r>
          </a:p>
        </p:txBody>
      </p:sp>
      <p:sp>
        <p:nvSpPr>
          <p:cNvPr id="10" name="TextBox 9">
            <a:extLst>
              <a:ext uri="{FF2B5EF4-FFF2-40B4-BE49-F238E27FC236}">
                <a16:creationId xmlns:a16="http://schemas.microsoft.com/office/drawing/2014/main" id="{BF8FF86A-8259-4B6A-DD05-B5338957EDC3}"/>
              </a:ext>
            </a:extLst>
          </p:cNvPr>
          <p:cNvSpPr txBox="1"/>
          <p:nvPr/>
        </p:nvSpPr>
        <p:spPr>
          <a:xfrm>
            <a:off x="670559" y="394969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B</a:t>
            </a:r>
          </a:p>
        </p:txBody>
      </p:sp>
      <p:sp>
        <p:nvSpPr>
          <p:cNvPr id="17" name="Text Placeholder 16">
            <a:extLst>
              <a:ext uri="{FF2B5EF4-FFF2-40B4-BE49-F238E27FC236}">
                <a16:creationId xmlns:a16="http://schemas.microsoft.com/office/drawing/2014/main" id="{A1FD909E-672C-E197-EB78-8A0BA88E0D15}"/>
              </a:ext>
            </a:extLst>
          </p:cNvPr>
          <p:cNvSpPr>
            <a:spLocks noGrp="1"/>
          </p:cNvSpPr>
          <p:nvPr>
            <p:ph type="body" sz="quarter" idx="30"/>
          </p:nvPr>
        </p:nvSpPr>
        <p:spPr>
          <a:xfrm>
            <a:off x="1345520" y="3883500"/>
            <a:ext cx="10175920" cy="641396"/>
          </a:xfrm>
        </p:spPr>
        <p:txBody>
          <a:bodyPr anchor="ctr"/>
          <a:lstStyle/>
          <a:p>
            <a:r>
              <a:rPr lang="en-US" sz="3600"/>
              <a:t>153 – 99 </a:t>
            </a:r>
          </a:p>
        </p:txBody>
      </p:sp>
      <p:sp>
        <p:nvSpPr>
          <p:cNvPr id="12" name="TextBox 11">
            <a:extLst>
              <a:ext uri="{FF2B5EF4-FFF2-40B4-BE49-F238E27FC236}">
                <a16:creationId xmlns:a16="http://schemas.microsoft.com/office/drawing/2014/main" id="{BF4B35E9-90ED-91CF-6E7D-3023EE60AD9E}"/>
              </a:ext>
            </a:extLst>
          </p:cNvPr>
          <p:cNvSpPr txBox="1"/>
          <p:nvPr/>
        </p:nvSpPr>
        <p:spPr>
          <a:xfrm>
            <a:off x="670558" y="47997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C</a:t>
            </a:r>
          </a:p>
        </p:txBody>
      </p:sp>
      <p:sp>
        <p:nvSpPr>
          <p:cNvPr id="16" name="Text Placeholder 15">
            <a:extLst>
              <a:ext uri="{FF2B5EF4-FFF2-40B4-BE49-F238E27FC236}">
                <a16:creationId xmlns:a16="http://schemas.microsoft.com/office/drawing/2014/main" id="{045B94D9-74FB-9D4A-9C43-F68419839CEC}"/>
              </a:ext>
            </a:extLst>
          </p:cNvPr>
          <p:cNvSpPr>
            <a:spLocks noGrp="1"/>
          </p:cNvSpPr>
          <p:nvPr>
            <p:ph type="body" sz="quarter" idx="29"/>
          </p:nvPr>
        </p:nvSpPr>
        <p:spPr>
          <a:xfrm>
            <a:off x="1345520" y="4733553"/>
            <a:ext cx="10175920" cy="641396"/>
          </a:xfrm>
        </p:spPr>
        <p:txBody>
          <a:bodyPr anchor="ctr"/>
          <a:lstStyle/>
          <a:p>
            <a:r>
              <a:rPr lang="en-US" sz="3600"/>
              <a:t>99+ 54 </a:t>
            </a:r>
          </a:p>
        </p:txBody>
      </p:sp>
      <p:sp>
        <p:nvSpPr>
          <p:cNvPr id="11" name="TextBox 10">
            <a:extLst>
              <a:ext uri="{FF2B5EF4-FFF2-40B4-BE49-F238E27FC236}">
                <a16:creationId xmlns:a16="http://schemas.microsoft.com/office/drawing/2014/main" id="{CD2988DB-B474-6203-5DD2-06443FE29ECF}"/>
              </a:ext>
            </a:extLst>
          </p:cNvPr>
          <p:cNvSpPr txBox="1"/>
          <p:nvPr/>
        </p:nvSpPr>
        <p:spPr>
          <a:xfrm>
            <a:off x="670557" y="564980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D</a:t>
            </a:r>
          </a:p>
        </p:txBody>
      </p:sp>
      <p:sp>
        <p:nvSpPr>
          <p:cNvPr id="14" name="Text Placeholder 13">
            <a:extLst>
              <a:ext uri="{FF2B5EF4-FFF2-40B4-BE49-F238E27FC236}">
                <a16:creationId xmlns:a16="http://schemas.microsoft.com/office/drawing/2014/main" id="{3637AEFE-A71B-D626-319A-5221A7FBA3D7}"/>
              </a:ext>
            </a:extLst>
          </p:cNvPr>
          <p:cNvSpPr>
            <a:spLocks noGrp="1"/>
          </p:cNvSpPr>
          <p:nvPr>
            <p:ph type="body" sz="quarter" idx="27"/>
          </p:nvPr>
        </p:nvSpPr>
        <p:spPr>
          <a:xfrm>
            <a:off x="1345520" y="5583606"/>
            <a:ext cx="10175920" cy="641396"/>
          </a:xfrm>
        </p:spPr>
        <p:txBody>
          <a:bodyPr anchor="ctr"/>
          <a:lstStyle/>
          <a:p>
            <a:r>
              <a:rPr lang="en-US" sz="3600"/>
              <a:t>53 + 100</a:t>
            </a:r>
          </a:p>
        </p:txBody>
      </p:sp>
      <p:pic>
        <p:nvPicPr>
          <p:cNvPr id="7" name="Picture 6" descr="A number line showing subtraction using jumps. An arrow shows a jump back from 153 to 53. A small red arrow shows a forward jump of 1 finishing at 54.">
            <a:extLst>
              <a:ext uri="{FF2B5EF4-FFF2-40B4-BE49-F238E27FC236}">
                <a16:creationId xmlns:a16="http://schemas.microsoft.com/office/drawing/2014/main" id="{733749E0-7531-8DE7-F7F3-CF871FDA5784}"/>
              </a:ext>
            </a:extLst>
          </p:cNvPr>
          <p:cNvPicPr>
            <a:picLocks noChangeAspect="1"/>
          </p:cNvPicPr>
          <p:nvPr/>
        </p:nvPicPr>
        <p:blipFill>
          <a:blip r:embed="rId4"/>
          <a:stretch>
            <a:fillRect/>
          </a:stretch>
        </p:blipFill>
        <p:spPr>
          <a:xfrm>
            <a:off x="5236937" y="2571409"/>
            <a:ext cx="5570971" cy="3756507"/>
          </a:xfrm>
          <a:prstGeom prst="rect">
            <a:avLst/>
          </a:prstGeom>
        </p:spPr>
      </p:pic>
      <p:sp>
        <p:nvSpPr>
          <p:cNvPr id="2" name="Slide Number Placeholder 1">
            <a:extLst>
              <a:ext uri="{FF2B5EF4-FFF2-40B4-BE49-F238E27FC236}">
                <a16:creationId xmlns:a16="http://schemas.microsoft.com/office/drawing/2014/main" id="{A6C2BFFC-84AB-C30B-C108-1205554FD32A}"/>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33</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22172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71FC3D3-E806-86FC-0CCE-C475B2EB78CE}"/>
              </a:ext>
            </a:extLst>
          </p:cNvPr>
          <p:cNvSpPr txBox="1"/>
          <p:nvPr/>
        </p:nvSpPr>
        <p:spPr>
          <a:xfrm>
            <a:off x="714821" y="905601"/>
            <a:ext cx="11117179" cy="2060620"/>
          </a:xfrm>
          <a:prstGeom prst="rect">
            <a:avLst/>
          </a:prstGeom>
          <a:noFill/>
        </p:spPr>
        <p:txBody>
          <a:bodyPr wrap="square" lIns="0" tIns="0" rIns="0" bIns="0" rtlCol="0">
            <a:noAutofit/>
          </a:bodyPr>
          <a:lstStyle/>
          <a:p>
            <a:pPr algn="ctr">
              <a:lnSpc>
                <a:spcPct val="150000"/>
              </a:lnSpc>
            </a:pPr>
            <a:r>
              <a:rPr lang="en-AU" sz="4400"/>
              <a:t>How long is this paperclip? </a:t>
            </a:r>
          </a:p>
          <a:p>
            <a:pPr algn="ctr">
              <a:lnSpc>
                <a:spcPct val="150000"/>
              </a:lnSpc>
            </a:pPr>
            <a:r>
              <a:rPr lang="en-AU" sz="4400"/>
              <a:t>Record using </a:t>
            </a:r>
            <a:r>
              <a:rPr lang="en-AU" sz="4400" b="1"/>
              <a:t>mm.</a:t>
            </a:r>
          </a:p>
          <a:p>
            <a:pPr algn="ctr"/>
            <a:endParaRPr lang="en-AU" sz="4400"/>
          </a:p>
        </p:txBody>
      </p:sp>
      <p:pic>
        <p:nvPicPr>
          <p:cNvPr id="11" name="Picture 10" descr="A ruler showing a paper clip that measure 7 cm.">
            <a:extLst>
              <a:ext uri="{FF2B5EF4-FFF2-40B4-BE49-F238E27FC236}">
                <a16:creationId xmlns:a16="http://schemas.microsoft.com/office/drawing/2014/main" id="{B00AA254-CC68-6FED-BBDA-38A23E770BE1}"/>
              </a:ext>
            </a:extLst>
          </p:cNvPr>
          <p:cNvPicPr>
            <a:picLocks noChangeAspect="1"/>
          </p:cNvPicPr>
          <p:nvPr/>
        </p:nvPicPr>
        <p:blipFill>
          <a:blip r:embed="rId4"/>
          <a:stretch>
            <a:fillRect/>
          </a:stretch>
        </p:blipFill>
        <p:spPr>
          <a:xfrm>
            <a:off x="1958762" y="2791482"/>
            <a:ext cx="8274475" cy="3397425"/>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 uri="{C183D7F6-B498-43B3-948B-1728B52AA6E4}">
                <adec:decorative xmlns:adec="http://schemas.microsoft.com/office/drawing/2017/decorative" val="0"/>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a:extLst>
              <a:ext uri="{FF2B5EF4-FFF2-40B4-BE49-F238E27FC236}">
                <a16:creationId xmlns:a16="http://schemas.microsoft.com/office/drawing/2014/main" id="{953A0F37-156D-A024-D6DE-D428968A581B}"/>
              </a:ext>
            </a:extLst>
          </p:cNvPr>
          <p:cNvSpPr txBox="1"/>
          <p:nvPr/>
        </p:nvSpPr>
        <p:spPr>
          <a:xfrm>
            <a:off x="397042" y="1564105"/>
            <a:ext cx="11237495" cy="4367463"/>
          </a:xfrm>
          <a:prstGeom prst="rect">
            <a:avLst/>
          </a:prstGeom>
          <a:noFill/>
        </p:spPr>
        <p:txBody>
          <a:bodyPr wrap="square" lIns="0" tIns="0" rIns="0" bIns="0" rtlCol="0">
            <a:noAutofit/>
          </a:bodyPr>
          <a:lstStyle/>
          <a:p>
            <a:pPr algn="ctr">
              <a:lnSpc>
                <a:spcPct val="150000"/>
              </a:lnSpc>
            </a:pPr>
            <a:r>
              <a:rPr lang="en-AU" sz="4400"/>
              <a:t>Use the </a:t>
            </a:r>
            <a:r>
              <a:rPr lang="en-AU" sz="4400" b="1"/>
              <a:t>compensation strategy </a:t>
            </a:r>
            <a:r>
              <a:rPr lang="en-AU" sz="4400"/>
              <a:t>to complete:</a:t>
            </a:r>
          </a:p>
          <a:p>
            <a:pPr algn="ctr"/>
            <a:endParaRPr lang="en-AU" sz="4400"/>
          </a:p>
          <a:p>
            <a:pPr algn="ctr"/>
            <a:r>
              <a:rPr lang="en-AU" sz="5400"/>
              <a:t>90 – 28 =</a:t>
            </a:r>
          </a:p>
          <a:p>
            <a:pPr algn="ctr"/>
            <a:endParaRPr lang="en-AU" sz="4400"/>
          </a:p>
          <a:p>
            <a:pPr algn="ctr"/>
            <a:r>
              <a:rPr lang="en-AU" sz="4400" b="1"/>
              <a:t>Explain </a:t>
            </a:r>
            <a:r>
              <a:rPr lang="en-AU" sz="4400"/>
              <a:t>your </a:t>
            </a:r>
            <a:r>
              <a:rPr lang="en-AU" sz="4400" b="1"/>
              <a:t>reasoning.</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C5B2A28-C819-4AB3-426A-620B0BD6A1C0}"/>
              </a:ext>
            </a:extLst>
          </p:cNvPr>
          <p:cNvSpPr txBox="1"/>
          <p:nvPr/>
        </p:nvSpPr>
        <p:spPr>
          <a:xfrm>
            <a:off x="397042" y="1564105"/>
            <a:ext cx="11309684" cy="4439653"/>
          </a:xfrm>
          <a:prstGeom prst="rect">
            <a:avLst/>
          </a:prstGeom>
          <a:noFill/>
        </p:spPr>
        <p:txBody>
          <a:bodyPr wrap="square" lIns="0" tIns="0" rIns="0" bIns="0" rtlCol="0">
            <a:noAutofit/>
          </a:bodyPr>
          <a:lstStyle/>
          <a:p>
            <a:pPr algn="ctr"/>
            <a:r>
              <a:rPr lang="en-AU" sz="4400" b="1"/>
              <a:t>Record</a:t>
            </a:r>
            <a:r>
              <a:rPr lang="en-AU" sz="4400"/>
              <a:t> the following numbers in </a:t>
            </a:r>
            <a:r>
              <a:rPr lang="en-AU" sz="4400" b="1"/>
              <a:t>numerals:</a:t>
            </a:r>
          </a:p>
          <a:p>
            <a:pPr algn="ctr"/>
            <a:endParaRPr lang="en-AU" sz="4400"/>
          </a:p>
          <a:p>
            <a:pPr marL="571500" indent="-571500">
              <a:lnSpc>
                <a:spcPct val="150000"/>
              </a:lnSpc>
              <a:buFont typeface="Arial" panose="020B0604020202020204" pitchFamily="34" charset="0"/>
              <a:buChar char="•"/>
            </a:pPr>
            <a:r>
              <a:rPr lang="en-AU" sz="4400"/>
              <a:t>one hundred and three</a:t>
            </a:r>
          </a:p>
          <a:p>
            <a:pPr marL="571500" indent="-571500">
              <a:lnSpc>
                <a:spcPct val="150000"/>
              </a:lnSpc>
              <a:buFont typeface="Arial" panose="020B0604020202020204" pitchFamily="34" charset="0"/>
              <a:buChar char="•"/>
            </a:pPr>
            <a:r>
              <a:rPr lang="en-AU" sz="4400"/>
              <a:t>one thousand and forty-seven</a:t>
            </a:r>
          </a:p>
          <a:p>
            <a:pPr marL="571500" indent="-571500">
              <a:lnSpc>
                <a:spcPct val="150000"/>
              </a:lnSpc>
              <a:buFont typeface="Arial" panose="020B0604020202020204" pitchFamily="34" charset="0"/>
              <a:buChar char="•"/>
            </a:pPr>
            <a:r>
              <a:rPr lang="en-AU" sz="4400"/>
              <a:t>two hundred and sixty</a:t>
            </a:r>
          </a:p>
          <a:p>
            <a:pPr algn="ctr"/>
            <a:endParaRPr lang="en-AU" sz="4400"/>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FA6B08DD-4646-8DB6-C920-C5AD2FE24CB6}"/>
              </a:ext>
            </a:extLst>
          </p:cNvPr>
          <p:cNvSpPr txBox="1"/>
          <p:nvPr/>
        </p:nvSpPr>
        <p:spPr>
          <a:xfrm>
            <a:off x="826543" y="675516"/>
            <a:ext cx="10797420" cy="1172817"/>
          </a:xfrm>
          <a:prstGeom prst="rect">
            <a:avLst/>
          </a:prstGeom>
          <a:noFill/>
        </p:spPr>
        <p:txBody>
          <a:bodyPr wrap="square" lIns="0" tIns="0" rIns="0" bIns="0" rtlCol="0">
            <a:noAutofit/>
          </a:bodyPr>
          <a:lstStyle/>
          <a:p>
            <a:pPr algn="ctr">
              <a:lnSpc>
                <a:spcPct val="150000"/>
              </a:lnSpc>
            </a:pPr>
            <a:r>
              <a:rPr lang="en-AU" sz="4400"/>
              <a:t>It is </a:t>
            </a:r>
            <a:r>
              <a:rPr lang="en-AU" sz="4400" b="1"/>
              <a:t>Saturday 4 September</a:t>
            </a:r>
            <a:r>
              <a:rPr lang="en-AU" sz="4400"/>
              <a:t>. How many </a:t>
            </a:r>
            <a:r>
              <a:rPr lang="en-AU" sz="4400" b="1"/>
              <a:t>weeks</a:t>
            </a:r>
            <a:r>
              <a:rPr lang="en-AU" sz="4400"/>
              <a:t> until</a:t>
            </a:r>
            <a:r>
              <a:rPr lang="en-AU" sz="4400" b="1"/>
              <a:t> Saturday 25 September?</a:t>
            </a:r>
            <a:endParaRPr lang="en-AU" sz="4400"/>
          </a:p>
        </p:txBody>
      </p:sp>
      <p:graphicFrame>
        <p:nvGraphicFramePr>
          <p:cNvPr id="9" name="Table 8">
            <a:extLst>
              <a:ext uri="{FF2B5EF4-FFF2-40B4-BE49-F238E27FC236}">
                <a16:creationId xmlns:a16="http://schemas.microsoft.com/office/drawing/2014/main" id="{C03C6422-C007-C991-C948-945560E0F21E}"/>
              </a:ext>
            </a:extLst>
          </p:cNvPr>
          <p:cNvGraphicFramePr>
            <a:graphicFrameLocks noGrp="1"/>
          </p:cNvGraphicFramePr>
          <p:nvPr>
            <p:extLst>
              <p:ext uri="{D42A27DB-BD31-4B8C-83A1-F6EECF244321}">
                <p14:modId xmlns:p14="http://schemas.microsoft.com/office/powerpoint/2010/main" val="3675664768"/>
              </p:ext>
            </p:extLst>
          </p:nvPr>
        </p:nvGraphicFramePr>
        <p:xfrm>
          <a:off x="2630617" y="2672640"/>
          <a:ext cx="7189273" cy="4023360"/>
        </p:xfrm>
        <a:graphic>
          <a:graphicData uri="http://schemas.openxmlformats.org/drawingml/2006/table">
            <a:tbl>
              <a:tblPr firstRow="1" bandRow="1"/>
              <a:tblGrid>
                <a:gridCol w="1027039">
                  <a:extLst>
                    <a:ext uri="{9D8B030D-6E8A-4147-A177-3AD203B41FA5}">
                      <a16:colId xmlns:a16="http://schemas.microsoft.com/office/drawing/2014/main" val="3920682377"/>
                    </a:ext>
                  </a:extLst>
                </a:gridCol>
                <a:gridCol w="889707">
                  <a:extLst>
                    <a:ext uri="{9D8B030D-6E8A-4147-A177-3AD203B41FA5}">
                      <a16:colId xmlns:a16="http://schemas.microsoft.com/office/drawing/2014/main" val="407197394"/>
                    </a:ext>
                  </a:extLst>
                </a:gridCol>
                <a:gridCol w="1164371">
                  <a:extLst>
                    <a:ext uri="{9D8B030D-6E8A-4147-A177-3AD203B41FA5}">
                      <a16:colId xmlns:a16="http://schemas.microsoft.com/office/drawing/2014/main" val="3497421249"/>
                    </a:ext>
                  </a:extLst>
                </a:gridCol>
                <a:gridCol w="1027039">
                  <a:extLst>
                    <a:ext uri="{9D8B030D-6E8A-4147-A177-3AD203B41FA5}">
                      <a16:colId xmlns:a16="http://schemas.microsoft.com/office/drawing/2014/main" val="4275081898"/>
                    </a:ext>
                  </a:extLst>
                </a:gridCol>
                <a:gridCol w="1027039">
                  <a:extLst>
                    <a:ext uri="{9D8B030D-6E8A-4147-A177-3AD203B41FA5}">
                      <a16:colId xmlns:a16="http://schemas.microsoft.com/office/drawing/2014/main" val="1187562193"/>
                    </a:ext>
                  </a:extLst>
                </a:gridCol>
                <a:gridCol w="1027039">
                  <a:extLst>
                    <a:ext uri="{9D8B030D-6E8A-4147-A177-3AD203B41FA5}">
                      <a16:colId xmlns:a16="http://schemas.microsoft.com/office/drawing/2014/main" val="2222312420"/>
                    </a:ext>
                  </a:extLst>
                </a:gridCol>
                <a:gridCol w="1027039">
                  <a:extLst>
                    <a:ext uri="{9D8B030D-6E8A-4147-A177-3AD203B41FA5}">
                      <a16:colId xmlns:a16="http://schemas.microsoft.com/office/drawing/2014/main" val="2173235402"/>
                    </a:ext>
                  </a:extLst>
                </a:gridCol>
              </a:tblGrid>
              <a:tr h="422043">
                <a:tc gridSpan="7">
                  <a:txBody>
                    <a:bodyPr/>
                    <a:lstStyle/>
                    <a:p>
                      <a:pPr algn="ctr"/>
                      <a:r>
                        <a:rPr lang="en-AU" sz="2800" b="1"/>
                        <a:t>September</a:t>
                      </a:r>
                    </a:p>
                  </a:txBody>
                  <a:tcPr>
                    <a:solidFill>
                      <a:srgbClr val="9966FF"/>
                    </a:solidFill>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2861238810"/>
                  </a:ext>
                </a:extLst>
              </a:tr>
              <a:tr h="302050">
                <a:tc>
                  <a:txBody>
                    <a:bodyPr/>
                    <a:lstStyle/>
                    <a:p>
                      <a:pPr algn="ctr"/>
                      <a:r>
                        <a:rPr lang="en-AU" sz="1400" b="1"/>
                        <a:t>Monday</a:t>
                      </a:r>
                    </a:p>
                  </a:txBody>
                  <a:tcPr>
                    <a:solidFill>
                      <a:srgbClr val="CC99FF"/>
                    </a:solidFill>
                  </a:tcPr>
                </a:tc>
                <a:tc>
                  <a:txBody>
                    <a:bodyPr/>
                    <a:lstStyle/>
                    <a:p>
                      <a:pPr algn="ctr"/>
                      <a:r>
                        <a:rPr lang="en-AU" sz="1400" b="1"/>
                        <a:t>Tuesday</a:t>
                      </a:r>
                    </a:p>
                  </a:txBody>
                  <a:tcPr>
                    <a:solidFill>
                      <a:srgbClr val="CC99FF"/>
                    </a:solidFill>
                  </a:tcPr>
                </a:tc>
                <a:tc>
                  <a:txBody>
                    <a:bodyPr/>
                    <a:lstStyle/>
                    <a:p>
                      <a:pPr algn="ctr"/>
                      <a:r>
                        <a:rPr lang="en-AU" sz="1400" b="1"/>
                        <a:t>Wednesday</a:t>
                      </a:r>
                    </a:p>
                  </a:txBody>
                  <a:tcPr>
                    <a:solidFill>
                      <a:srgbClr val="CC99FF"/>
                    </a:solidFill>
                  </a:tcPr>
                </a:tc>
                <a:tc>
                  <a:txBody>
                    <a:bodyPr/>
                    <a:lstStyle/>
                    <a:p>
                      <a:pPr algn="ctr"/>
                      <a:r>
                        <a:rPr lang="en-AU" sz="1400" b="1"/>
                        <a:t>Thursday</a:t>
                      </a:r>
                    </a:p>
                  </a:txBody>
                  <a:tcPr>
                    <a:solidFill>
                      <a:srgbClr val="CC99FF"/>
                    </a:solidFill>
                  </a:tcPr>
                </a:tc>
                <a:tc>
                  <a:txBody>
                    <a:bodyPr/>
                    <a:lstStyle/>
                    <a:p>
                      <a:pPr algn="ctr"/>
                      <a:r>
                        <a:rPr lang="en-AU" sz="1400" b="1"/>
                        <a:t>Friday</a:t>
                      </a:r>
                    </a:p>
                  </a:txBody>
                  <a:tcPr>
                    <a:solidFill>
                      <a:srgbClr val="CC99FF"/>
                    </a:solidFill>
                  </a:tcPr>
                </a:tc>
                <a:tc>
                  <a:txBody>
                    <a:bodyPr/>
                    <a:lstStyle/>
                    <a:p>
                      <a:pPr algn="ctr"/>
                      <a:r>
                        <a:rPr lang="en-AU" sz="1400" b="1"/>
                        <a:t>Saturday</a:t>
                      </a:r>
                    </a:p>
                  </a:txBody>
                  <a:tcPr>
                    <a:solidFill>
                      <a:srgbClr val="CC99FF"/>
                    </a:solidFill>
                  </a:tcPr>
                </a:tc>
                <a:tc>
                  <a:txBody>
                    <a:bodyPr/>
                    <a:lstStyle/>
                    <a:p>
                      <a:pPr algn="ctr"/>
                      <a:r>
                        <a:rPr lang="en-AU" sz="1400" b="1"/>
                        <a:t>Sunday</a:t>
                      </a:r>
                    </a:p>
                  </a:txBody>
                  <a:tcPr>
                    <a:solidFill>
                      <a:srgbClr val="CC99FF"/>
                    </a:solidFill>
                  </a:tcPr>
                </a:tc>
                <a:extLst>
                  <a:ext uri="{0D108BD9-81ED-4DB2-BD59-A6C34878D82A}">
                    <a16:rowId xmlns:a16="http://schemas.microsoft.com/office/drawing/2014/main" val="4139621693"/>
                  </a:ext>
                </a:extLst>
              </a:tr>
              <a:tr h="620652">
                <a:tc>
                  <a:txBody>
                    <a:bodyPr/>
                    <a:lstStyle/>
                    <a:p>
                      <a:pPr algn="ctr"/>
                      <a:endParaRPr lang="en-AU" sz="3600"/>
                    </a:p>
                  </a:txBody>
                  <a:tcPr/>
                </a:tc>
                <a:tc>
                  <a:txBody>
                    <a:bodyPr/>
                    <a:lstStyle/>
                    <a:p>
                      <a:pPr algn="ctr"/>
                      <a:endParaRPr lang="en-AU" sz="3600"/>
                    </a:p>
                  </a:txBody>
                  <a:tcPr/>
                </a:tc>
                <a:tc>
                  <a:txBody>
                    <a:bodyPr/>
                    <a:lstStyle/>
                    <a:p>
                      <a:pPr algn="ctr"/>
                      <a:r>
                        <a:rPr lang="en-AU" sz="3600"/>
                        <a:t>1</a:t>
                      </a:r>
                    </a:p>
                  </a:txBody>
                  <a:tcPr/>
                </a:tc>
                <a:tc>
                  <a:txBody>
                    <a:bodyPr/>
                    <a:lstStyle/>
                    <a:p>
                      <a:pPr algn="ctr"/>
                      <a:r>
                        <a:rPr lang="en-AU" sz="3600"/>
                        <a:t>2</a:t>
                      </a:r>
                    </a:p>
                  </a:txBody>
                  <a:tcPr/>
                </a:tc>
                <a:tc>
                  <a:txBody>
                    <a:bodyPr/>
                    <a:lstStyle/>
                    <a:p>
                      <a:pPr algn="ctr"/>
                      <a:r>
                        <a:rPr lang="en-AU" sz="3600"/>
                        <a:t>3</a:t>
                      </a:r>
                    </a:p>
                  </a:txBody>
                  <a:tcPr/>
                </a:tc>
                <a:tc>
                  <a:txBody>
                    <a:bodyPr/>
                    <a:lstStyle/>
                    <a:p>
                      <a:pPr algn="ctr"/>
                      <a:r>
                        <a:rPr lang="en-AU" sz="3600"/>
                        <a:t>4</a:t>
                      </a:r>
                    </a:p>
                  </a:txBody>
                  <a:tcPr/>
                </a:tc>
                <a:tc>
                  <a:txBody>
                    <a:bodyPr/>
                    <a:lstStyle/>
                    <a:p>
                      <a:pPr algn="ctr"/>
                      <a:r>
                        <a:rPr lang="en-AU" sz="3600"/>
                        <a:t>5</a:t>
                      </a:r>
                    </a:p>
                  </a:txBody>
                  <a:tcPr/>
                </a:tc>
                <a:extLst>
                  <a:ext uri="{0D108BD9-81ED-4DB2-BD59-A6C34878D82A}">
                    <a16:rowId xmlns:a16="http://schemas.microsoft.com/office/drawing/2014/main" val="3351411625"/>
                  </a:ext>
                </a:extLst>
              </a:tr>
              <a:tr h="620652">
                <a:tc>
                  <a:txBody>
                    <a:bodyPr/>
                    <a:lstStyle/>
                    <a:p>
                      <a:pPr algn="ctr"/>
                      <a:r>
                        <a:rPr lang="en-AU" sz="3600"/>
                        <a:t>6</a:t>
                      </a:r>
                    </a:p>
                  </a:txBody>
                  <a:tcPr/>
                </a:tc>
                <a:tc>
                  <a:txBody>
                    <a:bodyPr/>
                    <a:lstStyle/>
                    <a:p>
                      <a:pPr algn="ctr"/>
                      <a:r>
                        <a:rPr lang="en-AU" sz="3600"/>
                        <a:t>7</a:t>
                      </a:r>
                    </a:p>
                  </a:txBody>
                  <a:tcPr/>
                </a:tc>
                <a:tc>
                  <a:txBody>
                    <a:bodyPr/>
                    <a:lstStyle/>
                    <a:p>
                      <a:pPr algn="ctr"/>
                      <a:r>
                        <a:rPr lang="en-AU" sz="3600"/>
                        <a:t>8</a:t>
                      </a:r>
                    </a:p>
                  </a:txBody>
                  <a:tcPr/>
                </a:tc>
                <a:tc>
                  <a:txBody>
                    <a:bodyPr/>
                    <a:lstStyle/>
                    <a:p>
                      <a:pPr algn="ctr"/>
                      <a:r>
                        <a:rPr lang="en-AU" sz="3600"/>
                        <a:t>9</a:t>
                      </a:r>
                    </a:p>
                  </a:txBody>
                  <a:tcPr/>
                </a:tc>
                <a:tc>
                  <a:txBody>
                    <a:bodyPr/>
                    <a:lstStyle/>
                    <a:p>
                      <a:pPr algn="ctr"/>
                      <a:r>
                        <a:rPr lang="en-AU" sz="3600"/>
                        <a:t>10</a:t>
                      </a:r>
                    </a:p>
                  </a:txBody>
                  <a:tcPr/>
                </a:tc>
                <a:tc>
                  <a:txBody>
                    <a:bodyPr/>
                    <a:lstStyle/>
                    <a:p>
                      <a:pPr algn="ctr"/>
                      <a:r>
                        <a:rPr lang="en-AU" sz="3600"/>
                        <a:t>11</a:t>
                      </a:r>
                    </a:p>
                  </a:txBody>
                  <a:tcPr/>
                </a:tc>
                <a:tc>
                  <a:txBody>
                    <a:bodyPr/>
                    <a:lstStyle/>
                    <a:p>
                      <a:pPr algn="ctr"/>
                      <a:r>
                        <a:rPr lang="en-AU" sz="3600"/>
                        <a:t>12</a:t>
                      </a:r>
                    </a:p>
                  </a:txBody>
                  <a:tcPr/>
                </a:tc>
                <a:extLst>
                  <a:ext uri="{0D108BD9-81ED-4DB2-BD59-A6C34878D82A}">
                    <a16:rowId xmlns:a16="http://schemas.microsoft.com/office/drawing/2014/main" val="2462135234"/>
                  </a:ext>
                </a:extLst>
              </a:tr>
              <a:tr h="620652">
                <a:tc>
                  <a:txBody>
                    <a:bodyPr/>
                    <a:lstStyle/>
                    <a:p>
                      <a:pPr algn="ctr"/>
                      <a:r>
                        <a:rPr lang="en-AU" sz="3600"/>
                        <a:t>13</a:t>
                      </a:r>
                    </a:p>
                  </a:txBody>
                  <a:tcPr/>
                </a:tc>
                <a:tc>
                  <a:txBody>
                    <a:bodyPr/>
                    <a:lstStyle/>
                    <a:p>
                      <a:pPr algn="ctr"/>
                      <a:r>
                        <a:rPr lang="en-AU" sz="3600"/>
                        <a:t>14</a:t>
                      </a:r>
                    </a:p>
                  </a:txBody>
                  <a:tcPr/>
                </a:tc>
                <a:tc>
                  <a:txBody>
                    <a:bodyPr/>
                    <a:lstStyle/>
                    <a:p>
                      <a:pPr algn="ctr"/>
                      <a:r>
                        <a:rPr lang="en-AU" sz="3600"/>
                        <a:t>15</a:t>
                      </a:r>
                    </a:p>
                  </a:txBody>
                  <a:tcPr/>
                </a:tc>
                <a:tc>
                  <a:txBody>
                    <a:bodyPr/>
                    <a:lstStyle/>
                    <a:p>
                      <a:pPr algn="ctr"/>
                      <a:r>
                        <a:rPr lang="en-AU" sz="3600"/>
                        <a:t>16</a:t>
                      </a:r>
                    </a:p>
                  </a:txBody>
                  <a:tcPr/>
                </a:tc>
                <a:tc>
                  <a:txBody>
                    <a:bodyPr/>
                    <a:lstStyle/>
                    <a:p>
                      <a:pPr algn="ctr"/>
                      <a:r>
                        <a:rPr lang="en-AU" sz="3600"/>
                        <a:t>17</a:t>
                      </a:r>
                    </a:p>
                  </a:txBody>
                  <a:tcPr/>
                </a:tc>
                <a:tc>
                  <a:txBody>
                    <a:bodyPr/>
                    <a:lstStyle/>
                    <a:p>
                      <a:pPr algn="ctr"/>
                      <a:r>
                        <a:rPr lang="en-AU" sz="3600"/>
                        <a:t>18</a:t>
                      </a:r>
                    </a:p>
                  </a:txBody>
                  <a:tcPr/>
                </a:tc>
                <a:tc>
                  <a:txBody>
                    <a:bodyPr/>
                    <a:lstStyle/>
                    <a:p>
                      <a:pPr algn="ctr"/>
                      <a:r>
                        <a:rPr lang="en-AU" sz="3600"/>
                        <a:t>19</a:t>
                      </a:r>
                    </a:p>
                  </a:txBody>
                  <a:tcPr/>
                </a:tc>
                <a:extLst>
                  <a:ext uri="{0D108BD9-81ED-4DB2-BD59-A6C34878D82A}">
                    <a16:rowId xmlns:a16="http://schemas.microsoft.com/office/drawing/2014/main" val="2824762049"/>
                  </a:ext>
                </a:extLst>
              </a:tr>
              <a:tr h="620652">
                <a:tc>
                  <a:txBody>
                    <a:bodyPr/>
                    <a:lstStyle/>
                    <a:p>
                      <a:pPr algn="ctr"/>
                      <a:r>
                        <a:rPr lang="en-AU" sz="3600"/>
                        <a:t>20</a:t>
                      </a:r>
                    </a:p>
                  </a:txBody>
                  <a:tcPr/>
                </a:tc>
                <a:tc>
                  <a:txBody>
                    <a:bodyPr/>
                    <a:lstStyle/>
                    <a:p>
                      <a:pPr algn="ctr"/>
                      <a:r>
                        <a:rPr lang="en-AU" sz="3600"/>
                        <a:t>21</a:t>
                      </a:r>
                    </a:p>
                  </a:txBody>
                  <a:tcPr/>
                </a:tc>
                <a:tc>
                  <a:txBody>
                    <a:bodyPr/>
                    <a:lstStyle/>
                    <a:p>
                      <a:pPr algn="ctr"/>
                      <a:r>
                        <a:rPr lang="en-AU" sz="3600"/>
                        <a:t>22</a:t>
                      </a:r>
                    </a:p>
                  </a:txBody>
                  <a:tcPr/>
                </a:tc>
                <a:tc>
                  <a:txBody>
                    <a:bodyPr/>
                    <a:lstStyle/>
                    <a:p>
                      <a:pPr algn="ctr"/>
                      <a:r>
                        <a:rPr lang="en-AU" sz="3600"/>
                        <a:t>23</a:t>
                      </a:r>
                    </a:p>
                  </a:txBody>
                  <a:tcPr/>
                </a:tc>
                <a:tc>
                  <a:txBody>
                    <a:bodyPr/>
                    <a:lstStyle/>
                    <a:p>
                      <a:pPr algn="ctr"/>
                      <a:r>
                        <a:rPr lang="en-AU" sz="3600"/>
                        <a:t>24</a:t>
                      </a:r>
                    </a:p>
                  </a:txBody>
                  <a:tcPr/>
                </a:tc>
                <a:tc>
                  <a:txBody>
                    <a:bodyPr/>
                    <a:lstStyle/>
                    <a:p>
                      <a:pPr algn="ctr"/>
                      <a:r>
                        <a:rPr lang="en-AU" sz="3600"/>
                        <a:t>25</a:t>
                      </a:r>
                    </a:p>
                  </a:txBody>
                  <a:tcPr/>
                </a:tc>
                <a:tc>
                  <a:txBody>
                    <a:bodyPr/>
                    <a:lstStyle/>
                    <a:p>
                      <a:pPr algn="ctr"/>
                      <a:r>
                        <a:rPr lang="en-AU" sz="3600"/>
                        <a:t>26</a:t>
                      </a:r>
                    </a:p>
                  </a:txBody>
                  <a:tcPr/>
                </a:tc>
                <a:extLst>
                  <a:ext uri="{0D108BD9-81ED-4DB2-BD59-A6C34878D82A}">
                    <a16:rowId xmlns:a16="http://schemas.microsoft.com/office/drawing/2014/main" val="4127412486"/>
                  </a:ext>
                </a:extLst>
              </a:tr>
              <a:tr h="620652">
                <a:tc>
                  <a:txBody>
                    <a:bodyPr/>
                    <a:lstStyle/>
                    <a:p>
                      <a:pPr algn="ctr"/>
                      <a:r>
                        <a:rPr lang="en-AU" sz="3600"/>
                        <a:t>27</a:t>
                      </a:r>
                    </a:p>
                  </a:txBody>
                  <a:tcPr/>
                </a:tc>
                <a:tc>
                  <a:txBody>
                    <a:bodyPr/>
                    <a:lstStyle/>
                    <a:p>
                      <a:pPr algn="ctr"/>
                      <a:r>
                        <a:rPr lang="en-AU" sz="3600"/>
                        <a:t>28</a:t>
                      </a:r>
                    </a:p>
                  </a:txBody>
                  <a:tcPr/>
                </a:tc>
                <a:tc>
                  <a:txBody>
                    <a:bodyPr/>
                    <a:lstStyle/>
                    <a:p>
                      <a:pPr algn="ctr"/>
                      <a:r>
                        <a:rPr lang="en-AU" sz="3600"/>
                        <a:t>29</a:t>
                      </a:r>
                    </a:p>
                  </a:txBody>
                  <a:tcPr/>
                </a:tc>
                <a:tc>
                  <a:txBody>
                    <a:bodyPr/>
                    <a:lstStyle/>
                    <a:p>
                      <a:pPr algn="ctr"/>
                      <a:r>
                        <a:rPr lang="en-AU" sz="3600"/>
                        <a:t>30</a:t>
                      </a:r>
                    </a:p>
                  </a:txBody>
                  <a:tcPr/>
                </a:tc>
                <a:tc>
                  <a:txBody>
                    <a:bodyPr/>
                    <a:lstStyle/>
                    <a:p>
                      <a:pPr algn="ctr"/>
                      <a:endParaRPr lang="en-AU" sz="3600"/>
                    </a:p>
                  </a:txBody>
                  <a:tcPr/>
                </a:tc>
                <a:tc>
                  <a:txBody>
                    <a:bodyPr/>
                    <a:lstStyle/>
                    <a:p>
                      <a:pPr algn="ctr"/>
                      <a:endParaRPr lang="en-AU" sz="3600"/>
                    </a:p>
                  </a:txBody>
                  <a:tcPr/>
                </a:tc>
                <a:tc>
                  <a:txBody>
                    <a:bodyPr/>
                    <a:lstStyle/>
                    <a:p>
                      <a:pPr algn="ctr"/>
                      <a:endParaRPr lang="en-AU" sz="3600"/>
                    </a:p>
                  </a:txBody>
                  <a:tcPr/>
                </a:tc>
                <a:extLst>
                  <a:ext uri="{0D108BD9-81ED-4DB2-BD59-A6C34878D82A}">
                    <a16:rowId xmlns:a16="http://schemas.microsoft.com/office/drawing/2014/main" val="1076683576"/>
                  </a:ext>
                </a:extLst>
              </a:tr>
            </a:tbl>
          </a:graphicData>
        </a:graphic>
      </p:graphicFrame>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5 – number line addition and subtraction (1)</a:t>
            </a:r>
          </a:p>
        </p:txBody>
      </p:sp>
      <p:pic>
        <p:nvPicPr>
          <p:cNvPr id="4" name="Picture 3" descr="image of a head with cogs turning inside">
            <a:extLst>
              <a:ext uri="{FF2B5EF4-FFF2-40B4-BE49-F238E27FC236}">
                <a16:creationId xmlns:a16="http://schemas.microsoft.com/office/drawing/2014/main" id="{C17E1736-52A4-052D-85CB-D139AA10994D}"/>
              </a:ext>
            </a:extLst>
          </p:cNvPr>
          <p:cNvPicPr>
            <a:picLocks noChangeAspect="1"/>
          </p:cNvPicPr>
          <p:nvPr/>
        </p:nvPicPr>
        <p:blipFill>
          <a:blip r:embed="rId3"/>
          <a:stretch>
            <a:fillRect/>
          </a:stretch>
        </p:blipFill>
        <p:spPr>
          <a:xfrm>
            <a:off x="11107003" y="240894"/>
            <a:ext cx="720000" cy="856364"/>
          </a:xfrm>
          <a:prstGeom prst="rect">
            <a:avLst/>
          </a:prstGeom>
        </p:spPr>
      </p:pic>
      <p:sp>
        <p:nvSpPr>
          <p:cNvPr id="9" name="Text Placeholder 4">
            <a:extLst>
              <a:ext uri="{FF2B5EF4-FFF2-40B4-BE49-F238E27FC236}">
                <a16:creationId xmlns:a16="http://schemas.microsoft.com/office/drawing/2014/main" id="{053DEEC0-C3F8-4A58-F99B-BEC181BB6049}"/>
              </a:ext>
            </a:extLst>
          </p:cNvPr>
          <p:cNvSpPr txBox="1">
            <a:spLocks/>
          </p:cNvSpPr>
          <p:nvPr/>
        </p:nvSpPr>
        <p:spPr>
          <a:xfrm>
            <a:off x="466903" y="1355770"/>
            <a:ext cx="3119800" cy="62728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AU" sz="40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84 - 68 =</a:t>
            </a:r>
          </a:p>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endParaRPr kumimoji="0" lang="en-AU" sz="28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endParaRPr>
          </a:p>
        </p:txBody>
      </p:sp>
      <p:cxnSp>
        <p:nvCxnSpPr>
          <p:cNvPr id="13" name="Straight Arrow Connector 12" descr="Blank number line">
            <a:extLst>
              <a:ext uri="{FF2B5EF4-FFF2-40B4-BE49-F238E27FC236}">
                <a16:creationId xmlns:a16="http://schemas.microsoft.com/office/drawing/2014/main" id="{05689477-15C7-80AF-0060-EAE4B60E7C8B}"/>
              </a:ext>
            </a:extLst>
          </p:cNvPr>
          <p:cNvCxnSpPr>
            <a:cxnSpLocks/>
          </p:cNvCxnSpPr>
          <p:nvPr/>
        </p:nvCxnSpPr>
        <p:spPr>
          <a:xfrm>
            <a:off x="360000" y="4449632"/>
            <a:ext cx="11236750" cy="0"/>
          </a:xfrm>
          <a:prstGeom prst="straightConnector1">
            <a:avLst/>
          </a:pr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38</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Tree>
    <p:extLst>
      <p:ext uri="{BB962C8B-B14F-4D97-AF65-F5344CB8AC3E}">
        <p14:creationId xmlns:p14="http://schemas.microsoft.com/office/powerpoint/2010/main" val="845390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FFF39-937F-A663-E2EA-D83D5C75E56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972DC57-21CA-CA53-3C3C-6CE0E2F896D0}"/>
              </a:ext>
            </a:extLst>
          </p:cNvPr>
          <p:cNvSpPr>
            <a:spLocks noGrp="1"/>
          </p:cNvSpPr>
          <p:nvPr>
            <p:ph type="title"/>
          </p:nvPr>
        </p:nvSpPr>
        <p:spPr>
          <a:xfrm>
            <a:off x="360000" y="360000"/>
            <a:ext cx="11484000" cy="545601"/>
          </a:xfrm>
        </p:spPr>
        <p:txBody>
          <a:bodyPr/>
          <a:lstStyle/>
          <a:p>
            <a:r>
              <a:rPr lang="en-AU">
                <a:latin typeface="Arial"/>
                <a:cs typeface="Arial"/>
              </a:rPr>
              <a:t>Activity 5 – number line addition and subtraction (2)</a:t>
            </a:r>
          </a:p>
        </p:txBody>
      </p:sp>
      <p:pic>
        <p:nvPicPr>
          <p:cNvPr id="4" name="Picture 3" descr="image of a head with cogs turning inside">
            <a:extLst>
              <a:ext uri="{FF2B5EF4-FFF2-40B4-BE49-F238E27FC236}">
                <a16:creationId xmlns:a16="http://schemas.microsoft.com/office/drawing/2014/main" id="{9EAEA885-75E6-7A31-9D73-01FD11DB375E}"/>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0" name="Text Placeholder 4">
            <a:extLst>
              <a:ext uri="{FF2B5EF4-FFF2-40B4-BE49-F238E27FC236}">
                <a16:creationId xmlns:a16="http://schemas.microsoft.com/office/drawing/2014/main" id="{AF6FD5FF-40DA-1405-1308-5856995C12BB}"/>
              </a:ext>
            </a:extLst>
          </p:cNvPr>
          <p:cNvSpPr txBox="1">
            <a:spLocks/>
          </p:cNvSpPr>
          <p:nvPr/>
        </p:nvSpPr>
        <p:spPr>
          <a:xfrm>
            <a:off x="443060" y="1358726"/>
            <a:ext cx="3119800" cy="62728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AU" sz="40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38 + 43 =</a:t>
            </a:r>
          </a:p>
        </p:txBody>
      </p:sp>
      <p:cxnSp>
        <p:nvCxnSpPr>
          <p:cNvPr id="13" name="Straight Arrow Connector 12" descr="Blank number line">
            <a:extLst>
              <a:ext uri="{FF2B5EF4-FFF2-40B4-BE49-F238E27FC236}">
                <a16:creationId xmlns:a16="http://schemas.microsoft.com/office/drawing/2014/main" id="{8A226AA6-B7A8-5E4E-606D-AA3F3D0D8554}"/>
              </a:ext>
            </a:extLst>
          </p:cNvPr>
          <p:cNvCxnSpPr>
            <a:cxnSpLocks/>
          </p:cNvCxnSpPr>
          <p:nvPr/>
        </p:nvCxnSpPr>
        <p:spPr>
          <a:xfrm>
            <a:off x="360000" y="4449632"/>
            <a:ext cx="11236750" cy="0"/>
          </a:xfrm>
          <a:prstGeom prst="straightConnector1">
            <a:avLst/>
          </a:pr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 name="Slide Number Placeholder 1">
            <a:extLst>
              <a:ext uri="{FF2B5EF4-FFF2-40B4-BE49-F238E27FC236}">
                <a16:creationId xmlns:a16="http://schemas.microsoft.com/office/drawing/2014/main" id="{46CD60A6-3680-DAA3-468B-A9D9CFDF2D6E}"/>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39</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Tree>
    <p:extLst>
      <p:ext uri="{BB962C8B-B14F-4D97-AF65-F5344CB8AC3E}">
        <p14:creationId xmlns:p14="http://schemas.microsoft.com/office/powerpoint/2010/main" val="3212409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pic>
        <p:nvPicPr>
          <p:cNvPr id="11" name="Picture 10" descr="A student says:&#10;37 + 19 is the same as 37 + 20 (67) minus 2. The word minus is in red.">
            <a:extLst>
              <a:ext uri="{FF2B5EF4-FFF2-40B4-BE49-F238E27FC236}">
                <a16:creationId xmlns:a16="http://schemas.microsoft.com/office/drawing/2014/main" id="{A4E143EF-319C-6D58-F690-C0FD84C2E516}"/>
              </a:ext>
            </a:extLst>
          </p:cNvPr>
          <p:cNvPicPr>
            <a:picLocks noChangeAspect="1"/>
          </p:cNvPicPr>
          <p:nvPr/>
        </p:nvPicPr>
        <p:blipFill>
          <a:blip r:embed="rId4"/>
          <a:stretch>
            <a:fillRect/>
          </a:stretch>
        </p:blipFill>
        <p:spPr>
          <a:xfrm>
            <a:off x="5032557" y="901753"/>
            <a:ext cx="6799443" cy="5003364"/>
          </a:xfrm>
          <a:prstGeom prst="rect">
            <a:avLst/>
          </a:prstGeom>
        </p:spPr>
      </p:pic>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293552051"/>
              </p:ext>
            </p:extLst>
          </p:nvPr>
        </p:nvGraphicFramePr>
        <p:xfrm>
          <a:off x="2470484" y="5905117"/>
          <a:ext cx="7049573" cy="741680"/>
        </p:xfrm>
        <a:graphic>
          <a:graphicData uri="http://schemas.openxmlformats.org/drawingml/2006/table">
            <a:tbl>
              <a:tblPr firstRow="1" bandRow="1">
                <a:tableStyleId>{5A111915-BE36-4E01-A7E5-04B1672EAD32}</a:tableStyleId>
              </a:tblPr>
              <a:tblGrid>
                <a:gridCol w="3511035">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167494" y="1447354"/>
            <a:ext cx="6328999" cy="893226"/>
          </a:xfrm>
        </p:spPr>
        <p:txBody>
          <a:bodyPr/>
          <a:lstStyle/>
          <a:p>
            <a:pPr algn="ctr">
              <a:spcBef>
                <a:spcPts val="600"/>
              </a:spcBef>
            </a:pPr>
            <a:r>
              <a:rPr lang="en-AU" sz="4400"/>
              <a:t>Maddie has used the </a:t>
            </a:r>
          </a:p>
          <a:p>
            <a:pPr algn="ctr">
              <a:spcBef>
                <a:spcPts val="600"/>
              </a:spcBef>
            </a:pPr>
            <a:r>
              <a:rPr lang="en-AU" sz="4400" b="1"/>
              <a:t>compensation strategy </a:t>
            </a:r>
            <a:r>
              <a:rPr lang="en-AU" sz="4400"/>
              <a:t>correctly. </a:t>
            </a:r>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65CBE1FE-6D7F-84E9-2809-647A074E1711}"/>
              </a:ext>
            </a:extLst>
          </p:cNvPr>
          <p:cNvSpPr txBox="1"/>
          <p:nvPr/>
        </p:nvSpPr>
        <p:spPr>
          <a:xfrm>
            <a:off x="367986" y="1070815"/>
            <a:ext cx="11357810" cy="915500"/>
          </a:xfrm>
          <a:prstGeom prst="rect">
            <a:avLst/>
          </a:prstGeom>
          <a:noFill/>
        </p:spPr>
        <p:txBody>
          <a:bodyPr wrap="square" lIns="0" tIns="0" rIns="0" bIns="0" rtlCol="0">
            <a:noAutofit/>
          </a:bodyPr>
          <a:lstStyle/>
          <a:p>
            <a:pPr algn="ctr"/>
            <a:r>
              <a:rPr lang="en-AU" sz="4400"/>
              <a:t>What is the </a:t>
            </a:r>
            <a:r>
              <a:rPr lang="en-AU" sz="4400" b="1"/>
              <a:t>perimeter</a:t>
            </a:r>
            <a:r>
              <a:rPr lang="en-AU" sz="4400"/>
              <a:t> in </a:t>
            </a:r>
            <a:r>
              <a:rPr lang="en-AU" sz="4400" b="1"/>
              <a:t>cm</a:t>
            </a:r>
            <a:r>
              <a:rPr lang="en-AU" sz="4400"/>
              <a:t> and </a:t>
            </a:r>
            <a:r>
              <a:rPr lang="en-AU" sz="4400" b="1"/>
              <a:t>mm</a:t>
            </a:r>
            <a:r>
              <a:rPr lang="en-AU" sz="4400"/>
              <a:t>?</a:t>
            </a:r>
          </a:p>
          <a:p>
            <a:pPr algn="ctr"/>
            <a:endParaRPr lang="en-AU" sz="4400"/>
          </a:p>
        </p:txBody>
      </p:sp>
      <p:pic>
        <p:nvPicPr>
          <p:cNvPr id="13" name="Picture 12" descr="A blue rectangle. One side is labelled as 15 cm and another as 5 cm.">
            <a:extLst>
              <a:ext uri="{FF2B5EF4-FFF2-40B4-BE49-F238E27FC236}">
                <a16:creationId xmlns:a16="http://schemas.microsoft.com/office/drawing/2014/main" id="{6B52900E-E3FB-1D80-F2C7-EE5D8D43AE2C}"/>
              </a:ext>
            </a:extLst>
          </p:cNvPr>
          <p:cNvPicPr>
            <a:picLocks noChangeAspect="1"/>
          </p:cNvPicPr>
          <p:nvPr/>
        </p:nvPicPr>
        <p:blipFill>
          <a:blip r:embed="rId4"/>
          <a:stretch>
            <a:fillRect/>
          </a:stretch>
        </p:blipFill>
        <p:spPr>
          <a:xfrm>
            <a:off x="1406284" y="2534345"/>
            <a:ext cx="9379432" cy="3981655"/>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a:extLst>
              <a:ext uri="{FF2B5EF4-FFF2-40B4-BE49-F238E27FC236}">
                <a16:creationId xmlns:a16="http://schemas.microsoft.com/office/drawing/2014/main" id="{803A010F-4DA8-F988-007A-0E0E6A304D9C}"/>
              </a:ext>
            </a:extLst>
          </p:cNvPr>
          <p:cNvSpPr txBox="1"/>
          <p:nvPr/>
        </p:nvSpPr>
        <p:spPr>
          <a:xfrm>
            <a:off x="397042" y="1467853"/>
            <a:ext cx="11446958" cy="4716379"/>
          </a:xfrm>
          <a:prstGeom prst="rect">
            <a:avLst/>
          </a:prstGeom>
          <a:noFill/>
        </p:spPr>
        <p:txBody>
          <a:bodyPr wrap="square" lIns="0" tIns="0" rIns="0" bIns="0" rtlCol="0">
            <a:noAutofit/>
          </a:bodyPr>
          <a:lstStyle/>
          <a:p>
            <a:pPr algn="ctr"/>
            <a:r>
              <a:rPr lang="en-AU" sz="4400"/>
              <a:t>Use the </a:t>
            </a:r>
            <a:r>
              <a:rPr lang="en-AU" sz="4400" b="1"/>
              <a:t>levelling strategy </a:t>
            </a:r>
            <a:r>
              <a:rPr lang="en-AU" sz="4400"/>
              <a:t>to </a:t>
            </a:r>
            <a:r>
              <a:rPr lang="en-AU" sz="4400" b="1"/>
              <a:t>complete:</a:t>
            </a:r>
          </a:p>
          <a:p>
            <a:pPr algn="ctr"/>
            <a:endParaRPr lang="en-AU" sz="4400"/>
          </a:p>
          <a:p>
            <a:pPr algn="ctr"/>
            <a:r>
              <a:rPr lang="en-AU" sz="5400"/>
              <a:t>27 + 28 =</a:t>
            </a:r>
          </a:p>
          <a:p>
            <a:pPr algn="ctr"/>
            <a:endParaRPr lang="en-AU" sz="5400"/>
          </a:p>
          <a:p>
            <a:pPr algn="ctr"/>
            <a:r>
              <a:rPr lang="en-AU" sz="5400"/>
              <a:t>36 + 44 =</a:t>
            </a:r>
          </a:p>
          <a:p>
            <a:pPr algn="ctr"/>
            <a:endParaRPr lang="en-AU" sz="4400"/>
          </a:p>
          <a:p>
            <a:pPr algn="ctr"/>
            <a:r>
              <a:rPr lang="en-AU" sz="4400" b="1"/>
              <a:t>Explain </a:t>
            </a:r>
            <a:r>
              <a:rPr lang="en-AU" sz="4400"/>
              <a:t>your </a:t>
            </a:r>
            <a:r>
              <a:rPr lang="en-AU" sz="4400" b="1"/>
              <a:t>reasoning.</a:t>
            </a:r>
          </a:p>
          <a:p>
            <a:pPr algn="ctr"/>
            <a:endParaRPr lang="en-AU" sz="4400"/>
          </a:p>
          <a:p>
            <a:pPr algn="ctr"/>
            <a:endParaRPr lang="en-AU" sz="4400"/>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a:extLst>
              <a:ext uri="{FF2B5EF4-FFF2-40B4-BE49-F238E27FC236}">
                <a16:creationId xmlns:a16="http://schemas.microsoft.com/office/drawing/2014/main" id="{D9E455F7-AB5F-88EE-3077-3F0421408D9E}"/>
              </a:ext>
            </a:extLst>
          </p:cNvPr>
          <p:cNvSpPr txBox="1"/>
          <p:nvPr/>
        </p:nvSpPr>
        <p:spPr>
          <a:xfrm>
            <a:off x="459205" y="1436778"/>
            <a:ext cx="11273589" cy="4800600"/>
          </a:xfrm>
          <a:prstGeom prst="rect">
            <a:avLst/>
          </a:prstGeom>
          <a:noFill/>
        </p:spPr>
        <p:txBody>
          <a:bodyPr wrap="square" lIns="0" tIns="0" rIns="0" bIns="0" rtlCol="0" anchor="t">
            <a:noAutofit/>
          </a:bodyPr>
          <a:lstStyle/>
          <a:p>
            <a:pPr algn="ctr">
              <a:lnSpc>
                <a:spcPct val="150000"/>
              </a:lnSpc>
            </a:pPr>
            <a:r>
              <a:rPr lang="en-AU" sz="4400"/>
              <a:t>What</a:t>
            </a:r>
            <a:r>
              <a:rPr lang="en-AU" sz="4400" b="1"/>
              <a:t> </a:t>
            </a:r>
            <a:r>
              <a:rPr lang="en-AU" sz="4400"/>
              <a:t>does</a:t>
            </a:r>
            <a:r>
              <a:rPr lang="en-AU" sz="4400" b="1"/>
              <a:t> </a:t>
            </a:r>
            <a:r>
              <a:rPr lang="en-AU" sz="4400"/>
              <a:t>the </a:t>
            </a:r>
            <a:r>
              <a:rPr lang="en-AU" sz="4400" b="1"/>
              <a:t>2 represent </a:t>
            </a:r>
            <a:endParaRPr lang="en-US"/>
          </a:p>
          <a:p>
            <a:pPr algn="ctr">
              <a:lnSpc>
                <a:spcPct val="150000"/>
              </a:lnSpc>
            </a:pPr>
            <a:r>
              <a:rPr lang="en-AU" sz="4400"/>
              <a:t>in this</a:t>
            </a:r>
            <a:r>
              <a:rPr lang="en-AU" sz="4400" b="1"/>
              <a:t> number?</a:t>
            </a:r>
            <a:endParaRPr lang="en-US">
              <a:cs typeface="Arial"/>
            </a:endParaRPr>
          </a:p>
          <a:p>
            <a:pPr algn="ctr">
              <a:lnSpc>
                <a:spcPct val="150000"/>
              </a:lnSpc>
            </a:pPr>
            <a:r>
              <a:rPr lang="en-AU" sz="6600"/>
              <a:t>4123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B30DAC9-64DC-694A-4C6C-5D8CD0F2B203}"/>
              </a:ext>
            </a:extLst>
          </p:cNvPr>
          <p:cNvSpPr txBox="1"/>
          <p:nvPr/>
        </p:nvSpPr>
        <p:spPr>
          <a:xfrm>
            <a:off x="555458" y="1345193"/>
            <a:ext cx="11081084" cy="4167614"/>
          </a:xfrm>
          <a:prstGeom prst="rect">
            <a:avLst/>
          </a:prstGeom>
          <a:noFill/>
        </p:spPr>
        <p:txBody>
          <a:bodyPr wrap="square" lIns="0" tIns="0" rIns="0" bIns="0" rtlCol="0">
            <a:noAutofit/>
          </a:bodyPr>
          <a:lstStyle/>
          <a:p>
            <a:pPr algn="ctr"/>
            <a:endParaRPr lang="en-AU" sz="4400"/>
          </a:p>
          <a:p>
            <a:pPr algn="ctr">
              <a:lnSpc>
                <a:spcPct val="200000"/>
              </a:lnSpc>
            </a:pPr>
            <a:r>
              <a:rPr lang="en-AU" sz="4400"/>
              <a:t>Record </a:t>
            </a:r>
            <a:r>
              <a:rPr lang="en-AU" sz="4400" b="1"/>
              <a:t>different ways </a:t>
            </a:r>
            <a:r>
              <a:rPr lang="en-AU" sz="4400"/>
              <a:t>to show </a:t>
            </a:r>
          </a:p>
          <a:p>
            <a:pPr algn="ctr">
              <a:lnSpc>
                <a:spcPct val="200000"/>
              </a:lnSpc>
            </a:pPr>
            <a:r>
              <a:rPr lang="en-AU" sz="4400"/>
              <a:t> a quarter past 3.</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6 – compensation strategy</a:t>
            </a:r>
          </a:p>
        </p:txBody>
      </p:sp>
      <p:pic>
        <p:nvPicPr>
          <p:cNvPr id="7" name="Picture 6" descr="image of a head with cogs turning inside">
            <a:extLst>
              <a:ext uri="{FF2B5EF4-FFF2-40B4-BE49-F238E27FC236}">
                <a16:creationId xmlns:a16="http://schemas.microsoft.com/office/drawing/2014/main" id="{C3A690A8-A544-388A-808E-2B9BA76DB079}"/>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5" name="Table 4">
            <a:extLst>
              <a:ext uri="{FF2B5EF4-FFF2-40B4-BE49-F238E27FC236}">
                <a16:creationId xmlns:a16="http://schemas.microsoft.com/office/drawing/2014/main" id="{AB5EAA5B-252A-5114-2E54-F5A66601E749}"/>
              </a:ext>
            </a:extLst>
          </p:cNvPr>
          <p:cNvGraphicFramePr>
            <a:graphicFrameLocks noGrp="1"/>
          </p:cNvGraphicFramePr>
          <p:nvPr>
            <p:extLst>
              <p:ext uri="{D42A27DB-BD31-4B8C-83A1-F6EECF244321}">
                <p14:modId xmlns:p14="http://schemas.microsoft.com/office/powerpoint/2010/main" val="2992424882"/>
              </p:ext>
            </p:extLst>
          </p:nvPr>
        </p:nvGraphicFramePr>
        <p:xfrm>
          <a:off x="725583" y="2027950"/>
          <a:ext cx="3220983" cy="1780941"/>
        </p:xfrm>
        <a:graphic>
          <a:graphicData uri="http://schemas.openxmlformats.org/drawingml/2006/table">
            <a:tbl>
              <a:tblPr firstRow="1" bandRow="1">
                <a:tableStyleId>{5C22544A-7EE6-4342-B048-85BDC9FD1C3A}</a:tableStyleId>
              </a:tblPr>
              <a:tblGrid>
                <a:gridCol w="3220983">
                  <a:extLst>
                    <a:ext uri="{9D8B030D-6E8A-4147-A177-3AD203B41FA5}">
                      <a16:colId xmlns:a16="http://schemas.microsoft.com/office/drawing/2014/main" val="52279464"/>
                    </a:ext>
                  </a:extLst>
                </a:gridCol>
              </a:tblGrid>
              <a:tr h="593647">
                <a:tc>
                  <a:txBody>
                    <a:bodyPr/>
                    <a:lstStyle/>
                    <a:p>
                      <a:pPr algn="ctr"/>
                      <a:r>
                        <a:rPr lang="en-AU" sz="3200" b="0">
                          <a:solidFill>
                            <a:schemeClr val="accent1"/>
                          </a:solidFill>
                          <a:latin typeface="Edu NSW ACT Foundation" pitchFamily="2" charset="0"/>
                        </a:rPr>
                        <a:t>Tens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84184703"/>
                  </a:ext>
                </a:extLst>
              </a:tr>
              <a:tr h="593647">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650960"/>
                  </a:ext>
                </a:extLst>
              </a:tr>
              <a:tr h="593647">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7762854"/>
                  </a:ext>
                </a:extLst>
              </a:tr>
            </a:tbl>
          </a:graphicData>
        </a:graphic>
      </p:graphicFrame>
      <p:graphicFrame>
        <p:nvGraphicFramePr>
          <p:cNvPr id="4" name="Table 4">
            <a:extLst>
              <a:ext uri="{FF2B5EF4-FFF2-40B4-BE49-F238E27FC236}">
                <a16:creationId xmlns:a16="http://schemas.microsoft.com/office/drawing/2014/main" id="{73E501CB-6DA5-46CE-E423-597090D703A1}"/>
              </a:ext>
            </a:extLst>
          </p:cNvPr>
          <p:cNvGraphicFramePr>
            <a:graphicFrameLocks noGrp="1"/>
          </p:cNvGraphicFramePr>
          <p:nvPr>
            <p:extLst>
              <p:ext uri="{D42A27DB-BD31-4B8C-83A1-F6EECF244321}">
                <p14:modId xmlns:p14="http://schemas.microsoft.com/office/powerpoint/2010/main" val="2011655166"/>
              </p:ext>
            </p:extLst>
          </p:nvPr>
        </p:nvGraphicFramePr>
        <p:xfrm>
          <a:off x="3946566" y="2025220"/>
          <a:ext cx="3220983" cy="1780941"/>
        </p:xfrm>
        <a:graphic>
          <a:graphicData uri="http://schemas.openxmlformats.org/drawingml/2006/table">
            <a:tbl>
              <a:tblPr firstRow="1" bandRow="1">
                <a:tableStyleId>{5C22544A-7EE6-4342-B048-85BDC9FD1C3A}</a:tableStyleId>
              </a:tblPr>
              <a:tblGrid>
                <a:gridCol w="3220983">
                  <a:extLst>
                    <a:ext uri="{9D8B030D-6E8A-4147-A177-3AD203B41FA5}">
                      <a16:colId xmlns:a16="http://schemas.microsoft.com/office/drawing/2014/main" val="52279464"/>
                    </a:ext>
                  </a:extLst>
                </a:gridCol>
              </a:tblGrid>
              <a:tr h="593647">
                <a:tc>
                  <a:txBody>
                    <a:bodyPr/>
                    <a:lstStyle/>
                    <a:p>
                      <a:pPr algn="ctr"/>
                      <a:r>
                        <a:rPr lang="en-AU" sz="3200" b="0">
                          <a:solidFill>
                            <a:schemeClr val="accent1"/>
                          </a:solidFill>
                          <a:latin typeface="Edu NSW ACT Foundation" pitchFamily="2" charset="0"/>
                        </a:rPr>
                        <a:t>Ones</a:t>
                      </a:r>
                      <a:endParaRPr lang="en-AU" sz="2800" b="0">
                        <a:solidFill>
                          <a:schemeClr val="accent1"/>
                        </a:solidFill>
                        <a:latin typeface="Edu NSW ACT Foundation" pitchFamily="2"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84184703"/>
                  </a:ext>
                </a:extLst>
              </a:tr>
              <a:tr h="593647">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650960"/>
                  </a:ext>
                </a:extLst>
              </a:tr>
              <a:tr h="593647">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7762854"/>
                  </a:ext>
                </a:extLst>
              </a:tr>
            </a:tbl>
          </a:graphicData>
        </a:graphic>
      </p:graphicFrame>
      <p:sp>
        <p:nvSpPr>
          <p:cNvPr id="11" name="TextBox 10">
            <a:extLst>
              <a:ext uri="{FF2B5EF4-FFF2-40B4-BE49-F238E27FC236}">
                <a16:creationId xmlns:a16="http://schemas.microsoft.com/office/drawing/2014/main" id="{47E85F0E-91E4-12F4-D63D-379244DD94B5}"/>
              </a:ext>
            </a:extLst>
          </p:cNvPr>
          <p:cNvSpPr txBox="1"/>
          <p:nvPr/>
        </p:nvSpPr>
        <p:spPr>
          <a:xfrm>
            <a:off x="360000" y="4359118"/>
            <a:ext cx="6807549" cy="2217145"/>
          </a:xfrm>
          <a:prstGeom prst="rect">
            <a:avLst/>
          </a:prstGeom>
          <a:noFill/>
        </p:spPr>
        <p:txBody>
          <a:bodyPr wrap="square">
            <a:spAutoFit/>
          </a:bodyPr>
          <a:lstStyle/>
          <a:p>
            <a:pPr algn="ctr">
              <a:lnSpc>
                <a:spcPct val="150000"/>
              </a:lnSpc>
            </a:pPr>
            <a:r>
              <a:rPr lang="en-AU" sz="3200">
                <a:latin typeface="Edu NSW ACT Foundation" pitchFamily="2" charset="0"/>
              </a:rPr>
              <a:t>What do I need to think about before placing a number in a column to get as close to 100 as possible?</a:t>
            </a:r>
          </a:p>
        </p:txBody>
      </p:sp>
      <p:pic>
        <p:nvPicPr>
          <p:cNvPr id="9" name="Picture 8" descr="Student thinking 28 + 35 is the same as 30 + 35 (65) minus 2.">
            <a:extLst>
              <a:ext uri="{FF2B5EF4-FFF2-40B4-BE49-F238E27FC236}">
                <a16:creationId xmlns:a16="http://schemas.microsoft.com/office/drawing/2014/main" id="{634778A7-C6F4-3449-E3CF-FE3695EE7E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27124" y="2380574"/>
            <a:ext cx="4105413" cy="3737415"/>
          </a:xfrm>
          <a:prstGeom prst="rect">
            <a:avLst/>
          </a:prstGeom>
        </p:spPr>
      </p:pic>
      <p:pic>
        <p:nvPicPr>
          <p:cNvPr id="14" name="Picture 13">
            <a:extLst>
              <a:ext uri="{FF2B5EF4-FFF2-40B4-BE49-F238E27FC236}">
                <a16:creationId xmlns:a16="http://schemas.microsoft.com/office/drawing/2014/main" id="{01E89759-0451-F488-55E3-9E71CBF53EF3}"/>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rcRect l="12742" t="25282" r="57677" b="35756"/>
          <a:stretch>
            <a:fillRect/>
          </a:stretch>
        </p:blipFill>
        <p:spPr>
          <a:xfrm>
            <a:off x="10475276" y="4822028"/>
            <a:ext cx="1217075" cy="1133325"/>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spTree>
    <p:extLst>
      <p:ext uri="{BB962C8B-B14F-4D97-AF65-F5344CB8AC3E}">
        <p14:creationId xmlns:p14="http://schemas.microsoft.com/office/powerpoint/2010/main" val="1308933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474481" y="1520179"/>
            <a:ext cx="11243037" cy="893226"/>
          </a:xfrm>
        </p:spPr>
        <p:txBody>
          <a:bodyPr/>
          <a:lstStyle/>
          <a:p>
            <a:r>
              <a:rPr lang="en-US" sz="5400"/>
              <a:t>127 - 29 =</a:t>
            </a:r>
          </a:p>
        </p:txBody>
      </p:sp>
      <p:pic>
        <p:nvPicPr>
          <p:cNvPr id="15" name="Picture 14" descr="A bar model divided into two sections.&#10;&#10;The top bar, coloured blue, shows the total labelled 127.&#10;&#10;The bottom bar is divided into two pink parts: the right part shows 29, and the left part has a question mark.">
            <a:extLst>
              <a:ext uri="{FF2B5EF4-FFF2-40B4-BE49-F238E27FC236}">
                <a16:creationId xmlns:a16="http://schemas.microsoft.com/office/drawing/2014/main" id="{4FB39809-777E-9C97-684E-F8792AF25B20}"/>
              </a:ext>
            </a:extLst>
          </p:cNvPr>
          <p:cNvPicPr>
            <a:picLocks noChangeAspect="1"/>
          </p:cNvPicPr>
          <p:nvPr/>
        </p:nvPicPr>
        <p:blipFill>
          <a:blip r:embed="rId4"/>
          <a:stretch>
            <a:fillRect/>
          </a:stretch>
        </p:blipFill>
        <p:spPr>
          <a:xfrm>
            <a:off x="5473336" y="1184019"/>
            <a:ext cx="4754349" cy="2524193"/>
          </a:xfrm>
          <a:prstGeom prst="rect">
            <a:avLst/>
          </a:prstGeom>
        </p:spPr>
      </p:pic>
      <p:sp>
        <p:nvSpPr>
          <p:cNvPr id="9" name="TextBox 8">
            <a:extLst>
              <a:ext uri="{FF2B5EF4-FFF2-40B4-BE49-F238E27FC236}">
                <a16:creationId xmlns:a16="http://schemas.microsoft.com/office/drawing/2014/main" id="{8B9CE09D-4912-352C-EDD3-2F5B22293E2B}"/>
              </a:ext>
            </a:extLst>
          </p:cNvPr>
          <p:cNvSpPr txBox="1"/>
          <p:nvPr/>
        </p:nvSpPr>
        <p:spPr>
          <a:xfrm>
            <a:off x="1215766" y="5071730"/>
            <a:ext cx="464765"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A</a:t>
            </a:r>
          </a:p>
        </p:txBody>
      </p:sp>
      <p:sp>
        <p:nvSpPr>
          <p:cNvPr id="7" name="Text Placeholder 17">
            <a:extLst>
              <a:ext uri="{FF2B5EF4-FFF2-40B4-BE49-F238E27FC236}">
                <a16:creationId xmlns:a16="http://schemas.microsoft.com/office/drawing/2014/main" id="{6C92B608-33C3-73EB-3463-BE16FED1B54C}"/>
              </a:ext>
            </a:extLst>
          </p:cNvPr>
          <p:cNvSpPr txBox="1">
            <a:spLocks/>
          </p:cNvSpPr>
          <p:nvPr/>
        </p:nvSpPr>
        <p:spPr>
          <a:xfrm>
            <a:off x="1082365" y="5712774"/>
            <a:ext cx="79623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a:t>99</a:t>
            </a:r>
          </a:p>
        </p:txBody>
      </p:sp>
      <p:sp>
        <p:nvSpPr>
          <p:cNvPr id="10" name="TextBox 9">
            <a:extLst>
              <a:ext uri="{FF2B5EF4-FFF2-40B4-BE49-F238E27FC236}">
                <a16:creationId xmlns:a16="http://schemas.microsoft.com/office/drawing/2014/main" id="{6720C9BD-206D-1246-CC58-B94DA2A9FDA7}"/>
              </a:ext>
            </a:extLst>
          </p:cNvPr>
          <p:cNvSpPr txBox="1"/>
          <p:nvPr/>
        </p:nvSpPr>
        <p:spPr>
          <a:xfrm>
            <a:off x="4219738" y="50717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B</a:t>
            </a:r>
          </a:p>
        </p:txBody>
      </p:sp>
      <p:sp>
        <p:nvSpPr>
          <p:cNvPr id="8" name="Text Placeholder 17">
            <a:extLst>
              <a:ext uri="{FF2B5EF4-FFF2-40B4-BE49-F238E27FC236}">
                <a16:creationId xmlns:a16="http://schemas.microsoft.com/office/drawing/2014/main" id="{D41206D9-6A2E-FBBF-C483-BE846BA87ACC}"/>
              </a:ext>
            </a:extLst>
          </p:cNvPr>
          <p:cNvSpPr txBox="1">
            <a:spLocks/>
          </p:cNvSpPr>
          <p:nvPr/>
        </p:nvSpPr>
        <p:spPr>
          <a:xfrm>
            <a:off x="4086337" y="5707153"/>
            <a:ext cx="79623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a:t>98</a:t>
            </a:r>
          </a:p>
        </p:txBody>
      </p:sp>
      <p:sp>
        <p:nvSpPr>
          <p:cNvPr id="12" name="TextBox 11">
            <a:extLst>
              <a:ext uri="{FF2B5EF4-FFF2-40B4-BE49-F238E27FC236}">
                <a16:creationId xmlns:a16="http://schemas.microsoft.com/office/drawing/2014/main" id="{53D31413-FF78-7189-1A0F-0B12F84CC32D}"/>
              </a:ext>
            </a:extLst>
          </p:cNvPr>
          <p:cNvSpPr txBox="1"/>
          <p:nvPr/>
        </p:nvSpPr>
        <p:spPr>
          <a:xfrm>
            <a:off x="7257898" y="50717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C</a:t>
            </a:r>
          </a:p>
        </p:txBody>
      </p:sp>
      <p:sp>
        <p:nvSpPr>
          <p:cNvPr id="14" name="Text Placeholder 17">
            <a:extLst>
              <a:ext uri="{FF2B5EF4-FFF2-40B4-BE49-F238E27FC236}">
                <a16:creationId xmlns:a16="http://schemas.microsoft.com/office/drawing/2014/main" id="{7ED88D3D-E618-DFC3-E272-0B8A8C747E50}"/>
              </a:ext>
            </a:extLst>
          </p:cNvPr>
          <p:cNvSpPr txBox="1">
            <a:spLocks/>
          </p:cNvSpPr>
          <p:nvPr/>
        </p:nvSpPr>
        <p:spPr>
          <a:xfrm>
            <a:off x="7207053" y="5673981"/>
            <a:ext cx="79623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a:t>97</a:t>
            </a:r>
          </a:p>
        </p:txBody>
      </p:sp>
      <p:sp>
        <p:nvSpPr>
          <p:cNvPr id="11" name="TextBox 10">
            <a:extLst>
              <a:ext uri="{FF2B5EF4-FFF2-40B4-BE49-F238E27FC236}">
                <a16:creationId xmlns:a16="http://schemas.microsoft.com/office/drawing/2014/main" id="{F03294A5-CB62-91E6-0D20-1199ECBFAF01}"/>
              </a:ext>
            </a:extLst>
          </p:cNvPr>
          <p:cNvSpPr txBox="1"/>
          <p:nvPr/>
        </p:nvSpPr>
        <p:spPr>
          <a:xfrm>
            <a:off x="10223219" y="50717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D</a:t>
            </a:r>
          </a:p>
        </p:txBody>
      </p:sp>
      <p:sp>
        <p:nvSpPr>
          <p:cNvPr id="13" name="Text Placeholder 17">
            <a:extLst>
              <a:ext uri="{FF2B5EF4-FFF2-40B4-BE49-F238E27FC236}">
                <a16:creationId xmlns:a16="http://schemas.microsoft.com/office/drawing/2014/main" id="{786666EB-B5DF-57CC-A585-F1C756524479}"/>
              </a:ext>
            </a:extLst>
          </p:cNvPr>
          <p:cNvSpPr txBox="1">
            <a:spLocks/>
          </p:cNvSpPr>
          <p:nvPr/>
        </p:nvSpPr>
        <p:spPr>
          <a:xfrm>
            <a:off x="10129706" y="5739402"/>
            <a:ext cx="79623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a:t>96</a:t>
            </a:r>
          </a:p>
        </p:txBody>
      </p:sp>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48</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8D725E9C-D7D7-DEAF-9BEA-3B17DA415338}"/>
              </a:ext>
            </a:extLst>
          </p:cNvPr>
          <p:cNvSpPr txBox="1"/>
          <p:nvPr/>
        </p:nvSpPr>
        <p:spPr>
          <a:xfrm>
            <a:off x="456785" y="2513500"/>
            <a:ext cx="6456451" cy="915500"/>
          </a:xfrm>
          <a:prstGeom prst="rect">
            <a:avLst/>
          </a:prstGeom>
          <a:noFill/>
        </p:spPr>
        <p:txBody>
          <a:bodyPr wrap="square" lIns="0" tIns="0" rIns="0" bIns="0" rtlCol="0">
            <a:noAutofit/>
          </a:bodyPr>
          <a:lstStyle/>
          <a:p>
            <a:pPr algn="ctr">
              <a:lnSpc>
                <a:spcPct val="150000"/>
              </a:lnSpc>
            </a:pPr>
            <a:r>
              <a:rPr lang="en-AU" sz="4400"/>
              <a:t>Calculate and record the </a:t>
            </a:r>
            <a:r>
              <a:rPr lang="en-AU" sz="4400" b="1"/>
              <a:t>perimeter</a:t>
            </a:r>
            <a:r>
              <a:rPr lang="en-AU" sz="4400"/>
              <a:t> of this shape.</a:t>
            </a:r>
          </a:p>
          <a:p>
            <a:pPr algn="ctr"/>
            <a:endParaRPr lang="en-AU" sz="4400"/>
          </a:p>
        </p:txBody>
      </p:sp>
      <p:pic>
        <p:nvPicPr>
          <p:cNvPr id="7" name="Picture 6" descr="A pink parallelogram with the base labelled 9 metres and the vertical height labelled 14 metres.">
            <a:extLst>
              <a:ext uri="{FF2B5EF4-FFF2-40B4-BE49-F238E27FC236}">
                <a16:creationId xmlns:a16="http://schemas.microsoft.com/office/drawing/2014/main" id="{47A20B91-0EBA-FCD1-10FE-3A0515F5DA34}"/>
              </a:ext>
            </a:extLst>
          </p:cNvPr>
          <p:cNvPicPr>
            <a:picLocks noChangeAspect="1"/>
          </p:cNvPicPr>
          <p:nvPr/>
        </p:nvPicPr>
        <p:blipFill>
          <a:blip r:embed="rId4"/>
          <a:stretch>
            <a:fillRect/>
          </a:stretch>
        </p:blipFill>
        <p:spPr>
          <a:xfrm>
            <a:off x="6913236" y="988912"/>
            <a:ext cx="4930764" cy="5722400"/>
          </a:xfrm>
          <a:prstGeom prst="rect">
            <a:avLst/>
          </a:prstGeom>
        </p:spPr>
      </p:pic>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36AB482-7EA7-769E-A00B-1F97A45142AD}"/>
              </a:ext>
            </a:extLst>
          </p:cNvPr>
          <p:cNvSpPr txBox="1"/>
          <p:nvPr/>
        </p:nvSpPr>
        <p:spPr>
          <a:xfrm>
            <a:off x="753979" y="1184223"/>
            <a:ext cx="10571747" cy="4915788"/>
          </a:xfrm>
          <a:prstGeom prst="rect">
            <a:avLst/>
          </a:prstGeom>
          <a:noFill/>
        </p:spPr>
        <p:txBody>
          <a:bodyPr wrap="square" lIns="0" tIns="0" rIns="0" bIns="0" rtlCol="0">
            <a:noAutofit/>
          </a:bodyPr>
          <a:lstStyle/>
          <a:p>
            <a:pPr algn="ctr">
              <a:lnSpc>
                <a:spcPct val="150000"/>
              </a:lnSpc>
            </a:pPr>
            <a:r>
              <a:rPr lang="en-AU" sz="4400"/>
              <a:t>Blair has </a:t>
            </a:r>
            <a:r>
              <a:rPr lang="en-AU" sz="4400" b="1"/>
              <a:t>74 marbles, </a:t>
            </a:r>
            <a:r>
              <a:rPr lang="en-AU" sz="4400"/>
              <a:t>and she </a:t>
            </a:r>
            <a:r>
              <a:rPr lang="en-AU" sz="4400" b="1"/>
              <a:t>gives 36 </a:t>
            </a:r>
            <a:r>
              <a:rPr lang="en-AU" sz="4400"/>
              <a:t>to Phil. </a:t>
            </a:r>
            <a:r>
              <a:rPr lang="en-AU" sz="4400" b="1"/>
              <a:t>How many </a:t>
            </a:r>
            <a:r>
              <a:rPr lang="en-AU" sz="4400"/>
              <a:t>does Blair </a:t>
            </a:r>
            <a:r>
              <a:rPr lang="en-AU" sz="4400" b="1"/>
              <a:t>have left</a:t>
            </a:r>
            <a:r>
              <a:rPr lang="en-AU" sz="4400"/>
              <a:t>?</a:t>
            </a:r>
          </a:p>
          <a:p>
            <a:pPr algn="ctr"/>
            <a:endParaRPr lang="en-AU" sz="4400"/>
          </a:p>
          <a:p>
            <a:pPr algn="ctr">
              <a:lnSpc>
                <a:spcPct val="150000"/>
              </a:lnSpc>
            </a:pPr>
            <a:r>
              <a:rPr lang="en-AU" sz="4400" b="1"/>
              <a:t>Draw</a:t>
            </a:r>
            <a:r>
              <a:rPr lang="en-AU" sz="4400"/>
              <a:t> a </a:t>
            </a:r>
            <a:r>
              <a:rPr lang="en-AU" sz="4400" b="1"/>
              <a:t>tape diagram </a:t>
            </a:r>
            <a:r>
              <a:rPr lang="en-AU" sz="4400"/>
              <a:t>to </a:t>
            </a:r>
            <a:r>
              <a:rPr lang="en-AU" sz="4400" b="1"/>
              <a:t>record</a:t>
            </a:r>
            <a:r>
              <a:rPr lang="en-AU" sz="4400"/>
              <a:t> your answer.</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7970231-43DC-E0DB-A7A3-1EFF0ADB4B4D}"/>
              </a:ext>
            </a:extLst>
          </p:cNvPr>
          <p:cNvSpPr txBox="1"/>
          <p:nvPr/>
        </p:nvSpPr>
        <p:spPr>
          <a:xfrm>
            <a:off x="757953" y="905601"/>
            <a:ext cx="10641613" cy="806116"/>
          </a:xfrm>
          <a:prstGeom prst="rect">
            <a:avLst/>
          </a:prstGeom>
          <a:noFill/>
        </p:spPr>
        <p:txBody>
          <a:bodyPr wrap="square" lIns="0" tIns="0" rIns="0" bIns="0" rtlCol="0" anchor="t">
            <a:noAutofit/>
          </a:bodyPr>
          <a:lstStyle/>
          <a:p>
            <a:pPr algn="ctr"/>
            <a:r>
              <a:rPr lang="en-AU" sz="4000"/>
              <a:t>What number </a:t>
            </a:r>
            <a:r>
              <a:rPr lang="en-AU" sz="4000" b="1"/>
              <a:t>patterns</a:t>
            </a:r>
            <a:r>
              <a:rPr lang="en-AU" sz="4000"/>
              <a:t> do you see in this calendar?</a:t>
            </a:r>
            <a:endParaRPr lang="en-AU" sz="4000">
              <a:cs typeface="Arial"/>
            </a:endParaRPr>
          </a:p>
        </p:txBody>
      </p:sp>
      <p:graphicFrame>
        <p:nvGraphicFramePr>
          <p:cNvPr id="4" name="Table 3">
            <a:extLst>
              <a:ext uri="{FF2B5EF4-FFF2-40B4-BE49-F238E27FC236}">
                <a16:creationId xmlns:a16="http://schemas.microsoft.com/office/drawing/2014/main" id="{EB30D780-CEE7-EC86-2B7C-7C15596A16F0}"/>
              </a:ext>
            </a:extLst>
          </p:cNvPr>
          <p:cNvGraphicFramePr>
            <a:graphicFrameLocks noGrp="1"/>
          </p:cNvGraphicFramePr>
          <p:nvPr>
            <p:extLst>
              <p:ext uri="{D42A27DB-BD31-4B8C-83A1-F6EECF244321}">
                <p14:modId xmlns:p14="http://schemas.microsoft.com/office/powerpoint/2010/main" val="367862850"/>
              </p:ext>
            </p:extLst>
          </p:nvPr>
        </p:nvGraphicFramePr>
        <p:xfrm>
          <a:off x="2243785" y="2247765"/>
          <a:ext cx="7704430" cy="4358235"/>
        </p:xfrm>
        <a:graphic>
          <a:graphicData uri="http://schemas.openxmlformats.org/drawingml/2006/table">
            <a:tbl>
              <a:tblPr firstRow="1" bandRow="1"/>
              <a:tblGrid>
                <a:gridCol w="1100633">
                  <a:extLst>
                    <a:ext uri="{9D8B030D-6E8A-4147-A177-3AD203B41FA5}">
                      <a16:colId xmlns:a16="http://schemas.microsoft.com/office/drawing/2014/main" val="3920682377"/>
                    </a:ext>
                  </a:extLst>
                </a:gridCol>
                <a:gridCol w="953460">
                  <a:extLst>
                    <a:ext uri="{9D8B030D-6E8A-4147-A177-3AD203B41FA5}">
                      <a16:colId xmlns:a16="http://schemas.microsoft.com/office/drawing/2014/main" val="407197394"/>
                    </a:ext>
                  </a:extLst>
                </a:gridCol>
                <a:gridCol w="1247805">
                  <a:extLst>
                    <a:ext uri="{9D8B030D-6E8A-4147-A177-3AD203B41FA5}">
                      <a16:colId xmlns:a16="http://schemas.microsoft.com/office/drawing/2014/main" val="3497421249"/>
                    </a:ext>
                  </a:extLst>
                </a:gridCol>
                <a:gridCol w="1100633">
                  <a:extLst>
                    <a:ext uri="{9D8B030D-6E8A-4147-A177-3AD203B41FA5}">
                      <a16:colId xmlns:a16="http://schemas.microsoft.com/office/drawing/2014/main" val="4275081898"/>
                    </a:ext>
                  </a:extLst>
                </a:gridCol>
                <a:gridCol w="1100633">
                  <a:extLst>
                    <a:ext uri="{9D8B030D-6E8A-4147-A177-3AD203B41FA5}">
                      <a16:colId xmlns:a16="http://schemas.microsoft.com/office/drawing/2014/main" val="1187562193"/>
                    </a:ext>
                  </a:extLst>
                </a:gridCol>
                <a:gridCol w="1100633">
                  <a:extLst>
                    <a:ext uri="{9D8B030D-6E8A-4147-A177-3AD203B41FA5}">
                      <a16:colId xmlns:a16="http://schemas.microsoft.com/office/drawing/2014/main" val="2222312420"/>
                    </a:ext>
                  </a:extLst>
                </a:gridCol>
                <a:gridCol w="1100633">
                  <a:extLst>
                    <a:ext uri="{9D8B030D-6E8A-4147-A177-3AD203B41FA5}">
                      <a16:colId xmlns:a16="http://schemas.microsoft.com/office/drawing/2014/main" val="2173235402"/>
                    </a:ext>
                  </a:extLst>
                </a:gridCol>
              </a:tblGrid>
              <a:tr h="467907">
                <a:tc gridSpan="7">
                  <a:txBody>
                    <a:bodyPr/>
                    <a:lstStyle/>
                    <a:p>
                      <a:pPr algn="ctr"/>
                      <a:r>
                        <a:rPr lang="en-AU" sz="2800" b="1"/>
                        <a:t>September</a:t>
                      </a:r>
                    </a:p>
                  </a:txBody>
                  <a:tcPr>
                    <a:solidFill>
                      <a:srgbClr val="9966FF"/>
                    </a:solidFill>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2861238810"/>
                  </a:ext>
                </a:extLst>
              </a:tr>
              <a:tr h="334875">
                <a:tc>
                  <a:txBody>
                    <a:bodyPr/>
                    <a:lstStyle/>
                    <a:p>
                      <a:pPr algn="ctr"/>
                      <a:r>
                        <a:rPr lang="en-AU" sz="1400" b="1"/>
                        <a:t>Monday</a:t>
                      </a:r>
                    </a:p>
                  </a:txBody>
                  <a:tcPr>
                    <a:solidFill>
                      <a:srgbClr val="CC99FF"/>
                    </a:solidFill>
                  </a:tcPr>
                </a:tc>
                <a:tc>
                  <a:txBody>
                    <a:bodyPr/>
                    <a:lstStyle/>
                    <a:p>
                      <a:pPr algn="ctr"/>
                      <a:r>
                        <a:rPr lang="en-AU" sz="1400" b="1"/>
                        <a:t>Tuesday</a:t>
                      </a:r>
                    </a:p>
                  </a:txBody>
                  <a:tcPr>
                    <a:solidFill>
                      <a:srgbClr val="CC99FF"/>
                    </a:solidFill>
                  </a:tcPr>
                </a:tc>
                <a:tc>
                  <a:txBody>
                    <a:bodyPr/>
                    <a:lstStyle/>
                    <a:p>
                      <a:pPr algn="ctr"/>
                      <a:r>
                        <a:rPr lang="en-AU" sz="1400" b="1"/>
                        <a:t>Wednesday</a:t>
                      </a:r>
                    </a:p>
                  </a:txBody>
                  <a:tcPr>
                    <a:solidFill>
                      <a:srgbClr val="CC99FF"/>
                    </a:solidFill>
                  </a:tcPr>
                </a:tc>
                <a:tc>
                  <a:txBody>
                    <a:bodyPr/>
                    <a:lstStyle/>
                    <a:p>
                      <a:pPr algn="ctr"/>
                      <a:r>
                        <a:rPr lang="en-AU" sz="1400" b="1"/>
                        <a:t>Thursday</a:t>
                      </a:r>
                    </a:p>
                  </a:txBody>
                  <a:tcPr>
                    <a:solidFill>
                      <a:srgbClr val="CC99FF"/>
                    </a:solidFill>
                  </a:tcPr>
                </a:tc>
                <a:tc>
                  <a:txBody>
                    <a:bodyPr/>
                    <a:lstStyle/>
                    <a:p>
                      <a:pPr algn="ctr"/>
                      <a:r>
                        <a:rPr lang="en-AU" sz="1400" b="1"/>
                        <a:t>Friday</a:t>
                      </a:r>
                    </a:p>
                  </a:txBody>
                  <a:tcPr>
                    <a:solidFill>
                      <a:srgbClr val="CC99FF"/>
                    </a:solidFill>
                  </a:tcPr>
                </a:tc>
                <a:tc>
                  <a:txBody>
                    <a:bodyPr/>
                    <a:lstStyle/>
                    <a:p>
                      <a:pPr algn="ctr"/>
                      <a:r>
                        <a:rPr lang="en-AU" sz="1400" b="1"/>
                        <a:t>Saturday</a:t>
                      </a:r>
                    </a:p>
                  </a:txBody>
                  <a:tcPr>
                    <a:solidFill>
                      <a:srgbClr val="CC99FF"/>
                    </a:solidFill>
                  </a:tcPr>
                </a:tc>
                <a:tc>
                  <a:txBody>
                    <a:bodyPr/>
                    <a:lstStyle/>
                    <a:p>
                      <a:pPr algn="ctr"/>
                      <a:r>
                        <a:rPr lang="en-AU" sz="1400" b="1"/>
                        <a:t>Sunday</a:t>
                      </a:r>
                    </a:p>
                  </a:txBody>
                  <a:tcPr>
                    <a:solidFill>
                      <a:srgbClr val="CC99FF"/>
                    </a:solidFill>
                  </a:tcPr>
                </a:tc>
                <a:extLst>
                  <a:ext uri="{0D108BD9-81ED-4DB2-BD59-A6C34878D82A}">
                    <a16:rowId xmlns:a16="http://schemas.microsoft.com/office/drawing/2014/main" val="4139621693"/>
                  </a:ext>
                </a:extLst>
              </a:tr>
              <a:tr h="688099">
                <a:tc>
                  <a:txBody>
                    <a:bodyPr/>
                    <a:lstStyle/>
                    <a:p>
                      <a:pPr algn="ctr"/>
                      <a:endParaRPr lang="en-AU" sz="4000"/>
                    </a:p>
                  </a:txBody>
                  <a:tcPr/>
                </a:tc>
                <a:tc>
                  <a:txBody>
                    <a:bodyPr/>
                    <a:lstStyle/>
                    <a:p>
                      <a:pPr algn="ctr"/>
                      <a:endParaRPr lang="en-AU" sz="4000"/>
                    </a:p>
                  </a:txBody>
                  <a:tcPr/>
                </a:tc>
                <a:tc>
                  <a:txBody>
                    <a:bodyPr/>
                    <a:lstStyle/>
                    <a:p>
                      <a:pPr algn="ctr"/>
                      <a:r>
                        <a:rPr lang="en-AU" sz="4000"/>
                        <a:t>1</a:t>
                      </a:r>
                    </a:p>
                  </a:txBody>
                  <a:tcPr/>
                </a:tc>
                <a:tc>
                  <a:txBody>
                    <a:bodyPr/>
                    <a:lstStyle/>
                    <a:p>
                      <a:pPr algn="ctr"/>
                      <a:r>
                        <a:rPr lang="en-AU" sz="4000"/>
                        <a:t>2</a:t>
                      </a:r>
                    </a:p>
                  </a:txBody>
                  <a:tcPr/>
                </a:tc>
                <a:tc>
                  <a:txBody>
                    <a:bodyPr/>
                    <a:lstStyle/>
                    <a:p>
                      <a:pPr algn="ctr"/>
                      <a:r>
                        <a:rPr lang="en-AU" sz="4000"/>
                        <a:t>3</a:t>
                      </a:r>
                    </a:p>
                  </a:txBody>
                  <a:tcPr/>
                </a:tc>
                <a:tc>
                  <a:txBody>
                    <a:bodyPr/>
                    <a:lstStyle/>
                    <a:p>
                      <a:pPr algn="ctr"/>
                      <a:r>
                        <a:rPr lang="en-AU" sz="4000"/>
                        <a:t>4</a:t>
                      </a:r>
                    </a:p>
                  </a:txBody>
                  <a:tcPr/>
                </a:tc>
                <a:tc>
                  <a:txBody>
                    <a:bodyPr/>
                    <a:lstStyle/>
                    <a:p>
                      <a:pPr algn="ctr"/>
                      <a:r>
                        <a:rPr lang="en-AU" sz="4000"/>
                        <a:t>5</a:t>
                      </a:r>
                    </a:p>
                  </a:txBody>
                  <a:tcPr/>
                </a:tc>
                <a:extLst>
                  <a:ext uri="{0D108BD9-81ED-4DB2-BD59-A6C34878D82A}">
                    <a16:rowId xmlns:a16="http://schemas.microsoft.com/office/drawing/2014/main" val="3351411625"/>
                  </a:ext>
                </a:extLst>
              </a:tr>
              <a:tr h="688099">
                <a:tc>
                  <a:txBody>
                    <a:bodyPr/>
                    <a:lstStyle/>
                    <a:p>
                      <a:pPr algn="ctr"/>
                      <a:r>
                        <a:rPr lang="en-AU" sz="4000"/>
                        <a:t>6</a:t>
                      </a:r>
                    </a:p>
                  </a:txBody>
                  <a:tcPr/>
                </a:tc>
                <a:tc>
                  <a:txBody>
                    <a:bodyPr/>
                    <a:lstStyle/>
                    <a:p>
                      <a:pPr algn="ctr"/>
                      <a:r>
                        <a:rPr lang="en-AU" sz="4000"/>
                        <a:t>7</a:t>
                      </a:r>
                    </a:p>
                  </a:txBody>
                  <a:tcPr/>
                </a:tc>
                <a:tc>
                  <a:txBody>
                    <a:bodyPr/>
                    <a:lstStyle/>
                    <a:p>
                      <a:pPr algn="ctr"/>
                      <a:r>
                        <a:rPr lang="en-AU" sz="4000"/>
                        <a:t>8</a:t>
                      </a:r>
                    </a:p>
                  </a:txBody>
                  <a:tcPr/>
                </a:tc>
                <a:tc>
                  <a:txBody>
                    <a:bodyPr/>
                    <a:lstStyle/>
                    <a:p>
                      <a:pPr algn="ctr"/>
                      <a:r>
                        <a:rPr lang="en-AU" sz="4000"/>
                        <a:t>9</a:t>
                      </a:r>
                    </a:p>
                  </a:txBody>
                  <a:tcPr/>
                </a:tc>
                <a:tc>
                  <a:txBody>
                    <a:bodyPr/>
                    <a:lstStyle/>
                    <a:p>
                      <a:pPr algn="ctr"/>
                      <a:r>
                        <a:rPr lang="en-AU" sz="4000"/>
                        <a:t>10</a:t>
                      </a:r>
                    </a:p>
                  </a:txBody>
                  <a:tcPr/>
                </a:tc>
                <a:tc>
                  <a:txBody>
                    <a:bodyPr/>
                    <a:lstStyle/>
                    <a:p>
                      <a:pPr algn="ctr"/>
                      <a:r>
                        <a:rPr lang="en-AU" sz="4000"/>
                        <a:t>11</a:t>
                      </a:r>
                    </a:p>
                  </a:txBody>
                  <a:tcPr/>
                </a:tc>
                <a:tc>
                  <a:txBody>
                    <a:bodyPr/>
                    <a:lstStyle/>
                    <a:p>
                      <a:pPr algn="ctr"/>
                      <a:r>
                        <a:rPr lang="en-AU" sz="4000"/>
                        <a:t>12</a:t>
                      </a:r>
                    </a:p>
                  </a:txBody>
                  <a:tcPr/>
                </a:tc>
                <a:extLst>
                  <a:ext uri="{0D108BD9-81ED-4DB2-BD59-A6C34878D82A}">
                    <a16:rowId xmlns:a16="http://schemas.microsoft.com/office/drawing/2014/main" val="2462135234"/>
                  </a:ext>
                </a:extLst>
              </a:tr>
              <a:tr h="688099">
                <a:tc>
                  <a:txBody>
                    <a:bodyPr/>
                    <a:lstStyle/>
                    <a:p>
                      <a:pPr algn="ctr"/>
                      <a:r>
                        <a:rPr lang="en-AU" sz="4000"/>
                        <a:t>13</a:t>
                      </a:r>
                    </a:p>
                  </a:txBody>
                  <a:tcPr/>
                </a:tc>
                <a:tc>
                  <a:txBody>
                    <a:bodyPr/>
                    <a:lstStyle/>
                    <a:p>
                      <a:pPr algn="ctr"/>
                      <a:r>
                        <a:rPr lang="en-AU" sz="4000"/>
                        <a:t>14</a:t>
                      </a:r>
                    </a:p>
                  </a:txBody>
                  <a:tcPr/>
                </a:tc>
                <a:tc>
                  <a:txBody>
                    <a:bodyPr/>
                    <a:lstStyle/>
                    <a:p>
                      <a:pPr algn="ctr"/>
                      <a:r>
                        <a:rPr lang="en-AU" sz="4000"/>
                        <a:t>15</a:t>
                      </a:r>
                    </a:p>
                  </a:txBody>
                  <a:tcPr/>
                </a:tc>
                <a:tc>
                  <a:txBody>
                    <a:bodyPr/>
                    <a:lstStyle/>
                    <a:p>
                      <a:pPr algn="ctr"/>
                      <a:r>
                        <a:rPr lang="en-AU" sz="4000"/>
                        <a:t>16</a:t>
                      </a:r>
                    </a:p>
                  </a:txBody>
                  <a:tcPr/>
                </a:tc>
                <a:tc>
                  <a:txBody>
                    <a:bodyPr/>
                    <a:lstStyle/>
                    <a:p>
                      <a:pPr algn="ctr"/>
                      <a:r>
                        <a:rPr lang="en-AU" sz="4000"/>
                        <a:t>17</a:t>
                      </a:r>
                    </a:p>
                  </a:txBody>
                  <a:tcPr/>
                </a:tc>
                <a:tc>
                  <a:txBody>
                    <a:bodyPr/>
                    <a:lstStyle/>
                    <a:p>
                      <a:pPr algn="ctr"/>
                      <a:r>
                        <a:rPr lang="en-AU" sz="4000"/>
                        <a:t>18</a:t>
                      </a:r>
                    </a:p>
                  </a:txBody>
                  <a:tcPr/>
                </a:tc>
                <a:tc>
                  <a:txBody>
                    <a:bodyPr/>
                    <a:lstStyle/>
                    <a:p>
                      <a:pPr algn="ctr"/>
                      <a:r>
                        <a:rPr lang="en-AU" sz="4000"/>
                        <a:t>19</a:t>
                      </a:r>
                    </a:p>
                  </a:txBody>
                  <a:tcPr/>
                </a:tc>
                <a:extLst>
                  <a:ext uri="{0D108BD9-81ED-4DB2-BD59-A6C34878D82A}">
                    <a16:rowId xmlns:a16="http://schemas.microsoft.com/office/drawing/2014/main" val="2824762049"/>
                  </a:ext>
                </a:extLst>
              </a:tr>
              <a:tr h="688099">
                <a:tc>
                  <a:txBody>
                    <a:bodyPr/>
                    <a:lstStyle/>
                    <a:p>
                      <a:pPr algn="ctr"/>
                      <a:r>
                        <a:rPr lang="en-AU" sz="4000"/>
                        <a:t>20</a:t>
                      </a:r>
                    </a:p>
                  </a:txBody>
                  <a:tcPr/>
                </a:tc>
                <a:tc>
                  <a:txBody>
                    <a:bodyPr/>
                    <a:lstStyle/>
                    <a:p>
                      <a:pPr algn="ctr"/>
                      <a:r>
                        <a:rPr lang="en-AU" sz="4000"/>
                        <a:t>21</a:t>
                      </a:r>
                    </a:p>
                  </a:txBody>
                  <a:tcPr/>
                </a:tc>
                <a:tc>
                  <a:txBody>
                    <a:bodyPr/>
                    <a:lstStyle/>
                    <a:p>
                      <a:pPr algn="ctr"/>
                      <a:r>
                        <a:rPr lang="en-AU" sz="4000"/>
                        <a:t>22</a:t>
                      </a:r>
                    </a:p>
                  </a:txBody>
                  <a:tcPr/>
                </a:tc>
                <a:tc>
                  <a:txBody>
                    <a:bodyPr/>
                    <a:lstStyle/>
                    <a:p>
                      <a:pPr algn="ctr"/>
                      <a:r>
                        <a:rPr lang="en-AU" sz="4000"/>
                        <a:t>23</a:t>
                      </a:r>
                    </a:p>
                  </a:txBody>
                  <a:tcPr/>
                </a:tc>
                <a:tc>
                  <a:txBody>
                    <a:bodyPr/>
                    <a:lstStyle/>
                    <a:p>
                      <a:pPr algn="ctr"/>
                      <a:r>
                        <a:rPr lang="en-AU" sz="4000"/>
                        <a:t>24</a:t>
                      </a:r>
                    </a:p>
                  </a:txBody>
                  <a:tcPr/>
                </a:tc>
                <a:tc>
                  <a:txBody>
                    <a:bodyPr/>
                    <a:lstStyle/>
                    <a:p>
                      <a:pPr algn="ctr"/>
                      <a:r>
                        <a:rPr lang="en-AU" sz="4000"/>
                        <a:t>25</a:t>
                      </a:r>
                    </a:p>
                  </a:txBody>
                  <a:tcPr/>
                </a:tc>
                <a:tc>
                  <a:txBody>
                    <a:bodyPr/>
                    <a:lstStyle/>
                    <a:p>
                      <a:pPr algn="ctr"/>
                      <a:r>
                        <a:rPr lang="en-AU" sz="4000"/>
                        <a:t>26</a:t>
                      </a:r>
                    </a:p>
                  </a:txBody>
                  <a:tcPr/>
                </a:tc>
                <a:extLst>
                  <a:ext uri="{0D108BD9-81ED-4DB2-BD59-A6C34878D82A}">
                    <a16:rowId xmlns:a16="http://schemas.microsoft.com/office/drawing/2014/main" val="4127412486"/>
                  </a:ext>
                </a:extLst>
              </a:tr>
              <a:tr h="688099">
                <a:tc>
                  <a:txBody>
                    <a:bodyPr/>
                    <a:lstStyle/>
                    <a:p>
                      <a:pPr algn="ctr"/>
                      <a:r>
                        <a:rPr lang="en-AU" sz="4000"/>
                        <a:t>27</a:t>
                      </a:r>
                    </a:p>
                  </a:txBody>
                  <a:tcPr/>
                </a:tc>
                <a:tc>
                  <a:txBody>
                    <a:bodyPr/>
                    <a:lstStyle/>
                    <a:p>
                      <a:pPr algn="ctr"/>
                      <a:r>
                        <a:rPr lang="en-AU" sz="4000"/>
                        <a:t>28</a:t>
                      </a:r>
                    </a:p>
                  </a:txBody>
                  <a:tcPr/>
                </a:tc>
                <a:tc>
                  <a:txBody>
                    <a:bodyPr/>
                    <a:lstStyle/>
                    <a:p>
                      <a:pPr algn="ctr"/>
                      <a:r>
                        <a:rPr lang="en-AU" sz="4000"/>
                        <a:t>29</a:t>
                      </a:r>
                    </a:p>
                  </a:txBody>
                  <a:tcPr/>
                </a:tc>
                <a:tc>
                  <a:txBody>
                    <a:bodyPr/>
                    <a:lstStyle/>
                    <a:p>
                      <a:pPr algn="ctr"/>
                      <a:r>
                        <a:rPr lang="en-AU" sz="4000"/>
                        <a:t>30</a:t>
                      </a:r>
                    </a:p>
                  </a:txBody>
                  <a:tcPr/>
                </a:tc>
                <a:tc>
                  <a:txBody>
                    <a:bodyPr/>
                    <a:lstStyle/>
                    <a:p>
                      <a:pPr algn="ctr"/>
                      <a:endParaRPr lang="en-AU" sz="4000"/>
                    </a:p>
                  </a:txBody>
                  <a:tcPr/>
                </a:tc>
                <a:tc>
                  <a:txBody>
                    <a:bodyPr/>
                    <a:lstStyle/>
                    <a:p>
                      <a:pPr algn="ctr"/>
                      <a:endParaRPr lang="en-AU" sz="4000"/>
                    </a:p>
                  </a:txBody>
                  <a:tcPr/>
                </a:tc>
                <a:tc>
                  <a:txBody>
                    <a:bodyPr/>
                    <a:lstStyle/>
                    <a:p>
                      <a:pPr algn="ctr"/>
                      <a:endParaRPr lang="en-AU" sz="4000"/>
                    </a:p>
                  </a:txBody>
                  <a:tcPr/>
                </a:tc>
                <a:extLst>
                  <a:ext uri="{0D108BD9-81ED-4DB2-BD59-A6C34878D82A}">
                    <a16:rowId xmlns:a16="http://schemas.microsoft.com/office/drawing/2014/main" val="1076683576"/>
                  </a:ext>
                </a:extLst>
              </a:tr>
            </a:tbl>
          </a:graphicData>
        </a:graphic>
      </p:graphicFrame>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TextBox 4">
            <a:extLst>
              <a:ext uri="{FF2B5EF4-FFF2-40B4-BE49-F238E27FC236}">
                <a16:creationId xmlns:a16="http://schemas.microsoft.com/office/drawing/2014/main" id="{90D33B88-0D29-7E87-E19D-3F11B28BED0F}"/>
              </a:ext>
            </a:extLst>
          </p:cNvPr>
          <p:cNvSpPr txBox="1"/>
          <p:nvPr/>
        </p:nvSpPr>
        <p:spPr>
          <a:xfrm>
            <a:off x="505326" y="1299411"/>
            <a:ext cx="11225463" cy="1094873"/>
          </a:xfrm>
          <a:prstGeom prst="rect">
            <a:avLst/>
          </a:prstGeom>
          <a:noFill/>
        </p:spPr>
        <p:txBody>
          <a:bodyPr wrap="square" lIns="0" tIns="0" rIns="0" bIns="0" rtlCol="0">
            <a:noAutofit/>
          </a:bodyPr>
          <a:lstStyle/>
          <a:p>
            <a:pPr algn="ctr"/>
            <a:r>
              <a:rPr lang="en-AU" sz="4400" b="1"/>
              <a:t>Describe</a:t>
            </a:r>
            <a:r>
              <a:rPr lang="en-AU" sz="4400"/>
              <a:t> this </a:t>
            </a:r>
            <a:r>
              <a:rPr lang="en-AU" sz="4400" b="1"/>
              <a:t>triangular prism</a:t>
            </a:r>
            <a:r>
              <a:rPr lang="en-AU" sz="4400"/>
              <a:t> using the terms </a:t>
            </a:r>
            <a:r>
              <a:rPr lang="en-AU" sz="4400" b="1"/>
              <a:t>face, edge </a:t>
            </a:r>
            <a:r>
              <a:rPr lang="en-AU" sz="4400"/>
              <a:t>and </a:t>
            </a:r>
            <a:r>
              <a:rPr lang="en-AU" sz="4400" b="1"/>
              <a:t>vertex.</a:t>
            </a:r>
          </a:p>
        </p:txBody>
      </p:sp>
      <p:pic>
        <p:nvPicPr>
          <p:cNvPr id="8" name="Picture 7" descr="A triangular prism">
            <a:extLst>
              <a:ext uri="{FF2B5EF4-FFF2-40B4-BE49-F238E27FC236}">
                <a16:creationId xmlns:a16="http://schemas.microsoft.com/office/drawing/2014/main" id="{2C60C197-036F-CB81-3CEC-685152D0753C}"/>
              </a:ext>
            </a:extLst>
          </p:cNvPr>
          <p:cNvPicPr>
            <a:picLocks noChangeAspect="1"/>
          </p:cNvPicPr>
          <p:nvPr/>
        </p:nvPicPr>
        <p:blipFill>
          <a:blip r:embed="rId4"/>
          <a:stretch>
            <a:fillRect/>
          </a:stretch>
        </p:blipFill>
        <p:spPr>
          <a:xfrm>
            <a:off x="3241882" y="2788094"/>
            <a:ext cx="5708236" cy="3644346"/>
          </a:xfrm>
          <a:prstGeom prst="rect">
            <a:avLst/>
          </a:prstGeom>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7 – using the bar model</a:t>
            </a:r>
            <a:endParaRPr lang="en-US"/>
          </a:p>
        </p:txBody>
      </p:sp>
      <p:pic>
        <p:nvPicPr>
          <p:cNvPr id="9" name="Picture 8" descr="image of a head with cogs turning inside">
            <a:extLst>
              <a:ext uri="{FF2B5EF4-FFF2-40B4-BE49-F238E27FC236}">
                <a16:creationId xmlns:a16="http://schemas.microsoft.com/office/drawing/2014/main" id="{DFFCB83F-FAF8-B75E-B141-94FEF50DA666}"/>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2" name="TextBox 11">
            <a:extLst>
              <a:ext uri="{FF2B5EF4-FFF2-40B4-BE49-F238E27FC236}">
                <a16:creationId xmlns:a16="http://schemas.microsoft.com/office/drawing/2014/main" id="{FFE32B9B-2DFE-9B24-ABF2-7194C9DB7637}"/>
              </a:ext>
            </a:extLst>
          </p:cNvPr>
          <p:cNvSpPr txBox="1"/>
          <p:nvPr/>
        </p:nvSpPr>
        <p:spPr>
          <a:xfrm>
            <a:off x="726969" y="1277516"/>
            <a:ext cx="10160488" cy="1968601"/>
          </a:xfrm>
          <a:prstGeom prst="rect">
            <a:avLst/>
          </a:prstGeom>
          <a:noFill/>
        </p:spPr>
        <p:txBody>
          <a:bodyPr wrap="square" lIns="0" tIns="0" rIns="0" bIns="0" rtlCol="0">
            <a:no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Use the </a:t>
            </a:r>
            <a:r>
              <a:rPr kumimoji="0" lang="en-AU" sz="440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bar model</a:t>
            </a:r>
            <a:r>
              <a:rPr kumimoji="0" lang="en-AU" sz="44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 to work out</a:t>
            </a:r>
          </a:p>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50 – 38 = </a:t>
            </a:r>
          </a:p>
        </p:txBody>
      </p:sp>
      <p:pic>
        <p:nvPicPr>
          <p:cNvPr id="11" name="Picture 10" descr="A bar model divided into two rows.&#10;&#10;The top bar, coloured green, is labelled 50 and represents the total.&#10;&#10;The bottom bar, coloured orange, is split into two parts. The first part is labelled 38, and the second part has a question mark.">
            <a:extLst>
              <a:ext uri="{FF2B5EF4-FFF2-40B4-BE49-F238E27FC236}">
                <a16:creationId xmlns:a16="http://schemas.microsoft.com/office/drawing/2014/main" id="{84E31965-DA01-1D2C-4D2D-59BA9765DB24}"/>
              </a:ext>
            </a:extLst>
          </p:cNvPr>
          <p:cNvPicPr>
            <a:picLocks noChangeAspect="1"/>
          </p:cNvPicPr>
          <p:nvPr/>
        </p:nvPicPr>
        <p:blipFill>
          <a:blip r:embed="rId4"/>
          <a:stretch>
            <a:fillRect/>
          </a:stretch>
        </p:blipFill>
        <p:spPr>
          <a:xfrm>
            <a:off x="1595189" y="3471706"/>
            <a:ext cx="8769801" cy="1968601"/>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53</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Tree>
    <p:extLst>
      <p:ext uri="{BB962C8B-B14F-4D97-AF65-F5344CB8AC3E}">
        <p14:creationId xmlns:p14="http://schemas.microsoft.com/office/powerpoint/2010/main" val="1125918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1245056" y="747173"/>
            <a:ext cx="9472926" cy="893226"/>
          </a:xfrm>
        </p:spPr>
        <p:txBody>
          <a:bodyPr/>
          <a:lstStyle/>
          <a:p>
            <a:pPr algn="ctr"/>
            <a:r>
              <a:rPr lang="en-AU" sz="4400"/>
              <a:t>This bar model and number line show the</a:t>
            </a:r>
            <a:r>
              <a:rPr lang="en-AU" sz="4400" b="1"/>
              <a:t> same calculation</a:t>
            </a:r>
            <a:r>
              <a:rPr lang="en-AU" sz="4400"/>
              <a:t>.</a:t>
            </a:r>
          </a:p>
        </p:txBody>
      </p:sp>
      <p:pic>
        <p:nvPicPr>
          <p:cNvPr id="9" name="Picture 8" descr="A bar model showing a part–part–whole relationship. The top bar is shaded blue and has a question mark. Below are two yellow bars representing the parts, labelled 86 and 68.">
            <a:extLst>
              <a:ext uri="{FF2B5EF4-FFF2-40B4-BE49-F238E27FC236}">
                <a16:creationId xmlns:a16="http://schemas.microsoft.com/office/drawing/2014/main" id="{BDBB559B-92F0-16D1-5DD9-17F470336618}"/>
              </a:ext>
            </a:extLst>
          </p:cNvPr>
          <p:cNvPicPr>
            <a:picLocks noChangeAspect="1"/>
          </p:cNvPicPr>
          <p:nvPr/>
        </p:nvPicPr>
        <p:blipFill>
          <a:blip r:embed="rId4"/>
          <a:stretch>
            <a:fillRect/>
          </a:stretch>
        </p:blipFill>
        <p:spPr>
          <a:xfrm>
            <a:off x="1661955" y="3429000"/>
            <a:ext cx="3382734" cy="1803365"/>
          </a:xfrm>
          <a:prstGeom prst="rect">
            <a:avLst/>
          </a:prstGeom>
        </p:spPr>
      </p:pic>
      <p:pic>
        <p:nvPicPr>
          <p:cNvPr id="11" name="Picture 10" descr="A number line used to model the addition 86 + 68. The jumps show adding 4 to reach 90, then 60 to reach 150, and 4 more to reach 154.">
            <a:extLst>
              <a:ext uri="{FF2B5EF4-FFF2-40B4-BE49-F238E27FC236}">
                <a16:creationId xmlns:a16="http://schemas.microsoft.com/office/drawing/2014/main" id="{BE085003-FE75-3F89-C2B0-FAEFF66D87A1}"/>
              </a:ext>
            </a:extLst>
          </p:cNvPr>
          <p:cNvPicPr>
            <a:picLocks noChangeAspect="1"/>
          </p:cNvPicPr>
          <p:nvPr/>
        </p:nvPicPr>
        <p:blipFill>
          <a:blip r:embed="rId5"/>
          <a:stretch>
            <a:fillRect/>
          </a:stretch>
        </p:blipFill>
        <p:spPr>
          <a:xfrm>
            <a:off x="6550765" y="2761466"/>
            <a:ext cx="3979280" cy="2688702"/>
          </a:xfrm>
          <a:prstGeom prst="rect">
            <a:avLst/>
          </a:prstGeom>
        </p:spPr>
      </p:pic>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1085071013"/>
              </p:ext>
            </p:extLst>
          </p:nvPr>
        </p:nvGraphicFramePr>
        <p:xfrm>
          <a:off x="2442981" y="57743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E0B9D92-B253-CF75-50A7-4A1D77626170}"/>
              </a:ext>
            </a:extLst>
          </p:cNvPr>
          <p:cNvSpPr txBox="1"/>
          <p:nvPr/>
        </p:nvSpPr>
        <p:spPr>
          <a:xfrm>
            <a:off x="397042" y="1431758"/>
            <a:ext cx="11309684" cy="4415589"/>
          </a:xfrm>
          <a:prstGeom prst="rect">
            <a:avLst/>
          </a:prstGeom>
          <a:noFill/>
        </p:spPr>
        <p:txBody>
          <a:bodyPr wrap="square" lIns="0" tIns="0" rIns="0" bIns="0" rtlCol="0" anchor="t">
            <a:noAutofit/>
          </a:bodyPr>
          <a:lstStyle/>
          <a:p>
            <a:pPr algn="ctr"/>
            <a:r>
              <a:rPr lang="en-AU" sz="4400" b="1"/>
              <a:t>Record</a:t>
            </a:r>
            <a:r>
              <a:rPr lang="en-AU" sz="4400"/>
              <a:t> how many minutes in:</a:t>
            </a:r>
            <a:endParaRPr lang="en-AU" sz="4400">
              <a:cs typeface="Arial"/>
            </a:endParaRPr>
          </a:p>
          <a:p>
            <a:pPr algn="ctr"/>
            <a:endParaRPr lang="en-AU" sz="4400"/>
          </a:p>
          <a:p>
            <a:pPr marL="571500" indent="-571500" algn="ctr">
              <a:buFont typeface="Arial"/>
              <a:buChar char="•"/>
            </a:pPr>
            <a:r>
              <a:rPr lang="en-AU" sz="4400"/>
              <a:t>  quarter of an hour</a:t>
            </a:r>
            <a:endParaRPr lang="en-AU" sz="4400">
              <a:cs typeface="Arial"/>
            </a:endParaRPr>
          </a:p>
          <a:p>
            <a:pPr marL="571500" indent="-571500" algn="ctr">
              <a:buFont typeface="Arial"/>
              <a:buChar char="•"/>
            </a:pPr>
            <a:endParaRPr lang="en-AU" sz="4400">
              <a:cs typeface="Arial"/>
            </a:endParaRPr>
          </a:p>
          <a:p>
            <a:pPr marL="571500" indent="-571500" algn="ctr">
              <a:buFont typeface="Arial"/>
              <a:buChar char="•"/>
            </a:pPr>
            <a:r>
              <a:rPr lang="en-AU" sz="4400"/>
              <a:t> half an hour</a:t>
            </a:r>
            <a:endParaRPr lang="en-AU" sz="4400">
              <a:cs typeface="Arial"/>
            </a:endParaRPr>
          </a:p>
          <a:p>
            <a:pPr marL="571500" indent="-571500" algn="ctr">
              <a:buFont typeface="Arial"/>
              <a:buChar char="•"/>
            </a:pPr>
            <a:endParaRPr lang="en-AU" sz="4400">
              <a:cs typeface="Arial"/>
            </a:endParaRPr>
          </a:p>
          <a:p>
            <a:pPr marL="571500" indent="-571500" algn="ctr">
              <a:buFont typeface="Arial"/>
              <a:buChar char="•"/>
            </a:pPr>
            <a:r>
              <a:rPr lang="en-AU" sz="4400"/>
              <a:t>one hour</a:t>
            </a:r>
            <a:endParaRPr lang="en-AU" sz="4400">
              <a:cs typeface="Arial"/>
            </a:endParaRP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67FD710-519C-765A-3246-DF7E31767C65}"/>
              </a:ext>
            </a:extLst>
          </p:cNvPr>
          <p:cNvSpPr txBox="1"/>
          <p:nvPr/>
        </p:nvSpPr>
        <p:spPr>
          <a:xfrm>
            <a:off x="505326" y="1311442"/>
            <a:ext cx="11181348" cy="4925936"/>
          </a:xfrm>
          <a:prstGeom prst="rect">
            <a:avLst/>
          </a:prstGeom>
          <a:noFill/>
        </p:spPr>
        <p:txBody>
          <a:bodyPr wrap="square" lIns="0" tIns="0" rIns="0" bIns="0" rtlCol="0">
            <a:noAutofit/>
          </a:bodyPr>
          <a:lstStyle/>
          <a:p>
            <a:pPr algn="ctr"/>
            <a:r>
              <a:rPr lang="en-AU" sz="4400"/>
              <a:t>Use the </a:t>
            </a:r>
            <a:r>
              <a:rPr lang="en-AU" sz="4400" b="1"/>
              <a:t>most efficient strategy </a:t>
            </a:r>
            <a:r>
              <a:rPr lang="en-AU" sz="4400"/>
              <a:t>to solve</a:t>
            </a:r>
          </a:p>
          <a:p>
            <a:pPr algn="ctr"/>
            <a:endParaRPr lang="en-AU" sz="4400"/>
          </a:p>
          <a:p>
            <a:pPr algn="ctr"/>
            <a:r>
              <a:rPr lang="en-AU" sz="5400"/>
              <a:t>127 – 58 =</a:t>
            </a:r>
          </a:p>
          <a:p>
            <a:pPr algn="ctr"/>
            <a:endParaRPr lang="en-AU" sz="4400"/>
          </a:p>
          <a:p>
            <a:pPr algn="ctr"/>
            <a:r>
              <a:rPr lang="en-AU" sz="4400" b="1"/>
              <a:t>Explain </a:t>
            </a:r>
            <a:r>
              <a:rPr lang="en-AU" sz="4400"/>
              <a:t>your </a:t>
            </a:r>
            <a:r>
              <a:rPr lang="en-AU" sz="4400" b="1"/>
              <a:t>reasoning.</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C018B67-8250-12B0-C0EB-E5F73FA60478}"/>
              </a:ext>
            </a:extLst>
          </p:cNvPr>
          <p:cNvSpPr txBox="1"/>
          <p:nvPr/>
        </p:nvSpPr>
        <p:spPr>
          <a:xfrm>
            <a:off x="591552" y="2418551"/>
            <a:ext cx="11008895" cy="2020897"/>
          </a:xfrm>
          <a:prstGeom prst="rect">
            <a:avLst/>
          </a:prstGeom>
          <a:noFill/>
        </p:spPr>
        <p:txBody>
          <a:bodyPr wrap="square" lIns="0" tIns="0" rIns="0" bIns="0" rtlCol="0" anchor="t">
            <a:noAutofit/>
          </a:bodyPr>
          <a:lstStyle/>
          <a:p>
            <a:pPr algn="ctr"/>
            <a:r>
              <a:rPr lang="en-AU" sz="4400" b="1"/>
              <a:t>Draw </a:t>
            </a:r>
            <a:r>
              <a:rPr lang="en-AU" sz="4400"/>
              <a:t>arrays</a:t>
            </a:r>
            <a:r>
              <a:rPr lang="en-AU" sz="4400" b="1"/>
              <a:t> </a:t>
            </a:r>
            <a:r>
              <a:rPr lang="en-AU" sz="4400"/>
              <a:t>to show </a:t>
            </a:r>
          </a:p>
          <a:p>
            <a:pPr algn="ctr"/>
            <a:endParaRPr lang="en-AU" sz="4400"/>
          </a:p>
          <a:p>
            <a:pPr algn="ctr"/>
            <a:r>
              <a:rPr lang="en-AU" sz="4400"/>
              <a:t>5 fours.</a:t>
            </a:r>
          </a:p>
          <a:p>
            <a:pPr algn="ctr"/>
            <a:endParaRPr lang="en-AU" sz="4400">
              <a:cs typeface="Arial"/>
            </a:endParaRPr>
          </a:p>
          <a:p>
            <a:pPr algn="ctr"/>
            <a:endParaRPr lang="en-AU" sz="4400">
              <a:cs typeface="Arial"/>
            </a:endParaRPr>
          </a:p>
          <a:p>
            <a:pPr algn="ctr"/>
            <a:endParaRPr lang="en-AU" sz="4400"/>
          </a:p>
          <a:p>
            <a:pPr algn="ctr"/>
            <a:endParaRPr lang="en-AU" sz="4400"/>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9BA66D4-BD5F-877F-4DAF-D18D15CAAC42}"/>
              </a:ext>
            </a:extLst>
          </p:cNvPr>
          <p:cNvSpPr txBox="1"/>
          <p:nvPr/>
        </p:nvSpPr>
        <p:spPr>
          <a:xfrm>
            <a:off x="348458" y="1040731"/>
            <a:ext cx="11495084" cy="4776537"/>
          </a:xfrm>
          <a:prstGeom prst="rect">
            <a:avLst/>
          </a:prstGeom>
          <a:noFill/>
        </p:spPr>
        <p:txBody>
          <a:bodyPr wrap="square" lIns="0" tIns="0" rIns="0" bIns="0" rtlCol="0">
            <a:noAutofit/>
          </a:bodyPr>
          <a:lstStyle/>
          <a:p>
            <a:pPr algn="ctr"/>
            <a:r>
              <a:rPr lang="en-AU" sz="4400" b="1"/>
              <a:t>Draw this shape </a:t>
            </a:r>
            <a:r>
              <a:rPr lang="en-AU" sz="4400"/>
              <a:t>if it was </a:t>
            </a:r>
            <a:r>
              <a:rPr lang="en-AU" sz="4400" b="1"/>
              <a:t>turned anti-clockwise</a:t>
            </a:r>
            <a:r>
              <a:rPr lang="en-AU" sz="4400"/>
              <a:t> a </a:t>
            </a:r>
            <a:r>
              <a:rPr lang="en-AU" sz="4400" b="1"/>
              <a:t>quarter</a:t>
            </a:r>
            <a:r>
              <a:rPr lang="en-AU" sz="4400"/>
              <a:t> of a </a:t>
            </a:r>
            <a:r>
              <a:rPr lang="en-AU" sz="4400" b="1"/>
              <a:t>turn.</a:t>
            </a:r>
          </a:p>
        </p:txBody>
      </p:sp>
      <p:pic>
        <p:nvPicPr>
          <p:cNvPr id="8" name="Picture 7" descr="A purple L-shaped figure with a black dot in the bottom-left corner.">
            <a:extLst>
              <a:ext uri="{FF2B5EF4-FFF2-40B4-BE49-F238E27FC236}">
                <a16:creationId xmlns:a16="http://schemas.microsoft.com/office/drawing/2014/main" id="{94C698BD-B687-FFFD-C14A-F81998027F41}"/>
              </a:ext>
            </a:extLst>
          </p:cNvPr>
          <p:cNvPicPr>
            <a:picLocks noChangeAspect="1"/>
          </p:cNvPicPr>
          <p:nvPr/>
        </p:nvPicPr>
        <p:blipFill>
          <a:blip r:embed="rId4"/>
          <a:stretch>
            <a:fillRect/>
          </a:stretch>
        </p:blipFill>
        <p:spPr>
          <a:xfrm>
            <a:off x="3562220" y="2490944"/>
            <a:ext cx="5067560" cy="4007056"/>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8BE72-E328-C3EB-B159-D766F7FB155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C3B8E1-7A59-763C-27BC-6C73233F1AF3}"/>
              </a:ext>
            </a:extLst>
          </p:cNvPr>
          <p:cNvSpPr>
            <a:spLocks noGrp="1"/>
          </p:cNvSpPr>
          <p:nvPr>
            <p:ph type="title"/>
          </p:nvPr>
        </p:nvSpPr>
        <p:spPr/>
        <p:txBody>
          <a:bodyPr/>
          <a:lstStyle/>
          <a:p>
            <a:r>
              <a:rPr lang="en-AU">
                <a:latin typeface="Arial"/>
                <a:cs typeface="Arial"/>
              </a:rPr>
              <a:t>Activity 8 – bar model addition</a:t>
            </a:r>
          </a:p>
        </p:txBody>
      </p:sp>
      <p:pic>
        <p:nvPicPr>
          <p:cNvPr id="4" name="Picture 3" descr="image of a head with cogs turning inside">
            <a:extLst>
              <a:ext uri="{FF2B5EF4-FFF2-40B4-BE49-F238E27FC236}">
                <a16:creationId xmlns:a16="http://schemas.microsoft.com/office/drawing/2014/main" id="{95D0C7C7-362A-9120-2635-3B8D66F189F9}"/>
              </a:ext>
            </a:extLst>
          </p:cNvPr>
          <p:cNvPicPr>
            <a:picLocks noChangeAspect="1"/>
          </p:cNvPicPr>
          <p:nvPr/>
        </p:nvPicPr>
        <p:blipFill>
          <a:blip r:embed="rId3"/>
          <a:stretch>
            <a:fillRect/>
          </a:stretch>
        </p:blipFill>
        <p:spPr>
          <a:xfrm>
            <a:off x="11107003" y="240894"/>
            <a:ext cx="720000" cy="856364"/>
          </a:xfrm>
          <a:prstGeom prst="rect">
            <a:avLst/>
          </a:prstGeom>
        </p:spPr>
      </p:pic>
      <p:sp>
        <p:nvSpPr>
          <p:cNvPr id="9" name="Text Placeholder 4">
            <a:extLst>
              <a:ext uri="{FF2B5EF4-FFF2-40B4-BE49-F238E27FC236}">
                <a16:creationId xmlns:a16="http://schemas.microsoft.com/office/drawing/2014/main" id="{B92B7518-DE55-DB19-1B86-E5B8438A4D2C}"/>
              </a:ext>
            </a:extLst>
          </p:cNvPr>
          <p:cNvSpPr txBox="1">
            <a:spLocks/>
          </p:cNvSpPr>
          <p:nvPr/>
        </p:nvSpPr>
        <p:spPr>
          <a:xfrm>
            <a:off x="360000" y="1338122"/>
            <a:ext cx="11353501" cy="1353037"/>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AU" sz="2800" b="0" i="0" u="none" strike="noStrike" kern="1200" cap="none" spc="0" normalizeH="0" baseline="0" noProof="0">
                <a:ln>
                  <a:noFill/>
                </a:ln>
                <a:solidFill>
                  <a:srgbClr val="002664"/>
                </a:solidFill>
                <a:effectLst/>
                <a:uLnTx/>
                <a:uFillTx/>
                <a:latin typeface="Edu NSW ACT Foundation" pitchFamily="2" charset="0"/>
              </a:rPr>
              <a:t>Can you use mental strategies to calculate the sum of your 2 numbers </a:t>
            </a:r>
            <a:r>
              <a:rPr lang="en-AU" sz="2800">
                <a:solidFill>
                  <a:srgbClr val="002664"/>
                </a:solidFill>
                <a:latin typeface="Edu NSW ACT Foundation" pitchFamily="2" charset="0"/>
              </a:rPr>
              <a:t>and </a:t>
            </a:r>
            <a:r>
              <a:rPr kumimoji="0" lang="en-AU" sz="2800" b="0" i="0" u="none" strike="noStrike" kern="1200" cap="none" spc="0" normalizeH="0" baseline="0" noProof="0">
                <a:ln>
                  <a:noFill/>
                </a:ln>
                <a:solidFill>
                  <a:srgbClr val="002664"/>
                </a:solidFill>
                <a:effectLst/>
                <a:uLnTx/>
                <a:uFillTx/>
                <a:latin typeface="Edu NSW ACT Foundation" pitchFamily="2" charset="0"/>
              </a:rPr>
              <a:t>represent the solution using a bar model or number line?</a:t>
            </a:r>
            <a:endParaRPr kumimoji="0" lang="en-AU" sz="1800" b="0" i="0" u="none" strike="noStrike" kern="1200" cap="none" spc="0" normalizeH="0" baseline="0" noProof="0">
              <a:ln>
                <a:noFill/>
              </a:ln>
              <a:solidFill>
                <a:srgbClr val="002664"/>
              </a:solidFill>
              <a:effectLst/>
              <a:uLnTx/>
              <a:uFillTx/>
              <a:latin typeface="Edu NSW ACT Foundation" pitchFamily="2" charset="0"/>
            </a:endParaRPr>
          </a:p>
        </p:txBody>
      </p:sp>
      <p:pic>
        <p:nvPicPr>
          <p:cNvPr id="25" name="Picture 24" descr="A number line showing the addition 426 + 264. The jumps show adding 4 to reach 430, then 200 to reach 630, and 60 more to reach 690.">
            <a:extLst>
              <a:ext uri="{FF2B5EF4-FFF2-40B4-BE49-F238E27FC236}">
                <a16:creationId xmlns:a16="http://schemas.microsoft.com/office/drawing/2014/main" id="{BE2F305E-AA2D-573A-AFD0-AC97D3A547DB}"/>
              </a:ext>
            </a:extLst>
          </p:cNvPr>
          <p:cNvPicPr>
            <a:picLocks noChangeAspect="1"/>
          </p:cNvPicPr>
          <p:nvPr/>
        </p:nvPicPr>
        <p:blipFill>
          <a:blip r:embed="rId4">
            <a:extLst>
              <a:ext uri="{28A0092B-C50C-407E-A947-70E740481C1C}">
                <a14:useLocalDpi xmlns:a14="http://schemas.microsoft.com/office/drawing/2010/main" val="0"/>
              </a:ext>
            </a:extLst>
          </a:blip>
          <a:srcRect t="4289" b="29869"/>
          <a:stretch>
            <a:fillRect/>
          </a:stretch>
        </p:blipFill>
        <p:spPr>
          <a:xfrm>
            <a:off x="268992" y="3291638"/>
            <a:ext cx="5623110" cy="2617557"/>
          </a:xfrm>
          <a:prstGeom prst="rect">
            <a:avLst/>
          </a:prstGeom>
          <a:ln>
            <a:noFill/>
          </a:ln>
          <a:effectLst>
            <a:outerShdw blurRad="292100" dist="139700" dir="2700000" algn="tl" rotWithShape="0">
              <a:srgbClr val="333333">
                <a:alpha val="65000"/>
              </a:srgbClr>
            </a:outerShdw>
          </a:effectLst>
        </p:spPr>
      </p:pic>
      <p:pic>
        <p:nvPicPr>
          <p:cNvPr id="8" name="Picture 7" descr="A bar model divided into two rows.&#10;&#10;The top bar, coloured light green, shows the total labelled 690.&#10;&#10;The bottom bar is split into two white parts labelled 426 and 264.">
            <a:extLst>
              <a:ext uri="{FF2B5EF4-FFF2-40B4-BE49-F238E27FC236}">
                <a16:creationId xmlns:a16="http://schemas.microsoft.com/office/drawing/2014/main" id="{2B199156-BD4F-591F-7F7C-DEEE94F10DF9}"/>
              </a:ext>
            </a:extLst>
          </p:cNvPr>
          <p:cNvPicPr>
            <a:picLocks noChangeAspect="1"/>
          </p:cNvPicPr>
          <p:nvPr/>
        </p:nvPicPr>
        <p:blipFill>
          <a:blip r:embed="rId5"/>
          <a:stretch>
            <a:fillRect/>
          </a:stretch>
        </p:blipFill>
        <p:spPr>
          <a:xfrm>
            <a:off x="6299899" y="4476718"/>
            <a:ext cx="5512083" cy="1263715"/>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811F373B-4B78-82A6-2555-20A62125E8EB}"/>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60</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Tree>
    <p:extLst>
      <p:ext uri="{BB962C8B-B14F-4D97-AF65-F5344CB8AC3E}">
        <p14:creationId xmlns:p14="http://schemas.microsoft.com/office/powerpoint/2010/main" val="541055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67</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22 July 2025) and was not modified.</a:t>
            </a:r>
          </a:p>
          <a:p>
            <a:r>
              <a:rPr lang="en-AU"/>
              <a:t>State of New South Wales (Department of Education) (2024) ‘</a:t>
            </a:r>
            <a:r>
              <a:rPr lang="en-AU" u="sng">
                <a:hlinkClick r:id="rId9"/>
              </a:rPr>
              <a:t>Place value game</a:t>
            </a:r>
            <a:r>
              <a:rPr lang="en-AU"/>
              <a:t>’, </a:t>
            </a:r>
            <a:r>
              <a:rPr lang="en-AU" i="1"/>
              <a:t>Thinking mathematically resources</a:t>
            </a:r>
            <a:r>
              <a:rPr lang="en-AU"/>
              <a:t>, NSW Department of Education website, accessed 9 September 2025.</a:t>
            </a:r>
          </a:p>
          <a:p>
            <a:endParaRPr lang="en-AU">
              <a:cs typeface="Arial"/>
            </a:endParaRPr>
          </a:p>
          <a:p>
            <a:endParaRPr lang="en-AU"/>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40EDD703-71B5-4294-919E-34563A64235E}" vid="{64077C9F-2B72-4F25-81A2-2C123044CA02}"/>
    </a:ext>
  </a:extLst>
</a:theme>
</file>

<file path=ppt/theme/theme2.xml><?xml version="1.0" encoding="utf-8"?>
<a:theme xmlns:a="http://schemas.openxmlformats.org/drawingml/2006/main" name="1_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NSW Gov PPT">
      <a:majorFont>
        <a:latin typeface="Public Sans"/>
        <a:ea typeface=""/>
        <a:cs typeface=""/>
      </a:majorFont>
      <a:minorFont>
        <a:latin typeface="Public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Mathematics PowerPoint template" id="{199D4273-0580-424B-B855-9A8BB1348783}" vid="{B38BF3CA-A6F3-4BBC-8CF4-5E0B855A4707}"/>
    </a:ext>
  </a:extLst>
</a:theme>
</file>

<file path=ppt/theme/theme3.xml><?xml version="1.0" encoding="utf-8"?>
<a:theme xmlns:a="http://schemas.openxmlformats.org/drawingml/2006/main" name="2_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c91fdd3e284047c3db16c369a1d39c66">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412f8ac8e43c8402a44260f543b0aa7c"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555570-2BD4-426B-AA32-0A79CB6508A8}">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433C645-2CDD-45F7-AD27-84671611CD53}"/>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Review of learning template (2)</Template>
  <TotalTime>0</TotalTime>
  <Words>5933</Words>
  <Application>Microsoft Office PowerPoint</Application>
  <PresentationFormat>Widescreen</PresentationFormat>
  <Paragraphs>844</Paragraphs>
  <Slides>69</Slides>
  <Notes>69</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69</vt:i4>
      </vt:variant>
    </vt:vector>
  </HeadingPairs>
  <TitlesOfParts>
    <vt:vector size="80" baseType="lpstr">
      <vt:lpstr>Wingdings</vt:lpstr>
      <vt:lpstr>Arial</vt:lpstr>
      <vt:lpstr>Times New Roman</vt:lpstr>
      <vt:lpstr>Public Sans</vt:lpstr>
      <vt:lpstr>Public Sans Light</vt:lpstr>
      <vt:lpstr>Montserrat</vt:lpstr>
      <vt:lpstr>Edu NSW ACT Foundation</vt:lpstr>
      <vt:lpstr>Calibri</vt:lpstr>
      <vt:lpstr>NSWG Corporate</vt:lpstr>
      <vt:lpstr>1_NSWG Corporate</vt:lpstr>
      <vt:lpstr>2_NSWG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4-digit place value </vt:lpstr>
      <vt:lpstr>Review of learning 2</vt:lpstr>
      <vt:lpstr>True or false (1)</vt:lpstr>
      <vt:lpstr>Short response (5)</vt:lpstr>
      <vt:lpstr>Short response (6)</vt:lpstr>
      <vt:lpstr>Short response (7)</vt:lpstr>
      <vt:lpstr>Short response (8)</vt:lpstr>
      <vt:lpstr>Activity 2 – ordering 4-digit numbers 1 </vt:lpstr>
      <vt:lpstr>Review of learning 3</vt:lpstr>
      <vt:lpstr>Multiple choice (2)</vt:lpstr>
      <vt:lpstr>Short response (9)</vt:lpstr>
      <vt:lpstr>Short response (10)</vt:lpstr>
      <vt:lpstr>Short response (11)</vt:lpstr>
      <vt:lpstr>Short response (12)</vt:lpstr>
      <vt:lpstr>Activity 3 – number before and after</vt:lpstr>
      <vt:lpstr>Review of learning 4</vt:lpstr>
      <vt:lpstr>True or false (2)</vt:lpstr>
      <vt:lpstr>Short response (13)</vt:lpstr>
      <vt:lpstr>Short response (14)</vt:lpstr>
      <vt:lpstr>Short response (15)</vt:lpstr>
      <vt:lpstr>Short response (16)</vt:lpstr>
      <vt:lpstr>Activity 4 – ordering 4-digit numbers 2</vt:lpstr>
      <vt:lpstr>Review of learning 5</vt:lpstr>
      <vt:lpstr>Multiple choice (3)</vt:lpstr>
      <vt:lpstr>Short response (17)</vt:lpstr>
      <vt:lpstr>Short response (18)</vt:lpstr>
      <vt:lpstr>Short response (19)</vt:lpstr>
      <vt:lpstr>Short response (20)</vt:lpstr>
      <vt:lpstr>Activity 5 – number line addition and subtraction (1)</vt:lpstr>
      <vt:lpstr>Activity 5 – number line addition and subtraction (2)</vt:lpstr>
      <vt:lpstr>Review of learning 6</vt:lpstr>
      <vt:lpstr>True or false (3)</vt:lpstr>
      <vt:lpstr>Short response (21)</vt:lpstr>
      <vt:lpstr>Short response (22)</vt:lpstr>
      <vt:lpstr>Short response (23)</vt:lpstr>
      <vt:lpstr>Short response (24)</vt:lpstr>
      <vt:lpstr>Activity 6 – compensation strategy</vt:lpstr>
      <vt:lpstr>Review of learning 7</vt:lpstr>
      <vt:lpstr>Multiple choice (4)</vt:lpstr>
      <vt:lpstr>Short response (25)</vt:lpstr>
      <vt:lpstr>Short response (26)</vt:lpstr>
      <vt:lpstr>Short response (27)</vt:lpstr>
      <vt:lpstr>Short response (28)</vt:lpstr>
      <vt:lpstr>Activity 7 – using the bar model</vt:lpstr>
      <vt:lpstr>Review of learning 8</vt:lpstr>
      <vt:lpstr>True or false (4)</vt:lpstr>
      <vt:lpstr>Short response (29)</vt:lpstr>
      <vt:lpstr>Short response (30)</vt:lpstr>
      <vt:lpstr>Short response (31)</vt:lpstr>
      <vt:lpstr>Short response (32)</vt:lpstr>
      <vt:lpstr>Activity 8 – bar model addition</vt:lpstr>
      <vt:lpstr>Double Venn diagram</vt:lpstr>
      <vt:lpstr>Frayer</vt:lpstr>
      <vt:lpstr>Spider map</vt:lpstr>
      <vt:lpstr>Cline</vt:lpstr>
      <vt:lpstr>Compare and contrast</vt:lpstr>
      <vt:lpstr>Multiple choice (5)</vt:lpstr>
      <vt:lpstr>Multiple choice (6)</vt:lpstr>
      <vt:lpstr>References</vt:lpstr>
      <vt:lpstr>Copyright</vt:lpstr>
    </vt:vector>
  </TitlesOfParts>
  <Manager/>
  <Company>NSW Department of Education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Christie Williams</dc:creator>
  <cp:keywords/>
  <dc:description/>
  <cp:lastModifiedBy>Daniel Archer</cp:lastModifiedBy>
  <cp:revision>2</cp:revision>
  <dcterms:created xsi:type="dcterms:W3CDTF">2025-08-14T04:57:59Z</dcterms:created>
  <dcterms:modified xsi:type="dcterms:W3CDTF">2025-11-26T22:01:32Z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