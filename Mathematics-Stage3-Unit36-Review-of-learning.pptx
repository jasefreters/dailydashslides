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22" r:id="rId14"/>
    <p:sldId id="26512" r:id="rId15"/>
    <p:sldId id="26509" r:id="rId16"/>
    <p:sldId id="26523" r:id="rId17"/>
    <p:sldId id="26529" r:id="rId18"/>
    <p:sldId id="26530" r:id="rId19"/>
    <p:sldId id="26531" r:id="rId20"/>
    <p:sldId id="26532" r:id="rId21"/>
    <p:sldId id="26513" r:id="rId22"/>
    <p:sldId id="26534" r:id="rId23"/>
    <p:sldId id="26535" r:id="rId24"/>
    <p:sldId id="26528" r:id="rId25"/>
    <p:sldId id="26537" r:id="rId26"/>
    <p:sldId id="26536" r:id="rId27"/>
    <p:sldId id="26533" r:id="rId28"/>
    <p:sldId id="26514" r:id="rId29"/>
    <p:sldId id="26539" r:id="rId30"/>
    <p:sldId id="26540" r:id="rId31"/>
    <p:sldId id="26541" r:id="rId32"/>
    <p:sldId id="26542" r:id="rId33"/>
    <p:sldId id="26543" r:id="rId34"/>
    <p:sldId id="26538" r:id="rId35"/>
    <p:sldId id="26515" r:id="rId36"/>
    <p:sldId id="26507" r:id="rId37"/>
    <p:sldId id="26546" r:id="rId38"/>
    <p:sldId id="26547" r:id="rId39"/>
    <p:sldId id="26548" r:id="rId40"/>
    <p:sldId id="26549" r:id="rId41"/>
    <p:sldId id="26420" r:id="rId42"/>
    <p:sldId id="26516" r:id="rId43"/>
    <p:sldId id="26550" r:id="rId44"/>
    <p:sldId id="26553" r:id="rId45"/>
    <p:sldId id="26554" r:id="rId46"/>
    <p:sldId id="26555" r:id="rId47"/>
    <p:sldId id="26556" r:id="rId48"/>
    <p:sldId id="26545" r:id="rId49"/>
    <p:sldId id="26517" r:id="rId50"/>
    <p:sldId id="26559" r:id="rId51"/>
    <p:sldId id="26572" r:id="rId52"/>
    <p:sldId id="26561" r:id="rId53"/>
    <p:sldId id="26562" r:id="rId54"/>
    <p:sldId id="26563" r:id="rId55"/>
    <p:sldId id="26425" r:id="rId56"/>
    <p:sldId id="26518" r:id="rId57"/>
    <p:sldId id="26564" r:id="rId58"/>
    <p:sldId id="26571" r:id="rId59"/>
    <p:sldId id="26565" r:id="rId60"/>
    <p:sldId id="26567" r:id="rId61"/>
    <p:sldId id="26566" r:id="rId62"/>
    <p:sldId id="26430" r:id="rId63"/>
    <p:sldId id="26393" r:id="rId64"/>
    <p:sldId id="26387" r:id="rId65"/>
    <p:sldId id="26395" r:id="rId66"/>
    <p:sldId id="26391" r:id="rId67"/>
    <p:sldId id="26402" r:id="rId68"/>
    <p:sldId id="26527" r:id="rId69"/>
    <p:sldId id="26573" r:id="rId70"/>
    <p:sldId id="26569" r:id="rId71"/>
    <p:sldId id="2657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22"/>
            <p14:sldId id="26512"/>
            <p14:sldId id="26509"/>
            <p14:sldId id="26523"/>
            <p14:sldId id="26529"/>
            <p14:sldId id="26530"/>
            <p14:sldId id="26531"/>
            <p14:sldId id="26532"/>
            <p14:sldId id="26513"/>
            <p14:sldId id="26534"/>
            <p14:sldId id="26535"/>
            <p14:sldId id="26528"/>
            <p14:sldId id="26537"/>
            <p14:sldId id="26536"/>
            <p14:sldId id="26533"/>
            <p14:sldId id="26514"/>
            <p14:sldId id="26539"/>
            <p14:sldId id="26540"/>
            <p14:sldId id="26541"/>
            <p14:sldId id="26542"/>
            <p14:sldId id="26543"/>
            <p14:sldId id="26538"/>
            <p14:sldId id="26515"/>
            <p14:sldId id="26507"/>
            <p14:sldId id="26546"/>
            <p14:sldId id="26547"/>
            <p14:sldId id="26548"/>
            <p14:sldId id="26549"/>
            <p14:sldId id="26420"/>
            <p14:sldId id="26516"/>
            <p14:sldId id="26550"/>
            <p14:sldId id="26553"/>
            <p14:sldId id="26554"/>
            <p14:sldId id="26555"/>
            <p14:sldId id="26556"/>
            <p14:sldId id="26545"/>
            <p14:sldId id="26517"/>
            <p14:sldId id="26559"/>
            <p14:sldId id="26572"/>
            <p14:sldId id="26561"/>
            <p14:sldId id="26562"/>
            <p14:sldId id="26563"/>
            <p14:sldId id="26425"/>
            <p14:sldId id="26518"/>
            <p14:sldId id="26564"/>
            <p14:sldId id="26571"/>
            <p14:sldId id="26565"/>
            <p14:sldId id="26567"/>
            <p14:sldId id="26566"/>
            <p14:sldId id="26430"/>
          </p14:sldIdLst>
        </p14:section>
        <p14:section name="Assets for teachers to create own reviews" id="{EF1588ED-CB11-47F4-AE38-33F7B326C85F}">
          <p14:sldIdLst>
            <p14:sldId id="26393"/>
            <p14:sldId id="26387"/>
            <p14:sldId id="26395"/>
            <p14:sldId id="26391"/>
            <p14:sldId id="26402"/>
            <p14:sldId id="26527"/>
            <p14:sldId id="26573"/>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146CFD"/>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8EC1C4-BAA6-3C0A-BBF7-B3AEA9282B6F}" v="9" dt="2025-08-02T03:51:21.461"/>
    <p1510:client id="{6EE6F20F-C6B1-3FD1-DEB6-2C7B80DE1328}" v="275" dt="2025-08-03T01:51:52.518"/>
    <p1510:client id="{74BD8205-F449-38C4-CA9B-D94DE572E779}" v="10" dt="2025-08-03T01:49:24.158"/>
    <p1510:client id="{8074A03A-1C0A-4A79-AE4F-8AA25FE4A384}" v="55" dt="2025-08-03T02:08:42.524"/>
    <p1510:client id="{B0F50072-D3E0-96FC-61EC-84489B068E02}" v="3" dt="2025-08-02T23:58:05.685"/>
    <p1510:client id="{D9A6DCA9-E03E-418D-9885-9DF208966187}" v="16" dt="2025-08-03T01:46:05.73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4771" autoAdjust="0"/>
  </p:normalViewPr>
  <p:slideViewPr>
    <p:cSldViewPr snapToGrid="0">
      <p:cViewPr varScale="1">
        <p:scale>
          <a:sx n="53" d="100"/>
          <a:sy n="53" d="100"/>
        </p:scale>
        <p:origin x="1720" y="44"/>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7/08/2025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7/08/2025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bookmark://_Resource_23_%E2%80%93/"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36</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35</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34</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B</a:t>
            </a: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Additive relations B</a:t>
            </a: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a:latin typeface="Public Sans"/>
              </a:rPr>
              <a:t>Non spatial measure B: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Non spatial measure B: Time</a:t>
            </a: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latin typeface="Arial"/>
                <a:cs typeface="Arial"/>
              </a:rPr>
              <a:t>Syllabus focus area:</a:t>
            </a:r>
          </a:p>
          <a:p>
            <a:r>
              <a:rPr lang="en-AU" b="0" dirty="0">
                <a:solidFill>
                  <a:srgbClr val="444444"/>
                </a:solidFill>
                <a:latin typeface="Arial"/>
                <a:cs typeface="Arial"/>
              </a:rPr>
              <a:t>Representing quantity fractions B</a:t>
            </a:r>
          </a:p>
          <a:p>
            <a:endParaRPr lang="en-US" dirty="0">
              <a:solidFill>
                <a:srgbClr val="444444"/>
              </a:solidFill>
              <a:latin typeface="Arial"/>
              <a:cs typeface="Arial"/>
            </a:endParaRPr>
          </a:p>
          <a:p>
            <a:pPr marL="0" indent="0" rtl="0" fontAlgn="base">
              <a:buFont typeface="Arial" panose="020B0604020202020204" pitchFamily="34" charset="0"/>
              <a:buNone/>
            </a:pPr>
            <a:r>
              <a:rPr lang="en-US" b="1" dirty="0">
                <a:latin typeface="Arial"/>
                <a:ea typeface="Arial" panose="020B0604020202020204" pitchFamily="34" charset="0"/>
                <a:cs typeface="Arial"/>
              </a:rPr>
              <a:t>Fraction word problems 1</a:t>
            </a:r>
            <a:br>
              <a:rPr lang="en-US" b="1" dirty="0">
                <a:latin typeface="Arial"/>
                <a:ea typeface="Arial" panose="020B0604020202020204" pitchFamily="34" charset="0"/>
                <a:cs typeface="Arial"/>
              </a:rPr>
            </a:br>
            <a:br>
              <a:rPr lang="en-US" b="1" dirty="0">
                <a:latin typeface="Arial"/>
                <a:ea typeface="Arial" panose="020B0604020202020204" pitchFamily="34" charset="0"/>
                <a:cs typeface="Arial"/>
              </a:rPr>
            </a:br>
            <a:r>
              <a:rPr lang="en-AU" sz="1600" b="0" i="0" kern="1200" dirty="0">
                <a:solidFill>
                  <a:schemeClr val="tx1"/>
                </a:solidFill>
                <a:effectLst/>
                <a:latin typeface="Arial" panose="020B0604020202020204" pitchFamily="34" charset="0"/>
                <a:ea typeface="+mn-ea"/>
                <a:cs typeface="Arial" panose="020B0604020202020204" pitchFamily="34" charset="0"/>
              </a:rPr>
              <a:t>Lena and Marcus are baking cookies and need to add 1 cup of sugar to their cookie mixture. Lena first pours </a:t>
            </a:r>
            <a:r>
              <a:rPr lang="en-AU" sz="1600" b="1" i="0" kern="1200" dirty="0">
                <a:solidFill>
                  <a:schemeClr val="tx1"/>
                </a:solidFill>
                <a:effectLst/>
                <a:latin typeface="Arial" panose="020B0604020202020204" pitchFamily="34" charset="0"/>
                <a:ea typeface="+mn-ea"/>
                <a:cs typeface="Arial" panose="020B0604020202020204" pitchFamily="34" charset="0"/>
              </a:rPr>
              <a:t>3/8 cup</a:t>
            </a:r>
            <a:r>
              <a:rPr lang="en-AU" sz="1600" b="0" i="0" kern="1200" dirty="0">
                <a:solidFill>
                  <a:schemeClr val="tx1"/>
                </a:solidFill>
                <a:effectLst/>
                <a:latin typeface="Arial" panose="020B0604020202020204" pitchFamily="34" charset="0"/>
                <a:ea typeface="+mn-ea"/>
                <a:cs typeface="Arial" panose="020B0604020202020204" pitchFamily="34" charset="0"/>
              </a:rPr>
              <a:t> of sugar into the mixture. Marcus adds another </a:t>
            </a:r>
            <a:r>
              <a:rPr lang="en-AU" sz="1600" b="1" i="0" kern="1200" dirty="0">
                <a:solidFill>
                  <a:schemeClr val="tx1"/>
                </a:solidFill>
                <a:effectLst/>
                <a:latin typeface="Arial" panose="020B0604020202020204" pitchFamily="34" charset="0"/>
                <a:ea typeface="+mn-ea"/>
                <a:cs typeface="Arial" panose="020B0604020202020204" pitchFamily="34" charset="0"/>
              </a:rPr>
              <a:t>1/4 cup</a:t>
            </a:r>
            <a:r>
              <a:rPr lang="en-AU" sz="1600" b="0" i="0" kern="1200" dirty="0">
                <a:solidFill>
                  <a:schemeClr val="tx1"/>
                </a:solidFill>
                <a:effectLst/>
                <a:latin typeface="Arial" panose="020B0604020202020204" pitchFamily="34" charset="0"/>
                <a:ea typeface="+mn-ea"/>
                <a:cs typeface="Arial" panose="020B0604020202020204" pitchFamily="34" charset="0"/>
              </a:rPr>
              <a:t> of sugar.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How much sugar have Lena and Marcus added so far?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If Lena and Marcus need to add 1 cup of sugar in total, what fraction of sugar still needs to be added?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Prompt students to draw bar models on individual whiteboards to solve the problem</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Additive relations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 spatial measure B: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B</a:t>
            </a:r>
          </a:p>
          <a:p>
            <a:pPr>
              <a:defRPr/>
            </a:pPr>
            <a:endParaRPr lang="en-AU" sz="1800">
              <a:latin typeface="Arial"/>
              <a:ea typeface="Calibri"/>
              <a:cs typeface="Arial"/>
            </a:endParaRPr>
          </a:p>
          <a:p>
            <a:pPr rtl="0" fontAlgn="base"/>
            <a:r>
              <a:rPr lang="en-AU" sz="1800" b="1">
                <a:latin typeface="Arial"/>
                <a:ea typeface="Calibri"/>
                <a:cs typeface="Arial"/>
              </a:rPr>
              <a:t>Fraction word problems 2</a:t>
            </a:r>
            <a:br>
              <a:rPr lang="en-AU" sz="1800">
                <a:latin typeface="Arial"/>
                <a:ea typeface="Calibri"/>
                <a:cs typeface="Arial"/>
              </a:rPr>
            </a:br>
            <a:br>
              <a:rPr lang="en-AU" sz="1800">
                <a:latin typeface="Arial"/>
                <a:ea typeface="Calibri"/>
                <a:cs typeface="Arial"/>
              </a:rPr>
            </a:br>
            <a:r>
              <a:rPr lang="en-AU" sz="1600" b="0" i="0" kern="1200">
                <a:solidFill>
                  <a:schemeClr val="tx1"/>
                </a:solidFill>
                <a:effectLst/>
                <a:latin typeface="Arial" panose="020B0604020202020204" pitchFamily="34" charset="0"/>
                <a:ea typeface="+mn-ea"/>
                <a:cs typeface="Arial" panose="020B0604020202020204" pitchFamily="34" charset="0"/>
              </a:rPr>
              <a:t>Gabbie and Robbie were painting a wall. In the morning, Gabby painted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1/3 </a:t>
            </a:r>
            <a:r>
              <a:rPr lang="en-AU" sz="1600" b="0" i="0" kern="1200">
                <a:solidFill>
                  <a:schemeClr val="tx1"/>
                </a:solidFill>
                <a:effectLst/>
                <a:latin typeface="Arial" panose="020B0604020202020204" pitchFamily="34" charset="0"/>
                <a:ea typeface="+mn-ea"/>
                <a:cs typeface="Arial" panose="020B0604020202020204" pitchFamily="34" charset="0"/>
              </a:rPr>
              <a:t>of the wall. In the afternoon, Robbie painted another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3/6 </a:t>
            </a:r>
            <a:r>
              <a:rPr lang="en-AU" sz="1600" b="0" i="0" kern="1200">
                <a:solidFill>
                  <a:schemeClr val="tx1"/>
                </a:solidFill>
                <a:effectLst/>
                <a:latin typeface="Arial" panose="020B0604020202020204" pitchFamily="34" charset="0"/>
                <a:ea typeface="+mn-ea"/>
                <a:cs typeface="Arial" panose="020B0604020202020204" pitchFamily="34" charset="0"/>
              </a:rPr>
              <a:t>of it.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What fraction of the wall did Gabbie and Robbie paint in total?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What fraction of the wall is still left to be painted? How do you know?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Prompt students use bar models on individual whiteboards to solve the problem</a:t>
            </a:r>
          </a:p>
          <a:p>
            <a:pPr>
              <a:defRPr/>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a:cs typeface="Arial"/>
              </a:rPr>
              <a:t>Represents number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a:cs typeface="Arial"/>
              </a:rPr>
              <a:t>Additive relations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a:latin typeface="Public Sans"/>
              </a:rPr>
              <a:t>Non spatial measure B: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Three-dimensional spatial structure B: Volume </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4833-1F85-A8D5-9DE7-AC27C1569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9529B-4C8D-A457-504B-4C8892750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F85EF-0FE7-E950-CE62-B1B65D09EDFC}"/>
              </a:ext>
            </a:extLst>
          </p:cNvPr>
          <p:cNvSpPr>
            <a:spLocks noGrp="1"/>
          </p:cNvSpPr>
          <p:nvPr>
            <p:ph type="body" idx="1"/>
          </p:nvPr>
        </p:nvSpPr>
        <p:spPr/>
        <p:txBody>
          <a:bodyPr/>
          <a:lstStyle/>
          <a:p>
            <a:pPr>
              <a:lnSpc>
                <a:spcPct val="150000"/>
              </a:lnSpc>
              <a:spcBef>
                <a:spcPts val="1200"/>
              </a:spcBef>
              <a:spcAft>
                <a:spcPts val="600"/>
              </a:spcAft>
              <a:defRPr/>
            </a:pPr>
            <a:r>
              <a:rPr lang="en-AU"/>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t>Syllabus focus area:</a:t>
            </a:r>
          </a:p>
          <a:p>
            <a:pPr>
              <a:defRPr/>
            </a:pPr>
            <a:r>
              <a:rPr lang="en-AU" b="0">
                <a:solidFill>
                  <a:srgbClr val="444444"/>
                </a:solidFill>
              </a:rPr>
              <a:t>Representing quantity fractions B</a:t>
            </a:r>
          </a:p>
          <a:p>
            <a:pPr>
              <a:defRPr/>
            </a:pPr>
            <a:endParaRPr lang="en-AU" b="0">
              <a:solidFill>
                <a:srgbClr val="444444"/>
              </a:solidFill>
            </a:endParaRPr>
          </a:p>
          <a:p>
            <a:pPr>
              <a:defRPr/>
            </a:pPr>
            <a:r>
              <a:rPr lang="en-AU" b="1">
                <a:solidFill>
                  <a:srgbClr val="444444"/>
                </a:solidFill>
              </a:rPr>
              <a:t>Comparing fractional quantities 1</a:t>
            </a:r>
            <a:endParaRPr lang="en-US" b="1">
              <a:solidFill>
                <a:srgbClr val="444444"/>
              </a:solidFill>
            </a:endParaRP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Display and provide students with </a:t>
            </a:r>
            <a:r>
              <a:rPr lang="en-AU" sz="1600" b="0" i="0" u="sng" strike="noStrike" kern="1200">
                <a:solidFill>
                  <a:schemeClr val="tx1"/>
                </a:solidFill>
                <a:effectLst/>
                <a:latin typeface="Arial" panose="020B0604020202020204" pitchFamily="34" charset="0"/>
                <a:ea typeface="+mn-ea"/>
                <a:cs typeface="Arial" panose="020B0604020202020204" pitchFamily="34" charset="0"/>
                <a:hlinkClick r:id="rId3"/>
              </a:rPr>
              <a:t>Resource 23 – comparing fractional quantities 1</a:t>
            </a:r>
            <a:r>
              <a:rPr lang="en-AU" sz="1600" b="0" i="0" kern="1200">
                <a:solidFill>
                  <a:schemeClr val="tx1"/>
                </a:solidFill>
                <a:effectLst/>
                <a:latin typeface="Arial" panose="020B0604020202020204" pitchFamily="34" charset="0"/>
                <a:ea typeface="+mn-ea"/>
                <a:cs typeface="Arial" panose="020B0604020202020204" pitchFamily="34" charset="0"/>
              </a:rPr>
              <a:t> (</a:t>
            </a:r>
            <a:r>
              <a:rPr lang="en-AU"/>
              <a:t>this resource corresponds to Resource 23 – comparing fractional quantities 1 in Stage 3, Year B Unit 36).</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Students use the fraction strip and number line representations to work out how much more four-fifths is than three-tenths.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Students turn and talk with a partner to work on their answer. Ask: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What strategy did you use to find the difference?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What did you notice about the denominators in this question? (They are related denominators.)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Are the related denominators helpful?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If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4/5 </a:t>
            </a:r>
            <a:r>
              <a:rPr lang="en-AU" sz="1600" b="0" i="0" kern="1200">
                <a:solidFill>
                  <a:schemeClr val="tx1"/>
                </a:solidFill>
                <a:effectLst/>
                <a:latin typeface="Arial" panose="020B0604020202020204" pitchFamily="34" charset="0"/>
                <a:ea typeface="+mn-ea"/>
                <a:cs typeface="Arial" panose="020B0604020202020204" pitchFamily="34" charset="0"/>
              </a:rPr>
              <a:t>is 5/10 more than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3/10</a:t>
            </a:r>
            <a:r>
              <a:rPr lang="en-AU" sz="1600" b="0" i="0" kern="1200">
                <a:solidFill>
                  <a:schemeClr val="tx1"/>
                </a:solidFill>
                <a:effectLst/>
                <a:latin typeface="Arial" panose="020B0604020202020204" pitchFamily="34" charset="0"/>
                <a:ea typeface="+mn-ea"/>
                <a:cs typeface="Arial" panose="020B0604020202020204" pitchFamily="34" charset="0"/>
              </a:rPr>
              <a:t>, how many more tenths are needed to make one whole?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5/10 + 3/10 + 2/10 = </a:t>
            </a:r>
            <a:r>
              <a:rPr lang="en-AU" sz="1600" b="0" i="0" kern="1200">
                <a:solidFill>
                  <a:schemeClr val="tx1"/>
                </a:solidFill>
                <a:effectLst/>
                <a:latin typeface="Arial" panose="020B0604020202020204" pitchFamily="34" charset="0"/>
                <a:ea typeface="+mn-ea"/>
                <a:cs typeface="Arial" panose="020B0604020202020204" pitchFamily="34" charset="0"/>
              </a:rPr>
              <a:t>one whole. </a:t>
            </a:r>
          </a:p>
          <a:p>
            <a:pPr marL="285750" indent="-285750" rtl="0" fontAlgn="base">
              <a:buFont typeface="Arial" panose="020B0604020202020204" pitchFamily="34" charset="0"/>
              <a:buChar char="•"/>
            </a:pPr>
            <a:r>
              <a:rPr lang="en-AU" sz="1600" b="0" i="0" kern="1200">
                <a:solidFill>
                  <a:schemeClr val="tx1"/>
                </a:solidFill>
                <a:effectLst/>
                <a:latin typeface="Arial" panose="020B0604020202020204" pitchFamily="34" charset="0"/>
                <a:ea typeface="+mn-ea"/>
                <a:cs typeface="Arial" panose="020B0604020202020204" pitchFamily="34" charset="0"/>
              </a:rPr>
              <a:t>How else could one whole be made adding fifths and tenths? For example, </a:t>
            </a:r>
            <a:r>
              <a:rPr lang="en-AU" sz="1600" b="0" i="0" u="none" strike="noStrike" kern="1200">
                <a:solidFill>
                  <a:schemeClr val="tx1"/>
                </a:solidFill>
                <a:effectLst/>
                <a:latin typeface="Arial" panose="020B0604020202020204" pitchFamily="34" charset="0"/>
                <a:ea typeface="+mn-ea"/>
                <a:cs typeface="Arial" panose="020B0604020202020204" pitchFamily="34" charset="0"/>
              </a:rPr>
              <a:t>4/5 + 2/10</a:t>
            </a:r>
            <a:r>
              <a:rPr lang="en-AU" sz="1600" b="0" i="0" kern="1200">
                <a:solidFill>
                  <a:schemeClr val="tx1"/>
                </a:solidFill>
                <a:effectLst/>
                <a:latin typeface="Arial" panose="020B0604020202020204" pitchFamily="34" charset="0"/>
                <a:ea typeface="+mn-ea"/>
                <a:cs typeface="Arial" panose="020B0604020202020204" pitchFamily="34" charset="0"/>
              </a:rPr>
              <a:t>= one whole. </a:t>
            </a:r>
          </a:p>
          <a:p>
            <a:pPr>
              <a:defRPr/>
            </a:pPr>
            <a:endParaRPr lang="en-AU" sz="1800">
              <a:latin typeface="Arial"/>
              <a:ea typeface="Calibri"/>
              <a:cs typeface="Arial"/>
            </a:endParaRPr>
          </a:p>
        </p:txBody>
      </p:sp>
      <p:sp>
        <p:nvSpPr>
          <p:cNvPr id="4" name="Slide Number Placeholder 3">
            <a:extLst>
              <a:ext uri="{FF2B5EF4-FFF2-40B4-BE49-F238E27FC236}">
                <a16:creationId xmlns:a16="http://schemas.microsoft.com/office/drawing/2014/main" id="{0B370F8B-88BE-7ED7-009B-24265E51C36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109954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i="0">
                <a:solidFill>
                  <a:schemeClr val="tx1"/>
                </a:solidFill>
                <a:latin typeface="Arial" panose="020B0604020202020204" pitchFamily="34" charset="0"/>
                <a:cs typeface="Arial" panose="020B0604020202020204" pitchFamily="34" charset="0"/>
              </a:rPr>
              <a:t>Representing quantity fractions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a:cs typeface="Arial"/>
              </a:rPr>
              <a:t>Represents number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Additive relations B</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indent="0" algn="l">
              <a:buFont typeface="Wingdings" panose="05000000000000000000" pitchFamily="2" charset="2"/>
              <a:buNone/>
            </a:pPr>
            <a:r>
              <a:rPr lang="en-AU" dirty="0">
                <a:latin typeface="Public Sans"/>
              </a:rPr>
              <a:t>Non spatial measure B: Mass</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marL="0" indent="0" algn="l">
              <a:buFont typeface="Wingdings" panose="05000000000000000000" pitchFamily="2" charset="2"/>
              <a:buNone/>
            </a:pPr>
            <a:r>
              <a:rPr lang="en-AU" sz="1600" b="0" i="0" dirty="0">
                <a:solidFill>
                  <a:schemeClr val="tx1"/>
                </a:solidFill>
                <a:latin typeface="Arial" panose="020B0604020202020204" pitchFamily="34" charset="0"/>
                <a:cs typeface="Arial" panose="020B0604020202020204" pitchFamily="34" charset="0"/>
              </a:rPr>
              <a:t>Two-dimensional spatial structure B: 2DS Shape</a:t>
            </a: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dirty="0">
                <a:solidFill>
                  <a:srgbClr val="000000"/>
                </a:solidFill>
              </a:rPr>
              <a:t>This is a developing number sense activity. </a:t>
            </a:r>
            <a:endParaRPr lang="en-US" dirty="0">
              <a:solidFill>
                <a:srgbClr val="444444"/>
              </a:solidFil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endParaRPr>
          </a:p>
          <a:p>
            <a:pPr>
              <a:lnSpc>
                <a:spcPts val="1913"/>
              </a:lnSpc>
              <a:defRPr/>
            </a:pPr>
            <a:endParaRPr lang="en-AU" dirty="0">
              <a:solidFill>
                <a:srgbClr val="444444"/>
              </a:solidFill>
            </a:endParaRPr>
          </a:p>
          <a:p>
            <a:pPr>
              <a:defRPr/>
            </a:pPr>
            <a:r>
              <a:rPr lang="en-AU" b="1" dirty="0">
                <a:solidFill>
                  <a:srgbClr val="000000"/>
                </a:solidFill>
              </a:rPr>
              <a:t>Syllabus focus area:</a:t>
            </a:r>
          </a:p>
          <a:p>
            <a:pPr>
              <a:defRPr/>
            </a:pPr>
            <a:r>
              <a:rPr lang="en-AU" b="0" dirty="0">
                <a:solidFill>
                  <a:srgbClr val="000000"/>
                </a:solidFill>
              </a:rPr>
              <a:t>Representing quantity fractions B</a:t>
            </a:r>
            <a:endParaRPr lang="en-US" b="0" dirty="0">
              <a:solidFill>
                <a:srgbClr val="444444"/>
              </a:solidFill>
            </a:endParaRPr>
          </a:p>
          <a:p>
            <a:pPr>
              <a:tabLst>
                <a:tab pos="228600" algn="l"/>
                <a:tab pos="859155" algn="l"/>
                <a:tab pos="859155" algn="l"/>
              </a:tabLst>
            </a:pPr>
            <a:endParaRPr lang="en-AU" dirty="0">
              <a:latin typeface="Arial"/>
              <a:ea typeface="Calibri" panose="020F0502020204030204" pitchFamily="34" charset="0"/>
              <a:cs typeface="Arial"/>
            </a:endParaRPr>
          </a:p>
          <a:p>
            <a:pPr>
              <a:tabLst>
                <a:tab pos="228600" algn="l"/>
                <a:tab pos="859155" algn="l"/>
                <a:tab pos="859155" algn="l"/>
              </a:tabLst>
            </a:pPr>
            <a:r>
              <a:rPr lang="en-AU" b="1" dirty="0">
                <a:latin typeface="Arial"/>
                <a:ea typeface="Calibri"/>
                <a:cs typeface="Arial"/>
              </a:rPr>
              <a:t>Comparing fractional quantities 2</a:t>
            </a:r>
          </a:p>
          <a:p>
            <a:pPr>
              <a:tabLst>
                <a:tab pos="228600" algn="l"/>
                <a:tab pos="859155" algn="l"/>
                <a:tab pos="859155" algn="l"/>
              </a:tabLst>
            </a:pPr>
            <a:endParaRPr lang="en-AU" dirty="0">
              <a:latin typeface="Arial"/>
              <a:ea typeface="Calibri" panose="020F0502020204030204" pitchFamily="34" charset="0"/>
              <a:cs typeface="Arial"/>
            </a:endParaRP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Display </a:t>
            </a:r>
            <a:r>
              <a:rPr lang="en-AU" sz="1600" b="0" i="0" u="none" kern="1200" dirty="0">
                <a:solidFill>
                  <a:schemeClr val="tx1"/>
                </a:solidFill>
                <a:effectLst/>
                <a:latin typeface="Arial" panose="020B0604020202020204" pitchFamily="34" charset="0"/>
                <a:ea typeface="+mn-ea"/>
                <a:cs typeface="Arial" panose="020B0604020202020204" pitchFamily="34" charset="0"/>
              </a:rPr>
              <a:t>Resource 24- </a:t>
            </a:r>
            <a:r>
              <a:rPr lang="en-AU" dirty="0"/>
              <a:t>comparing fractional quantities 2 in Stage 3, Year B Unit 36.</a:t>
            </a:r>
            <a:endParaRPr lang="en-AU" sz="1600" b="0" i="0" kern="1200" dirty="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Students use the fraction strip and number line to find the difference between 6 eighths and one-quarter.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Students turn and talk with a partner to share their reasoning. Ask: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What strategy did you use to find the difference?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Was the strategy different to the one you used for the problem in Lesson 3? If yes, why?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Is there more than one answer to this problem using the related denominators of 4 and 8 </a:t>
            </a: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Can you explain why there can be 2 answers to this problem using the related denominators or 4 and 8? </a:t>
            </a: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 2/4</a:t>
            </a:r>
            <a:endParaRPr lang="en-AU" sz="1600" b="0" i="0" kern="1200" dirty="0">
              <a:solidFill>
                <a:schemeClr val="tx1"/>
              </a:solidFill>
              <a:effectLst/>
              <a:latin typeface="Arial" panose="020B0604020202020204" pitchFamily="34" charset="0"/>
              <a:ea typeface="+mn-ea"/>
              <a:cs typeface="Arial" panose="020B0604020202020204" pitchFamily="34" charset="0"/>
            </a:endParaRPr>
          </a:p>
          <a:p>
            <a:pPr marL="285750" indent="-285750" rtl="0" fontAlgn="base">
              <a:buFont typeface="Arial" panose="020B0604020202020204" pitchFamily="34" charset="0"/>
              <a:buChar char="•"/>
            </a:pPr>
            <a:r>
              <a:rPr lang="en-AU" sz="1600" b="0" i="0" kern="1200" dirty="0">
                <a:solidFill>
                  <a:schemeClr val="tx1"/>
                </a:solidFill>
                <a:effectLst/>
                <a:latin typeface="Arial" panose="020B0604020202020204" pitchFamily="34" charset="0"/>
                <a:ea typeface="+mn-ea"/>
                <a:cs typeface="Arial" panose="020B0604020202020204" pitchFamily="34" charset="0"/>
              </a:rPr>
              <a:t>and </a:t>
            </a:r>
            <a:r>
              <a:rPr lang="en-AU" sz="1600" b="0" i="0" u="none" strike="noStrike" kern="1200" dirty="0">
                <a:solidFill>
                  <a:schemeClr val="tx1"/>
                </a:solidFill>
                <a:effectLst/>
                <a:latin typeface="Arial" panose="020B0604020202020204" pitchFamily="34" charset="0"/>
                <a:ea typeface="+mn-ea"/>
                <a:cs typeface="Arial" panose="020B0604020202020204" pitchFamily="34" charset="0"/>
              </a:rPr>
              <a:t>4/8 </a:t>
            </a:r>
            <a:r>
              <a:rPr lang="en-AU" sz="1600" b="0" i="0" kern="1200" dirty="0">
                <a:solidFill>
                  <a:schemeClr val="tx1"/>
                </a:solidFill>
                <a:effectLst/>
                <a:latin typeface="Arial" panose="020B0604020202020204" pitchFamily="34" charset="0"/>
                <a:ea typeface="+mn-ea"/>
                <a:cs typeface="Arial" panose="020B0604020202020204" pitchFamily="34" charset="0"/>
              </a:rPr>
              <a:t>are equivalent fractions. </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60047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 quantity fractions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a:solidFill>
                  <a:schemeClr val="tx1"/>
                </a:solidFill>
                <a:latin typeface="Arial" panose="020B0604020202020204" pitchFamily="34" charset="0"/>
                <a:cs typeface="Arial" panose="020B0604020202020204" pitchFamily="34" charset="0"/>
              </a:rPr>
              <a:t>Geometric measure B: Length</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defTabSz="914400">
              <a:lnSpc>
                <a:spcPct val="150000"/>
              </a:lnSpc>
              <a:spcBef>
                <a:spcPts val="1200"/>
              </a:spcBef>
              <a:spcAft>
                <a:spcPts val="600"/>
              </a:spcAft>
            </a:pPr>
            <a:endParaRPr lang="en-AU" sz="1800" dirty="0">
              <a:solidFill>
                <a:srgbClr val="444444"/>
              </a:solidFill>
            </a:endParaRPr>
          </a:p>
          <a:p>
            <a:pPr defTabSz="914400">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defTabSz="914400">
              <a:lnSpc>
                <a:spcPts val="1913"/>
              </a:lnSpc>
            </a:pPr>
            <a:endParaRPr lang="en-AU" sz="1800" dirty="0">
              <a:solidFill>
                <a:srgbClr val="444444"/>
              </a:solidFill>
            </a:endParaRPr>
          </a:p>
          <a:p>
            <a:pPr defTabSz="914400"/>
            <a:r>
              <a:rPr lang="en-AU" sz="1800" b="1" dirty="0">
                <a:latin typeface="Arial"/>
                <a:cs typeface="Arial"/>
              </a:rPr>
              <a:t>Syllabus focus area: </a:t>
            </a:r>
            <a:r>
              <a:rPr lang="en-AU" sz="1800" b="0" dirty="0">
                <a:latin typeface="Arial"/>
                <a:cs typeface="Arial"/>
              </a:rPr>
              <a:t>Multiplicative relations B</a:t>
            </a:r>
            <a:endParaRPr lang="en-US" sz="1800" b="0" dirty="0">
              <a:solidFill>
                <a:srgbClr val="444444"/>
              </a:solidFill>
              <a:latin typeface="Arial"/>
              <a:cs typeface="Arial"/>
            </a:endParaRPr>
          </a:p>
          <a:p>
            <a:pPr defTabSz="914400"/>
            <a:endParaRPr lang="en-AU" sz="1800" dirty="0">
              <a:latin typeface="Arial"/>
              <a:ea typeface="Calibri"/>
              <a:cs typeface="Arial"/>
            </a:endParaRPr>
          </a:p>
          <a:p>
            <a:pPr defTabSz="914400"/>
            <a:r>
              <a:rPr lang="en-AU" sz="1800" b="1" dirty="0">
                <a:latin typeface="Arial"/>
                <a:ea typeface="Calibri"/>
                <a:cs typeface="Arial"/>
              </a:rPr>
              <a:t>Table of values 1 </a:t>
            </a: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800" b="1" dirty="0">
                <a:effectLst/>
                <a:latin typeface="Arial" panose="020B0604020202020204" pitchFamily="34" charset="0"/>
                <a:ea typeface="Calibri" panose="020F0502020204030204" pitchFamily="34" charset="0"/>
              </a:rPr>
              <a:t>Ask: </a:t>
            </a:r>
          </a:p>
          <a:p>
            <a:pPr marL="0" lvl="0" indent="0">
              <a:lnSpc>
                <a:spcPct val="150000"/>
              </a:lnSpc>
              <a:spcBef>
                <a:spcPts val="1200"/>
              </a:spcBef>
              <a:spcAft>
                <a:spcPts val="600"/>
              </a:spcAft>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1. How many sides are there? Record the number 6 below the diagram, in the first box of the table.</a:t>
            </a:r>
          </a:p>
          <a:p>
            <a:pPr marL="0" lvl="0" indent="0">
              <a:lnSpc>
                <a:spcPct val="150000"/>
              </a:lnSpc>
              <a:spcBef>
                <a:spcPts val="1200"/>
              </a:spcBef>
              <a:spcAft>
                <a:spcPts val="600"/>
              </a:spcAft>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2. Draw another hexagon next to the first one and pose the question: I have drawn another hexagon, how many sides have I drawn altogether? Record the number 12 below the second diagram and in the second box of the table.</a:t>
            </a:r>
          </a:p>
          <a:p>
            <a:pPr marL="0" lvl="0" indent="0">
              <a:lnSpc>
                <a:spcPct val="150000"/>
              </a:lnSpc>
              <a:spcBef>
                <a:spcPts val="1200"/>
              </a:spcBef>
              <a:spcAft>
                <a:spcPts val="600"/>
              </a:spcAft>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3. Students continue the sequence to the tenth term and record it in a table.</a:t>
            </a:r>
          </a:p>
          <a:p>
            <a:pPr marL="0" lvl="0" indent="0">
              <a:lnSpc>
                <a:spcPct val="150000"/>
              </a:lnSpc>
              <a:spcBef>
                <a:spcPts val="1200"/>
              </a:spcBef>
              <a:spcAft>
                <a:spcPts val="600"/>
              </a:spcAft>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4. Discuss the pattern using the prompts:</a:t>
            </a:r>
          </a:p>
          <a:p>
            <a:pPr marL="285750" lvl="0" indent="-285750">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How many ways can you describe the pattern? [</a:t>
            </a:r>
            <a:r>
              <a:rPr lang="en-AU" sz="1600" kern="1200" dirty="0">
                <a:solidFill>
                  <a:schemeClr val="tx1"/>
                </a:solidFill>
                <a:effectLst/>
                <a:latin typeface="Arial" panose="020B0604020202020204" pitchFamily="34" charset="0"/>
                <a:ea typeface="+mn-ea"/>
                <a:cs typeface="Arial" panose="020B0604020202020204" pitchFamily="34" charset="0"/>
              </a:rPr>
              <a:t>The numbers in the pattern are increasing by 6; The pattern is made up of numbers that are multiples of 6. The third number in the pattern is 3 × 6. The fourth number in the pattern is 4 × 6 and it continues].</a:t>
            </a:r>
            <a:endParaRPr lang="en-AU" sz="1800" dirty="0">
              <a:effectLst/>
              <a:latin typeface="Arial" panose="020B0604020202020204" pitchFamily="34" charset="0"/>
              <a:ea typeface="Calibri" panose="020F0502020204030204" pitchFamily="34" charset="0"/>
            </a:endParaRPr>
          </a:p>
          <a:p>
            <a:pPr marL="285750" marR="0" lvl="0" indent="-28575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tab pos="228600" algn="l"/>
                <a:tab pos="457200" algn="l"/>
              </a:tabLst>
              <a:defRPr/>
            </a:pPr>
            <a:r>
              <a:rPr lang="en-AU" sz="1800" dirty="0">
                <a:effectLst/>
                <a:latin typeface="Arial" panose="020B0604020202020204" pitchFamily="34" charset="0"/>
                <a:ea typeface="Calibri" panose="020F0502020204030204" pitchFamily="34" charset="0"/>
              </a:rPr>
              <a:t>How does the table help determine the relationship between the number of shapes and the number of sides? [</a:t>
            </a:r>
            <a:r>
              <a:rPr lang="en-AU" sz="1600" kern="1200" dirty="0">
                <a:solidFill>
                  <a:schemeClr val="tx1"/>
                </a:solidFill>
                <a:effectLst/>
                <a:latin typeface="Arial" panose="020B0604020202020204" pitchFamily="34" charset="0"/>
                <a:ea typeface="+mn-ea"/>
                <a:cs typeface="Arial" panose="020B0604020202020204" pitchFamily="34" charset="0"/>
              </a:rPr>
              <a:t>The table helps me see that I do not need to add 6 to continue the pattern. I can see that if I take the number of shapes and multiply it by 6 it will give me the number of sides; For every new hexagon, the sides increase by 6. I can say for every 1 hexagon, there are 6 more sides].</a:t>
            </a:r>
            <a:endParaRPr lang="en-AU" sz="1800" dirty="0">
              <a:effectLst/>
              <a:latin typeface="Arial" panose="020B0604020202020204" pitchFamily="34" charset="0"/>
              <a:ea typeface="Calibri" panose="020F0502020204030204" pitchFamily="34" charset="0"/>
            </a:endParaRPr>
          </a:p>
          <a:p>
            <a:pPr marL="285750" lvl="0" indent="-285750">
              <a:lnSpc>
                <a:spcPct val="150000"/>
              </a:lnSpc>
              <a:spcBef>
                <a:spcPts val="1200"/>
              </a:spcBef>
              <a:spcAft>
                <a:spcPts val="600"/>
              </a:spcAft>
              <a:buFont typeface="Arial" panose="020B0604020202020204" pitchFamily="34" charset="0"/>
              <a:buChar char="•"/>
              <a:tabLst>
                <a:tab pos="228600" algn="l"/>
                <a:tab pos="457200" algn="l"/>
              </a:tabLst>
            </a:pPr>
            <a:r>
              <a:rPr lang="en-AU" sz="1800" dirty="0">
                <a:effectLst/>
                <a:latin typeface="Arial" panose="020B0604020202020204" pitchFamily="34" charset="0"/>
                <a:ea typeface="Calibri" panose="020F0502020204030204" pitchFamily="34" charset="0"/>
              </a:rPr>
              <a:t>Can you create a rule using multiplication to determine the number of sides for any given number of hexagons? [</a:t>
            </a:r>
            <a:r>
              <a:rPr lang="en-AU" sz="1600" kern="1200" dirty="0">
                <a:solidFill>
                  <a:schemeClr val="tx1"/>
                </a:solidFill>
                <a:effectLst/>
                <a:latin typeface="Arial" panose="020B0604020202020204" pitchFamily="34" charset="0"/>
                <a:ea typeface="+mn-ea"/>
                <a:cs typeface="Arial" panose="020B0604020202020204" pitchFamily="34" charset="0"/>
              </a:rPr>
              <a:t>The rule is: number of shapes × 6 = number of sides. (Highlight that the number of hexagons multiplied by 6 always determines the number of sides.)].</a:t>
            </a: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6882056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 quantity fractions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a:solidFill>
                  <a:schemeClr val="tx1"/>
                </a:solidFill>
                <a:latin typeface="Arial" panose="020B0604020202020204" pitchFamily="34" charset="0"/>
                <a:cs typeface="Arial" panose="020B0604020202020204" pitchFamily="34" charset="0"/>
              </a:rPr>
              <a:t>Geometric measure B: Length</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i="0">
                <a:solidFill>
                  <a:schemeClr val="tx1"/>
                </a:solidFill>
                <a:latin typeface="Arial" panose="020B0604020202020204" pitchFamily="34" charset="0"/>
                <a:cs typeface="Arial" panose="020B0604020202020204" pitchFamily="34" charset="0"/>
              </a:rPr>
              <a:t>Three-dimensional spatial structure B: 3DS Objects </a:t>
            </a: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80CD-60A3-F99B-452C-2A5AF5D27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45025-6100-B20B-8B7D-4FB7E9FEF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69617-5E4E-CE92-64F4-B859E81DC27D}"/>
              </a:ext>
            </a:extLst>
          </p:cNvPr>
          <p:cNvSpPr>
            <a:spLocks noGrp="1"/>
          </p:cNvSpPr>
          <p:nvPr>
            <p:ph type="body" idx="1"/>
          </p:nvPr>
        </p:nvSpPr>
        <p:spPr/>
        <p:txBody>
          <a:bodyPr/>
          <a:lstStyle/>
          <a:p>
            <a:pPr>
              <a:lnSpc>
                <a:spcPct val="150000"/>
              </a:lnSpc>
              <a:spcBef>
                <a:spcPts val="1200"/>
              </a:spcBef>
              <a:spcAft>
                <a:spcPts val="600"/>
              </a:spcAft>
            </a:pPr>
            <a:r>
              <a:rPr lang="en-AU" sz="1800" dirty="0">
                <a:solidFill>
                  <a:srgbClr val="000000"/>
                </a:solidFill>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solidFill>
                  <a:srgbClr val="000000"/>
                </a:solidFill>
                <a:latin typeface="Arial"/>
                <a:cs typeface="Arial"/>
              </a:rPr>
              <a:t>Syllabus focus area: </a:t>
            </a:r>
            <a:r>
              <a:rPr lang="en-AU" sz="1800" b="0" dirty="0">
                <a:solidFill>
                  <a:srgbClr val="000000"/>
                </a:solidFill>
                <a:latin typeface="Arial"/>
                <a:cs typeface="Arial"/>
              </a:rPr>
              <a:t>Multiplicative relations B</a:t>
            </a:r>
          </a:p>
          <a:p>
            <a:endParaRPr lang="en-AU" sz="1800" b="1" dirty="0">
              <a:solidFill>
                <a:srgbClr val="000000"/>
              </a:solidFill>
              <a:latin typeface="Arial"/>
              <a:cs typeface="Arial"/>
            </a:endParaRPr>
          </a:p>
          <a:p>
            <a:r>
              <a:rPr lang="en-AU" sz="1800" b="1" dirty="0">
                <a:solidFill>
                  <a:srgbClr val="000000"/>
                </a:solidFill>
                <a:latin typeface="Arial"/>
                <a:cs typeface="Arial"/>
              </a:rPr>
              <a:t>Table of values 2</a:t>
            </a:r>
          </a:p>
          <a:p>
            <a:endParaRPr lang="en-US" sz="1800" dirty="0">
              <a:solidFill>
                <a:srgbClr val="444444"/>
              </a:solidFill>
              <a:latin typeface="Arial"/>
              <a:cs typeface="Arial"/>
            </a:endParaRP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b="1" dirty="0">
                <a:effectLst/>
                <a:latin typeface="Arial" panose="020B0604020202020204" pitchFamily="34" charset="0"/>
                <a:ea typeface="Calibri" panose="020F0502020204030204" pitchFamily="34" charset="0"/>
              </a:rPr>
              <a:t>Ask: </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How many sides are there? Record the number 8 below the diagram, in the first box of the table.</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Draw another octagon next to the first one and pose the question: I have drawn another octagon, how many sides have I drawn altogether? Record the number 16 below the second diagram and in the second box of the table.</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Students continue the sequence to the tenth term and record it in a table.</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Discuss the pattern using the prompts below. </a:t>
            </a: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How many ways can you describe the pattern? [The numbers in the pattern are increasing by 8; The pattern is made up of numbers that are multiples of 8. The third number in the pattern is 3 × 8. The fourth number in the pattern is 4 × 8 and it continues].</a:t>
            </a: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How does the table help determine the relationship between the number of shapes and the number of sides? [The table helps me see that I do not need to add 8 to continue the pattern. I can see that if I take the number of shapes and multiply it by 8 it will give me the number of sides; For every new shape, the sides increase by 8. I can say for every one shape, there are 8 more sides].</a:t>
            </a: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Can you create a rule using multiplication to determine the number of sides for any given number of octagons? [The rule is: number of octagons × 8 = number of sides. (Highlight that the number of octagons multiplied by 8 always determines the number of sides.)].</a:t>
            </a: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lvl="0" indent="0">
              <a:lnSpc>
                <a:spcPct val="150000"/>
              </a:lnSpc>
              <a:spcBef>
                <a:spcPts val="1200"/>
              </a:spcBef>
              <a:spcAft>
                <a:spcPts val="600"/>
              </a:spcAft>
              <a:buFont typeface="Arial" panose="020B0604020202020204" pitchFamily="34" charset="0"/>
              <a:buNone/>
            </a:pPr>
            <a:endParaRPr lang="en-AU" sz="1800"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A9CAF56E-5057-81FF-1897-32B4780A88D8}"/>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24729783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E1256-EB09-AE95-5FCE-224E3E639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3061A-30CF-6F56-04A3-B0CE31197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CF63C-F933-EA6F-0F82-2E0C3F305B8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a:latin typeface="Public Sans"/>
              </a:rPr>
              <a:t>Represent quantity fractions B</a:t>
            </a:r>
            <a:endParaRPr lang="en-AU" sz="1600" b="1"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FA354CBD-ECC5-C3CB-3C9E-032048410AD1}"/>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9377986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a:solidFill>
                  <a:schemeClr val="tx1"/>
                </a:solidFill>
                <a:latin typeface="Arial" panose="020B0604020202020204" pitchFamily="34" charset="0"/>
                <a:cs typeface="Arial" panose="020B0604020202020204" pitchFamily="34" charset="0"/>
              </a:rPr>
              <a:t>Geometric measure B: Length</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a:latin typeface="Public Sans"/>
              </a:rPr>
              <a:t>Geometric measure B: Angles</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 </a:t>
            </a:r>
            <a:r>
              <a:rPr lang="en-AU" sz="1800" b="0" dirty="0">
                <a:latin typeface="Arial"/>
                <a:cs typeface="Arial"/>
              </a:rPr>
              <a:t>Multiplicative relations B</a:t>
            </a:r>
          </a:p>
          <a:p>
            <a:endParaRPr lang="en-AU" sz="1800" b="0" dirty="0">
              <a:solidFill>
                <a:srgbClr val="444444"/>
              </a:solidFill>
              <a:latin typeface="Arial"/>
              <a:cs typeface="Arial"/>
            </a:endParaRPr>
          </a:p>
          <a:p>
            <a:r>
              <a:rPr lang="en-AU" sz="1800" b="1" dirty="0">
                <a:solidFill>
                  <a:srgbClr val="444444"/>
                </a:solidFill>
                <a:latin typeface="Arial"/>
                <a:cs typeface="Arial"/>
              </a:rPr>
              <a:t>Describing a pattern</a:t>
            </a:r>
            <a:endParaRPr lang="en-US" sz="1800" b="1" dirty="0">
              <a:solidFill>
                <a:srgbClr val="444444"/>
              </a:solidFill>
              <a:latin typeface="Arial"/>
              <a:cs typeface="Arial"/>
            </a:endParaRPr>
          </a:p>
          <a:p>
            <a:pPr marL="0" lvl="0" indent="0">
              <a:lnSpc>
                <a:spcPct val="150000"/>
              </a:lnSpc>
              <a:spcBef>
                <a:spcPts val="1200"/>
              </a:spcBef>
              <a:spcAft>
                <a:spcPts val="600"/>
              </a:spcAft>
              <a:buSzPts val="1000"/>
              <a:buFont typeface="+mj-lt"/>
              <a:buNone/>
              <a:tabLst>
                <a:tab pos="228600" algn="l"/>
                <a:tab pos="457200" algn="l"/>
              </a:tabLst>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000"/>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Explain that the table is not in numerical order. There is also an error in the table of values. Students turn and talk to identify the error.</a:t>
            </a:r>
          </a:p>
          <a:p>
            <a:pPr marL="342900" lvl="0" indent="-342900">
              <a:lnSpc>
                <a:spcPct val="150000"/>
              </a:lnSpc>
              <a:spcBef>
                <a:spcPts val="1200"/>
              </a:spcBef>
              <a:spcAft>
                <a:spcPts val="600"/>
              </a:spcAft>
              <a:buSzPts val="1000"/>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Select students to share their ideas with the class. </a:t>
            </a:r>
          </a:p>
          <a:p>
            <a:pPr marL="0" lvl="0" indent="0">
              <a:lnSpc>
                <a:spcPct val="150000"/>
              </a:lnSpc>
              <a:spcBef>
                <a:spcPts val="1200"/>
              </a:spcBef>
              <a:spcAft>
                <a:spcPts val="600"/>
              </a:spcAft>
              <a:buSzPts val="1000"/>
              <a:buFont typeface="+mj-lt"/>
              <a:buNone/>
              <a:tabLst>
                <a:tab pos="228600" algn="l"/>
                <a:tab pos="457200" algn="l"/>
              </a:tabLst>
            </a:pPr>
            <a:r>
              <a:rPr lang="en-AU" sz="1800" b="1" dirty="0">
                <a:effectLst/>
                <a:latin typeface="Arial" panose="020B0604020202020204" pitchFamily="34" charset="0"/>
                <a:ea typeface="Calibri" panose="020F0502020204030204" pitchFamily="34" charset="0"/>
              </a:rPr>
              <a:t>Ask:</a:t>
            </a:r>
          </a:p>
          <a:p>
            <a:pPr marL="285750" lvl="0" indent="-285750">
              <a:lnSpc>
                <a:spcPct val="150000"/>
              </a:lnSpc>
              <a:spcBef>
                <a:spcPts val="1200"/>
              </a:spcBef>
              <a:spcAft>
                <a:spcPts val="600"/>
              </a:spcAft>
              <a:buFont typeface="Arial" panose="020B0604020202020204" pitchFamily="34" charset="0"/>
              <a:buChar char="•"/>
              <a:tabLst>
                <a:tab pos="408305" algn="l"/>
              </a:tabLst>
            </a:pPr>
            <a:r>
              <a:rPr lang="en-AU" sz="1800" dirty="0">
                <a:effectLst/>
                <a:latin typeface="Arial" panose="020B0604020202020204" pitchFamily="34" charset="0"/>
                <a:ea typeface="Calibri" panose="020F0502020204030204" pitchFamily="34" charset="0"/>
              </a:rPr>
              <a:t>What value is incorrect in the table?</a:t>
            </a:r>
          </a:p>
          <a:p>
            <a:pPr marL="285750" lvl="0" indent="-285750">
              <a:lnSpc>
                <a:spcPct val="150000"/>
              </a:lnSpc>
              <a:spcBef>
                <a:spcPts val="1200"/>
              </a:spcBef>
              <a:spcAft>
                <a:spcPts val="600"/>
              </a:spcAft>
              <a:buFont typeface="Arial" panose="020B0604020202020204" pitchFamily="34" charset="0"/>
              <a:buChar char="•"/>
              <a:tabLst>
                <a:tab pos="408305" algn="l"/>
              </a:tabLst>
            </a:pPr>
            <a:r>
              <a:rPr lang="en-AU" sz="1800" dirty="0">
                <a:effectLst/>
                <a:latin typeface="Arial" panose="020B0604020202020204" pitchFamily="34" charset="0"/>
                <a:ea typeface="Calibri" panose="020F0502020204030204" pitchFamily="34" charset="0"/>
              </a:rPr>
              <a:t>How did you determine the error?</a:t>
            </a:r>
          </a:p>
          <a:p>
            <a:pPr marL="285750" lvl="0" indent="-285750">
              <a:lnSpc>
                <a:spcPct val="150000"/>
              </a:lnSpc>
              <a:spcBef>
                <a:spcPts val="1200"/>
              </a:spcBef>
              <a:spcAft>
                <a:spcPts val="600"/>
              </a:spcAft>
              <a:buFont typeface="Arial" panose="020B0604020202020204" pitchFamily="34" charset="0"/>
              <a:buChar char="•"/>
              <a:tabLst>
                <a:tab pos="408305" algn="l"/>
              </a:tabLst>
            </a:pPr>
            <a:r>
              <a:rPr lang="en-AU" sz="1800" dirty="0">
                <a:effectLst/>
                <a:latin typeface="Arial" panose="020B0604020202020204" pitchFamily="34" charset="0"/>
                <a:ea typeface="Calibri" panose="020F0502020204030204" pitchFamily="34" charset="0"/>
              </a:rPr>
              <a:t>What is the multiplicative rule describing the relationship between the bottom number and the top number?</a:t>
            </a:r>
          </a:p>
          <a:p>
            <a:pPr marL="285750" lvl="0" indent="-285750">
              <a:lnSpc>
                <a:spcPct val="150000"/>
              </a:lnSpc>
              <a:spcBef>
                <a:spcPts val="1200"/>
              </a:spcBef>
              <a:spcAft>
                <a:spcPts val="600"/>
              </a:spcAft>
              <a:buFont typeface="Arial" panose="020B0604020202020204" pitchFamily="34" charset="0"/>
              <a:buChar char="•"/>
              <a:tabLst>
                <a:tab pos="408305" algn="l"/>
              </a:tabLst>
            </a:pPr>
            <a:r>
              <a:rPr lang="en-AU" sz="1800" dirty="0">
                <a:effectLst/>
                <a:latin typeface="Arial" panose="020B0604020202020204" pitchFamily="34" charset="0"/>
                <a:ea typeface="Calibri" panose="020F0502020204030204" pitchFamily="34" charset="0"/>
              </a:rPr>
              <a:t>Did the order make a difference?</a:t>
            </a:r>
          </a:p>
          <a:p>
            <a:pPr marL="342900" lvl="0" indent="-342900">
              <a:lnSpc>
                <a:spcPct val="150000"/>
              </a:lnSpc>
              <a:spcBef>
                <a:spcPts val="1200"/>
              </a:spcBef>
              <a:spcAft>
                <a:spcPts val="600"/>
              </a:spcAft>
              <a:buFontTx/>
              <a:buAutoNum type="arabicPeriod" startAt="3"/>
              <a:tabLst>
                <a:tab pos="408305" algn="l"/>
              </a:tabLst>
            </a:pPr>
            <a:r>
              <a:rPr lang="en-AU" sz="1800" dirty="0">
                <a:effectLst/>
                <a:latin typeface="Arial" panose="020B0604020202020204" pitchFamily="34" charset="0"/>
                <a:ea typeface="Calibri" panose="020F0502020204030204" pitchFamily="34" charset="0"/>
              </a:rPr>
              <a:t>Students record the table of values in their workbook with the error corrected. They describe the pattern formed by the multiples in the table.</a:t>
            </a:r>
          </a:p>
          <a:p>
            <a:pPr marL="342900" lvl="0" indent="-342900">
              <a:lnSpc>
                <a:spcPct val="150000"/>
              </a:lnSpc>
              <a:spcBef>
                <a:spcPts val="1200"/>
              </a:spcBef>
              <a:spcAft>
                <a:spcPts val="600"/>
              </a:spcAft>
              <a:buFontTx/>
              <a:buAutoNum type="arabicPeriod" startAt="3"/>
              <a:tabLst>
                <a:tab pos="408305" algn="l"/>
              </a:tabLst>
            </a:pPr>
            <a:r>
              <a:rPr lang="en-AU" sz="1800" dirty="0">
                <a:effectLst/>
                <a:latin typeface="Arial" panose="020B0604020202020204" pitchFamily="34" charset="0"/>
                <a:ea typeface="Calibri" panose="020F0502020204030204" pitchFamily="34" charset="0"/>
              </a:rPr>
              <a:t>Students create their own table of values with an error. They swap with a partner to solve.</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41490489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459A-F60D-A5EE-7BDC-C1304D9924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FBE6B-FEAE-F7D2-837D-EC1C6C364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C25DF-05F8-864F-9119-4C78E80B118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a:latin typeface="Public Sans"/>
              </a:rPr>
              <a:t>Represent quantity fractions B</a:t>
            </a:r>
            <a:endParaRPr lang="en-AU" sz="1600" b="1"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DAFD89D-9F1E-0A81-FCCD-05C8ED9997D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9162652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Geometric measure B: Length</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i="0">
                <a:solidFill>
                  <a:schemeClr val="tx1"/>
                </a:solidFill>
                <a:latin typeface="Arial" panose="020B0604020202020204" pitchFamily="34" charset="0"/>
                <a:cs typeface="Arial" panose="020B0604020202020204" pitchFamily="34" charset="0"/>
              </a:rPr>
              <a:t>Non spatial measure B: Time</a:t>
            </a: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 </a:t>
            </a:r>
            <a:r>
              <a:rPr lang="en-AU" sz="1800" b="0" dirty="0">
                <a:latin typeface="Arial"/>
                <a:cs typeface="Arial"/>
              </a:rPr>
              <a:t>Multiplicative relations B</a:t>
            </a:r>
          </a:p>
          <a:p>
            <a:endParaRPr lang="en-AU" sz="1800" b="1" dirty="0">
              <a:solidFill>
                <a:srgbClr val="444444"/>
              </a:solidFill>
              <a:latin typeface="Arial"/>
              <a:cs typeface="Arial"/>
            </a:endParaRPr>
          </a:p>
          <a:p>
            <a:r>
              <a:rPr lang="en-AU" sz="1800" b="1" dirty="0">
                <a:solidFill>
                  <a:srgbClr val="444444"/>
                </a:solidFill>
                <a:latin typeface="Arial"/>
                <a:cs typeface="Arial"/>
              </a:rPr>
              <a:t>Determining a rule</a:t>
            </a:r>
            <a:endParaRPr lang="en-US" sz="1800" dirty="0">
              <a:solidFill>
                <a:srgbClr val="444444"/>
              </a:solidFill>
              <a:latin typeface="Arial"/>
              <a:cs typeface="Arial"/>
            </a:endParaRPr>
          </a:p>
          <a:p>
            <a:pPr marL="0" lvl="0" indent="0">
              <a:lnSpc>
                <a:spcPct val="150000"/>
              </a:lnSpc>
              <a:spcBef>
                <a:spcPts val="1200"/>
              </a:spcBef>
              <a:spcAft>
                <a:spcPts val="600"/>
              </a:spcAft>
              <a:buFont typeface="+mj-lt"/>
              <a:buNone/>
            </a:pPr>
            <a:endParaRPr lang="en-AU" sz="1800" b="1"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b="1" dirty="0">
                <a:effectLst/>
                <a:latin typeface="Arial" panose="020B0604020202020204" pitchFamily="34" charset="0"/>
                <a:ea typeface="Calibri" panose="020F0502020204030204" pitchFamily="34" charset="0"/>
              </a:rPr>
              <a:t>Presenter note: </a:t>
            </a:r>
            <a:r>
              <a:rPr lang="en-AU" sz="1800" dirty="0">
                <a:effectLst/>
                <a:latin typeface="Arial" panose="020B0604020202020204" pitchFamily="34" charset="0"/>
                <a:ea typeface="Calibri" panose="020F0502020204030204" pitchFamily="34" charset="0"/>
              </a:rPr>
              <a:t>table and questions will appear on click.</a:t>
            </a:r>
          </a:p>
          <a:p>
            <a:pPr marL="342900" lvl="0" indent="-342900">
              <a:lnSpc>
                <a:spcPct val="150000"/>
              </a:lnSpc>
              <a:spcBef>
                <a:spcPts val="1200"/>
              </a:spcBef>
              <a:spcAft>
                <a:spcPts val="600"/>
              </a:spcAft>
              <a:buSzPts val="1000"/>
              <a:buFont typeface="+mj-lt"/>
              <a:buAutoNum type="arabicPeriod"/>
              <a:tabLst>
                <a:tab pos="228600" algn="l"/>
                <a:tab pos="457200" algn="l"/>
              </a:tabLst>
            </a:pPr>
            <a:r>
              <a:rPr lang="en-AU" sz="1800" dirty="0">
                <a:effectLst/>
                <a:latin typeface="Arial" panose="020B0604020202020204" pitchFamily="34" charset="0"/>
                <a:ea typeface="Calibri" panose="020F0502020204030204" pitchFamily="34" charset="0"/>
              </a:rPr>
              <a:t>Ask students to identify the rule describing the relationship between the length of fencing and number of posts. If not identified, explain that in this example, the number of posts required is determined by:</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dirty="0">
                <a:effectLst/>
                <a:latin typeface="Arial" panose="020B0604020202020204" pitchFamily="34" charset="0"/>
                <a:ea typeface="Calibri" panose="020F0502020204030204" pitchFamily="34" charset="0"/>
              </a:rPr>
              <a:t>the total length of fencing ÷ 3 posts + 1 starting post</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dirty="0">
                <a:effectLst/>
                <a:latin typeface="Arial" panose="020B0604020202020204" pitchFamily="34" charset="0"/>
                <a:ea typeface="Calibri" panose="020F0502020204030204" pitchFamily="34" charset="0"/>
              </a:rPr>
              <a:t>−1 starting post × 3 posts.</a:t>
            </a:r>
          </a:p>
          <a:p>
            <a:pPr marL="342900" lvl="0" indent="-342900">
              <a:lnSpc>
                <a:spcPct val="150000"/>
              </a:lnSpc>
              <a:spcBef>
                <a:spcPts val="1200"/>
              </a:spcBef>
              <a:spcAft>
                <a:spcPts val="600"/>
              </a:spcAft>
              <a:buSzPts val="1000"/>
              <a:buFont typeface="+mj-lt"/>
              <a:buAutoNum type="arabicPeriod" startAt="2"/>
              <a:tabLst>
                <a:tab pos="228600" algn="l"/>
                <a:tab pos="457200" algn="l"/>
              </a:tabLst>
            </a:pPr>
            <a:r>
              <a:rPr lang="en-AU" sz="1800" dirty="0">
                <a:effectLst/>
                <a:latin typeface="Arial" panose="020B0604020202020204" pitchFamily="34" charset="0"/>
                <a:ea typeface="Calibri" panose="020F0502020204030204" pitchFamily="34" charset="0"/>
              </a:rPr>
              <a:t>Students calculate the number of posts needed for 27 metres of fence. They complete the table in their workbooks.</a:t>
            </a:r>
          </a:p>
          <a:p>
            <a:pPr marL="342900" lvl="0" indent="-342900">
              <a:lnSpc>
                <a:spcPct val="150000"/>
              </a:lnSpc>
              <a:spcBef>
                <a:spcPts val="1200"/>
              </a:spcBef>
              <a:spcAft>
                <a:spcPts val="600"/>
              </a:spcAft>
              <a:buSzPts val="1000"/>
              <a:buFont typeface="+mj-lt"/>
              <a:buAutoNum type="arabicPeriod" startAt="2"/>
              <a:tabLst>
                <a:tab pos="228600" algn="l"/>
                <a:tab pos="457200" algn="l"/>
              </a:tabLst>
            </a:pPr>
            <a:r>
              <a:rPr lang="en-AU" sz="1800" dirty="0">
                <a:effectLst/>
                <a:latin typeface="Arial" panose="020B0604020202020204" pitchFamily="34" charset="0"/>
                <a:ea typeface="Calibri" panose="020F0502020204030204" pitchFamily="34" charset="0"/>
              </a:rPr>
              <a:t>Select students to share and explain their solution.</a:t>
            </a:r>
          </a:p>
          <a:p>
            <a:pPr marL="342900" lvl="0" indent="-342900">
              <a:lnSpc>
                <a:spcPct val="150000"/>
              </a:lnSpc>
              <a:spcBef>
                <a:spcPts val="1200"/>
              </a:spcBef>
              <a:spcAft>
                <a:spcPts val="600"/>
              </a:spcAft>
              <a:buSzPts val="1000"/>
              <a:buFont typeface="+mj-lt"/>
              <a:buAutoNum type="arabicPeriod" startAt="2"/>
              <a:tabLst>
                <a:tab pos="228600" algn="l"/>
                <a:tab pos="457200" algn="l"/>
              </a:tabLst>
            </a:pPr>
            <a:r>
              <a:rPr lang="en-AU" sz="1800" dirty="0">
                <a:effectLst/>
                <a:latin typeface="Arial" panose="020B0604020202020204" pitchFamily="34" charset="0"/>
                <a:ea typeface="Calibri" panose="020F0502020204030204" pitchFamily="34" charset="0"/>
              </a:rPr>
              <a:t>Students then calculate and record the number of posts of length of fence needed for the following:</a:t>
            </a:r>
          </a:p>
          <a:p>
            <a:pPr marL="342900" lvl="0" indent="-342900">
              <a:lnSpc>
                <a:spcPct val="150000"/>
              </a:lnSpc>
              <a:spcBef>
                <a:spcPts val="1200"/>
              </a:spcBef>
              <a:spcAft>
                <a:spcPts val="600"/>
              </a:spcAft>
              <a:buFont typeface="Symbol" panose="05050102010706020507" pitchFamily="18" charset="2"/>
              <a:buChar char=""/>
              <a:tabLst>
                <a:tab pos="228600" algn="l"/>
                <a:tab pos="457200" algn="l"/>
              </a:tabLst>
            </a:pPr>
            <a:r>
              <a:rPr lang="en-AU" sz="1800" dirty="0">
                <a:effectLst/>
                <a:latin typeface="Arial" panose="020B0604020202020204" pitchFamily="34" charset="0"/>
                <a:ea typeface="Calibri" panose="020F0502020204030204" pitchFamily="34" charset="0"/>
              </a:rPr>
              <a:t>90 metres of fencing (31 posts)</a:t>
            </a:r>
          </a:p>
          <a:p>
            <a:pPr marL="342900" lvl="0" indent="-342900">
              <a:lnSpc>
                <a:spcPct val="150000"/>
              </a:lnSpc>
              <a:spcBef>
                <a:spcPts val="1200"/>
              </a:spcBef>
              <a:spcAft>
                <a:spcPts val="600"/>
              </a:spcAft>
              <a:buFont typeface="Symbol" panose="05050102010706020507" pitchFamily="18" charset="2"/>
              <a:buChar char=""/>
              <a:tabLst>
                <a:tab pos="228600" algn="l"/>
                <a:tab pos="457200" algn="l"/>
              </a:tabLst>
            </a:pPr>
            <a:r>
              <a:rPr lang="en-AU" sz="1800" dirty="0">
                <a:effectLst/>
                <a:latin typeface="Arial" panose="020B0604020202020204" pitchFamily="34" charset="0"/>
                <a:ea typeface="Calibri" panose="020F0502020204030204" pitchFamily="34" charset="0"/>
              </a:rPr>
              <a:t>240 metres of fencing (81 posts)</a:t>
            </a:r>
          </a:p>
          <a:p>
            <a:pPr marL="342900" lvl="0" indent="-342900">
              <a:lnSpc>
                <a:spcPct val="150000"/>
              </a:lnSpc>
              <a:spcBef>
                <a:spcPts val="1200"/>
              </a:spcBef>
              <a:spcAft>
                <a:spcPts val="600"/>
              </a:spcAft>
              <a:buFont typeface="Symbol" panose="05050102010706020507" pitchFamily="18" charset="2"/>
              <a:buChar char=""/>
              <a:tabLst>
                <a:tab pos="228600" algn="l"/>
                <a:tab pos="457200" algn="l"/>
              </a:tabLst>
            </a:pPr>
            <a:r>
              <a:rPr lang="en-AU" sz="1800" dirty="0">
                <a:effectLst/>
                <a:latin typeface="Arial" panose="020B0604020202020204" pitchFamily="34" charset="0"/>
                <a:ea typeface="Calibri" panose="020F0502020204030204" pitchFamily="34" charset="0"/>
              </a:rPr>
              <a:t>72 posts (25 posts).</a:t>
            </a:r>
          </a:p>
          <a:p>
            <a:pPr marL="0" lvl="0" indent="0">
              <a:lnSpc>
                <a:spcPct val="150000"/>
              </a:lnSpc>
              <a:spcBef>
                <a:spcPts val="1200"/>
              </a:spcBef>
              <a:spcAft>
                <a:spcPts val="600"/>
              </a:spcAft>
              <a:buSzPts val="1000"/>
              <a:buFont typeface="+mj-lt"/>
              <a:buNone/>
              <a:tabLst>
                <a:tab pos="228600" algn="l"/>
                <a:tab pos="457200" algn="l"/>
              </a:tabLst>
            </a:pPr>
            <a:r>
              <a:rPr lang="en-AU" sz="1800" dirty="0">
                <a:effectLst/>
                <a:latin typeface="Arial" panose="020B0604020202020204" pitchFamily="34" charset="0"/>
                <a:ea typeface="Calibri" panose="020F0502020204030204" pitchFamily="34" charset="0"/>
              </a:rPr>
              <a:t>5. 	   Regroup as a class and select students to share and justify their calculations.</a:t>
            </a: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3916968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8452345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6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36.svg"/><Relationship Id="rId4" Type="http://schemas.openxmlformats.org/officeDocument/2006/relationships/image" Target="../media/image3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polypad.amplify.com/p" TargetMode="External"/><Relationship Id="rId5" Type="http://schemas.openxmlformats.org/officeDocument/2006/relationships/hyperlink" Target="https://curriculum.nsw.edu.au/" TargetMode="External"/><Relationship Id="rId10" Type="http://schemas.openxmlformats.org/officeDocument/2006/relationships/hyperlink" Target="https://acaraweb.blob.core.windows.net/acaraweb/docs/default-source/assessment-and-reporting-publications/naplan-2015-final-test---numeracy-year-3.pdf?sfvrsn=2"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caraweb.blob.core.windows.net/acaraweb/docs/default-source/assessment-and-reporting-publications/naplan-2014-final-test---numeracy-year-3.pdf?sfvrsn=2"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teaching.betterlesson.com/lesson/551878/fractions-on-a-number-line-beyond-one-whole?from=master_teacher_curriculum"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www.didax.com/apps/fraction-number-line/"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B Unit 36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36</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hlinkClick r:id="rId3" action="ppaction://hlinksldjump"/>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hlinkClick r:id="rId4" action="ppaction://hlinksldjump"/>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hlinkClick r:id="rId5" action="ppaction://hlinksldjump"/>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hlinkClick r:id="rId6" action="ppaction://hlinksldjump"/>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hlinkClick r:id="rId7" action="ppaction://hlinksldjump"/>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a:rPr>
                <a:t>Review of learning 6</a:t>
              </a:r>
              <a:endParaRPr lang="en-US" dirty="0">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hlinkClick r:id="rId8" action="ppaction://hlinksldjump"/>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latin typeface="+mj-lt"/>
                  <a:cs typeface="Arial" panose="020B0604020202020204"/>
                </a:rPr>
                <a:t>Review of learning 7</a:t>
              </a:r>
              <a:endParaRPr lang="en-US" dirty="0">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hlinkClick r:id="rId9" action="ppaction://hlinksldjump"/>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hlinkClick r:id="rId10" action="ppaction://hlinksldjump"/>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a:t>
            </a:r>
            <a:r>
              <a:rPr lang="en-US">
                <a:solidFill>
                  <a:schemeClr val="bg1"/>
                </a:solidFill>
              </a:rPr>
              <a:t> (1)</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012787"/>
                <a:ext cx="11358861" cy="754243"/>
              </a:xfrm>
            </p:spPr>
            <p:txBody>
              <a:bodyPr vert="horz" lIns="0" tIns="0" rIns="0" bIns="0" rtlCol="0" anchor="t">
                <a:noAutofit/>
              </a:bodyPr>
              <a:lstStyle/>
              <a:p>
                <a:pPr algn="ctr"/>
                <a:r>
                  <a:rPr lang="en-AU" sz="3200">
                    <a:latin typeface="Arial"/>
                    <a:cs typeface="Arial"/>
                  </a:rPr>
                  <a:t>Liam drank</a:t>
                </a:r>
                <a14:m>
                  <m:oMath xmlns:m="http://schemas.openxmlformats.org/officeDocument/2006/math">
                    <m:r>
                      <a:rPr lang="en-AU" sz="3200" b="0" i="0" smtClean="0">
                        <a:latin typeface="Cambria Math" panose="02040503050406030204" pitchFamily="18" charset="0"/>
                        <a:cs typeface="Arial"/>
                      </a:rPr>
                      <m:t> </m:t>
                    </m:r>
                    <m:f>
                      <m:fPr>
                        <m:ctrlPr>
                          <a:rPr lang="en-AU" sz="3200" i="1" smtClean="0">
                            <a:latin typeface="Cambria Math" panose="02040503050406030204" pitchFamily="18" charset="0"/>
                            <a:cs typeface="Arial"/>
                          </a:rPr>
                        </m:ctrlPr>
                      </m:fPr>
                      <m:num>
                        <m:r>
                          <a:rPr lang="en-AU" sz="3200" b="0" i="1" smtClean="0">
                            <a:latin typeface="Cambria Math" panose="02040503050406030204" pitchFamily="18" charset="0"/>
                            <a:cs typeface="Arial"/>
                          </a:rPr>
                          <m:t>2</m:t>
                        </m:r>
                      </m:num>
                      <m:den>
                        <m:r>
                          <a:rPr lang="en-AU" sz="3200" b="0" i="1" smtClean="0">
                            <a:latin typeface="Cambria Math" panose="02040503050406030204" pitchFamily="18" charset="0"/>
                            <a:cs typeface="Arial"/>
                          </a:rPr>
                          <m:t>4</m:t>
                        </m:r>
                      </m:den>
                    </m:f>
                  </m:oMath>
                </a14:m>
                <a:r>
                  <a:rPr lang="en-AU" sz="3200">
                    <a:latin typeface="Arial"/>
                    <a:cs typeface="Arial"/>
                  </a:rPr>
                  <a:t> of a bottle of juice in the morning and </a:t>
                </a:r>
                <a14:m>
                  <m:oMath xmlns:m="http://schemas.openxmlformats.org/officeDocument/2006/math">
                    <m:f>
                      <m:fPr>
                        <m:ctrlPr>
                          <a:rPr lang="en-AU" sz="3200" i="1" smtClean="0">
                            <a:latin typeface="Cambria Math" panose="02040503050406030204" pitchFamily="18" charset="0"/>
                            <a:cs typeface="Arial"/>
                          </a:rPr>
                        </m:ctrlPr>
                      </m:fPr>
                      <m:num>
                        <m:r>
                          <a:rPr lang="en-AU" sz="3200" b="0" i="1" smtClean="0">
                            <a:latin typeface="Cambria Math" panose="02040503050406030204" pitchFamily="18" charset="0"/>
                            <a:cs typeface="Arial"/>
                          </a:rPr>
                          <m:t>1</m:t>
                        </m:r>
                      </m:num>
                      <m:den>
                        <m:r>
                          <a:rPr lang="en-AU" sz="3200" b="0" i="1" smtClean="0">
                            <a:latin typeface="Cambria Math" panose="02040503050406030204" pitchFamily="18" charset="0"/>
                            <a:cs typeface="Arial"/>
                          </a:rPr>
                          <m:t>8</m:t>
                        </m:r>
                      </m:den>
                    </m:f>
                  </m:oMath>
                </a14:m>
                <a:r>
                  <a:rPr lang="en-AU" sz="3200">
                    <a:latin typeface="Arial"/>
                    <a:cs typeface="Arial"/>
                  </a:rPr>
                  <a:t> ​in the afternoon. </a:t>
                </a:r>
              </a:p>
              <a:p>
                <a:pPr algn="ctr"/>
                <a:r>
                  <a:rPr lang="en-AU" sz="3200" b="1">
                    <a:latin typeface="Arial"/>
                    <a:cs typeface="Arial"/>
                  </a:rPr>
                  <a:t>How much </a:t>
                </a:r>
                <a:r>
                  <a:rPr lang="en-AU" sz="3200">
                    <a:latin typeface="Arial"/>
                    <a:cs typeface="Arial"/>
                  </a:rPr>
                  <a:t>of the juice did he drink in </a:t>
                </a:r>
                <a:r>
                  <a:rPr lang="en-AU" sz="3200" b="1">
                    <a:latin typeface="Arial"/>
                    <a:cs typeface="Arial"/>
                  </a:rPr>
                  <a:t>total</a:t>
                </a:r>
                <a:r>
                  <a:rPr lang="en-AU" sz="3200">
                    <a:latin typeface="Arial"/>
                    <a:cs typeface="Arial"/>
                  </a:rPr>
                  <a:t>?</a:t>
                </a:r>
                <a:endParaRPr lang="en-US" sz="3200">
                  <a:latin typeface="Arial"/>
                  <a:cs typeface="Arial"/>
                </a:endParaRPr>
              </a:p>
            </p:txBody>
          </p:sp>
        </mc:Choice>
        <mc:Fallback xmlns="">
          <p:sp>
            <p:nvSpPr>
              <p:cNvPr id="15" name="Text Placeholder 14">
                <a:extLst>
                  <a:ext uri="{FF2B5EF4-FFF2-40B4-BE49-F238E27FC236}">
                    <a16:creationId xmlns:a16="http://schemas.microsoft.com/office/drawing/2014/main" id="{6B9A183C-33B3-4568-C43F-096BAC3A3E3A}"/>
                  </a:ext>
                </a:extLst>
              </p:cNvPr>
              <p:cNvSpPr>
                <a:spLocks noGrp="1" noRot="1" noChangeAspect="1" noMove="1" noResize="1" noEditPoints="1" noAdjustHandles="1" noChangeArrowheads="1" noChangeShapeType="1" noTextEdit="1"/>
              </p:cNvSpPr>
              <p:nvPr>
                <p:ph type="body" sz="quarter" idx="28"/>
              </p:nvPr>
            </p:nvSpPr>
            <p:spPr>
              <a:xfrm>
                <a:off x="360000" y="1012787"/>
                <a:ext cx="11358861" cy="754243"/>
              </a:xfrm>
              <a:blipFill>
                <a:blip r:embed="rId4"/>
                <a:stretch>
                  <a:fillRect b="-26209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7539DAC-4E92-AFE5-86E8-50C88518EFAD}"/>
              </a:ext>
            </a:extLst>
          </p:cNvPr>
          <p:cNvSpPr txBox="1"/>
          <p:nvPr/>
        </p:nvSpPr>
        <p:spPr>
          <a:xfrm>
            <a:off x="1552321" y="383928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30A9FD70-0690-0B46-5ABC-6631FD7B7337}"/>
                  </a:ext>
                </a:extLst>
              </p:cNvPr>
              <p:cNvSpPr txBox="1">
                <a:spLocks noGrp="1"/>
              </p:cNvSpPr>
              <p:nvPr>
                <p:ph type="body" sz="quarter" idx="27"/>
              </p:nvPr>
            </p:nvSpPr>
            <p:spPr>
              <a:xfrm>
                <a:off x="1012406" y="4590256"/>
                <a:ext cx="1538288" cy="641350"/>
              </a:xfrm>
              <a:prstGeom prst="rect">
                <a:avLst/>
              </a:prstGeom>
              <a:noFill/>
            </p:spPr>
            <p:txBody>
              <a:bodyPr wrap="square" lIns="0" tIns="0" rIns="0" bIns="0" rtlCol="0">
                <a:noAutofit/>
              </a:bodyPr>
              <a:lstStyle/>
              <a:p>
                <a:pPr algn="ctr"/>
                <a14:m>
                  <m:oMath xmlns:m="http://schemas.openxmlformats.org/officeDocument/2006/math">
                    <m:f>
                      <m:fPr>
                        <m:ctrlPr>
                          <a:rPr lang="en-AU" sz="4800" b="1" i="1" smtClean="0">
                            <a:effectLst/>
                            <a:latin typeface="Cambria Math" panose="02040503050406030204" pitchFamily="18" charset="0"/>
                          </a:rPr>
                        </m:ctrlPr>
                      </m:fPr>
                      <m:num>
                        <m:r>
                          <a:rPr lang="en-AU" sz="4800" b="1" i="1" smtClean="0">
                            <a:effectLst/>
                            <a:latin typeface="Cambria Math" panose="02040503050406030204" pitchFamily="18" charset="0"/>
                          </a:rPr>
                          <m:t>𝟑</m:t>
                        </m:r>
                      </m:num>
                      <m:den>
                        <m:r>
                          <a:rPr lang="en-AU" sz="4800" b="1" i="1" smtClean="0">
                            <a:effectLst/>
                            <a:latin typeface="Cambria Math" panose="02040503050406030204" pitchFamily="18" charset="0"/>
                          </a:rPr>
                          <m:t>𝟒</m:t>
                        </m:r>
                      </m:den>
                    </m:f>
                  </m:oMath>
                </a14:m>
                <a:r>
                  <a:rPr lang="en-AU" sz="3200" b="1"/>
                  <a:t> </a:t>
                </a:r>
              </a:p>
            </p:txBody>
          </p:sp>
        </mc:Choice>
        <mc:Fallback xmlns="">
          <p:sp>
            <p:nvSpPr>
              <p:cNvPr id="7" name="Text Placeholder 6">
                <a:extLst>
                  <a:ext uri="{FF2B5EF4-FFF2-40B4-BE49-F238E27FC236}">
                    <a16:creationId xmlns:a16="http://schemas.microsoft.com/office/drawing/2014/main" id="{30A9FD70-0690-0B46-5ABC-6631FD7B7337}"/>
                  </a:ext>
                </a:extLst>
              </p:cNvPr>
              <p:cNvSpPr txBox="1">
                <a:spLocks noGrp="1" noRot="1" noChangeAspect="1" noMove="1" noResize="1" noEditPoints="1" noAdjustHandles="1" noChangeArrowheads="1" noChangeShapeType="1" noTextEdit="1"/>
              </p:cNvSpPr>
              <p:nvPr>
                <p:ph type="body" sz="quarter" idx="27"/>
              </p:nvPr>
            </p:nvSpPr>
            <p:spPr>
              <a:xfrm>
                <a:off x="1012406" y="4590256"/>
                <a:ext cx="1538288" cy="641350"/>
              </a:xfrm>
              <a:prstGeom prst="rect">
                <a:avLst/>
              </a:prstGeom>
              <a:blipFill>
                <a:blip r:embed="rId5"/>
                <a:stretch>
                  <a:fillRect b="-12571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0E33B1A6-4106-9E75-7645-88335BABE19D}"/>
              </a:ext>
            </a:extLst>
          </p:cNvPr>
          <p:cNvSpPr txBox="1"/>
          <p:nvPr/>
        </p:nvSpPr>
        <p:spPr>
          <a:xfrm>
            <a:off x="4331116" y="3823703"/>
            <a:ext cx="53411"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20009FDD-4101-C1B2-6046-40BAC716637E}"/>
                  </a:ext>
                </a:extLst>
              </p:cNvPr>
              <p:cNvSpPr txBox="1">
                <a:spLocks noGrp="1"/>
              </p:cNvSpPr>
              <p:nvPr>
                <p:ph type="body" sz="quarter" idx="29"/>
              </p:nvPr>
            </p:nvSpPr>
            <p:spPr>
              <a:xfrm>
                <a:off x="3622782" y="4621315"/>
                <a:ext cx="1925638" cy="641350"/>
              </a:xfrm>
              <a:prstGeom prst="rect">
                <a:avLst/>
              </a:prstGeom>
              <a:noFill/>
            </p:spPr>
            <p:txBody>
              <a:bodyPr wrap="square" lIns="0" tIns="0" rIns="0" bIns="0" rtlCol="0">
                <a:noAutofit/>
              </a:bodyPr>
              <a:lstStyle/>
              <a:p>
                <a:pPr algn="ctr"/>
                <a14:m>
                  <m:oMath xmlns:m="http://schemas.openxmlformats.org/officeDocument/2006/math">
                    <m:f>
                      <m:fPr>
                        <m:ctrlPr>
                          <a:rPr lang="en-AU" sz="4800" b="1" i="1" smtClean="0">
                            <a:effectLst/>
                            <a:latin typeface="Cambria Math" panose="02040503050406030204" pitchFamily="18" charset="0"/>
                          </a:rPr>
                        </m:ctrlPr>
                      </m:fPr>
                      <m:num>
                        <m:r>
                          <a:rPr lang="en-AU" sz="4800" b="1" i="1" smtClean="0">
                            <a:effectLst/>
                            <a:latin typeface="Cambria Math" panose="02040503050406030204" pitchFamily="18" charset="0"/>
                          </a:rPr>
                          <m:t>𝟓</m:t>
                        </m:r>
                      </m:num>
                      <m:den>
                        <m:r>
                          <a:rPr lang="en-AU" sz="4800" b="1" i="1" smtClean="0">
                            <a:effectLst/>
                            <a:latin typeface="Cambria Math" panose="02040503050406030204" pitchFamily="18" charset="0"/>
                          </a:rPr>
                          <m:t>𝟖</m:t>
                        </m:r>
                      </m:den>
                    </m:f>
                  </m:oMath>
                </a14:m>
                <a:r>
                  <a:rPr lang="en-AU" sz="3200" b="1"/>
                  <a:t> </a:t>
                </a:r>
              </a:p>
            </p:txBody>
          </p:sp>
        </mc:Choice>
        <mc:Fallback xmlns="">
          <p:sp>
            <p:nvSpPr>
              <p:cNvPr id="8" name="Text Placeholder 7">
                <a:extLst>
                  <a:ext uri="{FF2B5EF4-FFF2-40B4-BE49-F238E27FC236}">
                    <a16:creationId xmlns:a16="http://schemas.microsoft.com/office/drawing/2014/main" id="{20009FDD-4101-C1B2-6046-40BAC716637E}"/>
                  </a:ext>
                </a:extLst>
              </p:cNvPr>
              <p:cNvSpPr txBox="1">
                <a:spLocks noGrp="1" noRot="1" noChangeAspect="1" noMove="1" noResize="1" noEditPoints="1" noAdjustHandles="1" noChangeArrowheads="1" noChangeShapeType="1" noTextEdit="1"/>
              </p:cNvSpPr>
              <p:nvPr>
                <p:ph type="body" sz="quarter" idx="29"/>
              </p:nvPr>
            </p:nvSpPr>
            <p:spPr>
              <a:xfrm>
                <a:off x="3622782" y="4621315"/>
                <a:ext cx="1925638" cy="641350"/>
              </a:xfrm>
              <a:prstGeom prst="rect">
                <a:avLst/>
              </a:prstGeom>
              <a:blipFill>
                <a:blip r:embed="rId6"/>
                <a:stretch>
                  <a:fillRect b="-129524"/>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E4BDDCB-88AF-EC45-6F07-05B50A0060D2}"/>
              </a:ext>
            </a:extLst>
          </p:cNvPr>
          <p:cNvSpPr txBox="1"/>
          <p:nvPr/>
        </p:nvSpPr>
        <p:spPr>
          <a:xfrm>
            <a:off x="7148011" y="38237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3" name="Text Placeholder 12">
                <a:extLst>
                  <a:ext uri="{FF2B5EF4-FFF2-40B4-BE49-F238E27FC236}">
                    <a16:creationId xmlns:a16="http://schemas.microsoft.com/office/drawing/2014/main" id="{A93DB06A-CF1F-5296-48A1-5A702BF4DE51}"/>
                  </a:ext>
                </a:extLst>
              </p:cNvPr>
              <p:cNvSpPr txBox="1">
                <a:spLocks noGrp="1"/>
              </p:cNvSpPr>
              <p:nvPr>
                <p:ph type="body" sz="quarter" idx="30"/>
              </p:nvPr>
            </p:nvSpPr>
            <p:spPr>
              <a:xfrm>
                <a:off x="6643581" y="4573582"/>
                <a:ext cx="1538287" cy="641350"/>
              </a:xfrm>
              <a:prstGeom prst="rect">
                <a:avLst/>
              </a:prstGeom>
              <a:noFill/>
            </p:spPr>
            <p:txBody>
              <a:bodyPr wrap="square" lIns="0" tIns="0" rIns="0" bIns="0" rtlCol="0">
                <a:noAutofit/>
              </a:bodyPr>
              <a:lstStyle/>
              <a:p>
                <a:pPr algn="ctr"/>
                <a14:m>
                  <m:oMath xmlns:m="http://schemas.openxmlformats.org/officeDocument/2006/math">
                    <m:f>
                      <m:fPr>
                        <m:ctrlPr>
                          <a:rPr lang="en-AU" sz="4800" b="1" i="1" smtClean="0">
                            <a:effectLst/>
                            <a:latin typeface="Cambria Math" panose="02040503050406030204" pitchFamily="18" charset="0"/>
                          </a:rPr>
                        </m:ctrlPr>
                      </m:fPr>
                      <m:num>
                        <m:r>
                          <a:rPr lang="en-AU" sz="4800" b="1" i="1" smtClean="0">
                            <a:effectLst/>
                            <a:latin typeface="Cambria Math" panose="02040503050406030204" pitchFamily="18" charset="0"/>
                          </a:rPr>
                          <m:t>𝟑</m:t>
                        </m:r>
                      </m:num>
                      <m:den>
                        <m:r>
                          <a:rPr lang="en-AU" sz="4800" b="1" i="1" smtClean="0">
                            <a:effectLst/>
                            <a:latin typeface="Cambria Math" panose="02040503050406030204" pitchFamily="18" charset="0"/>
                          </a:rPr>
                          <m:t>𝟏𝟎</m:t>
                        </m:r>
                      </m:den>
                    </m:f>
                  </m:oMath>
                </a14:m>
                <a:r>
                  <a:rPr lang="en-AU" sz="3200" b="1"/>
                  <a:t> </a:t>
                </a:r>
              </a:p>
            </p:txBody>
          </p:sp>
        </mc:Choice>
        <mc:Fallback xmlns="">
          <p:sp>
            <p:nvSpPr>
              <p:cNvPr id="13" name="Text Placeholder 12">
                <a:extLst>
                  <a:ext uri="{FF2B5EF4-FFF2-40B4-BE49-F238E27FC236}">
                    <a16:creationId xmlns:a16="http://schemas.microsoft.com/office/drawing/2014/main" id="{A93DB06A-CF1F-5296-48A1-5A702BF4DE51}"/>
                  </a:ext>
                </a:extLst>
              </p:cNvPr>
              <p:cNvSpPr txBox="1">
                <a:spLocks noGrp="1" noRot="1" noChangeAspect="1" noMove="1" noResize="1" noEditPoints="1" noAdjustHandles="1" noChangeArrowheads="1" noChangeShapeType="1" noTextEdit="1"/>
              </p:cNvSpPr>
              <p:nvPr>
                <p:ph type="body" sz="quarter" idx="30"/>
              </p:nvPr>
            </p:nvSpPr>
            <p:spPr>
              <a:xfrm>
                <a:off x="6643581" y="4573582"/>
                <a:ext cx="1538287" cy="641350"/>
              </a:xfrm>
              <a:prstGeom prst="rect">
                <a:avLst/>
              </a:prstGeom>
              <a:blipFill>
                <a:blip r:embed="rId7"/>
                <a:stretch>
                  <a:fillRect b="-126667"/>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28ADB1A3-D5FD-9EC3-BED8-5982F1544E0E}"/>
              </a:ext>
            </a:extLst>
          </p:cNvPr>
          <p:cNvSpPr txBox="1"/>
          <p:nvPr/>
        </p:nvSpPr>
        <p:spPr>
          <a:xfrm>
            <a:off x="9734552" y="384667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9" name="Text Placeholder 18">
                <a:extLst>
                  <a:ext uri="{FF2B5EF4-FFF2-40B4-BE49-F238E27FC236}">
                    <a16:creationId xmlns:a16="http://schemas.microsoft.com/office/drawing/2014/main" id="{1184E990-28E0-B2DB-425F-49A84EE6ADF5}"/>
                  </a:ext>
                </a:extLst>
              </p:cNvPr>
              <p:cNvSpPr txBox="1">
                <a:spLocks noGrp="1"/>
              </p:cNvSpPr>
              <p:nvPr>
                <p:ph type="body" sz="quarter" idx="31"/>
              </p:nvPr>
            </p:nvSpPr>
            <p:spPr>
              <a:xfrm>
                <a:off x="9230122" y="4585337"/>
                <a:ext cx="1538288" cy="642937"/>
              </a:xfrm>
              <a:prstGeom prst="rect">
                <a:avLst/>
              </a:prstGeom>
              <a:noFill/>
            </p:spPr>
            <p:txBody>
              <a:bodyPr wrap="square" lIns="0" tIns="0" rIns="0" bIns="0" rtlCol="0">
                <a:noAutofit/>
              </a:bodyPr>
              <a:lstStyle/>
              <a:p>
                <a:pPr algn="ctr"/>
                <a14:m>
                  <m:oMath xmlns:m="http://schemas.openxmlformats.org/officeDocument/2006/math">
                    <m:f>
                      <m:fPr>
                        <m:ctrlPr>
                          <a:rPr lang="en-AU" sz="4800" b="1" i="1" smtClean="0">
                            <a:effectLst/>
                            <a:latin typeface="Cambria Math" panose="02040503050406030204" pitchFamily="18" charset="0"/>
                          </a:rPr>
                        </m:ctrlPr>
                      </m:fPr>
                      <m:num>
                        <m:r>
                          <a:rPr lang="en-AU" sz="4800" b="1" i="1" smtClean="0">
                            <a:effectLst/>
                            <a:latin typeface="Cambria Math" panose="02040503050406030204" pitchFamily="18" charset="0"/>
                          </a:rPr>
                          <m:t>𝟒</m:t>
                        </m:r>
                      </m:num>
                      <m:den>
                        <m:r>
                          <a:rPr lang="en-AU" sz="4800" b="1" i="1" smtClean="0">
                            <a:effectLst/>
                            <a:latin typeface="Cambria Math" panose="02040503050406030204" pitchFamily="18" charset="0"/>
                          </a:rPr>
                          <m:t>𝟖</m:t>
                        </m:r>
                      </m:den>
                    </m:f>
                  </m:oMath>
                </a14:m>
                <a:r>
                  <a:rPr lang="en-AU" sz="3200" b="1"/>
                  <a:t> </a:t>
                </a:r>
              </a:p>
            </p:txBody>
          </p:sp>
        </mc:Choice>
        <mc:Fallback xmlns="">
          <p:sp>
            <p:nvSpPr>
              <p:cNvPr id="19" name="Text Placeholder 18">
                <a:extLst>
                  <a:ext uri="{FF2B5EF4-FFF2-40B4-BE49-F238E27FC236}">
                    <a16:creationId xmlns:a16="http://schemas.microsoft.com/office/drawing/2014/main" id="{1184E990-28E0-B2DB-425F-49A84EE6ADF5}"/>
                  </a:ext>
                </a:extLst>
              </p:cNvPr>
              <p:cNvSpPr txBox="1">
                <a:spLocks noGrp="1" noRot="1" noChangeAspect="1" noMove="1" noResize="1" noEditPoints="1" noAdjustHandles="1" noChangeArrowheads="1" noChangeShapeType="1" noTextEdit="1"/>
              </p:cNvSpPr>
              <p:nvPr>
                <p:ph type="body" sz="quarter" idx="31"/>
              </p:nvPr>
            </p:nvSpPr>
            <p:spPr>
              <a:xfrm>
                <a:off x="9230122" y="4585337"/>
                <a:ext cx="1538288" cy="642937"/>
              </a:xfrm>
              <a:prstGeom prst="rect">
                <a:avLst/>
              </a:prstGeom>
              <a:blipFill>
                <a:blip r:embed="rId8"/>
                <a:stretch>
                  <a:fillRect b="-12452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A9700D-72BB-59AD-DAD2-41B66B2F0E2F}"/>
                  </a:ext>
                </a:extLst>
              </p:cNvPr>
              <p:cNvSpPr txBox="1"/>
              <p:nvPr/>
            </p:nvSpPr>
            <p:spPr>
              <a:xfrm>
                <a:off x="620486" y="1806770"/>
                <a:ext cx="10503513" cy="3711401"/>
              </a:xfrm>
              <a:prstGeom prst="rect">
                <a:avLst/>
              </a:prstGeom>
              <a:noFill/>
            </p:spPr>
            <p:txBody>
              <a:bodyPr wrap="square">
                <a:spAutoFit/>
              </a:bodyPr>
              <a:lstStyle/>
              <a:p>
                <a:pPr algn="ctr"/>
                <a:r>
                  <a:rPr lang="en-AU" sz="4000">
                    <a:effectLst/>
                    <a:latin typeface="Arial" panose="020B0604020202020204" pitchFamily="34" charset="0"/>
                    <a:ea typeface="Calibri" panose="020F0502020204030204" pitchFamily="34" charset="0"/>
                  </a:rPr>
                  <a:t>Draw a picture or diagram to show an example of when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smtClean="0">
                            <a:latin typeface="Cambria Math" panose="02040503050406030204" pitchFamily="18" charset="0"/>
                          </a:rPr>
                          <m:t>𝟐</m:t>
                        </m:r>
                      </m:den>
                    </m:f>
                  </m:oMath>
                </a14:m>
                <a:r>
                  <a:rPr lang="en-AU" sz="4000" b="1"/>
                  <a:t> </a:t>
                </a:r>
                <a:r>
                  <a:rPr lang="en-AU" sz="4000">
                    <a:effectLst/>
                    <a:latin typeface="Arial" panose="020B0604020202020204" pitchFamily="34" charset="0"/>
                    <a:ea typeface="Calibri" panose="020F0502020204030204" pitchFamily="34" charset="0"/>
                  </a:rPr>
                  <a:t>is larger than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𝟑</m:t>
                        </m:r>
                      </m:num>
                      <m:den>
                        <m:r>
                          <a:rPr lang="en-AU" sz="4000" b="1" i="1" smtClean="0">
                            <a:latin typeface="Cambria Math" panose="02040503050406030204" pitchFamily="18" charset="0"/>
                          </a:rPr>
                          <m:t>𝟒</m:t>
                        </m:r>
                      </m:den>
                    </m:f>
                    <m:r>
                      <a:rPr lang="en-AU" sz="4000" b="1" i="0" smtClean="0">
                        <a:latin typeface="Cambria Math" panose="02040503050406030204" pitchFamily="18" charset="0"/>
                      </a:rPr>
                      <m:t>.</m:t>
                    </m:r>
                  </m:oMath>
                </a14:m>
                <a:endParaRPr lang="en-AU" sz="4000">
                  <a:effectLst/>
                  <a:latin typeface="Arial" panose="020B0604020202020204" pitchFamily="34" charset="0"/>
                  <a:ea typeface="Calibri" panose="020F0502020204030204" pitchFamily="34" charset="0"/>
                </a:endParaRPr>
              </a:p>
              <a:p>
                <a:pPr algn="ctr"/>
                <a:endParaRPr lang="en-AU" sz="4000">
                  <a:latin typeface="Arial" panose="020B0604020202020204" pitchFamily="34" charset="0"/>
                  <a:ea typeface="Calibri" panose="020F0502020204030204" pitchFamily="34" charset="0"/>
                </a:endParaRPr>
              </a:p>
              <a:p>
                <a:pPr algn="ctr"/>
                <a:r>
                  <a:rPr lang="en-AU" sz="4000" b="1">
                    <a:effectLst/>
                    <a:latin typeface="Arial" panose="020B0604020202020204" pitchFamily="34" charset="0"/>
                    <a:ea typeface="Calibri" panose="020F0502020204030204" pitchFamily="34" charset="0"/>
                  </a:rPr>
                  <a:t>Label</a:t>
                </a:r>
                <a:r>
                  <a:rPr lang="en-AU" sz="4000">
                    <a:effectLst/>
                    <a:latin typeface="Arial" panose="020B0604020202020204" pitchFamily="34" charset="0"/>
                    <a:ea typeface="Calibri" panose="020F0502020204030204" pitchFamily="34" charset="0"/>
                  </a:rPr>
                  <a:t> both </a:t>
                </a:r>
                <a:r>
                  <a:rPr lang="en-AU" sz="4000" b="1">
                    <a:effectLst/>
                    <a:latin typeface="Arial" panose="020B0604020202020204" pitchFamily="34" charset="0"/>
                    <a:ea typeface="Calibri" panose="020F0502020204030204" pitchFamily="34" charset="0"/>
                  </a:rPr>
                  <a:t>fractions</a:t>
                </a:r>
                <a:r>
                  <a:rPr lang="en-AU" sz="4000">
                    <a:effectLst/>
                    <a:latin typeface="Arial" panose="020B0604020202020204" pitchFamily="34" charset="0"/>
                    <a:ea typeface="Calibri" panose="020F0502020204030204" pitchFamily="34" charset="0"/>
                  </a:rPr>
                  <a:t> in your drawing and explain why the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smtClean="0">
                            <a:latin typeface="Cambria Math" panose="02040503050406030204" pitchFamily="18" charset="0"/>
                          </a:rPr>
                          <m:t>𝟐</m:t>
                        </m:r>
                      </m:den>
                    </m:f>
                  </m:oMath>
                </a14:m>
                <a:r>
                  <a:rPr lang="en-AU" sz="4000">
                    <a:effectLst/>
                    <a:latin typeface="Arial" panose="020B0604020202020204" pitchFamily="34" charset="0"/>
                    <a:ea typeface="Calibri" panose="020F0502020204030204" pitchFamily="34" charset="0"/>
                  </a:rPr>
                  <a:t> is bigger.</a:t>
                </a:r>
                <a:endParaRPr lang="en-AU" sz="4000"/>
              </a:p>
            </p:txBody>
          </p:sp>
        </mc:Choice>
        <mc:Fallback xmlns="">
          <p:sp>
            <p:nvSpPr>
              <p:cNvPr id="6" name="TextBox 5">
                <a:extLst>
                  <a:ext uri="{FF2B5EF4-FFF2-40B4-BE49-F238E27FC236}">
                    <a16:creationId xmlns:a16="http://schemas.microsoft.com/office/drawing/2014/main" id="{53A9700D-72BB-59AD-DAD2-41B66B2F0E2F}"/>
                  </a:ext>
                </a:extLst>
              </p:cNvPr>
              <p:cNvSpPr txBox="1">
                <a:spLocks noRot="1" noChangeAspect="1" noMove="1" noResize="1" noEditPoints="1" noAdjustHandles="1" noChangeArrowheads="1" noChangeShapeType="1" noTextEdit="1"/>
              </p:cNvSpPr>
              <p:nvPr/>
            </p:nvSpPr>
            <p:spPr>
              <a:xfrm>
                <a:off x="620486" y="1806770"/>
                <a:ext cx="10503513" cy="3711401"/>
              </a:xfrm>
              <a:prstGeom prst="rect">
                <a:avLst/>
              </a:prstGeom>
              <a:blipFill>
                <a:blip r:embed="rId4"/>
                <a:stretch>
                  <a:fillRect t="-2956" b="-2299"/>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pic>
        <p:nvPicPr>
          <p:cNvPr id="14" name="Picture 13" descr="image of a clipboard with a pencil recording short answer responses">
            <a:extLst>
              <a:ext uri="{FF2B5EF4-FFF2-40B4-BE49-F238E27FC236}">
                <a16:creationId xmlns:a16="http://schemas.microsoft.com/office/drawing/2014/main" id="{7BB2949F-67D4-548C-6CCB-387B9E3F7EA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0963" y="1481775"/>
            <a:ext cx="11243037" cy="1679806"/>
          </a:xfrm>
        </p:spPr>
        <p:txBody>
          <a:bodyPr/>
          <a:lstStyle/>
          <a:p>
            <a:r>
              <a:rPr lang="en-US" sz="3200" dirty="0">
                <a:latin typeface="Arial"/>
                <a:cs typeface="Arial"/>
              </a:rPr>
              <a:t>Remy needed to solve </a:t>
            </a:r>
            <a:r>
              <a:rPr lang="en-US" sz="3200" b="1" dirty="0">
                <a:latin typeface="Arial"/>
                <a:cs typeface="Arial"/>
              </a:rPr>
              <a:t>5988 + 955.</a:t>
            </a:r>
          </a:p>
          <a:p>
            <a:r>
              <a:rPr lang="en-US" sz="3200" dirty="0">
                <a:latin typeface="Arial"/>
                <a:cs typeface="Arial"/>
              </a:rPr>
              <a:t>Here is how she worked it out.</a:t>
            </a:r>
          </a:p>
          <a:p>
            <a:pPr marL="457200" indent="-457200">
              <a:buFont typeface="Arial" panose="020B0604020202020204" pitchFamily="34" charset="0"/>
              <a:buChar char="•"/>
            </a:pPr>
            <a:r>
              <a:rPr lang="en-US" sz="3200" dirty="0">
                <a:latin typeface="Arial"/>
                <a:cs typeface="Arial"/>
              </a:rPr>
              <a:t>What</a:t>
            </a:r>
            <a:r>
              <a:rPr lang="en-US" sz="3200" b="1" dirty="0">
                <a:latin typeface="Arial"/>
                <a:cs typeface="Arial"/>
              </a:rPr>
              <a:t> strategy </a:t>
            </a:r>
            <a:r>
              <a:rPr lang="en-US" sz="3200" dirty="0">
                <a:latin typeface="Arial"/>
                <a:cs typeface="Arial"/>
              </a:rPr>
              <a:t>did she use?</a:t>
            </a:r>
          </a:p>
          <a:p>
            <a:pPr marL="457200" indent="-457200">
              <a:buFont typeface="Arial" panose="020B0604020202020204" pitchFamily="34" charset="0"/>
              <a:buChar char="•"/>
            </a:pPr>
            <a:r>
              <a:rPr lang="en-US" sz="3200" dirty="0">
                <a:latin typeface="Arial"/>
                <a:cs typeface="Arial"/>
              </a:rPr>
              <a:t>Was it the most </a:t>
            </a:r>
            <a:r>
              <a:rPr lang="en-US" sz="3200" b="1" dirty="0">
                <a:latin typeface="Arial"/>
                <a:cs typeface="Arial"/>
              </a:rPr>
              <a:t>efficient strategy?</a:t>
            </a:r>
          </a:p>
          <a:p>
            <a:pPr marL="457200" indent="-457200">
              <a:buFont typeface="Arial" panose="020B0604020202020204" pitchFamily="34" charset="0"/>
              <a:buChar char="•"/>
            </a:pPr>
            <a:r>
              <a:rPr lang="en-US" sz="3200" b="1" dirty="0">
                <a:latin typeface="Arial"/>
                <a:cs typeface="Arial"/>
              </a:rPr>
              <a:t>Explain </a:t>
            </a:r>
            <a:r>
              <a:rPr lang="en-US" sz="3200" dirty="0">
                <a:latin typeface="Arial"/>
                <a:cs typeface="Arial"/>
              </a:rPr>
              <a:t>your reasoning.</a:t>
            </a:r>
          </a:p>
        </p:txBody>
      </p:sp>
      <p:pic>
        <p:nvPicPr>
          <p:cNvPr id="4" name="Picture 3" descr="A whiteboard with the problem solving steps: 5988+955, 5990+953, 6000+943 = 9643.">
            <a:extLst>
              <a:ext uri="{FF2B5EF4-FFF2-40B4-BE49-F238E27FC236}">
                <a16:creationId xmlns:a16="http://schemas.microsoft.com/office/drawing/2014/main" id="{D09E0470-B02B-8000-1B89-E9118EBDDFBE}"/>
              </a:ext>
            </a:extLst>
          </p:cNvPr>
          <p:cNvPicPr>
            <a:picLocks noChangeAspect="1"/>
          </p:cNvPicPr>
          <p:nvPr/>
        </p:nvPicPr>
        <p:blipFill>
          <a:blip r:embed="rId4"/>
          <a:srcRect l="29710" t="29714" r="24503" b="25905"/>
          <a:stretch>
            <a:fillRect/>
          </a:stretch>
        </p:blipFill>
        <p:spPr>
          <a:xfrm>
            <a:off x="7301727" y="1732390"/>
            <a:ext cx="4764342" cy="3264975"/>
          </a:xfrm>
          <a:prstGeom prst="rect">
            <a:avLst/>
          </a:prstGeom>
        </p:spPr>
      </p:pic>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474481" y="2182212"/>
            <a:ext cx="11243037" cy="1959118"/>
          </a:xfrm>
        </p:spPr>
        <p:txBody>
          <a:bodyPr/>
          <a:lstStyle/>
          <a:p>
            <a:pPr algn="ctr"/>
            <a:r>
              <a:rPr lang="en-AU" sz="4000" dirty="0">
                <a:latin typeface="Arial"/>
                <a:cs typeface="Arial"/>
              </a:rPr>
              <a:t>Nana Julie has a playdough recipe that requires 1276 g of flour. </a:t>
            </a:r>
            <a:r>
              <a:rPr lang="en-AU" sz="4000" b="1" dirty="0">
                <a:latin typeface="Arial"/>
                <a:cs typeface="Arial"/>
              </a:rPr>
              <a:t>How many kilograms</a:t>
            </a:r>
            <a:r>
              <a:rPr lang="en-AU" sz="4000" dirty="0">
                <a:latin typeface="Arial"/>
                <a:cs typeface="Arial"/>
              </a:rPr>
              <a:t> of flour </a:t>
            </a:r>
            <a:r>
              <a:rPr lang="en-AU" sz="4000">
                <a:latin typeface="Arial"/>
                <a:cs typeface="Arial"/>
              </a:rPr>
              <a:t>is</a:t>
            </a:r>
            <a:r>
              <a:rPr lang="en-AU" sz="4000" dirty="0">
                <a:latin typeface="Arial"/>
                <a:cs typeface="Arial"/>
              </a:rPr>
              <a:t> in the playdough?</a:t>
            </a:r>
          </a:p>
          <a:p>
            <a:pPr algn="ctr"/>
            <a:br>
              <a:rPr lang="en-US" sz="4400" dirty="0">
                <a:latin typeface="Arial"/>
                <a:cs typeface="Arial"/>
              </a:rPr>
            </a:br>
            <a:endParaRPr lang="en-US" sz="4400" dirty="0">
              <a:solidFill>
                <a:srgbClr val="22272B"/>
              </a:solidFill>
            </a:endParaRPr>
          </a:p>
          <a:p>
            <a:endParaRPr lang="en-US" dirty="0">
              <a:latin typeface="Arial"/>
              <a:cs typeface="Arial"/>
            </a:endParaRPr>
          </a:p>
        </p:txBody>
      </p:sp>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955567" y="1636918"/>
            <a:ext cx="10280865" cy="2363582"/>
          </a:xfrm>
        </p:spPr>
        <p:txBody>
          <a:bodyPr vert="horz" lIns="0" tIns="0" rIns="0" bIns="0" rtlCol="0" anchor="t">
            <a:noAutofit/>
          </a:bodyPr>
          <a:lstStyle/>
          <a:p>
            <a:pPr algn="ctr"/>
            <a:r>
              <a:rPr lang="en-AU" sz="4400" dirty="0"/>
              <a:t>Emma </a:t>
            </a:r>
            <a:r>
              <a:rPr lang="en-AU" sz="4400" b="1" dirty="0"/>
              <a:t>started</a:t>
            </a:r>
            <a:r>
              <a:rPr lang="en-AU" sz="4400" dirty="0"/>
              <a:t> reading her book at </a:t>
            </a:r>
            <a:endParaRPr lang="en-AU" sz="4400"/>
          </a:p>
          <a:p>
            <a:pPr algn="ctr"/>
            <a:r>
              <a:rPr lang="en-AU" sz="4400" dirty="0"/>
              <a:t>3:17 pm and </a:t>
            </a:r>
            <a:r>
              <a:rPr lang="en-AU" sz="4400" b="1" dirty="0"/>
              <a:t>finished</a:t>
            </a:r>
            <a:r>
              <a:rPr lang="en-AU" sz="4400" dirty="0"/>
              <a:t> at 4:12 pm. </a:t>
            </a:r>
          </a:p>
          <a:p>
            <a:pPr algn="ctr"/>
            <a:endParaRPr lang="en-AU" sz="4400" dirty="0"/>
          </a:p>
          <a:p>
            <a:pPr algn="ctr"/>
            <a:r>
              <a:rPr lang="en-AU" sz="4400" b="1" dirty="0"/>
              <a:t>How much time </a:t>
            </a:r>
            <a:r>
              <a:rPr lang="en-AU" sz="4400" dirty="0"/>
              <a:t>did she spend reading? </a:t>
            </a:r>
          </a:p>
        </p:txBody>
      </p:sp>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fraction word problems 1 </a:t>
            </a:r>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C3AF93-3E5A-EE18-A6C6-70DDF5076610}"/>
                  </a:ext>
                </a:extLst>
              </p:cNvPr>
              <p:cNvSpPr txBox="1"/>
              <p:nvPr/>
            </p:nvSpPr>
            <p:spPr>
              <a:xfrm>
                <a:off x="331327" y="1461740"/>
                <a:ext cx="11479535" cy="681936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Lena and Marcus are baking cookies and need to add </a:t>
                </a:r>
                <a:r>
                  <a:rPr lang="en-US" sz="4000" b="1" dirty="0">
                    <a:cs typeface="Arial"/>
                  </a:rPr>
                  <a:t>1 cup </a:t>
                </a:r>
                <a:r>
                  <a:rPr lang="en-US" sz="4000" dirty="0">
                    <a:cs typeface="Arial"/>
                  </a:rPr>
                  <a:t>of sugar to their cookie mixture. Lena first pours </a:t>
                </a:r>
                <a14:m>
                  <m:oMath xmlns:m="http://schemas.openxmlformats.org/officeDocument/2006/math">
                    <m:f>
                      <m:fPr>
                        <m:ctrlPr>
                          <a:rPr lang="en-US" sz="4000" b="1" i="1" smtClean="0">
                            <a:latin typeface="Cambria Math" panose="02040503050406030204" pitchFamily="18" charset="0"/>
                            <a:cs typeface="Arial"/>
                          </a:rPr>
                        </m:ctrlPr>
                      </m:fPr>
                      <m:num>
                        <m:r>
                          <a:rPr lang="en-AU" sz="4000" b="1" i="1" smtClean="0">
                            <a:latin typeface="Cambria Math" panose="02040503050406030204" pitchFamily="18" charset="0"/>
                            <a:cs typeface="Arial"/>
                          </a:rPr>
                          <m:t>𝟑</m:t>
                        </m:r>
                      </m:num>
                      <m:den>
                        <m:r>
                          <a:rPr lang="en-AU" sz="4000" b="1" i="1" smtClean="0">
                            <a:latin typeface="Cambria Math" panose="02040503050406030204" pitchFamily="18" charset="0"/>
                            <a:cs typeface="Arial"/>
                          </a:rPr>
                          <m:t>𝟖</m:t>
                        </m:r>
                      </m:den>
                    </m:f>
                  </m:oMath>
                </a14:m>
                <a:r>
                  <a:rPr lang="en-US" sz="4000" b="1" dirty="0">
                    <a:cs typeface="Arial"/>
                  </a:rPr>
                  <a:t> of a cup </a:t>
                </a:r>
                <a:r>
                  <a:rPr lang="en-US" sz="4000" dirty="0">
                    <a:cs typeface="Arial"/>
                  </a:rPr>
                  <a:t>of sugar into the mixture. Marcus </a:t>
                </a:r>
                <a:r>
                  <a:rPr lang="en-US" sz="4000" b="1" dirty="0">
                    <a:cs typeface="Arial"/>
                  </a:rPr>
                  <a:t>adds</a:t>
                </a:r>
                <a:r>
                  <a:rPr lang="en-US" sz="4000" dirty="0">
                    <a:cs typeface="Arial"/>
                  </a:rPr>
                  <a:t> </a:t>
                </a:r>
                <a:r>
                  <a:rPr lang="en-US" sz="4000" b="1" dirty="0">
                    <a:cs typeface="Arial"/>
                  </a:rPr>
                  <a:t>another </a:t>
                </a:r>
                <a14:m>
                  <m:oMath xmlns:m="http://schemas.openxmlformats.org/officeDocument/2006/math">
                    <m:f>
                      <m:fPr>
                        <m:ctrlPr>
                          <a:rPr lang="en-US" sz="4000" b="1" i="1" smtClean="0">
                            <a:latin typeface="Cambria Math" panose="02040503050406030204" pitchFamily="18" charset="0"/>
                            <a:cs typeface="Arial"/>
                          </a:rPr>
                        </m:ctrlPr>
                      </m:fPr>
                      <m:num>
                        <m:r>
                          <a:rPr lang="en-AU" sz="4000" b="1" i="1" smtClean="0">
                            <a:latin typeface="Cambria Math" panose="02040503050406030204" pitchFamily="18" charset="0"/>
                            <a:cs typeface="Arial"/>
                          </a:rPr>
                          <m:t>𝟏</m:t>
                        </m:r>
                      </m:num>
                      <m:den>
                        <m:r>
                          <a:rPr lang="en-AU" sz="4000" b="1" i="1" smtClean="0">
                            <a:latin typeface="Cambria Math" panose="02040503050406030204" pitchFamily="18" charset="0"/>
                            <a:cs typeface="Arial"/>
                          </a:rPr>
                          <m:t>𝟒</m:t>
                        </m:r>
                      </m:den>
                    </m:f>
                  </m:oMath>
                </a14:m>
                <a:r>
                  <a:rPr lang="en-US" sz="4000" b="1" dirty="0">
                    <a:cs typeface="Arial"/>
                  </a:rPr>
                  <a:t> cup </a:t>
                </a:r>
                <a:r>
                  <a:rPr lang="en-US" sz="4000" dirty="0">
                    <a:cs typeface="Arial"/>
                  </a:rPr>
                  <a:t>of sugar.	</a:t>
                </a:r>
                <a:br>
                  <a:rPr lang="en-US" sz="4000" dirty="0">
                    <a:cs typeface="Arial"/>
                  </a:rPr>
                </a:br>
                <a:br>
                  <a:rPr lang="en-US" sz="4000" dirty="0">
                    <a:cs typeface="Arial"/>
                  </a:rPr>
                </a:br>
                <a:br>
                  <a:rPr lang="en-US" sz="3200" dirty="0">
                    <a:cs typeface="Arial"/>
                  </a:rPr>
                </a:br>
                <a:endParaRPr lang="en-US" sz="3200" dirty="0">
                  <a:cs typeface="Arial"/>
                </a:endParaRPr>
              </a:p>
            </p:txBody>
          </p:sp>
        </mc:Choice>
        <mc:Fallback xmlns="">
          <p:sp>
            <p:nvSpPr>
              <p:cNvPr id="4" name="TextBox 3">
                <a:extLst>
                  <a:ext uri="{FF2B5EF4-FFF2-40B4-BE49-F238E27FC236}">
                    <a16:creationId xmlns:a16="http://schemas.microsoft.com/office/drawing/2014/main" id="{1EC3AF93-3E5A-EE18-A6C6-70DDF5076610}"/>
                  </a:ext>
                </a:extLst>
              </p:cNvPr>
              <p:cNvSpPr txBox="1">
                <a:spLocks noRot="1" noChangeAspect="1" noMove="1" noResize="1" noEditPoints="1" noAdjustHandles="1" noChangeArrowheads="1" noChangeShapeType="1" noTextEdit="1"/>
              </p:cNvSpPr>
              <p:nvPr/>
            </p:nvSpPr>
            <p:spPr>
              <a:xfrm>
                <a:off x="331327" y="1461740"/>
                <a:ext cx="11479535" cy="6819367"/>
              </a:xfrm>
              <a:prstGeom prst="rect">
                <a:avLst/>
              </a:prstGeom>
              <a:blipFill>
                <a:blip r:embed="rId4"/>
                <a:stretch>
                  <a:fillRect l="-1168" r="-2390"/>
                </a:stretch>
              </a:blipFill>
            </p:spPr>
            <p:txBody>
              <a:bodyPr/>
              <a:lstStyle/>
              <a:p>
                <a:r>
                  <a:rPr lang="en-AU">
                    <a:noFill/>
                  </a:rPr>
                  <a:t> </a:t>
                </a:r>
              </a:p>
            </p:txBody>
          </p:sp>
        </mc:Fallback>
      </mc:AlternateContent>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360000" y="1146271"/>
                <a:ext cx="11483999" cy="2703738"/>
              </a:xfrm>
            </p:spPr>
            <p:txBody>
              <a:bodyPr vert="horz" lIns="0" tIns="0" rIns="0" bIns="0" rtlCol="0" anchor="t">
                <a:noAutofit/>
              </a:bodyPr>
              <a:lstStyle/>
              <a:p>
                <a:pPr lvl="0" algn="ctr"/>
                <a:r>
                  <a:rPr lang="en-AU" sz="3200"/>
                  <a:t>Shannen and Jenni were baking pies for a school fundraiser. In the morning, Shannen baked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𝟐</m:t>
                        </m:r>
                      </m:num>
                      <m:den>
                        <m:r>
                          <a:rPr lang="en-AU" sz="3600" b="1" i="1">
                            <a:latin typeface="Cambria Math" panose="02040503050406030204" pitchFamily="18" charset="0"/>
                          </a:rPr>
                          <m:t>𝟑</m:t>
                        </m:r>
                      </m:den>
                    </m:f>
                  </m:oMath>
                </a14:m>
                <a:r>
                  <a:rPr lang="en-AU" sz="3600" b="1"/>
                  <a:t> </a:t>
                </a:r>
                <a:r>
                  <a:rPr lang="en-AU" sz="3200"/>
                  <a:t>of the pies. In the afternoon, Jenni baked another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𝟏</m:t>
                        </m:r>
                      </m:num>
                      <m:den>
                        <m:r>
                          <a:rPr lang="en-AU" sz="3600" b="1" i="1">
                            <a:latin typeface="Cambria Math" panose="02040503050406030204" pitchFamily="18" charset="0"/>
                          </a:rPr>
                          <m:t>𝟔</m:t>
                        </m:r>
                      </m:den>
                    </m:f>
                  </m:oMath>
                </a14:m>
                <a:r>
                  <a:rPr lang="en-AU" sz="3600" b="1"/>
                  <a:t>  </a:t>
                </a:r>
                <a:r>
                  <a:rPr lang="en-AU" sz="3200"/>
                  <a:t>of the pies.</a:t>
                </a:r>
              </a:p>
              <a:p>
                <a:pPr lvl="0" algn="ctr"/>
                <a:r>
                  <a:rPr lang="en-AU" sz="3200" b="1"/>
                  <a:t>Together</a:t>
                </a:r>
                <a:r>
                  <a:rPr lang="en-AU" sz="3200"/>
                  <a:t> they baked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𝟓</m:t>
                        </m:r>
                      </m:num>
                      <m:den>
                        <m:r>
                          <a:rPr lang="en-AU" sz="3600" b="1" i="1">
                            <a:latin typeface="Cambria Math" panose="02040503050406030204" pitchFamily="18" charset="0"/>
                          </a:rPr>
                          <m:t>𝟔</m:t>
                        </m:r>
                      </m:den>
                    </m:f>
                  </m:oMath>
                </a14:m>
                <a:r>
                  <a:rPr lang="en-AU" sz="3600" b="1">
                    <a:latin typeface="+mj-lt"/>
                  </a:rPr>
                  <a:t> </a:t>
                </a:r>
                <a:r>
                  <a:rPr lang="en-AU" sz="3200"/>
                  <a:t>of the </a:t>
                </a:r>
                <a:r>
                  <a:rPr lang="en-AU" sz="3200" b="1"/>
                  <a:t>total number </a:t>
                </a:r>
                <a:r>
                  <a:rPr lang="en-AU" sz="3200"/>
                  <a:t>of pies needed.</a:t>
                </a:r>
              </a:p>
            </p:txBody>
          </p:sp>
        </mc:Choice>
        <mc:Fallback xmlns="">
          <p:sp>
            <p:nvSpPr>
              <p:cNvPr id="7" name="Text Placeholder 6">
                <a:extLst>
                  <a:ext uri="{FF2B5EF4-FFF2-40B4-BE49-F238E27FC236}">
                    <a16:creationId xmlns:a16="http://schemas.microsoft.com/office/drawing/2014/main" id="{A26C78AF-8B76-8BE5-6FD1-C3122BE06605}"/>
                  </a:ext>
                </a:extLst>
              </p:cNvPr>
              <p:cNvSpPr>
                <a:spLocks noGrp="1" noRot="1" noChangeAspect="1" noMove="1" noResize="1" noEditPoints="1" noAdjustHandles="1" noChangeArrowheads="1" noChangeShapeType="1" noTextEdit="1"/>
              </p:cNvSpPr>
              <p:nvPr>
                <p:ph type="body" sz="quarter" idx="22"/>
              </p:nvPr>
            </p:nvSpPr>
            <p:spPr>
              <a:xfrm>
                <a:off x="360000" y="1146271"/>
                <a:ext cx="11483999" cy="2703738"/>
              </a:xfrm>
              <a:blipFill>
                <a:blip r:embed="rId4"/>
                <a:stretch>
                  <a:fillRect l="-1433" r="-2389" b="-62387"/>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3467669833"/>
              </p:ext>
            </p:extLst>
          </p:nvPr>
        </p:nvGraphicFramePr>
        <p:xfrm>
          <a:off x="2541546" y="5711729"/>
          <a:ext cx="6879946" cy="741680"/>
        </p:xfrm>
        <a:graphic>
          <a:graphicData uri="http://schemas.openxmlformats.org/drawingml/2006/table">
            <a:tbl>
              <a:tblPr firstRow="1" bandRow="1">
                <a:tableStyleId>{5A111915-BE36-4E01-A7E5-04B1672EAD32}</a:tableStyleId>
              </a:tblPr>
              <a:tblGrid>
                <a:gridCol w="334140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479176" y="1761585"/>
                <a:ext cx="11004686" cy="1218151"/>
              </a:xfrm>
            </p:spPr>
            <p:txBody>
              <a:bodyPr/>
              <a:lstStyle/>
              <a:p>
                <a:pPr algn="ctr"/>
                <a:r>
                  <a:rPr lang="en-AU" sz="3600" dirty="0">
                    <a:latin typeface="Arial"/>
                    <a:cs typeface="Arial"/>
                  </a:rPr>
                  <a:t>Taj painted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𝟒</m:t>
                        </m:r>
                      </m:den>
                    </m:f>
                    <m:r>
                      <a:rPr lang="en-AU" sz="3600" b="1" i="1">
                        <a:latin typeface="Cambria Math" panose="02040503050406030204" pitchFamily="18" charset="0"/>
                      </a:rPr>
                      <m:t> </m:t>
                    </m:r>
                  </m:oMath>
                </a14:m>
                <a:r>
                  <a:rPr lang="en-AU" sz="3600" dirty="0">
                    <a:latin typeface="Arial"/>
                    <a:cs typeface="Arial"/>
                  </a:rPr>
                  <a:t>of a wall and Idris painted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𝟐</m:t>
                        </m:r>
                      </m:den>
                    </m:f>
                  </m:oMath>
                </a14:m>
                <a:r>
                  <a:rPr lang="en-AU" sz="3600" dirty="0">
                    <a:latin typeface="Arial"/>
                    <a:cs typeface="Arial"/>
                  </a:rPr>
                  <a:t> of a different wall. Taj said he had painted more than Idris. </a:t>
                </a:r>
              </a:p>
              <a:p>
                <a:pPr algn="ctr"/>
                <a:r>
                  <a:rPr lang="en-AU" sz="3600" b="1" dirty="0">
                    <a:latin typeface="Arial"/>
                    <a:cs typeface="Arial"/>
                  </a:rPr>
                  <a:t>Explain how</a:t>
                </a:r>
                <a:r>
                  <a:rPr lang="en-AU" sz="3600" dirty="0">
                    <a:latin typeface="Arial"/>
                    <a:cs typeface="Arial"/>
                  </a:rPr>
                  <a:t> could he be </a:t>
                </a:r>
                <a:r>
                  <a:rPr lang="en-AU" sz="3600" b="1" dirty="0">
                    <a:latin typeface="Arial"/>
                    <a:cs typeface="Arial"/>
                  </a:rPr>
                  <a:t>correct</a:t>
                </a:r>
                <a:r>
                  <a:rPr lang="en-AU" sz="3600" dirty="0">
                    <a:latin typeface="Arial"/>
                    <a:cs typeface="Arial"/>
                  </a:rPr>
                  <a:t>?</a:t>
                </a:r>
                <a:endParaRPr lang="en-US" sz="3600" dirty="0">
                  <a:latin typeface="Arial"/>
                  <a:cs typeface="Arial"/>
                </a:endParaRPr>
              </a:p>
            </p:txBody>
          </p:sp>
        </mc:Choice>
        <mc:Fallback xmlns="">
          <p:sp>
            <p:nvSpPr>
              <p:cNvPr id="11" name="Picture Placeholder 10">
                <a:extLst>
                  <a:ext uri="{FF2B5EF4-FFF2-40B4-BE49-F238E27FC236}">
                    <a16:creationId xmlns:a16="http://schemas.microsoft.com/office/drawing/2014/main" id="{777805AA-3000-4F7B-AF76-0FB0E2B466BE}"/>
                  </a:ext>
                </a:extLst>
              </p:cNvPr>
              <p:cNvSpPr>
                <a:spLocks noGrp="1" noRot="1" noChangeAspect="1" noMove="1" noResize="1" noEditPoints="1" noAdjustHandles="1" noChangeArrowheads="1" noChangeShapeType="1" noTextEdit="1"/>
              </p:cNvSpPr>
              <p:nvPr>
                <p:ph type="pic" sz="quarter" idx="21"/>
              </p:nvPr>
            </p:nvSpPr>
            <p:spPr>
              <a:xfrm>
                <a:off x="479176" y="1761585"/>
                <a:ext cx="11004686" cy="1218151"/>
              </a:xfrm>
              <a:blipFill>
                <a:blip r:embed="rId4"/>
                <a:stretch>
                  <a:fillRect l="-1717" r="-2659" b="-15900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570E2CEF-1976-D3F3-D58A-96FC3C16A338}"/>
              </a:ext>
            </a:extLst>
          </p:cNvPr>
          <p:cNvSpPr txBox="1"/>
          <p:nvPr/>
        </p:nvSpPr>
        <p:spPr>
          <a:xfrm>
            <a:off x="360000" y="1659285"/>
            <a:ext cx="7573859" cy="5016758"/>
          </a:xfrm>
          <a:prstGeom prst="rect">
            <a:avLst/>
          </a:prstGeom>
          <a:noFill/>
        </p:spPr>
        <p:txBody>
          <a:bodyPr wrap="square">
            <a:spAutoFit/>
          </a:bodyPr>
          <a:lstStyle/>
          <a:p>
            <a:r>
              <a:rPr lang="en-AU" sz="3200" dirty="0"/>
              <a:t>Remy needed to solve 4009 – 3997</a:t>
            </a:r>
          </a:p>
          <a:p>
            <a:endParaRPr lang="en-AU" sz="3200" dirty="0"/>
          </a:p>
          <a:p>
            <a:r>
              <a:rPr lang="en-AU" sz="3200" dirty="0"/>
              <a:t>Here is how she worked it out.</a:t>
            </a:r>
          </a:p>
          <a:p>
            <a:endParaRPr lang="en-AU" sz="3200" dirty="0"/>
          </a:p>
          <a:p>
            <a:pPr marL="571500" indent="-571500">
              <a:buFont typeface="Arial" panose="020B0604020202020204" pitchFamily="34" charset="0"/>
              <a:buChar char="•"/>
            </a:pPr>
            <a:r>
              <a:rPr lang="en-AU" sz="3200" dirty="0"/>
              <a:t>What </a:t>
            </a:r>
            <a:r>
              <a:rPr lang="en-AU" sz="3200" b="1" dirty="0"/>
              <a:t>strategy</a:t>
            </a:r>
            <a:r>
              <a:rPr lang="en-AU" sz="3200" dirty="0"/>
              <a:t> did she use?</a:t>
            </a:r>
          </a:p>
          <a:p>
            <a:endParaRPr lang="en-AU" sz="3200" dirty="0"/>
          </a:p>
          <a:p>
            <a:pPr marL="571500" indent="-571500">
              <a:buFont typeface="Arial" panose="020B0604020202020204" pitchFamily="34" charset="0"/>
              <a:buChar char="•"/>
            </a:pPr>
            <a:r>
              <a:rPr lang="en-AU" sz="3200" dirty="0"/>
              <a:t>Was it the most </a:t>
            </a:r>
            <a:r>
              <a:rPr lang="en-AU" sz="3200" b="1" dirty="0"/>
              <a:t>efficient strategy</a:t>
            </a:r>
            <a:r>
              <a:rPr lang="en-AU" sz="3200" dirty="0"/>
              <a:t>?</a:t>
            </a:r>
          </a:p>
          <a:p>
            <a:endParaRPr lang="en-AU" sz="3200" dirty="0"/>
          </a:p>
          <a:p>
            <a:pPr marL="571500" indent="-571500">
              <a:buFont typeface="Arial" panose="020B0604020202020204" pitchFamily="34" charset="0"/>
              <a:buChar char="•"/>
            </a:pPr>
            <a:r>
              <a:rPr lang="en-US" sz="3200" b="1" dirty="0">
                <a:cs typeface="Arial"/>
              </a:rPr>
              <a:t>Explain </a:t>
            </a:r>
            <a:r>
              <a:rPr lang="en-US" sz="3200" dirty="0">
                <a:cs typeface="Arial"/>
              </a:rPr>
              <a:t>your reasoning.</a:t>
            </a:r>
          </a:p>
          <a:p>
            <a:endParaRPr lang="en-AU" sz="3200" dirty="0"/>
          </a:p>
        </p:txBody>
      </p:sp>
      <p:pic>
        <p:nvPicPr>
          <p:cNvPr id="4" name="Picture 3" descr="A whiteboard with 4009 - 3997 and 4012 - 4000 +12">
            <a:extLst>
              <a:ext uri="{FF2B5EF4-FFF2-40B4-BE49-F238E27FC236}">
                <a16:creationId xmlns:a16="http://schemas.microsoft.com/office/drawing/2014/main" id="{9D4BC537-08E5-76A2-3EED-379155AC0EEC}"/>
              </a:ext>
            </a:extLst>
          </p:cNvPr>
          <p:cNvPicPr>
            <a:picLocks noChangeAspect="1"/>
          </p:cNvPicPr>
          <p:nvPr/>
        </p:nvPicPr>
        <p:blipFill>
          <a:blip r:embed="rId4"/>
          <a:srcRect l="29980" t="30095" r="24638" b="25337"/>
          <a:stretch>
            <a:fillRect/>
          </a:stretch>
        </p:blipFill>
        <p:spPr>
          <a:xfrm>
            <a:off x="7543793" y="1937907"/>
            <a:ext cx="4402183" cy="3056399"/>
          </a:xfrm>
          <a:prstGeom prst="rect">
            <a:avLst/>
          </a:prstGeom>
        </p:spPr>
      </p:pic>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E96B1C2A-CB1F-4695-0B57-ACEA3F17DD57}"/>
              </a:ext>
            </a:extLst>
          </p:cNvPr>
          <p:cNvGraphicFramePr>
            <a:graphicFrameLocks noGrp="1"/>
          </p:cNvGraphicFramePr>
          <p:nvPr>
            <p:extLst>
              <p:ext uri="{D42A27DB-BD31-4B8C-83A1-F6EECF244321}">
                <p14:modId xmlns:p14="http://schemas.microsoft.com/office/powerpoint/2010/main" val="3958224272"/>
              </p:ext>
            </p:extLst>
          </p:nvPr>
        </p:nvGraphicFramePr>
        <p:xfrm>
          <a:off x="1358717" y="1184223"/>
          <a:ext cx="9245600" cy="3159177"/>
        </p:xfrm>
        <a:graphic>
          <a:graphicData uri="http://schemas.openxmlformats.org/drawingml/2006/table">
            <a:tbl>
              <a:tblPr firstRow="1" firstCol="1">
                <a:tableStyleId>{5C22544A-7EE6-4342-B048-85BDC9FD1C3A}</a:tableStyleId>
              </a:tblPr>
              <a:tblGrid>
                <a:gridCol w="2311400">
                  <a:extLst>
                    <a:ext uri="{9D8B030D-6E8A-4147-A177-3AD203B41FA5}">
                      <a16:colId xmlns:a16="http://schemas.microsoft.com/office/drawing/2014/main" val="2805205134"/>
                    </a:ext>
                  </a:extLst>
                </a:gridCol>
                <a:gridCol w="2311400">
                  <a:extLst>
                    <a:ext uri="{9D8B030D-6E8A-4147-A177-3AD203B41FA5}">
                      <a16:colId xmlns:a16="http://schemas.microsoft.com/office/drawing/2014/main" val="3647663920"/>
                    </a:ext>
                  </a:extLst>
                </a:gridCol>
                <a:gridCol w="2311400">
                  <a:extLst>
                    <a:ext uri="{9D8B030D-6E8A-4147-A177-3AD203B41FA5}">
                      <a16:colId xmlns:a16="http://schemas.microsoft.com/office/drawing/2014/main" val="3250148891"/>
                    </a:ext>
                  </a:extLst>
                </a:gridCol>
                <a:gridCol w="2311400">
                  <a:extLst>
                    <a:ext uri="{9D8B030D-6E8A-4147-A177-3AD203B41FA5}">
                      <a16:colId xmlns:a16="http://schemas.microsoft.com/office/drawing/2014/main" val="3935633736"/>
                    </a:ext>
                  </a:extLst>
                </a:gridCol>
              </a:tblGrid>
              <a:tr h="816985">
                <a:tc>
                  <a:txBody>
                    <a:bodyPr/>
                    <a:lstStyle/>
                    <a:p>
                      <a:pPr>
                        <a:lnSpc>
                          <a:spcPct val="150000"/>
                        </a:lnSpc>
                        <a:spcBef>
                          <a:spcPts val="1200"/>
                        </a:spcBef>
                        <a:spcAft>
                          <a:spcPts val="600"/>
                        </a:spcAft>
                        <a:buNone/>
                      </a:pPr>
                      <a:r>
                        <a:rPr lang="en-AU" sz="2400">
                          <a:effectLst/>
                        </a:rPr>
                        <a:t>Rubbish produced per person</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Grams (g)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Kilograms (kg)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Tonnes (t)</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59298779"/>
                  </a:ext>
                </a:extLst>
              </a:tr>
              <a:tr h="878946">
                <a:tc>
                  <a:txBody>
                    <a:bodyPr/>
                    <a:lstStyle/>
                    <a:p>
                      <a:pPr>
                        <a:lnSpc>
                          <a:spcPct val="150000"/>
                        </a:lnSpc>
                        <a:spcBef>
                          <a:spcPts val="1200"/>
                        </a:spcBef>
                        <a:spcAft>
                          <a:spcPts val="600"/>
                        </a:spcAft>
                        <a:buNone/>
                      </a:pPr>
                      <a:r>
                        <a:rPr lang="en-AU" sz="2400">
                          <a:effectLst/>
                        </a:rPr>
                        <a:t>Per week</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10 000 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51199196"/>
                  </a:ext>
                </a:extLst>
              </a:tr>
              <a:tr h="702129">
                <a:tc>
                  <a:txBody>
                    <a:bodyPr/>
                    <a:lstStyle/>
                    <a:p>
                      <a:pPr>
                        <a:lnSpc>
                          <a:spcPct val="150000"/>
                        </a:lnSpc>
                        <a:spcBef>
                          <a:spcPts val="1200"/>
                        </a:spcBef>
                        <a:spcAft>
                          <a:spcPts val="600"/>
                        </a:spcAft>
                        <a:buNone/>
                      </a:pPr>
                      <a:r>
                        <a:rPr lang="en-AU" sz="2400">
                          <a:effectLst/>
                        </a:rPr>
                        <a:t>Per year</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520 kg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08169409"/>
                  </a:ext>
                </a:extLst>
              </a:tr>
            </a:tbl>
          </a:graphicData>
        </a:graphic>
      </p:graphicFrame>
      <p:sp>
        <p:nvSpPr>
          <p:cNvPr id="6" name="TextBox 5">
            <a:extLst>
              <a:ext uri="{FF2B5EF4-FFF2-40B4-BE49-F238E27FC236}">
                <a16:creationId xmlns:a16="http://schemas.microsoft.com/office/drawing/2014/main" id="{AE615570-074E-9A7B-5E18-872F258B3B9C}"/>
              </a:ext>
            </a:extLst>
          </p:cNvPr>
          <p:cNvSpPr txBox="1"/>
          <p:nvPr/>
        </p:nvSpPr>
        <p:spPr>
          <a:xfrm>
            <a:off x="1176574" y="5238999"/>
            <a:ext cx="9609887" cy="509065"/>
          </a:xfrm>
          <a:prstGeom prst="rect">
            <a:avLst/>
          </a:prstGeom>
          <a:noFill/>
        </p:spPr>
        <p:txBody>
          <a:bodyPr wrap="square" lIns="0" tIns="0" rIns="0" bIns="0" rtlCol="0">
            <a:noAutofit/>
          </a:bodyPr>
          <a:lstStyle/>
          <a:p>
            <a:pPr algn="l"/>
            <a:r>
              <a:rPr lang="en-AU" sz="3600"/>
              <a:t>Draw the table and fill in the missing </a:t>
            </a:r>
            <a:r>
              <a:rPr lang="en-AU" sz="3600" b="1"/>
              <a:t>grams, kilograms and tonnes.</a:t>
            </a:r>
          </a:p>
        </p:txBody>
      </p:sp>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(6)</a:t>
            </a:r>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green parallelogram ">
            <a:extLst>
              <a:ext uri="{FF2B5EF4-FFF2-40B4-BE49-F238E27FC236}">
                <a16:creationId xmlns:a16="http://schemas.microsoft.com/office/drawing/2014/main" id="{F9964BDB-42DC-5DD2-D991-739B5ED00211}"/>
              </a:ext>
            </a:extLst>
          </p:cNvPr>
          <p:cNvPicPr>
            <a:picLocks noChangeAspect="1"/>
          </p:cNvPicPr>
          <p:nvPr/>
        </p:nvPicPr>
        <p:blipFill>
          <a:blip r:embed="rId4"/>
          <a:stretch>
            <a:fillRect/>
          </a:stretch>
        </p:blipFill>
        <p:spPr>
          <a:xfrm>
            <a:off x="3705212" y="996878"/>
            <a:ext cx="4781576" cy="2468826"/>
          </a:xfrm>
          <a:prstGeom prst="rect">
            <a:avLst/>
          </a:prstGeom>
        </p:spPr>
      </p:pic>
      <p:sp>
        <p:nvSpPr>
          <p:cNvPr id="9" name="TextBox 8">
            <a:extLst>
              <a:ext uri="{FF2B5EF4-FFF2-40B4-BE49-F238E27FC236}">
                <a16:creationId xmlns:a16="http://schemas.microsoft.com/office/drawing/2014/main" id="{32A4B85D-19F4-0C82-5E39-06F56B2BB8E0}"/>
              </a:ext>
            </a:extLst>
          </p:cNvPr>
          <p:cNvSpPr txBox="1"/>
          <p:nvPr/>
        </p:nvSpPr>
        <p:spPr>
          <a:xfrm>
            <a:off x="4816928" y="3410024"/>
            <a:ext cx="2967731" cy="293914"/>
          </a:xfrm>
          <a:prstGeom prst="rect">
            <a:avLst/>
          </a:prstGeom>
          <a:noFill/>
        </p:spPr>
        <p:txBody>
          <a:bodyPr wrap="square" lIns="0" tIns="0" rIns="0" bIns="0" rtlCol="0">
            <a:noAutofit/>
          </a:bodyPr>
          <a:lstStyle/>
          <a:p>
            <a:pPr algn="l"/>
            <a:r>
              <a:rPr lang="en-AU" sz="3200" dirty="0"/>
              <a:t>base: 44 cm</a:t>
            </a:r>
          </a:p>
        </p:txBody>
      </p:sp>
      <p:sp>
        <p:nvSpPr>
          <p:cNvPr id="10" name="TextBox 9">
            <a:extLst>
              <a:ext uri="{FF2B5EF4-FFF2-40B4-BE49-F238E27FC236}">
                <a16:creationId xmlns:a16="http://schemas.microsoft.com/office/drawing/2014/main" id="{A6A9D2A6-3DA1-ED7C-030E-510E09137255}"/>
              </a:ext>
            </a:extLst>
          </p:cNvPr>
          <p:cNvSpPr txBox="1"/>
          <p:nvPr/>
        </p:nvSpPr>
        <p:spPr>
          <a:xfrm>
            <a:off x="8486788" y="1697453"/>
            <a:ext cx="2967731" cy="293914"/>
          </a:xfrm>
          <a:prstGeom prst="rect">
            <a:avLst/>
          </a:prstGeom>
          <a:noFill/>
        </p:spPr>
        <p:txBody>
          <a:bodyPr wrap="square" lIns="0" tIns="0" rIns="0" bIns="0" rtlCol="0">
            <a:noAutofit/>
          </a:bodyPr>
          <a:lstStyle/>
          <a:p>
            <a:pPr algn="l"/>
            <a:r>
              <a:rPr lang="en-AU" sz="3200" dirty="0"/>
              <a:t>height: </a:t>
            </a:r>
          </a:p>
          <a:p>
            <a:pPr algn="l"/>
            <a:r>
              <a:rPr lang="en-AU" sz="3200" dirty="0"/>
              <a:t>36 cm</a:t>
            </a:r>
          </a:p>
        </p:txBody>
      </p:sp>
      <p:sp>
        <p:nvSpPr>
          <p:cNvPr id="5" name="TextBox 4">
            <a:extLst>
              <a:ext uri="{FF2B5EF4-FFF2-40B4-BE49-F238E27FC236}">
                <a16:creationId xmlns:a16="http://schemas.microsoft.com/office/drawing/2014/main" id="{BF07190D-DC20-D4DF-30F3-47692900D53B}"/>
              </a:ext>
            </a:extLst>
          </p:cNvPr>
          <p:cNvSpPr txBox="1"/>
          <p:nvPr/>
        </p:nvSpPr>
        <p:spPr>
          <a:xfrm>
            <a:off x="511200" y="4125891"/>
            <a:ext cx="10972800" cy="3429000"/>
          </a:xfrm>
          <a:prstGeom prst="rect">
            <a:avLst/>
          </a:prstGeom>
          <a:noFill/>
        </p:spPr>
        <p:txBody>
          <a:bodyPr wrap="square" lIns="0" tIns="0" rIns="0" bIns="0" rtlCol="0">
            <a:noAutofit/>
          </a:bodyPr>
          <a:lstStyle/>
          <a:p>
            <a:pPr algn="ctr"/>
            <a:r>
              <a:rPr lang="en-AU" sz="4000" dirty="0"/>
              <a:t>What is the </a:t>
            </a:r>
            <a:r>
              <a:rPr lang="en-AU" sz="4000" b="1" dirty="0"/>
              <a:t>area</a:t>
            </a:r>
            <a:r>
              <a:rPr lang="en-AU" sz="4000" dirty="0"/>
              <a:t> of this </a:t>
            </a:r>
            <a:r>
              <a:rPr lang="en-AU" sz="4000" b="1" dirty="0"/>
              <a:t>parallelogram</a:t>
            </a:r>
            <a:r>
              <a:rPr lang="en-AU" sz="4000" dirty="0"/>
              <a:t>?</a:t>
            </a:r>
          </a:p>
          <a:p>
            <a:pPr algn="ctr"/>
            <a:endParaRPr lang="en-AU" sz="4000" dirty="0"/>
          </a:p>
          <a:p>
            <a:pPr algn="ctr"/>
            <a:r>
              <a:rPr lang="en-AU" sz="4000" b="1" dirty="0"/>
              <a:t>Record</a:t>
            </a:r>
            <a:r>
              <a:rPr lang="en-AU" sz="4000" dirty="0"/>
              <a:t> your solution</a:t>
            </a:r>
            <a:r>
              <a:rPr lang="en-AU" sz="4000"/>
              <a:t>.</a:t>
            </a:r>
            <a:endParaRPr lang="en-AU" sz="4000" dirty="0"/>
          </a:p>
        </p:txBody>
      </p:sp>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fraction word problems 2</a:t>
            </a: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AE6BCB-823B-77E4-B1A9-55405F592F0E}"/>
                  </a:ext>
                </a:extLst>
              </p:cNvPr>
              <p:cNvSpPr txBox="1"/>
              <p:nvPr/>
            </p:nvSpPr>
            <p:spPr>
              <a:xfrm>
                <a:off x="700472" y="1216364"/>
                <a:ext cx="10791056" cy="4778036"/>
              </a:xfrm>
              <a:prstGeom prst="rect">
                <a:avLst/>
              </a:prstGeom>
              <a:noFill/>
            </p:spPr>
            <p:txBody>
              <a:bodyPr wrap="square" lIns="0" tIns="0" rIns="0" bIns="0" rtlCol="0">
                <a:noAutofit/>
              </a:bodyPr>
              <a:lstStyle/>
              <a:p>
                <a:pPr algn="ctr" fontAlgn="base">
                  <a:lnSpc>
                    <a:spcPct val="150000"/>
                  </a:lnSpc>
                </a:pPr>
                <a:r>
                  <a:rPr lang="en-AU" sz="4400" dirty="0">
                    <a:cs typeface="Arial" panose="020B0604020202020204" pitchFamily="34" charset="0"/>
                  </a:rPr>
                  <a:t>Gabbie and Robbie were painting a wall. </a:t>
                </a:r>
              </a:p>
              <a:p>
                <a:pPr algn="ctr" fontAlgn="base">
                  <a:lnSpc>
                    <a:spcPct val="150000"/>
                  </a:lnSpc>
                </a:pPr>
                <a:r>
                  <a:rPr lang="en-AU" sz="4400" dirty="0">
                    <a:cs typeface="Arial" panose="020B0604020202020204" pitchFamily="34" charset="0"/>
                  </a:rPr>
                  <a:t>In the morning, Gabby painted </a:t>
                </a:r>
                <a14:m>
                  <m:oMath xmlns:m="http://schemas.openxmlformats.org/officeDocument/2006/math">
                    <m:f>
                      <m:fPr>
                        <m:ctrlPr>
                          <a:rPr lang="en-AU" sz="4400" b="1" i="1" smtClean="0">
                            <a:latin typeface="Cambria Math" panose="02040503050406030204" pitchFamily="18" charset="0"/>
                            <a:cs typeface="Arial" panose="020B0604020202020204" pitchFamily="34" charset="0"/>
                          </a:rPr>
                        </m:ctrlPr>
                      </m:fPr>
                      <m:num>
                        <m:r>
                          <a:rPr lang="en-AU" sz="4400" b="1" i="1" smtClean="0">
                            <a:latin typeface="Cambria Math" panose="02040503050406030204" pitchFamily="18" charset="0"/>
                            <a:cs typeface="Arial" panose="020B0604020202020204" pitchFamily="34" charset="0"/>
                          </a:rPr>
                          <m:t>𝟏</m:t>
                        </m:r>
                      </m:num>
                      <m:den>
                        <m:r>
                          <a:rPr lang="en-AU" sz="4400" b="1" i="1" smtClean="0">
                            <a:latin typeface="Cambria Math" panose="02040503050406030204" pitchFamily="18" charset="0"/>
                            <a:cs typeface="Arial" panose="020B0604020202020204" pitchFamily="34" charset="0"/>
                          </a:rPr>
                          <m:t>𝟑</m:t>
                        </m:r>
                      </m:den>
                    </m:f>
                  </m:oMath>
                </a14:m>
                <a:r>
                  <a:rPr lang="en-AU" sz="4400" b="1" dirty="0">
                    <a:cs typeface="Arial" panose="020B0604020202020204" pitchFamily="34" charset="0"/>
                  </a:rPr>
                  <a:t> </a:t>
                </a:r>
                <a:r>
                  <a:rPr lang="en-AU" sz="4400" dirty="0">
                    <a:cs typeface="Arial" panose="020B0604020202020204" pitchFamily="34" charset="0"/>
                  </a:rPr>
                  <a:t>of the wall. In the afternoon, Robbie painted another </a:t>
                </a:r>
                <a14:m>
                  <m:oMath xmlns:m="http://schemas.openxmlformats.org/officeDocument/2006/math">
                    <m:f>
                      <m:fPr>
                        <m:ctrlPr>
                          <a:rPr lang="en-AU" sz="4400" b="1" i="1">
                            <a:latin typeface="Cambria Math" panose="02040503050406030204" pitchFamily="18" charset="0"/>
                            <a:cs typeface="Arial" panose="020B0604020202020204" pitchFamily="34" charset="0"/>
                          </a:rPr>
                        </m:ctrlPr>
                      </m:fPr>
                      <m:num>
                        <m:r>
                          <a:rPr lang="en-AU" sz="4400" b="1" i="1" smtClean="0">
                            <a:latin typeface="Cambria Math" panose="02040503050406030204" pitchFamily="18" charset="0"/>
                            <a:cs typeface="Arial" panose="020B0604020202020204" pitchFamily="34" charset="0"/>
                          </a:rPr>
                          <m:t>𝟑</m:t>
                        </m:r>
                      </m:num>
                      <m:den>
                        <m:r>
                          <a:rPr lang="en-AU" sz="4400" b="1" i="1" smtClean="0">
                            <a:latin typeface="Cambria Math" panose="02040503050406030204" pitchFamily="18" charset="0"/>
                            <a:cs typeface="Arial" panose="020B0604020202020204" pitchFamily="34" charset="0"/>
                          </a:rPr>
                          <m:t>𝟔</m:t>
                        </m:r>
                      </m:den>
                    </m:f>
                  </m:oMath>
                </a14:m>
                <a:r>
                  <a:rPr lang="en-AU" sz="4400" dirty="0">
                    <a:cs typeface="Arial" panose="020B0604020202020204" pitchFamily="34" charset="0"/>
                  </a:rPr>
                  <a:t> of it. </a:t>
                </a:r>
              </a:p>
            </p:txBody>
          </p:sp>
        </mc:Choice>
        <mc:Fallback xmlns="">
          <p:sp>
            <p:nvSpPr>
              <p:cNvPr id="9" name="TextBox 8">
                <a:extLst>
                  <a:ext uri="{FF2B5EF4-FFF2-40B4-BE49-F238E27FC236}">
                    <a16:creationId xmlns:a16="http://schemas.microsoft.com/office/drawing/2014/main" id="{B3AE6BCB-823B-77E4-B1A9-55405F592F0E}"/>
                  </a:ext>
                </a:extLst>
              </p:cNvPr>
              <p:cNvSpPr txBox="1">
                <a:spLocks noRot="1" noChangeAspect="1" noMove="1" noResize="1" noEditPoints="1" noAdjustHandles="1" noChangeArrowheads="1" noChangeShapeType="1" noTextEdit="1"/>
              </p:cNvSpPr>
              <p:nvPr/>
            </p:nvSpPr>
            <p:spPr>
              <a:xfrm>
                <a:off x="700472" y="1216364"/>
                <a:ext cx="10791056" cy="4778036"/>
              </a:xfrm>
              <a:prstGeom prst="rect">
                <a:avLst/>
              </a:prstGeom>
              <a:blipFill>
                <a:blip r:embed="rId4"/>
                <a:stretch>
                  <a:fillRect l="-2994" r="-4350" b="-7280"/>
                </a:stretch>
              </a:blipFill>
            </p:spPr>
            <p:txBody>
              <a:bodyPr/>
              <a:lstStyle/>
              <a:p>
                <a:r>
                  <a:rPr lang="en-AU">
                    <a:noFill/>
                  </a:rPr>
                  <a:t> </a:t>
                </a:r>
              </a:p>
            </p:txBody>
          </p:sp>
        </mc:Fallback>
      </mc:AlternateContent>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a:t>
            </a:r>
            <a:r>
              <a:rPr lang="en-US">
                <a:solidFill>
                  <a:schemeClr val="bg1"/>
                </a:solidFill>
              </a:rPr>
              <a:t> (2)</a:t>
            </a:r>
          </a:p>
        </p:txBody>
      </p:sp>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942893" y="2029806"/>
                <a:ext cx="10077252" cy="1399194"/>
              </a:xfrm>
            </p:spPr>
            <p:txBody>
              <a:bodyPr vert="horz" lIns="0" tIns="0" rIns="0" bIns="0" rtlCol="0" anchor="t">
                <a:noAutofit/>
              </a:bodyPr>
              <a:lstStyle/>
              <a:p>
                <a:pPr algn="ctr"/>
                <a:r>
                  <a:rPr lang="en-US" sz="4400">
                    <a:latin typeface="Arial"/>
                    <a:cs typeface="Arial"/>
                  </a:rPr>
                  <a:t>How much </a:t>
                </a:r>
                <a:r>
                  <a:rPr lang="en-US" sz="4400" b="1">
                    <a:latin typeface="Arial"/>
                    <a:cs typeface="Arial"/>
                  </a:rPr>
                  <a:t>more</a:t>
                </a:r>
                <a:r>
                  <a:rPr lang="en-US" sz="4400">
                    <a:latin typeface="Arial"/>
                    <a:cs typeface="Arial"/>
                  </a:rPr>
                  <a:t> is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𝟐</m:t>
                        </m:r>
                      </m:num>
                      <m:den>
                        <m:r>
                          <a:rPr lang="en-AU" sz="4000" b="1" i="1" smtClean="0">
                            <a:latin typeface="Cambria Math" panose="02040503050406030204" pitchFamily="18" charset="0"/>
                          </a:rPr>
                          <m:t>𝟓</m:t>
                        </m:r>
                      </m:den>
                    </m:f>
                  </m:oMath>
                </a14:m>
                <a:r>
                  <a:rPr lang="en-US" sz="4400" b="1">
                    <a:latin typeface="Arial"/>
                    <a:cs typeface="Arial"/>
                  </a:rPr>
                  <a:t> </a:t>
                </a:r>
                <a:r>
                  <a:rPr lang="en-US" sz="4400">
                    <a:latin typeface="Arial"/>
                    <a:cs typeface="Arial"/>
                  </a:rPr>
                  <a:t>than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𝟑</m:t>
                        </m:r>
                      </m:num>
                      <m:den>
                        <m:r>
                          <a:rPr lang="en-AU" sz="4000" b="1" i="1" smtClean="0">
                            <a:latin typeface="Cambria Math" panose="02040503050406030204" pitchFamily="18" charset="0"/>
                          </a:rPr>
                          <m:t>𝟏𝟎</m:t>
                        </m:r>
                      </m:den>
                    </m:f>
                  </m:oMath>
                </a14:m>
                <a:r>
                  <a:rPr lang="en-US" sz="4400">
                    <a:latin typeface="Arial"/>
                    <a:cs typeface="Arial"/>
                  </a:rPr>
                  <a:t>?</a:t>
                </a:r>
                <a:endParaRPr lang="en-US" sz="2000"/>
              </a:p>
            </p:txBody>
          </p:sp>
        </mc:Choice>
        <mc:Fallback xmlns="">
          <p:sp>
            <p:nvSpPr>
              <p:cNvPr id="18" name="Text Placeholder 17">
                <a:extLst>
                  <a:ext uri="{FF2B5EF4-FFF2-40B4-BE49-F238E27FC236}">
                    <a16:creationId xmlns:a16="http://schemas.microsoft.com/office/drawing/2014/main" id="{56364F73-E229-E283-75C8-9CCFC763AB34}"/>
                  </a:ext>
                </a:extLst>
              </p:cNvPr>
              <p:cNvSpPr>
                <a:spLocks noGrp="1" noRot="1" noChangeAspect="1" noMove="1" noResize="1" noEditPoints="1" noAdjustHandles="1" noChangeArrowheads="1" noChangeShapeType="1" noTextEdit="1"/>
              </p:cNvSpPr>
              <p:nvPr>
                <p:ph type="body" sz="quarter" idx="24"/>
              </p:nvPr>
            </p:nvSpPr>
            <p:spPr>
              <a:xfrm>
                <a:off x="942893" y="2029806"/>
                <a:ext cx="10077252" cy="1399194"/>
              </a:xfrm>
              <a:blipFill>
                <a:blip r:embed="rId4"/>
                <a:stretch>
                  <a:fillRect b="-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1735151476"/>
                  </p:ext>
                </p:extLst>
              </p:nvPr>
            </p:nvGraphicFramePr>
            <p:xfrm>
              <a:off x="820354" y="4592002"/>
              <a:ext cx="10551292" cy="1574611"/>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36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2800" b="1" i="1" smtClean="0">
                                        <a:latin typeface="Cambria Math" panose="02040503050406030204" pitchFamily="18" charset="0"/>
                                      </a:rPr>
                                    </m:ctrlPr>
                                  </m:fPr>
                                  <m:num>
                                    <m:r>
                                      <a:rPr lang="en-AU" sz="2800" b="1" i="1" smtClean="0">
                                        <a:latin typeface="Cambria Math" panose="02040503050406030204" pitchFamily="18" charset="0"/>
                                      </a:rPr>
                                      <m:t>𝟐</m:t>
                                    </m:r>
                                  </m:num>
                                  <m:den>
                                    <m:r>
                                      <a:rPr lang="en-AU" sz="2800" b="1" i="1" smtClean="0">
                                        <a:latin typeface="Cambria Math" panose="02040503050406030204" pitchFamily="18" charset="0"/>
                                      </a:rPr>
                                      <m:t>𝟓</m:t>
                                    </m:r>
                                  </m:den>
                                </m:f>
                              </m:oMath>
                            </m:oMathPara>
                          </a14:m>
                          <a:endParaRPr lang="en-AU" sz="28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2800" b="1" i="1" smtClean="0">
                                        <a:latin typeface="Cambria Math" panose="02040503050406030204" pitchFamily="18" charset="0"/>
                                      </a:rPr>
                                    </m:ctrlPr>
                                  </m:fPr>
                                  <m:num>
                                    <m:r>
                                      <a:rPr lang="en-AU" sz="2800" b="1" i="1" smtClean="0">
                                        <a:latin typeface="Cambria Math" panose="02040503050406030204" pitchFamily="18" charset="0"/>
                                      </a:rPr>
                                      <m:t>𝟏</m:t>
                                    </m:r>
                                  </m:num>
                                  <m:den>
                                    <m:r>
                                      <a:rPr lang="en-AU" sz="2800" b="1" i="1" smtClean="0">
                                        <a:latin typeface="Cambria Math" panose="02040503050406030204" pitchFamily="18" charset="0"/>
                                      </a:rPr>
                                      <m:t>𝟓</m:t>
                                    </m:r>
                                  </m:den>
                                </m:f>
                              </m:oMath>
                            </m:oMathPara>
                          </a14:m>
                          <a:endParaRPr lang="en-AU" sz="28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2800" b="1" i="1" smtClean="0">
                                        <a:latin typeface="Cambria Math" panose="02040503050406030204" pitchFamily="18" charset="0"/>
                                      </a:rPr>
                                    </m:ctrlPr>
                                  </m:fPr>
                                  <m:num>
                                    <m:r>
                                      <a:rPr lang="en-AU" sz="2800" b="1" i="1" smtClean="0">
                                        <a:latin typeface="Cambria Math" panose="02040503050406030204" pitchFamily="18" charset="0"/>
                                      </a:rPr>
                                      <m:t>𝟐</m:t>
                                    </m:r>
                                  </m:num>
                                  <m:den>
                                    <m:r>
                                      <a:rPr lang="en-AU" sz="2800" b="1" i="1" smtClean="0">
                                        <a:latin typeface="Cambria Math" panose="02040503050406030204" pitchFamily="18" charset="0"/>
                                      </a:rPr>
                                      <m:t>𝟏𝟎</m:t>
                                    </m:r>
                                  </m:den>
                                </m:f>
                              </m:oMath>
                            </m:oMathPara>
                          </a14:m>
                          <a:endParaRPr lang="en-AU" sz="28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2800" b="1" i="1" smtClean="0">
                                        <a:latin typeface="Cambria Math" panose="02040503050406030204" pitchFamily="18" charset="0"/>
                                      </a:rPr>
                                    </m:ctrlPr>
                                  </m:fPr>
                                  <m:num>
                                    <m:r>
                                      <a:rPr lang="en-AU" sz="2800" b="1" i="1" smtClean="0">
                                        <a:latin typeface="Cambria Math" panose="02040503050406030204" pitchFamily="18" charset="0"/>
                                      </a:rPr>
                                      <m:t>𝟏</m:t>
                                    </m:r>
                                  </m:num>
                                  <m:den>
                                    <m:r>
                                      <a:rPr lang="en-AU" sz="2800" b="1" i="1" smtClean="0">
                                        <a:latin typeface="Cambria Math" panose="02040503050406030204" pitchFamily="18" charset="0"/>
                                      </a:rPr>
                                      <m:t>𝟏𝟎</m:t>
                                    </m:r>
                                  </m:den>
                                </m:f>
                              </m:oMath>
                            </m:oMathPara>
                          </a14:m>
                          <a:endParaRPr lang="en-AU" sz="28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1735151476"/>
                  </p:ext>
                </p:extLst>
              </p:nvPr>
            </p:nvGraphicFramePr>
            <p:xfrm>
              <a:off x="820354" y="4592002"/>
              <a:ext cx="10551292" cy="1574611"/>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36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36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893064">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t="-86395"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100000" t="-86395"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200000" t="-86395"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300000" t="-86395"/>
                          </a:stretch>
                        </a:blipFill>
                      </a:tcPr>
                    </a:tc>
                    <a:extLst>
                      <a:ext uri="{0D108BD9-81ED-4DB2-BD59-A6C34878D82A}">
                        <a16:rowId xmlns:a16="http://schemas.microsoft.com/office/drawing/2014/main" val="505300166"/>
                      </a:ext>
                    </a:extLst>
                  </a:tr>
                </a:tbl>
              </a:graphicData>
            </a:graphic>
          </p:graphicFrame>
        </mc:Fallback>
      </mc:AlternateContent>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702939" y="1498586"/>
                <a:ext cx="11243037" cy="3056398"/>
              </a:xfrm>
            </p:spPr>
            <p:txBody>
              <a:bodyPr/>
              <a:lstStyle/>
              <a:p>
                <a:pPr algn="ctr"/>
                <a:r>
                  <a:rPr lang="en-US" sz="4000">
                    <a:latin typeface="Arial"/>
                    <a:cs typeface="Arial"/>
                  </a:rPr>
                  <a:t>Amira is saving her pocket money. She has</a:t>
                </a:r>
                <a:r>
                  <a:rPr lang="en-AU" sz="4000"/>
                  <a:t> </a:t>
                </a:r>
                <a14:m>
                  <m:oMath xmlns:m="http://schemas.openxmlformats.org/officeDocument/2006/math">
                    <m:f>
                      <m:fPr>
                        <m:ctrlPr>
                          <a:rPr lang="en-AU" sz="4800" b="1" i="1">
                            <a:latin typeface="Cambria Math" panose="02040503050406030204" pitchFamily="18" charset="0"/>
                          </a:rPr>
                        </m:ctrlPr>
                      </m:fPr>
                      <m:num>
                        <m:r>
                          <a:rPr lang="en-AU" sz="4800" b="1" i="1">
                            <a:latin typeface="Cambria Math" panose="02040503050406030204" pitchFamily="18" charset="0"/>
                          </a:rPr>
                          <m:t>𝟏</m:t>
                        </m:r>
                      </m:num>
                      <m:den>
                        <m:r>
                          <a:rPr lang="en-AU" sz="4800" b="1" i="1" smtClean="0">
                            <a:latin typeface="Cambria Math" panose="02040503050406030204" pitchFamily="18" charset="0"/>
                          </a:rPr>
                          <m:t>𝟒</m:t>
                        </m:r>
                      </m:den>
                    </m:f>
                  </m:oMath>
                </a14:m>
                <a:r>
                  <a:rPr lang="en-US" sz="4000" b="1">
                    <a:latin typeface="Arial"/>
                    <a:cs typeface="Arial"/>
                  </a:rPr>
                  <a:t>  </a:t>
                </a:r>
                <a:r>
                  <a:rPr lang="en-US" sz="4000">
                    <a:latin typeface="Arial"/>
                    <a:cs typeface="Arial"/>
                  </a:rPr>
                  <a:t>of her money left after purchasing a birthday present for her friend.</a:t>
                </a:r>
              </a:p>
              <a:p>
                <a:pPr algn="ctr"/>
                <a:r>
                  <a:rPr lang="en-US" sz="4000">
                    <a:latin typeface="Arial"/>
                    <a:cs typeface="Arial"/>
                  </a:rPr>
                  <a:t>What</a:t>
                </a:r>
                <a:r>
                  <a:rPr lang="en-US" sz="4000" b="1">
                    <a:latin typeface="Arial"/>
                    <a:cs typeface="Arial"/>
                  </a:rPr>
                  <a:t> percentage </a:t>
                </a:r>
                <a:r>
                  <a:rPr lang="en-US" sz="4000">
                    <a:latin typeface="Arial"/>
                    <a:cs typeface="Arial"/>
                  </a:rPr>
                  <a:t>of her money did she spend?</a:t>
                </a:r>
              </a:p>
            </p:txBody>
          </p:sp>
        </mc:Choice>
        <mc:Fallback xmlns="">
          <p:sp>
            <p:nvSpPr>
              <p:cNvPr id="11" name="Picture Placeholder 10">
                <a:extLst>
                  <a:ext uri="{FF2B5EF4-FFF2-40B4-BE49-F238E27FC236}">
                    <a16:creationId xmlns:a16="http://schemas.microsoft.com/office/drawing/2014/main" id="{615793BF-4D97-0D6A-FB17-D26939AF18A8}"/>
                  </a:ext>
                </a:extLst>
              </p:cNvPr>
              <p:cNvSpPr>
                <a:spLocks noGrp="1" noRot="1" noChangeAspect="1" noMove="1" noResize="1" noEditPoints="1" noAdjustHandles="1" noChangeArrowheads="1" noChangeShapeType="1" noTextEdit="1"/>
              </p:cNvSpPr>
              <p:nvPr>
                <p:ph type="pic" sz="quarter" idx="21"/>
              </p:nvPr>
            </p:nvSpPr>
            <p:spPr>
              <a:xfrm>
                <a:off x="702939" y="1498586"/>
                <a:ext cx="11243037" cy="3056398"/>
              </a:xfrm>
              <a:blipFill>
                <a:blip r:embed="rId4"/>
                <a:stretch>
                  <a:fillRect l="-2602" r="-3848" b="-5289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tx1"/>
                </a:solidFill>
                <a:latin typeface="Arial"/>
                <a:cs typeface="Arial"/>
              </a:rPr>
              <a:t> </a:t>
            </a:r>
            <a:r>
              <a:rPr lang="en-US">
                <a:solidFill>
                  <a:schemeClr val="bg1"/>
                </a:solidFill>
                <a:latin typeface="Arial"/>
                <a:cs typeface="Arial"/>
              </a:rPr>
              <a:t>(8)</a:t>
            </a: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474481" y="1275500"/>
            <a:ext cx="11243037" cy="4435265"/>
          </a:xfrm>
        </p:spPr>
        <p:txBody>
          <a:bodyPr/>
          <a:lstStyle/>
          <a:p>
            <a:pPr algn="ctr"/>
            <a:r>
              <a:rPr lang="en-AU" sz="4000" dirty="0">
                <a:latin typeface="Arial"/>
                <a:cs typeface="Arial"/>
              </a:rPr>
              <a:t>Use </a:t>
            </a:r>
            <a:r>
              <a:rPr lang="en-AU" sz="4000" b="1" dirty="0">
                <a:latin typeface="Arial"/>
                <a:cs typeface="Arial"/>
              </a:rPr>
              <a:t>addition for subtraction </a:t>
            </a:r>
            <a:r>
              <a:rPr lang="en-AU" sz="4000" dirty="0">
                <a:latin typeface="Arial"/>
                <a:cs typeface="Arial"/>
              </a:rPr>
              <a:t>on an empty number line to solve:</a:t>
            </a:r>
          </a:p>
          <a:p>
            <a:pPr algn="ctr"/>
            <a:r>
              <a:rPr lang="en-AU" sz="6600" dirty="0">
                <a:latin typeface="Arial"/>
                <a:cs typeface="Arial"/>
              </a:rPr>
              <a:t>4009 – 2997</a:t>
            </a:r>
          </a:p>
        </p:txBody>
      </p:sp>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952500" y="1290185"/>
            <a:ext cx="10048876" cy="4598686"/>
          </a:xfrm>
        </p:spPr>
        <p:txBody>
          <a:bodyPr/>
          <a:lstStyle/>
          <a:p>
            <a:pPr algn="ctr"/>
            <a:r>
              <a:rPr lang="en-AU" sz="3600" dirty="0"/>
              <a:t>Darvin buys 4 kg of red lollies, a box of chocolate weighing 3.75 kg, a 1.25 kg box of cupcakes and a 1.5 kg container of ice cream. </a:t>
            </a:r>
            <a:r>
              <a:rPr lang="en-AU" sz="3600" b="1" dirty="0"/>
              <a:t>How much mass </a:t>
            </a:r>
            <a:r>
              <a:rPr lang="en-AU" sz="3600" dirty="0"/>
              <a:t>is this </a:t>
            </a:r>
            <a:r>
              <a:rPr lang="en-AU" sz="3600" b="1" dirty="0"/>
              <a:t>altogether</a:t>
            </a:r>
            <a:r>
              <a:rPr lang="en-AU" sz="3600" dirty="0"/>
              <a:t>? </a:t>
            </a:r>
          </a:p>
          <a:p>
            <a:pPr algn="ctr"/>
            <a:r>
              <a:rPr lang="en-AU" sz="3600" dirty="0"/>
              <a:t>Record your answer in </a:t>
            </a:r>
            <a:r>
              <a:rPr lang="en-AU" sz="3600" b="1" dirty="0"/>
              <a:t>grams and kilograms</a:t>
            </a:r>
            <a:r>
              <a:rPr lang="en-AU" sz="3600" dirty="0"/>
              <a:t>.</a:t>
            </a:r>
            <a:endParaRPr lang="en-US" sz="48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(10)</a:t>
            </a: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600963" y="1686425"/>
                <a:ext cx="11243037" cy="3659902"/>
              </a:xfrm>
            </p:spPr>
            <p:txBody>
              <a:bodyPr/>
              <a:lstStyle/>
              <a:p>
                <a:pPr algn="ctr"/>
                <a:r>
                  <a:rPr lang="en-AU" sz="4000"/>
                  <a:t>Naomi said a box with a length of 4 cm, a width of 3 cm, and a height of 2 cm has a </a:t>
                </a:r>
                <a:r>
                  <a:rPr lang="en-AU" sz="4000" b="1"/>
                  <a:t>volume of 48</a:t>
                </a:r>
                <a14:m>
                  <m:oMath xmlns:m="http://schemas.openxmlformats.org/officeDocument/2006/math">
                    <m:sSup>
                      <m:sSupPr>
                        <m:ctrlPr>
                          <a:rPr lang="en-AU" sz="4000" b="1" i="1" smtClean="0">
                            <a:latin typeface="Cambria Math" panose="02040503050406030204" pitchFamily="18" charset="0"/>
                          </a:rPr>
                        </m:ctrlPr>
                      </m:sSupPr>
                      <m:e>
                        <m:r>
                          <a:rPr lang="en-AU" sz="4000" b="1" i="0" smtClean="0">
                            <a:latin typeface="Cambria Math" panose="02040503050406030204" pitchFamily="18" charset="0"/>
                          </a:rPr>
                          <m:t>𝐜𝐦</m:t>
                        </m:r>
                      </m:e>
                      <m:sup>
                        <m:r>
                          <a:rPr lang="en-AU" sz="4000" b="1" i="1" smtClean="0">
                            <a:latin typeface="Cambria Math" panose="02040503050406030204" pitchFamily="18" charset="0"/>
                          </a:rPr>
                          <m:t>𝟑</m:t>
                        </m:r>
                      </m:sup>
                    </m:sSup>
                  </m:oMath>
                </a14:m>
                <a:r>
                  <a:rPr lang="en-AU" sz="4000" b="1"/>
                  <a:t>. </a:t>
                </a:r>
              </a:p>
              <a:p>
                <a:pPr algn="ctr"/>
                <a:r>
                  <a:rPr lang="en-AU" sz="4000"/>
                  <a:t>Is she </a:t>
                </a:r>
                <a:r>
                  <a:rPr lang="en-AU" sz="4000" b="1"/>
                  <a:t>correct</a:t>
                </a:r>
                <a:r>
                  <a:rPr lang="en-AU" sz="4000"/>
                  <a:t>? </a:t>
                </a:r>
                <a:r>
                  <a:rPr lang="en-AU" sz="4000" b="1"/>
                  <a:t>Communicate </a:t>
                </a:r>
                <a:r>
                  <a:rPr lang="en-AU" sz="4000"/>
                  <a:t>your</a:t>
                </a:r>
                <a:r>
                  <a:rPr lang="en-AU" sz="4000" b="1"/>
                  <a:t> reasoning</a:t>
                </a:r>
                <a:r>
                  <a:rPr lang="en-AU" sz="4000"/>
                  <a:t>.</a:t>
                </a:r>
                <a:endParaRPr lang="en-US" sz="4000">
                  <a:latin typeface="Arial"/>
                  <a:cs typeface="Arial"/>
                </a:endParaRPr>
              </a:p>
            </p:txBody>
          </p:sp>
        </mc:Choice>
        <mc:Fallback xmlns="">
          <p:sp>
            <p:nvSpPr>
              <p:cNvPr id="11" name="Picture Placeholder 10">
                <a:extLst>
                  <a:ext uri="{FF2B5EF4-FFF2-40B4-BE49-F238E27FC236}">
                    <a16:creationId xmlns:a16="http://schemas.microsoft.com/office/drawing/2014/main" id="{0BBCDB05-A139-44A3-EA5D-6556ADCA3BC0}"/>
                  </a:ext>
                </a:extLst>
              </p:cNvPr>
              <p:cNvSpPr>
                <a:spLocks noGrp="1" noRot="1" noChangeAspect="1" noMove="1" noResize="1" noEditPoints="1" noAdjustHandles="1" noChangeArrowheads="1" noChangeShapeType="1" noTextEdit="1"/>
              </p:cNvSpPr>
              <p:nvPr>
                <p:ph type="pic" sz="quarter" idx="21"/>
              </p:nvPr>
            </p:nvSpPr>
            <p:spPr>
              <a:xfrm>
                <a:off x="600963" y="1686425"/>
                <a:ext cx="11243037" cy="3659902"/>
              </a:xfrm>
              <a:blipFill>
                <a:blip r:embed="rId4"/>
                <a:stretch>
                  <a:fillRect l="-2549" r="-3688" b="-1000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83E-162B-B6C8-57BA-E14ADBD2B7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5B5D1B-7C0C-37AE-B03B-351DC5EF1723}"/>
              </a:ext>
            </a:extLst>
          </p:cNvPr>
          <p:cNvSpPr>
            <a:spLocks noGrp="1"/>
          </p:cNvSpPr>
          <p:nvPr>
            <p:ph type="title"/>
          </p:nvPr>
        </p:nvSpPr>
        <p:spPr>
          <a:xfrm>
            <a:off x="354000" y="445988"/>
            <a:ext cx="11484000" cy="545601"/>
          </a:xfrm>
        </p:spPr>
        <p:txBody>
          <a:bodyPr/>
          <a:lstStyle/>
          <a:p>
            <a:r>
              <a:rPr lang="en-AU">
                <a:latin typeface="Arial"/>
                <a:cs typeface="Arial"/>
              </a:rPr>
              <a:t>Activity 3 – comparing fractional quantities 1</a:t>
            </a:r>
          </a:p>
        </p:txBody>
      </p:sp>
      <p:pic>
        <p:nvPicPr>
          <p:cNvPr id="4" name="Picture 3" descr="image of a head with cogs turning inside">
            <a:extLst>
              <a:ext uri="{FF2B5EF4-FFF2-40B4-BE49-F238E27FC236}">
                <a16:creationId xmlns:a16="http://schemas.microsoft.com/office/drawing/2014/main" id="{04FBAE01-76F7-7386-4896-0917BE2654A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Two number lines from 0-1 with shaded bars. The first number line is shaded to 3/10, with 1/10, 2/10 and 4/10 also plotted. The second number line is 4/5. 1/5, 2/5 and 3/5 are plotted.">
            <a:extLst>
              <a:ext uri="{FF2B5EF4-FFF2-40B4-BE49-F238E27FC236}">
                <a16:creationId xmlns:a16="http://schemas.microsoft.com/office/drawing/2014/main" id="{5FDC0B66-7E94-F209-E652-B87E2FBDB707}"/>
              </a:ext>
            </a:extLst>
          </p:cNvPr>
          <p:cNvPicPr>
            <a:picLocks noChangeAspect="1"/>
          </p:cNvPicPr>
          <p:nvPr/>
        </p:nvPicPr>
        <p:blipFill>
          <a:blip r:embed="rId4"/>
          <a:stretch>
            <a:fillRect/>
          </a:stretch>
        </p:blipFill>
        <p:spPr>
          <a:xfrm>
            <a:off x="2490599" y="1660323"/>
            <a:ext cx="7210801" cy="4564097"/>
          </a:xfrm>
          <a:prstGeom prst="rect">
            <a:avLst/>
          </a:prstGeom>
        </p:spPr>
      </p:pic>
      <p:sp>
        <p:nvSpPr>
          <p:cNvPr id="2" name="Slide Number Placeholder 1">
            <a:extLst>
              <a:ext uri="{FF2B5EF4-FFF2-40B4-BE49-F238E27FC236}">
                <a16:creationId xmlns:a16="http://schemas.microsoft.com/office/drawing/2014/main" id="{9E70124D-E74D-F87F-BBEC-902E70862F1C}"/>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Tree>
    <p:extLst>
      <p:ext uri="{BB962C8B-B14F-4D97-AF65-F5344CB8AC3E}">
        <p14:creationId xmlns:p14="http://schemas.microsoft.com/office/powerpoint/2010/main" val="42587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(2)</a:t>
            </a:r>
          </a:p>
        </p:txBody>
      </p:sp>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274073" y="1634450"/>
                <a:ext cx="12118073" cy="1423578"/>
              </a:xfrm>
            </p:spPr>
            <p:txBody>
              <a:bodyPr vert="horz" lIns="0" tIns="0" rIns="0" bIns="0" rtlCol="0" anchor="t">
                <a:noAutofit/>
              </a:bodyPr>
              <a:lstStyle/>
              <a:p>
                <a:pPr algn="ctr"/>
                <a:r>
                  <a:rPr lang="en-US" sz="4400" dirty="0">
                    <a:latin typeface="Arial"/>
                    <a:cs typeface="Arial"/>
                  </a:rPr>
                  <a:t>The </a:t>
                </a:r>
                <a:r>
                  <a:rPr lang="en-US" sz="4400" b="1" dirty="0">
                    <a:latin typeface="Arial"/>
                    <a:cs typeface="Arial"/>
                  </a:rPr>
                  <a:t>difference</a:t>
                </a:r>
                <a:r>
                  <a:rPr lang="en-US" sz="4400" dirty="0">
                    <a:latin typeface="Arial"/>
                    <a:cs typeface="Arial"/>
                  </a:rPr>
                  <a:t> between </a:t>
                </a:r>
                <a14:m>
                  <m:oMath xmlns:m="http://schemas.openxmlformats.org/officeDocument/2006/math">
                    <m:f>
                      <m:fPr>
                        <m:ctrlPr>
                          <a:rPr lang="en-AU" sz="4400" b="1" i="1">
                            <a:latin typeface="Cambria Math" panose="02040503050406030204" pitchFamily="18" charset="0"/>
                          </a:rPr>
                        </m:ctrlPr>
                      </m:fPr>
                      <m:num>
                        <m:r>
                          <a:rPr lang="en-AU" sz="4400" b="1" i="1">
                            <a:latin typeface="Cambria Math" panose="02040503050406030204" pitchFamily="18" charset="0"/>
                          </a:rPr>
                          <m:t>𝟐</m:t>
                        </m:r>
                      </m:num>
                      <m:den>
                        <m:r>
                          <a:rPr lang="en-AU" sz="4400" b="1" i="1">
                            <a:latin typeface="Cambria Math" panose="02040503050406030204" pitchFamily="18" charset="0"/>
                          </a:rPr>
                          <m:t>𝟑</m:t>
                        </m:r>
                      </m:den>
                    </m:f>
                  </m:oMath>
                </a14:m>
                <a:r>
                  <a:rPr lang="en-US" sz="4800" b="1" dirty="0">
                    <a:latin typeface="Arial"/>
                    <a:cs typeface="Arial"/>
                  </a:rPr>
                  <a:t> </a:t>
                </a:r>
                <a:r>
                  <a:rPr lang="en-US" sz="4400" dirty="0">
                    <a:latin typeface="Arial"/>
                    <a:cs typeface="Arial"/>
                  </a:rPr>
                  <a:t>and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𝟑</m:t>
                        </m:r>
                      </m:num>
                      <m:den>
                        <m:r>
                          <a:rPr lang="en-AU" sz="4400" b="1" i="1" smtClean="0">
                            <a:latin typeface="Cambria Math" panose="02040503050406030204" pitchFamily="18" charset="0"/>
                          </a:rPr>
                          <m:t>𝟔</m:t>
                        </m:r>
                      </m:den>
                    </m:f>
                  </m:oMath>
                </a14:m>
                <a:r>
                  <a:rPr lang="en-US" sz="4800" dirty="0">
                    <a:latin typeface="Arial"/>
                    <a:cs typeface="Arial"/>
                  </a:rPr>
                  <a:t> is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𝟏</m:t>
                        </m:r>
                      </m:num>
                      <m:den>
                        <m:r>
                          <a:rPr lang="en-AU" sz="4400" b="1" i="1">
                            <a:latin typeface="Cambria Math" panose="02040503050406030204" pitchFamily="18" charset="0"/>
                          </a:rPr>
                          <m:t>𝟔</m:t>
                        </m:r>
                      </m:den>
                    </m:f>
                  </m:oMath>
                </a14:m>
                <a:r>
                  <a:rPr lang="en-US" sz="4800" dirty="0">
                    <a:latin typeface="Arial"/>
                    <a:cs typeface="Arial"/>
                  </a:rPr>
                  <a:t> .</a:t>
                </a:r>
                <a:endParaRPr lang="en-US" sz="2000" dirty="0"/>
              </a:p>
            </p:txBody>
          </p:sp>
        </mc:Choice>
        <mc:Fallback xmlns="">
          <p:sp>
            <p:nvSpPr>
              <p:cNvPr id="7" name="Text Placeholder 6">
                <a:extLst>
                  <a:ext uri="{FF2B5EF4-FFF2-40B4-BE49-F238E27FC236}">
                    <a16:creationId xmlns:a16="http://schemas.microsoft.com/office/drawing/2014/main" id="{F060180D-91D5-EA06-E103-8B3688B0CE76}"/>
                  </a:ext>
                </a:extLst>
              </p:cNvPr>
              <p:cNvSpPr>
                <a:spLocks noGrp="1" noRot="1" noChangeAspect="1" noMove="1" noResize="1" noEditPoints="1" noAdjustHandles="1" noChangeArrowheads="1" noChangeShapeType="1" noTextEdit="1"/>
              </p:cNvSpPr>
              <p:nvPr>
                <p:ph type="body" sz="quarter" idx="22"/>
              </p:nvPr>
            </p:nvSpPr>
            <p:spPr>
              <a:xfrm>
                <a:off x="-274073" y="1634450"/>
                <a:ext cx="12118073" cy="1423578"/>
              </a:xfrm>
              <a:blipFill>
                <a:blip r:embed="rId4"/>
                <a:stretch>
                  <a:fillRect b="-897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41497064"/>
              </p:ext>
            </p:extLst>
          </p:nvPr>
        </p:nvGraphicFramePr>
        <p:xfrm>
          <a:off x="2442981" y="47841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60000" y="1074096"/>
            <a:ext cx="11484000" cy="1850677"/>
          </a:xfrm>
        </p:spPr>
        <p:txBody>
          <a:bodyPr/>
          <a:lstStyle/>
          <a:p>
            <a:pPr algn="ctr"/>
            <a:r>
              <a:rPr lang="en-US" sz="4000" b="1" dirty="0">
                <a:latin typeface="Arial"/>
                <a:cs typeface="Arial"/>
              </a:rPr>
              <a:t>Record </a:t>
            </a:r>
            <a:r>
              <a:rPr lang="en-US" sz="4000" dirty="0">
                <a:latin typeface="Arial"/>
                <a:cs typeface="Arial"/>
              </a:rPr>
              <a:t>the</a:t>
            </a:r>
            <a:r>
              <a:rPr lang="en-US" sz="4000" b="1" dirty="0">
                <a:latin typeface="Arial"/>
                <a:cs typeface="Arial"/>
              </a:rPr>
              <a:t> fraction</a:t>
            </a:r>
            <a:r>
              <a:rPr lang="en-US" sz="4000" dirty="0">
                <a:latin typeface="Arial"/>
                <a:cs typeface="Arial"/>
              </a:rPr>
              <a:t>, </a:t>
            </a:r>
            <a:r>
              <a:rPr lang="en-US" sz="4000" b="1" dirty="0">
                <a:latin typeface="Arial"/>
                <a:cs typeface="Arial"/>
              </a:rPr>
              <a:t>decimal</a:t>
            </a:r>
            <a:r>
              <a:rPr lang="en-US" sz="4000" dirty="0">
                <a:latin typeface="Arial"/>
                <a:cs typeface="Arial"/>
              </a:rPr>
              <a:t> and </a:t>
            </a:r>
            <a:r>
              <a:rPr lang="en-US" sz="4000" b="1" dirty="0">
                <a:latin typeface="Arial"/>
                <a:cs typeface="Arial"/>
              </a:rPr>
              <a:t>percentage </a:t>
            </a:r>
            <a:r>
              <a:rPr lang="en-US" sz="4000" dirty="0">
                <a:latin typeface="Arial"/>
                <a:cs typeface="Arial"/>
              </a:rPr>
              <a:t>for the shaded area.</a:t>
            </a:r>
          </a:p>
        </p:txBody>
      </p:sp>
      <p:pic>
        <p:nvPicPr>
          <p:cNvPr id="5" name="Picture 4" descr="A 100 square grid with 75 squares shaded blue.">
            <a:extLst>
              <a:ext uri="{FF2B5EF4-FFF2-40B4-BE49-F238E27FC236}">
                <a16:creationId xmlns:a16="http://schemas.microsoft.com/office/drawing/2014/main" id="{0FE22CC2-5EE7-7919-08A5-E5680262627E}"/>
              </a:ext>
            </a:extLst>
          </p:cNvPr>
          <p:cNvPicPr>
            <a:picLocks noChangeAspect="1"/>
          </p:cNvPicPr>
          <p:nvPr/>
        </p:nvPicPr>
        <p:blipFill>
          <a:blip r:embed="rId4"/>
          <a:srcRect l="67702" t="11275" r="1002" b="44049"/>
          <a:stretch>
            <a:fillRect/>
          </a:stretch>
        </p:blipFill>
        <p:spPr>
          <a:xfrm>
            <a:off x="4511201" y="3429000"/>
            <a:ext cx="3169597" cy="3069000"/>
          </a:xfrm>
          <a:prstGeom prst="rect">
            <a:avLst/>
          </a:prstGeom>
          <a:effectLst>
            <a:outerShdw blurRad="50800" dist="38100" dir="2700000" algn="tl" rotWithShape="0">
              <a:prstClr val="black">
                <a:alpha val="40000"/>
              </a:prstClr>
            </a:outerShdw>
          </a:effectLst>
        </p:spPr>
      </p:pic>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19703" y="1879656"/>
            <a:ext cx="11243037" cy="4223963"/>
          </a:xfrm>
        </p:spPr>
        <p:txBody>
          <a:bodyPr/>
          <a:lstStyle/>
          <a:p>
            <a:pPr algn="ctr"/>
            <a:r>
              <a:rPr lang="en-US" sz="4000" dirty="0">
                <a:latin typeface="Arial"/>
                <a:cs typeface="Arial"/>
              </a:rPr>
              <a:t>Matthew worked out this </a:t>
            </a:r>
            <a:r>
              <a:rPr lang="en-US" sz="4000" b="1" dirty="0">
                <a:latin typeface="Arial"/>
                <a:cs typeface="Arial"/>
              </a:rPr>
              <a:t>decimal equation</a:t>
            </a:r>
            <a:r>
              <a:rPr lang="en-US" sz="4000" dirty="0">
                <a:latin typeface="Arial"/>
                <a:cs typeface="Arial"/>
              </a:rPr>
              <a:t>: </a:t>
            </a:r>
          </a:p>
          <a:p>
            <a:pPr algn="ctr"/>
            <a:endParaRPr lang="en-US" sz="4000" dirty="0">
              <a:latin typeface="Arial"/>
              <a:cs typeface="Arial"/>
            </a:endParaRPr>
          </a:p>
          <a:p>
            <a:pPr algn="ctr"/>
            <a:r>
              <a:rPr lang="en-US" sz="4000" dirty="0">
                <a:latin typeface="Arial"/>
                <a:cs typeface="Arial"/>
              </a:rPr>
              <a:t>What error did Matthew make?</a:t>
            </a:r>
            <a:br>
              <a:rPr lang="en-US" sz="4000" dirty="0">
                <a:latin typeface="Arial"/>
                <a:cs typeface="Arial"/>
              </a:rPr>
            </a:br>
            <a:r>
              <a:rPr lang="en-US" sz="4000" b="1" dirty="0">
                <a:latin typeface="Arial"/>
                <a:cs typeface="Arial"/>
              </a:rPr>
              <a:t>Correct</a:t>
            </a:r>
            <a:r>
              <a:rPr lang="en-US" sz="4000" dirty="0">
                <a:latin typeface="Arial"/>
                <a:cs typeface="Arial"/>
              </a:rPr>
              <a:t> the equation.</a:t>
            </a:r>
          </a:p>
        </p:txBody>
      </p:sp>
      <p:sp>
        <p:nvSpPr>
          <p:cNvPr id="5" name="TextBox 4">
            <a:extLst>
              <a:ext uri="{FF2B5EF4-FFF2-40B4-BE49-F238E27FC236}">
                <a16:creationId xmlns:a16="http://schemas.microsoft.com/office/drawing/2014/main" id="{5A31D220-AF9F-96AA-BC38-E644F2A802C6}"/>
              </a:ext>
            </a:extLst>
          </p:cNvPr>
          <p:cNvSpPr txBox="1"/>
          <p:nvPr/>
        </p:nvSpPr>
        <p:spPr>
          <a:xfrm>
            <a:off x="3682627" y="2957630"/>
            <a:ext cx="4620987" cy="914400"/>
          </a:xfrm>
          <a:prstGeom prst="rect">
            <a:avLst/>
          </a:prstGeom>
          <a:noFill/>
          <a:ln>
            <a:solidFill>
              <a:srgbClr val="FF0000"/>
            </a:solidFill>
          </a:ln>
        </p:spPr>
        <p:txBody>
          <a:bodyPr wrap="square" lIns="0" tIns="0" rIns="0" bIns="0" rtlCol="0">
            <a:noAutofit/>
          </a:bodyPr>
          <a:lstStyle/>
          <a:p>
            <a:pPr algn="ctr"/>
            <a:r>
              <a:rPr lang="en-US" sz="4400" b="1">
                <a:cs typeface="Arial"/>
              </a:rPr>
              <a:t>4.25 – 2.5 = 4.10</a:t>
            </a:r>
            <a:r>
              <a:rPr lang="en-US" sz="4400">
                <a:cs typeface="Arial"/>
              </a:rPr>
              <a:t> </a:t>
            </a:r>
          </a:p>
        </p:txBody>
      </p:sp>
      <p:pic>
        <p:nvPicPr>
          <p:cNvPr id="6" name="Picture 5" descr="A red x symbol on a white background">
            <a:extLst>
              <a:ext uri="{FF2B5EF4-FFF2-40B4-BE49-F238E27FC236}">
                <a16:creationId xmlns:a16="http://schemas.microsoft.com/office/drawing/2014/main" id="{15668951-60AE-91C1-A246-68CA0C4B8D0B}"/>
              </a:ext>
            </a:extLst>
          </p:cNvPr>
          <p:cNvPicPr>
            <a:picLocks noChangeAspect="1"/>
          </p:cNvPicPr>
          <p:nvPr/>
        </p:nvPicPr>
        <p:blipFill>
          <a:blip r:embed="rId4"/>
          <a:stretch>
            <a:fillRect/>
          </a:stretch>
        </p:blipFill>
        <p:spPr>
          <a:xfrm>
            <a:off x="8408463" y="2692817"/>
            <a:ext cx="420898" cy="529626"/>
          </a:xfrm>
          <a:prstGeom prst="rect">
            <a:avLst/>
          </a:prstGeom>
        </p:spPr>
      </p:pic>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a:t>
            </a:r>
            <a:r>
              <a:rPr lang="en-US">
                <a:solidFill>
                  <a:schemeClr val="tx1"/>
                </a:solidFill>
                <a:latin typeface="Arial"/>
                <a:cs typeface="Arial"/>
              </a:rPr>
              <a:t> </a:t>
            </a:r>
            <a:r>
              <a:rPr lang="en-US">
                <a:solidFill>
                  <a:schemeClr val="bg1"/>
                </a:solidFill>
                <a:latin typeface="Arial"/>
                <a:cs typeface="Arial"/>
              </a:rPr>
              <a:t>(13)</a:t>
            </a: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6" name="Table 5">
            <a:extLst>
              <a:ext uri="{FF2B5EF4-FFF2-40B4-BE49-F238E27FC236}">
                <a16:creationId xmlns:a16="http://schemas.microsoft.com/office/drawing/2014/main" id="{DFA79E11-E3B0-CA54-3136-4A10FFF84C6C}"/>
              </a:ext>
            </a:extLst>
          </p:cNvPr>
          <p:cNvGraphicFramePr>
            <a:graphicFrameLocks noGrp="1"/>
          </p:cNvGraphicFramePr>
          <p:nvPr>
            <p:extLst>
              <p:ext uri="{D42A27DB-BD31-4B8C-83A1-F6EECF244321}">
                <p14:modId xmlns:p14="http://schemas.microsoft.com/office/powerpoint/2010/main" val="1528038348"/>
              </p:ext>
            </p:extLst>
          </p:nvPr>
        </p:nvGraphicFramePr>
        <p:xfrm>
          <a:off x="2514419" y="1184223"/>
          <a:ext cx="6934200" cy="3100189"/>
        </p:xfrm>
        <a:graphic>
          <a:graphicData uri="http://schemas.openxmlformats.org/drawingml/2006/table">
            <a:tbl>
              <a:tblPr firstRow="1" firstCol="1">
                <a:tableStyleId>{5C22544A-7EE6-4342-B048-85BDC9FD1C3A}</a:tableStyleId>
              </a:tblPr>
              <a:tblGrid>
                <a:gridCol w="2311400">
                  <a:extLst>
                    <a:ext uri="{9D8B030D-6E8A-4147-A177-3AD203B41FA5}">
                      <a16:colId xmlns:a16="http://schemas.microsoft.com/office/drawing/2014/main" val="2805205134"/>
                    </a:ext>
                  </a:extLst>
                </a:gridCol>
                <a:gridCol w="2311400">
                  <a:extLst>
                    <a:ext uri="{9D8B030D-6E8A-4147-A177-3AD203B41FA5}">
                      <a16:colId xmlns:a16="http://schemas.microsoft.com/office/drawing/2014/main" val="3647663920"/>
                    </a:ext>
                  </a:extLst>
                </a:gridCol>
                <a:gridCol w="2311400">
                  <a:extLst>
                    <a:ext uri="{9D8B030D-6E8A-4147-A177-3AD203B41FA5}">
                      <a16:colId xmlns:a16="http://schemas.microsoft.com/office/drawing/2014/main" val="3250148891"/>
                    </a:ext>
                  </a:extLst>
                </a:gridCol>
              </a:tblGrid>
              <a:tr h="816985">
                <a:tc>
                  <a:txBody>
                    <a:bodyPr/>
                    <a:lstStyle/>
                    <a:p>
                      <a:pPr>
                        <a:lnSpc>
                          <a:spcPct val="150000"/>
                        </a:lnSpc>
                        <a:spcBef>
                          <a:spcPts val="1200"/>
                        </a:spcBef>
                        <a:spcAft>
                          <a:spcPts val="600"/>
                        </a:spcAft>
                        <a:buNone/>
                      </a:pPr>
                      <a:r>
                        <a:rPr lang="en-AU" sz="2400">
                          <a:effectLst/>
                        </a:rPr>
                        <a:t>Weight</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Grams (g)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Kilograms (kg)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59298779"/>
                  </a:ext>
                </a:extLst>
              </a:tr>
              <a:tr h="878946">
                <a:tc>
                  <a:txBody>
                    <a:bodyPr/>
                    <a:lstStyle/>
                    <a:p>
                      <a:pPr>
                        <a:lnSpc>
                          <a:spcPct val="150000"/>
                        </a:lnSpc>
                        <a:spcBef>
                          <a:spcPts val="1200"/>
                        </a:spcBef>
                        <a:spcAft>
                          <a:spcPts val="600"/>
                        </a:spcAft>
                        <a:buNone/>
                      </a:pPr>
                      <a:r>
                        <a:rPr lang="en-AU" sz="2400">
                          <a:effectLst/>
                        </a:rPr>
                        <a:t>A</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10 000 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 </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51199196"/>
                  </a:ext>
                </a:extLst>
              </a:tr>
              <a:tr h="702129">
                <a:tc>
                  <a:txBody>
                    <a:bodyPr/>
                    <a:lstStyle/>
                    <a:p>
                      <a:pPr>
                        <a:lnSpc>
                          <a:spcPct val="150000"/>
                        </a:lnSpc>
                        <a:spcBef>
                          <a:spcPts val="12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B</a:t>
                      </a:r>
                    </a:p>
                  </a:txBody>
                  <a:tcPr marL="68580" marR="68580" marT="0" marB="0"/>
                </a:tc>
                <a:tc>
                  <a:txBody>
                    <a:bodyPr/>
                    <a:lstStyle/>
                    <a:p>
                      <a:pPr>
                        <a:lnSpc>
                          <a:spcPct val="150000"/>
                        </a:lnSpc>
                        <a:spcBef>
                          <a:spcPts val="1200"/>
                        </a:spcBef>
                        <a:spcAft>
                          <a:spcPts val="600"/>
                        </a:spcAft>
                        <a:buNone/>
                      </a:pPr>
                      <a:r>
                        <a:rPr lang="en-AU" sz="2400">
                          <a:effectLst/>
                        </a:rPr>
                        <a:t> 1687 g</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08169409"/>
                  </a:ext>
                </a:extLst>
              </a:tr>
              <a:tr h="702129">
                <a:tc>
                  <a:txBody>
                    <a:bodyPr/>
                    <a:lstStyle/>
                    <a:p>
                      <a:pPr>
                        <a:lnSpc>
                          <a:spcPct val="150000"/>
                        </a:lnSpc>
                        <a:spcBef>
                          <a:spcPts val="1200"/>
                        </a:spcBef>
                        <a:spcAft>
                          <a:spcPts val="600"/>
                        </a:spcAft>
                        <a:buNone/>
                      </a:pPr>
                      <a:r>
                        <a:rPr lang="en-AU" sz="2400" dirty="0">
                          <a:effectLst/>
                          <a:latin typeface="Arial" panose="020B0604020202020204" pitchFamily="34" charset="0"/>
                          <a:ea typeface="Calibri" panose="020F0502020204030204" pitchFamily="34" charset="0"/>
                          <a:cs typeface="Arial" panose="020B0604020202020204" pitchFamily="34" charset="0"/>
                        </a:rPr>
                        <a:t>C</a:t>
                      </a:r>
                    </a:p>
                  </a:txBody>
                  <a:tcPr marL="68580" marR="68580" marT="0" marB="0"/>
                </a:tc>
                <a:tc>
                  <a:txBody>
                    <a:bodyPr/>
                    <a:lstStyle/>
                    <a:p>
                      <a:pPr>
                        <a:lnSpc>
                          <a:spcPct val="150000"/>
                        </a:lnSpc>
                        <a:spcBef>
                          <a:spcPts val="1200"/>
                        </a:spcBef>
                        <a:spcAft>
                          <a:spcPts val="600"/>
                        </a:spcAft>
                        <a:buNone/>
                      </a:pPr>
                      <a:r>
                        <a:rPr lang="en-AU" sz="2400">
                          <a:effectLst/>
                          <a:latin typeface="Arial" panose="020B0604020202020204" pitchFamily="34" charset="0"/>
                          <a:ea typeface="Calibri" panose="020F0502020204030204" pitchFamily="34" charset="0"/>
                          <a:cs typeface="Arial" panose="020B0604020202020204" pitchFamily="34" charset="0"/>
                        </a:rPr>
                        <a:t>12 876 g</a:t>
                      </a:r>
                    </a:p>
                  </a:txBody>
                  <a:tcPr marL="68580" marR="68580" marT="0" marB="0"/>
                </a:tc>
                <a:tc>
                  <a:txBody>
                    <a:bodyPr/>
                    <a:lstStyle/>
                    <a:p>
                      <a:pPr>
                        <a:lnSpc>
                          <a:spcPct val="150000"/>
                        </a:lnSpc>
                        <a:spcBef>
                          <a:spcPts val="1200"/>
                        </a:spcBef>
                        <a:spcAft>
                          <a:spcPts val="600"/>
                        </a:spcAft>
                        <a:buNone/>
                      </a:pPr>
                      <a:endParaRPr lang="en-AU" sz="2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54488413"/>
                  </a:ext>
                </a:extLst>
              </a:tr>
            </a:tbl>
          </a:graphicData>
        </a:graphic>
      </p:graphicFrame>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474481" y="4563034"/>
            <a:ext cx="11243037" cy="2320389"/>
          </a:xfrm>
        </p:spPr>
        <p:txBody>
          <a:bodyPr/>
          <a:lstStyle/>
          <a:p>
            <a:pPr algn="ctr"/>
            <a:r>
              <a:rPr lang="en-US" sz="4000" b="1">
                <a:latin typeface="Arial"/>
                <a:cs typeface="Arial"/>
              </a:rPr>
              <a:t>Convert</a:t>
            </a:r>
            <a:r>
              <a:rPr lang="en-US" sz="4000">
                <a:latin typeface="Arial"/>
                <a:cs typeface="Arial"/>
              </a:rPr>
              <a:t> the </a:t>
            </a:r>
            <a:r>
              <a:rPr lang="en-US" sz="4000" b="1">
                <a:latin typeface="Arial"/>
                <a:cs typeface="Arial"/>
              </a:rPr>
              <a:t>weight</a:t>
            </a:r>
            <a:r>
              <a:rPr lang="en-US" sz="4000">
                <a:latin typeface="Arial"/>
                <a:cs typeface="Arial"/>
              </a:rPr>
              <a:t> of these crocodiles to </a:t>
            </a:r>
            <a:r>
              <a:rPr lang="en-US" sz="4000" b="1">
                <a:latin typeface="Arial"/>
                <a:cs typeface="Arial"/>
              </a:rPr>
              <a:t>kilograms</a:t>
            </a:r>
            <a:r>
              <a:rPr lang="en-US" sz="4000">
                <a:latin typeface="Arial"/>
                <a:cs typeface="Arial"/>
              </a:rPr>
              <a:t>. Which crocodile is the </a:t>
            </a:r>
            <a:r>
              <a:rPr lang="en-US" sz="4000" b="1">
                <a:latin typeface="Arial"/>
                <a:cs typeface="Arial"/>
              </a:rPr>
              <a:t>heaviest</a:t>
            </a:r>
            <a:r>
              <a:rPr lang="en-US" sz="4000">
                <a:latin typeface="Arial"/>
                <a:cs typeface="Arial"/>
              </a:rPr>
              <a:t>?</a:t>
            </a:r>
            <a:endParaRPr lang="en-US" sz="1600"/>
          </a:p>
          <a:p>
            <a:endParaRPr lang="en-US">
              <a:latin typeface="Arial"/>
              <a:cs typeface="Arial"/>
            </a:endParaRPr>
          </a:p>
        </p:txBody>
      </p:sp>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(14)</a:t>
            </a: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0" y="1116943"/>
            <a:ext cx="11243037" cy="3336814"/>
          </a:xfrm>
        </p:spPr>
        <p:txBody>
          <a:bodyPr/>
          <a:lstStyle/>
          <a:p>
            <a:pPr algn="ctr"/>
            <a:r>
              <a:rPr lang="en-AU" sz="3600" dirty="0"/>
              <a:t>You have a square on a piece of paper. </a:t>
            </a:r>
          </a:p>
          <a:p>
            <a:pPr algn="ctr"/>
            <a:r>
              <a:rPr lang="en-AU" sz="3600" dirty="0"/>
              <a:t>If </a:t>
            </a:r>
            <a:r>
              <a:rPr lang="en-AU" sz="3600" b="1" dirty="0"/>
              <a:t>you reflect </a:t>
            </a:r>
            <a:r>
              <a:rPr lang="en-AU" sz="3600" dirty="0"/>
              <a:t>the square over a line, where will the new square be? Then, if you rotate the original square 90 degrees, how will it look? </a:t>
            </a:r>
          </a:p>
          <a:p>
            <a:pPr algn="ctr"/>
            <a:r>
              <a:rPr lang="en-AU" sz="3600" b="1" dirty="0"/>
              <a:t>Describe</a:t>
            </a:r>
            <a:r>
              <a:rPr lang="en-AU" sz="3600" dirty="0"/>
              <a:t> what happens to the square with each </a:t>
            </a:r>
            <a:r>
              <a:rPr lang="en-AU" sz="3600" b="1" dirty="0"/>
              <a:t>transformation</a:t>
            </a:r>
            <a:r>
              <a:rPr lang="en-AU" sz="3600" dirty="0"/>
              <a:t>.</a:t>
            </a:r>
            <a:endParaRPr lang="en-US" sz="3600" dirty="0">
              <a:latin typeface="Arial"/>
              <a:cs typeface="Arial"/>
            </a:endParaRPr>
          </a:p>
        </p:txBody>
      </p:sp>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comparing fractional quantities 2</a:t>
            </a:r>
          </a:p>
        </p:txBody>
      </p:sp>
      <p:pic>
        <p:nvPicPr>
          <p:cNvPr id="37" name="Picture 36" descr="image of a head with cogs turning inside">
            <a:extLst>
              <a:ext uri="{FF2B5EF4-FFF2-40B4-BE49-F238E27FC236}">
                <a16:creationId xmlns:a16="http://schemas.microsoft.com/office/drawing/2014/main" id="{A8A9B36F-AE3F-071C-A58E-9514E08F1D5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8" name="Picture 37" descr="Two number lines. The top number line has 1/4, 2/4 and 1 labelled with the bottom number line labelled with eighths, 1/8 to 6/8.&#10;1/4 is the same as 2/8.">
            <a:extLst>
              <a:ext uri="{FF2B5EF4-FFF2-40B4-BE49-F238E27FC236}">
                <a16:creationId xmlns:a16="http://schemas.microsoft.com/office/drawing/2014/main" id="{C330C460-0764-CDC3-854D-943684789BCC}"/>
              </a:ext>
            </a:extLst>
          </p:cNvPr>
          <p:cNvPicPr>
            <a:picLocks noChangeAspect="1"/>
          </p:cNvPicPr>
          <p:nvPr/>
        </p:nvPicPr>
        <p:blipFill>
          <a:blip r:embed="rId4"/>
          <a:stretch>
            <a:fillRect/>
          </a:stretch>
        </p:blipFill>
        <p:spPr>
          <a:xfrm>
            <a:off x="2779329" y="1702926"/>
            <a:ext cx="6633342" cy="4015748"/>
          </a:xfrm>
          <a:prstGeom prst="rect">
            <a:avLst/>
          </a:prstGeom>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426165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(3)</a:t>
            </a:r>
          </a:p>
        </p:txBody>
      </p:sp>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4481" y="1311383"/>
            <a:ext cx="11243037" cy="893226"/>
          </a:xfrm>
        </p:spPr>
        <p:txBody>
          <a:bodyPr vert="horz" lIns="0" tIns="0" rIns="0" bIns="0" rtlCol="0" anchor="t">
            <a:noAutofit/>
          </a:bodyPr>
          <a:lstStyle/>
          <a:p>
            <a:pPr algn="ctr"/>
            <a:r>
              <a:rPr lang="en-US" sz="4000"/>
              <a:t>What </a:t>
            </a:r>
            <a:r>
              <a:rPr lang="en-US" sz="4000" b="1"/>
              <a:t>values</a:t>
            </a:r>
            <a:r>
              <a:rPr lang="en-US" sz="4000"/>
              <a:t> are missing from the table?</a:t>
            </a:r>
          </a:p>
        </p:txBody>
      </p:sp>
      <p:graphicFrame>
        <p:nvGraphicFramePr>
          <p:cNvPr id="9" name="Table 8">
            <a:extLst>
              <a:ext uri="{FF2B5EF4-FFF2-40B4-BE49-F238E27FC236}">
                <a16:creationId xmlns:a16="http://schemas.microsoft.com/office/drawing/2014/main" id="{3E812C1A-E2AC-BB7B-C3DB-BEC582A85A46}"/>
              </a:ext>
            </a:extLst>
          </p:cNvPr>
          <p:cNvGraphicFramePr>
            <a:graphicFrameLocks noGrp="1"/>
          </p:cNvGraphicFramePr>
          <p:nvPr>
            <p:extLst>
              <p:ext uri="{D42A27DB-BD31-4B8C-83A1-F6EECF244321}">
                <p14:modId xmlns:p14="http://schemas.microsoft.com/office/powerpoint/2010/main" val="2208701851"/>
              </p:ext>
            </p:extLst>
          </p:nvPr>
        </p:nvGraphicFramePr>
        <p:xfrm>
          <a:off x="2530943" y="2399538"/>
          <a:ext cx="6673758" cy="2058924"/>
        </p:xfrm>
        <a:graphic>
          <a:graphicData uri="http://schemas.openxmlformats.org/drawingml/2006/table">
            <a:tbl>
              <a:tblPr firstRow="1" firstCol="1" bandRow="1">
                <a:tableStyleId>{5A111915-BE36-4E01-A7E5-04B1672EAD32}</a:tableStyleId>
              </a:tblPr>
              <a:tblGrid>
                <a:gridCol w="2284261">
                  <a:extLst>
                    <a:ext uri="{9D8B030D-6E8A-4147-A177-3AD203B41FA5}">
                      <a16:colId xmlns:a16="http://schemas.microsoft.com/office/drawing/2014/main" val="2214276600"/>
                    </a:ext>
                  </a:extLst>
                </a:gridCol>
                <a:gridCol w="627071">
                  <a:extLst>
                    <a:ext uri="{9D8B030D-6E8A-4147-A177-3AD203B41FA5}">
                      <a16:colId xmlns:a16="http://schemas.microsoft.com/office/drawing/2014/main" val="1847189613"/>
                    </a:ext>
                  </a:extLst>
                </a:gridCol>
                <a:gridCol w="627071">
                  <a:extLst>
                    <a:ext uri="{9D8B030D-6E8A-4147-A177-3AD203B41FA5}">
                      <a16:colId xmlns:a16="http://schemas.microsoft.com/office/drawing/2014/main" val="2525653701"/>
                    </a:ext>
                  </a:extLst>
                </a:gridCol>
                <a:gridCol w="627071">
                  <a:extLst>
                    <a:ext uri="{9D8B030D-6E8A-4147-A177-3AD203B41FA5}">
                      <a16:colId xmlns:a16="http://schemas.microsoft.com/office/drawing/2014/main" val="4110869221"/>
                    </a:ext>
                  </a:extLst>
                </a:gridCol>
                <a:gridCol w="627071">
                  <a:extLst>
                    <a:ext uri="{9D8B030D-6E8A-4147-A177-3AD203B41FA5}">
                      <a16:colId xmlns:a16="http://schemas.microsoft.com/office/drawing/2014/main" val="1573142878"/>
                    </a:ext>
                  </a:extLst>
                </a:gridCol>
                <a:gridCol w="627071">
                  <a:extLst>
                    <a:ext uri="{9D8B030D-6E8A-4147-A177-3AD203B41FA5}">
                      <a16:colId xmlns:a16="http://schemas.microsoft.com/office/drawing/2014/main" val="2485552351"/>
                    </a:ext>
                  </a:extLst>
                </a:gridCol>
                <a:gridCol w="627071">
                  <a:extLst>
                    <a:ext uri="{9D8B030D-6E8A-4147-A177-3AD203B41FA5}">
                      <a16:colId xmlns:a16="http://schemas.microsoft.com/office/drawing/2014/main" val="868033831"/>
                    </a:ext>
                  </a:extLst>
                </a:gridCol>
                <a:gridCol w="627071">
                  <a:extLst>
                    <a:ext uri="{9D8B030D-6E8A-4147-A177-3AD203B41FA5}">
                      <a16:colId xmlns:a16="http://schemas.microsoft.com/office/drawing/2014/main" val="2719846179"/>
                    </a:ext>
                  </a:extLst>
                </a:gridCol>
              </a:tblGrid>
              <a:tr h="736612">
                <a:tc>
                  <a:txBody>
                    <a:bodyPr/>
                    <a:lstStyle/>
                    <a:p>
                      <a:pPr>
                        <a:lnSpc>
                          <a:spcPct val="150000"/>
                        </a:lnSpc>
                        <a:spcBef>
                          <a:spcPts val="1200"/>
                        </a:spcBef>
                        <a:spcAft>
                          <a:spcPts val="600"/>
                        </a:spcAft>
                        <a:buNone/>
                      </a:pPr>
                      <a:r>
                        <a:rPr lang="en-AU" sz="2400">
                          <a:solidFill>
                            <a:schemeClr val="tx1"/>
                          </a:solidFill>
                          <a:effectLst/>
                        </a:rPr>
                        <a:t>Number of squares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b="0">
                          <a:solidFill>
                            <a:schemeClr val="tx1"/>
                          </a:solidFill>
                          <a:effectLst/>
                        </a:rPr>
                        <a:t>1</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2</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3</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4</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5</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6</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7</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515866"/>
                  </a:ext>
                </a:extLst>
              </a:tr>
              <a:tr h="729835">
                <a:tc>
                  <a:txBody>
                    <a:bodyPr/>
                    <a:lstStyle/>
                    <a:p>
                      <a:pPr>
                        <a:lnSpc>
                          <a:spcPct val="150000"/>
                        </a:lnSpc>
                        <a:spcBef>
                          <a:spcPts val="1200"/>
                        </a:spcBef>
                        <a:spcAft>
                          <a:spcPts val="600"/>
                        </a:spcAft>
                        <a:buNone/>
                      </a:pPr>
                      <a:r>
                        <a:rPr lang="en-AU" sz="2400">
                          <a:solidFill>
                            <a:schemeClr val="tx1"/>
                          </a:solidFill>
                          <a:effectLst/>
                        </a:rPr>
                        <a:t>Number of sides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a:solidFill>
                            <a:schemeClr val="tx1"/>
                          </a:solidFill>
                          <a:effectLst/>
                        </a:rPr>
                        <a:t> 4</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rPr>
                        <a:t> 8</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rPr>
                        <a:t> 12</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rPr>
                        <a:t> </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rPr>
                        <a:t> </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rPr>
                        <a:t> </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468257"/>
                  </a:ext>
                </a:extLst>
              </a:tr>
            </a:tbl>
          </a:graphicData>
        </a:graphic>
      </p:graphicFrame>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470097846"/>
              </p:ext>
            </p:extLst>
          </p:nvPr>
        </p:nvGraphicFramePr>
        <p:xfrm>
          <a:off x="239519" y="4794363"/>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t>18, 22, 26, 32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3200"/>
                        <a:t>16, 24, 28, 32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t>16, 20, 24, 28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latin typeface="+mn-lt"/>
                          <a:cs typeface="Arial"/>
                        </a:rPr>
                        <a:t>16, 22, 26, 30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sp>
        <p:nvSpPr>
          <p:cNvPr id="10" name="Text Placeholder 17">
            <a:extLst>
              <a:ext uri="{FF2B5EF4-FFF2-40B4-BE49-F238E27FC236}">
                <a16:creationId xmlns:a16="http://schemas.microsoft.com/office/drawing/2014/main" id="{05ADD4E8-790F-6754-9BD9-1EAC356DBDA9}"/>
              </a:ext>
            </a:extLst>
          </p:cNvPr>
          <p:cNvSpPr txBox="1">
            <a:spLocks/>
          </p:cNvSpPr>
          <p:nvPr/>
        </p:nvSpPr>
        <p:spPr>
          <a:xfrm>
            <a:off x="338713" y="1103601"/>
            <a:ext cx="11243037" cy="89322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What </a:t>
            </a:r>
            <a:r>
              <a:rPr lang="en-US" sz="4000" b="1" dirty="0"/>
              <a:t>fraction </a:t>
            </a:r>
            <a:r>
              <a:rPr lang="en-US" sz="4000" dirty="0"/>
              <a:t>of the shape is black? </a:t>
            </a:r>
          </a:p>
          <a:p>
            <a:pPr algn="ctr"/>
            <a:r>
              <a:rPr lang="en-US" sz="4000" b="1" dirty="0"/>
              <a:t>Record</a:t>
            </a:r>
            <a:r>
              <a:rPr lang="en-US" sz="4000" dirty="0"/>
              <a:t> any equivalent fractions.</a:t>
            </a:r>
          </a:p>
        </p:txBody>
      </p:sp>
      <p:pic>
        <p:nvPicPr>
          <p:cNvPr id="8" name="Picture Placeholder 7" descr="A square divided diagonally into two triangles: the top triangle is black, the bottom triangle is light blue. The remaining background outside the square is green. ">
            <a:extLst>
              <a:ext uri="{FF2B5EF4-FFF2-40B4-BE49-F238E27FC236}">
                <a16:creationId xmlns:a16="http://schemas.microsoft.com/office/drawing/2014/main" id="{4E730F36-3946-6039-C93F-2568D0D5FE3A}"/>
              </a:ext>
            </a:extLst>
          </p:cNvPr>
          <p:cNvPicPr>
            <a:picLocks noGrp="1" noChangeAspect="1"/>
          </p:cNvPicPr>
          <p:nvPr>
            <p:ph type="pic" sz="quarter" idx="21"/>
          </p:nvPr>
        </p:nvPicPr>
        <p:blipFill>
          <a:blip r:embed="rId4"/>
          <a:srcRect l="9690" t="53186" r="74043" b="23711"/>
          <a:stretch>
            <a:fillRect/>
          </a:stretch>
        </p:blipFill>
        <p:spPr>
          <a:xfrm>
            <a:off x="4410422" y="3451720"/>
            <a:ext cx="2806808" cy="2818907"/>
          </a:xfrm>
          <a:prstGeom prst="rect">
            <a:avLst/>
          </a:prstGeom>
          <a:effectLst>
            <a:outerShdw blurRad="50800" dist="38100" dir="2700000" algn="tl" rotWithShape="0">
              <a:prstClr val="black">
                <a:alpha val="40000"/>
              </a:prstClr>
            </a:outerShdw>
          </a:effectLst>
        </p:spPr>
      </p:pic>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403726" y="1612872"/>
            <a:ext cx="10626750" cy="3632255"/>
          </a:xfrm>
        </p:spPr>
        <p:txBody>
          <a:bodyPr/>
          <a:lstStyle/>
          <a:p>
            <a:pPr algn="ctr"/>
            <a:r>
              <a:rPr lang="en-US" sz="4400" dirty="0">
                <a:latin typeface="Arial"/>
                <a:cs typeface="Arial"/>
              </a:rPr>
              <a:t>Use </a:t>
            </a:r>
            <a:r>
              <a:rPr lang="en-US" sz="4400" b="1" dirty="0">
                <a:latin typeface="Arial"/>
                <a:cs typeface="Arial"/>
              </a:rPr>
              <a:t>partitioning</a:t>
            </a:r>
            <a:r>
              <a:rPr lang="en-US" sz="4400" dirty="0">
                <a:latin typeface="Arial"/>
                <a:cs typeface="Arial"/>
              </a:rPr>
              <a:t> to solve:</a:t>
            </a:r>
          </a:p>
          <a:p>
            <a:pPr algn="ctr"/>
            <a:r>
              <a:rPr lang="en-US" sz="6000" dirty="0">
                <a:latin typeface="Arial"/>
                <a:cs typeface="Arial"/>
              </a:rPr>
              <a:t>193.628 + 3207.84</a:t>
            </a:r>
          </a:p>
        </p:txBody>
      </p:sp>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43631495-50E2-2FBF-C17B-078575CD49FC}"/>
              </a:ext>
            </a:extLst>
          </p:cNvPr>
          <p:cNvSpPr txBox="1"/>
          <p:nvPr/>
        </p:nvSpPr>
        <p:spPr>
          <a:xfrm>
            <a:off x="1143000" y="1587954"/>
            <a:ext cx="9887476" cy="3477875"/>
          </a:xfrm>
          <a:prstGeom prst="rect">
            <a:avLst/>
          </a:prstGeom>
          <a:noFill/>
        </p:spPr>
        <p:txBody>
          <a:bodyPr wrap="square">
            <a:spAutoFit/>
          </a:bodyPr>
          <a:lstStyle/>
          <a:p>
            <a:pPr algn="ctr"/>
            <a:r>
              <a:rPr lang="en-AU" sz="4400" dirty="0"/>
              <a:t>Robbie ran 5.2 kilometres in one lap and 3.75 kilometres in another lap. </a:t>
            </a:r>
          </a:p>
          <a:p>
            <a:pPr algn="ctr"/>
            <a:endParaRPr lang="en-AU" sz="4400" dirty="0"/>
          </a:p>
          <a:p>
            <a:pPr algn="ctr"/>
            <a:r>
              <a:rPr lang="en-AU" sz="4400" dirty="0"/>
              <a:t>Calculate the </a:t>
            </a:r>
            <a:r>
              <a:rPr lang="en-AU" sz="4400" b="1" dirty="0"/>
              <a:t>total distance </a:t>
            </a:r>
            <a:r>
              <a:rPr lang="en-AU" sz="4400" dirty="0"/>
              <a:t>he travelled in </a:t>
            </a:r>
            <a:r>
              <a:rPr lang="en-AU" sz="4400" b="1" dirty="0"/>
              <a:t>metres</a:t>
            </a:r>
            <a:r>
              <a:rPr lang="en-AU" sz="4400" dirty="0"/>
              <a:t>.</a:t>
            </a:r>
          </a:p>
        </p:txBody>
      </p:sp>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a:t>
            </a: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177071" y="1184223"/>
            <a:ext cx="11210840" cy="1507241"/>
          </a:xfrm>
        </p:spPr>
        <p:txBody>
          <a:bodyPr/>
          <a:lstStyle/>
          <a:p>
            <a:pPr algn="ctr"/>
            <a:r>
              <a:rPr lang="en-US" sz="4000">
                <a:latin typeface="Arial"/>
                <a:cs typeface="Arial"/>
              </a:rPr>
              <a:t>Using words, describe the </a:t>
            </a:r>
            <a:r>
              <a:rPr lang="en-US" sz="4000" b="1">
                <a:latin typeface="Arial"/>
                <a:cs typeface="Arial"/>
              </a:rPr>
              <a:t>chance</a:t>
            </a:r>
            <a:r>
              <a:rPr lang="en-US" sz="4000">
                <a:latin typeface="Arial"/>
                <a:cs typeface="Arial"/>
              </a:rPr>
              <a:t> of spinning green or pink.</a:t>
            </a:r>
          </a:p>
        </p:txBody>
      </p:sp>
      <p:pic>
        <p:nvPicPr>
          <p:cNvPr id="6" name="Picture 5" descr="A circle with six coloured partitions. 1 part blue, 1 part orange, 2 parts pink, 2 parts green.">
            <a:extLst>
              <a:ext uri="{FF2B5EF4-FFF2-40B4-BE49-F238E27FC236}">
                <a16:creationId xmlns:a16="http://schemas.microsoft.com/office/drawing/2014/main" id="{9B449FC4-B778-073C-BA40-81ACEBBB22D0}"/>
              </a:ext>
            </a:extLst>
          </p:cNvPr>
          <p:cNvPicPr>
            <a:picLocks noChangeAspect="1"/>
          </p:cNvPicPr>
          <p:nvPr/>
        </p:nvPicPr>
        <p:blipFill>
          <a:blip r:embed="rId4"/>
          <a:stretch>
            <a:fillRect/>
          </a:stretch>
        </p:blipFill>
        <p:spPr>
          <a:xfrm>
            <a:off x="3921124" y="3203207"/>
            <a:ext cx="3694547" cy="3110429"/>
          </a:xfrm>
          <a:prstGeom prst="rect">
            <a:avLst/>
          </a:prstGeom>
        </p:spPr>
      </p:pic>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236757" cy="545601"/>
          </a:xfrm>
        </p:spPr>
        <p:txBody>
          <a:bodyPr/>
          <a:lstStyle/>
          <a:p>
            <a:r>
              <a:rPr lang="en-AU">
                <a:latin typeface="Arial"/>
                <a:cs typeface="Arial"/>
              </a:rPr>
              <a:t>Activity 5 – table of values 1</a:t>
            </a:r>
            <a:endParaRPr lang="en-US"/>
          </a:p>
        </p:txBody>
      </p:sp>
      <p:pic>
        <p:nvPicPr>
          <p:cNvPr id="5" name="Picture 4" descr="image of a head with cogs turning inside">
            <a:extLst>
              <a:ext uri="{FF2B5EF4-FFF2-40B4-BE49-F238E27FC236}">
                <a16:creationId xmlns:a16="http://schemas.microsoft.com/office/drawing/2014/main" id="{54BFAD96-58F1-0D33-BB0B-3EDE3BF22D5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6" name="Hexagon 5" descr="hexagon">
            <a:extLst>
              <a:ext uri="{FF2B5EF4-FFF2-40B4-BE49-F238E27FC236}">
                <a16:creationId xmlns:a16="http://schemas.microsoft.com/office/drawing/2014/main" id="{3B29027D-F72C-7627-9B4F-FAC51B639F57}"/>
              </a:ext>
            </a:extLst>
          </p:cNvPr>
          <p:cNvSpPr/>
          <p:nvPr/>
        </p:nvSpPr>
        <p:spPr>
          <a:xfrm>
            <a:off x="3138659" y="1427693"/>
            <a:ext cx="1023029" cy="848058"/>
          </a:xfrm>
          <a:prstGeom prst="hexagon">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4" name="Table 3">
            <a:extLst>
              <a:ext uri="{FF2B5EF4-FFF2-40B4-BE49-F238E27FC236}">
                <a16:creationId xmlns:a16="http://schemas.microsoft.com/office/drawing/2014/main" id="{3ED827A1-8350-E647-D7AC-72DE1250E2FB}"/>
              </a:ext>
            </a:extLst>
          </p:cNvPr>
          <p:cNvGraphicFramePr>
            <a:graphicFrameLocks noGrp="1"/>
          </p:cNvGraphicFramePr>
          <p:nvPr>
            <p:extLst>
              <p:ext uri="{D42A27DB-BD31-4B8C-83A1-F6EECF244321}">
                <p14:modId xmlns:p14="http://schemas.microsoft.com/office/powerpoint/2010/main" val="1703793635"/>
              </p:ext>
            </p:extLst>
          </p:nvPr>
        </p:nvGraphicFramePr>
        <p:xfrm>
          <a:off x="360000" y="2668048"/>
          <a:ext cx="10908225" cy="1762583"/>
        </p:xfrm>
        <a:graphic>
          <a:graphicData uri="http://schemas.openxmlformats.org/drawingml/2006/table">
            <a:tbl>
              <a:tblPr firstRow="1" firstCol="1" bandRow="1">
                <a:tableStyleId>{5A111915-BE36-4E01-A7E5-04B1672EAD32}</a:tableStyleId>
              </a:tblPr>
              <a:tblGrid>
                <a:gridCol w="2912665">
                  <a:extLst>
                    <a:ext uri="{9D8B030D-6E8A-4147-A177-3AD203B41FA5}">
                      <a16:colId xmlns:a16="http://schemas.microsoft.com/office/drawing/2014/main" val="2024091781"/>
                    </a:ext>
                  </a:extLst>
                </a:gridCol>
                <a:gridCol w="799556">
                  <a:extLst>
                    <a:ext uri="{9D8B030D-6E8A-4147-A177-3AD203B41FA5}">
                      <a16:colId xmlns:a16="http://schemas.microsoft.com/office/drawing/2014/main" val="238408290"/>
                    </a:ext>
                  </a:extLst>
                </a:gridCol>
                <a:gridCol w="799556">
                  <a:extLst>
                    <a:ext uri="{9D8B030D-6E8A-4147-A177-3AD203B41FA5}">
                      <a16:colId xmlns:a16="http://schemas.microsoft.com/office/drawing/2014/main" val="2775988315"/>
                    </a:ext>
                  </a:extLst>
                </a:gridCol>
                <a:gridCol w="799556">
                  <a:extLst>
                    <a:ext uri="{9D8B030D-6E8A-4147-A177-3AD203B41FA5}">
                      <a16:colId xmlns:a16="http://schemas.microsoft.com/office/drawing/2014/main" val="3312906330"/>
                    </a:ext>
                  </a:extLst>
                </a:gridCol>
                <a:gridCol w="799556">
                  <a:extLst>
                    <a:ext uri="{9D8B030D-6E8A-4147-A177-3AD203B41FA5}">
                      <a16:colId xmlns:a16="http://schemas.microsoft.com/office/drawing/2014/main" val="2184240022"/>
                    </a:ext>
                  </a:extLst>
                </a:gridCol>
                <a:gridCol w="799556">
                  <a:extLst>
                    <a:ext uri="{9D8B030D-6E8A-4147-A177-3AD203B41FA5}">
                      <a16:colId xmlns:a16="http://schemas.microsoft.com/office/drawing/2014/main" val="1011731949"/>
                    </a:ext>
                  </a:extLst>
                </a:gridCol>
                <a:gridCol w="799556">
                  <a:extLst>
                    <a:ext uri="{9D8B030D-6E8A-4147-A177-3AD203B41FA5}">
                      <a16:colId xmlns:a16="http://schemas.microsoft.com/office/drawing/2014/main" val="67906432"/>
                    </a:ext>
                  </a:extLst>
                </a:gridCol>
                <a:gridCol w="799556">
                  <a:extLst>
                    <a:ext uri="{9D8B030D-6E8A-4147-A177-3AD203B41FA5}">
                      <a16:colId xmlns:a16="http://schemas.microsoft.com/office/drawing/2014/main" val="1684308137"/>
                    </a:ext>
                  </a:extLst>
                </a:gridCol>
                <a:gridCol w="799556">
                  <a:extLst>
                    <a:ext uri="{9D8B030D-6E8A-4147-A177-3AD203B41FA5}">
                      <a16:colId xmlns:a16="http://schemas.microsoft.com/office/drawing/2014/main" val="2626736069"/>
                    </a:ext>
                  </a:extLst>
                </a:gridCol>
                <a:gridCol w="799556">
                  <a:extLst>
                    <a:ext uri="{9D8B030D-6E8A-4147-A177-3AD203B41FA5}">
                      <a16:colId xmlns:a16="http://schemas.microsoft.com/office/drawing/2014/main" val="1018699149"/>
                    </a:ext>
                  </a:extLst>
                </a:gridCol>
                <a:gridCol w="799556">
                  <a:extLst>
                    <a:ext uri="{9D8B030D-6E8A-4147-A177-3AD203B41FA5}">
                      <a16:colId xmlns:a16="http://schemas.microsoft.com/office/drawing/2014/main" val="2160316203"/>
                    </a:ext>
                  </a:extLst>
                </a:gridCol>
              </a:tblGrid>
              <a:tr h="953654">
                <a:tc>
                  <a:txBody>
                    <a:bodyPr/>
                    <a:lstStyle/>
                    <a:p>
                      <a:pPr algn="ctr">
                        <a:lnSpc>
                          <a:spcPct val="150000"/>
                        </a:lnSpc>
                        <a:spcBef>
                          <a:spcPts val="1200"/>
                        </a:spcBef>
                        <a:spcAft>
                          <a:spcPts val="600"/>
                        </a:spcAft>
                      </a:pPr>
                      <a:r>
                        <a:rPr lang="en-AU" sz="2400">
                          <a:solidFill>
                            <a:schemeClr val="bg1"/>
                          </a:solidFill>
                          <a:effectLst/>
                          <a:latin typeface="Arial" panose="020B0604020202020204" pitchFamily="34" charset="0"/>
                          <a:cs typeface="Arial" panose="020B0604020202020204" pitchFamily="34" charset="0"/>
                        </a:rPr>
                        <a:t>Number of shapes</a:t>
                      </a:r>
                      <a:endParaRPr lang="en-AU" sz="24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1</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2</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3</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4</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5</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6</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7</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8</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9</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10</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7290760"/>
                  </a:ext>
                </a:extLst>
              </a:tr>
              <a:tr h="808929">
                <a:tc>
                  <a:txBody>
                    <a:bodyPr/>
                    <a:lstStyle/>
                    <a:p>
                      <a:pPr algn="ctr">
                        <a:lnSpc>
                          <a:spcPct val="150000"/>
                        </a:lnSpc>
                        <a:spcBef>
                          <a:spcPts val="1200"/>
                        </a:spcBef>
                        <a:spcAft>
                          <a:spcPts val="600"/>
                        </a:spcAft>
                      </a:pPr>
                      <a:r>
                        <a:rPr lang="en-AU" sz="2400">
                          <a:solidFill>
                            <a:schemeClr val="bg1"/>
                          </a:solidFill>
                          <a:effectLst/>
                          <a:latin typeface="Arial" panose="020B0604020202020204" pitchFamily="34" charset="0"/>
                          <a:cs typeface="Arial" panose="020B0604020202020204" pitchFamily="34" charset="0"/>
                        </a:rPr>
                        <a:t>Number of sides</a:t>
                      </a:r>
                      <a:endParaRPr lang="en-AU" sz="24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72227"/>
                  </a:ext>
                </a:extLst>
              </a:tr>
            </a:tbl>
          </a:graphicData>
        </a:graphic>
      </p:graphicFrame>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005646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(3)</a:t>
            </a:r>
          </a:p>
        </p:txBody>
      </p:sp>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503235" y="1363219"/>
            <a:ext cx="11185528" cy="2128068"/>
          </a:xfrm>
        </p:spPr>
        <p:txBody>
          <a:bodyPr vert="horz" lIns="0" tIns="0" rIns="0" bIns="0" rtlCol="0" anchor="t">
            <a:noAutofit/>
          </a:bodyPr>
          <a:lstStyle/>
          <a:p>
            <a:pPr algn="ctr"/>
            <a:r>
              <a:rPr lang="en-US" sz="3600"/>
              <a:t>Keely has </a:t>
            </a:r>
            <a:r>
              <a:rPr lang="en-US" sz="3600" b="1"/>
              <a:t>accurately</a:t>
            </a:r>
            <a:r>
              <a:rPr lang="en-US" sz="3600"/>
              <a:t> completed the table. </a:t>
            </a:r>
          </a:p>
        </p:txBody>
      </p:sp>
      <p:graphicFrame>
        <p:nvGraphicFramePr>
          <p:cNvPr id="8" name="Table 7">
            <a:extLst>
              <a:ext uri="{FF2B5EF4-FFF2-40B4-BE49-F238E27FC236}">
                <a16:creationId xmlns:a16="http://schemas.microsoft.com/office/drawing/2014/main" id="{DD84F824-A667-CCBF-8CB1-5ABCB636D7CA}"/>
              </a:ext>
            </a:extLst>
          </p:cNvPr>
          <p:cNvGraphicFramePr>
            <a:graphicFrameLocks noGrp="1"/>
          </p:cNvGraphicFramePr>
          <p:nvPr>
            <p:extLst>
              <p:ext uri="{D42A27DB-BD31-4B8C-83A1-F6EECF244321}">
                <p14:modId xmlns:p14="http://schemas.microsoft.com/office/powerpoint/2010/main" val="1335336053"/>
              </p:ext>
            </p:extLst>
          </p:nvPr>
        </p:nvGraphicFramePr>
        <p:xfrm>
          <a:off x="745588" y="2468258"/>
          <a:ext cx="10227209" cy="1466447"/>
        </p:xfrm>
        <a:graphic>
          <a:graphicData uri="http://schemas.openxmlformats.org/drawingml/2006/table">
            <a:tbl>
              <a:tblPr firstRow="1" firstCol="1" bandRow="1">
                <a:tableStyleId>{5A111915-BE36-4E01-A7E5-04B1672EAD32}</a:tableStyleId>
              </a:tblPr>
              <a:tblGrid>
                <a:gridCol w="3500517">
                  <a:extLst>
                    <a:ext uri="{9D8B030D-6E8A-4147-A177-3AD203B41FA5}">
                      <a16:colId xmlns:a16="http://schemas.microsoft.com/office/drawing/2014/main" val="2214276600"/>
                    </a:ext>
                  </a:extLst>
                </a:gridCol>
                <a:gridCol w="960956">
                  <a:extLst>
                    <a:ext uri="{9D8B030D-6E8A-4147-A177-3AD203B41FA5}">
                      <a16:colId xmlns:a16="http://schemas.microsoft.com/office/drawing/2014/main" val="1847189613"/>
                    </a:ext>
                  </a:extLst>
                </a:gridCol>
                <a:gridCol w="960956">
                  <a:extLst>
                    <a:ext uri="{9D8B030D-6E8A-4147-A177-3AD203B41FA5}">
                      <a16:colId xmlns:a16="http://schemas.microsoft.com/office/drawing/2014/main" val="2525653701"/>
                    </a:ext>
                  </a:extLst>
                </a:gridCol>
                <a:gridCol w="960956">
                  <a:extLst>
                    <a:ext uri="{9D8B030D-6E8A-4147-A177-3AD203B41FA5}">
                      <a16:colId xmlns:a16="http://schemas.microsoft.com/office/drawing/2014/main" val="4110869221"/>
                    </a:ext>
                  </a:extLst>
                </a:gridCol>
                <a:gridCol w="960956">
                  <a:extLst>
                    <a:ext uri="{9D8B030D-6E8A-4147-A177-3AD203B41FA5}">
                      <a16:colId xmlns:a16="http://schemas.microsoft.com/office/drawing/2014/main" val="1573142878"/>
                    </a:ext>
                  </a:extLst>
                </a:gridCol>
                <a:gridCol w="960956">
                  <a:extLst>
                    <a:ext uri="{9D8B030D-6E8A-4147-A177-3AD203B41FA5}">
                      <a16:colId xmlns:a16="http://schemas.microsoft.com/office/drawing/2014/main" val="2485552351"/>
                    </a:ext>
                  </a:extLst>
                </a:gridCol>
                <a:gridCol w="960956">
                  <a:extLst>
                    <a:ext uri="{9D8B030D-6E8A-4147-A177-3AD203B41FA5}">
                      <a16:colId xmlns:a16="http://schemas.microsoft.com/office/drawing/2014/main" val="868033831"/>
                    </a:ext>
                  </a:extLst>
                </a:gridCol>
                <a:gridCol w="960956">
                  <a:extLst>
                    <a:ext uri="{9D8B030D-6E8A-4147-A177-3AD203B41FA5}">
                      <a16:colId xmlns:a16="http://schemas.microsoft.com/office/drawing/2014/main" val="2719846179"/>
                    </a:ext>
                  </a:extLst>
                </a:gridCol>
              </a:tblGrid>
              <a:tr h="736612">
                <a:tc>
                  <a:txBody>
                    <a:bodyPr/>
                    <a:lstStyle/>
                    <a:p>
                      <a:pPr>
                        <a:lnSpc>
                          <a:spcPct val="150000"/>
                        </a:lnSpc>
                        <a:spcBef>
                          <a:spcPts val="1200"/>
                        </a:spcBef>
                        <a:spcAft>
                          <a:spcPts val="600"/>
                        </a:spcAft>
                        <a:buNone/>
                      </a:pPr>
                      <a:r>
                        <a:rPr lang="en-AU" sz="2400">
                          <a:solidFill>
                            <a:schemeClr val="tx1"/>
                          </a:solidFill>
                          <a:effectLst/>
                        </a:rPr>
                        <a:t>Number of hexagons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4</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rPr>
                        <a:t>5</a:t>
                      </a: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7</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8</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9</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10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515866"/>
                  </a:ext>
                </a:extLst>
              </a:tr>
              <a:tr h="729835">
                <a:tc>
                  <a:txBody>
                    <a:bodyPr/>
                    <a:lstStyle/>
                    <a:p>
                      <a:pPr>
                        <a:lnSpc>
                          <a:spcPct val="150000"/>
                        </a:lnSpc>
                        <a:spcBef>
                          <a:spcPts val="1200"/>
                        </a:spcBef>
                        <a:spcAft>
                          <a:spcPts val="600"/>
                        </a:spcAft>
                        <a:buNone/>
                      </a:pPr>
                      <a:r>
                        <a:rPr lang="en-AU" sz="2400">
                          <a:solidFill>
                            <a:schemeClr val="tx1"/>
                          </a:solidFill>
                          <a:effectLst/>
                        </a:rPr>
                        <a:t>Number of sides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a:solidFill>
                            <a:schemeClr val="tx1"/>
                          </a:solidFill>
                          <a:effectLst/>
                        </a:rPr>
                        <a:t> 24</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30</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36</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42</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48</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54</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60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468257"/>
                  </a:ext>
                </a:extLst>
              </a:tr>
            </a:tbl>
          </a:graphicData>
        </a:graphic>
      </p:graphicFrame>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1348004317"/>
              </p:ext>
            </p:extLst>
          </p:nvPr>
        </p:nvGraphicFramePr>
        <p:xfrm>
          <a:off x="2442981" y="430876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4481" y="5328860"/>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a:t>
            </a:r>
            <a:r>
              <a:rPr lang="en-US" sz="4000" b="1">
                <a:latin typeface="Arial"/>
                <a:cs typeface="Arial"/>
              </a:rPr>
              <a:t> reasoning</a:t>
            </a:r>
            <a:r>
              <a:rPr lang="en-US" sz="4000">
                <a:latin typeface="Arial"/>
                <a:cs typeface="Arial"/>
              </a:rPr>
              <a:t>. </a:t>
            </a:r>
            <a:endParaRPr lang="en-US" sz="4000"/>
          </a:p>
        </p:txBody>
      </p:sp>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a:t>
            </a: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413662" y="1344562"/>
                <a:ext cx="11189376" cy="4168875"/>
              </a:xfrm>
            </p:spPr>
            <p:txBody>
              <a:bodyPr/>
              <a:lstStyle/>
              <a:p>
                <a:pPr algn="ctr"/>
                <a:r>
                  <a:rPr lang="en-US" sz="4400">
                    <a:latin typeface="Arial"/>
                    <a:cs typeface="Arial"/>
                  </a:rPr>
                  <a:t> </a:t>
                </a:r>
                <a:r>
                  <a:rPr lang="en-AU" sz="4400"/>
                  <a:t>Scarlett has 84 apples to sort into boxes. She puts</a:t>
                </a:r>
                <a:r>
                  <a:rPr lang="en-US" sz="4800">
                    <a:latin typeface="Arial"/>
                    <a:cs typeface="Arial"/>
                  </a:rPr>
                  <a:t> </a:t>
                </a:r>
                <a14:m>
                  <m:oMath xmlns:m="http://schemas.openxmlformats.org/officeDocument/2006/math">
                    <m:f>
                      <m:fPr>
                        <m:ctrlPr>
                          <a:rPr lang="en-US" sz="4800" b="1" i="1">
                            <a:latin typeface="Cambria Math" panose="02040503050406030204" pitchFamily="18" charset="0"/>
                            <a:cs typeface="Arial"/>
                          </a:rPr>
                        </m:ctrlPr>
                      </m:fPr>
                      <m:num>
                        <m:r>
                          <a:rPr lang="en-AU" sz="4800" b="1" i="1" smtClean="0">
                            <a:latin typeface="Cambria Math" panose="02040503050406030204" pitchFamily="18" charset="0"/>
                            <a:cs typeface="Arial"/>
                          </a:rPr>
                          <m:t>𝟐</m:t>
                        </m:r>
                      </m:num>
                      <m:den>
                        <m:r>
                          <a:rPr lang="en-AU" sz="4800" b="1" i="1" smtClean="0">
                            <a:latin typeface="Cambria Math" panose="02040503050406030204" pitchFamily="18" charset="0"/>
                            <a:cs typeface="Arial"/>
                          </a:rPr>
                          <m:t>𝟒</m:t>
                        </m:r>
                      </m:den>
                    </m:f>
                  </m:oMath>
                </a14:m>
                <a:r>
                  <a:rPr lang="en-US" sz="4800" b="1">
                    <a:latin typeface="Arial"/>
                    <a:cs typeface="Arial"/>
                  </a:rPr>
                  <a:t> </a:t>
                </a:r>
                <a:r>
                  <a:rPr lang="en-AU" sz="4400"/>
                  <a:t>of the apples into one large box.</a:t>
                </a:r>
              </a:p>
              <a:p>
                <a:pPr algn="ctr"/>
                <a:r>
                  <a:rPr lang="en-AU" sz="4400" b="1"/>
                  <a:t>How many </a:t>
                </a:r>
                <a:r>
                  <a:rPr lang="en-AU" sz="4400"/>
                  <a:t>apples did Scarlett put in the large box?</a:t>
                </a:r>
              </a:p>
              <a:p>
                <a:pPr algn="ctr"/>
                <a:endParaRPr lang="en-US" sz="4800">
                  <a:latin typeface="Arial"/>
                  <a:cs typeface="Arial"/>
                </a:endParaRPr>
              </a:p>
            </p:txBody>
          </p:sp>
        </mc:Choice>
        <mc:Fallback xmlns="">
          <p:sp>
            <p:nvSpPr>
              <p:cNvPr id="11" name="Picture Placeholder 10">
                <a:extLst>
                  <a:ext uri="{FF2B5EF4-FFF2-40B4-BE49-F238E27FC236}">
                    <a16:creationId xmlns:a16="http://schemas.microsoft.com/office/drawing/2014/main" id="{6AEDAC5B-7D79-7FBF-9542-5724B621995A}"/>
                  </a:ext>
                </a:extLst>
              </p:cNvPr>
              <p:cNvSpPr>
                <a:spLocks noGrp="1" noRot="1" noChangeAspect="1" noMove="1" noResize="1" noEditPoints="1" noAdjustHandles="1" noChangeArrowheads="1" noChangeShapeType="1" noTextEdit="1"/>
              </p:cNvSpPr>
              <p:nvPr>
                <p:ph type="pic" sz="quarter" idx="21"/>
              </p:nvPr>
            </p:nvSpPr>
            <p:spPr>
              <a:xfrm>
                <a:off x="413662" y="1344562"/>
                <a:ext cx="11189376" cy="4168875"/>
              </a:xfrm>
              <a:blipFill>
                <a:blip r:embed="rId4"/>
                <a:stretch>
                  <a:fillRect l="-1253" r="-1144" b="-1903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E583CD4E-326D-99B5-FC7F-34B72B13752C}"/>
              </a:ext>
            </a:extLst>
          </p:cNvPr>
          <p:cNvGraphicFramePr>
            <a:graphicFrameLocks noGrp="1"/>
          </p:cNvGraphicFramePr>
          <p:nvPr>
            <p:extLst>
              <p:ext uri="{D42A27DB-BD31-4B8C-83A1-F6EECF244321}">
                <p14:modId xmlns:p14="http://schemas.microsoft.com/office/powerpoint/2010/main" val="992157735"/>
              </p:ext>
            </p:extLst>
          </p:nvPr>
        </p:nvGraphicFramePr>
        <p:xfrm>
          <a:off x="360000" y="1746123"/>
          <a:ext cx="5936297" cy="3365754"/>
        </p:xfrm>
        <a:graphic>
          <a:graphicData uri="http://schemas.openxmlformats.org/drawingml/2006/table">
            <a:tbl>
              <a:tblPr firstRow="1" firstCol="1" bandRow="1" bandCol="1">
                <a:tableStyleId>{69012ECD-51FC-41F1-AA8D-1B2483CD663E}</a:tableStyleId>
              </a:tblPr>
              <a:tblGrid>
                <a:gridCol w="1860686">
                  <a:extLst>
                    <a:ext uri="{9D8B030D-6E8A-4147-A177-3AD203B41FA5}">
                      <a16:colId xmlns:a16="http://schemas.microsoft.com/office/drawing/2014/main" val="132595227"/>
                    </a:ext>
                  </a:extLst>
                </a:gridCol>
                <a:gridCol w="2638697">
                  <a:extLst>
                    <a:ext uri="{9D8B030D-6E8A-4147-A177-3AD203B41FA5}">
                      <a16:colId xmlns:a16="http://schemas.microsoft.com/office/drawing/2014/main" val="2710583181"/>
                    </a:ext>
                  </a:extLst>
                </a:gridCol>
                <a:gridCol w="1436914">
                  <a:extLst>
                    <a:ext uri="{9D8B030D-6E8A-4147-A177-3AD203B41FA5}">
                      <a16:colId xmlns:a16="http://schemas.microsoft.com/office/drawing/2014/main" val="489575832"/>
                    </a:ext>
                  </a:extLst>
                </a:gridCol>
              </a:tblGrid>
              <a:tr h="166811">
                <a:tc>
                  <a:txBody>
                    <a:bodyPr/>
                    <a:lstStyle/>
                    <a:p>
                      <a:pPr>
                        <a:lnSpc>
                          <a:spcPct val="150000"/>
                        </a:lnSpc>
                        <a:spcBef>
                          <a:spcPts val="1200"/>
                        </a:spcBef>
                        <a:spcAft>
                          <a:spcPts val="600"/>
                        </a:spcAft>
                        <a:buNone/>
                      </a:pPr>
                      <a:r>
                        <a:rPr lang="en-AU" sz="2400">
                          <a:effectLst/>
                        </a:rPr>
                        <a:t>Student</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School</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Height</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96825129"/>
                  </a:ext>
                </a:extLst>
              </a:tr>
              <a:tr h="190500">
                <a:tc>
                  <a:txBody>
                    <a:bodyPr/>
                    <a:lstStyle/>
                    <a:p>
                      <a:pPr>
                        <a:lnSpc>
                          <a:spcPct val="150000"/>
                        </a:lnSpc>
                        <a:spcBef>
                          <a:spcPts val="1200"/>
                        </a:spcBef>
                        <a:spcAft>
                          <a:spcPts val="600"/>
                        </a:spcAft>
                        <a:buNone/>
                      </a:pPr>
                      <a:r>
                        <a:rPr lang="en-AU" sz="2400">
                          <a:effectLst/>
                        </a:rPr>
                        <a:t>Joesphine</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Happy Valley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1.61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2301798"/>
                  </a:ext>
                </a:extLst>
              </a:tr>
              <a:tr h="190500">
                <a:tc>
                  <a:txBody>
                    <a:bodyPr/>
                    <a:lstStyle/>
                    <a:p>
                      <a:pPr>
                        <a:lnSpc>
                          <a:spcPct val="150000"/>
                        </a:lnSpc>
                        <a:spcBef>
                          <a:spcPts val="1200"/>
                        </a:spcBef>
                        <a:spcAft>
                          <a:spcPts val="600"/>
                        </a:spcAft>
                        <a:buNone/>
                      </a:pPr>
                      <a:r>
                        <a:rPr lang="en-AU" sz="2400">
                          <a:effectLst/>
                        </a:rPr>
                        <a:t>Yin Lee</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Happy Valley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1.51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52517611"/>
                  </a:ext>
                </a:extLst>
              </a:tr>
              <a:tr h="190500">
                <a:tc>
                  <a:txBody>
                    <a:bodyPr/>
                    <a:lstStyle/>
                    <a:p>
                      <a:pPr>
                        <a:lnSpc>
                          <a:spcPct val="150000"/>
                        </a:lnSpc>
                        <a:spcBef>
                          <a:spcPts val="1200"/>
                        </a:spcBef>
                        <a:spcAft>
                          <a:spcPts val="600"/>
                        </a:spcAft>
                        <a:buNone/>
                      </a:pPr>
                      <a:r>
                        <a:rPr lang="en-AU" sz="2400">
                          <a:effectLst/>
                        </a:rPr>
                        <a:t>Zoran</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Mountain Top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1.47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55047060"/>
                  </a:ext>
                </a:extLst>
              </a:tr>
              <a:tr h="190500">
                <a:tc>
                  <a:txBody>
                    <a:bodyPr/>
                    <a:lstStyle/>
                    <a:p>
                      <a:pPr>
                        <a:lnSpc>
                          <a:spcPct val="150000"/>
                        </a:lnSpc>
                        <a:spcBef>
                          <a:spcPts val="1200"/>
                        </a:spcBef>
                        <a:spcAft>
                          <a:spcPts val="600"/>
                        </a:spcAft>
                        <a:buNone/>
                      </a:pPr>
                      <a:r>
                        <a:rPr lang="en-AU" sz="2400">
                          <a:effectLst/>
                        </a:rPr>
                        <a:t>Mitchell</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Galaxy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1.55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92134329"/>
                  </a:ext>
                </a:extLst>
              </a:tr>
              <a:tr h="190500">
                <a:tc>
                  <a:txBody>
                    <a:bodyPr/>
                    <a:lstStyle/>
                    <a:p>
                      <a:pPr>
                        <a:lnSpc>
                          <a:spcPct val="150000"/>
                        </a:lnSpc>
                        <a:spcBef>
                          <a:spcPts val="1200"/>
                        </a:spcBef>
                        <a:spcAft>
                          <a:spcPts val="600"/>
                        </a:spcAft>
                        <a:buNone/>
                      </a:pPr>
                      <a:r>
                        <a:rPr lang="en-AU" sz="2400">
                          <a:effectLst/>
                        </a:rPr>
                        <a:t>Carolina</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Galaxy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1.59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14200180"/>
                  </a:ext>
                </a:extLst>
              </a:tr>
              <a:tr h="190500">
                <a:tc>
                  <a:txBody>
                    <a:bodyPr/>
                    <a:lstStyle/>
                    <a:p>
                      <a:pPr>
                        <a:lnSpc>
                          <a:spcPct val="150000"/>
                        </a:lnSpc>
                        <a:spcBef>
                          <a:spcPts val="1200"/>
                        </a:spcBef>
                        <a:spcAft>
                          <a:spcPts val="600"/>
                        </a:spcAft>
                        <a:buNone/>
                      </a:pPr>
                      <a:r>
                        <a:rPr lang="en-AU" sz="2400">
                          <a:effectLst/>
                        </a:rPr>
                        <a:t>Zeinab</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Mountain Top PS</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50000"/>
                        </a:lnSpc>
                        <a:spcBef>
                          <a:spcPts val="1200"/>
                        </a:spcBef>
                        <a:spcAft>
                          <a:spcPts val="600"/>
                        </a:spcAft>
                        <a:buNone/>
                      </a:pPr>
                      <a:r>
                        <a:rPr lang="en-AU" sz="2400">
                          <a:effectLst/>
                        </a:rPr>
                        <a:t>1.54 m</a:t>
                      </a:r>
                      <a:endParaRPr lang="en-AU" sz="2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9671464"/>
                  </a:ext>
                </a:extLst>
              </a:tr>
            </a:tbl>
          </a:graphicData>
        </a:graphic>
      </p:graphicFrame>
      <p:sp>
        <p:nvSpPr>
          <p:cNvPr id="7" name="TextBox 6">
            <a:extLst>
              <a:ext uri="{FF2B5EF4-FFF2-40B4-BE49-F238E27FC236}">
                <a16:creationId xmlns:a16="http://schemas.microsoft.com/office/drawing/2014/main" id="{1B3EE0AB-1AD3-9EDB-1FA2-6DAB9DAB602D}"/>
              </a:ext>
            </a:extLst>
          </p:cNvPr>
          <p:cNvSpPr txBox="1"/>
          <p:nvPr/>
        </p:nvSpPr>
        <p:spPr>
          <a:xfrm>
            <a:off x="6727372" y="1613118"/>
            <a:ext cx="4980169" cy="4401205"/>
          </a:xfrm>
          <a:prstGeom prst="rect">
            <a:avLst/>
          </a:prstGeom>
          <a:noFill/>
        </p:spPr>
        <p:txBody>
          <a:bodyPr wrap="square">
            <a:spAutoFit/>
          </a:bodyPr>
          <a:lstStyle/>
          <a:p>
            <a:pPr algn="ctr"/>
            <a:r>
              <a:rPr lang="en-AU" sz="3600" dirty="0">
                <a:highlight>
                  <a:srgbClr val="FFFFFF"/>
                </a:highlight>
              </a:rPr>
              <a:t>Use an efficient strategy to determine the </a:t>
            </a:r>
            <a:r>
              <a:rPr lang="en-AU" sz="3600" b="1" dirty="0">
                <a:highlight>
                  <a:srgbClr val="FFFFFF"/>
                </a:highlight>
              </a:rPr>
              <a:t>total combined</a:t>
            </a:r>
            <a:r>
              <a:rPr lang="en-AU" sz="3600" dirty="0">
                <a:highlight>
                  <a:srgbClr val="FFFFFF"/>
                </a:highlight>
              </a:rPr>
              <a:t> high jump height for each school?</a:t>
            </a:r>
            <a:endParaRPr lang="en-AU" sz="3600">
              <a:highlight>
                <a:srgbClr val="FFFFFF"/>
              </a:highlight>
            </a:endParaRPr>
          </a:p>
          <a:p>
            <a:endParaRPr lang="en-AU" sz="3600" dirty="0">
              <a:highlight>
                <a:srgbClr val="FFFFFF"/>
              </a:highlight>
            </a:endParaRPr>
          </a:p>
          <a:p>
            <a:endParaRPr lang="en-AU" sz="3600" dirty="0">
              <a:highlight>
                <a:srgbClr val="FFFFFF"/>
              </a:highlight>
            </a:endParaRPr>
          </a:p>
          <a:p>
            <a:endParaRPr lang="en-AU" sz="2800" dirty="0">
              <a:highlight>
                <a:srgbClr val="FFFFFF"/>
              </a:highlight>
            </a:endParaRPr>
          </a:p>
        </p:txBody>
      </p:sp>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(21)</a:t>
            </a: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AU" sz="3600">
                <a:latin typeface="Arial"/>
                <a:cs typeface="Arial"/>
              </a:rPr>
              <a:t>Jamie has a piece of string that is 2.4 metres long. She cuts off a piece that is 1.3 metres long for a project.</a:t>
            </a:r>
          </a:p>
          <a:p>
            <a:pPr algn="ctr" fontAlgn="base"/>
            <a:r>
              <a:rPr lang="en-AU" sz="3600" b="1">
                <a:latin typeface="Arial"/>
                <a:cs typeface="Arial"/>
              </a:rPr>
              <a:t>How long </a:t>
            </a:r>
            <a:r>
              <a:rPr lang="en-AU" sz="3600">
                <a:latin typeface="Arial"/>
                <a:cs typeface="Arial"/>
              </a:rPr>
              <a:t>is the </a:t>
            </a:r>
            <a:r>
              <a:rPr lang="en-AU" sz="3600" b="1">
                <a:latin typeface="Arial"/>
                <a:cs typeface="Arial"/>
              </a:rPr>
              <a:t>remaining</a:t>
            </a:r>
            <a:r>
              <a:rPr lang="en-AU" sz="3600">
                <a:latin typeface="Arial"/>
                <a:cs typeface="Arial"/>
              </a:rPr>
              <a:t> piece of string?</a:t>
            </a:r>
          </a:p>
          <a:p>
            <a:pPr algn="ctr" fontAlgn="base"/>
            <a:r>
              <a:rPr lang="en-AU" sz="3600">
                <a:latin typeface="Arial"/>
                <a:cs typeface="Arial"/>
              </a:rPr>
              <a:t>If Jamie needs a total length of 2.5 metres for another project, does she have </a:t>
            </a:r>
            <a:r>
              <a:rPr lang="en-AU" sz="3600" b="1">
                <a:latin typeface="Arial"/>
                <a:cs typeface="Arial"/>
              </a:rPr>
              <a:t>enough string left</a:t>
            </a:r>
            <a:r>
              <a:rPr lang="en-AU" sz="3600">
                <a:latin typeface="Arial"/>
                <a:cs typeface="Arial"/>
              </a:rPr>
              <a:t>? </a:t>
            </a:r>
            <a:endParaRPr lang="en-US" sz="3600">
              <a:latin typeface="Arial"/>
              <a:cs typeface="Arial"/>
            </a:endParaRPr>
          </a:p>
          <a:p>
            <a:pPr algn="ctr"/>
            <a:endParaRPr lang="en-US" sz="4400"/>
          </a:p>
          <a:p>
            <a:endParaRPr lang="en-US">
              <a:latin typeface="Arial"/>
              <a:cs typeface="Arial"/>
            </a:endParaRPr>
          </a:p>
        </p:txBody>
      </p:sp>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1" y="2063913"/>
            <a:ext cx="11243037" cy="2246830"/>
          </a:xfrm>
        </p:spPr>
        <p:txBody>
          <a:bodyPr/>
          <a:lstStyle/>
          <a:p>
            <a:pPr algn="ctr"/>
            <a:r>
              <a:rPr lang="en-US" sz="4400"/>
              <a:t>Draw the </a:t>
            </a:r>
            <a:r>
              <a:rPr lang="en-US" sz="4400" b="1"/>
              <a:t>front, side </a:t>
            </a:r>
            <a:r>
              <a:rPr lang="en-US" sz="4400"/>
              <a:t>and </a:t>
            </a:r>
            <a:r>
              <a:rPr lang="en-US" sz="4400" b="1"/>
              <a:t>top view </a:t>
            </a:r>
            <a:r>
              <a:rPr lang="en-US" sz="4400"/>
              <a:t>for a </a:t>
            </a:r>
            <a:r>
              <a:rPr lang="en-US" sz="4400" b="1"/>
              <a:t>triangular prism</a:t>
            </a:r>
            <a:r>
              <a:rPr lang="en-US" sz="4400"/>
              <a:t>.</a:t>
            </a:r>
          </a:p>
          <a:p>
            <a:pPr algn="ctr"/>
            <a:endParaRPr lang="en-US" sz="4400"/>
          </a:p>
          <a:p>
            <a:endParaRPr lang="en-US">
              <a:latin typeface="Arial"/>
              <a:cs typeface="Arial"/>
            </a:endParaRPr>
          </a:p>
        </p:txBody>
      </p:sp>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70A7-46F9-8F3F-440E-2E35E1A41B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60FFB0-294F-9E33-83EB-EBAE76D2371E}"/>
              </a:ext>
            </a:extLst>
          </p:cNvPr>
          <p:cNvSpPr>
            <a:spLocks noGrp="1"/>
          </p:cNvSpPr>
          <p:nvPr>
            <p:ph type="title"/>
          </p:nvPr>
        </p:nvSpPr>
        <p:spPr>
          <a:xfrm>
            <a:off x="360000" y="360000"/>
            <a:ext cx="10508297" cy="545601"/>
          </a:xfrm>
        </p:spPr>
        <p:txBody>
          <a:bodyPr/>
          <a:lstStyle/>
          <a:p>
            <a:r>
              <a:rPr lang="en-AU">
                <a:latin typeface="Arial"/>
                <a:cs typeface="Arial"/>
              </a:rPr>
              <a:t>Activity 6 – table of values 2</a:t>
            </a:r>
            <a:endParaRPr lang="en-US"/>
          </a:p>
        </p:txBody>
      </p:sp>
      <p:pic>
        <p:nvPicPr>
          <p:cNvPr id="6" name="Picture 5" descr="image of a head with cogs turning inside">
            <a:extLst>
              <a:ext uri="{FF2B5EF4-FFF2-40B4-BE49-F238E27FC236}">
                <a16:creationId xmlns:a16="http://schemas.microsoft.com/office/drawing/2014/main" id="{A91DCC5D-5F7A-6BA8-F074-0948BD038FB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Octagon 4" descr="A small octagon.">
            <a:extLst>
              <a:ext uri="{FF2B5EF4-FFF2-40B4-BE49-F238E27FC236}">
                <a16:creationId xmlns:a16="http://schemas.microsoft.com/office/drawing/2014/main" id="{72999AD8-1D47-5574-CCE6-F2E03E785B83}"/>
              </a:ext>
            </a:extLst>
          </p:cNvPr>
          <p:cNvSpPr/>
          <p:nvPr/>
        </p:nvSpPr>
        <p:spPr>
          <a:xfrm>
            <a:off x="3114951" y="1152821"/>
            <a:ext cx="1151467" cy="1114622"/>
          </a:xfrm>
          <a:prstGeom prst="octagon">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4D3323A4-0073-FF14-F801-53C97A7FF1B4}"/>
              </a:ext>
            </a:extLst>
          </p:cNvPr>
          <p:cNvSpPr>
            <a:spLocks noGrp="1"/>
          </p:cNvSpPr>
          <p:nvPr>
            <p:ph type="sldNum" sz="quarter" idx="12"/>
          </p:nvPr>
        </p:nvSpPr>
        <p:spPr/>
        <p:txBody>
          <a:bodyPr/>
          <a:lstStyle/>
          <a:p>
            <a:fld id="{10A01DC5-1685-4615-8240-15192985C6A2}" type="slidenum">
              <a:rPr lang="en-AU" smtClean="0"/>
              <a:t>45</a:t>
            </a:fld>
            <a:endParaRPr lang="en-AU"/>
          </a:p>
        </p:txBody>
      </p:sp>
      <p:graphicFrame>
        <p:nvGraphicFramePr>
          <p:cNvPr id="7" name="Table 6">
            <a:extLst>
              <a:ext uri="{FF2B5EF4-FFF2-40B4-BE49-F238E27FC236}">
                <a16:creationId xmlns:a16="http://schemas.microsoft.com/office/drawing/2014/main" id="{AA3AB60D-4DBF-CC80-4C63-296778D8E7AF}"/>
              </a:ext>
            </a:extLst>
          </p:cNvPr>
          <p:cNvGraphicFramePr>
            <a:graphicFrameLocks noGrp="1"/>
          </p:cNvGraphicFramePr>
          <p:nvPr>
            <p:extLst>
              <p:ext uri="{D42A27DB-BD31-4B8C-83A1-F6EECF244321}">
                <p14:modId xmlns:p14="http://schemas.microsoft.com/office/powerpoint/2010/main" val="4004401105"/>
              </p:ext>
            </p:extLst>
          </p:nvPr>
        </p:nvGraphicFramePr>
        <p:xfrm>
          <a:off x="360000" y="2668048"/>
          <a:ext cx="10908225" cy="1762583"/>
        </p:xfrm>
        <a:graphic>
          <a:graphicData uri="http://schemas.openxmlformats.org/drawingml/2006/table">
            <a:tbl>
              <a:tblPr firstRow="1" firstCol="1" bandRow="1">
                <a:tableStyleId>{5A111915-BE36-4E01-A7E5-04B1672EAD32}</a:tableStyleId>
              </a:tblPr>
              <a:tblGrid>
                <a:gridCol w="2912665">
                  <a:extLst>
                    <a:ext uri="{9D8B030D-6E8A-4147-A177-3AD203B41FA5}">
                      <a16:colId xmlns:a16="http://schemas.microsoft.com/office/drawing/2014/main" val="2024091781"/>
                    </a:ext>
                  </a:extLst>
                </a:gridCol>
                <a:gridCol w="799556">
                  <a:extLst>
                    <a:ext uri="{9D8B030D-6E8A-4147-A177-3AD203B41FA5}">
                      <a16:colId xmlns:a16="http://schemas.microsoft.com/office/drawing/2014/main" val="238408290"/>
                    </a:ext>
                  </a:extLst>
                </a:gridCol>
                <a:gridCol w="799556">
                  <a:extLst>
                    <a:ext uri="{9D8B030D-6E8A-4147-A177-3AD203B41FA5}">
                      <a16:colId xmlns:a16="http://schemas.microsoft.com/office/drawing/2014/main" val="2775988315"/>
                    </a:ext>
                  </a:extLst>
                </a:gridCol>
                <a:gridCol w="799556">
                  <a:extLst>
                    <a:ext uri="{9D8B030D-6E8A-4147-A177-3AD203B41FA5}">
                      <a16:colId xmlns:a16="http://schemas.microsoft.com/office/drawing/2014/main" val="3312906330"/>
                    </a:ext>
                  </a:extLst>
                </a:gridCol>
                <a:gridCol w="799556">
                  <a:extLst>
                    <a:ext uri="{9D8B030D-6E8A-4147-A177-3AD203B41FA5}">
                      <a16:colId xmlns:a16="http://schemas.microsoft.com/office/drawing/2014/main" val="2184240022"/>
                    </a:ext>
                  </a:extLst>
                </a:gridCol>
                <a:gridCol w="799556">
                  <a:extLst>
                    <a:ext uri="{9D8B030D-6E8A-4147-A177-3AD203B41FA5}">
                      <a16:colId xmlns:a16="http://schemas.microsoft.com/office/drawing/2014/main" val="1011731949"/>
                    </a:ext>
                  </a:extLst>
                </a:gridCol>
                <a:gridCol w="799556">
                  <a:extLst>
                    <a:ext uri="{9D8B030D-6E8A-4147-A177-3AD203B41FA5}">
                      <a16:colId xmlns:a16="http://schemas.microsoft.com/office/drawing/2014/main" val="67906432"/>
                    </a:ext>
                  </a:extLst>
                </a:gridCol>
                <a:gridCol w="799556">
                  <a:extLst>
                    <a:ext uri="{9D8B030D-6E8A-4147-A177-3AD203B41FA5}">
                      <a16:colId xmlns:a16="http://schemas.microsoft.com/office/drawing/2014/main" val="1684308137"/>
                    </a:ext>
                  </a:extLst>
                </a:gridCol>
                <a:gridCol w="799556">
                  <a:extLst>
                    <a:ext uri="{9D8B030D-6E8A-4147-A177-3AD203B41FA5}">
                      <a16:colId xmlns:a16="http://schemas.microsoft.com/office/drawing/2014/main" val="2626736069"/>
                    </a:ext>
                  </a:extLst>
                </a:gridCol>
                <a:gridCol w="799556">
                  <a:extLst>
                    <a:ext uri="{9D8B030D-6E8A-4147-A177-3AD203B41FA5}">
                      <a16:colId xmlns:a16="http://schemas.microsoft.com/office/drawing/2014/main" val="1018699149"/>
                    </a:ext>
                  </a:extLst>
                </a:gridCol>
                <a:gridCol w="799556">
                  <a:extLst>
                    <a:ext uri="{9D8B030D-6E8A-4147-A177-3AD203B41FA5}">
                      <a16:colId xmlns:a16="http://schemas.microsoft.com/office/drawing/2014/main" val="2160316203"/>
                    </a:ext>
                  </a:extLst>
                </a:gridCol>
              </a:tblGrid>
              <a:tr h="953654">
                <a:tc>
                  <a:txBody>
                    <a:bodyPr/>
                    <a:lstStyle/>
                    <a:p>
                      <a:pPr algn="ctr">
                        <a:lnSpc>
                          <a:spcPct val="150000"/>
                        </a:lnSpc>
                        <a:spcBef>
                          <a:spcPts val="1200"/>
                        </a:spcBef>
                        <a:spcAft>
                          <a:spcPts val="600"/>
                        </a:spcAft>
                      </a:pPr>
                      <a:r>
                        <a:rPr lang="en-AU" sz="2400">
                          <a:solidFill>
                            <a:schemeClr val="bg1"/>
                          </a:solidFill>
                          <a:effectLst/>
                          <a:latin typeface="Arial" panose="020B0604020202020204" pitchFamily="34" charset="0"/>
                          <a:cs typeface="Arial" panose="020B0604020202020204" pitchFamily="34" charset="0"/>
                        </a:rPr>
                        <a:t>Number of shapes</a:t>
                      </a:r>
                      <a:endParaRPr lang="en-AU" sz="24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1</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2</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3</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4</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5</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6</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7</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8</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9</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10</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7290760"/>
                  </a:ext>
                </a:extLst>
              </a:tr>
              <a:tr h="808929">
                <a:tc>
                  <a:txBody>
                    <a:bodyPr/>
                    <a:lstStyle/>
                    <a:p>
                      <a:pPr algn="ctr">
                        <a:lnSpc>
                          <a:spcPct val="150000"/>
                        </a:lnSpc>
                        <a:spcBef>
                          <a:spcPts val="1200"/>
                        </a:spcBef>
                        <a:spcAft>
                          <a:spcPts val="600"/>
                        </a:spcAft>
                      </a:pPr>
                      <a:r>
                        <a:rPr lang="en-AU" sz="2400">
                          <a:solidFill>
                            <a:schemeClr val="bg1"/>
                          </a:solidFill>
                          <a:effectLst/>
                          <a:latin typeface="Arial" panose="020B0604020202020204" pitchFamily="34" charset="0"/>
                          <a:cs typeface="Arial" panose="020B0604020202020204" pitchFamily="34" charset="0"/>
                        </a:rPr>
                        <a:t>Number of sides</a:t>
                      </a:r>
                      <a:endParaRPr lang="en-AU" sz="240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a:solidFill>
                            <a:schemeClr val="tx1"/>
                          </a:solidFill>
                          <a:effectLst/>
                          <a:latin typeface="Arial" panose="020B0604020202020204" pitchFamily="34" charset="0"/>
                          <a:cs typeface="Arial" panose="020B0604020202020204" pitchFamily="34" charset="0"/>
                        </a:rPr>
                        <a:t>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72227"/>
                  </a:ext>
                </a:extLst>
              </a:tr>
            </a:tbl>
          </a:graphicData>
        </a:graphic>
      </p:graphicFrame>
    </p:spTree>
    <p:extLst>
      <p:ext uri="{BB962C8B-B14F-4D97-AF65-F5344CB8AC3E}">
        <p14:creationId xmlns:p14="http://schemas.microsoft.com/office/powerpoint/2010/main" val="329081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A150FA1-92D7-73FF-877B-79ACA5A01FAF}"/>
              </a:ext>
            </a:extLst>
          </p:cNvPr>
          <p:cNvSpPr/>
          <p:nvPr/>
        </p:nvSpPr>
        <p:spPr>
          <a:xfrm>
            <a:off x="2726267" y="2438400"/>
            <a:ext cx="7044266" cy="2108417"/>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60000" y="1222298"/>
            <a:ext cx="11639167" cy="1420148"/>
          </a:xfrm>
        </p:spPr>
        <p:txBody>
          <a:bodyPr vert="horz" lIns="0" tIns="0" rIns="0" bIns="0" rtlCol="0" anchor="t">
            <a:noAutofit/>
          </a:bodyPr>
          <a:lstStyle/>
          <a:p>
            <a:r>
              <a:rPr lang="en-US" sz="3600" dirty="0">
                <a:latin typeface="Arial"/>
                <a:cs typeface="Arial"/>
              </a:rPr>
              <a:t>Which value did Sierra incorrectly record in this </a:t>
            </a:r>
            <a:r>
              <a:rPr lang="en-US" sz="3600" b="1" dirty="0">
                <a:latin typeface="Arial"/>
                <a:cs typeface="Arial"/>
              </a:rPr>
              <a:t>table of values</a:t>
            </a:r>
            <a:r>
              <a:rPr lang="en-US" sz="3600" dirty="0">
                <a:latin typeface="Arial"/>
                <a:cs typeface="Arial"/>
              </a:rPr>
              <a:t>?</a:t>
            </a:r>
            <a:endParaRPr lang="en-US" sz="1600" dirty="0"/>
          </a:p>
          <a:p>
            <a:endParaRPr lang="en-US" sz="4000" dirty="0">
              <a:latin typeface="Arial"/>
              <a:cs typeface="Arial"/>
            </a:endParaRPr>
          </a:p>
        </p:txBody>
      </p:sp>
      <p:graphicFrame>
        <p:nvGraphicFramePr>
          <p:cNvPr id="23" name="Table 22">
            <a:extLst>
              <a:ext uri="{FF2B5EF4-FFF2-40B4-BE49-F238E27FC236}">
                <a16:creationId xmlns:a16="http://schemas.microsoft.com/office/drawing/2014/main" id="{47065987-D3D8-A633-87FD-39A97C4FA45E}"/>
              </a:ext>
            </a:extLst>
          </p:cNvPr>
          <p:cNvGraphicFramePr>
            <a:graphicFrameLocks noGrp="1"/>
          </p:cNvGraphicFramePr>
          <p:nvPr>
            <p:extLst>
              <p:ext uri="{D42A27DB-BD31-4B8C-83A1-F6EECF244321}">
                <p14:modId xmlns:p14="http://schemas.microsoft.com/office/powerpoint/2010/main" val="4272594022"/>
              </p:ext>
            </p:extLst>
          </p:nvPr>
        </p:nvGraphicFramePr>
        <p:xfrm>
          <a:off x="2969317" y="2749108"/>
          <a:ext cx="6420532" cy="1466447"/>
        </p:xfrm>
        <a:graphic>
          <a:graphicData uri="http://schemas.openxmlformats.org/drawingml/2006/table">
            <a:tbl>
              <a:tblPr firstRow="1" firstCol="1" bandRow="1">
                <a:tableStyleId>{5A111915-BE36-4E01-A7E5-04B1672EAD32}</a:tableStyleId>
              </a:tblPr>
              <a:tblGrid>
                <a:gridCol w="2706127">
                  <a:extLst>
                    <a:ext uri="{9D8B030D-6E8A-4147-A177-3AD203B41FA5}">
                      <a16:colId xmlns:a16="http://schemas.microsoft.com/office/drawing/2014/main" val="2214276600"/>
                    </a:ext>
                  </a:extLst>
                </a:gridCol>
                <a:gridCol w="742881">
                  <a:extLst>
                    <a:ext uri="{9D8B030D-6E8A-4147-A177-3AD203B41FA5}">
                      <a16:colId xmlns:a16="http://schemas.microsoft.com/office/drawing/2014/main" val="1847189613"/>
                    </a:ext>
                  </a:extLst>
                </a:gridCol>
                <a:gridCol w="742881">
                  <a:extLst>
                    <a:ext uri="{9D8B030D-6E8A-4147-A177-3AD203B41FA5}">
                      <a16:colId xmlns:a16="http://schemas.microsoft.com/office/drawing/2014/main" val="2525653701"/>
                    </a:ext>
                  </a:extLst>
                </a:gridCol>
                <a:gridCol w="742881">
                  <a:extLst>
                    <a:ext uri="{9D8B030D-6E8A-4147-A177-3AD203B41FA5}">
                      <a16:colId xmlns:a16="http://schemas.microsoft.com/office/drawing/2014/main" val="4110869221"/>
                    </a:ext>
                  </a:extLst>
                </a:gridCol>
                <a:gridCol w="742881">
                  <a:extLst>
                    <a:ext uri="{9D8B030D-6E8A-4147-A177-3AD203B41FA5}">
                      <a16:colId xmlns:a16="http://schemas.microsoft.com/office/drawing/2014/main" val="1573142878"/>
                    </a:ext>
                  </a:extLst>
                </a:gridCol>
                <a:gridCol w="742881">
                  <a:extLst>
                    <a:ext uri="{9D8B030D-6E8A-4147-A177-3AD203B41FA5}">
                      <a16:colId xmlns:a16="http://schemas.microsoft.com/office/drawing/2014/main" val="2485552351"/>
                    </a:ext>
                  </a:extLst>
                </a:gridCol>
              </a:tblGrid>
              <a:tr h="736612">
                <a:tc>
                  <a:txBody>
                    <a:bodyPr/>
                    <a:lstStyle/>
                    <a:p>
                      <a:pPr>
                        <a:lnSpc>
                          <a:spcPct val="150000"/>
                        </a:lnSpc>
                        <a:spcBef>
                          <a:spcPts val="1200"/>
                        </a:spcBef>
                        <a:spcAft>
                          <a:spcPts val="600"/>
                        </a:spcAft>
                        <a:buNone/>
                      </a:pPr>
                      <a:r>
                        <a:rPr lang="en-AU" sz="1800">
                          <a:solidFill>
                            <a:schemeClr val="tx1"/>
                          </a:solidFill>
                          <a:effectLst/>
                        </a:rPr>
                        <a:t>Number of clocks</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1800" b="0">
                          <a:solidFill>
                            <a:schemeClr val="tx1"/>
                          </a:solidFill>
                          <a:effectLst/>
                          <a:latin typeface="Arial" panose="020B0604020202020204" pitchFamily="34" charset="0"/>
                          <a:ea typeface="Calibri" panose="020F0502020204030204" pitchFamily="34" charset="0"/>
                          <a:cs typeface="Arial" panose="020B0604020202020204" pitchFamily="34" charset="0"/>
                        </a:rPr>
                        <a:t>4</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b="0">
                          <a:solidFill>
                            <a:schemeClr val="tx1"/>
                          </a:solidFill>
                          <a:effectLst/>
                        </a:rPr>
                        <a:t>5</a:t>
                      </a:r>
                      <a:endParaRPr lang="en-AU" sz="18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b="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b="0">
                          <a:solidFill>
                            <a:schemeClr val="tx1"/>
                          </a:solidFill>
                          <a:effectLst/>
                          <a:latin typeface="Arial" panose="020B0604020202020204" pitchFamily="34" charset="0"/>
                          <a:ea typeface="Calibri" panose="020F0502020204030204" pitchFamily="34" charset="0"/>
                          <a:cs typeface="Arial" panose="020B0604020202020204" pitchFamily="34" charset="0"/>
                        </a:rPr>
                        <a:t>7</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b="0">
                          <a:solidFill>
                            <a:schemeClr val="tx1"/>
                          </a:solidFill>
                          <a:effectLst/>
                          <a:latin typeface="Arial" panose="020B0604020202020204" pitchFamily="34" charset="0"/>
                          <a:ea typeface="Calibri" panose="020F0502020204030204" pitchFamily="34" charset="0"/>
                          <a:cs typeface="Arial" panose="020B0604020202020204" pitchFamily="34" charset="0"/>
                        </a:rPr>
                        <a:t>8</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515866"/>
                  </a:ext>
                </a:extLst>
              </a:tr>
              <a:tr h="729835">
                <a:tc>
                  <a:txBody>
                    <a:bodyPr/>
                    <a:lstStyle/>
                    <a:p>
                      <a:pPr>
                        <a:lnSpc>
                          <a:spcPct val="150000"/>
                        </a:lnSpc>
                        <a:spcBef>
                          <a:spcPts val="1200"/>
                        </a:spcBef>
                        <a:spcAft>
                          <a:spcPts val="600"/>
                        </a:spcAft>
                        <a:buNone/>
                      </a:pPr>
                      <a:r>
                        <a:rPr lang="en-AU" sz="1800">
                          <a:solidFill>
                            <a:schemeClr val="tx1"/>
                          </a:solidFill>
                          <a:effectLst/>
                        </a:rPr>
                        <a:t>Total batteries needed</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1800">
                          <a:solidFill>
                            <a:schemeClr val="tx1"/>
                          </a:solidFill>
                          <a:effectLst/>
                        </a:rPr>
                        <a:t> 16</a:t>
                      </a:r>
                      <a:endPar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rPr>
                        <a:t>20</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rPr>
                        <a:t>24</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rPr>
                        <a:t>30</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1800">
                          <a:solidFill>
                            <a:schemeClr val="tx1"/>
                          </a:solidFill>
                          <a:effectLst/>
                          <a:latin typeface="Arial" panose="020B0604020202020204" pitchFamily="34" charset="0"/>
                          <a:ea typeface="Calibri" panose="020F0502020204030204" pitchFamily="34" charset="0"/>
                          <a:cs typeface="Arial" panose="020B0604020202020204" pitchFamily="34" charset="0"/>
                        </a:rPr>
                        <a:t>32</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468257"/>
                  </a:ext>
                </a:extLst>
              </a:tr>
            </a:tbl>
          </a:graphicData>
        </a:graphic>
      </p:graphicFrame>
      <p:pic>
        <p:nvPicPr>
          <p:cNvPr id="6" name="Picture 5">
            <a:extLst>
              <a:ext uri="{FF2B5EF4-FFF2-40B4-BE49-F238E27FC236}">
                <a16:creationId xmlns:a16="http://schemas.microsoft.com/office/drawing/2014/main" id="{1F8C75DA-DB51-84C6-626F-0F0466C247B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89849" y="2312752"/>
            <a:ext cx="420898" cy="529626"/>
          </a:xfrm>
          <a:prstGeom prst="rect">
            <a:avLst/>
          </a:prstGeom>
        </p:spPr>
      </p:pic>
      <p:graphicFrame>
        <p:nvGraphicFramePr>
          <p:cNvPr id="25" name="Table 24">
            <a:extLst>
              <a:ext uri="{FF2B5EF4-FFF2-40B4-BE49-F238E27FC236}">
                <a16:creationId xmlns:a16="http://schemas.microsoft.com/office/drawing/2014/main" id="{F96526E2-8B91-8D0B-A87D-9A998BF072ED}"/>
              </a:ext>
            </a:extLst>
          </p:cNvPr>
          <p:cNvGraphicFramePr>
            <a:graphicFrameLocks noGrp="1"/>
          </p:cNvGraphicFramePr>
          <p:nvPr>
            <p:extLst>
              <p:ext uri="{D42A27DB-BD31-4B8C-83A1-F6EECF244321}">
                <p14:modId xmlns:p14="http://schemas.microsoft.com/office/powerpoint/2010/main" val="1920855896"/>
              </p:ext>
            </p:extLst>
          </p:nvPr>
        </p:nvGraphicFramePr>
        <p:xfrm>
          <a:off x="239519" y="4779155"/>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dirty="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3200"/>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t>32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dirty="0">
                          <a:latin typeface="+mn-lt"/>
                          <a:cs typeface="Arial"/>
                        </a:rPr>
                        <a:t>30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24FFF-4B7F-319E-9FE9-DE6DD11507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9F0F37C-3009-C22A-0026-341DAEEA276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a:t>
            </a:r>
          </a:p>
        </p:txBody>
      </p:sp>
      <p:pic>
        <p:nvPicPr>
          <p:cNvPr id="4" name="Picture 3" descr="image of a clipboard with a pencil recording short answer responses">
            <a:extLst>
              <a:ext uri="{FF2B5EF4-FFF2-40B4-BE49-F238E27FC236}">
                <a16:creationId xmlns:a16="http://schemas.microsoft.com/office/drawing/2014/main" id="{3706CCEB-AC19-6017-038E-05133EEBC9AC}"/>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6" name="Picture Placeholder 10">
                <a:extLst>
                  <a:ext uri="{FF2B5EF4-FFF2-40B4-BE49-F238E27FC236}">
                    <a16:creationId xmlns:a16="http://schemas.microsoft.com/office/drawing/2014/main" id="{54AE78D0-E271-2885-7886-327DB8C61B64}"/>
                  </a:ext>
                </a:extLst>
              </p:cNvPr>
              <p:cNvSpPr txBox="1">
                <a:spLocks/>
              </p:cNvSpPr>
              <p:nvPr/>
            </p:nvSpPr>
            <p:spPr>
              <a:xfrm>
                <a:off x="490580" y="1262977"/>
                <a:ext cx="11210840" cy="476988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ea typeface="Cambria Math" panose="02040503050406030204" pitchFamily="18" charset="0"/>
                    <a:cs typeface="Arial"/>
                  </a:rPr>
                  <a:t>Lucy ate</a:t>
                </a:r>
                <a:r>
                  <a:rPr lang="en-US" sz="4400" b="1">
                    <a:ea typeface="Cambria Math" panose="02040503050406030204" pitchFamily="18" charset="0"/>
                    <a:cs typeface="Arial"/>
                  </a:rPr>
                  <a:t> </a:t>
                </a:r>
                <a14:m>
                  <m:oMath xmlns:m="http://schemas.openxmlformats.org/officeDocument/2006/math">
                    <m:f>
                      <m:fPr>
                        <m:ctrlPr>
                          <a:rPr lang="en-US" sz="4400" i="1">
                            <a:latin typeface="Cambria Math" panose="02040503050406030204" pitchFamily="18" charset="0"/>
                            <a:ea typeface="Cambria Math" panose="02040503050406030204" pitchFamily="18" charset="0"/>
                            <a:cs typeface="Arial"/>
                          </a:rPr>
                        </m:ctrlPr>
                      </m:fPr>
                      <m:num>
                        <m:r>
                          <a:rPr lang="en-AU" sz="4400" b="0" i="1">
                            <a:latin typeface="Cambria Math" panose="02040503050406030204" pitchFamily="18" charset="0"/>
                            <a:ea typeface="Cambria Math" panose="02040503050406030204" pitchFamily="18" charset="0"/>
                            <a:cs typeface="Arial"/>
                          </a:rPr>
                          <m:t>3</m:t>
                        </m:r>
                      </m:num>
                      <m:den>
                        <m:r>
                          <a:rPr lang="en-AU" sz="4400" b="0" i="1">
                            <a:latin typeface="Cambria Math" panose="02040503050406030204" pitchFamily="18" charset="0"/>
                            <a:ea typeface="Cambria Math" panose="02040503050406030204" pitchFamily="18" charset="0"/>
                            <a:cs typeface="Arial"/>
                          </a:rPr>
                          <m:t>5</m:t>
                        </m:r>
                      </m:den>
                    </m:f>
                  </m:oMath>
                </a14:m>
                <a:r>
                  <a:rPr lang="en-US" sz="4400">
                    <a:latin typeface="Arial"/>
                    <a:cs typeface="Arial"/>
                  </a:rPr>
                  <a:t> of a pizza and Audrey ate </a:t>
                </a:r>
                <a14:m>
                  <m:oMath xmlns:m="http://schemas.openxmlformats.org/officeDocument/2006/math">
                    <m:f>
                      <m:fPr>
                        <m:ctrlPr>
                          <a:rPr lang="en-US" sz="4400" i="1">
                            <a:latin typeface="Cambria Math" panose="02040503050406030204" pitchFamily="18" charset="0"/>
                            <a:ea typeface="Cambria Math" panose="02040503050406030204" pitchFamily="18" charset="0"/>
                            <a:cs typeface="Arial"/>
                          </a:rPr>
                        </m:ctrlPr>
                      </m:fPr>
                      <m:num>
                        <m:r>
                          <a:rPr lang="en-AU" sz="4400" b="0" i="1">
                            <a:latin typeface="Cambria Math" panose="02040503050406030204" pitchFamily="18" charset="0"/>
                            <a:ea typeface="Cambria Math" panose="02040503050406030204" pitchFamily="18" charset="0"/>
                            <a:cs typeface="Arial"/>
                          </a:rPr>
                          <m:t>2</m:t>
                        </m:r>
                      </m:num>
                      <m:den>
                        <m:r>
                          <a:rPr lang="en-AU" sz="4400" b="0" i="1">
                            <a:latin typeface="Cambria Math" panose="02040503050406030204" pitchFamily="18" charset="0"/>
                            <a:ea typeface="Cambria Math" panose="02040503050406030204" pitchFamily="18" charset="0"/>
                            <a:cs typeface="Arial"/>
                          </a:rPr>
                          <m:t>10</m:t>
                        </m:r>
                      </m:den>
                    </m:f>
                  </m:oMath>
                </a14:m>
                <a:r>
                  <a:rPr lang="en-US" sz="4400">
                    <a:ea typeface="Cambria Math" panose="02040503050406030204" pitchFamily="18" charset="0"/>
                    <a:cs typeface="Arial"/>
                  </a:rPr>
                  <a:t> of the same pizza. </a:t>
                </a:r>
              </a:p>
              <a:p>
                <a:pPr algn="ctr"/>
                <a:r>
                  <a:rPr lang="en-US" sz="4400">
                    <a:ea typeface="Cambria Math" panose="02040503050406030204" pitchFamily="18" charset="0"/>
                    <a:cs typeface="Arial"/>
                  </a:rPr>
                  <a:t>What </a:t>
                </a:r>
                <a:r>
                  <a:rPr lang="en-US" sz="4400" b="1">
                    <a:ea typeface="Cambria Math" panose="02040503050406030204" pitchFamily="18" charset="0"/>
                    <a:cs typeface="Arial"/>
                  </a:rPr>
                  <a:t>fraction</a:t>
                </a:r>
                <a:r>
                  <a:rPr lang="en-US" sz="4400">
                    <a:ea typeface="Cambria Math" panose="02040503050406030204" pitchFamily="18" charset="0"/>
                    <a:cs typeface="Arial"/>
                  </a:rPr>
                  <a:t> of the pizza did they eat </a:t>
                </a:r>
                <a:r>
                  <a:rPr lang="en-US" sz="4400" b="1">
                    <a:ea typeface="Cambria Math" panose="02040503050406030204" pitchFamily="18" charset="0"/>
                    <a:cs typeface="Arial"/>
                  </a:rPr>
                  <a:t>altogether</a:t>
                </a:r>
                <a:r>
                  <a:rPr lang="en-US" sz="4400">
                    <a:ea typeface="Cambria Math" panose="02040503050406030204" pitchFamily="18" charset="0"/>
                    <a:cs typeface="Arial"/>
                  </a:rPr>
                  <a:t>?</a:t>
                </a:r>
                <a:endParaRPr lang="en-US" sz="4400">
                  <a:latin typeface="+mj-lt"/>
                </a:endParaRPr>
              </a:p>
              <a:p>
                <a:pPr algn="ctr"/>
                <a:endParaRPr lang="en-US" sz="6600"/>
              </a:p>
              <a:p>
                <a:endParaRPr lang="en-US">
                  <a:latin typeface="Arial"/>
                  <a:cs typeface="Arial"/>
                </a:endParaRPr>
              </a:p>
            </p:txBody>
          </p:sp>
        </mc:Choice>
        <mc:Fallback xmlns="">
          <p:sp>
            <p:nvSpPr>
              <p:cNvPr id="6" name="Picture Placeholder 10">
                <a:extLst>
                  <a:ext uri="{FF2B5EF4-FFF2-40B4-BE49-F238E27FC236}">
                    <a16:creationId xmlns:a16="http://schemas.microsoft.com/office/drawing/2014/main" id="{54AE78D0-E271-2885-7886-327DB8C61B64}"/>
                  </a:ext>
                </a:extLst>
              </p:cNvPr>
              <p:cNvSpPr txBox="1">
                <a:spLocks noRot="1" noChangeAspect="1" noMove="1" noResize="1" noEditPoints="1" noAdjustHandles="1" noChangeArrowheads="1" noChangeShapeType="1" noTextEdit="1"/>
              </p:cNvSpPr>
              <p:nvPr/>
            </p:nvSpPr>
            <p:spPr>
              <a:xfrm>
                <a:off x="490580" y="1262977"/>
                <a:ext cx="11210840" cy="4769889"/>
              </a:xfrm>
              <a:prstGeom prst="rect">
                <a:avLst/>
              </a:prstGeom>
              <a:blipFill>
                <a:blip r:embed="rId4"/>
                <a:stretch>
                  <a:fillRect l="-2826" r="-4130" b="-766"/>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8D89433-C766-CDA7-4A25-0AA66467CC33}"/>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87483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6">
            <a:extLst>
              <a:ext uri="{FF2B5EF4-FFF2-40B4-BE49-F238E27FC236}">
                <a16:creationId xmlns:a16="http://schemas.microsoft.com/office/drawing/2014/main" id="{8244E608-D793-B87B-47D7-76A125206844}"/>
              </a:ext>
            </a:extLst>
          </p:cNvPr>
          <p:cNvSpPr>
            <a:spLocks noGrp="1"/>
          </p:cNvSpPr>
          <p:nvPr>
            <p:ph type="pic" sz="quarter" idx="21"/>
          </p:nvPr>
        </p:nvSpPr>
        <p:spPr>
          <a:xfrm>
            <a:off x="360001" y="1052162"/>
            <a:ext cx="11243037" cy="1573472"/>
          </a:xfrm>
        </p:spPr>
        <p:txBody>
          <a:bodyPr/>
          <a:lstStyle/>
          <a:p>
            <a:pPr algn="ctr"/>
            <a:r>
              <a:rPr lang="en-AU" sz="3600"/>
              <a:t>Class 5D are going on a zoo excursion. There are 25 students and 3 adults attending. Find the </a:t>
            </a:r>
            <a:r>
              <a:rPr lang="en-AU" sz="3600" b="1"/>
              <a:t>total cost </a:t>
            </a:r>
            <a:r>
              <a:rPr lang="en-AU" sz="3600"/>
              <a:t>for zoo entry.</a:t>
            </a:r>
          </a:p>
        </p:txBody>
      </p:sp>
      <p:graphicFrame>
        <p:nvGraphicFramePr>
          <p:cNvPr id="8" name="Table 7">
            <a:extLst>
              <a:ext uri="{FF2B5EF4-FFF2-40B4-BE49-F238E27FC236}">
                <a16:creationId xmlns:a16="http://schemas.microsoft.com/office/drawing/2014/main" id="{F85C3429-E832-8F0B-10F4-643970697EC6}"/>
              </a:ext>
            </a:extLst>
          </p:cNvPr>
          <p:cNvGraphicFramePr>
            <a:graphicFrameLocks noGrp="1"/>
          </p:cNvGraphicFramePr>
          <p:nvPr>
            <p:extLst>
              <p:ext uri="{D42A27DB-BD31-4B8C-83A1-F6EECF244321}">
                <p14:modId xmlns:p14="http://schemas.microsoft.com/office/powerpoint/2010/main" val="1555963936"/>
              </p:ext>
            </p:extLst>
          </p:nvPr>
        </p:nvGraphicFramePr>
        <p:xfrm>
          <a:off x="3032326" y="3844823"/>
          <a:ext cx="6127348" cy="2590800"/>
        </p:xfrm>
        <a:graphic>
          <a:graphicData uri="http://schemas.openxmlformats.org/drawingml/2006/table">
            <a:tbl>
              <a:tblPr firstRow="1" bandRow="1" bandCol="1">
                <a:tableStyleId>{72833802-FEF1-4C79-8D5D-14CF1EAF98D9}</a:tableStyleId>
              </a:tblPr>
              <a:tblGrid>
                <a:gridCol w="3923022">
                  <a:extLst>
                    <a:ext uri="{9D8B030D-6E8A-4147-A177-3AD203B41FA5}">
                      <a16:colId xmlns:a16="http://schemas.microsoft.com/office/drawing/2014/main" val="3854006169"/>
                    </a:ext>
                  </a:extLst>
                </a:gridCol>
                <a:gridCol w="2204326">
                  <a:extLst>
                    <a:ext uri="{9D8B030D-6E8A-4147-A177-3AD203B41FA5}">
                      <a16:colId xmlns:a16="http://schemas.microsoft.com/office/drawing/2014/main" val="2781578989"/>
                    </a:ext>
                  </a:extLst>
                </a:gridCol>
              </a:tblGrid>
              <a:tr h="414826">
                <a:tc>
                  <a:txBody>
                    <a:bodyPr/>
                    <a:lstStyle/>
                    <a:p>
                      <a:r>
                        <a:rPr lang="en-AU" sz="2800"/>
                        <a:t>Zoo entry</a:t>
                      </a:r>
                    </a:p>
                  </a:txBody>
                  <a:tcPr/>
                </a:tc>
                <a:tc>
                  <a:txBody>
                    <a:bodyPr/>
                    <a:lstStyle/>
                    <a:p>
                      <a:r>
                        <a:rPr lang="en-AU" sz="2800"/>
                        <a:t>Cost</a:t>
                      </a:r>
                    </a:p>
                  </a:txBody>
                  <a:tcPr/>
                </a:tc>
                <a:extLst>
                  <a:ext uri="{0D108BD9-81ED-4DB2-BD59-A6C34878D82A}">
                    <a16:rowId xmlns:a16="http://schemas.microsoft.com/office/drawing/2014/main" val="1619288671"/>
                  </a:ext>
                </a:extLst>
              </a:tr>
              <a:tr h="370840">
                <a:tc>
                  <a:txBody>
                    <a:bodyPr/>
                    <a:lstStyle/>
                    <a:p>
                      <a:r>
                        <a:rPr lang="en-AU" sz="2800"/>
                        <a:t>Adults</a:t>
                      </a:r>
                    </a:p>
                  </a:txBody>
                  <a:tcPr/>
                </a:tc>
                <a:tc>
                  <a:txBody>
                    <a:bodyPr/>
                    <a:lstStyle/>
                    <a:p>
                      <a:r>
                        <a:rPr lang="en-AU" sz="2800"/>
                        <a:t>$25</a:t>
                      </a:r>
                    </a:p>
                  </a:txBody>
                  <a:tcPr/>
                </a:tc>
                <a:extLst>
                  <a:ext uri="{0D108BD9-81ED-4DB2-BD59-A6C34878D82A}">
                    <a16:rowId xmlns:a16="http://schemas.microsoft.com/office/drawing/2014/main" val="1620683445"/>
                  </a:ext>
                </a:extLst>
              </a:tr>
              <a:tr h="370840">
                <a:tc>
                  <a:txBody>
                    <a:bodyPr/>
                    <a:lstStyle/>
                    <a:p>
                      <a:r>
                        <a:rPr lang="en-AU" sz="2800"/>
                        <a:t>Students/Concession</a:t>
                      </a:r>
                    </a:p>
                  </a:txBody>
                  <a:tcPr/>
                </a:tc>
                <a:tc>
                  <a:txBody>
                    <a:bodyPr/>
                    <a:lstStyle/>
                    <a:p>
                      <a:r>
                        <a:rPr lang="en-AU" sz="2800"/>
                        <a:t>$18</a:t>
                      </a:r>
                    </a:p>
                  </a:txBody>
                  <a:tcPr/>
                </a:tc>
                <a:extLst>
                  <a:ext uri="{0D108BD9-81ED-4DB2-BD59-A6C34878D82A}">
                    <a16:rowId xmlns:a16="http://schemas.microsoft.com/office/drawing/2014/main" val="4287853071"/>
                  </a:ext>
                </a:extLst>
              </a:tr>
              <a:tr h="370840">
                <a:tc>
                  <a:txBody>
                    <a:bodyPr/>
                    <a:lstStyle/>
                    <a:p>
                      <a:r>
                        <a:rPr lang="en-AU" sz="2800"/>
                        <a:t>Children (3 – 14 years)</a:t>
                      </a:r>
                    </a:p>
                  </a:txBody>
                  <a:tcPr/>
                </a:tc>
                <a:tc>
                  <a:txBody>
                    <a:bodyPr/>
                    <a:lstStyle/>
                    <a:p>
                      <a:r>
                        <a:rPr lang="en-AU" sz="2800"/>
                        <a:t>$14</a:t>
                      </a:r>
                    </a:p>
                  </a:txBody>
                  <a:tcPr/>
                </a:tc>
                <a:extLst>
                  <a:ext uri="{0D108BD9-81ED-4DB2-BD59-A6C34878D82A}">
                    <a16:rowId xmlns:a16="http://schemas.microsoft.com/office/drawing/2014/main" val="1209076684"/>
                  </a:ext>
                </a:extLst>
              </a:tr>
              <a:tr h="370840">
                <a:tc>
                  <a:txBody>
                    <a:bodyPr/>
                    <a:lstStyle/>
                    <a:p>
                      <a:r>
                        <a:rPr lang="en-AU" sz="2800"/>
                        <a:t>Family (2 adults/2 chn)</a:t>
                      </a:r>
                    </a:p>
                  </a:txBody>
                  <a:tcPr/>
                </a:tc>
                <a:tc>
                  <a:txBody>
                    <a:bodyPr/>
                    <a:lstStyle/>
                    <a:p>
                      <a:r>
                        <a:rPr lang="en-AU" sz="2800"/>
                        <a:t>$65</a:t>
                      </a:r>
                    </a:p>
                  </a:txBody>
                  <a:tcPr/>
                </a:tc>
                <a:extLst>
                  <a:ext uri="{0D108BD9-81ED-4DB2-BD59-A6C34878D82A}">
                    <a16:rowId xmlns:a16="http://schemas.microsoft.com/office/drawing/2014/main" val="2041853462"/>
                  </a:ext>
                </a:extLst>
              </a:tr>
            </a:tbl>
          </a:graphicData>
        </a:graphic>
      </p:graphicFrame>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3"/>
            <a:ext cx="11235949" cy="5146131"/>
          </a:xfrm>
        </p:spPr>
        <p:txBody>
          <a:bodyPr/>
          <a:lstStyle/>
          <a:p>
            <a:pPr algn="ctr"/>
            <a:r>
              <a:rPr lang="en-AU" sz="4000"/>
              <a:t>Mehan has 2 pieces of wood. One is 150 centimetres long, and the other is 1.2 metres long. </a:t>
            </a:r>
          </a:p>
          <a:p>
            <a:pPr algn="ctr"/>
            <a:r>
              <a:rPr lang="en-AU" sz="4000"/>
              <a:t>Which piece is </a:t>
            </a:r>
            <a:r>
              <a:rPr lang="en-AU" sz="4000" b="1"/>
              <a:t>longer</a:t>
            </a:r>
            <a:r>
              <a:rPr lang="en-AU" sz="4000"/>
              <a:t>, and by </a:t>
            </a:r>
            <a:r>
              <a:rPr lang="en-AU" sz="4000" b="1"/>
              <a:t>how much</a:t>
            </a:r>
            <a:r>
              <a:rPr lang="en-AU" sz="4000"/>
              <a:t>? </a:t>
            </a:r>
            <a:r>
              <a:rPr lang="en-AU" sz="4000" b="1"/>
              <a:t>Convert the measurements to the same unit </a:t>
            </a:r>
            <a:r>
              <a:rPr lang="en-AU" sz="4000"/>
              <a:t>to compare the lengths accurately.</a:t>
            </a:r>
            <a:endParaRPr lang="en-US" sz="8000"/>
          </a:p>
          <a:p>
            <a:endParaRPr lang="en-US">
              <a:latin typeface="Arial"/>
              <a:cs typeface="Arial"/>
            </a:endParaRPr>
          </a:p>
        </p:txBody>
      </p:sp>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a:t>
            </a: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702483" y="2063632"/>
            <a:ext cx="10421517" cy="2730735"/>
          </a:xfrm>
        </p:spPr>
        <p:txBody>
          <a:bodyPr/>
          <a:lstStyle/>
          <a:p>
            <a:pPr algn="ctr"/>
            <a:r>
              <a:rPr lang="en-US" sz="4400">
                <a:latin typeface="Arial"/>
                <a:cs typeface="Arial"/>
              </a:rPr>
              <a:t>Draw and describe an </a:t>
            </a:r>
            <a:r>
              <a:rPr lang="en-US" sz="4400" b="1">
                <a:latin typeface="Arial"/>
                <a:cs typeface="Arial"/>
              </a:rPr>
              <a:t>adjacent angle</a:t>
            </a:r>
            <a:r>
              <a:rPr lang="en-US" sz="4400">
                <a:latin typeface="Arial"/>
                <a:cs typeface="Arial"/>
              </a:rPr>
              <a:t>.</a:t>
            </a:r>
          </a:p>
          <a:p>
            <a:pPr algn="ct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9894343" cy="545601"/>
          </a:xfrm>
        </p:spPr>
        <p:txBody>
          <a:bodyPr/>
          <a:lstStyle/>
          <a:p>
            <a:r>
              <a:rPr lang="en-AU"/>
              <a:t>Activity 7– describing a pattern</a:t>
            </a:r>
          </a:p>
        </p:txBody>
      </p:sp>
      <p:pic>
        <p:nvPicPr>
          <p:cNvPr id="4" name="Picture 3" descr="image of a head with cogs turning inside">
            <a:extLst>
              <a:ext uri="{FF2B5EF4-FFF2-40B4-BE49-F238E27FC236}">
                <a16:creationId xmlns:a16="http://schemas.microsoft.com/office/drawing/2014/main" id="{B7143B6D-DFD3-6D06-B94B-D2FA9E24B626}"/>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22C653B9-71F9-A298-3717-E7D936EB2241}"/>
              </a:ext>
            </a:extLst>
          </p:cNvPr>
          <p:cNvGraphicFramePr>
            <a:graphicFrameLocks noGrp="1"/>
          </p:cNvGraphicFramePr>
          <p:nvPr>
            <p:extLst>
              <p:ext uri="{D42A27DB-BD31-4B8C-83A1-F6EECF244321}">
                <p14:modId xmlns:p14="http://schemas.microsoft.com/office/powerpoint/2010/main" val="1212493730"/>
              </p:ext>
            </p:extLst>
          </p:nvPr>
        </p:nvGraphicFramePr>
        <p:xfrm>
          <a:off x="464233" y="1998721"/>
          <a:ext cx="10642771" cy="2492791"/>
        </p:xfrm>
        <a:graphic>
          <a:graphicData uri="http://schemas.openxmlformats.org/drawingml/2006/table">
            <a:tbl>
              <a:tblPr firstRow="1" firstCol="1" bandRow="1">
                <a:tableStyleId>{5A111915-BE36-4E01-A7E5-04B1672EAD32}</a:tableStyleId>
              </a:tblPr>
              <a:tblGrid>
                <a:gridCol w="4415136">
                  <a:extLst>
                    <a:ext uri="{9D8B030D-6E8A-4147-A177-3AD203B41FA5}">
                      <a16:colId xmlns:a16="http://schemas.microsoft.com/office/drawing/2014/main" val="2024091781"/>
                    </a:ext>
                  </a:extLst>
                </a:gridCol>
                <a:gridCol w="1302051">
                  <a:extLst>
                    <a:ext uri="{9D8B030D-6E8A-4147-A177-3AD203B41FA5}">
                      <a16:colId xmlns:a16="http://schemas.microsoft.com/office/drawing/2014/main" val="238408290"/>
                    </a:ext>
                  </a:extLst>
                </a:gridCol>
                <a:gridCol w="1231396">
                  <a:extLst>
                    <a:ext uri="{9D8B030D-6E8A-4147-A177-3AD203B41FA5}">
                      <a16:colId xmlns:a16="http://schemas.microsoft.com/office/drawing/2014/main" val="2775988315"/>
                    </a:ext>
                  </a:extLst>
                </a:gridCol>
                <a:gridCol w="1231396">
                  <a:extLst>
                    <a:ext uri="{9D8B030D-6E8A-4147-A177-3AD203B41FA5}">
                      <a16:colId xmlns:a16="http://schemas.microsoft.com/office/drawing/2014/main" val="3312906330"/>
                    </a:ext>
                  </a:extLst>
                </a:gridCol>
                <a:gridCol w="1231396">
                  <a:extLst>
                    <a:ext uri="{9D8B030D-6E8A-4147-A177-3AD203B41FA5}">
                      <a16:colId xmlns:a16="http://schemas.microsoft.com/office/drawing/2014/main" val="2184240022"/>
                    </a:ext>
                  </a:extLst>
                </a:gridCol>
                <a:gridCol w="1231396">
                  <a:extLst>
                    <a:ext uri="{9D8B030D-6E8A-4147-A177-3AD203B41FA5}">
                      <a16:colId xmlns:a16="http://schemas.microsoft.com/office/drawing/2014/main" val="1011731949"/>
                    </a:ext>
                  </a:extLst>
                </a:gridCol>
              </a:tblGrid>
              <a:tr h="1264984">
                <a:tc>
                  <a:txBody>
                    <a:bodyPr/>
                    <a:lstStyle/>
                    <a:p>
                      <a:pPr algn="l">
                        <a:lnSpc>
                          <a:spcPct val="150000"/>
                        </a:lnSpc>
                        <a:spcBef>
                          <a:spcPts val="1200"/>
                        </a:spcBef>
                        <a:spcAft>
                          <a:spcPts val="600"/>
                        </a:spcAft>
                      </a:pPr>
                      <a:r>
                        <a:rPr lang="en-AU" sz="3200" b="1">
                          <a:solidFill>
                            <a:schemeClr val="bg1"/>
                          </a:solidFill>
                          <a:effectLst/>
                          <a:latin typeface="Arial" panose="020B0604020202020204" pitchFamily="34" charset="0"/>
                          <a:cs typeface="Arial" panose="020B0604020202020204" pitchFamily="34" charset="0"/>
                        </a:rPr>
                        <a:t>Torches</a:t>
                      </a:r>
                      <a:endParaRPr lang="en-AU" sz="3200" b="1">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1</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3</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7</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2</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4</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7290760"/>
                  </a:ext>
                </a:extLst>
              </a:tr>
              <a:tr h="1227807">
                <a:tc>
                  <a:txBody>
                    <a:bodyPr/>
                    <a:lstStyle/>
                    <a:p>
                      <a:pPr algn="l">
                        <a:lnSpc>
                          <a:spcPct val="150000"/>
                        </a:lnSpc>
                        <a:spcBef>
                          <a:spcPts val="1200"/>
                        </a:spcBef>
                        <a:spcAft>
                          <a:spcPts val="600"/>
                        </a:spcAft>
                      </a:pPr>
                      <a:r>
                        <a:rPr lang="en-AU" sz="3200" b="1">
                          <a:solidFill>
                            <a:schemeClr val="bg1"/>
                          </a:solidFill>
                          <a:effectLst/>
                          <a:latin typeface="Arial" panose="020B0604020202020204" pitchFamily="34" charset="0"/>
                          <a:cs typeface="Arial" panose="020B0604020202020204" pitchFamily="34" charset="0"/>
                        </a:rPr>
                        <a:t>Total batteries needed</a:t>
                      </a:r>
                      <a:endParaRPr lang="en-AU" sz="3200" b="1">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3</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8</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21</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6</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3200" b="0">
                          <a:solidFill>
                            <a:schemeClr val="tx1"/>
                          </a:solidFill>
                          <a:effectLst/>
                          <a:latin typeface="Arial" panose="020B0604020202020204" pitchFamily="34" charset="0"/>
                          <a:cs typeface="Arial" panose="020B0604020202020204" pitchFamily="34" charset="0"/>
                        </a:rPr>
                        <a:t>12</a:t>
                      </a:r>
                      <a:endParaRPr lang="en-AU" sz="32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72227"/>
                  </a:ext>
                </a:extLst>
              </a:tr>
            </a:tbl>
          </a:graphicData>
        </a:graphic>
      </p:graphicFrame>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48243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(4)</a:t>
            </a:r>
          </a:p>
        </p:txBody>
      </p:sp>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14027" y="1279509"/>
            <a:ext cx="11217725" cy="4220884"/>
          </a:xfrm>
        </p:spPr>
        <p:txBody>
          <a:bodyPr vert="horz" lIns="0" tIns="0" rIns="0" bIns="0" rtlCol="0" anchor="t">
            <a:noAutofit/>
          </a:bodyPr>
          <a:lstStyle/>
          <a:p>
            <a:pPr algn="ctr"/>
            <a:r>
              <a:rPr lang="en-US" sz="3600">
                <a:latin typeface="Arial"/>
                <a:cs typeface="Arial"/>
              </a:rPr>
              <a:t>Silas is buying packs of markers. He multiplied each pack by 6 to determine the</a:t>
            </a:r>
            <a:r>
              <a:rPr lang="en-US" sz="3600" b="1">
                <a:latin typeface="Arial"/>
                <a:cs typeface="Arial"/>
              </a:rPr>
              <a:t> total </a:t>
            </a:r>
            <a:r>
              <a:rPr lang="en-US" sz="3600">
                <a:latin typeface="Arial"/>
                <a:cs typeface="Arial"/>
              </a:rPr>
              <a:t>number of markers.</a:t>
            </a:r>
          </a:p>
        </p:txBody>
      </p:sp>
      <p:graphicFrame>
        <p:nvGraphicFramePr>
          <p:cNvPr id="6" name="Table 5">
            <a:extLst>
              <a:ext uri="{FF2B5EF4-FFF2-40B4-BE49-F238E27FC236}">
                <a16:creationId xmlns:a16="http://schemas.microsoft.com/office/drawing/2014/main" id="{E365BA20-72EA-1291-9692-4037E958B388}"/>
              </a:ext>
            </a:extLst>
          </p:cNvPr>
          <p:cNvGraphicFramePr>
            <a:graphicFrameLocks noGrp="1"/>
          </p:cNvGraphicFramePr>
          <p:nvPr>
            <p:extLst>
              <p:ext uri="{D42A27DB-BD31-4B8C-83A1-F6EECF244321}">
                <p14:modId xmlns:p14="http://schemas.microsoft.com/office/powerpoint/2010/main" val="1985159048"/>
              </p:ext>
            </p:extLst>
          </p:nvPr>
        </p:nvGraphicFramePr>
        <p:xfrm>
          <a:off x="1913205" y="3389951"/>
          <a:ext cx="8894703" cy="1871730"/>
        </p:xfrm>
        <a:graphic>
          <a:graphicData uri="http://schemas.openxmlformats.org/drawingml/2006/table">
            <a:tbl>
              <a:tblPr firstRow="1" firstCol="1" bandRow="1">
                <a:tableStyleId>{5A111915-BE36-4E01-A7E5-04B1672EAD32}</a:tableStyleId>
              </a:tblPr>
              <a:tblGrid>
                <a:gridCol w="3748943">
                  <a:extLst>
                    <a:ext uri="{9D8B030D-6E8A-4147-A177-3AD203B41FA5}">
                      <a16:colId xmlns:a16="http://schemas.microsoft.com/office/drawing/2014/main" val="2214276600"/>
                    </a:ext>
                  </a:extLst>
                </a:gridCol>
                <a:gridCol w="1029152">
                  <a:extLst>
                    <a:ext uri="{9D8B030D-6E8A-4147-A177-3AD203B41FA5}">
                      <a16:colId xmlns:a16="http://schemas.microsoft.com/office/drawing/2014/main" val="1847189613"/>
                    </a:ext>
                  </a:extLst>
                </a:gridCol>
                <a:gridCol w="1029152">
                  <a:extLst>
                    <a:ext uri="{9D8B030D-6E8A-4147-A177-3AD203B41FA5}">
                      <a16:colId xmlns:a16="http://schemas.microsoft.com/office/drawing/2014/main" val="2525653701"/>
                    </a:ext>
                  </a:extLst>
                </a:gridCol>
                <a:gridCol w="1029152">
                  <a:extLst>
                    <a:ext uri="{9D8B030D-6E8A-4147-A177-3AD203B41FA5}">
                      <a16:colId xmlns:a16="http://schemas.microsoft.com/office/drawing/2014/main" val="4110869221"/>
                    </a:ext>
                  </a:extLst>
                </a:gridCol>
                <a:gridCol w="1029152">
                  <a:extLst>
                    <a:ext uri="{9D8B030D-6E8A-4147-A177-3AD203B41FA5}">
                      <a16:colId xmlns:a16="http://schemas.microsoft.com/office/drawing/2014/main" val="1573142878"/>
                    </a:ext>
                  </a:extLst>
                </a:gridCol>
                <a:gridCol w="1029152">
                  <a:extLst>
                    <a:ext uri="{9D8B030D-6E8A-4147-A177-3AD203B41FA5}">
                      <a16:colId xmlns:a16="http://schemas.microsoft.com/office/drawing/2014/main" val="2485552351"/>
                    </a:ext>
                  </a:extLst>
                </a:gridCol>
              </a:tblGrid>
              <a:tr h="940189">
                <a:tc>
                  <a:txBody>
                    <a:bodyPr/>
                    <a:lstStyle/>
                    <a:p>
                      <a:pPr>
                        <a:lnSpc>
                          <a:spcPct val="150000"/>
                        </a:lnSpc>
                        <a:spcBef>
                          <a:spcPts val="1200"/>
                        </a:spcBef>
                        <a:spcAft>
                          <a:spcPts val="600"/>
                        </a:spcAft>
                        <a:buNone/>
                      </a:pPr>
                      <a:r>
                        <a:rPr lang="en-AU" sz="2400">
                          <a:solidFill>
                            <a:schemeClr val="tx1"/>
                          </a:solidFill>
                          <a:effectLst/>
                        </a:rPr>
                        <a:t>Number of packs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4</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7</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9</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11</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6515866"/>
                  </a:ext>
                </a:extLst>
              </a:tr>
              <a:tr h="931541">
                <a:tc>
                  <a:txBody>
                    <a:bodyPr/>
                    <a:lstStyle/>
                    <a:p>
                      <a:pPr>
                        <a:lnSpc>
                          <a:spcPct val="150000"/>
                        </a:lnSpc>
                        <a:spcBef>
                          <a:spcPts val="1200"/>
                        </a:spcBef>
                        <a:spcAft>
                          <a:spcPts val="600"/>
                        </a:spcAft>
                        <a:buNone/>
                      </a:pPr>
                      <a:r>
                        <a:rPr lang="en-AU" sz="2400">
                          <a:solidFill>
                            <a:schemeClr val="tx1"/>
                          </a:solidFill>
                          <a:effectLst/>
                        </a:rPr>
                        <a:t>Total number of markers</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lnSpc>
                          <a:spcPct val="150000"/>
                        </a:lnSpc>
                        <a:spcBef>
                          <a:spcPts val="1200"/>
                        </a:spcBef>
                        <a:spcAft>
                          <a:spcPts val="600"/>
                        </a:spcAft>
                        <a:buNone/>
                      </a:pPr>
                      <a:r>
                        <a:rPr lang="en-AU" sz="2400">
                          <a:solidFill>
                            <a:schemeClr val="tx1"/>
                          </a:solidFill>
                          <a:effectLst/>
                        </a:rPr>
                        <a:t>28 </a:t>
                      </a:r>
                      <a:endPar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42</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49</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63</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400">
                          <a:solidFill>
                            <a:schemeClr val="tx1"/>
                          </a:solidFill>
                          <a:effectLst/>
                          <a:latin typeface="Arial" panose="020B0604020202020204" pitchFamily="34" charset="0"/>
                          <a:ea typeface="Calibri" panose="020F0502020204030204" pitchFamily="34" charset="0"/>
                          <a:cs typeface="Arial" panose="020B0604020202020204" pitchFamily="34" charset="0"/>
                        </a:rPr>
                        <a:t>77</a:t>
                      </a:r>
                    </a:p>
                  </a:txBody>
                  <a:tcPr marL="66675" marR="6667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8468257"/>
                  </a:ext>
                </a:extLst>
              </a:tr>
            </a:tbl>
          </a:graphicData>
        </a:graphic>
      </p:graphicFrame>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2DF4-9D3D-A918-55CC-951F361199E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2DE871-3EAD-107C-7FA2-A5C72770B2E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(27)</a:t>
            </a:r>
          </a:p>
        </p:txBody>
      </p:sp>
      <p:pic>
        <p:nvPicPr>
          <p:cNvPr id="4" name="Picture 3" descr="image of a clipboard with a pencil recording short answer responses">
            <a:extLst>
              <a:ext uri="{FF2B5EF4-FFF2-40B4-BE49-F238E27FC236}">
                <a16:creationId xmlns:a16="http://schemas.microsoft.com/office/drawing/2014/main" id="{CF371319-647B-6909-9D7E-0894901810E3}"/>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5EDDCA95-B700-0942-5BAD-67DD3F54945D}"/>
                  </a:ext>
                </a:extLst>
              </p:cNvPr>
              <p:cNvSpPr>
                <a:spLocks noGrp="1"/>
              </p:cNvSpPr>
              <p:nvPr>
                <p:ph type="pic" sz="quarter" idx="21"/>
              </p:nvPr>
            </p:nvSpPr>
            <p:spPr>
              <a:xfrm>
                <a:off x="360000" y="1423183"/>
                <a:ext cx="11189376" cy="4168875"/>
              </a:xfrm>
            </p:spPr>
            <p:txBody>
              <a:bodyPr/>
              <a:lstStyle/>
              <a:p>
                <a:pPr algn="ctr"/>
                <a:r>
                  <a:rPr lang="en-US" sz="4400">
                    <a:latin typeface="Arial"/>
                    <a:cs typeface="Arial"/>
                  </a:rPr>
                  <a:t> </a:t>
                </a:r>
                <a:r>
                  <a:rPr lang="en-AU" sz="4000">
                    <a:latin typeface="Arial"/>
                    <a:cs typeface="Arial"/>
                  </a:rPr>
                  <a:t>Ethan cycled </a:t>
                </a:r>
                <a:r>
                  <a:rPr lang="en-AU" sz="4000" b="1">
                    <a:latin typeface="Arial"/>
                    <a:cs typeface="Arial"/>
                  </a:rPr>
                  <a:t>5 </a:t>
                </a:r>
                <a14:m>
                  <m:oMath xmlns:m="http://schemas.openxmlformats.org/officeDocument/2006/math">
                    <m:f>
                      <m:fPr>
                        <m:ctrlPr>
                          <a:rPr lang="en-US" sz="4000" b="1" i="1">
                            <a:latin typeface="Cambria Math" panose="02040503050406030204" pitchFamily="18" charset="0"/>
                            <a:ea typeface="Cambria Math" panose="02040503050406030204" pitchFamily="18" charset="0"/>
                            <a:cs typeface="Arial"/>
                          </a:rPr>
                        </m:ctrlPr>
                      </m:fPr>
                      <m:num>
                        <m:r>
                          <a:rPr lang="en-AU" sz="4000" b="1" i="1" smtClean="0">
                            <a:latin typeface="Cambria Math" panose="02040503050406030204" pitchFamily="18" charset="0"/>
                            <a:ea typeface="Cambria Math" panose="02040503050406030204" pitchFamily="18" charset="0"/>
                            <a:cs typeface="Arial"/>
                          </a:rPr>
                          <m:t>𝟏</m:t>
                        </m:r>
                      </m:num>
                      <m:den>
                        <m:r>
                          <a:rPr lang="en-AU" sz="4000" b="1" i="1" smtClean="0">
                            <a:latin typeface="Cambria Math" panose="02040503050406030204" pitchFamily="18" charset="0"/>
                            <a:ea typeface="Cambria Math" panose="02040503050406030204" pitchFamily="18" charset="0"/>
                            <a:cs typeface="Arial"/>
                          </a:rPr>
                          <m:t>𝟖</m:t>
                        </m:r>
                      </m:den>
                    </m:f>
                  </m:oMath>
                </a14:m>
                <a:r>
                  <a:rPr lang="en-AU" sz="4000" b="1">
                    <a:latin typeface="Arial"/>
                    <a:cs typeface="Arial"/>
                  </a:rPr>
                  <a:t> </a:t>
                </a:r>
                <a:r>
                  <a:rPr lang="en-AU" sz="4000">
                    <a:latin typeface="Arial"/>
                    <a:cs typeface="Arial"/>
                  </a:rPr>
                  <a:t>kilometres on Monday, </a:t>
                </a:r>
                <a:r>
                  <a:rPr lang="en-AU" sz="4000" b="1">
                    <a:latin typeface="Arial"/>
                    <a:cs typeface="Arial"/>
                  </a:rPr>
                  <a:t>3 </a:t>
                </a:r>
                <a14:m>
                  <m:oMath xmlns:m="http://schemas.openxmlformats.org/officeDocument/2006/math">
                    <m:f>
                      <m:fPr>
                        <m:ctrlPr>
                          <a:rPr lang="en-US" sz="4000" b="1" i="1">
                            <a:latin typeface="Cambria Math" panose="02040503050406030204" pitchFamily="18" charset="0"/>
                            <a:ea typeface="Cambria Math" panose="02040503050406030204" pitchFamily="18" charset="0"/>
                            <a:cs typeface="Arial"/>
                          </a:rPr>
                        </m:ctrlPr>
                      </m:fPr>
                      <m:num>
                        <m:r>
                          <a:rPr lang="en-AU" sz="4000" b="1" i="1" smtClean="0">
                            <a:latin typeface="Cambria Math" panose="02040503050406030204" pitchFamily="18" charset="0"/>
                            <a:ea typeface="Cambria Math" panose="02040503050406030204" pitchFamily="18" charset="0"/>
                            <a:cs typeface="Arial"/>
                          </a:rPr>
                          <m:t>𝟑</m:t>
                        </m:r>
                      </m:num>
                      <m:den>
                        <m:r>
                          <a:rPr lang="en-AU" sz="4000" b="1" i="1" smtClean="0">
                            <a:latin typeface="Cambria Math" panose="02040503050406030204" pitchFamily="18" charset="0"/>
                            <a:ea typeface="Cambria Math" panose="02040503050406030204" pitchFamily="18" charset="0"/>
                            <a:cs typeface="Arial"/>
                          </a:rPr>
                          <m:t>𝟒</m:t>
                        </m:r>
                      </m:den>
                    </m:f>
                  </m:oMath>
                </a14:m>
                <a:r>
                  <a:rPr lang="en-AU" sz="4000">
                    <a:latin typeface="Arial"/>
                    <a:cs typeface="Arial"/>
                  </a:rPr>
                  <a:t> kilometres on Tuesday, and </a:t>
                </a:r>
                <a:r>
                  <a:rPr lang="en-AU" sz="4000" b="1">
                    <a:latin typeface="Arial"/>
                    <a:cs typeface="Arial"/>
                  </a:rPr>
                  <a:t>4 </a:t>
                </a:r>
                <a14:m>
                  <m:oMath xmlns:m="http://schemas.openxmlformats.org/officeDocument/2006/math">
                    <m:f>
                      <m:fPr>
                        <m:ctrlPr>
                          <a:rPr lang="en-US" sz="4000" b="1" i="1">
                            <a:latin typeface="Cambria Math" panose="02040503050406030204" pitchFamily="18" charset="0"/>
                            <a:ea typeface="Cambria Math" panose="02040503050406030204" pitchFamily="18" charset="0"/>
                            <a:cs typeface="Arial"/>
                          </a:rPr>
                        </m:ctrlPr>
                      </m:fPr>
                      <m:num>
                        <m:r>
                          <a:rPr lang="en-AU" sz="4000" b="1" i="1" smtClean="0">
                            <a:latin typeface="Cambria Math" panose="02040503050406030204" pitchFamily="18" charset="0"/>
                            <a:ea typeface="Cambria Math" panose="02040503050406030204" pitchFamily="18" charset="0"/>
                            <a:cs typeface="Arial"/>
                          </a:rPr>
                          <m:t> </m:t>
                        </m:r>
                        <m:r>
                          <a:rPr lang="en-AU" sz="4000" b="1" i="1" smtClean="0">
                            <a:latin typeface="Cambria Math" panose="02040503050406030204" pitchFamily="18" charset="0"/>
                            <a:ea typeface="Cambria Math" panose="02040503050406030204" pitchFamily="18" charset="0"/>
                            <a:cs typeface="Arial"/>
                          </a:rPr>
                          <m:t>𝟐</m:t>
                        </m:r>
                      </m:num>
                      <m:den>
                        <m:r>
                          <a:rPr lang="en-AU" sz="4000" b="1" i="1" smtClean="0">
                            <a:latin typeface="Cambria Math" panose="02040503050406030204" pitchFamily="18" charset="0"/>
                            <a:ea typeface="Cambria Math" panose="02040503050406030204" pitchFamily="18" charset="0"/>
                            <a:cs typeface="Arial"/>
                          </a:rPr>
                          <m:t>𝟖</m:t>
                        </m:r>
                      </m:den>
                    </m:f>
                  </m:oMath>
                </a14:m>
                <a:r>
                  <a:rPr lang="en-AU" sz="4000" b="1">
                    <a:latin typeface="Arial"/>
                    <a:cs typeface="Arial"/>
                  </a:rPr>
                  <a:t> </a:t>
                </a:r>
                <a:r>
                  <a:rPr lang="en-AU" sz="4000">
                    <a:latin typeface="Arial"/>
                    <a:cs typeface="Arial"/>
                  </a:rPr>
                  <a:t>kilometres on Wednesday. </a:t>
                </a:r>
              </a:p>
              <a:p>
                <a:pPr algn="ctr"/>
                <a:r>
                  <a:rPr lang="en-AU" sz="4000" b="1">
                    <a:latin typeface="Arial"/>
                    <a:cs typeface="Arial"/>
                  </a:rPr>
                  <a:t>How many </a:t>
                </a:r>
                <a:r>
                  <a:rPr lang="en-AU" sz="4000">
                    <a:latin typeface="Arial"/>
                    <a:cs typeface="Arial"/>
                  </a:rPr>
                  <a:t>kilometres did he cycle </a:t>
                </a:r>
                <a:r>
                  <a:rPr lang="en-AU" sz="4000" b="1">
                    <a:latin typeface="Arial"/>
                    <a:cs typeface="Arial"/>
                  </a:rPr>
                  <a:t>altogether</a:t>
                </a:r>
                <a:r>
                  <a:rPr lang="en-AU" sz="4000">
                    <a:latin typeface="Arial"/>
                    <a:cs typeface="Arial"/>
                  </a:rPr>
                  <a:t>?</a:t>
                </a:r>
                <a:endParaRPr lang="en-US" sz="4000">
                  <a:latin typeface="Arial"/>
                  <a:cs typeface="Arial"/>
                </a:endParaRPr>
              </a:p>
            </p:txBody>
          </p:sp>
        </mc:Choice>
        <mc:Fallback xmlns="">
          <p:sp>
            <p:nvSpPr>
              <p:cNvPr id="11" name="Picture Placeholder 10">
                <a:extLst>
                  <a:ext uri="{FF2B5EF4-FFF2-40B4-BE49-F238E27FC236}">
                    <a16:creationId xmlns:a16="http://schemas.microsoft.com/office/drawing/2014/main" id="{5EDDCA95-B700-0942-5BAD-67DD3F54945D}"/>
                  </a:ext>
                </a:extLst>
              </p:cNvPr>
              <p:cNvSpPr>
                <a:spLocks noGrp="1" noRot="1" noChangeAspect="1" noMove="1" noResize="1" noEditPoints="1" noAdjustHandles="1" noChangeArrowheads="1" noChangeShapeType="1" noTextEdit="1"/>
              </p:cNvSpPr>
              <p:nvPr>
                <p:ph type="pic" sz="quarter" idx="21"/>
              </p:nvPr>
            </p:nvSpPr>
            <p:spPr>
              <a:xfrm>
                <a:off x="360000" y="1423183"/>
                <a:ext cx="11189376" cy="4168875"/>
              </a:xfrm>
              <a:blipFill>
                <a:blip r:embed="rId4"/>
                <a:stretch>
                  <a:fillRect l="-545" r="-490" b="-1564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E3669C67-FA4C-D491-133A-0030A8D7232E}"/>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2359107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(28)</a:t>
            </a: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413662" y="1730750"/>
            <a:ext cx="11189376" cy="2005228"/>
          </a:xfrm>
        </p:spPr>
        <p:txBody>
          <a:bodyPr/>
          <a:lstStyle/>
          <a:p>
            <a:pPr algn="ctr"/>
            <a:r>
              <a:rPr lang="en-US" sz="4400" dirty="0"/>
              <a:t>Solve 9001 - 589</a:t>
            </a:r>
            <a:r>
              <a:rPr lang="en-US" sz="4400" dirty="0">
                <a:latin typeface="Arial"/>
                <a:cs typeface="Arial"/>
              </a:rPr>
              <a:t>.</a:t>
            </a:r>
          </a:p>
          <a:p>
            <a:pPr algn="ctr"/>
            <a:r>
              <a:rPr lang="en-US" sz="4400" b="1" dirty="0">
                <a:latin typeface="Arial"/>
                <a:cs typeface="Arial"/>
              </a:rPr>
              <a:t>Communicate </a:t>
            </a:r>
            <a:r>
              <a:rPr lang="en-US" sz="4400" dirty="0">
                <a:latin typeface="Arial"/>
                <a:cs typeface="Arial"/>
              </a:rPr>
              <a:t>and </a:t>
            </a:r>
            <a:r>
              <a:rPr lang="en-US" sz="4400" b="1" dirty="0">
                <a:latin typeface="Arial"/>
                <a:cs typeface="Arial"/>
              </a:rPr>
              <a:t>compare</a:t>
            </a:r>
            <a:r>
              <a:rPr lang="en-US" sz="4400" dirty="0">
                <a:latin typeface="Arial"/>
                <a:cs typeface="Arial"/>
              </a:rPr>
              <a:t> your solution with a partner.</a:t>
            </a:r>
          </a:p>
        </p:txBody>
      </p:sp>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600963" y="1419344"/>
            <a:ext cx="11243037" cy="4067056"/>
          </a:xfrm>
        </p:spPr>
        <p:txBody>
          <a:bodyPr/>
          <a:lstStyle/>
          <a:p>
            <a:pPr algn="ctr"/>
            <a:r>
              <a:rPr lang="en-AU" sz="3600">
                <a:latin typeface="Arial"/>
                <a:cs typeface="Arial"/>
              </a:rPr>
              <a:t>A garden is 3.2 metres long and 1.6 metres wide. You have fence sections that are 0.8 metres long.</a:t>
            </a:r>
          </a:p>
          <a:p>
            <a:pPr algn="ctr"/>
            <a:r>
              <a:rPr lang="en-AU" sz="3600" b="1"/>
              <a:t>How many </a:t>
            </a:r>
            <a:r>
              <a:rPr lang="en-AU" sz="3600"/>
              <a:t>sections of fencing will you need to go </a:t>
            </a:r>
            <a:r>
              <a:rPr lang="en-AU" sz="3600" b="1"/>
              <a:t>around</a:t>
            </a:r>
            <a:r>
              <a:rPr lang="en-AU" sz="3600"/>
              <a:t> the entire garden? </a:t>
            </a:r>
          </a:p>
        </p:txBody>
      </p:sp>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506678" y="1830013"/>
            <a:ext cx="11178643" cy="2880988"/>
          </a:xfrm>
        </p:spPr>
        <p:txBody>
          <a:bodyPr/>
          <a:lstStyle/>
          <a:p>
            <a:pPr algn="ctr"/>
            <a:r>
              <a:rPr lang="en-US" sz="4400">
                <a:latin typeface="Arial"/>
                <a:cs typeface="Arial"/>
              </a:rPr>
              <a:t>Ella walked the dog at </a:t>
            </a:r>
            <a:r>
              <a:rPr lang="en-US" sz="4400" b="1">
                <a:latin typeface="Arial"/>
                <a:cs typeface="Arial"/>
              </a:rPr>
              <a:t>3:55 pm</a:t>
            </a:r>
            <a:r>
              <a:rPr lang="en-US" sz="4400">
                <a:latin typeface="Arial"/>
                <a:cs typeface="Arial"/>
              </a:rPr>
              <a:t>. If she walked for </a:t>
            </a:r>
            <a:r>
              <a:rPr lang="en-US" sz="4400" b="1">
                <a:latin typeface="Arial"/>
                <a:cs typeface="Arial"/>
              </a:rPr>
              <a:t>2 hours and 35 minutes</a:t>
            </a:r>
            <a:r>
              <a:rPr lang="en-US" sz="4400">
                <a:latin typeface="Arial"/>
                <a:cs typeface="Arial"/>
              </a:rPr>
              <a:t>, what </a:t>
            </a:r>
            <a:r>
              <a:rPr lang="en-US" sz="4400" b="1">
                <a:latin typeface="Arial"/>
                <a:cs typeface="Arial"/>
              </a:rPr>
              <a:t>time</a:t>
            </a:r>
            <a:r>
              <a:rPr lang="en-US" sz="4400">
                <a:latin typeface="Arial"/>
                <a:cs typeface="Arial"/>
              </a:rPr>
              <a:t> did she get home?</a:t>
            </a:r>
            <a:endParaRPr lang="en-US" sz="4400"/>
          </a:p>
          <a:p>
            <a:pPr algn="ctr"/>
            <a:endParaRPr lang="en-US" sz="4400"/>
          </a:p>
          <a:p>
            <a:endParaRPr lang="en-US">
              <a:latin typeface="Arial"/>
              <a:cs typeface="Arial"/>
            </a:endParaRPr>
          </a:p>
        </p:txBody>
      </p:sp>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573611" cy="545601"/>
          </a:xfrm>
        </p:spPr>
        <p:txBody>
          <a:bodyPr/>
          <a:lstStyle/>
          <a:p>
            <a:r>
              <a:rPr lang="en-AU"/>
              <a:t>Activity 8 – determining a rule</a:t>
            </a:r>
          </a:p>
        </p:txBody>
      </p:sp>
      <p:pic>
        <p:nvPicPr>
          <p:cNvPr id="5" name="Picture 4" descr="image of a head with cogs turning inside">
            <a:extLst>
              <a:ext uri="{FF2B5EF4-FFF2-40B4-BE49-F238E27FC236}">
                <a16:creationId xmlns:a16="http://schemas.microsoft.com/office/drawing/2014/main" id="{163024BF-84E6-D96B-07F8-8F504530C49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6" name="TextBox 5">
            <a:extLst>
              <a:ext uri="{FF2B5EF4-FFF2-40B4-BE49-F238E27FC236}">
                <a16:creationId xmlns:a16="http://schemas.microsoft.com/office/drawing/2014/main" id="{3FB43ACF-590E-B9FE-BCD5-71D3370BE3A9}"/>
              </a:ext>
            </a:extLst>
          </p:cNvPr>
          <p:cNvSpPr txBox="1"/>
          <p:nvPr/>
        </p:nvSpPr>
        <p:spPr>
          <a:xfrm>
            <a:off x="809193" y="1405463"/>
            <a:ext cx="10573611" cy="1287532"/>
          </a:xfrm>
          <a:prstGeom prst="rect">
            <a:avLst/>
          </a:prstGeom>
          <a:noFill/>
        </p:spPr>
        <p:txBody>
          <a:bodyPr wrap="square" lIns="0" tIns="0" rIns="0" bIns="0" rtlCol="0">
            <a:noAutofit/>
          </a:bodyPr>
          <a:lstStyle>
            <a:defPPr>
              <a:defRPr lang="en-US"/>
            </a:defPPr>
            <a:lvl1pPr>
              <a:lnSpc>
                <a:spcPct val="150000"/>
              </a:lnSpc>
              <a:defRPr sz="1800">
                <a:latin typeface="Arial" panose="020B0604020202020204" pitchFamily="34" charset="0"/>
                <a:ea typeface="Calibri" panose="020F0502020204030204" pitchFamily="34" charset="0"/>
                <a:cs typeface="Arial" panose="020B0604020202020204" pitchFamily="34" charset="0"/>
              </a:defRPr>
            </a:lvl1pPr>
          </a:lstStyle>
          <a:p>
            <a:pPr algn="ctr"/>
            <a:r>
              <a:rPr lang="en-AU" sz="3200"/>
              <a:t>A deer farmer wants to fence a paddock to keep the deer safe. The farmer knows they will need a post for every 3 metres of fencing. They will also need one at each end.</a:t>
            </a:r>
          </a:p>
        </p:txBody>
      </p:sp>
      <p:graphicFrame>
        <p:nvGraphicFramePr>
          <p:cNvPr id="4" name="Table 3">
            <a:extLst>
              <a:ext uri="{FF2B5EF4-FFF2-40B4-BE49-F238E27FC236}">
                <a16:creationId xmlns:a16="http://schemas.microsoft.com/office/drawing/2014/main" id="{11FFA83B-6D62-CCFC-1306-B2C97EFEB4FC}"/>
              </a:ext>
            </a:extLst>
          </p:cNvPr>
          <p:cNvGraphicFramePr>
            <a:graphicFrameLocks noGrp="1"/>
          </p:cNvGraphicFramePr>
          <p:nvPr>
            <p:extLst>
              <p:ext uri="{D42A27DB-BD31-4B8C-83A1-F6EECF244321}">
                <p14:modId xmlns:p14="http://schemas.microsoft.com/office/powerpoint/2010/main" val="3278731465"/>
              </p:ext>
            </p:extLst>
          </p:nvPr>
        </p:nvGraphicFramePr>
        <p:xfrm>
          <a:off x="809193" y="4097076"/>
          <a:ext cx="10079148" cy="1825365"/>
        </p:xfrm>
        <a:graphic>
          <a:graphicData uri="http://schemas.openxmlformats.org/drawingml/2006/table">
            <a:tbl>
              <a:tblPr firstRow="1" firstCol="1" bandRow="1">
                <a:tableStyleId>{5A111915-BE36-4E01-A7E5-04B1672EAD32}</a:tableStyleId>
              </a:tblPr>
              <a:tblGrid>
                <a:gridCol w="3556662">
                  <a:extLst>
                    <a:ext uri="{9D8B030D-6E8A-4147-A177-3AD203B41FA5}">
                      <a16:colId xmlns:a16="http://schemas.microsoft.com/office/drawing/2014/main" val="2024091781"/>
                    </a:ext>
                  </a:extLst>
                </a:gridCol>
                <a:gridCol w="1087081">
                  <a:extLst>
                    <a:ext uri="{9D8B030D-6E8A-4147-A177-3AD203B41FA5}">
                      <a16:colId xmlns:a16="http://schemas.microsoft.com/office/drawing/2014/main" val="238408290"/>
                    </a:ext>
                  </a:extLst>
                </a:gridCol>
                <a:gridCol w="1087081">
                  <a:extLst>
                    <a:ext uri="{9D8B030D-6E8A-4147-A177-3AD203B41FA5}">
                      <a16:colId xmlns:a16="http://schemas.microsoft.com/office/drawing/2014/main" val="2775988315"/>
                    </a:ext>
                  </a:extLst>
                </a:gridCol>
                <a:gridCol w="1087081">
                  <a:extLst>
                    <a:ext uri="{9D8B030D-6E8A-4147-A177-3AD203B41FA5}">
                      <a16:colId xmlns:a16="http://schemas.microsoft.com/office/drawing/2014/main" val="3312906330"/>
                    </a:ext>
                  </a:extLst>
                </a:gridCol>
                <a:gridCol w="1087081">
                  <a:extLst>
                    <a:ext uri="{9D8B030D-6E8A-4147-A177-3AD203B41FA5}">
                      <a16:colId xmlns:a16="http://schemas.microsoft.com/office/drawing/2014/main" val="2184240022"/>
                    </a:ext>
                  </a:extLst>
                </a:gridCol>
                <a:gridCol w="1087081">
                  <a:extLst>
                    <a:ext uri="{9D8B030D-6E8A-4147-A177-3AD203B41FA5}">
                      <a16:colId xmlns:a16="http://schemas.microsoft.com/office/drawing/2014/main" val="1011731949"/>
                    </a:ext>
                  </a:extLst>
                </a:gridCol>
                <a:gridCol w="1087081">
                  <a:extLst>
                    <a:ext uri="{9D8B030D-6E8A-4147-A177-3AD203B41FA5}">
                      <a16:colId xmlns:a16="http://schemas.microsoft.com/office/drawing/2014/main" val="511015837"/>
                    </a:ext>
                  </a:extLst>
                </a:gridCol>
              </a:tblGrid>
              <a:tr h="779033">
                <a:tc>
                  <a:txBody>
                    <a:bodyPr/>
                    <a:lstStyle/>
                    <a:p>
                      <a:pPr algn="l">
                        <a:lnSpc>
                          <a:spcPct val="150000"/>
                        </a:lnSpc>
                        <a:spcBef>
                          <a:spcPts val="1200"/>
                        </a:spcBef>
                        <a:spcAft>
                          <a:spcPts val="600"/>
                        </a:spcAft>
                      </a:pPr>
                      <a:r>
                        <a:rPr lang="en-AU" sz="2400" b="1">
                          <a:solidFill>
                            <a:schemeClr val="bg1"/>
                          </a:solidFill>
                          <a:effectLst/>
                          <a:latin typeface="Arial" panose="020B0604020202020204" pitchFamily="34" charset="0"/>
                          <a:ea typeface="Calibri" panose="020F0502020204030204" pitchFamily="34" charset="0"/>
                          <a:cs typeface="Arial" panose="020B0604020202020204" pitchFamily="34" charset="0"/>
                        </a:rPr>
                        <a:t>Length of fencing (metres)</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3</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9</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12</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15</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27</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7290760"/>
                  </a:ext>
                </a:extLst>
              </a:tr>
              <a:tr h="795903">
                <a:tc>
                  <a:txBody>
                    <a:bodyPr/>
                    <a:lstStyle/>
                    <a:p>
                      <a:pPr algn="l">
                        <a:lnSpc>
                          <a:spcPct val="150000"/>
                        </a:lnSpc>
                        <a:spcBef>
                          <a:spcPts val="1200"/>
                        </a:spcBef>
                        <a:spcAft>
                          <a:spcPts val="600"/>
                        </a:spcAft>
                      </a:pPr>
                      <a:r>
                        <a:rPr lang="en-AU" sz="2400" b="1">
                          <a:solidFill>
                            <a:schemeClr val="bg1"/>
                          </a:solidFill>
                          <a:effectLst/>
                          <a:latin typeface="Arial" panose="020B0604020202020204" pitchFamily="34" charset="0"/>
                          <a:ea typeface="Calibri" panose="020F0502020204030204" pitchFamily="34" charset="0"/>
                          <a:cs typeface="Arial" panose="020B0604020202020204" pitchFamily="34" charset="0"/>
                        </a:rPr>
                        <a:t>Number of posts</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2</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3</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4</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5</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r>
                        <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rPr>
                        <a:t>6</a:t>
                      </a: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pPr>
                      <a:endParaRPr lang="en-AU" sz="24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6675" marR="666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72227"/>
                  </a:ext>
                </a:extLst>
              </a:tr>
            </a:tbl>
          </a:graphicData>
        </a:graphic>
      </p:graphicFrame>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698436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8" name="Content Placeholder 3">
            <a:extLst>
              <a:ext uri="{FF2B5EF4-FFF2-40B4-BE49-F238E27FC236}">
                <a16:creationId xmlns:a16="http://schemas.microsoft.com/office/drawing/2014/main" id="{2E201F51-DE08-224E-0CFB-6E794C5F529A}"/>
              </a:ext>
            </a:extLst>
          </p:cNvPr>
          <p:cNvSpPr>
            <a:spLocks noGrp="1"/>
          </p:cNvSpPr>
          <p:nvPr>
            <p:ph idx="1"/>
          </p:nvPr>
        </p:nvSpPr>
        <p:spPr>
          <a:xfrm>
            <a:off x="360000" y="3428999"/>
            <a:ext cx="11484000" cy="2927351"/>
          </a:xfrm>
        </p:spPr>
        <p:txBody>
          <a:bodyPr/>
          <a:lstStyle/>
          <a:p>
            <a:r>
              <a:rPr lang="en-AU" dirty="0">
                <a:hlinkClick r:id="rId6"/>
              </a:rPr>
              <a:t>Mathematics K–10 Syllabus </a:t>
            </a:r>
            <a:r>
              <a:rPr lang="en-AU" dirty="0"/>
              <a:t>© NSW Education Standards Authority (NESA) for and on behalf of the Crown in right of the State of New South Wales, 2022. </a:t>
            </a:r>
          </a:p>
          <a:p>
            <a:r>
              <a:rPr lang="en-AU" dirty="0">
                <a:hlinkClick r:id="rId7"/>
              </a:rPr>
              <a:t>National Numeracy Learning Progression </a:t>
            </a:r>
            <a:r>
              <a:rPr lang="en-AU" dirty="0"/>
              <a:t>© Australian Curriculum, Assessment and Reporting Authority (ACARA) 2010 to present, unless otherwise indicated. This material was downloaded from the </a:t>
            </a:r>
            <a:r>
              <a:rPr lang="en-AU" dirty="0">
                <a:hlinkClick r:id="rId8"/>
              </a:rPr>
              <a:t>Australian Curriculum </a:t>
            </a:r>
            <a:r>
              <a:rPr lang="en-AU" dirty="0"/>
              <a:t>website (National Numeracy Learning Progression) (accessed 29 February 2024) and was not modified. </a:t>
            </a:r>
          </a:p>
          <a:p>
            <a:r>
              <a:rPr lang="en-AU" dirty="0"/>
              <a:t>ACARA (2023a) </a:t>
            </a:r>
            <a:r>
              <a:rPr lang="en-AU" dirty="0">
                <a:hlinkClick r:id="rId9"/>
              </a:rPr>
              <a:t>NAPLAN 2014 Final test, Numeracy, Year 3 test papers and answers </a:t>
            </a:r>
            <a:r>
              <a:rPr lang="en-AU" dirty="0"/>
              <a:t>[PDF 4.48 MB], NAPLAN, accessed 29 February 2024. </a:t>
            </a:r>
          </a:p>
          <a:p>
            <a:r>
              <a:rPr lang="en-AU" dirty="0"/>
              <a:t>ACARA (2023b) </a:t>
            </a:r>
            <a:r>
              <a:rPr lang="en-AU" dirty="0">
                <a:hlinkClick r:id="rId10"/>
              </a:rPr>
              <a:t>NAPLAN 2015 Final test, Numeracy, Year 3 test papers and answers </a:t>
            </a:r>
            <a:r>
              <a:rPr lang="en-AU" dirty="0"/>
              <a:t>[PDF 2.89 MB], NAPLAN, accessed 29 February 2024. </a:t>
            </a:r>
          </a:p>
          <a:p>
            <a:r>
              <a:rPr lang="en-AU" dirty="0"/>
              <a:t>Amplify Education (n.d.) </a:t>
            </a:r>
            <a:r>
              <a:rPr lang="en-AU" dirty="0">
                <a:hlinkClick r:id="rId11"/>
              </a:rPr>
              <a:t>Virtual manipulatives</a:t>
            </a:r>
            <a:r>
              <a:rPr lang="en-AU" dirty="0"/>
              <a:t>, Amplify </a:t>
            </a:r>
            <a:r>
              <a:rPr lang="en-AU" dirty="0" err="1"/>
              <a:t>Polypad</a:t>
            </a:r>
            <a:r>
              <a:rPr lang="en-AU" dirty="0"/>
              <a:t> website, accessed 29 February 2024. </a:t>
            </a:r>
          </a:p>
          <a:p>
            <a:r>
              <a:rPr lang="en-AU" dirty="0"/>
              <a:t>Clarke D and Roche A (2014) ‘Colour in fractions’ in Clarke D and Roche A (eds) Engaging Maths: 25 favourite lessons, 2nd </a:t>
            </a:r>
            <a:r>
              <a:rPr lang="en-AU" dirty="0" err="1"/>
              <a:t>edn</a:t>
            </a:r>
            <a:r>
              <a:rPr lang="en-AU" dirty="0"/>
              <a:t>, Mathematics Teaching and Learning Centre, Australia. </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r>
              <a:rPr lang="en-AU">
                <a:solidFill>
                  <a:schemeClr val="tx1"/>
                </a:solidFill>
              </a:rPr>
              <a:t>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8" name="Content Placeholder 3">
            <a:extLst>
              <a:ext uri="{FF2B5EF4-FFF2-40B4-BE49-F238E27FC236}">
                <a16:creationId xmlns:a16="http://schemas.microsoft.com/office/drawing/2014/main" id="{DA4178CB-660F-960E-DE83-2AAF420D16D8}"/>
              </a:ext>
            </a:extLst>
          </p:cNvPr>
          <p:cNvSpPr>
            <a:spLocks noGrp="1"/>
          </p:cNvSpPr>
          <p:nvPr>
            <p:ph idx="1"/>
          </p:nvPr>
        </p:nvSpPr>
        <p:spPr>
          <a:xfrm>
            <a:off x="360000" y="3428999"/>
            <a:ext cx="11484000" cy="2927351"/>
          </a:xfrm>
        </p:spPr>
        <p:txBody>
          <a:bodyPr/>
          <a:lstStyle/>
          <a:p>
            <a:r>
              <a:rPr lang="en-AU" dirty="0" err="1"/>
              <a:t>Didax</a:t>
            </a:r>
            <a:r>
              <a:rPr lang="en-AU" dirty="0"/>
              <a:t>, Inc (2023) ‘</a:t>
            </a:r>
            <a:r>
              <a:rPr lang="en-AU" dirty="0">
                <a:hlinkClick r:id="rId6"/>
              </a:rPr>
              <a:t>Fraction number line</a:t>
            </a:r>
            <a:r>
              <a:rPr lang="en-AU" dirty="0"/>
              <a:t>’, Virtual Manipulatives, </a:t>
            </a:r>
            <a:r>
              <a:rPr lang="en-AU" dirty="0" err="1"/>
              <a:t>Didax</a:t>
            </a:r>
            <a:r>
              <a:rPr lang="en-AU" dirty="0"/>
              <a:t> website, accessed 29 February 2024. </a:t>
            </a:r>
          </a:p>
          <a:p>
            <a:r>
              <a:rPr lang="en-AU" dirty="0"/>
              <a:t>ESA (Education Services Australia Ltd) and AAMT (The Australian Association of Mathematics Teachers) (n.d.) ‘Fraction wall game’, Fractions, Top Drawer Teachers: Resources for Teachers of Mathematics website, accessed 29 February 2024. </a:t>
            </a:r>
          </a:p>
          <a:p>
            <a:r>
              <a:rPr lang="en-AU" dirty="0"/>
              <a:t>Siemon D, Warren E, Beswick K, Faragher R, Miller J, Horne M, </a:t>
            </a:r>
            <a:r>
              <a:rPr lang="en-AU" dirty="0" err="1"/>
              <a:t>Jazby</a:t>
            </a:r>
            <a:r>
              <a:rPr lang="en-AU" dirty="0"/>
              <a:t> D, Breed M, Clark J and Brady K (2022) Teaching Mathematics: Foundations to Middle Years, 3rd </a:t>
            </a:r>
            <a:r>
              <a:rPr lang="en-AU" dirty="0" err="1"/>
              <a:t>edn</a:t>
            </a:r>
            <a:r>
              <a:rPr lang="en-AU" dirty="0"/>
              <a:t>, Oxford University Press, Australia. </a:t>
            </a:r>
          </a:p>
          <a:p>
            <a:r>
              <a:rPr lang="en-AU" dirty="0"/>
              <a:t>Valentine J (2024) ‘</a:t>
            </a:r>
            <a:r>
              <a:rPr lang="en-AU" dirty="0">
                <a:hlinkClick r:id="rId7"/>
              </a:rPr>
              <a:t>Fractions on a Number Line - Beyond One Whole</a:t>
            </a:r>
            <a:r>
              <a:rPr lang="en-AU" dirty="0"/>
              <a:t>’, Unit 9: Fractions, </a:t>
            </a:r>
            <a:r>
              <a:rPr lang="en-AU" dirty="0" err="1"/>
              <a:t>BetterLesson</a:t>
            </a:r>
            <a:r>
              <a:rPr lang="en-AU" dirty="0"/>
              <a:t> website, accessed 29 February 2024. </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750F37-1D88-4746-B2A5-54F3325B4DC3}">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24F4DA-5415-43D4-8474-C9BE68919175}">
  <ds:schemaRefs>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purl.org/dc/elements/1.1/"/>
    <ds:schemaRef ds:uri="http://purl.org/dc/dcmitype/"/>
    <ds:schemaRef ds:uri="60129b06-f64b-40a8-96e2-c5b2f86112b1"/>
    <ds:schemaRef ds:uri="7e763d47-3c66-4c58-9425-1477fd3ccd1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76</TotalTime>
  <Words>6865</Words>
  <Application>Microsoft Office PowerPoint</Application>
  <PresentationFormat>Widescreen</PresentationFormat>
  <Paragraphs>944</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Arial</vt:lpstr>
      <vt:lpstr>Times New Roman</vt:lpstr>
      <vt:lpstr>Calibri</vt:lpstr>
      <vt:lpstr>Arial,Sans-Serif</vt:lpstr>
      <vt:lpstr>Public Sans Light</vt:lpstr>
      <vt:lpstr>Public Sans</vt:lpstr>
      <vt:lpstr>Cambria Math</vt:lpstr>
      <vt:lpstr>Wingdings</vt:lpstr>
      <vt:lpstr>Montserrat</vt:lpstr>
      <vt:lpstr>Symbol</vt:lpstr>
      <vt:lpstr>NSWG Corporate</vt:lpstr>
      <vt:lpstr>Instructions for use</vt:lpstr>
      <vt:lpstr>Review of Learning </vt:lpstr>
      <vt:lpstr>Lessons</vt:lpstr>
      <vt:lpstr>Review of learning 1</vt:lpstr>
      <vt:lpstr>Multiple choice (1)</vt:lpstr>
      <vt:lpstr>Short response (1)</vt:lpstr>
      <vt:lpstr>Short response (2)</vt:lpstr>
      <vt:lpstr>Short response (4)</vt:lpstr>
      <vt:lpstr>Short response (5)</vt:lpstr>
      <vt:lpstr>Activity 1 – fraction word problems 1 </vt:lpstr>
      <vt:lpstr>Review of learning  2</vt:lpstr>
      <vt:lpstr>True or false (1)</vt:lpstr>
      <vt:lpstr>Short response (31)</vt:lpstr>
      <vt:lpstr>Short response (32)</vt:lpstr>
      <vt:lpstr>Short response (33)</vt:lpstr>
      <vt:lpstr>Short response (6)</vt:lpstr>
      <vt:lpstr>Activity 2 – fraction word problems 2</vt:lpstr>
      <vt:lpstr>Review of learning 3</vt:lpstr>
      <vt:lpstr>Multiple choice (2)</vt:lpstr>
      <vt:lpstr>Short response (7)</vt:lpstr>
      <vt:lpstr>Short response (8)</vt:lpstr>
      <vt:lpstr>Short response (9)</vt:lpstr>
      <vt:lpstr>Short response (10)</vt:lpstr>
      <vt:lpstr>Activity 3 – comparing fractional quantities 1</vt:lpstr>
      <vt:lpstr>Review of learning 4</vt:lpstr>
      <vt:lpstr>True or false (2)</vt:lpstr>
      <vt:lpstr>Short response (11)</vt:lpstr>
      <vt:lpstr>Short response (12)</vt:lpstr>
      <vt:lpstr>Short response (13)</vt:lpstr>
      <vt:lpstr>Short response (14)</vt:lpstr>
      <vt:lpstr>Activity 4 – comparing fractional quantities 2</vt:lpstr>
      <vt:lpstr>Review of learning 5</vt:lpstr>
      <vt:lpstr>Multiple choice (3)</vt:lpstr>
      <vt:lpstr>Short response (15)</vt:lpstr>
      <vt:lpstr>Short response (16)</vt:lpstr>
      <vt:lpstr>Short response (17)</vt:lpstr>
      <vt:lpstr>Short response (18)</vt:lpstr>
      <vt:lpstr>Activity 5 – table of values 1</vt:lpstr>
      <vt:lpstr>Review of learning 6</vt:lpstr>
      <vt:lpstr>True or false (3)</vt:lpstr>
      <vt:lpstr>Short response (19)</vt:lpstr>
      <vt:lpstr>Short response (20)</vt:lpstr>
      <vt:lpstr>Short response (21)</vt:lpstr>
      <vt:lpstr>Short response (22)</vt:lpstr>
      <vt:lpstr>Activity 6 – table of values 2</vt:lpstr>
      <vt:lpstr>Review of learning  7</vt:lpstr>
      <vt:lpstr>Multiple choice (4)</vt:lpstr>
      <vt:lpstr>Short response (23)</vt:lpstr>
      <vt:lpstr>Short response (24)</vt:lpstr>
      <vt:lpstr>Short response (25)</vt:lpstr>
      <vt:lpstr>Short response (26)</vt:lpstr>
      <vt:lpstr>Activity 7– describing a pattern</vt:lpstr>
      <vt:lpstr>Review of learning 8</vt:lpstr>
      <vt:lpstr>True or false (4)</vt:lpstr>
      <vt:lpstr>Short response (27)</vt:lpstr>
      <vt:lpstr>Short response (28)</vt:lpstr>
      <vt:lpstr>Short response (29)</vt:lpstr>
      <vt:lpstr>Short response (30)</vt:lpstr>
      <vt:lpstr>Activity 8 – determining a rule</vt:lpstr>
      <vt:lpstr>Double Venn diagram</vt:lpstr>
      <vt:lpstr>Frayer</vt:lpstr>
      <vt:lpstr>Spider map</vt:lpstr>
      <vt:lpstr>Cline</vt:lpstr>
      <vt:lpstr>Compare and contrast</vt:lpstr>
      <vt:lpstr>Multiple choice (1)</vt:lpstr>
      <vt:lpstr>Multiple choice (2)</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2025-08-07T02:43:25Z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