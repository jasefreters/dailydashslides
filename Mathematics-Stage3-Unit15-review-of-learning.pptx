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79" r:id="rId6"/>
    <p:sldId id="26359" r:id="rId7"/>
    <p:sldId id="271" r:id="rId8"/>
    <p:sldId id="26646"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3"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53"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48" r:id="rId51"/>
    <p:sldId id="26632" r:id="rId52"/>
    <p:sldId id="26633" r:id="rId53"/>
    <p:sldId id="26634" r:id="rId54"/>
    <p:sldId id="26652" r:id="rId55"/>
    <p:sldId id="26636" r:id="rId56"/>
    <p:sldId id="26637" r:id="rId57"/>
    <p:sldId id="26640" r:id="rId58"/>
    <p:sldId id="26641" r:id="rId59"/>
    <p:sldId id="26642" r:id="rId60"/>
    <p:sldId id="26643" r:id="rId61"/>
    <p:sldId id="26644" r:id="rId62"/>
    <p:sldId id="26645" r:id="rId63"/>
    <p:sldId id="26393" r:id="rId64"/>
    <p:sldId id="26387" r:id="rId65"/>
    <p:sldId id="26395" r:id="rId66"/>
    <p:sldId id="26391" r:id="rId67"/>
    <p:sldId id="26402" r:id="rId68"/>
    <p:sldId id="26507" r:id="rId69"/>
    <p:sldId id="26649" r:id="rId70"/>
    <p:sldId id="360" r:id="rId71"/>
    <p:sldId id="26654" r:id="rId72"/>
    <p:sldId id="361" r:id="rId73"/>
  </p:sldIdLst>
  <p:sldSz cx="12192000" cy="6858000"/>
  <p:notesSz cx="6858000" cy="9144000"/>
  <p:embeddedFontLst>
    <p:embeddedFont>
      <p:font typeface="Montserrat" panose="00000500000000000000" pitchFamily="2" charset="0"/>
      <p:regular r:id="rId76"/>
      <p:bold r:id="rId77"/>
      <p:italic r:id="rId78"/>
      <p:boldItalic r:id="rId79"/>
    </p:embeddedFont>
    <p:embeddedFont>
      <p:font typeface="Public Sans" pitchFamily="2" charset="0"/>
      <p:regular r:id="rId80"/>
      <p:bold r:id="rId81"/>
      <p:italic r:id="rId82"/>
      <p:boldItalic r:id="rId83"/>
    </p:embeddedFont>
    <p:embeddedFont>
      <p:font typeface="Public Sans Light" pitchFamily="2" charset="0"/>
      <p:regular r:id="rId84"/>
      <p:italic r:id="rId85"/>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646"/>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3"/>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53"/>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32"/>
            <p14:sldId id="26633"/>
            <p14:sldId id="26634"/>
            <p14:sldId id="26652"/>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4"/>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7177351D-0273-191D-F776-806FD0E72AD9}" name="Sundren Naicker" initials="SN" userId="S::Sundren.Naicker@det.nsw.edu.au::a553bd6d-fc4b-4438-a461-744bbb36d97b" providerId="AD"/>
  <p188:author id="{95D16B7D-CADB-F2BF-AC29-D680545C75EE}" name="Carrie Webeck" initials="CW" userId="S::CARRIE-ANN.WEBECK@det.nsw.edu.au::e5c4b697-ca15-4f3a-a906-1289ddc2fc07" providerId="AD"/>
  <p188:author id="{6620E8C6-7E4F-1318-D9B4-C749088EC486}" name="Daniella Brunetta" initials="DB" userId="S::Daniella.Brunetta@det.nsw.edu.au::4e084810-29e2-4b0b-806a-947d4f6d8f39" providerId="AD"/>
  <p188:author id="{D9FAB2E2-FCDC-C762-1ECD-0FBBF02124FD}" name="Annette Price" initials="AP" userId="S::Annette.Price4@det.nsw.edu.au::c1f433aa-1df1-446c-8140-9fd9ba3c3a08" providerId="AD"/>
  <p188:author id="{FD7747EE-57F8-CAC5-7CAF-C637FBE93789}" name="Ayesha Ali Khan" initials=""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CFD"/>
    <a:srgbClr val="EA9B0C"/>
    <a:srgbClr val="007A8A"/>
    <a:srgbClr val="9B6808"/>
    <a:srgbClr val="427B2D"/>
    <a:srgbClr val="B51458"/>
    <a:srgbClr val="00ACC2"/>
    <a:srgbClr val="64BB47"/>
    <a:srgbClr val="EDF9E0"/>
    <a:srgbClr val="87D8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463E64-FEC2-4D90-A432-F77C1B6C6BD5}" v="1543" dt="2026-06-19T02:30:41.775"/>
    <p1510:client id="{6EC65928-D84A-4151-ACB6-973C722369F6}" v="833" dt="2026-06-18T05:32:36.543"/>
    <p1510:client id="{B3C2289C-5093-46DF-90C9-B97898314E1B}" v="886" dt="2026-06-19T02:26:34.508"/>
    <p1510:client id="{B46DA6CA-4A4C-B6B8-7382-D895D27A0C97}" v="14" dt="2026-06-19T01:31:00.741"/>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0" d="100"/>
          <a:sy n="30" d="100"/>
        </p:scale>
        <p:origin x="764" y="36"/>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microsoft.com/office/2015/10/relationships/revisionInfo" Target="revisionInfo.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theme" Target="theme/theme1.xml"/><Relationship Id="rId9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22/06/2026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22/06/2026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A Unit 15</a:t>
            </a:r>
          </a:p>
          <a:p>
            <a:pPr marL="285750" indent="-285750">
              <a:buFont typeface="Arial" panose="020B0604020202020204" pitchFamily="34" charset="0"/>
              <a:buChar char="•"/>
            </a:pPr>
            <a:r>
              <a:rPr lang="en-AU"/>
              <a:t>Stage 3 Year A Unit 14</a:t>
            </a:r>
          </a:p>
          <a:p>
            <a:pPr marL="285750" indent="-285750">
              <a:buFont typeface="Arial" panose="020B0604020202020204" pitchFamily="34" charset="0"/>
              <a:buChar char="•"/>
            </a:pPr>
            <a:r>
              <a:rPr lang="en-AU"/>
              <a:t>Stage 3 Year A Unit 13</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4D29-B4F5-A86B-480F-44D16C2AE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826A8-A5AE-3179-C5C9-8D9DF711AC3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4D7954E-9F4D-0D11-4B0B-3FF0F27CD7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A00CD198-B3C3-B3AF-86B2-4D9C310AEBD8}"/>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729947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b="0"/>
              <a:t>Additive relations A</a:t>
            </a:r>
          </a:p>
          <a:p>
            <a:endParaRPr lang="en-AU"/>
          </a:p>
          <a:p>
            <a:r>
              <a:rPr lang="en-AU" b="1"/>
              <a:t>Distance across NSW</a:t>
            </a:r>
          </a:p>
          <a:p>
            <a:r>
              <a:rPr lang="en-AU" b="0"/>
              <a:t>This resource corresponds to Resource 23 – NSW map in Stage 3 Year A Unit 15.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Resource 23 – NSW map.</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the following scenario: Imagine your family is planning a road trip in New South Wales and the Australian Capital Territory. You have the following distances to consider: </a:t>
            </a:r>
          </a:p>
          <a:p>
            <a:pPr lvl="0"/>
            <a:r>
              <a:rPr lang="en-AU" sz="1600" kern="1200">
                <a:solidFill>
                  <a:schemeClr val="tx1"/>
                </a:solidFill>
                <a:effectLst/>
                <a:latin typeface="Arial" panose="020B0604020202020204" pitchFamily="34" charset="0"/>
                <a:ea typeface="+mn-ea"/>
                <a:cs typeface="Arial" panose="020B0604020202020204" pitchFamily="34" charset="0"/>
              </a:rPr>
              <a:t>- Sydney City (Gadigal Country) to Newcastle (Awabakal Country): 117 kilometres </a:t>
            </a:r>
          </a:p>
          <a:p>
            <a:pPr lvl="0"/>
            <a:r>
              <a:rPr lang="en-AU" sz="1600" kern="1200">
                <a:solidFill>
                  <a:schemeClr val="tx1"/>
                </a:solidFill>
                <a:effectLst/>
                <a:latin typeface="Arial" panose="020B0604020202020204" pitchFamily="34" charset="0"/>
                <a:ea typeface="+mn-ea"/>
                <a:cs typeface="Arial" panose="020B0604020202020204" pitchFamily="34" charset="0"/>
              </a:rPr>
              <a:t>- Sydney to Wollongong (</a:t>
            </a:r>
            <a:r>
              <a:rPr lang="en-AU" sz="1600" kern="1200" err="1">
                <a:solidFill>
                  <a:schemeClr val="tx1"/>
                </a:solidFill>
                <a:effectLst/>
                <a:latin typeface="Arial" panose="020B0604020202020204" pitchFamily="34" charset="0"/>
                <a:ea typeface="+mn-ea"/>
                <a:cs typeface="Arial" panose="020B0604020202020204" pitchFamily="34" charset="0"/>
              </a:rPr>
              <a:t>Dharawal</a:t>
            </a:r>
            <a:r>
              <a:rPr lang="en-AU" sz="1600" kern="1200">
                <a:solidFill>
                  <a:schemeClr val="tx1"/>
                </a:solidFill>
                <a:effectLst/>
                <a:latin typeface="Arial" panose="020B0604020202020204" pitchFamily="34" charset="0"/>
                <a:ea typeface="+mn-ea"/>
                <a:cs typeface="Arial" panose="020B0604020202020204" pitchFamily="34" charset="0"/>
              </a:rPr>
              <a:t> Country): 68 kilometres </a:t>
            </a:r>
          </a:p>
          <a:p>
            <a:pPr lvl="0"/>
            <a:r>
              <a:rPr lang="en-AU" sz="1600" kern="1200">
                <a:solidFill>
                  <a:schemeClr val="tx1"/>
                </a:solidFill>
                <a:effectLst/>
                <a:latin typeface="Arial" panose="020B0604020202020204" pitchFamily="34" charset="0"/>
                <a:ea typeface="+mn-ea"/>
                <a:cs typeface="Arial" panose="020B0604020202020204" pitchFamily="34" charset="0"/>
              </a:rPr>
              <a:t>- Wollongong to Coffs Harbour (</a:t>
            </a:r>
            <a:r>
              <a:rPr lang="en-AU" sz="1600" kern="1200" err="1">
                <a:solidFill>
                  <a:schemeClr val="tx1"/>
                </a:solidFill>
                <a:effectLst/>
                <a:latin typeface="Arial" panose="020B0604020202020204" pitchFamily="34" charset="0"/>
                <a:ea typeface="+mn-ea"/>
                <a:cs typeface="Arial" panose="020B0604020202020204" pitchFamily="34" charset="0"/>
              </a:rPr>
              <a:t>Gumbaynggirr</a:t>
            </a:r>
            <a:r>
              <a:rPr lang="en-AU" sz="1600" kern="1200">
                <a:solidFill>
                  <a:schemeClr val="tx1"/>
                </a:solidFill>
                <a:effectLst/>
                <a:latin typeface="Arial" panose="020B0604020202020204" pitchFamily="34" charset="0"/>
                <a:ea typeface="+mn-ea"/>
                <a:cs typeface="Arial" panose="020B0604020202020204" pitchFamily="34" charset="0"/>
              </a:rPr>
              <a:t> Country): 504 kilometres </a:t>
            </a:r>
          </a:p>
          <a:p>
            <a:pPr lvl="0"/>
            <a:r>
              <a:rPr lang="en-AU" sz="1600" kern="1200">
                <a:solidFill>
                  <a:schemeClr val="tx1"/>
                </a:solidFill>
                <a:effectLst/>
                <a:latin typeface="Arial" panose="020B0604020202020204" pitchFamily="34" charset="0"/>
                <a:ea typeface="+mn-ea"/>
                <a:cs typeface="Arial" panose="020B0604020202020204" pitchFamily="34" charset="0"/>
              </a:rPr>
              <a:t>- Coffs Harbour to Sydney: 623 kilometres </a:t>
            </a:r>
          </a:p>
          <a:p>
            <a:pPr lvl="0"/>
            <a:r>
              <a:rPr lang="en-AU" sz="1600" kern="1200">
                <a:solidFill>
                  <a:schemeClr val="tx1"/>
                </a:solidFill>
                <a:effectLst/>
                <a:latin typeface="Arial" panose="020B0604020202020204" pitchFamily="34" charset="0"/>
                <a:ea typeface="+mn-ea"/>
                <a:cs typeface="Arial" panose="020B0604020202020204" pitchFamily="34" charset="0"/>
              </a:rPr>
              <a:t>- Sydney to Canberra (Ngunnawal Country): 286 kilometres </a:t>
            </a:r>
          </a:p>
          <a:p>
            <a:pPr lvl="0"/>
            <a:r>
              <a:rPr lang="en-AU" sz="1600" kern="1200">
                <a:solidFill>
                  <a:schemeClr val="tx1"/>
                </a:solidFill>
                <a:effectLst/>
                <a:latin typeface="Arial" panose="020B0604020202020204" pitchFamily="34" charset="0"/>
                <a:ea typeface="+mn-ea"/>
                <a:cs typeface="Arial" panose="020B0604020202020204" pitchFamily="34" charset="0"/>
              </a:rPr>
              <a:t>- Canberra to Wollongong: 235 kilometres.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students need to choose 4 destinations, then estimate the total distance to travel between them.</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when making an estimate, it is not necessary to calculate the actual distance. Instead, each distance can be rounded to the nearest 10 or 100 kilometres so that it is easier to estimate the total distance.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estimate the total distance they would travel for their road trip visiting at least 4 of the destinations.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and ask questions such as: </a:t>
            </a:r>
          </a:p>
          <a:p>
            <a:pPr lvl="0"/>
            <a:r>
              <a:rPr lang="en-AU" sz="1600" kern="1200">
                <a:solidFill>
                  <a:schemeClr val="tx1"/>
                </a:solidFill>
                <a:effectLst/>
                <a:latin typeface="Arial" panose="020B0604020202020204" pitchFamily="34" charset="0"/>
                <a:ea typeface="+mn-ea"/>
                <a:cs typeface="Arial" panose="020B0604020202020204" pitchFamily="34" charset="0"/>
              </a:rPr>
              <a:t>- What is your estimated total distance?</a:t>
            </a:r>
          </a:p>
          <a:p>
            <a:pPr lvl="0"/>
            <a:r>
              <a:rPr lang="en-AU" sz="1600" kern="1200">
                <a:solidFill>
                  <a:schemeClr val="tx1"/>
                </a:solidFill>
                <a:effectLst/>
                <a:latin typeface="Arial" panose="020B0604020202020204" pitchFamily="34" charset="0"/>
                <a:ea typeface="+mn-ea"/>
                <a:cs typeface="Arial" panose="020B0604020202020204" pitchFamily="34" charset="0"/>
              </a:rPr>
              <a:t>- What strategies did you use to help you find the estimate for your road trip?</a:t>
            </a:r>
          </a:p>
          <a:p>
            <a:pPr lvl="0"/>
            <a:r>
              <a:rPr lang="en-AU" sz="1600" kern="1200">
                <a:solidFill>
                  <a:schemeClr val="tx1"/>
                </a:solidFill>
                <a:effectLst/>
                <a:latin typeface="Arial" panose="020B0604020202020204" pitchFamily="34" charset="0"/>
                <a:ea typeface="+mn-ea"/>
                <a:cs typeface="Arial" panose="020B0604020202020204" pitchFamily="34" charset="0"/>
              </a:rPr>
              <a:t>- If your car uses one litre of petrol for every 10 kilometres, how much petrol will you need for your journey? </a:t>
            </a:r>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Estimation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Revise the purpose of estimating. Emphasise that students should not calculate an answer. </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Using their whiteboard, students estimate the total of some of the following equations. Students need to justify if the answers are reasonable or unreasonable: </a:t>
            </a:r>
          </a:p>
          <a:p>
            <a:pPr lvl="0"/>
            <a:r>
              <a:rPr lang="en-AU" sz="1600" kern="1200">
                <a:solidFill>
                  <a:schemeClr val="tx1"/>
                </a:solidFill>
                <a:effectLst/>
                <a:latin typeface="Arial" panose="020B0604020202020204" pitchFamily="34" charset="0"/>
                <a:ea typeface="+mn-ea"/>
                <a:cs typeface="Arial" panose="020B0604020202020204" pitchFamily="34" charset="0"/>
              </a:rPr>
              <a:t>812 + 514 = 1514 </a:t>
            </a:r>
          </a:p>
          <a:p>
            <a:pPr lvl="0"/>
            <a:r>
              <a:rPr lang="en-AU" sz="1600" kern="1200">
                <a:solidFill>
                  <a:schemeClr val="tx1"/>
                </a:solidFill>
                <a:effectLst/>
                <a:latin typeface="Arial" panose="020B0604020202020204" pitchFamily="34" charset="0"/>
                <a:ea typeface="+mn-ea"/>
                <a:cs typeface="Arial" panose="020B0604020202020204" pitchFamily="34" charset="0"/>
              </a:rPr>
              <a:t>923 + 346 = 1200 </a:t>
            </a:r>
          </a:p>
          <a:p>
            <a:pPr lvl="0"/>
            <a:r>
              <a:rPr lang="en-AU" sz="1600" kern="1200">
                <a:solidFill>
                  <a:schemeClr val="tx1"/>
                </a:solidFill>
                <a:effectLst/>
                <a:latin typeface="Arial" panose="020B0604020202020204" pitchFamily="34" charset="0"/>
                <a:ea typeface="+mn-ea"/>
                <a:cs typeface="Arial" panose="020B0604020202020204" pitchFamily="34" charset="0"/>
              </a:rPr>
              <a:t>2357 + 6106 = 8460 </a:t>
            </a:r>
          </a:p>
          <a:p>
            <a:pPr lvl="0"/>
            <a:r>
              <a:rPr lang="en-AU" sz="1600" kern="1200">
                <a:solidFill>
                  <a:schemeClr val="tx1"/>
                </a:solidFill>
                <a:effectLst/>
                <a:latin typeface="Arial" panose="020B0604020202020204" pitchFamily="34" charset="0"/>
                <a:ea typeface="+mn-ea"/>
                <a:cs typeface="Arial" panose="020B0604020202020204" pitchFamily="34" charset="0"/>
              </a:rPr>
              <a:t>4216 + 3942 = 8000 </a:t>
            </a:r>
          </a:p>
          <a:p>
            <a:pPr lvl="0"/>
            <a:r>
              <a:rPr lang="en-AU" sz="1600" kern="1200">
                <a:solidFill>
                  <a:schemeClr val="tx1"/>
                </a:solidFill>
                <a:effectLst/>
                <a:latin typeface="Arial" panose="020B0604020202020204" pitchFamily="34" charset="0"/>
                <a:ea typeface="+mn-ea"/>
                <a:cs typeface="Arial" panose="020B0604020202020204" pitchFamily="34" charset="0"/>
              </a:rPr>
              <a:t>43 892 + 92 106 = 135 900 </a:t>
            </a:r>
          </a:p>
          <a:p>
            <a:pPr lvl="0"/>
            <a:r>
              <a:rPr lang="en-AU" sz="1600" kern="1200">
                <a:solidFill>
                  <a:schemeClr val="tx1"/>
                </a:solidFill>
                <a:effectLst/>
                <a:latin typeface="Arial" panose="020B0604020202020204" pitchFamily="34" charset="0"/>
                <a:ea typeface="+mn-ea"/>
                <a:cs typeface="Arial" panose="020B0604020202020204" pitchFamily="34" charset="0"/>
              </a:rPr>
              <a:t>628 − 413 = 215 </a:t>
            </a:r>
          </a:p>
          <a:p>
            <a:pPr lvl="0"/>
            <a:r>
              <a:rPr lang="en-AU" sz="1600" kern="1200">
                <a:solidFill>
                  <a:schemeClr val="tx1"/>
                </a:solidFill>
                <a:effectLst/>
                <a:latin typeface="Arial" panose="020B0604020202020204" pitchFamily="34" charset="0"/>
                <a:ea typeface="+mn-ea"/>
                <a:cs typeface="Arial" panose="020B0604020202020204" pitchFamily="34" charset="0"/>
              </a:rPr>
              <a:t>781 − 234 = 550 </a:t>
            </a:r>
          </a:p>
          <a:p>
            <a:pPr lvl="0"/>
            <a:r>
              <a:rPr lang="en-AU" sz="1600" kern="1200">
                <a:solidFill>
                  <a:schemeClr val="tx1"/>
                </a:solidFill>
                <a:effectLst/>
                <a:latin typeface="Arial" panose="020B0604020202020204" pitchFamily="34" charset="0"/>
                <a:ea typeface="+mn-ea"/>
                <a:cs typeface="Arial" panose="020B0604020202020204" pitchFamily="34" charset="0"/>
              </a:rPr>
              <a:t>7842 − 5209 = 2600 </a:t>
            </a:r>
          </a:p>
          <a:p>
            <a:pPr lvl="0"/>
            <a:r>
              <a:rPr lang="en-AU" sz="1600" kern="1200">
                <a:solidFill>
                  <a:schemeClr val="tx1"/>
                </a:solidFill>
                <a:effectLst/>
                <a:latin typeface="Arial" panose="020B0604020202020204" pitchFamily="34" charset="0"/>
                <a:ea typeface="+mn-ea"/>
                <a:cs typeface="Arial" panose="020B0604020202020204" pitchFamily="34" charset="0"/>
              </a:rPr>
              <a:t>8456 − 4234 = 6120 </a:t>
            </a:r>
          </a:p>
          <a:p>
            <a:pPr lvl="0"/>
            <a:r>
              <a:rPr lang="en-AU" sz="1600" kern="1200">
                <a:solidFill>
                  <a:schemeClr val="tx1"/>
                </a:solidFill>
                <a:effectLst/>
                <a:latin typeface="Arial" panose="020B0604020202020204" pitchFamily="34" charset="0"/>
                <a:ea typeface="+mn-ea"/>
                <a:cs typeface="Arial" panose="020B0604020202020204" pitchFamily="34" charset="0"/>
              </a:rPr>
              <a:t>73 812 – 28 492 = 40 320.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students to share their thinking. </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80149-0CB0-EDDD-5B08-8F680C7A7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2F04F-A596-FC76-5186-7631AA37EF0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50421AD-6A32-B849-3496-F3785A5CCA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AA748202-3E97-0613-B01D-37F69F9E7D13}"/>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2527051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Represents number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r>
              <a:rPr lang="en-AU" b="0"/>
              <a:t>Geometric measure A</a:t>
            </a: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panose="020B0604020202020204" pitchFamily="34" charset="0"/>
                <a:cs typeface="Arial" panose="020B0604020202020204" pitchFamily="34" charset="0"/>
              </a:rPr>
              <a:t>Two-dimensional spatial structure A</a:t>
            </a: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Rounding on a number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students are going to play a game in pairs. The aim is to get 4 numbers in a row. </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with three 0–9 dice and whiteboards. They draw one number line with interval marks of 100 (see Figure 11).</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take turns rolling the dice to form a 3-digit number. They write each number on the number line. </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first player to get 4 numbers in a row without being blocked, wins the game (see Figure 12). </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0" indent="0">
              <a:buFont typeface="Arial" panose="020B0604020202020204" pitchFamily="34" charset="0"/>
              <a:buNone/>
            </a:pPr>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as students form their own numbers to position on the number line, they need to consider whether to block their partner's progress. The blue player in Figure 12 could have blocked the red player by choosing 503 or 530 instead of 305. </a:t>
            </a:r>
          </a:p>
          <a:p>
            <a:pPr mar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Once students get 4 in a row, they round and add 2 of their numbers and provide an approximate answer, for example 426 + 478 = 900.</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They check the reasonableness of their rounding by using place value understanding to form a vertical algorithm of the original numbers. This is used to find the actual total.</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Reasonable estimations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Place students in pairs, providing each with four 10-sided dice.</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the rules of the game to the students:</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Student 1 rolls four 10-sided dice to create a 4-digit number. They repeat this to create two 4-digit numbers and record the sum on a whiteboard. For example, 7214 + 9087.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They make a reasonable estimate of what they believe the answer could be, discussing with student 2.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Student 2 states if they agree or disagree and state why or why not.</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Student 1 solves the problem using a selected strategy.</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Pairs discuss if the actual answer was close to the estimation.</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Students swap roles and play the game again.</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ADE67-9879-F077-EEC0-1991ECD2A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33864-5538-BC2E-2D67-5BDE4F90AE3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6AE6F95-C940-1CFF-28A0-2E7B8BEA98B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2DA31856-707C-E247-9C5A-3BE6FEC656AE}"/>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18068743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 </a:t>
            </a:r>
          </a:p>
          <a:p>
            <a:endParaRPr lang="en-AU"/>
          </a:p>
          <a:p>
            <a:r>
              <a:rPr lang="en-AU" b="1"/>
              <a:t>Find the area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Think-Pair-Share and use whiteboards to find the area of the field. Ask: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strategies did you use to solve this problem?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could partitioning be used to solve this problem?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could partitioning be represented using the area model?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Is there more than one way that the area model could be used? </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turf cost $9 per square metre, estimate the total cost to the nearest thousand dollars. Explain your thinking. </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students to share a variety of strategies with the class. </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Highlight the use of the area model to represent students’ thinking (see Figure 14)</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47 × 23 is represented in 2 ways with the area model where one example shows 47 partitioned into its place value and the second example shows 47 and 23 partitioned into its place value. </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b="1" kern="1200">
                <a:solidFill>
                  <a:schemeClr val="tx1"/>
                </a:solidFill>
                <a:effectLst/>
                <a:latin typeface="Arial" panose="020B0604020202020204" pitchFamily="34" charset="0"/>
                <a:ea typeface="+mn-ea"/>
                <a:cs typeface="Arial" panose="020B0604020202020204" pitchFamily="34" charset="0"/>
              </a:rPr>
              <a:t>Optional problem:</a:t>
            </a:r>
            <a:r>
              <a:rPr lang="en-AU" sz="1600" kern="1200">
                <a:solidFill>
                  <a:schemeClr val="tx1"/>
                </a:solidFill>
                <a:effectLst/>
                <a:latin typeface="Arial" panose="020B0604020202020204" pitchFamily="34" charset="0"/>
                <a:ea typeface="+mn-ea"/>
                <a:cs typeface="Arial" panose="020B0604020202020204" pitchFamily="34" charset="0"/>
              </a:rPr>
              <a:t> A different area of the club’s soccer field is also getting an upgrade. It is 94 metres long and 46 metres wide. Ask students: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is the area of this field?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much larger is this field than the first one? Why? (4 times larger, it is the same as ‘double, double’). </a:t>
            </a:r>
          </a:p>
          <a:p>
            <a:pPr marL="0" lvl="0" indent="0">
              <a:buFontTx/>
              <a:buNone/>
            </a:pPr>
            <a:r>
              <a:rPr lang="en-AU" sz="1600" kern="1200">
                <a:solidFill>
                  <a:schemeClr val="tx1"/>
                </a:solidFill>
                <a:effectLst/>
                <a:latin typeface="Arial" panose="020B0604020202020204" pitchFamily="34" charset="0"/>
                <a:ea typeface="+mn-ea"/>
                <a:cs typeface="Arial" panose="020B0604020202020204" pitchFamily="34" charset="0"/>
              </a:rPr>
              <a:t>- If turf is only sold in rolls of 50 m long by 5 m wide, what is the smallest number of rolls the club needs to order?</a:t>
            </a:r>
          </a:p>
          <a:p>
            <a:pPr marL="0" lvl="0" indent="0">
              <a:buFontTx/>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turn and talk to discuss their strategies with a partner. They record their ideas on whiteboards.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 </a:t>
            </a: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Three-dimensional spatial structure A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Solve it</a:t>
            </a:r>
          </a:p>
          <a:p>
            <a:pPr marL="285750" marR="0" lvl="0" indent="-2857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600" kern="1200">
                <a:solidFill>
                  <a:schemeClr val="tx1"/>
                </a:solidFill>
                <a:effectLst/>
                <a:latin typeface="Arial" panose="020B0604020202020204" pitchFamily="34" charset="0"/>
                <a:ea typeface="+mn-ea"/>
                <a:cs typeface="Arial" panose="020B0604020202020204" pitchFamily="34" charset="0"/>
              </a:rPr>
              <a:t>Display 14 × 7 = and ask:</a:t>
            </a:r>
            <a:r>
              <a:rPr lang="en-AU" sz="1600" b="0" kern="1200">
                <a:solidFill>
                  <a:schemeClr val="tx1"/>
                </a:solidFill>
                <a:effectLst/>
                <a:latin typeface="Arial" panose="020B0604020202020204" pitchFamily="34" charset="0"/>
                <a:ea typeface="+mn-ea"/>
                <a:cs typeface="Arial" panose="020B0604020202020204" pitchFamily="34" charset="0"/>
              </a:rPr>
              <a:t>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are the factors of 14? </a:t>
            </a:r>
          </a:p>
          <a:p>
            <a:pPr marL="285750" lvl="0" indent="-285750">
              <a:buFontTx/>
              <a:buChar char="-"/>
            </a:pPr>
            <a:r>
              <a:rPr lang="en-AU" sz="1600" kern="1200">
                <a:solidFill>
                  <a:schemeClr val="tx1"/>
                </a:solidFill>
                <a:effectLst/>
                <a:latin typeface="Arial" panose="020B0604020202020204" pitchFamily="34" charset="0"/>
                <a:ea typeface="+mn-ea"/>
                <a:cs typeface="Arial" panose="020B0604020202020204" pitchFamily="34" charset="0"/>
              </a:rPr>
              <a:t>How could you use the factors of 14 to make this number sentence easier to solve?</a:t>
            </a:r>
          </a:p>
          <a:p>
            <a:pPr marL="0" lvl="0" indent="0">
              <a:buFontTx/>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following equation on the board: (14 × 7) + (14 × 3) + (23 × 10) + (13 × 10). </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what the grouping symbols mean. Ask students: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Are there any patterns or relationships between the numbers? </a:t>
            </a:r>
          </a:p>
          <a:p>
            <a:pPr marL="0" lvl="0" indent="0">
              <a:buFontTx/>
              <a:buNone/>
            </a:pPr>
            <a:r>
              <a:rPr lang="en-AU" sz="1600" kern="1200">
                <a:solidFill>
                  <a:schemeClr val="tx1"/>
                </a:solidFill>
                <a:effectLst/>
                <a:latin typeface="Arial" panose="020B0604020202020204" pitchFamily="34" charset="0"/>
                <a:ea typeface="+mn-ea"/>
                <a:cs typeface="Arial" panose="020B0604020202020204" pitchFamily="34" charset="0"/>
              </a:rPr>
              <a:t>- Can you rearrange the order of the numbers in the grouping symbols to make it easier to calculate? (Yes, you can).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property allows you to do that? (The commutative property of multiplication). </a:t>
            </a:r>
          </a:p>
          <a:p>
            <a:pPr marL="0" lvl="0" indent="0">
              <a:buFontTx/>
              <a:buNone/>
            </a:pPr>
            <a:r>
              <a:rPr lang="en-AU" sz="1600" kern="1200">
                <a:solidFill>
                  <a:schemeClr val="tx1"/>
                </a:solidFill>
                <a:effectLst/>
                <a:latin typeface="Arial" panose="020B0604020202020204" pitchFamily="34" charset="0"/>
                <a:ea typeface="+mn-ea"/>
                <a:cs typeface="Arial" panose="020B0604020202020204" pitchFamily="34" charset="0"/>
              </a:rPr>
              <a:t>- Can you break any of the numbers into factors to make it easier to calculate? </a:t>
            </a:r>
          </a:p>
          <a:p>
            <a:pPr marL="0" lvl="0" indent="0">
              <a:buFontTx/>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as a class and ask students to share their strategies. </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Use some of the following question prompts to support the class discussion: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was your first step in solving this equation? Why did you choose that operation first?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do you notice about the operations in this equation?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What are the commutative, distributive and associative properties of multiplication? How can they be applied to this equation? </a:t>
            </a:r>
          </a:p>
          <a:p>
            <a:pPr marL="0" lvl="0" indent="0">
              <a:buFontTx/>
              <a:buNone/>
            </a:pPr>
            <a:r>
              <a:rPr lang="en-AU" sz="1600" kern="1200">
                <a:solidFill>
                  <a:schemeClr val="tx1"/>
                </a:solidFill>
                <a:effectLst/>
                <a:latin typeface="Arial" panose="020B0604020202020204" pitchFamily="34" charset="0"/>
                <a:ea typeface="+mn-ea"/>
                <a:cs typeface="Arial" panose="020B0604020202020204" pitchFamily="34" charset="0"/>
              </a:rPr>
              <a:t>- Is it possible to solve this only using mental strategies? </a:t>
            </a:r>
          </a:p>
          <a:p>
            <a:pPr marL="0" lvl="0" indent="0">
              <a:buFontTx/>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Discuss the efficiency and accuracy of the various strategies used by students.</a:t>
            </a: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A</a:t>
            </a: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kern="1200">
                <a:solidFill>
                  <a:schemeClr val="tx1"/>
                </a:solidFill>
                <a:effectLst/>
                <a:latin typeface="Arial" panose="020B0604020202020204" pitchFamily="34" charset="0"/>
                <a:ea typeface="+mn-ea"/>
                <a:cs typeface="Arial" panose="020B0604020202020204" pitchFamily="34" charset="0"/>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 </a:t>
            </a:r>
          </a:p>
          <a:p>
            <a:endParaRPr lang="en-AU"/>
          </a:p>
          <a:p>
            <a:r>
              <a:rPr lang="en-AU" b="1"/>
              <a:t>Age maths puzzle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solve the following questions related to their next birthday: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old will you be on your next birthday?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could you provide your answer in months?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could you provide your answer in weeks?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could you provide your answer in minutes?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could you provide your answer in seconds? </a:t>
            </a:r>
          </a:p>
          <a:p>
            <a:pPr marL="0" lvl="0" indent="0">
              <a:buFont typeface="Arial" panose="020B0604020202020204" pitchFamily="34" charset="0"/>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Share students results as a class and ask the following questions: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How did you approach calculating your age in months, days and other time units?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Did you notice any specific multiplication patterns when figuring out your age in different time units? </a:t>
            </a:r>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 Can you share any multiplication strategies that made these calculations easier or more efficient for you?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A</a:t>
            </a:r>
          </a:p>
          <a:p>
            <a:pPr>
              <a:defRPr/>
            </a:pPr>
            <a:endParaRPr lang="en-AU" sz="1600" i="0">
              <a:solidFill>
                <a:schemeClr val="tx1"/>
              </a:solidFill>
              <a:latin typeface="Arial"/>
              <a:cs typeface="Arial"/>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Multiplication word problem</a:t>
            </a:r>
          </a:p>
          <a:p>
            <a:r>
              <a:rPr lang="en-AU" b="0"/>
              <a:t>This resource corresponds to Resource 24 – multiplication word problems in Stage 3 Year A Unit 15. </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work choose a problem to word on and identify the key information.</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Pairs decide the most efficient multiplicative strategy to use to solve the problem, representing their thinking on their whiteboard.</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share their responses with another pair and discuss answers obtained.</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9DEE5-461B-14DE-7D07-63A5B66CE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F3B6FA-147E-D3A5-6BC1-C702F8533BD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218D917-3BAA-8380-5ADA-259D184EFE73}"/>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060447AE-5926-D612-D1BE-9E2BF3F3E440}"/>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273306358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1.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25.png"/></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64.xml"/><Relationship Id="rId1" Type="http://schemas.openxmlformats.org/officeDocument/2006/relationships/slideLayout" Target="../slideLayouts/slideLayout11.xml"/><Relationship Id="rId4" Type="http://schemas.openxmlformats.org/officeDocument/2006/relationships/image" Target="../media/image28.sv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12" Type="http://schemas.openxmlformats.org/officeDocument/2006/relationships/hyperlink" Target="https://resources.education.nsw.gov.au/detail/IPT-26"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www.nctm.org/Classroom-Resources/Illuminations/Interactives/Fraction-Models" TargetMode="External"/><Relationship Id="rId5" Type="http://schemas.openxmlformats.org/officeDocument/2006/relationships/hyperlink" Target="https://curriculum.nsw.edu.au/" TargetMode="External"/><Relationship Id="rId10" Type="http://schemas.openxmlformats.org/officeDocument/2006/relationships/hyperlink" Target="https://www.scootle.edu.au/ec/viewing/L133/index.html"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classroomsecrets.co.uk/add-and-subtract-decimals-discussion-problems/"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www.visnos.com/demos/percentage-fraction-decimals-grid"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toytheater.com/calculator/" TargetMode="Externa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aligns to the learning in Stage 3 Year A Unit 15 and revisits content from earlier sample units.</a:t>
            </a: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cs typeface="Arial"/>
              </a:rPr>
              <a:t>Mathematics Stage 3 – Unit 15</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2BEC-BF78-56D7-9F45-000CDC8A501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A8139-FDDB-532B-B162-01D27E23A37C}"/>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9BDCD778-E71A-A4F2-9CEF-2A78DFB28F6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8326B5E5-C4FA-60BB-FBD1-105717701AB5}"/>
              </a:ext>
            </a:extLst>
          </p:cNvPr>
          <p:cNvSpPr>
            <a:spLocks noGrp="1"/>
          </p:cNvSpPr>
          <p:nvPr>
            <p:ph type="body" sz="quarter" idx="28"/>
          </p:nvPr>
        </p:nvSpPr>
        <p:spPr>
          <a:xfrm>
            <a:off x="278403" y="855926"/>
            <a:ext cx="11243037" cy="1702689"/>
          </a:xfrm>
        </p:spPr>
        <p:txBody>
          <a:bodyPr/>
          <a:lstStyle/>
          <a:p>
            <a:r>
              <a:rPr lang="en-US" sz="3200"/>
              <a:t>Choose the </a:t>
            </a:r>
            <a:r>
              <a:rPr lang="en-US" sz="3200" b="1"/>
              <a:t>most efficient strategy </a:t>
            </a:r>
            <a:r>
              <a:rPr lang="en-US" sz="3200"/>
              <a:t>to </a:t>
            </a:r>
            <a:r>
              <a:rPr lang="en-US" sz="3200" b="1"/>
              <a:t>round each number to the nearest 100 </a:t>
            </a:r>
            <a:r>
              <a:rPr lang="en-US" sz="3200"/>
              <a:t>when estimating the total for </a:t>
            </a:r>
            <a:r>
              <a:rPr lang="en-US" sz="3200">
                <a:solidFill>
                  <a:schemeClr val="accent2"/>
                </a:solidFill>
              </a:rPr>
              <a:t>6754 + 7892 </a:t>
            </a:r>
          </a:p>
          <a:p>
            <a:endParaRPr lang="en-US" sz="3200"/>
          </a:p>
          <a:p>
            <a:endParaRPr lang="en-US" sz="3200"/>
          </a:p>
        </p:txBody>
      </p:sp>
      <p:sp>
        <p:nvSpPr>
          <p:cNvPr id="9" name="B">
            <a:extLst>
              <a:ext uri="{FF2B5EF4-FFF2-40B4-BE49-F238E27FC236}">
                <a16:creationId xmlns:a16="http://schemas.microsoft.com/office/drawing/2014/main" id="{2579E796-78E6-099B-1516-BE205CC4FACD}"/>
              </a:ext>
            </a:extLst>
          </p:cNvPr>
          <p:cNvSpPr txBox="1"/>
          <p:nvPr/>
        </p:nvSpPr>
        <p:spPr>
          <a:xfrm>
            <a:off x="670560" y="282311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F399B6F6-69CC-336D-6578-FD4E095E833B}"/>
              </a:ext>
            </a:extLst>
          </p:cNvPr>
          <p:cNvSpPr>
            <a:spLocks noGrp="1"/>
          </p:cNvSpPr>
          <p:nvPr>
            <p:ph type="body" sz="quarter" idx="31"/>
          </p:nvPr>
        </p:nvSpPr>
        <p:spPr>
          <a:xfrm>
            <a:off x="1345520" y="2823112"/>
            <a:ext cx="10175920" cy="641396"/>
          </a:xfrm>
        </p:spPr>
        <p:txBody>
          <a:bodyPr anchor="ctr"/>
          <a:lstStyle/>
          <a:p>
            <a:r>
              <a:rPr lang="en-US" sz="4400"/>
              <a:t>6700 + 7800</a:t>
            </a:r>
          </a:p>
        </p:txBody>
      </p:sp>
      <p:sp>
        <p:nvSpPr>
          <p:cNvPr id="10" name="B">
            <a:extLst>
              <a:ext uri="{FF2B5EF4-FFF2-40B4-BE49-F238E27FC236}">
                <a16:creationId xmlns:a16="http://schemas.microsoft.com/office/drawing/2014/main" id="{04CBC687-138E-8135-BF08-A76285D998BD}"/>
              </a:ext>
            </a:extLst>
          </p:cNvPr>
          <p:cNvSpPr txBox="1"/>
          <p:nvPr/>
        </p:nvSpPr>
        <p:spPr>
          <a:xfrm>
            <a:off x="670559" y="36710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2AB8397-9C8A-8BCB-A678-8D975278DBA7}"/>
              </a:ext>
            </a:extLst>
          </p:cNvPr>
          <p:cNvSpPr>
            <a:spLocks noGrp="1"/>
          </p:cNvSpPr>
          <p:nvPr>
            <p:ph type="body" sz="quarter" idx="30"/>
          </p:nvPr>
        </p:nvSpPr>
        <p:spPr>
          <a:xfrm>
            <a:off x="1345520" y="3643729"/>
            <a:ext cx="10175920" cy="641396"/>
          </a:xfrm>
        </p:spPr>
        <p:txBody>
          <a:bodyPr anchor="ctr"/>
          <a:lstStyle/>
          <a:p>
            <a:r>
              <a:rPr lang="en-US" sz="4400"/>
              <a:t>6750 + 7890</a:t>
            </a:r>
          </a:p>
        </p:txBody>
      </p:sp>
      <p:sp>
        <p:nvSpPr>
          <p:cNvPr id="12" name="C">
            <a:extLst>
              <a:ext uri="{FF2B5EF4-FFF2-40B4-BE49-F238E27FC236}">
                <a16:creationId xmlns:a16="http://schemas.microsoft.com/office/drawing/2014/main" id="{C605E3A9-768F-B21E-1E87-27B06AEB3AF5}"/>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D0C85C6-176D-2C26-0652-149EAFA02616}"/>
              </a:ext>
            </a:extLst>
          </p:cNvPr>
          <p:cNvSpPr>
            <a:spLocks noGrp="1"/>
          </p:cNvSpPr>
          <p:nvPr>
            <p:ph type="body" sz="quarter" idx="29"/>
          </p:nvPr>
        </p:nvSpPr>
        <p:spPr>
          <a:xfrm>
            <a:off x="1345520" y="4507430"/>
            <a:ext cx="10175920" cy="641396"/>
          </a:xfrm>
        </p:spPr>
        <p:txBody>
          <a:bodyPr anchor="ctr"/>
          <a:lstStyle/>
          <a:p>
            <a:r>
              <a:rPr lang="en-US" sz="4400"/>
              <a:t>6800 + 7900</a:t>
            </a:r>
          </a:p>
        </p:txBody>
      </p:sp>
      <p:sp>
        <p:nvSpPr>
          <p:cNvPr id="11" name="D">
            <a:extLst>
              <a:ext uri="{FF2B5EF4-FFF2-40B4-BE49-F238E27FC236}">
                <a16:creationId xmlns:a16="http://schemas.microsoft.com/office/drawing/2014/main" id="{8EADE37E-99CA-3A50-524F-30E28DF3B7C4}"/>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9186568-D62F-6B45-E8D1-7BD11DA09597}"/>
              </a:ext>
            </a:extLst>
          </p:cNvPr>
          <p:cNvSpPr>
            <a:spLocks noGrp="1"/>
          </p:cNvSpPr>
          <p:nvPr>
            <p:ph type="body" sz="quarter" idx="27"/>
          </p:nvPr>
        </p:nvSpPr>
        <p:spPr>
          <a:xfrm>
            <a:off x="1345520" y="5357483"/>
            <a:ext cx="10175920" cy="641396"/>
          </a:xfrm>
        </p:spPr>
        <p:txBody>
          <a:bodyPr anchor="ctr"/>
          <a:lstStyle/>
          <a:p>
            <a:r>
              <a:rPr lang="en-US" sz="4400"/>
              <a:t>6800 + 7800</a:t>
            </a:r>
          </a:p>
        </p:txBody>
      </p:sp>
      <p:sp>
        <p:nvSpPr>
          <p:cNvPr id="2" name="Slide Number Placeholder 1">
            <a:extLst>
              <a:ext uri="{FF2B5EF4-FFF2-40B4-BE49-F238E27FC236}">
                <a16:creationId xmlns:a16="http://schemas.microsoft.com/office/drawing/2014/main" id="{FB6D3FD4-B645-8933-2300-635C9B9344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12865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sp>
        <p:nvSpPr>
          <p:cNvPr id="4" name="TextBox 3">
            <a:extLst>
              <a:ext uri="{FF2B5EF4-FFF2-40B4-BE49-F238E27FC236}">
                <a16:creationId xmlns:a16="http://schemas.microsoft.com/office/drawing/2014/main" id="{8EB9856E-D595-E3BB-4511-1547D14BF23E}"/>
              </a:ext>
            </a:extLst>
          </p:cNvPr>
          <p:cNvSpPr txBox="1"/>
          <p:nvPr/>
        </p:nvSpPr>
        <p:spPr>
          <a:xfrm>
            <a:off x="1454148" y="1042250"/>
            <a:ext cx="9248024" cy="1900646"/>
          </a:xfrm>
          <a:prstGeom prst="rect">
            <a:avLst/>
          </a:prstGeom>
          <a:noFill/>
        </p:spPr>
        <p:txBody>
          <a:bodyPr wrap="square" lIns="0" tIns="0" rIns="0" bIns="0" rtlCol="0">
            <a:noAutofit/>
          </a:bodyPr>
          <a:lstStyle/>
          <a:p>
            <a:pPr algn="ctr">
              <a:lnSpc>
                <a:spcPct val="150000"/>
              </a:lnSpc>
            </a:pPr>
            <a:r>
              <a:rPr lang="en-AU" sz="4000"/>
              <a:t>Match these </a:t>
            </a:r>
            <a:r>
              <a:rPr lang="en-AU" sz="4000" b="1"/>
              <a:t>decimals</a:t>
            </a:r>
            <a:r>
              <a:rPr lang="en-AU" sz="4000"/>
              <a:t> to the positions on the </a:t>
            </a:r>
            <a:r>
              <a:rPr lang="en-AU" sz="4000" b="1"/>
              <a:t>number line</a:t>
            </a:r>
            <a:r>
              <a:rPr lang="en-AU" sz="4000"/>
              <a:t>.</a:t>
            </a:r>
          </a:p>
          <a:p>
            <a:pPr algn="l">
              <a:lnSpc>
                <a:spcPct val="150000"/>
              </a:lnSpc>
            </a:pPr>
            <a:endParaRPr lang="en-AU" sz="4000"/>
          </a:p>
          <a:p>
            <a:pPr algn="l"/>
            <a:endParaRPr lang="en-AU" sz="1800"/>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5" name="Rectangle: Rounded Corners 4">
            <a:extLst>
              <a:ext uri="{FF2B5EF4-FFF2-40B4-BE49-F238E27FC236}">
                <a16:creationId xmlns:a16="http://schemas.microsoft.com/office/drawing/2014/main" id="{F0ED6DB3-9DB9-4C0D-F256-55BAD8EA08D5}"/>
              </a:ext>
            </a:extLst>
          </p:cNvPr>
          <p:cNvSpPr/>
          <p:nvPr/>
        </p:nvSpPr>
        <p:spPr>
          <a:xfrm>
            <a:off x="4156216" y="5463218"/>
            <a:ext cx="1514901" cy="870045"/>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a:solidFill>
                  <a:schemeClr val="accent1"/>
                </a:solidFill>
              </a:rPr>
              <a:t>0.45</a:t>
            </a:r>
          </a:p>
        </p:txBody>
      </p:sp>
      <p:sp>
        <p:nvSpPr>
          <p:cNvPr id="8" name="Rectangle: Rounded Corners 7">
            <a:extLst>
              <a:ext uri="{FF2B5EF4-FFF2-40B4-BE49-F238E27FC236}">
                <a16:creationId xmlns:a16="http://schemas.microsoft.com/office/drawing/2014/main" id="{1F50D202-8269-D8D4-8ECC-C68072094BC6}"/>
              </a:ext>
            </a:extLst>
          </p:cNvPr>
          <p:cNvSpPr/>
          <p:nvPr/>
        </p:nvSpPr>
        <p:spPr>
          <a:xfrm>
            <a:off x="2001891" y="5463217"/>
            <a:ext cx="1514901" cy="870045"/>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a:solidFill>
                  <a:schemeClr val="accent1"/>
                </a:solidFill>
              </a:rPr>
              <a:t>1.45</a:t>
            </a:r>
          </a:p>
        </p:txBody>
      </p:sp>
      <p:sp>
        <p:nvSpPr>
          <p:cNvPr id="9" name="Rectangle: Rounded Corners 8">
            <a:extLst>
              <a:ext uri="{FF2B5EF4-FFF2-40B4-BE49-F238E27FC236}">
                <a16:creationId xmlns:a16="http://schemas.microsoft.com/office/drawing/2014/main" id="{45D1BD73-947F-F248-02F5-687D9E7C6ED9}"/>
              </a:ext>
            </a:extLst>
          </p:cNvPr>
          <p:cNvSpPr/>
          <p:nvPr/>
        </p:nvSpPr>
        <p:spPr>
          <a:xfrm>
            <a:off x="6310541" y="5467940"/>
            <a:ext cx="1514901" cy="870045"/>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a:solidFill>
                  <a:schemeClr val="accent1"/>
                </a:solidFill>
              </a:rPr>
              <a:t>0.80</a:t>
            </a:r>
          </a:p>
        </p:txBody>
      </p:sp>
      <p:sp>
        <p:nvSpPr>
          <p:cNvPr id="10" name="Rectangle: Rounded Corners 9">
            <a:extLst>
              <a:ext uri="{FF2B5EF4-FFF2-40B4-BE49-F238E27FC236}">
                <a16:creationId xmlns:a16="http://schemas.microsoft.com/office/drawing/2014/main" id="{6D7B12BC-CD21-DDD0-8B8C-30FBE1C0DCD6}"/>
              </a:ext>
            </a:extLst>
          </p:cNvPr>
          <p:cNvSpPr/>
          <p:nvPr/>
        </p:nvSpPr>
        <p:spPr>
          <a:xfrm>
            <a:off x="8464866" y="5463216"/>
            <a:ext cx="1514901" cy="870045"/>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a:solidFill>
                  <a:schemeClr val="accent1"/>
                </a:solidFill>
              </a:rPr>
              <a:t>1.05</a:t>
            </a:r>
          </a:p>
        </p:txBody>
      </p:sp>
      <p:grpSp>
        <p:nvGrpSpPr>
          <p:cNvPr id="17" name="Group 16" descr="A number line marked with the intervals 0, 1 and 2. There are intervals marked with A, B , C and D on the number line.">
            <a:extLst>
              <a:ext uri="{FF2B5EF4-FFF2-40B4-BE49-F238E27FC236}">
                <a16:creationId xmlns:a16="http://schemas.microsoft.com/office/drawing/2014/main" id="{FF8DC490-6B9A-794B-89D2-1238BDDF2210}"/>
              </a:ext>
            </a:extLst>
          </p:cNvPr>
          <p:cNvGrpSpPr/>
          <p:nvPr/>
        </p:nvGrpSpPr>
        <p:grpSpPr>
          <a:xfrm>
            <a:off x="808866" y="3293088"/>
            <a:ext cx="10574268" cy="1595368"/>
            <a:chOff x="808866" y="3293088"/>
            <a:chExt cx="10574268" cy="1595368"/>
          </a:xfrm>
        </p:grpSpPr>
        <p:sp>
          <p:nvSpPr>
            <p:cNvPr id="11" name="TextBox 10">
              <a:extLst>
                <a:ext uri="{FF2B5EF4-FFF2-40B4-BE49-F238E27FC236}">
                  <a16:creationId xmlns:a16="http://schemas.microsoft.com/office/drawing/2014/main" id="{20DA5075-CE32-325E-1D62-1A12F287297C}"/>
                </a:ext>
              </a:extLst>
            </p:cNvPr>
            <p:cNvSpPr txBox="1"/>
            <p:nvPr/>
          </p:nvSpPr>
          <p:spPr>
            <a:xfrm>
              <a:off x="10818716" y="4300926"/>
              <a:ext cx="530087" cy="587530"/>
            </a:xfrm>
            <a:prstGeom prst="rect">
              <a:avLst/>
            </a:prstGeom>
            <a:noFill/>
          </p:spPr>
          <p:txBody>
            <a:bodyPr wrap="square" lIns="0" tIns="0" rIns="0" bIns="0" rtlCol="0">
              <a:noAutofit/>
            </a:bodyPr>
            <a:lstStyle/>
            <a:p>
              <a:pPr algn="ctr"/>
              <a:r>
                <a:rPr lang="en-AU" sz="3200"/>
                <a:t>2</a:t>
              </a:r>
            </a:p>
          </p:txBody>
        </p:sp>
        <p:sp>
          <p:nvSpPr>
            <p:cNvPr id="12" name="TextBox 11">
              <a:extLst>
                <a:ext uri="{FF2B5EF4-FFF2-40B4-BE49-F238E27FC236}">
                  <a16:creationId xmlns:a16="http://schemas.microsoft.com/office/drawing/2014/main" id="{6DE3BEB8-EC33-8308-8877-B7937ECACDDE}"/>
                </a:ext>
              </a:extLst>
            </p:cNvPr>
            <p:cNvSpPr txBox="1"/>
            <p:nvPr/>
          </p:nvSpPr>
          <p:spPr>
            <a:xfrm>
              <a:off x="808866" y="4300926"/>
              <a:ext cx="530087" cy="587530"/>
            </a:xfrm>
            <a:prstGeom prst="rect">
              <a:avLst/>
            </a:prstGeom>
            <a:noFill/>
          </p:spPr>
          <p:txBody>
            <a:bodyPr wrap="square" lIns="0" tIns="0" rIns="0" bIns="0" rtlCol="0">
              <a:noAutofit/>
            </a:bodyPr>
            <a:lstStyle/>
            <a:p>
              <a:pPr algn="ctr"/>
              <a:r>
                <a:rPr lang="en-AU" sz="3200"/>
                <a:t>0</a:t>
              </a:r>
            </a:p>
          </p:txBody>
        </p:sp>
        <p:cxnSp>
          <p:nvCxnSpPr>
            <p:cNvPr id="13" name="Straight Arrow Connector 12">
              <a:extLst>
                <a:ext uri="{FF2B5EF4-FFF2-40B4-BE49-F238E27FC236}">
                  <a16:creationId xmlns:a16="http://schemas.microsoft.com/office/drawing/2014/main" id="{4C62D116-A234-32E9-EAC6-7B0F66C67448}"/>
                </a:ext>
              </a:extLst>
            </p:cNvPr>
            <p:cNvCxnSpPr/>
            <p:nvPr/>
          </p:nvCxnSpPr>
          <p:spPr>
            <a:xfrm>
              <a:off x="893047" y="4062387"/>
              <a:ext cx="1049008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23F4906-7E57-5E30-4455-62185DD190A3}"/>
                </a:ext>
              </a:extLst>
            </p:cNvPr>
            <p:cNvCxnSpPr>
              <a:cxnSpLocks/>
            </p:cNvCxnSpPr>
            <p:nvPr/>
          </p:nvCxnSpPr>
          <p:spPr>
            <a:xfrm>
              <a:off x="1071009" y="3868239"/>
              <a:ext cx="1" cy="3400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626BB80-68DE-94BF-E696-AC0C72BBE354}"/>
                </a:ext>
              </a:extLst>
            </p:cNvPr>
            <p:cNvCxnSpPr>
              <a:cxnSpLocks/>
            </p:cNvCxnSpPr>
            <p:nvPr/>
          </p:nvCxnSpPr>
          <p:spPr>
            <a:xfrm>
              <a:off x="11083759" y="3868239"/>
              <a:ext cx="1" cy="3400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B17663A-A48E-9404-0847-8EEEAE1E9C4B}"/>
                </a:ext>
              </a:extLst>
            </p:cNvPr>
            <p:cNvCxnSpPr>
              <a:cxnSpLocks/>
            </p:cNvCxnSpPr>
            <p:nvPr/>
          </p:nvCxnSpPr>
          <p:spPr>
            <a:xfrm>
              <a:off x="5335736" y="3868239"/>
              <a:ext cx="1" cy="3400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165EE8F-D0A1-B938-B7C9-633A66399F90}"/>
                </a:ext>
              </a:extLst>
            </p:cNvPr>
            <p:cNvCxnSpPr>
              <a:cxnSpLocks/>
            </p:cNvCxnSpPr>
            <p:nvPr/>
          </p:nvCxnSpPr>
          <p:spPr>
            <a:xfrm>
              <a:off x="6478528" y="3868239"/>
              <a:ext cx="1" cy="3400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2ED5899-358F-3C6E-B6CD-BF530D86FA78}"/>
                </a:ext>
              </a:extLst>
            </p:cNvPr>
            <p:cNvCxnSpPr>
              <a:cxnSpLocks/>
            </p:cNvCxnSpPr>
            <p:nvPr/>
          </p:nvCxnSpPr>
          <p:spPr>
            <a:xfrm>
              <a:off x="3774769" y="3868239"/>
              <a:ext cx="1" cy="3400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F775276-FA61-9620-B963-E6BACD95F7B2}"/>
                </a:ext>
              </a:extLst>
            </p:cNvPr>
            <p:cNvCxnSpPr>
              <a:cxnSpLocks/>
            </p:cNvCxnSpPr>
            <p:nvPr/>
          </p:nvCxnSpPr>
          <p:spPr>
            <a:xfrm>
              <a:off x="8656617" y="3868239"/>
              <a:ext cx="1" cy="3400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B">
              <a:extLst>
                <a:ext uri="{FF2B5EF4-FFF2-40B4-BE49-F238E27FC236}">
                  <a16:creationId xmlns:a16="http://schemas.microsoft.com/office/drawing/2014/main" id="{2B048332-DE40-A217-E0FC-D799AA8BD9FB}"/>
                </a:ext>
              </a:extLst>
            </p:cNvPr>
            <p:cNvSpPr txBox="1"/>
            <p:nvPr/>
          </p:nvSpPr>
          <p:spPr>
            <a:xfrm>
              <a:off x="3496687" y="3293088"/>
              <a:ext cx="529429" cy="4924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3200" b="1"/>
                <a:t>A</a:t>
              </a:r>
            </a:p>
          </p:txBody>
        </p:sp>
        <p:sp>
          <p:nvSpPr>
            <p:cNvPr id="27" name="B">
              <a:extLst>
                <a:ext uri="{FF2B5EF4-FFF2-40B4-BE49-F238E27FC236}">
                  <a16:creationId xmlns:a16="http://schemas.microsoft.com/office/drawing/2014/main" id="{6D8BFDC9-DE67-5866-E9A5-0ABADA9E6854}"/>
                </a:ext>
              </a:extLst>
            </p:cNvPr>
            <p:cNvSpPr txBox="1"/>
            <p:nvPr/>
          </p:nvSpPr>
          <p:spPr>
            <a:xfrm>
              <a:off x="5071021" y="3293089"/>
              <a:ext cx="529429" cy="4924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3200" b="1"/>
                <a:t>B</a:t>
              </a:r>
            </a:p>
          </p:txBody>
        </p:sp>
        <p:sp>
          <p:nvSpPr>
            <p:cNvPr id="28" name="B">
              <a:extLst>
                <a:ext uri="{FF2B5EF4-FFF2-40B4-BE49-F238E27FC236}">
                  <a16:creationId xmlns:a16="http://schemas.microsoft.com/office/drawing/2014/main" id="{853E691E-DA2F-CCFF-33EC-6387D4FF23B6}"/>
                </a:ext>
              </a:extLst>
            </p:cNvPr>
            <p:cNvSpPr txBox="1"/>
            <p:nvPr/>
          </p:nvSpPr>
          <p:spPr>
            <a:xfrm>
              <a:off x="6213813" y="3295450"/>
              <a:ext cx="529429" cy="4924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3200" b="1"/>
                <a:t>C</a:t>
              </a:r>
            </a:p>
          </p:txBody>
        </p:sp>
        <p:sp>
          <p:nvSpPr>
            <p:cNvPr id="29" name="B">
              <a:extLst>
                <a:ext uri="{FF2B5EF4-FFF2-40B4-BE49-F238E27FC236}">
                  <a16:creationId xmlns:a16="http://schemas.microsoft.com/office/drawing/2014/main" id="{570F5BAA-7F9B-13B3-3D81-090CE5BDC5CE}"/>
                </a:ext>
              </a:extLst>
            </p:cNvPr>
            <p:cNvSpPr txBox="1"/>
            <p:nvPr/>
          </p:nvSpPr>
          <p:spPr>
            <a:xfrm>
              <a:off x="8391902" y="3295450"/>
              <a:ext cx="529429" cy="4924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3200" b="1"/>
                <a:t>D</a:t>
              </a:r>
            </a:p>
          </p:txBody>
        </p:sp>
        <p:cxnSp>
          <p:nvCxnSpPr>
            <p:cNvPr id="7" name="Straight Connector 6">
              <a:extLst>
                <a:ext uri="{FF2B5EF4-FFF2-40B4-BE49-F238E27FC236}">
                  <a16:creationId xmlns:a16="http://schemas.microsoft.com/office/drawing/2014/main" id="{D67199D2-D8A4-96E1-87B0-641DDCDD42FB}"/>
                </a:ext>
              </a:extLst>
            </p:cNvPr>
            <p:cNvCxnSpPr>
              <a:cxnSpLocks/>
            </p:cNvCxnSpPr>
            <p:nvPr/>
          </p:nvCxnSpPr>
          <p:spPr>
            <a:xfrm>
              <a:off x="6229475" y="3870036"/>
              <a:ext cx="1" cy="34001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6F70BC9-E3CB-DC12-A3F7-258E34C0174B}"/>
                </a:ext>
              </a:extLst>
            </p:cNvPr>
            <p:cNvSpPr txBox="1"/>
            <p:nvPr/>
          </p:nvSpPr>
          <p:spPr>
            <a:xfrm>
              <a:off x="5964432" y="4288597"/>
              <a:ext cx="530087" cy="587530"/>
            </a:xfrm>
            <a:prstGeom prst="rect">
              <a:avLst/>
            </a:prstGeom>
            <a:noFill/>
          </p:spPr>
          <p:txBody>
            <a:bodyPr wrap="square" lIns="0" tIns="0" rIns="0" bIns="0" rtlCol="0">
              <a:noAutofit/>
            </a:bodyPr>
            <a:lstStyle/>
            <a:p>
              <a:pPr algn="ctr"/>
              <a:r>
                <a:rPr lang="en-AU" sz="3200"/>
                <a:t>1</a:t>
              </a:r>
            </a:p>
          </p:txBody>
        </p:sp>
      </p:gr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4" name="TextBox 3">
            <a:extLst>
              <a:ext uri="{FF2B5EF4-FFF2-40B4-BE49-F238E27FC236}">
                <a16:creationId xmlns:a16="http://schemas.microsoft.com/office/drawing/2014/main" id="{1AAE0C11-27AE-25EE-ED79-B13917867ACE}"/>
              </a:ext>
            </a:extLst>
          </p:cNvPr>
          <p:cNvSpPr txBox="1"/>
          <p:nvPr/>
        </p:nvSpPr>
        <p:spPr>
          <a:xfrm>
            <a:off x="1240894" y="1915046"/>
            <a:ext cx="9173497" cy="1762432"/>
          </a:xfrm>
          <a:prstGeom prst="rect">
            <a:avLst/>
          </a:prstGeom>
          <a:noFill/>
        </p:spPr>
        <p:txBody>
          <a:bodyPr wrap="square" lIns="0" tIns="0" rIns="0" bIns="0" rtlCol="0">
            <a:noAutofit/>
          </a:bodyPr>
          <a:lstStyle/>
          <a:p>
            <a:pPr algn="ctr"/>
            <a:r>
              <a:rPr lang="en-AU" sz="4400" b="1"/>
              <a:t>8.85 m</a:t>
            </a:r>
            <a:r>
              <a:rPr lang="en-AU" sz="4400"/>
              <a:t> is:</a:t>
            </a:r>
          </a:p>
          <a:p>
            <a:pPr algn="ctr"/>
            <a:endParaRPr lang="en-AU" sz="4400"/>
          </a:p>
          <a:p>
            <a:pPr algn="ctr">
              <a:lnSpc>
                <a:spcPct val="150000"/>
              </a:lnSpc>
            </a:pPr>
            <a:r>
              <a:rPr lang="en-AU" sz="4400"/>
              <a:t>______ </a:t>
            </a:r>
            <a:r>
              <a:rPr lang="en-AU" sz="4400" b="1"/>
              <a:t>m</a:t>
            </a:r>
            <a:r>
              <a:rPr lang="en-AU" sz="4400"/>
              <a:t> and _____ </a:t>
            </a:r>
            <a:r>
              <a:rPr lang="en-AU" sz="4400" b="1"/>
              <a:t>cm.</a:t>
            </a:r>
          </a:p>
          <a:p>
            <a:pPr algn="l"/>
            <a:endParaRPr lang="en-AU" sz="1800"/>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sp>
        <p:nvSpPr>
          <p:cNvPr id="7" name="TextBox 6">
            <a:extLst>
              <a:ext uri="{FF2B5EF4-FFF2-40B4-BE49-F238E27FC236}">
                <a16:creationId xmlns:a16="http://schemas.microsoft.com/office/drawing/2014/main" id="{93AC02E7-2915-32B8-B062-1269B3AB72BB}"/>
              </a:ext>
            </a:extLst>
          </p:cNvPr>
          <p:cNvSpPr txBox="1"/>
          <p:nvPr/>
        </p:nvSpPr>
        <p:spPr>
          <a:xfrm>
            <a:off x="524107" y="1184223"/>
            <a:ext cx="10599893" cy="1614733"/>
          </a:xfrm>
          <a:prstGeom prst="rect">
            <a:avLst/>
          </a:prstGeom>
          <a:noFill/>
        </p:spPr>
        <p:txBody>
          <a:bodyPr wrap="square" lIns="0" tIns="0" rIns="0" bIns="0" rtlCol="0">
            <a:noAutofit/>
          </a:bodyPr>
          <a:lstStyle/>
          <a:p>
            <a:pPr algn="ctr">
              <a:lnSpc>
                <a:spcPct val="150000"/>
              </a:lnSpc>
            </a:pPr>
            <a:r>
              <a:rPr lang="en-AU" sz="4400" b="1"/>
              <a:t>Estimate the total </a:t>
            </a:r>
            <a:r>
              <a:rPr lang="en-AU" sz="4400"/>
              <a:t>for </a:t>
            </a:r>
            <a:r>
              <a:rPr lang="en-AU" sz="4400" b="1"/>
              <a:t>213 x 6</a:t>
            </a:r>
            <a:r>
              <a:rPr lang="en-AU" sz="4400"/>
              <a:t>, then use the </a:t>
            </a:r>
            <a:r>
              <a:rPr lang="en-AU" sz="4400" b="1"/>
              <a:t>area model to solve</a:t>
            </a:r>
            <a:r>
              <a:rPr lang="en-AU" sz="4400"/>
              <a:t>. </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0" name="Picture 9" descr="Area model showing 6 on the vertical side with the longer horizontal side divided into 3 parts: 200, 10 and 3.">
            <a:extLst>
              <a:ext uri="{FF2B5EF4-FFF2-40B4-BE49-F238E27FC236}">
                <a16:creationId xmlns:a16="http://schemas.microsoft.com/office/drawing/2014/main" id="{DC42BB6A-5259-E22A-16EC-422F2F1B5A67}"/>
              </a:ext>
            </a:extLst>
          </p:cNvPr>
          <p:cNvPicPr>
            <a:picLocks noChangeAspect="1"/>
          </p:cNvPicPr>
          <p:nvPr/>
        </p:nvPicPr>
        <p:blipFill>
          <a:blip r:embed="rId4"/>
          <a:srcRect l="2017" t="17268" r="8761" b="45528"/>
          <a:stretch>
            <a:fillRect/>
          </a:stretch>
        </p:blipFill>
        <p:spPr>
          <a:xfrm>
            <a:off x="524107" y="3236046"/>
            <a:ext cx="10877976" cy="2551437"/>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sp>
        <p:nvSpPr>
          <p:cNvPr id="4" name="TextBox 3">
            <a:extLst>
              <a:ext uri="{FF2B5EF4-FFF2-40B4-BE49-F238E27FC236}">
                <a16:creationId xmlns:a16="http://schemas.microsoft.com/office/drawing/2014/main" id="{5EF1CCC5-198A-F26E-FDD4-AD492CDCD916}"/>
              </a:ext>
            </a:extLst>
          </p:cNvPr>
          <p:cNvSpPr txBox="1"/>
          <p:nvPr/>
        </p:nvSpPr>
        <p:spPr>
          <a:xfrm>
            <a:off x="979512" y="1990339"/>
            <a:ext cx="9747756" cy="2142309"/>
          </a:xfrm>
          <a:prstGeom prst="rect">
            <a:avLst/>
          </a:prstGeom>
          <a:noFill/>
        </p:spPr>
        <p:txBody>
          <a:bodyPr wrap="square" lIns="0" tIns="0" rIns="0" bIns="0" rtlCol="0">
            <a:noAutofit/>
          </a:bodyPr>
          <a:lstStyle/>
          <a:p>
            <a:pPr algn="ctr">
              <a:lnSpc>
                <a:spcPct val="150000"/>
              </a:lnSpc>
              <a:spcBef>
                <a:spcPts val="1200"/>
              </a:spcBef>
              <a:spcAft>
                <a:spcPts val="1200"/>
              </a:spcAft>
            </a:pPr>
            <a:r>
              <a:rPr lang="en-AU" sz="4400"/>
              <a:t>Why might the </a:t>
            </a:r>
            <a:r>
              <a:rPr lang="en-AU" sz="4400" b="1"/>
              <a:t>expected frequency </a:t>
            </a:r>
            <a:r>
              <a:rPr lang="en-AU" sz="4400" b="1">
                <a:solidFill>
                  <a:schemeClr val="accent2"/>
                </a:solidFill>
              </a:rPr>
              <a:t>differ</a:t>
            </a:r>
            <a:r>
              <a:rPr lang="en-AU" sz="4400" i="1"/>
              <a:t> </a:t>
            </a:r>
            <a:r>
              <a:rPr lang="en-AU" sz="4400"/>
              <a:t>to</a:t>
            </a:r>
            <a:r>
              <a:rPr lang="en-AU" sz="4400" b="1"/>
              <a:t> </a:t>
            </a:r>
            <a:r>
              <a:rPr lang="en-AU" sz="4400"/>
              <a:t>the</a:t>
            </a:r>
            <a:r>
              <a:rPr lang="en-AU" sz="4400" b="1"/>
              <a:t> observed frequency </a:t>
            </a:r>
            <a:r>
              <a:rPr lang="en-AU" sz="4400"/>
              <a:t>of an outcome in a chance experiment?</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distance across NSW</a:t>
            </a:r>
          </a:p>
        </p:txBody>
      </p:sp>
      <p:pic>
        <p:nvPicPr>
          <p:cNvPr id="3" name="Picture 2" descr="A labelled map of NSW showing major cities. Listed on the right are  kilometre distances from a major city (and the Aboriginal tribe region) to another major city (and the Aboriginal tribe region).">
            <a:extLst>
              <a:ext uri="{FF2B5EF4-FFF2-40B4-BE49-F238E27FC236}">
                <a16:creationId xmlns:a16="http://schemas.microsoft.com/office/drawing/2014/main" id="{D979D0E8-67EC-C410-97C7-8AF3CCA85B23}"/>
              </a:ext>
            </a:extLst>
          </p:cNvPr>
          <p:cNvPicPr>
            <a:picLocks noChangeAspect="1"/>
          </p:cNvPicPr>
          <p:nvPr/>
        </p:nvPicPr>
        <p:blipFill>
          <a:blip r:embed="rId3">
            <a:extLst>
              <a:ext uri="{28A0092B-C50C-407E-A947-70E740481C1C}">
                <a14:useLocalDpi xmlns:a14="http://schemas.microsoft.com/office/drawing/2010/main" val="0"/>
              </a:ext>
            </a:extLst>
          </a:blip>
          <a:srcRect l="9646" t="5131" r="3952" b="1773"/>
          <a:stretch>
            <a:fillRect/>
          </a:stretch>
        </p:blipFill>
        <p:spPr>
          <a:xfrm>
            <a:off x="2486167" y="905601"/>
            <a:ext cx="7219665" cy="5782359"/>
          </a:xfrm>
          <a:prstGeom prst="rect">
            <a:avLst/>
          </a:prstGeom>
        </p:spPr>
      </p:pic>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p:txBody>
          <a:bodyPr/>
          <a:lstStyle/>
          <a:p>
            <a:pPr algn="ctr"/>
            <a:r>
              <a:rPr lang="en-AU" sz="4400">
                <a:solidFill>
                  <a:schemeClr val="accent2"/>
                </a:solidFill>
              </a:rPr>
              <a:t>2357 + 6106 = 8463 </a:t>
            </a:r>
          </a:p>
          <a:p>
            <a:pPr algn="ctr"/>
            <a:r>
              <a:rPr lang="en-AU" sz="4400"/>
              <a:t>Using </a:t>
            </a:r>
            <a:r>
              <a:rPr lang="en-AU" sz="4400" b="1"/>
              <a:t>estimation, this </a:t>
            </a:r>
            <a:r>
              <a:rPr lang="en-AU" sz="4400"/>
              <a:t>answer is </a:t>
            </a:r>
            <a:r>
              <a:rPr lang="en-AU" sz="4400" b="1"/>
              <a:t>reasonable.</a:t>
            </a:r>
            <a:endParaRPr lang="en-AU" sz="4400"/>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795235908"/>
              </p:ext>
            </p:extLst>
          </p:nvPr>
        </p:nvGraphicFramePr>
        <p:xfrm>
          <a:off x="2442980" y="532191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4" name="TextBox 3">
            <a:extLst>
              <a:ext uri="{FF2B5EF4-FFF2-40B4-BE49-F238E27FC236}">
                <a16:creationId xmlns:a16="http://schemas.microsoft.com/office/drawing/2014/main" id="{8EA11C78-2569-6B62-8FCB-66FDB669621A}"/>
              </a:ext>
            </a:extLst>
          </p:cNvPr>
          <p:cNvSpPr txBox="1"/>
          <p:nvPr/>
        </p:nvSpPr>
        <p:spPr>
          <a:xfrm>
            <a:off x="397628" y="956926"/>
            <a:ext cx="10481244" cy="1772447"/>
          </a:xfrm>
          <a:prstGeom prst="rect">
            <a:avLst/>
          </a:prstGeom>
          <a:noFill/>
        </p:spPr>
        <p:txBody>
          <a:bodyPr wrap="square" lIns="0" tIns="0" rIns="0" bIns="0" rtlCol="0">
            <a:noAutofit/>
          </a:bodyPr>
          <a:lstStyle/>
          <a:p>
            <a:pPr algn="ctr">
              <a:lnSpc>
                <a:spcPct val="150000"/>
              </a:lnSpc>
            </a:pPr>
            <a:r>
              <a:rPr lang="en-AU" sz="3600"/>
              <a:t>Represent each percentage as a </a:t>
            </a:r>
            <a:r>
              <a:rPr lang="en-AU" sz="3600" b="1"/>
              <a:t>common fraction </a:t>
            </a:r>
            <a:r>
              <a:rPr lang="en-AU" sz="3600"/>
              <a:t>and a related </a:t>
            </a:r>
            <a:r>
              <a:rPr lang="en-AU" sz="3600" b="1"/>
              <a:t>equivalent fraction</a:t>
            </a:r>
            <a:r>
              <a:rPr lang="en-AU" sz="4000"/>
              <a:t>.</a:t>
            </a:r>
          </a:p>
          <a:p>
            <a:pPr algn="l"/>
            <a:endParaRPr lang="en-AU" sz="1800"/>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15" name="Picture 14" descr="Table displaying three rows with columns labeled perecentage, Common Fraction, and Equivalent Fraction. Each row shows a percentage value: row A is 25%, row B is 50%, and row C is 75%, while corresponding common fractions and equivalent fraction columns are left blank.&#10;&#10;&#10;">
            <a:extLst>
              <a:ext uri="{FF2B5EF4-FFF2-40B4-BE49-F238E27FC236}">
                <a16:creationId xmlns:a16="http://schemas.microsoft.com/office/drawing/2014/main" id="{9A7E4C38-FBE7-10F8-2CF5-209B73F912A5}"/>
              </a:ext>
            </a:extLst>
          </p:cNvPr>
          <p:cNvPicPr>
            <a:picLocks noChangeAspect="1"/>
          </p:cNvPicPr>
          <p:nvPr/>
        </p:nvPicPr>
        <p:blipFill>
          <a:blip r:embed="rId4"/>
          <a:stretch>
            <a:fillRect/>
          </a:stretch>
        </p:blipFill>
        <p:spPr>
          <a:xfrm>
            <a:off x="1524990" y="2868241"/>
            <a:ext cx="8772904" cy="3487214"/>
          </a:xfrm>
          <a:prstGeom prst="rect">
            <a:avLst/>
          </a:prstGeom>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sp>
        <p:nvSpPr>
          <p:cNvPr id="4" name="TextBox 3">
            <a:extLst>
              <a:ext uri="{FF2B5EF4-FFF2-40B4-BE49-F238E27FC236}">
                <a16:creationId xmlns:a16="http://schemas.microsoft.com/office/drawing/2014/main" id="{26EFF01E-C6B1-4122-933A-7F2A333DB2BC}"/>
              </a:ext>
            </a:extLst>
          </p:cNvPr>
          <p:cNvSpPr txBox="1"/>
          <p:nvPr/>
        </p:nvSpPr>
        <p:spPr>
          <a:xfrm>
            <a:off x="360000" y="1688219"/>
            <a:ext cx="11832000" cy="1555955"/>
          </a:xfrm>
          <a:prstGeom prst="rect">
            <a:avLst/>
          </a:prstGeom>
          <a:noFill/>
        </p:spPr>
        <p:txBody>
          <a:bodyPr wrap="square" lIns="0" tIns="0" rIns="0" bIns="0" rtlCol="0">
            <a:noAutofit/>
          </a:bodyPr>
          <a:lstStyle/>
          <a:p>
            <a:pPr>
              <a:lnSpc>
                <a:spcPct val="150000"/>
              </a:lnSpc>
              <a:spcBef>
                <a:spcPts val="1200"/>
              </a:spcBef>
              <a:spcAft>
                <a:spcPts val="1200"/>
              </a:spcAft>
            </a:pPr>
            <a:r>
              <a:rPr lang="en-AU" sz="4400"/>
              <a:t>Convert: </a:t>
            </a:r>
          </a:p>
          <a:p>
            <a:pPr>
              <a:lnSpc>
                <a:spcPct val="150000"/>
              </a:lnSpc>
              <a:spcBef>
                <a:spcPts val="1200"/>
              </a:spcBef>
              <a:spcAft>
                <a:spcPts val="1200"/>
              </a:spcAft>
            </a:pPr>
            <a:r>
              <a:rPr lang="en-AU" sz="4400"/>
              <a:t>a) </a:t>
            </a:r>
            <a:r>
              <a:rPr lang="en-AU" sz="4400" b="1"/>
              <a:t>3650 m </a:t>
            </a:r>
            <a:r>
              <a:rPr lang="en-AU" sz="4400"/>
              <a:t>to </a:t>
            </a:r>
            <a:r>
              <a:rPr lang="en-AU" sz="4400" b="1"/>
              <a:t>km</a:t>
            </a:r>
          </a:p>
          <a:p>
            <a:pPr>
              <a:lnSpc>
                <a:spcPct val="150000"/>
              </a:lnSpc>
              <a:spcBef>
                <a:spcPts val="1200"/>
              </a:spcBef>
              <a:spcAft>
                <a:spcPts val="1200"/>
              </a:spcAft>
            </a:pPr>
            <a:r>
              <a:rPr lang="en-AU" sz="4400"/>
              <a:t>b) </a:t>
            </a:r>
            <a:r>
              <a:rPr lang="en-AU" sz="4400" b="1"/>
              <a:t>8 kilometres 250 metres </a:t>
            </a:r>
            <a:r>
              <a:rPr lang="en-AU" sz="4400"/>
              <a:t>to</a:t>
            </a:r>
            <a:r>
              <a:rPr lang="en-AU" sz="4400" b="1"/>
              <a:t> m</a:t>
            </a:r>
            <a:endParaRPr lang="en-AU" sz="4400"/>
          </a:p>
          <a:p>
            <a:pPr>
              <a:lnSpc>
                <a:spcPct val="150000"/>
              </a:lnSpc>
              <a:spcBef>
                <a:spcPts val="1200"/>
              </a:spcBef>
              <a:spcAft>
                <a:spcPts val="1200"/>
              </a:spcAft>
            </a:pPr>
            <a:endParaRPr lang="en-AU" sz="4400" b="1"/>
          </a:p>
          <a:p>
            <a:pPr>
              <a:lnSpc>
                <a:spcPct val="150000"/>
              </a:lnSpc>
            </a:pPr>
            <a:endParaRPr lang="en-AU" sz="4400"/>
          </a:p>
          <a:p>
            <a:endParaRPr lang="en-AU"/>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descr="image of a clipboard with a pencil recording short answer responses">
            <a:extLst>
              <a:ext uri="{FF2B5EF4-FFF2-40B4-BE49-F238E27FC236}">
                <a16:creationId xmlns:a16="http://schemas.microsoft.com/office/drawing/2014/main" id="{F22768F3-1D34-7E31-8299-4A2308A11FC5}"/>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4" name="TextBox 3">
            <a:extLst>
              <a:ext uri="{FF2B5EF4-FFF2-40B4-BE49-F238E27FC236}">
                <a16:creationId xmlns:a16="http://schemas.microsoft.com/office/drawing/2014/main" id="{03A171FB-596B-CF08-3500-C906F484861A}"/>
              </a:ext>
            </a:extLst>
          </p:cNvPr>
          <p:cNvSpPr txBox="1"/>
          <p:nvPr/>
        </p:nvSpPr>
        <p:spPr>
          <a:xfrm>
            <a:off x="605321" y="2036385"/>
            <a:ext cx="10981358" cy="2432649"/>
          </a:xfrm>
          <a:prstGeom prst="rect">
            <a:avLst/>
          </a:prstGeom>
          <a:noFill/>
        </p:spPr>
        <p:txBody>
          <a:bodyPr wrap="square" lIns="0" tIns="0" rIns="0" bIns="0" rtlCol="0">
            <a:noAutofit/>
          </a:bodyPr>
          <a:lstStyle/>
          <a:p>
            <a:pPr algn="ctr">
              <a:lnSpc>
                <a:spcPct val="150000"/>
              </a:lnSpc>
            </a:pPr>
            <a:r>
              <a:rPr lang="en-AU" sz="4400"/>
              <a:t>Use the </a:t>
            </a:r>
            <a:r>
              <a:rPr lang="en-AU" sz="4400" b="1"/>
              <a:t>distributive property </a:t>
            </a:r>
            <a:r>
              <a:rPr lang="en-AU" sz="4400"/>
              <a:t>with </a:t>
            </a:r>
            <a:r>
              <a:rPr lang="en-AU" sz="4400" b="1"/>
              <a:t>partial products </a:t>
            </a:r>
            <a:r>
              <a:rPr lang="en-AU" sz="4400"/>
              <a:t>to solve:</a:t>
            </a:r>
          </a:p>
          <a:p>
            <a:pPr algn="ctr">
              <a:lnSpc>
                <a:spcPct val="150000"/>
              </a:lnSpc>
            </a:pPr>
            <a:r>
              <a:rPr lang="en-AU" sz="5400">
                <a:solidFill>
                  <a:srgbClr val="146CFD"/>
                </a:solidFill>
              </a:rPr>
              <a:t>4568 x 8</a:t>
            </a:r>
            <a:endParaRPr lang="en-AU" sz="5400" b="1">
              <a:solidFill>
                <a:srgbClr val="146CFD"/>
              </a:solidFill>
            </a:endParaRPr>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sp>
        <p:nvSpPr>
          <p:cNvPr id="4" name="TextBox 3">
            <a:extLst>
              <a:ext uri="{FF2B5EF4-FFF2-40B4-BE49-F238E27FC236}">
                <a16:creationId xmlns:a16="http://schemas.microsoft.com/office/drawing/2014/main" id="{0A4E5F96-9E02-F108-D445-54002F95ED29}"/>
              </a:ext>
            </a:extLst>
          </p:cNvPr>
          <p:cNvSpPr txBox="1"/>
          <p:nvPr/>
        </p:nvSpPr>
        <p:spPr>
          <a:xfrm>
            <a:off x="984382" y="2801982"/>
            <a:ext cx="10223235" cy="1254035"/>
          </a:xfrm>
          <a:prstGeom prst="rect">
            <a:avLst/>
          </a:prstGeom>
          <a:noFill/>
        </p:spPr>
        <p:txBody>
          <a:bodyPr wrap="square" lIns="0" tIns="0" rIns="0" bIns="0" rtlCol="0">
            <a:noAutofit/>
          </a:bodyPr>
          <a:lstStyle/>
          <a:p>
            <a:pPr algn="ctr">
              <a:lnSpc>
                <a:spcPct val="150000"/>
              </a:lnSpc>
            </a:pPr>
            <a:r>
              <a:rPr lang="en-AU" sz="4400"/>
              <a:t>Is the coin flip game ‘heads or tails’ </a:t>
            </a:r>
            <a:r>
              <a:rPr lang="en-AU" sz="4400" b="1"/>
              <a:t>fair</a:t>
            </a:r>
            <a:r>
              <a:rPr lang="en-AU" sz="4400"/>
              <a:t>?</a:t>
            </a:r>
          </a:p>
          <a:p>
            <a:pPr algn="ctr">
              <a:lnSpc>
                <a:spcPct val="150000"/>
              </a:lnSpc>
            </a:pPr>
            <a:r>
              <a:rPr lang="en-AU" sz="4400"/>
              <a:t>Is the game </a:t>
            </a:r>
            <a:r>
              <a:rPr lang="en-AU" sz="4400" b="1"/>
              <a:t>random</a:t>
            </a:r>
            <a:r>
              <a:rPr lang="en-AU" sz="4400"/>
              <a:t>?</a:t>
            </a:r>
          </a:p>
          <a:p>
            <a:pPr algn="ctr">
              <a:lnSpc>
                <a:spcPct val="150000"/>
              </a:lnSpc>
            </a:pPr>
            <a:r>
              <a:rPr lang="en-AU" sz="4400" b="1"/>
              <a:t>Communicate</a:t>
            </a:r>
            <a:r>
              <a:rPr lang="en-AU" sz="4400"/>
              <a:t> your </a:t>
            </a:r>
            <a:r>
              <a:rPr lang="en-AU" sz="4400" b="1"/>
              <a:t>reasoning.</a:t>
            </a:r>
          </a:p>
        </p:txBody>
      </p:sp>
      <p:pic>
        <p:nvPicPr>
          <p:cNvPr id="7" name="Picture 6">
            <a:extLst>
              <a:ext uri="{FF2B5EF4-FFF2-40B4-BE49-F238E27FC236}">
                <a16:creationId xmlns:a16="http://schemas.microsoft.com/office/drawing/2014/main" id="{EBF2F5A8-7A91-20E4-B5EF-54BE7E5E46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547798" y="419344"/>
            <a:ext cx="2742120" cy="2213370"/>
          </a:xfrm>
          <a:prstGeom prst="rect">
            <a:avLst/>
          </a:prstGeom>
        </p:spPr>
      </p:pic>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estimation</a:t>
            </a:r>
          </a:p>
        </p:txBody>
      </p:sp>
      <p:sp>
        <p:nvSpPr>
          <p:cNvPr id="5" name="TextBox 4">
            <a:extLst>
              <a:ext uri="{FF2B5EF4-FFF2-40B4-BE49-F238E27FC236}">
                <a16:creationId xmlns:a16="http://schemas.microsoft.com/office/drawing/2014/main" id="{30D982DA-64A3-D317-DB16-7BA4E30B90DC}"/>
              </a:ext>
            </a:extLst>
          </p:cNvPr>
          <p:cNvSpPr txBox="1"/>
          <p:nvPr/>
        </p:nvSpPr>
        <p:spPr>
          <a:xfrm>
            <a:off x="360000" y="1013263"/>
            <a:ext cx="10930300" cy="584775"/>
          </a:xfrm>
          <a:prstGeom prst="rect">
            <a:avLst/>
          </a:prstGeom>
          <a:noFill/>
        </p:spPr>
        <p:txBody>
          <a:bodyPr wrap="square">
            <a:spAutoFit/>
          </a:bodyPr>
          <a:lstStyle/>
          <a:p>
            <a:pPr lvl="0"/>
            <a:r>
              <a:rPr lang="en-AU" sz="3200"/>
              <a:t>Justify if the answers are </a:t>
            </a:r>
            <a:r>
              <a:rPr lang="en-AU" sz="3200" b="1"/>
              <a:t>reasonable</a:t>
            </a:r>
            <a:r>
              <a:rPr lang="en-AU" sz="3200"/>
              <a:t> or </a:t>
            </a:r>
            <a:r>
              <a:rPr lang="en-AU" sz="3200" b="1"/>
              <a:t>unreasonable</a:t>
            </a:r>
            <a:r>
              <a:rPr lang="en-AU" sz="3200"/>
              <a:t>:</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7" name="TextBox 6">
            <a:extLst>
              <a:ext uri="{FF2B5EF4-FFF2-40B4-BE49-F238E27FC236}">
                <a16:creationId xmlns:a16="http://schemas.microsoft.com/office/drawing/2014/main" id="{EB0FAC3D-EAE0-8465-F49D-0CFA3AF5F56F}"/>
              </a:ext>
            </a:extLst>
          </p:cNvPr>
          <p:cNvSpPr txBox="1"/>
          <p:nvPr/>
        </p:nvSpPr>
        <p:spPr>
          <a:xfrm>
            <a:off x="348000" y="2021491"/>
            <a:ext cx="5317469" cy="3694409"/>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AU" sz="3200" kern="1200">
                <a:solidFill>
                  <a:schemeClr val="tx1"/>
                </a:solidFill>
                <a:effectLst/>
                <a:latin typeface="Arial" panose="020B0604020202020204" pitchFamily="34" charset="0"/>
                <a:ea typeface="+mn-ea"/>
                <a:cs typeface="Arial" panose="020B0604020202020204" pitchFamily="34" charset="0"/>
              </a:rPr>
              <a:t>812 + 514 = 1514 </a:t>
            </a:r>
          </a:p>
          <a:p>
            <a:pPr marL="285750" lvl="0" indent="-285750">
              <a:lnSpc>
                <a:spcPct val="150000"/>
              </a:lnSpc>
              <a:buFont typeface="Arial" panose="020B0604020202020204" pitchFamily="34" charset="0"/>
              <a:buChar char="•"/>
            </a:pPr>
            <a:r>
              <a:rPr lang="en-AU" sz="3200" kern="1200">
                <a:solidFill>
                  <a:schemeClr val="tx1"/>
                </a:solidFill>
                <a:effectLst/>
                <a:latin typeface="Arial" panose="020B0604020202020204" pitchFamily="34" charset="0"/>
                <a:ea typeface="+mn-ea"/>
                <a:cs typeface="Arial" panose="020B0604020202020204" pitchFamily="34" charset="0"/>
              </a:rPr>
              <a:t>923 + 346 = 1200 </a:t>
            </a:r>
          </a:p>
          <a:p>
            <a:pPr marL="285750" lvl="0" indent="-285750">
              <a:lnSpc>
                <a:spcPct val="150000"/>
              </a:lnSpc>
              <a:buFont typeface="Arial" panose="020B0604020202020204" pitchFamily="34" charset="0"/>
              <a:buChar char="•"/>
            </a:pPr>
            <a:r>
              <a:rPr lang="en-AU" sz="3200" kern="1200">
                <a:solidFill>
                  <a:schemeClr val="tx1"/>
                </a:solidFill>
                <a:effectLst/>
                <a:latin typeface="Arial" panose="020B0604020202020204" pitchFamily="34" charset="0"/>
                <a:ea typeface="+mn-ea"/>
                <a:cs typeface="Arial" panose="020B0604020202020204" pitchFamily="34" charset="0"/>
              </a:rPr>
              <a:t>2357 + 6106 = 8460 </a:t>
            </a:r>
          </a:p>
          <a:p>
            <a:pPr marL="285750" lvl="0" indent="-285750">
              <a:lnSpc>
                <a:spcPct val="150000"/>
              </a:lnSpc>
              <a:buFont typeface="Arial" panose="020B0604020202020204" pitchFamily="34" charset="0"/>
              <a:buChar char="•"/>
            </a:pPr>
            <a:r>
              <a:rPr lang="en-AU" sz="3200" kern="1200">
                <a:solidFill>
                  <a:schemeClr val="tx1"/>
                </a:solidFill>
                <a:effectLst/>
                <a:latin typeface="Arial" panose="020B0604020202020204" pitchFamily="34" charset="0"/>
                <a:ea typeface="+mn-ea"/>
                <a:cs typeface="Arial" panose="020B0604020202020204" pitchFamily="34" charset="0"/>
              </a:rPr>
              <a:t>4216 + 3942 = 8000 </a:t>
            </a:r>
          </a:p>
          <a:p>
            <a:pPr marL="285750" lvl="0" indent="-285750">
              <a:lnSpc>
                <a:spcPct val="150000"/>
              </a:lnSpc>
              <a:buFont typeface="Arial" panose="020B0604020202020204" pitchFamily="34" charset="0"/>
              <a:buChar char="•"/>
            </a:pPr>
            <a:r>
              <a:rPr lang="en-AU" sz="3200" kern="1200">
                <a:solidFill>
                  <a:schemeClr val="tx1"/>
                </a:solidFill>
                <a:effectLst/>
                <a:latin typeface="Arial" panose="020B0604020202020204" pitchFamily="34" charset="0"/>
                <a:ea typeface="+mn-ea"/>
                <a:cs typeface="Arial" panose="020B0604020202020204" pitchFamily="34" charset="0"/>
              </a:rPr>
              <a:t>43 892 + 92 106 = 135 900 </a:t>
            </a:r>
            <a:endParaRPr lang="en-AU" sz="2400" kern="1200">
              <a:solidFill>
                <a:schemeClr val="tx1"/>
              </a:solidFill>
              <a:effectLst/>
              <a:latin typeface="Arial" panose="020B0604020202020204" pitchFamily="34" charset="0"/>
              <a:ea typeface="+mn-ea"/>
              <a:cs typeface="Arial" panose="020B0604020202020204" pitchFamily="34" charset="0"/>
            </a:endParaRPr>
          </a:p>
        </p:txBody>
      </p:sp>
      <p:sp>
        <p:nvSpPr>
          <p:cNvPr id="9" name="TextBox 8">
            <a:extLst>
              <a:ext uri="{FF2B5EF4-FFF2-40B4-BE49-F238E27FC236}">
                <a16:creationId xmlns:a16="http://schemas.microsoft.com/office/drawing/2014/main" id="{16DD4136-4E02-2887-6F93-1344DDA693CA}"/>
              </a:ext>
            </a:extLst>
          </p:cNvPr>
          <p:cNvSpPr txBox="1"/>
          <p:nvPr/>
        </p:nvSpPr>
        <p:spPr>
          <a:xfrm>
            <a:off x="6514534" y="2021492"/>
            <a:ext cx="5329466" cy="3694409"/>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AU" sz="3200" kern="1200">
                <a:solidFill>
                  <a:schemeClr val="tx1"/>
                </a:solidFill>
                <a:effectLst/>
                <a:latin typeface="Arial" panose="020B0604020202020204" pitchFamily="34" charset="0"/>
                <a:ea typeface="+mn-ea"/>
                <a:cs typeface="Arial" panose="020B0604020202020204" pitchFamily="34" charset="0"/>
              </a:rPr>
              <a:t>628 − 413 = 215 </a:t>
            </a:r>
          </a:p>
          <a:p>
            <a:pPr marL="285750" lvl="0" indent="-285750">
              <a:lnSpc>
                <a:spcPct val="150000"/>
              </a:lnSpc>
              <a:buFont typeface="Arial" panose="020B0604020202020204" pitchFamily="34" charset="0"/>
              <a:buChar char="•"/>
            </a:pPr>
            <a:r>
              <a:rPr lang="en-AU" sz="3200" kern="1200">
                <a:solidFill>
                  <a:schemeClr val="tx1"/>
                </a:solidFill>
                <a:effectLst/>
                <a:latin typeface="Arial" panose="020B0604020202020204" pitchFamily="34" charset="0"/>
                <a:ea typeface="+mn-ea"/>
                <a:cs typeface="Arial" panose="020B0604020202020204" pitchFamily="34" charset="0"/>
              </a:rPr>
              <a:t>781 − 234 = 550 </a:t>
            </a:r>
          </a:p>
          <a:p>
            <a:pPr marL="285750" lvl="0" indent="-285750">
              <a:lnSpc>
                <a:spcPct val="150000"/>
              </a:lnSpc>
              <a:buFont typeface="Arial" panose="020B0604020202020204" pitchFamily="34" charset="0"/>
              <a:buChar char="•"/>
            </a:pPr>
            <a:r>
              <a:rPr lang="en-AU" sz="3200" kern="1200">
                <a:solidFill>
                  <a:schemeClr val="tx1"/>
                </a:solidFill>
                <a:effectLst/>
                <a:latin typeface="Arial" panose="020B0604020202020204" pitchFamily="34" charset="0"/>
                <a:ea typeface="+mn-ea"/>
                <a:cs typeface="Arial" panose="020B0604020202020204" pitchFamily="34" charset="0"/>
              </a:rPr>
              <a:t>7842 − 5209 = 2600 </a:t>
            </a:r>
          </a:p>
          <a:p>
            <a:pPr marL="285750" lvl="0" indent="-285750">
              <a:lnSpc>
                <a:spcPct val="150000"/>
              </a:lnSpc>
              <a:buFont typeface="Arial" panose="020B0604020202020204" pitchFamily="34" charset="0"/>
              <a:buChar char="•"/>
            </a:pPr>
            <a:r>
              <a:rPr lang="en-AU" sz="3200" kern="1200">
                <a:solidFill>
                  <a:schemeClr val="tx1"/>
                </a:solidFill>
                <a:effectLst/>
                <a:latin typeface="Arial" panose="020B0604020202020204" pitchFamily="34" charset="0"/>
                <a:ea typeface="+mn-ea"/>
                <a:cs typeface="Arial" panose="020B0604020202020204" pitchFamily="34" charset="0"/>
              </a:rPr>
              <a:t>8456 − 4234 = 6120 </a:t>
            </a:r>
          </a:p>
          <a:p>
            <a:pPr marL="285750" lvl="0" indent="-285750">
              <a:lnSpc>
                <a:spcPct val="150000"/>
              </a:lnSpc>
              <a:buFont typeface="Arial" panose="020B0604020202020204" pitchFamily="34" charset="0"/>
              <a:buChar char="•"/>
            </a:pPr>
            <a:r>
              <a:rPr lang="en-AU" sz="3200" kern="1200">
                <a:solidFill>
                  <a:schemeClr val="tx1"/>
                </a:solidFill>
                <a:effectLst/>
                <a:latin typeface="Arial" panose="020B0604020202020204" pitchFamily="34" charset="0"/>
                <a:ea typeface="+mn-ea"/>
                <a:cs typeface="Arial" panose="020B0604020202020204" pitchFamily="34" charset="0"/>
              </a:rPr>
              <a:t>73 812 – 28 492 = 40 320</a:t>
            </a:r>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BE6EE-66D0-13E9-6B7D-36691643B4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07F923-847F-595A-850B-B126A4C8B487}"/>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(2)</a:t>
            </a:r>
          </a:p>
        </p:txBody>
      </p:sp>
      <p:sp>
        <p:nvSpPr>
          <p:cNvPr id="19" name="Text Placeholder 18">
            <a:extLst>
              <a:ext uri="{FF2B5EF4-FFF2-40B4-BE49-F238E27FC236}">
                <a16:creationId xmlns:a16="http://schemas.microsoft.com/office/drawing/2014/main" id="{3E1DF2E2-8250-0FA7-B843-D1971B8ADEDA}"/>
              </a:ext>
            </a:extLst>
          </p:cNvPr>
          <p:cNvSpPr>
            <a:spLocks noGrp="1"/>
          </p:cNvSpPr>
          <p:nvPr>
            <p:ph type="body" sz="quarter" idx="24"/>
          </p:nvPr>
        </p:nvSpPr>
        <p:spPr>
          <a:xfrm>
            <a:off x="360000" y="1235060"/>
            <a:ext cx="11243037" cy="893226"/>
          </a:xfrm>
        </p:spPr>
        <p:txBody>
          <a:bodyPr/>
          <a:lstStyle/>
          <a:p>
            <a:pPr algn="ctr"/>
            <a:r>
              <a:rPr lang="en-AU" sz="4400"/>
              <a:t>Which </a:t>
            </a:r>
            <a:r>
              <a:rPr lang="en-AU" sz="4400" b="1"/>
              <a:t>algorithm</a:t>
            </a:r>
            <a:r>
              <a:rPr lang="en-AU" sz="4400"/>
              <a:t> has a </a:t>
            </a:r>
            <a:r>
              <a:rPr lang="en-AU" sz="4400" b="1"/>
              <a:t>place value error</a:t>
            </a:r>
            <a:r>
              <a:rPr lang="en-AU" sz="4400"/>
              <a:t>?</a:t>
            </a:r>
          </a:p>
          <a:p>
            <a:endParaRPr lang="en-AU"/>
          </a:p>
        </p:txBody>
      </p:sp>
      <p:sp>
        <p:nvSpPr>
          <p:cNvPr id="9" name="TextBox 8">
            <a:extLst>
              <a:ext uri="{FF2B5EF4-FFF2-40B4-BE49-F238E27FC236}">
                <a16:creationId xmlns:a16="http://schemas.microsoft.com/office/drawing/2014/main" id="{AF13415D-5ABE-8CE1-9EF6-D83C6FF3BAC9}"/>
              </a:ext>
            </a:extLst>
          </p:cNvPr>
          <p:cNvSpPr txBox="1"/>
          <p:nvPr/>
        </p:nvSpPr>
        <p:spPr>
          <a:xfrm>
            <a:off x="2585957" y="277715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6BFC4FD-CDBD-E74C-2B4B-957276E8D806}"/>
              </a:ext>
            </a:extLst>
          </p:cNvPr>
          <p:cNvSpPr txBox="1"/>
          <p:nvPr/>
        </p:nvSpPr>
        <p:spPr>
          <a:xfrm>
            <a:off x="4843331" y="277715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0CCBA3B1-EB4D-D918-A8D0-B78C7621C52A}"/>
              </a:ext>
            </a:extLst>
          </p:cNvPr>
          <p:cNvSpPr txBox="1"/>
          <p:nvPr/>
        </p:nvSpPr>
        <p:spPr>
          <a:xfrm>
            <a:off x="7069325" y="277715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002A7C63-4C7D-5EB4-47F9-AF81CCED5985}"/>
              </a:ext>
            </a:extLst>
          </p:cNvPr>
          <p:cNvSpPr txBox="1"/>
          <p:nvPr/>
        </p:nvSpPr>
        <p:spPr>
          <a:xfrm>
            <a:off x="9496416" y="28211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pic>
        <p:nvPicPr>
          <p:cNvPr id="4" name="Picture 3">
            <a:extLst>
              <a:ext uri="{FF2B5EF4-FFF2-40B4-BE49-F238E27FC236}">
                <a16:creationId xmlns:a16="http://schemas.microsoft.com/office/drawing/2014/main" id="{5F5E1EF3-7C5A-15B4-C7B4-000AE4784B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A1293A7A-9C27-9EEF-CD29-DBB1D9D8402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pic>
        <p:nvPicPr>
          <p:cNvPr id="8" name="Picture 7" descr="4 different vertical algorithms. &#10;A- 433 + 433 equals 866&#10;B- 354 + 485 equals 839&#10;C- 409 + 402 equals 811&#10;D- 337 + 248 equals 675">
            <a:extLst>
              <a:ext uri="{FF2B5EF4-FFF2-40B4-BE49-F238E27FC236}">
                <a16:creationId xmlns:a16="http://schemas.microsoft.com/office/drawing/2014/main" id="{BC79CCF0-68D0-D8CE-236F-50AE25B2D01E}"/>
              </a:ext>
            </a:extLst>
          </p:cNvPr>
          <p:cNvPicPr>
            <a:picLocks noChangeAspect="1"/>
          </p:cNvPicPr>
          <p:nvPr/>
        </p:nvPicPr>
        <p:blipFill>
          <a:blip r:embed="rId4"/>
          <a:srcRect l="6244" t="46811" r="2569" b="7732"/>
          <a:stretch>
            <a:fillRect/>
          </a:stretch>
        </p:blipFill>
        <p:spPr>
          <a:xfrm>
            <a:off x="1612388" y="3437809"/>
            <a:ext cx="8738259" cy="3267000"/>
          </a:xfrm>
          <a:prstGeom prst="rect">
            <a:avLst/>
          </a:prstGeom>
        </p:spPr>
      </p:pic>
    </p:spTree>
    <p:extLst>
      <p:ext uri="{BB962C8B-B14F-4D97-AF65-F5344CB8AC3E}">
        <p14:creationId xmlns:p14="http://schemas.microsoft.com/office/powerpoint/2010/main" val="416653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sp>
        <p:nvSpPr>
          <p:cNvPr id="4" name="TextBox 3">
            <a:extLst>
              <a:ext uri="{FF2B5EF4-FFF2-40B4-BE49-F238E27FC236}">
                <a16:creationId xmlns:a16="http://schemas.microsoft.com/office/drawing/2014/main" id="{EEA7BE66-DDC5-03A7-4F59-DBF84BCAD1DA}"/>
              </a:ext>
            </a:extLst>
          </p:cNvPr>
          <p:cNvSpPr txBox="1"/>
          <p:nvPr/>
        </p:nvSpPr>
        <p:spPr>
          <a:xfrm>
            <a:off x="441877" y="1080051"/>
            <a:ext cx="11308245" cy="1933302"/>
          </a:xfrm>
          <a:prstGeom prst="rect">
            <a:avLst/>
          </a:prstGeom>
          <a:noFill/>
        </p:spPr>
        <p:txBody>
          <a:bodyPr wrap="square" lIns="0" tIns="0" rIns="0" bIns="0" rtlCol="0">
            <a:noAutofit/>
          </a:bodyPr>
          <a:lstStyle/>
          <a:p>
            <a:pPr algn="ctr"/>
            <a:r>
              <a:rPr lang="en-AU" sz="4400" b="1"/>
              <a:t>Complete</a:t>
            </a:r>
            <a:r>
              <a:rPr lang="en-AU" sz="4400"/>
              <a:t> the sentences:</a:t>
            </a:r>
          </a:p>
          <a:p>
            <a:pPr algn="l"/>
            <a:endParaRPr lang="en-AU" sz="1800"/>
          </a:p>
          <a:p>
            <a:pPr marL="742950" indent="-742950" algn="l">
              <a:lnSpc>
                <a:spcPct val="200000"/>
              </a:lnSpc>
              <a:buFont typeface="+mj-lt"/>
              <a:buAutoNum type="alphaLcParenR"/>
            </a:pPr>
            <a:r>
              <a:rPr lang="en-AU" sz="3600"/>
              <a:t>To find</a:t>
            </a:r>
            <a:r>
              <a:rPr lang="en-AU" sz="3600" b="1"/>
              <a:t> 10% </a:t>
            </a:r>
            <a:r>
              <a:rPr lang="en-AU" sz="3600"/>
              <a:t>the </a:t>
            </a:r>
            <a:r>
              <a:rPr lang="en-AU" sz="3600" b="1"/>
              <a:t>total amount </a:t>
            </a:r>
            <a:r>
              <a:rPr lang="en-AU" sz="3600"/>
              <a:t>is </a:t>
            </a:r>
            <a:r>
              <a:rPr lang="en-AU" sz="3600" b="1"/>
              <a:t>divided</a:t>
            </a:r>
            <a:r>
              <a:rPr lang="en-AU" sz="3600"/>
              <a:t> by _____.</a:t>
            </a:r>
          </a:p>
          <a:p>
            <a:pPr marL="742950" indent="-742950" algn="l">
              <a:lnSpc>
                <a:spcPct val="200000"/>
              </a:lnSpc>
              <a:buFont typeface="+mj-lt"/>
              <a:buAutoNum type="alphaLcParenR"/>
            </a:pPr>
            <a:r>
              <a:rPr lang="en-AU" sz="3600"/>
              <a:t>To find </a:t>
            </a:r>
            <a:r>
              <a:rPr lang="en-AU" sz="3600" b="1"/>
              <a:t>25% </a:t>
            </a:r>
            <a:r>
              <a:rPr lang="en-AU" sz="3600"/>
              <a:t>or </a:t>
            </a:r>
            <a:r>
              <a:rPr lang="en-AU" sz="3600" b="1"/>
              <a:t>one quarter</a:t>
            </a:r>
            <a:r>
              <a:rPr lang="en-AU" sz="3600"/>
              <a:t>, the </a:t>
            </a:r>
            <a:r>
              <a:rPr lang="en-AU" sz="3600" b="1"/>
              <a:t>total amount </a:t>
            </a:r>
            <a:r>
              <a:rPr lang="en-AU" sz="3600"/>
              <a:t>is </a:t>
            </a:r>
            <a:r>
              <a:rPr lang="en-AU" sz="3600" b="1"/>
              <a:t>divided</a:t>
            </a:r>
            <a:r>
              <a:rPr lang="en-AU" sz="3600"/>
              <a:t> by _____.</a:t>
            </a:r>
          </a:p>
          <a:p>
            <a:pPr marL="742950" indent="-742950" algn="l">
              <a:lnSpc>
                <a:spcPct val="200000"/>
              </a:lnSpc>
              <a:buFont typeface="+mj-lt"/>
              <a:buAutoNum type="alphaLcParenR"/>
            </a:pPr>
            <a:r>
              <a:rPr lang="en-AU" sz="3600"/>
              <a:t>To find </a:t>
            </a:r>
            <a:r>
              <a:rPr lang="en-AU" sz="3600" b="1"/>
              <a:t>50% </a:t>
            </a:r>
            <a:r>
              <a:rPr lang="en-AU" sz="3600"/>
              <a:t>the </a:t>
            </a:r>
            <a:r>
              <a:rPr lang="en-AU" sz="3600" b="1"/>
              <a:t>total amount </a:t>
            </a:r>
            <a:r>
              <a:rPr lang="en-AU" sz="3600"/>
              <a:t>is </a:t>
            </a:r>
            <a:r>
              <a:rPr lang="en-AU" sz="3600" b="1"/>
              <a:t>divided</a:t>
            </a:r>
            <a:r>
              <a:rPr lang="en-AU" sz="3600"/>
              <a:t> by _____.</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7" name="TextBox 6">
            <a:extLst>
              <a:ext uri="{FF2B5EF4-FFF2-40B4-BE49-F238E27FC236}">
                <a16:creationId xmlns:a16="http://schemas.microsoft.com/office/drawing/2014/main" id="{1FFD620B-D023-F1CA-B095-D99383993285}"/>
              </a:ext>
            </a:extLst>
          </p:cNvPr>
          <p:cNvSpPr txBox="1"/>
          <p:nvPr/>
        </p:nvSpPr>
        <p:spPr>
          <a:xfrm>
            <a:off x="1061885" y="1645021"/>
            <a:ext cx="10574593" cy="1106129"/>
          </a:xfrm>
          <a:prstGeom prst="rect">
            <a:avLst/>
          </a:prstGeom>
          <a:noFill/>
        </p:spPr>
        <p:txBody>
          <a:bodyPr wrap="square" lIns="0" tIns="0" rIns="0" bIns="0" rtlCol="0">
            <a:noAutofit/>
          </a:bodyPr>
          <a:lstStyle/>
          <a:p>
            <a:pPr algn="l"/>
            <a:r>
              <a:rPr lang="en-AU" sz="4400" b="1"/>
              <a:t>Calculate</a:t>
            </a:r>
            <a:r>
              <a:rPr lang="en-AU" sz="4400"/>
              <a:t> the </a:t>
            </a:r>
            <a:r>
              <a:rPr lang="en-AU" sz="4400" b="1"/>
              <a:t>perimeter</a:t>
            </a:r>
            <a:r>
              <a:rPr lang="en-AU" sz="4400"/>
              <a:t> of the rectangle. </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5" name="Picture 4">
            <a:extLst>
              <a:ext uri="{FF2B5EF4-FFF2-40B4-BE49-F238E27FC236}">
                <a16:creationId xmlns:a16="http://schemas.microsoft.com/office/drawing/2014/main" id="{DF8DA360-5F45-0CB8-392E-59CC796CC0D9}"/>
              </a:ext>
            </a:extLst>
          </p:cNvPr>
          <p:cNvPicPr>
            <a:picLocks noChangeAspect="1"/>
          </p:cNvPicPr>
          <p:nvPr/>
        </p:nvPicPr>
        <p:blipFill>
          <a:blip r:embed="rId4"/>
          <a:srcRect l="28261" t="27805" r="18965" b="32845"/>
          <a:stretch>
            <a:fillRect/>
          </a:stretch>
        </p:blipFill>
        <p:spPr>
          <a:xfrm>
            <a:off x="2800814" y="2751150"/>
            <a:ext cx="7748239" cy="3249696"/>
          </a:xfrm>
          <a:prstGeom prst="rect">
            <a:avLst/>
          </a:prstGeom>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7" name="TextBox 6">
            <a:extLst>
              <a:ext uri="{FF2B5EF4-FFF2-40B4-BE49-F238E27FC236}">
                <a16:creationId xmlns:a16="http://schemas.microsoft.com/office/drawing/2014/main" id="{C080E1DA-7CE2-8E91-A37D-9DAF8B8ECC0D}"/>
              </a:ext>
            </a:extLst>
          </p:cNvPr>
          <p:cNvSpPr txBox="1"/>
          <p:nvPr/>
        </p:nvSpPr>
        <p:spPr>
          <a:xfrm>
            <a:off x="806520" y="2229161"/>
            <a:ext cx="10241280" cy="914400"/>
          </a:xfrm>
          <a:prstGeom prst="rect">
            <a:avLst/>
          </a:prstGeom>
          <a:noFill/>
        </p:spPr>
        <p:txBody>
          <a:bodyPr wrap="square" lIns="0" tIns="0" rIns="0" bIns="0" rtlCol="0" anchor="t">
            <a:noAutofit/>
          </a:bodyPr>
          <a:lstStyle/>
          <a:p>
            <a:pPr algn="ctr"/>
            <a:r>
              <a:rPr lang="en-AU" sz="4400"/>
              <a:t>Use the </a:t>
            </a:r>
            <a:r>
              <a:rPr lang="en-AU" sz="4400" b="1"/>
              <a:t>area model </a:t>
            </a:r>
            <a:r>
              <a:rPr lang="en-AU" sz="4400"/>
              <a:t>to </a:t>
            </a:r>
            <a:r>
              <a:rPr lang="en-AU" sz="4400" b="1"/>
              <a:t>represent</a:t>
            </a:r>
            <a:r>
              <a:rPr lang="en-AU" sz="4400"/>
              <a:t> and </a:t>
            </a:r>
            <a:r>
              <a:rPr lang="en-AU" sz="4400" b="1"/>
              <a:t>solve</a:t>
            </a:r>
            <a:r>
              <a:rPr lang="en-AU" sz="4400"/>
              <a:t>:</a:t>
            </a:r>
          </a:p>
          <a:p>
            <a:pPr algn="ctr"/>
            <a:endParaRPr lang="en-AU" sz="4400"/>
          </a:p>
          <a:p>
            <a:pPr algn="ctr"/>
            <a:r>
              <a:rPr lang="en-AU" sz="5400">
                <a:solidFill>
                  <a:srgbClr val="146CFD"/>
                </a:solidFill>
              </a:rPr>
              <a:t>76 x 42</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descr="image of a clipboard with a pencil recording short answer responses">
            <a:extLst>
              <a:ext uri="{FF2B5EF4-FFF2-40B4-BE49-F238E27FC236}">
                <a16:creationId xmlns:a16="http://schemas.microsoft.com/office/drawing/2014/main" id="{4F225E6B-742A-E393-5D68-B394EB858BAC}"/>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4" name="TextBox 3">
            <a:extLst>
              <a:ext uri="{FF2B5EF4-FFF2-40B4-BE49-F238E27FC236}">
                <a16:creationId xmlns:a16="http://schemas.microsoft.com/office/drawing/2014/main" id="{DE7E10F8-2CAF-C46B-7D58-8EA33B05A2A0}"/>
              </a:ext>
            </a:extLst>
          </p:cNvPr>
          <p:cNvSpPr txBox="1"/>
          <p:nvPr/>
        </p:nvSpPr>
        <p:spPr>
          <a:xfrm>
            <a:off x="348686" y="1184223"/>
            <a:ext cx="11135314" cy="1592272"/>
          </a:xfrm>
          <a:prstGeom prst="rect">
            <a:avLst/>
          </a:prstGeom>
          <a:noFill/>
        </p:spPr>
        <p:txBody>
          <a:bodyPr wrap="square" lIns="0" tIns="0" rIns="0" bIns="0" rtlCol="0">
            <a:noAutofit/>
          </a:bodyPr>
          <a:lstStyle/>
          <a:p>
            <a:pPr algn="ctr">
              <a:lnSpc>
                <a:spcPct val="150000"/>
              </a:lnSpc>
            </a:pPr>
            <a:r>
              <a:rPr lang="en-AU" sz="3600"/>
              <a:t>Select </a:t>
            </a:r>
            <a:r>
              <a:rPr lang="en-AU" sz="3600" b="1"/>
              <a:t>square kilometres </a:t>
            </a:r>
            <a:r>
              <a:rPr lang="en-AU" sz="3600"/>
              <a:t>or </a:t>
            </a:r>
            <a:r>
              <a:rPr lang="en-AU" sz="3600" b="1"/>
              <a:t>hectares</a:t>
            </a:r>
            <a:r>
              <a:rPr lang="en-AU" sz="3600"/>
              <a:t> to identify which unit is used to measure the </a:t>
            </a:r>
            <a:r>
              <a:rPr lang="en-AU" sz="3600" b="1"/>
              <a:t>area </a:t>
            </a:r>
            <a:r>
              <a:rPr lang="en-AU" sz="3600"/>
              <a:t>of</a:t>
            </a:r>
            <a:r>
              <a:rPr lang="en-AU" sz="3600" b="1"/>
              <a:t>:</a:t>
            </a:r>
            <a:endParaRPr lang="en-AU" sz="3600"/>
          </a:p>
          <a:p>
            <a:pPr algn="ctr"/>
            <a:endParaRPr lang="en-AU" sz="3600" b="1"/>
          </a:p>
          <a:p>
            <a:pPr algn="ctr"/>
            <a:endParaRPr lang="en-AU" sz="3600" b="1"/>
          </a:p>
          <a:p>
            <a:pPr algn="ctr"/>
            <a:endParaRPr lang="en-AU" sz="3600" b="1"/>
          </a:p>
          <a:p>
            <a:pPr algn="ctr"/>
            <a:endParaRPr lang="en-AU" sz="3600" b="1"/>
          </a:p>
          <a:p>
            <a:pPr algn="ctr"/>
            <a:endParaRPr lang="en-AU" sz="3600" b="1"/>
          </a:p>
          <a:p>
            <a:pPr algn="ctr"/>
            <a:r>
              <a:rPr lang="en-AU" sz="3600" b="1"/>
              <a:t>Communicate</a:t>
            </a:r>
            <a:r>
              <a:rPr lang="en-AU" sz="3600"/>
              <a:t> your </a:t>
            </a:r>
            <a:r>
              <a:rPr lang="en-AU" sz="3600" b="1"/>
              <a:t>reasoning.</a:t>
            </a:r>
          </a:p>
          <a:p>
            <a:pPr algn="l"/>
            <a:endParaRPr lang="en-AU" sz="1800"/>
          </a:p>
        </p:txBody>
      </p:sp>
      <p:sp>
        <p:nvSpPr>
          <p:cNvPr id="5" name="Rectangle: Rounded Corners 4">
            <a:extLst>
              <a:ext uri="{FF2B5EF4-FFF2-40B4-BE49-F238E27FC236}">
                <a16:creationId xmlns:a16="http://schemas.microsoft.com/office/drawing/2014/main" id="{21FF19E6-6B08-4414-06E1-D412A84CEDDC}"/>
              </a:ext>
            </a:extLst>
          </p:cNvPr>
          <p:cNvSpPr/>
          <p:nvPr/>
        </p:nvSpPr>
        <p:spPr>
          <a:xfrm>
            <a:off x="2188784" y="4203075"/>
            <a:ext cx="3297615" cy="870045"/>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a:solidFill>
                  <a:schemeClr val="accent1"/>
                </a:solidFill>
              </a:rPr>
              <a:t>a farm</a:t>
            </a:r>
          </a:p>
        </p:txBody>
      </p:sp>
      <p:sp>
        <p:nvSpPr>
          <p:cNvPr id="7" name="Rectangle: Rounded Corners 6">
            <a:extLst>
              <a:ext uri="{FF2B5EF4-FFF2-40B4-BE49-F238E27FC236}">
                <a16:creationId xmlns:a16="http://schemas.microsoft.com/office/drawing/2014/main" id="{6D358EDF-340B-EB45-2F3B-212C9031C10B}"/>
              </a:ext>
            </a:extLst>
          </p:cNvPr>
          <p:cNvSpPr/>
          <p:nvPr/>
        </p:nvSpPr>
        <p:spPr>
          <a:xfrm>
            <a:off x="6215269" y="4203074"/>
            <a:ext cx="3297615" cy="870045"/>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4400">
                <a:solidFill>
                  <a:schemeClr val="accent1"/>
                </a:solidFill>
              </a:rPr>
              <a:t>Australia</a:t>
            </a:r>
          </a:p>
        </p:txBody>
      </p:sp>
      <p:sp>
        <p:nvSpPr>
          <p:cNvPr id="8" name="TextBox 7">
            <a:extLst>
              <a:ext uri="{FF2B5EF4-FFF2-40B4-BE49-F238E27FC236}">
                <a16:creationId xmlns:a16="http://schemas.microsoft.com/office/drawing/2014/main" id="{3F62EA23-0A0F-AFD8-CE90-4F84A072D900}"/>
              </a:ext>
            </a:extLst>
          </p:cNvPr>
          <p:cNvSpPr txBox="1"/>
          <p:nvPr/>
        </p:nvSpPr>
        <p:spPr>
          <a:xfrm>
            <a:off x="3681302" y="327326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9" name="TextBox 8">
            <a:extLst>
              <a:ext uri="{FF2B5EF4-FFF2-40B4-BE49-F238E27FC236}">
                <a16:creationId xmlns:a16="http://schemas.microsoft.com/office/drawing/2014/main" id="{D54AB8FC-78A1-C9CD-A6F3-7DD2D9F6ABB0}"/>
              </a:ext>
            </a:extLst>
          </p:cNvPr>
          <p:cNvSpPr txBox="1"/>
          <p:nvPr/>
        </p:nvSpPr>
        <p:spPr>
          <a:xfrm>
            <a:off x="7593824" y="327326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rounding on a number line</a:t>
            </a:r>
          </a:p>
        </p:txBody>
      </p:sp>
      <p:pic>
        <p:nvPicPr>
          <p:cNvPr id="3" name="Picture 2" descr="A number line increasing by hundreds from zero to 1000.">
            <a:extLst>
              <a:ext uri="{FF2B5EF4-FFF2-40B4-BE49-F238E27FC236}">
                <a16:creationId xmlns:a16="http://schemas.microsoft.com/office/drawing/2014/main" id="{E5A942E3-A39E-C976-0B8E-C9FD4479BED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1232" y="2789697"/>
            <a:ext cx="11809535" cy="2033864"/>
          </a:xfrm>
          <a:prstGeom prst="rect">
            <a:avLst/>
          </a:prstGeom>
          <a:noFill/>
          <a:ln>
            <a:noFill/>
          </a:ln>
        </p:spPr>
      </p:pic>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1657781" y="1709289"/>
            <a:ext cx="9147538" cy="845602"/>
          </a:xfrm>
        </p:spPr>
        <p:txBody>
          <a:bodyPr vert="horz" lIns="0" tIns="0" rIns="0" bIns="0" rtlCol="0" anchor="t">
            <a:noAutofit/>
          </a:bodyPr>
          <a:lstStyle/>
          <a:p>
            <a:pPr algn="ctr"/>
            <a:r>
              <a:rPr lang="en-AU" sz="4400">
                <a:solidFill>
                  <a:srgbClr val="333333"/>
                </a:solidFill>
                <a:highlight>
                  <a:srgbClr val="FFFFFF"/>
                </a:highlight>
                <a:latin typeface="Arial"/>
                <a:cs typeface="Arial"/>
              </a:rPr>
              <a:t>8800 is a </a:t>
            </a:r>
            <a:r>
              <a:rPr lang="en-AU" sz="4400" b="1">
                <a:solidFill>
                  <a:srgbClr val="333333"/>
                </a:solidFill>
                <a:highlight>
                  <a:srgbClr val="FFFFFF"/>
                </a:highlight>
                <a:latin typeface="Arial"/>
                <a:cs typeface="Arial"/>
              </a:rPr>
              <a:t>reasonable estimation</a:t>
            </a:r>
            <a:r>
              <a:rPr lang="en-AU" sz="4400">
                <a:solidFill>
                  <a:srgbClr val="333333"/>
                </a:solidFill>
                <a:highlight>
                  <a:srgbClr val="FFFFFF"/>
                </a:highlight>
                <a:latin typeface="Arial"/>
                <a:cs typeface="Arial"/>
              </a:rPr>
              <a:t> for 7659 + 1345 </a:t>
            </a:r>
            <a:endParaRPr lang="en-US" sz="4400">
              <a:latin typeface="Arial"/>
              <a:cs typeface="Arial"/>
            </a:endParaRP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sp>
        <p:nvSpPr>
          <p:cNvPr id="4" name="TextBox 3">
            <a:extLst>
              <a:ext uri="{FF2B5EF4-FFF2-40B4-BE49-F238E27FC236}">
                <a16:creationId xmlns:a16="http://schemas.microsoft.com/office/drawing/2014/main" id="{A0A10D02-B564-6E55-4A2C-EF7BD2812004}"/>
              </a:ext>
            </a:extLst>
          </p:cNvPr>
          <p:cNvSpPr txBox="1"/>
          <p:nvPr/>
        </p:nvSpPr>
        <p:spPr>
          <a:xfrm>
            <a:off x="1746068" y="1637116"/>
            <a:ext cx="8699863" cy="1280160"/>
          </a:xfrm>
          <a:prstGeom prst="rect">
            <a:avLst/>
          </a:prstGeom>
          <a:noFill/>
        </p:spPr>
        <p:txBody>
          <a:bodyPr wrap="square" lIns="0" tIns="0" rIns="0" bIns="0" rtlCol="0">
            <a:noAutofit/>
          </a:bodyPr>
          <a:lstStyle/>
          <a:p>
            <a:pPr algn="ctr"/>
            <a:r>
              <a:rPr lang="en-AU" sz="4400"/>
              <a:t>Use </a:t>
            </a:r>
            <a:r>
              <a:rPr lang="en-AU" sz="4400" b="1"/>
              <a:t>place value </a:t>
            </a:r>
            <a:r>
              <a:rPr lang="en-AU" sz="4400"/>
              <a:t>to solve:</a:t>
            </a:r>
          </a:p>
          <a:p>
            <a:pPr algn="ctr"/>
            <a:endParaRPr lang="en-AU" sz="4400"/>
          </a:p>
          <a:p>
            <a:pPr algn="ctr"/>
            <a:r>
              <a:rPr lang="en-AU" sz="5400">
                <a:solidFill>
                  <a:srgbClr val="146CFD"/>
                </a:solidFill>
              </a:rPr>
              <a:t>2134 + 56 + 210</a:t>
            </a:r>
          </a:p>
          <a:p>
            <a:pPr algn="ctr"/>
            <a:endParaRPr lang="en-AU" sz="4400"/>
          </a:p>
          <a:p>
            <a:pPr algn="ctr"/>
            <a:endParaRPr lang="en-AU" sz="4400" b="1"/>
          </a:p>
          <a:p>
            <a:pPr algn="ctr"/>
            <a:r>
              <a:rPr lang="en-AU" sz="4400" b="1"/>
              <a:t>Communicate</a:t>
            </a:r>
            <a:r>
              <a:rPr lang="en-AU" sz="4400"/>
              <a:t> your </a:t>
            </a:r>
            <a:r>
              <a:rPr lang="en-AU" sz="4400" b="1"/>
              <a:t>reasoning</a:t>
            </a:r>
            <a:r>
              <a:rPr lang="en-AU" sz="4400"/>
              <a:t>.</a:t>
            </a:r>
          </a:p>
          <a:p>
            <a:endParaRPr lang="en-AU" sz="1800"/>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sp>
        <p:nvSpPr>
          <p:cNvPr id="7" name="TextBox 6">
            <a:extLst>
              <a:ext uri="{FF2B5EF4-FFF2-40B4-BE49-F238E27FC236}">
                <a16:creationId xmlns:a16="http://schemas.microsoft.com/office/drawing/2014/main" id="{F0C39802-A214-0524-89A8-1EFB6E48FEF7}"/>
              </a:ext>
            </a:extLst>
          </p:cNvPr>
          <p:cNvSpPr txBox="1"/>
          <p:nvPr/>
        </p:nvSpPr>
        <p:spPr>
          <a:xfrm>
            <a:off x="481312" y="1184223"/>
            <a:ext cx="10990252" cy="2030032"/>
          </a:xfrm>
          <a:prstGeom prst="rect">
            <a:avLst/>
          </a:prstGeom>
          <a:noFill/>
        </p:spPr>
        <p:txBody>
          <a:bodyPr wrap="square" lIns="0" tIns="0" rIns="0" bIns="0" rtlCol="0">
            <a:noAutofit/>
          </a:bodyPr>
          <a:lstStyle/>
          <a:p>
            <a:pPr algn="ctr">
              <a:lnSpc>
                <a:spcPct val="150000"/>
              </a:lnSpc>
            </a:pPr>
            <a:r>
              <a:rPr lang="en-AU" sz="4400"/>
              <a:t>Find </a:t>
            </a:r>
            <a:r>
              <a:rPr lang="en-AU" sz="4400" b="1"/>
              <a:t>2 buildings </a:t>
            </a:r>
            <a:r>
              <a:rPr lang="en-AU" sz="4400"/>
              <a:t>with the </a:t>
            </a:r>
            <a:r>
              <a:rPr lang="en-AU" sz="4400" b="1"/>
              <a:t>same perimeter.</a:t>
            </a:r>
          </a:p>
          <a:p>
            <a:pPr algn="ctr">
              <a:lnSpc>
                <a:spcPct val="150000"/>
              </a:lnSpc>
            </a:pPr>
            <a:r>
              <a:rPr lang="en-AU" sz="4400" b="1"/>
              <a:t>Explain </a:t>
            </a:r>
            <a:r>
              <a:rPr lang="en-AU" sz="4400"/>
              <a:t>your</a:t>
            </a:r>
            <a:r>
              <a:rPr lang="en-AU" sz="4400" b="1"/>
              <a:t> reasoning </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pic>
        <p:nvPicPr>
          <p:cNvPr id="12" name="Picture 11" descr="A grid paper showing examples of buildings students may include in a plan for a town development. For example, a shopping centre, bank, pool, police station.">
            <a:extLst>
              <a:ext uri="{FF2B5EF4-FFF2-40B4-BE49-F238E27FC236}">
                <a16:creationId xmlns:a16="http://schemas.microsoft.com/office/drawing/2014/main" id="{E1E9EB91-C752-1240-3D4B-43F3E9B1EC6D}"/>
              </a:ext>
            </a:extLst>
          </p:cNvPr>
          <p:cNvPicPr>
            <a:picLocks noChangeAspect="1"/>
          </p:cNvPicPr>
          <p:nvPr/>
        </p:nvPicPr>
        <p:blipFill>
          <a:blip r:embed="rId4"/>
          <a:srcRect l="17333" t="19239" r="17525" b="46868"/>
          <a:stretch>
            <a:fillRect/>
          </a:stretch>
        </p:blipFill>
        <p:spPr>
          <a:xfrm>
            <a:off x="1519849" y="3133493"/>
            <a:ext cx="9129739" cy="3562507"/>
          </a:xfrm>
          <a:prstGeom prst="rect">
            <a:avLst/>
          </a:prstGeom>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5" name="TextBox 4">
            <a:extLst>
              <a:ext uri="{FF2B5EF4-FFF2-40B4-BE49-F238E27FC236}">
                <a16:creationId xmlns:a16="http://schemas.microsoft.com/office/drawing/2014/main" id="{BBE8C40A-0393-AB25-3739-3C36534887D2}"/>
              </a:ext>
            </a:extLst>
          </p:cNvPr>
          <p:cNvSpPr txBox="1"/>
          <p:nvPr/>
        </p:nvSpPr>
        <p:spPr>
          <a:xfrm>
            <a:off x="83887" y="1830065"/>
            <a:ext cx="11760113" cy="370936"/>
          </a:xfrm>
          <a:prstGeom prst="rect">
            <a:avLst/>
          </a:prstGeom>
          <a:noFill/>
        </p:spPr>
        <p:txBody>
          <a:bodyPr wrap="square" lIns="0" tIns="0" rIns="0" bIns="0" rtlCol="0">
            <a:noAutofit/>
          </a:bodyPr>
          <a:lstStyle/>
          <a:p>
            <a:pPr algn="ctr">
              <a:lnSpc>
                <a:spcPct val="150000"/>
              </a:lnSpc>
            </a:pPr>
            <a:r>
              <a:rPr lang="en-AU" sz="4400">
                <a:latin typeface="Arial" panose="020B0604020202020204" pitchFamily="34" charset="0"/>
                <a:ea typeface="Calibri" panose="020F0502020204030204" pitchFamily="34" charset="0"/>
              </a:rPr>
              <a:t>Choose the most </a:t>
            </a:r>
            <a:r>
              <a:rPr lang="en-AU" sz="4400" b="1">
                <a:latin typeface="Arial" panose="020B0604020202020204" pitchFamily="34" charset="0"/>
                <a:ea typeface="Calibri" panose="020F0502020204030204" pitchFamily="34" charset="0"/>
              </a:rPr>
              <a:t>appropriate multiplicative strategy </a:t>
            </a:r>
            <a:r>
              <a:rPr lang="en-AU" sz="4400">
                <a:latin typeface="Arial" panose="020B0604020202020204" pitchFamily="34" charset="0"/>
                <a:ea typeface="Calibri" panose="020F0502020204030204" pitchFamily="34" charset="0"/>
              </a:rPr>
              <a:t>to solve:</a:t>
            </a:r>
          </a:p>
          <a:p>
            <a:pPr algn="ctr">
              <a:lnSpc>
                <a:spcPct val="150000"/>
              </a:lnSpc>
            </a:pPr>
            <a:r>
              <a:rPr lang="en-AU" sz="6000"/>
              <a:t>  </a:t>
            </a:r>
            <a:r>
              <a:rPr lang="en-AU" sz="5400">
                <a:solidFill>
                  <a:srgbClr val="146CFD"/>
                </a:solidFill>
              </a:rPr>
              <a:t>278 x 29</a:t>
            </a:r>
            <a:endParaRPr lang="en-AU" sz="6000">
              <a:solidFill>
                <a:srgbClr val="146CFD"/>
              </a:solidFill>
            </a:endParaRP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11" name="TextBox 10">
            <a:extLst>
              <a:ext uri="{FF2B5EF4-FFF2-40B4-BE49-F238E27FC236}">
                <a16:creationId xmlns:a16="http://schemas.microsoft.com/office/drawing/2014/main" id="{A48068FA-D1CC-E12F-5F5A-906322721CB8}"/>
              </a:ext>
            </a:extLst>
          </p:cNvPr>
          <p:cNvSpPr txBox="1"/>
          <p:nvPr/>
        </p:nvSpPr>
        <p:spPr>
          <a:xfrm>
            <a:off x="684715" y="916656"/>
            <a:ext cx="10822570" cy="679269"/>
          </a:xfrm>
          <a:prstGeom prst="rect">
            <a:avLst/>
          </a:prstGeom>
          <a:noFill/>
        </p:spPr>
        <p:txBody>
          <a:bodyPr wrap="square" lIns="0" tIns="0" rIns="0" bIns="0" rtlCol="0">
            <a:noAutofit/>
          </a:bodyPr>
          <a:lstStyle/>
          <a:p>
            <a:pPr algn="l">
              <a:lnSpc>
                <a:spcPct val="150000"/>
              </a:lnSpc>
            </a:pPr>
            <a:r>
              <a:rPr lang="en-AU" sz="4400"/>
              <a:t>Do these </a:t>
            </a:r>
            <a:r>
              <a:rPr lang="en-AU" sz="4400" b="1"/>
              <a:t>rectangles</a:t>
            </a:r>
            <a:r>
              <a:rPr lang="en-AU" sz="4400"/>
              <a:t> have the same </a:t>
            </a:r>
            <a:r>
              <a:rPr lang="en-AU" sz="4400" b="1"/>
              <a:t>area</a:t>
            </a:r>
            <a:r>
              <a:rPr lang="en-AU" sz="4400"/>
              <a:t>?</a:t>
            </a:r>
          </a:p>
          <a:p>
            <a:pPr algn="l"/>
            <a:endParaRPr lang="en-AU" sz="1800"/>
          </a:p>
          <a:p>
            <a:pPr algn="l"/>
            <a:endParaRPr lang="en-AU" sz="1800"/>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7" name="TextBox 6">
            <a:extLst>
              <a:ext uri="{FF2B5EF4-FFF2-40B4-BE49-F238E27FC236}">
                <a16:creationId xmlns:a16="http://schemas.microsoft.com/office/drawing/2014/main" id="{3C35F323-50E9-B9C7-72AB-2CFA41F8627C}"/>
              </a:ext>
            </a:extLst>
          </p:cNvPr>
          <p:cNvSpPr txBox="1"/>
          <p:nvPr/>
        </p:nvSpPr>
        <p:spPr>
          <a:xfrm>
            <a:off x="1898163" y="5713487"/>
            <a:ext cx="8724413" cy="982513"/>
          </a:xfrm>
          <a:prstGeom prst="rect">
            <a:avLst/>
          </a:prstGeom>
          <a:noFill/>
        </p:spPr>
        <p:txBody>
          <a:bodyPr wrap="square">
            <a:spAutoFit/>
          </a:bodyPr>
          <a:lstStyle/>
          <a:p>
            <a:pPr algn="ctr">
              <a:lnSpc>
                <a:spcPct val="150000"/>
              </a:lnSpc>
            </a:pPr>
            <a:r>
              <a:rPr lang="en-AU" sz="4400" b="1"/>
              <a:t>Communicate</a:t>
            </a:r>
            <a:r>
              <a:rPr lang="en-AU" sz="4400"/>
              <a:t> your </a:t>
            </a:r>
            <a:r>
              <a:rPr lang="en-AU" sz="4400" b="1"/>
              <a:t>reasoning.</a:t>
            </a:r>
          </a:p>
        </p:txBody>
      </p:sp>
      <p:pic>
        <p:nvPicPr>
          <p:cNvPr id="13" name="Picture 12" descr="Two rectangles on a grid overlay.">
            <a:extLst>
              <a:ext uri="{FF2B5EF4-FFF2-40B4-BE49-F238E27FC236}">
                <a16:creationId xmlns:a16="http://schemas.microsoft.com/office/drawing/2014/main" id="{440F39A2-3B6D-DFF0-0BB3-39977857A944}"/>
              </a:ext>
            </a:extLst>
          </p:cNvPr>
          <p:cNvPicPr>
            <a:picLocks noChangeAspect="1"/>
          </p:cNvPicPr>
          <p:nvPr/>
        </p:nvPicPr>
        <p:blipFill>
          <a:blip r:embed="rId4">
            <a:extLst>
              <a:ext uri="{28A0092B-C50C-407E-A947-70E740481C1C}">
                <a14:useLocalDpi xmlns:a14="http://schemas.microsoft.com/office/drawing/2010/main" val="0"/>
              </a:ext>
            </a:extLst>
          </a:blip>
          <a:srcRect l="20618" t="5837" r="18718" b="34806"/>
          <a:stretch>
            <a:fillRect/>
          </a:stretch>
        </p:blipFill>
        <p:spPr>
          <a:xfrm>
            <a:off x="3505199" y="1915152"/>
            <a:ext cx="5351813" cy="392742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reasonable estimations</a:t>
            </a:r>
          </a:p>
        </p:txBody>
      </p:sp>
      <p:sp>
        <p:nvSpPr>
          <p:cNvPr id="3" name="TextBox 2">
            <a:extLst>
              <a:ext uri="{FF2B5EF4-FFF2-40B4-BE49-F238E27FC236}">
                <a16:creationId xmlns:a16="http://schemas.microsoft.com/office/drawing/2014/main" id="{7E549734-D02A-4E03-418C-4B4D8CA7E028}"/>
              </a:ext>
            </a:extLst>
          </p:cNvPr>
          <p:cNvSpPr txBox="1"/>
          <p:nvPr/>
        </p:nvSpPr>
        <p:spPr>
          <a:xfrm>
            <a:off x="360000" y="959250"/>
            <a:ext cx="10764000" cy="2108200"/>
          </a:xfrm>
          <a:prstGeom prst="rect">
            <a:avLst/>
          </a:prstGeom>
          <a:noFill/>
        </p:spPr>
        <p:txBody>
          <a:bodyPr wrap="square" lIns="0" tIns="0" rIns="0" bIns="0" rtlCol="0">
            <a:noAutofit/>
          </a:bodyPr>
          <a:lstStyle/>
          <a:p>
            <a:pPr algn="l"/>
            <a:endParaRPr lang="en-AU" sz="1800"/>
          </a:p>
          <a:p>
            <a:pPr lvl="0" algn="ctr">
              <a:lnSpc>
                <a:spcPct val="150000"/>
              </a:lnSpc>
            </a:pPr>
            <a:r>
              <a:rPr lang="en-AU" sz="4400"/>
              <a:t>Can you create a two 4-digit numbers to find the total sum?</a:t>
            </a:r>
          </a:p>
          <a:p>
            <a:pPr algn="l"/>
            <a:endParaRPr lang="en-AU" sz="1800"/>
          </a:p>
          <a:p>
            <a:pPr algn="l">
              <a:lnSpc>
                <a:spcPct val="150000"/>
              </a:lnSpc>
            </a:pPr>
            <a:r>
              <a:rPr lang="en-AU" sz="3200" b="1"/>
              <a:t>Remember to:</a:t>
            </a:r>
          </a:p>
          <a:p>
            <a:pPr marL="285750" indent="-285750" algn="l">
              <a:lnSpc>
                <a:spcPct val="150000"/>
              </a:lnSpc>
              <a:buFont typeface="Arial" panose="020B0604020202020204" pitchFamily="34" charset="0"/>
              <a:buChar char="•"/>
            </a:pPr>
            <a:r>
              <a:rPr lang="en-AU" sz="3200"/>
              <a:t>Decide on a reasonable estimate.</a:t>
            </a:r>
          </a:p>
          <a:p>
            <a:pPr marL="285750" indent="-285750" algn="l">
              <a:lnSpc>
                <a:spcPct val="150000"/>
              </a:lnSpc>
              <a:buFont typeface="Arial" panose="020B0604020202020204" pitchFamily="34" charset="0"/>
              <a:buChar char="•"/>
            </a:pPr>
            <a:r>
              <a:rPr lang="en-AU" sz="3200"/>
              <a:t>Solve the problem using a selected strategy.</a:t>
            </a:r>
          </a:p>
          <a:p>
            <a:pPr marL="285750" indent="-285750" algn="l">
              <a:lnSpc>
                <a:spcPct val="150000"/>
              </a:lnSpc>
              <a:buFont typeface="Arial" panose="020B0604020202020204" pitchFamily="34" charset="0"/>
              <a:buChar char="•"/>
            </a:pPr>
            <a:r>
              <a:rPr lang="en-AU" sz="3200"/>
              <a:t>Discuss with your partner if your answer was accurate.</a:t>
            </a:r>
          </a:p>
          <a:p>
            <a:pPr marL="285750" indent="-285750" algn="l">
              <a:lnSpc>
                <a:spcPct val="150000"/>
              </a:lnSpc>
              <a:buFont typeface="Arial" panose="020B0604020202020204" pitchFamily="34" charset="0"/>
              <a:buChar char="•"/>
            </a:pPr>
            <a:endParaRPr lang="en-AU" sz="3200"/>
          </a:p>
          <a:p>
            <a:pPr marL="285750" indent="-285750" algn="l">
              <a:buFont typeface="Arial" panose="020B0604020202020204" pitchFamily="34" charset="0"/>
              <a:buChar char="•"/>
            </a:pPr>
            <a:endParaRPr lang="en-AU" sz="1800"/>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pic>
        <p:nvPicPr>
          <p:cNvPr id="7" name="Picture 6">
            <a:extLst>
              <a:ext uri="{FF2B5EF4-FFF2-40B4-BE49-F238E27FC236}">
                <a16:creationId xmlns:a16="http://schemas.microsoft.com/office/drawing/2014/main" id="{C27F9059-D8F5-019D-9CF9-126D6A12570D}"/>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l="41746" t="13988" r="3659" b="8458"/>
          <a:stretch>
            <a:fillRect/>
          </a:stretch>
        </p:blipFill>
        <p:spPr>
          <a:xfrm>
            <a:off x="8941227" y="2477925"/>
            <a:ext cx="2645722" cy="2657407"/>
          </a:xfrm>
          <a:prstGeom prst="rect">
            <a:avLst/>
          </a:prstGeom>
        </p:spPr>
      </p:pic>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564D6-9172-0D92-903A-8695DDD4FAE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040418A-3BB7-49BE-3D3A-0E550D45DE2F}"/>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sp>
        <p:nvSpPr>
          <p:cNvPr id="18" name="Text Placeholder 17">
            <a:extLst>
              <a:ext uri="{FF2B5EF4-FFF2-40B4-BE49-F238E27FC236}">
                <a16:creationId xmlns:a16="http://schemas.microsoft.com/office/drawing/2014/main" id="{BC9B245E-70E7-6187-9A27-972CCACF3622}"/>
              </a:ext>
            </a:extLst>
          </p:cNvPr>
          <p:cNvSpPr>
            <a:spLocks noGrp="1"/>
          </p:cNvSpPr>
          <p:nvPr>
            <p:ph type="body" sz="quarter" idx="24"/>
          </p:nvPr>
        </p:nvSpPr>
        <p:spPr>
          <a:xfrm>
            <a:off x="316170" y="1075982"/>
            <a:ext cx="5877694" cy="893226"/>
          </a:xfrm>
        </p:spPr>
        <p:txBody>
          <a:bodyPr/>
          <a:lstStyle/>
          <a:p>
            <a:r>
              <a:rPr lang="en-AU" sz="4000"/>
              <a:t>Which</a:t>
            </a:r>
            <a:r>
              <a:rPr lang="en-AU" sz="4000" b="1"/>
              <a:t> 2-digit by 2-digit</a:t>
            </a:r>
            <a:r>
              <a:rPr lang="en-AU" sz="4000"/>
              <a:t> multiplication problem </a:t>
            </a:r>
            <a:r>
              <a:rPr lang="en-AU" sz="4000" b="1"/>
              <a:t>matches</a:t>
            </a:r>
            <a:r>
              <a:rPr lang="en-AU" sz="4000"/>
              <a:t> the </a:t>
            </a:r>
            <a:r>
              <a:rPr lang="en-AU" sz="4000" b="1"/>
              <a:t>area model</a:t>
            </a:r>
            <a:r>
              <a:rPr lang="en-AU" sz="4000"/>
              <a:t>?</a:t>
            </a:r>
            <a:endParaRPr lang="en-US" sz="4000"/>
          </a:p>
        </p:txBody>
      </p:sp>
      <p:pic>
        <p:nvPicPr>
          <p:cNvPr id="5" name="Picture 4" descr="Area model for 27 x 68&#10;&#10;The numbers have been partitioned to 20, 7, 60, 8.&#10;&#10;The partial products are: 20 x 60 =1200&#10;20 x 8 = 160&#10;7 x 60 = 420&#10;7 x 8 = 56&#10;&#10;1200 + 420 + 160 + 56 = 1836">
            <a:extLst>
              <a:ext uri="{FF2B5EF4-FFF2-40B4-BE49-F238E27FC236}">
                <a16:creationId xmlns:a16="http://schemas.microsoft.com/office/drawing/2014/main" id="{ADD5D97A-8288-C66B-F472-E977913719EB}"/>
              </a:ext>
            </a:extLst>
          </p:cNvPr>
          <p:cNvPicPr>
            <a:picLocks noChangeAspect="1"/>
          </p:cNvPicPr>
          <p:nvPr/>
        </p:nvPicPr>
        <p:blipFill>
          <a:blip r:embed="rId3"/>
          <a:stretch>
            <a:fillRect/>
          </a:stretch>
        </p:blipFill>
        <p:spPr>
          <a:xfrm>
            <a:off x="6193864" y="1326353"/>
            <a:ext cx="5779830" cy="3393082"/>
          </a:xfrm>
          <a:prstGeom prst="rect">
            <a:avLst/>
          </a:prstGeom>
        </p:spPr>
      </p:pic>
      <p:sp>
        <p:nvSpPr>
          <p:cNvPr id="9" name="TextBox 8">
            <a:extLst>
              <a:ext uri="{FF2B5EF4-FFF2-40B4-BE49-F238E27FC236}">
                <a16:creationId xmlns:a16="http://schemas.microsoft.com/office/drawing/2014/main" id="{AF2527CC-5C31-FC1F-45C4-616A7E1779F9}"/>
              </a:ext>
            </a:extLst>
          </p:cNvPr>
          <p:cNvSpPr txBox="1"/>
          <p:nvPr/>
        </p:nvSpPr>
        <p:spPr>
          <a:xfrm>
            <a:off x="1215766" y="515194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6" name="TextBox 5">
            <a:extLst>
              <a:ext uri="{FF2B5EF4-FFF2-40B4-BE49-F238E27FC236}">
                <a16:creationId xmlns:a16="http://schemas.microsoft.com/office/drawing/2014/main" id="{502A9C1E-80D5-2DAD-180C-80DDC6BD1711}"/>
              </a:ext>
            </a:extLst>
          </p:cNvPr>
          <p:cNvSpPr txBox="1"/>
          <p:nvPr/>
        </p:nvSpPr>
        <p:spPr>
          <a:xfrm>
            <a:off x="646283" y="6051387"/>
            <a:ext cx="1846241" cy="893226"/>
          </a:xfrm>
          <a:prstGeom prst="rect">
            <a:avLst/>
          </a:prstGeom>
          <a:noFill/>
        </p:spPr>
        <p:txBody>
          <a:bodyPr wrap="square" lIns="0" tIns="0" rIns="0" bIns="0" rtlCol="0">
            <a:noAutofit/>
          </a:bodyPr>
          <a:lstStyle/>
          <a:p>
            <a:pPr algn="l"/>
            <a:r>
              <a:rPr lang="en-AU" sz="4400"/>
              <a:t>27 x 68</a:t>
            </a:r>
          </a:p>
        </p:txBody>
      </p:sp>
      <p:sp>
        <p:nvSpPr>
          <p:cNvPr id="10" name="TextBox 9">
            <a:extLst>
              <a:ext uri="{FF2B5EF4-FFF2-40B4-BE49-F238E27FC236}">
                <a16:creationId xmlns:a16="http://schemas.microsoft.com/office/drawing/2014/main" id="{72A4F337-641E-CB16-D765-23BE27AEC854}"/>
              </a:ext>
            </a:extLst>
          </p:cNvPr>
          <p:cNvSpPr txBox="1"/>
          <p:nvPr/>
        </p:nvSpPr>
        <p:spPr>
          <a:xfrm>
            <a:off x="4219739" y="515194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8" name="TextBox 7">
            <a:extLst>
              <a:ext uri="{FF2B5EF4-FFF2-40B4-BE49-F238E27FC236}">
                <a16:creationId xmlns:a16="http://schemas.microsoft.com/office/drawing/2014/main" id="{EF550B4D-2832-A6E9-6B7B-259224CA1F41}"/>
              </a:ext>
            </a:extLst>
          </p:cNvPr>
          <p:cNvSpPr txBox="1"/>
          <p:nvPr/>
        </p:nvSpPr>
        <p:spPr>
          <a:xfrm>
            <a:off x="3357203" y="5953424"/>
            <a:ext cx="2410229" cy="769441"/>
          </a:xfrm>
          <a:prstGeom prst="rect">
            <a:avLst/>
          </a:prstGeom>
          <a:noFill/>
        </p:spPr>
        <p:txBody>
          <a:bodyPr wrap="square">
            <a:spAutoFit/>
          </a:bodyPr>
          <a:lstStyle/>
          <a:p>
            <a:pPr algn="l"/>
            <a:r>
              <a:rPr lang="en-AU" sz="4400"/>
              <a:t>80 x 15</a:t>
            </a:r>
          </a:p>
        </p:txBody>
      </p:sp>
      <p:sp>
        <p:nvSpPr>
          <p:cNvPr id="12" name="TextBox 11">
            <a:extLst>
              <a:ext uri="{FF2B5EF4-FFF2-40B4-BE49-F238E27FC236}">
                <a16:creationId xmlns:a16="http://schemas.microsoft.com/office/drawing/2014/main" id="{FF698BEE-FC52-32E3-4057-54DFFB7F014C}"/>
              </a:ext>
            </a:extLst>
          </p:cNvPr>
          <p:cNvSpPr txBox="1"/>
          <p:nvPr/>
        </p:nvSpPr>
        <p:spPr>
          <a:xfrm>
            <a:off x="7223712" y="515194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4" name="TextBox 13">
            <a:extLst>
              <a:ext uri="{FF2B5EF4-FFF2-40B4-BE49-F238E27FC236}">
                <a16:creationId xmlns:a16="http://schemas.microsoft.com/office/drawing/2014/main" id="{C794FC63-6DF1-2E68-1977-3D10B17920A5}"/>
              </a:ext>
            </a:extLst>
          </p:cNvPr>
          <p:cNvSpPr txBox="1"/>
          <p:nvPr/>
        </p:nvSpPr>
        <p:spPr>
          <a:xfrm>
            <a:off x="6424569" y="5953424"/>
            <a:ext cx="2127713" cy="769441"/>
          </a:xfrm>
          <a:prstGeom prst="rect">
            <a:avLst/>
          </a:prstGeom>
          <a:noFill/>
        </p:spPr>
        <p:txBody>
          <a:bodyPr wrap="square">
            <a:spAutoFit/>
          </a:bodyPr>
          <a:lstStyle/>
          <a:p>
            <a:pPr algn="l"/>
            <a:r>
              <a:rPr lang="en-AU" sz="4400"/>
              <a:t>27 x 86</a:t>
            </a:r>
          </a:p>
        </p:txBody>
      </p:sp>
      <p:sp>
        <p:nvSpPr>
          <p:cNvPr id="11" name="TextBox 10">
            <a:extLst>
              <a:ext uri="{FF2B5EF4-FFF2-40B4-BE49-F238E27FC236}">
                <a16:creationId xmlns:a16="http://schemas.microsoft.com/office/drawing/2014/main" id="{379101D1-EE68-6A1A-7577-01CA7D680A9E}"/>
              </a:ext>
            </a:extLst>
          </p:cNvPr>
          <p:cNvSpPr txBox="1"/>
          <p:nvPr/>
        </p:nvSpPr>
        <p:spPr>
          <a:xfrm>
            <a:off x="10227686" y="515194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6" name="TextBox 15">
            <a:extLst>
              <a:ext uri="{FF2B5EF4-FFF2-40B4-BE49-F238E27FC236}">
                <a16:creationId xmlns:a16="http://schemas.microsoft.com/office/drawing/2014/main" id="{C70CF6DA-A4B1-292B-FBE4-D42B815DDAAF}"/>
              </a:ext>
            </a:extLst>
          </p:cNvPr>
          <p:cNvSpPr txBox="1"/>
          <p:nvPr/>
        </p:nvSpPr>
        <p:spPr>
          <a:xfrm>
            <a:off x="9245153" y="5908585"/>
            <a:ext cx="2410229" cy="769441"/>
          </a:xfrm>
          <a:prstGeom prst="rect">
            <a:avLst/>
          </a:prstGeom>
          <a:noFill/>
        </p:spPr>
        <p:txBody>
          <a:bodyPr wrap="square">
            <a:spAutoFit/>
          </a:bodyPr>
          <a:lstStyle/>
          <a:p>
            <a:pPr algn="l"/>
            <a:r>
              <a:rPr lang="en-AU" sz="4400"/>
              <a:t>68 x 20</a:t>
            </a:r>
          </a:p>
        </p:txBody>
      </p:sp>
      <p:pic>
        <p:nvPicPr>
          <p:cNvPr id="4" name="Picture 3">
            <a:extLst>
              <a:ext uri="{FF2B5EF4-FFF2-40B4-BE49-F238E27FC236}">
                <a16:creationId xmlns:a16="http://schemas.microsoft.com/office/drawing/2014/main" id="{06E5320E-FB74-5C5A-0200-ED7C4C0E1FC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7688853-58DE-8B11-0529-C54D4827C61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230676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5" name="TextBox 4">
            <a:extLst>
              <a:ext uri="{FF2B5EF4-FFF2-40B4-BE49-F238E27FC236}">
                <a16:creationId xmlns:a16="http://schemas.microsoft.com/office/drawing/2014/main" id="{00302C2D-3527-4704-A06C-022F7C181246}"/>
              </a:ext>
            </a:extLst>
          </p:cNvPr>
          <p:cNvSpPr txBox="1"/>
          <p:nvPr/>
        </p:nvSpPr>
        <p:spPr>
          <a:xfrm>
            <a:off x="246024" y="1006800"/>
            <a:ext cx="11357408" cy="5509200"/>
          </a:xfrm>
          <a:prstGeom prst="rect">
            <a:avLst/>
          </a:prstGeom>
          <a:noFill/>
        </p:spPr>
        <p:txBody>
          <a:bodyPr wrap="square">
            <a:spAutoFit/>
          </a:bodyPr>
          <a:lstStyle/>
          <a:p>
            <a:pPr algn="ctr">
              <a:lnSpc>
                <a:spcPct val="150000"/>
              </a:lnSpc>
            </a:pPr>
            <a:r>
              <a:rPr lang="en-AU" sz="4400">
                <a:solidFill>
                  <a:schemeClr val="accent2"/>
                </a:solidFill>
                <a:latin typeface="Arial" panose="020B0604020202020204" pitchFamily="34" charset="0"/>
                <a:ea typeface="Calibri" panose="020F0502020204030204" pitchFamily="34" charset="0"/>
              </a:rPr>
              <a:t>4988 + 955 = 4990 + 953 = 5000 + 943</a:t>
            </a:r>
          </a:p>
          <a:p>
            <a:pPr algn="ctr">
              <a:lnSpc>
                <a:spcPct val="150000"/>
              </a:lnSpc>
            </a:pPr>
            <a:r>
              <a:rPr lang="en-AU" sz="4400">
                <a:latin typeface="Arial" panose="020B0604020202020204" pitchFamily="34" charset="0"/>
                <a:ea typeface="Calibri" panose="020F0502020204030204" pitchFamily="34" charset="0"/>
              </a:rPr>
              <a:t>Which strategy has been used to calculate the answer? </a:t>
            </a:r>
            <a:r>
              <a:rPr lang="en-AU" sz="4400" b="1">
                <a:latin typeface="Arial" panose="020B0604020202020204" pitchFamily="34" charset="0"/>
                <a:ea typeface="Calibri" panose="020F0502020204030204" pitchFamily="34" charset="0"/>
              </a:rPr>
              <a:t>Constant difference, bridging, levelling or addition for subtraction</a:t>
            </a:r>
            <a:r>
              <a:rPr lang="en-AU" sz="4400">
                <a:latin typeface="Arial" panose="020B0604020202020204" pitchFamily="34" charset="0"/>
                <a:ea typeface="Calibri" panose="020F0502020204030204" pitchFamily="34" charset="0"/>
              </a:rPr>
              <a:t>?</a:t>
            </a:r>
          </a:p>
          <a:p>
            <a:endParaRPr lang="en-AU" sz="4400">
              <a:latin typeface="Arial" panose="020B0604020202020204" pitchFamily="34" charset="0"/>
              <a:ea typeface="Calibri" panose="020F0502020204030204" pitchFamily="34" charset="0"/>
            </a:endParaRPr>
          </a:p>
          <a:p>
            <a:pPr algn="ctr"/>
            <a:r>
              <a:rPr lang="en-AU" sz="4400" b="1">
                <a:latin typeface="Arial" panose="020B0604020202020204" pitchFamily="34" charset="0"/>
                <a:ea typeface="Calibri" panose="020F0502020204030204" pitchFamily="34" charset="0"/>
              </a:rPr>
              <a:t>Communicate</a:t>
            </a:r>
            <a:r>
              <a:rPr lang="en-AU" sz="4400">
                <a:latin typeface="Arial" panose="020B0604020202020204" pitchFamily="34" charset="0"/>
                <a:ea typeface="Calibri" panose="020F0502020204030204" pitchFamily="34" charset="0"/>
              </a:rPr>
              <a:t> your </a:t>
            </a:r>
            <a:r>
              <a:rPr lang="en-AU" sz="4400" b="1">
                <a:latin typeface="Arial" panose="020B0604020202020204" pitchFamily="34" charset="0"/>
                <a:ea typeface="Calibri" panose="020F0502020204030204" pitchFamily="34" charset="0"/>
              </a:rPr>
              <a:t>reasoning.</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97171" y="453672"/>
            <a:ext cx="10367268" cy="545601"/>
          </a:xfrm>
        </p:spPr>
        <p:txBody>
          <a:bodyPr/>
          <a:lstStyle/>
          <a:p>
            <a:r>
              <a:rPr lang="en-AU"/>
              <a:t>Short response </a:t>
            </a:r>
            <a:r>
              <a:rPr lang="en-AU">
                <a:solidFill>
                  <a:schemeClr val="bg1"/>
                </a:solidFill>
              </a:rPr>
              <a:t>(18)</a:t>
            </a:r>
          </a:p>
        </p:txBody>
      </p:sp>
      <p:sp>
        <p:nvSpPr>
          <p:cNvPr id="4" name="TextBox 3">
            <a:extLst>
              <a:ext uri="{FF2B5EF4-FFF2-40B4-BE49-F238E27FC236}">
                <a16:creationId xmlns:a16="http://schemas.microsoft.com/office/drawing/2014/main" id="{188F9CA9-1AA8-5A19-E5BE-33F3FB5FCF77}"/>
              </a:ext>
            </a:extLst>
          </p:cNvPr>
          <p:cNvSpPr txBox="1"/>
          <p:nvPr/>
        </p:nvSpPr>
        <p:spPr>
          <a:xfrm>
            <a:off x="200784" y="1957039"/>
            <a:ext cx="11139764" cy="2943922"/>
          </a:xfrm>
          <a:prstGeom prst="rect">
            <a:avLst/>
          </a:prstGeom>
          <a:noFill/>
        </p:spPr>
        <p:txBody>
          <a:bodyPr wrap="square" lIns="0" tIns="0" rIns="0" bIns="0" rtlCol="0">
            <a:noAutofit/>
          </a:bodyPr>
          <a:lstStyle/>
          <a:p>
            <a:pPr algn="ctr">
              <a:lnSpc>
                <a:spcPct val="150000"/>
              </a:lnSpc>
            </a:pPr>
            <a:r>
              <a:rPr lang="en-AU" sz="4400" b="1"/>
              <a:t>3.75kg</a:t>
            </a:r>
            <a:r>
              <a:rPr lang="en-AU" sz="4400"/>
              <a:t> is the </a:t>
            </a:r>
            <a:r>
              <a:rPr lang="en-AU" sz="4400" b="1"/>
              <a:t>same</a:t>
            </a:r>
            <a:r>
              <a:rPr lang="en-AU" sz="4400"/>
              <a:t> as</a:t>
            </a:r>
          </a:p>
          <a:p>
            <a:pPr algn="ctr">
              <a:lnSpc>
                <a:spcPct val="150000"/>
              </a:lnSpc>
            </a:pPr>
            <a:r>
              <a:rPr lang="en-AU" sz="4400"/>
              <a:t> ____ </a:t>
            </a:r>
            <a:r>
              <a:rPr lang="en-AU" sz="4400" b="1"/>
              <a:t>kilograms</a:t>
            </a:r>
            <a:r>
              <a:rPr lang="en-AU" sz="4400"/>
              <a:t> and ____ </a:t>
            </a:r>
            <a:r>
              <a:rPr lang="en-AU" sz="4400" b="1"/>
              <a:t>grams.</a:t>
            </a:r>
            <a:endParaRPr lang="en-AU" sz="1800" b="1"/>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sp>
        <p:nvSpPr>
          <p:cNvPr id="5" name="TextBox 4">
            <a:extLst>
              <a:ext uri="{FF2B5EF4-FFF2-40B4-BE49-F238E27FC236}">
                <a16:creationId xmlns:a16="http://schemas.microsoft.com/office/drawing/2014/main" id="{1091D41B-5E42-9670-A1BA-89AAD41608D6}"/>
              </a:ext>
            </a:extLst>
          </p:cNvPr>
          <p:cNvSpPr txBox="1"/>
          <p:nvPr/>
        </p:nvSpPr>
        <p:spPr>
          <a:xfrm>
            <a:off x="1344883" y="2231082"/>
            <a:ext cx="8791893" cy="1717287"/>
          </a:xfrm>
          <a:prstGeom prst="rect">
            <a:avLst/>
          </a:prstGeom>
          <a:noFill/>
        </p:spPr>
        <p:txBody>
          <a:bodyPr wrap="square" lIns="0" tIns="0" rIns="0" bIns="0" rtlCol="0">
            <a:noAutofit/>
          </a:bodyPr>
          <a:lstStyle/>
          <a:p>
            <a:pPr algn="ctr"/>
            <a:r>
              <a:rPr lang="en-AU" sz="4400"/>
              <a:t>Use a </a:t>
            </a:r>
            <a:r>
              <a:rPr lang="en-AU" sz="4400" b="1"/>
              <a:t>formal algorithm </a:t>
            </a:r>
            <a:r>
              <a:rPr lang="en-AU" sz="4400"/>
              <a:t>to solve: </a:t>
            </a:r>
          </a:p>
          <a:p>
            <a:pPr algn="ctr"/>
            <a:endParaRPr lang="en-AU" sz="4400"/>
          </a:p>
          <a:p>
            <a:pPr algn="ctr"/>
            <a:r>
              <a:rPr lang="en-AU" sz="5400">
                <a:solidFill>
                  <a:srgbClr val="146CFD"/>
                </a:solidFill>
              </a:rPr>
              <a:t>53 x 29</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4" name="TextBox 3">
            <a:extLst>
              <a:ext uri="{FF2B5EF4-FFF2-40B4-BE49-F238E27FC236}">
                <a16:creationId xmlns:a16="http://schemas.microsoft.com/office/drawing/2014/main" id="{FB5CDA3D-CE06-6199-D515-3CC8957A893A}"/>
              </a:ext>
            </a:extLst>
          </p:cNvPr>
          <p:cNvSpPr txBox="1"/>
          <p:nvPr/>
        </p:nvSpPr>
        <p:spPr>
          <a:xfrm>
            <a:off x="553529" y="1126755"/>
            <a:ext cx="11084942" cy="1254035"/>
          </a:xfrm>
          <a:prstGeom prst="rect">
            <a:avLst/>
          </a:prstGeom>
          <a:noFill/>
        </p:spPr>
        <p:txBody>
          <a:bodyPr wrap="square" lIns="0" tIns="0" rIns="0" bIns="0" rtlCol="0">
            <a:noAutofit/>
          </a:bodyPr>
          <a:lstStyle/>
          <a:p>
            <a:pPr algn="ctr">
              <a:lnSpc>
                <a:spcPct val="150000"/>
              </a:lnSpc>
            </a:pPr>
            <a:r>
              <a:rPr lang="en-AU" sz="4400"/>
              <a:t>Compare the </a:t>
            </a:r>
            <a:r>
              <a:rPr lang="en-AU" sz="4400" b="1"/>
              <a:t>properties</a:t>
            </a:r>
            <a:r>
              <a:rPr lang="en-AU" sz="4400"/>
              <a:t> of these </a:t>
            </a:r>
          </a:p>
          <a:p>
            <a:pPr algn="ctr">
              <a:lnSpc>
                <a:spcPct val="150000"/>
              </a:lnSpc>
            </a:pPr>
            <a:r>
              <a:rPr lang="en-AU" sz="4400" b="1"/>
              <a:t>three-dimensional objects.</a:t>
            </a:r>
          </a:p>
          <a:p>
            <a:pPr algn="l">
              <a:lnSpc>
                <a:spcPct val="150000"/>
              </a:lnSpc>
            </a:pPr>
            <a:endParaRPr lang="en-AU" sz="1800"/>
          </a:p>
          <a:p>
            <a:pPr algn="l"/>
            <a:endParaRPr lang="en-AU" sz="1800"/>
          </a:p>
          <a:p>
            <a:pPr algn="l"/>
            <a:endParaRPr lang="en-AU" sz="1800"/>
          </a:p>
        </p:txBody>
      </p:sp>
      <p:pic>
        <p:nvPicPr>
          <p:cNvPr id="7" name="Picture 6" descr="An image of a rectangular prism and a square pyramid.">
            <a:extLst>
              <a:ext uri="{FF2B5EF4-FFF2-40B4-BE49-F238E27FC236}">
                <a16:creationId xmlns:a16="http://schemas.microsoft.com/office/drawing/2014/main" id="{71033DE8-F6C5-C8B7-65C4-FCBC973BC353}"/>
              </a:ext>
            </a:extLst>
          </p:cNvPr>
          <p:cNvPicPr>
            <a:picLocks noChangeAspect="1"/>
          </p:cNvPicPr>
          <p:nvPr/>
        </p:nvPicPr>
        <p:blipFill>
          <a:blip r:embed="rId3"/>
          <a:srcRect l="5843" t="5598" b="12148"/>
          <a:stretch>
            <a:fillRect/>
          </a:stretch>
        </p:blipFill>
        <p:spPr>
          <a:xfrm>
            <a:off x="2649508" y="3238822"/>
            <a:ext cx="6892984" cy="3069000"/>
          </a:xfrm>
          <a:prstGeom prst="rect">
            <a:avLst/>
          </a:prstGeom>
        </p:spPr>
      </p:pic>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find the area</a:t>
            </a:r>
          </a:p>
        </p:txBody>
      </p:sp>
      <p:sp>
        <p:nvSpPr>
          <p:cNvPr id="5" name="TextBox 4">
            <a:extLst>
              <a:ext uri="{FF2B5EF4-FFF2-40B4-BE49-F238E27FC236}">
                <a16:creationId xmlns:a16="http://schemas.microsoft.com/office/drawing/2014/main" id="{524A35FD-D51D-F993-9539-F52370BECEA2}"/>
              </a:ext>
            </a:extLst>
          </p:cNvPr>
          <p:cNvSpPr txBox="1"/>
          <p:nvPr/>
        </p:nvSpPr>
        <p:spPr>
          <a:xfrm>
            <a:off x="649356" y="906418"/>
            <a:ext cx="10693400" cy="3313664"/>
          </a:xfrm>
          <a:prstGeom prst="rect">
            <a:avLst/>
          </a:prstGeom>
          <a:noFill/>
        </p:spPr>
        <p:txBody>
          <a:bodyPr wrap="square">
            <a:spAutoFit/>
          </a:bodyPr>
          <a:lstStyle/>
          <a:p>
            <a:pPr lvl="0" algn="ctr">
              <a:lnSpc>
                <a:spcPct val="150000"/>
              </a:lnSpc>
              <a:spcBef>
                <a:spcPts val="1200"/>
              </a:spcBef>
              <a:spcAft>
                <a:spcPts val="600"/>
              </a:spcAft>
            </a:pPr>
            <a:r>
              <a:rPr lang="en-AU" sz="3600">
                <a:effectLst/>
                <a:latin typeface="Arial" panose="020B0604020202020204" pitchFamily="34" charset="0"/>
                <a:ea typeface="Calibri" panose="020F0502020204030204" pitchFamily="34" charset="0"/>
              </a:rPr>
              <a:t>A new section of artificial turf is being added to the local soccer club’s field. The area is 47 metres long and 23 metres wide. How much turf will the club need to order? </a:t>
            </a:r>
          </a:p>
        </p:txBody>
      </p:sp>
      <p:pic>
        <p:nvPicPr>
          <p:cNvPr id="7" name="Picture 6" descr="A rectangle showing the area of turf labelled 47 length and 23 height.">
            <a:extLst>
              <a:ext uri="{FF2B5EF4-FFF2-40B4-BE49-F238E27FC236}">
                <a16:creationId xmlns:a16="http://schemas.microsoft.com/office/drawing/2014/main" id="{9787977B-263E-7FB7-38C3-494011BDD42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64581" y="4402550"/>
            <a:ext cx="3862838" cy="2203450"/>
          </a:xfrm>
          <a:prstGeom prst="rect">
            <a:avLst/>
          </a:prstGeom>
          <a:noFill/>
          <a:ln>
            <a:noFill/>
          </a:ln>
        </p:spPr>
      </p:pic>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474481" y="1415457"/>
            <a:ext cx="11243037" cy="893226"/>
          </a:xfrm>
        </p:spPr>
        <p:txBody>
          <a:bodyPr/>
          <a:lstStyle/>
          <a:p>
            <a:pPr algn="ctr"/>
            <a:r>
              <a:rPr lang="en-AU" sz="4400"/>
              <a:t>To solve 4 x 18 mentally, you can </a:t>
            </a:r>
            <a:r>
              <a:rPr lang="en-AU" sz="4400" b="1"/>
              <a:t>factorise</a:t>
            </a:r>
            <a:r>
              <a:rPr lang="en-AU" sz="4400"/>
              <a:t> 18 into 2 x 9.</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2356573343"/>
              </p:ext>
            </p:extLst>
          </p:nvPr>
        </p:nvGraphicFramePr>
        <p:xfrm>
          <a:off x="2442981" y="445655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7" name="TextBox 6">
            <a:extLst>
              <a:ext uri="{FF2B5EF4-FFF2-40B4-BE49-F238E27FC236}">
                <a16:creationId xmlns:a16="http://schemas.microsoft.com/office/drawing/2014/main" id="{73E2FEC9-21A4-1F47-273E-2D6A834138E8}"/>
              </a:ext>
            </a:extLst>
          </p:cNvPr>
          <p:cNvSpPr txBox="1"/>
          <p:nvPr/>
        </p:nvSpPr>
        <p:spPr>
          <a:xfrm>
            <a:off x="2266121" y="5746559"/>
            <a:ext cx="8216348" cy="769441"/>
          </a:xfrm>
          <a:prstGeom prst="rect">
            <a:avLst/>
          </a:prstGeom>
          <a:noFill/>
        </p:spPr>
        <p:txBody>
          <a:bodyPr wrap="square">
            <a:spAutoFit/>
          </a:bodyPr>
          <a:lstStyle/>
          <a:p>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5" name="TextBox 4">
            <a:extLst>
              <a:ext uri="{FF2B5EF4-FFF2-40B4-BE49-F238E27FC236}">
                <a16:creationId xmlns:a16="http://schemas.microsoft.com/office/drawing/2014/main" id="{B510EF7A-2759-E0F1-DE0B-9CE986F86139}"/>
              </a:ext>
            </a:extLst>
          </p:cNvPr>
          <p:cNvSpPr txBox="1"/>
          <p:nvPr/>
        </p:nvSpPr>
        <p:spPr>
          <a:xfrm>
            <a:off x="1375193" y="1744388"/>
            <a:ext cx="9441613" cy="2277547"/>
          </a:xfrm>
          <a:prstGeom prst="rect">
            <a:avLst/>
          </a:prstGeom>
          <a:noFill/>
        </p:spPr>
        <p:txBody>
          <a:bodyPr wrap="square">
            <a:spAutoFit/>
          </a:bodyPr>
          <a:lstStyle/>
          <a:p>
            <a:r>
              <a:rPr lang="en-AU" sz="4400">
                <a:effectLst/>
                <a:latin typeface="Arial" panose="020B0604020202020204" pitchFamily="34" charset="0"/>
                <a:ea typeface="Calibri" panose="020F0502020204030204" pitchFamily="34" charset="0"/>
              </a:rPr>
              <a:t>Record a </a:t>
            </a:r>
            <a:r>
              <a:rPr lang="en-AU" sz="4400" b="1">
                <a:effectLst/>
                <a:latin typeface="Arial" panose="020B0604020202020204" pitchFamily="34" charset="0"/>
                <a:ea typeface="Calibri" panose="020F0502020204030204" pitchFamily="34" charset="0"/>
              </a:rPr>
              <a:t>formal algorithm </a:t>
            </a:r>
            <a:r>
              <a:rPr lang="en-AU" sz="4400">
                <a:effectLst/>
                <a:latin typeface="Arial" panose="020B0604020202020204" pitchFamily="34" charset="0"/>
                <a:ea typeface="Calibri" panose="020F0502020204030204" pitchFamily="34" charset="0"/>
              </a:rPr>
              <a:t>to </a:t>
            </a:r>
            <a:r>
              <a:rPr lang="en-AU" sz="4400" b="1">
                <a:effectLst/>
                <a:latin typeface="Arial" panose="020B0604020202020204" pitchFamily="34" charset="0"/>
                <a:ea typeface="Calibri" panose="020F0502020204030204" pitchFamily="34" charset="0"/>
              </a:rPr>
              <a:t>solve</a:t>
            </a:r>
            <a:r>
              <a:rPr lang="en-AU" sz="4400">
                <a:effectLst/>
                <a:latin typeface="Arial" panose="020B0604020202020204" pitchFamily="34" charset="0"/>
                <a:ea typeface="Calibri" panose="020F0502020204030204" pitchFamily="34" charset="0"/>
              </a:rPr>
              <a:t>:</a:t>
            </a:r>
          </a:p>
          <a:p>
            <a:endParaRPr lang="en-AU" sz="4400">
              <a:effectLst/>
              <a:latin typeface="Arial" panose="020B0604020202020204" pitchFamily="34" charset="0"/>
              <a:ea typeface="Calibri" panose="020F0502020204030204" pitchFamily="34" charset="0"/>
            </a:endParaRPr>
          </a:p>
          <a:p>
            <a:pPr algn="ctr"/>
            <a:r>
              <a:rPr lang="en-AU" sz="5400">
                <a:solidFill>
                  <a:schemeClr val="accent2"/>
                </a:solidFill>
                <a:effectLst/>
                <a:latin typeface="Arial" panose="020B0604020202020204" pitchFamily="34" charset="0"/>
                <a:ea typeface="Calibri" panose="020F0502020204030204" pitchFamily="34" charset="0"/>
              </a:rPr>
              <a:t>5367 + 880 + 14 </a:t>
            </a:r>
            <a:endParaRPr lang="en-AU" sz="5400">
              <a:solidFill>
                <a:schemeClr val="accent2"/>
              </a:solidFill>
            </a:endParaRP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4" name="TextBox 3">
            <a:extLst>
              <a:ext uri="{FF2B5EF4-FFF2-40B4-BE49-F238E27FC236}">
                <a16:creationId xmlns:a16="http://schemas.microsoft.com/office/drawing/2014/main" id="{26E32322-A5B9-FA1B-B351-9D247A29F620}"/>
              </a:ext>
            </a:extLst>
          </p:cNvPr>
          <p:cNvSpPr txBox="1"/>
          <p:nvPr/>
        </p:nvSpPr>
        <p:spPr>
          <a:xfrm>
            <a:off x="1324255" y="1497490"/>
            <a:ext cx="9062225" cy="2274849"/>
          </a:xfrm>
          <a:prstGeom prst="rect">
            <a:avLst/>
          </a:prstGeom>
          <a:noFill/>
        </p:spPr>
        <p:txBody>
          <a:bodyPr wrap="square" lIns="0" tIns="0" rIns="0" bIns="0" rtlCol="0">
            <a:noAutofit/>
          </a:bodyPr>
          <a:lstStyle/>
          <a:p>
            <a:pPr algn="ctr">
              <a:lnSpc>
                <a:spcPct val="150000"/>
              </a:lnSpc>
              <a:spcBef>
                <a:spcPts val="1200"/>
              </a:spcBef>
              <a:spcAft>
                <a:spcPts val="1200"/>
              </a:spcAft>
            </a:pPr>
            <a:r>
              <a:rPr lang="en-AU" sz="4400" b="1"/>
              <a:t>Convert: </a:t>
            </a:r>
          </a:p>
          <a:p>
            <a:pPr marL="742950" indent="-742950" algn="ctr">
              <a:lnSpc>
                <a:spcPct val="150000"/>
              </a:lnSpc>
              <a:spcBef>
                <a:spcPts val="1200"/>
              </a:spcBef>
              <a:spcAft>
                <a:spcPts val="1200"/>
              </a:spcAft>
              <a:buFont typeface="+mj-lt"/>
              <a:buAutoNum type="alphaLcParenR"/>
            </a:pPr>
            <a:r>
              <a:rPr lang="en-AU" sz="4400" b="1"/>
              <a:t>7.5 kg </a:t>
            </a:r>
            <a:r>
              <a:rPr lang="en-AU" sz="4400"/>
              <a:t>into </a:t>
            </a:r>
            <a:r>
              <a:rPr lang="en-AU" sz="4400" b="1"/>
              <a:t>grams</a:t>
            </a:r>
            <a:endParaRPr lang="en-AU" sz="4400"/>
          </a:p>
          <a:p>
            <a:pPr marL="742950" indent="-742950" algn="ctr">
              <a:lnSpc>
                <a:spcPct val="150000"/>
              </a:lnSpc>
              <a:spcBef>
                <a:spcPts val="1200"/>
              </a:spcBef>
              <a:spcAft>
                <a:spcPts val="1200"/>
              </a:spcAft>
              <a:buFont typeface="+mj-lt"/>
              <a:buAutoNum type="alphaLcParenR"/>
            </a:pPr>
            <a:r>
              <a:rPr lang="en-AU" sz="4400" b="1"/>
              <a:t>375 g </a:t>
            </a:r>
            <a:r>
              <a:rPr lang="en-AU" sz="4400"/>
              <a:t>into </a:t>
            </a:r>
            <a:r>
              <a:rPr lang="en-AU" sz="4400" b="1"/>
              <a:t>kilograms</a:t>
            </a:r>
            <a:endParaRPr lang="en-AU" sz="1800" b="1"/>
          </a:p>
          <a:p>
            <a:pPr algn="l"/>
            <a:endParaRPr lang="en-AU" sz="1800"/>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5" name="TextBox 4">
            <a:extLst>
              <a:ext uri="{FF2B5EF4-FFF2-40B4-BE49-F238E27FC236}">
                <a16:creationId xmlns:a16="http://schemas.microsoft.com/office/drawing/2014/main" id="{794FC22E-7E3F-FC27-4752-D0F6D3F8C6FB}"/>
              </a:ext>
            </a:extLst>
          </p:cNvPr>
          <p:cNvSpPr txBox="1"/>
          <p:nvPr/>
        </p:nvSpPr>
        <p:spPr>
          <a:xfrm>
            <a:off x="654205" y="1642849"/>
            <a:ext cx="10883590" cy="3244671"/>
          </a:xfrm>
          <a:prstGeom prst="rect">
            <a:avLst/>
          </a:prstGeom>
          <a:noFill/>
        </p:spPr>
        <p:txBody>
          <a:bodyPr wrap="square">
            <a:spAutoFit/>
          </a:bodyPr>
          <a:lstStyle/>
          <a:p>
            <a:pPr algn="ctr">
              <a:lnSpc>
                <a:spcPct val="150000"/>
              </a:lnSpc>
            </a:pPr>
            <a:r>
              <a:rPr lang="en-AU" sz="4400" b="1"/>
              <a:t>Model </a:t>
            </a:r>
            <a:r>
              <a:rPr lang="en-AU" sz="4400"/>
              <a:t>your answer using a </a:t>
            </a:r>
            <a:r>
              <a:rPr lang="en-AU" sz="4400" b="1"/>
              <a:t>diagram</a:t>
            </a:r>
            <a:r>
              <a:rPr lang="en-AU" sz="4400"/>
              <a:t>:</a:t>
            </a:r>
            <a:r>
              <a:rPr lang="en-AU" sz="4400" b="1"/>
              <a:t> </a:t>
            </a:r>
          </a:p>
          <a:p>
            <a:pPr algn="ctr">
              <a:lnSpc>
                <a:spcPct val="150000"/>
              </a:lnSpc>
            </a:pPr>
            <a:r>
              <a:rPr lang="en-AU" sz="5400">
                <a:solidFill>
                  <a:srgbClr val="146CFD"/>
                </a:solidFill>
              </a:rPr>
              <a:t>34 ÷ 8 =</a:t>
            </a:r>
            <a:endParaRPr lang="en-AU" sz="4400"/>
          </a:p>
          <a:p>
            <a:pPr algn="ctr">
              <a:lnSpc>
                <a:spcPct val="150000"/>
              </a:lnSpc>
            </a:pPr>
            <a:endParaRPr lang="en-AU" sz="4400" b="1">
              <a:latin typeface="Arial" panose="020B0604020202020204" pitchFamily="34" charset="0"/>
              <a:ea typeface="Calibri" panose="020F0502020204030204" pitchFamily="34" charset="0"/>
            </a:endParaRP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5" name="TextBox 4">
            <a:extLst>
              <a:ext uri="{FF2B5EF4-FFF2-40B4-BE49-F238E27FC236}">
                <a16:creationId xmlns:a16="http://schemas.microsoft.com/office/drawing/2014/main" id="{FB36FE35-F09F-57D0-DED4-A05E196D1F88}"/>
              </a:ext>
            </a:extLst>
          </p:cNvPr>
          <p:cNvSpPr txBox="1"/>
          <p:nvPr/>
        </p:nvSpPr>
        <p:spPr>
          <a:xfrm>
            <a:off x="1201784" y="1184223"/>
            <a:ext cx="9366068" cy="1018902"/>
          </a:xfrm>
          <a:prstGeom prst="rect">
            <a:avLst/>
          </a:prstGeom>
          <a:noFill/>
        </p:spPr>
        <p:txBody>
          <a:bodyPr wrap="square" lIns="0" tIns="0" rIns="0" bIns="0" rtlCol="0">
            <a:noAutofit/>
          </a:bodyPr>
          <a:lstStyle/>
          <a:p>
            <a:pPr algn="ctr">
              <a:lnSpc>
                <a:spcPct val="150000"/>
              </a:lnSpc>
            </a:pPr>
            <a:r>
              <a:rPr lang="en-AU" sz="4400" b="1"/>
              <a:t>Record</a:t>
            </a:r>
            <a:r>
              <a:rPr lang="en-AU" sz="4400"/>
              <a:t> the </a:t>
            </a:r>
            <a:r>
              <a:rPr lang="en-AU" sz="4400" b="1"/>
              <a:t>length</a:t>
            </a:r>
            <a:r>
              <a:rPr lang="en-AU" sz="4400"/>
              <a:t> of the shark using </a:t>
            </a:r>
            <a:r>
              <a:rPr lang="en-AU" sz="4400" b="1"/>
              <a:t>decimal notation.</a:t>
            </a:r>
            <a:endParaRPr lang="en-AU" sz="1800" b="1"/>
          </a:p>
          <a:p>
            <a:pPr algn="l"/>
            <a:endParaRPr lang="en-AU" sz="1800"/>
          </a:p>
        </p:txBody>
      </p:sp>
      <p:pic>
        <p:nvPicPr>
          <p:cNvPr id="8" name="Picture 7" descr="An image of a shark with the measurements 5 metres 34 centimetres">
            <a:extLst>
              <a:ext uri="{FF2B5EF4-FFF2-40B4-BE49-F238E27FC236}">
                <a16:creationId xmlns:a16="http://schemas.microsoft.com/office/drawing/2014/main" id="{57E9B7B4-3E04-53C3-D417-9D355B476C60}"/>
              </a:ext>
            </a:extLst>
          </p:cNvPr>
          <p:cNvPicPr>
            <a:picLocks noChangeAspect="1"/>
          </p:cNvPicPr>
          <p:nvPr/>
        </p:nvPicPr>
        <p:blipFill>
          <a:blip r:embed="rId3"/>
          <a:stretch>
            <a:fillRect/>
          </a:stretch>
        </p:blipFill>
        <p:spPr>
          <a:xfrm>
            <a:off x="2557963" y="3132157"/>
            <a:ext cx="6927210" cy="3365843"/>
          </a:xfrm>
          <a:prstGeom prst="rect">
            <a:avLst/>
          </a:prstGeom>
        </p:spPr>
      </p:pic>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solve it </a:t>
            </a:r>
          </a:p>
        </p:txBody>
      </p:sp>
      <p:sp>
        <p:nvSpPr>
          <p:cNvPr id="5" name="TextBox 4">
            <a:extLst>
              <a:ext uri="{FF2B5EF4-FFF2-40B4-BE49-F238E27FC236}">
                <a16:creationId xmlns:a16="http://schemas.microsoft.com/office/drawing/2014/main" id="{A14E46F3-FD24-3B49-FF5E-C6418BC85275}"/>
              </a:ext>
            </a:extLst>
          </p:cNvPr>
          <p:cNvSpPr txBox="1"/>
          <p:nvPr/>
        </p:nvSpPr>
        <p:spPr>
          <a:xfrm>
            <a:off x="514350" y="1097258"/>
            <a:ext cx="11163300" cy="1306255"/>
          </a:xfrm>
          <a:prstGeom prst="rect">
            <a:avLst/>
          </a:prstGeom>
          <a:noFill/>
        </p:spPr>
        <p:txBody>
          <a:bodyPr wrap="square">
            <a:spAutoFit/>
          </a:bodyPr>
          <a:lstStyle/>
          <a:p>
            <a:pPr lvl="0" algn="ctr">
              <a:lnSpc>
                <a:spcPct val="150000"/>
              </a:lnSpc>
            </a:pPr>
            <a:r>
              <a:rPr lang="en-AU" sz="6000"/>
              <a:t>14 x 7 = ___</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extBox 2">
            <a:extLst>
              <a:ext uri="{FF2B5EF4-FFF2-40B4-BE49-F238E27FC236}">
                <a16:creationId xmlns:a16="http://schemas.microsoft.com/office/drawing/2014/main" id="{AA72A4AC-398A-B8AC-1BCF-3556B5EFA038}"/>
              </a:ext>
            </a:extLst>
          </p:cNvPr>
          <p:cNvSpPr txBox="1"/>
          <p:nvPr/>
        </p:nvSpPr>
        <p:spPr>
          <a:xfrm>
            <a:off x="514350" y="4248647"/>
            <a:ext cx="11163300" cy="769441"/>
          </a:xfrm>
          <a:prstGeom prst="rect">
            <a:avLst/>
          </a:prstGeom>
          <a:noFill/>
        </p:spPr>
        <p:txBody>
          <a:bodyPr wrap="square">
            <a:spAutoFit/>
          </a:bodyPr>
          <a:lstStyle/>
          <a:p>
            <a:pPr lvl="0"/>
            <a:r>
              <a:rPr lang="en-AU" sz="4400">
                <a:latin typeface="Arial" panose="020B0604020202020204" pitchFamily="34" charset="0"/>
                <a:cs typeface="Arial" panose="020B0604020202020204" pitchFamily="34" charset="0"/>
              </a:rPr>
              <a:t> (14 × 7) + (14 × 3) + (23 × 10) + (13 × 10) </a:t>
            </a:r>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360000" y="957332"/>
            <a:ext cx="11243037" cy="754243"/>
          </a:xfrm>
        </p:spPr>
        <p:txBody>
          <a:bodyPr/>
          <a:lstStyle/>
          <a:p>
            <a:r>
              <a:rPr lang="en-US" sz="4000"/>
              <a:t>Jane set up </a:t>
            </a:r>
            <a:r>
              <a:rPr lang="en-US" sz="4000" b="1"/>
              <a:t>23 rows </a:t>
            </a:r>
            <a:r>
              <a:rPr lang="en-US" sz="4000"/>
              <a:t>of chairs. Each </a:t>
            </a:r>
            <a:r>
              <a:rPr lang="en-US" sz="4000" b="1"/>
              <a:t>row </a:t>
            </a:r>
            <a:r>
              <a:rPr lang="en-US" sz="4000"/>
              <a:t>has 14 chairs. How many chairs are there </a:t>
            </a:r>
            <a:r>
              <a:rPr lang="en-US" sz="4000" b="1"/>
              <a:t>altogether</a:t>
            </a:r>
            <a:r>
              <a:rPr lang="en-US" sz="4000"/>
              <a:t>?</a:t>
            </a:r>
          </a:p>
        </p:txBody>
      </p:sp>
      <p:sp>
        <p:nvSpPr>
          <p:cNvPr id="9" name="B">
            <a:extLst>
              <a:ext uri="{FF2B5EF4-FFF2-40B4-BE49-F238E27FC236}">
                <a16:creationId xmlns:a16="http://schemas.microsoft.com/office/drawing/2014/main" id="{C9B406B5-1B1B-BC84-2596-01F05852F38E}"/>
              </a:ext>
            </a:extLst>
          </p:cNvPr>
          <p:cNvSpPr txBox="1"/>
          <p:nvPr/>
        </p:nvSpPr>
        <p:spPr>
          <a:xfrm>
            <a:off x="670560" y="292460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345520" y="2877704"/>
            <a:ext cx="10175920" cy="641396"/>
          </a:xfrm>
        </p:spPr>
        <p:txBody>
          <a:bodyPr anchor="ctr"/>
          <a:lstStyle/>
          <a:p>
            <a:r>
              <a:rPr lang="en-US" sz="4400"/>
              <a:t>345</a:t>
            </a:r>
            <a:endParaRPr lang="en-US" sz="3600"/>
          </a:p>
        </p:txBody>
      </p:sp>
      <p:sp>
        <p:nvSpPr>
          <p:cNvPr id="10" name="B">
            <a:extLst>
              <a:ext uri="{FF2B5EF4-FFF2-40B4-BE49-F238E27FC236}">
                <a16:creationId xmlns:a16="http://schemas.microsoft.com/office/drawing/2014/main" id="{E50622FB-E2C3-695B-EB8A-A6DCC20CB21A}"/>
              </a:ext>
            </a:extLst>
          </p:cNvPr>
          <p:cNvSpPr txBox="1"/>
          <p:nvPr/>
        </p:nvSpPr>
        <p:spPr>
          <a:xfrm>
            <a:off x="670559" y="377251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345520" y="3725617"/>
            <a:ext cx="10175920" cy="641396"/>
          </a:xfrm>
        </p:spPr>
        <p:txBody>
          <a:bodyPr anchor="ctr"/>
          <a:lstStyle/>
          <a:p>
            <a:r>
              <a:rPr lang="en-US" sz="4400"/>
              <a:t>324</a:t>
            </a:r>
          </a:p>
        </p:txBody>
      </p:sp>
      <p:sp>
        <p:nvSpPr>
          <p:cNvPr id="12" name="C">
            <a:extLst>
              <a:ext uri="{FF2B5EF4-FFF2-40B4-BE49-F238E27FC236}">
                <a16:creationId xmlns:a16="http://schemas.microsoft.com/office/drawing/2014/main" id="{0C258EAC-2959-18FA-F510-CFBA4E15CEE5}"/>
              </a:ext>
            </a:extLst>
          </p:cNvPr>
          <p:cNvSpPr txBox="1"/>
          <p:nvPr/>
        </p:nvSpPr>
        <p:spPr>
          <a:xfrm>
            <a:off x="670558" y="462257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345520" y="4575670"/>
            <a:ext cx="10175920" cy="641396"/>
          </a:xfrm>
        </p:spPr>
        <p:txBody>
          <a:bodyPr anchor="ctr"/>
          <a:lstStyle/>
          <a:p>
            <a:r>
              <a:rPr lang="en-US" sz="4400"/>
              <a:t>322</a:t>
            </a:r>
          </a:p>
        </p:txBody>
      </p:sp>
      <p:sp>
        <p:nvSpPr>
          <p:cNvPr id="11" name="D">
            <a:extLst>
              <a:ext uri="{FF2B5EF4-FFF2-40B4-BE49-F238E27FC236}">
                <a16:creationId xmlns:a16="http://schemas.microsoft.com/office/drawing/2014/main" id="{14776889-F079-73F7-28AB-FA54A997A57B}"/>
              </a:ext>
            </a:extLst>
          </p:cNvPr>
          <p:cNvSpPr txBox="1"/>
          <p:nvPr/>
        </p:nvSpPr>
        <p:spPr>
          <a:xfrm>
            <a:off x="670557" y="547262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345520" y="5425723"/>
            <a:ext cx="10175920" cy="641396"/>
          </a:xfrm>
        </p:spPr>
        <p:txBody>
          <a:bodyPr anchor="ctr"/>
          <a:lstStyle/>
          <a:p>
            <a:r>
              <a:rPr lang="en-US" sz="4400"/>
              <a:t>233</a:t>
            </a:r>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5" name="Picture 4">
            <a:extLst>
              <a:ext uri="{FF2B5EF4-FFF2-40B4-BE49-F238E27FC236}">
                <a16:creationId xmlns:a16="http://schemas.microsoft.com/office/drawing/2014/main" id="{D7ECED88-C669-08CF-E979-E72CE55BA53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360000" y="1674312"/>
            <a:ext cx="2695149" cy="3918809"/>
          </a:xfrm>
          <a:prstGeom prst="rect">
            <a:avLst/>
          </a:prstGeom>
        </p:spPr>
      </p:pic>
      <p:sp>
        <p:nvSpPr>
          <p:cNvPr id="7" name="TextBox 6">
            <a:extLst>
              <a:ext uri="{FF2B5EF4-FFF2-40B4-BE49-F238E27FC236}">
                <a16:creationId xmlns:a16="http://schemas.microsoft.com/office/drawing/2014/main" id="{2F6B9EF9-0183-B195-EB5B-8FADF236099D}"/>
              </a:ext>
            </a:extLst>
          </p:cNvPr>
          <p:cNvSpPr txBox="1"/>
          <p:nvPr/>
        </p:nvSpPr>
        <p:spPr>
          <a:xfrm>
            <a:off x="3197067" y="1184223"/>
            <a:ext cx="8111399" cy="3464586"/>
          </a:xfrm>
          <a:prstGeom prst="rect">
            <a:avLst/>
          </a:prstGeom>
          <a:noFill/>
        </p:spPr>
        <p:txBody>
          <a:bodyPr wrap="square" lIns="0" tIns="0" rIns="0" bIns="0" rtlCol="0">
            <a:noAutofit/>
          </a:bodyPr>
          <a:lstStyle/>
          <a:p>
            <a:pPr algn="ctr">
              <a:lnSpc>
                <a:spcPct val="150000"/>
              </a:lnSpc>
            </a:pPr>
            <a:r>
              <a:rPr lang="en-AU" sz="4000"/>
              <a:t>Mia said </a:t>
            </a:r>
            <a:r>
              <a:rPr lang="en-AU" sz="4000" b="1"/>
              <a:t>bridging</a:t>
            </a:r>
            <a:r>
              <a:rPr lang="en-AU" sz="4000"/>
              <a:t> is the most </a:t>
            </a:r>
            <a:r>
              <a:rPr lang="en-AU" sz="4000" b="1"/>
              <a:t>efficient strategy </a:t>
            </a:r>
            <a:r>
              <a:rPr lang="en-AU" sz="4000"/>
              <a:t>to </a:t>
            </a:r>
            <a:r>
              <a:rPr lang="en-AU" sz="4000" b="1"/>
              <a:t>solve </a:t>
            </a:r>
          </a:p>
          <a:p>
            <a:pPr algn="ctr">
              <a:lnSpc>
                <a:spcPct val="150000"/>
              </a:lnSpc>
            </a:pPr>
            <a:r>
              <a:rPr lang="en-AU" sz="4000"/>
              <a:t>74 357 + 6869 </a:t>
            </a:r>
          </a:p>
          <a:p>
            <a:pPr algn="ctr">
              <a:lnSpc>
                <a:spcPct val="150000"/>
              </a:lnSpc>
            </a:pPr>
            <a:r>
              <a:rPr lang="en-AU" sz="4000"/>
              <a:t>Is she </a:t>
            </a:r>
            <a:r>
              <a:rPr lang="en-AU" sz="4000" b="1"/>
              <a:t>correc</a:t>
            </a:r>
            <a:r>
              <a:rPr lang="en-AU" sz="4000"/>
              <a:t>t?</a:t>
            </a:r>
          </a:p>
          <a:p>
            <a:pPr algn="ctr">
              <a:lnSpc>
                <a:spcPct val="150000"/>
              </a:lnSpc>
            </a:pPr>
            <a:r>
              <a:rPr lang="en-AU" sz="4000" b="1"/>
              <a:t>Communicate</a:t>
            </a:r>
            <a:r>
              <a:rPr lang="en-AU" sz="4000"/>
              <a:t> your </a:t>
            </a:r>
            <a:r>
              <a:rPr lang="en-AU" sz="4000" b="1"/>
              <a:t>reasoning.</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sp>
        <p:nvSpPr>
          <p:cNvPr id="4" name="TextBox 3">
            <a:extLst>
              <a:ext uri="{FF2B5EF4-FFF2-40B4-BE49-F238E27FC236}">
                <a16:creationId xmlns:a16="http://schemas.microsoft.com/office/drawing/2014/main" id="{DAEABA00-5FB0-745D-8531-9FAAE3056C19}"/>
              </a:ext>
            </a:extLst>
          </p:cNvPr>
          <p:cNvSpPr txBox="1"/>
          <p:nvPr/>
        </p:nvSpPr>
        <p:spPr>
          <a:xfrm>
            <a:off x="1210673" y="1399087"/>
            <a:ext cx="10183232" cy="1211766"/>
          </a:xfrm>
          <a:prstGeom prst="rect">
            <a:avLst/>
          </a:prstGeom>
          <a:noFill/>
        </p:spPr>
        <p:txBody>
          <a:bodyPr wrap="square" lIns="0" tIns="0" rIns="0" bIns="0" rtlCol="0">
            <a:noAutofit/>
          </a:bodyPr>
          <a:lstStyle/>
          <a:p>
            <a:pPr algn="ctr">
              <a:lnSpc>
                <a:spcPct val="150000"/>
              </a:lnSpc>
              <a:spcBef>
                <a:spcPts val="1200"/>
              </a:spcBef>
              <a:spcAft>
                <a:spcPts val="1200"/>
              </a:spcAft>
            </a:pPr>
            <a:r>
              <a:rPr lang="en-AU" sz="4400" b="1"/>
              <a:t>Convert: </a:t>
            </a:r>
          </a:p>
          <a:p>
            <a:pPr marL="742950" indent="-742950" algn="ctr">
              <a:lnSpc>
                <a:spcPct val="150000"/>
              </a:lnSpc>
              <a:spcBef>
                <a:spcPts val="1200"/>
              </a:spcBef>
              <a:spcAft>
                <a:spcPts val="1200"/>
              </a:spcAft>
              <a:buFont typeface="+mj-lt"/>
              <a:buAutoNum type="alphaLcParenR"/>
            </a:pPr>
            <a:r>
              <a:rPr lang="en-AU" sz="4400"/>
              <a:t>2250</a:t>
            </a:r>
            <a:r>
              <a:rPr lang="en-AU" sz="4400" b="1"/>
              <a:t> kilograms </a:t>
            </a:r>
            <a:r>
              <a:rPr lang="en-AU" sz="4400"/>
              <a:t>to </a:t>
            </a:r>
            <a:r>
              <a:rPr lang="en-AU" sz="4400" b="1"/>
              <a:t>tonnes</a:t>
            </a:r>
            <a:endParaRPr lang="en-AU" sz="4400"/>
          </a:p>
          <a:p>
            <a:pPr marL="742950" indent="-742950" algn="ctr">
              <a:lnSpc>
                <a:spcPct val="150000"/>
              </a:lnSpc>
              <a:spcBef>
                <a:spcPts val="1200"/>
              </a:spcBef>
              <a:spcAft>
                <a:spcPts val="1200"/>
              </a:spcAft>
              <a:buFont typeface="+mj-lt"/>
              <a:buAutoNum type="alphaLcParenR"/>
            </a:pPr>
            <a:r>
              <a:rPr lang="en-AU" sz="4400"/>
              <a:t>9.5</a:t>
            </a:r>
            <a:r>
              <a:rPr lang="en-AU" sz="4400" b="1"/>
              <a:t> tonnes </a:t>
            </a:r>
            <a:r>
              <a:rPr lang="en-AU" sz="4400"/>
              <a:t>to </a:t>
            </a:r>
            <a:r>
              <a:rPr lang="en-AU" sz="4400" b="1"/>
              <a:t>kilograms</a:t>
            </a:r>
          </a:p>
          <a:p>
            <a:pPr algn="ctr">
              <a:lnSpc>
                <a:spcPct val="150000"/>
              </a:lnSpc>
              <a:spcBef>
                <a:spcPts val="1200"/>
              </a:spcBef>
              <a:spcAft>
                <a:spcPts val="1200"/>
              </a:spcAft>
            </a:pPr>
            <a:r>
              <a:rPr lang="en-AU" sz="4400" b="1"/>
              <a:t>Communicate</a:t>
            </a:r>
            <a:r>
              <a:rPr lang="en-AU" sz="4400"/>
              <a:t> your </a:t>
            </a:r>
            <a:r>
              <a:rPr lang="en-AU" sz="4400" b="1"/>
              <a:t>reasoning.</a:t>
            </a:r>
          </a:p>
          <a:p>
            <a:pPr marL="742950" indent="-742950" algn="l">
              <a:spcBef>
                <a:spcPts val="1200"/>
              </a:spcBef>
              <a:spcAft>
                <a:spcPts val="1200"/>
              </a:spcAft>
              <a:buFont typeface="+mj-lt"/>
              <a:buAutoNum type="alphaLcParenR"/>
            </a:pPr>
            <a:endParaRPr lang="en-AU" sz="4400" b="1"/>
          </a:p>
        </p:txBody>
      </p:sp>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5" name="TextBox 4">
            <a:extLst>
              <a:ext uri="{FF2B5EF4-FFF2-40B4-BE49-F238E27FC236}">
                <a16:creationId xmlns:a16="http://schemas.microsoft.com/office/drawing/2014/main" id="{1E96376D-7579-6602-2B7C-167CF40B6426}"/>
              </a:ext>
            </a:extLst>
          </p:cNvPr>
          <p:cNvSpPr txBox="1"/>
          <p:nvPr/>
        </p:nvSpPr>
        <p:spPr>
          <a:xfrm>
            <a:off x="663209" y="1835777"/>
            <a:ext cx="10367267" cy="3667351"/>
          </a:xfrm>
          <a:prstGeom prst="rect">
            <a:avLst/>
          </a:prstGeom>
          <a:noFill/>
        </p:spPr>
        <p:txBody>
          <a:bodyPr wrap="square">
            <a:spAutoFit/>
          </a:bodyPr>
          <a:lstStyle/>
          <a:p>
            <a:pPr algn="ctr">
              <a:lnSpc>
                <a:spcPct val="150000"/>
              </a:lnSpc>
              <a:spcBef>
                <a:spcPts val="1200"/>
              </a:spcBef>
              <a:spcAft>
                <a:spcPts val="1200"/>
              </a:spcAft>
            </a:pPr>
            <a:r>
              <a:rPr lang="en-AU" sz="4400">
                <a:cs typeface="Arial"/>
              </a:rPr>
              <a:t>Use your knowledge of </a:t>
            </a:r>
            <a:r>
              <a:rPr lang="en-AU" sz="4400" b="1">
                <a:cs typeface="Arial"/>
              </a:rPr>
              <a:t>multiples</a:t>
            </a:r>
            <a:r>
              <a:rPr lang="en-AU" sz="4400">
                <a:cs typeface="Arial"/>
              </a:rPr>
              <a:t> to </a:t>
            </a:r>
            <a:r>
              <a:rPr lang="en-AU" sz="4400" b="1">
                <a:cs typeface="Arial"/>
              </a:rPr>
              <a:t>partition</a:t>
            </a:r>
            <a:r>
              <a:rPr lang="en-AU" sz="4400">
                <a:cs typeface="Arial"/>
              </a:rPr>
              <a:t> and </a:t>
            </a:r>
            <a:r>
              <a:rPr lang="en-AU" sz="4400" b="1">
                <a:cs typeface="Arial"/>
              </a:rPr>
              <a:t>divide:</a:t>
            </a:r>
            <a:r>
              <a:rPr lang="en-AU" sz="4400">
                <a:cs typeface="Arial"/>
              </a:rPr>
              <a:t> </a:t>
            </a:r>
            <a:endParaRPr lang="en-US" sz="4400">
              <a:cs typeface="Arial"/>
            </a:endParaRPr>
          </a:p>
          <a:p>
            <a:pPr algn="ctr">
              <a:lnSpc>
                <a:spcPct val="150000"/>
              </a:lnSpc>
              <a:spcBef>
                <a:spcPts val="1200"/>
              </a:spcBef>
              <a:spcAft>
                <a:spcPts val="1200"/>
              </a:spcAft>
            </a:pPr>
            <a:r>
              <a:rPr lang="en-AU" sz="5400">
                <a:solidFill>
                  <a:srgbClr val="146CFD"/>
                </a:solidFill>
                <a:effectLst/>
                <a:latin typeface="Arial" panose="020B0604020202020204" pitchFamily="34" charset="0"/>
                <a:ea typeface="Calibri" panose="020F0502020204030204" pitchFamily="34" charset="0"/>
              </a:rPr>
              <a:t>954 ÷ 6</a:t>
            </a:r>
            <a:endParaRPr lang="en-AU" sz="5400">
              <a:solidFill>
                <a:srgbClr val="146CFD"/>
              </a:solidFill>
            </a:endParaRP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sp>
        <p:nvSpPr>
          <p:cNvPr id="5" name="TextBox 4">
            <a:extLst>
              <a:ext uri="{FF2B5EF4-FFF2-40B4-BE49-F238E27FC236}">
                <a16:creationId xmlns:a16="http://schemas.microsoft.com/office/drawing/2014/main" id="{7DDA8500-71AD-6B65-D0E4-A98F8CB4FF13}"/>
              </a:ext>
            </a:extLst>
          </p:cNvPr>
          <p:cNvSpPr txBox="1"/>
          <p:nvPr/>
        </p:nvSpPr>
        <p:spPr>
          <a:xfrm>
            <a:off x="1600132" y="824121"/>
            <a:ext cx="8891303" cy="720204"/>
          </a:xfrm>
          <a:prstGeom prst="rect">
            <a:avLst/>
          </a:prstGeom>
          <a:noFill/>
        </p:spPr>
        <p:txBody>
          <a:bodyPr wrap="square" lIns="0" tIns="0" rIns="0" bIns="0" rtlCol="0">
            <a:noAutofit/>
          </a:bodyPr>
          <a:lstStyle/>
          <a:p>
            <a:pPr algn="ctr">
              <a:lnSpc>
                <a:spcPct val="150000"/>
              </a:lnSpc>
            </a:pPr>
            <a:r>
              <a:rPr lang="en-AU" sz="4400"/>
              <a:t>Complete the sentences. </a:t>
            </a:r>
          </a:p>
          <a:p>
            <a:pPr algn="ctr">
              <a:lnSpc>
                <a:spcPct val="150000"/>
              </a:lnSpc>
            </a:pPr>
            <a:endParaRPr lang="en-AU" sz="4400"/>
          </a:p>
        </p:txBody>
      </p:sp>
      <p:pic>
        <p:nvPicPr>
          <p:cNvPr id="7" name="Picture 6" descr="A map of a park within a grid-map A to N and 1 to 8. ">
            <a:extLst>
              <a:ext uri="{FF2B5EF4-FFF2-40B4-BE49-F238E27FC236}">
                <a16:creationId xmlns:a16="http://schemas.microsoft.com/office/drawing/2014/main" id="{679B9A7B-95C9-CFD0-A098-682CA80041F4}"/>
              </a:ext>
            </a:extLst>
          </p:cNvPr>
          <p:cNvPicPr>
            <a:picLocks noChangeAspect="1"/>
          </p:cNvPicPr>
          <p:nvPr/>
        </p:nvPicPr>
        <p:blipFill>
          <a:blip r:embed="rId3"/>
          <a:stretch>
            <a:fillRect/>
          </a:stretch>
        </p:blipFill>
        <p:spPr>
          <a:xfrm>
            <a:off x="439531" y="1862702"/>
            <a:ext cx="2911194" cy="2031009"/>
          </a:xfrm>
          <a:prstGeom prst="rect">
            <a:avLst/>
          </a:prstGeom>
          <a:ln>
            <a:noFill/>
          </a:ln>
          <a:effectLst/>
        </p:spPr>
      </p:pic>
      <p:sp>
        <p:nvSpPr>
          <p:cNvPr id="8" name="TextBox 7">
            <a:extLst>
              <a:ext uri="{FF2B5EF4-FFF2-40B4-BE49-F238E27FC236}">
                <a16:creationId xmlns:a16="http://schemas.microsoft.com/office/drawing/2014/main" id="{ABE92FD0-1925-5814-F2AE-CBBF479BA6E4}"/>
              </a:ext>
            </a:extLst>
          </p:cNvPr>
          <p:cNvSpPr txBox="1"/>
          <p:nvPr/>
        </p:nvSpPr>
        <p:spPr>
          <a:xfrm>
            <a:off x="3397366" y="2113586"/>
            <a:ext cx="8574355" cy="739754"/>
          </a:xfrm>
          <a:prstGeom prst="rect">
            <a:avLst/>
          </a:prstGeom>
          <a:noFill/>
        </p:spPr>
        <p:txBody>
          <a:bodyPr wrap="square">
            <a:spAutoFit/>
          </a:bodyPr>
          <a:lstStyle/>
          <a:p>
            <a:pPr>
              <a:lnSpc>
                <a:spcPct val="150000"/>
              </a:lnSpc>
            </a:pPr>
            <a:r>
              <a:rPr lang="en-AU" sz="3200"/>
              <a:t>The </a:t>
            </a:r>
            <a:r>
              <a:rPr lang="en-AU" sz="3200" b="1"/>
              <a:t>grid-map reference </a:t>
            </a:r>
            <a:r>
              <a:rPr lang="en-AU" sz="3200"/>
              <a:t>is used to _______ .</a:t>
            </a:r>
          </a:p>
        </p:txBody>
      </p:sp>
      <p:pic>
        <p:nvPicPr>
          <p:cNvPr id="4" name="Picture 3" descr="A number plane with grid lines. The x-axis is labelled zero to 7 and y-axis is labelled zero to 7.  ">
            <a:extLst>
              <a:ext uri="{FF2B5EF4-FFF2-40B4-BE49-F238E27FC236}">
                <a16:creationId xmlns:a16="http://schemas.microsoft.com/office/drawing/2014/main" id="{721AA68B-3F29-EE78-9339-1E120D9A4255}"/>
              </a:ext>
            </a:extLst>
          </p:cNvPr>
          <p:cNvPicPr>
            <a:picLocks noChangeAspect="1"/>
          </p:cNvPicPr>
          <p:nvPr/>
        </p:nvPicPr>
        <p:blipFill>
          <a:blip r:embed="rId4"/>
          <a:stretch>
            <a:fillRect/>
          </a:stretch>
        </p:blipFill>
        <p:spPr>
          <a:xfrm>
            <a:off x="439531" y="4187222"/>
            <a:ext cx="3059161" cy="2508778"/>
          </a:xfrm>
          <a:prstGeom prst="rect">
            <a:avLst/>
          </a:prstGeom>
          <a:ln>
            <a:noFill/>
          </a:ln>
          <a:effectLst/>
        </p:spPr>
      </p:pic>
      <p:sp>
        <p:nvSpPr>
          <p:cNvPr id="11" name="TextBox 10">
            <a:extLst>
              <a:ext uri="{FF2B5EF4-FFF2-40B4-BE49-F238E27FC236}">
                <a16:creationId xmlns:a16="http://schemas.microsoft.com/office/drawing/2014/main" id="{B6AA1269-C508-6924-9CB7-12CAD59EC022}"/>
              </a:ext>
            </a:extLst>
          </p:cNvPr>
          <p:cNvSpPr txBox="1"/>
          <p:nvPr/>
        </p:nvSpPr>
        <p:spPr>
          <a:xfrm>
            <a:off x="3498692" y="4981734"/>
            <a:ext cx="7531784" cy="739754"/>
          </a:xfrm>
          <a:prstGeom prst="rect">
            <a:avLst/>
          </a:prstGeom>
          <a:noFill/>
        </p:spPr>
        <p:txBody>
          <a:bodyPr wrap="square">
            <a:spAutoFit/>
          </a:bodyPr>
          <a:lstStyle/>
          <a:p>
            <a:pPr>
              <a:lnSpc>
                <a:spcPct val="150000"/>
              </a:lnSpc>
            </a:pPr>
            <a:r>
              <a:rPr lang="en-AU" sz="3200"/>
              <a:t>The </a:t>
            </a:r>
            <a:r>
              <a:rPr lang="en-AU" sz="3200" b="1"/>
              <a:t>number plane </a:t>
            </a:r>
            <a:r>
              <a:rPr lang="en-AU" sz="3200"/>
              <a:t>is used to _______</a:t>
            </a:r>
            <a:r>
              <a:rPr lang="en-AU" sz="3200">
                <a:solidFill>
                  <a:schemeClr val="tx2"/>
                </a:solidFill>
              </a:rPr>
              <a:t> </a:t>
            </a:r>
            <a:r>
              <a:rPr lang="en-AU" sz="3200"/>
              <a:t>.</a:t>
            </a:r>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130515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age maths puzzle</a:t>
            </a:r>
          </a:p>
        </p:txBody>
      </p:sp>
      <p:sp>
        <p:nvSpPr>
          <p:cNvPr id="5" name="TextBox 4">
            <a:extLst>
              <a:ext uri="{FF2B5EF4-FFF2-40B4-BE49-F238E27FC236}">
                <a16:creationId xmlns:a16="http://schemas.microsoft.com/office/drawing/2014/main" id="{245E88A4-7046-FBF9-DB5E-35962DCEC389}"/>
              </a:ext>
            </a:extLst>
          </p:cNvPr>
          <p:cNvSpPr txBox="1"/>
          <p:nvPr/>
        </p:nvSpPr>
        <p:spPr>
          <a:xfrm>
            <a:off x="360000" y="1029871"/>
            <a:ext cx="11188450" cy="5587235"/>
          </a:xfrm>
          <a:prstGeom prst="rect">
            <a:avLst/>
          </a:prstGeom>
          <a:noFill/>
        </p:spPr>
        <p:txBody>
          <a:bodyPr wrap="square">
            <a:spAutoFit/>
          </a:bodyPr>
          <a:lstStyle/>
          <a:p>
            <a:pPr lvl="0">
              <a:lnSpc>
                <a:spcPct val="150000"/>
              </a:lnSpc>
              <a:spcBef>
                <a:spcPts val="1200"/>
              </a:spcBef>
              <a:spcAft>
                <a:spcPts val="600"/>
              </a:spcAft>
            </a:pPr>
            <a:r>
              <a:rPr lang="en-AU" sz="3200" b="1">
                <a:effectLst/>
                <a:latin typeface="Arial" panose="020B0604020202020204" pitchFamily="34" charset="0"/>
                <a:ea typeface="Calibri" panose="020F0502020204030204" pitchFamily="34" charset="0"/>
                <a:cs typeface="Times New Roman" panose="02020603050405020304" pitchFamily="18" charset="0"/>
              </a:rPr>
              <a:t>Solve</a:t>
            </a:r>
            <a:r>
              <a:rPr lang="en-AU" sz="3200">
                <a:effectLst/>
                <a:latin typeface="Arial" panose="020B0604020202020204" pitchFamily="34" charset="0"/>
                <a:ea typeface="Calibri" panose="020F0502020204030204" pitchFamily="34" charset="0"/>
                <a:cs typeface="Times New Roman" panose="02020603050405020304" pitchFamily="18" charset="0"/>
              </a:rPr>
              <a:t> the following questions relating to your next birthday:</a:t>
            </a:r>
          </a:p>
          <a:p>
            <a:pPr marL="342900" lvl="0" indent="-342900">
              <a:lnSpc>
                <a:spcPct val="150000"/>
              </a:lnSpc>
              <a:spcBef>
                <a:spcPts val="1200"/>
              </a:spcBef>
              <a:spcAft>
                <a:spcPts val="600"/>
              </a:spcAft>
              <a:buFont typeface="Arial" panose="020B0604020202020204" pitchFamily="34" charset="0"/>
              <a:buChar char="•"/>
            </a:pPr>
            <a:r>
              <a:rPr lang="en-AU" sz="3200">
                <a:effectLst/>
                <a:latin typeface="Arial" panose="020B0604020202020204" pitchFamily="34" charset="0"/>
                <a:ea typeface="Calibri" panose="020F0502020204030204" pitchFamily="34" charset="0"/>
                <a:cs typeface="Times New Roman" panose="02020603050405020304" pitchFamily="18" charset="0"/>
              </a:rPr>
              <a:t>How old will you be on your next birthday? </a:t>
            </a:r>
          </a:p>
          <a:p>
            <a:pPr marL="342900" lvl="0" indent="-342900">
              <a:lnSpc>
                <a:spcPct val="150000"/>
              </a:lnSpc>
              <a:spcBef>
                <a:spcPts val="1200"/>
              </a:spcBef>
              <a:spcAft>
                <a:spcPts val="600"/>
              </a:spcAft>
              <a:buFont typeface="Arial" panose="020B0604020202020204" pitchFamily="34" charset="0"/>
              <a:buChar char="•"/>
            </a:pPr>
            <a:r>
              <a:rPr lang="en-AU" sz="3200">
                <a:effectLst/>
                <a:latin typeface="Arial" panose="020B0604020202020204" pitchFamily="34" charset="0"/>
                <a:ea typeface="Calibri" panose="020F0502020204030204" pitchFamily="34" charset="0"/>
                <a:cs typeface="Times New Roman" panose="02020603050405020304" pitchFamily="18" charset="0"/>
              </a:rPr>
              <a:t>How could you provide your answer in months? </a:t>
            </a:r>
          </a:p>
          <a:p>
            <a:pPr marL="342900" lvl="0" indent="-342900">
              <a:lnSpc>
                <a:spcPct val="150000"/>
              </a:lnSpc>
              <a:spcBef>
                <a:spcPts val="1200"/>
              </a:spcBef>
              <a:spcAft>
                <a:spcPts val="600"/>
              </a:spcAft>
              <a:buFont typeface="Arial" panose="020B0604020202020204" pitchFamily="34" charset="0"/>
              <a:buChar char="•"/>
            </a:pPr>
            <a:r>
              <a:rPr lang="en-AU" sz="3200">
                <a:effectLst/>
                <a:latin typeface="Arial" panose="020B0604020202020204" pitchFamily="34" charset="0"/>
                <a:ea typeface="Calibri" panose="020F0502020204030204" pitchFamily="34" charset="0"/>
                <a:cs typeface="Times New Roman" panose="02020603050405020304" pitchFamily="18" charset="0"/>
              </a:rPr>
              <a:t>How could you provide your answer in weeks? </a:t>
            </a:r>
          </a:p>
          <a:p>
            <a:pPr marL="342900" lvl="0" indent="-342900">
              <a:lnSpc>
                <a:spcPct val="150000"/>
              </a:lnSpc>
              <a:spcBef>
                <a:spcPts val="1200"/>
              </a:spcBef>
              <a:spcAft>
                <a:spcPts val="600"/>
              </a:spcAft>
              <a:buFont typeface="Arial" panose="020B0604020202020204" pitchFamily="34" charset="0"/>
              <a:buChar char="•"/>
            </a:pPr>
            <a:r>
              <a:rPr lang="en-AU" sz="3200">
                <a:effectLst/>
                <a:latin typeface="Arial" panose="020B0604020202020204" pitchFamily="34" charset="0"/>
                <a:ea typeface="Calibri" panose="020F0502020204030204" pitchFamily="34" charset="0"/>
                <a:cs typeface="Times New Roman" panose="02020603050405020304" pitchFamily="18" charset="0"/>
              </a:rPr>
              <a:t>How could you provide your answer in minutes? </a:t>
            </a:r>
          </a:p>
          <a:p>
            <a:pPr marL="342900" lvl="0" indent="-342900">
              <a:lnSpc>
                <a:spcPct val="150000"/>
              </a:lnSpc>
              <a:spcBef>
                <a:spcPts val="1200"/>
              </a:spcBef>
              <a:spcAft>
                <a:spcPts val="600"/>
              </a:spcAft>
              <a:buFont typeface="Arial" panose="020B0604020202020204" pitchFamily="34" charset="0"/>
              <a:buChar char="•"/>
            </a:pPr>
            <a:r>
              <a:rPr lang="en-AU" sz="3200">
                <a:effectLst/>
                <a:latin typeface="Arial" panose="020B0604020202020204" pitchFamily="34" charset="0"/>
                <a:ea typeface="Calibri" panose="020F0502020204030204" pitchFamily="34" charset="0"/>
                <a:cs typeface="Times New Roman" panose="02020603050405020304" pitchFamily="18" charset="0"/>
              </a:rPr>
              <a:t>How could you provide your answer in seconds? </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pic>
        <p:nvPicPr>
          <p:cNvPr id="7" name="Picture 6">
            <a:extLst>
              <a:ext uri="{FF2B5EF4-FFF2-40B4-BE49-F238E27FC236}">
                <a16:creationId xmlns:a16="http://schemas.microsoft.com/office/drawing/2014/main" id="{75115A07-9D99-7A05-4663-0D91197E26D8}"/>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l="6430" t="24709" r="66837" b="32538"/>
          <a:stretch>
            <a:fillRect/>
          </a:stretch>
        </p:blipFill>
        <p:spPr>
          <a:xfrm>
            <a:off x="9546018" y="2517429"/>
            <a:ext cx="2362500" cy="2671300"/>
          </a:xfrm>
          <a:prstGeom prst="rect">
            <a:avLst/>
          </a:prstGeom>
        </p:spPr>
      </p:pic>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64B989F8-67C4-FE7B-CC90-5BE7E2CD867D}"/>
              </a:ext>
            </a:extLst>
          </p:cNvPr>
          <p:cNvPicPr>
            <a:picLocks noChangeAspect="1"/>
          </p:cNvPicPr>
          <p:nvPr/>
        </p:nvPicPr>
        <p:blipFill>
          <a:blip r:embed="rId3"/>
          <a:stretch>
            <a:fillRect/>
          </a:stretch>
        </p:blipFill>
        <p:spPr>
          <a:xfrm>
            <a:off x="10807908" y="43303"/>
            <a:ext cx="1165786" cy="1140716"/>
          </a:xfrm>
          <a:prstGeom prst="rect">
            <a:avLst/>
          </a:prstGeom>
        </p:spPr>
      </p:pic>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6" name="Text Placeholder 5">
            <a:extLst>
              <a:ext uri="{FF2B5EF4-FFF2-40B4-BE49-F238E27FC236}">
                <a16:creationId xmlns:a16="http://schemas.microsoft.com/office/drawing/2014/main" id="{C7D683F9-6194-51C3-10DE-058E032E33CF}"/>
              </a:ext>
              <a:ext uri="{C183D7F6-B498-43B3-948B-1728B52AA6E4}">
                <adec:decorative xmlns:adec="http://schemas.microsoft.com/office/drawing/2017/decorative" val="1"/>
              </a:ext>
            </a:extLst>
          </p:cNvPr>
          <p:cNvSpPr>
            <a:spLocks noGrp="1"/>
          </p:cNvSpPr>
          <p:nvPr>
            <p:ph type="body" sz="quarter" idx="22"/>
          </p:nvPr>
        </p:nvSpPr>
        <p:spPr>
          <a:xfrm>
            <a:off x="360000" y="1321146"/>
            <a:ext cx="11613694" cy="893226"/>
          </a:xfrm>
        </p:spPr>
        <p:txBody>
          <a:bodyPr/>
          <a:lstStyle/>
          <a:p>
            <a:pPr algn="ctr"/>
            <a:r>
              <a:rPr lang="en-AU" sz="4400"/>
              <a:t>A school orders </a:t>
            </a:r>
            <a:r>
              <a:rPr lang="en-AU" sz="4400" b="1"/>
              <a:t>43 </a:t>
            </a:r>
            <a:r>
              <a:rPr lang="en-AU" sz="4400"/>
              <a:t>packs of pencils. Each pack contains </a:t>
            </a:r>
            <a:r>
              <a:rPr lang="en-AU" sz="4400" b="1"/>
              <a:t>29</a:t>
            </a:r>
            <a:r>
              <a:rPr lang="en-AU" sz="4400"/>
              <a:t> pencils.</a:t>
            </a:r>
          </a:p>
          <a:p>
            <a:pPr algn="ctr"/>
            <a:r>
              <a:rPr lang="en-AU" sz="4400" b="1"/>
              <a:t>1247</a:t>
            </a:r>
            <a:r>
              <a:rPr lang="en-AU" sz="4400"/>
              <a:t> pencils have been ordered.</a:t>
            </a:r>
          </a:p>
          <a:p>
            <a:endParaRPr lang="en-AU" sz="4400"/>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4" name="TextBox 3">
            <a:extLst>
              <a:ext uri="{FF2B5EF4-FFF2-40B4-BE49-F238E27FC236}">
                <a16:creationId xmlns:a16="http://schemas.microsoft.com/office/drawing/2014/main" id="{2CA432B4-58CF-B9E6-8E3F-AD533A00D6C5}"/>
              </a:ext>
            </a:extLst>
          </p:cNvPr>
          <p:cNvSpPr txBox="1"/>
          <p:nvPr/>
        </p:nvSpPr>
        <p:spPr>
          <a:xfrm>
            <a:off x="1172895" y="1586393"/>
            <a:ext cx="9554373" cy="2782389"/>
          </a:xfrm>
          <a:prstGeom prst="rect">
            <a:avLst/>
          </a:prstGeom>
          <a:noFill/>
        </p:spPr>
        <p:txBody>
          <a:bodyPr wrap="square" lIns="0" tIns="0" rIns="0" bIns="0" rtlCol="0">
            <a:noAutofit/>
          </a:bodyPr>
          <a:lstStyle/>
          <a:p>
            <a:pPr algn="ctr"/>
            <a:r>
              <a:rPr lang="en-AU" sz="4400"/>
              <a:t>Use a </a:t>
            </a:r>
            <a:r>
              <a:rPr lang="en-AU" sz="4400" b="1"/>
              <a:t>bar model </a:t>
            </a:r>
            <a:r>
              <a:rPr lang="en-AU" sz="4400"/>
              <a:t>or </a:t>
            </a:r>
            <a:r>
              <a:rPr lang="en-AU" sz="4400" b="1"/>
              <a:t>empty number line  </a:t>
            </a:r>
            <a:r>
              <a:rPr lang="en-AU" sz="4400"/>
              <a:t>to solve:</a:t>
            </a:r>
          </a:p>
          <a:p>
            <a:pPr algn="ctr"/>
            <a:endParaRPr lang="en-AU" sz="4400" b="1"/>
          </a:p>
          <a:p>
            <a:pPr algn="ctr"/>
            <a:r>
              <a:rPr lang="en-AU" sz="4400" b="1">
                <a:solidFill>
                  <a:schemeClr val="accent2"/>
                </a:solidFill>
              </a:rPr>
              <a:t>4.21 – 2.43</a:t>
            </a:r>
          </a:p>
          <a:p>
            <a:pPr algn="l"/>
            <a:endParaRPr lang="en-AU" sz="4400"/>
          </a:p>
          <a:p>
            <a:pPr algn="ctr"/>
            <a:r>
              <a:rPr lang="en-AU" sz="4400" b="1"/>
              <a:t>Communicate</a:t>
            </a:r>
            <a:r>
              <a:rPr lang="en-AU" sz="4400"/>
              <a:t> your </a:t>
            </a:r>
            <a:r>
              <a:rPr lang="en-AU" sz="4400" b="1"/>
              <a:t>reasoning</a:t>
            </a:r>
            <a:r>
              <a:rPr lang="en-AU" sz="4400"/>
              <a:t>.</a:t>
            </a:r>
            <a:endParaRPr lang="en-AU" sz="1800"/>
          </a:p>
          <a:p>
            <a:pPr algn="l"/>
            <a:endParaRPr lang="en-AU" sz="1800"/>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4" name="TextBox 3">
            <a:extLst>
              <a:ext uri="{FF2B5EF4-FFF2-40B4-BE49-F238E27FC236}">
                <a16:creationId xmlns:a16="http://schemas.microsoft.com/office/drawing/2014/main" id="{32E5FC14-AD48-6A7E-1799-DDD5FE177C7D}"/>
              </a:ext>
            </a:extLst>
          </p:cNvPr>
          <p:cNvSpPr txBox="1"/>
          <p:nvPr/>
        </p:nvSpPr>
        <p:spPr>
          <a:xfrm>
            <a:off x="445352" y="1059208"/>
            <a:ext cx="11500624" cy="2713463"/>
          </a:xfrm>
          <a:prstGeom prst="rect">
            <a:avLst/>
          </a:prstGeom>
          <a:noFill/>
        </p:spPr>
        <p:txBody>
          <a:bodyPr wrap="square" lIns="0" tIns="0" rIns="0" bIns="0" rtlCol="0">
            <a:noAutofit/>
          </a:bodyPr>
          <a:lstStyle/>
          <a:p>
            <a:pPr algn="l"/>
            <a:r>
              <a:rPr lang="en-AU" sz="4000"/>
              <a:t>A truck </a:t>
            </a:r>
            <a:r>
              <a:rPr lang="en-AU" sz="4000" b="1"/>
              <a:t>weighs 6.7 tonnes.</a:t>
            </a:r>
          </a:p>
          <a:p>
            <a:pPr algn="l"/>
            <a:endParaRPr lang="en-AU" sz="4000"/>
          </a:p>
          <a:p>
            <a:pPr algn="l"/>
            <a:r>
              <a:rPr lang="en-AU" sz="4000"/>
              <a:t>It is loaded with </a:t>
            </a:r>
            <a:r>
              <a:rPr lang="en-AU" sz="4000" b="1"/>
              <a:t>760 kilograms </a:t>
            </a:r>
            <a:r>
              <a:rPr lang="en-AU" sz="4000"/>
              <a:t>of fruit.</a:t>
            </a:r>
          </a:p>
          <a:p>
            <a:pPr algn="l"/>
            <a:endParaRPr lang="en-AU" sz="4000"/>
          </a:p>
          <a:p>
            <a:pPr algn="l"/>
            <a:r>
              <a:rPr lang="en-AU" sz="4000"/>
              <a:t>It delivers </a:t>
            </a:r>
            <a:r>
              <a:rPr lang="en-AU" sz="4000" b="1"/>
              <a:t>345 kilograms </a:t>
            </a:r>
            <a:r>
              <a:rPr lang="en-AU" sz="4000"/>
              <a:t>to the first fruit shop.</a:t>
            </a:r>
          </a:p>
          <a:p>
            <a:pPr algn="l"/>
            <a:endParaRPr lang="en-AU" sz="4000"/>
          </a:p>
          <a:p>
            <a:pPr algn="ctr">
              <a:lnSpc>
                <a:spcPct val="150000"/>
              </a:lnSpc>
            </a:pPr>
            <a:r>
              <a:rPr lang="en-AU" sz="4000"/>
              <a:t>How much does the truck </a:t>
            </a:r>
            <a:r>
              <a:rPr lang="en-AU" sz="4000" b="1"/>
              <a:t>weigh </a:t>
            </a:r>
            <a:r>
              <a:rPr lang="en-AU" sz="4000"/>
              <a:t>now?</a:t>
            </a:r>
          </a:p>
        </p:txBody>
      </p:sp>
      <p:pic>
        <p:nvPicPr>
          <p:cNvPr id="7" name="Picture 6">
            <a:extLst>
              <a:ext uri="{FF2B5EF4-FFF2-40B4-BE49-F238E27FC236}">
                <a16:creationId xmlns:a16="http://schemas.microsoft.com/office/drawing/2014/main" id="{6C0FB257-B1F5-35A1-920D-8E5692D27FE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97514" y="469102"/>
            <a:ext cx="1932249" cy="1430242"/>
          </a:xfrm>
          <a:prstGeom prst="rect">
            <a:avLst/>
          </a:prstGeom>
        </p:spPr>
      </p:pic>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4" name="TextBox 3">
            <a:extLst>
              <a:ext uri="{FF2B5EF4-FFF2-40B4-BE49-F238E27FC236}">
                <a16:creationId xmlns:a16="http://schemas.microsoft.com/office/drawing/2014/main" id="{6CE43337-2F38-84C5-32C0-C0FBBEE91BFC}"/>
              </a:ext>
            </a:extLst>
          </p:cNvPr>
          <p:cNvSpPr txBox="1"/>
          <p:nvPr/>
        </p:nvSpPr>
        <p:spPr>
          <a:xfrm>
            <a:off x="453483" y="1702420"/>
            <a:ext cx="10824117" cy="988742"/>
          </a:xfrm>
          <a:prstGeom prst="rect">
            <a:avLst/>
          </a:prstGeom>
          <a:noFill/>
        </p:spPr>
        <p:txBody>
          <a:bodyPr wrap="square" lIns="0" tIns="0" rIns="0" bIns="0" rtlCol="0">
            <a:noAutofit/>
          </a:bodyPr>
          <a:lstStyle/>
          <a:p>
            <a:pPr algn="ctr">
              <a:lnSpc>
                <a:spcPct val="150000"/>
              </a:lnSpc>
            </a:pPr>
            <a:r>
              <a:rPr lang="en-AU" sz="4400"/>
              <a:t>A factory produces 6240</a:t>
            </a:r>
            <a:r>
              <a:rPr lang="en-AU" sz="4400" b="1"/>
              <a:t> litres </a:t>
            </a:r>
            <a:r>
              <a:rPr lang="en-AU" sz="4400"/>
              <a:t>of juice. Each bottle holds 24 </a:t>
            </a:r>
            <a:r>
              <a:rPr lang="en-AU" sz="4400" b="1"/>
              <a:t>litres. </a:t>
            </a:r>
          </a:p>
          <a:p>
            <a:pPr algn="ctr">
              <a:lnSpc>
                <a:spcPct val="150000"/>
              </a:lnSpc>
            </a:pPr>
            <a:r>
              <a:rPr lang="en-AU" sz="4400" b="1"/>
              <a:t>How many </a:t>
            </a:r>
            <a:r>
              <a:rPr lang="en-AU" sz="4400"/>
              <a:t>full bottles can be </a:t>
            </a:r>
            <a:r>
              <a:rPr lang="en-AU" sz="4400" b="1"/>
              <a:t>filled</a:t>
            </a:r>
            <a:r>
              <a:rPr lang="en-AU" sz="4400"/>
              <a:t>?</a:t>
            </a:r>
          </a:p>
          <a:p>
            <a:pPr algn="l"/>
            <a:endParaRPr lang="en-AU" sz="1800"/>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5" name="Picture 4" descr="A student wearing a uniform. She has a speech bubble that says What pets do you have?">
            <a:extLst>
              <a:ext uri="{FF2B5EF4-FFF2-40B4-BE49-F238E27FC236}">
                <a16:creationId xmlns:a16="http://schemas.microsoft.com/office/drawing/2014/main" id="{75F72F22-9F72-5234-4C9F-2068977A978D}"/>
              </a:ext>
            </a:extLst>
          </p:cNvPr>
          <p:cNvPicPr>
            <a:picLocks noChangeAspect="1"/>
          </p:cNvPicPr>
          <p:nvPr/>
        </p:nvPicPr>
        <p:blipFill>
          <a:blip r:embed="rId3"/>
          <a:srcRect l="16543" t="5573"/>
          <a:stretch>
            <a:fillRect/>
          </a:stretch>
        </p:blipFill>
        <p:spPr>
          <a:xfrm>
            <a:off x="529388" y="2419643"/>
            <a:ext cx="3741823" cy="4096357"/>
          </a:xfrm>
          <a:prstGeom prst="rect">
            <a:avLst/>
          </a:prstGeom>
        </p:spPr>
      </p:pic>
      <p:sp>
        <p:nvSpPr>
          <p:cNvPr id="7" name="TextBox 6">
            <a:extLst>
              <a:ext uri="{FF2B5EF4-FFF2-40B4-BE49-F238E27FC236}">
                <a16:creationId xmlns:a16="http://schemas.microsoft.com/office/drawing/2014/main" id="{5317D66F-17FA-F34A-C695-4FE5258CB42E}"/>
              </a:ext>
            </a:extLst>
          </p:cNvPr>
          <p:cNvSpPr txBox="1"/>
          <p:nvPr/>
        </p:nvSpPr>
        <p:spPr>
          <a:xfrm>
            <a:off x="4552377" y="2110592"/>
            <a:ext cx="6571623" cy="1698172"/>
          </a:xfrm>
          <a:prstGeom prst="rect">
            <a:avLst/>
          </a:prstGeom>
          <a:noFill/>
        </p:spPr>
        <p:txBody>
          <a:bodyPr wrap="square" lIns="0" tIns="0" rIns="0" bIns="0" rtlCol="0">
            <a:noAutofit/>
          </a:bodyPr>
          <a:lstStyle/>
          <a:p>
            <a:pPr algn="ctr">
              <a:lnSpc>
                <a:spcPct val="150000"/>
              </a:lnSpc>
            </a:pPr>
            <a:r>
              <a:rPr lang="en-AU" sz="4400"/>
              <a:t>How can Erolyn </a:t>
            </a:r>
            <a:r>
              <a:rPr lang="en-AU" sz="4400" b="1"/>
              <a:t>refine</a:t>
            </a:r>
            <a:r>
              <a:rPr lang="en-AU" sz="4400"/>
              <a:t> her </a:t>
            </a:r>
            <a:r>
              <a:rPr lang="en-AU" sz="4400" b="1"/>
              <a:t>question</a:t>
            </a:r>
            <a:r>
              <a:rPr lang="en-AU" sz="4400"/>
              <a:t> to be able to </a:t>
            </a:r>
            <a:r>
              <a:rPr lang="en-AU" sz="4400" b="1"/>
              <a:t>obtain numerical data</a:t>
            </a:r>
            <a:r>
              <a:rPr lang="en-AU" sz="4400"/>
              <a:t>?</a:t>
            </a:r>
          </a:p>
          <a:p>
            <a:pPr algn="l">
              <a:lnSpc>
                <a:spcPct val="150000"/>
              </a:lnSpc>
            </a:pPr>
            <a:endParaRPr lang="en-AU" sz="4400"/>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4997" y="396275"/>
            <a:ext cx="10367268" cy="545601"/>
          </a:xfrm>
        </p:spPr>
        <p:txBody>
          <a:bodyPr/>
          <a:lstStyle/>
          <a:p>
            <a:r>
              <a:rPr lang="en-AU"/>
              <a:t>Activity 8 – multiplication word problem</a:t>
            </a:r>
          </a:p>
        </p:txBody>
      </p:sp>
      <p:sp>
        <p:nvSpPr>
          <p:cNvPr id="5" name="TextBox 4">
            <a:extLst>
              <a:ext uri="{FF2B5EF4-FFF2-40B4-BE49-F238E27FC236}">
                <a16:creationId xmlns:a16="http://schemas.microsoft.com/office/drawing/2014/main" id="{CEB9C6A3-1AB8-B550-E6BC-F977334ED674}"/>
              </a:ext>
            </a:extLst>
          </p:cNvPr>
          <p:cNvSpPr txBox="1"/>
          <p:nvPr/>
        </p:nvSpPr>
        <p:spPr>
          <a:xfrm>
            <a:off x="364997" y="1057863"/>
            <a:ext cx="11258259" cy="5819222"/>
          </a:xfrm>
          <a:prstGeom prst="rect">
            <a:avLst/>
          </a:prstGeom>
          <a:noFill/>
        </p:spPr>
        <p:txBody>
          <a:bodyPr wrap="square">
            <a:spAutoFit/>
          </a:bodyPr>
          <a:lstStyle/>
          <a:p>
            <a:pPr>
              <a:lnSpc>
                <a:spcPct val="150000"/>
              </a:lnSpc>
              <a:spcBef>
                <a:spcPts val="1200"/>
              </a:spcBef>
              <a:spcAft>
                <a:spcPts val="800"/>
              </a:spcAft>
              <a:buNone/>
            </a:pPr>
            <a:r>
              <a:rPr lang="en-AU" sz="2800" b="1">
                <a:solidFill>
                  <a:schemeClr val="accent1"/>
                </a:solidFill>
                <a:effectLst/>
                <a:latin typeface="Arial" panose="020B0604020202020204" pitchFamily="34" charset="0"/>
                <a:ea typeface="Calibri" panose="020F0502020204030204" pitchFamily="34" charset="0"/>
              </a:rPr>
              <a:t>Question 1: </a:t>
            </a:r>
            <a:r>
              <a:rPr lang="en-AU" sz="2800">
                <a:effectLst/>
                <a:latin typeface="Arial" panose="020B0604020202020204" pitchFamily="34" charset="0"/>
                <a:ea typeface="Calibri" panose="020F0502020204030204" pitchFamily="34" charset="0"/>
              </a:rPr>
              <a:t>A farmer plants 125 trees in each field. He has 24 fields.</a:t>
            </a:r>
          </a:p>
          <a:p>
            <a:pPr>
              <a:lnSpc>
                <a:spcPct val="150000"/>
              </a:lnSpc>
              <a:spcBef>
                <a:spcPts val="1200"/>
              </a:spcBef>
              <a:spcAft>
                <a:spcPts val="800"/>
              </a:spcAft>
              <a:buNone/>
            </a:pPr>
            <a:r>
              <a:rPr lang="en-AU" sz="2800">
                <a:effectLst/>
                <a:latin typeface="Arial" panose="020B0604020202020204" pitchFamily="34" charset="0"/>
                <a:ea typeface="Calibri" panose="020F0502020204030204" pitchFamily="34" charset="0"/>
              </a:rPr>
              <a:t>How many trees does he plant altogether?</a:t>
            </a:r>
          </a:p>
          <a:p>
            <a:pPr>
              <a:lnSpc>
                <a:spcPct val="150000"/>
              </a:lnSpc>
              <a:spcBef>
                <a:spcPts val="1200"/>
              </a:spcBef>
              <a:spcAft>
                <a:spcPts val="800"/>
              </a:spcAft>
              <a:buNone/>
            </a:pPr>
            <a:r>
              <a:rPr lang="en-AU" sz="2800" b="1">
                <a:solidFill>
                  <a:schemeClr val="accent1"/>
                </a:solidFill>
                <a:effectLst/>
                <a:latin typeface="Arial" panose="020B0604020202020204" pitchFamily="34" charset="0"/>
                <a:ea typeface="Calibri" panose="020F0502020204030204" pitchFamily="34" charset="0"/>
              </a:rPr>
              <a:t>Question 2: </a:t>
            </a:r>
            <a:r>
              <a:rPr lang="en-AU" sz="2800">
                <a:effectLst/>
                <a:latin typeface="Arial" panose="020B0604020202020204" pitchFamily="34" charset="0"/>
                <a:ea typeface="Calibri" panose="020F0502020204030204" pitchFamily="34" charset="0"/>
              </a:rPr>
              <a:t>A school orders 48 packs of pencils. Each pack contains 25 pencils.</a:t>
            </a:r>
          </a:p>
          <a:p>
            <a:pPr>
              <a:lnSpc>
                <a:spcPct val="150000"/>
              </a:lnSpc>
              <a:spcBef>
                <a:spcPts val="1200"/>
              </a:spcBef>
              <a:spcAft>
                <a:spcPts val="800"/>
              </a:spcAft>
              <a:buNone/>
            </a:pPr>
            <a:r>
              <a:rPr lang="en-AU" sz="2800">
                <a:effectLst/>
                <a:latin typeface="Arial" panose="020B0604020202020204" pitchFamily="34" charset="0"/>
                <a:ea typeface="Calibri" panose="020F0502020204030204" pitchFamily="34" charset="0"/>
              </a:rPr>
              <a:t>How many pencils are ordered?</a:t>
            </a:r>
          </a:p>
          <a:p>
            <a:pPr>
              <a:lnSpc>
                <a:spcPct val="150000"/>
              </a:lnSpc>
              <a:spcBef>
                <a:spcPts val="1200"/>
              </a:spcBef>
              <a:spcAft>
                <a:spcPts val="800"/>
              </a:spcAft>
              <a:buNone/>
            </a:pPr>
            <a:r>
              <a:rPr lang="en-AU" sz="2800" b="1">
                <a:solidFill>
                  <a:schemeClr val="accent1"/>
                </a:solidFill>
                <a:effectLst/>
                <a:latin typeface="Arial" panose="020B0604020202020204" pitchFamily="34" charset="0"/>
                <a:ea typeface="Calibri" panose="020F0502020204030204" pitchFamily="34" charset="0"/>
              </a:rPr>
              <a:t>Question 3:</a:t>
            </a:r>
            <a:r>
              <a:rPr lang="en-AU" sz="2800">
                <a:solidFill>
                  <a:schemeClr val="accent1"/>
                </a:solidFill>
                <a:effectLst/>
                <a:latin typeface="Arial" panose="020B0604020202020204" pitchFamily="34" charset="0"/>
                <a:ea typeface="Calibri" panose="020F0502020204030204" pitchFamily="34" charset="0"/>
              </a:rPr>
              <a:t> </a:t>
            </a:r>
            <a:r>
              <a:rPr lang="en-AU" sz="2800">
                <a:effectLst/>
                <a:latin typeface="Arial" panose="020B0604020202020204" pitchFamily="34" charset="0"/>
                <a:ea typeface="Calibri" panose="020F0502020204030204" pitchFamily="34" charset="0"/>
              </a:rPr>
              <a:t>A theatre has 324 rows with 36 seats in each row.</a:t>
            </a:r>
          </a:p>
          <a:p>
            <a:pPr>
              <a:lnSpc>
                <a:spcPct val="150000"/>
              </a:lnSpc>
              <a:spcBef>
                <a:spcPts val="1200"/>
              </a:spcBef>
              <a:spcAft>
                <a:spcPts val="800"/>
              </a:spcAft>
              <a:buNone/>
            </a:pPr>
            <a:r>
              <a:rPr lang="en-AU" sz="2800">
                <a:effectLst/>
                <a:latin typeface="Arial" panose="020B0604020202020204" pitchFamily="34" charset="0"/>
                <a:ea typeface="Calibri" panose="020F0502020204030204" pitchFamily="34" charset="0"/>
              </a:rPr>
              <a:t>How many seats are there altogether?</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 action="ppaction://noaction"/>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3"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pPr fontAlgn="base"/>
            <a:r>
              <a:rPr lang="en-AU">
                <a:cs typeface="Arial"/>
              </a:rPr>
              <a:t>[</a:t>
            </a:r>
            <a:r>
              <a:rPr lang="en-AU" u="sng">
                <a:hlinkClick r:id="rId6"/>
              </a:rPr>
              <a:t>Mathematics K–10 Syllabus</a:t>
            </a:r>
            <a:r>
              <a:rPr lang="en-AU"/>
              <a:t> © NSW Education Standards Authority (NESA) for and on behalf of the Crown in right of the State of New South Wales, 2022. </a:t>
            </a:r>
          </a:p>
          <a:p>
            <a:pPr fontAlgn="base"/>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(accessed 18 January 2024) and was not modified. </a:t>
            </a:r>
          </a:p>
          <a:p>
            <a:pPr fontAlgn="base"/>
            <a:r>
              <a:rPr lang="en-AU"/>
              <a:t>Classroom Secrets (2023) </a:t>
            </a:r>
            <a:r>
              <a:rPr lang="en-AU" i="1" u="sng">
                <a:hlinkClick r:id="rId9"/>
              </a:rPr>
              <a:t>Add and Subtract Decimals Discussion Problems</a:t>
            </a:r>
            <a:r>
              <a:rPr lang="en-AU"/>
              <a:t>, Classroom secrets website, accessed 12 October 2025. </a:t>
            </a:r>
          </a:p>
          <a:p>
            <a:pPr fontAlgn="base"/>
            <a:r>
              <a:rPr lang="en-AU"/>
              <a:t>Education Services Australia (2016) </a:t>
            </a:r>
            <a:r>
              <a:rPr lang="en-AU" i="1" u="sng">
                <a:hlinkClick r:id="rId10"/>
              </a:rPr>
              <a:t>Playground Percentages</a:t>
            </a:r>
            <a:r>
              <a:rPr lang="en-AU"/>
              <a:t>, Education Services Australia website, accessed 12 October 2025. </a:t>
            </a:r>
          </a:p>
          <a:p>
            <a:pPr fontAlgn="base"/>
            <a:r>
              <a:rPr lang="en-AU"/>
              <a:t>NCTM (National Council of Teachers of Mathematics) (n.d.) </a:t>
            </a:r>
            <a:r>
              <a:rPr lang="en-AU" i="1" u="sng">
                <a:hlinkClick r:id="rId11"/>
              </a:rPr>
              <a:t>Fraction models</a:t>
            </a:r>
            <a:r>
              <a:rPr lang="en-AU"/>
              <a:t>, NCTM website, accessed 21 April 2026. </a:t>
            </a:r>
          </a:p>
          <a:p>
            <a:pPr fontAlgn="base"/>
            <a:r>
              <a:rPr lang="en-AU"/>
              <a:t>State of New South Wales (Department of Education) (2023) </a:t>
            </a:r>
            <a:r>
              <a:rPr lang="en-AU" i="1" u="sng">
                <a:hlinkClick r:id="rId12"/>
              </a:rPr>
              <a:t>Proportional thinking: Fractions, decimals and percentages</a:t>
            </a:r>
            <a:r>
              <a:rPr lang="en-AU" u="sng"/>
              <a:t>,</a:t>
            </a:r>
            <a:r>
              <a:rPr lang="en-AU"/>
              <a:t> NSW Department of Education website, accessed 10 March 2026. </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03118-CD5F-1B45-318D-7CDA9549E4A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3E72B51-1BDB-D90E-716B-07057A989E62}"/>
              </a:ext>
            </a:extLst>
          </p:cNvPr>
          <p:cNvSpPr>
            <a:spLocks noGrp="1"/>
          </p:cNvSpPr>
          <p:nvPr>
            <p:ph type="title"/>
          </p:nvPr>
        </p:nvSpPr>
        <p:spPr>
          <a:xfrm>
            <a:off x="360000" y="360001"/>
            <a:ext cx="11484000" cy="521412"/>
          </a:xfrm>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C4590AEB-D769-8B64-D307-445BA2CB24CF}"/>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C6D86347-0CDA-8C3B-B949-DE6142742808}"/>
              </a:ext>
            </a:extLst>
          </p:cNvPr>
          <p:cNvSpPr>
            <a:spLocks noGrp="1"/>
          </p:cNvSpPr>
          <p:nvPr>
            <p:ph idx="1"/>
          </p:nvPr>
        </p:nvSpPr>
        <p:spPr/>
        <p:txBody>
          <a:bodyPr vert="horz" lIns="0" tIns="0" rIns="0" bIns="0" rtlCol="0" anchor="t">
            <a:noAutofit/>
          </a:bodyPr>
          <a:lstStyle/>
          <a:p>
            <a:pPr fontAlgn="base"/>
            <a:r>
              <a:rPr lang="en-AU"/>
              <a:t>Toy </a:t>
            </a:r>
            <a:r>
              <a:rPr lang="en-AU" err="1"/>
              <a:t>Theater</a:t>
            </a:r>
            <a:r>
              <a:rPr lang="en-AU"/>
              <a:t> (2001–2026) </a:t>
            </a:r>
            <a:r>
              <a:rPr lang="en-AU" i="1" u="sng">
                <a:hlinkClick r:id="rId6"/>
              </a:rPr>
              <a:t>Calculator</a:t>
            </a:r>
            <a:r>
              <a:rPr lang="en-AU"/>
              <a:t>, Toy </a:t>
            </a:r>
            <a:r>
              <a:rPr lang="en-AU" err="1"/>
              <a:t>Theater</a:t>
            </a:r>
            <a:r>
              <a:rPr lang="en-AU"/>
              <a:t> website, accessed 21 March 2026. </a:t>
            </a:r>
          </a:p>
          <a:p>
            <a:pPr fontAlgn="base"/>
            <a:r>
              <a:rPr lang="en-AU" err="1"/>
              <a:t>Visnos</a:t>
            </a:r>
            <a:r>
              <a:rPr lang="en-AU"/>
              <a:t> (</a:t>
            </a:r>
            <a:r>
              <a:rPr lang="en-AU" err="1"/>
              <a:t>n.d</a:t>
            </a:r>
            <a:r>
              <a:rPr lang="en-AU"/>
              <a:t>) </a:t>
            </a:r>
            <a:r>
              <a:rPr lang="en-AU" i="1" u="sng">
                <a:hlinkClick r:id="rId7"/>
              </a:rPr>
              <a:t>Percentage, Fraction &amp; Decimal Grid Explorer</a:t>
            </a:r>
            <a:r>
              <a:rPr lang="en-AU"/>
              <a:t>, </a:t>
            </a:r>
            <a:r>
              <a:rPr lang="en-AU" err="1"/>
              <a:t>Visnos</a:t>
            </a:r>
            <a:r>
              <a:rPr lang="en-AU"/>
              <a:t> website, accessed 21 April 2026.</a:t>
            </a:r>
          </a:p>
          <a:p>
            <a:pPr fontAlgn="base"/>
            <a:endParaRPr lang="en-AU"/>
          </a:p>
        </p:txBody>
      </p:sp>
      <p:sp>
        <p:nvSpPr>
          <p:cNvPr id="2" name="Slide Number Placeholder 1">
            <a:extLst>
              <a:ext uri="{FF2B5EF4-FFF2-40B4-BE49-F238E27FC236}">
                <a16:creationId xmlns:a16="http://schemas.microsoft.com/office/drawing/2014/main" id="{35DD1AF8-0E7E-19A5-CC22-C4CB1221BA5D}"/>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2212083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555570-2BD4-426B-AA32-0A79CB6508A8}">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DD497C8E-8E76-4F02-9F90-738D6F3BCE1F}"/>
</file>

<file path=customXml/itemProps3.xml><?xml version="1.0" encoding="utf-8"?>
<ds:datastoreItem xmlns:ds="http://schemas.openxmlformats.org/officeDocument/2006/customXml" ds:itemID="{1BBF1075-4992-4DA3-A5BC-433A425AD955}">
  <ds:schemaRefs>
    <ds:schemaRef ds:uri="http://schemas.microsoft.com/sharepoint/v3/contenttype/forms"/>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0</TotalTime>
  <Words>6203</Words>
  <Application>Microsoft Office PowerPoint</Application>
  <PresentationFormat>Widescreen</PresentationFormat>
  <Paragraphs>870</Paragraphs>
  <Slides>69</Slides>
  <Notes>69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Wingdings</vt:lpstr>
      <vt:lpstr>Montserrat</vt:lpstr>
      <vt:lpstr>Public Sans Light</vt:lpstr>
      <vt:lpstr>Arial</vt:lpstr>
      <vt:lpstr>Times New Roman</vt:lpstr>
      <vt:lpstr>Calibri</vt:lpstr>
      <vt:lpstr>Public Sans</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distance across NSW</vt:lpstr>
      <vt:lpstr>Review of learning 2</vt:lpstr>
      <vt:lpstr>True or false (1)</vt:lpstr>
      <vt:lpstr>Short response (5)</vt:lpstr>
      <vt:lpstr>Short response (6)</vt:lpstr>
      <vt:lpstr>Short response (7)</vt:lpstr>
      <vt:lpstr>Short response (8)</vt:lpstr>
      <vt:lpstr>Activity 2 – estimation</vt:lpstr>
      <vt:lpstr>Review of learning 3</vt:lpstr>
      <vt:lpstr>Multiple choice (2)</vt:lpstr>
      <vt:lpstr>Short response (9)</vt:lpstr>
      <vt:lpstr>Short response (10)</vt:lpstr>
      <vt:lpstr>Short response (11)</vt:lpstr>
      <vt:lpstr>Short response (12)</vt:lpstr>
      <vt:lpstr>Activity 3 – rounding on a number line</vt:lpstr>
      <vt:lpstr>Review of learning 4</vt:lpstr>
      <vt:lpstr>True or false (2)</vt:lpstr>
      <vt:lpstr>Short response (13)</vt:lpstr>
      <vt:lpstr>Short response (14)</vt:lpstr>
      <vt:lpstr>Short response (15)</vt:lpstr>
      <vt:lpstr>Short response (16)</vt:lpstr>
      <vt:lpstr>Activity 4 – reasonable estimations</vt:lpstr>
      <vt:lpstr>Review of learning 5</vt:lpstr>
      <vt:lpstr>Multiple choice (3)</vt:lpstr>
      <vt:lpstr>Short response (17)</vt:lpstr>
      <vt:lpstr>Short response (18)</vt:lpstr>
      <vt:lpstr>Short response (19)</vt:lpstr>
      <vt:lpstr>Short response (20)</vt:lpstr>
      <vt:lpstr>Activity 5 – find the area</vt:lpstr>
      <vt:lpstr>Review of learning 6</vt:lpstr>
      <vt:lpstr>True or false (3)</vt:lpstr>
      <vt:lpstr>Short response (21)</vt:lpstr>
      <vt:lpstr>Short response (22)</vt:lpstr>
      <vt:lpstr>Short response (23)</vt:lpstr>
      <vt:lpstr>Short response (24)</vt:lpstr>
      <vt:lpstr>Activity 6 – solve it </vt:lpstr>
      <vt:lpstr>Review of learning 7</vt:lpstr>
      <vt:lpstr>Multiple choice (4)</vt:lpstr>
      <vt:lpstr>Short response (25)</vt:lpstr>
      <vt:lpstr>Short response (26)</vt:lpstr>
      <vt:lpstr>Short response (27)</vt:lpstr>
      <vt:lpstr>Short response (28))</vt:lpstr>
      <vt:lpstr>Activity 7 – age maths puzzle</vt:lpstr>
      <vt:lpstr>Review of learning 8</vt:lpstr>
      <vt:lpstr>True or false (4)</vt:lpstr>
      <vt:lpstr>Short response (29)</vt:lpstr>
      <vt:lpstr>Short response (30)</vt:lpstr>
      <vt:lpstr>Short response (31)</vt:lpstr>
      <vt:lpstr>Short response (32)</vt:lpstr>
      <vt:lpstr>Activity 8 – multiplication word problem</vt:lpstr>
      <vt:lpstr>Double Venn diagram</vt:lpstr>
      <vt:lpstr>Frayer</vt:lpstr>
      <vt:lpstr>Spider map</vt:lpstr>
      <vt:lpstr>Cline</vt:lpstr>
      <vt:lpstr>Compare and contrast</vt:lpstr>
      <vt:lpstr>Multiple choice (5)</vt:lpstr>
      <vt:lpstr>Multiple choice</vt:lpstr>
      <vt:lpstr>References</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2026-06-21T22:47:26Z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