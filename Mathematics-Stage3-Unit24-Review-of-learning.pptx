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5"/>
  </p:notesMasterIdLst>
  <p:handoutMasterIdLst>
    <p:handoutMasterId r:id="rId76"/>
  </p:handoutMasterIdLst>
  <p:sldIdLst>
    <p:sldId id="365" r:id="rId5"/>
    <p:sldId id="26579" r:id="rId6"/>
    <p:sldId id="26359" r:id="rId7"/>
    <p:sldId id="271" r:id="rId8"/>
    <p:sldId id="26577" r:id="rId9"/>
    <p:sldId id="358" r:id="rId10"/>
    <p:sldId id="26580" r:id="rId11"/>
    <p:sldId id="26581" r:id="rId12"/>
    <p:sldId id="26582" r:id="rId13"/>
    <p:sldId id="26576" r:id="rId14"/>
    <p:sldId id="26647" r:id="rId15"/>
    <p:sldId id="26583" r:id="rId16"/>
    <p:sldId id="26586" r:id="rId17"/>
    <p:sldId id="26587" r:id="rId18"/>
    <p:sldId id="26588" r:id="rId19"/>
    <p:sldId id="26589" r:id="rId20"/>
    <p:sldId id="26590" r:id="rId21"/>
    <p:sldId id="26591" r:id="rId22"/>
    <p:sldId id="26592" r:id="rId23"/>
    <p:sldId id="26593" r:id="rId24"/>
    <p:sldId id="26596" r:id="rId25"/>
    <p:sldId id="26597" r:id="rId26"/>
    <p:sldId id="26598" r:id="rId27"/>
    <p:sldId id="26599" r:id="rId28"/>
    <p:sldId id="26600" r:id="rId29"/>
    <p:sldId id="26601" r:id="rId30"/>
    <p:sldId id="26604" r:id="rId31"/>
    <p:sldId id="26605" r:id="rId32"/>
    <p:sldId id="26606" r:id="rId33"/>
    <p:sldId id="26607" r:id="rId34"/>
    <p:sldId id="26608" r:id="rId35"/>
    <p:sldId id="26609" r:id="rId36"/>
    <p:sldId id="26610" r:id="rId37"/>
    <p:sldId id="26612" r:id="rId38"/>
    <p:sldId id="26614" r:id="rId39"/>
    <p:sldId id="26615" r:id="rId40"/>
    <p:sldId id="26616" r:id="rId41"/>
    <p:sldId id="26617" r:id="rId42"/>
    <p:sldId id="26618" r:id="rId43"/>
    <p:sldId id="26619" r:id="rId44"/>
    <p:sldId id="26622" r:id="rId45"/>
    <p:sldId id="26623" r:id="rId46"/>
    <p:sldId id="26624" r:id="rId47"/>
    <p:sldId id="26625" r:id="rId48"/>
    <p:sldId id="26626" r:id="rId49"/>
    <p:sldId id="26627" r:id="rId50"/>
    <p:sldId id="26628" r:id="rId51"/>
    <p:sldId id="26646" r:id="rId52"/>
    <p:sldId id="26632" r:id="rId53"/>
    <p:sldId id="26633" r:id="rId54"/>
    <p:sldId id="26634" r:id="rId55"/>
    <p:sldId id="26635" r:id="rId56"/>
    <p:sldId id="26636" r:id="rId57"/>
    <p:sldId id="26637" r:id="rId58"/>
    <p:sldId id="26640" r:id="rId59"/>
    <p:sldId id="26641" r:id="rId60"/>
    <p:sldId id="26642" r:id="rId61"/>
    <p:sldId id="26643" r:id="rId62"/>
    <p:sldId id="26644" r:id="rId63"/>
    <p:sldId id="26645" r:id="rId64"/>
    <p:sldId id="26393" r:id="rId65"/>
    <p:sldId id="26387" r:id="rId66"/>
    <p:sldId id="26395" r:id="rId67"/>
    <p:sldId id="26391" r:id="rId68"/>
    <p:sldId id="26402" r:id="rId69"/>
    <p:sldId id="26507" r:id="rId70"/>
    <p:sldId id="26510" r:id="rId71"/>
    <p:sldId id="360" r:id="rId72"/>
    <p:sldId id="26648" r:id="rId73"/>
    <p:sldId id="361" r:id="rId74"/>
  </p:sldIdLst>
  <p:sldSz cx="12192000" cy="6858000"/>
  <p:notesSz cx="6858000" cy="9144000"/>
  <p:embeddedFontLst>
    <p:embeddedFont>
      <p:font typeface="Cambria Math" panose="02040503050406030204" pitchFamily="18" charset="0"/>
      <p:regular r:id="rId77"/>
    </p:embeddedFont>
    <p:embeddedFont>
      <p:font typeface="Montserrat" panose="00000500000000000000" pitchFamily="2" charset="0"/>
      <p:regular r:id="rId78"/>
      <p:bold r:id="rId79"/>
      <p:italic r:id="rId80"/>
      <p:boldItalic r:id="rId81"/>
    </p:embeddedFont>
    <p:embeddedFont>
      <p:font typeface="Public Sans" pitchFamily="2" charset="0"/>
      <p:regular r:id="rId82"/>
      <p:bold r:id="rId83"/>
      <p:italic r:id="rId84"/>
      <p:boldItalic r:id="rId85"/>
    </p:embeddedFont>
    <p:embeddedFont>
      <p:font typeface="Public Sans Light" pitchFamily="2" charset="0"/>
      <p:regular r:id="rId86"/>
      <p:italic r:id="rId87"/>
    </p:embeddedFont>
    <p:embeddedFont>
      <p:font typeface="Segoe UI" panose="020B0502040204020203" pitchFamily="34" charset="0"/>
      <p:regular r:id="rId88"/>
      <p:bold r:id="rId89"/>
      <p:italic r:id="rId90"/>
      <p:boldItalic r:id="rId91"/>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582"/>
            <p14:sldId id="26576"/>
            <p14:sldId id="26647"/>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2"/>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6"/>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360"/>
            <p14:sldId id="26648"/>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4"/>
    <a:srgbClr val="2507D1"/>
    <a:srgbClr val="874323"/>
    <a:srgbClr val="87D830"/>
    <a:srgbClr val="EA9B0C"/>
    <a:srgbClr val="007A8A"/>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978DF2-2F1F-4A14-AE46-5FD1CE4889BF}" v="6" dt="2025-11-29T08:31:49.503"/>
    <p1510:client id="{AF2F3C14-6D64-4390-939C-EC4FD53F7904}" v="138" dt="2025-11-29T12:53:42.238"/>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193" autoAdjust="0"/>
  </p:normalViewPr>
  <p:slideViewPr>
    <p:cSldViewPr snapToGrid="0">
      <p:cViewPr varScale="1">
        <p:scale>
          <a:sx n="75" d="100"/>
          <a:sy n="75" d="100"/>
        </p:scale>
        <p:origin x="868" y="48"/>
      </p:cViewPr>
      <p:guideLst>
        <p:guide orient="horz" pos="2160"/>
        <p:guide pos="3863"/>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8.fntdata"/><Relationship Id="rId89" Type="http://schemas.openxmlformats.org/officeDocument/2006/relationships/font" Target="fonts/font13.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3.fntdata"/><Relationship Id="rId5" Type="http://schemas.openxmlformats.org/officeDocument/2006/relationships/slide" Target="slides/slide1.xml"/><Relationship Id="rId90" Type="http://schemas.openxmlformats.org/officeDocument/2006/relationships/font" Target="fonts/font14.fntdata"/><Relationship Id="rId95"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4.fntdata"/><Relationship Id="rId85" Type="http://schemas.openxmlformats.org/officeDocument/2006/relationships/font" Target="fonts/font9.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font" Target="fonts/font12.fntdata"/><Relationship Id="rId91" Type="http://schemas.openxmlformats.org/officeDocument/2006/relationships/font" Target="fonts/font15.fntdata"/><Relationship Id="rId9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97" Type="http://schemas.microsoft.com/office/2018/10/relationships/authors" Targe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1.fntdata"/><Relationship Id="rId61" Type="http://schemas.openxmlformats.org/officeDocument/2006/relationships/slide" Target="slides/slide57.xml"/><Relationship Id="rId82" Type="http://schemas.openxmlformats.org/officeDocument/2006/relationships/font" Target="fonts/font6.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1.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1/12/2025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1/12/2025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X Unit 22</a:t>
            </a:r>
          </a:p>
          <a:p>
            <a:pPr marL="285750" indent="-285750">
              <a:buFont typeface="Arial" panose="020B0604020202020204" pitchFamily="34" charset="0"/>
              <a:buChar char="•"/>
            </a:pPr>
            <a:r>
              <a:rPr lang="en-AU"/>
              <a:t>Stage 3 Year X Unit 23</a:t>
            </a:r>
          </a:p>
          <a:p>
            <a:pPr marL="285750" indent="-285750">
              <a:buFont typeface="Arial" panose="020B0604020202020204" pitchFamily="34" charset="0"/>
              <a:buChar char="•"/>
            </a:pPr>
            <a:r>
              <a:rPr lang="en-AU"/>
              <a:t>Stage 3 Year X Unit 24</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B</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B</a:t>
            </a:r>
          </a:p>
          <a:p>
            <a:endParaRPr lang="en-AU"/>
          </a:p>
          <a:p>
            <a:r>
              <a:rPr lang="en-AU" b="1"/>
              <a:t>Activity title 1 – compare and represent fractions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Jas has 60 marbles. She decides to keep half and give half to a friend. Ask students to record the fraction and the quantity Jas and her friend would each get on individual whiteboards.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the process to share the marbles between increasing numbers of friends: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4 friends: one quarter = 15</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5 friends: one fifth = 12</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10 friends: one tenth= 6.</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Are there any numbers of friends that Jas won’t be able to share her marbles equally with? (Yes. Numbers such as 7, 8, and 9 friends.)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do you know? (60 is not a multiple of numbers such as 7, 8 or 9 and therefore cannot be shared equally.)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place each fraction on a number line (next slide) and discuss how the quantity each friend gets is smaller each time the denominator increases. Some students may like the challenge of checking to see whether this works for other fractions, such as eighths and twentieths. Support students to revise that this is how the size of fractions is different to whole numbers.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6A247-ED3C-03A2-FD41-BCDD08F68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35F68-D68F-BABC-9F92-39FF22A995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B874B5-6D4E-E5BE-3597-E199EA4C5BA6}"/>
              </a:ext>
            </a:extLst>
          </p:cNvPr>
          <p:cNvSpPr>
            <a:spLocks noGrp="1"/>
          </p:cNvSpPr>
          <p:nvPr>
            <p:ph type="body" idx="1"/>
          </p:nvPr>
        </p:nvSpPr>
        <p:spPr/>
        <p:txBody>
          <a:bodyPr/>
          <a:lstStyle/>
          <a:p>
            <a:endParaRPr lang="en-AU"/>
          </a:p>
          <a:p>
            <a:r>
              <a:rPr lang="en-AU" b="1"/>
              <a:t>Activity title 1 – compare and represent fractions (continued)</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BE137C07-5A05-5D90-D11D-40E93DBBB062}"/>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314671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B</a:t>
            </a:r>
          </a:p>
          <a:p>
            <a:endParaRPr lang="en-AU"/>
          </a:p>
          <a:p>
            <a:r>
              <a:rPr lang="en-AU" b="1"/>
              <a:t>Activity 2 – ordering fractions</a:t>
            </a:r>
          </a:p>
          <a:p>
            <a:r>
              <a:rPr lang="en-AU" b="0"/>
              <a:t>This resource corresponds to </a:t>
            </a:r>
            <a:r>
              <a:rPr lang="en-AU" sz="1600" kern="1200">
                <a:solidFill>
                  <a:schemeClr val="tx1"/>
                </a:solidFill>
                <a:effectLst/>
                <a:latin typeface="Arial" panose="020B0604020202020204" pitchFamily="34" charset="0"/>
                <a:ea typeface="+mn-ea"/>
                <a:cs typeface="Arial" panose="020B0604020202020204" pitchFamily="34" charset="0"/>
              </a:rPr>
              <a:t>Resource 17 </a:t>
            </a:r>
            <a:r>
              <a:rPr lang="en-AU" b="0"/>
              <a:t>–  </a:t>
            </a:r>
            <a:r>
              <a:rPr lang="en-AU" sz="1600" kern="1200">
                <a:solidFill>
                  <a:schemeClr val="tx1"/>
                </a:solidFill>
                <a:effectLst/>
                <a:latin typeface="Arial" panose="020B0604020202020204" pitchFamily="34" charset="0"/>
                <a:ea typeface="+mn-ea"/>
                <a:cs typeface="Arial" panose="020B0604020202020204" pitchFamily="34" charset="0"/>
              </a:rPr>
              <a:t>Which fraction doesn’t belong?</a:t>
            </a:r>
            <a:r>
              <a:rPr lang="en-AU" b="0"/>
              <a:t> in Stage 3 Year B Unit 24. </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discuss how they are all related to thirds.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then discuss how each could be the odd one out. Ideas include: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 is different because it is the only one that shows one-third.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B is different because it is the only diagram that shows more than one.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 is different because it is the only one shown with fractional notation, without a diagram.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 is different because it shows sixths, which must be simplified to find thirds.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draw a number line on an individual whiteboard and use it to order and place the 4 fractions represented.</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quantity fractions B</a:t>
            </a:r>
            <a:endParaRPr lang="en-AU" sz="1600" i="0">
              <a:solidFill>
                <a:schemeClr val="tx1"/>
              </a:solidFill>
              <a:highlight>
                <a:srgbClr val="FFFF00"/>
              </a:highlight>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B</a:t>
            </a:r>
          </a:p>
          <a:p>
            <a:endParaRPr lang="en-AU"/>
          </a:p>
          <a:p>
            <a:r>
              <a:rPr lang="en-AU" b="1"/>
              <a:t>Activity title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how many ways they can show a half, using a different denominator each time. For example, two quarters, three sixths, fifty hundredths, sixteen thirty-seconds, two hundred four-hundredths, and so on. Students continue the process in pairs, recording on individual whiteboards.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share all the different ways they made halves. As a class, discuss what is always the same about the relationship between the numerator and the denominator. For example, the numerator is always half the size of the denominator.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Call out fractions such as three sixths, six tenths, and forty fiftieths. Students state whether each fraction is exactly one half, close to one half, or not close to one half.</a:t>
            </a:r>
            <a:endParaRPr lang="en-AU" b="1"/>
          </a:p>
          <a:p>
            <a:pPr marL="342900" indent="-342900">
              <a:buFont typeface="Arial" panose="020B0604020202020204" pitchFamily="34" charset="0"/>
              <a:buChar char="•"/>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B</a:t>
            </a:r>
          </a:p>
          <a:p>
            <a:endParaRPr lang="en-AU" b="1"/>
          </a:p>
          <a:p>
            <a:r>
              <a:rPr lang="en-AU" b="1"/>
              <a:t>Activity 4 – area model and fractions</a:t>
            </a:r>
          </a:p>
          <a:p>
            <a:r>
              <a:rPr lang="en-AU" sz="1600" b="0" kern="1200">
                <a:solidFill>
                  <a:schemeClr val="tx1"/>
                </a:solidFill>
                <a:effectLst/>
                <a:latin typeface="Arial" panose="020B0604020202020204" pitchFamily="34" charset="0"/>
                <a:ea typeface="+mn-ea"/>
                <a:cs typeface="Arial" panose="020B0604020202020204" pitchFamily="34" charset="0"/>
              </a:rPr>
              <a:t>Explain</a:t>
            </a:r>
            <a:r>
              <a:rPr lang="en-AU" sz="1600" kern="1200">
                <a:solidFill>
                  <a:schemeClr val="tx1"/>
                </a:solidFill>
                <a:effectLst/>
                <a:latin typeface="Arial" panose="020B0604020202020204" pitchFamily="34" charset="0"/>
                <a:ea typeface="+mn-ea"/>
                <a:cs typeface="Arial" panose="020B0604020202020204" pitchFamily="34" charset="0"/>
              </a:rPr>
              <a:t> that to create equivalent fractions for half in quarters, eighths, sixths and tenths we redivide the whole.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Demonstrate subdividing the area of a rectangle by both length and width to represent the multiplicative relationship between common and equivalent fractions. For example, fold a paper rectangle to show half. Fold it again to show quarters.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how many quarters are there in a half?</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 with 3 rectangle pieces of paper of equal size. In pairs, students subdivide the rectangle to create equivalent representations for half in quarters, eighths, sixths and tenths.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identify any other equivalent fractions and record these.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order the common fractions on a number line.</a:t>
            </a:r>
          </a:p>
          <a:p>
            <a:pPr marL="285750" indent="-285750">
              <a:buFont typeface="Arial" panose="020B0604020202020204" pitchFamily="34" charset="0"/>
              <a:buChar char="•"/>
            </a:pP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34F17-CD8E-8D00-54E2-6FEB75C9B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01F71-E848-F722-C2A1-8D30DD114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533E3-1064-AE44-0F73-0B71A2F1CF0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D3C98C79-F24D-D293-5D72-3E1A9BA0B197}"/>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23562966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 Decimals and percentages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Mass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Additive relations A</a:t>
            </a:r>
          </a:p>
          <a:p>
            <a:endParaRPr lang="en-AU"/>
          </a:p>
          <a:p>
            <a:r>
              <a:rPr lang="en-AU" sz="1600" b="1" kern="1200">
                <a:solidFill>
                  <a:schemeClr val="tx1"/>
                </a:solidFill>
                <a:effectLst/>
                <a:latin typeface="Arial" panose="020B0604020202020204" pitchFamily="34" charset="0"/>
                <a:ea typeface="+mn-ea"/>
                <a:cs typeface="Arial" panose="020B0604020202020204" pitchFamily="34" charset="0"/>
              </a:rPr>
              <a:t>Activity 5 – addition strategies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1"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kern="1200">
                <a:solidFill>
                  <a:schemeClr val="tx1"/>
                </a:solidFill>
                <a:effectLst/>
                <a:latin typeface="Arial" panose="020B0604020202020204" pitchFamily="34" charset="0"/>
                <a:ea typeface="+mn-ea"/>
                <a:cs typeface="Arial" panose="020B0604020202020204" pitchFamily="34" charset="0"/>
              </a:rPr>
              <a:t>Note: </a:t>
            </a: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‘Bull’s Eye’ from Creative problem solving in school mathematics: A handbook for teachers, parents and students by Lenchner.</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1"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3 darts have been thrown at this target and at least one of the darts has hit the bullseye.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what point totals are possible. Students work in small groups to discuss strategies to find possible totals.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a range of student responses and strategies to share with the class.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many possibilities are there? How do you know you have found all of them? (There are 6 possibilities.)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addition strategies did you use to determine the total?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numbers were easiest to add together? Why?</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Mass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Additive relations A</a:t>
            </a:r>
          </a:p>
          <a:p>
            <a:endParaRPr lang="en-AU"/>
          </a:p>
          <a:p>
            <a:r>
              <a:rPr lang="en-AU" b="1"/>
              <a:t>Activity 6 – subtraction strategies</a:t>
            </a:r>
          </a:p>
          <a:p>
            <a:r>
              <a:rPr lang="en-AU" sz="1600" b="1" kern="1200">
                <a:solidFill>
                  <a:schemeClr val="tx1"/>
                </a:solidFill>
                <a:effectLst/>
                <a:latin typeface="Arial" panose="020B0604020202020204" pitchFamily="34" charset="0"/>
                <a:ea typeface="+mn-ea"/>
                <a:cs typeface="Arial" panose="020B0604020202020204" pitchFamily="34" charset="0"/>
              </a:rPr>
              <a:t>Note: </a:t>
            </a:r>
            <a:r>
              <a:rPr lang="en-AU" sz="1600" kern="1200">
                <a:solidFill>
                  <a:schemeClr val="tx1"/>
                </a:solidFill>
                <a:effectLst/>
                <a:latin typeface="Arial" panose="020B0604020202020204" pitchFamily="34" charset="0"/>
                <a:ea typeface="+mn-ea"/>
                <a:cs typeface="Arial" panose="020B0604020202020204" pitchFamily="34" charset="0"/>
              </a:rPr>
              <a:t>This activity is an adaption of Dicey Operations in Line from NRICH by University of Cambridge.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record how they would solve this on individual whiteboards.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Ask: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strategy did you use to solve this problem?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could addition help solve this problem? (Add 3 to 2997 to make 3000. The difference is easier to work out as 3005, so the difference is 3008).</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Are there any other strategies that can be used to solve this problem?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strategy is the most efficient strategy?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students are to play a game subtracting 2 numbers. The winner is the student that gets closest to zero whether the answer is a positive or negative integer.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four 9-sided dice. Students roll the dice twice to make two 4-digit numbers and record these in a number sentence. For example: 4632 – 3875 = 757.</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can manipulate the 4-digit numbers from any of the numbers rolled. For example, if 6, 4, 2 and 3 are rolled, students can choose to record 6432, 2346 or 4632 and so 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students are playing, move around the room and engage students in discussion about the strategies they use. Students play multiple rounds.</a:t>
            </a:r>
          </a:p>
          <a:p>
            <a:pPr marL="285750" indent="-285750">
              <a:buFont typeface="Arial" panose="020B0604020202020204" pitchFamily="34" charset="0"/>
              <a:buChar char="•"/>
            </a:pPr>
            <a:endParaRPr lang="en-AU" b="1"/>
          </a:p>
          <a:p>
            <a:pPr marL="0" indent="0">
              <a:buFont typeface="Arial" panose="020B0604020202020204" pitchFamily="34" charset="0"/>
              <a:buNone/>
            </a:pPr>
            <a:endParaRPr lang="en-AU" b="0"/>
          </a:p>
          <a:p>
            <a:pPr marL="285750" indent="-285750">
              <a:buFont typeface="Arial" panose="020B0604020202020204" pitchFamily="34" charset="0"/>
              <a:buChar char="•"/>
            </a:pPr>
            <a:endParaRPr lang="en-AU" b="1"/>
          </a:p>
          <a:p>
            <a:pPr marL="342900" indent="-342900">
              <a:buFont typeface="Arial" panose="020B0604020202020204" pitchFamily="34" charset="0"/>
              <a:buChar char="•"/>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A6608-DB56-C248-0DA2-9BEE11A6E6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42118-6551-4481-114D-7D91C2058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C4563-6C2E-ED8B-B102-EA3E3B999F1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6A59B031-A754-EB26-01DA-98BDA68D99B9}"/>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2075720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B: Time</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Additive relations A</a:t>
            </a:r>
          </a:p>
          <a:p>
            <a:endParaRPr lang="en-AU" b="1"/>
          </a:p>
          <a:p>
            <a:r>
              <a:rPr lang="en-AU" b="1"/>
              <a:t>Activity 7 – addition and subtraction strategies</a:t>
            </a:r>
          </a:p>
          <a:p>
            <a:r>
              <a:rPr lang="en-AU" sz="1600" b="1" kern="1200">
                <a:solidFill>
                  <a:schemeClr val="tx1"/>
                </a:solidFill>
                <a:effectLst/>
                <a:latin typeface="Arial" panose="020B0604020202020204" pitchFamily="34" charset="0"/>
                <a:ea typeface="+mn-ea"/>
                <a:cs typeface="Arial" panose="020B0604020202020204" pitchFamily="34" charset="0"/>
              </a:rPr>
              <a:t>Note: </a:t>
            </a:r>
            <a:r>
              <a:rPr lang="en-AU" sz="1600" kern="1200">
                <a:solidFill>
                  <a:schemeClr val="tx1"/>
                </a:solidFill>
                <a:effectLst/>
                <a:latin typeface="Arial" panose="020B0604020202020204" pitchFamily="34" charset="0"/>
                <a:ea typeface="+mn-ea"/>
                <a:cs typeface="Arial" panose="020B0604020202020204" pitchFamily="34" charset="0"/>
              </a:rPr>
              <a:t>This activity is an adaption of Dicey Operations in Line from NRICH by University of Cambridge.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draw up a game board on their individual whiteboards.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students are to play a dice game where each round involves two parts: firstly, adding 3 numbers together and recording the total and secondly, subtracting one 4-digit number from another and recording the total.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For each total recorded that is closest to 1000, the player scores a point. The winner is the student who has the most points at the end of the game.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four 9-sided dice. Firstly, students take turns to roll the set of 4 dice twice. They use the digits rolled to make two 3-digit numbers and one 2-digit number for the addition number sentence. Explain that students can choose to fill any of the missing numbers on their addition number sentence gameboard to record the numbers they have rolled. For example, in round one, Player 1 creates the addition number sentence: 412 + 693 + 26 = 1131 and Player 2: 589 + 386 + 17 = 992.</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Whichever student has a total closest to 1000 scores a point. For example, in round one Player 2 would score a point because 992 is closer to 1000 than Player 1’s total of 1131.</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Next, students take turns rolling the set of 4 dice twice to make two 4-digit numbers and record these in a subtraction number sentence. Explain again that students can choose to fill any of the missing numbers on their subtraction number sentence gameboard to record the numbers they have rolled. For example: Player 1 creates the subtraction number sentence: 5234 – 4123 = 1111 and Player 2: 4628 – 3127 = 1501.</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Whichever student has a total closest to 1000, scores a point. For example, Player 1 would score a point in this round because 1111 is closer to 1000 than Player 2’s total of 1501.</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students are playing, move around the room and engage students in discussion about the strategies they use. Students may play multiple rounds, recording a tally of their points to find the overall winner at the end of the game.</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Additive relations A</a:t>
            </a:r>
          </a:p>
          <a:p>
            <a:endParaRPr lang="en-AU"/>
          </a:p>
          <a:p>
            <a:r>
              <a:rPr lang="en-AU" b="1"/>
              <a:t>Activity 8 – efficient calculator use</a:t>
            </a:r>
          </a:p>
          <a:p>
            <a:pPr marL="0" indent="0">
              <a:buFont typeface="Arial" panose="020B0604020202020204" pitchFamily="34" charset="0"/>
              <a:buNone/>
            </a:pPr>
            <a:r>
              <a:rPr lang="en-AU" sz="1600" b="1" kern="1200">
                <a:solidFill>
                  <a:schemeClr val="tx1"/>
                </a:solidFill>
                <a:effectLst/>
                <a:latin typeface="Arial" panose="020B0604020202020204" pitchFamily="34" charset="0"/>
                <a:ea typeface="+mn-ea"/>
                <a:cs typeface="Arial" panose="020B0604020202020204" pitchFamily="34" charset="0"/>
              </a:rPr>
              <a:t>Note: </a:t>
            </a: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It Was 2010! from NRICH by University of Cambridge.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Tell students which year their school opened in. Ask students to create a range of equations with the year as the answer. For example, a school that opened in 2010 could produce the equations: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2000 + 10</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201 × 10</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1000 + 500 + 500 + 5 + 5</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(19 × 19) + (25 × 25) + (32 × 32)</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3000 − 1000 + 10.</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students can use calculators where they think this might be quicker than mentally working out.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or small groups, students explore ways to make their school year in a variety of equations.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share solutions and discuss which were more efficient to work out mentally and where it was quicker with a calculator.</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A45E8-7ADF-8E10-4CBA-0A4E3D204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49341-4D14-8C16-E47B-C7A8E80FE6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04E2-ACF9-2BF6-C359-A8208809288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0F14D83F-43AD-32A3-6374-6A02A60F928D}"/>
              </a:ext>
            </a:extLst>
          </p:cNvPr>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157271648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7.xml"/><Relationship Id="rId3" Type="http://schemas.openxmlformats.org/officeDocument/2006/relationships/slide" Target="slide4.xml"/><Relationship Id="rId7" Type="http://schemas.openxmlformats.org/officeDocument/2006/relationships/slide" Target="slide40.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6.xml"/><Relationship Id="rId5" Type="http://schemas.openxmlformats.org/officeDocument/2006/relationships/slide" Target="slide19.xml"/><Relationship Id="rId10" Type="http://schemas.openxmlformats.org/officeDocument/2006/relationships/slide" Target="slide33.xml"/><Relationship Id="rId4" Type="http://schemas.openxmlformats.org/officeDocument/2006/relationships/slide" Target="slide12.xml"/><Relationship Id="rId9" Type="http://schemas.openxmlformats.org/officeDocument/2006/relationships/slide" Target="slide5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5.xml"/><Relationship Id="rId1" Type="http://schemas.openxmlformats.org/officeDocument/2006/relationships/slideLayout" Target="../slideLayouts/slideLayout11.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slide" Target="slide1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2" Type="http://schemas.openxmlformats.org/officeDocument/2006/relationships/notesSlide" Target="../notesSlides/notesSlide69.xml"/><Relationship Id="rId1" Type="http://schemas.openxmlformats.org/officeDocument/2006/relationships/slideLayout" Target="../slideLayouts/slideLayout13.xm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3 Year B Unit 24.</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24</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1</a:t>
              </a:r>
              <a:endParaRPr lang="en-AU">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6</a:t>
              </a:r>
              <a:endParaRPr lang="en-AU">
                <a:solidFill>
                  <a:schemeClr val="accent1"/>
                </a:solidFill>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7</a:t>
              </a:r>
              <a:endParaRPr lang="en-AU">
                <a:solidFill>
                  <a:schemeClr val="accent1"/>
                </a:solidFill>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8</a:t>
              </a:r>
              <a:endParaRPr lang="en-AU">
                <a:solidFill>
                  <a:schemeClr val="accent1"/>
                </a:solidFill>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5</a:t>
              </a:r>
              <a:endParaRPr lang="en-AU">
                <a:solidFill>
                  <a:schemeClr val="accent1"/>
                </a:solidFill>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5D11F5ED-B427-7A06-EE29-1C83BDE7EF0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240963" y="905601"/>
            <a:ext cx="11243037" cy="893226"/>
          </a:xfrm>
        </p:spPr>
        <p:txBody>
          <a:bodyPr/>
          <a:lstStyle/>
          <a:p>
            <a:pPr algn="ctr"/>
            <a:r>
              <a:rPr lang="en-US" sz="4400" dirty="0"/>
              <a:t>Which of the following lists these fractions in </a:t>
            </a:r>
            <a:r>
              <a:rPr lang="en-US" sz="4400" b="1" dirty="0"/>
              <a:t>ascending order</a:t>
            </a:r>
            <a:r>
              <a:rPr lang="en-US" sz="4400" dirty="0"/>
              <a: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55D882C-AF43-C390-844D-CF785253532C}"/>
                  </a:ext>
                </a:extLst>
              </p:cNvPr>
              <p:cNvSpPr txBox="1"/>
              <p:nvPr/>
            </p:nvSpPr>
            <p:spPr>
              <a:xfrm>
                <a:off x="1384149" y="3190180"/>
                <a:ext cx="2834050" cy="96212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a:t>A </a:t>
                </a:r>
                <a14:m>
                  <m:oMath xmlns:m="http://schemas.openxmlformats.org/officeDocument/2006/math">
                    <m:f>
                      <m:fPr>
                        <m:ctrlPr>
                          <a:rPr lang="en-AU" sz="4400" i="1">
                            <a:latin typeface="Cambria Math" panose="02040503050406030204" pitchFamily="18" charset="0"/>
                          </a:rPr>
                        </m:ctrlPr>
                      </m:fPr>
                      <m:num>
                        <m:r>
                          <a:rPr lang="en-AU" sz="4400">
                            <a:latin typeface="Cambria Math" panose="02040503050406030204" pitchFamily="18" charset="0"/>
                          </a:rPr>
                          <m:t>1</m:t>
                        </m:r>
                      </m:num>
                      <m:den>
                        <m:r>
                          <a:rPr lang="en-AU" sz="4400">
                            <a:latin typeface="Cambria Math" panose="02040503050406030204" pitchFamily="18" charset="0"/>
                          </a:rPr>
                          <m:t>8</m:t>
                        </m:r>
                      </m:den>
                    </m:f>
                    <m:r>
                      <a:rPr lang="en-AU" sz="4400" b="0" i="0" smtClean="0">
                        <a:latin typeface="Cambria Math" panose="02040503050406030204" pitchFamily="18" charset="0"/>
                      </a:rPr>
                      <m:t>, </m:t>
                    </m:r>
                    <m:f>
                      <m:fPr>
                        <m:ctrlPr>
                          <a:rPr lang="en-AU" sz="4400" i="1">
                            <a:latin typeface="Cambria Math" panose="02040503050406030204" pitchFamily="18" charset="0"/>
                          </a:rPr>
                        </m:ctrlPr>
                      </m:fPr>
                      <m:num>
                        <m:r>
                          <a:rPr lang="en-AU" sz="4400">
                            <a:latin typeface="Cambria Math" panose="02040503050406030204" pitchFamily="18" charset="0"/>
                          </a:rPr>
                          <m:t>2</m:t>
                        </m:r>
                      </m:num>
                      <m:den>
                        <m:r>
                          <a:rPr lang="en-AU" sz="4400">
                            <a:latin typeface="Cambria Math" panose="02040503050406030204" pitchFamily="18" charset="0"/>
                          </a:rPr>
                          <m:t>4</m:t>
                        </m:r>
                      </m:den>
                    </m:f>
                    <m:r>
                      <a:rPr lang="en-AU" sz="4400" b="0" i="0" smtClean="0">
                        <a:latin typeface="Cambria Math" panose="02040503050406030204" pitchFamily="18" charset="0"/>
                      </a:rPr>
                      <m:t>,</m:t>
                    </m:r>
                  </m:oMath>
                </a14:m>
                <a:r>
                  <a:rPr lang="en-AU" sz="4400"/>
                  <a:t> </a:t>
                </a:r>
                <a14:m>
                  <m:oMath xmlns:m="http://schemas.openxmlformats.org/officeDocument/2006/math">
                    <m:f>
                      <m:fPr>
                        <m:ctrlPr>
                          <a:rPr lang="en-AU" sz="4400" i="1">
                            <a:latin typeface="Cambria Math" panose="02040503050406030204" pitchFamily="18" charset="0"/>
                          </a:rPr>
                        </m:ctrlPr>
                      </m:fPr>
                      <m:num>
                        <m:r>
                          <a:rPr lang="en-AU" sz="4400">
                            <a:latin typeface="Cambria Math" panose="02040503050406030204" pitchFamily="18" charset="0"/>
                          </a:rPr>
                          <m:t>1</m:t>
                        </m:r>
                      </m:num>
                      <m:den>
                        <m:r>
                          <a:rPr lang="en-AU" sz="4400" b="0" i="0" smtClean="0">
                            <a:latin typeface="Cambria Math" panose="02040503050406030204" pitchFamily="18" charset="0"/>
                          </a:rPr>
                          <m:t>4</m:t>
                        </m:r>
                      </m:den>
                    </m:f>
                    <m:r>
                      <a:rPr lang="en-AU" sz="4400" b="0" i="0" smtClean="0">
                        <a:latin typeface="Cambria Math" panose="02040503050406030204" pitchFamily="18" charset="0"/>
                      </a:rPr>
                      <m:t>,</m:t>
                    </m:r>
                  </m:oMath>
                </a14:m>
                <a:r>
                  <a:rPr lang="en-AU" sz="4400"/>
                  <a:t> </a:t>
                </a:r>
                <a14:m>
                  <m:oMath xmlns:m="http://schemas.openxmlformats.org/officeDocument/2006/math">
                    <m:f>
                      <m:fPr>
                        <m:ctrlPr>
                          <a:rPr lang="en-AU" sz="4400" i="1">
                            <a:latin typeface="Cambria Math" panose="02040503050406030204" pitchFamily="18" charset="0"/>
                          </a:rPr>
                        </m:ctrlPr>
                      </m:fPr>
                      <m:num>
                        <m:r>
                          <a:rPr lang="en-AU" sz="4400">
                            <a:latin typeface="Cambria Math" panose="02040503050406030204" pitchFamily="18" charset="0"/>
                          </a:rPr>
                          <m:t>3</m:t>
                        </m:r>
                      </m:num>
                      <m:den>
                        <m:r>
                          <a:rPr lang="en-AU" sz="4400">
                            <a:latin typeface="Cambria Math" panose="02040503050406030204" pitchFamily="18" charset="0"/>
                          </a:rPr>
                          <m:t>8</m:t>
                        </m:r>
                      </m:den>
                    </m:f>
                  </m:oMath>
                </a14:m>
                <a:r>
                  <a:rPr lang="en-AU" sz="4400"/>
                  <a:t> </a:t>
                </a:r>
                <a:endParaRPr lang="en-US" sz="4400" b="1"/>
              </a:p>
            </p:txBody>
          </p:sp>
        </mc:Choice>
        <mc:Fallback xmlns="">
          <p:sp>
            <p:nvSpPr>
              <p:cNvPr id="9" name="TextBox 8">
                <a:extLst>
                  <a:ext uri="{FF2B5EF4-FFF2-40B4-BE49-F238E27FC236}">
                    <a16:creationId xmlns:a16="http://schemas.microsoft.com/office/drawing/2014/main" id="{055D882C-AF43-C390-844D-CF785253532C}"/>
                  </a:ext>
                </a:extLst>
              </p:cNvPr>
              <p:cNvSpPr txBox="1">
                <a:spLocks noRot="1" noChangeAspect="1" noMove="1" noResize="1" noEditPoints="1" noAdjustHandles="1" noChangeArrowheads="1" noChangeShapeType="1" noTextEdit="1"/>
              </p:cNvSpPr>
              <p:nvPr/>
            </p:nvSpPr>
            <p:spPr>
              <a:xfrm>
                <a:off x="1384149" y="3190180"/>
                <a:ext cx="2834050" cy="962123"/>
              </a:xfrm>
              <a:prstGeom prst="rect">
                <a:avLst/>
              </a:prstGeom>
              <a:blipFill>
                <a:blip r:embed="rId5"/>
                <a:stretch>
                  <a:fillRect l="-12903" t="-12025" b="-21519"/>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A7CB9AE-0F31-FA92-BCB3-C4AD3EF18B05}"/>
                  </a:ext>
                </a:extLst>
              </p:cNvPr>
              <p:cNvSpPr txBox="1"/>
              <p:nvPr/>
            </p:nvSpPr>
            <p:spPr>
              <a:xfrm>
                <a:off x="1384149" y="4835792"/>
                <a:ext cx="3003975" cy="96212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a:t>B </a:t>
                </a:r>
                <a14:m>
                  <m:oMath xmlns:m="http://schemas.openxmlformats.org/officeDocument/2006/math">
                    <m:f>
                      <m:fPr>
                        <m:ctrlPr>
                          <a:rPr lang="en-AU" sz="4400" i="1" smtClean="0">
                            <a:latin typeface="Cambria Math" panose="02040503050406030204" pitchFamily="18" charset="0"/>
                          </a:rPr>
                        </m:ctrlPr>
                      </m:fPr>
                      <m:num>
                        <m:r>
                          <a:rPr lang="en-AU" sz="4400" b="0" i="1" smtClean="0">
                            <a:latin typeface="Cambria Math" panose="02040503050406030204" pitchFamily="18" charset="0"/>
                          </a:rPr>
                          <m:t>1</m:t>
                        </m:r>
                      </m:num>
                      <m:den>
                        <m:r>
                          <a:rPr lang="en-AU" sz="4400" b="0" i="0" smtClean="0">
                            <a:latin typeface="Cambria Math" panose="02040503050406030204" pitchFamily="18" charset="0"/>
                          </a:rPr>
                          <m:t>4</m:t>
                        </m:r>
                      </m:den>
                    </m:f>
                    <m:r>
                      <a:rPr lang="en-AU" sz="4400">
                        <a:latin typeface="Cambria Math" panose="02040503050406030204" pitchFamily="18" charset="0"/>
                      </a:rPr>
                      <m:t>, </m:t>
                    </m:r>
                    <m:f>
                      <m:fPr>
                        <m:ctrlPr>
                          <a:rPr lang="en-AU" sz="4400" i="1">
                            <a:latin typeface="Cambria Math" panose="02040503050406030204" pitchFamily="18" charset="0"/>
                          </a:rPr>
                        </m:ctrlPr>
                      </m:fPr>
                      <m:num>
                        <m:r>
                          <a:rPr lang="en-AU" sz="4400">
                            <a:latin typeface="Cambria Math" panose="02040503050406030204" pitchFamily="18" charset="0"/>
                          </a:rPr>
                          <m:t>2</m:t>
                        </m:r>
                      </m:num>
                      <m:den>
                        <m:r>
                          <a:rPr lang="en-AU" sz="4400">
                            <a:latin typeface="Cambria Math" panose="02040503050406030204" pitchFamily="18" charset="0"/>
                          </a:rPr>
                          <m:t>4</m:t>
                        </m:r>
                      </m:den>
                    </m:f>
                    <m:r>
                      <a:rPr lang="en-AU" sz="4400">
                        <a:latin typeface="Cambria Math" panose="02040503050406030204" pitchFamily="18" charset="0"/>
                      </a:rPr>
                      <m:t>,</m:t>
                    </m:r>
                  </m:oMath>
                </a14:m>
                <a:r>
                  <a:rPr lang="en-AU" sz="4400"/>
                  <a:t> </a:t>
                </a:r>
                <a14:m>
                  <m:oMath xmlns:m="http://schemas.openxmlformats.org/officeDocument/2006/math">
                    <m:f>
                      <m:fPr>
                        <m:ctrlPr>
                          <a:rPr lang="en-AU" sz="4400" i="1">
                            <a:latin typeface="Cambria Math" panose="02040503050406030204" pitchFamily="18" charset="0"/>
                          </a:rPr>
                        </m:ctrlPr>
                      </m:fPr>
                      <m:num>
                        <m:r>
                          <a:rPr lang="en-AU" sz="4400">
                            <a:latin typeface="Cambria Math" panose="02040503050406030204" pitchFamily="18" charset="0"/>
                          </a:rPr>
                          <m:t>1</m:t>
                        </m:r>
                      </m:num>
                      <m:den>
                        <m:r>
                          <a:rPr lang="en-AU" sz="4400" b="0" i="0" smtClean="0">
                            <a:latin typeface="Cambria Math" panose="02040503050406030204" pitchFamily="18" charset="0"/>
                          </a:rPr>
                          <m:t>8</m:t>
                        </m:r>
                      </m:den>
                    </m:f>
                    <m:r>
                      <a:rPr lang="en-AU" sz="4400">
                        <a:latin typeface="Cambria Math" panose="02040503050406030204" pitchFamily="18" charset="0"/>
                      </a:rPr>
                      <m:t>,</m:t>
                    </m:r>
                  </m:oMath>
                </a14:m>
                <a:r>
                  <a:rPr lang="en-AU" sz="4400"/>
                  <a:t> </a:t>
                </a:r>
                <a14:m>
                  <m:oMath xmlns:m="http://schemas.openxmlformats.org/officeDocument/2006/math">
                    <m:f>
                      <m:fPr>
                        <m:ctrlPr>
                          <a:rPr lang="en-AU" sz="4400" i="1">
                            <a:latin typeface="Cambria Math" panose="02040503050406030204" pitchFamily="18" charset="0"/>
                          </a:rPr>
                        </m:ctrlPr>
                      </m:fPr>
                      <m:num>
                        <m:r>
                          <a:rPr lang="en-AU" sz="4400">
                            <a:latin typeface="Cambria Math" panose="02040503050406030204" pitchFamily="18" charset="0"/>
                          </a:rPr>
                          <m:t>3</m:t>
                        </m:r>
                      </m:num>
                      <m:den>
                        <m:r>
                          <a:rPr lang="en-AU" sz="4400">
                            <a:latin typeface="Cambria Math" panose="02040503050406030204" pitchFamily="18" charset="0"/>
                          </a:rPr>
                          <m:t>8</m:t>
                        </m:r>
                      </m:den>
                    </m:f>
                  </m:oMath>
                </a14:m>
                <a:r>
                  <a:rPr lang="en-AU" sz="4400"/>
                  <a:t> </a:t>
                </a:r>
                <a:endParaRPr lang="en-US" sz="4800" b="1"/>
              </a:p>
            </p:txBody>
          </p:sp>
        </mc:Choice>
        <mc:Fallback xmlns="">
          <p:sp>
            <p:nvSpPr>
              <p:cNvPr id="10" name="TextBox 9">
                <a:extLst>
                  <a:ext uri="{FF2B5EF4-FFF2-40B4-BE49-F238E27FC236}">
                    <a16:creationId xmlns:a16="http://schemas.microsoft.com/office/drawing/2014/main" id="{3A7CB9AE-0F31-FA92-BCB3-C4AD3EF18B05}"/>
                  </a:ext>
                </a:extLst>
              </p:cNvPr>
              <p:cNvSpPr txBox="1">
                <a:spLocks noRot="1" noChangeAspect="1" noMove="1" noResize="1" noEditPoints="1" noAdjustHandles="1" noChangeArrowheads="1" noChangeShapeType="1" noTextEdit="1"/>
              </p:cNvSpPr>
              <p:nvPr/>
            </p:nvSpPr>
            <p:spPr>
              <a:xfrm>
                <a:off x="1384149" y="4835792"/>
                <a:ext cx="3003975" cy="962123"/>
              </a:xfrm>
              <a:prstGeom prst="rect">
                <a:avLst/>
              </a:prstGeom>
              <a:blipFill>
                <a:blip r:embed="rId6"/>
                <a:stretch>
                  <a:fillRect l="-12170" t="-12025" b="-21519"/>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2ADCA88-1230-AEE8-EFD6-D8F0DF7EEE5C}"/>
                  </a:ext>
                </a:extLst>
              </p:cNvPr>
              <p:cNvSpPr txBox="1"/>
              <p:nvPr/>
            </p:nvSpPr>
            <p:spPr>
              <a:xfrm>
                <a:off x="7390565" y="3190180"/>
                <a:ext cx="3003975" cy="96212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a:t>C </a:t>
                </a:r>
                <a14:m>
                  <m:oMath xmlns:m="http://schemas.openxmlformats.org/officeDocument/2006/math">
                    <m:f>
                      <m:fPr>
                        <m:ctrlPr>
                          <a:rPr lang="en-AU" sz="4400" i="1">
                            <a:latin typeface="Cambria Math" panose="02040503050406030204" pitchFamily="18" charset="0"/>
                          </a:rPr>
                        </m:ctrlPr>
                      </m:fPr>
                      <m:num>
                        <m:r>
                          <a:rPr lang="en-AU" sz="4400">
                            <a:latin typeface="Cambria Math" panose="02040503050406030204" pitchFamily="18" charset="0"/>
                          </a:rPr>
                          <m:t>1</m:t>
                        </m:r>
                      </m:num>
                      <m:den>
                        <m:r>
                          <a:rPr lang="en-AU" sz="4400">
                            <a:latin typeface="Cambria Math" panose="02040503050406030204" pitchFamily="18" charset="0"/>
                          </a:rPr>
                          <m:t>8</m:t>
                        </m:r>
                      </m:den>
                    </m:f>
                    <m:r>
                      <a:rPr lang="en-AU" sz="4400">
                        <a:latin typeface="Cambria Math" panose="02040503050406030204" pitchFamily="18" charset="0"/>
                      </a:rPr>
                      <m:t>, </m:t>
                    </m:r>
                    <m:f>
                      <m:fPr>
                        <m:ctrlPr>
                          <a:rPr lang="en-AU" sz="4400" i="1">
                            <a:latin typeface="Cambria Math" panose="02040503050406030204" pitchFamily="18" charset="0"/>
                          </a:rPr>
                        </m:ctrlPr>
                      </m:fPr>
                      <m:num>
                        <m:r>
                          <a:rPr lang="en-AU" sz="4400" b="0" i="0" smtClean="0">
                            <a:latin typeface="Cambria Math" panose="02040503050406030204" pitchFamily="18" charset="0"/>
                          </a:rPr>
                          <m:t>1</m:t>
                        </m:r>
                      </m:num>
                      <m:den>
                        <m:r>
                          <a:rPr lang="en-AU" sz="4400">
                            <a:latin typeface="Cambria Math" panose="02040503050406030204" pitchFamily="18" charset="0"/>
                          </a:rPr>
                          <m:t>4</m:t>
                        </m:r>
                      </m:den>
                    </m:f>
                    <m:r>
                      <a:rPr lang="en-AU" sz="4400">
                        <a:latin typeface="Cambria Math" panose="02040503050406030204" pitchFamily="18" charset="0"/>
                      </a:rPr>
                      <m:t>,</m:t>
                    </m:r>
                  </m:oMath>
                </a14:m>
                <a:r>
                  <a:rPr lang="en-AU" sz="4400"/>
                  <a:t> </a:t>
                </a:r>
                <a14:m>
                  <m:oMath xmlns:m="http://schemas.openxmlformats.org/officeDocument/2006/math">
                    <m:f>
                      <m:fPr>
                        <m:ctrlPr>
                          <a:rPr lang="en-AU" sz="4400" i="1">
                            <a:latin typeface="Cambria Math" panose="02040503050406030204" pitchFamily="18" charset="0"/>
                          </a:rPr>
                        </m:ctrlPr>
                      </m:fPr>
                      <m:num>
                        <m:r>
                          <a:rPr lang="en-AU" sz="4400" b="0" i="0" smtClean="0">
                            <a:latin typeface="Cambria Math" panose="02040503050406030204" pitchFamily="18" charset="0"/>
                          </a:rPr>
                          <m:t>3</m:t>
                        </m:r>
                      </m:num>
                      <m:den>
                        <m:r>
                          <a:rPr lang="en-AU" sz="4400" b="0" i="0" smtClean="0">
                            <a:latin typeface="Cambria Math" panose="02040503050406030204" pitchFamily="18" charset="0"/>
                          </a:rPr>
                          <m:t>8</m:t>
                        </m:r>
                      </m:den>
                    </m:f>
                    <m:r>
                      <a:rPr lang="en-AU" sz="4400">
                        <a:latin typeface="Cambria Math" panose="02040503050406030204" pitchFamily="18" charset="0"/>
                      </a:rPr>
                      <m:t>,</m:t>
                    </m:r>
                  </m:oMath>
                </a14:m>
                <a:r>
                  <a:rPr lang="en-AU" sz="4400"/>
                  <a:t> </a:t>
                </a:r>
                <a14:m>
                  <m:oMath xmlns:m="http://schemas.openxmlformats.org/officeDocument/2006/math">
                    <m:f>
                      <m:fPr>
                        <m:ctrlPr>
                          <a:rPr lang="en-AU" sz="4400" i="1">
                            <a:latin typeface="Cambria Math" panose="02040503050406030204" pitchFamily="18" charset="0"/>
                          </a:rPr>
                        </m:ctrlPr>
                      </m:fPr>
                      <m:num>
                        <m:r>
                          <a:rPr lang="en-AU" sz="4400" b="0" i="0" smtClean="0">
                            <a:latin typeface="Cambria Math" panose="02040503050406030204" pitchFamily="18" charset="0"/>
                          </a:rPr>
                          <m:t>2</m:t>
                        </m:r>
                      </m:num>
                      <m:den>
                        <m:r>
                          <a:rPr lang="en-AU" sz="4400" b="0" i="0" smtClean="0">
                            <a:latin typeface="Cambria Math" panose="02040503050406030204" pitchFamily="18" charset="0"/>
                          </a:rPr>
                          <m:t>4</m:t>
                        </m:r>
                      </m:den>
                    </m:f>
                  </m:oMath>
                </a14:m>
                <a:r>
                  <a:rPr lang="en-AU" sz="4400"/>
                  <a:t> </a:t>
                </a:r>
                <a:endParaRPr lang="en-US" sz="4800" b="1"/>
              </a:p>
            </p:txBody>
          </p:sp>
        </mc:Choice>
        <mc:Fallback xmlns="">
          <p:sp>
            <p:nvSpPr>
              <p:cNvPr id="12" name="TextBox 11">
                <a:extLst>
                  <a:ext uri="{FF2B5EF4-FFF2-40B4-BE49-F238E27FC236}">
                    <a16:creationId xmlns:a16="http://schemas.microsoft.com/office/drawing/2014/main" id="{92ADCA88-1230-AEE8-EFD6-D8F0DF7EEE5C}"/>
                  </a:ext>
                </a:extLst>
              </p:cNvPr>
              <p:cNvSpPr txBox="1">
                <a:spLocks noRot="1" noChangeAspect="1" noMove="1" noResize="1" noEditPoints="1" noAdjustHandles="1" noChangeArrowheads="1" noChangeShapeType="1" noTextEdit="1"/>
              </p:cNvSpPr>
              <p:nvPr/>
            </p:nvSpPr>
            <p:spPr>
              <a:xfrm>
                <a:off x="7390565" y="3190180"/>
                <a:ext cx="3003975" cy="962123"/>
              </a:xfrm>
              <a:prstGeom prst="rect">
                <a:avLst/>
              </a:prstGeom>
              <a:blipFill>
                <a:blip r:embed="rId7"/>
                <a:stretch>
                  <a:fillRect l="-12170" t="-12025" b="-21519"/>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2C63D4C-D53C-5250-A986-AB949B67DEB8}"/>
                  </a:ext>
                </a:extLst>
              </p:cNvPr>
              <p:cNvSpPr txBox="1"/>
              <p:nvPr/>
            </p:nvSpPr>
            <p:spPr>
              <a:xfrm>
                <a:off x="7390565" y="4835793"/>
                <a:ext cx="3057666" cy="96212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a:t>D </a:t>
                </a:r>
                <a14:m>
                  <m:oMath xmlns:m="http://schemas.openxmlformats.org/officeDocument/2006/math">
                    <m:f>
                      <m:fPr>
                        <m:ctrlPr>
                          <a:rPr lang="en-AU" sz="4400" i="1">
                            <a:latin typeface="Cambria Math" panose="02040503050406030204" pitchFamily="18" charset="0"/>
                          </a:rPr>
                        </m:ctrlPr>
                      </m:fPr>
                      <m:num>
                        <m:r>
                          <a:rPr lang="en-AU" sz="4400" b="0" i="0" smtClean="0">
                            <a:latin typeface="Cambria Math" panose="02040503050406030204" pitchFamily="18" charset="0"/>
                          </a:rPr>
                          <m:t>3</m:t>
                        </m:r>
                      </m:num>
                      <m:den>
                        <m:r>
                          <a:rPr lang="en-AU" sz="4400">
                            <a:latin typeface="Cambria Math" panose="02040503050406030204" pitchFamily="18" charset="0"/>
                          </a:rPr>
                          <m:t>8</m:t>
                        </m:r>
                      </m:den>
                    </m:f>
                    <m:r>
                      <a:rPr lang="en-AU" sz="4400">
                        <a:latin typeface="Cambria Math" panose="02040503050406030204" pitchFamily="18" charset="0"/>
                      </a:rPr>
                      <m:t>, </m:t>
                    </m:r>
                    <m:f>
                      <m:fPr>
                        <m:ctrlPr>
                          <a:rPr lang="en-AU" sz="4400" i="1">
                            <a:latin typeface="Cambria Math" panose="02040503050406030204" pitchFamily="18" charset="0"/>
                          </a:rPr>
                        </m:ctrlPr>
                      </m:fPr>
                      <m:num>
                        <m:r>
                          <a:rPr lang="en-AU" sz="4400">
                            <a:latin typeface="Cambria Math" panose="02040503050406030204" pitchFamily="18" charset="0"/>
                          </a:rPr>
                          <m:t>2</m:t>
                        </m:r>
                      </m:num>
                      <m:den>
                        <m:r>
                          <a:rPr lang="en-AU" sz="4400">
                            <a:latin typeface="Cambria Math" panose="02040503050406030204" pitchFamily="18" charset="0"/>
                          </a:rPr>
                          <m:t>4</m:t>
                        </m:r>
                      </m:den>
                    </m:f>
                    <m:r>
                      <a:rPr lang="en-AU" sz="4400">
                        <a:latin typeface="Cambria Math" panose="02040503050406030204" pitchFamily="18" charset="0"/>
                      </a:rPr>
                      <m:t>,</m:t>
                    </m:r>
                  </m:oMath>
                </a14:m>
                <a:r>
                  <a:rPr lang="en-AU" sz="4400"/>
                  <a:t> </a:t>
                </a:r>
                <a14:m>
                  <m:oMath xmlns:m="http://schemas.openxmlformats.org/officeDocument/2006/math">
                    <m:f>
                      <m:fPr>
                        <m:ctrlPr>
                          <a:rPr lang="en-AU" sz="4400" i="1">
                            <a:latin typeface="Cambria Math" panose="02040503050406030204" pitchFamily="18" charset="0"/>
                          </a:rPr>
                        </m:ctrlPr>
                      </m:fPr>
                      <m:num>
                        <m:r>
                          <a:rPr lang="en-AU" sz="4400">
                            <a:latin typeface="Cambria Math" panose="02040503050406030204" pitchFamily="18" charset="0"/>
                          </a:rPr>
                          <m:t>1</m:t>
                        </m:r>
                      </m:num>
                      <m:den>
                        <m:r>
                          <a:rPr lang="en-AU" sz="4400">
                            <a:latin typeface="Cambria Math" panose="02040503050406030204" pitchFamily="18" charset="0"/>
                          </a:rPr>
                          <m:t>4</m:t>
                        </m:r>
                      </m:den>
                    </m:f>
                    <m:r>
                      <a:rPr lang="en-AU" sz="4400">
                        <a:latin typeface="Cambria Math" panose="02040503050406030204" pitchFamily="18" charset="0"/>
                      </a:rPr>
                      <m:t>,</m:t>
                    </m:r>
                  </m:oMath>
                </a14:m>
                <a:r>
                  <a:rPr lang="en-AU" sz="4400"/>
                  <a:t> </a:t>
                </a:r>
                <a14:m>
                  <m:oMath xmlns:m="http://schemas.openxmlformats.org/officeDocument/2006/math">
                    <m:f>
                      <m:fPr>
                        <m:ctrlPr>
                          <a:rPr lang="en-AU" sz="4400" i="1">
                            <a:latin typeface="Cambria Math" panose="02040503050406030204" pitchFamily="18" charset="0"/>
                          </a:rPr>
                        </m:ctrlPr>
                      </m:fPr>
                      <m:num>
                        <m:r>
                          <a:rPr lang="en-AU" sz="4400" b="0" i="0" smtClean="0">
                            <a:latin typeface="Cambria Math" panose="02040503050406030204" pitchFamily="18" charset="0"/>
                          </a:rPr>
                          <m:t>1</m:t>
                        </m:r>
                      </m:num>
                      <m:den>
                        <m:r>
                          <a:rPr lang="en-AU" sz="4400">
                            <a:latin typeface="Cambria Math" panose="02040503050406030204" pitchFamily="18" charset="0"/>
                          </a:rPr>
                          <m:t>8</m:t>
                        </m:r>
                      </m:den>
                    </m:f>
                  </m:oMath>
                </a14:m>
                <a:r>
                  <a:rPr lang="en-AU" sz="4400"/>
                  <a:t> </a:t>
                </a:r>
                <a:endParaRPr lang="en-US" sz="4800" b="1"/>
              </a:p>
            </p:txBody>
          </p:sp>
        </mc:Choice>
        <mc:Fallback xmlns="">
          <p:sp>
            <p:nvSpPr>
              <p:cNvPr id="11" name="TextBox 10">
                <a:extLst>
                  <a:ext uri="{FF2B5EF4-FFF2-40B4-BE49-F238E27FC236}">
                    <a16:creationId xmlns:a16="http://schemas.microsoft.com/office/drawing/2014/main" id="{F2C63D4C-D53C-5250-A986-AB949B67DEB8}"/>
                  </a:ext>
                </a:extLst>
              </p:cNvPr>
              <p:cNvSpPr txBox="1">
                <a:spLocks noRot="1" noChangeAspect="1" noMove="1" noResize="1" noEditPoints="1" noAdjustHandles="1" noChangeArrowheads="1" noChangeShapeType="1" noTextEdit="1"/>
              </p:cNvSpPr>
              <p:nvPr/>
            </p:nvSpPr>
            <p:spPr>
              <a:xfrm>
                <a:off x="7390565" y="4835793"/>
                <a:ext cx="3057666" cy="962123"/>
              </a:xfrm>
              <a:prstGeom prst="rect">
                <a:avLst/>
              </a:prstGeom>
              <a:blipFill>
                <a:blip r:embed="rId8"/>
                <a:stretch>
                  <a:fillRect l="-11952" t="-12025" b="-21519"/>
                </a:stretch>
              </a:blipFill>
            </p:spPr>
            <p:txBody>
              <a:bodyPr/>
              <a:lstStyle/>
              <a:p>
                <a:r>
                  <a:rPr lang="en-AU">
                    <a:noFill/>
                  </a:rPr>
                  <a:t> </a:t>
                </a:r>
              </a:p>
            </p:txBody>
          </p:sp>
        </mc:Fallback>
      </mc:AlternateContent>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84A8FE7-33DB-929C-0C8C-8A162A9C5AFA}"/>
                  </a:ext>
                </a:extLst>
              </p:cNvPr>
              <p:cNvSpPr txBox="1"/>
              <p:nvPr/>
            </p:nvSpPr>
            <p:spPr>
              <a:xfrm>
                <a:off x="2168652" y="1184223"/>
                <a:ext cx="7854696" cy="3474720"/>
              </a:xfrm>
              <a:prstGeom prst="rect">
                <a:avLst/>
              </a:prstGeom>
              <a:noFill/>
            </p:spPr>
            <p:txBody>
              <a:bodyPr wrap="square" lIns="0" tIns="0" rIns="0" bIns="0" rtlCol="0">
                <a:noAutofit/>
              </a:bodyPr>
              <a:lstStyle/>
              <a:p>
                <a:pPr algn="ctr">
                  <a:lnSpc>
                    <a:spcPct val="150000"/>
                  </a:lnSpc>
                </a:pPr>
                <a:r>
                  <a:rPr lang="en-AU" sz="4400" b="1"/>
                  <a:t>Record</a:t>
                </a:r>
                <a:r>
                  <a:rPr lang="en-AU" sz="4400"/>
                  <a:t> the following fractions in </a:t>
                </a:r>
                <a:r>
                  <a:rPr lang="en-AU" sz="4400" b="1"/>
                  <a:t>order</a:t>
                </a:r>
                <a:r>
                  <a:rPr lang="en-AU" sz="4400"/>
                  <a:t> on a </a:t>
                </a:r>
                <a:r>
                  <a:rPr lang="en-AU" sz="4400" b="1"/>
                  <a:t>number line.</a:t>
                </a:r>
                <a:endParaRPr lang="en-AU" sz="4400" b="1" i="1">
                  <a:latin typeface="Cambria Math" panose="02040503050406030204" pitchFamily="18" charset="0"/>
                </a:endParaRPr>
              </a:p>
              <a:p>
                <a:pPr algn="ctr">
                  <a:lnSpc>
                    <a:spcPct val="150000"/>
                  </a:lnSpc>
                </a:pPr>
                <a14:m>
                  <m:oMath xmlns:m="http://schemas.openxmlformats.org/officeDocument/2006/math">
                    <m:f>
                      <m:fPr>
                        <m:ctrlPr>
                          <a:rPr lang="en-AU" sz="6000" i="1">
                            <a:latin typeface="Cambria Math" panose="02040503050406030204" pitchFamily="18" charset="0"/>
                          </a:rPr>
                        </m:ctrlPr>
                      </m:fPr>
                      <m:num>
                        <m:r>
                          <a:rPr lang="en-AU" sz="6000">
                            <a:latin typeface="Cambria Math" panose="02040503050406030204" pitchFamily="18" charset="0"/>
                          </a:rPr>
                          <m:t>1</m:t>
                        </m:r>
                      </m:num>
                      <m:den>
                        <m:r>
                          <a:rPr lang="en-AU" sz="6000" b="0" i="0" smtClean="0">
                            <a:latin typeface="Cambria Math" panose="02040503050406030204" pitchFamily="18" charset="0"/>
                          </a:rPr>
                          <m:t>6</m:t>
                        </m:r>
                      </m:den>
                    </m:f>
                  </m:oMath>
                </a14:m>
                <a:r>
                  <a:rPr lang="en-AU" sz="6000"/>
                  <a:t>   </a:t>
                </a:r>
                <a14:m>
                  <m:oMath xmlns:m="http://schemas.openxmlformats.org/officeDocument/2006/math">
                    <m:f>
                      <m:fPr>
                        <m:ctrlPr>
                          <a:rPr lang="en-AU" sz="6000" i="1">
                            <a:latin typeface="Cambria Math" panose="02040503050406030204" pitchFamily="18" charset="0"/>
                          </a:rPr>
                        </m:ctrlPr>
                      </m:fPr>
                      <m:num>
                        <m:r>
                          <a:rPr lang="en-AU" sz="6000" b="0" i="0" smtClean="0">
                            <a:latin typeface="Cambria Math" panose="02040503050406030204" pitchFamily="18" charset="0"/>
                          </a:rPr>
                          <m:t>1</m:t>
                        </m:r>
                      </m:num>
                      <m:den>
                        <m:r>
                          <a:rPr lang="en-AU" sz="6000" b="0" i="0" smtClean="0">
                            <a:latin typeface="Cambria Math" panose="02040503050406030204" pitchFamily="18" charset="0"/>
                          </a:rPr>
                          <m:t>10</m:t>
                        </m:r>
                      </m:den>
                    </m:f>
                  </m:oMath>
                </a14:m>
                <a:r>
                  <a:rPr lang="en-AU" sz="6000"/>
                  <a:t>   </a:t>
                </a:r>
                <a14:m>
                  <m:oMath xmlns:m="http://schemas.openxmlformats.org/officeDocument/2006/math">
                    <m:f>
                      <m:fPr>
                        <m:ctrlPr>
                          <a:rPr lang="en-AU" sz="6000" i="1">
                            <a:latin typeface="Cambria Math" panose="02040503050406030204" pitchFamily="18" charset="0"/>
                          </a:rPr>
                        </m:ctrlPr>
                      </m:fPr>
                      <m:num>
                        <m:r>
                          <a:rPr lang="en-AU" sz="6000">
                            <a:latin typeface="Cambria Math" panose="02040503050406030204" pitchFamily="18" charset="0"/>
                          </a:rPr>
                          <m:t>1</m:t>
                        </m:r>
                      </m:num>
                      <m:den>
                        <m:r>
                          <a:rPr lang="en-AU" sz="6000" b="0" i="0" smtClean="0">
                            <a:latin typeface="Cambria Math" panose="02040503050406030204" pitchFamily="18" charset="0"/>
                          </a:rPr>
                          <m:t>2</m:t>
                        </m:r>
                      </m:den>
                    </m:f>
                  </m:oMath>
                </a14:m>
                <a:r>
                  <a:rPr lang="en-AU" sz="6000"/>
                  <a:t>   </a:t>
                </a:r>
                <a14:m>
                  <m:oMath xmlns:m="http://schemas.openxmlformats.org/officeDocument/2006/math">
                    <m:f>
                      <m:fPr>
                        <m:ctrlPr>
                          <a:rPr lang="en-AU" sz="6000" i="1">
                            <a:latin typeface="Cambria Math" panose="02040503050406030204" pitchFamily="18" charset="0"/>
                          </a:rPr>
                        </m:ctrlPr>
                      </m:fPr>
                      <m:num>
                        <m:r>
                          <a:rPr lang="en-AU" sz="6000" b="0" i="0" smtClean="0">
                            <a:latin typeface="Cambria Math" panose="02040503050406030204" pitchFamily="18" charset="0"/>
                          </a:rPr>
                          <m:t>1</m:t>
                        </m:r>
                      </m:num>
                      <m:den>
                        <m:r>
                          <a:rPr lang="en-AU" sz="6000" b="0" i="0" smtClean="0">
                            <a:latin typeface="Cambria Math" panose="02040503050406030204" pitchFamily="18" charset="0"/>
                          </a:rPr>
                          <m:t>5</m:t>
                        </m:r>
                      </m:den>
                    </m:f>
                  </m:oMath>
                </a14:m>
                <a:r>
                  <a:rPr lang="en-AU" sz="6000"/>
                  <a:t> </a:t>
                </a:r>
              </a:p>
              <a:p>
                <a:pPr algn="ctr"/>
                <a:endParaRPr lang="en-AU" sz="4400"/>
              </a:p>
              <a:p>
                <a:pPr algn="l"/>
                <a:endParaRPr lang="en-AU" sz="1800"/>
              </a:p>
            </p:txBody>
          </p:sp>
        </mc:Choice>
        <mc:Fallback xmlns="">
          <p:sp>
            <p:nvSpPr>
              <p:cNvPr id="4" name="TextBox 3">
                <a:extLst>
                  <a:ext uri="{FF2B5EF4-FFF2-40B4-BE49-F238E27FC236}">
                    <a16:creationId xmlns:a16="http://schemas.microsoft.com/office/drawing/2014/main" id="{784A8FE7-33DB-929C-0C8C-8A162A9C5AFA}"/>
                  </a:ext>
                </a:extLst>
              </p:cNvPr>
              <p:cNvSpPr txBox="1">
                <a:spLocks noRot="1" noChangeAspect="1" noMove="1" noResize="1" noEditPoints="1" noAdjustHandles="1" noChangeArrowheads="1" noChangeShapeType="1" noTextEdit="1"/>
              </p:cNvSpPr>
              <p:nvPr/>
            </p:nvSpPr>
            <p:spPr>
              <a:xfrm>
                <a:off x="2168652" y="1184223"/>
                <a:ext cx="7854696" cy="3474720"/>
              </a:xfrm>
              <a:prstGeom prst="rect">
                <a:avLst/>
              </a:prstGeom>
              <a:blipFill>
                <a:blip r:embed="rId4"/>
                <a:stretch>
                  <a:fillRect l="-1941" r="-3649" b="-9474"/>
                </a:stretch>
              </a:blipFill>
            </p:spPr>
            <p:txBody>
              <a:bodyPr/>
              <a:lstStyle/>
              <a:p>
                <a:r>
                  <a:rPr lang="en-US">
                    <a:noFill/>
                  </a:rPr>
                  <a:t> </a:t>
                </a:r>
              </a:p>
            </p:txBody>
          </p:sp>
        </mc:Fallback>
      </mc:AlternateContent>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63525E7-9B6E-335D-8F95-93534919B807}"/>
              </a:ext>
            </a:extLst>
          </p:cNvPr>
          <p:cNvSpPr txBox="1"/>
          <p:nvPr/>
        </p:nvSpPr>
        <p:spPr>
          <a:xfrm>
            <a:off x="576918" y="819310"/>
            <a:ext cx="11038164" cy="3044952"/>
          </a:xfrm>
          <a:prstGeom prst="rect">
            <a:avLst/>
          </a:prstGeom>
          <a:noFill/>
        </p:spPr>
        <p:txBody>
          <a:bodyPr wrap="square" lIns="0" tIns="0" rIns="0" bIns="0" rtlCol="0">
            <a:noAutofit/>
          </a:bodyPr>
          <a:lstStyle/>
          <a:p>
            <a:pPr algn="l">
              <a:lnSpc>
                <a:spcPct val="150000"/>
              </a:lnSpc>
            </a:pPr>
            <a:r>
              <a:rPr lang="en-AU" sz="4400" b="1"/>
              <a:t>Record</a:t>
            </a:r>
            <a:r>
              <a:rPr lang="en-AU" sz="4400"/>
              <a:t> the following lengths using </a:t>
            </a:r>
            <a:r>
              <a:rPr lang="en-AU" sz="4400" b="1"/>
              <a:t>decimal notation</a:t>
            </a:r>
            <a:r>
              <a:rPr lang="en-AU" sz="4400"/>
              <a:t>:</a:t>
            </a:r>
          </a:p>
          <a:p>
            <a:pPr marL="571500" indent="-571500" algn="l">
              <a:lnSpc>
                <a:spcPct val="200000"/>
              </a:lnSpc>
              <a:buFont typeface="Arial" panose="020B0604020202020204" pitchFamily="34" charset="0"/>
              <a:buChar char="•"/>
            </a:pPr>
            <a:r>
              <a:rPr lang="en-AU" sz="4400"/>
              <a:t>2 metres and 70 centimetres</a:t>
            </a:r>
          </a:p>
          <a:p>
            <a:pPr marL="571500" indent="-571500" algn="l">
              <a:lnSpc>
                <a:spcPct val="200000"/>
              </a:lnSpc>
              <a:buFont typeface="Arial" panose="020B0604020202020204" pitchFamily="34" charset="0"/>
              <a:buChar char="•"/>
            </a:pPr>
            <a:r>
              <a:rPr lang="en-AU" sz="4400"/>
              <a:t>5 kilometres and 200 centimetres</a:t>
            </a:r>
          </a:p>
          <a:p>
            <a:pPr marL="571500" indent="-571500" algn="l">
              <a:lnSpc>
                <a:spcPct val="200000"/>
              </a:lnSpc>
              <a:buFont typeface="Arial" panose="020B0604020202020204" pitchFamily="34" charset="0"/>
              <a:buChar char="•"/>
            </a:pPr>
            <a:r>
              <a:rPr lang="en-AU" sz="4400"/>
              <a:t>2 kilometres and 400 centimetres</a:t>
            </a:r>
          </a:p>
          <a:p>
            <a:pPr algn="l"/>
            <a:endParaRPr lang="en-AU" sz="1800"/>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8245CC2-6EEF-1A06-7174-8FA957E6B5C6}"/>
              </a:ext>
            </a:extLst>
          </p:cNvPr>
          <p:cNvSpPr txBox="1"/>
          <p:nvPr/>
        </p:nvSpPr>
        <p:spPr>
          <a:xfrm>
            <a:off x="83127" y="905601"/>
            <a:ext cx="12025745" cy="2590800"/>
          </a:xfrm>
          <a:prstGeom prst="rect">
            <a:avLst/>
          </a:prstGeom>
          <a:noFill/>
        </p:spPr>
        <p:txBody>
          <a:bodyPr wrap="square" lIns="0" tIns="0" rIns="0" bIns="0" rtlCol="0">
            <a:noAutofit/>
          </a:bodyPr>
          <a:lstStyle/>
          <a:p>
            <a:pPr algn="ctr">
              <a:lnSpc>
                <a:spcPct val="200000"/>
              </a:lnSpc>
            </a:pPr>
            <a:r>
              <a:rPr lang="en-AU" sz="4000"/>
              <a:t>A library had 8230 books. They </a:t>
            </a:r>
            <a:r>
              <a:rPr lang="en-AU" sz="4000" b="1"/>
              <a:t>removed</a:t>
            </a:r>
            <a:r>
              <a:rPr lang="en-AU" sz="4000"/>
              <a:t> 2485 damaged books and then </a:t>
            </a:r>
            <a:r>
              <a:rPr lang="en-AU" sz="4000" b="1"/>
              <a:t>added </a:t>
            </a:r>
            <a:r>
              <a:rPr lang="en-AU" sz="4000"/>
              <a:t>1350 new books.</a:t>
            </a:r>
          </a:p>
          <a:p>
            <a:pPr algn="ctr">
              <a:lnSpc>
                <a:spcPct val="200000"/>
              </a:lnSpc>
            </a:pPr>
            <a:r>
              <a:rPr lang="en-AU" sz="4000"/>
              <a:t>What is the </a:t>
            </a:r>
            <a:r>
              <a:rPr lang="en-AU" sz="4000" b="1"/>
              <a:t>total</a:t>
            </a:r>
            <a:r>
              <a:rPr lang="en-AU" sz="4000"/>
              <a:t> number of books in the library now?</a:t>
            </a:r>
          </a:p>
          <a:p>
            <a:pPr algn="ctr">
              <a:lnSpc>
                <a:spcPct val="200000"/>
              </a:lnSpc>
            </a:pPr>
            <a:r>
              <a:rPr lang="en-AU" sz="4000" b="1"/>
              <a:t>Communicate </a:t>
            </a:r>
            <a:r>
              <a:rPr lang="en-AU" sz="4000"/>
              <a:t>your</a:t>
            </a:r>
            <a:r>
              <a:rPr lang="en-AU" sz="4000" b="1"/>
              <a:t> strategy.</a:t>
            </a:r>
            <a:endParaRPr lang="en-AU" sz="4000"/>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D6CE36B-8FAF-B529-D019-3F272E743794}"/>
              </a:ext>
            </a:extLst>
          </p:cNvPr>
          <p:cNvSpPr txBox="1"/>
          <p:nvPr/>
        </p:nvSpPr>
        <p:spPr>
          <a:xfrm>
            <a:off x="360001" y="905601"/>
            <a:ext cx="4267983" cy="5624229"/>
          </a:xfrm>
          <a:prstGeom prst="rect">
            <a:avLst/>
          </a:prstGeom>
          <a:noFill/>
        </p:spPr>
        <p:txBody>
          <a:bodyPr wrap="square" lIns="0" tIns="0" rIns="0" bIns="0" rtlCol="0">
            <a:noAutofit/>
          </a:bodyPr>
          <a:lstStyle/>
          <a:p>
            <a:pPr algn="ctr">
              <a:lnSpc>
                <a:spcPct val="150000"/>
              </a:lnSpc>
            </a:pPr>
            <a:r>
              <a:rPr lang="en-AU" sz="3200" b="1"/>
              <a:t>Identify</a:t>
            </a:r>
            <a:r>
              <a:rPr lang="en-AU" sz="3200"/>
              <a:t> the month with the </a:t>
            </a:r>
            <a:r>
              <a:rPr lang="en-AU" sz="3200" b="1"/>
              <a:t>smallest difference </a:t>
            </a:r>
            <a:r>
              <a:rPr lang="en-AU" sz="3200"/>
              <a:t>in sales between Cool Cola and Super Soda.</a:t>
            </a:r>
          </a:p>
          <a:p>
            <a:pPr algn="ctr">
              <a:lnSpc>
                <a:spcPct val="150000"/>
              </a:lnSpc>
            </a:pPr>
            <a:r>
              <a:rPr lang="en-AU" sz="3200" b="1"/>
              <a:t>Record</a:t>
            </a:r>
            <a:r>
              <a:rPr lang="en-AU" sz="3200"/>
              <a:t> the number of sales for each drink for that month. </a:t>
            </a:r>
          </a:p>
        </p:txBody>
      </p:sp>
      <p:pic>
        <p:nvPicPr>
          <p:cNvPr id="4" name="Picture 3" descr="A line graph titled ‘2023 Drink sales’ of the monthly drinks sales for Cool Cola Company and Super Soda company. &#10;&#10;The information along the y-axis is 100 000, 200 000, 300 000, 400 000, 500 000. &#10;&#10;The information along the x-axis is April, May, June, July, August, September, October and November.&#10;&#10;Cool Cola Sales are marked in red: April: 100 000, May: 150 000, June: 300 000, July: 500 000, Aug: 700 000, Sept: 300 000, Oct: 400 000, Nov: 180 000.&#10;&#10;Super soda sales are marked in blue: April: 300 000, May: 310 000, June: 350 000, July: 370 000, August: 390 000, September: 200 000, October: 570 000, November: 670 000.">
            <a:extLst>
              <a:ext uri="{FF2B5EF4-FFF2-40B4-BE49-F238E27FC236}">
                <a16:creationId xmlns:a16="http://schemas.microsoft.com/office/drawing/2014/main" id="{B3B433FA-5571-FA05-CDED-1616C11182FB}"/>
              </a:ext>
            </a:extLst>
          </p:cNvPr>
          <p:cNvPicPr>
            <a:picLocks noChangeAspect="1"/>
          </p:cNvPicPr>
          <p:nvPr/>
        </p:nvPicPr>
        <p:blipFill>
          <a:blip r:embed="rId4"/>
          <a:srcRect l="6674" t="1795" r="6139"/>
          <a:stretch>
            <a:fillRect/>
          </a:stretch>
        </p:blipFill>
        <p:spPr>
          <a:xfrm>
            <a:off x="4915245" y="1492898"/>
            <a:ext cx="7030732" cy="438720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compare and represent fractions (1)</a:t>
            </a:r>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04B05759-32E1-429A-1F83-0F7D542157FB}"/>
              </a:ext>
            </a:extLst>
          </p:cNvPr>
          <p:cNvSpPr txBox="1"/>
          <p:nvPr/>
        </p:nvSpPr>
        <p:spPr>
          <a:xfrm>
            <a:off x="715343" y="1158394"/>
            <a:ext cx="11327368" cy="3477875"/>
          </a:xfrm>
          <a:prstGeom prst="rect">
            <a:avLst/>
          </a:prstGeom>
          <a:noFill/>
        </p:spPr>
        <p:txBody>
          <a:bodyPr wrap="square">
            <a:spAutoFit/>
          </a:bodyPr>
          <a:lstStyle/>
          <a:p>
            <a:pPr algn="ctr"/>
            <a:r>
              <a:rPr lang="en-AU" sz="4400">
                <a:effectLst/>
                <a:latin typeface="Arial" panose="020B0604020202020204" pitchFamily="34" charset="0"/>
                <a:ea typeface="Calibri" panose="020F0502020204030204" pitchFamily="34" charset="0"/>
              </a:rPr>
              <a:t>Jas has 60 marbles and shares them with:</a:t>
            </a:r>
          </a:p>
          <a:p>
            <a:pPr algn="ctr"/>
            <a:endParaRPr lang="en-AU" sz="4400">
              <a:latin typeface="Arial" panose="020B0604020202020204" pitchFamily="34" charset="0"/>
              <a:ea typeface="Calibri" panose="020F0502020204030204" pitchFamily="34" charset="0"/>
            </a:endParaRPr>
          </a:p>
          <a:p>
            <a:pPr algn="ctr"/>
            <a:endParaRPr lang="en-AU" sz="4400">
              <a:effectLst/>
              <a:latin typeface="Arial" panose="020B0604020202020204" pitchFamily="34" charset="0"/>
              <a:ea typeface="Calibri" panose="020F0502020204030204" pitchFamily="34" charset="0"/>
            </a:endParaRPr>
          </a:p>
          <a:p>
            <a:pPr algn="ctr"/>
            <a:endParaRPr lang="en-AU" sz="4400">
              <a:latin typeface="Arial" panose="020B0604020202020204" pitchFamily="34" charset="0"/>
              <a:ea typeface="Calibri" panose="020F0502020204030204" pitchFamily="34" charset="0"/>
            </a:endParaRPr>
          </a:p>
          <a:p>
            <a:pPr algn="ctr"/>
            <a:endParaRPr lang="en-AU" sz="4400">
              <a:effectLst/>
              <a:latin typeface="Arial" panose="020B0604020202020204" pitchFamily="34" charset="0"/>
              <a:ea typeface="Calibri" panose="020F0502020204030204" pitchFamily="34" charset="0"/>
            </a:endParaRPr>
          </a:p>
        </p:txBody>
      </p:sp>
      <p:graphicFrame>
        <p:nvGraphicFramePr>
          <p:cNvPr id="7" name="Table 6">
            <a:extLst>
              <a:ext uri="{FF2B5EF4-FFF2-40B4-BE49-F238E27FC236}">
                <a16:creationId xmlns:a16="http://schemas.microsoft.com/office/drawing/2014/main" id="{44B9FC19-5BEC-B019-B938-A642C30C25F2}"/>
              </a:ext>
            </a:extLst>
          </p:cNvPr>
          <p:cNvGraphicFramePr>
            <a:graphicFrameLocks noGrp="1"/>
          </p:cNvGraphicFramePr>
          <p:nvPr>
            <p:extLst>
              <p:ext uri="{D42A27DB-BD31-4B8C-83A1-F6EECF244321}">
                <p14:modId xmlns:p14="http://schemas.microsoft.com/office/powerpoint/2010/main" val="4160032267"/>
              </p:ext>
            </p:extLst>
          </p:nvPr>
        </p:nvGraphicFramePr>
        <p:xfrm>
          <a:off x="2790727" y="2331720"/>
          <a:ext cx="8128000" cy="2194560"/>
        </p:xfrm>
        <a:graphic>
          <a:graphicData uri="http://schemas.openxmlformats.org/drawingml/2006/table">
            <a:tbl>
              <a:tblPr firstRow="1" bandRow="1">
                <a:tableStyleId>{5A111915-BE36-4E01-A7E5-04B1672EAD32}</a:tableStyleId>
              </a:tblPr>
              <a:tblGrid>
                <a:gridCol w="4064000">
                  <a:extLst>
                    <a:ext uri="{9D8B030D-6E8A-4147-A177-3AD203B41FA5}">
                      <a16:colId xmlns:a16="http://schemas.microsoft.com/office/drawing/2014/main" val="1897339355"/>
                    </a:ext>
                  </a:extLst>
                </a:gridCol>
                <a:gridCol w="4064000">
                  <a:extLst>
                    <a:ext uri="{9D8B030D-6E8A-4147-A177-3AD203B41FA5}">
                      <a16:colId xmlns:a16="http://schemas.microsoft.com/office/drawing/2014/main" val="3823882844"/>
                    </a:ext>
                  </a:extLst>
                </a:gridCol>
              </a:tblGrid>
              <a:tr h="370840">
                <a:tc>
                  <a:txBody>
                    <a:bodyPr/>
                    <a:lstStyle/>
                    <a:p>
                      <a:pPr marL="285750" indent="-285750">
                        <a:buFont typeface="Arial" panose="020B0604020202020204" pitchFamily="34" charset="0"/>
                        <a:buChar char="•"/>
                      </a:pPr>
                      <a:r>
                        <a:rPr lang="en-AU" sz="4400" b="0">
                          <a:solidFill>
                            <a:schemeClr val="tx1"/>
                          </a:solidFill>
                        </a:rPr>
                        <a:t>1 friend</a:t>
                      </a:r>
                    </a:p>
                    <a:p>
                      <a:pPr marL="0" indent="0">
                        <a:buFont typeface="Arial" panose="020B0604020202020204" pitchFamily="34" charset="0"/>
                        <a:buNone/>
                      </a:pPr>
                      <a:endParaRPr lang="en-AU" sz="4400" b="0">
                        <a:solidFill>
                          <a:schemeClr val="tx1"/>
                        </a:solidFill>
                      </a:endParaRP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4400" b="0">
                          <a:solidFill>
                            <a:schemeClr val="tx1"/>
                          </a:solidFill>
                        </a:rPr>
                        <a:t>4 friends</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4200617589"/>
                  </a:ext>
                </a:extLst>
              </a:tr>
              <a:tr h="370840">
                <a:tc>
                  <a:txBody>
                    <a:bodyPr/>
                    <a:lstStyle/>
                    <a:p>
                      <a:pPr marL="285750" indent="-285750">
                        <a:buFont typeface="Arial" panose="020B0604020202020204" pitchFamily="34" charset="0"/>
                        <a:buChar char="•"/>
                      </a:pPr>
                      <a:r>
                        <a:rPr lang="en-AU" sz="4400" b="0">
                          <a:solidFill>
                            <a:schemeClr val="tx1"/>
                          </a:solidFill>
                        </a:rPr>
                        <a:t>5 friends</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4400" b="0">
                          <a:solidFill>
                            <a:schemeClr val="tx1"/>
                          </a:solidFill>
                        </a:rPr>
                        <a:t>10 friends</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345502165"/>
                  </a:ext>
                </a:extLst>
              </a:tr>
            </a:tbl>
          </a:graphicData>
        </a:graphic>
      </p:graphicFrame>
      <p:sp>
        <p:nvSpPr>
          <p:cNvPr id="8" name="TextBox 7">
            <a:extLst>
              <a:ext uri="{FF2B5EF4-FFF2-40B4-BE49-F238E27FC236}">
                <a16:creationId xmlns:a16="http://schemas.microsoft.com/office/drawing/2014/main" id="{64765DE2-D1BD-4C32-AA56-004A2E16AE10}"/>
              </a:ext>
            </a:extLst>
          </p:cNvPr>
          <p:cNvSpPr txBox="1"/>
          <p:nvPr/>
        </p:nvSpPr>
        <p:spPr>
          <a:xfrm>
            <a:off x="348000" y="4810507"/>
            <a:ext cx="11327368" cy="1998176"/>
          </a:xfrm>
          <a:prstGeom prst="rect">
            <a:avLst/>
          </a:prstGeom>
          <a:noFill/>
        </p:spPr>
        <p:txBody>
          <a:bodyPr wrap="square">
            <a:spAutoFit/>
          </a:bodyPr>
          <a:lstStyle/>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rPr>
              <a:t>Record</a:t>
            </a:r>
            <a:r>
              <a:rPr lang="en-AU" sz="4400">
                <a:latin typeface="Arial" panose="020B0604020202020204" pitchFamily="34" charset="0"/>
                <a:ea typeface="Calibri" panose="020F0502020204030204" pitchFamily="34" charset="0"/>
              </a:rPr>
              <a:t> the </a:t>
            </a:r>
            <a:r>
              <a:rPr lang="en-AU" sz="4400" b="1">
                <a:latin typeface="Arial" panose="020B0604020202020204" pitchFamily="34" charset="0"/>
                <a:ea typeface="Calibri" panose="020F0502020204030204" pitchFamily="34" charset="0"/>
              </a:rPr>
              <a:t>fraction</a:t>
            </a:r>
            <a:r>
              <a:rPr lang="en-AU" sz="4400">
                <a:latin typeface="Arial" panose="020B0604020202020204" pitchFamily="34" charset="0"/>
                <a:ea typeface="Calibri" panose="020F0502020204030204" pitchFamily="34" charset="0"/>
              </a:rPr>
              <a:t> and the </a:t>
            </a:r>
            <a:r>
              <a:rPr lang="en-AU" sz="4400" b="1">
                <a:latin typeface="Arial" panose="020B0604020202020204" pitchFamily="34" charset="0"/>
                <a:ea typeface="Calibri" panose="020F0502020204030204" pitchFamily="34" charset="0"/>
              </a:rPr>
              <a:t>quantity</a:t>
            </a:r>
            <a:r>
              <a:rPr lang="en-AU" sz="4400">
                <a:latin typeface="Arial" panose="020B0604020202020204" pitchFamily="34" charset="0"/>
                <a:ea typeface="Calibri" panose="020F0502020204030204" pitchFamily="34" charset="0"/>
              </a:rPr>
              <a:t> each friend would receive</a:t>
            </a:r>
            <a:r>
              <a:rPr lang="en-AU" sz="2400">
                <a:latin typeface="Arial" panose="020B0604020202020204" pitchFamily="34" charset="0"/>
                <a:ea typeface="Calibri" panose="020F0502020204030204" pitchFamily="34" charset="0"/>
              </a:rPr>
              <a:t>.</a:t>
            </a:r>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FDD20-1A2C-9C5F-0F72-5FC6438F551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5B5A9B4-2534-3890-EA9F-F7465F5210D4}"/>
              </a:ext>
            </a:extLst>
          </p:cNvPr>
          <p:cNvSpPr>
            <a:spLocks noGrp="1"/>
          </p:cNvSpPr>
          <p:nvPr>
            <p:ph type="title"/>
          </p:nvPr>
        </p:nvSpPr>
        <p:spPr>
          <a:xfrm>
            <a:off x="360000" y="360000"/>
            <a:ext cx="10367268" cy="545601"/>
          </a:xfrm>
        </p:spPr>
        <p:txBody>
          <a:bodyPr/>
          <a:lstStyle/>
          <a:p>
            <a:r>
              <a:rPr lang="en-AU"/>
              <a:t>Activity 1 – compare and represent fractions (2)</a:t>
            </a:r>
          </a:p>
        </p:txBody>
      </p:sp>
      <p:sp>
        <p:nvSpPr>
          <p:cNvPr id="2" name="Slide Number Placeholder 1">
            <a:extLst>
              <a:ext uri="{FF2B5EF4-FFF2-40B4-BE49-F238E27FC236}">
                <a16:creationId xmlns:a16="http://schemas.microsoft.com/office/drawing/2014/main" id="{41ED51CE-E91F-6263-BCE3-373F3BBF0A1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11</a:t>
            </a:fld>
            <a:endParaRPr lang="en-AU"/>
          </a:p>
        </p:txBody>
      </p:sp>
      <p:pic>
        <p:nvPicPr>
          <p:cNvPr id="4" name="Picture 3" descr="image of a head with cogs turning inside">
            <a:extLst>
              <a:ext uri="{FF2B5EF4-FFF2-40B4-BE49-F238E27FC236}">
                <a16:creationId xmlns:a16="http://schemas.microsoft.com/office/drawing/2014/main" id="{5CBB8846-DCAD-3794-4F4B-EA8E0B2A7096}"/>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8" name="Picture 7" descr="An empty number line.">
            <a:extLst>
              <a:ext uri="{FF2B5EF4-FFF2-40B4-BE49-F238E27FC236}">
                <a16:creationId xmlns:a16="http://schemas.microsoft.com/office/drawing/2014/main" id="{CA5AFC39-22BA-B11A-9B41-4215812F1BDF}"/>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1375193" y="3188187"/>
            <a:ext cx="9352075" cy="481626"/>
          </a:xfrm>
          <a:prstGeom prst="rect">
            <a:avLst/>
          </a:prstGeom>
        </p:spPr>
      </p:pic>
    </p:spTree>
    <p:extLst>
      <p:ext uri="{BB962C8B-B14F-4D97-AF65-F5344CB8AC3E}">
        <p14:creationId xmlns:p14="http://schemas.microsoft.com/office/powerpoint/2010/main" val="1216712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0" y="837913"/>
            <a:ext cx="11243037" cy="893226"/>
          </a:xfrm>
        </p:spPr>
        <p:txBody>
          <a:bodyPr/>
          <a:lstStyle/>
          <a:p>
            <a:pPr algn="ctr"/>
            <a:r>
              <a:rPr lang="en-AU" sz="4400"/>
              <a:t>Each of these represent </a:t>
            </a:r>
            <a:r>
              <a:rPr lang="en-AU" sz="4400" b="1" dirty="0"/>
              <a:t>one-third</a:t>
            </a:r>
            <a:r>
              <a:rPr lang="en-AU" sz="4400"/>
              <a:t>.</a:t>
            </a:r>
          </a:p>
        </p:txBody>
      </p:sp>
      <p:pic>
        <p:nvPicPr>
          <p:cNvPr id="8" name="Picture 7" descr="A rectangle has been divided into six equal parts. Two of the six parts are shaded dark blue, and four parts are unshaded.">
            <a:extLst>
              <a:ext uri="{FF2B5EF4-FFF2-40B4-BE49-F238E27FC236}">
                <a16:creationId xmlns:a16="http://schemas.microsoft.com/office/drawing/2014/main" id="{24A69179-BBE1-D23A-AA78-CA6FAF7269EF}"/>
              </a:ext>
            </a:extLst>
          </p:cNvPr>
          <p:cNvPicPr>
            <a:picLocks noChangeAspect="1"/>
          </p:cNvPicPr>
          <p:nvPr/>
        </p:nvPicPr>
        <p:blipFill>
          <a:blip r:embed="rId4"/>
          <a:stretch>
            <a:fillRect/>
          </a:stretch>
        </p:blipFill>
        <p:spPr>
          <a:xfrm>
            <a:off x="645777" y="2485618"/>
            <a:ext cx="3373911" cy="2112287"/>
          </a:xfrm>
          <a:prstGeom prst="rect">
            <a:avLst/>
          </a:prstGeom>
        </p:spPr>
      </p:pic>
      <p:grpSp>
        <p:nvGrpSpPr>
          <p:cNvPr id="5" name="Group 4" descr="An array of 3 x 4 blue circles.">
            <a:extLst>
              <a:ext uri="{FF2B5EF4-FFF2-40B4-BE49-F238E27FC236}">
                <a16:creationId xmlns:a16="http://schemas.microsoft.com/office/drawing/2014/main" id="{299349C5-4E1D-963C-29E9-3C9552783551}"/>
              </a:ext>
            </a:extLst>
          </p:cNvPr>
          <p:cNvGrpSpPr/>
          <p:nvPr/>
        </p:nvGrpSpPr>
        <p:grpSpPr>
          <a:xfrm>
            <a:off x="5027059" y="2556678"/>
            <a:ext cx="3145255" cy="2041227"/>
            <a:chOff x="4834087" y="2555170"/>
            <a:chExt cx="3145255" cy="2041227"/>
          </a:xfrm>
        </p:grpSpPr>
        <p:sp>
          <p:nvSpPr>
            <p:cNvPr id="11" name="Oval 10">
              <a:extLst>
                <a:ext uri="{FF2B5EF4-FFF2-40B4-BE49-F238E27FC236}">
                  <a16:creationId xmlns:a16="http://schemas.microsoft.com/office/drawing/2014/main" id="{8D7BA950-339D-2F0C-1F1F-1727AB315527}"/>
                </a:ext>
              </a:extLst>
            </p:cNvPr>
            <p:cNvSpPr/>
            <p:nvPr/>
          </p:nvSpPr>
          <p:spPr>
            <a:xfrm>
              <a:off x="4908884" y="2555170"/>
              <a:ext cx="587141" cy="5456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7BA906BB-BB39-45DC-9814-C23EC9A0EDB4}"/>
                </a:ext>
              </a:extLst>
            </p:cNvPr>
            <p:cNvSpPr/>
            <p:nvPr/>
          </p:nvSpPr>
          <p:spPr>
            <a:xfrm>
              <a:off x="5585862" y="2569945"/>
              <a:ext cx="587141" cy="5456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a:extLst>
                <a:ext uri="{FF2B5EF4-FFF2-40B4-BE49-F238E27FC236}">
                  <a16:creationId xmlns:a16="http://schemas.microsoft.com/office/drawing/2014/main" id="{E4136958-1F8D-9336-3B81-F4E44FEAADE7}"/>
                </a:ext>
              </a:extLst>
            </p:cNvPr>
            <p:cNvSpPr/>
            <p:nvPr/>
          </p:nvSpPr>
          <p:spPr>
            <a:xfrm>
              <a:off x="5687948" y="3284789"/>
              <a:ext cx="587141" cy="5456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a:extLst>
                <a:ext uri="{FF2B5EF4-FFF2-40B4-BE49-F238E27FC236}">
                  <a16:creationId xmlns:a16="http://schemas.microsoft.com/office/drawing/2014/main" id="{2ED6368B-1F79-D9D1-FBD1-7FAA6661B7CA}"/>
                </a:ext>
              </a:extLst>
            </p:cNvPr>
            <p:cNvSpPr/>
            <p:nvPr/>
          </p:nvSpPr>
          <p:spPr>
            <a:xfrm>
              <a:off x="6349858" y="4028954"/>
              <a:ext cx="587141" cy="5456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Oval 15">
              <a:extLst>
                <a:ext uri="{FF2B5EF4-FFF2-40B4-BE49-F238E27FC236}">
                  <a16:creationId xmlns:a16="http://schemas.microsoft.com/office/drawing/2014/main" id="{A1FF9F0A-4031-F793-C10D-D1AF983E1A73}"/>
                </a:ext>
              </a:extLst>
            </p:cNvPr>
            <p:cNvSpPr/>
            <p:nvPr/>
          </p:nvSpPr>
          <p:spPr>
            <a:xfrm>
              <a:off x="6378851" y="3302983"/>
              <a:ext cx="587141" cy="5456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Oval 17">
              <a:extLst>
                <a:ext uri="{FF2B5EF4-FFF2-40B4-BE49-F238E27FC236}">
                  <a16:creationId xmlns:a16="http://schemas.microsoft.com/office/drawing/2014/main" id="{2CC79385-A76E-CDB6-B6DC-7230688ACF33}"/>
                </a:ext>
              </a:extLst>
            </p:cNvPr>
            <p:cNvSpPr/>
            <p:nvPr/>
          </p:nvSpPr>
          <p:spPr>
            <a:xfrm>
              <a:off x="4965624" y="4050796"/>
              <a:ext cx="587141" cy="5456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Oval 18">
              <a:extLst>
                <a:ext uri="{FF2B5EF4-FFF2-40B4-BE49-F238E27FC236}">
                  <a16:creationId xmlns:a16="http://schemas.microsoft.com/office/drawing/2014/main" id="{3DADFD81-C98D-CD68-EF8C-164B7FBA871E}"/>
                </a:ext>
              </a:extLst>
            </p:cNvPr>
            <p:cNvSpPr/>
            <p:nvPr/>
          </p:nvSpPr>
          <p:spPr>
            <a:xfrm>
              <a:off x="4953799" y="3302983"/>
              <a:ext cx="587141" cy="5456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Oval 19">
              <a:extLst>
                <a:ext uri="{FF2B5EF4-FFF2-40B4-BE49-F238E27FC236}">
                  <a16:creationId xmlns:a16="http://schemas.microsoft.com/office/drawing/2014/main" id="{920BE7EB-7ED3-970E-27AD-7B86537EF636}"/>
                </a:ext>
              </a:extLst>
            </p:cNvPr>
            <p:cNvSpPr/>
            <p:nvPr/>
          </p:nvSpPr>
          <p:spPr>
            <a:xfrm>
              <a:off x="7069754" y="4028954"/>
              <a:ext cx="587141" cy="5456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Oval 20">
              <a:extLst>
                <a:ext uri="{FF2B5EF4-FFF2-40B4-BE49-F238E27FC236}">
                  <a16:creationId xmlns:a16="http://schemas.microsoft.com/office/drawing/2014/main" id="{76F78AC0-B960-60D1-E6A1-A9C4C767224B}"/>
                </a:ext>
              </a:extLst>
            </p:cNvPr>
            <p:cNvSpPr/>
            <p:nvPr/>
          </p:nvSpPr>
          <p:spPr>
            <a:xfrm>
              <a:off x="5680708" y="4028954"/>
              <a:ext cx="587141" cy="5456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Oval 21">
              <a:extLst>
                <a:ext uri="{FF2B5EF4-FFF2-40B4-BE49-F238E27FC236}">
                  <a16:creationId xmlns:a16="http://schemas.microsoft.com/office/drawing/2014/main" id="{0AE3849D-3CFC-DF95-42F0-1B77F6B14E63}"/>
                </a:ext>
              </a:extLst>
            </p:cNvPr>
            <p:cNvSpPr/>
            <p:nvPr/>
          </p:nvSpPr>
          <p:spPr>
            <a:xfrm>
              <a:off x="7094837" y="3268961"/>
              <a:ext cx="587141" cy="5456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Oval 22">
              <a:extLst>
                <a:ext uri="{FF2B5EF4-FFF2-40B4-BE49-F238E27FC236}">
                  <a16:creationId xmlns:a16="http://schemas.microsoft.com/office/drawing/2014/main" id="{E0FD19FF-EC8E-E182-91B5-26148BF52EE9}"/>
                </a:ext>
              </a:extLst>
            </p:cNvPr>
            <p:cNvSpPr/>
            <p:nvPr/>
          </p:nvSpPr>
          <p:spPr>
            <a:xfrm>
              <a:off x="6337841" y="2569945"/>
              <a:ext cx="587141" cy="5456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Oval 23">
              <a:extLst>
                <a:ext uri="{FF2B5EF4-FFF2-40B4-BE49-F238E27FC236}">
                  <a16:creationId xmlns:a16="http://schemas.microsoft.com/office/drawing/2014/main" id="{E7C22C77-84A6-3C23-3721-44869CE7C82E}"/>
                </a:ext>
              </a:extLst>
            </p:cNvPr>
            <p:cNvSpPr/>
            <p:nvPr/>
          </p:nvSpPr>
          <p:spPr>
            <a:xfrm>
              <a:off x="7069755" y="2589196"/>
              <a:ext cx="587141" cy="5456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Oval 24">
              <a:extLst>
                <a:ext uri="{FF2B5EF4-FFF2-40B4-BE49-F238E27FC236}">
                  <a16:creationId xmlns:a16="http://schemas.microsoft.com/office/drawing/2014/main" id="{AF213F0B-5DC8-087E-F64F-37CEA0333BF8}"/>
                </a:ext>
              </a:extLst>
            </p:cNvPr>
            <p:cNvSpPr/>
            <p:nvPr/>
          </p:nvSpPr>
          <p:spPr>
            <a:xfrm rot="5400000">
              <a:off x="5993352" y="2008939"/>
              <a:ext cx="826726" cy="3145255"/>
            </a:xfrm>
            <a:prstGeom prst="ellipse">
              <a:avLst/>
            </a:prstGeom>
            <a:no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E6C1241-3395-F506-65B9-ECF04D51D034}"/>
                  </a:ext>
                </a:extLst>
              </p:cNvPr>
              <p:cNvSpPr txBox="1"/>
              <p:nvPr/>
            </p:nvSpPr>
            <p:spPr>
              <a:xfrm>
                <a:off x="9047747" y="2357274"/>
                <a:ext cx="2457650" cy="2444477"/>
              </a:xfrm>
              <a:prstGeom prst="rect">
                <a:avLst/>
              </a:prstGeom>
              <a:noFill/>
            </p:spPr>
            <p:txBody>
              <a:bodyPr wrap="square" lIns="0" tIns="0" rIns="0" bIns="0" rtlCol="0">
                <a:noAutofit/>
              </a:bodyPr>
              <a:lstStyle/>
              <a:p>
                <a:pPr/>
                <a14:m>
                  <m:oMathPara xmlns:m="http://schemas.openxmlformats.org/officeDocument/2006/math">
                    <m:oMathParaPr>
                      <m:jc m:val="centerGroup"/>
                    </m:oMathParaPr>
                    <m:oMath xmlns:m="http://schemas.openxmlformats.org/officeDocument/2006/math">
                      <m:f>
                        <m:fPr>
                          <m:ctrlPr>
                            <a:rPr lang="en-AU" sz="7200" i="1" smtClean="0">
                              <a:latin typeface="Cambria Math" panose="02040503050406030204" pitchFamily="18" charset="0"/>
                            </a:rPr>
                          </m:ctrlPr>
                        </m:fPr>
                        <m:num>
                          <m:r>
                            <a:rPr lang="en-AU" sz="7200">
                              <a:latin typeface="Cambria Math" panose="02040503050406030204" pitchFamily="18" charset="0"/>
                            </a:rPr>
                            <m:t>1</m:t>
                          </m:r>
                        </m:num>
                        <m:den>
                          <m:r>
                            <a:rPr lang="en-AU" sz="7200" b="0" i="0" smtClean="0">
                              <a:latin typeface="Cambria Math" panose="02040503050406030204" pitchFamily="18" charset="0"/>
                            </a:rPr>
                            <m:t>3</m:t>
                          </m:r>
                        </m:den>
                      </m:f>
                    </m:oMath>
                  </m:oMathPara>
                </a14:m>
                <a:endParaRPr lang="en-AU" sz="1800"/>
              </a:p>
            </p:txBody>
          </p:sp>
        </mc:Choice>
        <mc:Fallback xmlns="">
          <p:sp>
            <p:nvSpPr>
              <p:cNvPr id="26" name="TextBox 25">
                <a:extLst>
                  <a:ext uri="{FF2B5EF4-FFF2-40B4-BE49-F238E27FC236}">
                    <a16:creationId xmlns:a16="http://schemas.microsoft.com/office/drawing/2014/main" id="{AE6C1241-3395-F506-65B9-ECF04D51D034}"/>
                  </a:ext>
                </a:extLst>
              </p:cNvPr>
              <p:cNvSpPr txBox="1">
                <a:spLocks noRot="1" noChangeAspect="1" noMove="1" noResize="1" noEditPoints="1" noAdjustHandles="1" noChangeArrowheads="1" noChangeShapeType="1" noTextEdit="1"/>
              </p:cNvSpPr>
              <p:nvPr/>
            </p:nvSpPr>
            <p:spPr>
              <a:xfrm>
                <a:off x="9047747" y="2357274"/>
                <a:ext cx="2457650" cy="2444477"/>
              </a:xfrm>
              <a:prstGeom prst="rect">
                <a:avLst/>
              </a:prstGeom>
              <a:blipFill>
                <a:blip r:embed="rId5"/>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127693134"/>
              </p:ext>
            </p:extLst>
          </p:nvPr>
        </p:nvGraphicFramePr>
        <p:xfrm>
          <a:off x="2634465" y="5440808"/>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992ABFD-CA95-CB10-3F3D-6B62723B72DF}"/>
                  </a:ext>
                </a:extLst>
              </p:cNvPr>
              <p:cNvSpPr txBox="1"/>
              <p:nvPr/>
            </p:nvSpPr>
            <p:spPr>
              <a:xfrm>
                <a:off x="363312" y="905601"/>
                <a:ext cx="11124000" cy="2587752"/>
              </a:xfrm>
              <a:prstGeom prst="rect">
                <a:avLst/>
              </a:prstGeom>
              <a:noFill/>
            </p:spPr>
            <p:txBody>
              <a:bodyPr wrap="square" lIns="0" tIns="0" rIns="0" bIns="0" rtlCol="0">
                <a:noAutofit/>
              </a:bodyPr>
              <a:lstStyle/>
              <a:p>
                <a:pPr algn="ctr">
                  <a:lnSpc>
                    <a:spcPct val="150000"/>
                  </a:lnSpc>
                </a:pPr>
                <a:r>
                  <a:rPr lang="en-AU" sz="4000"/>
                  <a:t>Francesca placed the fractions </a:t>
                </a:r>
                <a:r>
                  <a:rPr lang="en-US" sz="4000"/>
                  <a:t> </a:t>
                </a:r>
                <a14:m>
                  <m:oMath xmlns:m="http://schemas.openxmlformats.org/officeDocument/2006/math">
                    <m:f>
                      <m:fPr>
                        <m:ctrlPr>
                          <a:rPr lang="en-AU" sz="4000" i="1">
                            <a:latin typeface="Cambria Math" panose="02040503050406030204" pitchFamily="18" charset="0"/>
                          </a:rPr>
                        </m:ctrlPr>
                      </m:fPr>
                      <m:num>
                        <m:r>
                          <a:rPr lang="en-AU" sz="4000">
                            <a:latin typeface="Cambria Math" panose="02040503050406030204" pitchFamily="18" charset="0"/>
                          </a:rPr>
                          <m:t>1</m:t>
                        </m:r>
                      </m:num>
                      <m:den>
                        <m:r>
                          <a:rPr lang="en-AU" sz="4000">
                            <a:latin typeface="Cambria Math" panose="02040503050406030204" pitchFamily="18" charset="0"/>
                          </a:rPr>
                          <m:t>8</m:t>
                        </m:r>
                      </m:den>
                    </m:f>
                  </m:oMath>
                </a14:m>
                <a:r>
                  <a:rPr lang="en-AU" sz="4000"/>
                  <a:t> </a:t>
                </a:r>
                <a:r>
                  <a:rPr lang="en-AU" sz="4000" dirty="0"/>
                  <a:t>,</a:t>
                </a:r>
                <a:r>
                  <a:rPr lang="en-AU" sz="4000"/>
                  <a:t> </a:t>
                </a:r>
                <a14:m>
                  <m:oMath xmlns:m="http://schemas.openxmlformats.org/officeDocument/2006/math">
                    <m:f>
                      <m:fPr>
                        <m:ctrlPr>
                          <a:rPr lang="en-AU" sz="4000" i="1">
                            <a:latin typeface="Cambria Math" panose="02040503050406030204" pitchFamily="18" charset="0"/>
                          </a:rPr>
                        </m:ctrlPr>
                      </m:fPr>
                      <m:num>
                        <m:r>
                          <a:rPr lang="en-AU" sz="4000" b="0" i="0" smtClean="0">
                            <a:latin typeface="Cambria Math" panose="02040503050406030204" pitchFamily="18" charset="0"/>
                          </a:rPr>
                          <m:t>1</m:t>
                        </m:r>
                      </m:num>
                      <m:den>
                        <m:r>
                          <a:rPr lang="en-AU" sz="4000">
                            <a:latin typeface="Cambria Math" panose="02040503050406030204" pitchFamily="18" charset="0"/>
                          </a:rPr>
                          <m:t>4</m:t>
                        </m:r>
                      </m:den>
                    </m:f>
                  </m:oMath>
                </a14:m>
                <a:r>
                  <a:rPr lang="en-AU" sz="4000"/>
                  <a:t> </a:t>
                </a:r>
                <a:r>
                  <a:rPr lang="en-AU" sz="4000" dirty="0"/>
                  <a:t>,</a:t>
                </a:r>
                <a:r>
                  <a:rPr lang="en-AU" sz="4000"/>
                  <a:t> </a:t>
                </a:r>
                <a14:m>
                  <m:oMath xmlns:m="http://schemas.openxmlformats.org/officeDocument/2006/math">
                    <m:f>
                      <m:fPr>
                        <m:ctrlPr>
                          <a:rPr lang="en-AU" sz="4000" i="1">
                            <a:latin typeface="Cambria Math" panose="02040503050406030204" pitchFamily="18" charset="0"/>
                          </a:rPr>
                        </m:ctrlPr>
                      </m:fPr>
                      <m:num>
                        <m:r>
                          <a:rPr lang="en-AU" sz="4000">
                            <a:latin typeface="Cambria Math" panose="02040503050406030204" pitchFamily="18" charset="0"/>
                          </a:rPr>
                          <m:t>1</m:t>
                        </m:r>
                      </m:num>
                      <m:den>
                        <m:r>
                          <a:rPr lang="en-AU" sz="4000" b="0" i="0" smtClean="0">
                            <a:latin typeface="Cambria Math" panose="02040503050406030204" pitchFamily="18" charset="0"/>
                          </a:rPr>
                          <m:t>6</m:t>
                        </m:r>
                      </m:den>
                    </m:f>
                  </m:oMath>
                </a14:m>
                <a:r>
                  <a:rPr lang="en-AU" sz="4000"/>
                  <a:t> </a:t>
                </a:r>
                <a:r>
                  <a:rPr lang="en-AU" sz="4000" dirty="0"/>
                  <a:t>,</a:t>
                </a:r>
                <a:r>
                  <a:rPr lang="en-AU" sz="4000"/>
                  <a:t> </a:t>
                </a:r>
                <a14:m>
                  <m:oMath xmlns:m="http://schemas.openxmlformats.org/officeDocument/2006/math">
                    <m:f>
                      <m:fPr>
                        <m:ctrlPr>
                          <a:rPr lang="en-AU" sz="4000" i="1">
                            <a:latin typeface="Cambria Math" panose="02040503050406030204" pitchFamily="18" charset="0"/>
                          </a:rPr>
                        </m:ctrlPr>
                      </m:fPr>
                      <m:num>
                        <m:r>
                          <a:rPr lang="en-AU" sz="4000" b="0" i="0" smtClean="0">
                            <a:latin typeface="Cambria Math" panose="02040503050406030204" pitchFamily="18" charset="0"/>
                          </a:rPr>
                          <m:t>1</m:t>
                        </m:r>
                      </m:num>
                      <m:den>
                        <m:r>
                          <a:rPr lang="en-AU" sz="4000" b="0" i="0" smtClean="0">
                            <a:latin typeface="Cambria Math" panose="02040503050406030204" pitchFamily="18" charset="0"/>
                          </a:rPr>
                          <m:t>2</m:t>
                        </m:r>
                      </m:den>
                    </m:f>
                  </m:oMath>
                </a14:m>
                <a:r>
                  <a:rPr lang="en-AU" sz="4000"/>
                  <a:t> </a:t>
                </a:r>
                <a:r>
                  <a:rPr lang="en-US" sz="4000"/>
                  <a:t> </a:t>
                </a:r>
                <a:r>
                  <a:rPr lang="en-AU" sz="4000"/>
                  <a:t>on a </a:t>
                </a:r>
                <a:r>
                  <a:rPr lang="en-AU" sz="4000" b="1"/>
                  <a:t>number line </a:t>
                </a:r>
                <a:r>
                  <a:rPr lang="en-AU" sz="4000"/>
                  <a:t>as follows.</a:t>
                </a:r>
              </a:p>
              <a:p>
                <a:pPr algn="ctr">
                  <a:lnSpc>
                    <a:spcPct val="150000"/>
                  </a:lnSpc>
                </a:pPr>
                <a:endParaRPr lang="en-AU" sz="3600"/>
              </a:p>
              <a:p>
                <a:pPr algn="ctr">
                  <a:lnSpc>
                    <a:spcPct val="150000"/>
                  </a:lnSpc>
                </a:pPr>
                <a:endParaRPr lang="en-AU" sz="3600"/>
              </a:p>
            </p:txBody>
          </p:sp>
        </mc:Choice>
        <mc:Fallback xmlns="">
          <p:sp>
            <p:nvSpPr>
              <p:cNvPr id="4" name="TextBox 3">
                <a:extLst>
                  <a:ext uri="{FF2B5EF4-FFF2-40B4-BE49-F238E27FC236}">
                    <a16:creationId xmlns:a16="http://schemas.microsoft.com/office/drawing/2014/main" id="{B992ABFD-CA95-CB10-3F3D-6B62723B72DF}"/>
                  </a:ext>
                </a:extLst>
              </p:cNvPr>
              <p:cNvSpPr txBox="1">
                <a:spLocks noRot="1" noChangeAspect="1" noMove="1" noResize="1" noEditPoints="1" noAdjustHandles="1" noChangeArrowheads="1" noChangeShapeType="1" noTextEdit="1"/>
              </p:cNvSpPr>
              <p:nvPr/>
            </p:nvSpPr>
            <p:spPr>
              <a:xfrm>
                <a:off x="363312" y="905601"/>
                <a:ext cx="11124000" cy="2587752"/>
              </a:xfrm>
              <a:prstGeom prst="rect">
                <a:avLst/>
              </a:prstGeom>
              <a:blipFill>
                <a:blip r:embed="rId5"/>
                <a:stretch>
                  <a:fillRect l="-439" r="-1700"/>
                </a:stretch>
              </a:blipFill>
            </p:spPr>
            <p:txBody>
              <a:bodyPr/>
              <a:lstStyle/>
              <a:p>
                <a:r>
                  <a:rPr lang="en-AU">
                    <a:noFill/>
                  </a:rPr>
                  <a:t> </a:t>
                </a:r>
              </a:p>
            </p:txBody>
          </p:sp>
        </mc:Fallback>
      </mc:AlternateContent>
      <p:pic>
        <p:nvPicPr>
          <p:cNvPr id="7" name="Picture 6" descr="A number line with four fractions placed. Left to right, these are: 1/8, 1/6, 1/4, and 1/2.">
            <a:extLst>
              <a:ext uri="{FF2B5EF4-FFF2-40B4-BE49-F238E27FC236}">
                <a16:creationId xmlns:a16="http://schemas.microsoft.com/office/drawing/2014/main" id="{92C096A6-E3F4-7911-DB35-6B351082C608}"/>
              </a:ext>
            </a:extLst>
          </p:cNvPr>
          <p:cNvPicPr>
            <a:picLocks noChangeAspect="1"/>
          </p:cNvPicPr>
          <p:nvPr/>
        </p:nvPicPr>
        <p:blipFill>
          <a:blip r:embed="rId6"/>
          <a:stretch>
            <a:fillRect/>
          </a:stretch>
        </p:blipFill>
        <p:spPr>
          <a:xfrm>
            <a:off x="925878" y="3429000"/>
            <a:ext cx="9998867" cy="1804478"/>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4B52BA93-F666-97D2-08A8-86DCCD8C18C8}"/>
              </a:ext>
            </a:extLst>
          </p:cNvPr>
          <p:cNvSpPr txBox="1"/>
          <p:nvPr/>
        </p:nvSpPr>
        <p:spPr>
          <a:xfrm>
            <a:off x="601133" y="5542062"/>
            <a:ext cx="11242867" cy="820674"/>
          </a:xfrm>
          <a:prstGeom prst="rect">
            <a:avLst/>
          </a:prstGeom>
          <a:noFill/>
        </p:spPr>
        <p:txBody>
          <a:bodyPr wrap="square">
            <a:spAutoFit/>
          </a:bodyPr>
          <a:lstStyle/>
          <a:p>
            <a:pPr algn="ctr">
              <a:lnSpc>
                <a:spcPct val="150000"/>
              </a:lnSpc>
            </a:pPr>
            <a:r>
              <a:rPr lang="en-AU" sz="3600"/>
              <a:t>Do you agree with her </a:t>
            </a:r>
            <a:r>
              <a:rPr lang="en-AU" sz="3600" b="1"/>
              <a:t>placements</a:t>
            </a:r>
            <a:r>
              <a:rPr lang="en-AU" sz="3600"/>
              <a:t>? Why / why not? </a:t>
            </a:r>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1C657A3-C189-CFF9-29B2-1240A1AED4C1}"/>
              </a:ext>
            </a:extLst>
          </p:cNvPr>
          <p:cNvSpPr txBox="1"/>
          <p:nvPr/>
        </p:nvSpPr>
        <p:spPr>
          <a:xfrm>
            <a:off x="1143001" y="1838227"/>
            <a:ext cx="10442542" cy="2950589"/>
          </a:xfrm>
          <a:prstGeom prst="rect">
            <a:avLst/>
          </a:prstGeom>
          <a:noFill/>
        </p:spPr>
        <p:txBody>
          <a:bodyPr wrap="square" lIns="0" tIns="0" rIns="0" bIns="0" rtlCol="0">
            <a:noAutofit/>
          </a:bodyPr>
          <a:lstStyle/>
          <a:p>
            <a:pPr algn="ctr">
              <a:lnSpc>
                <a:spcPct val="150000"/>
              </a:lnSpc>
            </a:pPr>
            <a:r>
              <a:rPr lang="en-AU" sz="4400"/>
              <a:t>Lilly walks </a:t>
            </a:r>
            <a:r>
              <a:rPr lang="en-AU" sz="4400" b="1"/>
              <a:t>3200 metres </a:t>
            </a:r>
            <a:r>
              <a:rPr lang="en-AU" sz="4400"/>
              <a:t>to the park.</a:t>
            </a:r>
          </a:p>
          <a:p>
            <a:pPr algn="ctr">
              <a:lnSpc>
                <a:spcPct val="150000"/>
              </a:lnSpc>
            </a:pPr>
            <a:r>
              <a:rPr lang="en-AU" sz="4400"/>
              <a:t> </a:t>
            </a:r>
            <a:r>
              <a:rPr lang="en-AU" sz="4400" b="1"/>
              <a:t>Convert</a:t>
            </a:r>
            <a:r>
              <a:rPr lang="en-AU" sz="4400"/>
              <a:t> the length to show how many </a:t>
            </a:r>
            <a:r>
              <a:rPr lang="en-AU" sz="4400" b="1"/>
              <a:t>kilometres</a:t>
            </a:r>
            <a:r>
              <a:rPr lang="en-AU" sz="4400"/>
              <a:t> she walked?</a:t>
            </a:r>
          </a:p>
          <a:p>
            <a:endParaRPr lang="en-AU" sz="1800"/>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981D98A-F9D4-9BD1-8FC3-4F6E04E92499}"/>
              </a:ext>
            </a:extLst>
          </p:cNvPr>
          <p:cNvSpPr txBox="1"/>
          <p:nvPr/>
        </p:nvSpPr>
        <p:spPr>
          <a:xfrm>
            <a:off x="831273" y="1184223"/>
            <a:ext cx="10652727" cy="2921000"/>
          </a:xfrm>
          <a:prstGeom prst="rect">
            <a:avLst/>
          </a:prstGeom>
          <a:noFill/>
        </p:spPr>
        <p:txBody>
          <a:bodyPr wrap="square" lIns="0" tIns="0" rIns="0" bIns="0" rtlCol="0">
            <a:noAutofit/>
          </a:bodyPr>
          <a:lstStyle/>
          <a:p>
            <a:pPr algn="ctr">
              <a:lnSpc>
                <a:spcPct val="150000"/>
              </a:lnSpc>
            </a:pPr>
            <a:r>
              <a:rPr lang="en-AU" sz="4400"/>
              <a:t>Oscar added 3785 + 4629 and got 8314.</a:t>
            </a:r>
          </a:p>
          <a:p>
            <a:pPr algn="ctr">
              <a:lnSpc>
                <a:spcPct val="150000"/>
              </a:lnSpc>
            </a:pPr>
            <a:r>
              <a:rPr lang="en-AU" sz="4400"/>
              <a:t> </a:t>
            </a:r>
          </a:p>
          <a:p>
            <a:pPr algn="ctr">
              <a:lnSpc>
                <a:spcPct val="150000"/>
              </a:lnSpc>
            </a:pPr>
            <a:r>
              <a:rPr lang="en-AU" sz="4400"/>
              <a:t>Use </a:t>
            </a:r>
            <a:r>
              <a:rPr lang="en-AU" sz="4400" b="1"/>
              <a:t>place value </a:t>
            </a:r>
            <a:r>
              <a:rPr lang="en-AU" sz="4400"/>
              <a:t>to </a:t>
            </a:r>
            <a:r>
              <a:rPr lang="en-AU" sz="4400" b="1"/>
              <a:t>check</a:t>
            </a:r>
            <a:r>
              <a:rPr lang="en-AU" sz="4400"/>
              <a:t> if her answer is correct. </a:t>
            </a:r>
          </a:p>
          <a:p>
            <a:pPr algn="ctr">
              <a:lnSpc>
                <a:spcPct val="150000"/>
              </a:lnSpc>
            </a:pPr>
            <a:r>
              <a:rPr lang="en-AU" sz="4400" b="1"/>
              <a:t>Communicate</a:t>
            </a:r>
            <a:r>
              <a:rPr lang="en-AU" sz="4400"/>
              <a:t> your </a:t>
            </a:r>
            <a:r>
              <a:rPr lang="en-AU" sz="4400" b="1" dirty="0"/>
              <a:t>reasoning</a:t>
            </a:r>
            <a:r>
              <a:rPr lang="en-AU" sz="4400"/>
              <a:t>.</a:t>
            </a:r>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D4C1C57-51FB-BE7B-CA12-DC16067173B4}"/>
              </a:ext>
            </a:extLst>
          </p:cNvPr>
          <p:cNvSpPr txBox="1"/>
          <p:nvPr/>
        </p:nvSpPr>
        <p:spPr>
          <a:xfrm>
            <a:off x="1438132" y="977900"/>
            <a:ext cx="9685868" cy="2451100"/>
          </a:xfrm>
          <a:prstGeom prst="rect">
            <a:avLst/>
          </a:prstGeom>
          <a:noFill/>
        </p:spPr>
        <p:txBody>
          <a:bodyPr wrap="square" lIns="0" tIns="0" rIns="0" bIns="0" rtlCol="0">
            <a:noAutofit/>
          </a:bodyPr>
          <a:lstStyle/>
          <a:p>
            <a:pPr algn="l">
              <a:lnSpc>
                <a:spcPct val="150000"/>
              </a:lnSpc>
            </a:pPr>
            <a:r>
              <a:rPr lang="en-AU" sz="4000" b="1"/>
              <a:t>Record</a:t>
            </a:r>
            <a:r>
              <a:rPr lang="en-AU" sz="4000"/>
              <a:t> events that can be described as:</a:t>
            </a:r>
          </a:p>
          <a:p>
            <a:pPr marL="285750" indent="-285750" algn="l">
              <a:lnSpc>
                <a:spcPct val="150000"/>
              </a:lnSpc>
              <a:buFont typeface="Arial" panose="020B0604020202020204" pitchFamily="34" charset="0"/>
              <a:buChar char="•"/>
            </a:pPr>
            <a:r>
              <a:rPr lang="en-AU" sz="4000"/>
              <a:t>likely</a:t>
            </a:r>
          </a:p>
          <a:p>
            <a:pPr marL="285750" indent="-285750" algn="l">
              <a:lnSpc>
                <a:spcPct val="150000"/>
              </a:lnSpc>
              <a:buFont typeface="Arial" panose="020B0604020202020204" pitchFamily="34" charset="0"/>
              <a:buChar char="•"/>
            </a:pPr>
            <a:r>
              <a:rPr lang="en-AU" sz="4000"/>
              <a:t>unlikely</a:t>
            </a:r>
          </a:p>
          <a:p>
            <a:pPr marL="285750" indent="-285750" algn="l">
              <a:lnSpc>
                <a:spcPct val="150000"/>
              </a:lnSpc>
              <a:buFont typeface="Arial" panose="020B0604020202020204" pitchFamily="34" charset="0"/>
              <a:buChar char="•"/>
            </a:pPr>
            <a:r>
              <a:rPr lang="en-AU" sz="4000"/>
              <a:t>equally likely </a:t>
            </a:r>
          </a:p>
          <a:p>
            <a:pPr marL="285750" indent="-285750" algn="l">
              <a:lnSpc>
                <a:spcPct val="150000"/>
              </a:lnSpc>
              <a:buFont typeface="Arial" panose="020B0604020202020204" pitchFamily="34" charset="0"/>
              <a:buChar char="•"/>
            </a:pPr>
            <a:r>
              <a:rPr lang="en-AU" sz="4000"/>
              <a:t>certain</a:t>
            </a:r>
          </a:p>
          <a:p>
            <a:pPr marL="285750" indent="-285750" algn="l">
              <a:lnSpc>
                <a:spcPct val="150000"/>
              </a:lnSpc>
              <a:buFont typeface="Arial" panose="020B0604020202020204" pitchFamily="34" charset="0"/>
              <a:buChar char="•"/>
            </a:pPr>
            <a:r>
              <a:rPr lang="en-AU" sz="4000"/>
              <a:t>impossible</a:t>
            </a:r>
          </a:p>
          <a:p>
            <a:pPr algn="l"/>
            <a:endParaRPr lang="en-AU" sz="1800"/>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ordering fractions</a:t>
            </a: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18</a:t>
            </a:fld>
            <a:endParaRPr lang="en-AU"/>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Which fraction doesn't belong. A has an image of one-third in a pie graph, B has an image of 1 and one-third, C has the fraction two-thirds and D has a rectangular square with four-sixths shaded. ">
            <a:extLst>
              <a:ext uri="{FF2B5EF4-FFF2-40B4-BE49-F238E27FC236}">
                <a16:creationId xmlns:a16="http://schemas.microsoft.com/office/drawing/2014/main" id="{73A49F48-7811-EAD2-FFF1-65AE658A3383}"/>
              </a:ext>
            </a:extLst>
          </p:cNvPr>
          <p:cNvPicPr>
            <a:picLocks noChangeAspect="1"/>
          </p:cNvPicPr>
          <p:nvPr/>
        </p:nvPicPr>
        <p:blipFill>
          <a:blip r:embed="rId4">
            <a:extLst>
              <a:ext uri="{28A0092B-C50C-407E-A947-70E740481C1C}">
                <a14:useLocalDpi xmlns:a14="http://schemas.microsoft.com/office/drawing/2010/main" val="0"/>
              </a:ext>
            </a:extLst>
          </a:blip>
          <a:srcRect l="7379" t="7896" r="9450" b="7542"/>
          <a:stretch>
            <a:fillRect/>
          </a:stretch>
        </p:blipFill>
        <p:spPr>
          <a:xfrm>
            <a:off x="2164080" y="917258"/>
            <a:ext cx="7863840" cy="5653010"/>
          </a:xfrm>
          <a:prstGeom prst="rect">
            <a:avLst/>
          </a:prstGeom>
        </p:spPr>
      </p:pic>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5F5E1EF3-7C5A-15B4-C7B4-000AE4784B4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p:txBody>
          <a:bodyPr/>
          <a:lstStyle/>
          <a:p>
            <a:pPr algn="ctr"/>
            <a:r>
              <a:rPr lang="en-US" sz="4400"/>
              <a:t>Which of the following pairs are </a:t>
            </a:r>
            <a:r>
              <a:rPr lang="en-US" sz="4400" b="1"/>
              <a:t>not</a:t>
            </a:r>
            <a:r>
              <a:rPr lang="en-US" sz="4400"/>
              <a:t> </a:t>
            </a:r>
            <a:r>
              <a:rPr lang="en-US" sz="4400" b="1"/>
              <a:t>equivalent fractions</a:t>
            </a:r>
            <a:r>
              <a:rPr lang="en-US" sz="4400"/>
              <a: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F13415D-5ABE-8CE1-9EF6-D83C6FF3BAC9}"/>
                  </a:ext>
                </a:extLst>
              </p:cNvPr>
              <p:cNvSpPr txBox="1"/>
              <p:nvPr/>
            </p:nvSpPr>
            <p:spPr>
              <a:xfrm>
                <a:off x="784693" y="5254883"/>
                <a:ext cx="2778718" cy="104913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a:t>A </a:t>
                </a:r>
                <a14:m>
                  <m:oMath xmlns:m="http://schemas.openxmlformats.org/officeDocument/2006/math">
                    <m:f>
                      <m:fPr>
                        <m:ctrlPr>
                          <a:rPr lang="en-AU" sz="4800" i="1">
                            <a:latin typeface="Cambria Math" panose="02040503050406030204" pitchFamily="18" charset="0"/>
                          </a:rPr>
                        </m:ctrlPr>
                      </m:fPr>
                      <m:num>
                        <m:r>
                          <a:rPr lang="en-AU" sz="4800" b="0" i="0" smtClean="0">
                            <a:latin typeface="Cambria Math" panose="02040503050406030204" pitchFamily="18" charset="0"/>
                          </a:rPr>
                          <m:t>3</m:t>
                        </m:r>
                      </m:num>
                      <m:den>
                        <m:r>
                          <a:rPr lang="en-AU" sz="4800">
                            <a:latin typeface="Cambria Math" panose="02040503050406030204" pitchFamily="18" charset="0"/>
                          </a:rPr>
                          <m:t>6</m:t>
                        </m:r>
                      </m:den>
                    </m:f>
                    <m:r>
                      <a:rPr lang="en-AU" sz="4800" b="0" i="0" smtClean="0">
                        <a:latin typeface="Cambria Math" panose="02040503050406030204" pitchFamily="18" charset="0"/>
                      </a:rPr>
                      <m:t>,</m:t>
                    </m:r>
                    <m:f>
                      <m:fPr>
                        <m:ctrlPr>
                          <a:rPr lang="en-AU" sz="4800" i="1">
                            <a:latin typeface="Cambria Math" panose="02040503050406030204" pitchFamily="18" charset="0"/>
                          </a:rPr>
                        </m:ctrlPr>
                      </m:fPr>
                      <m:num>
                        <m:r>
                          <a:rPr lang="en-AU" sz="4800" b="0" i="0" smtClean="0">
                            <a:latin typeface="Cambria Math" panose="02040503050406030204" pitchFamily="18" charset="0"/>
                          </a:rPr>
                          <m:t>1</m:t>
                        </m:r>
                      </m:num>
                      <m:den>
                        <m:r>
                          <a:rPr lang="en-AU" sz="4800" b="0" i="0" smtClean="0">
                            <a:latin typeface="Cambria Math" panose="02040503050406030204" pitchFamily="18" charset="0"/>
                          </a:rPr>
                          <m:t>2</m:t>
                        </m:r>
                      </m:den>
                    </m:f>
                  </m:oMath>
                </a14:m>
                <a:endParaRPr lang="en-US" sz="4800" b="1"/>
              </a:p>
            </p:txBody>
          </p:sp>
        </mc:Choice>
        <mc:Fallback xmlns="">
          <p:sp>
            <p:nvSpPr>
              <p:cNvPr id="9" name="TextBox 8">
                <a:extLst>
                  <a:ext uri="{FF2B5EF4-FFF2-40B4-BE49-F238E27FC236}">
                    <a16:creationId xmlns:a16="http://schemas.microsoft.com/office/drawing/2014/main" id="{AF13415D-5ABE-8CE1-9EF6-D83C6FF3BAC9}"/>
                  </a:ext>
                </a:extLst>
              </p:cNvPr>
              <p:cNvSpPr txBox="1">
                <a:spLocks noRot="1" noChangeAspect="1" noMove="1" noResize="1" noEditPoints="1" noAdjustHandles="1" noChangeArrowheads="1" noChangeShapeType="1" noTextEdit="1"/>
              </p:cNvSpPr>
              <p:nvPr/>
            </p:nvSpPr>
            <p:spPr>
              <a:xfrm>
                <a:off x="784693" y="5254883"/>
                <a:ext cx="2778718" cy="1049133"/>
              </a:xfrm>
              <a:prstGeom prst="rect">
                <a:avLst/>
              </a:prstGeom>
              <a:blipFill>
                <a:blip r:embed="rId4"/>
                <a:stretch>
                  <a:fillRect l="-13377" t="-5233" b="-174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6BFC4FD-CDBD-E74C-2B4B-957276E8D806}"/>
                  </a:ext>
                </a:extLst>
              </p:cNvPr>
              <p:cNvSpPr txBox="1"/>
              <p:nvPr/>
            </p:nvSpPr>
            <p:spPr>
              <a:xfrm>
                <a:off x="3942000" y="5259550"/>
                <a:ext cx="2249290" cy="10480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a:t>B </a:t>
                </a:r>
                <a14:m>
                  <m:oMath xmlns:m="http://schemas.openxmlformats.org/officeDocument/2006/math">
                    <m:f>
                      <m:fPr>
                        <m:ctrlPr>
                          <a:rPr lang="en-AU" sz="4800" i="1">
                            <a:latin typeface="Cambria Math" panose="02040503050406030204" pitchFamily="18" charset="0"/>
                          </a:rPr>
                        </m:ctrlPr>
                      </m:fPr>
                      <m:num>
                        <m:r>
                          <a:rPr lang="en-AU" sz="4800" b="0" i="0" smtClean="0">
                            <a:latin typeface="Cambria Math" panose="02040503050406030204" pitchFamily="18" charset="0"/>
                          </a:rPr>
                          <m:t>4</m:t>
                        </m:r>
                      </m:num>
                      <m:den>
                        <m:r>
                          <a:rPr lang="en-AU" sz="4800" b="0" i="0" smtClean="0">
                            <a:latin typeface="Cambria Math" panose="02040503050406030204" pitchFamily="18" charset="0"/>
                          </a:rPr>
                          <m:t>8</m:t>
                        </m:r>
                      </m:den>
                    </m:f>
                    <m:r>
                      <a:rPr lang="en-AU" sz="4800">
                        <a:latin typeface="Cambria Math" panose="02040503050406030204" pitchFamily="18" charset="0"/>
                      </a:rPr>
                      <m:t>,</m:t>
                    </m:r>
                    <m:f>
                      <m:fPr>
                        <m:ctrlPr>
                          <a:rPr lang="en-AU" sz="4800" i="1">
                            <a:latin typeface="Cambria Math" panose="02040503050406030204" pitchFamily="18" charset="0"/>
                          </a:rPr>
                        </m:ctrlPr>
                      </m:fPr>
                      <m:num>
                        <m:r>
                          <a:rPr lang="en-AU" sz="4800">
                            <a:latin typeface="Cambria Math" panose="02040503050406030204" pitchFamily="18" charset="0"/>
                          </a:rPr>
                          <m:t>1</m:t>
                        </m:r>
                      </m:num>
                      <m:den>
                        <m:r>
                          <a:rPr lang="en-AU" sz="4800" b="0" i="0" smtClean="0">
                            <a:latin typeface="Cambria Math" panose="02040503050406030204" pitchFamily="18" charset="0"/>
                          </a:rPr>
                          <m:t>2</m:t>
                        </m:r>
                      </m:den>
                    </m:f>
                  </m:oMath>
                </a14:m>
                <a:endParaRPr lang="en-US" sz="4800" b="1"/>
              </a:p>
            </p:txBody>
          </p:sp>
        </mc:Choice>
        <mc:Fallback xmlns="">
          <p:sp>
            <p:nvSpPr>
              <p:cNvPr id="10" name="TextBox 9">
                <a:extLst>
                  <a:ext uri="{FF2B5EF4-FFF2-40B4-BE49-F238E27FC236}">
                    <a16:creationId xmlns:a16="http://schemas.microsoft.com/office/drawing/2014/main" id="{06BFC4FD-CDBD-E74C-2B4B-957276E8D806}"/>
                  </a:ext>
                </a:extLst>
              </p:cNvPr>
              <p:cNvSpPr txBox="1">
                <a:spLocks noRot="1" noChangeAspect="1" noMove="1" noResize="1" noEditPoints="1" noAdjustHandles="1" noChangeArrowheads="1" noChangeShapeType="1" noTextEdit="1"/>
              </p:cNvSpPr>
              <p:nvPr/>
            </p:nvSpPr>
            <p:spPr>
              <a:xfrm>
                <a:off x="3942000" y="5259550"/>
                <a:ext cx="2249290" cy="1048044"/>
              </a:xfrm>
              <a:prstGeom prst="rect">
                <a:avLst/>
              </a:prstGeom>
              <a:blipFill>
                <a:blip r:embed="rId5"/>
                <a:stretch>
                  <a:fillRect l="-16531" t="-5814" b="-168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CCBA3B1-EB4D-D918-A8D0-B78C7621C52A}"/>
                  </a:ext>
                </a:extLst>
              </p:cNvPr>
              <p:cNvSpPr txBox="1"/>
              <p:nvPr/>
            </p:nvSpPr>
            <p:spPr>
              <a:xfrm>
                <a:off x="6846223" y="5254883"/>
                <a:ext cx="2249290" cy="105971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a:t>C </a:t>
                </a:r>
                <a14:m>
                  <m:oMath xmlns:m="http://schemas.openxmlformats.org/officeDocument/2006/math">
                    <m:f>
                      <m:fPr>
                        <m:ctrlPr>
                          <a:rPr lang="en-AU" sz="4800" i="1">
                            <a:latin typeface="Cambria Math" panose="02040503050406030204" pitchFamily="18" charset="0"/>
                          </a:rPr>
                        </m:ctrlPr>
                      </m:fPr>
                      <m:num>
                        <m:r>
                          <a:rPr lang="en-AU" sz="4800" b="0" i="0" smtClean="0">
                            <a:latin typeface="Cambria Math" panose="02040503050406030204" pitchFamily="18" charset="0"/>
                          </a:rPr>
                          <m:t>1</m:t>
                        </m:r>
                      </m:num>
                      <m:den>
                        <m:r>
                          <a:rPr lang="en-AU" sz="4800" b="0" i="0" smtClean="0">
                            <a:latin typeface="Cambria Math" panose="02040503050406030204" pitchFamily="18" charset="0"/>
                          </a:rPr>
                          <m:t>2</m:t>
                        </m:r>
                      </m:den>
                    </m:f>
                    <m:r>
                      <a:rPr lang="en-AU" sz="4800">
                        <a:latin typeface="Cambria Math" panose="02040503050406030204" pitchFamily="18" charset="0"/>
                      </a:rPr>
                      <m:t>,</m:t>
                    </m:r>
                    <m:f>
                      <m:fPr>
                        <m:ctrlPr>
                          <a:rPr lang="en-AU" sz="4800" i="1">
                            <a:latin typeface="Cambria Math" panose="02040503050406030204" pitchFamily="18" charset="0"/>
                          </a:rPr>
                        </m:ctrlPr>
                      </m:fPr>
                      <m:num>
                        <m:r>
                          <a:rPr lang="en-AU" sz="4800" b="0" i="0" smtClean="0">
                            <a:latin typeface="Cambria Math" panose="02040503050406030204" pitchFamily="18" charset="0"/>
                          </a:rPr>
                          <m:t>5</m:t>
                        </m:r>
                      </m:num>
                      <m:den>
                        <m:r>
                          <a:rPr lang="en-AU" sz="4800" b="0" i="0" smtClean="0">
                            <a:latin typeface="Cambria Math" panose="02040503050406030204" pitchFamily="18" charset="0"/>
                          </a:rPr>
                          <m:t>10</m:t>
                        </m:r>
                      </m:den>
                    </m:f>
                  </m:oMath>
                </a14:m>
                <a:endParaRPr lang="en-US" sz="4800" b="1"/>
              </a:p>
            </p:txBody>
          </p:sp>
        </mc:Choice>
        <mc:Fallback xmlns="">
          <p:sp>
            <p:nvSpPr>
              <p:cNvPr id="12" name="TextBox 11">
                <a:extLst>
                  <a:ext uri="{FF2B5EF4-FFF2-40B4-BE49-F238E27FC236}">
                    <a16:creationId xmlns:a16="http://schemas.microsoft.com/office/drawing/2014/main" id="{0CCBA3B1-EB4D-D918-A8D0-B78C7621C52A}"/>
                  </a:ext>
                </a:extLst>
              </p:cNvPr>
              <p:cNvSpPr txBox="1">
                <a:spLocks noRot="1" noChangeAspect="1" noMove="1" noResize="1" noEditPoints="1" noAdjustHandles="1" noChangeArrowheads="1" noChangeShapeType="1" noTextEdit="1"/>
              </p:cNvSpPr>
              <p:nvPr/>
            </p:nvSpPr>
            <p:spPr>
              <a:xfrm>
                <a:off x="6846223" y="5254883"/>
                <a:ext cx="2249290" cy="1059714"/>
              </a:xfrm>
              <a:prstGeom prst="rect">
                <a:avLst/>
              </a:prstGeom>
              <a:blipFill>
                <a:blip r:embed="rId6"/>
                <a:stretch>
                  <a:fillRect l="-16260" t="-4023" b="-17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02A7C63-4C7D-5EB4-47F9-AF81CCED5985}"/>
                  </a:ext>
                </a:extLst>
              </p:cNvPr>
              <p:cNvSpPr txBox="1"/>
              <p:nvPr/>
            </p:nvSpPr>
            <p:spPr>
              <a:xfrm>
                <a:off x="9811855" y="5232054"/>
                <a:ext cx="1890520" cy="104759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a:t>D </a:t>
                </a:r>
                <a14:m>
                  <m:oMath xmlns:m="http://schemas.openxmlformats.org/officeDocument/2006/math">
                    <m:f>
                      <m:fPr>
                        <m:ctrlPr>
                          <a:rPr lang="en-AU" sz="4800" i="1">
                            <a:latin typeface="Cambria Math" panose="02040503050406030204" pitchFamily="18" charset="0"/>
                          </a:rPr>
                        </m:ctrlPr>
                      </m:fPr>
                      <m:num>
                        <m:r>
                          <a:rPr lang="en-AU" sz="4800" b="0" i="0" smtClean="0">
                            <a:latin typeface="Cambria Math" panose="02040503050406030204" pitchFamily="18" charset="0"/>
                          </a:rPr>
                          <m:t>4</m:t>
                        </m:r>
                      </m:num>
                      <m:den>
                        <m:r>
                          <a:rPr lang="en-AU" sz="4800" b="0" i="0" smtClean="0">
                            <a:latin typeface="Cambria Math" panose="02040503050406030204" pitchFamily="18" charset="0"/>
                          </a:rPr>
                          <m:t>6</m:t>
                        </m:r>
                      </m:den>
                    </m:f>
                    <m:r>
                      <a:rPr lang="en-AU" sz="4800">
                        <a:latin typeface="Cambria Math" panose="02040503050406030204" pitchFamily="18" charset="0"/>
                      </a:rPr>
                      <m:t>,</m:t>
                    </m:r>
                    <m:f>
                      <m:fPr>
                        <m:ctrlPr>
                          <a:rPr lang="en-AU" sz="4800" i="1">
                            <a:latin typeface="Cambria Math" panose="02040503050406030204" pitchFamily="18" charset="0"/>
                          </a:rPr>
                        </m:ctrlPr>
                      </m:fPr>
                      <m:num>
                        <m:r>
                          <a:rPr lang="en-AU" sz="4800">
                            <a:latin typeface="Cambria Math" panose="02040503050406030204" pitchFamily="18" charset="0"/>
                          </a:rPr>
                          <m:t>1</m:t>
                        </m:r>
                      </m:num>
                      <m:den>
                        <m:r>
                          <a:rPr lang="en-AU" sz="4800" b="0" i="0" smtClean="0">
                            <a:latin typeface="Cambria Math" panose="02040503050406030204" pitchFamily="18" charset="0"/>
                          </a:rPr>
                          <m:t>2</m:t>
                        </m:r>
                      </m:den>
                    </m:f>
                  </m:oMath>
                </a14:m>
                <a:endParaRPr lang="en-US" sz="4800" b="1"/>
              </a:p>
            </p:txBody>
          </p:sp>
        </mc:Choice>
        <mc:Fallback xmlns="">
          <p:sp>
            <p:nvSpPr>
              <p:cNvPr id="11" name="TextBox 10">
                <a:extLst>
                  <a:ext uri="{FF2B5EF4-FFF2-40B4-BE49-F238E27FC236}">
                    <a16:creationId xmlns:a16="http://schemas.microsoft.com/office/drawing/2014/main" id="{002A7C63-4C7D-5EB4-47F9-AF81CCED5985}"/>
                  </a:ext>
                </a:extLst>
              </p:cNvPr>
              <p:cNvSpPr txBox="1">
                <a:spLocks noRot="1" noChangeAspect="1" noMove="1" noResize="1" noEditPoints="1" noAdjustHandles="1" noChangeArrowheads="1" noChangeShapeType="1" noTextEdit="1"/>
              </p:cNvSpPr>
              <p:nvPr/>
            </p:nvSpPr>
            <p:spPr>
              <a:xfrm>
                <a:off x="9811855" y="5232054"/>
                <a:ext cx="1890520" cy="1047594"/>
              </a:xfrm>
              <a:prstGeom prst="rect">
                <a:avLst/>
              </a:prstGeom>
              <a:blipFill>
                <a:blip r:embed="rId7"/>
                <a:stretch>
                  <a:fillRect l="-19677" t="-5233" b="-17442"/>
                </a:stretch>
              </a:blipFill>
            </p:spPr>
            <p:txBody>
              <a:bodyPr/>
              <a:lstStyle/>
              <a:p>
                <a:r>
                  <a:rPr lang="en-US">
                    <a:noFill/>
                  </a:rPr>
                  <a:t> </a:t>
                </a:r>
              </a:p>
            </p:txBody>
          </p:sp>
        </mc:Fallback>
      </mc:AlternateContent>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5A210B1-9588-90C2-480D-B2AA20A0FC1C}"/>
                  </a:ext>
                </a:extLst>
              </p:cNvPr>
              <p:cNvSpPr txBox="1"/>
              <p:nvPr/>
            </p:nvSpPr>
            <p:spPr>
              <a:xfrm>
                <a:off x="462624" y="1001684"/>
                <a:ext cx="11369376" cy="3337560"/>
              </a:xfrm>
              <a:prstGeom prst="rect">
                <a:avLst/>
              </a:prstGeom>
              <a:noFill/>
            </p:spPr>
            <p:txBody>
              <a:bodyPr wrap="square" lIns="0" tIns="0" rIns="0" bIns="0" rtlCol="0">
                <a:noAutofit/>
              </a:bodyPr>
              <a:lstStyle/>
              <a:p>
                <a:pPr algn="ctr">
                  <a:lnSpc>
                    <a:spcPct val="150000"/>
                  </a:lnSpc>
                </a:pPr>
                <a:r>
                  <a:rPr lang="en-AU" sz="4000" dirty="0"/>
                  <a:t>Willow walked </a:t>
                </a:r>
                <a14:m>
                  <m:oMath xmlns:m="http://schemas.openxmlformats.org/officeDocument/2006/math">
                    <m:f>
                      <m:fPr>
                        <m:ctrlPr>
                          <a:rPr lang="en-AU" sz="4000" i="1">
                            <a:latin typeface="Cambria Math" panose="02040503050406030204" pitchFamily="18" charset="0"/>
                          </a:rPr>
                        </m:ctrlPr>
                      </m:fPr>
                      <m:num>
                        <m:r>
                          <a:rPr lang="en-AU" sz="4000">
                            <a:latin typeface="Cambria Math" panose="02040503050406030204" pitchFamily="18" charset="0"/>
                          </a:rPr>
                          <m:t>1</m:t>
                        </m:r>
                      </m:num>
                      <m:den>
                        <m:r>
                          <a:rPr lang="en-AU" sz="4000">
                            <a:latin typeface="Cambria Math" panose="02040503050406030204" pitchFamily="18" charset="0"/>
                          </a:rPr>
                          <m:t>2</m:t>
                        </m:r>
                      </m:den>
                    </m:f>
                  </m:oMath>
                </a14:m>
                <a:r>
                  <a:rPr lang="en-AU" sz="4000" dirty="0"/>
                  <a:t>  of a walking track. </a:t>
                </a:r>
              </a:p>
              <a:p>
                <a:pPr algn="ctr">
                  <a:lnSpc>
                    <a:spcPct val="150000"/>
                  </a:lnSpc>
                </a:pPr>
                <a:r>
                  <a:rPr lang="en-AU" sz="4000" dirty="0"/>
                  <a:t>Polly walked </a:t>
                </a:r>
                <a14:m>
                  <m:oMath xmlns:m="http://schemas.openxmlformats.org/officeDocument/2006/math">
                    <m:f>
                      <m:fPr>
                        <m:ctrlPr>
                          <a:rPr lang="en-AU" sz="4000" i="1">
                            <a:latin typeface="Cambria Math" panose="02040503050406030204" pitchFamily="18" charset="0"/>
                          </a:rPr>
                        </m:ctrlPr>
                      </m:fPr>
                      <m:num>
                        <m:r>
                          <a:rPr lang="en-AU" sz="4000" b="0" i="0" smtClean="0">
                            <a:latin typeface="Cambria Math" panose="02040503050406030204" pitchFamily="18" charset="0"/>
                          </a:rPr>
                          <m:t>3</m:t>
                        </m:r>
                      </m:num>
                      <m:den>
                        <m:r>
                          <a:rPr lang="en-AU" sz="4000" b="0" i="0" smtClean="0">
                            <a:latin typeface="Cambria Math" panose="02040503050406030204" pitchFamily="18" charset="0"/>
                          </a:rPr>
                          <m:t>4</m:t>
                        </m:r>
                      </m:den>
                    </m:f>
                  </m:oMath>
                </a14:m>
                <a:r>
                  <a:rPr lang="en-AU" sz="4000" dirty="0"/>
                  <a:t> of </a:t>
                </a:r>
                <a:r>
                  <a:rPr lang="en-AU" sz="4000" b="1" dirty="0"/>
                  <a:t>different</a:t>
                </a:r>
                <a:r>
                  <a:rPr lang="en-AU" sz="4000" dirty="0"/>
                  <a:t> track. </a:t>
                </a:r>
              </a:p>
              <a:p>
                <a:pPr algn="ctr">
                  <a:lnSpc>
                    <a:spcPct val="150000"/>
                  </a:lnSpc>
                </a:pPr>
                <a:r>
                  <a:rPr lang="en-AU" sz="4000" dirty="0"/>
                  <a:t>Willow said she walked further than Polly.</a:t>
                </a:r>
              </a:p>
              <a:p>
                <a:pPr algn="ctr">
                  <a:lnSpc>
                    <a:spcPct val="150000"/>
                  </a:lnSpc>
                </a:pPr>
                <a:r>
                  <a:rPr lang="en-AU" sz="4000" b="1" dirty="0"/>
                  <a:t>Draw</a:t>
                </a:r>
                <a:r>
                  <a:rPr lang="en-AU" sz="4000" dirty="0"/>
                  <a:t> a </a:t>
                </a:r>
                <a:r>
                  <a:rPr lang="en-AU" sz="4000" b="1" dirty="0"/>
                  <a:t>representation</a:t>
                </a:r>
                <a:r>
                  <a:rPr lang="en-AU" sz="4000" dirty="0"/>
                  <a:t> to show how this could be true.</a:t>
                </a:r>
              </a:p>
            </p:txBody>
          </p:sp>
        </mc:Choice>
        <mc:Fallback xmlns="">
          <p:sp>
            <p:nvSpPr>
              <p:cNvPr id="4" name="TextBox 3">
                <a:extLst>
                  <a:ext uri="{FF2B5EF4-FFF2-40B4-BE49-F238E27FC236}">
                    <a16:creationId xmlns:a16="http://schemas.microsoft.com/office/drawing/2014/main" id="{95A210B1-9588-90C2-480D-B2AA20A0FC1C}"/>
                  </a:ext>
                </a:extLst>
              </p:cNvPr>
              <p:cNvSpPr txBox="1">
                <a:spLocks noRot="1" noChangeAspect="1" noMove="1" noResize="1" noEditPoints="1" noAdjustHandles="1" noChangeArrowheads="1" noChangeShapeType="1" noTextEdit="1"/>
              </p:cNvSpPr>
              <p:nvPr/>
            </p:nvSpPr>
            <p:spPr>
              <a:xfrm>
                <a:off x="462624" y="1001684"/>
                <a:ext cx="11369376" cy="3337560"/>
              </a:xfrm>
              <a:prstGeom prst="rect">
                <a:avLst/>
              </a:prstGeom>
              <a:blipFill>
                <a:blip r:embed="rId4"/>
                <a:stretch>
                  <a:fillRect l="-2359" r="-3592" b="-65328"/>
                </a:stretch>
              </a:blipFill>
            </p:spPr>
            <p:txBody>
              <a:bodyPr/>
              <a:lstStyle/>
              <a:p>
                <a:r>
                  <a:rPr lang="en-AU">
                    <a:noFill/>
                  </a:rPr>
                  <a:t> </a:t>
                </a:r>
              </a:p>
            </p:txBody>
          </p:sp>
        </mc:Fallback>
      </mc:AlternateContent>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6CC82C1-7E8D-A8F5-718A-0941FDA25523}"/>
              </a:ext>
            </a:extLst>
          </p:cNvPr>
          <p:cNvSpPr txBox="1"/>
          <p:nvPr/>
        </p:nvSpPr>
        <p:spPr>
          <a:xfrm>
            <a:off x="1270000" y="1879600"/>
            <a:ext cx="10020300" cy="2781300"/>
          </a:xfrm>
          <a:prstGeom prst="rect">
            <a:avLst/>
          </a:prstGeom>
          <a:noFill/>
        </p:spPr>
        <p:txBody>
          <a:bodyPr wrap="square" lIns="0" tIns="0" rIns="0" bIns="0" rtlCol="0">
            <a:noAutofit/>
          </a:bodyPr>
          <a:lstStyle/>
          <a:p>
            <a:pPr algn="l"/>
            <a:r>
              <a:rPr lang="en-AU" sz="4400" b="1"/>
              <a:t>Calculate</a:t>
            </a:r>
            <a:r>
              <a:rPr lang="en-AU" sz="4400"/>
              <a:t> the </a:t>
            </a:r>
            <a:r>
              <a:rPr lang="en-AU" sz="4400" b="1"/>
              <a:t>perimeter</a:t>
            </a:r>
            <a:r>
              <a:rPr lang="en-AU" sz="4400"/>
              <a:t> of this shape.</a:t>
            </a:r>
          </a:p>
        </p:txBody>
      </p:sp>
      <p:pic>
        <p:nvPicPr>
          <p:cNvPr id="12" name="Picture 11" descr="A blue rectangle. The longer sides are labelled 20 cm and the shorter sides are labelled 10 cm.">
            <a:extLst>
              <a:ext uri="{FF2B5EF4-FFF2-40B4-BE49-F238E27FC236}">
                <a16:creationId xmlns:a16="http://schemas.microsoft.com/office/drawing/2014/main" id="{D4E397DF-F779-9E03-B2F4-18EFED4A5461}"/>
              </a:ext>
            </a:extLst>
          </p:cNvPr>
          <p:cNvPicPr>
            <a:picLocks noChangeAspect="1"/>
          </p:cNvPicPr>
          <p:nvPr/>
        </p:nvPicPr>
        <p:blipFill>
          <a:blip r:embed="rId4"/>
          <a:stretch>
            <a:fillRect/>
          </a:stretch>
        </p:blipFill>
        <p:spPr>
          <a:xfrm>
            <a:off x="1270000" y="3270250"/>
            <a:ext cx="9231405" cy="3098157"/>
          </a:xfrm>
          <a:prstGeom prst="rect">
            <a:avLst/>
          </a:prstGeom>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FDE8C1C-4B14-F420-08F3-A5CE6BD1F569}"/>
              </a:ext>
            </a:extLst>
          </p:cNvPr>
          <p:cNvSpPr txBox="1"/>
          <p:nvPr/>
        </p:nvSpPr>
        <p:spPr>
          <a:xfrm>
            <a:off x="1405212" y="905601"/>
            <a:ext cx="9698568" cy="1714500"/>
          </a:xfrm>
          <a:prstGeom prst="rect">
            <a:avLst/>
          </a:prstGeom>
          <a:noFill/>
        </p:spPr>
        <p:txBody>
          <a:bodyPr wrap="square" lIns="0" tIns="0" rIns="0" bIns="0" rtlCol="0">
            <a:noAutofit/>
          </a:bodyPr>
          <a:lstStyle/>
          <a:p>
            <a:pPr algn="ctr">
              <a:lnSpc>
                <a:spcPct val="150000"/>
              </a:lnSpc>
            </a:pPr>
            <a:r>
              <a:rPr lang="en-AU" sz="4400"/>
              <a:t>Sophie is counting the number of pencils in 3 Year 6 classrooms. </a:t>
            </a:r>
          </a:p>
          <a:p>
            <a:pPr algn="ctr">
              <a:lnSpc>
                <a:spcPct val="150000"/>
              </a:lnSpc>
            </a:pPr>
            <a:r>
              <a:rPr lang="en-AU" sz="3600"/>
              <a:t> </a:t>
            </a:r>
            <a:endParaRPr lang="en-AU" sz="1800"/>
          </a:p>
        </p:txBody>
      </p:sp>
      <p:graphicFrame>
        <p:nvGraphicFramePr>
          <p:cNvPr id="5" name="Table 4">
            <a:extLst>
              <a:ext uri="{FF2B5EF4-FFF2-40B4-BE49-F238E27FC236}">
                <a16:creationId xmlns:a16="http://schemas.microsoft.com/office/drawing/2014/main" id="{DBFD66D0-96EB-2CFD-F702-1A13F8BDE394}"/>
              </a:ext>
            </a:extLst>
          </p:cNvPr>
          <p:cNvGraphicFramePr>
            <a:graphicFrameLocks noGrp="1"/>
          </p:cNvGraphicFramePr>
          <p:nvPr>
            <p:extLst>
              <p:ext uri="{D42A27DB-BD31-4B8C-83A1-F6EECF244321}">
                <p14:modId xmlns:p14="http://schemas.microsoft.com/office/powerpoint/2010/main" val="3368539000"/>
              </p:ext>
            </p:extLst>
          </p:nvPr>
        </p:nvGraphicFramePr>
        <p:xfrm>
          <a:off x="2621280" y="3186240"/>
          <a:ext cx="7266432" cy="2103120"/>
        </p:xfrm>
        <a:graphic>
          <a:graphicData uri="http://schemas.openxmlformats.org/drawingml/2006/table">
            <a:tbl>
              <a:tblPr firstRow="1" bandRow="1">
                <a:tableStyleId>{5A111915-BE36-4E01-A7E5-04B1672EAD32}</a:tableStyleId>
              </a:tblPr>
              <a:tblGrid>
                <a:gridCol w="3302243">
                  <a:extLst>
                    <a:ext uri="{9D8B030D-6E8A-4147-A177-3AD203B41FA5}">
                      <a16:colId xmlns:a16="http://schemas.microsoft.com/office/drawing/2014/main" val="3855732835"/>
                    </a:ext>
                  </a:extLst>
                </a:gridCol>
                <a:gridCol w="3964189">
                  <a:extLst>
                    <a:ext uri="{9D8B030D-6E8A-4147-A177-3AD203B41FA5}">
                      <a16:colId xmlns:a16="http://schemas.microsoft.com/office/drawing/2014/main" val="993549069"/>
                    </a:ext>
                  </a:extLst>
                </a:gridCol>
              </a:tblGrid>
              <a:tr h="699911">
                <a:tc>
                  <a:txBody>
                    <a:bodyPr/>
                    <a:lstStyle/>
                    <a:p>
                      <a:r>
                        <a:rPr lang="en-AU" sz="4000" b="0">
                          <a:solidFill>
                            <a:schemeClr val="bg1"/>
                          </a:solidFill>
                        </a:rPr>
                        <a:t>Class 6Y</a:t>
                      </a:r>
                    </a:p>
                  </a:txBody>
                  <a:tcPr>
                    <a:solidFill>
                      <a:schemeClr val="accent1"/>
                    </a:solidFill>
                  </a:tcPr>
                </a:tc>
                <a:tc>
                  <a:txBody>
                    <a:bodyPr/>
                    <a:lstStyle/>
                    <a:p>
                      <a:pPr algn="ctr"/>
                      <a:r>
                        <a:rPr lang="en-AU" sz="4000" b="0">
                          <a:solidFill>
                            <a:schemeClr val="tx1"/>
                          </a:solidFill>
                        </a:rPr>
                        <a:t>2562</a:t>
                      </a:r>
                      <a:endParaRPr lang="en-AU" sz="4000" b="0" dirty="0">
                        <a:solidFill>
                          <a:schemeClr val="tx1"/>
                        </a:solidFill>
                      </a:endParaRPr>
                    </a:p>
                  </a:txBody>
                  <a:tcPr>
                    <a:noFill/>
                  </a:tcPr>
                </a:tc>
                <a:extLst>
                  <a:ext uri="{0D108BD9-81ED-4DB2-BD59-A6C34878D82A}">
                    <a16:rowId xmlns:a16="http://schemas.microsoft.com/office/drawing/2014/main" val="1446444547"/>
                  </a:ext>
                </a:extLst>
              </a:tr>
              <a:tr h="699911">
                <a:tc>
                  <a:txBody>
                    <a:bodyPr/>
                    <a:lstStyle/>
                    <a:p>
                      <a:r>
                        <a:rPr lang="en-AU" sz="4000" b="0">
                          <a:solidFill>
                            <a:schemeClr val="bg1"/>
                          </a:solidFill>
                        </a:rPr>
                        <a:t>Class 6B</a:t>
                      </a:r>
                    </a:p>
                  </a:txBody>
                  <a:tcPr>
                    <a:solidFill>
                      <a:schemeClr val="accent1"/>
                    </a:solidFill>
                  </a:tcPr>
                </a:tc>
                <a:tc>
                  <a:txBody>
                    <a:bodyPr/>
                    <a:lstStyle/>
                    <a:p>
                      <a:pPr algn="ctr"/>
                      <a:r>
                        <a:rPr lang="en-AU" sz="4000" b="0">
                          <a:solidFill>
                            <a:schemeClr val="tx1"/>
                          </a:solidFill>
                        </a:rPr>
                        <a:t>78</a:t>
                      </a:r>
                    </a:p>
                  </a:txBody>
                  <a:tcPr>
                    <a:noFill/>
                  </a:tcPr>
                </a:tc>
                <a:extLst>
                  <a:ext uri="{0D108BD9-81ED-4DB2-BD59-A6C34878D82A}">
                    <a16:rowId xmlns:a16="http://schemas.microsoft.com/office/drawing/2014/main" val="3252432099"/>
                  </a:ext>
                </a:extLst>
              </a:tr>
              <a:tr h="699911">
                <a:tc>
                  <a:txBody>
                    <a:bodyPr/>
                    <a:lstStyle/>
                    <a:p>
                      <a:r>
                        <a:rPr lang="en-AU" sz="4000" b="0">
                          <a:solidFill>
                            <a:schemeClr val="bg1"/>
                          </a:solidFill>
                        </a:rPr>
                        <a:t>Class 6G</a:t>
                      </a:r>
                    </a:p>
                  </a:txBody>
                  <a:tcPr>
                    <a:solidFill>
                      <a:schemeClr val="accent1"/>
                    </a:solidFill>
                  </a:tcPr>
                </a:tc>
                <a:tc>
                  <a:txBody>
                    <a:bodyPr/>
                    <a:lstStyle/>
                    <a:p>
                      <a:pPr algn="ctr"/>
                      <a:r>
                        <a:rPr lang="en-AU" sz="4000" b="0">
                          <a:solidFill>
                            <a:schemeClr val="tx1"/>
                          </a:solidFill>
                        </a:rPr>
                        <a:t>349 </a:t>
                      </a:r>
                    </a:p>
                  </a:txBody>
                  <a:tcPr>
                    <a:noFill/>
                  </a:tcPr>
                </a:tc>
                <a:extLst>
                  <a:ext uri="{0D108BD9-81ED-4DB2-BD59-A6C34878D82A}">
                    <a16:rowId xmlns:a16="http://schemas.microsoft.com/office/drawing/2014/main" val="3560874158"/>
                  </a:ext>
                </a:extLst>
              </a:tr>
            </a:tbl>
          </a:graphicData>
        </a:graphic>
      </p:graphicFrame>
      <p:sp>
        <p:nvSpPr>
          <p:cNvPr id="7" name="TextBox 6">
            <a:extLst>
              <a:ext uri="{FF2B5EF4-FFF2-40B4-BE49-F238E27FC236}">
                <a16:creationId xmlns:a16="http://schemas.microsoft.com/office/drawing/2014/main" id="{2EF75966-F77E-0981-AB3C-8A48C79B09BE}"/>
              </a:ext>
            </a:extLst>
          </p:cNvPr>
          <p:cNvSpPr txBox="1"/>
          <p:nvPr/>
        </p:nvSpPr>
        <p:spPr>
          <a:xfrm>
            <a:off x="360000" y="5463803"/>
            <a:ext cx="11484000" cy="1714500"/>
          </a:xfrm>
          <a:prstGeom prst="rect">
            <a:avLst/>
          </a:prstGeom>
          <a:noFill/>
        </p:spPr>
        <p:txBody>
          <a:bodyPr wrap="square" lIns="0" tIns="0" rIns="0" bIns="0" rtlCol="0">
            <a:noAutofit/>
          </a:bodyPr>
          <a:lstStyle/>
          <a:p>
            <a:pPr algn="ctr">
              <a:lnSpc>
                <a:spcPct val="150000"/>
              </a:lnSpc>
            </a:pPr>
            <a:r>
              <a:rPr lang="en-AU" sz="4400" b="1"/>
              <a:t>Record </a:t>
            </a:r>
            <a:r>
              <a:rPr lang="en-AU" sz="4400"/>
              <a:t>how many pencils there are in </a:t>
            </a:r>
            <a:r>
              <a:rPr lang="en-AU" sz="4400" b="1"/>
              <a:t>total.</a:t>
            </a:r>
            <a:endParaRPr lang="en-AU" sz="4400"/>
          </a:p>
          <a:p>
            <a:pPr algn="ctr">
              <a:lnSpc>
                <a:spcPct val="150000"/>
              </a:lnSpc>
            </a:pPr>
            <a:r>
              <a:rPr lang="en-AU" sz="3600"/>
              <a:t> </a:t>
            </a:r>
            <a:endParaRPr lang="en-AU" sz="1800"/>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482F4C1-6952-5B52-FAC3-0500AE3A3230}"/>
              </a:ext>
            </a:extLst>
          </p:cNvPr>
          <p:cNvSpPr txBox="1"/>
          <p:nvPr/>
        </p:nvSpPr>
        <p:spPr>
          <a:xfrm>
            <a:off x="1141800" y="1184223"/>
            <a:ext cx="9982200" cy="3365500"/>
          </a:xfrm>
          <a:prstGeom prst="rect">
            <a:avLst/>
          </a:prstGeom>
          <a:noFill/>
        </p:spPr>
        <p:txBody>
          <a:bodyPr wrap="square" lIns="0" tIns="0" rIns="0" bIns="0" rtlCol="0">
            <a:noAutofit/>
          </a:bodyPr>
          <a:lstStyle/>
          <a:p>
            <a:pPr algn="ctr">
              <a:lnSpc>
                <a:spcPct val="150000"/>
              </a:lnSpc>
            </a:pPr>
            <a:r>
              <a:rPr lang="en-AU" sz="4400"/>
              <a:t>Arlo wanted to track the growth of a new plant in his garden over time. </a:t>
            </a:r>
          </a:p>
          <a:p>
            <a:pPr algn="ctr">
              <a:lnSpc>
                <a:spcPct val="150000"/>
              </a:lnSpc>
            </a:pPr>
            <a:r>
              <a:rPr lang="en-AU" sz="4400" b="1"/>
              <a:t>Identify</a:t>
            </a:r>
            <a:r>
              <a:rPr lang="en-AU" sz="4400"/>
              <a:t> the </a:t>
            </a:r>
            <a:r>
              <a:rPr lang="en-AU" sz="4400" b="1"/>
              <a:t>type</a:t>
            </a:r>
            <a:r>
              <a:rPr lang="en-AU" sz="4400"/>
              <a:t> of </a:t>
            </a:r>
            <a:r>
              <a:rPr lang="en-AU" sz="4400" b="1"/>
              <a:t>data display </a:t>
            </a:r>
            <a:r>
              <a:rPr lang="en-AU" sz="4400"/>
              <a:t>that would be </a:t>
            </a:r>
            <a:r>
              <a:rPr lang="en-AU" sz="4400" b="1"/>
              <a:t>most suitable </a:t>
            </a:r>
            <a:r>
              <a:rPr lang="en-AU" sz="4400"/>
              <a:t>to represent this information.</a:t>
            </a:r>
          </a:p>
          <a:p>
            <a:endParaRPr lang="en-AU" sz="1800"/>
          </a:p>
          <a:p>
            <a:r>
              <a:rPr lang="en-AU" sz="1800"/>
              <a:t> </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equivalent fractions</a:t>
            </a: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57AA27A2-5DAF-9FCE-44A1-77D2227908BF}"/>
              </a:ext>
            </a:extLst>
          </p:cNvPr>
          <p:cNvSpPr txBox="1"/>
          <p:nvPr/>
        </p:nvSpPr>
        <p:spPr>
          <a:xfrm>
            <a:off x="513442" y="905601"/>
            <a:ext cx="11467003" cy="4133247"/>
          </a:xfrm>
          <a:prstGeom prst="rect">
            <a:avLst/>
          </a:prstGeom>
          <a:noFill/>
        </p:spPr>
        <p:txBody>
          <a:bodyPr wrap="square" lIns="91440" tIns="45720" rIns="91440" bIns="45720" anchor="t">
            <a:spAutoFit/>
          </a:bodyPr>
          <a:lstStyle/>
          <a:p>
            <a:pPr algn="ctr">
              <a:lnSpc>
                <a:spcPct val="150000"/>
              </a:lnSpc>
            </a:pPr>
            <a:r>
              <a:rPr lang="en-AU" sz="4000" b="1">
                <a:latin typeface="Arial"/>
                <a:cs typeface="Arial"/>
              </a:rPr>
              <a:t>How many </a:t>
            </a:r>
            <a:r>
              <a:rPr lang="en-AU" sz="4000">
                <a:latin typeface="Arial"/>
                <a:cs typeface="Arial"/>
              </a:rPr>
              <a:t>ways can you show </a:t>
            </a:r>
            <a:r>
              <a:rPr lang="en-AU" sz="4000" b="1">
                <a:latin typeface="Arial"/>
                <a:cs typeface="Arial"/>
              </a:rPr>
              <a:t>half</a:t>
            </a:r>
            <a:r>
              <a:rPr lang="en-AU" sz="4000">
                <a:latin typeface="Arial"/>
                <a:cs typeface="Arial"/>
              </a:rPr>
              <a:t>, using a different </a:t>
            </a:r>
            <a:r>
              <a:rPr lang="en-AU" sz="4000" b="1">
                <a:latin typeface="Arial"/>
                <a:cs typeface="Arial"/>
              </a:rPr>
              <a:t>denominator </a:t>
            </a:r>
            <a:r>
              <a:rPr lang="en-AU" sz="4000">
                <a:latin typeface="Arial"/>
                <a:cs typeface="Arial"/>
              </a:rPr>
              <a:t>each time?</a:t>
            </a:r>
          </a:p>
          <a:p>
            <a:pPr algn="ctr">
              <a:lnSpc>
                <a:spcPct val="150000"/>
              </a:lnSpc>
            </a:pPr>
            <a:endParaRPr lang="en-AU" sz="2000">
              <a:effectLst/>
              <a:latin typeface="Arial"/>
              <a:ea typeface="Calibri" panose="020F0502020204030204" pitchFamily="34" charset="0"/>
              <a:cs typeface="Arial"/>
            </a:endParaRPr>
          </a:p>
          <a:p>
            <a:pPr algn="ctr">
              <a:lnSpc>
                <a:spcPct val="150000"/>
              </a:lnSpc>
            </a:pPr>
            <a:r>
              <a:rPr lang="en-AU" sz="4000" b="1">
                <a:latin typeface="Arial"/>
                <a:ea typeface="Calibri" panose="020F0502020204030204" pitchFamily="34" charset="0"/>
                <a:cs typeface="Arial"/>
              </a:rPr>
              <a:t>Record</a:t>
            </a:r>
            <a:r>
              <a:rPr lang="en-AU" sz="4000">
                <a:latin typeface="Arial"/>
                <a:ea typeface="Calibri" panose="020F0502020204030204" pitchFamily="34" charset="0"/>
                <a:cs typeface="Arial"/>
              </a:rPr>
              <a:t> the </a:t>
            </a:r>
            <a:r>
              <a:rPr lang="en-AU" sz="4000" b="1">
                <a:latin typeface="Arial"/>
                <a:ea typeface="Calibri" panose="020F0502020204030204" pitchFamily="34" charset="0"/>
                <a:cs typeface="Arial"/>
              </a:rPr>
              <a:t>fractions</a:t>
            </a:r>
            <a:r>
              <a:rPr lang="en-AU" sz="4000">
                <a:latin typeface="Arial"/>
                <a:ea typeface="Calibri" panose="020F0502020204030204" pitchFamily="34" charset="0"/>
                <a:cs typeface="Arial"/>
              </a:rPr>
              <a:t> that represent half on your whiteboard.</a:t>
            </a:r>
            <a:endParaRPr lang="en-AU" sz="4000">
              <a:effectLst/>
              <a:latin typeface="Arial" panose="020B0604020202020204" pitchFamily="34" charset="0"/>
              <a:ea typeface="Calibri" panose="020F050202020403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A11E4C0-84CF-6F23-A2F1-FE2CFBDBF72F}"/>
                  </a:ext>
                </a:extLst>
              </p:cNvPr>
              <p:cNvSpPr txBox="1"/>
              <p:nvPr/>
            </p:nvSpPr>
            <p:spPr>
              <a:xfrm>
                <a:off x="4783902" y="4371424"/>
                <a:ext cx="2926081" cy="2426049"/>
              </a:xfrm>
              <a:prstGeom prst="rect">
                <a:avLst/>
              </a:prstGeom>
              <a:noFill/>
            </p:spPr>
            <p:txBody>
              <a:bodyPr wrap="square" lIns="91440" tIns="45720" rIns="91440" bIns="45720" anchor="t">
                <a:spAutoFit/>
              </a:bodyPr>
              <a:lstStyle/>
              <a:p>
                <a:pPr>
                  <a:lnSpc>
                    <a:spcPct val="150000"/>
                  </a:lnSpc>
                </a:pPr>
                <a14:m>
                  <m:oMathPara xmlns:m="http://schemas.openxmlformats.org/officeDocument/2006/math">
                    <m:oMathParaPr>
                      <m:jc m:val="centerGroup"/>
                    </m:oMathParaPr>
                    <m:oMath xmlns:m="http://schemas.openxmlformats.org/officeDocument/2006/math">
                      <m:f>
                        <m:fPr>
                          <m:ctrlPr>
                            <a:rPr lang="en-AU" sz="5400" i="1" dirty="0" smtClean="0">
                              <a:solidFill>
                                <a:srgbClr val="002060"/>
                              </a:solidFill>
                              <a:latin typeface="Cambria Math" panose="02040503050406030204" pitchFamily="18" charset="0"/>
                              <a:cs typeface="Arial"/>
                            </a:rPr>
                          </m:ctrlPr>
                        </m:fPr>
                        <m:num>
                          <m:r>
                            <a:rPr lang="en-AU" sz="5400" b="0" i="1" dirty="0" smtClean="0">
                              <a:solidFill>
                                <a:srgbClr val="002060"/>
                              </a:solidFill>
                              <a:latin typeface="Cambria Math" panose="02040503050406030204" pitchFamily="18" charset="0"/>
                              <a:cs typeface="Arial"/>
                            </a:rPr>
                            <m:t>1</m:t>
                          </m:r>
                        </m:num>
                        <m:den>
                          <m:r>
                            <a:rPr lang="en-AU" sz="5400" b="0" i="1" dirty="0" smtClean="0">
                              <a:solidFill>
                                <a:srgbClr val="002060"/>
                              </a:solidFill>
                              <a:latin typeface="Cambria Math" panose="02040503050406030204" pitchFamily="18" charset="0"/>
                              <a:cs typeface="Arial"/>
                            </a:rPr>
                            <m:t>2</m:t>
                          </m:r>
                        </m:den>
                      </m:f>
                      <m:r>
                        <a:rPr lang="en-AU" sz="5400" b="0" i="1" dirty="0" smtClean="0">
                          <a:solidFill>
                            <a:srgbClr val="002060"/>
                          </a:solidFill>
                          <a:latin typeface="Cambria Math" panose="02040503050406030204" pitchFamily="18" charset="0"/>
                          <a:cs typeface="Arial"/>
                        </a:rPr>
                        <m:t>=</m:t>
                      </m:r>
                      <m:f>
                        <m:fPr>
                          <m:ctrlPr>
                            <a:rPr lang="en-AU" sz="5400" i="1" dirty="0">
                              <a:solidFill>
                                <a:srgbClr val="002060"/>
                              </a:solidFill>
                              <a:latin typeface="Cambria Math" panose="02040503050406030204" pitchFamily="18" charset="0"/>
                              <a:cs typeface="Arial"/>
                            </a:rPr>
                          </m:ctrlPr>
                        </m:fPr>
                        <m:num>
                          <m:r>
                            <a:rPr lang="en-AU" sz="5400" b="0" i="1" dirty="0" smtClean="0">
                              <a:solidFill>
                                <a:srgbClr val="002060"/>
                              </a:solidFill>
                              <a:latin typeface="Cambria Math" panose="02040503050406030204" pitchFamily="18" charset="0"/>
                              <a:cs typeface="Arial"/>
                            </a:rPr>
                            <m:t>?</m:t>
                          </m:r>
                        </m:num>
                        <m:den>
                          <m:r>
                            <a:rPr lang="en-AU" sz="5400" b="0" i="1" dirty="0" smtClean="0">
                              <a:solidFill>
                                <a:srgbClr val="002060"/>
                              </a:solidFill>
                              <a:latin typeface="Cambria Math" panose="02040503050406030204" pitchFamily="18" charset="0"/>
                              <a:cs typeface="Arial"/>
                            </a:rPr>
                            <m:t>?</m:t>
                          </m:r>
                        </m:den>
                      </m:f>
                    </m:oMath>
                  </m:oMathPara>
                </a14:m>
                <a:endParaRPr lang="en-AU">
                  <a:effectLst/>
                  <a:latin typeface="Arial" panose="020B0604020202020204" pitchFamily="34" charset="0"/>
                  <a:ea typeface="Calibri" panose="020F0502020204030204" pitchFamily="34" charset="0"/>
                </a:endParaRPr>
              </a:p>
            </p:txBody>
          </p:sp>
        </mc:Choice>
        <mc:Fallback xmlns="">
          <p:sp>
            <p:nvSpPr>
              <p:cNvPr id="5" name="TextBox 4">
                <a:extLst>
                  <a:ext uri="{FF2B5EF4-FFF2-40B4-BE49-F238E27FC236}">
                    <a16:creationId xmlns:a16="http://schemas.microsoft.com/office/drawing/2014/main" id="{EA11E4C0-84CF-6F23-A2F1-FE2CFBDBF72F}"/>
                  </a:ext>
                </a:extLst>
              </p:cNvPr>
              <p:cNvSpPr txBox="1">
                <a:spLocks noRot="1" noChangeAspect="1" noMove="1" noResize="1" noEditPoints="1" noAdjustHandles="1" noChangeArrowheads="1" noChangeShapeType="1" noTextEdit="1"/>
              </p:cNvSpPr>
              <p:nvPr/>
            </p:nvSpPr>
            <p:spPr>
              <a:xfrm>
                <a:off x="4783902" y="4371424"/>
                <a:ext cx="2926081" cy="2426049"/>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5" name="Text Placeholder 5">
                <a:extLst>
                  <a:ext uri="{FF2B5EF4-FFF2-40B4-BE49-F238E27FC236}">
                    <a16:creationId xmlns:a16="http://schemas.microsoft.com/office/drawing/2014/main" id="{68D3529C-09FB-38AD-0355-12DE898ED027}"/>
                  </a:ext>
                </a:extLst>
              </p:cNvPr>
              <p:cNvSpPr txBox="1">
                <a:spLocks/>
              </p:cNvSpPr>
              <p:nvPr/>
            </p:nvSpPr>
            <p:spPr>
              <a:xfrm>
                <a:off x="474480" y="812786"/>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In this shape, </a:t>
                </a:r>
                <a:r>
                  <a:rPr lang="en-AU" sz="4400" dirty="0">
                    <a:solidFill>
                      <a:srgbClr val="2507D1"/>
                    </a:solidFill>
                  </a:rPr>
                  <a:t>blue</a:t>
                </a:r>
                <a:r>
                  <a:rPr lang="en-AU" sz="4400" dirty="0"/>
                  <a:t> = </a:t>
                </a:r>
                <a14:m>
                  <m:oMath xmlns:m="http://schemas.openxmlformats.org/officeDocument/2006/math">
                    <m:f>
                      <m:fPr>
                        <m:ctrlPr>
                          <a:rPr lang="en-AU" sz="5400" i="1">
                            <a:latin typeface="Cambria Math" panose="02040503050406030204" pitchFamily="18" charset="0"/>
                          </a:rPr>
                        </m:ctrlPr>
                      </m:fPr>
                      <m:num>
                        <m:r>
                          <a:rPr lang="en-AU" sz="5400" smtClean="0">
                            <a:latin typeface="Cambria Math" panose="02040503050406030204" pitchFamily="18" charset="0"/>
                          </a:rPr>
                          <m:t>2</m:t>
                        </m:r>
                      </m:num>
                      <m:den>
                        <m:r>
                          <a:rPr lang="en-AU" sz="5400" smtClean="0">
                            <a:latin typeface="Cambria Math" panose="02040503050406030204" pitchFamily="18" charset="0"/>
                          </a:rPr>
                          <m:t>6</m:t>
                        </m:r>
                      </m:den>
                    </m:f>
                  </m:oMath>
                </a14:m>
                <a:r>
                  <a:rPr lang="en-AU" sz="5400" dirty="0"/>
                  <a:t> </a:t>
                </a:r>
                <a:r>
                  <a:rPr lang="en-AU" sz="4400" dirty="0"/>
                  <a:t>and </a:t>
                </a:r>
                <a:r>
                  <a:rPr lang="en-AU" sz="4400" dirty="0">
                    <a:solidFill>
                      <a:srgbClr val="FF66C4"/>
                    </a:solidFill>
                  </a:rPr>
                  <a:t>pink</a:t>
                </a:r>
                <a:r>
                  <a:rPr lang="en-AU" sz="4400" dirty="0"/>
                  <a:t> = </a:t>
                </a:r>
                <a14:m>
                  <m:oMath xmlns:m="http://schemas.openxmlformats.org/officeDocument/2006/math">
                    <m:f>
                      <m:fPr>
                        <m:ctrlPr>
                          <a:rPr lang="en-AU" sz="5400" i="1">
                            <a:latin typeface="Cambria Math" panose="02040503050406030204" pitchFamily="18" charset="0"/>
                          </a:rPr>
                        </m:ctrlPr>
                      </m:fPr>
                      <m:num>
                        <m:r>
                          <a:rPr lang="en-AU" sz="5400" smtClean="0">
                            <a:latin typeface="Cambria Math" panose="02040503050406030204" pitchFamily="18" charset="0"/>
                          </a:rPr>
                          <m:t>2</m:t>
                        </m:r>
                      </m:num>
                      <m:den>
                        <m:r>
                          <a:rPr lang="en-AU" sz="5400">
                            <a:latin typeface="Cambria Math" panose="02040503050406030204" pitchFamily="18" charset="0"/>
                          </a:rPr>
                          <m:t>3</m:t>
                        </m:r>
                      </m:den>
                    </m:f>
                  </m:oMath>
                </a14:m>
                <a:r>
                  <a:rPr lang="en-AU" sz="4800" dirty="0"/>
                  <a:t>. </a:t>
                </a:r>
              </a:p>
            </p:txBody>
          </p:sp>
        </mc:Choice>
        <mc:Fallback xmlns="">
          <p:sp>
            <p:nvSpPr>
              <p:cNvPr id="5" name="Text Placeholder 5">
                <a:extLst>
                  <a:ext uri="{FF2B5EF4-FFF2-40B4-BE49-F238E27FC236}">
                    <a16:creationId xmlns:a16="http://schemas.microsoft.com/office/drawing/2014/main" id="{68D3529C-09FB-38AD-0355-12DE898ED027}"/>
                  </a:ext>
                </a:extLst>
              </p:cNvPr>
              <p:cNvSpPr txBox="1">
                <a:spLocks noRot="1" noChangeAspect="1" noMove="1" noResize="1" noEditPoints="1" noAdjustHandles="1" noChangeArrowheads="1" noChangeShapeType="1" noTextEdit="1"/>
              </p:cNvSpPr>
              <p:nvPr/>
            </p:nvSpPr>
            <p:spPr>
              <a:xfrm>
                <a:off x="474480" y="812786"/>
                <a:ext cx="11243037" cy="893226"/>
              </a:xfrm>
              <a:prstGeom prst="rect">
                <a:avLst/>
              </a:prstGeom>
              <a:blipFill>
                <a:blip r:embed="rId4"/>
                <a:stretch>
                  <a:fillRect b="-96599"/>
                </a:stretch>
              </a:blipFill>
            </p:spPr>
            <p:txBody>
              <a:bodyPr/>
              <a:lstStyle/>
              <a:p>
                <a:r>
                  <a:rPr lang="en-AU">
                    <a:noFill/>
                  </a:rPr>
                  <a:t> </a:t>
                </a:r>
              </a:p>
            </p:txBody>
          </p:sp>
        </mc:Fallback>
      </mc:AlternateContent>
      <p:pic>
        <p:nvPicPr>
          <p:cNvPr id="7" name="Picture 6" descr="A rectangle divided into six equal parts. Two parts are shaded dark blue. One of the six parts in the top row is shaded dark blue, and one of the six parts in the bottom row is shaded blue. The remaining four parts are shaded light pink.">
            <a:extLst>
              <a:ext uri="{FF2B5EF4-FFF2-40B4-BE49-F238E27FC236}">
                <a16:creationId xmlns:a16="http://schemas.microsoft.com/office/drawing/2014/main" id="{6DDBCD74-0578-59CE-34AA-CEA0FEC7E777}"/>
              </a:ext>
            </a:extLst>
          </p:cNvPr>
          <p:cNvPicPr>
            <a:picLocks noChangeAspect="1"/>
          </p:cNvPicPr>
          <p:nvPr/>
        </p:nvPicPr>
        <p:blipFill>
          <a:blip r:embed="rId5"/>
          <a:stretch>
            <a:fillRect/>
          </a:stretch>
        </p:blipFill>
        <p:spPr>
          <a:xfrm>
            <a:off x="2741368" y="2612404"/>
            <a:ext cx="6893169" cy="2997204"/>
          </a:xfrm>
          <a:prstGeom prst="rect">
            <a:avLst/>
          </a:prstGeom>
        </p:spPr>
      </p:pic>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1741135271"/>
              </p:ext>
            </p:extLst>
          </p:nvPr>
        </p:nvGraphicFramePr>
        <p:xfrm>
          <a:off x="2557461" y="57743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2" name="TextBox 11">
            <a:extLst>
              <a:ext uri="{FF2B5EF4-FFF2-40B4-BE49-F238E27FC236}">
                <a16:creationId xmlns:a16="http://schemas.microsoft.com/office/drawing/2014/main" id="{0297D80D-D3C8-73DB-C38B-87133CD716E9}"/>
              </a:ext>
            </a:extLst>
          </p:cNvPr>
          <p:cNvSpPr txBox="1"/>
          <p:nvPr/>
        </p:nvSpPr>
        <p:spPr>
          <a:xfrm>
            <a:off x="1085653" y="1110610"/>
            <a:ext cx="10020693" cy="1741602"/>
          </a:xfrm>
          <a:prstGeom prst="rect">
            <a:avLst/>
          </a:prstGeom>
          <a:noFill/>
        </p:spPr>
        <p:txBody>
          <a:bodyPr wrap="square" lIns="0" tIns="0" rIns="0" bIns="0" rtlCol="0">
            <a:noAutofit/>
          </a:bodyPr>
          <a:lstStyle/>
          <a:p>
            <a:pPr algn="ctr">
              <a:lnSpc>
                <a:spcPct val="150000"/>
              </a:lnSpc>
            </a:pPr>
            <a:r>
              <a:rPr lang="en-AU" sz="4400" b="1"/>
              <a:t>Record</a:t>
            </a:r>
            <a:r>
              <a:rPr lang="en-AU" sz="4400"/>
              <a:t> the </a:t>
            </a:r>
            <a:r>
              <a:rPr lang="en-AU" sz="4400" b="1"/>
              <a:t>fraction</a:t>
            </a:r>
            <a:r>
              <a:rPr lang="en-AU" sz="4400"/>
              <a:t> of the hexagon for </a:t>
            </a:r>
            <a:r>
              <a:rPr lang="en-AU" sz="4400" b="1"/>
              <a:t>each</a:t>
            </a:r>
            <a:r>
              <a:rPr lang="en-AU" sz="4400"/>
              <a:t> of the </a:t>
            </a:r>
            <a:r>
              <a:rPr lang="en-AU" sz="4400" dirty="0"/>
              <a:t>3</a:t>
            </a:r>
            <a:r>
              <a:rPr lang="en-AU" sz="4400"/>
              <a:t> parts.</a:t>
            </a:r>
          </a:p>
        </p:txBody>
      </p:sp>
      <p:grpSp>
        <p:nvGrpSpPr>
          <p:cNvPr id="4" name="Group 3" descr="A hexagon subdvided into a green rhombus, yellow triangle and pruple trapezium.">
            <a:extLst>
              <a:ext uri="{FF2B5EF4-FFF2-40B4-BE49-F238E27FC236}">
                <a16:creationId xmlns:a16="http://schemas.microsoft.com/office/drawing/2014/main" id="{2C0EF570-19B5-33F7-0E87-2B55251FE0C2}"/>
              </a:ext>
            </a:extLst>
          </p:cNvPr>
          <p:cNvGrpSpPr/>
          <p:nvPr/>
        </p:nvGrpSpPr>
        <p:grpSpPr>
          <a:xfrm>
            <a:off x="3970537" y="3429000"/>
            <a:ext cx="3860285" cy="2739636"/>
            <a:chOff x="3954535" y="3582186"/>
            <a:chExt cx="3860285" cy="2739636"/>
          </a:xfrm>
        </p:grpSpPr>
        <p:sp>
          <p:nvSpPr>
            <p:cNvPr id="9" name="Isosceles Triangle 8">
              <a:extLst>
                <a:ext uri="{FF2B5EF4-FFF2-40B4-BE49-F238E27FC236}">
                  <a16:creationId xmlns:a16="http://schemas.microsoft.com/office/drawing/2014/main" id="{15AE8D7A-7EBB-104F-6B9F-3FC51C450E6D}"/>
                </a:ext>
              </a:extLst>
            </p:cNvPr>
            <p:cNvSpPr/>
            <p:nvPr/>
          </p:nvSpPr>
          <p:spPr>
            <a:xfrm>
              <a:off x="5775486" y="3582186"/>
              <a:ext cx="2039334" cy="1294403"/>
            </a:xfrm>
            <a:prstGeom prst="triangle">
              <a:avLst>
                <a:gd name="adj" fmla="val 49538"/>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Flowchart: Manual Operation 9">
              <a:extLst>
                <a:ext uri="{FF2B5EF4-FFF2-40B4-BE49-F238E27FC236}">
                  <a16:creationId xmlns:a16="http://schemas.microsoft.com/office/drawing/2014/main" id="{FBAB6365-9BCB-19DA-3789-C79346256F94}"/>
                </a:ext>
              </a:extLst>
            </p:cNvPr>
            <p:cNvSpPr/>
            <p:nvPr/>
          </p:nvSpPr>
          <p:spPr>
            <a:xfrm>
              <a:off x="3956110" y="4876589"/>
              <a:ext cx="3858710" cy="1445233"/>
            </a:xfrm>
            <a:prstGeom prst="flowChartManualOperation">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Parallelogram 10">
              <a:extLst>
                <a:ext uri="{FF2B5EF4-FFF2-40B4-BE49-F238E27FC236}">
                  <a16:creationId xmlns:a16="http://schemas.microsoft.com/office/drawing/2014/main" id="{10C530CF-14D8-B4F0-A3B7-6F0D7D7C3780}"/>
                </a:ext>
              </a:extLst>
            </p:cNvPr>
            <p:cNvSpPr/>
            <p:nvPr/>
          </p:nvSpPr>
          <p:spPr>
            <a:xfrm>
              <a:off x="3954535" y="3582186"/>
              <a:ext cx="2812335" cy="1294403"/>
            </a:xfrm>
            <a:prstGeom prst="parallelogram">
              <a:avLst>
                <a:gd name="adj" fmla="val 76205"/>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B7CCFE6-06AF-AD18-92F9-097F3EF06091}"/>
              </a:ext>
            </a:extLst>
          </p:cNvPr>
          <p:cNvSpPr txBox="1"/>
          <p:nvPr/>
        </p:nvSpPr>
        <p:spPr>
          <a:xfrm>
            <a:off x="780074" y="1007876"/>
            <a:ext cx="11063650" cy="1016000"/>
          </a:xfrm>
          <a:prstGeom prst="rect">
            <a:avLst/>
          </a:prstGeom>
          <a:noFill/>
        </p:spPr>
        <p:txBody>
          <a:bodyPr wrap="square" lIns="0" tIns="0" rIns="0" bIns="0" rtlCol="0">
            <a:noAutofit/>
          </a:bodyPr>
          <a:lstStyle/>
          <a:p>
            <a:pPr algn="ctr">
              <a:lnSpc>
                <a:spcPct val="150000"/>
              </a:lnSpc>
            </a:pPr>
            <a:r>
              <a:rPr lang="en-AU" sz="4000"/>
              <a:t>Which</a:t>
            </a:r>
            <a:r>
              <a:rPr lang="en-AU" sz="4000" b="1"/>
              <a:t> side lengths are </a:t>
            </a:r>
            <a:r>
              <a:rPr lang="en-AU" sz="4000"/>
              <a:t>needed to determine the </a:t>
            </a:r>
            <a:r>
              <a:rPr lang="en-AU" sz="4000" b="1"/>
              <a:t>perimete</a:t>
            </a:r>
            <a:r>
              <a:rPr lang="en-AU" sz="4000"/>
              <a:t>r of the basketball court?</a:t>
            </a:r>
          </a:p>
        </p:txBody>
      </p:sp>
      <p:pic>
        <p:nvPicPr>
          <p:cNvPr id="4" name="Picture 3" descr="A basketball court with each side labelled from A, B, C and D,">
            <a:extLst>
              <a:ext uri="{FF2B5EF4-FFF2-40B4-BE49-F238E27FC236}">
                <a16:creationId xmlns:a16="http://schemas.microsoft.com/office/drawing/2014/main" id="{83894990-6DEF-EEDE-B959-FD5215A55911}"/>
              </a:ext>
            </a:extLst>
          </p:cNvPr>
          <p:cNvPicPr>
            <a:picLocks noChangeAspect="1"/>
          </p:cNvPicPr>
          <p:nvPr/>
        </p:nvPicPr>
        <p:blipFill>
          <a:blip r:embed="rId4"/>
          <a:srcRect t="1499" r="49921" b="52021"/>
          <a:stretch>
            <a:fillRect/>
          </a:stretch>
        </p:blipFill>
        <p:spPr>
          <a:xfrm>
            <a:off x="3822699" y="2718691"/>
            <a:ext cx="4978399" cy="2997649"/>
          </a:xfrm>
          <a:prstGeom prst="rect">
            <a:avLst/>
          </a:prstGeom>
        </p:spPr>
      </p:pic>
      <p:sp>
        <p:nvSpPr>
          <p:cNvPr id="7" name="TextBox 6">
            <a:extLst>
              <a:ext uri="{FF2B5EF4-FFF2-40B4-BE49-F238E27FC236}">
                <a16:creationId xmlns:a16="http://schemas.microsoft.com/office/drawing/2014/main" id="{C47FBBF4-1DF8-9569-5B66-BD9AA95F86B6}"/>
              </a:ext>
            </a:extLst>
          </p:cNvPr>
          <p:cNvSpPr txBox="1"/>
          <p:nvPr/>
        </p:nvSpPr>
        <p:spPr>
          <a:xfrm>
            <a:off x="984249" y="5716340"/>
            <a:ext cx="10655300" cy="1016000"/>
          </a:xfrm>
          <a:prstGeom prst="rect">
            <a:avLst/>
          </a:prstGeom>
          <a:noFill/>
        </p:spPr>
        <p:txBody>
          <a:bodyPr wrap="square" lIns="0" tIns="0" rIns="0" bIns="0" rtlCol="0">
            <a:noAutofit/>
          </a:bodyPr>
          <a:lstStyle/>
          <a:p>
            <a:pPr algn="ctr">
              <a:lnSpc>
                <a:spcPct val="150000"/>
              </a:lnSpc>
            </a:pPr>
            <a:r>
              <a:rPr lang="en-AU" sz="4400" b="1"/>
              <a:t>Communicate</a:t>
            </a:r>
            <a:r>
              <a:rPr lang="en-AU" sz="4400"/>
              <a:t> your </a:t>
            </a:r>
            <a:r>
              <a:rPr lang="en-AU" sz="4400" b="1" dirty="0"/>
              <a:t>reasoning</a:t>
            </a:r>
            <a:r>
              <a:rPr lang="en-AU" sz="3200"/>
              <a:t>.</a:t>
            </a: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9CB7896-60F1-5768-CF66-F34081634FC2}"/>
              </a:ext>
            </a:extLst>
          </p:cNvPr>
          <p:cNvSpPr txBox="1"/>
          <p:nvPr/>
        </p:nvSpPr>
        <p:spPr>
          <a:xfrm>
            <a:off x="472450" y="905601"/>
            <a:ext cx="10651550" cy="3441700"/>
          </a:xfrm>
          <a:prstGeom prst="rect">
            <a:avLst/>
          </a:prstGeom>
          <a:noFill/>
        </p:spPr>
        <p:txBody>
          <a:bodyPr wrap="square" lIns="0" tIns="0" rIns="0" bIns="0" rtlCol="0">
            <a:noAutofit/>
          </a:bodyPr>
          <a:lstStyle/>
          <a:p>
            <a:pPr algn="ctr">
              <a:lnSpc>
                <a:spcPct val="150000"/>
              </a:lnSpc>
            </a:pPr>
            <a:r>
              <a:rPr lang="en-AU" sz="3600"/>
              <a:t>A gardener planted 1500 flowers. 420 were damaged in a storm and removed and 350 new flowers were planted. The flowers were then evenly arranged into 14 beds.</a:t>
            </a:r>
          </a:p>
          <a:p>
            <a:pPr algn="ctr">
              <a:lnSpc>
                <a:spcPct val="150000"/>
              </a:lnSpc>
            </a:pPr>
            <a:endParaRPr lang="en-AU" sz="1800"/>
          </a:p>
          <a:p>
            <a:pPr algn="ctr">
              <a:lnSpc>
                <a:spcPct val="150000"/>
              </a:lnSpc>
            </a:pPr>
            <a:r>
              <a:rPr lang="en-AU" sz="3600" b="1"/>
              <a:t>How many </a:t>
            </a:r>
            <a:r>
              <a:rPr lang="en-AU" sz="3600"/>
              <a:t>flowers</a:t>
            </a:r>
            <a:r>
              <a:rPr lang="en-AU" sz="3600" b="1"/>
              <a:t> </a:t>
            </a:r>
            <a:r>
              <a:rPr lang="en-AU" sz="3600"/>
              <a:t>are there </a:t>
            </a:r>
            <a:r>
              <a:rPr lang="en-AU" sz="3600" b="1"/>
              <a:t>in total </a:t>
            </a:r>
            <a:r>
              <a:rPr lang="en-AU" sz="3600"/>
              <a:t>now?</a:t>
            </a:r>
          </a:p>
          <a:p>
            <a:pPr algn="ctr">
              <a:lnSpc>
                <a:spcPct val="150000"/>
              </a:lnSpc>
            </a:pPr>
            <a:r>
              <a:rPr lang="en-AU" sz="3600" b="1"/>
              <a:t>How many </a:t>
            </a:r>
            <a:r>
              <a:rPr lang="en-AU" sz="3600"/>
              <a:t>flowers</a:t>
            </a:r>
            <a:r>
              <a:rPr lang="en-AU" sz="3600" b="1"/>
              <a:t> </a:t>
            </a:r>
            <a:r>
              <a:rPr lang="en-AU" sz="3600"/>
              <a:t>are in </a:t>
            </a:r>
            <a:r>
              <a:rPr lang="en-AU" sz="3600" b="1"/>
              <a:t>each</a:t>
            </a:r>
            <a:r>
              <a:rPr lang="en-AU" sz="3600"/>
              <a:t> flower bed?</a:t>
            </a: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A748A11-08B0-B6AD-F963-74FE4E5A3669}"/>
              </a:ext>
            </a:extLst>
          </p:cNvPr>
          <p:cNvSpPr txBox="1"/>
          <p:nvPr/>
        </p:nvSpPr>
        <p:spPr>
          <a:xfrm>
            <a:off x="1549400" y="1663700"/>
            <a:ext cx="8750300" cy="2489200"/>
          </a:xfrm>
          <a:prstGeom prst="rect">
            <a:avLst/>
          </a:prstGeom>
          <a:noFill/>
        </p:spPr>
        <p:txBody>
          <a:bodyPr wrap="square" lIns="0" tIns="0" rIns="0" bIns="0" rtlCol="0">
            <a:noAutofit/>
          </a:bodyPr>
          <a:lstStyle/>
          <a:p>
            <a:pPr algn="ctr">
              <a:lnSpc>
                <a:spcPct val="150000"/>
              </a:lnSpc>
            </a:pPr>
            <a:r>
              <a:rPr lang="en-AU" sz="4400"/>
              <a:t>A die is rolled once. </a:t>
            </a:r>
          </a:p>
          <a:p>
            <a:pPr algn="ctr">
              <a:lnSpc>
                <a:spcPct val="150000"/>
              </a:lnSpc>
            </a:pPr>
            <a:endParaRPr lang="en-AU" sz="4400"/>
          </a:p>
          <a:p>
            <a:pPr algn="ctr">
              <a:lnSpc>
                <a:spcPct val="150000"/>
              </a:lnSpc>
            </a:pPr>
            <a:r>
              <a:rPr lang="en-AU" sz="4400" b="1"/>
              <a:t>Represent</a:t>
            </a:r>
            <a:r>
              <a:rPr lang="en-AU" sz="4400"/>
              <a:t> the </a:t>
            </a:r>
            <a:r>
              <a:rPr lang="en-AU" sz="4400" b="1"/>
              <a:t>probability</a:t>
            </a:r>
            <a:r>
              <a:rPr lang="en-AU" sz="4400"/>
              <a:t> of rolling a 4 as a </a:t>
            </a:r>
            <a:r>
              <a:rPr lang="en-AU" sz="4400" b="1"/>
              <a:t>fraction</a:t>
            </a:r>
            <a:r>
              <a:rPr lang="en-AU" sz="4400"/>
              <a:t>.</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area model and fractions</a:t>
            </a: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n empty number line.">
            <a:extLst>
              <a:ext uri="{FF2B5EF4-FFF2-40B4-BE49-F238E27FC236}">
                <a16:creationId xmlns:a16="http://schemas.microsoft.com/office/drawing/2014/main" id="{BF1E5B0C-8209-57A3-4C17-A284018A2E90}"/>
              </a:ext>
            </a:extLst>
          </p:cNvPr>
          <p:cNvPicPr>
            <a:picLocks noChangeAspect="1"/>
          </p:cNvPicPr>
          <p:nvPr/>
        </p:nvPicPr>
        <p:blipFill>
          <a:blip r:embed="rId4"/>
          <a:stretch>
            <a:fillRect/>
          </a:stretch>
        </p:blipFill>
        <p:spPr>
          <a:xfrm>
            <a:off x="503699" y="3154610"/>
            <a:ext cx="11184602" cy="576000"/>
          </a:xfrm>
          <a:prstGeom prst="rect">
            <a:avLst/>
          </a:prstGeom>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56DE5-9054-EDB9-6AA0-DC7E8299AE3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C2BFFC-84AB-C30B-C108-1205554FD32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3" name="Title 2">
            <a:extLst>
              <a:ext uri="{FF2B5EF4-FFF2-40B4-BE49-F238E27FC236}">
                <a16:creationId xmlns:a16="http://schemas.microsoft.com/office/drawing/2014/main" id="{B1C5526B-34A8-E53A-E009-C45A1F7CD57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A4D93B1C-8640-0057-E118-4A82C116762C}"/>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0443E027-E11B-A12B-53A8-A4F27E680A18}"/>
              </a:ext>
            </a:extLst>
          </p:cNvPr>
          <p:cNvSpPr>
            <a:spLocks noGrp="1"/>
          </p:cNvSpPr>
          <p:nvPr>
            <p:ph type="body" sz="quarter" idx="28"/>
          </p:nvPr>
        </p:nvSpPr>
        <p:spPr>
          <a:xfrm>
            <a:off x="259236" y="1269693"/>
            <a:ext cx="11673527" cy="754243"/>
          </a:xfrm>
        </p:spPr>
        <p:txBody>
          <a:bodyPr/>
          <a:lstStyle/>
          <a:p>
            <a:pPr algn="ctr"/>
            <a:r>
              <a:rPr lang="en-US" sz="3600"/>
              <a:t>Sadie said ‘</a:t>
            </a:r>
            <a:r>
              <a:rPr lang="en-AU" sz="3600"/>
              <a:t>4009 – 2997 is the same as 4012 – 3000, which equals 1012</a:t>
            </a:r>
            <a:r>
              <a:rPr lang="en-US" sz="3600"/>
              <a:t>’. Which </a:t>
            </a:r>
            <a:r>
              <a:rPr lang="en-US" sz="3600" b="1"/>
              <a:t>strategy</a:t>
            </a:r>
            <a:r>
              <a:rPr lang="en-US" sz="3600"/>
              <a:t> did Sadie use?</a:t>
            </a:r>
          </a:p>
          <a:p>
            <a:endParaRPr lang="en-US" sz="4400"/>
          </a:p>
        </p:txBody>
      </p:sp>
      <p:sp>
        <p:nvSpPr>
          <p:cNvPr id="9" name="TextBox 8">
            <a:extLst>
              <a:ext uri="{FF2B5EF4-FFF2-40B4-BE49-F238E27FC236}">
                <a16:creationId xmlns:a16="http://schemas.microsoft.com/office/drawing/2014/main" id="{9DAA2006-ADB4-D15B-B158-97DC39D26683}"/>
              </a:ext>
            </a:extLst>
          </p:cNvPr>
          <p:cNvSpPr txBox="1"/>
          <p:nvPr/>
        </p:nvSpPr>
        <p:spPr>
          <a:xfrm>
            <a:off x="935269" y="3284004"/>
            <a:ext cx="5427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 </a:t>
            </a:r>
            <a:r>
              <a:rPr lang="en-US" sz="3600"/>
              <a:t>Constant difference</a:t>
            </a:r>
          </a:p>
        </p:txBody>
      </p:sp>
      <p:sp>
        <p:nvSpPr>
          <p:cNvPr id="10" name="TextBox 9">
            <a:extLst>
              <a:ext uri="{FF2B5EF4-FFF2-40B4-BE49-F238E27FC236}">
                <a16:creationId xmlns:a16="http://schemas.microsoft.com/office/drawing/2014/main" id="{BF8FF86A-8259-4B6A-DD05-B5338957EDC3}"/>
              </a:ext>
            </a:extLst>
          </p:cNvPr>
          <p:cNvSpPr txBox="1"/>
          <p:nvPr/>
        </p:nvSpPr>
        <p:spPr>
          <a:xfrm>
            <a:off x="935269" y="4207804"/>
            <a:ext cx="5953217"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a:t>B </a:t>
            </a:r>
            <a:r>
              <a:rPr lang="en-US" sz="3600"/>
              <a:t>Levelling</a:t>
            </a:r>
          </a:p>
        </p:txBody>
      </p:sp>
      <p:sp>
        <p:nvSpPr>
          <p:cNvPr id="12" name="TextBox 11">
            <a:extLst>
              <a:ext uri="{FF2B5EF4-FFF2-40B4-BE49-F238E27FC236}">
                <a16:creationId xmlns:a16="http://schemas.microsoft.com/office/drawing/2014/main" id="{BF4B35E9-90ED-91CF-6E7D-3023EE60AD9E}"/>
              </a:ext>
            </a:extLst>
          </p:cNvPr>
          <p:cNvSpPr txBox="1"/>
          <p:nvPr/>
        </p:nvSpPr>
        <p:spPr>
          <a:xfrm>
            <a:off x="935269" y="5152385"/>
            <a:ext cx="5427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a:t>C </a:t>
            </a:r>
            <a:r>
              <a:rPr lang="en-US" sz="3600"/>
              <a:t>Addition for subtraction</a:t>
            </a:r>
          </a:p>
        </p:txBody>
      </p:sp>
      <p:sp>
        <p:nvSpPr>
          <p:cNvPr id="11" name="TextBox 10">
            <a:extLst>
              <a:ext uri="{FF2B5EF4-FFF2-40B4-BE49-F238E27FC236}">
                <a16:creationId xmlns:a16="http://schemas.microsoft.com/office/drawing/2014/main" id="{CD2988DB-B474-6203-5DD2-06443FE29ECF}"/>
              </a:ext>
            </a:extLst>
          </p:cNvPr>
          <p:cNvSpPr txBox="1"/>
          <p:nvPr/>
        </p:nvSpPr>
        <p:spPr>
          <a:xfrm>
            <a:off x="935269" y="6021401"/>
            <a:ext cx="4252667"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 </a:t>
            </a:r>
            <a:r>
              <a:rPr lang="en-US" sz="3600"/>
              <a:t>Bridging</a:t>
            </a:r>
            <a:endParaRPr lang="en-US" sz="4800"/>
          </a:p>
        </p:txBody>
      </p:sp>
    </p:spTree>
    <p:extLst>
      <p:ext uri="{BB962C8B-B14F-4D97-AF65-F5344CB8AC3E}">
        <p14:creationId xmlns:p14="http://schemas.microsoft.com/office/powerpoint/2010/main" val="22172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E259C75E-D665-8E90-C7DE-9CB1FF89647C}"/>
              </a:ext>
            </a:extLst>
          </p:cNvPr>
          <p:cNvSpPr txBox="1"/>
          <p:nvPr/>
        </p:nvSpPr>
        <p:spPr>
          <a:xfrm>
            <a:off x="1518055" y="1184223"/>
            <a:ext cx="9360817" cy="1095681"/>
          </a:xfrm>
          <a:prstGeom prst="rect">
            <a:avLst/>
          </a:prstGeom>
          <a:noFill/>
        </p:spPr>
        <p:txBody>
          <a:bodyPr wrap="square" lIns="0" tIns="0" rIns="0" bIns="0" rtlCol="0">
            <a:noAutofit/>
          </a:bodyPr>
          <a:lstStyle/>
          <a:p>
            <a:pPr algn="l">
              <a:lnSpc>
                <a:spcPct val="150000"/>
              </a:lnSpc>
            </a:pPr>
            <a:r>
              <a:rPr lang="en-AU" sz="4400" b="1"/>
              <a:t>Complete</a:t>
            </a:r>
            <a:r>
              <a:rPr lang="en-AU" sz="4400"/>
              <a:t> the number sentences.</a:t>
            </a:r>
          </a:p>
          <a:p>
            <a:pPr algn="l"/>
            <a:r>
              <a:rPr lang="en-AU" sz="1800"/>
              <a: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92A8A1A-210B-1347-5B14-1840F2ADF751}"/>
                  </a:ext>
                </a:extLst>
              </p:cNvPr>
              <p:cNvSpPr txBox="1"/>
              <p:nvPr/>
            </p:nvSpPr>
            <p:spPr>
              <a:xfrm>
                <a:off x="1518055" y="2570718"/>
                <a:ext cx="4025579" cy="3221010"/>
              </a:xfrm>
              <a:prstGeom prst="rect">
                <a:avLst/>
              </a:prstGeom>
              <a:noFill/>
            </p:spPr>
            <p:txBody>
              <a:bodyPr wrap="square">
                <a:spAutoFit/>
              </a:bodyPr>
              <a:lstStyle/>
              <a:p>
                <a:pPr marL="285750" indent="-285750">
                  <a:lnSpc>
                    <a:spcPct val="150000"/>
                  </a:lnSpc>
                  <a:buFont typeface="Arial" panose="020B0604020202020204" pitchFamily="34" charset="0"/>
                  <a:buChar char="•"/>
                </a:pPr>
                <a14:m>
                  <m:oMath xmlns:m="http://schemas.openxmlformats.org/officeDocument/2006/math">
                    <m:f>
                      <m:fPr>
                        <m:ctrlPr>
                          <a:rPr lang="en-AU" sz="4400" i="1" smtClean="0">
                            <a:latin typeface="Cambria Math" panose="02040503050406030204" pitchFamily="18" charset="0"/>
                          </a:rPr>
                        </m:ctrlPr>
                      </m:fPr>
                      <m:num>
                        <m:r>
                          <a:rPr lang="en-AU" sz="4400">
                            <a:latin typeface="Cambria Math" panose="02040503050406030204" pitchFamily="18" charset="0"/>
                          </a:rPr>
                          <m:t>2</m:t>
                        </m:r>
                      </m:num>
                      <m:den>
                        <m:r>
                          <a:rPr lang="en-AU" sz="4400">
                            <a:latin typeface="Cambria Math" panose="02040503050406030204" pitchFamily="18" charset="0"/>
                          </a:rPr>
                          <m:t>6</m:t>
                        </m:r>
                      </m:den>
                    </m:f>
                    <m:r>
                      <a:rPr lang="en-AU" sz="4400" b="0" i="1" smtClean="0">
                        <a:latin typeface="Cambria Math" panose="02040503050406030204" pitchFamily="18" charset="0"/>
                      </a:rPr>
                      <m:t>=2 </m:t>
                    </m:r>
                    <m:r>
                      <a:rPr lang="en-AU" sz="4400" b="0" i="1" smtClean="0">
                        <a:latin typeface="Cambria Math" panose="02040503050406030204" pitchFamily="18" charset="0"/>
                        <a:ea typeface="Cambria Math" panose="02040503050406030204" pitchFamily="18" charset="0"/>
                      </a:rPr>
                      <m:t>÷ </m:t>
                    </m:r>
                    <m:r>
                      <a:rPr lang="en-AU" sz="4400" b="0" i="1" smtClean="0">
                        <a:solidFill>
                          <a:schemeClr val="accent2"/>
                        </a:solidFill>
                        <a:latin typeface="Cambria Math" panose="02040503050406030204" pitchFamily="18" charset="0"/>
                        <a:ea typeface="Cambria Math" panose="02040503050406030204" pitchFamily="18" charset="0"/>
                      </a:rPr>
                      <m:t>?</m:t>
                    </m:r>
                  </m:oMath>
                </a14:m>
                <a:endParaRPr lang="en-AU" sz="4400" b="0">
                  <a:ea typeface="Cambria Math" panose="02040503050406030204" pitchFamily="18" charset="0"/>
                </a:endParaRPr>
              </a:p>
              <a:p>
                <a:pPr marL="285750" indent="-285750">
                  <a:lnSpc>
                    <a:spcPct val="150000"/>
                  </a:lnSpc>
                  <a:buFont typeface="Arial" panose="020B0604020202020204" pitchFamily="34" charset="0"/>
                  <a:buChar char="•"/>
                </a:pPr>
                <a14:m>
                  <m:oMath xmlns:m="http://schemas.openxmlformats.org/officeDocument/2006/math">
                    <m:f>
                      <m:fPr>
                        <m:ctrlPr>
                          <a:rPr lang="en-AU" sz="4400" i="1">
                            <a:latin typeface="Cambria Math" panose="02040503050406030204" pitchFamily="18" charset="0"/>
                          </a:rPr>
                        </m:ctrlPr>
                      </m:fPr>
                      <m:num>
                        <m:r>
                          <a:rPr lang="en-AU" sz="4400" b="0" i="0" smtClean="0">
                            <a:latin typeface="Cambria Math" panose="02040503050406030204" pitchFamily="18" charset="0"/>
                          </a:rPr>
                          <m:t>3</m:t>
                        </m:r>
                      </m:num>
                      <m:den>
                        <m:r>
                          <a:rPr lang="en-AU" sz="4400" b="0" i="0" smtClean="0">
                            <a:latin typeface="Cambria Math" panose="02040503050406030204" pitchFamily="18" charset="0"/>
                          </a:rPr>
                          <m:t>8</m:t>
                        </m:r>
                      </m:den>
                    </m:f>
                    <m:r>
                      <a:rPr lang="en-AU" sz="4400" i="1">
                        <a:latin typeface="Cambria Math" panose="02040503050406030204" pitchFamily="18" charset="0"/>
                      </a:rPr>
                      <m:t>=</m:t>
                    </m:r>
                    <m:r>
                      <a:rPr lang="en-AU" sz="4400" b="0" i="1" smtClean="0">
                        <a:latin typeface="Cambria Math" panose="02040503050406030204" pitchFamily="18" charset="0"/>
                      </a:rPr>
                      <m:t> </m:t>
                    </m:r>
                    <m:r>
                      <a:rPr lang="en-AU" sz="4400" b="0" i="1" smtClean="0">
                        <a:solidFill>
                          <a:schemeClr val="accent2"/>
                        </a:solidFill>
                        <a:latin typeface="Cambria Math" panose="02040503050406030204" pitchFamily="18" charset="0"/>
                      </a:rPr>
                      <m:t>?</m:t>
                    </m:r>
                    <m:r>
                      <a:rPr lang="en-AU" sz="4400" i="1">
                        <a:latin typeface="Cambria Math" panose="02040503050406030204" pitchFamily="18" charset="0"/>
                      </a:rPr>
                      <m:t> </m:t>
                    </m:r>
                    <m:r>
                      <a:rPr lang="en-AU" sz="4400" i="1">
                        <a:latin typeface="Cambria Math" panose="02040503050406030204" pitchFamily="18" charset="0"/>
                        <a:ea typeface="Cambria Math" panose="02040503050406030204" pitchFamily="18" charset="0"/>
                      </a:rPr>
                      <m:t>÷</m:t>
                    </m:r>
                    <m:r>
                      <a:rPr lang="en-AU" sz="4400" b="0" i="1" smtClean="0">
                        <a:latin typeface="Cambria Math" panose="02040503050406030204" pitchFamily="18" charset="0"/>
                        <a:ea typeface="Cambria Math" panose="02040503050406030204" pitchFamily="18" charset="0"/>
                      </a:rPr>
                      <m:t>8</m:t>
                    </m:r>
                  </m:oMath>
                </a14:m>
                <a:endParaRPr lang="en-AU" sz="4400">
                  <a:ea typeface="Cambria Math" panose="02040503050406030204" pitchFamily="18" charset="0"/>
                </a:endParaRPr>
              </a:p>
              <a:p>
                <a:pPr marL="285750" indent="-285750">
                  <a:lnSpc>
                    <a:spcPct val="150000"/>
                  </a:lnSpc>
                  <a:buFont typeface="Arial" panose="020B0604020202020204" pitchFamily="34" charset="0"/>
                  <a:buChar char="•"/>
                </a:pPr>
                <a:endParaRPr lang="en-AU" sz="1200"/>
              </a:p>
            </p:txBody>
          </p:sp>
        </mc:Choice>
        <mc:Fallback xmlns="">
          <p:sp>
            <p:nvSpPr>
              <p:cNvPr id="7" name="TextBox 6">
                <a:extLst>
                  <a:ext uri="{FF2B5EF4-FFF2-40B4-BE49-F238E27FC236}">
                    <a16:creationId xmlns:a16="http://schemas.microsoft.com/office/drawing/2014/main" id="{292A8A1A-210B-1347-5B14-1840F2ADF751}"/>
                  </a:ext>
                </a:extLst>
              </p:cNvPr>
              <p:cNvSpPr txBox="1">
                <a:spLocks noRot="1" noChangeAspect="1" noMove="1" noResize="1" noEditPoints="1" noAdjustHandles="1" noChangeArrowheads="1" noChangeShapeType="1" noTextEdit="1"/>
              </p:cNvSpPr>
              <p:nvPr/>
            </p:nvSpPr>
            <p:spPr>
              <a:xfrm>
                <a:off x="1518055" y="2570718"/>
                <a:ext cx="4025579" cy="322101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3C2867B-FE83-CEF6-0FB2-C48949A27625}"/>
                  </a:ext>
                </a:extLst>
              </p:cNvPr>
              <p:cNvSpPr txBox="1"/>
              <p:nvPr/>
            </p:nvSpPr>
            <p:spPr>
              <a:xfrm>
                <a:off x="6096000" y="2558526"/>
                <a:ext cx="3769512" cy="2895023"/>
              </a:xfrm>
              <a:prstGeom prst="rect">
                <a:avLst/>
              </a:prstGeom>
              <a:noFill/>
            </p:spPr>
            <p:txBody>
              <a:bodyPr wrap="square">
                <a:spAutoFit/>
              </a:bodyPr>
              <a:lstStyle/>
              <a:p>
                <a:pPr marL="285750" indent="-285750">
                  <a:lnSpc>
                    <a:spcPct val="150000"/>
                  </a:lnSpc>
                  <a:buFont typeface="Arial" panose="020B0604020202020204" pitchFamily="34" charset="0"/>
                  <a:buChar char="•"/>
                </a:pPr>
                <a14:m>
                  <m:oMath xmlns:m="http://schemas.openxmlformats.org/officeDocument/2006/math">
                    <m:r>
                      <a:rPr lang="en-AU" sz="4400" i="1" smtClean="0">
                        <a:latin typeface="Cambria Math" panose="02040503050406030204" pitchFamily="18" charset="0"/>
                      </a:rPr>
                      <m:t>4</m:t>
                    </m:r>
                    <m:r>
                      <a:rPr lang="en-AU" sz="4400" i="1">
                        <a:latin typeface="Cambria Math" panose="02040503050406030204" pitchFamily="18" charset="0"/>
                      </a:rPr>
                      <m:t> </m:t>
                    </m:r>
                    <m:r>
                      <a:rPr lang="en-AU" sz="4400" i="1">
                        <a:latin typeface="Cambria Math" panose="02040503050406030204" pitchFamily="18" charset="0"/>
                        <a:ea typeface="Cambria Math" panose="02040503050406030204" pitchFamily="18" charset="0"/>
                      </a:rPr>
                      <m:t>÷</m:t>
                    </m:r>
                    <m:r>
                      <a:rPr lang="en-AU" sz="4400" b="0" i="1" smtClean="0">
                        <a:latin typeface="Cambria Math" panose="02040503050406030204" pitchFamily="18" charset="0"/>
                        <a:ea typeface="Cambria Math" panose="02040503050406030204" pitchFamily="18" charset="0"/>
                      </a:rPr>
                      <m:t>6 </m:t>
                    </m:r>
                    <m:r>
                      <a:rPr lang="en-AU" sz="4400" i="1">
                        <a:latin typeface="Cambria Math" panose="02040503050406030204" pitchFamily="18" charset="0"/>
                      </a:rPr>
                      <m:t>=</m:t>
                    </m:r>
                    <m:f>
                      <m:fPr>
                        <m:ctrlPr>
                          <a:rPr lang="en-AU" sz="4400" i="1">
                            <a:latin typeface="Cambria Math" panose="02040503050406030204" pitchFamily="18" charset="0"/>
                          </a:rPr>
                        </m:ctrlPr>
                      </m:fPr>
                      <m:num>
                        <m:r>
                          <a:rPr lang="en-AU" sz="4400" b="0" i="0" smtClean="0">
                            <a:solidFill>
                              <a:schemeClr val="accent2"/>
                            </a:solidFill>
                            <a:latin typeface="Cambria Math" panose="02040503050406030204" pitchFamily="18" charset="0"/>
                          </a:rPr>
                          <m:t>?</m:t>
                        </m:r>
                      </m:num>
                      <m:den>
                        <m:r>
                          <a:rPr lang="en-AU" sz="4400" b="0" i="0" smtClean="0">
                            <a:solidFill>
                              <a:schemeClr val="accent2"/>
                            </a:solidFill>
                            <a:latin typeface="Cambria Math" panose="02040503050406030204" pitchFamily="18" charset="0"/>
                          </a:rPr>
                          <m:t>?</m:t>
                        </m:r>
                      </m:den>
                    </m:f>
                  </m:oMath>
                </a14:m>
                <a:endParaRPr lang="en-AU" sz="4400">
                  <a:ea typeface="Cambria Math" panose="02040503050406030204" pitchFamily="18" charset="0"/>
                </a:endParaRPr>
              </a:p>
              <a:p>
                <a:pPr marL="285750" indent="-285750">
                  <a:lnSpc>
                    <a:spcPct val="150000"/>
                  </a:lnSpc>
                  <a:buFont typeface="Arial" panose="020B0604020202020204" pitchFamily="34" charset="0"/>
                  <a:buChar char="•"/>
                </a:pPr>
                <a14:m>
                  <m:oMath xmlns:m="http://schemas.openxmlformats.org/officeDocument/2006/math">
                    <m:r>
                      <a:rPr lang="en-AU" sz="4400" i="1">
                        <a:latin typeface="Cambria Math" panose="02040503050406030204" pitchFamily="18" charset="0"/>
                      </a:rPr>
                      <m:t>7</m:t>
                    </m:r>
                    <m:r>
                      <a:rPr lang="en-AU" sz="4400" i="1">
                        <a:latin typeface="Cambria Math" panose="02040503050406030204" pitchFamily="18" charset="0"/>
                        <a:ea typeface="Cambria Math" panose="02040503050406030204" pitchFamily="18" charset="0"/>
                      </a:rPr>
                      <m:t>÷</m:t>
                    </m:r>
                    <m:r>
                      <a:rPr lang="en-AU" sz="4400" b="0" i="1" smtClean="0">
                        <a:latin typeface="Cambria Math" panose="02040503050406030204" pitchFamily="18" charset="0"/>
                        <a:ea typeface="Cambria Math" panose="02040503050406030204" pitchFamily="18" charset="0"/>
                      </a:rPr>
                      <m:t>10</m:t>
                    </m:r>
                    <m:r>
                      <a:rPr lang="en-AU" sz="4400" i="1">
                        <a:latin typeface="Cambria Math" panose="02040503050406030204" pitchFamily="18" charset="0"/>
                        <a:ea typeface="Cambria Math" panose="02040503050406030204" pitchFamily="18" charset="0"/>
                      </a:rPr>
                      <m:t> </m:t>
                    </m:r>
                    <m:r>
                      <a:rPr lang="en-AU" sz="4400" i="1">
                        <a:latin typeface="Cambria Math" panose="02040503050406030204" pitchFamily="18" charset="0"/>
                      </a:rPr>
                      <m:t>=</m:t>
                    </m:r>
                    <m:f>
                      <m:fPr>
                        <m:ctrlPr>
                          <a:rPr lang="en-AU" sz="4400" i="1">
                            <a:latin typeface="Cambria Math" panose="02040503050406030204" pitchFamily="18" charset="0"/>
                          </a:rPr>
                        </m:ctrlPr>
                      </m:fPr>
                      <m:num>
                        <m:r>
                          <a:rPr lang="en-AU" sz="4400">
                            <a:solidFill>
                              <a:schemeClr val="accent2"/>
                            </a:solidFill>
                            <a:latin typeface="Cambria Math" panose="02040503050406030204" pitchFamily="18" charset="0"/>
                          </a:rPr>
                          <m:t>?</m:t>
                        </m:r>
                      </m:num>
                      <m:den>
                        <m:r>
                          <a:rPr lang="en-AU" sz="4400">
                            <a:solidFill>
                              <a:schemeClr val="accent2"/>
                            </a:solidFill>
                            <a:latin typeface="Cambria Math" panose="02040503050406030204" pitchFamily="18" charset="0"/>
                          </a:rPr>
                          <m:t>?</m:t>
                        </m:r>
                      </m:den>
                    </m:f>
                  </m:oMath>
                </a14:m>
                <a:endParaRPr lang="en-AU" sz="4400"/>
              </a:p>
            </p:txBody>
          </p:sp>
        </mc:Choice>
        <mc:Fallback xmlns="">
          <p:sp>
            <p:nvSpPr>
              <p:cNvPr id="9" name="TextBox 8">
                <a:extLst>
                  <a:ext uri="{FF2B5EF4-FFF2-40B4-BE49-F238E27FC236}">
                    <a16:creationId xmlns:a16="http://schemas.microsoft.com/office/drawing/2014/main" id="{43C2867B-FE83-CEF6-0FB2-C48949A27625}"/>
                  </a:ext>
                </a:extLst>
              </p:cNvPr>
              <p:cNvSpPr txBox="1">
                <a:spLocks noRot="1" noChangeAspect="1" noMove="1" noResize="1" noEditPoints="1" noAdjustHandles="1" noChangeArrowheads="1" noChangeShapeType="1" noTextEdit="1"/>
              </p:cNvSpPr>
              <p:nvPr/>
            </p:nvSpPr>
            <p:spPr>
              <a:xfrm>
                <a:off x="6096000" y="2558526"/>
                <a:ext cx="3769512" cy="2895023"/>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58FC6BB-BD1D-4E55-1263-999D74679F77}"/>
              </a:ext>
            </a:extLst>
          </p:cNvPr>
          <p:cNvSpPr txBox="1"/>
          <p:nvPr/>
        </p:nvSpPr>
        <p:spPr>
          <a:xfrm>
            <a:off x="1078992" y="958102"/>
            <a:ext cx="9537700" cy="927100"/>
          </a:xfrm>
          <a:prstGeom prst="rect">
            <a:avLst/>
          </a:prstGeom>
          <a:noFill/>
        </p:spPr>
        <p:txBody>
          <a:bodyPr wrap="square" lIns="0" tIns="0" rIns="0" bIns="0" rtlCol="0">
            <a:noAutofit/>
          </a:bodyPr>
          <a:lstStyle/>
          <a:p>
            <a:pPr algn="ctr">
              <a:lnSpc>
                <a:spcPct val="150000"/>
              </a:lnSpc>
            </a:pPr>
            <a:r>
              <a:rPr lang="en-AU" sz="3600"/>
              <a:t>This rectangle has a </a:t>
            </a:r>
            <a:r>
              <a:rPr lang="en-AU" sz="3600" b="1"/>
              <a:t>perimeter</a:t>
            </a:r>
            <a:r>
              <a:rPr lang="en-AU" sz="3600"/>
              <a:t> of 24 cm and </a:t>
            </a:r>
            <a:r>
              <a:rPr lang="en-AU" sz="3600" b="1"/>
              <a:t>side dimensions </a:t>
            </a:r>
            <a:r>
              <a:rPr lang="en-AU" sz="3600"/>
              <a:t>of 2 cm and 10 cm. </a:t>
            </a:r>
          </a:p>
        </p:txBody>
      </p:sp>
      <p:pic>
        <p:nvPicPr>
          <p:cNvPr id="4" name="Picture 3" descr="A pink 2 by 10 rectangle overlayed onto grid paper.">
            <a:extLst>
              <a:ext uri="{FF2B5EF4-FFF2-40B4-BE49-F238E27FC236}">
                <a16:creationId xmlns:a16="http://schemas.microsoft.com/office/drawing/2014/main" id="{96D1DDDD-D3F7-6A9D-B7A7-26136851C78A}"/>
              </a:ext>
            </a:extLst>
          </p:cNvPr>
          <p:cNvPicPr>
            <a:picLocks noChangeAspect="1"/>
          </p:cNvPicPr>
          <p:nvPr/>
        </p:nvPicPr>
        <p:blipFill>
          <a:blip r:embed="rId4">
            <a:extLst>
              <a:ext uri="{28A0092B-C50C-407E-A947-70E740481C1C}">
                <a14:useLocalDpi xmlns:a14="http://schemas.microsoft.com/office/drawing/2010/main" val="0"/>
              </a:ext>
            </a:extLst>
          </a:blip>
          <a:srcRect t="12373" b="12373"/>
          <a:stretch/>
        </p:blipFill>
        <p:spPr>
          <a:xfrm>
            <a:off x="3025721" y="2743200"/>
            <a:ext cx="6358355" cy="2129449"/>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346F4857-DF12-DEB5-A1F9-9716EFD1A16E}"/>
              </a:ext>
            </a:extLst>
          </p:cNvPr>
          <p:cNvSpPr txBox="1"/>
          <p:nvPr/>
        </p:nvSpPr>
        <p:spPr>
          <a:xfrm>
            <a:off x="1066800" y="4872650"/>
            <a:ext cx="9963676" cy="1227500"/>
          </a:xfrm>
          <a:prstGeom prst="rect">
            <a:avLst/>
          </a:prstGeom>
          <a:noFill/>
        </p:spPr>
        <p:txBody>
          <a:bodyPr wrap="square" lIns="0" tIns="0" rIns="0" bIns="0" rtlCol="0">
            <a:noAutofit/>
          </a:bodyPr>
          <a:lstStyle/>
          <a:p>
            <a:pPr algn="ctr">
              <a:lnSpc>
                <a:spcPct val="150000"/>
              </a:lnSpc>
            </a:pPr>
            <a:r>
              <a:rPr lang="en-AU" sz="3600" b="1"/>
              <a:t>Record</a:t>
            </a:r>
            <a:r>
              <a:rPr lang="en-AU" sz="3600"/>
              <a:t> the </a:t>
            </a:r>
            <a:r>
              <a:rPr lang="en-AU" sz="3600" b="1"/>
              <a:t>dimensions</a:t>
            </a:r>
            <a:r>
              <a:rPr lang="en-AU" sz="3600"/>
              <a:t> of a different rectangle that has the </a:t>
            </a:r>
            <a:r>
              <a:rPr lang="en-AU" sz="3600" b="1"/>
              <a:t>same perimeter</a:t>
            </a:r>
            <a:r>
              <a:rPr lang="en-AU" sz="3600"/>
              <a:t>.</a:t>
            </a: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FE664CE2-C776-5F28-0D55-54D077104227}"/>
              </a:ext>
            </a:extLst>
          </p:cNvPr>
          <p:cNvSpPr txBox="1"/>
          <p:nvPr/>
        </p:nvSpPr>
        <p:spPr>
          <a:xfrm>
            <a:off x="1968500" y="1866900"/>
            <a:ext cx="8597900" cy="3124200"/>
          </a:xfrm>
          <a:prstGeom prst="rect">
            <a:avLst/>
          </a:prstGeom>
          <a:noFill/>
        </p:spPr>
        <p:txBody>
          <a:bodyPr wrap="square" lIns="0" tIns="0" rIns="0" bIns="0" rtlCol="0">
            <a:noAutofit/>
          </a:bodyPr>
          <a:lstStyle/>
          <a:p>
            <a:pPr algn="ctr">
              <a:lnSpc>
                <a:spcPct val="150000"/>
              </a:lnSpc>
            </a:pPr>
            <a:r>
              <a:rPr lang="en-AU" sz="4400" b="1"/>
              <a:t>Record </a:t>
            </a:r>
            <a:r>
              <a:rPr lang="en-AU" sz="4400"/>
              <a:t>the </a:t>
            </a:r>
            <a:r>
              <a:rPr lang="en-AU" sz="4400" b="1"/>
              <a:t>place value </a:t>
            </a:r>
            <a:r>
              <a:rPr lang="en-AU" sz="4400"/>
              <a:t>of each </a:t>
            </a:r>
            <a:r>
              <a:rPr lang="en-AU" sz="4400" b="1"/>
              <a:t>digit</a:t>
            </a:r>
            <a:r>
              <a:rPr lang="en-AU" sz="4400"/>
              <a:t> in the decimal:</a:t>
            </a:r>
          </a:p>
          <a:p>
            <a:pPr algn="ctr">
              <a:lnSpc>
                <a:spcPct val="150000"/>
              </a:lnSpc>
            </a:pPr>
            <a:r>
              <a:rPr lang="en-AU" sz="6000"/>
              <a:t>5.67</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2688EA2-70F8-3585-67D8-BED900B47946}"/>
              </a:ext>
            </a:extLst>
          </p:cNvPr>
          <p:cNvSpPr txBox="1"/>
          <p:nvPr/>
        </p:nvSpPr>
        <p:spPr>
          <a:xfrm>
            <a:off x="1320800" y="2159000"/>
            <a:ext cx="10007600" cy="2133600"/>
          </a:xfrm>
          <a:prstGeom prst="rect">
            <a:avLst/>
          </a:prstGeom>
          <a:noFill/>
        </p:spPr>
        <p:txBody>
          <a:bodyPr wrap="square" lIns="0" tIns="0" rIns="0" bIns="0" rtlCol="0">
            <a:noAutofit/>
          </a:bodyPr>
          <a:lstStyle/>
          <a:p>
            <a:pPr algn="ctr">
              <a:lnSpc>
                <a:spcPct val="150000"/>
              </a:lnSpc>
            </a:pPr>
            <a:r>
              <a:rPr lang="en-AU" sz="4400" b="1"/>
              <a:t>Identify</a:t>
            </a:r>
            <a:r>
              <a:rPr lang="en-AU" sz="4400"/>
              <a:t> the appropriate </a:t>
            </a:r>
            <a:r>
              <a:rPr lang="en-AU" sz="4400" b="1"/>
              <a:t>unit</a:t>
            </a:r>
            <a:r>
              <a:rPr lang="en-AU" sz="4400"/>
              <a:t> and </a:t>
            </a:r>
            <a:r>
              <a:rPr lang="en-AU" sz="4400" b="1"/>
              <a:t>device</a:t>
            </a:r>
            <a:r>
              <a:rPr lang="en-AU" sz="4400"/>
              <a:t> to measure the weight of a full suitcase. </a:t>
            </a:r>
            <a:endParaRPr lang="en-AU" sz="3600"/>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addition strategies </a:t>
            </a: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A target with the 1005 in the bullseye, 398 in the next ring and 26 in the outer ring.">
            <a:extLst>
              <a:ext uri="{FF2B5EF4-FFF2-40B4-BE49-F238E27FC236}">
                <a16:creationId xmlns:a16="http://schemas.microsoft.com/office/drawing/2014/main" id="{0F0679D2-38AB-C8BD-D2B9-B187B3BDD586}"/>
              </a:ext>
            </a:extLst>
          </p:cNvPr>
          <p:cNvPicPr>
            <a:picLocks noChangeAspect="1"/>
          </p:cNvPicPr>
          <p:nvPr/>
        </p:nvPicPr>
        <p:blipFill>
          <a:blip r:embed="rId4"/>
          <a:srcRect t="6441" r="2669" b="6542"/>
          <a:stretch>
            <a:fillRect/>
          </a:stretch>
        </p:blipFill>
        <p:spPr>
          <a:xfrm>
            <a:off x="1332400" y="903040"/>
            <a:ext cx="8738191" cy="5797093"/>
          </a:xfrm>
          <a:prstGeom prst="rect">
            <a:avLst/>
          </a:prstGeom>
        </p:spPr>
      </p:pic>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474481" y="2046911"/>
            <a:ext cx="11243037" cy="893226"/>
          </a:xfrm>
        </p:spPr>
        <p:txBody>
          <a:bodyPr/>
          <a:lstStyle/>
          <a:p>
            <a:pPr algn="ctr"/>
            <a:r>
              <a:rPr lang="en-AU" sz="4400"/>
              <a:t>Using an </a:t>
            </a:r>
            <a:r>
              <a:rPr lang="en-AU" sz="4400" b="1"/>
              <a:t>algorithm</a:t>
            </a:r>
            <a:r>
              <a:rPr lang="en-AU" sz="4400"/>
              <a:t> would be an </a:t>
            </a:r>
            <a:r>
              <a:rPr lang="en-AU" sz="4400" b="1"/>
              <a:t>efficient strategy </a:t>
            </a:r>
            <a:r>
              <a:rPr lang="en-AU" sz="4400"/>
              <a:t>to solve </a:t>
            </a:r>
            <a:r>
              <a:rPr lang="en-AU" sz="4400" dirty="0"/>
              <a:t>7 896 – 7 816</a:t>
            </a:r>
            <a:r>
              <a:rPr lang="en-AU" sz="4400"/>
              <a:t>. </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42EE3E6-0F80-B2EB-F0C1-932200F15F6A}"/>
              </a:ext>
            </a:extLst>
          </p:cNvPr>
          <p:cNvSpPr txBox="1"/>
          <p:nvPr/>
        </p:nvSpPr>
        <p:spPr>
          <a:xfrm>
            <a:off x="1230369" y="905601"/>
            <a:ext cx="10020693" cy="1741602"/>
          </a:xfrm>
          <a:prstGeom prst="rect">
            <a:avLst/>
          </a:prstGeom>
          <a:noFill/>
        </p:spPr>
        <p:txBody>
          <a:bodyPr wrap="square" lIns="0" tIns="0" rIns="0" bIns="0" rtlCol="0">
            <a:noAutofit/>
          </a:bodyPr>
          <a:lstStyle/>
          <a:p>
            <a:pPr algn="ctr">
              <a:lnSpc>
                <a:spcPct val="150000"/>
              </a:lnSpc>
            </a:pPr>
            <a:r>
              <a:rPr lang="en-AU" sz="4400" b="1"/>
              <a:t>Record</a:t>
            </a:r>
            <a:r>
              <a:rPr lang="en-AU" sz="4400"/>
              <a:t> the </a:t>
            </a:r>
            <a:r>
              <a:rPr lang="en-AU" sz="4400" b="1"/>
              <a:t>fraction</a:t>
            </a:r>
            <a:r>
              <a:rPr lang="en-AU" sz="4400"/>
              <a:t> of the rectangle for </a:t>
            </a:r>
            <a:r>
              <a:rPr lang="en-AU" sz="4400" b="1"/>
              <a:t>each</a:t>
            </a:r>
            <a:r>
              <a:rPr lang="en-AU" sz="4400"/>
              <a:t> of the </a:t>
            </a:r>
            <a:r>
              <a:rPr lang="en-AU" sz="4400" dirty="0"/>
              <a:t>3</a:t>
            </a:r>
            <a:r>
              <a:rPr lang="en-AU" sz="4400"/>
              <a:t> colours.</a:t>
            </a:r>
          </a:p>
        </p:txBody>
      </p:sp>
      <p:pic>
        <p:nvPicPr>
          <p:cNvPr id="8" name="Picture 7" descr="A rectangle has been divided into ten equal parts. Two parts are shaded light green, three parts are shaded purple, and five parts are shaded yellow.">
            <a:extLst>
              <a:ext uri="{FF2B5EF4-FFF2-40B4-BE49-F238E27FC236}">
                <a16:creationId xmlns:a16="http://schemas.microsoft.com/office/drawing/2014/main" id="{194176BE-6FC9-ECEE-162E-22DB2ABB489D}"/>
              </a:ext>
            </a:extLst>
          </p:cNvPr>
          <p:cNvPicPr>
            <a:picLocks noChangeAspect="1"/>
          </p:cNvPicPr>
          <p:nvPr/>
        </p:nvPicPr>
        <p:blipFill>
          <a:blip r:embed="rId4"/>
          <a:stretch>
            <a:fillRect/>
          </a:stretch>
        </p:blipFill>
        <p:spPr>
          <a:xfrm>
            <a:off x="2245455" y="3192804"/>
            <a:ext cx="7701090" cy="2570331"/>
          </a:xfrm>
          <a:prstGeom prst="rect">
            <a:avLst/>
          </a:prstGeom>
        </p:spPr>
      </p:pic>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EF5908C9-AF88-46DA-9DF3-5EFB689AA0F5}"/>
              </a:ext>
            </a:extLst>
          </p:cNvPr>
          <p:cNvSpPr txBox="1"/>
          <p:nvPr/>
        </p:nvSpPr>
        <p:spPr>
          <a:xfrm>
            <a:off x="1350019" y="1184223"/>
            <a:ext cx="9491962" cy="4542971"/>
          </a:xfrm>
          <a:prstGeom prst="rect">
            <a:avLst/>
          </a:prstGeom>
          <a:noFill/>
        </p:spPr>
        <p:txBody>
          <a:bodyPr wrap="square" lIns="0" tIns="0" rIns="0" bIns="0" rtlCol="0">
            <a:noAutofit/>
          </a:bodyPr>
          <a:lstStyle/>
          <a:p>
            <a:pPr algn="ctr">
              <a:lnSpc>
                <a:spcPct val="150000"/>
              </a:lnSpc>
            </a:pPr>
            <a:r>
              <a:rPr lang="en-AU" sz="4400"/>
              <a:t>A plane </a:t>
            </a:r>
            <a:r>
              <a:rPr lang="en-AU" sz="4400" b="1"/>
              <a:t>took off </a:t>
            </a:r>
            <a:r>
              <a:rPr lang="en-AU" sz="4400"/>
              <a:t>at 13:20 and </a:t>
            </a:r>
            <a:r>
              <a:rPr lang="en-AU" sz="4400" b="1"/>
              <a:t>landed</a:t>
            </a:r>
            <a:r>
              <a:rPr lang="en-AU" sz="4400"/>
              <a:t> at 17:30. </a:t>
            </a:r>
          </a:p>
          <a:p>
            <a:pPr algn="ctr">
              <a:lnSpc>
                <a:spcPct val="150000"/>
              </a:lnSpc>
            </a:pPr>
            <a:endParaRPr lang="en-AU" sz="2200"/>
          </a:p>
          <a:p>
            <a:pPr algn="ctr">
              <a:lnSpc>
                <a:spcPct val="150000"/>
              </a:lnSpc>
            </a:pPr>
            <a:r>
              <a:rPr lang="en-AU" sz="4400" b="1"/>
              <a:t>Calculate</a:t>
            </a:r>
            <a:r>
              <a:rPr lang="en-AU" sz="4400"/>
              <a:t> the </a:t>
            </a:r>
            <a:r>
              <a:rPr lang="en-AU" sz="4400" b="1"/>
              <a:t>duration </a:t>
            </a:r>
            <a:r>
              <a:rPr lang="en-AU" sz="4400"/>
              <a:t>of the flight.</a:t>
            </a:r>
          </a:p>
          <a:p>
            <a:pPr algn="ctr">
              <a:lnSpc>
                <a:spcPct val="150000"/>
              </a:lnSpc>
            </a:pPr>
            <a:endParaRPr lang="en-AU" sz="2200"/>
          </a:p>
          <a:p>
            <a:pPr algn="ctr">
              <a:lnSpc>
                <a:spcPct val="150000"/>
              </a:lnSpc>
            </a:pPr>
            <a:r>
              <a:rPr lang="en-AU" sz="4400"/>
              <a:t> </a:t>
            </a:r>
            <a:r>
              <a:rPr lang="en-AU" sz="4400" b="1"/>
              <a:t>Communicate</a:t>
            </a:r>
            <a:r>
              <a:rPr lang="en-AU" sz="4400"/>
              <a:t> your </a:t>
            </a:r>
            <a:r>
              <a:rPr lang="en-AU" sz="4400" b="1" dirty="0"/>
              <a:t>reasoning</a:t>
            </a:r>
            <a:r>
              <a:rPr lang="en-AU" sz="4400" dirty="0"/>
              <a:t>.</a:t>
            </a:r>
            <a:r>
              <a:rPr lang="en-AU" sz="4400"/>
              <a:t> </a:t>
            </a:r>
          </a:p>
          <a:p>
            <a:pPr algn="ctr">
              <a:lnSpc>
                <a:spcPct val="150000"/>
              </a:lnSpc>
            </a:pPr>
            <a:endParaRPr lang="en-AU" sz="4400"/>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422B7D8-9DD5-139D-3234-85D3897BC48A}"/>
              </a:ext>
            </a:extLst>
          </p:cNvPr>
          <p:cNvSpPr txBox="1"/>
          <p:nvPr/>
        </p:nvSpPr>
        <p:spPr>
          <a:xfrm>
            <a:off x="778328" y="1337129"/>
            <a:ext cx="10849868" cy="2857500"/>
          </a:xfrm>
          <a:prstGeom prst="rect">
            <a:avLst/>
          </a:prstGeom>
          <a:noFill/>
        </p:spPr>
        <p:txBody>
          <a:bodyPr wrap="square" lIns="0" tIns="0" rIns="0" bIns="0" rtlCol="0">
            <a:noAutofit/>
          </a:bodyPr>
          <a:lstStyle/>
          <a:p>
            <a:pPr algn="ctr">
              <a:lnSpc>
                <a:spcPct val="150000"/>
              </a:lnSpc>
            </a:pPr>
            <a:r>
              <a:rPr lang="en-AU" sz="4400"/>
              <a:t>Maria ran 4.98km today and 5.23km yesterday. </a:t>
            </a:r>
            <a:r>
              <a:rPr lang="en-AU" sz="4400" b="1"/>
              <a:t>Calculate</a:t>
            </a:r>
            <a:r>
              <a:rPr lang="en-AU" sz="4400"/>
              <a:t> the </a:t>
            </a:r>
            <a:r>
              <a:rPr lang="en-AU" sz="4400" b="1"/>
              <a:t>total</a:t>
            </a:r>
            <a:r>
              <a:rPr lang="en-AU" sz="4400"/>
              <a:t> distance she ran.</a:t>
            </a:r>
          </a:p>
          <a:p>
            <a:pPr algn="ctr">
              <a:lnSpc>
                <a:spcPct val="150000"/>
              </a:lnSpc>
            </a:pPr>
            <a:endParaRPr lang="en-AU" sz="2000"/>
          </a:p>
          <a:p>
            <a:pPr algn="ctr">
              <a:lnSpc>
                <a:spcPct val="150000"/>
              </a:lnSpc>
            </a:pPr>
            <a:r>
              <a:rPr lang="en-AU" sz="4400" b="1"/>
              <a:t>Communicate</a:t>
            </a:r>
            <a:r>
              <a:rPr lang="en-AU" sz="4400"/>
              <a:t> your </a:t>
            </a:r>
            <a:r>
              <a:rPr lang="en-AU" sz="4400" b="1" dirty="0"/>
              <a:t>strategy</a:t>
            </a:r>
            <a:r>
              <a:rPr lang="en-AU" sz="4400"/>
              <a:t>.</a:t>
            </a:r>
          </a:p>
          <a:p>
            <a:pPr algn="l"/>
            <a:endParaRPr lang="en-AU" sz="1800"/>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0754EAE-C8D5-A278-324A-049E00D946A2}"/>
              </a:ext>
            </a:extLst>
          </p:cNvPr>
          <p:cNvSpPr txBox="1"/>
          <p:nvPr/>
        </p:nvSpPr>
        <p:spPr>
          <a:xfrm>
            <a:off x="360000" y="1184223"/>
            <a:ext cx="11484000" cy="3022600"/>
          </a:xfrm>
          <a:prstGeom prst="rect">
            <a:avLst/>
          </a:prstGeom>
          <a:noFill/>
        </p:spPr>
        <p:txBody>
          <a:bodyPr wrap="square" lIns="0" tIns="0" rIns="0" bIns="0" rtlCol="0">
            <a:noAutofit/>
          </a:bodyPr>
          <a:lstStyle/>
          <a:p>
            <a:pPr algn="l">
              <a:lnSpc>
                <a:spcPct val="200000"/>
              </a:lnSpc>
            </a:pPr>
            <a:r>
              <a:rPr lang="en-AU" sz="3400" b="1" dirty="0"/>
              <a:t>Complete</a:t>
            </a:r>
            <a:r>
              <a:rPr lang="en-AU" sz="3400" dirty="0"/>
              <a:t> each sentence:</a:t>
            </a:r>
          </a:p>
          <a:p>
            <a:pPr marL="457200" indent="-457200">
              <a:lnSpc>
                <a:spcPct val="200000"/>
              </a:lnSpc>
              <a:buFont typeface="Arial" panose="020B0604020202020204" pitchFamily="34" charset="0"/>
              <a:buChar char="•"/>
            </a:pPr>
            <a:r>
              <a:rPr lang="en-AU" sz="3400" dirty="0"/>
              <a:t>2.08 kg is the same as ___ kilograms and ___ grams.</a:t>
            </a:r>
          </a:p>
          <a:p>
            <a:pPr marL="457200" indent="-457200">
              <a:lnSpc>
                <a:spcPct val="200000"/>
              </a:lnSpc>
              <a:buFont typeface="Arial" panose="020B0604020202020204" pitchFamily="34" charset="0"/>
              <a:buChar char="•"/>
            </a:pPr>
            <a:r>
              <a:rPr lang="en-AU" sz="3400" dirty="0"/>
              <a:t>12.80 kg is the same as ___ kilograms and ___ grams.</a:t>
            </a:r>
          </a:p>
          <a:p>
            <a:pPr marL="457200" indent="-457200">
              <a:lnSpc>
                <a:spcPct val="200000"/>
              </a:lnSpc>
              <a:buFont typeface="Arial" panose="020B0604020202020204" pitchFamily="34" charset="0"/>
              <a:buChar char="•"/>
            </a:pPr>
            <a:r>
              <a:rPr lang="en-AU" sz="3400" dirty="0"/>
              <a:t>6.45 kg is the same as ___ kilograms and ___ grams.</a:t>
            </a:r>
          </a:p>
          <a:p>
            <a:endParaRPr lang="en-AU" sz="1800"/>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subtraction strategies</a:t>
            </a: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descr="6005 − 2997 =&#10;">
            <a:extLst>
              <a:ext uri="{FF2B5EF4-FFF2-40B4-BE49-F238E27FC236}">
                <a16:creationId xmlns:a16="http://schemas.microsoft.com/office/drawing/2014/main" id="{C09FB779-6563-9467-F71D-B7A0DCFA35C5}"/>
              </a:ext>
            </a:extLst>
          </p:cNvPr>
          <p:cNvSpPr txBox="1"/>
          <p:nvPr/>
        </p:nvSpPr>
        <p:spPr>
          <a:xfrm>
            <a:off x="3176393" y="2806868"/>
            <a:ext cx="6094708" cy="1015663"/>
          </a:xfrm>
          <a:prstGeom prst="rect">
            <a:avLst/>
          </a:prstGeom>
          <a:noFill/>
        </p:spPr>
        <p:txBody>
          <a:bodyPr wrap="square">
            <a:spAutoFit/>
          </a:bodyPr>
          <a:lstStyle/>
          <a:p>
            <a:pPr algn="ctr"/>
            <a:r>
              <a:rPr lang="en-AU" sz="6000" b="0" i="0">
                <a:solidFill>
                  <a:srgbClr val="000000"/>
                </a:solidFill>
                <a:effectLst/>
                <a:highlight>
                  <a:srgbClr val="FFFFFF"/>
                </a:highlight>
                <a:latin typeface="Arial" panose="020B0604020202020204" pitchFamily="34" charset="0"/>
              </a:rPr>
              <a:t>6005 − 2997 =</a:t>
            </a:r>
            <a:endParaRPr lang="en-AU" sz="6000"/>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30102-2CA9-BCAA-FEFB-6D8794A25DD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B57A14-4602-DA2D-2A42-8C12DBCCA0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3" name="Title 2">
            <a:extLst>
              <a:ext uri="{FF2B5EF4-FFF2-40B4-BE49-F238E27FC236}">
                <a16:creationId xmlns:a16="http://schemas.microsoft.com/office/drawing/2014/main" id="{8B53061F-FDB8-FE3C-B3DD-221178E31E8F}"/>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080BA6DA-FC01-FE11-4952-E7669AC6709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 Placeholder 17">
            <a:extLst>
              <a:ext uri="{FF2B5EF4-FFF2-40B4-BE49-F238E27FC236}">
                <a16:creationId xmlns:a16="http://schemas.microsoft.com/office/drawing/2014/main" id="{BBF242F9-507F-E9AF-A504-30C2DBF4950D}"/>
              </a:ext>
            </a:extLst>
          </p:cNvPr>
          <p:cNvSpPr txBox="1">
            <a:spLocks/>
          </p:cNvSpPr>
          <p:nvPr/>
        </p:nvSpPr>
        <p:spPr>
          <a:xfrm>
            <a:off x="126482" y="905601"/>
            <a:ext cx="11717518"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a:t>Jeremiah needs to </a:t>
            </a:r>
            <a:r>
              <a:rPr lang="en-AU" sz="3600"/>
              <a:t>solve </a:t>
            </a:r>
            <a:r>
              <a:rPr lang="en-AU" sz="3600" dirty="0"/>
              <a:t>4000 </a:t>
            </a:r>
            <a:r>
              <a:rPr lang="en-AU" sz="3600"/>
              <a:t>+ </a:t>
            </a:r>
            <a:r>
              <a:rPr lang="en-AU" sz="3600" dirty="0"/>
              <a:t>1273</a:t>
            </a:r>
            <a:r>
              <a:rPr lang="en-AU" sz="3600"/>
              <a:t> + 65. </a:t>
            </a:r>
          </a:p>
          <a:p>
            <a:pPr algn="ctr"/>
            <a:r>
              <a:rPr lang="en-AU" sz="3600"/>
              <a:t>Which </a:t>
            </a:r>
            <a:r>
              <a:rPr lang="en-AU" sz="3600" b="1"/>
              <a:t>strategy</a:t>
            </a:r>
            <a:r>
              <a:rPr lang="en-AU" sz="3600"/>
              <a:t> would be the </a:t>
            </a:r>
            <a:r>
              <a:rPr lang="en-AU" sz="3600" b="1"/>
              <a:t>most efficient</a:t>
            </a:r>
            <a:r>
              <a:rPr lang="en-AU" sz="3600"/>
              <a:t>?</a:t>
            </a:r>
            <a:endParaRPr lang="en-US" sz="3600"/>
          </a:p>
        </p:txBody>
      </p:sp>
      <p:sp>
        <p:nvSpPr>
          <p:cNvPr id="9" name="TextBox 8">
            <a:extLst>
              <a:ext uri="{FF2B5EF4-FFF2-40B4-BE49-F238E27FC236}">
                <a16:creationId xmlns:a16="http://schemas.microsoft.com/office/drawing/2014/main" id="{6920462E-9281-02C2-3776-838AD8F64C78}"/>
              </a:ext>
            </a:extLst>
          </p:cNvPr>
          <p:cNvSpPr txBox="1"/>
          <p:nvPr/>
        </p:nvSpPr>
        <p:spPr>
          <a:xfrm>
            <a:off x="935269" y="3119023"/>
            <a:ext cx="5427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 </a:t>
            </a:r>
            <a:r>
              <a:rPr lang="en-US" sz="3600"/>
              <a:t>Constant difference</a:t>
            </a:r>
          </a:p>
        </p:txBody>
      </p:sp>
      <p:sp>
        <p:nvSpPr>
          <p:cNvPr id="10" name="TextBox 9">
            <a:extLst>
              <a:ext uri="{FF2B5EF4-FFF2-40B4-BE49-F238E27FC236}">
                <a16:creationId xmlns:a16="http://schemas.microsoft.com/office/drawing/2014/main" id="{EBC57732-60D1-4A05-87EF-92115F3AE36F}"/>
              </a:ext>
            </a:extLst>
          </p:cNvPr>
          <p:cNvSpPr txBox="1"/>
          <p:nvPr/>
        </p:nvSpPr>
        <p:spPr>
          <a:xfrm>
            <a:off x="935269" y="4055497"/>
            <a:ext cx="5953217"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a:t>B </a:t>
            </a:r>
            <a:r>
              <a:rPr lang="en-US" sz="3600"/>
              <a:t>Levelling</a:t>
            </a:r>
          </a:p>
        </p:txBody>
      </p:sp>
      <p:sp>
        <p:nvSpPr>
          <p:cNvPr id="12" name="TextBox 11">
            <a:extLst>
              <a:ext uri="{FF2B5EF4-FFF2-40B4-BE49-F238E27FC236}">
                <a16:creationId xmlns:a16="http://schemas.microsoft.com/office/drawing/2014/main" id="{DA95092C-06A8-E5E5-8452-AF068719754F}"/>
              </a:ext>
            </a:extLst>
          </p:cNvPr>
          <p:cNvSpPr txBox="1"/>
          <p:nvPr/>
        </p:nvSpPr>
        <p:spPr>
          <a:xfrm>
            <a:off x="935269" y="4991971"/>
            <a:ext cx="5427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800" b="1"/>
              <a:t>C </a:t>
            </a:r>
            <a:r>
              <a:rPr lang="en-US" sz="3600"/>
              <a:t>Addition for subtraction</a:t>
            </a:r>
          </a:p>
        </p:txBody>
      </p:sp>
      <p:sp>
        <p:nvSpPr>
          <p:cNvPr id="11" name="TextBox 10">
            <a:extLst>
              <a:ext uri="{FF2B5EF4-FFF2-40B4-BE49-F238E27FC236}">
                <a16:creationId xmlns:a16="http://schemas.microsoft.com/office/drawing/2014/main" id="{A756CE86-D711-C769-A772-6344F641B52C}"/>
              </a:ext>
            </a:extLst>
          </p:cNvPr>
          <p:cNvSpPr txBox="1"/>
          <p:nvPr/>
        </p:nvSpPr>
        <p:spPr>
          <a:xfrm>
            <a:off x="935269" y="6021401"/>
            <a:ext cx="987263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 </a:t>
            </a:r>
            <a:r>
              <a:rPr lang="en-US" sz="3600"/>
              <a:t>Using place value to partition  </a:t>
            </a:r>
          </a:p>
        </p:txBody>
      </p:sp>
    </p:spTree>
    <p:extLst>
      <p:ext uri="{BB962C8B-B14F-4D97-AF65-F5344CB8AC3E}">
        <p14:creationId xmlns:p14="http://schemas.microsoft.com/office/powerpoint/2010/main" val="2225365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9979C10-2E7F-4FA5-673D-B6A1C8E57041}"/>
                  </a:ext>
                </a:extLst>
              </p:cNvPr>
              <p:cNvSpPr txBox="1"/>
              <p:nvPr/>
            </p:nvSpPr>
            <p:spPr>
              <a:xfrm>
                <a:off x="511509" y="1857544"/>
                <a:ext cx="11168981" cy="3142912"/>
              </a:xfrm>
              <a:prstGeom prst="rect">
                <a:avLst/>
              </a:prstGeom>
              <a:noFill/>
            </p:spPr>
            <p:txBody>
              <a:bodyPr wrap="square">
                <a:spAutoFit/>
              </a:bodyPr>
              <a:lstStyle/>
              <a:p>
                <a:pPr lvl="0" algn="ctr">
                  <a:lnSpc>
                    <a:spcPct val="150000"/>
                  </a:lnSpc>
                  <a:spcBef>
                    <a:spcPts val="1200"/>
                  </a:spcBef>
                  <a:spcAft>
                    <a:spcPts val="600"/>
                  </a:spcAft>
                </a:pPr>
                <a:r>
                  <a:rPr lang="en-AU" sz="4400" b="1">
                    <a:effectLst/>
                    <a:latin typeface="Arial" panose="020B0604020202020204" pitchFamily="34" charset="0"/>
                    <a:ea typeface="Calibri" panose="020F0502020204030204" pitchFamily="34" charset="0"/>
                    <a:cs typeface="Times New Roman" panose="02020603050405020304" pitchFamily="18" charset="0"/>
                  </a:rPr>
                  <a:t>Draw </a:t>
                </a:r>
                <a:r>
                  <a:rPr lang="en-AU" sz="4400">
                    <a:effectLst/>
                    <a:latin typeface="Arial" panose="020B0604020202020204" pitchFamily="34" charset="0"/>
                    <a:ea typeface="Calibri" panose="020F0502020204030204" pitchFamily="34" charset="0"/>
                    <a:cs typeface="Times New Roman" panose="02020603050405020304" pitchFamily="18" charset="0"/>
                  </a:rPr>
                  <a:t>a </a:t>
                </a:r>
                <a:r>
                  <a:rPr lang="en-AU" sz="4400" b="1">
                    <a:effectLst/>
                    <a:latin typeface="Arial" panose="020B0604020202020204" pitchFamily="34" charset="0"/>
                    <a:ea typeface="Calibri" panose="020F0502020204030204" pitchFamily="34" charset="0"/>
                    <a:cs typeface="Times New Roman" panose="02020603050405020304" pitchFamily="18" charset="0"/>
                  </a:rPr>
                  <a:t>diagram</a:t>
                </a:r>
                <a:r>
                  <a:rPr lang="en-AU" sz="4400">
                    <a:effectLst/>
                    <a:latin typeface="Arial" panose="020B0604020202020204" pitchFamily="34" charset="0"/>
                    <a:ea typeface="Calibri" panose="020F0502020204030204" pitchFamily="34" charset="0"/>
                    <a:cs typeface="Times New Roman" panose="02020603050405020304" pitchFamily="18" charset="0"/>
                  </a:rPr>
                  <a:t> to show how much </a:t>
                </a:r>
                <a:r>
                  <a:rPr lang="en-AU" sz="4400" b="1">
                    <a:effectLst/>
                    <a:latin typeface="Arial" panose="020B0604020202020204" pitchFamily="34" charset="0"/>
                    <a:ea typeface="Calibri" panose="020F0502020204030204" pitchFamily="34" charset="0"/>
                    <a:cs typeface="Times New Roman" panose="02020603050405020304" pitchFamily="18" charset="0"/>
                  </a:rPr>
                  <a:t>more</a:t>
                </a:r>
                <a:r>
                  <a:rPr lang="en-AU" sz="4400">
                    <a:effectLst/>
                    <a:latin typeface="Arial" panose="020B0604020202020204" pitchFamily="34" charset="0"/>
                    <a:ea typeface="Calibri" panose="020F0502020204030204" pitchFamily="34" charset="0"/>
                    <a:cs typeface="Times New Roman" panose="02020603050405020304" pitchFamily="18" charset="0"/>
                  </a:rPr>
                  <a:t> </a:t>
                </a:r>
              </a:p>
              <a:p>
                <a:pPr lvl="0" algn="ctr">
                  <a:lnSpc>
                    <a:spcPct val="150000"/>
                  </a:lnSpc>
                  <a:spcBef>
                    <a:spcPts val="1200"/>
                  </a:spcBef>
                  <a:spcAft>
                    <a:spcPts val="600"/>
                  </a:spcAft>
                </a:pPr>
                <a14:m>
                  <m:oMath xmlns:m="http://schemas.openxmlformats.org/officeDocument/2006/math">
                    <m:f>
                      <m:fPr>
                        <m:ctrlPr>
                          <a:rPr lang="en-AU" sz="6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6000" b="0" i="1" smtClean="0">
                            <a:effectLst/>
                            <a:latin typeface="Cambria Math" panose="02040503050406030204" pitchFamily="18" charset="0"/>
                            <a:ea typeface="Calibri" panose="020F0502020204030204" pitchFamily="34" charset="0"/>
                            <a:cs typeface="Times New Roman" panose="02020603050405020304" pitchFamily="18" charset="0"/>
                          </a:rPr>
                          <m:t>6</m:t>
                        </m:r>
                      </m:num>
                      <m:den>
                        <m:r>
                          <a:rPr lang="en-AU" sz="6000" b="0" i="1" smtClean="0">
                            <a:effectLst/>
                            <a:latin typeface="Cambria Math" panose="02040503050406030204" pitchFamily="18" charset="0"/>
                            <a:ea typeface="Calibri" panose="020F0502020204030204" pitchFamily="34" charset="0"/>
                            <a:cs typeface="Times New Roman" panose="02020603050405020304" pitchFamily="18" charset="0"/>
                          </a:rPr>
                          <m:t>8</m:t>
                        </m:r>
                      </m:den>
                    </m:f>
                  </m:oMath>
                </a14:m>
                <a:r>
                  <a:rPr lang="en-AU" sz="6000">
                    <a:effectLst/>
                    <a:latin typeface="Arial" panose="020B0604020202020204" pitchFamily="34" charset="0"/>
                    <a:ea typeface="Calibri" panose="020F0502020204030204" pitchFamily="34" charset="0"/>
                    <a:cs typeface="Times New Roman" panose="02020603050405020304" pitchFamily="18" charset="0"/>
                  </a:rPr>
                  <a:t> </a:t>
                </a:r>
                <a:r>
                  <a:rPr lang="en-AU" sz="4400">
                    <a:effectLst/>
                    <a:latin typeface="Arial" panose="020B0604020202020204" pitchFamily="34" charset="0"/>
                    <a:ea typeface="Calibri" panose="020F0502020204030204" pitchFamily="34" charset="0"/>
                    <a:cs typeface="Times New Roman" panose="02020603050405020304" pitchFamily="18" charset="0"/>
                  </a:rPr>
                  <a:t>is than </a:t>
                </a:r>
                <a14:m>
                  <m:oMath xmlns:m="http://schemas.openxmlformats.org/officeDocument/2006/math">
                    <m:f>
                      <m:fPr>
                        <m:ctrlPr>
                          <a:rPr lang="en-AU" sz="6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6000" i="1">
                            <a:effectLst/>
                            <a:latin typeface="Cambria Math" panose="02040503050406030204" pitchFamily="18" charset="0"/>
                            <a:ea typeface="Calibri" panose="020F0502020204030204" pitchFamily="34" charset="0"/>
                            <a:cs typeface="Times New Roman" panose="02020603050405020304" pitchFamily="18" charset="0"/>
                          </a:rPr>
                          <m:t>2</m:t>
                        </m:r>
                      </m:num>
                      <m:den>
                        <m:r>
                          <a:rPr lang="en-AU" sz="6000" b="0" i="1" smtClean="0">
                            <a:effectLst/>
                            <a:latin typeface="Cambria Math" panose="02040503050406030204" pitchFamily="18" charset="0"/>
                            <a:ea typeface="Calibri" panose="020F0502020204030204" pitchFamily="34" charset="0"/>
                            <a:cs typeface="Times New Roman" panose="02020603050405020304" pitchFamily="18" charset="0"/>
                          </a:rPr>
                          <m:t>4</m:t>
                        </m:r>
                      </m:den>
                    </m:f>
                    <m:r>
                      <a:rPr lang="en-AU" sz="6000" b="0" i="0" smtClean="0">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n-AU" sz="6000">
                  <a:effectLst/>
                  <a:latin typeface="Arial" panose="020B0604020202020204" pitchFamily="34" charset="0"/>
                  <a:ea typeface="Calibri" panose="020F0502020204030204" pitchFamily="34"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29979C10-2E7F-4FA5-673D-B6A1C8E57041}"/>
                  </a:ext>
                </a:extLst>
              </p:cNvPr>
              <p:cNvSpPr txBox="1">
                <a:spLocks noRot="1" noChangeAspect="1" noMove="1" noResize="1" noEditPoints="1" noAdjustHandles="1" noChangeArrowheads="1" noChangeShapeType="1" noTextEdit="1"/>
              </p:cNvSpPr>
              <p:nvPr/>
            </p:nvSpPr>
            <p:spPr>
              <a:xfrm>
                <a:off x="511509" y="1857544"/>
                <a:ext cx="11168981" cy="314291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D3DE24D-135E-B6E3-BA42-7C75D9C6E45C}"/>
              </a:ext>
            </a:extLst>
          </p:cNvPr>
          <p:cNvSpPr txBox="1"/>
          <p:nvPr/>
        </p:nvSpPr>
        <p:spPr>
          <a:xfrm>
            <a:off x="596900" y="1184223"/>
            <a:ext cx="10433576" cy="4491166"/>
          </a:xfrm>
          <a:prstGeom prst="rect">
            <a:avLst/>
          </a:prstGeom>
          <a:noFill/>
        </p:spPr>
        <p:txBody>
          <a:bodyPr wrap="square">
            <a:spAutoFit/>
          </a:bodyPr>
          <a:lstStyle/>
          <a:p>
            <a:pPr lvl="0" algn="ctr">
              <a:lnSpc>
                <a:spcPct val="150000"/>
              </a:lnSpc>
              <a:spcBef>
                <a:spcPts val="1200"/>
              </a:spcBef>
              <a:spcAft>
                <a:spcPts val="600"/>
              </a:spcAft>
            </a:pPr>
            <a:r>
              <a:rPr lang="en-AU" sz="4400" dirty="0"/>
              <a:t>Penny </a:t>
            </a:r>
            <a:r>
              <a:rPr lang="en-AU" sz="4400" b="1" dirty="0"/>
              <a:t>woke</a:t>
            </a:r>
            <a:r>
              <a:rPr lang="en-AU" sz="4400" dirty="0"/>
              <a:t> up at </a:t>
            </a:r>
            <a:r>
              <a:rPr lang="en-AU" sz="4400" b="1" dirty="0"/>
              <a:t>08:10</a:t>
            </a:r>
            <a:r>
              <a:rPr lang="en-AU" sz="4400" dirty="0"/>
              <a:t> and fell </a:t>
            </a:r>
            <a:r>
              <a:rPr lang="en-AU" sz="4400" b="1" dirty="0"/>
              <a:t>asleep</a:t>
            </a:r>
            <a:r>
              <a:rPr lang="en-AU" sz="4400" dirty="0"/>
              <a:t> that night at </a:t>
            </a:r>
            <a:r>
              <a:rPr lang="en-AU" sz="4400" b="1" dirty="0"/>
              <a:t>19:40</a:t>
            </a:r>
            <a:r>
              <a:rPr lang="en-AU" sz="4400" dirty="0"/>
              <a:t>. </a:t>
            </a:r>
          </a:p>
          <a:p>
            <a:pPr lvl="0" algn="ctr">
              <a:lnSpc>
                <a:spcPct val="150000"/>
              </a:lnSpc>
              <a:spcBef>
                <a:spcPts val="1200"/>
              </a:spcBef>
              <a:spcAft>
                <a:spcPts val="600"/>
              </a:spcAft>
            </a:pPr>
            <a:r>
              <a:rPr lang="en-AU" sz="4400" dirty="0"/>
              <a:t>How long was she awake for?</a:t>
            </a:r>
          </a:p>
          <a:p>
            <a:pPr lvl="0" algn="ctr">
              <a:lnSpc>
                <a:spcPct val="150000"/>
              </a:lnSpc>
              <a:spcBef>
                <a:spcPts val="1200"/>
              </a:spcBef>
              <a:spcAft>
                <a:spcPts val="600"/>
              </a:spcAft>
            </a:pPr>
            <a:r>
              <a:rPr lang="en-AU" sz="4400" b="1" dirty="0">
                <a:latin typeface="Arial" panose="020B0604020202020204" pitchFamily="34" charset="0"/>
                <a:ea typeface="Calibri" panose="020F0502020204030204" pitchFamily="34" charset="0"/>
                <a:cs typeface="Times New Roman" panose="02020603050405020304" pitchFamily="18" charset="0"/>
              </a:rPr>
              <a:t>C</a:t>
            </a:r>
            <a:r>
              <a:rPr lang="en-AU" sz="4400" b="1" dirty="0">
                <a:effectLst/>
                <a:latin typeface="Arial" panose="020B0604020202020204" pitchFamily="34" charset="0"/>
                <a:ea typeface="Calibri" panose="020F0502020204030204" pitchFamily="34" charset="0"/>
                <a:cs typeface="Times New Roman" panose="02020603050405020304" pitchFamily="18" charset="0"/>
              </a:rPr>
              <a:t>ommunicate</a:t>
            </a:r>
            <a:r>
              <a:rPr lang="en-AU" sz="4400" dirty="0">
                <a:effectLst/>
                <a:latin typeface="Arial" panose="020B0604020202020204" pitchFamily="34" charset="0"/>
                <a:ea typeface="Calibri" panose="020F0502020204030204" pitchFamily="34" charset="0"/>
                <a:cs typeface="Times New Roman" panose="02020603050405020304" pitchFamily="18" charset="0"/>
              </a:rPr>
              <a:t> your </a:t>
            </a:r>
            <a:r>
              <a:rPr lang="en-AU" sz="4400" b="1" dirty="0">
                <a:effectLst/>
                <a:latin typeface="Arial" panose="020B0604020202020204" pitchFamily="34" charset="0"/>
                <a:ea typeface="Calibri" panose="020F0502020204030204" pitchFamily="34" charset="0"/>
                <a:cs typeface="Times New Roman" panose="02020603050405020304" pitchFamily="18" charset="0"/>
              </a:rPr>
              <a:t>reasoning</a:t>
            </a:r>
            <a:r>
              <a:rPr lang="en-AU" sz="4400" dirty="0">
                <a:effectLst/>
                <a:latin typeface="Arial" panose="020B060402020202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8DE9F9F-A811-4282-7436-CC4DBB0AFB6C}"/>
              </a:ext>
            </a:extLst>
          </p:cNvPr>
          <p:cNvSpPr txBox="1"/>
          <p:nvPr/>
        </p:nvSpPr>
        <p:spPr>
          <a:xfrm>
            <a:off x="360000" y="1132428"/>
            <a:ext cx="11484000" cy="1104900"/>
          </a:xfrm>
          <a:prstGeom prst="rect">
            <a:avLst/>
          </a:prstGeom>
          <a:noFill/>
        </p:spPr>
        <p:txBody>
          <a:bodyPr wrap="square" lIns="0" tIns="0" rIns="0" bIns="0" rtlCol="0">
            <a:noAutofit/>
          </a:bodyPr>
          <a:lstStyle/>
          <a:p>
            <a:pPr algn="ctr">
              <a:lnSpc>
                <a:spcPct val="150000"/>
              </a:lnSpc>
            </a:pPr>
            <a:r>
              <a:rPr lang="en-AU" sz="4200"/>
              <a:t>Levi went on a road trip from Penrith to Bathurst. </a:t>
            </a:r>
            <a:r>
              <a:rPr lang="en-AU" sz="4200" b="1"/>
              <a:t>Calculate</a:t>
            </a:r>
            <a:r>
              <a:rPr lang="en-AU" sz="4200"/>
              <a:t> the </a:t>
            </a:r>
            <a:r>
              <a:rPr lang="en-AU" sz="4200" b="1"/>
              <a:t>total distance </a:t>
            </a:r>
            <a:r>
              <a:rPr lang="en-AU" sz="4200"/>
              <a:t>he travelled</a:t>
            </a:r>
            <a:r>
              <a:rPr lang="en-AU" sz="4400"/>
              <a:t>.</a:t>
            </a:r>
          </a:p>
        </p:txBody>
      </p:sp>
      <p:pic>
        <p:nvPicPr>
          <p:cNvPr id="4" name="Picture 3" descr="A table showing columns of starting destinations, stopping destinations and the kilometres travelled. The first row reads: Penrith, Katoomba, 46.6. The second row reads Katoomba, Lithgow, 38.6. The third row reads Lithgow, Bathurst 59.9.">
            <a:extLst>
              <a:ext uri="{FF2B5EF4-FFF2-40B4-BE49-F238E27FC236}">
                <a16:creationId xmlns:a16="http://schemas.microsoft.com/office/drawing/2014/main" id="{F8C5F2A2-796F-0EA7-B15B-CCFA5BC38F9E}"/>
              </a:ext>
            </a:extLst>
          </p:cNvPr>
          <p:cNvPicPr>
            <a:picLocks noChangeAspect="1"/>
          </p:cNvPicPr>
          <p:nvPr/>
        </p:nvPicPr>
        <p:blipFill>
          <a:blip r:embed="rId4"/>
          <a:srcRect b="32730"/>
          <a:stretch>
            <a:fillRect/>
          </a:stretch>
        </p:blipFill>
        <p:spPr>
          <a:xfrm>
            <a:off x="3264143" y="3569055"/>
            <a:ext cx="6120914" cy="2374545"/>
          </a:xfrm>
          <a:prstGeom prst="rect">
            <a:avLst/>
          </a:prstGeom>
        </p:spPr>
      </p:pic>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9BD8ECC-A900-6144-0DC3-FF08A92AFC9C}"/>
              </a:ext>
            </a:extLst>
          </p:cNvPr>
          <p:cNvSpPr txBox="1"/>
          <p:nvPr/>
        </p:nvSpPr>
        <p:spPr>
          <a:xfrm>
            <a:off x="1041400" y="1993900"/>
            <a:ext cx="9774768" cy="2654300"/>
          </a:xfrm>
          <a:prstGeom prst="rect">
            <a:avLst/>
          </a:prstGeom>
          <a:noFill/>
        </p:spPr>
        <p:txBody>
          <a:bodyPr wrap="square" lIns="0" tIns="0" rIns="0" bIns="0" rtlCol="0">
            <a:noAutofit/>
          </a:bodyPr>
          <a:lstStyle/>
          <a:p>
            <a:pPr algn="ctr">
              <a:lnSpc>
                <a:spcPct val="150000"/>
              </a:lnSpc>
            </a:pPr>
            <a:r>
              <a:rPr lang="en-AU" sz="4400" b="1"/>
              <a:t>Explain</a:t>
            </a:r>
            <a:r>
              <a:rPr lang="en-AU" sz="4400"/>
              <a:t> why </a:t>
            </a:r>
            <a:r>
              <a:rPr lang="en-AU" sz="4400" b="1"/>
              <a:t>24-hour time </a:t>
            </a:r>
            <a:r>
              <a:rPr lang="en-AU" sz="4400"/>
              <a:t>is used and provide an </a:t>
            </a:r>
            <a:r>
              <a:rPr lang="en-AU" sz="4400" b="1"/>
              <a:t>example</a:t>
            </a:r>
            <a:r>
              <a:rPr lang="en-AU" sz="4400"/>
              <a:t> to </a:t>
            </a:r>
            <a:r>
              <a:rPr lang="en-AU" sz="4400" b="1"/>
              <a:t>justify</a:t>
            </a:r>
            <a:r>
              <a:rPr lang="en-AU" sz="4400"/>
              <a:t> your answer.</a:t>
            </a:r>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addition and subtraction strategies</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 whiteboard with a blank addition number sentence showing a 3-digit number plus a 3-digit number plus a 2-digit number equals. The blank subtraction number sentence shows a 4-digit number take away a 4-digit number equals.">
            <a:extLst>
              <a:ext uri="{FF2B5EF4-FFF2-40B4-BE49-F238E27FC236}">
                <a16:creationId xmlns:a16="http://schemas.microsoft.com/office/drawing/2014/main" id="{AAB9B530-244C-4277-0447-9A4332215562}"/>
              </a:ext>
            </a:extLst>
          </p:cNvPr>
          <p:cNvPicPr>
            <a:picLocks noChangeAspect="1"/>
          </p:cNvPicPr>
          <p:nvPr/>
        </p:nvPicPr>
        <p:blipFill>
          <a:blip r:embed="rId4"/>
          <a:stretch>
            <a:fillRect/>
          </a:stretch>
        </p:blipFill>
        <p:spPr>
          <a:xfrm>
            <a:off x="2578303" y="1244895"/>
            <a:ext cx="7035394" cy="4901609"/>
          </a:xfrm>
          <a:prstGeom prst="rect">
            <a:avLst/>
          </a:prstGeom>
        </p:spPr>
      </p:pic>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p:txBody>
          <a:bodyPr/>
          <a:lstStyle/>
          <a:p>
            <a:pPr algn="ctr"/>
            <a:r>
              <a:rPr lang="en-AU" sz="4400"/>
              <a:t>Using a </a:t>
            </a:r>
            <a:r>
              <a:rPr lang="en-AU" sz="4400" b="1"/>
              <a:t>calculator</a:t>
            </a:r>
            <a:r>
              <a:rPr lang="en-AU" sz="4400"/>
              <a:t> is the most efficient way to solve </a:t>
            </a:r>
          </a:p>
          <a:p>
            <a:pPr algn="ctr"/>
            <a:r>
              <a:rPr lang="en-AU" sz="4400"/>
              <a:t>2 000 + 400 + 400 + 6 + 1.</a:t>
            </a:r>
          </a:p>
        </p:txBody>
      </p:sp>
      <p:graphicFrame>
        <p:nvGraphicFramePr>
          <p:cNvPr id="12" name="Table 11">
            <a:extLst>
              <a:ext uri="{FF2B5EF4-FFF2-40B4-BE49-F238E27FC236}">
                <a16:creationId xmlns:a16="http://schemas.microsoft.com/office/drawing/2014/main" id="{3F8CBB11-5402-CF1C-E0D6-3FC912DFC86F}"/>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4251523250"/>
              </p:ext>
            </p:extLst>
          </p:nvPr>
        </p:nvGraphicFramePr>
        <p:xfrm>
          <a:off x="2442980" y="523205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7EBED6C-9975-4B29-9E35-775BBCADFDC4}"/>
                  </a:ext>
                </a:extLst>
              </p:cNvPr>
              <p:cNvSpPr txBox="1"/>
              <p:nvPr/>
            </p:nvSpPr>
            <p:spPr>
              <a:xfrm>
                <a:off x="360000" y="2083543"/>
                <a:ext cx="11168981" cy="2911310"/>
              </a:xfrm>
              <a:prstGeom prst="rect">
                <a:avLst/>
              </a:prstGeom>
              <a:noFill/>
            </p:spPr>
            <p:txBody>
              <a:bodyPr wrap="square">
                <a:spAutoFit/>
              </a:bodyPr>
              <a:lstStyle/>
              <a:p>
                <a:pPr lvl="0" algn="ctr">
                  <a:lnSpc>
                    <a:spcPct val="150000"/>
                  </a:lnSpc>
                  <a:spcBef>
                    <a:spcPts val="1200"/>
                  </a:spcBef>
                  <a:spcAft>
                    <a:spcPts val="600"/>
                  </a:spcAft>
                </a:pPr>
                <a:r>
                  <a:rPr lang="en-AU" sz="4400" b="1">
                    <a:effectLst/>
                    <a:latin typeface="Arial" panose="020B0604020202020204" pitchFamily="34" charset="0"/>
                    <a:ea typeface="Calibri" panose="020F0502020204030204" pitchFamily="34" charset="0"/>
                    <a:cs typeface="Times New Roman" panose="02020603050405020304" pitchFamily="18" charset="0"/>
                  </a:rPr>
                  <a:t>Draw </a:t>
                </a:r>
                <a:r>
                  <a:rPr lang="en-AU" sz="4400">
                    <a:effectLst/>
                    <a:latin typeface="Arial" panose="020B0604020202020204" pitchFamily="34" charset="0"/>
                    <a:ea typeface="Calibri" panose="020F0502020204030204" pitchFamily="34" charset="0"/>
                    <a:cs typeface="Times New Roman" panose="02020603050405020304" pitchFamily="18" charset="0"/>
                  </a:rPr>
                  <a:t>a </a:t>
                </a:r>
                <a:r>
                  <a:rPr lang="en-AU" sz="4400" b="1">
                    <a:effectLst/>
                    <a:latin typeface="Arial" panose="020B0604020202020204" pitchFamily="34" charset="0"/>
                    <a:ea typeface="Calibri" panose="020F0502020204030204" pitchFamily="34" charset="0"/>
                    <a:cs typeface="Times New Roman" panose="02020603050405020304" pitchFamily="18" charset="0"/>
                  </a:rPr>
                  <a:t>diagram</a:t>
                </a:r>
                <a:r>
                  <a:rPr lang="en-AU" sz="4400">
                    <a:effectLst/>
                    <a:latin typeface="Arial" panose="020B0604020202020204" pitchFamily="34" charset="0"/>
                    <a:ea typeface="Calibri" panose="020F0502020204030204" pitchFamily="34" charset="0"/>
                    <a:cs typeface="Times New Roman" panose="02020603050405020304" pitchFamily="18" charset="0"/>
                  </a:rPr>
                  <a:t> to show how much </a:t>
                </a:r>
                <a:r>
                  <a:rPr lang="en-AU" sz="4400" b="1">
                    <a:effectLst/>
                    <a:latin typeface="Arial" panose="020B0604020202020204" pitchFamily="34" charset="0"/>
                    <a:ea typeface="Calibri" panose="020F0502020204030204" pitchFamily="34" charset="0"/>
                    <a:cs typeface="Times New Roman" panose="02020603050405020304" pitchFamily="18" charset="0"/>
                  </a:rPr>
                  <a:t>more</a:t>
                </a:r>
                <a:r>
                  <a:rPr lang="en-AU" sz="4400">
                    <a:effectLst/>
                    <a:latin typeface="Arial" panose="020B060402020202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n-AU" sz="6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6000" b="0" i="1" smtClean="0">
                            <a:effectLst/>
                            <a:latin typeface="Cambria Math" panose="02040503050406030204" pitchFamily="18" charset="0"/>
                            <a:ea typeface="Calibri" panose="020F0502020204030204" pitchFamily="34" charset="0"/>
                            <a:cs typeface="Times New Roman" panose="02020603050405020304" pitchFamily="18" charset="0"/>
                          </a:rPr>
                          <m:t>9</m:t>
                        </m:r>
                      </m:num>
                      <m:den>
                        <m:r>
                          <a:rPr lang="en-AU" sz="6000" b="0" i="1" smtClean="0">
                            <a:effectLst/>
                            <a:latin typeface="Cambria Math" panose="02040503050406030204" pitchFamily="18" charset="0"/>
                            <a:ea typeface="Calibri" panose="020F0502020204030204" pitchFamily="34" charset="0"/>
                            <a:cs typeface="Times New Roman" panose="02020603050405020304" pitchFamily="18" charset="0"/>
                          </a:rPr>
                          <m:t>10</m:t>
                        </m:r>
                      </m:den>
                    </m:f>
                  </m:oMath>
                </a14:m>
                <a:r>
                  <a:rPr lang="en-AU" sz="6000">
                    <a:effectLst/>
                    <a:latin typeface="Arial" panose="020B0604020202020204" pitchFamily="34" charset="0"/>
                    <a:ea typeface="Calibri" panose="020F0502020204030204" pitchFamily="34" charset="0"/>
                    <a:cs typeface="Times New Roman" panose="02020603050405020304" pitchFamily="18" charset="0"/>
                  </a:rPr>
                  <a:t>  </a:t>
                </a:r>
                <a:r>
                  <a:rPr lang="en-AU" sz="4400">
                    <a:effectLst/>
                    <a:latin typeface="Arial" panose="020B0604020202020204" pitchFamily="34" charset="0"/>
                    <a:ea typeface="Calibri" panose="020F0502020204030204" pitchFamily="34" charset="0"/>
                    <a:cs typeface="Times New Roman" panose="02020603050405020304" pitchFamily="18" charset="0"/>
                  </a:rPr>
                  <a:t>is than  </a:t>
                </a:r>
                <a14:m>
                  <m:oMath xmlns:m="http://schemas.openxmlformats.org/officeDocument/2006/math">
                    <m:f>
                      <m:fPr>
                        <m:ctrlPr>
                          <a:rPr lang="en-AU" sz="6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6000" b="0" i="1" smtClean="0">
                            <a:effectLst/>
                            <a:latin typeface="Cambria Math" panose="02040503050406030204" pitchFamily="18" charset="0"/>
                            <a:ea typeface="Calibri" panose="020F0502020204030204" pitchFamily="34" charset="0"/>
                            <a:cs typeface="Times New Roman" panose="02020603050405020304" pitchFamily="18" charset="0"/>
                          </a:rPr>
                          <m:t>4</m:t>
                        </m:r>
                      </m:num>
                      <m:den>
                        <m:r>
                          <a:rPr lang="en-AU" sz="6000" b="0" i="1" smtClean="0">
                            <a:effectLst/>
                            <a:latin typeface="Cambria Math" panose="02040503050406030204" pitchFamily="18" charset="0"/>
                            <a:ea typeface="Calibri" panose="020F0502020204030204" pitchFamily="34" charset="0"/>
                            <a:cs typeface="Times New Roman" panose="02020603050405020304" pitchFamily="18" charset="0"/>
                          </a:rPr>
                          <m:t>5</m:t>
                        </m:r>
                      </m:den>
                    </m:f>
                    <m:r>
                      <a:rPr lang="en-AU" sz="6000" b="0" i="0" smtClean="0">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n-AU" sz="6000">
                  <a:effectLst/>
                  <a:latin typeface="Arial" panose="020B0604020202020204" pitchFamily="34" charset="0"/>
                  <a:ea typeface="Calibri" panose="020F0502020204030204" pitchFamily="34"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87EBED6C-9975-4B29-9E35-775BBCADFDC4}"/>
                  </a:ext>
                </a:extLst>
              </p:cNvPr>
              <p:cNvSpPr txBox="1">
                <a:spLocks noRot="1" noChangeAspect="1" noMove="1" noResize="1" noEditPoints="1" noAdjustHandles="1" noChangeArrowheads="1" noChangeShapeType="1" noTextEdit="1"/>
              </p:cNvSpPr>
              <p:nvPr/>
            </p:nvSpPr>
            <p:spPr>
              <a:xfrm>
                <a:off x="360000" y="2083543"/>
                <a:ext cx="11168981" cy="291131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B2A77E0-8D01-E704-4396-F222A0F473F2}"/>
              </a:ext>
            </a:extLst>
          </p:cNvPr>
          <p:cNvSpPr txBox="1"/>
          <p:nvPr/>
        </p:nvSpPr>
        <p:spPr>
          <a:xfrm>
            <a:off x="1054100" y="1676400"/>
            <a:ext cx="10185400" cy="2451100"/>
          </a:xfrm>
          <a:prstGeom prst="rect">
            <a:avLst/>
          </a:prstGeom>
          <a:noFill/>
        </p:spPr>
        <p:txBody>
          <a:bodyPr wrap="square" lIns="0" tIns="0" rIns="0" bIns="0" rtlCol="0">
            <a:noAutofit/>
          </a:bodyPr>
          <a:lstStyle/>
          <a:p>
            <a:pPr algn="l">
              <a:lnSpc>
                <a:spcPct val="150000"/>
              </a:lnSpc>
            </a:pPr>
            <a:r>
              <a:rPr lang="en-AU" sz="4400" b="1"/>
              <a:t>Complete</a:t>
            </a:r>
            <a:r>
              <a:rPr lang="en-AU" sz="4400"/>
              <a:t> the following sentences:</a:t>
            </a:r>
          </a:p>
          <a:p>
            <a:pPr marL="571500" indent="-571500" algn="l">
              <a:lnSpc>
                <a:spcPct val="150000"/>
              </a:lnSpc>
              <a:buFont typeface="Arial" panose="020B0604020202020204" pitchFamily="34" charset="0"/>
              <a:buChar char="•"/>
            </a:pPr>
            <a:r>
              <a:rPr lang="en-AU" sz="4400"/>
              <a:t>13.5 cm = ____ cm and ____ mm</a:t>
            </a:r>
          </a:p>
          <a:p>
            <a:pPr marL="571500" indent="-571500">
              <a:lnSpc>
                <a:spcPct val="150000"/>
              </a:lnSpc>
              <a:buFont typeface="Arial" panose="020B0604020202020204" pitchFamily="34" charset="0"/>
              <a:buChar char="•"/>
            </a:pPr>
            <a:r>
              <a:rPr lang="en-AU" sz="4400"/>
              <a:t>12.6 km = ____ km and ____ m </a:t>
            </a:r>
          </a:p>
          <a:p>
            <a:pPr marL="571500" indent="-571500">
              <a:lnSpc>
                <a:spcPct val="150000"/>
              </a:lnSpc>
              <a:buFont typeface="Arial" panose="020B0604020202020204" pitchFamily="34" charset="0"/>
              <a:buChar char="•"/>
            </a:pPr>
            <a:r>
              <a:rPr lang="en-AU" sz="4400"/>
              <a:t>7.5 m = ____ m and ____ cm</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FE6F74C-B994-0F54-2AF3-1B051E203912}"/>
              </a:ext>
            </a:extLst>
          </p:cNvPr>
          <p:cNvSpPr txBox="1"/>
          <p:nvPr/>
        </p:nvSpPr>
        <p:spPr>
          <a:xfrm>
            <a:off x="246024" y="905601"/>
            <a:ext cx="6009633" cy="4279900"/>
          </a:xfrm>
          <a:prstGeom prst="rect">
            <a:avLst/>
          </a:prstGeom>
          <a:noFill/>
        </p:spPr>
        <p:txBody>
          <a:bodyPr wrap="square" lIns="0" tIns="0" rIns="0" bIns="0" rtlCol="0">
            <a:noAutofit/>
          </a:bodyPr>
          <a:lstStyle/>
          <a:p>
            <a:pPr algn="ctr">
              <a:lnSpc>
                <a:spcPct val="150000"/>
              </a:lnSpc>
            </a:pPr>
            <a:r>
              <a:rPr lang="en-AU" sz="3600"/>
              <a:t>Estella is travelling by plane and can only take </a:t>
            </a:r>
            <a:r>
              <a:rPr lang="en-AU" sz="3600" b="1"/>
              <a:t>7 kg </a:t>
            </a:r>
            <a:r>
              <a:rPr lang="en-AU" sz="3600"/>
              <a:t>in carry-on luggage. </a:t>
            </a:r>
          </a:p>
          <a:p>
            <a:pPr algn="ctr">
              <a:lnSpc>
                <a:spcPct val="150000"/>
              </a:lnSpc>
            </a:pPr>
            <a:r>
              <a:rPr lang="en-AU" sz="3600" b="1"/>
              <a:t>Calculate</a:t>
            </a:r>
            <a:r>
              <a:rPr lang="en-AU" sz="3600"/>
              <a:t> the </a:t>
            </a:r>
            <a:r>
              <a:rPr lang="en-AU" sz="3600" b="1"/>
              <a:t>total weight </a:t>
            </a:r>
            <a:r>
              <a:rPr lang="en-AU" sz="3600"/>
              <a:t>of Estella’s bag to determine if she is under the 7 kg weight limit.</a:t>
            </a:r>
          </a:p>
          <a:p>
            <a:pPr algn="l"/>
            <a:endParaRPr lang="en-AU" sz="1800"/>
          </a:p>
        </p:txBody>
      </p:sp>
      <p:pic>
        <p:nvPicPr>
          <p:cNvPr id="7" name="Picture 6">
            <a:extLst>
              <a:ext uri="{FF2B5EF4-FFF2-40B4-BE49-F238E27FC236}">
                <a16:creationId xmlns:a16="http://schemas.microsoft.com/office/drawing/2014/main" id="{8F445121-B119-6612-AFEB-78FD81C4C284}"/>
              </a:ext>
              <a:ext uri="{C183D7F6-B498-43B3-948B-1728B52AA6E4}">
                <adec:decorative xmlns:adec="http://schemas.microsoft.com/office/drawing/2017/decorative" val="1"/>
              </a:ext>
            </a:extLst>
          </p:cNvPr>
          <p:cNvPicPr>
            <a:picLocks noChangeAspect="1"/>
          </p:cNvPicPr>
          <p:nvPr/>
        </p:nvPicPr>
        <p:blipFill>
          <a:blip r:embed="rId4"/>
          <a:srcRect l="21589" t="27940" r="38086" b="22037"/>
          <a:stretch>
            <a:fillRect/>
          </a:stretch>
        </p:blipFill>
        <p:spPr>
          <a:xfrm>
            <a:off x="6369633" y="1138001"/>
            <a:ext cx="5576343" cy="4890579"/>
          </a:xfrm>
          <a:prstGeom prst="rect">
            <a:avLst/>
          </a:prstGeom>
        </p:spPr>
      </p:pic>
      <p:sp>
        <p:nvSpPr>
          <p:cNvPr id="9" name="TextBox 8">
            <a:extLst>
              <a:ext uri="{FF2B5EF4-FFF2-40B4-BE49-F238E27FC236}">
                <a16:creationId xmlns:a16="http://schemas.microsoft.com/office/drawing/2014/main" id="{B83562AC-B2CD-A11E-6FAE-2E7CA88759F1}"/>
              </a:ext>
            </a:extLst>
          </p:cNvPr>
          <p:cNvSpPr txBox="1"/>
          <p:nvPr/>
        </p:nvSpPr>
        <p:spPr>
          <a:xfrm>
            <a:off x="6823366" y="2819401"/>
            <a:ext cx="4668876" cy="2133600"/>
          </a:xfrm>
          <a:prstGeom prst="rect">
            <a:avLst/>
          </a:prstGeom>
          <a:solidFill>
            <a:srgbClr val="874323"/>
          </a:solidFill>
        </p:spPr>
        <p:txBody>
          <a:bodyPr wrap="square" lIns="0" tIns="0" rIns="0" bIns="0" rtlCol="0">
            <a:noAutofit/>
          </a:bodyPr>
          <a:lstStyle/>
          <a:p>
            <a:pPr algn="ctr">
              <a:lnSpc>
                <a:spcPct val="150000"/>
              </a:lnSpc>
            </a:pPr>
            <a:r>
              <a:rPr lang="en-AU">
                <a:solidFill>
                  <a:schemeClr val="bg1"/>
                </a:solidFill>
              </a:rPr>
              <a:t>Electronic devices = 1.15 kg</a:t>
            </a:r>
          </a:p>
          <a:p>
            <a:pPr algn="ctr">
              <a:lnSpc>
                <a:spcPct val="150000"/>
              </a:lnSpc>
            </a:pPr>
            <a:r>
              <a:rPr lang="en-AU">
                <a:solidFill>
                  <a:schemeClr val="bg1"/>
                </a:solidFill>
              </a:rPr>
              <a:t>Snacks and water bottle = 1.7 kg</a:t>
            </a:r>
          </a:p>
          <a:p>
            <a:pPr algn="ctr">
              <a:lnSpc>
                <a:spcPct val="150000"/>
              </a:lnSpc>
            </a:pPr>
            <a:r>
              <a:rPr lang="en-AU">
                <a:solidFill>
                  <a:schemeClr val="bg1"/>
                </a:solidFill>
              </a:rPr>
              <a:t>Clothes = 2.8 kg</a:t>
            </a:r>
          </a:p>
          <a:p>
            <a:pPr algn="ctr">
              <a:lnSpc>
                <a:spcPct val="150000"/>
              </a:lnSpc>
            </a:pPr>
            <a:r>
              <a:rPr lang="en-AU">
                <a:solidFill>
                  <a:schemeClr val="bg1"/>
                </a:solidFill>
              </a:rPr>
              <a:t>Shoes 1.95 kg</a:t>
            </a:r>
          </a:p>
          <a:p>
            <a:pPr algn="l"/>
            <a:endParaRPr lang="en-AU" sz="1800"/>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5C64DED-56D1-EBBD-FC3A-2AB011A021F4}"/>
              </a:ext>
            </a:extLst>
          </p:cNvPr>
          <p:cNvSpPr txBox="1"/>
          <p:nvPr/>
        </p:nvSpPr>
        <p:spPr>
          <a:xfrm>
            <a:off x="773485" y="1068109"/>
            <a:ext cx="10645029" cy="3441700"/>
          </a:xfrm>
          <a:prstGeom prst="rect">
            <a:avLst/>
          </a:prstGeom>
          <a:noFill/>
        </p:spPr>
        <p:txBody>
          <a:bodyPr wrap="square" lIns="0" tIns="0" rIns="0" bIns="0" rtlCol="0">
            <a:noAutofit/>
          </a:bodyPr>
          <a:lstStyle/>
          <a:p>
            <a:pPr algn="ctr">
              <a:lnSpc>
                <a:spcPct val="150000"/>
              </a:lnSpc>
            </a:pPr>
            <a:r>
              <a:rPr lang="en-AU" sz="4400"/>
              <a:t>Sarah is struggling to read the </a:t>
            </a:r>
            <a:r>
              <a:rPr lang="en-AU" sz="4400" b="1"/>
              <a:t>24-hour </a:t>
            </a:r>
            <a:r>
              <a:rPr lang="en-AU" sz="4400"/>
              <a:t>train schedule and asks her friend to help </a:t>
            </a:r>
            <a:r>
              <a:rPr lang="en-AU" sz="4400" b="1"/>
              <a:t>convert</a:t>
            </a:r>
            <a:r>
              <a:rPr lang="en-AU" sz="4400"/>
              <a:t> the departure time of </a:t>
            </a:r>
            <a:r>
              <a:rPr lang="en-AU" sz="4400" b="1"/>
              <a:t>18:45</a:t>
            </a:r>
            <a:r>
              <a:rPr lang="en-AU" sz="4400"/>
              <a:t> into </a:t>
            </a:r>
            <a:r>
              <a:rPr lang="en-AU" sz="4400" b="1"/>
              <a:t>12-hour format</a:t>
            </a:r>
            <a:r>
              <a:rPr lang="en-AU" sz="4400"/>
              <a:t>. </a:t>
            </a:r>
          </a:p>
          <a:p>
            <a:pPr algn="ctr">
              <a:lnSpc>
                <a:spcPct val="150000"/>
              </a:lnSpc>
            </a:pPr>
            <a:endParaRPr lang="en-AU" sz="2000"/>
          </a:p>
          <a:p>
            <a:pPr algn="ctr">
              <a:lnSpc>
                <a:spcPct val="150000"/>
              </a:lnSpc>
            </a:pPr>
            <a:r>
              <a:rPr lang="en-AU" sz="4400" b="1"/>
              <a:t>Record</a:t>
            </a:r>
            <a:r>
              <a:rPr lang="en-AU" sz="4400"/>
              <a:t> the time her friend should tell her?</a:t>
            </a:r>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efficient calculator use</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descr="Jun and Ali ordered 2 pizzas of the same size. Ali ate 4/5 of a whole pizza and Jun ate 3/(5 ) of a whole pizza. How much pizza is left over?&#10;">
            <a:extLst>
              <a:ext uri="{FF2B5EF4-FFF2-40B4-BE49-F238E27FC236}">
                <a16:creationId xmlns:a16="http://schemas.microsoft.com/office/drawing/2014/main" id="{FD741BBD-6603-FF29-B1C2-DB374F2C2509}"/>
              </a:ext>
            </a:extLst>
          </p:cNvPr>
          <p:cNvSpPr txBox="1"/>
          <p:nvPr/>
        </p:nvSpPr>
        <p:spPr>
          <a:xfrm>
            <a:off x="1076849" y="1976311"/>
            <a:ext cx="10519745" cy="3477875"/>
          </a:xfrm>
          <a:prstGeom prst="rect">
            <a:avLst/>
          </a:prstGeom>
          <a:noFill/>
        </p:spPr>
        <p:txBody>
          <a:bodyPr wrap="square">
            <a:spAutoFit/>
          </a:bodyPr>
          <a:lstStyle/>
          <a:p>
            <a:pPr algn="ctr"/>
            <a:r>
              <a:rPr lang="en-AU" sz="4400">
                <a:solidFill>
                  <a:srgbClr val="000000"/>
                </a:solidFill>
                <a:highlight>
                  <a:srgbClr val="FFFFFF"/>
                </a:highlight>
                <a:latin typeface="Arial" panose="020B0604020202020204" pitchFamily="34" charset="0"/>
                <a:cs typeface="Arial" panose="020B0604020202020204" pitchFamily="34" charset="0"/>
              </a:rPr>
              <a:t>Our school opened in _______.</a:t>
            </a:r>
          </a:p>
          <a:p>
            <a:pPr algn="ctr"/>
            <a:endParaRPr lang="en-AU" sz="4400">
              <a:solidFill>
                <a:srgbClr val="000000"/>
              </a:solidFill>
              <a:highlight>
                <a:srgbClr val="FFFFFF"/>
              </a:highlight>
              <a:latin typeface="Arial" panose="020B0604020202020204" pitchFamily="34" charset="0"/>
              <a:cs typeface="Arial" panose="020B0604020202020204" pitchFamily="34" charset="0"/>
            </a:endParaRPr>
          </a:p>
          <a:p>
            <a:pPr algn="ctr"/>
            <a:endParaRPr lang="en-AU" sz="4400">
              <a:solidFill>
                <a:srgbClr val="000000"/>
              </a:solidFill>
              <a:highlight>
                <a:srgbClr val="FFFFFF"/>
              </a:highlight>
              <a:latin typeface="Arial" panose="020B0604020202020204" pitchFamily="34" charset="0"/>
              <a:cs typeface="Arial" panose="020B0604020202020204" pitchFamily="34" charset="0"/>
            </a:endParaRPr>
          </a:p>
          <a:p>
            <a:pPr algn="ctr"/>
            <a:r>
              <a:rPr lang="en-AU" sz="4400" b="1">
                <a:solidFill>
                  <a:srgbClr val="000000"/>
                </a:solidFill>
                <a:highlight>
                  <a:srgbClr val="FFFFFF"/>
                </a:highlight>
                <a:latin typeface="Arial" panose="020B0604020202020204" pitchFamily="34" charset="0"/>
                <a:cs typeface="Arial" panose="020B0604020202020204" pitchFamily="34" charset="0"/>
              </a:rPr>
              <a:t>Create</a:t>
            </a:r>
            <a:r>
              <a:rPr lang="en-AU" sz="4400">
                <a:solidFill>
                  <a:srgbClr val="000000"/>
                </a:solidFill>
                <a:highlight>
                  <a:srgbClr val="FFFFFF"/>
                </a:highlight>
                <a:latin typeface="Arial" panose="020B0604020202020204" pitchFamily="34" charset="0"/>
                <a:cs typeface="Arial" panose="020B0604020202020204" pitchFamily="34" charset="0"/>
              </a:rPr>
              <a:t> a range of </a:t>
            </a:r>
            <a:r>
              <a:rPr lang="en-AU" sz="4400" b="1">
                <a:solidFill>
                  <a:srgbClr val="000000"/>
                </a:solidFill>
                <a:highlight>
                  <a:srgbClr val="FFFFFF"/>
                </a:highlight>
                <a:latin typeface="Arial" panose="020B0604020202020204" pitchFamily="34" charset="0"/>
                <a:cs typeface="Arial" panose="020B0604020202020204" pitchFamily="34" charset="0"/>
              </a:rPr>
              <a:t>equations</a:t>
            </a:r>
            <a:r>
              <a:rPr lang="en-AU" sz="4400">
                <a:solidFill>
                  <a:srgbClr val="000000"/>
                </a:solidFill>
                <a:highlight>
                  <a:srgbClr val="FFFFFF"/>
                </a:highlight>
                <a:latin typeface="Arial" panose="020B0604020202020204" pitchFamily="34" charset="0"/>
                <a:cs typeface="Arial" panose="020B0604020202020204" pitchFamily="34" charset="0"/>
              </a:rPr>
              <a:t> with the year as the answer.</a:t>
            </a:r>
            <a:endParaRPr lang="en-AU" sz="4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67</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
        <p:nvSpPr>
          <p:cNvPr id="8" name="Content Placeholder 3">
            <a:extLst>
              <a:ext uri="{FF2B5EF4-FFF2-40B4-BE49-F238E27FC236}">
                <a16:creationId xmlns:a16="http://schemas.microsoft.com/office/drawing/2014/main" id="{DCF8D33D-C5A3-28D8-A90D-3133245EC6C7}"/>
              </a:ext>
            </a:extLst>
          </p:cNvPr>
          <p:cNvSpPr txBox="1">
            <a:spLocks/>
          </p:cNvSpPr>
          <p:nvPr/>
        </p:nvSpPr>
        <p:spPr>
          <a:xfrm>
            <a:off x="512400" y="3429000"/>
            <a:ext cx="11484000" cy="2927351"/>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2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2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2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AU" u="sng">
                <a:solidFill>
                  <a:srgbClr val="2F5496"/>
                </a:solidFill>
                <a:latin typeface="Arial" panose="020B0604020202020204" pitchFamily="34" charset="0"/>
                <a:hlinkClick r:id="rId6"/>
              </a:rPr>
              <a:t>Mathematics K–10 Syllabus</a:t>
            </a:r>
            <a:r>
              <a:rPr lang="en-AU">
                <a:solidFill>
                  <a:srgbClr val="000000"/>
                </a:solidFill>
                <a:latin typeface="Arial" panose="020B0604020202020204" pitchFamily="34" charset="0"/>
              </a:rPr>
              <a:t> © NSW Education Standards Authority (NESA) for and on behalf of the Crown in right of the State of New South Wales, 2022. </a:t>
            </a:r>
            <a:endParaRPr lang="en-AU">
              <a:solidFill>
                <a:srgbClr val="000000"/>
              </a:solidFill>
              <a:latin typeface="Segoe UI" panose="020B0502040204020203" pitchFamily="34" charset="0"/>
            </a:endParaRPr>
          </a:p>
          <a:p>
            <a:pPr fontAlgn="base"/>
            <a:r>
              <a:rPr lang="en-AU" u="sng">
                <a:solidFill>
                  <a:srgbClr val="2F5496"/>
                </a:solidFill>
                <a:latin typeface="Arial" panose="020B0604020202020204" pitchFamily="34" charset="0"/>
                <a:hlinkClick r:id="rId7"/>
              </a:rPr>
              <a:t>National Numeracy Learning Progression</a:t>
            </a:r>
            <a:r>
              <a:rPr lang="en-AU">
                <a:solidFill>
                  <a:srgbClr val="000000"/>
                </a:solidFill>
                <a:latin typeface="Arial" panose="020B0604020202020204" pitchFamily="34" charset="0"/>
              </a:rPr>
              <a:t> © Australian Curriculum, Assessment and Reporting Authority (ACARA) 2010 to present, unless otherwise indicated. This material was downloaded from the </a:t>
            </a:r>
            <a:r>
              <a:rPr lang="en-AU" u="sng">
                <a:solidFill>
                  <a:srgbClr val="2F5496"/>
                </a:solidFill>
                <a:latin typeface="Arial" panose="020B0604020202020204" pitchFamily="34" charset="0"/>
                <a:hlinkClick r:id="rId8"/>
              </a:rPr>
              <a:t>Australian Curriculum</a:t>
            </a:r>
            <a:r>
              <a:rPr lang="en-AU">
                <a:solidFill>
                  <a:srgbClr val="000000"/>
                </a:solidFill>
                <a:latin typeface="Arial" panose="020B0604020202020204" pitchFamily="34" charset="0"/>
              </a:rPr>
              <a:t> website (National Numeracy Learning Progression) (accessed 30 September 2025) and was not modified. </a:t>
            </a:r>
            <a:endParaRPr lang="en-AU">
              <a:solidFill>
                <a:srgbClr val="000000"/>
              </a:solidFill>
              <a:latin typeface="Segoe UI" panose="020B0502040204020203" pitchFamily="34" charset="0"/>
            </a:endParaRPr>
          </a:p>
          <a:p>
            <a:pPr fontAlgn="base"/>
            <a:r>
              <a:rPr lang="en-AU">
                <a:solidFill>
                  <a:srgbClr val="000000"/>
                </a:solidFill>
                <a:latin typeface="Arial" panose="020B0604020202020204" pitchFamily="34" charset="0"/>
              </a:rPr>
              <a:t>Amplify Education (2024) </a:t>
            </a:r>
            <a:r>
              <a:rPr lang="en-AU">
                <a:latin typeface="Arial" panose="020B0604020202020204" pitchFamily="34" charset="0"/>
              </a:rPr>
              <a:t>Amplify </a:t>
            </a:r>
            <a:r>
              <a:rPr lang="en-AU" err="1">
                <a:latin typeface="Arial" panose="020B0604020202020204" pitchFamily="34" charset="0"/>
              </a:rPr>
              <a:t>Polypad</a:t>
            </a:r>
            <a:r>
              <a:rPr lang="en-AU">
                <a:latin typeface="Arial" panose="020B0604020202020204" pitchFamily="34" charset="0"/>
              </a:rPr>
              <a:t> – Fraction Bars, Amplify </a:t>
            </a:r>
            <a:r>
              <a:rPr lang="en-AU" err="1">
                <a:latin typeface="Arial" panose="020B0604020202020204" pitchFamily="34" charset="0"/>
              </a:rPr>
              <a:t>Polypad</a:t>
            </a:r>
            <a:r>
              <a:rPr lang="en-AU">
                <a:latin typeface="Arial" panose="020B0604020202020204" pitchFamily="34" charset="0"/>
              </a:rPr>
              <a:t> website, accessed 21 February 2024. </a:t>
            </a:r>
            <a:endParaRPr lang="en-AU">
              <a:latin typeface="Segoe UI" panose="020B0502040204020203" pitchFamily="34" charset="0"/>
            </a:endParaRPr>
          </a:p>
          <a:p>
            <a:pPr fontAlgn="base"/>
            <a:r>
              <a:rPr lang="en-AU" err="1">
                <a:latin typeface="Arial" panose="020B0604020202020204" pitchFamily="34" charset="0"/>
              </a:rPr>
              <a:t>Boaler</a:t>
            </a:r>
            <a:r>
              <a:rPr lang="en-AU">
                <a:latin typeface="Arial" panose="020B0604020202020204" pitchFamily="34" charset="0"/>
              </a:rPr>
              <a:t> J, Munson J and Williams C (2017) Mindset Mathematics: Visualizing and Investigating Big Ideas, Grade 4, Jossey-Bass, New Jersey. </a:t>
            </a:r>
          </a:p>
          <a:p>
            <a:pPr fontAlgn="base"/>
            <a:r>
              <a:rPr lang="en-AU">
                <a:latin typeface="Arial" panose="020B0604020202020204" pitchFamily="34" charset="0"/>
              </a:rPr>
              <a:t>Gojak LM and Miles RH (2018) Your Mathematics Standards Companion, Grades 3–5, Corwin Mathematics and National Council of Teachers of Mathematics, United States of America. </a:t>
            </a:r>
            <a:endParaRPr lang="en-AU">
              <a:latin typeface="Segoe UI" panose="020B0502040204020203" pitchFamily="34" charset="0"/>
            </a:endParaRPr>
          </a:p>
          <a:p>
            <a:pPr fontAlgn="base"/>
            <a:r>
              <a:rPr lang="en-AU">
                <a:latin typeface="Arial" panose="020B0604020202020204" pitchFamily="34" charset="0"/>
              </a:rPr>
              <a:t>Kaplinsky O (2024) Adding fractions to make a whole number, </a:t>
            </a:r>
            <a:r>
              <a:rPr lang="en-AU">
                <a:solidFill>
                  <a:srgbClr val="000000"/>
                </a:solidFill>
                <a:latin typeface="Arial" panose="020B0604020202020204" pitchFamily="34" charset="0"/>
              </a:rPr>
              <a:t>Open Middle website, accessed 30 January 2024. </a:t>
            </a:r>
            <a:endParaRPr lang="en-AU">
              <a:solidFill>
                <a:srgbClr val="000000"/>
              </a:solidFill>
              <a:latin typeface="Segoe UI" panose="020B0502040204020203" pitchFamily="34" charset="0"/>
            </a:endParaRPr>
          </a:p>
          <a:p>
            <a:pPr fontAlgn="base"/>
            <a:endParaRPr lang="en-AU">
              <a:solidFill>
                <a:srgbClr val="000000"/>
              </a:solidFill>
              <a:latin typeface="Segoe UI" panose="020B0502040204020203" pitchFamily="34" charset="0"/>
            </a:endParaRPr>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1024E-7210-2AF7-C97A-AFC793B8451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D8C1FFC-B87E-B527-9F83-D8CA235DED5D}"/>
              </a:ext>
            </a:extLst>
          </p:cNvPr>
          <p:cNvSpPr>
            <a:spLocks noGrp="1"/>
          </p:cNvSpPr>
          <p:nvPr>
            <p:ph type="title"/>
          </p:nvPr>
        </p:nvSpPr>
        <p:spPr/>
        <p:txBody>
          <a:bodyPr/>
          <a:lstStyle/>
          <a:p>
            <a:r>
              <a:rPr lang="en-AU">
                <a:latin typeface="+mj-lt"/>
              </a:rPr>
              <a:t>References </a:t>
            </a:r>
            <a:r>
              <a:rPr lang="en-AU">
                <a:solidFill>
                  <a:schemeClr val="accent4"/>
                </a:solidFill>
                <a:latin typeface="+mj-lt"/>
              </a:rPr>
              <a:t>(2)</a:t>
            </a:r>
          </a:p>
        </p:txBody>
      </p:sp>
      <p:sp>
        <p:nvSpPr>
          <p:cNvPr id="6" name="TextBox 5">
            <a:extLst>
              <a:ext uri="{FF2B5EF4-FFF2-40B4-BE49-F238E27FC236}">
                <a16:creationId xmlns:a16="http://schemas.microsoft.com/office/drawing/2014/main" id="{674543C8-08DE-E4D9-5F7E-9BA25CFCD695}"/>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2" name="Slide Number Placeholder 1">
            <a:extLst>
              <a:ext uri="{FF2B5EF4-FFF2-40B4-BE49-F238E27FC236}">
                <a16:creationId xmlns:a16="http://schemas.microsoft.com/office/drawing/2014/main" id="{944E5D8F-A1C1-7A7E-0A33-5A5A272BDFC1}"/>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69</a:t>
            </a:fld>
            <a:endParaRPr lang="en-AU"/>
          </a:p>
        </p:txBody>
      </p:sp>
      <p:sp>
        <p:nvSpPr>
          <p:cNvPr id="4" name="Content Placeholder 3">
            <a:extLst>
              <a:ext uri="{FF2B5EF4-FFF2-40B4-BE49-F238E27FC236}">
                <a16:creationId xmlns:a16="http://schemas.microsoft.com/office/drawing/2014/main" id="{298BAD77-6CF6-F9AE-5A1B-9DB5EFB4F772}"/>
              </a:ext>
            </a:extLst>
          </p:cNvPr>
          <p:cNvSpPr>
            <a:spLocks noGrp="1"/>
          </p:cNvSpPr>
          <p:nvPr>
            <p:ph idx="1"/>
          </p:nvPr>
        </p:nvSpPr>
        <p:spPr>
          <a:xfrm>
            <a:off x="360000" y="3428999"/>
            <a:ext cx="11484000" cy="2927351"/>
          </a:xfrm>
        </p:spPr>
        <p:txBody>
          <a:bodyPr/>
          <a:lstStyle/>
          <a:p>
            <a:pPr marL="0" marR="0" lvl="0" indent="0" algn="l" defTabSz="914377" rtl="0" eaLnBrk="1" fontAlgn="base" latinLnBrk="0" hangingPunct="1">
              <a:lnSpc>
                <a:spcPct val="150000"/>
              </a:lnSpc>
              <a:spcBef>
                <a:spcPts val="0"/>
              </a:spcBef>
              <a:spcAft>
                <a:spcPts val="1200"/>
              </a:spcAft>
              <a:buClrTx/>
              <a:buSzTx/>
              <a:buFont typeface="Arial" panose="020B0604020202020204" pitchFamily="34" charset="0"/>
              <a:buNone/>
              <a:tabLst/>
              <a:defRPr/>
            </a:pPr>
            <a:r>
              <a:rPr kumimoji="0" lang="en-AU" sz="1200" b="0" strike="noStrike" kern="1200" cap="none" spc="0" normalizeH="0" baseline="0" noProof="0">
                <a:ln>
                  <a:noFill/>
                </a:ln>
                <a:effectLst/>
                <a:uLnTx/>
                <a:uFillTx/>
                <a:latin typeface="Arial" panose="020B0604020202020204" pitchFamily="34" charset="0"/>
                <a:ea typeface="+mn-ea"/>
                <a:cs typeface="Arial" panose="020B0604020202020204" pitchFamily="34" charset="0"/>
              </a:rPr>
              <a:t>Kaplinsky R (2024) Subtracting Fractions, Open Middle website, accessed 30 January 2024. </a:t>
            </a:r>
            <a:endParaRPr kumimoji="0" lang="en-AU" sz="1200" b="0" strike="noStrike" kern="1200" cap="none" spc="0" normalizeH="0" baseline="0" noProof="0">
              <a:ln>
                <a:noFill/>
              </a:ln>
              <a:effectLst/>
              <a:uLnTx/>
              <a:uFillTx/>
              <a:latin typeface="Segoe UI" panose="020B0502040204020203" pitchFamily="34" charset="0"/>
              <a:ea typeface="+mn-ea"/>
              <a:cs typeface="Arial" panose="020B0604020202020204" pitchFamily="34" charset="0"/>
            </a:endParaRPr>
          </a:p>
          <a:p>
            <a:pPr marL="0" marR="0" lvl="0" indent="0" algn="l" defTabSz="914377" rtl="0" eaLnBrk="1" fontAlgn="base" latinLnBrk="0" hangingPunct="1">
              <a:lnSpc>
                <a:spcPct val="150000"/>
              </a:lnSpc>
              <a:spcBef>
                <a:spcPts val="0"/>
              </a:spcBef>
              <a:spcAft>
                <a:spcPts val="1200"/>
              </a:spcAft>
              <a:buClrTx/>
              <a:buSzTx/>
              <a:buFont typeface="Arial" panose="020B0604020202020204" pitchFamily="34" charset="0"/>
              <a:buNone/>
              <a:tabLst/>
              <a:defRPr/>
            </a:pPr>
            <a:r>
              <a:rPr kumimoji="0" lang="en-AU" sz="1200" b="0" strike="noStrike" kern="1200" cap="none" spc="0" normalizeH="0" baseline="0" noProof="0">
                <a:ln>
                  <a:noFill/>
                </a:ln>
                <a:effectLst/>
                <a:uLnTx/>
                <a:uFillTx/>
                <a:latin typeface="Arial" panose="020B0604020202020204" pitchFamily="34" charset="0"/>
                <a:ea typeface="+mn-ea"/>
                <a:cs typeface="Arial" panose="020B0604020202020204" pitchFamily="34" charset="0"/>
              </a:rPr>
              <a:t>Kersaint G (2021) 100 questions that promote mathematical discourse, Curriculum Associates, LLC website, accessed 30 January 2024. </a:t>
            </a:r>
          </a:p>
          <a:p>
            <a:pPr algn="l" rtl="0" fontAlgn="base"/>
            <a:r>
              <a:rPr lang="en-AU" sz="1200" b="0">
                <a:effectLst/>
                <a:latin typeface="Arial" panose="020B0604020202020204" pitchFamily="34" charset="0"/>
              </a:rPr>
              <a:t>Lenchner G (2022) Creative Problem Solving in School Mathematics: A handbook for teachers, parents and students, Australasian Problem Solving Mathematical Olympiads (APSMO), NSW, Australia. </a:t>
            </a:r>
            <a:endParaRPr lang="en-AU" b="0">
              <a:effectLst/>
              <a:latin typeface="Segoe UI" panose="020B0502040204020203" pitchFamily="34" charset="0"/>
            </a:endParaRPr>
          </a:p>
          <a:p>
            <a:pPr algn="l" rtl="0" fontAlgn="base"/>
            <a:r>
              <a:rPr lang="en-AU" sz="1200" b="0">
                <a:effectLst/>
                <a:latin typeface="Arial" panose="020B0604020202020204" pitchFamily="34" charset="0"/>
              </a:rPr>
              <a:t>Sullivan P (2021) Building Engagement for Middle Years Mathematics: Learning sequences for mixed-ability classrooms, Oxford University Press Australia and New Zealand. </a:t>
            </a:r>
            <a:endParaRPr lang="en-AU" b="0">
              <a:effectLst/>
              <a:latin typeface="Segoe UI" panose="020B0502040204020203" pitchFamily="34" charset="0"/>
            </a:endParaRPr>
          </a:p>
          <a:p>
            <a:pPr algn="l" rtl="0" fontAlgn="base"/>
            <a:r>
              <a:rPr lang="en-AU" sz="1200" b="0">
                <a:effectLst/>
                <a:latin typeface="Arial" panose="020B0604020202020204" pitchFamily="34" charset="0"/>
              </a:rPr>
              <a:t>University of Cambridge (n.d.) </a:t>
            </a:r>
            <a:r>
              <a:rPr lang="en-AU" sz="1200" b="0" strike="noStrike">
                <a:effectLst/>
                <a:latin typeface="Arial" panose="020B0604020202020204" pitchFamily="34" charset="0"/>
              </a:rPr>
              <a:t>Dicey Operations in Line</a:t>
            </a:r>
            <a:r>
              <a:rPr lang="en-AU" sz="1200" b="0">
                <a:effectLst/>
                <a:latin typeface="Arial" panose="020B0604020202020204" pitchFamily="34" charset="0"/>
              </a:rPr>
              <a:t>, NRICH website, accessed 30 January 2024. </a:t>
            </a:r>
            <a:endParaRPr lang="en-AU" b="0">
              <a:effectLst/>
              <a:latin typeface="Segoe UI" panose="020B0502040204020203" pitchFamily="34" charset="0"/>
            </a:endParaRPr>
          </a:p>
          <a:p>
            <a:pPr algn="l" rtl="0" fontAlgn="base"/>
            <a:r>
              <a:rPr lang="en-AU" sz="1200" b="0">
                <a:effectLst/>
                <a:latin typeface="Arial" panose="020B0604020202020204" pitchFamily="34" charset="0"/>
              </a:rPr>
              <a:t>University of Cambridge (n.d.) </a:t>
            </a:r>
            <a:r>
              <a:rPr lang="en-AU" sz="1200" b="0" strike="noStrike">
                <a:effectLst/>
                <a:latin typeface="Arial" panose="020B0604020202020204" pitchFamily="34" charset="0"/>
              </a:rPr>
              <a:t>Fractional Wall</a:t>
            </a:r>
            <a:r>
              <a:rPr lang="en-AU" sz="1200" b="0">
                <a:effectLst/>
                <a:latin typeface="Arial" panose="020B0604020202020204" pitchFamily="34" charset="0"/>
              </a:rPr>
              <a:t>, NRICH website, accessed 30 January 2024. </a:t>
            </a:r>
            <a:endParaRPr lang="en-AU" b="0">
              <a:effectLst/>
              <a:latin typeface="Segoe UI" panose="020B0502040204020203" pitchFamily="34" charset="0"/>
            </a:endParaRPr>
          </a:p>
          <a:p>
            <a:pPr algn="l" rtl="0" fontAlgn="base"/>
            <a:r>
              <a:rPr lang="en-AU" sz="1200" b="0">
                <a:effectLst/>
                <a:latin typeface="Arial" panose="020B0604020202020204" pitchFamily="34" charset="0"/>
              </a:rPr>
              <a:t>University of Cambridge (n.d.) </a:t>
            </a:r>
            <a:r>
              <a:rPr lang="en-AU" sz="1200" b="0" strike="noStrike">
                <a:effectLst/>
                <a:latin typeface="Arial" panose="020B0604020202020204" pitchFamily="34" charset="0"/>
              </a:rPr>
              <a:t>Fractions in a Box</a:t>
            </a:r>
            <a:r>
              <a:rPr lang="en-AU" sz="1200" b="0">
                <a:effectLst/>
                <a:latin typeface="Arial" panose="020B0604020202020204" pitchFamily="34" charset="0"/>
              </a:rPr>
              <a:t>, NRICH website, accessed 30 January 2024. </a:t>
            </a:r>
            <a:endParaRPr lang="en-AU" b="0">
              <a:effectLst/>
              <a:latin typeface="Segoe UI" panose="020B0502040204020203" pitchFamily="34" charset="0"/>
            </a:endParaRPr>
          </a:p>
          <a:p>
            <a:pPr marL="0" marR="0" lvl="0" indent="0" algn="l" defTabSz="914377" rtl="0" eaLnBrk="1" fontAlgn="base" latinLnBrk="0" hangingPunct="1">
              <a:lnSpc>
                <a:spcPct val="150000"/>
              </a:lnSpc>
              <a:spcBef>
                <a:spcPts val="0"/>
              </a:spcBef>
              <a:spcAft>
                <a:spcPts val="1200"/>
              </a:spcAft>
              <a:buClrTx/>
              <a:buSzTx/>
              <a:buFont typeface="Arial" panose="020B0604020202020204" pitchFamily="34" charset="0"/>
              <a:buNone/>
              <a:tabLst/>
              <a:defRPr/>
            </a:pPr>
            <a:endParaRPr kumimoji="0" lang="en-AU"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377" rtl="0" eaLnBrk="1" fontAlgn="base" latinLnBrk="0" hangingPunct="1">
              <a:lnSpc>
                <a:spcPct val="150000"/>
              </a:lnSpc>
              <a:spcBef>
                <a:spcPts val="0"/>
              </a:spcBef>
              <a:spcAft>
                <a:spcPts val="1200"/>
              </a:spcAft>
              <a:buClrTx/>
              <a:buSzTx/>
              <a:buFont typeface="Arial" panose="020B0604020202020204" pitchFamily="34" charset="0"/>
              <a:buNone/>
              <a:tabLst/>
              <a:defRPr/>
            </a:pPr>
            <a:endParaRPr kumimoji="0" lang="en-AU"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377" rtl="0" eaLnBrk="1" fontAlgn="base" latinLnBrk="0" hangingPunct="1">
              <a:lnSpc>
                <a:spcPct val="150000"/>
              </a:lnSpc>
              <a:spcBef>
                <a:spcPts val="0"/>
              </a:spcBef>
              <a:spcAft>
                <a:spcPts val="1200"/>
              </a:spcAft>
              <a:buClrTx/>
              <a:buSzTx/>
              <a:buFont typeface="Arial" panose="020B0604020202020204" pitchFamily="34" charset="0"/>
              <a:buNone/>
              <a:tabLst/>
              <a:defRPr/>
            </a:pPr>
            <a:endParaRPr kumimoji="0" lang="en-AU" sz="120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endParaRPr>
          </a:p>
        </p:txBody>
      </p:sp>
    </p:spTree>
    <p:extLst>
      <p:ext uri="{BB962C8B-B14F-4D97-AF65-F5344CB8AC3E}">
        <p14:creationId xmlns:p14="http://schemas.microsoft.com/office/powerpoint/2010/main" val="2718526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c91fdd3e284047c3db16c369a1d39c66">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412f8ac8e43c8402a44260f543b0aa7c"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35947D-D0B2-4489-98FA-B4623FFAA7D1}"/>
</file>

<file path=customXml/itemProps2.xml><?xml version="1.0" encoding="utf-8"?>
<ds:datastoreItem xmlns:ds="http://schemas.openxmlformats.org/officeDocument/2006/customXml" ds:itemID="{92A79ED5-3D27-435D-B83C-BD2537F20B0A}">
  <ds:schemaRefs>
    <ds:schemaRef ds:uri="60129b06-f64b-40a8-96e2-c5b2f86112b1"/>
    <ds:schemaRef ds:uri="http://schemas.microsoft.com/office/2006/documentManagement/types"/>
    <ds:schemaRef ds:uri="http://purl.org/dc/dcmitype/"/>
    <ds:schemaRef ds:uri="http://www.w3.org/XML/1998/namespace"/>
    <ds:schemaRef ds:uri="http://purl.org/dc/elements/1.1/"/>
    <ds:schemaRef ds:uri="http://purl.org/dc/terms/"/>
    <ds:schemaRef ds:uri="http://schemas.microsoft.com/office/2006/metadata/properties"/>
    <ds:schemaRef ds:uri="7e763d47-3c66-4c58-9425-1477fd3ccd1e"/>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1E00DA3D-9F99-458E-9DAB-0CE3DD324CE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student-facing-primary-template-2025-v1-5</Template>
  <TotalTime>1</TotalTime>
  <Words>6581</Words>
  <Application>Microsoft Office PowerPoint</Application>
  <PresentationFormat>Widescreen</PresentationFormat>
  <Paragraphs>792</Paragraphs>
  <Slides>70</Slides>
  <Notes>70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70</vt:i4>
      </vt:variant>
    </vt:vector>
  </HeadingPairs>
  <TitlesOfParts>
    <vt:vector size="80" baseType="lpstr">
      <vt:lpstr>Montserrat</vt:lpstr>
      <vt:lpstr>Public Sans</vt:lpstr>
      <vt:lpstr>Public Sans Light</vt:lpstr>
      <vt:lpstr>Wingdings</vt:lpstr>
      <vt:lpstr>Arial</vt:lpstr>
      <vt:lpstr>Times New Roman</vt:lpstr>
      <vt:lpstr>Segoe UI</vt:lpstr>
      <vt:lpstr>Calibri</vt:lpstr>
      <vt:lpstr>Cambria Math</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compare and represent fractions (1)</vt:lpstr>
      <vt:lpstr>Activity 1 – compare and represent fractions (2)</vt:lpstr>
      <vt:lpstr>Review of learning 2</vt:lpstr>
      <vt:lpstr>True or false (1)</vt:lpstr>
      <vt:lpstr>Short response (5)</vt:lpstr>
      <vt:lpstr>Short response (6)</vt:lpstr>
      <vt:lpstr>Short response (7)</vt:lpstr>
      <vt:lpstr>Short response (8)</vt:lpstr>
      <vt:lpstr>Activity 2 – ordering fractions</vt:lpstr>
      <vt:lpstr>Review of learning 3</vt:lpstr>
      <vt:lpstr>Multiple choice (2)</vt:lpstr>
      <vt:lpstr>Short response (9)</vt:lpstr>
      <vt:lpstr>Short response (10)</vt:lpstr>
      <vt:lpstr>Short response (11)</vt:lpstr>
      <vt:lpstr>Short response (12)</vt:lpstr>
      <vt:lpstr>Activity 3 – equivalent fractions</vt:lpstr>
      <vt:lpstr>Review of learning 4</vt:lpstr>
      <vt:lpstr>True or false (2)</vt:lpstr>
      <vt:lpstr>Short response (13)</vt:lpstr>
      <vt:lpstr>Short response (14)</vt:lpstr>
      <vt:lpstr>Short response (15)</vt:lpstr>
      <vt:lpstr>Short response (16)</vt:lpstr>
      <vt:lpstr>Activity 4 – area model and fractions</vt:lpstr>
      <vt:lpstr>Review of learning 5</vt:lpstr>
      <vt:lpstr>Multiple choice (3)</vt:lpstr>
      <vt:lpstr>Short response (17)</vt:lpstr>
      <vt:lpstr>Short response (18)</vt:lpstr>
      <vt:lpstr>Short response (19)</vt:lpstr>
      <vt:lpstr>Short response (20)</vt:lpstr>
      <vt:lpstr>Activity 5 – addition strategies </vt:lpstr>
      <vt:lpstr>Review of learning 6</vt:lpstr>
      <vt:lpstr>True or false (3)</vt:lpstr>
      <vt:lpstr>Short response (21)</vt:lpstr>
      <vt:lpstr>Short response (22)</vt:lpstr>
      <vt:lpstr>Short response (23)</vt:lpstr>
      <vt:lpstr>Short response (24)</vt:lpstr>
      <vt:lpstr>Activity 6 – subtraction strategies</vt:lpstr>
      <vt:lpstr>Review of learning 7</vt:lpstr>
      <vt:lpstr>Multiple choice (4)</vt:lpstr>
      <vt:lpstr>Short response (25)</vt:lpstr>
      <vt:lpstr>Short response (26)</vt:lpstr>
      <vt:lpstr>Short response (27)</vt:lpstr>
      <vt:lpstr>Short response (28)</vt:lpstr>
      <vt:lpstr>Activity 7 – addition and subtraction strategies</vt:lpstr>
      <vt:lpstr>Review of learning 8</vt:lpstr>
      <vt:lpstr>True or false (4)</vt:lpstr>
      <vt:lpstr>Short response (29)</vt:lpstr>
      <vt:lpstr>Short response (30)</vt:lpstr>
      <vt:lpstr>Short response (31)</vt:lpstr>
      <vt:lpstr>Short response (32)</vt:lpstr>
      <vt:lpstr>Activity 8 – efficient calculator use</vt:lpstr>
      <vt:lpstr>Double Venn diagram</vt:lpstr>
      <vt:lpstr>Frayer</vt:lpstr>
      <vt:lpstr>Spider map</vt:lpstr>
      <vt:lpstr>Cline</vt:lpstr>
      <vt:lpstr>Compare and contrast</vt:lpstr>
      <vt:lpstr>Multiple choice (5)</vt:lpstr>
      <vt:lpstr>Multiple choice (6)</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2025-08-01T06:37:50Z</dcterms:created>
  <dcterms:modified xsi:type="dcterms:W3CDTF">2025-12-01T01:47:49Z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