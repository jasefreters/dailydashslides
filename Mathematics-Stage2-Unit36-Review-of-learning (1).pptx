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26511" r:id="rId5"/>
    <p:sldId id="26505" r:id="rId6"/>
    <p:sldId id="26359" r:id="rId7"/>
    <p:sldId id="271" r:id="rId8"/>
    <p:sldId id="26510" r:id="rId9"/>
    <p:sldId id="26508" r:id="rId10"/>
    <p:sldId id="26524" r:id="rId11"/>
    <p:sldId id="26525" r:id="rId12"/>
    <p:sldId id="26519" r:id="rId13"/>
    <p:sldId id="26397" r:id="rId14"/>
    <p:sldId id="26512" r:id="rId15"/>
    <p:sldId id="26509" r:id="rId16"/>
    <p:sldId id="26523" r:id="rId17"/>
    <p:sldId id="26578" r:id="rId18"/>
    <p:sldId id="26530" r:id="rId19"/>
    <p:sldId id="26531" r:id="rId20"/>
    <p:sldId id="26571" r:id="rId21"/>
    <p:sldId id="26513" r:id="rId22"/>
    <p:sldId id="26534" r:id="rId23"/>
    <p:sldId id="26535" r:id="rId24"/>
    <p:sldId id="26528" r:id="rId25"/>
    <p:sldId id="26537" r:id="rId26"/>
    <p:sldId id="26536" r:id="rId27"/>
    <p:sldId id="26410" r:id="rId28"/>
    <p:sldId id="26514" r:id="rId29"/>
    <p:sldId id="26539" r:id="rId30"/>
    <p:sldId id="26540" r:id="rId31"/>
    <p:sldId id="26541" r:id="rId32"/>
    <p:sldId id="26542" r:id="rId33"/>
    <p:sldId id="26543" r:id="rId34"/>
    <p:sldId id="26572" r:id="rId35"/>
    <p:sldId id="26515" r:id="rId36"/>
    <p:sldId id="26507" r:id="rId37"/>
    <p:sldId id="26546" r:id="rId38"/>
    <p:sldId id="26547" r:id="rId39"/>
    <p:sldId id="26548" r:id="rId40"/>
    <p:sldId id="26549" r:id="rId41"/>
    <p:sldId id="26573" r:id="rId42"/>
    <p:sldId id="26516" r:id="rId43"/>
    <p:sldId id="26550" r:id="rId44"/>
    <p:sldId id="26553" r:id="rId45"/>
    <p:sldId id="26554" r:id="rId46"/>
    <p:sldId id="26555" r:id="rId47"/>
    <p:sldId id="26556" r:id="rId48"/>
    <p:sldId id="26574" r:id="rId49"/>
    <p:sldId id="26517" r:id="rId50"/>
    <p:sldId id="26559" r:id="rId51"/>
    <p:sldId id="26577" r:id="rId52"/>
    <p:sldId id="26561" r:id="rId53"/>
    <p:sldId id="26562" r:id="rId54"/>
    <p:sldId id="26563" r:id="rId55"/>
    <p:sldId id="26575" r:id="rId56"/>
    <p:sldId id="26518" r:id="rId57"/>
    <p:sldId id="26564" r:id="rId58"/>
    <p:sldId id="26560" r:id="rId59"/>
    <p:sldId id="26565" r:id="rId60"/>
    <p:sldId id="26567" r:id="rId61"/>
    <p:sldId id="26566" r:id="rId62"/>
    <p:sldId id="26576" r:id="rId63"/>
    <p:sldId id="26393" r:id="rId64"/>
    <p:sldId id="26387" r:id="rId65"/>
    <p:sldId id="26395" r:id="rId66"/>
    <p:sldId id="26391" r:id="rId67"/>
    <p:sldId id="26402" r:id="rId68"/>
    <p:sldId id="26527" r:id="rId69"/>
    <p:sldId id="26545" r:id="rId70"/>
    <p:sldId id="26569" r:id="rId71"/>
    <p:sldId id="26570" r:id="rId72"/>
    <p:sldId id="361" r:id="rId73"/>
  </p:sldIdLst>
  <p:sldSz cx="12192000" cy="6858000"/>
  <p:notesSz cx="6858000" cy="9144000"/>
  <p:embeddedFontLst>
    <p:embeddedFont>
      <p:font typeface="Cambria Math" panose="02040503050406030204" pitchFamily="18" charset="0"/>
      <p:regular r:id="rId76"/>
    </p:embeddedFont>
    <p:embeddedFont>
      <p:font typeface="Montserrat" panose="00000500000000000000" pitchFamily="2" charset="0"/>
      <p:regular r:id="rId77"/>
      <p:bold r:id="rId78"/>
      <p:italic r:id="rId79"/>
      <p:boldItalic r:id="rId80"/>
    </p:embeddedFont>
    <p:embeddedFont>
      <p:font typeface="Public Sans" pitchFamily="2" charset="0"/>
      <p:regular r:id="rId81"/>
      <p:bold r:id="rId82"/>
      <p:italic r:id="rId83"/>
      <p:boldItalic r:id="rId84"/>
    </p:embeddedFont>
    <p:embeddedFont>
      <p:font typeface="Public Sans Light" pitchFamily="2" charset="0"/>
      <p:regular r:id="rId85"/>
      <p:italic r:id="rId86"/>
    </p:embeddedFont>
    <p:embeddedFont>
      <p:font typeface="Segoe UI" panose="020B0502040204020203" pitchFamily="34" charset="0"/>
      <p:regular r:id="rId87"/>
      <p:bold r:id="rId88"/>
      <p:italic r:id="rId89"/>
      <p:boldItalic r:id="rId90"/>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10"/>
            <p14:sldId id="26508"/>
            <p14:sldId id="26524"/>
            <p14:sldId id="26525"/>
            <p14:sldId id="26519"/>
            <p14:sldId id="26397"/>
            <p14:sldId id="26512"/>
            <p14:sldId id="26509"/>
            <p14:sldId id="26523"/>
            <p14:sldId id="26578"/>
            <p14:sldId id="26530"/>
            <p14:sldId id="26531"/>
            <p14:sldId id="26571"/>
            <p14:sldId id="26513"/>
            <p14:sldId id="26534"/>
            <p14:sldId id="26535"/>
            <p14:sldId id="26528"/>
            <p14:sldId id="26537"/>
            <p14:sldId id="26536"/>
            <p14:sldId id="26410"/>
            <p14:sldId id="26514"/>
            <p14:sldId id="26539"/>
            <p14:sldId id="26540"/>
            <p14:sldId id="26541"/>
            <p14:sldId id="26542"/>
            <p14:sldId id="26543"/>
            <p14:sldId id="26572"/>
            <p14:sldId id="26515"/>
            <p14:sldId id="26507"/>
            <p14:sldId id="26546"/>
            <p14:sldId id="26547"/>
            <p14:sldId id="26548"/>
            <p14:sldId id="26549"/>
            <p14:sldId id="26573"/>
            <p14:sldId id="26516"/>
            <p14:sldId id="26550"/>
            <p14:sldId id="26553"/>
            <p14:sldId id="26554"/>
            <p14:sldId id="26555"/>
            <p14:sldId id="26556"/>
            <p14:sldId id="26574"/>
            <p14:sldId id="26517"/>
            <p14:sldId id="26559"/>
            <p14:sldId id="26577"/>
            <p14:sldId id="26561"/>
            <p14:sldId id="26562"/>
            <p14:sldId id="26563"/>
            <p14:sldId id="26575"/>
            <p14:sldId id="26518"/>
            <p14:sldId id="26564"/>
            <p14:sldId id="26560"/>
            <p14:sldId id="26565"/>
            <p14:sldId id="26567"/>
            <p14:sldId id="26566"/>
            <p14:sldId id="26576"/>
          </p14:sldIdLst>
        </p14:section>
        <p14:section name="Assets for teachers to create own reviews" id="{B34D4845-1648-47D4-8425-80AB1DA6C5AA}">
          <p14:sldIdLst>
            <p14:sldId id="26393"/>
            <p14:sldId id="26387"/>
            <p14:sldId id="26395"/>
            <p14:sldId id="26391"/>
            <p14:sldId id="26402"/>
            <p14:sldId id="26527"/>
            <p14:sldId id="26545"/>
          </p14:sldIdLst>
        </p14:section>
        <p14:section name="References &amp; copyright" id="{706B4278-60E0-4CC1-9C14-95F9DE283CC3}">
          <p14:sldIdLst>
            <p14:sldId id="26569"/>
            <p14:sldId id="2657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76652228-BA2A-8E0F-B69D-752F252CA8C9}" name="Carolyn Matthews" initials="CM" userId="S::Carolyn.Matthews2@det.nsw.edu.au::7f53049a-bf0f-477a-aa49-60e3a8d71d98" providerId="AD"/>
  <p188:author id="{38A50444-57C2-0ED5-4EF0-B001B3687B58}" name="Nadia Walker" initials="NW" userId="S::Nadia.Walker2@det.nsw.edu.au::1d1c495c-8f87-451e-994f-64d576866b6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3FDA68B6-B52B-FE76-39D1-E268A1C28951}" name="Phil HOLLINS (Phil Hollins)" initials="PH" userId="S::philip.hollins@det.nsw.edu.au::2b9063ba-35fe-4c7f-aa4d-5bf1098ac266" providerId="AD"/>
  <p188:author id="{EB0CFDCC-08A1-9074-770E-495A3601BA1E}" name="Erin Grassedonio" initials="EG" userId="S::Erin.Grassedonio@det.nsw.edu.au::f14128a2-caca-48df-bd38-2aa49a1abe0e"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6CFD"/>
    <a:srgbClr val="000000"/>
    <a:srgbClr val="FFFFFF"/>
    <a:srgbClr val="002664"/>
    <a:srgbClr val="EA9B0C"/>
    <a:srgbClr val="007A8A"/>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0D404C-2F58-4D98-B791-E484AEFE37BD}" v="5" dt="2025-08-02T07:55:33.058"/>
    <p1510:client id="{C6D3C874-252C-4620-A1EF-B4BF5E00C3B9}" v="15" dt="2025-08-02T03:21:27.353"/>
    <p1510:client id="{E6099237-9AD9-F099-C7CA-65B28C971D03}" v="25" dt="2025-08-02T03:07:13.424"/>
    <p1510:client id="{FF167F3F-C378-6388-174E-5ED062BBF3B7}" v="13" dt="2025-08-02T23:15:11.520"/>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79" autoAdjust="0"/>
    <p:restoredTop sz="55996" autoAdjust="0"/>
  </p:normalViewPr>
  <p:slideViewPr>
    <p:cSldViewPr snapToGrid="0">
      <p:cViewPr varScale="1">
        <p:scale>
          <a:sx n="54" d="100"/>
          <a:sy n="54" d="100"/>
        </p:scale>
        <p:origin x="1900" y="56"/>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font" Target="fonts/font14.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font" Target="fonts/font15.fntdata"/><Relationship Id="rId95" Type="http://schemas.microsoft.com/office/2015/10/relationships/revisionInfo" Target="revisionInfo.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9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presProps" Target="presProps.xml"/><Relationship Id="rId9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4/08/2025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4/08/2025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toytheater.com/fraction-strip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dirty="0">
              <a:solidFill>
                <a:srgbClr val="444444"/>
              </a:solidFill>
              <a:latin typeface="Arial"/>
              <a:cs typeface="Arial"/>
            </a:endParaRPr>
          </a:p>
          <a:p>
            <a:endParaRPr lang="en-AU" dirty="0">
              <a:solidFill>
                <a:srgbClr val="000000"/>
              </a:solidFill>
            </a:endParaRPr>
          </a:p>
          <a:p>
            <a:r>
              <a:rPr lang="en-AU" dirty="0">
                <a:solidFill>
                  <a:srgbClr val="000000"/>
                </a:solidFill>
                <a:latin typeface="Arial"/>
                <a:cs typeface="Arial"/>
              </a:rPr>
              <a:t>This Review of Learning slide deck revisits key concepts from the following units:</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B Unit 36</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B Unit 35</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B Unit 34</a:t>
            </a:r>
            <a:endParaRPr lang="en-US" dirty="0">
              <a:solidFill>
                <a:srgbClr val="444444"/>
              </a:solidFill>
              <a:latin typeface="Arial"/>
              <a:cs typeface="Arial"/>
            </a:endParaRPr>
          </a:p>
          <a:p>
            <a:r>
              <a:rPr lang="en-AU" dirty="0">
                <a:solidFill>
                  <a:srgbClr val="000000"/>
                </a:solidFill>
                <a:latin typeface="Arial"/>
                <a:cs typeface="Arial"/>
              </a:rPr>
              <a:t>It also includes opportunities to review prior learning in non-number content, supporting consolidation across focus areas.</a:t>
            </a:r>
            <a:endParaRPr lang="en-US" dirty="0">
              <a:solidFill>
                <a:srgbClr val="444444"/>
              </a:solidFill>
              <a:latin typeface="Arial"/>
              <a:cs typeface="Arial"/>
            </a:endParaRPr>
          </a:p>
          <a:p>
            <a:endParaRPr lang="en-AU" dirty="0">
              <a:solidFill>
                <a:srgbClr val="444444"/>
              </a:solidFill>
            </a:endParaRPr>
          </a:p>
          <a:p>
            <a:r>
              <a:rPr lang="en-AU" dirty="0">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dirty="0">
              <a:solidFill>
                <a:srgbClr val="444444"/>
              </a:solidFill>
              <a:latin typeface="Arial"/>
              <a:cs typeface="Arial"/>
            </a:endParaRPr>
          </a:p>
          <a:p>
            <a:endParaRPr lang="en-AU" dirty="0">
              <a:solidFill>
                <a:srgbClr val="444444"/>
              </a:solidFill>
            </a:endParaRPr>
          </a:p>
          <a:p>
            <a:pPr>
              <a:defRPr/>
            </a:pPr>
            <a:r>
              <a:rPr lang="en-AU" dirty="0">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dirty="0">
                <a:latin typeface="Arial"/>
                <a:cs typeface="Arial"/>
              </a:rPr>
              <a:t>Multiple-choice questions/True or false:</a:t>
            </a:r>
            <a:r>
              <a:rPr lang="en-AU" dirty="0">
                <a:latin typeface="Arial"/>
                <a:cs typeface="Arial"/>
              </a:rPr>
              <a:t> Designed to promote active retrieval of key concepts and identify common misconceptions in number, supporting consolidation, understanding and fluency.</a:t>
            </a:r>
            <a:br>
              <a:rPr lang="en-AU" dirty="0">
                <a:latin typeface="Arial"/>
                <a:cs typeface="Arial"/>
              </a:rPr>
            </a:br>
            <a:r>
              <a:rPr lang="en-AU" sz="1600" b="0" i="0" dirty="0">
                <a:solidFill>
                  <a:schemeClr val="tx1"/>
                </a:solidFill>
                <a:latin typeface="Arial"/>
                <a:cs typeface="Arial"/>
              </a:rPr>
              <a:t>These questions:</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dirty="0">
                <a:solidFill>
                  <a:schemeClr val="tx1"/>
                </a:solidFill>
                <a:latin typeface="Arial"/>
                <a:cs typeface="Arial"/>
              </a:rPr>
              <a:t>support spaced and interleaved practice</a:t>
            </a:r>
          </a:p>
          <a:p>
            <a:pPr marL="285750" indent="-285750" algn="l">
              <a:buFont typeface="Wingdings"/>
              <a:buChar char="ü"/>
            </a:pPr>
            <a:r>
              <a:rPr lang="en-AU" sz="1600" b="0" i="0" dirty="0">
                <a:solidFill>
                  <a:schemeClr val="tx1"/>
                </a:solidFill>
                <a:latin typeface="Arial"/>
                <a:cs typeface="Arial"/>
              </a:rPr>
              <a:t>help identify and address common misconceptions </a:t>
            </a:r>
          </a:p>
          <a:p>
            <a:pPr marL="285750" indent="-285750" algn="l">
              <a:buFont typeface="Wingdings"/>
              <a:buChar char="ü"/>
            </a:pPr>
            <a:r>
              <a:rPr lang="en-AU" sz="1600" b="0" i="0" dirty="0">
                <a:solidFill>
                  <a:schemeClr val="tx1"/>
                </a:solidFill>
                <a:latin typeface="Arial"/>
                <a:cs typeface="Arial"/>
              </a:rPr>
              <a:t>support active recall and immediate feedback</a:t>
            </a:r>
          </a:p>
          <a:p>
            <a:pPr marL="285750" indent="-285750" algn="l">
              <a:buFont typeface="Wingdings"/>
              <a:buChar char="ü"/>
            </a:pPr>
            <a:r>
              <a:rPr lang="en-AU" sz="1600" b="0" i="0" dirty="0">
                <a:solidFill>
                  <a:schemeClr val="tx1"/>
                </a:solidFill>
                <a:latin typeface="Arial"/>
                <a:cs typeface="Arial"/>
              </a:rPr>
              <a:t>support whole class participation</a:t>
            </a:r>
          </a:p>
          <a:p>
            <a:pPr marL="285750" indent="-285750">
              <a:buFont typeface="Wingdings"/>
              <a:buChar char="ü"/>
            </a:pPr>
            <a:r>
              <a:rPr lang="en-AU" sz="1600" b="0" i="0" dirty="0">
                <a:solidFill>
                  <a:schemeClr val="tx1"/>
                </a:solidFill>
                <a:latin typeface="Arial"/>
                <a:cs typeface="Arial"/>
              </a:rPr>
              <a:t>identify areas requiring reteach</a:t>
            </a:r>
            <a:endParaRPr lang="en-US" dirty="0">
              <a:solidFill>
                <a:srgbClr val="444444"/>
              </a:solidFill>
              <a:latin typeface="Arial"/>
              <a:cs typeface="Arial"/>
            </a:endParaRPr>
          </a:p>
          <a:p>
            <a:endParaRPr lang="en-AU" dirty="0">
              <a:latin typeface="Arial"/>
              <a:cs typeface="Arial"/>
            </a:endParaRPr>
          </a:p>
          <a:p>
            <a:pPr algn="l"/>
            <a:r>
              <a:rPr lang="en-AU" dirty="0">
                <a:latin typeface="Arial"/>
                <a:cs typeface="Arial"/>
              </a:rPr>
              <a:t>2.</a:t>
            </a:r>
            <a:br>
              <a:rPr lang="en-AU" dirty="0">
                <a:latin typeface="Arial"/>
                <a:cs typeface="Arial"/>
              </a:rPr>
            </a:br>
            <a:r>
              <a:rPr lang="en-AU" b="1" dirty="0">
                <a:latin typeface="Arial"/>
                <a:cs typeface="Arial"/>
              </a:rPr>
              <a:t>Short-response question sets:</a:t>
            </a:r>
            <a:r>
              <a:rPr lang="en-AU" dirty="0">
                <a:latin typeface="Arial"/>
                <a:cs typeface="Arial"/>
              </a:rPr>
              <a:t> Carefully grouped questions that encourage spaced and interleaved practice across multiple focus areas, helping students revisit and apply knowledge from different points in time.</a:t>
            </a:r>
            <a:br>
              <a:rPr lang="en-AU" dirty="0">
                <a:latin typeface="Arial"/>
                <a:cs typeface="Arial"/>
              </a:rPr>
            </a:br>
            <a:r>
              <a:rPr lang="en-AU" sz="1600" b="0" i="0" dirty="0">
                <a:solidFill>
                  <a:schemeClr val="tx1"/>
                </a:solidFill>
                <a:latin typeface="Arial"/>
                <a:cs typeface="Arial"/>
              </a:rPr>
              <a:t>These questions:</a:t>
            </a:r>
            <a:endParaRPr lang="en-US" sz="1600" b="0" i="0" dirty="0">
              <a:solidFill>
                <a:srgbClr val="444444"/>
              </a:solidFill>
              <a:latin typeface="Arial"/>
              <a:cs typeface="Arial"/>
            </a:endParaRPr>
          </a:p>
          <a:p>
            <a:pPr marL="0" indent="0" algn="l">
              <a:buFont typeface="Wingdings" panose="05000000000000000000" pitchFamily="2" charset="2"/>
              <a:buNone/>
            </a:pPr>
            <a:endParaRPr lang="en-AU" sz="1600" i="0" dirty="0"/>
          </a:p>
          <a:p>
            <a:pPr marL="285750" indent="-285750" algn="l">
              <a:buFont typeface="Wingdings"/>
              <a:buChar char="ü"/>
            </a:pPr>
            <a:r>
              <a:rPr lang="en-AU" sz="1600" i="0" dirty="0">
                <a:latin typeface="Arial"/>
                <a:cs typeface="Arial"/>
              </a:rPr>
              <a:t>have a combination of question types </a:t>
            </a:r>
          </a:p>
          <a:p>
            <a:pPr marL="285750" indent="-285750" algn="l">
              <a:buFont typeface="Wingdings"/>
              <a:buChar char="ü"/>
            </a:pPr>
            <a:r>
              <a:rPr lang="en-AU" sz="1600" i="0" dirty="0">
                <a:latin typeface="Arial"/>
                <a:cs typeface="Arial"/>
              </a:rPr>
              <a:t>address a range of focus areas</a:t>
            </a:r>
          </a:p>
          <a:p>
            <a:pPr marL="285750" indent="-285750">
              <a:buFont typeface="Wingdings"/>
              <a:buChar char="ü"/>
            </a:pPr>
            <a:r>
              <a:rPr lang="en-AU" sz="1600" i="0" dirty="0">
                <a:latin typeface="Arial"/>
                <a:cs typeface="Arial"/>
              </a:rPr>
              <a:t>build automaticity and fluency</a:t>
            </a:r>
          </a:p>
          <a:p>
            <a:pPr marL="285750" indent="-285750">
              <a:buFont typeface="Wingdings"/>
              <a:buChar char="ü"/>
            </a:pPr>
            <a:r>
              <a:rPr lang="en-AU" sz="1600" i="0" dirty="0">
                <a:latin typeface="Arial"/>
                <a:cs typeface="Arial"/>
              </a:rPr>
              <a:t>support active recall </a:t>
            </a:r>
          </a:p>
          <a:p>
            <a:pPr marL="285750" indent="-285750">
              <a:buFont typeface="Wingdings"/>
              <a:buChar char="ü"/>
            </a:pPr>
            <a:r>
              <a:rPr lang="en-AU" sz="1600" i="0" dirty="0">
                <a:latin typeface="Arial"/>
                <a:cs typeface="Arial"/>
              </a:rPr>
              <a:t>allow for immediate feedback</a:t>
            </a:r>
          </a:p>
          <a:p>
            <a:pPr marL="285750" indent="-285750" algn="l">
              <a:buFont typeface="Wingdings"/>
              <a:buChar char="ü"/>
            </a:pPr>
            <a:r>
              <a:rPr lang="en-AU" sz="1600" i="0" dirty="0">
                <a:latin typeface="Arial"/>
                <a:cs typeface="Arial"/>
              </a:rPr>
              <a:t>identify content requiring reteach</a:t>
            </a:r>
            <a:endParaRPr lang="en-AU" dirty="0">
              <a:latin typeface="Arial"/>
              <a:cs typeface="Arial"/>
            </a:endParaRPr>
          </a:p>
          <a:p>
            <a:pPr marL="285750" indent="-285750">
              <a:buFont typeface="Wingdings"/>
              <a:buChar char="ü"/>
            </a:pPr>
            <a:endParaRPr lang="en-AU" dirty="0">
              <a:latin typeface="Arial"/>
              <a:cs typeface="Arial"/>
            </a:endParaRPr>
          </a:p>
          <a:p>
            <a:r>
              <a:rPr lang="en-AU" dirty="0">
                <a:latin typeface="Arial"/>
                <a:cs typeface="Arial"/>
              </a:rPr>
              <a:t>3.</a:t>
            </a:r>
          </a:p>
          <a:p>
            <a:r>
              <a:rPr lang="en-AU" b="1" dirty="0">
                <a:latin typeface="Arial"/>
                <a:cs typeface="Arial"/>
              </a:rPr>
              <a:t>Developing number sense activities</a:t>
            </a:r>
            <a:r>
              <a:rPr lang="en-AU" dirty="0">
                <a:latin typeface="Arial"/>
                <a:cs typeface="Arial"/>
              </a:rPr>
              <a:t>: A variety of practical, purposeful tasks that reinforce current learning and build on prior knowledge. These activities promote reasoning, problem-solving and conceptual understanding.</a:t>
            </a:r>
            <a:br>
              <a:rPr lang="en-AU" dirty="0">
                <a:latin typeface="Arial"/>
                <a:cs typeface="Arial"/>
              </a:rPr>
            </a:br>
            <a:br>
              <a:rPr lang="en-AU" dirty="0">
                <a:latin typeface="Arial"/>
                <a:cs typeface="Arial"/>
              </a:rPr>
            </a:br>
            <a:endParaRPr lang="en-US" dirty="0">
              <a:solidFill>
                <a:srgbClr val="444444"/>
              </a:solidFill>
              <a:latin typeface="Arial"/>
              <a:cs typeface="Arial"/>
            </a:endParaRPr>
          </a:p>
          <a:p>
            <a:r>
              <a:rPr lang="en-AU" dirty="0">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dirty="0">
                <a:latin typeface="Arial"/>
                <a:cs typeface="Arial"/>
              </a:rPr>
            </a:br>
            <a:br>
              <a:rPr lang="en-AU" dirty="0"/>
            </a:br>
            <a:endParaRPr lang="en-AU" dirty="0">
              <a:highlight>
                <a:srgbClr val="FFFF00"/>
              </a:highlight>
            </a:endParaRP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Partitioned Fractions B</a:t>
            </a:r>
          </a:p>
          <a:p>
            <a:pPr>
              <a:defRPr/>
            </a:pPr>
            <a:endParaRPr lang="en-AU" dirty="0"/>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Partitioned Fractions B</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Additive relations A</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94391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Geometric measure B: Length</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dirty="0">
                <a:latin typeface="Public Sans"/>
              </a:rPr>
              <a:t>Non- spatial measure B: Time</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800" dirty="0">
                <a:latin typeface="Arial"/>
                <a:cs typeface="Arial"/>
              </a:rPr>
              <a:t>This is a developing number sense activity. </a:t>
            </a:r>
            <a:endParaRPr lang="en-US" sz="1800" dirty="0">
              <a:solidFill>
                <a:srgbClr val="444444"/>
              </a:solidFill>
              <a:latin typeface="Arial"/>
              <a:cs typeface="Arial"/>
            </a:endParaRPr>
          </a:p>
          <a:p>
            <a:pPr>
              <a:lnSpc>
                <a:spcPct val="150000"/>
              </a:lnSpc>
              <a:spcBef>
                <a:spcPts val="1200"/>
              </a:spcBef>
              <a:spcAft>
                <a:spcPts val="600"/>
              </a:spcAft>
            </a:pPr>
            <a:endParaRPr lang="en-AU" sz="1800" dirty="0">
              <a:solidFill>
                <a:srgbClr val="444444"/>
              </a:solidFill>
            </a:endParaRPr>
          </a:p>
          <a:p>
            <a:pPr>
              <a:lnSpc>
                <a:spcPct val="150000"/>
              </a:lnSpc>
              <a:spcBef>
                <a:spcPts val="1200"/>
              </a:spcBef>
              <a:spcAft>
                <a:spcPts val="600"/>
              </a:spcAft>
            </a:pPr>
            <a:r>
              <a:rPr lang="en-AU" sz="18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a:lnSpc>
                <a:spcPts val="1913"/>
              </a:lnSpc>
            </a:pPr>
            <a:endParaRPr lang="en-AU" sz="1800" dirty="0">
              <a:solidFill>
                <a:srgbClr val="444444"/>
              </a:solidFill>
            </a:endParaRPr>
          </a:p>
          <a:p>
            <a:r>
              <a:rPr lang="en-AU" sz="1800" b="1" dirty="0">
                <a:latin typeface="Arial"/>
                <a:cs typeface="Arial"/>
              </a:rPr>
              <a:t>Syllabus focus area:</a:t>
            </a:r>
            <a:endParaRPr lang="en-US" sz="1800" dirty="0">
              <a:solidFill>
                <a:srgbClr val="444444"/>
              </a:solidFill>
              <a:latin typeface="Arial"/>
              <a:cs typeface="Arial"/>
            </a:endParaRPr>
          </a:p>
          <a:p>
            <a:r>
              <a:rPr lang="en-AU" sz="1800" dirty="0">
                <a:solidFill>
                  <a:srgbClr val="000000"/>
                </a:solidFill>
                <a:latin typeface="Arial"/>
                <a:cs typeface="Arial"/>
              </a:rPr>
              <a:t>Partitioned Fractions B</a:t>
            </a:r>
            <a:endParaRPr lang="en-AU" sz="1800" b="1" dirty="0">
              <a:latin typeface="Arial"/>
              <a:cs typeface="Arial"/>
            </a:endParaRPr>
          </a:p>
          <a:p>
            <a:pPr>
              <a:lnSpc>
                <a:spcPts val="1913"/>
              </a:lnSpc>
            </a:pPr>
            <a:br>
              <a:rPr lang="en-US" sz="1800" b="1" dirty="0">
                <a:latin typeface="Arial"/>
                <a:ea typeface="Arial" panose="020B0604020202020204" pitchFamily="34" charset="0"/>
                <a:cs typeface="Arial"/>
              </a:rPr>
            </a:br>
            <a:r>
              <a:rPr lang="en-US" sz="1800" b="1" dirty="0">
                <a:latin typeface="Arial"/>
                <a:ea typeface="Arial" panose="020B0604020202020204" pitchFamily="34" charset="0"/>
                <a:cs typeface="Arial"/>
              </a:rPr>
              <a:t>Recreating the whole </a:t>
            </a:r>
            <a:br>
              <a:rPr lang="en-US" sz="1800" b="1" dirty="0">
                <a:latin typeface="Arial"/>
                <a:ea typeface="Arial" panose="020B0604020202020204" pitchFamily="34" charset="0"/>
                <a:cs typeface="Arial"/>
              </a:rPr>
            </a:br>
            <a:endParaRPr lang="en-AU" sz="1800" b="0" i="0" dirty="0">
              <a:solidFill>
                <a:srgbClr val="000000"/>
              </a:solidFill>
              <a:effectLst/>
              <a:latin typeface="Arial" panose="020B0604020202020204" pitchFamily="34" charset="0"/>
            </a:endParaRPr>
          </a:p>
          <a:p>
            <a:pPr marL="285750" indent="-285750">
              <a:buFont typeface="Arial" panose="020B0604020202020204" pitchFamily="34" charset="0"/>
              <a:buChar char="•"/>
            </a:pPr>
            <a:r>
              <a:rPr lang="en-AU" sz="1800" b="0" i="0" dirty="0">
                <a:solidFill>
                  <a:srgbClr val="000000"/>
                </a:solidFill>
                <a:effectLst/>
                <a:latin typeface="Arial" panose="020B0604020202020204" pitchFamily="34" charset="0"/>
              </a:rPr>
              <a:t>Display an </a:t>
            </a:r>
            <a:r>
              <a:rPr lang="en-AU" sz="1800" b="0" i="0" u="sng" strike="noStrike" dirty="0">
                <a:solidFill>
                  <a:srgbClr val="2F5496"/>
                </a:solidFill>
                <a:effectLst/>
                <a:latin typeface="Arial" panose="020B0604020202020204" pitchFamily="34" charset="0"/>
                <a:hlinkClick r:id="rId3"/>
              </a:rPr>
              <a:t>interactive fraction strips website</a:t>
            </a:r>
            <a:r>
              <a:rPr lang="en-AU" sz="1800" b="0" i="0" dirty="0">
                <a:solidFill>
                  <a:srgbClr val="000000"/>
                </a:solidFill>
                <a:effectLst/>
                <a:latin typeface="Arial" panose="020B0604020202020204" pitchFamily="34" charset="0"/>
              </a:rPr>
              <a:t>. </a:t>
            </a:r>
          </a:p>
          <a:p>
            <a:pPr marL="285750" indent="-285750">
              <a:buFont typeface="Arial" panose="020B0604020202020204" pitchFamily="34" charset="0"/>
              <a:buChar char="•"/>
            </a:pPr>
            <a:r>
              <a:rPr lang="en-AU" sz="1800" b="0" i="0" dirty="0">
                <a:solidFill>
                  <a:srgbClr val="000000"/>
                </a:solidFill>
                <a:effectLst/>
                <a:latin typeface="Arial" panose="020B0604020202020204" pitchFamily="34" charset="0"/>
              </a:rPr>
              <a:t>Drag 1 whole into the bottom row and four quarters into the next row of the grid (see Figure 25). </a:t>
            </a:r>
          </a:p>
          <a:p>
            <a:pPr marL="285750" indent="-285750">
              <a:buFont typeface="Arial" panose="020B0604020202020204" pitchFamily="34" charset="0"/>
              <a:buChar char="•"/>
            </a:pPr>
            <a:r>
              <a:rPr lang="en-AU" b="0" i="0" dirty="0">
                <a:solidFill>
                  <a:srgbClr val="000000"/>
                </a:solidFill>
                <a:effectLst/>
                <a:latin typeface="Arial" panose="020B0604020202020204" pitchFamily="34" charset="0"/>
              </a:rPr>
              <a:t>Ask: How can we rename 4/4?</a:t>
            </a:r>
          </a:p>
          <a:p>
            <a:pPr marL="285750" indent="-285750">
              <a:buFont typeface="Arial" panose="020B0604020202020204" pitchFamily="34" charset="0"/>
              <a:buChar char="•"/>
            </a:pPr>
            <a:r>
              <a:rPr lang="en-AU" b="0" i="0" dirty="0">
                <a:solidFill>
                  <a:srgbClr val="000000"/>
                </a:solidFill>
                <a:effectLst/>
                <a:latin typeface="Arial" panose="020B0604020202020204" pitchFamily="34" charset="0"/>
              </a:rPr>
              <a:t>Explain that the length of the yellow bar can be named as 4-quarters or one whole. Label each fractional part with ¼ and record the fraction notation 4/4</a:t>
            </a:r>
          </a:p>
          <a:p>
            <a:pPr marL="285750" indent="-285750">
              <a:buFont typeface="Arial" panose="020B0604020202020204" pitchFamily="34" charset="0"/>
              <a:buChar char="•"/>
            </a:pPr>
            <a:r>
              <a:rPr lang="en-AU" b="0" i="0" dirty="0">
                <a:solidFill>
                  <a:srgbClr val="000000"/>
                </a:solidFill>
                <a:effectLst/>
                <a:latin typeface="Arial" panose="020B0604020202020204" pitchFamily="34" charset="0"/>
              </a:rPr>
              <a:t>In workbooks, students create a bar model showing a whole using thirds, fifths, sixths and tenths, drawing and labelling the missing fractional parts and recording the fractional notation for the whole using the equal sign. For example 1 = 3/3</a:t>
            </a:r>
          </a:p>
          <a:p>
            <a:pPr marL="285750" indent="-285750">
              <a:buFont typeface="Arial" panose="020B0604020202020204" pitchFamily="34" charset="0"/>
              <a:buChar char="•"/>
            </a:pPr>
            <a:r>
              <a:rPr lang="en-AU" sz="1800" b="0" i="0" dirty="0">
                <a:solidFill>
                  <a:srgbClr val="000000"/>
                </a:solidFill>
                <a:effectLst/>
                <a:latin typeface="Arial" panose="020B0604020202020204" pitchFamily="34" charset="0"/>
              </a:rPr>
              <a:t>Select students to show their work samples and explain their thinking to the class. </a:t>
            </a:r>
            <a:endParaRPr lang="en-AU"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3132499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2)</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Partitioned Fractions B</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dirty="0">
                <a:latin typeface="Arial" panose="020B0604020202020204" pitchFamily="34" charset="0"/>
                <a:cs typeface="Arial" panose="020B0604020202020204" pitchFamily="34" charset="0"/>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Partitioned Fractions B</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89DA6-BE79-D3DA-CB30-A11623BDB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21A5E4-2E6E-FCF4-F3E0-447425EFAA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D7C301-E7BA-F60C-AA8A-DADF5A81909E}"/>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Additive relations A</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2650023-1276-12AE-79ED-8849D2067C30}"/>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30604040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Geometric measure B: Length</a:t>
            </a:r>
            <a:endParaRPr lang="en-AU" sz="1600" dirty="0">
              <a:latin typeface="Public Sans"/>
            </a:endParaRPr>
          </a:p>
          <a:p>
            <a:endParaRPr lang="en-AU" dirty="0">
              <a:latin typeface="Public Sans"/>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Two-dimensional spatial structure B: Area</a:t>
            </a:r>
            <a:endParaRPr lang="en-AU" dirty="0"/>
          </a:p>
          <a:p>
            <a:endParaRPr lang="en-AU" dirty="0">
              <a:latin typeface="Public Sans"/>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6E881-E307-6178-FAA4-EF6B21D47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42CA6-E53F-AB24-772E-F11067775AC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65DB9E2-A9AE-50D7-10F5-0910E9993E8A}"/>
                  </a:ext>
                </a:extLst>
              </p:cNvPr>
              <p:cNvSpPr>
                <a:spLocks noGrp="1"/>
              </p:cNvSpPr>
              <p:nvPr>
                <p:ph type="body" idx="1"/>
              </p:nvPr>
            </p:nvSpPr>
            <p:spPr/>
            <p:txBody>
              <a:bodyPr/>
              <a:lstStyle/>
              <a:p>
                <a:pPr>
                  <a:lnSpc>
                    <a:spcPct val="150000"/>
                  </a:lnSpc>
                  <a:spcBef>
                    <a:spcPts val="1200"/>
                  </a:spcBef>
                  <a:spcAft>
                    <a:spcPts val="600"/>
                  </a:spcAft>
                  <a:defRPr/>
                </a:pPr>
                <a:r>
                  <a:rPr lang="en-AU" dirty="0">
                    <a:latin typeface="Arial"/>
                    <a:cs typeface="Arial"/>
                  </a:rPr>
                  <a:t>This is a developing number sense activity. </a:t>
                </a:r>
                <a:endParaRPr lang="en-US" dirty="0">
                  <a:solidFill>
                    <a:srgbClr val="444444"/>
                  </a:solidFill>
                  <a:latin typeface="Arial"/>
                  <a:cs typeface="Arial"/>
                </a:endParaRPr>
              </a:p>
              <a:p>
                <a:pPr>
                  <a:lnSpc>
                    <a:spcPct val="150000"/>
                  </a:lnSpc>
                  <a:spcBef>
                    <a:spcPts val="1200"/>
                  </a:spcBef>
                  <a:spcAft>
                    <a:spcPts val="600"/>
                  </a:spcAft>
                  <a:defRPr/>
                </a:pPr>
                <a:endParaRPr lang="en-AU" dirty="0">
                  <a:solidFill>
                    <a:srgbClr val="444444"/>
                  </a:solidFill>
                </a:endParaRPr>
              </a:p>
              <a:p>
                <a:pPr>
                  <a:lnSpc>
                    <a:spcPct val="150000"/>
                  </a:lnSpc>
                  <a:spcBef>
                    <a:spcPts val="1200"/>
                  </a:spcBef>
                  <a:spcAft>
                    <a:spcPts val="600"/>
                  </a:spcAft>
                  <a:defRPr/>
                </a:pPr>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latin typeface="Arial"/>
                  <a:cs typeface="Arial"/>
                </a:endParaRPr>
              </a:p>
              <a:p>
                <a:pPr>
                  <a:lnSpc>
                    <a:spcPts val="1913"/>
                  </a:lnSpc>
                  <a:defRPr/>
                </a:pPr>
                <a:endParaRPr lang="en-AU" dirty="0">
                  <a:solidFill>
                    <a:srgbClr val="444444"/>
                  </a:solidFil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Partitioned fractions B</a:t>
                </a:r>
              </a:p>
              <a:p>
                <a:pPr>
                  <a:defRPr/>
                </a:pPr>
                <a:endParaRPr lang="en-AU" sz="1800" dirty="0">
                  <a:latin typeface="Arial"/>
                  <a:ea typeface="Calibri"/>
                  <a:cs typeface="Arial"/>
                </a:endParaRPr>
              </a:p>
              <a:p>
                <a:pPr>
                  <a:defRPr/>
                </a:pPr>
                <a:r>
                  <a:rPr lang="en-AU" sz="1800" b="1" dirty="0">
                    <a:latin typeface="Arial"/>
                    <a:ea typeface="Calibri"/>
                    <a:cs typeface="Arial"/>
                  </a:rPr>
                  <a:t>Regroup fractional parts beyond 1</a:t>
                </a:r>
                <a:endParaRPr lang="en-AU" b="0" dirty="0"/>
              </a:p>
              <a:p>
                <a:endParaRPr lang="en-AU" b="0" dirty="0"/>
              </a:p>
              <a:p>
                <a:pPr rtl="0" fontAlgn="base"/>
                <a:r>
                  <a:rPr lang="en-AU" sz="1600" b="1" i="0" kern="1200" dirty="0">
                    <a:solidFill>
                      <a:schemeClr val="tx1"/>
                    </a:solidFill>
                    <a:effectLst/>
                    <a:latin typeface="Arial" panose="020B0604020202020204" pitchFamily="34" charset="0"/>
                    <a:ea typeface="+mn-ea"/>
                    <a:cs typeface="Arial" panose="020B0604020202020204" pitchFamily="34" charset="0"/>
                  </a:rPr>
                  <a:t>Note</a:t>
                </a:r>
                <a:r>
                  <a:rPr lang="en-AU" sz="1600" b="0" i="0" kern="1200" dirty="0">
                    <a:solidFill>
                      <a:schemeClr val="tx1"/>
                    </a:solidFill>
                    <a:effectLst/>
                    <a:latin typeface="Arial" panose="020B0604020202020204" pitchFamily="34" charset="0"/>
                    <a:ea typeface="+mn-ea"/>
                    <a:cs typeface="Arial" panose="020B0604020202020204" pitchFamily="34" charset="0"/>
                  </a:rPr>
                  <a:t>: fractions can be renamed in multiple ways. For example, 1 </a:t>
                </a:r>
                <a14:m>
                  <m:oMath xmlns:m="http://schemas.openxmlformats.org/officeDocument/2006/math">
                    <m:f>
                      <m:fPr>
                        <m:ctrlPr>
                          <a:rPr lang="en-AU" sz="1600" b="0" i="1" kern="1200" smtClean="0">
                            <a:solidFill>
                              <a:schemeClr val="tx1"/>
                            </a:solidFill>
                            <a:effectLst/>
                            <a:latin typeface="Cambria Math" panose="02040503050406030204" pitchFamily="18" charset="0"/>
                            <a:ea typeface="+mn-ea"/>
                            <a:cs typeface="Arial" panose="020B0604020202020204" pitchFamily="34" charset="0"/>
                          </a:rPr>
                        </m:ctrlPr>
                      </m:fPr>
                      <m:num>
                        <m:r>
                          <a:rPr lang="en-AU" sz="1600" b="0" i="1" kern="1200" smtClean="0">
                            <a:solidFill>
                              <a:schemeClr val="tx1"/>
                            </a:solidFill>
                            <a:effectLst/>
                            <a:latin typeface="Cambria Math" panose="02040503050406030204" pitchFamily="18" charset="0"/>
                            <a:ea typeface="+mn-ea"/>
                            <a:cs typeface="Arial" panose="020B0604020202020204" pitchFamily="34" charset="0"/>
                          </a:rPr>
                          <m:t>4</m:t>
                        </m:r>
                      </m:num>
                      <m:den>
                        <m:r>
                          <a:rPr lang="en-AU" sz="1600" b="0" i="1" kern="1200" smtClean="0">
                            <a:solidFill>
                              <a:schemeClr val="tx1"/>
                            </a:solidFill>
                            <a:effectLst/>
                            <a:latin typeface="Cambria Math" panose="02040503050406030204" pitchFamily="18" charset="0"/>
                            <a:ea typeface="+mn-ea"/>
                            <a:cs typeface="Arial" panose="020B0604020202020204" pitchFamily="34" charset="0"/>
                          </a:rPr>
                          <m:t>5</m:t>
                        </m:r>
                      </m:den>
                    </m:f>
                  </m:oMath>
                </a14:m>
                <a:r>
                  <a:rPr lang="en-AU" sz="1600" b="0" i="0" kern="1200" dirty="0">
                    <a:solidFill>
                      <a:schemeClr val="tx1"/>
                    </a:solidFill>
                    <a:effectLst/>
                    <a:latin typeface="Arial" panose="020B0604020202020204" pitchFamily="34" charset="0"/>
                    <a:ea typeface="+mn-ea"/>
                    <a:cs typeface="Arial" panose="020B0604020202020204" pitchFamily="34" charset="0"/>
                  </a:rPr>
                  <a:t> can be renamed </a:t>
                </a:r>
                <a14:m>
                  <m:oMath xmlns:m="http://schemas.openxmlformats.org/officeDocument/2006/math">
                    <m:f>
                      <m:fPr>
                        <m:ctrlPr>
                          <a:rPr lang="en-AU" sz="1600" b="0" i="1" kern="1200" smtClean="0">
                            <a:solidFill>
                              <a:schemeClr val="tx1"/>
                            </a:solidFill>
                            <a:effectLst/>
                            <a:latin typeface="Cambria Math" panose="02040503050406030204" pitchFamily="18" charset="0"/>
                            <a:ea typeface="+mn-ea"/>
                            <a:cs typeface="Arial" panose="020B0604020202020204" pitchFamily="34" charset="0"/>
                          </a:rPr>
                        </m:ctrlPr>
                      </m:fPr>
                      <m:num>
                        <m:r>
                          <a:rPr lang="en-AU" sz="1600" b="0" i="1" kern="1200" smtClean="0">
                            <a:solidFill>
                              <a:schemeClr val="tx1"/>
                            </a:solidFill>
                            <a:effectLst/>
                            <a:latin typeface="Cambria Math" panose="02040503050406030204" pitchFamily="18" charset="0"/>
                            <a:ea typeface="+mn-ea"/>
                            <a:cs typeface="Arial" panose="020B0604020202020204" pitchFamily="34" charset="0"/>
                          </a:rPr>
                          <m:t>9</m:t>
                        </m:r>
                      </m:num>
                      <m:den>
                        <m:r>
                          <a:rPr lang="en-AU" sz="1600" b="0" i="1" kern="1200" smtClean="0">
                            <a:solidFill>
                              <a:schemeClr val="tx1"/>
                            </a:solidFill>
                            <a:effectLst/>
                            <a:latin typeface="Cambria Math" panose="02040503050406030204" pitchFamily="18" charset="0"/>
                            <a:ea typeface="+mn-ea"/>
                            <a:cs typeface="Arial" panose="020B0604020202020204" pitchFamily="34" charset="0"/>
                          </a:rPr>
                          <m:t>5</m:t>
                        </m:r>
                      </m:den>
                    </m:f>
                  </m:oMath>
                </a14:m>
                <a:r>
                  <a:rPr lang="en-AU" sz="1600" b="0" i="0" kern="1200" dirty="0">
                    <a:solidFill>
                      <a:schemeClr val="tx1"/>
                    </a:solidFill>
                    <a:effectLst/>
                    <a:latin typeface="Arial" panose="020B0604020202020204" pitchFamily="34" charset="0"/>
                    <a:ea typeface="+mn-ea"/>
                    <a:cs typeface="Arial" panose="020B0604020202020204" pitchFamily="34" charset="0"/>
                  </a:rPr>
                  <a:t> or </a:t>
                </a:r>
                <a14:m>
                  <m:oMath xmlns:m="http://schemas.openxmlformats.org/officeDocument/2006/math">
                    <m:f>
                      <m:fPr>
                        <m:ctrlPr>
                          <a:rPr lang="en-AU" sz="1600" b="0" i="1" kern="1200" smtClean="0">
                            <a:solidFill>
                              <a:schemeClr val="tx1"/>
                            </a:solidFill>
                            <a:effectLst/>
                            <a:latin typeface="Cambria Math" panose="02040503050406030204" pitchFamily="18" charset="0"/>
                            <a:ea typeface="+mn-ea"/>
                            <a:cs typeface="Arial" panose="020B0604020202020204" pitchFamily="34" charset="0"/>
                          </a:rPr>
                        </m:ctrlPr>
                      </m:fPr>
                      <m:num>
                        <m:r>
                          <a:rPr lang="en-AU" sz="1600" b="0" i="1" kern="1200" smtClean="0">
                            <a:solidFill>
                              <a:schemeClr val="tx1"/>
                            </a:solidFill>
                            <a:effectLst/>
                            <a:latin typeface="Cambria Math" panose="02040503050406030204" pitchFamily="18" charset="0"/>
                            <a:ea typeface="+mn-ea"/>
                            <a:cs typeface="Arial" panose="020B0604020202020204" pitchFamily="34" charset="0"/>
                          </a:rPr>
                          <m:t>9</m:t>
                        </m:r>
                      </m:num>
                      <m:den>
                        <m:r>
                          <a:rPr lang="en-AU" sz="1600" b="0" i="1" kern="1200" smtClean="0">
                            <a:solidFill>
                              <a:schemeClr val="tx1"/>
                            </a:solidFill>
                            <a:effectLst/>
                            <a:latin typeface="Cambria Math" panose="02040503050406030204" pitchFamily="18" charset="0"/>
                            <a:ea typeface="+mn-ea"/>
                            <a:cs typeface="Arial" panose="020B0604020202020204" pitchFamily="34" charset="0"/>
                          </a:rPr>
                          <m:t>10</m:t>
                        </m:r>
                      </m:den>
                    </m:f>
                  </m:oMath>
                </a14:m>
                <a:r>
                  <a:rPr lang="en-AU" sz="1600" b="0" i="0" kern="1200" dirty="0">
                    <a:solidFill>
                      <a:schemeClr val="tx1"/>
                    </a:solidFill>
                    <a:effectLst/>
                    <a:latin typeface="Arial" panose="020B0604020202020204" pitchFamily="34" charset="0"/>
                    <a:ea typeface="+mn-ea"/>
                    <a:cs typeface="Arial" panose="020B0604020202020204" pitchFamily="34" charset="0"/>
                  </a:rPr>
                  <a:t>. In the syllabus, the expression ‘fraction greater than one’ is used instead of the terms ‘improper fraction’ or ‘mixed numeral’. </a:t>
                </a:r>
              </a:p>
              <a:p>
                <a:pPr marL="285750" indent="-285750">
                  <a:buFont typeface="Arial" panose="020B0604020202020204" pitchFamily="34" charset="0"/>
                  <a:buChar char="•"/>
                </a:pPr>
                <a:endParaRPr lang="en-AU" b="0" dirty="0"/>
              </a:p>
              <a:p>
                <a:pPr marL="285750" indent="-285750">
                  <a:buFont typeface="Arial" panose="020B0604020202020204" pitchFamily="34" charset="0"/>
                  <a:buChar char="•"/>
                </a:pPr>
                <a:r>
                  <a:rPr lang="en-AU" b="0" dirty="0"/>
                  <a:t> a rectangular strip on the board and explain that the strip represents a whole length. Ask: How could you create a strip 3-halves the length of the original whole?  </a:t>
                </a:r>
              </a:p>
              <a:p>
                <a:pPr marL="285750" indent="-285750">
                  <a:buFont typeface="Arial" panose="020B0604020202020204" pitchFamily="34" charset="0"/>
                  <a:buChar char="•"/>
                </a:pPr>
                <a:r>
                  <a:rPr lang="en-AU" b="0" dirty="0"/>
                  <a:t>Students turn and talk to a partner to discuss how a strip 3-halves the length of the original whole could be created. </a:t>
                </a:r>
              </a:p>
              <a:p>
                <a:pPr marL="285750" indent="-285750">
                  <a:buFont typeface="Arial" panose="020B0604020202020204" pitchFamily="34" charset="0"/>
                  <a:buChar char="•"/>
                </a:pPr>
                <a:r>
                  <a:rPr lang="en-AU" b="0" dirty="0"/>
                  <a:t>Draw a strip the same length as the whole and model partitioning it in half. Draw an additional half-length to represent 3-halves. Record the fractional notation next to the strip as 3/2. Explain </a:t>
                </a:r>
                <a:r>
                  <a:rPr lang="en-AU" b="0" i="0" dirty="0">
                    <a:solidFill>
                      <a:srgbClr val="000000"/>
                    </a:solidFill>
                    <a:effectLst/>
                    <a:latin typeface="Arial" panose="020B0604020202020204" pitchFamily="34" charset="0"/>
                  </a:rPr>
                  <a:t>that 3-halves can also be renamed as 1 ½.</a:t>
                </a:r>
              </a:p>
              <a:p>
                <a:pPr marL="285750" indent="-285750">
                  <a:buFont typeface="Arial" panose="020B0604020202020204" pitchFamily="34" charset="0"/>
                  <a:buChar char="•"/>
                </a:pPr>
                <a:r>
                  <a:rPr lang="en-AU" sz="1800" b="0" i="0" dirty="0">
                    <a:solidFill>
                      <a:srgbClr val="000000"/>
                    </a:solidFill>
                    <a:effectLst/>
                    <a:latin typeface="Arial" panose="020B0604020202020204" pitchFamily="34" charset="0"/>
                  </a:rPr>
                  <a:t>Provide students with </a:t>
                </a:r>
                <a:r>
                  <a:rPr lang="en-AU" sz="1800" dirty="0"/>
                  <a:t>Resource 20 – the whole strip </a:t>
                </a:r>
                <a:r>
                  <a:rPr lang="en-AU" sz="1800" b="0" i="0" u="sng" strike="noStrike" dirty="0">
                    <a:solidFill>
                      <a:srgbClr val="2F5496"/>
                    </a:solidFill>
                    <a:effectLst/>
                    <a:latin typeface="Arial" panose="020B0604020202020204" pitchFamily="34" charset="0"/>
                  </a:rPr>
                  <a:t>(</a:t>
                </a:r>
                <a:r>
                  <a:rPr lang="en-AU" sz="1800" dirty="0"/>
                  <a:t>this resource corresponds to Resource 20 – the whole strip in Stage 2, Year B Unit 36)</a:t>
                </a:r>
                <a:r>
                  <a:rPr lang="en-AU" sz="1800" b="0" i="0" dirty="0">
                    <a:solidFill>
                      <a:srgbClr val="000000"/>
                    </a:solidFill>
                    <a:effectLst/>
                    <a:latin typeface="Arial" panose="020B0604020202020204" pitchFamily="34" charset="0"/>
                  </a:rPr>
                  <a:t>. Students continue the strip by drawing to represent 6-quarters, 5-thirds and 7-sixths the length of the whole. Record the fractional notation next to each strip.</a:t>
                </a:r>
              </a:p>
              <a:p>
                <a:pPr marL="285750" indent="-285750">
                  <a:buFont typeface="Arial" panose="020B0604020202020204" pitchFamily="34" charset="0"/>
                  <a:buChar char="•"/>
                </a:pPr>
                <a:r>
                  <a:rPr lang="en-AU" b="0" dirty="0"/>
                  <a:t>Students regroup and share their work with a peer. </a:t>
                </a:r>
              </a:p>
            </p:txBody>
          </p:sp>
        </mc:Choice>
        <mc:Fallback xmlns="">
          <p:sp>
            <p:nvSpPr>
              <p:cNvPr id="3" name="Notes Placeholder 2">
                <a:extLst>
                  <a:ext uri="{FF2B5EF4-FFF2-40B4-BE49-F238E27FC236}">
                    <a16:creationId xmlns:a16="http://schemas.microsoft.com/office/drawing/2014/main" id="{165DB9E2-A9AE-50D7-10F5-0910E9993E8A}"/>
                  </a:ext>
                </a:extLst>
              </p:cNvPr>
              <p:cNvSpPr>
                <a:spLocks noGrp="1"/>
              </p:cNvSpPr>
              <p:nvPr>
                <p:ph type="body" idx="1"/>
              </p:nvPr>
            </p:nvSpPr>
            <p:spPr/>
            <p:txBody>
              <a:bodyPr/>
              <a:lstStyle/>
              <a:p>
                <a:pPr>
                  <a:lnSpc>
                    <a:spcPct val="150000"/>
                  </a:lnSpc>
                  <a:spcBef>
                    <a:spcPts val="1200"/>
                  </a:spcBef>
                  <a:spcAft>
                    <a:spcPts val="600"/>
                  </a:spcAft>
                  <a:defRPr/>
                </a:pPr>
                <a:r>
                  <a:rPr lang="en-AU" dirty="0">
                    <a:latin typeface="Arial"/>
                    <a:cs typeface="Arial"/>
                  </a:rPr>
                  <a:t>This is a developing number sense activity. </a:t>
                </a:r>
                <a:endParaRPr lang="en-US" dirty="0">
                  <a:solidFill>
                    <a:srgbClr val="444444"/>
                  </a:solidFill>
                  <a:latin typeface="Arial"/>
                  <a:cs typeface="Arial"/>
                </a:endParaRPr>
              </a:p>
              <a:p>
                <a:pPr>
                  <a:lnSpc>
                    <a:spcPct val="150000"/>
                  </a:lnSpc>
                  <a:spcBef>
                    <a:spcPts val="1200"/>
                  </a:spcBef>
                  <a:spcAft>
                    <a:spcPts val="600"/>
                  </a:spcAft>
                  <a:defRPr/>
                </a:pPr>
                <a:endParaRPr lang="en-AU" dirty="0">
                  <a:solidFill>
                    <a:srgbClr val="444444"/>
                  </a:solidFill>
                </a:endParaRPr>
              </a:p>
              <a:p>
                <a:pPr>
                  <a:lnSpc>
                    <a:spcPct val="150000"/>
                  </a:lnSpc>
                  <a:spcBef>
                    <a:spcPts val="1200"/>
                  </a:spcBef>
                  <a:spcAft>
                    <a:spcPts val="600"/>
                  </a:spcAft>
                  <a:defRPr/>
                </a:pPr>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latin typeface="Arial"/>
                  <a:cs typeface="Arial"/>
                </a:endParaRPr>
              </a:p>
              <a:p>
                <a:pPr>
                  <a:lnSpc>
                    <a:spcPts val="1913"/>
                  </a:lnSpc>
                  <a:defRPr/>
                </a:pPr>
                <a:endParaRPr lang="en-AU" dirty="0">
                  <a:solidFill>
                    <a:srgbClr val="444444"/>
                  </a:solidFil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Partitioned fractions B</a:t>
                </a:r>
              </a:p>
              <a:p>
                <a:pPr>
                  <a:defRPr/>
                </a:pPr>
                <a:endParaRPr lang="en-AU" sz="1800" dirty="0">
                  <a:latin typeface="Arial"/>
                  <a:ea typeface="Calibri"/>
                  <a:cs typeface="Arial"/>
                </a:endParaRPr>
              </a:p>
              <a:p>
                <a:pPr>
                  <a:defRPr/>
                </a:pPr>
                <a:r>
                  <a:rPr lang="en-AU" sz="1800" b="1" dirty="0">
                    <a:latin typeface="Arial"/>
                    <a:ea typeface="Calibri"/>
                    <a:cs typeface="Arial"/>
                  </a:rPr>
                  <a:t>Regroup fractional parts beyond 1</a:t>
                </a:r>
                <a:endParaRPr lang="en-AU" b="0" dirty="0"/>
              </a:p>
              <a:p>
                <a:endParaRPr lang="en-AU" b="0" dirty="0"/>
              </a:p>
              <a:p>
                <a:pPr rtl="0" fontAlgn="base"/>
                <a:r>
                  <a:rPr lang="en-AU" sz="1600" b="1" i="0" kern="1200" dirty="0">
                    <a:solidFill>
                      <a:schemeClr val="tx1"/>
                    </a:solidFill>
                    <a:effectLst/>
                    <a:latin typeface="Arial" panose="020B0604020202020204" pitchFamily="34" charset="0"/>
                    <a:ea typeface="+mn-ea"/>
                    <a:cs typeface="Arial" panose="020B0604020202020204" pitchFamily="34" charset="0"/>
                  </a:rPr>
                  <a:t>Note</a:t>
                </a:r>
                <a:r>
                  <a:rPr lang="en-AU" sz="1600" b="0" i="0" kern="1200" dirty="0">
                    <a:solidFill>
                      <a:schemeClr val="tx1"/>
                    </a:solidFill>
                    <a:effectLst/>
                    <a:latin typeface="Arial" panose="020B0604020202020204" pitchFamily="34" charset="0"/>
                    <a:ea typeface="+mn-ea"/>
                    <a:cs typeface="Arial" panose="020B0604020202020204" pitchFamily="34" charset="0"/>
                  </a:rPr>
                  <a:t>: fractions can be renamed in multiple ways. For example, 1 </a:t>
                </a:r>
                <a:r>
                  <a:rPr lang="en-AU" sz="1600" b="0" i="0" kern="1200">
                    <a:solidFill>
                      <a:schemeClr val="tx1"/>
                    </a:solidFill>
                    <a:effectLst/>
                    <a:latin typeface="Cambria Math" panose="02040503050406030204" pitchFamily="18" charset="0"/>
                    <a:ea typeface="+mn-ea"/>
                    <a:cs typeface="Arial" panose="020B0604020202020204" pitchFamily="34" charset="0"/>
                  </a:rPr>
                  <a:t>4/5</a:t>
                </a:r>
                <a:r>
                  <a:rPr lang="en-AU" sz="1600" b="0" i="0" kern="1200" dirty="0">
                    <a:solidFill>
                      <a:schemeClr val="tx1"/>
                    </a:solidFill>
                    <a:effectLst/>
                    <a:latin typeface="Arial" panose="020B0604020202020204" pitchFamily="34" charset="0"/>
                    <a:ea typeface="+mn-ea"/>
                    <a:cs typeface="Arial" panose="020B0604020202020204" pitchFamily="34" charset="0"/>
                  </a:rPr>
                  <a:t> can be renamed </a:t>
                </a:r>
                <a:r>
                  <a:rPr lang="en-AU" sz="1600" b="0" i="0" kern="1200">
                    <a:solidFill>
                      <a:schemeClr val="tx1"/>
                    </a:solidFill>
                    <a:effectLst/>
                    <a:latin typeface="Cambria Math" panose="02040503050406030204" pitchFamily="18" charset="0"/>
                    <a:ea typeface="+mn-ea"/>
                    <a:cs typeface="Arial" panose="020B0604020202020204" pitchFamily="34" charset="0"/>
                  </a:rPr>
                  <a:t>9/5</a:t>
                </a:r>
                <a:r>
                  <a:rPr lang="en-AU" sz="1600" b="0" i="0" kern="1200" dirty="0">
                    <a:solidFill>
                      <a:schemeClr val="tx1"/>
                    </a:solidFill>
                    <a:effectLst/>
                    <a:latin typeface="Arial" panose="020B0604020202020204" pitchFamily="34" charset="0"/>
                    <a:ea typeface="+mn-ea"/>
                    <a:cs typeface="Arial" panose="020B0604020202020204" pitchFamily="34" charset="0"/>
                  </a:rPr>
                  <a:t> or </a:t>
                </a:r>
                <a:r>
                  <a:rPr lang="en-AU" sz="1600" b="0" i="0" kern="1200">
                    <a:solidFill>
                      <a:schemeClr val="tx1"/>
                    </a:solidFill>
                    <a:effectLst/>
                    <a:latin typeface="Cambria Math" panose="02040503050406030204" pitchFamily="18" charset="0"/>
                    <a:ea typeface="+mn-ea"/>
                    <a:cs typeface="Arial" panose="020B0604020202020204" pitchFamily="34" charset="0"/>
                  </a:rPr>
                  <a:t>9/10</a:t>
                </a:r>
                <a:r>
                  <a:rPr lang="en-AU" sz="1600" b="0" i="0" kern="1200" dirty="0">
                    <a:solidFill>
                      <a:schemeClr val="tx1"/>
                    </a:solidFill>
                    <a:effectLst/>
                    <a:latin typeface="Arial" panose="020B0604020202020204" pitchFamily="34" charset="0"/>
                    <a:ea typeface="+mn-ea"/>
                    <a:cs typeface="Arial" panose="020B0604020202020204" pitchFamily="34" charset="0"/>
                  </a:rPr>
                  <a:t>. In the syllabus, the expression ‘fraction greater than one’ is used instead of the terms ‘improper fraction’ or ‘mixed numeral’. </a:t>
                </a:r>
              </a:p>
              <a:p>
                <a:pPr marL="285750" indent="-285750">
                  <a:buFont typeface="Arial" panose="020B0604020202020204" pitchFamily="34" charset="0"/>
                  <a:buChar char="•"/>
                </a:pPr>
                <a:endParaRPr lang="en-AU" b="0" dirty="0"/>
              </a:p>
              <a:p>
                <a:pPr marL="285750" indent="-285750">
                  <a:buFont typeface="Arial" panose="020B0604020202020204" pitchFamily="34" charset="0"/>
                  <a:buChar char="•"/>
                </a:pPr>
                <a:r>
                  <a:rPr lang="en-AU" b="0" dirty="0"/>
                  <a:t> a rectangular strip on the board and explain that the strip represents a whole length. Ask: How could you create a strip 3-halves the length of the original whole?  </a:t>
                </a:r>
              </a:p>
              <a:p>
                <a:pPr marL="285750" indent="-285750">
                  <a:buFont typeface="Arial" panose="020B0604020202020204" pitchFamily="34" charset="0"/>
                  <a:buChar char="•"/>
                </a:pPr>
                <a:r>
                  <a:rPr lang="en-AU" b="0" dirty="0"/>
                  <a:t>Students turn and talk to a partner to discuss how a strip 3-halves the length of the original whole could be created. </a:t>
                </a:r>
              </a:p>
              <a:p>
                <a:pPr marL="285750" indent="-285750">
                  <a:buFont typeface="Arial" panose="020B0604020202020204" pitchFamily="34" charset="0"/>
                  <a:buChar char="•"/>
                </a:pPr>
                <a:r>
                  <a:rPr lang="en-AU" b="0" dirty="0"/>
                  <a:t>Draw a strip the same length as the whole and model partitioning it in half. Draw an additional half-length to represent 3-halves. Record the fractional notation next to the strip as 3/2. Explain </a:t>
                </a:r>
                <a:r>
                  <a:rPr lang="en-AU" b="0" i="0" dirty="0">
                    <a:solidFill>
                      <a:srgbClr val="000000"/>
                    </a:solidFill>
                    <a:effectLst/>
                    <a:latin typeface="Arial" panose="020B0604020202020204" pitchFamily="34" charset="0"/>
                  </a:rPr>
                  <a:t>that 3-halves can also be renamed as 1 ½.</a:t>
                </a:r>
              </a:p>
              <a:p>
                <a:pPr marL="285750" indent="-285750">
                  <a:buFont typeface="Arial" panose="020B0604020202020204" pitchFamily="34" charset="0"/>
                  <a:buChar char="•"/>
                </a:pPr>
                <a:r>
                  <a:rPr lang="en-AU" sz="1800" b="0" i="0" dirty="0">
                    <a:solidFill>
                      <a:srgbClr val="000000"/>
                    </a:solidFill>
                    <a:effectLst/>
                    <a:latin typeface="Arial" panose="020B0604020202020204" pitchFamily="34" charset="0"/>
                  </a:rPr>
                  <a:t>Provide students with </a:t>
                </a:r>
                <a:r>
                  <a:rPr lang="en-AU" sz="1800" dirty="0"/>
                  <a:t>Resource 20 – the whole strip </a:t>
                </a:r>
                <a:r>
                  <a:rPr lang="en-AU" sz="1800" b="0" i="0" u="sng" strike="noStrike" dirty="0">
                    <a:solidFill>
                      <a:srgbClr val="2F5496"/>
                    </a:solidFill>
                    <a:effectLst/>
                    <a:latin typeface="Arial" panose="020B0604020202020204" pitchFamily="34" charset="0"/>
                  </a:rPr>
                  <a:t>(</a:t>
                </a:r>
                <a:r>
                  <a:rPr lang="en-AU" sz="1800" dirty="0"/>
                  <a:t>this resource corresponds to Resource 20 – the whole strip in Stage 2, Year B Unit 36)</a:t>
                </a:r>
                <a:r>
                  <a:rPr lang="en-AU" sz="1800" b="0" i="0" dirty="0">
                    <a:solidFill>
                      <a:srgbClr val="000000"/>
                    </a:solidFill>
                    <a:effectLst/>
                    <a:latin typeface="Arial" panose="020B0604020202020204" pitchFamily="34" charset="0"/>
                  </a:rPr>
                  <a:t>. Students continue the strip by drawing to represent 6-quarters, 5-thirds and 7-sixths the length of the whole. Record the fractional notation next to each strip.</a:t>
                </a:r>
              </a:p>
              <a:p>
                <a:pPr marL="285750" indent="-285750">
                  <a:buFont typeface="Arial" panose="020B0604020202020204" pitchFamily="34" charset="0"/>
                  <a:buChar char="•"/>
                </a:pPr>
                <a:r>
                  <a:rPr lang="en-AU" b="0" dirty="0"/>
                  <a:t>Students regroup and share their work with a peer. </a:t>
                </a:r>
              </a:p>
            </p:txBody>
          </p:sp>
        </mc:Fallback>
      </mc:AlternateContent>
      <p:sp>
        <p:nvSpPr>
          <p:cNvPr id="4" name="Slide Number Placeholder 3">
            <a:extLst>
              <a:ext uri="{FF2B5EF4-FFF2-40B4-BE49-F238E27FC236}">
                <a16:creationId xmlns:a16="http://schemas.microsoft.com/office/drawing/2014/main" id="{8471FD4D-4893-0D6E-FEC4-23F8C3B907AF}"/>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9716608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E296-D174-FB8B-35EA-66D7217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C1EB-654B-1945-6DC6-4F75C008A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A8029-49D7-F860-D388-7DB8DFAC3418}"/>
              </a:ext>
            </a:extLst>
          </p:cNvPr>
          <p:cNvSpPr>
            <a:spLocks noGrp="1"/>
          </p:cNvSpPr>
          <p:nvPr>
            <p:ph type="body" idx="1"/>
          </p:nvPr>
        </p:nvSpPr>
        <p:spPr/>
        <p:txBody>
          <a:bodyPr/>
          <a:lstStyle/>
          <a:p>
            <a:r>
              <a:rPr lang="en-AU" sz="1600" b="0" i="0" dirty="0">
                <a:solidFill>
                  <a:schemeClr val="tx1"/>
                </a:solidFill>
                <a:latin typeface="Arial"/>
                <a:cs typeface="Arial"/>
              </a:rPr>
              <a:t>This question connects to the content in the developing number sense activity (Activity </a:t>
            </a:r>
            <a:r>
              <a:rPr lang="en-AU" dirty="0">
                <a:latin typeface="Arial"/>
                <a:cs typeface="Arial"/>
              </a:rPr>
              <a:t>3</a:t>
            </a:r>
            <a:r>
              <a:rPr lang="en-AU" sz="1600" b="0" i="0" dirty="0">
                <a:solidFill>
                  <a:schemeClr val="tx1"/>
                </a:solidFill>
                <a:latin typeface="Arial"/>
                <a:cs typeface="Arial"/>
              </a:rPr>
              <a:t>)</a:t>
            </a:r>
            <a:br>
              <a:rPr lang="en-AU" dirty="0">
                <a:latin typeface="Arial"/>
                <a:cs typeface="Arial"/>
              </a:rPr>
            </a:br>
            <a:br>
              <a:rPr lang="en-AU" dirty="0"/>
            </a:br>
            <a:r>
              <a:rPr lang="en-AU" b="1" dirty="0">
                <a:latin typeface="Arial"/>
                <a:cs typeface="Arial"/>
              </a:rPr>
              <a:t>Syllabus focus area:</a:t>
            </a:r>
            <a:endParaRPr lang="en-US" dirty="0">
              <a:solidFill>
                <a:srgbClr val="444444"/>
              </a:solidFill>
              <a:latin typeface="Arial"/>
              <a:cs typeface="Arial"/>
            </a:endParaRPr>
          </a:p>
          <a:p>
            <a:r>
              <a:rPr lang="en-AU" dirty="0">
                <a:latin typeface="Arial"/>
                <a:cs typeface="Arial"/>
              </a:rPr>
              <a:t>Partitioned Fractions B</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dirty="0">
              <a:solidFill>
                <a:schemeClr val="tx1"/>
              </a:solidFill>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sz="1600" b="0" dirty="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dirty="0">
              <a:effectLst/>
              <a:ea typeface="Calibri" panose="020F0502020204030204" pitchFamily="34" charset="0"/>
              <a:cs typeface="Arial"/>
            </a:endParaRPr>
          </a:p>
          <a:p>
            <a:endParaRPr lang="en-US" dirty="0"/>
          </a:p>
        </p:txBody>
      </p:sp>
      <p:sp>
        <p:nvSpPr>
          <p:cNvPr id="4" name="Slide Number Placeholder 3">
            <a:extLst>
              <a:ext uri="{FF2B5EF4-FFF2-40B4-BE49-F238E27FC236}">
                <a16:creationId xmlns:a16="http://schemas.microsoft.com/office/drawing/2014/main" id="{891F9216-63F2-70E7-9AA0-9B87A3C3F854}"/>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442195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Partitioned Fractions B</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025A-464A-1964-87D2-D2B0F402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0734-83E4-D4FD-7416-6158F127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9325-BA4F-C414-3806-6356D5B1F812}"/>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Additive relations A</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7C977BC-3AE4-8ABC-BA1C-6BCC2480FD2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86168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892-37C1-7E8B-D57D-13BF6E21E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D4BA3-81C1-0652-24A7-E708D088E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C95F-17AF-78D0-6712-4C5F6FD6B3DF}"/>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Geometric measure B: Length</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82EEE-5CCA-87F3-1525-8A772D6341B6}"/>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504843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Three-dimensional spatial structure B: Volume </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dirty="0">
                <a:latin typeface="Arial"/>
                <a:cs typeface="Arial"/>
              </a:rPr>
              <a:t>This is a developing number sense activity. </a:t>
            </a:r>
            <a:endParaRPr lang="en-US" dirty="0">
              <a:solidFill>
                <a:srgbClr val="444444"/>
              </a:solidFill>
              <a:latin typeface="Arial"/>
              <a:cs typeface="Arial"/>
            </a:endParaRPr>
          </a:p>
          <a:p>
            <a:pPr>
              <a:lnSpc>
                <a:spcPct val="150000"/>
              </a:lnSpc>
              <a:spcBef>
                <a:spcPts val="1200"/>
              </a:spcBef>
              <a:spcAft>
                <a:spcPts val="600"/>
              </a:spcAft>
              <a:defRPr/>
            </a:pPr>
            <a:endParaRPr lang="en-AU" dirty="0">
              <a:solidFill>
                <a:srgbClr val="444444"/>
              </a:solidFill>
            </a:endParaRPr>
          </a:p>
          <a:p>
            <a:pPr>
              <a:lnSpc>
                <a:spcPct val="150000"/>
              </a:lnSpc>
              <a:spcBef>
                <a:spcPts val="1200"/>
              </a:spcBef>
              <a:spcAft>
                <a:spcPts val="600"/>
              </a:spcAft>
              <a:defRPr/>
            </a:pPr>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latin typeface="Arial"/>
              <a:cs typeface="Arial"/>
            </a:endParaRPr>
          </a:p>
          <a:p>
            <a:pPr>
              <a:lnSpc>
                <a:spcPts val="1913"/>
              </a:lnSpc>
              <a:defRPr/>
            </a:pPr>
            <a:endParaRPr lang="en-AU" dirty="0">
              <a:solidFill>
                <a:srgbClr val="444444"/>
              </a:solidFil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Partitioned Fractions B</a:t>
            </a:r>
          </a:p>
          <a:p>
            <a:pPr>
              <a:defRPr/>
            </a:pPr>
            <a:endParaRPr lang="en-AU" sz="1800" dirty="0">
              <a:latin typeface="Arial"/>
              <a:ea typeface="Calibri"/>
              <a:cs typeface="Arial"/>
            </a:endParaRPr>
          </a:p>
          <a:p>
            <a:pPr>
              <a:defRPr/>
            </a:pPr>
            <a:r>
              <a:rPr lang="en-AU" sz="1800" b="1" i="0" dirty="0">
                <a:solidFill>
                  <a:srgbClr val="002664"/>
                </a:solidFill>
                <a:effectLst/>
                <a:latin typeface="Arial" panose="020B0604020202020204" pitchFamily="34" charset="0"/>
              </a:rPr>
              <a:t>Represent totals of halves, thirds, quarters and fifths that extend beyond 1</a:t>
            </a:r>
          </a:p>
          <a:p>
            <a:pPr>
              <a:defRPr/>
            </a:pPr>
            <a:endParaRPr lang="en-AU" dirty="0"/>
          </a:p>
          <a:p>
            <a:pPr marL="342900" lvl="0" indent="-342900">
              <a:lnSpc>
                <a:spcPct val="150000"/>
              </a:lnSpc>
              <a:spcBef>
                <a:spcPts val="1200"/>
              </a:spcBef>
              <a:spcAft>
                <a:spcPts val="600"/>
              </a:spcAft>
              <a:buFont typeface="Arial" panose="020B0604020202020204" pitchFamily="34" charset="0"/>
              <a:buChar char="•"/>
            </a:pPr>
            <a:r>
              <a:rPr lang="en-AU" dirty="0"/>
              <a:t>Draw a number line on the board and label it 0–2. Ask: Where would one be placed on this number line?  </a:t>
            </a:r>
          </a:p>
          <a:p>
            <a:pPr marL="342900" lvl="0" indent="-342900">
              <a:lnSpc>
                <a:spcPct val="150000"/>
              </a:lnSpc>
              <a:spcBef>
                <a:spcPts val="1200"/>
              </a:spcBef>
              <a:spcAft>
                <a:spcPts val="600"/>
              </a:spcAft>
              <a:buFont typeface="Arial" panose="020B0604020202020204" pitchFamily="34" charset="0"/>
              <a:buChar char="•"/>
            </a:pPr>
            <a:r>
              <a:rPr lang="en-AU" dirty="0"/>
              <a:t>Students draw a 0–2 number line on their individual whiteboards and label the position of zero, one and 2. </a:t>
            </a:r>
          </a:p>
          <a:p>
            <a:pPr marL="342900" lvl="0" indent="-342900">
              <a:lnSpc>
                <a:spcPct val="150000"/>
              </a:lnSpc>
              <a:spcBef>
                <a:spcPts val="1200"/>
              </a:spcBef>
              <a:spcAft>
                <a:spcPts val="600"/>
              </a:spcAft>
              <a:buFont typeface="Arial" panose="020B0604020202020204" pitchFamily="34" charset="0"/>
              <a:buChar char="•"/>
            </a:pPr>
            <a:r>
              <a:rPr lang="en-AU" dirty="0"/>
              <a:t>Students partition the number line into fifths and record the following fractions on their number line: 1/5, 3/5, 1 4/5 and 7/5</a:t>
            </a:r>
          </a:p>
          <a:p>
            <a:pPr marL="342900" lvl="0" indent="-342900">
              <a:lnSpc>
                <a:spcPct val="150000"/>
              </a:lnSpc>
              <a:spcBef>
                <a:spcPts val="1200"/>
              </a:spcBef>
              <a:spcAft>
                <a:spcPts val="600"/>
              </a:spcAft>
              <a:buFont typeface="Arial" panose="020B0604020202020204" pitchFamily="34" charset="0"/>
              <a:buChar char="•"/>
            </a:pPr>
            <a:r>
              <a:rPr lang="en-AU" dirty="0"/>
              <a:t>Write 1 4/5 </a:t>
            </a:r>
            <a:r>
              <a:rPr lang="en-AU" sz="1800" b="0" i="0" dirty="0">
                <a:solidFill>
                  <a:srgbClr val="000000"/>
                </a:solidFill>
                <a:effectLst/>
                <a:latin typeface="Arial" panose="020B0604020202020204" pitchFamily="34" charset="0"/>
              </a:rPr>
              <a:t>on the board.</a:t>
            </a:r>
            <a:r>
              <a:rPr lang="en-AU" sz="1800" b="1" i="0" dirty="0">
                <a:solidFill>
                  <a:srgbClr val="000000"/>
                </a:solidFill>
                <a:effectLst/>
                <a:latin typeface="Arial" panose="020B0604020202020204" pitchFamily="34" charset="0"/>
              </a:rPr>
              <a:t> </a:t>
            </a:r>
            <a:r>
              <a:rPr lang="en-AU" sz="1800" b="0" i="0" dirty="0">
                <a:solidFill>
                  <a:srgbClr val="000000"/>
                </a:solidFill>
                <a:effectLst/>
                <a:latin typeface="Arial" panose="020B0604020202020204" pitchFamily="34" charset="0"/>
              </a:rPr>
              <a:t>Ask: How this fraction could be renamed? 9-fifths. Students record 9/5 </a:t>
            </a:r>
            <a:r>
              <a:rPr lang="en-AU" b="0" i="0" dirty="0">
                <a:solidFill>
                  <a:srgbClr val="000000"/>
                </a:solidFill>
                <a:effectLst/>
                <a:latin typeface="Arial" panose="020B0604020202020204" pitchFamily="34" charset="0"/>
              </a:rPr>
              <a:t>on their number line.</a:t>
            </a:r>
          </a:p>
          <a:p>
            <a:pPr marL="342900" lvl="0" indent="-342900">
              <a:lnSpc>
                <a:spcPct val="150000"/>
              </a:lnSpc>
              <a:spcBef>
                <a:spcPts val="1200"/>
              </a:spcBef>
              <a:spcAft>
                <a:spcPts val="600"/>
              </a:spcAft>
              <a:buFont typeface="Arial" panose="020B0604020202020204" pitchFamily="34" charset="0"/>
              <a:buChar char="•"/>
            </a:pPr>
            <a:r>
              <a:rPr lang="en-AU" b="0" i="0" dirty="0">
                <a:solidFill>
                  <a:srgbClr val="000000"/>
                </a:solidFill>
                <a:effectLst/>
                <a:latin typeface="Arial" panose="020B0604020202020204" pitchFamily="34" charset="0"/>
              </a:rPr>
              <a:t>Write 7/5 on the board. Ask: What is another way to write this fraction?</a:t>
            </a:r>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41684345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a:t>
            </a:r>
            <a:r>
              <a:rPr lang="en-AU" dirty="0">
                <a:latin typeface="Arial"/>
                <a:cs typeface="Arial"/>
              </a:rPr>
              <a:t>4</a:t>
            </a:r>
            <a:r>
              <a:rPr lang="en-AU" sz="1600" b="0" i="0" dirty="0">
                <a:solidFill>
                  <a:schemeClr val="tx1"/>
                </a:solidFill>
                <a:latin typeface="Arial"/>
                <a:cs typeface="Arial"/>
              </a:rPr>
              <a:t>)</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Partitioned Fractions B</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dirty="0">
                <a:latin typeface="Arial" panose="020B0604020202020204" pitchFamily="34" charset="0"/>
                <a:cs typeface="Arial" panose="020B0604020202020204" pitchFamily="34" charset="0"/>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Partitioned Fractions B</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1B36-47E4-7D54-B38D-6E3A12D5F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441C-B175-9310-62E4-2BDB84343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07E7-BCD7-BF66-1FD5-F66F83E9A55D}"/>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Additive relations B</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727C7-CC8D-698F-7170-D71A46934120}"/>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2644537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Geometric measure B: Length</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Two-dimensional spatial structure B: 2DS Shapes</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38CC5-558F-E78B-A9AA-3BB265BCE8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D415E3-9EBC-391C-35BA-3C0DA1E0DF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9DC5F8-0E68-4C81-0A3A-658266298CFD}"/>
              </a:ext>
            </a:extLst>
          </p:cNvPr>
          <p:cNvSpPr>
            <a:spLocks noGrp="1"/>
          </p:cNvSpPr>
          <p:nvPr>
            <p:ph type="body" idx="1"/>
          </p:nvPr>
        </p:nvSpPr>
        <p:spPr/>
        <p:txBody>
          <a:bodyPr/>
          <a:lstStyle/>
          <a:p>
            <a:pPr>
              <a:lnSpc>
                <a:spcPct val="150000"/>
              </a:lnSpc>
              <a:spcBef>
                <a:spcPts val="1200"/>
              </a:spcBef>
              <a:spcAft>
                <a:spcPts val="600"/>
              </a:spcAft>
              <a:defRPr/>
            </a:pPr>
            <a:r>
              <a:rPr lang="en-AU" dirty="0">
                <a:solidFill>
                  <a:srgbClr val="000000"/>
                </a:solidFill>
              </a:rPr>
              <a:t>This is a developing number sense activity. </a:t>
            </a:r>
            <a:endParaRPr lang="en-US" dirty="0">
              <a:solidFill>
                <a:srgbClr val="444444"/>
              </a:solidFill>
            </a:endParaRPr>
          </a:p>
          <a:p>
            <a:pPr>
              <a:lnSpc>
                <a:spcPct val="150000"/>
              </a:lnSpc>
              <a:spcBef>
                <a:spcPts val="1200"/>
              </a:spcBef>
              <a:spcAft>
                <a:spcPts val="600"/>
              </a:spcAft>
              <a:defRPr/>
            </a:pPr>
            <a:endParaRPr lang="en-AU" dirty="0">
              <a:solidFill>
                <a:srgbClr val="444444"/>
              </a:solidFill>
            </a:endParaRPr>
          </a:p>
          <a:p>
            <a:pPr>
              <a:lnSpc>
                <a:spcPct val="150000"/>
              </a:lnSpc>
              <a:spcBef>
                <a:spcPts val="1200"/>
              </a:spcBef>
              <a:spcAft>
                <a:spcPts val="600"/>
              </a:spcAft>
              <a:defRPr/>
            </a:pPr>
            <a:r>
              <a:rPr lang="en-AU" dirty="0">
                <a:solidFill>
                  <a:srgbClr val="000000"/>
                </a:solidFil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endParaRPr>
          </a:p>
          <a:p>
            <a:pPr>
              <a:lnSpc>
                <a:spcPts val="1913"/>
              </a:lnSpc>
              <a:defRPr/>
            </a:pPr>
            <a:endParaRPr lang="en-AU" dirty="0">
              <a:solidFill>
                <a:srgbClr val="444444"/>
              </a:solidFill>
            </a:endParaRPr>
          </a:p>
          <a:p>
            <a:pPr>
              <a:defRPr/>
            </a:pPr>
            <a:r>
              <a:rPr lang="en-AU" b="1" dirty="0">
                <a:solidFill>
                  <a:srgbClr val="000000"/>
                </a:solidFill>
              </a:rPr>
              <a:t>Syllabus focus area:</a:t>
            </a:r>
            <a:endParaRPr lang="en-US" dirty="0">
              <a:solidFill>
                <a:srgbClr val="444444"/>
              </a:solidFill>
            </a:endParaRPr>
          </a:p>
          <a:p>
            <a:pPr>
              <a:defRPr/>
            </a:pPr>
            <a:r>
              <a:rPr lang="en-AU" dirty="0">
                <a:solidFill>
                  <a:srgbClr val="000000"/>
                </a:solidFill>
              </a:rPr>
              <a:t>Partitioned fractions B</a:t>
            </a:r>
            <a:endParaRPr lang="en-AU" dirty="0"/>
          </a:p>
          <a:p>
            <a:pPr>
              <a:tabLst>
                <a:tab pos="228600" algn="l"/>
                <a:tab pos="859155" algn="l"/>
                <a:tab pos="859155" algn="l"/>
              </a:tabLst>
            </a:pPr>
            <a:endParaRPr lang="en-AU" dirty="0">
              <a:latin typeface="Arial"/>
              <a:ea typeface="Calibri" panose="020F0502020204030204" pitchFamily="34" charset="0"/>
              <a:cs typeface="Arial"/>
            </a:endParaRPr>
          </a:p>
          <a:p>
            <a:pPr>
              <a:tabLst>
                <a:tab pos="228600" algn="l"/>
                <a:tab pos="859155" algn="l"/>
                <a:tab pos="859155" algn="l"/>
              </a:tabLst>
            </a:pPr>
            <a:r>
              <a:rPr lang="en-AU" b="1" dirty="0">
                <a:latin typeface="Arial"/>
                <a:ea typeface="Calibri"/>
                <a:cs typeface="Arial"/>
              </a:rPr>
              <a:t>Renaming fractions</a:t>
            </a:r>
            <a:endParaRPr lang="en-AU" b="1" dirty="0">
              <a:latin typeface="Arial"/>
              <a:ea typeface="Calibri" panose="020F0502020204030204" pitchFamily="34" charset="0"/>
              <a:cs typeface="Arial"/>
            </a:endParaRPr>
          </a:p>
          <a:p>
            <a:pPr marL="0" lvl="0" indent="0">
              <a:lnSpc>
                <a:spcPct val="150000"/>
              </a:lnSpc>
              <a:spcBef>
                <a:spcPts val="1200"/>
              </a:spcBef>
              <a:spcAft>
                <a:spcPts val="600"/>
              </a:spcAft>
              <a:buFont typeface="+mj-lt"/>
              <a:buNone/>
            </a:pPr>
            <a:endParaRPr lang="en-AU" b="0" i="0" dirty="0">
              <a:solidFill>
                <a:srgbClr val="002664"/>
              </a:solidFill>
              <a:effectLst/>
              <a:latin typeface="Arial" panose="020B0604020202020204" pitchFamily="34" charset="0"/>
            </a:endParaRPr>
          </a:p>
          <a:p>
            <a:pPr marL="285750" lvl="0" indent="-285750">
              <a:lnSpc>
                <a:spcPct val="150000"/>
              </a:lnSpc>
              <a:spcBef>
                <a:spcPts val="1200"/>
              </a:spcBef>
              <a:spcAft>
                <a:spcPts val="600"/>
              </a:spcAft>
              <a:buFont typeface="Arial" panose="020B0604020202020204" pitchFamily="34" charset="0"/>
              <a:buChar char="•"/>
            </a:pPr>
            <a:r>
              <a:rPr lang="en-AU" dirty="0"/>
              <a:t>Students draw a 0–2 number line on their individual whiteboards and label the position of zero, one and 2.  </a:t>
            </a:r>
          </a:p>
          <a:p>
            <a:pPr marL="285750" lvl="0" indent="-285750">
              <a:lnSpc>
                <a:spcPct val="150000"/>
              </a:lnSpc>
              <a:spcBef>
                <a:spcPts val="1200"/>
              </a:spcBef>
              <a:spcAft>
                <a:spcPts val="600"/>
              </a:spcAft>
              <a:buFont typeface="Arial" panose="020B0604020202020204" pitchFamily="34" charset="0"/>
              <a:buChar char="•"/>
            </a:pPr>
            <a:r>
              <a:rPr lang="en-AU" dirty="0"/>
              <a:t>Students partition the number line into thirds and record the following fractions on their number line 2/3, 3/3 and 5/3</a:t>
            </a:r>
          </a:p>
          <a:p>
            <a:pPr marL="285750" lvl="0" indent="-285750">
              <a:lnSpc>
                <a:spcPct val="150000"/>
              </a:lnSpc>
              <a:spcBef>
                <a:spcPts val="1200"/>
              </a:spcBef>
              <a:spcAft>
                <a:spcPts val="600"/>
              </a:spcAft>
              <a:buFont typeface="Arial" panose="020B0604020202020204" pitchFamily="34" charset="0"/>
              <a:buChar char="•"/>
            </a:pPr>
            <a:r>
              <a:rPr lang="en-AU" b="0" i="0" dirty="0">
                <a:solidFill>
                  <a:srgbClr val="000000"/>
                </a:solidFill>
                <a:effectLst/>
                <a:latin typeface="Arial" panose="020B0604020202020204" pitchFamily="34" charset="0"/>
              </a:rPr>
              <a:t>Write 2 on the board. Ask: How could this number be renamed as thirds? (6-thirds) Students record 6/3 on their number line.</a:t>
            </a:r>
          </a:p>
          <a:p>
            <a:pPr marL="285750" lvl="0" indent="-285750">
              <a:lnSpc>
                <a:spcPct val="150000"/>
              </a:lnSpc>
              <a:spcBef>
                <a:spcPts val="1200"/>
              </a:spcBef>
              <a:spcAft>
                <a:spcPts val="600"/>
              </a:spcAft>
              <a:buFont typeface="Arial" panose="020B0604020202020204" pitchFamily="34" charset="0"/>
              <a:buChar char="•"/>
            </a:pPr>
            <a:r>
              <a:rPr lang="en-AU" b="0" i="0" dirty="0">
                <a:solidFill>
                  <a:srgbClr val="000000"/>
                </a:solidFill>
                <a:effectLst/>
                <a:latin typeface="Arial" panose="020B0604020202020204" pitchFamily="34" charset="0"/>
              </a:rPr>
              <a:t>Ask: How can 5/3 be renamed? 1 2/3</a:t>
            </a:r>
          </a:p>
          <a:p>
            <a:pPr marL="285750" lvl="0" indent="-285750">
              <a:lnSpc>
                <a:spcPct val="150000"/>
              </a:lnSpc>
              <a:spcBef>
                <a:spcPts val="1200"/>
              </a:spcBef>
              <a:spcAft>
                <a:spcPts val="600"/>
              </a:spcAft>
              <a:buFont typeface="Arial" panose="020B0604020202020204" pitchFamily="34" charset="0"/>
              <a:buChar char="•"/>
            </a:pPr>
            <a:r>
              <a:rPr lang="en-AU" b="0" i="0" dirty="0">
                <a:solidFill>
                  <a:srgbClr val="000000"/>
                </a:solidFill>
                <a:effectLst/>
                <a:latin typeface="Arial" panose="020B0604020202020204" pitchFamily="34" charset="0"/>
              </a:rPr>
              <a:t>Ask: How can 3/3 be renamed? (one whole)</a:t>
            </a:r>
            <a:endParaRPr lang="en-AU" dirty="0"/>
          </a:p>
        </p:txBody>
      </p:sp>
      <p:sp>
        <p:nvSpPr>
          <p:cNvPr id="4" name="Slide Number Placeholder 3">
            <a:extLst>
              <a:ext uri="{FF2B5EF4-FFF2-40B4-BE49-F238E27FC236}">
                <a16:creationId xmlns:a16="http://schemas.microsoft.com/office/drawing/2014/main" id="{D3F109FE-9A5A-621D-F33F-D816E0273C0C}"/>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11820168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dirty="0">
                <a:solidFill>
                  <a:schemeClr val="tx1"/>
                </a:solidFill>
                <a:latin typeface="Arial"/>
                <a:cs typeface="Arial"/>
              </a:rPr>
              <a:t>This question connects to the content in the developing number sense activity (Activity </a:t>
            </a:r>
            <a:r>
              <a:rPr lang="en-AU" dirty="0">
                <a:latin typeface="Arial"/>
                <a:cs typeface="Arial"/>
              </a:rPr>
              <a:t>5</a:t>
            </a:r>
            <a:r>
              <a:rPr lang="en-AU" sz="1600" b="0" i="0" dirty="0">
                <a:solidFill>
                  <a:schemeClr val="tx1"/>
                </a:solidFill>
                <a:latin typeface="Arial"/>
                <a:cs typeface="Arial"/>
              </a:rPr>
              <a:t>)</a:t>
            </a:r>
            <a:br>
              <a:rPr lang="en-AU" dirty="0">
                <a:latin typeface="Arial"/>
                <a:cs typeface="Arial"/>
              </a:rPr>
            </a:br>
            <a:br>
              <a:rPr lang="en-AU" dirty="0"/>
            </a:b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A</a:t>
            </a:r>
            <a:endParaRPr lang="en-AU" sz="1600" b="0" i="0" dirty="0">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dirty="0">
              <a:effectLst/>
              <a:ea typeface="Calibri" panose="020F0502020204030204" pitchFamily="34" charset="0"/>
              <a:cs typeface="Arial"/>
            </a:endParaRPr>
          </a:p>
          <a:p>
            <a:endParaRPr lang="en-US"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Multiplicative relations B</a:t>
            </a:r>
            <a:endParaRPr lang="en-AU" sz="1600" dirty="0">
              <a:latin typeface="Public Sans"/>
            </a:endParaRPr>
          </a:p>
          <a:p>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Additive relations B</a:t>
            </a:r>
            <a:endParaRPr lang="en-AU" sz="1600" dirty="0">
              <a:latin typeface="Public Sans"/>
            </a:endParaRPr>
          </a:p>
          <a:p>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593475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Non spatial measure B: Mass</a:t>
            </a:r>
            <a:endParaRPr lang="en-AU" sz="1600" dirty="0">
              <a:latin typeface="Public Sans"/>
            </a:endParaRPr>
          </a:p>
          <a:p>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Chance B</a:t>
            </a:r>
            <a:endParaRPr lang="en-AU" sz="1600" dirty="0">
              <a:latin typeface="Public Sans"/>
            </a:endParaRPr>
          </a:p>
          <a:p>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DACF3-6930-FC4C-2B7C-2F50122545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63B6FF-87D2-375C-BE86-7C45B85F7C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CACD95-00E9-2D46-783B-FBEF997C5500}"/>
              </a:ext>
            </a:extLst>
          </p:cNvPr>
          <p:cNvSpPr>
            <a:spLocks noGrp="1"/>
          </p:cNvSpPr>
          <p:nvPr>
            <p:ph type="body" idx="1"/>
          </p:nvPr>
        </p:nvSpPr>
        <p:spPr/>
        <p:txBody>
          <a:bodyPr/>
          <a:lstStyle/>
          <a:p>
            <a:pPr defTabSz="914400">
              <a:lnSpc>
                <a:spcPct val="150000"/>
              </a:lnSpc>
              <a:spcBef>
                <a:spcPts val="1200"/>
              </a:spcBef>
              <a:spcAft>
                <a:spcPts val="600"/>
              </a:spcAft>
            </a:pPr>
            <a:r>
              <a:rPr lang="en-AU" sz="1800" dirty="0">
                <a:latin typeface="Arial"/>
                <a:cs typeface="Arial"/>
              </a:rPr>
              <a:t>This is a developing number sense activity. </a:t>
            </a:r>
            <a:endParaRPr lang="en-US" sz="1800" dirty="0">
              <a:solidFill>
                <a:srgbClr val="444444"/>
              </a:solidFill>
              <a:latin typeface="Arial"/>
              <a:cs typeface="Arial"/>
            </a:endParaRPr>
          </a:p>
          <a:p>
            <a:pPr defTabSz="914400">
              <a:lnSpc>
                <a:spcPct val="150000"/>
              </a:lnSpc>
              <a:spcBef>
                <a:spcPts val="1200"/>
              </a:spcBef>
              <a:spcAft>
                <a:spcPts val="600"/>
              </a:spcAft>
            </a:pPr>
            <a:endParaRPr lang="en-AU" sz="1800" dirty="0">
              <a:solidFill>
                <a:srgbClr val="444444"/>
              </a:solidFill>
            </a:endParaRPr>
          </a:p>
          <a:p>
            <a:pPr defTabSz="914400">
              <a:lnSpc>
                <a:spcPct val="150000"/>
              </a:lnSpc>
              <a:spcBef>
                <a:spcPts val="1200"/>
              </a:spcBef>
              <a:spcAft>
                <a:spcPts val="600"/>
              </a:spcAft>
            </a:pPr>
            <a:r>
              <a:rPr lang="en-AU" sz="18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defTabSz="914400">
              <a:lnSpc>
                <a:spcPts val="1913"/>
              </a:lnSpc>
            </a:pPr>
            <a:endParaRPr lang="en-AU" sz="1800" dirty="0">
              <a:solidFill>
                <a:srgbClr val="444444"/>
              </a:solidFill>
            </a:endParaRPr>
          </a:p>
          <a:p>
            <a:pPr defTabSz="914400"/>
            <a:r>
              <a:rPr lang="en-AU" sz="1800" b="1" dirty="0">
                <a:latin typeface="Arial"/>
                <a:cs typeface="Arial"/>
              </a:rPr>
              <a:t>Syllabus focus area:</a:t>
            </a:r>
            <a:endParaRPr lang="en-US" sz="1800" dirty="0">
              <a:solidFill>
                <a:srgbClr val="444444"/>
              </a:solidFill>
              <a:latin typeface="Arial"/>
              <a:cs typeface="Arial"/>
            </a:endParaRPr>
          </a:p>
          <a:p>
            <a:pPr defTabSz="914400"/>
            <a:r>
              <a:rPr lang="en-AU" sz="1800" dirty="0">
                <a:solidFill>
                  <a:srgbClr val="000000"/>
                </a:solidFill>
                <a:latin typeface="Arial"/>
                <a:cs typeface="Arial"/>
              </a:rPr>
              <a:t>Additive relations A</a:t>
            </a:r>
          </a:p>
          <a:p>
            <a:pPr defTabSz="914400"/>
            <a:endParaRPr lang="en-AU" sz="1800" dirty="0">
              <a:latin typeface="Arial"/>
              <a:ea typeface="Calibri"/>
              <a:cs typeface="Arial"/>
            </a:endParaRPr>
          </a:p>
          <a:p>
            <a:pPr defTabSz="914400"/>
            <a:r>
              <a:rPr lang="en-AU" sz="1800" b="1" dirty="0">
                <a:latin typeface="Arial"/>
                <a:ea typeface="Calibri"/>
                <a:cs typeface="Arial"/>
              </a:rPr>
              <a:t>Equivalent money</a:t>
            </a:r>
          </a:p>
          <a:p>
            <a:pPr marL="0" lvl="0" indent="0">
              <a:lnSpc>
                <a:spcPct val="150000"/>
              </a:lnSpc>
              <a:spcBef>
                <a:spcPts val="1200"/>
              </a:spcBef>
              <a:spcAft>
                <a:spcPts val="600"/>
              </a:spcAft>
              <a:buFont typeface="+mj-lt"/>
              <a:buNone/>
              <a:tabLst>
                <a:tab pos="228600" algn="l"/>
              </a:tabLst>
            </a:pPr>
            <a:endParaRPr lang="en-AU" sz="1800" b="1" i="0" dirty="0">
              <a:solidFill>
                <a:srgbClr val="000000"/>
              </a:solidFill>
              <a:effectLst/>
              <a:latin typeface="Arial" panose="020B0604020202020204" pitchFamily="34" charset="0"/>
            </a:endParaRPr>
          </a:p>
          <a:p>
            <a:pPr marL="0" lvl="0" indent="0">
              <a:lnSpc>
                <a:spcPct val="150000"/>
              </a:lnSpc>
              <a:spcBef>
                <a:spcPts val="1200"/>
              </a:spcBef>
              <a:spcAft>
                <a:spcPts val="600"/>
              </a:spcAft>
              <a:buFont typeface="+mj-lt"/>
              <a:buNone/>
              <a:tabLst>
                <a:tab pos="228600" algn="l"/>
              </a:tabLst>
            </a:pPr>
            <a:r>
              <a:rPr lang="en-AU" sz="1800" b="1" i="0" dirty="0">
                <a:solidFill>
                  <a:srgbClr val="000000"/>
                </a:solidFill>
                <a:effectLst/>
                <a:latin typeface="Arial" panose="020B0604020202020204" pitchFamily="34" charset="0"/>
              </a:rPr>
              <a:t>Note:</a:t>
            </a:r>
            <a:r>
              <a:rPr lang="en-AU" sz="1800" b="0" i="0" dirty="0">
                <a:solidFill>
                  <a:srgbClr val="000000"/>
                </a:solidFill>
                <a:effectLst/>
                <a:latin typeface="Arial" panose="020B0604020202020204" pitchFamily="34" charset="0"/>
              </a:rPr>
              <a:t> plastic coins and notes can be used during this activity. Current Australian coins in circulation can be identified at Royal Australian Mint. Current Australian notes in circulation can be identified at Reserve Bank of Australia.  </a:t>
            </a:r>
            <a:endParaRPr lang="en-AU" sz="18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endParaRPr lang="en-AU" sz="18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r>
              <a:rPr lang="en-AU" sz="1800" dirty="0">
                <a:effectLst/>
                <a:latin typeface="Arial" panose="020B0604020202020204" pitchFamily="34" charset="0"/>
                <a:ea typeface="Calibri" panose="020F0502020204030204" pitchFamily="34" charset="0"/>
              </a:rPr>
              <a:t>Ask students: How many ways can one dollar be made using different coins? </a:t>
            </a:r>
          </a:p>
          <a:p>
            <a:pPr marL="342900" lvl="0" indent="-342900">
              <a:lnSpc>
                <a:spcPct val="150000"/>
              </a:lnSpc>
              <a:spcBef>
                <a:spcPts val="1200"/>
              </a:spcBef>
              <a:spcAft>
                <a:spcPts val="600"/>
              </a:spcAft>
              <a:buFont typeface="+mj-lt"/>
              <a:buAutoNum type="arabicPeriod"/>
              <a:tabLst>
                <a:tab pos="228600" algn="l"/>
              </a:tabLst>
            </a:pPr>
            <a:r>
              <a:rPr lang="en-AU" sz="1800" dirty="0">
                <a:effectLst/>
                <a:latin typeface="Arial" panose="020B0604020202020204" pitchFamily="34" charset="0"/>
                <a:ea typeface="Calibri" panose="020F0502020204030204" pitchFamily="34" charset="0"/>
              </a:rPr>
              <a:t>Using the coins on the screens, model creating 2 different combinations of one dollar (duplicate coins as needed). For example, two 50 cent coins and ten 10 cent coins. </a:t>
            </a:r>
          </a:p>
          <a:p>
            <a:pPr marL="342900" lvl="0" indent="-342900">
              <a:lnSpc>
                <a:spcPct val="150000"/>
              </a:lnSpc>
              <a:spcBef>
                <a:spcPts val="1200"/>
              </a:spcBef>
              <a:spcAft>
                <a:spcPts val="600"/>
              </a:spcAft>
              <a:buFont typeface="+mj-lt"/>
              <a:buAutoNum type="arabicPeriod"/>
              <a:tabLst>
                <a:tab pos="228600" algn="l"/>
              </a:tabLst>
            </a:pPr>
            <a:r>
              <a:rPr lang="en-AU" sz="1800" dirty="0">
                <a:effectLst/>
                <a:latin typeface="Arial" panose="020B0604020202020204" pitchFamily="34" charset="0"/>
                <a:ea typeface="Calibri" panose="020F0502020204030204" pitchFamily="34" charset="0"/>
              </a:rPr>
              <a:t>Using plastic money, and working in pairs or small groups, students take turns creating other different combinations of coins that are equivalent to one dollar, finding as many combinations as possible. </a:t>
            </a:r>
          </a:p>
          <a:p>
            <a:pPr marL="342900" lvl="0" indent="-342900">
              <a:lnSpc>
                <a:spcPct val="150000"/>
              </a:lnSpc>
              <a:spcBef>
                <a:spcPts val="1200"/>
              </a:spcBef>
              <a:spcAft>
                <a:spcPts val="600"/>
              </a:spcAft>
              <a:buFont typeface="+mj-lt"/>
              <a:buAutoNum type="arabicPeriod"/>
              <a:tabLst>
                <a:tab pos="228600" algn="l"/>
              </a:tabLst>
            </a:pPr>
            <a:r>
              <a:rPr lang="en-AU" sz="1800" dirty="0">
                <a:effectLst/>
                <a:latin typeface="Arial" panose="020B0604020202020204" pitchFamily="34" charset="0"/>
                <a:ea typeface="Calibri" panose="020F0502020204030204" pitchFamily="34" charset="0"/>
              </a:rPr>
              <a:t>Ask students: How many other combinations did you find? </a:t>
            </a:r>
          </a:p>
          <a:p>
            <a:pPr marL="342900" lvl="0" indent="-342900">
              <a:lnSpc>
                <a:spcPct val="150000"/>
              </a:lnSpc>
              <a:spcBef>
                <a:spcPts val="1200"/>
              </a:spcBef>
              <a:spcAft>
                <a:spcPts val="600"/>
              </a:spcAft>
              <a:buFont typeface="+mj-lt"/>
              <a:buAutoNum type="arabicPeriod"/>
              <a:tabLst>
                <a:tab pos="228600" algn="l"/>
              </a:tabLst>
            </a:pPr>
            <a:r>
              <a:rPr lang="en-AU" sz="1800" dirty="0">
                <a:effectLst/>
                <a:latin typeface="Arial" panose="020B0604020202020204" pitchFamily="34" charset="0"/>
                <a:ea typeface="Calibri" panose="020F0502020204030204" pitchFamily="34" charset="0"/>
              </a:rPr>
              <a:t>Students then create different combinations of coins that are equivalent to 2 dollars, finding as many combinations as possible. </a:t>
            </a:r>
          </a:p>
          <a:p>
            <a:pPr marL="342900" lvl="0" indent="-342900">
              <a:lnSpc>
                <a:spcPct val="150000"/>
              </a:lnSpc>
              <a:spcBef>
                <a:spcPts val="1200"/>
              </a:spcBef>
              <a:spcAft>
                <a:spcPts val="600"/>
              </a:spcAft>
              <a:buFont typeface="+mj-lt"/>
              <a:buAutoNum type="arabicPeriod"/>
              <a:tabLst>
                <a:tab pos="228600" algn="l"/>
              </a:tabLst>
            </a:pPr>
            <a:r>
              <a:rPr lang="en-AU" sz="1800" dirty="0">
                <a:effectLst/>
                <a:latin typeface="Arial" panose="020B0604020202020204" pitchFamily="34" charset="0"/>
                <a:ea typeface="Calibri" panose="020F0502020204030204" pitchFamily="34" charset="0"/>
              </a:rPr>
              <a:t>Select students to answer the question: </a:t>
            </a:r>
          </a:p>
          <a:p>
            <a:pPr marL="342900" lvl="0" indent="-342900">
              <a:lnSpc>
                <a:spcPct val="150000"/>
              </a:lnSpc>
              <a:spcBef>
                <a:spcPts val="1200"/>
              </a:spcBef>
              <a:spcAft>
                <a:spcPts val="600"/>
              </a:spcAft>
              <a:buFont typeface="+mj-lt"/>
              <a:buAutoNum type="arabicPeriod"/>
              <a:tabLst>
                <a:tab pos="228600" algn="l"/>
              </a:tabLst>
            </a:pPr>
            <a:r>
              <a:rPr lang="en-AU" sz="1800" dirty="0">
                <a:effectLst/>
                <a:latin typeface="Arial" panose="020B0604020202020204" pitchFamily="34" charset="0"/>
                <a:ea typeface="Calibri" panose="020F0502020204030204" pitchFamily="34" charset="0"/>
              </a:rPr>
              <a:t>What combinations of coins did you find that were equivalent to 2 dollars? </a:t>
            </a:r>
            <a:endParaRPr lang="en-AU" dirty="0"/>
          </a:p>
        </p:txBody>
      </p:sp>
      <p:sp>
        <p:nvSpPr>
          <p:cNvPr id="4" name="Slide Number Placeholder 3">
            <a:extLst>
              <a:ext uri="{FF2B5EF4-FFF2-40B4-BE49-F238E27FC236}">
                <a16:creationId xmlns:a16="http://schemas.microsoft.com/office/drawing/2014/main" id="{A116C9F2-65EC-8966-E60F-E0CFD91CB938}"/>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2917083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a:t>
            </a:r>
            <a:r>
              <a:rPr lang="en-AU" dirty="0">
                <a:latin typeface="Arial"/>
                <a:cs typeface="Arial"/>
              </a:rPr>
              <a:t>6</a:t>
            </a:r>
            <a:r>
              <a:rPr lang="en-AU" sz="1600" b="0" i="0" dirty="0">
                <a:solidFill>
                  <a:schemeClr val="tx1"/>
                </a:solidFill>
                <a:latin typeface="Arial"/>
                <a:cs typeface="Arial"/>
              </a:rPr>
              <a:t>)</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A</a:t>
            </a:r>
            <a:endParaRPr lang="en-AU" sz="1600" b="0" i="0" dirty="0">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Representing numbers using place value B: Decimals</a:t>
            </a:r>
            <a:endParaRPr lang="en-AU" sz="1600" dirty="0">
              <a:latin typeface="Public Sans"/>
            </a:endParaRPr>
          </a:p>
          <a:p>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Additive relations B</a:t>
            </a:r>
            <a:endParaRPr lang="en-AU" sz="1600" dirty="0">
              <a:latin typeface="Public Sans"/>
            </a:endParaRPr>
          </a:p>
          <a:p>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Non spatial measure B: Mass</a:t>
            </a:r>
            <a:endParaRPr lang="en-AU" sz="1600" dirty="0">
              <a:latin typeface="Public Sans"/>
            </a:endParaRPr>
          </a:p>
          <a:p>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Three-dimensional spatial structure B: 3DS Objects</a:t>
            </a:r>
            <a:endParaRPr lang="en-AU" sz="1600" dirty="0">
              <a:latin typeface="Public Sans"/>
            </a:endParaRPr>
          </a:p>
          <a:p>
            <a:endParaRPr lang="en-AU" dirty="0"/>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400">
              <a:lnSpc>
                <a:spcPct val="150000"/>
              </a:lnSpc>
              <a:spcBef>
                <a:spcPts val="1200"/>
              </a:spcBef>
              <a:spcAft>
                <a:spcPts val="600"/>
              </a:spcAft>
            </a:pPr>
            <a:r>
              <a:rPr lang="en-AU" dirty="0">
                <a:latin typeface="Arial"/>
                <a:cs typeface="Arial"/>
              </a:rPr>
              <a:t>This is a developing number sense activity. </a:t>
            </a:r>
            <a:endParaRPr lang="en-US" dirty="0">
              <a:solidFill>
                <a:srgbClr val="444444"/>
              </a:solidFill>
              <a:latin typeface="Arial"/>
              <a:cs typeface="Arial"/>
            </a:endParaRPr>
          </a:p>
          <a:p>
            <a:pPr defTabSz="914400">
              <a:lnSpc>
                <a:spcPct val="150000"/>
              </a:lnSpc>
              <a:spcBef>
                <a:spcPts val="1200"/>
              </a:spcBef>
              <a:spcAft>
                <a:spcPts val="600"/>
              </a:spcAft>
            </a:pPr>
            <a:endParaRPr lang="en-AU" dirty="0">
              <a:solidFill>
                <a:srgbClr val="444444"/>
              </a:solidFill>
            </a:endParaRPr>
          </a:p>
          <a:p>
            <a:pPr defTabSz="914400">
              <a:lnSpc>
                <a:spcPct val="150000"/>
              </a:lnSpc>
              <a:spcBef>
                <a:spcPts val="1200"/>
              </a:spcBef>
              <a:spcAft>
                <a:spcPts val="600"/>
              </a:spcAft>
            </a:pPr>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latin typeface="Arial"/>
              <a:cs typeface="Arial"/>
            </a:endParaRPr>
          </a:p>
          <a:p>
            <a:pPr defTabSz="914400">
              <a:lnSpc>
                <a:spcPts val="1913"/>
              </a:lnSpc>
            </a:pPr>
            <a:endParaRPr lang="en-AU" dirty="0">
              <a:solidFill>
                <a:srgbClr val="444444"/>
              </a:solidFill>
            </a:endParaRPr>
          </a:p>
          <a:p>
            <a:pPr defTabSz="914400"/>
            <a:r>
              <a:rPr lang="en-AU" b="1" dirty="0">
                <a:latin typeface="Arial"/>
                <a:cs typeface="Arial"/>
              </a:rPr>
              <a:t>Syllabus focus area:</a:t>
            </a:r>
            <a:endParaRPr lang="en-US" dirty="0">
              <a:solidFill>
                <a:srgbClr val="444444"/>
              </a:solidFill>
              <a:latin typeface="Arial"/>
              <a:cs typeface="Arial"/>
            </a:endParaRPr>
          </a:p>
          <a:p>
            <a:pPr defTabSz="914400"/>
            <a:r>
              <a:rPr lang="en-AU" dirty="0">
                <a:solidFill>
                  <a:srgbClr val="000000"/>
                </a:solidFill>
                <a:latin typeface="Arial"/>
                <a:cs typeface="Arial"/>
              </a:rPr>
              <a:t>Additive relations A</a:t>
            </a:r>
          </a:p>
          <a:p>
            <a:pPr defTabSz="914400"/>
            <a:endParaRPr lang="en-AU" dirty="0">
              <a:latin typeface="Arial"/>
              <a:ea typeface="Calibri"/>
              <a:cs typeface="Arial"/>
            </a:endParaRPr>
          </a:p>
          <a:p>
            <a:pPr defTabSz="914400"/>
            <a:r>
              <a:rPr lang="en-AU" b="1" dirty="0">
                <a:latin typeface="Arial"/>
                <a:ea typeface="Calibri"/>
                <a:cs typeface="Arial"/>
              </a:rPr>
              <a:t>Equivalent amounts of money</a:t>
            </a:r>
          </a:p>
          <a:p>
            <a:endParaRPr lang="en-AU" dirty="0"/>
          </a:p>
          <a:p>
            <a:r>
              <a:rPr lang="en-AU" dirty="0"/>
              <a:t>This activity is an adaptation of Classroom talk: Money Wall moments from the Mathematics Hub by the Commonwealth of Australia. </a:t>
            </a:r>
          </a:p>
          <a:p>
            <a:endParaRPr lang="en-AU" dirty="0"/>
          </a:p>
          <a:p>
            <a:r>
              <a:rPr lang="en-AU" dirty="0"/>
              <a:t>Display Resource 21 - completed money wall (this resource corresponds to Resource 21 – completed money wall in Stage 2, Year B Unit 36).</a:t>
            </a:r>
          </a:p>
          <a:p>
            <a:endParaRPr lang="en-AU" dirty="0"/>
          </a:p>
          <a:p>
            <a:pPr marL="285750" indent="-285750">
              <a:buFont typeface="Arial" panose="020B0604020202020204" pitchFamily="34" charset="0"/>
              <a:buChar char="•"/>
            </a:pPr>
            <a:r>
              <a:rPr lang="en-AU" dirty="0"/>
              <a:t>Explain to students that each row in this grid is equal to the 20 cents in the top row. </a:t>
            </a:r>
          </a:p>
          <a:p>
            <a:pPr marL="285750" indent="-285750">
              <a:buFont typeface="Arial" panose="020B0604020202020204" pitchFamily="34" charset="0"/>
              <a:buChar char="•"/>
            </a:pPr>
            <a:r>
              <a:rPr lang="en-AU" dirty="0"/>
              <a:t>Note: Ensure students recognise and understand that each row in the money wall is made up of double the parts of the row above. Make connections to a fraction wall that shows one whole, 2-halves, and 4-quarters. Identify that every row is equivalent; they have the same value.  </a:t>
            </a:r>
          </a:p>
          <a:p>
            <a:pPr marL="285750" indent="-285750">
              <a:buFont typeface="Arial" panose="020B0604020202020204" pitchFamily="34" charset="0"/>
              <a:buChar char="•"/>
            </a:pPr>
            <a:r>
              <a:rPr lang="en-AU" dirty="0"/>
              <a:t>Provide pairs of students with Resource 22 – money wall and four 5 cent coins, eight 10 cent coins, eight 20 cent coins, four 50 cent coins, two $1 coins and one $2 coin.  </a:t>
            </a:r>
          </a:p>
          <a:p>
            <a:pPr marL="285750" indent="-285750">
              <a:buFont typeface="Arial" panose="020B0604020202020204" pitchFamily="34" charset="0"/>
              <a:buChar char="•"/>
            </a:pPr>
            <a:r>
              <a:rPr lang="en-AU" dirty="0"/>
              <a:t>Note: if no plastic Australian coins are available, use Resource 23 – Australian coins.  </a:t>
            </a:r>
          </a:p>
          <a:p>
            <a:pPr marL="285750" indent="-285750">
              <a:buFont typeface="Arial" panose="020B0604020202020204" pitchFamily="34" charset="0"/>
              <a:buChar char="•"/>
            </a:pPr>
            <a:r>
              <a:rPr lang="en-AU" dirty="0"/>
              <a:t>Students create money walls with 80 cents, $1.40 and $2.80 in the top row and add the total for each money wall. </a:t>
            </a:r>
          </a:p>
          <a:p>
            <a:pPr marL="285750" indent="-285750">
              <a:buFont typeface="Arial" panose="020B0604020202020204" pitchFamily="34" charset="0"/>
              <a:buChar char="•"/>
            </a:pPr>
            <a:r>
              <a:rPr lang="en-AU" dirty="0"/>
              <a:t>Select students to answer: </a:t>
            </a:r>
          </a:p>
          <a:p>
            <a:pPr marL="285750" indent="-285750">
              <a:buFont typeface="Arial" panose="020B0604020202020204" pitchFamily="34" charset="0"/>
              <a:buChar char="•"/>
            </a:pPr>
            <a:r>
              <a:rPr lang="en-AU" dirty="0"/>
              <a:t>What strategies did you use to find the different combinations?  </a:t>
            </a:r>
          </a:p>
          <a:p>
            <a:pPr marL="285750" indent="-285750">
              <a:buFont typeface="Arial" panose="020B0604020202020204" pitchFamily="34" charset="0"/>
              <a:buChar char="•"/>
            </a:pPr>
            <a:r>
              <a:rPr lang="en-AU" dirty="0"/>
              <a:t>How do you know if all equivalent combinations have been made? </a:t>
            </a:r>
          </a:p>
        </p:txBody>
      </p:sp>
      <p:sp>
        <p:nvSpPr>
          <p:cNvPr id="4" name="Slide Number Placeholder 3"/>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5183110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4E1AA-AE86-2419-E2D4-2F289D4B1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B1A52-D738-FB15-6A68-894885BF7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58CA6-89FC-61BC-201C-3E8BC638A28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a:t>
            </a:r>
            <a:r>
              <a:rPr lang="en-AU" dirty="0">
                <a:latin typeface="Arial"/>
                <a:cs typeface="Arial"/>
              </a:rPr>
              <a:t>7</a:t>
            </a:r>
            <a:r>
              <a:rPr lang="en-AU" sz="1600" b="0" i="0" dirty="0">
                <a:solidFill>
                  <a:schemeClr val="tx1"/>
                </a:solidFill>
                <a:latin typeface="Arial"/>
                <a:cs typeface="Arial"/>
              </a:rPr>
              <a:t>)</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A</a:t>
            </a:r>
            <a:endParaRPr lang="en-AU" sz="1600" b="0" i="0" dirty="0">
              <a:latin typeface="Arial" panose="020B0604020202020204" pitchFamily="34" charset="0"/>
              <a:cs typeface="Arial" panose="020B0604020202020204" pitchFamily="34" charset="0"/>
            </a:endParaRPr>
          </a:p>
          <a:p>
            <a:pPr>
              <a:defRPr/>
            </a:pPr>
            <a:endParaRPr lang="en-AU" dirty="0"/>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2E524-5D71-6633-0348-9CDDC581B714}"/>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7992859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62D4-8CDF-3A16-9383-CF65E5D54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EC1DC-8102-F54F-FD01-BD0A326EA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F67FB4-808C-53C5-E7C8-1C1C0014BACE}"/>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Representing numbers using place value B: Decimals</a:t>
            </a:r>
            <a:endParaRPr lang="en-AU" sz="1600" dirty="0">
              <a:latin typeface="Public Sans"/>
            </a:endParaRPr>
          </a:p>
          <a:p>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5CCA5-799B-A6F3-5A0C-A876308D7F2A}"/>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32978713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Additive relations B</a:t>
            </a:r>
            <a:endParaRPr lang="en-AU" sz="1600" dirty="0">
              <a:latin typeface="Public Sans"/>
            </a:endParaRPr>
          </a:p>
          <a:p>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Non spatial measure B: Mass</a:t>
            </a:r>
            <a:endParaRPr lang="en-AU" sz="1600" dirty="0">
              <a:latin typeface="Public Sans"/>
            </a:endParaRPr>
          </a:p>
          <a:p>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Geometric measure B: Angles</a:t>
            </a:r>
            <a:endParaRPr lang="en-AU" sz="1600" dirty="0">
              <a:latin typeface="Public Sans"/>
            </a:endParaRPr>
          </a:p>
          <a:p>
            <a:endParaRPr lang="en-AU" sz="1600" b="0" i="0" dirty="0">
              <a:latin typeface="Public Sans"/>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DDAA5-69B7-6B9D-E186-5E8419C42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4F045-33E3-7B1C-6A34-60D8F7135C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6B77D-DDFE-FD72-5EB1-9C107829A578}"/>
              </a:ext>
            </a:extLst>
          </p:cNvPr>
          <p:cNvSpPr>
            <a:spLocks noGrp="1"/>
          </p:cNvSpPr>
          <p:nvPr>
            <p:ph type="body" idx="1"/>
          </p:nvPr>
        </p:nvSpPr>
        <p:spPr/>
        <p:txBody>
          <a:bodyPr/>
          <a:lstStyle/>
          <a:p>
            <a:pPr>
              <a:lnSpc>
                <a:spcPct val="150000"/>
              </a:lnSpc>
              <a:spcBef>
                <a:spcPts val="1200"/>
              </a:spcBef>
              <a:spcAft>
                <a:spcPts val="600"/>
              </a:spcAft>
            </a:pPr>
            <a:r>
              <a:rPr lang="en-AU" dirty="0">
                <a:latin typeface="Arial"/>
                <a:cs typeface="Arial"/>
              </a:rPr>
              <a:t>This is a developing number sense activity. </a:t>
            </a:r>
            <a:endParaRPr lang="en-US" dirty="0">
              <a:solidFill>
                <a:srgbClr val="444444"/>
              </a:solidFill>
              <a:latin typeface="Arial"/>
              <a:cs typeface="Arial"/>
            </a:endParaRPr>
          </a:p>
          <a:p>
            <a:pPr>
              <a:lnSpc>
                <a:spcPct val="150000"/>
              </a:lnSpc>
              <a:spcBef>
                <a:spcPts val="1200"/>
              </a:spcBef>
              <a:spcAft>
                <a:spcPts val="600"/>
              </a:spcAft>
            </a:pPr>
            <a:endParaRPr lang="en-AU" dirty="0">
              <a:solidFill>
                <a:srgbClr val="444444"/>
              </a:solidFill>
            </a:endParaRPr>
          </a:p>
          <a:p>
            <a:pPr>
              <a:lnSpc>
                <a:spcPct val="150000"/>
              </a:lnSpc>
              <a:spcBef>
                <a:spcPts val="1200"/>
              </a:spcBef>
              <a:spcAft>
                <a:spcPts val="600"/>
              </a:spcAft>
            </a:pPr>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latin typeface="Arial"/>
              <a:cs typeface="Arial"/>
            </a:endParaRPr>
          </a:p>
          <a:p>
            <a:pPr>
              <a:lnSpc>
                <a:spcPts val="1913"/>
              </a:lnSpc>
            </a:pPr>
            <a:endParaRPr lang="en-AU" dirty="0">
              <a:solidFill>
                <a:srgbClr val="444444"/>
              </a:solidFill>
            </a:endParaRPr>
          </a:p>
          <a:p>
            <a:r>
              <a:rPr lang="en-AU" b="1" dirty="0">
                <a:latin typeface="Arial"/>
                <a:cs typeface="Arial"/>
              </a:rPr>
              <a:t>Syllabus focus area:</a:t>
            </a:r>
            <a:endParaRPr lang="en-US" dirty="0">
              <a:solidFill>
                <a:srgbClr val="444444"/>
              </a:solidFill>
              <a:latin typeface="Arial"/>
              <a:cs typeface="Arial"/>
            </a:endParaRPr>
          </a:p>
          <a:p>
            <a:r>
              <a:rPr lang="en-AU" dirty="0">
                <a:latin typeface="Arial"/>
                <a:cs typeface="Arial"/>
              </a:rPr>
              <a:t>Additive relations A</a:t>
            </a:r>
            <a:endParaRPr lang="en-AU" dirty="0">
              <a:solidFill>
                <a:srgbClr val="444444"/>
              </a:solidFill>
              <a:latin typeface="Arial"/>
              <a:cs typeface="Arial"/>
            </a:endParaRPr>
          </a:p>
          <a:p>
            <a:pPr marL="285750" indent="-285750">
              <a:buFont typeface="Arial" panose="020F0302020204030204"/>
              <a:buChar char="•"/>
            </a:pPr>
            <a:endParaRPr lang="en-AU" dirty="0">
              <a:solidFill>
                <a:srgbClr val="444444"/>
              </a:solidFill>
            </a:endParaRPr>
          </a:p>
          <a:p>
            <a:pPr>
              <a:lnSpc>
                <a:spcPct val="150000"/>
              </a:lnSpc>
              <a:spcBef>
                <a:spcPts val="1200"/>
              </a:spcBef>
              <a:spcAft>
                <a:spcPts val="600"/>
              </a:spcAft>
            </a:pPr>
            <a:r>
              <a:rPr lang="en-AU" b="1" dirty="0">
                <a:latin typeface="Arial"/>
                <a:ea typeface="Calibri"/>
                <a:cs typeface="Arial"/>
              </a:rPr>
              <a:t>Calculations with money</a:t>
            </a:r>
            <a:endParaRPr lang="en-AU" b="1" dirty="0">
              <a:ea typeface="Calibri"/>
            </a:endParaRPr>
          </a:p>
          <a:p>
            <a:pPr marL="285750" indent="-285750">
              <a:buFont typeface="Arial" panose="020B0604020202020204" pitchFamily="34" charset="0"/>
              <a:buChar char="•"/>
            </a:pPr>
            <a:r>
              <a:rPr lang="en-AU" dirty="0"/>
              <a:t>Display Resource 24 – canteen price list (this resource corresponds to Resource 24 – canteen price list in Stage 2, Year B Unit 36).</a:t>
            </a:r>
          </a:p>
          <a:p>
            <a:pPr marL="285750" indent="-285750">
              <a:buFont typeface="Arial" panose="020B0604020202020204" pitchFamily="34" charset="0"/>
              <a:buChar char="•"/>
            </a:pPr>
            <a:r>
              <a:rPr lang="en-AU" dirty="0"/>
              <a:t>Use a think aloud: I have $1 to buy something from the canteen. I am going to buy an apple. What else can I buy with my change? </a:t>
            </a:r>
          </a:p>
          <a:p>
            <a:pPr marL="285750" indent="-285750">
              <a:buFont typeface="Arial" panose="020B0604020202020204" pitchFamily="34" charset="0"/>
              <a:buChar char="•"/>
            </a:pPr>
            <a:r>
              <a:rPr lang="en-AU" dirty="0"/>
              <a:t>Use a think aloud: I know that half of one dollar is 50 cents, so I can buy 2 items that are fifty cents each. I can buy my apple and baklava. I can also see that I could buy some pancakes instead. I know that if I have 50 cents then I can buy 2 pancakes, and I will get some change. </a:t>
            </a:r>
          </a:p>
          <a:p>
            <a:pPr marL="285750" indent="-285750">
              <a:buFont typeface="Arial" panose="020B0604020202020204" pitchFamily="34" charset="0"/>
              <a:buChar char="•"/>
            </a:pPr>
            <a:r>
              <a:rPr lang="en-AU" dirty="0"/>
              <a:t>Pose the question: If you bought an ice cream, an apple, a juice and a sandwich, how much change would you receive from $12?   </a:t>
            </a:r>
          </a:p>
          <a:p>
            <a:pPr marL="285750" indent="-285750">
              <a:buFont typeface="Arial" panose="020B0604020202020204" pitchFamily="34" charset="0"/>
              <a:buChar char="•"/>
            </a:pPr>
            <a:r>
              <a:rPr lang="en-AU" dirty="0"/>
              <a:t>Ask students to work with a partner to solve the question in their books (or on whiteboards) </a:t>
            </a:r>
          </a:p>
          <a:p>
            <a:pPr marL="285750" indent="-285750">
              <a:buFont typeface="Arial" panose="020B0604020202020204" pitchFamily="34" charset="0"/>
              <a:buChar char="•"/>
            </a:pPr>
            <a:r>
              <a:rPr lang="en-AU" dirty="0"/>
              <a:t>Select students to share which strategy was used to determine the answer and why they found this to be the most efficient. </a:t>
            </a:r>
          </a:p>
        </p:txBody>
      </p:sp>
      <p:sp>
        <p:nvSpPr>
          <p:cNvPr id="4" name="Slide Number Placeholder 3">
            <a:extLst>
              <a:ext uri="{FF2B5EF4-FFF2-40B4-BE49-F238E27FC236}">
                <a16:creationId xmlns:a16="http://schemas.microsoft.com/office/drawing/2014/main" id="{C04E1AC2-5864-056A-9860-6143E40F4B48}"/>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17570037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a:t>
            </a:r>
            <a:r>
              <a:rPr lang="en-AU" dirty="0">
                <a:latin typeface="Arial"/>
                <a:cs typeface="Arial"/>
              </a:rPr>
              <a:t>8</a:t>
            </a:r>
            <a:r>
              <a:rPr lang="en-AU" sz="1600" b="0" i="0" dirty="0">
                <a:solidFill>
                  <a:schemeClr val="tx1"/>
                </a:solidFill>
                <a:latin typeface="Arial"/>
                <a:cs typeface="Arial"/>
              </a:rPr>
              <a:t>)</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Multiplicative relations A</a:t>
            </a:r>
            <a:endParaRPr lang="en-AU" sz="1600" b="0" i="0" dirty="0">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dirty="0">
                <a:latin typeface="Arial" panose="020B0604020202020204" pitchFamily="34" charset="0"/>
                <a:cs typeface="Arial" panose="020B0604020202020204" pitchFamily="34" charset="0"/>
              </a:rPr>
            </a:br>
            <a:endParaRPr lang="en-AU" sz="1600" b="0" i="0" dirty="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Representing numbers using place value B: Decimals</a:t>
            </a:r>
            <a:endParaRPr lang="en-AU" sz="1600" dirty="0">
              <a:latin typeface="Public Sans"/>
            </a:endParaRPr>
          </a:p>
          <a:p>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33361990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Additive relations B</a:t>
            </a:r>
            <a:endParaRPr lang="en-AU" sz="1600" dirty="0">
              <a:latin typeface="Public Sans"/>
            </a:endParaRPr>
          </a:p>
          <a:p>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Non spatial measure B: Mass</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993A-B0EC-5958-6F66-C545E0BE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EA9FF-B123-5F5A-0CCF-31A0BAF3D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5045E-1C4C-8CA0-E96F-0AF9A3F0ABB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Non spatial measure B: Time</a:t>
            </a:r>
            <a:endParaRPr lang="en-AU" sz="1600" dirty="0">
              <a:latin typeface="Public Sans"/>
            </a:endParaRPr>
          </a:p>
          <a:p>
            <a:endParaRPr lang="en-AU" dirty="0"/>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68A08A-0379-056A-4ADA-5D3F78B00160}"/>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55060838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A6C07-F673-8EDD-64A0-EC1614639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362A8D-235C-A462-A524-91ADA5B83F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2B7F1B-4BF0-C645-EEBF-05B27217A8DB}"/>
              </a:ext>
            </a:extLst>
          </p:cNvPr>
          <p:cNvSpPr>
            <a:spLocks noGrp="1"/>
          </p:cNvSpPr>
          <p:nvPr>
            <p:ph type="body" idx="1"/>
          </p:nvPr>
        </p:nvSpPr>
        <p:spPr/>
        <p:txBody>
          <a:bodyPr/>
          <a:lstStyle/>
          <a:p>
            <a:pPr>
              <a:lnSpc>
                <a:spcPct val="150000"/>
              </a:lnSpc>
              <a:spcBef>
                <a:spcPts val="1200"/>
              </a:spcBef>
              <a:spcAft>
                <a:spcPts val="600"/>
              </a:spcAft>
            </a:pPr>
            <a:r>
              <a:rPr lang="en-AU" dirty="0">
                <a:latin typeface="Arial"/>
                <a:cs typeface="Arial"/>
              </a:rPr>
              <a:t>This is a developing number sense activity. </a:t>
            </a:r>
            <a:endParaRPr lang="en-US" dirty="0">
              <a:solidFill>
                <a:srgbClr val="444444"/>
              </a:solidFill>
              <a:latin typeface="Arial"/>
              <a:cs typeface="Arial"/>
            </a:endParaRPr>
          </a:p>
          <a:p>
            <a:pPr>
              <a:lnSpc>
                <a:spcPct val="150000"/>
              </a:lnSpc>
              <a:spcBef>
                <a:spcPts val="1200"/>
              </a:spcBef>
              <a:spcAft>
                <a:spcPts val="600"/>
              </a:spcAft>
            </a:pPr>
            <a:endParaRPr lang="en-AU" dirty="0">
              <a:solidFill>
                <a:srgbClr val="444444"/>
              </a:solidFill>
            </a:endParaRPr>
          </a:p>
          <a:p>
            <a:pPr>
              <a:lnSpc>
                <a:spcPct val="150000"/>
              </a:lnSpc>
              <a:spcBef>
                <a:spcPts val="1200"/>
              </a:spcBef>
              <a:spcAft>
                <a:spcPts val="600"/>
              </a:spcAft>
            </a:pPr>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latin typeface="Arial"/>
              <a:cs typeface="Arial"/>
            </a:endParaRPr>
          </a:p>
          <a:p>
            <a:pPr>
              <a:lnSpc>
                <a:spcPts val="1913"/>
              </a:lnSpc>
            </a:pPr>
            <a:endParaRPr lang="en-AU" dirty="0">
              <a:solidFill>
                <a:srgbClr val="444444"/>
              </a:solidFill>
            </a:endParaRPr>
          </a:p>
          <a:p>
            <a:r>
              <a:rPr lang="en-AU" b="1" dirty="0">
                <a:latin typeface="Arial"/>
                <a:cs typeface="Arial"/>
              </a:rPr>
              <a:t>Syllabus focus area:</a:t>
            </a:r>
            <a:endParaRPr lang="en-US" dirty="0">
              <a:solidFill>
                <a:srgbClr val="444444"/>
              </a:solidFill>
              <a:latin typeface="Arial"/>
              <a:cs typeface="Arial"/>
            </a:endParaRPr>
          </a:p>
          <a:p>
            <a:r>
              <a:rPr lang="en-AU" dirty="0">
                <a:latin typeface="Arial"/>
                <a:cs typeface="Arial"/>
              </a:rPr>
              <a:t>Additive relations A</a:t>
            </a:r>
            <a:endParaRPr lang="en-AU" dirty="0">
              <a:solidFill>
                <a:srgbClr val="444444"/>
              </a:solidFill>
              <a:latin typeface="Arial"/>
              <a:cs typeface="Arial"/>
            </a:endParaRPr>
          </a:p>
          <a:p>
            <a:endParaRPr lang="en-AU" dirty="0">
              <a:solidFill>
                <a:srgbClr val="444444"/>
              </a:solidFill>
            </a:endParaRPr>
          </a:p>
          <a:p>
            <a:pPr>
              <a:lnSpc>
                <a:spcPct val="150000"/>
              </a:lnSpc>
              <a:spcBef>
                <a:spcPts val="1200"/>
              </a:spcBef>
              <a:spcAft>
                <a:spcPts val="600"/>
              </a:spcAft>
            </a:pPr>
            <a:r>
              <a:rPr lang="en-AU" b="1" dirty="0">
                <a:latin typeface="Arial"/>
                <a:cs typeface="Arial"/>
              </a:rPr>
              <a:t>Finding change</a:t>
            </a:r>
            <a:endParaRPr lang="en-AU" dirty="0">
              <a:solidFill>
                <a:srgbClr val="444444"/>
              </a:solidFill>
              <a:latin typeface="Arial"/>
              <a:cs typeface="Arial"/>
            </a:endParaRPr>
          </a:p>
          <a:p>
            <a:endParaRPr lang="en-AU" dirty="0"/>
          </a:p>
          <a:p>
            <a:pPr marL="285750" indent="-285750">
              <a:buFont typeface="Arial" panose="020B0604020202020204" pitchFamily="34" charset="0"/>
              <a:buChar char="•"/>
            </a:pPr>
            <a:r>
              <a:rPr lang="en-AU" dirty="0"/>
              <a:t>Display Resource 24 – canteen price list (this resource corresponds to Resource 24 – canteen price list in Stage 2, Year B Unit 36).</a:t>
            </a:r>
          </a:p>
          <a:p>
            <a:pPr marL="285750" indent="-285750">
              <a:buFont typeface="Arial" panose="020B0604020202020204" pitchFamily="34" charset="0"/>
              <a:buChar char="•"/>
            </a:pPr>
            <a:r>
              <a:rPr lang="en-AU" dirty="0"/>
              <a:t>Pose the question: If you received $3.50 change from $15, what could you have bought? </a:t>
            </a:r>
          </a:p>
          <a:p>
            <a:pPr marL="285750" indent="-285750">
              <a:buFont typeface="Arial" panose="020B0604020202020204" pitchFamily="34" charset="0"/>
              <a:buChar char="•"/>
            </a:pPr>
            <a:r>
              <a:rPr lang="en-AU" dirty="0"/>
              <a:t>Ask students to work with a partner to solve the question in their books (or on whiteboards). </a:t>
            </a:r>
          </a:p>
          <a:p>
            <a:pPr marL="285750" indent="-285750">
              <a:buFont typeface="Arial" panose="020B0604020202020204" pitchFamily="34" charset="0"/>
              <a:buChar char="•"/>
            </a:pPr>
            <a:r>
              <a:rPr lang="en-AU" dirty="0"/>
              <a:t>Select students to share which strategy was used to determine the answer and why they found this to be the most efficient. Repeat with another student. </a:t>
            </a:r>
          </a:p>
        </p:txBody>
      </p:sp>
      <p:sp>
        <p:nvSpPr>
          <p:cNvPr id="4" name="Slide Number Placeholder 3">
            <a:extLst>
              <a:ext uri="{FF2B5EF4-FFF2-40B4-BE49-F238E27FC236}">
                <a16:creationId xmlns:a16="http://schemas.microsoft.com/office/drawing/2014/main" id="{11864C97-DC5E-A1D1-3245-9EA6F6D3E378}"/>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182279918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208879224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84523454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hyperlink" Target="https://toytheater.com/fraction-strips/"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6.jpe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6.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6.png"/><Relationship Id="rId4" Type="http://schemas.openxmlformats.org/officeDocument/2006/relationships/image" Target="../media/image200.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16.jpeg"/><Relationship Id="rId5"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6.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5.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sv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16.jpe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 Id="rId14" Type="http://schemas.openxmlformats.org/officeDocument/2006/relationships/image" Target="../media/image44.sv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5.xml"/><Relationship Id="rId1" Type="http://schemas.openxmlformats.org/officeDocument/2006/relationships/slideLayout" Target="../slideLayouts/slideLayout11.xml"/><Relationship Id="rId4" Type="http://schemas.openxmlformats.org/officeDocument/2006/relationships/image" Target="../media/image16.jpe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6.png"/><Relationship Id="rId7"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6.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2.xml"/><Relationship Id="rId1" Type="http://schemas.openxmlformats.org/officeDocument/2006/relationships/slideLayout" Target="../slideLayouts/slideLayout11.xml"/><Relationship Id="rId4" Type="http://schemas.openxmlformats.org/officeDocument/2006/relationships/image" Target="../media/image16.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55.png"/></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9.xml"/><Relationship Id="rId1" Type="http://schemas.openxmlformats.org/officeDocument/2006/relationships/slideLayout" Target="../slideLayouts/slideLayout11.xml"/><Relationship Id="rId4" Type="http://schemas.openxmlformats.org/officeDocument/2006/relationships/image" Target="../media/image16.jpe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4.xml"/><Relationship Id="rId1" Type="http://schemas.openxmlformats.org/officeDocument/2006/relationships/slideLayout" Target="../slideLayouts/slideLayout11.xml"/><Relationship Id="rId4" Type="http://schemas.openxmlformats.org/officeDocument/2006/relationships/image" Target="../media/image59.sv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8" Type="http://schemas.openxmlformats.org/officeDocument/2006/relationships/hyperlink" Target="https://www.ramint.gov.au/circulating-coins"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polypad.amplify.com/p"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banknotes.rba.gov.au/australias-banknotes/banknotes-in-circulation/" TargetMode="External"/><Relationship Id="rId5" Type="http://schemas.openxmlformats.org/officeDocument/2006/relationships/hyperlink" Target="https://curriculum.nsw.edu.au/" TargetMode="External"/><Relationship Id="rId10" Type="http://schemas.openxmlformats.org/officeDocument/2006/relationships/hyperlink" Target="https://www.mathsisfun.com/money/make-amount.html"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michaelaepstein.com.au/post/exploring-the-edges-of-mathematical-ideas"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www.ncetm.org.uk/classroom-resources/cp-year-3-unit-8-unit-fractions/"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apps.mathlearningcenter.org/fractions/"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www.education.vic.gov.au/Documents/school/teachers/teachingresources/discipline/maths/pppartitioning.pdf"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dirty="0">
                <a:latin typeface="Arial"/>
                <a:cs typeface="Arial"/>
              </a:rPr>
              <a:t>This resource aligns to the learning in Stage 2 Year B Unit 36 and revisits content from earlier sample units.</a:t>
            </a:r>
          </a:p>
          <a:p>
            <a:pPr marL="342900" indent="-342900">
              <a:buFont typeface="Arial"/>
              <a:buChar char="•"/>
            </a:pPr>
            <a:r>
              <a:rPr lang="en-AU" sz="1800" dirty="0">
                <a:solidFill>
                  <a:srgbClr val="22272B"/>
                </a:solidFill>
                <a:latin typeface="+mn-lt"/>
                <a:cs typeface="Arial"/>
              </a:rPr>
              <a:t>Classroom teachers are encouraged to </a:t>
            </a:r>
            <a:r>
              <a:rPr lang="en-AU" sz="1800" b="1" dirty="0">
                <a:solidFill>
                  <a:srgbClr val="22272B"/>
                </a:solidFill>
                <a:latin typeface="+mn-lt"/>
                <a:cs typeface="Arial"/>
              </a:rPr>
              <a:t>add, edit and adapt</a:t>
            </a:r>
            <a:r>
              <a:rPr lang="en-AU" sz="1800" dirty="0">
                <a:solidFill>
                  <a:srgbClr val="22272B"/>
                </a:solidFill>
                <a:latin typeface="+mn-lt"/>
                <a:cs typeface="Arial"/>
              </a:rPr>
              <a:t> to meet the needs of their students.</a:t>
            </a:r>
          </a:p>
          <a:p>
            <a:pPr marL="342900" indent="-342900">
              <a:lnSpc>
                <a:spcPct val="150000"/>
              </a:lnSpc>
              <a:buFont typeface="Arial"/>
              <a:buChar char="•"/>
            </a:pPr>
            <a:r>
              <a:rPr lang="en-AU" sz="1800" dirty="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cs typeface="Arial"/>
              </a:rPr>
              <a:t>To convert the PowerPoint to Google Slides:</a:t>
            </a:r>
          </a:p>
          <a:p>
            <a:pPr marL="913765" lvl="1" indent="-457200">
              <a:lnSpc>
                <a:spcPct val="150000"/>
              </a:lnSpc>
              <a:buFont typeface="+mj-lt"/>
              <a:buAutoNum type="arabicPeriod"/>
            </a:pPr>
            <a:r>
              <a:rPr lang="en-AU" dirty="0">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dirty="0">
                <a:solidFill>
                  <a:srgbClr val="22272B"/>
                </a:solidFill>
                <a:latin typeface="+mn-lt"/>
                <a:cs typeface="Arial"/>
              </a:rPr>
              <a:t>Go to File &gt; Save as Google Slides.</a:t>
            </a:r>
          </a:p>
          <a:p>
            <a:pPr marL="456565" lvl="1">
              <a:lnSpc>
                <a:spcPct val="150000"/>
              </a:lnSpc>
            </a:pPr>
            <a:r>
              <a:rPr lang="en-AU" dirty="0">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dirty="0">
                <a:latin typeface="+mj-lt"/>
                <a:cs typeface="Arial"/>
              </a:rPr>
              <a:t>Mathematics Stage 2 </a:t>
            </a:r>
            <a:r>
              <a:rPr lang="en-AU" sz="2400" dirty="0">
                <a:solidFill>
                  <a:srgbClr val="FFFFFF"/>
                </a:solidFill>
                <a:latin typeface="+mj-lt"/>
                <a:cs typeface="Arial"/>
              </a:rPr>
              <a:t>–</a:t>
            </a:r>
            <a:r>
              <a:rPr lang="en-AU" sz="2400" dirty="0">
                <a:latin typeface="+mj-lt"/>
                <a:cs typeface="Arial"/>
              </a:rPr>
              <a:t> Unit 36</a:t>
            </a:r>
          </a:p>
        </p:txBody>
      </p:sp>
      <p:pic>
        <p:nvPicPr>
          <p:cNvPr id="6" name="Picture 2" descr="A group of dice on an orange surface&#10;">
            <a:extLst>
              <a:ext uri="{FF2B5EF4-FFF2-40B4-BE49-F238E27FC236}">
                <a16:creationId xmlns:a16="http://schemas.microsoft.com/office/drawing/2014/main" id="{4891AA57-8945-8517-617C-4802F64BA4DA}"/>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1799" r="1799"/>
          <a:stretch>
            <a:fillRect/>
          </a:stretch>
        </p:blipFill>
        <p:spPr bwMode="auto">
          <a:xfrm>
            <a:off x="7127875" y="0"/>
            <a:ext cx="50641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latin typeface="+mj-lt"/>
                </a:rPr>
                <a:t>Review of learning 2</a:t>
              </a:r>
              <a:endParaRPr lang="en-US" dirty="0">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dirty="0"/>
              <a:t>Multiple choice </a:t>
            </a:r>
            <a:r>
              <a:rPr lang="en-US" dirty="0">
                <a:solidFill>
                  <a:schemeClr val="bg1"/>
                </a:solidFill>
              </a:rPr>
              <a:t>(1) (1) (1)</a:t>
            </a:r>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967577"/>
            <a:ext cx="11358861" cy="754243"/>
          </a:xfrm>
        </p:spPr>
        <p:txBody>
          <a:bodyPr vert="horz" lIns="0" tIns="0" rIns="0" bIns="0" rtlCol="0" anchor="t">
            <a:noAutofit/>
          </a:bodyPr>
          <a:lstStyle/>
          <a:p>
            <a:r>
              <a:rPr lang="en-US" sz="4400" b="1" dirty="0">
                <a:latin typeface="Arial"/>
                <a:cs typeface="Arial"/>
              </a:rPr>
              <a:t>Which</a:t>
            </a:r>
            <a:r>
              <a:rPr lang="en-US" sz="4400" dirty="0">
                <a:latin typeface="Arial"/>
                <a:cs typeface="Arial"/>
              </a:rPr>
              <a:t> of the following is </a:t>
            </a:r>
            <a:r>
              <a:rPr lang="en-US" sz="4400" b="1" dirty="0">
                <a:latin typeface="Arial"/>
                <a:cs typeface="Arial"/>
              </a:rPr>
              <a:t>one whole</a:t>
            </a:r>
            <a:r>
              <a:rPr lang="en-US" sz="4400" dirty="0">
                <a:latin typeface="Arial"/>
                <a:cs typeface="Arial"/>
              </a:rPr>
              <a:t>?</a:t>
            </a:r>
          </a:p>
        </p:txBody>
      </p:sp>
      <p:sp>
        <p:nvSpPr>
          <p:cNvPr id="9" name="TextBox 8">
            <a:extLst>
              <a:ext uri="{FF2B5EF4-FFF2-40B4-BE49-F238E27FC236}">
                <a16:creationId xmlns:a16="http://schemas.microsoft.com/office/drawing/2014/main" id="{17539DAC-4E92-AFE5-86E8-50C88518EFAD}"/>
              </a:ext>
            </a:extLst>
          </p:cNvPr>
          <p:cNvSpPr txBox="1"/>
          <p:nvPr/>
        </p:nvSpPr>
        <p:spPr>
          <a:xfrm>
            <a:off x="679889" y="228416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9888" y="419153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096000" y="419153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096000" y="2284160"/>
            <a:ext cx="52942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pic>
        <p:nvPicPr>
          <p:cNvPr id="6" name="Picture 5" descr="image of a finger selecting an option for a multiple choice or true and false">
            <a:extLst>
              <a:ext uri="{FF2B5EF4-FFF2-40B4-BE49-F238E27FC236}">
                <a16:creationId xmlns:a16="http://schemas.microsoft.com/office/drawing/2014/main" id="{D3D1DC3B-1B1B-6515-571E-5C8995A16EF6}"/>
              </a:ext>
            </a:extLst>
          </p:cNvPr>
          <p:cNvPicPr>
            <a:picLocks noChangeAspect="1"/>
          </p:cNvPicPr>
          <p:nvPr/>
        </p:nvPicPr>
        <p:blipFill>
          <a:blip r:embed="rId3"/>
          <a:stretch>
            <a:fillRect/>
          </a:stretch>
        </p:blipFill>
        <p:spPr>
          <a:xfrm>
            <a:off x="10807908" y="43303"/>
            <a:ext cx="1165786" cy="1140716"/>
          </a:xfrm>
          <a:prstGeom prst="rect">
            <a:avLst/>
          </a:prstGeom>
        </p:spPr>
      </p:pic>
      <p:pic>
        <p:nvPicPr>
          <p:cNvPr id="24" name="Picture 23" descr="A fraction bar with 3/4 filled.">
            <a:extLst>
              <a:ext uri="{FF2B5EF4-FFF2-40B4-BE49-F238E27FC236}">
                <a16:creationId xmlns:a16="http://schemas.microsoft.com/office/drawing/2014/main" id="{9BCB8F46-EDAA-187C-0E51-81F13040DCE2}"/>
              </a:ext>
            </a:extLst>
          </p:cNvPr>
          <p:cNvPicPr>
            <a:picLocks noChangeAspect="1"/>
          </p:cNvPicPr>
          <p:nvPr/>
        </p:nvPicPr>
        <p:blipFill>
          <a:blip r:embed="rId4"/>
          <a:srcRect b="49095"/>
          <a:stretch>
            <a:fillRect/>
          </a:stretch>
        </p:blipFill>
        <p:spPr>
          <a:xfrm>
            <a:off x="1602268" y="2379792"/>
            <a:ext cx="2346028" cy="534096"/>
          </a:xfrm>
          <a:prstGeom prst="rect">
            <a:avLst/>
          </a:prstGeom>
        </p:spPr>
      </p:pic>
      <p:pic>
        <p:nvPicPr>
          <p:cNvPr id="26" name="Picture 25" descr="A fraction bar with 2/3 filled.&#10;">
            <a:extLst>
              <a:ext uri="{FF2B5EF4-FFF2-40B4-BE49-F238E27FC236}">
                <a16:creationId xmlns:a16="http://schemas.microsoft.com/office/drawing/2014/main" id="{487167BC-45A5-CD55-C330-D3D6CB904876}"/>
              </a:ext>
            </a:extLst>
          </p:cNvPr>
          <p:cNvPicPr>
            <a:picLocks noChangeAspect="1"/>
          </p:cNvPicPr>
          <p:nvPr/>
        </p:nvPicPr>
        <p:blipFill>
          <a:blip r:embed="rId5"/>
          <a:srcRect b="49825"/>
          <a:stretch>
            <a:fillRect/>
          </a:stretch>
        </p:blipFill>
        <p:spPr>
          <a:xfrm>
            <a:off x="1602268" y="4293822"/>
            <a:ext cx="2346028" cy="534097"/>
          </a:xfrm>
          <a:prstGeom prst="rect">
            <a:avLst/>
          </a:prstGeom>
        </p:spPr>
      </p:pic>
      <p:pic>
        <p:nvPicPr>
          <p:cNvPr id="28" name="Picture 27" descr="A fraction bar with the whole filled.">
            <a:extLst>
              <a:ext uri="{FF2B5EF4-FFF2-40B4-BE49-F238E27FC236}">
                <a16:creationId xmlns:a16="http://schemas.microsoft.com/office/drawing/2014/main" id="{681A006D-1FFC-7885-9A1A-C7E90EE1A4FA}"/>
              </a:ext>
            </a:extLst>
          </p:cNvPr>
          <p:cNvPicPr>
            <a:picLocks noChangeAspect="1"/>
          </p:cNvPicPr>
          <p:nvPr/>
        </p:nvPicPr>
        <p:blipFill>
          <a:blip r:embed="rId6"/>
          <a:srcRect b="49967"/>
          <a:stretch>
            <a:fillRect/>
          </a:stretch>
        </p:blipFill>
        <p:spPr>
          <a:xfrm>
            <a:off x="7070692" y="2379793"/>
            <a:ext cx="2346028" cy="534096"/>
          </a:xfrm>
          <a:prstGeom prst="rect">
            <a:avLst/>
          </a:prstGeom>
        </p:spPr>
      </p:pic>
      <p:pic>
        <p:nvPicPr>
          <p:cNvPr id="30" name="Picture 29" descr="A fraction bar with 4/6 filled&#10;">
            <a:extLst>
              <a:ext uri="{FF2B5EF4-FFF2-40B4-BE49-F238E27FC236}">
                <a16:creationId xmlns:a16="http://schemas.microsoft.com/office/drawing/2014/main" id="{936489BC-B75B-9888-0F74-A8007045A6C2}"/>
              </a:ext>
            </a:extLst>
          </p:cNvPr>
          <p:cNvPicPr>
            <a:picLocks noChangeAspect="1"/>
          </p:cNvPicPr>
          <p:nvPr/>
        </p:nvPicPr>
        <p:blipFill>
          <a:blip r:embed="rId7"/>
          <a:stretch>
            <a:fillRect/>
          </a:stretch>
        </p:blipFill>
        <p:spPr>
          <a:xfrm>
            <a:off x="7094023" y="4293822"/>
            <a:ext cx="2322697" cy="534096"/>
          </a:xfrm>
          <a:prstGeom prst="rect">
            <a:avLst/>
          </a:prstGeom>
        </p:spPr>
      </p:pic>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(1)(1) (1)</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4F3FEFD7-8600-F68D-84BD-680FA1695628}"/>
                  </a:ext>
                </a:extLst>
              </p:cNvPr>
              <p:cNvSpPr>
                <a:spLocks noGrp="1"/>
              </p:cNvSpPr>
              <p:nvPr>
                <p:ph type="pic" sz="quarter" idx="21"/>
              </p:nvPr>
            </p:nvSpPr>
            <p:spPr>
              <a:xfrm>
                <a:off x="359999" y="1689473"/>
                <a:ext cx="11200365" cy="4092718"/>
              </a:xfrm>
            </p:spPr>
            <p:txBody>
              <a:bodyPr/>
              <a:lstStyle/>
              <a:p>
                <a:pPr algn="ctr"/>
                <a14:m>
                  <m:oMath xmlns:m="http://schemas.openxmlformats.org/officeDocument/2006/math">
                    <m:f>
                      <m:fPr>
                        <m:ctrlPr>
                          <a:rPr lang="en-US" sz="4400" i="1" smtClean="0">
                            <a:latin typeface="Cambria Math" panose="02040503050406030204" pitchFamily="18" charset="0"/>
                            <a:cs typeface="Arial"/>
                          </a:rPr>
                        </m:ctrlPr>
                      </m:fPr>
                      <m:num>
                        <m:r>
                          <a:rPr lang="en-AU" sz="4400" b="0" i="1" smtClean="0">
                            <a:latin typeface="Cambria Math" panose="02040503050406030204" pitchFamily="18" charset="0"/>
                            <a:cs typeface="Arial"/>
                          </a:rPr>
                          <m:t>4</m:t>
                        </m:r>
                      </m:num>
                      <m:den>
                        <m:r>
                          <a:rPr lang="en-AU" sz="4400" b="0" i="1" smtClean="0">
                            <a:latin typeface="Cambria Math" panose="02040503050406030204" pitchFamily="18" charset="0"/>
                            <a:cs typeface="Arial"/>
                          </a:rPr>
                          <m:t>4</m:t>
                        </m:r>
                      </m:den>
                    </m:f>
                  </m:oMath>
                </a14:m>
                <a:r>
                  <a:rPr lang="en-US" sz="4400" dirty="0">
                    <a:latin typeface="Arial"/>
                    <a:cs typeface="Arial"/>
                  </a:rPr>
                  <a:t> is </a:t>
                </a:r>
                <a:r>
                  <a:rPr lang="en-US" sz="4400" b="1" dirty="0">
                    <a:latin typeface="Arial"/>
                    <a:cs typeface="Arial"/>
                  </a:rPr>
                  <a:t>equal </a:t>
                </a:r>
                <a:r>
                  <a:rPr lang="en-US" sz="4400" dirty="0">
                    <a:latin typeface="Arial"/>
                    <a:cs typeface="Arial"/>
                  </a:rPr>
                  <a:t>to 1</a:t>
                </a:r>
                <a:r>
                  <a:rPr lang="en-US" sz="4400" b="1" dirty="0">
                    <a:latin typeface="Arial"/>
                    <a:cs typeface="Arial"/>
                  </a:rPr>
                  <a:t>.</a:t>
                </a:r>
              </a:p>
              <a:p>
                <a:pPr algn="ctr"/>
                <a:r>
                  <a:rPr lang="en-US" sz="4400" b="1" dirty="0">
                    <a:latin typeface="Arial"/>
                    <a:cs typeface="Arial"/>
                  </a:rPr>
                  <a:t>Record </a:t>
                </a:r>
                <a:r>
                  <a:rPr lang="en-US" sz="4400" dirty="0">
                    <a:latin typeface="Arial"/>
                    <a:cs typeface="Arial"/>
                  </a:rPr>
                  <a:t>3 other fractions </a:t>
                </a:r>
                <a:r>
                  <a:rPr lang="en-US" sz="4400" b="1" dirty="0">
                    <a:latin typeface="Arial"/>
                    <a:cs typeface="Arial"/>
                  </a:rPr>
                  <a:t>equal </a:t>
                </a:r>
                <a:r>
                  <a:rPr lang="en-US" sz="4400" dirty="0">
                    <a:latin typeface="Arial"/>
                    <a:cs typeface="Arial"/>
                  </a:rPr>
                  <a:t>to 1</a:t>
                </a:r>
                <a:r>
                  <a:rPr lang="en-AU" sz="4400" dirty="0"/>
                  <a:t>.</a:t>
                </a:r>
              </a:p>
            </p:txBody>
          </p:sp>
        </mc:Choice>
        <mc:Fallback xmlns="">
          <p:sp>
            <p:nvSpPr>
              <p:cNvPr id="11" name="Picture Placeholder 10">
                <a:extLst>
                  <a:ext uri="{FF2B5EF4-FFF2-40B4-BE49-F238E27FC236}">
                    <a16:creationId xmlns:a16="http://schemas.microsoft.com/office/drawing/2014/main" id="{4F3FEFD7-8600-F68D-84BD-680FA1695628}"/>
                  </a:ext>
                </a:extLst>
              </p:cNvPr>
              <p:cNvSpPr>
                <a:spLocks noGrp="1" noRot="1" noChangeAspect="1" noMove="1" noResize="1" noEditPoints="1" noAdjustHandles="1" noChangeArrowheads="1" noChangeShapeType="1" noTextEdit="1"/>
              </p:cNvSpPr>
              <p:nvPr>
                <p:ph type="pic" sz="quarter" idx="21"/>
              </p:nvPr>
            </p:nvSpPr>
            <p:spPr>
              <a:xfrm>
                <a:off x="359999" y="1689473"/>
                <a:ext cx="11200365" cy="4092718"/>
              </a:xfrm>
              <a:blipFill>
                <a:blip r:embed="rId3"/>
                <a:stretch>
                  <a:fillRect/>
                </a:stretch>
              </a:blipFill>
            </p:spPr>
            <p:txBody>
              <a:bodyPr/>
              <a:lstStyle/>
              <a:p>
                <a:r>
                  <a:rPr lang="en-AU">
                    <a:noFill/>
                  </a:rPr>
                  <a:t> </a:t>
                </a:r>
              </a:p>
            </p:txBody>
          </p:sp>
        </mc:Fallback>
      </mc:AlternateContent>
      <p:pic>
        <p:nvPicPr>
          <p:cNvPr id="5" name="Picture 4" descr="image of a clipboard with a pencil recording short answer responses">
            <a:extLst>
              <a:ext uri="{FF2B5EF4-FFF2-40B4-BE49-F238E27FC236}">
                <a16:creationId xmlns:a16="http://schemas.microsoft.com/office/drawing/2014/main" id="{60B5CDFF-4A15-89C2-D24B-9A50E271EEC2}"/>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dirty="0">
                <a:latin typeface="Arial"/>
                <a:cs typeface="Arial"/>
              </a:rPr>
              <a:t>Short response</a:t>
            </a:r>
            <a:r>
              <a:rPr lang="en-US" dirty="0">
                <a:solidFill>
                  <a:schemeClr val="bg1"/>
                </a:solidFill>
                <a:latin typeface="Arial"/>
                <a:cs typeface="Arial"/>
              </a:rPr>
              <a:t> (2)(2))</a:t>
            </a:r>
          </a:p>
        </p:txBody>
      </p:sp>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240963" y="1751682"/>
            <a:ext cx="11243037" cy="1959118"/>
          </a:xfrm>
        </p:spPr>
        <p:txBody>
          <a:bodyPr/>
          <a:lstStyle/>
          <a:p>
            <a:pPr algn="ctr"/>
            <a:r>
              <a:rPr lang="en-US" sz="4400" dirty="0">
                <a:latin typeface="Arial"/>
                <a:cs typeface="Arial"/>
              </a:rPr>
              <a:t>Alex has 127 cows and 465 sheep on his farm. </a:t>
            </a:r>
          </a:p>
          <a:p>
            <a:pPr algn="ctr"/>
            <a:r>
              <a:rPr lang="en-US" sz="4400" b="1" dirty="0">
                <a:latin typeface="Arial"/>
                <a:cs typeface="Arial"/>
              </a:rPr>
              <a:t>How many </a:t>
            </a:r>
            <a:r>
              <a:rPr lang="en-US" sz="4400" dirty="0">
                <a:latin typeface="Arial"/>
                <a:cs typeface="Arial"/>
              </a:rPr>
              <a:t>animals does he have </a:t>
            </a:r>
            <a:r>
              <a:rPr lang="en-US" sz="4400" b="1" dirty="0">
                <a:latin typeface="Arial"/>
                <a:cs typeface="Arial"/>
              </a:rPr>
              <a:t>altogether</a:t>
            </a:r>
            <a:r>
              <a:rPr lang="en-US" sz="4400" dirty="0">
                <a:latin typeface="Arial"/>
                <a:cs typeface="Arial"/>
              </a:rPr>
              <a:t>?</a:t>
            </a:r>
          </a:p>
          <a:p>
            <a:pPr algn="ctr"/>
            <a:endParaRPr lang="en-US" sz="4400" dirty="0">
              <a:latin typeface="Arial"/>
              <a:cs typeface="Arial"/>
            </a:endParaRPr>
          </a:p>
          <a:p>
            <a:pPr algn="ctr"/>
            <a:br>
              <a:rPr lang="en-US" sz="4400" dirty="0">
                <a:latin typeface="Arial"/>
                <a:cs typeface="Arial"/>
              </a:rPr>
            </a:br>
            <a:endParaRPr lang="en-US" sz="4400" dirty="0">
              <a:solidFill>
                <a:srgbClr val="22272B"/>
              </a:solidFill>
            </a:endParaRPr>
          </a:p>
          <a:p>
            <a:endParaRPr lang="en-US" dirty="0">
              <a:latin typeface="Arial"/>
              <a:cs typeface="Arial"/>
            </a:endParaRPr>
          </a:p>
        </p:txBody>
      </p:sp>
      <p:pic>
        <p:nvPicPr>
          <p:cNvPr id="13" name="Picture 12">
            <a:extLst>
              <a:ext uri="{FF2B5EF4-FFF2-40B4-BE49-F238E27FC236}">
                <a16:creationId xmlns:a16="http://schemas.microsoft.com/office/drawing/2014/main" id="{5C231C3D-15F1-EC96-5455-A8160117E5F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663712" y="360000"/>
            <a:ext cx="920576" cy="914479"/>
          </a:xfrm>
          <a:prstGeom prst="rect">
            <a:avLst/>
          </a:prstGeom>
        </p:spPr>
      </p:pic>
    </p:spTree>
    <p:extLst>
      <p:ext uri="{BB962C8B-B14F-4D97-AF65-F5344CB8AC3E}">
        <p14:creationId xmlns:p14="http://schemas.microsoft.com/office/powerpoint/2010/main" val="47140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(3)</a:t>
            </a:r>
          </a:p>
        </p:txBody>
      </p:sp>
      <p:sp>
        <p:nvSpPr>
          <p:cNvPr id="11" name="Picture Placeholder 10">
            <a:extLst>
              <a:ext uri="{FF2B5EF4-FFF2-40B4-BE49-F238E27FC236}">
                <a16:creationId xmlns:a16="http://schemas.microsoft.com/office/drawing/2014/main" id="{8B598472-9720-A705-623A-487E3FF7A7C8}"/>
              </a:ext>
              <a:ext uri="{C183D7F6-B498-43B3-948B-1728B52AA6E4}">
                <adec:decorative xmlns:adec="http://schemas.microsoft.com/office/drawing/2017/decorative" val="1"/>
              </a:ext>
            </a:extLst>
          </p:cNvPr>
          <p:cNvSpPr>
            <a:spLocks noGrp="1"/>
          </p:cNvSpPr>
          <p:nvPr>
            <p:ph type="pic" sz="quarter" idx="21"/>
          </p:nvPr>
        </p:nvSpPr>
        <p:spPr>
          <a:xfrm>
            <a:off x="596063" y="1471012"/>
            <a:ext cx="11243037" cy="1959118"/>
          </a:xfrm>
        </p:spPr>
        <p:txBody>
          <a:bodyPr/>
          <a:lstStyle/>
          <a:p>
            <a:pPr algn="ctr"/>
            <a:br>
              <a:rPr lang="en-US" sz="4400">
                <a:latin typeface="Arial"/>
                <a:cs typeface="Arial"/>
              </a:rPr>
            </a:br>
            <a:endParaRPr lang="en-US" sz="4400">
              <a:solidFill>
                <a:srgbClr val="22272B"/>
              </a:solidFill>
            </a:endParaRPr>
          </a:p>
          <a:p>
            <a:endParaRPr lang="en-US">
              <a:latin typeface="Arial"/>
              <a:cs typeface="Arial"/>
            </a:endParaRPr>
          </a:p>
        </p:txBody>
      </p:sp>
      <p:sp>
        <p:nvSpPr>
          <p:cNvPr id="6" name="Picture Placeholder 10">
            <a:extLst>
              <a:ext uri="{FF2B5EF4-FFF2-40B4-BE49-F238E27FC236}">
                <a16:creationId xmlns:a16="http://schemas.microsoft.com/office/drawing/2014/main" id="{84B27F89-4220-CBB0-A2BD-DF8B45274182}"/>
              </a:ext>
              <a:ext uri="{C183D7F6-B498-43B3-948B-1728B52AA6E4}">
                <adec:decorative xmlns:adec="http://schemas.microsoft.com/office/drawing/2017/decorative" val="1"/>
              </a:ext>
            </a:extLst>
          </p:cNvPr>
          <p:cNvSpPr txBox="1">
            <a:spLocks/>
          </p:cNvSpPr>
          <p:nvPr/>
        </p:nvSpPr>
        <p:spPr>
          <a:xfrm>
            <a:off x="358319" y="1934308"/>
            <a:ext cx="11243037" cy="195911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r>
              <a:rPr lang="en-US" sz="4400">
                <a:latin typeface="Arial"/>
                <a:cs typeface="Arial"/>
              </a:rPr>
            </a:br>
            <a:endParaRPr lang="en-US" sz="4400">
              <a:solidFill>
                <a:srgbClr val="22272B"/>
              </a:solidFill>
            </a:endParaRPr>
          </a:p>
          <a:p>
            <a:endParaRPr lang="en-US">
              <a:latin typeface="Arial"/>
              <a:cs typeface="Arial"/>
            </a:endParaRPr>
          </a:p>
        </p:txBody>
      </p:sp>
      <p:sp>
        <p:nvSpPr>
          <p:cNvPr id="8" name="Picture Placeholder 10">
            <a:extLst>
              <a:ext uri="{FF2B5EF4-FFF2-40B4-BE49-F238E27FC236}">
                <a16:creationId xmlns:a16="http://schemas.microsoft.com/office/drawing/2014/main" id="{C71FA276-C5C1-DB90-3082-41EDC65E643E}"/>
              </a:ext>
            </a:extLst>
          </p:cNvPr>
          <p:cNvSpPr txBox="1">
            <a:spLocks/>
          </p:cNvSpPr>
          <p:nvPr/>
        </p:nvSpPr>
        <p:spPr>
          <a:xfrm>
            <a:off x="971550" y="1647794"/>
            <a:ext cx="10152450" cy="4589584"/>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500" dirty="0">
                <a:latin typeface="Arial"/>
                <a:cs typeface="Arial"/>
              </a:rPr>
              <a:t>Julie wanted to build a new, stronger fence around her property so that it could contain her new puppy. </a:t>
            </a:r>
          </a:p>
          <a:p>
            <a:pPr algn="ctr"/>
            <a:r>
              <a:rPr lang="en-US" sz="3500" dirty="0">
                <a:latin typeface="Arial"/>
                <a:cs typeface="Arial"/>
              </a:rPr>
              <a:t>What </a:t>
            </a:r>
            <a:r>
              <a:rPr lang="en-US" sz="3500" b="1" dirty="0">
                <a:latin typeface="Arial"/>
                <a:cs typeface="Arial"/>
              </a:rPr>
              <a:t>unit of measurement </a:t>
            </a:r>
            <a:r>
              <a:rPr lang="en-US" sz="3500" dirty="0">
                <a:latin typeface="Arial"/>
                <a:cs typeface="Arial"/>
              </a:rPr>
              <a:t>would she use to measure the fence in?</a:t>
            </a:r>
            <a:endParaRPr lang="en-US" sz="3500" dirty="0">
              <a:solidFill>
                <a:srgbClr val="22272B"/>
              </a:solidFill>
            </a:endParaRPr>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F142F24-A346-63B3-9C1B-1E3C7790562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(4)</a:t>
            </a:r>
          </a:p>
        </p:txBody>
      </p:sp>
      <p:sp>
        <p:nvSpPr>
          <p:cNvPr id="12" name="Text Placeholder 11">
            <a:extLst>
              <a:ext uri="{FF2B5EF4-FFF2-40B4-BE49-F238E27FC236}">
                <a16:creationId xmlns:a16="http://schemas.microsoft.com/office/drawing/2014/main" id="{65C867D5-8CB8-739D-AB4F-83858803E2F0}"/>
              </a:ext>
            </a:extLst>
          </p:cNvPr>
          <p:cNvSpPr>
            <a:spLocks noGrp="1"/>
          </p:cNvSpPr>
          <p:nvPr>
            <p:ph type="body" sz="quarter" idx="22"/>
          </p:nvPr>
        </p:nvSpPr>
        <p:spPr>
          <a:xfrm>
            <a:off x="805912" y="4705918"/>
            <a:ext cx="10647335" cy="1792082"/>
          </a:xfrm>
        </p:spPr>
        <p:txBody>
          <a:bodyPr vert="horz" lIns="0" tIns="0" rIns="0" bIns="0" rtlCol="0" anchor="t">
            <a:noAutofit/>
          </a:bodyPr>
          <a:lstStyle/>
          <a:p>
            <a:r>
              <a:rPr lang="en-AU" sz="4400" b="1" dirty="0"/>
              <a:t>How much </a:t>
            </a:r>
            <a:r>
              <a:rPr lang="en-AU" sz="4400" dirty="0"/>
              <a:t>time is left until the </a:t>
            </a:r>
            <a:r>
              <a:rPr lang="en-AU" sz="4400" b="1" dirty="0"/>
              <a:t>next hour</a:t>
            </a:r>
            <a:r>
              <a:rPr lang="en-AU" sz="4400" dirty="0"/>
              <a:t>?</a:t>
            </a:r>
            <a:endParaRPr lang="en-US" sz="4400" dirty="0"/>
          </a:p>
        </p:txBody>
      </p:sp>
      <p:pic>
        <p:nvPicPr>
          <p:cNvPr id="4" name="Picture 3" descr="image of a clipboard with a pencil recording short answer responses">
            <a:extLst>
              <a:ext uri="{FF2B5EF4-FFF2-40B4-BE49-F238E27FC236}">
                <a16:creationId xmlns:a16="http://schemas.microsoft.com/office/drawing/2014/main" id="{9AFF81D9-B035-9967-8700-C5F2EB26519C}"/>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A digital clock reading 7:45">
            <a:extLst>
              <a:ext uri="{FF2B5EF4-FFF2-40B4-BE49-F238E27FC236}">
                <a16:creationId xmlns:a16="http://schemas.microsoft.com/office/drawing/2014/main" id="{413CCDA9-9E40-B344-3D06-3E987D8B71F3}"/>
              </a:ext>
            </a:extLst>
          </p:cNvPr>
          <p:cNvPicPr>
            <a:picLocks noChangeAspect="1"/>
          </p:cNvPicPr>
          <p:nvPr/>
        </p:nvPicPr>
        <p:blipFill>
          <a:blip r:embed="rId4"/>
          <a:stretch>
            <a:fillRect/>
          </a:stretch>
        </p:blipFill>
        <p:spPr>
          <a:xfrm>
            <a:off x="3476049" y="1772801"/>
            <a:ext cx="5239902" cy="2661102"/>
          </a:xfrm>
          <a:prstGeom prst="rect">
            <a:avLst/>
          </a:prstGeom>
        </p:spPr>
      </p:pic>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1 – recreating the whole</a:t>
            </a:r>
          </a:p>
        </p:txBody>
      </p:sp>
      <p:sp>
        <p:nvSpPr>
          <p:cNvPr id="5" name="TextBox 4">
            <a:extLst>
              <a:ext uri="{FF2B5EF4-FFF2-40B4-BE49-F238E27FC236}">
                <a16:creationId xmlns:a16="http://schemas.microsoft.com/office/drawing/2014/main" id="{92C275FC-E2C0-FDEB-E2AB-697599EFA4D1}"/>
              </a:ext>
            </a:extLst>
          </p:cNvPr>
          <p:cNvSpPr txBox="1"/>
          <p:nvPr/>
        </p:nvSpPr>
        <p:spPr>
          <a:xfrm>
            <a:off x="2931778" y="2437772"/>
            <a:ext cx="6094562" cy="461665"/>
          </a:xfrm>
          <a:prstGeom prst="rect">
            <a:avLst/>
          </a:prstGeom>
          <a:noFill/>
        </p:spPr>
        <p:txBody>
          <a:bodyPr wrap="square">
            <a:spAutoFit/>
          </a:bodyPr>
          <a:lstStyle/>
          <a:p>
            <a:r>
              <a:rPr lang="en-AU" sz="2400" b="0" i="0" u="sng" strike="noStrike">
                <a:solidFill>
                  <a:srgbClr val="146CFD"/>
                </a:solidFill>
                <a:effectLst/>
                <a:latin typeface="Arial" panose="020B0604020202020204" pitchFamily="34" charset="0"/>
                <a:hlinkClick r:id="rId3"/>
              </a:rPr>
              <a:t>Interactive fraction strips</a:t>
            </a:r>
            <a:endParaRPr lang="en-AU"/>
          </a:p>
        </p:txBody>
      </p:sp>
      <p:pic>
        <p:nvPicPr>
          <p:cNvPr id="1026" name="Picture 2">
            <a:extLst>
              <a:ext uri="{FF2B5EF4-FFF2-40B4-BE49-F238E27FC236}">
                <a16:creationId xmlns:a16="http://schemas.microsoft.com/office/drawing/2014/main" id="{E32B9D58-7EB3-E24A-0E49-F13249FE08D9}"/>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245095" y="1942072"/>
            <a:ext cx="1256096" cy="12560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image of a head with cogs turning inside">
            <a:extLst>
              <a:ext uri="{FF2B5EF4-FFF2-40B4-BE49-F238E27FC236}">
                <a16:creationId xmlns:a16="http://schemas.microsoft.com/office/drawing/2014/main" id="{923D8436-F1DA-BC48-CD02-EC41F26079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08100" y="204175"/>
            <a:ext cx="723900" cy="85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7216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dirty="0"/>
              <a:t>True or false</a:t>
            </a:r>
            <a:r>
              <a:rPr lang="en-US" dirty="0">
                <a:solidFill>
                  <a:schemeClr val="bg1"/>
                </a:solidFill>
              </a:rPr>
              <a:t> (1) (1)</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1084516" y="1500716"/>
                <a:ext cx="10022967" cy="2729908"/>
              </a:xfrm>
            </p:spPr>
            <p:txBody>
              <a:bodyPr vert="horz" lIns="0" tIns="0" rIns="0" bIns="0" rtlCol="0" anchor="t">
                <a:noAutofit/>
              </a:bodyPr>
              <a:lstStyle/>
              <a:p>
                <a:pPr algn="ctr"/>
                <a:r>
                  <a:rPr lang="en-US" sz="4000" dirty="0">
                    <a:latin typeface="Arial"/>
                    <a:cs typeface="Arial"/>
                  </a:rPr>
                  <a:t>The following </a:t>
                </a:r>
                <a:r>
                  <a:rPr lang="en-US" sz="4000" b="1" dirty="0">
                    <a:latin typeface="Arial"/>
                    <a:cs typeface="Arial"/>
                  </a:rPr>
                  <a:t>represents</a:t>
                </a:r>
                <a:r>
                  <a:rPr lang="en-US" sz="4000" dirty="0">
                    <a:latin typeface="Arial"/>
                    <a:cs typeface="Arial"/>
                  </a:rPr>
                  <a:t> 1</a:t>
                </a:r>
                <a14:m>
                  <m:oMath xmlns:m="http://schemas.openxmlformats.org/officeDocument/2006/math">
                    <m:f>
                      <m:fPr>
                        <m:ctrlPr>
                          <a:rPr lang="en-US" sz="4000" i="1" smtClean="0">
                            <a:latin typeface="Cambria Math" panose="02040503050406030204" pitchFamily="18" charset="0"/>
                            <a:cs typeface="Arial"/>
                          </a:rPr>
                        </m:ctrlPr>
                      </m:fPr>
                      <m:num>
                        <m:r>
                          <a:rPr lang="en-AU" sz="4000" b="0" i="1" smtClean="0">
                            <a:latin typeface="Cambria Math" panose="02040503050406030204" pitchFamily="18" charset="0"/>
                            <a:cs typeface="Arial"/>
                          </a:rPr>
                          <m:t>1</m:t>
                        </m:r>
                      </m:num>
                      <m:den>
                        <m:r>
                          <a:rPr lang="en-AU" sz="4000" b="0" i="1" smtClean="0">
                            <a:latin typeface="Cambria Math" panose="02040503050406030204" pitchFamily="18" charset="0"/>
                            <a:cs typeface="Arial"/>
                          </a:rPr>
                          <m:t>2</m:t>
                        </m:r>
                      </m:den>
                    </m:f>
                    <m:r>
                      <a:rPr lang="en-AU" sz="4000" b="0" i="0" smtClean="0">
                        <a:latin typeface="Cambria Math" panose="02040503050406030204" pitchFamily="18" charset="0"/>
                        <a:cs typeface="Arial"/>
                      </a:rPr>
                      <m:t>.</m:t>
                    </m:r>
                  </m:oMath>
                </a14:m>
                <a:endParaRPr lang="en-US" sz="4000" dirty="0"/>
              </a:p>
            </p:txBody>
          </p:sp>
        </mc:Choice>
        <mc:Fallback xmlns="">
          <p:sp>
            <p:nvSpPr>
              <p:cNvPr id="7" name="Text Placeholder 6">
                <a:extLst>
                  <a:ext uri="{FF2B5EF4-FFF2-40B4-BE49-F238E27FC236}">
                    <a16:creationId xmlns:a16="http://schemas.microsoft.com/office/drawing/2014/main" id="{A26C78AF-8B76-8BE5-6FD1-C3122BE06605}"/>
                  </a:ext>
                </a:extLst>
              </p:cNvPr>
              <p:cNvSpPr>
                <a:spLocks noGrp="1" noRot="1" noChangeAspect="1" noMove="1" noResize="1" noEditPoints="1" noAdjustHandles="1" noChangeArrowheads="1" noChangeShapeType="1" noTextEdit="1"/>
              </p:cNvSpPr>
              <p:nvPr>
                <p:ph type="body" sz="quarter" idx="22"/>
              </p:nvPr>
            </p:nvSpPr>
            <p:spPr>
              <a:xfrm>
                <a:off x="1084516" y="1500716"/>
                <a:ext cx="10022967" cy="2729908"/>
              </a:xfrm>
              <a:blipFill>
                <a:blip r:embed="rId3"/>
                <a:stretch>
                  <a:fillRect/>
                </a:stretch>
              </a:blipFill>
            </p:spPr>
            <p:txBody>
              <a:bodyPr/>
              <a:lstStyle/>
              <a:p>
                <a:r>
                  <a:rPr lang="en-AU">
                    <a:noFill/>
                  </a:rPr>
                  <a:t> </a:t>
                </a:r>
              </a:p>
            </p:txBody>
          </p:sp>
        </mc:Fallback>
      </mc:AlternateContent>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435260284"/>
              </p:ext>
            </p:extLst>
          </p:nvPr>
        </p:nvGraphicFramePr>
        <p:xfrm>
          <a:off x="2557460" y="4976284"/>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87EDFC9E-A618-53A7-C204-54881B9AC2B6}"/>
              </a:ext>
            </a:extLst>
          </p:cNvPr>
          <p:cNvPicPr>
            <a:picLocks noChangeAspect="1"/>
          </p:cNvPicPr>
          <p:nvPr/>
        </p:nvPicPr>
        <p:blipFill>
          <a:blip r:embed="rId4"/>
          <a:stretch>
            <a:fillRect/>
          </a:stretch>
        </p:blipFill>
        <p:spPr>
          <a:xfrm>
            <a:off x="10807908" y="43303"/>
            <a:ext cx="1165786" cy="1140716"/>
          </a:xfrm>
          <a:prstGeom prst="rect">
            <a:avLst/>
          </a:prstGeom>
        </p:spPr>
      </p:pic>
      <p:pic>
        <p:nvPicPr>
          <p:cNvPr id="6" name="Picture 5" descr="A fraction number line with 0-1 and a bar with 1.5 coloured.">
            <a:extLst>
              <a:ext uri="{FF2B5EF4-FFF2-40B4-BE49-F238E27FC236}">
                <a16:creationId xmlns:a16="http://schemas.microsoft.com/office/drawing/2014/main" id="{C555E153-6D2B-EEEE-7B76-E18D5DE65C24}"/>
              </a:ext>
            </a:extLst>
          </p:cNvPr>
          <p:cNvPicPr>
            <a:picLocks noChangeAspect="1"/>
          </p:cNvPicPr>
          <p:nvPr/>
        </p:nvPicPr>
        <p:blipFill>
          <a:blip r:embed="rId5"/>
          <a:stretch>
            <a:fillRect/>
          </a:stretch>
        </p:blipFill>
        <p:spPr>
          <a:xfrm>
            <a:off x="2101643" y="2865670"/>
            <a:ext cx="7988711" cy="1797142"/>
          </a:xfrm>
          <a:prstGeom prst="rect">
            <a:avLst/>
          </a:prstGeom>
        </p:spPr>
      </p:pic>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(5)</a:t>
            </a:r>
          </a:p>
        </p:txBody>
      </p:sp>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1362075" y="2030849"/>
            <a:ext cx="9761925" cy="3056398"/>
          </a:xfrm>
        </p:spPr>
        <p:txBody>
          <a:bodyPr/>
          <a:lstStyle/>
          <a:p>
            <a:pPr algn="ctr"/>
            <a:r>
              <a:rPr lang="en-AU" sz="4400" dirty="0">
                <a:latin typeface="Arial"/>
                <a:cs typeface="Arial"/>
              </a:rPr>
              <a:t>Use </a:t>
            </a:r>
            <a:r>
              <a:rPr lang="en-AU" sz="4400" b="1" dirty="0">
                <a:latin typeface="Arial"/>
                <a:cs typeface="Arial"/>
              </a:rPr>
              <a:t>fifths</a:t>
            </a:r>
            <a:r>
              <a:rPr lang="en-AU" sz="4400" dirty="0">
                <a:latin typeface="Arial"/>
                <a:cs typeface="Arial"/>
              </a:rPr>
              <a:t> to show a </a:t>
            </a:r>
            <a:r>
              <a:rPr lang="en-AU" sz="4400" b="1" dirty="0">
                <a:latin typeface="Arial"/>
                <a:cs typeface="Arial"/>
              </a:rPr>
              <a:t>fraction equivalent</a:t>
            </a:r>
            <a:r>
              <a:rPr lang="en-AU" sz="4400" dirty="0">
                <a:latin typeface="Arial"/>
                <a:cs typeface="Arial"/>
              </a:rPr>
              <a:t> to </a:t>
            </a:r>
            <a:r>
              <a:rPr lang="en-AU" sz="4400" b="1" dirty="0">
                <a:latin typeface="Arial"/>
                <a:cs typeface="Arial"/>
              </a:rPr>
              <a:t>one-half.</a:t>
            </a:r>
            <a:endParaRPr lang="en-US" sz="4400" dirty="0">
              <a:latin typeface="Arial"/>
              <a:cs typeface="Arial"/>
            </a:endParaRPr>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D6AA7882-9128-F96D-36AE-AAE3C6433E5E}"/>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4CB69-6EAD-BE13-EA9E-C7FB8413B30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B708F3-3C44-D6CC-5137-F9AD27198528}"/>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3" name="Title 2">
            <a:extLst>
              <a:ext uri="{FF2B5EF4-FFF2-40B4-BE49-F238E27FC236}">
                <a16:creationId xmlns:a16="http://schemas.microsoft.com/office/drawing/2014/main" id="{7655B548-C4A9-4A83-8D36-0140B70E825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(6)</a:t>
            </a:r>
          </a:p>
        </p:txBody>
      </p:sp>
      <p:sp>
        <p:nvSpPr>
          <p:cNvPr id="11" name="Picture Placeholder 10">
            <a:extLst>
              <a:ext uri="{FF2B5EF4-FFF2-40B4-BE49-F238E27FC236}">
                <a16:creationId xmlns:a16="http://schemas.microsoft.com/office/drawing/2014/main" id="{CA6635AB-C1AC-F848-5402-9C5C05743F6C}"/>
              </a:ext>
            </a:extLst>
          </p:cNvPr>
          <p:cNvSpPr>
            <a:spLocks noGrp="1"/>
          </p:cNvSpPr>
          <p:nvPr>
            <p:ph type="pic" sz="quarter" idx="21"/>
          </p:nvPr>
        </p:nvSpPr>
        <p:spPr>
          <a:xfrm>
            <a:off x="360001" y="1583294"/>
            <a:ext cx="11243037" cy="3189203"/>
          </a:xfrm>
        </p:spPr>
        <p:txBody>
          <a:bodyPr/>
          <a:lstStyle/>
          <a:p>
            <a:pPr algn="ctr"/>
            <a:r>
              <a:rPr lang="en-US" sz="4400" dirty="0">
                <a:latin typeface="Arial"/>
                <a:cs typeface="Arial"/>
              </a:rPr>
              <a:t>George had 465 sheep on his farm but during a storm overnight, 167 escaped. </a:t>
            </a:r>
            <a:r>
              <a:rPr lang="en-US" sz="4400" b="1" dirty="0">
                <a:latin typeface="Arial"/>
                <a:cs typeface="Arial"/>
              </a:rPr>
              <a:t>How many </a:t>
            </a:r>
            <a:r>
              <a:rPr lang="en-US" sz="4400" dirty="0">
                <a:latin typeface="Arial"/>
                <a:cs typeface="Arial"/>
              </a:rPr>
              <a:t>remain on the farm?</a:t>
            </a:r>
          </a:p>
          <a:p>
            <a:pPr algn="ctr"/>
            <a:endParaRPr lang="en-US" sz="4400" dirty="0">
              <a:latin typeface="Arial"/>
              <a:cs typeface="Arial"/>
            </a:endParaRPr>
          </a:p>
          <a:p>
            <a:pPr algn="ctr"/>
            <a:br>
              <a:rPr lang="en-US" sz="4400" dirty="0">
                <a:latin typeface="Arial"/>
                <a:cs typeface="Arial"/>
              </a:rPr>
            </a:br>
            <a:endParaRPr lang="en-US" sz="4400" dirty="0">
              <a:solidFill>
                <a:srgbClr val="22272B"/>
              </a:solidFill>
            </a:endParaRPr>
          </a:p>
          <a:p>
            <a:endParaRPr lang="en-US" dirty="0">
              <a:latin typeface="Arial"/>
              <a:cs typeface="Arial"/>
            </a:endParaRPr>
          </a:p>
        </p:txBody>
      </p:sp>
      <p:pic>
        <p:nvPicPr>
          <p:cNvPr id="4" name="Picture 3">
            <a:extLst>
              <a:ext uri="{FF2B5EF4-FFF2-40B4-BE49-F238E27FC236}">
                <a16:creationId xmlns:a16="http://schemas.microsoft.com/office/drawing/2014/main" id="{8FE39C0E-B11C-9E66-6AD5-D5714937A43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923424" y="360000"/>
            <a:ext cx="920576" cy="914479"/>
          </a:xfrm>
          <a:prstGeom prst="rect">
            <a:avLst/>
          </a:prstGeom>
        </p:spPr>
      </p:pic>
    </p:spTree>
    <p:extLst>
      <p:ext uri="{BB962C8B-B14F-4D97-AF65-F5344CB8AC3E}">
        <p14:creationId xmlns:p14="http://schemas.microsoft.com/office/powerpoint/2010/main" val="2450180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(8)</a:t>
            </a:r>
          </a:p>
        </p:txBody>
      </p:sp>
      <p:sp>
        <p:nvSpPr>
          <p:cNvPr id="11" name="Picture Placeholder 10">
            <a:extLst>
              <a:ext uri="{FF2B5EF4-FFF2-40B4-BE49-F238E27FC236}">
                <a16:creationId xmlns:a16="http://schemas.microsoft.com/office/drawing/2014/main" id="{E83C9D2F-076B-25AC-741C-C56ACEF8B118}"/>
              </a:ext>
            </a:extLst>
          </p:cNvPr>
          <p:cNvSpPr>
            <a:spLocks noGrp="1"/>
          </p:cNvSpPr>
          <p:nvPr>
            <p:ph type="pic" sz="quarter" idx="21"/>
          </p:nvPr>
        </p:nvSpPr>
        <p:spPr>
          <a:xfrm>
            <a:off x="1176575" y="1184223"/>
            <a:ext cx="9609887" cy="3056398"/>
          </a:xfrm>
        </p:spPr>
        <p:txBody>
          <a:bodyPr/>
          <a:lstStyle/>
          <a:p>
            <a:pPr algn="ctr"/>
            <a:r>
              <a:rPr lang="en-AU" sz="3500" dirty="0"/>
              <a:t>Courtenay wanted to see if her new computer could fit on her desk. She measured the length and found it to be </a:t>
            </a:r>
            <a:r>
              <a:rPr lang="en-AU" sz="3500" b="1" dirty="0"/>
              <a:t>150 centimetres </a:t>
            </a:r>
            <a:r>
              <a:rPr lang="en-AU" sz="3500" dirty="0"/>
              <a:t>long. </a:t>
            </a:r>
          </a:p>
          <a:p>
            <a:pPr algn="ctr"/>
            <a:r>
              <a:rPr lang="en-AU" sz="3500" dirty="0"/>
              <a:t>She wants to know </a:t>
            </a:r>
            <a:r>
              <a:rPr lang="en-AU" sz="3500" b="1" dirty="0"/>
              <a:t>how many metres </a:t>
            </a:r>
            <a:r>
              <a:rPr lang="en-AU" sz="3500" dirty="0"/>
              <a:t>that is. </a:t>
            </a:r>
          </a:p>
          <a:p>
            <a:pPr algn="ctr"/>
            <a:r>
              <a:rPr lang="en-AU" sz="3500" dirty="0"/>
              <a:t>Can you </a:t>
            </a:r>
            <a:r>
              <a:rPr lang="en-AU" sz="3500" b="1" dirty="0"/>
              <a:t>convert the length </a:t>
            </a:r>
            <a:r>
              <a:rPr lang="en-AU" sz="3500" dirty="0"/>
              <a:t>of the desk from </a:t>
            </a:r>
            <a:r>
              <a:rPr lang="en-AU" sz="3500" b="1" dirty="0"/>
              <a:t>centimetres to metres</a:t>
            </a:r>
            <a:r>
              <a:rPr lang="en-AU" sz="3500" dirty="0"/>
              <a:t>?</a:t>
            </a:r>
            <a:endParaRPr lang="en-US" sz="3500"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878A31AB-6C94-1BFB-9B08-E66847EEC2BB}"/>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(33)</a:t>
            </a:r>
          </a:p>
        </p:txBody>
      </p:sp>
      <p:sp>
        <p:nvSpPr>
          <p:cNvPr id="11" name="Picture Placeholder 10">
            <a:extLst>
              <a:ext uri="{FF2B5EF4-FFF2-40B4-BE49-F238E27FC236}">
                <a16:creationId xmlns:a16="http://schemas.microsoft.com/office/drawing/2014/main" id="{686F4CE3-1291-37C6-C630-AE7D9898FB44}"/>
              </a:ext>
            </a:extLst>
          </p:cNvPr>
          <p:cNvSpPr>
            <a:spLocks noGrp="1"/>
          </p:cNvSpPr>
          <p:nvPr>
            <p:ph type="pic" sz="quarter" idx="21"/>
          </p:nvPr>
        </p:nvSpPr>
        <p:spPr>
          <a:xfrm>
            <a:off x="474481" y="1275500"/>
            <a:ext cx="11243038" cy="4647454"/>
          </a:xfrm>
        </p:spPr>
        <p:txBody>
          <a:bodyPr/>
          <a:lstStyle/>
          <a:p>
            <a:pPr algn="ctr"/>
            <a:r>
              <a:rPr lang="en-AU" sz="4000" dirty="0"/>
              <a:t> </a:t>
            </a:r>
          </a:p>
          <a:p>
            <a:pPr algn="ctr"/>
            <a:endParaRPr lang="en-AU" sz="4000" dirty="0"/>
          </a:p>
          <a:p>
            <a:pPr algn="ctr"/>
            <a:r>
              <a:rPr lang="en-AU" sz="4000" dirty="0">
                <a:latin typeface="Arial"/>
                <a:cs typeface="Arial"/>
              </a:rPr>
              <a:t>Draw and label </a:t>
            </a:r>
            <a:r>
              <a:rPr lang="en-AU" sz="4000" b="1" dirty="0">
                <a:latin typeface="Arial"/>
                <a:cs typeface="Arial"/>
              </a:rPr>
              <a:t>another rectangle </a:t>
            </a:r>
            <a:r>
              <a:rPr lang="en-AU" sz="4000" dirty="0">
                <a:latin typeface="Arial"/>
                <a:cs typeface="Arial"/>
              </a:rPr>
              <a:t>with </a:t>
            </a:r>
            <a:r>
              <a:rPr lang="en-AU" sz="4000" b="1" dirty="0">
                <a:latin typeface="Arial"/>
                <a:cs typeface="Arial"/>
              </a:rPr>
              <a:t>different side lengths </a:t>
            </a:r>
            <a:r>
              <a:rPr lang="en-AU" sz="4000" dirty="0">
                <a:latin typeface="Arial"/>
                <a:cs typeface="Arial"/>
              </a:rPr>
              <a:t>with the </a:t>
            </a:r>
            <a:r>
              <a:rPr lang="en-AU" sz="4000" b="1" dirty="0">
                <a:latin typeface="Arial"/>
                <a:cs typeface="Arial"/>
              </a:rPr>
              <a:t>same area.</a:t>
            </a:r>
          </a:p>
        </p:txBody>
      </p:sp>
      <p:pic>
        <p:nvPicPr>
          <p:cNvPr id="4" name="Picture 3" descr="image of a clipboard with a pencil recording short answer responses">
            <a:extLst>
              <a:ext uri="{FF2B5EF4-FFF2-40B4-BE49-F238E27FC236}">
                <a16:creationId xmlns:a16="http://schemas.microsoft.com/office/drawing/2014/main" id="{9008FCB9-73D4-8BB4-C873-11DABD7754D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A rectangle with 8m and 3m sides labelled.">
            <a:extLst>
              <a:ext uri="{FF2B5EF4-FFF2-40B4-BE49-F238E27FC236}">
                <a16:creationId xmlns:a16="http://schemas.microsoft.com/office/drawing/2014/main" id="{39F1B2F2-E22B-CD5D-C210-73AFFC534A09}"/>
              </a:ext>
            </a:extLst>
          </p:cNvPr>
          <p:cNvPicPr>
            <a:picLocks noChangeAspect="1"/>
          </p:cNvPicPr>
          <p:nvPr/>
        </p:nvPicPr>
        <p:blipFill>
          <a:blip r:embed="rId4"/>
          <a:stretch>
            <a:fillRect/>
          </a:stretch>
        </p:blipFill>
        <p:spPr>
          <a:xfrm>
            <a:off x="4450668" y="632800"/>
            <a:ext cx="4014749" cy="2785820"/>
          </a:xfrm>
          <a:prstGeom prst="rect">
            <a:avLst/>
          </a:prstGeom>
        </p:spPr>
      </p:pic>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5D7CF-D02E-3A2F-8337-92B12356A9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E2436C-7ECD-B015-282D-6C58EDC7729F}"/>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3" name="Title 2">
            <a:extLst>
              <a:ext uri="{FF2B5EF4-FFF2-40B4-BE49-F238E27FC236}">
                <a16:creationId xmlns:a16="http://schemas.microsoft.com/office/drawing/2014/main" id="{88499922-5423-9B27-F9A6-1CEAD0DA7139}"/>
              </a:ext>
            </a:extLst>
          </p:cNvPr>
          <p:cNvSpPr>
            <a:spLocks noGrp="1"/>
          </p:cNvSpPr>
          <p:nvPr>
            <p:ph type="title"/>
          </p:nvPr>
        </p:nvSpPr>
        <p:spPr>
          <a:xfrm>
            <a:off x="360000" y="360000"/>
            <a:ext cx="11484000" cy="545601"/>
          </a:xfrm>
        </p:spPr>
        <p:txBody>
          <a:bodyPr/>
          <a:lstStyle/>
          <a:p>
            <a:r>
              <a:rPr lang="en-AU"/>
              <a:t>Activity 2 – regroup fractional parts beyond 1</a:t>
            </a:r>
          </a:p>
        </p:txBody>
      </p:sp>
      <p:pic>
        <p:nvPicPr>
          <p:cNvPr id="16" name="Picture 15" descr="Three rectangular strips for students to continue drawing. The first instruction to find six-quarters of the whole length. The second is to find five-thirds of the whole strip and the last instruction is to find seven-sixths of the whole strip.">
            <a:extLst>
              <a:ext uri="{FF2B5EF4-FFF2-40B4-BE49-F238E27FC236}">
                <a16:creationId xmlns:a16="http://schemas.microsoft.com/office/drawing/2014/main" id="{B05C4EF2-BE53-4E27-D0A2-F60B858E64D0}"/>
              </a:ext>
            </a:extLst>
          </p:cNvPr>
          <p:cNvPicPr>
            <a:picLocks noChangeAspect="1"/>
          </p:cNvPicPr>
          <p:nvPr/>
        </p:nvPicPr>
        <p:blipFill>
          <a:blip r:embed="rId3"/>
          <a:stretch>
            <a:fillRect/>
          </a:stretch>
        </p:blipFill>
        <p:spPr>
          <a:xfrm>
            <a:off x="1300721" y="966558"/>
            <a:ext cx="7558607" cy="5433047"/>
          </a:xfrm>
          <a:prstGeom prst="rect">
            <a:avLst/>
          </a:prstGeom>
        </p:spPr>
      </p:pic>
      <p:pic>
        <p:nvPicPr>
          <p:cNvPr id="2050" name="Picture 2" descr="image of a head with cogs turning inside">
            <a:extLst>
              <a:ext uri="{FF2B5EF4-FFF2-40B4-BE49-F238E27FC236}">
                <a16:creationId xmlns:a16="http://schemas.microsoft.com/office/drawing/2014/main" id="{1D96E1B0-D4A1-F52B-8D2D-BD7444289E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08100" y="204175"/>
            <a:ext cx="723900" cy="85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2349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1B1-6A34-35AF-C8F8-98FFF9B6C7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EE77A7-FE1B-9394-E3D8-9905BF492C48}"/>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0237A4AD-5902-0B45-1C0F-CD463740134A}"/>
              </a:ext>
            </a:extLst>
          </p:cNvPr>
          <p:cNvSpPr>
            <a:spLocks noGrp="1"/>
          </p:cNvSpPr>
          <p:nvPr>
            <p:ph type="title"/>
          </p:nvPr>
        </p:nvSpPr>
        <p:spPr/>
        <p:txBody>
          <a:bodyPr/>
          <a:lstStyle/>
          <a:p>
            <a:r>
              <a:rPr lang="en-US" dirty="0"/>
              <a:t>Multiple choice </a:t>
            </a:r>
            <a:r>
              <a:rPr lang="en-US" dirty="0">
                <a:solidFill>
                  <a:schemeClr val="bg1"/>
                </a:solidFill>
              </a:rPr>
              <a:t>(2) (1)</a:t>
            </a:r>
          </a:p>
        </p:txBody>
      </p:sp>
      <p:sp>
        <p:nvSpPr>
          <p:cNvPr id="18" name="Text Placeholder 17">
            <a:extLst>
              <a:ext uri="{FF2B5EF4-FFF2-40B4-BE49-F238E27FC236}">
                <a16:creationId xmlns:a16="http://schemas.microsoft.com/office/drawing/2014/main" id="{56364F73-E229-E283-75C8-9CCFC763AB34}"/>
              </a:ext>
            </a:extLst>
          </p:cNvPr>
          <p:cNvSpPr>
            <a:spLocks noGrp="1"/>
          </p:cNvSpPr>
          <p:nvPr>
            <p:ph type="body" sz="quarter" idx="24"/>
          </p:nvPr>
        </p:nvSpPr>
        <p:spPr>
          <a:xfrm>
            <a:off x="234867" y="1266905"/>
            <a:ext cx="11609133" cy="1399194"/>
          </a:xfrm>
        </p:spPr>
        <p:txBody>
          <a:bodyPr vert="horz" lIns="0" tIns="0" rIns="0" bIns="0" rtlCol="0" anchor="t">
            <a:noAutofit/>
          </a:bodyPr>
          <a:lstStyle/>
          <a:p>
            <a:pPr algn="ctr"/>
            <a:r>
              <a:rPr lang="en-US" sz="4000" dirty="0">
                <a:latin typeface="Arial"/>
                <a:cs typeface="Arial"/>
              </a:rPr>
              <a:t>What is another way to </a:t>
            </a:r>
            <a:r>
              <a:rPr lang="en-US" sz="4000" b="1" dirty="0">
                <a:latin typeface="Arial"/>
                <a:cs typeface="Arial"/>
              </a:rPr>
              <a:t>record</a:t>
            </a:r>
            <a:r>
              <a:rPr lang="en-US" sz="4000" dirty="0">
                <a:latin typeface="Arial"/>
                <a:cs typeface="Arial"/>
              </a:rPr>
              <a:t> the </a:t>
            </a:r>
            <a:r>
              <a:rPr lang="en-US" sz="4000" b="1" dirty="0">
                <a:latin typeface="Arial"/>
                <a:cs typeface="Arial"/>
              </a:rPr>
              <a:t>fraction</a:t>
            </a:r>
            <a:r>
              <a:rPr lang="en-US" sz="4000" dirty="0">
                <a:latin typeface="Arial"/>
                <a:cs typeface="Arial"/>
              </a:rPr>
              <a:t> </a:t>
            </a:r>
          </a:p>
          <a:p>
            <a:pPr algn="ctr"/>
            <a:r>
              <a:rPr lang="en-US" sz="4000" dirty="0">
                <a:latin typeface="Arial"/>
                <a:cs typeface="Arial"/>
              </a:rPr>
              <a:t>9 fifths?</a:t>
            </a:r>
            <a:endParaRPr lang="en-US" dirty="0"/>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772083322"/>
                  </p:ext>
                </p:extLst>
              </p:nvPr>
            </p:nvGraphicFramePr>
            <p:xfrm>
              <a:off x="763787" y="4468114"/>
              <a:ext cx="10551292" cy="2389886"/>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72662">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1280758">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dirty="0">
                              <a:cs typeface="Arial"/>
                            </a:rPr>
                            <a:t>1</a:t>
                          </a:r>
                          <a14:m>
                            <m:oMath xmlns:m="http://schemas.openxmlformats.org/officeDocument/2006/math">
                              <m:f>
                                <m:fPr>
                                  <m:ctrlPr>
                                    <a:rPr lang="en-US" sz="4000" i="1" smtClean="0">
                                      <a:latin typeface="Cambria Math" panose="02040503050406030204" pitchFamily="18" charset="0"/>
                                      <a:cs typeface="Arial"/>
                                    </a:rPr>
                                  </m:ctrlPr>
                                </m:fPr>
                                <m:num>
                                  <m:r>
                                    <a:rPr lang="en-AU" sz="4000" b="0" i="1" smtClean="0">
                                      <a:latin typeface="Cambria Math" panose="02040503050406030204" pitchFamily="18" charset="0"/>
                                      <a:cs typeface="Arial"/>
                                    </a:rPr>
                                    <m:t>3</m:t>
                                  </m:r>
                                </m:num>
                                <m:den>
                                  <m:r>
                                    <a:rPr lang="en-AU" sz="4000" b="0" i="1" smtClean="0">
                                      <a:latin typeface="Cambria Math" panose="02040503050406030204" pitchFamily="18" charset="0"/>
                                      <a:cs typeface="Arial"/>
                                    </a:rPr>
                                    <m:t>5</m:t>
                                  </m:r>
                                </m:den>
                              </m:f>
                            </m:oMath>
                          </a14:m>
                          <a:endParaRPr lang="en-AU" sz="4000" dirty="0"/>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dirty="0">
                              <a:cs typeface="Arial"/>
                            </a:rPr>
                            <a:t>1</a:t>
                          </a:r>
                          <a14:m>
                            <m:oMath xmlns:m="http://schemas.openxmlformats.org/officeDocument/2006/math">
                              <m:f>
                                <m:fPr>
                                  <m:ctrlPr>
                                    <a:rPr lang="en-US" sz="4000" i="1" smtClean="0">
                                      <a:latin typeface="Cambria Math" panose="02040503050406030204" pitchFamily="18" charset="0"/>
                                      <a:cs typeface="Arial"/>
                                    </a:rPr>
                                  </m:ctrlPr>
                                </m:fPr>
                                <m:num>
                                  <m:r>
                                    <a:rPr lang="en-AU" sz="4000" b="0" i="1" smtClean="0">
                                      <a:latin typeface="Cambria Math" panose="02040503050406030204" pitchFamily="18" charset="0"/>
                                      <a:cs typeface="Arial"/>
                                    </a:rPr>
                                    <m:t>2</m:t>
                                  </m:r>
                                </m:num>
                                <m:den>
                                  <m:r>
                                    <a:rPr lang="en-AU" sz="4000" b="0" i="1" smtClean="0">
                                      <a:latin typeface="Cambria Math" panose="02040503050406030204" pitchFamily="18" charset="0"/>
                                      <a:cs typeface="Arial"/>
                                    </a:rPr>
                                    <m:t>5</m:t>
                                  </m:r>
                                </m:den>
                              </m:f>
                            </m:oMath>
                          </a14:m>
                          <a:endParaRPr lang="en-AU" sz="4000" dirty="0"/>
                        </a:p>
                        <a:p>
                          <a:pPr marL="0" marR="0" lvl="0" indent="0" algn="ctr" defTabSz="914377" rtl="0" eaLnBrk="1" fontAlgn="auto" latinLnBrk="0" hangingPunct="1">
                            <a:lnSpc>
                              <a:spcPct val="100000"/>
                            </a:lnSpc>
                            <a:spcBef>
                              <a:spcPts val="0"/>
                            </a:spcBef>
                            <a:spcAft>
                              <a:spcPts val="0"/>
                            </a:spcAft>
                            <a:buClrTx/>
                            <a:buSzTx/>
                            <a:buFontTx/>
                            <a:buNone/>
                            <a:tabLst/>
                            <a:defRPr/>
                          </a:pPr>
                          <a:endParaRPr lang="en-AU" sz="4000" dirty="0">
                            <a:latin typeface="+mn-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dirty="0">
                              <a:cs typeface="Arial"/>
                            </a:rPr>
                            <a:t>1</a:t>
                          </a:r>
                          <a14:m>
                            <m:oMath xmlns:m="http://schemas.openxmlformats.org/officeDocument/2006/math">
                              <m:f>
                                <m:fPr>
                                  <m:ctrlPr>
                                    <a:rPr lang="en-US" sz="4000" i="1" smtClean="0">
                                      <a:latin typeface="Cambria Math" panose="02040503050406030204" pitchFamily="18" charset="0"/>
                                      <a:cs typeface="Arial"/>
                                    </a:rPr>
                                  </m:ctrlPr>
                                </m:fPr>
                                <m:num>
                                  <m:r>
                                    <a:rPr lang="en-AU" sz="4000" b="0" i="1" smtClean="0">
                                      <a:latin typeface="Cambria Math" panose="02040503050406030204" pitchFamily="18" charset="0"/>
                                      <a:cs typeface="Arial"/>
                                    </a:rPr>
                                    <m:t>4</m:t>
                                  </m:r>
                                </m:num>
                                <m:den>
                                  <m:r>
                                    <a:rPr lang="en-AU" sz="4000" b="0" i="1" smtClean="0">
                                      <a:latin typeface="Cambria Math" panose="02040503050406030204" pitchFamily="18" charset="0"/>
                                      <a:cs typeface="Arial"/>
                                    </a:rPr>
                                    <m:t>5</m:t>
                                  </m:r>
                                </m:den>
                              </m:f>
                            </m:oMath>
                          </a14:m>
                          <a:endParaRPr lang="en-AU" sz="4000" dirty="0"/>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dirty="0">
                              <a:cs typeface="Arial"/>
                            </a:rPr>
                            <a:t>1</a:t>
                          </a:r>
                          <a14:m>
                            <m:oMath xmlns:m="http://schemas.openxmlformats.org/officeDocument/2006/math">
                              <m:f>
                                <m:fPr>
                                  <m:ctrlPr>
                                    <a:rPr lang="en-US" sz="4000" i="1" smtClean="0">
                                      <a:latin typeface="Cambria Math" panose="02040503050406030204" pitchFamily="18" charset="0"/>
                                      <a:cs typeface="Arial"/>
                                    </a:rPr>
                                  </m:ctrlPr>
                                </m:fPr>
                                <m:num>
                                  <m:r>
                                    <a:rPr lang="en-AU" sz="4000" b="0" i="1" smtClean="0">
                                      <a:latin typeface="Cambria Math" panose="02040503050406030204" pitchFamily="18" charset="0"/>
                                      <a:cs typeface="Arial"/>
                                    </a:rPr>
                                    <m:t>5</m:t>
                                  </m:r>
                                </m:num>
                                <m:den>
                                  <m:r>
                                    <a:rPr lang="en-AU" sz="4000" b="0" i="1" smtClean="0">
                                      <a:latin typeface="Cambria Math" panose="02040503050406030204" pitchFamily="18" charset="0"/>
                                      <a:cs typeface="Arial"/>
                                    </a:rPr>
                                    <m:t>5</m:t>
                                  </m:r>
                                </m:den>
                              </m:f>
                            </m:oMath>
                          </a14:m>
                          <a:endParaRPr lang="en-AU" sz="4000" dirty="0"/>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mc:Choice>
        <mc:Fallback xmlns="">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772083322"/>
                  </p:ext>
                </p:extLst>
              </p:nvPr>
            </p:nvGraphicFramePr>
            <p:xfrm>
              <a:off x="763787" y="4468114"/>
              <a:ext cx="10551292" cy="2389886"/>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822960">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1566926">
                    <a:tc>
                      <a:txBody>
                        <a:bodyPr/>
                        <a:lstStyle/>
                        <a:p>
                          <a:endParaRPr lang="en-US"/>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4"/>
                          <a:stretch>
                            <a:fillRect t="-61240" r="-300000"/>
                          </a:stretch>
                        </a:blipFill>
                      </a:tcPr>
                    </a:tc>
                    <a:tc>
                      <a:txBody>
                        <a:bodyPr/>
                        <a:lstStyle/>
                        <a:p>
                          <a:endParaRPr lang="en-US"/>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4"/>
                          <a:stretch>
                            <a:fillRect l="-100000" t="-61240" r="-200000"/>
                          </a:stretch>
                        </a:blipFill>
                      </a:tcPr>
                    </a:tc>
                    <a:tc>
                      <a:txBody>
                        <a:bodyPr/>
                        <a:lstStyle/>
                        <a:p>
                          <a:endParaRPr lang="en-US"/>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4"/>
                          <a:stretch>
                            <a:fillRect l="-200000" t="-61240" r="-100000"/>
                          </a:stretch>
                        </a:blipFill>
                      </a:tcPr>
                    </a:tc>
                    <a:tc>
                      <a:txBody>
                        <a:bodyPr/>
                        <a:lstStyle/>
                        <a:p>
                          <a:endParaRPr lang="en-US"/>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4"/>
                          <a:stretch>
                            <a:fillRect l="-300000" t="-61240"/>
                          </a:stretch>
                        </a:blipFill>
                      </a:tcPr>
                    </a:tc>
                    <a:extLst>
                      <a:ext uri="{0D108BD9-81ED-4DB2-BD59-A6C34878D82A}">
                        <a16:rowId xmlns:a16="http://schemas.microsoft.com/office/drawing/2014/main" val="505300166"/>
                      </a:ext>
                    </a:extLst>
                  </a:tr>
                </a:tbl>
              </a:graphicData>
            </a:graphic>
          </p:graphicFrame>
        </mc:Fallback>
      </mc:AlternateContent>
      <p:pic>
        <p:nvPicPr>
          <p:cNvPr id="5" name="Picture 4" descr="image of a finger selecting an option for a multiple choice or true and false">
            <a:extLst>
              <a:ext uri="{FF2B5EF4-FFF2-40B4-BE49-F238E27FC236}">
                <a16:creationId xmlns:a16="http://schemas.microsoft.com/office/drawing/2014/main" id="{35EA0110-8963-8FFF-008C-5572AAB946D2}"/>
              </a:ext>
            </a:extLst>
          </p:cNvPr>
          <p:cNvPicPr>
            <a:picLocks noChangeAspect="1"/>
          </p:cNvPicPr>
          <p:nvPr/>
        </p:nvPicPr>
        <p:blipFill>
          <a:blip r:embed="rId5"/>
          <a:stretch>
            <a:fillRect/>
          </a:stretch>
        </p:blipFill>
        <p:spPr>
          <a:xfrm>
            <a:off x="10807908" y="43303"/>
            <a:ext cx="1165786" cy="1140716"/>
          </a:xfrm>
          <a:prstGeom prst="rect">
            <a:avLst/>
          </a:prstGeom>
        </p:spPr>
      </p:pic>
      <p:pic>
        <p:nvPicPr>
          <p:cNvPr id="6" name="Picture 5" descr="A number line with 0-2 and 1 and 4/5 coloured on a bar.">
            <a:extLst>
              <a:ext uri="{FF2B5EF4-FFF2-40B4-BE49-F238E27FC236}">
                <a16:creationId xmlns:a16="http://schemas.microsoft.com/office/drawing/2014/main" id="{18A8D2BB-561D-E19F-DB57-0263634CCF9F}"/>
              </a:ext>
            </a:extLst>
          </p:cNvPr>
          <p:cNvPicPr>
            <a:picLocks noChangeAspect="1"/>
          </p:cNvPicPr>
          <p:nvPr/>
        </p:nvPicPr>
        <p:blipFill>
          <a:blip r:embed="rId6"/>
          <a:stretch>
            <a:fillRect/>
          </a:stretch>
        </p:blipFill>
        <p:spPr>
          <a:xfrm>
            <a:off x="2885462" y="3027403"/>
            <a:ext cx="6192114" cy="1333686"/>
          </a:xfrm>
          <a:prstGeom prst="rect">
            <a:avLst/>
          </a:prstGeom>
        </p:spPr>
      </p:pic>
    </p:spTree>
    <p:extLst>
      <p:ext uri="{BB962C8B-B14F-4D97-AF65-F5344CB8AC3E}">
        <p14:creationId xmlns:p14="http://schemas.microsoft.com/office/powerpoint/2010/main" val="856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(9)</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615793BF-4D97-0D6A-FB17-D26939AF18A8}"/>
                  </a:ext>
                </a:extLst>
              </p:cNvPr>
              <p:cNvSpPr>
                <a:spLocks noGrp="1"/>
              </p:cNvSpPr>
              <p:nvPr>
                <p:ph type="pic" sz="quarter" idx="21"/>
              </p:nvPr>
            </p:nvSpPr>
            <p:spPr>
              <a:xfrm>
                <a:off x="603839" y="2030849"/>
                <a:ext cx="11243037" cy="3056398"/>
              </a:xfrm>
            </p:spPr>
            <p:txBody>
              <a:bodyPr/>
              <a:lstStyle/>
              <a:p>
                <a:pPr algn="ctr"/>
                <a:r>
                  <a:rPr lang="en-US" sz="4400" dirty="0">
                    <a:latin typeface="Arial"/>
                    <a:cs typeface="Arial"/>
                  </a:rPr>
                  <a:t>What </a:t>
                </a:r>
                <a:r>
                  <a:rPr lang="en-US" sz="4400" b="1" dirty="0">
                    <a:latin typeface="Arial"/>
                    <a:cs typeface="Arial"/>
                  </a:rPr>
                  <a:t>pattern</a:t>
                </a:r>
                <a:r>
                  <a:rPr lang="en-US" sz="4400" dirty="0">
                    <a:latin typeface="Arial"/>
                    <a:cs typeface="Arial"/>
                  </a:rPr>
                  <a:t> do you notice in these </a:t>
                </a:r>
                <a:r>
                  <a:rPr lang="en-US" sz="4400" b="1" dirty="0">
                    <a:latin typeface="Arial"/>
                    <a:cs typeface="Arial"/>
                  </a:rPr>
                  <a:t>equivalent fractions</a:t>
                </a:r>
                <a:r>
                  <a:rPr lang="en-US" sz="4400" dirty="0">
                    <a:latin typeface="Arial"/>
                    <a:cs typeface="Arial"/>
                  </a:rPr>
                  <a:t>?</a:t>
                </a:r>
              </a:p>
              <a:p>
                <a:pPr algn="ctr"/>
                <a:r>
                  <a:rPr lang="en-AU" sz="4800" dirty="0">
                    <a:latin typeface="+mn-lt"/>
                  </a:rPr>
                  <a:t> </a:t>
                </a:r>
                <a14:m>
                  <m:oMath xmlns:m="http://schemas.openxmlformats.org/officeDocument/2006/math">
                    <m:f>
                      <m:fPr>
                        <m:ctrlPr>
                          <a:rPr lang="en-AU" sz="4800" i="1">
                            <a:latin typeface="Cambria Math" panose="02040503050406030204" pitchFamily="18" charset="0"/>
                          </a:rPr>
                        </m:ctrlPr>
                      </m:fPr>
                      <m:num>
                        <m:r>
                          <a:rPr lang="en-AU" sz="4800" i="1">
                            <a:latin typeface="Cambria Math" panose="02040503050406030204" pitchFamily="18" charset="0"/>
                          </a:rPr>
                          <m:t>1</m:t>
                        </m:r>
                      </m:num>
                      <m:den>
                        <m:r>
                          <a:rPr lang="en-AU" sz="4800" b="0" i="1" smtClean="0">
                            <a:latin typeface="Cambria Math" panose="02040503050406030204" pitchFamily="18" charset="0"/>
                          </a:rPr>
                          <m:t>3</m:t>
                        </m:r>
                      </m:den>
                    </m:f>
                  </m:oMath>
                </a14:m>
                <a:r>
                  <a:rPr lang="en-AU" sz="4800" dirty="0">
                    <a:latin typeface="+mn-lt"/>
                  </a:rPr>
                  <a:t> = </a:t>
                </a:r>
                <a14:m>
                  <m:oMath xmlns:m="http://schemas.openxmlformats.org/officeDocument/2006/math">
                    <m:f>
                      <m:fPr>
                        <m:ctrlPr>
                          <a:rPr lang="en-AU" sz="4800" i="1">
                            <a:latin typeface="Cambria Math" panose="02040503050406030204" pitchFamily="18" charset="0"/>
                          </a:rPr>
                        </m:ctrlPr>
                      </m:fPr>
                      <m:num>
                        <m:r>
                          <a:rPr lang="en-AU" sz="4800" i="1">
                            <a:latin typeface="Cambria Math" panose="02040503050406030204" pitchFamily="18" charset="0"/>
                          </a:rPr>
                          <m:t>2</m:t>
                        </m:r>
                      </m:num>
                      <m:den>
                        <m:r>
                          <a:rPr lang="en-AU" sz="4800" b="0" i="1" smtClean="0">
                            <a:latin typeface="Cambria Math" panose="02040503050406030204" pitchFamily="18" charset="0"/>
                          </a:rPr>
                          <m:t>6</m:t>
                        </m:r>
                      </m:den>
                    </m:f>
                  </m:oMath>
                </a14:m>
                <a:r>
                  <a:rPr lang="en-AU" sz="4800" dirty="0">
                    <a:latin typeface="+mn-lt"/>
                  </a:rPr>
                  <a:t> = </a:t>
                </a:r>
                <a14:m>
                  <m:oMath xmlns:m="http://schemas.openxmlformats.org/officeDocument/2006/math">
                    <m:f>
                      <m:fPr>
                        <m:ctrlPr>
                          <a:rPr lang="en-AU" sz="4800" i="1">
                            <a:latin typeface="Cambria Math" panose="02040503050406030204" pitchFamily="18" charset="0"/>
                          </a:rPr>
                        </m:ctrlPr>
                      </m:fPr>
                      <m:num>
                        <m:r>
                          <a:rPr lang="en-AU" sz="4800" i="1">
                            <a:latin typeface="Cambria Math" panose="02040503050406030204" pitchFamily="18" charset="0"/>
                          </a:rPr>
                          <m:t>3</m:t>
                        </m:r>
                      </m:num>
                      <m:den>
                        <m:r>
                          <a:rPr lang="en-AU" sz="4800" b="0" i="1" smtClean="0">
                            <a:latin typeface="Cambria Math" panose="02040503050406030204" pitchFamily="18" charset="0"/>
                          </a:rPr>
                          <m:t>9</m:t>
                        </m:r>
                      </m:den>
                    </m:f>
                  </m:oMath>
                </a14:m>
                <a:endParaRPr lang="en-AU" sz="4800" dirty="0">
                  <a:latin typeface="+mn-lt"/>
                </a:endParaRPr>
              </a:p>
              <a:p>
                <a:pPr algn="ctr"/>
                <a:endParaRPr lang="en-US" sz="3600" dirty="0"/>
              </a:p>
              <a:p>
                <a:endParaRPr lang="en-US" dirty="0">
                  <a:latin typeface="Arial"/>
                  <a:cs typeface="Arial"/>
                </a:endParaRPr>
              </a:p>
            </p:txBody>
          </p:sp>
        </mc:Choice>
        <mc:Fallback xmlns="">
          <p:sp>
            <p:nvSpPr>
              <p:cNvPr id="11" name="Picture Placeholder 10">
                <a:extLst>
                  <a:ext uri="{FF2B5EF4-FFF2-40B4-BE49-F238E27FC236}">
                    <a16:creationId xmlns:a16="http://schemas.microsoft.com/office/drawing/2014/main" id="{615793BF-4D97-0D6A-FB17-D26939AF18A8}"/>
                  </a:ext>
                </a:extLst>
              </p:cNvPr>
              <p:cNvSpPr>
                <a:spLocks noGrp="1" noRot="1" noChangeAspect="1" noMove="1" noResize="1" noEditPoints="1" noAdjustHandles="1" noChangeArrowheads="1" noChangeShapeType="1" noTextEdit="1"/>
              </p:cNvSpPr>
              <p:nvPr>
                <p:ph type="pic" sz="quarter" idx="21"/>
              </p:nvPr>
            </p:nvSpPr>
            <p:spPr>
              <a:xfrm>
                <a:off x="603839" y="2030849"/>
                <a:ext cx="11243037" cy="3056398"/>
              </a:xfrm>
              <a:blipFill>
                <a:blip r:embed="rId3"/>
                <a:stretch>
                  <a:fillRect b="-23705"/>
                </a:stretch>
              </a:blipFill>
            </p:spPr>
            <p:txBody>
              <a:bodyPr/>
              <a:lstStyle/>
              <a:p>
                <a:r>
                  <a:rPr lang="en-AU">
                    <a:noFill/>
                  </a:rPr>
                  <a:t> </a:t>
                </a:r>
              </a:p>
            </p:txBody>
          </p:sp>
        </mc:Fallback>
      </mc:AlternateContent>
      <p:pic>
        <p:nvPicPr>
          <p:cNvPr id="4" name="Picture 3" descr="image of a clipboard with a pencil recording short answer responses">
            <a:extLst>
              <a:ext uri="{FF2B5EF4-FFF2-40B4-BE49-F238E27FC236}">
                <a16:creationId xmlns:a16="http://schemas.microsoft.com/office/drawing/2014/main" id="{0BADCB8F-5A5A-827C-24CB-6A28E30A5102}"/>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D7D5-E3D8-3EA4-002E-040D80D173B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D34442-A9BE-0442-A29E-FA970CD892F8}"/>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3" name="Title 2">
            <a:extLst>
              <a:ext uri="{FF2B5EF4-FFF2-40B4-BE49-F238E27FC236}">
                <a16:creationId xmlns:a16="http://schemas.microsoft.com/office/drawing/2014/main" id="{2DCC67C6-6231-F53A-D387-99ECE9B2DACA}"/>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(10)</a:t>
            </a:r>
          </a:p>
        </p:txBody>
      </p:sp>
      <p:sp>
        <p:nvSpPr>
          <p:cNvPr id="11" name="Picture Placeholder 10">
            <a:extLst>
              <a:ext uri="{FF2B5EF4-FFF2-40B4-BE49-F238E27FC236}">
                <a16:creationId xmlns:a16="http://schemas.microsoft.com/office/drawing/2014/main" id="{D0E0EC4F-A97F-1AC0-49C2-238243DB79CE}"/>
              </a:ext>
            </a:extLst>
          </p:cNvPr>
          <p:cNvSpPr>
            <a:spLocks noGrp="1"/>
          </p:cNvSpPr>
          <p:nvPr>
            <p:ph type="pic" sz="quarter" idx="21"/>
          </p:nvPr>
        </p:nvSpPr>
        <p:spPr>
          <a:xfrm>
            <a:off x="474481" y="1588397"/>
            <a:ext cx="11243037" cy="3056398"/>
          </a:xfrm>
        </p:spPr>
        <p:txBody>
          <a:bodyPr/>
          <a:lstStyle/>
          <a:p>
            <a:pPr algn="ctr"/>
            <a:r>
              <a:rPr lang="en-US" sz="4400" dirty="0">
                <a:latin typeface="Arial"/>
                <a:cs typeface="Arial"/>
              </a:rPr>
              <a:t>Emma brought 39 stickers to school. She gave 21 to Bonnie and 11 to Chloe. </a:t>
            </a:r>
          </a:p>
          <a:p>
            <a:pPr algn="ctr"/>
            <a:r>
              <a:rPr lang="en-US" sz="4400" b="1" dirty="0">
                <a:latin typeface="Arial"/>
                <a:cs typeface="Arial"/>
              </a:rPr>
              <a:t>How many </a:t>
            </a:r>
            <a:r>
              <a:rPr lang="en-US" sz="4400" dirty="0">
                <a:latin typeface="Arial"/>
                <a:cs typeface="Arial"/>
              </a:rPr>
              <a:t>does she have </a:t>
            </a:r>
            <a:r>
              <a:rPr lang="en-US" sz="4400" b="1" dirty="0">
                <a:latin typeface="Arial"/>
                <a:cs typeface="Arial"/>
              </a:rPr>
              <a:t>left</a:t>
            </a:r>
            <a:r>
              <a:rPr lang="en-US" sz="4400" dirty="0">
                <a:latin typeface="Arial"/>
                <a:cs typeface="Arial"/>
              </a:rPr>
              <a:t>?</a:t>
            </a:r>
          </a:p>
          <a:p>
            <a:pPr algn="ctr"/>
            <a:r>
              <a:rPr lang="en-US" sz="4400" b="1" dirty="0">
                <a:latin typeface="Arial"/>
                <a:cs typeface="Arial"/>
              </a:rPr>
              <a:t>Discuss</a:t>
            </a:r>
            <a:r>
              <a:rPr lang="en-US" sz="4400" dirty="0">
                <a:latin typeface="Arial"/>
                <a:cs typeface="Arial"/>
              </a:rPr>
              <a:t> the most </a:t>
            </a:r>
            <a:r>
              <a:rPr lang="en-US" sz="4400" b="1" dirty="0">
                <a:latin typeface="Arial"/>
                <a:cs typeface="Arial"/>
              </a:rPr>
              <a:t>efficient strategy </a:t>
            </a:r>
            <a:r>
              <a:rPr lang="en-US" sz="4400" dirty="0">
                <a:latin typeface="Arial"/>
                <a:cs typeface="Arial"/>
              </a:rPr>
              <a:t>to solve this problem.</a:t>
            </a: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CE7CF1E4-4432-483B-E4F0-A7EDC0414FD9}"/>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44667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D45-44FF-11A5-FE27-5FEEB2BCBA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5D520E-CA22-0FDB-E276-04CB5533BA58}"/>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3" name="Title 2">
            <a:extLst>
              <a:ext uri="{FF2B5EF4-FFF2-40B4-BE49-F238E27FC236}">
                <a16:creationId xmlns:a16="http://schemas.microsoft.com/office/drawing/2014/main" id="{3018A579-B085-1F5A-BA99-7348214BE838}"/>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(11)</a:t>
            </a:r>
          </a:p>
        </p:txBody>
      </p:sp>
      <p:sp>
        <p:nvSpPr>
          <p:cNvPr id="11" name="Picture Placeholder 10">
            <a:extLst>
              <a:ext uri="{FF2B5EF4-FFF2-40B4-BE49-F238E27FC236}">
                <a16:creationId xmlns:a16="http://schemas.microsoft.com/office/drawing/2014/main" id="{BA99C24B-2D22-028D-AEA8-8D8B48CB4938}"/>
              </a:ext>
            </a:extLst>
          </p:cNvPr>
          <p:cNvSpPr>
            <a:spLocks noGrp="1"/>
          </p:cNvSpPr>
          <p:nvPr>
            <p:ph type="pic" sz="quarter" idx="21"/>
          </p:nvPr>
        </p:nvSpPr>
        <p:spPr>
          <a:xfrm>
            <a:off x="952500" y="1290185"/>
            <a:ext cx="10048876" cy="4598686"/>
          </a:xfrm>
        </p:spPr>
        <p:txBody>
          <a:bodyPr/>
          <a:lstStyle/>
          <a:p>
            <a:pPr algn="ctr"/>
            <a:r>
              <a:rPr lang="en-AU" sz="3600" dirty="0"/>
              <a:t>Shannon has been asked to build a walking track around a park that is 250 metres long. She wants to know how </a:t>
            </a:r>
            <a:r>
              <a:rPr lang="en-AU" sz="3600" b="1" dirty="0"/>
              <a:t>long the track </a:t>
            </a:r>
            <a:r>
              <a:rPr lang="en-AU" sz="3600" dirty="0"/>
              <a:t>will be in </a:t>
            </a:r>
            <a:r>
              <a:rPr lang="en-AU" sz="3600" b="1" dirty="0"/>
              <a:t>centimetres</a:t>
            </a:r>
            <a:r>
              <a:rPr lang="en-AU" sz="3600" dirty="0"/>
              <a:t> so she can order the right amount of materials. </a:t>
            </a:r>
          </a:p>
          <a:p>
            <a:pPr algn="ctr"/>
            <a:r>
              <a:rPr lang="en-AU" sz="3600" b="1" dirty="0"/>
              <a:t>Estimate</a:t>
            </a:r>
            <a:r>
              <a:rPr lang="en-AU" sz="3600" dirty="0"/>
              <a:t> the </a:t>
            </a:r>
            <a:r>
              <a:rPr lang="en-AU" sz="3600" b="1" dirty="0"/>
              <a:t>length</a:t>
            </a:r>
            <a:r>
              <a:rPr lang="en-AU" sz="3600" dirty="0"/>
              <a:t> of the track in </a:t>
            </a:r>
            <a:r>
              <a:rPr lang="en-AU" sz="3600" b="1" dirty="0"/>
              <a:t>centimetres</a:t>
            </a:r>
            <a:r>
              <a:rPr lang="en-AU" sz="3600" dirty="0"/>
              <a:t>?</a:t>
            </a:r>
            <a:endParaRPr lang="en-US" sz="3600"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B8D0C62D-183A-CACC-790E-F241DFF5E1EF}"/>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76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(12)</a:t>
            </a:r>
          </a:p>
        </p:txBody>
      </p:sp>
      <p:sp>
        <p:nvSpPr>
          <p:cNvPr id="11" name="Picture Placeholder 10">
            <a:extLst>
              <a:ext uri="{FF2B5EF4-FFF2-40B4-BE49-F238E27FC236}">
                <a16:creationId xmlns:a16="http://schemas.microsoft.com/office/drawing/2014/main" id="{0BBCDB05-A139-44A3-EA5D-6556ADCA3BC0}"/>
              </a:ext>
            </a:extLst>
          </p:cNvPr>
          <p:cNvSpPr>
            <a:spLocks noGrp="1"/>
          </p:cNvSpPr>
          <p:nvPr>
            <p:ph type="pic" sz="quarter" idx="21"/>
          </p:nvPr>
        </p:nvSpPr>
        <p:spPr>
          <a:xfrm>
            <a:off x="474481" y="4031171"/>
            <a:ext cx="11243037" cy="3659902"/>
          </a:xfrm>
        </p:spPr>
        <p:txBody>
          <a:bodyPr/>
          <a:lstStyle/>
          <a:p>
            <a:pPr algn="ctr"/>
            <a:r>
              <a:rPr lang="en-AU" sz="4400" b="1" dirty="0"/>
              <a:t>Order </a:t>
            </a:r>
            <a:r>
              <a:rPr lang="en-AU" sz="4400" dirty="0"/>
              <a:t>the containers from the </a:t>
            </a:r>
            <a:r>
              <a:rPr lang="en-AU" sz="4400" b="1" dirty="0"/>
              <a:t>smallest to the largest capacity.</a:t>
            </a:r>
            <a:endParaRPr lang="en-US" sz="4400" b="1"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84B5940-5140-3FDA-A2C8-AEE3D94BCCEF}"/>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A3 containers, A labelled 750ml, B labelled 1200ml and C labelled 950ml.">
            <a:extLst>
              <a:ext uri="{FF2B5EF4-FFF2-40B4-BE49-F238E27FC236}">
                <a16:creationId xmlns:a16="http://schemas.microsoft.com/office/drawing/2014/main" id="{74C7CCF2-962C-A04D-85A5-506B285DF8D3}"/>
              </a:ext>
            </a:extLst>
          </p:cNvPr>
          <p:cNvPicPr>
            <a:picLocks noChangeAspect="1"/>
          </p:cNvPicPr>
          <p:nvPr/>
        </p:nvPicPr>
        <p:blipFill>
          <a:blip r:embed="rId4"/>
          <a:stretch>
            <a:fillRect/>
          </a:stretch>
        </p:blipFill>
        <p:spPr>
          <a:xfrm>
            <a:off x="3130222" y="996878"/>
            <a:ext cx="5702593" cy="3264068"/>
          </a:xfrm>
          <a:prstGeom prst="rect">
            <a:avLst/>
          </a:prstGeom>
        </p:spPr>
      </p:pic>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9963150" cy="545601"/>
          </a:xfrm>
        </p:spPr>
        <p:txBody>
          <a:bodyPr/>
          <a:lstStyle/>
          <a:p>
            <a:r>
              <a:rPr lang="en-AU" dirty="0"/>
              <a:t>Activity 3 – </a:t>
            </a:r>
            <a:r>
              <a:rPr lang="en-AU" b="0" i="0" dirty="0">
                <a:solidFill>
                  <a:srgbClr val="002664"/>
                </a:solidFill>
                <a:effectLst/>
                <a:latin typeface="Arial" panose="020B0604020202020204" pitchFamily="34" charset="0"/>
              </a:rPr>
              <a:t>represent totals of halves, thirds, quarters and fifths that extend beyond 1</a:t>
            </a:r>
            <a:endParaRPr lang="en-AU" dirty="0"/>
          </a:p>
        </p:txBody>
      </p:sp>
      <p:pic>
        <p:nvPicPr>
          <p:cNvPr id="2050" name="Picture 2" descr="A blank number line from 0 to 2">
            <a:extLst>
              <a:ext uri="{FF2B5EF4-FFF2-40B4-BE49-F238E27FC236}">
                <a16:creationId xmlns:a16="http://schemas.microsoft.com/office/drawing/2014/main" id="{66EE2084-7E9F-E782-2B6C-8F46A78E73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587" y="2037092"/>
            <a:ext cx="9963150" cy="11620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BF57A843-CB62-3357-346F-5227A9A12BD9}"/>
                  </a:ext>
                </a:extLst>
              </p:cNvPr>
              <p:cNvSpPr txBox="1"/>
              <p:nvPr/>
            </p:nvSpPr>
            <p:spPr>
              <a:xfrm>
                <a:off x="3934289" y="4330633"/>
                <a:ext cx="3412442" cy="1418526"/>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f>
                        <m:fPr>
                          <m:ctrlPr>
                            <a:rPr lang="en-AU" sz="4400" b="0" i="1" smtClean="0">
                              <a:latin typeface="Cambria Math" panose="02040503050406030204" pitchFamily="18" charset="0"/>
                            </a:rPr>
                          </m:ctrlPr>
                        </m:fPr>
                        <m:num>
                          <m:r>
                            <a:rPr lang="en-AU" sz="4400" b="0" i="1" smtClean="0">
                              <a:latin typeface="Cambria Math" panose="02040503050406030204" pitchFamily="18" charset="0"/>
                            </a:rPr>
                            <m:t>3</m:t>
                          </m:r>
                        </m:num>
                        <m:den>
                          <m:r>
                            <a:rPr lang="en-AU" sz="4400" b="0" i="1" smtClean="0">
                              <a:latin typeface="Cambria Math" panose="02040503050406030204" pitchFamily="18" charset="0"/>
                            </a:rPr>
                            <m:t>5</m:t>
                          </m:r>
                        </m:den>
                      </m:f>
                      <m:r>
                        <a:rPr lang="en-AU" sz="4400" b="0" i="0" smtClean="0">
                          <a:latin typeface="Cambria Math" panose="02040503050406030204" pitchFamily="18" charset="0"/>
                        </a:rPr>
                        <m:t>    </m:t>
                      </m:r>
                      <m:f>
                        <m:fPr>
                          <m:ctrlPr>
                            <a:rPr lang="en-AU" sz="4400" i="1">
                              <a:latin typeface="Cambria Math" panose="02040503050406030204" pitchFamily="18" charset="0"/>
                            </a:rPr>
                          </m:ctrlPr>
                        </m:fPr>
                        <m:num>
                          <m:r>
                            <a:rPr lang="en-AU" sz="4400" i="1">
                              <a:latin typeface="Cambria Math" panose="02040503050406030204" pitchFamily="18" charset="0"/>
                            </a:rPr>
                            <m:t>7</m:t>
                          </m:r>
                        </m:num>
                        <m:den>
                          <m:r>
                            <a:rPr lang="en-AU" sz="4400" i="1">
                              <a:latin typeface="Cambria Math" panose="02040503050406030204" pitchFamily="18" charset="0"/>
                            </a:rPr>
                            <m:t>5</m:t>
                          </m:r>
                        </m:den>
                      </m:f>
                      <m:r>
                        <a:rPr lang="en-AU" sz="4400" b="0" i="0" smtClean="0">
                          <a:latin typeface="Cambria Math" panose="02040503050406030204" pitchFamily="18" charset="0"/>
                        </a:rPr>
                        <m:t>    </m:t>
                      </m:r>
                      <m:f>
                        <m:fPr>
                          <m:ctrlPr>
                            <a:rPr lang="en-AU" sz="4400" i="1">
                              <a:latin typeface="Cambria Math" panose="02040503050406030204" pitchFamily="18" charset="0"/>
                            </a:rPr>
                          </m:ctrlPr>
                        </m:fPr>
                        <m:num>
                          <m:r>
                            <a:rPr lang="en-AU" sz="4400" i="1">
                              <a:latin typeface="Cambria Math" panose="02040503050406030204" pitchFamily="18" charset="0"/>
                            </a:rPr>
                            <m:t>1</m:t>
                          </m:r>
                        </m:num>
                        <m:den>
                          <m:r>
                            <a:rPr lang="en-AU" sz="4400" i="1">
                              <a:latin typeface="Cambria Math" panose="02040503050406030204" pitchFamily="18" charset="0"/>
                            </a:rPr>
                            <m:t>5 </m:t>
                          </m:r>
                        </m:den>
                      </m:f>
                      <m:r>
                        <a:rPr lang="en-AU" sz="4400" b="0" i="0" smtClean="0">
                          <a:latin typeface="Cambria Math" panose="02040503050406030204" pitchFamily="18" charset="0"/>
                        </a:rPr>
                        <m:t>  </m:t>
                      </m:r>
                      <m:r>
                        <a:rPr lang="en-AU" sz="4400" i="1">
                          <a:latin typeface="Cambria Math" panose="02040503050406030204" pitchFamily="18" charset="0"/>
                        </a:rPr>
                        <m:t>1</m:t>
                      </m:r>
                      <m:f>
                        <m:fPr>
                          <m:ctrlPr>
                            <a:rPr lang="en-AU" sz="4400" i="1">
                              <a:latin typeface="Cambria Math" panose="02040503050406030204" pitchFamily="18" charset="0"/>
                            </a:rPr>
                          </m:ctrlPr>
                        </m:fPr>
                        <m:num>
                          <m:r>
                            <a:rPr lang="en-AU" sz="4400" i="1">
                              <a:latin typeface="Cambria Math" panose="02040503050406030204" pitchFamily="18" charset="0"/>
                            </a:rPr>
                            <m:t>4</m:t>
                          </m:r>
                        </m:num>
                        <m:den>
                          <m:r>
                            <a:rPr lang="en-AU" sz="4400" i="1">
                              <a:latin typeface="Cambria Math" panose="02040503050406030204" pitchFamily="18" charset="0"/>
                            </a:rPr>
                            <m:t>5</m:t>
                          </m:r>
                        </m:den>
                      </m:f>
                    </m:oMath>
                  </m:oMathPara>
                </a14:m>
                <a:endParaRPr lang="en-AU" sz="4400" dirty="0"/>
              </a:p>
              <a:p>
                <a:endParaRPr lang="en-AU" sz="1800" b="0" dirty="0"/>
              </a:p>
              <a:p>
                <a:pPr algn="l"/>
                <a:endParaRPr lang="en-AU" sz="1800" dirty="0"/>
              </a:p>
            </p:txBody>
          </p:sp>
        </mc:Choice>
        <mc:Fallback xmlns="">
          <p:sp>
            <p:nvSpPr>
              <p:cNvPr id="70" name="TextBox 69">
                <a:extLst>
                  <a:ext uri="{FF2B5EF4-FFF2-40B4-BE49-F238E27FC236}">
                    <a16:creationId xmlns:a16="http://schemas.microsoft.com/office/drawing/2014/main" id="{BF57A843-CB62-3357-346F-5227A9A12BD9}"/>
                  </a:ext>
                </a:extLst>
              </p:cNvPr>
              <p:cNvSpPr txBox="1">
                <a:spLocks noRot="1" noChangeAspect="1" noMove="1" noResize="1" noEditPoints="1" noAdjustHandles="1" noChangeArrowheads="1" noChangeShapeType="1" noTextEdit="1"/>
              </p:cNvSpPr>
              <p:nvPr/>
            </p:nvSpPr>
            <p:spPr>
              <a:xfrm>
                <a:off x="3934289" y="4330633"/>
                <a:ext cx="3412442" cy="1418526"/>
              </a:xfrm>
              <a:prstGeom prst="rect">
                <a:avLst/>
              </a:prstGeom>
              <a:blipFill>
                <a:blip r:embed="rId5"/>
                <a:stretch>
                  <a:fillRect/>
                </a:stretch>
              </a:blipFill>
            </p:spPr>
            <p:txBody>
              <a:bodyPr/>
              <a:lstStyle/>
              <a:p>
                <a:r>
                  <a:rPr lang="en-AU">
                    <a:noFill/>
                  </a:rPr>
                  <a:t> </a:t>
                </a:r>
              </a:p>
            </p:txBody>
          </p:sp>
        </mc:Fallback>
      </mc:AlternateContent>
      <p:pic>
        <p:nvPicPr>
          <p:cNvPr id="3074" name="Picture 2" descr="image of a head with cogs turning inside">
            <a:extLst>
              <a:ext uri="{FF2B5EF4-FFF2-40B4-BE49-F238E27FC236}">
                <a16:creationId xmlns:a16="http://schemas.microsoft.com/office/drawing/2014/main" id="{845DF7C8-1E7D-C0B8-DC91-7DFA2C9C86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08100" y="360000"/>
            <a:ext cx="723900" cy="85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274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dirty="0"/>
              <a:t>True or false </a:t>
            </a:r>
            <a:r>
              <a:rPr lang="en-US" dirty="0">
                <a:solidFill>
                  <a:schemeClr val="bg1"/>
                </a:solidFill>
              </a:rPr>
              <a:t>(2)(1)</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360001" y="1500716"/>
                <a:ext cx="11243037" cy="1423578"/>
              </a:xfrm>
            </p:spPr>
            <p:txBody>
              <a:bodyPr vert="horz" lIns="0" tIns="0" rIns="0" bIns="0" rtlCol="0" anchor="t">
                <a:noAutofit/>
              </a:bodyPr>
              <a:lstStyle/>
              <a:p>
                <a:pPr algn="ctr"/>
                <a:r>
                  <a:rPr lang="en-US" sz="4400" dirty="0">
                    <a:latin typeface="+mn-lt"/>
                    <a:cs typeface="Arial"/>
                  </a:rPr>
                  <a:t>2 is </a:t>
                </a:r>
                <a:r>
                  <a:rPr lang="en-US" sz="4400" b="1" dirty="0">
                    <a:latin typeface="+mn-lt"/>
                    <a:cs typeface="Arial"/>
                  </a:rPr>
                  <a:t>the same as </a:t>
                </a:r>
                <a:r>
                  <a:rPr lang="en-US" sz="4400" dirty="0">
                    <a:latin typeface="+mn-lt"/>
                    <a:cs typeface="Arial"/>
                  </a:rPr>
                  <a:t>1</a:t>
                </a:r>
                <a14:m>
                  <m:oMath xmlns:m="http://schemas.openxmlformats.org/officeDocument/2006/math">
                    <m:f>
                      <m:fPr>
                        <m:ctrlPr>
                          <a:rPr lang="en-US" sz="4400" i="1">
                            <a:latin typeface="Cambria Math" panose="02040503050406030204" pitchFamily="18" charset="0"/>
                            <a:cs typeface="Arial"/>
                          </a:rPr>
                        </m:ctrlPr>
                      </m:fPr>
                      <m:num>
                        <m:r>
                          <a:rPr lang="en-AU" sz="4400" b="0" i="1" smtClean="0">
                            <a:latin typeface="Cambria Math" panose="02040503050406030204" pitchFamily="18" charset="0"/>
                            <a:cs typeface="Arial"/>
                          </a:rPr>
                          <m:t>5</m:t>
                        </m:r>
                      </m:num>
                      <m:den>
                        <m:r>
                          <a:rPr lang="en-AU" sz="4400" i="1">
                            <a:latin typeface="Cambria Math" panose="02040503050406030204" pitchFamily="18" charset="0"/>
                            <a:cs typeface="Arial"/>
                          </a:rPr>
                          <m:t>5</m:t>
                        </m:r>
                      </m:den>
                    </m:f>
                    <m:r>
                      <a:rPr lang="en-AU" sz="4400" b="0" i="1" smtClean="0">
                        <a:latin typeface="Cambria Math" panose="02040503050406030204" pitchFamily="18" charset="0"/>
                        <a:cs typeface="Arial"/>
                      </a:rPr>
                      <m:t>.</m:t>
                    </m:r>
                  </m:oMath>
                </a14:m>
                <a:endParaRPr lang="en-AU" sz="4400" dirty="0">
                  <a:latin typeface="+mn-lt"/>
                </a:endParaRPr>
              </a:p>
              <a:p>
                <a:pPr algn="ctr"/>
                <a:endParaRPr lang="en-US" sz="4400" dirty="0"/>
              </a:p>
            </p:txBody>
          </p:sp>
        </mc:Choice>
        <mc:Fallback xmlns="">
          <p:sp>
            <p:nvSpPr>
              <p:cNvPr id="7" name="Text Placeholder 6">
                <a:extLst>
                  <a:ext uri="{FF2B5EF4-FFF2-40B4-BE49-F238E27FC236}">
                    <a16:creationId xmlns:a16="http://schemas.microsoft.com/office/drawing/2014/main" id="{F060180D-91D5-EA06-E103-8B3688B0CE76}"/>
                  </a:ext>
                </a:extLst>
              </p:cNvPr>
              <p:cNvSpPr>
                <a:spLocks noGrp="1" noRot="1" noChangeAspect="1" noMove="1" noResize="1" noEditPoints="1" noAdjustHandles="1" noChangeArrowheads="1" noChangeShapeType="1" noTextEdit="1"/>
              </p:cNvSpPr>
              <p:nvPr>
                <p:ph type="body" sz="quarter" idx="22"/>
              </p:nvPr>
            </p:nvSpPr>
            <p:spPr>
              <a:xfrm>
                <a:off x="360001" y="1500716"/>
                <a:ext cx="11243037" cy="1423578"/>
              </a:xfrm>
              <a:blipFill>
                <a:blip r:embed="rId3"/>
                <a:stretch>
                  <a:fillRect b="-6838"/>
                </a:stretch>
              </a:blipFill>
            </p:spPr>
            <p:txBody>
              <a:bodyPr/>
              <a:lstStyle/>
              <a:p>
                <a:r>
                  <a:rPr lang="en-AU">
                    <a:noFill/>
                  </a:rPr>
                  <a:t> </a:t>
                </a:r>
              </a:p>
            </p:txBody>
          </p:sp>
        </mc:Fallback>
      </mc:AlternateContent>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3870505263"/>
              </p:ext>
            </p:extLst>
          </p:nvPr>
        </p:nvGraphicFramePr>
        <p:xfrm>
          <a:off x="2125738" y="3668587"/>
          <a:ext cx="7077076" cy="70104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6986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6" name="Picture 5" descr="image of a finger selecting an option for a multiple choice or true and false">
            <a:extLst>
              <a:ext uri="{FF2B5EF4-FFF2-40B4-BE49-F238E27FC236}">
                <a16:creationId xmlns:a16="http://schemas.microsoft.com/office/drawing/2014/main" id="{4348276A-08AB-CAAE-2AF9-8F7FE9DCE3A5}"/>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9" name="TextBox 8">
            <a:extLst>
              <a:ext uri="{FF2B5EF4-FFF2-40B4-BE49-F238E27FC236}">
                <a16:creationId xmlns:a16="http://schemas.microsoft.com/office/drawing/2014/main" id="{4367C860-28E7-B572-3F7F-120B7470AA64}"/>
              </a:ext>
            </a:extLst>
          </p:cNvPr>
          <p:cNvSpPr txBox="1"/>
          <p:nvPr/>
        </p:nvSpPr>
        <p:spPr>
          <a:xfrm>
            <a:off x="680111" y="5477659"/>
            <a:ext cx="10444644"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400" b="1" dirty="0">
                <a:cs typeface="Arial"/>
              </a:rPr>
              <a:t>Communicate </a:t>
            </a:r>
            <a:r>
              <a:rPr lang="en-US" sz="4400" dirty="0">
                <a:cs typeface="Arial"/>
              </a:rPr>
              <a:t>your </a:t>
            </a:r>
            <a:r>
              <a:rPr lang="en-US" sz="4400" b="1" dirty="0">
                <a:cs typeface="Arial"/>
              </a:rPr>
              <a:t>reasoning.</a:t>
            </a:r>
            <a:r>
              <a:rPr lang="en-US" sz="4400" dirty="0">
                <a:cs typeface="Arial"/>
              </a:rPr>
              <a:t> </a:t>
            </a:r>
          </a:p>
        </p:txBody>
      </p:sp>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(13)</a:t>
            </a:r>
          </a:p>
        </p:txBody>
      </p:sp>
      <p:pic>
        <p:nvPicPr>
          <p:cNvPr id="4" name="Picture 3" descr="image of a clipboard with a pencil recording short answer responses">
            <a:extLst>
              <a:ext uri="{FF2B5EF4-FFF2-40B4-BE49-F238E27FC236}">
                <a16:creationId xmlns:a16="http://schemas.microsoft.com/office/drawing/2014/main" id="{8630EBD8-CFDA-21D1-0781-2E0CE818F684}"/>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A vertical line with a small part of the line covered with a square.">
            <a:extLst>
              <a:ext uri="{FF2B5EF4-FFF2-40B4-BE49-F238E27FC236}">
                <a16:creationId xmlns:a16="http://schemas.microsoft.com/office/drawing/2014/main" id="{09B3EE19-EF20-3192-A967-787D4ADFDF43}"/>
              </a:ext>
            </a:extLst>
          </p:cNvPr>
          <p:cNvPicPr>
            <a:picLocks noChangeAspect="1"/>
          </p:cNvPicPr>
          <p:nvPr/>
        </p:nvPicPr>
        <p:blipFill>
          <a:blip r:embed="rId4"/>
          <a:srcRect b="24616"/>
          <a:stretch>
            <a:fillRect/>
          </a:stretch>
        </p:blipFill>
        <p:spPr>
          <a:xfrm>
            <a:off x="7817039" y="1184223"/>
            <a:ext cx="1771741" cy="4025963"/>
          </a:xfrm>
          <a:prstGeom prst="rect">
            <a:avLst/>
          </a:prstGeom>
        </p:spPr>
      </p:pic>
      <mc:AlternateContent xmlns:mc="http://schemas.openxmlformats.org/markup-compatibility/2006" xmlns:a14="http://schemas.microsoft.com/office/drawing/2010/main">
        <mc:Choice Requires="a14">
          <p:sp>
            <p:nvSpPr>
              <p:cNvPr id="12" name="Text Placeholder 6">
                <a:extLst>
                  <a:ext uri="{FF2B5EF4-FFF2-40B4-BE49-F238E27FC236}">
                    <a16:creationId xmlns:a16="http://schemas.microsoft.com/office/drawing/2014/main" id="{4AA4F951-B7E1-F2DE-8EFD-8096D7AAC25A}"/>
                  </a:ext>
                </a:extLst>
              </p:cNvPr>
              <p:cNvSpPr txBox="1">
                <a:spLocks/>
              </p:cNvSpPr>
              <p:nvPr/>
            </p:nvSpPr>
            <p:spPr>
              <a:xfrm>
                <a:off x="-1246557" y="1773626"/>
                <a:ext cx="11243037" cy="3436560"/>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14:m>
                  <m:oMathPara xmlns:m="http://schemas.openxmlformats.org/officeDocument/2006/math">
                    <m:oMathParaPr>
                      <m:jc m:val="centerGroup"/>
                    </m:oMathParaPr>
                    <m:oMath xmlns:m="http://schemas.openxmlformats.org/officeDocument/2006/math">
                      <m:r>
                        <m:rPr>
                          <m:sty m:val="p"/>
                        </m:rPr>
                        <a:rPr lang="en-AU" sz="4400" smtClean="0">
                          <a:latin typeface="Cambria Math" panose="02040503050406030204" pitchFamily="18" charset="0"/>
                          <a:cs typeface="Arial"/>
                        </a:rPr>
                        <m:t>I</m:t>
                      </m:r>
                      <m:r>
                        <m:rPr>
                          <m:sty m:val="p"/>
                        </m:rPr>
                        <a:rPr lang="en-AU" sz="4400" b="0" i="0" smtClean="0">
                          <a:latin typeface="Cambria Math" panose="02040503050406030204" pitchFamily="18" charset="0"/>
                          <a:cs typeface="Arial"/>
                        </a:rPr>
                        <m:t>f</m:t>
                      </m:r>
                      <m:r>
                        <a:rPr lang="en-AU" sz="4400" b="0" i="0" smtClean="0">
                          <a:latin typeface="Cambria Math" panose="02040503050406030204" pitchFamily="18" charset="0"/>
                          <a:cs typeface="Arial"/>
                        </a:rPr>
                        <m:t> </m:t>
                      </m:r>
                      <m:r>
                        <m:rPr>
                          <m:sty m:val="p"/>
                        </m:rPr>
                        <a:rPr lang="en-AU" sz="4400" b="0" i="0" smtClean="0">
                          <a:latin typeface="Cambria Math" panose="02040503050406030204" pitchFamily="18" charset="0"/>
                          <a:cs typeface="Arial"/>
                        </a:rPr>
                        <m:t>this</m:t>
                      </m:r>
                      <m:r>
                        <a:rPr lang="en-AU" sz="4400" b="0" i="0" smtClean="0">
                          <a:latin typeface="Cambria Math" panose="02040503050406030204" pitchFamily="18" charset="0"/>
                          <a:cs typeface="Arial"/>
                        </a:rPr>
                        <m:t> </m:t>
                      </m:r>
                      <m:r>
                        <m:rPr>
                          <m:sty m:val="p"/>
                        </m:rPr>
                        <a:rPr lang="en-AU" sz="4400" b="0" i="0" smtClean="0">
                          <a:latin typeface="Cambria Math" panose="02040503050406030204" pitchFamily="18" charset="0"/>
                          <a:cs typeface="Arial"/>
                        </a:rPr>
                        <m:t>is</m:t>
                      </m:r>
                      <m:r>
                        <a:rPr lang="en-AU" sz="4400" b="0" i="0" smtClean="0">
                          <a:latin typeface="Cambria Math" panose="02040503050406030204" pitchFamily="18" charset="0"/>
                          <a:cs typeface="Arial"/>
                        </a:rPr>
                        <m:t> </m:t>
                      </m:r>
                      <m:f>
                        <m:fPr>
                          <m:ctrlPr>
                            <a:rPr lang="en-US" sz="4400" b="1" i="1">
                              <a:latin typeface="Cambria Math" panose="02040503050406030204" pitchFamily="18" charset="0"/>
                              <a:cs typeface="Arial"/>
                            </a:rPr>
                          </m:ctrlPr>
                        </m:fPr>
                        <m:num>
                          <m:r>
                            <a:rPr lang="en-AU" sz="4400" b="1" i="0">
                              <a:latin typeface="Cambria Math" panose="02040503050406030204" pitchFamily="18" charset="0"/>
                              <a:cs typeface="Arial"/>
                            </a:rPr>
                            <m:t>𝟏</m:t>
                          </m:r>
                        </m:num>
                        <m:den>
                          <m:r>
                            <a:rPr lang="en-AU" sz="4400" b="1" i="0">
                              <a:latin typeface="Cambria Math" panose="02040503050406030204" pitchFamily="18" charset="0"/>
                              <a:cs typeface="Arial"/>
                            </a:rPr>
                            <m:t>𝟔</m:t>
                          </m:r>
                        </m:den>
                      </m:f>
                      <m:r>
                        <a:rPr lang="en-AU" sz="4400" b="1" i="0" smtClean="0">
                          <a:latin typeface="Cambria Math" panose="02040503050406030204" pitchFamily="18" charset="0"/>
                          <a:cs typeface="Arial"/>
                        </a:rPr>
                        <m:t> </m:t>
                      </m:r>
                      <m:r>
                        <m:rPr>
                          <m:sty m:val="p"/>
                        </m:rPr>
                        <a:rPr lang="en-AU" sz="4400" b="0" i="0" smtClean="0">
                          <a:latin typeface="Cambria Math" panose="02040503050406030204" pitchFamily="18" charset="0"/>
                          <a:cs typeface="Arial"/>
                        </a:rPr>
                        <m:t>of</m:t>
                      </m:r>
                      <m:r>
                        <a:rPr lang="en-AU" sz="4400" b="0" i="0" smtClean="0">
                          <a:latin typeface="Cambria Math" panose="02040503050406030204" pitchFamily="18" charset="0"/>
                          <a:cs typeface="Arial"/>
                        </a:rPr>
                        <m:t> </m:t>
                      </m:r>
                      <m:r>
                        <m:rPr>
                          <m:sty m:val="p"/>
                        </m:rPr>
                        <a:rPr lang="en-AU" sz="4400" b="0" i="0" smtClean="0">
                          <a:latin typeface="Cambria Math" panose="02040503050406030204" pitchFamily="18" charset="0"/>
                          <a:cs typeface="Arial"/>
                        </a:rPr>
                        <m:t>the</m:t>
                      </m:r>
                      <m:r>
                        <a:rPr lang="en-AU" sz="4400" b="0" i="0" smtClean="0">
                          <a:latin typeface="Cambria Math" panose="02040503050406030204" pitchFamily="18" charset="0"/>
                          <a:cs typeface="Arial"/>
                        </a:rPr>
                        <m:t> </m:t>
                      </m:r>
                      <m:r>
                        <m:rPr>
                          <m:sty m:val="p"/>
                        </m:rPr>
                        <a:rPr lang="en-AU" sz="4400" b="0" i="0" smtClean="0">
                          <a:latin typeface="Cambria Math" panose="02040503050406030204" pitchFamily="18" charset="0"/>
                          <a:cs typeface="Arial"/>
                        </a:rPr>
                        <m:t>jug</m:t>
                      </m:r>
                      <m:r>
                        <a:rPr lang="en-AU" sz="4400" b="0" i="0" smtClean="0">
                          <a:latin typeface="Cambria Math" panose="02040503050406030204" pitchFamily="18" charset="0"/>
                          <a:cs typeface="Arial"/>
                        </a:rPr>
                        <m:t>, </m:t>
                      </m:r>
                    </m:oMath>
                  </m:oMathPara>
                </a14:m>
                <a:endParaRPr lang="en-AU" sz="4400" b="0" dirty="0">
                  <a:latin typeface="+mn-lt"/>
                  <a:cs typeface="Arial"/>
                </a:endParaRPr>
              </a:p>
              <a:p>
                <a:pPr algn="ctr"/>
                <a14:m>
                  <m:oMathPara xmlns:m="http://schemas.openxmlformats.org/officeDocument/2006/math">
                    <m:oMathParaPr>
                      <m:jc m:val="centerGroup"/>
                    </m:oMathParaPr>
                    <m:oMath xmlns:m="http://schemas.openxmlformats.org/officeDocument/2006/math">
                      <m:r>
                        <m:rPr>
                          <m:sty m:val="p"/>
                        </m:rPr>
                        <a:rPr lang="en-AU" sz="4400" b="0" i="0" smtClean="0">
                          <a:latin typeface="Cambria Math" panose="02040503050406030204" pitchFamily="18" charset="0"/>
                          <a:cs typeface="Arial"/>
                        </a:rPr>
                        <m:t>draw</m:t>
                      </m:r>
                      <m:r>
                        <a:rPr lang="en-AU" sz="4400" b="0" i="0" smtClean="0">
                          <a:latin typeface="Cambria Math" panose="02040503050406030204" pitchFamily="18" charset="0"/>
                          <a:cs typeface="Arial"/>
                        </a:rPr>
                        <m:t> </m:t>
                      </m:r>
                      <m:r>
                        <m:rPr>
                          <m:sty m:val="p"/>
                        </m:rPr>
                        <a:rPr lang="en-AU" sz="4400" b="0" i="0" smtClean="0">
                          <a:latin typeface="Cambria Math" panose="02040503050406030204" pitchFamily="18" charset="0"/>
                          <a:cs typeface="Arial"/>
                        </a:rPr>
                        <m:t>the</m:t>
                      </m:r>
                      <m:r>
                        <a:rPr lang="en-AU" sz="4400" b="0" i="0" smtClean="0">
                          <a:latin typeface="Cambria Math" panose="02040503050406030204" pitchFamily="18" charset="0"/>
                          <a:cs typeface="Arial"/>
                        </a:rPr>
                        <m:t> </m:t>
                      </m:r>
                      <m:r>
                        <a:rPr lang="en-AU" sz="4400" b="1" i="0" smtClean="0">
                          <a:latin typeface="Cambria Math" panose="02040503050406030204" pitchFamily="18" charset="0"/>
                          <a:cs typeface="Arial"/>
                        </a:rPr>
                        <m:t>𝐰𝐡𝐨𝐥𝐞</m:t>
                      </m:r>
                      <m:r>
                        <a:rPr lang="en-AU" sz="4400" b="0" i="0" smtClean="0">
                          <a:latin typeface="Cambria Math" panose="02040503050406030204" pitchFamily="18" charset="0"/>
                          <a:cs typeface="Arial"/>
                        </a:rPr>
                        <m:t> </m:t>
                      </m:r>
                      <m:r>
                        <m:rPr>
                          <m:sty m:val="p"/>
                        </m:rPr>
                        <a:rPr lang="en-AU" sz="4400" b="0" i="0" smtClean="0">
                          <a:latin typeface="Cambria Math" panose="02040503050406030204" pitchFamily="18" charset="0"/>
                          <a:cs typeface="Arial"/>
                        </a:rPr>
                        <m:t>jug</m:t>
                      </m:r>
                      <m:r>
                        <a:rPr lang="en-AU" sz="4400" b="0" i="0" smtClean="0">
                          <a:latin typeface="Cambria Math" panose="02040503050406030204" pitchFamily="18" charset="0"/>
                          <a:cs typeface="Arial"/>
                        </a:rPr>
                        <m:t>. </m:t>
                      </m:r>
                    </m:oMath>
                  </m:oMathPara>
                </a14:m>
                <a:endParaRPr lang="en-AU" sz="4400" dirty="0">
                  <a:latin typeface="+mn-lt"/>
                </a:endParaRPr>
              </a:p>
              <a:p>
                <a:pPr algn="ctr"/>
                <a:endParaRPr lang="en-US" sz="4400" dirty="0"/>
              </a:p>
            </p:txBody>
          </p:sp>
        </mc:Choice>
        <mc:Fallback xmlns="">
          <p:sp>
            <p:nvSpPr>
              <p:cNvPr id="12" name="Text Placeholder 6">
                <a:extLst>
                  <a:ext uri="{FF2B5EF4-FFF2-40B4-BE49-F238E27FC236}">
                    <a16:creationId xmlns:a16="http://schemas.microsoft.com/office/drawing/2014/main" id="{4AA4F951-B7E1-F2DE-8EFD-8096D7AAC25A}"/>
                  </a:ext>
                </a:extLst>
              </p:cNvPr>
              <p:cNvSpPr txBox="1">
                <a:spLocks noRot="1" noChangeAspect="1" noMove="1" noResize="1" noEditPoints="1" noAdjustHandles="1" noChangeArrowheads="1" noChangeShapeType="1" noTextEdit="1"/>
              </p:cNvSpPr>
              <p:nvPr/>
            </p:nvSpPr>
            <p:spPr>
              <a:xfrm>
                <a:off x="-1246557" y="1773626"/>
                <a:ext cx="11243037" cy="3436560"/>
              </a:xfrm>
              <a:prstGeom prst="rect">
                <a:avLst/>
              </a:prstGeom>
              <a:blipFill>
                <a:blip r:embed="rId5"/>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932C-EC37-B3ED-6E76-5D6F2C7FF6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0D75EE-77E1-4439-0A95-55A48CB513CA}"/>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3" name="Title 2">
            <a:extLst>
              <a:ext uri="{FF2B5EF4-FFF2-40B4-BE49-F238E27FC236}">
                <a16:creationId xmlns:a16="http://schemas.microsoft.com/office/drawing/2014/main" id="{CBB4B7CA-693A-3F18-2EDC-EE94CBCA2F64}"/>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(14)</a:t>
            </a:r>
          </a:p>
        </p:txBody>
      </p:sp>
      <p:sp>
        <p:nvSpPr>
          <p:cNvPr id="11" name="Picture Placeholder 10">
            <a:extLst>
              <a:ext uri="{FF2B5EF4-FFF2-40B4-BE49-F238E27FC236}">
                <a16:creationId xmlns:a16="http://schemas.microsoft.com/office/drawing/2014/main" id="{2F913B4D-1682-BC3D-FA94-9742B9EAB2B6}"/>
              </a:ext>
            </a:extLst>
          </p:cNvPr>
          <p:cNvSpPr>
            <a:spLocks noGrp="1"/>
          </p:cNvSpPr>
          <p:nvPr>
            <p:ph type="pic" sz="quarter" idx="21"/>
          </p:nvPr>
        </p:nvSpPr>
        <p:spPr>
          <a:xfrm>
            <a:off x="360001" y="2214081"/>
            <a:ext cx="11243037" cy="1636030"/>
          </a:xfrm>
        </p:spPr>
        <p:txBody>
          <a:bodyPr/>
          <a:lstStyle/>
          <a:p>
            <a:pPr algn="ctr"/>
            <a:r>
              <a:rPr lang="en-AU" sz="3600" dirty="0">
                <a:latin typeface="Arial"/>
                <a:cs typeface="Arial"/>
              </a:rPr>
              <a:t>Sarah has 245 marbles, and Ben has 378 marbles. They tipped their marbles into one jar. </a:t>
            </a:r>
          </a:p>
          <a:p>
            <a:pPr algn="ctr"/>
            <a:r>
              <a:rPr lang="en-AU" sz="3600" b="1" dirty="0"/>
              <a:t>How many </a:t>
            </a:r>
            <a:r>
              <a:rPr lang="en-AU" sz="3600" dirty="0"/>
              <a:t>do they have </a:t>
            </a:r>
            <a:r>
              <a:rPr lang="en-AU" sz="3600" b="1" dirty="0"/>
              <a:t>altogether</a:t>
            </a:r>
            <a:r>
              <a:rPr lang="en-AU" sz="3600" dirty="0"/>
              <a:t>? </a:t>
            </a:r>
            <a:endParaRPr lang="en-US" sz="3600"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21214CBC-B671-BA4C-E583-4EAEC31F1FE3}"/>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12658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(15)</a:t>
            </a:r>
          </a:p>
        </p:txBody>
      </p:sp>
      <p:sp>
        <p:nvSpPr>
          <p:cNvPr id="11" name="Picture Placeholder 10">
            <a:extLst>
              <a:ext uri="{FF2B5EF4-FFF2-40B4-BE49-F238E27FC236}">
                <a16:creationId xmlns:a16="http://schemas.microsoft.com/office/drawing/2014/main" id="{352E0507-6E6B-EB8A-88E2-35DDFC075B74}"/>
              </a:ext>
            </a:extLst>
          </p:cNvPr>
          <p:cNvSpPr>
            <a:spLocks noGrp="1"/>
          </p:cNvSpPr>
          <p:nvPr>
            <p:ph type="pic" sz="quarter" idx="21"/>
          </p:nvPr>
        </p:nvSpPr>
        <p:spPr>
          <a:xfrm>
            <a:off x="359999" y="1500497"/>
            <a:ext cx="11243037" cy="3336814"/>
          </a:xfrm>
        </p:spPr>
        <p:txBody>
          <a:bodyPr/>
          <a:lstStyle/>
          <a:p>
            <a:pPr algn="ctr"/>
            <a:r>
              <a:rPr lang="en-AU" sz="3600" dirty="0"/>
              <a:t>Kate wants to build a rectangular flower bed in her backyard. The flower bed will be 4 metres long and 3 metres wide. She needs to </a:t>
            </a:r>
            <a:r>
              <a:rPr lang="en-AU" sz="3600" b="1" dirty="0"/>
              <a:t>calculate the perimeter </a:t>
            </a:r>
            <a:r>
              <a:rPr lang="en-AU" sz="3600" dirty="0"/>
              <a:t>to figure out </a:t>
            </a:r>
            <a:r>
              <a:rPr lang="en-AU" sz="3600" b="1" dirty="0"/>
              <a:t>how much </a:t>
            </a:r>
            <a:r>
              <a:rPr lang="en-AU" sz="3600" dirty="0"/>
              <a:t>fencing she needs. </a:t>
            </a:r>
          </a:p>
          <a:p>
            <a:pPr algn="ctr"/>
            <a:r>
              <a:rPr lang="en-AU" sz="3600" dirty="0"/>
              <a:t>What is the </a:t>
            </a:r>
            <a:r>
              <a:rPr lang="en-AU" sz="3600" b="1" dirty="0"/>
              <a:t>perimeter</a:t>
            </a:r>
            <a:r>
              <a:rPr lang="en-AU" sz="3600" dirty="0"/>
              <a:t> of the flower bed in </a:t>
            </a:r>
            <a:r>
              <a:rPr lang="en-AU" sz="3600" b="1" dirty="0"/>
              <a:t>centimetres</a:t>
            </a:r>
            <a:r>
              <a:rPr lang="en-AU" sz="3600" dirty="0"/>
              <a:t>?</a:t>
            </a:r>
            <a:endParaRPr lang="en-US" sz="3600"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5AE60A7A-7377-46D6-1913-99B349DCED23}"/>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(16)</a:t>
            </a:r>
          </a:p>
        </p:txBody>
      </p:sp>
      <p:sp>
        <p:nvSpPr>
          <p:cNvPr id="11" name="Picture Placeholder 10">
            <a:extLst>
              <a:ext uri="{FF2B5EF4-FFF2-40B4-BE49-F238E27FC236}">
                <a16:creationId xmlns:a16="http://schemas.microsoft.com/office/drawing/2014/main" id="{62E43AA6-EE50-7B61-E74B-D734C2893183}"/>
              </a:ext>
            </a:extLst>
          </p:cNvPr>
          <p:cNvSpPr>
            <a:spLocks noGrp="1"/>
          </p:cNvSpPr>
          <p:nvPr>
            <p:ph type="pic" sz="quarter" idx="21"/>
          </p:nvPr>
        </p:nvSpPr>
        <p:spPr>
          <a:xfrm>
            <a:off x="474481" y="2349172"/>
            <a:ext cx="11243037" cy="3619366"/>
          </a:xfrm>
        </p:spPr>
        <p:txBody>
          <a:bodyPr/>
          <a:lstStyle/>
          <a:p>
            <a:pPr algn="ctr"/>
            <a:r>
              <a:rPr lang="en-AU" sz="4400" dirty="0"/>
              <a:t>What is a </a:t>
            </a:r>
            <a:r>
              <a:rPr lang="en-AU" sz="4400" b="1" dirty="0"/>
              <a:t>tessellating design</a:t>
            </a:r>
            <a:r>
              <a:rPr lang="en-AU" sz="4400" dirty="0"/>
              <a:t>? </a:t>
            </a:r>
          </a:p>
          <a:p>
            <a:pPr algn="ctr"/>
            <a:r>
              <a:rPr lang="en-AU" sz="4400" dirty="0"/>
              <a:t>Demonstrate your thinking by </a:t>
            </a:r>
            <a:r>
              <a:rPr lang="en-AU" sz="4400" b="1" dirty="0"/>
              <a:t>drawing a tessellating design</a:t>
            </a:r>
            <a:r>
              <a:rPr lang="en-AU" sz="4400" dirty="0"/>
              <a:t> using </a:t>
            </a:r>
            <a:r>
              <a:rPr lang="en-AU" sz="4400" b="1" dirty="0"/>
              <a:t>triangles. </a:t>
            </a:r>
            <a:endParaRPr lang="en-AU"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7930802-0D15-204B-8B8B-C39671389CD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C9A51-602C-4089-E661-9B12DE9FBE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10FDCF-830C-0F93-573A-B2F709644DCF}"/>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3" name="Title 2">
            <a:extLst>
              <a:ext uri="{FF2B5EF4-FFF2-40B4-BE49-F238E27FC236}">
                <a16:creationId xmlns:a16="http://schemas.microsoft.com/office/drawing/2014/main" id="{8CA5C619-E0FE-9222-ADC1-AEDFA11534B9}"/>
              </a:ext>
            </a:extLst>
          </p:cNvPr>
          <p:cNvSpPr>
            <a:spLocks noGrp="1"/>
          </p:cNvSpPr>
          <p:nvPr>
            <p:ph type="title"/>
          </p:nvPr>
        </p:nvSpPr>
        <p:spPr>
          <a:xfrm>
            <a:off x="360000" y="360000"/>
            <a:ext cx="11484000" cy="545601"/>
          </a:xfrm>
        </p:spPr>
        <p:txBody>
          <a:bodyPr/>
          <a:lstStyle/>
          <a:p>
            <a:r>
              <a:rPr lang="en-AU"/>
              <a:t>Activity 4 – </a:t>
            </a:r>
            <a:r>
              <a:rPr lang="en-AU" b="0" i="0">
                <a:solidFill>
                  <a:srgbClr val="002664"/>
                </a:solidFill>
                <a:effectLst/>
                <a:latin typeface="Arial" panose="020B0604020202020204" pitchFamily="34" charset="0"/>
              </a:rPr>
              <a:t>renaming fractions</a:t>
            </a:r>
            <a:endParaRPr lang="en-AU"/>
          </a:p>
        </p:txBody>
      </p:sp>
      <p:pic>
        <p:nvPicPr>
          <p:cNvPr id="2050" name="Picture 2" descr="A blank number line from 0 to 2">
            <a:extLst>
              <a:ext uri="{FF2B5EF4-FFF2-40B4-BE49-F238E27FC236}">
                <a16:creationId xmlns:a16="http://schemas.microsoft.com/office/drawing/2014/main" id="{7E7E8806-FD4B-3307-3228-1FB40E3044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425" y="2662125"/>
            <a:ext cx="9963150" cy="1162050"/>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image of a head with cogs turning inside">
            <a:extLst>
              <a:ext uri="{FF2B5EF4-FFF2-40B4-BE49-F238E27FC236}">
                <a16:creationId xmlns:a16="http://schemas.microsoft.com/office/drawing/2014/main" id="{289816D9-A429-4182-1B44-07FDCE3795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77575" y="205543"/>
            <a:ext cx="723900" cy="85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8848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dirty="0"/>
              <a:t>Multiple choice </a:t>
            </a:r>
            <a:r>
              <a:rPr lang="en-US" dirty="0">
                <a:solidFill>
                  <a:schemeClr val="bg1"/>
                </a:solidFill>
              </a:rPr>
              <a:t>(3)(1)</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360000" y="1571992"/>
            <a:ext cx="11243037" cy="893226"/>
          </a:xfrm>
        </p:spPr>
        <p:txBody>
          <a:bodyPr vert="horz" lIns="0" tIns="0" rIns="0" bIns="0" rtlCol="0" anchor="t">
            <a:noAutofit/>
          </a:bodyPr>
          <a:lstStyle/>
          <a:p>
            <a:pPr algn="ctr"/>
            <a:r>
              <a:rPr lang="en-US" sz="4000" dirty="0">
                <a:latin typeface="Arial"/>
                <a:cs typeface="Arial"/>
              </a:rPr>
              <a:t>Which collection of </a:t>
            </a:r>
            <a:r>
              <a:rPr lang="en-US" sz="4000" b="1" dirty="0">
                <a:latin typeface="Arial"/>
                <a:cs typeface="Arial"/>
              </a:rPr>
              <a:t>coins</a:t>
            </a:r>
            <a:r>
              <a:rPr lang="en-US" sz="4000" dirty="0">
                <a:latin typeface="Arial"/>
                <a:cs typeface="Arial"/>
              </a:rPr>
              <a:t> is </a:t>
            </a:r>
            <a:r>
              <a:rPr lang="en-US" sz="4000" b="1" dirty="0">
                <a:latin typeface="Arial"/>
                <a:cs typeface="Arial"/>
              </a:rPr>
              <a:t>not equivalent </a:t>
            </a:r>
            <a:r>
              <a:rPr lang="en-US" sz="4000" dirty="0">
                <a:latin typeface="Arial"/>
                <a:cs typeface="Arial"/>
              </a:rPr>
              <a:t>to $1?</a:t>
            </a:r>
            <a:endParaRPr lang="en-US" sz="4000" dirty="0"/>
          </a:p>
        </p:txBody>
      </p:sp>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3148975992"/>
              </p:ext>
            </p:extLst>
          </p:nvPr>
        </p:nvGraphicFramePr>
        <p:xfrm>
          <a:off x="360000" y="3429001"/>
          <a:ext cx="11484000" cy="1402080"/>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488591">
                <a:tc>
                  <a:txBody>
                    <a:bodyPr/>
                    <a:lstStyle/>
                    <a:p>
                      <a:pPr algn="ctr"/>
                      <a:r>
                        <a:rPr lang="en-US" sz="4800" b="1" dirty="0">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404635">
                <a:tc>
                  <a:txBody>
                    <a:bodyPr/>
                    <a:lstStyle/>
                    <a:p>
                      <a:pPr algn="ctr"/>
                      <a:endParaRPr lang="en-AU" sz="3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3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sz="3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lang="en-AU" sz="3200" dirty="0">
                        <a:latin typeface="+mn-lt"/>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F31D1F19-3C77-CBD3-78E2-B3C67CA06991}"/>
              </a:ext>
            </a:extLst>
          </p:cNvPr>
          <p:cNvPicPr>
            <a:picLocks noChangeAspect="1"/>
          </p:cNvPicPr>
          <p:nvPr/>
        </p:nvPicPr>
        <p:blipFill>
          <a:blip r:embed="rId3"/>
          <a:stretch>
            <a:fillRect/>
          </a:stretch>
        </p:blipFill>
        <p:spPr>
          <a:xfrm>
            <a:off x="10639184" y="43303"/>
            <a:ext cx="1334510" cy="1305812"/>
          </a:xfrm>
          <a:prstGeom prst="rect">
            <a:avLst/>
          </a:prstGeom>
        </p:spPr>
      </p:pic>
      <p:pic>
        <p:nvPicPr>
          <p:cNvPr id="7" name="Picture 6" descr="a 50c and 20c coin.">
            <a:extLst>
              <a:ext uri="{FF2B5EF4-FFF2-40B4-BE49-F238E27FC236}">
                <a16:creationId xmlns:a16="http://schemas.microsoft.com/office/drawing/2014/main" id="{A6C9DBEE-3ED5-03E8-7E97-3D2C0F22913E}"/>
              </a:ext>
            </a:extLst>
          </p:cNvPr>
          <p:cNvPicPr>
            <a:picLocks noChangeAspect="1"/>
          </p:cNvPicPr>
          <p:nvPr/>
        </p:nvPicPr>
        <p:blipFill>
          <a:blip r:embed="rId4"/>
          <a:stretch>
            <a:fillRect/>
          </a:stretch>
        </p:blipFill>
        <p:spPr>
          <a:xfrm>
            <a:off x="3517591" y="4427012"/>
            <a:ext cx="2463927" cy="1276416"/>
          </a:xfrm>
          <a:prstGeom prst="rect">
            <a:avLst/>
          </a:prstGeom>
        </p:spPr>
      </p:pic>
      <p:pic>
        <p:nvPicPr>
          <p:cNvPr id="9" name="Picture 8" descr="2 50c coins">
            <a:extLst>
              <a:ext uri="{FF2B5EF4-FFF2-40B4-BE49-F238E27FC236}">
                <a16:creationId xmlns:a16="http://schemas.microsoft.com/office/drawing/2014/main" id="{B2E83B78-9ADD-5630-E43D-3ECF4F27323A}"/>
              </a:ext>
            </a:extLst>
          </p:cNvPr>
          <p:cNvPicPr>
            <a:picLocks noChangeAspect="1"/>
          </p:cNvPicPr>
          <p:nvPr/>
        </p:nvPicPr>
        <p:blipFill>
          <a:blip r:embed="rId5"/>
          <a:stretch>
            <a:fillRect/>
          </a:stretch>
        </p:blipFill>
        <p:spPr>
          <a:xfrm>
            <a:off x="621206" y="4484165"/>
            <a:ext cx="2578233" cy="1219263"/>
          </a:xfrm>
          <a:prstGeom prst="rect">
            <a:avLst/>
          </a:prstGeom>
        </p:spPr>
      </p:pic>
      <p:pic>
        <p:nvPicPr>
          <p:cNvPr id="11" name="Picture 10" descr="a $1 coin">
            <a:extLst>
              <a:ext uri="{FF2B5EF4-FFF2-40B4-BE49-F238E27FC236}">
                <a16:creationId xmlns:a16="http://schemas.microsoft.com/office/drawing/2014/main" id="{C9281D7F-7E5C-9B4B-95DD-A84424AC49E7}"/>
              </a:ext>
            </a:extLst>
          </p:cNvPr>
          <p:cNvPicPr>
            <a:picLocks noChangeAspect="1"/>
          </p:cNvPicPr>
          <p:nvPr/>
        </p:nvPicPr>
        <p:blipFill>
          <a:blip r:embed="rId6"/>
          <a:stretch>
            <a:fillRect/>
          </a:stretch>
        </p:blipFill>
        <p:spPr>
          <a:xfrm>
            <a:off x="6989010" y="4526573"/>
            <a:ext cx="1206562" cy="1130358"/>
          </a:xfrm>
          <a:prstGeom prst="rect">
            <a:avLst/>
          </a:prstGeom>
        </p:spPr>
      </p:pic>
      <p:pic>
        <p:nvPicPr>
          <p:cNvPr id="15" name="Picture 14" descr="A 50c, two 20c and one 10c coin.">
            <a:extLst>
              <a:ext uri="{FF2B5EF4-FFF2-40B4-BE49-F238E27FC236}">
                <a16:creationId xmlns:a16="http://schemas.microsoft.com/office/drawing/2014/main" id="{5A0B8F65-CDB6-A5EA-25B1-0F612F7D4D29}"/>
              </a:ext>
            </a:extLst>
          </p:cNvPr>
          <p:cNvPicPr>
            <a:picLocks noChangeAspect="1"/>
          </p:cNvPicPr>
          <p:nvPr/>
        </p:nvPicPr>
        <p:blipFill>
          <a:blip r:embed="rId7"/>
          <a:stretch>
            <a:fillRect/>
          </a:stretch>
        </p:blipFill>
        <p:spPr>
          <a:xfrm>
            <a:off x="9300875" y="4060615"/>
            <a:ext cx="2368672" cy="2635385"/>
          </a:xfrm>
          <a:prstGeom prst="rect">
            <a:avLst/>
          </a:prstGeom>
        </p:spPr>
      </p:pic>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(17)</a:t>
            </a:r>
          </a:p>
        </p:txBody>
      </p:sp>
      <p:sp>
        <p:nvSpPr>
          <p:cNvPr id="11" name="Picture Placeholder 10">
            <a:extLst>
              <a:ext uri="{FF2B5EF4-FFF2-40B4-BE49-F238E27FC236}">
                <a16:creationId xmlns:a16="http://schemas.microsoft.com/office/drawing/2014/main" id="{E3076825-3639-8154-0BA8-58E1ADFFDA47}"/>
              </a:ext>
            </a:extLst>
          </p:cNvPr>
          <p:cNvSpPr>
            <a:spLocks noGrp="1"/>
          </p:cNvSpPr>
          <p:nvPr>
            <p:ph type="pic" sz="quarter" idx="21"/>
          </p:nvPr>
        </p:nvSpPr>
        <p:spPr>
          <a:xfrm>
            <a:off x="1543049" y="1539872"/>
            <a:ext cx="9105901" cy="3778256"/>
          </a:xfrm>
        </p:spPr>
        <p:txBody>
          <a:bodyPr/>
          <a:lstStyle/>
          <a:p>
            <a:pPr algn="ctr"/>
            <a:r>
              <a:rPr lang="en-US" sz="4400" b="1" dirty="0">
                <a:latin typeface="Arial"/>
                <a:cs typeface="Arial"/>
              </a:rPr>
              <a:t>Describe </a:t>
            </a:r>
            <a:r>
              <a:rPr lang="en-US" sz="4400" dirty="0">
                <a:latin typeface="Arial"/>
                <a:cs typeface="Arial"/>
              </a:rPr>
              <a:t>the pattern.</a:t>
            </a: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BB099BAB-328B-59D1-278A-FFBF494FA8C0}"/>
              </a:ext>
            </a:extLst>
          </p:cNvPr>
          <p:cNvPicPr>
            <a:picLocks noChangeAspect="1"/>
          </p:cNvPicPr>
          <p:nvPr/>
        </p:nvPicPr>
        <p:blipFill>
          <a:blip r:embed="rId3"/>
          <a:stretch>
            <a:fillRect/>
          </a:stretch>
        </p:blipFill>
        <p:spPr>
          <a:xfrm>
            <a:off x="11124000" y="162000"/>
            <a:ext cx="915500" cy="915500"/>
          </a:xfrm>
          <a:prstGeom prst="rect">
            <a:avLst/>
          </a:prstGeom>
        </p:spPr>
      </p:pic>
      <p:pic>
        <p:nvPicPr>
          <p:cNvPr id="7" name="Picture 6" descr="A fraction bar divided into 5 sections with the fractions- 1, 1 1/2, 1 2/3, 1 3/4 and 2.">
            <a:extLst>
              <a:ext uri="{FF2B5EF4-FFF2-40B4-BE49-F238E27FC236}">
                <a16:creationId xmlns:a16="http://schemas.microsoft.com/office/drawing/2014/main" id="{D9150553-0691-B172-9D93-A0D3E55A26BF}"/>
              </a:ext>
            </a:extLst>
          </p:cNvPr>
          <p:cNvPicPr>
            <a:picLocks noChangeAspect="1"/>
          </p:cNvPicPr>
          <p:nvPr/>
        </p:nvPicPr>
        <p:blipFill>
          <a:blip r:embed="rId4"/>
          <a:stretch>
            <a:fillRect/>
          </a:stretch>
        </p:blipFill>
        <p:spPr>
          <a:xfrm>
            <a:off x="3241054" y="3169228"/>
            <a:ext cx="5709890" cy="1984664"/>
          </a:xfrm>
          <a:prstGeom prst="rect">
            <a:avLst/>
          </a:prstGeom>
        </p:spPr>
      </p:pic>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(18)</a:t>
            </a:r>
          </a:p>
        </p:txBody>
      </p:sp>
      <p:sp>
        <p:nvSpPr>
          <p:cNvPr id="11" name="Picture Placeholder 10">
            <a:extLst>
              <a:ext uri="{FF2B5EF4-FFF2-40B4-BE49-F238E27FC236}">
                <a16:creationId xmlns:a16="http://schemas.microsoft.com/office/drawing/2014/main" id="{50CE3FA9-E73E-0225-40D3-D27739FD5AAA}"/>
              </a:ext>
            </a:extLst>
          </p:cNvPr>
          <p:cNvSpPr>
            <a:spLocks noGrp="1"/>
          </p:cNvSpPr>
          <p:nvPr>
            <p:ph type="pic" sz="quarter" idx="21"/>
          </p:nvPr>
        </p:nvSpPr>
        <p:spPr>
          <a:xfrm>
            <a:off x="668144" y="1442739"/>
            <a:ext cx="10626750" cy="3632255"/>
          </a:xfrm>
        </p:spPr>
        <p:txBody>
          <a:bodyPr/>
          <a:lstStyle/>
          <a:p>
            <a:pPr algn="ctr"/>
            <a:r>
              <a:rPr lang="en-AU" sz="4000" dirty="0"/>
              <a:t>At the school fair there were 1500 balloons. </a:t>
            </a:r>
          </a:p>
          <a:p>
            <a:pPr algn="ctr"/>
            <a:r>
              <a:rPr lang="en-AU" sz="4000" dirty="0"/>
              <a:t>After the first hour, 625 balloons popped. </a:t>
            </a:r>
          </a:p>
          <a:p>
            <a:pPr algn="ctr"/>
            <a:r>
              <a:rPr lang="en-AU" sz="4000" b="1" dirty="0"/>
              <a:t>How many </a:t>
            </a:r>
            <a:r>
              <a:rPr lang="en-AU" sz="4000" dirty="0"/>
              <a:t>balloons were </a:t>
            </a:r>
            <a:r>
              <a:rPr lang="en-AU" sz="4000" b="1" dirty="0"/>
              <a:t>still left </a:t>
            </a:r>
            <a:r>
              <a:rPr lang="en-AU" sz="4000" dirty="0"/>
              <a:t>at the fair?</a:t>
            </a:r>
            <a:endParaRPr lang="en-US" sz="4000" dirty="0"/>
          </a:p>
        </p:txBody>
      </p:sp>
      <p:pic>
        <p:nvPicPr>
          <p:cNvPr id="5" name="Picture 4" descr="image of a clipboard with a pencil recording short answer responses">
            <a:extLst>
              <a:ext uri="{FF2B5EF4-FFF2-40B4-BE49-F238E27FC236}">
                <a16:creationId xmlns:a16="http://schemas.microsoft.com/office/drawing/2014/main" id="{FE345378-20FF-A172-6D0E-53FEDBC94114}"/>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56030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(19)</a:t>
            </a:r>
          </a:p>
        </p:txBody>
      </p:sp>
      <p:sp>
        <p:nvSpPr>
          <p:cNvPr id="11" name="Picture Placeholder 10">
            <a:extLst>
              <a:ext uri="{FF2B5EF4-FFF2-40B4-BE49-F238E27FC236}">
                <a16:creationId xmlns:a16="http://schemas.microsoft.com/office/drawing/2014/main" id="{9746C590-5EAE-E428-0D12-C870AC29AF8E}"/>
              </a:ext>
            </a:extLst>
          </p:cNvPr>
          <p:cNvSpPr>
            <a:spLocks noGrp="1"/>
          </p:cNvSpPr>
          <p:nvPr>
            <p:ph type="pic" sz="quarter" idx="21"/>
          </p:nvPr>
        </p:nvSpPr>
        <p:spPr>
          <a:xfrm>
            <a:off x="479502" y="1894673"/>
            <a:ext cx="10437542" cy="3632255"/>
          </a:xfrm>
        </p:spPr>
        <p:txBody>
          <a:bodyPr/>
          <a:lstStyle/>
          <a:p>
            <a:pPr algn="ctr"/>
            <a:r>
              <a:rPr lang="en-US" sz="4400" b="1" dirty="0">
                <a:latin typeface="Arial"/>
                <a:cs typeface="Arial"/>
              </a:rPr>
              <a:t>Name</a:t>
            </a:r>
            <a:r>
              <a:rPr lang="en-US" sz="4400" dirty="0">
                <a:latin typeface="Arial"/>
                <a:cs typeface="Arial"/>
              </a:rPr>
              <a:t> 4 objects that are </a:t>
            </a:r>
            <a:r>
              <a:rPr lang="en-US" sz="4400" b="1" dirty="0">
                <a:latin typeface="Arial"/>
                <a:cs typeface="Arial"/>
              </a:rPr>
              <a:t>about 1kg</a:t>
            </a:r>
            <a:r>
              <a:rPr lang="en-US" sz="4400" dirty="0">
                <a:latin typeface="Arial"/>
                <a:cs typeface="Arial"/>
              </a:rPr>
              <a:t>.</a:t>
            </a:r>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7DFD27BE-68F7-D289-2C28-ACC03945378F}"/>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(20)</a:t>
            </a:r>
          </a:p>
        </p:txBody>
      </p:sp>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360000" y="1184223"/>
            <a:ext cx="11210840" cy="1507241"/>
          </a:xfrm>
        </p:spPr>
        <p:txBody>
          <a:bodyPr/>
          <a:lstStyle/>
          <a:p>
            <a:pPr fontAlgn="base"/>
            <a:r>
              <a:rPr lang="en-AU" sz="3600" b="1" dirty="0"/>
              <a:t>Describe</a:t>
            </a:r>
            <a:r>
              <a:rPr lang="en-AU" sz="3600" dirty="0"/>
              <a:t> each event using the terms </a:t>
            </a:r>
            <a:r>
              <a:rPr lang="en-AU" sz="3600" b="1" dirty="0"/>
              <a:t>equally likely, likely, </a:t>
            </a:r>
            <a:r>
              <a:rPr lang="en-AU" sz="3600" dirty="0"/>
              <a:t>or </a:t>
            </a:r>
            <a:r>
              <a:rPr lang="en-AU" sz="3600" b="1" dirty="0"/>
              <a:t>unlikely:</a:t>
            </a:r>
          </a:p>
          <a:p>
            <a:pPr marL="571500" indent="-571500" fontAlgn="base">
              <a:buFont typeface="Arial" panose="020B0604020202020204" pitchFamily="34" charset="0"/>
              <a:buChar char="•"/>
            </a:pPr>
            <a:r>
              <a:rPr lang="en-AU" sz="3600" dirty="0"/>
              <a:t>Rolling a six on a standard dice</a:t>
            </a:r>
          </a:p>
          <a:p>
            <a:pPr marL="571500" indent="-571500" fontAlgn="base">
              <a:buFont typeface="Arial" panose="020B0604020202020204" pitchFamily="34" charset="0"/>
              <a:buChar char="•"/>
            </a:pPr>
            <a:r>
              <a:rPr lang="en-AU" sz="3600" dirty="0"/>
              <a:t>It raining tomorrow (when the forecast says it's sunny)</a:t>
            </a:r>
          </a:p>
          <a:p>
            <a:pPr marL="571500" indent="-571500" fontAlgn="base">
              <a:buFont typeface="Arial" panose="020B0604020202020204" pitchFamily="34" charset="0"/>
              <a:buChar char="•"/>
            </a:pPr>
            <a:r>
              <a:rPr lang="en-AU" sz="3600" dirty="0"/>
              <a:t>Drawing a red card from a standard deck of cards</a:t>
            </a:r>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89697BB4-4FB9-C885-399C-CADFAFEEE3D9}"/>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47FE7-FE6A-BAF7-C12F-E1627D6A863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92A3D9-3D3B-4FCC-723D-CD8274A36B27}"/>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3" name="Title 2">
            <a:extLst>
              <a:ext uri="{FF2B5EF4-FFF2-40B4-BE49-F238E27FC236}">
                <a16:creationId xmlns:a16="http://schemas.microsoft.com/office/drawing/2014/main" id="{0D2370E3-9252-F325-8539-0ADD46FE9672}"/>
              </a:ext>
            </a:extLst>
          </p:cNvPr>
          <p:cNvSpPr>
            <a:spLocks noGrp="1"/>
          </p:cNvSpPr>
          <p:nvPr>
            <p:ph type="title"/>
          </p:nvPr>
        </p:nvSpPr>
        <p:spPr>
          <a:xfrm>
            <a:off x="360000" y="360000"/>
            <a:ext cx="11484000" cy="545601"/>
          </a:xfrm>
        </p:spPr>
        <p:txBody>
          <a:bodyPr/>
          <a:lstStyle/>
          <a:p>
            <a:r>
              <a:rPr lang="en-AU" dirty="0"/>
              <a:t>Activity 5 – equivalent money</a:t>
            </a:r>
          </a:p>
        </p:txBody>
      </p:sp>
      <p:sp>
        <p:nvSpPr>
          <p:cNvPr id="88"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2B20CB2A-F8C0-2737-BE0D-C585B0B4971E}"/>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89"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2FCA7EBF-1547-F6FE-1DFF-A6866F6B437C}"/>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90"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BB99E3C1-2543-CB52-D1F9-065F33EFB954}"/>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91"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EA197129-520F-8225-D6CD-346138706592}"/>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92"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3B5A0EAA-B138-731C-8C26-2B653FB9BFF8}"/>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93"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E854AAD9-B736-BA63-62E2-A22B2E51C39B}"/>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94"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2AC8EF80-2F4E-CFF7-91A4-86342652D4F2}"/>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95"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4897EDBF-F000-2017-880C-49EA0FA86C90}"/>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96"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33A6E9C0-BE56-C2B5-D0BA-C3BAA4053661}"/>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97"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37D90442-D7BC-C7E4-8069-ECD03FC96766}"/>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98"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71B438A5-C240-E312-3F18-CF0BD55A21E3}"/>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99"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E71D8989-B488-2DE0-AFE4-3B4B08DC9D94}"/>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00"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F795A023-3697-4051-9C1F-ED91AD7956A5}"/>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01"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C221DED5-CA39-9CDF-8E26-887B5C3D84A4}"/>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02"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32F67A32-3DAB-0EE4-4B81-D7B1AA6A0A27}"/>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03"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D9437BA8-ADF2-481E-2C4E-9BFCFC9C5C40}"/>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04"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7A6B342A-7CC4-4E3E-A446-E8170D8B50F0}"/>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05" name="Freeform 18"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CD23D848-4863-C5B6-3C72-9272C67B86D6}"/>
              </a:ext>
            </a:extLst>
          </p:cNvPr>
          <p:cNvSpPr/>
          <p:nvPr/>
        </p:nvSpPr>
        <p:spPr>
          <a:xfrm>
            <a:off x="9236026" y="5580397"/>
            <a:ext cx="655584" cy="672394"/>
          </a:xfrm>
          <a:custGeom>
            <a:avLst/>
            <a:gdLst/>
            <a:ahLst/>
            <a:cxnLst/>
            <a:rect l="l" t="t" r="r" b="b"/>
            <a:pathLst>
              <a:path w="918926" h="942488">
                <a:moveTo>
                  <a:pt x="0" y="0"/>
                </a:moveTo>
                <a:lnTo>
                  <a:pt x="918926" y="0"/>
                </a:lnTo>
                <a:lnTo>
                  <a:pt x="918926" y="942488"/>
                </a:lnTo>
                <a:lnTo>
                  <a:pt x="0" y="9424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07" name="Freeform 12"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E96A3C32-CE54-5922-A9F2-ECCC66CB9266}"/>
              </a:ext>
            </a:extLst>
          </p:cNvPr>
          <p:cNvSpPr/>
          <p:nvPr/>
        </p:nvSpPr>
        <p:spPr>
          <a:xfrm>
            <a:off x="9159456" y="4673696"/>
            <a:ext cx="808725" cy="786484"/>
          </a:xfrm>
          <a:custGeom>
            <a:avLst/>
            <a:gdLst/>
            <a:ahLst/>
            <a:cxnLst/>
            <a:rect l="l" t="t" r="r" b="b"/>
            <a:pathLst>
              <a:path w="1133580" h="1102406">
                <a:moveTo>
                  <a:pt x="0" y="0"/>
                </a:moveTo>
                <a:lnTo>
                  <a:pt x="1133580" y="0"/>
                </a:lnTo>
                <a:lnTo>
                  <a:pt x="1133580" y="1102406"/>
                </a:lnTo>
                <a:lnTo>
                  <a:pt x="0" y="1102406"/>
                </a:lnTo>
                <a:lnTo>
                  <a:pt x="0" y="0"/>
                </a:lnTo>
                <a:close/>
              </a:path>
            </a:pathLst>
          </a:custGeom>
          <a:blipFill>
            <a:blip r:embed="rId5">
              <a:extLst>
                <a:ext uri="{96DAC541-7B7A-43D3-8B79-37D633B846F1}">
                  <asvg:svgBlip xmlns:asvg="http://schemas.microsoft.com/office/drawing/2016/SVG/main" r:embed="rId6"/>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08" name="Freeform 12"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4001DAE7-6BD8-1B71-C81D-BDAFD0F08AA6}"/>
              </a:ext>
            </a:extLst>
          </p:cNvPr>
          <p:cNvSpPr/>
          <p:nvPr/>
        </p:nvSpPr>
        <p:spPr>
          <a:xfrm>
            <a:off x="9159456" y="4673696"/>
            <a:ext cx="808725" cy="786484"/>
          </a:xfrm>
          <a:custGeom>
            <a:avLst/>
            <a:gdLst/>
            <a:ahLst/>
            <a:cxnLst/>
            <a:rect l="l" t="t" r="r" b="b"/>
            <a:pathLst>
              <a:path w="1133580" h="1102406">
                <a:moveTo>
                  <a:pt x="0" y="0"/>
                </a:moveTo>
                <a:lnTo>
                  <a:pt x="1133580" y="0"/>
                </a:lnTo>
                <a:lnTo>
                  <a:pt x="1133580" y="1102406"/>
                </a:lnTo>
                <a:lnTo>
                  <a:pt x="0" y="1102406"/>
                </a:lnTo>
                <a:lnTo>
                  <a:pt x="0" y="0"/>
                </a:lnTo>
                <a:close/>
              </a:path>
            </a:pathLst>
          </a:custGeom>
          <a:blipFill>
            <a:blip r:embed="rId5">
              <a:extLst>
                <a:ext uri="{96DAC541-7B7A-43D3-8B79-37D633B846F1}">
                  <asvg:svgBlip xmlns:asvg="http://schemas.microsoft.com/office/drawing/2016/SVG/main" r:embed="rId6"/>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09" name="Freeform 12"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C70B8485-50BE-264D-C1CE-769FFF4EEC0D}"/>
              </a:ext>
            </a:extLst>
          </p:cNvPr>
          <p:cNvSpPr/>
          <p:nvPr/>
        </p:nvSpPr>
        <p:spPr>
          <a:xfrm>
            <a:off x="9159456" y="4673696"/>
            <a:ext cx="808725" cy="786484"/>
          </a:xfrm>
          <a:custGeom>
            <a:avLst/>
            <a:gdLst/>
            <a:ahLst/>
            <a:cxnLst/>
            <a:rect l="l" t="t" r="r" b="b"/>
            <a:pathLst>
              <a:path w="1133580" h="1102406">
                <a:moveTo>
                  <a:pt x="0" y="0"/>
                </a:moveTo>
                <a:lnTo>
                  <a:pt x="1133580" y="0"/>
                </a:lnTo>
                <a:lnTo>
                  <a:pt x="1133580" y="1102406"/>
                </a:lnTo>
                <a:lnTo>
                  <a:pt x="0" y="1102406"/>
                </a:lnTo>
                <a:lnTo>
                  <a:pt x="0" y="0"/>
                </a:lnTo>
                <a:close/>
              </a:path>
            </a:pathLst>
          </a:custGeom>
          <a:blipFill>
            <a:blip r:embed="rId5">
              <a:extLst>
                <a:ext uri="{96DAC541-7B7A-43D3-8B79-37D633B846F1}">
                  <asvg:svgBlip xmlns:asvg="http://schemas.microsoft.com/office/drawing/2016/SVG/main" r:embed="rId6"/>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10" name="Freeform 12"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ED78A646-12B9-7F63-A3F4-B33FD31CE383}"/>
              </a:ext>
            </a:extLst>
          </p:cNvPr>
          <p:cNvSpPr/>
          <p:nvPr/>
        </p:nvSpPr>
        <p:spPr>
          <a:xfrm>
            <a:off x="9159456" y="4673696"/>
            <a:ext cx="808725" cy="786484"/>
          </a:xfrm>
          <a:custGeom>
            <a:avLst/>
            <a:gdLst/>
            <a:ahLst/>
            <a:cxnLst/>
            <a:rect l="l" t="t" r="r" b="b"/>
            <a:pathLst>
              <a:path w="1133580" h="1102406">
                <a:moveTo>
                  <a:pt x="0" y="0"/>
                </a:moveTo>
                <a:lnTo>
                  <a:pt x="1133580" y="0"/>
                </a:lnTo>
                <a:lnTo>
                  <a:pt x="1133580" y="1102406"/>
                </a:lnTo>
                <a:lnTo>
                  <a:pt x="0" y="1102406"/>
                </a:lnTo>
                <a:lnTo>
                  <a:pt x="0" y="0"/>
                </a:lnTo>
                <a:close/>
              </a:path>
            </a:pathLst>
          </a:custGeom>
          <a:blipFill>
            <a:blip r:embed="rId5">
              <a:extLst>
                <a:ext uri="{96DAC541-7B7A-43D3-8B79-37D633B846F1}">
                  <asvg:svgBlip xmlns:asvg="http://schemas.microsoft.com/office/drawing/2016/SVG/main" r:embed="rId6"/>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11" name="Freeform 12"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18318F05-C10D-AD89-22D5-9B3419A580B5}"/>
              </a:ext>
            </a:extLst>
          </p:cNvPr>
          <p:cNvSpPr/>
          <p:nvPr/>
        </p:nvSpPr>
        <p:spPr>
          <a:xfrm>
            <a:off x="9159456" y="4673696"/>
            <a:ext cx="808725" cy="786484"/>
          </a:xfrm>
          <a:custGeom>
            <a:avLst/>
            <a:gdLst/>
            <a:ahLst/>
            <a:cxnLst/>
            <a:rect l="l" t="t" r="r" b="b"/>
            <a:pathLst>
              <a:path w="1133580" h="1102406">
                <a:moveTo>
                  <a:pt x="0" y="0"/>
                </a:moveTo>
                <a:lnTo>
                  <a:pt x="1133580" y="0"/>
                </a:lnTo>
                <a:lnTo>
                  <a:pt x="1133580" y="1102406"/>
                </a:lnTo>
                <a:lnTo>
                  <a:pt x="0" y="1102406"/>
                </a:lnTo>
                <a:lnTo>
                  <a:pt x="0" y="0"/>
                </a:lnTo>
                <a:close/>
              </a:path>
            </a:pathLst>
          </a:custGeom>
          <a:blipFill>
            <a:blip r:embed="rId5">
              <a:extLst>
                <a:ext uri="{96DAC541-7B7A-43D3-8B79-37D633B846F1}">
                  <asvg:svgBlip xmlns:asvg="http://schemas.microsoft.com/office/drawing/2016/SVG/main" r:embed="rId6"/>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12" name="Freeform 12"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36BE9EF5-1BB8-4D9B-18B7-C17CD6C0AFB4}"/>
              </a:ext>
            </a:extLst>
          </p:cNvPr>
          <p:cNvSpPr/>
          <p:nvPr/>
        </p:nvSpPr>
        <p:spPr>
          <a:xfrm>
            <a:off x="9159456" y="4673696"/>
            <a:ext cx="808725" cy="786484"/>
          </a:xfrm>
          <a:custGeom>
            <a:avLst/>
            <a:gdLst/>
            <a:ahLst/>
            <a:cxnLst/>
            <a:rect l="l" t="t" r="r" b="b"/>
            <a:pathLst>
              <a:path w="1133580" h="1102406">
                <a:moveTo>
                  <a:pt x="0" y="0"/>
                </a:moveTo>
                <a:lnTo>
                  <a:pt x="1133580" y="0"/>
                </a:lnTo>
                <a:lnTo>
                  <a:pt x="1133580" y="1102406"/>
                </a:lnTo>
                <a:lnTo>
                  <a:pt x="0" y="1102406"/>
                </a:lnTo>
                <a:lnTo>
                  <a:pt x="0" y="0"/>
                </a:lnTo>
                <a:close/>
              </a:path>
            </a:pathLst>
          </a:custGeom>
          <a:blipFill>
            <a:blip r:embed="rId5">
              <a:extLst>
                <a:ext uri="{96DAC541-7B7A-43D3-8B79-37D633B846F1}">
                  <asvg:svgBlip xmlns:asvg="http://schemas.microsoft.com/office/drawing/2016/SVG/main" r:embed="rId6"/>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13" name="Freeform 12"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77618E9D-6ACF-3A71-D6A2-25F50F1776FD}"/>
              </a:ext>
            </a:extLst>
          </p:cNvPr>
          <p:cNvSpPr/>
          <p:nvPr/>
        </p:nvSpPr>
        <p:spPr>
          <a:xfrm>
            <a:off x="9159456" y="4673696"/>
            <a:ext cx="808725" cy="786484"/>
          </a:xfrm>
          <a:custGeom>
            <a:avLst/>
            <a:gdLst/>
            <a:ahLst/>
            <a:cxnLst/>
            <a:rect l="l" t="t" r="r" b="b"/>
            <a:pathLst>
              <a:path w="1133580" h="1102406">
                <a:moveTo>
                  <a:pt x="0" y="0"/>
                </a:moveTo>
                <a:lnTo>
                  <a:pt x="1133580" y="0"/>
                </a:lnTo>
                <a:lnTo>
                  <a:pt x="1133580" y="1102406"/>
                </a:lnTo>
                <a:lnTo>
                  <a:pt x="0" y="1102406"/>
                </a:lnTo>
                <a:lnTo>
                  <a:pt x="0" y="0"/>
                </a:lnTo>
                <a:close/>
              </a:path>
            </a:pathLst>
          </a:custGeom>
          <a:blipFill>
            <a:blip r:embed="rId5">
              <a:extLst>
                <a:ext uri="{96DAC541-7B7A-43D3-8B79-37D633B846F1}">
                  <asvg:svgBlip xmlns:asvg="http://schemas.microsoft.com/office/drawing/2016/SVG/main" r:embed="rId6"/>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14" name="Freeform 12"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C1A27BEF-9770-5DDB-EE36-A69D23774F8D}"/>
              </a:ext>
            </a:extLst>
          </p:cNvPr>
          <p:cNvSpPr/>
          <p:nvPr/>
        </p:nvSpPr>
        <p:spPr>
          <a:xfrm>
            <a:off x="9159456" y="4673696"/>
            <a:ext cx="808725" cy="786484"/>
          </a:xfrm>
          <a:custGeom>
            <a:avLst/>
            <a:gdLst/>
            <a:ahLst/>
            <a:cxnLst/>
            <a:rect l="l" t="t" r="r" b="b"/>
            <a:pathLst>
              <a:path w="1133580" h="1102406">
                <a:moveTo>
                  <a:pt x="0" y="0"/>
                </a:moveTo>
                <a:lnTo>
                  <a:pt x="1133580" y="0"/>
                </a:lnTo>
                <a:lnTo>
                  <a:pt x="1133580" y="1102406"/>
                </a:lnTo>
                <a:lnTo>
                  <a:pt x="0" y="1102406"/>
                </a:lnTo>
                <a:lnTo>
                  <a:pt x="0" y="0"/>
                </a:lnTo>
                <a:close/>
              </a:path>
            </a:pathLst>
          </a:custGeom>
          <a:blipFill>
            <a:blip r:embed="rId5">
              <a:extLst>
                <a:ext uri="{96DAC541-7B7A-43D3-8B79-37D633B846F1}">
                  <asvg:svgBlip xmlns:asvg="http://schemas.microsoft.com/office/drawing/2016/SVG/main" r:embed="rId6"/>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15" name="Freeform 12"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167BAA1E-7914-3A1E-02A5-90FEDBD0797C}"/>
              </a:ext>
            </a:extLst>
          </p:cNvPr>
          <p:cNvSpPr/>
          <p:nvPr/>
        </p:nvSpPr>
        <p:spPr>
          <a:xfrm>
            <a:off x="9159456" y="4673696"/>
            <a:ext cx="808725" cy="786484"/>
          </a:xfrm>
          <a:custGeom>
            <a:avLst/>
            <a:gdLst/>
            <a:ahLst/>
            <a:cxnLst/>
            <a:rect l="l" t="t" r="r" b="b"/>
            <a:pathLst>
              <a:path w="1133580" h="1102406">
                <a:moveTo>
                  <a:pt x="0" y="0"/>
                </a:moveTo>
                <a:lnTo>
                  <a:pt x="1133580" y="0"/>
                </a:lnTo>
                <a:lnTo>
                  <a:pt x="1133580" y="1102406"/>
                </a:lnTo>
                <a:lnTo>
                  <a:pt x="0" y="1102406"/>
                </a:lnTo>
                <a:lnTo>
                  <a:pt x="0" y="0"/>
                </a:lnTo>
                <a:close/>
              </a:path>
            </a:pathLst>
          </a:custGeom>
          <a:blipFill>
            <a:blip r:embed="rId5">
              <a:extLst>
                <a:ext uri="{96DAC541-7B7A-43D3-8B79-37D633B846F1}">
                  <asvg:svgBlip xmlns:asvg="http://schemas.microsoft.com/office/drawing/2016/SVG/main" r:embed="rId6"/>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16" name="Freeform 12"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BC5FC3F3-54E2-C8D9-5BEF-CA5AA8B6DEB3}"/>
              </a:ext>
            </a:extLst>
          </p:cNvPr>
          <p:cNvSpPr/>
          <p:nvPr/>
        </p:nvSpPr>
        <p:spPr>
          <a:xfrm>
            <a:off x="9159456" y="4673696"/>
            <a:ext cx="808725" cy="786484"/>
          </a:xfrm>
          <a:custGeom>
            <a:avLst/>
            <a:gdLst/>
            <a:ahLst/>
            <a:cxnLst/>
            <a:rect l="l" t="t" r="r" b="b"/>
            <a:pathLst>
              <a:path w="1133580" h="1102406">
                <a:moveTo>
                  <a:pt x="0" y="0"/>
                </a:moveTo>
                <a:lnTo>
                  <a:pt x="1133580" y="0"/>
                </a:lnTo>
                <a:lnTo>
                  <a:pt x="1133580" y="1102406"/>
                </a:lnTo>
                <a:lnTo>
                  <a:pt x="0" y="1102406"/>
                </a:lnTo>
                <a:lnTo>
                  <a:pt x="0" y="0"/>
                </a:lnTo>
                <a:close/>
              </a:path>
            </a:pathLst>
          </a:custGeom>
          <a:blipFill>
            <a:blip r:embed="rId5">
              <a:extLst>
                <a:ext uri="{96DAC541-7B7A-43D3-8B79-37D633B846F1}">
                  <asvg:svgBlip xmlns:asvg="http://schemas.microsoft.com/office/drawing/2016/SVG/main" r:embed="rId6"/>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17" name="Freeform 12"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E27145ED-11C2-9439-1816-3AB253B598DB}"/>
              </a:ext>
            </a:extLst>
          </p:cNvPr>
          <p:cNvSpPr/>
          <p:nvPr/>
        </p:nvSpPr>
        <p:spPr>
          <a:xfrm>
            <a:off x="9159456" y="4673696"/>
            <a:ext cx="808725" cy="786484"/>
          </a:xfrm>
          <a:custGeom>
            <a:avLst/>
            <a:gdLst/>
            <a:ahLst/>
            <a:cxnLst/>
            <a:rect l="l" t="t" r="r" b="b"/>
            <a:pathLst>
              <a:path w="1133580" h="1102406">
                <a:moveTo>
                  <a:pt x="0" y="0"/>
                </a:moveTo>
                <a:lnTo>
                  <a:pt x="1133580" y="0"/>
                </a:lnTo>
                <a:lnTo>
                  <a:pt x="1133580" y="1102406"/>
                </a:lnTo>
                <a:lnTo>
                  <a:pt x="0" y="1102406"/>
                </a:lnTo>
                <a:lnTo>
                  <a:pt x="0" y="0"/>
                </a:lnTo>
                <a:close/>
              </a:path>
            </a:pathLst>
          </a:custGeom>
          <a:blipFill>
            <a:blip r:embed="rId5">
              <a:extLst>
                <a:ext uri="{96DAC541-7B7A-43D3-8B79-37D633B846F1}">
                  <asvg:svgBlip xmlns:asvg="http://schemas.microsoft.com/office/drawing/2016/SVG/main" r:embed="rId6"/>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18" name="Freeform 12"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2D22BE1A-1833-03AB-19CB-E77F7782EC23}"/>
              </a:ext>
            </a:extLst>
          </p:cNvPr>
          <p:cNvSpPr/>
          <p:nvPr/>
        </p:nvSpPr>
        <p:spPr>
          <a:xfrm>
            <a:off x="9159456" y="4673696"/>
            <a:ext cx="808725" cy="786484"/>
          </a:xfrm>
          <a:custGeom>
            <a:avLst/>
            <a:gdLst/>
            <a:ahLst/>
            <a:cxnLst/>
            <a:rect l="l" t="t" r="r" b="b"/>
            <a:pathLst>
              <a:path w="1133580" h="1102406">
                <a:moveTo>
                  <a:pt x="0" y="0"/>
                </a:moveTo>
                <a:lnTo>
                  <a:pt x="1133580" y="0"/>
                </a:lnTo>
                <a:lnTo>
                  <a:pt x="1133580" y="1102406"/>
                </a:lnTo>
                <a:lnTo>
                  <a:pt x="0" y="1102406"/>
                </a:lnTo>
                <a:lnTo>
                  <a:pt x="0" y="0"/>
                </a:lnTo>
                <a:close/>
              </a:path>
            </a:pathLst>
          </a:custGeom>
          <a:blipFill>
            <a:blip r:embed="rId5">
              <a:extLst>
                <a:ext uri="{96DAC541-7B7A-43D3-8B79-37D633B846F1}">
                  <asvg:svgBlip xmlns:asvg="http://schemas.microsoft.com/office/drawing/2016/SVG/main" r:embed="rId6"/>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19" name="Freeform 12"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DFE2B30A-CCDC-30B8-F83C-AD2215C244FF}"/>
              </a:ext>
            </a:extLst>
          </p:cNvPr>
          <p:cNvSpPr/>
          <p:nvPr/>
        </p:nvSpPr>
        <p:spPr>
          <a:xfrm>
            <a:off x="9159456" y="4673696"/>
            <a:ext cx="808725" cy="786484"/>
          </a:xfrm>
          <a:custGeom>
            <a:avLst/>
            <a:gdLst/>
            <a:ahLst/>
            <a:cxnLst/>
            <a:rect l="l" t="t" r="r" b="b"/>
            <a:pathLst>
              <a:path w="1133580" h="1102406">
                <a:moveTo>
                  <a:pt x="0" y="0"/>
                </a:moveTo>
                <a:lnTo>
                  <a:pt x="1133580" y="0"/>
                </a:lnTo>
                <a:lnTo>
                  <a:pt x="1133580" y="1102406"/>
                </a:lnTo>
                <a:lnTo>
                  <a:pt x="0" y="1102406"/>
                </a:lnTo>
                <a:lnTo>
                  <a:pt x="0" y="0"/>
                </a:lnTo>
                <a:close/>
              </a:path>
            </a:pathLst>
          </a:custGeom>
          <a:blipFill>
            <a:blip r:embed="rId5">
              <a:extLst>
                <a:ext uri="{96DAC541-7B7A-43D3-8B79-37D633B846F1}">
                  <asvg:svgBlip xmlns:asvg="http://schemas.microsoft.com/office/drawing/2016/SVG/main" r:embed="rId6"/>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20" name="Freeform 12"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C6DA64FD-6BC9-DE73-69E2-CF45C5056A1D}"/>
              </a:ext>
            </a:extLst>
          </p:cNvPr>
          <p:cNvSpPr/>
          <p:nvPr/>
        </p:nvSpPr>
        <p:spPr>
          <a:xfrm>
            <a:off x="9159456" y="4673696"/>
            <a:ext cx="808725" cy="786484"/>
          </a:xfrm>
          <a:custGeom>
            <a:avLst/>
            <a:gdLst/>
            <a:ahLst/>
            <a:cxnLst/>
            <a:rect l="l" t="t" r="r" b="b"/>
            <a:pathLst>
              <a:path w="1133580" h="1102406">
                <a:moveTo>
                  <a:pt x="0" y="0"/>
                </a:moveTo>
                <a:lnTo>
                  <a:pt x="1133580" y="0"/>
                </a:lnTo>
                <a:lnTo>
                  <a:pt x="1133580" y="1102406"/>
                </a:lnTo>
                <a:lnTo>
                  <a:pt x="0" y="1102406"/>
                </a:lnTo>
                <a:lnTo>
                  <a:pt x="0" y="0"/>
                </a:lnTo>
                <a:close/>
              </a:path>
            </a:pathLst>
          </a:custGeom>
          <a:blipFill>
            <a:blip r:embed="rId5">
              <a:extLst>
                <a:ext uri="{96DAC541-7B7A-43D3-8B79-37D633B846F1}">
                  <asvg:svgBlip xmlns:asvg="http://schemas.microsoft.com/office/drawing/2016/SVG/main" r:embed="rId6"/>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21" name="Freeform 12"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EE90D2EB-1F45-8421-BB40-15FFBBC74DE9}"/>
              </a:ext>
            </a:extLst>
          </p:cNvPr>
          <p:cNvSpPr/>
          <p:nvPr/>
        </p:nvSpPr>
        <p:spPr>
          <a:xfrm>
            <a:off x="9159456" y="4673696"/>
            <a:ext cx="808725" cy="786484"/>
          </a:xfrm>
          <a:custGeom>
            <a:avLst/>
            <a:gdLst/>
            <a:ahLst/>
            <a:cxnLst/>
            <a:rect l="l" t="t" r="r" b="b"/>
            <a:pathLst>
              <a:path w="1133580" h="1102406">
                <a:moveTo>
                  <a:pt x="0" y="0"/>
                </a:moveTo>
                <a:lnTo>
                  <a:pt x="1133580" y="0"/>
                </a:lnTo>
                <a:lnTo>
                  <a:pt x="1133580" y="1102406"/>
                </a:lnTo>
                <a:lnTo>
                  <a:pt x="0" y="1102406"/>
                </a:lnTo>
                <a:lnTo>
                  <a:pt x="0" y="0"/>
                </a:lnTo>
                <a:close/>
              </a:path>
            </a:pathLst>
          </a:custGeom>
          <a:blipFill>
            <a:blip r:embed="rId5">
              <a:extLst>
                <a:ext uri="{96DAC541-7B7A-43D3-8B79-37D633B846F1}">
                  <asvg:svgBlip xmlns:asvg="http://schemas.microsoft.com/office/drawing/2016/SVG/main" r:embed="rId6"/>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22" name="Freeform 15"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9ACF8F53-4228-BF2A-BA4A-714F996C0184}"/>
              </a:ext>
            </a:extLst>
          </p:cNvPr>
          <p:cNvSpPr/>
          <p:nvPr/>
        </p:nvSpPr>
        <p:spPr>
          <a:xfrm>
            <a:off x="9101602" y="3624400"/>
            <a:ext cx="924433" cy="929078"/>
          </a:xfrm>
          <a:custGeom>
            <a:avLst/>
            <a:gdLst/>
            <a:ahLst/>
            <a:cxnLst/>
            <a:rect l="l" t="t" r="r" b="b"/>
            <a:pathLst>
              <a:path w="1295769" h="1302280">
                <a:moveTo>
                  <a:pt x="0" y="0"/>
                </a:moveTo>
                <a:lnTo>
                  <a:pt x="1295769" y="0"/>
                </a:lnTo>
                <a:lnTo>
                  <a:pt x="1295769" y="1302280"/>
                </a:lnTo>
                <a:lnTo>
                  <a:pt x="0" y="1302280"/>
                </a:lnTo>
                <a:lnTo>
                  <a:pt x="0" y="0"/>
                </a:lnTo>
                <a:close/>
              </a:path>
            </a:pathLst>
          </a:custGeom>
          <a:blipFill>
            <a:blip r:embed="rId7">
              <a:extLst>
                <a:ext uri="{96DAC541-7B7A-43D3-8B79-37D633B846F1}">
                  <asvg:svgBlip xmlns:asvg="http://schemas.microsoft.com/office/drawing/2016/SVG/main" r:embed="rId8"/>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23" name="Freeform 15"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344ACF49-DCCD-C535-82AB-C7A6B140708E}"/>
              </a:ext>
            </a:extLst>
          </p:cNvPr>
          <p:cNvSpPr/>
          <p:nvPr/>
        </p:nvSpPr>
        <p:spPr>
          <a:xfrm>
            <a:off x="9101602" y="3624400"/>
            <a:ext cx="924433" cy="929078"/>
          </a:xfrm>
          <a:custGeom>
            <a:avLst/>
            <a:gdLst/>
            <a:ahLst/>
            <a:cxnLst/>
            <a:rect l="l" t="t" r="r" b="b"/>
            <a:pathLst>
              <a:path w="1295769" h="1302280">
                <a:moveTo>
                  <a:pt x="0" y="0"/>
                </a:moveTo>
                <a:lnTo>
                  <a:pt x="1295769" y="0"/>
                </a:lnTo>
                <a:lnTo>
                  <a:pt x="1295769" y="1302280"/>
                </a:lnTo>
                <a:lnTo>
                  <a:pt x="0" y="1302280"/>
                </a:lnTo>
                <a:lnTo>
                  <a:pt x="0" y="0"/>
                </a:lnTo>
                <a:close/>
              </a:path>
            </a:pathLst>
          </a:custGeom>
          <a:blipFill>
            <a:blip r:embed="rId7">
              <a:extLst>
                <a:ext uri="{96DAC541-7B7A-43D3-8B79-37D633B846F1}">
                  <asvg:svgBlip xmlns:asvg="http://schemas.microsoft.com/office/drawing/2016/SVG/main" r:embed="rId8"/>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24" name="Freeform 15"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0D6BA3A6-A441-62F7-1019-2F133E315E01}"/>
              </a:ext>
            </a:extLst>
          </p:cNvPr>
          <p:cNvSpPr/>
          <p:nvPr/>
        </p:nvSpPr>
        <p:spPr>
          <a:xfrm>
            <a:off x="9101602" y="3624400"/>
            <a:ext cx="924433" cy="929078"/>
          </a:xfrm>
          <a:custGeom>
            <a:avLst/>
            <a:gdLst/>
            <a:ahLst/>
            <a:cxnLst/>
            <a:rect l="l" t="t" r="r" b="b"/>
            <a:pathLst>
              <a:path w="1295769" h="1302280">
                <a:moveTo>
                  <a:pt x="0" y="0"/>
                </a:moveTo>
                <a:lnTo>
                  <a:pt x="1295769" y="0"/>
                </a:lnTo>
                <a:lnTo>
                  <a:pt x="1295769" y="1302280"/>
                </a:lnTo>
                <a:lnTo>
                  <a:pt x="0" y="1302280"/>
                </a:lnTo>
                <a:lnTo>
                  <a:pt x="0" y="0"/>
                </a:lnTo>
                <a:close/>
              </a:path>
            </a:pathLst>
          </a:custGeom>
          <a:blipFill>
            <a:blip r:embed="rId7">
              <a:extLst>
                <a:ext uri="{96DAC541-7B7A-43D3-8B79-37D633B846F1}">
                  <asvg:svgBlip xmlns:asvg="http://schemas.microsoft.com/office/drawing/2016/SVG/main" r:embed="rId8"/>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25" name="Freeform 15"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D755914F-8FDA-2AE1-1ED0-22B2697E8CC7}"/>
              </a:ext>
            </a:extLst>
          </p:cNvPr>
          <p:cNvSpPr/>
          <p:nvPr/>
        </p:nvSpPr>
        <p:spPr>
          <a:xfrm>
            <a:off x="9101602" y="3624400"/>
            <a:ext cx="924433" cy="929078"/>
          </a:xfrm>
          <a:custGeom>
            <a:avLst/>
            <a:gdLst/>
            <a:ahLst/>
            <a:cxnLst/>
            <a:rect l="l" t="t" r="r" b="b"/>
            <a:pathLst>
              <a:path w="1295769" h="1302280">
                <a:moveTo>
                  <a:pt x="0" y="0"/>
                </a:moveTo>
                <a:lnTo>
                  <a:pt x="1295769" y="0"/>
                </a:lnTo>
                <a:lnTo>
                  <a:pt x="1295769" y="1302280"/>
                </a:lnTo>
                <a:lnTo>
                  <a:pt x="0" y="1302280"/>
                </a:lnTo>
                <a:lnTo>
                  <a:pt x="0" y="0"/>
                </a:lnTo>
                <a:close/>
              </a:path>
            </a:pathLst>
          </a:custGeom>
          <a:blipFill>
            <a:blip r:embed="rId7">
              <a:extLst>
                <a:ext uri="{96DAC541-7B7A-43D3-8B79-37D633B846F1}">
                  <asvg:svgBlip xmlns:asvg="http://schemas.microsoft.com/office/drawing/2016/SVG/main" r:embed="rId8"/>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26" name="Freeform 15"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8C353F1A-A84C-CF7A-15D5-D0C45E50877C}"/>
              </a:ext>
            </a:extLst>
          </p:cNvPr>
          <p:cNvSpPr/>
          <p:nvPr/>
        </p:nvSpPr>
        <p:spPr>
          <a:xfrm>
            <a:off x="9101602" y="3624400"/>
            <a:ext cx="924433" cy="929078"/>
          </a:xfrm>
          <a:custGeom>
            <a:avLst/>
            <a:gdLst/>
            <a:ahLst/>
            <a:cxnLst/>
            <a:rect l="l" t="t" r="r" b="b"/>
            <a:pathLst>
              <a:path w="1295769" h="1302280">
                <a:moveTo>
                  <a:pt x="0" y="0"/>
                </a:moveTo>
                <a:lnTo>
                  <a:pt x="1295769" y="0"/>
                </a:lnTo>
                <a:lnTo>
                  <a:pt x="1295769" y="1302280"/>
                </a:lnTo>
                <a:lnTo>
                  <a:pt x="0" y="1302280"/>
                </a:lnTo>
                <a:lnTo>
                  <a:pt x="0" y="0"/>
                </a:lnTo>
                <a:close/>
              </a:path>
            </a:pathLst>
          </a:custGeom>
          <a:blipFill>
            <a:blip r:embed="rId7">
              <a:extLst>
                <a:ext uri="{96DAC541-7B7A-43D3-8B79-37D633B846F1}">
                  <asvg:svgBlip xmlns:asvg="http://schemas.microsoft.com/office/drawing/2016/SVG/main" r:embed="rId8"/>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27" name="Freeform 15"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F6865F31-CD04-5EBB-8F7D-8E30E23A4F5C}"/>
              </a:ext>
            </a:extLst>
          </p:cNvPr>
          <p:cNvSpPr/>
          <p:nvPr/>
        </p:nvSpPr>
        <p:spPr>
          <a:xfrm>
            <a:off x="9101602" y="3624400"/>
            <a:ext cx="924433" cy="929078"/>
          </a:xfrm>
          <a:custGeom>
            <a:avLst/>
            <a:gdLst/>
            <a:ahLst/>
            <a:cxnLst/>
            <a:rect l="l" t="t" r="r" b="b"/>
            <a:pathLst>
              <a:path w="1295769" h="1302280">
                <a:moveTo>
                  <a:pt x="0" y="0"/>
                </a:moveTo>
                <a:lnTo>
                  <a:pt x="1295769" y="0"/>
                </a:lnTo>
                <a:lnTo>
                  <a:pt x="1295769" y="1302280"/>
                </a:lnTo>
                <a:lnTo>
                  <a:pt x="0" y="1302280"/>
                </a:lnTo>
                <a:lnTo>
                  <a:pt x="0" y="0"/>
                </a:lnTo>
                <a:close/>
              </a:path>
            </a:pathLst>
          </a:custGeom>
          <a:blipFill>
            <a:blip r:embed="rId7">
              <a:extLst>
                <a:ext uri="{96DAC541-7B7A-43D3-8B79-37D633B846F1}">
                  <asvg:svgBlip xmlns:asvg="http://schemas.microsoft.com/office/drawing/2016/SVG/main" r:embed="rId8"/>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28" name="Freeform 15"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08149A7B-C0C5-E6DD-B22A-7646C3AD6720}"/>
              </a:ext>
            </a:extLst>
          </p:cNvPr>
          <p:cNvSpPr/>
          <p:nvPr/>
        </p:nvSpPr>
        <p:spPr>
          <a:xfrm>
            <a:off x="9101602" y="3624400"/>
            <a:ext cx="924433" cy="929078"/>
          </a:xfrm>
          <a:custGeom>
            <a:avLst/>
            <a:gdLst/>
            <a:ahLst/>
            <a:cxnLst/>
            <a:rect l="l" t="t" r="r" b="b"/>
            <a:pathLst>
              <a:path w="1295769" h="1302280">
                <a:moveTo>
                  <a:pt x="0" y="0"/>
                </a:moveTo>
                <a:lnTo>
                  <a:pt x="1295769" y="0"/>
                </a:lnTo>
                <a:lnTo>
                  <a:pt x="1295769" y="1302280"/>
                </a:lnTo>
                <a:lnTo>
                  <a:pt x="0" y="1302280"/>
                </a:lnTo>
                <a:lnTo>
                  <a:pt x="0" y="0"/>
                </a:lnTo>
                <a:close/>
              </a:path>
            </a:pathLst>
          </a:custGeom>
          <a:blipFill>
            <a:blip r:embed="rId7">
              <a:extLst>
                <a:ext uri="{96DAC541-7B7A-43D3-8B79-37D633B846F1}">
                  <asvg:svgBlip xmlns:asvg="http://schemas.microsoft.com/office/drawing/2016/SVG/main" r:embed="rId8"/>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29" name="Freeform 15"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BF16692F-430F-0A42-D918-C772914EBF51}"/>
              </a:ext>
            </a:extLst>
          </p:cNvPr>
          <p:cNvSpPr/>
          <p:nvPr/>
        </p:nvSpPr>
        <p:spPr>
          <a:xfrm>
            <a:off x="9101602" y="3624400"/>
            <a:ext cx="924433" cy="929078"/>
          </a:xfrm>
          <a:custGeom>
            <a:avLst/>
            <a:gdLst/>
            <a:ahLst/>
            <a:cxnLst/>
            <a:rect l="l" t="t" r="r" b="b"/>
            <a:pathLst>
              <a:path w="1295769" h="1302280">
                <a:moveTo>
                  <a:pt x="0" y="0"/>
                </a:moveTo>
                <a:lnTo>
                  <a:pt x="1295769" y="0"/>
                </a:lnTo>
                <a:lnTo>
                  <a:pt x="1295769" y="1302280"/>
                </a:lnTo>
                <a:lnTo>
                  <a:pt x="0" y="1302280"/>
                </a:lnTo>
                <a:lnTo>
                  <a:pt x="0" y="0"/>
                </a:lnTo>
                <a:close/>
              </a:path>
            </a:pathLst>
          </a:custGeom>
          <a:blipFill>
            <a:blip r:embed="rId7">
              <a:extLst>
                <a:ext uri="{96DAC541-7B7A-43D3-8B79-37D633B846F1}">
                  <asvg:svgBlip xmlns:asvg="http://schemas.microsoft.com/office/drawing/2016/SVG/main" r:embed="rId8"/>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30" name="Freeform 15"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D16845FD-4ACC-3461-32E4-30851946D2BF}"/>
              </a:ext>
            </a:extLst>
          </p:cNvPr>
          <p:cNvSpPr/>
          <p:nvPr/>
        </p:nvSpPr>
        <p:spPr>
          <a:xfrm>
            <a:off x="9101602" y="3624400"/>
            <a:ext cx="924433" cy="929078"/>
          </a:xfrm>
          <a:custGeom>
            <a:avLst/>
            <a:gdLst/>
            <a:ahLst/>
            <a:cxnLst/>
            <a:rect l="l" t="t" r="r" b="b"/>
            <a:pathLst>
              <a:path w="1295769" h="1302280">
                <a:moveTo>
                  <a:pt x="0" y="0"/>
                </a:moveTo>
                <a:lnTo>
                  <a:pt x="1295769" y="0"/>
                </a:lnTo>
                <a:lnTo>
                  <a:pt x="1295769" y="1302280"/>
                </a:lnTo>
                <a:lnTo>
                  <a:pt x="0" y="1302280"/>
                </a:lnTo>
                <a:lnTo>
                  <a:pt x="0" y="0"/>
                </a:lnTo>
                <a:close/>
              </a:path>
            </a:pathLst>
          </a:custGeom>
          <a:blipFill>
            <a:blip r:embed="rId7">
              <a:extLst>
                <a:ext uri="{96DAC541-7B7A-43D3-8B79-37D633B846F1}">
                  <asvg:svgBlip xmlns:asvg="http://schemas.microsoft.com/office/drawing/2016/SVG/main" r:embed="rId8"/>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31" name="Freeform 15"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D97B063B-02C6-BE3B-173B-8448B42C73AA}"/>
              </a:ext>
            </a:extLst>
          </p:cNvPr>
          <p:cNvSpPr/>
          <p:nvPr/>
        </p:nvSpPr>
        <p:spPr>
          <a:xfrm>
            <a:off x="9101602" y="3624400"/>
            <a:ext cx="924433" cy="929078"/>
          </a:xfrm>
          <a:custGeom>
            <a:avLst/>
            <a:gdLst/>
            <a:ahLst/>
            <a:cxnLst/>
            <a:rect l="l" t="t" r="r" b="b"/>
            <a:pathLst>
              <a:path w="1295769" h="1302280">
                <a:moveTo>
                  <a:pt x="0" y="0"/>
                </a:moveTo>
                <a:lnTo>
                  <a:pt x="1295769" y="0"/>
                </a:lnTo>
                <a:lnTo>
                  <a:pt x="1295769" y="1302280"/>
                </a:lnTo>
                <a:lnTo>
                  <a:pt x="0" y="1302280"/>
                </a:lnTo>
                <a:lnTo>
                  <a:pt x="0" y="0"/>
                </a:lnTo>
                <a:close/>
              </a:path>
            </a:pathLst>
          </a:custGeom>
          <a:blipFill>
            <a:blip r:embed="rId7">
              <a:extLst>
                <a:ext uri="{96DAC541-7B7A-43D3-8B79-37D633B846F1}">
                  <asvg:svgBlip xmlns:asvg="http://schemas.microsoft.com/office/drawing/2016/SVG/main" r:embed="rId8"/>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32" name="Freeform 15"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DE8F28F1-1074-3E5A-937C-083C9C3AEBB9}"/>
              </a:ext>
            </a:extLst>
          </p:cNvPr>
          <p:cNvSpPr/>
          <p:nvPr/>
        </p:nvSpPr>
        <p:spPr>
          <a:xfrm>
            <a:off x="9101602" y="3624400"/>
            <a:ext cx="924433" cy="929078"/>
          </a:xfrm>
          <a:custGeom>
            <a:avLst/>
            <a:gdLst/>
            <a:ahLst/>
            <a:cxnLst/>
            <a:rect l="l" t="t" r="r" b="b"/>
            <a:pathLst>
              <a:path w="1295769" h="1302280">
                <a:moveTo>
                  <a:pt x="0" y="0"/>
                </a:moveTo>
                <a:lnTo>
                  <a:pt x="1295769" y="0"/>
                </a:lnTo>
                <a:lnTo>
                  <a:pt x="1295769" y="1302280"/>
                </a:lnTo>
                <a:lnTo>
                  <a:pt x="0" y="1302280"/>
                </a:lnTo>
                <a:lnTo>
                  <a:pt x="0" y="0"/>
                </a:lnTo>
                <a:close/>
              </a:path>
            </a:pathLst>
          </a:custGeom>
          <a:blipFill>
            <a:blip r:embed="rId7">
              <a:extLst>
                <a:ext uri="{96DAC541-7B7A-43D3-8B79-37D633B846F1}">
                  <asvg:svgBlip xmlns:asvg="http://schemas.microsoft.com/office/drawing/2016/SVG/main" r:embed="rId8"/>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33" name="Freeform 15"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22E8268A-D3F1-A88A-A718-EADF88A73FF6}"/>
              </a:ext>
            </a:extLst>
          </p:cNvPr>
          <p:cNvSpPr/>
          <p:nvPr/>
        </p:nvSpPr>
        <p:spPr>
          <a:xfrm>
            <a:off x="9101602" y="3624400"/>
            <a:ext cx="924433" cy="929078"/>
          </a:xfrm>
          <a:custGeom>
            <a:avLst/>
            <a:gdLst/>
            <a:ahLst/>
            <a:cxnLst/>
            <a:rect l="l" t="t" r="r" b="b"/>
            <a:pathLst>
              <a:path w="1295769" h="1302280">
                <a:moveTo>
                  <a:pt x="0" y="0"/>
                </a:moveTo>
                <a:lnTo>
                  <a:pt x="1295769" y="0"/>
                </a:lnTo>
                <a:lnTo>
                  <a:pt x="1295769" y="1302280"/>
                </a:lnTo>
                <a:lnTo>
                  <a:pt x="0" y="1302280"/>
                </a:lnTo>
                <a:lnTo>
                  <a:pt x="0" y="0"/>
                </a:lnTo>
                <a:close/>
              </a:path>
            </a:pathLst>
          </a:custGeom>
          <a:blipFill>
            <a:blip r:embed="rId7">
              <a:extLst>
                <a:ext uri="{96DAC541-7B7A-43D3-8B79-37D633B846F1}">
                  <asvg:svgBlip xmlns:asvg="http://schemas.microsoft.com/office/drawing/2016/SVG/main" r:embed="rId8"/>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34" name="Freeform 15"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4A3CA7F1-30EC-DA1D-30A7-38D9B4FEED48}"/>
              </a:ext>
            </a:extLst>
          </p:cNvPr>
          <p:cNvSpPr/>
          <p:nvPr/>
        </p:nvSpPr>
        <p:spPr>
          <a:xfrm>
            <a:off x="9101602" y="3624400"/>
            <a:ext cx="924433" cy="929078"/>
          </a:xfrm>
          <a:custGeom>
            <a:avLst/>
            <a:gdLst/>
            <a:ahLst/>
            <a:cxnLst/>
            <a:rect l="l" t="t" r="r" b="b"/>
            <a:pathLst>
              <a:path w="1295769" h="1302280">
                <a:moveTo>
                  <a:pt x="0" y="0"/>
                </a:moveTo>
                <a:lnTo>
                  <a:pt x="1295769" y="0"/>
                </a:lnTo>
                <a:lnTo>
                  <a:pt x="1295769" y="1302280"/>
                </a:lnTo>
                <a:lnTo>
                  <a:pt x="0" y="1302280"/>
                </a:lnTo>
                <a:lnTo>
                  <a:pt x="0" y="0"/>
                </a:lnTo>
                <a:close/>
              </a:path>
            </a:pathLst>
          </a:custGeom>
          <a:blipFill>
            <a:blip r:embed="rId7">
              <a:extLst>
                <a:ext uri="{96DAC541-7B7A-43D3-8B79-37D633B846F1}">
                  <asvg:svgBlip xmlns:asvg="http://schemas.microsoft.com/office/drawing/2016/SVG/main" r:embed="rId8"/>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35" name="Freeform 15"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10804211-B1AC-D32F-8025-2339D235A8AA}"/>
              </a:ext>
            </a:extLst>
          </p:cNvPr>
          <p:cNvSpPr/>
          <p:nvPr/>
        </p:nvSpPr>
        <p:spPr>
          <a:xfrm>
            <a:off x="9101602" y="3624400"/>
            <a:ext cx="924433" cy="929078"/>
          </a:xfrm>
          <a:custGeom>
            <a:avLst/>
            <a:gdLst/>
            <a:ahLst/>
            <a:cxnLst/>
            <a:rect l="l" t="t" r="r" b="b"/>
            <a:pathLst>
              <a:path w="1295769" h="1302280">
                <a:moveTo>
                  <a:pt x="0" y="0"/>
                </a:moveTo>
                <a:lnTo>
                  <a:pt x="1295769" y="0"/>
                </a:lnTo>
                <a:lnTo>
                  <a:pt x="1295769" y="1302280"/>
                </a:lnTo>
                <a:lnTo>
                  <a:pt x="0" y="1302280"/>
                </a:lnTo>
                <a:lnTo>
                  <a:pt x="0" y="0"/>
                </a:lnTo>
                <a:close/>
              </a:path>
            </a:pathLst>
          </a:custGeom>
          <a:blipFill>
            <a:blip r:embed="rId7">
              <a:extLst>
                <a:ext uri="{96DAC541-7B7A-43D3-8B79-37D633B846F1}">
                  <asvg:svgBlip xmlns:asvg="http://schemas.microsoft.com/office/drawing/2016/SVG/main" r:embed="rId8"/>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36" name="Freeform 15"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8278E4C3-3D84-F81A-6D22-069A216BC9AD}"/>
              </a:ext>
            </a:extLst>
          </p:cNvPr>
          <p:cNvSpPr/>
          <p:nvPr/>
        </p:nvSpPr>
        <p:spPr>
          <a:xfrm>
            <a:off x="9101602" y="3624400"/>
            <a:ext cx="924433" cy="929078"/>
          </a:xfrm>
          <a:custGeom>
            <a:avLst/>
            <a:gdLst/>
            <a:ahLst/>
            <a:cxnLst/>
            <a:rect l="l" t="t" r="r" b="b"/>
            <a:pathLst>
              <a:path w="1295769" h="1302280">
                <a:moveTo>
                  <a:pt x="0" y="0"/>
                </a:moveTo>
                <a:lnTo>
                  <a:pt x="1295769" y="0"/>
                </a:lnTo>
                <a:lnTo>
                  <a:pt x="1295769" y="1302280"/>
                </a:lnTo>
                <a:lnTo>
                  <a:pt x="0" y="1302280"/>
                </a:lnTo>
                <a:lnTo>
                  <a:pt x="0" y="0"/>
                </a:lnTo>
                <a:close/>
              </a:path>
            </a:pathLst>
          </a:custGeom>
          <a:blipFill>
            <a:blip r:embed="rId7">
              <a:extLst>
                <a:ext uri="{96DAC541-7B7A-43D3-8B79-37D633B846F1}">
                  <asvg:svgBlip xmlns:asvg="http://schemas.microsoft.com/office/drawing/2016/SVG/main" r:embed="rId8"/>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37" name="Freeform 9"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152119C4-DE6D-3050-564D-2AE7848A331C}"/>
              </a:ext>
            </a:extLst>
          </p:cNvPr>
          <p:cNvSpPr/>
          <p:nvPr/>
        </p:nvSpPr>
        <p:spPr>
          <a:xfrm>
            <a:off x="9031745" y="2458658"/>
            <a:ext cx="1064147" cy="1045524"/>
          </a:xfrm>
          <a:custGeom>
            <a:avLst/>
            <a:gdLst/>
            <a:ahLst/>
            <a:cxnLst/>
            <a:rect l="l" t="t" r="r" b="b"/>
            <a:pathLst>
              <a:path w="1491603" h="1465500">
                <a:moveTo>
                  <a:pt x="0" y="0"/>
                </a:moveTo>
                <a:lnTo>
                  <a:pt x="1491603" y="0"/>
                </a:lnTo>
                <a:lnTo>
                  <a:pt x="1491603" y="1465500"/>
                </a:lnTo>
                <a:lnTo>
                  <a:pt x="0" y="1465500"/>
                </a:lnTo>
                <a:lnTo>
                  <a:pt x="0" y="0"/>
                </a:lnTo>
                <a:close/>
              </a:path>
            </a:pathLst>
          </a:custGeom>
          <a:blipFill>
            <a:blip r:embed="rId9">
              <a:extLst>
                <a:ext uri="{96DAC541-7B7A-43D3-8B79-37D633B846F1}">
                  <asvg:svgBlip xmlns:asvg="http://schemas.microsoft.com/office/drawing/2016/SVG/main" r:embed="rId10"/>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38" name="Freeform 9"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EB855112-DC69-DCB8-82EF-06455C4DA312}"/>
              </a:ext>
            </a:extLst>
          </p:cNvPr>
          <p:cNvSpPr/>
          <p:nvPr/>
        </p:nvSpPr>
        <p:spPr>
          <a:xfrm>
            <a:off x="9031745" y="2458658"/>
            <a:ext cx="1064147" cy="1045524"/>
          </a:xfrm>
          <a:custGeom>
            <a:avLst/>
            <a:gdLst/>
            <a:ahLst/>
            <a:cxnLst/>
            <a:rect l="l" t="t" r="r" b="b"/>
            <a:pathLst>
              <a:path w="1491603" h="1465500">
                <a:moveTo>
                  <a:pt x="0" y="0"/>
                </a:moveTo>
                <a:lnTo>
                  <a:pt x="1491603" y="0"/>
                </a:lnTo>
                <a:lnTo>
                  <a:pt x="1491603" y="1465500"/>
                </a:lnTo>
                <a:lnTo>
                  <a:pt x="0" y="1465500"/>
                </a:lnTo>
                <a:lnTo>
                  <a:pt x="0" y="0"/>
                </a:lnTo>
                <a:close/>
              </a:path>
            </a:pathLst>
          </a:custGeom>
          <a:blipFill>
            <a:blip r:embed="rId9">
              <a:extLst>
                <a:ext uri="{96DAC541-7B7A-43D3-8B79-37D633B846F1}">
                  <asvg:svgBlip xmlns:asvg="http://schemas.microsoft.com/office/drawing/2016/SVG/main" r:embed="rId10"/>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39" name="Freeform 9"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B7D56316-447A-3CA6-7079-E5A07232BF97}"/>
              </a:ext>
            </a:extLst>
          </p:cNvPr>
          <p:cNvSpPr/>
          <p:nvPr/>
        </p:nvSpPr>
        <p:spPr>
          <a:xfrm>
            <a:off x="9031745" y="2458658"/>
            <a:ext cx="1064147" cy="1045524"/>
          </a:xfrm>
          <a:custGeom>
            <a:avLst/>
            <a:gdLst/>
            <a:ahLst/>
            <a:cxnLst/>
            <a:rect l="l" t="t" r="r" b="b"/>
            <a:pathLst>
              <a:path w="1491603" h="1465500">
                <a:moveTo>
                  <a:pt x="0" y="0"/>
                </a:moveTo>
                <a:lnTo>
                  <a:pt x="1491603" y="0"/>
                </a:lnTo>
                <a:lnTo>
                  <a:pt x="1491603" y="1465500"/>
                </a:lnTo>
                <a:lnTo>
                  <a:pt x="0" y="1465500"/>
                </a:lnTo>
                <a:lnTo>
                  <a:pt x="0" y="0"/>
                </a:lnTo>
                <a:close/>
              </a:path>
            </a:pathLst>
          </a:custGeom>
          <a:blipFill>
            <a:blip r:embed="rId9">
              <a:extLst>
                <a:ext uri="{96DAC541-7B7A-43D3-8B79-37D633B846F1}">
                  <asvg:svgBlip xmlns:asvg="http://schemas.microsoft.com/office/drawing/2016/SVG/main" r:embed="rId10"/>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40" name="Freeform 9"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411A1676-8236-08A5-9AEF-12F98F951D57}"/>
              </a:ext>
            </a:extLst>
          </p:cNvPr>
          <p:cNvSpPr/>
          <p:nvPr/>
        </p:nvSpPr>
        <p:spPr>
          <a:xfrm>
            <a:off x="9031745" y="2458658"/>
            <a:ext cx="1064147" cy="1045524"/>
          </a:xfrm>
          <a:custGeom>
            <a:avLst/>
            <a:gdLst/>
            <a:ahLst/>
            <a:cxnLst/>
            <a:rect l="l" t="t" r="r" b="b"/>
            <a:pathLst>
              <a:path w="1491603" h="1465500">
                <a:moveTo>
                  <a:pt x="0" y="0"/>
                </a:moveTo>
                <a:lnTo>
                  <a:pt x="1491603" y="0"/>
                </a:lnTo>
                <a:lnTo>
                  <a:pt x="1491603" y="1465500"/>
                </a:lnTo>
                <a:lnTo>
                  <a:pt x="0" y="1465500"/>
                </a:lnTo>
                <a:lnTo>
                  <a:pt x="0" y="0"/>
                </a:lnTo>
                <a:close/>
              </a:path>
            </a:pathLst>
          </a:custGeom>
          <a:blipFill>
            <a:blip r:embed="rId9">
              <a:extLst>
                <a:ext uri="{96DAC541-7B7A-43D3-8B79-37D633B846F1}">
                  <asvg:svgBlip xmlns:asvg="http://schemas.microsoft.com/office/drawing/2016/SVG/main" r:embed="rId10"/>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41" name="Freeform 9"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026045A9-5B7B-C8A8-9A90-D2208016BF99}"/>
              </a:ext>
            </a:extLst>
          </p:cNvPr>
          <p:cNvSpPr/>
          <p:nvPr/>
        </p:nvSpPr>
        <p:spPr>
          <a:xfrm>
            <a:off x="9031745" y="2458658"/>
            <a:ext cx="1064147" cy="1045524"/>
          </a:xfrm>
          <a:custGeom>
            <a:avLst/>
            <a:gdLst/>
            <a:ahLst/>
            <a:cxnLst/>
            <a:rect l="l" t="t" r="r" b="b"/>
            <a:pathLst>
              <a:path w="1491603" h="1465500">
                <a:moveTo>
                  <a:pt x="0" y="0"/>
                </a:moveTo>
                <a:lnTo>
                  <a:pt x="1491603" y="0"/>
                </a:lnTo>
                <a:lnTo>
                  <a:pt x="1491603" y="1465500"/>
                </a:lnTo>
                <a:lnTo>
                  <a:pt x="0" y="1465500"/>
                </a:lnTo>
                <a:lnTo>
                  <a:pt x="0" y="0"/>
                </a:lnTo>
                <a:close/>
              </a:path>
            </a:pathLst>
          </a:custGeom>
          <a:blipFill>
            <a:blip r:embed="rId9">
              <a:extLst>
                <a:ext uri="{96DAC541-7B7A-43D3-8B79-37D633B846F1}">
                  <asvg:svgBlip xmlns:asvg="http://schemas.microsoft.com/office/drawing/2016/SVG/main" r:embed="rId10"/>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42" name="Freeform 9"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ABFC5B33-D450-068C-AC4F-5ECAA7FF465C}"/>
              </a:ext>
            </a:extLst>
          </p:cNvPr>
          <p:cNvSpPr/>
          <p:nvPr/>
        </p:nvSpPr>
        <p:spPr>
          <a:xfrm>
            <a:off x="9031745" y="2458658"/>
            <a:ext cx="1064147" cy="1045524"/>
          </a:xfrm>
          <a:custGeom>
            <a:avLst/>
            <a:gdLst/>
            <a:ahLst/>
            <a:cxnLst/>
            <a:rect l="l" t="t" r="r" b="b"/>
            <a:pathLst>
              <a:path w="1491603" h="1465500">
                <a:moveTo>
                  <a:pt x="0" y="0"/>
                </a:moveTo>
                <a:lnTo>
                  <a:pt x="1491603" y="0"/>
                </a:lnTo>
                <a:lnTo>
                  <a:pt x="1491603" y="1465500"/>
                </a:lnTo>
                <a:lnTo>
                  <a:pt x="0" y="1465500"/>
                </a:lnTo>
                <a:lnTo>
                  <a:pt x="0" y="0"/>
                </a:lnTo>
                <a:close/>
              </a:path>
            </a:pathLst>
          </a:custGeom>
          <a:blipFill>
            <a:blip r:embed="rId9">
              <a:extLst>
                <a:ext uri="{96DAC541-7B7A-43D3-8B79-37D633B846F1}">
                  <asvg:svgBlip xmlns:asvg="http://schemas.microsoft.com/office/drawing/2016/SVG/main" r:embed="rId10"/>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43" name="Freeform 9"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9517FA46-B831-B89E-4DB1-9F64FFF6FF72}"/>
              </a:ext>
            </a:extLst>
          </p:cNvPr>
          <p:cNvSpPr/>
          <p:nvPr/>
        </p:nvSpPr>
        <p:spPr>
          <a:xfrm>
            <a:off x="9031745" y="2458658"/>
            <a:ext cx="1064147" cy="1045524"/>
          </a:xfrm>
          <a:custGeom>
            <a:avLst/>
            <a:gdLst/>
            <a:ahLst/>
            <a:cxnLst/>
            <a:rect l="l" t="t" r="r" b="b"/>
            <a:pathLst>
              <a:path w="1491603" h="1465500">
                <a:moveTo>
                  <a:pt x="0" y="0"/>
                </a:moveTo>
                <a:lnTo>
                  <a:pt x="1491603" y="0"/>
                </a:lnTo>
                <a:lnTo>
                  <a:pt x="1491603" y="1465500"/>
                </a:lnTo>
                <a:lnTo>
                  <a:pt x="0" y="1465500"/>
                </a:lnTo>
                <a:lnTo>
                  <a:pt x="0" y="0"/>
                </a:lnTo>
                <a:close/>
              </a:path>
            </a:pathLst>
          </a:custGeom>
          <a:blipFill>
            <a:blip r:embed="rId9">
              <a:extLst>
                <a:ext uri="{96DAC541-7B7A-43D3-8B79-37D633B846F1}">
                  <asvg:svgBlip xmlns:asvg="http://schemas.microsoft.com/office/drawing/2016/SVG/main" r:embed="rId10"/>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44" name="Freeform 9"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4866376B-841E-9EC1-0DEB-E0FC63D86CC7}"/>
              </a:ext>
            </a:extLst>
          </p:cNvPr>
          <p:cNvSpPr/>
          <p:nvPr/>
        </p:nvSpPr>
        <p:spPr>
          <a:xfrm>
            <a:off x="9031745" y="2458658"/>
            <a:ext cx="1064147" cy="1045524"/>
          </a:xfrm>
          <a:custGeom>
            <a:avLst/>
            <a:gdLst/>
            <a:ahLst/>
            <a:cxnLst/>
            <a:rect l="l" t="t" r="r" b="b"/>
            <a:pathLst>
              <a:path w="1491603" h="1465500">
                <a:moveTo>
                  <a:pt x="0" y="0"/>
                </a:moveTo>
                <a:lnTo>
                  <a:pt x="1491603" y="0"/>
                </a:lnTo>
                <a:lnTo>
                  <a:pt x="1491603" y="1465500"/>
                </a:lnTo>
                <a:lnTo>
                  <a:pt x="0" y="1465500"/>
                </a:lnTo>
                <a:lnTo>
                  <a:pt x="0" y="0"/>
                </a:lnTo>
                <a:close/>
              </a:path>
            </a:pathLst>
          </a:custGeom>
          <a:blipFill>
            <a:blip r:embed="rId9">
              <a:extLst>
                <a:ext uri="{96DAC541-7B7A-43D3-8B79-37D633B846F1}">
                  <asvg:svgBlip xmlns:asvg="http://schemas.microsoft.com/office/drawing/2016/SVG/main" r:embed="rId10"/>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45" name="Freeform 9"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37B8FA44-CD51-9FED-40A1-21D0AC3F740C}"/>
              </a:ext>
            </a:extLst>
          </p:cNvPr>
          <p:cNvSpPr/>
          <p:nvPr/>
        </p:nvSpPr>
        <p:spPr>
          <a:xfrm>
            <a:off x="9031745" y="2458658"/>
            <a:ext cx="1064147" cy="1045524"/>
          </a:xfrm>
          <a:custGeom>
            <a:avLst/>
            <a:gdLst/>
            <a:ahLst/>
            <a:cxnLst/>
            <a:rect l="l" t="t" r="r" b="b"/>
            <a:pathLst>
              <a:path w="1491603" h="1465500">
                <a:moveTo>
                  <a:pt x="0" y="0"/>
                </a:moveTo>
                <a:lnTo>
                  <a:pt x="1491603" y="0"/>
                </a:lnTo>
                <a:lnTo>
                  <a:pt x="1491603" y="1465500"/>
                </a:lnTo>
                <a:lnTo>
                  <a:pt x="0" y="1465500"/>
                </a:lnTo>
                <a:lnTo>
                  <a:pt x="0" y="0"/>
                </a:lnTo>
                <a:close/>
              </a:path>
            </a:pathLst>
          </a:custGeom>
          <a:blipFill>
            <a:blip r:embed="rId9">
              <a:extLst>
                <a:ext uri="{96DAC541-7B7A-43D3-8B79-37D633B846F1}">
                  <asvg:svgBlip xmlns:asvg="http://schemas.microsoft.com/office/drawing/2016/SVG/main" r:embed="rId10"/>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46" name="Freeform 9"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628FA4F3-D218-FC9C-CCB6-59139544BE04}"/>
              </a:ext>
            </a:extLst>
          </p:cNvPr>
          <p:cNvSpPr/>
          <p:nvPr/>
        </p:nvSpPr>
        <p:spPr>
          <a:xfrm>
            <a:off x="9031745" y="2458658"/>
            <a:ext cx="1064147" cy="1045524"/>
          </a:xfrm>
          <a:custGeom>
            <a:avLst/>
            <a:gdLst/>
            <a:ahLst/>
            <a:cxnLst/>
            <a:rect l="l" t="t" r="r" b="b"/>
            <a:pathLst>
              <a:path w="1491603" h="1465500">
                <a:moveTo>
                  <a:pt x="0" y="0"/>
                </a:moveTo>
                <a:lnTo>
                  <a:pt x="1491603" y="0"/>
                </a:lnTo>
                <a:lnTo>
                  <a:pt x="1491603" y="1465500"/>
                </a:lnTo>
                <a:lnTo>
                  <a:pt x="0" y="1465500"/>
                </a:lnTo>
                <a:lnTo>
                  <a:pt x="0" y="0"/>
                </a:lnTo>
                <a:close/>
              </a:path>
            </a:pathLst>
          </a:custGeom>
          <a:blipFill>
            <a:blip r:embed="rId9">
              <a:extLst>
                <a:ext uri="{96DAC541-7B7A-43D3-8B79-37D633B846F1}">
                  <asvg:svgBlip xmlns:asvg="http://schemas.microsoft.com/office/drawing/2016/SVG/main" r:embed="rId10"/>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47" name="Freeform 6"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A74A91BB-47A2-8927-3735-FF33E157CD89}"/>
              </a:ext>
            </a:extLst>
          </p:cNvPr>
          <p:cNvSpPr/>
          <p:nvPr/>
        </p:nvSpPr>
        <p:spPr>
          <a:xfrm>
            <a:off x="9125439" y="1495655"/>
            <a:ext cx="876759" cy="842785"/>
          </a:xfrm>
          <a:custGeom>
            <a:avLst/>
            <a:gdLst/>
            <a:ahLst/>
            <a:cxnLst/>
            <a:rect l="l" t="t" r="r" b="b"/>
            <a:pathLst>
              <a:path w="1228943" h="1181321">
                <a:moveTo>
                  <a:pt x="0" y="0"/>
                </a:moveTo>
                <a:lnTo>
                  <a:pt x="1228943" y="0"/>
                </a:lnTo>
                <a:lnTo>
                  <a:pt x="1228943" y="1181321"/>
                </a:lnTo>
                <a:lnTo>
                  <a:pt x="0" y="1181321"/>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48" name="Freeform 6"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AA21C6FF-CA96-FBE2-8676-76A33F8B6F98}"/>
              </a:ext>
            </a:extLst>
          </p:cNvPr>
          <p:cNvSpPr/>
          <p:nvPr/>
        </p:nvSpPr>
        <p:spPr>
          <a:xfrm>
            <a:off x="9125439" y="1495655"/>
            <a:ext cx="876759" cy="842785"/>
          </a:xfrm>
          <a:custGeom>
            <a:avLst/>
            <a:gdLst/>
            <a:ahLst/>
            <a:cxnLst/>
            <a:rect l="l" t="t" r="r" b="b"/>
            <a:pathLst>
              <a:path w="1228943" h="1181321">
                <a:moveTo>
                  <a:pt x="0" y="0"/>
                </a:moveTo>
                <a:lnTo>
                  <a:pt x="1228943" y="0"/>
                </a:lnTo>
                <a:lnTo>
                  <a:pt x="1228943" y="1181321"/>
                </a:lnTo>
                <a:lnTo>
                  <a:pt x="0" y="1181321"/>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49" name="Freeform 6"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1D37EAAA-F4FD-21B7-1079-2BC5E25C1AA8}"/>
              </a:ext>
            </a:extLst>
          </p:cNvPr>
          <p:cNvSpPr/>
          <p:nvPr/>
        </p:nvSpPr>
        <p:spPr>
          <a:xfrm>
            <a:off x="9125439" y="1495655"/>
            <a:ext cx="876759" cy="842785"/>
          </a:xfrm>
          <a:custGeom>
            <a:avLst/>
            <a:gdLst/>
            <a:ahLst/>
            <a:cxnLst/>
            <a:rect l="l" t="t" r="r" b="b"/>
            <a:pathLst>
              <a:path w="1228943" h="1181321">
                <a:moveTo>
                  <a:pt x="0" y="0"/>
                </a:moveTo>
                <a:lnTo>
                  <a:pt x="1228943" y="0"/>
                </a:lnTo>
                <a:lnTo>
                  <a:pt x="1228943" y="1181321"/>
                </a:lnTo>
                <a:lnTo>
                  <a:pt x="0" y="1181321"/>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50" name="Freeform 6"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52968030-4423-932E-09A3-1DC91C226266}"/>
              </a:ext>
            </a:extLst>
          </p:cNvPr>
          <p:cNvSpPr/>
          <p:nvPr/>
        </p:nvSpPr>
        <p:spPr>
          <a:xfrm>
            <a:off x="9125439" y="1495655"/>
            <a:ext cx="876759" cy="842785"/>
          </a:xfrm>
          <a:custGeom>
            <a:avLst/>
            <a:gdLst/>
            <a:ahLst/>
            <a:cxnLst/>
            <a:rect l="l" t="t" r="r" b="b"/>
            <a:pathLst>
              <a:path w="1228943" h="1181321">
                <a:moveTo>
                  <a:pt x="0" y="0"/>
                </a:moveTo>
                <a:lnTo>
                  <a:pt x="1228943" y="0"/>
                </a:lnTo>
                <a:lnTo>
                  <a:pt x="1228943" y="1181321"/>
                </a:lnTo>
                <a:lnTo>
                  <a:pt x="0" y="1181321"/>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51" name="Freeform 6"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CF7DA6BB-E168-FA40-5D32-E2D5DC8FA533}"/>
              </a:ext>
            </a:extLst>
          </p:cNvPr>
          <p:cNvSpPr/>
          <p:nvPr/>
        </p:nvSpPr>
        <p:spPr>
          <a:xfrm>
            <a:off x="9125439" y="1495655"/>
            <a:ext cx="876759" cy="842785"/>
          </a:xfrm>
          <a:custGeom>
            <a:avLst/>
            <a:gdLst/>
            <a:ahLst/>
            <a:cxnLst/>
            <a:rect l="l" t="t" r="r" b="b"/>
            <a:pathLst>
              <a:path w="1228943" h="1181321">
                <a:moveTo>
                  <a:pt x="0" y="0"/>
                </a:moveTo>
                <a:lnTo>
                  <a:pt x="1228943" y="0"/>
                </a:lnTo>
                <a:lnTo>
                  <a:pt x="1228943" y="1181321"/>
                </a:lnTo>
                <a:lnTo>
                  <a:pt x="0" y="1181321"/>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52" name="Freeform 6"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73CA3EEC-9DF3-22AC-944D-659B03252134}"/>
              </a:ext>
            </a:extLst>
          </p:cNvPr>
          <p:cNvSpPr/>
          <p:nvPr/>
        </p:nvSpPr>
        <p:spPr>
          <a:xfrm>
            <a:off x="9125439" y="1495655"/>
            <a:ext cx="876759" cy="842785"/>
          </a:xfrm>
          <a:custGeom>
            <a:avLst/>
            <a:gdLst/>
            <a:ahLst/>
            <a:cxnLst/>
            <a:rect l="l" t="t" r="r" b="b"/>
            <a:pathLst>
              <a:path w="1228943" h="1181321">
                <a:moveTo>
                  <a:pt x="0" y="0"/>
                </a:moveTo>
                <a:lnTo>
                  <a:pt x="1228943" y="0"/>
                </a:lnTo>
                <a:lnTo>
                  <a:pt x="1228943" y="1181321"/>
                </a:lnTo>
                <a:lnTo>
                  <a:pt x="0" y="1181321"/>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53" name="Freeform 6"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FFC28B60-3481-DB22-8E83-46237FC2AE66}"/>
              </a:ext>
            </a:extLst>
          </p:cNvPr>
          <p:cNvSpPr/>
          <p:nvPr/>
        </p:nvSpPr>
        <p:spPr>
          <a:xfrm>
            <a:off x="9125439" y="1495655"/>
            <a:ext cx="876759" cy="842785"/>
          </a:xfrm>
          <a:custGeom>
            <a:avLst/>
            <a:gdLst/>
            <a:ahLst/>
            <a:cxnLst/>
            <a:rect l="l" t="t" r="r" b="b"/>
            <a:pathLst>
              <a:path w="1228943" h="1181321">
                <a:moveTo>
                  <a:pt x="0" y="0"/>
                </a:moveTo>
                <a:lnTo>
                  <a:pt x="1228943" y="0"/>
                </a:lnTo>
                <a:lnTo>
                  <a:pt x="1228943" y="1181321"/>
                </a:lnTo>
                <a:lnTo>
                  <a:pt x="0" y="1181321"/>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54" name="Freeform 6"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8CC6E123-20FF-E0A5-EEFE-6EBF778C0993}"/>
              </a:ext>
            </a:extLst>
          </p:cNvPr>
          <p:cNvSpPr/>
          <p:nvPr/>
        </p:nvSpPr>
        <p:spPr>
          <a:xfrm>
            <a:off x="9125439" y="1495655"/>
            <a:ext cx="876759" cy="842785"/>
          </a:xfrm>
          <a:custGeom>
            <a:avLst/>
            <a:gdLst/>
            <a:ahLst/>
            <a:cxnLst/>
            <a:rect l="l" t="t" r="r" b="b"/>
            <a:pathLst>
              <a:path w="1228943" h="1181321">
                <a:moveTo>
                  <a:pt x="0" y="0"/>
                </a:moveTo>
                <a:lnTo>
                  <a:pt x="1228943" y="0"/>
                </a:lnTo>
                <a:lnTo>
                  <a:pt x="1228943" y="1181321"/>
                </a:lnTo>
                <a:lnTo>
                  <a:pt x="0" y="1181321"/>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55" name="Freeform 6"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94A4F972-F46E-937B-90E3-90BADF9404FB}"/>
              </a:ext>
            </a:extLst>
          </p:cNvPr>
          <p:cNvSpPr/>
          <p:nvPr/>
        </p:nvSpPr>
        <p:spPr>
          <a:xfrm>
            <a:off x="9125439" y="1495655"/>
            <a:ext cx="876759" cy="842785"/>
          </a:xfrm>
          <a:custGeom>
            <a:avLst/>
            <a:gdLst/>
            <a:ahLst/>
            <a:cxnLst/>
            <a:rect l="l" t="t" r="r" b="b"/>
            <a:pathLst>
              <a:path w="1228943" h="1181321">
                <a:moveTo>
                  <a:pt x="0" y="0"/>
                </a:moveTo>
                <a:lnTo>
                  <a:pt x="1228943" y="0"/>
                </a:lnTo>
                <a:lnTo>
                  <a:pt x="1228943" y="1181321"/>
                </a:lnTo>
                <a:lnTo>
                  <a:pt x="0" y="1181321"/>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57" name="Freeform 3"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345358EC-9A41-C2A3-B689-DC18DD9DDEFE}"/>
              </a:ext>
            </a:extLst>
          </p:cNvPr>
          <p:cNvSpPr/>
          <p:nvPr/>
        </p:nvSpPr>
        <p:spPr>
          <a:xfrm>
            <a:off x="9211491" y="660052"/>
            <a:ext cx="704655" cy="715385"/>
          </a:xfrm>
          <a:custGeom>
            <a:avLst/>
            <a:gdLst/>
            <a:ahLst/>
            <a:cxnLst/>
            <a:rect l="l" t="t" r="r" b="b"/>
            <a:pathLst>
              <a:path w="987707" h="1002748">
                <a:moveTo>
                  <a:pt x="0" y="0"/>
                </a:moveTo>
                <a:lnTo>
                  <a:pt x="987706" y="0"/>
                </a:lnTo>
                <a:lnTo>
                  <a:pt x="987706" y="1002748"/>
                </a:lnTo>
                <a:lnTo>
                  <a:pt x="0" y="1002748"/>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58" name="Freeform 3"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1577CCC2-8615-472E-BE9A-35310997CE8A}"/>
              </a:ext>
            </a:extLst>
          </p:cNvPr>
          <p:cNvSpPr/>
          <p:nvPr/>
        </p:nvSpPr>
        <p:spPr>
          <a:xfrm>
            <a:off x="9211491" y="660052"/>
            <a:ext cx="704655" cy="715385"/>
          </a:xfrm>
          <a:custGeom>
            <a:avLst/>
            <a:gdLst/>
            <a:ahLst/>
            <a:cxnLst/>
            <a:rect l="l" t="t" r="r" b="b"/>
            <a:pathLst>
              <a:path w="987707" h="1002748">
                <a:moveTo>
                  <a:pt x="0" y="0"/>
                </a:moveTo>
                <a:lnTo>
                  <a:pt x="987706" y="0"/>
                </a:lnTo>
                <a:lnTo>
                  <a:pt x="987706" y="1002748"/>
                </a:lnTo>
                <a:lnTo>
                  <a:pt x="0" y="1002748"/>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59" name="Freeform 3"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4BFF1F2B-C126-EB75-6CF0-0C16E839F40B}"/>
              </a:ext>
            </a:extLst>
          </p:cNvPr>
          <p:cNvSpPr/>
          <p:nvPr/>
        </p:nvSpPr>
        <p:spPr>
          <a:xfrm>
            <a:off x="9211491" y="660052"/>
            <a:ext cx="704655" cy="715385"/>
          </a:xfrm>
          <a:custGeom>
            <a:avLst/>
            <a:gdLst/>
            <a:ahLst/>
            <a:cxnLst/>
            <a:rect l="l" t="t" r="r" b="b"/>
            <a:pathLst>
              <a:path w="987707" h="1002748">
                <a:moveTo>
                  <a:pt x="0" y="0"/>
                </a:moveTo>
                <a:lnTo>
                  <a:pt x="987706" y="0"/>
                </a:lnTo>
                <a:lnTo>
                  <a:pt x="987706" y="1002748"/>
                </a:lnTo>
                <a:lnTo>
                  <a:pt x="0" y="1002748"/>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60" name="Freeform 3"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0C2E87E7-6E79-2394-56DF-EA307DC6E4D4}"/>
              </a:ext>
            </a:extLst>
          </p:cNvPr>
          <p:cNvSpPr/>
          <p:nvPr/>
        </p:nvSpPr>
        <p:spPr>
          <a:xfrm>
            <a:off x="9211491" y="660052"/>
            <a:ext cx="704655" cy="715385"/>
          </a:xfrm>
          <a:custGeom>
            <a:avLst/>
            <a:gdLst/>
            <a:ahLst/>
            <a:cxnLst/>
            <a:rect l="l" t="t" r="r" b="b"/>
            <a:pathLst>
              <a:path w="987707" h="1002748">
                <a:moveTo>
                  <a:pt x="0" y="0"/>
                </a:moveTo>
                <a:lnTo>
                  <a:pt x="987706" y="0"/>
                </a:lnTo>
                <a:lnTo>
                  <a:pt x="987706" y="1002748"/>
                </a:lnTo>
                <a:lnTo>
                  <a:pt x="0" y="1002748"/>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61" name="Freeform 3"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0125E5E4-4A37-0340-AF39-5D890FA687DA}"/>
              </a:ext>
            </a:extLst>
          </p:cNvPr>
          <p:cNvSpPr/>
          <p:nvPr/>
        </p:nvSpPr>
        <p:spPr>
          <a:xfrm>
            <a:off x="9211491" y="660052"/>
            <a:ext cx="704655" cy="715385"/>
          </a:xfrm>
          <a:custGeom>
            <a:avLst/>
            <a:gdLst/>
            <a:ahLst/>
            <a:cxnLst/>
            <a:rect l="l" t="t" r="r" b="b"/>
            <a:pathLst>
              <a:path w="987707" h="1002748">
                <a:moveTo>
                  <a:pt x="0" y="0"/>
                </a:moveTo>
                <a:lnTo>
                  <a:pt x="987706" y="0"/>
                </a:lnTo>
                <a:lnTo>
                  <a:pt x="987706" y="1002748"/>
                </a:lnTo>
                <a:lnTo>
                  <a:pt x="0" y="1002748"/>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62" name="Freeform 3"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E58395CE-A0F4-9158-B247-273323BE6F86}"/>
              </a:ext>
            </a:extLst>
          </p:cNvPr>
          <p:cNvSpPr/>
          <p:nvPr/>
        </p:nvSpPr>
        <p:spPr>
          <a:xfrm>
            <a:off x="9211491" y="660052"/>
            <a:ext cx="704655" cy="715385"/>
          </a:xfrm>
          <a:custGeom>
            <a:avLst/>
            <a:gdLst/>
            <a:ahLst/>
            <a:cxnLst/>
            <a:rect l="l" t="t" r="r" b="b"/>
            <a:pathLst>
              <a:path w="987707" h="1002748">
                <a:moveTo>
                  <a:pt x="0" y="0"/>
                </a:moveTo>
                <a:lnTo>
                  <a:pt x="987706" y="0"/>
                </a:lnTo>
                <a:lnTo>
                  <a:pt x="987706" y="1002748"/>
                </a:lnTo>
                <a:lnTo>
                  <a:pt x="0" y="1002748"/>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63" name="Freeform 3"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023E9987-B9CD-089F-337E-78FA01DCF2F1}"/>
              </a:ext>
            </a:extLst>
          </p:cNvPr>
          <p:cNvSpPr/>
          <p:nvPr/>
        </p:nvSpPr>
        <p:spPr>
          <a:xfrm>
            <a:off x="9211491" y="660052"/>
            <a:ext cx="704655" cy="715385"/>
          </a:xfrm>
          <a:custGeom>
            <a:avLst/>
            <a:gdLst/>
            <a:ahLst/>
            <a:cxnLst/>
            <a:rect l="l" t="t" r="r" b="b"/>
            <a:pathLst>
              <a:path w="987707" h="1002748">
                <a:moveTo>
                  <a:pt x="0" y="0"/>
                </a:moveTo>
                <a:lnTo>
                  <a:pt x="987706" y="0"/>
                </a:lnTo>
                <a:lnTo>
                  <a:pt x="987706" y="1002748"/>
                </a:lnTo>
                <a:lnTo>
                  <a:pt x="0" y="1002748"/>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64" name="Freeform 3" descr="A blank money wall template with a whole bar. Underneath the bar has been separated into 2 equal parts. Underneath that bar has been separated into 4 equal parts.&#10;&#10;To the right of the money wall are piles of Australian coins.">
            <a:extLst>
              <a:ext uri="{FF2B5EF4-FFF2-40B4-BE49-F238E27FC236}">
                <a16:creationId xmlns:a16="http://schemas.microsoft.com/office/drawing/2014/main" id="{2107A66D-27E4-0055-C819-A6430E8A4C32}"/>
              </a:ext>
            </a:extLst>
          </p:cNvPr>
          <p:cNvSpPr/>
          <p:nvPr/>
        </p:nvSpPr>
        <p:spPr>
          <a:xfrm>
            <a:off x="9232955" y="660970"/>
            <a:ext cx="704655" cy="715385"/>
          </a:xfrm>
          <a:custGeom>
            <a:avLst/>
            <a:gdLst/>
            <a:ahLst/>
            <a:cxnLst/>
            <a:rect l="l" t="t" r="r" b="b"/>
            <a:pathLst>
              <a:path w="987707" h="1002748">
                <a:moveTo>
                  <a:pt x="0" y="0"/>
                </a:moveTo>
                <a:lnTo>
                  <a:pt x="987706" y="0"/>
                </a:lnTo>
                <a:lnTo>
                  <a:pt x="987706" y="1002748"/>
                </a:lnTo>
                <a:lnTo>
                  <a:pt x="0" y="1002748"/>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a:noFill/>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cxnSp>
        <p:nvCxnSpPr>
          <p:cNvPr id="167" name="Straight Connector 166">
            <a:extLst>
              <a:ext uri="{FF2B5EF4-FFF2-40B4-BE49-F238E27FC236}">
                <a16:creationId xmlns:a16="http://schemas.microsoft.com/office/drawing/2014/main" id="{5B455DEF-ED3A-CB84-AE53-77AFD7AF8719}"/>
              </a:ext>
              <a:ext uri="{C183D7F6-B498-43B3-948B-1728B52AA6E4}">
                <adec:decorative xmlns:adec="http://schemas.microsoft.com/office/drawing/2017/decorative" val="1"/>
              </a:ext>
            </a:extLst>
          </p:cNvPr>
          <p:cNvCxnSpPr>
            <a:cxnSpLocks/>
          </p:cNvCxnSpPr>
          <p:nvPr/>
        </p:nvCxnSpPr>
        <p:spPr>
          <a:xfrm>
            <a:off x="8724178" y="526110"/>
            <a:ext cx="0" cy="6044666"/>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122" name="Picture 2" descr="image of a head with cogs turning inside">
            <a:extLst>
              <a:ext uri="{FF2B5EF4-FFF2-40B4-BE49-F238E27FC236}">
                <a16:creationId xmlns:a16="http://schemas.microsoft.com/office/drawing/2014/main" id="{F7E87A4A-F815-77D2-A7A6-CDA34A6BB99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108100" y="231427"/>
            <a:ext cx="723900" cy="85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3853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dirty="0"/>
              <a:t>True or false </a:t>
            </a:r>
            <a:r>
              <a:rPr lang="en-US" dirty="0">
                <a:solidFill>
                  <a:schemeClr val="bg1"/>
                </a:solidFill>
              </a:rPr>
              <a:t>(3)(1)</a:t>
            </a:r>
          </a:p>
        </p:txBody>
      </p:sp>
      <p:sp>
        <p:nvSpPr>
          <p:cNvPr id="7" name="Text Placeholder 6">
            <a:extLst>
              <a:ext uri="{FF2B5EF4-FFF2-40B4-BE49-F238E27FC236}">
                <a16:creationId xmlns:a16="http://schemas.microsoft.com/office/drawing/2014/main" id="{4743D993-BC52-886E-0C46-306156440477}"/>
              </a:ext>
            </a:extLst>
          </p:cNvPr>
          <p:cNvSpPr>
            <a:spLocks noGrp="1"/>
          </p:cNvSpPr>
          <p:nvPr>
            <p:ph type="body" sz="quarter" idx="22"/>
          </p:nvPr>
        </p:nvSpPr>
        <p:spPr>
          <a:xfrm>
            <a:off x="793510" y="1695586"/>
            <a:ext cx="4944114" cy="2596300"/>
          </a:xfrm>
        </p:spPr>
        <p:txBody>
          <a:bodyPr vert="horz" lIns="0" tIns="0" rIns="0" bIns="0" rtlCol="0" anchor="t">
            <a:noAutofit/>
          </a:bodyPr>
          <a:lstStyle/>
          <a:p>
            <a:pPr algn="ctr"/>
            <a:r>
              <a:rPr lang="en-US" sz="3200" dirty="0">
                <a:latin typeface="Arial"/>
                <a:cs typeface="Arial"/>
              </a:rPr>
              <a:t>This money </a:t>
            </a:r>
            <a:r>
              <a:rPr lang="en-US" sz="3200">
                <a:latin typeface="Arial"/>
                <a:cs typeface="Arial"/>
              </a:rPr>
              <a:t>wall accurately shows </a:t>
            </a:r>
            <a:r>
              <a:rPr lang="en-US" sz="3200" b="1" dirty="0">
                <a:latin typeface="Arial"/>
                <a:cs typeface="Arial"/>
              </a:rPr>
              <a:t>equivalent</a:t>
            </a:r>
            <a:r>
              <a:rPr lang="en-US" sz="3200" dirty="0">
                <a:latin typeface="Arial"/>
                <a:cs typeface="Arial"/>
              </a:rPr>
              <a:t> coin denominations.</a:t>
            </a:r>
            <a:endParaRPr lang="en-US" sz="3200" dirty="0"/>
          </a:p>
        </p:txBody>
      </p:sp>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4141295505"/>
              </p:ext>
            </p:extLst>
          </p:nvPr>
        </p:nvGraphicFramePr>
        <p:xfrm>
          <a:off x="2442981" y="5207651"/>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55D61279-F839-6A02-5B10-40DD79748FE7}"/>
              </a:ext>
            </a:extLst>
          </p:cNvPr>
          <p:cNvPicPr>
            <a:picLocks noChangeAspect="1"/>
          </p:cNvPicPr>
          <p:nvPr/>
        </p:nvPicPr>
        <p:blipFill>
          <a:blip r:embed="rId3"/>
          <a:stretch>
            <a:fillRect/>
          </a:stretch>
        </p:blipFill>
        <p:spPr>
          <a:xfrm>
            <a:off x="10807908" y="43303"/>
            <a:ext cx="1165786" cy="1140716"/>
          </a:xfrm>
          <a:prstGeom prst="rect">
            <a:avLst/>
          </a:prstGeom>
        </p:spPr>
      </p:pic>
      <p:pic>
        <p:nvPicPr>
          <p:cNvPr id="9" name="Picture 8" descr="A wall displaying equivalant coins- row 1- 50c, row 2- two 10c cons and row 3- four 5c coins.">
            <a:extLst>
              <a:ext uri="{FF2B5EF4-FFF2-40B4-BE49-F238E27FC236}">
                <a16:creationId xmlns:a16="http://schemas.microsoft.com/office/drawing/2014/main" id="{D63F639A-B3E4-D34F-8994-4177B4B52C3B}"/>
              </a:ext>
            </a:extLst>
          </p:cNvPr>
          <p:cNvPicPr>
            <a:picLocks noChangeAspect="1"/>
          </p:cNvPicPr>
          <p:nvPr/>
        </p:nvPicPr>
        <p:blipFill>
          <a:blip r:embed="rId4"/>
          <a:stretch>
            <a:fillRect/>
          </a:stretch>
        </p:blipFill>
        <p:spPr>
          <a:xfrm>
            <a:off x="6454377" y="1334815"/>
            <a:ext cx="4229317" cy="3206915"/>
          </a:xfrm>
          <a:prstGeom prst="rect">
            <a:avLst/>
          </a:prstGeom>
        </p:spPr>
      </p:pic>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(21)</a:t>
            </a:r>
          </a:p>
        </p:txBody>
      </p:sp>
      <p:sp>
        <p:nvSpPr>
          <p:cNvPr id="11" name="Picture Placeholder 10">
            <a:extLst>
              <a:ext uri="{FF2B5EF4-FFF2-40B4-BE49-F238E27FC236}">
                <a16:creationId xmlns:a16="http://schemas.microsoft.com/office/drawing/2014/main" id="{6AEDAC5B-7D79-7FBF-9542-5724B621995A}"/>
              </a:ext>
            </a:extLst>
          </p:cNvPr>
          <p:cNvSpPr>
            <a:spLocks noGrp="1"/>
          </p:cNvSpPr>
          <p:nvPr>
            <p:ph type="pic" sz="quarter" idx="21"/>
          </p:nvPr>
        </p:nvSpPr>
        <p:spPr>
          <a:xfrm>
            <a:off x="360000" y="1556533"/>
            <a:ext cx="11189376" cy="4168875"/>
          </a:xfrm>
        </p:spPr>
        <p:txBody>
          <a:bodyPr/>
          <a:lstStyle/>
          <a:p>
            <a:pPr algn="ctr"/>
            <a:r>
              <a:rPr lang="en-US" sz="4400" dirty="0">
                <a:latin typeface="Arial"/>
                <a:cs typeface="Arial"/>
              </a:rPr>
              <a:t> Is 6-tenths </a:t>
            </a:r>
            <a:r>
              <a:rPr lang="en-US" sz="4400" b="1" dirty="0">
                <a:latin typeface="Arial"/>
                <a:cs typeface="Arial"/>
              </a:rPr>
              <a:t>closer</a:t>
            </a:r>
            <a:r>
              <a:rPr lang="en-US" sz="4400" dirty="0">
                <a:latin typeface="Arial"/>
                <a:cs typeface="Arial"/>
              </a:rPr>
              <a:t> to 1 or 2?</a:t>
            </a:r>
          </a:p>
          <a:p>
            <a:pPr algn="ctr"/>
            <a:br>
              <a:rPr lang="en-US" sz="4400" b="1" dirty="0">
                <a:latin typeface="Arial"/>
                <a:cs typeface="Arial"/>
              </a:rPr>
            </a:br>
            <a:r>
              <a:rPr lang="en-US" sz="4400" b="1" dirty="0">
                <a:latin typeface="Arial"/>
                <a:cs typeface="Arial"/>
              </a:rPr>
              <a:t>Communicate</a:t>
            </a:r>
            <a:r>
              <a:rPr lang="en-US" sz="4400" dirty="0">
                <a:latin typeface="Arial"/>
                <a:cs typeface="Arial"/>
              </a:rPr>
              <a:t> your reasoning.</a:t>
            </a:r>
            <a:endParaRPr lang="en-US" sz="4400" dirty="0"/>
          </a:p>
          <a:p>
            <a:pPr algn="ct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FC89052-219D-2803-0123-F3BA24E9962C}"/>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(22)</a:t>
            </a:r>
          </a:p>
        </p:txBody>
      </p:sp>
      <p:sp>
        <p:nvSpPr>
          <p:cNvPr id="11" name="Picture Placeholder 10">
            <a:extLst>
              <a:ext uri="{FF2B5EF4-FFF2-40B4-BE49-F238E27FC236}">
                <a16:creationId xmlns:a16="http://schemas.microsoft.com/office/drawing/2014/main" id="{80B7212B-2801-5D27-0B76-52A657270CAF}"/>
              </a:ext>
            </a:extLst>
          </p:cNvPr>
          <p:cNvSpPr>
            <a:spLocks noGrp="1"/>
          </p:cNvSpPr>
          <p:nvPr>
            <p:ph type="pic" sz="quarter" idx="21"/>
          </p:nvPr>
        </p:nvSpPr>
        <p:spPr>
          <a:xfrm>
            <a:off x="360000" y="1099457"/>
            <a:ext cx="11243037" cy="4361424"/>
          </a:xfrm>
        </p:spPr>
        <p:txBody>
          <a:bodyPr/>
          <a:lstStyle/>
          <a:p>
            <a:pPr algn="ctr"/>
            <a:r>
              <a:rPr lang="en-AU" sz="4000" dirty="0"/>
              <a:t>During a book drive, the school collected 840 books in the first week and 675 books in the second week. They donated 950 books to a local library. </a:t>
            </a:r>
          </a:p>
          <a:p>
            <a:pPr algn="ctr"/>
            <a:r>
              <a:rPr lang="en-AU" sz="4000" b="1" dirty="0"/>
              <a:t>How many </a:t>
            </a:r>
            <a:r>
              <a:rPr lang="en-AU" sz="4000" dirty="0"/>
              <a:t>books does the school have </a:t>
            </a:r>
            <a:r>
              <a:rPr lang="en-AU" sz="4000" b="1" dirty="0"/>
              <a:t>left?</a:t>
            </a:r>
            <a:endParaRPr lang="en-US" sz="8000" b="1"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A5C75FC3-3580-0C1D-8090-EC44658DAC9E}"/>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(23)</a:t>
            </a:r>
          </a:p>
        </p:txBody>
      </p:sp>
      <p:sp>
        <p:nvSpPr>
          <p:cNvPr id="11" name="Picture Placeholder 10">
            <a:extLst>
              <a:ext uri="{FF2B5EF4-FFF2-40B4-BE49-F238E27FC236}">
                <a16:creationId xmlns:a16="http://schemas.microsoft.com/office/drawing/2014/main" id="{8A7FE6AB-F028-BE57-C4D2-218E23CCA7F3}"/>
              </a:ext>
            </a:extLst>
          </p:cNvPr>
          <p:cNvSpPr>
            <a:spLocks noGrp="1"/>
          </p:cNvSpPr>
          <p:nvPr>
            <p:ph type="pic" sz="quarter" idx="21"/>
          </p:nvPr>
        </p:nvSpPr>
        <p:spPr>
          <a:xfrm>
            <a:off x="360000" y="1322701"/>
            <a:ext cx="11243037" cy="5091860"/>
          </a:xfrm>
        </p:spPr>
        <p:txBody>
          <a:bodyPr/>
          <a:lstStyle/>
          <a:p>
            <a:pPr algn="ctr"/>
            <a:r>
              <a:rPr lang="en-AU" sz="4400" dirty="0"/>
              <a:t>A chocolate bar weighs </a:t>
            </a:r>
            <a:r>
              <a:rPr lang="en-AU" sz="4400" b="1" dirty="0"/>
              <a:t>250 grams</a:t>
            </a:r>
            <a:r>
              <a:rPr lang="en-AU" sz="4400" dirty="0"/>
              <a:t>. What </a:t>
            </a:r>
            <a:r>
              <a:rPr lang="en-AU" sz="4400" b="1" dirty="0"/>
              <a:t>fraction </a:t>
            </a:r>
            <a:r>
              <a:rPr lang="en-AU" sz="4400" dirty="0"/>
              <a:t>of a </a:t>
            </a:r>
            <a:r>
              <a:rPr lang="en-AU" sz="4400" b="1" dirty="0"/>
              <a:t>kilogram </a:t>
            </a:r>
            <a:r>
              <a:rPr lang="en-AU" sz="4400" dirty="0"/>
              <a:t>is this?</a:t>
            </a:r>
          </a:p>
          <a:p>
            <a:pPr algn="ctr"/>
            <a:r>
              <a:rPr lang="en-AU" sz="4400" b="1" dirty="0"/>
              <a:t>Explain</a:t>
            </a:r>
            <a:r>
              <a:rPr lang="en-AU" sz="4400" dirty="0"/>
              <a:t> your answer.</a:t>
            </a:r>
            <a:endParaRPr lang="en-US" sz="6600" dirty="0"/>
          </a:p>
          <a:p>
            <a:pPr algn="ct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0BD3A60-80E3-562B-92FB-07B4A07F11E3}"/>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(24)</a:t>
            </a:r>
          </a:p>
        </p:txBody>
      </p:sp>
      <p:sp>
        <p:nvSpPr>
          <p:cNvPr id="11" name="Picture Placeholder 10">
            <a:extLst>
              <a:ext uri="{FF2B5EF4-FFF2-40B4-BE49-F238E27FC236}">
                <a16:creationId xmlns:a16="http://schemas.microsoft.com/office/drawing/2014/main" id="{292E23AF-C9AF-1BEC-B7EF-97960722B4D3}"/>
              </a:ext>
            </a:extLst>
          </p:cNvPr>
          <p:cNvSpPr>
            <a:spLocks noGrp="1"/>
          </p:cNvSpPr>
          <p:nvPr>
            <p:ph type="pic" sz="quarter" idx="21"/>
          </p:nvPr>
        </p:nvSpPr>
        <p:spPr>
          <a:xfrm>
            <a:off x="474481" y="2113137"/>
            <a:ext cx="11243037" cy="5091860"/>
          </a:xfrm>
        </p:spPr>
        <p:txBody>
          <a:bodyPr/>
          <a:lstStyle/>
          <a:p>
            <a:pPr algn="ctr"/>
            <a:r>
              <a:rPr lang="en-US" sz="4800" b="1" dirty="0">
                <a:latin typeface="Arial"/>
                <a:cs typeface="Arial"/>
              </a:rPr>
              <a:t>Draw</a:t>
            </a:r>
            <a:r>
              <a:rPr lang="en-US" sz="4800" dirty="0">
                <a:latin typeface="Arial"/>
                <a:cs typeface="Arial"/>
              </a:rPr>
              <a:t> a rectangular prism and </a:t>
            </a:r>
            <a:r>
              <a:rPr lang="en-US" sz="4800" b="1" dirty="0">
                <a:latin typeface="Arial"/>
                <a:cs typeface="Arial"/>
              </a:rPr>
              <a:t>label</a:t>
            </a:r>
            <a:r>
              <a:rPr lang="en-US" sz="4800" dirty="0">
                <a:latin typeface="Arial"/>
                <a:cs typeface="Arial"/>
              </a:rPr>
              <a:t> the faces, vertices and edges.</a:t>
            </a:r>
            <a:endParaRPr lang="en-US" sz="3200" dirty="0"/>
          </a:p>
          <a:p>
            <a:pPr algn="ctr"/>
            <a:endParaRPr lang="en-US" sz="3200" dirty="0"/>
          </a:p>
          <a:p>
            <a:pPr algn="ct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9413A593-D677-BE14-4F68-8ED6884EFE14}"/>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C8A3CB-B224-208A-CFF5-B2EA6968C1C0}"/>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3" name="Title 2">
            <a:extLst>
              <a:ext uri="{FF2B5EF4-FFF2-40B4-BE49-F238E27FC236}">
                <a16:creationId xmlns:a16="http://schemas.microsoft.com/office/drawing/2014/main" id="{284E42B4-94D9-1D74-190B-2DFAC866DF5D}"/>
              </a:ext>
            </a:extLst>
          </p:cNvPr>
          <p:cNvSpPr>
            <a:spLocks noGrp="1"/>
          </p:cNvSpPr>
          <p:nvPr>
            <p:ph type="title"/>
          </p:nvPr>
        </p:nvSpPr>
        <p:spPr/>
        <p:txBody>
          <a:bodyPr/>
          <a:lstStyle/>
          <a:p>
            <a:r>
              <a:rPr lang="en-AU"/>
              <a:t>Activity 6 – equivalent amounts of money?</a:t>
            </a:r>
          </a:p>
        </p:txBody>
      </p:sp>
      <p:pic>
        <p:nvPicPr>
          <p:cNvPr id="3074" name="Picture 2" descr="Aa money wall with 3 rows. 2o cents at the top, then two ten cent pieces after that and in the row below is 4 ten cent pieces.">
            <a:extLst>
              <a:ext uri="{FF2B5EF4-FFF2-40B4-BE49-F238E27FC236}">
                <a16:creationId xmlns:a16="http://schemas.microsoft.com/office/drawing/2014/main" id="{23ACD964-439C-9E36-151B-CA4C146AED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3377" y="1233716"/>
            <a:ext cx="6540121" cy="4860901"/>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image of a head with cogs turning inside">
            <a:extLst>
              <a:ext uri="{FF2B5EF4-FFF2-40B4-BE49-F238E27FC236}">
                <a16:creationId xmlns:a16="http://schemas.microsoft.com/office/drawing/2014/main" id="{F30AB490-D231-761D-DE7B-5CC74C7F1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08100" y="204175"/>
            <a:ext cx="723900" cy="85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9651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DEC98-6E64-B27A-62A0-329A669AEC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4353F3-AFA1-F86F-DE0E-4EEDDC077D1C}"/>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E0021225-41F1-0C16-7955-7A20CE3F9226}"/>
              </a:ext>
            </a:extLst>
          </p:cNvPr>
          <p:cNvSpPr>
            <a:spLocks noGrp="1"/>
          </p:cNvSpPr>
          <p:nvPr>
            <p:ph type="title"/>
          </p:nvPr>
        </p:nvSpPr>
        <p:spPr/>
        <p:txBody>
          <a:bodyPr/>
          <a:lstStyle/>
          <a:p>
            <a:r>
              <a:rPr lang="en-US" dirty="0"/>
              <a:t>Multiple choice </a:t>
            </a:r>
            <a:r>
              <a:rPr lang="en-US" dirty="0">
                <a:solidFill>
                  <a:schemeClr val="bg1"/>
                </a:solidFill>
              </a:rPr>
              <a:t>(4)</a:t>
            </a:r>
            <a:r>
              <a:rPr lang="en-US" dirty="0"/>
              <a:t> </a:t>
            </a:r>
            <a:r>
              <a:rPr lang="en-US" dirty="0">
                <a:solidFill>
                  <a:schemeClr val="bg1"/>
                </a:solidFill>
              </a:rPr>
              <a:t>(1)</a:t>
            </a:r>
          </a:p>
        </p:txBody>
      </p:sp>
      <p:sp>
        <p:nvSpPr>
          <p:cNvPr id="15" name="Text Placeholder 14">
            <a:extLst>
              <a:ext uri="{FF2B5EF4-FFF2-40B4-BE49-F238E27FC236}">
                <a16:creationId xmlns:a16="http://schemas.microsoft.com/office/drawing/2014/main" id="{CA95A8D3-8910-15F9-8CCD-CC5CE999586C}"/>
              </a:ext>
            </a:extLst>
          </p:cNvPr>
          <p:cNvSpPr>
            <a:spLocks noGrp="1"/>
          </p:cNvSpPr>
          <p:nvPr>
            <p:ph type="body" sz="quarter" idx="28"/>
          </p:nvPr>
        </p:nvSpPr>
        <p:spPr>
          <a:xfrm>
            <a:off x="360000" y="1408922"/>
            <a:ext cx="11639167" cy="1420148"/>
          </a:xfrm>
        </p:spPr>
        <p:txBody>
          <a:bodyPr vert="horz" lIns="0" tIns="0" rIns="0" bIns="0" rtlCol="0" anchor="t">
            <a:noAutofit/>
          </a:bodyPr>
          <a:lstStyle/>
          <a:p>
            <a:r>
              <a:rPr lang="en-US" sz="2800" dirty="0">
                <a:latin typeface="Arial"/>
                <a:cs typeface="Arial"/>
              </a:rPr>
              <a:t>If I had a $5 note and I purchased a sandwich for $3.75, what is the </a:t>
            </a:r>
            <a:r>
              <a:rPr lang="en-US" sz="2800" b="1" dirty="0">
                <a:latin typeface="Arial"/>
                <a:cs typeface="Arial"/>
              </a:rPr>
              <a:t>correct amount of change </a:t>
            </a:r>
            <a:r>
              <a:rPr lang="en-US" sz="2800" dirty="0">
                <a:latin typeface="Arial"/>
                <a:cs typeface="Arial"/>
              </a:rPr>
              <a:t>I would be given?</a:t>
            </a:r>
            <a:endParaRPr lang="en-US" sz="2800" dirty="0"/>
          </a:p>
          <a:p>
            <a:endParaRPr lang="en-US" sz="4000" dirty="0">
              <a:latin typeface="Arial"/>
              <a:cs typeface="Arial"/>
            </a:endParaRPr>
          </a:p>
        </p:txBody>
      </p:sp>
      <p:pic>
        <p:nvPicPr>
          <p:cNvPr id="4" name="Picture 3" descr="image of a finger selecting an option for a multiple choice or true and false">
            <a:extLst>
              <a:ext uri="{FF2B5EF4-FFF2-40B4-BE49-F238E27FC236}">
                <a16:creationId xmlns:a16="http://schemas.microsoft.com/office/drawing/2014/main" id="{762B9242-51CC-E9FE-F0ED-48F177A9021B}"/>
              </a:ext>
            </a:extLst>
          </p:cNvPr>
          <p:cNvPicPr>
            <a:picLocks noChangeAspect="1"/>
          </p:cNvPicPr>
          <p:nvPr/>
        </p:nvPicPr>
        <p:blipFill>
          <a:blip r:embed="rId3"/>
          <a:stretch>
            <a:fillRect/>
          </a:stretch>
        </p:blipFill>
        <p:spPr>
          <a:xfrm>
            <a:off x="10807908" y="43303"/>
            <a:ext cx="1165786" cy="1140716"/>
          </a:xfrm>
          <a:prstGeom prst="rect">
            <a:avLst/>
          </a:prstGeom>
        </p:spPr>
      </p:pic>
      <p:pic>
        <p:nvPicPr>
          <p:cNvPr id="24" name="Picture 23" descr="A B C D">
            <a:extLst>
              <a:ext uri="{FF2B5EF4-FFF2-40B4-BE49-F238E27FC236}">
                <a16:creationId xmlns:a16="http://schemas.microsoft.com/office/drawing/2014/main" id="{4FC4B10A-7F57-B539-69DE-315B16B2FD77}"/>
              </a:ext>
            </a:extLst>
          </p:cNvPr>
          <p:cNvPicPr>
            <a:picLocks noChangeAspect="1"/>
          </p:cNvPicPr>
          <p:nvPr/>
        </p:nvPicPr>
        <p:blipFill>
          <a:blip r:embed="rId4"/>
          <a:stretch>
            <a:fillRect/>
          </a:stretch>
        </p:blipFill>
        <p:spPr>
          <a:xfrm>
            <a:off x="353070" y="3044013"/>
            <a:ext cx="11485859" cy="1548518"/>
          </a:xfrm>
          <a:prstGeom prst="rect">
            <a:avLst/>
          </a:prstGeom>
        </p:spPr>
      </p:pic>
      <p:pic>
        <p:nvPicPr>
          <p:cNvPr id="30" name="Picture 29" descr="3 50c coins">
            <a:extLst>
              <a:ext uri="{FF2B5EF4-FFF2-40B4-BE49-F238E27FC236}">
                <a16:creationId xmlns:a16="http://schemas.microsoft.com/office/drawing/2014/main" id="{9370545C-CAA9-6D6D-D940-EFBF0982673B}"/>
              </a:ext>
            </a:extLst>
          </p:cNvPr>
          <p:cNvPicPr>
            <a:picLocks noChangeAspect="1"/>
          </p:cNvPicPr>
          <p:nvPr/>
        </p:nvPicPr>
        <p:blipFill>
          <a:blip r:embed="rId5"/>
          <a:stretch>
            <a:fillRect/>
          </a:stretch>
        </p:blipFill>
        <p:spPr>
          <a:xfrm>
            <a:off x="9200507" y="4021626"/>
            <a:ext cx="2540131" cy="2425825"/>
          </a:xfrm>
          <a:prstGeom prst="rect">
            <a:avLst/>
          </a:prstGeom>
        </p:spPr>
      </p:pic>
      <p:pic>
        <p:nvPicPr>
          <p:cNvPr id="32" name="Picture 31" descr="A $1, 20c coin and 5 c coin.">
            <a:extLst>
              <a:ext uri="{FF2B5EF4-FFF2-40B4-BE49-F238E27FC236}">
                <a16:creationId xmlns:a16="http://schemas.microsoft.com/office/drawing/2014/main" id="{4271C788-7224-8518-A239-B450F87B1AD3}"/>
              </a:ext>
            </a:extLst>
          </p:cNvPr>
          <p:cNvPicPr>
            <a:picLocks noChangeAspect="1"/>
          </p:cNvPicPr>
          <p:nvPr/>
        </p:nvPicPr>
        <p:blipFill>
          <a:blip r:embed="rId6"/>
          <a:stretch>
            <a:fillRect/>
          </a:stretch>
        </p:blipFill>
        <p:spPr>
          <a:xfrm>
            <a:off x="940325" y="4170462"/>
            <a:ext cx="2019404" cy="1759040"/>
          </a:xfrm>
          <a:prstGeom prst="rect">
            <a:avLst/>
          </a:prstGeom>
        </p:spPr>
      </p:pic>
      <p:pic>
        <p:nvPicPr>
          <p:cNvPr id="34" name="Picture 33" descr="A 50c coin and two 20c coins.">
            <a:extLst>
              <a:ext uri="{FF2B5EF4-FFF2-40B4-BE49-F238E27FC236}">
                <a16:creationId xmlns:a16="http://schemas.microsoft.com/office/drawing/2014/main" id="{1A13F89D-0FFE-B9F7-A25E-85ED4A6028D3}"/>
              </a:ext>
            </a:extLst>
          </p:cNvPr>
          <p:cNvPicPr>
            <a:picLocks noChangeAspect="1"/>
          </p:cNvPicPr>
          <p:nvPr/>
        </p:nvPicPr>
        <p:blipFill>
          <a:blip r:embed="rId7"/>
          <a:stretch>
            <a:fillRect/>
          </a:stretch>
        </p:blipFill>
        <p:spPr>
          <a:xfrm>
            <a:off x="3546984" y="4021626"/>
            <a:ext cx="2330570" cy="2235315"/>
          </a:xfrm>
          <a:prstGeom prst="rect">
            <a:avLst/>
          </a:prstGeom>
        </p:spPr>
      </p:pic>
      <p:pic>
        <p:nvPicPr>
          <p:cNvPr id="36" name="Picture 35" descr="A $1 coin, 20c coin and 10c coin.">
            <a:extLst>
              <a:ext uri="{FF2B5EF4-FFF2-40B4-BE49-F238E27FC236}">
                <a16:creationId xmlns:a16="http://schemas.microsoft.com/office/drawing/2014/main" id="{BCF70283-E51C-64CE-17A3-9AB1D6B887E9}"/>
              </a:ext>
            </a:extLst>
          </p:cNvPr>
          <p:cNvPicPr>
            <a:picLocks noChangeAspect="1"/>
          </p:cNvPicPr>
          <p:nvPr/>
        </p:nvPicPr>
        <p:blipFill>
          <a:blip r:embed="rId8"/>
          <a:stretch>
            <a:fillRect/>
          </a:stretch>
        </p:blipFill>
        <p:spPr>
          <a:xfrm>
            <a:off x="6464809" y="4005353"/>
            <a:ext cx="2178162" cy="1924149"/>
          </a:xfrm>
          <a:prstGeom prst="rect">
            <a:avLst/>
          </a:prstGeom>
        </p:spPr>
      </p:pic>
    </p:spTree>
    <p:extLst>
      <p:ext uri="{BB962C8B-B14F-4D97-AF65-F5344CB8AC3E}">
        <p14:creationId xmlns:p14="http://schemas.microsoft.com/office/powerpoint/2010/main" val="2587296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6D003-A4E1-6C79-39C9-DD7480171CB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564257-E1E2-824F-8760-4D6B13629D7D}"/>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3" name="Title 2">
            <a:extLst>
              <a:ext uri="{FF2B5EF4-FFF2-40B4-BE49-F238E27FC236}">
                <a16:creationId xmlns:a16="http://schemas.microsoft.com/office/drawing/2014/main" id="{94F93F38-DED3-104E-74E2-5CF3C63FE6B5}"/>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(25)</a:t>
            </a:r>
          </a:p>
        </p:txBody>
      </p:sp>
      <p:sp>
        <p:nvSpPr>
          <p:cNvPr id="11" name="Picture Placeholder 10">
            <a:extLst>
              <a:ext uri="{FF2B5EF4-FFF2-40B4-BE49-F238E27FC236}">
                <a16:creationId xmlns:a16="http://schemas.microsoft.com/office/drawing/2014/main" id="{14953E99-C2CF-6649-834F-70C7B2BB2727}"/>
              </a:ext>
            </a:extLst>
          </p:cNvPr>
          <p:cNvSpPr>
            <a:spLocks noGrp="1"/>
          </p:cNvSpPr>
          <p:nvPr>
            <p:ph type="pic" sz="quarter" idx="21"/>
          </p:nvPr>
        </p:nvSpPr>
        <p:spPr>
          <a:xfrm>
            <a:off x="359999" y="2147754"/>
            <a:ext cx="11189376" cy="4168875"/>
          </a:xfrm>
        </p:spPr>
        <p:txBody>
          <a:bodyPr/>
          <a:lstStyle/>
          <a:p>
            <a:pPr algn="ctr"/>
            <a:r>
              <a:rPr lang="en-US" sz="4400" dirty="0">
                <a:latin typeface="Arial"/>
                <a:cs typeface="Arial"/>
              </a:rPr>
              <a:t>How many ways can you </a:t>
            </a:r>
            <a:r>
              <a:rPr lang="en-US" sz="4400" b="1" dirty="0">
                <a:latin typeface="Arial"/>
                <a:cs typeface="Arial"/>
              </a:rPr>
              <a:t>represent</a:t>
            </a:r>
            <a:r>
              <a:rPr lang="en-US" sz="4400" dirty="0">
                <a:latin typeface="Arial"/>
                <a:cs typeface="Arial"/>
              </a:rPr>
              <a:t> 0.5 as a </a:t>
            </a:r>
            <a:r>
              <a:rPr lang="en-US" sz="4400" b="1" dirty="0">
                <a:latin typeface="Arial"/>
                <a:cs typeface="Arial"/>
              </a:rPr>
              <a:t>fraction</a:t>
            </a:r>
            <a:r>
              <a:rPr lang="en-US" sz="4400" dirty="0">
                <a:latin typeface="Arial"/>
                <a:cs typeface="Arial"/>
              </a:rPr>
              <a:t>? </a:t>
            </a:r>
            <a:endParaRPr lang="en-US" sz="4400" dirty="0"/>
          </a:p>
          <a:p>
            <a:pPr algn="ct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5FAE436-B457-B242-028B-06CF5AF471B5}"/>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700567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(26)</a:t>
            </a:r>
          </a:p>
        </p:txBody>
      </p:sp>
      <p:sp>
        <p:nvSpPr>
          <p:cNvPr id="11" name="Picture Placeholder 10">
            <a:extLst>
              <a:ext uri="{FF2B5EF4-FFF2-40B4-BE49-F238E27FC236}">
                <a16:creationId xmlns:a16="http://schemas.microsoft.com/office/drawing/2014/main" id="{21E9C82F-FE72-F379-EE54-EC40C9DE00C1}"/>
              </a:ext>
            </a:extLst>
          </p:cNvPr>
          <p:cNvSpPr>
            <a:spLocks noGrp="1"/>
          </p:cNvSpPr>
          <p:nvPr>
            <p:ph type="pic" sz="quarter" idx="21"/>
          </p:nvPr>
        </p:nvSpPr>
        <p:spPr>
          <a:xfrm>
            <a:off x="392198" y="1465167"/>
            <a:ext cx="11210840" cy="4769889"/>
          </a:xfrm>
        </p:spPr>
        <p:txBody>
          <a:bodyPr/>
          <a:lstStyle/>
          <a:p>
            <a:pPr algn="ctr"/>
            <a:r>
              <a:rPr lang="en-AU" sz="4000" dirty="0"/>
              <a:t>Lucy has $45 saved up for her birthday. She wants to buy a new book that costs $18 and a toy that costs $22. If she buys both, </a:t>
            </a:r>
            <a:r>
              <a:rPr lang="en-AU" sz="4000" b="1" dirty="0"/>
              <a:t>how much </a:t>
            </a:r>
            <a:r>
              <a:rPr lang="en-AU" sz="4000" dirty="0"/>
              <a:t>money will she have </a:t>
            </a:r>
            <a:r>
              <a:rPr lang="en-AU" sz="4000" b="1" dirty="0"/>
              <a:t>left</a:t>
            </a:r>
            <a:r>
              <a:rPr lang="en-AU" sz="4000" dirty="0"/>
              <a:t>? </a:t>
            </a:r>
            <a:endParaRPr lang="en-US" sz="48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03DE4DA9-4B9A-92DD-CA74-B2C1DDF4FB03}"/>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(27)</a:t>
            </a:r>
          </a:p>
        </p:txBody>
      </p:sp>
      <p:sp>
        <p:nvSpPr>
          <p:cNvPr id="11" name="Picture Placeholder 10">
            <a:extLst>
              <a:ext uri="{FF2B5EF4-FFF2-40B4-BE49-F238E27FC236}">
                <a16:creationId xmlns:a16="http://schemas.microsoft.com/office/drawing/2014/main" id="{AA232421-C8EE-55E7-3B48-FB94C1F70903}"/>
              </a:ext>
            </a:extLst>
          </p:cNvPr>
          <p:cNvSpPr>
            <a:spLocks noGrp="1"/>
          </p:cNvSpPr>
          <p:nvPr>
            <p:ph type="pic" sz="quarter" idx="21"/>
          </p:nvPr>
        </p:nvSpPr>
        <p:spPr>
          <a:xfrm>
            <a:off x="367089" y="1829207"/>
            <a:ext cx="11235949" cy="4357856"/>
          </a:xfrm>
        </p:spPr>
        <p:txBody>
          <a:bodyPr/>
          <a:lstStyle/>
          <a:p>
            <a:pPr algn="ctr"/>
            <a:r>
              <a:rPr lang="en-AU" sz="4400" dirty="0">
                <a:latin typeface="Arial"/>
                <a:cs typeface="Arial"/>
              </a:rPr>
              <a:t>A watermelon weighs over 1 kilogram. </a:t>
            </a:r>
            <a:endParaRPr lang="en-US" sz="4400" dirty="0">
              <a:latin typeface="Arial"/>
              <a:cs typeface="Arial"/>
            </a:endParaRPr>
          </a:p>
          <a:p>
            <a:pPr algn="ctr"/>
            <a:r>
              <a:rPr lang="en-AU" sz="4400">
                <a:latin typeface="Arial"/>
                <a:cs typeface="Arial"/>
              </a:rPr>
              <a:t>How might you </a:t>
            </a:r>
            <a:r>
              <a:rPr lang="en-AU" sz="4400" b="1" dirty="0">
                <a:latin typeface="Arial"/>
                <a:cs typeface="Arial"/>
              </a:rPr>
              <a:t>record a mass </a:t>
            </a:r>
            <a:r>
              <a:rPr lang="en-AU" sz="4400" dirty="0">
                <a:latin typeface="Arial"/>
                <a:cs typeface="Arial"/>
              </a:rPr>
              <a:t>using a combination</a:t>
            </a:r>
            <a:r>
              <a:rPr lang="en-AU" sz="4400" b="1" dirty="0">
                <a:latin typeface="Arial"/>
                <a:cs typeface="Arial"/>
              </a:rPr>
              <a:t> of kilograms and grams</a:t>
            </a:r>
            <a:r>
              <a:rPr lang="en-AU" sz="4400" dirty="0">
                <a:latin typeface="Arial"/>
                <a:cs typeface="Arial"/>
              </a:rPr>
              <a:t>?</a:t>
            </a:r>
            <a:endParaRPr lang="en-US" sz="4400"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1E63D2BF-38DB-BA0C-BA80-947F471E806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(28)</a:t>
            </a:r>
          </a:p>
        </p:txBody>
      </p:sp>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622428" y="1419140"/>
            <a:ext cx="11221572" cy="2730735"/>
          </a:xfrm>
        </p:spPr>
        <p:txBody>
          <a:bodyPr/>
          <a:lstStyle/>
          <a:p>
            <a:r>
              <a:rPr lang="en-AU" sz="4000" b="1" dirty="0"/>
              <a:t>Describe</a:t>
            </a:r>
            <a:r>
              <a:rPr lang="en-AU" sz="4000" dirty="0"/>
              <a:t> these </a:t>
            </a:r>
            <a:r>
              <a:rPr lang="en-AU" sz="4000" b="1" dirty="0"/>
              <a:t>angles</a:t>
            </a:r>
            <a:r>
              <a:rPr lang="en-AU" sz="4000" dirty="0"/>
              <a:t> as </a:t>
            </a:r>
            <a:r>
              <a:rPr lang="en-AU" sz="4000" i="1" dirty="0"/>
              <a:t>less than</a:t>
            </a:r>
            <a:r>
              <a:rPr lang="en-AU" sz="4000" dirty="0"/>
              <a:t>, </a:t>
            </a:r>
            <a:r>
              <a:rPr lang="en-AU" sz="4000" i="1" dirty="0"/>
              <a:t>equal to</a:t>
            </a:r>
            <a:r>
              <a:rPr lang="en-AU" sz="4000" dirty="0"/>
              <a:t>, </a:t>
            </a:r>
            <a:r>
              <a:rPr lang="en-AU" sz="4000" i="1" dirty="0"/>
              <a:t>about the same as</a:t>
            </a:r>
            <a:r>
              <a:rPr lang="en-AU" sz="4000" dirty="0"/>
              <a:t> or </a:t>
            </a:r>
            <a:r>
              <a:rPr lang="en-AU" sz="4000" i="1" dirty="0"/>
              <a:t>greater than</a:t>
            </a:r>
            <a:r>
              <a:rPr lang="en-AU" sz="4000" dirty="0"/>
              <a:t> a right angle.</a:t>
            </a:r>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4B75951C-A82E-F9E5-67E0-9214B5EB3E99}"/>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3 angles- an acute, and two reflex angles.">
            <a:extLst>
              <a:ext uri="{FF2B5EF4-FFF2-40B4-BE49-F238E27FC236}">
                <a16:creationId xmlns:a16="http://schemas.microsoft.com/office/drawing/2014/main" id="{90A509F3-D184-4C67-D894-CFF9D383286B}"/>
              </a:ext>
            </a:extLst>
          </p:cNvPr>
          <p:cNvPicPr>
            <a:picLocks noChangeAspect="1"/>
          </p:cNvPicPr>
          <p:nvPr/>
        </p:nvPicPr>
        <p:blipFill>
          <a:blip r:embed="rId4"/>
          <a:stretch>
            <a:fillRect/>
          </a:stretch>
        </p:blipFill>
        <p:spPr>
          <a:xfrm>
            <a:off x="2007026" y="4014894"/>
            <a:ext cx="8177948" cy="2483106"/>
          </a:xfrm>
          <a:prstGeom prst="rect">
            <a:avLst/>
          </a:prstGeom>
        </p:spPr>
      </p:pic>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5D3A7-17FF-65A0-44C6-6E942484B4E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165E59-9081-D946-89B4-58D974837E87}"/>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3" name="Title 2">
            <a:extLst>
              <a:ext uri="{FF2B5EF4-FFF2-40B4-BE49-F238E27FC236}">
                <a16:creationId xmlns:a16="http://schemas.microsoft.com/office/drawing/2014/main" id="{D13D7C1F-789B-7D73-F121-35B630853D46}"/>
              </a:ext>
            </a:extLst>
          </p:cNvPr>
          <p:cNvSpPr>
            <a:spLocks noGrp="1"/>
          </p:cNvSpPr>
          <p:nvPr>
            <p:ph type="title"/>
          </p:nvPr>
        </p:nvSpPr>
        <p:spPr/>
        <p:txBody>
          <a:bodyPr/>
          <a:lstStyle/>
          <a:p>
            <a:r>
              <a:rPr lang="en-AU"/>
              <a:t>Activity 7 – calculations with money</a:t>
            </a:r>
          </a:p>
        </p:txBody>
      </p:sp>
      <p:pic>
        <p:nvPicPr>
          <p:cNvPr id="4" name="Picture 3" descr="A canteen menu with the following items and costs: Fruit box= $2.50, Water= $1, Ice cream= $3.50, Fruit salad= $1.25, Sausage roll= $2.25, Soup= $2.00, Yoghurt= $1.00, Pancake= 20 cents, Wrap= $3.50, Salad= $1.25, Sandwich= $3.75, Apple= 50 cents, Sushi= $2.50, Smoothie= $2.20, Baklava= 50 cents, Jelly= $1.50.">
            <a:extLst>
              <a:ext uri="{FF2B5EF4-FFF2-40B4-BE49-F238E27FC236}">
                <a16:creationId xmlns:a16="http://schemas.microsoft.com/office/drawing/2014/main" id="{B872D3A5-71E5-C0C9-EBF2-786AD7576CC5}"/>
              </a:ext>
            </a:extLst>
          </p:cNvPr>
          <p:cNvPicPr>
            <a:picLocks noChangeAspect="1"/>
          </p:cNvPicPr>
          <p:nvPr/>
        </p:nvPicPr>
        <p:blipFill>
          <a:blip r:embed="rId3"/>
          <a:stretch>
            <a:fillRect/>
          </a:stretch>
        </p:blipFill>
        <p:spPr>
          <a:xfrm>
            <a:off x="3345366" y="722355"/>
            <a:ext cx="5533294" cy="6314065"/>
          </a:xfrm>
          <a:prstGeom prst="rect">
            <a:avLst/>
          </a:prstGeom>
        </p:spPr>
      </p:pic>
      <p:pic>
        <p:nvPicPr>
          <p:cNvPr id="7170" name="Picture 2" descr="image of a head with cogs turning inside">
            <a:extLst>
              <a:ext uri="{FF2B5EF4-FFF2-40B4-BE49-F238E27FC236}">
                <a16:creationId xmlns:a16="http://schemas.microsoft.com/office/drawing/2014/main" id="{849C60FF-57E4-F115-6B7C-979BE0EE31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3114" y="204175"/>
            <a:ext cx="723900" cy="85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443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dirty="0"/>
              <a:t>True or false </a:t>
            </a:r>
            <a:r>
              <a:rPr lang="en-US" dirty="0">
                <a:solidFill>
                  <a:schemeClr val="bg1"/>
                </a:solidFill>
              </a:rPr>
              <a:t>(4)(1)</a:t>
            </a:r>
          </a:p>
        </p:txBody>
      </p:sp>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314027" y="1279509"/>
            <a:ext cx="11217725" cy="4220884"/>
          </a:xfrm>
        </p:spPr>
        <p:txBody>
          <a:bodyPr vert="horz" lIns="0" tIns="0" rIns="0" bIns="0" rtlCol="0" anchor="t">
            <a:noAutofit/>
          </a:bodyPr>
          <a:lstStyle/>
          <a:p>
            <a:pPr algn="ctr"/>
            <a:r>
              <a:rPr lang="en-US" sz="3600" dirty="0">
                <a:latin typeface="Arial"/>
                <a:cs typeface="Arial"/>
              </a:rPr>
              <a:t>Leon and Tobi were </a:t>
            </a:r>
            <a:r>
              <a:rPr lang="en-US" sz="3600" b="1" dirty="0">
                <a:latin typeface="Arial"/>
                <a:cs typeface="Arial"/>
              </a:rPr>
              <a:t>counting their change</a:t>
            </a:r>
            <a:r>
              <a:rPr lang="en-US" sz="3600" dirty="0">
                <a:latin typeface="Arial"/>
                <a:cs typeface="Arial"/>
              </a:rPr>
              <a:t>.</a:t>
            </a:r>
            <a:br>
              <a:rPr lang="en-US" sz="3600" dirty="0">
                <a:latin typeface="Arial"/>
                <a:cs typeface="Arial"/>
              </a:rPr>
            </a:br>
            <a:r>
              <a:rPr lang="en-US" sz="3600" dirty="0">
                <a:latin typeface="Arial"/>
                <a:cs typeface="Arial"/>
              </a:rPr>
              <a:t> Tobi said, “I had $5 and purchased an ice-block for $3.75. I have $1.75 left.”</a:t>
            </a:r>
            <a:br>
              <a:rPr lang="en-US" sz="3600" dirty="0">
                <a:latin typeface="Arial"/>
                <a:cs typeface="Arial"/>
              </a:rPr>
            </a:br>
            <a:r>
              <a:rPr lang="en-US" sz="3600" dirty="0">
                <a:latin typeface="Arial"/>
                <a:cs typeface="Arial"/>
              </a:rPr>
              <a:t> Leon shook his head and said, “That can’t be right!”</a:t>
            </a:r>
          </a:p>
          <a:p>
            <a:pPr algn="ctr"/>
            <a:r>
              <a:rPr lang="en-US" sz="3600" b="1" dirty="0">
                <a:latin typeface="Arial"/>
                <a:cs typeface="Arial"/>
              </a:rPr>
              <a:t>Is Tobi's statement true or false?</a:t>
            </a:r>
            <a:endParaRPr lang="en-US" sz="3600" b="1" dirty="0"/>
          </a:p>
        </p:txBody>
      </p:sp>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3532031224"/>
              </p:ext>
            </p:extLst>
          </p:nvPr>
        </p:nvGraphicFramePr>
        <p:xfrm>
          <a:off x="2442981" y="563735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75557DD5-EF65-9FF3-3C88-C4692F9C2F2F}"/>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(29)</a:t>
            </a:r>
          </a:p>
        </p:txBody>
      </p:sp>
      <p:sp>
        <p:nvSpPr>
          <p:cNvPr id="11" name="Picture Placeholder 10">
            <a:extLst>
              <a:ext uri="{FF2B5EF4-FFF2-40B4-BE49-F238E27FC236}">
                <a16:creationId xmlns:a16="http://schemas.microsoft.com/office/drawing/2014/main" id="{ACDE4623-0E37-0882-ACB4-C9EF952037E5}"/>
              </a:ext>
            </a:extLst>
          </p:cNvPr>
          <p:cNvSpPr>
            <a:spLocks noGrp="1"/>
          </p:cNvSpPr>
          <p:nvPr>
            <p:ph type="pic" sz="quarter" idx="21"/>
          </p:nvPr>
        </p:nvSpPr>
        <p:spPr>
          <a:xfrm>
            <a:off x="360000" y="1423183"/>
            <a:ext cx="11189376" cy="4168875"/>
          </a:xfrm>
        </p:spPr>
        <p:txBody>
          <a:bodyPr/>
          <a:lstStyle/>
          <a:p>
            <a:pPr algn="ctr"/>
            <a:r>
              <a:rPr lang="en-US" sz="4400" dirty="0">
                <a:latin typeface="Arial"/>
                <a:cs typeface="Arial"/>
              </a:rPr>
              <a:t> </a:t>
            </a:r>
            <a:r>
              <a:rPr lang="en-US" sz="4400" b="1" dirty="0">
                <a:latin typeface="Arial"/>
                <a:cs typeface="Arial"/>
              </a:rPr>
              <a:t>Describe</a:t>
            </a:r>
            <a:r>
              <a:rPr lang="en-US" sz="4400" dirty="0">
                <a:latin typeface="Arial"/>
                <a:cs typeface="Arial"/>
              </a:rPr>
              <a:t> where 0.75 would be </a:t>
            </a:r>
            <a:r>
              <a:rPr lang="en-US" sz="4400" b="1" dirty="0">
                <a:latin typeface="Arial"/>
                <a:cs typeface="Arial"/>
              </a:rPr>
              <a:t>placed</a:t>
            </a:r>
            <a:r>
              <a:rPr lang="en-US" sz="4400" dirty="0">
                <a:latin typeface="Arial"/>
                <a:cs typeface="Arial"/>
              </a:rPr>
              <a:t> on the </a:t>
            </a:r>
            <a:r>
              <a:rPr lang="en-US" sz="4400" b="1" dirty="0">
                <a:latin typeface="Arial"/>
                <a:cs typeface="Arial"/>
              </a:rPr>
              <a:t>number line</a:t>
            </a:r>
            <a:r>
              <a:rPr lang="en-US" sz="4400" dirty="0">
                <a:latin typeface="Arial"/>
                <a:cs typeface="Arial"/>
              </a:rPr>
              <a:t>.</a:t>
            </a:r>
            <a:endParaRPr lang="en-US" sz="4400" dirty="0"/>
          </a:p>
          <a:p>
            <a:pPr algn="ct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0B2658E5-897D-F102-F9BC-10C464CD9E8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A number line 0-1.">
            <a:extLst>
              <a:ext uri="{FF2B5EF4-FFF2-40B4-BE49-F238E27FC236}">
                <a16:creationId xmlns:a16="http://schemas.microsoft.com/office/drawing/2014/main" id="{8A8ED27E-EB29-89B9-A4E2-05C7010F0953}"/>
              </a:ext>
            </a:extLst>
          </p:cNvPr>
          <p:cNvPicPr>
            <a:picLocks noChangeAspect="1"/>
          </p:cNvPicPr>
          <p:nvPr/>
        </p:nvPicPr>
        <p:blipFill>
          <a:blip r:embed="rId4"/>
          <a:stretch>
            <a:fillRect/>
          </a:stretch>
        </p:blipFill>
        <p:spPr>
          <a:xfrm rot="16200000">
            <a:off x="5473276" y="748769"/>
            <a:ext cx="1489338" cy="6858000"/>
          </a:xfrm>
          <a:prstGeom prst="rect">
            <a:avLst/>
          </a:prstGeom>
        </p:spPr>
      </p:pic>
      <p:sp>
        <p:nvSpPr>
          <p:cNvPr id="5" name="TextBox 4">
            <a:extLst>
              <a:ext uri="{FF2B5EF4-FFF2-40B4-BE49-F238E27FC236}">
                <a16:creationId xmlns:a16="http://schemas.microsoft.com/office/drawing/2014/main" id="{5DDA5427-51C3-CCD4-4891-E2C01D14AAC0}"/>
              </a:ext>
            </a:extLst>
          </p:cNvPr>
          <p:cNvSpPr txBox="1"/>
          <p:nvPr/>
        </p:nvSpPr>
        <p:spPr>
          <a:xfrm>
            <a:off x="3252952" y="5565228"/>
            <a:ext cx="12176233"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400" b="1" dirty="0">
                <a:cs typeface="Arial"/>
              </a:rPr>
              <a:t>Explain</a:t>
            </a:r>
            <a:r>
              <a:rPr lang="en-US" sz="4400" dirty="0">
                <a:cs typeface="Arial"/>
              </a:rPr>
              <a:t> your </a:t>
            </a:r>
            <a:r>
              <a:rPr lang="en-US" sz="4400" b="1" dirty="0">
                <a:cs typeface="Arial"/>
              </a:rPr>
              <a:t>reasoning</a:t>
            </a:r>
            <a:r>
              <a:rPr lang="en-US" sz="4400" dirty="0">
                <a:cs typeface="Arial"/>
              </a:rPr>
              <a:t>.</a:t>
            </a:r>
          </a:p>
        </p:txBody>
      </p:sp>
    </p:spTree>
    <p:extLst>
      <p:ext uri="{BB962C8B-B14F-4D97-AF65-F5344CB8AC3E}">
        <p14:creationId xmlns:p14="http://schemas.microsoft.com/office/powerpoint/2010/main" val="1770606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49BC38-5AE6-D002-8CF1-C81FA6A0F702}"/>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(30)</a:t>
            </a:r>
          </a:p>
        </p:txBody>
      </p:sp>
      <p:sp>
        <p:nvSpPr>
          <p:cNvPr id="11" name="Picture Placeholder 10">
            <a:extLst>
              <a:ext uri="{FF2B5EF4-FFF2-40B4-BE49-F238E27FC236}">
                <a16:creationId xmlns:a16="http://schemas.microsoft.com/office/drawing/2014/main" id="{FF54730D-1797-6F6B-C3B2-591C858320E8}"/>
              </a:ext>
            </a:extLst>
          </p:cNvPr>
          <p:cNvSpPr>
            <a:spLocks noGrp="1"/>
          </p:cNvSpPr>
          <p:nvPr>
            <p:ph type="pic" sz="quarter" idx="21"/>
          </p:nvPr>
        </p:nvSpPr>
        <p:spPr>
          <a:xfrm>
            <a:off x="501312" y="1514708"/>
            <a:ext cx="11189376" cy="4168875"/>
          </a:xfrm>
        </p:spPr>
        <p:txBody>
          <a:bodyPr/>
          <a:lstStyle/>
          <a:p>
            <a:pPr algn="ctr"/>
            <a:r>
              <a:rPr lang="en-AU" sz="4000" dirty="0"/>
              <a:t>Tom has a budget of $67 to spend on supplies for a school project. He buys a set of markers for $15.75 and a pack of paper for $10.23. </a:t>
            </a:r>
          </a:p>
          <a:p>
            <a:pPr algn="ctr"/>
            <a:r>
              <a:rPr lang="en-AU" sz="4000" b="1" dirty="0"/>
              <a:t>How much </a:t>
            </a:r>
            <a:r>
              <a:rPr lang="en-AU" sz="4000" dirty="0"/>
              <a:t>money does Tom have</a:t>
            </a:r>
            <a:r>
              <a:rPr lang="en-AU" sz="4000" b="1" dirty="0"/>
              <a:t> left </a:t>
            </a:r>
            <a:r>
              <a:rPr lang="en-AU" sz="4000" dirty="0"/>
              <a:t>for other supplies? </a:t>
            </a:r>
            <a:endParaRPr lang="en-US" sz="4000"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2A2578A1-ADBB-72FE-B090-2577A9392D24}"/>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(31)</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D23D2566-41DB-141E-5859-22E86591C65C}"/>
                  </a:ext>
                </a:extLst>
              </p:cNvPr>
              <p:cNvSpPr>
                <a:spLocks noGrp="1"/>
              </p:cNvSpPr>
              <p:nvPr>
                <p:ph type="pic" sz="quarter" idx="21"/>
              </p:nvPr>
            </p:nvSpPr>
            <p:spPr>
              <a:xfrm>
                <a:off x="474481" y="1735030"/>
                <a:ext cx="11243037" cy="3056398"/>
              </a:xfrm>
            </p:spPr>
            <p:txBody>
              <a:bodyPr/>
              <a:lstStyle/>
              <a:p>
                <a:pPr algn="ctr" fontAlgn="t"/>
                <a:r>
                  <a:rPr lang="en-US" sz="4400" dirty="0">
                    <a:latin typeface="Arial"/>
                    <a:cs typeface="Arial"/>
                  </a:rPr>
                  <a:t>What </a:t>
                </a:r>
                <a:r>
                  <a:rPr lang="en-US" sz="4400" dirty="0">
                    <a:latin typeface="+mn-lt"/>
                  </a:rPr>
                  <a:t>is </a:t>
                </a:r>
                <a14:m>
                  <m:oMath xmlns:m="http://schemas.openxmlformats.org/officeDocument/2006/math">
                    <m:f>
                      <m:fPr>
                        <m:ctrlPr>
                          <a:rPr lang="en-US" sz="4400" i="1" smtClean="0">
                            <a:latin typeface="Cambria Math" panose="02040503050406030204" pitchFamily="18" charset="0"/>
                            <a:cs typeface="Arial"/>
                          </a:rPr>
                        </m:ctrlPr>
                      </m:fPr>
                      <m:num>
                        <m:r>
                          <a:rPr lang="en-AU" sz="4400" b="0" i="1" smtClean="0">
                            <a:latin typeface="Cambria Math" panose="02040503050406030204" pitchFamily="18" charset="0"/>
                            <a:cs typeface="Arial"/>
                          </a:rPr>
                          <m:t>1</m:t>
                        </m:r>
                      </m:num>
                      <m:den>
                        <m:r>
                          <a:rPr lang="en-AU" sz="4400" b="0" i="1" smtClean="0">
                            <a:latin typeface="Cambria Math" panose="02040503050406030204" pitchFamily="18" charset="0"/>
                            <a:cs typeface="Arial"/>
                          </a:rPr>
                          <m:t>2</m:t>
                        </m:r>
                      </m:den>
                    </m:f>
                  </m:oMath>
                </a14:m>
                <a:r>
                  <a:rPr lang="en-US" sz="4400" dirty="0">
                    <a:latin typeface="+mn-lt"/>
                  </a:rPr>
                  <a:t>, </a:t>
                </a:r>
                <a14:m>
                  <m:oMath xmlns:m="http://schemas.openxmlformats.org/officeDocument/2006/math">
                    <m:f>
                      <m:fPr>
                        <m:ctrlPr>
                          <a:rPr lang="en-US" sz="4400" i="1" smtClean="0">
                            <a:latin typeface="Cambria Math" panose="02040503050406030204" pitchFamily="18" charset="0"/>
                            <a:cs typeface="Arial"/>
                          </a:rPr>
                        </m:ctrlPr>
                      </m:fPr>
                      <m:num>
                        <m:r>
                          <a:rPr lang="en-AU" sz="4400" b="0" i="1" smtClean="0">
                            <a:latin typeface="Cambria Math" panose="02040503050406030204" pitchFamily="18" charset="0"/>
                            <a:cs typeface="Arial"/>
                          </a:rPr>
                          <m:t>1</m:t>
                        </m:r>
                      </m:num>
                      <m:den>
                        <m:r>
                          <a:rPr lang="en-AU" sz="4400" b="0" i="1" smtClean="0">
                            <a:latin typeface="Cambria Math" panose="02040503050406030204" pitchFamily="18" charset="0"/>
                            <a:cs typeface="Arial"/>
                          </a:rPr>
                          <m:t>4</m:t>
                        </m:r>
                      </m:den>
                    </m:f>
                  </m:oMath>
                </a14:m>
                <a:r>
                  <a:rPr lang="en-US" sz="4400" dirty="0">
                    <a:latin typeface="+mn-lt"/>
                  </a:rPr>
                  <a:t> and </a:t>
                </a:r>
                <a14:m>
                  <m:oMath xmlns:m="http://schemas.openxmlformats.org/officeDocument/2006/math">
                    <m:f>
                      <m:fPr>
                        <m:ctrlPr>
                          <a:rPr lang="en-AU" sz="4400" i="1" smtClean="0">
                            <a:latin typeface="Cambria Math" panose="02040503050406030204" pitchFamily="18" charset="0"/>
                          </a:rPr>
                        </m:ctrlPr>
                      </m:fPr>
                      <m:num>
                        <m:r>
                          <a:rPr lang="en-AU" sz="4400" b="0" i="1" smtClean="0">
                            <a:latin typeface="Cambria Math" panose="02040503050406030204" pitchFamily="18" charset="0"/>
                          </a:rPr>
                          <m:t>3</m:t>
                        </m:r>
                      </m:num>
                      <m:den>
                        <m:r>
                          <a:rPr lang="en-AU" sz="4400" b="0" i="1" smtClean="0">
                            <a:latin typeface="Cambria Math" panose="02040503050406030204" pitchFamily="18" charset="0"/>
                          </a:rPr>
                          <m:t>4</m:t>
                        </m:r>
                      </m:den>
                    </m:f>
                  </m:oMath>
                </a14:m>
                <a:r>
                  <a:rPr lang="en-AU" sz="4400" dirty="0">
                    <a:latin typeface="+mn-lt"/>
                  </a:rPr>
                  <a:t> of a kilogram</a:t>
                </a:r>
                <a:r>
                  <a:rPr lang="en-AU" sz="4400" dirty="0"/>
                  <a:t>? </a:t>
                </a:r>
              </a:p>
              <a:p>
                <a:pPr algn="ctr" fontAlgn="t"/>
                <a:r>
                  <a:rPr lang="en-AU" sz="4400" b="1" dirty="0"/>
                  <a:t>Record</a:t>
                </a:r>
                <a:r>
                  <a:rPr lang="en-AU" sz="4400" dirty="0"/>
                  <a:t> your responses in </a:t>
                </a:r>
                <a:r>
                  <a:rPr lang="en-AU" sz="4400" b="1" dirty="0"/>
                  <a:t>grams</a:t>
                </a:r>
                <a:r>
                  <a:rPr lang="en-AU" sz="4400" dirty="0"/>
                  <a:t>.</a:t>
                </a:r>
              </a:p>
              <a:p>
                <a:pPr algn="ctr"/>
                <a:endParaRPr lang="en-US" sz="4400" dirty="0"/>
              </a:p>
              <a:p>
                <a:pPr algn="ctr"/>
                <a:endParaRPr lang="en-US" sz="4400" dirty="0">
                  <a:latin typeface="Arial"/>
                  <a:cs typeface="Arial"/>
                </a:endParaRPr>
              </a:p>
            </p:txBody>
          </p:sp>
        </mc:Choice>
        <mc:Fallback xmlns="">
          <p:sp>
            <p:nvSpPr>
              <p:cNvPr id="11" name="Picture Placeholder 10">
                <a:extLst>
                  <a:ext uri="{FF2B5EF4-FFF2-40B4-BE49-F238E27FC236}">
                    <a16:creationId xmlns:a16="http://schemas.microsoft.com/office/drawing/2014/main" id="{D23D2566-41DB-141E-5859-22E86591C65C}"/>
                  </a:ext>
                </a:extLst>
              </p:cNvPr>
              <p:cNvSpPr>
                <a:spLocks noGrp="1" noRot="1" noChangeAspect="1" noMove="1" noResize="1" noEditPoints="1" noAdjustHandles="1" noChangeArrowheads="1" noChangeShapeType="1" noTextEdit="1"/>
              </p:cNvSpPr>
              <p:nvPr>
                <p:ph type="pic" sz="quarter" idx="21"/>
              </p:nvPr>
            </p:nvSpPr>
            <p:spPr>
              <a:xfrm>
                <a:off x="474481" y="1735030"/>
                <a:ext cx="11243037" cy="3056398"/>
              </a:xfrm>
              <a:blipFill>
                <a:blip r:embed="rId4"/>
                <a:stretch>
                  <a:fillRect/>
                </a:stretch>
              </a:blipFill>
            </p:spPr>
            <p:txBody>
              <a:bodyPr/>
              <a:lstStyle/>
              <a:p>
                <a:r>
                  <a:rPr lang="en-AU">
                    <a:noFill/>
                  </a:rPr>
                  <a:t> </a:t>
                </a:r>
              </a:p>
            </p:txBody>
          </p:sp>
        </mc:Fallback>
      </mc:AlternateContent>
      <p:pic>
        <p:nvPicPr>
          <p:cNvPr id="5" name="Picture 4" descr="image of a clipboard with a pencil recording short answer responses">
            <a:extLst>
              <a:ext uri="{FF2B5EF4-FFF2-40B4-BE49-F238E27FC236}">
                <a16:creationId xmlns:a16="http://schemas.microsoft.com/office/drawing/2014/main" id="{96D03F5E-A893-89A8-C765-B38394489A2E}"/>
              </a:ext>
            </a:extLst>
          </p:cNvPr>
          <p:cNvPicPr>
            <a:picLocks noChangeAspect="1"/>
          </p:cNvPicPr>
          <p:nvPr/>
        </p:nvPicPr>
        <p:blipFill>
          <a:blip r:embed="rId5"/>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5048-C70E-7453-F9E5-507985776F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2BE1B1-6CD9-10A7-4664-27A4D73F0617}"/>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3" name="Title 2">
            <a:extLst>
              <a:ext uri="{FF2B5EF4-FFF2-40B4-BE49-F238E27FC236}">
                <a16:creationId xmlns:a16="http://schemas.microsoft.com/office/drawing/2014/main" id="{484B6BC0-2F0C-F390-AAB1-BCCBF88DB5D1}"/>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(32)</a:t>
            </a:r>
          </a:p>
        </p:txBody>
      </p:sp>
      <p:sp>
        <p:nvSpPr>
          <p:cNvPr id="11" name="Picture Placeholder 10">
            <a:extLst>
              <a:ext uri="{FF2B5EF4-FFF2-40B4-BE49-F238E27FC236}">
                <a16:creationId xmlns:a16="http://schemas.microsoft.com/office/drawing/2014/main" id="{93746974-51C1-ECF2-342C-DE409734E1F1}"/>
              </a:ext>
            </a:extLst>
          </p:cNvPr>
          <p:cNvSpPr>
            <a:spLocks noGrp="1"/>
          </p:cNvSpPr>
          <p:nvPr>
            <p:ph type="pic" sz="quarter" idx="21"/>
          </p:nvPr>
        </p:nvSpPr>
        <p:spPr>
          <a:xfrm>
            <a:off x="506678" y="4524113"/>
            <a:ext cx="11178643" cy="1082232"/>
          </a:xfrm>
        </p:spPr>
        <p:txBody>
          <a:bodyPr/>
          <a:lstStyle/>
          <a:p>
            <a:pPr algn="ctr"/>
            <a:r>
              <a:rPr lang="en-US" sz="4400" b="1" dirty="0">
                <a:latin typeface="Arial"/>
                <a:cs typeface="Arial"/>
              </a:rPr>
              <a:t>Record </a:t>
            </a:r>
            <a:r>
              <a:rPr lang="en-US" sz="4400" dirty="0">
                <a:latin typeface="Arial"/>
                <a:cs typeface="Arial"/>
              </a:rPr>
              <a:t>these times using </a:t>
            </a:r>
            <a:r>
              <a:rPr lang="en-US" sz="4400" b="1" dirty="0">
                <a:latin typeface="Arial"/>
                <a:cs typeface="Arial"/>
              </a:rPr>
              <a:t>digital notation</a:t>
            </a:r>
            <a:r>
              <a:rPr lang="en-US" sz="4400" dirty="0">
                <a:latin typeface="Arial"/>
                <a:cs typeface="Arial"/>
              </a:rPr>
              <a:t>.</a:t>
            </a:r>
            <a:endParaRPr lang="en-US" sz="4400" dirty="0"/>
          </a:p>
          <a:p>
            <a:pPr algn="ct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FF091A0-BE16-4A35-B2E1-6ACE56F3AA88}"/>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3 analogue clocks, 4, 2:45 and 2:15.">
            <a:extLst>
              <a:ext uri="{FF2B5EF4-FFF2-40B4-BE49-F238E27FC236}">
                <a16:creationId xmlns:a16="http://schemas.microsoft.com/office/drawing/2014/main" id="{154A48D4-49A0-9C95-20C0-252D68B5383D}"/>
              </a:ext>
            </a:extLst>
          </p:cNvPr>
          <p:cNvPicPr>
            <a:picLocks noChangeAspect="1"/>
          </p:cNvPicPr>
          <p:nvPr/>
        </p:nvPicPr>
        <p:blipFill>
          <a:blip r:embed="rId4"/>
          <a:stretch>
            <a:fillRect/>
          </a:stretch>
        </p:blipFill>
        <p:spPr>
          <a:xfrm>
            <a:off x="2206425" y="1435266"/>
            <a:ext cx="7779150" cy="2559182"/>
          </a:xfrm>
          <a:prstGeom prst="rect">
            <a:avLst/>
          </a:prstGeom>
        </p:spPr>
      </p:pic>
    </p:spTree>
    <p:extLst>
      <p:ext uri="{BB962C8B-B14F-4D97-AF65-F5344CB8AC3E}">
        <p14:creationId xmlns:p14="http://schemas.microsoft.com/office/powerpoint/2010/main" val="211022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65017-9C19-C21F-DD31-C152A60D3C4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BCD23B-AAAB-6100-AC4A-620634545513}"/>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3" name="Title 2">
            <a:extLst>
              <a:ext uri="{FF2B5EF4-FFF2-40B4-BE49-F238E27FC236}">
                <a16:creationId xmlns:a16="http://schemas.microsoft.com/office/drawing/2014/main" id="{E2AD6DE2-D30E-CAA2-63E2-86060E40EFF6}"/>
              </a:ext>
            </a:extLst>
          </p:cNvPr>
          <p:cNvSpPr>
            <a:spLocks noGrp="1"/>
          </p:cNvSpPr>
          <p:nvPr>
            <p:ph type="title"/>
          </p:nvPr>
        </p:nvSpPr>
        <p:spPr/>
        <p:txBody>
          <a:bodyPr/>
          <a:lstStyle/>
          <a:p>
            <a:r>
              <a:rPr lang="en-AU"/>
              <a:t>Activity 8 – finding change</a:t>
            </a:r>
          </a:p>
        </p:txBody>
      </p:sp>
      <p:pic>
        <p:nvPicPr>
          <p:cNvPr id="5" name="Picture 4" descr="A canteen menu with the following items and costs: Fruit box= $2.50, Water= $1, Ice cream= $3.50, Fruit salad= $1.25, Sausage roll= $2.25, Soup= $2.00, Yoghurt= $1.00, Pancake= 20 cents, Wrap= $3.50, Salad= $1.25, Sandwich= $3.75, Apple= 50 cents, Sushi= $2.50, Smoothie= $2.20, Baklava= 50 cents, Jelly= $1.50.">
            <a:extLst>
              <a:ext uri="{FF2B5EF4-FFF2-40B4-BE49-F238E27FC236}">
                <a16:creationId xmlns:a16="http://schemas.microsoft.com/office/drawing/2014/main" id="{EE9901F9-1943-1840-EF4E-A9D9BEF7A367}"/>
              </a:ext>
            </a:extLst>
          </p:cNvPr>
          <p:cNvPicPr>
            <a:picLocks noChangeAspect="1"/>
          </p:cNvPicPr>
          <p:nvPr/>
        </p:nvPicPr>
        <p:blipFill>
          <a:blip r:embed="rId3"/>
          <a:stretch>
            <a:fillRect/>
          </a:stretch>
        </p:blipFill>
        <p:spPr>
          <a:xfrm>
            <a:off x="3287047" y="905601"/>
            <a:ext cx="4990020" cy="5790399"/>
          </a:xfrm>
          <a:prstGeom prst="rect">
            <a:avLst/>
          </a:prstGeom>
          <a:ln>
            <a:noFill/>
          </a:ln>
          <a:effectLst>
            <a:outerShdw blurRad="292100" dist="139700" dir="2700000" algn="tl" rotWithShape="0">
              <a:srgbClr val="333333">
                <a:alpha val="65000"/>
              </a:srgbClr>
            </a:outerShdw>
          </a:effectLst>
        </p:spPr>
      </p:pic>
      <p:pic>
        <p:nvPicPr>
          <p:cNvPr id="8194" name="Picture 2" descr="image of a head with cogs turning inside">
            <a:extLst>
              <a:ext uri="{FF2B5EF4-FFF2-40B4-BE49-F238E27FC236}">
                <a16:creationId xmlns:a16="http://schemas.microsoft.com/office/drawing/2014/main" id="{A421A7CF-406D-5B43-A2A5-22ECC64AC9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80964" y="204175"/>
            <a:ext cx="723900" cy="85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7431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 action="ppaction://noaction"/>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 action="ppaction://noaction"/>
            <a:extLst>
              <a:ext uri="{FF2B5EF4-FFF2-40B4-BE49-F238E27FC236}">
                <a16:creationId xmlns:a16="http://schemas.microsoft.com/office/drawing/2014/main" id="{B8B0DB6C-ED58-20DB-0EE1-4BC1C6B79D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dirty="0"/>
              <a:t>Multiple choice </a:t>
            </a:r>
            <a:r>
              <a:rPr lang="en-US" dirty="0">
                <a:solidFill>
                  <a:schemeClr val="bg1"/>
                </a:solidFill>
              </a:rPr>
              <a:t>(1)</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dirty="0"/>
              <a:t>Multiple choice </a:t>
            </a:r>
            <a:r>
              <a:rPr lang="en-US" dirty="0">
                <a:solidFill>
                  <a:schemeClr val="bg1"/>
                </a:solidFill>
              </a:rPr>
              <a:t>(2)</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8" name="Content Placeholder 3">
            <a:extLst>
              <a:ext uri="{FF2B5EF4-FFF2-40B4-BE49-F238E27FC236}">
                <a16:creationId xmlns:a16="http://schemas.microsoft.com/office/drawing/2014/main" id="{0E490E9E-83FC-9182-9A5B-7527FC249A49}"/>
              </a:ext>
            </a:extLst>
          </p:cNvPr>
          <p:cNvSpPr>
            <a:spLocks noGrp="1"/>
          </p:cNvSpPr>
          <p:nvPr>
            <p:ph idx="1"/>
          </p:nvPr>
        </p:nvSpPr>
        <p:spPr>
          <a:xfrm>
            <a:off x="323825" y="3291604"/>
            <a:ext cx="11484000" cy="3566396"/>
          </a:xfrm>
        </p:spPr>
        <p:txBody>
          <a:bodyPr/>
          <a:lstStyle/>
          <a:p>
            <a:pPr algn="l" rtl="0" fontAlgn="base">
              <a:lnSpc>
                <a:spcPts val="2850"/>
              </a:lnSpc>
              <a:buNone/>
            </a:pPr>
            <a:r>
              <a:rPr lang="en-AU" sz="1200" b="0" i="0" u="sng" strike="noStrike" dirty="0">
                <a:solidFill>
                  <a:srgbClr val="146CFD"/>
                </a:solidFill>
                <a:effectLst/>
                <a:latin typeface="Public Sans Light" pitchFamily="2" charset="0"/>
                <a:hlinkClick r:id="rId6"/>
              </a:rPr>
              <a:t>Mathematics K-10 Syllabus </a:t>
            </a:r>
            <a:r>
              <a:rPr lang="en-AU" sz="1200" b="0" i="0" u="none" strike="noStrike" dirty="0">
                <a:solidFill>
                  <a:srgbClr val="22272B"/>
                </a:solidFill>
                <a:effectLst/>
                <a:latin typeface="Public Sans Light" pitchFamily="2" charset="0"/>
              </a:rPr>
              <a:t>© Syllabus NSW Education Standards Authority (NESA) for and on behalf of the Crown in right of the State of New South Wales, 2022.</a:t>
            </a:r>
            <a:r>
              <a:rPr lang="en-US" sz="1200" b="0" i="0" dirty="0">
                <a:solidFill>
                  <a:srgbClr val="22272B"/>
                </a:solidFill>
                <a:effectLst/>
                <a:latin typeface="Public Sans Light" pitchFamily="2" charset="0"/>
              </a:rPr>
              <a:t>​</a:t>
            </a:r>
            <a:endParaRPr lang="en-US" b="0" i="0" dirty="0">
              <a:solidFill>
                <a:srgbClr val="22272B"/>
              </a:solidFill>
              <a:effectLst/>
              <a:latin typeface="Segoe UI" panose="020B0502040204020203" pitchFamily="34" charset="0"/>
            </a:endParaRPr>
          </a:p>
          <a:p>
            <a:pPr algn="l" rtl="0" fontAlgn="base">
              <a:lnSpc>
                <a:spcPts val="2850"/>
              </a:lnSpc>
              <a:buNone/>
            </a:pPr>
            <a:r>
              <a:rPr lang="en-AU" sz="1200" b="0" i="0" u="none" strike="noStrike" dirty="0">
                <a:solidFill>
                  <a:srgbClr val="22272B"/>
                </a:solidFill>
                <a:effectLst/>
                <a:latin typeface="Public Sans Light" pitchFamily="2" charset="0"/>
              </a:rPr>
              <a:t>Amplify Education (n.d.) </a:t>
            </a:r>
            <a:r>
              <a:rPr lang="en-AU" sz="1200" b="0" i="0" u="sng" strike="noStrike" dirty="0" err="1">
                <a:solidFill>
                  <a:srgbClr val="146CFD"/>
                </a:solidFill>
                <a:effectLst/>
                <a:latin typeface="Public Sans Light" pitchFamily="2" charset="0"/>
                <a:hlinkClick r:id="rId7"/>
              </a:rPr>
              <a:t>Polypad</a:t>
            </a:r>
            <a:r>
              <a:rPr lang="en-AU" sz="1200" b="0" i="0" u="none" strike="noStrike" dirty="0">
                <a:solidFill>
                  <a:srgbClr val="22272B"/>
                </a:solidFill>
                <a:effectLst/>
                <a:latin typeface="Public Sans Light" pitchFamily="2" charset="0"/>
              </a:rPr>
              <a:t>, Amplify website, accessed 29 February 2024.</a:t>
            </a:r>
            <a:r>
              <a:rPr lang="en-US" sz="1200" b="0" i="0" dirty="0">
                <a:solidFill>
                  <a:srgbClr val="22272B"/>
                </a:solidFill>
                <a:effectLst/>
                <a:latin typeface="Public Sans Light" pitchFamily="2" charset="0"/>
              </a:rPr>
              <a:t>​</a:t>
            </a:r>
            <a:endParaRPr lang="en-US" b="0" i="0" dirty="0">
              <a:solidFill>
                <a:srgbClr val="22272B"/>
              </a:solidFill>
              <a:effectLst/>
              <a:latin typeface="Segoe UI" panose="020B0502040204020203" pitchFamily="34" charset="0"/>
            </a:endParaRPr>
          </a:p>
          <a:p>
            <a:pPr algn="l" rtl="0" fontAlgn="base">
              <a:lnSpc>
                <a:spcPts val="2850"/>
              </a:lnSpc>
              <a:buNone/>
            </a:pPr>
            <a:r>
              <a:rPr lang="en-AU" sz="1200" b="0" i="0" u="none" strike="noStrike" dirty="0">
                <a:solidFill>
                  <a:srgbClr val="22272B"/>
                </a:solidFill>
                <a:effectLst/>
                <a:latin typeface="Public Sans Light" pitchFamily="2" charset="0"/>
              </a:rPr>
              <a:t>Commonwealth of Australia (2020) Classroom talk: Money Wall moments [PDF 275 KB], Mathematics Hub, accessed 29 February 2024.</a:t>
            </a:r>
            <a:r>
              <a:rPr lang="en-US" sz="1200" b="0" i="0" dirty="0">
                <a:solidFill>
                  <a:srgbClr val="22272B"/>
                </a:solidFill>
                <a:effectLst/>
                <a:latin typeface="Public Sans Light" pitchFamily="2" charset="0"/>
              </a:rPr>
              <a:t>​</a:t>
            </a:r>
            <a:endParaRPr lang="en-US" b="0" i="0" dirty="0">
              <a:solidFill>
                <a:srgbClr val="22272B"/>
              </a:solidFill>
              <a:effectLst/>
              <a:latin typeface="Segoe UI" panose="020B0502040204020203" pitchFamily="34" charset="0"/>
            </a:endParaRPr>
          </a:p>
          <a:p>
            <a:pPr algn="l" rtl="0" fontAlgn="base">
              <a:lnSpc>
                <a:spcPts val="2850"/>
              </a:lnSpc>
              <a:buNone/>
            </a:pPr>
            <a:r>
              <a:rPr lang="en-AU" sz="1200" b="0" i="0" u="none" strike="noStrike" dirty="0">
                <a:solidFill>
                  <a:srgbClr val="22272B"/>
                </a:solidFill>
                <a:effectLst/>
                <a:latin typeface="Public Sans Light" pitchFamily="2" charset="0"/>
              </a:rPr>
              <a:t>Commonwealth of Australia (2023) </a:t>
            </a:r>
            <a:r>
              <a:rPr lang="en-AU" sz="1200" b="0" i="0" u="sng" strike="noStrike" dirty="0">
                <a:solidFill>
                  <a:srgbClr val="146CFD"/>
                </a:solidFill>
                <a:effectLst/>
                <a:latin typeface="Public Sans Light" pitchFamily="2" charset="0"/>
                <a:hlinkClick r:id="rId8"/>
              </a:rPr>
              <a:t>Circulating coins</a:t>
            </a:r>
            <a:r>
              <a:rPr lang="en-AU" sz="1200" b="0" i="0" u="none" strike="noStrike" dirty="0">
                <a:solidFill>
                  <a:srgbClr val="22272B"/>
                </a:solidFill>
                <a:effectLst/>
                <a:latin typeface="Public Sans Light" pitchFamily="2" charset="0"/>
              </a:rPr>
              <a:t>, Australian Government (Royal Australian Mint) website, accessed 29 February 2024.</a:t>
            </a:r>
            <a:r>
              <a:rPr lang="en-US" sz="1200" b="0" i="0" dirty="0">
                <a:solidFill>
                  <a:srgbClr val="22272B"/>
                </a:solidFill>
                <a:effectLst/>
                <a:latin typeface="Public Sans Light" pitchFamily="2" charset="0"/>
              </a:rPr>
              <a:t>​</a:t>
            </a:r>
            <a:endParaRPr lang="en-US" b="0" i="0" dirty="0">
              <a:solidFill>
                <a:srgbClr val="22272B"/>
              </a:solidFill>
              <a:effectLst/>
              <a:latin typeface="Segoe UI" panose="020B0502040204020203" pitchFamily="34" charset="0"/>
            </a:endParaRPr>
          </a:p>
          <a:p>
            <a:pPr algn="l" rtl="0" fontAlgn="base">
              <a:lnSpc>
                <a:spcPts val="2850"/>
              </a:lnSpc>
              <a:buNone/>
            </a:pPr>
            <a:r>
              <a:rPr lang="en-AU" sz="1200" b="0" i="0" u="none" strike="noStrike" dirty="0">
                <a:solidFill>
                  <a:srgbClr val="22272B"/>
                </a:solidFill>
                <a:effectLst/>
                <a:latin typeface="Public Sans Light" pitchFamily="2" charset="0"/>
              </a:rPr>
              <a:t>Epstein M (5 November 2020, updated 5 June 2021) ‘</a:t>
            </a:r>
            <a:r>
              <a:rPr lang="en-AU" sz="1200" b="0" i="0" u="sng" strike="noStrike" dirty="0">
                <a:solidFill>
                  <a:srgbClr val="146CFD"/>
                </a:solidFill>
                <a:effectLst/>
                <a:latin typeface="Public Sans Light" pitchFamily="2" charset="0"/>
                <a:hlinkClick r:id="rId9"/>
              </a:rPr>
              <a:t>Exploring the Edges of Mathematical Ideas</a:t>
            </a:r>
            <a:r>
              <a:rPr lang="en-AU" sz="1200" b="0" i="0" u="none" strike="noStrike" dirty="0">
                <a:solidFill>
                  <a:srgbClr val="22272B"/>
                </a:solidFill>
                <a:effectLst/>
                <a:latin typeface="Public Sans Light" pitchFamily="2" charset="0"/>
              </a:rPr>
              <a:t>’, Mathematics Education, accessed 29 February 2024.</a:t>
            </a:r>
            <a:r>
              <a:rPr lang="en-US" sz="1200" b="0" i="0" dirty="0">
                <a:solidFill>
                  <a:srgbClr val="22272B"/>
                </a:solidFill>
                <a:effectLst/>
                <a:latin typeface="Public Sans Light" pitchFamily="2" charset="0"/>
              </a:rPr>
              <a:t>​</a:t>
            </a:r>
            <a:endParaRPr lang="en-US" b="0" i="0" dirty="0">
              <a:solidFill>
                <a:srgbClr val="22272B"/>
              </a:solidFill>
              <a:effectLst/>
              <a:latin typeface="Segoe UI" panose="020B0502040204020203" pitchFamily="34" charset="0"/>
            </a:endParaRPr>
          </a:p>
          <a:p>
            <a:pPr algn="l" rtl="0" fontAlgn="base">
              <a:lnSpc>
                <a:spcPts val="2850"/>
              </a:lnSpc>
              <a:buNone/>
            </a:pPr>
            <a:r>
              <a:rPr lang="en-AU" sz="1200" b="0" i="0" u="none" strike="noStrike" dirty="0">
                <a:solidFill>
                  <a:srgbClr val="22272B"/>
                </a:solidFill>
                <a:effectLst/>
                <a:latin typeface="Public Sans Light" pitchFamily="2" charset="0"/>
              </a:rPr>
              <a:t>Pierce R (2023) </a:t>
            </a:r>
            <a:r>
              <a:rPr lang="en-AU" sz="1200" b="0" i="0" u="sng" strike="noStrike" dirty="0">
                <a:solidFill>
                  <a:srgbClr val="146CFD"/>
                </a:solidFill>
                <a:effectLst/>
                <a:latin typeface="Public Sans Light" pitchFamily="2" charset="0"/>
                <a:hlinkClick r:id="rId10"/>
              </a:rPr>
              <a:t>Make the Amount</a:t>
            </a:r>
            <a:r>
              <a:rPr lang="en-AU" sz="1200" b="0" i="0" u="none" strike="noStrike" dirty="0">
                <a:solidFill>
                  <a:srgbClr val="22272B"/>
                </a:solidFill>
                <a:effectLst/>
                <a:latin typeface="Public Sans Light" pitchFamily="2" charset="0"/>
              </a:rPr>
              <a:t>, Math Is Fun website, accessed 29 February 2024.</a:t>
            </a:r>
            <a:r>
              <a:rPr lang="en-US" sz="1200" b="0" i="0" dirty="0">
                <a:solidFill>
                  <a:srgbClr val="22272B"/>
                </a:solidFill>
                <a:effectLst/>
                <a:latin typeface="Public Sans Light" pitchFamily="2" charset="0"/>
              </a:rPr>
              <a:t>​</a:t>
            </a:r>
            <a:endParaRPr lang="en-US" b="0" i="0" dirty="0">
              <a:solidFill>
                <a:srgbClr val="22272B"/>
              </a:solidFill>
              <a:effectLst/>
              <a:latin typeface="Segoe UI" panose="020B0502040204020203" pitchFamily="34" charset="0"/>
            </a:endParaRPr>
          </a:p>
          <a:p>
            <a:pPr algn="l" rtl="0" fontAlgn="base">
              <a:lnSpc>
                <a:spcPts val="2850"/>
              </a:lnSpc>
            </a:pPr>
            <a:r>
              <a:rPr lang="en-AU" sz="1200" b="0" i="0" u="none" strike="noStrike" dirty="0">
                <a:solidFill>
                  <a:srgbClr val="22272B"/>
                </a:solidFill>
                <a:effectLst/>
                <a:latin typeface="Public Sans Light" pitchFamily="2" charset="0"/>
              </a:rPr>
              <a:t>Reserve Bank of Australia (2012–2024) </a:t>
            </a:r>
            <a:r>
              <a:rPr lang="en-AU" sz="1200" b="0" i="0" u="sng" strike="noStrike" dirty="0">
                <a:solidFill>
                  <a:srgbClr val="146CFD"/>
                </a:solidFill>
                <a:effectLst/>
                <a:latin typeface="Public Sans Light" pitchFamily="2" charset="0"/>
                <a:hlinkClick r:id="rId11"/>
              </a:rPr>
              <a:t>Banknotes in Circulation</a:t>
            </a:r>
            <a:r>
              <a:rPr lang="en-AU" sz="1200" b="0" i="0" u="none" strike="noStrike" dirty="0">
                <a:solidFill>
                  <a:srgbClr val="22272B"/>
                </a:solidFill>
                <a:effectLst/>
                <a:latin typeface="Public Sans Light" pitchFamily="2" charset="0"/>
              </a:rPr>
              <a:t>, Reserve Bank of Australia website, accessed 29 February 2024.</a:t>
            </a:r>
            <a:endParaRPr lang="en-US" b="0" i="0" dirty="0">
              <a:solidFill>
                <a:srgbClr val="22272B"/>
              </a:solidFill>
              <a:effectLst/>
              <a:latin typeface="Segoe UI" panose="020B0502040204020203" pitchFamily="34" charset="0"/>
            </a:endParaRPr>
          </a:p>
        </p:txBody>
      </p:sp>
    </p:spTree>
    <p:extLst>
      <p:ext uri="{BB962C8B-B14F-4D97-AF65-F5344CB8AC3E}">
        <p14:creationId xmlns:p14="http://schemas.microsoft.com/office/powerpoint/2010/main" val="409977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68</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dirty="0"/>
              <a:t>References </a:t>
            </a:r>
            <a:r>
              <a:rPr lang="en-AU" dirty="0">
                <a:solidFill>
                  <a:schemeClr val="accent4"/>
                </a:solidFill>
              </a:rPr>
              <a:t>(2)</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8" name="Content Placeholder 3">
            <a:extLst>
              <a:ext uri="{FF2B5EF4-FFF2-40B4-BE49-F238E27FC236}">
                <a16:creationId xmlns:a16="http://schemas.microsoft.com/office/drawing/2014/main" id="{4B841782-5313-6BD0-4024-683B26D7A286}"/>
              </a:ext>
            </a:extLst>
          </p:cNvPr>
          <p:cNvSpPr>
            <a:spLocks noGrp="1"/>
          </p:cNvSpPr>
          <p:nvPr>
            <p:ph idx="1"/>
          </p:nvPr>
        </p:nvSpPr>
        <p:spPr>
          <a:xfrm>
            <a:off x="360000" y="3428999"/>
            <a:ext cx="11484000" cy="2927351"/>
          </a:xfrm>
        </p:spPr>
        <p:txBody>
          <a:bodyPr/>
          <a:lstStyle/>
          <a:p>
            <a:pPr algn="l" rtl="0" fontAlgn="base">
              <a:lnSpc>
                <a:spcPts val="2850"/>
              </a:lnSpc>
              <a:buNone/>
            </a:pPr>
            <a:r>
              <a:rPr lang="en-AU" sz="1200" b="0" i="0" u="none" strike="noStrike" dirty="0">
                <a:solidFill>
                  <a:srgbClr val="22272B"/>
                </a:solidFill>
                <a:effectLst/>
                <a:latin typeface="Public Sans Light" pitchFamily="2" charset="0"/>
              </a:rPr>
              <a:t>Siemon D (2002) </a:t>
            </a:r>
            <a:r>
              <a:rPr lang="en-AU" sz="1200" b="0" i="0" u="sng" strike="noStrike" dirty="0">
                <a:solidFill>
                  <a:srgbClr val="146CFD"/>
                </a:solidFill>
                <a:effectLst/>
                <a:latin typeface="Public Sans Light" pitchFamily="2" charset="0"/>
                <a:hlinkClick r:id="rId6"/>
              </a:rPr>
              <a:t>Partitioning – The missing link in building fraction knowledge and confidence [PDF 103 KB]</a:t>
            </a:r>
            <a:r>
              <a:rPr lang="en-AU" sz="1200" b="0" i="0" u="none" strike="noStrike" dirty="0">
                <a:solidFill>
                  <a:srgbClr val="22272B"/>
                </a:solidFill>
                <a:effectLst/>
                <a:latin typeface="Public Sans Light" pitchFamily="2" charset="0"/>
              </a:rPr>
              <a:t>, RMIT University, Victoria, Australia.</a:t>
            </a:r>
            <a:r>
              <a:rPr lang="en-US" sz="1200" b="0" i="0" dirty="0">
                <a:solidFill>
                  <a:srgbClr val="22272B"/>
                </a:solidFill>
                <a:effectLst/>
                <a:latin typeface="Public Sans Light" pitchFamily="2" charset="0"/>
              </a:rPr>
              <a:t>​</a:t>
            </a:r>
            <a:endParaRPr lang="en-US" b="0" i="0" dirty="0">
              <a:solidFill>
                <a:srgbClr val="22272B"/>
              </a:solidFill>
              <a:effectLst/>
              <a:latin typeface="Segoe UI" panose="020B0502040204020203" pitchFamily="34" charset="0"/>
            </a:endParaRPr>
          </a:p>
          <a:p>
            <a:pPr algn="l" rtl="0" fontAlgn="base">
              <a:lnSpc>
                <a:spcPts val="2850"/>
              </a:lnSpc>
              <a:buNone/>
            </a:pPr>
            <a:r>
              <a:rPr lang="en-AU" sz="1200" b="0" i="0" u="none" strike="noStrike" dirty="0">
                <a:solidFill>
                  <a:srgbClr val="22272B"/>
                </a:solidFill>
                <a:effectLst/>
                <a:latin typeface="Public Sans Light" pitchFamily="2" charset="0"/>
              </a:rPr>
              <a:t>Siemon D, Warren E, Beswick K, Faragher R, Miller J, Horne M, </a:t>
            </a:r>
            <a:r>
              <a:rPr lang="en-AU" sz="1200" b="0" i="0" u="none" strike="noStrike" dirty="0" err="1">
                <a:solidFill>
                  <a:srgbClr val="22272B"/>
                </a:solidFill>
                <a:effectLst/>
                <a:latin typeface="Public Sans Light" pitchFamily="2" charset="0"/>
              </a:rPr>
              <a:t>Jazby</a:t>
            </a:r>
            <a:r>
              <a:rPr lang="en-AU" sz="1200" b="0" i="0" u="none" strike="noStrike" dirty="0">
                <a:solidFill>
                  <a:srgbClr val="22272B"/>
                </a:solidFill>
                <a:effectLst/>
                <a:latin typeface="Public Sans Light" pitchFamily="2" charset="0"/>
              </a:rPr>
              <a:t> D, Breed M, Clark J and Brady K (2021) Teaching Mathematics: Foundations to Middle Years, 3rd </a:t>
            </a:r>
            <a:r>
              <a:rPr lang="en-AU" sz="1200" b="0" i="0" u="none" strike="noStrike" dirty="0" err="1">
                <a:solidFill>
                  <a:srgbClr val="22272B"/>
                </a:solidFill>
                <a:effectLst/>
                <a:latin typeface="Public Sans Light" pitchFamily="2" charset="0"/>
              </a:rPr>
              <a:t>edn</a:t>
            </a:r>
            <a:r>
              <a:rPr lang="en-AU" sz="1200" b="0" i="0" u="none" strike="noStrike" dirty="0">
                <a:solidFill>
                  <a:srgbClr val="22272B"/>
                </a:solidFill>
                <a:effectLst/>
                <a:latin typeface="Public Sans Light" pitchFamily="2" charset="0"/>
              </a:rPr>
              <a:t>, Oxford University Press Australia and New Zealand.</a:t>
            </a:r>
            <a:r>
              <a:rPr lang="en-US" sz="1200" b="0" i="0" dirty="0">
                <a:solidFill>
                  <a:srgbClr val="22272B"/>
                </a:solidFill>
                <a:effectLst/>
                <a:latin typeface="Public Sans Light" pitchFamily="2" charset="0"/>
              </a:rPr>
              <a:t>​</a:t>
            </a:r>
            <a:endParaRPr lang="en-US" b="0" i="0" dirty="0">
              <a:solidFill>
                <a:srgbClr val="22272B"/>
              </a:solidFill>
              <a:effectLst/>
              <a:latin typeface="Segoe UI" panose="020B0502040204020203" pitchFamily="34" charset="0"/>
            </a:endParaRPr>
          </a:p>
          <a:p>
            <a:pPr algn="l" rtl="0" fontAlgn="base">
              <a:lnSpc>
                <a:spcPts val="2850"/>
              </a:lnSpc>
              <a:buNone/>
            </a:pPr>
            <a:r>
              <a:rPr lang="en-AU" sz="1200" b="0" i="0" u="none" strike="noStrike" dirty="0">
                <a:solidFill>
                  <a:srgbClr val="22272B"/>
                </a:solidFill>
                <a:effectLst/>
                <a:latin typeface="Public Sans Light" pitchFamily="2" charset="0"/>
              </a:rPr>
              <a:t>The Maths Learning Centre (2005–2024) </a:t>
            </a:r>
            <a:r>
              <a:rPr lang="en-AU" sz="1200" b="0" i="0" u="sng" strike="noStrike" dirty="0">
                <a:solidFill>
                  <a:srgbClr val="146CFD"/>
                </a:solidFill>
                <a:effectLst/>
                <a:latin typeface="Public Sans Light" pitchFamily="2" charset="0"/>
                <a:hlinkClick r:id="rId7"/>
              </a:rPr>
              <a:t>Fractions</a:t>
            </a:r>
            <a:r>
              <a:rPr lang="en-AU" sz="1200" b="0" i="0" u="none" strike="noStrike" dirty="0">
                <a:solidFill>
                  <a:srgbClr val="22272B"/>
                </a:solidFill>
                <a:effectLst/>
                <a:latin typeface="Public Sans Light" pitchFamily="2" charset="0"/>
              </a:rPr>
              <a:t>, Math Learning Centre website, accessed 29 February 2024.</a:t>
            </a:r>
            <a:r>
              <a:rPr lang="en-US" sz="1200" b="0" i="0" dirty="0">
                <a:solidFill>
                  <a:srgbClr val="22272B"/>
                </a:solidFill>
                <a:effectLst/>
                <a:latin typeface="Public Sans Light" pitchFamily="2" charset="0"/>
              </a:rPr>
              <a:t>​</a:t>
            </a:r>
            <a:endParaRPr lang="en-US" b="0" i="0" dirty="0">
              <a:solidFill>
                <a:srgbClr val="22272B"/>
              </a:solidFill>
              <a:effectLst/>
              <a:latin typeface="Segoe UI" panose="020B0502040204020203" pitchFamily="34" charset="0"/>
            </a:endParaRPr>
          </a:p>
          <a:p>
            <a:pPr algn="l" rtl="0" fontAlgn="base">
              <a:lnSpc>
                <a:spcPts val="2850"/>
              </a:lnSpc>
            </a:pPr>
            <a:r>
              <a:rPr lang="en-AU" sz="1200" b="0" i="0" u="none" strike="noStrike" dirty="0">
                <a:solidFill>
                  <a:srgbClr val="22272B"/>
                </a:solidFill>
                <a:effectLst/>
                <a:latin typeface="Public Sans Light" pitchFamily="2" charset="0"/>
              </a:rPr>
              <a:t>Tribal Group PLC (n.d.) ‘</a:t>
            </a:r>
            <a:r>
              <a:rPr lang="en-AU" sz="1200" b="0" i="0" u="sng" strike="noStrike" dirty="0">
                <a:solidFill>
                  <a:srgbClr val="146CFD"/>
                </a:solidFill>
                <a:effectLst/>
                <a:latin typeface="Public Sans Light" pitchFamily="2" charset="0"/>
                <a:hlinkClick r:id="rId8"/>
              </a:rPr>
              <a:t>Unit Fractions</a:t>
            </a:r>
            <a:r>
              <a:rPr lang="en-AU" sz="1200" b="0" i="0" u="none" strike="noStrike" dirty="0">
                <a:solidFill>
                  <a:srgbClr val="22272B"/>
                </a:solidFill>
                <a:effectLst/>
                <a:latin typeface="Public Sans Light" pitchFamily="2" charset="0"/>
              </a:rPr>
              <a:t>’, Year 3 curriculum map, National Centre for Excellence in the Teaching of Mathematics (NCETM) website, accessed 29 February 2024.</a:t>
            </a:r>
            <a:endParaRPr lang="en-US" b="0" i="0" dirty="0">
              <a:solidFill>
                <a:srgbClr val="22272B"/>
              </a:solidFill>
              <a:effectLst/>
              <a:latin typeface="Segoe UI" panose="020B0502040204020203" pitchFamily="34" charset="0"/>
            </a:endParaRPr>
          </a:p>
        </p:txBody>
      </p:sp>
    </p:spTree>
    <p:extLst>
      <p:ext uri="{BB962C8B-B14F-4D97-AF65-F5344CB8AC3E}">
        <p14:creationId xmlns:p14="http://schemas.microsoft.com/office/powerpoint/2010/main" val="1293536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1" ma:contentTypeDescription="Create a new document." ma:contentTypeScope="" ma:versionID="9688e37b2af58268cd21140b8063bd69">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bfa7b24e970bd6c4c2e6a1c402160d7"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0129b06-f64b-40a8-96e2-c5b2f86112b1" xsi:nil="true"/>
    <lcf76f155ced4ddcb4097134ff3c332f xmlns="7e763d47-3c66-4c58-9425-1477fd3ccd1e">
      <Terms xmlns="http://schemas.microsoft.com/office/infopath/2007/PartnerControls"/>
    </lcf76f155ced4ddcb4097134ff3c332f>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Props1.xml><?xml version="1.0" encoding="utf-8"?>
<ds:datastoreItem xmlns:ds="http://schemas.openxmlformats.org/officeDocument/2006/customXml" ds:itemID="{B9C68242-C972-4815-B4EF-36DAD899F771}">
  <ds:schemaRefs>
    <ds:schemaRef ds:uri="http://schemas.microsoft.com/sharepoint/v3/contenttype/forms"/>
  </ds:schemaRefs>
</ds:datastoreItem>
</file>

<file path=customXml/itemProps2.xml><?xml version="1.0" encoding="utf-8"?>
<ds:datastoreItem xmlns:ds="http://schemas.openxmlformats.org/officeDocument/2006/customXml" ds:itemID="{82E1F5E0-31D6-40FF-A6DD-F0DFEC003C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763d47-3c66-4c58-9425-1477fd3ccd1e"/>
    <ds:schemaRef ds:uri="60129b06-f64b-40a8-96e2-c5b2f86112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524F4DA-5415-43D4-8474-C9BE68919175}">
  <ds:schemaRefs>
    <ds:schemaRef ds:uri="http://schemas.openxmlformats.org/package/2006/metadata/core-properties"/>
    <ds:schemaRef ds:uri="http://purl.org/dc/terms/"/>
    <ds:schemaRef ds:uri="http://www.w3.org/XML/1998/namespace"/>
    <ds:schemaRef ds:uri="http://schemas.microsoft.com/office/2006/documentManagement/types"/>
    <ds:schemaRef ds:uri="http://purl.org/dc/dcmitype/"/>
    <ds:schemaRef ds:uri="http://schemas.microsoft.com/office/2006/metadata/properties"/>
    <ds:schemaRef ds:uri="http://schemas.microsoft.com/office/infopath/2007/PartnerControls"/>
    <ds:schemaRef ds:uri="60129b06-f64b-40a8-96e2-c5b2f86112b1"/>
    <ds:schemaRef ds:uri="7e763d47-3c66-4c58-9425-1477fd3ccd1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5261</TotalTime>
  <Words>6324</Words>
  <Application>Microsoft Office PowerPoint</Application>
  <PresentationFormat>Widescreen</PresentationFormat>
  <Paragraphs>746</Paragraphs>
  <Slides>69</Slides>
  <Notes>69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Arial</vt:lpstr>
      <vt:lpstr>Times New Roman</vt:lpstr>
      <vt:lpstr>Arial,Sans-Serif</vt:lpstr>
      <vt:lpstr>Calibri</vt:lpstr>
      <vt:lpstr>Segoe UI</vt:lpstr>
      <vt:lpstr>Public Sans Light</vt:lpstr>
      <vt:lpstr>Cambria Math</vt:lpstr>
      <vt:lpstr>Public Sans</vt:lpstr>
      <vt:lpstr>Wingdings</vt:lpstr>
      <vt:lpstr>Montserrat</vt:lpstr>
      <vt:lpstr>NSWG Corporate</vt:lpstr>
      <vt:lpstr>Instructions for use</vt:lpstr>
      <vt:lpstr>Review of Learning </vt:lpstr>
      <vt:lpstr>Lessons</vt:lpstr>
      <vt:lpstr>Review of learning 1</vt:lpstr>
      <vt:lpstr>Multiple choice (1) (1) (1)</vt:lpstr>
      <vt:lpstr>Short response (1)(1) (1)</vt:lpstr>
      <vt:lpstr>Short response (2)(2))</vt:lpstr>
      <vt:lpstr>Short response (3)</vt:lpstr>
      <vt:lpstr>Short response (4)</vt:lpstr>
      <vt:lpstr>Activity 1 – recreating the whole</vt:lpstr>
      <vt:lpstr>Review of learning  2</vt:lpstr>
      <vt:lpstr>True or false (1) (1)</vt:lpstr>
      <vt:lpstr>Short response (5)</vt:lpstr>
      <vt:lpstr>Short response (6)</vt:lpstr>
      <vt:lpstr>Short response (8)</vt:lpstr>
      <vt:lpstr>Short response (33)</vt:lpstr>
      <vt:lpstr>Activity 2 – regroup fractional parts beyond 1</vt:lpstr>
      <vt:lpstr>Review of learning 3</vt:lpstr>
      <vt:lpstr>Multiple choice (2) (1)</vt:lpstr>
      <vt:lpstr>Short response (9)</vt:lpstr>
      <vt:lpstr>Short response (10)</vt:lpstr>
      <vt:lpstr>Short response (11)</vt:lpstr>
      <vt:lpstr>Short response (12)</vt:lpstr>
      <vt:lpstr>Activity 3 – represent totals of halves, thirds, quarters and fifths that extend beyond 1</vt:lpstr>
      <vt:lpstr>Review of learning 4</vt:lpstr>
      <vt:lpstr>True or false (2)(1)</vt:lpstr>
      <vt:lpstr>Short response (13)</vt:lpstr>
      <vt:lpstr>Short response (14)</vt:lpstr>
      <vt:lpstr>Short response (15)</vt:lpstr>
      <vt:lpstr>Short response (16)</vt:lpstr>
      <vt:lpstr>Activity 4 – renaming fractions</vt:lpstr>
      <vt:lpstr>Review of learning 5</vt:lpstr>
      <vt:lpstr>Multiple choice (3)(1)</vt:lpstr>
      <vt:lpstr>Short response (17)</vt:lpstr>
      <vt:lpstr>Short response (18)</vt:lpstr>
      <vt:lpstr>Short response (19)</vt:lpstr>
      <vt:lpstr>Short response (20)</vt:lpstr>
      <vt:lpstr>Activity 5 – equivalent money</vt:lpstr>
      <vt:lpstr>Review of learning 6</vt:lpstr>
      <vt:lpstr>True or false (3)(1)</vt:lpstr>
      <vt:lpstr>Short response (21)</vt:lpstr>
      <vt:lpstr>Short response (22)</vt:lpstr>
      <vt:lpstr>Short response (23)</vt:lpstr>
      <vt:lpstr>Short response (24)</vt:lpstr>
      <vt:lpstr>Activity 6 – equivalent amounts of money?</vt:lpstr>
      <vt:lpstr>Review of learning  7</vt:lpstr>
      <vt:lpstr>Multiple choice (4) (1)</vt:lpstr>
      <vt:lpstr>Short response (25)</vt:lpstr>
      <vt:lpstr>Short response (26)</vt:lpstr>
      <vt:lpstr>Short response (27)</vt:lpstr>
      <vt:lpstr>Short response (28)</vt:lpstr>
      <vt:lpstr>Activity 7 – calculations with money</vt:lpstr>
      <vt:lpstr>Review of learning 8</vt:lpstr>
      <vt:lpstr>True or false (4)(1)</vt:lpstr>
      <vt:lpstr>Short response (29)</vt:lpstr>
      <vt:lpstr>Short response (30)</vt:lpstr>
      <vt:lpstr>Short response (31)</vt:lpstr>
      <vt:lpstr>Short response (32)</vt:lpstr>
      <vt:lpstr>Activity 8 – finding change</vt:lpstr>
      <vt:lpstr>Double Venn diagram</vt:lpstr>
      <vt:lpstr>Frayer</vt:lpstr>
      <vt:lpstr>Spider map</vt:lpstr>
      <vt:lpstr>Cline</vt:lpstr>
      <vt:lpstr>Compare and contrast</vt:lpstr>
      <vt:lpstr>Multiple choice (1)</vt:lpstr>
      <vt:lpstr>Multiple choice (2)</vt:lpstr>
      <vt:lpstr>References</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95</cp:revision>
  <dcterms:created xsi:type="dcterms:W3CDTF">2025-07-07T07:05:15Z</dcterms:created>
  <dcterms:modified xsi:type="dcterms:W3CDTF">2025-08-03T22:34:28Z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