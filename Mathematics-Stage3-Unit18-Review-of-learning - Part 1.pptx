
<file path=[Content_Types].xml><?xml version="1.0" encoding="utf-8"?>
<Types xmlns="http://schemas.openxmlformats.org/package/2006/content-types">
  <Default Extension="fntdata" ContentType="application/x-fontdata"/>
  <Default Extension="glb" ContentType="model/gltf.binary"/>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45"/>
  </p:notesMasterIdLst>
  <p:handoutMasterIdLst>
    <p:handoutMasterId r:id="rId46"/>
  </p:handoutMasterIdLst>
  <p:sldIdLst>
    <p:sldId id="26610" r:id="rId5"/>
    <p:sldId id="26611" r:id="rId6"/>
    <p:sldId id="26614" r:id="rId7"/>
    <p:sldId id="26615" r:id="rId8"/>
    <p:sldId id="26616" r:id="rId9"/>
    <p:sldId id="26617" r:id="rId10"/>
    <p:sldId id="26618" r:id="rId11"/>
    <p:sldId id="26619" r:id="rId12"/>
    <p:sldId id="26622" r:id="rId13"/>
    <p:sldId id="26647" r:id="rId14"/>
    <p:sldId id="26623" r:id="rId15"/>
    <p:sldId id="26624" r:id="rId16"/>
    <p:sldId id="26625" r:id="rId17"/>
    <p:sldId id="26626" r:id="rId18"/>
    <p:sldId id="26627" r:id="rId19"/>
    <p:sldId id="26628" r:id="rId20"/>
    <p:sldId id="26630" r:id="rId21"/>
    <p:sldId id="26632" r:id="rId22"/>
    <p:sldId id="26633" r:id="rId23"/>
    <p:sldId id="26634" r:id="rId24"/>
    <p:sldId id="26635" r:id="rId25"/>
    <p:sldId id="26636" r:id="rId26"/>
    <p:sldId id="26637" r:id="rId27"/>
    <p:sldId id="26640" r:id="rId28"/>
    <p:sldId id="26641" r:id="rId29"/>
    <p:sldId id="26642" r:id="rId30"/>
    <p:sldId id="26643" r:id="rId31"/>
    <p:sldId id="26644" r:id="rId32"/>
    <p:sldId id="26645" r:id="rId33"/>
    <p:sldId id="26393" r:id="rId34"/>
    <p:sldId id="26387" r:id="rId35"/>
    <p:sldId id="26395" r:id="rId36"/>
    <p:sldId id="26391" r:id="rId37"/>
    <p:sldId id="26402" r:id="rId38"/>
    <p:sldId id="26507" r:id="rId39"/>
    <p:sldId id="26510" r:id="rId40"/>
    <p:sldId id="26648" r:id="rId41"/>
    <p:sldId id="26458" r:id="rId42"/>
    <p:sldId id="26459" r:id="rId43"/>
    <p:sldId id="361" r:id="rId44"/>
  </p:sldIdLst>
  <p:sldSz cx="12192000" cy="6858000"/>
  <p:notesSz cx="6858000" cy="9144000"/>
  <p:embeddedFontLst>
    <p:embeddedFont>
      <p:font typeface="DengXian" panose="02010600030101010101" charset="-122"/>
      <p:regular r:id="rId47"/>
      <p:bold r:id="rId48"/>
    </p:embeddedFont>
    <p:embeddedFont>
      <p:font typeface="Aptos Narrow" panose="020B0004020202020204" pitchFamily="34" charset="0"/>
      <p:regular r:id="rId49"/>
      <p:bold r:id="rId50"/>
      <p:italic r:id="rId51"/>
      <p:boldItalic r:id="rId52"/>
    </p:embeddedFont>
    <p:embeddedFont>
      <p:font typeface="Cambria Math" panose="02040503050406030204" pitchFamily="18" charset="0"/>
      <p:regular r:id="rId53"/>
    </p:embeddedFont>
    <p:embeddedFont>
      <p:font typeface="Canva Student Font" panose="020B0604020202020204" charset="0"/>
      <p:regular r:id="rId54"/>
    </p:embeddedFont>
    <p:embeddedFont>
      <p:font typeface="Edu NSW ACT Foundation" pitchFamily="2" charset="0"/>
      <p:regular r:id="rId55"/>
      <p:bold r:id="rId56"/>
    </p:embeddedFont>
    <p:embeddedFont>
      <p:font typeface="Montserrat" panose="00000500000000000000" pitchFamily="2" charset="0"/>
      <p:regular r:id="rId57"/>
      <p:bold r:id="rId58"/>
      <p:italic r:id="rId59"/>
      <p:boldItalic r:id="rId60"/>
    </p:embeddedFont>
    <p:embeddedFont>
      <p:font typeface="Public Sans" panose="020B0604020202020204" charset="0"/>
      <p:regular r:id="rId61"/>
      <p:bold r:id="rId62"/>
      <p:italic r:id="rId63"/>
      <p:boldItalic r:id="rId64"/>
    </p:embeddedFont>
    <p:embeddedFont>
      <p:font typeface="Public Sans Light" panose="020B0604020202020204" charset="0"/>
      <p:regular r:id="rId65"/>
      <p:italic r:id="rId66"/>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ection>
        <p14:section name="Slide templates" id="{D5A8010D-981F-43AA-A0D6-182EC53CAA84}">
          <p14:sldIdLst/>
        </p14:section>
        <p14:section name="Review of learning 1" id="{4B1EDACC-5006-43DF-9D93-DE177A158796}">
          <p14:sldIdLst/>
        </p14:section>
        <p14:section name="Review of learning 2" id="{0AC6BBCB-7E49-46CE-B777-EFCDD4B60F91}">
          <p14:sldIdLst/>
        </p14:section>
        <p14:section name="Review of learning 3" id="{6F5E1C19-5255-4FF7-A3CD-4549F7EF69B2}">
          <p14:sldIdLst/>
        </p14:section>
        <p14:section name="Review of learning 4" id="{6EB8E1CE-ED7B-4635-88AB-9D1D052BB011}">
          <p14:sldIdLst/>
        </p14:section>
        <p14:section name="Review of learning 5" id="{E365C8CF-14E0-4F5A-BCE8-2E930DEEA864}">
          <p14:sldIdLst>
            <p14:sldId id="26610"/>
            <p14:sldId id="26611"/>
            <p14:sldId id="26614"/>
            <p14:sldId id="26615"/>
            <p14:sldId id="26616"/>
            <p14:sldId id="26617"/>
            <p14:sldId id="26618"/>
          </p14:sldIdLst>
        </p14:section>
        <p14:section name="Review of learning 6" id="{6721D3DC-F7BB-49CA-9E61-8454C104591D}">
          <p14:sldIdLst>
            <p14:sldId id="26619"/>
            <p14:sldId id="26622"/>
            <p14:sldId id="26647"/>
            <p14:sldId id="26623"/>
            <p14:sldId id="26624"/>
            <p14:sldId id="26625"/>
            <p14:sldId id="26626"/>
            <p14:sldId id="26627"/>
          </p14:sldIdLst>
        </p14:section>
        <p14:section name="Review of learning 7" id="{CF63834E-0BE9-495B-9761-037C836F185E}">
          <p14:sldIdLst>
            <p14:sldId id="26628"/>
            <p14:sldId id="26630"/>
            <p14:sldId id="26632"/>
            <p14:sldId id="26633"/>
            <p14:sldId id="26634"/>
            <p14:sldId id="26635"/>
            <p14:sldId id="26636"/>
          </p14:sldIdLst>
        </p14:section>
        <p14:section name="Review of learning 8" id="{6FF8F7EC-803E-4F84-BA41-6B3ED673D597}">
          <p14:sldIdLst>
            <p14:sldId id="26637"/>
            <p14:sldId id="26640"/>
            <p14:sldId id="26641"/>
            <p14:sldId id="26642"/>
            <p14:sldId id="26643"/>
            <p14:sldId id="26644"/>
            <p14:sldId id="26645"/>
          </p14:sldIdLst>
        </p14:section>
        <p14:section name="Assets for teachers to create their own review" id="{ACCADEBA-79DB-4F18-8F19-E4DF86159DFB}">
          <p14:sldIdLst>
            <p14:sldId id="26393"/>
            <p14:sldId id="26387"/>
            <p14:sldId id="26395"/>
            <p14:sldId id="26391"/>
            <p14:sldId id="26402"/>
            <p14:sldId id="26507"/>
            <p14:sldId id="26510"/>
          </p14:sldIdLst>
        </p14:section>
        <p14:section name="References &amp; copyright" id="{DBC31484-F5F8-4CB1-8DB4-A562A9780899}">
          <p14:sldIdLst>
            <p14:sldId id="26648"/>
            <p14:sldId id="26458"/>
            <p14:sldId id="26459"/>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0EB36D6E-3AE9-3B2C-28D2-8291BFBA4A39}" name="Christie Williams" initials="CW" userId="S::christie.williams2@det.nsw.edu.au::881f3a5c-b614-46db-a2f1-8ad4840e9c37" providerId="AD"/>
  <p188:author id="{D7748CAD-4730-709D-51B8-05F53F9A5AD7}" name="Christie Williams" initials="CW" userId="S::CHRISTIE.Williams2@det.nsw.edu.au::881f3a5c-b614-46db-a2f1-8ad4840e9c37" providerId="AD"/>
  <p188:author id="{3FDA68B6-B52B-FE76-39D1-E268A1C28951}" name="Phil HOLLINS (Phil Hollins)" initials="PH" userId="S::philip.hollins@det.nsw.edu.au::2b9063ba-35fe-4c7f-aa4d-5bf1098ac266"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9B0C"/>
    <a:srgbClr val="007A8A"/>
    <a:srgbClr val="9B6808"/>
    <a:srgbClr val="427B2D"/>
    <a:srgbClr val="B51458"/>
    <a:srgbClr val="00ACC2"/>
    <a:srgbClr val="64BB47"/>
    <a:srgbClr val="EDF9E0"/>
    <a:srgbClr val="87D830"/>
    <a:srgbClr val="447F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941" autoAdjust="0"/>
  </p:normalViewPr>
  <p:slideViewPr>
    <p:cSldViewPr snapToGrid="0">
      <p:cViewPr varScale="1">
        <p:scale>
          <a:sx n="76" d="100"/>
          <a:sy n="76" d="100"/>
        </p:scale>
        <p:origin x="917" y="67"/>
      </p:cViewPr>
      <p:guideLst>
        <p:guide orient="horz" pos="2160"/>
        <p:guide pos="386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font" Target="fonts/font1.fntdata"/><Relationship Id="rId63" Type="http://schemas.openxmlformats.org/officeDocument/2006/relationships/font" Target="fonts/font17.fntdata"/><Relationship Id="rId68" Type="http://schemas.openxmlformats.org/officeDocument/2006/relationships/viewProps" Target="viewProps.xml"/><Relationship Id="rId7" Type="http://schemas.openxmlformats.org/officeDocument/2006/relationships/slide" Target="slides/slide3.xml"/><Relationship Id="rId71"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3" Type="http://schemas.openxmlformats.org/officeDocument/2006/relationships/font" Target="fonts/font7.fntdata"/><Relationship Id="rId58" Type="http://schemas.openxmlformats.org/officeDocument/2006/relationships/font" Target="fonts/font12.fntdata"/><Relationship Id="rId66" Type="http://schemas.openxmlformats.org/officeDocument/2006/relationships/font" Target="fonts/font20.fntdata"/><Relationship Id="rId5" Type="http://schemas.openxmlformats.org/officeDocument/2006/relationships/slide" Target="slides/slide1.xml"/><Relationship Id="rId61" Type="http://schemas.openxmlformats.org/officeDocument/2006/relationships/font" Target="fonts/font15.fntdata"/><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font" Target="fonts/font2.fntdata"/><Relationship Id="rId56" Type="http://schemas.openxmlformats.org/officeDocument/2006/relationships/font" Target="fonts/font10.fntdata"/><Relationship Id="rId64" Type="http://schemas.openxmlformats.org/officeDocument/2006/relationships/font" Target="fonts/font18.fntdata"/><Relationship Id="rId69"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font" Target="fonts/font5.fntdata"/><Relationship Id="rId72"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handoutMaster" Target="handoutMasters/handoutMaster1.xml"/><Relationship Id="rId59" Type="http://schemas.openxmlformats.org/officeDocument/2006/relationships/font" Target="fonts/font13.fntdata"/><Relationship Id="rId67"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8.fntdata"/><Relationship Id="rId62" Type="http://schemas.openxmlformats.org/officeDocument/2006/relationships/font" Target="fonts/font16.fntdata"/><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3.fntdata"/><Relationship Id="rId57" Type="http://schemas.openxmlformats.org/officeDocument/2006/relationships/font" Target="fonts/font11.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font" Target="fonts/font6.fntdata"/><Relationship Id="rId60" Type="http://schemas.openxmlformats.org/officeDocument/2006/relationships/font" Target="fonts/font14.fntdata"/><Relationship Id="rId65" Type="http://schemas.openxmlformats.org/officeDocument/2006/relationships/font" Target="fonts/font19.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font" Target="fonts/font4.fntdata"/><Relationship Id="rId55" Type="http://schemas.openxmlformats.org/officeDocument/2006/relationships/font" Target="fonts/font9.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son Fretwell" userId="236faa51-3e25-42ea-818b-3df7392b3740" providerId="ADAL" clId="{E13908BB-FCA8-48D3-AC32-E0FE8851F1D6}"/>
    <pc:docChg chg="delSld modSection">
      <pc:chgData name="Jason Fretwell" userId="236faa51-3e25-42ea-818b-3df7392b3740" providerId="ADAL" clId="{E13908BB-FCA8-48D3-AC32-E0FE8851F1D6}" dt="2026-10-20T09:12:56.917" v="0" actId="47"/>
      <pc:docMkLst>
        <pc:docMk/>
      </pc:docMkLst>
      <pc:sldChg chg="del">
        <pc:chgData name="Jason Fretwell" userId="236faa51-3e25-42ea-818b-3df7392b3740" providerId="ADAL" clId="{E13908BB-FCA8-48D3-AC32-E0FE8851F1D6}" dt="2026-10-20T09:12:56.917" v="0" actId="47"/>
        <pc:sldMkLst>
          <pc:docMk/>
          <pc:sldMk cId="2028193910" sldId="271"/>
        </pc:sldMkLst>
      </pc:sldChg>
      <pc:sldChg chg="del">
        <pc:chgData name="Jason Fretwell" userId="236faa51-3e25-42ea-818b-3df7392b3740" providerId="ADAL" clId="{E13908BB-FCA8-48D3-AC32-E0FE8851F1D6}" dt="2026-10-20T09:12:56.917" v="0" actId="47"/>
        <pc:sldMkLst>
          <pc:docMk/>
          <pc:sldMk cId="2028568686" sldId="365"/>
        </pc:sldMkLst>
      </pc:sldChg>
      <pc:sldChg chg="del">
        <pc:chgData name="Jason Fretwell" userId="236faa51-3e25-42ea-818b-3df7392b3740" providerId="ADAL" clId="{E13908BB-FCA8-48D3-AC32-E0FE8851F1D6}" dt="2026-10-20T09:12:56.917" v="0" actId="47"/>
        <pc:sldMkLst>
          <pc:docMk/>
          <pc:sldMk cId="886162339" sldId="26359"/>
        </pc:sldMkLst>
      </pc:sldChg>
      <pc:sldChg chg="del">
        <pc:chgData name="Jason Fretwell" userId="236faa51-3e25-42ea-818b-3df7392b3740" providerId="ADAL" clId="{E13908BB-FCA8-48D3-AC32-E0FE8851F1D6}" dt="2026-10-20T09:12:56.917" v="0" actId="47"/>
        <pc:sldMkLst>
          <pc:docMk/>
          <pc:sldMk cId="3027897751" sldId="26576"/>
        </pc:sldMkLst>
      </pc:sldChg>
      <pc:sldChg chg="del">
        <pc:chgData name="Jason Fretwell" userId="236faa51-3e25-42ea-818b-3df7392b3740" providerId="ADAL" clId="{E13908BB-FCA8-48D3-AC32-E0FE8851F1D6}" dt="2026-10-20T09:12:56.917" v="0" actId="47"/>
        <pc:sldMkLst>
          <pc:docMk/>
          <pc:sldMk cId="481384035" sldId="26577"/>
        </pc:sldMkLst>
      </pc:sldChg>
      <pc:sldChg chg="del">
        <pc:chgData name="Jason Fretwell" userId="236faa51-3e25-42ea-818b-3df7392b3740" providerId="ADAL" clId="{E13908BB-FCA8-48D3-AC32-E0FE8851F1D6}" dt="2026-10-20T09:12:56.917" v="0" actId="47"/>
        <pc:sldMkLst>
          <pc:docMk/>
          <pc:sldMk cId="1350110746" sldId="26579"/>
        </pc:sldMkLst>
      </pc:sldChg>
      <pc:sldChg chg="del">
        <pc:chgData name="Jason Fretwell" userId="236faa51-3e25-42ea-818b-3df7392b3740" providerId="ADAL" clId="{E13908BB-FCA8-48D3-AC32-E0FE8851F1D6}" dt="2026-10-20T09:12:56.917" v="0" actId="47"/>
        <pc:sldMkLst>
          <pc:docMk/>
          <pc:sldMk cId="2923217825" sldId="26580"/>
        </pc:sldMkLst>
      </pc:sldChg>
      <pc:sldChg chg="del">
        <pc:chgData name="Jason Fretwell" userId="236faa51-3e25-42ea-818b-3df7392b3740" providerId="ADAL" clId="{E13908BB-FCA8-48D3-AC32-E0FE8851F1D6}" dt="2026-10-20T09:12:56.917" v="0" actId="47"/>
        <pc:sldMkLst>
          <pc:docMk/>
          <pc:sldMk cId="1274309234" sldId="26581"/>
        </pc:sldMkLst>
      </pc:sldChg>
      <pc:sldChg chg="del">
        <pc:chgData name="Jason Fretwell" userId="236faa51-3e25-42ea-818b-3df7392b3740" providerId="ADAL" clId="{E13908BB-FCA8-48D3-AC32-E0FE8851F1D6}" dt="2026-10-20T09:12:56.917" v="0" actId="47"/>
        <pc:sldMkLst>
          <pc:docMk/>
          <pc:sldMk cId="2844644047" sldId="26582"/>
        </pc:sldMkLst>
      </pc:sldChg>
      <pc:sldChg chg="del">
        <pc:chgData name="Jason Fretwell" userId="236faa51-3e25-42ea-818b-3df7392b3740" providerId="ADAL" clId="{E13908BB-FCA8-48D3-AC32-E0FE8851F1D6}" dt="2026-10-20T09:12:56.917" v="0" actId="47"/>
        <pc:sldMkLst>
          <pc:docMk/>
          <pc:sldMk cId="1778144930" sldId="26583"/>
        </pc:sldMkLst>
      </pc:sldChg>
      <pc:sldChg chg="del">
        <pc:chgData name="Jason Fretwell" userId="236faa51-3e25-42ea-818b-3df7392b3740" providerId="ADAL" clId="{E13908BB-FCA8-48D3-AC32-E0FE8851F1D6}" dt="2026-10-20T09:12:56.917" v="0" actId="47"/>
        <pc:sldMkLst>
          <pc:docMk/>
          <pc:sldMk cId="509165051" sldId="26586"/>
        </pc:sldMkLst>
      </pc:sldChg>
      <pc:sldChg chg="del">
        <pc:chgData name="Jason Fretwell" userId="236faa51-3e25-42ea-818b-3df7392b3740" providerId="ADAL" clId="{E13908BB-FCA8-48D3-AC32-E0FE8851F1D6}" dt="2026-10-20T09:12:56.917" v="0" actId="47"/>
        <pc:sldMkLst>
          <pc:docMk/>
          <pc:sldMk cId="1446765878" sldId="26587"/>
        </pc:sldMkLst>
      </pc:sldChg>
      <pc:sldChg chg="del">
        <pc:chgData name="Jason Fretwell" userId="236faa51-3e25-42ea-818b-3df7392b3740" providerId="ADAL" clId="{E13908BB-FCA8-48D3-AC32-E0FE8851F1D6}" dt="2026-10-20T09:12:56.917" v="0" actId="47"/>
        <pc:sldMkLst>
          <pc:docMk/>
          <pc:sldMk cId="60349849" sldId="26588"/>
        </pc:sldMkLst>
      </pc:sldChg>
      <pc:sldChg chg="del">
        <pc:chgData name="Jason Fretwell" userId="236faa51-3e25-42ea-818b-3df7392b3740" providerId="ADAL" clId="{E13908BB-FCA8-48D3-AC32-E0FE8851F1D6}" dt="2026-10-20T09:12:56.917" v="0" actId="47"/>
        <pc:sldMkLst>
          <pc:docMk/>
          <pc:sldMk cId="343141579" sldId="26589"/>
        </pc:sldMkLst>
      </pc:sldChg>
      <pc:sldChg chg="del">
        <pc:chgData name="Jason Fretwell" userId="236faa51-3e25-42ea-818b-3df7392b3740" providerId="ADAL" clId="{E13908BB-FCA8-48D3-AC32-E0FE8851F1D6}" dt="2026-10-20T09:12:56.917" v="0" actId="47"/>
        <pc:sldMkLst>
          <pc:docMk/>
          <pc:sldMk cId="484808914" sldId="26590"/>
        </pc:sldMkLst>
      </pc:sldChg>
      <pc:sldChg chg="del">
        <pc:chgData name="Jason Fretwell" userId="236faa51-3e25-42ea-818b-3df7392b3740" providerId="ADAL" clId="{E13908BB-FCA8-48D3-AC32-E0FE8851F1D6}" dt="2026-10-20T09:12:56.917" v="0" actId="47"/>
        <pc:sldMkLst>
          <pc:docMk/>
          <pc:sldMk cId="2639464257" sldId="26591"/>
        </pc:sldMkLst>
      </pc:sldChg>
      <pc:sldChg chg="del">
        <pc:chgData name="Jason Fretwell" userId="236faa51-3e25-42ea-818b-3df7392b3740" providerId="ADAL" clId="{E13908BB-FCA8-48D3-AC32-E0FE8851F1D6}" dt="2026-10-20T09:12:56.917" v="0" actId="47"/>
        <pc:sldMkLst>
          <pc:docMk/>
          <pc:sldMk cId="743924428" sldId="26592"/>
        </pc:sldMkLst>
      </pc:sldChg>
      <pc:sldChg chg="del">
        <pc:chgData name="Jason Fretwell" userId="236faa51-3e25-42ea-818b-3df7392b3740" providerId="ADAL" clId="{E13908BB-FCA8-48D3-AC32-E0FE8851F1D6}" dt="2026-10-20T09:12:56.917" v="0" actId="47"/>
        <pc:sldMkLst>
          <pc:docMk/>
          <pc:sldMk cId="4166538862" sldId="26593"/>
        </pc:sldMkLst>
      </pc:sldChg>
      <pc:sldChg chg="del">
        <pc:chgData name="Jason Fretwell" userId="236faa51-3e25-42ea-818b-3df7392b3740" providerId="ADAL" clId="{E13908BB-FCA8-48D3-AC32-E0FE8851F1D6}" dt="2026-10-20T09:12:56.917" v="0" actId="47"/>
        <pc:sldMkLst>
          <pc:docMk/>
          <pc:sldMk cId="664817410" sldId="26596"/>
        </pc:sldMkLst>
      </pc:sldChg>
      <pc:sldChg chg="del">
        <pc:chgData name="Jason Fretwell" userId="236faa51-3e25-42ea-818b-3df7392b3740" providerId="ADAL" clId="{E13908BB-FCA8-48D3-AC32-E0FE8851F1D6}" dt="2026-10-20T09:12:56.917" v="0" actId="47"/>
        <pc:sldMkLst>
          <pc:docMk/>
          <pc:sldMk cId="4042280327" sldId="26597"/>
        </pc:sldMkLst>
      </pc:sldChg>
      <pc:sldChg chg="del">
        <pc:chgData name="Jason Fretwell" userId="236faa51-3e25-42ea-818b-3df7392b3740" providerId="ADAL" clId="{E13908BB-FCA8-48D3-AC32-E0FE8851F1D6}" dt="2026-10-20T09:12:56.917" v="0" actId="47"/>
        <pc:sldMkLst>
          <pc:docMk/>
          <pc:sldMk cId="1331896988" sldId="26598"/>
        </pc:sldMkLst>
      </pc:sldChg>
      <pc:sldChg chg="del">
        <pc:chgData name="Jason Fretwell" userId="236faa51-3e25-42ea-818b-3df7392b3740" providerId="ADAL" clId="{E13908BB-FCA8-48D3-AC32-E0FE8851F1D6}" dt="2026-10-20T09:12:56.917" v="0" actId="47"/>
        <pc:sldMkLst>
          <pc:docMk/>
          <pc:sldMk cId="2529001418" sldId="26599"/>
        </pc:sldMkLst>
      </pc:sldChg>
      <pc:sldChg chg="del">
        <pc:chgData name="Jason Fretwell" userId="236faa51-3e25-42ea-818b-3df7392b3740" providerId="ADAL" clId="{E13908BB-FCA8-48D3-AC32-E0FE8851F1D6}" dt="2026-10-20T09:12:56.917" v="0" actId="47"/>
        <pc:sldMkLst>
          <pc:docMk/>
          <pc:sldMk cId="1583710452" sldId="26600"/>
        </pc:sldMkLst>
      </pc:sldChg>
      <pc:sldChg chg="del">
        <pc:chgData name="Jason Fretwell" userId="236faa51-3e25-42ea-818b-3df7392b3740" providerId="ADAL" clId="{E13908BB-FCA8-48D3-AC32-E0FE8851F1D6}" dt="2026-10-20T09:12:56.917" v="0" actId="47"/>
        <pc:sldMkLst>
          <pc:docMk/>
          <pc:sldMk cId="2508436230" sldId="26601"/>
        </pc:sldMkLst>
      </pc:sldChg>
      <pc:sldChg chg="del">
        <pc:chgData name="Jason Fretwell" userId="236faa51-3e25-42ea-818b-3df7392b3740" providerId="ADAL" clId="{E13908BB-FCA8-48D3-AC32-E0FE8851F1D6}" dt="2026-10-20T09:12:56.917" v="0" actId="47"/>
        <pc:sldMkLst>
          <pc:docMk/>
          <pc:sldMk cId="1819478593" sldId="26604"/>
        </pc:sldMkLst>
      </pc:sldChg>
      <pc:sldChg chg="del">
        <pc:chgData name="Jason Fretwell" userId="236faa51-3e25-42ea-818b-3df7392b3740" providerId="ADAL" clId="{E13908BB-FCA8-48D3-AC32-E0FE8851F1D6}" dt="2026-10-20T09:12:56.917" v="0" actId="47"/>
        <pc:sldMkLst>
          <pc:docMk/>
          <pc:sldMk cId="2873544" sldId="26605"/>
        </pc:sldMkLst>
      </pc:sldChg>
      <pc:sldChg chg="del">
        <pc:chgData name="Jason Fretwell" userId="236faa51-3e25-42ea-818b-3df7392b3740" providerId="ADAL" clId="{E13908BB-FCA8-48D3-AC32-E0FE8851F1D6}" dt="2026-10-20T09:12:56.917" v="0" actId="47"/>
        <pc:sldMkLst>
          <pc:docMk/>
          <pc:sldMk cId="724378680" sldId="26606"/>
        </pc:sldMkLst>
      </pc:sldChg>
      <pc:sldChg chg="del">
        <pc:chgData name="Jason Fretwell" userId="236faa51-3e25-42ea-818b-3df7392b3740" providerId="ADAL" clId="{E13908BB-FCA8-48D3-AC32-E0FE8851F1D6}" dt="2026-10-20T09:12:56.917" v="0" actId="47"/>
        <pc:sldMkLst>
          <pc:docMk/>
          <pc:sldMk cId="1941853413" sldId="26607"/>
        </pc:sldMkLst>
      </pc:sldChg>
      <pc:sldChg chg="del">
        <pc:chgData name="Jason Fretwell" userId="236faa51-3e25-42ea-818b-3df7392b3740" providerId="ADAL" clId="{E13908BB-FCA8-48D3-AC32-E0FE8851F1D6}" dt="2026-10-20T09:12:56.917" v="0" actId="47"/>
        <pc:sldMkLst>
          <pc:docMk/>
          <pc:sldMk cId="270899637" sldId="26608"/>
        </pc:sldMkLst>
      </pc:sldChg>
      <pc:sldChg chg="del">
        <pc:chgData name="Jason Fretwell" userId="236faa51-3e25-42ea-818b-3df7392b3740" providerId="ADAL" clId="{E13908BB-FCA8-48D3-AC32-E0FE8851F1D6}" dt="2026-10-20T09:12:56.917" v="0" actId="47"/>
        <pc:sldMkLst>
          <pc:docMk/>
          <pc:sldMk cId="2412672620" sldId="26609"/>
        </pc:sldMkLst>
      </pc:sldChg>
      <pc:sldChg chg="del">
        <pc:chgData name="Jason Fretwell" userId="236faa51-3e25-42ea-818b-3df7392b3740" providerId="ADAL" clId="{E13908BB-FCA8-48D3-AC32-E0FE8851F1D6}" dt="2026-10-20T09:12:56.917" v="0" actId="47"/>
        <pc:sldMkLst>
          <pc:docMk/>
          <pc:sldMk cId="498636324" sldId="26646"/>
        </pc:sldMkLst>
      </pc:sldChg>
      <pc:sldMasterChg chg="delSldLayout">
        <pc:chgData name="Jason Fretwell" userId="236faa51-3e25-42ea-818b-3df7392b3740" providerId="ADAL" clId="{E13908BB-FCA8-48D3-AC32-E0FE8851F1D6}" dt="2026-10-20T09:12:56.917" v="0" actId="47"/>
        <pc:sldMasterMkLst>
          <pc:docMk/>
          <pc:sldMasterMk cId="4123316428" sldId="2147483660"/>
        </pc:sldMasterMkLst>
        <pc:sldLayoutChg chg="del">
          <pc:chgData name="Jason Fretwell" userId="236faa51-3e25-42ea-818b-3df7392b3740" providerId="ADAL" clId="{E13908BB-FCA8-48D3-AC32-E0FE8851F1D6}" dt="2026-10-20T09:12:56.917" v="0" actId="47"/>
          <pc:sldLayoutMkLst>
            <pc:docMk/>
            <pc:sldMasterMk cId="4123316428" sldId="2147483660"/>
            <pc:sldLayoutMk cId="2297222951" sldId="2147483747"/>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20/10/2026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20/10/2026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Represents numbers A: Decimals and Percentages</a:t>
            </a:r>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dirty="0">
                <a:latin typeface="Arial"/>
                <a:cs typeface="Arial"/>
              </a:rPr>
              <a:t>Chance A</a:t>
            </a: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dirty="0">
                <a:latin typeface="Arial"/>
                <a:cs typeface="Arial"/>
              </a:rPr>
              <a:t>Two-dimensional spatial structure A: Area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quantity fractions A</a:t>
            </a: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 Mass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A: Decimals and percentages</a:t>
            </a:r>
            <a:br>
              <a:rPr lang="en-AU"/>
            </a:br>
            <a:endParaRPr lang="en-AU"/>
          </a:p>
          <a:p>
            <a:r>
              <a:rPr lang="en-AU" b="1"/>
              <a:t>Recognise that the place value system can be extended beyond hundredths (1)</a:t>
            </a:r>
            <a:br>
              <a:rPr lang="en-AU" b="1"/>
            </a:br>
            <a:r>
              <a:rPr lang="en-AU" b="0"/>
              <a:t>This resource corresponds to </a:t>
            </a:r>
            <a:r>
              <a:rPr lang="en-AU" sz="1600" kern="1200">
                <a:solidFill>
                  <a:schemeClr val="tx1"/>
                </a:solidFill>
                <a:effectLst/>
                <a:latin typeface="Arial" panose="020B0604020202020204" pitchFamily="34" charset="0"/>
                <a:ea typeface="+mn-ea"/>
                <a:cs typeface="Arial" panose="020B0604020202020204" pitchFamily="34" charset="0"/>
              </a:rPr>
              <a:t>Resource 21 – place value chart</a:t>
            </a:r>
            <a:r>
              <a:rPr lang="en-AU" b="0"/>
              <a:t> in Stage 3 Year A Unit 18. </a:t>
            </a:r>
          </a:p>
          <a:p>
            <a:endParaRPr lang="en-AU" b="1"/>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Display the number 4.329 on the board. </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work with a partner to determine and record the value of each of the digits in the number. For example, the 4 has a value of 4 ones, the 3 has a value of 3 tenths, the 2 has a value of 2 hundredths and the 9 has a value of 9 thousandths. </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Select students at random to share their thinking. Provide feedback to students in relation to the place value of each of the digits. Revisit this learning as required. </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Display Resource 21 – place value chart. Provide each student with a copy. </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Model how to identify and record the number that is one thousand times larger than the number 4.329.  </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use Resource 21 – place value chart to identify and record the numbers that are one thousand times larger and one thousand times smaller than the given numbers. </a:t>
            </a:r>
          </a:p>
          <a:p>
            <a:pPr marL="34290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share their work with a partner to gain peer-feedback. They refer to the learning intention and success criteria to determine the success of their partner’s work. Students use sentence stems to give feedback, for example:   </a:t>
            </a:r>
          </a:p>
          <a:p>
            <a:pPr marL="34290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Shall we check together that … (the order of the digits in this smaller number is different to the original number)? </a:t>
            </a:r>
          </a:p>
          <a:p>
            <a:pPr marL="34290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 can see that … (this number is one thousand times larger than the original number). </a:t>
            </a:r>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3F240-5FE0-A85F-7E78-D3D73CF377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4D3B1B-2C30-0AFA-0C2E-89DCA06163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48A933-16D5-6F0D-2243-8638C990BD64}"/>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Data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8624EEF-DBDB-5756-09C4-FD9BF6036BA8}"/>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235946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B: Volume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quantity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 3D Objects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A: Decimals and percentages</a:t>
            </a:r>
            <a:br>
              <a:rPr lang="en-AU"/>
            </a:br>
            <a:endParaRPr lang="en-AU"/>
          </a:p>
          <a:p>
            <a:r>
              <a:rPr lang="en-AU" b="1"/>
              <a:t>Recognise that the place value system can be extended beyond hundredths (2)</a:t>
            </a:r>
          </a:p>
          <a:p>
            <a:r>
              <a:rPr lang="en-AU" b="0"/>
              <a:t>This resource corresponds to </a:t>
            </a:r>
            <a:r>
              <a:rPr lang="en-AU" sz="1600" kern="1200">
                <a:solidFill>
                  <a:schemeClr val="tx1"/>
                </a:solidFill>
                <a:effectLst/>
                <a:latin typeface="Arial" panose="020B0604020202020204" pitchFamily="34" charset="0"/>
                <a:ea typeface="+mn-ea"/>
                <a:cs typeface="Arial" panose="020B0604020202020204" pitchFamily="34" charset="0"/>
              </a:rPr>
              <a:t>Resource 22 – ascending order</a:t>
            </a:r>
            <a:r>
              <a:rPr lang="en-AU" b="0"/>
              <a:t> in Stage 3 Year A Unit 18. </a:t>
            </a:r>
          </a:p>
          <a:p>
            <a:endParaRPr lang="en-AU" b="1"/>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the role of zero as a place holder assists in understanding how we say and write decimals. The number 0.2 has the same value as 0.20 and the number 2 has the same value as 2.0. In measurement, zeros at the end of a decimal have a different meaning as they are used to record precision. For example, a measurement recorded as 0.2 seconds is measured in tenths of a second whereas a measurement recorded as 0.20 seconds is measured in hundredths of a second. </a:t>
            </a:r>
            <a:br>
              <a:rPr lang="en-AU" sz="1600" kern="1200">
                <a:solidFill>
                  <a:schemeClr val="tx1"/>
                </a:solidFill>
                <a:effectLst/>
                <a:latin typeface="Arial" panose="020B0604020202020204" pitchFamily="34" charset="0"/>
                <a:ea typeface="+mn-ea"/>
                <a:cs typeface="Arial" panose="020B0604020202020204" pitchFamily="34" charset="0"/>
              </a:rPr>
            </a:br>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Display the numbers 0, 5 and 9 on the board. Model how to create the smallest and largest numbers as decimals to the thousandths using 0 in the ones place. For example, 0.950 is the largest number that can be created, and 0.059 is the smallest number that can be created. </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Display Resource 22 – ascending order. </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make a list of decimals in ascending order using the numerals 0, 4 and 6 after the decimal point. Each numeral must be used and can only be used once. For example, the smallest decimal is 0.046 and the largest decimal is 0.640. </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Select students at random to share and explain solutions, referring to the place value of digits. Ask the following questions: </a:t>
            </a:r>
          </a:p>
          <a:p>
            <a:pPr marL="34290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do you know your numbers are in ascending order? </a:t>
            </a:r>
          </a:p>
          <a:p>
            <a:pPr marL="34290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strategy was most helpful? </a:t>
            </a:r>
          </a:p>
          <a:p>
            <a:pPr marL="34290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did you check your solutions? </a:t>
            </a:r>
          </a:p>
          <a:p>
            <a:pPr marL="34290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If a digit was repeated, such as 0, 4 and 4, would the task be easier or more difficult? </a:t>
            </a:r>
          </a:p>
          <a:p>
            <a:pPr marL="342900" indent="-342900">
              <a:buFont typeface="+mj-lt"/>
              <a:buAutoNum type="arabicPeriod" startAt="5"/>
            </a:pPr>
            <a:r>
              <a:rPr lang="en-AU" sz="1600" kern="1200">
                <a:solidFill>
                  <a:schemeClr val="tx1"/>
                </a:solidFill>
                <a:effectLst/>
                <a:latin typeface="Arial" panose="020B0604020202020204" pitchFamily="34" charset="0"/>
                <a:ea typeface="+mn-ea"/>
                <a:cs typeface="Arial" panose="020B0604020202020204" pitchFamily="34" charset="0"/>
              </a:rPr>
              <a:t>For an additional challenge, invite students to use the digits 6, 4, 0, 0 and write all the decimal numbers in ascending order from 0.046 to 6.400. </a:t>
            </a: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4DFCD-31FA-F3F1-0503-00AA2F65C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B09FC2-CCEB-CEDC-3A01-C9E26E3255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D3C90A-C744-5006-D536-E6891BDEE957}"/>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dirty="0">
                <a:latin typeface="Arial"/>
                <a:cs typeface="Arial"/>
              </a:rPr>
              <a:t>Represents numbers A: Decimals and percentages</a:t>
            </a:r>
          </a:p>
          <a:p>
            <a:pPr>
              <a:defRPr/>
            </a:pPr>
            <a:endParaRPr lang="en-US" dirty="0">
              <a:solidFill>
                <a:srgbClr val="444444"/>
              </a:solidFill>
              <a:latin typeface="Arial"/>
              <a:cs typeface="Arial"/>
            </a:endParaRPr>
          </a:p>
        </p:txBody>
      </p:sp>
      <p:sp>
        <p:nvSpPr>
          <p:cNvPr id="4" name="Slide Number Placeholder 3">
            <a:extLst>
              <a:ext uri="{FF2B5EF4-FFF2-40B4-BE49-F238E27FC236}">
                <a16:creationId xmlns:a16="http://schemas.microsoft.com/office/drawing/2014/main" id="{CF66ABEE-F3BE-E1BA-B1D3-0327A7ADD536}"/>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2401760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dirty="0">
                <a:latin typeface="Arial"/>
                <a:cs typeface="Arial"/>
              </a:rPr>
              <a:t>Data A</a:t>
            </a: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a:latin typeface="Arial"/>
                <a:cs typeface="Arial"/>
              </a:rPr>
              <a:t>Three-dimensional spatial structure B: Volume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quantity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Represents numbers A: Decimals and percentages</a:t>
            </a:r>
            <a:br>
              <a:rPr lang="en-AU" dirty="0"/>
            </a:br>
            <a:endParaRPr lang="en-AU" dirty="0"/>
          </a:p>
          <a:p>
            <a:r>
              <a:rPr lang="en-AU" b="1" dirty="0"/>
              <a:t>Make connections between benchmark fractions, decimals and percentages (1)</a:t>
            </a:r>
            <a:br>
              <a:rPr lang="en-AU" b="1" dirty="0"/>
            </a:br>
            <a:r>
              <a:rPr lang="en-AU" b="0" dirty="0"/>
              <a:t>This resource corresponds to Resource 23 – What’s missing? in Stage 3 Year A Unit 18. </a:t>
            </a:r>
          </a:p>
          <a:p>
            <a:pPr marL="0" indent="0">
              <a:buFont typeface="+mj-lt"/>
              <a:buNone/>
            </a:pPr>
            <a:endParaRPr lang="en-AU" b="0" dirty="0"/>
          </a:p>
          <a:p>
            <a:pPr marL="342900" indent="-342900">
              <a:buFont typeface="+mj-lt"/>
              <a:buAutoNum type="arabicPeriod"/>
            </a:pPr>
            <a:r>
              <a:rPr lang="en-AU" b="0" dirty="0"/>
              <a:t>Display Resource 23 – What’s missing? Provide each student with a copy. </a:t>
            </a:r>
          </a:p>
          <a:p>
            <a:pPr marL="342900" indent="-342900">
              <a:buFont typeface="+mj-lt"/>
              <a:buAutoNum type="arabicPeriod"/>
            </a:pPr>
            <a:r>
              <a:rPr lang="en-AU" b="0" dirty="0"/>
              <a:t>Explain that the labelled sticky notes fell off the number line and need to be placed back on, in order. </a:t>
            </a:r>
          </a:p>
          <a:p>
            <a:pPr marL="342900" indent="-342900">
              <a:buFont typeface="+mj-lt"/>
              <a:buAutoNum type="arabicPeriod"/>
            </a:pPr>
            <a:r>
              <a:rPr lang="en-AU" b="0" dirty="0"/>
              <a:t>Use a think-aloud to draw attention to the sticky note with 90%, and model where this would be placed on the number line, explaining that 90% is the same as 9/10.</a:t>
            </a:r>
          </a:p>
          <a:p>
            <a:pPr marL="342900" indent="-342900">
              <a:buFont typeface="+mj-lt"/>
              <a:buAutoNum type="arabicPeriod"/>
            </a:pPr>
            <a:r>
              <a:rPr lang="en-AU" b="0" dirty="0"/>
              <a:t>Instruct students to read the number aloud as they place it on the number line. Remind students that the decimal 0.918 is read as ‘nine hundred and eighteen thousandths’, not ‘zero point nine one eight’. </a:t>
            </a:r>
          </a:p>
          <a:p>
            <a:pPr marL="342900" indent="-342900">
              <a:buFont typeface="+mj-lt"/>
              <a:buAutoNum type="arabicPeriod"/>
            </a:pPr>
            <a:r>
              <a:rPr lang="en-AU" b="0" dirty="0"/>
              <a:t>Students work with a partner to identify and record each of the numbers, percentages and fractions on the number line. </a:t>
            </a:r>
          </a:p>
          <a:p>
            <a:pPr marL="342900" indent="-342900">
              <a:buFont typeface="+mj-lt"/>
              <a:buAutoNum type="arabicPeriod"/>
            </a:pPr>
            <a:r>
              <a:rPr lang="en-AU" b="0" dirty="0"/>
              <a:t>Ask: </a:t>
            </a:r>
          </a:p>
          <a:p>
            <a:pPr marL="342900" indent="-342900">
              <a:buFont typeface="Arial" panose="020B0604020202020204" pitchFamily="34" charset="0"/>
              <a:buChar char="•"/>
            </a:pPr>
            <a:r>
              <a:rPr lang="en-AU" b="0" dirty="0"/>
              <a:t>How can you check that you have placed the numbers in the correct order along the number line? </a:t>
            </a:r>
          </a:p>
          <a:p>
            <a:pPr marL="342900" indent="-342900">
              <a:buFont typeface="Arial" panose="020B0604020202020204" pitchFamily="34" charset="0"/>
              <a:buChar char="•"/>
            </a:pPr>
            <a:r>
              <a:rPr lang="en-AU" b="0" dirty="0"/>
              <a:t>Can you identify the place value for each of the digits in a chosen number, for example, 0.901? </a:t>
            </a:r>
          </a:p>
          <a:p>
            <a:pPr marL="342900" indent="-342900">
              <a:buFont typeface="Arial" panose="020B0604020202020204" pitchFamily="34" charset="0"/>
              <a:buChar char="•"/>
            </a:pPr>
            <a:r>
              <a:rPr lang="en-AU" b="0" dirty="0"/>
              <a:t>Did you think differently to place the fractions and percentages? </a:t>
            </a:r>
          </a:p>
          <a:p>
            <a:pPr marL="342900" indent="-342900">
              <a:buFont typeface="Arial" panose="020B0604020202020204" pitchFamily="34" charset="0"/>
              <a:buChar char="•"/>
            </a:pPr>
            <a:r>
              <a:rPr lang="en-AU" b="0" dirty="0"/>
              <a:t>Did you identify and record all the numbers on the number line? Why or why not? </a:t>
            </a:r>
          </a:p>
          <a:p>
            <a:pPr marL="342900" indent="-342900">
              <a:buFont typeface="+mj-lt"/>
              <a:buAutoNum type="arabicPeriod" startAt="7"/>
            </a:pPr>
            <a:r>
              <a:rPr lang="en-AU" b="0" dirty="0"/>
              <a:t>Select students at random to share their thinking. Repeat with other students.  </a:t>
            </a:r>
          </a:p>
          <a:p>
            <a:pPr marL="342900" indent="-342900">
              <a:buFont typeface="+mj-lt"/>
              <a:buAutoNum type="arabicPeriod" startAt="7"/>
            </a:pPr>
            <a:r>
              <a:rPr lang="en-AU" b="0" dirty="0"/>
              <a:t>Revisit learning as required through providing explicit feedback in connection with the learning intentions and success criteria. </a:t>
            </a:r>
          </a:p>
          <a:p>
            <a:pPr marL="342900" indent="-342900">
              <a:buFont typeface="+mj-lt"/>
              <a:buAutoNum type="arabicPeriod" startAt="7"/>
            </a:pPr>
            <a:endParaRPr lang="en-AU" b="1" dirty="0"/>
          </a:p>
          <a:p>
            <a:pPr marL="342900" indent="-342900">
              <a:buFont typeface="+mj-lt"/>
              <a:buAutoNum type="arabicPeriod" startAt="7"/>
            </a:pPr>
            <a:endParaRPr lang="en-AU" dirty="0"/>
          </a:p>
          <a:p>
            <a:endParaRPr lang="en-AU" dirty="0"/>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8)</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Represents numbers A: Decimals and percentages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A</a:t>
            </a: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B: Volume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quantity fractions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Non-spatial measure A: Time</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areas:</a:t>
            </a:r>
          </a:p>
          <a:p>
            <a:r>
              <a:rPr lang="en-AU" dirty="0"/>
              <a:t>Represents numbers A: Decimals and percentages</a:t>
            </a:r>
            <a:br>
              <a:rPr lang="en-AU" dirty="0"/>
            </a:br>
            <a:r>
              <a:rPr lang="en-AU" dirty="0"/>
              <a:t>Represents numbers B: Decimals and percentages</a:t>
            </a:r>
            <a:br>
              <a:rPr lang="en-AU" dirty="0"/>
            </a:br>
            <a:endParaRPr lang="en-AU" dirty="0"/>
          </a:p>
          <a:p>
            <a:r>
              <a:rPr lang="en-AU" b="1" dirty="0"/>
              <a:t>Make connections between benchmark fractions, decimals and percentages (2)</a:t>
            </a:r>
          </a:p>
          <a:p>
            <a:r>
              <a:rPr lang="en-AU" b="0" dirty="0"/>
              <a:t>This resource corresponds to </a:t>
            </a:r>
            <a:r>
              <a:rPr lang="en-AU" sz="1600" kern="1200" dirty="0">
                <a:solidFill>
                  <a:schemeClr val="tx1"/>
                </a:solidFill>
                <a:effectLst/>
                <a:latin typeface="Arial" panose="020B0604020202020204" pitchFamily="34" charset="0"/>
                <a:ea typeface="+mn-ea"/>
                <a:cs typeface="Arial" panose="020B0604020202020204" pitchFamily="34" charset="0"/>
              </a:rPr>
              <a:t>Resource 24 – mystery fractions </a:t>
            </a:r>
            <a:r>
              <a:rPr lang="en-AU" b="0" dirty="0"/>
              <a:t>in Stage 3 Year A Unit 18. </a:t>
            </a:r>
          </a:p>
          <a:p>
            <a:endParaRPr lang="en-AU" b="1" dirty="0"/>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Display Resource 24 – mystery fractions. Provide each student with a copy. </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Explain that this number line has 3 unidentified marks: A, B and C. The number line also has the numbers -0.100, -0.500, 0, 0.750 and 1 marked. Explain that the missing numbers are fractions. </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Students turn and talk with their partner about how they might determine the mystery fractions and what clues they might use to help them. </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Select students at random to share their thinking with the class. Repeat with additional students. </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Students work with their partner to determine the missing fractions. </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Check for understanding by asking students to display their work. Scan for student understanding, give feedback and clarify thinking as required.</a:t>
            </a:r>
          </a:p>
          <a:p>
            <a:pPr marL="0" indent="0">
              <a:buFont typeface="+mj-lt"/>
              <a:buNone/>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40367651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27157599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357475988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86665171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24" r:id="rId3"/>
    <p:sldLayoutId id="2147483751" r:id="rId4"/>
    <p:sldLayoutId id="2147483754" r:id="rId5"/>
    <p:sldLayoutId id="2147483752" r:id="rId6"/>
    <p:sldLayoutId id="2147483753" r:id="rId7"/>
    <p:sldLayoutId id="2147483723" r:id="rId8"/>
    <p:sldLayoutId id="2147483749" r:id="rId9"/>
    <p:sldLayoutId id="2147483746" r:id="rId10"/>
    <p:sldLayoutId id="2147483725" r:id="rId11"/>
    <p:sldLayoutId id="2147483743" r:id="rId12"/>
    <p:sldLayoutId id="2147483750" r:id="rId13"/>
    <p:sldLayoutId id="2147483744" r:id="rId1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7.png"/><Relationship Id="rId4" Type="http://schemas.microsoft.com/office/2017/06/relationships/model3d" Target="../media/model3d1.glb"/></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51.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56.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4.sv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60.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62.png"/><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65.png"/></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4.xml"/><Relationship Id="rId1" Type="http://schemas.openxmlformats.org/officeDocument/2006/relationships/slideLayout" Target="../slideLayouts/slideLayout10.xml"/><Relationship Id="rId5" Type="http://schemas.openxmlformats.org/officeDocument/2006/relationships/image" Target="../media/image20.svg"/><Relationship Id="rId4" Type="http://schemas.openxmlformats.org/officeDocument/2006/relationships/slide" Target="slide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8" Type="http://schemas.openxmlformats.org/officeDocument/2006/relationships/hyperlink" Target="https://www.abs.gov.au/AUSSTATS/abs@.nsf/DetailsPage/2101.01991" TargetMode="External"/><Relationship Id="rId13" Type="http://schemas.openxmlformats.org/officeDocument/2006/relationships/hyperlink" Target="https://curriculum.nsw.edu.au/" TargetMode="External"/><Relationship Id="rId3" Type="http://schemas.openxmlformats.org/officeDocument/2006/relationships/hyperlink" Target="https://curriculum.nsw.edu.au/learning-areas/mathematics/mathematics-k-10-2022/overview" TargetMode="External"/><Relationship Id="rId7" Type="http://schemas.openxmlformats.org/officeDocument/2006/relationships/hyperlink" Target="https://resolve.edu.au/v84-sequences/data-making-decisions" TargetMode="External"/><Relationship Id="rId12" Type="http://schemas.openxmlformats.org/officeDocument/2006/relationships/hyperlink" Target="https://educationstandards.nsw.edu.au/wps/portal/nesa/home" TargetMode="External"/><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hyperlink" Target="https://www.abc.net.au/btn/classroom/world-statistics-day/12769384" TargetMode="External"/><Relationship Id="rId11" Type="http://schemas.openxmlformats.org/officeDocument/2006/relationships/hyperlink" Target="https://educationstandards.nsw.edu.au/wps/portal/nesa/mini-footer/copyright" TargetMode="External"/><Relationship Id="rId5" Type="http://schemas.openxmlformats.org/officeDocument/2006/relationships/hyperlink" Target="http://www.australiancurriculum.edu.au/" TargetMode="External"/><Relationship Id="rId10" Type="http://schemas.openxmlformats.org/officeDocument/2006/relationships/hyperlink" Target="https://www.abs.gov.au/statistics/people/people-and-communities/cultural-diversity-census/latest-release#cite-window1" TargetMode="External"/><Relationship Id="rId4" Type="http://schemas.openxmlformats.org/officeDocument/2006/relationships/hyperlink" Target="https://education.nsw.gov.au/teaching-and-learning/curriculum/literacy-and-numeracy/resources-for-schools/learning-progressions" TargetMode="External"/><Relationship Id="rId9" Type="http://schemas.openxmlformats.org/officeDocument/2006/relationships/hyperlink" Target="https://www.abs.gov.au/ausstats/abs@.nsf/lookup/media%20release3" TargetMode="External"/></Relationships>
</file>

<file path=ppt/slides/_rels/slide38.xml.rels><?xml version="1.0" encoding="UTF-8" standalone="yes"?>
<Relationships xmlns="http://schemas.openxmlformats.org/package/2006/relationships"><Relationship Id="rId8" Type="http://schemas.openxmlformats.org/officeDocument/2006/relationships/hyperlink" Target="https://www.youtube.com/watch?v=kAcBuOXiLwk"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curriculum.nsw.edu.au/learning-areas/mathematics/mathematics-k-10-2022/glossary" TargetMode="External"/><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hyperlink" Target="https://ed.ted.com/lessons/how-to-spot-a-misleading-graph-lea-gaslowitz" TargetMode="External"/><Relationship Id="rId5" Type="http://schemas.openxmlformats.org/officeDocument/2006/relationships/hyperlink" Target="https://curriculum.nsw.edu.au/" TargetMode="External"/><Relationship Id="rId10" Type="http://schemas.openxmlformats.org/officeDocument/2006/relationships/hyperlink" Target="https://nrich.maths.org/7250"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www.sbs.com.au/news/creative/census-explorer/xtjxeqygs?lang=en&amp;placeType=australia&amp;places=australia&amp;topic=cultural-diversity"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https://educationstandards.nsw.edu.au/wps/portal/nesa/mini-footer/copyright" TargetMode="External"/><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hyperlink" Target="https://nrich.maths.org/1077"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s>
</file>

<file path=ppt/slides/_rels/slide40.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BCC904-C834-E490-B334-2E65478E2C62}"/>
              </a:ext>
            </a:extLst>
          </p:cNvPr>
          <p:cNvSpPr>
            <a:spLocks noGrp="1"/>
          </p:cNvSpPr>
          <p:nvPr>
            <p:ph type="sldNum" sz="quarter" idx="12"/>
          </p:nvPr>
        </p:nvSpPr>
        <p:spPr/>
        <p:txBody>
          <a:bodyPr/>
          <a:lstStyle/>
          <a:p>
            <a:fld id="{10A01DC5-1685-4615-8240-15192985C6A2}" type="slidenum">
              <a:rPr lang="en-AU" smtClean="0"/>
              <a:t>2</a:t>
            </a:fld>
            <a:endParaRPr lang="en-AU"/>
          </a:p>
        </p:txBody>
      </p:sp>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(3)</a:t>
            </a:r>
          </a:p>
        </p:txBody>
      </p:sp>
      <p:sp>
        <p:nvSpPr>
          <p:cNvPr id="18" name="Text Placeholder 17">
            <a:extLst>
              <a:ext uri="{FF2B5EF4-FFF2-40B4-BE49-F238E27FC236}">
                <a16:creationId xmlns:a16="http://schemas.microsoft.com/office/drawing/2014/main" id="{E180F3B1-ACC7-4559-EA73-174DB17A0983}"/>
              </a:ext>
            </a:extLst>
          </p:cNvPr>
          <p:cNvSpPr>
            <a:spLocks noGrp="1"/>
          </p:cNvSpPr>
          <p:nvPr>
            <p:ph type="body" sz="quarter" idx="24"/>
          </p:nvPr>
        </p:nvSpPr>
        <p:spPr>
          <a:xfrm>
            <a:off x="797859" y="1184019"/>
            <a:ext cx="10796213" cy="893226"/>
          </a:xfrm>
        </p:spPr>
        <p:txBody>
          <a:bodyPr/>
          <a:lstStyle/>
          <a:p>
            <a:pPr algn="ctr"/>
            <a:r>
              <a:rPr lang="en-AU" sz="4400" dirty="0"/>
              <a:t>A number has </a:t>
            </a:r>
            <a:r>
              <a:rPr lang="en-AU" sz="4400" b="1" dirty="0"/>
              <a:t>3 ones</a:t>
            </a:r>
            <a:r>
              <a:rPr lang="en-AU" sz="4400" dirty="0"/>
              <a:t>, </a:t>
            </a:r>
            <a:r>
              <a:rPr lang="en-AU" sz="4400" b="1" dirty="0"/>
              <a:t>5 tenths</a:t>
            </a:r>
            <a:r>
              <a:rPr lang="en-AU" sz="4400" dirty="0"/>
              <a:t>, </a:t>
            </a:r>
            <a:r>
              <a:rPr lang="en-AU" sz="4400" b="1" dirty="0"/>
              <a:t>4 hundredths </a:t>
            </a:r>
            <a:r>
              <a:rPr lang="en-AU" sz="4400" dirty="0"/>
              <a:t>and </a:t>
            </a:r>
            <a:r>
              <a:rPr lang="en-AU" sz="4400" b="1" dirty="0"/>
              <a:t>9 thousandths</a:t>
            </a:r>
            <a:r>
              <a:rPr lang="en-AU" sz="4400" dirty="0"/>
              <a:t>.</a:t>
            </a:r>
          </a:p>
          <a:p>
            <a:pPr algn="ctr"/>
            <a:r>
              <a:rPr lang="en-AU" sz="4400" dirty="0"/>
              <a:t>Which letter matches this number?</a:t>
            </a:r>
            <a:endParaRPr lang="en-US" sz="4400" dirty="0"/>
          </a:p>
        </p:txBody>
      </p:sp>
      <p:grpSp>
        <p:nvGrpSpPr>
          <p:cNvPr id="5" name="Group 4">
            <a:extLst>
              <a:ext uri="{FF2B5EF4-FFF2-40B4-BE49-F238E27FC236}">
                <a16:creationId xmlns:a16="http://schemas.microsoft.com/office/drawing/2014/main" id="{CB08A214-C837-CE02-AE60-53F69075195E}"/>
              </a:ext>
              <a:ext uri="{C183D7F6-B498-43B3-948B-1728B52AA6E4}">
                <adec:decorative xmlns:adec="http://schemas.microsoft.com/office/drawing/2017/decorative" val="1"/>
              </a:ext>
            </a:extLst>
          </p:cNvPr>
          <p:cNvGrpSpPr/>
          <p:nvPr/>
        </p:nvGrpSpPr>
        <p:grpSpPr>
          <a:xfrm>
            <a:off x="1215766" y="5595856"/>
            <a:ext cx="9541349" cy="738664"/>
            <a:chOff x="1215766" y="5595856"/>
            <a:chExt cx="9541349" cy="738664"/>
          </a:xfrm>
        </p:grpSpPr>
        <p:sp>
          <p:nvSpPr>
            <p:cNvPr id="9" name="TextBox 8">
              <a:extLst>
                <a:ext uri="{FF2B5EF4-FFF2-40B4-BE49-F238E27FC236}">
                  <a16:creationId xmlns:a16="http://schemas.microsoft.com/office/drawing/2014/main" id="{4E6EA9CC-6235-8807-420B-A4371AC418C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AB24A3E-5574-D79C-6A0F-06D3F8A29BB1}"/>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C22AC239-77AC-A298-F7CD-0F89091EC017}"/>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D92289C6-858E-E449-16B6-10640E9A4385}"/>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grpSp>
      <p:pic>
        <p:nvPicPr>
          <p:cNvPr id="4" name="Picture 3" descr="image of a finger selecting an option for a multiple choice or true and false">
            <a:extLst>
              <a:ext uri="{FF2B5EF4-FFF2-40B4-BE49-F238E27FC236}">
                <a16:creationId xmlns:a16="http://schemas.microsoft.com/office/drawing/2014/main" id="{052C7F21-CF1B-B8E5-D48F-252B3A5306C6}"/>
              </a:ext>
            </a:extLst>
          </p:cNvPr>
          <p:cNvPicPr>
            <a:picLocks noChangeAspect="1"/>
          </p:cNvPicPr>
          <p:nvPr/>
        </p:nvPicPr>
        <p:blipFill>
          <a:blip r:embed="rId3"/>
          <a:stretch>
            <a:fillRect/>
          </a:stretch>
        </p:blipFill>
        <p:spPr>
          <a:xfrm>
            <a:off x="10807908" y="43303"/>
            <a:ext cx="1165786" cy="1140716"/>
          </a:xfrm>
          <a:prstGeom prst="rect">
            <a:avLst/>
          </a:prstGeom>
          <a:ln>
            <a:noFill/>
          </a:ln>
        </p:spPr>
      </p:pic>
      <p:sp>
        <p:nvSpPr>
          <p:cNvPr id="16" name="TextBox 15">
            <a:extLst>
              <a:ext uri="{FF2B5EF4-FFF2-40B4-BE49-F238E27FC236}">
                <a16:creationId xmlns:a16="http://schemas.microsoft.com/office/drawing/2014/main" id="{633B80E6-4BC9-C27C-1705-07EF8E2F78D9}"/>
              </a:ext>
            </a:extLst>
          </p:cNvPr>
          <p:cNvSpPr txBox="1"/>
          <p:nvPr/>
        </p:nvSpPr>
        <p:spPr>
          <a:xfrm>
            <a:off x="797858" y="4780756"/>
            <a:ext cx="10927977" cy="1446550"/>
          </a:xfrm>
          <a:prstGeom prst="rect">
            <a:avLst/>
          </a:prstGeom>
          <a:noFill/>
        </p:spPr>
        <p:txBody>
          <a:bodyPr wrap="square">
            <a:spAutoFit/>
          </a:bodyPr>
          <a:lstStyle/>
          <a:p>
            <a:r>
              <a:rPr lang="en-AU" sz="4400"/>
              <a:t>9453 		   9.453 	 	  53.49			  3.549 	</a:t>
            </a:r>
          </a:p>
        </p:txBody>
      </p:sp>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a:t>
            </a:fld>
            <a:endParaRPr lang="en-AU"/>
          </a:p>
        </p:txBody>
      </p:sp>
      <p:pic>
        <p:nvPicPr>
          <p:cNvPr id="3" name="Picture 2" descr="image of a clipboard with a pencil recording short answer responses">
            <a:extLst>
              <a:ext uri="{FF2B5EF4-FFF2-40B4-BE49-F238E27FC236}">
                <a16:creationId xmlns:a16="http://schemas.microsoft.com/office/drawing/2014/main" id="{2D93CD05-EEB0-3C8B-380D-9FC3C1D14985}"/>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8" name="TextBox 7">
            <a:extLst>
              <a:ext uri="{FF2B5EF4-FFF2-40B4-BE49-F238E27FC236}">
                <a16:creationId xmlns:a16="http://schemas.microsoft.com/office/drawing/2014/main" id="{36D815E6-B1C6-BF74-E5A2-E2FEBBE3D310}"/>
              </a:ext>
            </a:extLst>
          </p:cNvPr>
          <p:cNvSpPr txBox="1"/>
          <p:nvPr/>
        </p:nvSpPr>
        <p:spPr>
          <a:xfrm>
            <a:off x="425336" y="1323474"/>
            <a:ext cx="11341328" cy="3013838"/>
          </a:xfrm>
          <a:prstGeom prst="rect">
            <a:avLst/>
          </a:prstGeom>
          <a:noFill/>
        </p:spPr>
        <p:txBody>
          <a:bodyPr wrap="square">
            <a:spAutoFit/>
          </a:bodyPr>
          <a:lstStyle/>
          <a:p>
            <a:pPr algn="ctr">
              <a:lnSpc>
                <a:spcPct val="150000"/>
              </a:lnSpc>
            </a:pPr>
            <a:r>
              <a:rPr lang="en-AU" sz="4400"/>
              <a:t>Jordie needs to roll a ‘6’ to win a boardgame. Record the </a:t>
            </a:r>
            <a:r>
              <a:rPr lang="en-AU" sz="4400" b="1"/>
              <a:t>probability</a:t>
            </a:r>
            <a:r>
              <a:rPr lang="en-AU" sz="4400"/>
              <a:t> of him rolling </a:t>
            </a:r>
          </a:p>
          <a:p>
            <a:pPr algn="ctr">
              <a:lnSpc>
                <a:spcPct val="150000"/>
              </a:lnSpc>
            </a:pPr>
            <a:r>
              <a:rPr lang="en-AU" sz="4400"/>
              <a:t>a ‘6’ as </a:t>
            </a:r>
            <a:r>
              <a:rPr lang="en-AU" sz="4400" b="1"/>
              <a:t>a fraction</a:t>
            </a:r>
            <a:r>
              <a:rPr lang="en-AU" sz="4400"/>
              <a:t>.</a:t>
            </a:r>
            <a:endParaRPr lang="en-AU" sz="4800"/>
          </a:p>
        </p:txBody>
      </p:sp>
      <mc:AlternateContent xmlns:mc="http://schemas.openxmlformats.org/markup-compatibility/2006">
        <mc:Choice xmlns:am3d="http://schemas.microsoft.com/office/drawing/2017/model3d" Requires="am3d">
          <p:graphicFrame>
            <p:nvGraphicFramePr>
              <p:cNvPr id="9" name="3D Model 8" descr="Dice 6 Sided 16mm">
                <a:extLst>
                  <a:ext uri="{FF2B5EF4-FFF2-40B4-BE49-F238E27FC236}">
                    <a16:creationId xmlns:a16="http://schemas.microsoft.com/office/drawing/2014/main" id="{D83EC5A4-4952-826C-9CDC-916CD72076F2}"/>
                  </a:ext>
                </a:extLst>
              </p:cNvPr>
              <p:cNvGraphicFramePr>
                <a:graphicFrameLocks noChangeAspect="1"/>
              </p:cNvGraphicFramePr>
              <p:nvPr>
                <p:extLst>
                  <p:ext uri="{D42A27DB-BD31-4B8C-83A1-F6EECF244321}">
                    <p14:modId xmlns:p14="http://schemas.microsoft.com/office/powerpoint/2010/main" val="969127916"/>
                  </p:ext>
                </p:extLst>
              </p:nvPr>
            </p:nvGraphicFramePr>
            <p:xfrm>
              <a:off x="539193" y="3531803"/>
              <a:ext cx="2536515" cy="2720988"/>
            </p:xfrm>
            <a:graphic>
              <a:graphicData uri="http://schemas.microsoft.com/office/drawing/2017/model3d">
                <am3d:model3d r:embed="rId4">
                  <am3d:spPr>
                    <a:xfrm>
                      <a:off x="0" y="0"/>
                      <a:ext cx="2536515" cy="2720988"/>
                    </a:xfrm>
                    <a:prstGeom prst="rect">
                      <a:avLst/>
                    </a:prstGeom>
                  </am3d:spPr>
                  <am3d:camera>
                    <am3d:pos x="0" y="0" z="81469193"/>
                    <am3d:up dx="0" dy="36000000" dz="0"/>
                    <am3d:lookAt x="0" y="0" z="0"/>
                    <am3d:perspective fov="2700000"/>
                  </am3d:camera>
                  <am3d:trans>
                    <am3d:meterPerModelUnit n="6265663" d="1000000"/>
                    <am3d:preTrans dx="-34" dy="-17999946" dz="55"/>
                    <am3d:scale>
                      <am3d:sx n="1000000" d="1000000"/>
                      <am3d:sy n="1000000" d="1000000"/>
                      <am3d:sz n="1000000" d="1000000"/>
                    </am3d:scale>
                    <am3d:rot ax="2366109" ay="1515341" az="1160149"/>
                    <am3d:postTrans dx="0" dy="0" dz="0"/>
                  </am3d:trans>
                  <am3d:raster rName="Office3DRenderer" rVer="16.0.8326">
                    <am3d:blip r:embed="rId5"/>
                  </am3d:raster>
                  <am3d:objViewport viewportSz="285012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 name="3D Model 8" descr="Dice 6 Sided 16mm">
                <a:extLst>
                  <a:ext uri="{FF2B5EF4-FFF2-40B4-BE49-F238E27FC236}">
                    <a16:creationId xmlns:a16="http://schemas.microsoft.com/office/drawing/2014/main" id="{D83EC5A4-4952-826C-9CDC-916CD72076F2}"/>
                  </a:ext>
                </a:extLst>
              </p:cNvPr>
              <p:cNvPicPr>
                <a:picLocks noGrp="1" noRot="1" noChangeAspect="1" noMove="1" noResize="1" noEditPoints="1" noAdjustHandles="1" noChangeArrowheads="1" noChangeShapeType="1" noCrop="1"/>
              </p:cNvPicPr>
              <p:nvPr/>
            </p:nvPicPr>
            <p:blipFill>
              <a:blip r:embed="rId5"/>
              <a:stretch>
                <a:fillRect/>
              </a:stretch>
            </p:blipFill>
            <p:spPr>
              <a:xfrm>
                <a:off x="539193" y="3531803"/>
                <a:ext cx="2536515" cy="2720988"/>
              </a:xfrm>
              <a:prstGeom prst="rect">
                <a:avLst/>
              </a:prstGeom>
            </p:spPr>
          </p:pic>
        </mc:Fallback>
      </mc:AlternateContent>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a:t>
            </a:fld>
            <a:endParaRPr lang="en-AU"/>
          </a:p>
        </p:txBody>
      </p:sp>
      <p:pic>
        <p:nvPicPr>
          <p:cNvPr id="3" name="Picture 2" descr="image of a clipboard with a pencil recording short answer responses">
            <a:extLst>
              <a:ext uri="{FF2B5EF4-FFF2-40B4-BE49-F238E27FC236}">
                <a16:creationId xmlns:a16="http://schemas.microsoft.com/office/drawing/2014/main" id="{E34FFB15-F7DE-0945-FB9C-D8A36F224B61}"/>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5" name="TextBox 4">
            <a:extLst>
              <a:ext uri="{FF2B5EF4-FFF2-40B4-BE49-F238E27FC236}">
                <a16:creationId xmlns:a16="http://schemas.microsoft.com/office/drawing/2014/main" id="{A3D83D6C-CBE9-0763-B5D4-DC3E0DA79CCC}"/>
              </a:ext>
            </a:extLst>
          </p:cNvPr>
          <p:cNvSpPr txBox="1"/>
          <p:nvPr/>
        </p:nvSpPr>
        <p:spPr>
          <a:xfrm>
            <a:off x="180752" y="1326837"/>
            <a:ext cx="11515062" cy="2554545"/>
          </a:xfrm>
          <a:prstGeom prst="rect">
            <a:avLst/>
          </a:prstGeom>
          <a:noFill/>
        </p:spPr>
        <p:txBody>
          <a:bodyPr wrap="square">
            <a:spAutoFit/>
          </a:bodyPr>
          <a:lstStyle/>
          <a:p>
            <a:pPr algn="ctr"/>
            <a:r>
              <a:rPr lang="en-AU" sz="4000" dirty="0"/>
              <a:t>A soccer field has an </a:t>
            </a:r>
            <a:r>
              <a:rPr lang="en-AU" sz="4000" b="1" dirty="0"/>
              <a:t>area</a:t>
            </a:r>
            <a:r>
              <a:rPr lang="en-AU" sz="4000" dirty="0"/>
              <a:t> of </a:t>
            </a:r>
            <a:r>
              <a:rPr lang="en-AU" sz="4000" b="1" dirty="0"/>
              <a:t>486 square metres</a:t>
            </a:r>
            <a:r>
              <a:rPr lang="en-AU" sz="4000" dirty="0"/>
              <a:t>. One side (the width) measures </a:t>
            </a:r>
            <a:r>
              <a:rPr lang="en-AU" sz="4000" b="1" dirty="0"/>
              <a:t>6 metres.</a:t>
            </a:r>
          </a:p>
          <a:p>
            <a:pPr algn="ctr"/>
            <a:endParaRPr lang="en-AU" sz="4000" dirty="0"/>
          </a:p>
          <a:p>
            <a:pPr algn="ctr"/>
            <a:r>
              <a:rPr lang="en-AU" sz="4000" b="1" dirty="0"/>
              <a:t>What</a:t>
            </a:r>
            <a:r>
              <a:rPr lang="en-AU" sz="4000" dirty="0"/>
              <a:t> is the </a:t>
            </a:r>
            <a:r>
              <a:rPr lang="en-AU" sz="4000" b="1" dirty="0"/>
              <a:t>length </a:t>
            </a:r>
            <a:r>
              <a:rPr lang="en-AU" sz="4000" dirty="0"/>
              <a:t>of the soccer field?  </a:t>
            </a:r>
          </a:p>
        </p:txBody>
      </p:sp>
      <p:pic>
        <p:nvPicPr>
          <p:cNvPr id="7" name="Picture 6">
            <a:extLst>
              <a:ext uri="{FF2B5EF4-FFF2-40B4-BE49-F238E27FC236}">
                <a16:creationId xmlns:a16="http://schemas.microsoft.com/office/drawing/2014/main" id="{60B49602-4B0B-DAC9-DB1D-D2DB4BF628CF}"/>
              </a:ext>
            </a:extLst>
          </p:cNvPr>
          <p:cNvPicPr>
            <a:picLocks noChangeAspect="1"/>
          </p:cNvPicPr>
          <p:nvPr/>
        </p:nvPicPr>
        <p:blipFill>
          <a:blip r:embed="rId4"/>
          <a:stretch>
            <a:fillRect/>
          </a:stretch>
        </p:blipFill>
        <p:spPr>
          <a:xfrm>
            <a:off x="3695784" y="3950156"/>
            <a:ext cx="3695700" cy="2655844"/>
          </a:xfrm>
          <a:prstGeom prst="rect">
            <a:avLst/>
          </a:prstGeom>
        </p:spPr>
      </p:pic>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pic>
        <p:nvPicPr>
          <p:cNvPr id="3" name="Picture 2" descr="image of a clipboard with a pencil recording short answer responses">
            <a:extLst>
              <a:ext uri="{FF2B5EF4-FFF2-40B4-BE49-F238E27FC236}">
                <a16:creationId xmlns:a16="http://schemas.microsoft.com/office/drawing/2014/main" id="{B38D0ADF-3DD6-732F-15F0-9E23C650943F}"/>
              </a:ext>
            </a:extLst>
          </p:cNvPr>
          <p:cNvPicPr>
            <a:picLocks noChangeAspect="1"/>
          </p:cNvPicPr>
          <p:nvPr/>
        </p:nvPicPr>
        <p:blipFill>
          <a:blip r:embed="rId3"/>
          <a:stretch>
            <a:fillRect/>
          </a:stretch>
        </p:blipFill>
        <p:spPr>
          <a:xfrm>
            <a:off x="11030476" y="268723"/>
            <a:ext cx="915500" cy="915500"/>
          </a:xfrm>
          <a:prstGeom prst="rect">
            <a:avLst/>
          </a:prstGeom>
          <a:ln>
            <a:noFill/>
          </a:ln>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DCE8F51-64BA-D47B-9DA3-389E464D1CF6}"/>
                  </a:ext>
                </a:extLst>
              </p:cNvPr>
              <p:cNvSpPr txBox="1"/>
              <p:nvPr/>
            </p:nvSpPr>
            <p:spPr>
              <a:xfrm>
                <a:off x="360000" y="1434960"/>
                <a:ext cx="11123788" cy="4573111"/>
              </a:xfrm>
              <a:prstGeom prst="rect">
                <a:avLst/>
              </a:prstGeom>
              <a:noFill/>
            </p:spPr>
            <p:txBody>
              <a:bodyPr wrap="square">
                <a:spAutoFit/>
              </a:bodyPr>
              <a:lstStyle/>
              <a:p>
                <a:pPr lvl="0" algn="ctr">
                  <a:spcBef>
                    <a:spcPts val="1200"/>
                  </a:spcBef>
                  <a:spcAft>
                    <a:spcPts val="600"/>
                  </a:spcAft>
                  <a:tabLst>
                    <a:tab pos="228600" algn="l"/>
                    <a:tab pos="457200" algn="l"/>
                  </a:tabLst>
                </a:pPr>
                <a:r>
                  <a:rPr lang="en-AU" sz="4000">
                    <a:effectLst/>
                    <a:ea typeface="Calibri" panose="020F0502020204030204" pitchFamily="34" charset="0"/>
                  </a:rPr>
                  <a:t>Two pastry chefs have each opened a bag of flour. One bag is </a:t>
                </a:r>
                <a:r>
                  <a:rPr lang="en-AU" sz="4000" b="1">
                    <a:effectLst/>
                    <a:ea typeface="Calibri" panose="020F0502020204030204" pitchFamily="34" charset="0"/>
                  </a:rPr>
                  <a:t>five-eighths ( </a:t>
                </a:r>
                <a14:m>
                  <m:oMath xmlns:m="http://schemas.openxmlformats.org/officeDocument/2006/math">
                    <m:f>
                      <m:fPr>
                        <m:ctrlPr>
                          <a:rPr lang="en-AU" sz="4000" b="1" i="1" smtClean="0">
                            <a:effectLst/>
                            <a:latin typeface="Cambria Math" panose="02040503050406030204" pitchFamily="18" charset="0"/>
                            <a:ea typeface="Calibri" panose="020F0502020204030204" pitchFamily="34" charset="0"/>
                          </a:rPr>
                        </m:ctrlPr>
                      </m:fPr>
                      <m:num>
                        <m:r>
                          <a:rPr lang="en-AU" sz="4000" b="1" i="1" smtClean="0">
                            <a:effectLst/>
                            <a:latin typeface="Cambria Math" panose="02040503050406030204" pitchFamily="18" charset="0"/>
                            <a:ea typeface="Calibri" panose="020F0502020204030204" pitchFamily="34" charset="0"/>
                          </a:rPr>
                          <m:t>𝟓</m:t>
                        </m:r>
                      </m:num>
                      <m:den>
                        <m:r>
                          <a:rPr lang="en-AU" sz="4000" b="1" i="1" smtClean="0">
                            <a:effectLst/>
                            <a:latin typeface="Cambria Math" panose="02040503050406030204" pitchFamily="18" charset="0"/>
                            <a:ea typeface="Calibri" panose="020F0502020204030204" pitchFamily="34" charset="0"/>
                          </a:rPr>
                          <m:t>𝟖</m:t>
                        </m:r>
                      </m:den>
                    </m:f>
                    <m:r>
                      <a:rPr lang="en-AU" sz="4000" b="1" i="1">
                        <a:effectLst/>
                        <a:latin typeface="Cambria Math" panose="02040503050406030204" pitchFamily="18" charset="0"/>
                        <a:ea typeface="Calibri" panose="020F0502020204030204" pitchFamily="34" charset="0"/>
                      </a:rPr>
                      <m:t> </m:t>
                    </m:r>
                  </m:oMath>
                </a14:m>
                <a:r>
                  <a:rPr lang="en-AU" sz="4000" b="1">
                    <a:effectLst/>
                    <a:ea typeface="Calibri" panose="020F0502020204030204" pitchFamily="34" charset="0"/>
                  </a:rPr>
                  <a:t>) full </a:t>
                </a:r>
                <a:r>
                  <a:rPr lang="en-AU" sz="4000">
                    <a:effectLst/>
                    <a:ea typeface="Calibri" panose="020F0502020204030204" pitchFamily="34" charset="0"/>
                  </a:rPr>
                  <a:t>and the other is </a:t>
                </a:r>
                <a:r>
                  <a:rPr lang="en-AU" sz="4000" b="1">
                    <a:ea typeface="Calibri" panose="020F0502020204030204" pitchFamily="34" charset="0"/>
                  </a:rPr>
                  <a:t>six-eighths </a:t>
                </a:r>
                <a:r>
                  <a:rPr lang="en-AU" sz="4000" b="1">
                    <a:effectLst/>
                    <a:ea typeface="Calibri" panose="020F0502020204030204" pitchFamily="34" charset="0"/>
                  </a:rPr>
                  <a:t>(</a:t>
                </a:r>
                <a14:m>
                  <m:oMath xmlns:m="http://schemas.openxmlformats.org/officeDocument/2006/math">
                    <m:r>
                      <a:rPr lang="en-AU" sz="4000" b="1" i="1">
                        <a:effectLst/>
                        <a:latin typeface="Cambria Math" panose="02040503050406030204" pitchFamily="18" charset="0"/>
                        <a:ea typeface="Calibri" panose="020F0502020204030204" pitchFamily="34" charset="0"/>
                      </a:rPr>
                      <m:t> </m:t>
                    </m:r>
                    <m:f>
                      <m:fPr>
                        <m:ctrlPr>
                          <a:rPr lang="en-AU" sz="4000" b="1" i="1" smtClean="0">
                            <a:effectLst/>
                            <a:latin typeface="Cambria Math" panose="02040503050406030204" pitchFamily="18" charset="0"/>
                            <a:ea typeface="Calibri" panose="020F0502020204030204" pitchFamily="34" charset="0"/>
                          </a:rPr>
                        </m:ctrlPr>
                      </m:fPr>
                      <m:num>
                        <m:r>
                          <a:rPr lang="en-AU" sz="4000" b="1" i="1" smtClean="0">
                            <a:effectLst/>
                            <a:latin typeface="Cambria Math" panose="02040503050406030204" pitchFamily="18" charset="0"/>
                            <a:ea typeface="Calibri" panose="020F0502020204030204" pitchFamily="34" charset="0"/>
                          </a:rPr>
                          <m:t>𝟔</m:t>
                        </m:r>
                      </m:num>
                      <m:den>
                        <m:r>
                          <a:rPr lang="en-AU" sz="4000" b="1" i="1" smtClean="0">
                            <a:effectLst/>
                            <a:latin typeface="Cambria Math" panose="02040503050406030204" pitchFamily="18" charset="0"/>
                            <a:ea typeface="Calibri" panose="020F0502020204030204" pitchFamily="34" charset="0"/>
                          </a:rPr>
                          <m:t>𝟖</m:t>
                        </m:r>
                      </m:den>
                    </m:f>
                    <m:r>
                      <a:rPr lang="en-AU" sz="4000" b="1" i="1">
                        <a:effectLst/>
                        <a:latin typeface="Cambria Math" panose="02040503050406030204" pitchFamily="18" charset="0"/>
                        <a:ea typeface="Calibri" panose="020F0502020204030204" pitchFamily="34" charset="0"/>
                      </a:rPr>
                      <m:t> </m:t>
                    </m:r>
                  </m:oMath>
                </a14:m>
                <a:r>
                  <a:rPr lang="en-AU" sz="4000" b="1">
                    <a:effectLst/>
                    <a:ea typeface="Calibri" panose="020F0502020204030204" pitchFamily="34" charset="0"/>
                  </a:rPr>
                  <a:t>) full</a:t>
                </a:r>
                <a:r>
                  <a:rPr lang="en-AU" sz="4000">
                    <a:effectLst/>
                    <a:ea typeface="Calibri" panose="020F0502020204030204" pitchFamily="34" charset="0"/>
                  </a:rPr>
                  <a:t>. How much flour do the </a:t>
                </a:r>
                <a:r>
                  <a:rPr lang="en-AU" sz="4000">
                    <a:ea typeface="Calibri" panose="020F0502020204030204" pitchFamily="34" charset="0"/>
                  </a:rPr>
                  <a:t>chefs</a:t>
                </a:r>
                <a:r>
                  <a:rPr lang="en-AU" sz="4000">
                    <a:effectLst/>
                    <a:ea typeface="Calibri" panose="020F0502020204030204" pitchFamily="34" charset="0"/>
                  </a:rPr>
                  <a:t> have </a:t>
                </a:r>
                <a:r>
                  <a:rPr lang="en-AU" sz="4000" b="1">
                    <a:effectLst/>
                    <a:ea typeface="Calibri" panose="020F0502020204030204" pitchFamily="34" charset="0"/>
                  </a:rPr>
                  <a:t>altogether</a:t>
                </a:r>
                <a:r>
                  <a:rPr lang="en-AU" sz="4000">
                    <a:effectLst/>
                    <a:ea typeface="Calibri" panose="020F0502020204030204" pitchFamily="34" charset="0"/>
                  </a:rPr>
                  <a:t>?</a:t>
                </a:r>
                <a:br>
                  <a:rPr lang="en-AU" sz="4000">
                    <a:effectLst/>
                    <a:ea typeface="Calibri" panose="020F0502020204030204" pitchFamily="34" charset="0"/>
                  </a:rPr>
                </a:br>
                <a:endParaRPr lang="en-AU" sz="4000">
                  <a:ea typeface="Calibri" panose="020F0502020204030204" pitchFamily="34" charset="0"/>
                </a:endParaRPr>
              </a:p>
              <a:p>
                <a:pPr lvl="0" algn="ctr">
                  <a:spcBef>
                    <a:spcPts val="1200"/>
                  </a:spcBef>
                  <a:spcAft>
                    <a:spcPts val="600"/>
                  </a:spcAft>
                  <a:tabLst>
                    <a:tab pos="228600" algn="l"/>
                    <a:tab pos="457200" algn="l"/>
                  </a:tabLst>
                </a:pPr>
                <a:r>
                  <a:rPr lang="en-AU" sz="4000">
                    <a:effectLst/>
                    <a:ea typeface="Calibri" panose="020F0502020204030204" pitchFamily="34" charset="0"/>
                  </a:rPr>
                  <a:t>Use a </a:t>
                </a:r>
                <a:r>
                  <a:rPr lang="en-AU" sz="4000" b="1">
                    <a:effectLst/>
                    <a:ea typeface="Calibri" panose="020F0502020204030204" pitchFamily="34" charset="0"/>
                  </a:rPr>
                  <a:t>bar model </a:t>
                </a:r>
                <a:r>
                  <a:rPr lang="en-AU" sz="4000">
                    <a:effectLst/>
                    <a:ea typeface="Calibri" panose="020F0502020204030204" pitchFamily="34" charset="0"/>
                  </a:rPr>
                  <a:t>to </a:t>
                </a:r>
                <a:r>
                  <a:rPr lang="en-AU" sz="4000">
                    <a:ea typeface="Calibri" panose="020F0502020204030204" pitchFamily="34" charset="0"/>
                  </a:rPr>
                  <a:t>represent your thinking.</a:t>
                </a:r>
                <a:endParaRPr lang="en-AU" sz="4000">
                  <a:effectLst/>
                  <a:ea typeface="Calibri" panose="020F0502020204030204" pitchFamily="34" charset="0"/>
                </a:endParaRPr>
              </a:p>
            </p:txBody>
          </p:sp>
        </mc:Choice>
        <mc:Fallback xmlns="">
          <p:sp>
            <p:nvSpPr>
              <p:cNvPr id="5" name="TextBox 4">
                <a:extLst>
                  <a:ext uri="{FF2B5EF4-FFF2-40B4-BE49-F238E27FC236}">
                    <a16:creationId xmlns:a16="http://schemas.microsoft.com/office/drawing/2014/main" id="{CDCE8F51-64BA-D47B-9DA3-389E464D1CF6}"/>
                  </a:ext>
                </a:extLst>
              </p:cNvPr>
              <p:cNvSpPr txBox="1">
                <a:spLocks noRot="1" noChangeAspect="1" noMove="1" noResize="1" noEditPoints="1" noAdjustHandles="1" noChangeArrowheads="1" noChangeShapeType="1" noTextEdit="1"/>
              </p:cNvSpPr>
              <p:nvPr/>
            </p:nvSpPr>
            <p:spPr>
              <a:xfrm>
                <a:off x="360000" y="1434960"/>
                <a:ext cx="11123788" cy="4573111"/>
              </a:xfrm>
              <a:prstGeom prst="rect">
                <a:avLst/>
              </a:prstGeom>
              <a:blipFill>
                <a:blip r:embed="rId4"/>
                <a:stretch>
                  <a:fillRect l="-1425" t="-2397" r="-2795" b="-4660"/>
                </a:stretch>
              </a:blipFill>
            </p:spPr>
            <p:txBody>
              <a:bodyPr/>
              <a:lstStyle/>
              <a:p>
                <a:r>
                  <a:rPr lang="en-AU">
                    <a:noFill/>
                  </a:rPr>
                  <a:t> </a:t>
                </a:r>
              </a:p>
            </p:txBody>
          </p:sp>
        </mc:Fallback>
      </mc:AlternateContent>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pic>
        <p:nvPicPr>
          <p:cNvPr id="3" name="Picture 2" descr="image of a clipboard with a pencil recording short answer responses">
            <a:extLst>
              <a:ext uri="{FF2B5EF4-FFF2-40B4-BE49-F238E27FC236}">
                <a16:creationId xmlns:a16="http://schemas.microsoft.com/office/drawing/2014/main" id="{8579B78F-E8F7-2A31-5798-ADB627F8314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28D8CFF0-3CC5-583F-397A-5E6B74076A36}"/>
              </a:ext>
            </a:extLst>
          </p:cNvPr>
          <p:cNvSpPr txBox="1"/>
          <p:nvPr/>
        </p:nvSpPr>
        <p:spPr>
          <a:xfrm>
            <a:off x="1541930" y="2400309"/>
            <a:ext cx="9407864" cy="2123658"/>
          </a:xfrm>
          <a:prstGeom prst="rect">
            <a:avLst/>
          </a:prstGeom>
          <a:noFill/>
        </p:spPr>
        <p:txBody>
          <a:bodyPr wrap="square">
            <a:spAutoFit/>
          </a:bodyPr>
          <a:lstStyle/>
          <a:p>
            <a:r>
              <a:rPr lang="en-AU" sz="4400" dirty="0"/>
              <a:t>Is </a:t>
            </a:r>
            <a:r>
              <a:rPr lang="en-AU" sz="4400" b="1" dirty="0"/>
              <a:t>3 kg 250 g </a:t>
            </a:r>
            <a:r>
              <a:rPr lang="en-AU" sz="4400" dirty="0"/>
              <a:t>the same as </a:t>
            </a:r>
            <a:r>
              <a:rPr lang="en-AU" sz="4400" b="1" dirty="0"/>
              <a:t>3.25 kg</a:t>
            </a:r>
            <a:r>
              <a:rPr lang="en-AU" sz="4400" dirty="0"/>
              <a:t>?</a:t>
            </a:r>
          </a:p>
          <a:p>
            <a:pPr algn="ctr"/>
            <a:br>
              <a:rPr lang="en-AU" sz="4400" dirty="0"/>
            </a:br>
            <a:r>
              <a:rPr lang="en-AU" sz="4400" b="1" dirty="0"/>
              <a:t>Record your reasoning</a:t>
            </a:r>
            <a:r>
              <a:rPr lang="en-AU" sz="4400" dirty="0"/>
              <a:t>.</a:t>
            </a:r>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recognise that the place value system can be extended beyond hundredths </a:t>
            </a:r>
            <a:r>
              <a:rPr lang="en-AU">
                <a:solidFill>
                  <a:schemeClr val="bg1"/>
                </a:solidFill>
              </a:rPr>
              <a:t>(1)</a:t>
            </a:r>
          </a:p>
        </p:txBody>
      </p:sp>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pic>
        <p:nvPicPr>
          <p:cNvPr id="4" name="Picture 3" descr="image of a head with cogs turning inside">
            <a:extLst>
              <a:ext uri="{FF2B5EF4-FFF2-40B4-BE49-F238E27FC236}">
                <a16:creationId xmlns:a16="http://schemas.microsoft.com/office/drawing/2014/main" id="{310F3533-70A3-049C-FD4D-BE7CFB970246}"/>
              </a:ext>
            </a:extLst>
          </p:cNvPr>
          <p:cNvPicPr>
            <a:picLocks noChangeAspect="1"/>
          </p:cNvPicPr>
          <p:nvPr/>
        </p:nvPicPr>
        <p:blipFill>
          <a:blip r:embed="rId3"/>
          <a:stretch>
            <a:fillRect/>
          </a:stretch>
        </p:blipFill>
        <p:spPr>
          <a:xfrm>
            <a:off x="11107003" y="240894"/>
            <a:ext cx="720000" cy="856364"/>
          </a:xfrm>
          <a:prstGeom prst="rect">
            <a:avLst/>
          </a:prstGeom>
          <a:ln>
            <a:noFill/>
          </a:ln>
        </p:spPr>
      </p:pic>
      <p:sp>
        <p:nvSpPr>
          <p:cNvPr id="7" name="TextBox 6">
            <a:extLst>
              <a:ext uri="{FF2B5EF4-FFF2-40B4-BE49-F238E27FC236}">
                <a16:creationId xmlns:a16="http://schemas.microsoft.com/office/drawing/2014/main" id="{FA91AD42-254C-EF31-738C-3340924EE7E7}"/>
              </a:ext>
            </a:extLst>
          </p:cNvPr>
          <p:cNvSpPr txBox="1"/>
          <p:nvPr/>
        </p:nvSpPr>
        <p:spPr>
          <a:xfrm>
            <a:off x="4208856" y="2103345"/>
            <a:ext cx="2453487" cy="1104911"/>
          </a:xfrm>
          <a:prstGeom prst="rect">
            <a:avLst/>
          </a:prstGeom>
          <a:solidFill>
            <a:schemeClr val="accent3">
              <a:lumMod val="40000"/>
              <a:lumOff val="60000"/>
            </a:schemeClr>
          </a:solidFill>
          <a:ln>
            <a:solidFill>
              <a:schemeClr val="tx1"/>
            </a:solidFill>
          </a:ln>
          <a:effectLst>
            <a:outerShdw blurRad="50800" dist="38100" dir="2700000" algn="tl" rotWithShape="0">
              <a:prstClr val="black">
                <a:alpha val="40000"/>
              </a:prstClr>
            </a:outerShdw>
          </a:effectLst>
        </p:spPr>
        <p:txBody>
          <a:bodyPr wrap="square" lIns="0" tIns="0" rIns="0" bIns="0" rtlCol="0" anchor="ctr">
            <a:noAutofit/>
          </a:bodyPr>
          <a:lstStyle/>
          <a:p>
            <a:pPr algn="ctr"/>
            <a:r>
              <a:rPr lang="en-AU" sz="4800">
                <a:latin typeface="Edu NSW ACT Foundation" panose="020B0604020202020204" charset="0"/>
              </a:rPr>
              <a:t>4.329</a:t>
            </a:r>
          </a:p>
        </p:txBody>
      </p:sp>
      <p:sp>
        <p:nvSpPr>
          <p:cNvPr id="8" name="TextBox 7">
            <a:extLst>
              <a:ext uri="{FF2B5EF4-FFF2-40B4-BE49-F238E27FC236}">
                <a16:creationId xmlns:a16="http://schemas.microsoft.com/office/drawing/2014/main" id="{92175DAA-A1B6-D49C-DD1B-248FFC841191}"/>
              </a:ext>
            </a:extLst>
          </p:cNvPr>
          <p:cNvSpPr txBox="1"/>
          <p:nvPr/>
        </p:nvSpPr>
        <p:spPr>
          <a:xfrm>
            <a:off x="1729690" y="3513945"/>
            <a:ext cx="10005109" cy="2452744"/>
          </a:xfrm>
          <a:prstGeom prst="rect">
            <a:avLst/>
          </a:prstGeom>
          <a:noFill/>
        </p:spPr>
        <p:txBody>
          <a:bodyPr wrap="square" lIns="0" tIns="0" rIns="0" bIns="0" rtlCol="0">
            <a:noAutofit/>
          </a:bodyPr>
          <a:lstStyle/>
          <a:p>
            <a:pPr algn="l">
              <a:lnSpc>
                <a:spcPct val="150000"/>
              </a:lnSpc>
            </a:pPr>
            <a:r>
              <a:rPr lang="en-AU" sz="3200">
                <a:effectLst/>
                <a:latin typeface="Arial" panose="020B0604020202020204" pitchFamily="34" charset="0"/>
                <a:ea typeface="Calibri" panose="020F0502020204030204" pitchFamily="34" charset="0"/>
              </a:rPr>
              <a:t>With a partner, identify and record:</a:t>
            </a:r>
          </a:p>
          <a:p>
            <a:pPr marL="457200" indent="-457200" algn="l">
              <a:lnSpc>
                <a:spcPct val="150000"/>
              </a:lnSpc>
              <a:buFont typeface="Arial" panose="020B0604020202020204" pitchFamily="34" charset="0"/>
              <a:buChar char="•"/>
            </a:pPr>
            <a:r>
              <a:rPr lang="en-AU" sz="3200">
                <a:effectLst/>
                <a:latin typeface="Arial" panose="020B0604020202020204" pitchFamily="34" charset="0"/>
                <a:ea typeface="Calibri" panose="020F0502020204030204" pitchFamily="34" charset="0"/>
              </a:rPr>
              <a:t>the value of each of the digits in the number</a:t>
            </a:r>
          </a:p>
          <a:p>
            <a:pPr marL="457200" indent="-457200" algn="l">
              <a:lnSpc>
                <a:spcPct val="150000"/>
              </a:lnSpc>
              <a:buFont typeface="Arial" panose="020B0604020202020204" pitchFamily="34" charset="0"/>
              <a:buChar char="•"/>
            </a:pPr>
            <a:r>
              <a:rPr lang="en-AU" sz="3200">
                <a:effectLst/>
                <a:latin typeface="Arial" panose="020B0604020202020204" pitchFamily="34" charset="0"/>
                <a:ea typeface="Calibri" panose="020F0502020204030204" pitchFamily="34" charset="0"/>
              </a:rPr>
              <a:t>the number that is one thousandth larger</a:t>
            </a:r>
          </a:p>
          <a:p>
            <a:pPr marL="457200" indent="-457200" algn="l">
              <a:lnSpc>
                <a:spcPct val="150000"/>
              </a:lnSpc>
              <a:buFont typeface="Arial" panose="020B0604020202020204" pitchFamily="34" charset="0"/>
              <a:buChar char="•"/>
            </a:pPr>
            <a:r>
              <a:rPr lang="en-AU" sz="3200">
                <a:effectLst/>
                <a:latin typeface="Arial" panose="020B0604020202020204" pitchFamily="34" charset="0"/>
                <a:ea typeface="Calibri" panose="020F0502020204030204" pitchFamily="34" charset="0"/>
              </a:rPr>
              <a:t>the number that is one thousandth smaller.</a:t>
            </a:r>
            <a:endParaRPr lang="en-AU" sz="3200"/>
          </a:p>
        </p:txBody>
      </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7F305F-4DA6-37EC-D1B7-85EBA549092D}"/>
              </a:ext>
            </a:extLst>
          </p:cNvPr>
          <p:cNvSpPr>
            <a:spLocks noGrp="1"/>
          </p:cNvSpPr>
          <p:nvPr>
            <p:ph type="sldNum" sz="quarter" idx="12"/>
          </p:nvPr>
        </p:nvSpPr>
        <p:spPr/>
        <p:txBody>
          <a:bodyPr/>
          <a:lstStyle/>
          <a:p>
            <a:fld id="{10A01DC5-1685-4615-8240-15192985C6A2}" type="slidenum">
              <a:rPr lang="en-AU" smtClean="0"/>
              <a:t>9</a:t>
            </a:fld>
            <a:endParaRPr lang="en-AU"/>
          </a:p>
        </p:txBody>
      </p:sp>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239F5F22-5449-95CB-BD5E-F141E81E86FF}"/>
              </a:ext>
            </a:extLst>
          </p:cNvPr>
          <p:cNvPicPr>
            <a:picLocks noChangeAspect="1"/>
          </p:cNvPicPr>
          <p:nvPr/>
        </p:nvPicPr>
        <p:blipFill>
          <a:blip r:embed="rId3"/>
          <a:stretch>
            <a:fillRect/>
          </a:stretch>
        </p:blipFill>
        <p:spPr>
          <a:xfrm>
            <a:off x="10807908" y="43303"/>
            <a:ext cx="1165786" cy="1140716"/>
          </a:xfrm>
          <a:prstGeom prst="rect">
            <a:avLst/>
          </a:prstGeom>
          <a:ln>
            <a:noFill/>
          </a:ln>
        </p:spPr>
      </p:pic>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360000" y="1312317"/>
            <a:ext cx="11243037" cy="893226"/>
          </a:xfrm>
        </p:spPr>
        <p:txBody>
          <a:bodyPr/>
          <a:lstStyle/>
          <a:p>
            <a:pPr algn="ctr"/>
            <a:r>
              <a:rPr lang="en-US" sz="4400" b="1"/>
              <a:t>One hundredth </a:t>
            </a:r>
            <a:r>
              <a:rPr lang="en-US" sz="4400"/>
              <a:t>and </a:t>
            </a:r>
            <a:r>
              <a:rPr lang="en-US" sz="4400" b="1"/>
              <a:t>7 thousandths </a:t>
            </a:r>
            <a:r>
              <a:rPr lang="en-US" sz="4400"/>
              <a:t>is </a:t>
            </a:r>
            <a:r>
              <a:rPr lang="en-US" sz="4400" b="1"/>
              <a:t>equivalent</a:t>
            </a:r>
            <a:r>
              <a:rPr lang="en-US" sz="4400"/>
              <a:t> to </a:t>
            </a:r>
            <a:r>
              <a:rPr lang="en-US" sz="4400" b="1"/>
              <a:t>0.017</a:t>
            </a:r>
            <a:r>
              <a:rPr lang="en-US" sz="4400"/>
              <a:t> </a:t>
            </a:r>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4D5DF-1315-B4E5-4670-5E1D3546C55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4B63B4A-FF94-868D-B235-19167291B7C9}"/>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(5)</a:t>
            </a:r>
          </a:p>
        </p:txBody>
      </p:sp>
      <p:sp>
        <p:nvSpPr>
          <p:cNvPr id="2" name="Slide Number Placeholder 1">
            <a:extLst>
              <a:ext uri="{FF2B5EF4-FFF2-40B4-BE49-F238E27FC236}">
                <a16:creationId xmlns:a16="http://schemas.microsoft.com/office/drawing/2014/main" id="{19BFAC98-29B3-E8AB-1FB6-DF907C72EA5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pic>
        <p:nvPicPr>
          <p:cNvPr id="3" name="Picture 2" descr="image of a clipboard with a pencil recording short answer responses">
            <a:extLst>
              <a:ext uri="{FF2B5EF4-FFF2-40B4-BE49-F238E27FC236}">
                <a16:creationId xmlns:a16="http://schemas.microsoft.com/office/drawing/2014/main" id="{7874749E-3A0C-F751-CF0C-F1C5BB4BBC2B}"/>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7" name="TextBox 6">
            <a:extLst>
              <a:ext uri="{FF2B5EF4-FFF2-40B4-BE49-F238E27FC236}">
                <a16:creationId xmlns:a16="http://schemas.microsoft.com/office/drawing/2014/main" id="{DB45B89F-7FC4-2A04-7059-03504A85C342}"/>
              </a:ext>
            </a:extLst>
          </p:cNvPr>
          <p:cNvSpPr txBox="1"/>
          <p:nvPr/>
        </p:nvSpPr>
        <p:spPr>
          <a:xfrm>
            <a:off x="679651" y="737504"/>
            <a:ext cx="10047617" cy="1998176"/>
          </a:xfrm>
          <a:prstGeom prst="rect">
            <a:avLst/>
          </a:prstGeom>
          <a:noFill/>
        </p:spPr>
        <p:txBody>
          <a:bodyPr wrap="square">
            <a:spAutoFit/>
          </a:bodyPr>
          <a:lstStyle/>
          <a:p>
            <a:pPr algn="ctr">
              <a:lnSpc>
                <a:spcPct val="150000"/>
              </a:lnSpc>
            </a:pPr>
            <a:r>
              <a:rPr lang="en-US" sz="4400">
                <a:latin typeface="Arial"/>
                <a:cs typeface="Arial"/>
              </a:rPr>
              <a:t>Which </a:t>
            </a:r>
            <a:r>
              <a:rPr lang="en-US" sz="4400" b="1">
                <a:latin typeface="Arial"/>
                <a:cs typeface="Arial"/>
              </a:rPr>
              <a:t>decade</a:t>
            </a:r>
            <a:r>
              <a:rPr lang="en-US" sz="4400">
                <a:latin typeface="Arial"/>
                <a:cs typeface="Arial"/>
              </a:rPr>
              <a:t> </a:t>
            </a:r>
            <a:r>
              <a:rPr lang="en-US" sz="4400">
                <a:cs typeface="Arial"/>
              </a:rPr>
              <a:t>on the </a:t>
            </a:r>
            <a:r>
              <a:rPr lang="en-US" sz="4400" b="1">
                <a:cs typeface="Arial"/>
              </a:rPr>
              <a:t>timeline</a:t>
            </a:r>
            <a:r>
              <a:rPr lang="en-US" sz="4400">
                <a:cs typeface="Arial"/>
              </a:rPr>
              <a:t> </a:t>
            </a:r>
            <a:r>
              <a:rPr lang="en-US" sz="4400">
                <a:latin typeface="Arial"/>
                <a:cs typeface="Arial"/>
              </a:rPr>
              <a:t>had more than one </a:t>
            </a:r>
            <a:r>
              <a:rPr lang="en-US" sz="4400" b="1">
                <a:latin typeface="Arial"/>
                <a:cs typeface="Arial"/>
              </a:rPr>
              <a:t>important event </a:t>
            </a:r>
            <a:r>
              <a:rPr lang="en-US" sz="4400">
                <a:latin typeface="Arial"/>
                <a:cs typeface="Arial"/>
              </a:rPr>
              <a:t>occur? </a:t>
            </a:r>
          </a:p>
        </p:txBody>
      </p:sp>
      <p:pic>
        <p:nvPicPr>
          <p:cNvPr id="8" name="Picture 7" descr="90 years of Lego timeline.&#10;1932 - Ole Kirk Kristiansen starts making wooden toys in Denmark.&#10;1946 – First plastic moulding machine purchased.&#10;1949 - The company’s first binding brick.&#10;1968 - First Legoland park opens in Billund, Denmark.&#10;1978 – First Lego mini figurine.&#10;2018 – First plant based plastic bricks made.&#10;2020 – Lego Braille bricks.&#10;2022 – 90 years of play">
            <a:extLst>
              <a:ext uri="{FF2B5EF4-FFF2-40B4-BE49-F238E27FC236}">
                <a16:creationId xmlns:a16="http://schemas.microsoft.com/office/drawing/2014/main" id="{1B34A623-2114-C0C7-6527-311087701A49}"/>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bwMode="auto">
          <a:xfrm>
            <a:off x="2829483" y="2907211"/>
            <a:ext cx="6113465" cy="3698789"/>
          </a:xfrm>
          <a:prstGeom prst="rect">
            <a:avLst/>
          </a:prstGeom>
          <a:ln>
            <a:noFill/>
          </a:ln>
          <a:effectLst>
            <a:outerShdw blurRad="292100" dist="139700" dir="2700000" algn="tl" rotWithShape="0">
              <a:srgbClr val="333333">
                <a:alpha val="65000"/>
              </a:srgbClr>
            </a:out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2443979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11</a:t>
            </a:fld>
            <a:endParaRPr lang="en-AU"/>
          </a:p>
        </p:txBody>
      </p:sp>
      <p:pic>
        <p:nvPicPr>
          <p:cNvPr id="3" name="Picture 2" descr="image of a clipboard with a pencil recording short answer responses">
            <a:extLst>
              <a:ext uri="{FF2B5EF4-FFF2-40B4-BE49-F238E27FC236}">
                <a16:creationId xmlns:a16="http://schemas.microsoft.com/office/drawing/2014/main" id="{4BDD99B8-CF6E-F7A3-575D-5F08BFBF6D73}"/>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4"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txBox="1">
            <a:spLocks/>
          </p:cNvSpPr>
          <p:nvPr/>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11</a:t>
            </a:fld>
            <a:endParaRPr lang="en-AU"/>
          </a:p>
        </p:txBody>
      </p:sp>
      <p:sp>
        <p:nvSpPr>
          <p:cNvPr id="9" name="Slide Number Placeholder 1">
            <a:extLst>
              <a:ext uri="{FF2B5EF4-FFF2-40B4-BE49-F238E27FC236}">
                <a16:creationId xmlns:a16="http://schemas.microsoft.com/office/drawing/2014/main" id="{BA7B1CAA-33C8-D616-F7E6-79361A55942F}"/>
              </a:ext>
            </a:extLst>
          </p:cNvPr>
          <p:cNvSpPr txBox="1">
            <a:spLocks/>
          </p:cNvSpPr>
          <p:nvPr/>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11</a:t>
            </a:fld>
            <a:endParaRPr lang="en-AU"/>
          </a:p>
        </p:txBody>
      </p:sp>
      <p:sp>
        <p:nvSpPr>
          <p:cNvPr id="10" name="TextBox 9">
            <a:extLst>
              <a:ext uri="{FF2B5EF4-FFF2-40B4-BE49-F238E27FC236}">
                <a16:creationId xmlns:a16="http://schemas.microsoft.com/office/drawing/2014/main" id="{2DC16DA9-B6C5-89E3-A22A-003CCDF130D7}"/>
              </a:ext>
            </a:extLst>
          </p:cNvPr>
          <p:cNvSpPr txBox="1"/>
          <p:nvPr/>
        </p:nvSpPr>
        <p:spPr>
          <a:xfrm>
            <a:off x="587308" y="979758"/>
            <a:ext cx="11017383" cy="5518242"/>
          </a:xfrm>
          <a:prstGeom prst="rect">
            <a:avLst/>
          </a:prstGeom>
          <a:noFill/>
        </p:spPr>
        <p:txBody>
          <a:bodyPr wrap="square">
            <a:spAutoFit/>
          </a:bodyPr>
          <a:lstStyle/>
          <a:p>
            <a:pPr algn="ctr">
              <a:lnSpc>
                <a:spcPct val="150000"/>
              </a:lnSpc>
            </a:pPr>
            <a:r>
              <a:rPr lang="en-AU" sz="4000">
                <a:cs typeface="Arial"/>
              </a:rPr>
              <a:t>Which type of </a:t>
            </a:r>
            <a:r>
              <a:rPr lang="en-AU" sz="4000" b="1">
                <a:cs typeface="Arial"/>
              </a:rPr>
              <a:t>data display </a:t>
            </a:r>
            <a:r>
              <a:rPr lang="en-AU" sz="4000">
                <a:cs typeface="Arial"/>
              </a:rPr>
              <a:t>is best suited to show the height of a </a:t>
            </a:r>
            <a:r>
              <a:rPr lang="en-AU" sz="4000" b="1">
                <a:cs typeface="Arial"/>
              </a:rPr>
              <a:t>plant’s growth </a:t>
            </a:r>
            <a:r>
              <a:rPr lang="en-AU" sz="4000">
                <a:cs typeface="Arial"/>
              </a:rPr>
              <a:t>over </a:t>
            </a:r>
            <a:r>
              <a:rPr lang="en-AU" sz="4000" b="1">
                <a:cs typeface="Arial"/>
              </a:rPr>
              <a:t>time</a:t>
            </a:r>
            <a:r>
              <a:rPr lang="en-AU" sz="4000">
                <a:cs typeface="Arial"/>
              </a:rPr>
              <a:t>? Explain your </a:t>
            </a:r>
            <a:r>
              <a:rPr lang="en-AU" sz="4000" b="1">
                <a:cs typeface="Arial"/>
              </a:rPr>
              <a:t>reasoning</a:t>
            </a:r>
            <a:r>
              <a:rPr lang="en-AU" sz="4000">
                <a:cs typeface="Arial"/>
              </a:rPr>
              <a:t>.</a:t>
            </a:r>
          </a:p>
          <a:p>
            <a:pPr algn="ctr">
              <a:lnSpc>
                <a:spcPct val="150000"/>
              </a:lnSpc>
            </a:pPr>
            <a:endParaRPr lang="en-AU" sz="4000" b="1">
              <a:cs typeface="Arial"/>
            </a:endParaRPr>
          </a:p>
          <a:p>
            <a:pPr algn="ctr">
              <a:lnSpc>
                <a:spcPct val="150000"/>
              </a:lnSpc>
            </a:pPr>
            <a:endParaRPr lang="en-AU" sz="4000" b="1">
              <a:cs typeface="Arial"/>
            </a:endParaRPr>
          </a:p>
          <a:p>
            <a:pPr algn="ctr">
              <a:lnSpc>
                <a:spcPct val="150000"/>
              </a:lnSpc>
            </a:pPr>
            <a:r>
              <a:rPr lang="en-AU" sz="4000" b="1">
                <a:cs typeface="Arial"/>
              </a:rPr>
              <a:t>column graph</a:t>
            </a:r>
            <a:r>
              <a:rPr lang="en-AU" sz="4000">
                <a:cs typeface="Arial"/>
              </a:rPr>
              <a:t>			    	  </a:t>
            </a:r>
            <a:r>
              <a:rPr lang="en-AU" sz="4000" b="1">
                <a:cs typeface="Arial"/>
              </a:rPr>
              <a:t>line graph </a:t>
            </a:r>
            <a:endParaRPr lang="en-US" sz="4000" b="1">
              <a:latin typeface="Arial"/>
              <a:cs typeface="Arial"/>
            </a:endParaRPr>
          </a:p>
        </p:txBody>
      </p:sp>
      <p:pic>
        <p:nvPicPr>
          <p:cNvPr id="11" name="Picture 2" descr="A column graph showing the height of a plant’s growth over time.">
            <a:extLst>
              <a:ext uri="{FF2B5EF4-FFF2-40B4-BE49-F238E27FC236}">
                <a16:creationId xmlns:a16="http://schemas.microsoft.com/office/drawing/2014/main" id="{1FB34EC1-AC4B-B1EF-64F3-9AB1C42547C3}"/>
              </a:ext>
            </a:extLst>
          </p:cNvPr>
          <p:cNvPicPr>
            <a:picLocks noChangeAspect="1"/>
          </p:cNvPicPr>
          <p:nvPr/>
        </p:nvPicPr>
        <p:blipFill>
          <a:blip r:embed="rId4"/>
          <a:stretch>
            <a:fillRect/>
          </a:stretch>
        </p:blipFill>
        <p:spPr>
          <a:xfrm>
            <a:off x="2622359" y="3925019"/>
            <a:ext cx="1906509" cy="1634312"/>
          </a:xfrm>
          <a:prstGeom prst="rect">
            <a:avLst/>
          </a:prstGeom>
          <a:ln w="28575">
            <a:solidFill>
              <a:schemeClr val="tx1"/>
            </a:solidFill>
          </a:ln>
        </p:spPr>
      </p:pic>
      <p:pic>
        <p:nvPicPr>
          <p:cNvPr id="12" name="Picture 3" descr="A line graph showing the height of a plant’s growth over time.">
            <a:extLst>
              <a:ext uri="{FF2B5EF4-FFF2-40B4-BE49-F238E27FC236}">
                <a16:creationId xmlns:a16="http://schemas.microsoft.com/office/drawing/2014/main" id="{06FEF4D1-3FCA-6AC7-E0BE-45B9001DFE02}"/>
              </a:ext>
            </a:extLst>
          </p:cNvPr>
          <p:cNvPicPr>
            <a:picLocks noChangeAspect="1"/>
          </p:cNvPicPr>
          <p:nvPr/>
        </p:nvPicPr>
        <p:blipFill>
          <a:blip r:embed="rId5"/>
          <a:srcRect t="18323"/>
          <a:stretch>
            <a:fillRect/>
          </a:stretch>
        </p:blipFill>
        <p:spPr>
          <a:xfrm>
            <a:off x="7801487" y="3925019"/>
            <a:ext cx="2153396" cy="1630251"/>
          </a:xfrm>
          <a:prstGeom prst="rect">
            <a:avLst/>
          </a:prstGeom>
          <a:ln w="28575">
            <a:solidFill>
              <a:schemeClr val="tx1"/>
            </a:solidFill>
          </a:ln>
        </p:spPr>
      </p:pic>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pic>
        <p:nvPicPr>
          <p:cNvPr id="3" name="Picture 2" descr="image of a clipboard with a pencil recording short answer responses">
            <a:extLst>
              <a:ext uri="{FF2B5EF4-FFF2-40B4-BE49-F238E27FC236}">
                <a16:creationId xmlns:a16="http://schemas.microsoft.com/office/drawing/2014/main" id="{4B3A2BE0-B930-2216-835B-AE9E6856E5F7}"/>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5" name="TextBox 4">
            <a:extLst>
              <a:ext uri="{FF2B5EF4-FFF2-40B4-BE49-F238E27FC236}">
                <a16:creationId xmlns:a16="http://schemas.microsoft.com/office/drawing/2014/main" id="{F39353D3-2066-64BF-13AB-7F21C000E376}"/>
              </a:ext>
            </a:extLst>
          </p:cNvPr>
          <p:cNvSpPr txBox="1"/>
          <p:nvPr/>
        </p:nvSpPr>
        <p:spPr>
          <a:xfrm>
            <a:off x="511199" y="996993"/>
            <a:ext cx="10972800" cy="2748253"/>
          </a:xfrm>
          <a:prstGeom prst="rect">
            <a:avLst/>
          </a:prstGeom>
          <a:noFill/>
        </p:spPr>
        <p:txBody>
          <a:bodyPr wrap="square">
            <a:spAutoFit/>
          </a:bodyPr>
          <a:lstStyle/>
          <a:p>
            <a:pPr algn="ctr">
              <a:lnSpc>
                <a:spcPct val="150000"/>
              </a:lnSpc>
            </a:pPr>
            <a:r>
              <a:rPr lang="en-AU" sz="4000"/>
              <a:t>This is the </a:t>
            </a:r>
            <a:r>
              <a:rPr lang="en-AU" sz="4000" b="1"/>
              <a:t>top view </a:t>
            </a:r>
            <a:r>
              <a:rPr lang="en-AU" sz="4000"/>
              <a:t>of a </a:t>
            </a:r>
            <a:r>
              <a:rPr lang="en-AU" sz="4000" b="1"/>
              <a:t>prism </a:t>
            </a:r>
            <a:r>
              <a:rPr lang="en-AU" sz="4000"/>
              <a:t>made of cubic centimetres </a:t>
            </a:r>
            <a:r>
              <a:rPr lang="en-AU" sz="4000">
                <a:latin typeface="Public Sans" pitchFamily="2" charset="0"/>
              </a:rPr>
              <a:t>(cm</a:t>
            </a:r>
            <a:r>
              <a:rPr lang="en-AU" sz="4000" baseline="30000">
                <a:latin typeface="Public Sans" pitchFamily="2" charset="0"/>
              </a:rPr>
              <a:t>3</a:t>
            </a:r>
            <a:r>
              <a:rPr lang="en-AU" sz="4000">
                <a:latin typeface="Public Sans" pitchFamily="2" charset="0"/>
              </a:rPr>
              <a:t>)</a:t>
            </a:r>
            <a:r>
              <a:rPr lang="en-AU" sz="4000"/>
              <a:t>. The prism has </a:t>
            </a:r>
            <a:r>
              <a:rPr lang="en-AU" sz="4000" b="1"/>
              <a:t>5 layers</a:t>
            </a:r>
            <a:r>
              <a:rPr lang="en-AU" sz="4000"/>
              <a:t>. </a:t>
            </a:r>
          </a:p>
          <a:p>
            <a:pPr algn="ctr">
              <a:lnSpc>
                <a:spcPct val="150000"/>
              </a:lnSpc>
            </a:pPr>
            <a:r>
              <a:rPr lang="en-AU" sz="4000"/>
              <a:t>What is the </a:t>
            </a:r>
            <a:r>
              <a:rPr lang="en-AU" sz="4000" b="1"/>
              <a:t>volume</a:t>
            </a:r>
            <a:r>
              <a:rPr lang="en-AU" sz="4000"/>
              <a:t> of the prism?</a:t>
            </a:r>
          </a:p>
        </p:txBody>
      </p:sp>
      <p:pic>
        <p:nvPicPr>
          <p:cNvPr id="10" name="Picture 9" descr="The top view of a prism made of cubic centimetres. It has a length of 4 centimetres and a width of 3 centimetres.">
            <a:extLst>
              <a:ext uri="{FF2B5EF4-FFF2-40B4-BE49-F238E27FC236}">
                <a16:creationId xmlns:a16="http://schemas.microsoft.com/office/drawing/2014/main" id="{A4B297A7-E6B4-2FEC-26F8-4D0D207D63A2}"/>
              </a:ext>
            </a:extLst>
          </p:cNvPr>
          <p:cNvPicPr>
            <a:picLocks noChangeAspect="1"/>
          </p:cNvPicPr>
          <p:nvPr/>
        </p:nvPicPr>
        <p:blipFill>
          <a:blip r:embed="rId4"/>
          <a:stretch>
            <a:fillRect/>
          </a:stretch>
        </p:blipFill>
        <p:spPr>
          <a:xfrm rot="16200000">
            <a:off x="4612919" y="3381625"/>
            <a:ext cx="2769361" cy="3679388"/>
          </a:xfrm>
          <a:prstGeom prst="rect">
            <a:avLst/>
          </a:prstGeom>
        </p:spPr>
      </p:pic>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pic>
        <p:nvPicPr>
          <p:cNvPr id="3" name="Picture 2" descr="image of a clipboard with a pencil recording short answer responses">
            <a:extLst>
              <a:ext uri="{FF2B5EF4-FFF2-40B4-BE49-F238E27FC236}">
                <a16:creationId xmlns:a16="http://schemas.microsoft.com/office/drawing/2014/main" id="{414B841E-8840-471A-4D5D-BE5947D1F0DF}"/>
              </a:ext>
            </a:extLst>
          </p:cNvPr>
          <p:cNvPicPr>
            <a:picLocks noChangeAspect="1"/>
          </p:cNvPicPr>
          <p:nvPr/>
        </p:nvPicPr>
        <p:blipFill>
          <a:blip r:embed="rId3"/>
          <a:stretch>
            <a:fillRect/>
          </a:stretch>
        </p:blipFill>
        <p:spPr>
          <a:xfrm>
            <a:off x="11030476" y="268723"/>
            <a:ext cx="915500" cy="915500"/>
          </a:xfrm>
          <a:prstGeom prst="rect">
            <a:avLst/>
          </a:prstGeom>
          <a:ln>
            <a:noFill/>
          </a:ln>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66C6514-6B23-3967-126D-1269ED45F1FF}"/>
                  </a:ext>
                </a:extLst>
              </p:cNvPr>
              <p:cNvSpPr txBox="1"/>
              <p:nvPr/>
            </p:nvSpPr>
            <p:spPr>
              <a:xfrm>
                <a:off x="360000" y="1012478"/>
                <a:ext cx="11250705" cy="6633739"/>
              </a:xfrm>
              <a:prstGeom prst="rect">
                <a:avLst/>
              </a:prstGeom>
              <a:noFill/>
            </p:spPr>
            <p:txBody>
              <a:bodyPr wrap="square">
                <a:spAutoFit/>
              </a:bodyPr>
              <a:lstStyle/>
              <a:p>
                <a:pPr lvl="0" algn="ctr">
                  <a:lnSpc>
                    <a:spcPct val="150000"/>
                  </a:lnSpc>
                  <a:spcBef>
                    <a:spcPts val="1200"/>
                  </a:spcBef>
                  <a:spcAft>
                    <a:spcPts val="600"/>
                  </a:spcAft>
                  <a:tabLst>
                    <a:tab pos="228600" algn="l"/>
                    <a:tab pos="457200" algn="l"/>
                  </a:tabLst>
                </a:pPr>
                <a:r>
                  <a:rPr lang="en-AU" sz="3600">
                    <a:effectLst/>
                    <a:ea typeface="Calibri" panose="020F0502020204030204" pitchFamily="34" charset="0"/>
                  </a:rPr>
                  <a:t>Tash had fully charged her laptop. In the morning</a:t>
                </a:r>
                <a:r>
                  <a:rPr lang="en-AU" sz="3600" dirty="0">
                    <a:effectLst/>
                    <a:ea typeface="Calibri" panose="020F0502020204030204" pitchFamily="34" charset="0"/>
                  </a:rPr>
                  <a:t>,</a:t>
                </a:r>
                <a:r>
                  <a:rPr lang="en-AU" sz="3600">
                    <a:effectLst/>
                    <a:ea typeface="Calibri" panose="020F0502020204030204" pitchFamily="34" charset="0"/>
                  </a:rPr>
                  <a:t> she </a:t>
                </a:r>
                <a:r>
                  <a:rPr lang="en-AU" sz="3600" b="1">
                    <a:effectLst/>
                    <a:ea typeface="Calibri" panose="020F0502020204030204" pitchFamily="34" charset="0"/>
                  </a:rPr>
                  <a:t>used </a:t>
                </a:r>
                <a:r>
                  <a:rPr lang="en-AU" sz="3600" b="1">
                    <a:ea typeface="Calibri" panose="020F0502020204030204" pitchFamily="34" charset="0"/>
                  </a:rPr>
                  <a:t>3</a:t>
                </a:r>
                <a:r>
                  <a:rPr lang="en-AU" sz="3600" b="1">
                    <a:effectLst/>
                    <a:ea typeface="Calibri" panose="020F0502020204030204" pitchFamily="34" charset="0"/>
                  </a:rPr>
                  <a:t>0%</a:t>
                </a:r>
                <a:r>
                  <a:rPr lang="en-AU" sz="3600">
                    <a:effectLst/>
                    <a:ea typeface="Calibri" panose="020F0502020204030204" pitchFamily="34" charset="0"/>
                  </a:rPr>
                  <a:t> of the battery charge. </a:t>
                </a:r>
                <a:r>
                  <a:rPr lang="en-AU" sz="3600">
                    <a:ea typeface="Calibri" panose="020F0502020204030204" pitchFamily="34" charset="0"/>
                  </a:rPr>
                  <a:t>She </a:t>
                </a:r>
                <a:r>
                  <a:rPr lang="en-AU" sz="3600" b="1">
                    <a:ea typeface="Calibri" panose="020F0502020204030204" pitchFamily="34" charset="0"/>
                  </a:rPr>
                  <a:t>used</a:t>
                </a:r>
                <a:r>
                  <a:rPr lang="en-AU" sz="3600" b="1">
                    <a:effectLst/>
                    <a:ea typeface="Calibri" panose="020F0502020204030204" pitchFamily="34" charset="0"/>
                  </a:rPr>
                  <a:t> one-half (</a:t>
                </a:r>
                <a14:m>
                  <m:oMath xmlns:m="http://schemas.openxmlformats.org/officeDocument/2006/math">
                    <m:r>
                      <a:rPr lang="en-AU" sz="3600" b="1" i="1">
                        <a:effectLst/>
                        <a:latin typeface="Cambria Math" panose="02040503050406030204" pitchFamily="18" charset="0"/>
                        <a:ea typeface="Calibri" panose="020F0502020204030204" pitchFamily="34" charset="0"/>
                      </a:rPr>
                      <m:t> </m:t>
                    </m:r>
                    <m:f>
                      <m:fPr>
                        <m:ctrlPr>
                          <a:rPr lang="en-AU" sz="3600" b="1" i="1">
                            <a:effectLst/>
                            <a:latin typeface="Cambria Math" panose="02040503050406030204" pitchFamily="18" charset="0"/>
                            <a:ea typeface="Calibri" panose="020F0502020204030204" pitchFamily="34" charset="0"/>
                          </a:rPr>
                        </m:ctrlPr>
                      </m:fPr>
                      <m:num>
                        <m:r>
                          <a:rPr lang="en-AU" sz="3600" b="1" i="1">
                            <a:effectLst/>
                            <a:latin typeface="Cambria Math" panose="02040503050406030204" pitchFamily="18" charset="0"/>
                            <a:ea typeface="Calibri" panose="020F0502020204030204" pitchFamily="34" charset="0"/>
                          </a:rPr>
                          <m:t>𝟏</m:t>
                        </m:r>
                      </m:num>
                      <m:den>
                        <m:r>
                          <a:rPr lang="en-AU" sz="3600" b="1" i="1">
                            <a:effectLst/>
                            <a:latin typeface="Cambria Math" panose="02040503050406030204" pitchFamily="18" charset="0"/>
                            <a:ea typeface="Calibri" panose="020F0502020204030204" pitchFamily="34" charset="0"/>
                          </a:rPr>
                          <m:t>𝟐</m:t>
                        </m:r>
                      </m:den>
                    </m:f>
                  </m:oMath>
                </a14:m>
                <a:r>
                  <a:rPr lang="en-AU" sz="3600" b="1">
                    <a:effectLst/>
                    <a:ea typeface="DengXian" panose="02010600030101010101" pitchFamily="2" charset="-122"/>
                  </a:rPr>
                  <a:t> </a:t>
                </a:r>
                <a:r>
                  <a:rPr lang="en-AU" sz="3600" b="1">
                    <a:effectLst/>
                    <a:ea typeface="Calibri" panose="020F0502020204030204" pitchFamily="34" charset="0"/>
                  </a:rPr>
                  <a:t>)</a:t>
                </a:r>
                <a:r>
                  <a:rPr lang="en-AU" sz="3600">
                    <a:effectLst/>
                    <a:ea typeface="Calibri" panose="020F0502020204030204" pitchFamily="34" charset="0"/>
                  </a:rPr>
                  <a:t> of the battery’s charge after lunch. On the way home she used </a:t>
                </a:r>
                <a:r>
                  <a:rPr lang="en-AU" sz="3600" b="1">
                    <a:effectLst/>
                    <a:ea typeface="Calibri" panose="020F0502020204030204" pitchFamily="34" charset="0"/>
                  </a:rPr>
                  <a:t>0.15 </a:t>
                </a:r>
                <a:r>
                  <a:rPr lang="en-AU" sz="3600">
                    <a:effectLst/>
                    <a:ea typeface="Calibri" panose="020F0502020204030204" pitchFamily="34" charset="0"/>
                  </a:rPr>
                  <a:t>of the laptop’s power.</a:t>
                </a:r>
                <a:endParaRPr lang="en-AU" sz="3600">
                  <a:ea typeface="Calibri" panose="020F0502020204030204" pitchFamily="34" charset="0"/>
                </a:endParaRPr>
              </a:p>
              <a:p>
                <a:pPr lvl="0" algn="ctr">
                  <a:lnSpc>
                    <a:spcPct val="150000"/>
                  </a:lnSpc>
                  <a:spcBef>
                    <a:spcPts val="1200"/>
                  </a:spcBef>
                  <a:spcAft>
                    <a:spcPts val="600"/>
                  </a:spcAft>
                  <a:tabLst>
                    <a:tab pos="228600" algn="l"/>
                    <a:tab pos="457200" algn="l"/>
                  </a:tabLst>
                </a:pPr>
                <a:r>
                  <a:rPr lang="en-AU" sz="3600" b="1">
                    <a:effectLst/>
                    <a:ea typeface="Calibri" panose="020F0502020204030204" pitchFamily="34" charset="0"/>
                  </a:rPr>
                  <a:t>How much charge was left?</a:t>
                </a:r>
                <a:br>
                  <a:rPr lang="en-AU" sz="3600">
                    <a:effectLst/>
                    <a:ea typeface="Calibri" panose="020F0502020204030204" pitchFamily="34" charset="0"/>
                  </a:rPr>
                </a:br>
                <a:r>
                  <a:rPr lang="en-AU" sz="3600">
                    <a:effectLst/>
                    <a:ea typeface="Calibri" panose="020F0502020204030204" pitchFamily="34" charset="0"/>
                  </a:rPr>
                  <a:t>Use a </a:t>
                </a:r>
                <a:r>
                  <a:rPr lang="en-AU" sz="3600" b="1">
                    <a:effectLst/>
                    <a:ea typeface="Calibri" panose="020F0502020204030204" pitchFamily="34" charset="0"/>
                  </a:rPr>
                  <a:t>bar model </a:t>
                </a:r>
                <a:r>
                  <a:rPr lang="en-AU" sz="3600">
                    <a:effectLst/>
                    <a:ea typeface="Calibri" panose="020F0502020204030204" pitchFamily="34" charset="0"/>
                  </a:rPr>
                  <a:t>to </a:t>
                </a:r>
                <a:r>
                  <a:rPr lang="en-AU" sz="3600" b="1">
                    <a:effectLst/>
                    <a:ea typeface="Calibri" panose="020F0502020204030204" pitchFamily="34" charset="0"/>
                  </a:rPr>
                  <a:t>represent </a:t>
                </a:r>
                <a:r>
                  <a:rPr lang="en-AU" sz="3600">
                    <a:effectLst/>
                    <a:ea typeface="Calibri" panose="020F0502020204030204" pitchFamily="34" charset="0"/>
                  </a:rPr>
                  <a:t>your reasoning.</a:t>
                </a:r>
              </a:p>
              <a:p>
                <a:pPr lvl="0" algn="ctr">
                  <a:lnSpc>
                    <a:spcPct val="150000"/>
                  </a:lnSpc>
                  <a:spcBef>
                    <a:spcPts val="1200"/>
                  </a:spcBef>
                  <a:spcAft>
                    <a:spcPts val="600"/>
                  </a:spcAft>
                  <a:tabLst>
                    <a:tab pos="228600" algn="l"/>
                    <a:tab pos="457200" algn="l"/>
                  </a:tabLst>
                </a:pPr>
                <a:r>
                  <a:rPr lang="en-AU" sz="3600">
                    <a:effectLst/>
                    <a:ea typeface="Calibri" panose="020F0502020204030204" pitchFamily="34" charset="0"/>
                  </a:rPr>
                  <a:t> </a:t>
                </a:r>
              </a:p>
            </p:txBody>
          </p:sp>
        </mc:Choice>
        <mc:Fallback xmlns="">
          <p:sp>
            <p:nvSpPr>
              <p:cNvPr id="5" name="TextBox 4">
                <a:extLst>
                  <a:ext uri="{FF2B5EF4-FFF2-40B4-BE49-F238E27FC236}">
                    <a16:creationId xmlns:a16="http://schemas.microsoft.com/office/drawing/2014/main" id="{F66C6514-6B23-3967-126D-1269ED45F1FF}"/>
                  </a:ext>
                </a:extLst>
              </p:cNvPr>
              <p:cNvSpPr txBox="1">
                <a:spLocks noRot="1" noChangeAspect="1" noMove="1" noResize="1" noEditPoints="1" noAdjustHandles="1" noChangeArrowheads="1" noChangeShapeType="1" noTextEdit="1"/>
              </p:cNvSpPr>
              <p:nvPr/>
            </p:nvSpPr>
            <p:spPr>
              <a:xfrm>
                <a:off x="360000" y="1012478"/>
                <a:ext cx="11250705" cy="6633739"/>
              </a:xfrm>
              <a:prstGeom prst="rect">
                <a:avLst/>
              </a:prstGeom>
              <a:blipFill>
                <a:blip r:embed="rId4"/>
                <a:stretch>
                  <a:fillRect l="-921" r="-1950"/>
                </a:stretch>
              </a:blipFill>
            </p:spPr>
            <p:txBody>
              <a:bodyPr/>
              <a:lstStyle/>
              <a:p>
                <a:r>
                  <a:rPr lang="en-AU">
                    <a:noFill/>
                  </a:rPr>
                  <a:t> </a:t>
                </a:r>
              </a:p>
            </p:txBody>
          </p:sp>
        </mc:Fallback>
      </mc:AlternateContent>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pic>
        <p:nvPicPr>
          <p:cNvPr id="3" name="Picture 2" descr="image of a clipboard with a pencil recording short answer responses">
            <a:extLst>
              <a:ext uri="{FF2B5EF4-FFF2-40B4-BE49-F238E27FC236}">
                <a16:creationId xmlns:a16="http://schemas.microsoft.com/office/drawing/2014/main" id="{7F0D925D-1709-7016-D09D-4DDBD08A31D5}"/>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5" name="TextBox 4">
            <a:extLst>
              <a:ext uri="{FF2B5EF4-FFF2-40B4-BE49-F238E27FC236}">
                <a16:creationId xmlns:a16="http://schemas.microsoft.com/office/drawing/2014/main" id="{3E3F6A3E-2C14-C2A1-298F-3AF76183E670}"/>
              </a:ext>
            </a:extLst>
          </p:cNvPr>
          <p:cNvSpPr txBox="1"/>
          <p:nvPr/>
        </p:nvSpPr>
        <p:spPr>
          <a:xfrm>
            <a:off x="720000" y="1103541"/>
            <a:ext cx="10764000" cy="4832092"/>
          </a:xfrm>
          <a:prstGeom prst="rect">
            <a:avLst/>
          </a:prstGeom>
          <a:noFill/>
        </p:spPr>
        <p:txBody>
          <a:bodyPr wrap="square">
            <a:spAutoFit/>
          </a:bodyPr>
          <a:lstStyle/>
          <a:p>
            <a:pPr algn="ctr"/>
            <a:r>
              <a:rPr lang="en-AU" sz="4400">
                <a:effectLst/>
                <a:ea typeface="Calibri" panose="020F0502020204030204" pitchFamily="34" charset="0"/>
              </a:rPr>
              <a:t>Record the name of this </a:t>
            </a:r>
            <a:r>
              <a:rPr lang="en-AU" sz="4400" b="1">
                <a:effectLst/>
                <a:ea typeface="Calibri" panose="020F0502020204030204" pitchFamily="34" charset="0"/>
              </a:rPr>
              <a:t>3D object</a:t>
            </a:r>
            <a:r>
              <a:rPr lang="en-AU" sz="4400">
                <a:effectLst/>
                <a:ea typeface="Calibri" panose="020F0502020204030204" pitchFamily="34" charset="0"/>
              </a:rPr>
              <a:t>.</a:t>
            </a:r>
          </a:p>
          <a:p>
            <a:pPr algn="ctr"/>
            <a:endParaRPr lang="en-AU" sz="4400">
              <a:ea typeface="Calibri" panose="020F0502020204030204" pitchFamily="34" charset="0"/>
            </a:endParaRPr>
          </a:p>
          <a:p>
            <a:pPr algn="ctr"/>
            <a:endParaRPr lang="en-AU" sz="4400">
              <a:effectLst/>
              <a:ea typeface="Calibri" panose="020F0502020204030204" pitchFamily="34" charset="0"/>
            </a:endParaRPr>
          </a:p>
          <a:p>
            <a:pPr algn="ctr"/>
            <a:endParaRPr lang="en-AU" sz="4400">
              <a:effectLst/>
              <a:ea typeface="Calibri" panose="020F0502020204030204" pitchFamily="34" charset="0"/>
            </a:endParaRPr>
          </a:p>
          <a:p>
            <a:pPr algn="ctr"/>
            <a:br>
              <a:rPr lang="en-AU" sz="4400">
                <a:ea typeface="Calibri" panose="020F0502020204030204" pitchFamily="34" charset="0"/>
              </a:rPr>
            </a:br>
            <a:r>
              <a:rPr lang="en-AU" sz="4400">
                <a:ea typeface="Calibri" panose="020F0502020204030204" pitchFamily="34" charset="0"/>
              </a:rPr>
              <a:t>Which of the </a:t>
            </a:r>
            <a:r>
              <a:rPr lang="en-AU" sz="4400" b="1">
                <a:ea typeface="Calibri" panose="020F0502020204030204" pitchFamily="34" charset="0"/>
              </a:rPr>
              <a:t>object’s properties </a:t>
            </a:r>
            <a:r>
              <a:rPr lang="en-AU" sz="4400">
                <a:ea typeface="Calibri" panose="020F0502020204030204" pitchFamily="34" charset="0"/>
              </a:rPr>
              <a:t>did you use to support your </a:t>
            </a:r>
            <a:r>
              <a:rPr lang="en-AU" sz="4400" b="1">
                <a:ea typeface="Calibri" panose="020F0502020204030204" pitchFamily="34" charset="0"/>
              </a:rPr>
              <a:t>reasoning</a:t>
            </a:r>
            <a:r>
              <a:rPr lang="en-AU" sz="4400">
                <a:ea typeface="Calibri" panose="020F0502020204030204" pitchFamily="34" charset="0"/>
              </a:rPr>
              <a:t>?</a:t>
            </a:r>
            <a:endParaRPr lang="en-AU" sz="4400"/>
          </a:p>
        </p:txBody>
      </p:sp>
      <p:sp>
        <p:nvSpPr>
          <p:cNvPr id="11" name="Freeform 13" descr="An image of a hexagonal prism.">
            <a:extLst>
              <a:ext uri="{FF2B5EF4-FFF2-40B4-BE49-F238E27FC236}">
                <a16:creationId xmlns:a16="http://schemas.microsoft.com/office/drawing/2014/main" id="{776FAA6B-B5C7-E21E-66E2-A7F62A7BB64B}"/>
              </a:ext>
            </a:extLst>
          </p:cNvPr>
          <p:cNvSpPr/>
          <p:nvPr/>
        </p:nvSpPr>
        <p:spPr>
          <a:xfrm rot="16200000">
            <a:off x="5022741" y="1849729"/>
            <a:ext cx="2146519" cy="2803906"/>
          </a:xfrm>
          <a:custGeom>
            <a:avLst/>
            <a:gdLst/>
            <a:ahLst/>
            <a:cxnLst/>
            <a:rect l="l" t="t" r="r" b="b"/>
            <a:pathLst>
              <a:path w="536067" h="800100">
                <a:moveTo>
                  <a:pt x="0" y="0"/>
                </a:moveTo>
                <a:lnTo>
                  <a:pt x="536067" y="0"/>
                </a:lnTo>
                <a:lnTo>
                  <a:pt x="536067" y="800100"/>
                </a:lnTo>
                <a:lnTo>
                  <a:pt x="0" y="8001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recognise that the place value system can be extended beyond hundredths </a:t>
            </a:r>
            <a:r>
              <a:rPr lang="en-AU">
                <a:solidFill>
                  <a:schemeClr val="bg1"/>
                </a:solidFill>
              </a:rPr>
              <a:t>(2)</a:t>
            </a:r>
          </a:p>
        </p:txBody>
      </p:sp>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pic>
        <p:nvPicPr>
          <p:cNvPr id="4" name="Picture 3" descr="image of a head with cogs turning inside">
            <a:extLst>
              <a:ext uri="{FF2B5EF4-FFF2-40B4-BE49-F238E27FC236}">
                <a16:creationId xmlns:a16="http://schemas.microsoft.com/office/drawing/2014/main" id="{98F6F9F3-5640-0D69-7B77-0C79E603F675}"/>
              </a:ext>
            </a:extLst>
          </p:cNvPr>
          <p:cNvPicPr>
            <a:picLocks noChangeAspect="1"/>
          </p:cNvPicPr>
          <p:nvPr/>
        </p:nvPicPr>
        <p:blipFill>
          <a:blip r:embed="rId3"/>
          <a:stretch>
            <a:fillRect/>
          </a:stretch>
        </p:blipFill>
        <p:spPr>
          <a:xfrm>
            <a:off x="11107003" y="240894"/>
            <a:ext cx="720000" cy="856364"/>
          </a:xfrm>
          <a:prstGeom prst="rect">
            <a:avLst/>
          </a:prstGeom>
          <a:ln>
            <a:noFill/>
          </a:ln>
        </p:spPr>
      </p:pic>
      <p:graphicFrame>
        <p:nvGraphicFramePr>
          <p:cNvPr id="8" name="Table 2" descr="This image shows a table with 5 columns and 6 rows. The columns are labelled ‘ones’, ‘decimal point’, ‘tenths’, ‘hundredths’ and ‘thousandths’. The ones column has a zero in each of the rows. The decimals point column has a black dot in each of the rows. The remaining cells are empty. There are 3 beige cards under the table. Each card has one number on it. The numbers are 0, 4 and 6.&#10;">
            <a:extLst>
              <a:ext uri="{FF2B5EF4-FFF2-40B4-BE49-F238E27FC236}">
                <a16:creationId xmlns:a16="http://schemas.microsoft.com/office/drawing/2014/main" id="{8A52F656-4ED0-16D8-E719-C5FC70A80ABD}"/>
              </a:ext>
            </a:extLst>
          </p:cNvPr>
          <p:cNvGraphicFramePr>
            <a:graphicFrameLocks noGrp="1"/>
          </p:cNvGraphicFramePr>
          <p:nvPr>
            <p:extLst>
              <p:ext uri="{D42A27DB-BD31-4B8C-83A1-F6EECF244321}">
                <p14:modId xmlns:p14="http://schemas.microsoft.com/office/powerpoint/2010/main" val="37811805"/>
              </p:ext>
            </p:extLst>
          </p:nvPr>
        </p:nvGraphicFramePr>
        <p:xfrm>
          <a:off x="6082411" y="1760984"/>
          <a:ext cx="5473120" cy="4195231"/>
        </p:xfrm>
        <a:graphic>
          <a:graphicData uri="http://schemas.openxmlformats.org/drawingml/2006/table">
            <a:tbl>
              <a:tblPr firstRow="1"/>
              <a:tblGrid>
                <a:gridCol w="1441402">
                  <a:extLst>
                    <a:ext uri="{9D8B030D-6E8A-4147-A177-3AD203B41FA5}">
                      <a16:colId xmlns:a16="http://schemas.microsoft.com/office/drawing/2014/main" val="20000"/>
                    </a:ext>
                  </a:extLst>
                </a:gridCol>
                <a:gridCol w="1343906">
                  <a:extLst>
                    <a:ext uri="{9D8B030D-6E8A-4147-A177-3AD203B41FA5}">
                      <a16:colId xmlns:a16="http://schemas.microsoft.com/office/drawing/2014/main" val="20002"/>
                    </a:ext>
                  </a:extLst>
                </a:gridCol>
                <a:gridCol w="1343906">
                  <a:extLst>
                    <a:ext uri="{9D8B030D-6E8A-4147-A177-3AD203B41FA5}">
                      <a16:colId xmlns:a16="http://schemas.microsoft.com/office/drawing/2014/main" val="20003"/>
                    </a:ext>
                  </a:extLst>
                </a:gridCol>
                <a:gridCol w="1343906">
                  <a:extLst>
                    <a:ext uri="{9D8B030D-6E8A-4147-A177-3AD203B41FA5}">
                      <a16:colId xmlns:a16="http://schemas.microsoft.com/office/drawing/2014/main" val="20004"/>
                    </a:ext>
                  </a:extLst>
                </a:gridCol>
              </a:tblGrid>
              <a:tr h="897601">
                <a:tc>
                  <a:txBody>
                    <a:bodyPr/>
                    <a:lstStyle/>
                    <a:p>
                      <a:pPr algn="ctr">
                        <a:lnSpc>
                          <a:spcPts val="3640"/>
                        </a:lnSpc>
                        <a:defRPr/>
                      </a:pPr>
                      <a:r>
                        <a:rPr lang="en-US" sz="1600">
                          <a:solidFill>
                            <a:srgbClr val="22272B"/>
                          </a:solidFill>
                          <a:latin typeface="Arial" panose="020B0604020202020204" pitchFamily="34" charset="0"/>
                          <a:ea typeface="Canva Student Font"/>
                          <a:cs typeface="Arial" panose="020B0604020202020204" pitchFamily="34" charset="0"/>
                          <a:sym typeface="Canva Student Font"/>
                        </a:rPr>
                        <a:t>Ones</a:t>
                      </a:r>
                      <a:endParaRPr lang="en-US" sz="1600">
                        <a:latin typeface="Arial" panose="020B0604020202020204" pitchFamily="34" charset="0"/>
                        <a:cs typeface="Arial" panose="020B0604020202020204" pitchFamily="34" charset="0"/>
                      </a:endParaRPr>
                    </a:p>
                  </a:txBody>
                  <a:tcPr marL="47625" marR="47625" marT="47625" marB="476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E2D8FA"/>
                    </a:solidFill>
                  </a:tcPr>
                </a:tc>
                <a:tc>
                  <a:txBody>
                    <a:bodyPr/>
                    <a:lstStyle/>
                    <a:p>
                      <a:pPr algn="ctr">
                        <a:lnSpc>
                          <a:spcPts val="3640"/>
                        </a:lnSpc>
                        <a:defRPr/>
                      </a:pPr>
                      <a:r>
                        <a:rPr lang="en-US" sz="1600">
                          <a:solidFill>
                            <a:srgbClr val="22272B"/>
                          </a:solidFill>
                          <a:latin typeface="Arial" panose="020B0604020202020204" pitchFamily="34" charset="0"/>
                          <a:ea typeface="Canva Student Font"/>
                          <a:cs typeface="Arial" panose="020B0604020202020204" pitchFamily="34" charset="0"/>
                          <a:sym typeface="Canva Student Font"/>
                        </a:rPr>
                        <a:t>Tenths</a:t>
                      </a:r>
                      <a:endParaRPr lang="en-US" sz="1600">
                        <a:latin typeface="Arial" panose="020B0604020202020204" pitchFamily="34" charset="0"/>
                        <a:cs typeface="Arial" panose="020B0604020202020204" pitchFamily="34" charset="0"/>
                      </a:endParaRPr>
                    </a:p>
                  </a:txBody>
                  <a:tcPr marL="47625" marR="47625" marT="47625" marB="476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C7DEED"/>
                    </a:solidFill>
                  </a:tcPr>
                </a:tc>
                <a:tc>
                  <a:txBody>
                    <a:bodyPr/>
                    <a:lstStyle/>
                    <a:p>
                      <a:pPr algn="ctr">
                        <a:lnSpc>
                          <a:spcPts val="3640"/>
                        </a:lnSpc>
                        <a:defRPr/>
                      </a:pPr>
                      <a:r>
                        <a:rPr lang="en-US" sz="1600">
                          <a:solidFill>
                            <a:srgbClr val="22272B"/>
                          </a:solidFill>
                          <a:latin typeface="Arial" panose="020B0604020202020204" pitchFamily="34" charset="0"/>
                          <a:ea typeface="Canva Student Font"/>
                          <a:cs typeface="Arial" panose="020B0604020202020204" pitchFamily="34" charset="0"/>
                          <a:sym typeface="Canva Student Font"/>
                        </a:rPr>
                        <a:t>Hundredths</a:t>
                      </a:r>
                      <a:endParaRPr lang="en-US" sz="1600">
                        <a:latin typeface="Arial" panose="020B0604020202020204" pitchFamily="34" charset="0"/>
                        <a:cs typeface="Arial" panose="020B0604020202020204" pitchFamily="34" charset="0"/>
                      </a:endParaRPr>
                    </a:p>
                  </a:txBody>
                  <a:tcPr marL="47625" marR="47625" marT="47625" marB="476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F6FFD9"/>
                    </a:solidFill>
                  </a:tcPr>
                </a:tc>
                <a:tc>
                  <a:txBody>
                    <a:bodyPr/>
                    <a:lstStyle/>
                    <a:p>
                      <a:pPr algn="ctr">
                        <a:lnSpc>
                          <a:spcPts val="3640"/>
                        </a:lnSpc>
                        <a:defRPr/>
                      </a:pPr>
                      <a:r>
                        <a:rPr lang="en-US" sz="1600">
                          <a:solidFill>
                            <a:srgbClr val="22272B"/>
                          </a:solidFill>
                          <a:latin typeface="Arial" panose="020B0604020202020204" pitchFamily="34" charset="0"/>
                          <a:ea typeface="Canva Student Font"/>
                          <a:cs typeface="Arial" panose="020B0604020202020204" pitchFamily="34" charset="0"/>
                          <a:sym typeface="Canva Student Font"/>
                        </a:rPr>
                        <a:t>Thousandths</a:t>
                      </a:r>
                      <a:endParaRPr lang="en-US" sz="1600">
                        <a:latin typeface="Arial" panose="020B0604020202020204" pitchFamily="34" charset="0"/>
                        <a:cs typeface="Arial" panose="020B0604020202020204" pitchFamily="34" charset="0"/>
                      </a:endParaRPr>
                    </a:p>
                  </a:txBody>
                  <a:tcPr marL="47625" marR="47625" marT="47625" marB="476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FDE6D3"/>
                    </a:solidFill>
                  </a:tcPr>
                </a:tc>
                <a:extLst>
                  <a:ext uri="{0D108BD9-81ED-4DB2-BD59-A6C34878D82A}">
                    <a16:rowId xmlns:a16="http://schemas.microsoft.com/office/drawing/2014/main" val="10000"/>
                  </a:ext>
                </a:extLst>
              </a:tr>
              <a:tr h="659526">
                <a:tc>
                  <a:txBody>
                    <a:bodyPr/>
                    <a:lstStyle/>
                    <a:p>
                      <a:pPr algn="ctr">
                        <a:lnSpc>
                          <a:spcPts val="1679"/>
                        </a:lnSpc>
                        <a:defRPr/>
                      </a:pPr>
                      <a:r>
                        <a:rPr lang="en-US" sz="4000">
                          <a:latin typeface="Arial" panose="020B0604020202020204" pitchFamily="34" charset="0"/>
                          <a:cs typeface="Arial" panose="020B0604020202020204" pitchFamily="34" charset="0"/>
                        </a:rPr>
                        <a:t>0</a:t>
                      </a:r>
                    </a:p>
                  </a:txBody>
                  <a:tcPr marL="47625" marR="47625" marT="47625" marB="47625" anchor="b">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600">
                        <a:latin typeface="Arial" panose="020B0604020202020204" pitchFamily="34" charset="0"/>
                        <a:cs typeface="Arial" panose="020B0604020202020204" pitchFamily="34" charset="0"/>
                      </a:endParaRPr>
                    </a:p>
                  </a:txBody>
                  <a:tcPr marL="47625" marR="47625" marT="47625" marB="476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600">
                        <a:latin typeface="Arial" panose="020B0604020202020204" pitchFamily="34" charset="0"/>
                        <a:cs typeface="Arial" panose="020B0604020202020204" pitchFamily="34" charset="0"/>
                      </a:endParaRPr>
                    </a:p>
                  </a:txBody>
                  <a:tcPr marL="47625" marR="47625" marT="47625" marB="476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600">
                        <a:latin typeface="Arial" panose="020B0604020202020204" pitchFamily="34" charset="0"/>
                        <a:cs typeface="Arial" panose="020B0604020202020204" pitchFamily="34" charset="0"/>
                      </a:endParaRPr>
                    </a:p>
                  </a:txBody>
                  <a:tcPr marL="47625" marR="47625" marT="47625" marB="476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59526">
                <a:tc>
                  <a:txBody>
                    <a:bodyPr/>
                    <a:lstStyle/>
                    <a:p>
                      <a:pPr algn="ctr">
                        <a:lnSpc>
                          <a:spcPts val="1679"/>
                        </a:lnSpc>
                        <a:defRPr/>
                      </a:pPr>
                      <a:r>
                        <a:rPr lang="en-US" sz="4000">
                          <a:latin typeface="Arial" panose="020B0604020202020204" pitchFamily="34" charset="0"/>
                          <a:cs typeface="Arial" panose="020B0604020202020204" pitchFamily="34" charset="0"/>
                        </a:rPr>
                        <a:t>0</a:t>
                      </a:r>
                    </a:p>
                  </a:txBody>
                  <a:tcPr marL="47625" marR="47625" marT="47625" marB="47625" anchor="b">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600">
                        <a:latin typeface="Arial" panose="020B0604020202020204" pitchFamily="34" charset="0"/>
                        <a:cs typeface="Arial" panose="020B0604020202020204" pitchFamily="34" charset="0"/>
                      </a:endParaRPr>
                    </a:p>
                  </a:txBody>
                  <a:tcPr marL="47625" marR="47625" marT="47625" marB="476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600">
                        <a:latin typeface="Arial" panose="020B0604020202020204" pitchFamily="34" charset="0"/>
                        <a:cs typeface="Arial" panose="020B0604020202020204" pitchFamily="34" charset="0"/>
                      </a:endParaRPr>
                    </a:p>
                  </a:txBody>
                  <a:tcPr marL="47625" marR="47625" marT="47625" marB="476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600">
                        <a:latin typeface="Arial" panose="020B0604020202020204" pitchFamily="34" charset="0"/>
                        <a:cs typeface="Arial" panose="020B0604020202020204" pitchFamily="34" charset="0"/>
                      </a:endParaRPr>
                    </a:p>
                  </a:txBody>
                  <a:tcPr marL="47625" marR="47625" marT="47625" marB="476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59526">
                <a:tc>
                  <a:txBody>
                    <a:bodyPr/>
                    <a:lstStyle/>
                    <a:p>
                      <a:pPr algn="ctr">
                        <a:lnSpc>
                          <a:spcPts val="1679"/>
                        </a:lnSpc>
                        <a:defRPr/>
                      </a:pPr>
                      <a:r>
                        <a:rPr lang="en-US" sz="4000">
                          <a:latin typeface="Arial" panose="020B0604020202020204" pitchFamily="34" charset="0"/>
                          <a:cs typeface="Arial" panose="020B0604020202020204" pitchFamily="34" charset="0"/>
                        </a:rPr>
                        <a:t>0</a:t>
                      </a:r>
                    </a:p>
                  </a:txBody>
                  <a:tcPr marL="47625" marR="47625" marT="47625" marB="47625" anchor="b">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600">
                        <a:latin typeface="Arial" panose="020B0604020202020204" pitchFamily="34" charset="0"/>
                        <a:cs typeface="Arial" panose="020B0604020202020204" pitchFamily="34" charset="0"/>
                      </a:endParaRPr>
                    </a:p>
                  </a:txBody>
                  <a:tcPr marL="47625" marR="47625" marT="47625" marB="476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600">
                        <a:latin typeface="Arial" panose="020B0604020202020204" pitchFamily="34" charset="0"/>
                        <a:cs typeface="Arial" panose="020B0604020202020204" pitchFamily="34" charset="0"/>
                      </a:endParaRPr>
                    </a:p>
                  </a:txBody>
                  <a:tcPr marL="47625" marR="47625" marT="47625" marB="476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600">
                        <a:latin typeface="Arial" panose="020B0604020202020204" pitchFamily="34" charset="0"/>
                        <a:cs typeface="Arial" panose="020B0604020202020204" pitchFamily="34" charset="0"/>
                      </a:endParaRPr>
                    </a:p>
                  </a:txBody>
                  <a:tcPr marL="47625" marR="47625" marT="47625" marB="476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59526">
                <a:tc>
                  <a:txBody>
                    <a:bodyPr/>
                    <a:lstStyle/>
                    <a:p>
                      <a:pPr algn="ctr">
                        <a:lnSpc>
                          <a:spcPts val="1679"/>
                        </a:lnSpc>
                        <a:defRPr/>
                      </a:pPr>
                      <a:r>
                        <a:rPr lang="en-US" sz="4000">
                          <a:latin typeface="Arial" panose="020B0604020202020204" pitchFamily="34" charset="0"/>
                          <a:cs typeface="Arial" panose="020B0604020202020204" pitchFamily="34" charset="0"/>
                        </a:rPr>
                        <a:t>0</a:t>
                      </a:r>
                    </a:p>
                  </a:txBody>
                  <a:tcPr marL="47625" marR="47625" marT="47625" marB="47625" anchor="b">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600">
                        <a:latin typeface="Arial" panose="020B0604020202020204" pitchFamily="34" charset="0"/>
                        <a:cs typeface="Arial" panose="020B0604020202020204" pitchFamily="34" charset="0"/>
                      </a:endParaRPr>
                    </a:p>
                  </a:txBody>
                  <a:tcPr marL="47625" marR="47625" marT="47625" marB="476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600">
                        <a:latin typeface="Arial" panose="020B0604020202020204" pitchFamily="34" charset="0"/>
                        <a:cs typeface="Arial" panose="020B0604020202020204" pitchFamily="34" charset="0"/>
                      </a:endParaRPr>
                    </a:p>
                  </a:txBody>
                  <a:tcPr marL="47625" marR="47625" marT="47625" marB="476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600">
                        <a:latin typeface="Arial" panose="020B0604020202020204" pitchFamily="34" charset="0"/>
                        <a:cs typeface="Arial" panose="020B0604020202020204" pitchFamily="34" charset="0"/>
                      </a:endParaRPr>
                    </a:p>
                  </a:txBody>
                  <a:tcPr marL="47625" marR="47625" marT="47625" marB="476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59526">
                <a:tc>
                  <a:txBody>
                    <a:bodyPr/>
                    <a:lstStyle/>
                    <a:p>
                      <a:pPr algn="ctr">
                        <a:lnSpc>
                          <a:spcPts val="1679"/>
                        </a:lnSpc>
                        <a:defRPr/>
                      </a:pPr>
                      <a:r>
                        <a:rPr lang="en-US" sz="4000">
                          <a:latin typeface="Arial" panose="020B0604020202020204" pitchFamily="34" charset="0"/>
                          <a:cs typeface="Arial" panose="020B0604020202020204" pitchFamily="34" charset="0"/>
                        </a:rPr>
                        <a:t>0</a:t>
                      </a:r>
                    </a:p>
                  </a:txBody>
                  <a:tcPr marL="47625" marR="47625" marT="47625" marB="47625" anchor="b">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600">
                        <a:latin typeface="Arial" panose="020B0604020202020204" pitchFamily="34" charset="0"/>
                        <a:cs typeface="Arial" panose="020B0604020202020204" pitchFamily="34" charset="0"/>
                      </a:endParaRPr>
                    </a:p>
                  </a:txBody>
                  <a:tcPr marL="47625" marR="47625" marT="47625" marB="476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600">
                        <a:latin typeface="Arial" panose="020B0604020202020204" pitchFamily="34" charset="0"/>
                        <a:cs typeface="Arial" panose="020B0604020202020204" pitchFamily="34" charset="0"/>
                      </a:endParaRPr>
                    </a:p>
                  </a:txBody>
                  <a:tcPr marL="47625" marR="47625" marT="47625" marB="476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679"/>
                        </a:lnSpc>
                        <a:defRPr/>
                      </a:pPr>
                      <a:endParaRPr lang="en-US" sz="1600">
                        <a:latin typeface="Arial" panose="020B0604020202020204" pitchFamily="34" charset="0"/>
                        <a:cs typeface="Arial" panose="020B0604020202020204" pitchFamily="34" charset="0"/>
                      </a:endParaRPr>
                    </a:p>
                  </a:txBody>
                  <a:tcPr marL="47625" marR="47625" marT="47625" marB="476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1" name="TextBox 10">
            <a:extLst>
              <a:ext uri="{FF2B5EF4-FFF2-40B4-BE49-F238E27FC236}">
                <a16:creationId xmlns:a16="http://schemas.microsoft.com/office/drawing/2014/main" id="{D539E4DA-5B45-0DAF-823F-0E1559D836CA}"/>
              </a:ext>
            </a:extLst>
          </p:cNvPr>
          <p:cNvSpPr txBox="1"/>
          <p:nvPr/>
        </p:nvSpPr>
        <p:spPr>
          <a:xfrm>
            <a:off x="203200" y="2654841"/>
            <a:ext cx="5686476" cy="2813919"/>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AU" sz="2800">
                <a:latin typeface="Arial" panose="020B0604020202020204" pitchFamily="34" charset="0"/>
                <a:cs typeface="Arial" panose="020B0604020202020204" pitchFamily="34" charset="0"/>
              </a:rPr>
              <a:t>Use the numerals 4, 6 and 0 to make 5 decimal numbers.</a:t>
            </a:r>
            <a:br>
              <a:rPr lang="en-AU" sz="2800">
                <a:latin typeface="Arial" panose="020B0604020202020204" pitchFamily="34" charset="0"/>
                <a:cs typeface="Arial" panose="020B0604020202020204" pitchFamily="34" charset="0"/>
              </a:rPr>
            </a:br>
            <a:endParaRPr lang="en-AU" sz="2800">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AU" sz="2800">
                <a:latin typeface="Arial" panose="020B0604020202020204" pitchFamily="34" charset="0"/>
                <a:cs typeface="Arial" panose="020B0604020202020204" pitchFamily="34" charset="0"/>
              </a:rPr>
              <a:t>Each numeral can only be used once in each decimal, for example, 0.406</a:t>
            </a:r>
            <a:br>
              <a:rPr lang="en-AU" sz="2800">
                <a:latin typeface="Arial" panose="020B0604020202020204" pitchFamily="34" charset="0"/>
                <a:cs typeface="Arial" panose="020B0604020202020204" pitchFamily="34" charset="0"/>
              </a:rPr>
            </a:br>
            <a:endParaRPr lang="en-AU" sz="2800">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AU" sz="2800">
                <a:latin typeface="Arial" panose="020B0604020202020204" pitchFamily="34" charset="0"/>
                <a:cs typeface="Arial" panose="020B0604020202020204" pitchFamily="34" charset="0"/>
              </a:rPr>
              <a:t>Arrange the 5 decimal numbers in ascending order.</a:t>
            </a:r>
          </a:p>
        </p:txBody>
      </p:sp>
      <p:sp>
        <p:nvSpPr>
          <p:cNvPr id="13" name="TextBox 12" descr="0">
            <a:extLst>
              <a:ext uri="{FF2B5EF4-FFF2-40B4-BE49-F238E27FC236}">
                <a16:creationId xmlns:a16="http://schemas.microsoft.com/office/drawing/2014/main" id="{E4ED7EAD-B0B2-1CC3-DA6C-F8AF157C4D4C}"/>
              </a:ext>
            </a:extLst>
          </p:cNvPr>
          <p:cNvSpPr txBox="1"/>
          <p:nvPr/>
        </p:nvSpPr>
        <p:spPr>
          <a:xfrm>
            <a:off x="3529884" y="1760983"/>
            <a:ext cx="800100" cy="545601"/>
          </a:xfrm>
          <a:prstGeom prst="rect">
            <a:avLst/>
          </a:prstGeom>
          <a:solidFill>
            <a:schemeClr val="accent5">
              <a:lumMod val="20000"/>
              <a:lumOff val="80000"/>
            </a:schemeClr>
          </a:solidFill>
          <a:ln>
            <a:solidFill>
              <a:schemeClr val="tx1"/>
            </a:solidFill>
          </a:ln>
        </p:spPr>
        <p:txBody>
          <a:bodyPr wrap="square" lIns="0" tIns="0" rIns="0" bIns="0" rtlCol="0" anchor="ctr">
            <a:noAutofit/>
          </a:bodyPr>
          <a:lstStyle/>
          <a:p>
            <a:pPr algn="ctr"/>
            <a:r>
              <a:rPr lang="en-AU" sz="4400"/>
              <a:t>0</a:t>
            </a:r>
          </a:p>
        </p:txBody>
      </p:sp>
      <p:sp>
        <p:nvSpPr>
          <p:cNvPr id="14" name="TextBox 13" descr="6">
            <a:extLst>
              <a:ext uri="{FF2B5EF4-FFF2-40B4-BE49-F238E27FC236}">
                <a16:creationId xmlns:a16="http://schemas.microsoft.com/office/drawing/2014/main" id="{5DAABAA1-6F85-0D84-EB4A-69D3D8BE2410}"/>
              </a:ext>
            </a:extLst>
          </p:cNvPr>
          <p:cNvSpPr txBox="1"/>
          <p:nvPr/>
        </p:nvSpPr>
        <p:spPr>
          <a:xfrm>
            <a:off x="2454398" y="1760984"/>
            <a:ext cx="800100" cy="545601"/>
          </a:xfrm>
          <a:prstGeom prst="rect">
            <a:avLst/>
          </a:prstGeom>
          <a:solidFill>
            <a:schemeClr val="accent5">
              <a:lumMod val="20000"/>
              <a:lumOff val="80000"/>
            </a:schemeClr>
          </a:solidFill>
          <a:ln>
            <a:solidFill>
              <a:schemeClr val="tx1"/>
            </a:solidFill>
          </a:ln>
        </p:spPr>
        <p:txBody>
          <a:bodyPr wrap="square" lIns="0" tIns="0" rIns="0" bIns="0" rtlCol="0" anchor="ctr">
            <a:noAutofit/>
          </a:bodyPr>
          <a:lstStyle/>
          <a:p>
            <a:pPr algn="ctr"/>
            <a:r>
              <a:rPr lang="en-AU" sz="4400"/>
              <a:t>6</a:t>
            </a:r>
          </a:p>
        </p:txBody>
      </p:sp>
      <p:sp>
        <p:nvSpPr>
          <p:cNvPr id="15" name="TextBox 14" descr="4">
            <a:extLst>
              <a:ext uri="{FF2B5EF4-FFF2-40B4-BE49-F238E27FC236}">
                <a16:creationId xmlns:a16="http://schemas.microsoft.com/office/drawing/2014/main" id="{EEDFDB27-BFE9-F210-D09D-B069BBC186CF}"/>
              </a:ext>
            </a:extLst>
          </p:cNvPr>
          <p:cNvSpPr txBox="1"/>
          <p:nvPr/>
        </p:nvSpPr>
        <p:spPr>
          <a:xfrm>
            <a:off x="1378912" y="1760983"/>
            <a:ext cx="800100" cy="545601"/>
          </a:xfrm>
          <a:prstGeom prst="rect">
            <a:avLst/>
          </a:prstGeom>
          <a:solidFill>
            <a:schemeClr val="accent5">
              <a:lumMod val="20000"/>
              <a:lumOff val="80000"/>
            </a:schemeClr>
          </a:solidFill>
          <a:ln>
            <a:solidFill>
              <a:schemeClr val="tx1"/>
            </a:solidFill>
          </a:ln>
        </p:spPr>
        <p:txBody>
          <a:bodyPr wrap="square" lIns="0" tIns="0" rIns="0" bIns="0" rtlCol="0" anchor="ctr">
            <a:noAutofit/>
          </a:bodyPr>
          <a:lstStyle/>
          <a:p>
            <a:pPr algn="ctr"/>
            <a:r>
              <a:rPr lang="en-AU" sz="4400"/>
              <a:t>4</a:t>
            </a:r>
          </a:p>
        </p:txBody>
      </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86312-4D47-D736-1580-5416FF14F31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F0674C-5B03-98FC-310B-BB63294773C7}"/>
              </a:ext>
            </a:extLst>
          </p:cNvPr>
          <p:cNvSpPr>
            <a:spLocks noGrp="1"/>
          </p:cNvSpPr>
          <p:nvPr>
            <p:ph type="sldNum" sz="quarter" idx="12"/>
          </p:nvPr>
        </p:nvSpPr>
        <p:spPr/>
        <p:txBody>
          <a:bodyPr/>
          <a:lstStyle/>
          <a:p>
            <a:fld id="{10A01DC5-1685-4615-8240-15192985C6A2}" type="slidenum">
              <a:rPr lang="en-AU" smtClean="0"/>
              <a:t>17</a:t>
            </a:fld>
            <a:endParaRPr lang="en-AU"/>
          </a:p>
        </p:txBody>
      </p:sp>
      <p:sp>
        <p:nvSpPr>
          <p:cNvPr id="3" name="Title 2">
            <a:extLst>
              <a:ext uri="{FF2B5EF4-FFF2-40B4-BE49-F238E27FC236}">
                <a16:creationId xmlns:a16="http://schemas.microsoft.com/office/drawing/2014/main" id="{4B172920-EC42-6A33-1517-E8439981ED94}"/>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(4)</a:t>
            </a:r>
          </a:p>
        </p:txBody>
      </p:sp>
      <p:sp>
        <p:nvSpPr>
          <p:cNvPr id="14" name="Text Placeholder 13">
            <a:extLst>
              <a:ext uri="{FF2B5EF4-FFF2-40B4-BE49-F238E27FC236}">
                <a16:creationId xmlns:a16="http://schemas.microsoft.com/office/drawing/2014/main" id="{AA11334F-1845-E708-AB18-7FCB93CE3329}"/>
              </a:ext>
            </a:extLst>
          </p:cNvPr>
          <p:cNvSpPr>
            <a:spLocks noGrp="1"/>
          </p:cNvSpPr>
          <p:nvPr>
            <p:ph type="body" sz="quarter" idx="27"/>
          </p:nvPr>
        </p:nvSpPr>
        <p:spPr>
          <a:xfrm>
            <a:off x="1345520" y="5425723"/>
            <a:ext cx="10175920" cy="641396"/>
          </a:xfrm>
          <a:ln w="6350">
            <a:solidFill>
              <a:schemeClr val="bg2">
                <a:lumMod val="75000"/>
              </a:schemeClr>
            </a:solidFill>
          </a:ln>
        </p:spPr>
        <p:txBody>
          <a:bodyPr anchor="ctr"/>
          <a:lstStyle/>
          <a:p>
            <a:pPr algn="ctr"/>
            <a:r>
              <a:rPr lang="en-US" sz="4400"/>
              <a:t> 3.180,  1.083,  0.183,  8.013 	</a:t>
            </a:r>
          </a:p>
        </p:txBody>
      </p:sp>
      <p:sp>
        <p:nvSpPr>
          <p:cNvPr id="15" name="Text Placeholder 14">
            <a:extLst>
              <a:ext uri="{FF2B5EF4-FFF2-40B4-BE49-F238E27FC236}">
                <a16:creationId xmlns:a16="http://schemas.microsoft.com/office/drawing/2014/main" id="{63F2F355-954E-44CF-4ECF-7CD3C57CE1C0}"/>
              </a:ext>
            </a:extLst>
          </p:cNvPr>
          <p:cNvSpPr>
            <a:spLocks noGrp="1"/>
          </p:cNvSpPr>
          <p:nvPr>
            <p:ph type="body" sz="quarter" idx="28"/>
          </p:nvPr>
        </p:nvSpPr>
        <p:spPr>
          <a:xfrm>
            <a:off x="474481" y="995645"/>
            <a:ext cx="11243037" cy="754243"/>
          </a:xfrm>
        </p:spPr>
        <p:txBody>
          <a:bodyPr/>
          <a:lstStyle/>
          <a:p>
            <a:pPr algn="ctr"/>
            <a:r>
              <a:rPr lang="en-US" sz="4000"/>
              <a:t>Which </a:t>
            </a:r>
            <a:r>
              <a:rPr lang="en-US" sz="4000" b="1"/>
              <a:t>sequence</a:t>
            </a:r>
            <a:r>
              <a:rPr lang="en-US" sz="4000"/>
              <a:t> correctly shows the </a:t>
            </a:r>
            <a:br>
              <a:rPr lang="en-US" sz="4000"/>
            </a:br>
            <a:r>
              <a:rPr lang="en-US" sz="4000" b="1"/>
              <a:t>decimal numbers </a:t>
            </a:r>
            <a:r>
              <a:rPr lang="en-US" sz="4000"/>
              <a:t>in </a:t>
            </a:r>
            <a:r>
              <a:rPr lang="en-US" sz="4000" b="1"/>
              <a:t>ascending order</a:t>
            </a:r>
            <a:r>
              <a:rPr lang="en-US" sz="4000"/>
              <a:t>?</a:t>
            </a:r>
          </a:p>
        </p:txBody>
      </p:sp>
      <p:sp>
        <p:nvSpPr>
          <p:cNvPr id="16" name="Text Placeholder 15">
            <a:extLst>
              <a:ext uri="{FF2B5EF4-FFF2-40B4-BE49-F238E27FC236}">
                <a16:creationId xmlns:a16="http://schemas.microsoft.com/office/drawing/2014/main" id="{92C95EDB-DE45-91C1-57A8-4D7305326D0D}"/>
              </a:ext>
            </a:extLst>
          </p:cNvPr>
          <p:cNvSpPr>
            <a:spLocks noGrp="1"/>
          </p:cNvSpPr>
          <p:nvPr>
            <p:ph type="body" sz="quarter" idx="29"/>
          </p:nvPr>
        </p:nvSpPr>
        <p:spPr>
          <a:xfrm>
            <a:off x="1345520" y="4575670"/>
            <a:ext cx="10175920" cy="641396"/>
          </a:xfrm>
          <a:ln w="6350">
            <a:solidFill>
              <a:schemeClr val="bg2">
                <a:lumMod val="75000"/>
              </a:schemeClr>
            </a:solidFill>
          </a:ln>
        </p:spPr>
        <p:txBody>
          <a:bodyPr anchor="ctr"/>
          <a:lstStyle/>
          <a:p>
            <a:pPr algn="ctr"/>
            <a:r>
              <a:rPr lang="en-US" sz="4400"/>
              <a:t>0.183, 	 1.083, 8.013, 	 3.180</a:t>
            </a:r>
          </a:p>
        </p:txBody>
      </p:sp>
      <p:sp>
        <p:nvSpPr>
          <p:cNvPr id="17" name="Text Placeholder 16">
            <a:extLst>
              <a:ext uri="{FF2B5EF4-FFF2-40B4-BE49-F238E27FC236}">
                <a16:creationId xmlns:a16="http://schemas.microsoft.com/office/drawing/2014/main" id="{29A4E7C9-5ADB-F023-46E3-7F1A450E28B3}"/>
              </a:ext>
            </a:extLst>
          </p:cNvPr>
          <p:cNvSpPr>
            <a:spLocks noGrp="1"/>
          </p:cNvSpPr>
          <p:nvPr>
            <p:ph type="body" sz="quarter" idx="30"/>
          </p:nvPr>
        </p:nvSpPr>
        <p:spPr>
          <a:xfrm>
            <a:off x="1345520" y="3725617"/>
            <a:ext cx="10175920" cy="641396"/>
          </a:xfrm>
          <a:ln w="6350">
            <a:solidFill>
              <a:schemeClr val="bg2">
                <a:lumMod val="75000"/>
              </a:schemeClr>
            </a:solidFill>
          </a:ln>
        </p:spPr>
        <p:txBody>
          <a:bodyPr anchor="ctr"/>
          <a:lstStyle/>
          <a:p>
            <a:pPr algn="ctr"/>
            <a:r>
              <a:rPr lang="en-US" sz="4400"/>
              <a:t>0.183, 	 1.083, 8.013, 	 3.180</a:t>
            </a:r>
          </a:p>
        </p:txBody>
      </p:sp>
      <p:sp>
        <p:nvSpPr>
          <p:cNvPr id="18" name="Text Placeholder 17">
            <a:extLst>
              <a:ext uri="{FF2B5EF4-FFF2-40B4-BE49-F238E27FC236}">
                <a16:creationId xmlns:a16="http://schemas.microsoft.com/office/drawing/2014/main" id="{6DCA7DBF-5599-1A3D-C39E-54412033284F}"/>
              </a:ext>
            </a:extLst>
          </p:cNvPr>
          <p:cNvSpPr>
            <a:spLocks noGrp="1"/>
          </p:cNvSpPr>
          <p:nvPr>
            <p:ph type="body" sz="quarter" idx="31"/>
          </p:nvPr>
        </p:nvSpPr>
        <p:spPr>
          <a:xfrm>
            <a:off x="1345520" y="2791672"/>
            <a:ext cx="10175920" cy="641396"/>
          </a:xfrm>
          <a:ln w="6350">
            <a:solidFill>
              <a:schemeClr val="bg2">
                <a:lumMod val="75000"/>
              </a:schemeClr>
            </a:solidFill>
          </a:ln>
        </p:spPr>
        <p:txBody>
          <a:bodyPr anchor="ctr"/>
          <a:lstStyle/>
          <a:p>
            <a:pPr algn="ctr"/>
            <a:r>
              <a:rPr lang="en-US" sz="4400"/>
              <a:t>1.083, 	0.183, 	3.180, 	8.013</a:t>
            </a:r>
          </a:p>
        </p:txBody>
      </p:sp>
      <p:sp>
        <p:nvSpPr>
          <p:cNvPr id="9" name="TextBox 8">
            <a:extLst>
              <a:ext uri="{FF2B5EF4-FFF2-40B4-BE49-F238E27FC236}">
                <a16:creationId xmlns:a16="http://schemas.microsoft.com/office/drawing/2014/main" id="{793EDF41-C42C-8273-E2DE-8E4910A00103}"/>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509AD87B-945E-EF0D-EE5D-D963ACE5480B}"/>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19288423-CD91-9472-E346-D2D0ECB4C75C}"/>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7A633D74-C65F-E185-EA4B-C6135BC39C93}"/>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pic>
        <p:nvPicPr>
          <p:cNvPr id="4" name="Picture 3" descr="image of a finger selecting an option for a multiple choice or true and false">
            <a:extLst>
              <a:ext uri="{FF2B5EF4-FFF2-40B4-BE49-F238E27FC236}">
                <a16:creationId xmlns:a16="http://schemas.microsoft.com/office/drawing/2014/main" id="{14B8BC39-67FB-C657-188E-31701D360176}"/>
              </a:ext>
            </a:extLst>
          </p:cNvPr>
          <p:cNvPicPr>
            <a:picLocks noChangeAspect="1"/>
          </p:cNvPicPr>
          <p:nvPr/>
        </p:nvPicPr>
        <p:blipFill>
          <a:blip r:embed="rId3"/>
          <a:stretch>
            <a:fillRect/>
          </a:stretch>
        </p:blipFill>
        <p:spPr>
          <a:xfrm>
            <a:off x="10807908" y="43303"/>
            <a:ext cx="1165786" cy="1140716"/>
          </a:xfrm>
          <a:prstGeom prst="rect">
            <a:avLst/>
          </a:prstGeom>
          <a:ln>
            <a:noFill/>
          </a:ln>
        </p:spPr>
      </p:pic>
    </p:spTree>
    <p:extLst>
      <p:ext uri="{BB962C8B-B14F-4D97-AF65-F5344CB8AC3E}">
        <p14:creationId xmlns:p14="http://schemas.microsoft.com/office/powerpoint/2010/main" val="3285770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pic>
        <p:nvPicPr>
          <p:cNvPr id="3" name="Picture 2" descr="image of a clipboard with a pencil recording short answer responses">
            <a:extLst>
              <a:ext uri="{FF2B5EF4-FFF2-40B4-BE49-F238E27FC236}">
                <a16:creationId xmlns:a16="http://schemas.microsoft.com/office/drawing/2014/main" id="{3BDDE108-B743-E59F-31B4-5F4FCBC7EB67}"/>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11" name="TextBox 10">
            <a:extLst>
              <a:ext uri="{FF2B5EF4-FFF2-40B4-BE49-F238E27FC236}">
                <a16:creationId xmlns:a16="http://schemas.microsoft.com/office/drawing/2014/main" id="{AB726449-723A-84F6-2466-B76003CF954B}"/>
              </a:ext>
            </a:extLst>
          </p:cNvPr>
          <p:cNvSpPr txBox="1"/>
          <p:nvPr/>
        </p:nvSpPr>
        <p:spPr>
          <a:xfrm>
            <a:off x="519023" y="888345"/>
            <a:ext cx="11153954" cy="5171737"/>
          </a:xfrm>
          <a:prstGeom prst="rect">
            <a:avLst/>
          </a:prstGeom>
          <a:noFill/>
        </p:spPr>
        <p:txBody>
          <a:bodyPr wrap="square">
            <a:spAutoFit/>
          </a:bodyPr>
          <a:lstStyle/>
          <a:p>
            <a:pPr algn="ctr">
              <a:lnSpc>
                <a:spcPct val="150000"/>
              </a:lnSpc>
            </a:pPr>
            <a:r>
              <a:rPr lang="en-AU" sz="3200">
                <a:effectLst/>
                <a:latin typeface="Arial" panose="020B0604020202020204" pitchFamily="34" charset="0"/>
                <a:ea typeface="Calibri" panose="020F0502020204030204" pitchFamily="34" charset="0"/>
              </a:rPr>
              <a:t>Piper is </a:t>
            </a:r>
            <a:r>
              <a:rPr lang="en-AU" sz="3200">
                <a:latin typeface="Arial" panose="020B0604020202020204" pitchFamily="34" charset="0"/>
                <a:ea typeface="Calibri" panose="020F0502020204030204" pitchFamily="34" charset="0"/>
              </a:rPr>
              <a:t>collecting </a:t>
            </a:r>
            <a:r>
              <a:rPr lang="en-AU" sz="3200" b="1">
                <a:latin typeface="Arial" panose="020B0604020202020204" pitchFamily="34" charset="0"/>
                <a:ea typeface="Calibri" panose="020F0502020204030204" pitchFamily="34" charset="0"/>
              </a:rPr>
              <a:t>categorical data </a:t>
            </a:r>
            <a:r>
              <a:rPr lang="en-AU" sz="3200">
                <a:latin typeface="Arial" panose="020B0604020202020204" pitchFamily="34" charset="0"/>
                <a:ea typeface="Calibri" panose="020F0502020204030204" pitchFamily="34" charset="0"/>
              </a:rPr>
              <a:t>about favourite foods. She is planning to use this </a:t>
            </a:r>
            <a:r>
              <a:rPr lang="en-AU" sz="3200" b="1">
                <a:latin typeface="Arial" panose="020B0604020202020204" pitchFamily="34" charset="0"/>
                <a:ea typeface="Calibri" panose="020F0502020204030204" pitchFamily="34" charset="0"/>
              </a:rPr>
              <a:t>survey question</a:t>
            </a:r>
            <a:r>
              <a:rPr lang="en-AU" sz="3200">
                <a:latin typeface="Arial" panose="020B0604020202020204" pitchFamily="34" charset="0"/>
                <a:ea typeface="Calibri" panose="020F0502020204030204" pitchFamily="34" charset="0"/>
              </a:rPr>
              <a:t>:</a:t>
            </a:r>
          </a:p>
          <a:p>
            <a:pPr algn="ctr">
              <a:lnSpc>
                <a:spcPct val="150000"/>
              </a:lnSpc>
            </a:pPr>
            <a:endParaRPr lang="en-AU" sz="3200">
              <a:latin typeface="Arial" panose="020B0604020202020204" pitchFamily="34" charset="0"/>
              <a:ea typeface="Calibri" panose="020F0502020204030204" pitchFamily="34" charset="0"/>
            </a:endParaRPr>
          </a:p>
          <a:p>
            <a:pPr algn="ctr">
              <a:lnSpc>
                <a:spcPct val="150000"/>
              </a:lnSpc>
            </a:pPr>
            <a:endParaRPr lang="en-AU" sz="3200">
              <a:latin typeface="Arial" panose="020B0604020202020204" pitchFamily="34" charset="0"/>
              <a:ea typeface="Calibri" panose="020F0502020204030204" pitchFamily="34" charset="0"/>
            </a:endParaRPr>
          </a:p>
          <a:p>
            <a:pPr algn="ctr">
              <a:lnSpc>
                <a:spcPct val="150000"/>
              </a:lnSpc>
            </a:pPr>
            <a:br>
              <a:rPr lang="en-AU" sz="3200">
                <a:latin typeface="Arial" panose="020B0604020202020204" pitchFamily="34" charset="0"/>
                <a:ea typeface="Calibri" panose="020F0502020204030204" pitchFamily="34" charset="0"/>
              </a:rPr>
            </a:br>
            <a:r>
              <a:rPr lang="en-AU" sz="3200">
                <a:latin typeface="Arial" panose="020B0604020202020204" pitchFamily="34" charset="0"/>
                <a:ea typeface="Calibri" panose="020F0502020204030204" pitchFamily="34" charset="0"/>
              </a:rPr>
              <a:t>Would this </a:t>
            </a:r>
            <a:r>
              <a:rPr lang="en-AU" sz="3200">
                <a:effectLst/>
                <a:latin typeface="Arial" panose="020B0604020202020204" pitchFamily="34" charset="0"/>
                <a:ea typeface="Calibri" panose="020F0502020204030204" pitchFamily="34" charset="0"/>
              </a:rPr>
              <a:t>question provide </a:t>
            </a:r>
            <a:r>
              <a:rPr lang="en-AU" sz="3200" b="1">
                <a:effectLst/>
                <a:latin typeface="Arial" panose="020B0604020202020204" pitchFamily="34" charset="0"/>
                <a:ea typeface="Calibri" panose="020F0502020204030204" pitchFamily="34" charset="0"/>
              </a:rPr>
              <a:t>categorical data</a:t>
            </a:r>
            <a:r>
              <a:rPr lang="en-AU" sz="3200">
                <a:effectLst/>
                <a:latin typeface="Arial" panose="020B0604020202020204" pitchFamily="34" charset="0"/>
                <a:ea typeface="Calibri" panose="020F0502020204030204" pitchFamily="34" charset="0"/>
              </a:rPr>
              <a:t> about </a:t>
            </a:r>
            <a:r>
              <a:rPr lang="en-AU" sz="3200">
                <a:latin typeface="Arial" panose="020B0604020202020204" pitchFamily="34" charset="0"/>
                <a:ea typeface="Calibri" panose="020F0502020204030204" pitchFamily="34" charset="0"/>
              </a:rPr>
              <a:t>favourite foods? </a:t>
            </a:r>
            <a:r>
              <a:rPr lang="en-AU" sz="3200" b="1">
                <a:latin typeface="Arial" panose="020B0604020202020204" pitchFamily="34" charset="0"/>
                <a:ea typeface="Calibri" panose="020F0502020204030204" pitchFamily="34" charset="0"/>
              </a:rPr>
              <a:t>Explain your reasoning</a:t>
            </a:r>
            <a:r>
              <a:rPr lang="en-AU" sz="3200">
                <a:latin typeface="Arial" panose="020B0604020202020204" pitchFamily="34" charset="0"/>
                <a:ea typeface="Calibri" panose="020F0502020204030204" pitchFamily="34" charset="0"/>
              </a:rPr>
              <a:t>. </a:t>
            </a:r>
            <a:endParaRPr lang="en-AU" sz="3200"/>
          </a:p>
        </p:txBody>
      </p:sp>
      <p:sp>
        <p:nvSpPr>
          <p:cNvPr id="12" name="TextBox 11">
            <a:extLst>
              <a:ext uri="{FF2B5EF4-FFF2-40B4-BE49-F238E27FC236}">
                <a16:creationId xmlns:a16="http://schemas.microsoft.com/office/drawing/2014/main" id="{2545D534-6019-338D-CA34-07DAAE6D76B8}"/>
              </a:ext>
            </a:extLst>
          </p:cNvPr>
          <p:cNvSpPr txBox="1"/>
          <p:nvPr/>
        </p:nvSpPr>
        <p:spPr>
          <a:xfrm>
            <a:off x="1881996" y="2657006"/>
            <a:ext cx="8428008" cy="1651671"/>
          </a:xfrm>
          <a:prstGeom prst="rect">
            <a:avLst/>
          </a:prstGeom>
          <a:noFill/>
          <a:ln w="28575">
            <a:solidFill>
              <a:schemeClr val="tx1"/>
            </a:solidFill>
          </a:ln>
        </p:spPr>
        <p:txBody>
          <a:bodyPr wrap="square">
            <a:spAutoFit/>
          </a:bodyPr>
          <a:lstStyle/>
          <a:p>
            <a:pPr algn="ctr">
              <a:lnSpc>
                <a:spcPct val="150000"/>
              </a:lnSpc>
            </a:pPr>
            <a:r>
              <a:rPr lang="en-AU" sz="3600" b="1"/>
              <a:t>How many servings of fruit do you eat on a school day?</a:t>
            </a:r>
            <a:endParaRPr lang="en-US" sz="2800" b="1"/>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pic>
        <p:nvPicPr>
          <p:cNvPr id="3" name="Picture 2" descr="image of a clipboard with a pencil recording short answer responses">
            <a:extLst>
              <a:ext uri="{FF2B5EF4-FFF2-40B4-BE49-F238E27FC236}">
                <a16:creationId xmlns:a16="http://schemas.microsoft.com/office/drawing/2014/main" id="{5DACDB15-40FB-10CA-304C-024754D6DBAE}"/>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5" name="TextBox 4">
            <a:extLst>
              <a:ext uri="{FF2B5EF4-FFF2-40B4-BE49-F238E27FC236}">
                <a16:creationId xmlns:a16="http://schemas.microsoft.com/office/drawing/2014/main" id="{8726B060-E509-6D94-5748-6817F9640B99}"/>
              </a:ext>
            </a:extLst>
          </p:cNvPr>
          <p:cNvSpPr txBox="1"/>
          <p:nvPr/>
        </p:nvSpPr>
        <p:spPr>
          <a:xfrm>
            <a:off x="257934" y="1358105"/>
            <a:ext cx="11676132" cy="1825821"/>
          </a:xfrm>
          <a:prstGeom prst="rect">
            <a:avLst/>
          </a:prstGeom>
          <a:noFill/>
        </p:spPr>
        <p:txBody>
          <a:bodyPr wrap="square">
            <a:spAutoFit/>
          </a:bodyPr>
          <a:lstStyle/>
          <a:p>
            <a:pPr algn="ctr">
              <a:lnSpc>
                <a:spcPct val="150000"/>
              </a:lnSpc>
            </a:pPr>
            <a:r>
              <a:rPr lang="en-AU" sz="4000" b="0" i="0">
                <a:effectLst/>
                <a:latin typeface="Public Sans" pitchFamily="2" charset="0"/>
              </a:rPr>
              <a:t>Calculate and record the </a:t>
            </a:r>
            <a:r>
              <a:rPr lang="en-AU" sz="4000" b="1" i="0">
                <a:effectLst/>
                <a:latin typeface="Public Sans" pitchFamily="2" charset="0"/>
              </a:rPr>
              <a:t>volume</a:t>
            </a:r>
            <a:r>
              <a:rPr lang="en-AU" sz="4000" b="0" i="0">
                <a:effectLst/>
                <a:latin typeface="Public Sans" pitchFamily="2" charset="0"/>
              </a:rPr>
              <a:t> of the </a:t>
            </a:r>
            <a:r>
              <a:rPr lang="en-AU" sz="4000" b="1" i="0">
                <a:effectLst/>
                <a:latin typeface="Public Sans" pitchFamily="2" charset="0"/>
              </a:rPr>
              <a:t>rectangular prism </a:t>
            </a:r>
            <a:r>
              <a:rPr lang="en-AU" sz="4000" b="0" i="0">
                <a:effectLst/>
                <a:latin typeface="Public Sans" pitchFamily="2" charset="0"/>
              </a:rPr>
              <a:t>in </a:t>
            </a:r>
            <a:r>
              <a:rPr lang="en-AU" sz="4000" b="1" i="0">
                <a:effectLst/>
                <a:latin typeface="Public Sans" pitchFamily="2" charset="0"/>
              </a:rPr>
              <a:t>cubic centimetres </a:t>
            </a:r>
            <a:r>
              <a:rPr lang="en-AU" sz="4000" b="0" i="0">
                <a:effectLst/>
                <a:latin typeface="Public Sans" pitchFamily="2" charset="0"/>
              </a:rPr>
              <a:t>(cm</a:t>
            </a:r>
            <a:r>
              <a:rPr lang="en-AU" sz="4000" b="0" i="0" baseline="30000">
                <a:effectLst/>
                <a:latin typeface="Public Sans" pitchFamily="2" charset="0"/>
              </a:rPr>
              <a:t>3</a:t>
            </a:r>
            <a:r>
              <a:rPr lang="en-AU" sz="4000" b="0" i="0">
                <a:effectLst/>
                <a:latin typeface="Public Sans" pitchFamily="2" charset="0"/>
              </a:rPr>
              <a:t>).</a:t>
            </a:r>
            <a:endParaRPr lang="en-AU" sz="4000"/>
          </a:p>
        </p:txBody>
      </p:sp>
      <p:pic>
        <p:nvPicPr>
          <p:cNvPr id="8" name="Picture 7" descr="An image of a rectangular prism. It has 3 layers, each with 2 rows of 4 cubic centimetres. It has a volume of 24 cubic centimetres.">
            <a:extLst>
              <a:ext uri="{FF2B5EF4-FFF2-40B4-BE49-F238E27FC236}">
                <a16:creationId xmlns:a16="http://schemas.microsoft.com/office/drawing/2014/main" id="{56053949-7DF0-C084-9DFD-B5AFA3917E0D}"/>
              </a:ext>
            </a:extLst>
          </p:cNvPr>
          <p:cNvPicPr>
            <a:picLocks noChangeAspect="1"/>
          </p:cNvPicPr>
          <p:nvPr/>
        </p:nvPicPr>
        <p:blipFill>
          <a:blip r:embed="rId4"/>
          <a:srcRect t="3808" b="2165"/>
          <a:stretch>
            <a:fillRect/>
          </a:stretch>
        </p:blipFill>
        <p:spPr>
          <a:xfrm>
            <a:off x="4226905" y="3372548"/>
            <a:ext cx="3377718" cy="3233452"/>
          </a:xfrm>
          <a:prstGeom prst="rect">
            <a:avLst/>
          </a:prstGeom>
          <a:ln>
            <a:noFill/>
          </a:ln>
        </p:spPr>
      </p:pic>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pic>
        <p:nvPicPr>
          <p:cNvPr id="3" name="Picture 2" descr="image of a clipboard with a pencil recording short answer responses">
            <a:extLst>
              <a:ext uri="{FF2B5EF4-FFF2-40B4-BE49-F238E27FC236}">
                <a16:creationId xmlns:a16="http://schemas.microsoft.com/office/drawing/2014/main" id="{6F1984CA-3815-83E6-2CEF-D3AC5609C15C}"/>
              </a:ext>
            </a:extLst>
          </p:cNvPr>
          <p:cNvPicPr>
            <a:picLocks noChangeAspect="1"/>
          </p:cNvPicPr>
          <p:nvPr/>
        </p:nvPicPr>
        <p:blipFill>
          <a:blip r:embed="rId3"/>
          <a:stretch>
            <a:fillRect/>
          </a:stretch>
        </p:blipFill>
        <p:spPr>
          <a:xfrm>
            <a:off x="11030476" y="268723"/>
            <a:ext cx="915500" cy="915500"/>
          </a:xfrm>
          <a:prstGeom prst="rect">
            <a:avLst/>
          </a:prstGeom>
          <a:ln>
            <a:noFill/>
          </a:ln>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202CE2B-778D-970B-F721-C6464BB88BB9}"/>
                  </a:ext>
                </a:extLst>
              </p:cNvPr>
              <p:cNvSpPr txBox="1"/>
              <p:nvPr/>
            </p:nvSpPr>
            <p:spPr>
              <a:xfrm>
                <a:off x="162777" y="1557102"/>
                <a:ext cx="11585976" cy="4492384"/>
              </a:xfrm>
              <a:prstGeom prst="rect">
                <a:avLst/>
              </a:prstGeom>
              <a:noFill/>
            </p:spPr>
            <p:txBody>
              <a:bodyPr wrap="square">
                <a:spAutoFit/>
              </a:bodyPr>
              <a:lstStyle/>
              <a:p>
                <a:pPr algn="ctr"/>
                <a:r>
                  <a:rPr lang="en-AU" sz="3600" dirty="0">
                    <a:effectLst/>
                    <a:latin typeface="Arial" panose="020B0604020202020204" pitchFamily="34" charset="0"/>
                    <a:ea typeface="Calibri" panose="020F0502020204030204" pitchFamily="34" charset="0"/>
                  </a:rPr>
                  <a:t>A gardener has </a:t>
                </a:r>
                <a:r>
                  <a:rPr lang="en-AU" sz="3600" b="1" dirty="0">
                    <a:effectLst/>
                    <a:latin typeface="Arial" panose="020B0604020202020204" pitchFamily="34" charset="0"/>
                    <a:ea typeface="Calibri" panose="020F0502020204030204" pitchFamily="34" charset="0"/>
                  </a:rPr>
                  <a:t>2 packets </a:t>
                </a:r>
                <a:r>
                  <a:rPr lang="en-AU" sz="3600" dirty="0">
                    <a:effectLst/>
                    <a:latin typeface="Arial" panose="020B0604020202020204" pitchFamily="34" charset="0"/>
                    <a:ea typeface="Calibri" panose="020F0502020204030204" pitchFamily="34" charset="0"/>
                  </a:rPr>
                  <a:t>of </a:t>
                </a:r>
                <a:r>
                  <a:rPr lang="en-AU" sz="3600" b="1" dirty="0">
                    <a:effectLst/>
                    <a:latin typeface="Arial" panose="020B0604020202020204" pitchFamily="34" charset="0"/>
                    <a:ea typeface="Calibri" panose="020F0502020204030204" pitchFamily="34" charset="0"/>
                  </a:rPr>
                  <a:t>60 seeds </a:t>
                </a:r>
                <a:r>
                  <a:rPr lang="en-AU" sz="3600" dirty="0">
                    <a:effectLst/>
                    <a:latin typeface="Arial" panose="020B0604020202020204" pitchFamily="34" charset="0"/>
                    <a:ea typeface="Calibri" panose="020F0502020204030204" pitchFamily="34" charset="0"/>
                  </a:rPr>
                  <a:t>that have been opened. One packet is </a:t>
                </a:r>
                <a:r>
                  <a:rPr lang="en-AU" sz="3600" b="1" dirty="0">
                    <a:latin typeface="Arial" panose="020B0604020202020204" pitchFamily="34" charset="0"/>
                    <a:ea typeface="Calibri" panose="020F0502020204030204" pitchFamily="34" charset="0"/>
                  </a:rPr>
                  <a:t>seven</a:t>
                </a:r>
                <a:r>
                  <a:rPr lang="en-AU" sz="3600" b="1" dirty="0">
                    <a:effectLst/>
                    <a:latin typeface="Arial" panose="020B0604020202020204" pitchFamily="34" charset="0"/>
                    <a:ea typeface="Calibri" panose="020F0502020204030204" pitchFamily="34" charset="0"/>
                  </a:rPr>
                  <a:t>-tenths ( </a:t>
                </a:r>
                <a14:m>
                  <m:oMath xmlns:m="http://schemas.openxmlformats.org/officeDocument/2006/math">
                    <m:f>
                      <m:fPr>
                        <m:ctrlPr>
                          <a:rPr lang="en-AU" sz="3600" b="1" i="1" smtClean="0">
                            <a:effectLst/>
                            <a:latin typeface="Cambria Math" panose="02040503050406030204" pitchFamily="18" charset="0"/>
                          </a:rPr>
                        </m:ctrlPr>
                      </m:fPr>
                      <m:num>
                        <m:r>
                          <a:rPr lang="en-AU" sz="3600" b="1" i="1" smtClean="0">
                            <a:effectLst/>
                            <a:latin typeface="Cambria Math" panose="02040503050406030204" pitchFamily="18" charset="0"/>
                          </a:rPr>
                          <m:t>𝟕</m:t>
                        </m:r>
                      </m:num>
                      <m:den>
                        <m:r>
                          <a:rPr lang="en-AU" sz="3600" b="1" i="1">
                            <a:effectLst/>
                            <a:latin typeface="Cambria Math" panose="02040503050406030204" pitchFamily="18" charset="0"/>
                            <a:ea typeface="Calibri" panose="020F0502020204030204" pitchFamily="34" charset="0"/>
                            <a:cs typeface="Arial" panose="020B0604020202020204" pitchFamily="34" charset="0"/>
                          </a:rPr>
                          <m:t>𝟏𝟎</m:t>
                        </m:r>
                      </m:den>
                    </m:f>
                    <m:r>
                      <a:rPr lang="en-AU" sz="3600" b="1" i="1">
                        <a:effectLst/>
                        <a:latin typeface="Cambria Math" panose="02040503050406030204" pitchFamily="18" charset="0"/>
                        <a:ea typeface="Calibri" panose="020F0502020204030204" pitchFamily="34" charset="0"/>
                        <a:cs typeface="Arial" panose="020B0604020202020204" pitchFamily="34" charset="0"/>
                      </a:rPr>
                      <m:t> </m:t>
                    </m:r>
                  </m:oMath>
                </a14:m>
                <a:r>
                  <a:rPr lang="en-AU" sz="3600" b="1" dirty="0">
                    <a:effectLst/>
                    <a:latin typeface="Arial" panose="020B0604020202020204" pitchFamily="34" charset="0"/>
                    <a:ea typeface="Calibri" panose="020F0502020204030204" pitchFamily="34" charset="0"/>
                  </a:rPr>
                  <a:t>)</a:t>
                </a:r>
                <a:r>
                  <a:rPr lang="en-AU" sz="3600" dirty="0">
                    <a:effectLst/>
                    <a:latin typeface="Arial" panose="020B0604020202020204" pitchFamily="34" charset="0"/>
                    <a:ea typeface="Calibri" panose="020F0502020204030204" pitchFamily="34" charset="0"/>
                  </a:rPr>
                  <a:t> full. The second packet is </a:t>
                </a:r>
                <a:r>
                  <a:rPr lang="en-AU" sz="3600" b="1" dirty="0">
                    <a:latin typeface="Arial" panose="020B0604020202020204" pitchFamily="34" charset="0"/>
                    <a:ea typeface="Calibri" panose="020F0502020204030204" pitchFamily="34" charset="0"/>
                  </a:rPr>
                  <a:t>four-tenths ( </a:t>
                </a:r>
                <a14:m>
                  <m:oMath xmlns:m="http://schemas.openxmlformats.org/officeDocument/2006/math">
                    <m:f>
                      <m:fPr>
                        <m:ctrlPr>
                          <a:rPr lang="en-AU" sz="3600" b="1" i="1" smtClean="0">
                            <a:latin typeface="Cambria Math" panose="02040503050406030204" pitchFamily="18" charset="0"/>
                          </a:rPr>
                        </m:ctrlPr>
                      </m:fPr>
                      <m:num>
                        <m:r>
                          <a:rPr lang="en-AU" sz="3600" b="1" i="1" smtClean="0">
                            <a:latin typeface="Cambria Math" panose="02040503050406030204" pitchFamily="18" charset="0"/>
                          </a:rPr>
                          <m:t>𝟒</m:t>
                        </m:r>
                      </m:num>
                      <m:den>
                        <m:r>
                          <a:rPr lang="en-AU" sz="3600" b="1" i="1" smtClean="0">
                            <a:latin typeface="Cambria Math" panose="02040503050406030204" pitchFamily="18" charset="0"/>
                          </a:rPr>
                          <m:t>𝟏𝟎</m:t>
                        </m:r>
                      </m:den>
                    </m:f>
                    <m:r>
                      <a:rPr lang="en-AU" sz="3600" b="1" i="1">
                        <a:latin typeface="Cambria Math" panose="02040503050406030204" pitchFamily="18" charset="0"/>
                        <a:ea typeface="Calibri" panose="020F0502020204030204" pitchFamily="34" charset="0"/>
                        <a:cs typeface="Arial" panose="020B0604020202020204" pitchFamily="34" charset="0"/>
                      </a:rPr>
                      <m:t> </m:t>
                    </m:r>
                  </m:oMath>
                </a14:m>
                <a:r>
                  <a:rPr lang="en-AU" sz="3600" b="1" dirty="0">
                    <a:latin typeface="Arial" panose="020B0604020202020204" pitchFamily="34" charset="0"/>
                    <a:ea typeface="Calibri" panose="020F0502020204030204" pitchFamily="34" charset="0"/>
                  </a:rPr>
                  <a:t>) </a:t>
                </a:r>
                <a:r>
                  <a:rPr lang="en-AU" sz="3600" dirty="0">
                    <a:latin typeface="Arial" panose="020B0604020202020204" pitchFamily="34" charset="0"/>
                    <a:ea typeface="Calibri" panose="020F0502020204030204" pitchFamily="34" charset="0"/>
                  </a:rPr>
                  <a:t>empty.</a:t>
                </a:r>
                <a:br>
                  <a:rPr lang="en-AU" sz="3600" dirty="0">
                    <a:latin typeface="Arial" panose="020B0604020202020204" pitchFamily="34" charset="0"/>
                    <a:ea typeface="Calibri" panose="020F0502020204030204" pitchFamily="34" charset="0"/>
                  </a:rPr>
                </a:br>
                <a:r>
                  <a:rPr lang="en-AU" sz="3600" dirty="0">
                    <a:latin typeface="Arial" panose="020B0604020202020204" pitchFamily="34" charset="0"/>
                    <a:ea typeface="Calibri" panose="020F0502020204030204" pitchFamily="34" charset="0"/>
                  </a:rPr>
                  <a:t> </a:t>
                </a:r>
                <a:br>
                  <a:rPr lang="en-AU" sz="3600" dirty="0">
                    <a:latin typeface="Arial" panose="020B0604020202020204" pitchFamily="34" charset="0"/>
                    <a:ea typeface="Calibri" panose="020F0502020204030204" pitchFamily="34" charset="0"/>
                  </a:rPr>
                </a:br>
                <a:r>
                  <a:rPr lang="en-AU" sz="3600" b="1" dirty="0">
                    <a:latin typeface="Arial" panose="020B0604020202020204" pitchFamily="34" charset="0"/>
                    <a:ea typeface="Calibri" panose="020F0502020204030204" pitchFamily="34" charset="0"/>
                  </a:rPr>
                  <a:t>How many seeds </a:t>
                </a:r>
                <a:r>
                  <a:rPr lang="en-AU" sz="3600" dirty="0">
                    <a:latin typeface="Arial" panose="020B0604020202020204" pitchFamily="34" charset="0"/>
                    <a:ea typeface="Calibri" panose="020F0502020204030204" pitchFamily="34" charset="0"/>
                  </a:rPr>
                  <a:t>does the gardener have </a:t>
                </a:r>
                <a:r>
                  <a:rPr lang="en-AU" sz="3600" b="1" dirty="0">
                    <a:latin typeface="Arial" panose="020B0604020202020204" pitchFamily="34" charset="0"/>
                    <a:ea typeface="Calibri" panose="020F0502020204030204" pitchFamily="34" charset="0"/>
                  </a:rPr>
                  <a:t>altogether</a:t>
                </a:r>
                <a:r>
                  <a:rPr lang="en-AU" sz="3600" dirty="0">
                    <a:latin typeface="Arial" panose="020B0604020202020204" pitchFamily="34" charset="0"/>
                    <a:ea typeface="Calibri" panose="020F0502020204030204" pitchFamily="34" charset="0"/>
                  </a:rPr>
                  <a:t>?</a:t>
                </a:r>
                <a:br>
                  <a:rPr lang="en-AU" sz="3600" dirty="0">
                    <a:latin typeface="Arial" panose="020B0604020202020204" pitchFamily="34" charset="0"/>
                    <a:ea typeface="Calibri" panose="020F0502020204030204" pitchFamily="34" charset="0"/>
                  </a:rPr>
                </a:br>
                <a:endParaRPr lang="en-AU" sz="3600" dirty="0">
                  <a:latin typeface="Arial" panose="020B0604020202020204" pitchFamily="34" charset="0"/>
                  <a:ea typeface="Calibri" panose="020F0502020204030204" pitchFamily="34" charset="0"/>
                </a:endParaRPr>
              </a:p>
              <a:p>
                <a:pPr algn="ctr"/>
                <a:r>
                  <a:rPr lang="en-AU" sz="3600" dirty="0">
                    <a:ea typeface="Calibri" panose="020F0502020204030204" pitchFamily="34" charset="0"/>
                  </a:rPr>
                  <a:t>Use a </a:t>
                </a:r>
                <a:r>
                  <a:rPr lang="en-AU" sz="3600" b="1" dirty="0">
                    <a:ea typeface="Calibri" panose="020F0502020204030204" pitchFamily="34" charset="0"/>
                  </a:rPr>
                  <a:t>bar model </a:t>
                </a:r>
                <a:r>
                  <a:rPr lang="en-AU" sz="3600" dirty="0">
                    <a:ea typeface="Calibri" panose="020F0502020204030204" pitchFamily="34" charset="0"/>
                  </a:rPr>
                  <a:t>to </a:t>
                </a:r>
                <a:r>
                  <a:rPr lang="en-AU" sz="3600" b="1" dirty="0">
                    <a:ea typeface="Calibri" panose="020F0502020204030204" pitchFamily="34" charset="0"/>
                  </a:rPr>
                  <a:t>support </a:t>
                </a:r>
                <a:r>
                  <a:rPr lang="en-AU" sz="3600" dirty="0">
                    <a:ea typeface="Calibri" panose="020F0502020204030204" pitchFamily="34" charset="0"/>
                  </a:rPr>
                  <a:t>your reasoning.</a:t>
                </a:r>
              </a:p>
            </p:txBody>
          </p:sp>
        </mc:Choice>
        <mc:Fallback xmlns="">
          <p:sp>
            <p:nvSpPr>
              <p:cNvPr id="5" name="TextBox 4">
                <a:extLst>
                  <a:ext uri="{FF2B5EF4-FFF2-40B4-BE49-F238E27FC236}">
                    <a16:creationId xmlns:a16="http://schemas.microsoft.com/office/drawing/2014/main" id="{1202CE2B-778D-970B-F721-C6464BB88BB9}"/>
                  </a:ext>
                </a:extLst>
              </p:cNvPr>
              <p:cNvSpPr txBox="1">
                <a:spLocks noRot="1" noChangeAspect="1" noMove="1" noResize="1" noEditPoints="1" noAdjustHandles="1" noChangeArrowheads="1" noChangeShapeType="1" noTextEdit="1"/>
              </p:cNvSpPr>
              <p:nvPr/>
            </p:nvSpPr>
            <p:spPr>
              <a:xfrm>
                <a:off x="162777" y="1557102"/>
                <a:ext cx="11585976" cy="4492384"/>
              </a:xfrm>
              <a:prstGeom prst="rect">
                <a:avLst/>
              </a:prstGeom>
              <a:blipFill>
                <a:blip r:embed="rId4"/>
                <a:stretch>
                  <a:fillRect l="-1053" t="-2035" r="-1000" b="-3392"/>
                </a:stretch>
              </a:blipFill>
            </p:spPr>
            <p:txBody>
              <a:bodyPr/>
              <a:lstStyle/>
              <a:p>
                <a:r>
                  <a:rPr lang="en-AU">
                    <a:noFill/>
                  </a:rPr>
                  <a:t> </a:t>
                </a:r>
              </a:p>
            </p:txBody>
          </p:sp>
        </mc:Fallback>
      </mc:AlternateContent>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pic>
        <p:nvPicPr>
          <p:cNvPr id="3" name="Picture 2" descr="image of a clipboard with a pencil recording short answer responses">
            <a:extLst>
              <a:ext uri="{FF2B5EF4-FFF2-40B4-BE49-F238E27FC236}">
                <a16:creationId xmlns:a16="http://schemas.microsoft.com/office/drawing/2014/main" id="{981E4643-C0C9-5325-74DA-A071DDDC65A8}"/>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5" name="TextBox 4">
            <a:extLst>
              <a:ext uri="{FF2B5EF4-FFF2-40B4-BE49-F238E27FC236}">
                <a16:creationId xmlns:a16="http://schemas.microsoft.com/office/drawing/2014/main" id="{914FBB89-0283-75E7-D436-249A3149BD4B}"/>
              </a:ext>
            </a:extLst>
          </p:cNvPr>
          <p:cNvSpPr txBox="1"/>
          <p:nvPr/>
        </p:nvSpPr>
        <p:spPr>
          <a:xfrm>
            <a:off x="1701052" y="2194121"/>
            <a:ext cx="8789895" cy="3013838"/>
          </a:xfrm>
          <a:prstGeom prst="rect">
            <a:avLst/>
          </a:prstGeom>
          <a:noFill/>
        </p:spPr>
        <p:txBody>
          <a:bodyPr wrap="square">
            <a:spAutoFit/>
          </a:bodyPr>
          <a:lstStyle/>
          <a:p>
            <a:pPr algn="ctr">
              <a:lnSpc>
                <a:spcPct val="150000"/>
              </a:lnSpc>
            </a:pPr>
            <a:r>
              <a:rPr lang="en-AU" sz="4400" b="1" dirty="0">
                <a:effectLst/>
                <a:latin typeface="Arial" panose="020B0604020202020204" pitchFamily="34" charset="0"/>
                <a:ea typeface="Calibri" panose="020F0502020204030204" pitchFamily="34" charset="0"/>
              </a:rPr>
              <a:t>Estimate</a:t>
            </a:r>
            <a:r>
              <a:rPr lang="en-AU" sz="4400" dirty="0">
                <a:effectLst/>
                <a:latin typeface="Arial" panose="020B0604020202020204" pitchFamily="34" charset="0"/>
                <a:ea typeface="Calibri" panose="020F0502020204030204" pitchFamily="34" charset="0"/>
              </a:rPr>
              <a:t> the </a:t>
            </a:r>
            <a:r>
              <a:rPr lang="en-AU" sz="4400" b="1" dirty="0">
                <a:effectLst/>
                <a:latin typeface="Arial" panose="020B0604020202020204" pitchFamily="34" charset="0"/>
                <a:ea typeface="Calibri" panose="020F0502020204030204" pitchFamily="34" charset="0"/>
              </a:rPr>
              <a:t>length</a:t>
            </a:r>
            <a:r>
              <a:rPr lang="en-AU" sz="4400" dirty="0">
                <a:effectLst/>
                <a:latin typeface="Arial" panose="020B0604020202020204" pitchFamily="34" charset="0"/>
                <a:ea typeface="Calibri" panose="020F0502020204030204" pitchFamily="34" charset="0"/>
              </a:rPr>
              <a:t> of a swimming pool?</a:t>
            </a:r>
          </a:p>
          <a:p>
            <a:pPr algn="ctr">
              <a:lnSpc>
                <a:spcPct val="150000"/>
              </a:lnSpc>
            </a:pPr>
            <a:r>
              <a:rPr lang="en-AU" sz="4400" b="1" dirty="0">
                <a:latin typeface="Arial" panose="020B0604020202020204" pitchFamily="34" charset="0"/>
                <a:ea typeface="Calibri" panose="020F0502020204030204" pitchFamily="34" charset="0"/>
              </a:rPr>
              <a:t>Explain</a:t>
            </a:r>
            <a:r>
              <a:rPr lang="en-AU" sz="4400" dirty="0">
                <a:latin typeface="Arial" panose="020B0604020202020204" pitchFamily="34" charset="0"/>
                <a:ea typeface="Calibri" panose="020F0502020204030204" pitchFamily="34" charset="0"/>
              </a:rPr>
              <a:t> your </a:t>
            </a:r>
            <a:r>
              <a:rPr lang="en-AU" sz="4400" b="1" dirty="0">
                <a:latin typeface="Arial" panose="020B0604020202020204" pitchFamily="34" charset="0"/>
                <a:ea typeface="Calibri" panose="020F0502020204030204" pitchFamily="34" charset="0"/>
              </a:rPr>
              <a:t>reasoning</a:t>
            </a:r>
            <a:r>
              <a:rPr lang="en-AU" sz="4400" dirty="0">
                <a:latin typeface="Arial" panose="020B0604020202020204" pitchFamily="34" charset="0"/>
                <a:ea typeface="Calibri" panose="020F0502020204030204" pitchFamily="34" charset="0"/>
              </a:rPr>
              <a:t>. </a:t>
            </a:r>
            <a:endParaRPr lang="en-AU" sz="4400" dirty="0"/>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make connections between benchmark fractions, decimals and percentages </a:t>
            </a:r>
            <a:r>
              <a:rPr lang="en-AU">
                <a:solidFill>
                  <a:schemeClr val="bg1"/>
                </a:solidFill>
              </a:rPr>
              <a:t>(1)</a:t>
            </a:r>
          </a:p>
        </p:txBody>
      </p:sp>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pic>
        <p:nvPicPr>
          <p:cNvPr id="4" name="Picture 3" descr="image of a head with cogs turning inside">
            <a:extLst>
              <a:ext uri="{FF2B5EF4-FFF2-40B4-BE49-F238E27FC236}">
                <a16:creationId xmlns:a16="http://schemas.microsoft.com/office/drawing/2014/main" id="{862A61D7-0DAF-1BF8-46D6-A2E9DEA92CB9}"/>
              </a:ext>
            </a:extLst>
          </p:cNvPr>
          <p:cNvPicPr>
            <a:picLocks noChangeAspect="1"/>
          </p:cNvPicPr>
          <p:nvPr/>
        </p:nvPicPr>
        <p:blipFill>
          <a:blip r:embed="rId3"/>
          <a:stretch>
            <a:fillRect/>
          </a:stretch>
        </p:blipFill>
        <p:spPr>
          <a:xfrm>
            <a:off x="11107003" y="240894"/>
            <a:ext cx="720000" cy="856364"/>
          </a:xfrm>
          <a:prstGeom prst="rect">
            <a:avLst/>
          </a:prstGeom>
          <a:ln>
            <a:noFill/>
          </a:ln>
        </p:spPr>
      </p:pic>
      <p:grpSp>
        <p:nvGrpSpPr>
          <p:cNvPr id="3" name="Group 2" descr="A number line starting at 0.9 and finishing at 1. It is marked with intervals of one hundredths, Underneath are images of post it notes with the following numbers marked: 100%, 0.901, 1.911, 0.900 0.93 9 tenths, 99%, 0.911, 0.940, 95%, 0.951, 0.96, 0.98, 0.917, 0.919, 1.002">
            <a:extLst>
              <a:ext uri="{FF2B5EF4-FFF2-40B4-BE49-F238E27FC236}">
                <a16:creationId xmlns:a16="http://schemas.microsoft.com/office/drawing/2014/main" id="{C8F3377A-983A-370E-E14B-3BD0D7A955EC}"/>
              </a:ext>
            </a:extLst>
          </p:cNvPr>
          <p:cNvGrpSpPr/>
          <p:nvPr/>
        </p:nvGrpSpPr>
        <p:grpSpPr>
          <a:xfrm>
            <a:off x="4312563" y="1705569"/>
            <a:ext cx="7514440" cy="4384432"/>
            <a:chOff x="2775924" y="1197218"/>
            <a:chExt cx="8862842" cy="4463564"/>
          </a:xfrm>
        </p:grpSpPr>
        <p:grpSp>
          <p:nvGrpSpPr>
            <p:cNvPr id="5" name="Group 4">
              <a:extLst>
                <a:ext uri="{FF2B5EF4-FFF2-40B4-BE49-F238E27FC236}">
                  <a16:creationId xmlns:a16="http://schemas.microsoft.com/office/drawing/2014/main" id="{F862BE86-F142-9D30-C15E-D726485FAB63}"/>
                </a:ext>
              </a:extLst>
            </p:cNvPr>
            <p:cNvGrpSpPr/>
            <p:nvPr/>
          </p:nvGrpSpPr>
          <p:grpSpPr>
            <a:xfrm>
              <a:off x="2775924" y="1197218"/>
              <a:ext cx="8862842" cy="4463564"/>
              <a:chOff x="1223349" y="1288128"/>
              <a:chExt cx="8862842" cy="4463564"/>
            </a:xfrm>
          </p:grpSpPr>
          <p:sp>
            <p:nvSpPr>
              <p:cNvPr id="8" name="Freeform 3">
                <a:extLst>
                  <a:ext uri="{FF2B5EF4-FFF2-40B4-BE49-F238E27FC236}">
                    <a16:creationId xmlns:a16="http://schemas.microsoft.com/office/drawing/2014/main" id="{A551BA80-450B-E429-E64A-205B2A369DF6}"/>
                  </a:ext>
                  <a:ext uri="{C183D7F6-B498-43B3-948B-1728B52AA6E4}">
                    <adec:decorative xmlns:adec="http://schemas.microsoft.com/office/drawing/2017/decorative" val="1"/>
                  </a:ext>
                </a:extLst>
              </p:cNvPr>
              <p:cNvSpPr/>
              <p:nvPr/>
            </p:nvSpPr>
            <p:spPr>
              <a:xfrm>
                <a:off x="1290685" y="1821391"/>
                <a:ext cx="677945" cy="643868"/>
              </a:xfrm>
              <a:custGeom>
                <a:avLst/>
                <a:gdLst/>
                <a:ahLst/>
                <a:cxnLst/>
                <a:rect l="l" t="t" r="r" b="b"/>
                <a:pathLst>
                  <a:path w="818469" h="888433">
                    <a:moveTo>
                      <a:pt x="0" y="0"/>
                    </a:moveTo>
                    <a:lnTo>
                      <a:pt x="818469" y="0"/>
                    </a:lnTo>
                    <a:lnTo>
                      <a:pt x="818469" y="888433"/>
                    </a:lnTo>
                    <a:lnTo>
                      <a:pt x="0" y="888433"/>
                    </a:lnTo>
                    <a:lnTo>
                      <a:pt x="0" y="0"/>
                    </a:lnTo>
                    <a:close/>
                  </a:path>
                </a:pathLst>
              </a:custGeom>
              <a:blipFill>
                <a:blip r:embed="rId4"/>
                <a:stretch>
                  <a:fillRect/>
                </a:stretch>
              </a:blipFill>
            </p:spPr>
            <p:txBody>
              <a:bodyPr/>
              <a:lstStyle/>
              <a:p>
                <a:endParaRPr lang="en-AU"/>
              </a:p>
            </p:txBody>
          </p:sp>
          <p:sp>
            <p:nvSpPr>
              <p:cNvPr id="9" name="AutoShape 31">
                <a:extLst>
                  <a:ext uri="{FF2B5EF4-FFF2-40B4-BE49-F238E27FC236}">
                    <a16:creationId xmlns:a16="http://schemas.microsoft.com/office/drawing/2014/main" id="{947C795D-F6D0-B3C2-5B8F-922C19B2CB6D}"/>
                  </a:ext>
                  <a:ext uri="{C183D7F6-B498-43B3-948B-1728B52AA6E4}">
                    <adec:decorative xmlns:adec="http://schemas.microsoft.com/office/drawing/2017/decorative" val="1"/>
                  </a:ext>
                </a:extLst>
              </p:cNvPr>
              <p:cNvSpPr/>
              <p:nvPr/>
            </p:nvSpPr>
            <p:spPr>
              <a:xfrm>
                <a:off x="1287552" y="1522086"/>
                <a:ext cx="8762822" cy="34515"/>
              </a:xfrm>
              <a:prstGeom prst="line">
                <a:avLst/>
              </a:prstGeom>
              <a:ln w="76200" cap="flat">
                <a:solidFill>
                  <a:srgbClr val="000000"/>
                </a:solidFill>
                <a:prstDash val="solid"/>
                <a:headEnd type="triangle" w="lg" len="med"/>
                <a:tailEnd type="triangle" w="lg" len="med"/>
              </a:ln>
            </p:spPr>
            <p:txBody>
              <a:bodyPr/>
              <a:lstStyle/>
              <a:p>
                <a:endParaRPr lang="en-AU"/>
              </a:p>
            </p:txBody>
          </p:sp>
          <p:sp>
            <p:nvSpPr>
              <p:cNvPr id="10" name="AutoShape 2">
                <a:extLst>
                  <a:ext uri="{FF2B5EF4-FFF2-40B4-BE49-F238E27FC236}">
                    <a16:creationId xmlns:a16="http://schemas.microsoft.com/office/drawing/2014/main" id="{82CE0B75-D5E1-367B-C42C-DF4F5E35142C}"/>
                  </a:ext>
                </a:extLst>
              </p:cNvPr>
              <p:cNvSpPr/>
              <p:nvPr/>
            </p:nvSpPr>
            <p:spPr>
              <a:xfrm flipV="1">
                <a:off x="1596299" y="1288128"/>
                <a:ext cx="0" cy="486911"/>
              </a:xfrm>
              <a:prstGeom prst="line">
                <a:avLst/>
              </a:prstGeom>
              <a:ln w="28575" cap="flat">
                <a:solidFill>
                  <a:srgbClr val="000000"/>
                </a:solidFill>
                <a:prstDash val="solid"/>
                <a:headEnd type="none" w="sm" len="sm"/>
                <a:tailEnd type="none" w="sm" len="sm"/>
              </a:ln>
            </p:spPr>
            <p:txBody>
              <a:bodyPr/>
              <a:lstStyle/>
              <a:p>
                <a:endParaRPr lang="en-AU"/>
              </a:p>
            </p:txBody>
          </p:sp>
          <p:sp>
            <p:nvSpPr>
              <p:cNvPr id="11" name="AutoShape 4">
                <a:extLst>
                  <a:ext uri="{FF2B5EF4-FFF2-40B4-BE49-F238E27FC236}">
                    <a16:creationId xmlns:a16="http://schemas.microsoft.com/office/drawing/2014/main" id="{295F76F2-6C32-5BB2-7EA9-A3BDBE82ADCD}"/>
                  </a:ext>
                </a:extLst>
              </p:cNvPr>
              <p:cNvSpPr/>
              <p:nvPr/>
            </p:nvSpPr>
            <p:spPr>
              <a:xfrm flipV="1">
                <a:off x="9642386" y="1288128"/>
                <a:ext cx="0" cy="486911"/>
              </a:xfrm>
              <a:prstGeom prst="line">
                <a:avLst/>
              </a:prstGeom>
              <a:ln w="28575" cap="flat">
                <a:solidFill>
                  <a:srgbClr val="000000"/>
                </a:solidFill>
                <a:prstDash val="solid"/>
                <a:headEnd type="none" w="sm" len="sm"/>
                <a:tailEnd type="none" w="sm" len="sm"/>
              </a:ln>
            </p:spPr>
            <p:txBody>
              <a:bodyPr/>
              <a:lstStyle/>
              <a:p>
                <a:endParaRPr lang="en-AU"/>
              </a:p>
            </p:txBody>
          </p:sp>
          <p:sp>
            <p:nvSpPr>
              <p:cNvPr id="12" name="AutoShape 5">
                <a:extLst>
                  <a:ext uri="{FF2B5EF4-FFF2-40B4-BE49-F238E27FC236}">
                    <a16:creationId xmlns:a16="http://schemas.microsoft.com/office/drawing/2014/main" id="{399F3D07-3C8E-6845-000B-F8B17C88A574}"/>
                  </a:ext>
                </a:extLst>
              </p:cNvPr>
              <p:cNvSpPr/>
              <p:nvPr/>
            </p:nvSpPr>
            <p:spPr>
              <a:xfrm flipV="1">
                <a:off x="2540647" y="1523113"/>
                <a:ext cx="0" cy="486911"/>
              </a:xfrm>
              <a:prstGeom prst="line">
                <a:avLst/>
              </a:prstGeom>
              <a:ln w="28575" cap="flat">
                <a:solidFill>
                  <a:srgbClr val="000000"/>
                </a:solidFill>
                <a:prstDash val="solid"/>
                <a:headEnd type="none" w="sm" len="sm"/>
                <a:tailEnd type="none" w="sm" len="sm"/>
              </a:ln>
            </p:spPr>
            <p:txBody>
              <a:bodyPr/>
              <a:lstStyle/>
              <a:p>
                <a:endParaRPr lang="en-AU"/>
              </a:p>
            </p:txBody>
          </p:sp>
          <p:sp>
            <p:nvSpPr>
              <p:cNvPr id="13" name="AutoShape 6">
                <a:extLst>
                  <a:ext uri="{FF2B5EF4-FFF2-40B4-BE49-F238E27FC236}">
                    <a16:creationId xmlns:a16="http://schemas.microsoft.com/office/drawing/2014/main" id="{F2FFFDAB-E2E7-172F-C77E-33A06699EDB1}"/>
                  </a:ext>
                </a:extLst>
              </p:cNvPr>
              <p:cNvSpPr/>
              <p:nvPr/>
            </p:nvSpPr>
            <p:spPr>
              <a:xfrm flipV="1">
                <a:off x="3405590" y="1523113"/>
                <a:ext cx="0" cy="486911"/>
              </a:xfrm>
              <a:prstGeom prst="line">
                <a:avLst/>
              </a:prstGeom>
              <a:ln w="28575" cap="flat">
                <a:solidFill>
                  <a:srgbClr val="000000"/>
                </a:solidFill>
                <a:prstDash val="solid"/>
                <a:headEnd type="none" w="sm" len="sm"/>
                <a:tailEnd type="none" w="sm" len="sm"/>
              </a:ln>
            </p:spPr>
            <p:txBody>
              <a:bodyPr/>
              <a:lstStyle/>
              <a:p>
                <a:endParaRPr lang="en-AU"/>
              </a:p>
            </p:txBody>
          </p:sp>
          <p:sp>
            <p:nvSpPr>
              <p:cNvPr id="14" name="AutoShape 7">
                <a:extLst>
                  <a:ext uri="{FF2B5EF4-FFF2-40B4-BE49-F238E27FC236}">
                    <a16:creationId xmlns:a16="http://schemas.microsoft.com/office/drawing/2014/main" id="{F5EBCE3C-6378-AA1C-FCDF-E2AB569BDF34}"/>
                  </a:ext>
                </a:extLst>
              </p:cNvPr>
              <p:cNvSpPr/>
              <p:nvPr/>
            </p:nvSpPr>
            <p:spPr>
              <a:xfrm flipV="1">
                <a:off x="4151509" y="1523113"/>
                <a:ext cx="0" cy="486911"/>
              </a:xfrm>
              <a:prstGeom prst="line">
                <a:avLst/>
              </a:prstGeom>
              <a:ln w="28575" cap="flat">
                <a:solidFill>
                  <a:srgbClr val="000000"/>
                </a:solidFill>
                <a:prstDash val="solid"/>
                <a:headEnd type="none" w="sm" len="sm"/>
                <a:tailEnd type="none" w="sm" len="sm"/>
              </a:ln>
            </p:spPr>
            <p:txBody>
              <a:bodyPr/>
              <a:lstStyle/>
              <a:p>
                <a:endParaRPr lang="en-AU"/>
              </a:p>
            </p:txBody>
          </p:sp>
          <p:sp>
            <p:nvSpPr>
              <p:cNvPr id="15" name="AutoShape 8">
                <a:extLst>
                  <a:ext uri="{FF2B5EF4-FFF2-40B4-BE49-F238E27FC236}">
                    <a16:creationId xmlns:a16="http://schemas.microsoft.com/office/drawing/2014/main" id="{04EBF2C0-6733-6FCE-5CD9-FDBC658AC456}"/>
                  </a:ext>
                </a:extLst>
              </p:cNvPr>
              <p:cNvSpPr/>
              <p:nvPr/>
            </p:nvSpPr>
            <p:spPr>
              <a:xfrm flipV="1">
                <a:off x="4914625" y="1523113"/>
                <a:ext cx="0" cy="486911"/>
              </a:xfrm>
              <a:prstGeom prst="line">
                <a:avLst/>
              </a:prstGeom>
              <a:ln w="28575" cap="flat">
                <a:solidFill>
                  <a:srgbClr val="000000"/>
                </a:solidFill>
                <a:prstDash val="solid"/>
                <a:headEnd type="none" w="sm" len="sm"/>
                <a:tailEnd type="none" w="sm" len="sm"/>
              </a:ln>
            </p:spPr>
            <p:txBody>
              <a:bodyPr/>
              <a:lstStyle/>
              <a:p>
                <a:endParaRPr lang="en-AU"/>
              </a:p>
            </p:txBody>
          </p:sp>
          <p:sp>
            <p:nvSpPr>
              <p:cNvPr id="16" name="AutoShape 9">
                <a:extLst>
                  <a:ext uri="{FF2B5EF4-FFF2-40B4-BE49-F238E27FC236}">
                    <a16:creationId xmlns:a16="http://schemas.microsoft.com/office/drawing/2014/main" id="{786EC642-AA21-2001-DF24-83F639CAC061}"/>
                  </a:ext>
                </a:extLst>
              </p:cNvPr>
              <p:cNvSpPr/>
              <p:nvPr/>
            </p:nvSpPr>
            <p:spPr>
              <a:xfrm flipV="1">
                <a:off x="5701589" y="1523113"/>
                <a:ext cx="0" cy="486911"/>
              </a:xfrm>
              <a:prstGeom prst="line">
                <a:avLst/>
              </a:prstGeom>
              <a:ln w="28575" cap="flat">
                <a:solidFill>
                  <a:srgbClr val="000000"/>
                </a:solidFill>
                <a:prstDash val="solid"/>
                <a:headEnd type="none" w="sm" len="sm"/>
                <a:tailEnd type="none" w="sm" len="sm"/>
              </a:ln>
            </p:spPr>
            <p:txBody>
              <a:bodyPr/>
              <a:lstStyle/>
              <a:p>
                <a:endParaRPr lang="en-AU"/>
              </a:p>
            </p:txBody>
          </p:sp>
          <p:sp>
            <p:nvSpPr>
              <p:cNvPr id="17" name="AutoShape 10">
                <a:extLst>
                  <a:ext uri="{FF2B5EF4-FFF2-40B4-BE49-F238E27FC236}">
                    <a16:creationId xmlns:a16="http://schemas.microsoft.com/office/drawing/2014/main" id="{7ADD9A18-DA7B-AA3D-FFAA-5B66EC82BFC6}"/>
                  </a:ext>
                </a:extLst>
              </p:cNvPr>
              <p:cNvSpPr/>
              <p:nvPr/>
            </p:nvSpPr>
            <p:spPr>
              <a:xfrm flipV="1">
                <a:off x="6464705" y="1523113"/>
                <a:ext cx="0" cy="486911"/>
              </a:xfrm>
              <a:prstGeom prst="line">
                <a:avLst/>
              </a:prstGeom>
              <a:ln w="28575" cap="flat">
                <a:solidFill>
                  <a:srgbClr val="000000"/>
                </a:solidFill>
                <a:prstDash val="solid"/>
                <a:headEnd type="none" w="sm" len="sm"/>
                <a:tailEnd type="none" w="sm" len="sm"/>
              </a:ln>
            </p:spPr>
            <p:txBody>
              <a:bodyPr/>
              <a:lstStyle/>
              <a:p>
                <a:endParaRPr lang="en-AU"/>
              </a:p>
            </p:txBody>
          </p:sp>
          <p:sp>
            <p:nvSpPr>
              <p:cNvPr id="18" name="AutoShape 11">
                <a:extLst>
                  <a:ext uri="{FF2B5EF4-FFF2-40B4-BE49-F238E27FC236}">
                    <a16:creationId xmlns:a16="http://schemas.microsoft.com/office/drawing/2014/main" id="{34123E64-BAD6-29AB-DA6C-124819E312FA}"/>
                  </a:ext>
                </a:extLst>
              </p:cNvPr>
              <p:cNvSpPr/>
              <p:nvPr/>
            </p:nvSpPr>
            <p:spPr>
              <a:xfrm flipV="1">
                <a:off x="7312452" y="1523113"/>
                <a:ext cx="0" cy="486911"/>
              </a:xfrm>
              <a:prstGeom prst="line">
                <a:avLst/>
              </a:prstGeom>
              <a:ln w="28575" cap="flat">
                <a:solidFill>
                  <a:srgbClr val="000000"/>
                </a:solidFill>
                <a:prstDash val="solid"/>
                <a:headEnd type="none" w="sm" len="sm"/>
                <a:tailEnd type="none" w="sm" len="sm"/>
              </a:ln>
            </p:spPr>
            <p:txBody>
              <a:bodyPr/>
              <a:lstStyle/>
              <a:p>
                <a:endParaRPr lang="en-AU"/>
              </a:p>
            </p:txBody>
          </p:sp>
          <p:sp>
            <p:nvSpPr>
              <p:cNvPr id="19" name="AutoShape 12">
                <a:extLst>
                  <a:ext uri="{FF2B5EF4-FFF2-40B4-BE49-F238E27FC236}">
                    <a16:creationId xmlns:a16="http://schemas.microsoft.com/office/drawing/2014/main" id="{5E820B42-4E88-443E-D94A-618A569E4BEE}"/>
                  </a:ext>
                </a:extLst>
              </p:cNvPr>
              <p:cNvSpPr/>
              <p:nvPr/>
            </p:nvSpPr>
            <p:spPr>
              <a:xfrm flipV="1">
                <a:off x="8051899" y="1523113"/>
                <a:ext cx="0" cy="486911"/>
              </a:xfrm>
              <a:prstGeom prst="line">
                <a:avLst/>
              </a:prstGeom>
              <a:ln w="28575" cap="flat">
                <a:solidFill>
                  <a:srgbClr val="000000"/>
                </a:solidFill>
                <a:prstDash val="solid"/>
                <a:headEnd type="none" w="sm" len="sm"/>
                <a:tailEnd type="none" w="sm" len="sm"/>
              </a:ln>
            </p:spPr>
            <p:txBody>
              <a:bodyPr/>
              <a:lstStyle/>
              <a:p>
                <a:endParaRPr lang="en-AU"/>
              </a:p>
            </p:txBody>
          </p:sp>
          <p:sp>
            <p:nvSpPr>
              <p:cNvPr id="20" name="AutoShape 13">
                <a:extLst>
                  <a:ext uri="{FF2B5EF4-FFF2-40B4-BE49-F238E27FC236}">
                    <a16:creationId xmlns:a16="http://schemas.microsoft.com/office/drawing/2014/main" id="{A6055660-2D05-1D68-1479-19E7D3C8CD9B}"/>
                  </a:ext>
                </a:extLst>
              </p:cNvPr>
              <p:cNvSpPr/>
              <p:nvPr/>
            </p:nvSpPr>
            <p:spPr>
              <a:xfrm flipV="1">
                <a:off x="8768892" y="1523113"/>
                <a:ext cx="0" cy="486911"/>
              </a:xfrm>
              <a:prstGeom prst="line">
                <a:avLst/>
              </a:prstGeom>
              <a:ln w="28575" cap="flat">
                <a:solidFill>
                  <a:srgbClr val="000000"/>
                </a:solidFill>
                <a:prstDash val="solid"/>
                <a:headEnd type="none" w="sm" len="sm"/>
                <a:tailEnd type="none" w="sm" len="sm"/>
              </a:ln>
            </p:spPr>
            <p:txBody>
              <a:bodyPr/>
              <a:lstStyle/>
              <a:p>
                <a:endParaRPr lang="en-AU"/>
              </a:p>
            </p:txBody>
          </p:sp>
          <p:sp>
            <p:nvSpPr>
              <p:cNvPr id="21" name="Freeform 14">
                <a:extLst>
                  <a:ext uri="{FF2B5EF4-FFF2-40B4-BE49-F238E27FC236}">
                    <a16:creationId xmlns:a16="http://schemas.microsoft.com/office/drawing/2014/main" id="{278661F0-94ED-1788-0E25-FB0E1CF4D3EC}"/>
                  </a:ext>
                </a:extLst>
              </p:cNvPr>
              <p:cNvSpPr/>
              <p:nvPr/>
            </p:nvSpPr>
            <p:spPr>
              <a:xfrm>
                <a:off x="9352914" y="1766568"/>
                <a:ext cx="677945" cy="643868"/>
              </a:xfrm>
              <a:custGeom>
                <a:avLst/>
                <a:gdLst/>
                <a:ahLst/>
                <a:cxnLst/>
                <a:rect l="l" t="t" r="r" b="b"/>
                <a:pathLst>
                  <a:path w="818469" h="888433">
                    <a:moveTo>
                      <a:pt x="0" y="0"/>
                    </a:moveTo>
                    <a:lnTo>
                      <a:pt x="818469" y="0"/>
                    </a:lnTo>
                    <a:lnTo>
                      <a:pt x="818469" y="888433"/>
                    </a:lnTo>
                    <a:lnTo>
                      <a:pt x="0" y="888433"/>
                    </a:lnTo>
                    <a:lnTo>
                      <a:pt x="0" y="0"/>
                    </a:lnTo>
                    <a:close/>
                  </a:path>
                </a:pathLst>
              </a:custGeom>
              <a:blipFill>
                <a:blip r:embed="rId4"/>
                <a:stretch>
                  <a:fillRect/>
                </a:stretch>
              </a:blipFill>
            </p:spPr>
            <p:txBody>
              <a:bodyPr/>
              <a:lstStyle/>
              <a:p>
                <a:endParaRPr lang="en-AU"/>
              </a:p>
            </p:txBody>
          </p:sp>
          <p:sp>
            <p:nvSpPr>
              <p:cNvPr id="22" name="Freeform 15">
                <a:extLst>
                  <a:ext uri="{FF2B5EF4-FFF2-40B4-BE49-F238E27FC236}">
                    <a16:creationId xmlns:a16="http://schemas.microsoft.com/office/drawing/2014/main" id="{913FA8D3-990B-F154-4287-F6794BE690E9}"/>
                  </a:ext>
                </a:extLst>
              </p:cNvPr>
              <p:cNvSpPr/>
              <p:nvPr/>
            </p:nvSpPr>
            <p:spPr>
              <a:xfrm>
                <a:off x="1859603" y="4938727"/>
                <a:ext cx="672037" cy="638256"/>
              </a:xfrm>
              <a:custGeom>
                <a:avLst/>
                <a:gdLst/>
                <a:ahLst/>
                <a:cxnLst/>
                <a:rect l="l" t="t" r="r" b="b"/>
                <a:pathLst>
                  <a:path w="811336" h="880690">
                    <a:moveTo>
                      <a:pt x="0" y="0"/>
                    </a:moveTo>
                    <a:lnTo>
                      <a:pt x="811336" y="0"/>
                    </a:lnTo>
                    <a:lnTo>
                      <a:pt x="811336" y="880691"/>
                    </a:lnTo>
                    <a:lnTo>
                      <a:pt x="0" y="880691"/>
                    </a:lnTo>
                    <a:lnTo>
                      <a:pt x="0" y="0"/>
                    </a:lnTo>
                    <a:close/>
                  </a:path>
                </a:pathLst>
              </a:custGeom>
              <a:blipFill>
                <a:blip r:embed="rId4"/>
                <a:stretch>
                  <a:fillRect/>
                </a:stretch>
              </a:blipFill>
            </p:spPr>
            <p:txBody>
              <a:bodyPr/>
              <a:lstStyle/>
              <a:p>
                <a:endParaRPr lang="en-AU"/>
              </a:p>
            </p:txBody>
          </p:sp>
          <p:sp>
            <p:nvSpPr>
              <p:cNvPr id="23" name="Freeform 16">
                <a:extLst>
                  <a:ext uri="{FF2B5EF4-FFF2-40B4-BE49-F238E27FC236}">
                    <a16:creationId xmlns:a16="http://schemas.microsoft.com/office/drawing/2014/main" id="{F438A470-F310-B9EB-B6BE-536A2FB8E012}"/>
                  </a:ext>
                </a:extLst>
              </p:cNvPr>
              <p:cNvSpPr/>
              <p:nvPr/>
            </p:nvSpPr>
            <p:spPr>
              <a:xfrm>
                <a:off x="2864846" y="3928877"/>
                <a:ext cx="672037" cy="638256"/>
              </a:xfrm>
              <a:custGeom>
                <a:avLst/>
                <a:gdLst/>
                <a:ahLst/>
                <a:cxnLst/>
                <a:rect l="l" t="t" r="r" b="b"/>
                <a:pathLst>
                  <a:path w="811336" h="880690">
                    <a:moveTo>
                      <a:pt x="0" y="0"/>
                    </a:moveTo>
                    <a:lnTo>
                      <a:pt x="811336" y="0"/>
                    </a:lnTo>
                    <a:lnTo>
                      <a:pt x="811336" y="880690"/>
                    </a:lnTo>
                    <a:lnTo>
                      <a:pt x="0" y="880690"/>
                    </a:lnTo>
                    <a:lnTo>
                      <a:pt x="0" y="0"/>
                    </a:lnTo>
                    <a:close/>
                  </a:path>
                </a:pathLst>
              </a:custGeom>
              <a:blipFill>
                <a:blip r:embed="rId4"/>
                <a:stretch>
                  <a:fillRect/>
                </a:stretch>
              </a:blipFill>
            </p:spPr>
            <p:txBody>
              <a:bodyPr/>
              <a:lstStyle/>
              <a:p>
                <a:endParaRPr lang="en-AU"/>
              </a:p>
            </p:txBody>
          </p:sp>
          <p:sp>
            <p:nvSpPr>
              <p:cNvPr id="24" name="Freeform 17">
                <a:extLst>
                  <a:ext uri="{FF2B5EF4-FFF2-40B4-BE49-F238E27FC236}">
                    <a16:creationId xmlns:a16="http://schemas.microsoft.com/office/drawing/2014/main" id="{064CE9F9-24E6-C840-D072-A9E218C0BA22}"/>
                  </a:ext>
                </a:extLst>
              </p:cNvPr>
              <p:cNvSpPr/>
              <p:nvPr/>
            </p:nvSpPr>
            <p:spPr>
              <a:xfrm>
                <a:off x="4680520" y="5113436"/>
                <a:ext cx="672037" cy="638256"/>
              </a:xfrm>
              <a:custGeom>
                <a:avLst/>
                <a:gdLst/>
                <a:ahLst/>
                <a:cxnLst/>
                <a:rect l="l" t="t" r="r" b="b"/>
                <a:pathLst>
                  <a:path w="811336" h="880690">
                    <a:moveTo>
                      <a:pt x="0" y="0"/>
                    </a:moveTo>
                    <a:lnTo>
                      <a:pt x="811336" y="0"/>
                    </a:lnTo>
                    <a:lnTo>
                      <a:pt x="811336" y="880691"/>
                    </a:lnTo>
                    <a:lnTo>
                      <a:pt x="0" y="880691"/>
                    </a:lnTo>
                    <a:lnTo>
                      <a:pt x="0" y="0"/>
                    </a:lnTo>
                    <a:close/>
                  </a:path>
                </a:pathLst>
              </a:custGeom>
              <a:blipFill>
                <a:blip r:embed="rId4"/>
                <a:stretch>
                  <a:fillRect/>
                </a:stretch>
              </a:blipFill>
            </p:spPr>
            <p:txBody>
              <a:bodyPr/>
              <a:lstStyle/>
              <a:p>
                <a:endParaRPr lang="en-AU"/>
              </a:p>
            </p:txBody>
          </p:sp>
          <p:sp>
            <p:nvSpPr>
              <p:cNvPr id="25" name="Freeform 18">
                <a:extLst>
                  <a:ext uri="{FF2B5EF4-FFF2-40B4-BE49-F238E27FC236}">
                    <a16:creationId xmlns:a16="http://schemas.microsoft.com/office/drawing/2014/main" id="{264D91C1-9AD1-70F9-DB34-302CA2C61FA1}"/>
                  </a:ext>
                </a:extLst>
              </p:cNvPr>
              <p:cNvSpPr/>
              <p:nvPr/>
            </p:nvSpPr>
            <p:spPr>
              <a:xfrm>
                <a:off x="2797637" y="4815418"/>
                <a:ext cx="672037" cy="638256"/>
              </a:xfrm>
              <a:custGeom>
                <a:avLst/>
                <a:gdLst/>
                <a:ahLst/>
                <a:cxnLst/>
                <a:rect l="l" t="t" r="r" b="b"/>
                <a:pathLst>
                  <a:path w="811336" h="880690">
                    <a:moveTo>
                      <a:pt x="0" y="0"/>
                    </a:moveTo>
                    <a:lnTo>
                      <a:pt x="811336" y="0"/>
                    </a:lnTo>
                    <a:lnTo>
                      <a:pt x="811336" y="880691"/>
                    </a:lnTo>
                    <a:lnTo>
                      <a:pt x="0" y="880691"/>
                    </a:lnTo>
                    <a:lnTo>
                      <a:pt x="0" y="0"/>
                    </a:lnTo>
                    <a:close/>
                  </a:path>
                </a:pathLst>
              </a:custGeom>
              <a:blipFill>
                <a:blip r:embed="rId4"/>
                <a:stretch>
                  <a:fillRect/>
                </a:stretch>
              </a:blipFill>
            </p:spPr>
            <p:txBody>
              <a:bodyPr/>
              <a:lstStyle/>
              <a:p>
                <a:endParaRPr lang="en-AU"/>
              </a:p>
            </p:txBody>
          </p:sp>
          <p:sp>
            <p:nvSpPr>
              <p:cNvPr id="26" name="Freeform 19">
                <a:extLst>
                  <a:ext uri="{FF2B5EF4-FFF2-40B4-BE49-F238E27FC236}">
                    <a16:creationId xmlns:a16="http://schemas.microsoft.com/office/drawing/2014/main" id="{55A191A8-7716-FED2-A73C-3B1500C39F49}"/>
                  </a:ext>
                </a:extLst>
              </p:cNvPr>
              <p:cNvSpPr/>
              <p:nvPr/>
            </p:nvSpPr>
            <p:spPr>
              <a:xfrm>
                <a:off x="3653456" y="4248005"/>
                <a:ext cx="672037" cy="638256"/>
              </a:xfrm>
              <a:custGeom>
                <a:avLst/>
                <a:gdLst/>
                <a:ahLst/>
                <a:cxnLst/>
                <a:rect l="l" t="t" r="r" b="b"/>
                <a:pathLst>
                  <a:path w="811336" h="880690">
                    <a:moveTo>
                      <a:pt x="0" y="0"/>
                    </a:moveTo>
                    <a:lnTo>
                      <a:pt x="811336" y="0"/>
                    </a:lnTo>
                    <a:lnTo>
                      <a:pt x="811336" y="880691"/>
                    </a:lnTo>
                    <a:lnTo>
                      <a:pt x="0" y="880691"/>
                    </a:lnTo>
                    <a:lnTo>
                      <a:pt x="0" y="0"/>
                    </a:lnTo>
                    <a:close/>
                  </a:path>
                </a:pathLst>
              </a:custGeom>
              <a:blipFill>
                <a:blip r:embed="rId4"/>
                <a:stretch>
                  <a:fillRect/>
                </a:stretch>
              </a:blipFill>
            </p:spPr>
            <p:txBody>
              <a:bodyPr/>
              <a:lstStyle/>
              <a:p>
                <a:endParaRPr lang="en-AU"/>
              </a:p>
            </p:txBody>
          </p:sp>
          <p:sp>
            <p:nvSpPr>
              <p:cNvPr id="27" name="Freeform 20">
                <a:extLst>
                  <a:ext uri="{FF2B5EF4-FFF2-40B4-BE49-F238E27FC236}">
                    <a16:creationId xmlns:a16="http://schemas.microsoft.com/office/drawing/2014/main" id="{4C40F211-A22A-7C20-260C-AA2177383AC1}"/>
                  </a:ext>
                </a:extLst>
              </p:cNvPr>
              <p:cNvSpPr/>
              <p:nvPr/>
            </p:nvSpPr>
            <p:spPr>
              <a:xfrm>
                <a:off x="5507909" y="4320516"/>
                <a:ext cx="672037" cy="638256"/>
              </a:xfrm>
              <a:custGeom>
                <a:avLst/>
                <a:gdLst/>
                <a:ahLst/>
                <a:cxnLst/>
                <a:rect l="l" t="t" r="r" b="b"/>
                <a:pathLst>
                  <a:path w="811336" h="880690">
                    <a:moveTo>
                      <a:pt x="0" y="0"/>
                    </a:moveTo>
                    <a:lnTo>
                      <a:pt x="811337" y="0"/>
                    </a:lnTo>
                    <a:lnTo>
                      <a:pt x="811337" y="880691"/>
                    </a:lnTo>
                    <a:lnTo>
                      <a:pt x="0" y="880691"/>
                    </a:lnTo>
                    <a:lnTo>
                      <a:pt x="0" y="0"/>
                    </a:lnTo>
                    <a:close/>
                  </a:path>
                </a:pathLst>
              </a:custGeom>
              <a:blipFill>
                <a:blip r:embed="rId4"/>
                <a:stretch>
                  <a:fillRect/>
                </a:stretch>
              </a:blipFill>
            </p:spPr>
            <p:txBody>
              <a:bodyPr/>
              <a:lstStyle/>
              <a:p>
                <a:endParaRPr lang="en-AU"/>
              </a:p>
            </p:txBody>
          </p:sp>
          <p:sp>
            <p:nvSpPr>
              <p:cNvPr id="28" name="Freeform 21">
                <a:extLst>
                  <a:ext uri="{FF2B5EF4-FFF2-40B4-BE49-F238E27FC236}">
                    <a16:creationId xmlns:a16="http://schemas.microsoft.com/office/drawing/2014/main" id="{B5F83E0F-F96A-C741-1D49-04B29280FB68}"/>
                  </a:ext>
                </a:extLst>
              </p:cNvPr>
              <p:cNvSpPr/>
              <p:nvPr/>
            </p:nvSpPr>
            <p:spPr>
              <a:xfrm>
                <a:off x="6384983" y="3785522"/>
                <a:ext cx="672037" cy="638256"/>
              </a:xfrm>
              <a:custGeom>
                <a:avLst/>
                <a:gdLst/>
                <a:ahLst/>
                <a:cxnLst/>
                <a:rect l="l" t="t" r="r" b="b"/>
                <a:pathLst>
                  <a:path w="811336" h="880690">
                    <a:moveTo>
                      <a:pt x="0" y="0"/>
                    </a:moveTo>
                    <a:lnTo>
                      <a:pt x="811336" y="0"/>
                    </a:lnTo>
                    <a:lnTo>
                      <a:pt x="811336" y="880691"/>
                    </a:lnTo>
                    <a:lnTo>
                      <a:pt x="0" y="880691"/>
                    </a:lnTo>
                    <a:lnTo>
                      <a:pt x="0" y="0"/>
                    </a:lnTo>
                    <a:close/>
                  </a:path>
                </a:pathLst>
              </a:custGeom>
              <a:blipFill>
                <a:blip r:embed="rId4"/>
                <a:stretch>
                  <a:fillRect/>
                </a:stretch>
              </a:blipFill>
            </p:spPr>
            <p:txBody>
              <a:bodyPr/>
              <a:lstStyle/>
              <a:p>
                <a:endParaRPr lang="en-AU"/>
              </a:p>
            </p:txBody>
          </p:sp>
          <p:sp>
            <p:nvSpPr>
              <p:cNvPr id="29" name="Freeform 22">
                <a:extLst>
                  <a:ext uri="{FF2B5EF4-FFF2-40B4-BE49-F238E27FC236}">
                    <a16:creationId xmlns:a16="http://schemas.microsoft.com/office/drawing/2014/main" id="{CE288296-5832-C17B-2AA3-BE47434849C3}"/>
                  </a:ext>
                </a:extLst>
              </p:cNvPr>
              <p:cNvSpPr/>
              <p:nvPr/>
            </p:nvSpPr>
            <p:spPr>
              <a:xfrm>
                <a:off x="6830736" y="4687713"/>
                <a:ext cx="672037" cy="638256"/>
              </a:xfrm>
              <a:custGeom>
                <a:avLst/>
                <a:gdLst/>
                <a:ahLst/>
                <a:cxnLst/>
                <a:rect l="l" t="t" r="r" b="b"/>
                <a:pathLst>
                  <a:path w="811336" h="880690">
                    <a:moveTo>
                      <a:pt x="0" y="0"/>
                    </a:moveTo>
                    <a:lnTo>
                      <a:pt x="811336" y="0"/>
                    </a:lnTo>
                    <a:lnTo>
                      <a:pt x="811336" y="880690"/>
                    </a:lnTo>
                    <a:lnTo>
                      <a:pt x="0" y="880690"/>
                    </a:lnTo>
                    <a:lnTo>
                      <a:pt x="0" y="0"/>
                    </a:lnTo>
                    <a:close/>
                  </a:path>
                </a:pathLst>
              </a:custGeom>
              <a:blipFill>
                <a:blip r:embed="rId4"/>
                <a:stretch>
                  <a:fillRect/>
                </a:stretch>
              </a:blipFill>
            </p:spPr>
            <p:txBody>
              <a:bodyPr/>
              <a:lstStyle/>
              <a:p>
                <a:endParaRPr lang="en-AU"/>
              </a:p>
            </p:txBody>
          </p:sp>
          <p:sp>
            <p:nvSpPr>
              <p:cNvPr id="30" name="Freeform 23">
                <a:extLst>
                  <a:ext uri="{FF2B5EF4-FFF2-40B4-BE49-F238E27FC236}">
                    <a16:creationId xmlns:a16="http://schemas.microsoft.com/office/drawing/2014/main" id="{F694FDAB-B4FE-BF1D-0429-7EE3C801E212}"/>
                  </a:ext>
                </a:extLst>
              </p:cNvPr>
              <p:cNvSpPr/>
              <p:nvPr/>
            </p:nvSpPr>
            <p:spPr>
              <a:xfrm>
                <a:off x="1859603" y="3928877"/>
                <a:ext cx="672037" cy="638256"/>
              </a:xfrm>
              <a:custGeom>
                <a:avLst/>
                <a:gdLst/>
                <a:ahLst/>
                <a:cxnLst/>
                <a:rect l="l" t="t" r="r" b="b"/>
                <a:pathLst>
                  <a:path w="811336" h="880690">
                    <a:moveTo>
                      <a:pt x="0" y="0"/>
                    </a:moveTo>
                    <a:lnTo>
                      <a:pt x="811336" y="0"/>
                    </a:lnTo>
                    <a:lnTo>
                      <a:pt x="811336" y="880690"/>
                    </a:lnTo>
                    <a:lnTo>
                      <a:pt x="0" y="880690"/>
                    </a:lnTo>
                    <a:lnTo>
                      <a:pt x="0" y="0"/>
                    </a:lnTo>
                    <a:close/>
                  </a:path>
                </a:pathLst>
              </a:custGeom>
              <a:blipFill>
                <a:blip r:embed="rId4"/>
                <a:stretch>
                  <a:fillRect/>
                </a:stretch>
              </a:blipFill>
            </p:spPr>
            <p:txBody>
              <a:bodyPr/>
              <a:lstStyle/>
              <a:p>
                <a:endParaRPr lang="en-AU"/>
              </a:p>
            </p:txBody>
          </p:sp>
          <p:sp>
            <p:nvSpPr>
              <p:cNvPr id="31" name="Freeform 24">
                <a:extLst>
                  <a:ext uri="{FF2B5EF4-FFF2-40B4-BE49-F238E27FC236}">
                    <a16:creationId xmlns:a16="http://schemas.microsoft.com/office/drawing/2014/main" id="{4D1C7E3C-D00F-4B8E-FDE9-3FF1D09636C4}"/>
                  </a:ext>
                </a:extLst>
              </p:cNvPr>
              <p:cNvSpPr/>
              <p:nvPr/>
            </p:nvSpPr>
            <p:spPr>
              <a:xfrm>
                <a:off x="3760944" y="5026143"/>
                <a:ext cx="672037" cy="638256"/>
              </a:xfrm>
              <a:custGeom>
                <a:avLst/>
                <a:gdLst/>
                <a:ahLst/>
                <a:cxnLst/>
                <a:rect l="l" t="t" r="r" b="b"/>
                <a:pathLst>
                  <a:path w="811336" h="880690">
                    <a:moveTo>
                      <a:pt x="0" y="0"/>
                    </a:moveTo>
                    <a:lnTo>
                      <a:pt x="811336" y="0"/>
                    </a:lnTo>
                    <a:lnTo>
                      <a:pt x="811336" y="880691"/>
                    </a:lnTo>
                    <a:lnTo>
                      <a:pt x="0" y="880691"/>
                    </a:lnTo>
                    <a:lnTo>
                      <a:pt x="0" y="0"/>
                    </a:lnTo>
                    <a:close/>
                  </a:path>
                </a:pathLst>
              </a:custGeom>
              <a:blipFill>
                <a:blip r:embed="rId4"/>
                <a:stretch>
                  <a:fillRect/>
                </a:stretch>
              </a:blipFill>
            </p:spPr>
            <p:txBody>
              <a:bodyPr/>
              <a:lstStyle/>
              <a:p>
                <a:endParaRPr lang="en-AU"/>
              </a:p>
            </p:txBody>
          </p:sp>
          <p:sp>
            <p:nvSpPr>
              <p:cNvPr id="32" name="Freeform 25">
                <a:extLst>
                  <a:ext uri="{FF2B5EF4-FFF2-40B4-BE49-F238E27FC236}">
                    <a16:creationId xmlns:a16="http://schemas.microsoft.com/office/drawing/2014/main" id="{7E1B2CF6-A702-ADD5-74F2-4BD8543FEBF6}"/>
                  </a:ext>
                </a:extLst>
              </p:cNvPr>
              <p:cNvSpPr/>
              <p:nvPr/>
            </p:nvSpPr>
            <p:spPr>
              <a:xfrm>
                <a:off x="8391651" y="4742907"/>
                <a:ext cx="672037" cy="638256"/>
              </a:xfrm>
              <a:custGeom>
                <a:avLst/>
                <a:gdLst/>
                <a:ahLst/>
                <a:cxnLst/>
                <a:rect l="l" t="t" r="r" b="b"/>
                <a:pathLst>
                  <a:path w="811336" h="880690">
                    <a:moveTo>
                      <a:pt x="0" y="0"/>
                    </a:moveTo>
                    <a:lnTo>
                      <a:pt x="811336" y="0"/>
                    </a:lnTo>
                    <a:lnTo>
                      <a:pt x="811336" y="880690"/>
                    </a:lnTo>
                    <a:lnTo>
                      <a:pt x="0" y="880690"/>
                    </a:lnTo>
                    <a:lnTo>
                      <a:pt x="0" y="0"/>
                    </a:lnTo>
                    <a:close/>
                  </a:path>
                </a:pathLst>
              </a:custGeom>
              <a:blipFill>
                <a:blip r:embed="rId4"/>
                <a:stretch>
                  <a:fillRect/>
                </a:stretch>
              </a:blipFill>
            </p:spPr>
            <p:txBody>
              <a:bodyPr/>
              <a:lstStyle/>
              <a:p>
                <a:endParaRPr lang="en-AU"/>
              </a:p>
            </p:txBody>
          </p:sp>
          <p:sp>
            <p:nvSpPr>
              <p:cNvPr id="33" name="Freeform 26">
                <a:extLst>
                  <a:ext uri="{FF2B5EF4-FFF2-40B4-BE49-F238E27FC236}">
                    <a16:creationId xmlns:a16="http://schemas.microsoft.com/office/drawing/2014/main" id="{D043F515-8042-BF5E-2BC5-865B47CE20FB}"/>
                  </a:ext>
                </a:extLst>
              </p:cNvPr>
              <p:cNvSpPr/>
              <p:nvPr/>
            </p:nvSpPr>
            <p:spPr>
              <a:xfrm>
                <a:off x="8934803" y="4104650"/>
                <a:ext cx="672037" cy="638256"/>
              </a:xfrm>
              <a:custGeom>
                <a:avLst/>
                <a:gdLst/>
                <a:ahLst/>
                <a:cxnLst/>
                <a:rect l="l" t="t" r="r" b="b"/>
                <a:pathLst>
                  <a:path w="811336" h="880690">
                    <a:moveTo>
                      <a:pt x="0" y="0"/>
                    </a:moveTo>
                    <a:lnTo>
                      <a:pt x="811336" y="0"/>
                    </a:lnTo>
                    <a:lnTo>
                      <a:pt x="811336" y="880691"/>
                    </a:lnTo>
                    <a:lnTo>
                      <a:pt x="0" y="880691"/>
                    </a:lnTo>
                    <a:lnTo>
                      <a:pt x="0" y="0"/>
                    </a:lnTo>
                    <a:close/>
                  </a:path>
                </a:pathLst>
              </a:custGeom>
              <a:blipFill>
                <a:blip r:embed="rId4"/>
                <a:stretch>
                  <a:fillRect/>
                </a:stretch>
              </a:blipFill>
            </p:spPr>
            <p:txBody>
              <a:bodyPr/>
              <a:lstStyle/>
              <a:p>
                <a:endParaRPr lang="en-AU"/>
              </a:p>
            </p:txBody>
          </p:sp>
          <p:sp>
            <p:nvSpPr>
              <p:cNvPr id="34" name="Freeform 27">
                <a:extLst>
                  <a:ext uri="{FF2B5EF4-FFF2-40B4-BE49-F238E27FC236}">
                    <a16:creationId xmlns:a16="http://schemas.microsoft.com/office/drawing/2014/main" id="{37CAAA42-0980-1C25-D826-A25466F16650}"/>
                  </a:ext>
                </a:extLst>
              </p:cNvPr>
              <p:cNvSpPr/>
              <p:nvPr/>
            </p:nvSpPr>
            <p:spPr>
              <a:xfrm>
                <a:off x="5932391" y="4958773"/>
                <a:ext cx="672037" cy="638256"/>
              </a:xfrm>
              <a:custGeom>
                <a:avLst/>
                <a:gdLst/>
                <a:ahLst/>
                <a:cxnLst/>
                <a:rect l="l" t="t" r="r" b="b"/>
                <a:pathLst>
                  <a:path w="811336" h="880690">
                    <a:moveTo>
                      <a:pt x="0" y="0"/>
                    </a:moveTo>
                    <a:lnTo>
                      <a:pt x="811336" y="0"/>
                    </a:lnTo>
                    <a:lnTo>
                      <a:pt x="811336" y="880690"/>
                    </a:lnTo>
                    <a:lnTo>
                      <a:pt x="0" y="880690"/>
                    </a:lnTo>
                    <a:lnTo>
                      <a:pt x="0" y="0"/>
                    </a:lnTo>
                    <a:close/>
                  </a:path>
                </a:pathLst>
              </a:custGeom>
              <a:blipFill>
                <a:blip r:embed="rId4"/>
                <a:stretch>
                  <a:fillRect/>
                </a:stretch>
              </a:blipFill>
            </p:spPr>
            <p:txBody>
              <a:bodyPr/>
              <a:lstStyle/>
              <a:p>
                <a:endParaRPr lang="en-AU"/>
              </a:p>
            </p:txBody>
          </p:sp>
          <p:sp>
            <p:nvSpPr>
              <p:cNvPr id="35" name="Freeform 28">
                <a:extLst>
                  <a:ext uri="{FF2B5EF4-FFF2-40B4-BE49-F238E27FC236}">
                    <a16:creationId xmlns:a16="http://schemas.microsoft.com/office/drawing/2014/main" id="{F515941B-4215-2663-0256-491935DE292D}"/>
                  </a:ext>
                </a:extLst>
              </p:cNvPr>
              <p:cNvSpPr/>
              <p:nvPr/>
            </p:nvSpPr>
            <p:spPr>
              <a:xfrm>
                <a:off x="4542668" y="4001388"/>
                <a:ext cx="672037" cy="638256"/>
              </a:xfrm>
              <a:custGeom>
                <a:avLst/>
                <a:gdLst/>
                <a:ahLst/>
                <a:cxnLst/>
                <a:rect l="l" t="t" r="r" b="b"/>
                <a:pathLst>
                  <a:path w="811336" h="880690">
                    <a:moveTo>
                      <a:pt x="0" y="0"/>
                    </a:moveTo>
                    <a:lnTo>
                      <a:pt x="811336" y="0"/>
                    </a:lnTo>
                    <a:lnTo>
                      <a:pt x="811336" y="880691"/>
                    </a:lnTo>
                    <a:lnTo>
                      <a:pt x="0" y="880691"/>
                    </a:lnTo>
                    <a:lnTo>
                      <a:pt x="0" y="0"/>
                    </a:lnTo>
                    <a:close/>
                  </a:path>
                </a:pathLst>
              </a:custGeom>
              <a:blipFill>
                <a:blip r:embed="rId4"/>
                <a:stretch>
                  <a:fillRect/>
                </a:stretch>
              </a:blipFill>
            </p:spPr>
            <p:txBody>
              <a:bodyPr/>
              <a:lstStyle/>
              <a:p>
                <a:endParaRPr lang="en-AU"/>
              </a:p>
            </p:txBody>
          </p:sp>
          <p:sp>
            <p:nvSpPr>
              <p:cNvPr id="36" name="Freeform 29">
                <a:extLst>
                  <a:ext uri="{FF2B5EF4-FFF2-40B4-BE49-F238E27FC236}">
                    <a16:creationId xmlns:a16="http://schemas.microsoft.com/office/drawing/2014/main" id="{06F8D253-AD72-93F8-D3D4-29A901C2015A}"/>
                  </a:ext>
                </a:extLst>
              </p:cNvPr>
              <p:cNvSpPr/>
              <p:nvPr/>
            </p:nvSpPr>
            <p:spPr>
              <a:xfrm>
                <a:off x="7557270" y="4958773"/>
                <a:ext cx="672037" cy="638256"/>
              </a:xfrm>
              <a:custGeom>
                <a:avLst/>
                <a:gdLst/>
                <a:ahLst/>
                <a:cxnLst/>
                <a:rect l="l" t="t" r="r" b="b"/>
                <a:pathLst>
                  <a:path w="811336" h="880690">
                    <a:moveTo>
                      <a:pt x="0" y="0"/>
                    </a:moveTo>
                    <a:lnTo>
                      <a:pt x="811336" y="0"/>
                    </a:lnTo>
                    <a:lnTo>
                      <a:pt x="811336" y="880690"/>
                    </a:lnTo>
                    <a:lnTo>
                      <a:pt x="0" y="880690"/>
                    </a:lnTo>
                    <a:lnTo>
                      <a:pt x="0" y="0"/>
                    </a:lnTo>
                    <a:close/>
                  </a:path>
                </a:pathLst>
              </a:custGeom>
              <a:blipFill>
                <a:blip r:embed="rId4"/>
                <a:stretch>
                  <a:fillRect/>
                </a:stretch>
              </a:blipFill>
            </p:spPr>
            <p:txBody>
              <a:bodyPr/>
              <a:lstStyle/>
              <a:p>
                <a:endParaRPr lang="en-AU"/>
              </a:p>
            </p:txBody>
          </p:sp>
          <p:sp>
            <p:nvSpPr>
              <p:cNvPr id="37" name="Freeform 30">
                <a:extLst>
                  <a:ext uri="{FF2B5EF4-FFF2-40B4-BE49-F238E27FC236}">
                    <a16:creationId xmlns:a16="http://schemas.microsoft.com/office/drawing/2014/main" id="{D25F8610-4ABF-315B-14B8-1748CC9148A8}"/>
                  </a:ext>
                </a:extLst>
              </p:cNvPr>
              <p:cNvSpPr/>
              <p:nvPr/>
            </p:nvSpPr>
            <p:spPr>
              <a:xfrm>
                <a:off x="7456532" y="3785522"/>
                <a:ext cx="672037" cy="638256"/>
              </a:xfrm>
              <a:custGeom>
                <a:avLst/>
                <a:gdLst/>
                <a:ahLst/>
                <a:cxnLst/>
                <a:rect l="l" t="t" r="r" b="b"/>
                <a:pathLst>
                  <a:path w="811336" h="880690">
                    <a:moveTo>
                      <a:pt x="0" y="0"/>
                    </a:moveTo>
                    <a:lnTo>
                      <a:pt x="811336" y="0"/>
                    </a:lnTo>
                    <a:lnTo>
                      <a:pt x="811336" y="880691"/>
                    </a:lnTo>
                    <a:lnTo>
                      <a:pt x="0" y="880691"/>
                    </a:lnTo>
                    <a:lnTo>
                      <a:pt x="0" y="0"/>
                    </a:lnTo>
                    <a:close/>
                  </a:path>
                </a:pathLst>
              </a:custGeom>
              <a:blipFill>
                <a:blip r:embed="rId4"/>
                <a:stretch>
                  <a:fillRect/>
                </a:stretch>
              </a:blipFill>
            </p:spPr>
            <p:txBody>
              <a:bodyPr/>
              <a:lstStyle/>
              <a:p>
                <a:endParaRPr lang="en-AU"/>
              </a:p>
            </p:txBody>
          </p:sp>
          <p:sp>
            <p:nvSpPr>
              <p:cNvPr id="38" name="TextBox 33">
                <a:extLst>
                  <a:ext uri="{FF2B5EF4-FFF2-40B4-BE49-F238E27FC236}">
                    <a16:creationId xmlns:a16="http://schemas.microsoft.com/office/drawing/2014/main" id="{57BF4775-8531-045D-6600-16FF61B43587}"/>
                  </a:ext>
                </a:extLst>
              </p:cNvPr>
              <p:cNvSpPr txBox="1"/>
              <p:nvPr/>
            </p:nvSpPr>
            <p:spPr>
              <a:xfrm>
                <a:off x="9297581" y="1732093"/>
                <a:ext cx="788610" cy="539315"/>
              </a:xfrm>
              <a:prstGeom prst="rect">
                <a:avLst/>
              </a:prstGeom>
            </p:spPr>
            <p:txBody>
              <a:bodyPr lIns="0" tIns="0" rIns="0" bIns="0" rtlCol="0" anchor="t">
                <a:spAutoFit/>
              </a:bodyPr>
              <a:lstStyle/>
              <a:p>
                <a:pPr algn="ctr">
                  <a:lnSpc>
                    <a:spcPts val="4993"/>
                  </a:lnSpc>
                  <a:spcBef>
                    <a:spcPct val="0"/>
                  </a:spcBef>
                </a:pPr>
                <a:r>
                  <a:rPr lang="en-US" sz="2000">
                    <a:solidFill>
                      <a:srgbClr val="000000"/>
                    </a:solidFill>
                    <a:latin typeface="Arial" panose="020B0604020202020204" pitchFamily="34" charset="0"/>
                    <a:ea typeface="Canva Student Font"/>
                    <a:cs typeface="Arial" panose="020B0604020202020204" pitchFamily="34" charset="0"/>
                    <a:sym typeface="Canva Student Font"/>
                  </a:rPr>
                  <a:t>1</a:t>
                </a:r>
              </a:p>
            </p:txBody>
          </p:sp>
          <p:sp>
            <p:nvSpPr>
              <p:cNvPr id="39" name="TextBox 34">
                <a:extLst>
                  <a:ext uri="{FF2B5EF4-FFF2-40B4-BE49-F238E27FC236}">
                    <a16:creationId xmlns:a16="http://schemas.microsoft.com/office/drawing/2014/main" id="{FA1F83E4-20C1-24A7-353B-A2A575FB2DF4}"/>
                  </a:ext>
                </a:extLst>
              </p:cNvPr>
              <p:cNvSpPr txBox="1"/>
              <p:nvPr/>
            </p:nvSpPr>
            <p:spPr>
              <a:xfrm>
                <a:off x="2799074" y="3936116"/>
                <a:ext cx="788610" cy="539315"/>
              </a:xfrm>
              <a:prstGeom prst="rect">
                <a:avLst/>
              </a:prstGeom>
            </p:spPr>
            <p:txBody>
              <a:bodyPr lIns="0" tIns="0" rIns="0" bIns="0" rtlCol="0" anchor="t">
                <a:spAutoFit/>
              </a:bodyPr>
              <a:lstStyle/>
              <a:p>
                <a:pPr algn="ctr">
                  <a:lnSpc>
                    <a:spcPts val="4993"/>
                  </a:lnSpc>
                  <a:spcBef>
                    <a:spcPct val="0"/>
                  </a:spcBef>
                </a:pPr>
                <a:r>
                  <a:rPr lang="en-US" sz="2000">
                    <a:solidFill>
                      <a:srgbClr val="000000"/>
                    </a:solidFill>
                    <a:latin typeface="Arial" panose="020B0604020202020204" pitchFamily="34" charset="0"/>
                    <a:ea typeface="Canva Student Font"/>
                    <a:cs typeface="Arial" panose="020B0604020202020204" pitchFamily="34" charset="0"/>
                    <a:sym typeface="Canva Student Font"/>
                  </a:rPr>
                  <a:t>1.911</a:t>
                </a:r>
              </a:p>
            </p:txBody>
          </p:sp>
          <p:sp>
            <p:nvSpPr>
              <p:cNvPr id="40" name="TextBox 35">
                <a:extLst>
                  <a:ext uri="{FF2B5EF4-FFF2-40B4-BE49-F238E27FC236}">
                    <a16:creationId xmlns:a16="http://schemas.microsoft.com/office/drawing/2014/main" id="{79FA0182-2C4A-9C67-8BF7-D3B4D4B34942}"/>
                  </a:ext>
                </a:extLst>
              </p:cNvPr>
              <p:cNvSpPr txBox="1"/>
              <p:nvPr/>
            </p:nvSpPr>
            <p:spPr>
              <a:xfrm>
                <a:off x="1794333" y="4924624"/>
                <a:ext cx="788610" cy="539315"/>
              </a:xfrm>
              <a:prstGeom prst="rect">
                <a:avLst/>
              </a:prstGeom>
            </p:spPr>
            <p:txBody>
              <a:bodyPr lIns="0" tIns="0" rIns="0" bIns="0" rtlCol="0" anchor="t">
                <a:spAutoFit/>
              </a:bodyPr>
              <a:lstStyle/>
              <a:p>
                <a:pPr algn="ctr">
                  <a:lnSpc>
                    <a:spcPts val="4993"/>
                  </a:lnSpc>
                  <a:spcBef>
                    <a:spcPct val="0"/>
                  </a:spcBef>
                </a:pPr>
                <a:r>
                  <a:rPr lang="en-US" sz="2000">
                    <a:solidFill>
                      <a:srgbClr val="000000"/>
                    </a:solidFill>
                    <a:latin typeface="Arial" panose="020B0604020202020204" pitchFamily="34" charset="0"/>
                    <a:ea typeface="Canva Student Font"/>
                    <a:cs typeface="Arial" panose="020B0604020202020204" pitchFamily="34" charset="0"/>
                    <a:sym typeface="Canva Student Font"/>
                  </a:rPr>
                  <a:t>0.901</a:t>
                </a:r>
              </a:p>
            </p:txBody>
          </p:sp>
          <p:sp>
            <p:nvSpPr>
              <p:cNvPr id="41" name="TextBox 36">
                <a:extLst>
                  <a:ext uri="{FF2B5EF4-FFF2-40B4-BE49-F238E27FC236}">
                    <a16:creationId xmlns:a16="http://schemas.microsoft.com/office/drawing/2014/main" id="{989A3EA3-D3A0-E666-5898-B489AC688919}"/>
                  </a:ext>
                </a:extLst>
              </p:cNvPr>
              <p:cNvSpPr txBox="1"/>
              <p:nvPr/>
            </p:nvSpPr>
            <p:spPr>
              <a:xfrm>
                <a:off x="4618506" y="5150165"/>
                <a:ext cx="788610" cy="539315"/>
              </a:xfrm>
              <a:prstGeom prst="rect">
                <a:avLst/>
              </a:prstGeom>
            </p:spPr>
            <p:txBody>
              <a:bodyPr lIns="0" tIns="0" rIns="0" bIns="0" rtlCol="0" anchor="t">
                <a:spAutoFit/>
              </a:bodyPr>
              <a:lstStyle/>
              <a:p>
                <a:pPr algn="ctr">
                  <a:lnSpc>
                    <a:spcPts val="4993"/>
                  </a:lnSpc>
                  <a:spcBef>
                    <a:spcPct val="0"/>
                  </a:spcBef>
                </a:pPr>
                <a:r>
                  <a:rPr lang="en-US" sz="2000">
                    <a:solidFill>
                      <a:srgbClr val="000000"/>
                    </a:solidFill>
                    <a:latin typeface="Arial" panose="020B0604020202020204" pitchFamily="34" charset="0"/>
                    <a:ea typeface="Canva Student Font"/>
                    <a:cs typeface="Arial" panose="020B0604020202020204" pitchFamily="34" charset="0"/>
                    <a:sym typeface="Canva Student Font"/>
                  </a:rPr>
                  <a:t>0.911</a:t>
                </a:r>
              </a:p>
            </p:txBody>
          </p:sp>
          <p:sp>
            <p:nvSpPr>
              <p:cNvPr id="42" name="TextBox 37">
                <a:extLst>
                  <a:ext uri="{FF2B5EF4-FFF2-40B4-BE49-F238E27FC236}">
                    <a16:creationId xmlns:a16="http://schemas.microsoft.com/office/drawing/2014/main" id="{2142D974-9BD3-C059-1ACF-26D2A3FF48A8}"/>
                  </a:ext>
                </a:extLst>
              </p:cNvPr>
              <p:cNvSpPr txBox="1"/>
              <p:nvPr/>
            </p:nvSpPr>
            <p:spPr>
              <a:xfrm>
                <a:off x="2797636" y="4893742"/>
                <a:ext cx="687903" cy="491837"/>
              </a:xfrm>
              <a:prstGeom prst="rect">
                <a:avLst/>
              </a:prstGeom>
            </p:spPr>
            <p:txBody>
              <a:bodyPr lIns="0" tIns="0" rIns="0" bIns="0" rtlCol="0" anchor="t">
                <a:spAutoFit/>
              </a:bodyPr>
              <a:lstStyle/>
              <a:p>
                <a:pPr algn="ctr">
                  <a:lnSpc>
                    <a:spcPts val="4356"/>
                  </a:lnSpc>
                  <a:spcBef>
                    <a:spcPct val="0"/>
                  </a:spcBef>
                </a:pPr>
                <a:r>
                  <a:rPr lang="en-US" sz="1800">
                    <a:solidFill>
                      <a:srgbClr val="000000"/>
                    </a:solidFill>
                    <a:latin typeface="Arial" panose="020B0604020202020204" pitchFamily="34" charset="0"/>
                    <a:ea typeface="Canva Student Font"/>
                    <a:cs typeface="Arial" panose="020B0604020202020204" pitchFamily="34" charset="0"/>
                    <a:sym typeface="Canva Student Font"/>
                  </a:rPr>
                  <a:t>0.900</a:t>
                </a:r>
                <a:endParaRPr lang="en-US" sz="2000">
                  <a:solidFill>
                    <a:srgbClr val="000000"/>
                  </a:solidFill>
                  <a:latin typeface="Arial" panose="020B0604020202020204" pitchFamily="34" charset="0"/>
                  <a:ea typeface="Canva Student Font"/>
                  <a:cs typeface="Arial" panose="020B0604020202020204" pitchFamily="34" charset="0"/>
                  <a:sym typeface="Canva Student Font"/>
                </a:endParaRPr>
              </a:p>
            </p:txBody>
          </p:sp>
          <p:sp>
            <p:nvSpPr>
              <p:cNvPr id="43" name="TextBox 38">
                <a:extLst>
                  <a:ext uri="{FF2B5EF4-FFF2-40B4-BE49-F238E27FC236}">
                    <a16:creationId xmlns:a16="http://schemas.microsoft.com/office/drawing/2014/main" id="{27E2EED9-439C-4F84-283B-D89F42040E49}"/>
                  </a:ext>
                </a:extLst>
              </p:cNvPr>
              <p:cNvSpPr txBox="1"/>
              <p:nvPr/>
            </p:nvSpPr>
            <p:spPr>
              <a:xfrm>
                <a:off x="3570300" y="4233971"/>
                <a:ext cx="788610" cy="539315"/>
              </a:xfrm>
              <a:prstGeom prst="rect">
                <a:avLst/>
              </a:prstGeom>
            </p:spPr>
            <p:txBody>
              <a:bodyPr lIns="0" tIns="0" rIns="0" bIns="0" rtlCol="0" anchor="t">
                <a:spAutoFit/>
              </a:bodyPr>
              <a:lstStyle/>
              <a:p>
                <a:pPr algn="ctr">
                  <a:lnSpc>
                    <a:spcPts val="4993"/>
                  </a:lnSpc>
                  <a:spcBef>
                    <a:spcPct val="0"/>
                  </a:spcBef>
                </a:pPr>
                <a:r>
                  <a:rPr lang="en-US" sz="2000">
                    <a:solidFill>
                      <a:srgbClr val="000000"/>
                    </a:solidFill>
                    <a:latin typeface="Arial" panose="020B0604020202020204" pitchFamily="34" charset="0"/>
                    <a:ea typeface="Canva Student Font"/>
                    <a:cs typeface="Arial" panose="020B0604020202020204" pitchFamily="34" charset="0"/>
                    <a:sym typeface="Canva Student Font"/>
                  </a:rPr>
                  <a:t>0.93</a:t>
                </a:r>
              </a:p>
            </p:txBody>
          </p:sp>
          <p:sp>
            <p:nvSpPr>
              <p:cNvPr id="44" name="TextBox 39">
                <a:extLst>
                  <a:ext uri="{FF2B5EF4-FFF2-40B4-BE49-F238E27FC236}">
                    <a16:creationId xmlns:a16="http://schemas.microsoft.com/office/drawing/2014/main" id="{72E49D11-5351-3F4F-B605-A9F0A76DCF84}"/>
                  </a:ext>
                </a:extLst>
              </p:cNvPr>
              <p:cNvSpPr txBox="1"/>
              <p:nvPr/>
            </p:nvSpPr>
            <p:spPr>
              <a:xfrm>
                <a:off x="5418168" y="4320515"/>
                <a:ext cx="788610" cy="539315"/>
              </a:xfrm>
              <a:prstGeom prst="rect">
                <a:avLst/>
              </a:prstGeom>
            </p:spPr>
            <p:txBody>
              <a:bodyPr lIns="0" tIns="0" rIns="0" bIns="0" rtlCol="0" anchor="t">
                <a:spAutoFit/>
              </a:bodyPr>
              <a:lstStyle/>
              <a:p>
                <a:pPr algn="ctr">
                  <a:lnSpc>
                    <a:spcPts val="4993"/>
                  </a:lnSpc>
                  <a:spcBef>
                    <a:spcPct val="0"/>
                  </a:spcBef>
                </a:pPr>
                <a:r>
                  <a:rPr lang="en-US" sz="2000">
                    <a:solidFill>
                      <a:srgbClr val="000000"/>
                    </a:solidFill>
                    <a:latin typeface="Arial" panose="020B0604020202020204" pitchFamily="34" charset="0"/>
                    <a:ea typeface="Canva Student Font"/>
                    <a:cs typeface="Arial" panose="020B0604020202020204" pitchFamily="34" charset="0"/>
                    <a:sym typeface="Canva Student Font"/>
                  </a:rPr>
                  <a:t>0.940</a:t>
                </a:r>
              </a:p>
            </p:txBody>
          </p:sp>
          <p:sp>
            <p:nvSpPr>
              <p:cNvPr id="45" name="TextBox 40">
                <a:extLst>
                  <a:ext uri="{FF2B5EF4-FFF2-40B4-BE49-F238E27FC236}">
                    <a16:creationId xmlns:a16="http://schemas.microsoft.com/office/drawing/2014/main" id="{26614664-0926-8F05-FBAD-A692853878F1}"/>
                  </a:ext>
                </a:extLst>
              </p:cNvPr>
              <p:cNvSpPr txBox="1"/>
              <p:nvPr/>
            </p:nvSpPr>
            <p:spPr>
              <a:xfrm>
                <a:off x="6306475" y="3800914"/>
                <a:ext cx="788610" cy="539315"/>
              </a:xfrm>
              <a:prstGeom prst="rect">
                <a:avLst/>
              </a:prstGeom>
            </p:spPr>
            <p:txBody>
              <a:bodyPr lIns="0" tIns="0" rIns="0" bIns="0" rtlCol="0" anchor="t">
                <a:spAutoFit/>
              </a:bodyPr>
              <a:lstStyle/>
              <a:p>
                <a:pPr algn="ctr">
                  <a:lnSpc>
                    <a:spcPts val="4993"/>
                  </a:lnSpc>
                  <a:spcBef>
                    <a:spcPct val="0"/>
                  </a:spcBef>
                </a:pPr>
                <a:r>
                  <a:rPr lang="en-US" sz="2000">
                    <a:solidFill>
                      <a:srgbClr val="000000"/>
                    </a:solidFill>
                    <a:latin typeface="Arial" panose="020B0604020202020204" pitchFamily="34" charset="0"/>
                    <a:ea typeface="Canva Student Font"/>
                    <a:cs typeface="Arial" panose="020B0604020202020204" pitchFamily="34" charset="0"/>
                    <a:sym typeface="Canva Student Font"/>
                  </a:rPr>
                  <a:t>0.951</a:t>
                </a:r>
              </a:p>
            </p:txBody>
          </p:sp>
          <p:sp>
            <p:nvSpPr>
              <p:cNvPr id="46" name="TextBox 41">
                <a:extLst>
                  <a:ext uri="{FF2B5EF4-FFF2-40B4-BE49-F238E27FC236}">
                    <a16:creationId xmlns:a16="http://schemas.microsoft.com/office/drawing/2014/main" id="{F89C0F2C-D0F3-0A26-34D1-BF1237849AC2}"/>
                  </a:ext>
                </a:extLst>
              </p:cNvPr>
              <p:cNvSpPr txBox="1"/>
              <p:nvPr/>
            </p:nvSpPr>
            <p:spPr>
              <a:xfrm>
                <a:off x="6760450" y="4659357"/>
                <a:ext cx="788610" cy="539315"/>
              </a:xfrm>
              <a:prstGeom prst="rect">
                <a:avLst/>
              </a:prstGeom>
            </p:spPr>
            <p:txBody>
              <a:bodyPr lIns="0" tIns="0" rIns="0" bIns="0" rtlCol="0" anchor="t">
                <a:spAutoFit/>
              </a:bodyPr>
              <a:lstStyle/>
              <a:p>
                <a:pPr algn="ctr">
                  <a:lnSpc>
                    <a:spcPts val="4993"/>
                  </a:lnSpc>
                  <a:spcBef>
                    <a:spcPct val="0"/>
                  </a:spcBef>
                </a:pPr>
                <a:r>
                  <a:rPr lang="en-US" sz="2000">
                    <a:solidFill>
                      <a:srgbClr val="000000"/>
                    </a:solidFill>
                    <a:latin typeface="Arial" panose="020B0604020202020204" pitchFamily="34" charset="0"/>
                    <a:ea typeface="Canva Student Font"/>
                    <a:cs typeface="Arial" panose="020B0604020202020204" pitchFamily="34" charset="0"/>
                    <a:sym typeface="Canva Student Font"/>
                  </a:rPr>
                  <a:t>0.96</a:t>
                </a:r>
              </a:p>
            </p:txBody>
          </p:sp>
          <p:sp>
            <p:nvSpPr>
              <p:cNvPr id="47" name="TextBox 42">
                <a:extLst>
                  <a:ext uri="{FF2B5EF4-FFF2-40B4-BE49-F238E27FC236}">
                    <a16:creationId xmlns:a16="http://schemas.microsoft.com/office/drawing/2014/main" id="{838A0E5E-0006-B7C9-703D-7CDBCF5018A8}"/>
                  </a:ext>
                </a:extLst>
              </p:cNvPr>
              <p:cNvSpPr txBox="1"/>
              <p:nvPr/>
            </p:nvSpPr>
            <p:spPr>
              <a:xfrm>
                <a:off x="1824767" y="3926118"/>
                <a:ext cx="788610" cy="549049"/>
              </a:xfrm>
              <a:prstGeom prst="rect">
                <a:avLst/>
              </a:prstGeom>
            </p:spPr>
            <p:txBody>
              <a:bodyPr wrap="square" lIns="0" tIns="0" rIns="0" bIns="0" rtlCol="0" anchor="t">
                <a:spAutoFit/>
              </a:bodyPr>
              <a:lstStyle/>
              <a:p>
                <a:pPr algn="ctr">
                  <a:lnSpc>
                    <a:spcPts val="4993"/>
                  </a:lnSpc>
                  <a:spcBef>
                    <a:spcPct val="0"/>
                  </a:spcBef>
                </a:pPr>
                <a:r>
                  <a:rPr lang="en-US" sz="2000">
                    <a:solidFill>
                      <a:srgbClr val="000000"/>
                    </a:solidFill>
                    <a:latin typeface="Arial" panose="020B0604020202020204" pitchFamily="34" charset="0"/>
                    <a:ea typeface="Canva Student Font"/>
                    <a:cs typeface="Arial" panose="020B0604020202020204" pitchFamily="34" charset="0"/>
                    <a:sym typeface="Canva Student Font"/>
                  </a:rPr>
                  <a:t>100%</a:t>
                </a:r>
              </a:p>
            </p:txBody>
          </p:sp>
          <p:sp>
            <p:nvSpPr>
              <p:cNvPr id="48" name="TextBox 43">
                <a:extLst>
                  <a:ext uri="{FF2B5EF4-FFF2-40B4-BE49-F238E27FC236}">
                    <a16:creationId xmlns:a16="http://schemas.microsoft.com/office/drawing/2014/main" id="{A8870887-A264-284D-8FED-E782CA92DE10}"/>
                  </a:ext>
                </a:extLst>
              </p:cNvPr>
              <p:cNvSpPr txBox="1"/>
              <p:nvPr/>
            </p:nvSpPr>
            <p:spPr>
              <a:xfrm>
                <a:off x="8315963" y="4705724"/>
                <a:ext cx="788610" cy="539315"/>
              </a:xfrm>
              <a:prstGeom prst="rect">
                <a:avLst/>
              </a:prstGeom>
            </p:spPr>
            <p:txBody>
              <a:bodyPr lIns="0" tIns="0" rIns="0" bIns="0" rtlCol="0" anchor="t">
                <a:spAutoFit/>
              </a:bodyPr>
              <a:lstStyle/>
              <a:p>
                <a:pPr algn="ctr">
                  <a:lnSpc>
                    <a:spcPts val="4993"/>
                  </a:lnSpc>
                  <a:spcBef>
                    <a:spcPct val="0"/>
                  </a:spcBef>
                </a:pPr>
                <a:r>
                  <a:rPr lang="en-US" sz="2000">
                    <a:solidFill>
                      <a:srgbClr val="000000"/>
                    </a:solidFill>
                    <a:latin typeface="Arial" panose="020B0604020202020204" pitchFamily="34" charset="0"/>
                    <a:ea typeface="Canva Student Font"/>
                    <a:cs typeface="Arial" panose="020B0604020202020204" pitchFamily="34" charset="0"/>
                    <a:sym typeface="Canva Student Font"/>
                  </a:rPr>
                  <a:t>0.919</a:t>
                </a:r>
              </a:p>
            </p:txBody>
          </p:sp>
          <p:sp>
            <p:nvSpPr>
              <p:cNvPr id="49" name="TextBox 44">
                <a:extLst>
                  <a:ext uri="{FF2B5EF4-FFF2-40B4-BE49-F238E27FC236}">
                    <a16:creationId xmlns:a16="http://schemas.microsoft.com/office/drawing/2014/main" id="{CA0BCF82-60E8-D028-7E0D-294762B96422}"/>
                  </a:ext>
                </a:extLst>
              </p:cNvPr>
              <p:cNvSpPr txBox="1"/>
              <p:nvPr/>
            </p:nvSpPr>
            <p:spPr>
              <a:xfrm>
                <a:off x="8876516" y="4122976"/>
                <a:ext cx="788610" cy="539315"/>
              </a:xfrm>
              <a:prstGeom prst="rect">
                <a:avLst/>
              </a:prstGeom>
            </p:spPr>
            <p:txBody>
              <a:bodyPr lIns="0" tIns="0" rIns="0" bIns="0" rtlCol="0" anchor="t">
                <a:spAutoFit/>
              </a:bodyPr>
              <a:lstStyle/>
              <a:p>
                <a:pPr algn="ctr">
                  <a:lnSpc>
                    <a:spcPts val="4993"/>
                  </a:lnSpc>
                  <a:spcBef>
                    <a:spcPct val="0"/>
                  </a:spcBef>
                </a:pPr>
                <a:r>
                  <a:rPr lang="en-US" sz="2000">
                    <a:solidFill>
                      <a:srgbClr val="000000"/>
                    </a:solidFill>
                    <a:latin typeface="Arial" panose="020B0604020202020204" pitchFamily="34" charset="0"/>
                    <a:ea typeface="Canva Student Font"/>
                    <a:cs typeface="Arial" panose="020B0604020202020204" pitchFamily="34" charset="0"/>
                    <a:sym typeface="Canva Student Font"/>
                  </a:rPr>
                  <a:t>1.002</a:t>
                </a:r>
              </a:p>
            </p:txBody>
          </p:sp>
          <p:sp>
            <p:nvSpPr>
              <p:cNvPr id="50" name="TextBox 45">
                <a:extLst>
                  <a:ext uri="{FF2B5EF4-FFF2-40B4-BE49-F238E27FC236}">
                    <a16:creationId xmlns:a16="http://schemas.microsoft.com/office/drawing/2014/main" id="{296FDFAA-1346-5785-2FF5-F31260F63234}"/>
                  </a:ext>
                </a:extLst>
              </p:cNvPr>
              <p:cNvSpPr txBox="1"/>
              <p:nvPr/>
            </p:nvSpPr>
            <p:spPr>
              <a:xfrm>
                <a:off x="7541480" y="4958772"/>
                <a:ext cx="788610" cy="539315"/>
              </a:xfrm>
              <a:prstGeom prst="rect">
                <a:avLst/>
              </a:prstGeom>
            </p:spPr>
            <p:txBody>
              <a:bodyPr lIns="0" tIns="0" rIns="0" bIns="0" rtlCol="0" anchor="t">
                <a:spAutoFit/>
              </a:bodyPr>
              <a:lstStyle/>
              <a:p>
                <a:pPr algn="ctr">
                  <a:lnSpc>
                    <a:spcPts val="4993"/>
                  </a:lnSpc>
                  <a:spcBef>
                    <a:spcPct val="0"/>
                  </a:spcBef>
                </a:pPr>
                <a:r>
                  <a:rPr lang="en-US" sz="2000">
                    <a:solidFill>
                      <a:srgbClr val="000000"/>
                    </a:solidFill>
                    <a:latin typeface="Arial" panose="020B0604020202020204" pitchFamily="34" charset="0"/>
                    <a:ea typeface="Canva Student Font"/>
                    <a:cs typeface="Arial" panose="020B0604020202020204" pitchFamily="34" charset="0"/>
                    <a:sym typeface="Canva Student Font"/>
                  </a:rPr>
                  <a:t>0.917</a:t>
                </a:r>
              </a:p>
            </p:txBody>
          </p:sp>
          <p:sp>
            <p:nvSpPr>
              <p:cNvPr id="51" name="TextBox 46">
                <a:extLst>
                  <a:ext uri="{FF2B5EF4-FFF2-40B4-BE49-F238E27FC236}">
                    <a16:creationId xmlns:a16="http://schemas.microsoft.com/office/drawing/2014/main" id="{92C7DEAD-FDFF-236E-0485-20FB9A9E3605}"/>
                  </a:ext>
                </a:extLst>
              </p:cNvPr>
              <p:cNvSpPr txBox="1"/>
              <p:nvPr/>
            </p:nvSpPr>
            <p:spPr>
              <a:xfrm>
                <a:off x="7387558" y="3834992"/>
                <a:ext cx="788610" cy="539315"/>
              </a:xfrm>
              <a:prstGeom prst="rect">
                <a:avLst/>
              </a:prstGeom>
            </p:spPr>
            <p:txBody>
              <a:bodyPr lIns="0" tIns="0" rIns="0" bIns="0" rtlCol="0" anchor="t">
                <a:spAutoFit/>
              </a:bodyPr>
              <a:lstStyle/>
              <a:p>
                <a:pPr algn="ctr">
                  <a:lnSpc>
                    <a:spcPts val="4993"/>
                  </a:lnSpc>
                  <a:spcBef>
                    <a:spcPct val="0"/>
                  </a:spcBef>
                </a:pPr>
                <a:r>
                  <a:rPr lang="en-US" sz="2000">
                    <a:solidFill>
                      <a:srgbClr val="000000"/>
                    </a:solidFill>
                    <a:latin typeface="Arial" panose="020B0604020202020204" pitchFamily="34" charset="0"/>
                    <a:ea typeface="Canva Student Font"/>
                    <a:cs typeface="Arial" panose="020B0604020202020204" pitchFamily="34" charset="0"/>
                    <a:sym typeface="Canva Student Font"/>
                  </a:rPr>
                  <a:t>0.98</a:t>
                </a:r>
              </a:p>
            </p:txBody>
          </p:sp>
          <p:sp>
            <p:nvSpPr>
              <p:cNvPr id="52" name="TextBox 47">
                <a:extLst>
                  <a:ext uri="{FF2B5EF4-FFF2-40B4-BE49-F238E27FC236}">
                    <a16:creationId xmlns:a16="http://schemas.microsoft.com/office/drawing/2014/main" id="{99D7FCC5-63EF-345C-4AC5-71486EE33B48}"/>
                  </a:ext>
                </a:extLst>
              </p:cNvPr>
              <p:cNvSpPr txBox="1"/>
              <p:nvPr/>
            </p:nvSpPr>
            <p:spPr>
              <a:xfrm>
                <a:off x="4484381" y="4001388"/>
                <a:ext cx="788610" cy="539315"/>
              </a:xfrm>
              <a:prstGeom prst="rect">
                <a:avLst/>
              </a:prstGeom>
            </p:spPr>
            <p:txBody>
              <a:bodyPr lIns="0" tIns="0" rIns="0" bIns="0" rtlCol="0" anchor="t">
                <a:spAutoFit/>
              </a:bodyPr>
              <a:lstStyle/>
              <a:p>
                <a:pPr algn="ctr">
                  <a:lnSpc>
                    <a:spcPts val="4993"/>
                  </a:lnSpc>
                  <a:spcBef>
                    <a:spcPct val="0"/>
                  </a:spcBef>
                </a:pPr>
                <a:r>
                  <a:rPr lang="en-US" sz="2000">
                    <a:solidFill>
                      <a:srgbClr val="000000"/>
                    </a:solidFill>
                    <a:latin typeface="Arial" panose="020B0604020202020204" pitchFamily="34" charset="0"/>
                    <a:ea typeface="Canva Student Font"/>
                    <a:cs typeface="Arial" panose="020B0604020202020204" pitchFamily="34" charset="0"/>
                    <a:sym typeface="Canva Student Font"/>
                  </a:rPr>
                  <a:t>99%</a:t>
                </a:r>
              </a:p>
            </p:txBody>
          </p:sp>
          <p:sp>
            <p:nvSpPr>
              <p:cNvPr id="53" name="TextBox 48">
                <a:extLst>
                  <a:ext uri="{FF2B5EF4-FFF2-40B4-BE49-F238E27FC236}">
                    <a16:creationId xmlns:a16="http://schemas.microsoft.com/office/drawing/2014/main" id="{51480188-21F5-4AFD-3A7C-3F454BBF2AA3}"/>
                  </a:ext>
                </a:extLst>
              </p:cNvPr>
              <p:cNvSpPr txBox="1"/>
              <p:nvPr/>
            </p:nvSpPr>
            <p:spPr>
              <a:xfrm>
                <a:off x="5874104" y="4958772"/>
                <a:ext cx="788610" cy="539315"/>
              </a:xfrm>
              <a:prstGeom prst="rect">
                <a:avLst/>
              </a:prstGeom>
            </p:spPr>
            <p:txBody>
              <a:bodyPr lIns="0" tIns="0" rIns="0" bIns="0" rtlCol="0" anchor="t">
                <a:spAutoFit/>
              </a:bodyPr>
              <a:lstStyle/>
              <a:p>
                <a:pPr algn="ctr">
                  <a:lnSpc>
                    <a:spcPts val="4993"/>
                  </a:lnSpc>
                  <a:spcBef>
                    <a:spcPct val="0"/>
                  </a:spcBef>
                </a:pPr>
                <a:r>
                  <a:rPr lang="en-US" sz="2000">
                    <a:solidFill>
                      <a:srgbClr val="000000"/>
                    </a:solidFill>
                    <a:latin typeface="Arial" panose="020B0604020202020204" pitchFamily="34" charset="0"/>
                    <a:ea typeface="Canva Student Font"/>
                    <a:cs typeface="Arial" panose="020B0604020202020204" pitchFamily="34" charset="0"/>
                    <a:sym typeface="Canva Student Font"/>
                  </a:rPr>
                  <a:t>95%</a:t>
                </a:r>
              </a:p>
            </p:txBody>
          </p:sp>
          <p:grpSp>
            <p:nvGrpSpPr>
              <p:cNvPr id="54" name="Group 49">
                <a:extLst>
                  <a:ext uri="{FF2B5EF4-FFF2-40B4-BE49-F238E27FC236}">
                    <a16:creationId xmlns:a16="http://schemas.microsoft.com/office/drawing/2014/main" id="{773213DA-61AC-0CE5-EBC0-A96742F359D0}"/>
                  </a:ext>
                </a:extLst>
              </p:cNvPr>
              <p:cNvGrpSpPr/>
              <p:nvPr/>
            </p:nvGrpSpPr>
            <p:grpSpPr>
              <a:xfrm>
                <a:off x="3804814" y="5013658"/>
                <a:ext cx="570525" cy="685386"/>
                <a:chOff x="0" y="-66675"/>
                <a:chExt cx="918377" cy="1260961"/>
              </a:xfrm>
            </p:grpSpPr>
            <p:sp>
              <p:nvSpPr>
                <p:cNvPr id="56" name="TextBox 50">
                  <a:extLst>
                    <a:ext uri="{FF2B5EF4-FFF2-40B4-BE49-F238E27FC236}">
                      <a16:creationId xmlns:a16="http://schemas.microsoft.com/office/drawing/2014/main" id="{C5870FEC-BD26-5CF7-43F0-F4AE22B27289}"/>
                    </a:ext>
                  </a:extLst>
                </p:cNvPr>
                <p:cNvSpPr txBox="1"/>
                <p:nvPr/>
              </p:nvSpPr>
              <p:spPr>
                <a:xfrm>
                  <a:off x="0" y="-66675"/>
                  <a:ext cx="918377" cy="775634"/>
                </a:xfrm>
                <a:prstGeom prst="rect">
                  <a:avLst/>
                </a:prstGeom>
              </p:spPr>
              <p:txBody>
                <a:bodyPr lIns="0" tIns="0" rIns="0" bIns="0" rtlCol="0" anchor="t">
                  <a:spAutoFit/>
                </a:bodyPr>
                <a:lstStyle/>
                <a:p>
                  <a:pPr algn="ctr">
                    <a:lnSpc>
                      <a:spcPts val="3612"/>
                    </a:lnSpc>
                    <a:spcBef>
                      <a:spcPct val="0"/>
                    </a:spcBef>
                  </a:pPr>
                  <a:endParaRPr lang="en-US" sz="2580">
                    <a:solidFill>
                      <a:srgbClr val="000000"/>
                    </a:solidFill>
                    <a:latin typeface="Canva Student Font"/>
                    <a:ea typeface="Canva Student Font"/>
                    <a:cs typeface="Canva Student Font"/>
                    <a:sym typeface="Canva Student Font"/>
                  </a:endParaRPr>
                </a:p>
              </p:txBody>
            </p:sp>
            <p:sp>
              <p:nvSpPr>
                <p:cNvPr id="57" name="TextBox 51">
                  <a:extLst>
                    <a:ext uri="{FF2B5EF4-FFF2-40B4-BE49-F238E27FC236}">
                      <a16:creationId xmlns:a16="http://schemas.microsoft.com/office/drawing/2014/main" id="{043B92C9-14BB-4349-BE1A-C22F40C8C027}"/>
                    </a:ext>
                  </a:extLst>
                </p:cNvPr>
                <p:cNvSpPr txBox="1"/>
                <p:nvPr/>
              </p:nvSpPr>
              <p:spPr>
                <a:xfrm>
                  <a:off x="0" y="418652"/>
                  <a:ext cx="918377" cy="775634"/>
                </a:xfrm>
                <a:prstGeom prst="rect">
                  <a:avLst/>
                </a:prstGeom>
              </p:spPr>
              <p:txBody>
                <a:bodyPr lIns="0" tIns="0" rIns="0" bIns="0" rtlCol="0" anchor="t">
                  <a:spAutoFit/>
                </a:bodyPr>
                <a:lstStyle/>
                <a:p>
                  <a:pPr algn="ctr">
                    <a:lnSpc>
                      <a:spcPts val="3612"/>
                    </a:lnSpc>
                    <a:spcBef>
                      <a:spcPct val="0"/>
                    </a:spcBef>
                  </a:pPr>
                  <a:endParaRPr lang="en-US" sz="2580">
                    <a:solidFill>
                      <a:srgbClr val="000000"/>
                    </a:solidFill>
                    <a:latin typeface="Canva Student Font"/>
                    <a:ea typeface="Canva Student Font"/>
                    <a:cs typeface="Canva Student Font"/>
                    <a:sym typeface="Canva Student Font"/>
                  </a:endParaRPr>
                </a:p>
              </p:txBody>
            </p:sp>
          </p:grpSp>
          <p:sp>
            <p:nvSpPr>
              <p:cNvPr id="55" name="TextBox 33">
                <a:extLst>
                  <a:ext uri="{FF2B5EF4-FFF2-40B4-BE49-F238E27FC236}">
                    <a16:creationId xmlns:a16="http://schemas.microsoft.com/office/drawing/2014/main" id="{C8826F99-50BA-A08E-E5A7-50C58CD32F38}"/>
                  </a:ext>
                </a:extLst>
              </p:cNvPr>
              <p:cNvSpPr txBox="1"/>
              <p:nvPr/>
            </p:nvSpPr>
            <p:spPr>
              <a:xfrm>
                <a:off x="1223349" y="1801016"/>
                <a:ext cx="788610" cy="539315"/>
              </a:xfrm>
              <a:prstGeom prst="rect">
                <a:avLst/>
              </a:prstGeom>
            </p:spPr>
            <p:txBody>
              <a:bodyPr lIns="0" tIns="0" rIns="0" bIns="0" rtlCol="0" anchor="t">
                <a:spAutoFit/>
              </a:bodyPr>
              <a:lstStyle/>
              <a:p>
                <a:pPr algn="ctr">
                  <a:lnSpc>
                    <a:spcPts val="4993"/>
                  </a:lnSpc>
                  <a:spcBef>
                    <a:spcPct val="0"/>
                  </a:spcBef>
                </a:pPr>
                <a:r>
                  <a:rPr lang="en-US" sz="2000">
                    <a:solidFill>
                      <a:srgbClr val="000000"/>
                    </a:solidFill>
                    <a:latin typeface="Arial" panose="020B0604020202020204" pitchFamily="34" charset="0"/>
                    <a:ea typeface="Canva Student Font"/>
                    <a:cs typeface="Arial" panose="020B0604020202020204" pitchFamily="34" charset="0"/>
                    <a:sym typeface="Canva Student Font"/>
                  </a:rPr>
                  <a:t>0.9</a:t>
                </a:r>
              </a:p>
            </p:txBody>
          </p:sp>
        </p:gr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6AC5007-4AAE-D7BB-F999-6443E9E3136A}"/>
                    </a:ext>
                  </a:extLst>
                </p:cNvPr>
                <p:cNvSpPr txBox="1"/>
                <p:nvPr/>
              </p:nvSpPr>
              <p:spPr>
                <a:xfrm>
                  <a:off x="5341523" y="4996690"/>
                  <a:ext cx="511444" cy="379708"/>
                </a:xfrm>
                <a:prstGeom prst="rect">
                  <a:avLst/>
                </a:prstGeom>
                <a:noFill/>
              </p:spPr>
              <p:txBody>
                <a:bodyPr wrap="square" lIns="0" tIns="0" rIns="0" bIns="0" rtlCol="0">
                  <a:noAutofit/>
                </a:bodyPr>
                <a:lstStyle/>
                <a:p>
                  <a:pPr algn="l"/>
                  <a14:m>
                    <m:oMathPara xmlns:m="http://schemas.openxmlformats.org/officeDocument/2006/math">
                      <m:oMath>
                        <m:f>
                          <m:fPr>
                            <m:ctrlPr>
                              <a:rPr lang="en-AU" sz="2000" b="0" i="1" smtClean="0">
                                <a:latin typeface="Cambria Math" panose="02040503050406030204" pitchFamily="18" charset="0"/>
                              </a:rPr>
                            </m:ctrlPr>
                          </m:fPr>
                          <m:num>
                            <m:r>
                              <a:rPr lang="en-AU" sz="2000" b="0" i="1" smtClean="0">
                                <a:latin typeface="Cambria Math" panose="02040503050406030204" pitchFamily="18" charset="0"/>
                              </a:rPr>
                              <m:t>9</m:t>
                            </m:r>
                          </m:num>
                          <m:den>
                            <m:r>
                              <a:rPr lang="en-AU" sz="2000" b="0" i="1" smtClean="0">
                                <a:latin typeface="Cambria Math" panose="02040503050406030204" pitchFamily="18" charset="0"/>
                              </a:rPr>
                              <m:t>10</m:t>
                            </m:r>
                          </m:den>
                        </m:f>
                      </m:oMath>
                    </m:oMathPara>
                  </a14:m>
                  <a:endParaRPr lang="en-AU" sz="2000" b="0">
                    <a:latin typeface="Arial" panose="020B0604020202020204" pitchFamily="34" charset="0"/>
                    <a:cs typeface="Arial" panose="020B0604020202020204" pitchFamily="34" charset="0"/>
                  </a:endParaRPr>
                </a:p>
                <a:p>
                  <a:pPr algn="l"/>
                  <a:endParaRPr lang="en-AU" sz="1800"/>
                </a:p>
              </p:txBody>
            </p:sp>
          </mc:Choice>
          <mc:Fallback xmlns="">
            <p:sp>
              <p:nvSpPr>
                <p:cNvPr id="7" name="TextBox 6">
                  <a:extLst>
                    <a:ext uri="{FF2B5EF4-FFF2-40B4-BE49-F238E27FC236}">
                      <a16:creationId xmlns:a16="http://schemas.microsoft.com/office/drawing/2014/main" id="{E6AC5007-4AAE-D7BB-F999-6443E9E3136A}"/>
                    </a:ext>
                  </a:extLst>
                </p:cNvPr>
                <p:cNvSpPr txBox="1">
                  <a:spLocks noRot="1" noChangeAspect="1" noMove="1" noResize="1" noEditPoints="1" noAdjustHandles="1" noChangeArrowheads="1" noChangeShapeType="1" noTextEdit="1"/>
                </p:cNvSpPr>
                <p:nvPr/>
              </p:nvSpPr>
              <p:spPr>
                <a:xfrm>
                  <a:off x="5341523" y="4996690"/>
                  <a:ext cx="511444" cy="379708"/>
                </a:xfrm>
                <a:prstGeom prst="rect">
                  <a:avLst/>
                </a:prstGeom>
                <a:blipFill>
                  <a:blip r:embed="rId5"/>
                  <a:stretch>
                    <a:fillRect b="-55738"/>
                  </a:stretch>
                </a:blipFill>
              </p:spPr>
              <p:txBody>
                <a:bodyPr/>
                <a:lstStyle/>
                <a:p>
                  <a:r>
                    <a:rPr lang="en-AU">
                      <a:noFill/>
                    </a:rPr>
                    <a:t> </a:t>
                  </a:r>
                </a:p>
              </p:txBody>
            </p:sp>
          </mc:Fallback>
        </mc:AlternateContent>
      </p:grpSp>
      <p:sp>
        <p:nvSpPr>
          <p:cNvPr id="58" name="TextBox 57">
            <a:extLst>
              <a:ext uri="{FF2B5EF4-FFF2-40B4-BE49-F238E27FC236}">
                <a16:creationId xmlns:a16="http://schemas.microsoft.com/office/drawing/2014/main" id="{D40FAEE4-6025-F6B3-FB7A-0D67C4C1C0FA}"/>
              </a:ext>
            </a:extLst>
          </p:cNvPr>
          <p:cNvSpPr txBox="1"/>
          <p:nvPr/>
        </p:nvSpPr>
        <p:spPr>
          <a:xfrm>
            <a:off x="419309" y="2074610"/>
            <a:ext cx="3466814" cy="3467863"/>
          </a:xfrm>
          <a:prstGeom prst="rect">
            <a:avLst/>
          </a:prstGeom>
          <a:noFill/>
        </p:spPr>
        <p:txBody>
          <a:bodyPr wrap="square" lIns="0" tIns="0" rIns="0" bIns="0" rtlCol="0">
            <a:noAutofit/>
          </a:bodyPr>
          <a:lstStyle/>
          <a:p>
            <a:pPr algn="l"/>
            <a:r>
              <a:rPr lang="en-AU" sz="3200">
                <a:latin typeface="Arial" panose="020B0604020202020204" pitchFamily="34" charset="0"/>
                <a:cs typeface="Arial" panose="020B0604020202020204" pitchFamily="34" charset="0"/>
              </a:rPr>
              <a:t>Some of these sticky notes fell off.</a:t>
            </a:r>
          </a:p>
          <a:p>
            <a:pPr marL="285750" indent="-285750" algn="l">
              <a:buFont typeface="Arial" panose="020B0604020202020204" pitchFamily="34" charset="0"/>
              <a:buChar char="•"/>
            </a:pPr>
            <a:endParaRPr lang="en-AU" sz="3200">
              <a:latin typeface="Arial" panose="020B0604020202020204" pitchFamily="34" charset="0"/>
              <a:cs typeface="Arial" panose="020B0604020202020204" pitchFamily="34" charset="0"/>
            </a:endParaRPr>
          </a:p>
          <a:p>
            <a:pPr algn="l"/>
            <a:r>
              <a:rPr lang="en-AU" sz="3200">
                <a:latin typeface="Arial" panose="020B0604020202020204" pitchFamily="34" charset="0"/>
                <a:cs typeface="Arial" panose="020B0604020202020204" pitchFamily="34" charset="0"/>
              </a:rPr>
              <a:t>Write in where each number or percentage should be placed. </a:t>
            </a:r>
          </a:p>
        </p:txBody>
      </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3A219B-EA44-A8FA-5624-110943E229E9}"/>
              </a:ext>
            </a:extLst>
          </p:cNvPr>
          <p:cNvSpPr>
            <a:spLocks noGrp="1"/>
          </p:cNvSpPr>
          <p:nvPr>
            <p:ph type="sldNum" sz="quarter" idx="12"/>
          </p:nvPr>
        </p:nvSpPr>
        <p:spPr/>
        <p:txBody>
          <a:bodyPr/>
          <a:lstStyle/>
          <a:p>
            <a:fld id="{10A01DC5-1685-4615-8240-15192985C6A2}" type="slidenum">
              <a:rPr lang="en-AU" smtClean="0"/>
              <a:t>24</a:t>
            </a:fld>
            <a:endParaRPr lang="en-AU"/>
          </a:p>
        </p:txBody>
      </p:sp>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64B989F8-67C4-FE7B-CC90-5BE7E2CD867D}"/>
              </a:ext>
            </a:extLst>
          </p:cNvPr>
          <p:cNvPicPr>
            <a:picLocks noChangeAspect="1"/>
          </p:cNvPicPr>
          <p:nvPr/>
        </p:nvPicPr>
        <p:blipFill>
          <a:blip r:embed="rId3"/>
          <a:stretch>
            <a:fillRect/>
          </a:stretch>
        </p:blipFill>
        <p:spPr>
          <a:xfrm>
            <a:off x="10807908" y="43303"/>
            <a:ext cx="1165786" cy="1140716"/>
          </a:xfrm>
          <a:prstGeom prst="rect">
            <a:avLst/>
          </a:prstGeom>
          <a:ln>
            <a:noFill/>
          </a:ln>
        </p:spPr>
      </p:pic>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p:txBody>
          <a:bodyPr/>
          <a:lstStyle/>
          <a:p>
            <a:pPr algn="ctr"/>
            <a:r>
              <a:rPr lang="en-AU" sz="4400" b="1" dirty="0"/>
              <a:t>One thousandth </a:t>
            </a:r>
            <a:r>
              <a:rPr lang="en-AU" sz="4400" dirty="0"/>
              <a:t>is larger than </a:t>
            </a:r>
          </a:p>
          <a:p>
            <a:pPr algn="ctr"/>
            <a:r>
              <a:rPr lang="en-AU" sz="4400" b="1" dirty="0"/>
              <a:t>one hundredth</a:t>
            </a:r>
            <a:r>
              <a:rPr lang="en-AU" sz="4400" dirty="0"/>
              <a:t>.</a:t>
            </a:r>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25</a:t>
            </a:fld>
            <a:endParaRPr lang="en-AU"/>
          </a:p>
        </p:txBody>
      </p:sp>
      <p:pic>
        <p:nvPicPr>
          <p:cNvPr id="3" name="Picture 2" descr="image of a clipboard with a pencil recording short answer responses">
            <a:extLst>
              <a:ext uri="{FF2B5EF4-FFF2-40B4-BE49-F238E27FC236}">
                <a16:creationId xmlns:a16="http://schemas.microsoft.com/office/drawing/2014/main" id="{4A6BDB97-E652-19FE-8B5C-2AD4CC92796D}"/>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4" name="Text Placeholder 5">
            <a:extLst>
              <a:ext uri="{FF2B5EF4-FFF2-40B4-BE49-F238E27FC236}">
                <a16:creationId xmlns:a16="http://schemas.microsoft.com/office/drawing/2014/main" id="{AD82B4D0-BA8E-E777-557E-42AA5B471A8E}"/>
              </a:ext>
            </a:extLst>
          </p:cNvPr>
          <p:cNvSpPr txBox="1">
            <a:spLocks/>
          </p:cNvSpPr>
          <p:nvPr/>
        </p:nvSpPr>
        <p:spPr>
          <a:xfrm>
            <a:off x="360000" y="849233"/>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200" dirty="0"/>
              <a:t>This is a </a:t>
            </a:r>
            <a:r>
              <a:rPr lang="en-AU" sz="3200" b="1" dirty="0"/>
              <a:t>data display</a:t>
            </a:r>
            <a:r>
              <a:rPr lang="en-AU" sz="3200" dirty="0"/>
              <a:t> comparing the school’s high jump records. Which would be </a:t>
            </a:r>
            <a:r>
              <a:rPr lang="en-AU" sz="3200" b="1" dirty="0"/>
              <a:t>least helpful </a:t>
            </a:r>
            <a:r>
              <a:rPr lang="en-AU" sz="3200" dirty="0"/>
              <a:t>for </a:t>
            </a:r>
            <a:r>
              <a:rPr lang="en-AU" sz="3200" b="1" dirty="0"/>
              <a:t>Stage 2 students </a:t>
            </a:r>
            <a:r>
              <a:rPr lang="en-AU" sz="3200" dirty="0"/>
              <a:t>to see the change </a:t>
            </a:r>
            <a:r>
              <a:rPr lang="en-AU" sz="3200" b="1" dirty="0"/>
              <a:t>over time</a:t>
            </a:r>
            <a:r>
              <a:rPr lang="en-AU" sz="3200" dirty="0"/>
              <a:t>? </a:t>
            </a:r>
            <a:r>
              <a:rPr lang="en-AU" sz="3200" b="1" dirty="0"/>
              <a:t>Explain your reasoning</a:t>
            </a:r>
            <a:r>
              <a:rPr lang="en-AU" sz="3200" dirty="0"/>
              <a:t>.</a:t>
            </a:r>
          </a:p>
        </p:txBody>
      </p:sp>
      <p:pic>
        <p:nvPicPr>
          <p:cNvPr id="8" name="Picture 2" descr="A column graph showing high jump records from 2015 to 2025.">
            <a:extLst>
              <a:ext uri="{FF2B5EF4-FFF2-40B4-BE49-F238E27FC236}">
                <a16:creationId xmlns:a16="http://schemas.microsoft.com/office/drawing/2014/main" id="{7EEA3DDF-D514-E87B-834F-FD2DD2DAA1D7}"/>
              </a:ext>
            </a:extLst>
          </p:cNvPr>
          <p:cNvPicPr>
            <a:picLocks noChangeAspect="1"/>
          </p:cNvPicPr>
          <p:nvPr/>
        </p:nvPicPr>
        <p:blipFill>
          <a:blip r:embed="rId4"/>
          <a:srcRect t="16737"/>
          <a:stretch>
            <a:fillRect/>
          </a:stretch>
        </p:blipFill>
        <p:spPr>
          <a:xfrm>
            <a:off x="755176" y="3429005"/>
            <a:ext cx="3429000" cy="2850509"/>
          </a:xfrm>
          <a:prstGeom prst="rect">
            <a:avLst/>
          </a:prstGeom>
          <a:ln w="28575">
            <a:solidFill>
              <a:schemeClr val="tx1"/>
            </a:solidFill>
          </a:ln>
        </p:spPr>
      </p:pic>
      <p:pic>
        <p:nvPicPr>
          <p:cNvPr id="9" name="Picture 3" descr="A line graph showing high jump records from 2015 to 2025.">
            <a:extLst>
              <a:ext uri="{FF2B5EF4-FFF2-40B4-BE49-F238E27FC236}">
                <a16:creationId xmlns:a16="http://schemas.microsoft.com/office/drawing/2014/main" id="{B367768D-805A-5A76-EFC5-7D905937FE23}"/>
              </a:ext>
            </a:extLst>
          </p:cNvPr>
          <p:cNvPicPr>
            <a:picLocks noChangeAspect="1"/>
          </p:cNvPicPr>
          <p:nvPr/>
        </p:nvPicPr>
        <p:blipFill>
          <a:blip r:embed="rId5"/>
          <a:srcRect t="16737"/>
          <a:stretch>
            <a:fillRect/>
          </a:stretch>
        </p:blipFill>
        <p:spPr>
          <a:xfrm>
            <a:off x="4864126" y="3429000"/>
            <a:ext cx="3429000" cy="2850509"/>
          </a:xfrm>
          <a:prstGeom prst="rect">
            <a:avLst/>
          </a:prstGeom>
          <a:ln w="28575">
            <a:solidFill>
              <a:schemeClr val="tx1"/>
            </a:solidFill>
          </a:ln>
        </p:spPr>
      </p:pic>
      <p:graphicFrame>
        <p:nvGraphicFramePr>
          <p:cNvPr id="10" name="Table 9" descr="A table showing high jump records from 2015 to 2025.">
            <a:extLst>
              <a:ext uri="{FF2B5EF4-FFF2-40B4-BE49-F238E27FC236}">
                <a16:creationId xmlns:a16="http://schemas.microsoft.com/office/drawing/2014/main" id="{8F2C7051-D1BD-19A1-FB3D-7FD3CCBB8877}"/>
              </a:ext>
            </a:extLst>
          </p:cNvPr>
          <p:cNvGraphicFramePr>
            <a:graphicFrameLocks noGrp="1"/>
          </p:cNvGraphicFramePr>
          <p:nvPr>
            <p:extLst>
              <p:ext uri="{D42A27DB-BD31-4B8C-83A1-F6EECF244321}">
                <p14:modId xmlns:p14="http://schemas.microsoft.com/office/powerpoint/2010/main" val="3165514247"/>
              </p:ext>
            </p:extLst>
          </p:nvPr>
        </p:nvGraphicFramePr>
        <p:xfrm>
          <a:off x="8973076" y="3429005"/>
          <a:ext cx="2057400" cy="2850504"/>
        </p:xfrm>
        <a:graphic>
          <a:graphicData uri="http://schemas.openxmlformats.org/drawingml/2006/table">
            <a:tbl>
              <a:tblPr/>
              <a:tblGrid>
                <a:gridCol w="685800">
                  <a:extLst>
                    <a:ext uri="{9D8B030D-6E8A-4147-A177-3AD203B41FA5}">
                      <a16:colId xmlns:a16="http://schemas.microsoft.com/office/drawing/2014/main" val="2308828659"/>
                    </a:ext>
                  </a:extLst>
                </a:gridCol>
                <a:gridCol w="1371600">
                  <a:extLst>
                    <a:ext uri="{9D8B030D-6E8A-4147-A177-3AD203B41FA5}">
                      <a16:colId xmlns:a16="http://schemas.microsoft.com/office/drawing/2014/main" val="2932962540"/>
                    </a:ext>
                  </a:extLst>
                </a:gridCol>
              </a:tblGrid>
              <a:tr h="237542">
                <a:tc>
                  <a:txBody>
                    <a:bodyPr/>
                    <a:lstStyle/>
                    <a:p>
                      <a:pPr algn="ctr" fontAlgn="b"/>
                      <a:r>
                        <a:rPr lang="en-AU" sz="1100" b="1" i="0" u="none" strike="noStrike">
                          <a:solidFill>
                            <a:srgbClr val="000000"/>
                          </a:solidFill>
                          <a:effectLst/>
                          <a:latin typeface="Aptos Narrow" panose="020B0004020202020204" pitchFamily="34" charset="0"/>
                        </a:rPr>
                        <a:t>Year</a:t>
                      </a:r>
                    </a:p>
                  </a:txBody>
                  <a:tcPr marL="7620" marR="7620" marT="762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AU" sz="1100" b="1" i="0" u="none" strike="noStrike">
                          <a:solidFill>
                            <a:srgbClr val="000000"/>
                          </a:solidFill>
                          <a:effectLst/>
                          <a:latin typeface="Aptos Narrow" panose="020B0004020202020204" pitchFamily="34" charset="0"/>
                        </a:rPr>
                        <a:t>Height jumped</a:t>
                      </a:r>
                    </a:p>
                  </a:txBody>
                  <a:tcPr marL="7620" marR="7620" marT="762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51170266"/>
                  </a:ext>
                </a:extLst>
              </a:tr>
              <a:tr h="237542">
                <a:tc>
                  <a:txBody>
                    <a:bodyPr/>
                    <a:lstStyle/>
                    <a:p>
                      <a:pPr algn="ctr" fontAlgn="b"/>
                      <a:r>
                        <a:rPr lang="en-AU" sz="1100" b="0" i="0" u="none" strike="noStrike">
                          <a:solidFill>
                            <a:srgbClr val="000000"/>
                          </a:solidFill>
                          <a:effectLst/>
                          <a:latin typeface="Aptos Narrow" panose="020B0004020202020204" pitchFamily="34" charset="0"/>
                        </a:rPr>
                        <a:t>2015</a:t>
                      </a:r>
                    </a:p>
                  </a:txBody>
                  <a:tcPr marL="7620" marR="7620" marT="762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AU" sz="1100" b="0" i="0" u="none" strike="noStrike">
                          <a:solidFill>
                            <a:srgbClr val="000000"/>
                          </a:solidFill>
                          <a:effectLst/>
                          <a:latin typeface="Aptos Narrow" panose="020B0004020202020204" pitchFamily="34" charset="0"/>
                        </a:rPr>
                        <a:t>1.21m</a:t>
                      </a:r>
                    </a:p>
                  </a:txBody>
                  <a:tcPr marL="7620" marR="7620" marT="762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56982333"/>
                  </a:ext>
                </a:extLst>
              </a:tr>
              <a:tr h="237542">
                <a:tc>
                  <a:txBody>
                    <a:bodyPr/>
                    <a:lstStyle/>
                    <a:p>
                      <a:pPr algn="ctr" fontAlgn="b"/>
                      <a:r>
                        <a:rPr lang="en-AU" sz="1100" b="0" i="0" u="none" strike="noStrike">
                          <a:solidFill>
                            <a:srgbClr val="000000"/>
                          </a:solidFill>
                          <a:effectLst/>
                          <a:latin typeface="Aptos Narrow" panose="020B0004020202020204" pitchFamily="34" charset="0"/>
                        </a:rPr>
                        <a:t>2016</a:t>
                      </a:r>
                    </a:p>
                  </a:txBody>
                  <a:tcPr marL="7620" marR="7620" marT="762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AU" sz="1100" b="0" i="0" u="none" strike="noStrike">
                          <a:solidFill>
                            <a:srgbClr val="000000"/>
                          </a:solidFill>
                          <a:effectLst/>
                          <a:latin typeface="Aptos Narrow" panose="020B0004020202020204" pitchFamily="34" charset="0"/>
                        </a:rPr>
                        <a:t>1.24m</a:t>
                      </a:r>
                    </a:p>
                  </a:txBody>
                  <a:tcPr marL="7620" marR="7620" marT="762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39953736"/>
                  </a:ext>
                </a:extLst>
              </a:tr>
              <a:tr h="237542">
                <a:tc>
                  <a:txBody>
                    <a:bodyPr/>
                    <a:lstStyle/>
                    <a:p>
                      <a:pPr algn="ctr" fontAlgn="b"/>
                      <a:r>
                        <a:rPr lang="en-AU" sz="1100" b="0" i="0" u="none" strike="noStrike">
                          <a:solidFill>
                            <a:srgbClr val="000000"/>
                          </a:solidFill>
                          <a:effectLst/>
                          <a:latin typeface="Aptos Narrow" panose="020B0004020202020204" pitchFamily="34" charset="0"/>
                        </a:rPr>
                        <a:t>2017</a:t>
                      </a:r>
                    </a:p>
                  </a:txBody>
                  <a:tcPr marL="7620" marR="7620" marT="762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AU" sz="1100" b="0" i="0" u="none" strike="noStrike">
                          <a:solidFill>
                            <a:srgbClr val="000000"/>
                          </a:solidFill>
                          <a:effectLst/>
                          <a:latin typeface="Aptos Narrow" panose="020B0004020202020204" pitchFamily="34" charset="0"/>
                        </a:rPr>
                        <a:t>1.24m</a:t>
                      </a:r>
                    </a:p>
                  </a:txBody>
                  <a:tcPr marL="7620" marR="7620" marT="762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22146969"/>
                  </a:ext>
                </a:extLst>
              </a:tr>
              <a:tr h="237542">
                <a:tc>
                  <a:txBody>
                    <a:bodyPr/>
                    <a:lstStyle/>
                    <a:p>
                      <a:pPr algn="ctr" fontAlgn="b"/>
                      <a:r>
                        <a:rPr lang="en-AU" sz="1100" b="0" i="0" u="none" strike="noStrike">
                          <a:solidFill>
                            <a:srgbClr val="000000"/>
                          </a:solidFill>
                          <a:effectLst/>
                          <a:latin typeface="Aptos Narrow" panose="020B0004020202020204" pitchFamily="34" charset="0"/>
                        </a:rPr>
                        <a:t>2018</a:t>
                      </a:r>
                    </a:p>
                  </a:txBody>
                  <a:tcPr marL="7620" marR="7620" marT="762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AU" sz="1100" b="0" i="0" u="none" strike="noStrike">
                          <a:solidFill>
                            <a:srgbClr val="000000"/>
                          </a:solidFill>
                          <a:effectLst/>
                          <a:latin typeface="Aptos Narrow" panose="020B0004020202020204" pitchFamily="34" charset="0"/>
                        </a:rPr>
                        <a:t>1.26m</a:t>
                      </a:r>
                    </a:p>
                  </a:txBody>
                  <a:tcPr marL="7620" marR="7620" marT="762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72504637"/>
                  </a:ext>
                </a:extLst>
              </a:tr>
              <a:tr h="237542">
                <a:tc>
                  <a:txBody>
                    <a:bodyPr/>
                    <a:lstStyle/>
                    <a:p>
                      <a:pPr algn="ctr" fontAlgn="b"/>
                      <a:r>
                        <a:rPr lang="en-AU" sz="1100" b="0" i="0" u="none" strike="noStrike">
                          <a:solidFill>
                            <a:srgbClr val="000000"/>
                          </a:solidFill>
                          <a:effectLst/>
                          <a:latin typeface="Aptos Narrow" panose="020B0004020202020204" pitchFamily="34" charset="0"/>
                        </a:rPr>
                        <a:t>2019</a:t>
                      </a:r>
                    </a:p>
                  </a:txBody>
                  <a:tcPr marL="7620" marR="7620" marT="762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AU" sz="1100" b="0" i="0" u="none" strike="noStrike">
                          <a:solidFill>
                            <a:srgbClr val="000000"/>
                          </a:solidFill>
                          <a:effectLst/>
                          <a:latin typeface="Aptos Narrow" panose="020B0004020202020204" pitchFamily="34" charset="0"/>
                        </a:rPr>
                        <a:t>1.29m</a:t>
                      </a:r>
                    </a:p>
                  </a:txBody>
                  <a:tcPr marL="7620" marR="7620" marT="762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1634746"/>
                  </a:ext>
                </a:extLst>
              </a:tr>
              <a:tr h="237542">
                <a:tc>
                  <a:txBody>
                    <a:bodyPr/>
                    <a:lstStyle/>
                    <a:p>
                      <a:pPr algn="ctr" fontAlgn="b"/>
                      <a:r>
                        <a:rPr lang="en-AU" sz="1100" b="0" i="0" u="none" strike="noStrike">
                          <a:solidFill>
                            <a:srgbClr val="000000"/>
                          </a:solidFill>
                          <a:effectLst/>
                          <a:latin typeface="Aptos Narrow" panose="020B0004020202020204" pitchFamily="34" charset="0"/>
                        </a:rPr>
                        <a:t>2020</a:t>
                      </a:r>
                    </a:p>
                  </a:txBody>
                  <a:tcPr marL="7620" marR="7620" marT="762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AU" sz="1100" b="0" i="0" u="none" strike="noStrike">
                          <a:solidFill>
                            <a:srgbClr val="000000"/>
                          </a:solidFill>
                          <a:effectLst/>
                          <a:latin typeface="Aptos Narrow" panose="020B0004020202020204" pitchFamily="34" charset="0"/>
                        </a:rPr>
                        <a:t>1.32m</a:t>
                      </a:r>
                    </a:p>
                  </a:txBody>
                  <a:tcPr marL="7620" marR="7620" marT="762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19886442"/>
                  </a:ext>
                </a:extLst>
              </a:tr>
              <a:tr h="237542">
                <a:tc>
                  <a:txBody>
                    <a:bodyPr/>
                    <a:lstStyle/>
                    <a:p>
                      <a:pPr algn="ctr" fontAlgn="b"/>
                      <a:r>
                        <a:rPr lang="en-AU" sz="1100" b="0" i="0" u="none" strike="noStrike">
                          <a:solidFill>
                            <a:srgbClr val="000000"/>
                          </a:solidFill>
                          <a:effectLst/>
                          <a:latin typeface="Aptos Narrow" panose="020B0004020202020204" pitchFamily="34" charset="0"/>
                        </a:rPr>
                        <a:t>2021</a:t>
                      </a:r>
                    </a:p>
                  </a:txBody>
                  <a:tcPr marL="7620" marR="7620" marT="762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AU" sz="1100" b="0" i="0" u="none" strike="noStrike">
                          <a:solidFill>
                            <a:srgbClr val="000000"/>
                          </a:solidFill>
                          <a:effectLst/>
                          <a:latin typeface="Aptos Narrow" panose="020B0004020202020204" pitchFamily="34" charset="0"/>
                        </a:rPr>
                        <a:t>1.37m</a:t>
                      </a:r>
                    </a:p>
                  </a:txBody>
                  <a:tcPr marL="7620" marR="7620" marT="762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2569858"/>
                  </a:ext>
                </a:extLst>
              </a:tr>
              <a:tr h="237542">
                <a:tc>
                  <a:txBody>
                    <a:bodyPr/>
                    <a:lstStyle/>
                    <a:p>
                      <a:pPr algn="ctr" fontAlgn="b"/>
                      <a:r>
                        <a:rPr lang="en-AU" sz="1100" b="0" i="0" u="none" strike="noStrike">
                          <a:solidFill>
                            <a:srgbClr val="000000"/>
                          </a:solidFill>
                          <a:effectLst/>
                          <a:latin typeface="Aptos Narrow" panose="020B0004020202020204" pitchFamily="34" charset="0"/>
                        </a:rPr>
                        <a:t>2022</a:t>
                      </a:r>
                    </a:p>
                  </a:txBody>
                  <a:tcPr marL="7620" marR="7620" marT="762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AU" sz="1100" b="0" i="0" u="none" strike="noStrike">
                          <a:solidFill>
                            <a:srgbClr val="000000"/>
                          </a:solidFill>
                          <a:effectLst/>
                          <a:latin typeface="Aptos Narrow" panose="020B0004020202020204" pitchFamily="34" charset="0"/>
                        </a:rPr>
                        <a:t>1.37m</a:t>
                      </a:r>
                    </a:p>
                  </a:txBody>
                  <a:tcPr marL="7620" marR="7620" marT="762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7322772"/>
                  </a:ext>
                </a:extLst>
              </a:tr>
              <a:tr h="237542">
                <a:tc>
                  <a:txBody>
                    <a:bodyPr/>
                    <a:lstStyle/>
                    <a:p>
                      <a:pPr algn="ctr" fontAlgn="b"/>
                      <a:r>
                        <a:rPr lang="en-AU" sz="1100" b="0" i="0" u="none" strike="noStrike">
                          <a:solidFill>
                            <a:srgbClr val="000000"/>
                          </a:solidFill>
                          <a:effectLst/>
                          <a:latin typeface="Aptos Narrow" panose="020B0004020202020204" pitchFamily="34" charset="0"/>
                        </a:rPr>
                        <a:t>2023</a:t>
                      </a:r>
                    </a:p>
                  </a:txBody>
                  <a:tcPr marL="7620" marR="7620" marT="762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AU" sz="1100" b="0" i="0" u="none" strike="noStrike">
                          <a:solidFill>
                            <a:srgbClr val="000000"/>
                          </a:solidFill>
                          <a:effectLst/>
                          <a:latin typeface="Aptos Narrow" panose="020B0004020202020204" pitchFamily="34" charset="0"/>
                        </a:rPr>
                        <a:t>1.37m</a:t>
                      </a:r>
                    </a:p>
                  </a:txBody>
                  <a:tcPr marL="7620" marR="7620" marT="762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99355519"/>
                  </a:ext>
                </a:extLst>
              </a:tr>
              <a:tr h="237542">
                <a:tc>
                  <a:txBody>
                    <a:bodyPr/>
                    <a:lstStyle/>
                    <a:p>
                      <a:pPr algn="ctr" fontAlgn="b"/>
                      <a:r>
                        <a:rPr lang="en-AU" sz="1100" b="0" i="0" u="none" strike="noStrike">
                          <a:solidFill>
                            <a:srgbClr val="000000"/>
                          </a:solidFill>
                          <a:effectLst/>
                          <a:latin typeface="Aptos Narrow" panose="020B0004020202020204" pitchFamily="34" charset="0"/>
                        </a:rPr>
                        <a:t>2024</a:t>
                      </a:r>
                    </a:p>
                  </a:txBody>
                  <a:tcPr marL="7620" marR="7620" marT="762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AU" sz="1100" b="0" i="0" u="none" strike="noStrike">
                          <a:solidFill>
                            <a:srgbClr val="000000"/>
                          </a:solidFill>
                          <a:effectLst/>
                          <a:latin typeface="Aptos Narrow" panose="020B0004020202020204" pitchFamily="34" charset="0"/>
                        </a:rPr>
                        <a:t>1.39m</a:t>
                      </a:r>
                    </a:p>
                  </a:txBody>
                  <a:tcPr marL="7620" marR="7620" marT="762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4450753"/>
                  </a:ext>
                </a:extLst>
              </a:tr>
              <a:tr h="237542">
                <a:tc>
                  <a:txBody>
                    <a:bodyPr/>
                    <a:lstStyle/>
                    <a:p>
                      <a:pPr algn="ctr" fontAlgn="b"/>
                      <a:r>
                        <a:rPr lang="en-AU" sz="1100" b="0" i="0" u="none" strike="noStrike">
                          <a:solidFill>
                            <a:srgbClr val="000000"/>
                          </a:solidFill>
                          <a:effectLst/>
                          <a:latin typeface="Aptos Narrow" panose="020B0004020202020204" pitchFamily="34" charset="0"/>
                        </a:rPr>
                        <a:t>2025</a:t>
                      </a:r>
                    </a:p>
                  </a:txBody>
                  <a:tcPr marL="7620" marR="7620" marT="762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AU" sz="1100" b="0" i="0" u="none" strike="noStrike">
                          <a:solidFill>
                            <a:srgbClr val="000000"/>
                          </a:solidFill>
                          <a:effectLst/>
                          <a:latin typeface="Aptos Narrow" panose="020B0004020202020204" pitchFamily="34" charset="0"/>
                        </a:rPr>
                        <a:t>1.41m</a:t>
                      </a:r>
                    </a:p>
                  </a:txBody>
                  <a:tcPr marL="7620" marR="7620" marT="762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17621428"/>
                  </a:ext>
                </a:extLst>
              </a:tr>
            </a:tbl>
          </a:graphicData>
        </a:graphic>
      </p:graphicFrame>
      <p:sp>
        <p:nvSpPr>
          <p:cNvPr id="12" name="TextBox 11">
            <a:extLst>
              <a:ext uri="{FF2B5EF4-FFF2-40B4-BE49-F238E27FC236}">
                <a16:creationId xmlns:a16="http://schemas.microsoft.com/office/drawing/2014/main" id="{6CAF7CF3-80A0-A249-FCF0-F41D029F83CA}"/>
              </a:ext>
            </a:extLst>
          </p:cNvPr>
          <p:cNvSpPr txBox="1"/>
          <p:nvPr/>
        </p:nvSpPr>
        <p:spPr>
          <a:xfrm>
            <a:off x="1161524" y="6125755"/>
            <a:ext cx="10645504" cy="577850"/>
          </a:xfrm>
          <a:prstGeom prst="rect">
            <a:avLst/>
          </a:prstGeom>
          <a:noFill/>
        </p:spPr>
        <p:txBody>
          <a:bodyPr wrap="square">
            <a:spAutoFit/>
          </a:bodyPr>
          <a:lstStyle/>
          <a:p>
            <a:pPr>
              <a:lnSpc>
                <a:spcPct val="150000"/>
              </a:lnSpc>
            </a:pPr>
            <a:r>
              <a:rPr lang="en-AU" sz="2400" b="1">
                <a:cs typeface="Arial"/>
              </a:rPr>
              <a:t>column graph</a:t>
            </a:r>
            <a:r>
              <a:rPr lang="en-AU" sz="2400">
                <a:cs typeface="Arial"/>
              </a:rPr>
              <a:t>			         </a:t>
            </a:r>
            <a:r>
              <a:rPr lang="en-AU" sz="2400" b="1">
                <a:cs typeface="Arial"/>
              </a:rPr>
              <a:t>line graph</a:t>
            </a:r>
            <a:r>
              <a:rPr lang="en-AU" b="1">
                <a:cs typeface="Arial"/>
              </a:rPr>
              <a:t> 			            table</a:t>
            </a:r>
            <a:endParaRPr lang="en-US" sz="2400" b="1">
              <a:latin typeface="Arial"/>
              <a:cs typeface="Arial"/>
            </a:endParaRPr>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pic>
        <p:nvPicPr>
          <p:cNvPr id="3" name="Picture 2" descr="image of a clipboard with a pencil recording short answer responses">
            <a:extLst>
              <a:ext uri="{FF2B5EF4-FFF2-40B4-BE49-F238E27FC236}">
                <a16:creationId xmlns:a16="http://schemas.microsoft.com/office/drawing/2014/main" id="{D48B7122-4823-634E-9085-7F5757ED1862}"/>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4" name="TextBox 3" descr="A table for finding the volume of rectangular prism. The head&#10;in cubic metres (m3).&#10;">
            <a:extLst>
              <a:ext uri="{FF2B5EF4-FFF2-40B4-BE49-F238E27FC236}">
                <a16:creationId xmlns:a16="http://schemas.microsoft.com/office/drawing/2014/main" id="{E6E744CA-C1D0-710B-F338-8D93A9411B40}"/>
              </a:ext>
            </a:extLst>
          </p:cNvPr>
          <p:cNvSpPr txBox="1"/>
          <p:nvPr/>
        </p:nvSpPr>
        <p:spPr>
          <a:xfrm>
            <a:off x="0" y="1184223"/>
            <a:ext cx="11945976" cy="2749151"/>
          </a:xfrm>
          <a:prstGeom prst="rect">
            <a:avLst/>
          </a:prstGeom>
          <a:noFill/>
        </p:spPr>
        <p:txBody>
          <a:bodyPr wrap="square">
            <a:spAutoFit/>
          </a:bodyPr>
          <a:lstStyle/>
          <a:p>
            <a:pPr algn="ctr">
              <a:lnSpc>
                <a:spcPct val="150000"/>
              </a:lnSpc>
            </a:pPr>
            <a:r>
              <a:rPr lang="en-AU" sz="4000" b="0" i="0">
                <a:effectLst/>
                <a:latin typeface="Public Sans" pitchFamily="2" charset="0"/>
              </a:rPr>
              <a:t>Use </a:t>
            </a:r>
            <a:r>
              <a:rPr lang="en-AU" sz="4000">
                <a:latin typeface="Public Sans" pitchFamily="2" charset="0"/>
              </a:rPr>
              <a:t>the information in the table to </a:t>
            </a:r>
            <a:r>
              <a:rPr lang="en-AU" sz="4000" b="0" i="0">
                <a:effectLst/>
                <a:latin typeface="Public Sans" pitchFamily="2" charset="0"/>
              </a:rPr>
              <a:t>find the </a:t>
            </a:r>
            <a:r>
              <a:rPr lang="en-AU" sz="4000" b="1" i="0">
                <a:effectLst/>
                <a:latin typeface="Public Sans" pitchFamily="2" charset="0"/>
              </a:rPr>
              <a:t>volume</a:t>
            </a:r>
            <a:r>
              <a:rPr lang="en-AU" sz="4000" b="0" i="0">
                <a:effectLst/>
                <a:latin typeface="Public Sans" pitchFamily="2" charset="0"/>
              </a:rPr>
              <a:t> of each </a:t>
            </a:r>
            <a:r>
              <a:rPr lang="en-AU" sz="4000" b="1" i="0">
                <a:effectLst/>
                <a:latin typeface="Public Sans" pitchFamily="2" charset="0"/>
              </a:rPr>
              <a:t>rectangular prism </a:t>
            </a:r>
          </a:p>
          <a:p>
            <a:pPr algn="ctr">
              <a:lnSpc>
                <a:spcPct val="150000"/>
              </a:lnSpc>
            </a:pPr>
            <a:r>
              <a:rPr lang="en-AU" sz="4000" b="0" i="0">
                <a:effectLst/>
                <a:latin typeface="Public Sans" pitchFamily="2" charset="0"/>
              </a:rPr>
              <a:t>in </a:t>
            </a:r>
            <a:r>
              <a:rPr lang="en-AU" sz="4000" b="1" i="0">
                <a:effectLst/>
                <a:latin typeface="Public Sans" pitchFamily="2" charset="0"/>
              </a:rPr>
              <a:t>cubic metres </a:t>
            </a:r>
            <a:r>
              <a:rPr lang="en-AU" sz="4000" b="0" i="0">
                <a:effectLst/>
                <a:latin typeface="Public Sans" pitchFamily="2" charset="0"/>
              </a:rPr>
              <a:t>(m</a:t>
            </a:r>
            <a:r>
              <a:rPr lang="en-AU" sz="4000" b="0" i="0" baseline="30000">
                <a:effectLst/>
                <a:latin typeface="Public Sans" pitchFamily="2" charset="0"/>
              </a:rPr>
              <a:t>3</a:t>
            </a:r>
            <a:r>
              <a:rPr lang="en-AU" sz="4000" b="0" i="0">
                <a:effectLst/>
                <a:latin typeface="Public Sans" pitchFamily="2" charset="0"/>
              </a:rPr>
              <a:t>).</a:t>
            </a:r>
            <a:endParaRPr lang="en-AU" sz="4000"/>
          </a:p>
        </p:txBody>
      </p:sp>
      <p:graphicFrame>
        <p:nvGraphicFramePr>
          <p:cNvPr id="8" name="Table 7">
            <a:extLst>
              <a:ext uri="{FF2B5EF4-FFF2-40B4-BE49-F238E27FC236}">
                <a16:creationId xmlns:a16="http://schemas.microsoft.com/office/drawing/2014/main" id="{EEFEB0A2-5477-B0B9-3DCB-A4F3FB8D9EE0}"/>
              </a:ext>
            </a:extLst>
          </p:cNvPr>
          <p:cNvGraphicFramePr>
            <a:graphicFrameLocks noGrp="1"/>
          </p:cNvGraphicFramePr>
          <p:nvPr>
            <p:extLst>
              <p:ext uri="{D42A27DB-BD31-4B8C-83A1-F6EECF244321}">
                <p14:modId xmlns:p14="http://schemas.microsoft.com/office/powerpoint/2010/main" val="2500335888"/>
              </p:ext>
            </p:extLst>
          </p:nvPr>
        </p:nvGraphicFramePr>
        <p:xfrm>
          <a:off x="1749736" y="4195585"/>
          <a:ext cx="8446504" cy="1950720"/>
        </p:xfrm>
        <a:graphic>
          <a:graphicData uri="http://schemas.openxmlformats.org/drawingml/2006/table">
            <a:tbl>
              <a:tblPr firstRow="1" bandRow="1">
                <a:tableStyleId>{5940675A-B579-460E-94D1-54222C63F5DA}</a:tableStyleId>
              </a:tblPr>
              <a:tblGrid>
                <a:gridCol w="2111626">
                  <a:extLst>
                    <a:ext uri="{9D8B030D-6E8A-4147-A177-3AD203B41FA5}">
                      <a16:colId xmlns:a16="http://schemas.microsoft.com/office/drawing/2014/main" val="1314826978"/>
                    </a:ext>
                  </a:extLst>
                </a:gridCol>
                <a:gridCol w="2111626">
                  <a:extLst>
                    <a:ext uri="{9D8B030D-6E8A-4147-A177-3AD203B41FA5}">
                      <a16:colId xmlns:a16="http://schemas.microsoft.com/office/drawing/2014/main" val="156341311"/>
                    </a:ext>
                  </a:extLst>
                </a:gridCol>
                <a:gridCol w="2111626">
                  <a:extLst>
                    <a:ext uri="{9D8B030D-6E8A-4147-A177-3AD203B41FA5}">
                      <a16:colId xmlns:a16="http://schemas.microsoft.com/office/drawing/2014/main" val="2955762527"/>
                    </a:ext>
                  </a:extLst>
                </a:gridCol>
                <a:gridCol w="2111626">
                  <a:extLst>
                    <a:ext uri="{9D8B030D-6E8A-4147-A177-3AD203B41FA5}">
                      <a16:colId xmlns:a16="http://schemas.microsoft.com/office/drawing/2014/main" val="102510446"/>
                    </a:ext>
                  </a:extLst>
                </a:gridCol>
              </a:tblGrid>
              <a:tr h="37084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3200"/>
                        <a:t>Base</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3200"/>
                        <a:t>5 layers</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3200"/>
                        <a:t>10 layers</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3200"/>
                        <a:t>100 layers</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0860077"/>
                  </a:ext>
                </a:extLst>
              </a:tr>
              <a:tr h="370840">
                <a:tc>
                  <a:txBody>
                    <a:bodyPr/>
                    <a:lstStyle/>
                    <a:p>
                      <a:r>
                        <a:rPr lang="en-AU" sz="2400" b="1"/>
                        <a:t>9 m</a:t>
                      </a:r>
                      <a:br>
                        <a:rPr lang="en-AU"/>
                      </a:br>
                      <a:endParaRPr lang="en-AU"/>
                    </a:p>
                    <a:p>
                      <a:endParaRPr lang="en-AU"/>
                    </a:p>
                    <a:p>
                      <a:r>
                        <a:rPr lang="en-AU"/>
                        <a:t>                    </a:t>
                      </a:r>
                      <a:r>
                        <a:rPr lang="en-AU" sz="2400" b="1"/>
                        <a:t>6m</a:t>
                      </a:r>
                      <a:endParaRPr lang="en-AU"/>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AU"/>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AU"/>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AU"/>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2611840"/>
                  </a:ext>
                </a:extLst>
              </a:tr>
            </a:tbl>
          </a:graphicData>
        </a:graphic>
      </p:graphicFrame>
      <p:sp>
        <p:nvSpPr>
          <p:cNvPr id="11" name="Rectangle 10">
            <a:extLst>
              <a:ext uri="{FF2B5EF4-FFF2-40B4-BE49-F238E27FC236}">
                <a16:creationId xmlns:a16="http://schemas.microsoft.com/office/drawing/2014/main" id="{C65B4F64-6266-B7A3-B833-049BFAEE79F4}"/>
              </a:ext>
              <a:ext uri="{C183D7F6-B498-43B3-948B-1728B52AA6E4}">
                <adec:decorative xmlns:adec="http://schemas.microsoft.com/office/drawing/2017/decorative" val="1"/>
              </a:ext>
            </a:extLst>
          </p:cNvPr>
          <p:cNvSpPr/>
          <p:nvPr/>
        </p:nvSpPr>
        <p:spPr>
          <a:xfrm>
            <a:off x="1901721" y="5282279"/>
            <a:ext cx="1054130" cy="78299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pic>
        <p:nvPicPr>
          <p:cNvPr id="3" name="Picture 2" descr="image of a clipboard with a pencil recording short answer responses">
            <a:extLst>
              <a:ext uri="{FF2B5EF4-FFF2-40B4-BE49-F238E27FC236}">
                <a16:creationId xmlns:a16="http://schemas.microsoft.com/office/drawing/2014/main" id="{77944112-784D-22C3-1462-ED0056915B97}"/>
              </a:ext>
            </a:extLst>
          </p:cNvPr>
          <p:cNvPicPr>
            <a:picLocks noChangeAspect="1"/>
          </p:cNvPicPr>
          <p:nvPr/>
        </p:nvPicPr>
        <p:blipFill>
          <a:blip r:embed="rId3"/>
          <a:stretch>
            <a:fillRect/>
          </a:stretch>
        </p:blipFill>
        <p:spPr>
          <a:xfrm>
            <a:off x="11030476" y="268723"/>
            <a:ext cx="915500" cy="915500"/>
          </a:xfrm>
          <a:prstGeom prst="rect">
            <a:avLst/>
          </a:prstGeom>
          <a:ln>
            <a:noFill/>
          </a:ln>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DA22930-1D2A-4E4D-ADD8-10BDA1042A7E}"/>
                  </a:ext>
                </a:extLst>
              </p:cNvPr>
              <p:cNvSpPr txBox="1"/>
              <p:nvPr/>
            </p:nvSpPr>
            <p:spPr>
              <a:xfrm>
                <a:off x="537800" y="1122756"/>
                <a:ext cx="10764000" cy="2554545"/>
              </a:xfrm>
              <a:prstGeom prst="rect">
                <a:avLst/>
              </a:prstGeom>
              <a:noFill/>
            </p:spPr>
            <p:txBody>
              <a:bodyPr wrap="square">
                <a:spAutoFit/>
              </a:bodyPr>
              <a:lstStyle/>
              <a:p>
                <a:pPr algn="ctr"/>
                <a:r>
                  <a:rPr lang="en-AU" sz="3600">
                    <a:effectLst/>
                    <a:latin typeface="Arial" panose="020B0604020202020204" pitchFamily="34" charset="0"/>
                    <a:ea typeface="Calibri" panose="020F0502020204030204" pitchFamily="34" charset="0"/>
                  </a:rPr>
                  <a:t>Chris had a chocolate bar. He gave </a:t>
                </a:r>
                <a:r>
                  <a:rPr lang="en-AU" sz="3600" b="1">
                    <a:effectLst/>
                    <a:latin typeface="Arial" panose="020B0604020202020204" pitchFamily="34" charset="0"/>
                    <a:ea typeface="Calibri" panose="020F0502020204030204" pitchFamily="34" charset="0"/>
                  </a:rPr>
                  <a:t>50% </a:t>
                </a:r>
                <a:r>
                  <a:rPr lang="en-AU" sz="3600">
                    <a:effectLst/>
                    <a:latin typeface="Arial" panose="020B0604020202020204" pitchFamily="34" charset="0"/>
                    <a:ea typeface="Calibri" panose="020F0502020204030204" pitchFamily="34" charset="0"/>
                  </a:rPr>
                  <a:t>to Marcus, </a:t>
                </a:r>
                <a:r>
                  <a:rPr lang="en-AU" sz="3600" b="1">
                    <a:effectLst/>
                    <a:latin typeface="Arial" panose="020B0604020202020204" pitchFamily="34" charset="0"/>
                    <a:ea typeface="Calibri" panose="020F0502020204030204" pitchFamily="34" charset="0"/>
                  </a:rPr>
                  <a:t>one-sixth </a:t>
                </a:r>
                <a:r>
                  <a:rPr lang="en-AU" sz="3600">
                    <a:effectLst/>
                    <a:latin typeface="Arial" panose="020B0604020202020204" pitchFamily="34" charset="0"/>
                    <a:ea typeface="Calibri" panose="020F0502020204030204" pitchFamily="34" charset="0"/>
                  </a:rPr>
                  <a:t>(</a:t>
                </a:r>
                <a14:m>
                  <m:oMath xmlns:m="http://schemas.openxmlformats.org/officeDocument/2006/math">
                    <m:f>
                      <m:fPr>
                        <m:ctrlPr>
                          <a:rPr lang="en-AU" sz="3600" b="1" i="1" smtClean="0">
                            <a:latin typeface="Cambria Math" panose="02040503050406030204" pitchFamily="18" charset="0"/>
                          </a:rPr>
                        </m:ctrlPr>
                      </m:fPr>
                      <m:num>
                        <m:r>
                          <a:rPr lang="en-AU" sz="3600" b="1" i="1" smtClean="0">
                            <a:latin typeface="Cambria Math" panose="02040503050406030204" pitchFamily="18" charset="0"/>
                          </a:rPr>
                          <m:t>𝟏</m:t>
                        </m:r>
                      </m:num>
                      <m:den>
                        <m:r>
                          <a:rPr lang="en-AU" sz="3600" b="1" i="1" smtClean="0">
                            <a:latin typeface="Cambria Math" panose="02040503050406030204" pitchFamily="18" charset="0"/>
                          </a:rPr>
                          <m:t>𝟔</m:t>
                        </m:r>
                      </m:den>
                    </m:f>
                  </m:oMath>
                </a14:m>
                <a:r>
                  <a:rPr lang="en-AU" sz="3600">
                    <a:effectLst/>
                    <a:latin typeface="Arial" panose="020B0604020202020204" pitchFamily="34" charset="0"/>
                    <a:ea typeface="Calibri" panose="020F0502020204030204" pitchFamily="34" charset="0"/>
                  </a:rPr>
                  <a:t>)</a:t>
                </a:r>
                <a:r>
                  <a:rPr lang="en-AU" sz="3600" b="1">
                    <a:effectLst/>
                    <a:latin typeface="Arial" panose="020B0604020202020204" pitchFamily="34" charset="0"/>
                    <a:ea typeface="Calibri" panose="020F0502020204030204" pitchFamily="34" charset="0"/>
                  </a:rPr>
                  <a:t> </a:t>
                </a:r>
                <a:r>
                  <a:rPr lang="en-AU" sz="3600">
                    <a:effectLst/>
                    <a:latin typeface="Arial" panose="020B0604020202020204" pitchFamily="34" charset="0"/>
                    <a:ea typeface="Calibri" panose="020F0502020204030204" pitchFamily="34" charset="0"/>
                  </a:rPr>
                  <a:t>to Sonja and he ate the rest.</a:t>
                </a:r>
                <a:br>
                  <a:rPr lang="en-AU" sz="3600">
                    <a:effectLst/>
                    <a:latin typeface="Arial" panose="020B0604020202020204" pitchFamily="34" charset="0"/>
                    <a:ea typeface="Calibri" panose="020F0502020204030204" pitchFamily="34" charset="0"/>
                  </a:rPr>
                </a:br>
                <a:br>
                  <a:rPr lang="en-AU" sz="3600">
                    <a:effectLst/>
                    <a:latin typeface="Arial" panose="020B0604020202020204" pitchFamily="34" charset="0"/>
                    <a:ea typeface="Calibri" panose="020F0502020204030204" pitchFamily="34" charset="0"/>
                  </a:rPr>
                </a:br>
                <a:r>
                  <a:rPr lang="en-AU" sz="3600">
                    <a:latin typeface="Arial" panose="020B0604020202020204" pitchFamily="34" charset="0"/>
                    <a:ea typeface="Calibri" panose="020F0502020204030204" pitchFamily="34" charset="0"/>
                  </a:rPr>
                  <a:t>How many </a:t>
                </a:r>
                <a:r>
                  <a:rPr lang="en-AU" sz="3600" b="1">
                    <a:latin typeface="Arial" panose="020B0604020202020204" pitchFamily="34" charset="0"/>
                    <a:ea typeface="Calibri" panose="020F0502020204030204" pitchFamily="34" charset="0"/>
                  </a:rPr>
                  <a:t>blocks</a:t>
                </a:r>
                <a:r>
                  <a:rPr lang="en-AU" sz="3600">
                    <a:latin typeface="Arial" panose="020B0604020202020204" pitchFamily="34" charset="0"/>
                    <a:ea typeface="Calibri" panose="020F0502020204030204" pitchFamily="34" charset="0"/>
                  </a:rPr>
                  <a:t> did </a:t>
                </a:r>
                <a:r>
                  <a:rPr lang="en-AU" sz="3600" b="1">
                    <a:latin typeface="Arial" panose="020B0604020202020204" pitchFamily="34" charset="0"/>
                    <a:ea typeface="Calibri" panose="020F0502020204030204" pitchFamily="34" charset="0"/>
                  </a:rPr>
                  <a:t>he eat</a:t>
                </a:r>
                <a:r>
                  <a:rPr lang="en-AU" sz="3600">
                    <a:latin typeface="Arial" panose="020B0604020202020204" pitchFamily="34" charset="0"/>
                    <a:ea typeface="Calibri" panose="020F0502020204030204" pitchFamily="34" charset="0"/>
                  </a:rPr>
                  <a:t>?</a:t>
                </a:r>
                <a:endParaRPr lang="en-AU" sz="3600"/>
              </a:p>
            </p:txBody>
          </p:sp>
        </mc:Choice>
        <mc:Fallback xmlns="">
          <p:sp>
            <p:nvSpPr>
              <p:cNvPr id="5" name="TextBox 4">
                <a:extLst>
                  <a:ext uri="{FF2B5EF4-FFF2-40B4-BE49-F238E27FC236}">
                    <a16:creationId xmlns:a16="http://schemas.microsoft.com/office/drawing/2014/main" id="{3DA22930-1D2A-4E4D-ADD8-10BDA1042A7E}"/>
                  </a:ext>
                </a:extLst>
              </p:cNvPr>
              <p:cNvSpPr txBox="1">
                <a:spLocks noRot="1" noChangeAspect="1" noMove="1" noResize="1" noEditPoints="1" noAdjustHandles="1" noChangeArrowheads="1" noChangeShapeType="1" noTextEdit="1"/>
              </p:cNvSpPr>
              <p:nvPr/>
            </p:nvSpPr>
            <p:spPr>
              <a:xfrm>
                <a:off x="537800" y="1122756"/>
                <a:ext cx="10764000" cy="2554545"/>
              </a:xfrm>
              <a:prstGeom prst="rect">
                <a:avLst/>
              </a:prstGeom>
              <a:blipFill>
                <a:blip r:embed="rId4"/>
                <a:stretch>
                  <a:fillRect l="-1076" t="-3580" r="-2208" b="-8115"/>
                </a:stretch>
              </a:blipFill>
            </p:spPr>
            <p:txBody>
              <a:bodyPr/>
              <a:lstStyle/>
              <a:p>
                <a:r>
                  <a:rPr lang="en-AU">
                    <a:noFill/>
                  </a:rPr>
                  <a:t> </a:t>
                </a:r>
              </a:p>
            </p:txBody>
          </p:sp>
        </mc:Fallback>
      </mc:AlternateContent>
      <p:grpSp>
        <p:nvGrpSpPr>
          <p:cNvPr id="28" name="Group 27" descr="A chocolate bar with 3 rows of 6 squares.">
            <a:extLst>
              <a:ext uri="{FF2B5EF4-FFF2-40B4-BE49-F238E27FC236}">
                <a16:creationId xmlns:a16="http://schemas.microsoft.com/office/drawing/2014/main" id="{03940FA7-989D-4FE5-370D-A75BB9132CE8}"/>
              </a:ext>
            </a:extLst>
          </p:cNvPr>
          <p:cNvGrpSpPr/>
          <p:nvPr/>
        </p:nvGrpSpPr>
        <p:grpSpPr>
          <a:xfrm>
            <a:off x="3106646" y="3894458"/>
            <a:ext cx="5270708" cy="2279584"/>
            <a:chOff x="1192306" y="3428998"/>
            <a:chExt cx="6024282" cy="2998695"/>
          </a:xfrm>
        </p:grpSpPr>
        <p:grpSp>
          <p:nvGrpSpPr>
            <p:cNvPr id="13" name="Group 12">
              <a:extLst>
                <a:ext uri="{FF2B5EF4-FFF2-40B4-BE49-F238E27FC236}">
                  <a16:creationId xmlns:a16="http://schemas.microsoft.com/office/drawing/2014/main" id="{898C153D-8AB2-97E8-9E16-2654452CB984}"/>
                </a:ext>
              </a:extLst>
            </p:cNvPr>
            <p:cNvGrpSpPr/>
            <p:nvPr/>
          </p:nvGrpSpPr>
          <p:grpSpPr>
            <a:xfrm>
              <a:off x="1192306" y="3428998"/>
              <a:ext cx="6024282" cy="999567"/>
              <a:chOff x="1192306" y="3428998"/>
              <a:chExt cx="6024282" cy="999567"/>
            </a:xfrm>
          </p:grpSpPr>
          <p:sp>
            <p:nvSpPr>
              <p:cNvPr id="7" name="Rectangle 6">
                <a:extLst>
                  <a:ext uri="{FF2B5EF4-FFF2-40B4-BE49-F238E27FC236}">
                    <a16:creationId xmlns:a16="http://schemas.microsoft.com/office/drawing/2014/main" id="{1C512C81-3C2F-B962-07E7-1258BE91DD80}"/>
                  </a:ext>
                </a:extLst>
              </p:cNvPr>
              <p:cNvSpPr/>
              <p:nvPr/>
            </p:nvSpPr>
            <p:spPr>
              <a:xfrm>
                <a:off x="1192306" y="3429000"/>
                <a:ext cx="1004047" cy="999565"/>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7">
                <a:extLst>
                  <a:ext uri="{FF2B5EF4-FFF2-40B4-BE49-F238E27FC236}">
                    <a16:creationId xmlns:a16="http://schemas.microsoft.com/office/drawing/2014/main" id="{1CE105C7-D21C-8E21-EB41-AF6B150C7EC8}"/>
                  </a:ext>
                </a:extLst>
              </p:cNvPr>
              <p:cNvSpPr/>
              <p:nvPr/>
            </p:nvSpPr>
            <p:spPr>
              <a:xfrm>
                <a:off x="2196353" y="3428999"/>
                <a:ext cx="1004047" cy="999565"/>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Rectangle 8">
                <a:extLst>
                  <a:ext uri="{FF2B5EF4-FFF2-40B4-BE49-F238E27FC236}">
                    <a16:creationId xmlns:a16="http://schemas.microsoft.com/office/drawing/2014/main" id="{1ADA8545-9A50-6AC5-E268-8DB80291905A}"/>
                  </a:ext>
                </a:extLst>
              </p:cNvPr>
              <p:cNvSpPr/>
              <p:nvPr/>
            </p:nvSpPr>
            <p:spPr>
              <a:xfrm>
                <a:off x="3200400" y="3428999"/>
                <a:ext cx="1004047" cy="999565"/>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Rectangle 9">
                <a:extLst>
                  <a:ext uri="{FF2B5EF4-FFF2-40B4-BE49-F238E27FC236}">
                    <a16:creationId xmlns:a16="http://schemas.microsoft.com/office/drawing/2014/main" id="{788F7401-8FFF-94A6-04D9-9233AA00B077}"/>
                  </a:ext>
                </a:extLst>
              </p:cNvPr>
              <p:cNvSpPr/>
              <p:nvPr/>
            </p:nvSpPr>
            <p:spPr>
              <a:xfrm>
                <a:off x="4204447" y="3428999"/>
                <a:ext cx="1004047" cy="999565"/>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Rectangle 10">
                <a:extLst>
                  <a:ext uri="{FF2B5EF4-FFF2-40B4-BE49-F238E27FC236}">
                    <a16:creationId xmlns:a16="http://schemas.microsoft.com/office/drawing/2014/main" id="{17296754-A3A5-5BB0-2FCB-08022FFC6AFC}"/>
                  </a:ext>
                </a:extLst>
              </p:cNvPr>
              <p:cNvSpPr/>
              <p:nvPr/>
            </p:nvSpPr>
            <p:spPr>
              <a:xfrm>
                <a:off x="5208494" y="3428999"/>
                <a:ext cx="1004047" cy="999565"/>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Rectangle 11">
                <a:extLst>
                  <a:ext uri="{FF2B5EF4-FFF2-40B4-BE49-F238E27FC236}">
                    <a16:creationId xmlns:a16="http://schemas.microsoft.com/office/drawing/2014/main" id="{71666627-A4A4-88D9-4174-6778956AA43D}"/>
                  </a:ext>
                </a:extLst>
              </p:cNvPr>
              <p:cNvSpPr/>
              <p:nvPr/>
            </p:nvSpPr>
            <p:spPr>
              <a:xfrm>
                <a:off x="6212541" y="3428998"/>
                <a:ext cx="1004047" cy="999565"/>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grpSp>
          <p:nvGrpSpPr>
            <p:cNvPr id="14" name="Group 13">
              <a:extLst>
                <a:ext uri="{FF2B5EF4-FFF2-40B4-BE49-F238E27FC236}">
                  <a16:creationId xmlns:a16="http://schemas.microsoft.com/office/drawing/2014/main" id="{B3D66857-64CB-269C-D7A8-322A93DBE38F}"/>
                </a:ext>
              </a:extLst>
            </p:cNvPr>
            <p:cNvGrpSpPr/>
            <p:nvPr/>
          </p:nvGrpSpPr>
          <p:grpSpPr>
            <a:xfrm>
              <a:off x="1192306" y="4428563"/>
              <a:ext cx="6024282" cy="999567"/>
              <a:chOff x="1192306" y="3428998"/>
              <a:chExt cx="6024282" cy="999567"/>
            </a:xfrm>
          </p:grpSpPr>
          <p:sp>
            <p:nvSpPr>
              <p:cNvPr id="15" name="Rectangle 14">
                <a:extLst>
                  <a:ext uri="{FF2B5EF4-FFF2-40B4-BE49-F238E27FC236}">
                    <a16:creationId xmlns:a16="http://schemas.microsoft.com/office/drawing/2014/main" id="{81FB3E66-209F-DA00-AB34-D37F5A37A9C3}"/>
                  </a:ext>
                </a:extLst>
              </p:cNvPr>
              <p:cNvSpPr/>
              <p:nvPr/>
            </p:nvSpPr>
            <p:spPr>
              <a:xfrm>
                <a:off x="1192306" y="3429000"/>
                <a:ext cx="1004047" cy="999565"/>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Rectangle 15">
                <a:extLst>
                  <a:ext uri="{FF2B5EF4-FFF2-40B4-BE49-F238E27FC236}">
                    <a16:creationId xmlns:a16="http://schemas.microsoft.com/office/drawing/2014/main" id="{362DAFC3-FC21-33A2-014E-C5739D07432A}"/>
                  </a:ext>
                </a:extLst>
              </p:cNvPr>
              <p:cNvSpPr/>
              <p:nvPr/>
            </p:nvSpPr>
            <p:spPr>
              <a:xfrm>
                <a:off x="2196353" y="3428999"/>
                <a:ext cx="1004047" cy="999565"/>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16">
                <a:extLst>
                  <a:ext uri="{FF2B5EF4-FFF2-40B4-BE49-F238E27FC236}">
                    <a16:creationId xmlns:a16="http://schemas.microsoft.com/office/drawing/2014/main" id="{3D4C7085-FDDC-59A6-1481-C7227D4909E6}"/>
                  </a:ext>
                </a:extLst>
              </p:cNvPr>
              <p:cNvSpPr/>
              <p:nvPr/>
            </p:nvSpPr>
            <p:spPr>
              <a:xfrm>
                <a:off x="3200400" y="3428999"/>
                <a:ext cx="1004047" cy="999565"/>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17">
                <a:extLst>
                  <a:ext uri="{FF2B5EF4-FFF2-40B4-BE49-F238E27FC236}">
                    <a16:creationId xmlns:a16="http://schemas.microsoft.com/office/drawing/2014/main" id="{B8FE1AF8-E75F-AAFF-31D5-F8C7F091DD61}"/>
                  </a:ext>
                </a:extLst>
              </p:cNvPr>
              <p:cNvSpPr/>
              <p:nvPr/>
            </p:nvSpPr>
            <p:spPr>
              <a:xfrm>
                <a:off x="4204447" y="3428999"/>
                <a:ext cx="1004047" cy="999565"/>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8">
                <a:extLst>
                  <a:ext uri="{FF2B5EF4-FFF2-40B4-BE49-F238E27FC236}">
                    <a16:creationId xmlns:a16="http://schemas.microsoft.com/office/drawing/2014/main" id="{E7D614B7-D9BD-51D9-02F4-B732CF651384}"/>
                  </a:ext>
                </a:extLst>
              </p:cNvPr>
              <p:cNvSpPr/>
              <p:nvPr/>
            </p:nvSpPr>
            <p:spPr>
              <a:xfrm>
                <a:off x="5208494" y="3428999"/>
                <a:ext cx="1004047" cy="999565"/>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Rectangle 19">
                <a:extLst>
                  <a:ext uri="{FF2B5EF4-FFF2-40B4-BE49-F238E27FC236}">
                    <a16:creationId xmlns:a16="http://schemas.microsoft.com/office/drawing/2014/main" id="{AC8DA747-9365-02F2-3D3B-EB62A241950F}"/>
                  </a:ext>
                </a:extLst>
              </p:cNvPr>
              <p:cNvSpPr/>
              <p:nvPr/>
            </p:nvSpPr>
            <p:spPr>
              <a:xfrm>
                <a:off x="6212541" y="3428998"/>
                <a:ext cx="1004047" cy="999565"/>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grpSp>
          <p:nvGrpSpPr>
            <p:cNvPr id="21" name="Group 20">
              <a:extLst>
                <a:ext uri="{FF2B5EF4-FFF2-40B4-BE49-F238E27FC236}">
                  <a16:creationId xmlns:a16="http://schemas.microsoft.com/office/drawing/2014/main" id="{EFD52353-1EF8-3FD0-A580-3F04456DC336}"/>
                </a:ext>
              </a:extLst>
            </p:cNvPr>
            <p:cNvGrpSpPr/>
            <p:nvPr/>
          </p:nvGrpSpPr>
          <p:grpSpPr>
            <a:xfrm>
              <a:off x="1192306" y="5428126"/>
              <a:ext cx="6024282" cy="999567"/>
              <a:chOff x="1192306" y="3428998"/>
              <a:chExt cx="6024282" cy="999567"/>
            </a:xfrm>
          </p:grpSpPr>
          <p:sp>
            <p:nvSpPr>
              <p:cNvPr id="22" name="Rectangle 21">
                <a:extLst>
                  <a:ext uri="{FF2B5EF4-FFF2-40B4-BE49-F238E27FC236}">
                    <a16:creationId xmlns:a16="http://schemas.microsoft.com/office/drawing/2014/main" id="{6CFB6C7F-1D55-CF4E-FF9F-C5679D69582D}"/>
                  </a:ext>
                </a:extLst>
              </p:cNvPr>
              <p:cNvSpPr/>
              <p:nvPr/>
            </p:nvSpPr>
            <p:spPr>
              <a:xfrm>
                <a:off x="1192306" y="3429000"/>
                <a:ext cx="1004047" cy="999565"/>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3" name="Rectangle 22">
                <a:extLst>
                  <a:ext uri="{FF2B5EF4-FFF2-40B4-BE49-F238E27FC236}">
                    <a16:creationId xmlns:a16="http://schemas.microsoft.com/office/drawing/2014/main" id="{4AA081C1-7F5F-C335-258E-77921CD8F918}"/>
                  </a:ext>
                </a:extLst>
              </p:cNvPr>
              <p:cNvSpPr/>
              <p:nvPr/>
            </p:nvSpPr>
            <p:spPr>
              <a:xfrm>
                <a:off x="2196353" y="3428999"/>
                <a:ext cx="1004047" cy="999565"/>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Rectangle 23">
                <a:extLst>
                  <a:ext uri="{FF2B5EF4-FFF2-40B4-BE49-F238E27FC236}">
                    <a16:creationId xmlns:a16="http://schemas.microsoft.com/office/drawing/2014/main" id="{1A000501-A9CA-0DA2-2C05-3A775CAC347F}"/>
                  </a:ext>
                </a:extLst>
              </p:cNvPr>
              <p:cNvSpPr/>
              <p:nvPr/>
            </p:nvSpPr>
            <p:spPr>
              <a:xfrm>
                <a:off x="3200400" y="3428999"/>
                <a:ext cx="1004047" cy="999565"/>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Rectangle 24">
                <a:extLst>
                  <a:ext uri="{FF2B5EF4-FFF2-40B4-BE49-F238E27FC236}">
                    <a16:creationId xmlns:a16="http://schemas.microsoft.com/office/drawing/2014/main" id="{5140E38E-E5DC-6912-C76D-2CD2BE5FEA9E}"/>
                  </a:ext>
                </a:extLst>
              </p:cNvPr>
              <p:cNvSpPr/>
              <p:nvPr/>
            </p:nvSpPr>
            <p:spPr>
              <a:xfrm>
                <a:off x="4204447" y="3428999"/>
                <a:ext cx="1004047" cy="999565"/>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Rectangle 25">
                <a:extLst>
                  <a:ext uri="{FF2B5EF4-FFF2-40B4-BE49-F238E27FC236}">
                    <a16:creationId xmlns:a16="http://schemas.microsoft.com/office/drawing/2014/main" id="{FFC36428-628B-B887-1AD8-F2F7A9AEBC44}"/>
                  </a:ext>
                </a:extLst>
              </p:cNvPr>
              <p:cNvSpPr/>
              <p:nvPr/>
            </p:nvSpPr>
            <p:spPr>
              <a:xfrm>
                <a:off x="5208494" y="3428999"/>
                <a:ext cx="1004047" cy="999565"/>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 name="Rectangle 26">
                <a:extLst>
                  <a:ext uri="{FF2B5EF4-FFF2-40B4-BE49-F238E27FC236}">
                    <a16:creationId xmlns:a16="http://schemas.microsoft.com/office/drawing/2014/main" id="{0A3E3833-2F42-0B3D-AC5D-260296DA2C99}"/>
                  </a:ext>
                </a:extLst>
              </p:cNvPr>
              <p:cNvSpPr/>
              <p:nvPr/>
            </p:nvSpPr>
            <p:spPr>
              <a:xfrm>
                <a:off x="6212541" y="3428998"/>
                <a:ext cx="1004047" cy="999565"/>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gr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pic>
        <p:nvPicPr>
          <p:cNvPr id="3" name="Picture 2" descr="image of a clipboard with a pencil recording short answer responses">
            <a:extLst>
              <a:ext uri="{FF2B5EF4-FFF2-40B4-BE49-F238E27FC236}">
                <a16:creationId xmlns:a16="http://schemas.microsoft.com/office/drawing/2014/main" id="{850D1A9D-F8AF-AA84-34F9-CCDC3026C740}"/>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4" name="TextBox 3">
            <a:extLst>
              <a:ext uri="{FF2B5EF4-FFF2-40B4-BE49-F238E27FC236}">
                <a16:creationId xmlns:a16="http://schemas.microsoft.com/office/drawing/2014/main" id="{08F670A1-3E34-DA2B-2B8D-DF3F9368743A}"/>
              </a:ext>
            </a:extLst>
          </p:cNvPr>
          <p:cNvSpPr txBox="1"/>
          <p:nvPr/>
        </p:nvSpPr>
        <p:spPr>
          <a:xfrm>
            <a:off x="573741" y="1184223"/>
            <a:ext cx="11044517" cy="6060826"/>
          </a:xfrm>
          <a:prstGeom prst="rect">
            <a:avLst/>
          </a:prstGeom>
          <a:noFill/>
        </p:spPr>
        <p:txBody>
          <a:bodyPr wrap="square">
            <a:spAutoFit/>
          </a:bodyPr>
          <a:lstStyle/>
          <a:p>
            <a:pPr algn="ctr">
              <a:lnSpc>
                <a:spcPct val="150000"/>
              </a:lnSpc>
            </a:pPr>
            <a:r>
              <a:rPr lang="en-AU" sz="4400">
                <a:effectLst/>
                <a:latin typeface="Arial" panose="020B0604020202020204" pitchFamily="34" charset="0"/>
                <a:ea typeface="Calibri" panose="020F0502020204030204" pitchFamily="34" charset="0"/>
              </a:rPr>
              <a:t>It’s morning and an </a:t>
            </a:r>
            <a:r>
              <a:rPr lang="en-AU" sz="4400" b="1" err="1">
                <a:effectLst/>
                <a:latin typeface="Arial" panose="020B0604020202020204" pitchFamily="34" charset="0"/>
                <a:ea typeface="Calibri" panose="020F0502020204030204" pitchFamily="34" charset="0"/>
              </a:rPr>
              <a:t>analog</a:t>
            </a:r>
            <a:r>
              <a:rPr lang="en-AU" sz="4400" b="1">
                <a:effectLst/>
                <a:latin typeface="Arial" panose="020B0604020202020204" pitchFamily="34" charset="0"/>
                <a:ea typeface="Calibri" panose="020F0502020204030204" pitchFamily="34" charset="0"/>
              </a:rPr>
              <a:t> clock </a:t>
            </a:r>
            <a:r>
              <a:rPr lang="en-AU" sz="4400">
                <a:effectLst/>
                <a:latin typeface="Arial" panose="020B0604020202020204" pitchFamily="34" charset="0"/>
                <a:ea typeface="Calibri" panose="020F0502020204030204" pitchFamily="34" charset="0"/>
              </a:rPr>
              <a:t>has the </a:t>
            </a:r>
            <a:r>
              <a:rPr lang="en-AU" sz="4400" b="1">
                <a:effectLst/>
                <a:latin typeface="Arial" panose="020B0604020202020204" pitchFamily="34" charset="0"/>
                <a:ea typeface="Calibri" panose="020F0502020204030204" pitchFamily="34" charset="0"/>
              </a:rPr>
              <a:t>minute hand </a:t>
            </a:r>
            <a:r>
              <a:rPr lang="en-AU" sz="4400">
                <a:effectLst/>
                <a:latin typeface="Arial" panose="020B0604020202020204" pitchFamily="34" charset="0"/>
                <a:ea typeface="Calibri" panose="020F0502020204030204" pitchFamily="34" charset="0"/>
              </a:rPr>
              <a:t>pointing to the </a:t>
            </a:r>
            <a:r>
              <a:rPr lang="en-AU" sz="4400" b="1">
                <a:effectLst/>
                <a:latin typeface="Arial" panose="020B0604020202020204" pitchFamily="34" charset="0"/>
                <a:ea typeface="Calibri" panose="020F0502020204030204" pitchFamily="34" charset="0"/>
              </a:rPr>
              <a:t>2,</a:t>
            </a:r>
            <a:r>
              <a:rPr lang="en-AU" sz="4400">
                <a:effectLst/>
                <a:latin typeface="Arial" panose="020B0604020202020204" pitchFamily="34" charset="0"/>
                <a:ea typeface="Calibri" panose="020F0502020204030204" pitchFamily="34" charset="0"/>
              </a:rPr>
              <a:t> with the </a:t>
            </a:r>
            <a:r>
              <a:rPr lang="en-AU" sz="4400" b="1">
                <a:effectLst/>
                <a:latin typeface="Arial" panose="020B0604020202020204" pitchFamily="34" charset="0"/>
                <a:ea typeface="Calibri" panose="020F0502020204030204" pitchFamily="34" charset="0"/>
              </a:rPr>
              <a:t>hour hand</a:t>
            </a:r>
            <a:r>
              <a:rPr lang="en-AU" sz="4400">
                <a:effectLst/>
                <a:latin typeface="Arial" panose="020B0604020202020204" pitchFamily="34" charset="0"/>
                <a:ea typeface="Calibri" panose="020F0502020204030204" pitchFamily="34" charset="0"/>
              </a:rPr>
              <a:t> pointing to just after the </a:t>
            </a:r>
            <a:r>
              <a:rPr lang="en-AU" sz="4400" b="1">
                <a:effectLst/>
                <a:latin typeface="Arial" panose="020B0604020202020204" pitchFamily="34" charset="0"/>
                <a:ea typeface="Calibri" panose="020F0502020204030204" pitchFamily="34" charset="0"/>
              </a:rPr>
              <a:t>10</a:t>
            </a:r>
            <a:r>
              <a:rPr lang="en-AU" sz="4400">
                <a:effectLst/>
                <a:latin typeface="Arial" panose="020B0604020202020204" pitchFamily="34" charset="0"/>
                <a:ea typeface="Calibri" panose="020F0502020204030204" pitchFamily="34" charset="0"/>
              </a:rPr>
              <a:t>. </a:t>
            </a:r>
          </a:p>
          <a:p>
            <a:pPr algn="ctr">
              <a:lnSpc>
                <a:spcPct val="150000"/>
              </a:lnSpc>
            </a:pPr>
            <a:r>
              <a:rPr lang="en-AU" sz="4400" b="1">
                <a:effectLst/>
                <a:latin typeface="Arial" panose="020B0604020202020204" pitchFamily="34" charset="0"/>
                <a:ea typeface="Calibri" panose="020F0502020204030204" pitchFamily="34" charset="0"/>
              </a:rPr>
              <a:t>What is the time? </a:t>
            </a:r>
            <a:br>
              <a:rPr lang="en-AU" sz="4400" b="1">
                <a:effectLst/>
                <a:latin typeface="Arial" panose="020B0604020202020204" pitchFamily="34" charset="0"/>
                <a:ea typeface="Calibri" panose="020F0502020204030204" pitchFamily="34" charset="0"/>
              </a:rPr>
            </a:br>
            <a:r>
              <a:rPr lang="en-AU" sz="4400">
                <a:effectLst/>
                <a:latin typeface="Arial" panose="020B0604020202020204" pitchFamily="34" charset="0"/>
                <a:ea typeface="Calibri" panose="020F0502020204030204" pitchFamily="34" charset="0"/>
              </a:rPr>
              <a:t>Record your answer in </a:t>
            </a:r>
            <a:r>
              <a:rPr lang="en-AU" sz="4400" b="1">
                <a:effectLst/>
                <a:latin typeface="Arial" panose="020B0604020202020204" pitchFamily="34" charset="0"/>
                <a:ea typeface="Calibri" panose="020F0502020204030204" pitchFamily="34" charset="0"/>
              </a:rPr>
              <a:t>24-hour time</a:t>
            </a:r>
            <a:r>
              <a:rPr lang="en-AU" sz="4400">
                <a:effectLst/>
                <a:latin typeface="Arial" panose="020B0604020202020204" pitchFamily="34" charset="0"/>
                <a:ea typeface="Calibri" panose="020F0502020204030204" pitchFamily="34" charset="0"/>
              </a:rPr>
              <a:t>.</a:t>
            </a:r>
          </a:p>
          <a:p>
            <a:pPr algn="ctr">
              <a:lnSpc>
                <a:spcPct val="150000"/>
              </a:lnSpc>
            </a:pPr>
            <a:endParaRPr lang="en-AU" sz="4400"/>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make connections between benchmark fractions, decimals and percentages </a:t>
            </a:r>
            <a:r>
              <a:rPr lang="en-AU">
                <a:solidFill>
                  <a:schemeClr val="bg1"/>
                </a:solidFill>
              </a:rPr>
              <a:t>(2)</a:t>
            </a:r>
          </a:p>
        </p:txBody>
      </p:sp>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pic>
        <p:nvPicPr>
          <p:cNvPr id="4" name="Picture 3" descr="image of a head with cogs turning inside">
            <a:extLst>
              <a:ext uri="{FF2B5EF4-FFF2-40B4-BE49-F238E27FC236}">
                <a16:creationId xmlns:a16="http://schemas.microsoft.com/office/drawing/2014/main" id="{2307795C-5521-91B9-C866-EC547ED62852}"/>
              </a:ext>
            </a:extLst>
          </p:cNvPr>
          <p:cNvPicPr>
            <a:picLocks noChangeAspect="1"/>
          </p:cNvPicPr>
          <p:nvPr/>
        </p:nvPicPr>
        <p:blipFill>
          <a:blip r:embed="rId3"/>
          <a:stretch>
            <a:fillRect/>
          </a:stretch>
        </p:blipFill>
        <p:spPr>
          <a:xfrm>
            <a:off x="11107003" y="240894"/>
            <a:ext cx="720000" cy="856364"/>
          </a:xfrm>
          <a:prstGeom prst="rect">
            <a:avLst/>
          </a:prstGeom>
          <a:ln>
            <a:noFill/>
          </a:ln>
        </p:spPr>
      </p:pic>
      <p:pic>
        <p:nvPicPr>
          <p:cNvPr id="3" name="Picture 2" descr="A number line from 0 to 1. The numbers -1, -0.500, -0.100, 0, 0.750 and 1 are marked underneath the number line. Three other marks have post it notes above labelled A, B and C.">
            <a:extLst>
              <a:ext uri="{FF2B5EF4-FFF2-40B4-BE49-F238E27FC236}">
                <a16:creationId xmlns:a16="http://schemas.microsoft.com/office/drawing/2014/main" id="{768DE509-5658-1C4E-E00B-CC4EFF9A760B}"/>
              </a:ext>
            </a:extLst>
          </p:cNvPr>
          <p:cNvPicPr>
            <a:picLocks noChangeAspect="1"/>
          </p:cNvPicPr>
          <p:nvPr/>
        </p:nvPicPr>
        <p:blipFill>
          <a:blip r:embed="rId4"/>
          <a:stretch>
            <a:fillRect/>
          </a:stretch>
        </p:blipFill>
        <p:spPr>
          <a:xfrm rot="5400000">
            <a:off x="3956706" y="-1371733"/>
            <a:ext cx="4099610" cy="10598795"/>
          </a:xfrm>
          <a:prstGeom prst="rect">
            <a:avLst/>
          </a:prstGeom>
        </p:spPr>
      </p:pic>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30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31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8F811F-90F9-6EF5-D718-C527F19B166A}"/>
              </a:ext>
            </a:extLst>
          </p:cNvPr>
          <p:cNvSpPr>
            <a:spLocks noGrp="1"/>
          </p:cNvSpPr>
          <p:nvPr>
            <p:ph type="sldNum" sz="quarter" idx="12"/>
          </p:nvPr>
        </p:nvSpPr>
        <p:spPr/>
        <p:txBody>
          <a:bodyPr/>
          <a:lstStyle/>
          <a:p>
            <a:fld id="{10A01DC5-1685-4615-8240-15192985C6A2}" type="slidenum">
              <a:rPr lang="en-AU" smtClean="0"/>
              <a:t>35</a:t>
            </a:fld>
            <a:endParaRPr lang="en-AU"/>
          </a:p>
        </p:txBody>
      </p:sp>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E470CA-37B9-5866-8D09-298FF55EE989}"/>
              </a:ext>
            </a:extLst>
          </p:cNvPr>
          <p:cNvSpPr>
            <a:spLocks noGrp="1"/>
          </p:cNvSpPr>
          <p:nvPr>
            <p:ph type="sldNum" sz="quarter" idx="12"/>
          </p:nvPr>
        </p:nvSpPr>
        <p:spPr/>
        <p:txBody>
          <a:bodyPr/>
          <a:lstStyle/>
          <a:p>
            <a:fld id="{10A01DC5-1685-4615-8240-15192985C6A2}" type="slidenum">
              <a:rPr lang="en-AU" smtClean="0"/>
              <a:t>36</a:t>
            </a:fld>
            <a:endParaRPr lang="en-AU"/>
          </a:p>
        </p:txBody>
      </p:sp>
      <p:sp>
        <p:nvSpPr>
          <p:cNvPr id="3" name="Title 2">
            <a:extLst>
              <a:ext uri="{FF2B5EF4-FFF2-40B4-BE49-F238E27FC236}">
                <a16:creationId xmlns:a16="http://schemas.microsoft.com/office/drawing/2014/main" id="{293E9645-0D96-A57E-C0D8-3B2B5635236C}"/>
              </a:ext>
            </a:extLst>
          </p:cNvPr>
          <p:cNvSpPr>
            <a:spLocks noGrp="1"/>
          </p:cNvSpPr>
          <p:nvPr>
            <p:ph type="title"/>
          </p:nvPr>
        </p:nvSpPr>
        <p:spPr/>
        <p:txBody>
          <a:bodyPr/>
          <a:lstStyle/>
          <a:p>
            <a:r>
              <a:rPr lang="en-US"/>
              <a:t>Multiple choice </a:t>
            </a:r>
            <a:r>
              <a:rPr lang="en-US">
                <a:solidFill>
                  <a:schemeClr val="bg1"/>
                </a:solidFill>
              </a:rPr>
              <a:t>(6)</a:t>
            </a:r>
          </a:p>
        </p:txBody>
      </p:sp>
      <p:sp>
        <p:nvSpPr>
          <p:cNvPr id="14" name="Text Placeholder 13">
            <a:extLst>
              <a:ext uri="{FF2B5EF4-FFF2-40B4-BE49-F238E27FC236}">
                <a16:creationId xmlns:a16="http://schemas.microsoft.com/office/drawing/2014/main" id="{AB4F46E8-39CC-516C-AA47-44AFBB8D4DF4}"/>
              </a:ext>
            </a:extLst>
          </p:cNvPr>
          <p:cNvSpPr>
            <a:spLocks noGrp="1"/>
          </p:cNvSpPr>
          <p:nvPr>
            <p:ph type="body" sz="quarter" idx="27"/>
          </p:nvPr>
        </p:nvSpPr>
        <p:spPr>
          <a:xfrm>
            <a:off x="1345520" y="5425723"/>
            <a:ext cx="10175920" cy="641396"/>
          </a:xfrm>
        </p:spPr>
        <p:txBody>
          <a:bodyPr/>
          <a:lstStyle/>
          <a:p>
            <a:endParaRPr lang="en-US"/>
          </a:p>
        </p:txBody>
      </p:sp>
      <p:sp>
        <p:nvSpPr>
          <p:cNvPr id="15" name="Text Placeholder 14">
            <a:extLst>
              <a:ext uri="{FF2B5EF4-FFF2-40B4-BE49-F238E27FC236}">
                <a16:creationId xmlns:a16="http://schemas.microsoft.com/office/drawing/2014/main" id="{6B9A183C-33B3-4568-C43F-096BAC3A3E3A}"/>
              </a:ext>
            </a:extLst>
          </p:cNvPr>
          <p:cNvSpPr>
            <a:spLocks noGrp="1"/>
          </p:cNvSpPr>
          <p:nvPr>
            <p:ph type="body" sz="quarter" idx="28"/>
          </p:nvPr>
        </p:nvSpPr>
        <p:spPr>
          <a:xfrm>
            <a:off x="360000" y="1625945"/>
            <a:ext cx="11243037" cy="754243"/>
          </a:xfrm>
        </p:spPr>
        <p:txBody>
          <a:bodyPr/>
          <a:lstStyle/>
          <a:p>
            <a:endParaRPr lang="en-US"/>
          </a:p>
        </p:txBody>
      </p:sp>
      <p:sp>
        <p:nvSpPr>
          <p:cNvPr id="16" name="Text Placeholder 15">
            <a:extLst>
              <a:ext uri="{FF2B5EF4-FFF2-40B4-BE49-F238E27FC236}">
                <a16:creationId xmlns:a16="http://schemas.microsoft.com/office/drawing/2014/main" id="{E2AEB52E-AFAA-8A1C-4AC0-681B940D0160}"/>
              </a:ext>
            </a:extLst>
          </p:cNvPr>
          <p:cNvSpPr>
            <a:spLocks noGrp="1"/>
          </p:cNvSpPr>
          <p:nvPr>
            <p:ph type="body" sz="quarter" idx="29"/>
          </p:nvPr>
        </p:nvSpPr>
        <p:spPr>
          <a:xfrm>
            <a:off x="1345520" y="4575670"/>
            <a:ext cx="10175920" cy="641396"/>
          </a:xfrm>
        </p:spPr>
        <p:txBody>
          <a:bodyPr/>
          <a:lstStyle/>
          <a:p>
            <a:endParaRPr lang="en-US"/>
          </a:p>
        </p:txBody>
      </p:sp>
      <p:sp>
        <p:nvSpPr>
          <p:cNvPr id="17" name="Text Placeholder 16">
            <a:extLst>
              <a:ext uri="{FF2B5EF4-FFF2-40B4-BE49-F238E27FC236}">
                <a16:creationId xmlns:a16="http://schemas.microsoft.com/office/drawing/2014/main" id="{5E4A5EB3-F414-A07E-B091-A6903C289403}"/>
              </a:ext>
            </a:extLst>
          </p:cNvPr>
          <p:cNvSpPr>
            <a:spLocks noGrp="1"/>
          </p:cNvSpPr>
          <p:nvPr>
            <p:ph type="body" sz="quarter" idx="30"/>
          </p:nvPr>
        </p:nvSpPr>
        <p:spPr>
          <a:xfrm>
            <a:off x="1345520" y="3725617"/>
            <a:ext cx="10175920" cy="641396"/>
          </a:xfrm>
        </p:spPr>
        <p:txBody>
          <a:bodyPr/>
          <a:lstStyle/>
          <a:p>
            <a:endParaRPr lang="en-US"/>
          </a:p>
        </p:txBody>
      </p:sp>
      <p:sp>
        <p:nvSpPr>
          <p:cNvPr id="18" name="Text Placeholder 17">
            <a:extLst>
              <a:ext uri="{FF2B5EF4-FFF2-40B4-BE49-F238E27FC236}">
                <a16:creationId xmlns:a16="http://schemas.microsoft.com/office/drawing/2014/main" id="{DD9E4C8E-C942-2FA4-6AAC-B2B3D321FC2F}"/>
              </a:ext>
            </a:extLst>
          </p:cNvPr>
          <p:cNvSpPr>
            <a:spLocks noGrp="1"/>
          </p:cNvSpPr>
          <p:nvPr>
            <p:ph type="body" sz="quarter" idx="31"/>
          </p:nvPr>
        </p:nvSpPr>
        <p:spPr>
          <a:xfrm>
            <a:off x="1345520" y="2877704"/>
            <a:ext cx="10175920" cy="641396"/>
          </a:xfrm>
        </p:spPr>
        <p:txBody>
          <a:bodyPr/>
          <a:lstStyle/>
          <a:p>
            <a:endParaRPr lang="en-US"/>
          </a:p>
        </p:txBody>
      </p:sp>
      <p:sp>
        <p:nvSpPr>
          <p:cNvPr id="9" name="TextBox 8">
            <a:extLst>
              <a:ext uri="{FF2B5EF4-FFF2-40B4-BE49-F238E27FC236}">
                <a16:creationId xmlns:a16="http://schemas.microsoft.com/office/drawing/2014/main" id="{17539DAC-4E92-AFE5-86E8-50C88518EFA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33B1A6-4106-9E75-7645-88335BABE19D}"/>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28ADB1A3-D5FD-9EC3-BED8-5982F1544E0E}"/>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7E4BDDCB-88AF-EC45-6F07-05B50A0060D2}"/>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101963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37</a:t>
            </a:fld>
            <a:endParaRPr lang="en-AU"/>
          </a:p>
        </p:txBody>
      </p:sp>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a:lstStyle/>
          <a:p>
            <a:pPr algn="l" rtl="0" fontAlgn="base"/>
            <a:r>
              <a:rPr lang="en-AU" b="0" i="0" u="sng" strike="noStrike" dirty="0">
                <a:solidFill>
                  <a:srgbClr val="2F5496"/>
                </a:solidFill>
                <a:effectLst/>
                <a:latin typeface="Arial" panose="020B0604020202020204" pitchFamily="34" charset="0"/>
                <a:hlinkClick r:id="rId3"/>
              </a:rPr>
              <a:t>Mathematics K–10 Syllabus</a:t>
            </a:r>
            <a:r>
              <a:rPr lang="en-AU" b="0" i="0" dirty="0">
                <a:solidFill>
                  <a:srgbClr val="000000"/>
                </a:solidFill>
                <a:effectLst/>
                <a:latin typeface="Arial" panose="020B0604020202020204" pitchFamily="34" charset="0"/>
              </a:rPr>
              <a:t> © NSW Education Standards Authority (NESA) for and on behalf of the Crown in right of the State of New South Wales, 2022. </a:t>
            </a:r>
          </a:p>
          <a:p>
            <a:pPr algn="l" rtl="0" fontAlgn="base"/>
            <a:r>
              <a:rPr lang="en-AU" b="0" i="0" u="sng" strike="noStrike">
                <a:solidFill>
                  <a:srgbClr val="2F5496"/>
                </a:solidFill>
                <a:effectLst/>
                <a:latin typeface="Arial" panose="020B0604020202020204" pitchFamily="34" charset="0"/>
                <a:hlinkClick r:id="rId4"/>
              </a:rPr>
              <a:t>National Numeracy Learning Progression</a:t>
            </a:r>
            <a:r>
              <a:rPr lang="en-AU" b="0" i="0">
                <a:solidFill>
                  <a:srgbClr val="000000"/>
                </a:solidFill>
                <a:effectLst/>
                <a:latin typeface="Arial" panose="020B0604020202020204" pitchFamily="34" charset="0"/>
              </a:rPr>
              <a:t> © Australian Curriculum, Assessment and Reporting Authority (ACARA) 2010 to present, unless otherwise indicated. </a:t>
            </a:r>
            <a:r>
              <a:rPr lang="en-AU" b="0" i="0" dirty="0">
                <a:solidFill>
                  <a:srgbClr val="000000"/>
                </a:solidFill>
                <a:effectLst/>
                <a:latin typeface="Arial" panose="020B0604020202020204" pitchFamily="34" charset="0"/>
              </a:rPr>
              <a:t>This material was downloaded from the </a:t>
            </a:r>
            <a:r>
              <a:rPr lang="en-AU" b="0" i="0" u="sng" strike="noStrike" dirty="0">
                <a:solidFill>
                  <a:srgbClr val="2F5496"/>
                </a:solidFill>
                <a:effectLst/>
                <a:latin typeface="Arial" panose="020B0604020202020204" pitchFamily="34" charset="0"/>
                <a:hlinkClick r:id="rId5"/>
              </a:rPr>
              <a:t>Australian Curriculum</a:t>
            </a:r>
            <a:r>
              <a:rPr lang="en-AU" b="0" i="0" dirty="0">
                <a:solidFill>
                  <a:srgbClr val="000000"/>
                </a:solidFill>
                <a:effectLst/>
                <a:latin typeface="Arial" panose="020B0604020202020204" pitchFamily="34" charset="0"/>
              </a:rPr>
              <a:t> website (National Numeracy Learning Progression) (accessed 21 March 2024) and was not modified. </a:t>
            </a:r>
          </a:p>
          <a:p>
            <a:pPr algn="l" rtl="0" fontAlgn="base"/>
            <a:r>
              <a:rPr lang="en-AU" b="0" i="0" dirty="0">
                <a:solidFill>
                  <a:srgbClr val="000000"/>
                </a:solidFill>
                <a:effectLst/>
                <a:latin typeface="Arial" panose="020B0604020202020204" pitchFamily="34" charset="0"/>
              </a:rPr>
              <a:t>ABC (Australian Broadcasting Corporation) (20 October 2020) </a:t>
            </a:r>
            <a:r>
              <a:rPr lang="en-AU" b="0" i="0" u="sng" strike="noStrike" dirty="0">
                <a:solidFill>
                  <a:srgbClr val="2F5496"/>
                </a:solidFill>
                <a:effectLst/>
                <a:latin typeface="Arial" panose="020B0604020202020204" pitchFamily="34" charset="0"/>
                <a:hlinkClick r:id="rId6"/>
              </a:rPr>
              <a:t>'World Statistics Day' [video]</a:t>
            </a:r>
            <a:r>
              <a:rPr lang="en-AU" b="0" i="0" dirty="0">
                <a:solidFill>
                  <a:srgbClr val="000000"/>
                </a:solidFill>
                <a:effectLst/>
                <a:latin typeface="Arial" panose="020B0604020202020204" pitchFamily="34" charset="0"/>
              </a:rPr>
              <a:t>, </a:t>
            </a:r>
            <a:r>
              <a:rPr lang="en-AU" b="0" i="1" dirty="0">
                <a:solidFill>
                  <a:srgbClr val="000000"/>
                </a:solidFill>
                <a:effectLst/>
                <a:latin typeface="Arial" panose="020B0604020202020204" pitchFamily="34" charset="0"/>
              </a:rPr>
              <a:t>BTN (Behind the News)</a:t>
            </a:r>
            <a:r>
              <a:rPr lang="en-AU" b="0" i="0" dirty="0">
                <a:solidFill>
                  <a:srgbClr val="000000"/>
                </a:solidFill>
                <a:effectLst/>
                <a:latin typeface="Arial" panose="020B0604020202020204" pitchFamily="34" charset="0"/>
              </a:rPr>
              <a:t>, ABC website, accessed 30 April 2024. </a:t>
            </a:r>
          </a:p>
          <a:p>
            <a:pPr algn="l" rtl="0" fontAlgn="base"/>
            <a:r>
              <a:rPr lang="en-AU" b="0" i="0" dirty="0">
                <a:solidFill>
                  <a:srgbClr val="000000"/>
                </a:solidFill>
                <a:effectLst/>
                <a:latin typeface="Arial" panose="020B0604020202020204" pitchFamily="34" charset="0"/>
              </a:rPr>
              <a:t>Australian Academy of Science (2020) </a:t>
            </a:r>
            <a:r>
              <a:rPr lang="en-AU" b="0" i="1" u="sng" strike="noStrike" dirty="0">
                <a:solidFill>
                  <a:srgbClr val="2F5496"/>
                </a:solidFill>
                <a:effectLst/>
                <a:latin typeface="Arial" panose="020B0604020202020204" pitchFamily="34" charset="0"/>
                <a:hlinkClick r:id="rId7"/>
              </a:rPr>
              <a:t>Data: Making Decisions</a:t>
            </a:r>
            <a:r>
              <a:rPr lang="en-AU" b="0" i="0" dirty="0">
                <a:solidFill>
                  <a:srgbClr val="000000"/>
                </a:solidFill>
                <a:effectLst/>
                <a:latin typeface="Arial" panose="020B0604020202020204" pitchFamily="34" charset="0"/>
              </a:rPr>
              <a:t>, re(Solve): Maths by Inquiry website, accessed 26 March 2024. </a:t>
            </a:r>
          </a:p>
          <a:p>
            <a:pPr algn="l" rtl="0" fontAlgn="base"/>
            <a:r>
              <a:rPr lang="en-AU" b="0" i="0" dirty="0">
                <a:solidFill>
                  <a:srgbClr val="000000"/>
                </a:solidFill>
                <a:effectLst/>
                <a:latin typeface="Arial" panose="020B0604020202020204" pitchFamily="34" charset="0"/>
              </a:rPr>
              <a:t>ABS (Australian Bureau of Statistics) (1991) ‘</a:t>
            </a:r>
            <a:r>
              <a:rPr lang="en-AU" b="0" i="0" u="sng" strike="noStrike" dirty="0">
                <a:solidFill>
                  <a:srgbClr val="2F5496"/>
                </a:solidFill>
                <a:effectLst/>
                <a:latin typeface="Arial" panose="020B0604020202020204" pitchFamily="34" charset="0"/>
                <a:hlinkClick r:id="rId8"/>
              </a:rPr>
              <a:t>Census Characteristics of Australia: 1991 Census of Population and Housing</a:t>
            </a:r>
            <a:r>
              <a:rPr lang="en-AU" b="0" i="0" dirty="0">
                <a:solidFill>
                  <a:srgbClr val="000000"/>
                </a:solidFill>
                <a:effectLst/>
                <a:latin typeface="Arial" panose="020B0604020202020204" pitchFamily="34" charset="0"/>
              </a:rPr>
              <a:t>’, ABS, accessed 27 June 2024. </a:t>
            </a:r>
          </a:p>
          <a:p>
            <a:pPr algn="l" rtl="0" fontAlgn="base"/>
            <a:r>
              <a:rPr lang="en-AU" b="0" i="0" dirty="0">
                <a:solidFill>
                  <a:srgbClr val="000000"/>
                </a:solidFill>
                <a:effectLst/>
                <a:latin typeface="Arial" panose="020B0604020202020204" pitchFamily="34" charset="0"/>
              </a:rPr>
              <a:t>ABS (27 June 2017) </a:t>
            </a:r>
            <a:r>
              <a:rPr lang="en-AU" b="0" i="0" u="sng" strike="noStrike" dirty="0">
                <a:solidFill>
                  <a:srgbClr val="2F5496"/>
                </a:solidFill>
                <a:effectLst/>
                <a:latin typeface="Arial" panose="020B0604020202020204" pitchFamily="34" charset="0"/>
                <a:hlinkClick r:id="rId9"/>
              </a:rPr>
              <a:t>Census reveals a fast changing, culturally diverse nation</a:t>
            </a:r>
            <a:r>
              <a:rPr lang="en-AU" b="0" i="0" dirty="0">
                <a:solidFill>
                  <a:srgbClr val="000000"/>
                </a:solidFill>
                <a:effectLst/>
                <a:latin typeface="Arial" panose="020B0604020202020204" pitchFamily="34" charset="0"/>
              </a:rPr>
              <a:t> [media release], ABS, accessed 27 June 2024. </a:t>
            </a:r>
          </a:p>
          <a:p>
            <a:pPr algn="l" rtl="0" fontAlgn="base"/>
            <a:r>
              <a:rPr lang="en-AU" b="0" i="0" dirty="0">
                <a:solidFill>
                  <a:srgbClr val="000000"/>
                </a:solidFill>
                <a:effectLst/>
                <a:latin typeface="Arial" panose="020B0604020202020204" pitchFamily="34" charset="0"/>
              </a:rPr>
              <a:t>ABS (2021) </a:t>
            </a:r>
            <a:r>
              <a:rPr lang="en-AU" b="0" i="1" u="sng" strike="noStrike" dirty="0">
                <a:solidFill>
                  <a:srgbClr val="2F5496"/>
                </a:solidFill>
                <a:effectLst/>
                <a:latin typeface="Arial" panose="020B0604020202020204" pitchFamily="34" charset="0"/>
                <a:hlinkClick r:id="rId10"/>
              </a:rPr>
              <a:t>Cultural diversity: Census</a:t>
            </a:r>
            <a:r>
              <a:rPr lang="en-AU" b="0" i="0" dirty="0">
                <a:solidFill>
                  <a:srgbClr val="000000"/>
                </a:solidFill>
                <a:effectLst/>
                <a:latin typeface="Arial" panose="020B0604020202020204" pitchFamily="34" charset="0"/>
              </a:rPr>
              <a:t>, ABS webpage, accessed 27 June 2024. </a:t>
            </a:r>
          </a:p>
          <a:p>
            <a:pPr algn="l" rtl="0" fontAlgn="base"/>
            <a:endParaRPr lang="en-AU" b="0" i="0" dirty="0">
              <a:solidFill>
                <a:srgbClr val="000000"/>
              </a:solidFill>
              <a:effectLst/>
              <a:latin typeface="Arial" panose="020B0604020202020204" pitchFamily="34" charset="0"/>
            </a:endParaRPr>
          </a:p>
          <a:p>
            <a:pPr algn="l" rtl="0" fontAlgn="base"/>
            <a:endParaRPr lang="en-AU" b="0" i="0" dirty="0">
              <a:solidFill>
                <a:srgbClr val="000000"/>
              </a:solidFill>
              <a:effectLst/>
              <a:latin typeface="Arial" panose="020B0604020202020204" pitchFamily="34" charset="0"/>
            </a:endParaRP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11">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12">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13">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Tree>
    <p:extLst>
      <p:ext uri="{BB962C8B-B14F-4D97-AF65-F5344CB8AC3E}">
        <p14:creationId xmlns:p14="http://schemas.microsoft.com/office/powerpoint/2010/main" val="2359263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38</a:t>
            </a:fld>
            <a:endParaRPr lang="en-AU"/>
          </a:p>
        </p:txBody>
      </p:sp>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
        <p:nvSpPr>
          <p:cNvPr id="9" name="Content Placeholder 3">
            <a:extLst>
              <a:ext uri="{FF2B5EF4-FFF2-40B4-BE49-F238E27FC236}">
                <a16:creationId xmlns:a16="http://schemas.microsoft.com/office/drawing/2014/main" id="{BD4445EC-5A20-347E-F031-CDF8D902374C}"/>
              </a:ext>
            </a:extLst>
          </p:cNvPr>
          <p:cNvSpPr>
            <a:spLocks noGrp="1"/>
          </p:cNvSpPr>
          <p:nvPr>
            <p:ph idx="1"/>
          </p:nvPr>
        </p:nvSpPr>
        <p:spPr>
          <a:xfrm>
            <a:off x="323825" y="3291604"/>
            <a:ext cx="11484000" cy="2927351"/>
          </a:xfrm>
        </p:spPr>
        <p:txBody>
          <a:bodyPr vert="horz" lIns="0" tIns="0" rIns="0" bIns="0" rtlCol="0" anchor="t">
            <a:noAutofit/>
          </a:bodyPr>
          <a:lstStyle/>
          <a:p>
            <a:pPr algn="l" rtl="0" fontAlgn="base"/>
            <a:r>
              <a:rPr lang="en-AU" b="0" i="0" err="1">
                <a:solidFill>
                  <a:srgbClr val="000000"/>
                </a:solidFill>
                <a:effectLst/>
                <a:latin typeface="Arial" panose="020B0604020202020204" pitchFamily="34" charset="0"/>
              </a:rPr>
              <a:t>Gaslowitz</a:t>
            </a:r>
            <a:r>
              <a:rPr lang="en-AU" b="0" i="0">
                <a:solidFill>
                  <a:srgbClr val="000000"/>
                </a:solidFill>
                <a:effectLst/>
                <a:latin typeface="Arial" panose="020B0604020202020204" pitchFamily="34" charset="0"/>
              </a:rPr>
              <a:t> L (n.d.) ‘</a:t>
            </a:r>
            <a:r>
              <a:rPr lang="en-AU" b="0" i="0" u="sng" strike="noStrike">
                <a:solidFill>
                  <a:srgbClr val="2F5496"/>
                </a:solidFill>
                <a:effectLst/>
                <a:latin typeface="Arial" panose="020B0604020202020204" pitchFamily="34" charset="0"/>
                <a:hlinkClick r:id="rId6"/>
              </a:rPr>
              <a:t>How to spot a misleading graph – Lea </a:t>
            </a:r>
            <a:r>
              <a:rPr lang="en-AU" b="0" i="0" u="sng" strike="noStrike" err="1">
                <a:solidFill>
                  <a:srgbClr val="2F5496"/>
                </a:solidFill>
                <a:effectLst/>
                <a:latin typeface="Arial" panose="020B0604020202020204" pitchFamily="34" charset="0"/>
                <a:hlinkClick r:id="rId6"/>
              </a:rPr>
              <a:t>Gaslowitz</a:t>
            </a:r>
            <a:r>
              <a:rPr lang="en-AU" b="0" i="0">
                <a:solidFill>
                  <a:srgbClr val="000000"/>
                </a:solidFill>
                <a:effectLst/>
                <a:latin typeface="Arial" panose="020B0604020202020204" pitchFamily="34" charset="0"/>
              </a:rPr>
              <a:t>’, </a:t>
            </a:r>
            <a:r>
              <a:rPr lang="en-AU" b="0" i="1">
                <a:solidFill>
                  <a:srgbClr val="000000"/>
                </a:solidFill>
                <a:effectLst/>
                <a:latin typeface="Arial" panose="020B0604020202020204" pitchFamily="34" charset="0"/>
              </a:rPr>
              <a:t>Lessons</a:t>
            </a:r>
            <a:r>
              <a:rPr lang="en-AU" b="0" i="0">
                <a:solidFill>
                  <a:srgbClr val="000000"/>
                </a:solidFill>
                <a:effectLst/>
                <a:latin typeface="Arial" panose="020B0604020202020204" pitchFamily="34" charset="0"/>
              </a:rPr>
              <a:t>, TED-Ed website, accessed 4 April 2024. </a:t>
            </a:r>
          </a:p>
          <a:p>
            <a:pPr algn="l" rtl="0" fontAlgn="base"/>
            <a:r>
              <a:rPr lang="en-AU" b="0" i="0">
                <a:solidFill>
                  <a:srgbClr val="000000"/>
                </a:solidFill>
                <a:effectLst/>
                <a:latin typeface="Arial" panose="020B0604020202020204" pitchFamily="34" charset="0"/>
              </a:rPr>
              <a:t>NESA (NSW Education Standards Authority) (2022) ‘</a:t>
            </a:r>
            <a:r>
              <a:rPr lang="en-AU" b="0" i="0" u="sng" strike="noStrike">
                <a:solidFill>
                  <a:srgbClr val="2F5496"/>
                </a:solidFill>
                <a:effectLst/>
                <a:latin typeface="Arial" panose="020B0604020202020204" pitchFamily="34" charset="0"/>
                <a:hlinkClick r:id="rId7"/>
              </a:rPr>
              <a:t>Glossary</a:t>
            </a:r>
            <a:r>
              <a:rPr lang="en-AU" b="0" i="0">
                <a:solidFill>
                  <a:srgbClr val="000000"/>
                </a:solidFill>
                <a:effectLst/>
                <a:latin typeface="Arial" panose="020B0604020202020204" pitchFamily="34" charset="0"/>
              </a:rPr>
              <a:t>’, </a:t>
            </a:r>
            <a:r>
              <a:rPr lang="en-AU" b="0" i="1">
                <a:solidFill>
                  <a:srgbClr val="000000"/>
                </a:solidFill>
                <a:effectLst/>
                <a:latin typeface="Arial" panose="020B0604020202020204" pitchFamily="34" charset="0"/>
              </a:rPr>
              <a:t>Mathematics K–10 Syllabus</a:t>
            </a:r>
            <a:r>
              <a:rPr lang="en-AU" b="0" i="0">
                <a:solidFill>
                  <a:srgbClr val="000000"/>
                </a:solidFill>
                <a:effectLst/>
                <a:latin typeface="Arial" panose="020B0604020202020204" pitchFamily="34" charset="0"/>
              </a:rPr>
              <a:t>, NESA website, accessed 12 July 2024. </a:t>
            </a:r>
          </a:p>
          <a:p>
            <a:pPr algn="l" rtl="0" fontAlgn="base"/>
            <a:r>
              <a:rPr lang="en-AU" b="0" i="0">
                <a:solidFill>
                  <a:srgbClr val="000000"/>
                </a:solidFill>
                <a:effectLst/>
                <a:latin typeface="Arial"/>
                <a:cs typeface="Arial"/>
              </a:rPr>
              <a:t>New Zealand Ministry of Education </a:t>
            </a:r>
            <a:r>
              <a:rPr lang="en-AU" b="0" i="0">
                <a:effectLst/>
                <a:latin typeface="Arial"/>
                <a:cs typeface="Arial"/>
              </a:rPr>
              <a:t>(n.d.) ‘</a:t>
            </a:r>
            <a:r>
              <a:rPr lang="en-AU" b="0" i="0" u="sng" strike="noStrike">
                <a:effectLst/>
                <a:latin typeface="Arial"/>
                <a:cs typeface="Arial"/>
              </a:rPr>
              <a:t>Greedy Pig</a:t>
            </a:r>
            <a:r>
              <a:rPr lang="en-AU" b="0" i="0">
                <a:effectLst/>
                <a:latin typeface="Arial"/>
                <a:cs typeface="Arial"/>
              </a:rPr>
              <a:t>’, </a:t>
            </a:r>
            <a:r>
              <a:rPr lang="en-AU" b="0" i="1">
                <a:effectLst/>
                <a:latin typeface="Arial"/>
                <a:cs typeface="Arial"/>
              </a:rPr>
              <a:t>Res</a:t>
            </a:r>
            <a:r>
              <a:rPr lang="en-AU" b="0" i="1">
                <a:solidFill>
                  <a:srgbClr val="000000"/>
                </a:solidFill>
                <a:effectLst/>
                <a:latin typeface="Arial"/>
                <a:cs typeface="Arial"/>
              </a:rPr>
              <a:t>ource Finder</a:t>
            </a:r>
            <a:r>
              <a:rPr lang="en-AU" b="0" i="0">
                <a:solidFill>
                  <a:srgbClr val="000000"/>
                </a:solidFill>
                <a:effectLst/>
                <a:latin typeface="Arial"/>
                <a:cs typeface="Arial"/>
              </a:rPr>
              <a:t>, NZ Maths website, accessed 3 April 2024. </a:t>
            </a:r>
          </a:p>
          <a:p>
            <a:pPr algn="l" rtl="0" fontAlgn="base"/>
            <a:r>
              <a:rPr lang="en-AU" b="0" i="0">
                <a:solidFill>
                  <a:srgbClr val="000000"/>
                </a:solidFill>
                <a:effectLst/>
                <a:latin typeface="Arial" panose="020B0604020202020204" pitchFamily="34" charset="0"/>
              </a:rPr>
              <a:t>Russo T (19 August 2020) </a:t>
            </a:r>
            <a:r>
              <a:rPr lang="en-AU" b="0" i="0" u="sng" strike="noStrike">
                <a:solidFill>
                  <a:srgbClr val="2F5496"/>
                </a:solidFill>
                <a:effectLst/>
                <a:latin typeface="Arial" panose="020B0604020202020204" pitchFamily="34" charset="0"/>
                <a:hlinkClick r:id="rId8"/>
              </a:rPr>
              <a:t>'The King’s Tax Maths Game' [video]</a:t>
            </a:r>
            <a:r>
              <a:rPr lang="en-AU" b="0" i="0">
                <a:solidFill>
                  <a:srgbClr val="000000"/>
                </a:solidFill>
                <a:effectLst/>
                <a:latin typeface="Arial" panose="020B0604020202020204" pitchFamily="34" charset="0"/>
              </a:rPr>
              <a:t>, </a:t>
            </a:r>
            <a:r>
              <a:rPr lang="en-AU" b="0" i="1">
                <a:solidFill>
                  <a:srgbClr val="000000"/>
                </a:solidFill>
                <a:effectLst/>
                <a:latin typeface="Arial" panose="020B0604020202020204" pitchFamily="34" charset="0"/>
              </a:rPr>
              <a:t>Toby Russo</a:t>
            </a:r>
            <a:r>
              <a:rPr lang="en-AU" b="0" i="0">
                <a:solidFill>
                  <a:srgbClr val="000000"/>
                </a:solidFill>
                <a:effectLst/>
                <a:latin typeface="Arial" panose="020B0604020202020204" pitchFamily="34" charset="0"/>
              </a:rPr>
              <a:t>, YouTube, accessed 4 April 2024. </a:t>
            </a:r>
          </a:p>
          <a:p>
            <a:pPr algn="l" rtl="0" fontAlgn="base"/>
            <a:r>
              <a:rPr lang="en-AU" b="0" i="0">
                <a:solidFill>
                  <a:srgbClr val="000000"/>
                </a:solidFill>
                <a:effectLst/>
                <a:latin typeface="Arial" panose="020B0604020202020204" pitchFamily="34" charset="0"/>
              </a:rPr>
              <a:t>SBS (2022) </a:t>
            </a:r>
            <a:r>
              <a:rPr lang="en-AU" b="0" i="1" u="sng" strike="noStrike">
                <a:solidFill>
                  <a:srgbClr val="2F5496"/>
                </a:solidFill>
                <a:effectLst/>
                <a:latin typeface="Arial" panose="020B0604020202020204" pitchFamily="34" charset="0"/>
                <a:hlinkClick r:id="rId9"/>
              </a:rPr>
              <a:t>SBS Australian Census Explorer</a:t>
            </a:r>
            <a:r>
              <a:rPr lang="en-AU" b="0" i="0">
                <a:solidFill>
                  <a:srgbClr val="000000"/>
                </a:solidFill>
                <a:effectLst/>
                <a:latin typeface="Arial" panose="020B0604020202020204" pitchFamily="34" charset="0"/>
              </a:rPr>
              <a:t>, SBS News website, accessed 26 March 2024. </a:t>
            </a:r>
          </a:p>
          <a:p>
            <a:pPr algn="l" rtl="0" fontAlgn="base"/>
            <a:r>
              <a:rPr lang="en-AU" b="0" i="0">
                <a:solidFill>
                  <a:srgbClr val="000000"/>
                </a:solidFill>
                <a:effectLst/>
                <a:latin typeface="Arial" panose="020B0604020202020204" pitchFamily="34" charset="0"/>
              </a:rPr>
              <a:t>Sullivan P and Lilburn P (2017) </a:t>
            </a:r>
            <a:r>
              <a:rPr lang="en-AU" b="0" i="1">
                <a:solidFill>
                  <a:srgbClr val="000000"/>
                </a:solidFill>
                <a:effectLst/>
                <a:latin typeface="Arial" panose="020B0604020202020204" pitchFamily="34" charset="0"/>
              </a:rPr>
              <a:t>Open-ended Maths Activities: Using ‘Good’ Questions to Enhance Learning in Mathematics</a:t>
            </a:r>
            <a:r>
              <a:rPr lang="en-AU" b="0" i="0">
                <a:solidFill>
                  <a:srgbClr val="000000"/>
                </a:solidFill>
                <a:effectLst/>
                <a:latin typeface="Arial" panose="020B0604020202020204" pitchFamily="34" charset="0"/>
              </a:rPr>
              <a:t>, Revised </a:t>
            </a:r>
            <a:r>
              <a:rPr lang="en-AU" b="0" i="0" err="1">
                <a:solidFill>
                  <a:srgbClr val="000000"/>
                </a:solidFill>
                <a:effectLst/>
                <a:latin typeface="Arial" panose="020B0604020202020204" pitchFamily="34" charset="0"/>
              </a:rPr>
              <a:t>edn</a:t>
            </a:r>
            <a:r>
              <a:rPr lang="en-AU" b="0" i="0">
                <a:solidFill>
                  <a:srgbClr val="000000"/>
                </a:solidFill>
                <a:effectLst/>
                <a:latin typeface="Arial" panose="020B0604020202020204" pitchFamily="34" charset="0"/>
              </a:rPr>
              <a:t>, Oxford University Press ANZ, Great Britain. </a:t>
            </a:r>
          </a:p>
          <a:p>
            <a:pPr algn="l" rtl="0" fontAlgn="base"/>
            <a:r>
              <a:rPr lang="en-AU" b="0" i="0">
                <a:solidFill>
                  <a:srgbClr val="000000"/>
                </a:solidFill>
                <a:effectLst/>
                <a:latin typeface="Arial" panose="020B0604020202020204" pitchFamily="34" charset="0"/>
              </a:rPr>
              <a:t>University of Cambridge (</a:t>
            </a:r>
            <a:r>
              <a:rPr lang="en-AU" b="0" i="0" err="1">
                <a:solidFill>
                  <a:srgbClr val="000000"/>
                </a:solidFill>
                <a:effectLst/>
                <a:latin typeface="Arial" panose="020B0604020202020204" pitchFamily="34" charset="0"/>
              </a:rPr>
              <a:t>n.d.a</a:t>
            </a:r>
            <a:r>
              <a:rPr lang="en-AU" b="0" i="0">
                <a:solidFill>
                  <a:srgbClr val="000000"/>
                </a:solidFill>
                <a:effectLst/>
                <a:latin typeface="Arial" panose="020B0604020202020204" pitchFamily="34" charset="0"/>
              </a:rPr>
              <a:t>) </a:t>
            </a:r>
            <a:r>
              <a:rPr lang="en-AU" b="0" i="1" u="sng" strike="noStrike">
                <a:solidFill>
                  <a:srgbClr val="2F5496"/>
                </a:solidFill>
                <a:effectLst/>
                <a:latin typeface="Arial" panose="020B0604020202020204" pitchFamily="34" charset="0"/>
                <a:hlinkClick r:id="rId10"/>
              </a:rPr>
              <a:t>What Does Random Look Like?</a:t>
            </a:r>
            <a:r>
              <a:rPr lang="en-AU" b="0" i="0">
                <a:solidFill>
                  <a:srgbClr val="000000"/>
                </a:solidFill>
                <a:effectLst/>
                <a:latin typeface="Arial" panose="020B0604020202020204" pitchFamily="34" charset="0"/>
              </a:rPr>
              <a:t>, NRICH website, accessed 2 April 2024. </a:t>
            </a:r>
          </a:p>
          <a:p>
            <a:pPr algn="l" rtl="0" fontAlgn="base"/>
            <a:endParaRPr lang="en-AU" b="0" i="0">
              <a:solidFill>
                <a:srgbClr val="000000"/>
              </a:solidFill>
              <a:effectLst/>
              <a:latin typeface="Arial" panose="020B0604020202020204" pitchFamily="34" charset="0"/>
            </a:endParaRPr>
          </a:p>
          <a:p>
            <a:pPr algn="l" rtl="0" fontAlgn="base"/>
            <a:endParaRPr lang="en-AU" b="0" i="0">
              <a:solidFill>
                <a:srgbClr val="000000"/>
              </a:solidFill>
              <a:effectLst/>
              <a:latin typeface="Arial" panose="020B0604020202020204" pitchFamily="34" charset="0"/>
            </a:endParaRPr>
          </a:p>
          <a:p>
            <a:pPr algn="l" rtl="0" fontAlgn="base"/>
            <a:endParaRPr lang="en-AU" b="0" i="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1828670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39</a:t>
            </a:fld>
            <a:endParaRPr lang="en-AU"/>
          </a:p>
        </p:txBody>
      </p:sp>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
        <p:nvSpPr>
          <p:cNvPr id="9" name="Content Placeholder 3">
            <a:extLst>
              <a:ext uri="{FF2B5EF4-FFF2-40B4-BE49-F238E27FC236}">
                <a16:creationId xmlns:a16="http://schemas.microsoft.com/office/drawing/2014/main" id="{BD4445EC-5A20-347E-F031-CDF8D902374C}"/>
              </a:ext>
              <a:ext uri="{C183D7F6-B498-43B3-948B-1728B52AA6E4}">
                <adec:decorative xmlns:adec="http://schemas.microsoft.com/office/drawing/2017/decorative" val="1"/>
              </a:ext>
            </a:extLst>
          </p:cNvPr>
          <p:cNvSpPr>
            <a:spLocks noGrp="1"/>
          </p:cNvSpPr>
          <p:nvPr>
            <p:ph idx="1"/>
          </p:nvPr>
        </p:nvSpPr>
        <p:spPr>
          <a:xfrm>
            <a:off x="323825" y="3291604"/>
            <a:ext cx="11484000" cy="2927351"/>
          </a:xfrm>
        </p:spPr>
        <p:txBody>
          <a:bodyPr/>
          <a:lstStyle/>
          <a:p>
            <a:pPr algn="l" rtl="0" fontAlgn="base"/>
            <a:r>
              <a:rPr lang="en-AU" b="0" i="0">
                <a:solidFill>
                  <a:srgbClr val="000000"/>
                </a:solidFill>
                <a:effectLst/>
                <a:latin typeface="Arial" panose="020B0604020202020204" pitchFamily="34" charset="0"/>
              </a:rPr>
              <a:t> </a:t>
            </a:r>
          </a:p>
          <a:p>
            <a:pPr algn="l" rtl="0" fontAlgn="base"/>
            <a:endParaRPr lang="en-AU" b="0" i="0">
              <a:solidFill>
                <a:srgbClr val="000000"/>
              </a:solidFill>
              <a:effectLst/>
              <a:latin typeface="Arial" panose="020B0604020202020204" pitchFamily="34" charset="0"/>
            </a:endParaRPr>
          </a:p>
          <a:p>
            <a:pPr algn="l" rtl="0" fontAlgn="base"/>
            <a:endParaRPr lang="en-AU" b="0" i="0">
              <a:solidFill>
                <a:srgbClr val="000000"/>
              </a:solidFill>
              <a:effectLst/>
              <a:latin typeface="Arial" panose="020B0604020202020204" pitchFamily="34" charset="0"/>
            </a:endParaRPr>
          </a:p>
        </p:txBody>
      </p:sp>
      <p:sp>
        <p:nvSpPr>
          <p:cNvPr id="5" name="TextBox 4">
            <a:extLst>
              <a:ext uri="{FF2B5EF4-FFF2-40B4-BE49-F238E27FC236}">
                <a16:creationId xmlns:a16="http://schemas.microsoft.com/office/drawing/2014/main" id="{11C0CCEE-15F9-67F2-FA87-C3067F290EA6}"/>
              </a:ext>
            </a:extLst>
          </p:cNvPr>
          <p:cNvSpPr txBox="1"/>
          <p:nvPr/>
        </p:nvSpPr>
        <p:spPr>
          <a:xfrm>
            <a:off x="384175" y="3318726"/>
            <a:ext cx="10600840" cy="830997"/>
          </a:xfrm>
          <a:prstGeom prst="rect">
            <a:avLst/>
          </a:prstGeom>
          <a:noFill/>
        </p:spPr>
        <p:txBody>
          <a:bodyPr wrap="square">
            <a:spAutoFit/>
          </a:bodyPr>
          <a:lstStyle/>
          <a:p>
            <a:pPr algn="l" rtl="0" fontAlgn="base"/>
            <a:r>
              <a:rPr lang="en-AU" sz="1200" b="0" i="0">
                <a:solidFill>
                  <a:srgbClr val="000000"/>
                </a:solidFill>
                <a:effectLst/>
                <a:latin typeface="Arial" panose="020B0604020202020204" pitchFamily="34" charset="0"/>
                <a:cs typeface="Arial" panose="020B0604020202020204" pitchFamily="34" charset="0"/>
              </a:rPr>
              <a:t>University of Cambridge (</a:t>
            </a:r>
            <a:r>
              <a:rPr lang="en-AU" sz="1200" b="0" i="0" err="1">
                <a:solidFill>
                  <a:srgbClr val="000000"/>
                </a:solidFill>
                <a:effectLst/>
                <a:latin typeface="Arial" panose="020B0604020202020204" pitchFamily="34" charset="0"/>
                <a:cs typeface="Arial" panose="020B0604020202020204" pitchFamily="34" charset="0"/>
              </a:rPr>
              <a:t>n.d.b</a:t>
            </a:r>
            <a:r>
              <a:rPr lang="en-AU" sz="1200" b="0" i="0">
                <a:solidFill>
                  <a:srgbClr val="000000"/>
                </a:solidFill>
                <a:effectLst/>
                <a:latin typeface="Arial" panose="020B0604020202020204" pitchFamily="34" charset="0"/>
                <a:cs typeface="Arial" panose="020B0604020202020204" pitchFamily="34" charset="0"/>
              </a:rPr>
              <a:t>) </a:t>
            </a:r>
            <a:r>
              <a:rPr lang="en-AU" sz="1200" b="0" i="1" u="sng" strike="noStrike">
                <a:solidFill>
                  <a:srgbClr val="2F5496"/>
                </a:solidFill>
                <a:effectLst/>
                <a:latin typeface="Arial" panose="020B0604020202020204" pitchFamily="34" charset="0"/>
                <a:cs typeface="Arial" panose="020B0604020202020204" pitchFamily="34" charset="0"/>
                <a:hlinkClick r:id="rId6"/>
              </a:rPr>
              <a:t>A Bit of a Dicey Problem</a:t>
            </a:r>
            <a:r>
              <a:rPr lang="en-AU" sz="1200" b="0" i="0">
                <a:solidFill>
                  <a:srgbClr val="000000"/>
                </a:solidFill>
                <a:effectLst/>
                <a:latin typeface="Arial" panose="020B0604020202020204" pitchFamily="34" charset="0"/>
                <a:cs typeface="Arial" panose="020B0604020202020204" pitchFamily="34" charset="0"/>
              </a:rPr>
              <a:t>, NRICH website, accessed 2 April 2024.  </a:t>
            </a:r>
          </a:p>
          <a:p>
            <a:pPr algn="l" rtl="0" fontAlgn="base"/>
            <a:endParaRPr lang="en-AU" sz="1200" b="0" i="0">
              <a:solidFill>
                <a:srgbClr val="000000"/>
              </a:solidFill>
              <a:effectLst/>
              <a:latin typeface="Arial" panose="020B0604020202020204" pitchFamily="34" charset="0"/>
              <a:cs typeface="Arial" panose="020B0604020202020204" pitchFamily="34" charset="0"/>
            </a:endParaRPr>
          </a:p>
          <a:p>
            <a:pPr algn="l" rtl="0" fontAlgn="base"/>
            <a:r>
              <a:rPr lang="en-AU" sz="1200" b="0" i="0">
                <a:solidFill>
                  <a:srgbClr val="000000"/>
                </a:solidFill>
                <a:effectLst/>
                <a:latin typeface="Arial" panose="020B0604020202020204" pitchFamily="34" charset="0"/>
                <a:cs typeface="Arial" panose="020B0604020202020204" pitchFamily="34" charset="0"/>
              </a:rPr>
              <a:t>Van de </a:t>
            </a:r>
            <a:r>
              <a:rPr lang="en-AU" sz="1200" b="0" i="0" err="1">
                <a:solidFill>
                  <a:srgbClr val="000000"/>
                </a:solidFill>
                <a:effectLst/>
                <a:latin typeface="Arial" panose="020B0604020202020204" pitchFamily="34" charset="0"/>
                <a:cs typeface="Arial" panose="020B0604020202020204" pitchFamily="34" charset="0"/>
              </a:rPr>
              <a:t>Walle</a:t>
            </a:r>
            <a:r>
              <a:rPr lang="en-AU" sz="1200" b="0" i="0">
                <a:solidFill>
                  <a:srgbClr val="000000"/>
                </a:solidFill>
                <a:effectLst/>
                <a:latin typeface="Arial" panose="020B0604020202020204" pitchFamily="34" charset="0"/>
                <a:cs typeface="Arial" panose="020B0604020202020204" pitchFamily="34" charset="0"/>
              </a:rPr>
              <a:t> J, Karp K, Bay-Williams JM, Brass A, Bentley B, Ferguson S, Goff W, Livy S, Marshman M, Martin D, </a:t>
            </a:r>
            <a:r>
              <a:rPr lang="en-AU" sz="1200" b="0" i="0" err="1">
                <a:solidFill>
                  <a:srgbClr val="000000"/>
                </a:solidFill>
                <a:effectLst/>
                <a:latin typeface="Arial" panose="020B0604020202020204" pitchFamily="34" charset="0"/>
                <a:cs typeface="Arial" panose="020B0604020202020204" pitchFamily="34" charset="0"/>
              </a:rPr>
              <a:t>Pearn</a:t>
            </a:r>
            <a:r>
              <a:rPr lang="en-AU" sz="1200" b="0" i="0">
                <a:solidFill>
                  <a:srgbClr val="000000"/>
                </a:solidFill>
                <a:effectLst/>
                <a:latin typeface="Arial" panose="020B0604020202020204" pitchFamily="34" charset="0"/>
                <a:cs typeface="Arial" panose="020B0604020202020204" pitchFamily="34" charset="0"/>
              </a:rPr>
              <a:t> C, </a:t>
            </a:r>
            <a:r>
              <a:rPr lang="en-AU" sz="1200" b="0" i="0" err="1">
                <a:solidFill>
                  <a:srgbClr val="000000"/>
                </a:solidFill>
                <a:effectLst/>
                <a:latin typeface="Arial" panose="020B0604020202020204" pitchFamily="34" charset="0"/>
                <a:cs typeface="Arial" panose="020B0604020202020204" pitchFamily="34" charset="0"/>
              </a:rPr>
              <a:t>Prodromou</a:t>
            </a:r>
            <a:r>
              <a:rPr lang="en-AU" sz="1200" b="0" i="0">
                <a:solidFill>
                  <a:srgbClr val="000000"/>
                </a:solidFill>
                <a:effectLst/>
                <a:latin typeface="Arial" panose="020B0604020202020204" pitchFamily="34" charset="0"/>
                <a:cs typeface="Arial" panose="020B0604020202020204" pitchFamily="34" charset="0"/>
              </a:rPr>
              <a:t> T, Symons D and Wilkie K (2019) </a:t>
            </a:r>
            <a:r>
              <a:rPr lang="en-AU" sz="1200" b="0" i="1">
                <a:solidFill>
                  <a:srgbClr val="000000"/>
                </a:solidFill>
                <a:effectLst/>
                <a:latin typeface="Arial" panose="020B0604020202020204" pitchFamily="34" charset="0"/>
                <a:cs typeface="Arial" panose="020B0604020202020204" pitchFamily="34" charset="0"/>
              </a:rPr>
              <a:t>Primary and Middle Years Mathematics: Teaching Developmentally</a:t>
            </a:r>
            <a:r>
              <a:rPr lang="en-AU" sz="1200" b="0" i="0">
                <a:solidFill>
                  <a:srgbClr val="000000"/>
                </a:solidFill>
                <a:effectLst/>
                <a:latin typeface="Arial" panose="020B0604020202020204" pitchFamily="34" charset="0"/>
                <a:cs typeface="Arial" panose="020B0604020202020204" pitchFamily="34" charset="0"/>
              </a:rPr>
              <a:t>, 1st Australian </a:t>
            </a:r>
            <a:r>
              <a:rPr lang="en-AU" sz="1200" b="0" i="0" err="1">
                <a:solidFill>
                  <a:srgbClr val="000000"/>
                </a:solidFill>
                <a:effectLst/>
                <a:latin typeface="Arial" panose="020B0604020202020204" pitchFamily="34" charset="0"/>
                <a:cs typeface="Arial" panose="020B0604020202020204" pitchFamily="34" charset="0"/>
              </a:rPr>
              <a:t>edn</a:t>
            </a:r>
            <a:r>
              <a:rPr lang="en-AU" sz="1200" b="0" i="0">
                <a:solidFill>
                  <a:srgbClr val="000000"/>
                </a:solidFill>
                <a:effectLst/>
                <a:latin typeface="Arial" panose="020B0604020202020204" pitchFamily="34" charset="0"/>
                <a:cs typeface="Arial" panose="020B0604020202020204" pitchFamily="34" charset="0"/>
              </a:rPr>
              <a:t>, Pearson Education Australia, Melbourne. </a:t>
            </a:r>
          </a:p>
        </p:txBody>
      </p:sp>
    </p:spTree>
    <p:extLst>
      <p:ext uri="{BB962C8B-B14F-4D97-AF65-F5344CB8AC3E}">
        <p14:creationId xmlns:p14="http://schemas.microsoft.com/office/powerpoint/2010/main" val="1546409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Mathematics-stage 3-unit 18-review of learning" id="{2C5C1D1B-0D88-464E-8FC1-786AFFA922B7}" vid="{22C0C6D4-5B97-4187-B3EB-127AB173F42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8550904603AA64982DCAA86C5CFC06E" ma:contentTypeVersion="32" ma:contentTypeDescription="Create a new document." ma:contentTypeScope="" ma:versionID="05891fa245dabad90296fcda280daeb8">
  <xsd:schema xmlns:xsd="http://www.w3.org/2001/XMLSchema" xmlns:xs="http://www.w3.org/2001/XMLSchema" xmlns:p="http://schemas.microsoft.com/office/2006/metadata/properties" xmlns:ns2="7e763d47-3c66-4c58-9425-1477fd3ccd1e" xmlns:ns3="60129b06-f64b-40a8-96e2-c5b2f86112b1" targetNamespace="http://schemas.microsoft.com/office/2006/metadata/properties" ma:root="true" ma:fieldsID="3e7d40734bf85537985a675388facd7f" ns2:_="" ns3:_="">
    <xsd:import namespace="7e763d47-3c66-4c58-9425-1477fd3ccd1e"/>
    <xsd:import namespace="60129b06-f64b-40a8-96e2-c5b2f86112b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Writingpod" minOccurs="0"/>
                <xsd:element ref="ns2:Designanddevelopment" minOccurs="0"/>
                <xsd:element ref="ns2:FeedbackfromNSWMS" minOccurs="0"/>
                <xsd:element ref="ns2:Contentediting" minOccurs="0"/>
                <xsd:element ref="ns2:Projectleadreview" minOccurs="0"/>
                <xsd:element ref="ns2:Workstreamleadendorsement" minOccurs="0"/>
                <xsd:element ref="ns2:Digitalsupport" minOccurs="0"/>
                <xsd:element ref="ns2:StoredinTRIM" minOccurs="0"/>
                <xsd:element ref="ns2:Published" minOccurs="0"/>
                <xsd:element ref="ns2:Resourcedrop"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element ref="ns2:Addedtoexcel"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763d47-3c66-4c58-9425-1477fd3ccd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Writingpod" ma:index="20" nillable="true" ma:displayName="Writing pod" ma:format="Dropdown" ma:list="UserInfo" ma:SharePointGroup="0" ma:internalName="Writingpod">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signanddevelopment" ma:index="21" nillable="true" ma:displayName="Design and development" ma:format="Dropdown" ma:internalName="Designanddevelopment">
      <xsd:simpleType>
        <xsd:restriction base="dms:Choice">
          <xsd:enumeration value="Not yet started"/>
          <xsd:enumeration value="In progress"/>
          <xsd:enumeration value="Complete"/>
        </xsd:restriction>
      </xsd:simpleType>
    </xsd:element>
    <xsd:element name="FeedbackfromNSWMS" ma:index="22" nillable="true" ma:displayName="Feedback from NSWMS" ma:description="Have leaders Michelle and Ayesha provided input?" ma:format="Dropdown" ma:internalName="FeedbackfromNSWMS">
      <xsd:simpleType>
        <xsd:restriction base="dms:Choice">
          <xsd:enumeration value="Not yet requested"/>
          <xsd:enumeration value="Request submitted"/>
          <xsd:enumeration value="Feedback received"/>
        </xsd:restriction>
      </xsd:simpleType>
    </xsd:element>
    <xsd:element name="Contentediting" ma:index="23" nillable="true" ma:displayName="Content editing" ma:description="Has unit content been edited by Senior Editor (R. Kilroy)?" ma:format="Dropdown" ma:internalName="Contentediting">
      <xsd:simpleType>
        <xsd:restriction base="dms:Choice">
          <xsd:enumeration value="Not yet requested"/>
          <xsd:enumeration value="Request submitted"/>
          <xsd:enumeration value="Editing complete"/>
        </xsd:restriction>
      </xsd:simpleType>
    </xsd:element>
    <xsd:element name="Projectleadreview" ma:index="24" nillable="true" ma:displayName="Project lead review" ma:description="Have project leads (H. Laverick and R. Cheal) reviewed the unit?" ma:format="Dropdown" ma:internalName="Projectleadreview">
      <xsd:simpleType>
        <xsd:restriction base="dms:Choice">
          <xsd:enumeration value="Not yet requested"/>
          <xsd:enumeration value="Request submitted"/>
          <xsd:enumeration value="Review complete"/>
        </xsd:restriction>
      </xsd:simpleType>
    </xsd:element>
    <xsd:element name="Workstreamleadendorsement" ma:index="25" nillable="true" ma:displayName="Workstream lead endorsement" ma:description="Has J. Hoffman endorsed the unit?" ma:format="Dropdown" ma:internalName="Workstreamleadendorsement">
      <xsd:simpleType>
        <xsd:restriction base="dms:Choice">
          <xsd:enumeration value="Not yet submitted"/>
          <xsd:enumeration value="Request submitted"/>
          <xsd:enumeration value="Endorsement complete"/>
        </xsd:restriction>
      </xsd:simpleType>
    </xsd:element>
    <xsd:element name="Digitalsupport" ma:index="26" nillable="true" ma:displayName="Digital support" ma:format="Dropdown" ma:internalName="Digitalsupport">
      <xsd:simpleType>
        <xsd:restriction base="dms:Choice">
          <xsd:enumeration value="Not yet submitted"/>
          <xsd:enumeration value="Request submitted (by project manager)"/>
          <xsd:enumeration value="Digital support complete"/>
        </xsd:restriction>
      </xsd:simpleType>
    </xsd:element>
    <xsd:element name="StoredinTRIM" ma:index="27" nillable="true" ma:displayName="Stored in TRIM" ma:format="Dropdown" ma:internalName="StoredinTRIM">
      <xsd:simpleType>
        <xsd:restriction base="dms:Choice">
          <xsd:enumeration value="Yes"/>
          <xsd:enumeration value="No"/>
        </xsd:restriction>
      </xsd:simpleType>
    </xsd:element>
    <xsd:element name="Published" ma:index="28" nillable="true" ma:displayName="Published" ma:format="Dropdown" ma:internalName="Published">
      <xsd:simpleType>
        <xsd:restriction base="dms:Choice">
          <xsd:enumeration value="Yes"/>
          <xsd:enumeration value="No"/>
        </xsd:restriction>
      </xsd:simpleType>
    </xsd:element>
    <xsd:element name="Resourcedrop" ma:index="29" nillable="true" ma:displayName="Drop week" ma:format="Dropdown" ma:internalName="Resourcedrop">
      <xsd:simpleType>
        <xsd:restriction base="dms:Choice">
          <xsd:enumeration value="T1, W1"/>
          <xsd:enumeration value="T1, W3"/>
          <xsd:enumeration value="T1, W7"/>
          <xsd:enumeration value="T1, W10"/>
          <xsd:enumeration value="T2, W1"/>
          <xsd:enumeration value="T2, W3"/>
          <xsd:enumeration value="T2, W7"/>
          <xsd:enumeration value="T2, W10"/>
          <xsd:enumeration value="T3, W1"/>
          <xsd:enumeration value="T3, W3"/>
          <xsd:enumeration value="T3, W7"/>
          <xsd:enumeration value="T3, W10"/>
          <xsd:enumeration value="T4, W1"/>
          <xsd:enumeration value="T4, W3"/>
          <xsd:enumeration value="T4, W7"/>
          <xsd:enumeration value="T4, W10"/>
        </xsd:restriction>
      </xsd:simpleType>
    </xsd:element>
    <xsd:element name="lcf76f155ced4ddcb4097134ff3c332f" ma:index="31"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3" nillable="true" ma:displayName="MediaServiceObjectDetectorVersions" ma:description="" ma:hidden="true" ma:indexed="true" ma:internalName="MediaServiceObjectDetectorVersions" ma:readOnly="true">
      <xsd:simpleType>
        <xsd:restriction base="dms:Text"/>
      </xsd:simpleType>
    </xsd:element>
    <xsd:element name="MediaServiceLocation" ma:index="34" nillable="true" ma:displayName="Location" ma:description="" ma:indexed="true" ma:internalName="MediaServiceLocation" ma:readOnly="true">
      <xsd:simpleType>
        <xsd:restriction base="dms:Text"/>
      </xsd:simpleType>
    </xsd:element>
    <xsd:element name="MediaServiceSearchProperties" ma:index="35" nillable="true" ma:displayName="MediaServiceSearchProperties" ma:hidden="true" ma:internalName="MediaServiceSearchProperties" ma:readOnly="true">
      <xsd:simpleType>
        <xsd:restriction base="dms:Note"/>
      </xsd:simpleType>
    </xsd:element>
    <xsd:element name="Addedtoexcel" ma:index="36" nillable="true" ma:displayName="Added to excel" ma:format="Dropdown" ma:internalName="Addedtoexcel">
      <xsd:simpleType>
        <xsd:restriction base="dms:Choice">
          <xsd:enumeration value="Yes"/>
        </xsd:restriction>
      </xsd:simpleType>
    </xsd:element>
    <xsd:element name="MediaServiceBillingMetadata" ma:index="3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129b06-f64b-40a8-96e2-c5b2f86112b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32" nillable="true" ma:displayName="Taxonomy Catch All Column" ma:hidden="true" ma:list="{d14652b1-c484-4c0c-a021-a754efd78e11}" ma:internalName="TaxCatchAll" ma:showField="CatchAllData" ma:web="60129b06-f64b-40a8-96e2-c5b2f86112b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e763d47-3c66-4c58-9425-1477fd3ccd1e">
      <Terms xmlns="http://schemas.microsoft.com/office/infopath/2007/PartnerControls"/>
    </lcf76f155ced4ddcb4097134ff3c332f>
    <TaxCatchAll xmlns="60129b06-f64b-40a8-96e2-c5b2f86112b1" xsi:nil="true"/>
    <Projectleadreview xmlns="7e763d47-3c66-4c58-9425-1477fd3ccd1e" xsi:nil="true"/>
    <Workstreamleadendorsement xmlns="7e763d47-3c66-4c58-9425-1477fd3ccd1e" xsi:nil="true"/>
    <Digitalsupport xmlns="7e763d47-3c66-4c58-9425-1477fd3ccd1e" xsi:nil="true"/>
    <Addedtoexcel xmlns="7e763d47-3c66-4c58-9425-1477fd3ccd1e" xsi:nil="true"/>
    <Writingpod xmlns="7e763d47-3c66-4c58-9425-1477fd3ccd1e">
      <UserInfo>
        <DisplayName/>
        <AccountId xsi:nil="true"/>
        <AccountType/>
      </UserInfo>
    </Writingpod>
    <FeedbackfromNSWMS xmlns="7e763d47-3c66-4c58-9425-1477fd3ccd1e" xsi:nil="true"/>
    <Resourcedrop xmlns="7e763d47-3c66-4c58-9425-1477fd3ccd1e" xsi:nil="true"/>
    <Designanddevelopment xmlns="7e763d47-3c66-4c58-9425-1477fd3ccd1e" xsi:nil="true"/>
    <StoredinTRIM xmlns="7e763d47-3c66-4c58-9425-1477fd3ccd1e" xsi:nil="true"/>
    <Contentediting xmlns="7e763d47-3c66-4c58-9425-1477fd3ccd1e" xsi:nil="true"/>
    <Published xmlns="7e763d47-3c66-4c58-9425-1477fd3ccd1e" xsi:nil="true"/>
    <SharedWithUsers xmlns="60129b06-f64b-40a8-96e2-c5b2f86112b1">
      <UserInfo>
        <DisplayName/>
        <AccountId xsi:nil="true"/>
        <AccountType/>
      </UserInfo>
    </SharedWithUsers>
  </documentManagement>
</p:properties>
</file>

<file path=customXml/itemProps1.xml><?xml version="1.0" encoding="utf-8"?>
<ds:datastoreItem xmlns:ds="http://schemas.openxmlformats.org/officeDocument/2006/customXml" ds:itemID="{1BBF1075-4992-4DA3-A5BC-433A425AD955}">
  <ds:schemaRefs>
    <ds:schemaRef ds:uri="http://schemas.microsoft.com/sharepoint/v3/contenttype/forms"/>
  </ds:schemaRefs>
</ds:datastoreItem>
</file>

<file path=customXml/itemProps2.xml><?xml version="1.0" encoding="utf-8"?>
<ds:datastoreItem xmlns:ds="http://schemas.openxmlformats.org/officeDocument/2006/customXml" ds:itemID="{89956A28-2D20-46E1-A857-5FB2223DD9F9}">
  <ds:schemaRefs>
    <ds:schemaRef ds:uri="60129b06-f64b-40a8-96e2-c5b2f86112b1"/>
    <ds:schemaRef ds:uri="7e763d47-3c66-4c58-9425-1477fd3ccd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E555570-2BD4-426B-AA32-0A79CB6508A8}">
  <ds:schemaRefs>
    <ds:schemaRef ds:uri="http://schemas.microsoft.com/office/infopath/2007/PartnerControls"/>
    <ds:schemaRef ds:uri="http://schemas.microsoft.com/office/2006/documentManagement/types"/>
    <ds:schemaRef ds:uri="http://purl.org/dc/elements/1.1/"/>
    <ds:schemaRef ds:uri="60129b06-f64b-40a8-96e2-c5b2f86112b1"/>
    <ds:schemaRef ds:uri="http://schemas.microsoft.com/office/2006/metadata/properties"/>
    <ds:schemaRef ds:uri="http://www.w3.org/XML/1998/namespace"/>
    <ds:schemaRef ds:uri="http://purl.org/dc/terms/"/>
    <ds:schemaRef ds:uri="http://schemas.openxmlformats.org/package/2006/metadata/core-properties"/>
    <ds:schemaRef ds:uri="7e763d47-3c66-4c58-9425-1477fd3ccd1e"/>
    <ds:schemaRef ds:uri="http://purl.org/dc/dcmitype/"/>
  </ds:schemaRefs>
</ds:datastoreItem>
</file>

<file path=docMetadata/LabelInfo.xml><?xml version="1.0" encoding="utf-8"?>
<clbl:labelList xmlns:clbl="http://schemas.microsoft.com/office/2020/mipLabelMetadata">
  <clbl:label id="{b603dfd7-d93a-4381-a340-2995d8282205}" enabled="1" method="Standard" siteId="{05a0e69a-418a-47c1-9c25-9387261bf991}" removed="0"/>
</clbl:labelList>
</file>

<file path=docProps/app.xml><?xml version="1.0" encoding="utf-8"?>
<Properties xmlns="http://schemas.openxmlformats.org/officeDocument/2006/extended-properties" xmlns:vt="http://schemas.openxmlformats.org/officeDocument/2006/docPropsVTypes">
  <Template>Mathematics-stage 3-unit 18-review of learning (1)</Template>
  <TotalTime>86</TotalTime>
  <Words>4499</Words>
  <Application>Microsoft Office PowerPoint</Application>
  <PresentationFormat>Widescreen</PresentationFormat>
  <Paragraphs>487</Paragraphs>
  <Slides>40</Slides>
  <Notes>40</Notes>
  <HiddenSlides>1</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40</vt:i4>
      </vt:variant>
    </vt:vector>
  </HeadingPairs>
  <TitlesOfParts>
    <vt:vector size="53" baseType="lpstr">
      <vt:lpstr>DengXian</vt:lpstr>
      <vt:lpstr>Cambria Math</vt:lpstr>
      <vt:lpstr>Arial</vt:lpstr>
      <vt:lpstr>Edu NSW ACT Foundation</vt:lpstr>
      <vt:lpstr>Canva Student Font</vt:lpstr>
      <vt:lpstr>Public Sans Light</vt:lpstr>
      <vt:lpstr>Times New Roman</vt:lpstr>
      <vt:lpstr>Aptos Narrow</vt:lpstr>
      <vt:lpstr>Wingdings</vt:lpstr>
      <vt:lpstr>Calibri</vt:lpstr>
      <vt:lpstr>Public Sans</vt:lpstr>
      <vt:lpstr>Montserrat</vt:lpstr>
      <vt:lpstr>NSWG Corporate</vt:lpstr>
      <vt:lpstr>Review of learning 5</vt:lpstr>
      <vt:lpstr>Multiple choice (3)</vt:lpstr>
      <vt:lpstr>Short response (17)</vt:lpstr>
      <vt:lpstr>Short response (18)</vt:lpstr>
      <vt:lpstr>Short response (19)</vt:lpstr>
      <vt:lpstr>Short response (20)</vt:lpstr>
      <vt:lpstr>Activity 5 – recognise that the place value system can be extended beyond hundredths (1)</vt:lpstr>
      <vt:lpstr>Review of learning 6</vt:lpstr>
      <vt:lpstr>True or false (3)</vt:lpstr>
      <vt:lpstr>Short response (5)</vt:lpstr>
      <vt:lpstr>Short response (21)</vt:lpstr>
      <vt:lpstr>Short response (22)</vt:lpstr>
      <vt:lpstr>Short response (23)</vt:lpstr>
      <vt:lpstr>Short response (24)</vt:lpstr>
      <vt:lpstr>Activity 6 – recognise that the place value system can be extended beyond hundredths (2)</vt:lpstr>
      <vt:lpstr>Review of learning 7</vt:lpstr>
      <vt:lpstr>Multiple choice (4)</vt:lpstr>
      <vt:lpstr>Short response (25)</vt:lpstr>
      <vt:lpstr>Short response (26)</vt:lpstr>
      <vt:lpstr>Short response (27)</vt:lpstr>
      <vt:lpstr>Short response (28)</vt:lpstr>
      <vt:lpstr>Activity 7 – make connections between benchmark fractions, decimals and percentages (1)</vt:lpstr>
      <vt:lpstr>Review of learning 8</vt:lpstr>
      <vt:lpstr>True or false (4)</vt:lpstr>
      <vt:lpstr>Short response (29)</vt:lpstr>
      <vt:lpstr>Short response (30)</vt:lpstr>
      <vt:lpstr>Short response (31)</vt:lpstr>
      <vt:lpstr>Short response (32)</vt:lpstr>
      <vt:lpstr>Activity 8 – make connections between benchmark fractions, decimals and percentages (2)</vt:lpstr>
      <vt:lpstr>Double Venn diagram</vt:lpstr>
      <vt:lpstr>Frayer</vt:lpstr>
      <vt:lpstr>Spider map</vt:lpstr>
      <vt:lpstr>Cline</vt:lpstr>
      <vt:lpstr>Compare and contrast</vt:lpstr>
      <vt:lpstr>Multiple choice (5)</vt:lpstr>
      <vt:lpstr>Multiple choice (6)</vt:lpstr>
      <vt:lpstr>References</vt:lpstr>
      <vt:lpstr>References</vt:lpstr>
      <vt:lpstr>References</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Phil HOLLINS (Phil Hollins)</dc:creator>
  <cp:keywords/>
  <dc:description/>
  <cp:lastModifiedBy>Jason Fretwell</cp:lastModifiedBy>
  <cp:revision>2</cp:revision>
  <dcterms:created xsi:type="dcterms:W3CDTF">2025-08-14T05:16:09Z</dcterms:created>
  <dcterms:modified xsi:type="dcterms:W3CDTF">2026-10-20T09:12:59Z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0x01010028550904603AA64982DCAA86C5CFC06E</vt:lpwstr>
  </property>
  <property fmtid="{D5CDD505-2E9C-101B-9397-08002B2CF9AE}" pid="10" name="Order">
    <vt:r8>2238400</vt:r8>
  </property>
  <property fmtid="{D5CDD505-2E9C-101B-9397-08002B2CF9AE}" pid="11" name="xd_Signature">
    <vt:bool>false</vt:bool>
  </property>
  <property fmtid="{D5CDD505-2E9C-101B-9397-08002B2CF9AE}" pid="12" name="xd_ProgID">
    <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y fmtid="{D5CDD505-2E9C-101B-9397-08002B2CF9AE}" pid="17" name="MediaServiceImageTags">
    <vt:lpwstr/>
  </property>
</Properties>
</file>