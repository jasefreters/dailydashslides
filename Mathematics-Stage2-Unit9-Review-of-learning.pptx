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5" r:id="rId5"/>
  </p:sldMasterIdLst>
  <p:notesMasterIdLst>
    <p:notesMasterId r:id="rId68"/>
  </p:notesMasterIdLst>
  <p:handoutMasterIdLst>
    <p:handoutMasterId r:id="rId69"/>
  </p:handoutMasterIdLst>
  <p:sldIdLst>
    <p:sldId id="365" r:id="rId6"/>
    <p:sldId id="26505" r:id="rId7"/>
    <p:sldId id="26359" r:id="rId8"/>
    <p:sldId id="271" r:id="rId9"/>
    <p:sldId id="26646" r:id="rId10"/>
    <p:sldId id="26657" r:id="rId11"/>
    <p:sldId id="26581" r:id="rId12"/>
    <p:sldId id="26580" r:id="rId13"/>
    <p:sldId id="26582" r:id="rId14"/>
    <p:sldId id="26576" r:id="rId15"/>
    <p:sldId id="26583" r:id="rId16"/>
    <p:sldId id="26586" r:id="rId17"/>
    <p:sldId id="26658" r:id="rId18"/>
    <p:sldId id="26588" r:id="rId19"/>
    <p:sldId id="26589" r:id="rId20"/>
    <p:sldId id="26590" r:id="rId21"/>
    <p:sldId id="26591" r:id="rId22"/>
    <p:sldId id="26592" r:id="rId23"/>
    <p:sldId id="26593" r:id="rId24"/>
    <p:sldId id="26596" r:id="rId25"/>
    <p:sldId id="26597" r:id="rId26"/>
    <p:sldId id="26598" r:id="rId27"/>
    <p:sldId id="26599" r:id="rId28"/>
    <p:sldId id="26600" r:id="rId29"/>
    <p:sldId id="26601" r:id="rId30"/>
    <p:sldId id="26604" r:id="rId31"/>
    <p:sldId id="26605" r:id="rId32"/>
    <p:sldId id="26606" r:id="rId33"/>
    <p:sldId id="26607" r:id="rId34"/>
    <p:sldId id="26608" r:id="rId35"/>
    <p:sldId id="26609" r:id="rId36"/>
    <p:sldId id="26610" r:id="rId37"/>
    <p:sldId id="26647" r:id="rId38"/>
    <p:sldId id="26614" r:id="rId39"/>
    <p:sldId id="26650"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48" r:id="rId52"/>
    <p:sldId id="26632" r:id="rId53"/>
    <p:sldId id="26633" r:id="rId54"/>
    <p:sldId id="26634" r:id="rId55"/>
    <p:sldId id="26635" r:id="rId56"/>
    <p:sldId id="26636" r:id="rId57"/>
    <p:sldId id="26637" r:id="rId58"/>
    <p:sldId id="26640" r:id="rId59"/>
    <p:sldId id="26641" r:id="rId60"/>
    <p:sldId id="26642" r:id="rId61"/>
    <p:sldId id="26643" r:id="rId62"/>
    <p:sldId id="26644" r:id="rId63"/>
    <p:sldId id="26645" r:id="rId64"/>
    <p:sldId id="26655" r:id="rId65"/>
    <p:sldId id="26656" r:id="rId66"/>
    <p:sldId id="361" r:id="rId67"/>
  </p:sldIdLst>
  <p:sldSz cx="12192000" cy="6858000"/>
  <p:notesSz cx="6858000" cy="9144000"/>
  <p:embeddedFontLst>
    <p:embeddedFont>
      <p:font typeface="Cambria Math" panose="02040503050406030204" pitchFamily="18" charset="0"/>
      <p:regular r:id="rId70"/>
    </p:embeddedFont>
    <p:embeddedFont>
      <p:font typeface="Edu NSW ACT Foundation" panose="020B0604020202020204" charset="0"/>
      <p:regular r:id="rId71"/>
      <p:bold r:id="rId72"/>
    </p:embeddedFont>
    <p:embeddedFont>
      <p:font typeface="Public Sans" pitchFamily="2" charset="0"/>
      <p:regular r:id="rId73"/>
      <p:bold r:id="rId74"/>
      <p:italic r:id="rId75"/>
      <p:boldItalic r:id="rId76"/>
    </p:embeddedFont>
    <p:embeddedFont>
      <p:font typeface="Public Sans Light" pitchFamily="2" charset="0"/>
      <p:regular r:id="rId77"/>
      <p:italic r:id="rId7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46"/>
            <p14:sldId id="26657"/>
            <p14:sldId id="26581"/>
            <p14:sldId id="26580"/>
            <p14:sldId id="26582"/>
            <p14:sldId id="26576"/>
          </p14:sldIdLst>
        </p14:section>
        <p14:section name="Review of learning 2" id="{0AC6BBCB-7E49-46CE-B777-EFCDD4B60F91}">
          <p14:sldIdLst>
            <p14:sldId id="26583"/>
            <p14:sldId id="26586"/>
            <p14:sldId id="26658"/>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47"/>
            <p14:sldId id="26614"/>
            <p14:sldId id="26650"/>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References &amp; copyright" id="{DBC31484-F5F8-4CB1-8DB4-A562A9780899}">
          <p14:sldIdLst>
            <p14:sldId id="26655"/>
            <p14:sldId id="26656"/>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C6D2936-6756-1476-1E4B-4B33D1F539E1}" name="Carrie Webeck" initials="CW" userId="S::carrie-ann.webeck@det.nsw.edu.au::e5c4b697-ca15-4f3a-a906-1289ddc2fc07" providerId="AD"/>
  <p188:author id="{95D16B7D-CADB-F2BF-AC29-D680545C75EE}" name="Carrie Webeck" initials=""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1953"/>
    <a:srgbClr val="3A5C82"/>
    <a:srgbClr val="4975A4"/>
    <a:srgbClr val="EA9B0C"/>
    <a:srgbClr val="007A8A"/>
    <a:srgbClr val="9B6808"/>
    <a:srgbClr val="427B2D"/>
    <a:srgbClr val="B51458"/>
    <a:srgbClr val="00ACC2"/>
    <a:srgbClr val="64BB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8F3970-4700-473F-86A0-CE7DCCE75608}" v="3" dt="2026-04-01T00:32:27.491"/>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617" autoAdjust="0"/>
  </p:normalViewPr>
  <p:slideViewPr>
    <p:cSldViewPr snapToGrid="0">
      <p:cViewPr varScale="1">
        <p:scale>
          <a:sx n="23" d="100"/>
          <a:sy n="23" d="100"/>
        </p:scale>
        <p:origin x="652" y="32"/>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notesMaster" Target="notesMasters/notesMaster1.xml"/><Relationship Id="rId84" Type="http://schemas.microsoft.com/office/2018/10/relationships/authors" Target="author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font" Target="fonts/font5.fntdata"/><Relationship Id="rId79"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handoutMaster" Target="handoutMasters/handoutMaster1.xml"/><Relationship Id="rId77" Type="http://schemas.openxmlformats.org/officeDocument/2006/relationships/font" Target="fonts/font8.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3.fntdata"/><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1.fntdata"/><Relationship Id="rId75" Type="http://schemas.openxmlformats.org/officeDocument/2006/relationships/font" Target="fonts/font6.fntdata"/><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7.fntdata"/><Relationship Id="rId7" Type="http://schemas.openxmlformats.org/officeDocument/2006/relationships/slide" Target="slides/slide2.xml"/><Relationship Id="rId71" Type="http://schemas.openxmlformats.org/officeDocument/2006/relationships/font" Target="fonts/font2.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2/04/2026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A Unit 9</a:t>
            </a:r>
          </a:p>
          <a:p>
            <a:pPr marL="285750" indent="-285750">
              <a:buFont typeface="Arial" panose="020B0604020202020204" pitchFamily="34" charset="0"/>
              <a:buChar char="•"/>
            </a:pPr>
            <a:r>
              <a:rPr lang="en-AU"/>
              <a:t>Stage 2 Year A Unit 8</a:t>
            </a:r>
          </a:p>
          <a:p>
            <a:pPr marL="285750" indent="-285750">
              <a:buFont typeface="Arial" panose="020B0604020202020204" pitchFamily="34" charset="0"/>
              <a:buChar char="•"/>
            </a:pPr>
            <a:r>
              <a:rPr lang="en-AU"/>
              <a:t>Stage 2 Year A Unit 7</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B: Whole numbers</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F0500-F519-E87F-B5DD-045A26E1C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0268C-CCC0-D0A1-885F-00F53FD550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90D603-9E1E-760B-1EA7-D377365F891F}"/>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B6830BEC-9705-B73B-CA32-98C6F094D02F}"/>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124933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Position</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 Whole numbers</a:t>
            </a:r>
          </a:p>
          <a:p>
            <a:endParaRPr lang="en-AU"/>
          </a:p>
          <a:p>
            <a:r>
              <a:rPr lang="en-AU" b="1"/>
              <a:t>Ascending and descending order</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aim of the game is to create, order and arrange 4-digit numbers in ascending and descending order.</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Organise students into small groups. Provide students with a 9-sided dice and sticky notes.</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take turns to roll a 9-sided dice 4 times to create a 4-digit number. Students read the number aloud and record the number on a sticky note.</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After each roll, students arrange the numbers in ascending order.</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3 or 4 more times, arranging the numbers in ascending order.</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read the list of numbers aloud starting from the smallest.</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the process with new numbers, this time using descending order to arrange the numbers.</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discuss how to order one set of pre-prepared numbers that include internal zeros.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0DEFA-662F-FF34-AC0C-A2FAA0E62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8B8CCB-EDC8-B265-1612-3A010738F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F7EF2-F288-82AF-CD3E-E244C00AFF78}"/>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 objects</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F5EB835B-046F-0056-463C-C90D8E58719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622458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 Whole numbers</a:t>
            </a:r>
          </a:p>
          <a:p>
            <a:endParaRPr lang="en-AU"/>
          </a:p>
          <a:p>
            <a:r>
              <a:rPr lang="en-AU" b="1"/>
              <a:t>Identifying the nearest thousand</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small groups, students roll four 9-sided dice to make a 4-digit number. </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take turns reading the number aloud and recording it on a sticky note. Students circle the hundreds digit. </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determine and record the nearest thousand based on the hundreds digit. For example, 8524 is closest to 9000 and 8203 is closest to 8000.</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repeat the process 5 times.</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order the collection of 4-digit numbers in ascending or descending order.</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the process.</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At the end of this activity, display the number 9537 and discuss how the closest thousand is 10 000.</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B: Whole numbers</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Position</a:t>
            </a:r>
          </a:p>
          <a:p>
            <a:br>
              <a:rPr lang="en-AU"/>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p>
          <a:p>
            <a:pPr>
              <a:defRPr/>
            </a:pPr>
            <a:endParaRPr lang="en-AU" sz="1600" i="0">
              <a:solidFill>
                <a:schemeClr val="tx1"/>
              </a:solidFill>
              <a:latin typeface="Arial"/>
              <a:cs typeface="Arial"/>
            </a:endParaRPr>
          </a:p>
          <a:p>
            <a:pPr>
              <a:defRPr/>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 Whole numbers</a:t>
            </a:r>
          </a:p>
          <a:p>
            <a:endParaRPr lang="en-AU"/>
          </a:p>
          <a:p>
            <a:r>
              <a:rPr lang="en-AU" b="1"/>
              <a:t>Rearranging digits to change the size of a number</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how rearranging digits in a number changes the size of a number.</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the process of creating a 4-digit number and rearranging the digits to change the size of the number. For example: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Roll four 9-sided dice to make and record a 4-digit number.</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Read the number aloud.</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Swap the positions of 2 of the digits and record the new number.</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Describe how the new number is larger or smaller than the original number.</a:t>
            </a:r>
          </a:p>
          <a:p>
            <a:pPr marL="342900" lvl="0" indent="-342900">
              <a:buFont typeface="+mj-lt"/>
              <a:buAutoNum type="arabicPeriod" startAt="3"/>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small groups, students repeat the process multiple times. Students order the 4-digit numbers in ascending or descending order.</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Some students may enjoy the challenge of working out the difference between 2 numbers and explaining the strategy used.</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B: 3D objects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p>
          <a:p>
            <a:pPr>
              <a:defRPr/>
            </a:pPr>
            <a:endParaRPr lang="en-AU">
              <a:latin typeface="Arial"/>
              <a:cs typeface="Arial"/>
            </a:endParaRP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 Whole numbers</a:t>
            </a:r>
          </a:p>
          <a:p>
            <a:endParaRPr lang="en-AU" b="1"/>
          </a:p>
          <a:p>
            <a:r>
              <a:rPr lang="en-AU" b="1"/>
              <a:t>Rearranging and rounding numbers </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Group students into pairs and provide each pair with a set of six playing cards. For example, the cards 3, 5, 7, 8, 1 and 2.</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arrange the digits to make: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largest possible 6-digit number</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smallest possible 6-digit number.</a:t>
            </a:r>
          </a:p>
          <a:p>
            <a:pPr marL="0" lvl="0" indent="0">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did rearranging the digits change the size of the number?</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did you know which number to place in the hundred thousands place to make the largest number?</a:t>
            </a:r>
          </a:p>
          <a:p>
            <a:pPr marL="342900" lvl="0" indent="-342900">
              <a:buFont typeface="+mj-lt"/>
              <a:buAutoNum type="arabicPeriod" startAt="4"/>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ask: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round your numbers to the nearest thousand?</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round your numbers to the nearest 10 thousand?</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round your numbers to the nearest 100 thousand?</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write the rounded numbers on their individual whiteboard and hold it up.</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immediate feedback, highlighting reasoning about which place value digit determines the rounding.</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the game can be scaffolded by using 4 and 5-digit numbers.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A: Whole numbers</a:t>
            </a: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662D4-9DB0-CA05-DF44-3296A7676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4F717-2EF8-9BC2-AAA1-0D8E79C8F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C718EB-3417-43EB-BE1E-4DEB1DCC0A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2EB45CD5-A2E3-0471-3D25-4DB8570652E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331663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p>
          <a:p>
            <a:pPr>
              <a:defRPr/>
            </a:pPr>
            <a:endParaRPr lang="en-AU">
              <a:latin typeface="Arial"/>
              <a:cs typeface="Arial"/>
            </a:endParaRP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A: Whole numbers</a:t>
            </a:r>
          </a:p>
          <a:p>
            <a:endParaRPr lang="en-AU"/>
          </a:p>
          <a:p>
            <a:r>
              <a:rPr lang="en-AU" b="1"/>
              <a:t>Recording 4-digit numbers using place value</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to students that they will play the game ‘What’s my number?’. The aim of the game is to correctly guess the number by asking a series of ‘</a:t>
            </a:r>
            <a:r>
              <a:rPr lang="en-AU" sz="1600" kern="1200" err="1">
                <a:solidFill>
                  <a:schemeClr val="tx1"/>
                </a:solidFill>
                <a:effectLst/>
                <a:latin typeface="Arial" panose="020B0604020202020204" pitchFamily="34" charset="0"/>
                <a:ea typeface="+mn-ea"/>
                <a:cs typeface="Arial" panose="020B0604020202020204" pitchFamily="34" charset="0"/>
              </a:rPr>
              <a:t>yes’</a:t>
            </a:r>
            <a:r>
              <a:rPr lang="en-AU" sz="1600" kern="1200">
                <a:solidFill>
                  <a:schemeClr val="tx1"/>
                </a:solidFill>
                <a:effectLst/>
                <a:latin typeface="Arial" panose="020B0604020202020204" pitchFamily="34" charset="0"/>
                <a:ea typeface="+mn-ea"/>
                <a:cs typeface="Arial" panose="020B0604020202020204" pitchFamily="34" charset="0"/>
              </a:rPr>
              <a:t> or ‘no’ questions to help determine the number. </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Seek input from students to record questions that will give them useful information, for example:</a:t>
            </a:r>
          </a:p>
          <a:p>
            <a:pPr lvl="0"/>
            <a:r>
              <a:rPr lang="en-AU" sz="1600" kern="1200">
                <a:solidFill>
                  <a:schemeClr val="tx1"/>
                </a:solidFill>
                <a:effectLst/>
                <a:latin typeface="Arial" panose="020B0604020202020204" pitchFamily="34" charset="0"/>
                <a:ea typeface="+mn-ea"/>
                <a:cs typeface="Arial" panose="020B0604020202020204" pitchFamily="34" charset="0"/>
              </a:rPr>
              <a:t>- Is the number an even number?</a:t>
            </a:r>
          </a:p>
          <a:p>
            <a:pPr lvl="0"/>
            <a:r>
              <a:rPr lang="en-AU" sz="1600" kern="1200">
                <a:solidFill>
                  <a:schemeClr val="tx1"/>
                </a:solidFill>
                <a:effectLst/>
                <a:latin typeface="Arial" panose="020B0604020202020204" pitchFamily="34" charset="0"/>
                <a:ea typeface="+mn-ea"/>
                <a:cs typeface="Arial" panose="020B0604020202020204" pitchFamily="34" charset="0"/>
              </a:rPr>
              <a:t>- Is the number a 4-digit number?</a:t>
            </a:r>
          </a:p>
          <a:p>
            <a:pPr lvl="0"/>
            <a:r>
              <a:rPr lang="en-AU" sz="1600" kern="1200">
                <a:solidFill>
                  <a:schemeClr val="tx1"/>
                </a:solidFill>
                <a:effectLst/>
                <a:latin typeface="Arial" panose="020B0604020202020204" pitchFamily="34" charset="0"/>
                <a:ea typeface="+mn-ea"/>
                <a:cs typeface="Arial" panose="020B0604020202020204" pitchFamily="34" charset="0"/>
              </a:rPr>
              <a:t>- Is the number larger than 500?</a:t>
            </a:r>
          </a:p>
          <a:p>
            <a:pPr lvl="0"/>
            <a:r>
              <a:rPr lang="en-AU" sz="1600" kern="1200">
                <a:solidFill>
                  <a:schemeClr val="tx1"/>
                </a:solidFill>
                <a:effectLst/>
                <a:latin typeface="Arial" panose="020B0604020202020204" pitchFamily="34" charset="0"/>
                <a:ea typeface="+mn-ea"/>
                <a:cs typeface="Arial" panose="020B0604020202020204" pitchFamily="34" charset="0"/>
              </a:rPr>
              <a:t>- Does the number have less than 7 hundreds?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Tell students that you are thinking of a 3- or 4-digit number.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ask a series of questions that require a ‘</a:t>
            </a:r>
            <a:r>
              <a:rPr lang="en-AU" sz="1600" kern="1200" err="1">
                <a:solidFill>
                  <a:schemeClr val="tx1"/>
                </a:solidFill>
                <a:effectLst/>
                <a:latin typeface="Arial" panose="020B0604020202020204" pitchFamily="34" charset="0"/>
                <a:ea typeface="+mn-ea"/>
                <a:cs typeface="Arial" panose="020B0604020202020204" pitchFamily="34" charset="0"/>
              </a:rPr>
              <a:t>yes’</a:t>
            </a:r>
            <a:r>
              <a:rPr lang="en-AU" sz="1600" kern="1200">
                <a:solidFill>
                  <a:schemeClr val="tx1"/>
                </a:solidFill>
                <a:effectLst/>
                <a:latin typeface="Arial" panose="020B0604020202020204" pitchFamily="34" charset="0"/>
                <a:ea typeface="+mn-ea"/>
                <a:cs typeface="Arial" panose="020B0604020202020204" pitchFamily="34" charset="0"/>
              </a:rPr>
              <a:t> or ‘no’ answer to try and determine the number.</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think about possible and eliminated numbers after each question has been answered. </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Support students to think about the most effective questions to ask next, by using the information they already know.</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When the mystery number has been guessed, students record the number using standard place value form. For example, 523 = 500 + 20 + 3 or 5 hundreds, 2 tens and 3 ones.</a:t>
            </a:r>
          </a:p>
          <a:p>
            <a:pPr marL="0" lvl="0" indent="0">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Which questions provided the most useful information about the mystery number?</a:t>
            </a:r>
          </a:p>
          <a:p>
            <a:pPr lvl="0"/>
            <a:r>
              <a:rPr lang="en-AU" sz="1600" kern="1200">
                <a:solidFill>
                  <a:schemeClr val="tx1"/>
                </a:solidFill>
                <a:effectLst/>
                <a:latin typeface="Arial" panose="020B0604020202020204" pitchFamily="34" charset="0"/>
                <a:ea typeface="+mn-ea"/>
                <a:cs typeface="Arial" panose="020B0604020202020204" pitchFamily="34" charset="0"/>
              </a:rPr>
              <a:t>- Were there any other questions that would help find the mystery number in a more efficient way?</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students will play this game in small groups in Activity 6.</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p>
          <a:p>
            <a:pPr>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a:defRPr/>
            </a:pPr>
            <a:endParaRPr lang="en-AU" sz="1600" b="1"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Geometric measure A: Length</a:t>
            </a:r>
          </a:p>
          <a:p>
            <a:endParaRPr lang="en-AU" b="0"/>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A: Whole numbers</a:t>
            </a:r>
          </a:p>
          <a:p>
            <a:endParaRPr lang="en-AU"/>
          </a:p>
          <a:p>
            <a:r>
              <a:rPr lang="en-AU" b="1"/>
              <a:t>Partitioning numbers in non-standard forms</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lesson is a continuation of the ‘Developing number sense’ from Activity 5.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small groups, students play ‘What’s my number?’ from Activity 5, taking turns to create and guess a mystery number.</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Move between groups, supporting effective questioning and recording.</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 4-digit number. Seek input from students to state the place value of each digit. For example, 3517 can be described as 3000 + 500 + 10 + 7.</a:t>
            </a:r>
          </a:p>
          <a:p>
            <a:pPr marL="342900" lvl="0" indent="-342900">
              <a:buFont typeface="+mj-lt"/>
              <a:buAutoNum type="arabicPeriod"/>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How could you partition 3517:</a:t>
            </a:r>
          </a:p>
          <a:p>
            <a:pPr lvl="0"/>
            <a:r>
              <a:rPr lang="en-AU" sz="1600" kern="1200">
                <a:solidFill>
                  <a:schemeClr val="tx1"/>
                </a:solidFill>
                <a:effectLst/>
                <a:latin typeface="Arial" panose="020B0604020202020204" pitchFamily="34" charset="0"/>
                <a:ea typeface="+mn-ea"/>
                <a:cs typeface="Arial" panose="020B0604020202020204" pitchFamily="34" charset="0"/>
              </a:rPr>
              <a:t>- without using tens? (3 thousands, 5 hundreds and 17 ones or 3000 + 500 +17)</a:t>
            </a:r>
          </a:p>
          <a:p>
            <a:pPr lvl="0"/>
            <a:r>
              <a:rPr lang="en-AU" sz="1600" kern="1200">
                <a:solidFill>
                  <a:schemeClr val="tx1"/>
                </a:solidFill>
                <a:effectLst/>
                <a:latin typeface="Arial" panose="020B0604020202020204" pitchFamily="34" charset="0"/>
                <a:ea typeface="+mn-ea"/>
                <a:cs typeface="Arial" panose="020B0604020202020204" pitchFamily="34" charset="0"/>
              </a:rPr>
              <a:t>- without using hundreds? (3 thousands, 51 tens and 7 ones or 3000 + 510 + 7)</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record their partitioned numbers on individual whiteboards. Select a few students to share their partitioned numbers, explaining their partitions. </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feedback and corrections as necessary.</a:t>
            </a:r>
          </a:p>
          <a:p>
            <a:pPr marL="342900" lvl="0" indent="-342900">
              <a:buFont typeface="+mj-lt"/>
              <a:buAutoNum type="arabicPeriod" startAt="5"/>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Remind students that this is called non-standard place value form. At this point, some students may need to use 2- or 3-digit numbers to revise this concept before working with 4-digit numbers.</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use MAB materials to demonstrate how 1 ten equals 10 ones and 5 hundreds equals 50 tens if necessary.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US" sz="1600">
                <a:highlight>
                  <a:srgbClr val="FFFF00"/>
                </a:highlight>
              </a:rPr>
              <a:t>Representing numbers using place value A: Whole numbers</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p>
          <a:p>
            <a:pPr>
              <a:defRPr/>
            </a:pPr>
            <a:endParaRPr lang="en-AU" sz="1600" i="0">
              <a:solidFill>
                <a:schemeClr val="tx1"/>
              </a:solidFill>
              <a:latin typeface="Arial"/>
              <a:cs typeface="Arial"/>
            </a:endParaRPr>
          </a:p>
          <a:p>
            <a:pPr>
              <a:defRPr/>
            </a:pPr>
            <a:endParaRPr lang="en-AU" sz="1600" i="0" kern="1200">
              <a:solidFill>
                <a:schemeClr val="tx1"/>
              </a:solidFill>
              <a:effectLst/>
              <a:latin typeface="Arial" panose="020B0604020202020204" pitchFamily="34" charset="0"/>
              <a:ea typeface="+mn-ea"/>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Length</a:t>
            </a:r>
          </a:p>
          <a:p>
            <a:pPr>
              <a:defRPr/>
            </a:pPr>
            <a:endParaRPr lang="en-AU" sz="1600" i="0">
              <a:solidFill>
                <a:schemeClr val="tx1"/>
              </a:solidFill>
              <a:latin typeface="Arial"/>
              <a:cs typeface="Arial"/>
            </a:endParaRPr>
          </a:p>
          <a:p>
            <a:br>
              <a:rPr lang="en-AU"/>
            </a:b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A: Whole numbers</a:t>
            </a:r>
          </a:p>
          <a:p>
            <a:endParaRPr lang="en-AU"/>
          </a:p>
          <a:p>
            <a:r>
              <a:rPr lang="en-AU" b="1"/>
              <a:t>Partitioning 4-digit numbers</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Can you describe this number using standard partitioning? For example, this is 4000 + 600 + 20 + 7 or 4 thousands, 6 hundreds, 2 tens and 7 ones. </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 number using standard partitioning on individual whiteboards.</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Guide students to partition the 4-digit number without using the place value of tens. For example, the number could now be described as 4000 + 600 + 27 or 4 thousands, 6 hundreds and 27 ones. Record these partitions on the board.</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work out how they could describe 4627 without using thousands. Select a few students to share their partitions and mathematical reasoning. Record these on the board.</a:t>
            </a:r>
          </a:p>
          <a:p>
            <a:pPr marL="342900" lvl="0" indent="-342900">
              <a:buFont typeface="+mj-lt"/>
              <a:buAutoNum type="arabicPeriod"/>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small groups, students choose a 4-digit number and explore describing it in as many ways as possible, using standard and non-standard partitioning.</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Monitor and provide feedback and corrections as necessary, moving between groups, supporting understanding of place value.</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students may need additional scaffolding to model a number using MAB materials to support thinking. Others may need to work with non-standard place value forms for 2- and 3-digit numbers first.</a:t>
            </a:r>
          </a:p>
          <a:p>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sz="1600" kern="1200">
                <a:solidFill>
                  <a:schemeClr val="tx1"/>
                </a:solidFill>
                <a:effectLst/>
                <a:latin typeface="Arial" panose="020B0604020202020204" pitchFamily="34" charset="0"/>
                <a:ea typeface="+mn-ea"/>
                <a:cs typeface="Arial" panose="020B0604020202020204" pitchFamily="34" charset="0"/>
              </a:rPr>
              <a:t>This task can be extended to allow students to work out all possible standard and non-standard partitioning using tens and ones, hundreds and tens and so on. For example, 4 thousands, 5 hundreds, 12 tens and 7 ones and then 4 thousands, 4 hundreds, 22 tens and 7 ones and so on.</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A: Whole numbers</a:t>
            </a:r>
          </a:p>
          <a:p>
            <a:endParaRPr lang="en-AU"/>
          </a:p>
          <a:p>
            <a:r>
              <a:rPr lang="en-AU" b="1"/>
              <a:t>Representing and partitioning 4-digit numbers</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reading, ordering, and partitioning numbers up to 4 digits in different forms to develop flexible understanding of place value.</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the game ‘Two truths and one lie’. Students will be presented with 3 statements about numbers - two statements are true and one is false. </a:t>
            </a:r>
          </a:p>
          <a:p>
            <a:pPr marL="342900" lvl="0" indent="-342900">
              <a:buFont typeface="+mj-lt"/>
              <a:buAutoNum type="arabicPeriod"/>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Present three statements that use a range of MAB. For example: </a:t>
            </a:r>
          </a:p>
          <a:p>
            <a:pPr lvl="0"/>
            <a:r>
              <a:rPr lang="en-AU" sz="1600" kern="1200">
                <a:solidFill>
                  <a:schemeClr val="tx1"/>
                </a:solidFill>
                <a:effectLst/>
                <a:latin typeface="Arial" panose="020B0604020202020204" pitchFamily="34" charset="0"/>
                <a:ea typeface="+mn-ea"/>
                <a:cs typeface="Arial" panose="020B0604020202020204" pitchFamily="34" charset="0"/>
              </a:rPr>
              <a:t>- 32 can be represented with five MABs, for example, 3 tens, 2 ones. </a:t>
            </a:r>
          </a:p>
          <a:p>
            <a:pPr lvl="0"/>
            <a:r>
              <a:rPr lang="en-AU" sz="1600" kern="1200">
                <a:solidFill>
                  <a:schemeClr val="tx1"/>
                </a:solidFill>
                <a:effectLst/>
                <a:latin typeface="Arial" panose="020B0604020202020204" pitchFamily="34" charset="0"/>
                <a:ea typeface="+mn-ea"/>
                <a:cs typeface="Arial" panose="020B0604020202020204" pitchFamily="34" charset="0"/>
              </a:rPr>
              <a:t>- 68 can be represented with 41 MABs</a:t>
            </a:r>
          </a:p>
          <a:p>
            <a:pPr lvl="0"/>
            <a:r>
              <a:rPr lang="en-AU" sz="1600" kern="1200">
                <a:solidFill>
                  <a:schemeClr val="tx1"/>
                </a:solidFill>
                <a:effectLst/>
                <a:latin typeface="Arial" panose="020B0604020202020204" pitchFamily="34" charset="0"/>
                <a:ea typeface="+mn-ea"/>
                <a:cs typeface="Arial" panose="020B0604020202020204" pitchFamily="34" charset="0"/>
              </a:rPr>
              <a:t>- 45 can be represented with 28 MABs.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Which two of these statements are true and which one is false?</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use drawings and MAB materials to represent their thinking. Prompt students to partition the numbers into tens and ones, using both standard and non-standard forms.</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Support students in regrouping tens into ones to increase the total number of blocks to reach the desired number of blocks. </a:t>
            </a:r>
          </a:p>
          <a:p>
            <a:pPr marL="342900" lvl="0" indent="-34290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Did you need to partition the numbers in non-standard ways?</a:t>
            </a:r>
          </a:p>
          <a:p>
            <a:pPr lvl="0"/>
            <a:r>
              <a:rPr lang="en-AU" sz="1600" kern="1200">
                <a:solidFill>
                  <a:schemeClr val="tx1"/>
                </a:solidFill>
                <a:effectLst/>
                <a:latin typeface="Arial" panose="020B0604020202020204" pitchFamily="34" charset="0"/>
                <a:ea typeface="+mn-ea"/>
                <a:cs typeface="Arial" panose="020B0604020202020204" pitchFamily="34" charset="0"/>
              </a:rPr>
              <a:t>- Which statements were true and which statements were false? Why? Explain your reasoning.</a:t>
            </a:r>
          </a:p>
          <a:p>
            <a:br>
              <a:rPr lang="en-AU" sz="1600" kern="1200">
                <a:solidFill>
                  <a:schemeClr val="tx1"/>
                </a:solidFill>
                <a:effectLst/>
                <a:latin typeface="Arial" panose="020B0604020202020204" pitchFamily="34" charset="0"/>
                <a:ea typeface="+mn-ea"/>
                <a:cs typeface="Arial" panose="020B0604020202020204" pitchFamily="34" charset="0"/>
              </a:rPr>
            </a:br>
            <a:endParaRPr lang="en-AU">
              <a:effectLst/>
            </a:endParaRPr>
          </a:p>
          <a:p>
            <a:r>
              <a:rPr lang="en-AU" sz="1600" kern="1200">
                <a:solidFill>
                  <a:schemeClr val="tx1"/>
                </a:solidFill>
                <a:effectLst/>
                <a:latin typeface="Arial" panose="020B0604020202020204" pitchFamily="34" charset="0"/>
                <a:ea typeface="+mn-ea"/>
                <a:cs typeface="Arial" panose="020B0604020202020204" pitchFamily="34" charset="0"/>
              </a:rPr>
              <a:t>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16515136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A0FF6-30AA-8D26-A534-5F61B951F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14BE8-796F-E32B-C58E-E386361D27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4F9D42-3282-68DE-A2D9-8C2395266327}"/>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240561D-940E-E712-08F2-90D4967291D2}"/>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7895578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96519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3366838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3976091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2113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19325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499770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441551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757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4020607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50" r:id="rId13"/>
    <p:sldLayoutId id="2147483744"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3807209419"/>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2.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21.sv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2.svg"/><Relationship Id="rId10"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23.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7.sv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3" Type="http://schemas.openxmlformats.org/officeDocument/2006/relationships/image" Target="../media/image6.png"/><Relationship Id="rId7" Type="http://schemas.openxmlformats.org/officeDocument/2006/relationships/image" Target="../media/image33.svg"/><Relationship Id="rId12"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 Id="rId14" Type="http://schemas.openxmlformats.org/officeDocument/2006/relationships/image" Target="../media/image40.jpe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42.sv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svg"/><Relationship Id="rId3" Type="http://schemas.openxmlformats.org/officeDocument/2006/relationships/image" Target="../media/image10.png"/><Relationship Id="rId7" Type="http://schemas.openxmlformats.org/officeDocument/2006/relationships/image" Target="../media/image33.svg"/><Relationship Id="rId12"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 Id="rId14" Type="http://schemas.openxmlformats.org/officeDocument/2006/relationships/image" Target="../media/image40.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45.sv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7.png"/><Relationship Id="rId7" Type="http://schemas.openxmlformats.org/officeDocument/2006/relationships/image" Target="../media/image49.sv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svg"/><Relationship Id="rId10" Type="http://schemas.openxmlformats.org/officeDocument/2006/relationships/image" Target="../media/image52.svg"/><Relationship Id="rId4" Type="http://schemas.openxmlformats.org/officeDocument/2006/relationships/image" Target="../media/image46.png"/><Relationship Id="rId9"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55.sv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image" Target="../media/image57.svg"/><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3.svg"/><Relationship Id="rId2" Type="http://schemas.openxmlformats.org/officeDocument/2006/relationships/notesSlide" Target="../notesSlides/notesSlide48.xml"/><Relationship Id="rId1" Type="http://schemas.openxmlformats.org/officeDocument/2006/relationships/slideLayout" Target="../slideLayouts/slideLayout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6" Type="http://schemas.openxmlformats.org/officeDocument/2006/relationships/image" Target="../media/image67.png"/><Relationship Id="rId5" Type="http://schemas.openxmlformats.org/officeDocument/2006/relationships/image" Target="../media/image66.svg"/><Relationship Id="rId4" Type="http://schemas.openxmlformats.org/officeDocument/2006/relationships/image" Target="../media/image65.png"/></Relationships>
</file>

<file path=ppt/slides/_rels/slide56.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7.png"/><Relationship Id="rId7" Type="http://schemas.openxmlformats.org/officeDocument/2006/relationships/image" Target="../media/image71.png"/><Relationship Id="rId2" Type="http://schemas.openxmlformats.org/officeDocument/2006/relationships/notesSlide" Target="../notesSlides/notesSlide56.xml"/><Relationship Id="rId1" Type="http://schemas.openxmlformats.org/officeDocument/2006/relationships/slideLayout" Target="../slideLayouts/slideLayout4.xml"/><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0.xml"/><Relationship Id="rId1" Type="http://schemas.openxmlformats.org/officeDocument/2006/relationships/slideLayout" Target="../slideLayouts/slideLayout22.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10" Type="http://schemas.openxmlformats.org/officeDocument/2006/relationships/hyperlink" Target="https://resources.education.nsw.gov.au/detail/NPV-44"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meaningfulmaths.nt.edu.au/mmws/nz/resource/banana-cake.html"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nrich.maths.org/6964" TargetMode="External"/><Relationship Id="rId2" Type="http://schemas.openxmlformats.org/officeDocument/2006/relationships/notesSlide" Target="../notesSlides/notesSlide61.xml"/><Relationship Id="rId1" Type="http://schemas.openxmlformats.org/officeDocument/2006/relationships/slideLayout" Target="../slideLayouts/slideLayout22.xml"/><Relationship Id="rId6" Type="http://schemas.openxmlformats.org/officeDocument/2006/relationships/hyperlink" Target="https://sites.google.com/education.nsw.gov.au/thinkingwhilemovingmathematics/home-thinking-while-moving-in-mathematics/stage-2/geometric-measure-s2/n-s-e-w-s2"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2 Year A Unit 9.</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9</a:t>
            </a:r>
          </a:p>
        </p:txBody>
      </p:sp>
      <p:pic>
        <p:nvPicPr>
          <p:cNvPr id="5" name="Picture Placeholder 4" descr="A group of dice on an orange surface&#10;&#10;">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descr="Review of learn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Review of learning 5&#10;">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60000" y="1226888"/>
            <a:ext cx="11484000" cy="754243"/>
          </a:xfrm>
        </p:spPr>
        <p:txBody>
          <a:bodyPr/>
          <a:lstStyle/>
          <a:p>
            <a:r>
              <a:rPr lang="en-US" sz="3600" b="1"/>
              <a:t>Which</a:t>
            </a:r>
            <a:r>
              <a:rPr lang="en-US" sz="3600"/>
              <a:t> numbers are arranged in </a:t>
            </a:r>
            <a:r>
              <a:rPr lang="en-US" sz="3600" b="1"/>
              <a:t>ascending</a:t>
            </a:r>
            <a:r>
              <a:rPr lang="en-US" sz="3600"/>
              <a:t> order?</a:t>
            </a:r>
          </a:p>
        </p:txBody>
      </p:sp>
      <p:sp>
        <p:nvSpPr>
          <p:cNvPr id="9" name="B">
            <a:extLst>
              <a:ext uri="{FF2B5EF4-FFF2-40B4-BE49-F238E27FC236}">
                <a16:creationId xmlns:a16="http://schemas.microsoft.com/office/drawing/2014/main" id="{2579E796-78E6-099B-1516-BE205CC4FACD}"/>
              </a:ext>
            </a:extLst>
          </p:cNvPr>
          <p:cNvSpPr txBox="1"/>
          <p:nvPr/>
        </p:nvSpPr>
        <p:spPr>
          <a:xfrm>
            <a:off x="670556" y="219819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08080" y="2189788"/>
            <a:ext cx="10175920" cy="641396"/>
          </a:xfrm>
        </p:spPr>
        <p:txBody>
          <a:bodyPr anchor="ctr"/>
          <a:lstStyle/>
          <a:p>
            <a:r>
              <a:rPr lang="en-US" sz="3600" dirty="0"/>
              <a:t>4092, 4911, 4367, 3489</a:t>
            </a:r>
          </a:p>
        </p:txBody>
      </p:sp>
      <p:sp>
        <p:nvSpPr>
          <p:cNvPr id="10" name="B">
            <a:extLst>
              <a:ext uri="{FF2B5EF4-FFF2-40B4-BE49-F238E27FC236}">
                <a16:creationId xmlns:a16="http://schemas.microsoft.com/office/drawing/2014/main" id="{04CBC687-138E-8135-BF08-A76285D998BD}"/>
              </a:ext>
            </a:extLst>
          </p:cNvPr>
          <p:cNvSpPr txBox="1"/>
          <p:nvPr/>
        </p:nvSpPr>
        <p:spPr>
          <a:xfrm>
            <a:off x="670559" y="33499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3360508"/>
            <a:ext cx="10175920" cy="641396"/>
          </a:xfrm>
        </p:spPr>
        <p:txBody>
          <a:bodyPr anchor="ctr"/>
          <a:lstStyle/>
          <a:p>
            <a:r>
              <a:rPr lang="en-US" sz="3600"/>
              <a:t>3489, 4092, 4367, 4911</a:t>
            </a:r>
          </a:p>
        </p:txBody>
      </p:sp>
      <p:sp>
        <p:nvSpPr>
          <p:cNvPr id="12" name="C">
            <a:extLst>
              <a:ext uri="{FF2B5EF4-FFF2-40B4-BE49-F238E27FC236}">
                <a16:creationId xmlns:a16="http://schemas.microsoft.com/office/drawing/2014/main" id="{C605E3A9-768F-B21E-1E87-27B06AEB3AF5}"/>
              </a:ext>
            </a:extLst>
          </p:cNvPr>
          <p:cNvSpPr txBox="1"/>
          <p:nvPr/>
        </p:nvSpPr>
        <p:spPr>
          <a:xfrm>
            <a:off x="670558" y="450160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531228"/>
            <a:ext cx="10175920" cy="641396"/>
          </a:xfrm>
        </p:spPr>
        <p:txBody>
          <a:bodyPr anchor="ctr"/>
          <a:lstStyle/>
          <a:p>
            <a:r>
              <a:rPr lang="en-US" sz="3600"/>
              <a:t>3489, 4367, 4092, 4911</a:t>
            </a:r>
          </a:p>
        </p:txBody>
      </p:sp>
      <p:sp>
        <p:nvSpPr>
          <p:cNvPr id="11" name="D">
            <a:extLst>
              <a:ext uri="{FF2B5EF4-FFF2-40B4-BE49-F238E27FC236}">
                <a16:creationId xmlns:a16="http://schemas.microsoft.com/office/drawing/2014/main" id="{8EADE37E-99CA-3A50-524F-30E28DF3B7C4}"/>
              </a:ext>
            </a:extLst>
          </p:cNvPr>
          <p:cNvSpPr txBox="1"/>
          <p:nvPr/>
        </p:nvSpPr>
        <p:spPr>
          <a:xfrm>
            <a:off x="670557" y="56533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701948"/>
            <a:ext cx="10175920" cy="641396"/>
          </a:xfrm>
        </p:spPr>
        <p:txBody>
          <a:bodyPr anchor="ctr"/>
          <a:lstStyle/>
          <a:p>
            <a:r>
              <a:rPr lang="en-US" sz="3600"/>
              <a:t>4911, 4367, 4092, 3489</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95A2-4BB6-6DED-7778-19F48C6C3CC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5353747-430F-7760-D20C-D2395D0C6A5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4FC5F24C-D5B2-AB56-0456-2256FF5FEBB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EF0F7FB-91CF-39BD-1120-0E9FBE2B55D4}"/>
              </a:ext>
            </a:extLst>
          </p:cNvPr>
          <p:cNvSpPr txBox="1"/>
          <p:nvPr/>
        </p:nvSpPr>
        <p:spPr>
          <a:xfrm>
            <a:off x="461976" y="2186525"/>
            <a:ext cx="11484000" cy="707886"/>
          </a:xfrm>
          <a:prstGeom prst="rect">
            <a:avLst/>
          </a:prstGeom>
          <a:noFill/>
        </p:spPr>
        <p:txBody>
          <a:bodyPr wrap="square">
            <a:spAutoFit/>
          </a:bodyPr>
          <a:lstStyle/>
          <a:p>
            <a:pPr algn="ctr">
              <a:buNone/>
            </a:pPr>
            <a:r>
              <a:rPr lang="en-AU" sz="4000" b="1" i="0">
                <a:solidFill>
                  <a:srgbClr val="000000"/>
                </a:solidFill>
                <a:effectLst/>
              </a:rPr>
              <a:t>Describe </a:t>
            </a:r>
            <a:r>
              <a:rPr lang="en-AU" sz="4000" i="0">
                <a:solidFill>
                  <a:srgbClr val="000000"/>
                </a:solidFill>
                <a:effectLst/>
              </a:rPr>
              <a:t>a</a:t>
            </a:r>
            <a:r>
              <a:rPr lang="en-AU" sz="4000" b="1" i="0">
                <a:solidFill>
                  <a:srgbClr val="000000"/>
                </a:solidFill>
                <a:effectLst/>
              </a:rPr>
              <a:t> rhombus </a:t>
            </a:r>
            <a:r>
              <a:rPr lang="en-AU" sz="4000" i="0">
                <a:solidFill>
                  <a:srgbClr val="000000"/>
                </a:solidFill>
                <a:effectLst/>
              </a:rPr>
              <a:t>using the terms:</a:t>
            </a:r>
          </a:p>
        </p:txBody>
      </p:sp>
      <p:sp>
        <p:nvSpPr>
          <p:cNvPr id="13" name="TextBox 12">
            <a:extLst>
              <a:ext uri="{FF2B5EF4-FFF2-40B4-BE49-F238E27FC236}">
                <a16:creationId xmlns:a16="http://schemas.microsoft.com/office/drawing/2014/main" id="{7C8C525D-D402-5DDD-E978-EAA078DB442A}"/>
              </a:ext>
            </a:extLst>
          </p:cNvPr>
          <p:cNvSpPr txBox="1"/>
          <p:nvPr/>
        </p:nvSpPr>
        <p:spPr>
          <a:xfrm>
            <a:off x="2234270" y="4042093"/>
            <a:ext cx="1420706" cy="778557"/>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side</a:t>
            </a:r>
            <a:endParaRPr lang="en-AU" sz="1800">
              <a:latin typeface="Edu NSW ACT Foundation" pitchFamily="2" charset="0"/>
            </a:endParaRPr>
          </a:p>
        </p:txBody>
      </p:sp>
      <p:sp>
        <p:nvSpPr>
          <p:cNvPr id="16" name="TextBox 15">
            <a:extLst>
              <a:ext uri="{FF2B5EF4-FFF2-40B4-BE49-F238E27FC236}">
                <a16:creationId xmlns:a16="http://schemas.microsoft.com/office/drawing/2014/main" id="{43CEE1ED-E45B-A798-94D4-42DFCC44C459}"/>
              </a:ext>
            </a:extLst>
          </p:cNvPr>
          <p:cNvSpPr txBox="1"/>
          <p:nvPr/>
        </p:nvSpPr>
        <p:spPr>
          <a:xfrm>
            <a:off x="5385647" y="4042092"/>
            <a:ext cx="1420706" cy="778557"/>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vertex</a:t>
            </a:r>
            <a:endParaRPr lang="en-AU" sz="1800">
              <a:latin typeface="Edu NSW ACT Foundation" pitchFamily="2" charset="0"/>
            </a:endParaRPr>
          </a:p>
        </p:txBody>
      </p:sp>
      <p:sp>
        <p:nvSpPr>
          <p:cNvPr id="15" name="TextBox 14">
            <a:extLst>
              <a:ext uri="{FF2B5EF4-FFF2-40B4-BE49-F238E27FC236}">
                <a16:creationId xmlns:a16="http://schemas.microsoft.com/office/drawing/2014/main" id="{CAAB5C59-9A90-C862-9163-975672F60C5F}"/>
              </a:ext>
            </a:extLst>
          </p:cNvPr>
          <p:cNvSpPr txBox="1"/>
          <p:nvPr/>
        </p:nvSpPr>
        <p:spPr>
          <a:xfrm>
            <a:off x="8537023" y="4042091"/>
            <a:ext cx="1420707" cy="778557"/>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parallel</a:t>
            </a:r>
            <a:endParaRPr lang="en-AU" sz="1800">
              <a:latin typeface="Edu NSW ACT Foundation" pitchFamily="2" charset="0"/>
            </a:endParaRPr>
          </a:p>
        </p:txBody>
      </p:sp>
      <p:sp>
        <p:nvSpPr>
          <p:cNvPr id="2" name="Slide Number Placeholder 1">
            <a:extLst>
              <a:ext uri="{FF2B5EF4-FFF2-40B4-BE49-F238E27FC236}">
                <a16:creationId xmlns:a16="http://schemas.microsoft.com/office/drawing/2014/main" id="{9D1C0B3C-4A66-E8AE-EBB6-F5C8905E6C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287079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9EBA9E39-A8B7-EAE4-48F4-D8FF29DF0377}"/>
              </a:ext>
            </a:extLst>
          </p:cNvPr>
          <p:cNvSpPr txBox="1"/>
          <p:nvPr/>
        </p:nvSpPr>
        <p:spPr>
          <a:xfrm>
            <a:off x="246024" y="979758"/>
            <a:ext cx="5075635" cy="4594912"/>
          </a:xfrm>
          <a:prstGeom prst="rect">
            <a:avLst/>
          </a:prstGeom>
          <a:noFill/>
        </p:spPr>
        <p:txBody>
          <a:bodyPr wrap="square">
            <a:spAutoFit/>
          </a:bodyPr>
          <a:lstStyle/>
          <a:p>
            <a:pPr algn="l">
              <a:lnSpc>
                <a:spcPct val="150000"/>
              </a:lnSpc>
            </a:pPr>
            <a:r>
              <a:rPr lang="en-AU" sz="4000" b="1">
                <a:solidFill>
                  <a:srgbClr val="000000"/>
                </a:solidFill>
              </a:rPr>
              <a:t>Describe </a:t>
            </a:r>
            <a:r>
              <a:rPr lang="en-AU" sz="4000">
                <a:solidFill>
                  <a:srgbClr val="000000"/>
                </a:solidFill>
              </a:rPr>
              <a:t>the</a:t>
            </a:r>
            <a:r>
              <a:rPr lang="en-AU" sz="4000" b="1">
                <a:solidFill>
                  <a:srgbClr val="000000"/>
                </a:solidFill>
              </a:rPr>
              <a:t> route </a:t>
            </a:r>
            <a:r>
              <a:rPr lang="en-AU" sz="4000">
                <a:solidFill>
                  <a:srgbClr val="000000"/>
                </a:solidFill>
              </a:rPr>
              <a:t>taken using </a:t>
            </a:r>
            <a:r>
              <a:rPr lang="en-AU" sz="4000" b="1">
                <a:solidFill>
                  <a:srgbClr val="000000"/>
                </a:solidFill>
              </a:rPr>
              <a:t>landmarks</a:t>
            </a:r>
            <a:r>
              <a:rPr lang="en-AU" sz="4000">
                <a:solidFill>
                  <a:srgbClr val="000000"/>
                </a:solidFill>
              </a:rPr>
              <a:t> and </a:t>
            </a:r>
            <a:r>
              <a:rPr lang="en-AU" sz="4000" b="1">
                <a:solidFill>
                  <a:srgbClr val="000000"/>
                </a:solidFill>
              </a:rPr>
              <a:t>directional</a:t>
            </a:r>
            <a:r>
              <a:rPr lang="en-AU" sz="4000">
                <a:solidFill>
                  <a:srgbClr val="000000"/>
                </a:solidFill>
              </a:rPr>
              <a:t> </a:t>
            </a:r>
            <a:r>
              <a:rPr lang="en-AU" sz="4000" b="1">
                <a:solidFill>
                  <a:srgbClr val="000000"/>
                </a:solidFill>
              </a:rPr>
              <a:t>language</a:t>
            </a:r>
            <a:r>
              <a:rPr lang="en-AU" sz="4000">
                <a:solidFill>
                  <a:srgbClr val="000000"/>
                </a:solidFill>
              </a:rPr>
              <a:t>.</a:t>
            </a:r>
            <a:endParaRPr lang="en-AU" sz="3600" b="0" i="0">
              <a:solidFill>
                <a:srgbClr val="000000"/>
              </a:solidFill>
              <a:effectLst/>
            </a:endParaRPr>
          </a:p>
        </p:txBody>
      </p:sp>
      <p:grpSp>
        <p:nvGrpSpPr>
          <p:cNvPr id="9" name="Group 8" descr="A simple school map with: library, canteen, office, hall, playground and classroom. A path is marked from the library to the classroom.">
            <a:extLst>
              <a:ext uri="{FF2B5EF4-FFF2-40B4-BE49-F238E27FC236}">
                <a16:creationId xmlns:a16="http://schemas.microsoft.com/office/drawing/2014/main" id="{AC42FF08-2A67-0FE3-8EE8-EFAFB28953C1}"/>
              </a:ext>
            </a:extLst>
          </p:cNvPr>
          <p:cNvGrpSpPr/>
          <p:nvPr/>
        </p:nvGrpSpPr>
        <p:grpSpPr>
          <a:xfrm>
            <a:off x="5088832" y="1332336"/>
            <a:ext cx="6571917" cy="5363664"/>
            <a:chOff x="5088832" y="1332336"/>
            <a:chExt cx="6571917" cy="5363664"/>
          </a:xfrm>
        </p:grpSpPr>
        <p:pic>
          <p:nvPicPr>
            <p:cNvPr id="8" name="Picture 7" descr="A simple school map with: library, canteen, office, hall, playground and classroom. A path is marked from the library to the classroom.&#10;">
              <a:extLst>
                <a:ext uri="{FF2B5EF4-FFF2-40B4-BE49-F238E27FC236}">
                  <a16:creationId xmlns:a16="http://schemas.microsoft.com/office/drawing/2014/main" id="{B209A3C0-7F91-E4FD-69EB-448D13B41844}"/>
                </a:ext>
              </a:extLst>
            </p:cNvPr>
            <p:cNvPicPr>
              <a:picLocks noChangeAspect="1"/>
            </p:cNvPicPr>
            <p:nvPr/>
          </p:nvPicPr>
          <p:blipFill>
            <a:blip r:embed="rId4"/>
            <a:srcRect l="14329" t="11132" r="14377" b="8502"/>
            <a:stretch>
              <a:fillRect/>
            </a:stretch>
          </p:blipFill>
          <p:spPr>
            <a:xfrm>
              <a:off x="5088832" y="1332336"/>
              <a:ext cx="6571917" cy="5363664"/>
            </a:xfrm>
            <a:prstGeom prst="rect">
              <a:avLst/>
            </a:prstGeom>
            <a:effectLst>
              <a:outerShdw blurRad="63500" sx="102000" sy="102000" algn="ctr" rotWithShape="0">
                <a:prstClr val="black">
                  <a:alpha val="40000"/>
                </a:prstClr>
              </a:outerShdw>
            </a:effectLst>
          </p:spPr>
        </p:pic>
        <p:sp>
          <p:nvSpPr>
            <p:cNvPr id="4" name="TextBox 3">
              <a:extLst>
                <a:ext uri="{FF2B5EF4-FFF2-40B4-BE49-F238E27FC236}">
                  <a16:creationId xmlns:a16="http://schemas.microsoft.com/office/drawing/2014/main" id="{8A39B58F-70C9-BC4E-76BF-A1C415223126}"/>
                </a:ext>
              </a:extLst>
            </p:cNvPr>
            <p:cNvSpPr txBox="1"/>
            <p:nvPr/>
          </p:nvSpPr>
          <p:spPr>
            <a:xfrm>
              <a:off x="5267871" y="2967932"/>
              <a:ext cx="779929" cy="309282"/>
            </a:xfrm>
            <a:prstGeom prst="rect">
              <a:avLst/>
            </a:prstGeom>
            <a:noFill/>
          </p:spPr>
          <p:txBody>
            <a:bodyPr wrap="square" lIns="0" tIns="0" rIns="0" bIns="0" rtlCol="0">
              <a:noAutofit/>
            </a:bodyPr>
            <a:lstStyle/>
            <a:p>
              <a:pPr algn="l"/>
              <a:r>
                <a:rPr lang="en-AU" sz="1800" b="1">
                  <a:solidFill>
                    <a:srgbClr val="FF0000"/>
                  </a:solidFill>
                </a:rPr>
                <a:t>START</a:t>
              </a:r>
            </a:p>
          </p:txBody>
        </p:sp>
        <p:sp>
          <p:nvSpPr>
            <p:cNvPr id="5" name="TextBox 4">
              <a:extLst>
                <a:ext uri="{FF2B5EF4-FFF2-40B4-BE49-F238E27FC236}">
                  <a16:creationId xmlns:a16="http://schemas.microsoft.com/office/drawing/2014/main" id="{DEF286E0-B255-095F-B2DC-827C8E80F5E7}"/>
                </a:ext>
              </a:extLst>
            </p:cNvPr>
            <p:cNvSpPr txBox="1"/>
            <p:nvPr/>
          </p:nvSpPr>
          <p:spPr>
            <a:xfrm>
              <a:off x="10137573" y="2967932"/>
              <a:ext cx="779929" cy="309282"/>
            </a:xfrm>
            <a:prstGeom prst="rect">
              <a:avLst/>
            </a:prstGeom>
            <a:noFill/>
          </p:spPr>
          <p:txBody>
            <a:bodyPr wrap="square" lIns="0" tIns="0" rIns="0" bIns="0" rtlCol="0">
              <a:noAutofit/>
            </a:bodyPr>
            <a:lstStyle/>
            <a:p>
              <a:pPr algn="l"/>
              <a:r>
                <a:rPr lang="en-AU" sz="1800" b="1" dirty="0">
                  <a:solidFill>
                    <a:srgbClr val="FF0000"/>
                  </a:solidFill>
                </a:rPr>
                <a:t>FINISH</a:t>
              </a:r>
            </a:p>
          </p:txBody>
        </p:sp>
      </p:gr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54000" y="398100"/>
            <a:ext cx="11483999"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8" name="Picture 17" descr="A number line marked with the number 2.">
            <a:extLst>
              <a:ext uri="{FF2B5EF4-FFF2-40B4-BE49-F238E27FC236}">
                <a16:creationId xmlns:a16="http://schemas.microsoft.com/office/drawing/2014/main" id="{47772D32-3F93-B251-6DC4-B582567C2EE0}"/>
              </a:ext>
            </a:extLst>
          </p:cNvPr>
          <p:cNvPicPr>
            <a:picLocks noChangeAspect="1"/>
          </p:cNvPicPr>
          <p:nvPr/>
        </p:nvPicPr>
        <p:blipFill>
          <a:blip r:embed="rId4"/>
          <a:stretch>
            <a:fillRect/>
          </a:stretch>
        </p:blipFill>
        <p:spPr>
          <a:xfrm>
            <a:off x="1322540" y="1083487"/>
            <a:ext cx="9546918" cy="1396841"/>
          </a:xfrm>
          <a:prstGeom prst="rect">
            <a:avLst/>
          </a:prstGeom>
        </p:spPr>
      </p:pic>
      <p:sp>
        <p:nvSpPr>
          <p:cNvPr id="7" name="Text Placeholder 6">
            <a:extLst>
              <a:ext uri="{FF2B5EF4-FFF2-40B4-BE49-F238E27FC236}">
                <a16:creationId xmlns:a16="http://schemas.microsoft.com/office/drawing/2014/main" id="{D979428B-DC77-5398-BBE3-A558A0AA73CA}"/>
              </a:ext>
            </a:extLst>
          </p:cNvPr>
          <p:cNvSpPr>
            <a:spLocks noGrp="1"/>
          </p:cNvSpPr>
          <p:nvPr>
            <p:ph type="body" sz="quarter" idx="17"/>
          </p:nvPr>
        </p:nvSpPr>
        <p:spPr>
          <a:xfrm>
            <a:off x="354001" y="2710441"/>
            <a:ext cx="11483998" cy="1040647"/>
          </a:xfrm>
        </p:spPr>
        <p:txBody>
          <a:bodyPr vert="horz" lIns="0" tIns="0" rIns="0" bIns="0" rtlCol="0" anchor="t">
            <a:noAutofit/>
          </a:bodyPr>
          <a:lstStyle/>
          <a:p>
            <a:pPr marL="571500" indent="-571500" algn="ctr">
              <a:buFont typeface="Wingdings" panose="05000000000000000000" pitchFamily="2" charset="2"/>
              <a:buChar char="§"/>
            </a:pPr>
            <a:r>
              <a:rPr lang="en-AU" sz="3600" b="1">
                <a:latin typeface="Arial"/>
                <a:cs typeface="Arial"/>
              </a:rPr>
              <a:t>Draw </a:t>
            </a:r>
            <a:r>
              <a:rPr lang="en-AU" sz="3600">
                <a:latin typeface="Arial"/>
                <a:cs typeface="Arial"/>
              </a:rPr>
              <a:t>a number line starting at 2. </a:t>
            </a:r>
          </a:p>
          <a:p>
            <a:pPr marL="571500" indent="-571500" algn="ctr">
              <a:buFont typeface="Wingdings" panose="05000000000000000000" pitchFamily="2" charset="2"/>
              <a:buChar char="§"/>
            </a:pPr>
            <a:r>
              <a:rPr lang="en-AU" sz="3600">
                <a:latin typeface="Arial"/>
                <a:cs typeface="Arial"/>
              </a:rPr>
              <a:t>Record the next five</a:t>
            </a:r>
            <a:r>
              <a:rPr lang="en-AU" sz="3600" b="1">
                <a:latin typeface="Arial"/>
                <a:cs typeface="Arial"/>
              </a:rPr>
              <a:t> </a:t>
            </a:r>
            <a:r>
              <a:rPr lang="en-AU" sz="3600">
                <a:latin typeface="Arial"/>
                <a:cs typeface="Arial"/>
              </a:rPr>
              <a:t>numbers in the pattern, increasing by 4.</a:t>
            </a:r>
          </a:p>
          <a:p>
            <a:pPr marL="571500" indent="-571500" algn="ctr">
              <a:buFont typeface="Wingdings" panose="05000000000000000000" pitchFamily="2" charset="2"/>
              <a:buChar char="§"/>
            </a:pPr>
            <a:r>
              <a:rPr lang="en-AU" sz="3600" b="1"/>
              <a:t>Record</a:t>
            </a:r>
            <a:r>
              <a:rPr lang="en-AU" sz="3600"/>
              <a:t> the pattern on your number line.</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6">
            <a:extLst>
              <a:ext uri="{FF2B5EF4-FFF2-40B4-BE49-F238E27FC236}">
                <a16:creationId xmlns:a16="http://schemas.microsoft.com/office/drawing/2014/main" id="{F1AFF586-B423-9965-DA9A-3DF1E92FFE27}"/>
              </a:ext>
            </a:extLst>
          </p:cNvPr>
          <p:cNvSpPr txBox="1">
            <a:spLocks/>
          </p:cNvSpPr>
          <p:nvPr/>
        </p:nvSpPr>
        <p:spPr>
          <a:xfrm>
            <a:off x="360002" y="1299010"/>
            <a:ext cx="11483998" cy="104064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Are all</a:t>
            </a:r>
            <a:r>
              <a:rPr lang="en-AU" sz="4400"/>
              <a:t> shapes with </a:t>
            </a:r>
            <a:r>
              <a:rPr lang="en-AU" sz="4400" b="1"/>
              <a:t>4 sides</a:t>
            </a:r>
            <a:r>
              <a:rPr lang="en-AU" sz="4400"/>
              <a:t> rectangles?</a:t>
            </a:r>
          </a:p>
        </p:txBody>
      </p:sp>
      <p:sp>
        <p:nvSpPr>
          <p:cNvPr id="8" name="Rectangle 7" descr="A red rectangle">
            <a:extLst>
              <a:ext uri="{FF2B5EF4-FFF2-40B4-BE49-F238E27FC236}">
                <a16:creationId xmlns:a16="http://schemas.microsoft.com/office/drawing/2014/main" id="{A55CF1F4-E716-8457-5230-4C0F4E40A0BB}"/>
              </a:ext>
            </a:extLst>
          </p:cNvPr>
          <p:cNvSpPr/>
          <p:nvPr/>
        </p:nvSpPr>
        <p:spPr>
          <a:xfrm>
            <a:off x="3879476" y="2878057"/>
            <a:ext cx="4649002" cy="1876171"/>
          </a:xfrm>
          <a:prstGeom prst="rect">
            <a:avLst/>
          </a:prstGeom>
          <a:solidFill>
            <a:schemeClr val="tx2"/>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6">
            <a:extLst>
              <a:ext uri="{FF2B5EF4-FFF2-40B4-BE49-F238E27FC236}">
                <a16:creationId xmlns:a16="http://schemas.microsoft.com/office/drawing/2014/main" id="{3CCB3923-8402-13CC-FF7F-F49190E2A497}"/>
              </a:ext>
            </a:extLst>
          </p:cNvPr>
          <p:cNvSpPr txBox="1">
            <a:spLocks/>
          </p:cNvSpPr>
          <p:nvPr/>
        </p:nvSpPr>
        <p:spPr>
          <a:xfrm>
            <a:off x="461978" y="5292628"/>
            <a:ext cx="11483998" cy="104064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 </a:t>
            </a:r>
            <a:r>
              <a:rPr lang="en-AU" sz="4400"/>
              <a:t>your</a:t>
            </a:r>
            <a:r>
              <a:rPr lang="en-AU" sz="4400" b="1"/>
              <a:t> thinking.</a:t>
            </a:r>
            <a:endParaRPr lang="en-AU" sz="4400"/>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ascending and descending order</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194F6A9A-D611-FC51-8F7A-F0CB3B2E8D0C}"/>
              </a:ext>
            </a:extLst>
          </p:cNvPr>
          <p:cNvSpPr txBox="1"/>
          <p:nvPr/>
        </p:nvSpPr>
        <p:spPr>
          <a:xfrm>
            <a:off x="360000" y="1314192"/>
            <a:ext cx="11205825" cy="2483681"/>
          </a:xfrm>
          <a:prstGeom prst="rect">
            <a:avLst/>
          </a:prstGeom>
          <a:noFill/>
        </p:spPr>
        <p:txBody>
          <a:bodyPr wrap="square" lIns="0" tIns="0" rIns="0" bIns="0" rtlCol="0">
            <a:noAutofit/>
          </a:bodyPr>
          <a:lstStyle/>
          <a:p>
            <a:pPr algn="ctr">
              <a:lnSpc>
                <a:spcPct val="150000"/>
              </a:lnSpc>
            </a:pPr>
            <a:r>
              <a:rPr lang="en-AU" sz="4400">
                <a:latin typeface="Arial" panose="020B0604020202020204" pitchFamily="34" charset="0"/>
                <a:cs typeface="Arial" panose="020B0604020202020204" pitchFamily="34" charset="0"/>
              </a:rPr>
              <a:t>Create and arrange </a:t>
            </a:r>
            <a:r>
              <a:rPr lang="en-AU" sz="4400" b="1">
                <a:latin typeface="Arial" panose="020B0604020202020204" pitchFamily="34" charset="0"/>
                <a:cs typeface="Arial" panose="020B0604020202020204" pitchFamily="34" charset="0"/>
              </a:rPr>
              <a:t>4-digit numbers </a:t>
            </a:r>
            <a:r>
              <a:rPr lang="en-AU" sz="4400">
                <a:latin typeface="Arial" panose="020B0604020202020204" pitchFamily="34" charset="0"/>
                <a:cs typeface="Arial" panose="020B0604020202020204" pitchFamily="34" charset="0"/>
              </a:rPr>
              <a:t>in </a:t>
            </a:r>
            <a:r>
              <a:rPr lang="en-AU" sz="4400" b="1">
                <a:latin typeface="Arial" panose="020B0604020202020204" pitchFamily="34" charset="0"/>
                <a:cs typeface="Arial" panose="020B0604020202020204" pitchFamily="34" charset="0"/>
              </a:rPr>
              <a:t>ascending</a:t>
            </a:r>
            <a:r>
              <a:rPr lang="en-AU" sz="4400">
                <a:latin typeface="Arial" panose="020B0604020202020204" pitchFamily="34" charset="0"/>
                <a:cs typeface="Arial" panose="020B0604020202020204" pitchFamily="34" charset="0"/>
              </a:rPr>
              <a:t> and </a:t>
            </a:r>
            <a:r>
              <a:rPr lang="en-AU" sz="4400" b="1">
                <a:latin typeface="Arial" panose="020B0604020202020204" pitchFamily="34" charset="0"/>
                <a:cs typeface="Arial" panose="020B0604020202020204" pitchFamily="34" charset="0"/>
              </a:rPr>
              <a:t>descending</a:t>
            </a:r>
            <a:r>
              <a:rPr lang="en-AU" sz="4400">
                <a:latin typeface="Arial" panose="020B0604020202020204" pitchFamily="34" charset="0"/>
                <a:cs typeface="Arial" panose="020B0604020202020204" pitchFamily="34" charset="0"/>
              </a:rPr>
              <a:t> order.</a:t>
            </a:r>
            <a:endParaRPr lang="en-AU" sz="4400">
              <a:effectLst/>
              <a:latin typeface="Arial" panose="020B0604020202020204" pitchFamily="34" charset="0"/>
              <a:ea typeface="Calibri" panose="020F0502020204030204" pitchFamily="34" charset="0"/>
              <a:cs typeface="Arial" panose="020B0604020202020204" pitchFamily="34" charset="0"/>
            </a:endParaRPr>
          </a:p>
        </p:txBody>
      </p:sp>
      <p:sp>
        <p:nvSpPr>
          <p:cNvPr id="5" name="Freeform 3" descr="A 9-sided die">
            <a:extLst>
              <a:ext uri="{FF2B5EF4-FFF2-40B4-BE49-F238E27FC236}">
                <a16:creationId xmlns:a16="http://schemas.microsoft.com/office/drawing/2014/main" id="{9C69072C-79CC-5FA9-F105-5033C9E5F3B6}"/>
              </a:ext>
            </a:extLst>
          </p:cNvPr>
          <p:cNvSpPr/>
          <p:nvPr/>
        </p:nvSpPr>
        <p:spPr>
          <a:xfrm>
            <a:off x="5317792" y="3797873"/>
            <a:ext cx="2166742" cy="2245843"/>
          </a:xfrm>
          <a:custGeom>
            <a:avLst/>
            <a:gdLst/>
            <a:ahLst/>
            <a:cxnLst/>
            <a:rect l="l" t="t" r="r" b="b"/>
            <a:pathLst>
              <a:path w="2309926" h="2183930">
                <a:moveTo>
                  <a:pt x="0" y="0"/>
                </a:moveTo>
                <a:lnTo>
                  <a:pt x="2309925" y="0"/>
                </a:lnTo>
                <a:lnTo>
                  <a:pt x="2309925" y="2183930"/>
                </a:lnTo>
                <a:lnTo>
                  <a:pt x="0" y="2183930"/>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63500" sx="102000" sy="102000" algn="ctr" rotWithShape="0">
              <a:prstClr val="black">
                <a:alpha val="40000"/>
              </a:prstClr>
            </a:outerShdw>
          </a:effectLst>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 uri="{C183D7F6-B498-43B3-948B-1728B52AA6E4}">
                <adec:decorative xmlns:adec="http://schemas.microsoft.com/office/drawing/2017/decorative" val="0"/>
              </a:ext>
            </a:extLst>
          </p:cNvPr>
          <p:cNvSpPr>
            <a:spLocks noGrp="1"/>
          </p:cNvSpPr>
          <p:nvPr>
            <p:ph type="body" sz="quarter" idx="22"/>
          </p:nvPr>
        </p:nvSpPr>
        <p:spPr>
          <a:xfrm>
            <a:off x="600963" y="1585683"/>
            <a:ext cx="11243037" cy="893226"/>
          </a:xfrm>
        </p:spPr>
        <p:txBody>
          <a:bodyPr/>
          <a:lstStyle/>
          <a:p>
            <a:pPr algn="ctr"/>
            <a:r>
              <a:rPr lang="en-AU" sz="4400"/>
              <a:t>The </a:t>
            </a:r>
            <a:r>
              <a:rPr lang="en-AU" sz="4400" b="1"/>
              <a:t>nearest thousand </a:t>
            </a:r>
            <a:r>
              <a:rPr lang="en-AU" sz="4400"/>
              <a:t>to 4763 is 5000.</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1394380824"/>
              </p:ext>
            </p:extLst>
          </p:nvPr>
        </p:nvGraphicFramePr>
        <p:xfrm>
          <a:off x="2557461" y="339224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5" name="Text Placeholder 6">
            <a:extLst>
              <a:ext uri="{FF2B5EF4-FFF2-40B4-BE49-F238E27FC236}">
                <a16:creationId xmlns:a16="http://schemas.microsoft.com/office/drawing/2014/main" id="{0CEED6A7-FB80-6489-31BF-66EDE728038E}"/>
              </a:ext>
            </a:extLst>
          </p:cNvPr>
          <p:cNvSpPr txBox="1">
            <a:spLocks/>
          </p:cNvSpPr>
          <p:nvPr/>
        </p:nvSpPr>
        <p:spPr>
          <a:xfrm>
            <a:off x="474481" y="4814004"/>
            <a:ext cx="11243037" cy="1423578"/>
          </a:xfrm>
          <a:prstGeom prst="rect">
            <a:avLst/>
          </a:prstGeom>
        </p:spPr>
        <p:txBody>
          <a:bodyPr vert="horz" lIns="0" tIns="0" rIns="0" bIns="0" rtlCol="0" anchor="t">
            <a:noAutofit/>
          </a:bodyPr>
          <a:lstStyle>
            <a:defPPr>
              <a:defRPr lang="en-US"/>
            </a:defPPr>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Communicate</a:t>
            </a:r>
            <a:r>
              <a:rPr lang="en-US" sz="4400">
                <a:latin typeface="Arial"/>
                <a:cs typeface="Arial"/>
              </a:rPr>
              <a:t> your </a:t>
            </a:r>
            <a:r>
              <a:rPr lang="en-US" sz="4400" b="1">
                <a:latin typeface="Arial"/>
                <a:cs typeface="Arial"/>
              </a:rPr>
              <a:t>reasoning</a:t>
            </a:r>
            <a:r>
              <a:rPr lang="en-US" sz="4400">
                <a:latin typeface="Arial"/>
                <a:cs typeface="Arial"/>
              </a:rPr>
              <a:t>. </a:t>
            </a:r>
            <a:endParaRPr lang="en-US" sz="4400"/>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06F04-B539-453D-CB6A-AB272EFE74E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B344A11-A376-F45F-20C7-7EC5F84CFB0E}"/>
              </a:ext>
            </a:extLst>
          </p:cNvPr>
          <p:cNvSpPr>
            <a:spLocks noGrp="1"/>
          </p:cNvSpPr>
          <p:nvPr>
            <p:ph type="title"/>
          </p:nvPr>
        </p:nvSpPr>
        <p:spPr>
          <a:xfrm>
            <a:off x="325166" y="385003"/>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1303465E-6B6F-B427-40D5-76C8BE6C12A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BE6F680-7195-FE75-BD38-F53602A52C18}"/>
              </a:ext>
            </a:extLst>
          </p:cNvPr>
          <p:cNvSpPr txBox="1"/>
          <p:nvPr/>
        </p:nvSpPr>
        <p:spPr>
          <a:xfrm>
            <a:off x="321312" y="3526445"/>
            <a:ext cx="11484000" cy="1384995"/>
          </a:xfrm>
          <a:prstGeom prst="rect">
            <a:avLst/>
          </a:prstGeom>
          <a:noFill/>
        </p:spPr>
        <p:txBody>
          <a:bodyPr wrap="square" lIns="91440" tIns="45720" rIns="91440" bIns="45720" anchor="t">
            <a:spAutoFit/>
          </a:bodyPr>
          <a:lstStyle/>
          <a:p>
            <a:pPr algn="ctr"/>
            <a:r>
              <a:rPr lang="en-AU" sz="4000" b="1" i="0">
                <a:solidFill>
                  <a:srgbClr val="000000"/>
                </a:solidFill>
                <a:effectLst/>
              </a:rPr>
              <a:t>Match </a:t>
            </a:r>
            <a:r>
              <a:rPr lang="en-AU" sz="4400" b="0" i="0">
                <a:solidFill>
                  <a:srgbClr val="000000"/>
                </a:solidFill>
                <a:effectLst/>
              </a:rPr>
              <a:t>the</a:t>
            </a:r>
            <a:r>
              <a:rPr lang="en-AU" sz="4000" b="0" i="0">
                <a:solidFill>
                  <a:srgbClr val="000000"/>
                </a:solidFill>
                <a:effectLst/>
              </a:rPr>
              <a:t> </a:t>
            </a:r>
            <a:r>
              <a:rPr lang="en-AU" sz="4000" b="1" i="0">
                <a:solidFill>
                  <a:srgbClr val="000000"/>
                </a:solidFill>
                <a:effectLst/>
              </a:rPr>
              <a:t>features</a:t>
            </a:r>
            <a:r>
              <a:rPr lang="en-AU" sz="4000" b="0" i="0">
                <a:solidFill>
                  <a:srgbClr val="000000"/>
                </a:solidFill>
                <a:effectLst/>
              </a:rPr>
              <a:t> of the </a:t>
            </a:r>
            <a:r>
              <a:rPr lang="en-AU" sz="4000" b="1" i="0">
                <a:solidFill>
                  <a:srgbClr val="000000"/>
                </a:solidFill>
                <a:effectLst/>
              </a:rPr>
              <a:t>prism</a:t>
            </a:r>
            <a:r>
              <a:rPr lang="en-AU" sz="4000" b="1">
                <a:solidFill>
                  <a:srgbClr val="000000"/>
                </a:solidFill>
              </a:rPr>
              <a:t> </a:t>
            </a:r>
            <a:r>
              <a:rPr lang="en-AU" sz="4000" b="1" i="0">
                <a:solidFill>
                  <a:srgbClr val="000000"/>
                </a:solidFill>
                <a:effectLst/>
              </a:rPr>
              <a:t> </a:t>
            </a:r>
            <a:r>
              <a:rPr lang="en-AU" sz="4000" b="1">
                <a:solidFill>
                  <a:srgbClr val="000000"/>
                </a:solidFill>
              </a:rPr>
              <a:t>labelled A</a:t>
            </a:r>
            <a:r>
              <a:rPr lang="en-AU" sz="4000" b="1" i="0">
                <a:solidFill>
                  <a:srgbClr val="000000"/>
                </a:solidFill>
                <a:effectLst/>
              </a:rPr>
              <a:t>, B</a:t>
            </a:r>
            <a:r>
              <a:rPr lang="en-AU" sz="4000" b="1">
                <a:solidFill>
                  <a:srgbClr val="000000"/>
                </a:solidFill>
              </a:rPr>
              <a:t> and </a:t>
            </a:r>
            <a:r>
              <a:rPr lang="en-AU" sz="4000" b="1" i="0">
                <a:solidFill>
                  <a:srgbClr val="000000"/>
                </a:solidFill>
                <a:effectLst/>
              </a:rPr>
              <a:t>C</a:t>
            </a:r>
            <a:r>
              <a:rPr lang="en-AU" sz="4000" b="0" i="0">
                <a:solidFill>
                  <a:srgbClr val="000000"/>
                </a:solidFill>
                <a:effectLst/>
              </a:rPr>
              <a:t> with the terms:</a:t>
            </a:r>
          </a:p>
        </p:txBody>
      </p:sp>
      <p:sp>
        <p:nvSpPr>
          <p:cNvPr id="13" name="TextBox 12">
            <a:extLst>
              <a:ext uri="{FF2B5EF4-FFF2-40B4-BE49-F238E27FC236}">
                <a16:creationId xmlns:a16="http://schemas.microsoft.com/office/drawing/2014/main" id="{D911D5CD-166A-CFE3-5314-4B951997B790}"/>
              </a:ext>
            </a:extLst>
          </p:cNvPr>
          <p:cNvSpPr txBox="1"/>
          <p:nvPr/>
        </p:nvSpPr>
        <p:spPr>
          <a:xfrm>
            <a:off x="8371354" y="5642894"/>
            <a:ext cx="1420706" cy="778557"/>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face</a:t>
            </a:r>
            <a:endParaRPr lang="en-AU" sz="1800">
              <a:latin typeface="Edu NSW ACT Foundation" pitchFamily="2" charset="0"/>
            </a:endParaRPr>
          </a:p>
        </p:txBody>
      </p:sp>
      <p:sp>
        <p:nvSpPr>
          <p:cNvPr id="16" name="TextBox 15">
            <a:extLst>
              <a:ext uri="{FF2B5EF4-FFF2-40B4-BE49-F238E27FC236}">
                <a16:creationId xmlns:a16="http://schemas.microsoft.com/office/drawing/2014/main" id="{C893AD73-0F18-F4FA-F479-7728F4639B60}"/>
              </a:ext>
            </a:extLst>
          </p:cNvPr>
          <p:cNvSpPr txBox="1"/>
          <p:nvPr/>
        </p:nvSpPr>
        <p:spPr>
          <a:xfrm>
            <a:off x="1839691" y="5642896"/>
            <a:ext cx="1420706" cy="778557"/>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vertex</a:t>
            </a:r>
            <a:endParaRPr lang="en-AU" sz="1800">
              <a:latin typeface="Edu NSW ACT Foundation" pitchFamily="2" charset="0"/>
            </a:endParaRPr>
          </a:p>
        </p:txBody>
      </p:sp>
      <p:sp>
        <p:nvSpPr>
          <p:cNvPr id="15" name="TextBox 14">
            <a:extLst>
              <a:ext uri="{FF2B5EF4-FFF2-40B4-BE49-F238E27FC236}">
                <a16:creationId xmlns:a16="http://schemas.microsoft.com/office/drawing/2014/main" id="{C59EF657-EDCB-4808-B64D-7F0C887F1D46}"/>
              </a:ext>
            </a:extLst>
          </p:cNvPr>
          <p:cNvSpPr txBox="1"/>
          <p:nvPr/>
        </p:nvSpPr>
        <p:spPr>
          <a:xfrm>
            <a:off x="5105522" y="5642895"/>
            <a:ext cx="1420707" cy="778557"/>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edge</a:t>
            </a:r>
            <a:endParaRPr lang="en-AU" sz="1800">
              <a:latin typeface="Edu NSW ACT Foundation" pitchFamily="2" charset="0"/>
            </a:endParaRPr>
          </a:p>
        </p:txBody>
      </p:sp>
      <p:sp>
        <p:nvSpPr>
          <p:cNvPr id="2" name="Slide Number Placeholder 1">
            <a:extLst>
              <a:ext uri="{FF2B5EF4-FFF2-40B4-BE49-F238E27FC236}">
                <a16:creationId xmlns:a16="http://schemas.microsoft.com/office/drawing/2014/main" id="{05619D6A-A058-ADE6-DF71-880F45D9F498}"/>
              </a:ext>
              <a:ext uri="{C183D7F6-B498-43B3-948B-1728B52AA6E4}">
                <adec:decorative xmlns:adec="http://schemas.microsoft.com/office/drawing/2017/decorative" val="1"/>
              </a:ext>
            </a:extLst>
          </p:cNvPr>
          <p:cNvSpPr>
            <a:spLocks noGrp="1"/>
          </p:cNvSpPr>
          <p:nvPr>
            <p:ph type="sldNum" sz="quarter" idx="12"/>
          </p:nvPr>
        </p:nvSpPr>
        <p:spPr/>
        <p:txBody>
          <a:bodyPr/>
          <a:lstStyle/>
          <a:p>
            <a:endParaRPr lang="en-AU"/>
          </a:p>
          <a:p>
            <a:endParaRPr lang="en-AU"/>
          </a:p>
        </p:txBody>
      </p:sp>
      <p:pic>
        <p:nvPicPr>
          <p:cNvPr id="20" name="Picture 19" descr="A rectangular prism labelled with the letters A, B and C. ">
            <a:extLst>
              <a:ext uri="{FF2B5EF4-FFF2-40B4-BE49-F238E27FC236}">
                <a16:creationId xmlns:a16="http://schemas.microsoft.com/office/drawing/2014/main" id="{B62C8A22-7E48-DFCE-D202-09FA87762029}"/>
              </a:ext>
            </a:extLst>
          </p:cNvPr>
          <p:cNvPicPr>
            <a:picLocks noChangeAspect="1"/>
          </p:cNvPicPr>
          <p:nvPr/>
        </p:nvPicPr>
        <p:blipFill>
          <a:blip r:embed="rId4"/>
          <a:stretch>
            <a:fillRect/>
          </a:stretch>
        </p:blipFill>
        <p:spPr>
          <a:xfrm>
            <a:off x="3739161" y="388064"/>
            <a:ext cx="6049162" cy="2938424"/>
          </a:xfrm>
          <a:prstGeom prst="rect">
            <a:avLst/>
          </a:prstGeom>
        </p:spPr>
      </p:pic>
    </p:spTree>
    <p:extLst>
      <p:ext uri="{BB962C8B-B14F-4D97-AF65-F5344CB8AC3E}">
        <p14:creationId xmlns:p14="http://schemas.microsoft.com/office/powerpoint/2010/main" val="59071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06EE072-E452-5C25-953F-43CA275B382B}"/>
              </a:ext>
            </a:extLst>
          </p:cNvPr>
          <p:cNvSpPr txBox="1"/>
          <p:nvPr/>
        </p:nvSpPr>
        <p:spPr>
          <a:xfrm>
            <a:off x="360000" y="1332995"/>
            <a:ext cx="4910169" cy="4906408"/>
          </a:xfrm>
          <a:prstGeom prst="rect">
            <a:avLst/>
          </a:prstGeom>
          <a:noFill/>
        </p:spPr>
        <p:txBody>
          <a:bodyPr wrap="square">
            <a:spAutoFit/>
          </a:bodyPr>
          <a:lstStyle/>
          <a:p>
            <a:pPr>
              <a:lnSpc>
                <a:spcPct val="150000"/>
              </a:lnSpc>
            </a:pPr>
            <a:r>
              <a:rPr lang="en-AU" sz="3600" b="1" kern="1200" dirty="0">
                <a:solidFill>
                  <a:schemeClr val="tx1"/>
                </a:solidFill>
                <a:effectLst/>
                <a:latin typeface="Arial" panose="020B0604020202020204" pitchFamily="34" charset="0"/>
                <a:ea typeface="+mn-ea"/>
                <a:cs typeface="Arial" panose="020B0604020202020204" pitchFamily="34" charset="0"/>
              </a:rPr>
              <a:t>Record</a:t>
            </a:r>
            <a:r>
              <a:rPr lang="en-AU" sz="3600" kern="1200" dirty="0">
                <a:solidFill>
                  <a:schemeClr val="tx1"/>
                </a:solidFill>
                <a:effectLst/>
                <a:latin typeface="Arial" panose="020B0604020202020204" pitchFamily="34" charset="0"/>
                <a:ea typeface="+mn-ea"/>
                <a:cs typeface="Arial" panose="020B0604020202020204" pitchFamily="34" charset="0"/>
              </a:rPr>
              <a:t> the </a:t>
            </a:r>
            <a:r>
              <a:rPr lang="en-AU" sz="3600" b="1" kern="1200" dirty="0">
                <a:solidFill>
                  <a:schemeClr val="tx1"/>
                </a:solidFill>
                <a:effectLst/>
                <a:latin typeface="Arial" panose="020B0604020202020204" pitchFamily="34" charset="0"/>
                <a:ea typeface="+mn-ea"/>
                <a:cs typeface="Arial" panose="020B0604020202020204" pitchFamily="34" charset="0"/>
              </a:rPr>
              <a:t>locations of the</a:t>
            </a:r>
            <a:r>
              <a:rPr lang="en-AU" sz="3600" kern="1200" dirty="0">
                <a:solidFill>
                  <a:schemeClr val="tx1"/>
                </a:solidFill>
                <a:effectLst/>
                <a:latin typeface="Arial" panose="020B0604020202020204" pitchFamily="34" charset="0"/>
                <a:ea typeface="+mn-ea"/>
                <a:cs typeface="Arial" panose="020B0604020202020204" pitchFamily="34" charset="0"/>
              </a:rPr>
              <a:t>:</a:t>
            </a:r>
          </a:p>
          <a:p>
            <a:pPr marL="571500" indent="-571500">
              <a:lnSpc>
                <a:spcPct val="200000"/>
              </a:lnSpc>
              <a:buFont typeface="Arial" panose="020B0604020202020204" pitchFamily="34" charset="0"/>
              <a:buChar char="•"/>
            </a:pPr>
            <a:r>
              <a:rPr lang="en-AU" sz="3600" dirty="0">
                <a:latin typeface="Arial" panose="020B0604020202020204" pitchFamily="34" charset="0"/>
                <a:cs typeface="Arial" panose="020B0604020202020204" pitchFamily="34" charset="0"/>
              </a:rPr>
              <a:t>hose </a:t>
            </a:r>
          </a:p>
          <a:p>
            <a:pPr marL="571500" indent="-571500">
              <a:lnSpc>
                <a:spcPct val="200000"/>
              </a:lnSpc>
              <a:buFont typeface="Arial" panose="020B0604020202020204" pitchFamily="34" charset="0"/>
              <a:buChar char="•"/>
            </a:pPr>
            <a:r>
              <a:rPr lang="en-AU" sz="3600" dirty="0">
                <a:latin typeface="Arial" panose="020B0604020202020204" pitchFamily="34" charset="0"/>
                <a:cs typeface="Arial" panose="020B0604020202020204" pitchFamily="34" charset="0"/>
              </a:rPr>
              <a:t>t</a:t>
            </a:r>
            <a:r>
              <a:rPr lang="en-AU" sz="3600" kern="1200" dirty="0">
                <a:solidFill>
                  <a:schemeClr val="tx1"/>
                </a:solidFill>
                <a:effectLst/>
                <a:latin typeface="Arial" panose="020B0604020202020204" pitchFamily="34" charset="0"/>
                <a:ea typeface="+mn-ea"/>
                <a:cs typeface="Arial" panose="020B0604020202020204" pitchFamily="34" charset="0"/>
              </a:rPr>
              <a:t>rampoline</a:t>
            </a:r>
          </a:p>
          <a:p>
            <a:pPr marL="571500" indent="-571500">
              <a:lnSpc>
                <a:spcPct val="200000"/>
              </a:lnSpc>
              <a:buFont typeface="Arial" panose="020B0604020202020204" pitchFamily="34" charset="0"/>
              <a:buChar char="•"/>
            </a:pPr>
            <a:r>
              <a:rPr lang="en-AU" sz="3600" dirty="0">
                <a:latin typeface="Arial" panose="020B0604020202020204" pitchFamily="34" charset="0"/>
                <a:cs typeface="Arial" panose="020B0604020202020204" pitchFamily="34" charset="0"/>
              </a:rPr>
              <a:t>soccer goal </a:t>
            </a:r>
            <a:endParaRPr lang="en-AU" sz="3600" dirty="0"/>
          </a:p>
        </p:txBody>
      </p:sp>
      <p:sp>
        <p:nvSpPr>
          <p:cNvPr id="5" name="Freeform 4">
            <a:extLst>
              <a:ext uri="{FF2B5EF4-FFF2-40B4-BE49-F238E27FC236}">
                <a16:creationId xmlns:a16="http://schemas.microsoft.com/office/drawing/2014/main" id="{290B79F1-07DF-03A0-1651-41554395A622}"/>
              </a:ext>
              <a:ext uri="{C183D7F6-B498-43B3-948B-1728B52AA6E4}">
                <adec:decorative xmlns:adec="http://schemas.microsoft.com/office/drawing/2017/decorative" val="1"/>
              </a:ext>
            </a:extLst>
          </p:cNvPr>
          <p:cNvSpPr/>
          <p:nvPr/>
        </p:nvSpPr>
        <p:spPr>
          <a:xfrm>
            <a:off x="2815084" y="2932071"/>
            <a:ext cx="915592" cy="993858"/>
          </a:xfrm>
          <a:custGeom>
            <a:avLst/>
            <a:gdLst/>
            <a:ahLst/>
            <a:cxnLst/>
            <a:rect l="l" t="t" r="r" b="b"/>
            <a:pathLst>
              <a:path w="915592" h="993858">
                <a:moveTo>
                  <a:pt x="0" y="0"/>
                </a:moveTo>
                <a:lnTo>
                  <a:pt x="915592" y="0"/>
                </a:lnTo>
                <a:lnTo>
                  <a:pt x="915592" y="993858"/>
                </a:lnTo>
                <a:lnTo>
                  <a:pt x="0" y="9938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3">
            <a:extLst>
              <a:ext uri="{FF2B5EF4-FFF2-40B4-BE49-F238E27FC236}">
                <a16:creationId xmlns:a16="http://schemas.microsoft.com/office/drawing/2014/main" id="{D2F733A2-20F7-6642-17C2-14D4A69DB71B}"/>
              </a:ext>
              <a:ext uri="{C183D7F6-B498-43B3-948B-1728B52AA6E4}">
                <adec:decorative xmlns:adec="http://schemas.microsoft.com/office/drawing/2017/decorative" val="1"/>
              </a:ext>
            </a:extLst>
          </p:cNvPr>
          <p:cNvSpPr/>
          <p:nvPr/>
        </p:nvSpPr>
        <p:spPr>
          <a:xfrm>
            <a:off x="3272880" y="4200081"/>
            <a:ext cx="1065416" cy="993859"/>
          </a:xfrm>
          <a:custGeom>
            <a:avLst/>
            <a:gdLst/>
            <a:ahLst/>
            <a:cxnLst/>
            <a:rect l="l" t="t" r="r" b="b"/>
            <a:pathLst>
              <a:path w="1357715" h="1267767">
                <a:moveTo>
                  <a:pt x="0" y="0"/>
                </a:moveTo>
                <a:lnTo>
                  <a:pt x="1357715" y="0"/>
                </a:lnTo>
                <a:lnTo>
                  <a:pt x="1357715" y="1267767"/>
                </a:lnTo>
                <a:lnTo>
                  <a:pt x="0" y="1267767"/>
                </a:lnTo>
                <a:lnTo>
                  <a:pt x="0" y="0"/>
                </a:lnTo>
                <a:close/>
              </a:path>
            </a:pathLst>
          </a:custGeom>
          <a:blipFill>
            <a:blip r:embed="rId6"/>
            <a:stretch>
              <a:fillRect/>
            </a:stretch>
          </a:blipFill>
        </p:spPr>
        <p:txBody>
          <a:bodyPr/>
          <a:lstStyle/>
          <a:p>
            <a:endParaRPr lang="en-AU"/>
          </a:p>
        </p:txBody>
      </p:sp>
      <p:sp>
        <p:nvSpPr>
          <p:cNvPr id="9" name="Freeform 2">
            <a:extLst>
              <a:ext uri="{FF2B5EF4-FFF2-40B4-BE49-F238E27FC236}">
                <a16:creationId xmlns:a16="http://schemas.microsoft.com/office/drawing/2014/main" id="{79BF85F8-F4C4-821C-321C-A562E02FBB43}"/>
              </a:ext>
              <a:ext uri="{C183D7F6-B498-43B3-948B-1728B52AA6E4}">
                <adec:decorative xmlns:adec="http://schemas.microsoft.com/office/drawing/2017/decorative" val="1"/>
              </a:ext>
            </a:extLst>
          </p:cNvPr>
          <p:cNvSpPr/>
          <p:nvPr/>
        </p:nvSpPr>
        <p:spPr>
          <a:xfrm flipH="1">
            <a:off x="3817824" y="5407637"/>
            <a:ext cx="1346990" cy="831766"/>
          </a:xfrm>
          <a:custGeom>
            <a:avLst/>
            <a:gdLst/>
            <a:ahLst/>
            <a:cxnLst/>
            <a:rect l="l" t="t" r="r" b="b"/>
            <a:pathLst>
              <a:path w="1346990" h="831766">
                <a:moveTo>
                  <a:pt x="1346990" y="0"/>
                </a:moveTo>
                <a:lnTo>
                  <a:pt x="0" y="0"/>
                </a:lnTo>
                <a:lnTo>
                  <a:pt x="0" y="831767"/>
                </a:lnTo>
                <a:lnTo>
                  <a:pt x="1346990" y="831767"/>
                </a:lnTo>
                <a:lnTo>
                  <a:pt x="1346990" y="0"/>
                </a:lnTo>
                <a:close/>
              </a:path>
            </a:pathLst>
          </a:custGeom>
          <a:blipFill>
            <a:blip r:embed="rId7"/>
            <a:stretch>
              <a:fillRect/>
            </a:stretch>
          </a:blipFill>
        </p:spPr>
        <p:txBody>
          <a:bodyPr/>
          <a:lstStyle/>
          <a:p>
            <a:endParaRPr lang="en-AU"/>
          </a:p>
        </p:txBody>
      </p:sp>
      <p:pic>
        <p:nvPicPr>
          <p:cNvPr id="13" name="Picture 12" descr="A 4x 4 grid map of the backyard with the following reference:&#10;top row, row 4:  first square - tree house, third square - trampoline, row 3: first square -  soccer goal,  row 2: square 2 mango tree, fourth square- veggie patch, Bottom row 1: first square -  hose, square 3- outdoor dining, fourth square- BBQ.">
            <a:extLst>
              <a:ext uri="{FF2B5EF4-FFF2-40B4-BE49-F238E27FC236}">
                <a16:creationId xmlns:a16="http://schemas.microsoft.com/office/drawing/2014/main" id="{0C81202A-C677-1A93-3568-CAA3268DD6A1}"/>
              </a:ext>
            </a:extLst>
          </p:cNvPr>
          <p:cNvPicPr>
            <a:picLocks noChangeAspect="1"/>
          </p:cNvPicPr>
          <p:nvPr/>
        </p:nvPicPr>
        <p:blipFill>
          <a:blip r:embed="rId8">
            <a:extLst>
              <a:ext uri="{28A0092B-C50C-407E-A947-70E740481C1C}">
                <a14:useLocalDpi xmlns:a14="http://schemas.microsoft.com/office/drawing/2010/main" val="0"/>
              </a:ext>
            </a:extLst>
          </a:blip>
          <a:srcRect l="3146" t="10152" r="8511" b="28900"/>
          <a:stretch>
            <a:fillRect/>
          </a:stretch>
        </p:blipFill>
        <p:spPr>
          <a:xfrm>
            <a:off x="6096000" y="1152678"/>
            <a:ext cx="5506691" cy="5453484"/>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7F18C6C-6DAE-48BC-B73E-E9E9DB709408}"/>
              </a:ext>
            </a:extLst>
          </p:cNvPr>
          <p:cNvSpPr txBox="1"/>
          <p:nvPr/>
        </p:nvSpPr>
        <p:spPr>
          <a:xfrm>
            <a:off x="972075" y="1077901"/>
            <a:ext cx="10058400" cy="1998176"/>
          </a:xfrm>
          <a:prstGeom prst="rect">
            <a:avLst/>
          </a:prstGeom>
          <a:noFill/>
        </p:spPr>
        <p:txBody>
          <a:bodyPr wrap="square">
            <a:spAutoFit/>
          </a:bodyPr>
          <a:lstStyle/>
          <a:p>
            <a:pPr algn="ctr">
              <a:lnSpc>
                <a:spcPct val="150000"/>
              </a:lnSpc>
            </a:pPr>
            <a:r>
              <a:rPr lang="en-AU" sz="4400" b="1" kern="1200">
                <a:solidFill>
                  <a:schemeClr val="tx1"/>
                </a:solidFill>
                <a:effectLst/>
                <a:latin typeface="Arial" panose="020B0604020202020204" pitchFamily="34" charset="0"/>
                <a:ea typeface="+mn-ea"/>
                <a:cs typeface="Arial" panose="020B0604020202020204" pitchFamily="34" charset="0"/>
              </a:rPr>
              <a:t>Record</a:t>
            </a:r>
            <a:r>
              <a:rPr lang="en-AU" sz="4400" kern="1200">
                <a:solidFill>
                  <a:schemeClr val="tx1"/>
                </a:solidFill>
                <a:effectLst/>
                <a:latin typeface="Arial" panose="020B0604020202020204" pitchFamily="34" charset="0"/>
                <a:ea typeface="+mn-ea"/>
                <a:cs typeface="Arial" panose="020B0604020202020204" pitchFamily="34" charset="0"/>
              </a:rPr>
              <a:t> the </a:t>
            </a:r>
            <a:r>
              <a:rPr lang="en-AU" sz="4400" b="1" kern="1200">
                <a:solidFill>
                  <a:schemeClr val="tx1"/>
                </a:solidFill>
                <a:effectLst/>
                <a:latin typeface="Arial" panose="020B0604020202020204" pitchFamily="34" charset="0"/>
                <a:ea typeface="+mn-ea"/>
                <a:cs typeface="Arial" panose="020B0604020202020204" pitchFamily="34" charset="0"/>
              </a:rPr>
              <a:t>number of groups </a:t>
            </a:r>
            <a:r>
              <a:rPr lang="en-AU" sz="4400" kern="1200">
                <a:solidFill>
                  <a:schemeClr val="tx1"/>
                </a:solidFill>
                <a:effectLst/>
                <a:latin typeface="Arial" panose="020B0604020202020204" pitchFamily="34" charset="0"/>
                <a:ea typeface="+mn-ea"/>
                <a:cs typeface="Arial" panose="020B0604020202020204" pitchFamily="34" charset="0"/>
              </a:rPr>
              <a:t>and the </a:t>
            </a:r>
            <a:r>
              <a:rPr lang="en-AU" sz="4400" b="1" kern="1200">
                <a:solidFill>
                  <a:schemeClr val="tx1"/>
                </a:solidFill>
                <a:effectLst/>
                <a:latin typeface="Arial" panose="020B0604020202020204" pitchFamily="34" charset="0"/>
                <a:ea typeface="+mn-ea"/>
                <a:cs typeface="Arial" panose="020B0604020202020204" pitchFamily="34" charset="0"/>
              </a:rPr>
              <a:t>number in each group</a:t>
            </a:r>
            <a:r>
              <a:rPr lang="en-AU" sz="4400">
                <a:latin typeface="Arial" panose="020B0604020202020204" pitchFamily="34" charset="0"/>
                <a:cs typeface="Arial" panose="020B0604020202020204" pitchFamily="34" charset="0"/>
              </a:rPr>
              <a:t>. </a:t>
            </a:r>
            <a:endParaRPr lang="en-AU" sz="4400"/>
          </a:p>
        </p:txBody>
      </p:sp>
      <p:pic>
        <p:nvPicPr>
          <p:cNvPr id="9" name="Picture 8" descr="A group of eggs in baskets.&#10;">
            <a:extLst>
              <a:ext uri="{FF2B5EF4-FFF2-40B4-BE49-F238E27FC236}">
                <a16:creationId xmlns:a16="http://schemas.microsoft.com/office/drawing/2014/main" id="{F20591D7-B281-D083-0668-778B920E5140}"/>
              </a:ext>
            </a:extLst>
          </p:cNvPr>
          <p:cNvPicPr>
            <a:picLocks noChangeAspect="1"/>
          </p:cNvPicPr>
          <p:nvPr/>
        </p:nvPicPr>
        <p:blipFill>
          <a:blip r:embed="rId4">
            <a:extLst>
              <a:ext uri="{28A0092B-C50C-407E-A947-70E740481C1C}">
                <a14:useLocalDpi xmlns:a14="http://schemas.microsoft.com/office/drawing/2010/main" val="0"/>
              </a:ext>
            </a:extLst>
          </a:blip>
          <a:srcRect l="51125" t="53129" r="11362" b="467"/>
          <a:stretch>
            <a:fillRect/>
          </a:stretch>
        </p:blipFill>
        <p:spPr>
          <a:xfrm>
            <a:off x="4236440" y="3333602"/>
            <a:ext cx="3638790" cy="3182398"/>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7" name="TextBox 6">
            <a:extLst>
              <a:ext uri="{FF2B5EF4-FFF2-40B4-BE49-F238E27FC236}">
                <a16:creationId xmlns:a16="http://schemas.microsoft.com/office/drawing/2014/main" id="{A31229A8-B5ED-4645-D9E1-ECBCF2DB5A58}"/>
              </a:ext>
            </a:extLst>
          </p:cNvPr>
          <p:cNvSpPr txBox="1"/>
          <p:nvPr/>
        </p:nvSpPr>
        <p:spPr>
          <a:xfrm>
            <a:off x="899737" y="1707188"/>
            <a:ext cx="10584263" cy="2229008"/>
          </a:xfrm>
          <a:prstGeom prst="rect">
            <a:avLst/>
          </a:prstGeom>
          <a:noFill/>
        </p:spPr>
        <p:txBody>
          <a:bodyPr wrap="square">
            <a:spAutoFit/>
          </a:bodyPr>
          <a:lstStyle/>
          <a:p>
            <a:pPr marL="342900" indent="-342900">
              <a:lnSpc>
                <a:spcPct val="150000"/>
              </a:lnSpc>
              <a:spcBef>
                <a:spcPts val="1200"/>
              </a:spcBef>
              <a:spcAft>
                <a:spcPts val="600"/>
              </a:spcAft>
              <a:buFont typeface="Arial" panose="020B0604020202020204" pitchFamily="34" charset="0"/>
              <a:buChar char="•"/>
            </a:pPr>
            <a:r>
              <a:rPr lang="en-AU" sz="4400" kern="0">
                <a:solidFill>
                  <a:srgbClr val="000000"/>
                </a:solidFill>
                <a:effectLst/>
                <a:latin typeface="+mj-lt"/>
                <a:ea typeface="Times New Roman" panose="02020603050405020304" pitchFamily="18" charset="0"/>
                <a:cs typeface="Times New Roman" panose="02020603050405020304" pitchFamily="18" charset="0"/>
              </a:rPr>
              <a:t>How many minutes are in one hour? </a:t>
            </a:r>
          </a:p>
          <a:p>
            <a:pPr marL="342900" indent="-342900">
              <a:lnSpc>
                <a:spcPct val="150000"/>
              </a:lnSpc>
              <a:spcBef>
                <a:spcPts val="1200"/>
              </a:spcBef>
              <a:spcAft>
                <a:spcPts val="600"/>
              </a:spcAft>
              <a:buFont typeface="Arial" panose="020B0604020202020204" pitchFamily="34" charset="0"/>
              <a:buChar char="•"/>
            </a:pPr>
            <a:r>
              <a:rPr lang="en-AU" sz="4400" kern="0">
                <a:solidFill>
                  <a:srgbClr val="000000"/>
                </a:solidFill>
                <a:effectLst/>
                <a:latin typeface="+mj-lt"/>
                <a:ea typeface="Times New Roman" panose="02020603050405020304" pitchFamily="18" charset="0"/>
                <a:cs typeface="Times New Roman" panose="02020603050405020304" pitchFamily="18" charset="0"/>
              </a:rPr>
              <a:t>How many minutes are in half an hour?</a:t>
            </a:r>
          </a:p>
        </p:txBody>
      </p:sp>
      <p:sp>
        <p:nvSpPr>
          <p:cNvPr id="9" name="TextBox 8">
            <a:extLst>
              <a:ext uri="{FF2B5EF4-FFF2-40B4-BE49-F238E27FC236}">
                <a16:creationId xmlns:a16="http://schemas.microsoft.com/office/drawing/2014/main" id="{71306EC2-E5E8-18E6-7CE7-671D7A9D4B55}"/>
              </a:ext>
            </a:extLst>
          </p:cNvPr>
          <p:cNvSpPr txBox="1"/>
          <p:nvPr/>
        </p:nvSpPr>
        <p:spPr>
          <a:xfrm>
            <a:off x="1959429" y="5306132"/>
            <a:ext cx="8510953" cy="769441"/>
          </a:xfrm>
          <a:prstGeom prst="rect">
            <a:avLst/>
          </a:prstGeom>
          <a:noFill/>
        </p:spPr>
        <p:txBody>
          <a:bodyPr wrap="square">
            <a:spAutoFit/>
          </a:bodyPr>
          <a:lstStyle/>
          <a:p>
            <a:pPr algn="ctr"/>
            <a:r>
              <a:rPr lang="en-US" sz="4400" b="1">
                <a:latin typeface="Arial"/>
                <a:cs typeface="Arial"/>
              </a:rPr>
              <a:t>Communicate</a:t>
            </a:r>
            <a:r>
              <a:rPr lang="en-US" sz="4400">
                <a:latin typeface="Arial"/>
                <a:cs typeface="Arial"/>
              </a:rPr>
              <a:t> your </a:t>
            </a:r>
            <a:r>
              <a:rPr lang="en-US" sz="4400" b="1">
                <a:latin typeface="Arial"/>
                <a:cs typeface="Arial"/>
              </a:rPr>
              <a:t>reasoning</a:t>
            </a:r>
            <a:r>
              <a:rPr lang="en-US" sz="4400">
                <a:latin typeface="Arial"/>
                <a:cs typeface="Arial"/>
              </a:rPr>
              <a:t>. </a:t>
            </a:r>
            <a:endParaRPr lang="en-US" sz="4400"/>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identifying the nearest thousand</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6" name="TextBox 15">
            <a:extLst>
              <a:ext uri="{FF2B5EF4-FFF2-40B4-BE49-F238E27FC236}">
                <a16:creationId xmlns:a16="http://schemas.microsoft.com/office/drawing/2014/main" id="{528A10C7-B82F-3609-7348-2D4C1B762A0F}"/>
              </a:ext>
            </a:extLst>
          </p:cNvPr>
          <p:cNvSpPr txBox="1"/>
          <p:nvPr/>
        </p:nvSpPr>
        <p:spPr>
          <a:xfrm>
            <a:off x="360000" y="1331704"/>
            <a:ext cx="11205825" cy="2483681"/>
          </a:xfrm>
          <a:prstGeom prst="rect">
            <a:avLst/>
          </a:prstGeom>
          <a:noFill/>
        </p:spPr>
        <p:txBody>
          <a:bodyPr wrap="square" lIns="0" tIns="0" rIns="0" bIns="0" rtlCol="0">
            <a:noAutofit/>
          </a:bodyPr>
          <a:lstStyle/>
          <a:p>
            <a:pPr algn="ctr">
              <a:lnSpc>
                <a:spcPct val="150000"/>
              </a:lnSpc>
            </a:pPr>
            <a:r>
              <a:rPr lang="en-AU" sz="4400" b="1">
                <a:latin typeface="Arial" panose="020B0604020202020204" pitchFamily="34" charset="0"/>
                <a:cs typeface="Arial" panose="020B0604020202020204" pitchFamily="34" charset="0"/>
              </a:rPr>
              <a:t>Create </a:t>
            </a:r>
            <a:r>
              <a:rPr lang="en-AU" sz="4400">
                <a:latin typeface="Arial" panose="020B0604020202020204" pitchFamily="34" charset="0"/>
                <a:cs typeface="Arial" panose="020B0604020202020204" pitchFamily="34" charset="0"/>
              </a:rPr>
              <a:t>a</a:t>
            </a:r>
            <a:r>
              <a:rPr lang="en-AU" sz="4400" b="1">
                <a:latin typeface="Arial" panose="020B0604020202020204" pitchFamily="34" charset="0"/>
                <a:cs typeface="Arial" panose="020B0604020202020204" pitchFamily="34" charset="0"/>
              </a:rPr>
              <a:t> </a:t>
            </a:r>
            <a:r>
              <a:rPr lang="en-AU" sz="4400">
                <a:latin typeface="Arial" panose="020B0604020202020204" pitchFamily="34" charset="0"/>
                <a:cs typeface="Arial" panose="020B0604020202020204" pitchFamily="34" charset="0"/>
              </a:rPr>
              <a:t>4-digit number.</a:t>
            </a:r>
          </a:p>
          <a:p>
            <a:pPr algn="ctr">
              <a:lnSpc>
                <a:spcPct val="150000"/>
              </a:lnSpc>
            </a:pPr>
            <a:r>
              <a:rPr lang="en-AU" sz="4400">
                <a:effectLst/>
                <a:latin typeface="Arial" panose="020B0604020202020204" pitchFamily="34" charset="0"/>
                <a:ea typeface="Calibri" panose="020F0502020204030204" pitchFamily="34" charset="0"/>
                <a:cs typeface="Arial" panose="020B0604020202020204" pitchFamily="34" charset="0"/>
              </a:rPr>
              <a:t>Can you </a:t>
            </a:r>
            <a:r>
              <a:rPr lang="en-AU" sz="4400" b="1">
                <a:effectLst/>
                <a:latin typeface="Arial" panose="020B0604020202020204" pitchFamily="34" charset="0"/>
                <a:ea typeface="Calibri" panose="020F0502020204030204" pitchFamily="34" charset="0"/>
                <a:cs typeface="Arial" panose="020B0604020202020204" pitchFamily="34" charset="0"/>
              </a:rPr>
              <a:t>determine</a:t>
            </a:r>
            <a:r>
              <a:rPr lang="en-AU" sz="4400">
                <a:effectLst/>
                <a:latin typeface="Arial" panose="020B0604020202020204" pitchFamily="34" charset="0"/>
                <a:ea typeface="Calibri" panose="020F0502020204030204" pitchFamily="34" charset="0"/>
                <a:cs typeface="Arial" panose="020B0604020202020204" pitchFamily="34" charset="0"/>
              </a:rPr>
              <a:t> the </a:t>
            </a:r>
            <a:r>
              <a:rPr lang="en-AU" sz="4400" b="1">
                <a:effectLst/>
                <a:latin typeface="Arial" panose="020B0604020202020204" pitchFamily="34" charset="0"/>
                <a:ea typeface="Calibri" panose="020F0502020204030204" pitchFamily="34" charset="0"/>
                <a:cs typeface="Arial" panose="020B0604020202020204" pitchFamily="34" charset="0"/>
              </a:rPr>
              <a:t>nearest thousand</a:t>
            </a:r>
            <a:r>
              <a:rPr lang="en-AU" sz="4400">
                <a:effectLst/>
                <a:latin typeface="Arial" panose="020B0604020202020204" pitchFamily="34" charset="0"/>
                <a:ea typeface="Calibri" panose="020F0502020204030204" pitchFamily="34" charset="0"/>
                <a:cs typeface="Arial" panose="020B0604020202020204" pitchFamily="34" charset="0"/>
              </a:rPr>
              <a:t>?</a:t>
            </a:r>
          </a:p>
        </p:txBody>
      </p:sp>
      <p:grpSp>
        <p:nvGrpSpPr>
          <p:cNvPr id="11" name="Group 10" descr="4 9-sided dice">
            <a:extLst>
              <a:ext uri="{FF2B5EF4-FFF2-40B4-BE49-F238E27FC236}">
                <a16:creationId xmlns:a16="http://schemas.microsoft.com/office/drawing/2014/main" id="{9AE5E927-AACC-475D-8B0B-1434AA3D25D4}"/>
              </a:ext>
            </a:extLst>
          </p:cNvPr>
          <p:cNvGrpSpPr/>
          <p:nvPr/>
        </p:nvGrpSpPr>
        <p:grpSpPr>
          <a:xfrm>
            <a:off x="1635857" y="3797872"/>
            <a:ext cx="2556000" cy="2448000"/>
            <a:chOff x="10145701" y="1628301"/>
            <a:chExt cx="1846028" cy="1824888"/>
          </a:xfrm>
          <a:effectLst>
            <a:outerShdw blurRad="63500" sx="102000" sy="102000" algn="ctr" rotWithShape="0">
              <a:prstClr val="black">
                <a:alpha val="40000"/>
              </a:prstClr>
            </a:outerShdw>
          </a:effectLst>
        </p:grpSpPr>
        <p:sp>
          <p:nvSpPr>
            <p:cNvPr id="12" name="Freeform 3" descr="A 9-sided die">
              <a:extLst>
                <a:ext uri="{FF2B5EF4-FFF2-40B4-BE49-F238E27FC236}">
                  <a16:creationId xmlns:a16="http://schemas.microsoft.com/office/drawing/2014/main" id="{4ADFDB9F-D6B7-928D-24A7-A8E35EC170C3}"/>
                </a:ext>
              </a:extLst>
            </p:cNvPr>
            <p:cNvSpPr/>
            <p:nvPr/>
          </p:nvSpPr>
          <p:spPr>
            <a:xfrm>
              <a:off x="11211892" y="1834231"/>
              <a:ext cx="779837" cy="734536"/>
            </a:xfrm>
            <a:custGeom>
              <a:avLst/>
              <a:gdLst/>
              <a:ahLst/>
              <a:cxnLst/>
              <a:rect l="l" t="t" r="r" b="b"/>
              <a:pathLst>
                <a:path w="2309926" h="2183930">
                  <a:moveTo>
                    <a:pt x="0" y="0"/>
                  </a:moveTo>
                  <a:lnTo>
                    <a:pt x="2309925" y="0"/>
                  </a:lnTo>
                  <a:lnTo>
                    <a:pt x="2309925" y="2183930"/>
                  </a:lnTo>
                  <a:lnTo>
                    <a:pt x="0" y="21839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3" name="Freeform 2">
              <a:extLst>
                <a:ext uri="{FF2B5EF4-FFF2-40B4-BE49-F238E27FC236}">
                  <a16:creationId xmlns:a16="http://schemas.microsoft.com/office/drawing/2014/main" id="{7E3C465A-2A80-23B1-2852-A7F5EC795C53}"/>
                </a:ext>
              </a:extLst>
            </p:cNvPr>
            <p:cNvSpPr/>
            <p:nvPr/>
          </p:nvSpPr>
          <p:spPr>
            <a:xfrm>
              <a:off x="10410789" y="1628301"/>
              <a:ext cx="747901" cy="790579"/>
            </a:xfrm>
            <a:custGeom>
              <a:avLst/>
              <a:gdLst/>
              <a:ahLst/>
              <a:cxnLst/>
              <a:rect l="l" t="t" r="r" b="b"/>
              <a:pathLst>
                <a:path w="1307673" h="1236345">
                  <a:moveTo>
                    <a:pt x="0" y="0"/>
                  </a:moveTo>
                  <a:lnTo>
                    <a:pt x="1307672" y="0"/>
                  </a:lnTo>
                  <a:lnTo>
                    <a:pt x="1307672" y="1236345"/>
                  </a:lnTo>
                  <a:lnTo>
                    <a:pt x="0" y="123634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4" name="Freeform 3">
              <a:extLst>
                <a:ext uri="{FF2B5EF4-FFF2-40B4-BE49-F238E27FC236}">
                  <a16:creationId xmlns:a16="http://schemas.microsoft.com/office/drawing/2014/main" id="{DD8ABFF2-7683-3241-DE17-0C32FBAD1C49}"/>
                </a:ext>
              </a:extLst>
            </p:cNvPr>
            <p:cNvSpPr/>
            <p:nvPr/>
          </p:nvSpPr>
          <p:spPr>
            <a:xfrm>
              <a:off x="10952140" y="2718653"/>
              <a:ext cx="779837" cy="734536"/>
            </a:xfrm>
            <a:custGeom>
              <a:avLst/>
              <a:gdLst/>
              <a:ahLst/>
              <a:cxnLst/>
              <a:rect l="l" t="t" r="r" b="b"/>
              <a:pathLst>
                <a:path w="1307673" h="1236345">
                  <a:moveTo>
                    <a:pt x="0" y="0"/>
                  </a:moveTo>
                  <a:lnTo>
                    <a:pt x="1307673" y="0"/>
                  </a:lnTo>
                  <a:lnTo>
                    <a:pt x="1307673" y="1236345"/>
                  </a:lnTo>
                  <a:lnTo>
                    <a:pt x="0" y="123634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5" name="Freeform 4">
              <a:extLst>
                <a:ext uri="{FF2B5EF4-FFF2-40B4-BE49-F238E27FC236}">
                  <a16:creationId xmlns:a16="http://schemas.microsoft.com/office/drawing/2014/main" id="{845E8BB8-C8BB-1875-9494-71E57CEEBEA6}"/>
                </a:ext>
              </a:extLst>
            </p:cNvPr>
            <p:cNvSpPr/>
            <p:nvPr/>
          </p:nvSpPr>
          <p:spPr>
            <a:xfrm>
              <a:off x="10145701" y="2468263"/>
              <a:ext cx="779838" cy="790579"/>
            </a:xfrm>
            <a:custGeom>
              <a:avLst/>
              <a:gdLst/>
              <a:ahLst/>
              <a:cxnLst/>
              <a:rect l="l" t="t" r="r" b="b"/>
              <a:pathLst>
                <a:path w="1307673" h="1236345">
                  <a:moveTo>
                    <a:pt x="0" y="0"/>
                  </a:moveTo>
                  <a:lnTo>
                    <a:pt x="1307673" y="0"/>
                  </a:lnTo>
                  <a:lnTo>
                    <a:pt x="1307673" y="1236345"/>
                  </a:lnTo>
                  <a:lnTo>
                    <a:pt x="0" y="12363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grpSp>
      <p:sp>
        <p:nvSpPr>
          <p:cNvPr id="17" name="Rectangle: Rounded Corners 16">
            <a:extLst>
              <a:ext uri="{FF2B5EF4-FFF2-40B4-BE49-F238E27FC236}">
                <a16:creationId xmlns:a16="http://schemas.microsoft.com/office/drawing/2014/main" id="{6768A43C-C5D4-8E9C-191A-7348C515718C}"/>
              </a:ext>
            </a:extLst>
          </p:cNvPr>
          <p:cNvSpPr/>
          <p:nvPr/>
        </p:nvSpPr>
        <p:spPr>
          <a:xfrm>
            <a:off x="4953000" y="4148981"/>
            <a:ext cx="6962775" cy="1517202"/>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AU" sz="4400" b="1" spc="600">
                <a:solidFill>
                  <a:schemeClr val="accent1"/>
                </a:solidFill>
              </a:rPr>
              <a:t>8524</a:t>
            </a:r>
            <a:r>
              <a:rPr lang="en-AU" sz="4400" spc="600">
                <a:solidFill>
                  <a:schemeClr val="accent1"/>
                </a:solidFill>
              </a:rPr>
              <a:t> </a:t>
            </a:r>
            <a:r>
              <a:rPr lang="en-AU" sz="4400">
                <a:solidFill>
                  <a:schemeClr val="accent1"/>
                </a:solidFill>
              </a:rPr>
              <a:t>is closest to 9000</a:t>
            </a:r>
            <a:r>
              <a:rPr lang="en-AU" sz="4400" b="1">
                <a:solidFill>
                  <a:schemeClr val="accent1"/>
                </a:solidFill>
              </a:rPr>
              <a:t> </a:t>
            </a:r>
          </a:p>
        </p:txBody>
      </p:sp>
      <p:sp>
        <p:nvSpPr>
          <p:cNvPr id="18" name="Oval 17" descr="A circle around the number 5">
            <a:extLst>
              <a:ext uri="{FF2B5EF4-FFF2-40B4-BE49-F238E27FC236}">
                <a16:creationId xmlns:a16="http://schemas.microsoft.com/office/drawing/2014/main" id="{720558E0-9A62-972D-5665-8CABB87C3B3E}"/>
              </a:ext>
            </a:extLst>
          </p:cNvPr>
          <p:cNvSpPr/>
          <p:nvPr/>
        </p:nvSpPr>
        <p:spPr>
          <a:xfrm>
            <a:off x="5417797" y="4676580"/>
            <a:ext cx="471489" cy="733425"/>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360000" y="1514642"/>
            <a:ext cx="11243037" cy="893226"/>
          </a:xfrm>
        </p:spPr>
        <p:txBody>
          <a:bodyPr/>
          <a:lstStyle/>
          <a:p>
            <a:pPr algn="ctr"/>
            <a:r>
              <a:rPr lang="en-AU" sz="4400"/>
              <a:t>What is the </a:t>
            </a:r>
            <a:r>
              <a:rPr lang="en-AU" sz="4400" b="1"/>
              <a:t>largest </a:t>
            </a:r>
            <a:r>
              <a:rPr lang="en-AU" sz="4400"/>
              <a:t>number that can be formed by </a:t>
            </a:r>
            <a:r>
              <a:rPr lang="en-AU" sz="4400" b="1"/>
              <a:t>rearranging </a:t>
            </a:r>
            <a:r>
              <a:rPr lang="en-AU" sz="4400"/>
              <a:t>the digits in </a:t>
            </a:r>
            <a:r>
              <a:rPr lang="en-AU" sz="4400" b="1"/>
              <a:t>4213</a:t>
            </a:r>
            <a:r>
              <a:rPr lang="en-AU" sz="4400"/>
              <a:t>?</a:t>
            </a:r>
          </a:p>
          <a:p>
            <a:br>
              <a:rPr lang="en-AU"/>
            </a:br>
            <a:endParaRPr lang="en-US" sz="4400"/>
          </a:p>
        </p:txBody>
      </p:sp>
      <p:sp>
        <p:nvSpPr>
          <p:cNvPr id="9" name="TextBox 8">
            <a:extLst>
              <a:ext uri="{FF2B5EF4-FFF2-40B4-BE49-F238E27FC236}">
                <a16:creationId xmlns:a16="http://schemas.microsoft.com/office/drawing/2014/main" id="{AF13415D-5ABE-8CE1-9EF6-D83C6FF3BAC9}"/>
              </a:ext>
            </a:extLst>
          </p:cNvPr>
          <p:cNvSpPr txBox="1"/>
          <p:nvPr/>
        </p:nvSpPr>
        <p:spPr>
          <a:xfrm>
            <a:off x="1323736" y="440950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Box 5">
            <a:extLst>
              <a:ext uri="{FF2B5EF4-FFF2-40B4-BE49-F238E27FC236}">
                <a16:creationId xmlns:a16="http://schemas.microsoft.com/office/drawing/2014/main" id="{07C37FC4-9341-EBBA-7D50-AB22B3A8FBE4}"/>
              </a:ext>
            </a:extLst>
          </p:cNvPr>
          <p:cNvSpPr txBox="1"/>
          <p:nvPr/>
        </p:nvSpPr>
        <p:spPr>
          <a:xfrm>
            <a:off x="711348" y="5302734"/>
            <a:ext cx="1554535" cy="640080"/>
          </a:xfrm>
          <a:prstGeom prst="rect">
            <a:avLst/>
          </a:prstGeom>
          <a:noFill/>
        </p:spPr>
        <p:txBody>
          <a:bodyPr wrap="square" lIns="0" tIns="0" rIns="0" bIns="0" rtlCol="0" anchor="ctr">
            <a:noAutofit/>
          </a:bodyPr>
          <a:lstStyle/>
          <a:p>
            <a:pPr algn="ctr"/>
            <a:r>
              <a:rPr lang="en-AU" sz="4800"/>
              <a:t>4231</a:t>
            </a:r>
          </a:p>
        </p:txBody>
      </p:sp>
      <p:sp>
        <p:nvSpPr>
          <p:cNvPr id="10" name="TextBox 9">
            <a:extLst>
              <a:ext uri="{FF2B5EF4-FFF2-40B4-BE49-F238E27FC236}">
                <a16:creationId xmlns:a16="http://schemas.microsoft.com/office/drawing/2014/main" id="{06BFC4FD-CDBD-E74C-2B4B-957276E8D806}"/>
              </a:ext>
            </a:extLst>
          </p:cNvPr>
          <p:cNvSpPr txBox="1"/>
          <p:nvPr/>
        </p:nvSpPr>
        <p:spPr>
          <a:xfrm>
            <a:off x="4327709" y="440950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5" name="TextBox 4">
            <a:extLst>
              <a:ext uri="{FF2B5EF4-FFF2-40B4-BE49-F238E27FC236}">
                <a16:creationId xmlns:a16="http://schemas.microsoft.com/office/drawing/2014/main" id="{F2A537ED-1D45-C12B-FEBA-401798DF4187}"/>
              </a:ext>
            </a:extLst>
          </p:cNvPr>
          <p:cNvSpPr txBox="1"/>
          <p:nvPr/>
        </p:nvSpPr>
        <p:spPr>
          <a:xfrm>
            <a:off x="3746374" y="5302734"/>
            <a:ext cx="1554535" cy="640080"/>
          </a:xfrm>
          <a:prstGeom prst="rect">
            <a:avLst/>
          </a:prstGeom>
          <a:noFill/>
        </p:spPr>
        <p:txBody>
          <a:bodyPr wrap="square" lIns="0" tIns="0" rIns="0" bIns="0" rtlCol="0" anchor="ctr">
            <a:noAutofit/>
          </a:bodyPr>
          <a:lstStyle/>
          <a:p>
            <a:pPr algn="ctr"/>
            <a:r>
              <a:rPr lang="en-AU" sz="4800"/>
              <a:t>4312</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331682" y="440950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1A31A53F-3AC0-FEF0-E363-725A86ECC916}"/>
              </a:ext>
            </a:extLst>
          </p:cNvPr>
          <p:cNvSpPr txBox="1"/>
          <p:nvPr/>
        </p:nvSpPr>
        <p:spPr>
          <a:xfrm>
            <a:off x="6750347" y="5302734"/>
            <a:ext cx="1554535" cy="640080"/>
          </a:xfrm>
          <a:prstGeom prst="rect">
            <a:avLst/>
          </a:prstGeom>
          <a:noFill/>
        </p:spPr>
        <p:txBody>
          <a:bodyPr wrap="square" lIns="0" tIns="0" rIns="0" bIns="0" rtlCol="0" anchor="ctr">
            <a:noAutofit/>
          </a:bodyPr>
          <a:lstStyle/>
          <a:p>
            <a:pPr algn="ctr"/>
            <a:r>
              <a:rPr lang="en-AU" sz="4800"/>
              <a:t>4321</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335656" y="440950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CF0E9E22-8EAA-358C-9089-90FC59843118}"/>
              </a:ext>
            </a:extLst>
          </p:cNvPr>
          <p:cNvSpPr txBox="1"/>
          <p:nvPr/>
        </p:nvSpPr>
        <p:spPr>
          <a:xfrm>
            <a:off x="9754320" y="5302734"/>
            <a:ext cx="1554535" cy="640080"/>
          </a:xfrm>
          <a:prstGeom prst="rect">
            <a:avLst/>
          </a:prstGeom>
          <a:noFill/>
        </p:spPr>
        <p:txBody>
          <a:bodyPr wrap="square" lIns="0" tIns="0" rIns="0" bIns="0" rtlCol="0" anchor="ctr">
            <a:noAutofit/>
          </a:bodyPr>
          <a:lstStyle/>
          <a:p>
            <a:pPr algn="ctr"/>
            <a:r>
              <a:rPr lang="en-AU" sz="4800"/>
              <a:t>4132</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Freeform 5" descr="A cylinder showing unseen edges and boundaries.">
            <a:extLst>
              <a:ext uri="{FF2B5EF4-FFF2-40B4-BE49-F238E27FC236}">
                <a16:creationId xmlns:a16="http://schemas.microsoft.com/office/drawing/2014/main" id="{0EAF449A-5358-2249-DD08-B0EC60D43B94}"/>
              </a:ext>
            </a:extLst>
          </p:cNvPr>
          <p:cNvSpPr/>
          <p:nvPr/>
        </p:nvSpPr>
        <p:spPr>
          <a:xfrm>
            <a:off x="5784177" y="905601"/>
            <a:ext cx="1351322" cy="2128066"/>
          </a:xfrm>
          <a:custGeom>
            <a:avLst/>
            <a:gdLst/>
            <a:ahLst/>
            <a:cxnLst/>
            <a:rect l="l" t="t" r="r" b="b"/>
            <a:pathLst>
              <a:path w="1351322" h="2128066">
                <a:moveTo>
                  <a:pt x="0" y="0"/>
                </a:moveTo>
                <a:lnTo>
                  <a:pt x="1351322" y="0"/>
                </a:lnTo>
                <a:lnTo>
                  <a:pt x="1351322" y="2128066"/>
                </a:lnTo>
                <a:lnTo>
                  <a:pt x="0" y="2128066"/>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p:spPr>
        <p:txBody>
          <a:bodyPr/>
          <a:lstStyle/>
          <a:p>
            <a:endParaRPr lang="en-AU"/>
          </a:p>
        </p:txBody>
      </p:sp>
      <p:sp>
        <p:nvSpPr>
          <p:cNvPr id="8" name="TextBox 7">
            <a:extLst>
              <a:ext uri="{FF2B5EF4-FFF2-40B4-BE49-F238E27FC236}">
                <a16:creationId xmlns:a16="http://schemas.microsoft.com/office/drawing/2014/main" id="{22AB2CCA-B54A-AF2E-2A2A-C8E0A28D01ED}"/>
              </a:ext>
            </a:extLst>
          </p:cNvPr>
          <p:cNvSpPr txBox="1"/>
          <p:nvPr/>
        </p:nvSpPr>
        <p:spPr>
          <a:xfrm>
            <a:off x="353999" y="3429000"/>
            <a:ext cx="11484000" cy="1384995"/>
          </a:xfrm>
          <a:prstGeom prst="rect">
            <a:avLst/>
          </a:prstGeom>
          <a:noFill/>
        </p:spPr>
        <p:txBody>
          <a:bodyPr wrap="square">
            <a:spAutoFit/>
          </a:bodyPr>
          <a:lstStyle/>
          <a:p>
            <a:pPr algn="ctr">
              <a:buNone/>
            </a:pPr>
            <a:r>
              <a:rPr lang="en-AU" sz="4000" b="1" i="0">
                <a:solidFill>
                  <a:srgbClr val="000000"/>
                </a:solidFill>
                <a:effectLst/>
              </a:rPr>
              <a:t>Describe </a:t>
            </a:r>
            <a:r>
              <a:rPr lang="en-AU" sz="4400" b="0" i="0">
                <a:solidFill>
                  <a:srgbClr val="000000"/>
                </a:solidFill>
                <a:effectLst/>
              </a:rPr>
              <a:t>the</a:t>
            </a:r>
            <a:r>
              <a:rPr lang="en-AU" sz="4000" b="0" i="0">
                <a:solidFill>
                  <a:srgbClr val="000000"/>
                </a:solidFill>
                <a:effectLst/>
              </a:rPr>
              <a:t> features of the cylinder using the terms:</a:t>
            </a:r>
          </a:p>
        </p:txBody>
      </p:sp>
      <p:sp>
        <p:nvSpPr>
          <p:cNvPr id="9" name="TextBox 8">
            <a:extLst>
              <a:ext uri="{FF2B5EF4-FFF2-40B4-BE49-F238E27FC236}">
                <a16:creationId xmlns:a16="http://schemas.microsoft.com/office/drawing/2014/main" id="{86079F0C-AEF6-FB81-3EB8-443E6F945556}"/>
              </a:ext>
            </a:extLst>
          </p:cNvPr>
          <p:cNvSpPr txBox="1"/>
          <p:nvPr/>
        </p:nvSpPr>
        <p:spPr>
          <a:xfrm>
            <a:off x="2387253" y="5371637"/>
            <a:ext cx="2638505" cy="900264"/>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flat surface</a:t>
            </a:r>
            <a:endParaRPr lang="en-AU" sz="1800">
              <a:latin typeface="Edu NSW ACT Foundation" pitchFamily="2" charset="0"/>
            </a:endParaRPr>
          </a:p>
        </p:txBody>
      </p:sp>
      <p:sp>
        <p:nvSpPr>
          <p:cNvPr id="10" name="TextBox 9">
            <a:extLst>
              <a:ext uri="{FF2B5EF4-FFF2-40B4-BE49-F238E27FC236}">
                <a16:creationId xmlns:a16="http://schemas.microsoft.com/office/drawing/2014/main" id="{45456ADB-5BE4-CB53-B0C3-8B57148A14DC}"/>
              </a:ext>
            </a:extLst>
          </p:cNvPr>
          <p:cNvSpPr txBox="1"/>
          <p:nvPr/>
        </p:nvSpPr>
        <p:spPr>
          <a:xfrm>
            <a:off x="7532995" y="5371637"/>
            <a:ext cx="2638505" cy="907682"/>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4000">
                <a:latin typeface="Edu NSW ACT Foundation" pitchFamily="2" charset="0"/>
              </a:rPr>
              <a:t>curved surface</a:t>
            </a:r>
            <a:endParaRPr lang="en-AU" sz="1800">
              <a:latin typeface="Edu NSW ACT Foundation" pitchFamily="2" charset="0"/>
            </a:endParaRP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277368"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69280" y="0"/>
            <a:ext cx="915500" cy="915500"/>
          </a:xfrm>
          <a:prstGeom prst="rect">
            <a:avLst/>
          </a:prstGeom>
        </p:spPr>
      </p:pic>
      <p:sp>
        <p:nvSpPr>
          <p:cNvPr id="7" name="TextBox 6">
            <a:extLst>
              <a:ext uri="{FF2B5EF4-FFF2-40B4-BE49-F238E27FC236}">
                <a16:creationId xmlns:a16="http://schemas.microsoft.com/office/drawing/2014/main" id="{C6FE5CC8-5D32-42F7-A10C-23335D820D86}"/>
              </a:ext>
            </a:extLst>
          </p:cNvPr>
          <p:cNvSpPr txBox="1"/>
          <p:nvPr/>
        </p:nvSpPr>
        <p:spPr>
          <a:xfrm>
            <a:off x="277368" y="905601"/>
            <a:ext cx="4477511" cy="4433073"/>
          </a:xfrm>
          <a:prstGeom prst="rect">
            <a:avLst/>
          </a:prstGeom>
          <a:noFill/>
        </p:spPr>
        <p:txBody>
          <a:bodyPr wrap="square">
            <a:spAutoFit/>
          </a:bodyPr>
          <a:lstStyle/>
          <a:p>
            <a:pPr>
              <a:lnSpc>
                <a:spcPct val="150000"/>
              </a:lnSpc>
            </a:pPr>
            <a:r>
              <a:rPr lang="en-AU" sz="3200" kern="1200">
                <a:solidFill>
                  <a:schemeClr val="tx1"/>
                </a:solidFill>
                <a:effectLst/>
                <a:latin typeface="Arial" panose="020B0604020202020204" pitchFamily="34" charset="0"/>
                <a:ea typeface="+mn-ea"/>
                <a:cs typeface="Arial" panose="020B0604020202020204" pitchFamily="34" charset="0"/>
              </a:rPr>
              <a:t>Using </a:t>
            </a:r>
            <a:r>
              <a:rPr lang="en-AU" sz="3200" b="1" kern="1200">
                <a:solidFill>
                  <a:schemeClr val="tx1"/>
                </a:solidFill>
                <a:effectLst/>
                <a:latin typeface="Arial" panose="020B0604020202020204" pitchFamily="34" charset="0"/>
                <a:ea typeface="+mn-ea"/>
                <a:cs typeface="Arial" panose="020B0604020202020204" pitchFamily="34" charset="0"/>
              </a:rPr>
              <a:t>grid references </a:t>
            </a:r>
            <a:r>
              <a:rPr lang="en-AU" sz="3200" kern="1200">
                <a:solidFill>
                  <a:schemeClr val="tx1"/>
                </a:solidFill>
                <a:effectLst/>
                <a:latin typeface="Arial" panose="020B0604020202020204" pitchFamily="34" charset="0"/>
                <a:ea typeface="+mn-ea"/>
                <a:cs typeface="Arial" panose="020B0604020202020204" pitchFamily="34" charset="0"/>
              </a:rPr>
              <a:t>and </a:t>
            </a:r>
            <a:r>
              <a:rPr lang="en-AU" sz="3200" b="1" kern="1200">
                <a:solidFill>
                  <a:schemeClr val="tx1"/>
                </a:solidFill>
                <a:effectLst/>
                <a:latin typeface="Arial" panose="020B0604020202020204" pitchFamily="34" charset="0"/>
                <a:ea typeface="+mn-ea"/>
                <a:cs typeface="Arial" panose="020B0604020202020204" pitchFamily="34" charset="0"/>
              </a:rPr>
              <a:t>compass directions</a:t>
            </a:r>
            <a:r>
              <a:rPr lang="en-AU" sz="3200" kern="1200">
                <a:solidFill>
                  <a:schemeClr val="tx1"/>
                </a:solidFill>
                <a:effectLst/>
                <a:latin typeface="Arial" panose="020B0604020202020204" pitchFamily="34" charset="0"/>
                <a:ea typeface="+mn-ea"/>
                <a:cs typeface="Arial" panose="020B0604020202020204" pitchFamily="34" charset="0"/>
              </a:rPr>
              <a:t>, </a:t>
            </a:r>
            <a:r>
              <a:rPr lang="en-AU" sz="3200" b="1" kern="1200">
                <a:solidFill>
                  <a:schemeClr val="tx1"/>
                </a:solidFill>
                <a:effectLst/>
                <a:latin typeface="Arial" panose="020B0604020202020204" pitchFamily="34" charset="0"/>
                <a:ea typeface="+mn-ea"/>
                <a:cs typeface="Arial" panose="020B0604020202020204" pitchFamily="34" charset="0"/>
              </a:rPr>
              <a:t>describe</a:t>
            </a:r>
            <a:r>
              <a:rPr lang="en-AU" sz="3200" kern="1200">
                <a:solidFill>
                  <a:schemeClr val="tx1"/>
                </a:solidFill>
                <a:effectLst/>
                <a:latin typeface="Arial" panose="020B0604020202020204" pitchFamily="34" charset="0"/>
                <a:ea typeface="+mn-ea"/>
                <a:cs typeface="Arial" panose="020B0604020202020204" pitchFamily="34" charset="0"/>
              </a:rPr>
              <a:t> </a:t>
            </a:r>
            <a:r>
              <a:rPr lang="en-AU" sz="3200" b="1" kern="1200">
                <a:solidFill>
                  <a:schemeClr val="tx1"/>
                </a:solidFill>
                <a:effectLst/>
                <a:latin typeface="Arial" panose="020B0604020202020204" pitchFamily="34" charset="0"/>
                <a:ea typeface="+mn-ea"/>
                <a:cs typeface="Arial" panose="020B0604020202020204" pitchFamily="34" charset="0"/>
              </a:rPr>
              <a:t>the route </a:t>
            </a:r>
            <a:r>
              <a:rPr lang="en-AU" sz="3200" kern="1200">
                <a:solidFill>
                  <a:schemeClr val="tx1"/>
                </a:solidFill>
                <a:effectLst/>
                <a:latin typeface="Arial" panose="020B0604020202020204" pitchFamily="34" charset="0"/>
                <a:ea typeface="+mn-ea"/>
                <a:cs typeface="Arial" panose="020B0604020202020204" pitchFamily="34" charset="0"/>
              </a:rPr>
              <a:t>from</a:t>
            </a:r>
            <a:r>
              <a:rPr lang="en-AU" sz="3200">
                <a:latin typeface="Arial" panose="020B0604020202020204" pitchFamily="34" charset="0"/>
                <a:cs typeface="Arial" panose="020B0604020202020204" pitchFamily="34" charset="0"/>
              </a:rPr>
              <a:t> the </a:t>
            </a:r>
            <a:r>
              <a:rPr lang="en-AU" sz="3200" b="1">
                <a:latin typeface="Arial" panose="020B0604020202020204" pitchFamily="34" charset="0"/>
                <a:cs typeface="Arial" panose="020B0604020202020204" pitchFamily="34" charset="0"/>
              </a:rPr>
              <a:t>apple tree </a:t>
            </a:r>
            <a:r>
              <a:rPr lang="en-AU" sz="3200">
                <a:latin typeface="Arial" panose="020B0604020202020204" pitchFamily="34" charset="0"/>
                <a:cs typeface="Arial" panose="020B0604020202020204" pitchFamily="34" charset="0"/>
              </a:rPr>
              <a:t>to the </a:t>
            </a:r>
            <a:r>
              <a:rPr lang="en-AU" sz="3200" b="1">
                <a:latin typeface="Arial" panose="020B0604020202020204" pitchFamily="34" charset="0"/>
                <a:cs typeface="Arial" panose="020B0604020202020204" pitchFamily="34" charset="0"/>
              </a:rPr>
              <a:t>bus stop.</a:t>
            </a:r>
          </a:p>
        </p:txBody>
      </p:sp>
      <p:pic>
        <p:nvPicPr>
          <p:cNvPr id="4" name="Picture 3" descr="A map of a town with roads and a river running through (top left to bottom right).&#10;&#10;Landmarks are at the following grid references:&#10;A8: house&#10;A5-A6: bus stop&#10;C5: pond&#10;C6-E6: park&#10;E1-F1: hospital&#10;E7-F7: bridge&#10;E10: apple tree&#10;F5: house&#10;F9: house&#10;G6: house&#10;H4: house&#10;I8: house&#10;I6-I7 Field">
            <a:extLst>
              <a:ext uri="{FF2B5EF4-FFF2-40B4-BE49-F238E27FC236}">
                <a16:creationId xmlns:a16="http://schemas.microsoft.com/office/drawing/2014/main" id="{3B699494-77C3-BDCE-49CB-20534C66BEF7}"/>
              </a:ext>
            </a:extLst>
          </p:cNvPr>
          <p:cNvPicPr>
            <a:picLocks noChangeAspect="1"/>
          </p:cNvPicPr>
          <p:nvPr/>
        </p:nvPicPr>
        <p:blipFill>
          <a:blip r:embed="rId4"/>
          <a:stretch>
            <a:fillRect/>
          </a:stretch>
        </p:blipFill>
        <p:spPr>
          <a:xfrm>
            <a:off x="4867401" y="948807"/>
            <a:ext cx="6301879" cy="5657193"/>
          </a:xfrm>
          <a:prstGeom prst="rect">
            <a:avLst/>
          </a:prstGeom>
          <a:effectLst>
            <a:outerShdw blurRad="63500" sx="102000" sy="102000" algn="ctr" rotWithShape="0">
              <a:prstClr val="black">
                <a:alpha val="40000"/>
              </a:prstClr>
            </a:outerShdw>
          </a:effectLst>
        </p:spPr>
      </p:pic>
      <p:pic>
        <p:nvPicPr>
          <p:cNvPr id="14" name="Picture 13">
            <a:extLst>
              <a:ext uri="{FF2B5EF4-FFF2-40B4-BE49-F238E27FC236}">
                <a16:creationId xmlns:a16="http://schemas.microsoft.com/office/drawing/2014/main" id="{25013D47-01B6-BABD-6E71-C5C4817EAB7B}"/>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503210" y="5259860"/>
            <a:ext cx="2317342" cy="1385077"/>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37C850F-1F0C-F89F-4143-E8952583B73E}"/>
              </a:ext>
            </a:extLst>
          </p:cNvPr>
          <p:cNvSpPr txBox="1"/>
          <p:nvPr/>
        </p:nvSpPr>
        <p:spPr>
          <a:xfrm>
            <a:off x="972076" y="1922081"/>
            <a:ext cx="10058400" cy="3013838"/>
          </a:xfrm>
          <a:prstGeom prst="rect">
            <a:avLst/>
          </a:prstGeom>
          <a:noFill/>
        </p:spPr>
        <p:txBody>
          <a:bodyPr wrap="square" lIns="91440" tIns="45720" rIns="91440" bIns="45720" anchor="t">
            <a:spAutoFit/>
          </a:bodyPr>
          <a:lstStyle/>
          <a:p>
            <a:pPr algn="ctr">
              <a:lnSpc>
                <a:spcPct val="150000"/>
              </a:lnSpc>
            </a:pPr>
            <a:r>
              <a:rPr lang="en-AU" sz="4400" kern="1200">
                <a:effectLst/>
                <a:latin typeface="Arial"/>
                <a:cs typeface="Arial"/>
              </a:rPr>
              <a:t>Choose a m</a:t>
            </a:r>
            <a:r>
              <a:rPr lang="en-AU" sz="4400">
                <a:latin typeface="Arial"/>
                <a:cs typeface="Arial"/>
              </a:rPr>
              <a:t>ultiple of</a:t>
            </a:r>
            <a:r>
              <a:rPr lang="en-AU" sz="4400" i="1">
                <a:latin typeface="Arial"/>
                <a:cs typeface="Arial"/>
              </a:rPr>
              <a:t> </a:t>
            </a:r>
            <a:r>
              <a:rPr lang="en-AU" sz="4400">
                <a:latin typeface="Arial"/>
                <a:cs typeface="Arial"/>
              </a:rPr>
              <a:t>4 and record as</a:t>
            </a:r>
            <a:endParaRPr lang="en-US">
              <a:latin typeface="Arial"/>
              <a:cs typeface="Arial"/>
            </a:endParaRPr>
          </a:p>
          <a:p>
            <a:pPr marL="571500" indent="-571500" algn="ctr">
              <a:lnSpc>
                <a:spcPct val="150000"/>
              </a:lnSpc>
              <a:buFont typeface="Arial" panose="020B0604020202020204" pitchFamily="34" charset="0"/>
              <a:buChar char="•"/>
            </a:pPr>
            <a:r>
              <a:rPr lang="en-AU" sz="4400">
                <a:latin typeface="Arial"/>
                <a:cs typeface="Arial"/>
              </a:rPr>
              <a:t> an </a:t>
            </a:r>
            <a:r>
              <a:rPr lang="en-AU" sz="4400" b="1">
                <a:latin typeface="Arial"/>
                <a:cs typeface="Arial"/>
              </a:rPr>
              <a:t>array</a:t>
            </a:r>
            <a:r>
              <a:rPr lang="en-AU" sz="4400">
                <a:latin typeface="Arial"/>
                <a:cs typeface="Arial"/>
              </a:rPr>
              <a:t> </a:t>
            </a:r>
          </a:p>
          <a:p>
            <a:pPr marL="571500" indent="-571500" algn="ctr">
              <a:lnSpc>
                <a:spcPct val="150000"/>
              </a:lnSpc>
              <a:buFont typeface="Arial" panose="020B0604020202020204" pitchFamily="34" charset="0"/>
              <a:buChar char="•"/>
            </a:pPr>
            <a:r>
              <a:rPr lang="en-AU" sz="4400">
                <a:latin typeface="Arial"/>
                <a:cs typeface="Arial"/>
              </a:rPr>
              <a:t> a multiplication</a:t>
            </a:r>
            <a:r>
              <a:rPr lang="en-AU" sz="4400" b="1">
                <a:latin typeface="Arial"/>
                <a:cs typeface="Arial"/>
              </a:rPr>
              <a:t> number sentence</a:t>
            </a:r>
            <a:r>
              <a:rPr lang="en-AU" sz="4400">
                <a:latin typeface="Arial"/>
                <a:cs typeface="Arial"/>
              </a:rPr>
              <a:t> </a:t>
            </a:r>
            <a:endParaRPr lang="en-US">
              <a:latin typeface="Arial"/>
              <a:cs typeface="Arial"/>
            </a:endParaRP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5" name="TextBox 4">
            <a:extLst>
              <a:ext uri="{FF2B5EF4-FFF2-40B4-BE49-F238E27FC236}">
                <a16:creationId xmlns:a16="http://schemas.microsoft.com/office/drawing/2014/main" id="{8C94A0F7-7CF8-9823-826F-28DD7A9713B5}"/>
              </a:ext>
            </a:extLst>
          </p:cNvPr>
          <p:cNvSpPr txBox="1"/>
          <p:nvPr/>
        </p:nvSpPr>
        <p:spPr>
          <a:xfrm>
            <a:off x="442222" y="2429912"/>
            <a:ext cx="11041778" cy="1998176"/>
          </a:xfrm>
          <a:prstGeom prst="rect">
            <a:avLst/>
          </a:prstGeom>
          <a:noFill/>
        </p:spPr>
        <p:txBody>
          <a:bodyPr wrap="square">
            <a:spAutoFit/>
          </a:bodyPr>
          <a:lstStyle/>
          <a:p>
            <a:pPr algn="ctr">
              <a:lnSpc>
                <a:spcPct val="150000"/>
              </a:lnSpc>
              <a:spcBef>
                <a:spcPts val="1200"/>
              </a:spcBef>
              <a:spcAft>
                <a:spcPts val="1200"/>
              </a:spcAft>
            </a:pPr>
            <a:r>
              <a:rPr lang="en-AU" sz="4400" i="0">
                <a:solidFill>
                  <a:srgbClr val="000000"/>
                </a:solidFill>
                <a:effectLst/>
              </a:rPr>
              <a:t>If it’s a </a:t>
            </a:r>
            <a:r>
              <a:rPr lang="en-AU" sz="4400" b="1" i="0">
                <a:solidFill>
                  <a:srgbClr val="000000"/>
                </a:solidFill>
                <a:effectLst/>
              </a:rPr>
              <a:t>quarter to five</a:t>
            </a:r>
            <a:r>
              <a:rPr lang="en-AU" sz="4400" i="0">
                <a:solidFill>
                  <a:srgbClr val="000000"/>
                </a:solidFill>
                <a:effectLst/>
              </a:rPr>
              <a:t>, how many </a:t>
            </a:r>
            <a:r>
              <a:rPr lang="en-AU" sz="4400" b="1" i="0">
                <a:solidFill>
                  <a:srgbClr val="000000"/>
                </a:solidFill>
                <a:effectLst/>
              </a:rPr>
              <a:t>minutes </a:t>
            </a:r>
            <a:r>
              <a:rPr lang="en-AU" sz="4400" i="0">
                <a:solidFill>
                  <a:srgbClr val="000000"/>
                </a:solidFill>
                <a:effectLst/>
              </a:rPr>
              <a:t>are there </a:t>
            </a:r>
            <a:r>
              <a:rPr lang="en-AU" sz="4400" b="1" i="0">
                <a:solidFill>
                  <a:srgbClr val="000000"/>
                </a:solidFill>
                <a:effectLst/>
              </a:rPr>
              <a:t>until 5 o’clock</a:t>
            </a:r>
            <a:r>
              <a:rPr lang="en-AU" sz="4400" i="0">
                <a:solidFill>
                  <a:srgbClr val="000000"/>
                </a:solidFill>
                <a:effectLst/>
              </a:rPr>
              <a:t>? </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rearranging digits to change the size of a number</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CCC5699B-946D-035B-6625-B1CB54DC5755}"/>
              </a:ext>
            </a:extLst>
          </p:cNvPr>
          <p:cNvSpPr txBox="1"/>
          <p:nvPr/>
        </p:nvSpPr>
        <p:spPr>
          <a:xfrm>
            <a:off x="423298" y="1398818"/>
            <a:ext cx="11003325" cy="739755"/>
          </a:xfrm>
          <a:prstGeom prst="rect">
            <a:avLst/>
          </a:prstGeom>
          <a:noFill/>
        </p:spPr>
        <p:txBody>
          <a:bodyPr wrap="square" lIns="0" tIns="0" rIns="0" bIns="0" rtlCol="0">
            <a:noAutofit/>
          </a:bodyPr>
          <a:lstStyle/>
          <a:p>
            <a:pPr algn="ctr">
              <a:lnSpc>
                <a:spcPct val="150000"/>
              </a:lnSpc>
            </a:pPr>
            <a:r>
              <a:rPr lang="en-AU" sz="3200" b="1">
                <a:latin typeface="Arial" panose="020B0604020202020204" pitchFamily="34" charset="0"/>
                <a:cs typeface="Arial" panose="020B0604020202020204" pitchFamily="34" charset="0"/>
              </a:rPr>
              <a:t>Create </a:t>
            </a:r>
            <a:r>
              <a:rPr lang="en-AU" sz="3200">
                <a:latin typeface="Arial" panose="020B0604020202020204" pitchFamily="34" charset="0"/>
                <a:cs typeface="Arial" panose="020B0604020202020204" pitchFamily="34" charset="0"/>
              </a:rPr>
              <a:t>and</a:t>
            </a:r>
            <a:r>
              <a:rPr lang="en-AU" sz="3200" b="1">
                <a:latin typeface="Arial" panose="020B0604020202020204" pitchFamily="34" charset="0"/>
                <a:cs typeface="Arial" panose="020B0604020202020204" pitchFamily="34" charset="0"/>
              </a:rPr>
              <a:t> record </a:t>
            </a:r>
            <a:r>
              <a:rPr lang="en-AU" sz="3200">
                <a:latin typeface="Arial" panose="020B0604020202020204" pitchFamily="34" charset="0"/>
                <a:cs typeface="Arial" panose="020B0604020202020204" pitchFamily="34" charset="0"/>
              </a:rPr>
              <a:t>a 4-digit number.</a:t>
            </a:r>
          </a:p>
          <a:p>
            <a:pPr>
              <a:lnSpc>
                <a:spcPct val="150000"/>
              </a:lnSpc>
            </a:pPr>
            <a:endParaRPr lang="en-AU" sz="3200" b="1">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1148597D-68A7-5AC0-06DC-4BEAF686DD4A}"/>
              </a:ext>
            </a:extLst>
          </p:cNvPr>
          <p:cNvSpPr/>
          <p:nvPr/>
        </p:nvSpPr>
        <p:spPr>
          <a:xfrm>
            <a:off x="3904838" y="2267962"/>
            <a:ext cx="895350" cy="1112437"/>
          </a:xfrm>
          <a:prstGeom prst="roundRect">
            <a:avLst/>
          </a:prstGeom>
          <a:no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accent1"/>
                </a:solidFill>
              </a:rPr>
              <a:t>8</a:t>
            </a:r>
            <a:r>
              <a:rPr lang="en-AU" sz="4000" b="1" dirty="0">
                <a:solidFill>
                  <a:schemeClr val="accent1"/>
                </a:solidFill>
              </a:rPr>
              <a:t> </a:t>
            </a:r>
          </a:p>
        </p:txBody>
      </p:sp>
      <p:sp>
        <p:nvSpPr>
          <p:cNvPr id="15" name="Rectangle: Rounded Corners 14">
            <a:extLst>
              <a:ext uri="{FF2B5EF4-FFF2-40B4-BE49-F238E27FC236}">
                <a16:creationId xmlns:a16="http://schemas.microsoft.com/office/drawing/2014/main" id="{1E9FA1BE-C248-11A1-9596-BD251DBD3445}"/>
              </a:ext>
            </a:extLst>
          </p:cNvPr>
          <p:cNvSpPr/>
          <p:nvPr/>
        </p:nvSpPr>
        <p:spPr>
          <a:xfrm>
            <a:off x="4957838" y="2267962"/>
            <a:ext cx="895350" cy="1112437"/>
          </a:xfrm>
          <a:prstGeom prst="roundRect">
            <a:avLst/>
          </a:prstGeom>
          <a:no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a:solidFill>
                  <a:schemeClr val="accent1"/>
                </a:solidFill>
              </a:rPr>
              <a:t>2</a:t>
            </a:r>
            <a:r>
              <a:rPr lang="en-AU" sz="4000" b="1">
                <a:solidFill>
                  <a:schemeClr val="accent1"/>
                </a:solidFill>
              </a:rPr>
              <a:t> </a:t>
            </a:r>
          </a:p>
        </p:txBody>
      </p:sp>
      <p:sp>
        <p:nvSpPr>
          <p:cNvPr id="16" name="Rectangle: Rounded Corners 15">
            <a:extLst>
              <a:ext uri="{FF2B5EF4-FFF2-40B4-BE49-F238E27FC236}">
                <a16:creationId xmlns:a16="http://schemas.microsoft.com/office/drawing/2014/main" id="{8E6D472E-5764-5286-F0A6-822D132E1742}"/>
              </a:ext>
            </a:extLst>
          </p:cNvPr>
          <p:cNvSpPr/>
          <p:nvPr/>
        </p:nvSpPr>
        <p:spPr>
          <a:xfrm>
            <a:off x="6010838" y="2267962"/>
            <a:ext cx="895350" cy="1112437"/>
          </a:xfrm>
          <a:prstGeom prst="roundRect">
            <a:avLst/>
          </a:prstGeom>
          <a:no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a:solidFill>
                  <a:schemeClr val="accent1"/>
                </a:solidFill>
              </a:rPr>
              <a:t>1</a:t>
            </a:r>
            <a:r>
              <a:rPr lang="en-AU" sz="4000" b="1">
                <a:solidFill>
                  <a:schemeClr val="accent1"/>
                </a:solidFill>
              </a:rPr>
              <a:t> </a:t>
            </a:r>
          </a:p>
        </p:txBody>
      </p:sp>
      <p:sp>
        <p:nvSpPr>
          <p:cNvPr id="17" name="Rectangle: Rounded Corners 16">
            <a:extLst>
              <a:ext uri="{FF2B5EF4-FFF2-40B4-BE49-F238E27FC236}">
                <a16:creationId xmlns:a16="http://schemas.microsoft.com/office/drawing/2014/main" id="{344C28B3-C750-ABF4-A730-D9C37109683F}"/>
              </a:ext>
            </a:extLst>
          </p:cNvPr>
          <p:cNvSpPr/>
          <p:nvPr/>
        </p:nvSpPr>
        <p:spPr>
          <a:xfrm>
            <a:off x="7063838" y="2267961"/>
            <a:ext cx="895350" cy="1112437"/>
          </a:xfrm>
          <a:prstGeom prst="roundRect">
            <a:avLst/>
          </a:prstGeom>
          <a:no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a:solidFill>
                  <a:schemeClr val="accent1"/>
                </a:solidFill>
              </a:rPr>
              <a:t>1</a:t>
            </a:r>
            <a:r>
              <a:rPr lang="en-AU" sz="4000" b="1">
                <a:solidFill>
                  <a:schemeClr val="accent1"/>
                </a:solidFill>
              </a:rPr>
              <a:t> </a:t>
            </a:r>
          </a:p>
        </p:txBody>
      </p:sp>
      <p:sp>
        <p:nvSpPr>
          <p:cNvPr id="5" name="TextBox 4">
            <a:extLst>
              <a:ext uri="{FF2B5EF4-FFF2-40B4-BE49-F238E27FC236}">
                <a16:creationId xmlns:a16="http://schemas.microsoft.com/office/drawing/2014/main" id="{F32F5A51-4BF7-B106-FAC0-DF3C4A3C13B5}"/>
              </a:ext>
            </a:extLst>
          </p:cNvPr>
          <p:cNvSpPr txBox="1"/>
          <p:nvPr/>
        </p:nvSpPr>
        <p:spPr>
          <a:xfrm>
            <a:off x="707737" y="3509787"/>
            <a:ext cx="11003325" cy="739754"/>
          </a:xfrm>
          <a:prstGeom prst="rect">
            <a:avLst/>
          </a:prstGeom>
          <a:noFill/>
        </p:spPr>
        <p:txBody>
          <a:bodyPr wrap="square" lIns="0" tIns="0" rIns="0" bIns="0" rtlCol="0">
            <a:noAutofit/>
          </a:bodyPr>
          <a:lstStyle/>
          <a:p>
            <a:pPr algn="ctr">
              <a:lnSpc>
                <a:spcPct val="150000"/>
              </a:lnSpc>
            </a:pPr>
            <a:r>
              <a:rPr lang="en-AU" sz="3200" b="1">
                <a:latin typeface="Arial" panose="020B0604020202020204" pitchFamily="34" charset="0"/>
                <a:cs typeface="Arial" panose="020B0604020202020204" pitchFamily="34" charset="0"/>
              </a:rPr>
              <a:t>Swap</a:t>
            </a:r>
            <a:r>
              <a:rPr lang="en-AU" sz="3200">
                <a:latin typeface="Arial" panose="020B0604020202020204" pitchFamily="34" charset="0"/>
                <a:cs typeface="Arial" panose="020B0604020202020204" pitchFamily="34" charset="0"/>
              </a:rPr>
              <a:t> the positions of 2 of the digits.</a:t>
            </a:r>
          </a:p>
          <a:p>
            <a:pPr>
              <a:lnSpc>
                <a:spcPct val="150000"/>
              </a:lnSpc>
            </a:pPr>
            <a:endParaRPr lang="en-AU" sz="3200" b="1">
              <a:latin typeface="Arial" panose="020B0604020202020204" pitchFamily="34" charset="0"/>
              <a:cs typeface="Arial" panose="020B0604020202020204" pitchFamily="34" charset="0"/>
            </a:endParaRPr>
          </a:p>
        </p:txBody>
      </p:sp>
      <p:sp>
        <p:nvSpPr>
          <p:cNvPr id="20" name="Rectangle: Rounded Corners 19">
            <a:extLst>
              <a:ext uri="{FF2B5EF4-FFF2-40B4-BE49-F238E27FC236}">
                <a16:creationId xmlns:a16="http://schemas.microsoft.com/office/drawing/2014/main" id="{B1B8E0CE-9F18-C2FF-E7B0-76DC61041246}"/>
              </a:ext>
            </a:extLst>
          </p:cNvPr>
          <p:cNvSpPr/>
          <p:nvPr/>
        </p:nvSpPr>
        <p:spPr>
          <a:xfrm>
            <a:off x="3979159" y="4516074"/>
            <a:ext cx="895350" cy="1112437"/>
          </a:xfrm>
          <a:prstGeom prst="roundRect">
            <a:avLst/>
          </a:prstGeom>
          <a:no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a:solidFill>
                  <a:schemeClr val="accent1"/>
                </a:solidFill>
              </a:rPr>
              <a:t>1</a:t>
            </a:r>
            <a:r>
              <a:rPr lang="en-AU" sz="4000" b="1">
                <a:solidFill>
                  <a:schemeClr val="accent1"/>
                </a:solidFill>
              </a:rPr>
              <a:t> </a:t>
            </a:r>
          </a:p>
        </p:txBody>
      </p:sp>
      <p:sp>
        <p:nvSpPr>
          <p:cNvPr id="18" name="Rectangle: Rounded Corners 17">
            <a:extLst>
              <a:ext uri="{FF2B5EF4-FFF2-40B4-BE49-F238E27FC236}">
                <a16:creationId xmlns:a16="http://schemas.microsoft.com/office/drawing/2014/main" id="{E482EE00-B102-8400-29C8-F5A984B8ADDC}"/>
              </a:ext>
            </a:extLst>
          </p:cNvPr>
          <p:cNvSpPr/>
          <p:nvPr/>
        </p:nvSpPr>
        <p:spPr>
          <a:xfrm>
            <a:off x="5032159" y="4516074"/>
            <a:ext cx="895350" cy="1112437"/>
          </a:xfrm>
          <a:prstGeom prst="roundRect">
            <a:avLst/>
          </a:prstGeom>
          <a:no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a:solidFill>
                  <a:schemeClr val="accent1"/>
                </a:solidFill>
              </a:rPr>
              <a:t>2</a:t>
            </a:r>
            <a:r>
              <a:rPr lang="en-AU" sz="4000" b="1">
                <a:solidFill>
                  <a:schemeClr val="accent1"/>
                </a:solidFill>
              </a:rPr>
              <a:t> </a:t>
            </a:r>
          </a:p>
        </p:txBody>
      </p:sp>
      <p:sp>
        <p:nvSpPr>
          <p:cNvPr id="19" name="Rectangle: Rounded Corners 18">
            <a:extLst>
              <a:ext uri="{FF2B5EF4-FFF2-40B4-BE49-F238E27FC236}">
                <a16:creationId xmlns:a16="http://schemas.microsoft.com/office/drawing/2014/main" id="{698412FE-82A9-CADB-EAFB-4F8B843042F1}"/>
              </a:ext>
            </a:extLst>
          </p:cNvPr>
          <p:cNvSpPr/>
          <p:nvPr/>
        </p:nvSpPr>
        <p:spPr>
          <a:xfrm>
            <a:off x="6085159" y="4516074"/>
            <a:ext cx="895350" cy="1112437"/>
          </a:xfrm>
          <a:prstGeom prst="roundRect">
            <a:avLst/>
          </a:prstGeom>
          <a:no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a:solidFill>
                  <a:schemeClr val="accent1"/>
                </a:solidFill>
              </a:rPr>
              <a:t>1</a:t>
            </a:r>
            <a:r>
              <a:rPr lang="en-AU" sz="4000" b="1">
                <a:solidFill>
                  <a:schemeClr val="accent1"/>
                </a:solidFill>
              </a:rPr>
              <a:t> </a:t>
            </a:r>
          </a:p>
        </p:txBody>
      </p:sp>
      <p:sp>
        <p:nvSpPr>
          <p:cNvPr id="21" name="Rectangle: Rounded Corners 20">
            <a:extLst>
              <a:ext uri="{FF2B5EF4-FFF2-40B4-BE49-F238E27FC236}">
                <a16:creationId xmlns:a16="http://schemas.microsoft.com/office/drawing/2014/main" id="{F93715AD-7845-F1CE-F407-02E64F2C3005}"/>
              </a:ext>
            </a:extLst>
          </p:cNvPr>
          <p:cNvSpPr/>
          <p:nvPr/>
        </p:nvSpPr>
        <p:spPr>
          <a:xfrm>
            <a:off x="7158334" y="4516074"/>
            <a:ext cx="895350" cy="1112437"/>
          </a:xfrm>
          <a:prstGeom prst="roundRect">
            <a:avLst/>
          </a:prstGeom>
          <a:no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a:solidFill>
                  <a:schemeClr val="accent1"/>
                </a:solidFill>
              </a:rPr>
              <a:t>8</a:t>
            </a:r>
            <a:r>
              <a:rPr lang="en-AU" sz="4000" b="1">
                <a:solidFill>
                  <a:schemeClr val="accent1"/>
                </a:solidFill>
              </a:rPr>
              <a:t> </a:t>
            </a:r>
          </a:p>
        </p:txBody>
      </p:sp>
      <p:sp>
        <p:nvSpPr>
          <p:cNvPr id="23" name="TextBox 22">
            <a:extLst>
              <a:ext uri="{FF2B5EF4-FFF2-40B4-BE49-F238E27FC236}">
                <a16:creationId xmlns:a16="http://schemas.microsoft.com/office/drawing/2014/main" id="{969641A3-13A6-6913-0BDB-2B1294F9A768}"/>
              </a:ext>
            </a:extLst>
          </p:cNvPr>
          <p:cNvSpPr txBox="1"/>
          <p:nvPr/>
        </p:nvSpPr>
        <p:spPr>
          <a:xfrm>
            <a:off x="271799" y="5894464"/>
            <a:ext cx="11306325" cy="739754"/>
          </a:xfrm>
          <a:prstGeom prst="rect">
            <a:avLst/>
          </a:prstGeom>
          <a:noFill/>
        </p:spPr>
        <p:txBody>
          <a:bodyPr wrap="square">
            <a:spAutoFit/>
          </a:bodyPr>
          <a:lstStyle/>
          <a:p>
            <a:pPr algn="ctr">
              <a:lnSpc>
                <a:spcPct val="150000"/>
              </a:lnSpc>
            </a:pPr>
            <a:r>
              <a:rPr lang="en-AU" sz="3200" b="1">
                <a:latin typeface="Arial" panose="020B0604020202020204" pitchFamily="34" charset="0"/>
                <a:cs typeface="Arial" panose="020B0604020202020204" pitchFamily="34" charset="0"/>
              </a:rPr>
              <a:t>Describe</a:t>
            </a:r>
            <a:r>
              <a:rPr lang="en-AU" sz="3200">
                <a:latin typeface="Arial" panose="020B0604020202020204" pitchFamily="34" charset="0"/>
                <a:cs typeface="Arial" panose="020B0604020202020204" pitchFamily="34" charset="0"/>
              </a:rPr>
              <a:t> how the new number is </a:t>
            </a:r>
            <a:r>
              <a:rPr lang="en-AU" sz="3200" b="1">
                <a:latin typeface="Arial" panose="020B0604020202020204" pitchFamily="34" charset="0"/>
                <a:cs typeface="Arial" panose="020B0604020202020204" pitchFamily="34" charset="0"/>
              </a:rPr>
              <a:t>larger</a:t>
            </a:r>
            <a:r>
              <a:rPr lang="en-AU" sz="3200">
                <a:latin typeface="Arial" panose="020B0604020202020204" pitchFamily="34" charset="0"/>
                <a:cs typeface="Arial" panose="020B0604020202020204" pitchFamily="34" charset="0"/>
              </a:rPr>
              <a:t> or </a:t>
            </a:r>
            <a:r>
              <a:rPr lang="en-AU" sz="3200" b="1">
                <a:latin typeface="Arial" panose="020B0604020202020204" pitchFamily="34" charset="0"/>
                <a:cs typeface="Arial" panose="020B0604020202020204" pitchFamily="34" charset="0"/>
              </a:rPr>
              <a:t>smaller</a:t>
            </a:r>
            <a:r>
              <a:rPr lang="en-AU" sz="3200">
                <a:latin typeface="Arial" panose="020B0604020202020204" pitchFamily="34" charset="0"/>
                <a:cs typeface="Arial" panose="020B0604020202020204" pitchFamily="34" charset="0"/>
              </a:rPr>
              <a:t>.</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 uri="{C183D7F6-B498-43B3-948B-1728B52AA6E4}">
                <adec:decorative xmlns:adec="http://schemas.microsoft.com/office/drawing/2017/decorative" val="0"/>
              </a:ext>
            </a:extLst>
          </p:cNvPr>
          <p:cNvSpPr>
            <a:spLocks noGrp="1"/>
          </p:cNvSpPr>
          <p:nvPr>
            <p:ph type="body" sz="quarter" idx="22"/>
          </p:nvPr>
        </p:nvSpPr>
        <p:spPr>
          <a:xfrm>
            <a:off x="474481" y="1020837"/>
            <a:ext cx="11243037" cy="893226"/>
          </a:xfrm>
        </p:spPr>
        <p:txBody>
          <a:bodyPr/>
          <a:lstStyle/>
          <a:p>
            <a:pPr algn="ctr"/>
            <a:r>
              <a:rPr lang="en-AU" sz="3600" dirty="0"/>
              <a:t>857 321 is the </a:t>
            </a:r>
            <a:r>
              <a:rPr lang="en-AU" sz="3600" b="1" dirty="0"/>
              <a:t>largest</a:t>
            </a:r>
            <a:r>
              <a:rPr lang="en-AU" sz="3600" dirty="0"/>
              <a:t> </a:t>
            </a:r>
            <a:r>
              <a:rPr lang="en-AU" sz="3600" b="1" dirty="0"/>
              <a:t>number</a:t>
            </a:r>
            <a:r>
              <a:rPr lang="en-AU" sz="3600" dirty="0"/>
              <a:t> that can be made by rearranging these digits. </a:t>
            </a:r>
          </a:p>
        </p:txBody>
      </p:sp>
      <p:grpSp>
        <p:nvGrpSpPr>
          <p:cNvPr id="14" name="Group 13" descr="Playing cards 8 of clubs, 5 of spades, 7 of hearts, 3 of diamonds, 2 of spades and ace of diamonds.">
            <a:extLst>
              <a:ext uri="{FF2B5EF4-FFF2-40B4-BE49-F238E27FC236}">
                <a16:creationId xmlns:a16="http://schemas.microsoft.com/office/drawing/2014/main" id="{FE0A9914-9BE3-7C5B-C710-7C7FBE07659E}"/>
              </a:ext>
            </a:extLst>
          </p:cNvPr>
          <p:cNvGrpSpPr/>
          <p:nvPr/>
        </p:nvGrpSpPr>
        <p:grpSpPr>
          <a:xfrm>
            <a:off x="1198794" y="2700443"/>
            <a:ext cx="9794410" cy="2117951"/>
            <a:chOff x="1640861" y="2792612"/>
            <a:chExt cx="9794410" cy="2117951"/>
          </a:xfrm>
          <a:effectLst>
            <a:outerShdw blurRad="63500" sx="102000" sy="102000" algn="ctr" rotWithShape="0">
              <a:prstClr val="black">
                <a:alpha val="40000"/>
              </a:prstClr>
            </a:outerShdw>
          </a:effectLst>
        </p:grpSpPr>
        <p:sp>
          <p:nvSpPr>
            <p:cNvPr id="7" name="Freeform 2">
              <a:extLst>
                <a:ext uri="{FF2B5EF4-FFF2-40B4-BE49-F238E27FC236}">
                  <a16:creationId xmlns:a16="http://schemas.microsoft.com/office/drawing/2014/main" id="{A6C03A12-61B2-C1D2-8C09-9279024124E9}"/>
                </a:ext>
              </a:extLst>
            </p:cNvPr>
            <p:cNvSpPr>
              <a:spLocks noChangeAspect="1"/>
            </p:cNvSpPr>
            <p:nvPr/>
          </p:nvSpPr>
          <p:spPr>
            <a:xfrm>
              <a:off x="3311743" y="2816007"/>
              <a:ext cx="1440000" cy="2094556"/>
            </a:xfrm>
            <a:custGeom>
              <a:avLst/>
              <a:gdLst/>
              <a:ahLst/>
              <a:cxnLst/>
              <a:rect l="l" t="t" r="r" b="b"/>
              <a:pathLst>
                <a:path w="389770" h="584125">
                  <a:moveTo>
                    <a:pt x="0" y="0"/>
                  </a:moveTo>
                  <a:lnTo>
                    <a:pt x="389770" y="0"/>
                  </a:lnTo>
                  <a:lnTo>
                    <a:pt x="389770" y="584125"/>
                  </a:lnTo>
                  <a:lnTo>
                    <a:pt x="0" y="5841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3">
              <a:extLst>
                <a:ext uri="{FF2B5EF4-FFF2-40B4-BE49-F238E27FC236}">
                  <a16:creationId xmlns:a16="http://schemas.microsoft.com/office/drawing/2014/main" id="{1E2A8E5C-D7D8-80AD-AF6A-F5C69D335096}"/>
                </a:ext>
              </a:extLst>
            </p:cNvPr>
            <p:cNvSpPr>
              <a:spLocks noChangeAspect="1"/>
            </p:cNvSpPr>
            <p:nvPr/>
          </p:nvSpPr>
          <p:spPr>
            <a:xfrm>
              <a:off x="6653507" y="2807088"/>
              <a:ext cx="1440000" cy="2094556"/>
            </a:xfrm>
            <a:custGeom>
              <a:avLst/>
              <a:gdLst/>
              <a:ahLst/>
              <a:cxnLst/>
              <a:rect l="l" t="t" r="r" b="b"/>
              <a:pathLst>
                <a:path w="383956" h="575411">
                  <a:moveTo>
                    <a:pt x="0" y="0"/>
                  </a:moveTo>
                  <a:lnTo>
                    <a:pt x="383956" y="0"/>
                  </a:lnTo>
                  <a:lnTo>
                    <a:pt x="383956" y="575411"/>
                  </a:lnTo>
                  <a:lnTo>
                    <a:pt x="0" y="5754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9" name="Freeform 4">
              <a:extLst>
                <a:ext uri="{FF2B5EF4-FFF2-40B4-BE49-F238E27FC236}">
                  <a16:creationId xmlns:a16="http://schemas.microsoft.com/office/drawing/2014/main" id="{0A1B283E-3297-61BE-A456-BD9AE96FEC29}"/>
                </a:ext>
              </a:extLst>
            </p:cNvPr>
            <p:cNvSpPr>
              <a:spLocks noChangeAspect="1"/>
            </p:cNvSpPr>
            <p:nvPr/>
          </p:nvSpPr>
          <p:spPr>
            <a:xfrm>
              <a:off x="4982625" y="2807088"/>
              <a:ext cx="1440000" cy="2094556"/>
            </a:xfrm>
            <a:custGeom>
              <a:avLst/>
              <a:gdLst/>
              <a:ahLst/>
              <a:cxnLst/>
              <a:rect l="l" t="t" r="r" b="b"/>
              <a:pathLst>
                <a:path w="383956" h="575411">
                  <a:moveTo>
                    <a:pt x="0" y="0"/>
                  </a:moveTo>
                  <a:lnTo>
                    <a:pt x="383956" y="0"/>
                  </a:lnTo>
                  <a:lnTo>
                    <a:pt x="383956" y="575411"/>
                  </a:lnTo>
                  <a:lnTo>
                    <a:pt x="0" y="57541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0" name="Freeform 5">
              <a:extLst>
                <a:ext uri="{FF2B5EF4-FFF2-40B4-BE49-F238E27FC236}">
                  <a16:creationId xmlns:a16="http://schemas.microsoft.com/office/drawing/2014/main" id="{EB0E3CEF-F701-461D-FCDB-6A3BD2F88866}"/>
                </a:ext>
              </a:extLst>
            </p:cNvPr>
            <p:cNvSpPr>
              <a:spLocks noChangeAspect="1"/>
            </p:cNvSpPr>
            <p:nvPr/>
          </p:nvSpPr>
          <p:spPr>
            <a:xfrm>
              <a:off x="1640861" y="2807088"/>
              <a:ext cx="1440000" cy="2094556"/>
            </a:xfrm>
            <a:custGeom>
              <a:avLst/>
              <a:gdLst/>
              <a:ahLst/>
              <a:cxnLst/>
              <a:rect l="l" t="t" r="r" b="b"/>
              <a:pathLst>
                <a:path w="389770" h="584125">
                  <a:moveTo>
                    <a:pt x="0" y="0"/>
                  </a:moveTo>
                  <a:lnTo>
                    <a:pt x="389770" y="0"/>
                  </a:lnTo>
                  <a:lnTo>
                    <a:pt x="389770" y="584125"/>
                  </a:lnTo>
                  <a:lnTo>
                    <a:pt x="0" y="58412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11" name="Freeform 6">
              <a:extLst>
                <a:ext uri="{FF2B5EF4-FFF2-40B4-BE49-F238E27FC236}">
                  <a16:creationId xmlns:a16="http://schemas.microsoft.com/office/drawing/2014/main" id="{64A7851C-BB91-8BD4-5059-ECE8AA139965}"/>
                </a:ext>
              </a:extLst>
            </p:cNvPr>
            <p:cNvSpPr>
              <a:spLocks noChangeAspect="1"/>
            </p:cNvSpPr>
            <p:nvPr/>
          </p:nvSpPr>
          <p:spPr>
            <a:xfrm>
              <a:off x="8324389" y="2792612"/>
              <a:ext cx="1440000" cy="2094556"/>
            </a:xfrm>
            <a:custGeom>
              <a:avLst/>
              <a:gdLst/>
              <a:ahLst/>
              <a:cxnLst/>
              <a:rect l="l" t="t" r="r" b="b"/>
              <a:pathLst>
                <a:path w="389770" h="584125">
                  <a:moveTo>
                    <a:pt x="0" y="0"/>
                  </a:moveTo>
                  <a:lnTo>
                    <a:pt x="389770" y="0"/>
                  </a:lnTo>
                  <a:lnTo>
                    <a:pt x="389770" y="584125"/>
                  </a:lnTo>
                  <a:lnTo>
                    <a:pt x="0" y="58412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13" name="Freeform 7">
              <a:extLst>
                <a:ext uri="{FF2B5EF4-FFF2-40B4-BE49-F238E27FC236}">
                  <a16:creationId xmlns:a16="http://schemas.microsoft.com/office/drawing/2014/main" id="{31C94293-5D6F-14E3-4B12-AD616A8B5EB8}"/>
                </a:ext>
              </a:extLst>
            </p:cNvPr>
            <p:cNvSpPr>
              <a:spLocks noChangeAspect="1"/>
            </p:cNvSpPr>
            <p:nvPr/>
          </p:nvSpPr>
          <p:spPr>
            <a:xfrm>
              <a:off x="9995271" y="2792612"/>
              <a:ext cx="1440000" cy="2094556"/>
            </a:xfrm>
            <a:custGeom>
              <a:avLst/>
              <a:gdLst/>
              <a:ahLst/>
              <a:cxnLst/>
              <a:rect l="l" t="t" r="r" b="b"/>
              <a:pathLst>
                <a:path w="409786" h="576150">
                  <a:moveTo>
                    <a:pt x="0" y="0"/>
                  </a:moveTo>
                  <a:lnTo>
                    <a:pt x="409787" y="0"/>
                  </a:lnTo>
                  <a:lnTo>
                    <a:pt x="409787" y="576149"/>
                  </a:lnTo>
                  <a:lnTo>
                    <a:pt x="0" y="576149"/>
                  </a:lnTo>
                  <a:lnTo>
                    <a:pt x="0" y="0"/>
                  </a:lnTo>
                  <a:close/>
                </a:path>
              </a:pathLst>
            </a:custGeom>
            <a:blipFill>
              <a:blip r:embed="rId14"/>
              <a:stretch>
                <a:fillRect/>
              </a:stretch>
            </a:blipFill>
            <a:ln w="4762" cap="sq">
              <a:solidFill>
                <a:srgbClr val="A6A6A6"/>
              </a:solidFill>
              <a:prstDash val="solid"/>
              <a:miter/>
            </a:ln>
          </p:spPr>
          <p:txBody>
            <a:bodyPr/>
            <a:lstStyle/>
            <a:p>
              <a:endParaRPr lang="en-AU"/>
            </a:p>
          </p:txBody>
        </p:sp>
      </p:gr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718859185"/>
              </p:ext>
            </p:extLst>
          </p:nvPr>
        </p:nvGraphicFramePr>
        <p:xfrm>
          <a:off x="2442020" y="496994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6">
            <a:extLst>
              <a:ext uri="{FF2B5EF4-FFF2-40B4-BE49-F238E27FC236}">
                <a16:creationId xmlns:a16="http://schemas.microsoft.com/office/drawing/2014/main" id="{D0F07C53-8670-86C5-8439-C3195FB87CE3}"/>
              </a:ext>
            </a:extLst>
          </p:cNvPr>
          <p:cNvSpPr txBox="1">
            <a:spLocks/>
          </p:cNvSpPr>
          <p:nvPr/>
        </p:nvSpPr>
        <p:spPr>
          <a:xfrm>
            <a:off x="474481" y="5604774"/>
            <a:ext cx="11243037" cy="893226"/>
          </a:xfrm>
          <a:prstGeom prst="rect">
            <a:avLst/>
          </a:prstGeom>
        </p:spPr>
        <p:txBody>
          <a:bodyPr vert="horz" lIns="0" tIns="0" rIns="0" bIns="0" rtlCol="0" anchor="t">
            <a:noAutofit/>
          </a:bodyPr>
          <a:lstStyle>
            <a:defPPr>
              <a:defRPr lang="en-US"/>
            </a:defPPr>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b="1">
                <a:latin typeface="Arial"/>
                <a:cs typeface="Arial"/>
              </a:rPr>
              <a:t>Communicate</a:t>
            </a:r>
            <a:r>
              <a:rPr lang="en-US" sz="3600">
                <a:latin typeface="Arial"/>
                <a:cs typeface="Arial"/>
              </a:rPr>
              <a:t> your </a:t>
            </a:r>
            <a:r>
              <a:rPr lang="en-US" sz="3600" b="1">
                <a:latin typeface="Arial"/>
                <a:cs typeface="Arial"/>
              </a:rPr>
              <a:t>reasoning</a:t>
            </a:r>
            <a:r>
              <a:rPr lang="en-US" sz="3600">
                <a:latin typeface="Arial"/>
                <a:cs typeface="Arial"/>
              </a:rPr>
              <a:t>.</a:t>
            </a:r>
            <a:endParaRPr lang="en-US" sz="3600"/>
          </a:p>
        </p:txBody>
      </p:sp>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215423E2-3BBB-9727-3E9F-CC39FFC751D8}"/>
              </a:ext>
            </a:extLst>
          </p:cNvPr>
          <p:cNvSpPr txBox="1">
            <a:spLocks/>
          </p:cNvSpPr>
          <p:nvPr/>
        </p:nvSpPr>
        <p:spPr>
          <a:xfrm>
            <a:off x="474481" y="1184223"/>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Which</a:t>
            </a:r>
            <a:r>
              <a:rPr lang="en-AU" sz="4400" b="1"/>
              <a:t> 2D</a:t>
            </a:r>
            <a:r>
              <a:rPr lang="en-AU" sz="4400"/>
              <a:t> </a:t>
            </a:r>
            <a:r>
              <a:rPr lang="en-AU" sz="4400" b="1"/>
              <a:t>shapes</a:t>
            </a:r>
            <a:r>
              <a:rPr lang="en-AU" sz="4400"/>
              <a:t> can you see on this </a:t>
            </a:r>
            <a:r>
              <a:rPr lang="en-AU" sz="4400" b="1"/>
              <a:t>3D object?</a:t>
            </a:r>
            <a:endParaRPr lang="en-AU" sz="4400"/>
          </a:p>
        </p:txBody>
      </p:sp>
      <p:sp>
        <p:nvSpPr>
          <p:cNvPr id="5" name="Freeform 3" descr="A blue prism showing unseen edges and boundaries. ">
            <a:extLst>
              <a:ext uri="{FF2B5EF4-FFF2-40B4-BE49-F238E27FC236}">
                <a16:creationId xmlns:a16="http://schemas.microsoft.com/office/drawing/2014/main" id="{B563A148-FDAD-432E-F4C4-59188F7A70B5}"/>
              </a:ext>
            </a:extLst>
          </p:cNvPr>
          <p:cNvSpPr>
            <a:spLocks noChangeAspect="1"/>
          </p:cNvSpPr>
          <p:nvPr/>
        </p:nvSpPr>
        <p:spPr>
          <a:xfrm>
            <a:off x="4781563" y="3289589"/>
            <a:ext cx="3467344" cy="2981925"/>
          </a:xfrm>
          <a:custGeom>
            <a:avLst/>
            <a:gdLst/>
            <a:ahLst/>
            <a:cxnLst/>
            <a:rect l="l" t="t" r="r" b="b"/>
            <a:pathLst>
              <a:path w="770523" h="662650">
                <a:moveTo>
                  <a:pt x="0" y="0"/>
                </a:moveTo>
                <a:lnTo>
                  <a:pt x="770523" y="0"/>
                </a:lnTo>
                <a:lnTo>
                  <a:pt x="770523" y="662650"/>
                </a:lnTo>
                <a:lnTo>
                  <a:pt x="0" y="6626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52FB5A9-B978-EADF-D56D-BC44A52889AD}"/>
              </a:ext>
            </a:extLst>
          </p:cNvPr>
          <p:cNvSpPr txBox="1"/>
          <p:nvPr/>
        </p:nvSpPr>
        <p:spPr>
          <a:xfrm>
            <a:off x="277368" y="905601"/>
            <a:ext cx="4477511" cy="5541069"/>
          </a:xfrm>
          <a:prstGeom prst="rect">
            <a:avLst/>
          </a:prstGeom>
          <a:noFill/>
        </p:spPr>
        <p:txBody>
          <a:bodyPr wrap="square">
            <a:spAutoFit/>
          </a:bodyPr>
          <a:lstStyle/>
          <a:p>
            <a:pPr>
              <a:lnSpc>
                <a:spcPct val="150000"/>
              </a:lnSpc>
            </a:pPr>
            <a:r>
              <a:rPr lang="en-AU" sz="3200" b="1" kern="1200">
                <a:solidFill>
                  <a:schemeClr val="tx1"/>
                </a:solidFill>
                <a:effectLst/>
                <a:latin typeface="Arial" panose="020B0604020202020204" pitchFamily="34" charset="0"/>
                <a:ea typeface="+mn-ea"/>
                <a:cs typeface="Arial" panose="020B0604020202020204" pitchFamily="34" charset="0"/>
              </a:rPr>
              <a:t>Record</a:t>
            </a:r>
            <a:r>
              <a:rPr lang="en-AU" sz="3200" kern="1200">
                <a:solidFill>
                  <a:schemeClr val="tx1"/>
                </a:solidFill>
                <a:effectLst/>
                <a:latin typeface="Arial" panose="020B0604020202020204" pitchFamily="34" charset="0"/>
                <a:ea typeface="+mn-ea"/>
                <a:cs typeface="Arial" panose="020B0604020202020204" pitchFamily="34" charset="0"/>
              </a:rPr>
              <a:t> the </a:t>
            </a:r>
            <a:r>
              <a:rPr lang="en-AU" sz="3200" b="1" kern="1200">
                <a:solidFill>
                  <a:schemeClr val="tx1"/>
                </a:solidFill>
                <a:effectLst/>
                <a:latin typeface="Arial" panose="020B0604020202020204" pitchFamily="34" charset="0"/>
                <a:ea typeface="+mn-ea"/>
                <a:cs typeface="Arial" panose="020B0604020202020204" pitchFamily="34" charset="0"/>
              </a:rPr>
              <a:t>path</a:t>
            </a:r>
            <a:r>
              <a:rPr lang="en-AU" sz="3200" kern="1200">
                <a:solidFill>
                  <a:schemeClr val="tx1"/>
                </a:solidFill>
                <a:effectLst/>
                <a:latin typeface="Arial" panose="020B0604020202020204" pitchFamily="34" charset="0"/>
                <a:ea typeface="+mn-ea"/>
                <a:cs typeface="Arial" panose="020B0604020202020204" pitchFamily="34" charset="0"/>
              </a:rPr>
              <a:t> from the </a:t>
            </a:r>
            <a:r>
              <a:rPr lang="en-AU" sz="3200" b="1">
                <a:latin typeface="Arial" panose="020B0604020202020204" pitchFamily="34" charset="0"/>
                <a:cs typeface="Arial" panose="020B0604020202020204" pitchFamily="34" charset="0"/>
              </a:rPr>
              <a:t>Pas</a:t>
            </a:r>
            <a:r>
              <a:rPr lang="en-AU" sz="3200" b="1" kern="1200">
                <a:solidFill>
                  <a:schemeClr val="tx1"/>
                </a:solidFill>
                <a:effectLst/>
                <a:latin typeface="Arial" panose="020B0604020202020204" pitchFamily="34" charset="0"/>
                <a:ea typeface="+mn-ea"/>
                <a:cs typeface="Arial" panose="020B0604020202020204" pitchFamily="34" charset="0"/>
              </a:rPr>
              <a:t>ta </a:t>
            </a:r>
            <a:r>
              <a:rPr lang="en-AU" sz="3200">
                <a:latin typeface="Arial" panose="020B0604020202020204" pitchFamily="34" charset="0"/>
                <a:cs typeface="Arial" panose="020B0604020202020204" pitchFamily="34" charset="0"/>
              </a:rPr>
              <a:t>to t</a:t>
            </a:r>
            <a:r>
              <a:rPr lang="en-AU" sz="3200" kern="1200">
                <a:solidFill>
                  <a:schemeClr val="tx1"/>
                </a:solidFill>
                <a:effectLst/>
                <a:latin typeface="Arial" panose="020B0604020202020204" pitchFamily="34" charset="0"/>
                <a:ea typeface="+mn-ea"/>
                <a:cs typeface="Arial" panose="020B0604020202020204" pitchFamily="34" charset="0"/>
              </a:rPr>
              <a:t>he </a:t>
            </a:r>
            <a:r>
              <a:rPr lang="en-AU" sz="3200" b="1">
                <a:latin typeface="Arial" panose="020B0604020202020204" pitchFamily="34" charset="0"/>
                <a:cs typeface="Arial" panose="020B0604020202020204" pitchFamily="34" charset="0"/>
              </a:rPr>
              <a:t>C</a:t>
            </a:r>
            <a:r>
              <a:rPr lang="en-AU" sz="3200" b="1" kern="1200">
                <a:solidFill>
                  <a:schemeClr val="tx1"/>
                </a:solidFill>
                <a:effectLst/>
                <a:latin typeface="Arial" panose="020B0604020202020204" pitchFamily="34" charset="0"/>
                <a:ea typeface="+mn-ea"/>
                <a:cs typeface="Arial" panose="020B0604020202020204" pitchFamily="34" charset="0"/>
              </a:rPr>
              <a:t>heck out</a:t>
            </a:r>
            <a:r>
              <a:rPr lang="en-AU" sz="3200" kern="1200">
                <a:solidFill>
                  <a:schemeClr val="tx1"/>
                </a:solidFill>
                <a:effectLst/>
                <a:latin typeface="Arial" panose="020B0604020202020204" pitchFamily="34" charset="0"/>
                <a:ea typeface="+mn-ea"/>
                <a:cs typeface="Arial" panose="020B0604020202020204" pitchFamily="34" charset="0"/>
              </a:rPr>
              <a:t>.</a:t>
            </a:r>
          </a:p>
          <a:p>
            <a:pPr>
              <a:lnSpc>
                <a:spcPct val="150000"/>
              </a:lnSpc>
            </a:pPr>
            <a:endParaRPr lang="en-AU" sz="1600">
              <a:latin typeface="Arial" panose="020B0604020202020204" pitchFamily="34" charset="0"/>
              <a:cs typeface="Arial" panose="020B0604020202020204" pitchFamily="34" charset="0"/>
            </a:endParaRPr>
          </a:p>
          <a:p>
            <a:pPr>
              <a:lnSpc>
                <a:spcPct val="150000"/>
              </a:lnSpc>
            </a:pPr>
            <a:r>
              <a:rPr lang="en-AU" sz="3200" b="1">
                <a:latin typeface="Arial" panose="020B0604020202020204" pitchFamily="34" charset="0"/>
                <a:cs typeface="Arial" panose="020B0604020202020204" pitchFamily="34" charset="0"/>
              </a:rPr>
              <a:t>Use:</a:t>
            </a:r>
          </a:p>
          <a:p>
            <a:pPr marL="457200" indent="-457200">
              <a:lnSpc>
                <a:spcPct val="150000"/>
              </a:lnSpc>
              <a:buFont typeface="Arial" panose="020B0604020202020204" pitchFamily="34" charset="0"/>
              <a:buChar char="•"/>
            </a:pPr>
            <a:r>
              <a:rPr lang="en-AU" sz="3200">
                <a:latin typeface="Arial" panose="020B0604020202020204" pitchFamily="34" charset="0"/>
                <a:cs typeface="Arial" panose="020B0604020202020204" pitchFamily="34" charset="0"/>
              </a:rPr>
              <a:t>grid references</a:t>
            </a:r>
          </a:p>
          <a:p>
            <a:pPr marL="457200" indent="-457200">
              <a:lnSpc>
                <a:spcPct val="150000"/>
              </a:lnSpc>
              <a:buFont typeface="Arial" panose="020B0604020202020204" pitchFamily="34" charset="0"/>
              <a:buChar char="•"/>
            </a:pPr>
            <a:r>
              <a:rPr lang="en-AU" sz="3200">
                <a:latin typeface="Arial" panose="020B0604020202020204" pitchFamily="34" charset="0"/>
                <a:cs typeface="Arial" panose="020B0604020202020204" pitchFamily="34" charset="0"/>
              </a:rPr>
              <a:t>compass directions</a:t>
            </a:r>
          </a:p>
          <a:p>
            <a:pPr marL="457200" indent="-457200">
              <a:lnSpc>
                <a:spcPct val="150000"/>
              </a:lnSpc>
              <a:buFont typeface="Arial" panose="020B0604020202020204" pitchFamily="34" charset="0"/>
              <a:buChar char="•"/>
            </a:pPr>
            <a:r>
              <a:rPr lang="en-AU" sz="3200">
                <a:latin typeface="Arial" panose="020B0604020202020204" pitchFamily="34" charset="0"/>
                <a:cs typeface="Arial" panose="020B0604020202020204" pitchFamily="34" charset="0"/>
              </a:rPr>
              <a:t>directional language.</a:t>
            </a:r>
          </a:p>
        </p:txBody>
      </p:sp>
      <p:pic>
        <p:nvPicPr>
          <p:cNvPr id="7" name="Picture 6" descr="A colourful grid 10 by 10 with text. The x-axis is marked with the letters A to J and the y-axis is marked with the numbers 1 to 10. Text around the grid: Baking, Frozen food, Dairy, Deli, Meat, Vegetable and Fruit.&#10;&#10;In the middle of the map are sections for pasta, chips, lollies, eggs, rice, snack, pet, clean, check out. &#10;&#10;There is a compass labelled north, east, south, west in the corner.">
            <a:extLst>
              <a:ext uri="{FF2B5EF4-FFF2-40B4-BE49-F238E27FC236}">
                <a16:creationId xmlns:a16="http://schemas.microsoft.com/office/drawing/2014/main" id="{1E242C02-B74D-DD61-D979-558A95017CB6}"/>
              </a:ext>
            </a:extLst>
          </p:cNvPr>
          <p:cNvPicPr>
            <a:picLocks noChangeAspect="1"/>
          </p:cNvPicPr>
          <p:nvPr/>
        </p:nvPicPr>
        <p:blipFill>
          <a:blip r:embed="rId4"/>
          <a:srcRect r="6621"/>
          <a:stretch>
            <a:fillRect/>
          </a:stretch>
        </p:blipFill>
        <p:spPr>
          <a:xfrm>
            <a:off x="4909824" y="1264904"/>
            <a:ext cx="7004808" cy="5431096"/>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07E76FD-9192-E5DE-75CC-4E9B917EA650}"/>
              </a:ext>
            </a:extLst>
          </p:cNvPr>
          <p:cNvSpPr txBox="1"/>
          <p:nvPr/>
        </p:nvSpPr>
        <p:spPr>
          <a:xfrm>
            <a:off x="972076" y="1077901"/>
            <a:ext cx="10058400" cy="982513"/>
          </a:xfrm>
          <a:prstGeom prst="rect">
            <a:avLst/>
          </a:prstGeom>
          <a:noFill/>
        </p:spPr>
        <p:txBody>
          <a:bodyPr wrap="square">
            <a:spAutoFit/>
          </a:bodyPr>
          <a:lstStyle/>
          <a:p>
            <a:pPr algn="ctr">
              <a:lnSpc>
                <a:spcPct val="150000"/>
              </a:lnSpc>
            </a:pPr>
            <a:r>
              <a:rPr lang="en-AU" sz="4400" b="1" kern="1200">
                <a:solidFill>
                  <a:schemeClr val="tx1"/>
                </a:solidFill>
                <a:effectLst/>
                <a:latin typeface="Arial" panose="020B0604020202020204" pitchFamily="34" charset="0"/>
                <a:ea typeface="+mn-ea"/>
                <a:cs typeface="Arial" panose="020B0604020202020204" pitchFamily="34" charset="0"/>
              </a:rPr>
              <a:t>Halve </a:t>
            </a:r>
            <a:r>
              <a:rPr lang="en-AU" sz="4400" kern="1200">
                <a:solidFill>
                  <a:schemeClr val="tx1"/>
                </a:solidFill>
                <a:effectLst/>
                <a:latin typeface="Arial" panose="020B0604020202020204" pitchFamily="34" charset="0"/>
                <a:ea typeface="+mn-ea"/>
                <a:cs typeface="Arial" panose="020B0604020202020204" pitchFamily="34" charset="0"/>
              </a:rPr>
              <a:t>the array. </a:t>
            </a:r>
            <a:endParaRPr lang="en-AU" sz="4400"/>
          </a:p>
        </p:txBody>
      </p:sp>
      <p:grpSp>
        <p:nvGrpSpPr>
          <p:cNvPr id="26" name="Group 25" descr="An array of circles with 3 rows of 6.">
            <a:extLst>
              <a:ext uri="{FF2B5EF4-FFF2-40B4-BE49-F238E27FC236}">
                <a16:creationId xmlns:a16="http://schemas.microsoft.com/office/drawing/2014/main" id="{6CBB1BC2-7C70-C3C3-E071-6EDB6E9D4EEA}"/>
              </a:ext>
            </a:extLst>
          </p:cNvPr>
          <p:cNvGrpSpPr/>
          <p:nvPr/>
        </p:nvGrpSpPr>
        <p:grpSpPr>
          <a:xfrm>
            <a:off x="4199572" y="2492664"/>
            <a:ext cx="3603408" cy="1592910"/>
            <a:chOff x="4165167" y="2393110"/>
            <a:chExt cx="3603408" cy="1592910"/>
          </a:xfrm>
        </p:grpSpPr>
        <p:sp>
          <p:nvSpPr>
            <p:cNvPr id="8" name="Oval 7">
              <a:extLst>
                <a:ext uri="{FF2B5EF4-FFF2-40B4-BE49-F238E27FC236}">
                  <a16:creationId xmlns:a16="http://schemas.microsoft.com/office/drawing/2014/main" id="{96283528-D040-59AF-11BC-5B9FE44FD8D3}"/>
                </a:ext>
              </a:extLst>
            </p:cNvPr>
            <p:cNvSpPr/>
            <p:nvPr/>
          </p:nvSpPr>
          <p:spPr>
            <a:xfrm>
              <a:off x="4165167" y="2401592"/>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2F1E6595-2003-8ABC-07C4-76C0A0A46B59}"/>
                </a:ext>
              </a:extLst>
            </p:cNvPr>
            <p:cNvSpPr/>
            <p:nvPr/>
          </p:nvSpPr>
          <p:spPr>
            <a:xfrm>
              <a:off x="4788680" y="2398604"/>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223D56AA-5A06-AAD5-44DB-A8D578265015}"/>
                </a:ext>
              </a:extLst>
            </p:cNvPr>
            <p:cNvSpPr/>
            <p:nvPr/>
          </p:nvSpPr>
          <p:spPr>
            <a:xfrm>
              <a:off x="5412193" y="2393110"/>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1AFB58C3-4850-B591-9A80-1B9692B57A62}"/>
                </a:ext>
              </a:extLst>
            </p:cNvPr>
            <p:cNvSpPr/>
            <p:nvPr/>
          </p:nvSpPr>
          <p:spPr>
            <a:xfrm>
              <a:off x="6035706" y="2393110"/>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1D895D56-1739-3DA2-68E8-3E90396A4921}"/>
                </a:ext>
              </a:extLst>
            </p:cNvPr>
            <p:cNvSpPr/>
            <p:nvPr/>
          </p:nvSpPr>
          <p:spPr>
            <a:xfrm>
              <a:off x="6659219" y="2393110"/>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F350A5AD-3FAF-7519-C391-F8ED5CCEB401}"/>
                </a:ext>
              </a:extLst>
            </p:cNvPr>
            <p:cNvSpPr/>
            <p:nvPr/>
          </p:nvSpPr>
          <p:spPr>
            <a:xfrm>
              <a:off x="7282732" y="2401592"/>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4EECF077-DC25-E12B-5B64-0A69261A115C}"/>
                </a:ext>
              </a:extLst>
            </p:cNvPr>
            <p:cNvSpPr/>
            <p:nvPr/>
          </p:nvSpPr>
          <p:spPr>
            <a:xfrm>
              <a:off x="4165167" y="2959806"/>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CF654EC6-295B-9F90-EF32-1DA372E20CF1}"/>
                </a:ext>
              </a:extLst>
            </p:cNvPr>
            <p:cNvSpPr/>
            <p:nvPr/>
          </p:nvSpPr>
          <p:spPr>
            <a:xfrm>
              <a:off x="4788680" y="2956818"/>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2206A114-E8F6-A55F-9011-39AEF5ED4105}"/>
                </a:ext>
              </a:extLst>
            </p:cNvPr>
            <p:cNvSpPr/>
            <p:nvPr/>
          </p:nvSpPr>
          <p:spPr>
            <a:xfrm>
              <a:off x="5412193" y="2951324"/>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a:extLst>
                <a:ext uri="{FF2B5EF4-FFF2-40B4-BE49-F238E27FC236}">
                  <a16:creationId xmlns:a16="http://schemas.microsoft.com/office/drawing/2014/main" id="{9F8E4595-02F4-24ED-8C0F-49B7BD43B398}"/>
                </a:ext>
              </a:extLst>
            </p:cNvPr>
            <p:cNvSpPr/>
            <p:nvPr/>
          </p:nvSpPr>
          <p:spPr>
            <a:xfrm>
              <a:off x="6035706" y="2951324"/>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715D30B5-83AA-B444-AE11-2406C0235B3E}"/>
                </a:ext>
              </a:extLst>
            </p:cNvPr>
            <p:cNvSpPr/>
            <p:nvPr/>
          </p:nvSpPr>
          <p:spPr>
            <a:xfrm>
              <a:off x="6659219" y="2951324"/>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Oval 18">
              <a:extLst>
                <a:ext uri="{FF2B5EF4-FFF2-40B4-BE49-F238E27FC236}">
                  <a16:creationId xmlns:a16="http://schemas.microsoft.com/office/drawing/2014/main" id="{F557D4CA-BBDC-AFF0-DCB9-E298E95807C4}"/>
                </a:ext>
              </a:extLst>
            </p:cNvPr>
            <p:cNvSpPr/>
            <p:nvPr/>
          </p:nvSpPr>
          <p:spPr>
            <a:xfrm>
              <a:off x="7282732" y="2959806"/>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Oval 19">
              <a:extLst>
                <a:ext uri="{FF2B5EF4-FFF2-40B4-BE49-F238E27FC236}">
                  <a16:creationId xmlns:a16="http://schemas.microsoft.com/office/drawing/2014/main" id="{B0974B69-4CB9-67EF-EC3A-96197E0AA937}"/>
                </a:ext>
              </a:extLst>
            </p:cNvPr>
            <p:cNvSpPr/>
            <p:nvPr/>
          </p:nvSpPr>
          <p:spPr>
            <a:xfrm>
              <a:off x="4183010" y="3518020"/>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Oval 20">
              <a:extLst>
                <a:ext uri="{FF2B5EF4-FFF2-40B4-BE49-F238E27FC236}">
                  <a16:creationId xmlns:a16="http://schemas.microsoft.com/office/drawing/2014/main" id="{4A138A2A-3002-1C68-AFCC-787F13415412}"/>
                </a:ext>
              </a:extLst>
            </p:cNvPr>
            <p:cNvSpPr/>
            <p:nvPr/>
          </p:nvSpPr>
          <p:spPr>
            <a:xfrm>
              <a:off x="4806523" y="3515032"/>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Oval 21">
              <a:extLst>
                <a:ext uri="{FF2B5EF4-FFF2-40B4-BE49-F238E27FC236}">
                  <a16:creationId xmlns:a16="http://schemas.microsoft.com/office/drawing/2014/main" id="{58DCF76E-ABD7-7998-EF1D-801FCAD87B48}"/>
                </a:ext>
              </a:extLst>
            </p:cNvPr>
            <p:cNvSpPr/>
            <p:nvPr/>
          </p:nvSpPr>
          <p:spPr>
            <a:xfrm>
              <a:off x="5430036" y="3509538"/>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Oval 22">
              <a:extLst>
                <a:ext uri="{FF2B5EF4-FFF2-40B4-BE49-F238E27FC236}">
                  <a16:creationId xmlns:a16="http://schemas.microsoft.com/office/drawing/2014/main" id="{BE833214-3EC0-2EB0-4224-153FD2C05823}"/>
                </a:ext>
              </a:extLst>
            </p:cNvPr>
            <p:cNvSpPr/>
            <p:nvPr/>
          </p:nvSpPr>
          <p:spPr>
            <a:xfrm>
              <a:off x="6053549" y="3509538"/>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Oval 23">
              <a:extLst>
                <a:ext uri="{FF2B5EF4-FFF2-40B4-BE49-F238E27FC236}">
                  <a16:creationId xmlns:a16="http://schemas.microsoft.com/office/drawing/2014/main" id="{20E9B526-29AF-998C-9F07-E883EAF12C2D}"/>
                </a:ext>
              </a:extLst>
            </p:cNvPr>
            <p:cNvSpPr/>
            <p:nvPr/>
          </p:nvSpPr>
          <p:spPr>
            <a:xfrm>
              <a:off x="6677062" y="3509538"/>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F158D3DF-95D4-9131-55DD-3FA1529708B0}"/>
                </a:ext>
              </a:extLst>
            </p:cNvPr>
            <p:cNvSpPr/>
            <p:nvPr/>
          </p:nvSpPr>
          <p:spPr>
            <a:xfrm>
              <a:off x="7300575" y="3518020"/>
              <a:ext cx="468000" cy="46800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 name="TextBox 4">
            <a:extLst>
              <a:ext uri="{FF2B5EF4-FFF2-40B4-BE49-F238E27FC236}">
                <a16:creationId xmlns:a16="http://schemas.microsoft.com/office/drawing/2014/main" id="{CA39E377-BD8C-EFB2-37F4-03EA1929F03B}"/>
              </a:ext>
            </a:extLst>
          </p:cNvPr>
          <p:cNvSpPr txBox="1"/>
          <p:nvPr/>
        </p:nvSpPr>
        <p:spPr>
          <a:xfrm>
            <a:off x="1064375" y="4517824"/>
            <a:ext cx="10058400" cy="1998176"/>
          </a:xfrm>
          <a:prstGeom prst="rect">
            <a:avLst/>
          </a:prstGeom>
          <a:noFill/>
        </p:spPr>
        <p:txBody>
          <a:bodyPr wrap="square">
            <a:spAutoFit/>
          </a:bodyPr>
          <a:lstStyle/>
          <a:p>
            <a:pPr algn="ctr">
              <a:lnSpc>
                <a:spcPct val="150000"/>
              </a:lnSpc>
            </a:pPr>
            <a:r>
              <a:rPr lang="en-AU" sz="4400" b="1" kern="1200" dirty="0">
                <a:solidFill>
                  <a:schemeClr val="tx1"/>
                </a:solidFill>
                <a:effectLst/>
                <a:latin typeface="Arial" panose="020B0604020202020204" pitchFamily="34" charset="0"/>
                <a:ea typeface="+mn-ea"/>
                <a:cs typeface="Arial" panose="020B0604020202020204" pitchFamily="34" charset="0"/>
              </a:rPr>
              <a:t>Record</a:t>
            </a:r>
            <a:r>
              <a:rPr lang="en-AU" sz="4400" kern="1200" dirty="0">
                <a:solidFill>
                  <a:schemeClr val="tx1"/>
                </a:solidFill>
                <a:effectLst/>
                <a:latin typeface="Arial" panose="020B0604020202020204" pitchFamily="34" charset="0"/>
                <a:ea typeface="+mn-ea"/>
                <a:cs typeface="Arial" panose="020B0604020202020204" pitchFamily="34" charset="0"/>
              </a:rPr>
              <a:t> a </a:t>
            </a:r>
            <a:r>
              <a:rPr lang="en-AU" sz="4400" b="1" kern="1200" dirty="0">
                <a:solidFill>
                  <a:schemeClr val="tx1"/>
                </a:solidFill>
                <a:effectLst/>
                <a:latin typeface="Arial" panose="020B0604020202020204" pitchFamily="34" charset="0"/>
                <a:ea typeface="+mn-ea"/>
                <a:cs typeface="Arial" panose="020B0604020202020204" pitchFamily="34" charset="0"/>
              </a:rPr>
              <a:t>number sentence </a:t>
            </a:r>
            <a:r>
              <a:rPr lang="en-AU" sz="4400" kern="1200" dirty="0">
                <a:solidFill>
                  <a:schemeClr val="tx1"/>
                </a:solidFill>
                <a:effectLst/>
                <a:latin typeface="Arial" panose="020B0604020202020204" pitchFamily="34" charset="0"/>
                <a:ea typeface="+mn-ea"/>
                <a:cs typeface="Arial" panose="020B0604020202020204" pitchFamily="34" charset="0"/>
              </a:rPr>
              <a:t>u</a:t>
            </a:r>
            <a:r>
              <a:rPr lang="en-AU" sz="4400" dirty="0">
                <a:latin typeface="Arial" panose="020B0604020202020204" pitchFamily="34" charset="0"/>
                <a:cs typeface="Arial" panose="020B0604020202020204" pitchFamily="34" charset="0"/>
              </a:rPr>
              <a:t>sing a </a:t>
            </a:r>
            <a:r>
              <a:rPr lang="en-AU" sz="4400" b="1" dirty="0">
                <a:latin typeface="Arial" panose="020B0604020202020204" pitchFamily="34" charset="0"/>
                <a:cs typeface="Arial" panose="020B0604020202020204" pitchFamily="34" charset="0"/>
              </a:rPr>
              <a:t>division sign </a:t>
            </a:r>
            <a:r>
              <a:rPr lang="en-AU" sz="4400" b="1" dirty="0">
                <a:latin typeface="+mj-lt"/>
                <a:cs typeface="Arial" panose="020B0604020202020204" pitchFamily="34" charset="0"/>
              </a:rPr>
              <a:t>(</a:t>
            </a:r>
            <a:r>
              <a:rPr lang="en-AU" sz="4400" b="1" dirty="0">
                <a:latin typeface="+mj-lt"/>
                <a:ea typeface="Cambria Math" panose="02040503050406030204" pitchFamily="18" charset="0"/>
                <a:cs typeface="Arial" panose="020B0604020202020204" pitchFamily="34" charset="0"/>
              </a:rPr>
              <a:t>÷)</a:t>
            </a:r>
            <a:r>
              <a:rPr lang="en-AU" sz="4400" b="1" kern="1200" dirty="0">
                <a:solidFill>
                  <a:schemeClr val="tx1"/>
                </a:solidFill>
                <a:effectLst/>
                <a:latin typeface="Arial" panose="020B0604020202020204" pitchFamily="34" charset="0"/>
                <a:ea typeface="+mn-ea"/>
                <a:cs typeface="Arial" panose="020B0604020202020204" pitchFamily="34" charset="0"/>
              </a:rPr>
              <a:t>.</a:t>
            </a:r>
            <a:endParaRPr lang="en-AU" sz="4400" dirty="0"/>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4" name="TextBox 3">
            <a:extLst>
              <a:ext uri="{FF2B5EF4-FFF2-40B4-BE49-F238E27FC236}">
                <a16:creationId xmlns:a16="http://schemas.microsoft.com/office/drawing/2014/main" id="{95E034ED-443E-CE93-1F0F-FFDFB676B5B5}"/>
              </a:ext>
            </a:extLst>
          </p:cNvPr>
          <p:cNvSpPr txBox="1"/>
          <p:nvPr/>
        </p:nvSpPr>
        <p:spPr>
          <a:xfrm>
            <a:off x="445477" y="1113977"/>
            <a:ext cx="10937631" cy="1998176"/>
          </a:xfrm>
          <a:prstGeom prst="rect">
            <a:avLst/>
          </a:prstGeom>
          <a:noFill/>
        </p:spPr>
        <p:txBody>
          <a:bodyPr wrap="square">
            <a:spAutoFit/>
          </a:bodyPr>
          <a:lstStyle/>
          <a:p>
            <a:pPr algn="ctr">
              <a:lnSpc>
                <a:spcPct val="150000"/>
              </a:lnSpc>
            </a:pPr>
            <a:r>
              <a:rPr lang="en-AU" sz="4400" b="1" kern="1200">
                <a:solidFill>
                  <a:schemeClr val="tx1"/>
                </a:solidFill>
                <a:effectLst/>
                <a:latin typeface="Arial" panose="020B0604020202020204" pitchFamily="34" charset="0"/>
                <a:ea typeface="+mn-ea"/>
                <a:cs typeface="Arial" panose="020B0604020202020204" pitchFamily="34" charset="0"/>
              </a:rPr>
              <a:t>Create </a:t>
            </a:r>
            <a:r>
              <a:rPr lang="en-AU" sz="4400" kern="1200">
                <a:solidFill>
                  <a:schemeClr val="tx1"/>
                </a:solidFill>
                <a:effectLst/>
                <a:latin typeface="Arial" panose="020B0604020202020204" pitchFamily="34" charset="0"/>
                <a:ea typeface="+mn-ea"/>
                <a:cs typeface="Arial" panose="020B0604020202020204" pitchFamily="34" charset="0"/>
              </a:rPr>
              <a:t>a </a:t>
            </a:r>
            <a:r>
              <a:rPr lang="en-AU" sz="4400" b="1" kern="1200">
                <a:solidFill>
                  <a:schemeClr val="tx1"/>
                </a:solidFill>
                <a:effectLst/>
                <a:latin typeface="Arial" panose="020B0604020202020204" pitchFamily="34" charset="0"/>
                <a:ea typeface="+mn-ea"/>
                <a:cs typeface="Arial" panose="020B0604020202020204" pitchFamily="34" charset="0"/>
              </a:rPr>
              <a:t>list</a:t>
            </a:r>
            <a:r>
              <a:rPr lang="en-AU" sz="4400" kern="1200">
                <a:solidFill>
                  <a:schemeClr val="tx1"/>
                </a:solidFill>
                <a:effectLst/>
                <a:latin typeface="Arial" panose="020B0604020202020204" pitchFamily="34" charset="0"/>
                <a:ea typeface="+mn-ea"/>
                <a:cs typeface="Arial" panose="020B0604020202020204" pitchFamily="34" charset="0"/>
              </a:rPr>
              <a:t> of </a:t>
            </a:r>
            <a:r>
              <a:rPr lang="en-AU" sz="4400" b="1" kern="1200">
                <a:solidFill>
                  <a:schemeClr val="tx1"/>
                </a:solidFill>
                <a:effectLst/>
                <a:latin typeface="Arial" panose="020B0604020202020204" pitchFamily="34" charset="0"/>
                <a:ea typeface="+mn-ea"/>
                <a:cs typeface="Arial" panose="020B0604020202020204" pitchFamily="34" charset="0"/>
              </a:rPr>
              <a:t>categories </a:t>
            </a:r>
            <a:r>
              <a:rPr lang="en-AU" sz="4400" kern="1200">
                <a:solidFill>
                  <a:schemeClr val="tx1"/>
                </a:solidFill>
                <a:effectLst/>
                <a:latin typeface="Arial" panose="020B0604020202020204" pitchFamily="34" charset="0"/>
                <a:ea typeface="+mn-ea"/>
                <a:cs typeface="Arial" panose="020B0604020202020204" pitchFamily="34" charset="0"/>
              </a:rPr>
              <a:t>to collect data for this question:</a:t>
            </a:r>
            <a:endParaRPr lang="en-AU" sz="4400"/>
          </a:p>
        </p:txBody>
      </p:sp>
      <p:sp>
        <p:nvSpPr>
          <p:cNvPr id="9" name="Rectangle: Rounded Corners 8">
            <a:extLst>
              <a:ext uri="{FF2B5EF4-FFF2-40B4-BE49-F238E27FC236}">
                <a16:creationId xmlns:a16="http://schemas.microsoft.com/office/drawing/2014/main" id="{8441FC13-2C2C-4C3A-8175-A926683E07A9}"/>
              </a:ext>
            </a:extLst>
          </p:cNvPr>
          <p:cNvSpPr/>
          <p:nvPr/>
        </p:nvSpPr>
        <p:spPr>
          <a:xfrm>
            <a:off x="1488504" y="3745848"/>
            <a:ext cx="8851575" cy="1517202"/>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b="1">
                <a:solidFill>
                  <a:schemeClr val="accent1"/>
                </a:solidFill>
              </a:rPr>
              <a:t>What is the favourite game played at lunchtime? </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rearranging and rounding numbers</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 Placeholder">
            <a:extLst>
              <a:ext uri="{FF2B5EF4-FFF2-40B4-BE49-F238E27FC236}">
                <a16:creationId xmlns:a16="http://schemas.microsoft.com/office/drawing/2014/main" id="{6DCE568D-DFD9-F081-D4A3-CB55BF06FFBB}"/>
              </a:ext>
            </a:extLst>
          </p:cNvPr>
          <p:cNvSpPr txBox="1">
            <a:spLocks/>
          </p:cNvSpPr>
          <p:nvPr/>
        </p:nvSpPr>
        <p:spPr>
          <a:xfrm>
            <a:off x="360000" y="1236248"/>
            <a:ext cx="10600100"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a:t>Arrange 6 cards to make the </a:t>
            </a:r>
            <a:r>
              <a:rPr lang="en-US" sz="3600" b="1"/>
              <a:t>largest</a:t>
            </a:r>
            <a:r>
              <a:rPr lang="en-US" sz="3600"/>
              <a:t> and the </a:t>
            </a:r>
            <a:r>
              <a:rPr lang="en-US" sz="3600" b="1"/>
              <a:t>smallest</a:t>
            </a:r>
            <a:r>
              <a:rPr lang="en-US" sz="3600"/>
              <a:t> </a:t>
            </a:r>
            <a:r>
              <a:rPr lang="en-US" sz="3600" b="1"/>
              <a:t>6-digit number</a:t>
            </a:r>
            <a:r>
              <a:rPr lang="en-US" sz="3600"/>
              <a:t>. </a:t>
            </a:r>
            <a:endParaRPr lang="en-US" sz="3600" i="1"/>
          </a:p>
          <a:p>
            <a:pPr algn="ctr"/>
            <a:endParaRPr lang="en-US" sz="4400"/>
          </a:p>
        </p:txBody>
      </p:sp>
      <p:grpSp>
        <p:nvGrpSpPr>
          <p:cNvPr id="35" name="Group 34" descr="Playing cards: 3 of diamonds, 5 of spades, 7 of hearts, 8 of clubs, ace of diamonds and 2 of spades.">
            <a:extLst>
              <a:ext uri="{FF2B5EF4-FFF2-40B4-BE49-F238E27FC236}">
                <a16:creationId xmlns:a16="http://schemas.microsoft.com/office/drawing/2014/main" id="{1DF19C2E-D146-61F1-8A16-5B947A3C8C6A}"/>
              </a:ext>
            </a:extLst>
          </p:cNvPr>
          <p:cNvGrpSpPr/>
          <p:nvPr/>
        </p:nvGrpSpPr>
        <p:grpSpPr>
          <a:xfrm>
            <a:off x="975133" y="3380401"/>
            <a:ext cx="10241737" cy="2422030"/>
            <a:chOff x="1188266" y="3518483"/>
            <a:chExt cx="9217205" cy="2103858"/>
          </a:xfrm>
          <a:effectLst>
            <a:outerShdw blurRad="63500" sx="102000" sy="102000" algn="ctr" rotWithShape="0">
              <a:prstClr val="black">
                <a:alpha val="40000"/>
              </a:prstClr>
            </a:outerShdw>
          </a:effectLst>
        </p:grpSpPr>
        <p:sp>
          <p:nvSpPr>
            <p:cNvPr id="29" name="Freeform 2">
              <a:extLst>
                <a:ext uri="{FF2B5EF4-FFF2-40B4-BE49-F238E27FC236}">
                  <a16:creationId xmlns:a16="http://schemas.microsoft.com/office/drawing/2014/main" id="{F5BA8685-CDC0-5848-709B-DA16EC8EFC43}"/>
                </a:ext>
              </a:extLst>
            </p:cNvPr>
            <p:cNvSpPr>
              <a:spLocks noChangeAspect="1"/>
            </p:cNvSpPr>
            <p:nvPr/>
          </p:nvSpPr>
          <p:spPr>
            <a:xfrm>
              <a:off x="1188266" y="3527196"/>
              <a:ext cx="1440000" cy="2094556"/>
            </a:xfrm>
            <a:custGeom>
              <a:avLst/>
              <a:gdLst/>
              <a:ahLst/>
              <a:cxnLst/>
              <a:rect l="l" t="t" r="r" b="b"/>
              <a:pathLst>
                <a:path w="389770" h="584125">
                  <a:moveTo>
                    <a:pt x="0" y="0"/>
                  </a:moveTo>
                  <a:lnTo>
                    <a:pt x="389770" y="0"/>
                  </a:lnTo>
                  <a:lnTo>
                    <a:pt x="389770" y="584125"/>
                  </a:lnTo>
                  <a:lnTo>
                    <a:pt x="0" y="5841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0" name="Freeform 3">
              <a:extLst>
                <a:ext uri="{FF2B5EF4-FFF2-40B4-BE49-F238E27FC236}">
                  <a16:creationId xmlns:a16="http://schemas.microsoft.com/office/drawing/2014/main" id="{7B08B670-284C-B8C1-30EB-335E9A1EFA57}"/>
                </a:ext>
              </a:extLst>
            </p:cNvPr>
            <p:cNvSpPr>
              <a:spLocks noChangeAspect="1"/>
            </p:cNvSpPr>
            <p:nvPr/>
          </p:nvSpPr>
          <p:spPr>
            <a:xfrm>
              <a:off x="2743707" y="3527196"/>
              <a:ext cx="1440000" cy="2094556"/>
            </a:xfrm>
            <a:custGeom>
              <a:avLst/>
              <a:gdLst/>
              <a:ahLst/>
              <a:cxnLst/>
              <a:rect l="l" t="t" r="r" b="b"/>
              <a:pathLst>
                <a:path w="383956" h="575411">
                  <a:moveTo>
                    <a:pt x="0" y="0"/>
                  </a:moveTo>
                  <a:lnTo>
                    <a:pt x="383956" y="0"/>
                  </a:lnTo>
                  <a:lnTo>
                    <a:pt x="383956" y="575411"/>
                  </a:lnTo>
                  <a:lnTo>
                    <a:pt x="0" y="5754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31" name="Freeform 4">
              <a:extLst>
                <a:ext uri="{FF2B5EF4-FFF2-40B4-BE49-F238E27FC236}">
                  <a16:creationId xmlns:a16="http://schemas.microsoft.com/office/drawing/2014/main" id="{7A740DBD-9691-E924-0E03-C6AF8569D299}"/>
                </a:ext>
              </a:extLst>
            </p:cNvPr>
            <p:cNvSpPr>
              <a:spLocks noChangeAspect="1"/>
            </p:cNvSpPr>
            <p:nvPr/>
          </p:nvSpPr>
          <p:spPr>
            <a:xfrm>
              <a:off x="4299148" y="3518483"/>
              <a:ext cx="1440000" cy="2094556"/>
            </a:xfrm>
            <a:custGeom>
              <a:avLst/>
              <a:gdLst/>
              <a:ahLst/>
              <a:cxnLst/>
              <a:rect l="l" t="t" r="r" b="b"/>
              <a:pathLst>
                <a:path w="383956" h="575411">
                  <a:moveTo>
                    <a:pt x="0" y="0"/>
                  </a:moveTo>
                  <a:lnTo>
                    <a:pt x="383956" y="0"/>
                  </a:lnTo>
                  <a:lnTo>
                    <a:pt x="383956" y="575411"/>
                  </a:lnTo>
                  <a:lnTo>
                    <a:pt x="0" y="57541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32" name="Freeform 5">
              <a:extLst>
                <a:ext uri="{FF2B5EF4-FFF2-40B4-BE49-F238E27FC236}">
                  <a16:creationId xmlns:a16="http://schemas.microsoft.com/office/drawing/2014/main" id="{4EEC7401-0A40-9A69-8E4E-69BC4C303B20}"/>
                </a:ext>
              </a:extLst>
            </p:cNvPr>
            <p:cNvSpPr>
              <a:spLocks noChangeAspect="1"/>
            </p:cNvSpPr>
            <p:nvPr/>
          </p:nvSpPr>
          <p:spPr>
            <a:xfrm>
              <a:off x="5854589" y="3527195"/>
              <a:ext cx="1440406" cy="2095146"/>
            </a:xfrm>
            <a:custGeom>
              <a:avLst/>
              <a:gdLst/>
              <a:ahLst/>
              <a:cxnLst/>
              <a:rect l="l" t="t" r="r" b="b"/>
              <a:pathLst>
                <a:path w="389770" h="584125">
                  <a:moveTo>
                    <a:pt x="0" y="0"/>
                  </a:moveTo>
                  <a:lnTo>
                    <a:pt x="389770" y="0"/>
                  </a:lnTo>
                  <a:lnTo>
                    <a:pt x="389770" y="584125"/>
                  </a:lnTo>
                  <a:lnTo>
                    <a:pt x="0" y="58412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33" name="Freeform 6">
              <a:extLst>
                <a:ext uri="{FF2B5EF4-FFF2-40B4-BE49-F238E27FC236}">
                  <a16:creationId xmlns:a16="http://schemas.microsoft.com/office/drawing/2014/main" id="{B85FC51D-E17B-AC11-B309-9F7F6570A339}"/>
                </a:ext>
              </a:extLst>
            </p:cNvPr>
            <p:cNvSpPr>
              <a:spLocks noChangeAspect="1"/>
            </p:cNvSpPr>
            <p:nvPr/>
          </p:nvSpPr>
          <p:spPr>
            <a:xfrm>
              <a:off x="8965471" y="3527196"/>
              <a:ext cx="1440000" cy="2094556"/>
            </a:xfrm>
            <a:custGeom>
              <a:avLst/>
              <a:gdLst/>
              <a:ahLst/>
              <a:cxnLst/>
              <a:rect l="l" t="t" r="r" b="b"/>
              <a:pathLst>
                <a:path w="389770" h="584125">
                  <a:moveTo>
                    <a:pt x="0" y="0"/>
                  </a:moveTo>
                  <a:lnTo>
                    <a:pt x="389770" y="0"/>
                  </a:lnTo>
                  <a:lnTo>
                    <a:pt x="389770" y="584125"/>
                  </a:lnTo>
                  <a:lnTo>
                    <a:pt x="0" y="58412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34" name="Freeform 7">
              <a:extLst>
                <a:ext uri="{FF2B5EF4-FFF2-40B4-BE49-F238E27FC236}">
                  <a16:creationId xmlns:a16="http://schemas.microsoft.com/office/drawing/2014/main" id="{D1573EFB-BCD2-C574-3D50-DE783E9AAF07}"/>
                </a:ext>
              </a:extLst>
            </p:cNvPr>
            <p:cNvSpPr>
              <a:spLocks noChangeAspect="1"/>
            </p:cNvSpPr>
            <p:nvPr/>
          </p:nvSpPr>
          <p:spPr>
            <a:xfrm>
              <a:off x="7410030" y="3527196"/>
              <a:ext cx="1440000" cy="2094556"/>
            </a:xfrm>
            <a:custGeom>
              <a:avLst/>
              <a:gdLst/>
              <a:ahLst/>
              <a:cxnLst/>
              <a:rect l="l" t="t" r="r" b="b"/>
              <a:pathLst>
                <a:path w="409786" h="576150">
                  <a:moveTo>
                    <a:pt x="0" y="0"/>
                  </a:moveTo>
                  <a:lnTo>
                    <a:pt x="409787" y="0"/>
                  </a:lnTo>
                  <a:lnTo>
                    <a:pt x="409787" y="576149"/>
                  </a:lnTo>
                  <a:lnTo>
                    <a:pt x="0" y="576149"/>
                  </a:lnTo>
                  <a:lnTo>
                    <a:pt x="0" y="0"/>
                  </a:lnTo>
                  <a:close/>
                </a:path>
              </a:pathLst>
            </a:custGeom>
            <a:blipFill>
              <a:blip r:embed="rId14"/>
              <a:stretch>
                <a:fillRect/>
              </a:stretch>
            </a:blipFill>
            <a:ln w="4762" cap="sq">
              <a:solidFill>
                <a:srgbClr val="A6A6A6"/>
              </a:solidFill>
              <a:prstDash val="solid"/>
              <a:miter/>
            </a:ln>
          </p:spPr>
          <p:txBody>
            <a:bodyPr/>
            <a:lstStyle/>
            <a:p>
              <a:endParaRPr lang="en-AU"/>
            </a:p>
          </p:txBody>
        </p:sp>
      </p:gr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66E99097-B223-76CB-98A1-2D5773AF8E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360000" y="977360"/>
            <a:ext cx="11484000" cy="754243"/>
          </a:xfrm>
        </p:spPr>
        <p:txBody>
          <a:bodyPr/>
          <a:lstStyle/>
          <a:p>
            <a:r>
              <a:rPr lang="en-US" sz="3800"/>
              <a:t>Find </a:t>
            </a:r>
            <a:r>
              <a:rPr lang="en-US" sz="3800" b="1"/>
              <a:t>3974</a:t>
            </a:r>
            <a:r>
              <a:rPr lang="en-US" sz="3800"/>
              <a:t> recorded in </a:t>
            </a:r>
            <a:r>
              <a:rPr lang="en-US" sz="3800" b="1"/>
              <a:t>standard</a:t>
            </a:r>
            <a:r>
              <a:rPr lang="en-US" sz="3800"/>
              <a:t> </a:t>
            </a:r>
            <a:r>
              <a:rPr lang="en-US" sz="3800" b="1"/>
              <a:t>place value </a:t>
            </a:r>
            <a:r>
              <a:rPr lang="en-US" sz="3800"/>
              <a:t>form.</a:t>
            </a:r>
          </a:p>
          <a:p>
            <a:endParaRPr lang="en-US" sz="4400"/>
          </a:p>
        </p:txBody>
      </p:sp>
      <p:sp>
        <p:nvSpPr>
          <p:cNvPr id="9" name="B">
            <a:extLst>
              <a:ext uri="{FF2B5EF4-FFF2-40B4-BE49-F238E27FC236}">
                <a16:creationId xmlns:a16="http://schemas.microsoft.com/office/drawing/2014/main" id="{8B0BBB3C-FC71-5899-8378-058EBBB23E5C}"/>
              </a:ext>
            </a:extLst>
          </p:cNvPr>
          <p:cNvSpPr txBox="1"/>
          <p:nvPr/>
        </p:nvSpPr>
        <p:spPr>
          <a:xfrm>
            <a:off x="670556" y="24171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2405031"/>
            <a:ext cx="10175920" cy="641396"/>
          </a:xfrm>
        </p:spPr>
        <p:txBody>
          <a:bodyPr anchor="ctr"/>
          <a:lstStyle/>
          <a:p>
            <a:r>
              <a:rPr lang="en-US" sz="3600"/>
              <a:t>2000 + 1900 + 74 </a:t>
            </a:r>
          </a:p>
        </p:txBody>
      </p:sp>
      <p:sp>
        <p:nvSpPr>
          <p:cNvPr id="10" name="B">
            <a:extLst>
              <a:ext uri="{FF2B5EF4-FFF2-40B4-BE49-F238E27FC236}">
                <a16:creationId xmlns:a16="http://schemas.microsoft.com/office/drawing/2014/main" id="{1BD38033-43C3-A0A1-88CB-3ABF45A80763}"/>
              </a:ext>
            </a:extLst>
          </p:cNvPr>
          <p:cNvSpPr txBox="1"/>
          <p:nvPr/>
        </p:nvSpPr>
        <p:spPr>
          <a:xfrm>
            <a:off x="670559" y="350538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3491680"/>
            <a:ext cx="10175920" cy="641396"/>
          </a:xfrm>
        </p:spPr>
        <p:txBody>
          <a:bodyPr anchor="ctr"/>
          <a:lstStyle/>
          <a:p>
            <a:r>
              <a:rPr lang="en-US" sz="3600"/>
              <a:t>3 thousands, 974 ones</a:t>
            </a:r>
          </a:p>
        </p:txBody>
      </p:sp>
      <p:sp>
        <p:nvSpPr>
          <p:cNvPr id="12" name="C">
            <a:extLst>
              <a:ext uri="{FF2B5EF4-FFF2-40B4-BE49-F238E27FC236}">
                <a16:creationId xmlns:a16="http://schemas.microsoft.com/office/drawing/2014/main" id="{8CBBF2BA-64EE-4290-7852-A8F6CCA03E54}"/>
              </a:ext>
            </a:extLst>
          </p:cNvPr>
          <p:cNvSpPr txBox="1"/>
          <p:nvPr/>
        </p:nvSpPr>
        <p:spPr>
          <a:xfrm>
            <a:off x="670558" y="459363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45520" y="4578329"/>
            <a:ext cx="10175920" cy="641396"/>
          </a:xfrm>
        </p:spPr>
        <p:txBody>
          <a:bodyPr anchor="ctr"/>
          <a:lstStyle/>
          <a:p>
            <a:r>
              <a:rPr lang="en-US" sz="3600"/>
              <a:t>3000 + 970 + 4</a:t>
            </a:r>
          </a:p>
        </p:txBody>
      </p:sp>
      <p:sp>
        <p:nvSpPr>
          <p:cNvPr id="11" name="D">
            <a:extLst>
              <a:ext uri="{FF2B5EF4-FFF2-40B4-BE49-F238E27FC236}">
                <a16:creationId xmlns:a16="http://schemas.microsoft.com/office/drawing/2014/main" id="{388F2FE9-EF5E-B818-71B7-04503183ED79}"/>
              </a:ext>
            </a:extLst>
          </p:cNvPr>
          <p:cNvSpPr txBox="1"/>
          <p:nvPr/>
        </p:nvSpPr>
        <p:spPr>
          <a:xfrm>
            <a:off x="670557" y="568189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45520" y="5681519"/>
            <a:ext cx="10175920" cy="641396"/>
          </a:xfrm>
        </p:spPr>
        <p:txBody>
          <a:bodyPr anchor="ctr"/>
          <a:lstStyle/>
          <a:p>
            <a:r>
              <a:rPr lang="en-US" sz="3600"/>
              <a:t>3 thousands, 9 hundreds, 7 tens and 4 ones</a:t>
            </a:r>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a:extLst>
              <a:ext uri="{FF2B5EF4-FFF2-40B4-BE49-F238E27FC236}">
                <a16:creationId xmlns:a16="http://schemas.microsoft.com/office/drawing/2014/main" id="{BD1D4422-2E7C-43EC-F1DB-C89186F811EB}"/>
              </a:ext>
            </a:extLst>
          </p:cNvPr>
          <p:cNvSpPr txBox="1">
            <a:spLocks/>
          </p:cNvSpPr>
          <p:nvPr/>
        </p:nvSpPr>
        <p:spPr>
          <a:xfrm>
            <a:off x="360000" y="977360"/>
            <a:ext cx="11243037"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Is this a </a:t>
            </a:r>
            <a:r>
              <a:rPr lang="en-US" sz="4000" b="1"/>
              <a:t>net</a:t>
            </a:r>
            <a:r>
              <a:rPr lang="en-US" sz="4000"/>
              <a:t> of a </a:t>
            </a:r>
            <a:r>
              <a:rPr lang="en-US" sz="4000" b="1"/>
              <a:t>cube</a:t>
            </a:r>
            <a:r>
              <a:rPr lang="en-US" sz="4000"/>
              <a:t>? </a:t>
            </a:r>
            <a:endParaRPr lang="en-US" sz="4400"/>
          </a:p>
        </p:txBody>
      </p:sp>
      <p:sp>
        <p:nvSpPr>
          <p:cNvPr id="7" name="Freeform 6" descr="A net made up of 6 squares in a t- shape. ">
            <a:extLst>
              <a:ext uri="{FF2B5EF4-FFF2-40B4-BE49-F238E27FC236}">
                <a16:creationId xmlns:a16="http://schemas.microsoft.com/office/drawing/2014/main" id="{6177E7D8-3F98-A560-4AA6-4AC904294CE0}"/>
              </a:ext>
            </a:extLst>
          </p:cNvPr>
          <p:cNvSpPr>
            <a:spLocks noChangeAspect="1"/>
          </p:cNvSpPr>
          <p:nvPr/>
        </p:nvSpPr>
        <p:spPr>
          <a:xfrm>
            <a:off x="1704479" y="1908857"/>
            <a:ext cx="4786702" cy="3600000"/>
          </a:xfrm>
          <a:custGeom>
            <a:avLst/>
            <a:gdLst/>
            <a:ahLst/>
            <a:cxnLst/>
            <a:rect l="l" t="t" r="r" b="b"/>
            <a:pathLst>
              <a:path w="1771437" h="1332268">
                <a:moveTo>
                  <a:pt x="0" y="0"/>
                </a:moveTo>
                <a:lnTo>
                  <a:pt x="1771437" y="0"/>
                </a:lnTo>
                <a:lnTo>
                  <a:pt x="1771437" y="1332268"/>
                </a:lnTo>
                <a:lnTo>
                  <a:pt x="0" y="1332268"/>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p:spPr>
        <p:txBody>
          <a:bodyPr/>
          <a:lstStyle/>
          <a:p>
            <a:endParaRPr lang="en-AU"/>
          </a:p>
        </p:txBody>
      </p:sp>
      <p:sp>
        <p:nvSpPr>
          <p:cNvPr id="8" name="Cube 7" descr="A 3 dimensional cube">
            <a:extLst>
              <a:ext uri="{FF2B5EF4-FFF2-40B4-BE49-F238E27FC236}">
                <a16:creationId xmlns:a16="http://schemas.microsoft.com/office/drawing/2014/main" id="{8FC9D140-9F25-F18D-5D20-64F2FB2B06A7}"/>
              </a:ext>
            </a:extLst>
          </p:cNvPr>
          <p:cNvSpPr/>
          <p:nvPr/>
        </p:nvSpPr>
        <p:spPr>
          <a:xfrm>
            <a:off x="8024399" y="2757714"/>
            <a:ext cx="1555030" cy="1585601"/>
          </a:xfrm>
          <a:prstGeom prst="cube">
            <a:avLst/>
          </a:prstGeom>
          <a:solidFill>
            <a:schemeClr val="accent4"/>
          </a:solidFill>
          <a:ln w="28575"/>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9B884B88-959E-3679-06C8-3F7340E9AC58}"/>
              </a:ext>
            </a:extLst>
          </p:cNvPr>
          <p:cNvSpPr txBox="1"/>
          <p:nvPr/>
        </p:nvSpPr>
        <p:spPr>
          <a:xfrm>
            <a:off x="1947079" y="5898114"/>
            <a:ext cx="8297838" cy="707886"/>
          </a:xfrm>
          <a:prstGeom prst="rect">
            <a:avLst/>
          </a:prstGeom>
          <a:noFill/>
        </p:spPr>
        <p:txBody>
          <a:bodyPr wrap="square">
            <a:spAutoFit/>
          </a:body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B5622-6E8C-600A-F6F8-19C8249C05B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715D04F-0472-D489-8331-B15E0EF728D0}"/>
              </a:ext>
              <a:ext uri="{C183D7F6-B498-43B3-948B-1728B52AA6E4}">
                <adec:decorative xmlns:adec="http://schemas.microsoft.com/office/drawing/2017/decorative" val="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5F4B8D36-0395-DE37-AB29-B535FD40D9E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9BBEE2E-089C-037D-B4B9-3B0611D75CC7}"/>
              </a:ext>
            </a:extLst>
          </p:cNvPr>
          <p:cNvSpPr txBox="1"/>
          <p:nvPr/>
        </p:nvSpPr>
        <p:spPr>
          <a:xfrm>
            <a:off x="246024" y="1121910"/>
            <a:ext cx="11505709" cy="901593"/>
          </a:xfrm>
          <a:prstGeom prst="rect">
            <a:avLst/>
          </a:prstGeom>
          <a:noFill/>
        </p:spPr>
        <p:txBody>
          <a:bodyPr wrap="square">
            <a:spAutoFit/>
          </a:bodyPr>
          <a:lstStyle/>
          <a:p>
            <a:pPr>
              <a:lnSpc>
                <a:spcPct val="150000"/>
              </a:lnSpc>
            </a:pPr>
            <a:r>
              <a:rPr lang="en-AU" sz="4000" b="1" kern="1200">
                <a:solidFill>
                  <a:schemeClr val="tx1"/>
                </a:solidFill>
                <a:effectLst/>
                <a:latin typeface="Arial" panose="020B0604020202020204" pitchFamily="34" charset="0"/>
                <a:ea typeface="+mn-ea"/>
                <a:cs typeface="Arial" panose="020B0604020202020204" pitchFamily="34" charset="0"/>
              </a:rPr>
              <a:t>Match</a:t>
            </a:r>
            <a:r>
              <a:rPr lang="en-AU" sz="4000" kern="1200">
                <a:solidFill>
                  <a:schemeClr val="tx1"/>
                </a:solidFill>
                <a:effectLst/>
                <a:latin typeface="Arial" panose="020B0604020202020204" pitchFamily="34" charset="0"/>
                <a:ea typeface="+mn-ea"/>
                <a:cs typeface="Arial" panose="020B0604020202020204" pitchFamily="34" charset="0"/>
              </a:rPr>
              <a:t> the </a:t>
            </a:r>
            <a:r>
              <a:rPr lang="en-AU" sz="4000" b="1" kern="1200">
                <a:solidFill>
                  <a:schemeClr val="tx1"/>
                </a:solidFill>
                <a:effectLst/>
                <a:latin typeface="Arial" panose="020B0604020202020204" pitchFamily="34" charset="0"/>
                <a:ea typeface="+mn-ea"/>
                <a:cs typeface="Arial" panose="020B0604020202020204" pitchFamily="34" charset="0"/>
              </a:rPr>
              <a:t>chance</a:t>
            </a:r>
            <a:r>
              <a:rPr lang="en-AU" sz="4000" kern="1200">
                <a:solidFill>
                  <a:schemeClr val="tx1"/>
                </a:solidFill>
                <a:effectLst/>
                <a:latin typeface="Arial" panose="020B0604020202020204" pitchFamily="34" charset="0"/>
                <a:ea typeface="+mn-ea"/>
                <a:cs typeface="Arial" panose="020B0604020202020204" pitchFamily="34" charset="0"/>
              </a:rPr>
              <a:t> </a:t>
            </a:r>
            <a:r>
              <a:rPr lang="en-AU" sz="4000" b="1" kern="1200">
                <a:solidFill>
                  <a:schemeClr val="tx1"/>
                </a:solidFill>
                <a:effectLst/>
                <a:latin typeface="Arial" panose="020B0604020202020204" pitchFamily="34" charset="0"/>
                <a:ea typeface="+mn-ea"/>
                <a:cs typeface="Arial" panose="020B0604020202020204" pitchFamily="34" charset="0"/>
              </a:rPr>
              <a:t>term</a:t>
            </a:r>
            <a:r>
              <a:rPr lang="en-AU" sz="4000" kern="1200">
                <a:solidFill>
                  <a:schemeClr val="tx1"/>
                </a:solidFill>
                <a:effectLst/>
                <a:latin typeface="Arial" panose="020B0604020202020204" pitchFamily="34" charset="0"/>
                <a:ea typeface="+mn-ea"/>
                <a:cs typeface="Arial" panose="020B0604020202020204" pitchFamily="34" charset="0"/>
              </a:rPr>
              <a:t> with the everyday </a:t>
            </a:r>
            <a:r>
              <a:rPr lang="en-AU" sz="4000" b="1" kern="1200">
                <a:solidFill>
                  <a:schemeClr val="tx1"/>
                </a:solidFill>
                <a:effectLst/>
                <a:latin typeface="Arial" panose="020B0604020202020204" pitchFamily="34" charset="0"/>
                <a:ea typeface="+mn-ea"/>
                <a:cs typeface="Arial" panose="020B0604020202020204" pitchFamily="34" charset="0"/>
              </a:rPr>
              <a:t>event</a:t>
            </a:r>
            <a:r>
              <a:rPr lang="en-AU" sz="4000" kern="1200">
                <a:solidFill>
                  <a:schemeClr val="tx1"/>
                </a:solidFill>
                <a:effectLst/>
                <a:latin typeface="Arial" panose="020B0604020202020204" pitchFamily="34" charset="0"/>
                <a:ea typeface="+mn-ea"/>
                <a:cs typeface="Arial" panose="020B0604020202020204" pitchFamily="34" charset="0"/>
              </a:rPr>
              <a:t>.</a:t>
            </a:r>
            <a:endParaRPr lang="en-AU" sz="4000"/>
          </a:p>
        </p:txBody>
      </p:sp>
      <p:sp>
        <p:nvSpPr>
          <p:cNvPr id="5" name="Rectangle: Rounded Corners 4">
            <a:extLst>
              <a:ext uri="{FF2B5EF4-FFF2-40B4-BE49-F238E27FC236}">
                <a16:creationId xmlns:a16="http://schemas.microsoft.com/office/drawing/2014/main" id="{3A8CDE2F-3C3C-9372-5AF0-6E4E637B87DA}"/>
              </a:ext>
            </a:extLst>
          </p:cNvPr>
          <p:cNvSpPr/>
          <p:nvPr/>
        </p:nvSpPr>
        <p:spPr>
          <a:xfrm>
            <a:off x="2077482" y="2324505"/>
            <a:ext cx="1980953"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equally likely</a:t>
            </a:r>
            <a:endParaRPr lang="en-AU" sz="4000" b="1">
              <a:solidFill>
                <a:schemeClr val="accent1"/>
              </a:solidFill>
            </a:endParaRPr>
          </a:p>
        </p:txBody>
      </p:sp>
      <p:sp>
        <p:nvSpPr>
          <p:cNvPr id="7" name="Rectangle: Rounded Corners 6">
            <a:extLst>
              <a:ext uri="{FF2B5EF4-FFF2-40B4-BE49-F238E27FC236}">
                <a16:creationId xmlns:a16="http://schemas.microsoft.com/office/drawing/2014/main" id="{2774DD88-BDB1-1E07-310A-0985FB9C05B7}"/>
              </a:ext>
            </a:extLst>
          </p:cNvPr>
          <p:cNvSpPr/>
          <p:nvPr/>
        </p:nvSpPr>
        <p:spPr>
          <a:xfrm>
            <a:off x="4870649" y="2324505"/>
            <a:ext cx="1980953"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likely</a:t>
            </a:r>
            <a:endParaRPr lang="en-AU" sz="4000" b="1">
              <a:solidFill>
                <a:schemeClr val="accent1"/>
              </a:solidFill>
            </a:endParaRPr>
          </a:p>
        </p:txBody>
      </p:sp>
      <p:sp>
        <p:nvSpPr>
          <p:cNvPr id="8" name="Rectangle: Rounded Corners 7">
            <a:extLst>
              <a:ext uri="{FF2B5EF4-FFF2-40B4-BE49-F238E27FC236}">
                <a16:creationId xmlns:a16="http://schemas.microsoft.com/office/drawing/2014/main" id="{2340029A-A101-DD19-A7BA-FDF749605AEC}"/>
              </a:ext>
            </a:extLst>
          </p:cNvPr>
          <p:cNvSpPr/>
          <p:nvPr/>
        </p:nvSpPr>
        <p:spPr>
          <a:xfrm>
            <a:off x="7520149" y="2324504"/>
            <a:ext cx="1980953"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unlikely</a:t>
            </a:r>
            <a:endParaRPr lang="en-AU" sz="4000" b="1">
              <a:solidFill>
                <a:schemeClr val="accent1"/>
              </a:solidFill>
            </a:endParaRPr>
          </a:p>
        </p:txBody>
      </p:sp>
      <p:sp>
        <p:nvSpPr>
          <p:cNvPr id="14" name="TextBox 13">
            <a:extLst>
              <a:ext uri="{FF2B5EF4-FFF2-40B4-BE49-F238E27FC236}">
                <a16:creationId xmlns:a16="http://schemas.microsoft.com/office/drawing/2014/main" id="{73FCF855-2702-F9B9-5F83-AB0B04283E94}"/>
              </a:ext>
            </a:extLst>
          </p:cNvPr>
          <p:cNvSpPr txBox="1"/>
          <p:nvPr/>
        </p:nvSpPr>
        <p:spPr>
          <a:xfrm>
            <a:off x="209909" y="4250732"/>
            <a:ext cx="1815916" cy="583766"/>
          </a:xfrm>
          <a:prstGeom prst="rect">
            <a:avLst/>
          </a:prstGeom>
          <a:ln w="28575">
            <a:solidFill>
              <a:schemeClr val="bg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3200">
                <a:latin typeface="Edu NSW ACT Foundation" pitchFamily="2" charset="0"/>
              </a:rPr>
              <a:t>It snowing at school today.</a:t>
            </a:r>
          </a:p>
        </p:txBody>
      </p:sp>
      <p:sp>
        <p:nvSpPr>
          <p:cNvPr id="13" name="TextBox 12">
            <a:extLst>
              <a:ext uri="{FF2B5EF4-FFF2-40B4-BE49-F238E27FC236}">
                <a16:creationId xmlns:a16="http://schemas.microsoft.com/office/drawing/2014/main" id="{4BF79F1D-E647-5D63-EC41-C9D95D627A04}"/>
              </a:ext>
              <a:ext uri="{C183D7F6-B498-43B3-948B-1728B52AA6E4}">
                <adec:decorative xmlns:adec="http://schemas.microsoft.com/office/drawing/2017/decorative" val="0"/>
              </a:ext>
            </a:extLst>
          </p:cNvPr>
          <p:cNvSpPr txBox="1"/>
          <p:nvPr/>
        </p:nvSpPr>
        <p:spPr>
          <a:xfrm>
            <a:off x="4456936" y="4379736"/>
            <a:ext cx="2808377" cy="583766"/>
          </a:xfrm>
          <a:prstGeom prst="rect">
            <a:avLst/>
          </a:prstGeom>
          <a:ln w="28575">
            <a:solidFill>
              <a:schemeClr val="bg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3200">
                <a:latin typeface="Edu NSW ACT Foundation" pitchFamily="2" charset="0"/>
              </a:rPr>
              <a:t>A coin flip landing on heads or tails</a:t>
            </a:r>
          </a:p>
        </p:txBody>
      </p:sp>
      <p:sp>
        <p:nvSpPr>
          <p:cNvPr id="12" name="TextBox 11">
            <a:extLst>
              <a:ext uri="{FF2B5EF4-FFF2-40B4-BE49-F238E27FC236}">
                <a16:creationId xmlns:a16="http://schemas.microsoft.com/office/drawing/2014/main" id="{AFD3A6EE-1D22-0A58-A224-627160D3A0F7}"/>
              </a:ext>
            </a:extLst>
          </p:cNvPr>
          <p:cNvSpPr txBox="1"/>
          <p:nvPr/>
        </p:nvSpPr>
        <p:spPr>
          <a:xfrm>
            <a:off x="8180316" y="3977868"/>
            <a:ext cx="3904107" cy="583766"/>
          </a:xfrm>
          <a:prstGeom prst="rect">
            <a:avLst/>
          </a:prstGeom>
          <a:ln w="28575">
            <a:solidFill>
              <a:schemeClr val="bg1"/>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noAutofit/>
          </a:bodyPr>
          <a:lstStyle/>
          <a:p>
            <a:pPr algn="ctr"/>
            <a:r>
              <a:rPr lang="en-AU" sz="3200">
                <a:latin typeface="Edu NSW ACT Foundation" pitchFamily="2" charset="0"/>
              </a:rPr>
              <a:t>You attending school on Monday.</a:t>
            </a:r>
          </a:p>
        </p:txBody>
      </p:sp>
      <p:grpSp>
        <p:nvGrpSpPr>
          <p:cNvPr id="9" name="Group 8">
            <a:extLst>
              <a:ext uri="{FF2B5EF4-FFF2-40B4-BE49-F238E27FC236}">
                <a16:creationId xmlns:a16="http://schemas.microsoft.com/office/drawing/2014/main" id="{557816C7-93A7-FFB5-A4A0-3251D910D2AF}"/>
              </a:ext>
              <a:ext uri="{C183D7F6-B498-43B3-948B-1728B52AA6E4}">
                <adec:decorative xmlns:adec="http://schemas.microsoft.com/office/drawing/2017/decorative" val="1"/>
              </a:ext>
            </a:extLst>
          </p:cNvPr>
          <p:cNvGrpSpPr/>
          <p:nvPr/>
        </p:nvGrpSpPr>
        <p:grpSpPr>
          <a:xfrm>
            <a:off x="4701919" y="5282318"/>
            <a:ext cx="1863842" cy="1575682"/>
            <a:chOff x="139885" y="1238554"/>
            <a:chExt cx="710102" cy="631959"/>
          </a:xfrm>
          <a:effectLst>
            <a:outerShdw blurRad="63500" sx="102000" sy="102000" algn="ctr" rotWithShape="0">
              <a:prstClr val="black">
                <a:alpha val="40000"/>
              </a:prstClr>
            </a:outerShdw>
          </a:effectLst>
        </p:grpSpPr>
        <p:sp>
          <p:nvSpPr>
            <p:cNvPr id="10" name="Freeform 2">
              <a:extLst>
                <a:ext uri="{FF2B5EF4-FFF2-40B4-BE49-F238E27FC236}">
                  <a16:creationId xmlns:a16="http://schemas.microsoft.com/office/drawing/2014/main" id="{200FD0C1-B0F9-DD13-1B8F-942B91606A68}"/>
                </a:ext>
              </a:extLst>
            </p:cNvPr>
            <p:cNvSpPr/>
            <p:nvPr/>
          </p:nvSpPr>
          <p:spPr>
            <a:xfrm>
              <a:off x="468444" y="1238554"/>
              <a:ext cx="381543" cy="385397"/>
            </a:xfrm>
            <a:custGeom>
              <a:avLst/>
              <a:gdLst/>
              <a:ahLst/>
              <a:cxnLst/>
              <a:rect l="l" t="t" r="r" b="b"/>
              <a:pathLst>
                <a:path w="381543" h="385397">
                  <a:moveTo>
                    <a:pt x="0" y="0"/>
                  </a:moveTo>
                  <a:lnTo>
                    <a:pt x="381542" y="0"/>
                  </a:lnTo>
                  <a:lnTo>
                    <a:pt x="381542" y="385397"/>
                  </a:lnTo>
                  <a:lnTo>
                    <a:pt x="0" y="3853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1" name="Freeform 3">
              <a:extLst>
                <a:ext uri="{FF2B5EF4-FFF2-40B4-BE49-F238E27FC236}">
                  <a16:creationId xmlns:a16="http://schemas.microsoft.com/office/drawing/2014/main" id="{EF8B1735-9BA4-F419-EFFE-735DA52A6B7B}"/>
                </a:ext>
              </a:extLst>
            </p:cNvPr>
            <p:cNvSpPr/>
            <p:nvPr/>
          </p:nvSpPr>
          <p:spPr>
            <a:xfrm>
              <a:off x="139885" y="1485116"/>
              <a:ext cx="400933" cy="385397"/>
            </a:xfrm>
            <a:custGeom>
              <a:avLst/>
              <a:gdLst/>
              <a:ahLst/>
              <a:cxnLst/>
              <a:rect l="l" t="t" r="r" b="b"/>
              <a:pathLst>
                <a:path w="400933" h="385397">
                  <a:moveTo>
                    <a:pt x="0" y="0"/>
                  </a:moveTo>
                  <a:lnTo>
                    <a:pt x="400932" y="0"/>
                  </a:lnTo>
                  <a:lnTo>
                    <a:pt x="400932" y="385396"/>
                  </a:lnTo>
                  <a:lnTo>
                    <a:pt x="0" y="3853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grpSp>
      <p:sp>
        <p:nvSpPr>
          <p:cNvPr id="19" name="Freeform 5">
            <a:extLst>
              <a:ext uri="{FF2B5EF4-FFF2-40B4-BE49-F238E27FC236}">
                <a16:creationId xmlns:a16="http://schemas.microsoft.com/office/drawing/2014/main" id="{DDF245C2-0077-428F-1360-C22416F031A4}"/>
              </a:ext>
              <a:ext uri="{C183D7F6-B498-43B3-948B-1728B52AA6E4}">
                <adec:decorative xmlns:adec="http://schemas.microsoft.com/office/drawing/2017/decorative" val="1"/>
              </a:ext>
            </a:extLst>
          </p:cNvPr>
          <p:cNvSpPr/>
          <p:nvPr/>
        </p:nvSpPr>
        <p:spPr>
          <a:xfrm>
            <a:off x="8688567" y="4734168"/>
            <a:ext cx="2582960" cy="2137390"/>
          </a:xfrm>
          <a:custGeom>
            <a:avLst/>
            <a:gdLst/>
            <a:ahLst/>
            <a:cxnLst/>
            <a:rect l="l" t="t" r="r" b="b"/>
            <a:pathLst>
              <a:path w="780487" h="645853">
                <a:moveTo>
                  <a:pt x="0" y="0"/>
                </a:moveTo>
                <a:lnTo>
                  <a:pt x="780487" y="0"/>
                </a:lnTo>
                <a:lnTo>
                  <a:pt x="780487" y="645853"/>
                </a:lnTo>
                <a:lnTo>
                  <a:pt x="0" y="645853"/>
                </a:lnTo>
                <a:lnTo>
                  <a:pt x="0" y="0"/>
                </a:lnTo>
                <a:close/>
              </a:path>
            </a:pathLst>
          </a:custGeom>
          <a:blipFill>
            <a:blip r:embed="rId8"/>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397909B4-92C3-C59E-4C67-76A3A39616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17" name="Freeform 4">
            <a:extLst>
              <a:ext uri="{FF2B5EF4-FFF2-40B4-BE49-F238E27FC236}">
                <a16:creationId xmlns:a16="http://schemas.microsoft.com/office/drawing/2014/main" id="{19B25805-EDC3-2925-B9EE-2A9D011D30AD}"/>
              </a:ext>
              <a:ext uri="{C183D7F6-B498-43B3-948B-1728B52AA6E4}">
                <adec:decorative xmlns:adec="http://schemas.microsoft.com/office/drawing/2017/decorative" val="1"/>
              </a:ext>
            </a:extLst>
          </p:cNvPr>
          <p:cNvSpPr>
            <a:spLocks noChangeAspect="1"/>
          </p:cNvSpPr>
          <p:nvPr/>
        </p:nvSpPr>
        <p:spPr>
          <a:xfrm>
            <a:off x="1625584" y="4420928"/>
            <a:ext cx="1815917" cy="2295000"/>
          </a:xfrm>
          <a:custGeom>
            <a:avLst/>
            <a:gdLst/>
            <a:ahLst/>
            <a:cxnLst/>
            <a:rect l="l" t="t" r="r" b="b"/>
            <a:pathLst>
              <a:path w="633079" h="800100">
                <a:moveTo>
                  <a:pt x="0" y="0"/>
                </a:moveTo>
                <a:lnTo>
                  <a:pt x="633079" y="0"/>
                </a:lnTo>
                <a:lnTo>
                  <a:pt x="633079" y="800100"/>
                </a:lnTo>
                <a:lnTo>
                  <a:pt x="0" y="800100"/>
                </a:lnTo>
                <a:lnTo>
                  <a:pt x="0" y="0"/>
                </a:lnTo>
                <a:close/>
              </a:path>
            </a:pathLst>
          </a:custGeom>
          <a:blipFill>
            <a:blip r:embed="rId9">
              <a:extLst>
                <a:ext uri="{96DAC541-7B7A-43D3-8B79-37D633B846F1}">
                  <asvg:svgBlip xmlns:asvg="http://schemas.microsoft.com/office/drawing/2016/SVG/main" r:embed="rId10"/>
                </a:ext>
              </a:extLst>
            </a:blip>
            <a:stretch>
              <a:fillRect/>
            </a:stretch>
          </a:blipFill>
          <a:effectLst>
            <a:outerShdw blurRad="63500" sx="102000" sy="102000" algn="ctr" rotWithShape="0">
              <a:prstClr val="black">
                <a:alpha val="40000"/>
              </a:prstClr>
            </a:outerShdw>
          </a:effectLst>
        </p:spPr>
        <p:txBody>
          <a:bodyPr/>
          <a:lstStyle/>
          <a:p>
            <a:endParaRPr lang="en-AU"/>
          </a:p>
        </p:txBody>
      </p:sp>
    </p:spTree>
    <p:extLst>
      <p:ext uri="{BB962C8B-B14F-4D97-AF65-F5344CB8AC3E}">
        <p14:creationId xmlns:p14="http://schemas.microsoft.com/office/powerpoint/2010/main" val="1315769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7" name="Rectangle: Rounded Corners 6">
            <a:extLst>
              <a:ext uri="{FF2B5EF4-FFF2-40B4-BE49-F238E27FC236}">
                <a16:creationId xmlns:a16="http://schemas.microsoft.com/office/drawing/2014/main" id="{DAEFACB9-E8E8-E927-7806-4E340C681D45}"/>
              </a:ext>
            </a:extLst>
          </p:cNvPr>
          <p:cNvSpPr/>
          <p:nvPr/>
        </p:nvSpPr>
        <p:spPr>
          <a:xfrm>
            <a:off x="4358884" y="1737262"/>
            <a:ext cx="3474227" cy="1517202"/>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b="1">
                <a:solidFill>
                  <a:schemeClr val="accent1"/>
                </a:solidFill>
              </a:rPr>
              <a:t>2 x 6 = 6 x 2</a:t>
            </a:r>
          </a:p>
        </p:txBody>
      </p:sp>
      <p:sp>
        <p:nvSpPr>
          <p:cNvPr id="5" name="TextBox 4">
            <a:extLst>
              <a:ext uri="{FF2B5EF4-FFF2-40B4-BE49-F238E27FC236}">
                <a16:creationId xmlns:a16="http://schemas.microsoft.com/office/drawing/2014/main" id="{F6D222F6-AF59-46A8-4618-B24991A2B89A}"/>
              </a:ext>
            </a:extLst>
          </p:cNvPr>
          <p:cNvSpPr txBox="1"/>
          <p:nvPr/>
        </p:nvSpPr>
        <p:spPr>
          <a:xfrm>
            <a:off x="1066798" y="3603536"/>
            <a:ext cx="10058400" cy="982513"/>
          </a:xfrm>
          <a:prstGeom prst="rect">
            <a:avLst/>
          </a:prstGeom>
          <a:noFill/>
        </p:spPr>
        <p:txBody>
          <a:bodyPr wrap="square">
            <a:spAutoFit/>
          </a:bodyPr>
          <a:lstStyle/>
          <a:p>
            <a:pPr algn="ctr">
              <a:lnSpc>
                <a:spcPct val="150000"/>
              </a:lnSpc>
            </a:pPr>
            <a:r>
              <a:rPr lang="en-AU" sz="4400" b="1" kern="1200">
                <a:solidFill>
                  <a:schemeClr val="tx1"/>
                </a:solidFill>
                <a:effectLst/>
                <a:latin typeface="Arial" panose="020B0604020202020204" pitchFamily="34" charset="0"/>
                <a:ea typeface="+mn-ea"/>
                <a:cs typeface="Arial" panose="020B0604020202020204" pitchFamily="34" charset="0"/>
              </a:rPr>
              <a:t>Draw </a:t>
            </a:r>
            <a:r>
              <a:rPr lang="en-AU" sz="4400" kern="1200">
                <a:solidFill>
                  <a:schemeClr val="tx1"/>
                </a:solidFill>
                <a:effectLst/>
                <a:latin typeface="Arial" panose="020B0604020202020204" pitchFamily="34" charset="0"/>
                <a:ea typeface="+mn-ea"/>
                <a:cs typeface="Arial" panose="020B0604020202020204" pitchFamily="34" charset="0"/>
              </a:rPr>
              <a:t>the </a:t>
            </a:r>
            <a:r>
              <a:rPr lang="en-AU" sz="4400" b="1" kern="1200">
                <a:solidFill>
                  <a:schemeClr val="tx1"/>
                </a:solidFill>
                <a:effectLst/>
                <a:latin typeface="Arial" panose="020B0604020202020204" pitchFamily="34" charset="0"/>
                <a:ea typeface="+mn-ea"/>
                <a:cs typeface="Arial" panose="020B0604020202020204" pitchFamily="34" charset="0"/>
              </a:rPr>
              <a:t>arrays</a:t>
            </a:r>
            <a:r>
              <a:rPr lang="en-AU" sz="4400" b="1">
                <a:latin typeface="Arial" panose="020B0604020202020204" pitchFamily="34" charset="0"/>
                <a:cs typeface="Arial" panose="020B0604020202020204" pitchFamily="34" charset="0"/>
              </a:rPr>
              <a:t>.</a:t>
            </a:r>
            <a:endParaRPr lang="en-AU" sz="4400"/>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80A2367-855A-6498-B15A-D0147F1A56E1}"/>
              </a:ext>
            </a:extLst>
          </p:cNvPr>
          <p:cNvSpPr txBox="1"/>
          <p:nvPr/>
        </p:nvSpPr>
        <p:spPr>
          <a:xfrm>
            <a:off x="360000" y="1184223"/>
            <a:ext cx="4886215" cy="3671583"/>
          </a:xfrm>
          <a:prstGeom prst="rect">
            <a:avLst/>
          </a:prstGeom>
          <a:noFill/>
        </p:spPr>
        <p:txBody>
          <a:bodyPr wrap="square">
            <a:spAutoFit/>
          </a:bodyPr>
          <a:lstStyle/>
          <a:p>
            <a:pPr>
              <a:lnSpc>
                <a:spcPct val="150000"/>
              </a:lnSpc>
              <a:buNone/>
            </a:pPr>
            <a:r>
              <a:rPr lang="en-AU" sz="4000" b="1" i="0">
                <a:solidFill>
                  <a:srgbClr val="000000"/>
                </a:solidFill>
                <a:effectLst/>
              </a:rPr>
              <a:t>Record </a:t>
            </a:r>
            <a:r>
              <a:rPr lang="en-AU" sz="4000" i="0">
                <a:solidFill>
                  <a:srgbClr val="000000"/>
                </a:solidFill>
                <a:effectLst/>
              </a:rPr>
              <a:t>the</a:t>
            </a:r>
            <a:r>
              <a:rPr lang="en-AU" sz="4000" b="1" i="0">
                <a:solidFill>
                  <a:srgbClr val="000000"/>
                </a:solidFill>
                <a:effectLst/>
              </a:rPr>
              <a:t> total </a:t>
            </a:r>
            <a:r>
              <a:rPr lang="en-AU" sz="4000" i="0">
                <a:solidFill>
                  <a:srgbClr val="000000"/>
                </a:solidFill>
                <a:effectLst/>
              </a:rPr>
              <a:t>amount of plants found in the playground.</a:t>
            </a:r>
          </a:p>
        </p:txBody>
      </p:sp>
      <p:pic>
        <p:nvPicPr>
          <p:cNvPr id="18" name="Picture 17" descr="A column graph titled 'Plants in our playground.' On the vertical axis are the numbers 0 to 20. On the horizontal axis are the plants: roses, sunflowers, grass tree and eucalyptus tree.">
            <a:extLst>
              <a:ext uri="{FF2B5EF4-FFF2-40B4-BE49-F238E27FC236}">
                <a16:creationId xmlns:a16="http://schemas.microsoft.com/office/drawing/2014/main" id="{4883F9AF-9219-3EFC-E375-C3B899223C82}"/>
              </a:ext>
            </a:extLst>
          </p:cNvPr>
          <p:cNvPicPr>
            <a:picLocks noChangeAspect="1"/>
          </p:cNvPicPr>
          <p:nvPr/>
        </p:nvPicPr>
        <p:blipFill>
          <a:blip r:embed="rId4">
            <a:extLst>
              <a:ext uri="{28A0092B-C50C-407E-A947-70E740481C1C}">
                <a14:useLocalDpi xmlns:a14="http://schemas.microsoft.com/office/drawing/2010/main" val="0"/>
              </a:ext>
            </a:extLst>
          </a:blip>
          <a:srcRect l="16010" r="18826" b="4697"/>
          <a:stretch>
            <a:fillRect/>
          </a:stretch>
        </p:blipFill>
        <p:spPr>
          <a:xfrm>
            <a:off x="5413829" y="905601"/>
            <a:ext cx="5616647" cy="5806787"/>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recording 4-digit numbers using place value</a:t>
            </a:r>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extBox 2">
            <a:extLst>
              <a:ext uri="{FF2B5EF4-FFF2-40B4-BE49-F238E27FC236}">
                <a16:creationId xmlns:a16="http://schemas.microsoft.com/office/drawing/2014/main" id="{A6E959F7-F5A5-21E7-FEF0-7EED86D8CBB1}"/>
              </a:ext>
            </a:extLst>
          </p:cNvPr>
          <p:cNvSpPr txBox="1"/>
          <p:nvPr/>
        </p:nvSpPr>
        <p:spPr>
          <a:xfrm>
            <a:off x="515633" y="1476040"/>
            <a:ext cx="11160734" cy="1575809"/>
          </a:xfrm>
          <a:prstGeom prst="rect">
            <a:avLst/>
          </a:prstGeom>
          <a:noFill/>
        </p:spPr>
        <p:txBody>
          <a:bodyPr wrap="square" lIns="0" tIns="0" rIns="0" bIns="0" rtlCol="0">
            <a:noAutofit/>
          </a:bodyPr>
          <a:lstStyle/>
          <a:p>
            <a:pPr algn="ctr">
              <a:lnSpc>
                <a:spcPct val="150000"/>
              </a:lnSpc>
            </a:pPr>
            <a:r>
              <a:rPr lang="en-AU" sz="3400" b="1">
                <a:latin typeface="Arial" panose="020B0604020202020204" pitchFamily="34" charset="0"/>
                <a:cs typeface="Arial" panose="020B0604020202020204" pitchFamily="34" charset="0"/>
              </a:rPr>
              <a:t>Ask</a:t>
            </a:r>
            <a:r>
              <a:rPr lang="en-AU" sz="3400">
                <a:latin typeface="Arial" panose="020B0604020202020204" pitchFamily="34" charset="0"/>
                <a:cs typeface="Arial" panose="020B0604020202020204" pitchFamily="34" charset="0"/>
              </a:rPr>
              <a:t> </a:t>
            </a:r>
            <a:r>
              <a:rPr lang="en-AU" sz="3400" b="1" u="sng">
                <a:latin typeface="Arial" panose="020B0604020202020204" pitchFamily="34" charset="0"/>
                <a:cs typeface="Arial" panose="020B0604020202020204" pitchFamily="34" charset="0"/>
              </a:rPr>
              <a:t>yes</a:t>
            </a:r>
            <a:r>
              <a:rPr lang="en-AU" sz="3400">
                <a:latin typeface="Arial" panose="020B0604020202020204" pitchFamily="34" charset="0"/>
                <a:cs typeface="Arial" panose="020B0604020202020204" pitchFamily="34" charset="0"/>
              </a:rPr>
              <a:t> </a:t>
            </a:r>
            <a:r>
              <a:rPr lang="en-AU" sz="3400" i="1">
                <a:latin typeface="Arial" panose="020B0604020202020204" pitchFamily="34" charset="0"/>
                <a:cs typeface="Arial" panose="020B0604020202020204" pitchFamily="34" charset="0"/>
              </a:rPr>
              <a:t>or</a:t>
            </a:r>
            <a:r>
              <a:rPr lang="en-AU" sz="3400">
                <a:latin typeface="Arial" panose="020B0604020202020204" pitchFamily="34" charset="0"/>
                <a:cs typeface="Arial" panose="020B0604020202020204" pitchFamily="34" charset="0"/>
              </a:rPr>
              <a:t> </a:t>
            </a:r>
            <a:r>
              <a:rPr lang="en-AU" sz="3400" b="1" u="sng">
                <a:latin typeface="Arial" panose="020B0604020202020204" pitchFamily="34" charset="0"/>
                <a:cs typeface="Arial" panose="020B0604020202020204" pitchFamily="34" charset="0"/>
              </a:rPr>
              <a:t>no</a:t>
            </a:r>
            <a:r>
              <a:rPr lang="en-AU" sz="3400">
                <a:latin typeface="Arial" panose="020B0604020202020204" pitchFamily="34" charset="0"/>
                <a:cs typeface="Arial" panose="020B0604020202020204" pitchFamily="34" charset="0"/>
              </a:rPr>
              <a:t> </a:t>
            </a:r>
            <a:r>
              <a:rPr lang="en-AU" sz="3400" b="1">
                <a:latin typeface="Arial" panose="020B0604020202020204" pitchFamily="34" charset="0"/>
                <a:cs typeface="Arial" panose="020B0604020202020204" pitchFamily="34" charset="0"/>
              </a:rPr>
              <a:t>questions</a:t>
            </a:r>
            <a:r>
              <a:rPr lang="en-AU" sz="3400">
                <a:latin typeface="Arial" panose="020B0604020202020204" pitchFamily="34" charset="0"/>
                <a:cs typeface="Arial" panose="020B0604020202020204" pitchFamily="34" charset="0"/>
              </a:rPr>
              <a:t> to guess the </a:t>
            </a:r>
            <a:r>
              <a:rPr lang="en-AU" sz="3400" b="1">
                <a:latin typeface="Arial" panose="020B0604020202020204" pitchFamily="34" charset="0"/>
                <a:cs typeface="Arial" panose="020B0604020202020204" pitchFamily="34" charset="0"/>
              </a:rPr>
              <a:t>mystery</a:t>
            </a:r>
            <a:r>
              <a:rPr lang="en-AU" sz="3400">
                <a:latin typeface="Arial" panose="020B0604020202020204" pitchFamily="34" charset="0"/>
                <a:cs typeface="Arial" panose="020B0604020202020204" pitchFamily="34" charset="0"/>
              </a:rPr>
              <a:t> </a:t>
            </a:r>
            <a:r>
              <a:rPr lang="en-AU" sz="3400" b="1">
                <a:latin typeface="Arial" panose="020B0604020202020204" pitchFamily="34" charset="0"/>
                <a:cs typeface="Arial" panose="020B0604020202020204" pitchFamily="34" charset="0"/>
              </a:rPr>
              <a:t>number.</a:t>
            </a:r>
            <a:endParaRPr lang="en-AU" sz="3400">
              <a:latin typeface="Arial" panose="020B0604020202020204" pitchFamily="34" charset="0"/>
              <a:cs typeface="Arial" panose="020B0604020202020204" pitchFamily="34" charset="0"/>
            </a:endParaRPr>
          </a:p>
          <a:p>
            <a:pPr algn="l"/>
            <a:endParaRPr lang="en-AU">
              <a:latin typeface="Arial" panose="020B0604020202020204" pitchFamily="34" charset="0"/>
              <a:cs typeface="Arial" panose="020B0604020202020204" pitchFamily="34" charset="0"/>
            </a:endParaRPr>
          </a:p>
        </p:txBody>
      </p:sp>
      <p:sp>
        <p:nvSpPr>
          <p:cNvPr id="5" name="Freeform 2">
            <a:extLst>
              <a:ext uri="{FF2B5EF4-FFF2-40B4-BE49-F238E27FC236}">
                <a16:creationId xmlns:a16="http://schemas.microsoft.com/office/drawing/2014/main" id="{235938F3-9152-64C0-21EB-DE4CC2630063}"/>
              </a:ext>
              <a:ext uri="{C183D7F6-B498-43B3-948B-1728B52AA6E4}">
                <adec:decorative xmlns:adec="http://schemas.microsoft.com/office/drawing/2017/decorative" val="1"/>
              </a:ext>
            </a:extLst>
          </p:cNvPr>
          <p:cNvSpPr/>
          <p:nvPr/>
        </p:nvSpPr>
        <p:spPr>
          <a:xfrm rot="20662067">
            <a:off x="923865" y="4437909"/>
            <a:ext cx="1812615" cy="1888103"/>
          </a:xfrm>
          <a:custGeom>
            <a:avLst/>
            <a:gdLst/>
            <a:ahLst/>
            <a:cxnLst/>
            <a:rect l="l" t="t" r="r" b="b"/>
            <a:pathLst>
              <a:path w="2018520" h="3024000">
                <a:moveTo>
                  <a:pt x="0" y="0"/>
                </a:moveTo>
                <a:lnTo>
                  <a:pt x="2018520" y="0"/>
                </a:lnTo>
                <a:lnTo>
                  <a:pt x="201852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2">
            <a:extLst>
              <a:ext uri="{FF2B5EF4-FFF2-40B4-BE49-F238E27FC236}">
                <a16:creationId xmlns:a16="http://schemas.microsoft.com/office/drawing/2014/main" id="{FF6B092A-E226-B764-4414-8F0C00824C0B}"/>
              </a:ext>
              <a:ext uri="{C183D7F6-B498-43B3-948B-1728B52AA6E4}">
                <adec:decorative xmlns:adec="http://schemas.microsoft.com/office/drawing/2017/decorative" val="1"/>
              </a:ext>
            </a:extLst>
          </p:cNvPr>
          <p:cNvSpPr/>
          <p:nvPr/>
        </p:nvSpPr>
        <p:spPr>
          <a:xfrm rot="1300582">
            <a:off x="9712240" y="4379207"/>
            <a:ext cx="1812615" cy="1888103"/>
          </a:xfrm>
          <a:custGeom>
            <a:avLst/>
            <a:gdLst/>
            <a:ahLst/>
            <a:cxnLst/>
            <a:rect l="l" t="t" r="r" b="b"/>
            <a:pathLst>
              <a:path w="2018520" h="3024000">
                <a:moveTo>
                  <a:pt x="0" y="0"/>
                </a:moveTo>
                <a:lnTo>
                  <a:pt x="2018520" y="0"/>
                </a:lnTo>
                <a:lnTo>
                  <a:pt x="201852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TextBox 8">
            <a:extLst>
              <a:ext uri="{FF2B5EF4-FFF2-40B4-BE49-F238E27FC236}">
                <a16:creationId xmlns:a16="http://schemas.microsoft.com/office/drawing/2014/main" id="{95930E5D-05F9-E675-9A58-795BBD56F75F}"/>
              </a:ext>
            </a:extLst>
          </p:cNvPr>
          <p:cNvSpPr txBox="1"/>
          <p:nvPr/>
        </p:nvSpPr>
        <p:spPr>
          <a:xfrm>
            <a:off x="515633" y="2746792"/>
            <a:ext cx="10764000" cy="780214"/>
          </a:xfrm>
          <a:prstGeom prst="rect">
            <a:avLst/>
          </a:prstGeom>
          <a:noFill/>
        </p:spPr>
        <p:txBody>
          <a:bodyPr wrap="square">
            <a:spAutoFit/>
          </a:bodyPr>
          <a:lstStyle/>
          <a:p>
            <a:pPr lvl="0" algn="ctr">
              <a:lnSpc>
                <a:spcPct val="150000"/>
              </a:lnSpc>
              <a:spcBef>
                <a:spcPts val="1200"/>
              </a:spcBef>
              <a:spcAft>
                <a:spcPts val="600"/>
              </a:spcAft>
            </a:pPr>
            <a:r>
              <a:rPr lang="en-AU" sz="3400" b="1">
                <a:effectLst/>
                <a:latin typeface="Arial" panose="020B0604020202020204" pitchFamily="34" charset="0"/>
                <a:ea typeface="Calibri" panose="020F0502020204030204" pitchFamily="34" charset="0"/>
              </a:rPr>
              <a:t>Record</a:t>
            </a:r>
            <a:r>
              <a:rPr lang="en-AU" sz="3400">
                <a:effectLst/>
                <a:latin typeface="Arial" panose="020B0604020202020204" pitchFamily="34" charset="0"/>
                <a:ea typeface="Calibri" panose="020F0502020204030204" pitchFamily="34" charset="0"/>
              </a:rPr>
              <a:t> the number using standard </a:t>
            </a:r>
            <a:r>
              <a:rPr lang="en-AU" sz="3400" b="1">
                <a:effectLst/>
                <a:latin typeface="Arial" panose="020B0604020202020204" pitchFamily="34" charset="0"/>
                <a:ea typeface="Calibri" panose="020F0502020204030204" pitchFamily="34" charset="0"/>
              </a:rPr>
              <a:t>place value </a:t>
            </a:r>
            <a:r>
              <a:rPr lang="en-AU" sz="3400">
                <a:effectLst/>
                <a:latin typeface="Arial" panose="020B0604020202020204" pitchFamily="34" charset="0"/>
                <a:ea typeface="Calibri" panose="020F0502020204030204" pitchFamily="34" charset="0"/>
              </a:rPr>
              <a:t>form. </a:t>
            </a:r>
          </a:p>
        </p:txBody>
      </p:sp>
      <p:sp>
        <p:nvSpPr>
          <p:cNvPr id="10" name="Rectangle: Rounded Corners 9">
            <a:extLst>
              <a:ext uri="{FF2B5EF4-FFF2-40B4-BE49-F238E27FC236}">
                <a16:creationId xmlns:a16="http://schemas.microsoft.com/office/drawing/2014/main" id="{240A6EF4-B05E-7B5D-9B26-74001E270866}"/>
              </a:ext>
            </a:extLst>
          </p:cNvPr>
          <p:cNvSpPr/>
          <p:nvPr/>
        </p:nvSpPr>
        <p:spPr>
          <a:xfrm>
            <a:off x="3937100" y="4173419"/>
            <a:ext cx="4510775" cy="2057454"/>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523 = 500 + 20 + 3</a:t>
            </a:r>
          </a:p>
          <a:p>
            <a:pPr algn="ctr"/>
            <a:r>
              <a:rPr lang="en-AU" sz="3200" i="1">
                <a:solidFill>
                  <a:schemeClr val="accent1"/>
                </a:solidFill>
              </a:rPr>
              <a:t>or</a:t>
            </a:r>
          </a:p>
          <a:p>
            <a:pPr algn="ctr"/>
            <a:r>
              <a:rPr lang="en-AU" sz="3200" b="1">
                <a:solidFill>
                  <a:schemeClr val="accent1"/>
                </a:solidFill>
              </a:rPr>
              <a:t>5 hundreds, 2 tens and 3 ones</a:t>
            </a:r>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Rectangle: Rounded Corners 6">
            <a:extLst>
              <a:ext uri="{FF2B5EF4-FFF2-40B4-BE49-F238E27FC236}">
                <a16:creationId xmlns:a16="http://schemas.microsoft.com/office/drawing/2014/main" id="{F6A9EA24-7010-353C-4E99-4556662C0767}"/>
              </a:ext>
            </a:extLst>
          </p:cNvPr>
          <p:cNvSpPr/>
          <p:nvPr/>
        </p:nvSpPr>
        <p:spPr>
          <a:xfrm>
            <a:off x="351994" y="1894378"/>
            <a:ext cx="11488012" cy="1720382"/>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AU" sz="3200" b="1">
                <a:solidFill>
                  <a:schemeClr val="accent1"/>
                </a:solidFill>
              </a:rPr>
              <a:t>2324 = </a:t>
            </a:r>
          </a:p>
          <a:p>
            <a:pPr algn="ctr">
              <a:lnSpc>
                <a:spcPct val="150000"/>
              </a:lnSpc>
            </a:pPr>
            <a:r>
              <a:rPr lang="en-AU" sz="3200" b="1">
                <a:solidFill>
                  <a:schemeClr val="accent1"/>
                </a:solidFill>
              </a:rPr>
              <a:t>2 thousands, 3 hundreds and 24 ones </a:t>
            </a:r>
            <a:r>
              <a:rPr lang="en-AU" sz="3200" b="1" i="1">
                <a:solidFill>
                  <a:schemeClr val="accent1"/>
                </a:solidFill>
              </a:rPr>
              <a:t>or</a:t>
            </a:r>
            <a:r>
              <a:rPr lang="en-AU" sz="3200" b="1">
                <a:solidFill>
                  <a:schemeClr val="accent1"/>
                </a:solidFill>
              </a:rPr>
              <a:t> 2000 + 300 + 24</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2926594678"/>
              </p:ext>
            </p:extLst>
          </p:nvPr>
        </p:nvGraphicFramePr>
        <p:xfrm>
          <a:off x="2442981" y="480199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Box 4">
            <a:extLst>
              <a:ext uri="{FF2B5EF4-FFF2-40B4-BE49-F238E27FC236}">
                <a16:creationId xmlns:a16="http://schemas.microsoft.com/office/drawing/2014/main" id="{AA196830-43D2-1F91-CD3C-94D7D7D3D237}"/>
              </a:ext>
            </a:extLst>
          </p:cNvPr>
          <p:cNvSpPr txBox="1"/>
          <p:nvPr/>
        </p:nvSpPr>
        <p:spPr>
          <a:xfrm>
            <a:off x="1947079" y="5898114"/>
            <a:ext cx="8297838" cy="646331"/>
          </a:xfrm>
          <a:prstGeom prst="rect">
            <a:avLst/>
          </a:prstGeom>
          <a:noFill/>
        </p:spPr>
        <p:txBody>
          <a:bodyPr wrap="square">
            <a:spAutoFit/>
          </a:bodyPr>
          <a:lstStyle/>
          <a:p>
            <a:pPr algn="ctr"/>
            <a:r>
              <a:rPr lang="en-US" sz="3600" b="1">
                <a:latin typeface="Arial"/>
                <a:cs typeface="Arial"/>
              </a:rPr>
              <a:t>Communicate</a:t>
            </a:r>
            <a:r>
              <a:rPr lang="en-US" sz="3600">
                <a:latin typeface="Arial"/>
                <a:cs typeface="Arial"/>
              </a:rPr>
              <a:t> your </a:t>
            </a:r>
            <a:r>
              <a:rPr lang="en-US" sz="3600" b="1">
                <a:latin typeface="Arial"/>
                <a:cs typeface="Arial"/>
              </a:rPr>
              <a:t>reasoning</a:t>
            </a:r>
            <a:r>
              <a:rPr lang="en-US" sz="3600">
                <a:latin typeface="Arial"/>
                <a:cs typeface="Arial"/>
              </a:rPr>
              <a:t>.</a:t>
            </a:r>
          </a:p>
        </p:txBody>
      </p:sp>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ABA6FA1C-E729-962D-E98E-B71FB95A35AC}"/>
              </a:ext>
            </a:extLst>
          </p:cNvPr>
          <p:cNvSpPr txBox="1"/>
          <p:nvPr/>
        </p:nvSpPr>
        <p:spPr>
          <a:xfrm>
            <a:off x="1320800" y="1047669"/>
            <a:ext cx="9803200" cy="1651671"/>
          </a:xfrm>
          <a:prstGeom prst="rect">
            <a:avLst/>
          </a:prstGeom>
          <a:noFill/>
        </p:spPr>
        <p:txBody>
          <a:bodyPr wrap="square">
            <a:spAutoFit/>
          </a:bodyPr>
          <a:lstStyle/>
          <a:p>
            <a:pPr algn="ctr">
              <a:lnSpc>
                <a:spcPct val="150000"/>
              </a:lnSpc>
            </a:pPr>
            <a:r>
              <a:rPr lang="en-AU" sz="3600" b="1" kern="1200">
                <a:solidFill>
                  <a:schemeClr val="tx1"/>
                </a:solidFill>
                <a:effectLst/>
                <a:latin typeface="Arial" panose="020B0604020202020204" pitchFamily="34" charset="0"/>
                <a:ea typeface="+mn-ea"/>
                <a:cs typeface="Arial" panose="020B0604020202020204" pitchFamily="34" charset="0"/>
              </a:rPr>
              <a:t>Identify </a:t>
            </a:r>
            <a:r>
              <a:rPr lang="en-AU" sz="3600" kern="1200">
                <a:solidFill>
                  <a:schemeClr val="tx1"/>
                </a:solidFill>
                <a:effectLst/>
                <a:latin typeface="Arial" panose="020B0604020202020204" pitchFamily="34" charset="0"/>
                <a:ea typeface="+mn-ea"/>
                <a:cs typeface="Arial" panose="020B0604020202020204" pitchFamily="34" charset="0"/>
              </a:rPr>
              <a:t>3</a:t>
            </a:r>
            <a:r>
              <a:rPr lang="en-AU" sz="3600" b="1" kern="1200">
                <a:solidFill>
                  <a:schemeClr val="tx1"/>
                </a:solidFill>
                <a:effectLst/>
                <a:latin typeface="Arial" panose="020B0604020202020204" pitchFamily="34" charset="0"/>
                <a:ea typeface="+mn-ea"/>
                <a:cs typeface="Arial" panose="020B0604020202020204" pitchFamily="34" charset="0"/>
              </a:rPr>
              <a:t> </a:t>
            </a:r>
            <a:r>
              <a:rPr lang="en-AU" sz="3600" kern="1200">
                <a:solidFill>
                  <a:schemeClr val="tx1"/>
                </a:solidFill>
                <a:effectLst/>
                <a:latin typeface="Arial" panose="020B0604020202020204" pitchFamily="34" charset="0"/>
                <a:ea typeface="+mn-ea"/>
                <a:cs typeface="Arial" panose="020B0604020202020204" pitchFamily="34" charset="0"/>
              </a:rPr>
              <a:t>everyday containers that hold about </a:t>
            </a:r>
            <a:r>
              <a:rPr lang="en-AU" sz="3600" b="1" kern="1200">
                <a:solidFill>
                  <a:schemeClr val="tx1"/>
                </a:solidFill>
                <a:effectLst/>
                <a:latin typeface="Arial" panose="020B0604020202020204" pitchFamily="34" charset="0"/>
                <a:ea typeface="+mn-ea"/>
                <a:cs typeface="Arial" panose="020B0604020202020204" pitchFamily="34" charset="0"/>
              </a:rPr>
              <a:t>one litre</a:t>
            </a:r>
            <a:r>
              <a:rPr lang="en-AU" sz="3600" kern="1200">
                <a:solidFill>
                  <a:schemeClr val="tx1"/>
                </a:solidFill>
                <a:effectLst/>
                <a:latin typeface="Arial" panose="020B0604020202020204" pitchFamily="34" charset="0"/>
                <a:ea typeface="+mn-ea"/>
                <a:cs typeface="Arial" panose="020B0604020202020204" pitchFamily="34" charset="0"/>
              </a:rPr>
              <a:t>.</a:t>
            </a:r>
          </a:p>
        </p:txBody>
      </p:sp>
      <p:grpSp>
        <p:nvGrpSpPr>
          <p:cNvPr id="4" name="Group 3" descr="A one litre jug with 100 millilitre measurement increments marked. The jug is labelled with one litre using a red arrow.">
            <a:extLst>
              <a:ext uri="{FF2B5EF4-FFF2-40B4-BE49-F238E27FC236}">
                <a16:creationId xmlns:a16="http://schemas.microsoft.com/office/drawing/2014/main" id="{D5E4E396-73B3-A55D-52BD-D07634D305D5}"/>
              </a:ext>
            </a:extLst>
          </p:cNvPr>
          <p:cNvGrpSpPr/>
          <p:nvPr/>
        </p:nvGrpSpPr>
        <p:grpSpPr>
          <a:xfrm>
            <a:off x="4056806" y="2699340"/>
            <a:ext cx="6378965" cy="4110400"/>
            <a:chOff x="3781259" y="2387600"/>
            <a:chExt cx="6873662" cy="4110400"/>
          </a:xfrm>
        </p:grpSpPr>
        <p:cxnSp>
          <p:nvCxnSpPr>
            <p:cNvPr id="5" name="Straight Arrow Connector 4">
              <a:extLst>
                <a:ext uri="{FF2B5EF4-FFF2-40B4-BE49-F238E27FC236}">
                  <a16:creationId xmlns:a16="http://schemas.microsoft.com/office/drawing/2014/main" id="{F96CCA5E-6B2C-CDB6-74C5-7BBAE46D64EB}"/>
                </a:ext>
              </a:extLst>
            </p:cNvPr>
            <p:cNvCxnSpPr>
              <a:cxnSpLocks/>
            </p:cNvCxnSpPr>
            <p:nvPr/>
          </p:nvCxnSpPr>
          <p:spPr>
            <a:xfrm flipH="1">
              <a:off x="7124321" y="2844800"/>
              <a:ext cx="3530600" cy="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7" name="Freeform 4">
              <a:extLst>
                <a:ext uri="{FF2B5EF4-FFF2-40B4-BE49-F238E27FC236}">
                  <a16:creationId xmlns:a16="http://schemas.microsoft.com/office/drawing/2014/main" id="{3304E76F-564B-5AA2-2DCD-6974E6BDB5EA}"/>
                </a:ext>
              </a:extLst>
            </p:cNvPr>
            <p:cNvSpPr/>
            <p:nvPr/>
          </p:nvSpPr>
          <p:spPr>
            <a:xfrm>
              <a:off x="3781259" y="2516646"/>
              <a:ext cx="4629481" cy="3981354"/>
            </a:xfrm>
            <a:custGeom>
              <a:avLst/>
              <a:gdLst/>
              <a:ahLst/>
              <a:cxnLst/>
              <a:rect l="l" t="t" r="r" b="b"/>
              <a:pathLst>
                <a:path w="4629481" h="3981354">
                  <a:moveTo>
                    <a:pt x="0" y="0"/>
                  </a:moveTo>
                  <a:lnTo>
                    <a:pt x="4629482" y="0"/>
                  </a:lnTo>
                  <a:lnTo>
                    <a:pt x="4629482" y="3981354"/>
                  </a:lnTo>
                  <a:lnTo>
                    <a:pt x="0" y="39813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TextBox 7">
              <a:extLst>
                <a:ext uri="{FF2B5EF4-FFF2-40B4-BE49-F238E27FC236}">
                  <a16:creationId xmlns:a16="http://schemas.microsoft.com/office/drawing/2014/main" id="{0EBF70B2-2C3D-2E2A-7AB6-3DA1A9C8AB8F}"/>
                </a:ext>
              </a:extLst>
            </p:cNvPr>
            <p:cNvSpPr txBox="1"/>
            <p:nvPr/>
          </p:nvSpPr>
          <p:spPr>
            <a:xfrm>
              <a:off x="8889621" y="2387600"/>
              <a:ext cx="1714500" cy="914400"/>
            </a:xfrm>
            <a:prstGeom prst="rect">
              <a:avLst/>
            </a:prstGeom>
            <a:noFill/>
          </p:spPr>
          <p:txBody>
            <a:bodyPr wrap="none" lIns="0" tIns="0" rIns="0" bIns="0" rtlCol="0">
              <a:noAutofit/>
            </a:bodyPr>
            <a:lstStyle/>
            <a:p>
              <a:pPr algn="ctr"/>
              <a:r>
                <a:rPr lang="en-AU" sz="3200">
                  <a:latin typeface="Edu NSW ACT Foundation" pitchFamily="2" charset="0"/>
                </a:rPr>
                <a:t>1 Litre</a:t>
              </a:r>
            </a:p>
            <a:p>
              <a:pPr algn="ctr"/>
              <a:r>
                <a:rPr lang="en-AU" sz="3200">
                  <a:latin typeface="Edu NSW ACT Foundation" pitchFamily="2" charset="0"/>
                </a:rPr>
                <a:t>1L</a:t>
              </a:r>
            </a:p>
          </p:txBody>
        </p:sp>
      </p:gr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C10EDAD-C73B-4605-37B6-FC56F7EA89C3}"/>
              </a:ext>
            </a:extLst>
          </p:cNvPr>
          <p:cNvSpPr txBox="1"/>
          <p:nvPr/>
        </p:nvSpPr>
        <p:spPr>
          <a:xfrm>
            <a:off x="360001" y="1031865"/>
            <a:ext cx="11376198" cy="820674"/>
          </a:xfrm>
          <a:prstGeom prst="rect">
            <a:avLst/>
          </a:prstGeom>
          <a:noFill/>
        </p:spPr>
        <p:txBody>
          <a:bodyPr wrap="square">
            <a:spAutoFit/>
          </a:bodyPr>
          <a:lstStyle/>
          <a:p>
            <a:pPr algn="ctr">
              <a:lnSpc>
                <a:spcPct val="150000"/>
              </a:lnSpc>
            </a:pPr>
            <a:r>
              <a:rPr lang="en-AU" sz="3600" b="1" kern="1200">
                <a:solidFill>
                  <a:schemeClr val="tx1"/>
                </a:solidFill>
                <a:effectLst/>
                <a:latin typeface="Arial" panose="020B0604020202020204" pitchFamily="34" charset="0"/>
                <a:ea typeface="+mn-ea"/>
                <a:cs typeface="Arial" panose="020B0604020202020204" pitchFamily="34" charset="0"/>
              </a:rPr>
              <a:t>Record </a:t>
            </a:r>
            <a:r>
              <a:rPr lang="en-AU" sz="3600" kern="1200">
                <a:solidFill>
                  <a:schemeClr val="tx1"/>
                </a:solidFill>
                <a:effectLst/>
                <a:latin typeface="Arial" panose="020B0604020202020204" pitchFamily="34" charset="0"/>
                <a:ea typeface="+mn-ea"/>
                <a:cs typeface="Arial" panose="020B0604020202020204" pitchFamily="34" charset="0"/>
              </a:rPr>
              <a:t>the </a:t>
            </a:r>
            <a:r>
              <a:rPr lang="en-AU" sz="3600" b="1" kern="1200">
                <a:solidFill>
                  <a:schemeClr val="tx1"/>
                </a:solidFill>
                <a:effectLst/>
                <a:latin typeface="Arial" panose="020B0604020202020204" pitchFamily="34" charset="0"/>
                <a:ea typeface="+mn-ea"/>
                <a:cs typeface="Arial" panose="020B0604020202020204" pitchFamily="34" charset="0"/>
              </a:rPr>
              <a:t>outcomes</a:t>
            </a:r>
            <a:r>
              <a:rPr lang="en-AU" sz="3600" kern="1200">
                <a:solidFill>
                  <a:schemeClr val="tx1"/>
                </a:solidFill>
                <a:effectLst/>
                <a:latin typeface="Arial" panose="020B0604020202020204" pitchFamily="34" charset="0"/>
                <a:ea typeface="+mn-ea"/>
                <a:cs typeface="Arial" panose="020B0604020202020204" pitchFamily="34" charset="0"/>
              </a:rPr>
              <a:t> when spinning this spinner. </a:t>
            </a:r>
          </a:p>
        </p:txBody>
      </p:sp>
      <p:pic>
        <p:nvPicPr>
          <p:cNvPr id="8" name="Picture 7" descr="A spinner with 2 red and 2 yellow segments. The chance of landing on yellow compared to red.">
            <a:extLst>
              <a:ext uri="{FF2B5EF4-FFF2-40B4-BE49-F238E27FC236}">
                <a16:creationId xmlns:a16="http://schemas.microsoft.com/office/drawing/2014/main" id="{50BB9060-567C-E95E-EC47-AA248B796B13}"/>
              </a:ext>
            </a:extLst>
          </p:cNvPr>
          <p:cNvPicPr>
            <a:picLocks noChangeAspect="1"/>
          </p:cNvPicPr>
          <p:nvPr/>
        </p:nvPicPr>
        <p:blipFill>
          <a:blip r:embed="rId4">
            <a:extLst>
              <a:ext uri="{28A0092B-C50C-407E-A947-70E740481C1C}">
                <a14:useLocalDpi xmlns:a14="http://schemas.microsoft.com/office/drawing/2010/main" val="0"/>
              </a:ext>
            </a:extLst>
          </a:blip>
          <a:srcRect l="38933" t="51186" r="37673" b="20291"/>
          <a:stretch>
            <a:fillRect/>
          </a:stretch>
        </p:blipFill>
        <p:spPr>
          <a:xfrm>
            <a:off x="4193371" y="2131058"/>
            <a:ext cx="3805258" cy="3359025"/>
          </a:xfrm>
          <a:prstGeom prst="rect">
            <a:avLst/>
          </a:prstGeom>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8847DF2F-9F04-E05E-266F-A3484A34896A}"/>
              </a:ext>
            </a:extLst>
          </p:cNvPr>
          <p:cNvSpPr txBox="1"/>
          <p:nvPr/>
        </p:nvSpPr>
        <p:spPr>
          <a:xfrm>
            <a:off x="348000" y="5768603"/>
            <a:ext cx="11376198" cy="820674"/>
          </a:xfrm>
          <a:prstGeom prst="rect">
            <a:avLst/>
          </a:prstGeom>
          <a:noFill/>
        </p:spPr>
        <p:txBody>
          <a:bodyPr wrap="square">
            <a:spAutoFit/>
          </a:bodyPr>
          <a:lstStyle/>
          <a:p>
            <a:pPr algn="ctr">
              <a:lnSpc>
                <a:spcPct val="150000"/>
              </a:lnSpc>
            </a:pPr>
            <a:r>
              <a:rPr lang="en-AU" sz="3600" b="1" kern="1200">
                <a:solidFill>
                  <a:schemeClr val="tx1"/>
                </a:solidFill>
                <a:effectLst/>
                <a:latin typeface="Arial" panose="020B0604020202020204" pitchFamily="34" charset="0"/>
                <a:ea typeface="+mn-ea"/>
                <a:cs typeface="Arial" panose="020B0604020202020204" pitchFamily="34" charset="0"/>
              </a:rPr>
              <a:t>Communicate </a:t>
            </a:r>
            <a:r>
              <a:rPr lang="en-AU" sz="3600" kern="1200">
                <a:solidFill>
                  <a:schemeClr val="tx1"/>
                </a:solidFill>
                <a:effectLst/>
                <a:latin typeface="Arial" panose="020B0604020202020204" pitchFamily="34" charset="0"/>
                <a:ea typeface="+mn-ea"/>
                <a:cs typeface="Arial" panose="020B0604020202020204" pitchFamily="34" charset="0"/>
              </a:rPr>
              <a:t>your</a:t>
            </a:r>
            <a:r>
              <a:rPr lang="en-AU" sz="3600" b="1" kern="1200">
                <a:solidFill>
                  <a:schemeClr val="tx1"/>
                </a:solidFill>
                <a:effectLst/>
                <a:latin typeface="Arial" panose="020B0604020202020204" pitchFamily="34" charset="0"/>
                <a:ea typeface="+mn-ea"/>
                <a:cs typeface="Arial" panose="020B0604020202020204" pitchFamily="34" charset="0"/>
              </a:rPr>
              <a:t> reasoning.</a:t>
            </a:r>
            <a:endParaRPr lang="en-AU" sz="3600" kern="1200">
              <a:solidFill>
                <a:schemeClr val="tx1"/>
              </a:solidFill>
              <a:effectLst/>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69AD1F6-A5F8-D760-AFCE-B9CF3039E1BA}"/>
              </a:ext>
            </a:extLst>
          </p:cNvPr>
          <p:cNvSpPr txBox="1"/>
          <p:nvPr/>
        </p:nvSpPr>
        <p:spPr>
          <a:xfrm>
            <a:off x="1066800" y="1184223"/>
            <a:ext cx="10058400" cy="1998176"/>
          </a:xfrm>
          <a:prstGeom prst="rect">
            <a:avLst/>
          </a:prstGeom>
          <a:noFill/>
        </p:spPr>
        <p:txBody>
          <a:bodyPr wrap="square">
            <a:spAutoFit/>
          </a:bodyPr>
          <a:lstStyle/>
          <a:p>
            <a:pPr algn="ctr">
              <a:lnSpc>
                <a:spcPct val="150000"/>
              </a:lnSpc>
            </a:pPr>
            <a:r>
              <a:rPr lang="en-AU" sz="4400" b="1" kern="1200">
                <a:solidFill>
                  <a:schemeClr val="tx1"/>
                </a:solidFill>
                <a:effectLst/>
                <a:latin typeface="Arial" panose="020B0604020202020204" pitchFamily="34" charset="0"/>
                <a:ea typeface="+mn-ea"/>
                <a:cs typeface="Arial" panose="020B0604020202020204" pitchFamily="34" charset="0"/>
              </a:rPr>
              <a:t>Record </a:t>
            </a:r>
            <a:r>
              <a:rPr lang="en-AU" sz="4400" kern="1200">
                <a:solidFill>
                  <a:schemeClr val="tx1"/>
                </a:solidFill>
                <a:effectLst/>
                <a:latin typeface="Arial" panose="020B0604020202020204" pitchFamily="34" charset="0"/>
                <a:ea typeface="+mn-ea"/>
                <a:cs typeface="Arial" panose="020B0604020202020204" pitchFamily="34" charset="0"/>
              </a:rPr>
              <a:t>the 4 </a:t>
            </a:r>
            <a:r>
              <a:rPr lang="en-AU" sz="4400" b="1" kern="1200">
                <a:solidFill>
                  <a:schemeClr val="tx1"/>
                </a:solidFill>
                <a:effectLst/>
                <a:latin typeface="Arial" panose="020B0604020202020204" pitchFamily="34" charset="0"/>
                <a:ea typeface="+mn-ea"/>
                <a:cs typeface="Arial" panose="020B0604020202020204" pitchFamily="34" charset="0"/>
              </a:rPr>
              <a:t>related facts </a:t>
            </a:r>
            <a:r>
              <a:rPr lang="en-AU" sz="4400" kern="1200">
                <a:solidFill>
                  <a:schemeClr val="tx1"/>
                </a:solidFill>
                <a:effectLst/>
                <a:latin typeface="Arial" panose="020B0604020202020204" pitchFamily="34" charset="0"/>
                <a:ea typeface="+mn-ea"/>
                <a:cs typeface="Arial" panose="020B0604020202020204" pitchFamily="34" charset="0"/>
              </a:rPr>
              <a:t>for the </a:t>
            </a:r>
            <a:r>
              <a:rPr lang="en-AU" sz="4400" b="1" kern="1200">
                <a:solidFill>
                  <a:schemeClr val="tx1"/>
                </a:solidFill>
                <a:effectLst/>
                <a:latin typeface="Arial" panose="020B0604020202020204" pitchFamily="34" charset="0"/>
                <a:ea typeface="+mn-ea"/>
                <a:cs typeface="Arial" panose="020B0604020202020204" pitchFamily="34" charset="0"/>
              </a:rPr>
              <a:t>array</a:t>
            </a:r>
            <a:r>
              <a:rPr lang="en-AU" sz="4400" kern="1200">
                <a:solidFill>
                  <a:schemeClr val="tx1"/>
                </a:solidFill>
                <a:effectLst/>
                <a:latin typeface="Arial" panose="020B0604020202020204" pitchFamily="34" charset="0"/>
                <a:ea typeface="+mn-ea"/>
                <a:cs typeface="Arial" panose="020B0604020202020204" pitchFamily="34" charset="0"/>
              </a:rPr>
              <a:t> using the symbols </a:t>
            </a:r>
            <a:r>
              <a:rPr lang="en-AU" sz="4400" b="1" kern="1200">
                <a:solidFill>
                  <a:schemeClr val="tx1"/>
                </a:solidFill>
                <a:effectLst/>
                <a:latin typeface="Arial" panose="020B0604020202020204" pitchFamily="34" charset="0"/>
                <a:ea typeface="+mn-ea"/>
                <a:cs typeface="Arial" panose="020B0604020202020204" pitchFamily="34" charset="0"/>
              </a:rPr>
              <a:t>x</a:t>
            </a:r>
            <a:r>
              <a:rPr lang="en-AU" sz="4400" kern="1200">
                <a:solidFill>
                  <a:schemeClr val="tx1"/>
                </a:solidFill>
                <a:effectLst/>
                <a:latin typeface="Arial" panose="020B0604020202020204" pitchFamily="34" charset="0"/>
                <a:ea typeface="+mn-ea"/>
                <a:cs typeface="Arial" panose="020B0604020202020204" pitchFamily="34" charset="0"/>
              </a:rPr>
              <a:t> and </a:t>
            </a:r>
            <a:r>
              <a:rPr lang="en-AU" sz="4400" b="1" kern="1200">
                <a:solidFill>
                  <a:schemeClr val="tx1"/>
                </a:solidFill>
                <a:effectLst/>
                <a:latin typeface="Cambria Math" panose="02040503050406030204" pitchFamily="18" charset="0"/>
                <a:ea typeface="Cambria Math" panose="02040503050406030204" pitchFamily="18" charset="0"/>
                <a:cs typeface="Arial" panose="020B0604020202020204" pitchFamily="34" charset="0"/>
              </a:rPr>
              <a:t>÷</a:t>
            </a:r>
            <a:r>
              <a:rPr lang="en-AU" sz="4400" kern="1200">
                <a:solidFill>
                  <a:schemeClr val="tx1"/>
                </a:solidFill>
                <a:effectLst/>
                <a:latin typeface="Cambria Math" panose="02040503050406030204" pitchFamily="18" charset="0"/>
                <a:ea typeface="Cambria Math" panose="02040503050406030204" pitchFamily="18" charset="0"/>
                <a:cs typeface="Arial" panose="020B0604020202020204" pitchFamily="34" charset="0"/>
              </a:rPr>
              <a:t> .</a:t>
            </a:r>
            <a:endParaRPr lang="en-AU" sz="4400"/>
          </a:p>
        </p:txBody>
      </p:sp>
      <p:grpSp>
        <p:nvGrpSpPr>
          <p:cNvPr id="33" name="Group 32" descr="An array of purple dots, 4 rows of 4.">
            <a:extLst>
              <a:ext uri="{FF2B5EF4-FFF2-40B4-BE49-F238E27FC236}">
                <a16:creationId xmlns:a16="http://schemas.microsoft.com/office/drawing/2014/main" id="{AA275E6D-E416-3568-82CA-60E5849E3697}"/>
              </a:ext>
            </a:extLst>
          </p:cNvPr>
          <p:cNvGrpSpPr/>
          <p:nvPr/>
        </p:nvGrpSpPr>
        <p:grpSpPr>
          <a:xfrm>
            <a:off x="4757140" y="3675602"/>
            <a:ext cx="2344796" cy="2195881"/>
            <a:chOff x="4294296" y="3858620"/>
            <a:chExt cx="2344796" cy="2195881"/>
          </a:xfrm>
        </p:grpSpPr>
        <p:sp>
          <p:nvSpPr>
            <p:cNvPr id="7" name="Oval 6">
              <a:extLst>
                <a:ext uri="{FF2B5EF4-FFF2-40B4-BE49-F238E27FC236}">
                  <a16:creationId xmlns:a16="http://schemas.microsoft.com/office/drawing/2014/main" id="{CF1FB96F-8601-D096-1DC8-1BB8FCDFD470}"/>
                </a:ext>
              </a:extLst>
            </p:cNvPr>
            <p:cNvSpPr/>
            <p:nvPr/>
          </p:nvSpPr>
          <p:spPr>
            <a:xfrm>
              <a:off x="4294296" y="3867102"/>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B7F81D88-B101-4B99-B9B1-48E5189B62B0}"/>
                </a:ext>
              </a:extLst>
            </p:cNvPr>
            <p:cNvSpPr/>
            <p:nvPr/>
          </p:nvSpPr>
          <p:spPr>
            <a:xfrm>
              <a:off x="4917809" y="3864114"/>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E1EFC49A-8E43-2367-D4E9-23DF93796CE1}"/>
                </a:ext>
              </a:extLst>
            </p:cNvPr>
            <p:cNvSpPr/>
            <p:nvPr/>
          </p:nvSpPr>
          <p:spPr>
            <a:xfrm>
              <a:off x="5541322" y="3858620"/>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92A44ABA-F3DD-7CAF-00C4-F7EDE41D44BE}"/>
                </a:ext>
              </a:extLst>
            </p:cNvPr>
            <p:cNvSpPr/>
            <p:nvPr/>
          </p:nvSpPr>
          <p:spPr>
            <a:xfrm>
              <a:off x="6164835" y="3858620"/>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D74AFE78-9982-C378-262C-7436BF79FD7E}"/>
                </a:ext>
              </a:extLst>
            </p:cNvPr>
            <p:cNvSpPr/>
            <p:nvPr/>
          </p:nvSpPr>
          <p:spPr>
            <a:xfrm>
              <a:off x="4294296" y="4425316"/>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D70DACB6-6622-527C-835E-566C13E34E7E}"/>
                </a:ext>
              </a:extLst>
            </p:cNvPr>
            <p:cNvSpPr/>
            <p:nvPr/>
          </p:nvSpPr>
          <p:spPr>
            <a:xfrm>
              <a:off x="4917809" y="4422328"/>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F40C8297-16F8-3ABD-CDD2-FE1E047272A4}"/>
                </a:ext>
              </a:extLst>
            </p:cNvPr>
            <p:cNvSpPr/>
            <p:nvPr/>
          </p:nvSpPr>
          <p:spPr>
            <a:xfrm>
              <a:off x="5541322" y="4416834"/>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43707323-01C8-2B91-96F3-C27CF4D338D7}"/>
                </a:ext>
              </a:extLst>
            </p:cNvPr>
            <p:cNvSpPr/>
            <p:nvPr/>
          </p:nvSpPr>
          <p:spPr>
            <a:xfrm>
              <a:off x="6164835" y="4416834"/>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84311F0D-8FEC-C6ED-3891-BAA70BF25DB8}"/>
                </a:ext>
              </a:extLst>
            </p:cNvPr>
            <p:cNvSpPr/>
            <p:nvPr/>
          </p:nvSpPr>
          <p:spPr>
            <a:xfrm>
              <a:off x="4300553" y="5028287"/>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Oval 25">
              <a:extLst>
                <a:ext uri="{FF2B5EF4-FFF2-40B4-BE49-F238E27FC236}">
                  <a16:creationId xmlns:a16="http://schemas.microsoft.com/office/drawing/2014/main" id="{DD4F0849-3AB7-C2EA-AF92-ADF261A4E458}"/>
                </a:ext>
              </a:extLst>
            </p:cNvPr>
            <p:cNvSpPr/>
            <p:nvPr/>
          </p:nvSpPr>
          <p:spPr>
            <a:xfrm>
              <a:off x="4924066" y="5025299"/>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val 26">
              <a:extLst>
                <a:ext uri="{FF2B5EF4-FFF2-40B4-BE49-F238E27FC236}">
                  <a16:creationId xmlns:a16="http://schemas.microsoft.com/office/drawing/2014/main" id="{8D80B857-9ED0-5E42-1B69-7256156DE6B3}"/>
                </a:ext>
              </a:extLst>
            </p:cNvPr>
            <p:cNvSpPr/>
            <p:nvPr/>
          </p:nvSpPr>
          <p:spPr>
            <a:xfrm>
              <a:off x="5547579" y="5019805"/>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Oval 27">
              <a:extLst>
                <a:ext uri="{FF2B5EF4-FFF2-40B4-BE49-F238E27FC236}">
                  <a16:creationId xmlns:a16="http://schemas.microsoft.com/office/drawing/2014/main" id="{0DB61D00-17F0-37D0-5DB2-2FED934F9D3C}"/>
                </a:ext>
              </a:extLst>
            </p:cNvPr>
            <p:cNvSpPr/>
            <p:nvPr/>
          </p:nvSpPr>
          <p:spPr>
            <a:xfrm>
              <a:off x="6171092" y="5019805"/>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412D7C3C-555A-11CC-F486-1629004C83AC}"/>
                </a:ext>
              </a:extLst>
            </p:cNvPr>
            <p:cNvSpPr/>
            <p:nvPr/>
          </p:nvSpPr>
          <p:spPr>
            <a:xfrm>
              <a:off x="4300553" y="5586501"/>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Oval 29">
              <a:extLst>
                <a:ext uri="{FF2B5EF4-FFF2-40B4-BE49-F238E27FC236}">
                  <a16:creationId xmlns:a16="http://schemas.microsoft.com/office/drawing/2014/main" id="{F68A288B-5B12-724B-2C75-7929CBB118B6}"/>
                </a:ext>
              </a:extLst>
            </p:cNvPr>
            <p:cNvSpPr/>
            <p:nvPr/>
          </p:nvSpPr>
          <p:spPr>
            <a:xfrm>
              <a:off x="4924066" y="5583513"/>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Oval 30">
              <a:extLst>
                <a:ext uri="{FF2B5EF4-FFF2-40B4-BE49-F238E27FC236}">
                  <a16:creationId xmlns:a16="http://schemas.microsoft.com/office/drawing/2014/main" id="{11DE8370-EC39-CD60-07A9-E4DF4137253B}"/>
                </a:ext>
              </a:extLst>
            </p:cNvPr>
            <p:cNvSpPr/>
            <p:nvPr/>
          </p:nvSpPr>
          <p:spPr>
            <a:xfrm>
              <a:off x="5547579" y="5578019"/>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Oval 31">
              <a:extLst>
                <a:ext uri="{FF2B5EF4-FFF2-40B4-BE49-F238E27FC236}">
                  <a16:creationId xmlns:a16="http://schemas.microsoft.com/office/drawing/2014/main" id="{3FEC7AFB-89E3-AE94-66B2-16ACBCE36A93}"/>
                </a:ext>
              </a:extLst>
            </p:cNvPr>
            <p:cNvSpPr/>
            <p:nvPr/>
          </p:nvSpPr>
          <p:spPr>
            <a:xfrm>
              <a:off x="6171092" y="5578019"/>
              <a:ext cx="468000" cy="4680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173BC3D-9C74-09EF-F6E2-D54458E008A0}"/>
              </a:ext>
            </a:extLst>
          </p:cNvPr>
          <p:cNvSpPr txBox="1"/>
          <p:nvPr/>
        </p:nvSpPr>
        <p:spPr>
          <a:xfrm>
            <a:off x="360000" y="1120657"/>
            <a:ext cx="11007970" cy="1824923"/>
          </a:xfrm>
          <a:prstGeom prst="rect">
            <a:avLst/>
          </a:prstGeom>
          <a:noFill/>
        </p:spPr>
        <p:txBody>
          <a:bodyPr wrap="square">
            <a:spAutoFit/>
          </a:bodyPr>
          <a:lstStyle/>
          <a:p>
            <a:pPr algn="ctr">
              <a:lnSpc>
                <a:spcPct val="150000"/>
              </a:lnSpc>
              <a:spcBef>
                <a:spcPts val="1200"/>
              </a:spcBef>
              <a:spcAft>
                <a:spcPts val="600"/>
              </a:spcAft>
            </a:pPr>
            <a:r>
              <a:rPr lang="en-AU" sz="4000" b="1" i="0">
                <a:effectLst/>
              </a:rPr>
              <a:t>Measure</a:t>
            </a:r>
            <a:r>
              <a:rPr lang="en-AU" sz="4000" b="0" i="0">
                <a:effectLst/>
              </a:rPr>
              <a:t> the </a:t>
            </a:r>
            <a:r>
              <a:rPr lang="en-AU" sz="4000" b="1" i="0">
                <a:effectLst/>
              </a:rPr>
              <a:t>length</a:t>
            </a:r>
            <a:r>
              <a:rPr lang="en-AU" sz="4000" b="0" i="0">
                <a:effectLst/>
              </a:rPr>
              <a:t> of the pencil in </a:t>
            </a:r>
            <a:r>
              <a:rPr lang="en-AU" sz="4000" b="1" i="0">
                <a:effectLst/>
              </a:rPr>
              <a:t>millimetres</a:t>
            </a:r>
            <a:r>
              <a:rPr lang="en-AU" sz="4000" b="0" i="0">
                <a:effectLst/>
              </a:rPr>
              <a:t>.</a:t>
            </a:r>
          </a:p>
        </p:txBody>
      </p:sp>
      <p:pic>
        <p:nvPicPr>
          <p:cNvPr id="9" name="Picture 8" descr="A 20 centimetre ruler with millimetre markings. A pencil is lined up against the ruler.">
            <a:extLst>
              <a:ext uri="{FF2B5EF4-FFF2-40B4-BE49-F238E27FC236}">
                <a16:creationId xmlns:a16="http://schemas.microsoft.com/office/drawing/2014/main" id="{F93DA0FB-5991-DC18-C737-5C1EE791722A}"/>
              </a:ext>
            </a:extLst>
          </p:cNvPr>
          <p:cNvPicPr>
            <a:picLocks noChangeAspect="1"/>
          </p:cNvPicPr>
          <p:nvPr/>
        </p:nvPicPr>
        <p:blipFill>
          <a:blip r:embed="rId4"/>
          <a:srcRect l="13857" t="38482" r="6960" b="36424"/>
          <a:stretch>
            <a:fillRect/>
          </a:stretch>
        </p:blipFill>
        <p:spPr>
          <a:xfrm>
            <a:off x="2022900" y="3429000"/>
            <a:ext cx="8146199" cy="1824923"/>
          </a:xfrm>
          <a:prstGeom prst="rect">
            <a:avLst/>
          </a:prstGeom>
        </p:spPr>
      </p:pic>
      <p:sp>
        <p:nvSpPr>
          <p:cNvPr id="10" name="TextBox 9">
            <a:extLst>
              <a:ext uri="{FF2B5EF4-FFF2-40B4-BE49-F238E27FC236}">
                <a16:creationId xmlns:a16="http://schemas.microsoft.com/office/drawing/2014/main" id="{AAB27366-71D9-A95E-59F7-D09BF8718495}"/>
              </a:ext>
            </a:extLst>
          </p:cNvPr>
          <p:cNvSpPr txBox="1"/>
          <p:nvPr/>
        </p:nvSpPr>
        <p:spPr>
          <a:xfrm>
            <a:off x="407900" y="5677326"/>
            <a:ext cx="11376198" cy="820674"/>
          </a:xfrm>
          <a:prstGeom prst="rect">
            <a:avLst/>
          </a:prstGeom>
          <a:noFill/>
        </p:spPr>
        <p:txBody>
          <a:bodyPr wrap="square">
            <a:spAutoFit/>
          </a:bodyPr>
          <a:lstStyle/>
          <a:p>
            <a:pPr algn="ctr">
              <a:lnSpc>
                <a:spcPct val="150000"/>
              </a:lnSpc>
            </a:pPr>
            <a:r>
              <a:rPr lang="en-AU" sz="3600" b="1" kern="1200">
                <a:solidFill>
                  <a:schemeClr val="tx1"/>
                </a:solidFill>
                <a:effectLst/>
                <a:latin typeface="Arial" panose="020B0604020202020204" pitchFamily="34" charset="0"/>
                <a:ea typeface="+mn-ea"/>
                <a:cs typeface="Arial" panose="020B0604020202020204" pitchFamily="34" charset="0"/>
              </a:rPr>
              <a:t>Communicate </a:t>
            </a:r>
            <a:r>
              <a:rPr lang="en-AU" sz="3600" kern="1200">
                <a:solidFill>
                  <a:schemeClr val="tx1"/>
                </a:solidFill>
                <a:effectLst/>
                <a:latin typeface="Arial" panose="020B0604020202020204" pitchFamily="34" charset="0"/>
                <a:ea typeface="+mn-ea"/>
                <a:cs typeface="Arial" panose="020B0604020202020204" pitchFamily="34" charset="0"/>
              </a:rPr>
              <a:t>your</a:t>
            </a:r>
            <a:r>
              <a:rPr lang="en-AU" sz="3600" b="1" kern="1200">
                <a:solidFill>
                  <a:schemeClr val="tx1"/>
                </a:solidFill>
                <a:effectLst/>
                <a:latin typeface="Arial" panose="020B0604020202020204" pitchFamily="34" charset="0"/>
                <a:ea typeface="+mn-ea"/>
                <a:cs typeface="Arial" panose="020B0604020202020204" pitchFamily="34" charset="0"/>
              </a:rPr>
              <a:t> reasoning.</a:t>
            </a:r>
            <a:endParaRPr lang="en-AU" sz="3600" kern="1200">
              <a:solidFill>
                <a:schemeClr val="tx1"/>
              </a:solidFill>
              <a:effectLst/>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partitioning numbers in non-standard forms</a:t>
            </a:r>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extBox 2">
            <a:extLst>
              <a:ext uri="{FF2B5EF4-FFF2-40B4-BE49-F238E27FC236}">
                <a16:creationId xmlns:a16="http://schemas.microsoft.com/office/drawing/2014/main" id="{4DFE4BFB-3C0B-DE2A-5979-554C0CFFDE9C}"/>
              </a:ext>
            </a:extLst>
          </p:cNvPr>
          <p:cNvSpPr txBox="1"/>
          <p:nvPr/>
        </p:nvSpPr>
        <p:spPr>
          <a:xfrm>
            <a:off x="392695" y="1548714"/>
            <a:ext cx="10764000" cy="856364"/>
          </a:xfrm>
          <a:prstGeom prst="rect">
            <a:avLst/>
          </a:prstGeom>
          <a:noFill/>
        </p:spPr>
        <p:txBody>
          <a:bodyPr wrap="square" lIns="0" tIns="0" rIns="0" bIns="0" rtlCol="0">
            <a:noAutofit/>
          </a:bodyPr>
          <a:lstStyle/>
          <a:p>
            <a:pPr algn="ctr"/>
            <a:r>
              <a:rPr lang="en-AU" sz="4000">
                <a:latin typeface="Arial" panose="020B0604020202020204" pitchFamily="34" charset="0"/>
                <a:cs typeface="Arial" panose="020B0604020202020204" pitchFamily="34" charset="0"/>
              </a:rPr>
              <a:t>State the </a:t>
            </a:r>
            <a:r>
              <a:rPr lang="en-AU" sz="4000" b="1">
                <a:latin typeface="Arial" panose="020B0604020202020204" pitchFamily="34" charset="0"/>
                <a:cs typeface="Arial" panose="020B0604020202020204" pitchFamily="34" charset="0"/>
              </a:rPr>
              <a:t>place value </a:t>
            </a:r>
            <a:r>
              <a:rPr lang="en-AU" sz="4000">
                <a:latin typeface="Arial" panose="020B0604020202020204" pitchFamily="34" charset="0"/>
                <a:cs typeface="Arial" panose="020B0604020202020204" pitchFamily="34" charset="0"/>
              </a:rPr>
              <a:t>of each </a:t>
            </a:r>
            <a:r>
              <a:rPr lang="en-AU" sz="4000" b="1">
                <a:latin typeface="Arial" panose="020B0604020202020204" pitchFamily="34" charset="0"/>
                <a:cs typeface="Arial" panose="020B0604020202020204" pitchFamily="34" charset="0"/>
              </a:rPr>
              <a:t>digit</a:t>
            </a:r>
            <a:r>
              <a:rPr lang="en-AU" sz="4000">
                <a:latin typeface="Arial" panose="020B0604020202020204" pitchFamily="34" charset="0"/>
                <a:cs typeface="Arial" panose="020B0604020202020204" pitchFamily="34" charset="0"/>
              </a:rPr>
              <a:t>.</a:t>
            </a:r>
          </a:p>
        </p:txBody>
      </p:sp>
      <p:sp>
        <p:nvSpPr>
          <p:cNvPr id="8" name="Rectangle: Rounded Corners 7">
            <a:extLst>
              <a:ext uri="{FF2B5EF4-FFF2-40B4-BE49-F238E27FC236}">
                <a16:creationId xmlns:a16="http://schemas.microsoft.com/office/drawing/2014/main" id="{A400D028-F9AB-F619-04C3-1B895828AA01}"/>
              </a:ext>
            </a:extLst>
          </p:cNvPr>
          <p:cNvSpPr/>
          <p:nvPr/>
        </p:nvSpPr>
        <p:spPr>
          <a:xfrm>
            <a:off x="4608265" y="2603626"/>
            <a:ext cx="2332859" cy="1102381"/>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b="1" spc="300">
                <a:solidFill>
                  <a:schemeClr val="accent1"/>
                </a:solidFill>
              </a:rPr>
              <a:t>3517</a:t>
            </a:r>
          </a:p>
        </p:txBody>
      </p:sp>
      <p:sp>
        <p:nvSpPr>
          <p:cNvPr id="9" name="TextBox 8">
            <a:extLst>
              <a:ext uri="{FF2B5EF4-FFF2-40B4-BE49-F238E27FC236}">
                <a16:creationId xmlns:a16="http://schemas.microsoft.com/office/drawing/2014/main" id="{6CFB3BA1-8294-8330-A2B0-67A13453CD84}"/>
              </a:ext>
            </a:extLst>
          </p:cNvPr>
          <p:cNvSpPr txBox="1"/>
          <p:nvPr/>
        </p:nvSpPr>
        <p:spPr>
          <a:xfrm>
            <a:off x="360000" y="3904556"/>
            <a:ext cx="10764000" cy="856364"/>
          </a:xfrm>
          <a:prstGeom prst="rect">
            <a:avLst/>
          </a:prstGeom>
          <a:noFill/>
        </p:spPr>
        <p:txBody>
          <a:bodyPr wrap="square" lIns="0" tIns="0" rIns="0" bIns="0" rtlCol="0">
            <a:noAutofit/>
          </a:bodyPr>
          <a:lstStyle/>
          <a:p>
            <a:pPr algn="ctr">
              <a:lnSpc>
                <a:spcPct val="150000"/>
              </a:lnSpc>
            </a:pPr>
            <a:r>
              <a:rPr lang="en-AU" sz="4000">
                <a:latin typeface="Arial" panose="020B0604020202020204" pitchFamily="34" charset="0"/>
                <a:cs typeface="Arial" panose="020B0604020202020204" pitchFamily="34" charset="0"/>
              </a:rPr>
              <a:t>Can you </a:t>
            </a:r>
            <a:r>
              <a:rPr lang="en-AU" sz="4000" b="1">
                <a:latin typeface="Arial" panose="020B0604020202020204" pitchFamily="34" charset="0"/>
                <a:cs typeface="Arial" panose="020B0604020202020204" pitchFamily="34" charset="0"/>
              </a:rPr>
              <a:t>partition</a:t>
            </a:r>
            <a:r>
              <a:rPr lang="en-AU" sz="4000">
                <a:latin typeface="Arial" panose="020B0604020202020204" pitchFamily="34" charset="0"/>
                <a:cs typeface="Arial" panose="020B0604020202020204" pitchFamily="34" charset="0"/>
              </a:rPr>
              <a:t> this number:</a:t>
            </a:r>
            <a:endParaRPr lang="en-AU" sz="4000" u="sng">
              <a:latin typeface="Arial" panose="020B0604020202020204" pitchFamily="34" charset="0"/>
              <a:cs typeface="Arial" panose="020B0604020202020204" pitchFamily="34" charset="0"/>
            </a:endParaRPr>
          </a:p>
          <a:p>
            <a:pPr marL="571500" indent="-571500" algn="ctr">
              <a:lnSpc>
                <a:spcPct val="150000"/>
              </a:lnSpc>
              <a:buFontTx/>
              <a:buChar char="-"/>
            </a:pPr>
            <a:r>
              <a:rPr lang="en-AU" sz="4000" i="1" u="sng">
                <a:latin typeface="Arial" panose="020B0604020202020204" pitchFamily="34" charset="0"/>
                <a:cs typeface="Arial" panose="020B0604020202020204" pitchFamily="34" charset="0"/>
              </a:rPr>
              <a:t>without</a:t>
            </a:r>
            <a:r>
              <a:rPr lang="en-AU" sz="4000">
                <a:latin typeface="Arial" panose="020B0604020202020204" pitchFamily="34" charset="0"/>
                <a:cs typeface="Arial" panose="020B0604020202020204" pitchFamily="34" charset="0"/>
              </a:rPr>
              <a:t> using </a:t>
            </a:r>
            <a:r>
              <a:rPr lang="en-AU" sz="4000" b="1">
                <a:latin typeface="Arial" panose="020B0604020202020204" pitchFamily="34" charset="0"/>
                <a:cs typeface="Arial" panose="020B0604020202020204" pitchFamily="34" charset="0"/>
              </a:rPr>
              <a:t>tens</a:t>
            </a:r>
            <a:r>
              <a:rPr lang="en-AU" sz="4000">
                <a:latin typeface="Arial" panose="020B0604020202020204" pitchFamily="34" charset="0"/>
                <a:cs typeface="Arial" panose="020B0604020202020204" pitchFamily="34" charset="0"/>
              </a:rPr>
              <a:t> </a:t>
            </a:r>
          </a:p>
          <a:p>
            <a:pPr marL="571500" indent="-571500" algn="ctr">
              <a:lnSpc>
                <a:spcPct val="150000"/>
              </a:lnSpc>
              <a:buFontTx/>
              <a:buChar char="-"/>
            </a:pPr>
            <a:r>
              <a:rPr lang="en-AU" sz="4000" i="1" u="sng">
                <a:latin typeface="Arial" panose="020B0604020202020204" pitchFamily="34" charset="0"/>
                <a:cs typeface="Arial" panose="020B0604020202020204" pitchFamily="34" charset="0"/>
              </a:rPr>
              <a:t>without</a:t>
            </a:r>
            <a:r>
              <a:rPr lang="en-AU" sz="4000">
                <a:latin typeface="Arial" panose="020B0604020202020204" pitchFamily="34" charset="0"/>
                <a:cs typeface="Arial" panose="020B0604020202020204" pitchFamily="34" charset="0"/>
              </a:rPr>
              <a:t> using </a:t>
            </a:r>
            <a:r>
              <a:rPr lang="en-AU" sz="4000" b="1">
                <a:latin typeface="Arial" panose="020B0604020202020204" pitchFamily="34" charset="0"/>
                <a:cs typeface="Arial" panose="020B0604020202020204" pitchFamily="34" charset="0"/>
              </a:rPr>
              <a:t>hundreds</a:t>
            </a:r>
            <a:r>
              <a:rPr lang="en-AU" sz="40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9E6DEC87-1992-0ACF-8BBC-408DC4F8B515}"/>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54000" y="1184019"/>
            <a:ext cx="11484000" cy="754243"/>
          </a:xfrm>
        </p:spPr>
        <p:txBody>
          <a:bodyPr/>
          <a:lstStyle/>
          <a:p>
            <a:r>
              <a:rPr lang="en-US" sz="3600"/>
              <a:t>Which of these show 6724 </a:t>
            </a:r>
            <a:r>
              <a:rPr lang="en-US" sz="3600" b="1"/>
              <a:t>partitioned</a:t>
            </a:r>
            <a:r>
              <a:rPr lang="en-US" sz="3600"/>
              <a:t> in </a:t>
            </a:r>
            <a:r>
              <a:rPr lang="en-US" sz="3600" b="1"/>
              <a:t>non-standard</a:t>
            </a:r>
            <a:r>
              <a:rPr lang="en-US" sz="3600"/>
              <a:t> forms? You may select more than one answer</a:t>
            </a:r>
          </a:p>
          <a:p>
            <a:endParaRPr lang="en-US" sz="4400"/>
          </a:p>
        </p:txBody>
      </p:sp>
      <p:sp>
        <p:nvSpPr>
          <p:cNvPr id="9" name="B">
            <a:extLst>
              <a:ext uri="{FF2B5EF4-FFF2-40B4-BE49-F238E27FC236}">
                <a16:creationId xmlns:a16="http://schemas.microsoft.com/office/drawing/2014/main" id="{C9B406B5-1B1B-BC84-2596-01F05852F38E}"/>
              </a:ext>
            </a:extLst>
          </p:cNvPr>
          <p:cNvSpPr txBox="1"/>
          <p:nvPr/>
        </p:nvSpPr>
        <p:spPr>
          <a:xfrm>
            <a:off x="628996" y="306183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03956" y="3094728"/>
            <a:ext cx="10175920" cy="641396"/>
          </a:xfrm>
        </p:spPr>
        <p:txBody>
          <a:bodyPr anchor="ctr"/>
          <a:lstStyle/>
          <a:p>
            <a:r>
              <a:rPr lang="en-US" sz="3200"/>
              <a:t>6000 + 700 + 20 + 4</a:t>
            </a:r>
          </a:p>
        </p:txBody>
      </p:sp>
      <p:sp>
        <p:nvSpPr>
          <p:cNvPr id="10" name="B">
            <a:extLst>
              <a:ext uri="{FF2B5EF4-FFF2-40B4-BE49-F238E27FC236}">
                <a16:creationId xmlns:a16="http://schemas.microsoft.com/office/drawing/2014/main" id="{E50622FB-E2C3-695B-EB8A-A6DCC20CB21A}"/>
              </a:ext>
            </a:extLst>
          </p:cNvPr>
          <p:cNvSpPr txBox="1"/>
          <p:nvPr/>
        </p:nvSpPr>
        <p:spPr>
          <a:xfrm>
            <a:off x="628995" y="397721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03956" y="3962781"/>
            <a:ext cx="10175920" cy="641396"/>
          </a:xfrm>
        </p:spPr>
        <p:txBody>
          <a:bodyPr anchor="ctr"/>
          <a:lstStyle/>
          <a:p>
            <a:r>
              <a:rPr lang="en-US" sz="3200"/>
              <a:t>6 thousands, 7 hundreds, 2 tens and 4 ones</a:t>
            </a:r>
          </a:p>
        </p:txBody>
      </p:sp>
      <p:sp>
        <p:nvSpPr>
          <p:cNvPr id="12" name="C">
            <a:extLst>
              <a:ext uri="{FF2B5EF4-FFF2-40B4-BE49-F238E27FC236}">
                <a16:creationId xmlns:a16="http://schemas.microsoft.com/office/drawing/2014/main" id="{0C258EAC-2959-18FA-F510-CFBA4E15CEE5}"/>
              </a:ext>
            </a:extLst>
          </p:cNvPr>
          <p:cNvSpPr txBox="1"/>
          <p:nvPr/>
        </p:nvSpPr>
        <p:spPr>
          <a:xfrm>
            <a:off x="628994" y="489259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03956" y="4841943"/>
            <a:ext cx="10175920" cy="641396"/>
          </a:xfrm>
        </p:spPr>
        <p:txBody>
          <a:bodyPr anchor="ctr"/>
          <a:lstStyle/>
          <a:p>
            <a:r>
              <a:rPr lang="en-US" sz="3200"/>
              <a:t>67 hundreds and 24 ones</a:t>
            </a:r>
          </a:p>
        </p:txBody>
      </p:sp>
      <p:sp>
        <p:nvSpPr>
          <p:cNvPr id="11" name="D">
            <a:extLst>
              <a:ext uri="{FF2B5EF4-FFF2-40B4-BE49-F238E27FC236}">
                <a16:creationId xmlns:a16="http://schemas.microsoft.com/office/drawing/2014/main" id="{14776889-F079-73F7-28AB-FA54A997A57B}"/>
              </a:ext>
            </a:extLst>
          </p:cNvPr>
          <p:cNvSpPr txBox="1"/>
          <p:nvPr/>
        </p:nvSpPr>
        <p:spPr>
          <a:xfrm>
            <a:off x="628993" y="58079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03956" y="5856604"/>
            <a:ext cx="10175920" cy="641396"/>
          </a:xfrm>
        </p:spPr>
        <p:txBody>
          <a:bodyPr anchor="ctr"/>
          <a:lstStyle/>
          <a:p>
            <a:r>
              <a:rPr lang="en-US" sz="3200"/>
              <a:t>600 + 70 + 20 + 4</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0719A43D-7DC0-57D9-7617-E70BB13E66FB}"/>
              </a:ext>
            </a:extLst>
          </p:cNvPr>
          <p:cNvSpPr txBox="1"/>
          <p:nvPr/>
        </p:nvSpPr>
        <p:spPr>
          <a:xfrm>
            <a:off x="466724" y="882899"/>
            <a:ext cx="10887075" cy="1824923"/>
          </a:xfrm>
          <a:prstGeom prst="rect">
            <a:avLst/>
          </a:prstGeom>
          <a:noFill/>
        </p:spPr>
        <p:txBody>
          <a:bodyPr wrap="square">
            <a:spAutoFit/>
          </a:bodyPr>
          <a:lstStyle/>
          <a:p>
            <a:pPr algn="ctr">
              <a:lnSpc>
                <a:spcPct val="150000"/>
              </a:lnSpc>
            </a:pPr>
            <a:r>
              <a:rPr lang="en-AU" sz="4000" b="1"/>
              <a:t>Record</a:t>
            </a:r>
            <a:r>
              <a:rPr lang="en-AU" sz="4000" kern="1200">
                <a:solidFill>
                  <a:schemeClr val="tx1"/>
                </a:solidFill>
                <a:effectLst/>
              </a:rPr>
              <a:t> which container holds </a:t>
            </a:r>
            <a:r>
              <a:rPr lang="en-AU" sz="4000" b="1" kern="1200">
                <a:solidFill>
                  <a:schemeClr val="tx1"/>
                </a:solidFill>
                <a:effectLst/>
              </a:rPr>
              <a:t>more</a:t>
            </a:r>
            <a:r>
              <a:rPr lang="en-AU" sz="4000" kern="1200">
                <a:solidFill>
                  <a:schemeClr val="tx1"/>
                </a:solidFill>
                <a:effectLst/>
              </a:rPr>
              <a:t>, </a:t>
            </a:r>
            <a:r>
              <a:rPr lang="en-AU" sz="4000" b="1" kern="1200">
                <a:solidFill>
                  <a:schemeClr val="tx1"/>
                </a:solidFill>
                <a:effectLst/>
              </a:rPr>
              <a:t>less</a:t>
            </a:r>
            <a:r>
              <a:rPr lang="en-AU" sz="4000" kern="1200">
                <a:solidFill>
                  <a:schemeClr val="tx1"/>
                </a:solidFill>
                <a:effectLst/>
              </a:rPr>
              <a:t> and </a:t>
            </a:r>
            <a:r>
              <a:rPr lang="en-AU" sz="4000" b="1" kern="1200">
                <a:solidFill>
                  <a:schemeClr val="tx1"/>
                </a:solidFill>
                <a:effectLst/>
              </a:rPr>
              <a:t>about the same </a:t>
            </a:r>
            <a:r>
              <a:rPr lang="en-AU" sz="4000" kern="1200">
                <a:solidFill>
                  <a:schemeClr val="tx1"/>
                </a:solidFill>
                <a:effectLst/>
              </a:rPr>
              <a:t>as </a:t>
            </a:r>
            <a:r>
              <a:rPr lang="en-AU" sz="4000" b="1" kern="1200">
                <a:solidFill>
                  <a:schemeClr val="tx1"/>
                </a:solidFill>
                <a:effectLst/>
              </a:rPr>
              <a:t>one litre.</a:t>
            </a:r>
            <a:endParaRPr lang="en-AU" sz="4000" b="1"/>
          </a:p>
        </p:txBody>
      </p:sp>
      <p:sp>
        <p:nvSpPr>
          <p:cNvPr id="13" name="Freeform 2" descr="A juice box.">
            <a:extLst>
              <a:ext uri="{FF2B5EF4-FFF2-40B4-BE49-F238E27FC236}">
                <a16:creationId xmlns:a16="http://schemas.microsoft.com/office/drawing/2014/main" id="{710EBAE1-525D-1070-EFC3-5ECEE47C92A5}"/>
              </a:ext>
            </a:extLst>
          </p:cNvPr>
          <p:cNvSpPr>
            <a:spLocks noChangeAspect="1"/>
          </p:cNvSpPr>
          <p:nvPr/>
        </p:nvSpPr>
        <p:spPr>
          <a:xfrm>
            <a:off x="2444603" y="3321998"/>
            <a:ext cx="1280795" cy="2382872"/>
          </a:xfrm>
          <a:custGeom>
            <a:avLst/>
            <a:gdLst/>
            <a:ahLst/>
            <a:cxnLst/>
            <a:rect l="l" t="t" r="r" b="b"/>
            <a:pathLst>
              <a:path w="1599351" h="2975536">
                <a:moveTo>
                  <a:pt x="0" y="0"/>
                </a:moveTo>
                <a:lnTo>
                  <a:pt x="1599351" y="0"/>
                </a:lnTo>
                <a:lnTo>
                  <a:pt x="1599351" y="2975536"/>
                </a:lnTo>
                <a:lnTo>
                  <a:pt x="0" y="2975536"/>
                </a:lnTo>
                <a:lnTo>
                  <a:pt x="0" y="0"/>
                </a:lnTo>
                <a:close/>
              </a:path>
            </a:pathLst>
          </a:custGeom>
          <a:blipFill>
            <a:blip r:embed="rId4"/>
            <a:stretch>
              <a:fillRect/>
            </a:stretch>
          </a:blipFill>
        </p:spPr>
        <p:txBody>
          <a:bodyPr/>
          <a:lstStyle/>
          <a:p>
            <a:endParaRPr lang="en-AU"/>
          </a:p>
        </p:txBody>
      </p:sp>
      <p:sp>
        <p:nvSpPr>
          <p:cNvPr id="5" name="Freeform 2" descr="An image of a milk carton.">
            <a:extLst>
              <a:ext uri="{FF2B5EF4-FFF2-40B4-BE49-F238E27FC236}">
                <a16:creationId xmlns:a16="http://schemas.microsoft.com/office/drawing/2014/main" id="{CEDC4152-BAA6-29D3-31EA-B35DA2026633}"/>
              </a:ext>
            </a:extLst>
          </p:cNvPr>
          <p:cNvSpPr/>
          <p:nvPr/>
        </p:nvSpPr>
        <p:spPr>
          <a:xfrm>
            <a:off x="5543634" y="2770581"/>
            <a:ext cx="2021226" cy="3104974"/>
          </a:xfrm>
          <a:custGeom>
            <a:avLst/>
            <a:gdLst/>
            <a:ahLst/>
            <a:cxnLst/>
            <a:rect l="l" t="t" r="r" b="b"/>
            <a:pathLst>
              <a:path w="3863840" h="5134671">
                <a:moveTo>
                  <a:pt x="0" y="0"/>
                </a:moveTo>
                <a:lnTo>
                  <a:pt x="3863839" y="0"/>
                </a:lnTo>
                <a:lnTo>
                  <a:pt x="3863839" y="5134671"/>
                </a:lnTo>
                <a:lnTo>
                  <a:pt x="0" y="5134671"/>
                </a:lnTo>
                <a:lnTo>
                  <a:pt x="0" y="0"/>
                </a:lnTo>
                <a:close/>
              </a:path>
            </a:pathLst>
          </a:custGeom>
          <a:blipFill>
            <a:blip r:embed="rId5"/>
            <a:stretch>
              <a:fillRect/>
            </a:stretch>
          </a:blipFill>
        </p:spPr>
        <p:txBody>
          <a:bodyPr/>
          <a:lstStyle/>
          <a:p>
            <a:endParaRPr lang="en-AU"/>
          </a:p>
        </p:txBody>
      </p:sp>
      <p:sp>
        <p:nvSpPr>
          <p:cNvPr id="15" name="Freeform 3" descr="A soda bottle">
            <a:extLst>
              <a:ext uri="{FF2B5EF4-FFF2-40B4-BE49-F238E27FC236}">
                <a16:creationId xmlns:a16="http://schemas.microsoft.com/office/drawing/2014/main" id="{E8C3239C-4996-CA9D-41E2-C37C2DCD67AE}"/>
              </a:ext>
            </a:extLst>
          </p:cNvPr>
          <p:cNvSpPr>
            <a:spLocks noChangeAspect="1"/>
          </p:cNvSpPr>
          <p:nvPr/>
        </p:nvSpPr>
        <p:spPr>
          <a:xfrm>
            <a:off x="9777525" y="2698478"/>
            <a:ext cx="934783" cy="3103014"/>
          </a:xfrm>
          <a:custGeom>
            <a:avLst/>
            <a:gdLst/>
            <a:ahLst/>
            <a:cxnLst/>
            <a:rect l="l" t="t" r="r" b="b"/>
            <a:pathLst>
              <a:path w="1666221" h="5531026">
                <a:moveTo>
                  <a:pt x="0" y="0"/>
                </a:moveTo>
                <a:lnTo>
                  <a:pt x="1666221" y="0"/>
                </a:lnTo>
                <a:lnTo>
                  <a:pt x="1666221" y="5531026"/>
                </a:lnTo>
                <a:lnTo>
                  <a:pt x="0" y="5531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2" name="TextBox 11">
            <a:extLst>
              <a:ext uri="{FF2B5EF4-FFF2-40B4-BE49-F238E27FC236}">
                <a16:creationId xmlns:a16="http://schemas.microsoft.com/office/drawing/2014/main" id="{E6DDA088-7D36-C5F9-8484-77B0C040D052}"/>
              </a:ext>
            </a:extLst>
          </p:cNvPr>
          <p:cNvSpPr txBox="1"/>
          <p:nvPr/>
        </p:nvSpPr>
        <p:spPr>
          <a:xfrm>
            <a:off x="1947079" y="5898114"/>
            <a:ext cx="8297838" cy="707886"/>
          </a:xfrm>
          <a:prstGeom prst="rect">
            <a:avLst/>
          </a:prstGeom>
          <a:noFill/>
        </p:spPr>
        <p:txBody>
          <a:bodyPr wrap="square">
            <a:spAutoFit/>
          </a:body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3E11721-1217-57E5-B8A0-31ED9A850B5E}"/>
              </a:ext>
            </a:extLst>
          </p:cNvPr>
          <p:cNvSpPr txBox="1"/>
          <p:nvPr/>
        </p:nvSpPr>
        <p:spPr>
          <a:xfrm>
            <a:off x="213957" y="1009674"/>
            <a:ext cx="6469778" cy="4975657"/>
          </a:xfrm>
          <a:prstGeom prst="rect">
            <a:avLst/>
          </a:prstGeom>
          <a:noFill/>
        </p:spPr>
        <p:txBody>
          <a:bodyPr wrap="square" lIns="91440" tIns="45720" rIns="91440" bIns="45720" anchor="t">
            <a:spAutoFit/>
          </a:bodyPr>
          <a:lstStyle/>
          <a:p>
            <a:pPr>
              <a:lnSpc>
                <a:spcPct val="150000"/>
              </a:lnSpc>
            </a:pPr>
            <a:r>
              <a:rPr lang="en-AU" sz="3600">
                <a:latin typeface="Arial"/>
                <a:cs typeface="Arial"/>
              </a:rPr>
              <a:t>If I draw out 1 marble:</a:t>
            </a:r>
          </a:p>
          <a:p>
            <a:pPr marL="571500" indent="-571500">
              <a:lnSpc>
                <a:spcPct val="150000"/>
              </a:lnSpc>
              <a:buFont typeface="Arial" panose="05000000000000000000" pitchFamily="2" charset="2"/>
              <a:buChar char="•"/>
            </a:pPr>
            <a:r>
              <a:rPr lang="en-AU" sz="3600">
                <a:latin typeface="Arial"/>
                <a:cs typeface="Arial"/>
              </a:rPr>
              <a:t> Which</a:t>
            </a:r>
            <a:r>
              <a:rPr lang="en-AU" sz="3600" kern="1200">
                <a:effectLst/>
                <a:latin typeface="Arial"/>
                <a:cs typeface="Arial"/>
              </a:rPr>
              <a:t> colour do you predict is </a:t>
            </a:r>
            <a:r>
              <a:rPr lang="en-AU" sz="3600" b="1" kern="1200">
                <a:effectLst/>
                <a:latin typeface="Arial"/>
                <a:cs typeface="Arial"/>
              </a:rPr>
              <a:t>most likely </a:t>
            </a:r>
            <a:r>
              <a:rPr lang="en-AU" sz="3600" kern="1200">
                <a:effectLst/>
                <a:latin typeface="Arial"/>
                <a:cs typeface="Arial"/>
              </a:rPr>
              <a:t>to be drawn?</a:t>
            </a:r>
            <a:endParaRPr lang="en-US">
              <a:cs typeface="Arial"/>
            </a:endParaRPr>
          </a:p>
          <a:p>
            <a:pPr marL="571500" indent="-571500">
              <a:lnSpc>
                <a:spcPct val="150000"/>
              </a:lnSpc>
              <a:buFont typeface="Arial" panose="05000000000000000000" pitchFamily="2" charset="2"/>
              <a:buChar char="•"/>
            </a:pPr>
            <a:r>
              <a:rPr lang="en-AU" sz="3600">
                <a:latin typeface="Arial" panose="020B0604020202020204" pitchFamily="34" charset="0"/>
                <a:cs typeface="Arial" panose="020B0604020202020204" pitchFamily="34" charset="0"/>
              </a:rPr>
              <a:t>Which colour do you predict is </a:t>
            </a:r>
            <a:r>
              <a:rPr lang="en-AU" sz="3600" b="1">
                <a:latin typeface="Arial" panose="020B0604020202020204" pitchFamily="34" charset="0"/>
                <a:cs typeface="Arial" panose="020B0604020202020204" pitchFamily="34" charset="0"/>
              </a:rPr>
              <a:t>least likely </a:t>
            </a:r>
            <a:r>
              <a:rPr lang="en-AU" sz="3600">
                <a:latin typeface="Arial" panose="020B0604020202020204" pitchFamily="34" charset="0"/>
                <a:cs typeface="Arial" panose="020B0604020202020204" pitchFamily="34" charset="0"/>
              </a:rPr>
              <a:t>to be drawn?</a:t>
            </a:r>
            <a:endParaRPr lang="en-AU" sz="3600" kern="1200">
              <a:solidFill>
                <a:schemeClr val="tx1"/>
              </a:solidFill>
              <a:effectLst/>
              <a:latin typeface="Arial" panose="020B0604020202020204" pitchFamily="34" charset="0"/>
              <a:cs typeface="Arial" panose="020B0604020202020204" pitchFamily="34" charset="0"/>
            </a:endParaRPr>
          </a:p>
        </p:txBody>
      </p:sp>
      <p:pic>
        <p:nvPicPr>
          <p:cNvPr id="5" name="Picture 4" descr="A bag of marbles containing 3 blue marbles, 7 red marbles and 10 yellow marbles">
            <a:extLst>
              <a:ext uri="{FF2B5EF4-FFF2-40B4-BE49-F238E27FC236}">
                <a16:creationId xmlns:a16="http://schemas.microsoft.com/office/drawing/2014/main" id="{36739250-B03B-ABC0-477C-6CEBFADA172E}"/>
              </a:ext>
            </a:extLst>
          </p:cNvPr>
          <p:cNvPicPr>
            <a:picLocks noChangeAspect="1"/>
          </p:cNvPicPr>
          <p:nvPr/>
        </p:nvPicPr>
        <p:blipFill>
          <a:blip r:embed="rId4"/>
          <a:srcRect l="21639" t="17267" r="34345" b="11927"/>
          <a:stretch>
            <a:fillRect/>
          </a:stretch>
        </p:blipFill>
        <p:spPr>
          <a:xfrm>
            <a:off x="6683735" y="872669"/>
            <a:ext cx="4384084" cy="5090148"/>
          </a:xfrm>
          <a:prstGeom prst="rect">
            <a:avLst/>
          </a:prstGeom>
          <a:effectLst/>
        </p:spPr>
      </p:pic>
      <p:sp>
        <p:nvSpPr>
          <p:cNvPr id="7" name="TextBox 6">
            <a:extLst>
              <a:ext uri="{FF2B5EF4-FFF2-40B4-BE49-F238E27FC236}">
                <a16:creationId xmlns:a16="http://schemas.microsoft.com/office/drawing/2014/main" id="{646E1B4D-A3D8-2571-A40F-D482AD8F44BB}"/>
              </a:ext>
            </a:extLst>
          </p:cNvPr>
          <p:cNvSpPr txBox="1"/>
          <p:nvPr/>
        </p:nvSpPr>
        <p:spPr>
          <a:xfrm>
            <a:off x="1947081" y="5984746"/>
            <a:ext cx="8297838" cy="646331"/>
          </a:xfrm>
          <a:prstGeom prst="rect">
            <a:avLst/>
          </a:prstGeom>
          <a:noFill/>
        </p:spPr>
        <p:txBody>
          <a:bodyPr wrap="square">
            <a:spAutoFit/>
          </a:bodyPr>
          <a:lstStyle/>
          <a:p>
            <a:pPr algn="ctr"/>
            <a:r>
              <a:rPr lang="en-US" sz="3600" b="1">
                <a:latin typeface="Arial"/>
                <a:cs typeface="Arial"/>
              </a:rPr>
              <a:t>Communicate</a:t>
            </a:r>
            <a:r>
              <a:rPr lang="en-US" sz="3600">
                <a:latin typeface="Arial"/>
                <a:cs typeface="Arial"/>
              </a:rPr>
              <a:t> your </a:t>
            </a:r>
            <a:r>
              <a:rPr lang="en-US" sz="3600" b="1">
                <a:latin typeface="Arial"/>
                <a:cs typeface="Arial"/>
              </a:rPr>
              <a:t>reasoning</a:t>
            </a:r>
            <a:r>
              <a:rPr lang="en-US" sz="3600">
                <a:latin typeface="Arial"/>
                <a:cs typeface="Arial"/>
              </a:rPr>
              <a:t>.</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Box 12">
            <a:extLst>
              <a:ext uri="{FF2B5EF4-FFF2-40B4-BE49-F238E27FC236}">
                <a16:creationId xmlns:a16="http://schemas.microsoft.com/office/drawing/2014/main" id="{AD3C902E-BB38-7F6E-1CC2-84B4C90D3087}"/>
              </a:ext>
            </a:extLst>
          </p:cNvPr>
          <p:cNvSpPr txBox="1"/>
          <p:nvPr/>
        </p:nvSpPr>
        <p:spPr>
          <a:xfrm>
            <a:off x="246024" y="905576"/>
            <a:ext cx="11505709" cy="1824923"/>
          </a:xfrm>
          <a:prstGeom prst="rect">
            <a:avLst/>
          </a:prstGeom>
          <a:noFill/>
        </p:spPr>
        <p:txBody>
          <a:bodyPr wrap="square">
            <a:spAutoFit/>
          </a:bodyPr>
          <a:lstStyle/>
          <a:p>
            <a:pPr>
              <a:lnSpc>
                <a:spcPct val="150000"/>
              </a:lnSpc>
            </a:pPr>
            <a:r>
              <a:rPr lang="en-AU" sz="4000" kern="1200">
                <a:solidFill>
                  <a:schemeClr val="tx1"/>
                </a:solidFill>
                <a:effectLst/>
                <a:latin typeface="Arial" panose="020B0604020202020204" pitchFamily="34" charset="0"/>
                <a:ea typeface="+mn-ea"/>
                <a:cs typeface="Arial" panose="020B0604020202020204" pitchFamily="34" charset="0"/>
              </a:rPr>
              <a:t>Place the numbers</a:t>
            </a:r>
            <a:r>
              <a:rPr lang="en-AU" sz="4000" b="1" kern="1200">
                <a:solidFill>
                  <a:schemeClr val="tx1"/>
                </a:solidFill>
                <a:effectLst/>
                <a:latin typeface="Arial" panose="020B0604020202020204" pitchFamily="34" charset="0"/>
                <a:ea typeface="+mn-ea"/>
                <a:cs typeface="Arial" panose="020B0604020202020204" pitchFamily="34" charset="0"/>
              </a:rPr>
              <a:t> 8, 2 </a:t>
            </a:r>
            <a:r>
              <a:rPr lang="en-AU" sz="4000" kern="1200">
                <a:solidFill>
                  <a:schemeClr val="tx1"/>
                </a:solidFill>
                <a:effectLst/>
                <a:latin typeface="Arial" panose="020B0604020202020204" pitchFamily="34" charset="0"/>
                <a:ea typeface="+mn-ea"/>
                <a:cs typeface="Arial" panose="020B0604020202020204" pitchFamily="34" charset="0"/>
              </a:rPr>
              <a:t>and</a:t>
            </a:r>
            <a:r>
              <a:rPr lang="en-AU" sz="4000" b="1" kern="1200">
                <a:solidFill>
                  <a:schemeClr val="tx1"/>
                </a:solidFill>
                <a:effectLst/>
                <a:latin typeface="Arial" panose="020B0604020202020204" pitchFamily="34" charset="0"/>
                <a:ea typeface="+mn-ea"/>
                <a:cs typeface="Arial" panose="020B0604020202020204" pitchFamily="34" charset="0"/>
              </a:rPr>
              <a:t> 16 </a:t>
            </a:r>
            <a:r>
              <a:rPr lang="en-AU" sz="4000" kern="1200">
                <a:solidFill>
                  <a:schemeClr val="tx1"/>
                </a:solidFill>
                <a:effectLst/>
                <a:latin typeface="Arial" panose="020B0604020202020204" pitchFamily="34" charset="0"/>
                <a:ea typeface="+mn-ea"/>
                <a:cs typeface="Arial" panose="020B0604020202020204" pitchFamily="34" charset="0"/>
              </a:rPr>
              <a:t>into a </a:t>
            </a:r>
            <a:r>
              <a:rPr lang="en-AU" sz="4000" b="1" kern="1200">
                <a:solidFill>
                  <a:schemeClr val="tx1"/>
                </a:solidFill>
                <a:effectLst/>
                <a:latin typeface="Arial" panose="020B0604020202020204" pitchFamily="34" charset="0"/>
                <a:ea typeface="+mn-ea"/>
                <a:cs typeface="Arial" panose="020B0604020202020204" pitchFamily="34" charset="0"/>
              </a:rPr>
              <a:t>fact family triangle. </a:t>
            </a:r>
            <a:endParaRPr lang="en-AU" sz="4000"/>
          </a:p>
        </p:txBody>
      </p:sp>
      <p:sp>
        <p:nvSpPr>
          <p:cNvPr id="5" name="Isosceles Triangle 4" descr="An outline of a triangle.">
            <a:extLst>
              <a:ext uri="{FF2B5EF4-FFF2-40B4-BE49-F238E27FC236}">
                <a16:creationId xmlns:a16="http://schemas.microsoft.com/office/drawing/2014/main" id="{29862A0F-1F54-CD3C-5696-20EE5DF5AC73}"/>
              </a:ext>
            </a:extLst>
          </p:cNvPr>
          <p:cNvSpPr/>
          <p:nvPr/>
        </p:nvSpPr>
        <p:spPr>
          <a:xfrm>
            <a:off x="4616261" y="2503299"/>
            <a:ext cx="2959478" cy="2529829"/>
          </a:xfrm>
          <a:prstGeom prst="triangle">
            <a:avLst/>
          </a:prstGeom>
          <a:no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TextBox 13">
            <a:extLst>
              <a:ext uri="{FF2B5EF4-FFF2-40B4-BE49-F238E27FC236}">
                <a16:creationId xmlns:a16="http://schemas.microsoft.com/office/drawing/2014/main" id="{82BC8CCC-BF89-F68E-1BE1-C3E1FA6EC316}"/>
              </a:ext>
            </a:extLst>
          </p:cNvPr>
          <p:cNvSpPr txBox="1"/>
          <p:nvPr/>
        </p:nvSpPr>
        <p:spPr>
          <a:xfrm>
            <a:off x="633265" y="5033077"/>
            <a:ext cx="11312711" cy="1824923"/>
          </a:xfrm>
          <a:prstGeom prst="rect">
            <a:avLst/>
          </a:prstGeom>
          <a:noFill/>
        </p:spPr>
        <p:txBody>
          <a:bodyPr wrap="square">
            <a:spAutoFit/>
          </a:bodyPr>
          <a:lstStyle/>
          <a:p>
            <a:pPr algn="ctr">
              <a:lnSpc>
                <a:spcPct val="150000"/>
              </a:lnSpc>
            </a:pPr>
            <a:r>
              <a:rPr lang="en-AU" sz="4000" b="1" kern="1200">
                <a:solidFill>
                  <a:schemeClr val="tx1"/>
                </a:solidFill>
                <a:effectLst/>
                <a:latin typeface="Arial" panose="020B0604020202020204" pitchFamily="34" charset="0"/>
                <a:ea typeface="+mn-ea"/>
                <a:cs typeface="Arial" panose="020B0604020202020204" pitchFamily="34" charset="0"/>
              </a:rPr>
              <a:t>Record</a:t>
            </a:r>
            <a:r>
              <a:rPr lang="en-AU" sz="4000" kern="1200">
                <a:solidFill>
                  <a:schemeClr val="tx1"/>
                </a:solidFill>
                <a:effectLst/>
                <a:latin typeface="Arial" panose="020B0604020202020204" pitchFamily="34" charset="0"/>
                <a:ea typeface="+mn-ea"/>
                <a:cs typeface="Arial" panose="020B0604020202020204" pitchFamily="34" charset="0"/>
              </a:rPr>
              <a:t> the related facts using the x , ÷ and = </a:t>
            </a:r>
            <a:r>
              <a:rPr lang="en-AU" sz="4000">
                <a:latin typeface="Arial" panose="020B0604020202020204" pitchFamily="34" charset="0"/>
                <a:cs typeface="Arial" panose="020B0604020202020204" pitchFamily="34" charset="0"/>
              </a:rPr>
              <a:t>symbols.</a:t>
            </a:r>
            <a:endParaRPr lang="en-AU" sz="4000" b="1"/>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4" name="TextBox 3">
            <a:extLst>
              <a:ext uri="{FF2B5EF4-FFF2-40B4-BE49-F238E27FC236}">
                <a16:creationId xmlns:a16="http://schemas.microsoft.com/office/drawing/2014/main" id="{242926F7-B00A-EB02-AA06-D109405C332B}"/>
              </a:ext>
            </a:extLst>
          </p:cNvPr>
          <p:cNvSpPr txBox="1"/>
          <p:nvPr/>
        </p:nvSpPr>
        <p:spPr>
          <a:xfrm>
            <a:off x="246024" y="1121910"/>
            <a:ext cx="11505709" cy="901593"/>
          </a:xfrm>
          <a:prstGeom prst="rect">
            <a:avLst/>
          </a:prstGeom>
          <a:noFill/>
        </p:spPr>
        <p:txBody>
          <a:bodyPr wrap="square">
            <a:spAutoFit/>
          </a:bodyPr>
          <a:lstStyle/>
          <a:p>
            <a:pPr algn="ctr">
              <a:lnSpc>
                <a:spcPct val="150000"/>
              </a:lnSpc>
            </a:pPr>
            <a:r>
              <a:rPr lang="en-AU" sz="4000" b="1" kern="1200">
                <a:solidFill>
                  <a:schemeClr val="tx1"/>
                </a:solidFill>
                <a:effectLst/>
                <a:latin typeface="Arial" panose="020B0604020202020204" pitchFamily="34" charset="0"/>
                <a:ea typeface="+mn-ea"/>
                <a:cs typeface="Arial" panose="020B0604020202020204" pitchFamily="34" charset="0"/>
              </a:rPr>
              <a:t>Record </a:t>
            </a:r>
            <a:r>
              <a:rPr lang="en-AU" sz="4000" kern="1200">
                <a:solidFill>
                  <a:schemeClr val="tx1"/>
                </a:solidFill>
                <a:effectLst/>
                <a:latin typeface="Arial" panose="020B0604020202020204" pitchFamily="34" charset="0"/>
                <a:ea typeface="+mn-ea"/>
                <a:cs typeface="Arial" panose="020B0604020202020204" pitchFamily="34" charset="0"/>
              </a:rPr>
              <a:t>the lengths in </a:t>
            </a:r>
            <a:r>
              <a:rPr lang="en-AU" sz="4000" b="1" kern="1200">
                <a:solidFill>
                  <a:schemeClr val="tx1"/>
                </a:solidFill>
                <a:effectLst/>
                <a:latin typeface="Arial" panose="020B0604020202020204" pitchFamily="34" charset="0"/>
                <a:ea typeface="+mn-ea"/>
                <a:cs typeface="Arial" panose="020B0604020202020204" pitchFamily="34" charset="0"/>
              </a:rPr>
              <a:t>metres</a:t>
            </a:r>
            <a:r>
              <a:rPr lang="en-AU" sz="4000" kern="1200">
                <a:solidFill>
                  <a:schemeClr val="tx1"/>
                </a:solidFill>
                <a:effectLst/>
                <a:latin typeface="Arial" panose="020B0604020202020204" pitchFamily="34" charset="0"/>
                <a:ea typeface="+mn-ea"/>
                <a:cs typeface="Arial" panose="020B0604020202020204" pitchFamily="34" charset="0"/>
              </a:rPr>
              <a:t> and </a:t>
            </a:r>
            <a:r>
              <a:rPr lang="en-AU" sz="4000" b="1" kern="1200">
                <a:solidFill>
                  <a:schemeClr val="tx1"/>
                </a:solidFill>
                <a:effectLst/>
                <a:latin typeface="Arial" panose="020B0604020202020204" pitchFamily="34" charset="0"/>
                <a:ea typeface="+mn-ea"/>
                <a:cs typeface="Arial" panose="020B0604020202020204" pitchFamily="34" charset="0"/>
              </a:rPr>
              <a:t>centimetres</a:t>
            </a:r>
            <a:r>
              <a:rPr lang="en-AU" sz="4000" kern="1200">
                <a:solidFill>
                  <a:schemeClr val="tx1"/>
                </a:solidFill>
                <a:effectLst/>
                <a:latin typeface="Arial" panose="020B0604020202020204" pitchFamily="34" charset="0"/>
                <a:ea typeface="+mn-ea"/>
                <a:cs typeface="Arial" panose="020B0604020202020204" pitchFamily="34" charset="0"/>
              </a:rPr>
              <a:t>.</a:t>
            </a:r>
            <a:endParaRPr lang="en-AU" sz="4000"/>
          </a:p>
        </p:txBody>
      </p:sp>
      <p:sp>
        <p:nvSpPr>
          <p:cNvPr id="5" name="Rectangle: Rounded Corners 4">
            <a:extLst>
              <a:ext uri="{FF2B5EF4-FFF2-40B4-BE49-F238E27FC236}">
                <a16:creationId xmlns:a16="http://schemas.microsoft.com/office/drawing/2014/main" id="{A34EC849-3D3B-D791-52AD-B0D686283A41}"/>
              </a:ext>
            </a:extLst>
          </p:cNvPr>
          <p:cNvSpPr/>
          <p:nvPr/>
        </p:nvSpPr>
        <p:spPr>
          <a:xfrm>
            <a:off x="1486157" y="3817661"/>
            <a:ext cx="2277322"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154 cm</a:t>
            </a:r>
            <a:endParaRPr lang="en-AU" sz="4000" b="1">
              <a:solidFill>
                <a:schemeClr val="accent1"/>
              </a:solidFill>
            </a:endParaRPr>
          </a:p>
        </p:txBody>
      </p:sp>
      <p:sp>
        <p:nvSpPr>
          <p:cNvPr id="12" name="Rectangle: Rounded Corners 11">
            <a:extLst>
              <a:ext uri="{FF2B5EF4-FFF2-40B4-BE49-F238E27FC236}">
                <a16:creationId xmlns:a16="http://schemas.microsoft.com/office/drawing/2014/main" id="{FA40163D-DB8E-CF2C-3C91-8FF045044356}"/>
              </a:ext>
            </a:extLst>
          </p:cNvPr>
          <p:cNvSpPr/>
          <p:nvPr/>
        </p:nvSpPr>
        <p:spPr>
          <a:xfrm>
            <a:off x="4860217" y="3817661"/>
            <a:ext cx="2277322"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672 cm</a:t>
            </a:r>
            <a:endParaRPr lang="en-AU" sz="4000" b="1">
              <a:solidFill>
                <a:schemeClr val="accent1"/>
              </a:solidFill>
            </a:endParaRPr>
          </a:p>
        </p:txBody>
      </p:sp>
      <p:sp>
        <p:nvSpPr>
          <p:cNvPr id="13" name="Rectangle: Rounded Corners 12">
            <a:extLst>
              <a:ext uri="{FF2B5EF4-FFF2-40B4-BE49-F238E27FC236}">
                <a16:creationId xmlns:a16="http://schemas.microsoft.com/office/drawing/2014/main" id="{8EDCD199-EE14-6D89-1BE4-9E14051B0C08}"/>
              </a:ext>
            </a:extLst>
          </p:cNvPr>
          <p:cNvSpPr/>
          <p:nvPr/>
        </p:nvSpPr>
        <p:spPr>
          <a:xfrm>
            <a:off x="8234277" y="3748680"/>
            <a:ext cx="2277322" cy="1018809"/>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205 cm</a:t>
            </a:r>
            <a:endParaRPr lang="en-AU" sz="4000" b="1">
              <a:solidFill>
                <a:schemeClr val="accent1"/>
              </a:solidFill>
            </a:endParaRP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partitioning 4-digit numbers</a:t>
            </a:r>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0" name="TextBox 9">
            <a:extLst>
              <a:ext uri="{FF2B5EF4-FFF2-40B4-BE49-F238E27FC236}">
                <a16:creationId xmlns:a16="http://schemas.microsoft.com/office/drawing/2014/main" id="{22D4E416-5160-8477-81B7-21D64959011F}"/>
              </a:ext>
            </a:extLst>
          </p:cNvPr>
          <p:cNvSpPr txBox="1"/>
          <p:nvPr/>
        </p:nvSpPr>
        <p:spPr>
          <a:xfrm>
            <a:off x="360000" y="1321680"/>
            <a:ext cx="10764000" cy="856364"/>
          </a:xfrm>
          <a:prstGeom prst="rect">
            <a:avLst/>
          </a:prstGeom>
          <a:noFill/>
        </p:spPr>
        <p:txBody>
          <a:bodyPr wrap="square" lIns="0" tIns="0" rIns="0" bIns="0" rtlCol="0">
            <a:noAutofit/>
          </a:bodyPr>
          <a:lstStyle/>
          <a:p>
            <a:pPr algn="ctr">
              <a:lnSpc>
                <a:spcPct val="150000"/>
              </a:lnSpc>
            </a:pPr>
            <a:r>
              <a:rPr lang="en-AU" sz="4000" b="1">
                <a:latin typeface="Arial" panose="020B0604020202020204" pitchFamily="34" charset="0"/>
                <a:cs typeface="Arial" panose="020B0604020202020204" pitchFamily="34" charset="0"/>
              </a:rPr>
              <a:t>Describe</a:t>
            </a:r>
            <a:r>
              <a:rPr lang="en-AU" sz="4000">
                <a:latin typeface="Arial" panose="020B0604020202020204" pitchFamily="34" charset="0"/>
                <a:cs typeface="Arial" panose="020B0604020202020204" pitchFamily="34" charset="0"/>
              </a:rPr>
              <a:t> the 4-digit number using </a:t>
            </a:r>
            <a:r>
              <a:rPr lang="en-AU" sz="4000" b="1">
                <a:latin typeface="Arial" panose="020B0604020202020204" pitchFamily="34" charset="0"/>
                <a:cs typeface="Arial" panose="020B0604020202020204" pitchFamily="34" charset="0"/>
              </a:rPr>
              <a:t>standard </a:t>
            </a:r>
            <a:r>
              <a:rPr lang="en-AU" sz="4000">
                <a:latin typeface="Arial" panose="020B0604020202020204" pitchFamily="34" charset="0"/>
                <a:cs typeface="Arial" panose="020B0604020202020204" pitchFamily="34" charset="0"/>
              </a:rPr>
              <a:t>and</a:t>
            </a:r>
            <a:r>
              <a:rPr lang="en-AU" sz="4000" b="1">
                <a:latin typeface="Arial" panose="020B0604020202020204" pitchFamily="34" charset="0"/>
                <a:cs typeface="Arial" panose="020B0604020202020204" pitchFamily="34" charset="0"/>
              </a:rPr>
              <a:t> non-standard partitioning.</a:t>
            </a:r>
          </a:p>
        </p:txBody>
      </p:sp>
      <p:sp>
        <p:nvSpPr>
          <p:cNvPr id="7" name="TextBox 6">
            <a:extLst>
              <a:ext uri="{FF2B5EF4-FFF2-40B4-BE49-F238E27FC236}">
                <a16:creationId xmlns:a16="http://schemas.microsoft.com/office/drawing/2014/main" id="{53316D70-5E4A-9DE1-601A-98F9AE226D49}"/>
              </a:ext>
            </a:extLst>
          </p:cNvPr>
          <p:cNvSpPr txBox="1"/>
          <p:nvPr/>
        </p:nvSpPr>
        <p:spPr>
          <a:xfrm>
            <a:off x="3176353" y="3704332"/>
            <a:ext cx="5131293" cy="1562470"/>
          </a:xfrm>
          <a:prstGeom prst="rect">
            <a:avLst/>
          </a:prstGeom>
          <a:solidFill>
            <a:srgbClr val="002060"/>
          </a:solidFill>
          <a:ln>
            <a:solidFill>
              <a:srgbClr val="002060"/>
            </a:solidFill>
          </a:ln>
          <a:effectLst/>
        </p:spPr>
        <p:txBody>
          <a:bodyPr wrap="square" lIns="0" tIns="0" rIns="0" bIns="0" rtlCol="0">
            <a:noAutofit/>
          </a:bodyPr>
          <a:lstStyle/>
          <a:p>
            <a:pPr algn="ctr"/>
            <a:r>
              <a:rPr lang="en-AU" sz="9600" b="0" i="0">
                <a:solidFill>
                  <a:schemeClr val="bg1"/>
                </a:solidFill>
                <a:effectLst/>
                <a:latin typeface="Edu NSW ACT Foundation" pitchFamily="2" charset="0"/>
              </a:rPr>
              <a:t>4627</a:t>
            </a:r>
            <a:endParaRPr lang="en-AU" sz="1800">
              <a:solidFill>
                <a:schemeClr val="bg1"/>
              </a:solidFill>
              <a:latin typeface="Edu NSW ACT Foundation" pitchFamily="2" charset="0"/>
            </a:endParaRP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Rectangle: Rounded Corners 6">
            <a:extLst>
              <a:ext uri="{FF2B5EF4-FFF2-40B4-BE49-F238E27FC236}">
                <a16:creationId xmlns:a16="http://schemas.microsoft.com/office/drawing/2014/main" id="{E45C81CB-535E-00C4-7046-86DED3EC9860}"/>
              </a:ext>
            </a:extLst>
          </p:cNvPr>
          <p:cNvSpPr/>
          <p:nvPr/>
        </p:nvSpPr>
        <p:spPr>
          <a:xfrm>
            <a:off x="237511" y="1711204"/>
            <a:ext cx="11488012" cy="1839715"/>
          </a:xfrm>
          <a:prstGeom prst="roundRect">
            <a:avLst/>
          </a:prstGeom>
          <a:solidFill>
            <a:schemeClr val="accent4"/>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AU" sz="3200" b="1">
                <a:solidFill>
                  <a:schemeClr val="accent1"/>
                </a:solidFill>
              </a:rPr>
              <a:t>9826 = </a:t>
            </a:r>
          </a:p>
          <a:p>
            <a:pPr algn="ctr">
              <a:lnSpc>
                <a:spcPct val="150000"/>
              </a:lnSpc>
            </a:pPr>
            <a:r>
              <a:rPr lang="en-AU" sz="3200" b="1">
                <a:solidFill>
                  <a:schemeClr val="accent1"/>
                </a:solidFill>
              </a:rPr>
              <a:t>98 hundreds and 26 ones </a:t>
            </a:r>
            <a:r>
              <a:rPr lang="en-AU" sz="3200" b="1" i="1">
                <a:solidFill>
                  <a:schemeClr val="accent1"/>
                </a:solidFill>
              </a:rPr>
              <a:t>or</a:t>
            </a:r>
            <a:r>
              <a:rPr lang="en-AU" sz="3200" b="1">
                <a:solidFill>
                  <a:schemeClr val="accent1"/>
                </a:solidFill>
              </a:rPr>
              <a:t>  9800 + 26</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563762980"/>
              </p:ext>
            </p:extLst>
          </p:nvPr>
        </p:nvGraphicFramePr>
        <p:xfrm>
          <a:off x="2442979" y="452024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Box 4">
            <a:extLst>
              <a:ext uri="{FF2B5EF4-FFF2-40B4-BE49-F238E27FC236}">
                <a16:creationId xmlns:a16="http://schemas.microsoft.com/office/drawing/2014/main" id="{E5596BFC-222A-FB1D-B42D-EBDDECFA3A97}"/>
              </a:ext>
            </a:extLst>
          </p:cNvPr>
          <p:cNvSpPr txBox="1"/>
          <p:nvPr/>
        </p:nvSpPr>
        <p:spPr>
          <a:xfrm>
            <a:off x="1947079" y="5898114"/>
            <a:ext cx="8297838" cy="707886"/>
          </a:xfrm>
          <a:prstGeom prst="rect">
            <a:avLst/>
          </a:prstGeom>
          <a:noFill/>
        </p:spPr>
        <p:txBody>
          <a:bodyPr wrap="square">
            <a:spAutoFit/>
          </a:body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a:t>
            </a:r>
          </a:p>
        </p:txBody>
      </p:sp>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89F3F869-C343-D746-A020-33D9E1790972}"/>
              </a:ext>
            </a:extLst>
          </p:cNvPr>
          <p:cNvSpPr txBox="1">
            <a:spLocks/>
          </p:cNvSpPr>
          <p:nvPr/>
        </p:nvSpPr>
        <p:spPr>
          <a:xfrm>
            <a:off x="474480" y="849599"/>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Harry filled a measuring jug 6 times to fill the bucket.</a:t>
            </a:r>
          </a:p>
        </p:txBody>
      </p:sp>
      <p:sp>
        <p:nvSpPr>
          <p:cNvPr id="7" name="Freeform 16" descr="A measuring jug filled with water to 1000ml">
            <a:extLst>
              <a:ext uri="{FF2B5EF4-FFF2-40B4-BE49-F238E27FC236}">
                <a16:creationId xmlns:a16="http://schemas.microsoft.com/office/drawing/2014/main" id="{04DB1289-7F16-5CD4-E0F5-A0D23358C0B4}"/>
              </a:ext>
            </a:extLst>
          </p:cNvPr>
          <p:cNvSpPr>
            <a:spLocks noChangeAspect="1"/>
          </p:cNvSpPr>
          <p:nvPr/>
        </p:nvSpPr>
        <p:spPr>
          <a:xfrm>
            <a:off x="1776077" y="3429000"/>
            <a:ext cx="2631985" cy="2263508"/>
          </a:xfrm>
          <a:custGeom>
            <a:avLst/>
            <a:gdLst/>
            <a:ahLst/>
            <a:cxnLst/>
            <a:rect l="l" t="t" r="r" b="b"/>
            <a:pathLst>
              <a:path w="4229056" h="3636988">
                <a:moveTo>
                  <a:pt x="0" y="0"/>
                </a:moveTo>
                <a:lnTo>
                  <a:pt x="4229056" y="0"/>
                </a:lnTo>
                <a:lnTo>
                  <a:pt x="4229056" y="3636988"/>
                </a:lnTo>
                <a:lnTo>
                  <a:pt x="0" y="36369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7" name="Freeform 4" descr="A bucket filled with water">
            <a:extLst>
              <a:ext uri="{FF2B5EF4-FFF2-40B4-BE49-F238E27FC236}">
                <a16:creationId xmlns:a16="http://schemas.microsoft.com/office/drawing/2014/main" id="{0796D7C2-A497-16E0-9AF5-42B23AE5532A}"/>
              </a:ext>
            </a:extLst>
          </p:cNvPr>
          <p:cNvSpPr>
            <a:spLocks noChangeAspect="1"/>
          </p:cNvSpPr>
          <p:nvPr/>
        </p:nvSpPr>
        <p:spPr>
          <a:xfrm flipH="1">
            <a:off x="7339520" y="2667896"/>
            <a:ext cx="2954732" cy="3251424"/>
          </a:xfrm>
          <a:custGeom>
            <a:avLst/>
            <a:gdLst/>
            <a:ahLst/>
            <a:cxnLst/>
            <a:rect l="l" t="t" r="r" b="b"/>
            <a:pathLst>
              <a:path w="4729254" h="5204131">
                <a:moveTo>
                  <a:pt x="0" y="0"/>
                </a:moveTo>
                <a:lnTo>
                  <a:pt x="4729254" y="0"/>
                </a:lnTo>
                <a:lnTo>
                  <a:pt x="4729254" y="5204131"/>
                </a:lnTo>
                <a:lnTo>
                  <a:pt x="0" y="5204131"/>
                </a:lnTo>
                <a:lnTo>
                  <a:pt x="0" y="0"/>
                </a:lnTo>
                <a:close/>
              </a:path>
            </a:pathLst>
          </a:custGeom>
          <a:blipFill>
            <a:blip r:embed="rId6"/>
            <a:stretch>
              <a:fillRect/>
            </a:stretch>
          </a:blipFill>
        </p:spPr>
        <p:txBody>
          <a:bodyPr/>
          <a:lstStyle/>
          <a:p>
            <a:endParaRPr lang="en-AU"/>
          </a:p>
        </p:txBody>
      </p:sp>
      <p:sp>
        <p:nvSpPr>
          <p:cNvPr id="4" name="Text Placeholder 5">
            <a:extLst>
              <a:ext uri="{FF2B5EF4-FFF2-40B4-BE49-F238E27FC236}">
                <a16:creationId xmlns:a16="http://schemas.microsoft.com/office/drawing/2014/main" id="{0993A18A-57E7-DE75-6D00-40A35EEE7DA0}"/>
              </a:ext>
            </a:extLst>
          </p:cNvPr>
          <p:cNvSpPr txBox="1">
            <a:spLocks/>
          </p:cNvSpPr>
          <p:nvPr/>
        </p:nvSpPr>
        <p:spPr>
          <a:xfrm>
            <a:off x="600963" y="5802774"/>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the </a:t>
            </a:r>
            <a:r>
              <a:rPr lang="en-AU" sz="4400" b="1"/>
              <a:t>capacity</a:t>
            </a:r>
            <a:r>
              <a:rPr lang="en-AU" sz="4400"/>
              <a:t> of the </a:t>
            </a:r>
            <a:r>
              <a:rPr lang="en-AU" sz="4400" b="1"/>
              <a:t>bucket </a:t>
            </a:r>
            <a:r>
              <a:rPr lang="en-AU" sz="4400"/>
              <a:t>in</a:t>
            </a:r>
            <a:r>
              <a:rPr lang="en-AU" sz="4400" b="1"/>
              <a:t> litres</a:t>
            </a:r>
            <a:r>
              <a:rPr lang="en-AU" sz="4400"/>
              <a:t>.</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6" name="TextBox 15">
            <a:extLst>
              <a:ext uri="{FF2B5EF4-FFF2-40B4-BE49-F238E27FC236}">
                <a16:creationId xmlns:a16="http://schemas.microsoft.com/office/drawing/2014/main" id="{C2A9A902-AB5E-35DD-6D0B-7428FFAAC693}"/>
              </a:ext>
            </a:extLst>
          </p:cNvPr>
          <p:cNvSpPr txBox="1"/>
          <p:nvPr/>
        </p:nvSpPr>
        <p:spPr>
          <a:xfrm>
            <a:off x="359999" y="901449"/>
            <a:ext cx="11305131" cy="1651671"/>
          </a:xfrm>
          <a:prstGeom prst="rect">
            <a:avLst/>
          </a:prstGeom>
          <a:noFill/>
        </p:spPr>
        <p:txBody>
          <a:bodyPr wrap="square" lIns="91440" tIns="45720" rIns="91440" bIns="45720" anchor="t">
            <a:spAutoFit/>
          </a:bodyPr>
          <a:lstStyle/>
          <a:p>
            <a:pPr>
              <a:lnSpc>
                <a:spcPct val="150000"/>
              </a:lnSpc>
            </a:pPr>
            <a:r>
              <a:rPr lang="en-AU" sz="3600" b="1">
                <a:latin typeface="Arial"/>
                <a:cs typeface="Arial"/>
              </a:rPr>
              <a:t>Record </a:t>
            </a:r>
            <a:r>
              <a:rPr lang="en-AU" sz="3600" kern="1200">
                <a:effectLst/>
                <a:latin typeface="Arial"/>
                <a:cs typeface="Arial"/>
              </a:rPr>
              <a:t>the clothing </a:t>
            </a:r>
            <a:r>
              <a:rPr lang="en-AU" sz="3600" b="1" kern="1200">
                <a:effectLst/>
                <a:latin typeface="Arial"/>
                <a:cs typeface="Arial"/>
              </a:rPr>
              <a:t>combinations</a:t>
            </a:r>
            <a:r>
              <a:rPr lang="en-AU" sz="3600" kern="1200">
                <a:effectLst/>
                <a:latin typeface="Arial"/>
                <a:cs typeface="Arial"/>
              </a:rPr>
              <a:t> </a:t>
            </a:r>
            <a:r>
              <a:rPr lang="en-AU" sz="3600">
                <a:latin typeface="Arial"/>
                <a:cs typeface="Arial"/>
              </a:rPr>
              <a:t>that can be made with</a:t>
            </a:r>
            <a:r>
              <a:rPr lang="en-AU" sz="3600" kern="1200">
                <a:effectLst/>
                <a:latin typeface="Arial"/>
                <a:cs typeface="Arial"/>
              </a:rPr>
              <a:t> the </a:t>
            </a:r>
            <a:r>
              <a:rPr lang="en-AU" sz="3600" b="1" kern="1200">
                <a:solidFill>
                  <a:srgbClr val="0070C0"/>
                </a:solidFill>
                <a:effectLst/>
                <a:latin typeface="Arial"/>
                <a:cs typeface="Arial"/>
              </a:rPr>
              <a:t>blue</a:t>
            </a:r>
            <a:r>
              <a:rPr lang="en-AU" sz="3600" kern="1200">
                <a:effectLst/>
                <a:latin typeface="Arial"/>
                <a:cs typeface="Arial"/>
              </a:rPr>
              <a:t> shorts.</a:t>
            </a:r>
            <a:endParaRPr lang="en-AU" sz="3600" b="1">
              <a:latin typeface="Arial"/>
              <a:cs typeface="Arial"/>
            </a:endParaRPr>
          </a:p>
        </p:txBody>
      </p:sp>
      <p:grpSp>
        <p:nvGrpSpPr>
          <p:cNvPr id="4" name="Group 3" descr="A graphic showing coloured cubes to match clothing of the same colour. Cubes represent red, orange and yellow shirts. Additional cubes represent blue and white shorts.">
            <a:extLst>
              <a:ext uri="{FF2B5EF4-FFF2-40B4-BE49-F238E27FC236}">
                <a16:creationId xmlns:a16="http://schemas.microsoft.com/office/drawing/2014/main" id="{EF560368-00B8-0931-0E6D-125C61DF175B}"/>
              </a:ext>
            </a:extLst>
          </p:cNvPr>
          <p:cNvGrpSpPr/>
          <p:nvPr/>
        </p:nvGrpSpPr>
        <p:grpSpPr>
          <a:xfrm>
            <a:off x="524099" y="3428997"/>
            <a:ext cx="10912007" cy="3248924"/>
            <a:chOff x="1897001" y="3100758"/>
            <a:chExt cx="6822796" cy="3127344"/>
          </a:xfrm>
          <a:effectLst/>
        </p:grpSpPr>
        <p:sp>
          <p:nvSpPr>
            <p:cNvPr id="10" name="TextBox 28">
              <a:extLst>
                <a:ext uri="{FF2B5EF4-FFF2-40B4-BE49-F238E27FC236}">
                  <a16:creationId xmlns:a16="http://schemas.microsoft.com/office/drawing/2014/main" id="{9A5A91CF-71C7-9C87-F4B3-9DA928B065DF}"/>
                </a:ext>
              </a:extLst>
            </p:cNvPr>
            <p:cNvSpPr txBox="1"/>
            <p:nvPr/>
          </p:nvSpPr>
          <p:spPr>
            <a:xfrm>
              <a:off x="7293721" y="5960099"/>
              <a:ext cx="1426076" cy="198062"/>
            </a:xfrm>
            <a:prstGeom prst="rect">
              <a:avLst/>
            </a:prstGeom>
          </p:spPr>
          <p:txBody>
            <a:bodyPr lIns="0" tIns="0" rIns="0" bIns="0" rtlCol="0" anchor="t">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lnSpc>
                  <a:spcPts val="944"/>
                </a:lnSpc>
              </a:pPr>
              <a:r>
                <a:rPr lang="en-US" sz="4000">
                  <a:solidFill>
                    <a:srgbClr val="000000"/>
                  </a:solidFill>
                  <a:latin typeface="Edu NSW ACT Foundation" pitchFamily="2" charset="0"/>
                  <a:ea typeface="CS Gordon Serif"/>
                  <a:cs typeface="CS Gordon Serif"/>
                  <a:sym typeface="CS Gordon Serif"/>
                </a:rPr>
                <a:t>red T-shirt</a:t>
              </a:r>
            </a:p>
          </p:txBody>
        </p:sp>
        <p:sp>
          <p:nvSpPr>
            <p:cNvPr id="12" name="TextBox 30">
              <a:extLst>
                <a:ext uri="{FF2B5EF4-FFF2-40B4-BE49-F238E27FC236}">
                  <a16:creationId xmlns:a16="http://schemas.microsoft.com/office/drawing/2014/main" id="{2C879EE9-DC51-F7E2-7E35-CB85D513EDDB}"/>
                </a:ext>
              </a:extLst>
            </p:cNvPr>
            <p:cNvSpPr txBox="1"/>
            <p:nvPr/>
          </p:nvSpPr>
          <p:spPr>
            <a:xfrm>
              <a:off x="1897001" y="6030040"/>
              <a:ext cx="2064766" cy="198062"/>
            </a:xfrm>
            <a:prstGeom prst="rect">
              <a:avLst/>
            </a:prstGeom>
          </p:spPr>
          <p:txBody>
            <a:bodyPr lIns="0" tIns="0" rIns="0" bIns="0" rtlCol="0" anchor="t">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lnSpc>
                  <a:spcPts val="944"/>
                </a:lnSpc>
              </a:pPr>
              <a:r>
                <a:rPr lang="en-US" sz="4000">
                  <a:solidFill>
                    <a:srgbClr val="000000"/>
                  </a:solidFill>
                  <a:latin typeface="Edu NSW ACT Foundation" pitchFamily="2" charset="0"/>
                  <a:ea typeface="CS Gordon Serif"/>
                  <a:cs typeface="CS Gordon Serif"/>
                  <a:sym typeface="CS Gordon Serif"/>
                </a:rPr>
                <a:t>yellow T-shirt</a:t>
              </a:r>
            </a:p>
          </p:txBody>
        </p:sp>
        <p:sp>
          <p:nvSpPr>
            <p:cNvPr id="13" name="TextBox 31">
              <a:extLst>
                <a:ext uri="{FF2B5EF4-FFF2-40B4-BE49-F238E27FC236}">
                  <a16:creationId xmlns:a16="http://schemas.microsoft.com/office/drawing/2014/main" id="{82E47238-EFD1-1390-588A-47293177CE25}"/>
                </a:ext>
              </a:extLst>
            </p:cNvPr>
            <p:cNvSpPr txBox="1"/>
            <p:nvPr/>
          </p:nvSpPr>
          <p:spPr>
            <a:xfrm>
              <a:off x="6014117" y="3100758"/>
              <a:ext cx="1732076" cy="204026"/>
            </a:xfrm>
            <a:prstGeom prst="rect">
              <a:avLst/>
            </a:prstGeom>
          </p:spPr>
          <p:txBody>
            <a:bodyPr wrap="square" lIns="0" tIns="0" rIns="0" bIns="0" rtlCol="0" anchor="t">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lnSpc>
                  <a:spcPts val="944"/>
                </a:lnSpc>
              </a:pPr>
              <a:r>
                <a:rPr lang="en-US" sz="4000">
                  <a:solidFill>
                    <a:srgbClr val="000000"/>
                  </a:solidFill>
                  <a:latin typeface="Edu NSW ACT Foundation" pitchFamily="2" charset="0"/>
                  <a:ea typeface="CS Gordon Serif"/>
                  <a:cs typeface="CS Gordon Serif"/>
                  <a:sym typeface="CS Gordon Serif"/>
                </a:rPr>
                <a:t>blue shorts</a:t>
              </a:r>
            </a:p>
          </p:txBody>
        </p:sp>
        <p:sp>
          <p:nvSpPr>
            <p:cNvPr id="14" name="TextBox 35">
              <a:extLst>
                <a:ext uri="{FF2B5EF4-FFF2-40B4-BE49-F238E27FC236}">
                  <a16:creationId xmlns:a16="http://schemas.microsoft.com/office/drawing/2014/main" id="{2096178B-2852-6ACB-85D3-98178E7FE76F}"/>
                </a:ext>
              </a:extLst>
            </p:cNvPr>
            <p:cNvSpPr txBox="1"/>
            <p:nvPr/>
          </p:nvSpPr>
          <p:spPr>
            <a:xfrm>
              <a:off x="4550221" y="6019371"/>
              <a:ext cx="2155046" cy="198062"/>
            </a:xfrm>
            <a:prstGeom prst="rect">
              <a:avLst/>
            </a:prstGeom>
          </p:spPr>
          <p:txBody>
            <a:bodyPr lIns="0" tIns="0" rIns="0" bIns="0" rtlCol="0" anchor="t">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lnSpc>
                  <a:spcPts val="944"/>
                </a:lnSpc>
              </a:pPr>
              <a:r>
                <a:rPr lang="en-US" sz="4000">
                  <a:solidFill>
                    <a:srgbClr val="000000"/>
                  </a:solidFill>
                  <a:latin typeface="Edu NSW ACT Foundation" pitchFamily="2" charset="0"/>
                  <a:ea typeface="CS Gordon Serif"/>
                  <a:cs typeface="CS Gordon Serif"/>
                  <a:sym typeface="CS Gordon Serif"/>
                </a:rPr>
                <a:t>orange T-shirt</a:t>
              </a:r>
            </a:p>
          </p:txBody>
        </p:sp>
      </p:grpSp>
      <p:sp>
        <p:nvSpPr>
          <p:cNvPr id="20" name="Freeform 2">
            <a:extLst>
              <a:ext uri="{FF2B5EF4-FFF2-40B4-BE49-F238E27FC236}">
                <a16:creationId xmlns:a16="http://schemas.microsoft.com/office/drawing/2014/main" id="{802F5DD7-E829-E048-3D84-1EC38E5FDDC4}"/>
              </a:ext>
              <a:ext uri="{C183D7F6-B498-43B3-948B-1728B52AA6E4}">
                <adec:decorative xmlns:adec="http://schemas.microsoft.com/office/drawing/2017/decorative" val="1"/>
              </a:ext>
            </a:extLst>
          </p:cNvPr>
          <p:cNvSpPr>
            <a:spLocks noChangeAspect="1"/>
          </p:cNvSpPr>
          <p:nvPr/>
        </p:nvSpPr>
        <p:spPr>
          <a:xfrm>
            <a:off x="5026966" y="2784102"/>
            <a:ext cx="1697865" cy="1309479"/>
          </a:xfrm>
          <a:custGeom>
            <a:avLst/>
            <a:gdLst/>
            <a:ahLst/>
            <a:cxnLst/>
            <a:rect l="l" t="t" r="r" b="b"/>
            <a:pathLst>
              <a:path w="3055256" h="2356366">
                <a:moveTo>
                  <a:pt x="0" y="0"/>
                </a:moveTo>
                <a:lnTo>
                  <a:pt x="3055256" y="0"/>
                </a:lnTo>
                <a:lnTo>
                  <a:pt x="3055256" y="2356366"/>
                </a:lnTo>
                <a:lnTo>
                  <a:pt x="0" y="2356366"/>
                </a:lnTo>
                <a:lnTo>
                  <a:pt x="0" y="0"/>
                </a:lnTo>
                <a:close/>
              </a:path>
            </a:pathLst>
          </a:custGeom>
          <a:blipFill>
            <a:blip r:embed="rId4"/>
            <a:stretch>
              <a:fillRect/>
            </a:stretch>
          </a:blipFill>
        </p:spPr>
        <p:txBody>
          <a:bodyPr/>
          <a:lstStyle/>
          <a:p>
            <a:endParaRPr lang="en-AU"/>
          </a:p>
        </p:txBody>
      </p:sp>
      <p:sp>
        <p:nvSpPr>
          <p:cNvPr id="19" name="Freeform 4">
            <a:extLst>
              <a:ext uri="{FF2B5EF4-FFF2-40B4-BE49-F238E27FC236}">
                <a16:creationId xmlns:a16="http://schemas.microsoft.com/office/drawing/2014/main" id="{B7E865B0-9A4E-87AE-ED3A-A8E7810260A6}"/>
              </a:ext>
              <a:ext uri="{C183D7F6-B498-43B3-948B-1728B52AA6E4}">
                <adec:decorative xmlns:adec="http://schemas.microsoft.com/office/drawing/2017/decorative" val="1"/>
              </a:ext>
            </a:extLst>
          </p:cNvPr>
          <p:cNvSpPr>
            <a:spLocks noChangeAspect="1"/>
          </p:cNvSpPr>
          <p:nvPr/>
        </p:nvSpPr>
        <p:spPr>
          <a:xfrm>
            <a:off x="977967" y="4516958"/>
            <a:ext cx="1819589" cy="1475519"/>
          </a:xfrm>
          <a:custGeom>
            <a:avLst/>
            <a:gdLst/>
            <a:ahLst/>
            <a:cxnLst/>
            <a:rect l="l" t="t" r="r" b="b"/>
            <a:pathLst>
              <a:path w="3729148" h="3024000">
                <a:moveTo>
                  <a:pt x="0" y="0"/>
                </a:moveTo>
                <a:lnTo>
                  <a:pt x="3729147" y="0"/>
                </a:lnTo>
                <a:lnTo>
                  <a:pt x="3729147" y="3024000"/>
                </a:lnTo>
                <a:lnTo>
                  <a:pt x="0" y="30240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8" name="Freeform 5">
            <a:extLst>
              <a:ext uri="{FF2B5EF4-FFF2-40B4-BE49-F238E27FC236}">
                <a16:creationId xmlns:a16="http://schemas.microsoft.com/office/drawing/2014/main" id="{51D2CA77-3BA4-173D-B03F-B9566AA9E62F}"/>
              </a:ext>
              <a:ext uri="{C183D7F6-B498-43B3-948B-1728B52AA6E4}">
                <adec:decorative xmlns:adec="http://schemas.microsoft.com/office/drawing/2017/decorative" val="1"/>
              </a:ext>
            </a:extLst>
          </p:cNvPr>
          <p:cNvSpPr>
            <a:spLocks noChangeAspect="1"/>
          </p:cNvSpPr>
          <p:nvPr/>
        </p:nvSpPr>
        <p:spPr>
          <a:xfrm>
            <a:off x="5026966" y="4516958"/>
            <a:ext cx="1785893" cy="1457735"/>
          </a:xfrm>
          <a:custGeom>
            <a:avLst/>
            <a:gdLst/>
            <a:ahLst/>
            <a:cxnLst/>
            <a:rect l="l" t="t" r="r" b="b"/>
            <a:pathLst>
              <a:path w="3582403" h="2924137">
                <a:moveTo>
                  <a:pt x="0" y="0"/>
                </a:moveTo>
                <a:lnTo>
                  <a:pt x="3582403" y="0"/>
                </a:lnTo>
                <a:lnTo>
                  <a:pt x="3582403" y="2924136"/>
                </a:lnTo>
                <a:lnTo>
                  <a:pt x="0" y="2924136"/>
                </a:lnTo>
                <a:lnTo>
                  <a:pt x="0" y="0"/>
                </a:lnTo>
                <a:close/>
              </a:path>
            </a:pathLst>
          </a:custGeom>
          <a:blipFill>
            <a:blip r:embed="rId7"/>
            <a:stretch>
              <a:fillRect/>
            </a:stretch>
          </a:blipFill>
        </p:spPr>
        <p:txBody>
          <a:bodyPr/>
          <a:lstStyle/>
          <a:p>
            <a:endParaRPr lang="en-AU"/>
          </a:p>
        </p:txBody>
      </p:sp>
      <p:sp>
        <p:nvSpPr>
          <p:cNvPr id="17" name="Freeform 6">
            <a:extLst>
              <a:ext uri="{FF2B5EF4-FFF2-40B4-BE49-F238E27FC236}">
                <a16:creationId xmlns:a16="http://schemas.microsoft.com/office/drawing/2014/main" id="{AC82304D-C627-B61C-7FD0-BBC77975E7AF}"/>
              </a:ext>
              <a:ext uri="{C183D7F6-B498-43B3-948B-1728B52AA6E4}">
                <adec:decorative xmlns:adec="http://schemas.microsoft.com/office/drawing/2017/decorative" val="1"/>
              </a:ext>
            </a:extLst>
          </p:cNvPr>
          <p:cNvSpPr>
            <a:spLocks noChangeAspect="1"/>
          </p:cNvSpPr>
          <p:nvPr/>
        </p:nvSpPr>
        <p:spPr>
          <a:xfrm>
            <a:off x="9042269" y="4516958"/>
            <a:ext cx="1684805" cy="1493161"/>
          </a:xfrm>
          <a:custGeom>
            <a:avLst/>
            <a:gdLst/>
            <a:ahLst/>
            <a:cxnLst/>
            <a:rect l="l" t="t" r="r" b="b"/>
            <a:pathLst>
              <a:path w="3369609" h="2986316">
                <a:moveTo>
                  <a:pt x="0" y="0"/>
                </a:moveTo>
                <a:lnTo>
                  <a:pt x="3369609" y="0"/>
                </a:lnTo>
                <a:lnTo>
                  <a:pt x="3369609" y="2986316"/>
                </a:lnTo>
                <a:lnTo>
                  <a:pt x="0" y="2986316"/>
                </a:lnTo>
                <a:lnTo>
                  <a:pt x="0" y="0"/>
                </a:lnTo>
                <a:close/>
              </a:path>
            </a:pathLst>
          </a:custGeom>
          <a:blipFill>
            <a:blip r:embed="rId8"/>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(33)</a:t>
            </a:r>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94B3F50-782B-67D1-DECA-43B91B18DD9B}"/>
              </a:ext>
            </a:extLst>
          </p:cNvPr>
          <p:cNvSpPr txBox="1"/>
          <p:nvPr/>
        </p:nvSpPr>
        <p:spPr>
          <a:xfrm>
            <a:off x="79022" y="1381150"/>
            <a:ext cx="12112978" cy="780214"/>
          </a:xfrm>
          <a:prstGeom prst="rect">
            <a:avLst/>
          </a:prstGeom>
          <a:noFill/>
        </p:spPr>
        <p:txBody>
          <a:bodyPr wrap="square">
            <a:spAutoFit/>
          </a:bodyPr>
          <a:lstStyle/>
          <a:p>
            <a:pPr algn="ctr">
              <a:lnSpc>
                <a:spcPct val="150000"/>
              </a:lnSpc>
            </a:pPr>
            <a:r>
              <a:rPr lang="en-AU" sz="3400" b="1">
                <a:latin typeface="Arial" panose="020B0604020202020204" pitchFamily="34" charset="0"/>
                <a:cs typeface="Arial" panose="020B0604020202020204" pitchFamily="34" charset="0"/>
              </a:rPr>
              <a:t>Explain</a:t>
            </a:r>
            <a:r>
              <a:rPr lang="en-AU" sz="3400">
                <a:latin typeface="Arial" panose="020B0604020202020204" pitchFamily="34" charset="0"/>
                <a:cs typeface="Arial" panose="020B0604020202020204" pitchFamily="34" charset="0"/>
              </a:rPr>
              <a:t> the </a:t>
            </a:r>
            <a:r>
              <a:rPr lang="en-AU" sz="3400" b="1">
                <a:latin typeface="Arial" panose="020B0604020202020204" pitchFamily="34" charset="0"/>
                <a:cs typeface="Arial" panose="020B0604020202020204" pitchFamily="34" charset="0"/>
              </a:rPr>
              <a:t>strategy</a:t>
            </a:r>
            <a:r>
              <a:rPr lang="en-AU" sz="3400">
                <a:latin typeface="Arial" panose="020B0604020202020204" pitchFamily="34" charset="0"/>
                <a:cs typeface="Arial" panose="020B0604020202020204" pitchFamily="34" charset="0"/>
              </a:rPr>
              <a:t> used to represent the </a:t>
            </a:r>
            <a:r>
              <a:rPr lang="en-AU" sz="3400" b="1" kern="1200">
                <a:solidFill>
                  <a:schemeClr val="tx1"/>
                </a:solidFill>
                <a:effectLst/>
                <a:latin typeface="Arial" panose="020B0604020202020204" pitchFamily="34" charset="0"/>
                <a:ea typeface="+mn-ea"/>
                <a:cs typeface="Arial" panose="020B0604020202020204" pitchFamily="34" charset="0"/>
              </a:rPr>
              <a:t>word problem.</a:t>
            </a:r>
            <a:endParaRPr lang="en-AU" sz="3400" b="1"/>
          </a:p>
        </p:txBody>
      </p:sp>
      <p:graphicFrame>
        <p:nvGraphicFramePr>
          <p:cNvPr id="9" name="Table 8">
            <a:extLst>
              <a:ext uri="{FF2B5EF4-FFF2-40B4-BE49-F238E27FC236}">
                <a16:creationId xmlns:a16="http://schemas.microsoft.com/office/drawing/2014/main" id="{0361CEBF-71B8-2DC7-A7E8-7A03D96C389F}"/>
              </a:ext>
            </a:extLst>
          </p:cNvPr>
          <p:cNvGraphicFramePr>
            <a:graphicFrameLocks noGrp="1"/>
          </p:cNvGraphicFramePr>
          <p:nvPr>
            <p:extLst>
              <p:ext uri="{D42A27DB-BD31-4B8C-83A1-F6EECF244321}">
                <p14:modId xmlns:p14="http://schemas.microsoft.com/office/powerpoint/2010/main" val="3732550691"/>
              </p:ext>
            </p:extLst>
          </p:nvPr>
        </p:nvGraphicFramePr>
        <p:xfrm>
          <a:off x="3315115" y="2618611"/>
          <a:ext cx="6174192" cy="4077389"/>
        </p:xfrm>
        <a:graphic>
          <a:graphicData uri="http://schemas.openxmlformats.org/drawingml/2006/table">
            <a:tbl>
              <a:tblPr firstRow="1" bandRow="1">
                <a:tableStyleId>{2D5ABB26-0587-4C30-8999-92F81FD0307C}</a:tableStyleId>
              </a:tblPr>
              <a:tblGrid>
                <a:gridCol w="6174192">
                  <a:extLst>
                    <a:ext uri="{9D8B030D-6E8A-4147-A177-3AD203B41FA5}">
                      <a16:colId xmlns:a16="http://schemas.microsoft.com/office/drawing/2014/main" val="982438478"/>
                    </a:ext>
                  </a:extLst>
                </a:gridCol>
              </a:tblGrid>
              <a:tr h="1081463">
                <a:tc>
                  <a:txBody>
                    <a:bodyPr/>
                    <a:lstStyle/>
                    <a:p>
                      <a:pPr algn="ctr"/>
                      <a:r>
                        <a:rPr lang="en-AU" sz="2800" dirty="0">
                          <a:solidFill>
                            <a:schemeClr val="accent1"/>
                          </a:solidFill>
                          <a:latin typeface="Edu NSW ACT Foundation" pitchFamily="2" charset="0"/>
                        </a:rPr>
                        <a:t>Lucy created 3 paintings. Her friend Thomas created 4 times as many paintings.</a:t>
                      </a: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978370993"/>
                  </a:ext>
                </a:extLst>
              </a:tr>
              <a:tr h="2995926">
                <a:tc>
                  <a:txBody>
                    <a:bodyPr/>
                    <a:lstStyle/>
                    <a:p>
                      <a:pPr algn="ctr"/>
                      <a:endParaRPr lang="en-AU" b="1" dirty="0">
                        <a:latin typeface="Edu NSW ACT Foundation" pitchFamily="2" charset="0"/>
                      </a:endParaRPr>
                    </a:p>
                  </a:txBody>
                  <a:tcP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2664902"/>
                  </a:ext>
                </a:extLst>
              </a:tr>
            </a:tbl>
          </a:graphicData>
        </a:graphic>
      </p:graphicFrame>
      <p:graphicFrame>
        <p:nvGraphicFramePr>
          <p:cNvPr id="29" name="Table 28" descr="1 x 3 array">
            <a:extLst>
              <a:ext uri="{FF2B5EF4-FFF2-40B4-BE49-F238E27FC236}">
                <a16:creationId xmlns:a16="http://schemas.microsoft.com/office/drawing/2014/main" id="{6CEF9C91-3A35-8B5A-E206-7792FEECD163}"/>
              </a:ext>
            </a:extLst>
          </p:cNvPr>
          <p:cNvGraphicFramePr>
            <a:graphicFrameLocks noGrp="1"/>
          </p:cNvGraphicFramePr>
          <p:nvPr>
            <p:extLst>
              <p:ext uri="{D42A27DB-BD31-4B8C-83A1-F6EECF244321}">
                <p14:modId xmlns:p14="http://schemas.microsoft.com/office/powerpoint/2010/main" val="410335115"/>
              </p:ext>
            </p:extLst>
          </p:nvPr>
        </p:nvGraphicFramePr>
        <p:xfrm>
          <a:off x="5661623" y="3851902"/>
          <a:ext cx="1323132" cy="370840"/>
        </p:xfrm>
        <a:graphic>
          <a:graphicData uri="http://schemas.openxmlformats.org/drawingml/2006/table">
            <a:tbl>
              <a:tblPr firstRow="1" bandRow="1">
                <a:tableStyleId>{5A111915-BE36-4E01-A7E5-04B1672EAD32}</a:tableStyleId>
              </a:tblPr>
              <a:tblGrid>
                <a:gridCol w="441044">
                  <a:extLst>
                    <a:ext uri="{9D8B030D-6E8A-4147-A177-3AD203B41FA5}">
                      <a16:colId xmlns:a16="http://schemas.microsoft.com/office/drawing/2014/main" val="177983304"/>
                    </a:ext>
                  </a:extLst>
                </a:gridCol>
                <a:gridCol w="441044">
                  <a:extLst>
                    <a:ext uri="{9D8B030D-6E8A-4147-A177-3AD203B41FA5}">
                      <a16:colId xmlns:a16="http://schemas.microsoft.com/office/drawing/2014/main" val="4229463980"/>
                    </a:ext>
                  </a:extLst>
                </a:gridCol>
                <a:gridCol w="441044">
                  <a:extLst>
                    <a:ext uri="{9D8B030D-6E8A-4147-A177-3AD203B41FA5}">
                      <a16:colId xmlns:a16="http://schemas.microsoft.com/office/drawing/2014/main" val="547223581"/>
                    </a:ext>
                  </a:extLst>
                </a:gridCol>
              </a:tblGrid>
              <a:tr h="370840">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633204755"/>
                  </a:ext>
                </a:extLst>
              </a:tr>
            </a:tbl>
          </a:graphicData>
        </a:graphic>
      </p:graphicFrame>
      <p:cxnSp>
        <p:nvCxnSpPr>
          <p:cNvPr id="31" name="Straight Arrow Connector 30" descr="An arrow pointing down">
            <a:extLst>
              <a:ext uri="{FF2B5EF4-FFF2-40B4-BE49-F238E27FC236}">
                <a16:creationId xmlns:a16="http://schemas.microsoft.com/office/drawing/2014/main" id="{A22E116C-B3CE-1426-FD56-9A3D8FBF88C1}"/>
              </a:ext>
            </a:extLst>
          </p:cNvPr>
          <p:cNvCxnSpPr>
            <a:cxnSpLocks/>
          </p:cNvCxnSpPr>
          <p:nvPr/>
        </p:nvCxnSpPr>
        <p:spPr>
          <a:xfrm>
            <a:off x="6316682" y="4357022"/>
            <a:ext cx="0" cy="41768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Table 32" descr="4 x 3 array">
            <a:extLst>
              <a:ext uri="{FF2B5EF4-FFF2-40B4-BE49-F238E27FC236}">
                <a16:creationId xmlns:a16="http://schemas.microsoft.com/office/drawing/2014/main" id="{7A3FD62D-83BC-6E1A-CB64-F7563F13A36B}"/>
              </a:ext>
            </a:extLst>
          </p:cNvPr>
          <p:cNvGraphicFramePr>
            <a:graphicFrameLocks noGrp="1"/>
          </p:cNvGraphicFramePr>
          <p:nvPr>
            <p:extLst>
              <p:ext uri="{D42A27DB-BD31-4B8C-83A1-F6EECF244321}">
                <p14:modId xmlns:p14="http://schemas.microsoft.com/office/powerpoint/2010/main" val="1860154267"/>
              </p:ext>
            </p:extLst>
          </p:nvPr>
        </p:nvGraphicFramePr>
        <p:xfrm>
          <a:off x="5655116" y="4897850"/>
          <a:ext cx="1323132" cy="1483360"/>
        </p:xfrm>
        <a:graphic>
          <a:graphicData uri="http://schemas.openxmlformats.org/drawingml/2006/table">
            <a:tbl>
              <a:tblPr firstRow="1" bandRow="1">
                <a:tableStyleId>{5A111915-BE36-4E01-A7E5-04B1672EAD32}</a:tableStyleId>
              </a:tblPr>
              <a:tblGrid>
                <a:gridCol w="441044">
                  <a:extLst>
                    <a:ext uri="{9D8B030D-6E8A-4147-A177-3AD203B41FA5}">
                      <a16:colId xmlns:a16="http://schemas.microsoft.com/office/drawing/2014/main" val="177983304"/>
                    </a:ext>
                  </a:extLst>
                </a:gridCol>
                <a:gridCol w="441044">
                  <a:extLst>
                    <a:ext uri="{9D8B030D-6E8A-4147-A177-3AD203B41FA5}">
                      <a16:colId xmlns:a16="http://schemas.microsoft.com/office/drawing/2014/main" val="4229463980"/>
                    </a:ext>
                  </a:extLst>
                </a:gridCol>
                <a:gridCol w="441044">
                  <a:extLst>
                    <a:ext uri="{9D8B030D-6E8A-4147-A177-3AD203B41FA5}">
                      <a16:colId xmlns:a16="http://schemas.microsoft.com/office/drawing/2014/main" val="547223581"/>
                    </a:ext>
                  </a:extLst>
                </a:gridCol>
              </a:tblGrid>
              <a:tr h="370840">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633204755"/>
                  </a:ext>
                </a:extLst>
              </a:tr>
              <a:tr h="370840">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628871698"/>
                  </a:ext>
                </a:extLst>
              </a:tr>
              <a:tr h="370840">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674083770"/>
                  </a:ext>
                </a:extLst>
              </a:tr>
              <a:tr h="370840">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tc>
                  <a:txBody>
                    <a:bodyPr/>
                    <a:lstStyle/>
                    <a:p>
                      <a:endParaRPr lang="en-AU" dirty="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081430871"/>
                  </a:ext>
                </a:extLst>
              </a:tr>
            </a:tbl>
          </a:graphicData>
        </a:graphic>
      </p:graphicFrame>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(34)</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79851AD-3063-A414-7C8B-ED3EC8995E2C}"/>
              </a:ext>
            </a:extLst>
          </p:cNvPr>
          <p:cNvSpPr txBox="1"/>
          <p:nvPr/>
        </p:nvSpPr>
        <p:spPr>
          <a:xfrm>
            <a:off x="79022" y="2376342"/>
            <a:ext cx="12112978" cy="982513"/>
          </a:xfrm>
          <a:prstGeom prst="rect">
            <a:avLst/>
          </a:prstGeom>
          <a:noFill/>
        </p:spPr>
        <p:txBody>
          <a:bodyPr wrap="square">
            <a:spAutoFit/>
          </a:bodyPr>
          <a:lstStyle/>
          <a:p>
            <a:pPr algn="ctr">
              <a:lnSpc>
                <a:spcPct val="150000"/>
              </a:lnSpc>
            </a:pPr>
            <a:r>
              <a:rPr lang="en-AU" sz="4400" b="1" kern="1200">
                <a:solidFill>
                  <a:schemeClr val="tx1"/>
                </a:solidFill>
                <a:effectLst/>
                <a:latin typeface="Arial" panose="020B0604020202020204" pitchFamily="34" charset="0"/>
                <a:ea typeface="+mn-ea"/>
                <a:cs typeface="Arial" panose="020B0604020202020204" pitchFamily="34" charset="0"/>
              </a:rPr>
              <a:t>Explain </a:t>
            </a:r>
            <a:r>
              <a:rPr lang="en-AU" sz="4400" kern="1200">
                <a:solidFill>
                  <a:schemeClr val="tx1"/>
                </a:solidFill>
                <a:effectLst/>
                <a:latin typeface="Arial" panose="020B0604020202020204" pitchFamily="34" charset="0"/>
                <a:ea typeface="+mn-ea"/>
                <a:cs typeface="Arial" panose="020B0604020202020204" pitchFamily="34" charset="0"/>
              </a:rPr>
              <a:t>the term </a:t>
            </a:r>
            <a:r>
              <a:rPr lang="en-AU" sz="4400" b="1" kern="1200">
                <a:solidFill>
                  <a:schemeClr val="tx1"/>
                </a:solidFill>
                <a:effectLst/>
                <a:latin typeface="Arial" panose="020B0604020202020204" pitchFamily="34" charset="0"/>
                <a:ea typeface="+mn-ea"/>
                <a:cs typeface="Arial" panose="020B0604020202020204" pitchFamily="34" charset="0"/>
              </a:rPr>
              <a:t>‘perimeter’</a:t>
            </a:r>
            <a:r>
              <a:rPr lang="en-AU" sz="4400" kern="1200">
                <a:solidFill>
                  <a:schemeClr val="tx1"/>
                </a:solidFill>
                <a:effectLst/>
                <a:latin typeface="Arial" panose="020B0604020202020204" pitchFamily="34" charset="0"/>
                <a:ea typeface="+mn-ea"/>
                <a:cs typeface="Arial" panose="020B0604020202020204" pitchFamily="34" charset="0"/>
              </a:rPr>
              <a:t>.</a:t>
            </a:r>
            <a:endParaRPr lang="en-AU" sz="4400"/>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representing and partitioning 4-digit numbers</a:t>
            </a:r>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013AE6FC-F89C-B3DD-939B-150362374A67}"/>
              </a:ext>
            </a:extLst>
          </p:cNvPr>
          <p:cNvSpPr txBox="1"/>
          <p:nvPr/>
        </p:nvSpPr>
        <p:spPr>
          <a:xfrm>
            <a:off x="1805064" y="1018614"/>
            <a:ext cx="7842899" cy="901593"/>
          </a:xfrm>
          <a:prstGeom prst="rect">
            <a:avLst/>
          </a:prstGeom>
          <a:noFill/>
        </p:spPr>
        <p:txBody>
          <a:bodyPr wrap="square">
            <a:spAutoFit/>
          </a:bodyPr>
          <a:lstStyle/>
          <a:p>
            <a:pPr algn="ctr">
              <a:lnSpc>
                <a:spcPct val="150000"/>
              </a:lnSpc>
            </a:pPr>
            <a:r>
              <a:rPr lang="en-AU" sz="4000" kern="1200">
                <a:solidFill>
                  <a:schemeClr val="accent2"/>
                </a:solidFill>
                <a:effectLst/>
                <a:latin typeface="Arial" panose="020B0604020202020204" pitchFamily="34" charset="0"/>
                <a:ea typeface="+mn-ea"/>
                <a:cs typeface="Arial" panose="020B0604020202020204" pitchFamily="34" charset="0"/>
              </a:rPr>
              <a:t>Two truths and one lie.</a:t>
            </a:r>
            <a:endParaRPr lang="en-AU" sz="4000" b="1">
              <a:solidFill>
                <a:schemeClr val="accent2"/>
              </a:solidFill>
            </a:endParaRPr>
          </a:p>
        </p:txBody>
      </p:sp>
      <p:sp>
        <p:nvSpPr>
          <p:cNvPr id="9" name="TextBox 8">
            <a:extLst>
              <a:ext uri="{FF2B5EF4-FFF2-40B4-BE49-F238E27FC236}">
                <a16:creationId xmlns:a16="http://schemas.microsoft.com/office/drawing/2014/main" id="{4B23A3DF-6CC9-46B5-4620-0C87613493DE}"/>
              </a:ext>
            </a:extLst>
          </p:cNvPr>
          <p:cNvSpPr txBox="1"/>
          <p:nvPr/>
        </p:nvSpPr>
        <p:spPr>
          <a:xfrm>
            <a:off x="347993" y="2088888"/>
            <a:ext cx="11303673" cy="2055756"/>
          </a:xfrm>
          <a:prstGeom prst="rect">
            <a:avLst/>
          </a:prstGeom>
          <a:noFill/>
        </p:spPr>
        <p:txBody>
          <a:bodyPr wrap="square">
            <a:spAutoFit/>
          </a:bodyPr>
          <a:lstStyle/>
          <a:p>
            <a:pPr lvl="0" algn="ctr">
              <a:lnSpc>
                <a:spcPct val="150000"/>
              </a:lnSpc>
              <a:spcBef>
                <a:spcPts val="600"/>
              </a:spcBef>
              <a:spcAft>
                <a:spcPts val="600"/>
              </a:spcAft>
            </a:pPr>
            <a:r>
              <a:rPr lang="en-AU" sz="4000">
                <a:effectLst/>
                <a:latin typeface="Arial" panose="020B0604020202020204" pitchFamily="34" charset="0"/>
                <a:ea typeface="Calibri" panose="020F0502020204030204" pitchFamily="34" charset="0"/>
              </a:rPr>
              <a:t>Which </a:t>
            </a:r>
            <a:r>
              <a:rPr lang="en-AU" sz="4000" i="1" u="sng">
                <a:effectLst/>
                <a:latin typeface="Arial" panose="020B0604020202020204" pitchFamily="34" charset="0"/>
                <a:ea typeface="Calibri" panose="020F0502020204030204" pitchFamily="34" charset="0"/>
              </a:rPr>
              <a:t>two</a:t>
            </a:r>
            <a:r>
              <a:rPr lang="en-AU" sz="4000">
                <a:effectLst/>
                <a:latin typeface="Arial" panose="020B0604020202020204" pitchFamily="34" charset="0"/>
                <a:ea typeface="Calibri" panose="020F0502020204030204" pitchFamily="34" charset="0"/>
              </a:rPr>
              <a:t> of these </a:t>
            </a:r>
            <a:r>
              <a:rPr lang="en-AU" sz="4000" b="1">
                <a:effectLst/>
                <a:latin typeface="Arial" panose="020B0604020202020204" pitchFamily="34" charset="0"/>
                <a:ea typeface="Calibri" panose="020F0502020204030204" pitchFamily="34" charset="0"/>
              </a:rPr>
              <a:t>statements</a:t>
            </a:r>
            <a:r>
              <a:rPr lang="en-AU" sz="4000">
                <a:effectLst/>
                <a:latin typeface="Arial" panose="020B0604020202020204" pitchFamily="34" charset="0"/>
                <a:ea typeface="Calibri" panose="020F0502020204030204" pitchFamily="34" charset="0"/>
              </a:rPr>
              <a:t> are </a:t>
            </a:r>
            <a:r>
              <a:rPr lang="en-AU" sz="4000" b="1">
                <a:effectLst/>
                <a:latin typeface="Arial" panose="020B0604020202020204" pitchFamily="34" charset="0"/>
                <a:ea typeface="Calibri" panose="020F0502020204030204" pitchFamily="34" charset="0"/>
              </a:rPr>
              <a:t>true</a:t>
            </a:r>
            <a:r>
              <a:rPr lang="en-AU" sz="4000">
                <a:effectLst/>
                <a:latin typeface="Arial" panose="020B0604020202020204" pitchFamily="34" charset="0"/>
                <a:ea typeface="Calibri" panose="020F0502020204030204" pitchFamily="34" charset="0"/>
              </a:rPr>
              <a:t> </a:t>
            </a:r>
          </a:p>
          <a:p>
            <a:pPr lvl="0" algn="ctr">
              <a:lnSpc>
                <a:spcPct val="150000"/>
              </a:lnSpc>
              <a:spcBef>
                <a:spcPts val="600"/>
              </a:spcBef>
              <a:spcAft>
                <a:spcPts val="600"/>
              </a:spcAft>
            </a:pPr>
            <a:r>
              <a:rPr lang="en-AU" sz="4000">
                <a:effectLst/>
                <a:latin typeface="Arial" panose="020B0604020202020204" pitchFamily="34" charset="0"/>
                <a:ea typeface="Calibri" panose="020F0502020204030204" pitchFamily="34" charset="0"/>
              </a:rPr>
              <a:t>and which </a:t>
            </a:r>
            <a:r>
              <a:rPr lang="en-AU" sz="4000" i="1" u="sng">
                <a:effectLst/>
                <a:latin typeface="Arial" panose="020B0604020202020204" pitchFamily="34" charset="0"/>
                <a:ea typeface="Calibri" panose="020F0502020204030204" pitchFamily="34" charset="0"/>
              </a:rPr>
              <a:t>one</a:t>
            </a:r>
            <a:r>
              <a:rPr lang="en-AU" sz="4000">
                <a:effectLst/>
                <a:latin typeface="Arial" panose="020B0604020202020204" pitchFamily="34" charset="0"/>
                <a:ea typeface="Calibri" panose="020F0502020204030204" pitchFamily="34" charset="0"/>
              </a:rPr>
              <a:t> is </a:t>
            </a:r>
            <a:r>
              <a:rPr lang="en-AU" sz="4000" b="1">
                <a:effectLst/>
                <a:latin typeface="Arial" panose="020B0604020202020204" pitchFamily="34" charset="0"/>
                <a:ea typeface="Calibri" panose="020F0502020204030204" pitchFamily="34" charset="0"/>
              </a:rPr>
              <a:t>false</a:t>
            </a:r>
            <a:r>
              <a:rPr lang="en-AU" sz="4000">
                <a:effectLst/>
                <a:latin typeface="Arial" panose="020B0604020202020204" pitchFamily="34" charset="0"/>
                <a:ea typeface="Calibri" panose="020F0502020204030204" pitchFamily="34" charset="0"/>
              </a:rPr>
              <a:t>?</a:t>
            </a:r>
          </a:p>
        </p:txBody>
      </p:sp>
      <p:sp>
        <p:nvSpPr>
          <p:cNvPr id="5" name="TextBox 4">
            <a:extLst>
              <a:ext uri="{FF2B5EF4-FFF2-40B4-BE49-F238E27FC236}">
                <a16:creationId xmlns:a16="http://schemas.microsoft.com/office/drawing/2014/main" id="{B224815E-25C9-58DE-988C-1C0EFF3C9752}"/>
              </a:ext>
            </a:extLst>
          </p:cNvPr>
          <p:cNvSpPr txBox="1"/>
          <p:nvPr/>
        </p:nvSpPr>
        <p:spPr>
          <a:xfrm>
            <a:off x="347994" y="4190380"/>
            <a:ext cx="11303673" cy="2413161"/>
          </a:xfrm>
          <a:prstGeom prst="rect">
            <a:avLst/>
          </a:prstGeom>
          <a:noFill/>
        </p:spPr>
        <p:txBody>
          <a:bodyPr wrap="square">
            <a:spAutoFit/>
          </a:bodyPr>
          <a:lstStyle/>
          <a:p>
            <a:pPr marL="457200" lvl="0" indent="-457200">
              <a:lnSpc>
                <a:spcPct val="150000"/>
              </a:lnSpc>
              <a:spcBef>
                <a:spcPts val="1200"/>
              </a:spcBef>
              <a:spcAft>
                <a:spcPts val="600"/>
              </a:spcAft>
              <a:buFont typeface="Wingdings" panose="05000000000000000000" pitchFamily="2" charset="2"/>
              <a:buChar char="q"/>
            </a:pPr>
            <a:r>
              <a:rPr lang="en-AU" sz="2800">
                <a:effectLst/>
                <a:latin typeface="Arial" panose="020B0604020202020204" pitchFamily="34" charset="0"/>
                <a:ea typeface="Calibri" panose="020F0502020204030204" pitchFamily="34" charset="0"/>
                <a:cs typeface="Times New Roman" panose="02020603050405020304" pitchFamily="18" charset="0"/>
              </a:rPr>
              <a:t>32 can be represented with five MABs, for example, 3 tens, 2 ones </a:t>
            </a:r>
          </a:p>
          <a:p>
            <a:pPr marL="457200" lvl="0" indent="-457200">
              <a:lnSpc>
                <a:spcPct val="150000"/>
              </a:lnSpc>
              <a:spcBef>
                <a:spcPts val="1200"/>
              </a:spcBef>
              <a:spcAft>
                <a:spcPts val="600"/>
              </a:spcAft>
              <a:buFont typeface="Wingdings" panose="05000000000000000000" pitchFamily="2" charset="2"/>
              <a:buChar char="q"/>
            </a:pPr>
            <a:r>
              <a:rPr lang="en-AU" sz="2800">
                <a:effectLst/>
                <a:latin typeface="Arial" panose="020B0604020202020204" pitchFamily="34" charset="0"/>
                <a:ea typeface="Calibri" panose="020F0502020204030204" pitchFamily="34" charset="0"/>
                <a:cs typeface="Times New Roman" panose="02020603050405020304" pitchFamily="18" charset="0"/>
              </a:rPr>
              <a:t>68 can be represented with 41 MABs</a:t>
            </a:r>
          </a:p>
          <a:p>
            <a:pPr marL="457200" lvl="0" indent="-457200">
              <a:lnSpc>
                <a:spcPct val="150000"/>
              </a:lnSpc>
              <a:spcBef>
                <a:spcPts val="1200"/>
              </a:spcBef>
              <a:spcAft>
                <a:spcPts val="600"/>
              </a:spcAft>
              <a:buFont typeface="Wingdings" panose="05000000000000000000" pitchFamily="2" charset="2"/>
              <a:buChar char="q"/>
            </a:pPr>
            <a:r>
              <a:rPr lang="en-AU" sz="2800">
                <a:effectLst/>
                <a:latin typeface="Arial" panose="020B0604020202020204" pitchFamily="34" charset="0"/>
                <a:ea typeface="Calibri" panose="020F0502020204030204" pitchFamily="34" charset="0"/>
                <a:cs typeface="Times New Roman" panose="02020603050405020304" pitchFamily="18" charset="0"/>
              </a:rPr>
              <a:t>45 can be represented with 28 MABs.</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a:t>
            </a:r>
            <a:r>
              <a:rPr kumimoji="0" lang="en-AU" sz="1200" b="0" i="0" u="none" strike="noStrike" kern="1200" cap="none" spc="0" normalizeH="0" baseline="0" noProof="0">
                <a:ln>
                  <a:noFill/>
                </a:ln>
                <a:solidFill>
                  <a:srgbClr val="22272B"/>
                </a:solidFill>
                <a:effectLst/>
                <a:uLnTx/>
                <a:uFillTx/>
                <a:latin typeface="Public Sans Light"/>
                <a:ea typeface="+mn-ea"/>
                <a:cs typeface="+mn-cs"/>
              </a:rPr>
              <a:t>versions</a:t>
            </a:r>
            <a:r>
              <a:rPr kumimoji="0" lang="en-AU" sz="1200" b="0" i="0" u="none" strike="noStrike" kern="1200" cap="none" spc="0" normalizeH="0" baseline="0" noProof="0">
                <a:ln>
                  <a:noFill/>
                </a:ln>
                <a:solidFill>
                  <a:srgbClr val="FFFFFF"/>
                </a:solidFill>
                <a:effectLst/>
                <a:uLnTx/>
                <a:uFillTx/>
                <a:latin typeface="Public Sans Light"/>
                <a:ea typeface="+mn-ea"/>
                <a:cs typeface="+mn-cs"/>
              </a:rPr>
              <a:t>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sz="1400" u="sng">
                <a:latin typeface="Arial" panose="020B0604020202020204" pitchFamily="34" charset="0"/>
                <a:hlinkClick r:id="rId6"/>
              </a:rPr>
              <a:t>Mathematics K–10 Syllabus</a:t>
            </a:r>
            <a:r>
              <a:rPr lang="en-AU" sz="1400">
                <a:latin typeface="Arial" panose="020B0604020202020204" pitchFamily="34" charset="0"/>
              </a:rPr>
              <a:t> © NSW Education Standards Authority (NESA) for and on behalf of the Crown in right of the State of New South Wales, 2022.</a:t>
            </a:r>
          </a:p>
          <a:p>
            <a:r>
              <a:rPr lang="en-AU" sz="1400" u="sng">
                <a:latin typeface="Arial" panose="020B0604020202020204" pitchFamily="34" charset="0"/>
                <a:hlinkClick r:id="rId7"/>
              </a:rPr>
              <a:t>National Numeracy Learning Progression</a:t>
            </a:r>
            <a:r>
              <a:rPr lang="en-AU" sz="1400">
                <a:latin typeface="Arial" panose="020B0604020202020204" pitchFamily="34" charset="0"/>
              </a:rPr>
              <a:t> © Australian Curriculum, Assessment and Reporting Authority (ACARA) 2010 to present, unless otherwise indicated. This material was downloaded from the </a:t>
            </a:r>
            <a:r>
              <a:rPr lang="en-AU" sz="1400" u="sng">
                <a:latin typeface="Arial" panose="020B0604020202020204" pitchFamily="34" charset="0"/>
                <a:hlinkClick r:id="rId8"/>
              </a:rPr>
              <a:t>Australian Curriculum</a:t>
            </a:r>
            <a:r>
              <a:rPr lang="en-AU" sz="1400">
                <a:latin typeface="Arial" panose="020B0604020202020204" pitchFamily="34" charset="0"/>
              </a:rPr>
              <a:t> website (National Numeracy Learning Progression) (accessed 24 February 2026) and was not modified.</a:t>
            </a:r>
          </a:p>
          <a:p>
            <a:pPr>
              <a:lnSpc>
                <a:spcPct val="150000"/>
              </a:lnSpc>
              <a:spcBef>
                <a:spcPts val="1200"/>
              </a:spcBef>
              <a:spcAft>
                <a:spcPts val="600"/>
              </a:spcAft>
              <a:buNone/>
            </a:pPr>
            <a:r>
              <a:rPr lang="en-AU" sz="1400">
                <a:effectLst/>
                <a:latin typeface="Arial" panose="020B0604020202020204" pitchFamily="34" charset="0"/>
                <a:ea typeface="Calibri" panose="020F0502020204030204" pitchFamily="34" charset="0"/>
              </a:rPr>
              <a:t>Meaningful Maths (n.d.) </a:t>
            </a:r>
            <a:r>
              <a:rPr lang="en-AU" sz="1400" i="1" u="sng">
                <a:solidFill>
                  <a:srgbClr val="2F5496"/>
                </a:solidFill>
                <a:effectLst/>
                <a:latin typeface="Arial" panose="020B0604020202020204" pitchFamily="34" charset="0"/>
                <a:ea typeface="Calibri" panose="020F0502020204030204" pitchFamily="34" charset="0"/>
                <a:hlinkClick r:id="rId9"/>
              </a:rPr>
              <a:t>Banana Cake</a:t>
            </a:r>
            <a:r>
              <a:rPr lang="en-AU" sz="1400">
                <a:effectLst/>
                <a:latin typeface="Arial" panose="020B0604020202020204" pitchFamily="34" charset="0"/>
                <a:ea typeface="Calibri" panose="020F0502020204030204" pitchFamily="34" charset="0"/>
              </a:rPr>
              <a:t>, Meaningful Maths website, accessed 19 February 2026.</a:t>
            </a:r>
          </a:p>
          <a:p>
            <a:pPr>
              <a:spcBef>
                <a:spcPts val="1200"/>
              </a:spcBef>
              <a:spcAft>
                <a:spcPts val="600"/>
              </a:spcAft>
            </a:pPr>
            <a:r>
              <a:rPr lang="en-AU" sz="1400">
                <a:latin typeface="Arial" panose="020B0604020202020204" pitchFamily="34" charset="0"/>
                <a:ea typeface="Arial" panose="020B0604020202020204" pitchFamily="34" charset="0"/>
              </a:rPr>
              <a:t>State of New South Wales (Department of Education) (2023) </a:t>
            </a:r>
            <a:r>
              <a:rPr lang="en-AU" sz="1400" i="1" u="sng">
                <a:solidFill>
                  <a:srgbClr val="2F5496"/>
                </a:solidFill>
                <a:latin typeface="Arial" panose="020B0604020202020204" pitchFamily="34" charset="0"/>
                <a:ea typeface="Calibri" panose="020F0502020204030204" pitchFamily="34" charset="0"/>
                <a:hlinkClick r:id="rId10"/>
              </a:rPr>
              <a:t>Identifies, represents and compares decimals</a:t>
            </a:r>
            <a:r>
              <a:rPr lang="en-AU" sz="1400">
                <a:latin typeface="Arial" panose="020B0604020202020204" pitchFamily="34" charset="0"/>
                <a:ea typeface="Arial" panose="020B0604020202020204" pitchFamily="34" charset="0"/>
              </a:rPr>
              <a:t>, Universal Resource Hub</a:t>
            </a:r>
            <a:r>
              <a:rPr lang="en-AU" sz="1400" u="sng">
                <a:solidFill>
                  <a:srgbClr val="2F5496"/>
                </a:solidFill>
                <a:latin typeface="Arial" panose="020B0604020202020204" pitchFamily="34" charset="0"/>
                <a:ea typeface="Arial" panose="020B0604020202020204" pitchFamily="34" charset="0"/>
              </a:rPr>
              <a:t> </a:t>
            </a:r>
            <a:r>
              <a:rPr lang="en-AU" sz="1400">
                <a:latin typeface="Arial" panose="020B0604020202020204" pitchFamily="34" charset="0"/>
                <a:ea typeface="Arial" panose="020B0604020202020204" pitchFamily="34" charset="0"/>
              </a:rPr>
              <a:t>website, accessed 27 November 2023. </a:t>
            </a:r>
          </a:p>
          <a:p>
            <a:pPr>
              <a:spcBef>
                <a:spcPts val="1200"/>
              </a:spcBef>
              <a:spcAft>
                <a:spcPts val="600"/>
              </a:spcAft>
            </a:pPr>
            <a:endParaRPr lang="en-AU" sz="1400">
              <a:latin typeface="Arial" panose="020B0604020202020204" pitchFamily="34" charset="0"/>
              <a:ea typeface="Calibri" panose="020F0502020204030204" pitchFamily="34" charset="0"/>
            </a:endParaRPr>
          </a:p>
          <a:p>
            <a:pPr>
              <a:lnSpc>
                <a:spcPct val="150000"/>
              </a:lnSpc>
              <a:spcBef>
                <a:spcPts val="1200"/>
              </a:spcBef>
              <a:spcAft>
                <a:spcPts val="600"/>
              </a:spcAft>
              <a:buNone/>
            </a:pPr>
            <a:endParaRPr lang="en-AU" sz="1400">
              <a:effectLst/>
              <a:latin typeface="Arial" panose="020B0604020202020204" pitchFamily="34" charset="0"/>
              <a:ea typeface="Calibri" panose="020F0502020204030204" pitchFamily="34" charset="0"/>
            </a:endParaRPr>
          </a:p>
          <a:p>
            <a:endParaRPr lang="en-AU"/>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60</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281812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FE08D-7AAD-42A2-3836-5A5652091D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CD7398-B48F-4700-DC98-8AD420B724E3}"/>
              </a:ext>
            </a:extLst>
          </p:cNvPr>
          <p:cNvSpPr>
            <a:spLocks noGrp="1"/>
          </p:cNvSpPr>
          <p:nvPr>
            <p:ph type="title"/>
          </p:nvPr>
        </p:nvSpPr>
        <p:spPr/>
        <p:txBody>
          <a:bodyPr/>
          <a:lstStyle/>
          <a:p>
            <a:r>
              <a:rPr lang="en-AU"/>
              <a:t>References (2)</a:t>
            </a:r>
          </a:p>
        </p:txBody>
      </p:sp>
      <p:sp>
        <p:nvSpPr>
          <p:cNvPr id="6" name="TextBox 5">
            <a:extLst>
              <a:ext uri="{FF2B5EF4-FFF2-40B4-BE49-F238E27FC236}">
                <a16:creationId xmlns:a16="http://schemas.microsoft.com/office/drawing/2014/main" id="{8B10C9E1-D8FB-8A62-24F2-53BFFE210CC8}"/>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a:t>
            </a:r>
            <a:r>
              <a:rPr kumimoji="0" lang="en-AU" sz="1200" b="0" i="0" u="none" strike="noStrike" kern="1200" cap="none" spc="0" normalizeH="0" baseline="0" noProof="0">
                <a:ln>
                  <a:noFill/>
                </a:ln>
                <a:solidFill>
                  <a:srgbClr val="22272B"/>
                </a:solidFill>
                <a:effectLst/>
                <a:uLnTx/>
                <a:uFillTx/>
                <a:latin typeface="Public Sans Light"/>
                <a:ea typeface="+mn-ea"/>
                <a:cs typeface="+mn-cs"/>
              </a:rPr>
              <a:t>versions</a:t>
            </a:r>
            <a:r>
              <a:rPr kumimoji="0" lang="en-AU" sz="1200" b="0" i="0" u="none" strike="noStrike" kern="1200" cap="none" spc="0" normalizeH="0" baseline="0" noProof="0">
                <a:ln>
                  <a:noFill/>
                </a:ln>
                <a:solidFill>
                  <a:srgbClr val="FFFFFF"/>
                </a:solidFill>
                <a:effectLst/>
                <a:uLnTx/>
                <a:uFillTx/>
                <a:latin typeface="Public Sans Light"/>
                <a:ea typeface="+mn-ea"/>
                <a:cs typeface="+mn-cs"/>
              </a:rPr>
              <a:t>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665B45BA-2D7A-F54F-3B94-7050C3EC7E56}"/>
              </a:ext>
            </a:extLst>
          </p:cNvPr>
          <p:cNvSpPr>
            <a:spLocks noGrp="1"/>
          </p:cNvSpPr>
          <p:nvPr>
            <p:ph idx="1"/>
          </p:nvPr>
        </p:nvSpPr>
        <p:spPr/>
        <p:txBody>
          <a:bodyPr vert="horz" lIns="0" tIns="0" rIns="0" bIns="0" rtlCol="0" anchor="t">
            <a:noAutofit/>
          </a:bodyPr>
          <a:lstStyle/>
          <a:p>
            <a:r>
              <a:rPr lang="en-AU" sz="1400"/>
              <a:t>State of New South Wales (Department of Education) (n.d.) N, S, E, W S2, </a:t>
            </a:r>
            <a:r>
              <a:rPr lang="en-AU" sz="1400">
                <a:hlinkClick r:id="rId6"/>
              </a:rPr>
              <a:t>Thinking while Moving </a:t>
            </a:r>
            <a:r>
              <a:rPr lang="en-AU" sz="1400"/>
              <a:t>website, accessed 25 March 2026.</a:t>
            </a:r>
          </a:p>
          <a:p>
            <a:r>
              <a:rPr lang="en-AU" sz="1400">
                <a:latin typeface="Arial" panose="020B0604020202020204" pitchFamily="34" charset="0"/>
              </a:rPr>
              <a:t>University of Cambridge (Faculty of Mathematics) (n.d.) </a:t>
            </a:r>
            <a:r>
              <a:rPr lang="en-AU" sz="1400" i="1" u="sng">
                <a:latin typeface="Arial" panose="020B0604020202020204" pitchFamily="34" charset="0"/>
                <a:hlinkClick r:id="rId7"/>
              </a:rPr>
              <a:t>The Hair Colour Game</a:t>
            </a:r>
            <a:r>
              <a:rPr lang="en-AU" sz="1400" u="sng">
                <a:latin typeface="Arial" panose="020B0604020202020204" pitchFamily="34" charset="0"/>
              </a:rPr>
              <a:t>,</a:t>
            </a:r>
            <a:r>
              <a:rPr lang="en-AU" sz="1400">
                <a:latin typeface="Arial" panose="020B0604020202020204" pitchFamily="34" charset="0"/>
              </a:rPr>
              <a:t> NRICH website, accessed 2 March 2026. </a:t>
            </a:r>
          </a:p>
          <a:p>
            <a:endParaRPr lang="en-AU" sz="1400">
              <a:latin typeface="Arial" panose="020B0604020202020204" pitchFamily="34" charset="0"/>
            </a:endParaRPr>
          </a:p>
          <a:p>
            <a:endParaRPr lang="en-AU"/>
          </a:p>
        </p:txBody>
      </p:sp>
      <p:sp>
        <p:nvSpPr>
          <p:cNvPr id="2" name="Slide Number Placeholder 1">
            <a:extLst>
              <a:ext uri="{FF2B5EF4-FFF2-40B4-BE49-F238E27FC236}">
                <a16:creationId xmlns:a16="http://schemas.microsoft.com/office/drawing/2014/main" id="{78FEB848-2D7B-0CAE-8109-1886F2D19CEE}"/>
              </a:ext>
            </a:extLst>
          </p:cNvPr>
          <p:cNvSpPr>
            <a:spLocks noGrp="1"/>
          </p:cNvSpPr>
          <p:nvPr>
            <p:ph type="sldNum" sz="quarter" idx="10"/>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61</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541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EE2DB1C7-841E-4BD6-9902-196E4BC3E797}"/>
</file>

<file path=customXml/itemProps3.xml><?xml version="1.0" encoding="utf-8"?>
<ds:datastoreItem xmlns:ds="http://schemas.openxmlformats.org/officeDocument/2006/customXml" ds:itemID="{CE555570-2BD4-426B-AA32-0A79CB6508A8}">
  <ds:schemaRefs>
    <ds:schemaRef ds:uri="http://schemas.microsoft.com/office/2006/documentManagement/types"/>
    <ds:schemaRef ds:uri="http://www.w3.org/XML/1998/namespace"/>
    <ds:schemaRef ds:uri="http://purl.org/dc/dcmitype/"/>
    <ds:schemaRef ds:uri="http://schemas.microsoft.com/office/2006/metadata/properties"/>
    <ds:schemaRef ds:uri="http://purl.org/dc/elements/1.1/"/>
    <ds:schemaRef ds:uri="60129b06-f64b-40a8-96e2-c5b2f86112b1"/>
    <ds:schemaRef ds:uri="http://schemas.microsoft.com/office/infopath/2007/PartnerControls"/>
    <ds:schemaRef ds:uri="http://schemas.openxmlformats.org/package/2006/metadata/core-properties"/>
    <ds:schemaRef ds:uri="7e763d47-3c66-4c58-9425-1477fd3ccd1e"/>
    <ds:schemaRef ds:uri="http://purl.org/dc/te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149</TotalTime>
  <Words>6318</Words>
  <Application>Microsoft Office PowerPoint</Application>
  <PresentationFormat>Widescreen</PresentationFormat>
  <Paragraphs>827</Paragraphs>
  <Slides>62</Slides>
  <Notes>62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62</vt:i4>
      </vt:variant>
    </vt:vector>
  </HeadingPairs>
  <TitlesOfParts>
    <vt:vector size="72" baseType="lpstr">
      <vt:lpstr>Edu NSW ACT Foundation</vt:lpstr>
      <vt:lpstr>Public Sans Light</vt:lpstr>
      <vt:lpstr>Arial</vt:lpstr>
      <vt:lpstr>Public Sans</vt:lpstr>
      <vt:lpstr>Times New Roman</vt:lpstr>
      <vt:lpstr>Calibri</vt:lpstr>
      <vt:lpstr>Cambria Math</vt:lpstr>
      <vt:lpstr>Wingdings</vt:lpstr>
      <vt:lpstr>NSWG Corporate</vt:lpstr>
      <vt:lpstr>1_NSWG Corporate</vt:lpstr>
      <vt:lpstr>Instructions for use</vt:lpstr>
      <vt:lpstr>Review of Learning</vt:lpstr>
      <vt:lpstr>Lessons</vt:lpstr>
      <vt:lpstr>Review of learning 1</vt:lpstr>
      <vt:lpstr>Multiple choice (1)</vt:lpstr>
      <vt:lpstr>Short response (2)</vt:lpstr>
      <vt:lpstr>Short response (3)</vt:lpstr>
      <vt:lpstr>Short response (4)</vt:lpstr>
      <vt:lpstr>Short response (5)</vt:lpstr>
      <vt:lpstr>Activity 1 – ascending and descending order</vt:lpstr>
      <vt:lpstr>Review of learning 2</vt:lpstr>
      <vt:lpstr>True or false (1)</vt:lpstr>
      <vt:lpstr>Short response (6)</vt:lpstr>
      <vt:lpstr>Short response (7)</vt:lpstr>
      <vt:lpstr>Short response (8)</vt:lpstr>
      <vt:lpstr>Short response (9)</vt:lpstr>
      <vt:lpstr>Activity 2 – identifying the nearest thousand</vt:lpstr>
      <vt:lpstr>Review of learning 3</vt:lpstr>
      <vt:lpstr>Multiple choice (2)</vt:lpstr>
      <vt:lpstr>Short response (10)</vt:lpstr>
      <vt:lpstr>Short response (11)</vt:lpstr>
      <vt:lpstr>Short response (12)</vt:lpstr>
      <vt:lpstr>Short response (13)</vt:lpstr>
      <vt:lpstr>Activity 3 – rearranging digits to change the size of a number</vt:lpstr>
      <vt:lpstr>Review of learning 4</vt:lpstr>
      <vt:lpstr>True or false (2)</vt:lpstr>
      <vt:lpstr>Short response (14)</vt:lpstr>
      <vt:lpstr>Short response (15)</vt:lpstr>
      <vt:lpstr>Short response (16)</vt:lpstr>
      <vt:lpstr>Short response (17)</vt:lpstr>
      <vt:lpstr>Activity 4 – rearranging and rounding numbers</vt:lpstr>
      <vt:lpstr>Review of learning 5</vt:lpstr>
      <vt:lpstr>Multiple choice (3)</vt:lpstr>
      <vt:lpstr>Short response (18)</vt:lpstr>
      <vt:lpstr>Short response (19)</vt:lpstr>
      <vt:lpstr>Short response (20)</vt:lpstr>
      <vt:lpstr>Short response (21)</vt:lpstr>
      <vt:lpstr>Activity 5 – recording 4-digit numbers using place value</vt:lpstr>
      <vt:lpstr>Review of learning 6</vt:lpstr>
      <vt:lpstr>True or false (3)</vt:lpstr>
      <vt:lpstr>Short response (22)</vt:lpstr>
      <vt:lpstr>Short response (24)</vt:lpstr>
      <vt:lpstr>Short response (25)</vt:lpstr>
      <vt:lpstr>Short response (26)</vt:lpstr>
      <vt:lpstr>Activity 6 – partitioning numbers in non-standard forms</vt:lpstr>
      <vt:lpstr>Review of learning 7</vt:lpstr>
      <vt:lpstr>Multiple choice (4)</vt:lpstr>
      <vt:lpstr>Short response (27)</vt:lpstr>
      <vt:lpstr>Short response (28)</vt:lpstr>
      <vt:lpstr>Short response (29)</vt:lpstr>
      <vt:lpstr>Short response (30)</vt:lpstr>
      <vt:lpstr>Activity 7 – partitioning 4-digit numbers</vt:lpstr>
      <vt:lpstr>Review of learning 8</vt:lpstr>
      <vt:lpstr>True or false (4)</vt:lpstr>
      <vt:lpstr>Short response (31)</vt:lpstr>
      <vt:lpstr>Short response (32)</vt:lpstr>
      <vt:lpstr>Short response (33)</vt:lpstr>
      <vt:lpstr>Short response (34)</vt:lpstr>
      <vt:lpstr>Activity 8 – representing and partitioning 4-digit numbers</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2026-04-01T21:51:04Z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