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650" r:id="rId21"/>
    <p:sldId id="26592" r:id="rId22"/>
    <p:sldId id="26594"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27" r:id="rId42"/>
    <p:sldId id="26619" r:id="rId43"/>
    <p:sldId id="26622" r:id="rId44"/>
    <p:sldId id="26623" r:id="rId45"/>
    <p:sldId id="26624" r:id="rId46"/>
    <p:sldId id="26625" r:id="rId47"/>
    <p:sldId id="26626" r:id="rId48"/>
    <p:sldId id="26618" r:id="rId49"/>
    <p:sldId id="26628" r:id="rId50"/>
    <p:sldId id="26629"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51"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650"/>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27"/>
          </p14:sldIdLst>
        </p14:section>
        <p14:section name="Review of learning 6" id="{6721D3DC-F7BB-49CA-9E61-8454C104591D}">
          <p14:sldIdLst>
            <p14:sldId id="26619"/>
            <p14:sldId id="26622"/>
            <p14:sldId id="26623"/>
            <p14:sldId id="26624"/>
            <p14:sldId id="26625"/>
            <p14:sldId id="26626"/>
            <p14:sldId id="26618"/>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1"/>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4336E3F-7783-DBAE-83B3-8FF4F92B1F1F}" name="Lisa Kew" initials="LK" userId="S::lisa.jones13@det.nsw.edu.au::687d7c21-e1c8-437d-b64b-4b01e8e7487e" providerId="AD"/>
  <p188:author id="{8EAAFC52-5D86-6FE7-9D47-1FD3C7D0804D}" name="Lisa Kew" initials="" userId="S::LISA.JONES13@det.nsw.edu.au::687d7c21-e1c8-437d-b64b-4b01e8e7487e"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3BE1"/>
    <a:srgbClr val="EA9B0C"/>
    <a:srgbClr val="007A8A"/>
    <a:srgbClr val="9B6808"/>
    <a:srgbClr val="427B2D"/>
    <a:srgbClr val="B51458"/>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78395C-05A4-4E34-8125-1AD0A7CE9042}" v="2" dt="2026-03-22T23:56:53.998"/>
    <p1510:client id="{5B06EAC1-1200-4345-9BC5-44B269AA94A9}" v="225" dt="2026-03-23T02:51:26.390"/>
    <p1510:client id="{F8843234-4110-4DA3-B7FD-EE2014C8B7E1}" v="369" dt="2026-03-23T02:46:53.187"/>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288" y="60"/>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24/03/2026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24/03/2026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 </a:t>
            </a:r>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latin typeface="Arial"/>
                <a:cs typeface="Arial"/>
              </a:rPr>
              <a:t>Stage 3 Year B Unit 28</a:t>
            </a:r>
            <a:endParaRPr lang="en-AU"/>
          </a:p>
          <a:p>
            <a:pPr marL="285750" indent="-285750">
              <a:buFont typeface="Arial" panose="020B0604020202020204" pitchFamily="34" charset="0"/>
              <a:buChar char="•"/>
            </a:pPr>
            <a:r>
              <a:rPr lang="en-AU">
                <a:latin typeface="Arial"/>
                <a:cs typeface="Arial"/>
              </a:rPr>
              <a:t>Stage 3 Year B Unit 27</a:t>
            </a:r>
          </a:p>
          <a:p>
            <a:pPr marL="285750" indent="-285750">
              <a:buFont typeface="Arial" panose="020B0604020202020204" pitchFamily="34" charset="0"/>
              <a:buChar char="•"/>
            </a:pPr>
            <a:r>
              <a:rPr lang="en-AU">
                <a:latin typeface="Arial"/>
                <a:cs typeface="Arial"/>
              </a:rPr>
              <a:t>Stage 3 Year B Unit 26</a:t>
            </a:r>
          </a:p>
          <a:p>
            <a:r>
              <a:rPr lang="en-AU"/>
              <a:t>It also includes opportunities to review prior learning in non-number content, supporting consolidation across focus areas.</a:t>
            </a:r>
          </a:p>
          <a:p>
            <a:endParaRPr lang="en-AU"/>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latin typeface="Arial"/>
                <a:cs typeface="Arial"/>
              </a:rPr>
              <a:t>Multiple-choice questions/True or false: </a:t>
            </a:r>
            <a:r>
              <a:rPr lang="en-AU">
                <a:latin typeface="Arial"/>
                <a:cs typeface="Arial"/>
              </a:rPr>
              <a:t>Designed to promote active retrieval of key concepts and identify common misconceptions in number, supporting consolidation, understanding and fluency.</a:t>
            </a:r>
            <a:br>
              <a:rPr lang="en-AU"/>
            </a:br>
            <a:r>
              <a:rPr lang="en-AU">
                <a:latin typeface="Arial"/>
                <a:cs typeface="Arial"/>
              </a:rPr>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latin typeface="Arial"/>
                <a:cs typeface="Arial"/>
              </a:rPr>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latin typeface="Arial"/>
                <a:cs typeface="Arial"/>
              </a:rPr>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latin typeface="Arial"/>
                <a:cs typeface="Arial"/>
              </a:rPr>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Number line search</a:t>
            </a:r>
          </a:p>
          <a:p>
            <a:r>
              <a:rPr lang="en-AU" b="0"/>
              <a:t>This resource corresponds to Resource 34 – number lines in Stage 3 Year B Unit 28. </a:t>
            </a:r>
          </a:p>
          <a:p>
            <a:endParaRPr lang="en-AU" b="1"/>
          </a:p>
          <a:p>
            <a:pPr marL="0" indent="0">
              <a:buFont typeface="+mj-lt"/>
              <a:buNone/>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Finding numbers on a number line from Mathematics K–6 resources by State of New South Wales (Department of Education).</a:t>
            </a:r>
            <a:endParaRPr lang="en-AU" b="0"/>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Direct student attention to Line ABC.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do you notice about the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numbers could be placed on the number line at point A, B and C?</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you prove it?</a:t>
            </a:r>
          </a:p>
          <a:p>
            <a:pPr lvl="0"/>
            <a:r>
              <a:rPr lang="en-AU" sz="1600" kern="1200">
                <a:solidFill>
                  <a:schemeClr val="tx1"/>
                </a:solidFill>
                <a:effectLst/>
                <a:latin typeface="Arial" panose="020B0604020202020204" pitchFamily="34" charset="0"/>
                <a:ea typeface="+mn-ea"/>
                <a:cs typeface="Arial" panose="020B0604020202020204" pitchFamily="34" charset="0"/>
              </a:rPr>
              <a:t>2. Provide students with individual whiteboards to record their answers.</a:t>
            </a:r>
          </a:p>
          <a:p>
            <a:pPr lvl="0"/>
            <a:r>
              <a:rPr lang="en-AU" sz="1600" kern="1200">
                <a:solidFill>
                  <a:schemeClr val="tx1"/>
                </a:solidFill>
                <a:effectLst/>
                <a:latin typeface="Arial" panose="020B0604020202020204" pitchFamily="34" charset="0"/>
                <a:ea typeface="+mn-ea"/>
                <a:cs typeface="Arial" panose="020B0604020202020204" pitchFamily="34" charset="0"/>
              </a:rPr>
              <a:t>3. Direct student attention to Line YZ.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numbers can be placed on the number line at point Y and Z?</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find zero?</a:t>
            </a:r>
          </a:p>
          <a:p>
            <a:pPr lvl="0"/>
            <a:r>
              <a:rPr lang="en-AU" sz="1600" kern="1200">
                <a:solidFill>
                  <a:schemeClr val="tx1"/>
                </a:solidFill>
                <a:effectLst/>
                <a:latin typeface="Arial" panose="020B0604020202020204" pitchFamily="34" charset="0"/>
                <a:ea typeface="+mn-ea"/>
                <a:cs typeface="Arial" panose="020B0604020202020204" pitchFamily="34" charset="0"/>
              </a:rPr>
              <a:t>4. Students record their responses on individual whiteboards.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Where would you place -10 and -15 on the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half between Y and Z?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give an example of when we use negative numbers in real life and what the negative numbers represent? For example, temperature -5 degrees Celsius is 5 degrees below freezing point.</a:t>
            </a:r>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2179-42D4-2B13-D75E-CA584C228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D5B6A-D380-B7B9-4C44-565CD7F9EA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C85072-2C46-2EE3-110A-57A0F915BF49}"/>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Elevator number line</a:t>
            </a:r>
          </a:p>
          <a:p>
            <a:r>
              <a:rPr lang="en-AU" b="0"/>
              <a:t>This resource corresponds to Resource 35 – elevator floor cards and Resource 36 – hotel floors in Stage 3 Year B Unit 28. </a:t>
            </a:r>
          </a:p>
          <a:p>
            <a:endParaRPr lang="en-AU" b="1"/>
          </a:p>
          <a:p>
            <a:pPr marL="0" marR="0" lvl="0" indent="0" algn="l" defTabSz="1219170" rtl="0" eaLnBrk="1" fontAlgn="auto" latinLnBrk="0" hangingPunct="1">
              <a:lnSpc>
                <a:spcPct val="100000"/>
              </a:lnSpc>
              <a:spcBef>
                <a:spcPts val="0"/>
              </a:spcBef>
              <a:spcAft>
                <a:spcPts val="0"/>
              </a:spcAft>
              <a:buClrTx/>
              <a:buSzTx/>
              <a:buFont typeface="+mj-lt"/>
              <a:buNone/>
              <a:tabLst/>
              <a:defRPr/>
            </a:pPr>
            <a:r>
              <a:rPr lang="en-AU" sz="1600" kern="1200">
                <a:solidFill>
                  <a:schemeClr val="tx1"/>
                </a:solidFill>
                <a:effectLst/>
                <a:latin typeface="Arial" panose="020B0604020202020204" pitchFamily="34" charset="0"/>
                <a:ea typeface="+mn-ea"/>
                <a:cs typeface="Arial" panose="020B0604020202020204" pitchFamily="34" charset="0"/>
              </a:rPr>
              <a:t>The activity is an adaptation of Directed Number from </a:t>
            </a:r>
            <a:r>
              <a:rPr lang="en-AU" sz="1600" kern="1200" err="1">
                <a:solidFill>
                  <a:schemeClr val="tx1"/>
                </a:solidFill>
                <a:effectLst/>
                <a:latin typeface="Arial" panose="020B0604020202020204" pitchFamily="34" charset="0"/>
                <a:ea typeface="+mn-ea"/>
                <a:cs typeface="Arial" panose="020B0604020202020204" pitchFamily="34" charset="0"/>
              </a:rPr>
              <a:t>reSolve</a:t>
            </a:r>
            <a:r>
              <a:rPr lang="en-AU" sz="1600" kern="1200">
                <a:solidFill>
                  <a:schemeClr val="tx1"/>
                </a:solidFill>
                <a:effectLst/>
                <a:latin typeface="Arial" panose="020B0604020202020204" pitchFamily="34" charset="0"/>
                <a:ea typeface="+mn-ea"/>
                <a:cs typeface="Arial" panose="020B0604020202020204" pitchFamily="34" charset="0"/>
              </a:rPr>
              <a:t> by Australian Government Department of Education.</a:t>
            </a:r>
          </a:p>
          <a:p>
            <a:pPr marL="0" indent="0">
              <a:buFont typeface="+mj-lt"/>
              <a:buNone/>
            </a:pPr>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1. Introduce the context of the elevator challenge: students are employees at a hotel. The manager has given them each 4 errands to run on 4 different floors of the hotel. They need to share the elevator to get up and down to complete each task. The person who finishes all their jobs first will be ‘Employee of the Month’.</a:t>
            </a:r>
          </a:p>
          <a:p>
            <a:pPr lvl="0"/>
            <a:r>
              <a:rPr lang="en-AU" sz="1600" kern="1200">
                <a:solidFill>
                  <a:schemeClr val="tx1"/>
                </a:solidFill>
                <a:effectLst/>
                <a:latin typeface="Arial" panose="020B0604020202020204" pitchFamily="34" charset="0"/>
                <a:ea typeface="+mn-ea"/>
                <a:cs typeface="Arial" panose="020B0604020202020204" pitchFamily="34" charset="0"/>
              </a:rPr>
              <a:t>2. Explain that students will locate negative whole numbers on a number line to complete the activity. The floors of the building are a vertical number line. Model the steps: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12 cards from Resource 34 – elevator floor cards. Students take 4 cards each; these are the 4 errands. Place the remaining cards to the side.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each pair a dice, Resource 35 – hotel floors and one counter. Place the counter at floor zero, the lobby.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roll the dice and the player with the highest number goes first.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 1 rolls the dice and moves the elevator (counter) the number of floors according to the number shown on the dice, either up or down as they choose. Whoever holds the card matching the floor the elevator lands on can discard it; the errand is complete.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 2 rolls the dice and moves the elevator (counter) from the level where it is, up or down in either direction. Once again, when the elevator stops, the owner of the card for that level can discard it.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continue rolling the dice, taking turns to move the elevator up or down.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are not to go above floor 6, below -6 or ‘bounce’ the elevator off the top or bottom. This means if a student is on floor 5 and rolls a 3, they must go down. Each journey can be in one direction only. Players must move the total on the dice.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winner is the first player to complete all their jobs. They can then be awarded the ‘Employee of the Month’.</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34C62BF-1B59-6E39-A154-E32AA81CDA4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4093890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B</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Negative number subtraction 1</a:t>
            </a:r>
          </a:p>
          <a:p>
            <a:r>
              <a:rPr lang="en-AU" sz="1600" kern="1200">
                <a:solidFill>
                  <a:schemeClr val="tx1"/>
                </a:solidFill>
                <a:effectLst/>
                <a:latin typeface="Arial" panose="020B0604020202020204" pitchFamily="34" charset="0"/>
                <a:ea typeface="+mn-ea"/>
                <a:cs typeface="Arial" panose="020B0604020202020204" pitchFamily="34" charset="0"/>
              </a:rPr>
              <a:t>The activity is an adaptation from </a:t>
            </a:r>
            <a:r>
              <a:rPr lang="en-AU" sz="1600" i="1" kern="1200">
                <a:solidFill>
                  <a:schemeClr val="tx1"/>
                </a:solidFill>
                <a:effectLst/>
                <a:latin typeface="Arial" panose="020B0604020202020204" pitchFamily="34" charset="0"/>
                <a:ea typeface="+mn-ea"/>
                <a:cs typeface="Arial" panose="020B0604020202020204" pitchFamily="34" charset="0"/>
              </a:rPr>
              <a:t>Engaging Maths: 25 Favourite Lessons</a:t>
            </a:r>
            <a:r>
              <a:rPr lang="en-AU" sz="1600" kern="1200">
                <a:solidFill>
                  <a:schemeClr val="tx1"/>
                </a:solidFill>
                <a:effectLst/>
                <a:latin typeface="Arial" panose="020B0604020202020204" pitchFamily="34" charset="0"/>
                <a:ea typeface="+mn-ea"/>
                <a:cs typeface="Arial" panose="020B0604020202020204" pitchFamily="34" charset="0"/>
              </a:rPr>
              <a:t> by Clark and Roche.</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Explain that this activity shows that negative whole numbers can be the result of subtraction.</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place a calculator on a flat surface in front of them. Explain that they will: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be given 2 numbers to type and a target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put their finger on the equals key, close their eyes and push equals (each time they push the equals key, the second number is added to the new total)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keep track of the number sequence in their head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open their eyes when they are confident that the calculator is showing the target number.</a:t>
            </a:r>
          </a:p>
          <a:p>
            <a:pPr lvl="0"/>
            <a:r>
              <a:rPr lang="en-AU" sz="1600" kern="1200">
                <a:solidFill>
                  <a:schemeClr val="tx1"/>
                </a:solidFill>
                <a:effectLst/>
                <a:latin typeface="Arial" panose="020B0604020202020204" pitchFamily="34" charset="0"/>
                <a:ea typeface="+mn-ea"/>
                <a:cs typeface="Arial" panose="020B0604020202020204" pitchFamily="34" charset="0"/>
              </a:rPr>
              <a:t>3. Model this by guiding students to type 25 + 7, close their eyes and push the equals sign enough times to reach the target number of 60 (7 is added each time they push the equals key).</a:t>
            </a:r>
          </a:p>
          <a:p>
            <a:pPr lvl="0"/>
            <a:r>
              <a:rPr lang="en-AU" sz="1600" kern="1200">
                <a:solidFill>
                  <a:schemeClr val="tx1"/>
                </a:solidFill>
                <a:effectLst/>
                <a:latin typeface="Arial" panose="020B0604020202020204" pitchFamily="34" charset="0"/>
                <a:ea typeface="+mn-ea"/>
                <a:cs typeface="Arial" panose="020B0604020202020204" pitchFamily="34" charset="0"/>
              </a:rPr>
              <a:t>4. When they think they have reached the targeted number of 60, they are to stop and check their answer. Students share their results.</a:t>
            </a:r>
          </a:p>
          <a:p>
            <a:pPr lvl="0"/>
            <a:r>
              <a:rPr lang="en-AU" sz="1600" kern="1200">
                <a:solidFill>
                  <a:schemeClr val="tx1"/>
                </a:solidFill>
                <a:effectLst/>
                <a:latin typeface="Arial" panose="020B0604020202020204" pitchFamily="34" charset="0"/>
                <a:ea typeface="+mn-ea"/>
                <a:cs typeface="Arial" panose="020B0604020202020204" pitchFamily="34" charset="0"/>
              </a:rPr>
              <a:t>5. Draw a number line marked with zero at the centre. Explain that this also occurs with subtraction. If they continue subtracting below zero, they move into negative numbers.</a:t>
            </a:r>
          </a:p>
          <a:p>
            <a:pPr lvl="0"/>
            <a:r>
              <a:rPr lang="en-AU" sz="1600" kern="1200">
                <a:solidFill>
                  <a:schemeClr val="tx1"/>
                </a:solidFill>
                <a:effectLst/>
                <a:latin typeface="Arial" panose="020B0604020202020204" pitchFamily="34" charset="0"/>
                <a:ea typeface="+mn-ea"/>
                <a:cs typeface="Arial" panose="020B0604020202020204" pitchFamily="34" charset="0"/>
              </a:rPr>
              <a:t>6. Repeat the task for the following equations and represent them on the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32 - 5 = target number -3</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40 - 6 = target number -14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16 - 8 = target number -16</a:t>
            </a:r>
          </a:p>
          <a:p>
            <a:pPr lvl="0"/>
            <a:r>
              <a:rPr lang="en-AU" sz="1600" kern="1200">
                <a:solidFill>
                  <a:schemeClr val="tx1"/>
                </a:solidFill>
                <a:effectLst/>
                <a:latin typeface="Arial" panose="020B0604020202020204" pitchFamily="34" charset="0"/>
                <a:ea typeface="+mn-ea"/>
                <a:cs typeface="Arial" panose="020B0604020202020204" pitchFamily="34" charset="0"/>
              </a:rPr>
              <a:t>7. Regroup and facilitate a class discussion about negative whole numbers resulting from subtraction: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feel about completing mental calculations with your eyes closed?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to keep track of the number sequence in your head?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know when to stop for negative number calculations?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 need to adjust your mental strategies when dealing with negative numbers?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Negative number subtraction 2</a:t>
            </a:r>
          </a:p>
          <a:p>
            <a:r>
              <a:rPr lang="en-AU" sz="1600" kern="1200">
                <a:solidFill>
                  <a:schemeClr val="tx1"/>
                </a:solidFill>
                <a:effectLst/>
                <a:latin typeface="Arial" panose="020B0604020202020204" pitchFamily="34" charset="0"/>
                <a:ea typeface="+mn-ea"/>
                <a:cs typeface="Arial" panose="020B0604020202020204" pitchFamily="34" charset="0"/>
              </a:rPr>
              <a:t>The activity is an adaptation from </a:t>
            </a:r>
            <a:r>
              <a:rPr lang="en-AU" sz="1600" i="1" kern="1200">
                <a:solidFill>
                  <a:schemeClr val="tx1"/>
                </a:solidFill>
                <a:effectLst/>
                <a:latin typeface="Arial" panose="020B0604020202020204" pitchFamily="34" charset="0"/>
                <a:ea typeface="+mn-ea"/>
                <a:cs typeface="Arial" panose="020B0604020202020204" pitchFamily="34" charset="0"/>
              </a:rPr>
              <a:t>Engaging Maths: 25 Favourite Lessons</a:t>
            </a:r>
            <a:r>
              <a:rPr lang="en-AU" sz="1600" kern="1200">
                <a:solidFill>
                  <a:schemeClr val="tx1"/>
                </a:solidFill>
                <a:effectLst/>
                <a:latin typeface="Arial" panose="020B0604020202020204" pitchFamily="34" charset="0"/>
                <a:ea typeface="+mn-ea"/>
                <a:cs typeface="Arial" panose="020B0604020202020204" pitchFamily="34" charset="0"/>
              </a:rPr>
              <a:t> by Clark and Roche. It builds on the learning from Activity 3 – negative number subtraction.</a:t>
            </a:r>
          </a:p>
          <a:p>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Revise the learning from Activity 3 – negative number subtraction, that negative whole numbers can be the result of subtraction.</a:t>
            </a:r>
          </a:p>
          <a:p>
            <a:pPr lvl="0"/>
            <a:r>
              <a:rPr lang="en-AU" sz="1600" kern="1200">
                <a:solidFill>
                  <a:schemeClr val="tx1"/>
                </a:solidFill>
                <a:effectLst/>
                <a:latin typeface="Arial" panose="020B0604020202020204" pitchFamily="34" charset="0"/>
                <a:ea typeface="+mn-ea"/>
                <a:cs typeface="Arial" panose="020B0604020202020204" pitchFamily="34" charset="0"/>
              </a:rPr>
              <a:t>2. In pairs, students draw a number line marked with zero at the centre.</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repeat the task for the following equations and represent them on the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48 - 12 = target number -12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55 - 11 = target number -22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60 - 15 = target number -30</a:t>
            </a:r>
          </a:p>
          <a:p>
            <a:pPr lvl="0"/>
            <a:r>
              <a:rPr lang="en-AU" sz="1600" kern="1200">
                <a:solidFill>
                  <a:schemeClr val="tx1"/>
                </a:solidFill>
                <a:effectLst/>
                <a:latin typeface="Arial" panose="020B0604020202020204" pitchFamily="34" charset="0"/>
                <a:ea typeface="+mn-ea"/>
                <a:cs typeface="Arial" panose="020B0604020202020204" pitchFamily="34" charset="0"/>
              </a:rPr>
              <a:t>4. Regroup and facilitate a class discussion about negative whole numbers resulting from subtraction: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feel about completing mental calculations with 2-digit subtractions?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to keep track of the number sequence in your head?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know where to mark each subtraction on the number line?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Equivalent fractions 1</a:t>
            </a:r>
          </a:p>
          <a:p>
            <a:r>
              <a:rPr lang="en-AU" sz="1600" kern="1200">
                <a:solidFill>
                  <a:schemeClr val="tx1"/>
                </a:solidFill>
                <a:effectLst/>
                <a:latin typeface="Arial" panose="020B0604020202020204" pitchFamily="34" charset="0"/>
                <a:ea typeface="+mn-ea"/>
                <a:cs typeface="Arial" panose="020B0604020202020204" pitchFamily="34" charset="0"/>
              </a:rPr>
              <a:t>This activity has been adapted from </a:t>
            </a:r>
            <a:r>
              <a:rPr lang="en-AU" sz="1600" i="1" kern="1200">
                <a:solidFill>
                  <a:schemeClr val="tx1"/>
                </a:solidFill>
                <a:effectLst/>
                <a:latin typeface="Arial" panose="020B0604020202020204" pitchFamily="34" charset="0"/>
                <a:ea typeface="+mn-ea"/>
                <a:cs typeface="Arial" panose="020B0604020202020204" pitchFamily="34" charset="0"/>
              </a:rPr>
              <a:t>Open-Ended Maths Activities</a:t>
            </a:r>
            <a:r>
              <a:rPr lang="en-AU" sz="1600" kern="1200">
                <a:solidFill>
                  <a:schemeClr val="tx1"/>
                </a:solidFill>
                <a:effectLst/>
                <a:latin typeface="Arial" panose="020B0604020202020204" pitchFamily="34" charset="0"/>
                <a:ea typeface="+mn-ea"/>
                <a:cs typeface="Arial" panose="020B0604020202020204" pitchFamily="34" charset="0"/>
              </a:rPr>
              <a:t> by Sullivan and Lilburn.</a:t>
            </a:r>
          </a:p>
          <a:p>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Revise the meaning of equivalent and explain that equivalent fractions can be recorded using diagrams, words and fraction notation.</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Equivalent:</a:t>
            </a:r>
            <a:r>
              <a:rPr lang="en-AU" sz="1600" kern="1200">
                <a:solidFill>
                  <a:schemeClr val="tx1"/>
                </a:solidFill>
                <a:effectLst/>
                <a:latin typeface="Arial" panose="020B0604020202020204" pitchFamily="34" charset="0"/>
                <a:ea typeface="+mn-ea"/>
                <a:cs typeface="Arial" panose="020B0604020202020204" pitchFamily="34" charset="0"/>
              </a:rPr>
              <a:t> two things are equivalent if they have the same value.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2. Display the following problem: A friend of mine put these fractions into 2 groups:</a:t>
            </a:r>
            <a:r>
              <a:rPr lang="en-AU" sz="1600" kern="1200" baseline="0">
                <a:solidFill>
                  <a:schemeClr val="tx1"/>
                </a:solidFill>
                <a:effectLst/>
                <a:latin typeface="Arial" panose="020B0604020202020204" pitchFamily="34" charset="0"/>
                <a:ea typeface="+mn-ea"/>
                <a:cs typeface="Arial" panose="020B0604020202020204" pitchFamily="34" charset="0"/>
              </a:rPr>
              <a:t> 2/5</a:t>
            </a:r>
            <a:r>
              <a:rPr lang="en-AU" sz="1600" kern="1200">
                <a:solidFill>
                  <a:schemeClr val="tx1"/>
                </a:solidFill>
                <a:effectLst/>
                <a:latin typeface="Arial" panose="020B0604020202020204" pitchFamily="34" charset="0"/>
                <a:ea typeface="+mn-ea"/>
                <a:cs typeface="Arial" panose="020B0604020202020204" pitchFamily="34" charset="0"/>
              </a:rPr>
              <a:t>, ¾ , 6/10, ½ and 1/10. What might the 2 groups be?</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give reasons for their groups. Use the prompts to support their explanation: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common characteristics or properties do you notice among these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simplify any of the fractions to make them easier to compare?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arrange the fractions in ascending or descending order to see if that helps in grouping?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Do any of the fractions have the same numerator or denominator? Does that matter for grouping?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do you notice about the denominators of these fractions? Are there any common factors?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Representing quantity fractions B</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Equivalent fractions 2</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from Fractions: pikelets and lamingtons by State of New South Wales (Department of Education) and Professional Support and Curriculum Directorate.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Write the following fractions on the board: ½, ¼ , 1/8, 1/6 and 1/10.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for quantity fractions (that is, fractions as numbers) the ‘whole’ is always the number one.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the students to draw 5 number lines from 0–1, all of equal length.</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partition each number line to represent each of the unit fractions and label the fraction.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Once students have finished,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determine the position of one-eighth (or one-quarter or one-half)?</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give an example of 2 fractions that are equivalent?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use your number lines to prove that ½</a:t>
            </a:r>
            <a:r>
              <a:rPr lang="en-AU" sz="1600" kern="1200" baseline="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and 2/4 are equivalent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two-eighths the same as one quarter?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have an equivalent fraction for 1/3 ? Why or why not?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would you explain the concept of equivalent fractions to someone who has never learned about them before?</a:t>
            </a: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B</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Represents numbers B</a:t>
            </a:r>
            <a:r>
              <a:rPr lang="en-AU" sz="1600" b="1" kern="1200">
                <a:solidFill>
                  <a:schemeClr val="tx1"/>
                </a:solidFill>
                <a:effectLst/>
                <a:latin typeface="Arial" panose="020B0604020202020204" pitchFamily="34" charset="0"/>
                <a:ea typeface="+mn-ea"/>
                <a:cs typeface="Arial" panose="020B0604020202020204" pitchFamily="34" charset="0"/>
              </a:rPr>
              <a:t> </a:t>
            </a: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Equivalent fractions 3</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a:t>
            </a:r>
            <a:r>
              <a:rPr lang="en-AU" sz="1600" i="1" kern="1200">
                <a:solidFill>
                  <a:schemeClr val="tx1"/>
                </a:solidFill>
                <a:effectLst/>
                <a:latin typeface="Arial" panose="020B0604020202020204" pitchFamily="34" charset="0"/>
                <a:ea typeface="+mn-ea"/>
                <a:cs typeface="Arial" panose="020B0604020202020204" pitchFamily="34" charset="0"/>
              </a:rPr>
              <a:t>from Mathematics Assessment for Learning Rich Tasks and Work Samples</a:t>
            </a:r>
            <a:r>
              <a:rPr lang="en-AU" sz="1600" kern="1200">
                <a:solidFill>
                  <a:schemeClr val="tx1"/>
                </a:solidFill>
                <a:effectLst/>
                <a:latin typeface="Arial" panose="020B0604020202020204" pitchFamily="34" charset="0"/>
                <a:ea typeface="+mn-ea"/>
                <a:cs typeface="Arial" panose="020B0604020202020204" pitchFamily="34" charset="0"/>
              </a:rPr>
              <a:t> by Downton et al.</a:t>
            </a:r>
          </a:p>
          <a:p>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Provide students an individual whiteboard and writing materials.</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choose a fraction with a denominator of 2, 3, 4, 5, 6, 8, or 10.</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complete the following 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Represent your fraction on a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Record 3 other fractions equivalent to your fraction.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Represent your fraction as part of a whole length.</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Give a real-life example where your fraction might be useful.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Represent your fraction in a different form, for example, tape diagram, circle or collection.</a:t>
            </a:r>
          </a:p>
          <a:p>
            <a:pPr lvl="0"/>
            <a:r>
              <a:rPr lang="en-AU" sz="1600" kern="1200">
                <a:solidFill>
                  <a:schemeClr val="tx1"/>
                </a:solidFill>
                <a:effectLst/>
                <a:latin typeface="Arial" panose="020B0604020202020204" pitchFamily="34" charset="0"/>
                <a:ea typeface="+mn-ea"/>
                <a:cs typeface="Arial" panose="020B0604020202020204" pitchFamily="34" charset="0"/>
              </a:rPr>
              <a:t>4. As a class, create a fraction gallery. Students display their work and review each other's examples.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Equivalent fractions 4</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a:t>
            </a:r>
            <a:r>
              <a:rPr lang="en-AU" sz="1600" i="1" kern="1200">
                <a:solidFill>
                  <a:schemeClr val="tx1"/>
                </a:solidFill>
                <a:effectLst/>
                <a:latin typeface="Arial" panose="020B0604020202020204" pitchFamily="34" charset="0"/>
                <a:ea typeface="+mn-ea"/>
                <a:cs typeface="Arial" panose="020B0604020202020204" pitchFamily="34" charset="0"/>
              </a:rPr>
              <a:t>from Mathematics Assessment for Learning Rich Tasks and Work Samples</a:t>
            </a:r>
            <a:r>
              <a:rPr lang="en-AU" sz="1600" kern="1200">
                <a:solidFill>
                  <a:schemeClr val="tx1"/>
                </a:solidFill>
                <a:effectLst/>
                <a:latin typeface="Arial" panose="020B0604020202020204" pitchFamily="34" charset="0"/>
                <a:ea typeface="+mn-ea"/>
                <a:cs typeface="Arial" panose="020B0604020202020204" pitchFamily="34" charset="0"/>
              </a:rPr>
              <a:t> by Downton et al. It builds on the learning from Activity 7 – equivalent fractions 3.</a:t>
            </a:r>
          </a:p>
          <a:p>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Provide students an individual whiteboard and writing materials.</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choose a fraction with a denominator of 2, 3, 4, 5, 6, 8, or 10 for a partner to use.</a:t>
            </a:r>
          </a:p>
          <a:p>
            <a:pPr lvl="0"/>
            <a:r>
              <a:rPr lang="en-AU" sz="1600" kern="1200">
                <a:solidFill>
                  <a:schemeClr val="tx1"/>
                </a:solidFill>
                <a:effectLst/>
                <a:latin typeface="Arial" panose="020B0604020202020204" pitchFamily="34" charset="0"/>
                <a:ea typeface="+mn-ea"/>
                <a:cs typeface="Arial" panose="020B0604020202020204" pitchFamily="34" charset="0"/>
              </a:rPr>
              <a:t>3. Using the fraction from their partner, students complete the following 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Represent the fraction on a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Record 3 other equivalent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Represent the fraction as part of a whole length.</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Give a real-life example where this fraction might be useful.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Represent the fraction in a different form, for example, tape diagram, circle or collection.</a:t>
            </a:r>
          </a:p>
          <a:p>
            <a:pPr lvl="0"/>
            <a:r>
              <a:rPr lang="en-AU" sz="1600" kern="1200">
                <a:solidFill>
                  <a:schemeClr val="tx1"/>
                </a:solidFill>
                <a:effectLst/>
                <a:latin typeface="Arial" panose="020B0604020202020204" pitchFamily="34" charset="0"/>
                <a:ea typeface="+mn-ea"/>
                <a:cs typeface="Arial" panose="020B0604020202020204" pitchFamily="34" charset="0"/>
              </a:rPr>
              <a:t>4. After representing their fraction, form small groups.</a:t>
            </a:r>
          </a:p>
          <a:p>
            <a:pPr lvl="0"/>
            <a:r>
              <a:rPr lang="en-AU" sz="1600" kern="1200">
                <a:solidFill>
                  <a:schemeClr val="tx1"/>
                </a:solidFill>
                <a:effectLst/>
                <a:latin typeface="Arial" panose="020B0604020202020204" pitchFamily="34" charset="0"/>
                <a:ea typeface="+mn-ea"/>
                <a:cs typeface="Arial" panose="020B0604020202020204" pitchFamily="34" charset="0"/>
              </a:rPr>
              <a:t>5. Students arrange their whiteboards in ascending order of the size of the fractions. They use the different representations on each whiteboard to confirm that the order is correct. </a:t>
            </a:r>
          </a:p>
          <a:p>
            <a:pPr lvl="0"/>
            <a:r>
              <a:rPr lang="en-AU" sz="1600" kern="1200">
                <a:solidFill>
                  <a:schemeClr val="tx1"/>
                </a:solidFill>
                <a:effectLst/>
                <a:latin typeface="Arial" panose="020B0604020202020204" pitchFamily="34" charset="0"/>
                <a:ea typeface="+mn-ea"/>
                <a:cs typeface="Arial" panose="020B0604020202020204" pitchFamily="34" charset="0"/>
              </a:rPr>
              <a:t>6. As a class, complete a gallery walk. Students review each other's examples to ensure they are correctly arranged in ascending order.</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22654-5AB8-ACF7-85CD-61ABA3500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A8D30-0908-ADAA-D903-129D2F7802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E2CC68-A613-7A67-9EC1-AFE9B2719AD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BDA919A-5503-99F5-D2A2-3242E20248B6}"/>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19361382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0.png"/><Relationship Id="rId7"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5.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10" Type="http://schemas.openxmlformats.org/officeDocument/2006/relationships/hyperlink" Target="https://im.kendallhunt.com/MS/students/1/7/11/index.html"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resolve.edu.au/directed-number"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education.nsw.gov.au/teaching-and-learning/curriculum/mathematics/mathematics-curriculum-resources-k-12/thinking-mathematically-resources/finding-numbers-on-a-number-line-s2-s3"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studentresources.nsw.edu.au/resources/2203-06-03"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education.nsw.gov.au/content/dam/main-education/teaching-and-learning/curriculum/key-learning-areas/mathematics/media/documents/mathematics-es1-s1-s2-s3-fractions-pikelets-lamingtons.pdf"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geogebra.org/m/JMMKv7cx"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B Unit 28.</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and adapt</a:t>
            </a:r>
            <a:r>
              <a:rPr lang="en-AU" sz="1800">
                <a:solidFill>
                  <a:srgbClr val="22272B"/>
                </a:solidFill>
                <a:latin typeface="+mn-lt"/>
                <a:cs typeface="Arial"/>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cs typeface="Arial"/>
              </a:rPr>
              <a:t>Mathematics Stage 3 – Unit 28</a:t>
            </a:r>
            <a:endParaRPr lang="en-AU">
              <a:latin typeface="+mj-lt"/>
            </a:endParaRP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1319513" y="963916"/>
            <a:ext cx="9548447" cy="893226"/>
          </a:xfrm>
        </p:spPr>
        <p:txBody>
          <a:bodyPr/>
          <a:lstStyle/>
          <a:p>
            <a:pPr algn="ctr"/>
            <a:r>
              <a:rPr lang="en-US" sz="4400"/>
              <a:t>What </a:t>
            </a:r>
            <a:r>
              <a:rPr lang="en-US" sz="4400">
                <a:solidFill>
                  <a:schemeClr val="accent2"/>
                </a:solidFill>
              </a:rPr>
              <a:t>number</a:t>
            </a:r>
            <a:r>
              <a:rPr lang="en-US" sz="4400"/>
              <a:t> is marked as </a:t>
            </a:r>
            <a:r>
              <a:rPr lang="en-US" sz="4400" b="1"/>
              <a:t>missing</a:t>
            </a:r>
            <a:r>
              <a:rPr lang="en-US" sz="4400"/>
              <a:t> on the number line?</a:t>
            </a:r>
          </a:p>
        </p:txBody>
      </p:sp>
      <p:cxnSp>
        <p:nvCxnSpPr>
          <p:cNvPr id="5" name="Straight Connector 4">
            <a:extLst>
              <a:ext uri="{FF2B5EF4-FFF2-40B4-BE49-F238E27FC236}">
                <a16:creationId xmlns:a16="http://schemas.microsoft.com/office/drawing/2014/main" id="{08B0423C-CCCE-3864-A54B-E7738E3C689C}"/>
              </a:ext>
              <a:ext uri="{C183D7F6-B498-43B3-948B-1728B52AA6E4}">
                <adec:decorative xmlns:adec="http://schemas.microsoft.com/office/drawing/2017/decorative" val="1"/>
              </a:ext>
            </a:extLst>
          </p:cNvPr>
          <p:cNvCxnSpPr>
            <a:cxnSpLocks/>
          </p:cNvCxnSpPr>
          <p:nvPr/>
        </p:nvCxnSpPr>
        <p:spPr>
          <a:xfrm>
            <a:off x="981253" y="3429000"/>
            <a:ext cx="101427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4D909E5-C502-9091-6116-1C516D23DC79}"/>
              </a:ext>
              <a:ext uri="{C183D7F6-B498-43B3-948B-1728B52AA6E4}">
                <adec:decorative xmlns:adec="http://schemas.microsoft.com/office/drawing/2017/decorative" val="1"/>
              </a:ext>
            </a:extLst>
          </p:cNvPr>
          <p:cNvCxnSpPr>
            <a:cxnSpLocks/>
          </p:cNvCxnSpPr>
          <p:nvPr/>
        </p:nvCxnSpPr>
        <p:spPr>
          <a:xfrm>
            <a:off x="8291744" y="3429000"/>
            <a:ext cx="29133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1EF6E67-3AAE-C810-9817-1EF700870A51}"/>
              </a:ext>
              <a:ext uri="{C183D7F6-B498-43B3-948B-1728B52AA6E4}">
                <adec:decorative xmlns:adec="http://schemas.microsoft.com/office/drawing/2017/decorative" val="1"/>
              </a:ext>
            </a:extLst>
          </p:cNvPr>
          <p:cNvCxnSpPr>
            <a:cxnSpLocks/>
          </p:cNvCxnSpPr>
          <p:nvPr/>
        </p:nvCxnSpPr>
        <p:spPr>
          <a:xfrm flipH="1">
            <a:off x="881878" y="3429000"/>
            <a:ext cx="182581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C7E6DF5-5FB4-4D97-7DCE-FEB9954DBB3D}"/>
              </a:ext>
              <a:ext uri="{C183D7F6-B498-43B3-948B-1728B52AA6E4}">
                <adec:decorative xmlns:adec="http://schemas.microsoft.com/office/drawing/2017/decorative" val="1"/>
              </a:ext>
            </a:extLst>
          </p:cNvPr>
          <p:cNvCxnSpPr/>
          <p:nvPr/>
        </p:nvCxnSpPr>
        <p:spPr>
          <a:xfrm>
            <a:off x="1624614" y="3162670"/>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5E5AE17-7DAD-8BBF-EB6D-2E1FEAAC2ADC}"/>
              </a:ext>
              <a:ext uri="{C183D7F6-B498-43B3-948B-1728B52AA6E4}">
                <adec:decorative xmlns:adec="http://schemas.microsoft.com/office/drawing/2017/decorative" val="1"/>
              </a:ext>
            </a:extLst>
          </p:cNvPr>
          <p:cNvCxnSpPr/>
          <p:nvPr/>
        </p:nvCxnSpPr>
        <p:spPr>
          <a:xfrm>
            <a:off x="3113537" y="3162670"/>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CBFC399-300E-FBB4-FEDA-6AF09F8527EA}"/>
              </a:ext>
              <a:ext uri="{C183D7F6-B498-43B3-948B-1728B52AA6E4}">
                <adec:decorative xmlns:adec="http://schemas.microsoft.com/office/drawing/2017/decorative" val="1"/>
              </a:ext>
            </a:extLst>
          </p:cNvPr>
          <p:cNvCxnSpPr/>
          <p:nvPr/>
        </p:nvCxnSpPr>
        <p:spPr>
          <a:xfrm>
            <a:off x="4602460" y="3162670"/>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49C6172-DAD1-D057-1FE3-67E5149E01CF}"/>
              </a:ext>
              <a:ext uri="{C183D7F6-B498-43B3-948B-1728B52AA6E4}">
                <adec:decorative xmlns:adec="http://schemas.microsoft.com/office/drawing/2017/decorative" val="1"/>
              </a:ext>
            </a:extLst>
          </p:cNvPr>
          <p:cNvCxnSpPr/>
          <p:nvPr/>
        </p:nvCxnSpPr>
        <p:spPr>
          <a:xfrm>
            <a:off x="6091383" y="3162670"/>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FEC046F-0FE0-9EEA-F504-63E5E77175AF}"/>
              </a:ext>
              <a:ext uri="{C183D7F6-B498-43B3-948B-1728B52AA6E4}">
                <adec:decorative xmlns:adec="http://schemas.microsoft.com/office/drawing/2017/decorative" val="1"/>
              </a:ext>
            </a:extLst>
          </p:cNvPr>
          <p:cNvCxnSpPr/>
          <p:nvPr/>
        </p:nvCxnSpPr>
        <p:spPr>
          <a:xfrm>
            <a:off x="7580306" y="3153792"/>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A150C0-D430-384C-595E-02C7A68B0A1D}"/>
              </a:ext>
              <a:ext uri="{C183D7F6-B498-43B3-948B-1728B52AA6E4}">
                <adec:decorative xmlns:adec="http://schemas.microsoft.com/office/drawing/2017/decorative" val="1"/>
              </a:ext>
            </a:extLst>
          </p:cNvPr>
          <p:cNvCxnSpPr/>
          <p:nvPr/>
        </p:nvCxnSpPr>
        <p:spPr>
          <a:xfrm>
            <a:off x="10558152" y="3151774"/>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3A1A1CE-6EB8-8ECC-ABB9-2192B8891C96}"/>
              </a:ext>
            </a:extLst>
          </p:cNvPr>
          <p:cNvSpPr txBox="1"/>
          <p:nvPr/>
        </p:nvSpPr>
        <p:spPr>
          <a:xfrm>
            <a:off x="1025880" y="3733366"/>
            <a:ext cx="983932" cy="737514"/>
          </a:xfrm>
          <a:prstGeom prst="rect">
            <a:avLst/>
          </a:prstGeom>
          <a:noFill/>
        </p:spPr>
        <p:txBody>
          <a:bodyPr wrap="square" lIns="0" tIns="0" rIns="0" bIns="0" rtlCol="0">
            <a:noAutofit/>
          </a:bodyPr>
          <a:lstStyle/>
          <a:p>
            <a:pPr algn="ctr"/>
            <a:r>
              <a:rPr lang="en-AU" sz="4800"/>
              <a:t>-45</a:t>
            </a:r>
            <a:endParaRPr lang="en-AU" sz="1800"/>
          </a:p>
        </p:txBody>
      </p:sp>
      <p:sp>
        <p:nvSpPr>
          <p:cNvPr id="25" name="TextBox 24">
            <a:extLst>
              <a:ext uri="{FF2B5EF4-FFF2-40B4-BE49-F238E27FC236}">
                <a16:creationId xmlns:a16="http://schemas.microsoft.com/office/drawing/2014/main" id="{F90F4B8D-F185-511D-66EB-43F546B1D2C9}"/>
              </a:ext>
            </a:extLst>
          </p:cNvPr>
          <p:cNvSpPr txBox="1"/>
          <p:nvPr/>
        </p:nvSpPr>
        <p:spPr>
          <a:xfrm>
            <a:off x="2795703" y="3683375"/>
            <a:ext cx="633251" cy="737514"/>
          </a:xfrm>
          <a:prstGeom prst="rect">
            <a:avLst/>
          </a:prstGeom>
          <a:noFill/>
        </p:spPr>
        <p:txBody>
          <a:bodyPr wrap="square" lIns="0" tIns="0" rIns="0" bIns="0" rtlCol="0">
            <a:noAutofit/>
          </a:bodyPr>
          <a:lstStyle/>
          <a:p>
            <a:pPr algn="ctr"/>
            <a:r>
              <a:rPr lang="en-AU" sz="4800">
                <a:solidFill>
                  <a:schemeClr val="accent2"/>
                </a:solidFill>
              </a:rPr>
              <a:t>?</a:t>
            </a:r>
            <a:endParaRPr lang="en-AU" sz="1800">
              <a:solidFill>
                <a:schemeClr val="accent2"/>
              </a:solidFill>
            </a:endParaRPr>
          </a:p>
        </p:txBody>
      </p:sp>
      <p:sp>
        <p:nvSpPr>
          <p:cNvPr id="24" name="TextBox 23">
            <a:extLst>
              <a:ext uri="{FF2B5EF4-FFF2-40B4-BE49-F238E27FC236}">
                <a16:creationId xmlns:a16="http://schemas.microsoft.com/office/drawing/2014/main" id="{14C5E65F-0D56-40D8-F03B-C815613D6388}"/>
              </a:ext>
            </a:extLst>
          </p:cNvPr>
          <p:cNvSpPr txBox="1"/>
          <p:nvPr/>
        </p:nvSpPr>
        <p:spPr>
          <a:xfrm>
            <a:off x="3993270" y="3683375"/>
            <a:ext cx="983932" cy="737514"/>
          </a:xfrm>
          <a:prstGeom prst="rect">
            <a:avLst/>
          </a:prstGeom>
          <a:noFill/>
        </p:spPr>
        <p:txBody>
          <a:bodyPr wrap="square" lIns="0" tIns="0" rIns="0" bIns="0" rtlCol="0">
            <a:noAutofit/>
          </a:bodyPr>
          <a:lstStyle/>
          <a:p>
            <a:pPr algn="ctr"/>
            <a:r>
              <a:rPr lang="en-AU" sz="4800"/>
              <a:t>-15</a:t>
            </a:r>
            <a:endParaRPr lang="en-AU" sz="1800"/>
          </a:p>
        </p:txBody>
      </p:sp>
      <p:sp>
        <p:nvSpPr>
          <p:cNvPr id="20" name="TextBox 19">
            <a:extLst>
              <a:ext uri="{FF2B5EF4-FFF2-40B4-BE49-F238E27FC236}">
                <a16:creationId xmlns:a16="http://schemas.microsoft.com/office/drawing/2014/main" id="{FFB48688-8BFA-2B67-B32E-4CF494D4B494}"/>
              </a:ext>
            </a:extLst>
          </p:cNvPr>
          <p:cNvSpPr txBox="1"/>
          <p:nvPr/>
        </p:nvSpPr>
        <p:spPr>
          <a:xfrm>
            <a:off x="5845943" y="3675556"/>
            <a:ext cx="497145" cy="737514"/>
          </a:xfrm>
          <a:prstGeom prst="rect">
            <a:avLst/>
          </a:prstGeom>
          <a:noFill/>
        </p:spPr>
        <p:txBody>
          <a:bodyPr wrap="square" lIns="0" tIns="0" rIns="0" bIns="0" rtlCol="0">
            <a:noAutofit/>
          </a:bodyPr>
          <a:lstStyle/>
          <a:p>
            <a:pPr algn="ctr"/>
            <a:r>
              <a:rPr lang="en-AU" sz="4800"/>
              <a:t>0</a:t>
            </a:r>
            <a:endParaRPr lang="en-AU" sz="1800"/>
          </a:p>
        </p:txBody>
      </p:sp>
      <p:sp>
        <p:nvSpPr>
          <p:cNvPr id="21" name="TextBox 20">
            <a:extLst>
              <a:ext uri="{FF2B5EF4-FFF2-40B4-BE49-F238E27FC236}">
                <a16:creationId xmlns:a16="http://schemas.microsoft.com/office/drawing/2014/main" id="{BAA98F81-CD07-DACD-2BDB-C2485A4FA74B}"/>
              </a:ext>
            </a:extLst>
          </p:cNvPr>
          <p:cNvSpPr txBox="1"/>
          <p:nvPr/>
        </p:nvSpPr>
        <p:spPr>
          <a:xfrm>
            <a:off x="7146614" y="3675556"/>
            <a:ext cx="798990" cy="737514"/>
          </a:xfrm>
          <a:prstGeom prst="rect">
            <a:avLst/>
          </a:prstGeom>
          <a:noFill/>
        </p:spPr>
        <p:txBody>
          <a:bodyPr wrap="square" lIns="0" tIns="0" rIns="0" bIns="0" rtlCol="0">
            <a:noAutofit/>
          </a:bodyPr>
          <a:lstStyle/>
          <a:p>
            <a:pPr algn="ctr"/>
            <a:r>
              <a:rPr lang="en-AU" sz="4800"/>
              <a:t>15</a:t>
            </a:r>
            <a:endParaRPr lang="en-AU" sz="1800"/>
          </a:p>
        </p:txBody>
      </p:sp>
      <p:sp>
        <p:nvSpPr>
          <p:cNvPr id="23" name="TextBox 22">
            <a:extLst>
              <a:ext uri="{FF2B5EF4-FFF2-40B4-BE49-F238E27FC236}">
                <a16:creationId xmlns:a16="http://schemas.microsoft.com/office/drawing/2014/main" id="{E150958F-5281-8C97-D9F8-CBDD1DA7E1B0}"/>
              </a:ext>
            </a:extLst>
          </p:cNvPr>
          <p:cNvSpPr txBox="1"/>
          <p:nvPr/>
        </p:nvSpPr>
        <p:spPr>
          <a:xfrm>
            <a:off x="10150637" y="3715906"/>
            <a:ext cx="728676" cy="737514"/>
          </a:xfrm>
          <a:prstGeom prst="rect">
            <a:avLst/>
          </a:prstGeom>
          <a:noFill/>
        </p:spPr>
        <p:txBody>
          <a:bodyPr wrap="square" lIns="0" tIns="0" rIns="0" bIns="0" rtlCol="0">
            <a:noAutofit/>
          </a:bodyPr>
          <a:lstStyle/>
          <a:p>
            <a:pPr algn="ctr"/>
            <a:r>
              <a:rPr lang="en-AU" sz="4800"/>
              <a:t>45</a:t>
            </a:r>
            <a:endParaRPr lang="en-AU" sz="1800"/>
          </a:p>
        </p:txBody>
      </p:sp>
      <p:sp>
        <p:nvSpPr>
          <p:cNvPr id="9" name="TextBox 8">
            <a:extLst>
              <a:ext uri="{FF2B5EF4-FFF2-40B4-BE49-F238E27FC236}">
                <a16:creationId xmlns:a16="http://schemas.microsoft.com/office/drawing/2014/main" id="{055D882C-AF43-C390-844D-CF785253532C}"/>
              </a:ext>
            </a:extLst>
          </p:cNvPr>
          <p:cNvSpPr txBox="1"/>
          <p:nvPr/>
        </p:nvSpPr>
        <p:spPr>
          <a:xfrm>
            <a:off x="1266559" y="49353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28" name="TextBox 27">
            <a:extLst>
              <a:ext uri="{FF2B5EF4-FFF2-40B4-BE49-F238E27FC236}">
                <a16:creationId xmlns:a16="http://schemas.microsoft.com/office/drawing/2014/main" id="{B0E3F7F0-08D7-C8DF-1BCE-E00D2F1298A2}"/>
              </a:ext>
            </a:extLst>
          </p:cNvPr>
          <p:cNvSpPr txBox="1"/>
          <p:nvPr/>
        </p:nvSpPr>
        <p:spPr>
          <a:xfrm>
            <a:off x="903092" y="5760486"/>
            <a:ext cx="983932" cy="737514"/>
          </a:xfrm>
          <a:prstGeom prst="rect">
            <a:avLst/>
          </a:prstGeom>
          <a:noFill/>
        </p:spPr>
        <p:txBody>
          <a:bodyPr wrap="square" lIns="0" tIns="0" rIns="0" bIns="0" rtlCol="0">
            <a:noAutofit/>
          </a:bodyPr>
          <a:lstStyle/>
          <a:p>
            <a:pPr algn="ctr"/>
            <a:r>
              <a:rPr lang="en-AU" sz="4800"/>
              <a:t>-25</a:t>
            </a:r>
            <a:endParaRPr lang="en-AU" sz="1800"/>
          </a:p>
        </p:txBody>
      </p:sp>
      <p:sp>
        <p:nvSpPr>
          <p:cNvPr id="10" name="TextBox 9">
            <a:extLst>
              <a:ext uri="{FF2B5EF4-FFF2-40B4-BE49-F238E27FC236}">
                <a16:creationId xmlns:a16="http://schemas.microsoft.com/office/drawing/2014/main" id="{3A7CB9AE-0F31-FA92-BCB3-C4AD3EF18B05}"/>
              </a:ext>
            </a:extLst>
          </p:cNvPr>
          <p:cNvSpPr txBox="1"/>
          <p:nvPr/>
        </p:nvSpPr>
        <p:spPr>
          <a:xfrm>
            <a:off x="4270532" y="49353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29" name="TextBox 28">
            <a:extLst>
              <a:ext uri="{FF2B5EF4-FFF2-40B4-BE49-F238E27FC236}">
                <a16:creationId xmlns:a16="http://schemas.microsoft.com/office/drawing/2014/main" id="{A8EF4355-4019-2C32-743D-526B2E87840A}"/>
              </a:ext>
            </a:extLst>
          </p:cNvPr>
          <p:cNvSpPr txBox="1"/>
          <p:nvPr/>
        </p:nvSpPr>
        <p:spPr>
          <a:xfrm>
            <a:off x="3919267" y="5673982"/>
            <a:ext cx="983932" cy="737514"/>
          </a:xfrm>
          <a:prstGeom prst="rect">
            <a:avLst/>
          </a:prstGeom>
          <a:noFill/>
        </p:spPr>
        <p:txBody>
          <a:bodyPr wrap="square" lIns="0" tIns="0" rIns="0" bIns="0" rtlCol="0">
            <a:noAutofit/>
          </a:bodyPr>
          <a:lstStyle/>
          <a:p>
            <a:pPr algn="ctr"/>
            <a:r>
              <a:rPr lang="en-AU" sz="4800"/>
              <a:t>25</a:t>
            </a:r>
            <a:endParaRPr lang="en-AU" sz="1800"/>
          </a:p>
        </p:txBody>
      </p:sp>
      <p:sp>
        <p:nvSpPr>
          <p:cNvPr id="12" name="TextBox 11">
            <a:extLst>
              <a:ext uri="{FF2B5EF4-FFF2-40B4-BE49-F238E27FC236}">
                <a16:creationId xmlns:a16="http://schemas.microsoft.com/office/drawing/2014/main" id="{92ADCA88-1230-AEE8-EFD6-D8F0DF7EEE5C}"/>
              </a:ext>
            </a:extLst>
          </p:cNvPr>
          <p:cNvSpPr txBox="1"/>
          <p:nvPr/>
        </p:nvSpPr>
        <p:spPr>
          <a:xfrm>
            <a:off x="7274505" y="49353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30" name="TextBox 29">
            <a:extLst>
              <a:ext uri="{FF2B5EF4-FFF2-40B4-BE49-F238E27FC236}">
                <a16:creationId xmlns:a16="http://schemas.microsoft.com/office/drawing/2014/main" id="{116D332A-1048-C5FA-F144-C9498FC7C13A}"/>
              </a:ext>
            </a:extLst>
          </p:cNvPr>
          <p:cNvSpPr txBox="1"/>
          <p:nvPr/>
        </p:nvSpPr>
        <p:spPr>
          <a:xfrm>
            <a:off x="6961672" y="5673982"/>
            <a:ext cx="983932" cy="737514"/>
          </a:xfrm>
          <a:prstGeom prst="rect">
            <a:avLst/>
          </a:prstGeom>
          <a:noFill/>
        </p:spPr>
        <p:txBody>
          <a:bodyPr wrap="square" lIns="0" tIns="0" rIns="0" bIns="0" rtlCol="0">
            <a:noAutofit/>
          </a:bodyPr>
          <a:lstStyle/>
          <a:p>
            <a:pPr algn="ctr"/>
            <a:r>
              <a:rPr lang="en-AU" sz="4800"/>
              <a:t>-30</a:t>
            </a:r>
            <a:endParaRPr lang="en-AU" sz="1800"/>
          </a:p>
        </p:txBody>
      </p:sp>
      <p:sp>
        <p:nvSpPr>
          <p:cNvPr id="11" name="TextBox 10">
            <a:extLst>
              <a:ext uri="{FF2B5EF4-FFF2-40B4-BE49-F238E27FC236}">
                <a16:creationId xmlns:a16="http://schemas.microsoft.com/office/drawing/2014/main" id="{F2C63D4C-D53C-5250-A986-AB949B67DEB8}"/>
              </a:ext>
            </a:extLst>
          </p:cNvPr>
          <p:cNvSpPr txBox="1"/>
          <p:nvPr/>
        </p:nvSpPr>
        <p:spPr>
          <a:xfrm>
            <a:off x="10278479" y="49353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31" name="TextBox 30">
            <a:extLst>
              <a:ext uri="{FF2B5EF4-FFF2-40B4-BE49-F238E27FC236}">
                <a16:creationId xmlns:a16="http://schemas.microsoft.com/office/drawing/2014/main" id="{B99EBBBE-A7F1-92C0-8204-6B6D4137422E}"/>
              </a:ext>
            </a:extLst>
          </p:cNvPr>
          <p:cNvSpPr txBox="1"/>
          <p:nvPr/>
        </p:nvSpPr>
        <p:spPr>
          <a:xfrm>
            <a:off x="10001456" y="5673982"/>
            <a:ext cx="983932" cy="737514"/>
          </a:xfrm>
          <a:prstGeom prst="rect">
            <a:avLst/>
          </a:prstGeom>
          <a:noFill/>
        </p:spPr>
        <p:txBody>
          <a:bodyPr wrap="square" lIns="0" tIns="0" rIns="0" bIns="0" rtlCol="0">
            <a:noAutofit/>
          </a:bodyPr>
          <a:lstStyle/>
          <a:p>
            <a:pPr algn="ctr"/>
            <a:r>
              <a:rPr lang="en-AU" sz="4800"/>
              <a:t>30</a:t>
            </a:r>
            <a:endParaRPr lang="en-AU" sz="1800"/>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A78C2193-E47B-396A-1037-B725B0CC5142}"/>
              </a:ext>
            </a:extLst>
          </p:cNvPr>
          <p:cNvSpPr txBox="1"/>
          <p:nvPr/>
        </p:nvSpPr>
        <p:spPr>
          <a:xfrm>
            <a:off x="6405784" y="4817262"/>
            <a:ext cx="5206399" cy="1849396"/>
          </a:xfrm>
          <a:prstGeom prst="rect">
            <a:avLst/>
          </a:prstGeom>
          <a:noFill/>
          <a:ln w="28575">
            <a:solidFill>
              <a:schemeClr val="accent2"/>
            </a:solidFill>
          </a:ln>
        </p:spPr>
        <p:txBody>
          <a:bodyPr wrap="square" lIns="0" tIns="0" rIns="0" bIns="0" rtlCol="0" anchor="ctr">
            <a:noAutofit/>
          </a:bodyPr>
          <a:lstStyle/>
          <a:p>
            <a:pPr>
              <a:lnSpc>
                <a:spcPct val="150000"/>
              </a:lnSpc>
            </a:pPr>
            <a:r>
              <a:rPr lang="en-AU" sz="3200">
                <a:solidFill>
                  <a:schemeClr val="accent2"/>
                </a:solidFill>
              </a:rPr>
              <a:t>                      number plane</a:t>
            </a:r>
          </a:p>
        </p:txBody>
      </p:sp>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4" name="TextBox 3">
            <a:extLst>
              <a:ext uri="{FF2B5EF4-FFF2-40B4-BE49-F238E27FC236}">
                <a16:creationId xmlns:a16="http://schemas.microsoft.com/office/drawing/2014/main" id="{496EA86B-4F99-9136-A968-9D32899ECB7E}"/>
              </a:ext>
            </a:extLst>
          </p:cNvPr>
          <p:cNvSpPr txBox="1"/>
          <p:nvPr/>
        </p:nvSpPr>
        <p:spPr>
          <a:xfrm>
            <a:off x="1600132" y="824121"/>
            <a:ext cx="8891303" cy="720204"/>
          </a:xfrm>
          <a:prstGeom prst="rect">
            <a:avLst/>
          </a:prstGeom>
          <a:noFill/>
        </p:spPr>
        <p:txBody>
          <a:bodyPr wrap="square" lIns="0" tIns="0" rIns="0" bIns="0" rtlCol="0">
            <a:noAutofit/>
          </a:bodyPr>
          <a:lstStyle/>
          <a:p>
            <a:pPr algn="ctr">
              <a:lnSpc>
                <a:spcPct val="150000"/>
              </a:lnSpc>
            </a:pPr>
            <a:r>
              <a:rPr lang="en-AU" sz="4400"/>
              <a:t>Complete the sentences. </a:t>
            </a:r>
          </a:p>
          <a:p>
            <a:pPr algn="ctr">
              <a:lnSpc>
                <a:spcPct val="150000"/>
              </a:lnSpc>
            </a:pPr>
            <a:endParaRPr lang="en-AU" sz="4400"/>
          </a:p>
        </p:txBody>
      </p:sp>
      <p:sp>
        <p:nvSpPr>
          <p:cNvPr id="9" name="TextBox 8">
            <a:extLst>
              <a:ext uri="{FF2B5EF4-FFF2-40B4-BE49-F238E27FC236}">
                <a16:creationId xmlns:a16="http://schemas.microsoft.com/office/drawing/2014/main" id="{CDF8CCCF-79F0-4C78-89C7-2B1683CE4521}"/>
              </a:ext>
            </a:extLst>
          </p:cNvPr>
          <p:cNvSpPr txBox="1"/>
          <p:nvPr/>
        </p:nvSpPr>
        <p:spPr>
          <a:xfrm>
            <a:off x="241367" y="2122748"/>
            <a:ext cx="11709265" cy="739754"/>
          </a:xfrm>
          <a:prstGeom prst="rect">
            <a:avLst/>
          </a:prstGeom>
          <a:noFill/>
        </p:spPr>
        <p:txBody>
          <a:bodyPr wrap="square">
            <a:spAutoFit/>
          </a:bodyPr>
          <a:lstStyle/>
          <a:p>
            <a:pPr>
              <a:lnSpc>
                <a:spcPct val="150000"/>
              </a:lnSpc>
            </a:pPr>
            <a:r>
              <a:rPr lang="en-AU" sz="3200"/>
              <a:t>The _________  reference is used to give the area of a location.</a:t>
            </a:r>
          </a:p>
        </p:txBody>
      </p:sp>
      <p:pic>
        <p:nvPicPr>
          <p:cNvPr id="10" name="Picture 9" descr="A number plane with grid lines. The x-axis is labelled zero to 7 and y-axis is labelled zero to 7.  ">
            <a:extLst>
              <a:ext uri="{FF2B5EF4-FFF2-40B4-BE49-F238E27FC236}">
                <a16:creationId xmlns:a16="http://schemas.microsoft.com/office/drawing/2014/main" id="{A39A512E-5888-F8A3-DF2B-EF9ED4E3430D}"/>
              </a:ext>
            </a:extLst>
          </p:cNvPr>
          <p:cNvPicPr>
            <a:picLocks noChangeAspect="1"/>
          </p:cNvPicPr>
          <p:nvPr/>
        </p:nvPicPr>
        <p:blipFill>
          <a:blip r:embed="rId4"/>
          <a:stretch>
            <a:fillRect/>
          </a:stretch>
        </p:blipFill>
        <p:spPr>
          <a:xfrm>
            <a:off x="6562290" y="4896981"/>
            <a:ext cx="2083870" cy="1708955"/>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92950627-7E8C-58DD-AFEB-C60DA261480F}"/>
              </a:ext>
            </a:extLst>
          </p:cNvPr>
          <p:cNvSpPr txBox="1"/>
          <p:nvPr/>
        </p:nvSpPr>
        <p:spPr>
          <a:xfrm>
            <a:off x="479383" y="3447216"/>
            <a:ext cx="11132800" cy="739754"/>
          </a:xfrm>
          <a:prstGeom prst="rect">
            <a:avLst/>
          </a:prstGeom>
          <a:noFill/>
        </p:spPr>
        <p:txBody>
          <a:bodyPr wrap="square">
            <a:spAutoFit/>
          </a:bodyPr>
          <a:lstStyle/>
          <a:p>
            <a:pPr>
              <a:lnSpc>
                <a:spcPct val="150000"/>
              </a:lnSpc>
            </a:pPr>
            <a:r>
              <a:rPr lang="en-AU" sz="3200"/>
              <a:t>The _________ is used to identify a specific point.</a:t>
            </a:r>
          </a:p>
        </p:txBody>
      </p:sp>
      <p:sp>
        <p:nvSpPr>
          <p:cNvPr id="13" name="TextBox 12">
            <a:extLst>
              <a:ext uri="{FF2B5EF4-FFF2-40B4-BE49-F238E27FC236}">
                <a16:creationId xmlns:a16="http://schemas.microsoft.com/office/drawing/2014/main" id="{A6FFB0CC-D58F-73F3-D9D6-27A85161AEF2}"/>
              </a:ext>
            </a:extLst>
          </p:cNvPr>
          <p:cNvSpPr txBox="1"/>
          <p:nvPr/>
        </p:nvSpPr>
        <p:spPr>
          <a:xfrm>
            <a:off x="579819" y="4814386"/>
            <a:ext cx="5206399" cy="1874147"/>
          </a:xfrm>
          <a:prstGeom prst="rect">
            <a:avLst/>
          </a:prstGeom>
          <a:noFill/>
          <a:ln w="28575">
            <a:solidFill>
              <a:schemeClr val="tx2"/>
            </a:solidFill>
          </a:ln>
        </p:spPr>
        <p:txBody>
          <a:bodyPr wrap="square" lIns="0" tIns="0" rIns="0" bIns="0" rtlCol="0" anchor="ctr">
            <a:noAutofit/>
          </a:bodyPr>
          <a:lstStyle/>
          <a:p>
            <a:pPr algn="ctr">
              <a:lnSpc>
                <a:spcPct val="150000"/>
              </a:lnSpc>
            </a:pPr>
            <a:r>
              <a:rPr lang="en-AU" sz="3200">
                <a:solidFill>
                  <a:schemeClr val="tx2"/>
                </a:solidFill>
              </a:rPr>
              <a:t>                 grid-map </a:t>
            </a:r>
          </a:p>
        </p:txBody>
      </p:sp>
      <p:pic>
        <p:nvPicPr>
          <p:cNvPr id="7" name="Picture 6" descr="A map of a park within a grid-map A to N and 1 to 8. ">
            <a:extLst>
              <a:ext uri="{FF2B5EF4-FFF2-40B4-BE49-F238E27FC236}">
                <a16:creationId xmlns:a16="http://schemas.microsoft.com/office/drawing/2014/main" id="{7026299B-1BB2-8642-94B7-B6A6822F4377}"/>
              </a:ext>
            </a:extLst>
          </p:cNvPr>
          <p:cNvPicPr>
            <a:picLocks noChangeAspect="1"/>
          </p:cNvPicPr>
          <p:nvPr/>
        </p:nvPicPr>
        <p:blipFill>
          <a:blip r:embed="rId5"/>
          <a:stretch>
            <a:fillRect/>
          </a:stretch>
        </p:blipFill>
        <p:spPr>
          <a:xfrm>
            <a:off x="821366" y="4949449"/>
            <a:ext cx="2191814" cy="15291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4" name="TextBox 3">
            <a:extLst>
              <a:ext uri="{FF2B5EF4-FFF2-40B4-BE49-F238E27FC236}">
                <a16:creationId xmlns:a16="http://schemas.microsoft.com/office/drawing/2014/main" id="{4F5AD8D9-0799-3E4F-1BCA-BA7F010A930B}"/>
              </a:ext>
            </a:extLst>
          </p:cNvPr>
          <p:cNvSpPr txBox="1"/>
          <p:nvPr/>
        </p:nvSpPr>
        <p:spPr>
          <a:xfrm>
            <a:off x="382928" y="1541917"/>
            <a:ext cx="11101072" cy="4208016"/>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4400"/>
              <a:t>At a music festival, </a:t>
            </a:r>
            <a:r>
              <a:rPr lang="en-AU" sz="4400">
                <a:solidFill>
                  <a:schemeClr val="accent2"/>
                </a:solidFill>
              </a:rPr>
              <a:t>48</a:t>
            </a:r>
            <a:r>
              <a:rPr lang="en-AU" sz="4400"/>
              <a:t> rows of seats are set up, and </a:t>
            </a:r>
            <a:r>
              <a:rPr lang="en-AU" sz="4400">
                <a:solidFill>
                  <a:schemeClr val="accent2"/>
                </a:solidFill>
              </a:rPr>
              <a:t>37</a:t>
            </a:r>
            <a:r>
              <a:rPr lang="en-AU" sz="4400"/>
              <a:t> seats are placed in each row. </a:t>
            </a:r>
          </a:p>
          <a:p>
            <a:pPr algn="ctr">
              <a:lnSpc>
                <a:spcPct val="150000"/>
              </a:lnSpc>
              <a:spcBef>
                <a:spcPts val="600"/>
              </a:spcBef>
              <a:spcAft>
                <a:spcPts val="1200"/>
              </a:spcAft>
            </a:pPr>
            <a:r>
              <a:rPr lang="en-AU" sz="4400"/>
              <a:t>How many seats are there in </a:t>
            </a:r>
            <a:r>
              <a:rPr lang="en-AU" sz="4400" b="1"/>
              <a:t>total</a:t>
            </a:r>
            <a:r>
              <a:rPr lang="en-AU" sz="4400"/>
              <a:t>?</a:t>
            </a:r>
          </a:p>
          <a:p>
            <a:pPr algn="ctr">
              <a:lnSpc>
                <a:spcPct val="150000"/>
              </a:lnSpc>
              <a:spcBef>
                <a:spcPts val="600"/>
              </a:spcBef>
              <a:spcAft>
                <a:spcPts val="1200"/>
              </a:spcAft>
            </a:pPr>
            <a:r>
              <a:rPr lang="en-AU" sz="4400" b="1"/>
              <a:t>Communicate</a:t>
            </a:r>
            <a:r>
              <a:rPr lang="en-AU" sz="4400"/>
              <a:t> your </a:t>
            </a:r>
            <a:r>
              <a:rPr lang="en-AU" sz="4400" b="1"/>
              <a:t>strategy.</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4" name="TextBox 3">
            <a:extLst>
              <a:ext uri="{FF2B5EF4-FFF2-40B4-BE49-F238E27FC236}">
                <a16:creationId xmlns:a16="http://schemas.microsoft.com/office/drawing/2014/main" id="{B9084DFD-5AA9-FADD-2209-693A13ABBD17}"/>
              </a:ext>
            </a:extLst>
          </p:cNvPr>
          <p:cNvSpPr txBox="1"/>
          <p:nvPr/>
        </p:nvSpPr>
        <p:spPr>
          <a:xfrm>
            <a:off x="1020496" y="905601"/>
            <a:ext cx="9858376" cy="1754909"/>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4000" b="1"/>
              <a:t>Round</a:t>
            </a:r>
            <a:r>
              <a:rPr lang="en-AU" sz="4000"/>
              <a:t> the following numbers to the nearest </a:t>
            </a:r>
            <a:r>
              <a:rPr lang="en-AU" sz="4000" b="1"/>
              <a:t>million</a:t>
            </a:r>
            <a:r>
              <a:rPr lang="en-AU" sz="4000"/>
              <a:t>:</a:t>
            </a:r>
            <a:endParaRPr lang="en-AU" sz="1600"/>
          </a:p>
          <a:p>
            <a:pPr marL="571500" indent="-571500" algn="ctr">
              <a:lnSpc>
                <a:spcPct val="150000"/>
              </a:lnSpc>
              <a:spcBef>
                <a:spcPts val="600"/>
              </a:spcBef>
              <a:spcAft>
                <a:spcPts val="1200"/>
              </a:spcAft>
              <a:buFont typeface="Arial" panose="020B0604020202020204" pitchFamily="34" charset="0"/>
              <a:buChar char="•"/>
            </a:pPr>
            <a:r>
              <a:rPr lang="en-AU" sz="4000"/>
              <a:t>  452 732 672</a:t>
            </a:r>
          </a:p>
          <a:p>
            <a:pPr marL="571500" indent="-571500" algn="ctr">
              <a:lnSpc>
                <a:spcPct val="150000"/>
              </a:lnSpc>
              <a:spcBef>
                <a:spcPts val="600"/>
              </a:spcBef>
              <a:spcAft>
                <a:spcPts val="1200"/>
              </a:spcAft>
              <a:buFont typeface="Arial" panose="020B0604020202020204" pitchFamily="34" charset="0"/>
              <a:buChar char="•"/>
            </a:pPr>
            <a:r>
              <a:rPr lang="en-AU" sz="4000"/>
              <a:t>  279 108 344</a:t>
            </a:r>
          </a:p>
          <a:p>
            <a:pPr marL="571500" indent="-571500" algn="ctr">
              <a:lnSpc>
                <a:spcPct val="150000"/>
              </a:lnSpc>
              <a:spcBef>
                <a:spcPts val="600"/>
              </a:spcBef>
              <a:spcAft>
                <a:spcPts val="1200"/>
              </a:spcAft>
              <a:buFont typeface="Arial" panose="020B0604020202020204" pitchFamily="34" charset="0"/>
              <a:buChar char="•"/>
            </a:pPr>
            <a:r>
              <a:rPr lang="en-AU" sz="4000"/>
              <a:t>  390 487 192</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985D4CA-F743-FC96-683E-6E55E738F9D3}"/>
              </a:ext>
            </a:extLst>
          </p:cNvPr>
          <p:cNvSpPr txBox="1"/>
          <p:nvPr/>
        </p:nvSpPr>
        <p:spPr>
          <a:xfrm>
            <a:off x="470942" y="1102604"/>
            <a:ext cx="10484529" cy="777742"/>
          </a:xfrm>
          <a:prstGeom prst="rect">
            <a:avLst/>
          </a:prstGeom>
          <a:noFill/>
        </p:spPr>
        <p:txBody>
          <a:bodyPr wrap="square" lIns="0" tIns="0" rIns="0" bIns="0" rtlCol="0">
            <a:noAutofit/>
          </a:bodyPr>
          <a:lstStyle/>
          <a:p>
            <a:pPr algn="l">
              <a:lnSpc>
                <a:spcPct val="150000"/>
              </a:lnSpc>
            </a:pPr>
            <a:r>
              <a:rPr lang="en-AU" sz="2800"/>
              <a:t>Record the </a:t>
            </a:r>
            <a:r>
              <a:rPr lang="en-AU" sz="2800" b="1"/>
              <a:t>properties</a:t>
            </a:r>
            <a:r>
              <a:rPr lang="en-AU" sz="2800"/>
              <a:t> missing from the table:</a:t>
            </a:r>
          </a:p>
        </p:txBody>
      </p:sp>
      <p:graphicFrame>
        <p:nvGraphicFramePr>
          <p:cNvPr id="5" name="Table 4">
            <a:extLst>
              <a:ext uri="{FF2B5EF4-FFF2-40B4-BE49-F238E27FC236}">
                <a16:creationId xmlns:a16="http://schemas.microsoft.com/office/drawing/2014/main" id="{74C6D97E-60DC-9DE1-E1CC-B184470125EA}"/>
              </a:ext>
            </a:extLst>
          </p:cNvPr>
          <p:cNvGraphicFramePr>
            <a:graphicFrameLocks noGrp="1"/>
          </p:cNvGraphicFramePr>
          <p:nvPr>
            <p:extLst>
              <p:ext uri="{D42A27DB-BD31-4B8C-83A1-F6EECF244321}">
                <p14:modId xmlns:p14="http://schemas.microsoft.com/office/powerpoint/2010/main" val="74560553"/>
              </p:ext>
            </p:extLst>
          </p:nvPr>
        </p:nvGraphicFramePr>
        <p:xfrm>
          <a:off x="470942" y="1846053"/>
          <a:ext cx="11045321" cy="4447074"/>
        </p:xfrm>
        <a:graphic>
          <a:graphicData uri="http://schemas.openxmlformats.org/drawingml/2006/table">
            <a:tbl>
              <a:tblPr firstRow="1" firstCol="1">
                <a:tableStyleId>{5A111915-BE36-4E01-A7E5-04B1672EAD32}</a:tableStyleId>
              </a:tblPr>
              <a:tblGrid>
                <a:gridCol w="2459349">
                  <a:extLst>
                    <a:ext uri="{9D8B030D-6E8A-4147-A177-3AD203B41FA5}">
                      <a16:colId xmlns:a16="http://schemas.microsoft.com/office/drawing/2014/main" val="551928556"/>
                    </a:ext>
                  </a:extLst>
                </a:gridCol>
                <a:gridCol w="2774020">
                  <a:extLst>
                    <a:ext uri="{9D8B030D-6E8A-4147-A177-3AD203B41FA5}">
                      <a16:colId xmlns:a16="http://schemas.microsoft.com/office/drawing/2014/main" val="4107827120"/>
                    </a:ext>
                  </a:extLst>
                </a:gridCol>
                <a:gridCol w="2905976">
                  <a:extLst>
                    <a:ext uri="{9D8B030D-6E8A-4147-A177-3AD203B41FA5}">
                      <a16:colId xmlns:a16="http://schemas.microsoft.com/office/drawing/2014/main" val="2146835987"/>
                    </a:ext>
                  </a:extLst>
                </a:gridCol>
                <a:gridCol w="2905976">
                  <a:extLst>
                    <a:ext uri="{9D8B030D-6E8A-4147-A177-3AD203B41FA5}">
                      <a16:colId xmlns:a16="http://schemas.microsoft.com/office/drawing/2014/main" val="2073883556"/>
                    </a:ext>
                  </a:extLst>
                </a:gridCol>
              </a:tblGrid>
              <a:tr h="362309">
                <a:tc>
                  <a:txBody>
                    <a:bodyPr/>
                    <a:lstStyle/>
                    <a:p>
                      <a:pPr algn="ctr">
                        <a:lnSpc>
                          <a:spcPct val="150000"/>
                        </a:lnSpc>
                        <a:spcBef>
                          <a:spcPts val="1200"/>
                        </a:spcBef>
                        <a:spcAft>
                          <a:spcPts val="600"/>
                        </a:spcAft>
                        <a:buNone/>
                      </a:pPr>
                      <a:r>
                        <a:rPr lang="en-AU" sz="1400">
                          <a:effectLst/>
                        </a:rPr>
                        <a:t>Shape</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400">
                          <a:effectLst/>
                        </a:rPr>
                        <a:t>Properties of sides</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400">
                          <a:effectLst/>
                        </a:rPr>
                        <a:t>Properties of angles</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400">
                          <a:effectLst/>
                        </a:rPr>
                        <a:t>Regular or irregular?</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534047999"/>
                  </a:ext>
                </a:extLst>
              </a:tr>
              <a:tr h="899605">
                <a:tc>
                  <a:txBody>
                    <a:bodyPr/>
                    <a:lstStyle/>
                    <a:p>
                      <a:pPr>
                        <a:lnSpc>
                          <a:spcPct val="150000"/>
                        </a:lnSpc>
                        <a:spcBef>
                          <a:spcPts val="1200"/>
                        </a:spcBef>
                        <a:spcAft>
                          <a:spcPts val="600"/>
                        </a:spcAft>
                        <a:buNone/>
                      </a:pPr>
                      <a:r>
                        <a:rPr lang="en-AU" sz="1800">
                          <a:effectLst/>
                        </a:rPr>
                        <a:t>Equilateral triangle</a:t>
                      </a:r>
                    </a:p>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3 equal acute angles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Regular</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8007245"/>
                  </a:ext>
                </a:extLst>
              </a:tr>
              <a:tr h="998819">
                <a:tc>
                  <a:txBody>
                    <a:bodyPr/>
                    <a:lstStyle/>
                    <a:p>
                      <a:pPr>
                        <a:lnSpc>
                          <a:spcPct val="150000"/>
                        </a:lnSpc>
                        <a:spcBef>
                          <a:spcPts val="1200"/>
                        </a:spcBef>
                        <a:spcAft>
                          <a:spcPts val="600"/>
                        </a:spcAft>
                        <a:buNone/>
                      </a:pPr>
                      <a:r>
                        <a:rPr lang="en-AU" sz="1800">
                          <a:effectLst/>
                        </a:rPr>
                        <a:t>Isosceles triangle</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kern="1200">
                          <a:solidFill>
                            <a:schemeClr val="tx1"/>
                          </a:solidFill>
                          <a:effectLst/>
                          <a:latin typeface="+mn-lt"/>
                          <a:ea typeface="+mn-ea"/>
                          <a:cs typeface="+mn-cs"/>
                        </a:rPr>
                        <a:t>2 equal acute angles opposite the equal side lengths</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Irregular</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8244233"/>
                  </a:ext>
                </a:extLst>
              </a:tr>
              <a:tr h="899605">
                <a:tc>
                  <a:txBody>
                    <a:bodyPr/>
                    <a:lstStyle/>
                    <a:p>
                      <a:pPr>
                        <a:lnSpc>
                          <a:spcPct val="150000"/>
                        </a:lnSpc>
                        <a:spcBef>
                          <a:spcPts val="1200"/>
                        </a:spcBef>
                        <a:spcAft>
                          <a:spcPts val="600"/>
                        </a:spcAft>
                        <a:buNone/>
                      </a:pPr>
                      <a:r>
                        <a:rPr lang="en-AU" sz="1800">
                          <a:effectLst/>
                        </a:rPr>
                        <a:t>Scalene triangle</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All 3 sides are different in length</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Irregular</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9392434"/>
                  </a:ext>
                </a:extLst>
              </a:tr>
              <a:tr h="899605">
                <a:tc>
                  <a:txBody>
                    <a:bodyPr/>
                    <a:lstStyle/>
                    <a:p>
                      <a:pPr>
                        <a:lnSpc>
                          <a:spcPct val="150000"/>
                        </a:lnSpc>
                        <a:spcBef>
                          <a:spcPts val="1200"/>
                        </a:spcBef>
                        <a:spcAft>
                          <a:spcPts val="600"/>
                        </a:spcAft>
                        <a:buNone/>
                      </a:pPr>
                      <a:r>
                        <a:rPr lang="en-AU" sz="1800">
                          <a:effectLst/>
                        </a:rPr>
                        <a:t>Square</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4 equal sides</a:t>
                      </a:r>
                    </a:p>
                    <a:p>
                      <a:pPr>
                        <a:lnSpc>
                          <a:spcPct val="150000"/>
                        </a:lnSpc>
                        <a:spcBef>
                          <a:spcPts val="1200"/>
                        </a:spcBef>
                        <a:spcAft>
                          <a:spcPts val="600"/>
                        </a:spcAft>
                        <a:buNone/>
                      </a:pPr>
                      <a:r>
                        <a:rPr lang="en-AU" sz="1800">
                          <a:effectLst/>
                        </a:rPr>
                        <a:t>2 pairs of parallel lines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7805278"/>
                  </a:ext>
                </a:extLst>
              </a:tr>
            </a:tbl>
          </a:graphicData>
        </a:graphic>
      </p:graphicFrame>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number line search</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TextBox 7">
            <a:extLst>
              <a:ext uri="{FF2B5EF4-FFF2-40B4-BE49-F238E27FC236}">
                <a16:creationId xmlns:a16="http://schemas.microsoft.com/office/drawing/2014/main" id="{0AB1F7ED-7E00-A108-4999-1C1699DB0482}"/>
              </a:ext>
            </a:extLst>
          </p:cNvPr>
          <p:cNvSpPr txBox="1"/>
          <p:nvPr/>
        </p:nvSpPr>
        <p:spPr>
          <a:xfrm>
            <a:off x="-1520531" y="2451123"/>
            <a:ext cx="6094520" cy="764184"/>
          </a:xfrm>
          <a:prstGeom prst="rect">
            <a:avLst/>
          </a:prstGeom>
          <a:noFill/>
        </p:spPr>
        <p:txBody>
          <a:bodyPr wrap="square">
            <a:spAutoFit/>
          </a:bodyPr>
          <a:lstStyle/>
          <a:p>
            <a:pPr algn="ctr">
              <a:lnSpc>
                <a:spcPct val="107000"/>
              </a:lnSpc>
              <a:spcBef>
                <a:spcPts val="1200"/>
              </a:spcBef>
              <a:spcAft>
                <a:spcPts val="800"/>
              </a:spcAft>
              <a:buNone/>
            </a:pPr>
            <a:r>
              <a:rPr lang="en-AU" sz="4400">
                <a:solidFill>
                  <a:schemeClr val="accent2"/>
                </a:solidFill>
                <a:effectLst/>
                <a:latin typeface="Arial" panose="020B0604020202020204" pitchFamily="34" charset="0"/>
                <a:ea typeface="Calibri" panose="020F0502020204030204" pitchFamily="34" charset="0"/>
              </a:rPr>
              <a:t>Line ABC</a:t>
            </a:r>
          </a:p>
        </p:txBody>
      </p:sp>
      <p:pic>
        <p:nvPicPr>
          <p:cNvPr id="3" name="Picture 2" descr="Line ABC&#10;A horizontal number line with markings at odd intervals. Two intervals are marked 50 and 150. The remaining intervals are unlabelled. Sticky notes marked with the letters A, B and C are above different points on the number line. ">
            <a:extLst>
              <a:ext uri="{FF2B5EF4-FFF2-40B4-BE49-F238E27FC236}">
                <a16:creationId xmlns:a16="http://schemas.microsoft.com/office/drawing/2014/main" id="{1C984FC2-27A0-A187-8A8C-EB4330B0EC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7488" y="1228837"/>
            <a:ext cx="8854225" cy="2286591"/>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1BAE7FC8-6BC7-4C5D-0D49-B77673F16C24}"/>
              </a:ext>
            </a:extLst>
          </p:cNvPr>
          <p:cNvSpPr txBox="1"/>
          <p:nvPr/>
        </p:nvSpPr>
        <p:spPr>
          <a:xfrm>
            <a:off x="-1698084" y="5137085"/>
            <a:ext cx="6094520" cy="764184"/>
          </a:xfrm>
          <a:prstGeom prst="rect">
            <a:avLst/>
          </a:prstGeom>
          <a:noFill/>
        </p:spPr>
        <p:txBody>
          <a:bodyPr wrap="square">
            <a:spAutoFit/>
          </a:bodyPr>
          <a:lstStyle/>
          <a:p>
            <a:pPr algn="ctr">
              <a:lnSpc>
                <a:spcPct val="107000"/>
              </a:lnSpc>
              <a:spcBef>
                <a:spcPts val="1200"/>
              </a:spcBef>
              <a:spcAft>
                <a:spcPts val="800"/>
              </a:spcAft>
              <a:buNone/>
            </a:pPr>
            <a:r>
              <a:rPr lang="en-AU" sz="4400">
                <a:solidFill>
                  <a:schemeClr val="accent2"/>
                </a:solidFill>
                <a:effectLst/>
                <a:latin typeface="Arial" panose="020B0604020202020204" pitchFamily="34" charset="0"/>
                <a:ea typeface="Calibri" panose="020F0502020204030204" pitchFamily="34" charset="0"/>
              </a:rPr>
              <a:t>Line </a:t>
            </a:r>
            <a:r>
              <a:rPr lang="en-AU" sz="4400">
                <a:solidFill>
                  <a:schemeClr val="accent2"/>
                </a:solidFill>
                <a:latin typeface="Arial" panose="020B0604020202020204" pitchFamily="34" charset="0"/>
                <a:ea typeface="Calibri" panose="020F0502020204030204" pitchFamily="34" charset="0"/>
              </a:rPr>
              <a:t>YZ</a:t>
            </a:r>
            <a:endParaRPr lang="en-AU" sz="4400">
              <a:solidFill>
                <a:schemeClr val="accent2"/>
              </a:solidFill>
              <a:effectLst/>
              <a:latin typeface="Arial" panose="020B0604020202020204" pitchFamily="34" charset="0"/>
              <a:ea typeface="Calibri" panose="020F0502020204030204" pitchFamily="34" charset="0"/>
            </a:endParaRPr>
          </a:p>
        </p:txBody>
      </p:sp>
      <p:pic>
        <p:nvPicPr>
          <p:cNvPr id="5" name="Picture 4" descr="Line YZ&#10;An empty number line with 8 markings. Two intervals are marked 50 and 150. There are sticky notes labelled Y, Z, A, B and C above different points on the number line. . ">
            <a:extLst>
              <a:ext uri="{FF2B5EF4-FFF2-40B4-BE49-F238E27FC236}">
                <a16:creationId xmlns:a16="http://schemas.microsoft.com/office/drawing/2014/main" id="{4A393A10-851E-A372-4DB0-ACEF9B3B5A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67488" y="3838664"/>
            <a:ext cx="8854225" cy="2471246"/>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 uri="{C183D7F6-B498-43B3-948B-1728B52AA6E4}">
                <adec:decorative xmlns:adec="http://schemas.microsoft.com/office/drawing/2017/decorative" val="0"/>
              </a:ext>
            </a:extLst>
          </p:cNvPr>
          <p:cNvSpPr>
            <a:spLocks noGrp="1"/>
          </p:cNvSpPr>
          <p:nvPr>
            <p:ph type="body" sz="quarter" idx="22"/>
          </p:nvPr>
        </p:nvSpPr>
        <p:spPr>
          <a:xfrm>
            <a:off x="1766143" y="1184019"/>
            <a:ext cx="8659713" cy="893226"/>
          </a:xfrm>
        </p:spPr>
        <p:txBody>
          <a:bodyPr/>
          <a:lstStyle/>
          <a:p>
            <a:pPr algn="ctr"/>
            <a:r>
              <a:rPr lang="en-AU" sz="4400"/>
              <a:t>The term </a:t>
            </a:r>
            <a:r>
              <a:rPr lang="en-AU" sz="4400" b="1"/>
              <a:t>integers</a:t>
            </a:r>
            <a:r>
              <a:rPr lang="en-AU" sz="4400"/>
              <a:t> describes </a:t>
            </a:r>
            <a:r>
              <a:rPr lang="en-AU" sz="4400" b="1"/>
              <a:t>negative whole numbers only</a:t>
            </a:r>
            <a:r>
              <a:rPr lang="en-AU" sz="4400"/>
              <a:t>.</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2886108150"/>
              </p:ext>
            </p:extLst>
          </p:nvPr>
        </p:nvGraphicFramePr>
        <p:xfrm>
          <a:off x="2557461" y="403907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7" name="Text Placeholder 5">
            <a:extLst>
              <a:ext uri="{FF2B5EF4-FFF2-40B4-BE49-F238E27FC236}">
                <a16:creationId xmlns:a16="http://schemas.microsoft.com/office/drawing/2014/main" id="{98F92D2D-CEF3-D8F9-1A23-D6E7505FBC6A}"/>
              </a:ext>
            </a:extLst>
          </p:cNvPr>
          <p:cNvSpPr txBox="1">
            <a:spLocks/>
          </p:cNvSpPr>
          <p:nvPr/>
        </p:nvSpPr>
        <p:spPr>
          <a:xfrm>
            <a:off x="1881553" y="5393514"/>
            <a:ext cx="865971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41548C9-4162-9418-EAC6-0D18A74D06D7}"/>
              </a:ext>
            </a:extLst>
          </p:cNvPr>
          <p:cNvSpPr txBox="1"/>
          <p:nvPr/>
        </p:nvSpPr>
        <p:spPr>
          <a:xfrm>
            <a:off x="97654" y="1248019"/>
            <a:ext cx="6096000" cy="5133160"/>
          </a:xfrm>
          <a:prstGeom prst="rect">
            <a:avLst/>
          </a:prstGeom>
          <a:noFill/>
        </p:spPr>
        <p:txBody>
          <a:bodyPr wrap="square" lIns="0" tIns="0" rIns="0" bIns="0" rtlCol="0">
            <a:noAutofit/>
          </a:bodyPr>
          <a:lstStyle/>
          <a:p>
            <a:pPr algn="ctr">
              <a:lnSpc>
                <a:spcPct val="150000"/>
              </a:lnSpc>
            </a:pPr>
            <a:r>
              <a:rPr lang="en-AU" sz="4400"/>
              <a:t>Record the </a:t>
            </a:r>
            <a:r>
              <a:rPr lang="en-AU" sz="4400" b="1"/>
              <a:t>coordinates</a:t>
            </a:r>
            <a:r>
              <a:rPr lang="en-AU" sz="4400"/>
              <a:t> for the following:</a:t>
            </a:r>
          </a:p>
          <a:p>
            <a:pPr marL="285750" indent="-285750" algn="ctr">
              <a:lnSpc>
                <a:spcPct val="150000"/>
              </a:lnSpc>
              <a:buFont typeface="Arial" panose="020B0604020202020204" pitchFamily="34" charset="0"/>
              <a:buChar char="•"/>
            </a:pPr>
            <a:r>
              <a:rPr lang="en-AU" sz="4400"/>
              <a:t>dolphin</a:t>
            </a:r>
          </a:p>
          <a:p>
            <a:pPr marL="285750" indent="-285750" algn="ctr">
              <a:lnSpc>
                <a:spcPct val="150000"/>
              </a:lnSpc>
              <a:buFont typeface="Arial" panose="020B0604020202020204" pitchFamily="34" charset="0"/>
              <a:buChar char="•"/>
            </a:pPr>
            <a:r>
              <a:rPr lang="en-AU" sz="4400"/>
              <a:t>octopus</a:t>
            </a:r>
          </a:p>
          <a:p>
            <a:pPr marL="285750" indent="-285750" algn="ctr">
              <a:lnSpc>
                <a:spcPct val="150000"/>
              </a:lnSpc>
              <a:buFont typeface="Arial" panose="020B0604020202020204" pitchFamily="34" charset="0"/>
              <a:buChar char="•"/>
            </a:pPr>
            <a:r>
              <a:rPr lang="en-AU" sz="4400"/>
              <a:t>fish</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8" name="Picture 7" descr="The first quadrant of the Cartesian plane with (0, 0) labelled and the x- and y-axis numbered 1 to 7. &#10;There are images at the following coordinates:&#10;helicopter (4, 6)&#10;stingray (4, 2)&#10;dolphin (3, 4)&#10;octopus (1, 1)&#10;fish (2,2)&#10;&#10;">
            <a:extLst>
              <a:ext uri="{FF2B5EF4-FFF2-40B4-BE49-F238E27FC236}">
                <a16:creationId xmlns:a16="http://schemas.microsoft.com/office/drawing/2014/main" id="{E102C0A6-9EDF-8929-744C-5EB7D50ED3D3}"/>
              </a:ext>
            </a:extLst>
          </p:cNvPr>
          <p:cNvPicPr>
            <a:picLocks noChangeAspect="1"/>
          </p:cNvPicPr>
          <p:nvPr/>
        </p:nvPicPr>
        <p:blipFill>
          <a:blip r:embed="rId4"/>
          <a:stretch>
            <a:fillRect/>
          </a:stretch>
        </p:blipFill>
        <p:spPr>
          <a:xfrm>
            <a:off x="6496862" y="1184223"/>
            <a:ext cx="5250144" cy="52679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4" name="TextBox 3">
            <a:extLst>
              <a:ext uri="{FF2B5EF4-FFF2-40B4-BE49-F238E27FC236}">
                <a16:creationId xmlns:a16="http://schemas.microsoft.com/office/drawing/2014/main" id="{6158710D-B252-847A-97BE-87591C84C39F}"/>
              </a:ext>
            </a:extLst>
          </p:cNvPr>
          <p:cNvSpPr txBox="1"/>
          <p:nvPr/>
        </p:nvSpPr>
        <p:spPr>
          <a:xfrm>
            <a:off x="246024" y="905601"/>
            <a:ext cx="11221375" cy="3986073"/>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3600"/>
              <a:t>A cinema printed </a:t>
            </a:r>
            <a:r>
              <a:rPr lang="en-AU" sz="3600">
                <a:solidFill>
                  <a:schemeClr val="accent2"/>
                </a:solidFill>
              </a:rPr>
              <a:t>742</a:t>
            </a:r>
            <a:r>
              <a:rPr lang="en-AU" sz="3600"/>
              <a:t> tickets for a special event. The tickets are packed equally into </a:t>
            </a:r>
            <a:r>
              <a:rPr lang="en-AU" sz="3600">
                <a:solidFill>
                  <a:schemeClr val="accent2"/>
                </a:solidFill>
              </a:rPr>
              <a:t>6</a:t>
            </a:r>
            <a:r>
              <a:rPr lang="en-AU" sz="3600"/>
              <a:t> envelopes for different school groups. </a:t>
            </a:r>
          </a:p>
          <a:p>
            <a:pPr marL="571500" indent="-571500" algn="ctr">
              <a:lnSpc>
                <a:spcPct val="150000"/>
              </a:lnSpc>
              <a:spcBef>
                <a:spcPts val="600"/>
              </a:spcBef>
              <a:spcAft>
                <a:spcPts val="1200"/>
              </a:spcAft>
              <a:buFont typeface="Arial" panose="020B0604020202020204" pitchFamily="34" charset="0"/>
              <a:buChar char="•"/>
            </a:pPr>
            <a:r>
              <a:rPr lang="en-AU" sz="3600"/>
              <a:t>How many tickets will go into </a:t>
            </a:r>
            <a:r>
              <a:rPr lang="en-AU" sz="3600" b="1"/>
              <a:t>each envelope</a:t>
            </a:r>
            <a:r>
              <a:rPr lang="en-AU" sz="3600"/>
              <a:t>?</a:t>
            </a:r>
          </a:p>
          <a:p>
            <a:pPr marL="571500" indent="-571500" algn="ctr">
              <a:lnSpc>
                <a:spcPct val="150000"/>
              </a:lnSpc>
              <a:spcBef>
                <a:spcPts val="600"/>
              </a:spcBef>
              <a:spcAft>
                <a:spcPts val="1200"/>
              </a:spcAft>
              <a:buFont typeface="Arial" panose="020B0604020202020204" pitchFamily="34" charset="0"/>
              <a:buChar char="•"/>
            </a:pPr>
            <a:r>
              <a:rPr lang="en-AU" sz="3600"/>
              <a:t>Will there be any tickets </a:t>
            </a:r>
            <a:r>
              <a:rPr lang="en-AU" sz="3600" b="1"/>
              <a:t>left over</a:t>
            </a:r>
            <a:r>
              <a:rPr lang="en-AU" sz="3600"/>
              <a:t>? If so, how many?</a:t>
            </a:r>
          </a:p>
          <a:p>
            <a:pPr algn="ctr">
              <a:lnSpc>
                <a:spcPct val="150000"/>
              </a:lnSpc>
              <a:spcBef>
                <a:spcPts val="600"/>
              </a:spcBef>
              <a:spcAft>
                <a:spcPts val="1200"/>
              </a:spcAft>
            </a:pPr>
            <a:r>
              <a:rPr lang="en-AU" sz="3600" b="1"/>
              <a:t>Communicate</a:t>
            </a:r>
            <a:r>
              <a:rPr lang="en-AU" sz="3600"/>
              <a:t> your </a:t>
            </a:r>
            <a:r>
              <a:rPr lang="en-AU" sz="3600" b="1"/>
              <a:t>strategy.</a:t>
            </a:r>
          </a:p>
          <a:p>
            <a:pPr marL="571500" indent="-571500" algn="ctr">
              <a:lnSpc>
                <a:spcPct val="150000"/>
              </a:lnSpc>
              <a:spcBef>
                <a:spcPts val="600"/>
              </a:spcBef>
              <a:spcAft>
                <a:spcPts val="1200"/>
              </a:spcAft>
              <a:buFont typeface="Arial" panose="020B0604020202020204" pitchFamily="34" charset="0"/>
              <a:buChar char="•"/>
            </a:pPr>
            <a:endParaRPr lang="en-AU" sz="400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18" name="TextBox 17">
            <a:extLst>
              <a:ext uri="{FF2B5EF4-FFF2-40B4-BE49-F238E27FC236}">
                <a16:creationId xmlns:a16="http://schemas.microsoft.com/office/drawing/2014/main" id="{BC1CB039-74E3-DEC4-2ECA-2A2F0C4609EC}"/>
              </a:ext>
            </a:extLst>
          </p:cNvPr>
          <p:cNvSpPr txBox="1"/>
          <p:nvPr/>
        </p:nvSpPr>
        <p:spPr>
          <a:xfrm>
            <a:off x="249337" y="1255575"/>
            <a:ext cx="11390476" cy="1651247"/>
          </a:xfrm>
          <a:prstGeom prst="rect">
            <a:avLst/>
          </a:prstGeom>
          <a:noFill/>
        </p:spPr>
        <p:txBody>
          <a:bodyPr wrap="square" lIns="0" tIns="0" rIns="0" bIns="0" rtlCol="0">
            <a:noAutofit/>
          </a:bodyPr>
          <a:lstStyle/>
          <a:p>
            <a:pPr algn="ctr"/>
            <a:r>
              <a:rPr lang="en-AU" sz="4000"/>
              <a:t>1. Which </a:t>
            </a:r>
            <a:r>
              <a:rPr lang="en-AU" sz="4000" b="1"/>
              <a:t>decimal</a:t>
            </a:r>
            <a:r>
              <a:rPr lang="en-AU" sz="4000"/>
              <a:t> is represented on the </a:t>
            </a:r>
            <a:r>
              <a:rPr lang="en-AU" sz="4000" err="1"/>
              <a:t>decimat</a:t>
            </a:r>
            <a:r>
              <a:rPr lang="en-AU" sz="4000"/>
              <a:t>?</a:t>
            </a:r>
          </a:p>
        </p:txBody>
      </p:sp>
      <p:pic>
        <p:nvPicPr>
          <p:cNvPr id="19" name="Picture 18" descr="A rectangle partitioned into 10 parts to represent tenths. One of the tenths is partitioned into 10 smaller parts to represent hundredths. One of the hundredths is divided into 10 smaller parts to represent thousandths. Seven-tenths, 4-hundredths and 3-thousandths have been shaded grey. ">
            <a:extLst>
              <a:ext uri="{FF2B5EF4-FFF2-40B4-BE49-F238E27FC236}">
                <a16:creationId xmlns:a16="http://schemas.microsoft.com/office/drawing/2014/main" id="{692AEB21-B51F-C091-499E-2A53FAEDBC25}"/>
              </a:ext>
            </a:extLst>
          </p:cNvPr>
          <p:cNvPicPr>
            <a:picLocks noChangeAspect="1"/>
          </p:cNvPicPr>
          <p:nvPr/>
        </p:nvPicPr>
        <p:blipFill>
          <a:blip r:embed="rId4"/>
          <a:stretch>
            <a:fillRect/>
          </a:stretch>
        </p:blipFill>
        <p:spPr>
          <a:xfrm>
            <a:off x="3583114" y="2028343"/>
            <a:ext cx="4722921" cy="3015198"/>
          </a:xfrm>
          <a:prstGeom prst="rect">
            <a:avLst/>
          </a:prstGeom>
          <a:ln>
            <a:noFill/>
          </a:ln>
          <a:effectLst>
            <a:outerShdw blurRad="292100" dist="139700" dir="2700000" algn="tl" rotWithShape="0">
              <a:srgbClr val="333333">
                <a:alpha val="65000"/>
              </a:srgbClr>
            </a:outerShdw>
          </a:effectLst>
        </p:spPr>
      </p:pic>
      <p:sp>
        <p:nvSpPr>
          <p:cNvPr id="20" name="TextBox 19">
            <a:extLst>
              <a:ext uri="{FF2B5EF4-FFF2-40B4-BE49-F238E27FC236}">
                <a16:creationId xmlns:a16="http://schemas.microsoft.com/office/drawing/2014/main" id="{018135FC-14E8-6C93-9295-761463561D9B}"/>
              </a:ext>
            </a:extLst>
          </p:cNvPr>
          <p:cNvSpPr txBox="1"/>
          <p:nvPr/>
        </p:nvSpPr>
        <p:spPr>
          <a:xfrm>
            <a:off x="453524" y="5322163"/>
            <a:ext cx="11390476" cy="1651247"/>
          </a:xfrm>
          <a:prstGeom prst="rect">
            <a:avLst/>
          </a:prstGeom>
          <a:noFill/>
        </p:spPr>
        <p:txBody>
          <a:bodyPr wrap="square" lIns="0" tIns="0" rIns="0" bIns="0" rtlCol="0">
            <a:noAutofit/>
          </a:bodyPr>
          <a:lstStyle/>
          <a:p>
            <a:pPr algn="ctr"/>
            <a:r>
              <a:rPr lang="en-AU" sz="4000"/>
              <a:t>2. How many </a:t>
            </a:r>
            <a:r>
              <a:rPr lang="en-AU" sz="4000" b="1"/>
              <a:t>thousandths</a:t>
            </a:r>
            <a:r>
              <a:rPr lang="en-AU" sz="4000"/>
              <a:t> are represented in the number?</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02E9AABD-1A25-6B99-9AC9-312EA18193EF}"/>
              </a:ext>
            </a:extLst>
          </p:cNvPr>
          <p:cNvSpPr txBox="1"/>
          <p:nvPr/>
        </p:nvSpPr>
        <p:spPr>
          <a:xfrm>
            <a:off x="426128" y="1331113"/>
            <a:ext cx="4785064" cy="4657411"/>
          </a:xfrm>
          <a:prstGeom prst="rect">
            <a:avLst/>
          </a:prstGeom>
          <a:noFill/>
        </p:spPr>
        <p:txBody>
          <a:bodyPr wrap="square" lIns="0" tIns="0" rIns="0" bIns="0" rtlCol="0">
            <a:noAutofit/>
          </a:bodyPr>
          <a:lstStyle/>
          <a:p>
            <a:pPr algn="ctr">
              <a:lnSpc>
                <a:spcPct val="150000"/>
              </a:lnSpc>
            </a:pPr>
            <a:r>
              <a:rPr lang="en-AU" sz="4000"/>
              <a:t>Calculate the </a:t>
            </a:r>
            <a:r>
              <a:rPr lang="en-AU" sz="4000" b="1"/>
              <a:t>area</a:t>
            </a:r>
            <a:r>
              <a:rPr lang="en-AU" sz="4000"/>
              <a:t> of the rectangle displayed on </a:t>
            </a:r>
            <a:r>
              <a:rPr lang="en-AU" sz="4000" b="1"/>
              <a:t>square centimetre </a:t>
            </a:r>
            <a:r>
              <a:rPr lang="en-AU" sz="4000"/>
              <a:t>grid paper.</a:t>
            </a:r>
          </a:p>
        </p:txBody>
      </p:sp>
      <p:pic>
        <p:nvPicPr>
          <p:cNvPr id="8" name="Picture 7" descr="A rectangle 9 squares by 7 squares displayed on square centimetre grid paper ">
            <a:extLst>
              <a:ext uri="{FF2B5EF4-FFF2-40B4-BE49-F238E27FC236}">
                <a16:creationId xmlns:a16="http://schemas.microsoft.com/office/drawing/2014/main" id="{6666919F-6AFB-5B5E-260B-230ED70A2694}"/>
              </a:ext>
            </a:extLst>
          </p:cNvPr>
          <p:cNvPicPr>
            <a:picLocks noChangeAspect="1"/>
          </p:cNvPicPr>
          <p:nvPr/>
        </p:nvPicPr>
        <p:blipFill>
          <a:blip r:embed="rId4"/>
          <a:stretch>
            <a:fillRect/>
          </a:stretch>
        </p:blipFill>
        <p:spPr>
          <a:xfrm>
            <a:off x="5505692" y="1370527"/>
            <a:ext cx="5524784" cy="457858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87BD2-E9E7-731B-98F7-88795E9CDEB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162074-720A-BA56-3B3C-A9133790C80C}"/>
              </a:ext>
            </a:extLst>
          </p:cNvPr>
          <p:cNvSpPr>
            <a:spLocks noGrp="1"/>
          </p:cNvSpPr>
          <p:nvPr>
            <p:ph type="title"/>
          </p:nvPr>
        </p:nvSpPr>
        <p:spPr>
          <a:xfrm>
            <a:off x="360000" y="360000"/>
            <a:ext cx="10367268" cy="545601"/>
          </a:xfrm>
        </p:spPr>
        <p:txBody>
          <a:bodyPr/>
          <a:lstStyle/>
          <a:p>
            <a:r>
              <a:rPr lang="en-AU"/>
              <a:t>Activity 2 – elevator number line</a:t>
            </a:r>
          </a:p>
        </p:txBody>
      </p:sp>
      <p:pic>
        <p:nvPicPr>
          <p:cNvPr id="4" name="Picture 3">
            <a:extLst>
              <a:ext uri="{FF2B5EF4-FFF2-40B4-BE49-F238E27FC236}">
                <a16:creationId xmlns:a16="http://schemas.microsoft.com/office/drawing/2014/main" id="{5B22D41B-8A6A-8924-D4D0-99127910CD3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85E9A7F2-83C8-53DC-B1ED-5004B3105DA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7" name="Picture 6" descr="Elevator floor cards. It is an array of 12 black and white picture cards representing the following images: a person swimming, an open cardboard box, A small truck, a washing machine, a cooking pot, a parking sign, a person lifting weights, a hot cup of coffee, a printer, a person in a bed, a dinner setting and a person receiving a massage. ">
            <a:extLst>
              <a:ext uri="{FF2B5EF4-FFF2-40B4-BE49-F238E27FC236}">
                <a16:creationId xmlns:a16="http://schemas.microsoft.com/office/drawing/2014/main" id="{1B921D84-7DCB-EDAB-D9EB-E423ECE0AAFC}"/>
              </a:ext>
            </a:extLst>
          </p:cNvPr>
          <p:cNvPicPr>
            <a:picLocks noChangeAspect="1"/>
          </p:cNvPicPr>
          <p:nvPr/>
        </p:nvPicPr>
        <p:blipFill>
          <a:blip r:embed="rId4"/>
          <a:stretch>
            <a:fillRect/>
          </a:stretch>
        </p:blipFill>
        <p:spPr>
          <a:xfrm>
            <a:off x="1389809" y="1202503"/>
            <a:ext cx="3835597" cy="5391427"/>
          </a:xfrm>
          <a:prstGeom prst="rect">
            <a:avLst/>
          </a:prstGeom>
          <a:ln>
            <a:noFill/>
          </a:ln>
          <a:effectLst>
            <a:outerShdw blurRad="292100" dist="139700" dir="2700000" algn="tl" rotWithShape="0">
              <a:srgbClr val="333333">
                <a:alpha val="65000"/>
              </a:srgbClr>
            </a:outerShdw>
          </a:effectLst>
        </p:spPr>
      </p:pic>
      <p:pic>
        <p:nvPicPr>
          <p:cNvPr id="9" name="Picture 8" descr="A vertical number line from -6 to +6 drawn to represent the floors of a hotel. The lobby of the hotel is on floor 0, the cafe is on floor 1, the business centre is on floor 2, the guest rooms are on floor 3,the restaurant is on floor 4, the spa is on floor 5 and the pool is on floor 6. Below the lobby are the gym on floor -1, the car park on floor –2, the kitchen on floor –3, the laundry on floor –4, deliveries on floor -5 and storage on floor –6. Each floor is represented by an image that matches a card from resource 34 except for the lobby. ">
            <a:extLst>
              <a:ext uri="{FF2B5EF4-FFF2-40B4-BE49-F238E27FC236}">
                <a16:creationId xmlns:a16="http://schemas.microsoft.com/office/drawing/2014/main" id="{53B8B221-8039-5330-0F4B-6A3FD2B9E785}"/>
              </a:ext>
            </a:extLst>
          </p:cNvPr>
          <p:cNvPicPr>
            <a:picLocks noChangeAspect="1"/>
          </p:cNvPicPr>
          <p:nvPr/>
        </p:nvPicPr>
        <p:blipFill>
          <a:blip r:embed="rId5"/>
          <a:stretch>
            <a:fillRect/>
          </a:stretch>
        </p:blipFill>
        <p:spPr>
          <a:xfrm>
            <a:off x="7284474" y="669076"/>
            <a:ext cx="3340272" cy="59248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69405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17">
            <a:extLst>
              <a:ext uri="{FF2B5EF4-FFF2-40B4-BE49-F238E27FC236}">
                <a16:creationId xmlns:a16="http://schemas.microsoft.com/office/drawing/2014/main" id="{9A03050D-ED40-08F6-3C44-A58ED1342509}"/>
              </a:ext>
            </a:extLst>
          </p:cNvPr>
          <p:cNvSpPr>
            <a:spLocks noGrp="1"/>
          </p:cNvSpPr>
          <p:nvPr>
            <p:ph type="body" sz="quarter" idx="28"/>
          </p:nvPr>
        </p:nvSpPr>
        <p:spPr>
          <a:xfrm>
            <a:off x="770551" y="960675"/>
            <a:ext cx="6764700" cy="754063"/>
          </a:xfrm>
        </p:spPr>
        <p:txBody>
          <a:bodyPr/>
          <a:lstStyle/>
          <a:p>
            <a:pPr algn="ctr">
              <a:spcBef>
                <a:spcPts val="600"/>
              </a:spcBef>
              <a:spcAft>
                <a:spcPts val="1200"/>
              </a:spcAft>
            </a:pPr>
            <a:r>
              <a:rPr lang="en-AU" sz="3400"/>
              <a:t>Sandy is keeping track of the hotel elevator from the lobby (floor </a:t>
            </a:r>
            <a:r>
              <a:rPr lang="en-AU" sz="3400">
                <a:solidFill>
                  <a:schemeClr val="accent2"/>
                </a:solidFill>
              </a:rPr>
              <a:t>0</a:t>
            </a:r>
            <a:r>
              <a:rPr lang="en-AU" sz="3400"/>
              <a:t>). The elevator goes </a:t>
            </a:r>
            <a:r>
              <a:rPr lang="en-AU" sz="3400" b="1"/>
              <a:t>up</a:t>
            </a:r>
            <a:r>
              <a:rPr lang="en-AU" sz="3400"/>
              <a:t> </a:t>
            </a:r>
            <a:r>
              <a:rPr lang="en-AU" sz="3400">
                <a:solidFill>
                  <a:schemeClr val="accent2"/>
                </a:solidFill>
              </a:rPr>
              <a:t>3</a:t>
            </a:r>
            <a:r>
              <a:rPr lang="en-AU" sz="3400"/>
              <a:t> floors, then </a:t>
            </a:r>
            <a:r>
              <a:rPr lang="en-AU" sz="3400" b="1"/>
              <a:t>down</a:t>
            </a:r>
            <a:r>
              <a:rPr lang="en-AU" sz="3400"/>
              <a:t> </a:t>
            </a:r>
            <a:r>
              <a:rPr lang="en-AU" sz="3400">
                <a:solidFill>
                  <a:schemeClr val="accent2"/>
                </a:solidFill>
              </a:rPr>
              <a:t>8</a:t>
            </a:r>
            <a:r>
              <a:rPr lang="en-AU" sz="3400"/>
              <a:t> floors. </a:t>
            </a:r>
          </a:p>
          <a:p>
            <a:pPr algn="ctr">
              <a:spcBef>
                <a:spcPts val="600"/>
              </a:spcBef>
              <a:spcAft>
                <a:spcPts val="1200"/>
              </a:spcAft>
            </a:pPr>
            <a:r>
              <a:rPr lang="en-AU" sz="3400"/>
              <a:t>What floor is the elevator on now?</a:t>
            </a:r>
            <a:endParaRPr lang="en-US" sz="3400"/>
          </a:p>
        </p:txBody>
      </p:sp>
      <p:pic>
        <p:nvPicPr>
          <p:cNvPr id="5" name="Picture 4" descr="A vertical number line from -6 to +6 drawn to represent the floors of a hotel. The lobby of the hotel is on floor 0, the cafe is on floor 1, the business centre is on floor 2, the guest rooms are on floor 3,the restaurant is on floor 4, the spa is on floor 5 and the pool is on floor 6. Below the lobby are the gym on floor -1, the car park on floor –2, the kitchen on floor –3, the laundry on floor –4, deliveries on floor -5 and storage on floor –6. Each floor is represented by an image that matches a card from resource 34 except for the lobby.">
            <a:extLst>
              <a:ext uri="{FF2B5EF4-FFF2-40B4-BE49-F238E27FC236}">
                <a16:creationId xmlns:a16="http://schemas.microsoft.com/office/drawing/2014/main" id="{4A94F40D-75F2-4738-11A8-A119BDB42C28}"/>
              </a:ext>
            </a:extLst>
          </p:cNvPr>
          <p:cNvPicPr>
            <a:picLocks noChangeAspect="1"/>
          </p:cNvPicPr>
          <p:nvPr/>
        </p:nvPicPr>
        <p:blipFill>
          <a:blip r:embed="rId4"/>
          <a:stretch>
            <a:fillRect/>
          </a:stretch>
        </p:blipFill>
        <p:spPr>
          <a:xfrm>
            <a:off x="8092576" y="444463"/>
            <a:ext cx="2558392" cy="4537985"/>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A5AD9134-4E0D-A822-B8CD-D4F6A4A25410}"/>
              </a:ext>
            </a:extLst>
          </p:cNvPr>
          <p:cNvSpPr txBox="1"/>
          <p:nvPr/>
        </p:nvSpPr>
        <p:spPr>
          <a:xfrm>
            <a:off x="1330059" y="52608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30059" y="6045421"/>
            <a:ext cx="1832686" cy="641396"/>
          </a:xfrm>
        </p:spPr>
        <p:txBody>
          <a:bodyPr anchor="ctr"/>
          <a:lstStyle/>
          <a:p>
            <a:r>
              <a:rPr lang="en-US" sz="3600"/>
              <a:t>-3</a:t>
            </a:r>
          </a:p>
        </p:txBody>
      </p:sp>
      <p:sp>
        <p:nvSpPr>
          <p:cNvPr id="15" name="TextBox 14">
            <a:extLst>
              <a:ext uri="{FF2B5EF4-FFF2-40B4-BE49-F238E27FC236}">
                <a16:creationId xmlns:a16="http://schemas.microsoft.com/office/drawing/2014/main" id="{BC367D26-1C11-BE31-F34A-03829EB6FA49}"/>
              </a:ext>
            </a:extLst>
          </p:cNvPr>
          <p:cNvSpPr txBox="1"/>
          <p:nvPr/>
        </p:nvSpPr>
        <p:spPr>
          <a:xfrm>
            <a:off x="4334032" y="52608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4334032" y="6000060"/>
            <a:ext cx="1832686" cy="641396"/>
          </a:xfrm>
        </p:spPr>
        <p:txBody>
          <a:bodyPr anchor="ctr"/>
          <a:lstStyle/>
          <a:p>
            <a:r>
              <a:rPr lang="en-US" sz="3600"/>
              <a:t>-5</a:t>
            </a:r>
          </a:p>
        </p:txBody>
      </p:sp>
      <p:sp>
        <p:nvSpPr>
          <p:cNvPr id="7" name="TextBox 6">
            <a:extLst>
              <a:ext uri="{FF2B5EF4-FFF2-40B4-BE49-F238E27FC236}">
                <a16:creationId xmlns:a16="http://schemas.microsoft.com/office/drawing/2014/main" id="{3E576407-2A9C-7098-3BDB-EA0D8F1419D9}"/>
              </a:ext>
            </a:extLst>
          </p:cNvPr>
          <p:cNvSpPr txBox="1"/>
          <p:nvPr/>
        </p:nvSpPr>
        <p:spPr>
          <a:xfrm>
            <a:off x="7274505" y="52608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7320189" y="6054604"/>
            <a:ext cx="1832686" cy="641396"/>
          </a:xfrm>
        </p:spPr>
        <p:txBody>
          <a:bodyPr anchor="ctr"/>
          <a:lstStyle/>
          <a:p>
            <a:r>
              <a:rPr lang="en-US" sz="3600"/>
              <a:t>-8</a:t>
            </a:r>
          </a:p>
        </p:txBody>
      </p:sp>
      <p:sp>
        <p:nvSpPr>
          <p:cNvPr id="8" name="TextBox 7">
            <a:extLst>
              <a:ext uri="{FF2B5EF4-FFF2-40B4-BE49-F238E27FC236}">
                <a16:creationId xmlns:a16="http://schemas.microsoft.com/office/drawing/2014/main" id="{98046672-7691-22A1-FE25-435DA2F16AA5}"/>
              </a:ext>
            </a:extLst>
          </p:cNvPr>
          <p:cNvSpPr txBox="1"/>
          <p:nvPr/>
        </p:nvSpPr>
        <p:spPr>
          <a:xfrm>
            <a:off x="10278479" y="52608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0380078" y="6015560"/>
            <a:ext cx="1832686" cy="641396"/>
          </a:xfrm>
        </p:spPr>
        <p:txBody>
          <a:bodyPr anchor="ctr"/>
          <a:lstStyle/>
          <a:p>
            <a:r>
              <a:rPr lang="en-US" sz="3600"/>
              <a:t>0</a:t>
            </a:r>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D6441510-137D-FC78-6D1A-046C73DE920F}"/>
              </a:ext>
            </a:extLst>
          </p:cNvPr>
          <p:cNvSpPr txBox="1"/>
          <p:nvPr/>
        </p:nvSpPr>
        <p:spPr>
          <a:xfrm>
            <a:off x="705818" y="1125341"/>
            <a:ext cx="10963922" cy="1635690"/>
          </a:xfrm>
          <a:prstGeom prst="rect">
            <a:avLst/>
          </a:prstGeom>
          <a:noFill/>
        </p:spPr>
        <p:txBody>
          <a:bodyPr wrap="square" lIns="0" tIns="0" rIns="0" bIns="0" rtlCol="0">
            <a:noAutofit/>
          </a:bodyPr>
          <a:lstStyle/>
          <a:p>
            <a:pPr algn="ctr"/>
            <a:r>
              <a:rPr lang="en-AU" sz="3600"/>
              <a:t>Record the coordinates of the </a:t>
            </a:r>
            <a:r>
              <a:rPr lang="en-AU" sz="3600" b="1"/>
              <a:t>missing points</a:t>
            </a:r>
            <a:r>
              <a:rPr lang="en-AU" sz="3600"/>
              <a:t> on the number planes:</a:t>
            </a:r>
            <a:endParaRPr lang="en-AU" sz="2800"/>
          </a:p>
        </p:txBody>
      </p:sp>
      <p:sp>
        <p:nvSpPr>
          <p:cNvPr id="8" name="TextBox 7">
            <a:extLst>
              <a:ext uri="{FF2B5EF4-FFF2-40B4-BE49-F238E27FC236}">
                <a16:creationId xmlns:a16="http://schemas.microsoft.com/office/drawing/2014/main" id="{7306B764-E247-7205-CD76-735BE2F7EB5B}"/>
              </a:ext>
            </a:extLst>
          </p:cNvPr>
          <p:cNvSpPr txBox="1"/>
          <p:nvPr/>
        </p:nvSpPr>
        <p:spPr>
          <a:xfrm flipH="1">
            <a:off x="2076271" y="2444907"/>
            <a:ext cx="626638" cy="632249"/>
          </a:xfrm>
          <a:prstGeom prst="rect">
            <a:avLst/>
          </a:prstGeom>
          <a:noFill/>
        </p:spPr>
        <p:txBody>
          <a:bodyPr wrap="square" lIns="0" tIns="0" rIns="0" bIns="0" rtlCol="0">
            <a:noAutofit/>
          </a:bodyPr>
          <a:lstStyle/>
          <a:p>
            <a:pPr algn="ctr"/>
            <a:r>
              <a:rPr lang="en-AU" sz="4400"/>
              <a:t>A</a:t>
            </a:r>
            <a:endParaRPr lang="en-AU" sz="3600"/>
          </a:p>
        </p:txBody>
      </p:sp>
      <p:pic>
        <p:nvPicPr>
          <p:cNvPr id="5" name="Picture 4" descr="In the first Cartesian plane is a square drawn across all 4 quadrants with the coordinates (-1,3), (-1,-1), (3,-1) and with the fourth coordinate unlabelled. The coordinate is for the 3rd point on the x axis and the 3rd point on the y axis. &#10;&#10;">
            <a:extLst>
              <a:ext uri="{FF2B5EF4-FFF2-40B4-BE49-F238E27FC236}">
                <a16:creationId xmlns:a16="http://schemas.microsoft.com/office/drawing/2014/main" id="{75234010-7939-80D8-12C6-76F2F634416A}"/>
              </a:ext>
            </a:extLst>
          </p:cNvPr>
          <p:cNvPicPr>
            <a:picLocks noChangeAspect="1"/>
          </p:cNvPicPr>
          <p:nvPr/>
        </p:nvPicPr>
        <p:blipFill>
          <a:blip r:embed="rId4"/>
          <a:srcRect r="67555"/>
          <a:stretch>
            <a:fillRect/>
          </a:stretch>
        </p:blipFill>
        <p:spPr>
          <a:xfrm>
            <a:off x="491086" y="3128666"/>
            <a:ext cx="3571025" cy="3462249"/>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5A9AFB24-B8B3-1ECE-587B-A4D0478B8695}"/>
              </a:ext>
            </a:extLst>
          </p:cNvPr>
          <p:cNvSpPr txBox="1"/>
          <p:nvPr/>
        </p:nvSpPr>
        <p:spPr>
          <a:xfrm flipH="1">
            <a:off x="5853155" y="2398596"/>
            <a:ext cx="626638" cy="632249"/>
          </a:xfrm>
          <a:prstGeom prst="rect">
            <a:avLst/>
          </a:prstGeom>
          <a:noFill/>
        </p:spPr>
        <p:txBody>
          <a:bodyPr wrap="square" lIns="0" tIns="0" rIns="0" bIns="0" rtlCol="0">
            <a:noAutofit/>
          </a:bodyPr>
          <a:lstStyle/>
          <a:p>
            <a:pPr algn="ctr"/>
            <a:r>
              <a:rPr lang="en-AU" sz="4400"/>
              <a:t>B</a:t>
            </a:r>
            <a:endParaRPr lang="en-AU" sz="3600"/>
          </a:p>
        </p:txBody>
      </p:sp>
      <p:pic>
        <p:nvPicPr>
          <p:cNvPr id="11" name="Picture 10" descr="In the second cartesian plane is a triangle drawn across 3 quadrants with the coordinates (3,-2), (3, -5) and the third coordinate unlabelled. &#10;The coordinate is for the 5th negative point on the x axis and the4th negative point on the y axis. &#10;&#10;">
            <a:extLst>
              <a:ext uri="{FF2B5EF4-FFF2-40B4-BE49-F238E27FC236}">
                <a16:creationId xmlns:a16="http://schemas.microsoft.com/office/drawing/2014/main" id="{BE9A578F-AE1D-B589-E500-8FB8F731F5CB}"/>
              </a:ext>
            </a:extLst>
          </p:cNvPr>
          <p:cNvPicPr>
            <a:picLocks noChangeAspect="1"/>
          </p:cNvPicPr>
          <p:nvPr/>
        </p:nvPicPr>
        <p:blipFill>
          <a:blip r:embed="rId4"/>
          <a:srcRect l="34601" r="35002"/>
          <a:stretch>
            <a:fillRect/>
          </a:stretch>
        </p:blipFill>
        <p:spPr>
          <a:xfrm>
            <a:off x="4423185" y="3120608"/>
            <a:ext cx="3345630" cy="3462249"/>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65CED1A0-E309-0FF9-2910-599C3A0EF2AD}"/>
              </a:ext>
            </a:extLst>
          </p:cNvPr>
          <p:cNvSpPr txBox="1"/>
          <p:nvPr/>
        </p:nvSpPr>
        <p:spPr>
          <a:xfrm flipH="1">
            <a:off x="9489091" y="2415722"/>
            <a:ext cx="626638" cy="632249"/>
          </a:xfrm>
          <a:prstGeom prst="rect">
            <a:avLst/>
          </a:prstGeom>
          <a:noFill/>
        </p:spPr>
        <p:txBody>
          <a:bodyPr wrap="square" lIns="0" tIns="0" rIns="0" bIns="0" rtlCol="0">
            <a:noAutofit/>
          </a:bodyPr>
          <a:lstStyle/>
          <a:p>
            <a:pPr algn="ctr"/>
            <a:r>
              <a:rPr lang="en-AU" sz="4400"/>
              <a:t>C</a:t>
            </a:r>
            <a:endParaRPr lang="en-AU" sz="3600"/>
          </a:p>
        </p:txBody>
      </p:sp>
      <p:pic>
        <p:nvPicPr>
          <p:cNvPr id="4" name="Picture 3" descr="In the final Cartesian plane is a rectangle drawn across all 4 quadrants with the coordinates (5,3) and (-5,-2) with the remaining coordinates unlabelled. &#10;One coordinate is for the 5th negative point on the x axis and the 3rd point on the y axis. The other is for the 5th point on the x axis and the 3rd negative point on the y axis.">
            <a:extLst>
              <a:ext uri="{FF2B5EF4-FFF2-40B4-BE49-F238E27FC236}">
                <a16:creationId xmlns:a16="http://schemas.microsoft.com/office/drawing/2014/main" id="{D7B2AB55-EE2E-2508-EF2A-208DC3CEC8A5}"/>
              </a:ext>
            </a:extLst>
          </p:cNvPr>
          <p:cNvPicPr>
            <a:picLocks noChangeAspect="1"/>
          </p:cNvPicPr>
          <p:nvPr/>
        </p:nvPicPr>
        <p:blipFill>
          <a:blip r:embed="rId4"/>
          <a:srcRect l="67555"/>
          <a:stretch>
            <a:fillRect/>
          </a:stretch>
        </p:blipFill>
        <p:spPr>
          <a:xfrm>
            <a:off x="8272975" y="3128666"/>
            <a:ext cx="3571025" cy="346224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4" name="TextBox 3">
            <a:extLst>
              <a:ext uri="{FF2B5EF4-FFF2-40B4-BE49-F238E27FC236}">
                <a16:creationId xmlns:a16="http://schemas.microsoft.com/office/drawing/2014/main" id="{3425C8E8-256C-74BD-2C8F-06FE8D9CD2F0}"/>
              </a:ext>
            </a:extLst>
          </p:cNvPr>
          <p:cNvSpPr txBox="1"/>
          <p:nvPr/>
        </p:nvSpPr>
        <p:spPr>
          <a:xfrm>
            <a:off x="360000" y="1205471"/>
            <a:ext cx="11367029" cy="4509856"/>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5400"/>
              <a:t>7 × 6 = 84 ÷ ☐</a:t>
            </a:r>
          </a:p>
          <a:p>
            <a:pPr marL="571500" indent="-571500" algn="ctr">
              <a:lnSpc>
                <a:spcPct val="150000"/>
              </a:lnSpc>
              <a:spcBef>
                <a:spcPts val="600"/>
              </a:spcBef>
              <a:spcAft>
                <a:spcPts val="1200"/>
              </a:spcAft>
              <a:buFont typeface="Arial" panose="020B0604020202020204" pitchFamily="34" charset="0"/>
              <a:buChar char="•"/>
            </a:pPr>
            <a:r>
              <a:rPr lang="en-AU" sz="4400"/>
              <a:t>What is the </a:t>
            </a:r>
            <a:r>
              <a:rPr lang="en-AU" sz="4400" b="1"/>
              <a:t>missing number</a:t>
            </a:r>
            <a:r>
              <a:rPr lang="en-AU" sz="4400"/>
              <a:t>?</a:t>
            </a:r>
          </a:p>
          <a:p>
            <a:pPr marL="571500" indent="-571500" algn="ctr">
              <a:lnSpc>
                <a:spcPct val="150000"/>
              </a:lnSpc>
              <a:spcBef>
                <a:spcPts val="600"/>
              </a:spcBef>
              <a:spcAft>
                <a:spcPts val="1200"/>
              </a:spcAft>
              <a:buFont typeface="Arial" panose="020B0604020202020204" pitchFamily="34" charset="0"/>
              <a:buChar char="•"/>
            </a:pPr>
            <a:r>
              <a:rPr lang="en-AU" sz="4400"/>
              <a:t>Write another </a:t>
            </a:r>
            <a:r>
              <a:rPr lang="en-AU" sz="4400" b="1"/>
              <a:t>equivalent</a:t>
            </a:r>
            <a:r>
              <a:rPr lang="en-AU" sz="4400"/>
              <a:t> number sentence using </a:t>
            </a:r>
            <a:r>
              <a:rPr lang="en-AU" sz="4400" b="1"/>
              <a:t>multiplication</a:t>
            </a:r>
            <a:r>
              <a:rPr lang="en-AU" sz="4400"/>
              <a:t> and </a:t>
            </a:r>
            <a:r>
              <a:rPr lang="en-AU" sz="4400" b="1"/>
              <a:t>division</a:t>
            </a:r>
            <a:r>
              <a:rPr lang="en-AU" sz="4400"/>
              <a:t>.</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5" name="TextBox 4">
            <a:extLst>
              <a:ext uri="{FF2B5EF4-FFF2-40B4-BE49-F238E27FC236}">
                <a16:creationId xmlns:a16="http://schemas.microsoft.com/office/drawing/2014/main" id="{FDD38139-A534-6434-F7AD-76CE062BB52F}"/>
              </a:ext>
            </a:extLst>
          </p:cNvPr>
          <p:cNvSpPr txBox="1"/>
          <p:nvPr/>
        </p:nvSpPr>
        <p:spPr>
          <a:xfrm>
            <a:off x="253748" y="889124"/>
            <a:ext cx="11230252" cy="985212"/>
          </a:xfrm>
          <a:prstGeom prst="rect">
            <a:avLst/>
          </a:prstGeom>
          <a:noFill/>
        </p:spPr>
        <p:txBody>
          <a:bodyPr wrap="square" lIns="0" tIns="0" rIns="0" bIns="0" rtlCol="0">
            <a:noAutofit/>
          </a:bodyPr>
          <a:lstStyle/>
          <a:p>
            <a:pPr algn="ctr">
              <a:lnSpc>
                <a:spcPct val="150000"/>
              </a:lnSpc>
            </a:pPr>
            <a:r>
              <a:rPr lang="en-AU" sz="4000"/>
              <a:t>Explain why this is </a:t>
            </a:r>
            <a:r>
              <a:rPr lang="en-AU" sz="4000" b="1"/>
              <a:t>ordered</a:t>
            </a:r>
            <a:r>
              <a:rPr lang="en-AU" sz="4000"/>
              <a:t> from </a:t>
            </a:r>
            <a:r>
              <a:rPr lang="en-AU" sz="4000" b="1"/>
              <a:t>smallest </a:t>
            </a:r>
            <a:r>
              <a:rPr lang="en-AU" sz="4000"/>
              <a:t>to</a:t>
            </a:r>
            <a:r>
              <a:rPr lang="en-AU" sz="4000" b="1"/>
              <a:t> largest</a:t>
            </a:r>
            <a:r>
              <a:rPr lang="en-AU" sz="4000"/>
              <a:t>?</a:t>
            </a:r>
          </a:p>
          <a:p>
            <a:pPr algn="ctr">
              <a:lnSpc>
                <a:spcPct val="150000"/>
              </a:lnSpc>
            </a:pPr>
            <a:endParaRPr lang="en-AU" sz="4400"/>
          </a:p>
        </p:txBody>
      </p:sp>
      <p:sp>
        <p:nvSpPr>
          <p:cNvPr id="17" name="TextBox 16">
            <a:extLst>
              <a:ext uri="{FF2B5EF4-FFF2-40B4-BE49-F238E27FC236}">
                <a16:creationId xmlns:a16="http://schemas.microsoft.com/office/drawing/2014/main" id="{535F08C4-683D-8824-E494-C5E63226B65A}"/>
              </a:ext>
            </a:extLst>
          </p:cNvPr>
          <p:cNvSpPr txBox="1"/>
          <p:nvPr/>
        </p:nvSpPr>
        <p:spPr>
          <a:xfrm>
            <a:off x="706660" y="2796466"/>
            <a:ext cx="10778680" cy="2627790"/>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3600"/>
              <a:t> </a:t>
            </a:r>
            <a:r>
              <a:rPr lang="en-AU" sz="5400"/>
              <a:t>0.305, 0.42, 0.5, 0.799</a:t>
            </a:r>
          </a:p>
          <a:p>
            <a:pPr algn="ctr">
              <a:lnSpc>
                <a:spcPct val="150000"/>
              </a:lnSpc>
              <a:spcBef>
                <a:spcPts val="600"/>
              </a:spcBef>
              <a:spcAft>
                <a:spcPts val="1200"/>
              </a:spcAft>
            </a:pPr>
            <a:endParaRPr lang="en-AU" sz="3600"/>
          </a:p>
        </p:txBody>
      </p:sp>
      <p:sp>
        <p:nvSpPr>
          <p:cNvPr id="16" name="TextBox 15">
            <a:extLst>
              <a:ext uri="{FF2B5EF4-FFF2-40B4-BE49-F238E27FC236}">
                <a16:creationId xmlns:a16="http://schemas.microsoft.com/office/drawing/2014/main" id="{51DC1158-2508-73C6-CBD2-A986F5711BC4}"/>
              </a:ext>
            </a:extLst>
          </p:cNvPr>
          <p:cNvSpPr txBox="1"/>
          <p:nvPr/>
        </p:nvSpPr>
        <p:spPr>
          <a:xfrm>
            <a:off x="2044081" y="5713487"/>
            <a:ext cx="8404935" cy="982513"/>
          </a:xfrm>
          <a:prstGeom prst="rect">
            <a:avLst/>
          </a:prstGeom>
          <a:noFill/>
        </p:spPr>
        <p:txBody>
          <a:bodyPr wrap="square">
            <a:spAutoFit/>
          </a:bodyPr>
          <a:lstStyle/>
          <a:p>
            <a:pPr algn="ctr">
              <a:lnSpc>
                <a:spcPct val="150000"/>
              </a:lnSpc>
            </a:pPr>
            <a:r>
              <a:rPr lang="en-AU" sz="4400" b="1"/>
              <a:t>Communicate</a:t>
            </a:r>
            <a:r>
              <a:rPr lang="en-AU" sz="4400"/>
              <a:t> your </a:t>
            </a:r>
            <a:r>
              <a:rPr lang="en-AU" sz="4400" b="1"/>
              <a:t>reasoning</a:t>
            </a:r>
            <a:r>
              <a:rPr lang="en-AU" sz="4400"/>
              <a:t>.  </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TextBox 11">
            <a:extLst>
              <a:ext uri="{FF2B5EF4-FFF2-40B4-BE49-F238E27FC236}">
                <a16:creationId xmlns:a16="http://schemas.microsoft.com/office/drawing/2014/main" id="{FD5FCC84-F256-D03A-DF11-5B1403E78503}"/>
              </a:ext>
            </a:extLst>
          </p:cNvPr>
          <p:cNvSpPr txBox="1"/>
          <p:nvPr/>
        </p:nvSpPr>
        <p:spPr>
          <a:xfrm>
            <a:off x="666105" y="1138142"/>
            <a:ext cx="10457895" cy="1102442"/>
          </a:xfrm>
          <a:prstGeom prst="rect">
            <a:avLst/>
          </a:prstGeom>
          <a:noFill/>
        </p:spPr>
        <p:txBody>
          <a:bodyPr wrap="square" lIns="0" tIns="0" rIns="0" bIns="0" rtlCol="0">
            <a:noAutofit/>
          </a:bodyPr>
          <a:lstStyle/>
          <a:p>
            <a:pPr algn="ctr">
              <a:lnSpc>
                <a:spcPct val="150000"/>
              </a:lnSpc>
            </a:pPr>
            <a:r>
              <a:rPr lang="en-AU" sz="4400"/>
              <a:t>How do you know this is a net for a </a:t>
            </a:r>
            <a:r>
              <a:rPr lang="en-AU" sz="4400" b="1"/>
              <a:t>square pyramid</a:t>
            </a:r>
            <a:r>
              <a:rPr lang="en-AU" sz="4400"/>
              <a:t>? </a:t>
            </a:r>
          </a:p>
        </p:txBody>
      </p:sp>
      <p:sp>
        <p:nvSpPr>
          <p:cNvPr id="4" name="TextBox 3">
            <a:extLst>
              <a:ext uri="{FF2B5EF4-FFF2-40B4-BE49-F238E27FC236}">
                <a16:creationId xmlns:a16="http://schemas.microsoft.com/office/drawing/2014/main" id="{852843E5-B10E-7D97-92FD-A4550924015D}"/>
              </a:ext>
            </a:extLst>
          </p:cNvPr>
          <p:cNvSpPr txBox="1"/>
          <p:nvPr/>
        </p:nvSpPr>
        <p:spPr>
          <a:xfrm>
            <a:off x="666105" y="5413558"/>
            <a:ext cx="10457895" cy="1102442"/>
          </a:xfrm>
          <a:prstGeom prst="rect">
            <a:avLst/>
          </a:prstGeom>
          <a:noFill/>
        </p:spPr>
        <p:txBody>
          <a:bodyPr wrap="square" lIns="0" tIns="0" rIns="0" bIns="0" rtlCol="0">
            <a:noAutofit/>
          </a:bodyPr>
          <a:lstStyle/>
          <a:p>
            <a:pPr algn="ctr">
              <a:lnSpc>
                <a:spcPct val="150000"/>
              </a:lnSpc>
            </a:pPr>
            <a:r>
              <a:rPr lang="en-AU" sz="4400" b="1"/>
              <a:t>Communicate </a:t>
            </a:r>
            <a:r>
              <a:rPr lang="en-AU" sz="4400"/>
              <a:t>your </a:t>
            </a:r>
            <a:r>
              <a:rPr lang="en-AU" sz="4400" b="1"/>
              <a:t>reasoning.</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7" name="Picture 6">
            <a:extLst>
              <a:ext uri="{FF2B5EF4-FFF2-40B4-BE49-F238E27FC236}">
                <a16:creationId xmlns:a16="http://schemas.microsoft.com/office/drawing/2014/main" id="{7D57A9B6-F22C-2FF8-688F-02158E40B8F8}"/>
              </a:ext>
            </a:extLst>
          </p:cNvPr>
          <p:cNvPicPr>
            <a:picLocks noChangeAspect="1"/>
          </p:cNvPicPr>
          <p:nvPr/>
        </p:nvPicPr>
        <p:blipFill>
          <a:blip r:embed="rId4"/>
          <a:srcRect l="20626" t="7586" r="12387" b="5040"/>
          <a:stretch>
            <a:fillRect/>
          </a:stretch>
        </p:blipFill>
        <p:spPr>
          <a:xfrm>
            <a:off x="4958080" y="3177000"/>
            <a:ext cx="2275840" cy="2286000"/>
          </a:xfrm>
          <a:prstGeom prst="rect">
            <a:avLst/>
          </a:prstGeom>
        </p:spPr>
      </p:pic>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negative number subtraction 1</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5" name="TextBox 4">
            <a:extLst>
              <a:ext uri="{FF2B5EF4-FFF2-40B4-BE49-F238E27FC236}">
                <a16:creationId xmlns:a16="http://schemas.microsoft.com/office/drawing/2014/main" id="{B29DD0E5-BF7A-F8BD-BEDF-63A2AFF624BD}"/>
              </a:ext>
            </a:extLst>
          </p:cNvPr>
          <p:cNvSpPr txBox="1"/>
          <p:nvPr/>
        </p:nvSpPr>
        <p:spPr>
          <a:xfrm>
            <a:off x="3185603" y="1062715"/>
            <a:ext cx="5820792" cy="2814222"/>
          </a:xfrm>
          <a:prstGeom prst="rect">
            <a:avLst/>
          </a:prstGeom>
          <a:noFill/>
        </p:spPr>
        <p:txBody>
          <a:bodyPr wrap="square" lIns="0" tIns="0" rIns="0" bIns="0" rtlCol="0">
            <a:noAutofit/>
          </a:bodyPr>
          <a:lstStyle/>
          <a:p>
            <a:pPr>
              <a:lnSpc>
                <a:spcPct val="150000"/>
              </a:lnSpc>
              <a:spcBef>
                <a:spcPts val="600"/>
              </a:spcBef>
              <a:spcAft>
                <a:spcPts val="1200"/>
              </a:spcAft>
            </a:pPr>
            <a:r>
              <a:rPr lang="en-AU" sz="3500"/>
              <a:t>1. 25 + 7 = target number 60</a:t>
            </a:r>
          </a:p>
          <a:p>
            <a:pPr>
              <a:lnSpc>
                <a:spcPct val="150000"/>
              </a:lnSpc>
              <a:spcBef>
                <a:spcPts val="600"/>
              </a:spcBef>
              <a:spcAft>
                <a:spcPts val="1200"/>
              </a:spcAft>
            </a:pPr>
            <a:r>
              <a:rPr lang="en-AU" sz="3500"/>
              <a:t>2. 32 - 5 = target number -3</a:t>
            </a:r>
          </a:p>
          <a:p>
            <a:pPr>
              <a:lnSpc>
                <a:spcPct val="150000"/>
              </a:lnSpc>
              <a:spcBef>
                <a:spcPts val="600"/>
              </a:spcBef>
              <a:spcAft>
                <a:spcPts val="1200"/>
              </a:spcAft>
            </a:pPr>
            <a:r>
              <a:rPr lang="en-AU" sz="3500"/>
              <a:t>3. 40 - 6 = target number -14</a:t>
            </a:r>
          </a:p>
          <a:p>
            <a:pPr>
              <a:lnSpc>
                <a:spcPct val="150000"/>
              </a:lnSpc>
              <a:spcBef>
                <a:spcPts val="600"/>
              </a:spcBef>
              <a:spcAft>
                <a:spcPts val="1200"/>
              </a:spcAft>
            </a:pPr>
            <a:r>
              <a:rPr lang="en-AU" sz="3500"/>
              <a:t>4. 16 - 8 = target number -16</a:t>
            </a:r>
          </a:p>
          <a:p>
            <a:pPr algn="ctr">
              <a:lnSpc>
                <a:spcPct val="150000"/>
              </a:lnSpc>
            </a:pPr>
            <a:endParaRPr lang="en-AU" sz="3600" i="1"/>
          </a:p>
        </p:txBody>
      </p:sp>
      <p:grpSp>
        <p:nvGrpSpPr>
          <p:cNvPr id="12" name="Group 11" descr="An empty number line with arrows at both ends.  The centre point marked as zero. ">
            <a:extLst>
              <a:ext uri="{FF2B5EF4-FFF2-40B4-BE49-F238E27FC236}">
                <a16:creationId xmlns:a16="http://schemas.microsoft.com/office/drawing/2014/main" id="{2270FCAA-DA37-7374-819F-75B73E4A4D1A}"/>
              </a:ext>
            </a:extLst>
          </p:cNvPr>
          <p:cNvGrpSpPr/>
          <p:nvPr/>
        </p:nvGrpSpPr>
        <p:grpSpPr>
          <a:xfrm>
            <a:off x="955691" y="5211361"/>
            <a:ext cx="10441528" cy="1409530"/>
            <a:chOff x="568172" y="5477855"/>
            <a:chExt cx="10441528" cy="1409530"/>
          </a:xfrm>
        </p:grpSpPr>
        <p:cxnSp>
          <p:nvCxnSpPr>
            <p:cNvPr id="10" name="Straight Arrow Connector 9">
              <a:extLst>
                <a:ext uri="{FF2B5EF4-FFF2-40B4-BE49-F238E27FC236}">
                  <a16:creationId xmlns:a16="http://schemas.microsoft.com/office/drawing/2014/main" id="{F646600E-2F92-0EF1-1B98-C55D38FB227B}"/>
                </a:ext>
                <a:ext uri="{C183D7F6-B498-43B3-948B-1728B52AA6E4}">
                  <adec:decorative xmlns:adec="http://schemas.microsoft.com/office/drawing/2017/decorative" val="1"/>
                </a:ext>
              </a:extLst>
            </p:cNvPr>
            <p:cNvCxnSpPr>
              <a:cxnSpLocks/>
            </p:cNvCxnSpPr>
            <p:nvPr/>
          </p:nvCxnSpPr>
          <p:spPr>
            <a:xfrm>
              <a:off x="8096316" y="5744185"/>
              <a:ext cx="29133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6C0CF01-0772-A587-4C58-03DBA7675524}"/>
                </a:ext>
                <a:ext uri="{C183D7F6-B498-43B3-948B-1728B52AA6E4}">
                  <adec:decorative xmlns:adec="http://schemas.microsoft.com/office/drawing/2017/decorative" val="1"/>
                </a:ext>
              </a:extLst>
            </p:cNvPr>
            <p:cNvCxnSpPr>
              <a:cxnSpLocks/>
            </p:cNvCxnSpPr>
            <p:nvPr/>
          </p:nvCxnSpPr>
          <p:spPr>
            <a:xfrm>
              <a:off x="719797" y="5744185"/>
              <a:ext cx="101427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EC84328-7DE8-E076-6921-F96AA31BD707}"/>
                </a:ext>
                <a:ext uri="{C183D7F6-B498-43B3-948B-1728B52AA6E4}">
                  <adec:decorative xmlns:adec="http://schemas.microsoft.com/office/drawing/2017/decorative" val="1"/>
                </a:ext>
              </a:extLst>
            </p:cNvPr>
            <p:cNvCxnSpPr/>
            <p:nvPr/>
          </p:nvCxnSpPr>
          <p:spPr>
            <a:xfrm>
              <a:off x="5791172" y="5477855"/>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D452AF2-94FB-CEF0-1C61-A42F4FD865F7}"/>
                </a:ext>
                <a:ext uri="{C183D7F6-B498-43B3-948B-1728B52AA6E4}">
                  <adec:decorative xmlns:adec="http://schemas.microsoft.com/office/drawing/2017/decorative" val="1"/>
                </a:ext>
              </a:extLst>
            </p:cNvPr>
            <p:cNvCxnSpPr>
              <a:cxnSpLocks/>
            </p:cNvCxnSpPr>
            <p:nvPr/>
          </p:nvCxnSpPr>
          <p:spPr>
            <a:xfrm flipH="1">
              <a:off x="568172" y="5744185"/>
              <a:ext cx="182581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990F965-0292-30D3-058F-77DFD5881469}"/>
                </a:ext>
              </a:extLst>
            </p:cNvPr>
            <p:cNvSpPr txBox="1"/>
            <p:nvPr/>
          </p:nvSpPr>
          <p:spPr>
            <a:xfrm>
              <a:off x="5542599" y="6149871"/>
              <a:ext cx="497145" cy="737514"/>
            </a:xfrm>
            <a:prstGeom prst="rect">
              <a:avLst/>
            </a:prstGeom>
            <a:noFill/>
          </p:spPr>
          <p:txBody>
            <a:bodyPr wrap="square" lIns="0" tIns="0" rIns="0" bIns="0" rtlCol="0">
              <a:noAutofit/>
            </a:bodyPr>
            <a:lstStyle/>
            <a:p>
              <a:pPr algn="ctr"/>
              <a:r>
                <a:rPr lang="en-AU" sz="4800"/>
                <a:t>0</a:t>
              </a:r>
              <a:endParaRPr lang="en-AU" sz="1800"/>
            </a:p>
          </p:txBody>
        </p:sp>
      </p:gr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0" y="1141647"/>
            <a:ext cx="11243037" cy="893226"/>
          </a:xfrm>
        </p:spPr>
        <p:txBody>
          <a:bodyPr/>
          <a:lstStyle/>
          <a:p>
            <a:pPr algn="ctr"/>
            <a:r>
              <a:rPr lang="en-AU" sz="4400"/>
              <a:t>Reading a thermometer is an example of interpreting integers in an everyday context.</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338917693"/>
              </p:ext>
            </p:extLst>
          </p:nvPr>
        </p:nvGraphicFramePr>
        <p:xfrm>
          <a:off x="2442980" y="389340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5">
            <a:extLst>
              <a:ext uri="{FF2B5EF4-FFF2-40B4-BE49-F238E27FC236}">
                <a16:creationId xmlns:a16="http://schemas.microsoft.com/office/drawing/2014/main" id="{7F30C5EE-5292-7A3C-282B-4C5A266C3B5E}"/>
              </a:ext>
            </a:extLst>
          </p:cNvPr>
          <p:cNvSpPr txBox="1">
            <a:spLocks/>
          </p:cNvSpPr>
          <p:nvPr/>
        </p:nvSpPr>
        <p:spPr>
          <a:xfrm>
            <a:off x="1881553" y="5393514"/>
            <a:ext cx="865971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9661138-0C69-29F2-DE9E-7A76B90B1B10}"/>
              </a:ext>
            </a:extLst>
          </p:cNvPr>
          <p:cNvSpPr txBox="1"/>
          <p:nvPr/>
        </p:nvSpPr>
        <p:spPr>
          <a:xfrm>
            <a:off x="562804" y="1930394"/>
            <a:ext cx="6747029" cy="2392365"/>
          </a:xfrm>
          <a:prstGeom prst="rect">
            <a:avLst/>
          </a:prstGeom>
          <a:noFill/>
        </p:spPr>
        <p:txBody>
          <a:bodyPr wrap="square" lIns="0" tIns="0" rIns="0" bIns="0" rtlCol="0">
            <a:noAutofit/>
          </a:bodyPr>
          <a:lstStyle/>
          <a:p>
            <a:pPr algn="ctr">
              <a:lnSpc>
                <a:spcPct val="150000"/>
              </a:lnSpc>
            </a:pPr>
            <a:r>
              <a:rPr lang="en-AU" sz="4400"/>
              <a:t>One of these triangles has been translated. </a:t>
            </a:r>
          </a:p>
          <a:p>
            <a:pPr algn="ctr">
              <a:lnSpc>
                <a:spcPct val="150000"/>
              </a:lnSpc>
            </a:pPr>
            <a:r>
              <a:rPr lang="en-AU" sz="4400"/>
              <a:t>Record its </a:t>
            </a:r>
            <a:r>
              <a:rPr lang="en-AU" sz="4400" b="1"/>
              <a:t>coordinates</a:t>
            </a:r>
            <a:r>
              <a:rPr lang="en-AU" sz="4400"/>
              <a:t>.</a:t>
            </a:r>
          </a:p>
        </p:txBody>
      </p:sp>
      <p:pic>
        <p:nvPicPr>
          <p:cNvPr id="5" name="Picture 4" descr="2 cartesian planes. The first cartesian plane has a triangle with the coordinates (3,5), (1,1) and (5,1). The triangle has been translated. The second cartesian plane has a triangle with the coordinates (3,5), (1,1) and (5,1). The triangle has been reflected.">
            <a:extLst>
              <a:ext uri="{FF2B5EF4-FFF2-40B4-BE49-F238E27FC236}">
                <a16:creationId xmlns:a16="http://schemas.microsoft.com/office/drawing/2014/main" id="{4458BF25-F470-E432-F38F-B19CAD80A1D7}"/>
              </a:ext>
            </a:extLst>
          </p:cNvPr>
          <p:cNvPicPr>
            <a:picLocks noChangeAspect="1"/>
          </p:cNvPicPr>
          <p:nvPr/>
        </p:nvPicPr>
        <p:blipFill>
          <a:blip r:embed="rId4"/>
          <a:srcRect t="2927" b="2871"/>
          <a:stretch>
            <a:fillRect/>
          </a:stretch>
        </p:blipFill>
        <p:spPr>
          <a:xfrm>
            <a:off x="7546381" y="180000"/>
            <a:ext cx="3093045" cy="649800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9" name="TextBox 8">
            <a:extLst>
              <a:ext uri="{FF2B5EF4-FFF2-40B4-BE49-F238E27FC236}">
                <a16:creationId xmlns:a16="http://schemas.microsoft.com/office/drawing/2014/main" id="{B47BDB81-56D5-FD4D-583C-370A9C9842F7}"/>
              </a:ext>
            </a:extLst>
          </p:cNvPr>
          <p:cNvSpPr txBox="1"/>
          <p:nvPr/>
        </p:nvSpPr>
        <p:spPr>
          <a:xfrm>
            <a:off x="276395" y="4951293"/>
            <a:ext cx="11207604" cy="1564707"/>
          </a:xfrm>
          <a:prstGeom prst="rect">
            <a:avLst/>
          </a:prstGeom>
          <a:noFill/>
        </p:spPr>
        <p:txBody>
          <a:bodyPr wrap="square" lIns="0" tIns="0" rIns="0" bIns="0" rtlCol="0">
            <a:noAutofit/>
          </a:bodyPr>
          <a:lstStyle/>
          <a:p>
            <a:pPr algn="ctr"/>
            <a:r>
              <a:rPr lang="en-AU" sz="4400"/>
              <a:t>Record the solution using a </a:t>
            </a:r>
            <a:r>
              <a:rPr lang="en-AU" sz="4400" b="1"/>
              <a:t>fraction</a:t>
            </a:r>
            <a:r>
              <a:rPr lang="en-AU" sz="4400"/>
              <a:t>, </a:t>
            </a:r>
            <a:r>
              <a:rPr lang="en-AU" sz="4400" b="1"/>
              <a:t>decimal</a:t>
            </a:r>
            <a:r>
              <a:rPr lang="en-AU" sz="4400"/>
              <a:t> and </a:t>
            </a:r>
            <a:r>
              <a:rPr lang="en-AU" sz="4400" b="1"/>
              <a:t>words</a:t>
            </a:r>
            <a:r>
              <a:rPr lang="en-AU" sz="4400"/>
              <a:t>.</a:t>
            </a:r>
            <a:endParaRPr lang="en-AU" sz="3600"/>
          </a:p>
        </p:txBody>
      </p:sp>
      <p:pic>
        <p:nvPicPr>
          <p:cNvPr id="5" name="Picture 4" descr="Part of a think board with the problem of sharing 7 chocolate bars between 3 people. There are 7 identical images of a chocolate bar under the heading 'Diagrams'. The chocolate bars have colour-coded bars around them to illustrate sharing the 7 chocolate bars between 3 people.">
            <a:extLst>
              <a:ext uri="{FF2B5EF4-FFF2-40B4-BE49-F238E27FC236}">
                <a16:creationId xmlns:a16="http://schemas.microsoft.com/office/drawing/2014/main" id="{366A63DE-4BAD-76FC-1661-EDBC9ACAE239}"/>
              </a:ext>
            </a:extLst>
          </p:cNvPr>
          <p:cNvPicPr>
            <a:picLocks noChangeAspect="1"/>
          </p:cNvPicPr>
          <p:nvPr/>
        </p:nvPicPr>
        <p:blipFill>
          <a:blip r:embed="rId4"/>
          <a:stretch>
            <a:fillRect/>
          </a:stretch>
        </p:blipFill>
        <p:spPr>
          <a:xfrm>
            <a:off x="1777980" y="1068031"/>
            <a:ext cx="8204433" cy="372083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DF7C42C-65B6-CD18-7D3D-320E92EA4009}"/>
              </a:ext>
            </a:extLst>
          </p:cNvPr>
          <p:cNvSpPr txBox="1"/>
          <p:nvPr/>
        </p:nvSpPr>
        <p:spPr>
          <a:xfrm>
            <a:off x="246024" y="977975"/>
            <a:ext cx="5027016" cy="3240349"/>
          </a:xfrm>
          <a:prstGeom prst="rect">
            <a:avLst/>
          </a:prstGeom>
          <a:noFill/>
        </p:spPr>
        <p:txBody>
          <a:bodyPr wrap="square" lIns="0" tIns="0" rIns="0" bIns="0" rtlCol="0">
            <a:noAutofit/>
          </a:bodyPr>
          <a:lstStyle/>
          <a:p>
            <a:pPr marL="342900" indent="-342900" algn="l">
              <a:lnSpc>
                <a:spcPct val="150000"/>
              </a:lnSpc>
              <a:spcBef>
                <a:spcPts val="600"/>
              </a:spcBef>
              <a:spcAft>
                <a:spcPts val="1200"/>
              </a:spcAft>
              <a:buAutoNum type="arabicPeriod"/>
            </a:pPr>
            <a:r>
              <a:rPr lang="en-AU" sz="2700"/>
              <a:t>The basketball court is </a:t>
            </a:r>
            <a:r>
              <a:rPr lang="en-AU" sz="2700" b="1"/>
              <a:t>1.25 km </a:t>
            </a:r>
            <a:r>
              <a:rPr lang="en-AU" sz="2700"/>
              <a:t>from the school. How could this distance be recorded in </a:t>
            </a:r>
            <a:r>
              <a:rPr lang="en-AU" sz="2700" b="1"/>
              <a:t>metres</a:t>
            </a:r>
            <a:r>
              <a:rPr lang="en-AU" sz="2700"/>
              <a:t>?</a:t>
            </a:r>
          </a:p>
          <a:p>
            <a:pPr marL="342900" indent="-342900" algn="l">
              <a:lnSpc>
                <a:spcPct val="150000"/>
              </a:lnSpc>
              <a:spcBef>
                <a:spcPts val="600"/>
              </a:spcBef>
              <a:spcAft>
                <a:spcPts val="1200"/>
              </a:spcAft>
              <a:buAutoNum type="arabicPeriod"/>
            </a:pPr>
            <a:r>
              <a:rPr lang="en-AU" sz="2700"/>
              <a:t>The playground is </a:t>
            </a:r>
            <a:r>
              <a:rPr lang="en-AU" sz="2700" b="1"/>
              <a:t>0.8 km </a:t>
            </a:r>
            <a:r>
              <a:rPr lang="en-AU" sz="2700"/>
              <a:t>from the school. If you walked to the </a:t>
            </a:r>
            <a:r>
              <a:rPr lang="en-AU" sz="2700" b="1"/>
              <a:t>playground and back</a:t>
            </a:r>
            <a:r>
              <a:rPr lang="en-AU" sz="2700"/>
              <a:t>, how far would you walk in </a:t>
            </a:r>
            <a:r>
              <a:rPr lang="en-AU" sz="2700" b="1"/>
              <a:t>kilometres</a:t>
            </a:r>
            <a:r>
              <a:rPr lang="en-AU" sz="2700"/>
              <a:t>?</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9" name="Picture 8" descr="A map of a neighbourhood showing distances from the school to various landmarks. &#10;Playground 0.8 km.&#10;Basketball court 1.25 km.">
            <a:extLst>
              <a:ext uri="{FF2B5EF4-FFF2-40B4-BE49-F238E27FC236}">
                <a16:creationId xmlns:a16="http://schemas.microsoft.com/office/drawing/2014/main" id="{ECB0A95A-5309-0F9B-9206-E15735A18AE1}"/>
              </a:ext>
            </a:extLst>
          </p:cNvPr>
          <p:cNvPicPr>
            <a:picLocks noChangeAspect="1"/>
          </p:cNvPicPr>
          <p:nvPr/>
        </p:nvPicPr>
        <p:blipFill>
          <a:blip r:embed="rId4"/>
          <a:stretch>
            <a:fillRect/>
          </a:stretch>
        </p:blipFill>
        <p:spPr>
          <a:xfrm>
            <a:off x="5765663" y="905601"/>
            <a:ext cx="5113209" cy="54831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5" name="TextBox 4">
            <a:extLst>
              <a:ext uri="{FF2B5EF4-FFF2-40B4-BE49-F238E27FC236}">
                <a16:creationId xmlns:a16="http://schemas.microsoft.com/office/drawing/2014/main" id="{EDB94FAD-BB0D-9315-8F41-3BEB271BC847}"/>
              </a:ext>
            </a:extLst>
          </p:cNvPr>
          <p:cNvSpPr txBox="1"/>
          <p:nvPr/>
        </p:nvSpPr>
        <p:spPr>
          <a:xfrm>
            <a:off x="714000" y="726473"/>
            <a:ext cx="10764000" cy="739754"/>
          </a:xfrm>
          <a:prstGeom prst="rect">
            <a:avLst/>
          </a:prstGeom>
          <a:noFill/>
        </p:spPr>
        <p:txBody>
          <a:bodyPr wrap="square">
            <a:spAutoFit/>
          </a:bodyPr>
          <a:lstStyle/>
          <a:p>
            <a:pPr algn="ctr">
              <a:lnSpc>
                <a:spcPct val="150000"/>
              </a:lnSpc>
            </a:pPr>
            <a:r>
              <a:rPr lang="en-AU" sz="3200"/>
              <a:t>This timetable shows bus departure times:</a:t>
            </a:r>
          </a:p>
        </p:txBody>
      </p:sp>
      <p:graphicFrame>
        <p:nvGraphicFramePr>
          <p:cNvPr id="7" name="Table 6">
            <a:extLst>
              <a:ext uri="{FF2B5EF4-FFF2-40B4-BE49-F238E27FC236}">
                <a16:creationId xmlns:a16="http://schemas.microsoft.com/office/drawing/2014/main" id="{BB432D7D-0FFD-E493-A1CB-07B623317783}"/>
              </a:ext>
            </a:extLst>
          </p:cNvPr>
          <p:cNvGraphicFramePr>
            <a:graphicFrameLocks noGrp="1"/>
          </p:cNvGraphicFramePr>
          <p:nvPr>
            <p:extLst>
              <p:ext uri="{D42A27DB-BD31-4B8C-83A1-F6EECF244321}">
                <p14:modId xmlns:p14="http://schemas.microsoft.com/office/powerpoint/2010/main" val="1405846480"/>
              </p:ext>
            </p:extLst>
          </p:nvPr>
        </p:nvGraphicFramePr>
        <p:xfrm>
          <a:off x="3292628" y="1707028"/>
          <a:ext cx="5984536" cy="2590800"/>
        </p:xfrm>
        <a:graphic>
          <a:graphicData uri="http://schemas.openxmlformats.org/drawingml/2006/table">
            <a:tbl>
              <a:tblPr firstRow="1" bandRow="1">
                <a:tableStyleId>{69012ECD-51FC-41F1-AA8D-1B2483CD663E}</a:tableStyleId>
              </a:tblPr>
              <a:tblGrid>
                <a:gridCol w="1406075">
                  <a:extLst>
                    <a:ext uri="{9D8B030D-6E8A-4147-A177-3AD203B41FA5}">
                      <a16:colId xmlns:a16="http://schemas.microsoft.com/office/drawing/2014/main" val="904176514"/>
                    </a:ext>
                  </a:extLst>
                </a:gridCol>
                <a:gridCol w="4578461">
                  <a:extLst>
                    <a:ext uri="{9D8B030D-6E8A-4147-A177-3AD203B41FA5}">
                      <a16:colId xmlns:a16="http://schemas.microsoft.com/office/drawing/2014/main" val="2196786228"/>
                    </a:ext>
                  </a:extLst>
                </a:gridCol>
              </a:tblGrid>
              <a:tr h="370840">
                <a:tc>
                  <a:txBody>
                    <a:bodyPr/>
                    <a:lstStyle/>
                    <a:p>
                      <a:pPr algn="ctr"/>
                      <a:r>
                        <a:rPr lang="en-AU" sz="2800"/>
                        <a:t>Bus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Departure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246415"/>
                  </a:ext>
                </a:extLst>
              </a:tr>
              <a:tr h="370840">
                <a:tc>
                  <a:txBody>
                    <a:bodyPr/>
                    <a:lstStyle/>
                    <a:p>
                      <a:pPr algn="ctr"/>
                      <a:r>
                        <a:rPr lang="en-AU" sz="28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18:45 hours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9593620"/>
                  </a:ext>
                </a:extLst>
              </a:tr>
              <a:tr h="370840">
                <a:tc>
                  <a:txBody>
                    <a:bodyPr/>
                    <a:lstStyle/>
                    <a:p>
                      <a:pPr algn="ctr"/>
                      <a:r>
                        <a:rPr lang="en-AU" sz="28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07:15 hours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1824296"/>
                  </a:ext>
                </a:extLst>
              </a:tr>
              <a:tr h="370840">
                <a:tc>
                  <a:txBody>
                    <a:bodyPr/>
                    <a:lstStyle/>
                    <a:p>
                      <a:pPr algn="ctr"/>
                      <a:r>
                        <a:rPr lang="en-AU" sz="28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23:30 hours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1857351"/>
                  </a:ext>
                </a:extLst>
              </a:tr>
              <a:tr h="370840">
                <a:tc>
                  <a:txBody>
                    <a:bodyPr/>
                    <a:lstStyle/>
                    <a:p>
                      <a:pPr algn="ctr"/>
                      <a:r>
                        <a:rPr lang="en-AU" sz="28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13:15 hours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3753129"/>
                  </a:ext>
                </a:extLst>
              </a:tr>
            </a:tbl>
          </a:graphicData>
        </a:graphic>
      </p:graphicFrame>
      <p:sp>
        <p:nvSpPr>
          <p:cNvPr id="8" name="TextBox 7">
            <a:extLst>
              <a:ext uri="{FF2B5EF4-FFF2-40B4-BE49-F238E27FC236}">
                <a16:creationId xmlns:a16="http://schemas.microsoft.com/office/drawing/2014/main" id="{800AFD6F-6587-56A2-979B-ECC2E953F6DF}"/>
              </a:ext>
            </a:extLst>
          </p:cNvPr>
          <p:cNvSpPr txBox="1"/>
          <p:nvPr/>
        </p:nvSpPr>
        <p:spPr>
          <a:xfrm>
            <a:off x="590819" y="4359501"/>
            <a:ext cx="10764000" cy="2217082"/>
          </a:xfrm>
          <a:prstGeom prst="rect">
            <a:avLst/>
          </a:prstGeom>
          <a:noFill/>
        </p:spPr>
        <p:txBody>
          <a:bodyPr wrap="square">
            <a:spAutoFit/>
          </a:bodyPr>
          <a:lstStyle/>
          <a:p>
            <a:pPr marL="514350" indent="-514350" algn="ctr">
              <a:lnSpc>
                <a:spcPct val="150000"/>
              </a:lnSpc>
              <a:buAutoNum type="arabicPeriod"/>
            </a:pPr>
            <a:r>
              <a:rPr lang="en-AU" sz="3200"/>
              <a:t>Convert the 24-hour times to </a:t>
            </a:r>
            <a:r>
              <a:rPr lang="en-AU" sz="3200" b="1"/>
              <a:t>12-hour time</a:t>
            </a:r>
          </a:p>
          <a:p>
            <a:pPr marL="514350" indent="-514350" algn="ctr">
              <a:lnSpc>
                <a:spcPct val="150000"/>
              </a:lnSpc>
              <a:buAutoNum type="arabicPeriod"/>
            </a:pPr>
            <a:r>
              <a:rPr lang="en-AU" sz="3200" b="1"/>
              <a:t>Order</a:t>
            </a:r>
            <a:r>
              <a:rPr lang="en-AU" sz="3200"/>
              <a:t> the buses from earliest departure time to latest departure time.</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negative number subtraction 2</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extBox 2">
            <a:extLst>
              <a:ext uri="{FF2B5EF4-FFF2-40B4-BE49-F238E27FC236}">
                <a16:creationId xmlns:a16="http://schemas.microsoft.com/office/drawing/2014/main" id="{4789B9DA-773D-5516-3C81-F4B834553488}"/>
              </a:ext>
            </a:extLst>
          </p:cNvPr>
          <p:cNvSpPr txBox="1"/>
          <p:nvPr/>
        </p:nvSpPr>
        <p:spPr>
          <a:xfrm>
            <a:off x="3293339" y="1465891"/>
            <a:ext cx="6206967" cy="2814222"/>
          </a:xfrm>
          <a:prstGeom prst="rect">
            <a:avLst/>
          </a:prstGeom>
          <a:noFill/>
        </p:spPr>
        <p:txBody>
          <a:bodyPr wrap="square" lIns="0" tIns="0" rIns="0" bIns="0" rtlCol="0">
            <a:noAutofit/>
          </a:bodyPr>
          <a:lstStyle/>
          <a:p>
            <a:pPr marL="457200" indent="-457200">
              <a:lnSpc>
                <a:spcPct val="150000"/>
              </a:lnSpc>
              <a:buFont typeface="Arial" panose="020B0604020202020204" pitchFamily="34" charset="0"/>
              <a:buChar char="•"/>
            </a:pPr>
            <a:r>
              <a:rPr lang="en-AU" sz="3500"/>
              <a:t>48 - 12 = target number -12</a:t>
            </a:r>
          </a:p>
          <a:p>
            <a:pPr marL="457200" indent="-457200">
              <a:lnSpc>
                <a:spcPct val="150000"/>
              </a:lnSpc>
              <a:buFont typeface="Arial" panose="020B0604020202020204" pitchFamily="34" charset="0"/>
              <a:buChar char="•"/>
            </a:pPr>
            <a:r>
              <a:rPr lang="en-AU" sz="3500"/>
              <a:t>55 - 11 = target number -22</a:t>
            </a:r>
          </a:p>
          <a:p>
            <a:pPr marL="457200" indent="-457200">
              <a:lnSpc>
                <a:spcPct val="150000"/>
              </a:lnSpc>
              <a:buFont typeface="Arial" panose="020B0604020202020204" pitchFamily="34" charset="0"/>
              <a:buChar char="•"/>
            </a:pPr>
            <a:r>
              <a:rPr lang="en-AU" sz="3500"/>
              <a:t>60 - 15 = target number -30</a:t>
            </a:r>
          </a:p>
          <a:p>
            <a:pPr algn="ctr">
              <a:lnSpc>
                <a:spcPct val="150000"/>
              </a:lnSpc>
            </a:pPr>
            <a:endParaRPr lang="en-AU" sz="3600"/>
          </a:p>
        </p:txBody>
      </p:sp>
      <p:grpSp>
        <p:nvGrpSpPr>
          <p:cNvPr id="11" name="Group 10">
            <a:extLst>
              <a:ext uri="{FF2B5EF4-FFF2-40B4-BE49-F238E27FC236}">
                <a16:creationId xmlns:a16="http://schemas.microsoft.com/office/drawing/2014/main" id="{1C489F90-B8D1-8425-DD9C-7121814CCD96}"/>
              </a:ext>
              <a:ext uri="{C183D7F6-B498-43B3-948B-1728B52AA6E4}">
                <adec:decorative xmlns:adec="http://schemas.microsoft.com/office/drawing/2017/decorative" val="1"/>
              </a:ext>
            </a:extLst>
          </p:cNvPr>
          <p:cNvGrpSpPr/>
          <p:nvPr/>
        </p:nvGrpSpPr>
        <p:grpSpPr>
          <a:xfrm>
            <a:off x="925251" y="4951721"/>
            <a:ext cx="10323250" cy="1409530"/>
            <a:chOff x="925251" y="4951721"/>
            <a:chExt cx="10323250" cy="1409530"/>
          </a:xfrm>
        </p:grpSpPr>
        <p:cxnSp>
          <p:nvCxnSpPr>
            <p:cNvPr id="5" name="Straight Connector 4">
              <a:extLst>
                <a:ext uri="{FF2B5EF4-FFF2-40B4-BE49-F238E27FC236}">
                  <a16:creationId xmlns:a16="http://schemas.microsoft.com/office/drawing/2014/main" id="{B7803141-3AE0-3494-6677-AA97456D5ABE}"/>
                </a:ext>
                <a:ext uri="{C183D7F6-B498-43B3-948B-1728B52AA6E4}">
                  <adec:decorative xmlns:adec="http://schemas.microsoft.com/office/drawing/2017/decorative" val="1"/>
                </a:ext>
              </a:extLst>
            </p:cNvPr>
            <p:cNvCxnSpPr>
              <a:cxnSpLocks/>
            </p:cNvCxnSpPr>
            <p:nvPr/>
          </p:nvCxnSpPr>
          <p:spPr>
            <a:xfrm>
              <a:off x="1024626" y="5218051"/>
              <a:ext cx="101427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BD86D5C-5A29-6A75-5A51-C7C4AE8857D8}"/>
                </a:ext>
                <a:ext uri="{C183D7F6-B498-43B3-948B-1728B52AA6E4}">
                  <adec:decorative xmlns:adec="http://schemas.microsoft.com/office/drawing/2017/decorative" val="1"/>
                </a:ext>
              </a:extLst>
            </p:cNvPr>
            <p:cNvCxnSpPr/>
            <p:nvPr/>
          </p:nvCxnSpPr>
          <p:spPr>
            <a:xfrm>
              <a:off x="6148251" y="4951721"/>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E8EEB16-B429-C5C0-3BB8-5B1A0948D8C9}"/>
                </a:ext>
                <a:ext uri="{C183D7F6-B498-43B3-948B-1728B52AA6E4}">
                  <adec:decorative xmlns:adec="http://schemas.microsoft.com/office/drawing/2017/decorative" val="1"/>
                </a:ext>
              </a:extLst>
            </p:cNvPr>
            <p:cNvCxnSpPr>
              <a:cxnSpLocks/>
            </p:cNvCxnSpPr>
            <p:nvPr/>
          </p:nvCxnSpPr>
          <p:spPr>
            <a:xfrm>
              <a:off x="8335117" y="5218051"/>
              <a:ext cx="29133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378C06E-92F3-0249-9D40-5F0C37E9E466}"/>
                </a:ext>
                <a:ext uri="{C183D7F6-B498-43B3-948B-1728B52AA6E4}">
                  <adec:decorative xmlns:adec="http://schemas.microsoft.com/office/drawing/2017/decorative" val="1"/>
                </a:ext>
              </a:extLst>
            </p:cNvPr>
            <p:cNvCxnSpPr>
              <a:cxnSpLocks/>
            </p:cNvCxnSpPr>
            <p:nvPr/>
          </p:nvCxnSpPr>
          <p:spPr>
            <a:xfrm flipH="1">
              <a:off x="925251" y="5218051"/>
              <a:ext cx="182581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958548-5814-8EBA-BA4B-08D0B7342BDB}"/>
                </a:ext>
              </a:extLst>
            </p:cNvPr>
            <p:cNvSpPr txBox="1"/>
            <p:nvPr/>
          </p:nvSpPr>
          <p:spPr>
            <a:xfrm>
              <a:off x="5899678" y="5623737"/>
              <a:ext cx="497145" cy="737514"/>
            </a:xfrm>
            <a:prstGeom prst="rect">
              <a:avLst/>
            </a:prstGeom>
            <a:noFill/>
          </p:spPr>
          <p:txBody>
            <a:bodyPr wrap="square" lIns="0" tIns="0" rIns="0" bIns="0" rtlCol="0">
              <a:noAutofit/>
            </a:bodyPr>
            <a:lstStyle/>
            <a:p>
              <a:pPr algn="ctr"/>
              <a:r>
                <a:rPr lang="en-AU" sz="4800"/>
                <a:t>0</a:t>
              </a:r>
              <a:endParaRPr lang="en-AU" sz="1800"/>
            </a:p>
          </p:txBody>
        </p:sp>
      </p:gr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407007" y="905601"/>
                <a:ext cx="10983794" cy="893226"/>
              </a:xfrm>
            </p:spPr>
            <p:txBody>
              <a:bodyPr/>
              <a:lstStyle/>
              <a:p>
                <a:pPr algn="ctr"/>
                <a:r>
                  <a:rPr lang="en-US" sz="4400"/>
                  <a:t>Which of the following fraction is </a:t>
                </a:r>
                <a:r>
                  <a:rPr lang="en-US" sz="4400" b="1"/>
                  <a:t>equivalent</a:t>
                </a:r>
                <a:r>
                  <a:rPr lang="en-US" sz="4400"/>
                  <a:t> to </a:t>
                </a:r>
                <a14:m>
                  <m:oMath xmlns:m="http://schemas.openxmlformats.org/officeDocument/2006/math">
                    <m:f>
                      <m:fPr>
                        <m:ctrlPr>
                          <a:rPr lang="en-US" sz="5400" i="1" smtClean="0">
                            <a:solidFill>
                              <a:schemeClr val="accent2"/>
                            </a:solidFill>
                            <a:latin typeface="Cambria Math" panose="02040503050406030204" pitchFamily="18" charset="0"/>
                          </a:rPr>
                        </m:ctrlPr>
                      </m:fPr>
                      <m:num>
                        <m:r>
                          <a:rPr lang="en-AU" sz="5400" b="0" i="1" smtClean="0">
                            <a:solidFill>
                              <a:schemeClr val="accent2"/>
                            </a:solidFill>
                            <a:latin typeface="Cambria Math" panose="02040503050406030204" pitchFamily="18" charset="0"/>
                          </a:rPr>
                          <m:t>3</m:t>
                        </m:r>
                      </m:num>
                      <m:den>
                        <m:r>
                          <a:rPr lang="en-AU" sz="5400" b="0" i="1" smtClean="0">
                            <a:solidFill>
                              <a:schemeClr val="accent2"/>
                            </a:solidFill>
                            <a:latin typeface="Cambria Math" panose="02040503050406030204" pitchFamily="18" charset="0"/>
                          </a:rPr>
                          <m:t>4</m:t>
                        </m:r>
                      </m:den>
                    </m:f>
                  </m:oMath>
                </a14:m>
                <a:r>
                  <a:rPr lang="en-US" sz="5400">
                    <a:latin typeface="+mn-lt"/>
                  </a:rPr>
                  <a:t> </a:t>
                </a:r>
                <a:r>
                  <a:rPr lang="en-US" sz="4400"/>
                  <a:t>?</a:t>
                </a:r>
              </a:p>
            </p:txBody>
          </p:sp>
        </mc:Choice>
        <mc:Fallback xmlns="">
          <p:sp>
            <p:nvSpPr>
              <p:cNvPr id="18" name="Text Placeholder 17">
                <a:extLst>
                  <a:ext uri="{FF2B5EF4-FFF2-40B4-BE49-F238E27FC236}">
                    <a16:creationId xmlns:a16="http://schemas.microsoft.com/office/drawing/2014/main" id="{E180F3B1-ACC7-4559-EA73-174DB17A0983}"/>
                  </a:ext>
                </a:extLst>
              </p:cNvPr>
              <p:cNvSpPr>
                <a:spLocks noGrp="1" noRot="1" noChangeAspect="1" noMove="1" noResize="1" noEditPoints="1" noAdjustHandles="1" noChangeArrowheads="1" noChangeShapeType="1" noTextEdit="1"/>
              </p:cNvSpPr>
              <p:nvPr>
                <p:ph type="body" sz="quarter" idx="24"/>
              </p:nvPr>
            </p:nvSpPr>
            <p:spPr>
              <a:xfrm>
                <a:off x="407007" y="905601"/>
                <a:ext cx="10983794" cy="893226"/>
              </a:xfrm>
              <a:blipFill>
                <a:blip r:embed="rId3"/>
                <a:stretch>
                  <a:fillRect l="-2775" r="-2719" b="-20547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4E6EA9CC-6235-8807-420B-A4371AC418C0}"/>
              </a:ext>
            </a:extLst>
          </p:cNvPr>
          <p:cNvSpPr txBox="1"/>
          <p:nvPr/>
        </p:nvSpPr>
        <p:spPr>
          <a:xfrm>
            <a:off x="1215766" y="40058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8F4978-E181-FDB6-A6D5-B39461E296FF}"/>
                  </a:ext>
                </a:extLst>
              </p:cNvPr>
              <p:cNvSpPr txBox="1"/>
              <p:nvPr/>
            </p:nvSpPr>
            <p:spPr>
              <a:xfrm>
                <a:off x="-1680791" y="4994040"/>
                <a:ext cx="6218806" cy="13599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4400" i="1" smtClean="0">
                              <a:latin typeface="Cambria Math" panose="02040503050406030204" pitchFamily="18" charset="0"/>
                            </a:rPr>
                          </m:ctrlPr>
                        </m:fPr>
                        <m:num>
                          <m:r>
                            <a:rPr lang="en-AU" sz="4400" b="0" i="1" smtClean="0">
                              <a:latin typeface="Cambria Math" panose="02040503050406030204" pitchFamily="18" charset="0"/>
                            </a:rPr>
                            <m:t>6</m:t>
                          </m:r>
                        </m:num>
                        <m:den>
                          <m:r>
                            <a:rPr lang="en-AU" sz="4400" b="0" i="1" smtClean="0">
                              <a:latin typeface="Cambria Math" panose="02040503050406030204" pitchFamily="18" charset="0"/>
                            </a:rPr>
                            <m:t>8</m:t>
                          </m:r>
                        </m:den>
                      </m:f>
                    </m:oMath>
                  </m:oMathPara>
                </a14:m>
                <a:endParaRPr lang="en-AU" sz="4400"/>
              </a:p>
            </p:txBody>
          </p:sp>
        </mc:Choice>
        <mc:Fallback xmlns="">
          <p:sp>
            <p:nvSpPr>
              <p:cNvPr id="6" name="TextBox 5">
                <a:extLst>
                  <a:ext uri="{FF2B5EF4-FFF2-40B4-BE49-F238E27FC236}">
                    <a16:creationId xmlns:a16="http://schemas.microsoft.com/office/drawing/2014/main" id="{A58F4978-E181-FDB6-A6D5-B39461E296FF}"/>
                  </a:ext>
                </a:extLst>
              </p:cNvPr>
              <p:cNvSpPr txBox="1">
                <a:spLocks noRot="1" noChangeAspect="1" noMove="1" noResize="1" noEditPoints="1" noAdjustHandles="1" noChangeArrowheads="1" noChangeShapeType="1" noTextEdit="1"/>
              </p:cNvSpPr>
              <p:nvPr/>
            </p:nvSpPr>
            <p:spPr>
              <a:xfrm>
                <a:off x="-1680791" y="4994040"/>
                <a:ext cx="6218806" cy="1359988"/>
              </a:xfrm>
              <a:prstGeom prst="rect">
                <a:avLst/>
              </a:prstGeom>
              <a:blipFill>
                <a:blip r:embed="rId4"/>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AB24A3E-5574-D79C-6A0F-06D3F8A29BB1}"/>
              </a:ext>
            </a:extLst>
          </p:cNvPr>
          <p:cNvSpPr txBox="1"/>
          <p:nvPr/>
        </p:nvSpPr>
        <p:spPr>
          <a:xfrm>
            <a:off x="4219739" y="40058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4D59B6C-242D-A6A5-68C9-421103A19586}"/>
                  </a:ext>
                </a:extLst>
              </p:cNvPr>
              <p:cNvSpPr txBox="1"/>
              <p:nvPr/>
            </p:nvSpPr>
            <p:spPr>
              <a:xfrm>
                <a:off x="1302025" y="4991828"/>
                <a:ext cx="6218806" cy="13644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4400" i="1" smtClean="0">
                              <a:latin typeface="Cambria Math" panose="02040503050406030204" pitchFamily="18" charset="0"/>
                            </a:rPr>
                          </m:ctrlPr>
                        </m:fPr>
                        <m:num>
                          <m:r>
                            <a:rPr lang="en-AU" sz="4400" b="0" i="1" smtClean="0">
                              <a:latin typeface="Cambria Math" panose="02040503050406030204" pitchFamily="18" charset="0"/>
                            </a:rPr>
                            <m:t>2</m:t>
                          </m:r>
                        </m:num>
                        <m:den>
                          <m:r>
                            <a:rPr lang="en-AU" sz="4400" b="0" i="1" smtClean="0">
                              <a:latin typeface="Cambria Math" panose="02040503050406030204" pitchFamily="18" charset="0"/>
                            </a:rPr>
                            <m:t>3</m:t>
                          </m:r>
                        </m:den>
                      </m:f>
                    </m:oMath>
                  </m:oMathPara>
                </a14:m>
                <a:endParaRPr lang="en-AU" sz="4400"/>
              </a:p>
            </p:txBody>
          </p:sp>
        </mc:Choice>
        <mc:Fallback xmlns="">
          <p:sp>
            <p:nvSpPr>
              <p:cNvPr id="7" name="TextBox 6">
                <a:extLst>
                  <a:ext uri="{FF2B5EF4-FFF2-40B4-BE49-F238E27FC236}">
                    <a16:creationId xmlns:a16="http://schemas.microsoft.com/office/drawing/2014/main" id="{D4D59B6C-242D-A6A5-68C9-421103A19586}"/>
                  </a:ext>
                </a:extLst>
              </p:cNvPr>
              <p:cNvSpPr txBox="1">
                <a:spLocks noRot="1" noChangeAspect="1" noMove="1" noResize="1" noEditPoints="1" noAdjustHandles="1" noChangeArrowheads="1" noChangeShapeType="1" noTextEdit="1"/>
              </p:cNvSpPr>
              <p:nvPr/>
            </p:nvSpPr>
            <p:spPr>
              <a:xfrm>
                <a:off x="1302025" y="4991828"/>
                <a:ext cx="6218806" cy="1364412"/>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92289C6-858E-E449-16B6-10640E9A4385}"/>
              </a:ext>
            </a:extLst>
          </p:cNvPr>
          <p:cNvSpPr txBox="1"/>
          <p:nvPr/>
        </p:nvSpPr>
        <p:spPr>
          <a:xfrm>
            <a:off x="7223712" y="40058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9079B21-DACE-1D4E-5205-B10340808C1E}"/>
                  </a:ext>
                </a:extLst>
              </p:cNvPr>
              <p:cNvSpPr txBox="1"/>
              <p:nvPr/>
            </p:nvSpPr>
            <p:spPr>
              <a:xfrm>
                <a:off x="4326862" y="4969618"/>
                <a:ext cx="6218806" cy="13619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4400" i="1" smtClean="0">
                              <a:latin typeface="Cambria Math" panose="02040503050406030204" pitchFamily="18" charset="0"/>
                            </a:rPr>
                          </m:ctrlPr>
                        </m:fPr>
                        <m:num>
                          <m:r>
                            <a:rPr lang="en-AU" sz="4400" b="0" i="1" smtClean="0">
                              <a:latin typeface="Cambria Math" panose="02040503050406030204" pitchFamily="18" charset="0"/>
                            </a:rPr>
                            <m:t>4</m:t>
                          </m:r>
                        </m:num>
                        <m:den>
                          <m:r>
                            <a:rPr lang="en-AU" sz="4400" b="0" i="1" smtClean="0">
                              <a:latin typeface="Cambria Math" panose="02040503050406030204" pitchFamily="18" charset="0"/>
                            </a:rPr>
                            <m:t>6</m:t>
                          </m:r>
                        </m:den>
                      </m:f>
                    </m:oMath>
                  </m:oMathPara>
                </a14:m>
                <a:endParaRPr lang="en-AU" sz="4400"/>
              </a:p>
            </p:txBody>
          </p:sp>
        </mc:Choice>
        <mc:Fallback xmlns="">
          <p:sp>
            <p:nvSpPr>
              <p:cNvPr id="8" name="TextBox 7">
                <a:extLst>
                  <a:ext uri="{FF2B5EF4-FFF2-40B4-BE49-F238E27FC236}">
                    <a16:creationId xmlns:a16="http://schemas.microsoft.com/office/drawing/2014/main" id="{69079B21-DACE-1D4E-5205-B10340808C1E}"/>
                  </a:ext>
                </a:extLst>
              </p:cNvPr>
              <p:cNvSpPr txBox="1">
                <a:spLocks noRot="1" noChangeAspect="1" noMove="1" noResize="1" noEditPoints="1" noAdjustHandles="1" noChangeArrowheads="1" noChangeShapeType="1" noTextEdit="1"/>
              </p:cNvSpPr>
              <p:nvPr/>
            </p:nvSpPr>
            <p:spPr>
              <a:xfrm>
                <a:off x="4326862" y="4969618"/>
                <a:ext cx="6218806" cy="1361911"/>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C22AC239-77AC-A298-F7CD-0F89091EC017}"/>
              </a:ext>
            </a:extLst>
          </p:cNvPr>
          <p:cNvSpPr txBox="1"/>
          <p:nvPr/>
        </p:nvSpPr>
        <p:spPr>
          <a:xfrm>
            <a:off x="10227686" y="40058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D180149-213B-D0B9-9DF8-6A36005DBFA5}"/>
                  </a:ext>
                </a:extLst>
              </p:cNvPr>
              <p:cNvSpPr txBox="1"/>
              <p:nvPr/>
            </p:nvSpPr>
            <p:spPr>
              <a:xfrm>
                <a:off x="7300267" y="5009599"/>
                <a:ext cx="6218806" cy="14228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4400" i="1" smtClean="0">
                              <a:latin typeface="Cambria Math" panose="02040503050406030204" pitchFamily="18" charset="0"/>
                            </a:rPr>
                          </m:ctrlPr>
                        </m:fPr>
                        <m:num>
                          <m:r>
                            <a:rPr lang="en-AU" sz="4400" b="0" i="1" smtClean="0">
                              <a:latin typeface="Cambria Math" panose="02040503050406030204" pitchFamily="18" charset="0"/>
                            </a:rPr>
                            <m:t>5</m:t>
                          </m:r>
                        </m:num>
                        <m:den>
                          <m:r>
                            <a:rPr lang="en-AU" sz="4400" b="0" i="1" smtClean="0">
                              <a:latin typeface="Cambria Math" panose="02040503050406030204" pitchFamily="18" charset="0"/>
                            </a:rPr>
                            <m:t>8</m:t>
                          </m:r>
                        </m:den>
                      </m:f>
                    </m:oMath>
                  </m:oMathPara>
                </a14:m>
                <a:endParaRPr lang="en-AU" sz="4400"/>
              </a:p>
            </p:txBody>
          </p:sp>
        </mc:Choice>
        <mc:Fallback xmlns="">
          <p:sp>
            <p:nvSpPr>
              <p:cNvPr id="13" name="TextBox 12">
                <a:extLst>
                  <a:ext uri="{FF2B5EF4-FFF2-40B4-BE49-F238E27FC236}">
                    <a16:creationId xmlns:a16="http://schemas.microsoft.com/office/drawing/2014/main" id="{DD180149-213B-D0B9-9DF8-6A36005DBFA5}"/>
                  </a:ext>
                </a:extLst>
              </p:cNvPr>
              <p:cNvSpPr txBox="1">
                <a:spLocks noRot="1" noChangeAspect="1" noMove="1" noResize="1" noEditPoints="1" noAdjustHandles="1" noChangeArrowheads="1" noChangeShapeType="1" noTextEdit="1"/>
              </p:cNvSpPr>
              <p:nvPr/>
            </p:nvSpPr>
            <p:spPr>
              <a:xfrm>
                <a:off x="7300267" y="5009599"/>
                <a:ext cx="6218806" cy="1422825"/>
              </a:xfrm>
              <a:prstGeom prst="rect">
                <a:avLst/>
              </a:prstGeom>
              <a:blipFill>
                <a:blip r:embed="rId7"/>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7" name="TextBox 6">
            <a:extLst>
              <a:ext uri="{FF2B5EF4-FFF2-40B4-BE49-F238E27FC236}">
                <a16:creationId xmlns:a16="http://schemas.microsoft.com/office/drawing/2014/main" id="{2BACF0FE-E91B-4705-4D33-C6B3E80262AC}"/>
              </a:ext>
            </a:extLst>
          </p:cNvPr>
          <p:cNvSpPr txBox="1"/>
          <p:nvPr/>
        </p:nvSpPr>
        <p:spPr>
          <a:xfrm>
            <a:off x="246024" y="1184223"/>
            <a:ext cx="7150509" cy="5166804"/>
          </a:xfrm>
          <a:prstGeom prst="rect">
            <a:avLst/>
          </a:prstGeom>
          <a:noFill/>
        </p:spPr>
        <p:txBody>
          <a:bodyPr wrap="square" lIns="0" tIns="0" rIns="0" bIns="0" rtlCol="0">
            <a:noAutofit/>
          </a:bodyPr>
          <a:lstStyle/>
          <a:p>
            <a:pPr algn="ctr">
              <a:lnSpc>
                <a:spcPct val="150000"/>
              </a:lnSpc>
            </a:pPr>
            <a:r>
              <a:rPr lang="en-AU" sz="4400"/>
              <a:t>Record the </a:t>
            </a:r>
            <a:r>
              <a:rPr lang="en-AU" sz="4400" b="1"/>
              <a:t>coordinates</a:t>
            </a:r>
            <a:r>
              <a:rPr lang="en-AU" sz="4400"/>
              <a:t> for the shape if it were </a:t>
            </a:r>
            <a:r>
              <a:rPr lang="en-AU" sz="4400" b="1"/>
              <a:t>reflected </a:t>
            </a:r>
            <a:r>
              <a:rPr lang="en-AU" sz="4400"/>
              <a:t>across the:</a:t>
            </a:r>
          </a:p>
          <a:p>
            <a:pPr marL="571500" indent="-571500" algn="ctr">
              <a:lnSpc>
                <a:spcPct val="150000"/>
              </a:lnSpc>
              <a:buFont typeface="Arial" panose="020B0604020202020204" pitchFamily="34" charset="0"/>
              <a:buChar char="•"/>
            </a:pPr>
            <a:r>
              <a:rPr lang="en-AU" sz="4400"/>
              <a:t>x-axis</a:t>
            </a:r>
          </a:p>
          <a:p>
            <a:pPr marL="571500" indent="-571500" algn="ctr">
              <a:lnSpc>
                <a:spcPct val="150000"/>
              </a:lnSpc>
              <a:buFont typeface="Arial" panose="020B0604020202020204" pitchFamily="34" charset="0"/>
              <a:buChar char="•"/>
            </a:pPr>
            <a:r>
              <a:rPr lang="en-AU" sz="4400"/>
              <a:t>y-axis.</a:t>
            </a:r>
          </a:p>
        </p:txBody>
      </p:sp>
      <p:pic>
        <p:nvPicPr>
          <p:cNvPr id="9" name="Picture 8" descr="A cartesian plane with a triangle with the coordinates: (-5, -2), (-2, -3) and (-5, -4).">
            <a:extLst>
              <a:ext uri="{FF2B5EF4-FFF2-40B4-BE49-F238E27FC236}">
                <a16:creationId xmlns:a16="http://schemas.microsoft.com/office/drawing/2014/main" id="{FF3CBB01-92CB-93B9-6F25-F5577DED30FC}"/>
              </a:ext>
            </a:extLst>
          </p:cNvPr>
          <p:cNvPicPr>
            <a:picLocks noChangeAspect="1"/>
          </p:cNvPicPr>
          <p:nvPr/>
        </p:nvPicPr>
        <p:blipFill>
          <a:blip r:embed="rId4"/>
          <a:stretch>
            <a:fillRect/>
          </a:stretch>
        </p:blipFill>
        <p:spPr>
          <a:xfrm>
            <a:off x="7657378" y="1572878"/>
            <a:ext cx="4288598" cy="42885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1435" y="362158"/>
            <a:ext cx="10452689"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4" name="TextBox 23">
            <a:extLst>
              <a:ext uri="{FF2B5EF4-FFF2-40B4-BE49-F238E27FC236}">
                <a16:creationId xmlns:a16="http://schemas.microsoft.com/office/drawing/2014/main" id="{123685A1-7DBB-8E6D-8955-79936FD1B257}"/>
              </a:ext>
            </a:extLst>
          </p:cNvPr>
          <p:cNvSpPr txBox="1"/>
          <p:nvPr/>
        </p:nvSpPr>
        <p:spPr>
          <a:xfrm>
            <a:off x="361435" y="1043710"/>
            <a:ext cx="11274065" cy="3694409"/>
          </a:xfrm>
          <a:prstGeom prst="rect">
            <a:avLst/>
          </a:prstGeom>
          <a:noFill/>
        </p:spPr>
        <p:txBody>
          <a:bodyPr wrap="square">
            <a:spAutoFit/>
          </a:bodyPr>
          <a:lstStyle/>
          <a:p>
            <a:pPr algn="ctr">
              <a:lnSpc>
                <a:spcPct val="150000"/>
              </a:lnSpc>
            </a:pPr>
            <a:r>
              <a:rPr lang="en-AU" sz="3200"/>
              <a:t>A pattern is made using </a:t>
            </a:r>
            <a:r>
              <a:rPr lang="en-AU" sz="3200" b="1"/>
              <a:t>pentagons.</a:t>
            </a:r>
          </a:p>
          <a:p>
            <a:pPr marL="457200" indent="-457200" algn="ctr">
              <a:lnSpc>
                <a:spcPct val="150000"/>
              </a:lnSpc>
              <a:buFont typeface="Arial" panose="020B0604020202020204" pitchFamily="34" charset="0"/>
              <a:buChar char="•"/>
            </a:pPr>
            <a:r>
              <a:rPr lang="en-AU" sz="3200"/>
              <a:t>Each term in the pattern adds </a:t>
            </a:r>
            <a:r>
              <a:rPr lang="en-AU" sz="3200" b="1"/>
              <a:t>one new pentagon</a:t>
            </a:r>
            <a:r>
              <a:rPr lang="en-AU" sz="3200"/>
              <a:t>.</a:t>
            </a:r>
          </a:p>
          <a:p>
            <a:pPr marL="457200" indent="-457200" algn="ctr">
              <a:lnSpc>
                <a:spcPct val="150000"/>
              </a:lnSpc>
              <a:buFont typeface="Arial" panose="020B0604020202020204" pitchFamily="34" charset="0"/>
              <a:buChar char="•"/>
            </a:pPr>
            <a:r>
              <a:rPr lang="en-AU" sz="3200"/>
              <a:t>The pentagons are </a:t>
            </a:r>
            <a:r>
              <a:rPr lang="en-AU" sz="3200" b="1"/>
              <a:t>not joined together</a:t>
            </a:r>
            <a:r>
              <a:rPr lang="en-AU" sz="3200"/>
              <a:t>.</a:t>
            </a:r>
          </a:p>
          <a:p>
            <a:pPr marL="457200" indent="-457200" algn="ctr">
              <a:lnSpc>
                <a:spcPct val="150000"/>
              </a:lnSpc>
              <a:buFont typeface="Arial" panose="020B0604020202020204" pitchFamily="34" charset="0"/>
              <a:buChar char="•"/>
            </a:pPr>
            <a:r>
              <a:rPr lang="en-AU" sz="3200"/>
              <a:t>Record the numbers that complete the table of values by following the </a:t>
            </a:r>
            <a:r>
              <a:rPr lang="en-AU" sz="3200" b="1"/>
              <a:t>pattern rule</a:t>
            </a:r>
            <a:r>
              <a:rPr lang="en-AU" sz="3200"/>
              <a:t>.</a:t>
            </a:r>
          </a:p>
        </p:txBody>
      </p:sp>
      <p:graphicFrame>
        <p:nvGraphicFramePr>
          <p:cNvPr id="7" name="Table 6">
            <a:extLst>
              <a:ext uri="{FF2B5EF4-FFF2-40B4-BE49-F238E27FC236}">
                <a16:creationId xmlns:a16="http://schemas.microsoft.com/office/drawing/2014/main" id="{4D318F9B-3B3B-CFF5-1243-740C0F651ACB}"/>
              </a:ext>
            </a:extLst>
          </p:cNvPr>
          <p:cNvGraphicFramePr>
            <a:graphicFrameLocks noGrp="1"/>
          </p:cNvGraphicFramePr>
          <p:nvPr>
            <p:extLst>
              <p:ext uri="{D42A27DB-BD31-4B8C-83A1-F6EECF244321}">
                <p14:modId xmlns:p14="http://schemas.microsoft.com/office/powerpoint/2010/main" val="369583702"/>
              </p:ext>
            </p:extLst>
          </p:nvPr>
        </p:nvGraphicFramePr>
        <p:xfrm>
          <a:off x="347996" y="5014583"/>
          <a:ext cx="11496004" cy="1280160"/>
        </p:xfrm>
        <a:graphic>
          <a:graphicData uri="http://schemas.openxmlformats.org/drawingml/2006/table">
            <a:tbl>
              <a:tblPr firstRow="1" bandRow="1">
                <a:tableStyleId>{5A111915-BE36-4E01-A7E5-04B1672EAD32}</a:tableStyleId>
              </a:tblPr>
              <a:tblGrid>
                <a:gridCol w="1489678">
                  <a:extLst>
                    <a:ext uri="{9D8B030D-6E8A-4147-A177-3AD203B41FA5}">
                      <a16:colId xmlns:a16="http://schemas.microsoft.com/office/drawing/2014/main" val="1236809086"/>
                    </a:ext>
                  </a:extLst>
                </a:gridCol>
                <a:gridCol w="909666">
                  <a:extLst>
                    <a:ext uri="{9D8B030D-6E8A-4147-A177-3AD203B41FA5}">
                      <a16:colId xmlns:a16="http://schemas.microsoft.com/office/drawing/2014/main" val="1927212829"/>
                    </a:ext>
                  </a:extLst>
                </a:gridCol>
                <a:gridCol w="909666">
                  <a:extLst>
                    <a:ext uri="{9D8B030D-6E8A-4147-A177-3AD203B41FA5}">
                      <a16:colId xmlns:a16="http://schemas.microsoft.com/office/drawing/2014/main" val="2074268069"/>
                    </a:ext>
                  </a:extLst>
                </a:gridCol>
                <a:gridCol w="909666">
                  <a:extLst>
                    <a:ext uri="{9D8B030D-6E8A-4147-A177-3AD203B41FA5}">
                      <a16:colId xmlns:a16="http://schemas.microsoft.com/office/drawing/2014/main" val="2424164643"/>
                    </a:ext>
                  </a:extLst>
                </a:gridCol>
                <a:gridCol w="909666">
                  <a:extLst>
                    <a:ext uri="{9D8B030D-6E8A-4147-A177-3AD203B41FA5}">
                      <a16:colId xmlns:a16="http://schemas.microsoft.com/office/drawing/2014/main" val="3196664997"/>
                    </a:ext>
                  </a:extLst>
                </a:gridCol>
                <a:gridCol w="909666">
                  <a:extLst>
                    <a:ext uri="{9D8B030D-6E8A-4147-A177-3AD203B41FA5}">
                      <a16:colId xmlns:a16="http://schemas.microsoft.com/office/drawing/2014/main" val="3052223537"/>
                    </a:ext>
                  </a:extLst>
                </a:gridCol>
                <a:gridCol w="909666">
                  <a:extLst>
                    <a:ext uri="{9D8B030D-6E8A-4147-A177-3AD203B41FA5}">
                      <a16:colId xmlns:a16="http://schemas.microsoft.com/office/drawing/2014/main" val="27718988"/>
                    </a:ext>
                  </a:extLst>
                </a:gridCol>
                <a:gridCol w="909666">
                  <a:extLst>
                    <a:ext uri="{9D8B030D-6E8A-4147-A177-3AD203B41FA5}">
                      <a16:colId xmlns:a16="http://schemas.microsoft.com/office/drawing/2014/main" val="2052768235"/>
                    </a:ext>
                  </a:extLst>
                </a:gridCol>
                <a:gridCol w="909666">
                  <a:extLst>
                    <a:ext uri="{9D8B030D-6E8A-4147-A177-3AD203B41FA5}">
                      <a16:colId xmlns:a16="http://schemas.microsoft.com/office/drawing/2014/main" val="2084810216"/>
                    </a:ext>
                  </a:extLst>
                </a:gridCol>
                <a:gridCol w="909666">
                  <a:extLst>
                    <a:ext uri="{9D8B030D-6E8A-4147-A177-3AD203B41FA5}">
                      <a16:colId xmlns:a16="http://schemas.microsoft.com/office/drawing/2014/main" val="2838848074"/>
                    </a:ext>
                  </a:extLst>
                </a:gridCol>
                <a:gridCol w="909666">
                  <a:extLst>
                    <a:ext uri="{9D8B030D-6E8A-4147-A177-3AD203B41FA5}">
                      <a16:colId xmlns:a16="http://schemas.microsoft.com/office/drawing/2014/main" val="3879605270"/>
                    </a:ext>
                  </a:extLst>
                </a:gridCol>
                <a:gridCol w="909666">
                  <a:extLst>
                    <a:ext uri="{9D8B030D-6E8A-4147-A177-3AD203B41FA5}">
                      <a16:colId xmlns:a16="http://schemas.microsoft.com/office/drawing/2014/main" val="4137616475"/>
                    </a:ext>
                  </a:extLst>
                </a:gridCol>
              </a:tblGrid>
              <a:tr h="370840">
                <a:tc>
                  <a:txBody>
                    <a:bodyPr/>
                    <a:lstStyle/>
                    <a:p>
                      <a:r>
                        <a:rPr lang="en-AU" b="0">
                          <a:solidFill>
                            <a:schemeClr val="bg1"/>
                          </a:solidFill>
                        </a:rPr>
                        <a:t>Number of shapes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AU" b="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b="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b="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b="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b="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AU" b="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b="0">
                          <a:solidFill>
                            <a:schemeClr val="tx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b="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b="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b="0">
                          <a:solidFill>
                            <a:schemeClr val="tx1"/>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93733"/>
                  </a:ext>
                </a:extLst>
              </a:tr>
              <a:tr h="370840">
                <a:tc>
                  <a:txBody>
                    <a:bodyPr/>
                    <a:lstStyle/>
                    <a:p>
                      <a:r>
                        <a:rPr lang="en-AU">
                          <a:solidFill>
                            <a:schemeClr val="bg1"/>
                          </a:solidFill>
                        </a:rPr>
                        <a:t>Number of sides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AU" b="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b="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b="0">
                          <a:solidFill>
                            <a:schemeClr val="tx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b="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b="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6698130"/>
                  </a:ext>
                </a:extLst>
              </a:tr>
            </a:tbl>
          </a:graphicData>
        </a:graphic>
      </p:graphicFrame>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8" name="TextBox 7">
            <a:extLst>
              <a:ext uri="{FF2B5EF4-FFF2-40B4-BE49-F238E27FC236}">
                <a16:creationId xmlns:a16="http://schemas.microsoft.com/office/drawing/2014/main" id="{902584A3-0AAF-2F3A-9693-492BA98BAF8F}"/>
              </a:ext>
            </a:extLst>
          </p:cNvPr>
          <p:cNvSpPr txBox="1"/>
          <p:nvPr/>
        </p:nvSpPr>
        <p:spPr>
          <a:xfrm>
            <a:off x="773725" y="1389963"/>
            <a:ext cx="10256751" cy="3701988"/>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4400"/>
              <a:t>A toy weighs </a:t>
            </a:r>
            <a:r>
              <a:rPr lang="en-AU" sz="4400">
                <a:solidFill>
                  <a:schemeClr val="accent2"/>
                </a:solidFill>
              </a:rPr>
              <a:t>0.425 kg</a:t>
            </a:r>
            <a:r>
              <a:rPr lang="en-AU" sz="4400"/>
              <a:t>.</a:t>
            </a:r>
          </a:p>
          <a:p>
            <a:pPr algn="ctr">
              <a:lnSpc>
                <a:spcPct val="150000"/>
              </a:lnSpc>
              <a:spcBef>
                <a:spcPts val="600"/>
              </a:spcBef>
              <a:spcAft>
                <a:spcPts val="1200"/>
              </a:spcAft>
            </a:pPr>
            <a:r>
              <a:rPr lang="en-AU" sz="4400"/>
              <a:t>Record this mass in grams.</a:t>
            </a:r>
          </a:p>
          <a:p>
            <a:pPr algn="ctr">
              <a:lnSpc>
                <a:spcPct val="150000"/>
              </a:lnSpc>
              <a:spcBef>
                <a:spcPts val="600"/>
              </a:spcBef>
              <a:spcAft>
                <a:spcPts val="1200"/>
              </a:spcAft>
            </a:pPr>
            <a:r>
              <a:rPr lang="en-AU" sz="4400" b="1"/>
              <a:t>Communicate</a:t>
            </a:r>
            <a:r>
              <a:rPr lang="en-AU" sz="4400"/>
              <a:t> your </a:t>
            </a:r>
            <a:r>
              <a:rPr lang="en-AU" sz="4400" b="1"/>
              <a:t>reasoning</a:t>
            </a:r>
            <a:r>
              <a:rPr lang="en-AU" sz="4400"/>
              <a:t>.</a:t>
            </a:r>
            <a:endParaRPr lang="en-AU" sz="3600"/>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5" name="TextBox 4">
            <a:extLst>
              <a:ext uri="{FF2B5EF4-FFF2-40B4-BE49-F238E27FC236}">
                <a16:creationId xmlns:a16="http://schemas.microsoft.com/office/drawing/2014/main" id="{4D9D14BA-A510-5CB0-AE83-144C61AEB307}"/>
              </a:ext>
            </a:extLst>
          </p:cNvPr>
          <p:cNvSpPr txBox="1"/>
          <p:nvPr/>
        </p:nvSpPr>
        <p:spPr>
          <a:xfrm>
            <a:off x="510920" y="995659"/>
            <a:ext cx="10764000" cy="1651671"/>
          </a:xfrm>
          <a:prstGeom prst="rect">
            <a:avLst/>
          </a:prstGeom>
          <a:noFill/>
        </p:spPr>
        <p:txBody>
          <a:bodyPr wrap="square">
            <a:spAutoFit/>
          </a:bodyPr>
          <a:lstStyle/>
          <a:p>
            <a:pPr algn="ctr">
              <a:lnSpc>
                <a:spcPct val="150000"/>
              </a:lnSpc>
            </a:pPr>
            <a:r>
              <a:rPr lang="en-AU" sz="3600"/>
              <a:t>A shop sells different fruits. The masses of the fruits are recorded in </a:t>
            </a:r>
            <a:r>
              <a:rPr lang="en-AU" sz="3600" b="1"/>
              <a:t>kilograms</a:t>
            </a:r>
            <a:r>
              <a:rPr lang="en-AU" sz="3600"/>
              <a:t> using decimal notation.</a:t>
            </a:r>
          </a:p>
        </p:txBody>
      </p:sp>
      <p:graphicFrame>
        <p:nvGraphicFramePr>
          <p:cNvPr id="7" name="Table 6">
            <a:extLst>
              <a:ext uri="{FF2B5EF4-FFF2-40B4-BE49-F238E27FC236}">
                <a16:creationId xmlns:a16="http://schemas.microsoft.com/office/drawing/2014/main" id="{DC0B984B-3CD7-2399-4EC4-2B2502B21277}"/>
              </a:ext>
            </a:extLst>
          </p:cNvPr>
          <p:cNvGraphicFramePr>
            <a:graphicFrameLocks noGrp="1"/>
          </p:cNvGraphicFramePr>
          <p:nvPr>
            <p:extLst>
              <p:ext uri="{D42A27DB-BD31-4B8C-83A1-F6EECF244321}">
                <p14:modId xmlns:p14="http://schemas.microsoft.com/office/powerpoint/2010/main" val="835208327"/>
              </p:ext>
            </p:extLst>
          </p:nvPr>
        </p:nvGraphicFramePr>
        <p:xfrm>
          <a:off x="2032000" y="2783829"/>
          <a:ext cx="8128000" cy="2286000"/>
        </p:xfrm>
        <a:graphic>
          <a:graphicData uri="http://schemas.openxmlformats.org/drawingml/2006/table">
            <a:tbl>
              <a:tblPr firstRow="1" bandRow="1">
                <a:tableStyleId>{69012ECD-51FC-41F1-AA8D-1B2483CD663E}</a:tableStyleId>
              </a:tblPr>
              <a:tblGrid>
                <a:gridCol w="4064000">
                  <a:extLst>
                    <a:ext uri="{9D8B030D-6E8A-4147-A177-3AD203B41FA5}">
                      <a16:colId xmlns:a16="http://schemas.microsoft.com/office/drawing/2014/main" val="3451668695"/>
                    </a:ext>
                  </a:extLst>
                </a:gridCol>
                <a:gridCol w="4064000">
                  <a:extLst>
                    <a:ext uri="{9D8B030D-6E8A-4147-A177-3AD203B41FA5}">
                      <a16:colId xmlns:a16="http://schemas.microsoft.com/office/drawing/2014/main" val="2857622658"/>
                    </a:ext>
                  </a:extLst>
                </a:gridCol>
              </a:tblGrid>
              <a:tr h="370840">
                <a:tc>
                  <a:txBody>
                    <a:bodyPr/>
                    <a:lstStyle/>
                    <a:p>
                      <a:pPr algn="ctr"/>
                      <a:r>
                        <a:rPr lang="en-AU" sz="2400"/>
                        <a:t>Fruit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a:t>Mass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4583895"/>
                  </a:ext>
                </a:extLst>
              </a:tr>
              <a:tr h="370840">
                <a:tc>
                  <a:txBody>
                    <a:bodyPr/>
                    <a:lstStyle/>
                    <a:p>
                      <a:pPr algn="ctr"/>
                      <a:r>
                        <a:rPr lang="en-AU" sz="2400"/>
                        <a:t>Apples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a:t>1.75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156254"/>
                  </a:ext>
                </a:extLst>
              </a:tr>
              <a:tr h="370840">
                <a:tc>
                  <a:txBody>
                    <a:bodyPr/>
                    <a:lstStyle/>
                    <a:p>
                      <a:pPr algn="ctr"/>
                      <a:r>
                        <a:rPr lang="en-AU" sz="2400"/>
                        <a:t>Bananas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a:t>2.08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753081"/>
                  </a:ext>
                </a:extLst>
              </a:tr>
              <a:tr h="370840">
                <a:tc>
                  <a:txBody>
                    <a:bodyPr/>
                    <a:lstStyle/>
                    <a:p>
                      <a:pPr algn="ctr"/>
                      <a:r>
                        <a:rPr lang="en-AU" sz="2400"/>
                        <a:t>Cherries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a:t>0.875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2810401"/>
                  </a:ext>
                </a:extLst>
              </a:tr>
              <a:tr h="370840">
                <a:tc>
                  <a:txBody>
                    <a:bodyPr/>
                    <a:lstStyle/>
                    <a:p>
                      <a:pPr algn="ctr"/>
                      <a:r>
                        <a:rPr lang="en-AU" sz="2400"/>
                        <a:t>Mangoes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a:t>3.25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7951776"/>
                  </a:ext>
                </a:extLst>
              </a:tr>
            </a:tbl>
          </a:graphicData>
        </a:graphic>
      </p:graphicFrame>
      <p:sp>
        <p:nvSpPr>
          <p:cNvPr id="9" name="TextBox 8">
            <a:extLst>
              <a:ext uri="{FF2B5EF4-FFF2-40B4-BE49-F238E27FC236}">
                <a16:creationId xmlns:a16="http://schemas.microsoft.com/office/drawing/2014/main" id="{CB8C1EFC-49C5-FE9C-D766-D3624AB7A51A}"/>
              </a:ext>
            </a:extLst>
          </p:cNvPr>
          <p:cNvSpPr txBox="1"/>
          <p:nvPr/>
        </p:nvSpPr>
        <p:spPr>
          <a:xfrm>
            <a:off x="659446" y="5318089"/>
            <a:ext cx="10615474" cy="820674"/>
          </a:xfrm>
          <a:prstGeom prst="rect">
            <a:avLst/>
          </a:prstGeom>
          <a:noFill/>
        </p:spPr>
        <p:txBody>
          <a:bodyPr wrap="square">
            <a:spAutoFit/>
          </a:bodyPr>
          <a:lstStyle/>
          <a:p>
            <a:pPr algn="ctr">
              <a:lnSpc>
                <a:spcPct val="150000"/>
              </a:lnSpc>
            </a:pPr>
            <a:r>
              <a:rPr lang="en-AU" sz="3600"/>
              <a:t>What is the total mass of </a:t>
            </a:r>
            <a:r>
              <a:rPr lang="en-AU" sz="3600" b="1"/>
              <a:t>apples and mangoes</a:t>
            </a:r>
            <a:r>
              <a:rPr lang="en-AU" sz="3600"/>
              <a:t>?</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5 – equivalent fractions 1</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CFD88FB-A620-2537-585D-0BEF799F1A16}"/>
                  </a:ext>
                </a:extLst>
              </p:cNvPr>
              <p:cNvSpPr txBox="1"/>
              <p:nvPr/>
            </p:nvSpPr>
            <p:spPr>
              <a:xfrm>
                <a:off x="466532" y="1097258"/>
                <a:ext cx="11118827" cy="4083728"/>
              </a:xfrm>
              <a:prstGeom prst="rect">
                <a:avLst/>
              </a:prstGeom>
              <a:noFill/>
            </p:spPr>
            <p:txBody>
              <a:bodyPr wrap="square" lIns="0" tIns="0" rIns="0" bIns="0" rtlCol="0">
                <a:noAutofit/>
              </a:bodyPr>
              <a:lstStyle/>
              <a:p>
                <a:pPr algn="ctr">
                  <a:lnSpc>
                    <a:spcPct val="150000"/>
                  </a:lnSpc>
                </a:pPr>
                <a:r>
                  <a:rPr lang="en-AU" sz="4400"/>
                  <a:t>David put these fractions:</a:t>
                </a:r>
              </a:p>
              <a:p>
                <a:pPr algn="ctr">
                  <a:lnSpc>
                    <a:spcPct val="150000"/>
                  </a:lnSpc>
                </a:pPr>
                <a14:m>
                  <m:oMath xmlns:m="http://schemas.openxmlformats.org/officeDocument/2006/math">
                    <m:f>
                      <m:fPr>
                        <m:ctrlPr>
                          <a:rPr lang="en-AU" sz="4400" i="1">
                            <a:solidFill>
                              <a:schemeClr val="accent2"/>
                            </a:solidFill>
                            <a:latin typeface="Cambria Math" panose="02040503050406030204" pitchFamily="18" charset="0"/>
                          </a:rPr>
                        </m:ctrlPr>
                      </m:fPr>
                      <m:num>
                        <m:r>
                          <a:rPr lang="en-AU" sz="4400" i="1">
                            <a:solidFill>
                              <a:schemeClr val="accent2"/>
                            </a:solidFill>
                            <a:latin typeface="Cambria Math" panose="02040503050406030204" pitchFamily="18" charset="0"/>
                          </a:rPr>
                          <m:t>2</m:t>
                        </m:r>
                      </m:num>
                      <m:den>
                        <m:r>
                          <a:rPr lang="en-AU" sz="4400" i="1">
                            <a:solidFill>
                              <a:schemeClr val="accent2"/>
                            </a:solidFill>
                            <a:latin typeface="Cambria Math" panose="02040503050406030204" pitchFamily="18" charset="0"/>
                          </a:rPr>
                          <m:t>5</m:t>
                        </m:r>
                      </m:den>
                    </m:f>
                  </m:oMath>
                </a14:m>
                <a:r>
                  <a:rPr lang="en-AU" sz="4400"/>
                  <a:t>, </a:t>
                </a:r>
                <a14:m>
                  <m:oMath xmlns:m="http://schemas.openxmlformats.org/officeDocument/2006/math">
                    <m:f>
                      <m:fPr>
                        <m:ctrlPr>
                          <a:rPr lang="en-AU" sz="4400" i="1">
                            <a:solidFill>
                              <a:schemeClr val="accent2"/>
                            </a:solidFill>
                            <a:latin typeface="Cambria Math" panose="02040503050406030204" pitchFamily="18" charset="0"/>
                          </a:rPr>
                        </m:ctrlPr>
                      </m:fPr>
                      <m:num>
                        <m:r>
                          <a:rPr lang="en-AU" sz="4400" i="1">
                            <a:solidFill>
                              <a:schemeClr val="accent2"/>
                            </a:solidFill>
                            <a:latin typeface="Cambria Math" panose="02040503050406030204" pitchFamily="18" charset="0"/>
                          </a:rPr>
                          <m:t>3</m:t>
                        </m:r>
                      </m:num>
                      <m:den>
                        <m:r>
                          <a:rPr lang="en-AU" sz="4400" i="1">
                            <a:solidFill>
                              <a:schemeClr val="accent2"/>
                            </a:solidFill>
                            <a:latin typeface="Cambria Math" panose="02040503050406030204" pitchFamily="18" charset="0"/>
                          </a:rPr>
                          <m:t>4</m:t>
                        </m:r>
                      </m:den>
                    </m:f>
                  </m:oMath>
                </a14:m>
                <a:r>
                  <a:rPr lang="en-AU" sz="4400"/>
                  <a:t>, </a:t>
                </a:r>
                <a14:m>
                  <m:oMath xmlns:m="http://schemas.openxmlformats.org/officeDocument/2006/math">
                    <m:f>
                      <m:fPr>
                        <m:ctrlPr>
                          <a:rPr lang="en-AU" sz="4400" i="1">
                            <a:solidFill>
                              <a:schemeClr val="accent2"/>
                            </a:solidFill>
                            <a:latin typeface="Cambria Math" panose="02040503050406030204" pitchFamily="18" charset="0"/>
                          </a:rPr>
                        </m:ctrlPr>
                      </m:fPr>
                      <m:num>
                        <m:r>
                          <a:rPr lang="en-AU" sz="4400" i="1">
                            <a:solidFill>
                              <a:schemeClr val="accent2"/>
                            </a:solidFill>
                            <a:latin typeface="Cambria Math" panose="02040503050406030204" pitchFamily="18" charset="0"/>
                          </a:rPr>
                          <m:t>6</m:t>
                        </m:r>
                      </m:num>
                      <m:den>
                        <m:r>
                          <a:rPr lang="en-AU" sz="4400" i="1">
                            <a:solidFill>
                              <a:schemeClr val="accent2"/>
                            </a:solidFill>
                            <a:latin typeface="Cambria Math" panose="02040503050406030204" pitchFamily="18" charset="0"/>
                          </a:rPr>
                          <m:t>10</m:t>
                        </m:r>
                      </m:den>
                    </m:f>
                  </m:oMath>
                </a14:m>
                <a:r>
                  <a:rPr lang="en-AU" sz="4400"/>
                  <a:t>, </a:t>
                </a:r>
                <a14:m>
                  <m:oMath xmlns:m="http://schemas.openxmlformats.org/officeDocument/2006/math">
                    <m:f>
                      <m:fPr>
                        <m:ctrlPr>
                          <a:rPr lang="en-AU" sz="4400" i="1">
                            <a:solidFill>
                              <a:schemeClr val="accent2"/>
                            </a:solidFill>
                            <a:latin typeface="Cambria Math" panose="02040503050406030204" pitchFamily="18" charset="0"/>
                          </a:rPr>
                        </m:ctrlPr>
                      </m:fPr>
                      <m:num>
                        <m:r>
                          <a:rPr lang="en-AU" sz="4400" i="1">
                            <a:solidFill>
                              <a:schemeClr val="accent2"/>
                            </a:solidFill>
                            <a:latin typeface="Cambria Math" panose="02040503050406030204" pitchFamily="18" charset="0"/>
                          </a:rPr>
                          <m:t>1</m:t>
                        </m:r>
                      </m:num>
                      <m:den>
                        <m:r>
                          <a:rPr lang="en-AU" sz="4400" i="1">
                            <a:solidFill>
                              <a:schemeClr val="accent2"/>
                            </a:solidFill>
                            <a:latin typeface="Cambria Math" panose="02040503050406030204" pitchFamily="18" charset="0"/>
                          </a:rPr>
                          <m:t>2</m:t>
                        </m:r>
                      </m:den>
                    </m:f>
                  </m:oMath>
                </a14:m>
                <a:r>
                  <a:rPr lang="en-AU" sz="4400"/>
                  <a:t> and </a:t>
                </a:r>
                <a14:m>
                  <m:oMath xmlns:m="http://schemas.openxmlformats.org/officeDocument/2006/math">
                    <m:f>
                      <m:fPr>
                        <m:ctrlPr>
                          <a:rPr lang="en-AU" sz="4400" i="1">
                            <a:solidFill>
                              <a:schemeClr val="accent2"/>
                            </a:solidFill>
                            <a:latin typeface="Cambria Math" panose="02040503050406030204" pitchFamily="18" charset="0"/>
                          </a:rPr>
                        </m:ctrlPr>
                      </m:fPr>
                      <m:num>
                        <m:r>
                          <a:rPr lang="en-AU" sz="4400" i="1">
                            <a:solidFill>
                              <a:schemeClr val="accent2"/>
                            </a:solidFill>
                            <a:latin typeface="Cambria Math" panose="02040503050406030204" pitchFamily="18" charset="0"/>
                          </a:rPr>
                          <m:t>1</m:t>
                        </m:r>
                      </m:num>
                      <m:den>
                        <m:r>
                          <a:rPr lang="en-AU" sz="4400" i="1">
                            <a:solidFill>
                              <a:schemeClr val="accent2"/>
                            </a:solidFill>
                            <a:latin typeface="Cambria Math" panose="02040503050406030204" pitchFamily="18" charset="0"/>
                          </a:rPr>
                          <m:t>10</m:t>
                        </m:r>
                      </m:den>
                    </m:f>
                  </m:oMath>
                </a14:m>
                <a:endParaRPr lang="en-AU" sz="4400"/>
              </a:p>
              <a:p>
                <a:pPr algn="ctr">
                  <a:lnSpc>
                    <a:spcPct val="150000"/>
                  </a:lnSpc>
                </a:pPr>
                <a:r>
                  <a:rPr lang="en-AU" sz="4400"/>
                  <a:t>into </a:t>
                </a:r>
                <a:r>
                  <a:rPr lang="en-AU" sz="4400" b="1"/>
                  <a:t>2 groups</a:t>
                </a:r>
                <a:r>
                  <a:rPr lang="en-AU" sz="4400"/>
                  <a:t>. What might the 2 groups be?</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a:t>
                </a:r>
                <a:endParaRPr lang="en-AU" sz="3600"/>
              </a:p>
            </p:txBody>
          </p:sp>
        </mc:Choice>
        <mc:Fallback xmlns="">
          <p:sp>
            <p:nvSpPr>
              <p:cNvPr id="3" name="TextBox 2">
                <a:extLst>
                  <a:ext uri="{FF2B5EF4-FFF2-40B4-BE49-F238E27FC236}">
                    <a16:creationId xmlns:a16="http://schemas.microsoft.com/office/drawing/2014/main" id="{1CFD88FB-A620-2537-585D-0BEF799F1A16}"/>
                  </a:ext>
                </a:extLst>
              </p:cNvPr>
              <p:cNvSpPr txBox="1">
                <a:spLocks noRot="1" noChangeAspect="1" noMove="1" noResize="1" noEditPoints="1" noAdjustHandles="1" noChangeArrowheads="1" noChangeShapeType="1" noTextEdit="1"/>
              </p:cNvSpPr>
              <p:nvPr/>
            </p:nvSpPr>
            <p:spPr>
              <a:xfrm>
                <a:off x="466532" y="1097258"/>
                <a:ext cx="11118827" cy="4083728"/>
              </a:xfrm>
              <a:prstGeom prst="rect">
                <a:avLst/>
              </a:prstGeom>
              <a:blipFill>
                <a:blip r:embed="rId4"/>
                <a:stretch>
                  <a:fillRect l="-2139" r="-2139" b="-38507"/>
                </a:stretch>
              </a:blipFill>
            </p:spPr>
            <p:txBody>
              <a:bodyPr/>
              <a:lstStyle/>
              <a:p>
                <a:r>
                  <a:rPr lang="en-US">
                    <a:noFill/>
                  </a:rPr>
                  <a:t> </a:t>
                </a:r>
              </a:p>
            </p:txBody>
          </p:sp>
        </mc:Fallback>
      </mc:AlternateContent>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1" y="1222298"/>
                <a:ext cx="11243037" cy="893226"/>
              </a:xfrm>
            </p:spPr>
            <p:txBody>
              <a:bodyPr/>
              <a:lstStyle/>
              <a:p>
                <a:pPr algn="ctr"/>
                <a:r>
                  <a:rPr lang="en-AU" sz="4400"/>
                  <a:t>On a </a:t>
                </a:r>
                <a:r>
                  <a:rPr lang="en-AU" sz="4400" b="1"/>
                  <a:t>number line</a:t>
                </a:r>
                <a:r>
                  <a:rPr lang="en-AU" sz="4400"/>
                  <a:t> </a:t>
                </a:r>
                <a14:m>
                  <m:oMath xmlns:m="http://schemas.openxmlformats.org/officeDocument/2006/math">
                    <m:f>
                      <m:fPr>
                        <m:ctrlPr>
                          <a:rPr lang="en-AU" sz="4400" b="0" i="1" smtClean="0">
                            <a:solidFill>
                              <a:schemeClr val="accent2"/>
                            </a:solidFill>
                            <a:latin typeface="Cambria Math" panose="02040503050406030204" pitchFamily="18" charset="0"/>
                          </a:rPr>
                        </m:ctrlPr>
                      </m:fPr>
                      <m:num>
                        <m:r>
                          <a:rPr lang="en-AU" sz="4400" b="0" i="1" smtClean="0">
                            <a:solidFill>
                              <a:schemeClr val="accent2"/>
                            </a:solidFill>
                            <a:latin typeface="Cambria Math" panose="02040503050406030204" pitchFamily="18" charset="0"/>
                          </a:rPr>
                          <m:t>1</m:t>
                        </m:r>
                      </m:num>
                      <m:den>
                        <m:r>
                          <a:rPr lang="en-AU" sz="4400" b="0" i="1" smtClean="0">
                            <a:solidFill>
                              <a:schemeClr val="accent2"/>
                            </a:solidFill>
                            <a:latin typeface="Cambria Math" panose="02040503050406030204" pitchFamily="18" charset="0"/>
                          </a:rPr>
                          <m:t>3</m:t>
                        </m:r>
                      </m:den>
                    </m:f>
                  </m:oMath>
                </a14:m>
                <a:r>
                  <a:rPr lang="en-AU" sz="4400">
                    <a:solidFill>
                      <a:schemeClr val="accent2"/>
                    </a:solidFill>
                  </a:rPr>
                  <a:t> </a:t>
                </a:r>
                <a:r>
                  <a:rPr lang="en-AU" sz="4400"/>
                  <a:t>and </a:t>
                </a:r>
                <a14:m>
                  <m:oMath xmlns:m="http://schemas.openxmlformats.org/officeDocument/2006/math">
                    <m:f>
                      <m:fPr>
                        <m:ctrlPr>
                          <a:rPr lang="en-AU" sz="4400" b="0" i="1" smtClean="0">
                            <a:solidFill>
                              <a:schemeClr val="accent2"/>
                            </a:solidFill>
                            <a:latin typeface="Cambria Math" panose="02040503050406030204" pitchFamily="18" charset="0"/>
                          </a:rPr>
                        </m:ctrlPr>
                      </m:fPr>
                      <m:num>
                        <m:r>
                          <a:rPr lang="en-AU" sz="4400" b="0" i="1" smtClean="0">
                            <a:solidFill>
                              <a:schemeClr val="accent2"/>
                            </a:solidFill>
                            <a:latin typeface="Cambria Math" panose="02040503050406030204" pitchFamily="18" charset="0"/>
                          </a:rPr>
                          <m:t>2</m:t>
                        </m:r>
                      </m:num>
                      <m:den>
                        <m:r>
                          <a:rPr lang="en-AU" sz="4400" b="0" i="1" smtClean="0">
                            <a:solidFill>
                              <a:schemeClr val="accent2"/>
                            </a:solidFill>
                            <a:latin typeface="Cambria Math" panose="02040503050406030204" pitchFamily="18" charset="0"/>
                          </a:rPr>
                          <m:t>6</m:t>
                        </m:r>
                      </m:den>
                    </m:f>
                  </m:oMath>
                </a14:m>
                <a:r>
                  <a:rPr lang="en-AU" sz="4400">
                    <a:solidFill>
                      <a:schemeClr val="accent2"/>
                    </a:solidFill>
                  </a:rPr>
                  <a:t> </a:t>
                </a:r>
                <a:r>
                  <a:rPr lang="en-AU" sz="4400"/>
                  <a:t>will be represented at the same point.</a:t>
                </a:r>
              </a:p>
            </p:txBody>
          </p:sp>
        </mc:Choice>
        <mc:Fallback xmlns="">
          <p:sp>
            <p:nvSpPr>
              <p:cNvPr id="6" name="Text Placeholder 5">
                <a:extLst>
                  <a:ext uri="{FF2B5EF4-FFF2-40B4-BE49-F238E27FC236}">
                    <a16:creationId xmlns:a16="http://schemas.microsoft.com/office/drawing/2014/main" id="{B4E45FD3-3CB9-7929-21B5-6CF9A37684C0}"/>
                  </a:ext>
                </a:extLst>
              </p:cNvPr>
              <p:cNvSpPr>
                <a:spLocks noGrp="1" noRot="1" noChangeAspect="1" noMove="1" noResize="1" noEditPoints="1" noAdjustHandles="1" noChangeArrowheads="1" noChangeShapeType="1" noTextEdit="1"/>
              </p:cNvSpPr>
              <p:nvPr>
                <p:ph type="body" sz="quarter" idx="22"/>
              </p:nvPr>
            </p:nvSpPr>
            <p:spPr>
              <a:xfrm>
                <a:off x="360001" y="1222298"/>
                <a:ext cx="11243037" cy="893226"/>
              </a:xfrm>
              <a:blipFill>
                <a:blip r:embed="rId3"/>
                <a:stretch>
                  <a:fillRect b="-196575"/>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2275866338"/>
              </p:ext>
            </p:extLst>
          </p:nvPr>
        </p:nvGraphicFramePr>
        <p:xfrm>
          <a:off x="2442981" y="445976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7" name="TextBox 6">
            <a:extLst>
              <a:ext uri="{FF2B5EF4-FFF2-40B4-BE49-F238E27FC236}">
                <a16:creationId xmlns:a16="http://schemas.microsoft.com/office/drawing/2014/main" id="{532FA0FF-27F5-9D6A-1429-637D8D6E8C02}"/>
              </a:ext>
            </a:extLst>
          </p:cNvPr>
          <p:cNvSpPr txBox="1"/>
          <p:nvPr/>
        </p:nvSpPr>
        <p:spPr>
          <a:xfrm>
            <a:off x="1574800" y="5635702"/>
            <a:ext cx="9233107" cy="982513"/>
          </a:xfrm>
          <a:prstGeom prst="rect">
            <a:avLst/>
          </a:prstGeom>
          <a:noFill/>
        </p:spPr>
        <p:txBody>
          <a:bodyPr wrap="square">
            <a:spAutoFit/>
          </a:bodyPr>
          <a:lstStyle/>
          <a:p>
            <a:pPr algn="ctr">
              <a:lnSpc>
                <a:spcPct val="150000"/>
              </a:lnSpc>
            </a:pPr>
            <a:r>
              <a:rPr lang="en-AU" sz="4400" b="1"/>
              <a:t>Communicate</a:t>
            </a:r>
            <a:r>
              <a:rPr lang="en-AU" sz="4400"/>
              <a:t> your </a:t>
            </a:r>
            <a:r>
              <a:rPr lang="en-AU" sz="4400" b="1"/>
              <a:t>reasoning</a:t>
            </a:r>
            <a:r>
              <a:rPr lang="en-AU" sz="4400"/>
              <a:t>.</a:t>
            </a:r>
            <a:endParaRPr lang="en-AU" sz="3600"/>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4" name="TextBox 3">
            <a:extLst>
              <a:ext uri="{FF2B5EF4-FFF2-40B4-BE49-F238E27FC236}">
                <a16:creationId xmlns:a16="http://schemas.microsoft.com/office/drawing/2014/main" id="{A10FEFD0-91C6-C147-BB14-8B26ADDD0256}"/>
              </a:ext>
            </a:extLst>
          </p:cNvPr>
          <p:cNvSpPr txBox="1"/>
          <p:nvPr/>
        </p:nvSpPr>
        <p:spPr>
          <a:xfrm>
            <a:off x="454891" y="905601"/>
            <a:ext cx="10764000" cy="5136678"/>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3600"/>
              <a:t>A bag contains 8 counters: </a:t>
            </a:r>
            <a:r>
              <a:rPr lang="en-AU" sz="3600">
                <a:solidFill>
                  <a:schemeClr val="tx2"/>
                </a:solidFill>
              </a:rPr>
              <a:t>3 red</a:t>
            </a:r>
            <a:r>
              <a:rPr lang="en-AU" sz="3600"/>
              <a:t>, </a:t>
            </a:r>
            <a:r>
              <a:rPr lang="en-AU" sz="3600">
                <a:solidFill>
                  <a:schemeClr val="accent1">
                    <a:lumMod val="75000"/>
                    <a:lumOff val="25000"/>
                  </a:schemeClr>
                </a:solidFill>
              </a:rPr>
              <a:t>3 blue </a:t>
            </a:r>
            <a:r>
              <a:rPr lang="en-AU" sz="3600"/>
              <a:t>and </a:t>
            </a:r>
            <a:r>
              <a:rPr lang="en-AU" sz="3600">
                <a:solidFill>
                  <a:srgbClr val="F33BE1"/>
                </a:solidFill>
              </a:rPr>
              <a:t>2</a:t>
            </a:r>
            <a:r>
              <a:rPr lang="en-AU" sz="3600">
                <a:solidFill>
                  <a:srgbClr val="7030A0"/>
                </a:solidFill>
              </a:rPr>
              <a:t> </a:t>
            </a:r>
            <a:r>
              <a:rPr lang="en-AU" sz="3600">
                <a:solidFill>
                  <a:srgbClr val="F33BE1"/>
                </a:solidFill>
              </a:rPr>
              <a:t>pink</a:t>
            </a:r>
            <a:r>
              <a:rPr lang="en-AU" sz="3600"/>
              <a:t>. One counter is chosen at random.</a:t>
            </a:r>
          </a:p>
          <a:p>
            <a:pPr marL="457200" indent="-457200" algn="ctr">
              <a:lnSpc>
                <a:spcPct val="150000"/>
              </a:lnSpc>
              <a:spcBef>
                <a:spcPts val="600"/>
              </a:spcBef>
              <a:spcAft>
                <a:spcPts val="1200"/>
              </a:spcAft>
              <a:buFont typeface="Arial" panose="020B0604020202020204" pitchFamily="34" charset="0"/>
              <a:buChar char="•"/>
            </a:pPr>
            <a:r>
              <a:rPr lang="en-AU" sz="3600"/>
              <a:t>Which outcomes are </a:t>
            </a:r>
            <a:r>
              <a:rPr lang="en-AU" sz="3600" b="1"/>
              <a:t>equally likely</a:t>
            </a:r>
            <a:r>
              <a:rPr lang="en-AU" sz="3600"/>
              <a:t>? </a:t>
            </a:r>
          </a:p>
          <a:p>
            <a:pPr marL="457200" indent="-457200" algn="ctr">
              <a:lnSpc>
                <a:spcPct val="150000"/>
              </a:lnSpc>
              <a:spcBef>
                <a:spcPts val="600"/>
              </a:spcBef>
              <a:spcAft>
                <a:spcPts val="1200"/>
              </a:spcAft>
              <a:buFont typeface="Arial" panose="020B0604020202020204" pitchFamily="34" charset="0"/>
              <a:buChar char="•"/>
            </a:pPr>
            <a:r>
              <a:rPr lang="en-AU" sz="3600"/>
              <a:t>Represent the </a:t>
            </a:r>
            <a:r>
              <a:rPr lang="en-AU" sz="3600" b="1"/>
              <a:t>probability</a:t>
            </a:r>
            <a:r>
              <a:rPr lang="en-AU" sz="3600"/>
              <a:t> of choosing a </a:t>
            </a:r>
            <a:r>
              <a:rPr lang="en-AU" sz="3600">
                <a:solidFill>
                  <a:schemeClr val="tx2"/>
                </a:solidFill>
              </a:rPr>
              <a:t>red counter </a:t>
            </a:r>
            <a:r>
              <a:rPr lang="en-AU" sz="3600"/>
              <a:t>as a fraction. </a:t>
            </a:r>
          </a:p>
          <a:p>
            <a:pPr algn="ctr">
              <a:lnSpc>
                <a:spcPct val="150000"/>
              </a:lnSpc>
              <a:spcBef>
                <a:spcPts val="600"/>
              </a:spcBef>
              <a:spcAft>
                <a:spcPts val="1200"/>
              </a:spcAft>
            </a:pPr>
            <a:r>
              <a:rPr lang="en-AU" sz="3600" b="1"/>
              <a:t>Communicate</a:t>
            </a:r>
            <a:r>
              <a:rPr lang="en-AU" sz="3600"/>
              <a:t> your </a:t>
            </a:r>
            <a:r>
              <a:rPr lang="en-AU" sz="3600" b="1"/>
              <a:t>reasoning</a:t>
            </a:r>
            <a:r>
              <a:rPr lang="en-AU" sz="3600"/>
              <a:t>.</a:t>
            </a:r>
          </a:p>
          <a:p>
            <a:pPr marL="457200" indent="-457200" algn="ctr">
              <a:lnSpc>
                <a:spcPct val="150000"/>
              </a:lnSpc>
              <a:buFont typeface="Arial" panose="020B0604020202020204" pitchFamily="34" charset="0"/>
              <a:buChar char="•"/>
            </a:pPr>
            <a:endParaRPr lang="en-AU" sz="3000"/>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4" name="TextBox 3">
            <a:extLst>
              <a:ext uri="{FF2B5EF4-FFF2-40B4-BE49-F238E27FC236}">
                <a16:creationId xmlns:a16="http://schemas.microsoft.com/office/drawing/2014/main" id="{2CB2DA93-427E-3BAC-3B47-60E3C76AE0B4}"/>
              </a:ext>
            </a:extLst>
          </p:cNvPr>
          <p:cNvSpPr txBox="1"/>
          <p:nvPr/>
        </p:nvSpPr>
        <p:spPr>
          <a:xfrm>
            <a:off x="990737" y="1249532"/>
            <a:ext cx="10039739" cy="4358936"/>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3800"/>
              <a:t>Jimmy had </a:t>
            </a:r>
            <a:r>
              <a:rPr lang="en-AU" sz="3800" b="1"/>
              <a:t>8 times </a:t>
            </a:r>
            <a:r>
              <a:rPr lang="en-AU" sz="3800"/>
              <a:t>as many balloons as Mindy. Jimmy had </a:t>
            </a:r>
            <a:r>
              <a:rPr lang="en-AU" sz="3800" b="1"/>
              <a:t>48 balloons</a:t>
            </a:r>
            <a:r>
              <a:rPr lang="en-AU" sz="3800"/>
              <a:t>. How many balloons does Mindy have? </a:t>
            </a:r>
          </a:p>
          <a:p>
            <a:pPr algn="ctr">
              <a:lnSpc>
                <a:spcPct val="150000"/>
              </a:lnSpc>
              <a:spcBef>
                <a:spcPts val="600"/>
              </a:spcBef>
              <a:spcAft>
                <a:spcPts val="1200"/>
              </a:spcAft>
            </a:pPr>
            <a:r>
              <a:rPr lang="en-AU" sz="3800"/>
              <a:t>Use a </a:t>
            </a:r>
            <a:r>
              <a:rPr lang="en-AU" sz="3800" b="1"/>
              <a:t>model</a:t>
            </a:r>
            <a:r>
              <a:rPr lang="en-AU" sz="3800"/>
              <a:t> to show the multiplicative relationship.</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5" name="TextBox 4">
            <a:extLst>
              <a:ext uri="{FF2B5EF4-FFF2-40B4-BE49-F238E27FC236}">
                <a16:creationId xmlns:a16="http://schemas.microsoft.com/office/drawing/2014/main" id="{05A4C59F-605A-D03C-8B40-E0F11620A49F}"/>
              </a:ext>
            </a:extLst>
          </p:cNvPr>
          <p:cNvSpPr txBox="1"/>
          <p:nvPr/>
        </p:nvSpPr>
        <p:spPr>
          <a:xfrm>
            <a:off x="360000" y="1518082"/>
            <a:ext cx="11484000" cy="3657600"/>
          </a:xfrm>
          <a:prstGeom prst="rect">
            <a:avLst/>
          </a:prstGeom>
          <a:noFill/>
        </p:spPr>
        <p:txBody>
          <a:bodyPr wrap="square" lIns="0" tIns="0" rIns="0" bIns="0" rtlCol="0">
            <a:noAutofit/>
          </a:bodyPr>
          <a:lstStyle/>
          <a:p>
            <a:pPr algn="ctr">
              <a:lnSpc>
                <a:spcPct val="150000"/>
              </a:lnSpc>
            </a:pPr>
            <a:r>
              <a:rPr lang="en-AU" sz="4000"/>
              <a:t>A go-kart completes a lap in </a:t>
            </a:r>
            <a:r>
              <a:rPr lang="en-AU" sz="4000">
                <a:solidFill>
                  <a:schemeClr val="accent2"/>
                </a:solidFill>
              </a:rPr>
              <a:t>1.287 minutes</a:t>
            </a:r>
            <a:r>
              <a:rPr lang="en-AU" sz="4000"/>
              <a:t>. Another go-kart completes the same lap in</a:t>
            </a:r>
          </a:p>
          <a:p>
            <a:pPr algn="ctr">
              <a:lnSpc>
                <a:spcPct val="150000"/>
              </a:lnSpc>
            </a:pPr>
            <a:r>
              <a:rPr lang="en-AU" sz="4000">
                <a:solidFill>
                  <a:schemeClr val="accent2"/>
                </a:solidFill>
              </a:rPr>
              <a:t>1.325 minutes</a:t>
            </a:r>
            <a:r>
              <a:rPr lang="en-AU" sz="4000"/>
              <a:t>.</a:t>
            </a:r>
          </a:p>
          <a:p>
            <a:pPr algn="ctr">
              <a:lnSpc>
                <a:spcPct val="150000"/>
              </a:lnSpc>
            </a:pPr>
            <a:r>
              <a:rPr lang="en-AU" sz="4000"/>
              <a:t>How many </a:t>
            </a:r>
            <a:r>
              <a:rPr lang="en-AU" sz="4000" b="1"/>
              <a:t>thousandths</a:t>
            </a:r>
            <a:r>
              <a:rPr lang="en-AU" sz="4000"/>
              <a:t> of a minute difference was there between the 2 go-karts?</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FE6F1EF-735E-5B88-82D5-9D0DD8812F3D}"/>
              </a:ext>
            </a:extLst>
          </p:cNvPr>
          <p:cNvSpPr txBox="1"/>
          <p:nvPr/>
        </p:nvSpPr>
        <p:spPr>
          <a:xfrm>
            <a:off x="470942" y="905601"/>
            <a:ext cx="10484529" cy="777742"/>
          </a:xfrm>
          <a:prstGeom prst="rect">
            <a:avLst/>
          </a:prstGeom>
          <a:noFill/>
        </p:spPr>
        <p:txBody>
          <a:bodyPr wrap="square" lIns="0" tIns="0" rIns="0" bIns="0" rtlCol="0">
            <a:noAutofit/>
          </a:bodyPr>
          <a:lstStyle/>
          <a:p>
            <a:pPr algn="l">
              <a:lnSpc>
                <a:spcPct val="150000"/>
              </a:lnSpc>
            </a:pPr>
            <a:r>
              <a:rPr lang="en-AU" sz="2800"/>
              <a:t>Record the </a:t>
            </a:r>
            <a:r>
              <a:rPr lang="en-AU" sz="2800" b="1"/>
              <a:t>properties</a:t>
            </a:r>
            <a:r>
              <a:rPr lang="en-AU" sz="2800"/>
              <a:t> missing from the table:</a:t>
            </a:r>
          </a:p>
        </p:txBody>
      </p:sp>
      <p:graphicFrame>
        <p:nvGraphicFramePr>
          <p:cNvPr id="4" name="Table 3">
            <a:extLst>
              <a:ext uri="{FF2B5EF4-FFF2-40B4-BE49-F238E27FC236}">
                <a16:creationId xmlns:a16="http://schemas.microsoft.com/office/drawing/2014/main" id="{C4E9620B-693E-49F3-544A-DB8843AC36E4}"/>
              </a:ext>
            </a:extLst>
          </p:cNvPr>
          <p:cNvGraphicFramePr>
            <a:graphicFrameLocks noGrp="1"/>
          </p:cNvGraphicFramePr>
          <p:nvPr>
            <p:extLst>
              <p:ext uri="{D42A27DB-BD31-4B8C-83A1-F6EECF244321}">
                <p14:modId xmlns:p14="http://schemas.microsoft.com/office/powerpoint/2010/main" val="2861443799"/>
              </p:ext>
            </p:extLst>
          </p:nvPr>
        </p:nvGraphicFramePr>
        <p:xfrm>
          <a:off x="409471" y="1729824"/>
          <a:ext cx="11373057" cy="4726672"/>
        </p:xfrm>
        <a:graphic>
          <a:graphicData uri="http://schemas.openxmlformats.org/drawingml/2006/table">
            <a:tbl>
              <a:tblPr firstRow="1" firstCol="1">
                <a:tableStyleId>{5A111915-BE36-4E01-A7E5-04B1672EAD32}</a:tableStyleId>
              </a:tblPr>
              <a:tblGrid>
                <a:gridCol w="2532323">
                  <a:extLst>
                    <a:ext uri="{9D8B030D-6E8A-4147-A177-3AD203B41FA5}">
                      <a16:colId xmlns:a16="http://schemas.microsoft.com/office/drawing/2014/main" val="551928556"/>
                    </a:ext>
                  </a:extLst>
                </a:gridCol>
                <a:gridCol w="2856330">
                  <a:extLst>
                    <a:ext uri="{9D8B030D-6E8A-4147-A177-3AD203B41FA5}">
                      <a16:colId xmlns:a16="http://schemas.microsoft.com/office/drawing/2014/main" val="4107827120"/>
                    </a:ext>
                  </a:extLst>
                </a:gridCol>
                <a:gridCol w="2992202">
                  <a:extLst>
                    <a:ext uri="{9D8B030D-6E8A-4147-A177-3AD203B41FA5}">
                      <a16:colId xmlns:a16="http://schemas.microsoft.com/office/drawing/2014/main" val="2146835987"/>
                    </a:ext>
                  </a:extLst>
                </a:gridCol>
                <a:gridCol w="2992202">
                  <a:extLst>
                    <a:ext uri="{9D8B030D-6E8A-4147-A177-3AD203B41FA5}">
                      <a16:colId xmlns:a16="http://schemas.microsoft.com/office/drawing/2014/main" val="2073883556"/>
                    </a:ext>
                  </a:extLst>
                </a:gridCol>
              </a:tblGrid>
              <a:tr h="316968">
                <a:tc>
                  <a:txBody>
                    <a:bodyPr/>
                    <a:lstStyle/>
                    <a:p>
                      <a:pPr algn="ctr">
                        <a:lnSpc>
                          <a:spcPct val="150000"/>
                        </a:lnSpc>
                        <a:spcBef>
                          <a:spcPts val="1200"/>
                        </a:spcBef>
                        <a:spcAft>
                          <a:spcPts val="600"/>
                        </a:spcAft>
                        <a:buNone/>
                      </a:pPr>
                      <a:r>
                        <a:rPr lang="en-AU" sz="1400">
                          <a:effectLst/>
                        </a:rPr>
                        <a:t>Shape</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400">
                          <a:effectLst/>
                        </a:rPr>
                        <a:t>Properties of sides</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400">
                          <a:effectLst/>
                        </a:rPr>
                        <a:t>Properties of angles</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400">
                          <a:effectLst/>
                        </a:rPr>
                        <a:t>Regular or irregular?</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534047999"/>
                  </a:ext>
                </a:extLst>
              </a:tr>
              <a:tr h="877090">
                <a:tc>
                  <a:txBody>
                    <a:bodyPr/>
                    <a:lstStyle/>
                    <a:p>
                      <a:pPr>
                        <a:lnSpc>
                          <a:spcPct val="150000"/>
                        </a:lnSpc>
                        <a:spcBef>
                          <a:spcPts val="1200"/>
                        </a:spcBef>
                        <a:spcAft>
                          <a:spcPts val="600"/>
                        </a:spcAft>
                        <a:buNone/>
                      </a:pPr>
                      <a:r>
                        <a:rPr lang="en-AU" sz="1800">
                          <a:effectLst/>
                        </a:rPr>
                        <a:t>Rectangle</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2 pairs of equal sides</a:t>
                      </a:r>
                    </a:p>
                    <a:p>
                      <a:pPr>
                        <a:lnSpc>
                          <a:spcPct val="150000"/>
                        </a:lnSpc>
                        <a:spcBef>
                          <a:spcPts val="1200"/>
                        </a:spcBef>
                        <a:spcAft>
                          <a:spcPts val="600"/>
                        </a:spcAft>
                        <a:buNone/>
                      </a:pPr>
                      <a:r>
                        <a:rPr lang="en-AU" sz="1800">
                          <a:effectLst/>
                        </a:rPr>
                        <a:t>2 pairs of parallel lines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4 right angles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Irregular</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7004358"/>
                  </a:ext>
                </a:extLst>
              </a:tr>
              <a:tr h="877090">
                <a:tc>
                  <a:txBody>
                    <a:bodyPr/>
                    <a:lstStyle/>
                    <a:p>
                      <a:pPr>
                        <a:lnSpc>
                          <a:spcPct val="150000"/>
                        </a:lnSpc>
                        <a:spcBef>
                          <a:spcPts val="1200"/>
                        </a:spcBef>
                        <a:spcAft>
                          <a:spcPts val="600"/>
                        </a:spcAft>
                        <a:buNone/>
                      </a:pPr>
                      <a:r>
                        <a:rPr lang="en-AU" sz="1800">
                          <a:effectLst/>
                        </a:rPr>
                        <a:t>Rhombus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4 equal sides</a:t>
                      </a:r>
                    </a:p>
                    <a:p>
                      <a:pPr>
                        <a:lnSpc>
                          <a:spcPct val="150000"/>
                        </a:lnSpc>
                        <a:spcBef>
                          <a:spcPts val="1200"/>
                        </a:spcBef>
                        <a:spcAft>
                          <a:spcPts val="600"/>
                        </a:spcAft>
                        <a:buNone/>
                      </a:pPr>
                      <a:r>
                        <a:rPr lang="en-AU" sz="1800">
                          <a:effectLst/>
                        </a:rPr>
                        <a:t>2 pairs of parallel lines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Irregular</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6949384"/>
                  </a:ext>
                </a:extLst>
              </a:tr>
              <a:tr h="877090">
                <a:tc>
                  <a:txBody>
                    <a:bodyPr/>
                    <a:lstStyle/>
                    <a:p>
                      <a:pPr>
                        <a:lnSpc>
                          <a:spcPct val="150000"/>
                        </a:lnSpc>
                        <a:spcBef>
                          <a:spcPts val="1200"/>
                        </a:spcBef>
                        <a:spcAft>
                          <a:spcPts val="600"/>
                        </a:spcAft>
                        <a:buNone/>
                      </a:pPr>
                      <a:r>
                        <a:rPr lang="en-AU" sz="1800">
                          <a:effectLst/>
                        </a:rPr>
                        <a:t>Parallelogram</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Opposite sides are equal</a:t>
                      </a:r>
                    </a:p>
                    <a:p>
                      <a:pPr>
                        <a:lnSpc>
                          <a:spcPct val="150000"/>
                        </a:lnSpc>
                        <a:spcBef>
                          <a:spcPts val="1200"/>
                        </a:spcBef>
                        <a:spcAft>
                          <a:spcPts val="600"/>
                        </a:spcAft>
                        <a:buNone/>
                      </a:pPr>
                      <a:r>
                        <a:rPr lang="en-AU" sz="1800">
                          <a:effectLst/>
                        </a:rPr>
                        <a:t>2 pairs of parallel lines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Opposite angles are equal</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9990479"/>
                  </a:ext>
                </a:extLst>
              </a:tr>
              <a:tr h="635264">
                <a:tc>
                  <a:txBody>
                    <a:bodyPr/>
                    <a:lstStyle/>
                    <a:p>
                      <a:pPr>
                        <a:lnSpc>
                          <a:spcPct val="150000"/>
                        </a:lnSpc>
                        <a:spcBef>
                          <a:spcPts val="1200"/>
                        </a:spcBef>
                        <a:spcAft>
                          <a:spcPts val="600"/>
                        </a:spcAft>
                        <a:buNone/>
                      </a:pPr>
                      <a:r>
                        <a:rPr lang="en-AU" sz="1800">
                          <a:effectLst/>
                        </a:rPr>
                        <a:t>Kite</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One pair of opposite angles are equal</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Irregular</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762292"/>
                  </a:ext>
                </a:extLst>
              </a:tr>
              <a:tr h="635264">
                <a:tc>
                  <a:txBody>
                    <a:bodyPr/>
                    <a:lstStyle/>
                    <a:p>
                      <a:pPr>
                        <a:lnSpc>
                          <a:spcPct val="150000"/>
                        </a:lnSpc>
                        <a:spcBef>
                          <a:spcPts val="1200"/>
                        </a:spcBef>
                        <a:spcAft>
                          <a:spcPts val="600"/>
                        </a:spcAft>
                        <a:buNone/>
                      </a:pPr>
                      <a:r>
                        <a:rPr lang="en-AU" sz="1800">
                          <a:effectLst/>
                        </a:rPr>
                        <a:t>Trapezium</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Opposite sides are parallel</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Opposite angles are equal</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Irregular</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25094" marR="2509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22624"/>
                  </a:ext>
                </a:extLst>
              </a:tr>
            </a:tbl>
          </a:graphicData>
        </a:graphic>
      </p:graphicFrame>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6 – equivalent fractions 2</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DEFCE82-8554-A26F-DBE2-A4279BB6EED0}"/>
                  </a:ext>
                </a:extLst>
              </p:cNvPr>
              <p:cNvSpPr txBox="1"/>
              <p:nvPr/>
            </p:nvSpPr>
            <p:spPr>
              <a:xfrm>
                <a:off x="981253" y="1558235"/>
                <a:ext cx="1302545" cy="1988127"/>
              </a:xfrm>
              <a:prstGeom prst="rect">
                <a:avLst/>
              </a:prstGeom>
              <a:noFill/>
            </p:spPr>
            <p:txBody>
              <a:bodyPr wrap="square" lIns="0" tIns="0" rIns="0" bIns="0" rtlCol="0">
                <a:noAutofit/>
              </a:bodyPr>
              <a:lstStyle/>
              <a:p>
                <a:pPr algn="ctr"/>
                <a14:m>
                  <m:oMathPara xmlns:m="http://schemas.openxmlformats.org/officeDocument/2006/math">
                    <m:oMathParaPr>
                      <m:jc m:val="centerGroup"/>
                    </m:oMathParaPr>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1</m:t>
                          </m:r>
                        </m:num>
                        <m:den>
                          <m:r>
                            <a:rPr lang="en-AU" sz="4400" i="1">
                              <a:latin typeface="Cambria Math" panose="02040503050406030204" pitchFamily="18" charset="0"/>
                            </a:rPr>
                            <m:t>2</m:t>
                          </m:r>
                        </m:den>
                      </m:f>
                    </m:oMath>
                  </m:oMathPara>
                </a14:m>
                <a:endParaRPr lang="en-AU" sz="3600"/>
              </a:p>
            </p:txBody>
          </p:sp>
        </mc:Choice>
        <mc:Fallback xmlns="">
          <p:sp>
            <p:nvSpPr>
              <p:cNvPr id="3" name="TextBox 2">
                <a:extLst>
                  <a:ext uri="{FF2B5EF4-FFF2-40B4-BE49-F238E27FC236}">
                    <a16:creationId xmlns:a16="http://schemas.microsoft.com/office/drawing/2014/main" id="{3DEFCE82-8554-A26F-DBE2-A4279BB6EED0}"/>
                  </a:ext>
                </a:extLst>
              </p:cNvPr>
              <p:cNvSpPr txBox="1">
                <a:spLocks noRot="1" noChangeAspect="1" noMove="1" noResize="1" noEditPoints="1" noAdjustHandles="1" noChangeArrowheads="1" noChangeShapeType="1" noTextEdit="1"/>
              </p:cNvSpPr>
              <p:nvPr/>
            </p:nvSpPr>
            <p:spPr>
              <a:xfrm>
                <a:off x="981253" y="1558235"/>
                <a:ext cx="1302545" cy="198812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89BF53D-96FC-68BE-5E16-0398EFFD3328}"/>
                  </a:ext>
                </a:extLst>
              </p:cNvPr>
              <p:cNvSpPr txBox="1"/>
              <p:nvPr/>
            </p:nvSpPr>
            <p:spPr>
              <a:xfrm>
                <a:off x="2860522" y="1476536"/>
                <a:ext cx="1588654" cy="13599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i="1">
                              <a:latin typeface="Cambria Math" panose="02040503050406030204" pitchFamily="18" charset="0"/>
                            </a:rPr>
                            <m:t>1</m:t>
                          </m:r>
                        </m:num>
                        <m:den>
                          <m:r>
                            <a:rPr lang="en-AU" sz="4400" i="1">
                              <a:latin typeface="Cambria Math" panose="02040503050406030204" pitchFamily="18" charset="0"/>
                            </a:rPr>
                            <m:t>4</m:t>
                          </m:r>
                        </m:den>
                      </m:f>
                    </m:oMath>
                  </m:oMathPara>
                </a14:m>
                <a:endParaRPr lang="en-AU" sz="4400"/>
              </a:p>
            </p:txBody>
          </p:sp>
        </mc:Choice>
        <mc:Fallback xmlns="">
          <p:sp>
            <p:nvSpPr>
              <p:cNvPr id="14" name="TextBox 13">
                <a:extLst>
                  <a:ext uri="{FF2B5EF4-FFF2-40B4-BE49-F238E27FC236}">
                    <a16:creationId xmlns:a16="http://schemas.microsoft.com/office/drawing/2014/main" id="{689BF53D-96FC-68BE-5E16-0398EFFD3328}"/>
                  </a:ext>
                </a:extLst>
              </p:cNvPr>
              <p:cNvSpPr txBox="1">
                <a:spLocks noRot="1" noChangeAspect="1" noMove="1" noResize="1" noEditPoints="1" noAdjustHandles="1" noChangeArrowheads="1" noChangeShapeType="1" noTextEdit="1"/>
              </p:cNvSpPr>
              <p:nvPr/>
            </p:nvSpPr>
            <p:spPr>
              <a:xfrm>
                <a:off x="2860522" y="1476536"/>
                <a:ext cx="1588654" cy="135998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9A59E42-12FC-1546-DFD0-E901DCFCEA49}"/>
                  </a:ext>
                </a:extLst>
              </p:cNvPr>
              <p:cNvSpPr txBox="1"/>
              <p:nvPr/>
            </p:nvSpPr>
            <p:spPr>
              <a:xfrm>
                <a:off x="5025900" y="1480960"/>
                <a:ext cx="1588654" cy="13599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i="1">
                              <a:latin typeface="Cambria Math" panose="02040503050406030204" pitchFamily="18" charset="0"/>
                            </a:rPr>
                            <m:t>1</m:t>
                          </m:r>
                        </m:num>
                        <m:den>
                          <m:r>
                            <a:rPr lang="en-AU" sz="4400" b="0" i="1" smtClean="0">
                              <a:latin typeface="Cambria Math" panose="02040503050406030204" pitchFamily="18" charset="0"/>
                            </a:rPr>
                            <m:t>8</m:t>
                          </m:r>
                        </m:den>
                      </m:f>
                    </m:oMath>
                  </m:oMathPara>
                </a14:m>
                <a:endParaRPr lang="en-AU" sz="4400"/>
              </a:p>
            </p:txBody>
          </p:sp>
        </mc:Choice>
        <mc:Fallback xmlns="">
          <p:sp>
            <p:nvSpPr>
              <p:cNvPr id="7" name="TextBox 6">
                <a:extLst>
                  <a:ext uri="{FF2B5EF4-FFF2-40B4-BE49-F238E27FC236}">
                    <a16:creationId xmlns:a16="http://schemas.microsoft.com/office/drawing/2014/main" id="{59A59E42-12FC-1546-DFD0-E901DCFCEA49}"/>
                  </a:ext>
                </a:extLst>
              </p:cNvPr>
              <p:cNvSpPr txBox="1">
                <a:spLocks noRot="1" noChangeAspect="1" noMove="1" noResize="1" noEditPoints="1" noAdjustHandles="1" noChangeArrowheads="1" noChangeShapeType="1" noTextEdit="1"/>
              </p:cNvSpPr>
              <p:nvPr/>
            </p:nvSpPr>
            <p:spPr>
              <a:xfrm>
                <a:off x="5025900" y="1480960"/>
                <a:ext cx="1588654" cy="135998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9667E15-5B4D-776B-2235-D1CA6DBD8A4C}"/>
                  </a:ext>
                </a:extLst>
              </p:cNvPr>
              <p:cNvSpPr txBox="1"/>
              <p:nvPr/>
            </p:nvSpPr>
            <p:spPr>
              <a:xfrm>
                <a:off x="7191278" y="1476536"/>
                <a:ext cx="1588654" cy="13599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i="1">
                              <a:latin typeface="Cambria Math" panose="02040503050406030204" pitchFamily="18" charset="0"/>
                            </a:rPr>
                            <m:t>1</m:t>
                          </m:r>
                        </m:num>
                        <m:den>
                          <m:r>
                            <a:rPr lang="en-AU" sz="4400" b="0" i="1" smtClean="0">
                              <a:latin typeface="Cambria Math" panose="02040503050406030204" pitchFamily="18" charset="0"/>
                            </a:rPr>
                            <m:t>6</m:t>
                          </m:r>
                        </m:den>
                      </m:f>
                    </m:oMath>
                  </m:oMathPara>
                </a14:m>
                <a:endParaRPr lang="en-AU" sz="4400"/>
              </a:p>
            </p:txBody>
          </p:sp>
        </mc:Choice>
        <mc:Fallback xmlns="">
          <p:sp>
            <p:nvSpPr>
              <p:cNvPr id="15" name="TextBox 14">
                <a:extLst>
                  <a:ext uri="{FF2B5EF4-FFF2-40B4-BE49-F238E27FC236}">
                    <a16:creationId xmlns:a16="http://schemas.microsoft.com/office/drawing/2014/main" id="{39667E15-5B4D-776B-2235-D1CA6DBD8A4C}"/>
                  </a:ext>
                </a:extLst>
              </p:cNvPr>
              <p:cNvSpPr txBox="1">
                <a:spLocks noRot="1" noChangeAspect="1" noMove="1" noResize="1" noEditPoints="1" noAdjustHandles="1" noChangeArrowheads="1" noChangeShapeType="1" noTextEdit="1"/>
              </p:cNvSpPr>
              <p:nvPr/>
            </p:nvSpPr>
            <p:spPr>
              <a:xfrm>
                <a:off x="7191278" y="1476536"/>
                <a:ext cx="1588654" cy="135998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28A4C96-E4C1-D0E4-5153-C40177F251CF}"/>
                  </a:ext>
                </a:extLst>
              </p:cNvPr>
              <p:cNvSpPr txBox="1"/>
              <p:nvPr/>
            </p:nvSpPr>
            <p:spPr>
              <a:xfrm>
                <a:off x="9199638" y="1472112"/>
                <a:ext cx="2156414" cy="13644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i="1">
                              <a:latin typeface="Cambria Math" panose="02040503050406030204" pitchFamily="18" charset="0"/>
                            </a:rPr>
                            <m:t>1</m:t>
                          </m:r>
                        </m:num>
                        <m:den>
                          <m:r>
                            <a:rPr lang="en-AU" sz="4400" i="1">
                              <a:latin typeface="Cambria Math" panose="02040503050406030204" pitchFamily="18" charset="0"/>
                            </a:rPr>
                            <m:t>10</m:t>
                          </m:r>
                        </m:den>
                      </m:f>
                    </m:oMath>
                  </m:oMathPara>
                </a14:m>
                <a:endParaRPr lang="en-AU" sz="4400"/>
              </a:p>
            </p:txBody>
          </p:sp>
        </mc:Choice>
        <mc:Fallback xmlns="">
          <p:sp>
            <p:nvSpPr>
              <p:cNvPr id="13" name="TextBox 12">
                <a:extLst>
                  <a:ext uri="{FF2B5EF4-FFF2-40B4-BE49-F238E27FC236}">
                    <a16:creationId xmlns:a16="http://schemas.microsoft.com/office/drawing/2014/main" id="{E28A4C96-E4C1-D0E4-5153-C40177F251CF}"/>
                  </a:ext>
                </a:extLst>
              </p:cNvPr>
              <p:cNvSpPr txBox="1">
                <a:spLocks noRot="1" noChangeAspect="1" noMove="1" noResize="1" noEditPoints="1" noAdjustHandles="1" noChangeArrowheads="1" noChangeShapeType="1" noTextEdit="1"/>
              </p:cNvSpPr>
              <p:nvPr/>
            </p:nvSpPr>
            <p:spPr>
              <a:xfrm>
                <a:off x="9199638" y="1472112"/>
                <a:ext cx="2156414" cy="1364412"/>
              </a:xfrm>
              <a:prstGeom prst="rect">
                <a:avLst/>
              </a:prstGeom>
              <a:blipFill>
                <a:blip r:embed="rId8"/>
                <a:stretch>
                  <a:fillRect/>
                </a:stretch>
              </a:blipFill>
            </p:spPr>
            <p:txBody>
              <a:bodyPr/>
              <a:lstStyle/>
              <a:p>
                <a:r>
                  <a:rPr lang="en-US">
                    <a:noFill/>
                  </a:rPr>
                  <a:t> </a:t>
                </a:r>
              </a:p>
            </p:txBody>
          </p:sp>
        </mc:Fallback>
      </mc:AlternateContent>
      <p:grpSp>
        <p:nvGrpSpPr>
          <p:cNvPr id="5" name="Group 4" descr="An empty number line starting at zero and ending at 1. ">
            <a:extLst>
              <a:ext uri="{FF2B5EF4-FFF2-40B4-BE49-F238E27FC236}">
                <a16:creationId xmlns:a16="http://schemas.microsoft.com/office/drawing/2014/main" id="{96C0B2E9-ED65-00DE-A0C4-E161546124D3}"/>
              </a:ext>
            </a:extLst>
          </p:cNvPr>
          <p:cNvGrpSpPr/>
          <p:nvPr/>
        </p:nvGrpSpPr>
        <p:grpSpPr>
          <a:xfrm>
            <a:off x="981253" y="4545367"/>
            <a:ext cx="10223875" cy="1385820"/>
            <a:chOff x="981253" y="4545367"/>
            <a:chExt cx="10223875" cy="1385820"/>
          </a:xfrm>
        </p:grpSpPr>
        <p:cxnSp>
          <p:nvCxnSpPr>
            <p:cNvPr id="21" name="Straight Connector 20">
              <a:extLst>
                <a:ext uri="{FF2B5EF4-FFF2-40B4-BE49-F238E27FC236}">
                  <a16:creationId xmlns:a16="http://schemas.microsoft.com/office/drawing/2014/main" id="{B82C6914-9CBC-88F7-7C5E-671243E030FF}"/>
                </a:ext>
                <a:ext uri="{C183D7F6-B498-43B3-948B-1728B52AA6E4}">
                  <adec:decorative xmlns:adec="http://schemas.microsoft.com/office/drawing/2017/decorative" val="1"/>
                </a:ext>
              </a:extLst>
            </p:cNvPr>
            <p:cNvCxnSpPr>
              <a:cxnSpLocks/>
            </p:cNvCxnSpPr>
            <p:nvPr/>
          </p:nvCxnSpPr>
          <p:spPr>
            <a:xfrm>
              <a:off x="981253" y="4809678"/>
              <a:ext cx="101427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408D933-03D9-398E-2DC7-15CF4D7D8668}"/>
                </a:ext>
                <a:ext uri="{C183D7F6-B498-43B3-948B-1728B52AA6E4}">
                  <adec:decorative xmlns:adec="http://schemas.microsoft.com/office/drawing/2017/decorative" val="1"/>
                </a:ext>
              </a:extLst>
            </p:cNvPr>
            <p:cNvCxnSpPr>
              <a:cxnSpLocks/>
            </p:cNvCxnSpPr>
            <p:nvPr/>
          </p:nvCxnSpPr>
          <p:spPr>
            <a:xfrm>
              <a:off x="8291744" y="4809678"/>
              <a:ext cx="29133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23F3D5D-97F9-CF68-35DE-5E8AB0C692B7}"/>
                </a:ext>
                <a:ext uri="{C183D7F6-B498-43B3-948B-1728B52AA6E4}">
                  <adec:decorative xmlns:adec="http://schemas.microsoft.com/office/drawing/2017/decorative" val="1"/>
                </a:ext>
              </a:extLst>
            </p:cNvPr>
            <p:cNvCxnSpPr/>
            <p:nvPr/>
          </p:nvCxnSpPr>
          <p:spPr>
            <a:xfrm>
              <a:off x="1322773" y="4545367"/>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71E6508-6657-9527-3900-48C4640C6F5E}"/>
                </a:ext>
              </a:extLst>
            </p:cNvPr>
            <p:cNvSpPr txBox="1"/>
            <p:nvPr/>
          </p:nvSpPr>
          <p:spPr>
            <a:xfrm>
              <a:off x="1074200" y="5193673"/>
              <a:ext cx="497145" cy="737514"/>
            </a:xfrm>
            <a:prstGeom prst="rect">
              <a:avLst/>
            </a:prstGeom>
            <a:noFill/>
          </p:spPr>
          <p:txBody>
            <a:bodyPr wrap="square" lIns="0" tIns="0" rIns="0" bIns="0" rtlCol="0">
              <a:noAutofit/>
            </a:bodyPr>
            <a:lstStyle/>
            <a:p>
              <a:pPr algn="ctr"/>
              <a:r>
                <a:rPr lang="en-AU" sz="4800"/>
                <a:t>0</a:t>
              </a:r>
              <a:endParaRPr lang="en-AU" sz="1800"/>
            </a:p>
          </p:txBody>
        </p:sp>
        <p:cxnSp>
          <p:nvCxnSpPr>
            <p:cNvPr id="28" name="Straight Connector 27">
              <a:extLst>
                <a:ext uri="{FF2B5EF4-FFF2-40B4-BE49-F238E27FC236}">
                  <a16:creationId xmlns:a16="http://schemas.microsoft.com/office/drawing/2014/main" id="{6D7A5AAF-DA85-3ABD-EF86-9D23CEE422F9}"/>
                </a:ext>
                <a:ext uri="{C183D7F6-B498-43B3-948B-1728B52AA6E4}">
                  <adec:decorative xmlns:adec="http://schemas.microsoft.com/office/drawing/2017/decorative" val="1"/>
                </a:ext>
              </a:extLst>
            </p:cNvPr>
            <p:cNvCxnSpPr/>
            <p:nvPr/>
          </p:nvCxnSpPr>
          <p:spPr>
            <a:xfrm>
              <a:off x="10959564" y="4545367"/>
              <a:ext cx="0" cy="5326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C035E41-C4FE-91A5-EE86-81969019EC97}"/>
                </a:ext>
              </a:extLst>
            </p:cNvPr>
            <p:cNvSpPr txBox="1"/>
            <p:nvPr/>
          </p:nvSpPr>
          <p:spPr>
            <a:xfrm>
              <a:off x="10707983" y="5193673"/>
              <a:ext cx="497145" cy="737514"/>
            </a:xfrm>
            <a:prstGeom prst="rect">
              <a:avLst/>
            </a:prstGeom>
            <a:noFill/>
          </p:spPr>
          <p:txBody>
            <a:bodyPr wrap="square" lIns="0" tIns="0" rIns="0" bIns="0" rtlCol="0">
              <a:noAutofit/>
            </a:bodyPr>
            <a:lstStyle/>
            <a:p>
              <a:pPr algn="ctr"/>
              <a:r>
                <a:rPr lang="en-AU" sz="4800"/>
                <a:t>1</a:t>
              </a:r>
              <a:endParaRPr lang="en-AU" sz="1800"/>
            </a:p>
          </p:txBody>
        </p:sp>
      </p:gr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360000" y="1053825"/>
                <a:ext cx="11243037" cy="893226"/>
              </a:xfrm>
            </p:spPr>
            <p:txBody>
              <a:bodyPr/>
              <a:lstStyle/>
              <a:p>
                <a:pPr algn="ctr"/>
                <a:r>
                  <a:rPr lang="en-US" sz="4400"/>
                  <a:t>Which is the </a:t>
                </a:r>
                <a:r>
                  <a:rPr lang="en-US" sz="4400" b="1"/>
                  <a:t>smallest</a:t>
                </a:r>
                <a:r>
                  <a:rPr lang="en-US" sz="4400"/>
                  <a:t> fraction:</a:t>
                </a:r>
                <a:endParaRPr lang="en-AU" sz="4400" b="0" i="1">
                  <a:latin typeface="Cambria Math" panose="02040503050406030204" pitchFamily="18" charset="0"/>
                </a:endParaRPr>
              </a:p>
              <a:p>
                <a:pPr algn="ctr"/>
                <a14:m>
                  <m:oMath xmlns:m="http://schemas.openxmlformats.org/officeDocument/2006/math">
                    <m:f>
                      <m:fPr>
                        <m:ctrlPr>
                          <a:rPr lang="en-AU" sz="5400" i="1" smtClean="0">
                            <a:solidFill>
                              <a:schemeClr val="accent2"/>
                            </a:solidFill>
                            <a:latin typeface="Cambria Math" panose="02040503050406030204" pitchFamily="18" charset="0"/>
                          </a:rPr>
                        </m:ctrlPr>
                      </m:fPr>
                      <m:num>
                        <m:r>
                          <a:rPr lang="en-AU" sz="5400" i="1">
                            <a:solidFill>
                              <a:schemeClr val="accent2"/>
                            </a:solidFill>
                            <a:latin typeface="Cambria Math" panose="02040503050406030204" pitchFamily="18" charset="0"/>
                          </a:rPr>
                          <m:t>1</m:t>
                        </m:r>
                      </m:num>
                      <m:den>
                        <m:r>
                          <a:rPr lang="en-AU" sz="5400" i="1">
                            <a:solidFill>
                              <a:schemeClr val="accent2"/>
                            </a:solidFill>
                            <a:latin typeface="Cambria Math" panose="02040503050406030204" pitchFamily="18" charset="0"/>
                          </a:rPr>
                          <m:t>2</m:t>
                        </m:r>
                      </m:den>
                    </m:f>
                  </m:oMath>
                </a14:m>
                <a:r>
                  <a:rPr lang="en-US" sz="5400"/>
                  <a:t>, </a:t>
                </a:r>
                <a14:m>
                  <m:oMath xmlns:m="http://schemas.openxmlformats.org/officeDocument/2006/math">
                    <m:f>
                      <m:fPr>
                        <m:ctrlPr>
                          <a:rPr lang="en-AU" sz="5400" b="0" i="1" smtClean="0">
                            <a:solidFill>
                              <a:schemeClr val="accent2"/>
                            </a:solidFill>
                            <a:latin typeface="Cambria Math" panose="02040503050406030204" pitchFamily="18" charset="0"/>
                          </a:rPr>
                        </m:ctrlPr>
                      </m:fPr>
                      <m:num>
                        <m:r>
                          <a:rPr lang="en-AU" sz="5400" b="0" i="1" smtClean="0">
                            <a:solidFill>
                              <a:schemeClr val="accent2"/>
                            </a:solidFill>
                            <a:latin typeface="Cambria Math" panose="02040503050406030204" pitchFamily="18" charset="0"/>
                          </a:rPr>
                          <m:t>3</m:t>
                        </m:r>
                      </m:num>
                      <m:den>
                        <m:r>
                          <a:rPr lang="en-AU" sz="5400" b="0" i="1" smtClean="0">
                            <a:solidFill>
                              <a:schemeClr val="accent2"/>
                            </a:solidFill>
                            <a:latin typeface="Cambria Math" panose="02040503050406030204" pitchFamily="18" charset="0"/>
                          </a:rPr>
                          <m:t>4</m:t>
                        </m:r>
                      </m:den>
                    </m:f>
                  </m:oMath>
                </a14:m>
                <a:r>
                  <a:rPr lang="en-US" sz="5400"/>
                  <a:t>, </a:t>
                </a:r>
                <a14:m>
                  <m:oMath xmlns:m="http://schemas.openxmlformats.org/officeDocument/2006/math">
                    <m:f>
                      <m:fPr>
                        <m:ctrlPr>
                          <a:rPr lang="en-AU" sz="5400" b="0" i="1" smtClean="0">
                            <a:solidFill>
                              <a:schemeClr val="accent2"/>
                            </a:solidFill>
                            <a:latin typeface="Cambria Math" panose="02040503050406030204" pitchFamily="18" charset="0"/>
                          </a:rPr>
                        </m:ctrlPr>
                      </m:fPr>
                      <m:num>
                        <m:r>
                          <a:rPr lang="en-AU" sz="5400" b="0" i="1" smtClean="0">
                            <a:solidFill>
                              <a:schemeClr val="accent2"/>
                            </a:solidFill>
                            <a:latin typeface="Cambria Math" panose="02040503050406030204" pitchFamily="18" charset="0"/>
                          </a:rPr>
                          <m:t>2</m:t>
                        </m:r>
                      </m:num>
                      <m:den>
                        <m:r>
                          <a:rPr lang="en-AU" sz="5400" b="0" i="1" smtClean="0">
                            <a:solidFill>
                              <a:schemeClr val="accent2"/>
                            </a:solidFill>
                            <a:latin typeface="Cambria Math" panose="02040503050406030204" pitchFamily="18" charset="0"/>
                          </a:rPr>
                          <m:t>4</m:t>
                        </m:r>
                      </m:den>
                    </m:f>
                  </m:oMath>
                </a14:m>
                <a:r>
                  <a:rPr lang="en-US" sz="5400"/>
                  <a:t> </a:t>
                </a:r>
                <a:r>
                  <a:rPr lang="en-US" sz="4400"/>
                  <a:t>or</a:t>
                </a:r>
                <a:r>
                  <a:rPr lang="en-US" sz="5400"/>
                  <a:t> </a:t>
                </a:r>
                <a14:m>
                  <m:oMath xmlns:m="http://schemas.openxmlformats.org/officeDocument/2006/math">
                    <m:f>
                      <m:fPr>
                        <m:ctrlPr>
                          <a:rPr lang="en-AU" sz="5400" b="0" i="1" smtClean="0">
                            <a:solidFill>
                              <a:schemeClr val="accent2"/>
                            </a:solidFill>
                            <a:latin typeface="Cambria Math" panose="02040503050406030204" pitchFamily="18" charset="0"/>
                          </a:rPr>
                        </m:ctrlPr>
                      </m:fPr>
                      <m:num>
                        <m:r>
                          <a:rPr lang="en-AU" sz="5400" b="0" i="1" smtClean="0">
                            <a:solidFill>
                              <a:schemeClr val="accent2"/>
                            </a:solidFill>
                            <a:latin typeface="Cambria Math" panose="02040503050406030204" pitchFamily="18" charset="0"/>
                          </a:rPr>
                          <m:t>1</m:t>
                        </m:r>
                      </m:num>
                      <m:den>
                        <m:r>
                          <a:rPr lang="en-AU" sz="5400" b="0" i="1" smtClean="0">
                            <a:solidFill>
                              <a:schemeClr val="accent2"/>
                            </a:solidFill>
                            <a:latin typeface="Cambria Math" panose="02040503050406030204" pitchFamily="18" charset="0"/>
                          </a:rPr>
                          <m:t>4</m:t>
                        </m:r>
                      </m:den>
                    </m:f>
                  </m:oMath>
                </a14:m>
                <a:r>
                  <a:rPr lang="en-US" sz="5400">
                    <a:solidFill>
                      <a:schemeClr val="accent2"/>
                    </a:solidFill>
                  </a:rPr>
                  <a:t> </a:t>
                </a:r>
                <a:r>
                  <a:rPr lang="en-US" sz="4400"/>
                  <a:t>?</a:t>
                </a:r>
              </a:p>
            </p:txBody>
          </p:sp>
        </mc:Choice>
        <mc:Fallback xmlns="">
          <p:sp>
            <p:nvSpPr>
              <p:cNvPr id="18" name="Text Placeholder 17">
                <a:extLst>
                  <a:ext uri="{FF2B5EF4-FFF2-40B4-BE49-F238E27FC236}">
                    <a16:creationId xmlns:a16="http://schemas.microsoft.com/office/drawing/2014/main" id="{9E5118E7-BD4E-1C6F-9677-4C0228A02948}"/>
                  </a:ext>
                </a:extLst>
              </p:cNvPr>
              <p:cNvSpPr>
                <a:spLocks noGrp="1" noRot="1" noChangeAspect="1" noMove="1" noResize="1" noEditPoints="1" noAdjustHandles="1" noChangeArrowheads="1" noChangeShapeType="1" noTextEdit="1"/>
              </p:cNvSpPr>
              <p:nvPr>
                <p:ph type="body" sz="quarter" idx="24"/>
              </p:nvPr>
            </p:nvSpPr>
            <p:spPr>
              <a:xfrm>
                <a:off x="360000" y="1053825"/>
                <a:ext cx="11243037" cy="893226"/>
              </a:xfrm>
              <a:blipFill>
                <a:blip r:embed="rId3"/>
                <a:stretch>
                  <a:fillRect b="-22671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B9CE09D-4912-352C-EDD3-2F5B22293E2B}"/>
              </a:ext>
            </a:extLst>
          </p:cNvPr>
          <p:cNvSpPr txBox="1"/>
          <p:nvPr/>
        </p:nvSpPr>
        <p:spPr>
          <a:xfrm>
            <a:off x="1113995" y="43078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3437FE9-572B-725D-9A30-0CBC69FAA635}"/>
                  </a:ext>
                </a:extLst>
              </p:cNvPr>
              <p:cNvSpPr txBox="1"/>
              <p:nvPr/>
            </p:nvSpPr>
            <p:spPr>
              <a:xfrm>
                <a:off x="-1711838" y="5166381"/>
                <a:ext cx="6094520" cy="13599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i="1">
                              <a:latin typeface="Cambria Math" panose="02040503050406030204" pitchFamily="18" charset="0"/>
                            </a:rPr>
                            <m:t>1</m:t>
                          </m:r>
                        </m:num>
                        <m:den>
                          <m:r>
                            <a:rPr lang="en-AU" sz="4400" i="1">
                              <a:latin typeface="Cambria Math" panose="02040503050406030204" pitchFamily="18" charset="0"/>
                            </a:rPr>
                            <m:t>2</m:t>
                          </m:r>
                        </m:den>
                      </m:f>
                    </m:oMath>
                  </m:oMathPara>
                </a14:m>
                <a:endParaRPr lang="en-AU" sz="4400"/>
              </a:p>
            </p:txBody>
          </p:sp>
        </mc:Choice>
        <mc:Fallback xmlns="">
          <p:sp>
            <p:nvSpPr>
              <p:cNvPr id="6" name="TextBox 5">
                <a:extLst>
                  <a:ext uri="{FF2B5EF4-FFF2-40B4-BE49-F238E27FC236}">
                    <a16:creationId xmlns:a16="http://schemas.microsoft.com/office/drawing/2014/main" id="{53437FE9-572B-725D-9A30-0CBC69FAA635}"/>
                  </a:ext>
                </a:extLst>
              </p:cNvPr>
              <p:cNvSpPr txBox="1">
                <a:spLocks noRot="1" noChangeAspect="1" noMove="1" noResize="1" noEditPoints="1" noAdjustHandles="1" noChangeArrowheads="1" noChangeShapeType="1" noTextEdit="1"/>
              </p:cNvSpPr>
              <p:nvPr/>
            </p:nvSpPr>
            <p:spPr>
              <a:xfrm>
                <a:off x="-1711838" y="5166381"/>
                <a:ext cx="6094520" cy="1359988"/>
              </a:xfrm>
              <a:prstGeom prst="rect">
                <a:avLst/>
              </a:prstGeom>
              <a:blipFill>
                <a:blip r:embed="rId4"/>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6720C9BD-206D-1246-CC58-B94DA2A9FDA7}"/>
              </a:ext>
            </a:extLst>
          </p:cNvPr>
          <p:cNvSpPr txBox="1"/>
          <p:nvPr/>
        </p:nvSpPr>
        <p:spPr>
          <a:xfrm>
            <a:off x="4117968" y="43078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AC3B474-840E-CEFB-D2FC-D4C57EE4B2BB}"/>
                  </a:ext>
                </a:extLst>
              </p:cNvPr>
              <p:cNvSpPr txBox="1"/>
              <p:nvPr/>
            </p:nvSpPr>
            <p:spPr>
              <a:xfrm>
                <a:off x="1248850" y="5138012"/>
                <a:ext cx="6094520" cy="13599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3</m:t>
                          </m:r>
                        </m:num>
                        <m:den>
                          <m:r>
                            <a:rPr lang="en-AU" sz="4400" b="0" i="1" smtClean="0">
                              <a:latin typeface="Cambria Math" panose="02040503050406030204" pitchFamily="18" charset="0"/>
                            </a:rPr>
                            <m:t>4</m:t>
                          </m:r>
                        </m:den>
                      </m:f>
                    </m:oMath>
                  </m:oMathPara>
                </a14:m>
                <a:endParaRPr lang="en-AU" sz="4400"/>
              </a:p>
            </p:txBody>
          </p:sp>
        </mc:Choice>
        <mc:Fallback xmlns="">
          <p:sp>
            <p:nvSpPr>
              <p:cNvPr id="7" name="TextBox 6">
                <a:extLst>
                  <a:ext uri="{FF2B5EF4-FFF2-40B4-BE49-F238E27FC236}">
                    <a16:creationId xmlns:a16="http://schemas.microsoft.com/office/drawing/2014/main" id="{4AC3B474-840E-CEFB-D2FC-D4C57EE4B2BB}"/>
                  </a:ext>
                </a:extLst>
              </p:cNvPr>
              <p:cNvSpPr txBox="1">
                <a:spLocks noRot="1" noChangeAspect="1" noMove="1" noResize="1" noEditPoints="1" noAdjustHandles="1" noChangeArrowheads="1" noChangeShapeType="1" noTextEdit="1"/>
              </p:cNvSpPr>
              <p:nvPr/>
            </p:nvSpPr>
            <p:spPr>
              <a:xfrm>
                <a:off x="1248850" y="5138012"/>
                <a:ext cx="6094520" cy="1359988"/>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53D31413-FF78-7189-1A0F-0B12F84CC32D}"/>
              </a:ext>
            </a:extLst>
          </p:cNvPr>
          <p:cNvSpPr txBox="1"/>
          <p:nvPr/>
        </p:nvSpPr>
        <p:spPr>
          <a:xfrm>
            <a:off x="7121941" y="43078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F6D3DA-0E97-4A45-032B-547C5F60D792}"/>
                  </a:ext>
                </a:extLst>
              </p:cNvPr>
              <p:cNvSpPr txBox="1"/>
              <p:nvPr/>
            </p:nvSpPr>
            <p:spPr>
              <a:xfrm>
                <a:off x="4296110" y="5194750"/>
                <a:ext cx="6094520" cy="13599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2</m:t>
                          </m:r>
                        </m:num>
                        <m:den>
                          <m:r>
                            <a:rPr lang="en-AU" sz="4400" b="0" i="1" smtClean="0">
                              <a:latin typeface="Cambria Math" panose="02040503050406030204" pitchFamily="18" charset="0"/>
                            </a:rPr>
                            <m:t>4</m:t>
                          </m:r>
                        </m:den>
                      </m:f>
                    </m:oMath>
                  </m:oMathPara>
                </a14:m>
                <a:endParaRPr lang="en-AU" sz="4400"/>
              </a:p>
            </p:txBody>
          </p:sp>
        </mc:Choice>
        <mc:Fallback xmlns="">
          <p:sp>
            <p:nvSpPr>
              <p:cNvPr id="8" name="TextBox 7">
                <a:extLst>
                  <a:ext uri="{FF2B5EF4-FFF2-40B4-BE49-F238E27FC236}">
                    <a16:creationId xmlns:a16="http://schemas.microsoft.com/office/drawing/2014/main" id="{F8F6D3DA-0E97-4A45-032B-547C5F60D792}"/>
                  </a:ext>
                </a:extLst>
              </p:cNvPr>
              <p:cNvSpPr txBox="1">
                <a:spLocks noRot="1" noChangeAspect="1" noMove="1" noResize="1" noEditPoints="1" noAdjustHandles="1" noChangeArrowheads="1" noChangeShapeType="1" noTextEdit="1"/>
              </p:cNvSpPr>
              <p:nvPr/>
            </p:nvSpPr>
            <p:spPr>
              <a:xfrm>
                <a:off x="4296110" y="5194750"/>
                <a:ext cx="6094520" cy="1359988"/>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03294A5-CB62-91E6-0D20-1199ECBFAF01}"/>
              </a:ext>
            </a:extLst>
          </p:cNvPr>
          <p:cNvSpPr txBox="1"/>
          <p:nvPr/>
        </p:nvSpPr>
        <p:spPr>
          <a:xfrm>
            <a:off x="10125915" y="43078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3135142-771F-1732-81EF-890FD631D1A5}"/>
                  </a:ext>
                </a:extLst>
              </p:cNvPr>
              <p:cNvSpPr txBox="1"/>
              <p:nvPr/>
            </p:nvSpPr>
            <p:spPr>
              <a:xfrm>
                <a:off x="7322994" y="5251488"/>
                <a:ext cx="6094520" cy="13599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i="1">
                              <a:latin typeface="Cambria Math" panose="02040503050406030204" pitchFamily="18" charset="0"/>
                            </a:rPr>
                            <m:t>1</m:t>
                          </m:r>
                        </m:num>
                        <m:den>
                          <m:r>
                            <a:rPr lang="en-AU" sz="4400" b="0" i="1" smtClean="0">
                              <a:latin typeface="Cambria Math" panose="02040503050406030204" pitchFamily="18" charset="0"/>
                            </a:rPr>
                            <m:t>4</m:t>
                          </m:r>
                        </m:den>
                      </m:f>
                    </m:oMath>
                  </m:oMathPara>
                </a14:m>
                <a:endParaRPr lang="en-AU" sz="4400"/>
              </a:p>
            </p:txBody>
          </p:sp>
        </mc:Choice>
        <mc:Fallback xmlns="">
          <p:sp>
            <p:nvSpPr>
              <p:cNvPr id="13" name="TextBox 12">
                <a:extLst>
                  <a:ext uri="{FF2B5EF4-FFF2-40B4-BE49-F238E27FC236}">
                    <a16:creationId xmlns:a16="http://schemas.microsoft.com/office/drawing/2014/main" id="{F3135142-771F-1732-81EF-890FD631D1A5}"/>
                  </a:ext>
                </a:extLst>
              </p:cNvPr>
              <p:cNvSpPr txBox="1">
                <a:spLocks noRot="1" noChangeAspect="1" noMove="1" noResize="1" noEditPoints="1" noAdjustHandles="1" noChangeArrowheads="1" noChangeShapeType="1" noTextEdit="1"/>
              </p:cNvSpPr>
              <p:nvPr/>
            </p:nvSpPr>
            <p:spPr>
              <a:xfrm>
                <a:off x="7322994" y="5251488"/>
                <a:ext cx="6094520" cy="1359988"/>
              </a:xfrm>
              <a:prstGeom prst="rect">
                <a:avLst/>
              </a:prstGeom>
              <a:blipFill>
                <a:blip r:embed="rId7"/>
                <a:stretch>
                  <a:fillRect/>
                </a:stretch>
              </a:blipFill>
            </p:spPr>
            <p:txBody>
              <a:bodyPr/>
              <a:lstStyle/>
              <a:p>
                <a:r>
                  <a:rPr lang="en-US">
                    <a:noFill/>
                  </a:rPr>
                  <a:t> </a:t>
                </a:r>
              </a:p>
            </p:txBody>
          </p:sp>
        </mc:Fallback>
      </mc:AlternateContent>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8"/>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a:xfrm>
            <a:off x="11223531" y="6554738"/>
            <a:ext cx="720000" cy="180000"/>
          </a:xfrm>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5" name="TextBox 4">
            <a:extLst>
              <a:ext uri="{FF2B5EF4-FFF2-40B4-BE49-F238E27FC236}">
                <a16:creationId xmlns:a16="http://schemas.microsoft.com/office/drawing/2014/main" id="{9FA2040D-D9FC-207F-EA52-E4E7714BE01C}"/>
              </a:ext>
            </a:extLst>
          </p:cNvPr>
          <p:cNvSpPr txBox="1"/>
          <p:nvPr/>
        </p:nvSpPr>
        <p:spPr>
          <a:xfrm>
            <a:off x="360000" y="987094"/>
            <a:ext cx="11385157" cy="5330498"/>
          </a:xfrm>
          <a:prstGeom prst="rect">
            <a:avLst/>
          </a:prstGeom>
          <a:noFill/>
        </p:spPr>
        <p:txBody>
          <a:bodyPr wrap="square">
            <a:spAutoFit/>
          </a:bodyPr>
          <a:lstStyle/>
          <a:p>
            <a:pPr algn="ctr">
              <a:lnSpc>
                <a:spcPct val="150000"/>
              </a:lnSpc>
              <a:buNone/>
            </a:pPr>
            <a:r>
              <a:rPr lang="en-AU" sz="3300"/>
              <a:t>Mia is designing a game using a bag with </a:t>
            </a:r>
            <a:r>
              <a:rPr lang="en-AU" sz="3300" b="1"/>
              <a:t>5</a:t>
            </a:r>
            <a:r>
              <a:rPr lang="en-AU" sz="3300"/>
              <a:t> counters: </a:t>
            </a:r>
            <a:r>
              <a:rPr lang="en-AU" sz="3300">
                <a:solidFill>
                  <a:schemeClr val="tx2"/>
                </a:solidFill>
              </a:rPr>
              <a:t>2 red</a:t>
            </a:r>
            <a:r>
              <a:rPr lang="en-AU" sz="3300"/>
              <a:t>, </a:t>
            </a:r>
            <a:r>
              <a:rPr lang="en-AU" sz="3300">
                <a:solidFill>
                  <a:schemeClr val="accent1">
                    <a:lumMod val="75000"/>
                    <a:lumOff val="25000"/>
                  </a:schemeClr>
                </a:solidFill>
              </a:rPr>
              <a:t>1 blue</a:t>
            </a:r>
            <a:r>
              <a:rPr lang="en-AU" sz="3300"/>
              <a:t>, and </a:t>
            </a:r>
            <a:r>
              <a:rPr lang="en-AU" sz="3300">
                <a:solidFill>
                  <a:srgbClr val="F33BE1"/>
                </a:solidFill>
              </a:rPr>
              <a:t>2 pink</a:t>
            </a:r>
            <a:r>
              <a:rPr lang="en-AU" sz="3300"/>
              <a:t>. A player draws one counter at random.</a:t>
            </a:r>
          </a:p>
          <a:p>
            <a:pPr marL="457200" indent="-457200" algn="ctr">
              <a:lnSpc>
                <a:spcPct val="150000"/>
              </a:lnSpc>
              <a:buFont typeface="Arial" panose="020B0604020202020204" pitchFamily="34" charset="0"/>
              <a:buChar char="•"/>
            </a:pPr>
            <a:r>
              <a:rPr lang="en-AU" sz="3300"/>
              <a:t>Record </a:t>
            </a:r>
            <a:r>
              <a:rPr lang="en-AU" sz="3300" b="1"/>
              <a:t>all possible outcomes </a:t>
            </a:r>
            <a:r>
              <a:rPr lang="en-AU" sz="3300"/>
              <a:t>and assign a </a:t>
            </a:r>
            <a:r>
              <a:rPr lang="en-AU" sz="3300" b="1"/>
              <a:t>fraction to show the probability</a:t>
            </a:r>
            <a:r>
              <a:rPr lang="en-AU" sz="3300"/>
              <a:t> of drawing each colour.</a:t>
            </a:r>
          </a:p>
          <a:p>
            <a:pPr marL="457200" indent="-457200" algn="ctr">
              <a:lnSpc>
                <a:spcPct val="150000"/>
              </a:lnSpc>
              <a:buFont typeface="Arial" panose="020B0604020202020204" pitchFamily="34" charset="0"/>
              <a:buChar char="•"/>
            </a:pPr>
            <a:r>
              <a:rPr lang="en-AU" sz="3300"/>
              <a:t>Which outcomes are </a:t>
            </a:r>
            <a:r>
              <a:rPr lang="en-AU" sz="3300" b="1"/>
              <a:t>not equally likely</a:t>
            </a:r>
            <a:r>
              <a:rPr lang="en-AU" sz="3300"/>
              <a:t>? </a:t>
            </a:r>
          </a:p>
          <a:p>
            <a:pPr marL="457200" indent="-457200" algn="ctr">
              <a:lnSpc>
                <a:spcPct val="150000"/>
              </a:lnSpc>
              <a:buFont typeface="Arial" panose="020B0604020202020204" pitchFamily="34" charset="0"/>
              <a:buChar char="•"/>
            </a:pPr>
            <a:r>
              <a:rPr lang="en-AU" sz="3300"/>
              <a:t>How could Mia change the game so that </a:t>
            </a:r>
            <a:r>
              <a:rPr lang="en-AU" sz="3300" b="1"/>
              <a:t>all outcomes are equally likely</a:t>
            </a:r>
            <a:r>
              <a:rPr lang="en-AU" sz="3300"/>
              <a:t>?</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4" name="TextBox 3">
            <a:extLst>
              <a:ext uri="{FF2B5EF4-FFF2-40B4-BE49-F238E27FC236}">
                <a16:creationId xmlns:a16="http://schemas.microsoft.com/office/drawing/2014/main" id="{FCC540BE-3601-E132-AE94-FC1765198572}"/>
              </a:ext>
            </a:extLst>
          </p:cNvPr>
          <p:cNvSpPr txBox="1"/>
          <p:nvPr/>
        </p:nvSpPr>
        <p:spPr>
          <a:xfrm>
            <a:off x="280101" y="1509204"/>
            <a:ext cx="11394035" cy="4216893"/>
          </a:xfrm>
          <a:prstGeom prst="rect">
            <a:avLst/>
          </a:prstGeom>
          <a:noFill/>
        </p:spPr>
        <p:txBody>
          <a:bodyPr wrap="square" lIns="0" tIns="0" rIns="0" bIns="0" rtlCol="0">
            <a:noAutofit/>
          </a:bodyPr>
          <a:lstStyle/>
          <a:p>
            <a:pPr algn="ctr">
              <a:lnSpc>
                <a:spcPct val="150000"/>
              </a:lnSpc>
            </a:pPr>
            <a:r>
              <a:rPr lang="en-AU" sz="4000"/>
              <a:t>A baker bakes </a:t>
            </a:r>
            <a:r>
              <a:rPr lang="en-AU" sz="4000">
                <a:solidFill>
                  <a:schemeClr val="accent2"/>
                </a:solidFill>
              </a:rPr>
              <a:t>24</a:t>
            </a:r>
            <a:r>
              <a:rPr lang="en-AU" sz="4000"/>
              <a:t> loaves of bread every </a:t>
            </a:r>
            <a:r>
              <a:rPr lang="en-AU" sz="4000">
                <a:solidFill>
                  <a:schemeClr val="accent2"/>
                </a:solidFill>
              </a:rPr>
              <a:t>3</a:t>
            </a:r>
            <a:r>
              <a:rPr lang="en-AU" sz="4000"/>
              <a:t> hours.</a:t>
            </a:r>
          </a:p>
          <a:p>
            <a:pPr marL="571500" indent="-571500" algn="ctr">
              <a:lnSpc>
                <a:spcPct val="150000"/>
              </a:lnSpc>
              <a:buFont typeface="Arial" panose="020B0604020202020204" pitchFamily="34" charset="0"/>
              <a:buChar char="•"/>
            </a:pPr>
            <a:r>
              <a:rPr lang="en-AU" sz="4000"/>
              <a:t>How many loaves will the baker bake in </a:t>
            </a:r>
            <a:r>
              <a:rPr lang="en-AU" sz="4000">
                <a:solidFill>
                  <a:schemeClr val="accent2"/>
                </a:solidFill>
              </a:rPr>
              <a:t>12</a:t>
            </a:r>
            <a:r>
              <a:rPr lang="en-AU" sz="4000"/>
              <a:t> hours?</a:t>
            </a:r>
          </a:p>
          <a:p>
            <a:pPr marL="571500" indent="-571500" algn="ctr">
              <a:lnSpc>
                <a:spcPct val="150000"/>
              </a:lnSpc>
              <a:buFont typeface="Arial" panose="020B0604020202020204" pitchFamily="34" charset="0"/>
              <a:buChar char="•"/>
            </a:pPr>
            <a:r>
              <a:rPr lang="en-AU" sz="4000"/>
              <a:t>How many hours will it take to bake </a:t>
            </a:r>
            <a:r>
              <a:rPr lang="en-AU" sz="4000">
                <a:solidFill>
                  <a:schemeClr val="accent2"/>
                </a:solidFill>
              </a:rPr>
              <a:t>96</a:t>
            </a:r>
            <a:r>
              <a:rPr lang="en-AU" sz="4000"/>
              <a:t> loaves at the same rate?</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5" name="TextBox 4">
            <a:extLst>
              <a:ext uri="{FF2B5EF4-FFF2-40B4-BE49-F238E27FC236}">
                <a16:creationId xmlns:a16="http://schemas.microsoft.com/office/drawing/2014/main" id="{64E71368-48CC-A99A-6359-DECBA8E3C622}"/>
              </a:ext>
            </a:extLst>
          </p:cNvPr>
          <p:cNvSpPr txBox="1"/>
          <p:nvPr/>
        </p:nvSpPr>
        <p:spPr>
          <a:xfrm>
            <a:off x="131346" y="1722476"/>
            <a:ext cx="8224707" cy="3671583"/>
          </a:xfrm>
          <a:prstGeom prst="rect">
            <a:avLst/>
          </a:prstGeom>
          <a:noFill/>
        </p:spPr>
        <p:txBody>
          <a:bodyPr wrap="square">
            <a:spAutoFit/>
          </a:bodyPr>
          <a:lstStyle/>
          <a:p>
            <a:pPr>
              <a:lnSpc>
                <a:spcPct val="150000"/>
              </a:lnSpc>
            </a:pPr>
            <a:r>
              <a:rPr lang="en-AU" sz="4000"/>
              <a:t>A pickleball set costs $75.</a:t>
            </a:r>
          </a:p>
          <a:p>
            <a:pPr marL="571500" indent="-571500">
              <a:lnSpc>
                <a:spcPct val="150000"/>
              </a:lnSpc>
              <a:buFont typeface="Arial" panose="020B0604020202020204" pitchFamily="34" charset="0"/>
              <a:buChar char="•"/>
            </a:pPr>
            <a:r>
              <a:rPr lang="en-AU" sz="4000"/>
              <a:t>Shop A offers </a:t>
            </a:r>
            <a:r>
              <a:rPr lang="en-AU" sz="4000">
                <a:solidFill>
                  <a:schemeClr val="accent2"/>
                </a:solidFill>
              </a:rPr>
              <a:t>25% </a:t>
            </a:r>
            <a:r>
              <a:rPr lang="en-AU" sz="4000"/>
              <a:t>off.</a:t>
            </a:r>
          </a:p>
          <a:p>
            <a:pPr marL="571500" indent="-571500">
              <a:lnSpc>
                <a:spcPct val="150000"/>
              </a:lnSpc>
              <a:buFont typeface="Arial" panose="020B0604020202020204" pitchFamily="34" charset="0"/>
              <a:buChar char="•"/>
            </a:pPr>
            <a:r>
              <a:rPr lang="en-AU" sz="4000"/>
              <a:t>Shop B offers </a:t>
            </a:r>
            <a:r>
              <a:rPr lang="en-AU" sz="4000">
                <a:solidFill>
                  <a:schemeClr val="accent2"/>
                </a:solidFill>
              </a:rPr>
              <a:t>$20 </a:t>
            </a:r>
            <a:r>
              <a:rPr lang="en-AU" sz="4000"/>
              <a:t>off.</a:t>
            </a:r>
          </a:p>
          <a:p>
            <a:pPr>
              <a:lnSpc>
                <a:spcPct val="150000"/>
              </a:lnSpc>
            </a:pPr>
            <a:r>
              <a:rPr lang="en-AU" sz="4000"/>
              <a:t>Which shop offers the best price? </a:t>
            </a:r>
          </a:p>
        </p:txBody>
      </p:sp>
      <p:pic>
        <p:nvPicPr>
          <p:cNvPr id="7" name="Picture 6" descr="Shop A has a sale label reading ‘25% off.’ Shop B has a sale label reading ‘$20 off.’">
            <a:extLst>
              <a:ext uri="{FF2B5EF4-FFF2-40B4-BE49-F238E27FC236}">
                <a16:creationId xmlns:a16="http://schemas.microsoft.com/office/drawing/2014/main" id="{D417C885-DB92-6D94-9529-2A2635077504}"/>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rot="16200000">
            <a:off x="7710050" y="455564"/>
            <a:ext cx="2807327" cy="5136983"/>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3B6556A4-ABAC-F87A-BB58-E53ED2F6F4B4}"/>
              </a:ext>
            </a:extLst>
          </p:cNvPr>
          <p:cNvSpPr txBox="1"/>
          <p:nvPr/>
        </p:nvSpPr>
        <p:spPr>
          <a:xfrm>
            <a:off x="1120462" y="5496143"/>
            <a:ext cx="8472020" cy="901593"/>
          </a:xfrm>
          <a:prstGeom prst="rect">
            <a:avLst/>
          </a:prstGeom>
          <a:noFill/>
        </p:spPr>
        <p:txBody>
          <a:bodyPr wrap="square">
            <a:spAutoFit/>
          </a:bodyPr>
          <a:lstStyle/>
          <a:p>
            <a:pPr algn="ctr">
              <a:lnSpc>
                <a:spcPct val="150000"/>
              </a:lnSpc>
            </a:pPr>
            <a:r>
              <a:rPr lang="en-AU" sz="4000" b="1"/>
              <a:t>Communicate</a:t>
            </a:r>
            <a:r>
              <a:rPr lang="en-AU" sz="4000"/>
              <a:t> your </a:t>
            </a:r>
            <a:r>
              <a:rPr lang="en-AU" sz="4000" b="1"/>
              <a:t>reasoning</a:t>
            </a:r>
            <a:r>
              <a:rPr lang="en-AU" sz="4000"/>
              <a:t>.</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3" name="TextBox 22">
            <a:extLst>
              <a:ext uri="{FF2B5EF4-FFF2-40B4-BE49-F238E27FC236}">
                <a16:creationId xmlns:a16="http://schemas.microsoft.com/office/drawing/2014/main" id="{4E9DDB6D-38C3-C825-9FAD-D80F722087FD}"/>
              </a:ext>
            </a:extLst>
          </p:cNvPr>
          <p:cNvSpPr txBox="1"/>
          <p:nvPr/>
        </p:nvSpPr>
        <p:spPr>
          <a:xfrm>
            <a:off x="360000" y="907616"/>
            <a:ext cx="10988720" cy="2482667"/>
          </a:xfrm>
          <a:prstGeom prst="rect">
            <a:avLst/>
          </a:prstGeom>
          <a:noFill/>
        </p:spPr>
        <p:txBody>
          <a:bodyPr wrap="square">
            <a:spAutoFit/>
          </a:bodyPr>
          <a:lstStyle/>
          <a:p>
            <a:pPr algn="ctr">
              <a:lnSpc>
                <a:spcPct val="150000"/>
              </a:lnSpc>
            </a:pPr>
            <a:r>
              <a:rPr lang="en-AU" sz="3600"/>
              <a:t>Water bottles for a school sports day are filled with the following amounts of water. The capacities are recorded in </a:t>
            </a:r>
            <a:r>
              <a:rPr lang="en-AU" sz="3600" b="1"/>
              <a:t>litres</a:t>
            </a:r>
            <a:r>
              <a:rPr lang="en-AU" sz="3600"/>
              <a:t>.</a:t>
            </a:r>
          </a:p>
        </p:txBody>
      </p:sp>
      <p:graphicFrame>
        <p:nvGraphicFramePr>
          <p:cNvPr id="21" name="Table 20">
            <a:extLst>
              <a:ext uri="{FF2B5EF4-FFF2-40B4-BE49-F238E27FC236}">
                <a16:creationId xmlns:a16="http://schemas.microsoft.com/office/drawing/2014/main" id="{CE40FB4A-1985-125D-A88A-1F35B2AB47EB}"/>
              </a:ext>
            </a:extLst>
          </p:cNvPr>
          <p:cNvGraphicFramePr>
            <a:graphicFrameLocks noGrp="1"/>
          </p:cNvGraphicFramePr>
          <p:nvPr>
            <p:extLst>
              <p:ext uri="{D42A27DB-BD31-4B8C-83A1-F6EECF244321}">
                <p14:modId xmlns:p14="http://schemas.microsoft.com/office/powerpoint/2010/main" val="1984516728"/>
              </p:ext>
            </p:extLst>
          </p:nvPr>
        </p:nvGraphicFramePr>
        <p:xfrm>
          <a:off x="2032000" y="3429000"/>
          <a:ext cx="8128000" cy="1483360"/>
        </p:xfrm>
        <a:graphic>
          <a:graphicData uri="http://schemas.openxmlformats.org/drawingml/2006/table">
            <a:tbl>
              <a:tblPr firstRow="1" bandRow="1">
                <a:tableStyleId>{69012ECD-51FC-41F1-AA8D-1B2483CD663E}</a:tableStyleId>
              </a:tblPr>
              <a:tblGrid>
                <a:gridCol w="2779697">
                  <a:extLst>
                    <a:ext uri="{9D8B030D-6E8A-4147-A177-3AD203B41FA5}">
                      <a16:colId xmlns:a16="http://schemas.microsoft.com/office/drawing/2014/main" val="3451668695"/>
                    </a:ext>
                  </a:extLst>
                </a:gridCol>
                <a:gridCol w="5348303">
                  <a:extLst>
                    <a:ext uri="{9D8B030D-6E8A-4147-A177-3AD203B41FA5}">
                      <a16:colId xmlns:a16="http://schemas.microsoft.com/office/drawing/2014/main" val="2857622658"/>
                    </a:ext>
                  </a:extLst>
                </a:gridCol>
              </a:tblGrid>
              <a:tr h="370840">
                <a:tc>
                  <a:txBody>
                    <a:bodyPr/>
                    <a:lstStyle/>
                    <a:p>
                      <a:pPr algn="ctr"/>
                      <a:r>
                        <a:rPr lang="en-AU"/>
                        <a:t>Bottle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a:t>Volume (L)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4583895"/>
                  </a:ext>
                </a:extLst>
              </a:tr>
              <a:tr h="370840">
                <a:tc>
                  <a:txBody>
                    <a:bodyPr/>
                    <a:lstStyle/>
                    <a:p>
                      <a:pPr algn="ctr"/>
                      <a:r>
                        <a:rPr lang="en-AU"/>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a:t>0.325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156254"/>
                  </a:ext>
                </a:extLst>
              </a:tr>
              <a:tr h="370840">
                <a:tc>
                  <a:txBody>
                    <a:bodyPr/>
                    <a:lstStyle/>
                    <a:p>
                      <a:pPr algn="ctr"/>
                      <a:r>
                        <a:rPr lang="en-AU"/>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a:t>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753081"/>
                  </a:ext>
                </a:extLst>
              </a:tr>
              <a:tr h="370840">
                <a:tc>
                  <a:txBody>
                    <a:bodyPr/>
                    <a:lstStyle/>
                    <a:p>
                      <a:pPr algn="ctr"/>
                      <a:r>
                        <a:rPr lang="en-AU"/>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a:t>1.275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2810401"/>
                  </a:ext>
                </a:extLst>
              </a:tr>
            </a:tbl>
          </a:graphicData>
        </a:graphic>
      </p:graphicFrame>
      <p:sp>
        <p:nvSpPr>
          <p:cNvPr id="25" name="TextBox 24">
            <a:extLst>
              <a:ext uri="{FF2B5EF4-FFF2-40B4-BE49-F238E27FC236}">
                <a16:creationId xmlns:a16="http://schemas.microsoft.com/office/drawing/2014/main" id="{D825ADF7-43D9-ABAC-F558-0F7E2BB83409}"/>
              </a:ext>
            </a:extLst>
          </p:cNvPr>
          <p:cNvSpPr txBox="1"/>
          <p:nvPr/>
        </p:nvSpPr>
        <p:spPr>
          <a:xfrm>
            <a:off x="614543" y="4954329"/>
            <a:ext cx="10479634" cy="1651671"/>
          </a:xfrm>
          <a:prstGeom prst="rect">
            <a:avLst/>
          </a:prstGeom>
          <a:noFill/>
        </p:spPr>
        <p:txBody>
          <a:bodyPr wrap="square">
            <a:spAutoFit/>
          </a:bodyPr>
          <a:lstStyle/>
          <a:p>
            <a:pPr algn="ctr">
              <a:lnSpc>
                <a:spcPct val="150000"/>
              </a:lnSpc>
              <a:buFont typeface="+mj-lt"/>
              <a:buAutoNum type="arabicPeriod"/>
            </a:pPr>
            <a:r>
              <a:rPr lang="en-AU" sz="3600"/>
              <a:t>Order the capacities from </a:t>
            </a:r>
            <a:r>
              <a:rPr lang="en-AU" sz="3600" b="1"/>
              <a:t>smallest</a:t>
            </a:r>
            <a:r>
              <a:rPr lang="en-AU" sz="3600"/>
              <a:t> to </a:t>
            </a:r>
            <a:r>
              <a:rPr lang="en-AU" sz="3600" b="1"/>
              <a:t>largest</a:t>
            </a:r>
            <a:r>
              <a:rPr lang="en-AU" sz="3600"/>
              <a:t>?</a:t>
            </a:r>
          </a:p>
          <a:p>
            <a:pPr algn="ctr">
              <a:lnSpc>
                <a:spcPct val="150000"/>
              </a:lnSpc>
              <a:buFont typeface="+mj-lt"/>
              <a:buAutoNum type="arabicPeriod"/>
            </a:pPr>
            <a:r>
              <a:rPr lang="en-AU" sz="3600"/>
              <a:t>Which bottle holds more than </a:t>
            </a:r>
            <a:r>
              <a:rPr lang="en-AU" sz="3600" b="1"/>
              <a:t>1000 mL</a:t>
            </a:r>
            <a:r>
              <a:rPr lang="en-AU" sz="3600"/>
              <a:t>?</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equivalent fractions 3</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5" name="TextBox 4">
            <a:extLst>
              <a:ext uri="{FF2B5EF4-FFF2-40B4-BE49-F238E27FC236}">
                <a16:creationId xmlns:a16="http://schemas.microsoft.com/office/drawing/2014/main" id="{8BEE08D4-426B-950C-1679-045239790799}"/>
              </a:ext>
            </a:extLst>
          </p:cNvPr>
          <p:cNvSpPr txBox="1"/>
          <p:nvPr/>
        </p:nvSpPr>
        <p:spPr>
          <a:xfrm>
            <a:off x="359999" y="1114985"/>
            <a:ext cx="10959029" cy="5532220"/>
          </a:xfrm>
          <a:prstGeom prst="rect">
            <a:avLst/>
          </a:prstGeom>
          <a:noFill/>
        </p:spPr>
        <p:txBody>
          <a:bodyPr wrap="square">
            <a:spAutoFit/>
          </a:bodyPr>
          <a:lstStyle/>
          <a:p>
            <a:pPr lvl="0">
              <a:lnSpc>
                <a:spcPct val="150000"/>
              </a:lnSpc>
              <a:spcBef>
                <a:spcPts val="1200"/>
              </a:spcBef>
              <a:spcAft>
                <a:spcPts val="600"/>
              </a:spcAft>
            </a:pPr>
            <a:r>
              <a:rPr lang="en-AU" sz="2700">
                <a:effectLst/>
                <a:latin typeface="Arial" panose="020B0604020202020204" pitchFamily="34" charset="0"/>
                <a:ea typeface="Calibri" panose="020F0502020204030204" pitchFamily="34" charset="0"/>
              </a:rPr>
              <a:t>Step 1: </a:t>
            </a:r>
            <a:r>
              <a:rPr lang="en-AU" sz="2700">
                <a:latin typeface="Arial" panose="020B0604020202020204" pitchFamily="34" charset="0"/>
                <a:ea typeface="Calibri" panose="020F0502020204030204" pitchFamily="34" charset="0"/>
              </a:rPr>
              <a:t>C</a:t>
            </a:r>
            <a:r>
              <a:rPr lang="en-AU" sz="2700">
                <a:effectLst/>
                <a:latin typeface="Arial" panose="020B0604020202020204" pitchFamily="34" charset="0"/>
                <a:ea typeface="Calibri" panose="020F0502020204030204" pitchFamily="34" charset="0"/>
              </a:rPr>
              <a:t>hoose a fraction with a </a:t>
            </a:r>
            <a:r>
              <a:rPr lang="en-AU" sz="2700" b="1">
                <a:effectLst/>
                <a:latin typeface="Arial" panose="020B0604020202020204" pitchFamily="34" charset="0"/>
                <a:ea typeface="Calibri" panose="020F0502020204030204" pitchFamily="34" charset="0"/>
              </a:rPr>
              <a:t>denominator</a:t>
            </a:r>
            <a:r>
              <a:rPr lang="en-AU" sz="2700">
                <a:effectLst/>
                <a:latin typeface="Arial" panose="020B0604020202020204" pitchFamily="34" charset="0"/>
                <a:ea typeface="Calibri" panose="020F0502020204030204" pitchFamily="34" charset="0"/>
              </a:rPr>
              <a:t> of </a:t>
            </a:r>
            <a:r>
              <a:rPr lang="en-AU" sz="2700">
                <a:solidFill>
                  <a:schemeClr val="accent2"/>
                </a:solidFill>
                <a:effectLst/>
                <a:latin typeface="Arial" panose="020B0604020202020204" pitchFamily="34" charset="0"/>
                <a:ea typeface="Calibri" panose="020F0502020204030204" pitchFamily="34" charset="0"/>
              </a:rPr>
              <a:t>2</a:t>
            </a:r>
            <a:r>
              <a:rPr lang="en-AU" sz="2700">
                <a:effectLst/>
                <a:latin typeface="Arial" panose="020B0604020202020204" pitchFamily="34" charset="0"/>
                <a:ea typeface="Calibri" panose="020F0502020204030204" pitchFamily="34" charset="0"/>
              </a:rPr>
              <a:t>, </a:t>
            </a:r>
            <a:r>
              <a:rPr lang="en-AU" sz="2700">
                <a:solidFill>
                  <a:schemeClr val="accent2"/>
                </a:solidFill>
                <a:effectLst/>
                <a:latin typeface="Arial" panose="020B0604020202020204" pitchFamily="34" charset="0"/>
                <a:ea typeface="Calibri" panose="020F0502020204030204" pitchFamily="34" charset="0"/>
              </a:rPr>
              <a:t>3</a:t>
            </a:r>
            <a:r>
              <a:rPr lang="en-AU" sz="2700">
                <a:effectLst/>
                <a:latin typeface="Arial" panose="020B0604020202020204" pitchFamily="34" charset="0"/>
                <a:ea typeface="Calibri" panose="020F0502020204030204" pitchFamily="34" charset="0"/>
              </a:rPr>
              <a:t>, </a:t>
            </a:r>
            <a:r>
              <a:rPr lang="en-AU" sz="2700">
                <a:solidFill>
                  <a:schemeClr val="accent2"/>
                </a:solidFill>
                <a:effectLst/>
                <a:latin typeface="Arial" panose="020B0604020202020204" pitchFamily="34" charset="0"/>
                <a:ea typeface="Calibri" panose="020F0502020204030204" pitchFamily="34" charset="0"/>
              </a:rPr>
              <a:t>4</a:t>
            </a:r>
            <a:r>
              <a:rPr lang="en-AU" sz="2700">
                <a:effectLst/>
                <a:latin typeface="Arial" panose="020B0604020202020204" pitchFamily="34" charset="0"/>
                <a:ea typeface="Calibri" panose="020F0502020204030204" pitchFamily="34" charset="0"/>
              </a:rPr>
              <a:t>, </a:t>
            </a:r>
            <a:r>
              <a:rPr lang="en-AU" sz="2700">
                <a:solidFill>
                  <a:schemeClr val="accent2"/>
                </a:solidFill>
                <a:effectLst/>
                <a:latin typeface="Arial" panose="020B0604020202020204" pitchFamily="34" charset="0"/>
                <a:ea typeface="Calibri" panose="020F0502020204030204" pitchFamily="34" charset="0"/>
              </a:rPr>
              <a:t>5</a:t>
            </a:r>
            <a:r>
              <a:rPr lang="en-AU" sz="2700">
                <a:effectLst/>
                <a:latin typeface="Arial" panose="020B0604020202020204" pitchFamily="34" charset="0"/>
                <a:ea typeface="Calibri" panose="020F0502020204030204" pitchFamily="34" charset="0"/>
              </a:rPr>
              <a:t>, </a:t>
            </a:r>
            <a:r>
              <a:rPr lang="en-AU" sz="2700">
                <a:solidFill>
                  <a:schemeClr val="accent2"/>
                </a:solidFill>
                <a:effectLst/>
                <a:latin typeface="Arial" panose="020B0604020202020204" pitchFamily="34" charset="0"/>
                <a:ea typeface="Calibri" panose="020F0502020204030204" pitchFamily="34" charset="0"/>
              </a:rPr>
              <a:t>6</a:t>
            </a:r>
            <a:r>
              <a:rPr lang="en-AU" sz="2700">
                <a:effectLst/>
                <a:latin typeface="Arial" panose="020B0604020202020204" pitchFamily="34" charset="0"/>
                <a:ea typeface="Calibri" panose="020F0502020204030204" pitchFamily="34" charset="0"/>
              </a:rPr>
              <a:t>, </a:t>
            </a:r>
            <a:r>
              <a:rPr lang="en-AU" sz="2700">
                <a:solidFill>
                  <a:schemeClr val="accent2"/>
                </a:solidFill>
                <a:effectLst/>
                <a:latin typeface="Arial" panose="020B0604020202020204" pitchFamily="34" charset="0"/>
                <a:ea typeface="Calibri" panose="020F0502020204030204" pitchFamily="34" charset="0"/>
              </a:rPr>
              <a:t>8</a:t>
            </a:r>
            <a:r>
              <a:rPr lang="en-AU" sz="2700">
                <a:effectLst/>
                <a:latin typeface="Arial" panose="020B0604020202020204" pitchFamily="34" charset="0"/>
                <a:ea typeface="Calibri" panose="020F0502020204030204" pitchFamily="34" charset="0"/>
              </a:rPr>
              <a:t>, or </a:t>
            </a:r>
            <a:r>
              <a:rPr lang="en-AU" sz="2700">
                <a:solidFill>
                  <a:schemeClr val="accent2"/>
                </a:solidFill>
                <a:effectLst/>
                <a:latin typeface="Arial" panose="020B0604020202020204" pitchFamily="34" charset="0"/>
                <a:ea typeface="Calibri" panose="020F0502020204030204" pitchFamily="34" charset="0"/>
              </a:rPr>
              <a:t>10</a:t>
            </a:r>
            <a:r>
              <a:rPr lang="en-AU" sz="2700">
                <a:effectLst/>
                <a:latin typeface="Arial" panose="020B0604020202020204" pitchFamily="34" charset="0"/>
                <a:ea typeface="Calibri" panose="020F0502020204030204" pitchFamily="34" charset="0"/>
              </a:rPr>
              <a:t>.</a:t>
            </a:r>
          </a:p>
          <a:p>
            <a:pPr lvl="0">
              <a:lnSpc>
                <a:spcPct val="150000"/>
              </a:lnSpc>
              <a:spcBef>
                <a:spcPts val="1200"/>
              </a:spcBef>
              <a:spcAft>
                <a:spcPts val="600"/>
              </a:spcAft>
            </a:pPr>
            <a:r>
              <a:rPr lang="en-AU" sz="2700">
                <a:effectLst/>
                <a:latin typeface="Arial" panose="020B0604020202020204" pitchFamily="34" charset="0"/>
                <a:ea typeface="Calibri" panose="020F0502020204030204" pitchFamily="34" charset="0"/>
              </a:rPr>
              <a:t>Step 2: Represent your fraction on a </a:t>
            </a:r>
            <a:r>
              <a:rPr lang="en-AU" sz="2700" b="1">
                <a:effectLst/>
                <a:latin typeface="Arial" panose="020B0604020202020204" pitchFamily="34" charset="0"/>
                <a:ea typeface="Calibri" panose="020F0502020204030204" pitchFamily="34" charset="0"/>
              </a:rPr>
              <a:t>number line</a:t>
            </a:r>
            <a:r>
              <a:rPr lang="en-AU" sz="2700">
                <a:effectLst/>
                <a:latin typeface="Arial" panose="020B0604020202020204" pitchFamily="34" charset="0"/>
                <a:ea typeface="Calibri" panose="020F0502020204030204" pitchFamily="34" charset="0"/>
              </a:rPr>
              <a:t>.</a:t>
            </a:r>
          </a:p>
          <a:p>
            <a:pPr lvl="0">
              <a:lnSpc>
                <a:spcPct val="150000"/>
              </a:lnSpc>
              <a:spcBef>
                <a:spcPts val="1200"/>
              </a:spcBef>
              <a:spcAft>
                <a:spcPts val="600"/>
              </a:spcAft>
            </a:pPr>
            <a:r>
              <a:rPr lang="en-AU" sz="2700">
                <a:effectLst/>
                <a:latin typeface="Arial" panose="020B0604020202020204" pitchFamily="34" charset="0"/>
                <a:ea typeface="Calibri" panose="020F0502020204030204" pitchFamily="34" charset="0"/>
              </a:rPr>
              <a:t>Step 3: Record 3 other </a:t>
            </a:r>
            <a:r>
              <a:rPr lang="en-AU" sz="2700" b="1">
                <a:effectLst/>
                <a:latin typeface="Arial" panose="020B0604020202020204" pitchFamily="34" charset="0"/>
                <a:ea typeface="Calibri" panose="020F0502020204030204" pitchFamily="34" charset="0"/>
              </a:rPr>
              <a:t>fractions equivalent to your fraction</a:t>
            </a:r>
            <a:r>
              <a:rPr lang="en-AU" sz="2700">
                <a:effectLst/>
                <a:latin typeface="Arial" panose="020B0604020202020204" pitchFamily="34" charset="0"/>
                <a:ea typeface="Calibri" panose="020F0502020204030204" pitchFamily="34" charset="0"/>
              </a:rPr>
              <a:t>.</a:t>
            </a:r>
          </a:p>
          <a:p>
            <a:pPr lvl="0">
              <a:lnSpc>
                <a:spcPct val="150000"/>
              </a:lnSpc>
              <a:spcBef>
                <a:spcPts val="1200"/>
              </a:spcBef>
              <a:spcAft>
                <a:spcPts val="600"/>
              </a:spcAft>
            </a:pPr>
            <a:r>
              <a:rPr lang="en-AU" sz="2700">
                <a:latin typeface="Arial" panose="020B0604020202020204" pitchFamily="34" charset="0"/>
                <a:ea typeface="Calibri" panose="020F0502020204030204" pitchFamily="34" charset="0"/>
              </a:rPr>
              <a:t>Step 4: </a:t>
            </a:r>
            <a:r>
              <a:rPr lang="en-AU" sz="2700">
                <a:effectLst/>
                <a:latin typeface="Arial" panose="020B0604020202020204" pitchFamily="34" charset="0"/>
                <a:ea typeface="Calibri" panose="020F0502020204030204" pitchFamily="34" charset="0"/>
              </a:rPr>
              <a:t>Represent your fraction as </a:t>
            </a:r>
            <a:r>
              <a:rPr lang="en-AU" sz="2700" b="1">
                <a:effectLst/>
                <a:latin typeface="Arial" panose="020B0604020202020204" pitchFamily="34" charset="0"/>
                <a:ea typeface="Calibri" panose="020F0502020204030204" pitchFamily="34" charset="0"/>
              </a:rPr>
              <a:t>part of a whole length</a:t>
            </a:r>
            <a:r>
              <a:rPr lang="en-AU" sz="2700">
                <a:effectLst/>
                <a:latin typeface="Arial" panose="020B0604020202020204" pitchFamily="34" charset="0"/>
                <a:ea typeface="Calibri" panose="020F0502020204030204" pitchFamily="34" charset="0"/>
              </a:rPr>
              <a:t>.</a:t>
            </a:r>
          </a:p>
          <a:p>
            <a:pPr lvl="0">
              <a:lnSpc>
                <a:spcPct val="150000"/>
              </a:lnSpc>
              <a:spcBef>
                <a:spcPts val="1200"/>
              </a:spcBef>
              <a:spcAft>
                <a:spcPts val="600"/>
              </a:spcAft>
            </a:pPr>
            <a:r>
              <a:rPr lang="en-AU" sz="2700">
                <a:effectLst/>
                <a:latin typeface="Arial" panose="020B0604020202020204" pitchFamily="34" charset="0"/>
                <a:ea typeface="Calibri" panose="020F0502020204030204" pitchFamily="34" charset="0"/>
              </a:rPr>
              <a:t>Step 5: Give a </a:t>
            </a:r>
            <a:r>
              <a:rPr lang="en-AU" sz="2700" b="1">
                <a:effectLst/>
                <a:latin typeface="Arial" panose="020B0604020202020204" pitchFamily="34" charset="0"/>
                <a:ea typeface="Calibri" panose="020F0502020204030204" pitchFamily="34" charset="0"/>
              </a:rPr>
              <a:t>real-life example </a:t>
            </a:r>
            <a:r>
              <a:rPr lang="en-AU" sz="2700">
                <a:effectLst/>
                <a:latin typeface="Arial" panose="020B0604020202020204" pitchFamily="34" charset="0"/>
                <a:ea typeface="Calibri" panose="020F0502020204030204" pitchFamily="34" charset="0"/>
              </a:rPr>
              <a:t>where your fraction might be useful.</a:t>
            </a:r>
          </a:p>
          <a:p>
            <a:pPr lvl="0">
              <a:lnSpc>
                <a:spcPct val="150000"/>
              </a:lnSpc>
              <a:spcBef>
                <a:spcPts val="1200"/>
              </a:spcBef>
              <a:spcAft>
                <a:spcPts val="600"/>
              </a:spcAft>
            </a:pPr>
            <a:r>
              <a:rPr lang="en-AU" sz="2700">
                <a:effectLst/>
                <a:latin typeface="Arial" panose="020B0604020202020204" pitchFamily="34" charset="0"/>
                <a:ea typeface="Calibri" panose="020F0502020204030204" pitchFamily="34" charset="0"/>
              </a:rPr>
              <a:t>Step 6: Represent your fraction in a </a:t>
            </a:r>
            <a:r>
              <a:rPr lang="en-AU" sz="2700" b="1">
                <a:effectLst/>
                <a:latin typeface="Arial" panose="020B0604020202020204" pitchFamily="34" charset="0"/>
                <a:ea typeface="Calibri" panose="020F0502020204030204" pitchFamily="34" charset="0"/>
              </a:rPr>
              <a:t>different form</a:t>
            </a:r>
            <a:r>
              <a:rPr lang="en-AU" sz="2700">
                <a:effectLst/>
                <a:latin typeface="Arial" panose="020B0604020202020204" pitchFamily="34" charset="0"/>
                <a:ea typeface="Calibri" panose="020F0502020204030204" pitchFamily="34" charset="0"/>
              </a:rPr>
              <a:t>, for example, tape diagram, circle or collection.</a:t>
            </a: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1" y="1222298"/>
                <a:ext cx="11243037" cy="893226"/>
              </a:xfrm>
            </p:spPr>
            <p:txBody>
              <a:bodyPr/>
              <a:lstStyle/>
              <a:p>
                <a:pPr algn="ctr"/>
                <a:r>
                  <a:rPr lang="en-AU" sz="4400"/>
                  <a:t>The fraction </a:t>
                </a:r>
                <a14:m>
                  <m:oMath xmlns:m="http://schemas.openxmlformats.org/officeDocument/2006/math">
                    <m:f>
                      <m:fPr>
                        <m:ctrlPr>
                          <a:rPr lang="en-AU" sz="4400" b="0" i="1" smtClean="0">
                            <a:solidFill>
                              <a:schemeClr val="accent2"/>
                            </a:solidFill>
                            <a:latin typeface="Cambria Math" panose="02040503050406030204" pitchFamily="18" charset="0"/>
                          </a:rPr>
                        </m:ctrlPr>
                      </m:fPr>
                      <m:num>
                        <m:r>
                          <a:rPr lang="en-AU" sz="4400" b="0" i="1" smtClean="0">
                            <a:solidFill>
                              <a:schemeClr val="accent2"/>
                            </a:solidFill>
                            <a:latin typeface="Cambria Math" panose="02040503050406030204" pitchFamily="18" charset="0"/>
                          </a:rPr>
                          <m:t>2</m:t>
                        </m:r>
                      </m:num>
                      <m:den>
                        <m:r>
                          <a:rPr lang="en-AU" sz="4400" b="0" i="1" smtClean="0">
                            <a:solidFill>
                              <a:schemeClr val="accent2"/>
                            </a:solidFill>
                            <a:latin typeface="Cambria Math" panose="02040503050406030204" pitchFamily="18" charset="0"/>
                          </a:rPr>
                          <m:t>10</m:t>
                        </m:r>
                      </m:den>
                    </m:f>
                  </m:oMath>
                </a14:m>
                <a:r>
                  <a:rPr lang="en-AU" sz="4400">
                    <a:solidFill>
                      <a:schemeClr val="accent2"/>
                    </a:solidFill>
                  </a:rPr>
                  <a:t> </a:t>
                </a:r>
                <a:r>
                  <a:rPr lang="en-AU" sz="4400"/>
                  <a:t>is </a:t>
                </a:r>
                <a:r>
                  <a:rPr lang="en-AU" sz="4400" b="1"/>
                  <a:t>equivalent</a:t>
                </a:r>
                <a:r>
                  <a:rPr lang="en-AU" sz="4400"/>
                  <a:t> to </a:t>
                </a:r>
                <a14:m>
                  <m:oMath xmlns:m="http://schemas.openxmlformats.org/officeDocument/2006/math">
                    <m:f>
                      <m:fPr>
                        <m:ctrlPr>
                          <a:rPr lang="en-AU" sz="4400" b="0" i="1" smtClean="0">
                            <a:solidFill>
                              <a:schemeClr val="accent2"/>
                            </a:solidFill>
                            <a:latin typeface="Cambria Math" panose="02040503050406030204" pitchFamily="18" charset="0"/>
                          </a:rPr>
                        </m:ctrlPr>
                      </m:fPr>
                      <m:num>
                        <m:r>
                          <a:rPr lang="en-AU" sz="4400" b="0" i="1" smtClean="0">
                            <a:solidFill>
                              <a:schemeClr val="accent2"/>
                            </a:solidFill>
                            <a:latin typeface="Cambria Math" panose="02040503050406030204" pitchFamily="18" charset="0"/>
                          </a:rPr>
                          <m:t>1</m:t>
                        </m:r>
                      </m:num>
                      <m:den>
                        <m:r>
                          <a:rPr lang="en-AU" sz="4400" b="0" i="1" smtClean="0">
                            <a:solidFill>
                              <a:schemeClr val="accent2"/>
                            </a:solidFill>
                            <a:latin typeface="Cambria Math" panose="02040503050406030204" pitchFamily="18" charset="0"/>
                          </a:rPr>
                          <m:t>5</m:t>
                        </m:r>
                      </m:den>
                    </m:f>
                    <m:r>
                      <a:rPr lang="en-AU" sz="4400" b="0" i="1" smtClean="0">
                        <a:latin typeface="Cambria Math" panose="02040503050406030204" pitchFamily="18" charset="0"/>
                      </a:rPr>
                      <m:t>.</m:t>
                    </m:r>
                  </m:oMath>
                </a14:m>
                <a:endParaRPr lang="en-AU" sz="4400"/>
              </a:p>
            </p:txBody>
          </p:sp>
        </mc:Choice>
        <mc:Fallback xmlns="">
          <p:sp>
            <p:nvSpPr>
              <p:cNvPr id="6" name="Text Placeholder 5">
                <a:extLst>
                  <a:ext uri="{FF2B5EF4-FFF2-40B4-BE49-F238E27FC236}">
                    <a16:creationId xmlns:a16="http://schemas.microsoft.com/office/drawing/2014/main" id="{C7D683F9-6194-51C3-10DE-058E032E33CF}"/>
                  </a:ext>
                </a:extLst>
              </p:cNvPr>
              <p:cNvSpPr>
                <a:spLocks noGrp="1" noRot="1" noChangeAspect="1" noMove="1" noResize="1" noEditPoints="1" noAdjustHandles="1" noChangeArrowheads="1" noChangeShapeType="1" noTextEdit="1"/>
              </p:cNvSpPr>
              <p:nvPr>
                <p:ph type="body" sz="quarter" idx="22"/>
              </p:nvPr>
            </p:nvSpPr>
            <p:spPr>
              <a:xfrm>
                <a:off x="360001" y="1222298"/>
                <a:ext cx="11243037" cy="893226"/>
              </a:xfrm>
              <a:blipFill>
                <a:blip r:embed="rId3"/>
                <a:stretch>
                  <a:fillRect b="-66438"/>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4218672520"/>
              </p:ext>
            </p:extLst>
          </p:nvPr>
        </p:nvGraphicFramePr>
        <p:xfrm>
          <a:off x="2442981" y="3888420"/>
          <a:ext cx="7077076" cy="718225"/>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18225">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5">
            <a:extLst>
              <a:ext uri="{FF2B5EF4-FFF2-40B4-BE49-F238E27FC236}">
                <a16:creationId xmlns:a16="http://schemas.microsoft.com/office/drawing/2014/main" id="{1DDAEA08-7498-0592-E7B0-D5A02ABDB8D7}"/>
              </a:ext>
            </a:extLst>
          </p:cNvPr>
          <p:cNvSpPr txBox="1">
            <a:spLocks/>
          </p:cNvSpPr>
          <p:nvPr/>
        </p:nvSpPr>
        <p:spPr>
          <a:xfrm>
            <a:off x="1881553" y="5393514"/>
            <a:ext cx="865971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5" name="TextBox 4">
            <a:extLst>
              <a:ext uri="{FF2B5EF4-FFF2-40B4-BE49-F238E27FC236}">
                <a16:creationId xmlns:a16="http://schemas.microsoft.com/office/drawing/2014/main" id="{B147C641-C26F-3B0F-7A5A-F29502AA2DD5}"/>
              </a:ext>
            </a:extLst>
          </p:cNvPr>
          <p:cNvSpPr txBox="1"/>
          <p:nvPr/>
        </p:nvSpPr>
        <p:spPr>
          <a:xfrm>
            <a:off x="360000" y="966376"/>
            <a:ext cx="11050988" cy="5633402"/>
          </a:xfrm>
          <a:prstGeom prst="rect">
            <a:avLst/>
          </a:prstGeom>
          <a:noFill/>
        </p:spPr>
        <p:txBody>
          <a:bodyPr wrap="square">
            <a:spAutoFit/>
          </a:bodyPr>
          <a:lstStyle/>
          <a:p>
            <a:pPr algn="ctr">
              <a:lnSpc>
                <a:spcPct val="150000"/>
              </a:lnSpc>
              <a:spcBef>
                <a:spcPts val="600"/>
              </a:spcBef>
              <a:spcAft>
                <a:spcPts val="1200"/>
              </a:spcAft>
              <a:buNone/>
            </a:pPr>
            <a:r>
              <a:rPr lang="en-AU" sz="3200"/>
              <a:t>Saxon is designing a mystery bag with </a:t>
            </a:r>
            <a:r>
              <a:rPr lang="en-AU" sz="3200" b="1"/>
              <a:t>10</a:t>
            </a:r>
            <a:r>
              <a:rPr lang="en-AU" sz="3200"/>
              <a:t> counters: some are </a:t>
            </a:r>
            <a:r>
              <a:rPr lang="en-AU" sz="3200">
                <a:solidFill>
                  <a:srgbClr val="00B050"/>
                </a:solidFill>
              </a:rPr>
              <a:t>green</a:t>
            </a:r>
            <a:r>
              <a:rPr lang="en-AU" sz="3200"/>
              <a:t> and some are </a:t>
            </a:r>
            <a:r>
              <a:rPr lang="en-AU" sz="3200">
                <a:solidFill>
                  <a:schemeClr val="accent1">
                    <a:lumMod val="75000"/>
                    <a:lumOff val="25000"/>
                  </a:schemeClr>
                </a:solidFill>
              </a:rPr>
              <a:t>blue</a:t>
            </a:r>
            <a:r>
              <a:rPr lang="en-AU" sz="3200"/>
              <a:t>. He wants it to be </a:t>
            </a:r>
            <a:r>
              <a:rPr lang="en-AU" sz="3200" b="1"/>
              <a:t>twice as likely</a:t>
            </a:r>
            <a:r>
              <a:rPr lang="en-AU" sz="3200"/>
              <a:t> to pick a </a:t>
            </a:r>
            <a:r>
              <a:rPr lang="en-AU" sz="3200">
                <a:solidFill>
                  <a:srgbClr val="00B050"/>
                </a:solidFill>
              </a:rPr>
              <a:t>green counter </a:t>
            </a:r>
            <a:r>
              <a:rPr lang="en-AU" sz="3200"/>
              <a:t>than a </a:t>
            </a:r>
            <a:r>
              <a:rPr lang="en-AU" sz="3200">
                <a:solidFill>
                  <a:schemeClr val="accent1">
                    <a:lumMod val="75000"/>
                    <a:lumOff val="25000"/>
                  </a:schemeClr>
                </a:solidFill>
              </a:rPr>
              <a:t>blue counter</a:t>
            </a:r>
            <a:r>
              <a:rPr lang="en-AU" sz="3200"/>
              <a:t>.</a:t>
            </a:r>
          </a:p>
          <a:p>
            <a:pPr marL="457200" indent="-457200" algn="ctr">
              <a:lnSpc>
                <a:spcPct val="150000"/>
              </a:lnSpc>
              <a:spcBef>
                <a:spcPts val="600"/>
              </a:spcBef>
              <a:spcAft>
                <a:spcPts val="1200"/>
              </a:spcAft>
              <a:buFont typeface="Arial" panose="020B0604020202020204" pitchFamily="34" charset="0"/>
              <a:buChar char="•"/>
            </a:pPr>
            <a:r>
              <a:rPr lang="en-AU" sz="3200"/>
              <a:t>How many </a:t>
            </a:r>
            <a:r>
              <a:rPr lang="en-AU" sz="3200">
                <a:solidFill>
                  <a:srgbClr val="00B050"/>
                </a:solidFill>
              </a:rPr>
              <a:t>green</a:t>
            </a:r>
            <a:r>
              <a:rPr lang="en-AU" sz="3200"/>
              <a:t> and </a:t>
            </a:r>
            <a:r>
              <a:rPr lang="en-AU" sz="3200">
                <a:solidFill>
                  <a:schemeClr val="accent1">
                    <a:lumMod val="75000"/>
                    <a:lumOff val="25000"/>
                  </a:schemeClr>
                </a:solidFill>
              </a:rPr>
              <a:t>blue</a:t>
            </a:r>
            <a:r>
              <a:rPr lang="en-AU" sz="3200"/>
              <a:t> counters should Saxon put in the bag to make this happen?</a:t>
            </a:r>
          </a:p>
          <a:p>
            <a:pPr marL="457200" indent="-457200" algn="ctr">
              <a:lnSpc>
                <a:spcPct val="150000"/>
              </a:lnSpc>
              <a:spcBef>
                <a:spcPts val="600"/>
              </a:spcBef>
              <a:spcAft>
                <a:spcPts val="1200"/>
              </a:spcAft>
              <a:buFont typeface="Arial" panose="020B0604020202020204" pitchFamily="34" charset="0"/>
              <a:buChar char="•"/>
            </a:pPr>
            <a:r>
              <a:rPr lang="en-AU" sz="3200"/>
              <a:t>Represent the </a:t>
            </a:r>
            <a:r>
              <a:rPr lang="en-AU" sz="3200" b="1"/>
              <a:t>probability</a:t>
            </a:r>
            <a:r>
              <a:rPr lang="en-AU" sz="3200"/>
              <a:t> of picking each colour as a </a:t>
            </a:r>
            <a:r>
              <a:rPr lang="en-AU" sz="3200" b="1"/>
              <a:t>fraction</a:t>
            </a:r>
            <a:r>
              <a:rPr lang="en-AU" sz="3200"/>
              <a:t>.</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4" name="TextBox 3">
            <a:extLst>
              <a:ext uri="{FF2B5EF4-FFF2-40B4-BE49-F238E27FC236}">
                <a16:creationId xmlns:a16="http://schemas.microsoft.com/office/drawing/2014/main" id="{AC723C39-E99D-0CA0-B021-39DC3C5A9764}"/>
              </a:ext>
            </a:extLst>
          </p:cNvPr>
          <p:cNvSpPr txBox="1"/>
          <p:nvPr/>
        </p:nvSpPr>
        <p:spPr>
          <a:xfrm>
            <a:off x="783771" y="1521574"/>
            <a:ext cx="10030410" cy="3994952"/>
          </a:xfrm>
          <a:prstGeom prst="rect">
            <a:avLst/>
          </a:prstGeom>
          <a:noFill/>
        </p:spPr>
        <p:txBody>
          <a:bodyPr wrap="square" lIns="0" tIns="0" rIns="0" bIns="0" rtlCol="0">
            <a:noAutofit/>
          </a:bodyPr>
          <a:lstStyle/>
          <a:p>
            <a:pPr algn="ctr">
              <a:lnSpc>
                <a:spcPct val="150000"/>
              </a:lnSpc>
              <a:spcBef>
                <a:spcPts val="1200"/>
              </a:spcBef>
              <a:spcAft>
                <a:spcPts val="1200"/>
              </a:spcAft>
            </a:pPr>
            <a:r>
              <a:rPr lang="en-AU" sz="4400"/>
              <a:t>Use the digits </a:t>
            </a:r>
            <a:r>
              <a:rPr lang="en-AU" sz="4400">
                <a:solidFill>
                  <a:schemeClr val="accent2"/>
                </a:solidFill>
              </a:rPr>
              <a:t>3</a:t>
            </a:r>
            <a:r>
              <a:rPr lang="en-AU" sz="4400"/>
              <a:t>, </a:t>
            </a:r>
            <a:r>
              <a:rPr lang="en-AU" sz="4400">
                <a:solidFill>
                  <a:schemeClr val="accent2"/>
                </a:solidFill>
              </a:rPr>
              <a:t>1</a:t>
            </a:r>
            <a:r>
              <a:rPr lang="en-AU" sz="4400"/>
              <a:t>, </a:t>
            </a:r>
            <a:r>
              <a:rPr lang="en-AU" sz="4400">
                <a:solidFill>
                  <a:schemeClr val="accent2"/>
                </a:solidFill>
              </a:rPr>
              <a:t>4</a:t>
            </a:r>
            <a:r>
              <a:rPr lang="en-AU" sz="4400"/>
              <a:t>, </a:t>
            </a:r>
            <a:r>
              <a:rPr lang="en-AU" sz="4400">
                <a:solidFill>
                  <a:schemeClr val="accent2"/>
                </a:solidFill>
              </a:rPr>
              <a:t>5</a:t>
            </a:r>
            <a:r>
              <a:rPr lang="en-AU" sz="4400"/>
              <a:t>, the operations +, -, ×</a:t>
            </a:r>
            <a:r>
              <a:rPr lang="en-AU" sz="4400" b="1"/>
              <a:t> </a:t>
            </a:r>
            <a:r>
              <a:rPr lang="en-AU" sz="4400"/>
              <a:t>and ÷ and brackets ( ), to create equations with answers from </a:t>
            </a:r>
            <a:r>
              <a:rPr lang="en-AU" sz="4400" b="1"/>
              <a:t>1 to 10</a:t>
            </a:r>
            <a:r>
              <a:rPr lang="en-AU" sz="4400"/>
              <a:t>. </a:t>
            </a:r>
          </a:p>
          <a:p>
            <a:pPr algn="ctr">
              <a:lnSpc>
                <a:spcPct val="150000"/>
              </a:lnSpc>
              <a:spcBef>
                <a:spcPts val="1200"/>
              </a:spcBef>
              <a:spcAft>
                <a:spcPts val="1200"/>
              </a:spcAft>
            </a:pPr>
            <a:r>
              <a:rPr lang="en-AU" sz="4400"/>
              <a:t>For example, (3 + 1) × 1 = 4.</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8" name="TextBox 7">
            <a:extLst>
              <a:ext uri="{FF2B5EF4-FFF2-40B4-BE49-F238E27FC236}">
                <a16:creationId xmlns:a16="http://schemas.microsoft.com/office/drawing/2014/main" id="{1F103199-68E4-EB3A-2E60-1E880724EDFF}"/>
              </a:ext>
            </a:extLst>
          </p:cNvPr>
          <p:cNvSpPr txBox="1"/>
          <p:nvPr/>
        </p:nvSpPr>
        <p:spPr>
          <a:xfrm>
            <a:off x="1624053" y="1302249"/>
            <a:ext cx="8652510" cy="3244671"/>
          </a:xfrm>
          <a:prstGeom prst="rect">
            <a:avLst/>
          </a:prstGeom>
          <a:noFill/>
        </p:spPr>
        <p:txBody>
          <a:bodyPr wrap="square">
            <a:spAutoFit/>
          </a:bodyPr>
          <a:lstStyle/>
          <a:p>
            <a:pPr algn="ctr">
              <a:lnSpc>
                <a:spcPct val="150000"/>
              </a:lnSpc>
              <a:spcBef>
                <a:spcPts val="600"/>
              </a:spcBef>
              <a:spcAft>
                <a:spcPts val="1200"/>
              </a:spcAft>
            </a:pPr>
            <a:r>
              <a:rPr lang="en-AU" sz="4400">
                <a:effectLst/>
                <a:latin typeface="Arial" panose="020B0604020202020204" pitchFamily="34" charset="0"/>
                <a:ea typeface="Calibri" panose="020F0502020204030204" pitchFamily="34" charset="0"/>
              </a:rPr>
              <a:t>A bank account had </a:t>
            </a:r>
            <a:r>
              <a:rPr lang="en-AU" sz="4400" b="1">
                <a:effectLst/>
                <a:latin typeface="Arial" panose="020B0604020202020204" pitchFamily="34" charset="0"/>
                <a:ea typeface="Calibri" panose="020F0502020204030204" pitchFamily="34" charset="0"/>
              </a:rPr>
              <a:t>$15.</a:t>
            </a:r>
          </a:p>
          <a:p>
            <a:pPr algn="ctr">
              <a:lnSpc>
                <a:spcPct val="150000"/>
              </a:lnSpc>
              <a:spcBef>
                <a:spcPts val="600"/>
              </a:spcBef>
              <a:spcAft>
                <a:spcPts val="1200"/>
              </a:spcAft>
            </a:pPr>
            <a:r>
              <a:rPr lang="en-AU" sz="4400">
                <a:effectLst/>
                <a:latin typeface="Arial" panose="020B0604020202020204" pitchFamily="34" charset="0"/>
                <a:ea typeface="Calibri" panose="020F0502020204030204" pitchFamily="34" charset="0"/>
              </a:rPr>
              <a:t> A withdrawal of </a:t>
            </a:r>
            <a:r>
              <a:rPr lang="en-AU" sz="4400" b="1">
                <a:effectLst/>
                <a:latin typeface="Arial" panose="020B0604020202020204" pitchFamily="34" charset="0"/>
                <a:ea typeface="Calibri" panose="020F0502020204030204" pitchFamily="34" charset="0"/>
              </a:rPr>
              <a:t>$35 </a:t>
            </a:r>
            <a:r>
              <a:rPr lang="en-AU" sz="4400">
                <a:effectLst/>
                <a:latin typeface="Arial" panose="020B0604020202020204" pitchFamily="34" charset="0"/>
                <a:ea typeface="Calibri" panose="020F0502020204030204" pitchFamily="34" charset="0"/>
              </a:rPr>
              <a:t>was made. What is the account balance?</a:t>
            </a:r>
            <a:endParaRPr lang="en-AU" sz="4400"/>
          </a:p>
        </p:txBody>
      </p:sp>
      <p:sp>
        <p:nvSpPr>
          <p:cNvPr id="10" name="Text Placeholder 5">
            <a:extLst>
              <a:ext uri="{FF2B5EF4-FFF2-40B4-BE49-F238E27FC236}">
                <a16:creationId xmlns:a16="http://schemas.microsoft.com/office/drawing/2014/main" id="{35EF9001-9EDF-7884-46F8-22EACBDF70F1}"/>
              </a:ext>
            </a:extLst>
          </p:cNvPr>
          <p:cNvSpPr txBox="1">
            <a:spLocks/>
          </p:cNvSpPr>
          <p:nvPr/>
        </p:nvSpPr>
        <p:spPr>
          <a:xfrm>
            <a:off x="1616850" y="5109138"/>
            <a:ext cx="865971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4" name="TextBox 3">
            <a:extLst>
              <a:ext uri="{FF2B5EF4-FFF2-40B4-BE49-F238E27FC236}">
                <a16:creationId xmlns:a16="http://schemas.microsoft.com/office/drawing/2014/main" id="{854E9D75-EA96-4D32-CFD0-9BA42AD96FB8}"/>
              </a:ext>
            </a:extLst>
          </p:cNvPr>
          <p:cNvSpPr txBox="1"/>
          <p:nvPr/>
        </p:nvSpPr>
        <p:spPr>
          <a:xfrm>
            <a:off x="2214058" y="1118588"/>
            <a:ext cx="7253056" cy="909701"/>
          </a:xfrm>
          <a:prstGeom prst="rect">
            <a:avLst/>
          </a:prstGeom>
          <a:noFill/>
        </p:spPr>
        <p:txBody>
          <a:bodyPr wrap="square" lIns="0" tIns="0" rIns="0" bIns="0" rtlCol="0">
            <a:noAutofit/>
          </a:bodyPr>
          <a:lstStyle/>
          <a:p>
            <a:pPr algn="ctr"/>
            <a:r>
              <a:rPr lang="en-AU" sz="4400"/>
              <a:t>Amie rolled a dice </a:t>
            </a:r>
            <a:r>
              <a:rPr lang="en-AU" sz="4400">
                <a:solidFill>
                  <a:schemeClr val="accent2"/>
                </a:solidFill>
              </a:rPr>
              <a:t>12</a:t>
            </a:r>
            <a:r>
              <a:rPr lang="en-AU" sz="4400"/>
              <a:t> times.</a:t>
            </a:r>
          </a:p>
          <a:p>
            <a:pPr algn="l"/>
            <a:endParaRPr lang="en-AU" sz="3600"/>
          </a:p>
        </p:txBody>
      </p:sp>
      <p:pic>
        <p:nvPicPr>
          <p:cNvPr id="5" name="Picture 4" descr="12 faces of a die representing 12 rolls. The rolls were: 3, 5, 2, 6, 3, 1, 3, 4, 2, 6, 3, 5.">
            <a:extLst>
              <a:ext uri="{FF2B5EF4-FFF2-40B4-BE49-F238E27FC236}">
                <a16:creationId xmlns:a16="http://schemas.microsoft.com/office/drawing/2014/main" id="{3F5728F2-BF19-1E06-04D5-380FA99F448B}"/>
              </a:ext>
            </a:extLst>
          </p:cNvPr>
          <p:cNvPicPr>
            <a:picLocks noChangeAspect="1"/>
          </p:cNvPicPr>
          <p:nvPr/>
        </p:nvPicPr>
        <p:blipFill>
          <a:blip r:embed="rId4"/>
          <a:stretch>
            <a:fillRect/>
          </a:stretch>
        </p:blipFill>
        <p:spPr>
          <a:xfrm>
            <a:off x="734234" y="2241276"/>
            <a:ext cx="10881555" cy="1497675"/>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41584658-F6CD-4D90-7A46-A8B1CB896869}"/>
              </a:ext>
            </a:extLst>
          </p:cNvPr>
          <p:cNvSpPr txBox="1"/>
          <p:nvPr/>
        </p:nvSpPr>
        <p:spPr>
          <a:xfrm>
            <a:off x="300070" y="4060679"/>
            <a:ext cx="11543930" cy="2874146"/>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4400" b="1"/>
              <a:t>Use the term ‘probability’</a:t>
            </a:r>
            <a:r>
              <a:rPr lang="en-AU" sz="4400"/>
              <a:t> to describe the likelihood of rolling a </a:t>
            </a:r>
            <a:r>
              <a:rPr lang="en-AU" sz="4400">
                <a:solidFill>
                  <a:schemeClr val="accent2"/>
                </a:solidFill>
              </a:rPr>
              <a:t>3</a:t>
            </a:r>
            <a:r>
              <a:rPr lang="en-AU" sz="4400"/>
              <a:t>.</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equivalent fractions 4</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5" name="TextBox 4">
            <a:extLst>
              <a:ext uri="{FF2B5EF4-FFF2-40B4-BE49-F238E27FC236}">
                <a16:creationId xmlns:a16="http://schemas.microsoft.com/office/drawing/2014/main" id="{9A2CF6F2-D68A-3AB9-AD30-E51E7BE258BF}"/>
              </a:ext>
            </a:extLst>
          </p:cNvPr>
          <p:cNvSpPr txBox="1"/>
          <p:nvPr/>
        </p:nvSpPr>
        <p:spPr>
          <a:xfrm>
            <a:off x="348000" y="1080296"/>
            <a:ext cx="11038928" cy="5615704"/>
          </a:xfrm>
          <a:prstGeom prst="rect">
            <a:avLst/>
          </a:prstGeom>
          <a:noFill/>
        </p:spPr>
        <p:txBody>
          <a:bodyPr wrap="square">
            <a:spAutoFit/>
          </a:bodyPr>
          <a:lstStyle/>
          <a:p>
            <a:pPr lvl="0">
              <a:lnSpc>
                <a:spcPct val="150000"/>
              </a:lnSpc>
            </a:pPr>
            <a:r>
              <a:rPr lang="en-AU" sz="2200" kern="1200">
                <a:solidFill>
                  <a:schemeClr val="tx1"/>
                </a:solidFill>
                <a:effectLst/>
                <a:latin typeface="Arial" panose="020B0604020202020204" pitchFamily="34" charset="0"/>
                <a:ea typeface="+mn-ea"/>
                <a:cs typeface="Arial" panose="020B0604020202020204" pitchFamily="34" charset="0"/>
              </a:rPr>
              <a:t>Step 1. Choose a fraction with a </a:t>
            </a:r>
            <a:r>
              <a:rPr lang="en-AU" sz="2200" b="1" kern="1200">
                <a:solidFill>
                  <a:schemeClr val="tx1"/>
                </a:solidFill>
                <a:effectLst/>
                <a:latin typeface="Arial" panose="020B0604020202020204" pitchFamily="34" charset="0"/>
                <a:ea typeface="+mn-ea"/>
                <a:cs typeface="Arial" panose="020B0604020202020204" pitchFamily="34" charset="0"/>
              </a:rPr>
              <a:t>denominator</a:t>
            </a:r>
            <a:r>
              <a:rPr lang="en-AU" sz="2200" kern="1200">
                <a:solidFill>
                  <a:schemeClr val="tx1"/>
                </a:solidFill>
                <a:effectLst/>
                <a:latin typeface="Arial" panose="020B0604020202020204" pitchFamily="34" charset="0"/>
                <a:ea typeface="+mn-ea"/>
                <a:cs typeface="Arial" panose="020B0604020202020204" pitchFamily="34" charset="0"/>
              </a:rPr>
              <a:t> of </a:t>
            </a:r>
            <a:r>
              <a:rPr lang="en-AU" sz="2200" kern="1200">
                <a:solidFill>
                  <a:schemeClr val="accent2"/>
                </a:solidFill>
                <a:effectLst/>
                <a:latin typeface="Arial" panose="020B0604020202020204" pitchFamily="34" charset="0"/>
                <a:ea typeface="+mn-ea"/>
                <a:cs typeface="Arial" panose="020B0604020202020204" pitchFamily="34" charset="0"/>
              </a:rPr>
              <a:t>2</a:t>
            </a:r>
            <a:r>
              <a:rPr lang="en-AU" sz="2200" kern="1200">
                <a:solidFill>
                  <a:schemeClr val="tx1"/>
                </a:solidFill>
                <a:effectLst/>
                <a:latin typeface="Arial" panose="020B0604020202020204" pitchFamily="34" charset="0"/>
                <a:ea typeface="+mn-ea"/>
                <a:cs typeface="Arial" panose="020B0604020202020204" pitchFamily="34" charset="0"/>
              </a:rPr>
              <a:t>, </a:t>
            </a:r>
            <a:r>
              <a:rPr lang="en-AU" sz="2200" kern="1200">
                <a:solidFill>
                  <a:schemeClr val="accent2"/>
                </a:solidFill>
                <a:effectLst/>
                <a:latin typeface="Arial" panose="020B0604020202020204" pitchFamily="34" charset="0"/>
                <a:ea typeface="+mn-ea"/>
                <a:cs typeface="Arial" panose="020B0604020202020204" pitchFamily="34" charset="0"/>
              </a:rPr>
              <a:t>3</a:t>
            </a:r>
            <a:r>
              <a:rPr lang="en-AU" sz="2200" kern="1200">
                <a:solidFill>
                  <a:schemeClr val="tx1"/>
                </a:solidFill>
                <a:effectLst/>
                <a:latin typeface="Arial" panose="020B0604020202020204" pitchFamily="34" charset="0"/>
                <a:ea typeface="+mn-ea"/>
                <a:cs typeface="Arial" panose="020B0604020202020204" pitchFamily="34" charset="0"/>
              </a:rPr>
              <a:t>, </a:t>
            </a:r>
            <a:r>
              <a:rPr lang="en-AU" sz="2200" kern="1200">
                <a:solidFill>
                  <a:schemeClr val="accent2"/>
                </a:solidFill>
                <a:effectLst/>
                <a:latin typeface="Arial" panose="020B0604020202020204" pitchFamily="34" charset="0"/>
                <a:ea typeface="+mn-ea"/>
                <a:cs typeface="Arial" panose="020B0604020202020204" pitchFamily="34" charset="0"/>
              </a:rPr>
              <a:t>4</a:t>
            </a:r>
            <a:r>
              <a:rPr lang="en-AU" sz="2200" kern="1200">
                <a:solidFill>
                  <a:schemeClr val="tx1"/>
                </a:solidFill>
                <a:effectLst/>
                <a:latin typeface="Arial" panose="020B0604020202020204" pitchFamily="34" charset="0"/>
                <a:ea typeface="+mn-ea"/>
                <a:cs typeface="Arial" panose="020B0604020202020204" pitchFamily="34" charset="0"/>
              </a:rPr>
              <a:t>, </a:t>
            </a:r>
            <a:r>
              <a:rPr lang="en-AU" sz="2200" kern="1200">
                <a:solidFill>
                  <a:schemeClr val="accent2"/>
                </a:solidFill>
                <a:effectLst/>
                <a:latin typeface="Arial" panose="020B0604020202020204" pitchFamily="34" charset="0"/>
                <a:ea typeface="+mn-ea"/>
                <a:cs typeface="Arial" panose="020B0604020202020204" pitchFamily="34" charset="0"/>
              </a:rPr>
              <a:t>5</a:t>
            </a:r>
            <a:r>
              <a:rPr lang="en-AU" sz="2200" kern="1200">
                <a:solidFill>
                  <a:schemeClr val="tx1"/>
                </a:solidFill>
                <a:effectLst/>
                <a:latin typeface="Arial" panose="020B0604020202020204" pitchFamily="34" charset="0"/>
                <a:ea typeface="+mn-ea"/>
                <a:cs typeface="Arial" panose="020B0604020202020204" pitchFamily="34" charset="0"/>
              </a:rPr>
              <a:t>, </a:t>
            </a:r>
            <a:r>
              <a:rPr lang="en-AU" sz="2200" kern="1200">
                <a:solidFill>
                  <a:schemeClr val="accent2"/>
                </a:solidFill>
                <a:effectLst/>
                <a:latin typeface="Arial" panose="020B0604020202020204" pitchFamily="34" charset="0"/>
                <a:ea typeface="+mn-ea"/>
                <a:cs typeface="Arial" panose="020B0604020202020204" pitchFamily="34" charset="0"/>
              </a:rPr>
              <a:t>6</a:t>
            </a:r>
            <a:r>
              <a:rPr lang="en-AU" sz="2200" kern="1200">
                <a:solidFill>
                  <a:schemeClr val="tx1"/>
                </a:solidFill>
                <a:effectLst/>
                <a:latin typeface="Arial" panose="020B0604020202020204" pitchFamily="34" charset="0"/>
                <a:ea typeface="+mn-ea"/>
                <a:cs typeface="Arial" panose="020B0604020202020204" pitchFamily="34" charset="0"/>
              </a:rPr>
              <a:t>, </a:t>
            </a:r>
            <a:r>
              <a:rPr lang="en-AU" sz="2200" kern="1200">
                <a:solidFill>
                  <a:schemeClr val="accent2"/>
                </a:solidFill>
                <a:effectLst/>
                <a:latin typeface="Arial" panose="020B0604020202020204" pitchFamily="34" charset="0"/>
                <a:ea typeface="+mn-ea"/>
                <a:cs typeface="Arial" panose="020B0604020202020204" pitchFamily="34" charset="0"/>
              </a:rPr>
              <a:t>8</a:t>
            </a:r>
            <a:r>
              <a:rPr lang="en-AU" sz="2200" kern="1200">
                <a:solidFill>
                  <a:schemeClr val="tx1"/>
                </a:solidFill>
                <a:effectLst/>
                <a:latin typeface="Arial" panose="020B0604020202020204" pitchFamily="34" charset="0"/>
                <a:ea typeface="+mn-ea"/>
                <a:cs typeface="Arial" panose="020B0604020202020204" pitchFamily="34" charset="0"/>
              </a:rPr>
              <a:t>, or </a:t>
            </a:r>
            <a:r>
              <a:rPr lang="en-AU" sz="2200" kern="1200">
                <a:solidFill>
                  <a:schemeClr val="accent2"/>
                </a:solidFill>
                <a:effectLst/>
                <a:latin typeface="Arial" panose="020B0604020202020204" pitchFamily="34" charset="0"/>
                <a:ea typeface="+mn-ea"/>
                <a:cs typeface="Arial" panose="020B0604020202020204" pitchFamily="34" charset="0"/>
              </a:rPr>
              <a:t>10</a:t>
            </a:r>
            <a:r>
              <a:rPr lang="en-AU" sz="2200" kern="1200">
                <a:solidFill>
                  <a:schemeClr val="tx1"/>
                </a:solidFill>
                <a:effectLst/>
                <a:latin typeface="Arial" panose="020B0604020202020204" pitchFamily="34" charset="0"/>
                <a:ea typeface="+mn-ea"/>
                <a:cs typeface="Arial" panose="020B0604020202020204" pitchFamily="34" charset="0"/>
              </a:rPr>
              <a:t> for a partner to use.</a:t>
            </a:r>
          </a:p>
          <a:p>
            <a:pPr lvl="0">
              <a:lnSpc>
                <a:spcPct val="150000"/>
              </a:lnSpc>
            </a:pPr>
            <a:r>
              <a:rPr lang="en-AU" sz="2200" kern="1200">
                <a:solidFill>
                  <a:schemeClr val="tx1"/>
                </a:solidFill>
                <a:effectLst/>
                <a:latin typeface="Arial" panose="020B0604020202020204" pitchFamily="34" charset="0"/>
                <a:ea typeface="+mn-ea"/>
                <a:cs typeface="Arial" panose="020B0604020202020204" pitchFamily="34" charset="0"/>
              </a:rPr>
              <a:t>Step 2. Using the fraction from a partner:</a:t>
            </a:r>
          </a:p>
          <a:p>
            <a:pPr marL="285750" lvl="0" indent="-285750">
              <a:lnSpc>
                <a:spcPct val="150000"/>
              </a:lnSpc>
              <a:buFont typeface="Arial" panose="020B0604020202020204" pitchFamily="34" charset="0"/>
              <a:buChar char="•"/>
            </a:pPr>
            <a:r>
              <a:rPr lang="en-AU" sz="2200">
                <a:latin typeface="Arial" panose="020B0604020202020204" pitchFamily="34" charset="0"/>
                <a:cs typeface="Arial" panose="020B0604020202020204" pitchFamily="34" charset="0"/>
              </a:rPr>
              <a:t>r</a:t>
            </a:r>
            <a:r>
              <a:rPr lang="en-AU" sz="2200" kern="1200">
                <a:solidFill>
                  <a:schemeClr val="tx1"/>
                </a:solidFill>
                <a:effectLst/>
                <a:latin typeface="Arial" panose="020B0604020202020204" pitchFamily="34" charset="0"/>
                <a:ea typeface="+mn-ea"/>
                <a:cs typeface="Arial" panose="020B0604020202020204" pitchFamily="34" charset="0"/>
              </a:rPr>
              <a:t>epresent the fraction on a </a:t>
            </a:r>
            <a:r>
              <a:rPr lang="en-AU" sz="2200" b="1" kern="1200">
                <a:solidFill>
                  <a:schemeClr val="tx1"/>
                </a:solidFill>
                <a:effectLst/>
                <a:latin typeface="Arial" panose="020B0604020202020204" pitchFamily="34" charset="0"/>
                <a:ea typeface="+mn-ea"/>
                <a:cs typeface="Arial" panose="020B0604020202020204" pitchFamily="34" charset="0"/>
              </a:rPr>
              <a:t>number line</a:t>
            </a:r>
          </a:p>
          <a:p>
            <a:pPr marL="285750" lvl="0" indent="-285750">
              <a:lnSpc>
                <a:spcPct val="150000"/>
              </a:lnSpc>
              <a:buFont typeface="Arial" panose="020B0604020202020204" pitchFamily="34" charset="0"/>
              <a:buChar char="•"/>
            </a:pPr>
            <a:r>
              <a:rPr lang="en-AU" sz="2200" kern="1200">
                <a:solidFill>
                  <a:schemeClr val="tx1"/>
                </a:solidFill>
                <a:effectLst/>
                <a:latin typeface="Arial" panose="020B0604020202020204" pitchFamily="34" charset="0"/>
                <a:ea typeface="+mn-ea"/>
                <a:cs typeface="Arial" panose="020B0604020202020204" pitchFamily="34" charset="0"/>
              </a:rPr>
              <a:t>record 3 other </a:t>
            </a:r>
            <a:r>
              <a:rPr lang="en-AU" sz="2200" b="1" kern="1200">
                <a:solidFill>
                  <a:schemeClr val="tx1"/>
                </a:solidFill>
                <a:effectLst/>
                <a:latin typeface="Arial" panose="020B0604020202020204" pitchFamily="34" charset="0"/>
                <a:ea typeface="+mn-ea"/>
                <a:cs typeface="Arial" panose="020B0604020202020204" pitchFamily="34" charset="0"/>
              </a:rPr>
              <a:t>equivalent fractions</a:t>
            </a:r>
          </a:p>
          <a:p>
            <a:pPr marL="285750" lvl="0" indent="-285750">
              <a:lnSpc>
                <a:spcPct val="150000"/>
              </a:lnSpc>
              <a:buFont typeface="Arial" panose="020B0604020202020204" pitchFamily="34" charset="0"/>
              <a:buChar char="•"/>
            </a:pPr>
            <a:r>
              <a:rPr lang="en-AU" sz="2200" kern="1200">
                <a:solidFill>
                  <a:schemeClr val="tx1"/>
                </a:solidFill>
                <a:effectLst/>
                <a:latin typeface="Arial" panose="020B0604020202020204" pitchFamily="34" charset="0"/>
                <a:ea typeface="+mn-ea"/>
                <a:cs typeface="Arial" panose="020B0604020202020204" pitchFamily="34" charset="0"/>
              </a:rPr>
              <a:t>represent the fraction as </a:t>
            </a:r>
            <a:r>
              <a:rPr lang="en-AU" sz="2200" b="1" kern="1200">
                <a:solidFill>
                  <a:schemeClr val="tx1"/>
                </a:solidFill>
                <a:effectLst/>
                <a:latin typeface="Arial" panose="020B0604020202020204" pitchFamily="34" charset="0"/>
                <a:ea typeface="+mn-ea"/>
                <a:cs typeface="Arial" panose="020B0604020202020204" pitchFamily="34" charset="0"/>
              </a:rPr>
              <a:t>part of a whole length</a:t>
            </a:r>
          </a:p>
          <a:p>
            <a:pPr marL="285750" lvl="0" indent="-285750">
              <a:lnSpc>
                <a:spcPct val="150000"/>
              </a:lnSpc>
              <a:buFont typeface="Arial" panose="020B0604020202020204" pitchFamily="34" charset="0"/>
              <a:buChar char="•"/>
            </a:pPr>
            <a:r>
              <a:rPr lang="en-AU" sz="2200" kern="1200">
                <a:solidFill>
                  <a:schemeClr val="tx1"/>
                </a:solidFill>
                <a:effectLst/>
                <a:latin typeface="Arial" panose="020B0604020202020204" pitchFamily="34" charset="0"/>
                <a:ea typeface="+mn-ea"/>
                <a:cs typeface="Arial" panose="020B0604020202020204" pitchFamily="34" charset="0"/>
              </a:rPr>
              <a:t>give a </a:t>
            </a:r>
            <a:r>
              <a:rPr lang="en-AU" sz="2200" b="1" kern="1200">
                <a:solidFill>
                  <a:schemeClr val="tx1"/>
                </a:solidFill>
                <a:effectLst/>
                <a:latin typeface="Arial" panose="020B0604020202020204" pitchFamily="34" charset="0"/>
                <a:ea typeface="+mn-ea"/>
                <a:cs typeface="Arial" panose="020B0604020202020204" pitchFamily="34" charset="0"/>
              </a:rPr>
              <a:t>real-life example </a:t>
            </a:r>
            <a:r>
              <a:rPr lang="en-AU" sz="2200" kern="1200">
                <a:solidFill>
                  <a:schemeClr val="tx1"/>
                </a:solidFill>
                <a:effectLst/>
                <a:latin typeface="Arial" panose="020B0604020202020204" pitchFamily="34" charset="0"/>
                <a:ea typeface="+mn-ea"/>
                <a:cs typeface="Arial" panose="020B0604020202020204" pitchFamily="34" charset="0"/>
              </a:rPr>
              <a:t>where this fraction might be useful</a:t>
            </a:r>
          </a:p>
          <a:p>
            <a:pPr marL="285750" lvl="0" indent="-285750">
              <a:lnSpc>
                <a:spcPct val="150000"/>
              </a:lnSpc>
              <a:buFont typeface="Arial" panose="020B0604020202020204" pitchFamily="34" charset="0"/>
              <a:buChar char="•"/>
            </a:pPr>
            <a:r>
              <a:rPr lang="en-AU" sz="2200">
                <a:latin typeface="Arial" panose="020B0604020202020204" pitchFamily="34" charset="0"/>
                <a:cs typeface="Arial" panose="020B0604020202020204" pitchFamily="34" charset="0"/>
              </a:rPr>
              <a:t>r</a:t>
            </a:r>
            <a:r>
              <a:rPr lang="en-AU" sz="2200" kern="1200">
                <a:solidFill>
                  <a:schemeClr val="tx1"/>
                </a:solidFill>
                <a:effectLst/>
                <a:latin typeface="Arial" panose="020B0604020202020204" pitchFamily="34" charset="0"/>
                <a:ea typeface="+mn-ea"/>
                <a:cs typeface="Arial" panose="020B0604020202020204" pitchFamily="34" charset="0"/>
              </a:rPr>
              <a:t>epresent the fraction in a </a:t>
            </a:r>
            <a:r>
              <a:rPr lang="en-AU" sz="2200" b="1" kern="1200">
                <a:solidFill>
                  <a:schemeClr val="tx1"/>
                </a:solidFill>
                <a:effectLst/>
                <a:latin typeface="Arial" panose="020B0604020202020204" pitchFamily="34" charset="0"/>
                <a:ea typeface="+mn-ea"/>
                <a:cs typeface="Arial" panose="020B0604020202020204" pitchFamily="34" charset="0"/>
              </a:rPr>
              <a:t>different form</a:t>
            </a:r>
            <a:r>
              <a:rPr lang="en-AU" sz="2200" kern="1200">
                <a:solidFill>
                  <a:schemeClr val="tx1"/>
                </a:solidFill>
                <a:effectLst/>
                <a:latin typeface="Arial" panose="020B0604020202020204" pitchFamily="34" charset="0"/>
                <a:ea typeface="+mn-ea"/>
                <a:cs typeface="Arial" panose="020B0604020202020204" pitchFamily="34" charset="0"/>
              </a:rPr>
              <a:t>, for example, tape diagram, circle or collection.</a:t>
            </a:r>
          </a:p>
          <a:p>
            <a:pPr lvl="0">
              <a:lnSpc>
                <a:spcPct val="150000"/>
              </a:lnSpc>
            </a:pPr>
            <a:r>
              <a:rPr lang="en-AU" sz="2200">
                <a:latin typeface="Arial" panose="020B0604020202020204" pitchFamily="34" charset="0"/>
                <a:cs typeface="Arial" panose="020B0604020202020204" pitchFamily="34" charset="0"/>
              </a:rPr>
              <a:t>Step 3. In</a:t>
            </a:r>
            <a:r>
              <a:rPr lang="en-AU" sz="2200" kern="1200">
                <a:solidFill>
                  <a:schemeClr val="tx1"/>
                </a:solidFill>
                <a:effectLst/>
                <a:latin typeface="Arial" panose="020B0604020202020204" pitchFamily="34" charset="0"/>
                <a:ea typeface="+mn-ea"/>
                <a:cs typeface="Arial" panose="020B0604020202020204" pitchFamily="34" charset="0"/>
              </a:rPr>
              <a:t> small groups, arrange whiteboards in </a:t>
            </a:r>
            <a:r>
              <a:rPr lang="en-AU" sz="2200" b="1" kern="1200">
                <a:solidFill>
                  <a:schemeClr val="tx1"/>
                </a:solidFill>
                <a:effectLst/>
                <a:latin typeface="Arial" panose="020B0604020202020204" pitchFamily="34" charset="0"/>
                <a:ea typeface="+mn-ea"/>
                <a:cs typeface="Arial" panose="020B0604020202020204" pitchFamily="34" charset="0"/>
              </a:rPr>
              <a:t>ascending order</a:t>
            </a:r>
            <a:r>
              <a:rPr lang="en-AU" sz="2200" kern="1200">
                <a:solidFill>
                  <a:schemeClr val="tx1"/>
                </a:solidFill>
                <a:effectLst/>
                <a:latin typeface="Arial" panose="020B0604020202020204" pitchFamily="34" charset="0"/>
                <a:ea typeface="+mn-ea"/>
                <a:cs typeface="Arial" panose="020B0604020202020204" pitchFamily="34" charset="0"/>
              </a:rPr>
              <a:t> of the size of the fractions. </a:t>
            </a:r>
            <a:endParaRPr lang="en-AU" sz="2200"/>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26/09/23) and was not modified.</a:t>
            </a:r>
          </a:p>
          <a:p>
            <a:r>
              <a:rPr lang="en-AU"/>
              <a:t>Australian Government Department of Education (2020) </a:t>
            </a:r>
            <a:r>
              <a:rPr lang="en-AU" u="sng">
                <a:hlinkClick r:id="rId9"/>
              </a:rPr>
              <a:t>Directed Number</a:t>
            </a:r>
            <a:r>
              <a:rPr lang="en-AU"/>
              <a:t>, </a:t>
            </a:r>
            <a:r>
              <a:rPr lang="en-AU" err="1"/>
              <a:t>reSolve</a:t>
            </a:r>
            <a:r>
              <a:rPr lang="en-AU"/>
              <a:t> website, accessed 26 September 2023.</a:t>
            </a:r>
          </a:p>
          <a:p>
            <a:r>
              <a:rPr lang="en-AU"/>
              <a:t>Clark D and Roche A (2014) </a:t>
            </a:r>
            <a:r>
              <a:rPr lang="en-AU" i="1"/>
              <a:t>Engaging Maths: 25 Favourite Lessons</a:t>
            </a:r>
            <a:r>
              <a:rPr lang="en-AU"/>
              <a:t>, Classic Press, Australia.</a:t>
            </a:r>
          </a:p>
          <a:p>
            <a:r>
              <a:rPr lang="en-AU"/>
              <a:t>Downton A, Knight R, Clarke D and Lewis G (2015) </a:t>
            </a:r>
            <a:r>
              <a:rPr lang="en-AU" i="1"/>
              <a:t>Mathematics Assessment for Learning Rich Tasks and Work Samples,</a:t>
            </a:r>
            <a:r>
              <a:rPr lang="en-AU"/>
              <a:t> ACU National, Australia.</a:t>
            </a:r>
          </a:p>
          <a:p>
            <a:r>
              <a:rPr lang="en-AU"/>
              <a:t>Hunt, K (n.d.)  </a:t>
            </a:r>
            <a:r>
              <a:rPr lang="en-AU" i="1" u="sng">
                <a:hlinkClick r:id="rId10"/>
              </a:rPr>
              <a:t>Guess My Line</a:t>
            </a:r>
            <a:r>
              <a:rPr lang="en-AU"/>
              <a:t>, Illustrative Mathematics website, accessed 20 January 2026.</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2E48-05ED-179B-9EFC-79AF8B2C41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063526-3C9B-63E7-30BD-66DDE48FAF14}"/>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D8C8469E-822A-7959-981E-1D3A8691792D}"/>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A1D8B71A-689F-2AAF-6B5D-B1F33DB4AD9F}"/>
              </a:ext>
            </a:extLst>
          </p:cNvPr>
          <p:cNvSpPr>
            <a:spLocks noGrp="1"/>
          </p:cNvSpPr>
          <p:nvPr>
            <p:ph idx="1"/>
          </p:nvPr>
        </p:nvSpPr>
        <p:spPr/>
        <p:txBody>
          <a:bodyPr vert="horz" lIns="0" tIns="0" rIns="0" bIns="0" rtlCol="0" anchor="t">
            <a:noAutofit/>
          </a:bodyPr>
          <a:lstStyle/>
          <a:p>
            <a:r>
              <a:rPr lang="en-AU"/>
              <a:t>State of New South Wales (Department of Education) and Professional Support and Curriculum Directorate (2003) </a:t>
            </a:r>
            <a:r>
              <a:rPr lang="en-AU" i="1" u="sng">
                <a:hlinkClick r:id="rId6"/>
              </a:rPr>
              <a:t>Fractions: pikelets and lamingtons </a:t>
            </a:r>
            <a:r>
              <a:rPr lang="en-AU" u="sng">
                <a:hlinkClick r:id="rId6"/>
              </a:rPr>
              <a:t>[PDF 4.08 MB]</a:t>
            </a:r>
            <a:r>
              <a:rPr lang="en-AU" i="1" u="sng"/>
              <a:t>,</a:t>
            </a:r>
            <a:r>
              <a:rPr lang="en-AU"/>
              <a:t> NSW Department of Education and Training, accessed 26 September 2023. </a:t>
            </a:r>
          </a:p>
          <a:p>
            <a:r>
              <a:rPr lang="en-AU"/>
              <a:t>State of New South Wales (Department of Education) (2023) ‘</a:t>
            </a:r>
            <a:r>
              <a:rPr lang="en-AU" u="sng">
                <a:hlinkClick r:id="rId7"/>
              </a:rPr>
              <a:t>Creating shapes using geoboards</a:t>
            </a:r>
            <a:r>
              <a:rPr lang="en-AU"/>
              <a:t>’ </a:t>
            </a:r>
            <a:r>
              <a:rPr lang="en-AU" i="1"/>
              <a:t>Universal Resources Hub</a:t>
            </a:r>
            <a:r>
              <a:rPr lang="en-AU"/>
              <a:t>, NSW Department of Education website, accessed 9 October 2025.</a:t>
            </a:r>
          </a:p>
          <a:p>
            <a:r>
              <a:rPr lang="en-AU"/>
              <a:t>State of New South Wales (Department of Education) (2023) ‘</a:t>
            </a:r>
            <a:r>
              <a:rPr lang="en-AU" u="sng">
                <a:hlinkClick r:id="rId8"/>
              </a:rPr>
              <a:t>Finding numbers on a number line</a:t>
            </a:r>
            <a:r>
              <a:rPr lang="en-AU"/>
              <a:t>’ </a:t>
            </a:r>
            <a:r>
              <a:rPr lang="en-AU" i="1"/>
              <a:t>Mathematics K–6 resources</a:t>
            </a:r>
            <a:r>
              <a:rPr lang="en-AU"/>
              <a:t>, NSW Department of Education website, accessed 12 October 2023.</a:t>
            </a:r>
          </a:p>
          <a:p>
            <a:r>
              <a:rPr lang="en-AU"/>
              <a:t>Steenstra C and Kennedy C (2026)  </a:t>
            </a:r>
            <a:r>
              <a:rPr lang="en-AU" u="sng">
                <a:hlinkClick r:id="rId9"/>
              </a:rPr>
              <a:t>Coordinate Plane – Points and Shapes</a:t>
            </a:r>
            <a:r>
              <a:rPr lang="en-AU"/>
              <a:t>, GeoGebra website,  accessed  1 February 2026.</a:t>
            </a:r>
          </a:p>
          <a:p>
            <a:r>
              <a:rPr lang="en-AU"/>
              <a:t>Sullivan P and Lilburn P (2017) </a:t>
            </a:r>
            <a:r>
              <a:rPr lang="en-AU" i="1"/>
              <a:t>Open-Ended Maths Activitie</a:t>
            </a:r>
            <a:r>
              <a:rPr lang="en-AU"/>
              <a:t>s, Oxford University Press, Australia and New Zealand. </a:t>
            </a:r>
          </a:p>
        </p:txBody>
      </p:sp>
      <p:sp>
        <p:nvSpPr>
          <p:cNvPr id="2" name="Slide Number Placeholder 1">
            <a:extLst>
              <a:ext uri="{FF2B5EF4-FFF2-40B4-BE49-F238E27FC236}">
                <a16:creationId xmlns:a16="http://schemas.microsoft.com/office/drawing/2014/main" id="{BAB292AB-1DEB-6B6C-E1D5-82E10B5A4A4E}"/>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859204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8E3428-E2EC-4F57-BD6E-BD763780B524}"/>
</file>

<file path=customXml/itemProps2.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Review of learning template (1)</Template>
  <TotalTime>0</TotalTime>
  <Words>7375</Words>
  <Application>Microsoft Office PowerPoint</Application>
  <PresentationFormat>Widescreen</PresentationFormat>
  <Paragraphs>948</Paragraphs>
  <Slides>69</Slides>
  <Notes>69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Public Sans</vt:lpstr>
      <vt:lpstr>Arial</vt:lpstr>
      <vt:lpstr>Times New Roman</vt:lpstr>
      <vt:lpstr>Calibri</vt:lpstr>
      <vt:lpstr>Cambria Math</vt:lpstr>
      <vt:lpstr>Montserrat</vt:lpstr>
      <vt:lpstr>Wingdings</vt:lpstr>
      <vt:lpstr>Public Sans Light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number line search</vt:lpstr>
      <vt:lpstr>Review of learning 2</vt:lpstr>
      <vt:lpstr>True or false (1)</vt:lpstr>
      <vt:lpstr>Short response (5)</vt:lpstr>
      <vt:lpstr>Short response (6)</vt:lpstr>
      <vt:lpstr>Short response (7)</vt:lpstr>
      <vt:lpstr>Short response (8)</vt:lpstr>
      <vt:lpstr>Activity 2 – elevator number line</vt:lpstr>
      <vt:lpstr>Review of learning 3</vt:lpstr>
      <vt:lpstr>Multiple choice (2)</vt:lpstr>
      <vt:lpstr>Short response (9)</vt:lpstr>
      <vt:lpstr>Short response (10)</vt:lpstr>
      <vt:lpstr>Short response (11)</vt:lpstr>
      <vt:lpstr>Short response (12)</vt:lpstr>
      <vt:lpstr>Activity 3 – negative number subtraction 1</vt:lpstr>
      <vt:lpstr>Review of learning 4</vt:lpstr>
      <vt:lpstr>True or false (2)</vt:lpstr>
      <vt:lpstr>Short response (13)</vt:lpstr>
      <vt:lpstr>Short response (14)</vt:lpstr>
      <vt:lpstr>Short response (15)</vt:lpstr>
      <vt:lpstr>Short response (16)</vt:lpstr>
      <vt:lpstr>Activity 4 – negative number subtraction 2</vt:lpstr>
      <vt:lpstr>Review of learning 5</vt:lpstr>
      <vt:lpstr>Multiple choice (3)</vt:lpstr>
      <vt:lpstr>Short response (17)</vt:lpstr>
      <vt:lpstr>Short response (18)</vt:lpstr>
      <vt:lpstr>Short response (19)</vt:lpstr>
      <vt:lpstr>Short response (20)</vt:lpstr>
      <vt:lpstr>Activity 5 – equivalent fractions 1</vt:lpstr>
      <vt:lpstr>Review of learning 6</vt:lpstr>
      <vt:lpstr>True or false (3)</vt:lpstr>
      <vt:lpstr>Short response (21)</vt:lpstr>
      <vt:lpstr>Short response (22)</vt:lpstr>
      <vt:lpstr>Short response (23)</vt:lpstr>
      <vt:lpstr>Short response (24)</vt:lpstr>
      <vt:lpstr>Activity 6 – equivalent fractions 2</vt:lpstr>
      <vt:lpstr>Review of learning 7</vt:lpstr>
      <vt:lpstr>Multiple choice (4)</vt:lpstr>
      <vt:lpstr>Short response (25)</vt:lpstr>
      <vt:lpstr>Short response (26)</vt:lpstr>
      <vt:lpstr>Short response (27)</vt:lpstr>
      <vt:lpstr>Short response (28)</vt:lpstr>
      <vt:lpstr>Activity 7 – equivalent fractions 3</vt:lpstr>
      <vt:lpstr>Review of learning 8</vt:lpstr>
      <vt:lpstr>True or false (4)</vt:lpstr>
      <vt:lpstr>Short response (29)</vt:lpstr>
      <vt:lpstr>Short response (30)</vt:lpstr>
      <vt:lpstr>Short response (31)</vt:lpstr>
      <vt:lpstr>Short response (32)</vt:lpstr>
      <vt:lpstr>Activity 8 – equivalent fractions 4</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2026-03-23T20:55:11Z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