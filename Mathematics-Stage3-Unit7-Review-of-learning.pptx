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55" r:id="rId5"/>
  </p:sldMasterIdLst>
  <p:notesMasterIdLst>
    <p:notesMasterId r:id="rId79"/>
  </p:notesMasterIdLst>
  <p:handoutMasterIdLst>
    <p:handoutMasterId r:id="rId80"/>
  </p:handoutMasterIdLst>
  <p:sldIdLst>
    <p:sldId id="365" r:id="rId6"/>
    <p:sldId id="26579" r:id="rId7"/>
    <p:sldId id="26359" r:id="rId8"/>
    <p:sldId id="271" r:id="rId9"/>
    <p:sldId id="26663" r:id="rId10"/>
    <p:sldId id="358" r:id="rId11"/>
    <p:sldId id="26580" r:id="rId12"/>
    <p:sldId id="26581" r:id="rId13"/>
    <p:sldId id="26582" r:id="rId14"/>
    <p:sldId id="26576" r:id="rId15"/>
    <p:sldId id="26658" r:id="rId16"/>
    <p:sldId id="26583" r:id="rId17"/>
    <p:sldId id="26586" r:id="rId18"/>
    <p:sldId id="26587" r:id="rId19"/>
    <p:sldId id="26588" r:id="rId20"/>
    <p:sldId id="26589" r:id="rId21"/>
    <p:sldId id="26590" r:id="rId22"/>
    <p:sldId id="26591" r:id="rId23"/>
    <p:sldId id="26659" r:id="rId24"/>
    <p:sldId id="26592" r:id="rId25"/>
    <p:sldId id="26664" r:id="rId26"/>
    <p:sldId id="26596" r:id="rId27"/>
    <p:sldId id="26597" r:id="rId28"/>
    <p:sldId id="26598" r:id="rId29"/>
    <p:sldId id="26599" r:id="rId30"/>
    <p:sldId id="26600" r:id="rId31"/>
    <p:sldId id="26660" r:id="rId32"/>
    <p:sldId id="26601" r:id="rId33"/>
    <p:sldId id="26661" r:id="rId34"/>
    <p:sldId id="26605" r:id="rId35"/>
    <p:sldId id="26606" r:id="rId36"/>
    <p:sldId id="26607" r:id="rId37"/>
    <p:sldId id="26608" r:id="rId38"/>
    <p:sldId id="26609" r:id="rId39"/>
    <p:sldId id="26610" r:id="rId40"/>
    <p:sldId id="26611" r:id="rId41"/>
    <p:sldId id="26614" r:id="rId42"/>
    <p:sldId id="26615" r:id="rId43"/>
    <p:sldId id="26616" r:id="rId44"/>
    <p:sldId id="26617" r:id="rId45"/>
    <p:sldId id="26618" r:id="rId46"/>
    <p:sldId id="26665" r:id="rId47"/>
    <p:sldId id="26619" r:id="rId48"/>
    <p:sldId id="26662" r:id="rId49"/>
    <p:sldId id="26623" r:id="rId50"/>
    <p:sldId id="26650" r:id="rId51"/>
    <p:sldId id="26625" r:id="rId52"/>
    <p:sldId id="26626" r:id="rId53"/>
    <p:sldId id="26627" r:id="rId54"/>
    <p:sldId id="26628" r:id="rId55"/>
    <p:sldId id="26629" r:id="rId56"/>
    <p:sldId id="26651" r:id="rId57"/>
    <p:sldId id="26633" r:id="rId58"/>
    <p:sldId id="26634" r:id="rId59"/>
    <p:sldId id="26635" r:id="rId60"/>
    <p:sldId id="26636" r:id="rId61"/>
    <p:sldId id="26637" r:id="rId62"/>
    <p:sldId id="26640" r:id="rId63"/>
    <p:sldId id="26641" r:id="rId64"/>
    <p:sldId id="26652" r:id="rId65"/>
    <p:sldId id="26643" r:id="rId66"/>
    <p:sldId id="26644" r:id="rId67"/>
    <p:sldId id="26645" r:id="rId68"/>
    <p:sldId id="26393" r:id="rId69"/>
    <p:sldId id="26387" r:id="rId70"/>
    <p:sldId id="26395" r:id="rId71"/>
    <p:sldId id="26391" r:id="rId72"/>
    <p:sldId id="26402" r:id="rId73"/>
    <p:sldId id="26507" r:id="rId74"/>
    <p:sldId id="26649" r:id="rId75"/>
    <p:sldId id="360" r:id="rId76"/>
    <p:sldId id="26654" r:id="rId77"/>
    <p:sldId id="361" r:id="rId78"/>
  </p:sldIdLst>
  <p:sldSz cx="12192000" cy="6858000"/>
  <p:notesSz cx="6858000" cy="9144000"/>
  <p:embeddedFontLst>
    <p:embeddedFont>
      <p:font typeface="Foundation Handwriting" panose="020B0604020202020204"/>
      <p:regular r:id="rId81"/>
    </p:embeddedFont>
    <p:embeddedFont>
      <p:font typeface="FoundationBold" pitchFamily="2" charset="0"/>
      <p:regular r:id="rId82"/>
    </p:embeddedFont>
    <p:embeddedFont>
      <p:font typeface="Montserrat" panose="00000500000000000000" pitchFamily="2" charset="0"/>
      <p:regular r:id="rId83"/>
      <p:bold r:id="rId84"/>
      <p:italic r:id="rId85"/>
      <p:boldItalic r:id="rId86"/>
    </p:embeddedFont>
    <p:embeddedFont>
      <p:font typeface="Public Sans" pitchFamily="2" charset="0"/>
      <p:regular r:id="rId87"/>
      <p:bold r:id="rId88"/>
      <p:italic r:id="rId89"/>
      <p:boldItalic r:id="rId90"/>
    </p:embeddedFont>
    <p:embeddedFont>
      <p:font typeface="Public Sans Light" pitchFamily="2" charset="0"/>
      <p:regular r:id="rId91"/>
      <p:italic r:id="rId92"/>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663"/>
            <p14:sldId id="358"/>
            <p14:sldId id="26580"/>
            <p14:sldId id="26581"/>
            <p14:sldId id="26582"/>
            <p14:sldId id="26576"/>
            <p14:sldId id="26658"/>
          </p14:sldIdLst>
        </p14:section>
        <p14:section name="Review of learning 2" id="{0AC6BBCB-7E49-46CE-B777-EFCDD4B60F91}">
          <p14:sldIdLst>
            <p14:sldId id="26583"/>
            <p14:sldId id="26586"/>
            <p14:sldId id="26587"/>
            <p14:sldId id="26588"/>
            <p14:sldId id="26589"/>
            <p14:sldId id="26590"/>
            <p14:sldId id="26591"/>
            <p14:sldId id="26659"/>
          </p14:sldIdLst>
        </p14:section>
        <p14:section name="Review of learning 3" id="{6F5E1C19-5255-4FF7-A3CD-4549F7EF69B2}">
          <p14:sldIdLst>
            <p14:sldId id="26592"/>
            <p14:sldId id="26664"/>
            <p14:sldId id="26596"/>
            <p14:sldId id="26597"/>
            <p14:sldId id="26598"/>
            <p14:sldId id="26599"/>
            <p14:sldId id="26600"/>
            <p14:sldId id="26660"/>
          </p14:sldIdLst>
        </p14:section>
        <p14:section name="Review of learning 4" id="{6EB8E1CE-ED7B-4635-88AB-9D1D052BB011}">
          <p14:sldIdLst>
            <p14:sldId id="26601"/>
            <p14:sldId id="26661"/>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 id="26665"/>
          </p14:sldIdLst>
        </p14:section>
        <p14:section name="Review of learning 6" id="{6721D3DC-F7BB-49CA-9E61-8454C104591D}">
          <p14:sldIdLst>
            <p14:sldId id="26619"/>
            <p14:sldId id="26662"/>
            <p14:sldId id="26623"/>
            <p14:sldId id="26650"/>
            <p14:sldId id="26625"/>
            <p14:sldId id="26626"/>
            <p14:sldId id="26627"/>
          </p14:sldIdLst>
        </p14:section>
        <p14:section name="Review of learning 7" id="{CF63834E-0BE9-495B-9761-037C836F185E}">
          <p14:sldIdLst>
            <p14:sldId id="26628"/>
            <p14:sldId id="26629"/>
            <p14:sldId id="26651"/>
            <p14:sldId id="26633"/>
            <p14:sldId id="26634"/>
            <p14:sldId id="26635"/>
            <p14:sldId id="26636"/>
          </p14:sldIdLst>
        </p14:section>
        <p14:section name="Review of learning 8" id="{6FF8F7EC-803E-4F84-BA41-6B3ED673D597}">
          <p14:sldIdLst>
            <p14:sldId id="26637"/>
            <p14:sldId id="26640"/>
            <p14:sldId id="26641"/>
            <p14:sldId id="2665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4"/>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8C6D2936-6756-1476-1E4B-4B33D1F539E1}" name="Carrie Webeck" initials="CW" userId="S::carrie-ann.webeck@det.nsw.edu.au::e5c4b697-ca15-4f3a-a906-1289ddc2fc07" providerId="AD"/>
  <p188:author id="{95D16B7D-CADB-F2BF-AC29-D680545C75EE}" name="Carrie Webeck" initials="CW" userId="S::CARRIE-ANN.WEBECK@det.nsw.edu.au::e5c4b697-ca15-4f3a-a906-1289ddc2fc07" providerId="AD"/>
  <p188:author id="{365AC197-B100-6765-5B29-0870BE985137}" name="Lynelle Patterson (Worimi Country)" initials="" userId="S::Lynelle.PATTERSON@det.nsw.edu.au::c449517b-552b-4a43-be0f-142819430981" providerId="AD"/>
  <p188:author id="{9512C2BD-3C6E-54E1-1B5F-6159248B895C}" name="Penelope Walden" initials="PW" userId="S::PENELOPE.WALDEN@det.nsw.edu.au::41188047-2d28-4ee7-88bd-64e1e89b07b3" providerId="AD"/>
  <p188:author id="{B4A3A3EA-0EF6-188A-F362-B41CCF76F79D}" name="Lynelle Patterson (Worimi Country)" initials="LC" userId="S::lynelle.patterson@det.nsw.edu.au::c449517b-552b-4a43-be0f-142819430981"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B2D6"/>
    <a:srgbClr val="A4DDED"/>
    <a:srgbClr val="FF66C4"/>
    <a:srgbClr val="8C52FF"/>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FDBABB-667E-93C1-C372-EFECC4589AB1}" v="94" dt="2026-02-05T21:52:16.394"/>
    <p1510:client id="{C44883C5-9895-4320-8E52-A81808A0508E}" v="4" dt="2026-02-06T02:09:41.996"/>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21" autoAdjust="0"/>
    <p:restoredTop sz="35423" autoAdjust="0"/>
  </p:normalViewPr>
  <p:slideViewPr>
    <p:cSldViewPr snapToGrid="0">
      <p:cViewPr varScale="1">
        <p:scale>
          <a:sx n="34" d="100"/>
          <a:sy n="34" d="100"/>
        </p:scale>
        <p:origin x="2236" y="48"/>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4.fntdata"/><Relationship Id="rId89" Type="http://schemas.openxmlformats.org/officeDocument/2006/relationships/font" Target="fonts/font9.fntdata"/><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notesMaster" Target="notesMasters/notesMaster1.xml"/><Relationship Id="rId5" Type="http://schemas.openxmlformats.org/officeDocument/2006/relationships/slideMaster" Target="slideMasters/slideMaster2.xml"/><Relationship Id="rId90" Type="http://schemas.openxmlformats.org/officeDocument/2006/relationships/font" Target="fonts/font10.fntdata"/><Relationship Id="rId95" Type="http://schemas.openxmlformats.org/officeDocument/2006/relationships/theme" Target="theme/theme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handoutMaster" Target="handoutMasters/handoutMaster1.xml"/><Relationship Id="rId85" Type="http://schemas.openxmlformats.org/officeDocument/2006/relationships/font" Target="fonts/font5.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font" Target="fonts/font3.fntdata"/><Relationship Id="rId88" Type="http://schemas.openxmlformats.org/officeDocument/2006/relationships/font" Target="fonts/font8.fntdata"/><Relationship Id="rId91" Type="http://schemas.openxmlformats.org/officeDocument/2006/relationships/font" Target="fonts/font11.fntdata"/><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font" Target="fonts/font1.fntdata"/><Relationship Id="rId86" Type="http://schemas.openxmlformats.org/officeDocument/2006/relationships/font" Target="fonts/font6.fntdata"/><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microsoft.com/office/2015/10/relationships/revisionInfo" Target="revisionInfo.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font" Target="fonts/font12.fnt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font" Target="fonts/font7.fntdata"/><Relationship Id="rId61" Type="http://schemas.openxmlformats.org/officeDocument/2006/relationships/slide" Target="slides/slide56.xml"/><Relationship Id="rId82" Type="http://schemas.openxmlformats.org/officeDocument/2006/relationships/font" Target="fonts/font2.fntdata"/><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presProps" Target="presProps.xml"/><Relationship Id="rId98"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9/02/2026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9/02/2026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latin typeface="Arial"/>
                <a:cs typeface="Arial"/>
              </a:rPr>
              <a:t>Stage 3 Year A Unit 7</a:t>
            </a:r>
            <a:endParaRPr lang="en-AU"/>
          </a:p>
          <a:p>
            <a:pPr marL="285750" indent="-285750">
              <a:buFont typeface="Arial" panose="020B0604020202020204" pitchFamily="34" charset="0"/>
              <a:buChar char="•"/>
            </a:pPr>
            <a:r>
              <a:rPr lang="en-AU"/>
              <a:t>Stage 3 Year A Unit 6</a:t>
            </a:r>
          </a:p>
          <a:p>
            <a:pPr marL="285750" indent="-285750">
              <a:buFont typeface="Arial" panose="020B0604020202020204" pitchFamily="34" charset="0"/>
              <a:buChar char="•"/>
            </a:pPr>
            <a:r>
              <a:rPr lang="en-AU">
                <a:latin typeface="Arial"/>
                <a:cs typeface="Arial"/>
              </a:rPr>
              <a:t>Stage 3 Year A Unit 5</a:t>
            </a:r>
            <a:endParaRPr lang="en-AU"/>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1D474-EB73-7C65-D247-07B38074A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1F009-FE01-E53C-D74B-3BF79B490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B7AA9-A51A-A8E3-53CC-E516375D1F6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Represents numbers A</a:t>
            </a:r>
          </a:p>
        </p:txBody>
      </p:sp>
      <p:sp>
        <p:nvSpPr>
          <p:cNvPr id="4" name="Slide Number Placeholder 3">
            <a:extLst>
              <a:ext uri="{FF2B5EF4-FFF2-40B4-BE49-F238E27FC236}">
                <a16:creationId xmlns:a16="http://schemas.microsoft.com/office/drawing/2014/main" id="{B124A784-1492-EDC2-62A4-C99FBC9A6BA6}"/>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982505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latin typeface="Arial"/>
                <a:cs typeface="Arial"/>
              </a:rPr>
              <a:t>Short response questions provide brisk paced questions focussing on review of current and previous content to support spaced and interleaved practice. </a:t>
            </a:r>
          </a:p>
          <a:p>
            <a:endParaRPr lang="en-AU" dirty="0"/>
          </a:p>
          <a:p>
            <a:r>
              <a:rPr lang="en-AU" b="1" dirty="0">
                <a:latin typeface="Arial"/>
                <a:cs typeface="Arial"/>
              </a:rPr>
              <a:t>Syllabus focus area:</a:t>
            </a:r>
          </a:p>
          <a:p>
            <a:pPr>
              <a:defRPr/>
            </a:pPr>
            <a:r>
              <a:rPr lang="en-AU" dirty="0">
                <a:latin typeface="Arial"/>
                <a:cs typeface="Arial"/>
              </a:rPr>
              <a:t>Geometric measure B: Position </a:t>
            </a:r>
            <a:r>
              <a:rPr lang="en-AU" b="1" dirty="0">
                <a:latin typeface="Arial"/>
                <a:cs typeface="Arial"/>
              </a:rPr>
              <a:t>(Note: Stage 2 content reviewed)</a:t>
            </a: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Regrouping numbers in different forms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Model recording different ways to regroup the number. For example: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500 thousands, 8 ten thousands, 6 thousands, 1 hundred and 2 tens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500 000 + 80 000 + 6000 + 100 + 20.</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NEXT SLIDE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another 6-digit number on the board. For example, 804 903.</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record 2 different ways of regrouping the number.</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68FD0-9647-A274-19DE-A4BF41799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601B7-0C75-900C-290A-5F0695DB6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853E3-30C7-79E1-6673-A2BD986905BC}"/>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Regrouping numbers in different forms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record 2 different ways of regrouping the number.</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0A2C1DF-2D51-F3FD-838D-0A697A117B47}"/>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279494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Represents numbers A</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Represents numbers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Partitioning in non-standard forms</a:t>
            </a:r>
          </a:p>
          <a:p>
            <a:r>
              <a:rPr lang="en-AU" b="0"/>
              <a:t>This resource corresponds to Resource 3 – place value house in Stage 3 Year A Unit 7.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Model recording different ways to partition the number in a non-standard forms. For example: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586 thousands and 120 ones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580 000 + 6120.</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NEXT SLIDE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partition the number in a non-standard form and record.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non-standard partitioning with a partner to compare and check for accuracy.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the process with another number.</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4928C-9A96-1BFD-3A3A-0D87F6F3E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EDCEF-BF65-0CBB-8D3E-4B7A73F0FA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F699E-081F-5D3E-A0F0-8CD0968B1CB2}"/>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Partitioning in non-standard forms</a:t>
            </a:r>
          </a:p>
          <a:p>
            <a:r>
              <a:rPr lang="en-AU" b="0"/>
              <a:t>This resource corresponds to Resource 3 – place value house in Stage 3 Year A Unit 7.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partition the number in a non-standard form and record.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non-standard partitioning with a partner to compare and check for accuracy.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the process with another number.</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A2C7FEFA-86E1-D085-5564-EA74A23BD592}"/>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8783559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F6CE9-FB8C-CBD0-1386-0DC0B367E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5D2E8-D62E-6FF5-E847-4304FCB68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82C37E-3B35-D5D4-79DB-55BDB6EE788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sz="1600" b="0" kern="1200" dirty="0">
                <a:solidFill>
                  <a:schemeClr val="tx1"/>
                </a:solidFill>
                <a:effectLst/>
                <a:latin typeface="Arial" panose="020B0604020202020204" pitchFamily="34" charset="0"/>
                <a:ea typeface="+mn-ea"/>
                <a:cs typeface="Arial" panose="020B0604020202020204" pitchFamily="34" charset="0"/>
              </a:rPr>
              <a:t>Represents numbers A</a:t>
            </a:r>
          </a:p>
        </p:txBody>
      </p:sp>
      <p:sp>
        <p:nvSpPr>
          <p:cNvPr id="4" name="Slide Number Placeholder 3">
            <a:extLst>
              <a:ext uri="{FF2B5EF4-FFF2-40B4-BE49-F238E27FC236}">
                <a16:creationId xmlns:a16="http://schemas.microsoft.com/office/drawing/2014/main" id="{4BD24480-DA64-6FE8-85E0-6132E7B26E79}"/>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41802626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Regrouping and partitioning numbers</a:t>
            </a:r>
          </a:p>
          <a:p>
            <a:r>
              <a:rPr lang="en-AU" b="0"/>
              <a:t>This resource corresponds to Resource 15 – Correct or incorrect? in Stage 3 Year A Unit 7.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each student with a copy of </a:t>
            </a:r>
            <a:r>
              <a:rPr lang="en-AU" b="0"/>
              <a:t>Resource 15 – correct or incorrect?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determine whether each standard or non-standard partition displayed is correct or not.</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For the incorrect examples given, students record a standard or non-standard partitioning example that is equal to the number displayed.  </a:t>
            </a: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77589-EE8D-D701-88F9-7FF952D62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400C9-9B9C-184C-9FBD-70D33BF90A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28847-69CF-3BCB-A3FC-341B9462F01C}"/>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Regrouping and partitioning numbers</a:t>
            </a:r>
          </a:p>
          <a:p>
            <a:r>
              <a:rPr lang="en-AU" b="0"/>
              <a:t>This resource corresponds to Resource 15 – Correct or incorrect? in Stage 3 Year A Unit 7.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each student with a copy of </a:t>
            </a:r>
            <a:r>
              <a:rPr lang="en-AU" b="0"/>
              <a:t>Resource 15 – correct or incorrect?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determine whether each standard or non-standard partition displayed is correct or not.</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For the incorrect examples given, students record a standard or non-standard partitioning example that is equal to the number displayed.  </a:t>
            </a: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E96A2A1-067A-5696-4C0E-26D2F9E30777}"/>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11768078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6CDD7-27B5-7ED7-6CC0-AF378300C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40608-7354-8C72-10A7-C7097CE5A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299F3-5959-A793-0CA5-79CCF05B49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Represents numbers A</a:t>
            </a:r>
          </a:p>
        </p:txBody>
      </p:sp>
      <p:sp>
        <p:nvSpPr>
          <p:cNvPr id="4" name="Slide Number Placeholder 3">
            <a:extLst>
              <a:ext uri="{FF2B5EF4-FFF2-40B4-BE49-F238E27FC236}">
                <a16:creationId xmlns:a16="http://schemas.microsoft.com/office/drawing/2014/main" id="{03A161D8-8C6C-5FBC-B905-6B3F703982F5}"/>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30665660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structure A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Standard and non-standard partitioning</a:t>
            </a:r>
          </a:p>
          <a:p>
            <a:r>
              <a:rPr lang="en-AU" b="0"/>
              <a:t>This resource corresponds to Resource 3 – place value house in Stage 3 Year A Unit 7.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a copy of </a:t>
            </a:r>
            <a:r>
              <a:rPr lang="en-AU" b="0"/>
              <a:t>Resource 3 – place value house</a:t>
            </a:r>
            <a:r>
              <a:rPr lang="en-AU" sz="1600" kern="1200">
                <a:solidFill>
                  <a:schemeClr val="tx1"/>
                </a:solidFill>
                <a:effectLst/>
                <a:latin typeface="Arial" panose="020B0604020202020204" pitchFamily="34" charset="0"/>
                <a:ea typeface="+mn-ea"/>
                <a:cs typeface="Arial" panose="020B0604020202020204" pitchFamily="34" charset="0"/>
              </a:rPr>
              <a:t> and a 9-sided dice.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roll the dice and decide where to place each number on the resource until a 6-digit number has been created.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One student in the pair records the number using standard partitioning and the other student records the number using non-standard partitioning.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Once both students have recorded their partitioned numbers, they check and discuss.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the process with students swapping roles of recording the standard or non-standard partitioning for the next 6-digit number generated.</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Multiplicative relations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 Time </a:t>
            </a:r>
            <a:r>
              <a:rPr lang="en-AU" b="1">
                <a:latin typeface="Arial"/>
                <a:cs typeface="Arial"/>
              </a:rPr>
              <a:t>(Note: Stage 2 content reviewed)</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Using the area model to solve division problems</a:t>
            </a:r>
          </a:p>
          <a:p>
            <a:r>
              <a:rPr lang="en-AU" b="0"/>
              <a:t>This resource corresponds to Resource 16 – sports shed equipment in Stage 3 Year A Unit 7. </a:t>
            </a:r>
          </a:p>
          <a:p>
            <a:pPr marL="342900" indent="-342900">
              <a:buFont typeface="+mj-lt"/>
              <a:buAutoNum type="arabicPeriod"/>
            </a:pPr>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use area models to solve each of the problems displayed.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discuss their solutions. Pairs of students check their answers using the inverse operation of multiplication to check their answers.</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DE2B2-252E-A13C-CB1C-17EDF405D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0A13E-F367-5BB7-1A45-60994820B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34EDB-A7A6-ECA6-92FF-07B0ADE4DA4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Using the area model to solve division problems</a:t>
            </a:r>
          </a:p>
          <a:p>
            <a:r>
              <a:rPr lang="en-AU" b="0"/>
              <a:t>This resource corresponds to Resource 16 – sports shed equipment in Stage 3 Year A Unit 7. </a:t>
            </a:r>
          </a:p>
          <a:p>
            <a:pPr marL="342900" indent="-342900">
              <a:buFont typeface="+mj-lt"/>
              <a:buAutoNum type="arabicPeriod"/>
            </a:pPr>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use area models to solve each of the problems displayed.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discuss their solutions. Pairs of students check their answers using the inverse operation of multiplication to check their answers.</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26FA491C-CF54-885E-E4D0-DCED9C5C80D1}"/>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22065017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CA009-FA44-53D0-E0C1-AE29E790C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AB5AD-BA16-5B22-BD48-2B159D734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C384B-7C9A-F4AB-C370-CF70FE39D9D8}"/>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A</a:t>
            </a:r>
          </a:p>
        </p:txBody>
      </p:sp>
      <p:sp>
        <p:nvSpPr>
          <p:cNvPr id="4" name="Slide Number Placeholder 3">
            <a:extLst>
              <a:ext uri="{FF2B5EF4-FFF2-40B4-BE49-F238E27FC236}">
                <a16:creationId xmlns:a16="http://schemas.microsoft.com/office/drawing/2014/main" id="{D2A05181-7275-723B-86D9-B6B7FFD7530D}"/>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0211763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46</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7379224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B: Mass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sz="1600" b="1" kern="1200" dirty="0">
                <a:solidFill>
                  <a:schemeClr val="tx1"/>
                </a:solidFill>
                <a:effectLst/>
                <a:latin typeface="Arial" panose="020B0604020202020204" pitchFamily="34" charset="0"/>
                <a:ea typeface="+mn-ea"/>
                <a:cs typeface="Arial" panose="020B0604020202020204" pitchFamily="34" charset="0"/>
              </a:rPr>
              <a:t>Investigating the area model</a:t>
            </a:r>
          </a:p>
          <a:p>
            <a:r>
              <a:rPr lang="en-AU" b="0" dirty="0"/>
              <a:t>This resource corresponds to Resource 17 – Akram’s area model in Stage 3 Year A Unit 7. </a:t>
            </a:r>
          </a:p>
          <a:p>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to use the area model to solve 765 × 4 to determine when Akram’s calculations are accurate.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discuss their calculations and what errors Akram made in his calculations.</a:t>
            </a:r>
          </a:p>
          <a:p>
            <a:pPr marL="0" indent="0">
              <a:buFont typeface="+mj-lt"/>
              <a:buNone/>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75B4-573F-89B4-721A-AE72AE0A7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36249-B90E-4721-9CBA-E7FA347C4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CF4AB-5EFB-3FB5-9B6D-6A0F349D36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E9C7EBA-0F98-5EA3-BB82-6A2F901E3A62}"/>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425455030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3D objects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Using partial products</a:t>
            </a:r>
          </a:p>
          <a:p>
            <a:r>
              <a:rPr lang="en-AU" b="0"/>
              <a:t>This resource corresponds to Resource 18 – find the total and Figure 16 in Stage 3 Year A Unit 7. </a:t>
            </a:r>
          </a:p>
          <a:p>
            <a:endParaRPr lang="en-AU" b="1"/>
          </a:p>
          <a:p>
            <a:pPr marL="0" indent="0">
              <a:buFont typeface="+mj-lt"/>
              <a:buNone/>
            </a:pPr>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use the distributive property with partial products to find the sum of all the numbers displayed. If required, prompt students to identify that the numbers in each row are repeated, so if the numbers in the top row are added together first, then this total can be multiplied by the number of rows  (see Figure 16).</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a:p>
            <a:endParaRPr lang="en-AU" b="0"/>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60</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6164405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Area </a:t>
            </a:r>
            <a:r>
              <a:rPr lang="en-AU" b="1">
                <a:latin typeface="Arial"/>
                <a:cs typeface="Arial"/>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sz="1600" b="1" kern="1200" dirty="0">
                <a:solidFill>
                  <a:schemeClr val="tx1"/>
                </a:solidFill>
                <a:effectLst/>
                <a:latin typeface="Arial" panose="020B0604020202020204" pitchFamily="34" charset="0"/>
                <a:ea typeface="+mn-ea"/>
                <a:cs typeface="Arial" panose="020B0604020202020204" pitchFamily="34" charset="0"/>
              </a:rPr>
              <a:t>Using the distributive property</a:t>
            </a:r>
          </a:p>
          <a:p>
            <a:endParaRPr lang="en-AU" sz="1600" b="1"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each student with a 9-sided dice.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roll the dice 5 times to make a 4-digit number and a one-digit number. Ask students to record their 2 numbers as a multiplication number sentence. For example, 2847 × 9.</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record 2 different methods to find the solution. For example, the area model, the distributive property with partial products or a formal algorithm.</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Ask students: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strategies did you choose? Why?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From the 2 strategies, which one was most efficient?</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1C360-F907-6648-08DE-950B2FA2FE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EDDE7-0FEA-2066-6E24-4D78FAE6A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51E60-A42D-ABE0-EE8A-1A089AFA1A4E}"/>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71BB0F1-0FC9-6FAE-481B-A1408E8FB214}"/>
              </a:ext>
            </a:extLst>
          </p:cNvPr>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22577654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73</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573136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317920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0668568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24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810960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1633675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70895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750391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495969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621879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99389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375164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1938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10856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010357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021485017"/>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3.xml"/><Relationship Id="rId3" Type="http://schemas.openxmlformats.org/officeDocument/2006/relationships/slide" Target="slide4.xml"/><Relationship Id="rId7" Type="http://schemas.openxmlformats.org/officeDocument/2006/relationships/slide" Target="slide35.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8.xml"/><Relationship Id="rId5" Type="http://schemas.openxmlformats.org/officeDocument/2006/relationships/slide" Target="slide20.xml"/><Relationship Id="rId10" Type="http://schemas.openxmlformats.org/officeDocument/2006/relationships/slide" Target="slide57.xml"/><Relationship Id="rId4" Type="http://schemas.openxmlformats.org/officeDocument/2006/relationships/slide" Target="slide12.xml"/><Relationship Id="rId9" Type="http://schemas.openxmlformats.org/officeDocument/2006/relationships/slide" Target="slide5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19.xml"/><Relationship Id="rId4" Type="http://schemas.openxmlformats.org/officeDocument/2006/relationships/image" Target="../media/image28.png"/></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2.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8.xml"/><Relationship Id="rId1" Type="http://schemas.openxmlformats.org/officeDocument/2006/relationships/slideLayout" Target="../slideLayouts/slideLayout11.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slide" Target="slide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curriculum.nsw.edu.au/learning-areas/mathematics/mathematics-k-10-2022/content/stage-3/fa0c228e92?show=advice" TargetMode="External"/><Relationship Id="rId2" Type="http://schemas.openxmlformats.org/officeDocument/2006/relationships/notesSlide" Target="../notesSlides/notesSlide71.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curriculum.nsw.edu.au/learning-areas/mathematics/mathematics-k-10-2022/content/stage-3/fa934b5e3a?show=advice" TargetMode="External"/><Relationship Id="rId5" Type="http://schemas.openxmlformats.org/officeDocument/2006/relationships/hyperlink" Target="https://curriculum.nsw.edu.au/" TargetMode="External"/><Relationship Id="rId10" Type="http://schemas.openxmlformats.org/officeDocument/2006/relationships/hyperlink" Target="https://www.mathematicshub.edu.au/plan-teach-and-assess/teaching/lesson-plans/osprey-migration-data/"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commonground.org.au/article/communicating-through-art-first-nations-symbols" TargetMode="External"/></Relationships>
</file>

<file path=ppt/slides/_rels/slide72.xml.rels><?xml version="1.0" encoding="UTF-8" standalone="yes"?>
<Relationships xmlns="http://schemas.openxmlformats.org/package/2006/relationships"><Relationship Id="rId8" Type="http://schemas.openxmlformats.org/officeDocument/2006/relationships/hyperlink" Target="https://indigenousknowledge.unimelb.edu.au/curriculum/resources/stellar-navigation-and-mathematics"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newzealandcurriculum.tahurangi.education.govt.nz/data-distortion/5637199493.p" TargetMode="External"/><Relationship Id="rId2" Type="http://schemas.openxmlformats.org/officeDocument/2006/relationships/notesSlide" Target="../notesSlides/notesSlide72.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content/stage-3/fa0a18f458?show=advice"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A Unit 7.</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7</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descr="Blue circle 1 with light blue rectangle with title Review of learning 1.">
            <a:extLst>
              <a:ext uri="{FF2B5EF4-FFF2-40B4-BE49-F238E27FC236}">
                <a16:creationId xmlns:a16="http://schemas.microsoft.com/office/drawing/2014/main" id="{1B4FCA10-C38C-7EB1-6B3D-6210A414C65B}"/>
              </a:ext>
              <a:ext uri="{C183D7F6-B498-43B3-948B-1728B52AA6E4}">
                <adec:decorative xmlns:adec="http://schemas.microsoft.com/office/drawing/2017/decorative" val="0"/>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descr="Blue circle 2 with light blue rectangle with title 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descr="Blue circle 3 with light blue rectangle with title 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descr="Blue circle 4 with light blue rectangle with title Review of learn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descr="Blue circle 5 with light blue rectangle with title Review of learn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descr="Blue circle 6 with light blue rectangle with title 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descr="Blue circle 7 with light blue rectangle with title 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descr="Blue circle 8 with light blue rectangle with title 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C6F6B-3359-4CFA-749F-3F779BEE1EE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5CE0E9-0BB7-9784-A3D0-1C8B2C20AF7E}"/>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descr="Picture 3: image of a finger selecting an option for a multiple choice or true and false">
            <a:extLst>
              <a:ext uri="{FF2B5EF4-FFF2-40B4-BE49-F238E27FC236}">
                <a16:creationId xmlns:a16="http://schemas.microsoft.com/office/drawing/2014/main" id="{B5E6C937-4556-0846-065D-77D8A6ECEDF4}"/>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59661523-B718-935A-D8AC-83196D6393C0}"/>
              </a:ext>
            </a:extLst>
          </p:cNvPr>
          <p:cNvSpPr>
            <a:spLocks noGrp="1"/>
          </p:cNvSpPr>
          <p:nvPr>
            <p:ph type="body" sz="quarter" idx="28"/>
          </p:nvPr>
        </p:nvSpPr>
        <p:spPr>
          <a:xfrm>
            <a:off x="278403" y="793028"/>
            <a:ext cx="11243037" cy="754243"/>
          </a:xfrm>
        </p:spPr>
        <p:txBody>
          <a:bodyPr/>
          <a:lstStyle/>
          <a:p>
            <a:pPr algn="ctr"/>
            <a:r>
              <a:rPr lang="en-US" sz="4400"/>
              <a:t>Which if these is </a:t>
            </a:r>
            <a:r>
              <a:rPr lang="en-AU" sz="4400"/>
              <a:t>equivalent to 804 903?</a:t>
            </a:r>
          </a:p>
          <a:p>
            <a:pPr algn="ctr"/>
            <a:r>
              <a:rPr lang="en-AU" sz="4400"/>
              <a:t>You may select </a:t>
            </a:r>
            <a:r>
              <a:rPr lang="en-AU" sz="4400" b="1"/>
              <a:t>more than one </a:t>
            </a:r>
            <a:r>
              <a:rPr lang="en-AU" sz="4400"/>
              <a:t>answer.</a:t>
            </a:r>
            <a:endParaRPr lang="en-US" sz="4400"/>
          </a:p>
          <a:p>
            <a:endParaRPr lang="en-US" sz="4400"/>
          </a:p>
        </p:txBody>
      </p:sp>
      <p:sp>
        <p:nvSpPr>
          <p:cNvPr id="9" name="B">
            <a:extLst>
              <a:ext uri="{FF2B5EF4-FFF2-40B4-BE49-F238E27FC236}">
                <a16:creationId xmlns:a16="http://schemas.microsoft.com/office/drawing/2014/main" id="{A4519177-ECA3-05B1-7D47-733270844C44}"/>
              </a:ext>
            </a:extLst>
          </p:cNvPr>
          <p:cNvSpPr txBox="1"/>
          <p:nvPr/>
        </p:nvSpPr>
        <p:spPr>
          <a:xfrm>
            <a:off x="670560" y="32113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A</a:t>
            </a:r>
          </a:p>
        </p:txBody>
      </p:sp>
      <p:sp>
        <p:nvSpPr>
          <p:cNvPr id="18" name="A text">
            <a:extLst>
              <a:ext uri="{FF2B5EF4-FFF2-40B4-BE49-F238E27FC236}">
                <a16:creationId xmlns:a16="http://schemas.microsoft.com/office/drawing/2014/main" id="{DB7B18CE-2AA9-E95F-0218-C458A195F424}"/>
              </a:ext>
            </a:extLst>
          </p:cNvPr>
          <p:cNvSpPr>
            <a:spLocks noGrp="1"/>
          </p:cNvSpPr>
          <p:nvPr>
            <p:ph type="body" sz="quarter" idx="31"/>
          </p:nvPr>
        </p:nvSpPr>
        <p:spPr>
          <a:xfrm>
            <a:off x="1345520" y="3259951"/>
            <a:ext cx="10175920" cy="641396"/>
          </a:xfrm>
        </p:spPr>
        <p:txBody>
          <a:bodyPr anchor="ctr"/>
          <a:lstStyle/>
          <a:p>
            <a:r>
              <a:rPr lang="en-US" sz="3600"/>
              <a:t>800 000 + 4900 + 3</a:t>
            </a:r>
          </a:p>
        </p:txBody>
      </p:sp>
      <p:sp>
        <p:nvSpPr>
          <p:cNvPr id="10" name="B">
            <a:extLst>
              <a:ext uri="{FF2B5EF4-FFF2-40B4-BE49-F238E27FC236}">
                <a16:creationId xmlns:a16="http://schemas.microsoft.com/office/drawing/2014/main" id="{EA77DE88-947C-D205-60D2-06D3AFBA4208}"/>
              </a:ext>
            </a:extLst>
          </p:cNvPr>
          <p:cNvSpPr txBox="1"/>
          <p:nvPr/>
        </p:nvSpPr>
        <p:spPr>
          <a:xfrm>
            <a:off x="670559" y="40592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B</a:t>
            </a:r>
          </a:p>
        </p:txBody>
      </p:sp>
      <p:sp>
        <p:nvSpPr>
          <p:cNvPr id="17" name="B text">
            <a:extLst>
              <a:ext uri="{FF2B5EF4-FFF2-40B4-BE49-F238E27FC236}">
                <a16:creationId xmlns:a16="http://schemas.microsoft.com/office/drawing/2014/main" id="{271BE234-2DD5-E96B-E963-8609EACCD774}"/>
              </a:ext>
            </a:extLst>
          </p:cNvPr>
          <p:cNvSpPr>
            <a:spLocks noGrp="1"/>
          </p:cNvSpPr>
          <p:nvPr>
            <p:ph type="body" sz="quarter" idx="30"/>
          </p:nvPr>
        </p:nvSpPr>
        <p:spPr>
          <a:xfrm>
            <a:off x="1345520" y="4107864"/>
            <a:ext cx="10175920" cy="641396"/>
          </a:xfrm>
        </p:spPr>
        <p:txBody>
          <a:bodyPr anchor="ctr"/>
          <a:lstStyle/>
          <a:p>
            <a:r>
              <a:rPr lang="en-US" sz="3600"/>
              <a:t>500 000 + 304 000 + 903</a:t>
            </a:r>
          </a:p>
        </p:txBody>
      </p:sp>
      <p:sp>
        <p:nvSpPr>
          <p:cNvPr id="12" name="C">
            <a:extLst>
              <a:ext uri="{FF2B5EF4-FFF2-40B4-BE49-F238E27FC236}">
                <a16:creationId xmlns:a16="http://schemas.microsoft.com/office/drawing/2014/main" id="{D778605F-1FBE-C0BF-C518-2ED4526517CB}"/>
              </a:ext>
            </a:extLst>
          </p:cNvPr>
          <p:cNvSpPr txBox="1"/>
          <p:nvPr/>
        </p:nvSpPr>
        <p:spPr>
          <a:xfrm>
            <a:off x="670558" y="49092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C</a:t>
            </a:r>
          </a:p>
        </p:txBody>
      </p:sp>
      <p:sp>
        <p:nvSpPr>
          <p:cNvPr id="16" name="C text">
            <a:extLst>
              <a:ext uri="{FF2B5EF4-FFF2-40B4-BE49-F238E27FC236}">
                <a16:creationId xmlns:a16="http://schemas.microsoft.com/office/drawing/2014/main" id="{0179EFF2-34EB-20BA-DCCB-A57C0CB9F78F}"/>
              </a:ext>
            </a:extLst>
          </p:cNvPr>
          <p:cNvSpPr>
            <a:spLocks noGrp="1"/>
          </p:cNvSpPr>
          <p:nvPr>
            <p:ph type="body" sz="quarter" idx="29"/>
          </p:nvPr>
        </p:nvSpPr>
        <p:spPr>
          <a:xfrm>
            <a:off x="1345520" y="4957917"/>
            <a:ext cx="10175920" cy="641396"/>
          </a:xfrm>
        </p:spPr>
        <p:txBody>
          <a:bodyPr anchor="ctr"/>
          <a:lstStyle/>
          <a:p>
            <a:r>
              <a:rPr lang="en-US" sz="3600"/>
              <a:t>80 000 + 4000 + 90 + 3</a:t>
            </a:r>
          </a:p>
        </p:txBody>
      </p:sp>
      <p:sp>
        <p:nvSpPr>
          <p:cNvPr id="11" name="D">
            <a:extLst>
              <a:ext uri="{FF2B5EF4-FFF2-40B4-BE49-F238E27FC236}">
                <a16:creationId xmlns:a16="http://schemas.microsoft.com/office/drawing/2014/main" id="{AB735B15-A38C-D095-35C1-235CDE3DE292}"/>
              </a:ext>
            </a:extLst>
          </p:cNvPr>
          <p:cNvSpPr txBox="1"/>
          <p:nvPr/>
        </p:nvSpPr>
        <p:spPr>
          <a:xfrm>
            <a:off x="670557" y="5759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D</a:t>
            </a:r>
          </a:p>
        </p:txBody>
      </p:sp>
      <p:sp>
        <p:nvSpPr>
          <p:cNvPr id="14" name="D text">
            <a:extLst>
              <a:ext uri="{FF2B5EF4-FFF2-40B4-BE49-F238E27FC236}">
                <a16:creationId xmlns:a16="http://schemas.microsoft.com/office/drawing/2014/main" id="{D03B3BC5-A41B-631F-CE10-CED131E3041B}"/>
              </a:ext>
            </a:extLst>
          </p:cNvPr>
          <p:cNvSpPr>
            <a:spLocks noGrp="1"/>
          </p:cNvSpPr>
          <p:nvPr>
            <p:ph type="body" sz="quarter" idx="27"/>
          </p:nvPr>
        </p:nvSpPr>
        <p:spPr>
          <a:xfrm>
            <a:off x="1345520" y="5807970"/>
            <a:ext cx="10175920" cy="641396"/>
          </a:xfrm>
        </p:spPr>
        <p:txBody>
          <a:bodyPr anchor="ctr"/>
          <a:lstStyle/>
          <a:p>
            <a:r>
              <a:rPr lang="en-AU" sz="3600"/>
              <a:t>800 000 + 4000 + 900 + 3 </a:t>
            </a:r>
            <a:endParaRPr lang="en-US" sz="3600"/>
          </a:p>
        </p:txBody>
      </p:sp>
      <p:sp>
        <p:nvSpPr>
          <p:cNvPr id="2" name="Slide Number Placeholder 1">
            <a:extLst>
              <a:ext uri="{FF2B5EF4-FFF2-40B4-BE49-F238E27FC236}">
                <a16:creationId xmlns:a16="http://schemas.microsoft.com/office/drawing/2014/main" id="{1F654B4D-CA85-8B20-4016-0C48C76C48DF}"/>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224917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392A46F2-55A7-29E6-C3C2-32A68C05210A}"/>
              </a:ext>
            </a:extLst>
          </p:cNvPr>
          <p:cNvSpPr txBox="1"/>
          <p:nvPr/>
        </p:nvSpPr>
        <p:spPr>
          <a:xfrm>
            <a:off x="680936" y="1293779"/>
            <a:ext cx="11163064" cy="758681"/>
          </a:xfrm>
          <a:prstGeom prst="rect">
            <a:avLst/>
          </a:prstGeom>
          <a:noFill/>
        </p:spPr>
        <p:txBody>
          <a:bodyPr wrap="square" lIns="0" tIns="0" rIns="0" bIns="0" rtlCol="0">
            <a:noAutofit/>
          </a:bodyPr>
          <a:lstStyle/>
          <a:p>
            <a:pPr algn="l">
              <a:lnSpc>
                <a:spcPct val="150000"/>
              </a:lnSpc>
            </a:pPr>
            <a:r>
              <a:rPr lang="en-AU" sz="4000"/>
              <a:t>Record </a:t>
            </a:r>
            <a:r>
              <a:rPr lang="en-AU" sz="4000" b="1"/>
              <a:t>multiplication</a:t>
            </a:r>
            <a:r>
              <a:rPr lang="en-AU" sz="4000"/>
              <a:t> </a:t>
            </a:r>
            <a:r>
              <a:rPr lang="en-AU" sz="4000" b="1"/>
              <a:t>fact families </a:t>
            </a:r>
            <a:r>
              <a:rPr lang="en-AU" sz="4000"/>
              <a:t>for these numbers:</a:t>
            </a:r>
          </a:p>
          <a:p>
            <a:pPr algn="l"/>
            <a:endParaRPr lang="en-AU" sz="4000" b="1"/>
          </a:p>
          <a:p>
            <a:pPr algn="l"/>
            <a:endParaRPr lang="en-AU" sz="1800"/>
          </a:p>
        </p:txBody>
      </p:sp>
      <p:grpSp>
        <p:nvGrpSpPr>
          <p:cNvPr id="4" name="Group 3" descr="Fact family triangle with the number 4 at top.">
            <a:extLst>
              <a:ext uri="{FF2B5EF4-FFF2-40B4-BE49-F238E27FC236}">
                <a16:creationId xmlns:a16="http://schemas.microsoft.com/office/drawing/2014/main" id="{136AB2A0-67F9-01B4-E171-B60702C4E7FA}"/>
              </a:ext>
            </a:extLst>
          </p:cNvPr>
          <p:cNvGrpSpPr/>
          <p:nvPr/>
        </p:nvGrpSpPr>
        <p:grpSpPr>
          <a:xfrm>
            <a:off x="1377905" y="3912654"/>
            <a:ext cx="2052535" cy="1647689"/>
            <a:chOff x="1377905" y="3912654"/>
            <a:chExt cx="2052535" cy="1647689"/>
          </a:xfrm>
        </p:grpSpPr>
        <p:sp>
          <p:nvSpPr>
            <p:cNvPr id="17" name="TextBox 16">
              <a:extLst>
                <a:ext uri="{FF2B5EF4-FFF2-40B4-BE49-F238E27FC236}">
                  <a16:creationId xmlns:a16="http://schemas.microsoft.com/office/drawing/2014/main" id="{55A060C4-6A69-FB55-9BD1-FEEE11E2C3B4}"/>
                </a:ext>
                <a:ext uri="{C183D7F6-B498-43B3-948B-1728B52AA6E4}">
                  <adec:decorative xmlns:adec="http://schemas.microsoft.com/office/drawing/2017/decorative" val="0"/>
                </a:ext>
              </a:extLst>
            </p:cNvPr>
            <p:cNvSpPr txBox="1"/>
            <p:nvPr/>
          </p:nvSpPr>
          <p:spPr>
            <a:xfrm>
              <a:off x="1377905" y="3912654"/>
              <a:ext cx="2052535" cy="1647689"/>
            </a:xfrm>
            <a:prstGeom prst="triangle">
              <a:avLst/>
            </a:prstGeom>
            <a:noFill/>
            <a:ln w="28575">
              <a:solidFill>
                <a:schemeClr val="tx1"/>
              </a:solidFill>
            </a:ln>
          </p:spPr>
          <p:txBody>
            <a:bodyPr wrap="square" lIns="0" tIns="0" rIns="0" bIns="0" rtlCol="0">
              <a:noAutofit/>
            </a:bodyPr>
            <a:lstStyle/>
            <a:p>
              <a:pPr algn="l"/>
              <a:endParaRPr lang="en-AU" sz="1800"/>
            </a:p>
          </p:txBody>
        </p:sp>
        <p:sp>
          <p:nvSpPr>
            <p:cNvPr id="18" name="TextBox 17">
              <a:extLst>
                <a:ext uri="{FF2B5EF4-FFF2-40B4-BE49-F238E27FC236}">
                  <a16:creationId xmlns:a16="http://schemas.microsoft.com/office/drawing/2014/main" id="{363D42AA-7E17-608F-E3E9-2FBD0DD20911}"/>
                </a:ext>
                <a:ext uri="{C183D7F6-B498-43B3-948B-1728B52AA6E4}">
                  <adec:decorative xmlns:adec="http://schemas.microsoft.com/office/drawing/2017/decorative" val="1"/>
                </a:ext>
              </a:extLst>
            </p:cNvPr>
            <p:cNvSpPr txBox="1"/>
            <p:nvPr/>
          </p:nvSpPr>
          <p:spPr>
            <a:xfrm>
              <a:off x="2259588" y="4072322"/>
              <a:ext cx="476657" cy="423815"/>
            </a:xfrm>
            <a:prstGeom prst="rect">
              <a:avLst/>
            </a:prstGeom>
            <a:noFill/>
          </p:spPr>
          <p:txBody>
            <a:bodyPr wrap="square" lIns="0" tIns="0" rIns="0" bIns="0" rtlCol="0">
              <a:noAutofit/>
            </a:bodyPr>
            <a:lstStyle/>
            <a:p>
              <a:pPr algn="l"/>
              <a:r>
                <a:rPr lang="en-AU" sz="3600" b="1">
                  <a:latin typeface="Foundation Handwriting" panose="020B0603050302020204" pitchFamily="34" charset="0"/>
                </a:rPr>
                <a:t>4</a:t>
              </a:r>
            </a:p>
          </p:txBody>
        </p:sp>
      </p:grpSp>
      <p:grpSp>
        <p:nvGrpSpPr>
          <p:cNvPr id="5" name="Group 4" descr="Fact family triangle with the number 6 at top.">
            <a:extLst>
              <a:ext uri="{FF2B5EF4-FFF2-40B4-BE49-F238E27FC236}">
                <a16:creationId xmlns:a16="http://schemas.microsoft.com/office/drawing/2014/main" id="{31D18E16-9B0B-9D75-054B-08C339291AED}"/>
              </a:ext>
            </a:extLst>
          </p:cNvPr>
          <p:cNvGrpSpPr/>
          <p:nvPr/>
        </p:nvGrpSpPr>
        <p:grpSpPr>
          <a:xfrm>
            <a:off x="4884706" y="3912654"/>
            <a:ext cx="2052535" cy="1647689"/>
            <a:chOff x="4884706" y="3912654"/>
            <a:chExt cx="2052535" cy="1647689"/>
          </a:xfrm>
        </p:grpSpPr>
        <p:sp>
          <p:nvSpPr>
            <p:cNvPr id="19" name="TextBox 18">
              <a:extLst>
                <a:ext uri="{FF2B5EF4-FFF2-40B4-BE49-F238E27FC236}">
                  <a16:creationId xmlns:a16="http://schemas.microsoft.com/office/drawing/2014/main" id="{14CD3D77-9076-0936-9E4B-DFF5FD518A81}"/>
                </a:ext>
                <a:ext uri="{C183D7F6-B498-43B3-948B-1728B52AA6E4}">
                  <adec:decorative xmlns:adec="http://schemas.microsoft.com/office/drawing/2017/decorative" val="1"/>
                </a:ext>
              </a:extLst>
            </p:cNvPr>
            <p:cNvSpPr txBox="1"/>
            <p:nvPr/>
          </p:nvSpPr>
          <p:spPr>
            <a:xfrm>
              <a:off x="4884706" y="3912654"/>
              <a:ext cx="2052535" cy="1647689"/>
            </a:xfrm>
            <a:prstGeom prst="triangle">
              <a:avLst/>
            </a:prstGeom>
            <a:noFill/>
            <a:ln w="28575">
              <a:solidFill>
                <a:schemeClr val="tx1"/>
              </a:solidFill>
            </a:ln>
          </p:spPr>
          <p:txBody>
            <a:bodyPr wrap="square" lIns="0" tIns="0" rIns="0" bIns="0" rtlCol="0">
              <a:noAutofit/>
            </a:bodyPr>
            <a:lstStyle/>
            <a:p>
              <a:pPr algn="l"/>
              <a:endParaRPr lang="en-AU" sz="1800"/>
            </a:p>
          </p:txBody>
        </p:sp>
        <p:sp>
          <p:nvSpPr>
            <p:cNvPr id="20" name="TextBox 19">
              <a:extLst>
                <a:ext uri="{FF2B5EF4-FFF2-40B4-BE49-F238E27FC236}">
                  <a16:creationId xmlns:a16="http://schemas.microsoft.com/office/drawing/2014/main" id="{9E7BDAA6-5228-C6E1-8637-FB90ACFE13F2}"/>
                </a:ext>
                <a:ext uri="{C183D7F6-B498-43B3-948B-1728B52AA6E4}">
                  <adec:decorative xmlns:adec="http://schemas.microsoft.com/office/drawing/2017/decorative" val="1"/>
                </a:ext>
              </a:extLst>
            </p:cNvPr>
            <p:cNvSpPr txBox="1"/>
            <p:nvPr/>
          </p:nvSpPr>
          <p:spPr>
            <a:xfrm>
              <a:off x="5798889" y="4072321"/>
              <a:ext cx="331358" cy="423815"/>
            </a:xfrm>
            <a:prstGeom prst="rect">
              <a:avLst/>
            </a:prstGeom>
            <a:noFill/>
          </p:spPr>
          <p:txBody>
            <a:bodyPr wrap="square" lIns="0" tIns="0" rIns="0" bIns="0" rtlCol="0">
              <a:noAutofit/>
            </a:bodyPr>
            <a:lstStyle/>
            <a:p>
              <a:pPr algn="l"/>
              <a:r>
                <a:rPr lang="en-AU" sz="3600" b="1">
                  <a:latin typeface="Foundation Handwriting" panose="020B0603050302020204" pitchFamily="34" charset="0"/>
                </a:rPr>
                <a:t>6</a:t>
              </a:r>
            </a:p>
          </p:txBody>
        </p:sp>
      </p:grpSp>
      <p:grpSp>
        <p:nvGrpSpPr>
          <p:cNvPr id="7" name="Group 6" descr="Fact family triangle with the number 10 at top.">
            <a:extLst>
              <a:ext uri="{FF2B5EF4-FFF2-40B4-BE49-F238E27FC236}">
                <a16:creationId xmlns:a16="http://schemas.microsoft.com/office/drawing/2014/main" id="{C85F0A29-2291-87BD-CE61-3F0B5E7ABF02}"/>
              </a:ext>
            </a:extLst>
          </p:cNvPr>
          <p:cNvGrpSpPr/>
          <p:nvPr/>
        </p:nvGrpSpPr>
        <p:grpSpPr>
          <a:xfrm>
            <a:off x="8334491" y="3916532"/>
            <a:ext cx="2052535" cy="1647689"/>
            <a:chOff x="8334491" y="3916532"/>
            <a:chExt cx="2052535" cy="1647689"/>
          </a:xfrm>
        </p:grpSpPr>
        <p:sp>
          <p:nvSpPr>
            <p:cNvPr id="21" name="TextBox 20">
              <a:extLst>
                <a:ext uri="{FF2B5EF4-FFF2-40B4-BE49-F238E27FC236}">
                  <a16:creationId xmlns:a16="http://schemas.microsoft.com/office/drawing/2014/main" id="{E52DA6E7-FC75-0A87-C525-6A9AB2A4488C}"/>
                </a:ext>
                <a:ext uri="{C183D7F6-B498-43B3-948B-1728B52AA6E4}">
                  <adec:decorative xmlns:adec="http://schemas.microsoft.com/office/drawing/2017/decorative" val="1"/>
                </a:ext>
              </a:extLst>
            </p:cNvPr>
            <p:cNvSpPr txBox="1"/>
            <p:nvPr/>
          </p:nvSpPr>
          <p:spPr>
            <a:xfrm>
              <a:off x="8334491" y="3916532"/>
              <a:ext cx="2052535" cy="1647689"/>
            </a:xfrm>
            <a:prstGeom prst="triangle">
              <a:avLst/>
            </a:prstGeom>
            <a:noFill/>
            <a:ln w="28575">
              <a:solidFill>
                <a:schemeClr val="tx1"/>
              </a:solidFill>
            </a:ln>
          </p:spPr>
          <p:txBody>
            <a:bodyPr wrap="square" lIns="0" tIns="0" rIns="0" bIns="0" rtlCol="0">
              <a:noAutofit/>
            </a:bodyPr>
            <a:lstStyle/>
            <a:p>
              <a:pPr algn="l"/>
              <a:endParaRPr lang="en-AU" sz="1800"/>
            </a:p>
          </p:txBody>
        </p:sp>
        <p:sp>
          <p:nvSpPr>
            <p:cNvPr id="22" name="TextBox 21">
              <a:extLst>
                <a:ext uri="{FF2B5EF4-FFF2-40B4-BE49-F238E27FC236}">
                  <a16:creationId xmlns:a16="http://schemas.microsoft.com/office/drawing/2014/main" id="{0F07F640-72E9-2640-0A9C-6FBE1E8C91F8}"/>
                </a:ext>
                <a:ext uri="{C183D7F6-B498-43B3-948B-1728B52AA6E4}">
                  <adec:decorative xmlns:adec="http://schemas.microsoft.com/office/drawing/2017/decorative" val="1"/>
                </a:ext>
              </a:extLst>
            </p:cNvPr>
            <p:cNvSpPr txBox="1"/>
            <p:nvPr/>
          </p:nvSpPr>
          <p:spPr>
            <a:xfrm>
              <a:off x="8964281" y="4110747"/>
              <a:ext cx="616309" cy="423815"/>
            </a:xfrm>
            <a:prstGeom prst="rect">
              <a:avLst/>
            </a:prstGeom>
            <a:noFill/>
          </p:spPr>
          <p:txBody>
            <a:bodyPr wrap="square" lIns="0" tIns="0" rIns="0" bIns="0" rtlCol="0">
              <a:noAutofit/>
            </a:bodyPr>
            <a:lstStyle/>
            <a:p>
              <a:pPr algn="l"/>
              <a:r>
                <a:rPr lang="en-AU" sz="3600" b="1">
                  <a:latin typeface="Foundation Handwriting" panose="020B0603050302020204" pitchFamily="34" charset="0"/>
                </a:rPr>
                <a:t> 10</a:t>
              </a:r>
            </a:p>
          </p:txBody>
        </p:sp>
      </p:gr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6D2EDDC2-FEC5-A5B8-FDB6-371E10B5D13B}"/>
              </a:ext>
            </a:extLst>
          </p:cNvPr>
          <p:cNvSpPr txBox="1"/>
          <p:nvPr/>
        </p:nvSpPr>
        <p:spPr>
          <a:xfrm>
            <a:off x="760762" y="1401649"/>
            <a:ext cx="10670476" cy="982513"/>
          </a:xfrm>
          <a:prstGeom prst="rect">
            <a:avLst/>
          </a:prstGeom>
          <a:noFill/>
        </p:spPr>
        <p:txBody>
          <a:bodyPr wrap="square" lIns="91440" tIns="45720" rIns="91440" bIns="45720" anchor="t">
            <a:spAutoFit/>
          </a:bodyPr>
          <a:lstStyle/>
          <a:p>
            <a:pPr lvl="0" algn="ctr">
              <a:lnSpc>
                <a:spcPct val="150000"/>
              </a:lnSpc>
              <a:spcBef>
                <a:spcPts val="1200"/>
              </a:spcBef>
              <a:spcAft>
                <a:spcPts val="600"/>
              </a:spcAft>
            </a:pPr>
            <a:r>
              <a:rPr lang="en-AU" sz="4400">
                <a:latin typeface="Arial"/>
                <a:ea typeface="Calibri"/>
                <a:cs typeface="Times New Roman"/>
              </a:rPr>
              <a:t>How</a:t>
            </a:r>
            <a:r>
              <a:rPr lang="en-AU" sz="4400">
                <a:effectLst/>
                <a:latin typeface="Arial"/>
                <a:ea typeface="Calibri"/>
                <a:cs typeface="Times New Roman"/>
              </a:rPr>
              <a:t> many </a:t>
            </a:r>
            <a:r>
              <a:rPr lang="en-AU" sz="4400" b="1">
                <a:effectLst/>
                <a:latin typeface="Arial"/>
                <a:ea typeface="Calibri"/>
                <a:cs typeface="Times New Roman"/>
              </a:rPr>
              <a:t>millions</a:t>
            </a:r>
            <a:r>
              <a:rPr lang="en-AU" sz="4400">
                <a:effectLst/>
                <a:latin typeface="Arial"/>
                <a:ea typeface="Calibri"/>
                <a:cs typeface="Times New Roman"/>
              </a:rPr>
              <a:t> are there in:</a:t>
            </a:r>
          </a:p>
        </p:txBody>
      </p:sp>
      <p:sp>
        <p:nvSpPr>
          <p:cNvPr id="15" name="TextBox 14">
            <a:extLst>
              <a:ext uri="{FF2B5EF4-FFF2-40B4-BE49-F238E27FC236}">
                <a16:creationId xmlns:a16="http://schemas.microsoft.com/office/drawing/2014/main" id="{48B6C26E-9D31-D23A-DC7E-7DA01D5AED69}"/>
              </a:ext>
            </a:extLst>
          </p:cNvPr>
          <p:cNvSpPr txBox="1"/>
          <p:nvPr/>
        </p:nvSpPr>
        <p:spPr>
          <a:xfrm>
            <a:off x="4267394" y="2526265"/>
            <a:ext cx="5395589" cy="3944862"/>
          </a:xfrm>
          <a:prstGeom prst="rect">
            <a:avLst/>
          </a:prstGeom>
          <a:noFill/>
        </p:spPr>
        <p:txBody>
          <a:bodyPr wrap="square" lIns="91440" tIns="45720" rIns="91440" bIns="45720" anchor="t">
            <a:spAutoFit/>
          </a:bodyPr>
          <a:lstStyle/>
          <a:p>
            <a:pPr marL="571500" indent="-571500">
              <a:lnSpc>
                <a:spcPct val="200000"/>
              </a:lnSpc>
              <a:buFont typeface="Arial" panose="020B0604020202020204" pitchFamily="34" charset="0"/>
              <a:buChar char="•"/>
            </a:pPr>
            <a:r>
              <a:rPr lang="en-AU" sz="4400">
                <a:effectLst/>
                <a:latin typeface="Arial"/>
                <a:ea typeface="Calibri"/>
                <a:cs typeface="Arial"/>
              </a:rPr>
              <a:t>10 678 794</a:t>
            </a:r>
          </a:p>
          <a:p>
            <a:pPr marL="571500" indent="-571500">
              <a:lnSpc>
                <a:spcPct val="200000"/>
              </a:lnSpc>
              <a:buFont typeface="Arial" panose="020B0604020202020204" pitchFamily="34" charset="0"/>
              <a:buChar char="•"/>
            </a:pPr>
            <a:r>
              <a:rPr lang="en-AU" sz="4400">
                <a:latin typeface="Arial"/>
                <a:ea typeface="Calibri"/>
                <a:cs typeface="Arial"/>
              </a:rPr>
              <a:t>496 065 713</a:t>
            </a:r>
          </a:p>
          <a:p>
            <a:pPr marL="571500" indent="-571500">
              <a:lnSpc>
                <a:spcPct val="200000"/>
              </a:lnSpc>
              <a:buFont typeface="Arial" panose="020B0604020202020204" pitchFamily="34" charset="0"/>
              <a:buChar char="•"/>
            </a:pPr>
            <a:r>
              <a:rPr lang="en-AU" sz="4400">
                <a:latin typeface="Arial"/>
                <a:ea typeface="Calibri"/>
                <a:cs typeface="Arial"/>
              </a:rPr>
              <a:t>78 641 099 </a:t>
            </a:r>
            <a:endParaRPr lang="en-AU" sz="4400"/>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descr="Picture 2: image of a clipboard with a pencil recording short answer responses">
            <a:extLst>
              <a:ext uri="{FF2B5EF4-FFF2-40B4-BE49-F238E27FC236}">
                <a16:creationId xmlns:a16="http://schemas.microsoft.com/office/drawing/2014/main" id="{AE7CD0B4-5C73-21ED-199C-D91A99981CD2}"/>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E3B816B-CC02-3B5A-6F7E-2C127EDB85CF}"/>
              </a:ext>
            </a:extLst>
          </p:cNvPr>
          <p:cNvSpPr txBox="1"/>
          <p:nvPr/>
        </p:nvSpPr>
        <p:spPr>
          <a:xfrm>
            <a:off x="767361" y="851405"/>
            <a:ext cx="10657275" cy="1998176"/>
          </a:xfrm>
          <a:prstGeom prst="rect">
            <a:avLst/>
          </a:prstGeom>
          <a:noFill/>
        </p:spPr>
        <p:txBody>
          <a:bodyPr wrap="square">
            <a:spAutoFit/>
          </a:bodyPr>
          <a:lstStyle/>
          <a:p>
            <a:pPr algn="ctr">
              <a:lnSpc>
                <a:spcPct val="150000"/>
              </a:lnSpc>
            </a:pPr>
            <a:r>
              <a:rPr lang="en-AU" sz="4400">
                <a:latin typeface="Arial" panose="020B0604020202020204" pitchFamily="34" charset="0"/>
                <a:cs typeface="Arial" panose="020B0604020202020204" pitchFamily="34" charset="0"/>
              </a:rPr>
              <a:t>Write a </a:t>
            </a:r>
            <a:r>
              <a:rPr lang="en-AU" sz="4400" b="1">
                <a:latin typeface="Arial" panose="020B0604020202020204" pitchFamily="34" charset="0"/>
                <a:cs typeface="Arial" panose="020B0604020202020204" pitchFamily="34" charset="0"/>
              </a:rPr>
              <a:t>question</a:t>
            </a:r>
            <a:r>
              <a:rPr lang="en-AU" sz="4400">
                <a:latin typeface="Arial" panose="020B0604020202020204" pitchFamily="34" charset="0"/>
                <a:cs typeface="Arial" panose="020B0604020202020204" pitchFamily="34" charset="0"/>
              </a:rPr>
              <a:t> that can be </a:t>
            </a:r>
            <a:r>
              <a:rPr lang="en-AU" sz="4400" b="1">
                <a:latin typeface="Arial" panose="020B0604020202020204" pitchFamily="34" charset="0"/>
                <a:cs typeface="Arial" panose="020B0604020202020204" pitchFamily="34" charset="0"/>
              </a:rPr>
              <a:t>answered</a:t>
            </a:r>
            <a:r>
              <a:rPr lang="en-AU" sz="4400">
                <a:latin typeface="Arial" panose="020B0604020202020204" pitchFamily="34" charset="0"/>
                <a:cs typeface="Arial" panose="020B0604020202020204" pitchFamily="34" charset="0"/>
              </a:rPr>
              <a:t> </a:t>
            </a:r>
          </a:p>
          <a:p>
            <a:pPr algn="ctr">
              <a:lnSpc>
                <a:spcPct val="150000"/>
              </a:lnSpc>
            </a:pPr>
            <a:r>
              <a:rPr lang="en-AU" sz="4400">
                <a:latin typeface="Arial" panose="020B0604020202020204" pitchFamily="34" charset="0"/>
                <a:cs typeface="Arial" panose="020B0604020202020204" pitchFamily="34" charset="0"/>
              </a:rPr>
              <a:t>using this </a:t>
            </a:r>
            <a:r>
              <a:rPr lang="en-AU" sz="4400" b="1">
                <a:latin typeface="Arial" panose="020B0604020202020204" pitchFamily="34" charset="0"/>
                <a:cs typeface="Arial" panose="020B0604020202020204" pitchFamily="34" charset="0"/>
              </a:rPr>
              <a:t>data</a:t>
            </a:r>
            <a:r>
              <a:rPr lang="en-AU" sz="4400">
                <a:latin typeface="Arial" panose="020B0604020202020204" pitchFamily="34" charset="0"/>
                <a:cs typeface="Arial" panose="020B0604020202020204" pitchFamily="34" charset="0"/>
              </a:rPr>
              <a:t>.</a:t>
            </a:r>
          </a:p>
        </p:txBody>
      </p:sp>
      <p:pic>
        <p:nvPicPr>
          <p:cNvPr id="5" name="Picture 4" descr="The image is a bar chart with five vertical bars representing different levels of preference labeled on the x-axis. The categories are &quot;Don’t like,&quot; &quot;Like a little,&quot; &quot;Want to try,&quot; &quot;Like,&quot; and &quot;Like a lot.&quot; The y-axis is marked with numbers ranging from 0 to 25 in increments of 5. The bars vary in height, with &quot;Don’t like&quot; being the shortest, followed by &quot;Want to try.&quot; &quot;Like a little&quot; and &quot;Like&quot; are moderately tall, while &quot;Like a lot&quot; is the tallest. The chart has a white background with dark teal bars.">
            <a:extLst>
              <a:ext uri="{FF2B5EF4-FFF2-40B4-BE49-F238E27FC236}">
                <a16:creationId xmlns:a16="http://schemas.microsoft.com/office/drawing/2014/main" id="{CEE94A82-46A2-99A2-E591-9CBDA6A5F956}"/>
              </a:ext>
            </a:extLst>
          </p:cNvPr>
          <p:cNvPicPr>
            <a:picLocks noChangeAspect="1"/>
          </p:cNvPicPr>
          <p:nvPr/>
        </p:nvPicPr>
        <p:blipFill>
          <a:blip r:embed="rId4"/>
          <a:stretch>
            <a:fillRect/>
          </a:stretch>
        </p:blipFill>
        <p:spPr>
          <a:xfrm>
            <a:off x="2620200" y="2874627"/>
            <a:ext cx="6951599" cy="3731373"/>
          </a:xfrm>
          <a:prstGeom prst="rect">
            <a:avLst/>
          </a:prstGeom>
          <a:ln>
            <a:noFill/>
          </a:ln>
          <a:effectLst>
            <a:outerShdw blurRad="190500" algn="tl" rotWithShape="0">
              <a:srgbClr val="000000">
                <a:alpha val="70000"/>
              </a:srgbClr>
            </a:outerShdw>
          </a:effectLst>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Picture 2: image of a clipboard with a pencil recording short answer responses">
            <a:extLst>
              <a:ext uri="{FF2B5EF4-FFF2-40B4-BE49-F238E27FC236}">
                <a16:creationId xmlns:a16="http://schemas.microsoft.com/office/drawing/2014/main" id="{FC9A4B87-D950-48CA-7AF9-006C90DB933D}"/>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grpSp>
        <p:nvGrpSpPr>
          <p:cNvPr id="11" name="Group 10">
            <a:extLst>
              <a:ext uri="{FF2B5EF4-FFF2-40B4-BE49-F238E27FC236}">
                <a16:creationId xmlns:a16="http://schemas.microsoft.com/office/drawing/2014/main" id="{BA264307-129A-A9D1-D6FB-54570E29B0B3}"/>
              </a:ext>
            </a:extLst>
          </p:cNvPr>
          <p:cNvGrpSpPr/>
          <p:nvPr/>
        </p:nvGrpSpPr>
        <p:grpSpPr>
          <a:xfrm>
            <a:off x="881188" y="4140027"/>
            <a:ext cx="4646879" cy="2717973"/>
            <a:chOff x="-457563" y="5217067"/>
            <a:chExt cx="6096227" cy="3126880"/>
          </a:xfrm>
        </p:grpSpPr>
        <p:pic>
          <p:nvPicPr>
            <p:cNvPr id="5" name="Graphic 4" descr="Map compass outline">
              <a:extLst>
                <a:ext uri="{FF2B5EF4-FFF2-40B4-BE49-F238E27FC236}">
                  <a16:creationId xmlns:a16="http://schemas.microsoft.com/office/drawing/2014/main" id="{796C7B2C-B52F-EA84-164D-275D4AEE41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2969" y="5595631"/>
              <a:ext cx="2392496" cy="2383315"/>
            </a:xfrm>
            <a:prstGeom prst="rect">
              <a:avLst/>
            </a:prstGeom>
          </p:spPr>
        </p:pic>
        <p:sp>
          <p:nvSpPr>
            <p:cNvPr id="7" name="TextBox 6">
              <a:extLst>
                <a:ext uri="{FF2B5EF4-FFF2-40B4-BE49-F238E27FC236}">
                  <a16:creationId xmlns:a16="http://schemas.microsoft.com/office/drawing/2014/main" id="{2A2A95FD-37F5-DFB3-B974-B25D2983F54E}"/>
                </a:ext>
              </a:extLst>
            </p:cNvPr>
            <p:cNvSpPr txBox="1"/>
            <p:nvPr/>
          </p:nvSpPr>
          <p:spPr>
            <a:xfrm>
              <a:off x="1296229" y="5217067"/>
              <a:ext cx="1599236" cy="49571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2800" dirty="0">
                  <a:cs typeface="Arial"/>
                </a:rPr>
                <a:t>North</a:t>
              </a:r>
              <a:endParaRPr lang="en-US" sz="2800" dirty="0"/>
            </a:p>
          </p:txBody>
        </p:sp>
        <p:sp>
          <p:nvSpPr>
            <p:cNvPr id="8" name="TextBox 7">
              <a:extLst>
                <a:ext uri="{FF2B5EF4-FFF2-40B4-BE49-F238E27FC236}">
                  <a16:creationId xmlns:a16="http://schemas.microsoft.com/office/drawing/2014/main" id="{F507411A-BC22-B49E-F1AA-F1EBB23AB71B}"/>
                </a:ext>
              </a:extLst>
            </p:cNvPr>
            <p:cNvSpPr txBox="1"/>
            <p:nvPr/>
          </p:nvSpPr>
          <p:spPr>
            <a:xfrm>
              <a:off x="1237003" y="7848235"/>
              <a:ext cx="2743199" cy="49571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2800" dirty="0">
                  <a:cs typeface="Arial"/>
                </a:rPr>
                <a:t>South</a:t>
              </a:r>
              <a:endParaRPr lang="en-US" sz="2800" dirty="0"/>
            </a:p>
          </p:txBody>
        </p:sp>
        <p:sp>
          <p:nvSpPr>
            <p:cNvPr id="9" name="TextBox 8">
              <a:extLst>
                <a:ext uri="{FF2B5EF4-FFF2-40B4-BE49-F238E27FC236}">
                  <a16:creationId xmlns:a16="http://schemas.microsoft.com/office/drawing/2014/main" id="{CEEEE4FC-E839-9110-D03A-008B4FE416FC}"/>
                </a:ext>
              </a:extLst>
            </p:cNvPr>
            <p:cNvSpPr txBox="1"/>
            <p:nvPr/>
          </p:nvSpPr>
          <p:spPr>
            <a:xfrm>
              <a:off x="2895465" y="6598007"/>
              <a:ext cx="2743199" cy="49571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2800" dirty="0">
                  <a:cs typeface="Arial"/>
                </a:rPr>
                <a:t>East</a:t>
              </a:r>
              <a:endParaRPr lang="en-US" sz="2800" dirty="0"/>
            </a:p>
          </p:txBody>
        </p:sp>
        <p:sp>
          <p:nvSpPr>
            <p:cNvPr id="10" name="TextBox 9">
              <a:extLst>
                <a:ext uri="{FF2B5EF4-FFF2-40B4-BE49-F238E27FC236}">
                  <a16:creationId xmlns:a16="http://schemas.microsoft.com/office/drawing/2014/main" id="{0AC86D78-A50D-2174-D0E2-7F3178646F51}"/>
                </a:ext>
              </a:extLst>
            </p:cNvPr>
            <p:cNvSpPr txBox="1"/>
            <p:nvPr/>
          </p:nvSpPr>
          <p:spPr>
            <a:xfrm>
              <a:off x="-457563" y="6598006"/>
              <a:ext cx="2743199" cy="49571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2800" dirty="0">
                  <a:cs typeface="Arial"/>
                </a:rPr>
                <a:t>West</a:t>
              </a:r>
              <a:endParaRPr lang="en-US" sz="2800" dirty="0"/>
            </a:p>
          </p:txBody>
        </p:sp>
      </p:grpSp>
      <p:sp>
        <p:nvSpPr>
          <p:cNvPr id="13" name="TextBox 12">
            <a:extLst>
              <a:ext uri="{FF2B5EF4-FFF2-40B4-BE49-F238E27FC236}">
                <a16:creationId xmlns:a16="http://schemas.microsoft.com/office/drawing/2014/main" id="{2833B78E-CD98-7E3A-5511-5F6D99217766}"/>
              </a:ext>
            </a:extLst>
          </p:cNvPr>
          <p:cNvSpPr txBox="1"/>
          <p:nvPr/>
        </p:nvSpPr>
        <p:spPr>
          <a:xfrm>
            <a:off x="371505" y="1184223"/>
            <a:ext cx="5228000" cy="2482667"/>
          </a:xfrm>
          <a:prstGeom prst="rect">
            <a:avLst/>
          </a:prstGeom>
          <a:noFill/>
        </p:spPr>
        <p:txBody>
          <a:bodyPr wrap="square">
            <a:spAutoFit/>
          </a:bodyPr>
          <a:lstStyle/>
          <a:p>
            <a:pPr>
              <a:lnSpc>
                <a:spcPct val="150000"/>
              </a:lnSpc>
            </a:pPr>
            <a:r>
              <a:rPr lang="en-AU" sz="3600" dirty="0">
                <a:latin typeface="+mj-lt"/>
                <a:cs typeface="Arial"/>
              </a:rPr>
              <a:t>Describe the route from the </a:t>
            </a:r>
            <a:r>
              <a:rPr lang="en-AU" sz="3600" b="1" dirty="0">
                <a:latin typeface="+mj-lt"/>
                <a:cs typeface="Arial"/>
              </a:rPr>
              <a:t>bank</a:t>
            </a:r>
            <a:r>
              <a:rPr lang="en-AU" sz="3600" dirty="0">
                <a:latin typeface="+mj-lt"/>
                <a:cs typeface="Arial"/>
              </a:rPr>
              <a:t> at </a:t>
            </a:r>
            <a:r>
              <a:rPr lang="en-AU" sz="3600" b="1" dirty="0">
                <a:latin typeface="+mj-lt"/>
                <a:cs typeface="Arial"/>
              </a:rPr>
              <a:t>C2</a:t>
            </a:r>
            <a:r>
              <a:rPr lang="en-AU" sz="3600" dirty="0">
                <a:latin typeface="+mj-lt"/>
                <a:cs typeface="Arial"/>
              </a:rPr>
              <a:t> to the </a:t>
            </a:r>
            <a:r>
              <a:rPr lang="en-AU" sz="3600" b="1" dirty="0">
                <a:latin typeface="+mj-lt"/>
                <a:cs typeface="Arial"/>
              </a:rPr>
              <a:t>carwash</a:t>
            </a:r>
            <a:r>
              <a:rPr lang="en-AU" sz="3600" dirty="0">
                <a:latin typeface="+mj-lt"/>
                <a:cs typeface="Arial"/>
              </a:rPr>
              <a:t> at </a:t>
            </a:r>
            <a:r>
              <a:rPr lang="en-AU" sz="3600" b="1" dirty="0">
                <a:latin typeface="+mj-lt"/>
                <a:cs typeface="Arial"/>
              </a:rPr>
              <a:t>D6</a:t>
            </a:r>
            <a:r>
              <a:rPr lang="en-AU" sz="3600" dirty="0">
                <a:latin typeface="+mj-lt"/>
                <a:cs typeface="Arial"/>
              </a:rPr>
              <a:t>. </a:t>
            </a:r>
            <a:endParaRPr lang="en-AU" sz="3600" dirty="0">
              <a:latin typeface="+mj-lt"/>
            </a:endParaRPr>
          </a:p>
        </p:txBody>
      </p:sp>
      <p:pic>
        <p:nvPicPr>
          <p:cNvPr id="15" name="Picture 14" descr="A labeled grid map showing various buildings and locations arranged by coordinates A-F and 1-6, including a post office, flower shop, car wash, school, police station, hospital, bank, and recreational areas like a pool and playground. ">
            <a:extLst>
              <a:ext uri="{FF2B5EF4-FFF2-40B4-BE49-F238E27FC236}">
                <a16:creationId xmlns:a16="http://schemas.microsoft.com/office/drawing/2014/main" id="{88CA190B-9B3B-871C-0B9A-A4DEF3F9184E}"/>
              </a:ext>
            </a:extLst>
          </p:cNvPr>
          <p:cNvPicPr>
            <a:picLocks noChangeAspect="1"/>
          </p:cNvPicPr>
          <p:nvPr/>
        </p:nvPicPr>
        <p:blipFill>
          <a:blip r:embed="rId6"/>
          <a:stretch>
            <a:fillRect/>
          </a:stretch>
        </p:blipFill>
        <p:spPr>
          <a:xfrm>
            <a:off x="5528067" y="1319299"/>
            <a:ext cx="6369377" cy="5162815"/>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764000" cy="545601"/>
          </a:xfrm>
        </p:spPr>
        <p:txBody>
          <a:bodyPr/>
          <a:lstStyle/>
          <a:p>
            <a:r>
              <a:rPr lang="en-AU"/>
              <a:t>Activity 1 – regrouping numbers in different forms (1)</a:t>
            </a:r>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FAC7E100-2A4D-C33E-B006-DDE28B02444E}"/>
              </a:ext>
            </a:extLst>
          </p:cNvPr>
          <p:cNvSpPr txBox="1"/>
          <p:nvPr/>
        </p:nvSpPr>
        <p:spPr>
          <a:xfrm>
            <a:off x="1802200" y="1674361"/>
            <a:ext cx="8925068" cy="1998176"/>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What are </a:t>
            </a:r>
            <a:r>
              <a:rPr lang="en-AU" sz="4400" b="1">
                <a:effectLst/>
                <a:latin typeface="Arial" panose="020B0604020202020204" pitchFamily="34" charset="0"/>
                <a:ea typeface="Calibri" panose="020F0502020204030204" pitchFamily="34" charset="0"/>
              </a:rPr>
              <a:t>2</a:t>
            </a:r>
            <a:r>
              <a:rPr lang="en-AU" sz="4400">
                <a:effectLst/>
                <a:latin typeface="Arial" panose="020B0604020202020204" pitchFamily="34" charset="0"/>
                <a:ea typeface="Calibri" panose="020F0502020204030204" pitchFamily="34" charset="0"/>
              </a:rPr>
              <a:t> </a:t>
            </a:r>
            <a:r>
              <a:rPr lang="en-AU" sz="4400" b="1">
                <a:effectLst/>
                <a:latin typeface="Arial" panose="020B0604020202020204" pitchFamily="34" charset="0"/>
                <a:ea typeface="Calibri" panose="020F0502020204030204" pitchFamily="34" charset="0"/>
              </a:rPr>
              <a:t>different ways </a:t>
            </a:r>
            <a:r>
              <a:rPr lang="en-AU" sz="4400">
                <a:effectLst/>
                <a:latin typeface="Arial" panose="020B0604020202020204" pitchFamily="34" charset="0"/>
                <a:ea typeface="Calibri" panose="020F0502020204030204" pitchFamily="34" charset="0"/>
              </a:rPr>
              <a:t>we can </a:t>
            </a:r>
            <a:r>
              <a:rPr lang="en-AU" sz="4400" b="1">
                <a:effectLst/>
                <a:latin typeface="Arial" panose="020B0604020202020204" pitchFamily="34" charset="0"/>
                <a:ea typeface="Calibri" panose="020F0502020204030204" pitchFamily="34" charset="0"/>
              </a:rPr>
              <a:t>regroup</a:t>
            </a:r>
            <a:r>
              <a:rPr lang="en-AU" sz="4400">
                <a:effectLst/>
                <a:latin typeface="Arial" panose="020B0604020202020204" pitchFamily="34" charset="0"/>
                <a:ea typeface="Calibri" panose="020F0502020204030204" pitchFamily="34" charset="0"/>
              </a:rPr>
              <a:t> this number: </a:t>
            </a:r>
          </a:p>
        </p:txBody>
      </p:sp>
      <p:sp>
        <p:nvSpPr>
          <p:cNvPr id="7" name="TextBox 6">
            <a:extLst>
              <a:ext uri="{FF2B5EF4-FFF2-40B4-BE49-F238E27FC236}">
                <a16:creationId xmlns:a16="http://schemas.microsoft.com/office/drawing/2014/main" id="{2C93E5E8-C91B-5D18-AFA4-25A00B633B6E}"/>
              </a:ext>
            </a:extLst>
          </p:cNvPr>
          <p:cNvSpPr txBox="1"/>
          <p:nvPr/>
        </p:nvSpPr>
        <p:spPr>
          <a:xfrm>
            <a:off x="4334675" y="4441297"/>
            <a:ext cx="4099641" cy="718045"/>
          </a:xfrm>
          <a:prstGeom prst="rect">
            <a:avLst/>
          </a:prstGeom>
          <a:noFill/>
        </p:spPr>
        <p:txBody>
          <a:bodyPr wrap="square" lIns="0" tIns="0" rIns="0" bIns="0" rtlCol="0">
            <a:noAutofit/>
          </a:bodyPr>
          <a:lstStyle/>
          <a:p>
            <a:r>
              <a:rPr lang="en-AU" sz="7200" b="1">
                <a:latin typeface="Arial" panose="020B0604020202020204" pitchFamily="34" charset="0"/>
                <a:ea typeface="Calibri" panose="020F0502020204030204" pitchFamily="34" charset="0"/>
              </a:rPr>
              <a:t>586 120</a:t>
            </a:r>
            <a:endParaRPr lang="en-AU" sz="7200" b="1"/>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C86BD-E183-967F-92C8-9900A6BCDB3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7BCEC30-0C59-5B7C-220D-59D2FB05770E}"/>
              </a:ext>
            </a:extLst>
          </p:cNvPr>
          <p:cNvSpPr>
            <a:spLocks noGrp="1"/>
          </p:cNvSpPr>
          <p:nvPr>
            <p:ph type="title"/>
          </p:nvPr>
        </p:nvSpPr>
        <p:spPr>
          <a:xfrm>
            <a:off x="359999" y="360000"/>
            <a:ext cx="10747003" cy="545601"/>
          </a:xfrm>
        </p:spPr>
        <p:txBody>
          <a:bodyPr/>
          <a:lstStyle/>
          <a:p>
            <a:r>
              <a:rPr lang="en-AU"/>
              <a:t>Activity 1 – regrouping numbers in different forms (2)</a:t>
            </a:r>
          </a:p>
        </p:txBody>
      </p:sp>
      <p:pic>
        <p:nvPicPr>
          <p:cNvPr id="4" name="Picture 3" descr="image of a head with cogs turning inside">
            <a:extLst>
              <a:ext uri="{FF2B5EF4-FFF2-40B4-BE49-F238E27FC236}">
                <a16:creationId xmlns:a16="http://schemas.microsoft.com/office/drawing/2014/main" id="{C5D2B132-1B2C-BF27-9DD9-B625DF844CA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8" name="TextBox 7">
            <a:extLst>
              <a:ext uri="{FF2B5EF4-FFF2-40B4-BE49-F238E27FC236}">
                <a16:creationId xmlns:a16="http://schemas.microsoft.com/office/drawing/2014/main" id="{11125CE7-DD97-D87C-8608-D161A0D69FE8}"/>
              </a:ext>
            </a:extLst>
          </p:cNvPr>
          <p:cNvSpPr txBox="1"/>
          <p:nvPr/>
        </p:nvSpPr>
        <p:spPr>
          <a:xfrm>
            <a:off x="1802200" y="1674361"/>
            <a:ext cx="8925068" cy="1998176"/>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What are </a:t>
            </a:r>
            <a:r>
              <a:rPr lang="en-AU" sz="4400" b="1">
                <a:effectLst/>
                <a:latin typeface="Arial" panose="020B0604020202020204" pitchFamily="34" charset="0"/>
                <a:ea typeface="Calibri" panose="020F0502020204030204" pitchFamily="34" charset="0"/>
              </a:rPr>
              <a:t>2</a:t>
            </a:r>
            <a:r>
              <a:rPr lang="en-AU" sz="4400">
                <a:effectLst/>
                <a:latin typeface="Arial" panose="020B0604020202020204" pitchFamily="34" charset="0"/>
                <a:ea typeface="Calibri" panose="020F0502020204030204" pitchFamily="34" charset="0"/>
              </a:rPr>
              <a:t> </a:t>
            </a:r>
            <a:r>
              <a:rPr lang="en-AU" sz="4400" b="1">
                <a:effectLst/>
                <a:latin typeface="Arial" panose="020B0604020202020204" pitchFamily="34" charset="0"/>
                <a:ea typeface="Calibri" panose="020F0502020204030204" pitchFamily="34" charset="0"/>
              </a:rPr>
              <a:t>different ways </a:t>
            </a:r>
            <a:r>
              <a:rPr lang="en-AU" sz="4400">
                <a:effectLst/>
                <a:latin typeface="Arial" panose="020B0604020202020204" pitchFamily="34" charset="0"/>
                <a:ea typeface="Calibri" panose="020F0502020204030204" pitchFamily="34" charset="0"/>
              </a:rPr>
              <a:t>we can </a:t>
            </a:r>
            <a:r>
              <a:rPr lang="en-AU" sz="4400" b="1">
                <a:effectLst/>
                <a:latin typeface="Arial" panose="020B0604020202020204" pitchFamily="34" charset="0"/>
                <a:ea typeface="Calibri" panose="020F0502020204030204" pitchFamily="34" charset="0"/>
              </a:rPr>
              <a:t>regroup</a:t>
            </a:r>
            <a:r>
              <a:rPr lang="en-AU" sz="4400">
                <a:effectLst/>
                <a:latin typeface="Arial" panose="020B0604020202020204" pitchFamily="34" charset="0"/>
                <a:ea typeface="Calibri" panose="020F0502020204030204" pitchFamily="34" charset="0"/>
              </a:rPr>
              <a:t> this number: </a:t>
            </a:r>
          </a:p>
        </p:txBody>
      </p:sp>
      <p:sp>
        <p:nvSpPr>
          <p:cNvPr id="7" name="TextBox 6">
            <a:extLst>
              <a:ext uri="{FF2B5EF4-FFF2-40B4-BE49-F238E27FC236}">
                <a16:creationId xmlns:a16="http://schemas.microsoft.com/office/drawing/2014/main" id="{F1D657E0-FFAE-AE3E-F6D9-5D4D2229E11D}"/>
              </a:ext>
            </a:extLst>
          </p:cNvPr>
          <p:cNvSpPr txBox="1"/>
          <p:nvPr/>
        </p:nvSpPr>
        <p:spPr>
          <a:xfrm>
            <a:off x="4593983" y="4565309"/>
            <a:ext cx="3935868" cy="718045"/>
          </a:xfrm>
          <a:prstGeom prst="rect">
            <a:avLst/>
          </a:prstGeom>
          <a:noFill/>
        </p:spPr>
        <p:txBody>
          <a:bodyPr wrap="square" lIns="0" tIns="0" rIns="0" bIns="0" rtlCol="0">
            <a:noAutofit/>
          </a:bodyPr>
          <a:lstStyle/>
          <a:p>
            <a:r>
              <a:rPr lang="en-AU" sz="7200" b="1">
                <a:latin typeface="Arial" panose="020B0604020202020204" pitchFamily="34" charset="0"/>
                <a:ea typeface="Calibri" panose="020F0502020204030204" pitchFamily="34" charset="0"/>
              </a:rPr>
              <a:t>804 903</a:t>
            </a:r>
            <a:endParaRPr lang="en-AU" sz="7200" b="1"/>
          </a:p>
        </p:txBody>
      </p:sp>
      <p:sp>
        <p:nvSpPr>
          <p:cNvPr id="2" name="Slide Number Placeholder 1">
            <a:extLst>
              <a:ext uri="{FF2B5EF4-FFF2-40B4-BE49-F238E27FC236}">
                <a16:creationId xmlns:a16="http://schemas.microsoft.com/office/drawing/2014/main" id="{EA272CE7-294A-615A-354D-C9CCA37F1ED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spTree>
    <p:extLst>
      <p:ext uri="{BB962C8B-B14F-4D97-AF65-F5344CB8AC3E}">
        <p14:creationId xmlns:p14="http://schemas.microsoft.com/office/powerpoint/2010/main" val="4268414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 uri="{C183D7F6-B498-43B3-948B-1728B52AA6E4}">
                <adec:decorative xmlns:adec="http://schemas.microsoft.com/office/drawing/2017/decorative" val="0"/>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Picture 3: image of a finger selecting an option for a multiple choice or true and false">
            <a:extLst>
              <a:ext uri="{FF2B5EF4-FFF2-40B4-BE49-F238E27FC236}">
                <a16:creationId xmlns:a16="http://schemas.microsoft.com/office/drawing/2014/main" id="{6FB50F61-F068-87AB-4B10-FC2CEB84FBC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81" y="1600298"/>
            <a:ext cx="11243037" cy="893226"/>
          </a:xfrm>
        </p:spPr>
        <p:txBody>
          <a:bodyPr/>
          <a:lstStyle/>
          <a:p>
            <a:pPr algn="ctr">
              <a:lnSpc>
                <a:spcPct val="200000"/>
              </a:lnSpc>
            </a:pPr>
            <a:r>
              <a:rPr lang="en-AU" sz="4400"/>
              <a:t>483 160 can be </a:t>
            </a:r>
            <a:r>
              <a:rPr lang="en-AU" sz="4400" b="1"/>
              <a:t>partitioned</a:t>
            </a:r>
            <a:r>
              <a:rPr lang="en-AU" sz="4400"/>
              <a:t> as </a:t>
            </a:r>
          </a:p>
          <a:p>
            <a:pPr algn="ctr">
              <a:lnSpc>
                <a:spcPct val="200000"/>
              </a:lnSpc>
            </a:pPr>
            <a:r>
              <a:rPr lang="en-AU" sz="4400"/>
              <a:t>483 000 + 6 160</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2644043402"/>
              </p:ext>
            </p:extLst>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79D093E-4747-4D01-18A4-FC0F9A38DA5C}"/>
              </a:ext>
            </a:extLst>
          </p:cNvPr>
          <p:cNvSpPr txBox="1"/>
          <p:nvPr/>
        </p:nvSpPr>
        <p:spPr>
          <a:xfrm>
            <a:off x="360000" y="777932"/>
            <a:ext cx="10670476" cy="1084415"/>
          </a:xfrm>
          <a:prstGeom prst="rect">
            <a:avLst/>
          </a:prstGeom>
          <a:noFill/>
        </p:spPr>
        <p:txBody>
          <a:bodyPr wrap="square" lIns="0" tIns="0" rIns="0" bIns="0" rtlCol="0">
            <a:noAutofit/>
          </a:bodyPr>
          <a:lstStyle/>
          <a:p>
            <a:pPr algn="ctr">
              <a:lnSpc>
                <a:spcPct val="150000"/>
              </a:lnSpc>
            </a:pPr>
            <a:r>
              <a:rPr lang="en-AU" sz="4000"/>
              <a:t>Categorise the following numbers as                    </a:t>
            </a:r>
            <a:r>
              <a:rPr lang="en-AU" sz="4000" b="1"/>
              <a:t>prime</a:t>
            </a:r>
            <a:r>
              <a:rPr lang="en-AU" sz="4000"/>
              <a:t>, </a:t>
            </a:r>
            <a:r>
              <a:rPr lang="en-AU" sz="4000" b="1"/>
              <a:t>composite</a:t>
            </a:r>
            <a:r>
              <a:rPr lang="en-AU" sz="4000"/>
              <a:t> or </a:t>
            </a:r>
            <a:r>
              <a:rPr lang="en-AU" sz="4000" b="1"/>
              <a:t>neither</a:t>
            </a:r>
            <a:r>
              <a:rPr lang="en-AU" sz="4000"/>
              <a:t>:</a:t>
            </a:r>
          </a:p>
        </p:txBody>
      </p:sp>
      <p:sp>
        <p:nvSpPr>
          <p:cNvPr id="5" name="TextBox 4">
            <a:extLst>
              <a:ext uri="{FF2B5EF4-FFF2-40B4-BE49-F238E27FC236}">
                <a16:creationId xmlns:a16="http://schemas.microsoft.com/office/drawing/2014/main" id="{FC423894-B77C-CC4F-1D0A-85B6D35D408E}"/>
              </a:ext>
            </a:extLst>
          </p:cNvPr>
          <p:cNvSpPr txBox="1"/>
          <p:nvPr/>
        </p:nvSpPr>
        <p:spPr>
          <a:xfrm>
            <a:off x="4734046" y="2743200"/>
            <a:ext cx="1863524" cy="3952800"/>
          </a:xfrm>
          <a:prstGeom prst="rect">
            <a:avLst/>
          </a:prstGeom>
          <a:noFill/>
        </p:spPr>
        <p:txBody>
          <a:bodyPr wrap="square" lIns="0" tIns="0" rIns="0" bIns="0" rtlCol="0">
            <a:noAutofit/>
          </a:bodyPr>
          <a:lstStyle/>
          <a:p>
            <a:pPr marL="450850" indent="-450850" algn="l">
              <a:buFont typeface="Arial" panose="020B0604020202020204" pitchFamily="34" charset="0"/>
              <a:buChar char="•"/>
            </a:pPr>
            <a:r>
              <a:rPr lang="en-AU" sz="3600"/>
              <a:t>7</a:t>
            </a:r>
          </a:p>
          <a:p>
            <a:pPr marL="450850" indent="-450850" algn="l">
              <a:buFont typeface="Arial" panose="020B0604020202020204" pitchFamily="34" charset="0"/>
              <a:buChar char="•"/>
            </a:pPr>
            <a:endParaRPr lang="en-AU" sz="3600"/>
          </a:p>
          <a:p>
            <a:pPr marL="450850" indent="-450850" algn="l">
              <a:buFont typeface="Arial" panose="020B0604020202020204" pitchFamily="34" charset="0"/>
              <a:buChar char="•"/>
            </a:pPr>
            <a:r>
              <a:rPr lang="en-AU" sz="3600"/>
              <a:t>10</a:t>
            </a:r>
          </a:p>
          <a:p>
            <a:pPr marL="450850" indent="-450850" algn="l">
              <a:buFont typeface="Arial" panose="020B0604020202020204" pitchFamily="34" charset="0"/>
              <a:buChar char="•"/>
            </a:pPr>
            <a:endParaRPr lang="en-AU" sz="3600"/>
          </a:p>
          <a:p>
            <a:pPr marL="450850" indent="-450850" algn="l">
              <a:buFont typeface="Arial" panose="020B0604020202020204" pitchFamily="34" charset="0"/>
              <a:buChar char="•"/>
            </a:pPr>
            <a:r>
              <a:rPr lang="en-AU" sz="3600"/>
              <a:t>0 </a:t>
            </a:r>
          </a:p>
          <a:p>
            <a:pPr marL="450850" indent="-450850" algn="l">
              <a:buFont typeface="Arial" panose="020B0604020202020204" pitchFamily="34" charset="0"/>
              <a:buChar char="•"/>
            </a:pPr>
            <a:endParaRPr lang="en-AU" sz="3600"/>
          </a:p>
          <a:p>
            <a:pPr marL="450850" indent="-450850" algn="l">
              <a:buFont typeface="Arial" panose="020B0604020202020204" pitchFamily="34" charset="0"/>
              <a:buChar char="•"/>
            </a:pPr>
            <a:r>
              <a:rPr lang="en-AU" sz="3600"/>
              <a:t>9</a:t>
            </a:r>
          </a:p>
          <a:p>
            <a:pPr algn="l"/>
            <a:endParaRPr lang="en-AU" sz="2800"/>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36915C27-5D27-3A45-1C6F-9A4CC853F131}"/>
              </a:ext>
            </a:extLst>
          </p:cNvPr>
          <p:cNvSpPr txBox="1"/>
          <p:nvPr/>
        </p:nvSpPr>
        <p:spPr>
          <a:xfrm>
            <a:off x="593337" y="1052796"/>
            <a:ext cx="11039008" cy="2229008"/>
          </a:xfrm>
          <a:prstGeom prst="rect">
            <a:avLst/>
          </a:prstGeom>
          <a:noFill/>
        </p:spPr>
        <p:txBody>
          <a:bodyPr wrap="square">
            <a:spAutoFit/>
          </a:bodyPr>
          <a:lstStyle/>
          <a:p>
            <a:pPr lvl="0" algn="ctr">
              <a:lnSpc>
                <a:spcPct val="150000"/>
              </a:lnSpc>
              <a:spcBef>
                <a:spcPts val="1200"/>
              </a:spcBef>
              <a:spcAft>
                <a:spcPts val="600"/>
              </a:spcAft>
            </a:pPr>
            <a:r>
              <a:rPr lang="en-AU" sz="4400" b="1" dirty="0">
                <a:effectLst/>
                <a:latin typeface="Arial" panose="020B0604020202020204" pitchFamily="34" charset="0"/>
                <a:ea typeface="Calibri" panose="020F0502020204030204" pitchFamily="34" charset="0"/>
              </a:rPr>
              <a:t>Write this number in a </a:t>
            </a:r>
          </a:p>
          <a:p>
            <a:pPr lvl="0" algn="ctr">
              <a:lnSpc>
                <a:spcPct val="150000"/>
              </a:lnSpc>
              <a:spcBef>
                <a:spcPts val="1200"/>
              </a:spcBef>
              <a:spcAft>
                <a:spcPts val="600"/>
              </a:spcAft>
            </a:pPr>
            <a:r>
              <a:rPr lang="en-AU" sz="4400" b="1" dirty="0">
                <a:effectLst/>
                <a:latin typeface="Arial" panose="020B0604020202020204" pitchFamily="34" charset="0"/>
                <a:ea typeface="Calibri" panose="020F0502020204030204" pitchFamily="34" charset="0"/>
              </a:rPr>
              <a:t>non-standard form</a:t>
            </a:r>
            <a:endParaRPr lang="en-AU" sz="4400" dirty="0">
              <a:effectLst/>
              <a:latin typeface="Arial" panose="020B0604020202020204" pitchFamily="34" charset="0"/>
              <a:ea typeface="Calibri" panose="020F0502020204030204" pitchFamily="34" charset="0"/>
            </a:endParaRPr>
          </a:p>
        </p:txBody>
      </p:sp>
      <p:pic>
        <p:nvPicPr>
          <p:cNvPr id="19" name="Picture 18" descr="Image of a billion place house with the digits four, five and eight in the millions place. Seven, nine and six in the thousands place. Two in the hundred, five in the tens and 3 in the ones place. ">
            <a:extLst>
              <a:ext uri="{FF2B5EF4-FFF2-40B4-BE49-F238E27FC236}">
                <a16:creationId xmlns:a16="http://schemas.microsoft.com/office/drawing/2014/main" id="{401A8211-86C4-60B5-C71C-68FDA45F76FC}"/>
              </a:ext>
            </a:extLst>
          </p:cNvPr>
          <p:cNvPicPr>
            <a:picLocks noChangeAspect="1"/>
          </p:cNvPicPr>
          <p:nvPr/>
        </p:nvPicPr>
        <p:blipFill>
          <a:blip r:embed="rId4"/>
          <a:stretch>
            <a:fillRect/>
          </a:stretch>
        </p:blipFill>
        <p:spPr>
          <a:xfrm>
            <a:off x="559654" y="3429000"/>
            <a:ext cx="11072691" cy="2562334"/>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descr="Picture 2: image of a clipboard with a pencil recording short answer responses">
            <a:extLst>
              <a:ext uri="{FF2B5EF4-FFF2-40B4-BE49-F238E27FC236}">
                <a16:creationId xmlns:a16="http://schemas.microsoft.com/office/drawing/2014/main" id="{F22768F3-1D34-7E31-8299-4A2308A11FC5}"/>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9F7A7CF-89CF-97DC-655C-C0EE9E2A3331}"/>
              </a:ext>
            </a:extLst>
          </p:cNvPr>
          <p:cNvSpPr txBox="1"/>
          <p:nvPr/>
        </p:nvSpPr>
        <p:spPr>
          <a:xfrm>
            <a:off x="581024" y="1178799"/>
            <a:ext cx="11069693" cy="769441"/>
          </a:xfrm>
          <a:prstGeom prst="rect">
            <a:avLst/>
          </a:prstGeom>
          <a:noFill/>
        </p:spPr>
        <p:txBody>
          <a:bodyPr wrap="square">
            <a:spAutoFit/>
          </a:bodyPr>
          <a:lstStyle/>
          <a:p>
            <a:pPr algn="ctr"/>
            <a:r>
              <a:rPr lang="en-AU" sz="4400">
                <a:latin typeface="Arial" panose="020B0604020202020204" pitchFamily="34" charset="0"/>
                <a:cs typeface="Arial" panose="020B0604020202020204" pitchFamily="34" charset="0"/>
              </a:rPr>
              <a:t>Write </a:t>
            </a:r>
            <a:r>
              <a:rPr lang="en-AU" sz="4400" b="1">
                <a:latin typeface="Arial" panose="020B0604020202020204" pitchFamily="34" charset="0"/>
                <a:cs typeface="Arial" panose="020B0604020202020204" pitchFamily="34" charset="0"/>
              </a:rPr>
              <a:t>features </a:t>
            </a:r>
            <a:r>
              <a:rPr lang="en-AU" sz="4400">
                <a:latin typeface="Arial" panose="020B0604020202020204" pitchFamily="34" charset="0"/>
                <a:cs typeface="Arial" panose="020B0604020202020204" pitchFamily="34" charset="0"/>
              </a:rPr>
              <a:t>missing from this </a:t>
            </a:r>
            <a:r>
              <a:rPr lang="en-AU" sz="4400" b="1">
                <a:latin typeface="Arial" panose="020B0604020202020204" pitchFamily="34" charset="0"/>
                <a:cs typeface="Arial" panose="020B0604020202020204" pitchFamily="34" charset="0"/>
              </a:rPr>
              <a:t>graph</a:t>
            </a:r>
            <a:r>
              <a:rPr lang="en-AU" sz="4400">
                <a:latin typeface="Arial" panose="020B0604020202020204" pitchFamily="34" charset="0"/>
                <a:cs typeface="Arial" panose="020B0604020202020204" pitchFamily="34" charset="0"/>
              </a:rPr>
              <a:t>.</a:t>
            </a:r>
          </a:p>
        </p:txBody>
      </p:sp>
      <p:pic>
        <p:nvPicPr>
          <p:cNvPr id="4" name="Picture 3" descr="A column graph with missing labels.&#10;&#10;">
            <a:extLst>
              <a:ext uri="{FF2B5EF4-FFF2-40B4-BE49-F238E27FC236}">
                <a16:creationId xmlns:a16="http://schemas.microsoft.com/office/drawing/2014/main" id="{0520AC87-5CC8-754E-FCEE-5FA9B28582B3}"/>
              </a:ext>
            </a:extLst>
          </p:cNvPr>
          <p:cNvPicPr>
            <a:picLocks noChangeAspect="1"/>
          </p:cNvPicPr>
          <p:nvPr/>
        </p:nvPicPr>
        <p:blipFill>
          <a:blip r:embed="rId4"/>
          <a:stretch>
            <a:fillRect/>
          </a:stretch>
        </p:blipFill>
        <p:spPr>
          <a:xfrm>
            <a:off x="3624554" y="2221438"/>
            <a:ext cx="4318893" cy="4262363"/>
          </a:xfrm>
          <a:prstGeom prst="rect">
            <a:avLst/>
          </a:prstGeom>
          <a:ln>
            <a:noFill/>
          </a:ln>
          <a:effectLst>
            <a:outerShdw blurRad="190500" algn="tl" rotWithShape="0">
              <a:srgbClr val="000000">
                <a:alpha val="70000"/>
              </a:srgbClr>
            </a:outerShdw>
          </a:effectLst>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Picture 2: image of a clipboard with a pencil recording short answer responses">
            <a:extLst>
              <a:ext uri="{FF2B5EF4-FFF2-40B4-BE49-F238E27FC236}">
                <a16:creationId xmlns:a16="http://schemas.microsoft.com/office/drawing/2014/main" id="{5D2DD89E-AAB3-5EBB-F36F-72D71287FEEC}"/>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F50B5DB-BBE9-531B-A6ED-A1F136D54EAC}"/>
              </a:ext>
            </a:extLst>
          </p:cNvPr>
          <p:cNvSpPr txBox="1"/>
          <p:nvPr/>
        </p:nvSpPr>
        <p:spPr>
          <a:xfrm>
            <a:off x="733778" y="2006766"/>
            <a:ext cx="10724444" cy="1304365"/>
          </a:xfrm>
          <a:prstGeom prst="rect">
            <a:avLst/>
          </a:prstGeom>
          <a:noFill/>
        </p:spPr>
        <p:txBody>
          <a:bodyPr wrap="square" lIns="0" tIns="0" rIns="0" bIns="0" rtlCol="0">
            <a:noAutofit/>
          </a:bodyPr>
          <a:lstStyle/>
          <a:p>
            <a:pPr algn="ctr">
              <a:lnSpc>
                <a:spcPct val="150000"/>
              </a:lnSpc>
            </a:pPr>
            <a:r>
              <a:rPr lang="en-AU" sz="4400" b="1"/>
              <a:t>Show</a:t>
            </a:r>
            <a:r>
              <a:rPr lang="en-AU" sz="4400"/>
              <a:t> a right angle with your arms.</a:t>
            </a:r>
          </a:p>
          <a:p>
            <a:pPr algn="ctr">
              <a:lnSpc>
                <a:spcPct val="150000"/>
              </a:lnSpc>
            </a:pPr>
            <a:endParaRPr lang="en-AU" sz="4400"/>
          </a:p>
          <a:p>
            <a:pPr algn="ctr">
              <a:lnSpc>
                <a:spcPct val="150000"/>
              </a:lnSpc>
            </a:pPr>
            <a:r>
              <a:rPr lang="en-AU" sz="4400" b="1"/>
              <a:t>Communicate</a:t>
            </a:r>
            <a:r>
              <a:rPr lang="en-AU" sz="4400"/>
              <a:t> how you know this is a </a:t>
            </a:r>
            <a:r>
              <a:rPr lang="en-AU" sz="4400" b="1"/>
              <a:t>right angle</a:t>
            </a:r>
            <a:r>
              <a:rPr lang="en-AU" sz="4400"/>
              <a:t>.</a:t>
            </a:r>
          </a:p>
          <a:p>
            <a:pPr algn="ctr"/>
            <a:endParaRPr lang="en-AU" sz="4400"/>
          </a:p>
          <a:p>
            <a:pPr algn="l"/>
            <a:endParaRPr lang="en-AU" sz="1800"/>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partitioning in non-standard forms (1)</a:t>
            </a:r>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2944119E-01DD-1FAA-A682-1CBFEB4EE353}"/>
              </a:ext>
            </a:extLst>
          </p:cNvPr>
          <p:cNvSpPr txBox="1"/>
          <p:nvPr/>
        </p:nvSpPr>
        <p:spPr>
          <a:xfrm>
            <a:off x="3299534" y="1810138"/>
            <a:ext cx="5592931" cy="1156996"/>
          </a:xfrm>
          <a:prstGeom prst="rect">
            <a:avLst/>
          </a:prstGeom>
          <a:noFill/>
        </p:spPr>
        <p:txBody>
          <a:bodyPr wrap="square" lIns="0" tIns="0" rIns="0" bIns="0" rtlCol="0">
            <a:noAutofit/>
          </a:bodyPr>
          <a:lstStyle/>
          <a:p>
            <a:pPr algn="l"/>
            <a:r>
              <a:rPr lang="en-AU" sz="4400"/>
              <a:t>How can we </a:t>
            </a:r>
            <a:r>
              <a:rPr lang="en-AU" sz="4400" b="1"/>
              <a:t>partition</a:t>
            </a:r>
            <a:r>
              <a:rPr lang="en-AU" sz="4400"/>
              <a:t>: </a:t>
            </a:r>
          </a:p>
        </p:txBody>
      </p:sp>
      <p:sp>
        <p:nvSpPr>
          <p:cNvPr id="3" name="TextBox 2">
            <a:extLst>
              <a:ext uri="{FF2B5EF4-FFF2-40B4-BE49-F238E27FC236}">
                <a16:creationId xmlns:a16="http://schemas.microsoft.com/office/drawing/2014/main" id="{0F97E2DD-CAC8-5373-867F-C739F15EEE7D}"/>
              </a:ext>
            </a:extLst>
          </p:cNvPr>
          <p:cNvSpPr txBox="1"/>
          <p:nvPr/>
        </p:nvSpPr>
        <p:spPr>
          <a:xfrm>
            <a:off x="5044358" y="3871671"/>
            <a:ext cx="2103281" cy="718045"/>
          </a:xfrm>
          <a:prstGeom prst="rect">
            <a:avLst/>
          </a:prstGeom>
          <a:noFill/>
        </p:spPr>
        <p:txBody>
          <a:bodyPr wrap="square" lIns="0" tIns="0" rIns="0" bIns="0" rtlCol="0">
            <a:noAutofit/>
          </a:bodyPr>
          <a:lstStyle/>
          <a:p>
            <a:r>
              <a:rPr lang="en-AU" sz="4400" b="1">
                <a:latin typeface="Arial" panose="020B0604020202020204" pitchFamily="34" charset="0"/>
                <a:ea typeface="Calibri" panose="020F0502020204030204" pitchFamily="34" charset="0"/>
              </a:rPr>
              <a:t>586 120</a:t>
            </a:r>
            <a:endParaRPr lang="en-AU" sz="4400" b="1"/>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362B-B9A8-6488-AB4E-0C3A2CF24B8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47C74D8-95F3-E6C7-B657-DFADC5B165F1}"/>
              </a:ext>
            </a:extLst>
          </p:cNvPr>
          <p:cNvSpPr>
            <a:spLocks noGrp="1"/>
          </p:cNvSpPr>
          <p:nvPr>
            <p:ph type="title"/>
          </p:nvPr>
        </p:nvSpPr>
        <p:spPr>
          <a:xfrm>
            <a:off x="360000" y="360000"/>
            <a:ext cx="10367268" cy="545601"/>
          </a:xfrm>
        </p:spPr>
        <p:txBody>
          <a:bodyPr/>
          <a:lstStyle/>
          <a:p>
            <a:r>
              <a:rPr lang="en-AU"/>
              <a:t>Activity 2 – partitioning in non-standard forms (2)</a:t>
            </a:r>
          </a:p>
        </p:txBody>
      </p:sp>
      <p:pic>
        <p:nvPicPr>
          <p:cNvPr id="4" name="Picture 3" descr="image of a head with cogs turning inside">
            <a:extLst>
              <a:ext uri="{FF2B5EF4-FFF2-40B4-BE49-F238E27FC236}">
                <a16:creationId xmlns:a16="http://schemas.microsoft.com/office/drawing/2014/main" id="{D0DA36D6-0EED-D6F8-F470-D04F6CFB773C}"/>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2BE49153-8A5A-C02A-7873-F65A4EBC3F4C}"/>
              </a:ext>
            </a:extLst>
          </p:cNvPr>
          <p:cNvSpPr txBox="1"/>
          <p:nvPr/>
        </p:nvSpPr>
        <p:spPr>
          <a:xfrm>
            <a:off x="359999" y="1237996"/>
            <a:ext cx="6190925" cy="1156996"/>
          </a:xfrm>
          <a:prstGeom prst="rect">
            <a:avLst/>
          </a:prstGeom>
          <a:noFill/>
        </p:spPr>
        <p:txBody>
          <a:bodyPr wrap="square" lIns="0" tIns="0" rIns="0" bIns="0" rtlCol="0">
            <a:noAutofit/>
          </a:bodyPr>
          <a:lstStyle/>
          <a:p>
            <a:pPr algn="l"/>
            <a:r>
              <a:rPr lang="en-AU" sz="4000" b="1"/>
              <a:t>Record </a:t>
            </a:r>
            <a:r>
              <a:rPr lang="en-AU" sz="4000"/>
              <a:t>on the place value house</a:t>
            </a:r>
            <a:r>
              <a:rPr lang="en-AU" sz="4000" b="1"/>
              <a:t>: </a:t>
            </a:r>
          </a:p>
        </p:txBody>
      </p:sp>
      <p:sp>
        <p:nvSpPr>
          <p:cNvPr id="3" name="TextBox 2">
            <a:extLst>
              <a:ext uri="{FF2B5EF4-FFF2-40B4-BE49-F238E27FC236}">
                <a16:creationId xmlns:a16="http://schemas.microsoft.com/office/drawing/2014/main" id="{9784845D-3907-56E8-23FD-18BC3A5F66A1}"/>
              </a:ext>
            </a:extLst>
          </p:cNvPr>
          <p:cNvSpPr txBox="1"/>
          <p:nvPr/>
        </p:nvSpPr>
        <p:spPr>
          <a:xfrm>
            <a:off x="2363606" y="3069977"/>
            <a:ext cx="1884039" cy="718045"/>
          </a:xfrm>
          <a:prstGeom prst="rect">
            <a:avLst/>
          </a:prstGeom>
          <a:noFill/>
        </p:spPr>
        <p:txBody>
          <a:bodyPr wrap="square" lIns="0" tIns="0" rIns="0" bIns="0" rtlCol="0">
            <a:noAutofit/>
          </a:bodyPr>
          <a:lstStyle/>
          <a:p>
            <a:r>
              <a:rPr lang="en-AU" sz="4000" b="1">
                <a:effectLst/>
                <a:latin typeface="Arial" panose="020B0604020202020204" pitchFamily="34" charset="0"/>
                <a:ea typeface="Calibri" panose="020F0502020204030204" pitchFamily="34" charset="0"/>
              </a:rPr>
              <a:t>273 409 </a:t>
            </a:r>
            <a:endParaRPr lang="en-AU" sz="4000" b="1"/>
          </a:p>
        </p:txBody>
      </p:sp>
      <p:sp>
        <p:nvSpPr>
          <p:cNvPr id="8" name="TextBox 7">
            <a:extLst>
              <a:ext uri="{FF2B5EF4-FFF2-40B4-BE49-F238E27FC236}">
                <a16:creationId xmlns:a16="http://schemas.microsoft.com/office/drawing/2014/main" id="{F260467E-2520-8A3E-C1BE-5F58F180EE02}"/>
              </a:ext>
            </a:extLst>
          </p:cNvPr>
          <p:cNvSpPr txBox="1"/>
          <p:nvPr/>
        </p:nvSpPr>
        <p:spPr>
          <a:xfrm>
            <a:off x="359999" y="4054639"/>
            <a:ext cx="6190924" cy="1964468"/>
          </a:xfrm>
          <a:prstGeom prst="rect">
            <a:avLst/>
          </a:prstGeom>
          <a:noFill/>
        </p:spPr>
        <p:txBody>
          <a:bodyPr wrap="square" lIns="0" tIns="0" rIns="0" bIns="0" rtlCol="0">
            <a:noAutofit/>
          </a:bodyPr>
          <a:lstStyle/>
          <a:p>
            <a:pPr algn="l">
              <a:lnSpc>
                <a:spcPct val="150000"/>
              </a:lnSpc>
            </a:pPr>
            <a:r>
              <a:rPr lang="en-AU" sz="4000"/>
              <a:t>How can we </a:t>
            </a:r>
            <a:r>
              <a:rPr lang="en-AU" sz="4000" b="1"/>
              <a:t>partition </a:t>
            </a:r>
            <a:r>
              <a:rPr lang="en-AU" sz="4000"/>
              <a:t>this number in a </a:t>
            </a:r>
            <a:r>
              <a:rPr lang="en-AU" sz="4000" b="1"/>
              <a:t>non-standard form?</a:t>
            </a:r>
            <a:r>
              <a:rPr lang="en-AU" sz="4000"/>
              <a:t> </a:t>
            </a:r>
          </a:p>
        </p:txBody>
      </p:sp>
      <p:pic>
        <p:nvPicPr>
          <p:cNvPr id="7" name="Picture 6" descr="Place value houses up to hundreds of thousands.">
            <a:extLst>
              <a:ext uri="{FF2B5EF4-FFF2-40B4-BE49-F238E27FC236}">
                <a16:creationId xmlns:a16="http://schemas.microsoft.com/office/drawing/2014/main" id="{9AC2A6A3-80C4-5A3F-DB6C-E07414FE4377}"/>
              </a:ext>
            </a:extLst>
          </p:cNvPr>
          <p:cNvPicPr>
            <a:picLocks noChangeAspect="1"/>
          </p:cNvPicPr>
          <p:nvPr/>
        </p:nvPicPr>
        <p:blipFill rotWithShape="1">
          <a:blip r:embed="rId4"/>
          <a:srcRect l="13624" r="15365"/>
          <a:stretch>
            <a:fillRect/>
          </a:stretch>
        </p:blipFill>
        <p:spPr bwMode="auto">
          <a:xfrm>
            <a:off x="6845896" y="2285000"/>
            <a:ext cx="5095412" cy="3539277"/>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2" name="Slide Number Placeholder 1">
            <a:extLst>
              <a:ext uri="{FF2B5EF4-FFF2-40B4-BE49-F238E27FC236}">
                <a16:creationId xmlns:a16="http://schemas.microsoft.com/office/drawing/2014/main" id="{1698CBC1-D464-98B8-8EA8-0137B46033D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3836867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0A84F-55A0-9C1F-7CA8-A4D62EE8CB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1EFB806-E33C-77DC-5461-69451F1703EC}"/>
              </a:ext>
            </a:extLst>
          </p:cNvPr>
          <p:cNvSpPr>
            <a:spLocks noGrp="1"/>
          </p:cNvSpPr>
          <p:nvPr>
            <p:ph type="title"/>
          </p:nvPr>
        </p:nvSpPr>
        <p:spPr>
          <a:xfrm>
            <a:off x="360000" y="360000"/>
            <a:ext cx="9901600" cy="545601"/>
          </a:xfrm>
        </p:spPr>
        <p:txBody>
          <a:bodyPr/>
          <a:lstStyle/>
          <a:p>
            <a:r>
              <a:rPr lang="en-US"/>
              <a:t>Multiple choice</a:t>
            </a:r>
            <a:r>
              <a:rPr lang="en-US">
                <a:solidFill>
                  <a:schemeClr val="bg1"/>
                </a:solidFill>
              </a:rPr>
              <a:t> (2)</a:t>
            </a:r>
          </a:p>
        </p:txBody>
      </p:sp>
      <p:pic>
        <p:nvPicPr>
          <p:cNvPr id="4" name="Picture 3" descr="Picture 3: image of a finger selecting an option for a multiple choice or true and false">
            <a:extLst>
              <a:ext uri="{FF2B5EF4-FFF2-40B4-BE49-F238E27FC236}">
                <a16:creationId xmlns:a16="http://schemas.microsoft.com/office/drawing/2014/main" id="{BD917C85-0D80-B099-CD98-D711264A9AEC}"/>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7BD074D2-5AAF-B58D-F5BE-02EEAA699A95}"/>
              </a:ext>
            </a:extLst>
          </p:cNvPr>
          <p:cNvSpPr>
            <a:spLocks noGrp="1"/>
          </p:cNvSpPr>
          <p:nvPr>
            <p:ph type="body" sz="quarter" idx="28"/>
          </p:nvPr>
        </p:nvSpPr>
        <p:spPr>
          <a:xfrm>
            <a:off x="-119037" y="916146"/>
            <a:ext cx="12311037" cy="754243"/>
          </a:xfrm>
        </p:spPr>
        <p:txBody>
          <a:bodyPr vert="horz" lIns="0" tIns="0" rIns="0" bIns="0" rtlCol="0" anchor="t">
            <a:noAutofit/>
          </a:bodyPr>
          <a:lstStyle/>
          <a:p>
            <a:pPr algn="ctr">
              <a:spcAft>
                <a:spcPts val="0"/>
              </a:spcAft>
            </a:pPr>
            <a:r>
              <a:rPr lang="en-AU" sz="4400">
                <a:latin typeface="Arial"/>
                <a:cs typeface="Arial"/>
              </a:rPr>
              <a:t>Select partitions of 427 138.</a:t>
            </a:r>
          </a:p>
          <a:p>
            <a:pPr algn="ctr">
              <a:spcAft>
                <a:spcPts val="0"/>
              </a:spcAft>
            </a:pPr>
            <a:r>
              <a:rPr lang="en-AU" sz="3600"/>
              <a:t>You may select </a:t>
            </a:r>
            <a:r>
              <a:rPr lang="en-AU" sz="3600" b="1"/>
              <a:t>more than one </a:t>
            </a:r>
            <a:r>
              <a:rPr lang="en-AU" sz="3600"/>
              <a:t>answer.</a:t>
            </a:r>
            <a:endParaRPr lang="en-US" sz="3600"/>
          </a:p>
          <a:p>
            <a:endParaRPr lang="en-US" sz="4400"/>
          </a:p>
        </p:txBody>
      </p:sp>
      <p:sp>
        <p:nvSpPr>
          <p:cNvPr id="9" name="B">
            <a:extLst>
              <a:ext uri="{FF2B5EF4-FFF2-40B4-BE49-F238E27FC236}">
                <a16:creationId xmlns:a16="http://schemas.microsoft.com/office/drawing/2014/main" id="{A26B80E9-0E1E-5199-8A79-14B5D8E9E25C}"/>
              </a:ext>
            </a:extLst>
          </p:cNvPr>
          <p:cNvSpPr txBox="1"/>
          <p:nvPr/>
        </p:nvSpPr>
        <p:spPr>
          <a:xfrm>
            <a:off x="670560" y="329456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A</a:t>
            </a:r>
          </a:p>
        </p:txBody>
      </p:sp>
      <p:sp>
        <p:nvSpPr>
          <p:cNvPr id="18" name="A text">
            <a:extLst>
              <a:ext uri="{FF2B5EF4-FFF2-40B4-BE49-F238E27FC236}">
                <a16:creationId xmlns:a16="http://schemas.microsoft.com/office/drawing/2014/main" id="{724D7439-7589-FAFF-115E-3A4D3B576557}"/>
              </a:ext>
            </a:extLst>
          </p:cNvPr>
          <p:cNvSpPr>
            <a:spLocks noGrp="1"/>
          </p:cNvSpPr>
          <p:nvPr>
            <p:ph type="body" sz="quarter" idx="31"/>
          </p:nvPr>
        </p:nvSpPr>
        <p:spPr>
          <a:xfrm>
            <a:off x="1345520" y="3259951"/>
            <a:ext cx="10175920" cy="641396"/>
          </a:xfrm>
        </p:spPr>
        <p:txBody>
          <a:bodyPr anchor="ctr"/>
          <a:lstStyle/>
          <a:p>
            <a:r>
              <a:rPr lang="en-AU" sz="3600"/>
              <a:t>400 000 + 27 000 + 1380</a:t>
            </a:r>
            <a:endParaRPr lang="en-US" sz="3600"/>
          </a:p>
        </p:txBody>
      </p:sp>
      <p:sp>
        <p:nvSpPr>
          <p:cNvPr id="10" name="B">
            <a:extLst>
              <a:ext uri="{FF2B5EF4-FFF2-40B4-BE49-F238E27FC236}">
                <a16:creationId xmlns:a16="http://schemas.microsoft.com/office/drawing/2014/main" id="{3C443FA0-F995-9F93-49FE-C69CAC89BEC4}"/>
              </a:ext>
            </a:extLst>
          </p:cNvPr>
          <p:cNvSpPr txBox="1"/>
          <p:nvPr/>
        </p:nvSpPr>
        <p:spPr>
          <a:xfrm>
            <a:off x="670559" y="41424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B</a:t>
            </a:r>
          </a:p>
        </p:txBody>
      </p:sp>
      <p:sp>
        <p:nvSpPr>
          <p:cNvPr id="17" name="B text">
            <a:extLst>
              <a:ext uri="{FF2B5EF4-FFF2-40B4-BE49-F238E27FC236}">
                <a16:creationId xmlns:a16="http://schemas.microsoft.com/office/drawing/2014/main" id="{574D93E4-83FE-C640-4F6F-16493FB1E73F}"/>
              </a:ext>
            </a:extLst>
          </p:cNvPr>
          <p:cNvSpPr>
            <a:spLocks noGrp="1"/>
          </p:cNvSpPr>
          <p:nvPr>
            <p:ph type="body" sz="quarter" idx="30"/>
          </p:nvPr>
        </p:nvSpPr>
        <p:spPr>
          <a:xfrm>
            <a:off x="1345520" y="4107864"/>
            <a:ext cx="10175920" cy="641396"/>
          </a:xfrm>
        </p:spPr>
        <p:txBody>
          <a:bodyPr anchor="ctr"/>
          <a:lstStyle/>
          <a:p>
            <a:r>
              <a:rPr lang="en-AU" sz="3600"/>
              <a:t>427 thousands and 138 ones</a:t>
            </a:r>
            <a:endParaRPr lang="en-US" sz="3600"/>
          </a:p>
        </p:txBody>
      </p:sp>
      <p:sp>
        <p:nvSpPr>
          <p:cNvPr id="12" name="C">
            <a:extLst>
              <a:ext uri="{FF2B5EF4-FFF2-40B4-BE49-F238E27FC236}">
                <a16:creationId xmlns:a16="http://schemas.microsoft.com/office/drawing/2014/main" id="{2A087793-2486-F4D4-43E3-3FEC801C3753}"/>
              </a:ext>
            </a:extLst>
          </p:cNvPr>
          <p:cNvSpPr txBox="1"/>
          <p:nvPr/>
        </p:nvSpPr>
        <p:spPr>
          <a:xfrm>
            <a:off x="670558" y="49925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C</a:t>
            </a:r>
          </a:p>
        </p:txBody>
      </p:sp>
      <p:sp>
        <p:nvSpPr>
          <p:cNvPr id="16" name="C text">
            <a:extLst>
              <a:ext uri="{FF2B5EF4-FFF2-40B4-BE49-F238E27FC236}">
                <a16:creationId xmlns:a16="http://schemas.microsoft.com/office/drawing/2014/main" id="{5858712E-863D-C0DC-A257-E717F1E72F21}"/>
              </a:ext>
            </a:extLst>
          </p:cNvPr>
          <p:cNvSpPr>
            <a:spLocks noGrp="1"/>
          </p:cNvSpPr>
          <p:nvPr>
            <p:ph type="body" sz="quarter" idx="29"/>
          </p:nvPr>
        </p:nvSpPr>
        <p:spPr>
          <a:xfrm>
            <a:off x="1345520" y="4957917"/>
            <a:ext cx="10175920" cy="641396"/>
          </a:xfrm>
        </p:spPr>
        <p:txBody>
          <a:bodyPr anchor="ctr"/>
          <a:lstStyle/>
          <a:p>
            <a:r>
              <a:rPr lang="en-AU" sz="3600"/>
              <a:t>420 000 + 7 000 + 100 + 30 + 8</a:t>
            </a:r>
            <a:endParaRPr lang="en-US" sz="3600"/>
          </a:p>
        </p:txBody>
      </p:sp>
      <p:sp>
        <p:nvSpPr>
          <p:cNvPr id="11" name="D">
            <a:extLst>
              <a:ext uri="{FF2B5EF4-FFF2-40B4-BE49-F238E27FC236}">
                <a16:creationId xmlns:a16="http://schemas.microsoft.com/office/drawing/2014/main" id="{4C0CDB21-4CAE-DFC9-AE21-38E5BFBA253A}"/>
              </a:ext>
            </a:extLst>
          </p:cNvPr>
          <p:cNvSpPr txBox="1"/>
          <p:nvPr/>
        </p:nvSpPr>
        <p:spPr>
          <a:xfrm>
            <a:off x="670557" y="58425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D</a:t>
            </a:r>
          </a:p>
        </p:txBody>
      </p:sp>
      <p:sp>
        <p:nvSpPr>
          <p:cNvPr id="14" name="D text">
            <a:extLst>
              <a:ext uri="{FF2B5EF4-FFF2-40B4-BE49-F238E27FC236}">
                <a16:creationId xmlns:a16="http://schemas.microsoft.com/office/drawing/2014/main" id="{8896B208-7B5E-FF4D-0048-B5579645549F}"/>
              </a:ext>
            </a:extLst>
          </p:cNvPr>
          <p:cNvSpPr>
            <a:spLocks noGrp="1"/>
          </p:cNvSpPr>
          <p:nvPr>
            <p:ph type="body" sz="quarter" idx="27"/>
          </p:nvPr>
        </p:nvSpPr>
        <p:spPr>
          <a:xfrm>
            <a:off x="1345520" y="5807970"/>
            <a:ext cx="10175920" cy="641396"/>
          </a:xfrm>
        </p:spPr>
        <p:txBody>
          <a:bodyPr anchor="ctr"/>
          <a:lstStyle/>
          <a:p>
            <a:r>
              <a:rPr lang="en-AU" sz="3600"/>
              <a:t>400 000 + 20 000 + 7000 + 1000 + 300 + 80</a:t>
            </a:r>
            <a:endParaRPr lang="en-US" sz="3600"/>
          </a:p>
        </p:txBody>
      </p:sp>
      <p:sp>
        <p:nvSpPr>
          <p:cNvPr id="2" name="Slide Number Placeholder 1">
            <a:extLst>
              <a:ext uri="{FF2B5EF4-FFF2-40B4-BE49-F238E27FC236}">
                <a16:creationId xmlns:a16="http://schemas.microsoft.com/office/drawing/2014/main" id="{74E40904-A187-51BC-86A4-7CE65B90B3D7}"/>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790112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1ED4DBE-63F0-0E41-2F87-05D9E9DE6567}"/>
              </a:ext>
            </a:extLst>
          </p:cNvPr>
          <p:cNvSpPr txBox="1"/>
          <p:nvPr/>
        </p:nvSpPr>
        <p:spPr>
          <a:xfrm>
            <a:off x="360000" y="1313474"/>
            <a:ext cx="11585976" cy="860640"/>
          </a:xfrm>
          <a:prstGeom prst="rect">
            <a:avLst/>
          </a:prstGeom>
          <a:noFill/>
        </p:spPr>
        <p:txBody>
          <a:bodyPr wrap="square" lIns="0" tIns="0" rIns="0" bIns="0" rtlCol="0">
            <a:noAutofit/>
          </a:bodyPr>
          <a:lstStyle/>
          <a:p>
            <a:r>
              <a:rPr lang="en-AU" sz="4400"/>
              <a:t>Use </a:t>
            </a:r>
            <a:r>
              <a:rPr lang="en-AU" sz="4400" b="1"/>
              <a:t>mental strategies </a:t>
            </a:r>
            <a:r>
              <a:rPr lang="en-AU" sz="4400"/>
              <a:t>to </a:t>
            </a:r>
            <a:r>
              <a:rPr lang="en-AU" sz="4400" b="1"/>
              <a:t>find</a:t>
            </a:r>
            <a:r>
              <a:rPr lang="en-AU" sz="4400"/>
              <a:t> the </a:t>
            </a:r>
            <a:r>
              <a:rPr lang="en-AU" sz="4400" b="1"/>
              <a:t>product</a:t>
            </a:r>
            <a:r>
              <a:rPr lang="en-AU" sz="4400"/>
              <a:t> of:</a:t>
            </a:r>
            <a:endParaRPr lang="en-AU" sz="1800"/>
          </a:p>
        </p:txBody>
      </p:sp>
      <p:sp>
        <p:nvSpPr>
          <p:cNvPr id="7" name="TextBox 6">
            <a:extLst>
              <a:ext uri="{FF2B5EF4-FFF2-40B4-BE49-F238E27FC236}">
                <a16:creationId xmlns:a16="http://schemas.microsoft.com/office/drawing/2014/main" id="{700B085B-DC09-59CD-5715-84F47131DC78}"/>
              </a:ext>
            </a:extLst>
          </p:cNvPr>
          <p:cNvSpPr txBox="1"/>
          <p:nvPr/>
        </p:nvSpPr>
        <p:spPr>
          <a:xfrm>
            <a:off x="4760571" y="2372626"/>
            <a:ext cx="2670858" cy="3944862"/>
          </a:xfrm>
          <a:prstGeom prst="rect">
            <a:avLst/>
          </a:prstGeom>
          <a:noFill/>
        </p:spPr>
        <p:txBody>
          <a:bodyPr wrap="square">
            <a:spAutoFit/>
          </a:bodyPr>
          <a:lstStyle/>
          <a:p>
            <a:pPr marL="571500" indent="-571500">
              <a:lnSpc>
                <a:spcPct val="200000"/>
              </a:lnSpc>
              <a:buFont typeface="Arial" panose="020B0604020202020204" pitchFamily="34" charset="0"/>
              <a:buChar char="•"/>
            </a:pPr>
            <a:r>
              <a:rPr lang="en-AU" sz="4400"/>
              <a:t>2 x 42</a:t>
            </a:r>
          </a:p>
          <a:p>
            <a:pPr marL="571500" indent="-571500">
              <a:lnSpc>
                <a:spcPct val="200000"/>
              </a:lnSpc>
              <a:buFont typeface="Arial" panose="020B0604020202020204" pitchFamily="34" charset="0"/>
              <a:buChar char="•"/>
            </a:pPr>
            <a:r>
              <a:rPr lang="en-AU" sz="4400"/>
              <a:t>6 x 157</a:t>
            </a:r>
          </a:p>
          <a:p>
            <a:pPr marL="571500" indent="-571500">
              <a:lnSpc>
                <a:spcPct val="200000"/>
              </a:lnSpc>
              <a:buFont typeface="Arial" panose="020B0604020202020204" pitchFamily="34" charset="0"/>
              <a:buChar char="•"/>
            </a:pPr>
            <a:r>
              <a:rPr lang="en-AU" sz="4400"/>
              <a:t>5 x 432</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4751ECC1-6077-80E8-B353-7A63C202D6A9}"/>
              </a:ext>
            </a:extLst>
          </p:cNvPr>
          <p:cNvSpPr txBox="1"/>
          <p:nvPr/>
        </p:nvSpPr>
        <p:spPr>
          <a:xfrm>
            <a:off x="396947" y="1437229"/>
            <a:ext cx="6900530" cy="721180"/>
          </a:xfrm>
          <a:prstGeom prst="rect">
            <a:avLst/>
          </a:prstGeom>
          <a:noFill/>
        </p:spPr>
        <p:txBody>
          <a:bodyPr wrap="square" lIns="0" tIns="0" rIns="0" bIns="0" rtlCol="0">
            <a:noAutofit/>
          </a:bodyPr>
          <a:lstStyle/>
          <a:p>
            <a:pPr algn="l"/>
            <a:r>
              <a:rPr lang="en-AU" sz="4400" b="1">
                <a:latin typeface="Arial" panose="020B0604020202020204" pitchFamily="34" charset="0"/>
                <a:cs typeface="Arial" panose="020B0604020202020204" pitchFamily="34" charset="0"/>
              </a:rPr>
              <a:t>Record</a:t>
            </a:r>
            <a:r>
              <a:rPr lang="en-AU" sz="4400">
                <a:latin typeface="Arial" panose="020B0604020202020204" pitchFamily="34" charset="0"/>
                <a:cs typeface="Arial" panose="020B0604020202020204" pitchFamily="34" charset="0"/>
              </a:rPr>
              <a:t> as </a:t>
            </a:r>
            <a:r>
              <a:rPr lang="en-AU" sz="4400" b="1">
                <a:latin typeface="Arial" panose="020B0604020202020204" pitchFamily="34" charset="0"/>
                <a:cs typeface="Arial" panose="020B0604020202020204" pitchFamily="34" charset="0"/>
              </a:rPr>
              <a:t>decimals:</a:t>
            </a:r>
          </a:p>
          <a:p>
            <a:pPr algn="l"/>
            <a:endParaRPr lang="en-AU" sz="440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33D55D2C-AEF5-BFE6-27BC-5903EEBB8234}"/>
              </a:ext>
            </a:extLst>
          </p:cNvPr>
          <p:cNvSpPr txBox="1"/>
          <p:nvPr/>
        </p:nvSpPr>
        <p:spPr>
          <a:xfrm>
            <a:off x="3356367" y="2721114"/>
            <a:ext cx="6097772" cy="707886"/>
          </a:xfrm>
          <a:prstGeom prst="rect">
            <a:avLst/>
          </a:prstGeom>
          <a:noFill/>
        </p:spPr>
        <p:txBody>
          <a:bodyPr wrap="square">
            <a:spAutoFit/>
          </a:bodyPr>
          <a:lstStyle/>
          <a:p>
            <a:pPr marL="571500" indent="-571500" algn="l">
              <a:buFont typeface="Arial" panose="020B0604020202020204" pitchFamily="34" charset="0"/>
              <a:buChar char="•"/>
            </a:pPr>
            <a:r>
              <a:rPr lang="en-AU" sz="4000">
                <a:latin typeface="Arial" panose="020B0604020202020204" pitchFamily="34" charset="0"/>
                <a:cs typeface="Arial" panose="020B0604020202020204" pitchFamily="34" charset="0"/>
              </a:rPr>
              <a:t> 5 and 37 hundredths</a:t>
            </a:r>
          </a:p>
        </p:txBody>
      </p:sp>
      <p:sp>
        <p:nvSpPr>
          <p:cNvPr id="16" name="TextBox 15">
            <a:extLst>
              <a:ext uri="{FF2B5EF4-FFF2-40B4-BE49-F238E27FC236}">
                <a16:creationId xmlns:a16="http://schemas.microsoft.com/office/drawing/2014/main" id="{3A7AB4F8-6BC2-3F9B-AB30-7EDE268B4F0A}"/>
              </a:ext>
            </a:extLst>
          </p:cNvPr>
          <p:cNvSpPr txBox="1"/>
          <p:nvPr/>
        </p:nvSpPr>
        <p:spPr>
          <a:xfrm>
            <a:off x="3356367" y="3900620"/>
            <a:ext cx="6454898" cy="707886"/>
          </a:xfrm>
          <a:prstGeom prst="rect">
            <a:avLst/>
          </a:prstGeom>
          <a:noFill/>
        </p:spPr>
        <p:txBody>
          <a:bodyPr wrap="square">
            <a:spAutoFit/>
          </a:bodyPr>
          <a:lstStyle/>
          <a:p>
            <a:pPr marL="571500" indent="-571500">
              <a:buFont typeface="Arial" panose="020B0604020202020204" pitchFamily="34" charset="0"/>
              <a:buChar char="•"/>
            </a:pPr>
            <a:r>
              <a:rPr lang="en-AU" sz="4000">
                <a:latin typeface="Arial" panose="020B0604020202020204" pitchFamily="34" charset="0"/>
                <a:cs typeface="Arial" panose="020B0604020202020204" pitchFamily="34" charset="0"/>
              </a:rPr>
              <a:t> 3 and 24 hundredths</a:t>
            </a:r>
            <a:endParaRPr lang="en-AU" sz="4000"/>
          </a:p>
        </p:txBody>
      </p:sp>
      <p:sp>
        <p:nvSpPr>
          <p:cNvPr id="18" name="TextBox 17">
            <a:extLst>
              <a:ext uri="{FF2B5EF4-FFF2-40B4-BE49-F238E27FC236}">
                <a16:creationId xmlns:a16="http://schemas.microsoft.com/office/drawing/2014/main" id="{B5B8BFFF-A4FB-B8EB-8199-D08E20745D67}"/>
              </a:ext>
            </a:extLst>
          </p:cNvPr>
          <p:cNvSpPr txBox="1"/>
          <p:nvPr/>
        </p:nvSpPr>
        <p:spPr>
          <a:xfrm>
            <a:off x="3356367" y="5001736"/>
            <a:ext cx="6097772" cy="707886"/>
          </a:xfrm>
          <a:prstGeom prst="rect">
            <a:avLst/>
          </a:prstGeom>
          <a:noFill/>
        </p:spPr>
        <p:txBody>
          <a:bodyPr wrap="square">
            <a:spAutoFit/>
          </a:bodyPr>
          <a:lstStyle/>
          <a:p>
            <a:pPr marL="571500" indent="-571500">
              <a:buFont typeface="Arial" panose="020B0604020202020204" pitchFamily="34" charset="0"/>
              <a:buChar char="•"/>
            </a:pPr>
            <a:r>
              <a:rPr lang="en-AU" sz="4000">
                <a:latin typeface="Arial" panose="020B0604020202020204" pitchFamily="34" charset="0"/>
                <a:cs typeface="Arial" panose="020B0604020202020204" pitchFamily="34" charset="0"/>
              </a:rPr>
              <a:t> 2 and 45 hundredths</a:t>
            </a:r>
            <a:endParaRPr lang="en-AU" sz="4000"/>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descr="Picture 2: image of a clipboard with a pencil recording short answer responses">
            <a:extLst>
              <a:ext uri="{FF2B5EF4-FFF2-40B4-BE49-F238E27FC236}">
                <a16:creationId xmlns:a16="http://schemas.microsoft.com/office/drawing/2014/main" id="{CDC9578D-E509-83DC-F7E6-82182EFDC994}"/>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97FD752-0CBB-4CA8-FE3E-9F21C24E7B99}"/>
              </a:ext>
            </a:extLst>
          </p:cNvPr>
          <p:cNvSpPr txBox="1"/>
          <p:nvPr/>
        </p:nvSpPr>
        <p:spPr>
          <a:xfrm>
            <a:off x="348000" y="1576088"/>
            <a:ext cx="11496000" cy="4761881"/>
          </a:xfrm>
          <a:prstGeom prst="rect">
            <a:avLst/>
          </a:prstGeom>
          <a:noFill/>
        </p:spPr>
        <p:txBody>
          <a:bodyPr wrap="square">
            <a:spAutoFit/>
          </a:bodyPr>
          <a:lstStyle/>
          <a:p>
            <a:pPr algn="ctr">
              <a:lnSpc>
                <a:spcPct val="150000"/>
              </a:lnSpc>
            </a:pPr>
            <a:r>
              <a:rPr lang="en-AU" sz="4400">
                <a:latin typeface="Arial" panose="020B0604020202020204" pitchFamily="34" charset="0"/>
                <a:cs typeface="Arial" panose="020B0604020202020204" pitchFamily="34" charset="0"/>
              </a:rPr>
              <a:t>Write a </a:t>
            </a:r>
            <a:r>
              <a:rPr lang="en-AU" sz="4400" b="1">
                <a:latin typeface="Arial" panose="020B0604020202020204" pitchFamily="34" charset="0"/>
                <a:cs typeface="Arial" panose="020B0604020202020204" pitchFamily="34" charset="0"/>
              </a:rPr>
              <a:t>survey question </a:t>
            </a:r>
            <a:r>
              <a:rPr lang="en-AU" sz="4400">
                <a:latin typeface="Arial" panose="020B0604020202020204" pitchFamily="34" charset="0"/>
                <a:cs typeface="Arial" panose="020B0604020202020204" pitchFamily="34" charset="0"/>
              </a:rPr>
              <a:t>about</a:t>
            </a:r>
            <a:r>
              <a:rPr lang="en-AU" sz="4400" b="1">
                <a:latin typeface="Arial" panose="020B0604020202020204" pitchFamily="34" charset="0"/>
                <a:cs typeface="Arial" panose="020B0604020202020204" pitchFamily="34" charset="0"/>
              </a:rPr>
              <a:t> students' preferences </a:t>
            </a:r>
            <a:r>
              <a:rPr lang="en-AU" sz="4400">
                <a:latin typeface="Arial" panose="020B0604020202020204" pitchFamily="34" charset="0"/>
                <a:cs typeface="Arial" panose="020B0604020202020204" pitchFamily="34" charset="0"/>
              </a:rPr>
              <a:t>for after school activities</a:t>
            </a:r>
            <a:r>
              <a:rPr lang="en-AU" sz="4400" b="1">
                <a:latin typeface="Arial" panose="020B0604020202020204" pitchFamily="34" charset="0"/>
                <a:cs typeface="Arial" panose="020B0604020202020204" pitchFamily="34" charset="0"/>
              </a:rPr>
              <a:t> </a:t>
            </a:r>
            <a:r>
              <a:rPr lang="en-AU" sz="4400">
                <a:latin typeface="Arial" panose="020B0604020202020204" pitchFamily="34" charset="0"/>
                <a:cs typeface="Arial" panose="020B0604020202020204" pitchFamily="34" charset="0"/>
              </a:rPr>
              <a:t>that uses this Likert scale:</a:t>
            </a:r>
          </a:p>
          <a:p>
            <a:pPr algn="ctr">
              <a:lnSpc>
                <a:spcPct val="150000"/>
              </a:lnSpc>
            </a:pPr>
            <a:endParaRPr lang="en-AU" sz="4400">
              <a:latin typeface="Arial" panose="020B0604020202020204" pitchFamily="34" charset="0"/>
              <a:cs typeface="Arial" panose="020B0604020202020204" pitchFamily="34" charset="0"/>
            </a:endParaRPr>
          </a:p>
          <a:p>
            <a:pPr algn="ctr">
              <a:lnSpc>
                <a:spcPct val="150000"/>
              </a:lnSpc>
            </a:pPr>
            <a:r>
              <a:rPr lang="en-AU" sz="3000"/>
              <a:t>1 = don't like, 2 = like a little, 3 = don't know, 4 = like, 5 = like a lot</a:t>
            </a:r>
            <a:endParaRPr lang="en-AU" sz="300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descr="Picture 2: image of a clipboard with a pencil recording short answer responses">
            <a:extLst>
              <a:ext uri="{FF2B5EF4-FFF2-40B4-BE49-F238E27FC236}">
                <a16:creationId xmlns:a16="http://schemas.microsoft.com/office/drawing/2014/main" id="{4F225E6B-742A-E393-5D68-B394EB858BAC}"/>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9B3D107-A272-38F2-DA24-953414664C79}"/>
              </a:ext>
            </a:extLst>
          </p:cNvPr>
          <p:cNvSpPr txBox="1"/>
          <p:nvPr/>
        </p:nvSpPr>
        <p:spPr>
          <a:xfrm>
            <a:off x="495301" y="1611687"/>
            <a:ext cx="11450675" cy="2681712"/>
          </a:xfrm>
          <a:prstGeom prst="rect">
            <a:avLst/>
          </a:prstGeom>
          <a:noFill/>
        </p:spPr>
        <p:txBody>
          <a:bodyPr wrap="square" lIns="0" tIns="0" rIns="0" bIns="0" rtlCol="0">
            <a:noAutofit/>
          </a:bodyPr>
          <a:lstStyle/>
          <a:p>
            <a:pPr marL="0" marR="0" lvl="0" indent="0" algn="ctr"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lang="en-AU" sz="4400">
                <a:solidFill>
                  <a:srgbClr val="22272B"/>
                </a:solidFill>
                <a:latin typeface="Arial"/>
                <a:cs typeface="Arial"/>
              </a:rPr>
              <a:t>Mia</a:t>
            </a:r>
            <a:r>
              <a:rPr kumimoji="0" lang="en-AU" sz="4400" b="0" i="0" u="none" strike="noStrike" kern="1200" cap="none" spc="0" normalizeH="0" baseline="0" noProof="0">
                <a:ln>
                  <a:noFill/>
                </a:ln>
                <a:solidFill>
                  <a:srgbClr val="22272B"/>
                </a:solidFill>
                <a:effectLst/>
                <a:uLnTx/>
                <a:uFillTx/>
                <a:latin typeface="Arial"/>
                <a:ea typeface="+mn-ea"/>
                <a:cs typeface="Arial"/>
              </a:rPr>
              <a:t> says, ‘</a:t>
            </a:r>
            <a:r>
              <a:rPr lang="en-AU" sz="4400">
                <a:solidFill>
                  <a:srgbClr val="22272B"/>
                </a:solidFill>
                <a:latin typeface="Arial" panose="020B0604020202020204" pitchFamily="34" charset="0"/>
                <a:cs typeface="Arial" panose="020B0604020202020204" pitchFamily="34" charset="0"/>
              </a:rPr>
              <a:t>A right angle is greater in size than all acute angles</a:t>
            </a: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a:t>
            </a:r>
          </a:p>
          <a:p>
            <a:pPr marL="0" marR="0" lvl="0" indent="0" algn="ctr"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440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Is Mia correct? </a:t>
            </a:r>
          </a:p>
          <a:p>
            <a:pPr marL="0" marR="0" lvl="0" indent="0" algn="ctr"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lang="en-AU" sz="4400" b="1">
                <a:solidFill>
                  <a:srgbClr val="22272B"/>
                </a:solidFill>
                <a:latin typeface="Arial" panose="020B0604020202020204" pitchFamily="34" charset="0"/>
                <a:cs typeface="Arial" panose="020B0604020202020204" pitchFamily="34" charset="0"/>
              </a:rPr>
              <a:t>Communicate </a:t>
            </a:r>
            <a:r>
              <a:rPr lang="en-AU" sz="4400">
                <a:solidFill>
                  <a:srgbClr val="22272B"/>
                </a:solidFill>
                <a:latin typeface="Arial" panose="020B0604020202020204" pitchFamily="34" charset="0"/>
                <a:cs typeface="Arial" panose="020B0604020202020204" pitchFamily="34" charset="0"/>
              </a:rPr>
              <a:t>your </a:t>
            </a:r>
            <a:r>
              <a:rPr lang="en-AU" sz="4400" b="1">
                <a:solidFill>
                  <a:srgbClr val="22272B"/>
                </a:solidFill>
                <a:latin typeface="Arial" panose="020B0604020202020204" pitchFamily="34" charset="0"/>
                <a:cs typeface="Arial" panose="020B0604020202020204" pitchFamily="34" charset="0"/>
              </a:rPr>
              <a:t>thinking</a:t>
            </a:r>
            <a:r>
              <a:rPr lang="en-AU" sz="4400">
                <a:solidFill>
                  <a:srgbClr val="22272B"/>
                </a:solidFill>
                <a:latin typeface="Arial" panose="020B0604020202020204" pitchFamily="34" charset="0"/>
                <a:cs typeface="Arial" panose="020B0604020202020204" pitchFamily="34" charset="0"/>
              </a:rPr>
              <a:t>.</a:t>
            </a:r>
            <a:endParaRPr kumimoji="0" lang="en-AU" sz="4400" i="0" u="none" strike="noStrike" kern="1200" cap="none" spc="0" normalizeH="0" baseline="0" noProof="0">
              <a:ln>
                <a:noFill/>
              </a:ln>
              <a:solidFill>
                <a:srgbClr val="22272B"/>
              </a:solidFill>
              <a:effectLst/>
              <a:uLnTx/>
              <a:uFillTx/>
              <a:latin typeface="Arial"/>
              <a:ea typeface="+mn-ea"/>
              <a:cs typeface="Arial"/>
            </a:endParaRP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a:xfrm>
            <a:off x="11128226" y="6589277"/>
            <a:ext cx="720000" cy="180000"/>
          </a:xfrm>
        </p:spPr>
        <p:txBody>
          <a:bodyPr/>
          <a:lstStyle/>
          <a:p>
            <a:fld id="{10A01DC5-1685-4615-8240-15192985C6A2}" type="slidenum">
              <a:rPr lang="en-AU" smtClean="0"/>
              <a:t>25</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regrouping and partitioning numbers (1)</a:t>
            </a:r>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ADB780F0-57ED-3564-3FB0-8F1F13C5BA43}"/>
              </a:ext>
            </a:extLst>
          </p:cNvPr>
          <p:cNvSpPr txBox="1"/>
          <p:nvPr/>
        </p:nvSpPr>
        <p:spPr>
          <a:xfrm>
            <a:off x="251011" y="1892522"/>
            <a:ext cx="3911556" cy="3509684"/>
          </a:xfrm>
          <a:prstGeom prst="rect">
            <a:avLst/>
          </a:prstGeom>
          <a:noFill/>
        </p:spPr>
        <p:txBody>
          <a:bodyPr wrap="square" lIns="0" tIns="0" rIns="0" bIns="0" rtlCol="0">
            <a:noAutofit/>
          </a:bodyPr>
          <a:lstStyle/>
          <a:p>
            <a:pPr algn="l">
              <a:lnSpc>
                <a:spcPct val="150000"/>
              </a:lnSpc>
            </a:pPr>
            <a:r>
              <a:rPr lang="en-AU" sz="3600"/>
              <a:t>Which </a:t>
            </a:r>
            <a:r>
              <a:rPr lang="en-AU" sz="3600" b="1"/>
              <a:t>standard</a:t>
            </a:r>
            <a:r>
              <a:rPr lang="en-AU" sz="3600"/>
              <a:t> and </a:t>
            </a:r>
            <a:r>
              <a:rPr lang="en-AU" sz="3600" b="1"/>
              <a:t>non-standard</a:t>
            </a:r>
            <a:r>
              <a:rPr lang="en-AU" sz="3600"/>
              <a:t> </a:t>
            </a:r>
            <a:r>
              <a:rPr lang="en-AU" sz="3600" b="1"/>
              <a:t>partition</a:t>
            </a:r>
            <a:r>
              <a:rPr lang="en-AU" sz="3600"/>
              <a:t> displayed are </a:t>
            </a:r>
            <a:r>
              <a:rPr lang="en-AU" sz="3600" b="1"/>
              <a:t>correct </a:t>
            </a:r>
            <a:r>
              <a:rPr lang="en-AU" sz="3600"/>
              <a:t>and which are </a:t>
            </a:r>
            <a:r>
              <a:rPr lang="en-AU" sz="3600" b="1"/>
              <a:t>not</a:t>
            </a:r>
            <a:r>
              <a:rPr lang="en-AU" sz="3600"/>
              <a:t>?</a:t>
            </a:r>
          </a:p>
        </p:txBody>
      </p:sp>
      <p:graphicFrame>
        <p:nvGraphicFramePr>
          <p:cNvPr id="9" name="Table 8">
            <a:extLst>
              <a:ext uri="{FF2B5EF4-FFF2-40B4-BE49-F238E27FC236}">
                <a16:creationId xmlns:a16="http://schemas.microsoft.com/office/drawing/2014/main" id="{174CAFC2-5954-CAD2-ECBB-61C244B445A6}"/>
              </a:ext>
            </a:extLst>
          </p:cNvPr>
          <p:cNvGraphicFramePr>
            <a:graphicFrameLocks noGrp="1"/>
          </p:cNvGraphicFramePr>
          <p:nvPr>
            <p:extLst>
              <p:ext uri="{D42A27DB-BD31-4B8C-83A1-F6EECF244321}">
                <p14:modId xmlns:p14="http://schemas.microsoft.com/office/powerpoint/2010/main" val="1416829493"/>
              </p:ext>
            </p:extLst>
          </p:nvPr>
        </p:nvGraphicFramePr>
        <p:xfrm>
          <a:off x="4518212" y="1580293"/>
          <a:ext cx="7422777" cy="4917709"/>
        </p:xfrm>
        <a:graphic>
          <a:graphicData uri="http://schemas.openxmlformats.org/drawingml/2006/table">
            <a:tbl>
              <a:tblPr firstRow="1" firstCol="1" bandRow="1"/>
              <a:tblGrid>
                <a:gridCol w="914486">
                  <a:extLst>
                    <a:ext uri="{9D8B030D-6E8A-4147-A177-3AD203B41FA5}">
                      <a16:colId xmlns:a16="http://schemas.microsoft.com/office/drawing/2014/main" val="2065472921"/>
                    </a:ext>
                  </a:extLst>
                </a:gridCol>
                <a:gridCol w="2891031">
                  <a:extLst>
                    <a:ext uri="{9D8B030D-6E8A-4147-A177-3AD203B41FA5}">
                      <a16:colId xmlns:a16="http://schemas.microsoft.com/office/drawing/2014/main" val="149483454"/>
                    </a:ext>
                  </a:extLst>
                </a:gridCol>
                <a:gridCol w="780274">
                  <a:extLst>
                    <a:ext uri="{9D8B030D-6E8A-4147-A177-3AD203B41FA5}">
                      <a16:colId xmlns:a16="http://schemas.microsoft.com/office/drawing/2014/main" val="302234315"/>
                    </a:ext>
                  </a:extLst>
                </a:gridCol>
                <a:gridCol w="2836986">
                  <a:extLst>
                    <a:ext uri="{9D8B030D-6E8A-4147-A177-3AD203B41FA5}">
                      <a16:colId xmlns:a16="http://schemas.microsoft.com/office/drawing/2014/main" val="1987084274"/>
                    </a:ext>
                  </a:extLst>
                </a:gridCol>
              </a:tblGrid>
              <a:tr h="724049">
                <a:tc>
                  <a:txBody>
                    <a:bodyPr/>
                    <a:lstStyle/>
                    <a:p>
                      <a:pPr>
                        <a:lnSpc>
                          <a:spcPct val="150000"/>
                        </a:lnSpc>
                        <a:spcBef>
                          <a:spcPts val="1200"/>
                        </a:spcBef>
                        <a:spcAft>
                          <a:spcPts val="600"/>
                        </a:spcAft>
                        <a:buNone/>
                      </a:pPr>
                      <a:r>
                        <a:rPr lang="en-AU" sz="1400" b="1">
                          <a:solidFill>
                            <a:srgbClr val="FFFFFF"/>
                          </a:solidFill>
                          <a:effectLst/>
                          <a:latin typeface="Arial" panose="020B0604020202020204" pitchFamily="34" charset="0"/>
                          <a:ea typeface="Calibri" panose="020F0502020204030204" pitchFamily="34" charset="0"/>
                          <a:cs typeface="Arial" panose="020B0604020202020204" pitchFamily="34" charset="0"/>
                        </a:rPr>
                        <a:t>Number</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400" b="1">
                          <a:solidFill>
                            <a:srgbClr val="FFFFFF"/>
                          </a:solidFill>
                          <a:effectLst/>
                          <a:latin typeface="Arial" panose="020B0604020202020204" pitchFamily="34" charset="0"/>
                          <a:ea typeface="Calibri" panose="020F0502020204030204" pitchFamily="34" charset="0"/>
                          <a:cs typeface="Arial" panose="020B0604020202020204" pitchFamily="34" charset="0"/>
                        </a:rPr>
                        <a:t>Standard or non-standard partitioning</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400" b="1">
                          <a:solidFill>
                            <a:srgbClr val="FFFFFF"/>
                          </a:solidFill>
                          <a:effectLst/>
                          <a:latin typeface="Arial" panose="020B0604020202020204" pitchFamily="34" charset="0"/>
                          <a:ea typeface="Calibri" panose="020F0502020204030204" pitchFamily="34" charset="0"/>
                          <a:cs typeface="Arial" panose="020B0604020202020204" pitchFamily="34" charset="0"/>
                        </a:rPr>
                        <a:t>Correct or not?</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400" b="1">
                          <a:solidFill>
                            <a:srgbClr val="FFFFFF"/>
                          </a:solidFill>
                          <a:effectLst/>
                          <a:latin typeface="Arial" panose="020B0604020202020204" pitchFamily="34" charset="0"/>
                          <a:ea typeface="Calibri" panose="020F0502020204030204" pitchFamily="34" charset="0"/>
                          <a:cs typeface="Arial" panose="020B0604020202020204" pitchFamily="34" charset="0"/>
                        </a:rPr>
                        <a:t>Correct partitioning</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776203432"/>
                  </a:ext>
                </a:extLst>
              </a:tr>
              <a:tr h="1048415">
                <a:tc>
                  <a:txBody>
                    <a:bodyPr/>
                    <a:lstStyle/>
                    <a:p>
                      <a:pPr>
                        <a:lnSpc>
                          <a:spcPct val="150000"/>
                        </a:lnSpc>
                        <a:spcBef>
                          <a:spcPts val="1200"/>
                        </a:spcBef>
                        <a:spcAft>
                          <a:spcPts val="600"/>
                        </a:spcAft>
                        <a:buNone/>
                      </a:pPr>
                      <a:r>
                        <a:rPr lang="en-AU" sz="1400" b="1">
                          <a:effectLst/>
                          <a:latin typeface="Arial" panose="020B0604020202020204" pitchFamily="34" charset="0"/>
                          <a:ea typeface="Calibri" panose="020F0502020204030204" pitchFamily="34" charset="0"/>
                          <a:cs typeface="Arial" panose="020B0604020202020204" pitchFamily="34" charset="0"/>
                        </a:rPr>
                        <a:t>472 305</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400 000 + 70 000 + 2000 + 300 +5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609242"/>
                  </a:ext>
                </a:extLst>
              </a:tr>
              <a:tr h="1048415">
                <a:tc>
                  <a:txBody>
                    <a:bodyPr/>
                    <a:lstStyle/>
                    <a:p>
                      <a:pPr>
                        <a:lnSpc>
                          <a:spcPct val="150000"/>
                        </a:lnSpc>
                        <a:spcBef>
                          <a:spcPts val="1200"/>
                        </a:spcBef>
                        <a:spcAft>
                          <a:spcPts val="600"/>
                        </a:spcAft>
                        <a:buNone/>
                      </a:pPr>
                      <a:r>
                        <a:rPr lang="en-AU" sz="1400" b="1">
                          <a:effectLst/>
                          <a:latin typeface="Arial" panose="020B0604020202020204" pitchFamily="34" charset="0"/>
                          <a:ea typeface="Calibri" panose="020F0502020204030204" pitchFamily="34" charset="0"/>
                          <a:cs typeface="Arial" panose="020B0604020202020204" pitchFamily="34" charset="0"/>
                        </a:rPr>
                        <a:t>639 214</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630 000 + 9000 + 200 +12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1606302"/>
                  </a:ext>
                </a:extLst>
              </a:tr>
              <a:tr h="1048415">
                <a:tc>
                  <a:txBody>
                    <a:bodyPr/>
                    <a:lstStyle/>
                    <a:p>
                      <a:pPr>
                        <a:lnSpc>
                          <a:spcPct val="150000"/>
                        </a:lnSpc>
                        <a:spcBef>
                          <a:spcPts val="1200"/>
                        </a:spcBef>
                        <a:spcAft>
                          <a:spcPts val="600"/>
                        </a:spcAft>
                        <a:buNone/>
                      </a:pPr>
                      <a:r>
                        <a:rPr lang="en-AU" sz="1400" b="1">
                          <a:effectLst/>
                          <a:latin typeface="Arial" panose="020B0604020202020204" pitchFamily="34" charset="0"/>
                          <a:ea typeface="Calibri" panose="020F0502020204030204" pitchFamily="34" charset="0"/>
                          <a:cs typeface="Arial" panose="020B0604020202020204" pitchFamily="34" charset="0"/>
                        </a:rPr>
                        <a:t>581 406</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581 thousands and 406 ones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0592662"/>
                  </a:ext>
                </a:extLst>
              </a:tr>
              <a:tr h="1048415">
                <a:tc>
                  <a:txBody>
                    <a:bodyPr/>
                    <a:lstStyle/>
                    <a:p>
                      <a:pPr>
                        <a:lnSpc>
                          <a:spcPct val="150000"/>
                        </a:lnSpc>
                        <a:spcBef>
                          <a:spcPts val="1200"/>
                        </a:spcBef>
                        <a:spcAft>
                          <a:spcPts val="600"/>
                        </a:spcAft>
                        <a:buNone/>
                      </a:pPr>
                      <a:r>
                        <a:rPr lang="en-AU" sz="1400" b="1">
                          <a:effectLst/>
                          <a:latin typeface="Arial" panose="020B0604020202020204" pitchFamily="34" charset="0"/>
                          <a:ea typeface="Calibri" panose="020F0502020204030204" pitchFamily="34" charset="0"/>
                          <a:cs typeface="Arial" panose="020B0604020202020204" pitchFamily="34" charset="0"/>
                        </a:rPr>
                        <a:t>427 138</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400 000 + 27 000 + 1380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5279208"/>
                  </a:ext>
                </a:extLst>
              </a:tr>
            </a:tbl>
          </a:graphicData>
        </a:graphic>
      </p:graphicFrame>
      <p:sp>
        <p:nvSpPr>
          <p:cNvPr id="10" name="Slide Number Placeholder 1">
            <a:extLst>
              <a:ext uri="{FF2B5EF4-FFF2-40B4-BE49-F238E27FC236}">
                <a16:creationId xmlns:a16="http://schemas.microsoft.com/office/drawing/2014/main" id="{0E61C874-5240-4077-C0B2-D76A7237795F}"/>
              </a:ext>
              <a:ext uri="{C183D7F6-B498-43B3-948B-1728B52AA6E4}">
                <adec:decorative xmlns:adec="http://schemas.microsoft.com/office/drawing/2017/decorative" val="1"/>
              </a:ext>
            </a:extLst>
          </p:cNvPr>
          <p:cNvSpPr>
            <a:spLocks noGrp="1"/>
          </p:cNvSpPr>
          <p:nvPr>
            <p:ph type="sldNum" sz="quarter" idx="12"/>
          </p:nvPr>
        </p:nvSpPr>
        <p:spPr>
          <a:xfrm>
            <a:off x="11128226" y="6589277"/>
            <a:ext cx="720000" cy="180000"/>
          </a:xfrm>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F91EA-5B9F-5D5C-4748-2D59C2A64B9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3337B5F-AAEC-383C-A335-571ECC708AB5}"/>
              </a:ext>
            </a:extLst>
          </p:cNvPr>
          <p:cNvSpPr>
            <a:spLocks noGrp="1"/>
          </p:cNvSpPr>
          <p:nvPr>
            <p:ph type="title"/>
          </p:nvPr>
        </p:nvSpPr>
        <p:spPr>
          <a:xfrm>
            <a:off x="360000" y="360000"/>
            <a:ext cx="10367268" cy="545601"/>
          </a:xfrm>
        </p:spPr>
        <p:txBody>
          <a:bodyPr/>
          <a:lstStyle/>
          <a:p>
            <a:r>
              <a:rPr lang="en-AU"/>
              <a:t>Activity 3 – regrouping and partitioning numbers (2)</a:t>
            </a:r>
          </a:p>
        </p:txBody>
      </p:sp>
      <p:pic>
        <p:nvPicPr>
          <p:cNvPr id="4" name="Picture 3" descr="image of a head with cogs turning inside">
            <a:extLst>
              <a:ext uri="{FF2B5EF4-FFF2-40B4-BE49-F238E27FC236}">
                <a16:creationId xmlns:a16="http://schemas.microsoft.com/office/drawing/2014/main" id="{3EAE9F04-6732-CB1F-96A4-7BF64E1C29B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1" name="TextBox 10">
            <a:extLst>
              <a:ext uri="{FF2B5EF4-FFF2-40B4-BE49-F238E27FC236}">
                <a16:creationId xmlns:a16="http://schemas.microsoft.com/office/drawing/2014/main" id="{7FA635D0-E669-44A5-4E2E-18922DA4AD8F}"/>
              </a:ext>
            </a:extLst>
          </p:cNvPr>
          <p:cNvSpPr txBox="1"/>
          <p:nvPr/>
        </p:nvSpPr>
        <p:spPr>
          <a:xfrm>
            <a:off x="251011" y="1892522"/>
            <a:ext cx="3911556" cy="3509684"/>
          </a:xfrm>
          <a:prstGeom prst="rect">
            <a:avLst/>
          </a:prstGeom>
          <a:noFill/>
        </p:spPr>
        <p:txBody>
          <a:bodyPr wrap="square" lIns="0" tIns="0" rIns="0" bIns="0" rtlCol="0">
            <a:noAutofit/>
          </a:bodyPr>
          <a:lstStyle/>
          <a:p>
            <a:pPr algn="l">
              <a:lnSpc>
                <a:spcPct val="150000"/>
              </a:lnSpc>
            </a:pPr>
            <a:r>
              <a:rPr lang="en-AU" sz="3600"/>
              <a:t>Which </a:t>
            </a:r>
            <a:r>
              <a:rPr lang="en-AU" sz="3600" b="1"/>
              <a:t>standard</a:t>
            </a:r>
            <a:r>
              <a:rPr lang="en-AU" sz="3600"/>
              <a:t> and </a:t>
            </a:r>
            <a:r>
              <a:rPr lang="en-AU" sz="3600" b="1"/>
              <a:t>non-standard</a:t>
            </a:r>
            <a:r>
              <a:rPr lang="en-AU" sz="3600"/>
              <a:t> </a:t>
            </a:r>
            <a:r>
              <a:rPr lang="en-AU" sz="3600" b="1"/>
              <a:t>partition</a:t>
            </a:r>
            <a:r>
              <a:rPr lang="en-AU" sz="3600"/>
              <a:t> displayed are </a:t>
            </a:r>
            <a:r>
              <a:rPr lang="en-AU" sz="3600" b="1"/>
              <a:t>correct </a:t>
            </a:r>
            <a:r>
              <a:rPr lang="en-AU" sz="3600"/>
              <a:t>and which are </a:t>
            </a:r>
            <a:r>
              <a:rPr lang="en-AU" sz="3600" b="1"/>
              <a:t>not</a:t>
            </a:r>
            <a:r>
              <a:rPr lang="en-AU" sz="3600"/>
              <a:t>?</a:t>
            </a:r>
          </a:p>
        </p:txBody>
      </p:sp>
      <p:graphicFrame>
        <p:nvGraphicFramePr>
          <p:cNvPr id="9" name="Table 8">
            <a:extLst>
              <a:ext uri="{FF2B5EF4-FFF2-40B4-BE49-F238E27FC236}">
                <a16:creationId xmlns:a16="http://schemas.microsoft.com/office/drawing/2014/main" id="{D9E443E7-3C79-8806-41C7-F8795EC105D3}"/>
              </a:ext>
            </a:extLst>
          </p:cNvPr>
          <p:cNvGraphicFramePr>
            <a:graphicFrameLocks noGrp="1"/>
          </p:cNvGraphicFramePr>
          <p:nvPr>
            <p:extLst>
              <p:ext uri="{D42A27DB-BD31-4B8C-83A1-F6EECF244321}">
                <p14:modId xmlns:p14="http://schemas.microsoft.com/office/powerpoint/2010/main" val="479714368"/>
              </p:ext>
            </p:extLst>
          </p:nvPr>
        </p:nvGraphicFramePr>
        <p:xfrm>
          <a:off x="4518212" y="1580293"/>
          <a:ext cx="7422777" cy="4917709"/>
        </p:xfrm>
        <a:graphic>
          <a:graphicData uri="http://schemas.openxmlformats.org/drawingml/2006/table">
            <a:tbl>
              <a:tblPr firstRow="1" firstCol="1" bandRow="1"/>
              <a:tblGrid>
                <a:gridCol w="914486">
                  <a:extLst>
                    <a:ext uri="{9D8B030D-6E8A-4147-A177-3AD203B41FA5}">
                      <a16:colId xmlns:a16="http://schemas.microsoft.com/office/drawing/2014/main" val="2065472921"/>
                    </a:ext>
                  </a:extLst>
                </a:gridCol>
                <a:gridCol w="2891031">
                  <a:extLst>
                    <a:ext uri="{9D8B030D-6E8A-4147-A177-3AD203B41FA5}">
                      <a16:colId xmlns:a16="http://schemas.microsoft.com/office/drawing/2014/main" val="149483454"/>
                    </a:ext>
                  </a:extLst>
                </a:gridCol>
                <a:gridCol w="780274">
                  <a:extLst>
                    <a:ext uri="{9D8B030D-6E8A-4147-A177-3AD203B41FA5}">
                      <a16:colId xmlns:a16="http://schemas.microsoft.com/office/drawing/2014/main" val="302234315"/>
                    </a:ext>
                  </a:extLst>
                </a:gridCol>
                <a:gridCol w="2836986">
                  <a:extLst>
                    <a:ext uri="{9D8B030D-6E8A-4147-A177-3AD203B41FA5}">
                      <a16:colId xmlns:a16="http://schemas.microsoft.com/office/drawing/2014/main" val="1987084274"/>
                    </a:ext>
                  </a:extLst>
                </a:gridCol>
              </a:tblGrid>
              <a:tr h="724049">
                <a:tc>
                  <a:txBody>
                    <a:bodyPr/>
                    <a:lstStyle/>
                    <a:p>
                      <a:pPr>
                        <a:lnSpc>
                          <a:spcPct val="150000"/>
                        </a:lnSpc>
                        <a:spcBef>
                          <a:spcPts val="1200"/>
                        </a:spcBef>
                        <a:spcAft>
                          <a:spcPts val="600"/>
                        </a:spcAft>
                        <a:buNone/>
                      </a:pPr>
                      <a:r>
                        <a:rPr lang="en-AU" sz="1400" b="1">
                          <a:solidFill>
                            <a:srgbClr val="FFFFFF"/>
                          </a:solidFill>
                          <a:effectLst/>
                          <a:latin typeface="Arial" panose="020B0604020202020204" pitchFamily="34" charset="0"/>
                          <a:ea typeface="Calibri" panose="020F0502020204030204" pitchFamily="34" charset="0"/>
                          <a:cs typeface="Arial" panose="020B0604020202020204" pitchFamily="34" charset="0"/>
                        </a:rPr>
                        <a:t>Number</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400" b="1">
                          <a:solidFill>
                            <a:srgbClr val="FFFFFF"/>
                          </a:solidFill>
                          <a:effectLst/>
                          <a:latin typeface="Arial" panose="020B0604020202020204" pitchFamily="34" charset="0"/>
                          <a:ea typeface="Calibri" panose="020F0502020204030204" pitchFamily="34" charset="0"/>
                          <a:cs typeface="Arial" panose="020B0604020202020204" pitchFamily="34" charset="0"/>
                        </a:rPr>
                        <a:t>Standard or non-standard partitioning</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400" b="1">
                          <a:solidFill>
                            <a:srgbClr val="FFFFFF"/>
                          </a:solidFill>
                          <a:effectLst/>
                          <a:latin typeface="Arial" panose="020B0604020202020204" pitchFamily="34" charset="0"/>
                          <a:ea typeface="Calibri" panose="020F0502020204030204" pitchFamily="34" charset="0"/>
                          <a:cs typeface="Arial" panose="020B0604020202020204" pitchFamily="34" charset="0"/>
                        </a:rPr>
                        <a:t>Correct or not?</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nSpc>
                          <a:spcPct val="150000"/>
                        </a:lnSpc>
                        <a:spcBef>
                          <a:spcPts val="1200"/>
                        </a:spcBef>
                        <a:spcAft>
                          <a:spcPts val="600"/>
                        </a:spcAft>
                        <a:buNone/>
                      </a:pPr>
                      <a:r>
                        <a:rPr lang="en-AU" sz="1400" b="1">
                          <a:solidFill>
                            <a:srgbClr val="FFFFFF"/>
                          </a:solidFill>
                          <a:effectLst/>
                          <a:latin typeface="Arial" panose="020B0604020202020204" pitchFamily="34" charset="0"/>
                          <a:ea typeface="Calibri" panose="020F0502020204030204" pitchFamily="34" charset="0"/>
                          <a:cs typeface="Arial" panose="020B0604020202020204" pitchFamily="34" charset="0"/>
                        </a:rPr>
                        <a:t>Correct partitioning</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776203432"/>
                  </a:ext>
                </a:extLst>
              </a:tr>
              <a:tr h="1048415">
                <a:tc>
                  <a:txBody>
                    <a:bodyPr/>
                    <a:lstStyle/>
                    <a:p>
                      <a:pPr>
                        <a:lnSpc>
                          <a:spcPct val="150000"/>
                        </a:lnSpc>
                        <a:spcBef>
                          <a:spcPts val="1200"/>
                        </a:spcBef>
                        <a:spcAft>
                          <a:spcPts val="600"/>
                        </a:spcAft>
                        <a:buNone/>
                      </a:pPr>
                      <a:r>
                        <a:rPr lang="en-AU" sz="1400" b="1">
                          <a:effectLst/>
                          <a:latin typeface="Arial" panose="020B0604020202020204" pitchFamily="34" charset="0"/>
                          <a:ea typeface="Calibri" panose="020F0502020204030204" pitchFamily="34" charset="0"/>
                          <a:cs typeface="Arial" panose="020B0604020202020204" pitchFamily="34" charset="0"/>
                        </a:rPr>
                        <a:t>506 709</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500 thousands, 6 thousands, 7 hundreds and 9 ones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6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6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609242"/>
                  </a:ext>
                </a:extLst>
              </a:tr>
              <a:tr h="1048415">
                <a:tc>
                  <a:txBody>
                    <a:bodyPr/>
                    <a:lstStyle/>
                    <a:p>
                      <a:pPr>
                        <a:lnSpc>
                          <a:spcPct val="150000"/>
                        </a:lnSpc>
                        <a:spcBef>
                          <a:spcPts val="1200"/>
                        </a:spcBef>
                        <a:spcAft>
                          <a:spcPts val="600"/>
                        </a:spcAft>
                        <a:buNone/>
                      </a:pPr>
                      <a:r>
                        <a:rPr lang="en-AU" sz="1400" b="1">
                          <a:effectLst/>
                          <a:latin typeface="Arial" panose="020B0604020202020204" pitchFamily="34" charset="0"/>
                          <a:ea typeface="Calibri" panose="020F0502020204030204" pitchFamily="34" charset="0"/>
                          <a:cs typeface="Arial" panose="020B0604020202020204" pitchFamily="34" charset="0"/>
                        </a:rPr>
                        <a:t>345 672</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340 thousands, 6 thousands and 672 ones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6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6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1606302"/>
                  </a:ext>
                </a:extLst>
              </a:tr>
              <a:tr h="1048415">
                <a:tc>
                  <a:txBody>
                    <a:bodyPr/>
                    <a:lstStyle/>
                    <a:p>
                      <a:pPr>
                        <a:lnSpc>
                          <a:spcPct val="150000"/>
                        </a:lnSpc>
                        <a:spcBef>
                          <a:spcPts val="1200"/>
                        </a:spcBef>
                        <a:spcAft>
                          <a:spcPts val="600"/>
                        </a:spcAft>
                        <a:buNone/>
                      </a:pPr>
                      <a:r>
                        <a:rPr lang="en-AU" sz="1400" b="1">
                          <a:effectLst/>
                          <a:latin typeface="Arial" panose="020B0604020202020204" pitchFamily="34" charset="0"/>
                          <a:ea typeface="Calibri" panose="020F0502020204030204" pitchFamily="34" charset="0"/>
                          <a:cs typeface="Arial" panose="020B0604020202020204" pitchFamily="34" charset="0"/>
                        </a:rPr>
                        <a:t>586 120</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580 000 + 6120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6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6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0592662"/>
                  </a:ext>
                </a:extLst>
              </a:tr>
              <a:tr h="1048415">
                <a:tc>
                  <a:txBody>
                    <a:bodyPr/>
                    <a:lstStyle/>
                    <a:p>
                      <a:pPr>
                        <a:lnSpc>
                          <a:spcPct val="150000"/>
                        </a:lnSpc>
                        <a:spcBef>
                          <a:spcPts val="1200"/>
                        </a:spcBef>
                        <a:spcAft>
                          <a:spcPts val="600"/>
                        </a:spcAft>
                        <a:buNone/>
                      </a:pPr>
                      <a:r>
                        <a:rPr lang="en-AU" sz="1400" b="1">
                          <a:effectLst/>
                          <a:latin typeface="Arial" panose="020B0604020202020204" pitchFamily="34" charset="0"/>
                          <a:ea typeface="Calibri" panose="020F0502020204030204" pitchFamily="34" charset="0"/>
                          <a:cs typeface="Arial" panose="020B0604020202020204" pitchFamily="34" charset="0"/>
                        </a:rPr>
                        <a:t>493 208</a:t>
                      </a:r>
                      <a:endParaRPr lang="en-AU"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cs typeface="Arial" panose="020B0604020202020204" pitchFamily="34" charset="0"/>
                        </a:rPr>
                        <a:t>400 000 + 90 000 + 23 208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6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spcBef>
                          <a:spcPts val="1200"/>
                        </a:spcBef>
                        <a:spcAft>
                          <a:spcPts val="600"/>
                        </a:spcAft>
                        <a:buNone/>
                      </a:pPr>
                      <a:r>
                        <a:rPr lang="en-AU" sz="16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5279208"/>
                  </a:ext>
                </a:extLst>
              </a:tr>
            </a:tbl>
          </a:graphicData>
        </a:graphic>
      </p:graphicFrame>
      <p:sp>
        <p:nvSpPr>
          <p:cNvPr id="3" name="Slide Number Placeholder 1">
            <a:extLst>
              <a:ext uri="{FF2B5EF4-FFF2-40B4-BE49-F238E27FC236}">
                <a16:creationId xmlns:a16="http://schemas.microsoft.com/office/drawing/2014/main" id="{A8E0D654-1243-4FDA-4426-12E7F09D2DDC}"/>
              </a:ext>
              <a:ext uri="{C183D7F6-B498-43B3-948B-1728B52AA6E4}">
                <adec:decorative xmlns:adec="http://schemas.microsoft.com/office/drawing/2017/decorative" val="1"/>
              </a:ext>
            </a:extLst>
          </p:cNvPr>
          <p:cNvSpPr>
            <a:spLocks noGrp="1"/>
          </p:cNvSpPr>
          <p:nvPr>
            <p:ph type="sldNum" sz="quarter" idx="12"/>
          </p:nvPr>
        </p:nvSpPr>
        <p:spPr>
          <a:xfrm>
            <a:off x="11128226" y="6589277"/>
            <a:ext cx="720000" cy="180000"/>
          </a:xfrm>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1001237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62560-17DF-0E80-B782-9A3BED5CC6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B0B8FA7-20A8-517F-0E13-60C43699EF02}"/>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Picture 3: image of a finger selecting an option for a multiple choice or true and false">
            <a:extLst>
              <a:ext uri="{FF2B5EF4-FFF2-40B4-BE49-F238E27FC236}">
                <a16:creationId xmlns:a16="http://schemas.microsoft.com/office/drawing/2014/main" id="{66C0E341-8E1B-8A73-4C2B-5C767ADDD53C}"/>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9" name="TextBox 8">
            <a:extLst>
              <a:ext uri="{FF2B5EF4-FFF2-40B4-BE49-F238E27FC236}">
                <a16:creationId xmlns:a16="http://schemas.microsoft.com/office/drawing/2014/main" id="{A9E33E49-1C16-38C7-342A-C33B4EC12E39}"/>
              </a:ext>
            </a:extLst>
          </p:cNvPr>
          <p:cNvSpPr txBox="1"/>
          <p:nvPr/>
        </p:nvSpPr>
        <p:spPr>
          <a:xfrm>
            <a:off x="453858" y="1266834"/>
            <a:ext cx="11390142" cy="3014800"/>
          </a:xfrm>
          <a:prstGeom prst="rect">
            <a:avLst/>
          </a:prstGeom>
          <a:noFill/>
        </p:spPr>
        <p:txBody>
          <a:bodyPr wrap="square">
            <a:spAutoFit/>
          </a:bodyPr>
          <a:lstStyle/>
          <a:p>
            <a:pPr>
              <a:lnSpc>
                <a:spcPct val="150000"/>
              </a:lnSpc>
            </a:pPr>
            <a:r>
              <a:rPr lang="en-AU" sz="4400" b="0" i="0">
                <a:effectLst/>
                <a:latin typeface="+mj-lt"/>
              </a:rPr>
              <a:t>Two hundred and sixty-three thousand four hundred and eighty</a:t>
            </a:r>
            <a:r>
              <a:rPr lang="en-AU" sz="4400">
                <a:latin typeface="+mj-lt"/>
              </a:rPr>
              <a:t> can be </a:t>
            </a:r>
            <a:r>
              <a:rPr lang="en-AU" sz="4400" b="1">
                <a:latin typeface="+mj-lt"/>
              </a:rPr>
              <a:t>partitioned</a:t>
            </a:r>
            <a:r>
              <a:rPr lang="en-AU" sz="4400">
                <a:latin typeface="+mj-lt"/>
              </a:rPr>
              <a:t> as 200 000 + 60 000 + 3000 + 400 + 80.</a:t>
            </a:r>
          </a:p>
        </p:txBody>
      </p:sp>
      <p:graphicFrame>
        <p:nvGraphicFramePr>
          <p:cNvPr id="12" name="Table 11">
            <a:extLst>
              <a:ext uri="{FF2B5EF4-FFF2-40B4-BE49-F238E27FC236}">
                <a16:creationId xmlns:a16="http://schemas.microsoft.com/office/drawing/2014/main" id="{4228B711-9E3E-3A31-DC2C-47B57C1AF5FD}"/>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FA8FE8D-EA97-6FEC-78C5-F28CEC3E387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24298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26B222A-A65F-6762-54E3-DA1E1AD1B127}"/>
              </a:ext>
            </a:extLst>
          </p:cNvPr>
          <p:cNvSpPr txBox="1"/>
          <p:nvPr/>
        </p:nvSpPr>
        <p:spPr>
          <a:xfrm>
            <a:off x="360000" y="1313474"/>
            <a:ext cx="11585976" cy="860640"/>
          </a:xfrm>
          <a:prstGeom prst="rect">
            <a:avLst/>
          </a:prstGeom>
          <a:noFill/>
        </p:spPr>
        <p:txBody>
          <a:bodyPr wrap="square" lIns="0" tIns="0" rIns="0" bIns="0" rtlCol="0">
            <a:noAutofit/>
          </a:bodyPr>
          <a:lstStyle/>
          <a:p>
            <a:r>
              <a:rPr lang="en-AU" sz="4400"/>
              <a:t>Use </a:t>
            </a:r>
            <a:r>
              <a:rPr lang="en-AU" sz="4400" b="1"/>
              <a:t>mental strategies </a:t>
            </a:r>
            <a:r>
              <a:rPr lang="en-AU" sz="4400"/>
              <a:t>to </a:t>
            </a:r>
            <a:r>
              <a:rPr lang="en-AU" sz="4400" b="1"/>
              <a:t>find</a:t>
            </a:r>
            <a:r>
              <a:rPr lang="en-AU" sz="4400"/>
              <a:t> the </a:t>
            </a:r>
            <a:r>
              <a:rPr lang="en-AU" sz="4400" b="1"/>
              <a:t>product</a:t>
            </a:r>
            <a:r>
              <a:rPr lang="en-AU" sz="4400"/>
              <a:t> of:</a:t>
            </a:r>
            <a:endParaRPr lang="en-AU" sz="1800"/>
          </a:p>
        </p:txBody>
      </p:sp>
      <p:sp>
        <p:nvSpPr>
          <p:cNvPr id="5" name="TextBox 4">
            <a:extLst>
              <a:ext uri="{FF2B5EF4-FFF2-40B4-BE49-F238E27FC236}">
                <a16:creationId xmlns:a16="http://schemas.microsoft.com/office/drawing/2014/main" id="{C2832F5B-8E42-5582-DA93-A9B42253F211}"/>
              </a:ext>
            </a:extLst>
          </p:cNvPr>
          <p:cNvSpPr txBox="1"/>
          <p:nvPr/>
        </p:nvSpPr>
        <p:spPr>
          <a:xfrm>
            <a:off x="4222551" y="2501904"/>
            <a:ext cx="3594162" cy="769441"/>
          </a:xfrm>
          <a:prstGeom prst="rect">
            <a:avLst/>
          </a:prstGeom>
          <a:noFill/>
        </p:spPr>
        <p:txBody>
          <a:bodyPr wrap="square">
            <a:spAutoFit/>
          </a:bodyPr>
          <a:lstStyle/>
          <a:p>
            <a:pPr marL="571500" indent="-571500">
              <a:buFont typeface="Arial" panose="020B0604020202020204" pitchFamily="34" charset="0"/>
              <a:buChar char="•"/>
            </a:pPr>
            <a:r>
              <a:rPr lang="en-AU" sz="4400"/>
              <a:t> 9 x 100</a:t>
            </a:r>
          </a:p>
        </p:txBody>
      </p:sp>
      <p:sp>
        <p:nvSpPr>
          <p:cNvPr id="7" name="TextBox 6">
            <a:extLst>
              <a:ext uri="{FF2B5EF4-FFF2-40B4-BE49-F238E27FC236}">
                <a16:creationId xmlns:a16="http://schemas.microsoft.com/office/drawing/2014/main" id="{3689629C-2A4A-49B8-F8E5-81F53FAB2D8B}"/>
              </a:ext>
            </a:extLst>
          </p:cNvPr>
          <p:cNvSpPr txBox="1"/>
          <p:nvPr/>
        </p:nvSpPr>
        <p:spPr>
          <a:xfrm>
            <a:off x="4222551" y="3802681"/>
            <a:ext cx="3964865" cy="769441"/>
          </a:xfrm>
          <a:prstGeom prst="rect">
            <a:avLst/>
          </a:prstGeom>
          <a:noFill/>
        </p:spPr>
        <p:txBody>
          <a:bodyPr wrap="square">
            <a:spAutoFit/>
          </a:bodyPr>
          <a:lstStyle/>
          <a:p>
            <a:pPr marL="571500" indent="-571500" algn="l">
              <a:buFont typeface="Arial" panose="020B0604020202020204" pitchFamily="34" charset="0"/>
              <a:buChar char="•"/>
            </a:pPr>
            <a:r>
              <a:rPr lang="en-AU" sz="4400"/>
              <a:t> 9 x 200</a:t>
            </a:r>
          </a:p>
        </p:txBody>
      </p:sp>
      <p:sp>
        <p:nvSpPr>
          <p:cNvPr id="8" name="TextBox 7">
            <a:extLst>
              <a:ext uri="{FF2B5EF4-FFF2-40B4-BE49-F238E27FC236}">
                <a16:creationId xmlns:a16="http://schemas.microsoft.com/office/drawing/2014/main" id="{71222DBA-589D-2DC4-DD8F-98D4FEE9CE7E}"/>
              </a:ext>
            </a:extLst>
          </p:cNvPr>
          <p:cNvSpPr txBox="1"/>
          <p:nvPr/>
        </p:nvSpPr>
        <p:spPr>
          <a:xfrm>
            <a:off x="4232417" y="5053097"/>
            <a:ext cx="4449270" cy="769441"/>
          </a:xfrm>
          <a:prstGeom prst="rect">
            <a:avLst/>
          </a:prstGeom>
          <a:noFill/>
        </p:spPr>
        <p:txBody>
          <a:bodyPr wrap="square">
            <a:spAutoFit/>
          </a:bodyPr>
          <a:lstStyle/>
          <a:p>
            <a:pPr marL="571500" indent="-571500" algn="l">
              <a:buFont typeface="Arial" panose="020B0604020202020204" pitchFamily="34" charset="0"/>
              <a:buChar char="•"/>
            </a:pPr>
            <a:r>
              <a:rPr lang="en-AU" sz="4400"/>
              <a:t> 9 x 1000</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37BCEDC1-8B67-385E-594A-EA4427586920}"/>
              </a:ext>
            </a:extLst>
          </p:cNvPr>
          <p:cNvSpPr txBox="1"/>
          <p:nvPr/>
        </p:nvSpPr>
        <p:spPr>
          <a:xfrm>
            <a:off x="360001" y="1189845"/>
            <a:ext cx="11367712" cy="2044674"/>
          </a:xfrm>
          <a:prstGeom prst="rect">
            <a:avLst/>
          </a:prstGeom>
          <a:noFill/>
        </p:spPr>
        <p:txBody>
          <a:bodyPr wrap="square" lIns="0" tIns="0" rIns="0" bIns="0" rtlCol="0">
            <a:noAutofit/>
          </a:bodyPr>
          <a:lstStyle/>
          <a:p>
            <a:pPr algn="ctr">
              <a:lnSpc>
                <a:spcPct val="150000"/>
              </a:lnSpc>
            </a:pPr>
            <a:r>
              <a:rPr lang="en-AU" sz="4400" b="1"/>
              <a:t>Record</a:t>
            </a:r>
            <a:r>
              <a:rPr lang="en-AU" sz="4400"/>
              <a:t> the </a:t>
            </a:r>
            <a:r>
              <a:rPr lang="en-AU" sz="4400" b="1"/>
              <a:t>weight</a:t>
            </a:r>
            <a:r>
              <a:rPr lang="en-AU" sz="4400"/>
              <a:t> of the </a:t>
            </a:r>
            <a:r>
              <a:rPr lang="en-AU" sz="4400" b="1"/>
              <a:t>heaviest</a:t>
            </a:r>
            <a:r>
              <a:rPr lang="en-AU" sz="4400"/>
              <a:t> </a:t>
            </a:r>
          </a:p>
          <a:p>
            <a:pPr algn="ctr">
              <a:lnSpc>
                <a:spcPct val="150000"/>
              </a:lnSpc>
            </a:pPr>
            <a:r>
              <a:rPr lang="en-AU" sz="4400"/>
              <a:t>baby</a:t>
            </a:r>
            <a:r>
              <a:rPr lang="en-AU" sz="4400" b="1"/>
              <a:t> </a:t>
            </a:r>
            <a:r>
              <a:rPr lang="en-AU" sz="4400"/>
              <a:t>in each set.</a:t>
            </a:r>
          </a:p>
        </p:txBody>
      </p:sp>
      <p:sp>
        <p:nvSpPr>
          <p:cNvPr id="12" name="TextBox 11">
            <a:extLst>
              <a:ext uri="{FF2B5EF4-FFF2-40B4-BE49-F238E27FC236}">
                <a16:creationId xmlns:a16="http://schemas.microsoft.com/office/drawing/2014/main" id="{C8C55535-AAF2-529C-380D-A7A410B80F39}"/>
              </a:ext>
            </a:extLst>
          </p:cNvPr>
          <p:cNvSpPr txBox="1"/>
          <p:nvPr/>
        </p:nvSpPr>
        <p:spPr>
          <a:xfrm>
            <a:off x="779986" y="3950555"/>
            <a:ext cx="2402958" cy="510361"/>
          </a:xfrm>
          <a:prstGeom prst="rect">
            <a:avLst/>
          </a:prstGeom>
          <a:noFill/>
        </p:spPr>
        <p:txBody>
          <a:bodyPr wrap="square" lIns="0" tIns="0" rIns="0" bIns="0" rtlCol="0">
            <a:noAutofit/>
          </a:bodyPr>
          <a:lstStyle/>
          <a:p>
            <a:pPr algn="ctr"/>
            <a:r>
              <a:rPr lang="en-AU" sz="4000" b="1"/>
              <a:t>Set A</a:t>
            </a:r>
          </a:p>
        </p:txBody>
      </p:sp>
      <p:pic>
        <p:nvPicPr>
          <p:cNvPr id="11" name="Picture 10">
            <a:extLst>
              <a:ext uri="{FF2B5EF4-FFF2-40B4-BE49-F238E27FC236}">
                <a16:creationId xmlns:a16="http://schemas.microsoft.com/office/drawing/2014/main" id="{F4415B19-2192-91E4-166D-A0431745C4D8}"/>
              </a:ext>
              <a:ext uri="{C183D7F6-B498-43B3-948B-1728B52AA6E4}">
                <adec:decorative xmlns:adec="http://schemas.microsoft.com/office/drawing/2017/decorative" val="1"/>
              </a:ext>
            </a:extLst>
          </p:cNvPr>
          <p:cNvPicPr>
            <a:picLocks noChangeAspect="1"/>
          </p:cNvPicPr>
          <p:nvPr/>
        </p:nvPicPr>
        <p:blipFill>
          <a:blip r:embed="rId4"/>
          <a:srcRect l="3315" t="17146" r="54930" b="46927"/>
          <a:stretch>
            <a:fillRect/>
          </a:stretch>
        </p:blipFill>
        <p:spPr>
          <a:xfrm>
            <a:off x="360000" y="4739137"/>
            <a:ext cx="3242931" cy="1866863"/>
          </a:xfrm>
          <a:prstGeom prst="rect">
            <a:avLst/>
          </a:prstGeom>
          <a:ln>
            <a:noFill/>
          </a:ln>
          <a:effectLst>
            <a:outerShdw blurRad="190500" algn="tl" rotWithShape="0">
              <a:srgbClr val="000000">
                <a:alpha val="70000"/>
              </a:srgbClr>
            </a:outerShdw>
          </a:effectLst>
        </p:spPr>
      </p:pic>
      <p:sp>
        <p:nvSpPr>
          <p:cNvPr id="16" name="TextBox 15">
            <a:extLst>
              <a:ext uri="{FF2B5EF4-FFF2-40B4-BE49-F238E27FC236}">
                <a16:creationId xmlns:a16="http://schemas.microsoft.com/office/drawing/2014/main" id="{207D9B79-7845-9F97-2B66-5C19B59655DD}"/>
              </a:ext>
            </a:extLst>
          </p:cNvPr>
          <p:cNvSpPr txBox="1"/>
          <p:nvPr/>
        </p:nvSpPr>
        <p:spPr>
          <a:xfrm>
            <a:off x="464288" y="5965372"/>
            <a:ext cx="2812312" cy="446314"/>
          </a:xfrm>
          <a:prstGeom prst="rect">
            <a:avLst/>
          </a:prstGeom>
          <a:solidFill>
            <a:schemeClr val="bg1"/>
          </a:solidFill>
        </p:spPr>
        <p:txBody>
          <a:bodyPr wrap="square" lIns="0" tIns="0" rIns="0" bIns="0" rtlCol="0">
            <a:noAutofit/>
          </a:bodyPr>
          <a:lstStyle/>
          <a:p>
            <a:pPr algn="ctr"/>
            <a:r>
              <a:rPr lang="en-AU">
                <a:latin typeface="FoundationBold" panose="00000400000000000000" pitchFamily="2" charset="0"/>
              </a:rPr>
              <a:t>6.421kg</a:t>
            </a:r>
            <a:r>
              <a:rPr lang="en-AU" sz="1600">
                <a:latin typeface="FoundationBold" panose="00000400000000000000" pitchFamily="2" charset="0"/>
              </a:rPr>
              <a:t>   </a:t>
            </a:r>
            <a:r>
              <a:rPr lang="en-AU">
                <a:latin typeface="FoundationBold" panose="00000400000000000000" pitchFamily="2" charset="0"/>
              </a:rPr>
              <a:t>or</a:t>
            </a:r>
            <a:r>
              <a:rPr lang="en-AU" sz="1200">
                <a:latin typeface="FoundationBold" panose="00000400000000000000" pitchFamily="2" charset="0"/>
              </a:rPr>
              <a:t>   </a:t>
            </a:r>
            <a:r>
              <a:rPr lang="en-AU">
                <a:latin typeface="FoundationBold" panose="00000400000000000000" pitchFamily="2" charset="0"/>
              </a:rPr>
              <a:t>6.34kg</a:t>
            </a:r>
          </a:p>
        </p:txBody>
      </p:sp>
      <p:sp>
        <p:nvSpPr>
          <p:cNvPr id="13" name="TextBox 12">
            <a:extLst>
              <a:ext uri="{FF2B5EF4-FFF2-40B4-BE49-F238E27FC236}">
                <a16:creationId xmlns:a16="http://schemas.microsoft.com/office/drawing/2014/main" id="{4B5597C0-23E6-2140-ABE8-41B752022407}"/>
              </a:ext>
            </a:extLst>
          </p:cNvPr>
          <p:cNvSpPr txBox="1"/>
          <p:nvPr/>
        </p:nvSpPr>
        <p:spPr>
          <a:xfrm>
            <a:off x="4894521" y="3950554"/>
            <a:ext cx="2402958" cy="510361"/>
          </a:xfrm>
          <a:prstGeom prst="rect">
            <a:avLst/>
          </a:prstGeom>
          <a:noFill/>
        </p:spPr>
        <p:txBody>
          <a:bodyPr wrap="square" lIns="0" tIns="0" rIns="0" bIns="0" rtlCol="0">
            <a:noAutofit/>
          </a:bodyPr>
          <a:lstStyle/>
          <a:p>
            <a:pPr algn="ctr"/>
            <a:r>
              <a:rPr lang="en-AU" sz="4000" b="1"/>
              <a:t>Set B</a:t>
            </a:r>
          </a:p>
        </p:txBody>
      </p:sp>
      <p:pic>
        <p:nvPicPr>
          <p:cNvPr id="10" name="Picture 9">
            <a:extLst>
              <a:ext uri="{FF2B5EF4-FFF2-40B4-BE49-F238E27FC236}">
                <a16:creationId xmlns:a16="http://schemas.microsoft.com/office/drawing/2014/main" id="{7B5F97E1-41BA-F126-05D1-2359CBAE5761}"/>
              </a:ext>
              <a:ext uri="{C183D7F6-B498-43B3-948B-1728B52AA6E4}">
                <adec:decorative xmlns:adec="http://schemas.microsoft.com/office/drawing/2017/decorative" val="1"/>
              </a:ext>
            </a:extLst>
          </p:cNvPr>
          <p:cNvPicPr>
            <a:picLocks noChangeAspect="1"/>
          </p:cNvPicPr>
          <p:nvPr/>
        </p:nvPicPr>
        <p:blipFill>
          <a:blip r:embed="rId4"/>
          <a:srcRect l="53557" t="60941" r="4688" b="3132"/>
          <a:stretch>
            <a:fillRect/>
          </a:stretch>
        </p:blipFill>
        <p:spPr>
          <a:xfrm>
            <a:off x="4422390" y="4684199"/>
            <a:ext cx="3242932" cy="1866863"/>
          </a:xfrm>
          <a:prstGeom prst="rect">
            <a:avLst/>
          </a:prstGeom>
          <a:ln>
            <a:noFill/>
          </a:ln>
          <a:effectLst>
            <a:outerShdw blurRad="190500" algn="tl" rotWithShape="0">
              <a:srgbClr val="000000">
                <a:alpha val="70000"/>
              </a:srgbClr>
            </a:outerShdw>
          </a:effectLst>
        </p:spPr>
      </p:pic>
      <p:sp>
        <p:nvSpPr>
          <p:cNvPr id="17" name="TextBox 16">
            <a:extLst>
              <a:ext uri="{FF2B5EF4-FFF2-40B4-BE49-F238E27FC236}">
                <a16:creationId xmlns:a16="http://schemas.microsoft.com/office/drawing/2014/main" id="{69A1B385-36D2-DED3-EC0E-1CE7B11F263B}"/>
              </a:ext>
            </a:extLst>
          </p:cNvPr>
          <p:cNvSpPr txBox="1"/>
          <p:nvPr/>
        </p:nvSpPr>
        <p:spPr>
          <a:xfrm>
            <a:off x="4637700" y="5921829"/>
            <a:ext cx="2812312" cy="446314"/>
          </a:xfrm>
          <a:prstGeom prst="rect">
            <a:avLst/>
          </a:prstGeom>
          <a:solidFill>
            <a:schemeClr val="bg1"/>
          </a:solidFill>
        </p:spPr>
        <p:txBody>
          <a:bodyPr wrap="square" lIns="0" tIns="0" rIns="0" bIns="0" rtlCol="0">
            <a:noAutofit/>
          </a:bodyPr>
          <a:lstStyle/>
          <a:p>
            <a:pPr algn="ctr"/>
            <a:r>
              <a:rPr lang="en-AU">
                <a:latin typeface="FoundationBold" panose="00000400000000000000" pitchFamily="2" charset="0"/>
              </a:rPr>
              <a:t>7.102kg</a:t>
            </a:r>
            <a:r>
              <a:rPr lang="en-AU" sz="1600">
                <a:latin typeface="FoundationBold" panose="00000400000000000000" pitchFamily="2" charset="0"/>
              </a:rPr>
              <a:t>   </a:t>
            </a:r>
            <a:r>
              <a:rPr lang="en-AU">
                <a:latin typeface="FoundationBold" panose="00000400000000000000" pitchFamily="2" charset="0"/>
              </a:rPr>
              <a:t>or</a:t>
            </a:r>
            <a:r>
              <a:rPr lang="en-AU" sz="1200">
                <a:latin typeface="FoundationBold" panose="00000400000000000000" pitchFamily="2" charset="0"/>
              </a:rPr>
              <a:t>   </a:t>
            </a:r>
            <a:r>
              <a:rPr lang="en-AU">
                <a:latin typeface="FoundationBold" panose="00000400000000000000" pitchFamily="2" charset="0"/>
              </a:rPr>
              <a:t>7.316kg</a:t>
            </a:r>
          </a:p>
        </p:txBody>
      </p:sp>
      <p:sp>
        <p:nvSpPr>
          <p:cNvPr id="14" name="TextBox 13">
            <a:extLst>
              <a:ext uri="{FF2B5EF4-FFF2-40B4-BE49-F238E27FC236}">
                <a16:creationId xmlns:a16="http://schemas.microsoft.com/office/drawing/2014/main" id="{93A76CC9-AD7B-F4A1-16D2-F0D72CCA6F44}"/>
              </a:ext>
            </a:extLst>
          </p:cNvPr>
          <p:cNvSpPr txBox="1"/>
          <p:nvPr/>
        </p:nvSpPr>
        <p:spPr>
          <a:xfrm>
            <a:off x="8821745" y="3950553"/>
            <a:ext cx="2402958" cy="510361"/>
          </a:xfrm>
          <a:prstGeom prst="rect">
            <a:avLst/>
          </a:prstGeom>
          <a:noFill/>
        </p:spPr>
        <p:txBody>
          <a:bodyPr wrap="square" lIns="0" tIns="0" rIns="0" bIns="0" rtlCol="0">
            <a:noAutofit/>
          </a:bodyPr>
          <a:lstStyle/>
          <a:p>
            <a:pPr algn="ctr"/>
            <a:r>
              <a:rPr lang="en-AU" sz="4000" b="1"/>
              <a:t>Set C</a:t>
            </a:r>
          </a:p>
        </p:txBody>
      </p:sp>
      <p:pic>
        <p:nvPicPr>
          <p:cNvPr id="8" name="Picture 7">
            <a:extLst>
              <a:ext uri="{FF2B5EF4-FFF2-40B4-BE49-F238E27FC236}">
                <a16:creationId xmlns:a16="http://schemas.microsoft.com/office/drawing/2014/main" id="{D8D24788-87E2-5F06-A9BA-EDC40E834132}"/>
              </a:ext>
              <a:ext uri="{C183D7F6-B498-43B3-948B-1728B52AA6E4}">
                <adec:decorative xmlns:adec="http://schemas.microsoft.com/office/drawing/2017/decorative" val="1"/>
              </a:ext>
            </a:extLst>
          </p:cNvPr>
          <p:cNvPicPr>
            <a:picLocks noChangeAspect="1"/>
          </p:cNvPicPr>
          <p:nvPr/>
        </p:nvPicPr>
        <p:blipFill>
          <a:blip r:embed="rId4"/>
          <a:srcRect l="53603" t="17146" r="4641" b="46927"/>
          <a:stretch>
            <a:fillRect/>
          </a:stretch>
        </p:blipFill>
        <p:spPr>
          <a:xfrm>
            <a:off x="8487866" y="4661670"/>
            <a:ext cx="3242931" cy="1866863"/>
          </a:xfrm>
          <a:prstGeom prst="rect">
            <a:avLst/>
          </a:prstGeom>
          <a:ln>
            <a:noFill/>
          </a:ln>
          <a:effectLst>
            <a:outerShdw blurRad="190500" algn="tl" rotWithShape="0">
              <a:srgbClr val="000000">
                <a:alpha val="70000"/>
              </a:srgbClr>
            </a:outerShdw>
          </a:effectLst>
        </p:spPr>
      </p:pic>
      <p:sp>
        <p:nvSpPr>
          <p:cNvPr id="18" name="TextBox 17">
            <a:extLst>
              <a:ext uri="{FF2B5EF4-FFF2-40B4-BE49-F238E27FC236}">
                <a16:creationId xmlns:a16="http://schemas.microsoft.com/office/drawing/2014/main" id="{A584CE22-A6B3-4C8D-F1A3-D4B55AF6FCAA}"/>
              </a:ext>
            </a:extLst>
          </p:cNvPr>
          <p:cNvSpPr txBox="1"/>
          <p:nvPr/>
        </p:nvSpPr>
        <p:spPr>
          <a:xfrm>
            <a:off x="8703175" y="5921829"/>
            <a:ext cx="2812312" cy="446314"/>
          </a:xfrm>
          <a:prstGeom prst="rect">
            <a:avLst/>
          </a:prstGeom>
          <a:solidFill>
            <a:schemeClr val="bg1"/>
          </a:solidFill>
        </p:spPr>
        <p:txBody>
          <a:bodyPr wrap="square" lIns="0" tIns="0" rIns="0" bIns="0" rtlCol="0">
            <a:noAutofit/>
          </a:bodyPr>
          <a:lstStyle/>
          <a:p>
            <a:pPr algn="ctr"/>
            <a:r>
              <a:rPr lang="en-AU">
                <a:latin typeface="FoundationBold" panose="00000400000000000000" pitchFamily="2" charset="0"/>
              </a:rPr>
              <a:t>8.20kg</a:t>
            </a:r>
            <a:r>
              <a:rPr lang="en-AU" sz="1600">
                <a:latin typeface="FoundationBold" panose="00000400000000000000" pitchFamily="2" charset="0"/>
              </a:rPr>
              <a:t>   </a:t>
            </a:r>
            <a:r>
              <a:rPr lang="en-AU">
                <a:latin typeface="FoundationBold" panose="00000400000000000000" pitchFamily="2" charset="0"/>
              </a:rPr>
              <a:t>or</a:t>
            </a:r>
            <a:r>
              <a:rPr lang="en-AU" sz="1200">
                <a:latin typeface="FoundationBold" panose="00000400000000000000" pitchFamily="2" charset="0"/>
              </a:rPr>
              <a:t>   </a:t>
            </a:r>
            <a:r>
              <a:rPr lang="en-AU">
                <a:latin typeface="FoundationBold" panose="00000400000000000000" pitchFamily="2" charset="0"/>
              </a:rPr>
              <a:t>8.125kg</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descr="Picture 2: image of a clipboard with a pencil recording short answer responses">
            <a:extLst>
              <a:ext uri="{FF2B5EF4-FFF2-40B4-BE49-F238E27FC236}">
                <a16:creationId xmlns:a16="http://schemas.microsoft.com/office/drawing/2014/main" id="{71518DCE-2BBE-0AC2-F72B-B5E11C24F8A1}"/>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5" name="TextBox 14">
            <a:extLst>
              <a:ext uri="{FF2B5EF4-FFF2-40B4-BE49-F238E27FC236}">
                <a16:creationId xmlns:a16="http://schemas.microsoft.com/office/drawing/2014/main" id="{79E96D30-014D-61D7-507F-AD0D245C135B}"/>
              </a:ext>
            </a:extLst>
          </p:cNvPr>
          <p:cNvSpPr txBox="1"/>
          <p:nvPr/>
        </p:nvSpPr>
        <p:spPr>
          <a:xfrm>
            <a:off x="233244" y="1087758"/>
            <a:ext cx="3450954" cy="5518242"/>
          </a:xfrm>
          <a:prstGeom prst="rect">
            <a:avLst/>
          </a:prstGeom>
          <a:noFill/>
        </p:spPr>
        <p:txBody>
          <a:bodyPr wrap="square">
            <a:spAutoFit/>
          </a:bodyPr>
          <a:lstStyle/>
          <a:p>
            <a:pPr>
              <a:lnSpc>
                <a:spcPct val="150000"/>
              </a:lnSpc>
            </a:pPr>
            <a:r>
              <a:rPr lang="en-AU" sz="4000" b="1">
                <a:effectLst/>
                <a:latin typeface="Arial" panose="020B0604020202020204" pitchFamily="34" charset="0"/>
                <a:ea typeface="Calibri" panose="020F0502020204030204" pitchFamily="34" charset="0"/>
              </a:rPr>
              <a:t>Describe </a:t>
            </a:r>
            <a:r>
              <a:rPr lang="en-AU" sz="4000">
                <a:effectLst/>
                <a:latin typeface="Arial" panose="020B0604020202020204" pitchFamily="34" charset="0"/>
                <a:ea typeface="Calibri" panose="020F0502020204030204" pitchFamily="34" charset="0"/>
              </a:rPr>
              <a:t>how the </a:t>
            </a:r>
            <a:r>
              <a:rPr lang="en-AU" sz="4000" b="1">
                <a:effectLst/>
                <a:latin typeface="Arial" panose="020B0604020202020204" pitchFamily="34" charset="0"/>
                <a:ea typeface="Calibri" panose="020F0502020204030204" pitchFamily="34" charset="0"/>
              </a:rPr>
              <a:t>distribution of data </a:t>
            </a:r>
            <a:r>
              <a:rPr lang="en-AU" sz="4000">
                <a:effectLst/>
                <a:latin typeface="Arial" panose="020B0604020202020204" pitchFamily="34" charset="0"/>
                <a:ea typeface="Calibri" panose="020F0502020204030204" pitchFamily="34" charset="0"/>
              </a:rPr>
              <a:t>is </a:t>
            </a:r>
            <a:r>
              <a:rPr lang="en-AU" sz="4000" b="1">
                <a:effectLst/>
                <a:latin typeface="Arial" panose="020B0604020202020204" pitchFamily="34" charset="0"/>
                <a:ea typeface="Calibri" panose="020F0502020204030204" pitchFamily="34" charset="0"/>
              </a:rPr>
              <a:t>different</a:t>
            </a:r>
            <a:r>
              <a:rPr lang="en-AU" sz="4000">
                <a:effectLst/>
                <a:latin typeface="Arial" panose="020B0604020202020204" pitchFamily="34" charset="0"/>
                <a:ea typeface="Calibri" panose="020F0502020204030204" pitchFamily="34" charset="0"/>
              </a:rPr>
              <a:t> in these graphs.</a:t>
            </a:r>
            <a:endParaRPr lang="en-AU" sz="4000"/>
          </a:p>
        </p:txBody>
      </p:sp>
      <p:pic>
        <p:nvPicPr>
          <p:cNvPr id="12" name="Picture 11" descr="Two column graphs comparing the average monthly temperature of Sydney and Darwin.&#10;">
            <a:extLst>
              <a:ext uri="{FF2B5EF4-FFF2-40B4-BE49-F238E27FC236}">
                <a16:creationId xmlns:a16="http://schemas.microsoft.com/office/drawing/2014/main" id="{F212E41D-1F0F-5D60-F253-3D0F80042C76}"/>
              </a:ext>
            </a:extLst>
          </p:cNvPr>
          <p:cNvPicPr>
            <a:picLocks noChangeAspect="1"/>
          </p:cNvPicPr>
          <p:nvPr/>
        </p:nvPicPr>
        <p:blipFill>
          <a:blip r:embed="rId4"/>
          <a:stretch>
            <a:fillRect/>
          </a:stretch>
        </p:blipFill>
        <p:spPr>
          <a:xfrm>
            <a:off x="3867150" y="1727840"/>
            <a:ext cx="8091606" cy="4770160"/>
          </a:xfrm>
          <a:prstGeom prst="rect">
            <a:avLst/>
          </a:prstGeom>
          <a:ln>
            <a:noFill/>
          </a:ln>
          <a:effectLst>
            <a:outerShdw blurRad="190500" algn="tl" rotWithShape="0">
              <a:srgbClr val="000000">
                <a:alpha val="70000"/>
              </a:srgbClr>
            </a:outerShdw>
          </a:effectLst>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Picture 2: image of a clipboard with a pencil recording short answer responses">
            <a:extLst>
              <a:ext uri="{FF2B5EF4-FFF2-40B4-BE49-F238E27FC236}">
                <a16:creationId xmlns:a16="http://schemas.microsoft.com/office/drawing/2014/main" id="{602A5C36-777A-4A3B-4BB2-D0CC6ABD6738}"/>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4124538-DF70-C21E-A330-545A3B48F98F}"/>
              </a:ext>
            </a:extLst>
          </p:cNvPr>
          <p:cNvSpPr txBox="1"/>
          <p:nvPr/>
        </p:nvSpPr>
        <p:spPr>
          <a:xfrm>
            <a:off x="1531087" y="2461437"/>
            <a:ext cx="8920717" cy="1613022"/>
          </a:xfrm>
          <a:prstGeom prst="rect">
            <a:avLst/>
          </a:prstGeom>
          <a:noFill/>
        </p:spPr>
        <p:txBody>
          <a:bodyPr wrap="square" lIns="0" tIns="0" rIns="0" bIns="0" rtlCol="0">
            <a:noAutofit/>
          </a:bodyPr>
          <a:lstStyle/>
          <a:p>
            <a:pPr algn="ctr">
              <a:lnSpc>
                <a:spcPct val="150000"/>
              </a:lnSpc>
            </a:pPr>
            <a:r>
              <a:rPr lang="en-AU" sz="4400" b="1">
                <a:latin typeface="Arial" panose="020B0604020202020204" pitchFamily="34" charset="0"/>
                <a:cs typeface="Arial" panose="020B0604020202020204" pitchFamily="34" charset="0"/>
              </a:rPr>
              <a:t>Draw </a:t>
            </a:r>
            <a:r>
              <a:rPr lang="en-AU" sz="4400">
                <a:latin typeface="Arial" panose="020B0604020202020204" pitchFamily="34" charset="0"/>
                <a:cs typeface="Arial" panose="020B0604020202020204" pitchFamily="34" charset="0"/>
              </a:rPr>
              <a:t>a quadrilateral.</a:t>
            </a:r>
          </a:p>
          <a:p>
            <a:pPr algn="ctr">
              <a:lnSpc>
                <a:spcPct val="150000"/>
              </a:lnSpc>
            </a:pPr>
            <a:r>
              <a:rPr lang="en-AU" sz="4400">
                <a:latin typeface="Arial" panose="020B0604020202020204" pitchFamily="34" charset="0"/>
                <a:cs typeface="Arial" panose="020B0604020202020204" pitchFamily="34" charset="0"/>
              </a:rPr>
              <a:t>Then </a:t>
            </a:r>
            <a:r>
              <a:rPr lang="en-AU" sz="4400" b="1">
                <a:latin typeface="Arial" panose="020B0604020202020204" pitchFamily="34" charset="0"/>
                <a:cs typeface="Arial" panose="020B0604020202020204" pitchFamily="34" charset="0"/>
              </a:rPr>
              <a:t>record</a:t>
            </a:r>
            <a:r>
              <a:rPr lang="en-AU" sz="4400">
                <a:latin typeface="Arial" panose="020B0604020202020204" pitchFamily="34" charset="0"/>
                <a:cs typeface="Arial" panose="020B0604020202020204" pitchFamily="34" charset="0"/>
              </a:rPr>
              <a:t> its </a:t>
            </a:r>
            <a:r>
              <a:rPr lang="en-AU" sz="4400" b="1">
                <a:latin typeface="Arial" panose="020B0604020202020204" pitchFamily="34" charset="0"/>
                <a:cs typeface="Arial" panose="020B0604020202020204" pitchFamily="34" charset="0"/>
              </a:rPr>
              <a:t>attributes</a:t>
            </a:r>
            <a:r>
              <a:rPr lang="en-AU" sz="4400">
                <a:latin typeface="Arial" panose="020B0604020202020204" pitchFamily="34" charset="0"/>
                <a:cs typeface="Arial" panose="020B0604020202020204" pitchFamily="34" charset="0"/>
              </a:rPr>
              <a:t>.</a:t>
            </a:r>
          </a:p>
          <a:p>
            <a:pPr algn="ctr">
              <a:lnSpc>
                <a:spcPct val="150000"/>
              </a:lnSpc>
            </a:pPr>
            <a:endParaRPr lang="en-AU" sz="4400" b="1">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standard and non-standard partitioning</a:t>
            </a:r>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8" name="TextBox 7">
            <a:extLst>
              <a:ext uri="{FF2B5EF4-FFF2-40B4-BE49-F238E27FC236}">
                <a16:creationId xmlns:a16="http://schemas.microsoft.com/office/drawing/2014/main" id="{7777CB58-EB28-A406-ECD4-842EE89D97C7}"/>
              </a:ext>
            </a:extLst>
          </p:cNvPr>
          <p:cNvSpPr txBox="1"/>
          <p:nvPr/>
        </p:nvSpPr>
        <p:spPr>
          <a:xfrm>
            <a:off x="153447" y="1294360"/>
            <a:ext cx="5748000" cy="3782608"/>
          </a:xfrm>
          <a:prstGeom prst="rect">
            <a:avLst/>
          </a:prstGeom>
          <a:noFill/>
        </p:spPr>
        <p:txBody>
          <a:bodyPr wrap="square" lIns="0" tIns="0" rIns="0" bIns="0" rtlCol="0">
            <a:noAutofit/>
          </a:bodyPr>
          <a:lstStyle/>
          <a:p>
            <a:pPr marL="457200" lvl="0" indent="-457200">
              <a:lnSpc>
                <a:spcPct val="150000"/>
              </a:lnSpc>
              <a:spcAft>
                <a:spcPts val="2400"/>
              </a:spcAft>
              <a:buFont typeface="Arial" panose="020B0604020202020204" pitchFamily="34" charset="0"/>
              <a:buChar char="•"/>
            </a:pPr>
            <a:r>
              <a:rPr lang="en-AU" sz="3000">
                <a:latin typeface="+mj-lt"/>
                <a:cs typeface="Arial" panose="020B0604020202020204" pitchFamily="34" charset="0"/>
              </a:rPr>
              <a:t>Roll the dice and record each number on the place value house to make a 6-digit number.</a:t>
            </a:r>
          </a:p>
          <a:p>
            <a:pPr marL="457200" lvl="0" indent="-457200">
              <a:lnSpc>
                <a:spcPct val="150000"/>
              </a:lnSpc>
              <a:spcAft>
                <a:spcPts val="2400"/>
              </a:spcAft>
              <a:buFont typeface="Arial" panose="020B0604020202020204" pitchFamily="34" charset="0"/>
              <a:buChar char="•"/>
            </a:pPr>
            <a:r>
              <a:rPr lang="en-AU" sz="3000">
                <a:latin typeface="+mj-lt"/>
                <a:cs typeface="Arial" panose="020B0604020202020204" pitchFamily="34" charset="0"/>
              </a:rPr>
              <a:t>Take turns to record the 6-digit number in standard and non-standard partitioning. </a:t>
            </a:r>
            <a:endParaRPr lang="en-AU" sz="3000">
              <a:latin typeface="+mj-lt"/>
            </a:endParaRPr>
          </a:p>
        </p:txBody>
      </p:sp>
      <p:pic>
        <p:nvPicPr>
          <p:cNvPr id="7" name="Picture 6" descr="An image of a 9-sided dice with the number nine rolled. The numbers 8, 3 and 2 are partially visible.">
            <a:extLst>
              <a:ext uri="{FF2B5EF4-FFF2-40B4-BE49-F238E27FC236}">
                <a16:creationId xmlns:a16="http://schemas.microsoft.com/office/drawing/2014/main" id="{4E757A12-EF97-D2F5-0957-0FBC411C1CFC}"/>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6362789" y="1384457"/>
            <a:ext cx="1069934" cy="1051487"/>
          </a:xfrm>
          <a:prstGeom prst="rect">
            <a:avLst/>
          </a:prstGeom>
        </p:spPr>
      </p:pic>
      <p:sp>
        <p:nvSpPr>
          <p:cNvPr id="14" name="TextBox 13">
            <a:extLst>
              <a:ext uri="{FF2B5EF4-FFF2-40B4-BE49-F238E27FC236}">
                <a16:creationId xmlns:a16="http://schemas.microsoft.com/office/drawing/2014/main" id="{6A1B8A65-D822-832F-9D9D-4D5A96AE7983}"/>
              </a:ext>
            </a:extLst>
          </p:cNvPr>
          <p:cNvSpPr txBox="1"/>
          <p:nvPr/>
        </p:nvSpPr>
        <p:spPr>
          <a:xfrm>
            <a:off x="7699512" y="1097258"/>
            <a:ext cx="4339041" cy="1756354"/>
          </a:xfrm>
          <a:prstGeom prst="wedgeEllipseCallout">
            <a:avLst>
              <a:gd name="adj1" fmla="val 47690"/>
              <a:gd name="adj2" fmla="val 47659"/>
            </a:avLst>
          </a:prstGeom>
          <a:solidFill>
            <a:schemeClr val="accent1"/>
          </a:solidFill>
        </p:spPr>
        <p:txBody>
          <a:bodyPr wrap="square" lIns="0" tIns="0" rIns="0" bIns="0" rtlCol="0">
            <a:noAutofit/>
          </a:bodyPr>
          <a:lstStyle/>
          <a:p>
            <a:pPr algn="ctr">
              <a:lnSpc>
                <a:spcPct val="150000"/>
              </a:lnSpc>
            </a:pPr>
            <a:r>
              <a:rPr lang="en-AU" sz="2000">
                <a:solidFill>
                  <a:schemeClr val="bg1"/>
                </a:solidFill>
              </a:rPr>
              <a:t>I rolled a nine and decided to record this number in the hundreds place.</a:t>
            </a:r>
          </a:p>
        </p:txBody>
      </p:sp>
      <p:pic>
        <p:nvPicPr>
          <p:cNvPr id="3" name="Picture 2" descr="Place value house up to hundreds of thousands. The numeral 9 has been placed in the H column.">
            <a:extLst>
              <a:ext uri="{FF2B5EF4-FFF2-40B4-BE49-F238E27FC236}">
                <a16:creationId xmlns:a16="http://schemas.microsoft.com/office/drawing/2014/main" id="{9FC82408-AEFD-C773-13D0-1DBA9AE7235D}"/>
              </a:ext>
            </a:extLst>
          </p:cNvPr>
          <p:cNvPicPr>
            <a:picLocks noChangeAspect="1"/>
          </p:cNvPicPr>
          <p:nvPr/>
        </p:nvPicPr>
        <p:blipFill rotWithShape="1">
          <a:blip r:embed="rId5"/>
          <a:srcRect l="13624" r="15365" b="12187"/>
          <a:stretch>
            <a:fillRect/>
          </a:stretch>
        </p:blipFill>
        <p:spPr bwMode="auto">
          <a:xfrm>
            <a:off x="6362789" y="3045269"/>
            <a:ext cx="5445729" cy="3321624"/>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pic>
        <p:nvPicPr>
          <p:cNvPr id="13" name="Picture 12">
            <a:extLst>
              <a:ext uri="{FF2B5EF4-FFF2-40B4-BE49-F238E27FC236}">
                <a16:creationId xmlns:a16="http://schemas.microsoft.com/office/drawing/2014/main" id="{025DFF88-B8FC-5325-FCFD-F30B2A74149F}"/>
              </a:ext>
              <a:ext uri="{C183D7F6-B498-43B3-948B-1728B52AA6E4}">
                <adec:decorative xmlns:adec="http://schemas.microsoft.com/office/drawing/2017/decorative" val="1"/>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9403414" y="5183264"/>
            <a:ext cx="248459" cy="432862"/>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descr="Picture 3: image of a finger selecting an option for a multiple choice or true and false">
            <a:extLst>
              <a:ext uri="{FF2B5EF4-FFF2-40B4-BE49-F238E27FC236}">
                <a16:creationId xmlns:a16="http://schemas.microsoft.com/office/drawing/2014/main" id="{052C7F21-CF1B-B8E5-D48F-252B3A5306C6}"/>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32" name="Picture 31" descr="An area model made up of a long rectangle is split into two vertical parts labelled 200 and 15 across the top, with 4 shown on the left side as the height. Inside the 200 section, the partial product 800 is written. Inside the 15 section, the partial product 60 is written. Under the model it shows 800 + 60 = 860, indicating the partial products are added to get the final answer, 860.">
            <a:extLst>
              <a:ext uri="{FF2B5EF4-FFF2-40B4-BE49-F238E27FC236}">
                <a16:creationId xmlns:a16="http://schemas.microsoft.com/office/drawing/2014/main" id="{22B9CDFA-F9A7-D9B9-1337-461FF237595B}"/>
              </a:ext>
            </a:extLst>
          </p:cNvPr>
          <p:cNvPicPr>
            <a:picLocks noChangeAspect="1"/>
          </p:cNvPicPr>
          <p:nvPr/>
        </p:nvPicPr>
        <p:blipFill>
          <a:blip r:embed="rId4"/>
          <a:stretch>
            <a:fillRect/>
          </a:stretch>
        </p:blipFill>
        <p:spPr>
          <a:xfrm>
            <a:off x="3767023" y="859516"/>
            <a:ext cx="5343385" cy="2998256"/>
          </a:xfrm>
          <a:prstGeom prst="rect">
            <a:avLst/>
          </a:prstGeom>
          <a:ln>
            <a:noFill/>
          </a:ln>
          <a:effectLst>
            <a:outerShdw blurRad="292100" dist="139700" dir="2700000" algn="tl" rotWithShape="0">
              <a:srgbClr val="333333">
                <a:alpha val="65000"/>
              </a:srgbClr>
            </a:outerShdw>
          </a:effectLst>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817198" y="3811687"/>
            <a:ext cx="11243037" cy="893226"/>
          </a:xfrm>
        </p:spPr>
        <p:txBody>
          <a:bodyPr/>
          <a:lstStyle/>
          <a:p>
            <a:pPr algn="ctr"/>
            <a:r>
              <a:rPr lang="en-AU" sz="4400"/>
              <a:t>This area models shows…</a:t>
            </a:r>
            <a:endParaRPr lang="en-US" sz="8800"/>
          </a:p>
        </p:txBody>
      </p:sp>
      <p:sp>
        <p:nvSpPr>
          <p:cNvPr id="21" name="TextBox 20">
            <a:extLst>
              <a:ext uri="{FF2B5EF4-FFF2-40B4-BE49-F238E27FC236}">
                <a16:creationId xmlns:a16="http://schemas.microsoft.com/office/drawing/2014/main" id="{BCC3414B-53F1-9652-BC50-889E363F0E69}"/>
              </a:ext>
            </a:extLst>
          </p:cNvPr>
          <p:cNvSpPr txBox="1"/>
          <p:nvPr/>
        </p:nvSpPr>
        <p:spPr>
          <a:xfrm>
            <a:off x="1480638" y="514874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9" name="TextBox 8">
            <a:extLst>
              <a:ext uri="{FF2B5EF4-FFF2-40B4-BE49-F238E27FC236}">
                <a16:creationId xmlns:a16="http://schemas.microsoft.com/office/drawing/2014/main" id="{4E6EA9CC-6235-8807-420B-A4371AC418C0}"/>
              </a:ext>
            </a:extLst>
          </p:cNvPr>
          <p:cNvSpPr txBox="1"/>
          <p:nvPr/>
        </p:nvSpPr>
        <p:spPr>
          <a:xfrm>
            <a:off x="709569" y="5899401"/>
            <a:ext cx="2254891"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860 x 4</a:t>
            </a:r>
          </a:p>
        </p:txBody>
      </p:sp>
      <p:sp>
        <p:nvSpPr>
          <p:cNvPr id="22" name="TextBox 21">
            <a:extLst>
              <a:ext uri="{FF2B5EF4-FFF2-40B4-BE49-F238E27FC236}">
                <a16:creationId xmlns:a16="http://schemas.microsoft.com/office/drawing/2014/main" id="{A4DC7963-0F8A-934F-1AA6-9F9C91DC7D58}"/>
              </a:ext>
            </a:extLst>
          </p:cNvPr>
          <p:cNvSpPr txBox="1"/>
          <p:nvPr/>
        </p:nvSpPr>
        <p:spPr>
          <a:xfrm>
            <a:off x="4484611" y="512727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26" name="TextBox 25">
            <a:extLst>
              <a:ext uri="{FF2B5EF4-FFF2-40B4-BE49-F238E27FC236}">
                <a16:creationId xmlns:a16="http://schemas.microsoft.com/office/drawing/2014/main" id="{BEA28829-CFE0-80EC-9C69-9286785439E4}"/>
              </a:ext>
            </a:extLst>
          </p:cNvPr>
          <p:cNvSpPr txBox="1"/>
          <p:nvPr/>
        </p:nvSpPr>
        <p:spPr>
          <a:xfrm>
            <a:off x="3554472" y="5918037"/>
            <a:ext cx="2416120"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204 x 15</a:t>
            </a:r>
          </a:p>
        </p:txBody>
      </p:sp>
      <p:sp>
        <p:nvSpPr>
          <p:cNvPr id="23" name="TextBox 22">
            <a:extLst>
              <a:ext uri="{FF2B5EF4-FFF2-40B4-BE49-F238E27FC236}">
                <a16:creationId xmlns:a16="http://schemas.microsoft.com/office/drawing/2014/main" id="{FF1A5841-D658-57FB-2F2E-D0198C915985}"/>
              </a:ext>
            </a:extLst>
          </p:cNvPr>
          <p:cNvSpPr txBox="1"/>
          <p:nvPr/>
        </p:nvSpPr>
        <p:spPr>
          <a:xfrm>
            <a:off x="7476400" y="514874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27" name="TextBox 26">
            <a:extLst>
              <a:ext uri="{FF2B5EF4-FFF2-40B4-BE49-F238E27FC236}">
                <a16:creationId xmlns:a16="http://schemas.microsoft.com/office/drawing/2014/main" id="{4523CD4F-65DF-CC3F-943C-EBE14EE9F16E}"/>
              </a:ext>
            </a:extLst>
          </p:cNvPr>
          <p:cNvSpPr txBox="1"/>
          <p:nvPr/>
        </p:nvSpPr>
        <p:spPr>
          <a:xfrm>
            <a:off x="6662475" y="5871742"/>
            <a:ext cx="2254891"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215 x 4</a:t>
            </a:r>
          </a:p>
        </p:txBody>
      </p:sp>
      <p:sp>
        <p:nvSpPr>
          <p:cNvPr id="24" name="TextBox 23">
            <a:extLst>
              <a:ext uri="{FF2B5EF4-FFF2-40B4-BE49-F238E27FC236}">
                <a16:creationId xmlns:a16="http://schemas.microsoft.com/office/drawing/2014/main" id="{86DC3261-40D7-1B31-4480-A8EAC151C3AE}"/>
              </a:ext>
            </a:extLst>
          </p:cNvPr>
          <p:cNvSpPr txBox="1"/>
          <p:nvPr/>
        </p:nvSpPr>
        <p:spPr>
          <a:xfrm>
            <a:off x="10480373" y="516073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8" name="TextBox 27">
            <a:extLst>
              <a:ext uri="{FF2B5EF4-FFF2-40B4-BE49-F238E27FC236}">
                <a16:creationId xmlns:a16="http://schemas.microsoft.com/office/drawing/2014/main" id="{D0C64780-684F-3019-285F-88715297085A}"/>
              </a:ext>
            </a:extLst>
          </p:cNvPr>
          <p:cNvSpPr txBox="1"/>
          <p:nvPr/>
        </p:nvSpPr>
        <p:spPr>
          <a:xfrm>
            <a:off x="9609249" y="5848882"/>
            <a:ext cx="2254891"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4 x 860</a:t>
            </a:r>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a:xfrm>
            <a:off x="11253694" y="6623355"/>
            <a:ext cx="720000" cy="180000"/>
          </a:xfrm>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50E6D17-419D-F0FA-2ECC-5EC5EF7F25EF}"/>
              </a:ext>
            </a:extLst>
          </p:cNvPr>
          <p:cNvSpPr txBox="1"/>
          <p:nvPr/>
        </p:nvSpPr>
        <p:spPr>
          <a:xfrm>
            <a:off x="434000" y="1140487"/>
            <a:ext cx="11324000" cy="1088021"/>
          </a:xfrm>
          <a:prstGeom prst="rect">
            <a:avLst/>
          </a:prstGeom>
          <a:noFill/>
        </p:spPr>
        <p:txBody>
          <a:bodyPr wrap="square" lIns="0" tIns="0" rIns="0" bIns="0" rtlCol="0">
            <a:noAutofit/>
          </a:bodyPr>
          <a:lstStyle/>
          <a:p>
            <a:pPr algn="ctr"/>
            <a:r>
              <a:rPr lang="en-AU" sz="4400"/>
              <a:t>Use the </a:t>
            </a:r>
            <a:r>
              <a:rPr lang="en-AU" sz="4400" b="1"/>
              <a:t>area model </a:t>
            </a:r>
            <a:r>
              <a:rPr lang="en-AU" sz="4400"/>
              <a:t>to solve 36 divided by 3.</a:t>
            </a:r>
          </a:p>
        </p:txBody>
      </p:sp>
      <p:pic>
        <p:nvPicPr>
          <p:cNvPr id="9" name="Picture 8" descr="Image of an area model. The image shows a horizontal rectangle divided into two sections. The larger section on the left is yellow and labelled '30', while the smaller green section on the right is marked '6'. The overall length of the rectangle is labelled '36', and the height is '3'.">
            <a:extLst>
              <a:ext uri="{FF2B5EF4-FFF2-40B4-BE49-F238E27FC236}">
                <a16:creationId xmlns:a16="http://schemas.microsoft.com/office/drawing/2014/main" id="{974759F0-04CC-C69D-B71E-74FF659AA60B}"/>
              </a:ext>
            </a:extLst>
          </p:cNvPr>
          <p:cNvPicPr>
            <a:picLocks noChangeAspect="1"/>
          </p:cNvPicPr>
          <p:nvPr/>
        </p:nvPicPr>
        <p:blipFill>
          <a:blip r:embed="rId4"/>
          <a:stretch>
            <a:fillRect/>
          </a:stretch>
        </p:blipFill>
        <p:spPr>
          <a:xfrm>
            <a:off x="733149" y="2605250"/>
            <a:ext cx="10725701" cy="389275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9FDF281-6B00-389E-C408-ACFA0EC4B236}"/>
              </a:ext>
            </a:extLst>
          </p:cNvPr>
          <p:cNvSpPr txBox="1"/>
          <p:nvPr/>
        </p:nvSpPr>
        <p:spPr>
          <a:xfrm>
            <a:off x="359999" y="1334456"/>
            <a:ext cx="11585977" cy="515610"/>
          </a:xfrm>
          <a:prstGeom prst="rect">
            <a:avLst/>
          </a:prstGeom>
          <a:noFill/>
        </p:spPr>
        <p:txBody>
          <a:bodyPr wrap="square" lIns="0" tIns="0" rIns="0" bIns="0" rtlCol="0">
            <a:noAutofit/>
          </a:bodyPr>
          <a:lstStyle/>
          <a:p>
            <a:pPr algn="l"/>
            <a:r>
              <a:rPr lang="en-AU" sz="4000" b="1"/>
              <a:t>Order</a:t>
            </a:r>
            <a:r>
              <a:rPr lang="en-AU" sz="4000"/>
              <a:t> these heights from </a:t>
            </a:r>
            <a:r>
              <a:rPr lang="en-AU" sz="4000" b="1"/>
              <a:t>shortest</a:t>
            </a:r>
            <a:r>
              <a:rPr lang="en-AU" sz="4000"/>
              <a:t> to </a:t>
            </a:r>
            <a:r>
              <a:rPr lang="en-AU" sz="4000" b="1"/>
              <a:t>tallest</a:t>
            </a:r>
            <a:r>
              <a:rPr lang="en-AU" sz="4000"/>
              <a:t>:</a:t>
            </a:r>
          </a:p>
        </p:txBody>
      </p:sp>
      <p:sp>
        <p:nvSpPr>
          <p:cNvPr id="8" name="TextBox 7">
            <a:extLst>
              <a:ext uri="{FF2B5EF4-FFF2-40B4-BE49-F238E27FC236}">
                <a16:creationId xmlns:a16="http://schemas.microsoft.com/office/drawing/2014/main" id="{DA7FDAEB-B911-2C7B-1B4B-8BE190E1FA9D}"/>
              </a:ext>
            </a:extLst>
          </p:cNvPr>
          <p:cNvSpPr txBox="1"/>
          <p:nvPr/>
        </p:nvSpPr>
        <p:spPr>
          <a:xfrm>
            <a:off x="4529469" y="2424223"/>
            <a:ext cx="2286000" cy="3717270"/>
          </a:xfrm>
          <a:prstGeom prst="rect">
            <a:avLst/>
          </a:prstGeom>
          <a:noFill/>
        </p:spPr>
        <p:txBody>
          <a:bodyPr wrap="square" lIns="0" tIns="0" rIns="0" bIns="0" rtlCol="0">
            <a:noAutofit/>
          </a:bodyPr>
          <a:lstStyle/>
          <a:p>
            <a:pPr marL="285750" indent="-285750">
              <a:lnSpc>
                <a:spcPct val="150000"/>
              </a:lnSpc>
              <a:buFont typeface="Arial" panose="020B0604020202020204" pitchFamily="34" charset="0"/>
              <a:buChar char="•"/>
            </a:pPr>
            <a:r>
              <a:rPr lang="en-AU" sz="4000"/>
              <a:t>1.8 m</a:t>
            </a:r>
          </a:p>
          <a:p>
            <a:pPr marL="285750" indent="-285750" algn="l">
              <a:lnSpc>
                <a:spcPct val="150000"/>
              </a:lnSpc>
              <a:buFont typeface="Arial" panose="020B0604020202020204" pitchFamily="34" charset="0"/>
              <a:buChar char="•"/>
            </a:pPr>
            <a:r>
              <a:rPr lang="en-AU" sz="4000"/>
              <a:t>1.27 m</a:t>
            </a:r>
          </a:p>
          <a:p>
            <a:pPr marL="285750" indent="-285750">
              <a:lnSpc>
                <a:spcPct val="150000"/>
              </a:lnSpc>
              <a:buFont typeface="Arial" panose="020B0604020202020204" pitchFamily="34" charset="0"/>
              <a:buChar char="•"/>
            </a:pPr>
            <a:r>
              <a:rPr lang="en-AU" sz="4000"/>
              <a:t>1.82 m</a:t>
            </a:r>
          </a:p>
          <a:p>
            <a:pPr marL="285750" indent="-285750">
              <a:lnSpc>
                <a:spcPct val="150000"/>
              </a:lnSpc>
              <a:buFont typeface="Arial" panose="020B0604020202020204" pitchFamily="34" charset="0"/>
              <a:buChar char="•"/>
            </a:pPr>
            <a:r>
              <a:rPr lang="en-AU" sz="4000"/>
              <a:t>1.7 m</a:t>
            </a:r>
          </a:p>
          <a:p>
            <a:pPr marL="285750" indent="-285750" algn="l">
              <a:buFont typeface="Arial" panose="020B0604020202020204" pitchFamily="34" charset="0"/>
              <a:buChar char="•"/>
            </a:pPr>
            <a:endParaRPr lang="en-AU" sz="1800"/>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Picture 2: image of a clipboard with a pencil recording short answer responses">
            <a:extLst>
              <a:ext uri="{FF2B5EF4-FFF2-40B4-BE49-F238E27FC236}">
                <a16:creationId xmlns:a16="http://schemas.microsoft.com/office/drawing/2014/main" id="{B38D0ADF-3DD6-732F-15F0-9E23C650943F}"/>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FBC1546-3B07-D107-56BC-1D1B9E1F3B58}"/>
              </a:ext>
            </a:extLst>
          </p:cNvPr>
          <p:cNvSpPr txBox="1"/>
          <p:nvPr/>
        </p:nvSpPr>
        <p:spPr>
          <a:xfrm>
            <a:off x="63062" y="1216623"/>
            <a:ext cx="12065876" cy="707886"/>
          </a:xfrm>
          <a:prstGeom prst="rect">
            <a:avLst/>
          </a:prstGeom>
          <a:noFill/>
        </p:spPr>
        <p:txBody>
          <a:bodyPr wrap="square">
            <a:spAutoFit/>
          </a:bodyPr>
          <a:lstStyle/>
          <a:p>
            <a:pPr algn="ctr"/>
            <a:r>
              <a:rPr lang="en-AU" sz="4000" b="1">
                <a:latin typeface="Arial" panose="020B0604020202020204" pitchFamily="34" charset="0"/>
                <a:cs typeface="Arial" panose="020B0604020202020204" pitchFamily="34" charset="0"/>
              </a:rPr>
              <a:t>Record </a:t>
            </a:r>
            <a:r>
              <a:rPr lang="en-AU" sz="4000">
                <a:latin typeface="Arial" panose="020B0604020202020204" pitchFamily="34" charset="0"/>
                <a:cs typeface="Arial" panose="020B0604020202020204" pitchFamily="34" charset="0"/>
              </a:rPr>
              <a:t>the </a:t>
            </a:r>
            <a:r>
              <a:rPr lang="en-AU" sz="4000" b="1">
                <a:latin typeface="Arial" panose="020B0604020202020204" pitchFamily="34" charset="0"/>
                <a:cs typeface="Arial" panose="020B0604020202020204" pitchFamily="34" charset="0"/>
              </a:rPr>
              <a:t>year</a:t>
            </a:r>
            <a:r>
              <a:rPr lang="en-AU" sz="4000">
                <a:latin typeface="Arial" panose="020B0604020202020204" pitchFamily="34" charset="0"/>
                <a:cs typeface="Arial" panose="020B0604020202020204" pitchFamily="34" charset="0"/>
              </a:rPr>
              <a:t> the show ‘Home and Away’ began.</a:t>
            </a:r>
          </a:p>
        </p:txBody>
      </p:sp>
      <p:pic>
        <p:nvPicPr>
          <p:cNvPr id="12" name="Picture 11" descr="The image is a timeline diagram covering the period from 1960 to 1990. Key events are indicated above and below the timeline in rectangular boxes. Below 1969, the event &quot;Apollo 11 moon landing&quot; is noted. Below 1975, &quot;Colour television is launched in Australia&quot; is indicated. Above 1973, &quot;Opening of the Sydney Opera House by Queen Elizabeth II&quot; is marked. Above 1978, “Wimbledon and Melbourne Cup broadcasted for the first time” is displayed. Below 1985, it states, “The show 'Neighbours' began”, and above 1988, it notes, “The show 'Home and Away' began.”">
            <a:extLst>
              <a:ext uri="{FF2B5EF4-FFF2-40B4-BE49-F238E27FC236}">
                <a16:creationId xmlns:a16="http://schemas.microsoft.com/office/drawing/2014/main" id="{8A121469-D791-B5A6-983C-1E04480D5E88}"/>
              </a:ext>
            </a:extLst>
          </p:cNvPr>
          <p:cNvPicPr>
            <a:picLocks noChangeAspect="1"/>
          </p:cNvPicPr>
          <p:nvPr/>
        </p:nvPicPr>
        <p:blipFill>
          <a:blip r:embed="rId4"/>
          <a:stretch>
            <a:fillRect/>
          </a:stretch>
        </p:blipFill>
        <p:spPr>
          <a:xfrm>
            <a:off x="2012731" y="2155213"/>
            <a:ext cx="8166538" cy="4460468"/>
          </a:xfrm>
          <a:prstGeom prst="rect">
            <a:avLst/>
          </a:prstGeom>
          <a:ln>
            <a:noFill/>
          </a:ln>
          <a:effectLst>
            <a:outerShdw blurRad="190500" algn="tl" rotWithShape="0">
              <a:srgbClr val="000000">
                <a:alpha val="70000"/>
              </a:srgbClr>
            </a:outerShdw>
          </a:effectLst>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descr="Picture 2: image of a clipboard with a pencil recording short answer responses">
            <a:extLst>
              <a:ext uri="{FF2B5EF4-FFF2-40B4-BE49-F238E27FC236}">
                <a16:creationId xmlns:a16="http://schemas.microsoft.com/office/drawing/2014/main" id="{8579B78F-E8F7-2A31-5798-ADB627F83149}"/>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A4DF0C9-3857-8B54-5730-96C252C99B5C}"/>
              </a:ext>
            </a:extLst>
          </p:cNvPr>
          <p:cNvSpPr txBox="1"/>
          <p:nvPr/>
        </p:nvSpPr>
        <p:spPr>
          <a:xfrm>
            <a:off x="1350737" y="1333433"/>
            <a:ext cx="9490525" cy="1637413"/>
          </a:xfrm>
          <a:prstGeom prst="rect">
            <a:avLst/>
          </a:prstGeom>
          <a:noFill/>
        </p:spPr>
        <p:txBody>
          <a:bodyPr wrap="square" lIns="0" tIns="0" rIns="0" bIns="0" rtlCol="0">
            <a:noAutofit/>
          </a:bodyPr>
          <a:lstStyle/>
          <a:p>
            <a:pPr algn="ctr">
              <a:lnSpc>
                <a:spcPct val="150000"/>
              </a:lnSpc>
            </a:pPr>
            <a:r>
              <a:rPr lang="en-AU" sz="4400"/>
              <a:t>How much time is </a:t>
            </a:r>
            <a:r>
              <a:rPr lang="en-AU" sz="4400" b="1"/>
              <a:t>remaining </a:t>
            </a:r>
            <a:r>
              <a:rPr lang="en-AU" sz="4400"/>
              <a:t>until </a:t>
            </a:r>
            <a:r>
              <a:rPr lang="en-AU" sz="4400" b="1"/>
              <a:t>nine o’clock</a:t>
            </a:r>
            <a:r>
              <a:rPr lang="en-AU" sz="4400"/>
              <a:t>.</a:t>
            </a:r>
          </a:p>
        </p:txBody>
      </p:sp>
      <p:pic>
        <p:nvPicPr>
          <p:cNvPr id="9" name="Picture 8" descr="Digital clock displaying the time 08:15.">
            <a:extLst>
              <a:ext uri="{FF2B5EF4-FFF2-40B4-BE49-F238E27FC236}">
                <a16:creationId xmlns:a16="http://schemas.microsoft.com/office/drawing/2014/main" id="{18C54A5A-E80E-A6F9-0962-BA0ECF406144}"/>
              </a:ext>
            </a:extLst>
          </p:cNvPr>
          <p:cNvPicPr>
            <a:picLocks noChangeAspect="1"/>
          </p:cNvPicPr>
          <p:nvPr/>
        </p:nvPicPr>
        <p:blipFill>
          <a:blip r:embed="rId4"/>
          <a:srcRect l="1627" t="2531" r="2238" b="2548"/>
          <a:stretch>
            <a:fillRect/>
          </a:stretch>
        </p:blipFill>
        <p:spPr>
          <a:xfrm>
            <a:off x="3384330" y="3720661"/>
            <a:ext cx="5202621" cy="2280745"/>
          </a:xfrm>
          <a:prstGeom prst="roundRect">
            <a:avLst/>
          </a:prstGeom>
          <a:ln>
            <a:noFill/>
          </a:ln>
          <a:effectLst>
            <a:outerShdw blurRad="190500" algn="tl" rotWithShape="0">
              <a:srgbClr val="000000">
                <a:alpha val="70000"/>
              </a:srgbClr>
            </a:outerShdw>
          </a:effectLst>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dirty="0"/>
              <a:t>Activity 5 – using the area model to solve division problems (1)</a:t>
            </a:r>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8" name="TextBox 7">
            <a:extLst>
              <a:ext uri="{FF2B5EF4-FFF2-40B4-BE49-F238E27FC236}">
                <a16:creationId xmlns:a16="http://schemas.microsoft.com/office/drawing/2014/main" id="{30E43AE5-ABDA-7A68-3A3B-B25047735F13}"/>
              </a:ext>
            </a:extLst>
          </p:cNvPr>
          <p:cNvSpPr txBox="1"/>
          <p:nvPr/>
        </p:nvSpPr>
        <p:spPr>
          <a:xfrm>
            <a:off x="1922661" y="1769068"/>
            <a:ext cx="8346678" cy="1323439"/>
          </a:xfrm>
          <a:prstGeom prst="rect">
            <a:avLst/>
          </a:prstGeom>
          <a:noFill/>
        </p:spPr>
        <p:txBody>
          <a:bodyPr wrap="square">
            <a:spAutoFit/>
          </a:bodyPr>
          <a:lstStyle/>
          <a:p>
            <a:pPr algn="ctr"/>
            <a:r>
              <a:rPr lang="en-AU" sz="4000" dirty="0">
                <a:latin typeface="Arial" panose="020B0604020202020204" pitchFamily="34" charset="0"/>
                <a:cs typeface="Arial" panose="020B0604020202020204" pitchFamily="34" charset="0"/>
              </a:rPr>
              <a:t>U</a:t>
            </a:r>
            <a:r>
              <a:rPr lang="en-AU" sz="4000" kern="1200" dirty="0">
                <a:solidFill>
                  <a:schemeClr val="tx1"/>
                </a:solidFill>
                <a:effectLst/>
                <a:latin typeface="Arial" panose="020B0604020202020204" pitchFamily="34" charset="0"/>
                <a:ea typeface="+mn-ea"/>
                <a:cs typeface="Arial" panose="020B0604020202020204" pitchFamily="34" charset="0"/>
              </a:rPr>
              <a:t>se an </a:t>
            </a:r>
            <a:r>
              <a:rPr lang="en-AU" sz="4000" b="1" kern="1200" dirty="0">
                <a:solidFill>
                  <a:schemeClr val="tx1"/>
                </a:solidFill>
                <a:effectLst/>
                <a:latin typeface="Arial" panose="020B0604020202020204" pitchFamily="34" charset="0"/>
                <a:ea typeface="+mn-ea"/>
                <a:cs typeface="Arial" panose="020B0604020202020204" pitchFamily="34" charset="0"/>
              </a:rPr>
              <a:t>area model </a:t>
            </a:r>
            <a:r>
              <a:rPr lang="en-AU" sz="4000" kern="1200" dirty="0">
                <a:solidFill>
                  <a:schemeClr val="tx1"/>
                </a:solidFill>
                <a:effectLst/>
                <a:latin typeface="Arial" panose="020B0604020202020204" pitchFamily="34" charset="0"/>
                <a:ea typeface="+mn-ea"/>
                <a:cs typeface="Arial" panose="020B0604020202020204" pitchFamily="34" charset="0"/>
              </a:rPr>
              <a:t>to </a:t>
            </a:r>
            <a:r>
              <a:rPr lang="en-AU" sz="4000" b="1" kern="1200" dirty="0">
                <a:solidFill>
                  <a:schemeClr val="tx1"/>
                </a:solidFill>
                <a:effectLst/>
                <a:latin typeface="Arial" panose="020B0604020202020204" pitchFamily="34" charset="0"/>
                <a:ea typeface="+mn-ea"/>
                <a:cs typeface="Arial" panose="020B0604020202020204" pitchFamily="34" charset="0"/>
              </a:rPr>
              <a:t>solve</a:t>
            </a:r>
            <a:r>
              <a:rPr lang="en-AU" sz="4000" kern="1200" dirty="0">
                <a:solidFill>
                  <a:schemeClr val="tx1"/>
                </a:solidFill>
                <a:effectLst/>
                <a:latin typeface="Arial" panose="020B0604020202020204" pitchFamily="34" charset="0"/>
                <a:ea typeface="+mn-ea"/>
                <a:cs typeface="Arial" panose="020B0604020202020204" pitchFamily="34" charset="0"/>
              </a:rPr>
              <a:t>:</a:t>
            </a:r>
          </a:p>
          <a:p>
            <a:endParaRPr lang="en-AU" sz="40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9" name="TextBox 8">
            <a:extLst>
              <a:ext uri="{FF2B5EF4-FFF2-40B4-BE49-F238E27FC236}">
                <a16:creationId xmlns:a16="http://schemas.microsoft.com/office/drawing/2014/main" id="{0E9A731D-11FD-99CC-AAF7-540A4B96CC5F}"/>
              </a:ext>
            </a:extLst>
          </p:cNvPr>
          <p:cNvSpPr txBox="1"/>
          <p:nvPr/>
        </p:nvSpPr>
        <p:spPr>
          <a:xfrm>
            <a:off x="912366" y="3092507"/>
            <a:ext cx="10367268" cy="3013838"/>
          </a:xfrm>
          <a:prstGeom prst="rect">
            <a:avLst/>
          </a:prstGeom>
          <a:noFill/>
        </p:spPr>
        <p:txBody>
          <a:bodyPr wrap="square">
            <a:spAutoFit/>
          </a:bodyPr>
          <a:lstStyle/>
          <a:p>
            <a:pPr algn="ctr">
              <a:lnSpc>
                <a:spcPct val="150000"/>
              </a:lnSpc>
            </a:pPr>
            <a:r>
              <a:rPr lang="en-AU" sz="4400" kern="1200" dirty="0">
                <a:solidFill>
                  <a:schemeClr val="tx1"/>
                </a:solidFill>
                <a:effectLst/>
                <a:latin typeface="Arial" panose="020B0604020202020204" pitchFamily="34" charset="0"/>
                <a:ea typeface="+mn-ea"/>
                <a:cs typeface="Arial" panose="020B0604020202020204" pitchFamily="34" charset="0"/>
              </a:rPr>
              <a:t>The sports shed has 72 tennis balls. Each container holds 8 balls. </a:t>
            </a:r>
          </a:p>
          <a:p>
            <a:pPr algn="ctr">
              <a:lnSpc>
                <a:spcPct val="150000"/>
              </a:lnSpc>
            </a:pPr>
            <a:r>
              <a:rPr lang="en-AU" sz="4400" kern="1200" dirty="0">
                <a:solidFill>
                  <a:schemeClr val="tx1"/>
                </a:solidFill>
                <a:effectLst/>
                <a:latin typeface="Arial" panose="020B0604020202020204" pitchFamily="34" charset="0"/>
                <a:ea typeface="+mn-ea"/>
                <a:cs typeface="Arial" panose="020B0604020202020204" pitchFamily="34" charset="0"/>
              </a:rPr>
              <a:t>How many containers are needed?  </a:t>
            </a:r>
            <a:endParaRPr lang="en-AU" sz="4400" dirty="0"/>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B557F-3113-655E-EAD8-15EFBA980EA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77E0C61-5869-DD6E-323D-EDCDC81CBDB9}"/>
              </a:ext>
            </a:extLst>
          </p:cNvPr>
          <p:cNvSpPr>
            <a:spLocks noGrp="1"/>
          </p:cNvSpPr>
          <p:nvPr>
            <p:ph type="title"/>
          </p:nvPr>
        </p:nvSpPr>
        <p:spPr>
          <a:xfrm>
            <a:off x="360000" y="360000"/>
            <a:ext cx="10367268" cy="545601"/>
          </a:xfrm>
        </p:spPr>
        <p:txBody>
          <a:bodyPr/>
          <a:lstStyle/>
          <a:p>
            <a:r>
              <a:rPr lang="en-AU" dirty="0"/>
              <a:t>Activity 5 – using the area model to solve division problems (2)</a:t>
            </a:r>
          </a:p>
        </p:txBody>
      </p:sp>
      <p:pic>
        <p:nvPicPr>
          <p:cNvPr id="4" name="Picture 3" descr="image of a head with cogs turning inside">
            <a:extLst>
              <a:ext uri="{FF2B5EF4-FFF2-40B4-BE49-F238E27FC236}">
                <a16:creationId xmlns:a16="http://schemas.microsoft.com/office/drawing/2014/main" id="{970C6AED-D4C1-F446-EE61-FDEC43E6C46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1F13FD7-BC0A-EF66-2F7E-9E87E0EF35C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7" name="TextBox 6">
            <a:extLst>
              <a:ext uri="{FF2B5EF4-FFF2-40B4-BE49-F238E27FC236}">
                <a16:creationId xmlns:a16="http://schemas.microsoft.com/office/drawing/2014/main" id="{F01BB1D2-6CA2-B31D-E53B-E2A927B314A5}"/>
              </a:ext>
            </a:extLst>
          </p:cNvPr>
          <p:cNvSpPr txBox="1"/>
          <p:nvPr/>
        </p:nvSpPr>
        <p:spPr>
          <a:xfrm>
            <a:off x="756733" y="3092507"/>
            <a:ext cx="10367267" cy="3013838"/>
          </a:xfrm>
          <a:prstGeom prst="rect">
            <a:avLst/>
          </a:prstGeom>
          <a:noFill/>
        </p:spPr>
        <p:txBody>
          <a:bodyPr wrap="square">
            <a:spAutoFit/>
          </a:bodyPr>
          <a:lstStyle/>
          <a:p>
            <a:pPr algn="ctr">
              <a:lnSpc>
                <a:spcPct val="150000"/>
              </a:lnSpc>
            </a:pPr>
            <a:r>
              <a:rPr lang="en-AU" sz="4400" dirty="0">
                <a:latin typeface="Arial" panose="020B0604020202020204" pitchFamily="34" charset="0"/>
                <a:cs typeface="Arial" panose="020B0604020202020204" pitchFamily="34" charset="0"/>
              </a:rPr>
              <a:t>The sports shed has 56 training cones. </a:t>
            </a:r>
          </a:p>
          <a:p>
            <a:pPr algn="ctr">
              <a:lnSpc>
                <a:spcPct val="150000"/>
              </a:lnSpc>
            </a:pPr>
            <a:r>
              <a:rPr lang="en-AU" sz="4400" dirty="0">
                <a:latin typeface="Arial" panose="020B0604020202020204" pitchFamily="34" charset="0"/>
                <a:cs typeface="Arial" panose="020B0604020202020204" pitchFamily="34" charset="0"/>
              </a:rPr>
              <a:t>They are stacked in groups of 7. How many stacks are there? </a:t>
            </a:r>
            <a:endParaRPr lang="en-AU" sz="4400" dirty="0"/>
          </a:p>
        </p:txBody>
      </p:sp>
      <p:sp>
        <p:nvSpPr>
          <p:cNvPr id="9" name="TextBox 8">
            <a:extLst>
              <a:ext uri="{FF2B5EF4-FFF2-40B4-BE49-F238E27FC236}">
                <a16:creationId xmlns:a16="http://schemas.microsoft.com/office/drawing/2014/main" id="{5B8C0B18-64F7-3F97-105D-02322F4688AD}"/>
              </a:ext>
            </a:extLst>
          </p:cNvPr>
          <p:cNvSpPr txBox="1"/>
          <p:nvPr/>
        </p:nvSpPr>
        <p:spPr>
          <a:xfrm>
            <a:off x="1922661" y="1769068"/>
            <a:ext cx="8346678" cy="1323439"/>
          </a:xfrm>
          <a:prstGeom prst="rect">
            <a:avLst/>
          </a:prstGeom>
          <a:noFill/>
        </p:spPr>
        <p:txBody>
          <a:bodyPr wrap="square">
            <a:spAutoFit/>
          </a:bodyPr>
          <a:lstStyle/>
          <a:p>
            <a:pPr algn="ctr"/>
            <a:r>
              <a:rPr lang="en-AU" sz="4000" dirty="0">
                <a:latin typeface="Arial" panose="020B0604020202020204" pitchFamily="34" charset="0"/>
                <a:cs typeface="Arial" panose="020B0604020202020204" pitchFamily="34" charset="0"/>
              </a:rPr>
              <a:t>U</a:t>
            </a:r>
            <a:r>
              <a:rPr lang="en-AU" sz="4000" kern="1200" dirty="0">
                <a:solidFill>
                  <a:schemeClr val="tx1"/>
                </a:solidFill>
                <a:effectLst/>
                <a:latin typeface="Arial" panose="020B0604020202020204" pitchFamily="34" charset="0"/>
                <a:ea typeface="+mn-ea"/>
                <a:cs typeface="Arial" panose="020B0604020202020204" pitchFamily="34" charset="0"/>
              </a:rPr>
              <a:t>se an </a:t>
            </a:r>
            <a:r>
              <a:rPr lang="en-AU" sz="4000" b="1" kern="1200" dirty="0">
                <a:solidFill>
                  <a:schemeClr val="tx1"/>
                </a:solidFill>
                <a:effectLst/>
                <a:latin typeface="Arial" panose="020B0604020202020204" pitchFamily="34" charset="0"/>
                <a:ea typeface="+mn-ea"/>
                <a:cs typeface="Arial" panose="020B0604020202020204" pitchFamily="34" charset="0"/>
              </a:rPr>
              <a:t>area model </a:t>
            </a:r>
            <a:r>
              <a:rPr lang="en-AU" sz="4000" kern="1200" dirty="0">
                <a:solidFill>
                  <a:schemeClr val="tx1"/>
                </a:solidFill>
                <a:effectLst/>
                <a:latin typeface="Arial" panose="020B0604020202020204" pitchFamily="34" charset="0"/>
                <a:ea typeface="+mn-ea"/>
                <a:cs typeface="Arial" panose="020B0604020202020204" pitchFamily="34" charset="0"/>
              </a:rPr>
              <a:t>to </a:t>
            </a:r>
            <a:r>
              <a:rPr lang="en-AU" sz="4000" b="1" kern="1200" dirty="0">
                <a:solidFill>
                  <a:schemeClr val="tx1"/>
                </a:solidFill>
                <a:effectLst/>
                <a:latin typeface="Arial" panose="020B0604020202020204" pitchFamily="34" charset="0"/>
                <a:ea typeface="+mn-ea"/>
                <a:cs typeface="Arial" panose="020B0604020202020204" pitchFamily="34" charset="0"/>
              </a:rPr>
              <a:t>solve</a:t>
            </a:r>
            <a:r>
              <a:rPr lang="en-AU" sz="4000" kern="1200" dirty="0">
                <a:solidFill>
                  <a:schemeClr val="tx1"/>
                </a:solidFill>
                <a:effectLst/>
                <a:latin typeface="Arial" panose="020B0604020202020204" pitchFamily="34" charset="0"/>
                <a:ea typeface="+mn-ea"/>
                <a:cs typeface="Arial" panose="020B0604020202020204" pitchFamily="34" charset="0"/>
              </a:rPr>
              <a:t>:</a:t>
            </a:r>
          </a:p>
          <a:p>
            <a:endParaRPr lang="en-AU"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723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04F30-079A-4B7F-94C8-25F706D1E4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3C4510-5510-FF59-F67C-2D796D119451}"/>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Picture 3: image of a finger selecting an option for a multiple choice or true and false">
            <a:extLst>
              <a:ext uri="{FF2B5EF4-FFF2-40B4-BE49-F238E27FC236}">
                <a16:creationId xmlns:a16="http://schemas.microsoft.com/office/drawing/2014/main" id="{6465ABAE-D472-F7E1-E9E9-22F44D0B2A1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8" name="TextBox 7">
            <a:extLst>
              <a:ext uri="{FF2B5EF4-FFF2-40B4-BE49-F238E27FC236}">
                <a16:creationId xmlns:a16="http://schemas.microsoft.com/office/drawing/2014/main" id="{2F26913A-8D3B-EB9A-2168-32ED836D2E1E}"/>
              </a:ext>
            </a:extLst>
          </p:cNvPr>
          <p:cNvSpPr txBox="1"/>
          <p:nvPr/>
        </p:nvSpPr>
        <p:spPr>
          <a:xfrm>
            <a:off x="3678248" y="1277957"/>
            <a:ext cx="4835503" cy="914400"/>
          </a:xfrm>
          <a:prstGeom prst="rect">
            <a:avLst/>
          </a:prstGeom>
          <a:noFill/>
        </p:spPr>
        <p:txBody>
          <a:bodyPr wrap="none" lIns="0" tIns="0" rIns="0" bIns="0" rtlCol="0">
            <a:noAutofit/>
          </a:bodyPr>
          <a:lstStyle/>
          <a:p>
            <a:pPr algn="ctr"/>
            <a:r>
              <a:rPr lang="en-AU" sz="4400"/>
              <a:t>This </a:t>
            </a:r>
            <a:r>
              <a:rPr lang="en-AU" sz="4400" b="1"/>
              <a:t>area model </a:t>
            </a:r>
            <a:r>
              <a:rPr lang="en-AU" sz="4400"/>
              <a:t>represents </a:t>
            </a:r>
            <a:r>
              <a:rPr lang="en-AU" sz="4400" b="1"/>
              <a:t>123 x 6</a:t>
            </a:r>
            <a:r>
              <a:rPr lang="en-AU" sz="4400"/>
              <a:t>. </a:t>
            </a:r>
          </a:p>
        </p:txBody>
      </p:sp>
      <p:pic>
        <p:nvPicPr>
          <p:cNvPr id="6" name="Picture 5" descr="An area model made up of a long rectangle split into three vertical parts labelled 100, 20 and 3 across the top, with 6 shown on the left side. Inside the 100 section, the partial product 600 is written. Inside the 20 section, the partial product 120 is written. Inside the 3 section, the partial product 18 is written. Under the model it shows 600 + 120 + 18 = 738, indicating the partial products are added to get the final answer, 738.">
            <a:extLst>
              <a:ext uri="{FF2B5EF4-FFF2-40B4-BE49-F238E27FC236}">
                <a16:creationId xmlns:a16="http://schemas.microsoft.com/office/drawing/2014/main" id="{5BB78854-96A2-EA72-FE56-5B832C45A44C}"/>
              </a:ext>
            </a:extLst>
          </p:cNvPr>
          <p:cNvPicPr>
            <a:picLocks noChangeAspect="1"/>
          </p:cNvPicPr>
          <p:nvPr/>
        </p:nvPicPr>
        <p:blipFill>
          <a:blip r:embed="rId4"/>
          <a:stretch>
            <a:fillRect/>
          </a:stretch>
        </p:blipFill>
        <p:spPr>
          <a:xfrm>
            <a:off x="2449315" y="2178766"/>
            <a:ext cx="7572867" cy="3262418"/>
          </a:xfrm>
          <a:prstGeom prst="rect">
            <a:avLst/>
          </a:prstGeom>
          <a:ln>
            <a:noFill/>
          </a:ln>
          <a:effectLst>
            <a:outerShdw blurRad="292100" dist="139700" dir="2700000" algn="tl" rotWithShape="0">
              <a:srgbClr val="333333">
                <a:alpha val="65000"/>
              </a:srgbClr>
            </a:outerShdw>
          </a:effectLst>
        </p:spPr>
      </p:pic>
      <p:graphicFrame>
        <p:nvGraphicFramePr>
          <p:cNvPr id="12" name="Table 11">
            <a:extLst>
              <a:ext uri="{FF2B5EF4-FFF2-40B4-BE49-F238E27FC236}">
                <a16:creationId xmlns:a16="http://schemas.microsoft.com/office/drawing/2014/main" id="{4A36B548-2064-C9B7-64B9-6253CFFC3454}"/>
              </a:ext>
            </a:extLst>
          </p:cNvPr>
          <p:cNvGraphicFramePr>
            <a:graphicFrameLocks noGrp="1"/>
          </p:cNvGraphicFramePr>
          <p:nvPr>
            <p:extLst>
              <p:ext uri="{D42A27DB-BD31-4B8C-83A1-F6EECF244321}">
                <p14:modId xmlns:p14="http://schemas.microsoft.com/office/powerpoint/2010/main" val="1856868148"/>
              </p:ext>
            </p:extLst>
          </p:nvPr>
        </p:nvGraphicFramePr>
        <p:xfrm>
          <a:off x="2557461" y="5756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40B5A28B-C787-2C56-3A6E-59E2B4DF14B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21409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FA096AE-9627-9F47-0A6A-109A39338059}"/>
              </a:ext>
            </a:extLst>
          </p:cNvPr>
          <p:cNvSpPr txBox="1"/>
          <p:nvPr/>
        </p:nvSpPr>
        <p:spPr>
          <a:xfrm>
            <a:off x="538619" y="1453020"/>
            <a:ext cx="10722280" cy="915500"/>
          </a:xfrm>
          <a:prstGeom prst="rect">
            <a:avLst/>
          </a:prstGeom>
          <a:noFill/>
        </p:spPr>
        <p:txBody>
          <a:bodyPr wrap="square" lIns="0" tIns="0" rIns="0" bIns="0" rtlCol="0">
            <a:noAutofit/>
          </a:bodyPr>
          <a:lstStyle/>
          <a:p>
            <a:r>
              <a:rPr lang="en-AU" sz="4400"/>
              <a:t>Solve </a:t>
            </a:r>
            <a:r>
              <a:rPr lang="en-AU" sz="4400" b="1"/>
              <a:t>652 × 4 </a:t>
            </a:r>
            <a:r>
              <a:rPr lang="en-AU" sz="4400"/>
              <a:t>using the </a:t>
            </a:r>
            <a:r>
              <a:rPr lang="en-AU" sz="4400" b="1"/>
              <a:t>area model</a:t>
            </a:r>
            <a:r>
              <a:rPr lang="en-AU" sz="4400"/>
              <a:t>:</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7" name="Picture 6" descr="An area model made up of a rectangle divided labeled &quot;652&quot; at the top, There is a &quot;4&quot; on the vertical side.&#10;">
            <a:extLst>
              <a:ext uri="{FF2B5EF4-FFF2-40B4-BE49-F238E27FC236}">
                <a16:creationId xmlns:a16="http://schemas.microsoft.com/office/drawing/2014/main" id="{926FCA9A-8485-9014-1564-A8582FA9A582}"/>
              </a:ext>
            </a:extLst>
          </p:cNvPr>
          <p:cNvPicPr>
            <a:picLocks noChangeAspect="1"/>
          </p:cNvPicPr>
          <p:nvPr/>
        </p:nvPicPr>
        <p:blipFill>
          <a:blip r:embed="rId4"/>
          <a:stretch>
            <a:fillRect/>
          </a:stretch>
        </p:blipFill>
        <p:spPr>
          <a:xfrm>
            <a:off x="1311276" y="2368520"/>
            <a:ext cx="9569447" cy="41474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ABEBE623-3442-64F6-705E-5259E4815970}"/>
              </a:ext>
            </a:extLst>
          </p:cNvPr>
          <p:cNvSpPr txBox="1"/>
          <p:nvPr/>
        </p:nvSpPr>
        <p:spPr>
          <a:xfrm>
            <a:off x="1022401" y="1181483"/>
            <a:ext cx="9829562" cy="5749074"/>
          </a:xfrm>
          <a:prstGeom prst="rect">
            <a:avLst/>
          </a:prstGeom>
          <a:noFill/>
        </p:spPr>
        <p:txBody>
          <a:bodyPr wrap="square" lIns="91440" tIns="45720" rIns="91440" bIns="45720" anchor="t">
            <a:spAutoFit/>
          </a:bodyPr>
          <a:lstStyle/>
          <a:p>
            <a:pPr lvl="0">
              <a:lnSpc>
                <a:spcPct val="150000"/>
              </a:lnSpc>
              <a:spcBef>
                <a:spcPts val="1200"/>
              </a:spcBef>
              <a:spcAft>
                <a:spcPts val="600"/>
              </a:spcAft>
            </a:pPr>
            <a:r>
              <a:rPr lang="en-AU" sz="4000">
                <a:effectLst/>
                <a:latin typeface="Arial"/>
                <a:ea typeface="Calibri"/>
                <a:cs typeface="Arial"/>
              </a:rPr>
              <a:t>On the weekend </a:t>
            </a:r>
            <a:r>
              <a:rPr lang="en-AU" sz="4000" b="1">
                <a:effectLst/>
                <a:latin typeface="Arial"/>
                <a:ea typeface="Calibri"/>
                <a:cs typeface="Arial"/>
              </a:rPr>
              <a:t>532 people </a:t>
            </a:r>
            <a:r>
              <a:rPr lang="en-AU" sz="4000">
                <a:effectLst/>
                <a:latin typeface="Arial"/>
                <a:ea typeface="Calibri"/>
                <a:cs typeface="Arial"/>
              </a:rPr>
              <a:t>went to see a movie. Halfway through the movie, 67 people left because they </a:t>
            </a:r>
            <a:r>
              <a:rPr lang="en-AU" sz="4000" b="1">
                <a:effectLst/>
                <a:latin typeface="Arial"/>
                <a:ea typeface="Calibri"/>
                <a:cs typeface="Arial"/>
              </a:rPr>
              <a:t>didn't like it</a:t>
            </a:r>
            <a:r>
              <a:rPr lang="en-AU" sz="4000">
                <a:effectLst/>
                <a:latin typeface="Arial"/>
                <a:ea typeface="Calibri"/>
                <a:cs typeface="Arial"/>
              </a:rPr>
              <a:t>. How many people </a:t>
            </a:r>
            <a:r>
              <a:rPr lang="en-AU" sz="4000" b="1">
                <a:effectLst/>
                <a:latin typeface="Arial"/>
                <a:ea typeface="Calibri"/>
                <a:cs typeface="Arial"/>
              </a:rPr>
              <a:t>watched the whole movie</a:t>
            </a:r>
            <a:r>
              <a:rPr lang="en-AU" sz="4000">
                <a:effectLst/>
                <a:latin typeface="Arial"/>
                <a:ea typeface="Calibri"/>
                <a:cs typeface="Arial"/>
              </a:rPr>
              <a:t>?</a:t>
            </a:r>
          </a:p>
          <a:p>
            <a:pPr>
              <a:lnSpc>
                <a:spcPct val="150000"/>
              </a:lnSpc>
              <a:spcBef>
                <a:spcPts val="1200"/>
              </a:spcBef>
              <a:spcAft>
                <a:spcPts val="600"/>
              </a:spcAft>
            </a:pPr>
            <a:r>
              <a:rPr lang="en-AU" sz="4000" b="1">
                <a:latin typeface="Arial"/>
                <a:ea typeface="Calibri"/>
                <a:cs typeface="Arial"/>
              </a:rPr>
              <a:t>Communicate</a:t>
            </a:r>
            <a:r>
              <a:rPr lang="en-AU" sz="4000">
                <a:latin typeface="Arial"/>
                <a:ea typeface="Calibri"/>
                <a:cs typeface="Arial"/>
              </a:rPr>
              <a:t> your </a:t>
            </a:r>
            <a:r>
              <a:rPr lang="en-AU" sz="4000" b="1">
                <a:latin typeface="Arial"/>
                <a:ea typeface="Calibri"/>
                <a:cs typeface="Arial"/>
              </a:rPr>
              <a:t>strategy</a:t>
            </a:r>
            <a:r>
              <a:rPr lang="en-AU" sz="4000">
                <a:latin typeface="Arial"/>
                <a:ea typeface="Calibri"/>
                <a:cs typeface="Arial"/>
              </a:rPr>
              <a:t>. </a:t>
            </a:r>
            <a:endParaRPr lang="en-AU" sz="4000">
              <a:latin typeface="Arial" panose="020B0604020202020204" pitchFamily="34" charset="0"/>
              <a:ea typeface="Calibri" panose="020F0502020204030204" pitchFamily="34" charset="0"/>
              <a:cs typeface="Arial"/>
            </a:endParaRP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46</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713338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descr="Picture 2: image of a clipboard with a pencil recording short answer responses">
            <a:extLst>
              <a:ext uri="{FF2B5EF4-FFF2-40B4-BE49-F238E27FC236}">
                <a16:creationId xmlns:a16="http://schemas.microsoft.com/office/drawing/2014/main" id="{414B841E-8840-471A-4D5D-BE5947D1F0DF}"/>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A1D2C51-1104-2D72-121D-7811FC198DCB}"/>
              </a:ext>
            </a:extLst>
          </p:cNvPr>
          <p:cNvSpPr txBox="1"/>
          <p:nvPr/>
        </p:nvSpPr>
        <p:spPr>
          <a:xfrm>
            <a:off x="529389" y="808237"/>
            <a:ext cx="11133222" cy="1433247"/>
          </a:xfrm>
          <a:prstGeom prst="rect">
            <a:avLst/>
          </a:prstGeom>
          <a:noFill/>
        </p:spPr>
        <p:txBody>
          <a:bodyPr wrap="square" lIns="0" tIns="0" rIns="0" bIns="0" rtlCol="0">
            <a:no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Order</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the following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decimals </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from </a:t>
            </a:r>
          </a:p>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smallest</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to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largest</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a:t>
            </a:r>
          </a:p>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33EBE528-4161-E5CE-99D3-5424B7FD2B65}"/>
              </a:ext>
            </a:extLst>
          </p:cNvPr>
          <p:cNvSpPr txBox="1"/>
          <p:nvPr/>
        </p:nvSpPr>
        <p:spPr>
          <a:xfrm>
            <a:off x="4886852" y="3020125"/>
            <a:ext cx="3159868" cy="3477875"/>
          </a:xfrm>
          <a:prstGeom prst="rect">
            <a:avLst/>
          </a:prstGeom>
          <a:noFill/>
        </p:spPr>
        <p:txBody>
          <a:bodyPr wrap="square">
            <a:spAutoFit/>
          </a:bodyPr>
          <a:lstStyle/>
          <a:p>
            <a:pPr marL="571500" marR="0" lvl="0" indent="-571500"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0.68</a:t>
            </a:r>
          </a:p>
          <a:p>
            <a:pPr marL="0" marR="0" lvl="0" indent="0" defTabSz="609585" rtl="0" eaLnBrk="1" fontAlgn="auto" latinLnBrk="0" hangingPunct="1">
              <a:lnSpc>
                <a:spcPct val="100000"/>
              </a:lnSpc>
              <a:spcBef>
                <a:spcPts val="0"/>
              </a:spcBef>
              <a:spcAft>
                <a:spcPts val="0"/>
              </a:spcAft>
              <a:buClrTx/>
              <a:buSzTx/>
              <a:buFontTx/>
              <a:buNone/>
              <a:tabLst/>
              <a:defRPr/>
            </a:pP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a:p>
            <a:pPr marL="571500" marR="0" lvl="0" indent="-571500"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0.8</a:t>
            </a:r>
          </a:p>
          <a:p>
            <a:pPr marL="0" marR="0" lvl="0" indent="0" defTabSz="609585" rtl="0" eaLnBrk="1" fontAlgn="auto" latinLnBrk="0" hangingPunct="1">
              <a:lnSpc>
                <a:spcPct val="100000"/>
              </a:lnSpc>
              <a:spcBef>
                <a:spcPts val="0"/>
              </a:spcBef>
              <a:spcAft>
                <a:spcPts val="0"/>
              </a:spcAft>
              <a:buClrTx/>
              <a:buSzTx/>
              <a:buFontTx/>
              <a:buNone/>
              <a:tabLst/>
              <a:defRPr/>
            </a:pP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a:p>
            <a:pPr marL="571500" marR="0" lvl="0" indent="-571500"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0.0086</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descr="Picture 2: image of a clipboard with a pencil recording short answer responses">
            <a:extLst>
              <a:ext uri="{FF2B5EF4-FFF2-40B4-BE49-F238E27FC236}">
                <a16:creationId xmlns:a16="http://schemas.microsoft.com/office/drawing/2014/main" id="{7F0D925D-1709-7016-D09D-4DDBD08A31D5}"/>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71F1FF1-1B94-6E74-2B8B-0876F9DBA042}"/>
              </a:ext>
            </a:extLst>
          </p:cNvPr>
          <p:cNvSpPr txBox="1"/>
          <p:nvPr/>
        </p:nvSpPr>
        <p:spPr>
          <a:xfrm>
            <a:off x="513517" y="1959442"/>
            <a:ext cx="5322863" cy="2743200"/>
          </a:xfrm>
          <a:prstGeom prst="rect">
            <a:avLst/>
          </a:prstGeom>
          <a:noFill/>
        </p:spPr>
        <p:txBody>
          <a:bodyPr wrap="square" lIns="0" tIns="0" rIns="0" bIns="0" rtlCol="0">
            <a:noAutofit/>
          </a:bodyPr>
          <a:lstStyle/>
          <a:p>
            <a:pPr marL="0" marR="0" lvl="0" indent="0" algn="l" defTabSz="609585" rtl="0" eaLnBrk="1" fontAlgn="auto" latinLnBrk="0" hangingPunct="1">
              <a:lnSpc>
                <a:spcPct val="150000"/>
              </a:lnSpc>
              <a:spcBef>
                <a:spcPts val="0"/>
              </a:spcBef>
              <a:spcAft>
                <a:spcPts val="0"/>
              </a:spcAft>
              <a:buClrTx/>
              <a:buSzTx/>
              <a:buFontTx/>
              <a:buNone/>
              <a:tabLst/>
              <a:defRPr/>
            </a:pPr>
            <a:r>
              <a:rPr lang="en-AU" sz="4400" b="1">
                <a:solidFill>
                  <a:srgbClr val="22272B"/>
                </a:solidFill>
                <a:latin typeface="Arial" panose="020B0604020202020204"/>
              </a:rPr>
              <a:t>Record</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the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mass</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of the oranges </a:t>
            </a:r>
            <a:r>
              <a:rPr lang="en-AU" sz="4400">
                <a:solidFill>
                  <a:srgbClr val="22272B"/>
                </a:solidFill>
                <a:latin typeface="Arial" panose="020B0604020202020204"/>
              </a:rPr>
              <a:t>in </a:t>
            </a:r>
            <a:r>
              <a:rPr lang="en-AU" sz="4400" b="1">
                <a:solidFill>
                  <a:srgbClr val="22272B"/>
                </a:solidFill>
                <a:latin typeface="Arial" panose="020B0604020202020204"/>
              </a:rPr>
              <a:t>kilograms </a:t>
            </a:r>
            <a:r>
              <a:rPr lang="en-AU" sz="4400">
                <a:solidFill>
                  <a:srgbClr val="22272B"/>
                </a:solidFill>
                <a:latin typeface="Arial" panose="020B0604020202020204"/>
              </a:rPr>
              <a:t>and </a:t>
            </a:r>
            <a:r>
              <a:rPr lang="en-AU" sz="4400" b="1">
                <a:solidFill>
                  <a:srgbClr val="22272B"/>
                </a:solidFill>
                <a:latin typeface="Arial" panose="020B0604020202020204"/>
              </a:rPr>
              <a:t>grams.</a:t>
            </a: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12" name="Picture 11" descr="Image of kitchen scales showing 1858 g. On top of the scales is a bag of oranges.">
            <a:extLst>
              <a:ext uri="{FF2B5EF4-FFF2-40B4-BE49-F238E27FC236}">
                <a16:creationId xmlns:a16="http://schemas.microsoft.com/office/drawing/2014/main" id="{8820AD5A-4CD2-77A4-4A5F-224488F70C14}"/>
              </a:ext>
            </a:extLst>
          </p:cNvPr>
          <p:cNvPicPr>
            <a:picLocks noChangeAspect="1"/>
          </p:cNvPicPr>
          <p:nvPr/>
        </p:nvPicPr>
        <p:blipFill>
          <a:blip r:embed="rId4"/>
          <a:stretch>
            <a:fillRect/>
          </a:stretch>
        </p:blipFill>
        <p:spPr>
          <a:xfrm rot="5400000">
            <a:off x="5097252" y="1065985"/>
            <a:ext cx="6369144" cy="4890887"/>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investigating the area model</a:t>
            </a:r>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BE8AE8EA-7A93-1C09-475E-CE8D8C955626}"/>
              </a:ext>
            </a:extLst>
          </p:cNvPr>
          <p:cNvSpPr txBox="1"/>
          <p:nvPr/>
        </p:nvSpPr>
        <p:spPr>
          <a:xfrm>
            <a:off x="360000" y="1715653"/>
            <a:ext cx="5363870" cy="4594912"/>
          </a:xfrm>
          <a:prstGeom prst="rect">
            <a:avLst/>
          </a:prstGeom>
          <a:noFill/>
        </p:spPr>
        <p:txBody>
          <a:bodyPr wrap="square">
            <a:spAutoFit/>
          </a:bodyPr>
          <a:lstStyle/>
          <a:p>
            <a:pPr>
              <a:lnSpc>
                <a:spcPct val="150000"/>
              </a:lnSpc>
            </a:pPr>
            <a:r>
              <a:rPr lang="en-AU" sz="4000" kern="1200">
                <a:solidFill>
                  <a:schemeClr val="tx1"/>
                </a:solidFill>
                <a:effectLst/>
                <a:latin typeface="Arial" panose="020B0604020202020204" pitchFamily="34" charset="0"/>
                <a:ea typeface="+mn-ea"/>
                <a:cs typeface="Arial" panose="020B0604020202020204" pitchFamily="34" charset="0"/>
              </a:rPr>
              <a:t>Use the </a:t>
            </a:r>
            <a:r>
              <a:rPr lang="en-AU" sz="4000" b="1" kern="1200">
                <a:solidFill>
                  <a:schemeClr val="tx1"/>
                </a:solidFill>
                <a:effectLst/>
                <a:latin typeface="Arial" panose="020B0604020202020204" pitchFamily="34" charset="0"/>
                <a:ea typeface="+mn-ea"/>
                <a:cs typeface="Arial" panose="020B0604020202020204" pitchFamily="34" charset="0"/>
              </a:rPr>
              <a:t>area model </a:t>
            </a:r>
            <a:r>
              <a:rPr lang="en-AU" sz="4000" kern="1200">
                <a:solidFill>
                  <a:schemeClr val="tx1"/>
                </a:solidFill>
                <a:effectLst/>
                <a:latin typeface="Arial" panose="020B0604020202020204" pitchFamily="34" charset="0"/>
                <a:ea typeface="+mn-ea"/>
                <a:cs typeface="Arial" panose="020B0604020202020204" pitchFamily="34" charset="0"/>
              </a:rPr>
              <a:t>to </a:t>
            </a:r>
            <a:r>
              <a:rPr lang="en-AU" sz="4000" b="1" kern="1200">
                <a:solidFill>
                  <a:schemeClr val="tx1"/>
                </a:solidFill>
                <a:effectLst/>
                <a:latin typeface="Arial" panose="020B0604020202020204" pitchFamily="34" charset="0"/>
                <a:ea typeface="+mn-ea"/>
                <a:cs typeface="Arial" panose="020B0604020202020204" pitchFamily="34" charset="0"/>
              </a:rPr>
              <a:t>solve</a:t>
            </a:r>
            <a:r>
              <a:rPr lang="en-AU" sz="4000" kern="1200">
                <a:solidFill>
                  <a:schemeClr val="tx1"/>
                </a:solidFill>
                <a:effectLst/>
                <a:latin typeface="Arial" panose="020B0604020202020204" pitchFamily="34" charset="0"/>
                <a:ea typeface="+mn-ea"/>
                <a:cs typeface="Arial" panose="020B0604020202020204" pitchFamily="34" charset="0"/>
              </a:rPr>
              <a:t> </a:t>
            </a:r>
            <a:r>
              <a:rPr lang="en-AU" sz="4000" b="1" kern="1200">
                <a:solidFill>
                  <a:schemeClr val="tx1"/>
                </a:solidFill>
                <a:effectLst/>
                <a:latin typeface="Arial" panose="020B0604020202020204" pitchFamily="34" charset="0"/>
                <a:ea typeface="+mn-ea"/>
                <a:cs typeface="Arial" panose="020B0604020202020204" pitchFamily="34" charset="0"/>
              </a:rPr>
              <a:t>765 × 4 </a:t>
            </a:r>
            <a:r>
              <a:rPr lang="en-AU" sz="4000" kern="1200">
                <a:solidFill>
                  <a:schemeClr val="tx1"/>
                </a:solidFill>
                <a:effectLst/>
                <a:latin typeface="Arial" panose="020B0604020202020204" pitchFamily="34" charset="0"/>
                <a:ea typeface="+mn-ea"/>
                <a:cs typeface="Arial" panose="020B0604020202020204" pitchFamily="34" charset="0"/>
              </a:rPr>
              <a:t>to determine when Akram’s calculations are correct.</a:t>
            </a:r>
            <a:endParaRPr lang="en-AU" sz="4000"/>
          </a:p>
        </p:txBody>
      </p:sp>
      <p:pic>
        <p:nvPicPr>
          <p:cNvPr id="3" name="Picture 2" descr="A child thinking next to a whiteboard displaying an area model to solve: 765 × 4. The area model is broken up into: 700 × 4, 60 × 4 and 5 × 4. Inaccurate calculations have been recorded: 765 × 4 = (700 × 4) + (60 × 4) + (5 × 4)&#10;= 2080 + 420 + 20&#10;= 2520.">
            <a:extLst>
              <a:ext uri="{FF2B5EF4-FFF2-40B4-BE49-F238E27FC236}">
                <a16:creationId xmlns:a16="http://schemas.microsoft.com/office/drawing/2014/main" id="{C6D4B313-BEAF-1FFC-4DB5-6EB7554F0DF2}"/>
              </a:ext>
            </a:extLst>
          </p:cNvPr>
          <p:cNvPicPr>
            <a:picLocks noChangeAspect="1"/>
          </p:cNvPicPr>
          <p:nvPr/>
        </p:nvPicPr>
        <p:blipFill>
          <a:blip r:embed="rId4"/>
          <a:srcRect t="17563"/>
          <a:stretch>
            <a:fillRect/>
          </a:stretch>
        </p:blipFill>
        <p:spPr>
          <a:xfrm>
            <a:off x="5723870" y="1726344"/>
            <a:ext cx="6120130" cy="4160569"/>
          </a:xfrm>
          <a:prstGeom prst="rect">
            <a:avLst/>
          </a:prstGeom>
          <a:ln>
            <a:noFill/>
          </a:ln>
          <a:effectLst/>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Picture 3: image of a finger selecting an option for a multiple choice or true and false">
            <a:extLst>
              <a:ext uri="{FF2B5EF4-FFF2-40B4-BE49-F238E27FC236}">
                <a16:creationId xmlns:a16="http://schemas.microsoft.com/office/drawing/2014/main" id="{C493834B-1122-BF06-4664-175E7A7DB286}"/>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2247333" y="1788506"/>
            <a:ext cx="8255680" cy="893226"/>
          </a:xfrm>
        </p:spPr>
        <p:txBody>
          <a:bodyPr/>
          <a:lstStyle/>
          <a:p>
            <a:pPr marL="628650" indent="-628650"/>
            <a:r>
              <a:rPr lang="en-US" sz="6600" dirty="0"/>
              <a:t>       (3 x 5) x 4 =</a:t>
            </a:r>
          </a:p>
          <a:p>
            <a:endParaRPr lang="en-US" sz="4400" dirty="0"/>
          </a:p>
        </p:txBody>
      </p:sp>
      <p:sp>
        <p:nvSpPr>
          <p:cNvPr id="9" name="TextBox 8">
            <a:extLst>
              <a:ext uri="{FF2B5EF4-FFF2-40B4-BE49-F238E27FC236}">
                <a16:creationId xmlns:a16="http://schemas.microsoft.com/office/drawing/2014/main" id="{8B9CE09D-4912-352C-EDD3-2F5B22293E2B}"/>
              </a:ext>
            </a:extLst>
          </p:cNvPr>
          <p:cNvSpPr txBox="1"/>
          <p:nvPr/>
        </p:nvSpPr>
        <p:spPr>
          <a:xfrm>
            <a:off x="1215765" y="48669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8" name="TextBox 7">
            <a:extLst>
              <a:ext uri="{FF2B5EF4-FFF2-40B4-BE49-F238E27FC236}">
                <a16:creationId xmlns:a16="http://schemas.microsoft.com/office/drawing/2014/main" id="{39414D83-D163-A7D4-25FD-E0D9AA2C8DFA}"/>
              </a:ext>
            </a:extLst>
          </p:cNvPr>
          <p:cNvSpPr txBox="1"/>
          <p:nvPr/>
        </p:nvSpPr>
        <p:spPr>
          <a:xfrm>
            <a:off x="862007" y="5759336"/>
            <a:ext cx="1145755" cy="738664"/>
          </a:xfrm>
          <a:prstGeom prst="rect">
            <a:avLst/>
          </a:prstGeom>
          <a:noFill/>
        </p:spPr>
        <p:txBody>
          <a:bodyPr wrap="square" lIns="0" tIns="0" rIns="0" bIns="0" rtlCol="0">
            <a:noAutofit/>
          </a:bodyPr>
          <a:lstStyle/>
          <a:p>
            <a:pPr algn="ctr"/>
            <a:r>
              <a:rPr lang="en-AU" sz="4400"/>
              <a:t>23</a:t>
            </a:r>
          </a:p>
        </p:txBody>
      </p:sp>
      <p:sp>
        <p:nvSpPr>
          <p:cNvPr id="10" name="TextBox 9">
            <a:extLst>
              <a:ext uri="{FF2B5EF4-FFF2-40B4-BE49-F238E27FC236}">
                <a16:creationId xmlns:a16="http://schemas.microsoft.com/office/drawing/2014/main" id="{6720C9BD-206D-1246-CC58-B94DA2A9FDA7}"/>
              </a:ext>
            </a:extLst>
          </p:cNvPr>
          <p:cNvSpPr txBox="1"/>
          <p:nvPr/>
        </p:nvSpPr>
        <p:spPr>
          <a:xfrm>
            <a:off x="4219738" y="491348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Box 16">
            <a:extLst>
              <a:ext uri="{FF2B5EF4-FFF2-40B4-BE49-F238E27FC236}">
                <a16:creationId xmlns:a16="http://schemas.microsoft.com/office/drawing/2014/main" id="{976FB907-0582-94FE-0EBD-7400EDB6FF89}"/>
              </a:ext>
            </a:extLst>
          </p:cNvPr>
          <p:cNvSpPr txBox="1"/>
          <p:nvPr/>
        </p:nvSpPr>
        <p:spPr>
          <a:xfrm>
            <a:off x="3863160" y="5814366"/>
            <a:ext cx="1145755" cy="738664"/>
          </a:xfrm>
          <a:prstGeom prst="rect">
            <a:avLst/>
          </a:prstGeom>
          <a:noFill/>
        </p:spPr>
        <p:txBody>
          <a:bodyPr wrap="square" lIns="0" tIns="0" rIns="0" bIns="0" rtlCol="0">
            <a:noAutofit/>
          </a:bodyPr>
          <a:lstStyle/>
          <a:p>
            <a:pPr algn="ctr"/>
            <a:r>
              <a:rPr lang="en-AU" sz="4400"/>
              <a:t>60</a:t>
            </a:r>
          </a:p>
        </p:txBody>
      </p:sp>
      <p:sp>
        <p:nvSpPr>
          <p:cNvPr id="12" name="TextBox 11">
            <a:extLst>
              <a:ext uri="{FF2B5EF4-FFF2-40B4-BE49-F238E27FC236}">
                <a16:creationId xmlns:a16="http://schemas.microsoft.com/office/drawing/2014/main" id="{53D31413-FF78-7189-1A0F-0B12F84CC32D}"/>
              </a:ext>
            </a:extLst>
          </p:cNvPr>
          <p:cNvSpPr txBox="1"/>
          <p:nvPr/>
        </p:nvSpPr>
        <p:spPr>
          <a:xfrm>
            <a:off x="6958996" y="49089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Box 15">
            <a:extLst>
              <a:ext uri="{FF2B5EF4-FFF2-40B4-BE49-F238E27FC236}">
                <a16:creationId xmlns:a16="http://schemas.microsoft.com/office/drawing/2014/main" id="{35C0CA98-DF94-681A-4F92-8BF4EA283CCF}"/>
              </a:ext>
            </a:extLst>
          </p:cNvPr>
          <p:cNvSpPr txBox="1"/>
          <p:nvPr/>
        </p:nvSpPr>
        <p:spPr>
          <a:xfrm>
            <a:off x="6610209" y="5777336"/>
            <a:ext cx="1145755" cy="738664"/>
          </a:xfrm>
          <a:prstGeom prst="rect">
            <a:avLst/>
          </a:prstGeom>
          <a:noFill/>
        </p:spPr>
        <p:txBody>
          <a:bodyPr wrap="square" lIns="0" tIns="0" rIns="0" bIns="0" rtlCol="0">
            <a:noAutofit/>
          </a:bodyPr>
          <a:lstStyle/>
          <a:p>
            <a:pPr algn="ctr"/>
            <a:r>
              <a:rPr lang="en-AU" sz="4400"/>
              <a:t>75</a:t>
            </a:r>
          </a:p>
        </p:txBody>
      </p:sp>
      <p:sp>
        <p:nvSpPr>
          <p:cNvPr id="11" name="TextBox 10">
            <a:extLst>
              <a:ext uri="{FF2B5EF4-FFF2-40B4-BE49-F238E27FC236}">
                <a16:creationId xmlns:a16="http://schemas.microsoft.com/office/drawing/2014/main" id="{F03294A5-CB62-91E6-0D20-1199ECBFAF01}"/>
              </a:ext>
            </a:extLst>
          </p:cNvPr>
          <p:cNvSpPr txBox="1"/>
          <p:nvPr/>
        </p:nvSpPr>
        <p:spPr>
          <a:xfrm>
            <a:off x="9698254" y="490218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3" name="TextBox 12">
            <a:extLst>
              <a:ext uri="{FF2B5EF4-FFF2-40B4-BE49-F238E27FC236}">
                <a16:creationId xmlns:a16="http://schemas.microsoft.com/office/drawing/2014/main" id="{D9D15644-2F60-5436-EA63-3433778DFD4F}"/>
              </a:ext>
            </a:extLst>
          </p:cNvPr>
          <p:cNvSpPr txBox="1"/>
          <p:nvPr/>
        </p:nvSpPr>
        <p:spPr>
          <a:xfrm>
            <a:off x="9357258" y="5814366"/>
            <a:ext cx="1145755" cy="738664"/>
          </a:xfrm>
          <a:prstGeom prst="rect">
            <a:avLst/>
          </a:prstGeom>
          <a:noFill/>
        </p:spPr>
        <p:txBody>
          <a:bodyPr wrap="square" lIns="0" tIns="0" rIns="0" bIns="0" rtlCol="0">
            <a:noAutofit/>
          </a:bodyPr>
          <a:lstStyle/>
          <a:p>
            <a:pPr algn="ctr"/>
            <a:r>
              <a:rPr lang="en-AU" sz="4400"/>
              <a:t>15</a:t>
            </a:r>
          </a:p>
        </p:txBody>
      </p:sp>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85960-70D6-4D88-3E22-E7E81A1D005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8161CB0-CE4D-4CA1-16E7-1BC15D453B4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64789A57-1E41-F2A6-6F87-86178B5EBAA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D259A89-24F2-4BF8-02A2-E8F100B8F089}"/>
              </a:ext>
            </a:extLst>
          </p:cNvPr>
          <p:cNvSpPr txBox="1"/>
          <p:nvPr/>
        </p:nvSpPr>
        <p:spPr>
          <a:xfrm>
            <a:off x="514244" y="1104881"/>
            <a:ext cx="10738884" cy="915500"/>
          </a:xfrm>
          <a:prstGeom prst="rect">
            <a:avLst/>
          </a:prstGeom>
          <a:noFill/>
        </p:spPr>
        <p:txBody>
          <a:bodyPr wrap="square" lIns="0" tIns="0" rIns="0" bIns="0" rtlCol="0">
            <a:noAutofit/>
          </a:bodyPr>
          <a:lstStyle/>
          <a:p>
            <a:pPr algn="ctr"/>
            <a:r>
              <a:rPr lang="en-AU" sz="4400"/>
              <a:t>Draw the area model to match: </a:t>
            </a:r>
          </a:p>
          <a:p>
            <a:pPr algn="l"/>
            <a:endParaRPr lang="en-AU" sz="1800"/>
          </a:p>
          <a:p>
            <a:pPr algn="l"/>
            <a:endParaRPr lang="en-AU" sz="1800"/>
          </a:p>
        </p:txBody>
      </p:sp>
      <p:pic>
        <p:nvPicPr>
          <p:cNvPr id="7" name="Picture 6" descr="Vertical multiplication showing 322 × 6. Below the line are the partial products: 12 ,120 1800 (for 300 × 6). A final line is drawn, and the total 1832 is written underneath.">
            <a:extLst>
              <a:ext uri="{FF2B5EF4-FFF2-40B4-BE49-F238E27FC236}">
                <a16:creationId xmlns:a16="http://schemas.microsoft.com/office/drawing/2014/main" id="{8820015A-79B9-E29B-718C-E85D0C748053}"/>
              </a:ext>
            </a:extLst>
          </p:cNvPr>
          <p:cNvPicPr>
            <a:picLocks noChangeAspect="1"/>
          </p:cNvPicPr>
          <p:nvPr/>
        </p:nvPicPr>
        <p:blipFill>
          <a:blip r:embed="rId4"/>
          <a:stretch>
            <a:fillRect/>
          </a:stretch>
        </p:blipFill>
        <p:spPr>
          <a:xfrm>
            <a:off x="4355965" y="1860599"/>
            <a:ext cx="3055441" cy="4815183"/>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5CC910D7-718E-DE47-9272-19ADD34E9304}"/>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289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25132" y="342265"/>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4" name="TextBox 13">
            <a:extLst>
              <a:ext uri="{FF2B5EF4-FFF2-40B4-BE49-F238E27FC236}">
                <a16:creationId xmlns:a16="http://schemas.microsoft.com/office/drawing/2014/main" id="{1D875808-DDFE-BE35-51DE-FD67C2952661}"/>
              </a:ext>
            </a:extLst>
          </p:cNvPr>
          <p:cNvSpPr txBox="1"/>
          <p:nvPr/>
        </p:nvSpPr>
        <p:spPr>
          <a:xfrm>
            <a:off x="348000" y="910554"/>
            <a:ext cx="6930691" cy="5633402"/>
          </a:xfrm>
          <a:prstGeom prst="rect">
            <a:avLst/>
          </a:prstGeom>
          <a:noFill/>
        </p:spPr>
        <p:txBody>
          <a:bodyPr wrap="square">
            <a:spAutoFit/>
          </a:bodyPr>
          <a:lstStyle/>
          <a:p>
            <a:pPr>
              <a:lnSpc>
                <a:spcPct val="150000"/>
              </a:lnSpc>
              <a:spcBef>
                <a:spcPts val="1200"/>
              </a:spcBef>
              <a:spcAft>
                <a:spcPts val="600"/>
              </a:spcAft>
            </a:pPr>
            <a:r>
              <a:rPr lang="en-AU" sz="3200">
                <a:latin typeface="Arial" panose="020B0604020202020204" pitchFamily="34" charset="0"/>
                <a:ea typeface="Calibri" panose="020F0502020204030204" pitchFamily="34" charset="0"/>
              </a:rPr>
              <a:t>Stage 3 students gathered at a local sushi restaurant. </a:t>
            </a:r>
          </a:p>
          <a:p>
            <a:pPr>
              <a:lnSpc>
                <a:spcPct val="150000"/>
              </a:lnSpc>
              <a:spcBef>
                <a:spcPts val="1200"/>
              </a:spcBef>
              <a:spcAft>
                <a:spcPts val="600"/>
              </a:spcAft>
              <a:buNone/>
            </a:pPr>
            <a:r>
              <a:rPr lang="en-AU" sz="3200">
                <a:effectLst/>
                <a:latin typeface="Arial" panose="020B0604020202020204" pitchFamily="34" charset="0"/>
                <a:ea typeface="Calibri" panose="020F0502020204030204" pitchFamily="34" charset="0"/>
              </a:rPr>
              <a:t>Katrina ate </a:t>
            </a:r>
            <a:r>
              <a:rPr lang="en-AU" sz="3200" b="1">
                <a:solidFill>
                  <a:srgbClr val="8C52FF"/>
                </a:solidFill>
                <a:effectLst/>
                <a:latin typeface="Arial" panose="020B0604020202020204" pitchFamily="34" charset="0"/>
                <a:ea typeface="Calibri" panose="020F0502020204030204" pitchFamily="34" charset="0"/>
              </a:rPr>
              <a:t>3 purple plates</a:t>
            </a:r>
            <a:r>
              <a:rPr lang="en-AU" sz="3200" b="1">
                <a:effectLst/>
                <a:latin typeface="Arial" panose="020B0604020202020204" pitchFamily="34" charset="0"/>
                <a:ea typeface="Calibri" panose="020F0502020204030204" pitchFamily="34" charset="0"/>
              </a:rPr>
              <a:t>, </a:t>
            </a:r>
            <a:r>
              <a:rPr lang="en-AU" sz="3200" b="1">
                <a:solidFill>
                  <a:srgbClr val="FF66C4"/>
                </a:solidFill>
                <a:effectLst/>
                <a:latin typeface="Arial" panose="020B0604020202020204" pitchFamily="34" charset="0"/>
                <a:ea typeface="Calibri" panose="020F0502020204030204" pitchFamily="34" charset="0"/>
              </a:rPr>
              <a:t>4 pink plates</a:t>
            </a:r>
            <a:r>
              <a:rPr lang="en-AU" sz="3200">
                <a:solidFill>
                  <a:srgbClr val="FF66C4"/>
                </a:solidFill>
                <a:effectLst/>
                <a:latin typeface="Arial" panose="020B0604020202020204" pitchFamily="34" charset="0"/>
                <a:ea typeface="Calibri" panose="020F0502020204030204" pitchFamily="34" charset="0"/>
              </a:rPr>
              <a:t> </a:t>
            </a:r>
            <a:r>
              <a:rPr lang="en-AU" sz="3200">
                <a:effectLst/>
                <a:latin typeface="Arial" panose="020B0604020202020204" pitchFamily="34" charset="0"/>
                <a:ea typeface="Calibri" panose="020F0502020204030204" pitchFamily="34" charset="0"/>
              </a:rPr>
              <a:t>and </a:t>
            </a:r>
            <a:r>
              <a:rPr lang="en-AU" sz="3200" b="1">
                <a:solidFill>
                  <a:srgbClr val="2EB2D6"/>
                </a:solidFill>
                <a:effectLst/>
                <a:latin typeface="Arial" panose="020B0604020202020204" pitchFamily="34" charset="0"/>
                <a:ea typeface="Calibri" panose="020F0502020204030204" pitchFamily="34" charset="0"/>
              </a:rPr>
              <a:t>2 blue plates</a:t>
            </a:r>
            <a:r>
              <a:rPr lang="en-AU" sz="3200">
                <a:effectLst/>
                <a:latin typeface="Arial" panose="020B0604020202020204" pitchFamily="34" charset="0"/>
                <a:ea typeface="Calibri" panose="020F0502020204030204" pitchFamily="34" charset="0"/>
              </a:rPr>
              <a:t>. She paid with a </a:t>
            </a:r>
            <a:r>
              <a:rPr lang="en-AU" sz="3200" b="1">
                <a:effectLst/>
                <a:latin typeface="Arial" panose="020B0604020202020204" pitchFamily="34" charset="0"/>
                <a:ea typeface="Calibri" panose="020F0502020204030204" pitchFamily="34" charset="0"/>
              </a:rPr>
              <a:t>$250</a:t>
            </a:r>
            <a:r>
              <a:rPr lang="en-AU" sz="3200">
                <a:effectLst/>
                <a:latin typeface="Arial" panose="020B0604020202020204" pitchFamily="34" charset="0"/>
                <a:ea typeface="Calibri" panose="020F0502020204030204" pitchFamily="34" charset="0"/>
              </a:rPr>
              <a:t>. How much </a:t>
            </a:r>
            <a:r>
              <a:rPr lang="en-AU" sz="3200" b="1">
                <a:effectLst/>
                <a:latin typeface="Arial" panose="020B0604020202020204" pitchFamily="34" charset="0"/>
                <a:ea typeface="Calibri" panose="020F0502020204030204" pitchFamily="34" charset="0"/>
              </a:rPr>
              <a:t>change</a:t>
            </a:r>
            <a:r>
              <a:rPr lang="en-AU" sz="3200">
                <a:effectLst/>
                <a:latin typeface="Arial" panose="020B0604020202020204" pitchFamily="34" charset="0"/>
                <a:ea typeface="Calibri" panose="020F0502020204030204" pitchFamily="34" charset="0"/>
              </a:rPr>
              <a:t> did she receive?</a:t>
            </a:r>
          </a:p>
          <a:p>
            <a:pPr>
              <a:lnSpc>
                <a:spcPct val="150000"/>
              </a:lnSpc>
              <a:spcBef>
                <a:spcPts val="1200"/>
              </a:spcBef>
              <a:spcAft>
                <a:spcPts val="600"/>
              </a:spcAft>
              <a:buNone/>
            </a:pPr>
            <a:r>
              <a:rPr lang="en-AU" sz="3200" b="1">
                <a:latin typeface="Arial" panose="020B0604020202020204" pitchFamily="34" charset="0"/>
                <a:ea typeface="Calibri" panose="020F0502020204030204" pitchFamily="34" charset="0"/>
              </a:rPr>
              <a:t>Communicate</a:t>
            </a:r>
            <a:r>
              <a:rPr lang="en-AU" sz="3200">
                <a:latin typeface="Arial" panose="020B0604020202020204" pitchFamily="34" charset="0"/>
                <a:ea typeface="Calibri" panose="020F0502020204030204" pitchFamily="34" charset="0"/>
              </a:rPr>
              <a:t> your </a:t>
            </a:r>
            <a:r>
              <a:rPr lang="en-AU" sz="3200" b="1">
                <a:latin typeface="Arial" panose="020B0604020202020204" pitchFamily="34" charset="0"/>
                <a:ea typeface="Calibri" panose="020F0502020204030204" pitchFamily="34" charset="0"/>
              </a:rPr>
              <a:t>strategy.</a:t>
            </a:r>
            <a:endParaRPr lang="en-AU" sz="3200" b="1">
              <a:effectLst/>
              <a:latin typeface="Arial" panose="020B0604020202020204" pitchFamily="34" charset="0"/>
              <a:ea typeface="Calibri" panose="020F0502020204030204" pitchFamily="34" charset="0"/>
            </a:endParaRPr>
          </a:p>
        </p:txBody>
      </p:sp>
      <p:pic>
        <p:nvPicPr>
          <p:cNvPr id="4" name="Picture 3" descr="A menu board with 6 plates:&#10;orange - $22&#10;purple - $25&#10;pink - $27&#10;green - $30&#10;red - $33&#10;blue - $35">
            <a:extLst>
              <a:ext uri="{FF2B5EF4-FFF2-40B4-BE49-F238E27FC236}">
                <a16:creationId xmlns:a16="http://schemas.microsoft.com/office/drawing/2014/main" id="{64ECED42-8AB2-7C02-1618-FCB3C89E340F}"/>
              </a:ext>
            </a:extLst>
          </p:cNvPr>
          <p:cNvPicPr>
            <a:picLocks noChangeAspect="1"/>
          </p:cNvPicPr>
          <p:nvPr/>
        </p:nvPicPr>
        <p:blipFill>
          <a:blip r:embed="rId4">
            <a:extLst>
              <a:ext uri="{28A0092B-C50C-407E-A947-70E740481C1C}">
                <a14:useLocalDpi xmlns:a14="http://schemas.microsoft.com/office/drawing/2010/main" val="0"/>
              </a:ext>
            </a:extLst>
          </a:blip>
          <a:srcRect t="4127" r="3268" b="3340"/>
          <a:stretch>
            <a:fillRect/>
          </a:stretch>
        </p:blipFill>
        <p:spPr>
          <a:xfrm>
            <a:off x="7255823" y="1480580"/>
            <a:ext cx="4588177" cy="4739063"/>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descr="Picture 2: image of a clipboard with a pencil recording short answer responses">
            <a:extLst>
              <a:ext uri="{FF2B5EF4-FFF2-40B4-BE49-F238E27FC236}">
                <a16:creationId xmlns:a16="http://schemas.microsoft.com/office/drawing/2014/main" id="{6F1984CA-3815-83E6-2CEF-D3AC5609C15C}"/>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D2FA894-0BF8-3784-DD6E-CF838EC65FFC}"/>
              </a:ext>
            </a:extLst>
          </p:cNvPr>
          <p:cNvSpPr txBox="1"/>
          <p:nvPr/>
        </p:nvSpPr>
        <p:spPr>
          <a:xfrm>
            <a:off x="1644771" y="1476618"/>
            <a:ext cx="8687747" cy="927653"/>
          </a:xfrm>
          <a:prstGeom prst="rect">
            <a:avLst/>
          </a:prstGeom>
          <a:noFill/>
        </p:spPr>
        <p:txBody>
          <a:bodyPr wrap="non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Record the </a:t>
            </a:r>
            <a:r>
              <a:rPr kumimoji="0" lang="en-AU" sz="4400" b="1"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missing numbers</a:t>
            </a: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a:t>
            </a:r>
          </a:p>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48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pic>
        <p:nvPicPr>
          <p:cNvPr id="7" name="Picture 6" descr="Image of a number line with integers missing. the integers - 2, 0 and 1 are shown. ">
            <a:extLst>
              <a:ext uri="{FF2B5EF4-FFF2-40B4-BE49-F238E27FC236}">
                <a16:creationId xmlns:a16="http://schemas.microsoft.com/office/drawing/2014/main" id="{BF604283-A3DE-AD72-6169-B197F65A929A}"/>
              </a:ext>
            </a:extLst>
          </p:cNvPr>
          <p:cNvPicPr>
            <a:picLocks noChangeAspect="1"/>
          </p:cNvPicPr>
          <p:nvPr/>
        </p:nvPicPr>
        <p:blipFill>
          <a:blip r:embed="rId4"/>
          <a:stretch>
            <a:fillRect/>
          </a:stretch>
        </p:blipFill>
        <p:spPr>
          <a:xfrm>
            <a:off x="463260" y="3179368"/>
            <a:ext cx="11265479" cy="1930499"/>
          </a:xfrm>
          <a:prstGeom prst="rect">
            <a:avLst/>
          </a:prstGeom>
          <a:ln>
            <a:noFill/>
          </a:ln>
          <a:effectLst>
            <a:outerShdw blurRad="190500" algn="tl" rotWithShape="0">
              <a:srgbClr val="000000">
                <a:alpha val="70000"/>
              </a:srgbClr>
            </a:outerShdw>
          </a:effectLst>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Picture 2: image of a clipboard with a pencil recording short answer responses">
            <a:extLst>
              <a:ext uri="{FF2B5EF4-FFF2-40B4-BE49-F238E27FC236}">
                <a16:creationId xmlns:a16="http://schemas.microsoft.com/office/drawing/2014/main" id="{981E4643-C0C9-5325-74DA-A071DDDC65A8}"/>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84E51A3-44A8-FAF1-064F-9B1E5E2A00F4}"/>
              </a:ext>
            </a:extLst>
          </p:cNvPr>
          <p:cNvSpPr txBox="1"/>
          <p:nvPr/>
        </p:nvSpPr>
        <p:spPr>
          <a:xfrm>
            <a:off x="1375144" y="1834116"/>
            <a:ext cx="9441712" cy="1594884"/>
          </a:xfrm>
          <a:prstGeom prst="rect">
            <a:avLst/>
          </a:prstGeom>
          <a:noFill/>
        </p:spPr>
        <p:txBody>
          <a:bodyPr wrap="square" lIns="0" tIns="0" rIns="0" bIns="0" rtlCol="0">
            <a:noAutofit/>
          </a:bodyPr>
          <a:lstStyle/>
          <a:p>
            <a:pPr algn="ctr">
              <a:lnSpc>
                <a:spcPct val="150000"/>
              </a:lnSpc>
            </a:pPr>
            <a:r>
              <a:rPr lang="en-AU" sz="4400" b="1"/>
              <a:t>Sketch</a:t>
            </a:r>
            <a:r>
              <a:rPr lang="en-AU" sz="4400"/>
              <a:t> a </a:t>
            </a:r>
            <a:r>
              <a:rPr lang="en-AU" sz="4400" b="1"/>
              <a:t>square pyramid                      </a:t>
            </a:r>
            <a:r>
              <a:rPr lang="en-AU" sz="4400"/>
              <a:t>from the </a:t>
            </a:r>
            <a:r>
              <a:rPr lang="en-AU" sz="4400" b="1"/>
              <a:t>top </a:t>
            </a:r>
            <a:r>
              <a:rPr lang="en-AU" sz="4400"/>
              <a:t>and </a:t>
            </a:r>
            <a:r>
              <a:rPr lang="en-AU" sz="4400" b="1"/>
              <a:t>side views</a:t>
            </a:r>
            <a:r>
              <a:rPr lang="en-AU" sz="4400"/>
              <a:t>.</a:t>
            </a:r>
          </a:p>
          <a:p>
            <a:pPr algn="ctr"/>
            <a:endParaRPr lang="en-AU" sz="4400"/>
          </a:p>
          <a:p>
            <a:pPr algn="l"/>
            <a:endParaRPr lang="en-AU" sz="1800"/>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using partial products</a:t>
            </a:r>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0DACDCA0-0398-A903-3596-5896A1A4CE56}"/>
              </a:ext>
            </a:extLst>
          </p:cNvPr>
          <p:cNvSpPr txBox="1"/>
          <p:nvPr/>
        </p:nvSpPr>
        <p:spPr>
          <a:xfrm>
            <a:off x="360000" y="1374246"/>
            <a:ext cx="6163630" cy="4594912"/>
          </a:xfrm>
          <a:prstGeom prst="rect">
            <a:avLst/>
          </a:prstGeom>
          <a:noFill/>
        </p:spPr>
        <p:txBody>
          <a:bodyPr wrap="square">
            <a:spAutoFit/>
          </a:bodyPr>
          <a:lstStyle/>
          <a:p>
            <a:pPr>
              <a:lnSpc>
                <a:spcPct val="150000"/>
              </a:lnSpc>
            </a:pPr>
            <a:r>
              <a:rPr lang="en-AU" sz="4000" kern="1200">
                <a:solidFill>
                  <a:schemeClr val="tx1"/>
                </a:solidFill>
                <a:effectLst/>
                <a:latin typeface="Arial" panose="020B0604020202020204" pitchFamily="34" charset="0"/>
                <a:ea typeface="+mn-ea"/>
                <a:cs typeface="Arial" panose="020B0604020202020204" pitchFamily="34" charset="0"/>
              </a:rPr>
              <a:t>Use the </a:t>
            </a:r>
            <a:r>
              <a:rPr lang="en-AU" sz="4000" b="1" kern="1200">
                <a:solidFill>
                  <a:schemeClr val="tx1"/>
                </a:solidFill>
                <a:effectLst/>
                <a:latin typeface="Arial" panose="020B0604020202020204" pitchFamily="34" charset="0"/>
                <a:ea typeface="+mn-ea"/>
                <a:cs typeface="Arial" panose="020B0604020202020204" pitchFamily="34" charset="0"/>
              </a:rPr>
              <a:t>distributive property </a:t>
            </a:r>
            <a:r>
              <a:rPr lang="en-AU" sz="4000" kern="1200">
                <a:solidFill>
                  <a:schemeClr val="tx1"/>
                </a:solidFill>
                <a:effectLst/>
                <a:latin typeface="Arial" panose="020B0604020202020204" pitchFamily="34" charset="0"/>
                <a:ea typeface="+mn-ea"/>
                <a:cs typeface="Arial" panose="020B0604020202020204" pitchFamily="34" charset="0"/>
              </a:rPr>
              <a:t>with </a:t>
            </a:r>
            <a:r>
              <a:rPr lang="en-AU" sz="4000" b="1" kern="1200">
                <a:solidFill>
                  <a:schemeClr val="tx1"/>
                </a:solidFill>
                <a:effectLst/>
                <a:latin typeface="Arial" panose="020B0604020202020204" pitchFamily="34" charset="0"/>
                <a:ea typeface="+mn-ea"/>
                <a:cs typeface="Arial" panose="020B0604020202020204" pitchFamily="34" charset="0"/>
              </a:rPr>
              <a:t>partial products</a:t>
            </a:r>
            <a:r>
              <a:rPr lang="en-AU" sz="4000" kern="1200">
                <a:solidFill>
                  <a:schemeClr val="tx1"/>
                </a:solidFill>
                <a:effectLst/>
                <a:latin typeface="Arial" panose="020B0604020202020204" pitchFamily="34" charset="0"/>
                <a:ea typeface="+mn-ea"/>
                <a:cs typeface="Arial" panose="020B0604020202020204" pitchFamily="34" charset="0"/>
              </a:rPr>
              <a:t> to find the </a:t>
            </a:r>
            <a:r>
              <a:rPr lang="en-AU" sz="4000" b="1" kern="1200">
                <a:solidFill>
                  <a:schemeClr val="tx1"/>
                </a:solidFill>
                <a:effectLst/>
                <a:latin typeface="Arial" panose="020B0604020202020204" pitchFamily="34" charset="0"/>
                <a:ea typeface="+mn-ea"/>
                <a:cs typeface="Arial" panose="020B0604020202020204" pitchFamily="34" charset="0"/>
              </a:rPr>
              <a:t>sum</a:t>
            </a:r>
            <a:r>
              <a:rPr lang="en-AU" sz="4000" kern="1200">
                <a:solidFill>
                  <a:schemeClr val="tx1"/>
                </a:solidFill>
                <a:effectLst/>
                <a:latin typeface="Arial" panose="020B0604020202020204" pitchFamily="34" charset="0"/>
                <a:ea typeface="+mn-ea"/>
                <a:cs typeface="Arial" panose="020B0604020202020204" pitchFamily="34" charset="0"/>
              </a:rPr>
              <a:t> of all the numbers displayed.</a:t>
            </a:r>
            <a:endParaRPr lang="en-AU" sz="4000"/>
          </a:p>
        </p:txBody>
      </p:sp>
      <p:pic>
        <p:nvPicPr>
          <p:cNvPr id="8" name="Picture 7" descr="A problem with the numbers and symbols: 21 + 22 + 23 + 24 + 25 +&#10;21 + 22 + 23 + 24 + 25 +&#10;21 + 22 + 23 + 24 + 25 +&#10;21 + 22 + 23 + 24 + 25 +&#10;21 + 22 + 23 + 24 + 25 +&#10;21 + 22 + 23 + 24 + 25 +&#10;21 + 22 + 23 + 24 + 25 =">
            <a:extLst>
              <a:ext uri="{FF2B5EF4-FFF2-40B4-BE49-F238E27FC236}">
                <a16:creationId xmlns:a16="http://schemas.microsoft.com/office/drawing/2014/main" id="{0F445CFC-CE38-2E4E-7A10-ED67AE01E7A4}"/>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6735469" y="1374246"/>
            <a:ext cx="4731534" cy="5123754"/>
          </a:xfrm>
          <a:prstGeom prst="rect">
            <a:avLst/>
          </a:prstGeom>
          <a:ln>
            <a:noFill/>
          </a:ln>
          <a:effectLst>
            <a:outerShdw blurRad="190500" algn="tl" rotWithShape="0">
              <a:srgbClr val="000000">
                <a:alpha val="70000"/>
              </a:srgbClr>
            </a:outerShdw>
          </a:effectLst>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Picture 3: image of a finger selecting an option for a multiple choice or true and false">
            <a:extLst>
              <a:ext uri="{FF2B5EF4-FFF2-40B4-BE49-F238E27FC236}">
                <a16:creationId xmlns:a16="http://schemas.microsoft.com/office/drawing/2014/main" id="{64B989F8-67C4-FE7B-CC90-5BE7E2CD867D}"/>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17">
            <a:extLst>
              <a:ext uri="{FF2B5EF4-FFF2-40B4-BE49-F238E27FC236}">
                <a16:creationId xmlns:a16="http://schemas.microsoft.com/office/drawing/2014/main" id="{B643A865-E6CD-A6F3-C504-3A0F13864853}"/>
              </a:ext>
            </a:extLst>
          </p:cNvPr>
          <p:cNvSpPr txBox="1">
            <a:spLocks/>
          </p:cNvSpPr>
          <p:nvPr/>
        </p:nvSpPr>
        <p:spPr>
          <a:xfrm>
            <a:off x="2442981" y="1883327"/>
            <a:ext cx="707707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28650" indent="-628650"/>
            <a:r>
              <a:rPr lang="en-US" sz="5400"/>
              <a:t>(4 x 6) x 3 = 6 x (3 x 4) </a:t>
            </a:r>
          </a:p>
          <a:p>
            <a:endParaRPr lang="en-US" sz="4400"/>
          </a:p>
          <a:p>
            <a:endParaRPr lang="en-US" sz="4400"/>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801741560"/>
              </p:ext>
            </p:extLst>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B9C348E-8334-0CA8-778B-FE3DCA9C26B4}"/>
              </a:ext>
            </a:extLst>
          </p:cNvPr>
          <p:cNvSpPr txBox="1"/>
          <p:nvPr/>
        </p:nvSpPr>
        <p:spPr>
          <a:xfrm>
            <a:off x="393608" y="0"/>
            <a:ext cx="11472000" cy="3873638"/>
          </a:xfrm>
          <a:prstGeom prst="rect">
            <a:avLst/>
          </a:prstGeom>
          <a:noFill/>
        </p:spPr>
        <p:txBody>
          <a:bodyPr wrap="square" lIns="0" tIns="0" rIns="0" bIns="0" rtlCol="0">
            <a:noAutofit/>
          </a:bodyPr>
          <a:lstStyle/>
          <a:p>
            <a:pPr algn="l"/>
            <a:endParaRPr lang="en-AU" sz="4400"/>
          </a:p>
          <a:p>
            <a:pPr algn="ctr">
              <a:lnSpc>
                <a:spcPct val="150000"/>
              </a:lnSpc>
            </a:pPr>
            <a:r>
              <a:rPr lang="en-AU" sz="4400"/>
              <a:t>Jai bakes </a:t>
            </a:r>
            <a:r>
              <a:rPr lang="en-AU" sz="4400" b="1"/>
              <a:t>43</a:t>
            </a:r>
            <a:r>
              <a:rPr lang="en-AU" sz="4400"/>
              <a:t> cookies and places them </a:t>
            </a:r>
          </a:p>
          <a:p>
            <a:pPr algn="ctr">
              <a:lnSpc>
                <a:spcPct val="150000"/>
              </a:lnSpc>
            </a:pPr>
            <a:r>
              <a:rPr lang="en-AU" sz="4400"/>
              <a:t>into </a:t>
            </a:r>
            <a:r>
              <a:rPr lang="en-AU" sz="4400" b="1"/>
              <a:t>boxes </a:t>
            </a:r>
            <a:r>
              <a:rPr lang="en-AU" sz="4400"/>
              <a:t>ready to sell. </a:t>
            </a:r>
          </a:p>
          <a:p>
            <a:pPr algn="ctr">
              <a:lnSpc>
                <a:spcPct val="150000"/>
              </a:lnSpc>
            </a:pPr>
            <a:r>
              <a:rPr lang="en-AU" sz="4400"/>
              <a:t>Each box </a:t>
            </a:r>
            <a:r>
              <a:rPr lang="en-AU" sz="4400" b="1"/>
              <a:t>must </a:t>
            </a:r>
            <a:r>
              <a:rPr lang="en-AU" sz="4400"/>
              <a:t>have </a:t>
            </a:r>
            <a:r>
              <a:rPr lang="en-AU" sz="4400" b="1"/>
              <a:t>6</a:t>
            </a:r>
            <a:r>
              <a:rPr lang="en-AU" sz="4400"/>
              <a:t> cookies. </a:t>
            </a:r>
          </a:p>
          <a:p>
            <a:pPr algn="ctr">
              <a:lnSpc>
                <a:spcPct val="150000"/>
              </a:lnSpc>
            </a:pPr>
            <a:r>
              <a:rPr lang="en-AU" sz="4400"/>
              <a:t>How many </a:t>
            </a:r>
            <a:r>
              <a:rPr lang="en-AU" sz="4400" b="1"/>
              <a:t>boxes</a:t>
            </a:r>
            <a:r>
              <a:rPr lang="en-AU" sz="4400"/>
              <a:t> will Jai </a:t>
            </a:r>
            <a:r>
              <a:rPr lang="en-AU" sz="4400" b="1"/>
              <a:t>fill</a:t>
            </a:r>
            <a:r>
              <a:rPr lang="en-AU" sz="4400"/>
              <a:t>?</a:t>
            </a:r>
          </a:p>
          <a:p>
            <a:pPr algn="ctr">
              <a:lnSpc>
                <a:spcPct val="150000"/>
              </a:lnSpc>
            </a:pPr>
            <a:r>
              <a:rPr lang="en-AU" sz="4400"/>
              <a:t>How many cookies </a:t>
            </a:r>
            <a:r>
              <a:rPr lang="en-AU" sz="4400" b="1"/>
              <a:t>remain </a:t>
            </a:r>
            <a:r>
              <a:rPr lang="en-AU" sz="4400"/>
              <a:t>unboxed?</a:t>
            </a:r>
          </a:p>
          <a:p>
            <a:pPr algn="ctr">
              <a:lnSpc>
                <a:spcPct val="150000"/>
              </a:lnSpc>
            </a:pPr>
            <a:r>
              <a:rPr lang="en-AU" sz="4400" b="1"/>
              <a:t>Communicate</a:t>
            </a:r>
            <a:r>
              <a:rPr lang="en-AU" sz="4400"/>
              <a:t> your </a:t>
            </a:r>
            <a:r>
              <a:rPr lang="en-AU" sz="4400" b="1"/>
              <a:t>reasoning. </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61E0E592-4762-C4B0-6854-9EE0FCB43173}"/>
              </a:ext>
            </a:extLst>
          </p:cNvPr>
          <p:cNvSpPr txBox="1"/>
          <p:nvPr/>
        </p:nvSpPr>
        <p:spPr>
          <a:xfrm>
            <a:off x="360000" y="905601"/>
            <a:ext cx="11280065" cy="1824923"/>
          </a:xfrm>
          <a:prstGeom prst="rect">
            <a:avLst/>
          </a:prstGeom>
          <a:noFill/>
        </p:spPr>
        <p:txBody>
          <a:bodyPr wrap="square">
            <a:spAutoFit/>
          </a:bodyPr>
          <a:lstStyle/>
          <a:p>
            <a:pPr algn="ctr">
              <a:lnSpc>
                <a:spcPct val="150000"/>
              </a:lnSpc>
            </a:pPr>
            <a:r>
              <a:rPr lang="en-AU" sz="4000" b="1" dirty="0">
                <a:effectLst/>
                <a:latin typeface="Arial" panose="020B0604020202020204" pitchFamily="34" charset="0"/>
                <a:ea typeface="Calibri" panose="020F0502020204030204" pitchFamily="34" charset="0"/>
              </a:rPr>
              <a:t>Record</a:t>
            </a:r>
            <a:r>
              <a:rPr lang="en-AU" sz="4000" dirty="0">
                <a:effectLst/>
                <a:latin typeface="Arial" panose="020B0604020202020204" pitchFamily="34" charset="0"/>
                <a:ea typeface="Calibri" panose="020F0502020204030204" pitchFamily="34" charset="0"/>
              </a:rPr>
              <a:t> an </a:t>
            </a:r>
            <a:r>
              <a:rPr lang="en-AU" sz="4000" b="1" dirty="0">
                <a:effectLst/>
                <a:latin typeface="Arial" panose="020B0604020202020204" pitchFamily="34" charset="0"/>
                <a:ea typeface="Calibri" panose="020F0502020204030204" pitchFamily="34" charset="0"/>
              </a:rPr>
              <a:t>estimation </a:t>
            </a:r>
            <a:r>
              <a:rPr lang="en-AU" sz="4000" dirty="0">
                <a:effectLst/>
                <a:latin typeface="Arial" panose="020B0604020202020204" pitchFamily="34" charset="0"/>
                <a:ea typeface="Calibri" panose="020F0502020204030204" pitchFamily="34" charset="0"/>
              </a:rPr>
              <a:t>for this worded problem. Then use a </a:t>
            </a:r>
            <a:r>
              <a:rPr lang="en-AU" sz="4000" b="1" dirty="0">
                <a:effectLst/>
                <a:latin typeface="Arial" panose="020B0604020202020204" pitchFamily="34" charset="0"/>
                <a:ea typeface="Calibri" panose="020F0502020204030204" pitchFamily="34" charset="0"/>
              </a:rPr>
              <a:t>strategy </a:t>
            </a:r>
            <a:r>
              <a:rPr lang="en-AU" sz="4000" dirty="0">
                <a:effectLst/>
                <a:latin typeface="Arial" panose="020B0604020202020204" pitchFamily="34" charset="0"/>
                <a:ea typeface="Calibri" panose="020F0502020204030204" pitchFamily="34" charset="0"/>
              </a:rPr>
              <a:t>to </a:t>
            </a:r>
            <a:r>
              <a:rPr lang="en-AU" sz="4000" b="1" dirty="0">
                <a:effectLst/>
                <a:latin typeface="Arial" panose="020B0604020202020204" pitchFamily="34" charset="0"/>
                <a:ea typeface="Calibri" panose="020F0502020204030204" pitchFamily="34" charset="0"/>
              </a:rPr>
              <a:t>calculate.</a:t>
            </a:r>
          </a:p>
        </p:txBody>
      </p:sp>
      <p:sp>
        <p:nvSpPr>
          <p:cNvPr id="10" name="TextBox 9">
            <a:extLst>
              <a:ext uri="{FF2B5EF4-FFF2-40B4-BE49-F238E27FC236}">
                <a16:creationId xmlns:a16="http://schemas.microsoft.com/office/drawing/2014/main" id="{EA260552-CCAB-2EB3-1ACB-8B7CADD6F3D4}"/>
              </a:ext>
            </a:extLst>
          </p:cNvPr>
          <p:cNvSpPr txBox="1"/>
          <p:nvPr/>
        </p:nvSpPr>
        <p:spPr>
          <a:xfrm>
            <a:off x="360000" y="3024417"/>
            <a:ext cx="11585976" cy="3671583"/>
          </a:xfrm>
          <a:prstGeom prst="rect">
            <a:avLst/>
          </a:prstGeom>
          <a:noFill/>
        </p:spPr>
        <p:txBody>
          <a:bodyPr wrap="square">
            <a:spAutoFit/>
          </a:bodyPr>
          <a:lstStyle/>
          <a:p>
            <a:pPr lvl="0">
              <a:lnSpc>
                <a:spcPct val="150000"/>
              </a:lnSpc>
              <a:spcBef>
                <a:spcPts val="1200"/>
              </a:spcBef>
              <a:spcAft>
                <a:spcPts val="600"/>
              </a:spcAft>
            </a:pPr>
            <a:r>
              <a:rPr lang="en-AU" sz="4000" dirty="0"/>
              <a:t>In a school of 938 students, 324 parents visited the school for a special assembly. At the end of the assembly, 126 children went home with their parents. How many children stayed at school?</a:t>
            </a:r>
            <a:endParaRPr lang="en-AU" sz="4000" dirty="0">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60</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96405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descr="Picture 2: image of a clipboard with a pencil recording short answer responses">
            <a:extLst>
              <a:ext uri="{FF2B5EF4-FFF2-40B4-BE49-F238E27FC236}">
                <a16:creationId xmlns:a16="http://schemas.microsoft.com/office/drawing/2014/main" id="{77944112-784D-22C3-1462-ED0056915B97}"/>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5E0BD412-8EE1-B6EC-7D8D-17C13CC57115}"/>
              </a:ext>
            </a:extLst>
          </p:cNvPr>
          <p:cNvSpPr txBox="1"/>
          <p:nvPr/>
        </p:nvSpPr>
        <p:spPr>
          <a:xfrm>
            <a:off x="269689" y="1823942"/>
            <a:ext cx="4313600" cy="4029501"/>
          </a:xfrm>
          <a:prstGeom prst="rect">
            <a:avLst/>
          </a:prstGeom>
          <a:noFill/>
        </p:spPr>
        <p:txBody>
          <a:bodyPr wrap="square">
            <a:spAutoFit/>
          </a:bodyPr>
          <a:lstStyle/>
          <a:p>
            <a:pPr marL="0" marR="0" lvl="0" indent="0" defTabSz="609585" rtl="0" eaLnBrk="1" fontAlgn="auto" latinLnBrk="0" hangingPunct="1">
              <a:lnSpc>
                <a:spcPct val="15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What is the </a:t>
            </a:r>
            <a:r>
              <a:rPr kumimoji="0" lang="en-AU" sz="4400" b="1"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range</a:t>
            </a: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 in each of the </a:t>
            </a:r>
            <a:r>
              <a:rPr kumimoji="0" lang="en-AU" sz="4400" b="1"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categories</a:t>
            </a: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 of this </a:t>
            </a:r>
            <a:r>
              <a:rPr kumimoji="0" lang="en-AU" sz="4400" b="1"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dataset</a:t>
            </a:r>
            <a:r>
              <a:rPr kumimoji="0" lang="en-AU" sz="440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rPr>
              <a:t>.</a:t>
            </a:r>
            <a:endParaRPr lang="en-AU" sz="4400"/>
          </a:p>
        </p:txBody>
      </p:sp>
      <p:pic>
        <p:nvPicPr>
          <p:cNvPr id="5" name="Picture 4" descr="A table with three columns with the headings Bird Number, Travel days and Stop-rest days.&#10;There are six rows below with the following information:&#10;Bird 1, 22, 17&#10;Bird 2, 26, 64&#10;Bird 3, 22, 0&#10;Bird 4, 22, 0&#10;Bird 5, 16, 35&#10;Bird 6, 13, 34">
            <a:extLst>
              <a:ext uri="{FF2B5EF4-FFF2-40B4-BE49-F238E27FC236}">
                <a16:creationId xmlns:a16="http://schemas.microsoft.com/office/drawing/2014/main" id="{C261445C-EB2F-8664-4C41-94E8EB5F805A}"/>
              </a:ext>
            </a:extLst>
          </p:cNvPr>
          <p:cNvPicPr>
            <a:picLocks noChangeAspect="1"/>
          </p:cNvPicPr>
          <p:nvPr/>
        </p:nvPicPr>
        <p:blipFill>
          <a:blip r:embed="rId4"/>
          <a:stretch>
            <a:fillRect/>
          </a:stretch>
        </p:blipFill>
        <p:spPr>
          <a:xfrm>
            <a:off x="4787151" y="1643320"/>
            <a:ext cx="6573743" cy="4676798"/>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descr="Picture 2: image of a clipboard with a pencil recording short answer responses">
            <a:extLst>
              <a:ext uri="{FF2B5EF4-FFF2-40B4-BE49-F238E27FC236}">
                <a16:creationId xmlns:a16="http://schemas.microsoft.com/office/drawing/2014/main" id="{850D1A9D-F8AF-AA84-34F9-CCDC3026C740}"/>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726A4C8-3B7A-B173-3616-F7B1FED497BF}"/>
              </a:ext>
            </a:extLst>
          </p:cNvPr>
          <p:cNvSpPr txBox="1"/>
          <p:nvPr/>
        </p:nvSpPr>
        <p:spPr>
          <a:xfrm>
            <a:off x="444342" y="1682582"/>
            <a:ext cx="7191021" cy="915500"/>
          </a:xfrm>
          <a:prstGeom prst="rect">
            <a:avLst/>
          </a:prstGeom>
          <a:noFill/>
        </p:spPr>
        <p:txBody>
          <a:bodyPr wrap="square" lIns="0" tIns="0" rIns="0" bIns="0" rtlCol="0">
            <a:noAutofit/>
          </a:bodyPr>
          <a:lstStyle/>
          <a:p>
            <a:pPr>
              <a:lnSpc>
                <a:spcPct val="150000"/>
              </a:lnSpc>
            </a:pPr>
            <a:r>
              <a:rPr lang="en-AU" sz="4400" b="1">
                <a:latin typeface="Arial" panose="020B0604020202020204" pitchFamily="34" charset="0"/>
                <a:cs typeface="Arial" panose="020B0604020202020204" pitchFamily="34" charset="0"/>
              </a:rPr>
              <a:t>Record</a:t>
            </a:r>
            <a:r>
              <a:rPr lang="en-AU" sz="4400">
                <a:latin typeface="Arial" panose="020B0604020202020204" pitchFamily="34" charset="0"/>
                <a:cs typeface="Arial" panose="020B0604020202020204" pitchFamily="34" charset="0"/>
              </a:rPr>
              <a:t> the </a:t>
            </a:r>
            <a:r>
              <a:rPr lang="en-AU" sz="4400" b="1">
                <a:latin typeface="Arial" panose="020B0604020202020204" pitchFamily="34" charset="0"/>
                <a:cs typeface="Arial" panose="020B0604020202020204" pitchFamily="34" charset="0"/>
              </a:rPr>
              <a:t>area</a:t>
            </a:r>
            <a:r>
              <a:rPr lang="en-AU" sz="4400">
                <a:latin typeface="Arial" panose="020B0604020202020204" pitchFamily="34" charset="0"/>
                <a:cs typeface="Arial" panose="020B0604020202020204" pitchFamily="34" charset="0"/>
              </a:rPr>
              <a:t> of the green </a:t>
            </a:r>
            <a:r>
              <a:rPr lang="en-AU" sz="4400" b="1">
                <a:latin typeface="Arial" panose="020B0604020202020204" pitchFamily="34" charset="0"/>
                <a:cs typeface="Arial" panose="020B0604020202020204" pitchFamily="34" charset="0"/>
              </a:rPr>
              <a:t>shape </a:t>
            </a:r>
            <a:r>
              <a:rPr lang="en-AU" sz="4400">
                <a:latin typeface="Arial" panose="020B0604020202020204" pitchFamily="34" charset="0"/>
                <a:cs typeface="Arial" panose="020B0604020202020204" pitchFamily="34" charset="0"/>
              </a:rPr>
              <a:t>which has been drawn onto </a:t>
            </a:r>
            <a:r>
              <a:rPr lang="en-AU" sz="4400" b="1">
                <a:latin typeface="Arial" panose="020B0604020202020204" pitchFamily="34" charset="0"/>
                <a:cs typeface="Arial" panose="020B0604020202020204" pitchFamily="34" charset="0"/>
              </a:rPr>
              <a:t>a </a:t>
            </a:r>
            <a:r>
              <a:rPr lang="en-AU" sz="4400" b="1"/>
              <a:t>square-centimetre grid</a:t>
            </a:r>
            <a:r>
              <a:rPr lang="en-AU" sz="4400">
                <a:latin typeface="Arial" panose="020B0604020202020204" pitchFamily="34" charset="0"/>
                <a:cs typeface="Arial" panose="020B0604020202020204" pitchFamily="34" charset="0"/>
              </a:rPr>
              <a:t>.</a:t>
            </a:r>
          </a:p>
        </p:txBody>
      </p:sp>
      <p:pic>
        <p:nvPicPr>
          <p:cNvPr id="8" name="Picture 7" descr="Green arrow shape on an 8 x 8 grid.&#10;&#10;The image shows a grid composed of 1 cm by 1 cm squares forming an 8 by 8 pattern. Within this grid, green squares are arranged to form the shape of an upward-pointing arrow. The arrow consists of three rows forming the shaft and five squares across the middle. Above the shaft, the arrowhead is created by three green squares, with the central square serving as the peak. At the base of the shaft, two green squares are adjacent on either side, forming a complete arrow shape. The remainder of the grid is filled with white squares.&#10;">
            <a:extLst>
              <a:ext uri="{FF2B5EF4-FFF2-40B4-BE49-F238E27FC236}">
                <a16:creationId xmlns:a16="http://schemas.microsoft.com/office/drawing/2014/main" id="{4EBB4E89-B3C5-CB2F-4EA0-E832679E7489}"/>
              </a:ext>
            </a:extLst>
          </p:cNvPr>
          <p:cNvPicPr>
            <a:picLocks noChangeAspect="1"/>
          </p:cNvPicPr>
          <p:nvPr/>
        </p:nvPicPr>
        <p:blipFill>
          <a:blip r:embed="rId4"/>
          <a:stretch>
            <a:fillRect/>
          </a:stretch>
        </p:blipFill>
        <p:spPr>
          <a:xfrm>
            <a:off x="7635363" y="1682582"/>
            <a:ext cx="3848637" cy="3943900"/>
          </a:xfrm>
          <a:prstGeom prst="rect">
            <a:avLst/>
          </a:prstGeom>
          <a:ln>
            <a:noFill/>
          </a:ln>
          <a:effectLst>
            <a:outerShdw blurRad="190500" algn="tl" rotWithShape="0">
              <a:srgbClr val="000000">
                <a:alpha val="70000"/>
              </a:srgbClr>
            </a:outerShdw>
          </a:effectLst>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using the distributive property</a:t>
            </a:r>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AEEA32FC-EDF6-D38B-24AB-515697D7511A}"/>
              </a:ext>
            </a:extLst>
          </p:cNvPr>
          <p:cNvSpPr txBox="1"/>
          <p:nvPr/>
        </p:nvSpPr>
        <p:spPr>
          <a:xfrm>
            <a:off x="138444" y="924686"/>
            <a:ext cx="7982868" cy="5798703"/>
          </a:xfrm>
          <a:prstGeom prst="rect">
            <a:avLst/>
          </a:prstGeom>
          <a:noFill/>
        </p:spPr>
        <p:txBody>
          <a:bodyPr wrap="square">
            <a:spAutoFit/>
          </a:bodyPr>
          <a:lstStyle/>
          <a:p>
            <a:pPr marL="457200" indent="-457200">
              <a:lnSpc>
                <a:spcPct val="150000"/>
              </a:lnSpc>
              <a:spcAft>
                <a:spcPts val="1200"/>
              </a:spcAft>
              <a:buFont typeface="Arial" panose="020B0604020202020204" pitchFamily="34" charset="0"/>
              <a:buChar char="•"/>
            </a:pPr>
            <a:r>
              <a:rPr lang="en-AU" sz="2800" kern="1200" dirty="0">
                <a:solidFill>
                  <a:schemeClr val="tx1"/>
                </a:solidFill>
                <a:effectLst/>
                <a:latin typeface="Arial" panose="020B0604020202020204" pitchFamily="34" charset="0"/>
                <a:ea typeface="+mn-ea"/>
                <a:cs typeface="Arial" panose="020B0604020202020204" pitchFamily="34" charset="0"/>
              </a:rPr>
              <a:t>Roll the dice </a:t>
            </a:r>
            <a:r>
              <a:rPr lang="en-AU" sz="2800" b="1" kern="1200" dirty="0">
                <a:solidFill>
                  <a:schemeClr val="tx1"/>
                </a:solidFill>
                <a:effectLst/>
                <a:latin typeface="Arial" panose="020B0604020202020204" pitchFamily="34" charset="0"/>
                <a:ea typeface="+mn-ea"/>
                <a:cs typeface="Arial" panose="020B0604020202020204" pitchFamily="34" charset="0"/>
              </a:rPr>
              <a:t>5 times </a:t>
            </a:r>
            <a:r>
              <a:rPr lang="en-AU" sz="2800" kern="1200" dirty="0">
                <a:solidFill>
                  <a:schemeClr val="tx1"/>
                </a:solidFill>
                <a:effectLst/>
                <a:latin typeface="Arial" panose="020B0604020202020204" pitchFamily="34" charset="0"/>
                <a:ea typeface="+mn-ea"/>
                <a:cs typeface="Arial" panose="020B0604020202020204" pitchFamily="34" charset="0"/>
              </a:rPr>
              <a:t>to make a </a:t>
            </a:r>
            <a:r>
              <a:rPr lang="en-AU" sz="2800" b="1" kern="1200" dirty="0">
                <a:solidFill>
                  <a:schemeClr val="tx1"/>
                </a:solidFill>
                <a:effectLst/>
                <a:latin typeface="Arial" panose="020B0604020202020204" pitchFamily="34" charset="0"/>
                <a:ea typeface="+mn-ea"/>
                <a:cs typeface="Arial" panose="020B0604020202020204" pitchFamily="34" charset="0"/>
              </a:rPr>
              <a:t>4-digit number </a:t>
            </a:r>
            <a:r>
              <a:rPr lang="en-AU" sz="2800" kern="1200" dirty="0">
                <a:solidFill>
                  <a:schemeClr val="tx1"/>
                </a:solidFill>
                <a:effectLst/>
                <a:latin typeface="Arial" panose="020B0604020202020204" pitchFamily="34" charset="0"/>
                <a:ea typeface="+mn-ea"/>
                <a:cs typeface="Arial" panose="020B0604020202020204" pitchFamily="34" charset="0"/>
              </a:rPr>
              <a:t>and a </a:t>
            </a:r>
            <a:r>
              <a:rPr lang="en-AU" sz="2800" b="1" kern="1200" dirty="0">
                <a:solidFill>
                  <a:schemeClr val="tx1"/>
                </a:solidFill>
                <a:effectLst/>
                <a:latin typeface="Arial" panose="020B0604020202020204" pitchFamily="34" charset="0"/>
                <a:ea typeface="+mn-ea"/>
                <a:cs typeface="Arial" panose="020B0604020202020204" pitchFamily="34" charset="0"/>
              </a:rPr>
              <a:t>one-digit number</a:t>
            </a:r>
            <a:r>
              <a:rPr lang="en-AU" sz="2800" kern="1200" dirty="0">
                <a:solidFill>
                  <a:schemeClr val="tx1"/>
                </a:solidFill>
                <a:effectLst/>
                <a:latin typeface="Arial" panose="020B0604020202020204" pitchFamily="34" charset="0"/>
                <a:ea typeface="+mn-ea"/>
                <a:cs typeface="Arial" panose="020B0604020202020204" pitchFamily="34" charset="0"/>
              </a:rPr>
              <a:t>. </a:t>
            </a:r>
          </a:p>
          <a:p>
            <a:pPr marL="457200" indent="-457200">
              <a:lnSpc>
                <a:spcPct val="150000"/>
              </a:lnSpc>
              <a:spcAft>
                <a:spcPts val="1200"/>
              </a:spcAft>
              <a:buFont typeface="Arial" panose="020B0604020202020204" pitchFamily="34" charset="0"/>
              <a:buChar char="•"/>
            </a:pPr>
            <a:r>
              <a:rPr lang="en-AU" sz="2800" b="1" dirty="0">
                <a:latin typeface="Arial" panose="020B0604020202020204" pitchFamily="34" charset="0"/>
                <a:cs typeface="Arial" panose="020B0604020202020204" pitchFamily="34" charset="0"/>
              </a:rPr>
              <a:t>Record</a:t>
            </a:r>
            <a:r>
              <a:rPr lang="en-AU" sz="2800" dirty="0">
                <a:latin typeface="Arial" panose="020B0604020202020204" pitchFamily="34" charset="0"/>
                <a:cs typeface="Arial" panose="020B0604020202020204" pitchFamily="34" charset="0"/>
              </a:rPr>
              <a:t> the 2 numbers as a </a:t>
            </a:r>
            <a:r>
              <a:rPr lang="en-AU" sz="2800" b="1" dirty="0">
                <a:latin typeface="Arial" panose="020B0604020202020204" pitchFamily="34" charset="0"/>
                <a:cs typeface="Arial" panose="020B0604020202020204" pitchFamily="34" charset="0"/>
              </a:rPr>
              <a:t>multiplication number sentence</a:t>
            </a:r>
            <a:r>
              <a:rPr lang="en-AU" sz="2800" dirty="0">
                <a:latin typeface="Arial" panose="020B0604020202020204" pitchFamily="34" charset="0"/>
                <a:cs typeface="Arial" panose="020B0604020202020204" pitchFamily="34" charset="0"/>
              </a:rPr>
              <a:t>.</a:t>
            </a:r>
          </a:p>
          <a:p>
            <a:pPr marL="457200" indent="-457200">
              <a:lnSpc>
                <a:spcPct val="150000"/>
              </a:lnSpc>
              <a:spcAft>
                <a:spcPts val="1200"/>
              </a:spcAft>
              <a:buFont typeface="Arial" panose="020B0604020202020204" pitchFamily="34" charset="0"/>
              <a:buChar char="•"/>
            </a:pPr>
            <a:r>
              <a:rPr lang="en-AU" sz="2800" dirty="0">
                <a:latin typeface="Arial" panose="020B0604020202020204" pitchFamily="34" charset="0"/>
                <a:cs typeface="Arial" panose="020B0604020202020204" pitchFamily="34" charset="0"/>
              </a:rPr>
              <a:t>Record </a:t>
            </a:r>
            <a:r>
              <a:rPr lang="en-AU" sz="2800" b="1" dirty="0">
                <a:latin typeface="Arial" panose="020B0604020202020204" pitchFamily="34" charset="0"/>
                <a:cs typeface="Arial" panose="020B0604020202020204" pitchFamily="34" charset="0"/>
              </a:rPr>
              <a:t>2 different strategies </a:t>
            </a:r>
            <a:r>
              <a:rPr lang="en-AU" sz="2800" dirty="0">
                <a:latin typeface="Arial" panose="020B0604020202020204" pitchFamily="34" charset="0"/>
                <a:cs typeface="Arial" panose="020B0604020202020204" pitchFamily="34" charset="0"/>
              </a:rPr>
              <a:t>to find the </a:t>
            </a:r>
            <a:r>
              <a:rPr lang="en-AU" sz="2800" b="1" dirty="0">
                <a:latin typeface="Arial" panose="020B0604020202020204" pitchFamily="34" charset="0"/>
                <a:cs typeface="Arial" panose="020B0604020202020204" pitchFamily="34" charset="0"/>
              </a:rPr>
              <a:t>solution</a:t>
            </a:r>
            <a:r>
              <a:rPr lang="en-AU" sz="2800" dirty="0">
                <a:latin typeface="Arial" panose="020B0604020202020204" pitchFamily="34" charset="0"/>
                <a:cs typeface="Arial" panose="020B0604020202020204" pitchFamily="34" charset="0"/>
              </a:rPr>
              <a:t>.</a:t>
            </a:r>
            <a:endParaRPr lang="en-AU" sz="2800" b="1" kern="1200" dirty="0">
              <a:solidFill>
                <a:schemeClr val="tx1"/>
              </a:solidFill>
              <a:effectLst/>
              <a:latin typeface="Arial" panose="020B0604020202020204" pitchFamily="34" charset="0"/>
              <a:ea typeface="+mn-ea"/>
              <a:cs typeface="Arial" panose="020B0604020202020204" pitchFamily="34" charset="0"/>
            </a:endParaRPr>
          </a:p>
          <a:p>
            <a:pPr marL="457200" indent="-457200">
              <a:lnSpc>
                <a:spcPct val="150000"/>
              </a:lnSpc>
              <a:spcAft>
                <a:spcPts val="1200"/>
              </a:spcAft>
              <a:buFont typeface="Arial" panose="020B0604020202020204" pitchFamily="34" charset="0"/>
              <a:buChar char="•"/>
            </a:pPr>
            <a:r>
              <a:rPr lang="en-AU" sz="2800" dirty="0">
                <a:latin typeface="Arial" panose="020B0604020202020204" pitchFamily="34" charset="0"/>
                <a:cs typeface="Arial" panose="020B0604020202020204" pitchFamily="34" charset="0"/>
              </a:rPr>
              <a:t>What strategies did you choose? Why?</a:t>
            </a:r>
          </a:p>
          <a:p>
            <a:pPr marL="457200" indent="-457200">
              <a:lnSpc>
                <a:spcPct val="150000"/>
              </a:lnSpc>
              <a:spcAft>
                <a:spcPts val="1200"/>
              </a:spcAft>
              <a:buFont typeface="Arial" panose="020B0604020202020204" pitchFamily="34" charset="0"/>
              <a:buChar char="•"/>
            </a:pPr>
            <a:r>
              <a:rPr lang="en-AU" sz="2800" dirty="0">
                <a:latin typeface="Arial" panose="020B0604020202020204" pitchFamily="34" charset="0"/>
                <a:cs typeface="Arial" panose="020B0604020202020204" pitchFamily="34" charset="0"/>
              </a:rPr>
              <a:t>Which one was most efficient?</a:t>
            </a:r>
          </a:p>
        </p:txBody>
      </p:sp>
      <p:sp>
        <p:nvSpPr>
          <p:cNvPr id="9" name="TextBox 8">
            <a:extLst>
              <a:ext uri="{FF2B5EF4-FFF2-40B4-BE49-F238E27FC236}">
                <a16:creationId xmlns:a16="http://schemas.microsoft.com/office/drawing/2014/main" id="{E3B9B3BF-7839-64CF-32F9-98527D15FDD9}"/>
              </a:ext>
            </a:extLst>
          </p:cNvPr>
          <p:cNvSpPr txBox="1"/>
          <p:nvPr/>
        </p:nvSpPr>
        <p:spPr>
          <a:xfrm>
            <a:off x="8425096" y="1135429"/>
            <a:ext cx="2892156" cy="1813510"/>
          </a:xfrm>
          <a:prstGeom prst="rect">
            <a:avLst/>
          </a:prstGeom>
          <a:noFill/>
          <a:ln>
            <a:solidFill>
              <a:schemeClr val="tx1"/>
            </a:solidFill>
          </a:ln>
        </p:spPr>
        <p:txBody>
          <a:bodyPr wrap="square">
            <a:spAutoFit/>
          </a:bodyPr>
          <a:lstStyle/>
          <a:p>
            <a:pPr algn="ctr">
              <a:lnSpc>
                <a:spcPct val="150000"/>
              </a:lnSpc>
            </a:pPr>
            <a:r>
              <a:rPr lang="en-AU" sz="3200" kern="1200">
                <a:solidFill>
                  <a:schemeClr val="tx1"/>
                </a:solidFill>
                <a:effectLst/>
                <a:latin typeface="Arial" panose="020B0604020202020204" pitchFamily="34" charset="0"/>
                <a:ea typeface="+mn-ea"/>
                <a:cs typeface="Arial" panose="020B0604020202020204" pitchFamily="34" charset="0"/>
              </a:rPr>
              <a:t>For example</a:t>
            </a:r>
            <a:r>
              <a:rPr lang="en-AU" sz="3600" kern="1200">
                <a:solidFill>
                  <a:schemeClr val="tx1"/>
                </a:solidFill>
                <a:effectLst/>
                <a:latin typeface="Arial" panose="020B0604020202020204" pitchFamily="34" charset="0"/>
                <a:ea typeface="+mn-ea"/>
                <a:cs typeface="Arial" panose="020B0604020202020204" pitchFamily="34" charset="0"/>
              </a:rPr>
              <a:t>, </a:t>
            </a:r>
            <a:endParaRPr lang="en-AU" sz="3600">
              <a:latin typeface="Arial" panose="020B0604020202020204" pitchFamily="34" charset="0"/>
              <a:cs typeface="Arial" panose="020B0604020202020204" pitchFamily="34" charset="0"/>
            </a:endParaRPr>
          </a:p>
          <a:p>
            <a:pPr algn="ctr">
              <a:lnSpc>
                <a:spcPct val="150000"/>
              </a:lnSpc>
            </a:pPr>
            <a:r>
              <a:rPr lang="en-AU" sz="4400" b="1" kern="1200">
                <a:solidFill>
                  <a:schemeClr val="tx1"/>
                </a:solidFill>
                <a:effectLst/>
                <a:latin typeface="Arial" panose="020B0604020202020204" pitchFamily="34" charset="0"/>
                <a:ea typeface="+mn-ea"/>
                <a:cs typeface="Arial" panose="020B0604020202020204" pitchFamily="34" charset="0"/>
              </a:rPr>
              <a:t>2847 × 9</a:t>
            </a:r>
            <a:endParaRPr lang="en-AU" sz="440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EB2E7A4-F0B4-C2A0-194B-552B4A399273}"/>
              </a:ext>
            </a:extLst>
          </p:cNvPr>
          <p:cNvSpPr txBox="1"/>
          <p:nvPr/>
        </p:nvSpPr>
        <p:spPr>
          <a:xfrm>
            <a:off x="7217678" y="3277076"/>
            <a:ext cx="4792960" cy="3328924"/>
          </a:xfrm>
          <a:prstGeom prst="wedgeEllipseCallout">
            <a:avLst>
              <a:gd name="adj1" fmla="val 49063"/>
              <a:gd name="adj2" fmla="val -48441"/>
            </a:avLst>
          </a:prstGeom>
          <a:solidFill>
            <a:schemeClr val="accent1"/>
          </a:solidFill>
        </p:spPr>
        <p:txBody>
          <a:bodyPr wrap="square" lIns="0" tIns="0" rIns="0" bIns="0" rtlCol="0">
            <a:noAutofit/>
          </a:bodyPr>
          <a:lstStyle/>
          <a:p>
            <a:pPr algn="ctr">
              <a:lnSpc>
                <a:spcPct val="150000"/>
              </a:lnSpc>
            </a:pPr>
            <a:r>
              <a:rPr lang="en-AU" dirty="0">
                <a:solidFill>
                  <a:schemeClr val="bg1"/>
                </a:solidFill>
              </a:rPr>
              <a:t>I could solve this by using the area model or the distributive property with partial products. </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64</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65</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69</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70</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a:hlinkClick r:id="rId6"/>
              </a:rPr>
              <a:t>Mathematics K–10 Syllabus </a:t>
            </a:r>
            <a:r>
              <a:rPr lang="en-AU"/>
              <a:t>© NSW Education Standards Authority (NESA) for and on behalf of the Crown in right of the State of New South Wales, 2022. </a:t>
            </a:r>
          </a:p>
          <a:p>
            <a:r>
              <a:rPr lang="en-AU">
                <a:hlinkClick r:id="rId7"/>
              </a:rPr>
              <a:t>National Numeracy Learning Progression </a:t>
            </a:r>
            <a:r>
              <a:rPr lang="en-AU"/>
              <a:t>© Australian Curriculum, Assessment and Reporting Authority (ACARA) 2010 to present, unless otherwise indicated. This material was downloaded from the </a:t>
            </a:r>
            <a:r>
              <a:rPr lang="en-AU">
                <a:hlinkClick r:id="rId8"/>
              </a:rPr>
              <a:t>Australian Curriculum </a:t>
            </a:r>
            <a:r>
              <a:rPr lang="en-AU"/>
              <a:t>website (National Numeracy Learning Progression) (accessed 29 February 2024) and was not modified.</a:t>
            </a:r>
          </a:p>
          <a:p>
            <a:r>
              <a:rPr lang="en-AU">
                <a:latin typeface="Arial" panose="020B0604020202020204" pitchFamily="34" charset="0"/>
                <a:ea typeface="Calibri" panose="020F0502020204030204" pitchFamily="34" charset="0"/>
              </a:rPr>
              <a:t>Artwork © Kayleb Waters, </a:t>
            </a:r>
            <a:r>
              <a:rPr lang="en-AU" err="1">
                <a:latin typeface="Arial" panose="020B0604020202020204" pitchFamily="34" charset="0"/>
                <a:ea typeface="Calibri" panose="020F0502020204030204" pitchFamily="34" charset="0"/>
              </a:rPr>
              <a:t>Gomeroi</a:t>
            </a:r>
            <a:r>
              <a:rPr lang="en-AU">
                <a:latin typeface="Arial" panose="020B0604020202020204" pitchFamily="34" charset="0"/>
                <a:ea typeface="Calibri" panose="020F0502020204030204" pitchFamily="34" charset="0"/>
              </a:rPr>
              <a:t> artist and Cultural mentor 2025</a:t>
            </a:r>
            <a:endParaRPr lang="en-AU"/>
          </a:p>
          <a:p>
            <a:r>
              <a:rPr lang="en-AU"/>
              <a:t>Common Ground Team (2020) </a:t>
            </a:r>
            <a:r>
              <a:rPr lang="en-AU" i="1" u="sng">
                <a:hlinkClick r:id="rId9"/>
              </a:rPr>
              <a:t>First Nations Symbols</a:t>
            </a:r>
            <a:r>
              <a:rPr lang="en-AU"/>
              <a:t>, Common Ground Website, accessed 1 October 2025.</a:t>
            </a:r>
          </a:p>
          <a:p>
            <a:r>
              <a:rPr lang="en-AU"/>
              <a:t>Commonwealth of Australia (2024) </a:t>
            </a:r>
            <a:r>
              <a:rPr lang="en-AU" i="1" u="sng">
                <a:hlinkClick r:id="rId10"/>
              </a:rPr>
              <a:t>Osprey migration data</a:t>
            </a:r>
            <a:r>
              <a:rPr lang="en-AU" i="1"/>
              <a:t>, </a:t>
            </a:r>
            <a:r>
              <a:rPr lang="en-AU"/>
              <a:t>Mathematics Hub website, accessed 13 August 2025.</a:t>
            </a:r>
          </a:p>
          <a:p>
            <a:r>
              <a:rPr lang="en-AU"/>
              <a:t>NSW Education Standards Authority (NESA) (2022a) ‘</a:t>
            </a:r>
            <a:r>
              <a:rPr lang="en-AU" u="sng">
                <a:hlinkClick r:id="rId11"/>
              </a:rPr>
              <a:t>Teaching advice for Data A</a:t>
            </a:r>
            <a:r>
              <a:rPr lang="en-AU"/>
              <a:t>’, </a:t>
            </a:r>
            <a:r>
              <a:rPr lang="en-AU" i="1"/>
              <a:t>Stage 3</a:t>
            </a:r>
            <a:r>
              <a:rPr lang="en-AU"/>
              <a:t>, NSW Curriculum website, accessed 14 October 2025.</a:t>
            </a:r>
          </a:p>
          <a:p>
            <a:r>
              <a:rPr lang="en-AU"/>
              <a:t>NSW Education Standards Authority (NESA) (2022b) ‘</a:t>
            </a:r>
            <a:r>
              <a:rPr lang="en-AU" u="sng">
                <a:hlinkClick r:id="rId12"/>
              </a:rPr>
              <a:t>Teaching advice for Data B</a:t>
            </a:r>
            <a:r>
              <a:rPr lang="en-AU"/>
              <a:t>’, </a:t>
            </a:r>
            <a:r>
              <a:rPr lang="en-AU" i="1"/>
              <a:t>Stage 3</a:t>
            </a:r>
            <a:r>
              <a:rPr lang="en-AU"/>
              <a:t>, NSW Curriculum website, accessed 14 October 2025.</a:t>
            </a:r>
          </a:p>
          <a:p>
            <a:r>
              <a:rPr lang="en-AU"/>
              <a:t>.</a:t>
            </a:r>
          </a:p>
          <a:p>
            <a:endParaRPr lang="en-AU"/>
          </a:p>
          <a:p>
            <a:r>
              <a:rPr lang="en-AU"/>
              <a:t> </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71</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4B67A-CF74-8FD0-251F-BB7F117642E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925ACD-F031-9E24-8207-F32F5029EB2C}"/>
              </a:ext>
            </a:extLst>
          </p:cNvPr>
          <p:cNvSpPr>
            <a:spLocks noGrp="1"/>
          </p:cNvSpPr>
          <p:nvPr>
            <p:ph type="title"/>
          </p:nvPr>
        </p:nvSpPr>
        <p:spPr/>
        <p:txBody>
          <a:bodyPr/>
          <a:lstStyle/>
          <a:p>
            <a:r>
              <a:rPr lang="en-AU">
                <a:latin typeface="+mj-lt"/>
              </a:rPr>
              <a:t>References (2)</a:t>
            </a:r>
          </a:p>
        </p:txBody>
      </p:sp>
      <p:sp>
        <p:nvSpPr>
          <p:cNvPr id="6" name="TextBox 5">
            <a:extLst>
              <a:ext uri="{FF2B5EF4-FFF2-40B4-BE49-F238E27FC236}">
                <a16:creationId xmlns:a16="http://schemas.microsoft.com/office/drawing/2014/main" id="{60BC243B-AB92-8A57-4FFC-73540EE68780}"/>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D560D00D-2877-4640-6196-0D49A9FFD699}"/>
              </a:ext>
            </a:extLst>
          </p:cNvPr>
          <p:cNvSpPr>
            <a:spLocks noGrp="1"/>
          </p:cNvSpPr>
          <p:nvPr>
            <p:ph idx="1"/>
          </p:nvPr>
        </p:nvSpPr>
        <p:spPr/>
        <p:txBody>
          <a:bodyPr vert="horz" lIns="0" tIns="0" rIns="0" bIns="0" rtlCol="0" anchor="t">
            <a:noAutofit/>
          </a:bodyPr>
          <a:lstStyle/>
          <a:p>
            <a:r>
              <a:rPr lang="en-AU"/>
              <a:t>NSW Education Standards Authority (NESA) (2022c) ‘</a:t>
            </a:r>
            <a:r>
              <a:rPr lang="en-AU" u="sng">
                <a:hlinkClick r:id="rId6"/>
              </a:rPr>
              <a:t>Teaching advice for Represents numbers B</a:t>
            </a:r>
            <a:r>
              <a:rPr lang="en-AU"/>
              <a:t>’, </a:t>
            </a:r>
            <a:r>
              <a:rPr lang="en-AU" i="1"/>
              <a:t>Stage 3</a:t>
            </a:r>
            <a:r>
              <a:rPr lang="en-AU"/>
              <a:t>, NSW Curriculum website, accessed 14 October 2025</a:t>
            </a:r>
          </a:p>
          <a:p>
            <a:r>
              <a:rPr lang="en-AU"/>
              <a:t>New Zealand Ministry of Education (n.d.) </a:t>
            </a:r>
            <a:r>
              <a:rPr lang="en-AU" u="sng">
                <a:hlinkClick r:id="rId7"/>
              </a:rPr>
              <a:t>‘Data Distortion’</a:t>
            </a:r>
            <a:r>
              <a:rPr lang="en-AU"/>
              <a:t>, </a:t>
            </a:r>
            <a:r>
              <a:rPr lang="en-AU" i="1"/>
              <a:t>Figure It Out</a:t>
            </a:r>
            <a:r>
              <a:rPr lang="en-AU"/>
              <a:t>, </a:t>
            </a:r>
            <a:r>
              <a:rPr lang="en-AU" err="1"/>
              <a:t>Tāhūrangi</a:t>
            </a:r>
            <a:r>
              <a:rPr lang="en-AU"/>
              <a:t> - New Zealand Curriculum website, accessed 18 November 2025.</a:t>
            </a:r>
          </a:p>
          <a:p>
            <a:r>
              <a:rPr lang="en-AU"/>
              <a:t>University of Melbourne (2023) ‘</a:t>
            </a:r>
            <a:r>
              <a:rPr lang="en-AU" u="sng">
                <a:hlinkClick r:id="rId8"/>
              </a:rPr>
              <a:t>Stellar navigation and mathematics</a:t>
            </a:r>
            <a:r>
              <a:rPr lang="en-AU"/>
              <a:t>’, </a:t>
            </a:r>
            <a:r>
              <a:rPr lang="en-AU" i="1"/>
              <a:t>Aboriginal and Torres Strait Islander School Curricula: Resources</a:t>
            </a:r>
            <a:r>
              <a:rPr lang="en-AU"/>
              <a:t> Indigenous Knowledge Institute website, accessed 26 July 2023. </a:t>
            </a:r>
          </a:p>
          <a:p>
            <a:endParaRPr lang="en-AU"/>
          </a:p>
          <a:p>
            <a:endParaRPr lang="en-AU"/>
          </a:p>
          <a:p>
            <a:endParaRPr lang="en-AU"/>
          </a:p>
          <a:p>
            <a:r>
              <a:rPr lang="en-AU"/>
              <a:t> </a:t>
            </a:r>
          </a:p>
        </p:txBody>
      </p:sp>
      <p:sp>
        <p:nvSpPr>
          <p:cNvPr id="2" name="Slide Number Placeholder 1">
            <a:extLst>
              <a:ext uri="{FF2B5EF4-FFF2-40B4-BE49-F238E27FC236}">
                <a16:creationId xmlns:a16="http://schemas.microsoft.com/office/drawing/2014/main" id="{A5145B15-5724-C896-6D6B-96121CF8B3AF}"/>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72</a:t>
            </a:fld>
            <a:endParaRPr lang="en-AU"/>
          </a:p>
        </p:txBody>
      </p:sp>
    </p:spTree>
    <p:extLst>
      <p:ext uri="{BB962C8B-B14F-4D97-AF65-F5344CB8AC3E}">
        <p14:creationId xmlns:p14="http://schemas.microsoft.com/office/powerpoint/2010/main" val="3906379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4BF447-FC34-491A-A9B6-439D0B649F6E}"/>
</file>

<file path=customXml/itemProps2.xml><?xml version="1.0" encoding="utf-8"?>
<ds:datastoreItem xmlns:ds="http://schemas.openxmlformats.org/officeDocument/2006/customXml" ds:itemID="{CE555570-2BD4-426B-AA32-0A79CB6508A8}">
  <ds:schemaRefs>
    <ds:schemaRef ds:uri="http://schemas.openxmlformats.org/package/2006/metadata/core-properties"/>
    <ds:schemaRef ds:uri="http://schemas.microsoft.com/office/infopath/2007/PartnerControls"/>
    <ds:schemaRef ds:uri="http://purl.org/dc/elements/1.1/"/>
    <ds:schemaRef ds:uri="60129b06-f64b-40a8-96e2-c5b2f86112b1"/>
    <ds:schemaRef ds:uri="http://www.w3.org/XML/1998/namespace"/>
    <ds:schemaRef ds:uri="http://purl.org/dc/terms/"/>
    <ds:schemaRef ds:uri="http://schemas.microsoft.com/office/2006/documentManagement/types"/>
    <ds:schemaRef ds:uri="http://purl.org/dc/dcmitype/"/>
    <ds:schemaRef ds:uri="7e763d47-3c66-4c58-9425-1477fd3ccd1e"/>
    <ds:schemaRef ds:uri="http://schemas.microsoft.com/office/2006/metadata/properties"/>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Review of learning template (1)</Template>
  <TotalTime>269</TotalTime>
  <Words>6476</Words>
  <Application>Microsoft Office PowerPoint</Application>
  <PresentationFormat>Widescreen</PresentationFormat>
  <Paragraphs>902</Paragraphs>
  <Slides>73</Slides>
  <Notes>73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73</vt:i4>
      </vt:variant>
    </vt:vector>
  </HeadingPairs>
  <TitlesOfParts>
    <vt:vector size="84" baseType="lpstr">
      <vt:lpstr>FoundationBold</vt:lpstr>
      <vt:lpstr>Calibri</vt:lpstr>
      <vt:lpstr>Public Sans Light</vt:lpstr>
      <vt:lpstr>Arial</vt:lpstr>
      <vt:lpstr>Montserrat</vt:lpstr>
      <vt:lpstr>Public Sans</vt:lpstr>
      <vt:lpstr>Wingdings</vt:lpstr>
      <vt:lpstr>Foundation Handwriting</vt:lpstr>
      <vt:lpstr>Times New Roman</vt:lpstr>
      <vt:lpstr>NSWG Corporate</vt:lpstr>
      <vt:lpstr>1_NSWG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regrouping numbers in different forms (1)</vt:lpstr>
      <vt:lpstr>Activity 1 – regrouping numbers in different forms (2)</vt:lpstr>
      <vt:lpstr>Review of learning 2</vt:lpstr>
      <vt:lpstr>True or false (1)</vt:lpstr>
      <vt:lpstr>Short response (5)</vt:lpstr>
      <vt:lpstr>Short response (6)</vt:lpstr>
      <vt:lpstr>Short response (7)</vt:lpstr>
      <vt:lpstr>Short response (8)</vt:lpstr>
      <vt:lpstr>Activity 2 – partitioning in non-standard forms (1)</vt:lpstr>
      <vt:lpstr>Activity 2 – partitioning in non-standard forms (2)</vt:lpstr>
      <vt:lpstr>Review of learning 3</vt:lpstr>
      <vt:lpstr>Multiple choice (2)</vt:lpstr>
      <vt:lpstr>Short response (9)</vt:lpstr>
      <vt:lpstr>Short response (10)</vt:lpstr>
      <vt:lpstr>Short response (11)</vt:lpstr>
      <vt:lpstr>Short response (12)</vt:lpstr>
      <vt:lpstr>Activity 3 – regrouping and partitioning numbers (1)</vt:lpstr>
      <vt:lpstr>Activity 3 – regrouping and partitioning numbers (2)</vt:lpstr>
      <vt:lpstr>Review of learning 4</vt:lpstr>
      <vt:lpstr>True or false (2)</vt:lpstr>
      <vt:lpstr>Short response (13)</vt:lpstr>
      <vt:lpstr>Short response (14)</vt:lpstr>
      <vt:lpstr>Short response (15)</vt:lpstr>
      <vt:lpstr>Short response (16)</vt:lpstr>
      <vt:lpstr>Activity 4 – standard and non-standard partitioning</vt:lpstr>
      <vt:lpstr>Review of learning 5</vt:lpstr>
      <vt:lpstr>Multiple choice (3)</vt:lpstr>
      <vt:lpstr>Short response (17)</vt:lpstr>
      <vt:lpstr>Short response (18)</vt:lpstr>
      <vt:lpstr>Short response (19)</vt:lpstr>
      <vt:lpstr>Short response (20)</vt:lpstr>
      <vt:lpstr>Activity 5 – using the area model to solve division problems (1)</vt:lpstr>
      <vt:lpstr>Activity 5 – using the area model to solve division problems (2)</vt:lpstr>
      <vt:lpstr>Review of learning 6</vt:lpstr>
      <vt:lpstr>True or false (3)</vt:lpstr>
      <vt:lpstr>Short response (21)</vt:lpstr>
      <vt:lpstr>Short response (22)</vt:lpstr>
      <vt:lpstr>Short response (23)</vt:lpstr>
      <vt:lpstr>Short response (24)</vt:lpstr>
      <vt:lpstr>Activity 6 – investigating the area model</vt:lpstr>
      <vt:lpstr>Review of learning 7</vt:lpstr>
      <vt:lpstr>Multiple choice (4)</vt:lpstr>
      <vt:lpstr>Short response (25)</vt:lpstr>
      <vt:lpstr>Short response (26)</vt:lpstr>
      <vt:lpstr>Short response (27)</vt:lpstr>
      <vt:lpstr>Short response (28)</vt:lpstr>
      <vt:lpstr>Activity 7 – using partial products</vt:lpstr>
      <vt:lpstr>Review of learning 8</vt:lpstr>
      <vt:lpstr>True or false (4)</vt:lpstr>
      <vt:lpstr>Short response (29)</vt:lpstr>
      <vt:lpstr>Short response (30)</vt:lpstr>
      <vt:lpstr>Short response (31)</vt:lpstr>
      <vt:lpstr>Short response (32)</vt:lpstr>
      <vt:lpstr>Activity 8 – using the distributive property</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2026-02-08T21:18:07Z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