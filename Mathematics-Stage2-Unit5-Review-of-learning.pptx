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365" r:id="rId5"/>
    <p:sldId id="26505"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46" r:id="rId29"/>
    <p:sldId id="26601" r:id="rId30"/>
    <p:sldId id="26604" r:id="rId31"/>
    <p:sldId id="26605" r:id="rId32"/>
    <p:sldId id="26606" r:id="rId33"/>
    <p:sldId id="26607" r:id="rId34"/>
    <p:sldId id="26608" r:id="rId35"/>
    <p:sldId id="26609" r:id="rId36"/>
    <p:sldId id="26610" r:id="rId37"/>
    <p:sldId id="26611"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29"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45" r:id="rId64"/>
    <p:sldId id="26393" r:id="rId65"/>
    <p:sldId id="26387" r:id="rId66"/>
    <p:sldId id="26395" r:id="rId67"/>
    <p:sldId id="26391" r:id="rId68"/>
    <p:sldId id="26402" r:id="rId69"/>
    <p:sldId id="26507" r:id="rId70"/>
    <p:sldId id="26510" r:id="rId71"/>
    <p:sldId id="360" r:id="rId72"/>
    <p:sldId id="26538" r:id="rId73"/>
    <p:sldId id="361" r:id="rId74"/>
  </p:sldIdLst>
  <p:sldSz cx="12192000" cy="6858000"/>
  <p:notesSz cx="6858000" cy="9144000"/>
  <p:embeddedFontLst>
    <p:embeddedFont>
      <p:font typeface="Cambria Math" panose="02040503050406030204" pitchFamily="18" charset="0"/>
      <p:regular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 id="26646"/>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360"/>
            <p14:sldId id="26538"/>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02" autoAdjust="0"/>
    <p:restoredTop sz="71519" autoAdjust="0"/>
  </p:normalViewPr>
  <p:slideViewPr>
    <p:cSldViewPr snapToGrid="0">
      <p:cViewPr varScale="1">
        <p:scale>
          <a:sx n="70" d="100"/>
          <a:sy n="70" d="100"/>
        </p:scale>
        <p:origin x="1036" y="48"/>
      </p:cViewPr>
      <p:guideLst>
        <p:guide orient="horz" pos="2160"/>
        <p:guide pos="3863"/>
      </p:guideLst>
    </p:cSldViewPr>
  </p:slideViewPr>
  <p:outlineViewPr>
    <p:cViewPr>
      <p:scale>
        <a:sx n="33" d="100"/>
        <a:sy n="33" d="100"/>
      </p:scale>
      <p:origin x="0" y="-1104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5082" y="16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theme" Target="theme/them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2-counting-game-by-multiples-of-5"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education.nsw.gov.au/teaching-and-learning/curriculum/mathematics/mathematics-curriculum-resources-k-12/mathematics-k-6-resources" TargetMode="Externa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A Unit 3</a:t>
            </a:r>
          </a:p>
          <a:p>
            <a:pPr marL="285750" indent="-285750">
              <a:buFont typeface="Arial" panose="020B0604020202020204" pitchFamily="34" charset="0"/>
              <a:buChar char="•"/>
            </a:pPr>
            <a:r>
              <a:rPr lang="en-AU" dirty="0"/>
              <a:t>Stage 2 Year A Unit 4</a:t>
            </a:r>
          </a:p>
          <a:p>
            <a:pPr marL="285750" indent="-285750">
              <a:buFont typeface="Arial" panose="020B0604020202020204" pitchFamily="34" charset="0"/>
              <a:buChar char="•"/>
            </a:pPr>
            <a:r>
              <a:rPr lang="en-AU" dirty="0"/>
              <a:t>Stage 2 Year A Unit 5</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Teacher notes:</a:t>
            </a:r>
            <a:endParaRPr lang="en-US" dirty="0"/>
          </a:p>
          <a:p>
            <a:pPr marL="171450" indent="-171450">
              <a:buFont typeface="Arial"/>
              <a:buChar char="•"/>
            </a:pPr>
            <a:r>
              <a:rPr lang="en-AU" dirty="0"/>
              <a:t>Click lesson numbers to go to specific lessons</a:t>
            </a:r>
          </a:p>
          <a:p>
            <a:pPr marL="171450" indent="-171450">
              <a:buFont typeface="Arial"/>
              <a:buChar char="•"/>
            </a:pPr>
            <a:r>
              <a:rPr lang="en-AU" dirty="0">
                <a:cs typeface="Calibri"/>
              </a:rPr>
              <a:t>Interactive features can be viewed in slide show</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A: Whole numbers</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Length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 2D shapes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dirty="0"/>
          </a:p>
          <a:p>
            <a:r>
              <a:rPr lang="en-AU" b="1" dirty="0">
                <a:latin typeface="Arial"/>
                <a:cs typeface="Arial"/>
              </a:rPr>
              <a:t>Activity 1 – read and record 4-digit numbers</a:t>
            </a:r>
          </a:p>
          <a:p>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Hit it (3-digit numbers) from K-6 Mathematics resources by State of New South Wales (Department of Education).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choose a multiple of a thousand between 1000 and 9000 as their target number.</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Each student draws their own gameboard with space for a 4-digit number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take turns to roll the 0-9 dice and record the digit in the thousands, hundreds, tens or ones position. The aim is to get the closest number to the target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Once both players’ digits are full, each student reads their number and determines how far away they are from the target number. They can be over or under the target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player who is closest to the target number wins a point.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can choose to keep or change their target number between each round.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student with the most points after 3 rounds is declared the winner.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 students play, ask questions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number did you roll?</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would be the best position for that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might happen if you placed it in a different position?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number would you like to roll next?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could you make the game easier or harder?</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Representing numbers using place value A: Whole numbers</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Length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length B: Position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dirty="0"/>
          </a:p>
          <a:p>
            <a:r>
              <a:rPr lang="en-AU" b="1" dirty="0">
                <a:latin typeface="Arial"/>
                <a:cs typeface="Arial"/>
              </a:rPr>
              <a:t>Activity 2 – identifying 4-digit numbers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the students will try to identify a mystery 3- or 4-digit number by asking questions that require a ‘</a:t>
            </a:r>
            <a:r>
              <a:rPr lang="en-AU" sz="1600" kern="1200" dirty="0" err="1">
                <a:solidFill>
                  <a:schemeClr val="tx1"/>
                </a:solidFill>
                <a:effectLst/>
                <a:latin typeface="Arial" panose="020B0604020202020204" pitchFamily="34" charset="0"/>
                <a:ea typeface="+mn-ea"/>
                <a:cs typeface="Arial" panose="020B0604020202020204" pitchFamily="34" charset="0"/>
              </a:rPr>
              <a:t>yes’</a:t>
            </a:r>
            <a:r>
              <a:rPr lang="en-AU" sz="1600" kern="1200" dirty="0">
                <a:solidFill>
                  <a:schemeClr val="tx1"/>
                </a:solidFill>
                <a:effectLst/>
                <a:latin typeface="Arial" panose="020B0604020202020204" pitchFamily="34" charset="0"/>
                <a:ea typeface="+mn-ea"/>
                <a:cs typeface="Arial" panose="020B0604020202020204" pitchFamily="34" charset="0"/>
              </a:rPr>
              <a:t> or ‘no’ answer.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provide examples of suitable questions,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Is the number an even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Is the number a 4-digit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Is the number larger than 500?</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Does the number have less than 7 hundreds?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a 3- or 4-digit number and select students to ask questions.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Assist students to keep track of possible answers and eliminated numbers by asking questions as students play,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Could the answer be 458? Why or why not?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Could the answer have a 4 in the ones place? Why or why not?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Could the answer have more than 25 tens? Why or why not?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When the mystery number has been guessed, students record the number using standard place value form. For example, 523 = 500 + 20 + 3 or 5 hundreds, 2 tens and 3 ones.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asking questions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Which questions were the most useful?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 you think of any additional questions that would have been useful to 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could you make the game easier or harder?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Repeat twice in pairs, allowing students to alternate between creating and guessing a mystery number.</a:t>
            </a:r>
          </a:p>
          <a:p>
            <a:pPr marL="285750" indent="-285750">
              <a:buFont typeface="Arial" panose="020B0604020202020204" pitchFamily="34" charset="0"/>
              <a:buChar char="•"/>
            </a:pP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numbers using place value A: Whole number</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Length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kern="1200" dirty="0">
                <a:solidFill>
                  <a:schemeClr val="tx1"/>
                </a:solidFill>
                <a:effectLst/>
                <a:latin typeface="Arial" panose="020B0604020202020204" pitchFamily="34" charset="0"/>
                <a:ea typeface="+mn-ea"/>
                <a:cs typeface="Arial" panose="020B0604020202020204" pitchFamily="34" charset="0"/>
              </a:rPr>
              <a:t>Two-dimensional spatial structure B: 2D shapes (Note: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b="1" dirty="0"/>
              <a:t>Note: </a:t>
            </a:r>
            <a:r>
              <a:rPr lang="en-AU" dirty="0"/>
              <a:t>this slide has been designed to use in presentation mode.</a:t>
            </a:r>
          </a:p>
          <a:p>
            <a:endParaRPr lang="en-AU" dirty="0"/>
          </a:p>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dirty="0"/>
          </a:p>
          <a:p>
            <a:r>
              <a:rPr lang="en-AU" b="1" dirty="0"/>
              <a:t>Activity 3 – partitioning numbers up to 4 digits</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Using MAB materials, model making a 3- or 4-digit number using standard partitioning. </a:t>
            </a:r>
            <a:endParaRPr lang="en-AU" b="1" dirty="0"/>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if this is the only way to represent the number.</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If the answer is yes, provide an example using non-standard partitioning and record how many MAB pieces were used.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After providing an example or if the answer is no, ask students how many ways the number can be made.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how to identify if all the possibilities have been found.</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Demonstrate how to use a table to record different models (next slide)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groups of students with MAB materials to explore predictions.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groups to share their thinking and discuss using questions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possibilities did you find?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more possibilities might there be? How do you know?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was the least number of MAB pieces used and how was the number partitioned?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was the greatest number of MAB pieces used and how was the number partitioned?</a:t>
            </a:r>
          </a:p>
          <a:p>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5B2FA-14F3-23D9-AEF8-AD1D2F78D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FCCE8-A2F0-EEC9-ECB2-422E51003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FEFE70-9F8E-BB4F-3571-ED90C998C4FA}"/>
              </a:ext>
            </a:extLst>
          </p:cNvPr>
          <p:cNvSpPr>
            <a:spLocks noGrp="1"/>
          </p:cNvSpPr>
          <p:nvPr>
            <p:ph type="body" idx="1"/>
          </p:nvPr>
        </p:nvSpPr>
        <p:spPr/>
        <p:txBody>
          <a:bodyPr/>
          <a:lstStyle/>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Demonstrate how to use a table to record different models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groups of students with MAB materials to explore predictions.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groups to share their thinking and discuss using questions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possibilities did you find?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more possibilities might there be? How do you know?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was the least number of MAB pieces used and how was the number partitioned?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was the greatest number of MAB pieces used and how was the number partitioned?</a:t>
            </a:r>
          </a:p>
          <a:p>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B2E92F67-D9D1-9635-021A-9B965DEE6735}"/>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6573032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Representing numbers using place value A: Whole number</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 Length </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B: Area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Representing numbers using place value A</a:t>
            </a:r>
          </a:p>
          <a:p>
            <a:endParaRPr lang="en-AU" dirty="0"/>
          </a:p>
          <a:p>
            <a:r>
              <a:rPr lang="en-AU" b="1" dirty="0"/>
              <a:t>Activity 4 </a:t>
            </a:r>
            <a:r>
              <a:rPr lang="en-AU" b="1" dirty="0">
                <a:latin typeface="Arial"/>
                <a:cs typeface="Arial"/>
              </a:rPr>
              <a:t>– ordering 4-digit numbers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Divide the class into pairs. Provide each student with 4 strips of paper.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Instruct students to write 4 four-digit numbers, one on each strip of paper, including numbers that contain an internal zero. For example, 4039.</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read and identify the place value of each digit.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After identifying the place value of each digit, students write each number in expanded form. For example, 4039 would be 4000 + 0 + 30 + 9.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Can you order your 4-digit numbers from smallest to largest. Prompt students to pay close attention to the place value of digits, including the internal zeros.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explain their reasoning to their partner when ordering the numbers from smallest to largest.</a:t>
            </a:r>
          </a:p>
          <a:p>
            <a:pPr marL="285750" indent="-285750">
              <a:buFont typeface="Arial" panose="020B0604020202020204" pitchFamily="34" charset="0"/>
              <a:buChar char="•"/>
            </a:pP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Three-dimensional spatial structure B: 3D objects </a:t>
            </a:r>
            <a:r>
              <a:rPr lang="en-AU" sz="1600" kern="1200" dirty="0">
                <a:solidFill>
                  <a:schemeClr val="tx1"/>
                </a:solidFill>
                <a:effectLst/>
                <a:latin typeface="Arial" panose="020B0604020202020204" pitchFamily="34" charset="0"/>
                <a:ea typeface="+mn-ea"/>
                <a:cs typeface="Arial" panose="020B0604020202020204" pitchFamily="34" charset="0"/>
              </a:rPr>
              <a:t>(Note: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dirty="0"/>
          </a:p>
          <a:p>
            <a:r>
              <a:rPr lang="en-AU" b="1" dirty="0">
                <a:latin typeface="Arial"/>
                <a:cs typeface="Arial"/>
              </a:rPr>
              <a:t>Activity 5 – number patterns and multiples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Public Sans" pitchFamily="2" charset="0"/>
                <a:ea typeface="+mn-ea"/>
                <a:cs typeface="Arial" panose="020B0604020202020204" pitchFamily="34" charset="0"/>
              </a:rPr>
              <a:t>This activity is an adaptation of </a:t>
            </a:r>
            <a:r>
              <a:rPr lang="en-AU" sz="1600" u="sng" kern="1200" dirty="0">
                <a:solidFill>
                  <a:schemeClr val="tx1"/>
                </a:solidFill>
                <a:effectLst/>
                <a:latin typeface="Public Sans" pitchFamily="2" charset="0"/>
                <a:ea typeface="+mn-ea"/>
                <a:cs typeface="Arial" panose="020B0604020202020204" pitchFamily="34" charset="0"/>
                <a:hlinkClick r:id="rId3"/>
              </a:rPr>
              <a:t>Counting game (by multiples of 5)</a:t>
            </a:r>
            <a:r>
              <a:rPr lang="en-AU" sz="1600" kern="1200" dirty="0">
                <a:solidFill>
                  <a:schemeClr val="tx1"/>
                </a:solidFill>
                <a:effectLst/>
                <a:latin typeface="Public Sans" pitchFamily="2" charset="0"/>
                <a:ea typeface="+mn-ea"/>
                <a:cs typeface="Arial" panose="020B0604020202020204" pitchFamily="34" charset="0"/>
              </a:rPr>
              <a:t> from </a:t>
            </a:r>
            <a:r>
              <a:rPr lang="en-AU" sz="1600" u="sng" kern="1200" dirty="0">
                <a:solidFill>
                  <a:schemeClr val="tx1"/>
                </a:solidFill>
                <a:effectLst/>
                <a:latin typeface="Public Sans" pitchFamily="2" charset="0"/>
                <a:ea typeface="+mn-ea"/>
                <a:cs typeface="Arial" panose="020B0604020202020204" pitchFamily="34" charset="0"/>
                <a:hlinkClick r:id="rId4"/>
              </a:rPr>
              <a:t>Mathematics K-6 resources</a:t>
            </a:r>
            <a:r>
              <a:rPr lang="en-AU" sz="1600" kern="1200" dirty="0">
                <a:solidFill>
                  <a:schemeClr val="tx1"/>
                </a:solidFill>
                <a:effectLst/>
                <a:latin typeface="Public Sans" pitchFamily="2" charset="0"/>
                <a:ea typeface="+mn-ea"/>
                <a:cs typeface="Arial" panose="020B0604020202020204" pitchFamily="34" charset="0"/>
              </a:rPr>
              <a:t> by State of New South Wales (Department of Education).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In pairs, students choose a target number that is a multiple of 5.</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how they know that the target number is a multiple of 5. For example, any number that ends in 0 or 5 is a multiple of 5.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that the object of the game is to be the person who says the target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take turns to count on by saying the next one, 2 or 3 number words in the fives sequence.</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Pairs record the target number and the number words each turn.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player who says the target number receives a point.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choose a new target number and play the game again.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game may be varied by starting at the target number and counting backwards to zero.</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Reflect on the activity, asking questions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Did you prefer going first or second?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strategy did you use? How successful was it and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Looking back on the games that you played, can you see any ways that one player could change their moves to win?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could you make the game easier or harder?</a:t>
            </a:r>
          </a:p>
          <a:p>
            <a:br>
              <a:rPr lang="en-AU" sz="1600" kern="1200" dirty="0">
                <a:solidFill>
                  <a:schemeClr val="tx1"/>
                </a:solidFill>
                <a:effectLst/>
                <a:latin typeface="Arial" panose="020B0604020202020204" pitchFamily="34" charset="0"/>
                <a:ea typeface="+mn-ea"/>
                <a:cs typeface="Arial" panose="020B0604020202020204" pitchFamily="34" charset="0"/>
              </a:rPr>
            </a:br>
            <a:r>
              <a:rPr lang="en-AU" sz="1600" kern="1200" dirty="0">
                <a:solidFill>
                  <a:schemeClr val="tx1"/>
                </a:solidFill>
                <a:effectLst/>
                <a:latin typeface="Arial" panose="020B0604020202020204" pitchFamily="34" charset="0"/>
                <a:ea typeface="+mn-ea"/>
                <a:cs typeface="Arial" panose="020B0604020202020204" pitchFamily="34" charset="0"/>
              </a:rPr>
              <a:t> </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Multiplicative relations A</a:t>
            </a:r>
            <a:endParaRPr lang="en-AU" dirty="0">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kern="1200" dirty="0">
                <a:solidFill>
                  <a:schemeClr val="tx1"/>
                </a:solidFill>
                <a:effectLst/>
                <a:latin typeface="Arial" panose="020B0604020202020204" pitchFamily="34" charset="0"/>
                <a:ea typeface="+mn-ea"/>
                <a:cs typeface="Arial" panose="020B0604020202020204" pitchFamily="34" charset="0"/>
              </a:rPr>
              <a:t>Non-spatial measure B: Mass (Note: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dirty="0"/>
          </a:p>
          <a:p>
            <a:r>
              <a:rPr lang="en-AU" b="1" dirty="0">
                <a:latin typeface="Arial"/>
                <a:cs typeface="Arial"/>
              </a:rPr>
              <a:t>Activity 6 – largest even and odd numbers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Largest Even from NRICH by University of Cambridge (Faculty of Mathematics).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identify if these numbers are odd or even.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explain how they know if a number is odd or even. For example: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 number is even if it ends in zero, 2, 4, 6, or 8</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even numbers can be divided by 2 without leaving a remainder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 number is odd if it ends in one, 3, 5, 7, or 9</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odd numbers cannot be divided evenly by 2.</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Demonstrate the link between even numbers and the multiplication facts for 2. Then demonstrate the significance of the final digit of a whole number.</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one result that follows from our place value system is that any whole number can be written as a multiple of 10 plus a single digit. For example, 153 is 150 plus 3. Since a multiple of 10 is always even because every group of 10 is 2 rows of 5, then whether a number is odd or even can be determined by its final digit.</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students with a random digit between one and 9. Alternatively, roll a 9-sided dice or use a spinner.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Ask students to record the largest possible 3-digit even number using the digit provided and 2 digits of their choice.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and justify their thinking. Ask question such as: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is your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Where did you place the random digit?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Is your number an even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do you know?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could you prove that it is an even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 you prove that this is the largest possible 3-digit even number possible?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another random digit and repeat.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to compare their answers and describe any commonalities.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Repeat a third time, this time using the random digit and 3 digits of their choice to make the largest 4-digit even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Compare responses with the first 2 and ask what is the same and what is different.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Repeat, making the largest possible 4-digit odd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students to share their thinking and 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is your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Where did you place the random digit? Why?</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Is your number an odd number?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do you know?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 you prove that this is the largest possible 4-digit odd number possible?</a:t>
            </a:r>
          </a:p>
          <a:p>
            <a:pPr marL="285750" indent="-285750">
              <a:buFont typeface="Arial" panose="020B0604020202020204" pitchFamily="34" charset="0"/>
              <a:buChar char="•"/>
            </a:pPr>
            <a:endParaRPr lang="en-AU" b="1" dirty="0"/>
          </a:p>
          <a:p>
            <a:pPr marL="342900" indent="-342900">
              <a:buFont typeface="Arial" panose="020B0604020202020204" pitchFamily="34" charset="0"/>
              <a:buChar char="•"/>
            </a:pPr>
            <a:endParaRPr lang="en-AU" b="0" dirty="0"/>
          </a:p>
          <a:p>
            <a:pPr marL="285750" indent="-285750">
              <a:buFont typeface="Arial" panose="020B0604020202020204" pitchFamily="34" charset="0"/>
              <a:buChar char="•"/>
            </a:pPr>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Partitioned fractions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kern="1200" dirty="0">
                <a:solidFill>
                  <a:schemeClr val="tx1"/>
                </a:solidFill>
                <a:effectLst/>
                <a:latin typeface="Arial" panose="020B0604020202020204" pitchFamily="34" charset="0"/>
                <a:ea typeface="+mn-ea"/>
                <a:cs typeface="Arial" panose="020B0604020202020204" pitchFamily="34" charset="0"/>
              </a:rPr>
              <a:t>Chance B (Note: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dirty="0"/>
          </a:p>
          <a:p>
            <a:r>
              <a:rPr lang="en-AU" b="1" dirty="0"/>
              <a:t>Activity 7 – number patterns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For each number pattern, ask students: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 you describe the pattern?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do you know it is a pattern?</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would the next 3 numbers be?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would the previous 3 numbers be?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create and record their own number patterns that increase or decrease by any number under 12.</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Students give their patterns to a partner and ask them to describe the pattern and record the next 3 numbers. </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b="0" dirty="0"/>
              <a:t>Partitioned fractions B</a:t>
            </a: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Non-spatial measure A: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kern="1200" dirty="0">
                <a:solidFill>
                  <a:schemeClr val="tx1"/>
                </a:solidFill>
                <a:effectLst/>
                <a:latin typeface="Arial" panose="020B0604020202020204" pitchFamily="34" charset="0"/>
                <a:ea typeface="+mn-ea"/>
                <a:cs typeface="Arial" panose="020B0604020202020204" pitchFamily="34" charset="0"/>
              </a:rPr>
              <a:t>Non-spatial measure B: Time (Note: 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sz="1600" b="0" kern="1200" dirty="0">
                <a:solidFill>
                  <a:schemeClr val="tx1"/>
                </a:solidFill>
                <a:effectLst/>
                <a:latin typeface="Arial" panose="020B0604020202020204" pitchFamily="34" charset="0"/>
                <a:ea typeface="+mn-ea"/>
                <a:cs typeface="Arial" panose="020B0604020202020204" pitchFamily="34" charset="0"/>
              </a:rPr>
              <a:t>Multiplicative relations A</a:t>
            </a:r>
          </a:p>
          <a:p>
            <a:endParaRPr lang="en-AU" dirty="0"/>
          </a:p>
          <a:p>
            <a:r>
              <a:rPr lang="en-AU" sz="1600" b="1" kern="1200" dirty="0">
                <a:solidFill>
                  <a:schemeClr val="tx1"/>
                </a:solidFill>
                <a:effectLst/>
                <a:latin typeface="Arial" panose="020B0604020202020204" pitchFamily="34" charset="0"/>
                <a:ea typeface="+mn-ea"/>
                <a:cs typeface="Arial" panose="020B0604020202020204" pitchFamily="34" charset="0"/>
              </a:rPr>
              <a:t>Activity 8 – patterns that increase and decrease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adaptation of Street Sequences from NRICH by University of Cambridge (Faculty of Mathematics).</a:t>
            </a:r>
            <a:r>
              <a:rPr lang="en-AU" sz="1600" kern="1200" dirty="0">
                <a:solidFill>
                  <a:schemeClr val="tx1"/>
                </a:solidFill>
                <a:effectLst/>
                <a:latin typeface="Public Sans" pitchFamily="2" charset="0"/>
                <a:ea typeface="+mn-ea"/>
                <a:cs typeface="Arial" panose="020B0604020202020204" pitchFamily="34" charset="0"/>
              </a:rPr>
              <a:t> </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Public Sans" pitchFamily="2" charset="0"/>
                <a:ea typeface="+mn-ea"/>
                <a:cs typeface="Arial" panose="020B0604020202020204" pitchFamily="34" charset="0"/>
              </a:rPr>
              <a:t>This corresponds to Resource 15 </a:t>
            </a:r>
            <a:r>
              <a:rPr lang="en-AU" dirty="0"/>
              <a:t>–  houses </a:t>
            </a:r>
            <a:r>
              <a:rPr lang="en-AU" sz="1600" u="none" kern="1200" dirty="0">
                <a:solidFill>
                  <a:schemeClr val="tx1"/>
                </a:solidFill>
                <a:effectLst/>
                <a:latin typeface="Public Sans" pitchFamily="2" charset="0"/>
                <a:ea typeface="+mn-ea"/>
                <a:cs typeface="Arial" panose="020B0604020202020204" pitchFamily="34" charset="0"/>
              </a:rPr>
              <a:t>from Stage 2 Year A Unit 5.</a:t>
            </a:r>
            <a:endParaRPr lang="en-AU" sz="1600" b="1" kern="1200" dirty="0">
              <a:solidFill>
                <a:schemeClr val="tx1"/>
              </a:solidFill>
              <a:effectLst/>
              <a:latin typeface="Arial" panose="020B0604020202020204" pitchFamily="34" charset="0"/>
              <a:ea typeface="+mn-ea"/>
              <a:cs typeface="Arial" panose="020B0604020202020204" pitchFamily="34" charset="0"/>
            </a:endParaRPr>
          </a:p>
          <a:p>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Discuss with students the number patterns that they see on the houses in their streets.</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Can you think about the houses in your street?</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are the houses numbered?</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Using individual whiteboards, ask students to record the numbers they see.</a:t>
            </a: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patterns do you notice?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Are they increasing or decreasing?</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Are these numbers odd or even? How do you know?</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the scenario: imagine you are walking down this street. What are some other patterns that you could use to number the houses?</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dirty="0">
                <a:solidFill>
                  <a:schemeClr val="tx1"/>
                </a:solidFill>
                <a:effectLst/>
                <a:latin typeface="Arial" panose="020B0604020202020204" pitchFamily="34" charset="0"/>
                <a:ea typeface="+mn-ea"/>
                <a:cs typeface="Arial" panose="020B0604020202020204" pitchFamily="34" charset="0"/>
              </a:rPr>
              <a:t>Students create and continue a variety of number patterns that increase or decrease by a constant amount.</a:t>
            </a:r>
          </a:p>
          <a:p>
            <a:pPr marL="285750" indent="-285750">
              <a:buFont typeface="Arial" panose="020B0604020202020204" pitchFamily="34" charset="0"/>
              <a:buChar char="•"/>
            </a:pP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79898-9759-B942-BAE6-604ACD4BA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C7E9E-197A-1A0F-9A21-1F4E399544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4404D-74F2-B97A-6CAE-853CF7008EE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4EDFC38-EF06-DAB1-0F60-14738D9396C8}"/>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75503397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dirty="0"/>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dirty="0"/>
              <a:t>Presenter name</a:t>
            </a:r>
            <a:endParaRPr lang="en-AU" dirty="0"/>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dirty="0"/>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dirty="0"/>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dirty="0"/>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dirty="0"/>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dirty="0"/>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dirty="0"/>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dirty="0"/>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dirty="0"/>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dirty="0"/>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dirty="0"/>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dirty="0"/>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dirty="0"/>
              <a:t>Title</a:t>
            </a:r>
            <a:endParaRPr lang="en-AU" dirty="0"/>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dirty="0"/>
              <a:t>References</a:t>
            </a:r>
            <a:endParaRPr lang="en-AU" dirty="0"/>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dirty="0"/>
              <a:t>References (x)</a:t>
            </a:r>
            <a:endParaRPr lang="en-AU" dirty="0"/>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dirty="0"/>
              <a:t>Click to add text</a:t>
            </a:r>
          </a:p>
          <a:p>
            <a:pPr lvl="1"/>
            <a:r>
              <a:rPr lang="en-US" dirty="0"/>
              <a:t>Second level</a:t>
            </a:r>
          </a:p>
          <a:p>
            <a:pPr lvl="4"/>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dirty="0"/>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dirty="0"/>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endParaRPr kumimoji="0" lang="en-US" sz="1800" b="0" i="0" u="none" strike="noStrike" kern="1200" cap="none" spc="0" normalizeH="0" baseline="0" noProof="0" dirty="0">
              <a:ln>
                <a:noFill/>
              </a:ln>
              <a:solidFill>
                <a:srgbClr val="22272B"/>
              </a:solidFill>
              <a:effectLst/>
              <a:uLnTx/>
              <a:uFillTx/>
              <a:latin typeface="Public Sans Light"/>
              <a:ea typeface="+mn-ea"/>
              <a:cs typeface="+mn-cs"/>
            </a:endParaRP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20.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statista.com/chart/16212/estimated-deforestation-in-the-brazilian-amazon/" TargetMode="External"/><Relationship Id="rId5" Type="http://schemas.openxmlformats.org/officeDocument/2006/relationships/hyperlink" Target="https://curriculum.nsw.edu.au/" TargetMode="External"/><Relationship Id="rId10" Type="http://schemas.openxmlformats.org/officeDocument/2006/relationships/hyperlink" Target="https://www.iucnredlist.org/"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ifs.gov.au/resources/short-articles/too-much-time-screens#:~:text=no%20screen%20time%20for%20children,years%20(not%20including%20schoolwork)."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education.nsw.gov.au/teaching-and-learning/curriculum/mathematics/mathematics-curriculum-resources-k-12/thinking-mathematically-resources/mathematics-s2-s3-data-toss"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mathematics/mathematics-curriculum-resources-k-12/thinking-mathematically-resources/mathematics-s2-counting-game-by-multiples-of-5"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www.healthline.com/health/average-steps-per-day" TargetMode="External"/><Relationship Id="rId11" Type="http://schemas.openxmlformats.org/officeDocument/2006/relationships/hyperlink" Target="https://nrich.maths.org/problems/street-sequences" TargetMode="External"/><Relationship Id="rId5" Type="http://schemas.openxmlformats.org/officeDocument/2006/relationships/hyperlink" Target="https://curriculum.nsw.edu.au/" TargetMode="External"/><Relationship Id="rId10" Type="http://schemas.openxmlformats.org/officeDocument/2006/relationships/hyperlink" Target="https://nrich.maths.org/7431"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thinking-mathematically-resources/mathematics-s1-s2-hit-it"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dirty="0">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2 Year A Unit 5.</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dirty="0">
                <a:effectLst/>
                <a:latin typeface="+mj-lt"/>
                <a:ea typeface="Times New Roman" panose="02020603050405020304" pitchFamily="18" charset="0"/>
              </a:rPr>
              <a:t>Review of Learning</a:t>
            </a:r>
            <a:endParaRPr lang="en-AU" dirty="0">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latin typeface="+mj-lt"/>
              </a:rPr>
              <a:t>Mathematics Stage 2 – Unit 5</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dirty="0">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latin typeface="+mj-lt"/>
                </a:rPr>
                <a:t>Review of learning 1</a:t>
              </a:r>
              <a:endParaRPr lang="en-AU" dirty="0">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2</a:t>
              </a:r>
              <a:endParaRPr lang="en-AU" dirty="0">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3</a:t>
              </a:r>
              <a:endParaRPr lang="en-AU" dirty="0">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4</a:t>
              </a:r>
              <a:endParaRPr lang="en-AU" dirty="0">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4</a:t>
              </a:r>
            </a:p>
          </p:txBody>
        </p:sp>
      </p:gr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5</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6</a:t>
              </a:r>
              <a:endParaRPr lang="en-AU" dirty="0">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rPr>
                <a:t>Review of learning </a:t>
              </a:r>
              <a:r>
                <a:rPr lang="en-AU" dirty="0">
                  <a:solidFill>
                    <a:schemeClr val="accent1"/>
                  </a:solidFill>
                  <a:latin typeface="+mj-lt"/>
                </a:rPr>
                <a:t>8</a:t>
              </a:r>
              <a:endParaRPr lang="en-AU" dirty="0">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dirty="0">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600963" y="2050098"/>
            <a:ext cx="11243037" cy="893226"/>
          </a:xfrm>
        </p:spPr>
        <p:txBody>
          <a:bodyPr/>
          <a:lstStyle/>
          <a:p>
            <a:pPr algn="ctr"/>
            <a:r>
              <a:rPr lang="en-US" sz="4400" dirty="0"/>
              <a:t>4 thousands, 8 hundreds, 4 tens and 6 ones is </a:t>
            </a:r>
            <a:r>
              <a:rPr lang="en-US" sz="4400" b="1" dirty="0"/>
              <a:t>recorded</a:t>
            </a:r>
            <a:r>
              <a:rPr lang="en-US" sz="4400" dirty="0"/>
              <a:t> as…</a:t>
            </a:r>
          </a:p>
        </p:txBody>
      </p:sp>
      <p:sp>
        <p:nvSpPr>
          <p:cNvPr id="9" name="TextBox 8">
            <a:extLst>
              <a:ext uri="{FF2B5EF4-FFF2-40B4-BE49-F238E27FC236}">
                <a16:creationId xmlns:a16="http://schemas.microsoft.com/office/drawing/2014/main" id="{055D882C-AF43-C390-844D-CF785253532C}"/>
              </a:ext>
            </a:extLst>
          </p:cNvPr>
          <p:cNvSpPr txBox="1"/>
          <p:nvPr/>
        </p:nvSpPr>
        <p:spPr>
          <a:xfrm>
            <a:off x="806711"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 </a:t>
            </a:r>
          </a:p>
        </p:txBody>
      </p:sp>
      <p:sp>
        <p:nvSpPr>
          <p:cNvPr id="5" name="TextBox 4">
            <a:extLst>
              <a:ext uri="{FF2B5EF4-FFF2-40B4-BE49-F238E27FC236}">
                <a16:creationId xmlns:a16="http://schemas.microsoft.com/office/drawing/2014/main" id="{1DB72EB1-A7C4-4E62-A3FF-FA4B6081AA7D}"/>
              </a:ext>
            </a:extLst>
          </p:cNvPr>
          <p:cNvSpPr txBox="1"/>
          <p:nvPr/>
        </p:nvSpPr>
        <p:spPr>
          <a:xfrm>
            <a:off x="1491934" y="5595856"/>
            <a:ext cx="1347537" cy="738664"/>
          </a:xfrm>
          <a:prstGeom prst="rect">
            <a:avLst/>
          </a:prstGeom>
          <a:noFill/>
        </p:spPr>
        <p:txBody>
          <a:bodyPr wrap="square" lIns="0" tIns="0" rIns="0" bIns="0" rtlCol="0">
            <a:noAutofit/>
          </a:bodyPr>
          <a:lstStyle/>
          <a:p>
            <a:r>
              <a:rPr lang="en-US" sz="4400" dirty="0"/>
              <a:t>4648</a:t>
            </a:r>
            <a:endParaRPr lang="en-AU" sz="4400" dirty="0"/>
          </a:p>
        </p:txBody>
      </p:sp>
      <p:sp>
        <p:nvSpPr>
          <p:cNvPr id="10" name="TextBox 9">
            <a:extLst>
              <a:ext uri="{FF2B5EF4-FFF2-40B4-BE49-F238E27FC236}">
                <a16:creationId xmlns:a16="http://schemas.microsoft.com/office/drawing/2014/main" id="{3A7CB9AE-0F31-FA92-BCB3-C4AD3EF18B05}"/>
              </a:ext>
            </a:extLst>
          </p:cNvPr>
          <p:cNvSpPr txBox="1"/>
          <p:nvPr/>
        </p:nvSpPr>
        <p:spPr>
          <a:xfrm>
            <a:off x="3702401"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6" name="TextBox 5">
            <a:extLst>
              <a:ext uri="{FF2B5EF4-FFF2-40B4-BE49-F238E27FC236}">
                <a16:creationId xmlns:a16="http://schemas.microsoft.com/office/drawing/2014/main" id="{6AD9C7EB-A2F6-82D9-4256-4465F96D1440}"/>
              </a:ext>
            </a:extLst>
          </p:cNvPr>
          <p:cNvSpPr txBox="1"/>
          <p:nvPr/>
        </p:nvSpPr>
        <p:spPr>
          <a:xfrm>
            <a:off x="4420991" y="5600209"/>
            <a:ext cx="1347537" cy="738664"/>
          </a:xfrm>
          <a:prstGeom prst="rect">
            <a:avLst/>
          </a:prstGeom>
          <a:noFill/>
        </p:spPr>
        <p:txBody>
          <a:bodyPr wrap="square" lIns="0" tIns="0" rIns="0" bIns="0" rtlCol="0">
            <a:noAutofit/>
          </a:bodyPr>
          <a:lstStyle/>
          <a:p>
            <a:r>
              <a:rPr lang="en-US" sz="4400" dirty="0"/>
              <a:t>4846</a:t>
            </a:r>
            <a:endParaRPr lang="en-AU" sz="4400" dirty="0"/>
          </a:p>
        </p:txBody>
      </p:sp>
      <p:sp>
        <p:nvSpPr>
          <p:cNvPr id="12" name="TextBox 11">
            <a:extLst>
              <a:ext uri="{FF2B5EF4-FFF2-40B4-BE49-F238E27FC236}">
                <a16:creationId xmlns:a16="http://schemas.microsoft.com/office/drawing/2014/main" id="{92ADCA88-1230-AEE8-EFD6-D8F0DF7EEE5C}"/>
              </a:ext>
            </a:extLst>
          </p:cNvPr>
          <p:cNvSpPr txBox="1"/>
          <p:nvPr/>
        </p:nvSpPr>
        <p:spPr>
          <a:xfrm>
            <a:off x="682061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7" name="TextBox 6">
            <a:extLst>
              <a:ext uri="{FF2B5EF4-FFF2-40B4-BE49-F238E27FC236}">
                <a16:creationId xmlns:a16="http://schemas.microsoft.com/office/drawing/2014/main" id="{B3293250-8DCC-34EA-32D9-5FA1C51B1E75}"/>
              </a:ext>
            </a:extLst>
          </p:cNvPr>
          <p:cNvSpPr txBox="1"/>
          <p:nvPr/>
        </p:nvSpPr>
        <p:spPr>
          <a:xfrm>
            <a:off x="7505842" y="5595856"/>
            <a:ext cx="1347537" cy="738664"/>
          </a:xfrm>
          <a:prstGeom prst="rect">
            <a:avLst/>
          </a:prstGeom>
          <a:noFill/>
        </p:spPr>
        <p:txBody>
          <a:bodyPr wrap="square" lIns="0" tIns="0" rIns="0" bIns="0" rtlCol="0">
            <a:noAutofit/>
          </a:bodyPr>
          <a:lstStyle/>
          <a:p>
            <a:r>
              <a:rPr lang="en-US" sz="4400" dirty="0"/>
              <a:t>6484</a:t>
            </a:r>
            <a:endParaRPr lang="en-AU" sz="4400" dirty="0"/>
          </a:p>
        </p:txBody>
      </p:sp>
      <p:sp>
        <p:nvSpPr>
          <p:cNvPr id="11" name="TextBox 10">
            <a:extLst>
              <a:ext uri="{FF2B5EF4-FFF2-40B4-BE49-F238E27FC236}">
                <a16:creationId xmlns:a16="http://schemas.microsoft.com/office/drawing/2014/main" id="{F2C63D4C-D53C-5250-A986-AB949B67DEB8}"/>
              </a:ext>
            </a:extLst>
          </p:cNvPr>
          <p:cNvSpPr txBox="1"/>
          <p:nvPr/>
        </p:nvSpPr>
        <p:spPr>
          <a:xfrm>
            <a:off x="967412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8" name="TextBox 7">
            <a:extLst>
              <a:ext uri="{FF2B5EF4-FFF2-40B4-BE49-F238E27FC236}">
                <a16:creationId xmlns:a16="http://schemas.microsoft.com/office/drawing/2014/main" id="{03C5B9A4-4F59-B8B7-42BF-6A51DD864674}"/>
              </a:ext>
            </a:extLst>
          </p:cNvPr>
          <p:cNvSpPr txBox="1"/>
          <p:nvPr/>
        </p:nvSpPr>
        <p:spPr>
          <a:xfrm>
            <a:off x="10350525" y="5595856"/>
            <a:ext cx="1347537" cy="738664"/>
          </a:xfrm>
          <a:prstGeom prst="rect">
            <a:avLst/>
          </a:prstGeom>
          <a:noFill/>
        </p:spPr>
        <p:txBody>
          <a:bodyPr wrap="square" lIns="0" tIns="0" rIns="0" bIns="0" rtlCol="0">
            <a:noAutofit/>
          </a:bodyPr>
          <a:lstStyle/>
          <a:p>
            <a:r>
              <a:rPr lang="en-US" sz="4400" dirty="0"/>
              <a:t>4864</a:t>
            </a:r>
            <a:endParaRPr lang="en-AU" sz="4400" dirty="0"/>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A4ECD65-E9C0-015D-3E17-98C72EAB7445}"/>
              </a:ext>
            </a:extLst>
          </p:cNvPr>
          <p:cNvSpPr txBox="1"/>
          <p:nvPr/>
        </p:nvSpPr>
        <p:spPr>
          <a:xfrm>
            <a:off x="635000" y="905601"/>
            <a:ext cx="11074400" cy="2586790"/>
          </a:xfrm>
          <a:prstGeom prst="rect">
            <a:avLst/>
          </a:prstGeom>
          <a:noFill/>
        </p:spPr>
        <p:txBody>
          <a:bodyPr wrap="square" lIns="0" tIns="0" rIns="0" bIns="0" rtlCol="0">
            <a:noAutofit/>
          </a:bodyPr>
          <a:lstStyle/>
          <a:p>
            <a:pPr algn="ctr">
              <a:lnSpc>
                <a:spcPct val="150000"/>
              </a:lnSpc>
            </a:pPr>
            <a:r>
              <a:rPr lang="en-AU" sz="4400" dirty="0"/>
              <a:t>The </a:t>
            </a:r>
            <a:r>
              <a:rPr lang="en-AU" sz="4400" b="1" dirty="0"/>
              <a:t>data question </a:t>
            </a:r>
            <a:r>
              <a:rPr lang="en-AU" sz="4400" dirty="0"/>
              <a:t>“What is your favourite food?” could include response </a:t>
            </a:r>
            <a:r>
              <a:rPr lang="en-AU" sz="4400" b="1" dirty="0"/>
              <a:t>categories </a:t>
            </a:r>
            <a:r>
              <a:rPr lang="en-AU" sz="4400" dirty="0"/>
              <a:t>such as chocolate, fruit, pizza, and cake.</a:t>
            </a:r>
          </a:p>
          <a:p>
            <a:pPr algn="ctr">
              <a:lnSpc>
                <a:spcPct val="150000"/>
              </a:lnSpc>
            </a:pPr>
            <a:r>
              <a:rPr lang="en-AU" sz="1200" dirty="0"/>
              <a:t> </a:t>
            </a:r>
          </a:p>
          <a:p>
            <a:pPr algn="ctr">
              <a:lnSpc>
                <a:spcPct val="150000"/>
              </a:lnSpc>
            </a:pPr>
            <a:r>
              <a:rPr lang="en-AU" sz="4400" b="1" dirty="0"/>
              <a:t>Record</a:t>
            </a:r>
            <a:r>
              <a:rPr lang="en-AU" sz="4400" dirty="0"/>
              <a:t> 2 more </a:t>
            </a:r>
            <a:r>
              <a:rPr lang="en-AU" sz="4400" b="1" dirty="0"/>
              <a:t>categories</a:t>
            </a:r>
            <a:r>
              <a:rPr lang="en-AU" sz="4400" dirty="0"/>
              <a:t> for this question.</a:t>
            </a:r>
          </a:p>
          <a:p>
            <a:pPr algn="ctr">
              <a:lnSpc>
                <a:spcPct val="150000"/>
              </a:lnSpc>
            </a:pPr>
            <a:endParaRPr lang="en-AU" sz="1200" dirty="0"/>
          </a:p>
          <a:p>
            <a:pPr algn="ctr">
              <a:lnSpc>
                <a:spcPct val="150000"/>
              </a:lnSpc>
            </a:pPr>
            <a:r>
              <a:rPr lang="en-AU" sz="4400" b="1" dirty="0"/>
              <a:t>Communicate </a:t>
            </a:r>
            <a:r>
              <a:rPr lang="en-AU" sz="4400" dirty="0"/>
              <a:t>your</a:t>
            </a:r>
            <a:r>
              <a:rPr lang="en-AU" sz="4400" b="1" dirty="0"/>
              <a:t> reasoning.</a:t>
            </a:r>
          </a:p>
          <a:p>
            <a:pPr algn="ctr">
              <a:lnSpc>
                <a:spcPct val="150000"/>
              </a:lnSpc>
            </a:pPr>
            <a:endParaRPr lang="en-AU" sz="4400" dirty="0"/>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C3F9434-05E7-15FD-62EA-496CBDC3EC3D}"/>
              </a:ext>
            </a:extLst>
          </p:cNvPr>
          <p:cNvSpPr txBox="1"/>
          <p:nvPr/>
        </p:nvSpPr>
        <p:spPr>
          <a:xfrm>
            <a:off x="1008185" y="2192215"/>
            <a:ext cx="9719083" cy="3001108"/>
          </a:xfrm>
          <a:prstGeom prst="rect">
            <a:avLst/>
          </a:prstGeom>
          <a:noFill/>
        </p:spPr>
        <p:txBody>
          <a:bodyPr wrap="square" lIns="0" tIns="0" rIns="0" bIns="0" rtlCol="0">
            <a:noAutofit/>
          </a:bodyPr>
          <a:lstStyle/>
          <a:p>
            <a:pPr algn="ctr">
              <a:lnSpc>
                <a:spcPct val="150000"/>
              </a:lnSpc>
            </a:pPr>
            <a:r>
              <a:rPr lang="en-AU" sz="4400" b="1" dirty="0"/>
              <a:t>Draw</a:t>
            </a:r>
            <a:r>
              <a:rPr lang="en-AU" sz="4400" dirty="0"/>
              <a:t> a rectangular </a:t>
            </a:r>
            <a:r>
              <a:rPr lang="en-AU" sz="4400" b="1" dirty="0"/>
              <a:t>fraction strip </a:t>
            </a:r>
            <a:r>
              <a:rPr lang="en-AU" sz="4400" dirty="0"/>
              <a:t>partitioned into </a:t>
            </a:r>
            <a:r>
              <a:rPr lang="en-AU" sz="4400" b="1" dirty="0"/>
              <a:t>fifths</a:t>
            </a:r>
            <a:r>
              <a:rPr lang="en-AU" sz="4400" dirty="0"/>
              <a:t>.</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14522A6-36F7-B574-E00B-393A62EA3BE5}"/>
              </a:ext>
            </a:extLst>
          </p:cNvPr>
          <p:cNvSpPr txBox="1"/>
          <p:nvPr/>
        </p:nvSpPr>
        <p:spPr>
          <a:xfrm>
            <a:off x="348000" y="918249"/>
            <a:ext cx="11679276" cy="5599161"/>
          </a:xfrm>
          <a:prstGeom prst="rect">
            <a:avLst/>
          </a:prstGeom>
          <a:noFill/>
        </p:spPr>
        <p:txBody>
          <a:bodyPr wrap="square">
            <a:spAutoFit/>
          </a:bodyPr>
          <a:lstStyle/>
          <a:p>
            <a:pPr algn="ctr">
              <a:lnSpc>
                <a:spcPct val="150000"/>
              </a:lnSpc>
            </a:pPr>
            <a:r>
              <a:rPr lang="en-AU" sz="3800" b="1" dirty="0"/>
              <a:t>Order</a:t>
            </a:r>
            <a:r>
              <a:rPr lang="en-AU" sz="3800" dirty="0"/>
              <a:t> the following lengths from </a:t>
            </a:r>
            <a:r>
              <a:rPr lang="en-AU" sz="3800" b="1" dirty="0"/>
              <a:t>shortest to longest</a:t>
            </a:r>
          </a:p>
          <a:p>
            <a:pPr algn="ctr">
              <a:lnSpc>
                <a:spcPct val="150000"/>
              </a:lnSpc>
            </a:pPr>
            <a:endParaRPr lang="en-AU" sz="2000" dirty="0"/>
          </a:p>
          <a:p>
            <a:pPr marL="571500" indent="-571500">
              <a:lnSpc>
                <a:spcPct val="150000"/>
              </a:lnSpc>
              <a:buFont typeface="Arial" panose="020B0604020202020204" pitchFamily="34" charset="0"/>
              <a:buChar char="•"/>
            </a:pPr>
            <a:r>
              <a:rPr lang="en-AU" sz="4400" dirty="0"/>
              <a:t>6 m and 35 cm</a:t>
            </a:r>
          </a:p>
          <a:p>
            <a:pPr marL="571500" indent="-571500">
              <a:lnSpc>
                <a:spcPct val="150000"/>
              </a:lnSpc>
              <a:buFont typeface="Arial" panose="020B0604020202020204" pitchFamily="34" charset="0"/>
              <a:buChar char="•"/>
            </a:pPr>
            <a:r>
              <a:rPr lang="en-AU" sz="4400" dirty="0"/>
              <a:t>5 m and 95 cm</a:t>
            </a:r>
          </a:p>
          <a:p>
            <a:pPr marL="571500" indent="-571500">
              <a:lnSpc>
                <a:spcPct val="150000"/>
              </a:lnSpc>
              <a:buFont typeface="Arial" panose="020B0604020202020204" pitchFamily="34" charset="0"/>
              <a:buChar char="•"/>
            </a:pPr>
            <a:r>
              <a:rPr lang="en-AU" sz="4400" dirty="0"/>
              <a:t>6 m and 53 cm</a:t>
            </a:r>
          </a:p>
          <a:p>
            <a:pPr marL="571500" indent="-571500">
              <a:lnSpc>
                <a:spcPct val="150000"/>
              </a:lnSpc>
              <a:buFont typeface="Arial" panose="020B0604020202020204" pitchFamily="34" charset="0"/>
              <a:buChar char="•"/>
            </a:pPr>
            <a:endParaRPr lang="en-AU" sz="1000" dirty="0"/>
          </a:p>
          <a:p>
            <a:pPr algn="ctr">
              <a:lnSpc>
                <a:spcPct val="150000"/>
              </a:lnSpc>
            </a:pPr>
            <a:r>
              <a:rPr lang="en-AU" sz="4400" b="1" dirty="0"/>
              <a:t>Communicate </a:t>
            </a:r>
            <a:r>
              <a:rPr lang="en-AU" sz="4400" dirty="0"/>
              <a:t>your</a:t>
            </a:r>
            <a:r>
              <a:rPr lang="en-AU" sz="4400" b="1" dirty="0"/>
              <a:t> reasoning.</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43FB07D-7ADC-3C4B-D409-ACA6FCCAF96C}"/>
              </a:ext>
            </a:extLst>
          </p:cNvPr>
          <p:cNvSpPr txBox="1"/>
          <p:nvPr/>
        </p:nvSpPr>
        <p:spPr>
          <a:xfrm>
            <a:off x="939612" y="857891"/>
            <a:ext cx="10544388" cy="2426208"/>
          </a:xfrm>
          <a:prstGeom prst="rect">
            <a:avLst/>
          </a:prstGeom>
          <a:noFill/>
        </p:spPr>
        <p:txBody>
          <a:bodyPr wrap="square" lIns="0" tIns="0" rIns="0" bIns="0" rtlCol="0">
            <a:noAutofit/>
          </a:bodyPr>
          <a:lstStyle/>
          <a:p>
            <a:pPr algn="ctr">
              <a:lnSpc>
                <a:spcPct val="150000"/>
              </a:lnSpc>
            </a:pPr>
            <a:r>
              <a:rPr lang="en-AU" sz="4400" b="1" dirty="0"/>
              <a:t>Draw</a:t>
            </a:r>
            <a:r>
              <a:rPr lang="en-AU" sz="4400" dirty="0"/>
              <a:t> this triangle.</a:t>
            </a:r>
          </a:p>
          <a:p>
            <a:pPr algn="ctr">
              <a:lnSpc>
                <a:spcPct val="150000"/>
              </a:lnSpc>
            </a:pPr>
            <a:endParaRPr lang="en-AU" sz="4400" dirty="0"/>
          </a:p>
          <a:p>
            <a:pPr algn="ctr">
              <a:lnSpc>
                <a:spcPct val="150000"/>
              </a:lnSpc>
            </a:pPr>
            <a:endParaRPr lang="en-AU" sz="4000" dirty="0"/>
          </a:p>
          <a:p>
            <a:pPr algn="ctr">
              <a:lnSpc>
                <a:spcPct val="150000"/>
              </a:lnSpc>
            </a:pPr>
            <a:endParaRPr lang="en-AU" sz="4000" dirty="0"/>
          </a:p>
          <a:p>
            <a:pPr algn="l"/>
            <a:endParaRPr lang="en-AU" sz="1800" dirty="0"/>
          </a:p>
          <a:p>
            <a:pPr algn="l"/>
            <a:endParaRPr lang="en-AU" sz="1800" dirty="0"/>
          </a:p>
        </p:txBody>
      </p:sp>
      <p:sp>
        <p:nvSpPr>
          <p:cNvPr id="9" name="Right Triangle 8" descr="right-angled triangle with the right angle in the top left hand side. ">
            <a:extLst>
              <a:ext uri="{FF2B5EF4-FFF2-40B4-BE49-F238E27FC236}">
                <a16:creationId xmlns:a16="http://schemas.microsoft.com/office/drawing/2014/main" id="{08ABCF7C-762E-5C4D-159D-3109E17FD553}"/>
              </a:ext>
            </a:extLst>
          </p:cNvPr>
          <p:cNvSpPr/>
          <p:nvPr/>
        </p:nvSpPr>
        <p:spPr>
          <a:xfrm flipV="1">
            <a:off x="5168316" y="1937859"/>
            <a:ext cx="2631728" cy="2692479"/>
          </a:xfrm>
          <a:prstGeom prst="rtTriangl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TextBox 9">
            <a:extLst>
              <a:ext uri="{FF2B5EF4-FFF2-40B4-BE49-F238E27FC236}">
                <a16:creationId xmlns:a16="http://schemas.microsoft.com/office/drawing/2014/main" id="{C5C9B6F8-9012-5745-745E-CDB01CD22B85}"/>
              </a:ext>
            </a:extLst>
          </p:cNvPr>
          <p:cNvSpPr txBox="1"/>
          <p:nvPr/>
        </p:nvSpPr>
        <p:spPr>
          <a:xfrm>
            <a:off x="174000" y="4663508"/>
            <a:ext cx="11844000" cy="1998176"/>
          </a:xfrm>
          <a:prstGeom prst="rect">
            <a:avLst/>
          </a:prstGeom>
          <a:noFill/>
        </p:spPr>
        <p:txBody>
          <a:bodyPr wrap="square">
            <a:spAutoFit/>
          </a:bodyPr>
          <a:lstStyle/>
          <a:p>
            <a:pPr algn="ctr">
              <a:lnSpc>
                <a:spcPct val="150000"/>
              </a:lnSpc>
            </a:pPr>
            <a:r>
              <a:rPr lang="en-AU" sz="4400" dirty="0"/>
              <a:t>Next draw the </a:t>
            </a:r>
            <a:r>
              <a:rPr lang="en-AU" sz="4400" b="1" dirty="0"/>
              <a:t>same triangle</a:t>
            </a:r>
            <a:r>
              <a:rPr lang="en-AU" sz="4400" dirty="0"/>
              <a:t> in </a:t>
            </a:r>
          </a:p>
          <a:p>
            <a:pPr algn="ctr">
              <a:lnSpc>
                <a:spcPct val="150000"/>
              </a:lnSpc>
            </a:pPr>
            <a:r>
              <a:rPr lang="en-AU" sz="4400" b="1" dirty="0"/>
              <a:t>2 different orientations</a:t>
            </a:r>
            <a:r>
              <a:rPr lang="en-AU" sz="4400" dirty="0"/>
              <a:t>.</a:t>
            </a:r>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dirty="0">
                <a:latin typeface="Arial"/>
                <a:cs typeface="Arial"/>
              </a:rPr>
              <a:t>Activity 1 – read and record 4-digit numbers</a:t>
            </a:r>
            <a:endParaRPr lang="en-AU" dirty="0"/>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Two blue hseets of paper side by side with markings for a 4 digit number on each. A sticky note in the middle showing the number 3000 and a nine-sided dice.">
            <a:extLst>
              <a:ext uri="{FF2B5EF4-FFF2-40B4-BE49-F238E27FC236}">
                <a16:creationId xmlns:a16="http://schemas.microsoft.com/office/drawing/2014/main" id="{FD354E8A-91DE-45E6-C6DC-72EB94C2266A}"/>
              </a:ext>
            </a:extLst>
          </p:cNvPr>
          <p:cNvPicPr>
            <a:picLocks noChangeAspect="1"/>
          </p:cNvPicPr>
          <p:nvPr/>
        </p:nvPicPr>
        <p:blipFill>
          <a:blip r:embed="rId4"/>
          <a:srcRect t="6856" b="15868"/>
          <a:stretch>
            <a:fillRect/>
          </a:stretch>
        </p:blipFill>
        <p:spPr>
          <a:xfrm>
            <a:off x="606066" y="1115258"/>
            <a:ext cx="9875136" cy="5400742"/>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dirty="0">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p:txBody>
          <a:bodyPr/>
          <a:lstStyle/>
          <a:p>
            <a:pPr algn="ctr"/>
            <a:r>
              <a:rPr lang="en-AU" sz="4400" dirty="0"/>
              <a:t>6000 + 200 + 40 + 6 is the </a:t>
            </a:r>
            <a:r>
              <a:rPr lang="en-AU" sz="4400" b="1" dirty="0"/>
              <a:t>same as </a:t>
            </a:r>
          </a:p>
          <a:p>
            <a:pPr algn="ctr"/>
            <a:r>
              <a:rPr lang="en-AU" sz="4400" dirty="0"/>
              <a:t>6 thousands, 2 hundreds, 4 tens and 6 ones which is also the </a:t>
            </a:r>
            <a:r>
              <a:rPr lang="en-AU" sz="4400" b="1" dirty="0"/>
              <a:t>same as </a:t>
            </a:r>
            <a:r>
              <a:rPr lang="en-AU" sz="4400" dirty="0"/>
              <a:t>6246.</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4099850517"/>
              </p:ext>
            </p:extLst>
          </p:nvPr>
        </p:nvGraphicFramePr>
        <p:xfrm>
          <a:off x="2442980" y="535968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815EEFC-90EA-6A08-395B-6D48A8267FA3}"/>
              </a:ext>
            </a:extLst>
          </p:cNvPr>
          <p:cNvSpPr txBox="1"/>
          <p:nvPr/>
        </p:nvSpPr>
        <p:spPr>
          <a:xfrm>
            <a:off x="924910" y="1184223"/>
            <a:ext cx="10199090" cy="3331779"/>
          </a:xfrm>
          <a:prstGeom prst="rect">
            <a:avLst/>
          </a:prstGeom>
          <a:noFill/>
        </p:spPr>
        <p:txBody>
          <a:bodyPr wrap="square" lIns="0" tIns="0" rIns="0" bIns="0" rtlCol="0">
            <a:noAutofit/>
          </a:bodyPr>
          <a:lstStyle/>
          <a:p>
            <a:pPr algn="ctr">
              <a:lnSpc>
                <a:spcPct val="150000"/>
              </a:lnSpc>
            </a:pPr>
            <a:r>
              <a:rPr lang="en-AU" sz="4400" b="1" dirty="0"/>
              <a:t>Create</a:t>
            </a:r>
            <a:r>
              <a:rPr lang="en-AU" sz="4400" dirty="0"/>
              <a:t> a list of </a:t>
            </a:r>
            <a:r>
              <a:rPr lang="en-AU" sz="4400" b="1" dirty="0"/>
              <a:t>categories</a:t>
            </a:r>
            <a:r>
              <a:rPr lang="en-AU" sz="4400" dirty="0"/>
              <a:t> for a matter of interest about </a:t>
            </a:r>
            <a:r>
              <a:rPr lang="en-AU" sz="4400" b="1" dirty="0"/>
              <a:t>favourite school subjects</a:t>
            </a:r>
            <a:r>
              <a:rPr lang="en-AU" sz="4400" dirty="0"/>
              <a:t>.</a:t>
            </a:r>
          </a:p>
          <a:p>
            <a:pPr algn="ctr">
              <a:lnSpc>
                <a:spcPct val="150000"/>
              </a:lnSpc>
            </a:pPr>
            <a:endParaRPr lang="en-AU" sz="2200" dirty="0"/>
          </a:p>
          <a:p>
            <a:pPr algn="ctr">
              <a:lnSpc>
                <a:spcPct val="150000"/>
              </a:lnSpc>
            </a:pPr>
            <a:r>
              <a:rPr lang="en-AU" sz="4400" b="1" dirty="0"/>
              <a:t>Communicate </a:t>
            </a:r>
            <a:r>
              <a:rPr lang="en-AU" sz="4400" dirty="0"/>
              <a:t>your</a:t>
            </a:r>
            <a:r>
              <a:rPr lang="en-AU" sz="4400" b="1" dirty="0"/>
              <a:t> reasoning.</a:t>
            </a:r>
          </a:p>
          <a:p>
            <a:pPr algn="ctr">
              <a:lnSpc>
                <a:spcPct val="150000"/>
              </a:lnSpc>
            </a:pPr>
            <a:endParaRPr lang="en-AU" sz="4400" dirty="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0D0E53B-F97F-089D-C803-6D7B3F41CBD9}"/>
              </a:ext>
            </a:extLst>
          </p:cNvPr>
          <p:cNvSpPr txBox="1"/>
          <p:nvPr/>
        </p:nvSpPr>
        <p:spPr>
          <a:xfrm>
            <a:off x="461354" y="1224141"/>
            <a:ext cx="11269292" cy="2625970"/>
          </a:xfrm>
          <a:prstGeom prst="rect">
            <a:avLst/>
          </a:prstGeom>
          <a:noFill/>
        </p:spPr>
        <p:txBody>
          <a:bodyPr wrap="square" lIns="0" tIns="0" rIns="0" bIns="0" rtlCol="0">
            <a:noAutofit/>
          </a:bodyPr>
          <a:lstStyle/>
          <a:p>
            <a:pPr algn="ctr">
              <a:lnSpc>
                <a:spcPct val="150000"/>
              </a:lnSpc>
            </a:pPr>
            <a:r>
              <a:rPr lang="en-AU" sz="4400" b="1" dirty="0"/>
              <a:t>Draw</a:t>
            </a:r>
            <a:r>
              <a:rPr lang="en-AU" sz="4400" dirty="0"/>
              <a:t> the following </a:t>
            </a:r>
            <a:r>
              <a:rPr lang="en-AU" sz="4400" b="1" dirty="0"/>
              <a:t>fraction strip </a:t>
            </a:r>
            <a:r>
              <a:rPr lang="en-AU" sz="4400" dirty="0"/>
              <a:t>and </a:t>
            </a:r>
            <a:r>
              <a:rPr lang="en-AU" sz="4400" b="1" dirty="0"/>
              <a:t>partition </a:t>
            </a:r>
            <a:r>
              <a:rPr lang="en-AU" sz="4400" dirty="0"/>
              <a:t>into </a:t>
            </a:r>
            <a:r>
              <a:rPr lang="en-AU" sz="4400" b="1" dirty="0"/>
              <a:t>thirds</a:t>
            </a:r>
            <a:r>
              <a:rPr lang="en-AU" sz="4400" dirty="0"/>
              <a:t>. </a:t>
            </a:r>
          </a:p>
          <a:p>
            <a:pPr algn="ctr">
              <a:lnSpc>
                <a:spcPct val="150000"/>
              </a:lnSpc>
            </a:pPr>
            <a:endParaRPr lang="en-AU" sz="4000" dirty="0"/>
          </a:p>
          <a:p>
            <a:pPr algn="ctr">
              <a:lnSpc>
                <a:spcPct val="150000"/>
              </a:lnSpc>
            </a:pPr>
            <a:endParaRPr lang="en-AU" sz="4000" dirty="0"/>
          </a:p>
        </p:txBody>
      </p:sp>
      <p:sp>
        <p:nvSpPr>
          <p:cNvPr id="5" name="Rectangle 4" descr="a rectangle representing a fraction strip">
            <a:extLst>
              <a:ext uri="{FF2B5EF4-FFF2-40B4-BE49-F238E27FC236}">
                <a16:creationId xmlns:a16="http://schemas.microsoft.com/office/drawing/2014/main" id="{2C478BCC-FF64-B2ED-EE24-B69E17B2088B}"/>
              </a:ext>
            </a:extLst>
          </p:cNvPr>
          <p:cNvSpPr/>
          <p:nvPr/>
        </p:nvSpPr>
        <p:spPr>
          <a:xfrm>
            <a:off x="1597700" y="3713025"/>
            <a:ext cx="9254685" cy="1272208"/>
          </a:xfrm>
          <a:prstGeom prst="rect">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9" name="TextBox 8">
            <a:extLst>
              <a:ext uri="{FF2B5EF4-FFF2-40B4-BE49-F238E27FC236}">
                <a16:creationId xmlns:a16="http://schemas.microsoft.com/office/drawing/2014/main" id="{5250EDD6-590C-7BED-6185-75EB7FCCA04A}"/>
              </a:ext>
            </a:extLst>
          </p:cNvPr>
          <p:cNvSpPr txBox="1"/>
          <p:nvPr/>
        </p:nvSpPr>
        <p:spPr>
          <a:xfrm>
            <a:off x="1311300" y="5356482"/>
            <a:ext cx="10172700" cy="982513"/>
          </a:xfrm>
          <a:prstGeom prst="rect">
            <a:avLst/>
          </a:prstGeom>
          <a:noFill/>
        </p:spPr>
        <p:txBody>
          <a:bodyPr wrap="square">
            <a:spAutoFit/>
          </a:bodyPr>
          <a:lstStyle/>
          <a:p>
            <a:pPr algn="ctr">
              <a:lnSpc>
                <a:spcPct val="150000"/>
              </a:lnSpc>
            </a:pPr>
            <a:r>
              <a:rPr lang="en-AU" sz="4400" dirty="0"/>
              <a:t>Shade </a:t>
            </a:r>
            <a:r>
              <a:rPr lang="en-AU" sz="4400" b="1" dirty="0"/>
              <a:t>one-third </a:t>
            </a:r>
            <a:r>
              <a:rPr lang="en-AU" sz="4400" dirty="0"/>
              <a:t>of the fraction strip.</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7A85B94-D4B0-2F6F-EF81-9C939BC90E90}"/>
              </a:ext>
            </a:extLst>
          </p:cNvPr>
          <p:cNvSpPr txBox="1"/>
          <p:nvPr/>
        </p:nvSpPr>
        <p:spPr>
          <a:xfrm>
            <a:off x="1072056" y="1502980"/>
            <a:ext cx="9821786" cy="3111062"/>
          </a:xfrm>
          <a:prstGeom prst="rect">
            <a:avLst/>
          </a:prstGeom>
          <a:noFill/>
        </p:spPr>
        <p:txBody>
          <a:bodyPr wrap="square" lIns="0" tIns="0" rIns="0" bIns="0" rtlCol="0">
            <a:noAutofit/>
          </a:bodyPr>
          <a:lstStyle/>
          <a:p>
            <a:pPr algn="ctr">
              <a:lnSpc>
                <a:spcPct val="150000"/>
              </a:lnSpc>
            </a:pPr>
            <a:r>
              <a:rPr lang="en-AU" sz="4400" b="1" dirty="0"/>
              <a:t>Estimate </a:t>
            </a:r>
            <a:r>
              <a:rPr lang="en-AU" sz="4400" dirty="0"/>
              <a:t>the length of the classroom using a step as the </a:t>
            </a:r>
            <a:r>
              <a:rPr lang="en-AU" sz="4400" b="1" dirty="0"/>
              <a:t>benchmark.</a:t>
            </a:r>
            <a:r>
              <a:rPr lang="en-AU" sz="4400" dirty="0"/>
              <a:t> </a:t>
            </a:r>
          </a:p>
          <a:p>
            <a:pPr algn="ctr">
              <a:lnSpc>
                <a:spcPct val="150000"/>
              </a:lnSpc>
            </a:pPr>
            <a:endParaRPr lang="en-AU" sz="2200" dirty="0"/>
          </a:p>
          <a:p>
            <a:pPr algn="ctr">
              <a:lnSpc>
                <a:spcPct val="150000"/>
              </a:lnSpc>
            </a:pPr>
            <a:r>
              <a:rPr lang="en-AU" sz="4400" b="1" dirty="0"/>
              <a:t>Communicate </a:t>
            </a:r>
            <a:r>
              <a:rPr lang="en-AU" sz="4400" dirty="0"/>
              <a:t>your</a:t>
            </a:r>
            <a:r>
              <a:rPr lang="en-AU" sz="4400" b="1" dirty="0"/>
              <a:t> reasoning.</a:t>
            </a:r>
          </a:p>
          <a:p>
            <a:pPr algn="ctr">
              <a:lnSpc>
                <a:spcPct val="150000"/>
              </a:lnSpc>
            </a:pPr>
            <a:endParaRPr lang="en-AU" sz="4400" dirty="0"/>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390A1C5-2D43-1F82-D3E6-2C575D08B8D9}"/>
              </a:ext>
            </a:extLst>
          </p:cNvPr>
          <p:cNvSpPr txBox="1"/>
          <p:nvPr/>
        </p:nvSpPr>
        <p:spPr>
          <a:xfrm>
            <a:off x="1475232" y="2921154"/>
            <a:ext cx="9648768" cy="915500"/>
          </a:xfrm>
          <a:prstGeom prst="rect">
            <a:avLst/>
          </a:prstGeom>
          <a:noFill/>
        </p:spPr>
        <p:txBody>
          <a:bodyPr wrap="square" lIns="0" tIns="0" rIns="0" bIns="0" rtlCol="0">
            <a:noAutofit/>
          </a:bodyPr>
          <a:lstStyle/>
          <a:p>
            <a:pPr algn="ctr"/>
            <a:r>
              <a:rPr lang="en-AU" sz="4400" b="1" dirty="0"/>
              <a:t>Draw</a:t>
            </a:r>
            <a:r>
              <a:rPr lang="en-AU" sz="4400" dirty="0"/>
              <a:t> a basic </a:t>
            </a:r>
            <a:r>
              <a:rPr lang="en-AU" sz="4400" b="1" dirty="0"/>
              <a:t>map</a:t>
            </a:r>
            <a:r>
              <a:rPr lang="en-AU" sz="4400" dirty="0"/>
              <a:t> of the classroom.</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latin typeface="Arial"/>
                <a:cs typeface="Arial"/>
              </a:rPr>
              <a:t>Activity 2 – identifying 4-digit numbers</a:t>
            </a:r>
            <a:endParaRPr lang="en-AU" dirty="0"/>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1B3BA090-9EC5-A5CE-C1CE-BF4D511455F3}"/>
              </a:ext>
            </a:extLst>
          </p:cNvPr>
          <p:cNvSpPr txBox="1"/>
          <p:nvPr/>
        </p:nvSpPr>
        <p:spPr>
          <a:xfrm>
            <a:off x="116115" y="1271429"/>
            <a:ext cx="6592612" cy="5816977"/>
          </a:xfrm>
          <a:prstGeom prst="rect">
            <a:avLst/>
          </a:prstGeom>
          <a:noFill/>
        </p:spPr>
        <p:txBody>
          <a:bodyPr wrap="square" lIns="91440" tIns="45720" rIns="91440" bIns="45720" anchor="t">
            <a:spAutoFit/>
          </a:bodyPr>
          <a:lstStyle/>
          <a:p>
            <a:pPr marL="342900" indent="-342900">
              <a:lnSpc>
                <a:spcPct val="150000"/>
              </a:lnSpc>
              <a:spcAft>
                <a:spcPts val="1800"/>
              </a:spcAft>
              <a:buFont typeface="Arial" panose="020B0604020202020204" pitchFamily="34" charset="0"/>
              <a:buChar char="•"/>
            </a:pPr>
            <a:r>
              <a:rPr lang="en-AU" sz="3600" b="1" dirty="0">
                <a:latin typeface="Arial"/>
                <a:ea typeface="Calibri"/>
                <a:cs typeface="Arial"/>
              </a:rPr>
              <a:t>Ask </a:t>
            </a:r>
            <a:r>
              <a:rPr lang="en-AU" sz="3600" dirty="0">
                <a:latin typeface="Arial"/>
                <a:ea typeface="Calibri"/>
                <a:cs typeface="Arial"/>
              </a:rPr>
              <a:t>only</a:t>
            </a:r>
            <a:r>
              <a:rPr lang="en-AU" sz="3600" b="1" dirty="0">
                <a:latin typeface="Arial"/>
                <a:ea typeface="Calibri"/>
                <a:cs typeface="Arial"/>
              </a:rPr>
              <a:t> </a:t>
            </a:r>
            <a:r>
              <a:rPr lang="en-AU" sz="3600" dirty="0">
                <a:ea typeface="Calibri"/>
                <a:cs typeface="Arial"/>
              </a:rPr>
              <a:t>questions that require a ‘</a:t>
            </a:r>
            <a:r>
              <a:rPr lang="en-AU" sz="3600" dirty="0" err="1">
                <a:ea typeface="Calibri"/>
                <a:cs typeface="Arial"/>
              </a:rPr>
              <a:t>yes’</a:t>
            </a:r>
            <a:r>
              <a:rPr lang="en-AU" sz="3600" dirty="0">
                <a:ea typeface="Calibri"/>
                <a:cs typeface="Arial"/>
              </a:rPr>
              <a:t> or ‘no’ answer to guess the mystery number.</a:t>
            </a:r>
            <a:endParaRPr lang="en-AU" sz="3600" dirty="0">
              <a:latin typeface="Arial"/>
              <a:ea typeface="Calibri"/>
              <a:cs typeface="Arial"/>
            </a:endParaRPr>
          </a:p>
          <a:p>
            <a:pPr marL="342900" indent="-342900">
              <a:lnSpc>
                <a:spcPct val="150000"/>
              </a:lnSpc>
              <a:spcAft>
                <a:spcPts val="1800"/>
              </a:spcAft>
              <a:buFont typeface="Arial"/>
              <a:buChar char="•"/>
            </a:pPr>
            <a:r>
              <a:rPr lang="en-AU" sz="3600" b="1" dirty="0">
                <a:latin typeface="Arial"/>
                <a:ea typeface="Calibri"/>
                <a:cs typeface="Arial"/>
              </a:rPr>
              <a:t>R</a:t>
            </a:r>
            <a:r>
              <a:rPr lang="en-AU" sz="3600" b="1" dirty="0">
                <a:effectLst/>
                <a:latin typeface="Arial"/>
                <a:ea typeface="Calibri"/>
                <a:cs typeface="Arial"/>
              </a:rPr>
              <a:t>ecord </a:t>
            </a:r>
            <a:r>
              <a:rPr lang="en-AU" sz="3600" dirty="0">
                <a:effectLst/>
                <a:latin typeface="Arial"/>
                <a:ea typeface="Calibri"/>
                <a:cs typeface="Arial"/>
              </a:rPr>
              <a:t>the guessed number using </a:t>
            </a:r>
            <a:r>
              <a:rPr lang="en-AU" sz="3600" b="1" dirty="0">
                <a:effectLst/>
                <a:latin typeface="Arial"/>
                <a:ea typeface="Calibri"/>
                <a:cs typeface="Arial"/>
              </a:rPr>
              <a:t>standard place value form. </a:t>
            </a:r>
          </a:p>
          <a:p>
            <a:endParaRPr lang="en-AU" sz="1800" dirty="0">
              <a:effectLst/>
              <a:latin typeface="Arial"/>
              <a:ea typeface="Calibri"/>
              <a:cs typeface="Arial"/>
            </a:endParaRPr>
          </a:p>
        </p:txBody>
      </p:sp>
      <p:sp>
        <p:nvSpPr>
          <p:cNvPr id="8" name="TextBox 7">
            <a:extLst>
              <a:ext uri="{FF2B5EF4-FFF2-40B4-BE49-F238E27FC236}">
                <a16:creationId xmlns:a16="http://schemas.microsoft.com/office/drawing/2014/main" id="{A2091B80-3265-6B69-84B5-4F5F35E5A07B}"/>
              </a:ext>
            </a:extLst>
          </p:cNvPr>
          <p:cNvSpPr txBox="1"/>
          <p:nvPr/>
        </p:nvSpPr>
        <p:spPr>
          <a:xfrm>
            <a:off x="6952343" y="1407741"/>
            <a:ext cx="4891657" cy="4916602"/>
          </a:xfrm>
          <a:prstGeom prst="rect">
            <a:avLst/>
          </a:prstGeom>
          <a:noFill/>
          <a:ln w="28575">
            <a:solidFill>
              <a:schemeClr val="accent1"/>
            </a:solidFill>
          </a:ln>
        </p:spPr>
        <p:txBody>
          <a:bodyPr wrap="square" lIns="0" tIns="0" rIns="0" bIns="0" rtlCol="0">
            <a:noAutofit/>
          </a:bodyPr>
          <a:lstStyle/>
          <a:p>
            <a:pPr algn="ctr"/>
            <a:r>
              <a:rPr lang="en-AU" sz="2800" b="1" dirty="0"/>
              <a:t>Example ‘</a:t>
            </a:r>
            <a:r>
              <a:rPr lang="en-AU" sz="2800" b="1" dirty="0" err="1"/>
              <a:t>yes’</a:t>
            </a:r>
            <a:r>
              <a:rPr lang="en-AU" sz="2800" b="1" dirty="0"/>
              <a:t> or ‘no’ questions</a:t>
            </a:r>
          </a:p>
          <a:p>
            <a:pPr marL="261938" lvl="1" indent="-174625">
              <a:lnSpc>
                <a:spcPct val="150000"/>
              </a:lnSpc>
              <a:spcAft>
                <a:spcPts val="2400"/>
              </a:spcAft>
              <a:buFont typeface="Arial" panose="020B0604020202020204" pitchFamily="34" charset="0"/>
              <a:buChar char="•"/>
              <a:tabLst>
                <a:tab pos="449263" algn="l"/>
              </a:tabLst>
            </a:pPr>
            <a:r>
              <a:rPr lang="en-AU" sz="2500" dirty="0">
                <a:ea typeface="Calibri"/>
                <a:cs typeface="Arial"/>
              </a:rPr>
              <a:t>Is the number an even number?</a:t>
            </a:r>
          </a:p>
          <a:p>
            <a:pPr marL="261938" lvl="1" indent="-174625">
              <a:lnSpc>
                <a:spcPct val="150000"/>
              </a:lnSpc>
              <a:spcAft>
                <a:spcPts val="2400"/>
              </a:spcAft>
              <a:buFont typeface="Arial" panose="020B0604020202020204" pitchFamily="34" charset="0"/>
              <a:buChar char="•"/>
              <a:tabLst>
                <a:tab pos="449263" algn="l"/>
              </a:tabLst>
            </a:pPr>
            <a:r>
              <a:rPr lang="en-AU" sz="2500" dirty="0">
                <a:ea typeface="Calibri"/>
                <a:cs typeface="Arial"/>
              </a:rPr>
              <a:t>Is the number a 4-digit number?</a:t>
            </a:r>
          </a:p>
          <a:p>
            <a:pPr marL="261938" lvl="1" indent="-174625">
              <a:lnSpc>
                <a:spcPct val="150000"/>
              </a:lnSpc>
              <a:spcAft>
                <a:spcPts val="2400"/>
              </a:spcAft>
              <a:buFont typeface="Arial" panose="020B0604020202020204" pitchFamily="34" charset="0"/>
              <a:buChar char="•"/>
              <a:tabLst>
                <a:tab pos="449263" algn="l"/>
              </a:tabLst>
            </a:pPr>
            <a:r>
              <a:rPr lang="en-AU" sz="2500" dirty="0">
                <a:ea typeface="Calibri"/>
                <a:cs typeface="Arial"/>
              </a:rPr>
              <a:t>Is the number larger than 500?</a:t>
            </a:r>
          </a:p>
          <a:p>
            <a:pPr marL="261938" lvl="1" indent="-174625">
              <a:lnSpc>
                <a:spcPct val="150000"/>
              </a:lnSpc>
              <a:spcAft>
                <a:spcPts val="2400"/>
              </a:spcAft>
              <a:buFont typeface="Arial" panose="020B0604020202020204" pitchFamily="34" charset="0"/>
              <a:buChar char="•"/>
              <a:tabLst>
                <a:tab pos="449263" algn="l"/>
              </a:tabLst>
            </a:pPr>
            <a:r>
              <a:rPr lang="en-AU" sz="2500" dirty="0">
                <a:ea typeface="Calibri"/>
                <a:cs typeface="Arial"/>
              </a:rPr>
              <a:t>Does the number have less than 7 hundreds?</a:t>
            </a:r>
          </a:p>
          <a:p>
            <a:pPr algn="ctr"/>
            <a:endParaRPr lang="en-AU" sz="1600" dirty="0"/>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dirty="0">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730657" y="1919175"/>
            <a:ext cx="11243037" cy="893226"/>
          </a:xfrm>
        </p:spPr>
        <p:txBody>
          <a:bodyPr/>
          <a:lstStyle/>
          <a:p>
            <a:pPr algn="ctr"/>
            <a:r>
              <a:rPr lang="en-US" sz="4400" dirty="0"/>
              <a:t>Using non-standard partitioning, how many </a:t>
            </a:r>
            <a:r>
              <a:rPr lang="en-US" sz="4400" b="1" dirty="0"/>
              <a:t>hundreds</a:t>
            </a:r>
            <a:r>
              <a:rPr lang="en-US" sz="4400" dirty="0"/>
              <a:t> are in 2560?</a:t>
            </a:r>
          </a:p>
        </p:txBody>
      </p:sp>
      <p:sp>
        <p:nvSpPr>
          <p:cNvPr id="9" name="TextBox 8">
            <a:extLst>
              <a:ext uri="{FF2B5EF4-FFF2-40B4-BE49-F238E27FC236}">
                <a16:creationId xmlns:a16="http://schemas.microsoft.com/office/drawing/2014/main" id="{AF13415D-5ABE-8CE1-9EF6-D83C6FF3BAC9}"/>
              </a:ext>
            </a:extLst>
          </p:cNvPr>
          <p:cNvSpPr txBox="1"/>
          <p:nvPr/>
        </p:nvSpPr>
        <p:spPr>
          <a:xfrm>
            <a:off x="1902387" y="48876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7" name="TextBox 6">
            <a:extLst>
              <a:ext uri="{FF2B5EF4-FFF2-40B4-BE49-F238E27FC236}">
                <a16:creationId xmlns:a16="http://schemas.microsoft.com/office/drawing/2014/main" id="{AC52966F-5799-F993-B8B4-AC40B3E9FA04}"/>
              </a:ext>
            </a:extLst>
          </p:cNvPr>
          <p:cNvSpPr txBox="1"/>
          <p:nvPr/>
        </p:nvSpPr>
        <p:spPr>
          <a:xfrm>
            <a:off x="1949090" y="5626323"/>
            <a:ext cx="1347537" cy="738664"/>
          </a:xfrm>
          <a:prstGeom prst="rect">
            <a:avLst/>
          </a:prstGeom>
          <a:noFill/>
        </p:spPr>
        <p:txBody>
          <a:bodyPr wrap="square" lIns="0" tIns="0" rIns="0" bIns="0" rtlCol="0">
            <a:noAutofit/>
          </a:bodyPr>
          <a:lstStyle/>
          <a:p>
            <a:r>
              <a:rPr lang="en-US" sz="4400" dirty="0"/>
              <a:t>5</a:t>
            </a:r>
            <a:endParaRPr lang="en-AU" sz="4400" dirty="0"/>
          </a:p>
        </p:txBody>
      </p:sp>
      <p:sp>
        <p:nvSpPr>
          <p:cNvPr id="10" name="TextBox 9">
            <a:extLst>
              <a:ext uri="{FF2B5EF4-FFF2-40B4-BE49-F238E27FC236}">
                <a16:creationId xmlns:a16="http://schemas.microsoft.com/office/drawing/2014/main" id="{06BFC4FD-CDBD-E74C-2B4B-957276E8D806}"/>
              </a:ext>
            </a:extLst>
          </p:cNvPr>
          <p:cNvSpPr txBox="1"/>
          <p:nvPr/>
        </p:nvSpPr>
        <p:spPr>
          <a:xfrm>
            <a:off x="4717764" y="493109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8" name="TextBox 7">
            <a:extLst>
              <a:ext uri="{FF2B5EF4-FFF2-40B4-BE49-F238E27FC236}">
                <a16:creationId xmlns:a16="http://schemas.microsoft.com/office/drawing/2014/main" id="{08B7FDEE-6E9D-4D5D-AD32-4108BCB6D215}"/>
              </a:ext>
            </a:extLst>
          </p:cNvPr>
          <p:cNvSpPr txBox="1"/>
          <p:nvPr/>
        </p:nvSpPr>
        <p:spPr>
          <a:xfrm>
            <a:off x="4646468" y="5608913"/>
            <a:ext cx="1347537" cy="738664"/>
          </a:xfrm>
          <a:prstGeom prst="rect">
            <a:avLst/>
          </a:prstGeom>
          <a:noFill/>
        </p:spPr>
        <p:txBody>
          <a:bodyPr wrap="square" lIns="0" tIns="0" rIns="0" bIns="0" rtlCol="0">
            <a:noAutofit/>
          </a:bodyPr>
          <a:lstStyle/>
          <a:p>
            <a:r>
              <a:rPr lang="en-US" sz="4400" dirty="0"/>
              <a:t>56</a:t>
            </a:r>
            <a:endParaRPr lang="en-AU" sz="4400" dirty="0"/>
          </a:p>
        </p:txBody>
      </p:sp>
      <p:sp>
        <p:nvSpPr>
          <p:cNvPr id="12" name="TextBox 11">
            <a:extLst>
              <a:ext uri="{FF2B5EF4-FFF2-40B4-BE49-F238E27FC236}">
                <a16:creationId xmlns:a16="http://schemas.microsoft.com/office/drawing/2014/main" id="{0CCBA3B1-EB4D-D918-A8D0-B78C7621C52A}"/>
              </a:ext>
            </a:extLst>
          </p:cNvPr>
          <p:cNvSpPr txBox="1"/>
          <p:nvPr/>
        </p:nvSpPr>
        <p:spPr>
          <a:xfrm>
            <a:off x="7542568" y="49388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3" name="TextBox 12">
            <a:extLst>
              <a:ext uri="{FF2B5EF4-FFF2-40B4-BE49-F238E27FC236}">
                <a16:creationId xmlns:a16="http://schemas.microsoft.com/office/drawing/2014/main" id="{BA962AEF-FF4A-FA3C-2006-E66955A60205}"/>
              </a:ext>
            </a:extLst>
          </p:cNvPr>
          <p:cNvSpPr txBox="1"/>
          <p:nvPr/>
        </p:nvSpPr>
        <p:spPr>
          <a:xfrm>
            <a:off x="7533141" y="5608913"/>
            <a:ext cx="1347537" cy="738664"/>
          </a:xfrm>
          <a:prstGeom prst="rect">
            <a:avLst/>
          </a:prstGeom>
          <a:noFill/>
        </p:spPr>
        <p:txBody>
          <a:bodyPr wrap="square" lIns="0" tIns="0" rIns="0" bIns="0" rtlCol="0">
            <a:noAutofit/>
          </a:bodyPr>
          <a:lstStyle/>
          <a:p>
            <a:r>
              <a:rPr lang="en-US" sz="4400" dirty="0"/>
              <a:t>25</a:t>
            </a:r>
            <a:endParaRPr lang="en-AU" sz="4400" dirty="0"/>
          </a:p>
        </p:txBody>
      </p:sp>
      <p:sp>
        <p:nvSpPr>
          <p:cNvPr id="11" name="TextBox 10">
            <a:extLst>
              <a:ext uri="{FF2B5EF4-FFF2-40B4-BE49-F238E27FC236}">
                <a16:creationId xmlns:a16="http://schemas.microsoft.com/office/drawing/2014/main" id="{002A7C63-4C7D-5EB4-47F9-AF81CCED5985}"/>
              </a:ext>
            </a:extLst>
          </p:cNvPr>
          <p:cNvSpPr txBox="1"/>
          <p:nvPr/>
        </p:nvSpPr>
        <p:spPr>
          <a:xfrm>
            <a:off x="10164526" y="48876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TextBox 13">
            <a:extLst>
              <a:ext uri="{FF2B5EF4-FFF2-40B4-BE49-F238E27FC236}">
                <a16:creationId xmlns:a16="http://schemas.microsoft.com/office/drawing/2014/main" id="{6E064300-87E7-96CC-78B4-1B6C723D6FAC}"/>
              </a:ext>
            </a:extLst>
          </p:cNvPr>
          <p:cNvSpPr txBox="1"/>
          <p:nvPr/>
        </p:nvSpPr>
        <p:spPr>
          <a:xfrm>
            <a:off x="10196112" y="5608913"/>
            <a:ext cx="497843" cy="738664"/>
          </a:xfrm>
          <a:prstGeom prst="rect">
            <a:avLst/>
          </a:prstGeom>
          <a:noFill/>
        </p:spPr>
        <p:txBody>
          <a:bodyPr wrap="square" lIns="0" tIns="0" rIns="0" bIns="0" rtlCol="0">
            <a:noAutofit/>
          </a:bodyPr>
          <a:lstStyle/>
          <a:p>
            <a:r>
              <a:rPr lang="en-US" sz="4400" dirty="0"/>
              <a:t>6</a:t>
            </a:r>
            <a:endParaRPr lang="en-AU" sz="4400" dirty="0"/>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1C29653-A852-ED1D-467E-CF427CB5ECAF}"/>
              </a:ext>
            </a:extLst>
          </p:cNvPr>
          <p:cNvSpPr txBox="1"/>
          <p:nvPr/>
        </p:nvSpPr>
        <p:spPr>
          <a:xfrm>
            <a:off x="912365" y="2069431"/>
            <a:ext cx="10367269" cy="2719137"/>
          </a:xfrm>
          <a:prstGeom prst="rect">
            <a:avLst/>
          </a:prstGeom>
          <a:noFill/>
        </p:spPr>
        <p:txBody>
          <a:bodyPr wrap="square" lIns="0" tIns="0" rIns="0" bIns="0" rtlCol="0">
            <a:noAutofit/>
          </a:bodyPr>
          <a:lstStyle/>
          <a:p>
            <a:pPr algn="ctr">
              <a:lnSpc>
                <a:spcPct val="150000"/>
              </a:lnSpc>
            </a:pPr>
            <a:r>
              <a:rPr lang="en-AU" sz="4400" b="1" dirty="0"/>
              <a:t>Record</a:t>
            </a:r>
            <a:r>
              <a:rPr lang="en-AU" sz="4400" dirty="0"/>
              <a:t> a </a:t>
            </a:r>
            <a:r>
              <a:rPr lang="en-AU" sz="4400" b="1" dirty="0"/>
              <a:t>question</a:t>
            </a:r>
            <a:r>
              <a:rPr lang="en-AU" sz="4400" dirty="0"/>
              <a:t> for a matter of interest about pets where the information can be recorded in </a:t>
            </a:r>
            <a:r>
              <a:rPr lang="en-AU" sz="4400" b="1" dirty="0"/>
              <a:t>categories</a:t>
            </a:r>
            <a:r>
              <a:rPr lang="en-AU" sz="4400" dirty="0"/>
              <a:t>.</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5A6F5E3-0438-A514-EA17-DF06646BAC28}"/>
              </a:ext>
            </a:extLst>
          </p:cNvPr>
          <p:cNvSpPr txBox="1"/>
          <p:nvPr/>
        </p:nvSpPr>
        <p:spPr>
          <a:xfrm>
            <a:off x="1377135" y="1548485"/>
            <a:ext cx="9437730" cy="1289538"/>
          </a:xfrm>
          <a:prstGeom prst="rect">
            <a:avLst/>
          </a:prstGeom>
          <a:noFill/>
        </p:spPr>
        <p:txBody>
          <a:bodyPr wrap="square" lIns="0" tIns="0" rIns="0" bIns="0" rtlCol="0">
            <a:noAutofit/>
          </a:bodyPr>
          <a:lstStyle/>
          <a:p>
            <a:pPr algn="ctr"/>
            <a:r>
              <a:rPr lang="en-AU" sz="4400" b="1" dirty="0"/>
              <a:t>Record</a:t>
            </a:r>
            <a:r>
              <a:rPr lang="en-AU" sz="4400" dirty="0"/>
              <a:t> the </a:t>
            </a:r>
            <a:r>
              <a:rPr lang="en-AU" sz="4400" b="1" dirty="0"/>
              <a:t>fraction </a:t>
            </a:r>
            <a:r>
              <a:rPr lang="en-AU" sz="4400" dirty="0"/>
              <a:t>shaded.</a:t>
            </a:r>
          </a:p>
        </p:txBody>
      </p:sp>
      <p:pic>
        <p:nvPicPr>
          <p:cNvPr id="10" name="Picture 9" descr="A fraction strip partitioned into quarters with 3 quarters shaded orange.&#10;">
            <a:extLst>
              <a:ext uri="{FF2B5EF4-FFF2-40B4-BE49-F238E27FC236}">
                <a16:creationId xmlns:a16="http://schemas.microsoft.com/office/drawing/2014/main" id="{D42A5682-D3FF-F035-F09F-9441FDE0DD08}"/>
              </a:ext>
            </a:extLst>
          </p:cNvPr>
          <p:cNvPicPr>
            <a:picLocks noChangeAspect="1"/>
          </p:cNvPicPr>
          <p:nvPr/>
        </p:nvPicPr>
        <p:blipFill>
          <a:blip r:embed="rId4"/>
          <a:stretch>
            <a:fillRect/>
          </a:stretch>
        </p:blipFill>
        <p:spPr>
          <a:xfrm>
            <a:off x="672116" y="3116645"/>
            <a:ext cx="10451884" cy="1466932"/>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61C7B2D-16E0-B8A0-9368-6ED714D47FF5}"/>
              </a:ext>
            </a:extLst>
          </p:cNvPr>
          <p:cNvSpPr txBox="1"/>
          <p:nvPr/>
        </p:nvSpPr>
        <p:spPr>
          <a:xfrm>
            <a:off x="926553" y="905601"/>
            <a:ext cx="10783613" cy="3783724"/>
          </a:xfrm>
          <a:prstGeom prst="rect">
            <a:avLst/>
          </a:prstGeom>
          <a:noFill/>
        </p:spPr>
        <p:txBody>
          <a:bodyPr wrap="square" lIns="0" tIns="0" rIns="0" bIns="0" rtlCol="0">
            <a:noAutofit/>
          </a:bodyPr>
          <a:lstStyle/>
          <a:p>
            <a:pPr algn="ctr">
              <a:lnSpc>
                <a:spcPct val="150000"/>
              </a:lnSpc>
            </a:pPr>
            <a:r>
              <a:rPr lang="en-AU" sz="4400" b="1" dirty="0"/>
              <a:t>Complete</a:t>
            </a:r>
            <a:r>
              <a:rPr lang="en-AU" sz="4400" dirty="0"/>
              <a:t> the sentences.</a:t>
            </a:r>
          </a:p>
          <a:p>
            <a:pPr marL="285750" indent="-285750" algn="l">
              <a:lnSpc>
                <a:spcPct val="150000"/>
              </a:lnSpc>
              <a:buFont typeface="Arial" panose="020B0604020202020204" pitchFamily="34" charset="0"/>
              <a:buChar char="•"/>
            </a:pPr>
            <a:r>
              <a:rPr lang="en-AU" sz="4400" dirty="0"/>
              <a:t>10 mm is the </a:t>
            </a:r>
            <a:r>
              <a:rPr lang="en-AU" sz="4400" b="1" dirty="0"/>
              <a:t>same as  </a:t>
            </a:r>
            <a:r>
              <a:rPr lang="en-AU" sz="4400" dirty="0"/>
              <a:t>__ cm.</a:t>
            </a:r>
          </a:p>
          <a:p>
            <a:pPr marL="285750" indent="-285750" algn="l">
              <a:lnSpc>
                <a:spcPct val="150000"/>
              </a:lnSpc>
              <a:buFont typeface="Arial" panose="020B0604020202020204" pitchFamily="34" charset="0"/>
              <a:buChar char="•"/>
            </a:pPr>
            <a:r>
              <a:rPr lang="en-AU" sz="4400" dirty="0"/>
              <a:t>2 cm is the </a:t>
            </a:r>
            <a:r>
              <a:rPr lang="en-AU" sz="4400" b="1" dirty="0"/>
              <a:t>same as </a:t>
            </a:r>
            <a:r>
              <a:rPr lang="en-AU" sz="4400" dirty="0"/>
              <a:t>__ mm.</a:t>
            </a:r>
          </a:p>
          <a:p>
            <a:pPr marL="285750" indent="-285750" algn="l">
              <a:lnSpc>
                <a:spcPct val="150000"/>
              </a:lnSpc>
              <a:buFont typeface="Arial" panose="020B0604020202020204" pitchFamily="34" charset="0"/>
              <a:buChar char="•"/>
            </a:pPr>
            <a:r>
              <a:rPr lang="en-AU" sz="4400" dirty="0"/>
              <a:t>30 mm is the </a:t>
            </a:r>
            <a:r>
              <a:rPr lang="en-AU" sz="4400" b="1" dirty="0"/>
              <a:t>same as </a:t>
            </a:r>
            <a:r>
              <a:rPr lang="en-AU" sz="4400" dirty="0"/>
              <a:t>__ cm. </a:t>
            </a:r>
          </a:p>
          <a:p>
            <a:pPr algn="l">
              <a:lnSpc>
                <a:spcPct val="150000"/>
              </a:lnSpc>
            </a:pPr>
            <a:endParaRPr lang="en-AU" sz="2200" dirty="0"/>
          </a:p>
          <a:p>
            <a:pPr algn="ctr">
              <a:lnSpc>
                <a:spcPct val="150000"/>
              </a:lnSpc>
            </a:pPr>
            <a:r>
              <a:rPr lang="en-AU" sz="4400" b="1" dirty="0"/>
              <a:t>Communicate</a:t>
            </a:r>
            <a:r>
              <a:rPr lang="en-AU" sz="4400" dirty="0"/>
              <a:t> your </a:t>
            </a:r>
            <a:r>
              <a:rPr lang="en-AU" sz="4400" b="1" dirty="0"/>
              <a:t>reasoning</a:t>
            </a:r>
            <a:r>
              <a:rPr lang="en-AU" sz="4400" dirty="0"/>
              <a:t>.</a:t>
            </a:r>
          </a:p>
          <a:p>
            <a:pPr marL="285750" indent="-285750" algn="l">
              <a:lnSpc>
                <a:spcPct val="150000"/>
              </a:lnSpc>
              <a:buFont typeface="Arial" panose="020B0604020202020204" pitchFamily="34" charset="0"/>
              <a:buChar char="•"/>
            </a:pPr>
            <a:endParaRPr lang="en-AU" sz="4000" dirty="0"/>
          </a:p>
          <a:p>
            <a:pPr marL="285750" indent="-285750" algn="l">
              <a:lnSpc>
                <a:spcPct val="150000"/>
              </a:lnSpc>
              <a:buFont typeface="Arial" panose="020B0604020202020204" pitchFamily="34" charset="0"/>
              <a:buChar char="•"/>
            </a:pPr>
            <a:endParaRPr lang="en-AU" sz="1800" dirty="0"/>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3FD446DC-CB45-CB84-0FD6-6E9DE4EFAA1E}"/>
              </a:ext>
            </a:extLst>
          </p:cNvPr>
          <p:cNvSpPr txBox="1"/>
          <p:nvPr/>
        </p:nvSpPr>
        <p:spPr>
          <a:xfrm>
            <a:off x="598204" y="1184223"/>
            <a:ext cx="10546080" cy="1670303"/>
          </a:xfrm>
          <a:prstGeom prst="rect">
            <a:avLst/>
          </a:prstGeom>
          <a:noFill/>
        </p:spPr>
        <p:txBody>
          <a:bodyPr wrap="square" lIns="0" tIns="0" rIns="0" bIns="0" rtlCol="0">
            <a:noAutofit/>
          </a:bodyPr>
          <a:lstStyle/>
          <a:p>
            <a:pPr algn="ctr">
              <a:lnSpc>
                <a:spcPct val="150000"/>
              </a:lnSpc>
            </a:pPr>
            <a:r>
              <a:rPr lang="en-AU" sz="4000" b="1" dirty="0"/>
              <a:t>Draw</a:t>
            </a:r>
            <a:r>
              <a:rPr lang="en-AU" sz="4000" dirty="0"/>
              <a:t> the arrow that should replace the question mark to complete the </a:t>
            </a:r>
            <a:r>
              <a:rPr lang="en-AU" sz="4000" b="1" dirty="0"/>
              <a:t>pattern.</a:t>
            </a:r>
          </a:p>
        </p:txBody>
      </p:sp>
      <p:grpSp>
        <p:nvGrpSpPr>
          <p:cNvPr id="12" name="Group 11" descr="5 blue arrows in a line showing a pattern of a rotating a quarter turn each time.">
            <a:extLst>
              <a:ext uri="{FF2B5EF4-FFF2-40B4-BE49-F238E27FC236}">
                <a16:creationId xmlns:a16="http://schemas.microsoft.com/office/drawing/2014/main" id="{92567760-1D52-7B17-348B-4E14E169DF1C}"/>
              </a:ext>
            </a:extLst>
          </p:cNvPr>
          <p:cNvGrpSpPr/>
          <p:nvPr/>
        </p:nvGrpSpPr>
        <p:grpSpPr>
          <a:xfrm>
            <a:off x="770763" y="3215258"/>
            <a:ext cx="9886951" cy="2121408"/>
            <a:chOff x="513588" y="3529584"/>
            <a:chExt cx="9886951" cy="2121408"/>
          </a:xfrm>
        </p:grpSpPr>
        <p:sp>
          <p:nvSpPr>
            <p:cNvPr id="4" name="Arrow: Up 3">
              <a:extLst>
                <a:ext uri="{FF2B5EF4-FFF2-40B4-BE49-F238E27FC236}">
                  <a16:creationId xmlns:a16="http://schemas.microsoft.com/office/drawing/2014/main" id="{341262DD-D361-8A99-665F-8E1CC76E3096}"/>
                </a:ext>
              </a:extLst>
            </p:cNvPr>
            <p:cNvSpPr/>
            <p:nvPr/>
          </p:nvSpPr>
          <p:spPr>
            <a:xfrm>
              <a:off x="513588" y="3529585"/>
              <a:ext cx="1609344" cy="186537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Arrow: Up 4">
              <a:extLst>
                <a:ext uri="{FF2B5EF4-FFF2-40B4-BE49-F238E27FC236}">
                  <a16:creationId xmlns:a16="http://schemas.microsoft.com/office/drawing/2014/main" id="{BBFBAC7F-0607-30C5-D0D4-648D2EDAC979}"/>
                </a:ext>
              </a:extLst>
            </p:cNvPr>
            <p:cNvSpPr/>
            <p:nvPr/>
          </p:nvSpPr>
          <p:spPr>
            <a:xfrm rot="5400000">
              <a:off x="2724149" y="3657601"/>
              <a:ext cx="1609344" cy="186537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Arrow: Up 6">
              <a:extLst>
                <a:ext uri="{FF2B5EF4-FFF2-40B4-BE49-F238E27FC236}">
                  <a16:creationId xmlns:a16="http://schemas.microsoft.com/office/drawing/2014/main" id="{1AD02229-5246-9887-E43A-A84A4CBC201B}"/>
                </a:ext>
              </a:extLst>
            </p:cNvPr>
            <p:cNvSpPr/>
            <p:nvPr/>
          </p:nvSpPr>
          <p:spPr>
            <a:xfrm rot="10800000">
              <a:off x="4708399" y="3785616"/>
              <a:ext cx="1609344" cy="186537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Up 7">
              <a:extLst>
                <a:ext uri="{FF2B5EF4-FFF2-40B4-BE49-F238E27FC236}">
                  <a16:creationId xmlns:a16="http://schemas.microsoft.com/office/drawing/2014/main" id="{7A710EE1-A12C-E559-993C-E8B61F8ED216}"/>
                </a:ext>
              </a:extLst>
            </p:cNvPr>
            <p:cNvSpPr/>
            <p:nvPr/>
          </p:nvSpPr>
          <p:spPr>
            <a:xfrm rot="16200000">
              <a:off x="6692648" y="3657600"/>
              <a:ext cx="1609344" cy="186537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Arrow: Up 8">
              <a:extLst>
                <a:ext uri="{FF2B5EF4-FFF2-40B4-BE49-F238E27FC236}">
                  <a16:creationId xmlns:a16="http://schemas.microsoft.com/office/drawing/2014/main" id="{11E0C489-DD9A-5DA0-9BFD-5876033D5B47}"/>
                </a:ext>
              </a:extLst>
            </p:cNvPr>
            <p:cNvSpPr/>
            <p:nvPr/>
          </p:nvSpPr>
          <p:spPr>
            <a:xfrm>
              <a:off x="8791195" y="3529584"/>
              <a:ext cx="1609344" cy="1865376"/>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0" name="TextBox 9">
            <a:extLst>
              <a:ext uri="{FF2B5EF4-FFF2-40B4-BE49-F238E27FC236}">
                <a16:creationId xmlns:a16="http://schemas.microsoft.com/office/drawing/2014/main" id="{64B283C0-B97A-2829-874E-3AE9E1709120}"/>
              </a:ext>
            </a:extLst>
          </p:cNvPr>
          <p:cNvSpPr txBox="1"/>
          <p:nvPr/>
        </p:nvSpPr>
        <p:spPr>
          <a:xfrm>
            <a:off x="10956654" y="3471290"/>
            <a:ext cx="1464732" cy="1865376"/>
          </a:xfrm>
          <a:prstGeom prst="rect">
            <a:avLst/>
          </a:prstGeom>
          <a:noFill/>
        </p:spPr>
        <p:txBody>
          <a:bodyPr wrap="square" lIns="0" tIns="0" rIns="0" bIns="0" rtlCol="0">
            <a:noAutofit/>
          </a:bodyPr>
          <a:lstStyle/>
          <a:p>
            <a:pPr algn="l"/>
            <a:r>
              <a:rPr lang="en-AU" sz="8800" dirty="0">
                <a:solidFill>
                  <a:schemeClr val="accent1"/>
                </a:solidFill>
              </a:rPr>
              <a:t>?</a:t>
            </a:r>
          </a:p>
        </p:txBody>
      </p:sp>
      <p:sp>
        <p:nvSpPr>
          <p:cNvPr id="14" name="TextBox 13">
            <a:extLst>
              <a:ext uri="{FF2B5EF4-FFF2-40B4-BE49-F238E27FC236}">
                <a16:creationId xmlns:a16="http://schemas.microsoft.com/office/drawing/2014/main" id="{75DE3F3B-9579-400F-329A-81B0B61D5D60}"/>
              </a:ext>
            </a:extLst>
          </p:cNvPr>
          <p:cNvSpPr txBox="1"/>
          <p:nvPr/>
        </p:nvSpPr>
        <p:spPr>
          <a:xfrm>
            <a:off x="1582970" y="5697397"/>
            <a:ext cx="8576547" cy="707886"/>
          </a:xfrm>
          <a:prstGeom prst="rect">
            <a:avLst/>
          </a:prstGeom>
          <a:noFill/>
        </p:spPr>
        <p:txBody>
          <a:bodyPr wrap="square">
            <a:spAutoFit/>
          </a:bodyPr>
          <a:lstStyle/>
          <a:p>
            <a:pPr algn="ctr"/>
            <a:r>
              <a:rPr lang="en-AU" sz="4000" b="1" dirty="0"/>
              <a:t>Communicate </a:t>
            </a:r>
            <a:r>
              <a:rPr lang="en-AU" sz="4000" dirty="0"/>
              <a:t>your</a:t>
            </a:r>
            <a:r>
              <a:rPr lang="en-AU" sz="4000" b="1" dirty="0"/>
              <a:t> reasoning</a:t>
            </a:r>
            <a:r>
              <a:rPr lang="en-AU" sz="2400" b="1" dirty="0"/>
              <a:t>.</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dirty="0"/>
              <a:t>Activity 3 – partitioning numbers up to 4 digits (1)</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11" name="Picture 10" descr="3235 represented with MABs in standard form. The text below reads 3 thousands 2 hundreds 3 tens 5 ones. Below that is 3+2+3+5=15 MAB pieces">
            <a:extLst>
              <a:ext uri="{FF2B5EF4-FFF2-40B4-BE49-F238E27FC236}">
                <a16:creationId xmlns:a16="http://schemas.microsoft.com/office/drawing/2014/main" id="{886D0B0B-C2F3-EC06-62AC-89F7F16FDB35}"/>
              </a:ext>
            </a:extLst>
          </p:cNvPr>
          <p:cNvPicPr>
            <a:picLocks noChangeAspect="1"/>
          </p:cNvPicPr>
          <p:nvPr/>
        </p:nvPicPr>
        <p:blipFill>
          <a:blip r:embed="rId4"/>
          <a:stretch>
            <a:fillRect/>
          </a:stretch>
        </p:blipFill>
        <p:spPr>
          <a:xfrm>
            <a:off x="761889" y="1097317"/>
            <a:ext cx="4249757" cy="5040000"/>
          </a:xfrm>
          <a:prstGeom prst="rect">
            <a:avLst/>
          </a:prstGeom>
        </p:spPr>
      </p:pic>
      <p:pic>
        <p:nvPicPr>
          <p:cNvPr id="12" name="Picture 11" descr="3235 represented with MABs in non-standard form. The text below reads 3 thousands 23 tens 5 ones. Below that is 3+23+5=31 MAB pieces">
            <a:extLst>
              <a:ext uri="{FF2B5EF4-FFF2-40B4-BE49-F238E27FC236}">
                <a16:creationId xmlns:a16="http://schemas.microsoft.com/office/drawing/2014/main" id="{19C645A1-60CC-B6F3-50A9-4C76155B3747}"/>
              </a:ext>
            </a:extLst>
          </p:cNvPr>
          <p:cNvPicPr>
            <a:picLocks noChangeAspect="1"/>
          </p:cNvPicPr>
          <p:nvPr/>
        </p:nvPicPr>
        <p:blipFill>
          <a:blip r:embed="rId5"/>
          <a:stretch>
            <a:fillRect/>
          </a:stretch>
        </p:blipFill>
        <p:spPr>
          <a:xfrm>
            <a:off x="6902683" y="1097317"/>
            <a:ext cx="4191600" cy="5040000"/>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ED0E9-6F9D-B3E2-5E52-FC240C87D8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B5FE476-C676-AC92-EC47-D00BFE714092}"/>
              </a:ext>
            </a:extLst>
          </p:cNvPr>
          <p:cNvSpPr>
            <a:spLocks noGrp="1"/>
          </p:cNvSpPr>
          <p:nvPr>
            <p:ph type="title"/>
          </p:nvPr>
        </p:nvSpPr>
        <p:spPr>
          <a:xfrm>
            <a:off x="360000" y="360000"/>
            <a:ext cx="10367268" cy="545601"/>
          </a:xfrm>
        </p:spPr>
        <p:txBody>
          <a:bodyPr/>
          <a:lstStyle/>
          <a:p>
            <a:r>
              <a:rPr lang="en-AU" dirty="0"/>
              <a:t>Activity 3 – partitioning numbers up to 4 digits (2)</a:t>
            </a:r>
          </a:p>
        </p:txBody>
      </p:sp>
      <p:sp>
        <p:nvSpPr>
          <p:cNvPr id="2" name="Slide Number Placeholder 1">
            <a:extLst>
              <a:ext uri="{FF2B5EF4-FFF2-40B4-BE49-F238E27FC236}">
                <a16:creationId xmlns:a16="http://schemas.microsoft.com/office/drawing/2014/main" id="{9695ACDB-FB84-88A9-1904-0C926BF248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4" name="Picture 3" descr="image of a head with cogs turning inside">
            <a:extLst>
              <a:ext uri="{FF2B5EF4-FFF2-40B4-BE49-F238E27FC236}">
                <a16:creationId xmlns:a16="http://schemas.microsoft.com/office/drawing/2014/main" id="{E783F3D5-23E8-9688-88DC-A36B91B1C836}"/>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10" name="Table 2">
            <a:extLst>
              <a:ext uri="{FF2B5EF4-FFF2-40B4-BE49-F238E27FC236}">
                <a16:creationId xmlns:a16="http://schemas.microsoft.com/office/drawing/2014/main" id="{371D261D-D747-D461-D4C8-9C70E9F85A15}"/>
              </a:ext>
            </a:extLst>
          </p:cNvPr>
          <p:cNvGraphicFramePr>
            <a:graphicFrameLocks noGrp="1"/>
          </p:cNvGraphicFramePr>
          <p:nvPr>
            <p:extLst>
              <p:ext uri="{D42A27DB-BD31-4B8C-83A1-F6EECF244321}">
                <p14:modId xmlns:p14="http://schemas.microsoft.com/office/powerpoint/2010/main" val="2607444004"/>
              </p:ext>
            </p:extLst>
          </p:nvPr>
        </p:nvGraphicFramePr>
        <p:xfrm>
          <a:off x="1280843" y="905601"/>
          <a:ext cx="9630314" cy="5812790"/>
        </p:xfrm>
        <a:graphic>
          <a:graphicData uri="http://schemas.openxmlformats.org/drawingml/2006/table">
            <a:tbl>
              <a:tblPr firstRow="1"/>
              <a:tblGrid>
                <a:gridCol w="1997897">
                  <a:extLst>
                    <a:ext uri="{9D8B030D-6E8A-4147-A177-3AD203B41FA5}">
                      <a16:colId xmlns:a16="http://schemas.microsoft.com/office/drawing/2014/main" val="20000"/>
                    </a:ext>
                  </a:extLst>
                </a:gridCol>
                <a:gridCol w="3589297">
                  <a:extLst>
                    <a:ext uri="{9D8B030D-6E8A-4147-A177-3AD203B41FA5}">
                      <a16:colId xmlns:a16="http://schemas.microsoft.com/office/drawing/2014/main" val="20001"/>
                    </a:ext>
                  </a:extLst>
                </a:gridCol>
                <a:gridCol w="4043120">
                  <a:extLst>
                    <a:ext uri="{9D8B030D-6E8A-4147-A177-3AD203B41FA5}">
                      <a16:colId xmlns:a16="http://schemas.microsoft.com/office/drawing/2014/main" val="20002"/>
                    </a:ext>
                  </a:extLst>
                </a:gridCol>
              </a:tblGrid>
              <a:tr h="605571">
                <a:tc>
                  <a:txBody>
                    <a:bodyPr/>
                    <a:lstStyle/>
                    <a:p>
                      <a:pPr algn="ctr">
                        <a:lnSpc>
                          <a:spcPts val="2300"/>
                        </a:lnSpc>
                        <a:defRPr/>
                      </a:pPr>
                      <a:r>
                        <a:rPr lang="en-US" sz="2000" b="1" dirty="0">
                          <a:solidFill>
                            <a:srgbClr val="000000"/>
                          </a:solidFill>
                          <a:latin typeface="+mj-lt"/>
                          <a:ea typeface="Public Sans Bold"/>
                          <a:cs typeface="Public Sans Bold"/>
                          <a:sym typeface="Public Sans Bold"/>
                        </a:rPr>
                        <a:t>Number</a:t>
                      </a:r>
                      <a:endParaRPr lang="en-US" sz="2000" b="1" dirty="0">
                        <a:latin typeface="+mj-lt"/>
                      </a:endParaRP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solidFill>
                      <a:srgbClr val="FFEBCD"/>
                    </a:solidFill>
                  </a:tcPr>
                </a:tc>
                <a:tc>
                  <a:txBody>
                    <a:bodyPr/>
                    <a:lstStyle/>
                    <a:p>
                      <a:pPr algn="ctr">
                        <a:lnSpc>
                          <a:spcPts val="2300"/>
                        </a:lnSpc>
                        <a:defRPr/>
                      </a:pPr>
                      <a:r>
                        <a:rPr lang="en-US" sz="2000" b="1" dirty="0">
                          <a:solidFill>
                            <a:srgbClr val="000000"/>
                          </a:solidFill>
                          <a:latin typeface="+mj-lt"/>
                          <a:ea typeface="Canva Student Font"/>
                          <a:cs typeface="Canva Student Font"/>
                          <a:sym typeface="Canva Student Font"/>
                        </a:rPr>
                        <a:t>Partitioning</a:t>
                      </a:r>
                      <a:endParaRPr lang="en-US" sz="2000" b="1" dirty="0">
                        <a:latin typeface="+mj-lt"/>
                      </a:endParaRP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solidFill>
                      <a:srgbClr val="FFEBCD"/>
                    </a:solidFill>
                  </a:tcPr>
                </a:tc>
                <a:tc>
                  <a:txBody>
                    <a:bodyPr/>
                    <a:lstStyle/>
                    <a:p>
                      <a:pPr algn="ctr">
                        <a:lnSpc>
                          <a:spcPts val="2300"/>
                        </a:lnSpc>
                        <a:defRPr/>
                      </a:pPr>
                      <a:r>
                        <a:rPr lang="en-US" sz="2000" b="1" dirty="0">
                          <a:solidFill>
                            <a:srgbClr val="000000"/>
                          </a:solidFill>
                          <a:latin typeface="+mj-lt"/>
                          <a:ea typeface="Canva Student Font"/>
                          <a:cs typeface="Canva Student Font"/>
                          <a:sym typeface="Canva Student Font"/>
                        </a:rPr>
                        <a:t>Number of MAB pieces</a:t>
                      </a:r>
                      <a:endParaRPr lang="en-US" sz="2000" b="1" dirty="0">
                        <a:latin typeface="+mj-lt"/>
                      </a:endParaRP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solidFill>
                      <a:srgbClr val="FFEBCD"/>
                    </a:solidFill>
                  </a:tcPr>
                </a:tc>
                <a:extLst>
                  <a:ext uri="{0D108BD9-81ED-4DB2-BD59-A6C34878D82A}">
                    <a16:rowId xmlns:a16="http://schemas.microsoft.com/office/drawing/2014/main" val="10000"/>
                  </a:ext>
                </a:extLst>
              </a:tr>
              <a:tr h="1162178">
                <a:tc>
                  <a:txBody>
                    <a:bodyPr/>
                    <a:lstStyle/>
                    <a:p>
                      <a:pPr algn="ctr">
                        <a:lnSpc>
                          <a:spcPts val="2799"/>
                        </a:lnSpc>
                        <a:defRPr/>
                      </a:pPr>
                      <a:r>
                        <a:rPr lang="en-US" sz="1999" dirty="0">
                          <a:solidFill>
                            <a:srgbClr val="000000"/>
                          </a:solidFill>
                          <a:latin typeface="Public Sans"/>
                          <a:ea typeface="Public Sans"/>
                          <a:cs typeface="Public Sans"/>
                          <a:sym typeface="Public Sans"/>
                        </a:rPr>
                        <a:t>3235</a:t>
                      </a:r>
                      <a:endParaRPr lang="en-US" sz="1100" dirty="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ct val="100000"/>
                        </a:lnSpc>
                        <a:defRPr/>
                      </a:pPr>
                      <a:r>
                        <a:rPr lang="en-US" sz="1600" dirty="0">
                          <a:solidFill>
                            <a:srgbClr val="000000"/>
                          </a:solidFill>
                          <a:latin typeface="Public Sans"/>
                          <a:ea typeface="Public Sans"/>
                          <a:cs typeface="Public Sans"/>
                          <a:sym typeface="Public Sans"/>
                        </a:rPr>
                        <a:t>3 thousands</a:t>
                      </a:r>
                      <a:endParaRPr lang="en-US" sz="1600" dirty="0"/>
                    </a:p>
                    <a:p>
                      <a:pPr algn="ctr">
                        <a:lnSpc>
                          <a:spcPct val="100000"/>
                        </a:lnSpc>
                      </a:pPr>
                      <a:r>
                        <a:rPr lang="en-US" sz="1600" dirty="0">
                          <a:solidFill>
                            <a:srgbClr val="000000"/>
                          </a:solidFill>
                          <a:latin typeface="Public Sans"/>
                          <a:ea typeface="Public Sans"/>
                          <a:cs typeface="Public Sans"/>
                          <a:sym typeface="Public Sans"/>
                        </a:rPr>
                        <a:t>2 hundreds</a:t>
                      </a:r>
                    </a:p>
                    <a:p>
                      <a:pPr algn="ctr">
                        <a:lnSpc>
                          <a:spcPct val="100000"/>
                        </a:lnSpc>
                      </a:pPr>
                      <a:r>
                        <a:rPr lang="en-US" sz="1600" dirty="0">
                          <a:solidFill>
                            <a:srgbClr val="000000"/>
                          </a:solidFill>
                          <a:latin typeface="Public Sans"/>
                          <a:ea typeface="Public Sans"/>
                          <a:cs typeface="Public Sans"/>
                          <a:sym typeface="Public Sans"/>
                        </a:rPr>
                        <a:t>3 tens</a:t>
                      </a:r>
                    </a:p>
                    <a:p>
                      <a:pPr algn="ctr">
                        <a:lnSpc>
                          <a:spcPct val="100000"/>
                        </a:lnSpc>
                      </a:pPr>
                      <a:r>
                        <a:rPr lang="en-US" sz="1600" dirty="0">
                          <a:solidFill>
                            <a:srgbClr val="000000"/>
                          </a:solidFill>
                          <a:latin typeface="Public Sans"/>
                          <a:ea typeface="Public Sans"/>
                          <a:cs typeface="Public Sans"/>
                          <a:sym typeface="Public Sans"/>
                        </a:rPr>
                        <a:t>5 ones</a:t>
                      </a: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Public Sans"/>
                          <a:ea typeface="Public Sans"/>
                          <a:cs typeface="Public Sans"/>
                          <a:sym typeface="Public Sans"/>
                        </a:rPr>
                        <a:t>13</a:t>
                      </a:r>
                      <a:endParaRPr lang="en-US" sz="1100" dirty="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1"/>
                  </a:ext>
                </a:extLst>
              </a:tr>
              <a:tr h="1162178">
                <a:tc>
                  <a:txBody>
                    <a:bodyPr/>
                    <a:lstStyle/>
                    <a:p>
                      <a:pPr algn="ctr">
                        <a:lnSpc>
                          <a:spcPts val="2799"/>
                        </a:lnSpc>
                        <a:defRPr/>
                      </a:pPr>
                      <a:r>
                        <a:rPr lang="en-US" sz="1999">
                          <a:solidFill>
                            <a:srgbClr val="000000"/>
                          </a:solidFill>
                          <a:latin typeface="Public Sans"/>
                          <a:ea typeface="Public Sans"/>
                          <a:cs typeface="Public Sans"/>
                          <a:sym typeface="Public Sans"/>
                        </a:rPr>
                        <a:t>3235</a:t>
                      </a:r>
                      <a:endParaRPr lang="en-US" sz="110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ct val="100000"/>
                        </a:lnSpc>
                        <a:defRPr/>
                      </a:pPr>
                      <a:r>
                        <a:rPr lang="en-US" sz="1600" dirty="0">
                          <a:solidFill>
                            <a:srgbClr val="000000"/>
                          </a:solidFill>
                          <a:latin typeface="Public Sans"/>
                          <a:ea typeface="Public Sans"/>
                          <a:cs typeface="Public Sans"/>
                          <a:sym typeface="Public Sans"/>
                        </a:rPr>
                        <a:t>3 thousands</a:t>
                      </a:r>
                      <a:endParaRPr lang="en-US" sz="1600" dirty="0"/>
                    </a:p>
                    <a:p>
                      <a:pPr algn="ctr">
                        <a:lnSpc>
                          <a:spcPct val="100000"/>
                        </a:lnSpc>
                      </a:pPr>
                      <a:r>
                        <a:rPr lang="en-US" sz="1600" dirty="0">
                          <a:solidFill>
                            <a:srgbClr val="000000"/>
                          </a:solidFill>
                          <a:latin typeface="Public Sans"/>
                          <a:ea typeface="Public Sans"/>
                          <a:cs typeface="Public Sans"/>
                          <a:sym typeface="Public Sans"/>
                        </a:rPr>
                        <a:t>0 hundreds</a:t>
                      </a:r>
                    </a:p>
                    <a:p>
                      <a:pPr algn="ctr">
                        <a:lnSpc>
                          <a:spcPct val="100000"/>
                        </a:lnSpc>
                      </a:pPr>
                      <a:r>
                        <a:rPr lang="en-US" sz="1600" dirty="0">
                          <a:solidFill>
                            <a:srgbClr val="000000"/>
                          </a:solidFill>
                          <a:latin typeface="Public Sans"/>
                          <a:ea typeface="Public Sans"/>
                          <a:cs typeface="Public Sans"/>
                          <a:sym typeface="Public Sans"/>
                        </a:rPr>
                        <a:t>23 tens</a:t>
                      </a:r>
                    </a:p>
                    <a:p>
                      <a:pPr algn="ctr">
                        <a:lnSpc>
                          <a:spcPct val="100000"/>
                        </a:lnSpc>
                      </a:pPr>
                      <a:r>
                        <a:rPr lang="en-US" sz="1600" dirty="0">
                          <a:solidFill>
                            <a:srgbClr val="000000"/>
                          </a:solidFill>
                          <a:latin typeface="Public Sans"/>
                          <a:ea typeface="Public Sans"/>
                          <a:cs typeface="Public Sans"/>
                          <a:sym typeface="Public Sans"/>
                        </a:rPr>
                        <a:t>5 ones</a:t>
                      </a: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Public Sans"/>
                          <a:ea typeface="Public Sans"/>
                          <a:cs typeface="Public Sans"/>
                          <a:sym typeface="Public Sans"/>
                        </a:rPr>
                        <a:t>31</a:t>
                      </a:r>
                      <a:endParaRPr lang="en-US" sz="110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2"/>
                  </a:ext>
                </a:extLst>
              </a:tr>
              <a:tr h="1162178">
                <a:tc>
                  <a:txBody>
                    <a:bodyPr/>
                    <a:lstStyle/>
                    <a:p>
                      <a:pPr algn="ctr">
                        <a:lnSpc>
                          <a:spcPts val="2799"/>
                        </a:lnSpc>
                        <a:defRPr/>
                      </a:pPr>
                      <a:r>
                        <a:rPr lang="en-US" sz="1999">
                          <a:solidFill>
                            <a:srgbClr val="000000"/>
                          </a:solidFill>
                          <a:latin typeface="Public Sans"/>
                          <a:ea typeface="Public Sans"/>
                          <a:cs typeface="Public Sans"/>
                          <a:sym typeface="Public Sans"/>
                        </a:rPr>
                        <a:t>3235</a:t>
                      </a:r>
                      <a:endParaRPr lang="en-US" sz="110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ct val="100000"/>
                        </a:lnSpc>
                        <a:defRPr/>
                      </a:pPr>
                      <a:r>
                        <a:rPr lang="en-US" sz="1600" dirty="0">
                          <a:solidFill>
                            <a:srgbClr val="000000"/>
                          </a:solidFill>
                          <a:latin typeface="Public Sans"/>
                          <a:ea typeface="Public Sans"/>
                          <a:cs typeface="Public Sans"/>
                          <a:sym typeface="Public Sans"/>
                        </a:rPr>
                        <a:t>2 thousands</a:t>
                      </a:r>
                      <a:endParaRPr lang="en-US" sz="1600" dirty="0"/>
                    </a:p>
                    <a:p>
                      <a:pPr algn="ctr">
                        <a:lnSpc>
                          <a:spcPct val="100000"/>
                        </a:lnSpc>
                      </a:pPr>
                      <a:r>
                        <a:rPr lang="en-US" sz="1600" dirty="0">
                          <a:solidFill>
                            <a:srgbClr val="000000"/>
                          </a:solidFill>
                          <a:latin typeface="Public Sans"/>
                          <a:ea typeface="Public Sans"/>
                          <a:cs typeface="Public Sans"/>
                          <a:sym typeface="Public Sans"/>
                        </a:rPr>
                        <a:t>12 hundreds</a:t>
                      </a:r>
                    </a:p>
                    <a:p>
                      <a:pPr algn="ctr">
                        <a:lnSpc>
                          <a:spcPct val="100000"/>
                        </a:lnSpc>
                      </a:pPr>
                      <a:r>
                        <a:rPr lang="en-US" sz="1600" dirty="0">
                          <a:solidFill>
                            <a:srgbClr val="000000"/>
                          </a:solidFill>
                          <a:latin typeface="Public Sans"/>
                          <a:ea typeface="Public Sans"/>
                          <a:cs typeface="Public Sans"/>
                          <a:sym typeface="Public Sans"/>
                        </a:rPr>
                        <a:t>3 tens</a:t>
                      </a:r>
                    </a:p>
                    <a:p>
                      <a:pPr algn="ctr">
                        <a:lnSpc>
                          <a:spcPct val="100000"/>
                        </a:lnSpc>
                      </a:pPr>
                      <a:r>
                        <a:rPr lang="en-US" sz="1600" dirty="0">
                          <a:solidFill>
                            <a:srgbClr val="000000"/>
                          </a:solidFill>
                          <a:latin typeface="Public Sans"/>
                          <a:ea typeface="Public Sans"/>
                          <a:cs typeface="Public Sans"/>
                          <a:sym typeface="Public Sans"/>
                        </a:rPr>
                        <a:t>5 ones</a:t>
                      </a: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Public Sans"/>
                          <a:ea typeface="Public Sans"/>
                          <a:cs typeface="Public Sans"/>
                          <a:sym typeface="Public Sans"/>
                        </a:rPr>
                        <a:t>22</a:t>
                      </a:r>
                      <a:endParaRPr lang="en-US" sz="1100" dirty="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3"/>
                  </a:ext>
                </a:extLst>
              </a:tr>
              <a:tr h="1162178">
                <a:tc>
                  <a:txBody>
                    <a:bodyPr/>
                    <a:lstStyle/>
                    <a:p>
                      <a:pPr algn="ctr">
                        <a:lnSpc>
                          <a:spcPts val="2799"/>
                        </a:lnSpc>
                        <a:defRPr/>
                      </a:pPr>
                      <a:r>
                        <a:rPr lang="en-US" sz="1999" dirty="0">
                          <a:solidFill>
                            <a:srgbClr val="000000"/>
                          </a:solidFill>
                          <a:latin typeface="Public Sans"/>
                          <a:ea typeface="Public Sans"/>
                          <a:cs typeface="Public Sans"/>
                          <a:sym typeface="Public Sans"/>
                        </a:rPr>
                        <a:t>3235</a:t>
                      </a:r>
                      <a:endParaRPr lang="en-US" sz="1100" dirty="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ct val="100000"/>
                        </a:lnSpc>
                        <a:defRPr/>
                      </a:pPr>
                      <a:r>
                        <a:rPr lang="en-US" sz="1600" dirty="0">
                          <a:solidFill>
                            <a:srgbClr val="000000"/>
                          </a:solidFill>
                          <a:latin typeface="Public Sans"/>
                          <a:ea typeface="Public Sans"/>
                          <a:cs typeface="Public Sans"/>
                          <a:sym typeface="Public Sans"/>
                        </a:rPr>
                        <a:t>3 thousands</a:t>
                      </a:r>
                      <a:endParaRPr lang="en-US" sz="1600" dirty="0"/>
                    </a:p>
                    <a:p>
                      <a:pPr algn="ctr">
                        <a:lnSpc>
                          <a:spcPct val="100000"/>
                        </a:lnSpc>
                      </a:pPr>
                      <a:r>
                        <a:rPr lang="en-US" sz="1600" dirty="0">
                          <a:solidFill>
                            <a:srgbClr val="000000"/>
                          </a:solidFill>
                          <a:latin typeface="Public Sans"/>
                          <a:ea typeface="Public Sans"/>
                          <a:cs typeface="Public Sans"/>
                          <a:sym typeface="Public Sans"/>
                        </a:rPr>
                        <a:t>2 hundreds</a:t>
                      </a:r>
                    </a:p>
                    <a:p>
                      <a:pPr algn="ctr">
                        <a:lnSpc>
                          <a:spcPct val="100000"/>
                        </a:lnSpc>
                      </a:pPr>
                      <a:r>
                        <a:rPr lang="en-US" sz="1600" dirty="0">
                          <a:solidFill>
                            <a:srgbClr val="000000"/>
                          </a:solidFill>
                          <a:latin typeface="Public Sans"/>
                          <a:ea typeface="Public Sans"/>
                          <a:cs typeface="Public Sans"/>
                          <a:sym typeface="Public Sans"/>
                        </a:rPr>
                        <a:t>1 ten</a:t>
                      </a:r>
                    </a:p>
                    <a:p>
                      <a:pPr algn="ctr">
                        <a:lnSpc>
                          <a:spcPct val="100000"/>
                        </a:lnSpc>
                      </a:pPr>
                      <a:r>
                        <a:rPr lang="en-US" sz="1600" dirty="0">
                          <a:solidFill>
                            <a:srgbClr val="000000"/>
                          </a:solidFill>
                          <a:latin typeface="Public Sans"/>
                          <a:ea typeface="Public Sans"/>
                          <a:cs typeface="Public Sans"/>
                          <a:sym typeface="Public Sans"/>
                        </a:rPr>
                        <a:t>25 ones</a:t>
                      </a:r>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Public Sans"/>
                          <a:ea typeface="Public Sans"/>
                          <a:cs typeface="Public Sans"/>
                          <a:sym typeface="Public Sans"/>
                        </a:rPr>
                        <a:t>31</a:t>
                      </a:r>
                      <a:endParaRPr lang="en-US" sz="1100" dirty="0"/>
                    </a:p>
                  </a:txBody>
                  <a:tcPr marL="161925" marR="161925" marT="161925" marB="161925" anchor="ctr">
                    <a:lnL w="28575" cap="flat" cmpd="sng" algn="ctr">
                      <a:solidFill>
                        <a:srgbClr val="FFD699"/>
                      </a:solidFill>
                      <a:prstDash val="solid"/>
                      <a:round/>
                      <a:headEnd type="none" w="med" len="med"/>
                      <a:tailEnd type="none" w="med" len="med"/>
                    </a:lnL>
                    <a:lnR w="28575" cap="flat" cmpd="sng" algn="ctr">
                      <a:solidFill>
                        <a:srgbClr val="FFD699"/>
                      </a:solidFill>
                      <a:prstDash val="solid"/>
                      <a:round/>
                      <a:headEnd type="none" w="med" len="med"/>
                      <a:tailEnd type="none" w="med" len="med"/>
                    </a:lnR>
                    <a:lnT w="28575" cap="flat" cmpd="sng" algn="ctr">
                      <a:solidFill>
                        <a:srgbClr val="FFD699"/>
                      </a:solidFill>
                      <a:prstDash val="solid"/>
                      <a:round/>
                      <a:headEnd type="none" w="med" len="med"/>
                      <a:tailEnd type="none" w="med" len="med"/>
                    </a:lnT>
                    <a:lnB w="28575" cap="flat" cmpd="sng" algn="ctr">
                      <a:solidFill>
                        <a:srgbClr val="FFD6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6275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dirty="0">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600963" y="1862070"/>
            <a:ext cx="10523037" cy="893226"/>
          </a:xfrm>
        </p:spPr>
        <p:txBody>
          <a:bodyPr/>
          <a:lstStyle/>
          <a:p>
            <a:pPr algn="ctr"/>
            <a:r>
              <a:rPr lang="en-AU" sz="4400" dirty="0"/>
              <a:t>5097 can be written in </a:t>
            </a:r>
            <a:r>
              <a:rPr lang="en-AU" sz="4400" b="1" dirty="0"/>
              <a:t>standard place value form</a:t>
            </a:r>
            <a:r>
              <a:rPr lang="en-AU" sz="4400" dirty="0"/>
              <a:t> as 5000 + 900 + 7.</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9F7E7B6C-007A-E254-FE2B-4876182855BF}"/>
              </a:ext>
            </a:extLst>
          </p:cNvPr>
          <p:cNvSpPr txBox="1"/>
          <p:nvPr/>
        </p:nvSpPr>
        <p:spPr>
          <a:xfrm>
            <a:off x="360000" y="905601"/>
            <a:ext cx="6750663" cy="4915326"/>
          </a:xfrm>
          <a:prstGeom prst="rect">
            <a:avLst/>
          </a:prstGeom>
          <a:noFill/>
        </p:spPr>
        <p:txBody>
          <a:bodyPr wrap="square" lIns="0" tIns="0" rIns="0" bIns="0" rtlCol="0">
            <a:noAutofit/>
          </a:bodyPr>
          <a:lstStyle/>
          <a:p>
            <a:pPr algn="l">
              <a:lnSpc>
                <a:spcPct val="150000"/>
              </a:lnSpc>
              <a:spcAft>
                <a:spcPts val="1200"/>
              </a:spcAft>
            </a:pPr>
            <a:r>
              <a:rPr lang="en-AU" sz="3200" dirty="0"/>
              <a:t>Use the </a:t>
            </a:r>
            <a:r>
              <a:rPr lang="en-AU" sz="3200" b="1" dirty="0"/>
              <a:t>tally table </a:t>
            </a:r>
            <a:r>
              <a:rPr lang="en-AU" sz="3200" dirty="0"/>
              <a:t>to answer:</a:t>
            </a:r>
          </a:p>
          <a:p>
            <a:pPr marL="285750" indent="-285750" algn="l">
              <a:lnSpc>
                <a:spcPct val="150000"/>
              </a:lnSpc>
              <a:spcAft>
                <a:spcPts val="1800"/>
              </a:spcAft>
              <a:buFont typeface="Arial" panose="020B0604020202020204" pitchFamily="34" charset="0"/>
              <a:buChar char="•"/>
            </a:pPr>
            <a:r>
              <a:rPr lang="en-AU" sz="3200" dirty="0"/>
              <a:t>Which eye colour was </a:t>
            </a:r>
            <a:r>
              <a:rPr lang="en-AU" sz="3200" b="1" dirty="0"/>
              <a:t>least frequent</a:t>
            </a:r>
            <a:r>
              <a:rPr lang="en-AU" sz="3200" dirty="0"/>
              <a:t>?</a:t>
            </a:r>
          </a:p>
          <a:p>
            <a:pPr marL="285750" indent="-285750" algn="l">
              <a:lnSpc>
                <a:spcPct val="150000"/>
              </a:lnSpc>
              <a:spcAft>
                <a:spcPts val="1800"/>
              </a:spcAft>
              <a:buFont typeface="Arial" panose="020B0604020202020204" pitchFamily="34" charset="0"/>
              <a:buChar char="•"/>
            </a:pPr>
            <a:r>
              <a:rPr lang="en-AU" sz="3200" dirty="0"/>
              <a:t>Which eye colour has a frequency of</a:t>
            </a:r>
            <a:r>
              <a:rPr lang="en-AU" sz="3200" b="1" dirty="0"/>
              <a:t> less than 10 but more than 5</a:t>
            </a:r>
            <a:r>
              <a:rPr lang="en-AU" sz="3200" dirty="0"/>
              <a:t>?</a:t>
            </a:r>
          </a:p>
          <a:p>
            <a:pPr marL="285750" indent="-285750">
              <a:lnSpc>
                <a:spcPct val="150000"/>
              </a:lnSpc>
              <a:spcAft>
                <a:spcPts val="1800"/>
              </a:spcAft>
              <a:buFont typeface="Arial" panose="020B0604020202020204" pitchFamily="34" charset="0"/>
              <a:buChar char="•"/>
            </a:pPr>
            <a:r>
              <a:rPr lang="en-AU" sz="3200" b="1" dirty="0"/>
              <a:t>How many more </a:t>
            </a:r>
            <a:r>
              <a:rPr lang="en-AU" sz="3200" dirty="0"/>
              <a:t>students in 3W have brown eyes than green eyes?</a:t>
            </a:r>
          </a:p>
          <a:p>
            <a:pPr marL="285750" indent="-285750" algn="l">
              <a:buFont typeface="Arial" panose="020B0604020202020204" pitchFamily="34" charset="0"/>
              <a:buChar char="•"/>
            </a:pPr>
            <a:endParaRPr lang="en-AU" sz="3200" dirty="0"/>
          </a:p>
          <a:p>
            <a:pPr marL="285750" indent="-285750" algn="l">
              <a:buFont typeface="Arial" panose="020B0604020202020204" pitchFamily="34" charset="0"/>
              <a:buChar char="•"/>
            </a:pPr>
            <a:endParaRPr lang="en-AU" sz="3200" dirty="0"/>
          </a:p>
          <a:p>
            <a:pPr algn="l"/>
            <a:endParaRPr lang="en-AU" sz="1200" dirty="0"/>
          </a:p>
        </p:txBody>
      </p:sp>
      <p:pic>
        <p:nvPicPr>
          <p:cNvPr id="4" name="Picture 3" descr="Tally marks for eye colour in the class showing 7 for blue eyes, 2 for green eyes, 10 for brown eyes and 5 for hazel eyes. Then transferred into a table with columns for eye colour, tally and frequency of each eye colour.">
            <a:extLst>
              <a:ext uri="{FF2B5EF4-FFF2-40B4-BE49-F238E27FC236}">
                <a16:creationId xmlns:a16="http://schemas.microsoft.com/office/drawing/2014/main" id="{F74F26A5-6FAB-39DF-6CA6-EBC1E666703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0663" y="1992089"/>
            <a:ext cx="4835313" cy="34184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1B860D1-0040-E10D-DA8F-A57415071408}"/>
              </a:ext>
            </a:extLst>
          </p:cNvPr>
          <p:cNvSpPr txBox="1"/>
          <p:nvPr/>
        </p:nvSpPr>
        <p:spPr>
          <a:xfrm>
            <a:off x="1101969" y="1488830"/>
            <a:ext cx="9988062" cy="1019908"/>
          </a:xfrm>
          <a:prstGeom prst="rect">
            <a:avLst/>
          </a:prstGeom>
          <a:noFill/>
        </p:spPr>
        <p:txBody>
          <a:bodyPr wrap="square" lIns="0" tIns="0" rIns="0" bIns="0" rtlCol="0">
            <a:noAutofit/>
          </a:bodyPr>
          <a:lstStyle/>
          <a:p>
            <a:pPr algn="ctr">
              <a:lnSpc>
                <a:spcPct val="150000"/>
              </a:lnSpc>
            </a:pPr>
            <a:r>
              <a:rPr lang="en-AU" sz="4000" b="1" dirty="0"/>
              <a:t>Record</a:t>
            </a:r>
            <a:r>
              <a:rPr lang="en-AU" sz="4000" dirty="0"/>
              <a:t> the </a:t>
            </a:r>
            <a:r>
              <a:rPr lang="en-AU" sz="4000" b="1" dirty="0"/>
              <a:t>fractions</a:t>
            </a:r>
            <a:r>
              <a:rPr lang="en-AU" sz="4000" dirty="0"/>
              <a:t> missing from the number line</a:t>
            </a:r>
            <a:r>
              <a:rPr lang="en-AU" sz="1800" dirty="0"/>
              <a:t>. </a:t>
            </a:r>
          </a:p>
        </p:txBody>
      </p:sp>
      <p:pic>
        <p:nvPicPr>
          <p:cNvPr id="12" name="Picture 11" descr="A number line starting at 0 on the left and has an arrow on the right. Three evenly spaced tick marks divide the line into three equal parts. A blue bar sits above the entire length from 0 to the final tick mark, which is labelled 3/3.">
            <a:extLst>
              <a:ext uri="{FF2B5EF4-FFF2-40B4-BE49-F238E27FC236}">
                <a16:creationId xmlns:a16="http://schemas.microsoft.com/office/drawing/2014/main" id="{97EAE434-B6B4-E9BA-5B7D-4D8AC1DAE262}"/>
              </a:ext>
            </a:extLst>
          </p:cNvPr>
          <p:cNvPicPr>
            <a:picLocks noChangeAspect="1"/>
          </p:cNvPicPr>
          <p:nvPr/>
        </p:nvPicPr>
        <p:blipFill>
          <a:blip r:embed="rId4"/>
          <a:stretch>
            <a:fillRect/>
          </a:stretch>
        </p:blipFill>
        <p:spPr>
          <a:xfrm>
            <a:off x="1535051" y="3476006"/>
            <a:ext cx="9192217" cy="3158311"/>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53AC0FB-F90B-30D1-2CDD-D4C147C85CC4}"/>
              </a:ext>
            </a:extLst>
          </p:cNvPr>
          <p:cNvSpPr txBox="1"/>
          <p:nvPr/>
        </p:nvSpPr>
        <p:spPr>
          <a:xfrm>
            <a:off x="360000" y="1001808"/>
            <a:ext cx="11585976" cy="2848303"/>
          </a:xfrm>
          <a:prstGeom prst="rect">
            <a:avLst/>
          </a:prstGeom>
          <a:noFill/>
        </p:spPr>
        <p:txBody>
          <a:bodyPr wrap="square" lIns="0" tIns="0" rIns="0" bIns="0" rtlCol="0">
            <a:noAutofit/>
          </a:bodyPr>
          <a:lstStyle/>
          <a:p>
            <a:pPr algn="ctr">
              <a:lnSpc>
                <a:spcPct val="150000"/>
              </a:lnSpc>
            </a:pPr>
            <a:r>
              <a:rPr lang="en-AU" sz="4200" b="1" dirty="0"/>
              <a:t>Record</a:t>
            </a:r>
            <a:r>
              <a:rPr lang="en-AU" sz="4200" dirty="0"/>
              <a:t> the following </a:t>
            </a:r>
            <a:r>
              <a:rPr lang="en-AU" sz="4200" b="1" dirty="0"/>
              <a:t>lengths</a:t>
            </a:r>
            <a:r>
              <a:rPr lang="en-AU" sz="4200" dirty="0"/>
              <a:t> using the </a:t>
            </a:r>
            <a:r>
              <a:rPr lang="en-AU" sz="4200" b="1" dirty="0"/>
              <a:t>abbreviations</a:t>
            </a:r>
            <a:r>
              <a:rPr lang="en-AU" sz="4200" dirty="0"/>
              <a:t> for </a:t>
            </a:r>
            <a:r>
              <a:rPr lang="en-AU" sz="4200" b="1" dirty="0"/>
              <a:t>millimetres</a:t>
            </a:r>
            <a:r>
              <a:rPr lang="en-AU" sz="4200" dirty="0"/>
              <a:t> and </a:t>
            </a:r>
            <a:r>
              <a:rPr lang="en-AU" sz="4200" b="1" dirty="0"/>
              <a:t>centimetres</a:t>
            </a:r>
            <a:r>
              <a:rPr lang="en-AU" sz="4200" dirty="0"/>
              <a:t>.</a:t>
            </a:r>
          </a:p>
          <a:p>
            <a:pPr marL="571500" indent="-571500">
              <a:lnSpc>
                <a:spcPct val="150000"/>
              </a:lnSpc>
              <a:spcBef>
                <a:spcPts val="1200"/>
              </a:spcBef>
              <a:buFont typeface="Arial" panose="020B0604020202020204" pitchFamily="34" charset="0"/>
              <a:buChar char="•"/>
            </a:pPr>
            <a:r>
              <a:rPr lang="en-AU" sz="4400" dirty="0"/>
              <a:t>35 centimetres</a:t>
            </a:r>
          </a:p>
          <a:p>
            <a:pPr marL="571500" indent="-571500">
              <a:lnSpc>
                <a:spcPct val="150000"/>
              </a:lnSpc>
              <a:spcBef>
                <a:spcPts val="1200"/>
              </a:spcBef>
              <a:buFont typeface="Arial" panose="020B0604020202020204" pitchFamily="34" charset="0"/>
              <a:buChar char="•"/>
            </a:pPr>
            <a:r>
              <a:rPr lang="en-AU" sz="4400" dirty="0"/>
              <a:t>78 millimetres</a:t>
            </a:r>
          </a:p>
          <a:p>
            <a:pPr marL="571500" indent="-571500">
              <a:lnSpc>
                <a:spcPct val="150000"/>
              </a:lnSpc>
              <a:spcBef>
                <a:spcPts val="1200"/>
              </a:spcBef>
              <a:buFont typeface="Arial" panose="020B0604020202020204" pitchFamily="34" charset="0"/>
              <a:buChar char="•"/>
            </a:pPr>
            <a:r>
              <a:rPr lang="en-AU" sz="4400" dirty="0"/>
              <a:t>3 centimetres and 46 millimetres</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9A7A1E99-6045-2726-7E3F-D90595B9AA5F}"/>
              </a:ext>
            </a:extLst>
          </p:cNvPr>
          <p:cNvSpPr txBox="1"/>
          <p:nvPr/>
        </p:nvSpPr>
        <p:spPr>
          <a:xfrm>
            <a:off x="75780" y="908174"/>
            <a:ext cx="12040440" cy="1267968"/>
          </a:xfrm>
          <a:prstGeom prst="rect">
            <a:avLst/>
          </a:prstGeom>
          <a:noFill/>
        </p:spPr>
        <p:txBody>
          <a:bodyPr wrap="square" lIns="0" tIns="0" rIns="0" bIns="0" rtlCol="0">
            <a:noAutofit/>
          </a:bodyPr>
          <a:lstStyle/>
          <a:p>
            <a:pPr algn="ctr">
              <a:lnSpc>
                <a:spcPct val="150000"/>
              </a:lnSpc>
            </a:pPr>
            <a:r>
              <a:rPr lang="en-AU" sz="3600" dirty="0"/>
              <a:t>These rectangles are made using the </a:t>
            </a:r>
            <a:r>
              <a:rPr lang="en-AU" sz="3600" b="1" dirty="0"/>
              <a:t>same unit. </a:t>
            </a:r>
          </a:p>
          <a:p>
            <a:pPr algn="ctr">
              <a:lnSpc>
                <a:spcPct val="150000"/>
              </a:lnSpc>
            </a:pPr>
            <a:r>
              <a:rPr lang="en-AU" sz="3600" b="1" dirty="0"/>
              <a:t>What is the area</a:t>
            </a:r>
            <a:r>
              <a:rPr lang="en-AU" sz="3600" dirty="0"/>
              <a:t> of each rectangle?</a:t>
            </a:r>
          </a:p>
          <a:p>
            <a:pPr algn="ctr">
              <a:lnSpc>
                <a:spcPct val="150000"/>
              </a:lnSpc>
            </a:pPr>
            <a:r>
              <a:rPr lang="en-AU" sz="3600" dirty="0"/>
              <a:t>Which one has the </a:t>
            </a:r>
            <a:r>
              <a:rPr lang="en-AU" sz="3600" b="1" dirty="0"/>
              <a:t>largest area</a:t>
            </a:r>
            <a:r>
              <a:rPr lang="en-AU" sz="3600" dirty="0"/>
              <a:t>.</a:t>
            </a:r>
          </a:p>
        </p:txBody>
      </p:sp>
      <p:pic>
        <p:nvPicPr>
          <p:cNvPr id="11" name="Picture 10" descr="A blue rectangle made from 3 rows of 3 smaller rectangles placed side by side. ">
            <a:extLst>
              <a:ext uri="{FF2B5EF4-FFF2-40B4-BE49-F238E27FC236}">
                <a16:creationId xmlns:a16="http://schemas.microsoft.com/office/drawing/2014/main" id="{09197582-5BD2-A486-BCEF-04279724B1EA}"/>
              </a:ext>
            </a:extLst>
          </p:cNvPr>
          <p:cNvPicPr>
            <a:picLocks noChangeAspect="1"/>
          </p:cNvPicPr>
          <p:nvPr/>
        </p:nvPicPr>
        <p:blipFill>
          <a:blip r:embed="rId4"/>
          <a:stretch>
            <a:fillRect/>
          </a:stretch>
        </p:blipFill>
        <p:spPr>
          <a:xfrm>
            <a:off x="1343025" y="3673116"/>
            <a:ext cx="3850710" cy="2628000"/>
          </a:xfrm>
          <a:prstGeom prst="rect">
            <a:avLst/>
          </a:prstGeom>
        </p:spPr>
      </p:pic>
      <p:pic>
        <p:nvPicPr>
          <p:cNvPr id="9" name="Picture 8" descr="A pink rectangle made from 3 rows of 4 smaller rectangles placed side by side.">
            <a:extLst>
              <a:ext uri="{FF2B5EF4-FFF2-40B4-BE49-F238E27FC236}">
                <a16:creationId xmlns:a16="http://schemas.microsoft.com/office/drawing/2014/main" id="{806DF542-3ED0-06AA-B4A0-8EF36896CBC4}"/>
              </a:ext>
            </a:extLst>
          </p:cNvPr>
          <p:cNvPicPr>
            <a:picLocks noChangeAspect="1"/>
          </p:cNvPicPr>
          <p:nvPr/>
        </p:nvPicPr>
        <p:blipFill>
          <a:blip r:embed="rId5"/>
          <a:stretch>
            <a:fillRect/>
          </a:stretch>
        </p:blipFill>
        <p:spPr>
          <a:xfrm>
            <a:off x="6096000" y="3673116"/>
            <a:ext cx="5180593" cy="2628000"/>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dirty="0"/>
              <a:t>Activity 4 </a:t>
            </a:r>
            <a:r>
              <a:rPr lang="en-AU" dirty="0">
                <a:latin typeface="Arial"/>
                <a:cs typeface="Arial"/>
              </a:rPr>
              <a:t>– ordering 4-digit numbers</a:t>
            </a:r>
            <a:endParaRPr lang="en-AU" dirty="0"/>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n image of a blank strip of paper">
            <a:extLst>
              <a:ext uri="{FF2B5EF4-FFF2-40B4-BE49-F238E27FC236}">
                <a16:creationId xmlns:a16="http://schemas.microsoft.com/office/drawing/2014/main" id="{44BA0E71-C14E-3A75-E5BD-6F8484CB6A21}"/>
              </a:ext>
            </a:extLst>
          </p:cNvPr>
          <p:cNvPicPr>
            <a:picLocks noChangeAspect="1"/>
          </p:cNvPicPr>
          <p:nvPr/>
        </p:nvPicPr>
        <p:blipFill>
          <a:blip r:embed="rId4">
            <a:extLst>
              <a:ext uri="{28A0092B-C50C-407E-A947-70E740481C1C}">
                <a14:useLocalDpi xmlns:a14="http://schemas.microsoft.com/office/drawing/2010/main" val="0"/>
              </a:ext>
            </a:extLst>
          </a:blip>
          <a:srcRect l="9679" t="26062" r="5160" b="41363"/>
          <a:stretch>
            <a:fillRect/>
          </a:stretch>
        </p:blipFill>
        <p:spPr>
          <a:xfrm>
            <a:off x="208532" y="1845692"/>
            <a:ext cx="5476008" cy="1480933"/>
          </a:xfrm>
          <a:prstGeom prst="rect">
            <a:avLst/>
          </a:prstGeom>
        </p:spPr>
      </p:pic>
      <p:pic>
        <p:nvPicPr>
          <p:cNvPr id="5" name="Picture 4" descr="An image of a blank strip of paper">
            <a:extLst>
              <a:ext uri="{FF2B5EF4-FFF2-40B4-BE49-F238E27FC236}">
                <a16:creationId xmlns:a16="http://schemas.microsoft.com/office/drawing/2014/main" id="{931C35BC-599B-E1A9-4410-6B2AE6329760}"/>
              </a:ext>
            </a:extLst>
          </p:cNvPr>
          <p:cNvPicPr>
            <a:picLocks noChangeAspect="1"/>
          </p:cNvPicPr>
          <p:nvPr/>
        </p:nvPicPr>
        <p:blipFill>
          <a:blip r:embed="rId4">
            <a:extLst>
              <a:ext uri="{28A0092B-C50C-407E-A947-70E740481C1C}">
                <a14:useLocalDpi xmlns:a14="http://schemas.microsoft.com/office/drawing/2010/main" val="0"/>
              </a:ext>
            </a:extLst>
          </a:blip>
          <a:srcRect l="9679" t="26062" r="5160" b="41363"/>
          <a:stretch>
            <a:fillRect/>
          </a:stretch>
        </p:blipFill>
        <p:spPr>
          <a:xfrm>
            <a:off x="227392" y="4356675"/>
            <a:ext cx="5476008" cy="1480933"/>
          </a:xfrm>
          <a:prstGeom prst="rect">
            <a:avLst/>
          </a:prstGeom>
        </p:spPr>
      </p:pic>
      <p:pic>
        <p:nvPicPr>
          <p:cNvPr id="7" name="Picture 6" descr="An image of a blank strip of paper">
            <a:extLst>
              <a:ext uri="{FF2B5EF4-FFF2-40B4-BE49-F238E27FC236}">
                <a16:creationId xmlns:a16="http://schemas.microsoft.com/office/drawing/2014/main" id="{02F2A38F-496A-8D02-F93D-FA92E31C612F}"/>
              </a:ext>
            </a:extLst>
          </p:cNvPr>
          <p:cNvPicPr>
            <a:picLocks noChangeAspect="1"/>
          </p:cNvPicPr>
          <p:nvPr/>
        </p:nvPicPr>
        <p:blipFill>
          <a:blip r:embed="rId4">
            <a:extLst>
              <a:ext uri="{28A0092B-C50C-407E-A947-70E740481C1C}">
                <a14:useLocalDpi xmlns:a14="http://schemas.microsoft.com/office/drawing/2010/main" val="0"/>
              </a:ext>
            </a:extLst>
          </a:blip>
          <a:srcRect l="9679" t="26062" r="5160" b="41363"/>
          <a:stretch>
            <a:fillRect/>
          </a:stretch>
        </p:blipFill>
        <p:spPr>
          <a:xfrm>
            <a:off x="6096000" y="1845692"/>
            <a:ext cx="5476008" cy="1480933"/>
          </a:xfrm>
          <a:prstGeom prst="rect">
            <a:avLst/>
          </a:prstGeom>
        </p:spPr>
      </p:pic>
      <p:pic>
        <p:nvPicPr>
          <p:cNvPr id="8" name="Picture 7" descr="An image of a blank strip of paper">
            <a:extLst>
              <a:ext uri="{FF2B5EF4-FFF2-40B4-BE49-F238E27FC236}">
                <a16:creationId xmlns:a16="http://schemas.microsoft.com/office/drawing/2014/main" id="{D9228B4D-6C82-C5A9-2367-4F3E4484840C}"/>
              </a:ext>
            </a:extLst>
          </p:cNvPr>
          <p:cNvPicPr>
            <a:picLocks noChangeAspect="1"/>
          </p:cNvPicPr>
          <p:nvPr/>
        </p:nvPicPr>
        <p:blipFill>
          <a:blip r:embed="rId4">
            <a:extLst>
              <a:ext uri="{28A0092B-C50C-407E-A947-70E740481C1C}">
                <a14:useLocalDpi xmlns:a14="http://schemas.microsoft.com/office/drawing/2010/main" val="0"/>
              </a:ext>
            </a:extLst>
          </a:blip>
          <a:srcRect l="9679" t="26062" r="5160" b="41363"/>
          <a:stretch>
            <a:fillRect/>
          </a:stretch>
        </p:blipFill>
        <p:spPr>
          <a:xfrm>
            <a:off x="6096000" y="4356675"/>
            <a:ext cx="5476008" cy="1480933"/>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dirty="0">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658971" y="1029457"/>
            <a:ext cx="10874057" cy="893226"/>
          </a:xfrm>
        </p:spPr>
        <p:txBody>
          <a:bodyPr/>
          <a:lstStyle/>
          <a:p>
            <a:pPr algn="ctr"/>
            <a:r>
              <a:rPr lang="en-US" sz="4400" dirty="0"/>
              <a:t>What would the </a:t>
            </a:r>
            <a:r>
              <a:rPr lang="en-US" sz="4400" b="1" dirty="0"/>
              <a:t>next two numbers </a:t>
            </a:r>
            <a:r>
              <a:rPr lang="en-US" sz="4400" dirty="0"/>
              <a:t>be in this </a:t>
            </a:r>
            <a:r>
              <a:rPr lang="en-US" sz="4400" b="1" dirty="0"/>
              <a:t>number sequence</a:t>
            </a:r>
            <a:r>
              <a:rPr lang="en-US" sz="4400" dirty="0"/>
              <a:t>?</a:t>
            </a:r>
          </a:p>
          <a:p>
            <a:pPr algn="ctr"/>
            <a:r>
              <a:rPr lang="en-US" sz="4400" dirty="0"/>
              <a:t>35, 40, 45, ___, ___</a:t>
            </a:r>
          </a:p>
        </p:txBody>
      </p:sp>
      <p:sp>
        <p:nvSpPr>
          <p:cNvPr id="9" name="TextBox 8">
            <a:extLst>
              <a:ext uri="{FF2B5EF4-FFF2-40B4-BE49-F238E27FC236}">
                <a16:creationId xmlns:a16="http://schemas.microsoft.com/office/drawing/2014/main" id="{4E6EA9CC-6235-8807-420B-A4371AC418C0}"/>
              </a:ext>
            </a:extLst>
          </p:cNvPr>
          <p:cNvSpPr txBox="1"/>
          <p:nvPr/>
        </p:nvSpPr>
        <p:spPr>
          <a:xfrm>
            <a:off x="1281432" y="4857192"/>
            <a:ext cx="64611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6" name="TextBox 5">
            <a:extLst>
              <a:ext uri="{FF2B5EF4-FFF2-40B4-BE49-F238E27FC236}">
                <a16:creationId xmlns:a16="http://schemas.microsoft.com/office/drawing/2014/main" id="{886D5476-4326-825A-3CA8-FA40B126F6EE}"/>
              </a:ext>
            </a:extLst>
          </p:cNvPr>
          <p:cNvSpPr txBox="1"/>
          <p:nvPr/>
        </p:nvSpPr>
        <p:spPr>
          <a:xfrm>
            <a:off x="802395" y="5626323"/>
            <a:ext cx="2161669" cy="738664"/>
          </a:xfrm>
          <a:prstGeom prst="rect">
            <a:avLst/>
          </a:prstGeom>
          <a:noFill/>
        </p:spPr>
        <p:txBody>
          <a:bodyPr wrap="square" lIns="0" tIns="0" rIns="0" bIns="0" rtlCol="0">
            <a:noAutofit/>
          </a:bodyPr>
          <a:lstStyle/>
          <a:p>
            <a:r>
              <a:rPr lang="en-US" sz="4400" dirty="0"/>
              <a:t>55, 65</a:t>
            </a:r>
            <a:endParaRPr lang="en-AU" sz="4400" dirty="0"/>
          </a:p>
        </p:txBody>
      </p:sp>
      <p:sp>
        <p:nvSpPr>
          <p:cNvPr id="10" name="TextBox 9">
            <a:extLst>
              <a:ext uri="{FF2B5EF4-FFF2-40B4-BE49-F238E27FC236}">
                <a16:creationId xmlns:a16="http://schemas.microsoft.com/office/drawing/2014/main" id="{4AB24A3E-5574-D79C-6A0F-06D3F8A29BB1}"/>
              </a:ext>
            </a:extLst>
          </p:cNvPr>
          <p:cNvSpPr txBox="1"/>
          <p:nvPr/>
        </p:nvSpPr>
        <p:spPr>
          <a:xfrm>
            <a:off x="4285405" y="4857192"/>
            <a:ext cx="64611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5" name="TextBox 4">
            <a:extLst>
              <a:ext uri="{FF2B5EF4-FFF2-40B4-BE49-F238E27FC236}">
                <a16:creationId xmlns:a16="http://schemas.microsoft.com/office/drawing/2014/main" id="{2460AE0E-DAB7-3655-310C-2FE5B1C8D587}"/>
              </a:ext>
            </a:extLst>
          </p:cNvPr>
          <p:cNvSpPr txBox="1"/>
          <p:nvPr/>
        </p:nvSpPr>
        <p:spPr>
          <a:xfrm>
            <a:off x="3821924" y="5595856"/>
            <a:ext cx="1951901" cy="738664"/>
          </a:xfrm>
          <a:prstGeom prst="rect">
            <a:avLst/>
          </a:prstGeom>
          <a:noFill/>
        </p:spPr>
        <p:txBody>
          <a:bodyPr wrap="square" lIns="0" tIns="0" rIns="0" bIns="0" rtlCol="0">
            <a:noAutofit/>
          </a:bodyPr>
          <a:lstStyle/>
          <a:p>
            <a:r>
              <a:rPr lang="en-AU" sz="4400" dirty="0"/>
              <a:t>46, 47</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89378" y="4857192"/>
            <a:ext cx="64611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8" name="TextBox 7">
            <a:extLst>
              <a:ext uri="{FF2B5EF4-FFF2-40B4-BE49-F238E27FC236}">
                <a16:creationId xmlns:a16="http://schemas.microsoft.com/office/drawing/2014/main" id="{8A8CCDB2-7ECB-FCDC-E8F2-963072F4E5ED}"/>
              </a:ext>
            </a:extLst>
          </p:cNvPr>
          <p:cNvSpPr txBox="1"/>
          <p:nvPr/>
        </p:nvSpPr>
        <p:spPr>
          <a:xfrm>
            <a:off x="6750928" y="5597028"/>
            <a:ext cx="2161669" cy="738664"/>
          </a:xfrm>
          <a:prstGeom prst="rect">
            <a:avLst/>
          </a:prstGeom>
          <a:noFill/>
        </p:spPr>
        <p:txBody>
          <a:bodyPr wrap="square" lIns="0" tIns="0" rIns="0" bIns="0" rtlCol="0">
            <a:noAutofit/>
          </a:bodyPr>
          <a:lstStyle/>
          <a:p>
            <a:r>
              <a:rPr lang="en-US" sz="4400" dirty="0"/>
              <a:t>47, 49</a:t>
            </a:r>
            <a:endParaRPr lang="en-AU" sz="4400" dirty="0"/>
          </a:p>
        </p:txBody>
      </p:sp>
      <p:sp>
        <p:nvSpPr>
          <p:cNvPr id="11" name="TextBox 10">
            <a:extLst>
              <a:ext uri="{FF2B5EF4-FFF2-40B4-BE49-F238E27FC236}">
                <a16:creationId xmlns:a16="http://schemas.microsoft.com/office/drawing/2014/main" id="{C22AC239-77AC-A298-F7CD-0F89091EC017}"/>
              </a:ext>
            </a:extLst>
          </p:cNvPr>
          <p:cNvSpPr txBox="1"/>
          <p:nvPr/>
        </p:nvSpPr>
        <p:spPr>
          <a:xfrm>
            <a:off x="10043861" y="4857192"/>
            <a:ext cx="64611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7" name="TextBox 6">
            <a:extLst>
              <a:ext uri="{FF2B5EF4-FFF2-40B4-BE49-F238E27FC236}">
                <a16:creationId xmlns:a16="http://schemas.microsoft.com/office/drawing/2014/main" id="{E87AAF6D-B524-F0D9-4617-F5320A0AFDF8}"/>
              </a:ext>
            </a:extLst>
          </p:cNvPr>
          <p:cNvSpPr txBox="1"/>
          <p:nvPr/>
        </p:nvSpPr>
        <p:spPr>
          <a:xfrm>
            <a:off x="9479463" y="5595856"/>
            <a:ext cx="1644537" cy="738664"/>
          </a:xfrm>
          <a:prstGeom prst="rect">
            <a:avLst/>
          </a:prstGeom>
          <a:noFill/>
        </p:spPr>
        <p:txBody>
          <a:bodyPr wrap="square" lIns="0" tIns="0" rIns="0" bIns="0" rtlCol="0">
            <a:noAutofit/>
          </a:bodyPr>
          <a:lstStyle/>
          <a:p>
            <a:r>
              <a:rPr lang="en-US" sz="4400" dirty="0"/>
              <a:t>50, 55</a:t>
            </a:r>
            <a:endParaRPr lang="en-AU" sz="4400" dirty="0"/>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24D4114-8DBA-1176-60A8-DD9B89CE5F3E}"/>
              </a:ext>
            </a:extLst>
          </p:cNvPr>
          <p:cNvSpPr txBox="1"/>
          <p:nvPr/>
        </p:nvSpPr>
        <p:spPr>
          <a:xfrm>
            <a:off x="1116235" y="1937084"/>
            <a:ext cx="10169834" cy="2983831"/>
          </a:xfrm>
          <a:prstGeom prst="rect">
            <a:avLst/>
          </a:prstGeom>
          <a:noFill/>
        </p:spPr>
        <p:txBody>
          <a:bodyPr wrap="square" lIns="0" tIns="0" rIns="0" bIns="0" rtlCol="0">
            <a:noAutofit/>
          </a:bodyPr>
          <a:lstStyle/>
          <a:p>
            <a:pPr algn="ctr">
              <a:lnSpc>
                <a:spcPct val="150000"/>
              </a:lnSpc>
            </a:pPr>
            <a:r>
              <a:rPr lang="en-AU" sz="4400" dirty="0"/>
              <a:t>What is one way to </a:t>
            </a:r>
            <a:r>
              <a:rPr lang="en-AU" sz="4400" b="1" dirty="0"/>
              <a:t>organise data collected </a:t>
            </a:r>
            <a:r>
              <a:rPr lang="en-AU" sz="4400" dirty="0"/>
              <a:t>about students’ favourite ice cream flavours?</a:t>
            </a:r>
            <a:endParaRPr lang="en-AU" sz="1800" dirty="0"/>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DB0662D-2349-0D31-94FB-0628E4599E1A}"/>
              </a:ext>
            </a:extLst>
          </p:cNvPr>
          <p:cNvSpPr txBox="1"/>
          <p:nvPr/>
        </p:nvSpPr>
        <p:spPr>
          <a:xfrm>
            <a:off x="869690" y="1320149"/>
            <a:ext cx="10839710" cy="1309817"/>
          </a:xfrm>
          <a:prstGeom prst="rect">
            <a:avLst/>
          </a:prstGeom>
          <a:noFill/>
        </p:spPr>
        <p:txBody>
          <a:bodyPr wrap="square" lIns="0" tIns="0" rIns="0" bIns="0" rtlCol="0">
            <a:noAutofit/>
          </a:bodyPr>
          <a:lstStyle/>
          <a:p>
            <a:pPr algn="ctr">
              <a:lnSpc>
                <a:spcPct val="150000"/>
              </a:lnSpc>
            </a:pPr>
            <a:r>
              <a:rPr lang="en-AU" sz="4400" dirty="0"/>
              <a:t>Sienna has </a:t>
            </a:r>
            <a:r>
              <a:rPr lang="en-AU" sz="4400" b="1" dirty="0"/>
              <a:t>one-quarter </a:t>
            </a:r>
            <a:r>
              <a:rPr lang="en-AU" sz="4400" dirty="0"/>
              <a:t>of a fraction strip. </a:t>
            </a:r>
          </a:p>
          <a:p>
            <a:pPr algn="ctr">
              <a:lnSpc>
                <a:spcPct val="150000"/>
              </a:lnSpc>
            </a:pPr>
            <a:r>
              <a:rPr lang="en-AU" sz="4400" b="1" dirty="0"/>
              <a:t>How many more </a:t>
            </a:r>
            <a:r>
              <a:rPr lang="en-AU" sz="4400" dirty="0"/>
              <a:t>quarters does she need to create the </a:t>
            </a:r>
            <a:r>
              <a:rPr lang="en-AU" sz="4400" b="1" dirty="0"/>
              <a:t>whole</a:t>
            </a:r>
            <a:r>
              <a:rPr lang="en-AU" sz="4400" dirty="0"/>
              <a:t> fraction strip? </a:t>
            </a:r>
          </a:p>
        </p:txBody>
      </p:sp>
      <p:pic>
        <p:nvPicPr>
          <p:cNvPr id="4" name="Picture 3" descr="A number line showing one quarter.">
            <a:extLst>
              <a:ext uri="{FF2B5EF4-FFF2-40B4-BE49-F238E27FC236}">
                <a16:creationId xmlns:a16="http://schemas.microsoft.com/office/drawing/2014/main" id="{E2DF0A70-6BAE-1038-8E35-42CA0DA344AA}"/>
              </a:ext>
            </a:extLst>
          </p:cNvPr>
          <p:cNvPicPr>
            <a:picLocks noChangeAspect="1"/>
          </p:cNvPicPr>
          <p:nvPr/>
        </p:nvPicPr>
        <p:blipFill>
          <a:blip r:embed="rId4"/>
          <a:stretch>
            <a:fillRect/>
          </a:stretch>
        </p:blipFill>
        <p:spPr>
          <a:xfrm>
            <a:off x="3385099" y="4776589"/>
            <a:ext cx="5268052" cy="1309816"/>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3FBE585-C0FA-ED3F-0F0A-B037232BAF15}"/>
              </a:ext>
            </a:extLst>
          </p:cNvPr>
          <p:cNvSpPr txBox="1"/>
          <p:nvPr/>
        </p:nvSpPr>
        <p:spPr>
          <a:xfrm>
            <a:off x="1747216" y="2090008"/>
            <a:ext cx="8397765" cy="3773213"/>
          </a:xfrm>
          <a:prstGeom prst="rect">
            <a:avLst/>
          </a:prstGeom>
          <a:noFill/>
        </p:spPr>
        <p:txBody>
          <a:bodyPr wrap="square" lIns="0" tIns="0" rIns="0" bIns="0" rtlCol="0">
            <a:noAutofit/>
          </a:bodyPr>
          <a:lstStyle/>
          <a:p>
            <a:pPr algn="ctr">
              <a:lnSpc>
                <a:spcPct val="150000"/>
              </a:lnSpc>
            </a:pPr>
            <a:r>
              <a:rPr lang="en-AU" sz="4400" dirty="0"/>
              <a:t>The term ‘</a:t>
            </a:r>
            <a:r>
              <a:rPr lang="en-AU" sz="4400" b="1" dirty="0"/>
              <a:t>perimeter’</a:t>
            </a:r>
            <a:r>
              <a:rPr lang="en-AU" sz="4400" dirty="0"/>
              <a:t> is used to describe…</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5C27282-3043-8E6F-D6AC-6FCB45F20BFC}"/>
              </a:ext>
            </a:extLst>
          </p:cNvPr>
          <p:cNvSpPr txBox="1"/>
          <p:nvPr/>
        </p:nvSpPr>
        <p:spPr>
          <a:xfrm>
            <a:off x="874540" y="1107637"/>
            <a:ext cx="10155936" cy="1828800"/>
          </a:xfrm>
          <a:prstGeom prst="rect">
            <a:avLst/>
          </a:prstGeom>
          <a:noFill/>
        </p:spPr>
        <p:txBody>
          <a:bodyPr wrap="square" lIns="0" tIns="0" rIns="0" bIns="0" rtlCol="0">
            <a:noAutofit/>
          </a:bodyPr>
          <a:lstStyle/>
          <a:p>
            <a:pPr algn="l">
              <a:lnSpc>
                <a:spcPct val="150000"/>
              </a:lnSpc>
            </a:pPr>
            <a:r>
              <a:rPr lang="en-AU" sz="4400" b="1" dirty="0"/>
              <a:t>Describe</a:t>
            </a:r>
            <a:r>
              <a:rPr lang="en-AU" sz="4400" dirty="0"/>
              <a:t> the </a:t>
            </a:r>
            <a:r>
              <a:rPr lang="en-AU" sz="4400" b="1" dirty="0"/>
              <a:t>cube</a:t>
            </a:r>
            <a:r>
              <a:rPr lang="en-AU" sz="4400" dirty="0"/>
              <a:t> using the terms:</a:t>
            </a:r>
          </a:p>
          <a:p>
            <a:pPr marL="285750" indent="-285750" algn="l">
              <a:lnSpc>
                <a:spcPct val="150000"/>
              </a:lnSpc>
              <a:buFont typeface="Arial" panose="020B0604020202020204" pitchFamily="34" charset="0"/>
              <a:buChar char="•"/>
            </a:pPr>
            <a:r>
              <a:rPr lang="en-AU" sz="4400" dirty="0"/>
              <a:t>face</a:t>
            </a:r>
          </a:p>
          <a:p>
            <a:pPr marL="285750" indent="-285750" algn="l">
              <a:lnSpc>
                <a:spcPct val="150000"/>
              </a:lnSpc>
              <a:buFont typeface="Arial" panose="020B0604020202020204" pitchFamily="34" charset="0"/>
              <a:buChar char="•"/>
            </a:pPr>
            <a:r>
              <a:rPr lang="en-AU" sz="4400" dirty="0"/>
              <a:t>edge</a:t>
            </a:r>
          </a:p>
          <a:p>
            <a:pPr marL="285750" indent="-285750" algn="l">
              <a:lnSpc>
                <a:spcPct val="150000"/>
              </a:lnSpc>
              <a:buFont typeface="Arial" panose="020B0604020202020204" pitchFamily="34" charset="0"/>
              <a:buChar char="•"/>
            </a:pPr>
            <a:r>
              <a:rPr lang="en-AU" sz="4400" dirty="0"/>
              <a:t>vertex</a:t>
            </a:r>
          </a:p>
        </p:txBody>
      </p:sp>
      <p:pic>
        <p:nvPicPr>
          <p:cNvPr id="8" name="Picture 7" descr="a blue cube&#10;">
            <a:extLst>
              <a:ext uri="{FF2B5EF4-FFF2-40B4-BE49-F238E27FC236}">
                <a16:creationId xmlns:a16="http://schemas.microsoft.com/office/drawing/2014/main" id="{6A967439-7577-2A67-089E-D8A6E8222D49}"/>
              </a:ext>
            </a:extLst>
          </p:cNvPr>
          <p:cNvPicPr>
            <a:picLocks noChangeAspect="1"/>
          </p:cNvPicPr>
          <p:nvPr/>
        </p:nvPicPr>
        <p:blipFill>
          <a:blip r:embed="rId4"/>
          <a:stretch>
            <a:fillRect/>
          </a:stretch>
        </p:blipFill>
        <p:spPr>
          <a:xfrm>
            <a:off x="5239618" y="2463193"/>
            <a:ext cx="4165739" cy="3842282"/>
          </a:xfrm>
          <a:prstGeom prst="rect">
            <a:avLst/>
          </a:prstGeom>
        </p:spPr>
      </p:pic>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latin typeface="Arial"/>
                <a:cs typeface="Arial"/>
              </a:rPr>
              <a:t>Activity 5 – number patterns and multiples</a:t>
            </a:r>
            <a:endParaRPr lang="en-AU" dirty="0"/>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A437389D-9230-53D9-C908-04813EBB054A}"/>
              </a:ext>
            </a:extLst>
          </p:cNvPr>
          <p:cNvSpPr txBox="1"/>
          <p:nvPr/>
        </p:nvSpPr>
        <p:spPr>
          <a:xfrm>
            <a:off x="3269657" y="1191212"/>
            <a:ext cx="5366342" cy="419157"/>
          </a:xfrm>
          <a:prstGeom prst="rect">
            <a:avLst/>
          </a:prstGeom>
          <a:noFill/>
        </p:spPr>
        <p:txBody>
          <a:bodyPr wrap="none" lIns="0" tIns="0" rIns="0" bIns="0" rtlCol="0">
            <a:noAutofit/>
          </a:bodyPr>
          <a:lstStyle/>
          <a:p>
            <a:pPr algn="ctr"/>
            <a:r>
              <a:rPr lang="en-AU" sz="4400" dirty="0">
                <a:latin typeface="Arial" panose="020B0604020202020204" pitchFamily="34" charset="0"/>
                <a:cs typeface="Arial" panose="020B0604020202020204" pitchFamily="34" charset="0"/>
              </a:rPr>
              <a:t>Example recording of target number 85</a:t>
            </a:r>
          </a:p>
        </p:txBody>
      </p:sp>
      <p:pic>
        <p:nvPicPr>
          <p:cNvPr id="3" name="Picture 2" descr="Two names are written in different colours.&#10;The name “Ruby” is written in blue and the name “Madi,” is written in orange.">
            <a:extLst>
              <a:ext uri="{FF2B5EF4-FFF2-40B4-BE49-F238E27FC236}">
                <a16:creationId xmlns:a16="http://schemas.microsoft.com/office/drawing/2014/main" id="{9D3669A7-9320-AA67-50A6-EAB375A7D15C}"/>
              </a:ext>
            </a:extLst>
          </p:cNvPr>
          <p:cNvPicPr>
            <a:picLocks noChangeAspect="1"/>
          </p:cNvPicPr>
          <p:nvPr/>
        </p:nvPicPr>
        <p:blipFill>
          <a:blip r:embed="rId4"/>
          <a:srcRect t="15013" r="69320" b="42486"/>
          <a:stretch>
            <a:fillRect/>
          </a:stretch>
        </p:blipFill>
        <p:spPr>
          <a:xfrm>
            <a:off x="427536" y="2765482"/>
            <a:ext cx="1952808" cy="3741795"/>
          </a:xfrm>
          <a:prstGeom prst="rect">
            <a:avLst/>
          </a:prstGeom>
        </p:spPr>
      </p:pic>
      <p:pic>
        <p:nvPicPr>
          <p:cNvPr id="5" name="Picture 4" descr="A list of numbers written in alternating colours.&#10;First line (blue): 5, 10&#10;Second line (orange): 15, 20, 25&#10;Third line (blue): 30, 35, 40&#10;Fourth line (orange): 45.">
            <a:extLst>
              <a:ext uri="{FF2B5EF4-FFF2-40B4-BE49-F238E27FC236}">
                <a16:creationId xmlns:a16="http://schemas.microsoft.com/office/drawing/2014/main" id="{5FCE30F9-EE0D-02AC-B36D-80E4C8049E73}"/>
              </a:ext>
            </a:extLst>
          </p:cNvPr>
          <p:cNvPicPr>
            <a:picLocks noChangeAspect="1"/>
          </p:cNvPicPr>
          <p:nvPr/>
        </p:nvPicPr>
        <p:blipFill>
          <a:blip r:embed="rId4"/>
          <a:srcRect l="27253" t="15013" r="14285" b="42486"/>
          <a:stretch>
            <a:fillRect/>
          </a:stretch>
        </p:blipFill>
        <p:spPr>
          <a:xfrm>
            <a:off x="2604598" y="2355177"/>
            <a:ext cx="3759199" cy="3780000"/>
          </a:xfrm>
          <a:prstGeom prst="rect">
            <a:avLst/>
          </a:prstGeom>
          <a:ln>
            <a:noFill/>
          </a:ln>
          <a:effectLst>
            <a:outerShdw blurRad="292100" dist="139700" dir="2700000" algn="tl" rotWithShape="0">
              <a:srgbClr val="333333">
                <a:alpha val="65000"/>
              </a:srgbClr>
            </a:outerShdw>
          </a:effectLst>
        </p:spPr>
      </p:pic>
      <p:pic>
        <p:nvPicPr>
          <p:cNvPr id="8" name="Picture 7" descr="A list of numbers written in alternating colours.&#10;First line (blue): 50, 55&#10;Second line (orange): 60, 65&#10;Third line (blue): 70&#10;Fourth line (orange): 75, 80, 85.">
            <a:extLst>
              <a:ext uri="{FF2B5EF4-FFF2-40B4-BE49-F238E27FC236}">
                <a16:creationId xmlns:a16="http://schemas.microsoft.com/office/drawing/2014/main" id="{D1ADF872-D984-9D14-09BD-FEE2B29B825A}"/>
              </a:ext>
            </a:extLst>
          </p:cNvPr>
          <p:cNvPicPr>
            <a:picLocks noChangeAspect="1"/>
          </p:cNvPicPr>
          <p:nvPr/>
        </p:nvPicPr>
        <p:blipFill>
          <a:blip r:embed="rId5"/>
          <a:srcRect l="23277" t="53597" r="16853"/>
          <a:stretch>
            <a:fillRect/>
          </a:stretch>
        </p:blipFill>
        <p:spPr>
          <a:xfrm>
            <a:off x="7707803" y="2355177"/>
            <a:ext cx="3526254" cy="3780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dirty="0">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0" y="2046911"/>
            <a:ext cx="11243037" cy="893226"/>
          </a:xfrm>
        </p:spPr>
        <p:txBody>
          <a:bodyPr/>
          <a:lstStyle/>
          <a:p>
            <a:pPr algn="ctr"/>
            <a:r>
              <a:rPr lang="en-AU" sz="4400" dirty="0"/>
              <a:t>The numbers 3, 58 and 845 are all </a:t>
            </a:r>
            <a:r>
              <a:rPr lang="en-AU" sz="4400" b="1" dirty="0"/>
              <a:t>odd</a:t>
            </a:r>
            <a:r>
              <a:rPr lang="en-AU" sz="4400" dirty="0"/>
              <a:t>.</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B5CDD9C6-5DBF-921D-DB47-573339E93AF4}"/>
              </a:ext>
            </a:extLst>
          </p:cNvPr>
          <p:cNvSpPr txBox="1"/>
          <p:nvPr/>
        </p:nvSpPr>
        <p:spPr>
          <a:xfrm>
            <a:off x="474953" y="934124"/>
            <a:ext cx="10649047" cy="1022684"/>
          </a:xfrm>
          <a:prstGeom prst="rect">
            <a:avLst/>
          </a:prstGeom>
          <a:noFill/>
        </p:spPr>
        <p:txBody>
          <a:bodyPr wrap="square" lIns="0" tIns="0" rIns="0" bIns="0" rtlCol="0">
            <a:noAutofit/>
          </a:bodyPr>
          <a:lstStyle/>
          <a:p>
            <a:pPr algn="ctr">
              <a:lnSpc>
                <a:spcPct val="150000"/>
              </a:lnSpc>
            </a:pPr>
            <a:r>
              <a:rPr lang="en-AU" sz="4400" b="1" dirty="0"/>
              <a:t>Record </a:t>
            </a:r>
            <a:r>
              <a:rPr lang="en-AU" sz="4400" dirty="0"/>
              <a:t>one piece of information presented in this </a:t>
            </a:r>
            <a:r>
              <a:rPr lang="en-AU" sz="4400" b="1" dirty="0"/>
              <a:t>column graph.</a:t>
            </a:r>
          </a:p>
        </p:txBody>
      </p:sp>
      <p:pic>
        <p:nvPicPr>
          <p:cNvPr id="10" name="Picture 9" descr="A graph showing the number of students in 3B that are in each house group. Wombats 8, Koalas 9, Emus 7 and Kangaroos 4.">
            <a:extLst>
              <a:ext uri="{FF2B5EF4-FFF2-40B4-BE49-F238E27FC236}">
                <a16:creationId xmlns:a16="http://schemas.microsoft.com/office/drawing/2014/main" id="{B1F146D1-D1C5-AF05-D326-A4006354B5F6}"/>
              </a:ext>
            </a:extLst>
          </p:cNvPr>
          <p:cNvPicPr>
            <a:picLocks noChangeAspect="1"/>
          </p:cNvPicPr>
          <p:nvPr/>
        </p:nvPicPr>
        <p:blipFill>
          <a:blip r:embed="rId4"/>
          <a:srcRect l="1395" t="3377" r="1961" b="3648"/>
          <a:stretch>
            <a:fillRect/>
          </a:stretch>
        </p:blipFill>
        <p:spPr>
          <a:xfrm>
            <a:off x="3061118" y="2915980"/>
            <a:ext cx="6281665" cy="37800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9F66383-D683-146F-5713-1F2799B93075}"/>
                  </a:ext>
                </a:extLst>
              </p:cNvPr>
              <p:cNvSpPr txBox="1"/>
              <p:nvPr/>
            </p:nvSpPr>
            <p:spPr>
              <a:xfrm>
                <a:off x="226942" y="1338365"/>
                <a:ext cx="11719034" cy="789987"/>
              </a:xfrm>
              <a:prstGeom prst="rect">
                <a:avLst/>
              </a:prstGeom>
              <a:noFill/>
            </p:spPr>
            <p:txBody>
              <a:bodyPr wrap="square" lIns="0" tIns="0" rIns="0" bIns="0" rtlCol="0">
                <a:noAutofit/>
              </a:bodyPr>
              <a:lstStyle/>
              <a:p>
                <a:pPr algn="ctr">
                  <a:lnSpc>
                    <a:spcPct val="150000"/>
                  </a:lnSpc>
                </a:pPr>
                <a:r>
                  <a:rPr lang="en-AU" sz="4400" dirty="0"/>
                  <a:t>If this is </a:t>
                </a:r>
                <a14:m>
                  <m:oMath xmlns:m="http://schemas.openxmlformats.org/officeDocument/2006/math">
                    <m:f>
                      <m:fPr>
                        <m:ctrlPr>
                          <a:rPr lang="en-AU" sz="4400" i="1">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4</m:t>
                        </m:r>
                      </m:den>
                    </m:f>
                  </m:oMath>
                </a14:m>
                <a:r>
                  <a:rPr lang="en-AU" sz="4400" dirty="0"/>
                  <a:t>, what </a:t>
                </a:r>
                <a:r>
                  <a:rPr lang="en-AU" sz="4400" b="1" dirty="0"/>
                  <a:t>fractional part </a:t>
                </a:r>
                <a:r>
                  <a:rPr lang="en-AU" sz="4400" dirty="0"/>
                  <a:t>is needed to complete the </a:t>
                </a:r>
                <a:r>
                  <a:rPr lang="en-AU" sz="4400" b="1" dirty="0"/>
                  <a:t>whole</a:t>
                </a:r>
                <a:r>
                  <a:rPr lang="en-AU" sz="4400" dirty="0"/>
                  <a:t>? </a:t>
                </a:r>
              </a:p>
            </p:txBody>
          </p:sp>
        </mc:Choice>
        <mc:Fallback xmlns="">
          <p:sp>
            <p:nvSpPr>
              <p:cNvPr id="5" name="TextBox 4">
                <a:extLst>
                  <a:ext uri="{FF2B5EF4-FFF2-40B4-BE49-F238E27FC236}">
                    <a16:creationId xmlns:a16="http://schemas.microsoft.com/office/drawing/2014/main" id="{69F66383-D683-146F-5713-1F2799B93075}"/>
                  </a:ext>
                </a:extLst>
              </p:cNvPr>
              <p:cNvSpPr txBox="1">
                <a:spLocks noRot="1" noChangeAspect="1" noMove="1" noResize="1" noEditPoints="1" noAdjustHandles="1" noChangeArrowheads="1" noChangeShapeType="1" noTextEdit="1"/>
              </p:cNvSpPr>
              <p:nvPr/>
            </p:nvSpPr>
            <p:spPr>
              <a:xfrm>
                <a:off x="226942" y="1338365"/>
                <a:ext cx="11719034" cy="789987"/>
              </a:xfrm>
              <a:prstGeom prst="rect">
                <a:avLst/>
              </a:prstGeom>
              <a:blipFill>
                <a:blip r:embed="rId4"/>
                <a:stretch>
                  <a:fillRect r="-520" b="-234884"/>
                </a:stretch>
              </a:blipFill>
            </p:spPr>
            <p:txBody>
              <a:bodyPr/>
              <a:lstStyle/>
              <a:p>
                <a:r>
                  <a:rPr lang="en-AU">
                    <a:noFill/>
                  </a:rPr>
                  <a:t> </a:t>
                </a:r>
              </a:p>
            </p:txBody>
          </p:sp>
        </mc:Fallback>
      </mc:AlternateContent>
      <p:grpSp>
        <p:nvGrpSpPr>
          <p:cNvPr id="4" name="Group 3" descr="A number line showing three quarters shaded.">
            <a:extLst>
              <a:ext uri="{FF2B5EF4-FFF2-40B4-BE49-F238E27FC236}">
                <a16:creationId xmlns:a16="http://schemas.microsoft.com/office/drawing/2014/main" id="{22264E08-DD52-7FA0-8DB0-963CD351D894}"/>
              </a:ext>
            </a:extLst>
          </p:cNvPr>
          <p:cNvGrpSpPr/>
          <p:nvPr/>
        </p:nvGrpSpPr>
        <p:grpSpPr>
          <a:xfrm>
            <a:off x="1671144" y="4729647"/>
            <a:ext cx="7966841" cy="1051036"/>
            <a:chOff x="1671144" y="4729647"/>
            <a:chExt cx="7966841" cy="1051036"/>
          </a:xfrm>
        </p:grpSpPr>
        <p:sp>
          <p:nvSpPr>
            <p:cNvPr id="8" name="Rectangle 7">
              <a:extLst>
                <a:ext uri="{FF2B5EF4-FFF2-40B4-BE49-F238E27FC236}">
                  <a16:creationId xmlns:a16="http://schemas.microsoft.com/office/drawing/2014/main" id="{340A0582-30AA-1490-3296-762CCD4B7F3A}"/>
                </a:ext>
              </a:extLst>
            </p:cNvPr>
            <p:cNvSpPr/>
            <p:nvPr/>
          </p:nvSpPr>
          <p:spPr>
            <a:xfrm>
              <a:off x="1828799" y="4729648"/>
              <a:ext cx="1912883" cy="1051035"/>
            </a:xfrm>
            <a:prstGeom prst="rect">
              <a:avLst/>
            </a:prstGeom>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9B3668C6-A2B4-7C69-1CEF-17AB0253F0DF}"/>
                </a:ext>
              </a:extLst>
            </p:cNvPr>
            <p:cNvSpPr/>
            <p:nvPr/>
          </p:nvSpPr>
          <p:spPr>
            <a:xfrm>
              <a:off x="3741682" y="4729647"/>
              <a:ext cx="1912883" cy="1051035"/>
            </a:xfrm>
            <a:prstGeom prst="rect">
              <a:avLst/>
            </a:prstGeom>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16FE4964-408D-BE4A-D76E-E1FFF8F08872}"/>
                </a:ext>
              </a:extLst>
            </p:cNvPr>
            <p:cNvSpPr/>
            <p:nvPr/>
          </p:nvSpPr>
          <p:spPr>
            <a:xfrm>
              <a:off x="5654565" y="4729647"/>
              <a:ext cx="1912883" cy="1051035"/>
            </a:xfrm>
            <a:prstGeom prst="rect">
              <a:avLst/>
            </a:prstGeom>
            <a:ln w="285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cxnSp>
          <p:nvCxnSpPr>
            <p:cNvPr id="16" name="Straight Arrow Connector 15">
              <a:extLst>
                <a:ext uri="{FF2B5EF4-FFF2-40B4-BE49-F238E27FC236}">
                  <a16:creationId xmlns:a16="http://schemas.microsoft.com/office/drawing/2014/main" id="{5885440B-B0DE-33F1-D0DA-107F1938DEA6}"/>
                </a:ext>
              </a:extLst>
            </p:cNvPr>
            <p:cNvCxnSpPr/>
            <p:nvPr/>
          </p:nvCxnSpPr>
          <p:spPr>
            <a:xfrm>
              <a:off x="1671144" y="5780682"/>
              <a:ext cx="7966841"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A green paralellogram with two sides marked. The longer side is marked 6 metres and the shorter side is marked 4 metres.">
            <a:extLst>
              <a:ext uri="{FF2B5EF4-FFF2-40B4-BE49-F238E27FC236}">
                <a16:creationId xmlns:a16="http://schemas.microsoft.com/office/drawing/2014/main" id="{2292FAE0-8D51-674B-59E0-76F323DB1DB1}"/>
              </a:ext>
            </a:extLst>
          </p:cNvPr>
          <p:cNvPicPr>
            <a:picLocks noChangeAspect="1"/>
          </p:cNvPicPr>
          <p:nvPr/>
        </p:nvPicPr>
        <p:blipFill>
          <a:blip r:embed="rId4"/>
          <a:srcRect l="52976" t="766" r="-1831" b="52184"/>
          <a:stretch>
            <a:fillRect/>
          </a:stretch>
        </p:blipFill>
        <p:spPr>
          <a:xfrm rot="5400000">
            <a:off x="4313689" y="2960878"/>
            <a:ext cx="2944510" cy="4235667"/>
          </a:xfrm>
          <a:prstGeom prst="rect">
            <a:avLst/>
          </a:prstGeom>
        </p:spPr>
      </p:pic>
      <p:sp>
        <p:nvSpPr>
          <p:cNvPr id="5" name="TextBox 4">
            <a:extLst>
              <a:ext uri="{FF2B5EF4-FFF2-40B4-BE49-F238E27FC236}">
                <a16:creationId xmlns:a16="http://schemas.microsoft.com/office/drawing/2014/main" id="{A481A4E1-8AF6-22FE-6FAE-DB6ECC272300}"/>
              </a:ext>
            </a:extLst>
          </p:cNvPr>
          <p:cNvSpPr txBox="1"/>
          <p:nvPr/>
        </p:nvSpPr>
        <p:spPr>
          <a:xfrm>
            <a:off x="664341" y="1335935"/>
            <a:ext cx="10678511" cy="1408386"/>
          </a:xfrm>
          <a:prstGeom prst="rect">
            <a:avLst/>
          </a:prstGeom>
          <a:noFill/>
        </p:spPr>
        <p:txBody>
          <a:bodyPr wrap="square" lIns="0" tIns="0" rIns="0" bIns="0" rtlCol="0">
            <a:noAutofit/>
          </a:bodyPr>
          <a:lstStyle/>
          <a:p>
            <a:pPr algn="ctr">
              <a:lnSpc>
                <a:spcPct val="150000"/>
              </a:lnSpc>
            </a:pPr>
            <a:r>
              <a:rPr lang="en-AU" sz="4400" b="1" dirty="0"/>
              <a:t>Calculate</a:t>
            </a:r>
            <a:r>
              <a:rPr lang="en-AU" sz="4400" dirty="0"/>
              <a:t> and </a:t>
            </a:r>
            <a:r>
              <a:rPr lang="en-AU" sz="4400" b="1" dirty="0"/>
              <a:t>record </a:t>
            </a:r>
            <a:r>
              <a:rPr lang="en-AU" sz="4400" dirty="0"/>
              <a:t>the </a:t>
            </a:r>
            <a:r>
              <a:rPr lang="en-AU" sz="4400" b="1" dirty="0"/>
              <a:t>perimeter</a:t>
            </a:r>
            <a:r>
              <a:rPr lang="en-AU" sz="4400" dirty="0"/>
              <a:t> of this shape</a:t>
            </a:r>
            <a:r>
              <a:rPr lang="en-AU" sz="4000" dirty="0"/>
              <a:t>.</a:t>
            </a:r>
            <a:endParaRPr lang="en-AU" sz="1800" dirty="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5F47B26-1EE2-84D9-92B5-990DB945BAD5}"/>
              </a:ext>
            </a:extLst>
          </p:cNvPr>
          <p:cNvSpPr txBox="1"/>
          <p:nvPr/>
        </p:nvSpPr>
        <p:spPr>
          <a:xfrm>
            <a:off x="2208276" y="2792730"/>
            <a:ext cx="8297799" cy="1272540"/>
          </a:xfrm>
          <a:prstGeom prst="rect">
            <a:avLst/>
          </a:prstGeom>
          <a:noFill/>
        </p:spPr>
        <p:txBody>
          <a:bodyPr wrap="square" lIns="0" tIns="0" rIns="0" bIns="0" rtlCol="0">
            <a:noAutofit/>
          </a:bodyPr>
          <a:lstStyle/>
          <a:p>
            <a:pPr algn="ctr">
              <a:lnSpc>
                <a:spcPct val="150000"/>
              </a:lnSpc>
            </a:pPr>
            <a:r>
              <a:rPr lang="en-AU" sz="4400" dirty="0"/>
              <a:t>The term ‘</a:t>
            </a:r>
            <a:r>
              <a:rPr lang="en-AU" sz="4400" b="1" dirty="0"/>
              <a:t>mass</a:t>
            </a:r>
            <a:r>
              <a:rPr lang="en-AU" sz="4400" dirty="0"/>
              <a:t>’ means…</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dirty="0">
                <a:latin typeface="Arial"/>
                <a:cs typeface="Arial"/>
              </a:rPr>
              <a:t>Activity 6 – largest even and odd numbers</a:t>
            </a:r>
            <a:endParaRPr lang="en-AU" dirty="0"/>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94282BB2-328D-6C1D-61FE-72EA6321C874}"/>
              </a:ext>
            </a:extLst>
          </p:cNvPr>
          <p:cNvSpPr txBox="1"/>
          <p:nvPr/>
        </p:nvSpPr>
        <p:spPr>
          <a:xfrm>
            <a:off x="2030682" y="2078183"/>
            <a:ext cx="676894" cy="843148"/>
          </a:xfrm>
          <a:prstGeom prst="rect">
            <a:avLst/>
          </a:prstGeom>
          <a:noFill/>
        </p:spPr>
        <p:txBody>
          <a:bodyPr wrap="square" lIns="0" tIns="0" rIns="0" bIns="0" rtlCol="0">
            <a:noAutofit/>
          </a:bodyPr>
          <a:lstStyle/>
          <a:p>
            <a:r>
              <a:rPr lang="en-AU" sz="4400" dirty="0"/>
              <a:t>87</a:t>
            </a:r>
          </a:p>
        </p:txBody>
      </p:sp>
      <p:sp>
        <p:nvSpPr>
          <p:cNvPr id="5" name="TextBox 4">
            <a:extLst>
              <a:ext uri="{FF2B5EF4-FFF2-40B4-BE49-F238E27FC236}">
                <a16:creationId xmlns:a16="http://schemas.microsoft.com/office/drawing/2014/main" id="{78A9DB1B-007C-392F-8C98-D31D2927A24D}"/>
              </a:ext>
            </a:extLst>
          </p:cNvPr>
          <p:cNvSpPr txBox="1"/>
          <p:nvPr/>
        </p:nvSpPr>
        <p:spPr>
          <a:xfrm>
            <a:off x="5543634" y="2117769"/>
            <a:ext cx="1660568" cy="843148"/>
          </a:xfrm>
          <a:prstGeom prst="rect">
            <a:avLst/>
          </a:prstGeom>
          <a:noFill/>
        </p:spPr>
        <p:txBody>
          <a:bodyPr wrap="square" lIns="0" tIns="0" rIns="0" bIns="0" rtlCol="0">
            <a:noAutofit/>
          </a:bodyPr>
          <a:lstStyle/>
          <a:p>
            <a:r>
              <a:rPr lang="en-AU" sz="4400" dirty="0"/>
              <a:t>324</a:t>
            </a:r>
          </a:p>
        </p:txBody>
      </p:sp>
      <p:sp>
        <p:nvSpPr>
          <p:cNvPr id="8" name="TextBox 7">
            <a:extLst>
              <a:ext uri="{FF2B5EF4-FFF2-40B4-BE49-F238E27FC236}">
                <a16:creationId xmlns:a16="http://schemas.microsoft.com/office/drawing/2014/main" id="{5144C2D4-3DC5-B1EF-F534-7A8785864D53}"/>
              </a:ext>
            </a:extLst>
          </p:cNvPr>
          <p:cNvSpPr txBox="1"/>
          <p:nvPr/>
        </p:nvSpPr>
        <p:spPr>
          <a:xfrm>
            <a:off x="9997044" y="2117769"/>
            <a:ext cx="676894" cy="843148"/>
          </a:xfrm>
          <a:prstGeom prst="rect">
            <a:avLst/>
          </a:prstGeom>
          <a:noFill/>
        </p:spPr>
        <p:txBody>
          <a:bodyPr wrap="square" lIns="0" tIns="0" rIns="0" bIns="0" rtlCol="0">
            <a:noAutofit/>
          </a:bodyPr>
          <a:lstStyle/>
          <a:p>
            <a:r>
              <a:rPr lang="en-AU" sz="4400" dirty="0"/>
              <a:t>5</a:t>
            </a:r>
          </a:p>
        </p:txBody>
      </p:sp>
      <p:sp>
        <p:nvSpPr>
          <p:cNvPr id="11" name="TextBox 10">
            <a:extLst>
              <a:ext uri="{FF2B5EF4-FFF2-40B4-BE49-F238E27FC236}">
                <a16:creationId xmlns:a16="http://schemas.microsoft.com/office/drawing/2014/main" id="{F0BB4818-CE87-F02B-3ABB-4012A8AF6CB1}"/>
              </a:ext>
            </a:extLst>
          </p:cNvPr>
          <p:cNvSpPr txBox="1"/>
          <p:nvPr/>
        </p:nvSpPr>
        <p:spPr>
          <a:xfrm>
            <a:off x="4021778" y="3914899"/>
            <a:ext cx="676894" cy="843148"/>
          </a:xfrm>
          <a:prstGeom prst="rect">
            <a:avLst/>
          </a:prstGeom>
          <a:noFill/>
        </p:spPr>
        <p:txBody>
          <a:bodyPr wrap="square" lIns="0" tIns="0" rIns="0" bIns="0" rtlCol="0">
            <a:noAutofit/>
          </a:bodyPr>
          <a:lstStyle/>
          <a:p>
            <a:r>
              <a:rPr lang="en-AU" sz="4400" dirty="0"/>
              <a:t>7</a:t>
            </a:r>
          </a:p>
        </p:txBody>
      </p:sp>
      <p:sp>
        <p:nvSpPr>
          <p:cNvPr id="10" name="TextBox 9">
            <a:extLst>
              <a:ext uri="{FF2B5EF4-FFF2-40B4-BE49-F238E27FC236}">
                <a16:creationId xmlns:a16="http://schemas.microsoft.com/office/drawing/2014/main" id="{E7B8DAFC-3D1A-447A-8A41-0353D47CA9E7}"/>
              </a:ext>
            </a:extLst>
          </p:cNvPr>
          <p:cNvSpPr txBox="1"/>
          <p:nvPr/>
        </p:nvSpPr>
        <p:spPr>
          <a:xfrm>
            <a:off x="7926781" y="3900055"/>
            <a:ext cx="676894" cy="843148"/>
          </a:xfrm>
          <a:prstGeom prst="rect">
            <a:avLst/>
          </a:prstGeom>
          <a:noFill/>
        </p:spPr>
        <p:txBody>
          <a:bodyPr wrap="square" lIns="0" tIns="0" rIns="0" bIns="0" rtlCol="0">
            <a:noAutofit/>
          </a:bodyPr>
          <a:lstStyle/>
          <a:p>
            <a:r>
              <a:rPr lang="en-AU" sz="4400" dirty="0"/>
              <a:t>92</a:t>
            </a:r>
          </a:p>
        </p:txBody>
      </p:sp>
      <p:sp>
        <p:nvSpPr>
          <p:cNvPr id="7" name="TextBox 6">
            <a:extLst>
              <a:ext uri="{FF2B5EF4-FFF2-40B4-BE49-F238E27FC236}">
                <a16:creationId xmlns:a16="http://schemas.microsoft.com/office/drawing/2014/main" id="{213BC78F-147E-51D8-30CE-48A8AD4B390B}"/>
              </a:ext>
            </a:extLst>
          </p:cNvPr>
          <p:cNvSpPr txBox="1"/>
          <p:nvPr/>
        </p:nvSpPr>
        <p:spPr>
          <a:xfrm>
            <a:off x="1781299" y="5440880"/>
            <a:ext cx="1624942" cy="843148"/>
          </a:xfrm>
          <a:prstGeom prst="rect">
            <a:avLst/>
          </a:prstGeom>
          <a:noFill/>
        </p:spPr>
        <p:txBody>
          <a:bodyPr wrap="square" lIns="0" tIns="0" rIns="0" bIns="0" rtlCol="0">
            <a:noAutofit/>
          </a:bodyPr>
          <a:lstStyle/>
          <a:p>
            <a:r>
              <a:rPr lang="en-AU" sz="4400" dirty="0"/>
              <a:t>634</a:t>
            </a:r>
          </a:p>
        </p:txBody>
      </p:sp>
      <p:sp>
        <p:nvSpPr>
          <p:cNvPr id="9" name="TextBox 8">
            <a:extLst>
              <a:ext uri="{FF2B5EF4-FFF2-40B4-BE49-F238E27FC236}">
                <a16:creationId xmlns:a16="http://schemas.microsoft.com/office/drawing/2014/main" id="{BE216A97-F133-ACF3-6F3C-D500BE3429C9}"/>
              </a:ext>
            </a:extLst>
          </p:cNvPr>
          <p:cNvSpPr txBox="1"/>
          <p:nvPr/>
        </p:nvSpPr>
        <p:spPr>
          <a:xfrm>
            <a:off x="8977747" y="5454737"/>
            <a:ext cx="1268518" cy="843148"/>
          </a:xfrm>
          <a:prstGeom prst="rect">
            <a:avLst/>
          </a:prstGeom>
          <a:noFill/>
        </p:spPr>
        <p:txBody>
          <a:bodyPr wrap="square" lIns="0" tIns="0" rIns="0" bIns="0" rtlCol="0">
            <a:noAutofit/>
          </a:bodyPr>
          <a:lstStyle/>
          <a:p>
            <a:r>
              <a:rPr lang="en-AU" sz="4400" dirty="0"/>
              <a:t>589</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dirty="0">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568016" y="1184019"/>
            <a:ext cx="11243037" cy="893226"/>
          </a:xfrm>
        </p:spPr>
        <p:txBody>
          <a:bodyPr/>
          <a:lstStyle/>
          <a:p>
            <a:pPr algn="ctr"/>
            <a:r>
              <a:rPr lang="en-US" sz="4400" b="1" dirty="0"/>
              <a:t>Identify</a:t>
            </a:r>
            <a:r>
              <a:rPr lang="en-US" sz="4400" dirty="0"/>
              <a:t> the missing number in the following </a:t>
            </a:r>
            <a:r>
              <a:rPr lang="en-US" sz="4400" b="1" dirty="0"/>
              <a:t>number pattern</a:t>
            </a:r>
            <a:r>
              <a:rPr lang="en-US" sz="4400" dirty="0"/>
              <a:t>.</a:t>
            </a:r>
          </a:p>
          <a:p>
            <a:pPr algn="ctr"/>
            <a:r>
              <a:rPr lang="en-US" sz="4400" dirty="0"/>
              <a:t>16, 20, 24, 28, __, 36</a:t>
            </a:r>
          </a:p>
        </p:txBody>
      </p:sp>
      <p:sp>
        <p:nvSpPr>
          <p:cNvPr id="9" name="TextBox 8">
            <a:extLst>
              <a:ext uri="{FF2B5EF4-FFF2-40B4-BE49-F238E27FC236}">
                <a16:creationId xmlns:a16="http://schemas.microsoft.com/office/drawing/2014/main" id="{8B9CE09D-4912-352C-EDD3-2F5B22293E2B}"/>
              </a:ext>
            </a:extLst>
          </p:cNvPr>
          <p:cNvSpPr txBox="1"/>
          <p:nvPr/>
        </p:nvSpPr>
        <p:spPr>
          <a:xfrm>
            <a:off x="1794438" y="48505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6" name="TextBox 5">
            <a:extLst>
              <a:ext uri="{FF2B5EF4-FFF2-40B4-BE49-F238E27FC236}">
                <a16:creationId xmlns:a16="http://schemas.microsoft.com/office/drawing/2014/main" id="{2F5AF01D-0DC7-7326-B948-11DB70881493}"/>
              </a:ext>
            </a:extLst>
          </p:cNvPr>
          <p:cNvSpPr txBox="1"/>
          <p:nvPr/>
        </p:nvSpPr>
        <p:spPr>
          <a:xfrm>
            <a:off x="1652753" y="5622774"/>
            <a:ext cx="1347537" cy="738664"/>
          </a:xfrm>
          <a:prstGeom prst="rect">
            <a:avLst/>
          </a:prstGeom>
          <a:noFill/>
        </p:spPr>
        <p:txBody>
          <a:bodyPr wrap="square" lIns="0" tIns="0" rIns="0" bIns="0" rtlCol="0">
            <a:noAutofit/>
          </a:bodyPr>
          <a:lstStyle/>
          <a:p>
            <a:r>
              <a:rPr lang="en-US" sz="4400" dirty="0"/>
              <a:t>34</a:t>
            </a:r>
            <a:endParaRPr lang="en-AU" sz="4400" dirty="0"/>
          </a:p>
        </p:txBody>
      </p:sp>
      <p:sp>
        <p:nvSpPr>
          <p:cNvPr id="10" name="TextBox 9">
            <a:extLst>
              <a:ext uri="{FF2B5EF4-FFF2-40B4-BE49-F238E27FC236}">
                <a16:creationId xmlns:a16="http://schemas.microsoft.com/office/drawing/2014/main" id="{6720C9BD-206D-1246-CC58-B94DA2A9FDA7}"/>
              </a:ext>
            </a:extLst>
          </p:cNvPr>
          <p:cNvSpPr txBox="1"/>
          <p:nvPr/>
        </p:nvSpPr>
        <p:spPr>
          <a:xfrm>
            <a:off x="4798411" y="48505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5" name="TextBox 4">
            <a:extLst>
              <a:ext uri="{FF2B5EF4-FFF2-40B4-BE49-F238E27FC236}">
                <a16:creationId xmlns:a16="http://schemas.microsoft.com/office/drawing/2014/main" id="{2C27FBD1-7CB7-7812-179C-2C3E9402B716}"/>
              </a:ext>
            </a:extLst>
          </p:cNvPr>
          <p:cNvSpPr txBox="1"/>
          <p:nvPr/>
        </p:nvSpPr>
        <p:spPr>
          <a:xfrm>
            <a:off x="4670584" y="5622774"/>
            <a:ext cx="1347537" cy="738664"/>
          </a:xfrm>
          <a:prstGeom prst="rect">
            <a:avLst/>
          </a:prstGeom>
          <a:noFill/>
        </p:spPr>
        <p:txBody>
          <a:bodyPr wrap="square" lIns="0" tIns="0" rIns="0" bIns="0" rtlCol="0">
            <a:noAutofit/>
          </a:bodyPr>
          <a:lstStyle/>
          <a:p>
            <a:r>
              <a:rPr lang="en-US" sz="4400" dirty="0"/>
              <a:t>30</a:t>
            </a:r>
            <a:endParaRPr lang="en-AU" sz="4400" dirty="0"/>
          </a:p>
        </p:txBody>
      </p:sp>
      <p:sp>
        <p:nvSpPr>
          <p:cNvPr id="12" name="TextBox 11">
            <a:extLst>
              <a:ext uri="{FF2B5EF4-FFF2-40B4-BE49-F238E27FC236}">
                <a16:creationId xmlns:a16="http://schemas.microsoft.com/office/drawing/2014/main" id="{53D31413-FF78-7189-1A0F-0B12F84CC32D}"/>
              </a:ext>
            </a:extLst>
          </p:cNvPr>
          <p:cNvSpPr txBox="1"/>
          <p:nvPr/>
        </p:nvSpPr>
        <p:spPr>
          <a:xfrm>
            <a:off x="7802384" y="48505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7" name="TextBox 6">
            <a:extLst>
              <a:ext uri="{FF2B5EF4-FFF2-40B4-BE49-F238E27FC236}">
                <a16:creationId xmlns:a16="http://schemas.microsoft.com/office/drawing/2014/main" id="{5ADB6076-1F8C-7508-1B24-A6893CEF972E}"/>
              </a:ext>
            </a:extLst>
          </p:cNvPr>
          <p:cNvSpPr txBox="1"/>
          <p:nvPr/>
        </p:nvSpPr>
        <p:spPr>
          <a:xfrm>
            <a:off x="7802384" y="5622774"/>
            <a:ext cx="1347537" cy="738664"/>
          </a:xfrm>
          <a:prstGeom prst="rect">
            <a:avLst/>
          </a:prstGeom>
          <a:noFill/>
        </p:spPr>
        <p:txBody>
          <a:bodyPr wrap="square" lIns="0" tIns="0" rIns="0" bIns="0" rtlCol="0">
            <a:noAutofit/>
          </a:bodyPr>
          <a:lstStyle/>
          <a:p>
            <a:r>
              <a:rPr lang="en-US" sz="4400" dirty="0"/>
              <a:t>32</a:t>
            </a:r>
            <a:endParaRPr lang="en-AU" sz="4400" dirty="0"/>
          </a:p>
        </p:txBody>
      </p:sp>
      <p:sp>
        <p:nvSpPr>
          <p:cNvPr id="11" name="TextBox 10">
            <a:extLst>
              <a:ext uri="{FF2B5EF4-FFF2-40B4-BE49-F238E27FC236}">
                <a16:creationId xmlns:a16="http://schemas.microsoft.com/office/drawing/2014/main" id="{F03294A5-CB62-91E6-0D20-1199ECBFAF01}"/>
              </a:ext>
            </a:extLst>
          </p:cNvPr>
          <p:cNvSpPr txBox="1"/>
          <p:nvPr/>
        </p:nvSpPr>
        <p:spPr>
          <a:xfrm>
            <a:off x="10522579" y="48505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8" name="TextBox 7">
            <a:extLst>
              <a:ext uri="{FF2B5EF4-FFF2-40B4-BE49-F238E27FC236}">
                <a16:creationId xmlns:a16="http://schemas.microsoft.com/office/drawing/2014/main" id="{42927FB2-B3D0-A7D5-00B5-462F2A8C2C9F}"/>
              </a:ext>
            </a:extLst>
          </p:cNvPr>
          <p:cNvSpPr txBox="1"/>
          <p:nvPr/>
        </p:nvSpPr>
        <p:spPr>
          <a:xfrm>
            <a:off x="10378239" y="5622774"/>
            <a:ext cx="1347537" cy="738664"/>
          </a:xfrm>
          <a:prstGeom prst="rect">
            <a:avLst/>
          </a:prstGeom>
          <a:noFill/>
        </p:spPr>
        <p:txBody>
          <a:bodyPr wrap="square" lIns="0" tIns="0" rIns="0" bIns="0" rtlCol="0">
            <a:noAutofit/>
          </a:bodyPr>
          <a:lstStyle/>
          <a:p>
            <a:r>
              <a:rPr lang="en-US" sz="4400" dirty="0"/>
              <a:t>29</a:t>
            </a:r>
            <a:endParaRPr lang="en-AU" sz="4400" dirty="0"/>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809D5CF-83DF-9871-B224-2204D2BA6C59}"/>
              </a:ext>
            </a:extLst>
          </p:cNvPr>
          <p:cNvSpPr txBox="1"/>
          <p:nvPr/>
        </p:nvSpPr>
        <p:spPr>
          <a:xfrm>
            <a:off x="360000" y="1134827"/>
            <a:ext cx="5311751" cy="4588346"/>
          </a:xfrm>
          <a:prstGeom prst="rect">
            <a:avLst/>
          </a:prstGeom>
          <a:noFill/>
        </p:spPr>
        <p:txBody>
          <a:bodyPr wrap="square" lIns="0" tIns="0" rIns="0" bIns="0" rtlCol="0">
            <a:noAutofit/>
          </a:bodyPr>
          <a:lstStyle/>
          <a:p>
            <a:pPr marL="342900" indent="-342900" algn="l">
              <a:lnSpc>
                <a:spcPct val="150000"/>
              </a:lnSpc>
              <a:spcAft>
                <a:spcPts val="1200"/>
              </a:spcAft>
              <a:buFont typeface="Arial" panose="020B0604020202020204" pitchFamily="34" charset="0"/>
              <a:buChar char="•"/>
            </a:pPr>
            <a:r>
              <a:rPr lang="en-AU" sz="2800" b="1" dirty="0"/>
              <a:t>How many more </a:t>
            </a:r>
            <a:r>
              <a:rPr lang="en-AU" sz="2800" dirty="0"/>
              <a:t>students in 3B are in the Koalas house than the Emus house?</a:t>
            </a:r>
          </a:p>
          <a:p>
            <a:pPr marL="342900" indent="-342900" algn="l">
              <a:lnSpc>
                <a:spcPct val="150000"/>
              </a:lnSpc>
              <a:spcAft>
                <a:spcPts val="1200"/>
              </a:spcAft>
              <a:buFont typeface="Arial" panose="020B0604020202020204" pitchFamily="34" charset="0"/>
              <a:buChar char="•"/>
            </a:pPr>
            <a:r>
              <a:rPr lang="en-AU" sz="2800" dirty="0"/>
              <a:t>Which house has the </a:t>
            </a:r>
            <a:r>
              <a:rPr lang="en-AU" sz="2800" b="1" dirty="0"/>
              <a:t>lowest number </a:t>
            </a:r>
            <a:r>
              <a:rPr lang="en-AU" sz="2800" dirty="0"/>
              <a:t>of students from 3B?</a:t>
            </a:r>
          </a:p>
          <a:p>
            <a:pPr marL="342900" indent="-342900" algn="l">
              <a:lnSpc>
                <a:spcPct val="150000"/>
              </a:lnSpc>
              <a:spcAft>
                <a:spcPts val="1200"/>
              </a:spcAft>
              <a:buFont typeface="Arial" panose="020B0604020202020204" pitchFamily="34" charset="0"/>
              <a:buChar char="•"/>
            </a:pPr>
            <a:r>
              <a:rPr lang="en-AU" sz="2800" dirty="0"/>
              <a:t>Do you think the data for the houses would be the same in other classes? Why/ why not?</a:t>
            </a:r>
          </a:p>
        </p:txBody>
      </p:sp>
      <p:pic>
        <p:nvPicPr>
          <p:cNvPr id="4" name="Picture 3" descr="A graph showing the number of students in 3B that are in each house group. Wombats 8, Koalas 9, Emus 7 and Kangaroos 4.">
            <a:extLst>
              <a:ext uri="{FF2B5EF4-FFF2-40B4-BE49-F238E27FC236}">
                <a16:creationId xmlns:a16="http://schemas.microsoft.com/office/drawing/2014/main" id="{E9339F48-A9FE-B595-CB2A-E91C82D9BB95}"/>
              </a:ext>
            </a:extLst>
          </p:cNvPr>
          <p:cNvPicPr>
            <a:picLocks noChangeAspect="1"/>
          </p:cNvPicPr>
          <p:nvPr/>
        </p:nvPicPr>
        <p:blipFill>
          <a:blip r:embed="rId4"/>
          <a:srcRect l="1395" t="3377" r="1961" b="3648"/>
          <a:stretch>
            <a:fillRect/>
          </a:stretch>
        </p:blipFill>
        <p:spPr>
          <a:xfrm>
            <a:off x="5799129" y="2248814"/>
            <a:ext cx="6146847" cy="36988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D0AF69A-3077-8E1A-1388-D36AC160D47C}"/>
                  </a:ext>
                </a:extLst>
              </p:cNvPr>
              <p:cNvSpPr txBox="1"/>
              <p:nvPr/>
            </p:nvSpPr>
            <p:spPr>
              <a:xfrm>
                <a:off x="359999" y="762373"/>
                <a:ext cx="11215111" cy="1576552"/>
              </a:xfrm>
              <a:prstGeom prst="rect">
                <a:avLst/>
              </a:prstGeom>
              <a:noFill/>
            </p:spPr>
            <p:txBody>
              <a:bodyPr wrap="square" lIns="0" tIns="0" rIns="0" bIns="0" rtlCol="0">
                <a:noAutofit/>
              </a:bodyPr>
              <a:lstStyle/>
              <a:p>
                <a:pPr algn="ctr">
                  <a:lnSpc>
                    <a:spcPct val="150000"/>
                  </a:lnSpc>
                </a:pPr>
                <a14:m>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2</m:t>
                        </m:r>
                      </m:num>
                      <m:den>
                        <m:r>
                          <a:rPr lang="en-AU" sz="4400" b="0" i="1" smtClean="0">
                            <a:latin typeface="Cambria Math" panose="02040503050406030204" pitchFamily="18" charset="0"/>
                          </a:rPr>
                          <m:t>8</m:t>
                        </m:r>
                      </m:den>
                    </m:f>
                  </m:oMath>
                </a14:m>
                <a:r>
                  <a:rPr lang="en-AU" sz="4400" dirty="0"/>
                  <a:t> of this chocolate bar is showing. </a:t>
                </a:r>
              </a:p>
              <a:p>
                <a:pPr algn="ctr">
                  <a:lnSpc>
                    <a:spcPct val="150000"/>
                  </a:lnSpc>
                </a:pPr>
                <a:r>
                  <a:rPr lang="en-AU" sz="4400" b="1" dirty="0"/>
                  <a:t>Record</a:t>
                </a:r>
                <a:r>
                  <a:rPr lang="en-AU" sz="4400" dirty="0"/>
                  <a:t> the </a:t>
                </a:r>
                <a:r>
                  <a:rPr lang="en-AU" sz="4400" b="1" dirty="0"/>
                  <a:t>fraction </a:t>
                </a:r>
                <a:r>
                  <a:rPr lang="en-AU" sz="4400" dirty="0"/>
                  <a:t>of the chocolate bar that is </a:t>
                </a:r>
                <a:r>
                  <a:rPr lang="en-AU" sz="4400" b="1" dirty="0"/>
                  <a:t>hidden</a:t>
                </a:r>
                <a:r>
                  <a:rPr lang="en-AU" sz="4400" dirty="0"/>
                  <a:t>?</a:t>
                </a:r>
              </a:p>
            </p:txBody>
          </p:sp>
        </mc:Choice>
        <mc:Fallback xmlns="">
          <p:sp>
            <p:nvSpPr>
              <p:cNvPr id="5" name="TextBox 4">
                <a:extLst>
                  <a:ext uri="{FF2B5EF4-FFF2-40B4-BE49-F238E27FC236}">
                    <a16:creationId xmlns:a16="http://schemas.microsoft.com/office/drawing/2014/main" id="{4D0AF69A-3077-8E1A-1388-D36AC160D47C}"/>
                  </a:ext>
                </a:extLst>
              </p:cNvPr>
              <p:cNvSpPr txBox="1">
                <a:spLocks noRot="1" noChangeAspect="1" noMove="1" noResize="1" noEditPoints="1" noAdjustHandles="1" noChangeArrowheads="1" noChangeShapeType="1" noTextEdit="1"/>
              </p:cNvSpPr>
              <p:nvPr/>
            </p:nvSpPr>
            <p:spPr>
              <a:xfrm>
                <a:off x="359999" y="762373"/>
                <a:ext cx="11215111" cy="1576552"/>
              </a:xfrm>
              <a:prstGeom prst="rect">
                <a:avLst/>
              </a:prstGeom>
              <a:blipFill>
                <a:blip r:embed="rId4"/>
                <a:stretch>
                  <a:fillRect b="-131274"/>
                </a:stretch>
              </a:blipFill>
            </p:spPr>
            <p:txBody>
              <a:bodyPr/>
              <a:lstStyle/>
              <a:p>
                <a:r>
                  <a:rPr lang="en-AU">
                    <a:noFill/>
                  </a:rPr>
                  <a:t> </a:t>
                </a:r>
              </a:p>
            </p:txBody>
          </p:sp>
        </mc:Fallback>
      </mc:AlternateContent>
      <p:pic>
        <p:nvPicPr>
          <p:cNvPr id="4" name="Picture 3" descr="A chocolate bar showing 2 pieces and the rest hidden by a cloth.">
            <a:extLst>
              <a:ext uri="{FF2B5EF4-FFF2-40B4-BE49-F238E27FC236}">
                <a16:creationId xmlns:a16="http://schemas.microsoft.com/office/drawing/2014/main" id="{9309311A-E78E-998D-FC73-11E1611C8B06}"/>
              </a:ext>
            </a:extLst>
          </p:cNvPr>
          <p:cNvPicPr>
            <a:picLocks noChangeAspect="1"/>
          </p:cNvPicPr>
          <p:nvPr/>
        </p:nvPicPr>
        <p:blipFill>
          <a:blip r:embed="rId5"/>
          <a:srcRect t="16282"/>
          <a:stretch>
            <a:fillRect/>
          </a:stretch>
        </p:blipFill>
        <p:spPr>
          <a:xfrm>
            <a:off x="3568571" y="4210386"/>
            <a:ext cx="4797968" cy="2485614"/>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84A9DF5-F178-7381-C220-80DBB2AC6BA6}"/>
              </a:ext>
            </a:extLst>
          </p:cNvPr>
          <p:cNvSpPr txBox="1"/>
          <p:nvPr/>
        </p:nvSpPr>
        <p:spPr>
          <a:xfrm>
            <a:off x="511894" y="755774"/>
            <a:ext cx="11168212" cy="4151586"/>
          </a:xfrm>
          <a:prstGeom prst="rect">
            <a:avLst/>
          </a:prstGeom>
          <a:noFill/>
        </p:spPr>
        <p:txBody>
          <a:bodyPr wrap="square" lIns="0" tIns="0" rIns="0" bIns="0" rtlCol="0">
            <a:noAutofit/>
          </a:bodyPr>
          <a:lstStyle/>
          <a:p>
            <a:pPr algn="l">
              <a:lnSpc>
                <a:spcPct val="150000"/>
              </a:lnSpc>
            </a:pPr>
            <a:r>
              <a:rPr lang="en-AU" sz="4400" b="1" dirty="0"/>
              <a:t>Record</a:t>
            </a:r>
            <a:r>
              <a:rPr lang="en-AU" sz="4400" dirty="0"/>
              <a:t> events that have a </a:t>
            </a:r>
            <a:r>
              <a:rPr lang="en-AU" sz="4400" b="1" dirty="0"/>
              <a:t>duration</a:t>
            </a:r>
            <a:r>
              <a:rPr lang="en-AU" sz="4400" dirty="0"/>
              <a:t> of approximately:</a:t>
            </a:r>
          </a:p>
          <a:p>
            <a:pPr marL="285750" indent="-285750" algn="ctr">
              <a:lnSpc>
                <a:spcPct val="150000"/>
              </a:lnSpc>
              <a:buFont typeface="Arial" panose="020B0604020202020204" pitchFamily="34" charset="0"/>
              <a:buChar char="•"/>
            </a:pPr>
            <a:r>
              <a:rPr lang="en-AU" sz="4400" dirty="0"/>
              <a:t>1 minute</a:t>
            </a:r>
          </a:p>
          <a:p>
            <a:pPr marL="285750" indent="-285750" algn="ctr">
              <a:lnSpc>
                <a:spcPct val="150000"/>
              </a:lnSpc>
              <a:buFont typeface="Arial" panose="020B0604020202020204" pitchFamily="34" charset="0"/>
              <a:buChar char="•"/>
            </a:pPr>
            <a:r>
              <a:rPr lang="en-AU" sz="4400" dirty="0"/>
              <a:t>5 minutes</a:t>
            </a:r>
          </a:p>
          <a:p>
            <a:pPr marL="285750" indent="-285750" algn="ctr">
              <a:lnSpc>
                <a:spcPct val="150000"/>
              </a:lnSpc>
              <a:buFont typeface="Arial" panose="020B0604020202020204" pitchFamily="34" charset="0"/>
              <a:buChar char="•"/>
            </a:pPr>
            <a:r>
              <a:rPr lang="en-AU" sz="4400" dirty="0"/>
              <a:t>20 minutes</a:t>
            </a:r>
          </a:p>
          <a:p>
            <a:pPr algn="ctr">
              <a:lnSpc>
                <a:spcPct val="150000"/>
              </a:lnSpc>
            </a:pPr>
            <a:r>
              <a:rPr lang="en-AU" sz="4400" b="1" dirty="0"/>
              <a:t>Communicate </a:t>
            </a:r>
            <a:r>
              <a:rPr lang="en-AU" sz="4400" dirty="0"/>
              <a:t>your</a:t>
            </a:r>
            <a:r>
              <a:rPr lang="en-AU" sz="4400" b="1" dirty="0"/>
              <a:t> reasoning</a:t>
            </a:r>
            <a:r>
              <a:rPr lang="en-AU" sz="4400" dirty="0"/>
              <a:t>.</a:t>
            </a:r>
          </a:p>
          <a:p>
            <a:pPr marL="285750" indent="-285750" algn="l">
              <a:lnSpc>
                <a:spcPct val="150000"/>
              </a:lnSpc>
              <a:buFont typeface="Arial" panose="020B0604020202020204" pitchFamily="34" charset="0"/>
              <a:buChar char="•"/>
            </a:pPr>
            <a:endParaRPr lang="en-AU" sz="4400" dirty="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65847C4F-42CD-258A-DFA6-2C6D605AA3E3}"/>
              </a:ext>
            </a:extLst>
          </p:cNvPr>
          <p:cNvSpPr txBox="1"/>
          <p:nvPr/>
        </p:nvSpPr>
        <p:spPr>
          <a:xfrm>
            <a:off x="665607" y="1583817"/>
            <a:ext cx="10680192" cy="2377440"/>
          </a:xfrm>
          <a:prstGeom prst="rect">
            <a:avLst/>
          </a:prstGeom>
          <a:noFill/>
        </p:spPr>
        <p:txBody>
          <a:bodyPr wrap="square" lIns="0" tIns="0" rIns="0" bIns="0" rtlCol="0">
            <a:noAutofit/>
          </a:bodyPr>
          <a:lstStyle/>
          <a:p>
            <a:pPr algn="ctr"/>
            <a:r>
              <a:rPr lang="en-AU" sz="4400" b="1" dirty="0"/>
              <a:t>Record</a:t>
            </a:r>
            <a:r>
              <a:rPr lang="en-AU" sz="4400" dirty="0"/>
              <a:t> an event that is </a:t>
            </a:r>
            <a:r>
              <a:rPr lang="en-AU" sz="4400" b="1" dirty="0"/>
              <a:t>likely</a:t>
            </a:r>
            <a:r>
              <a:rPr lang="en-AU" sz="4400" dirty="0"/>
              <a:t> to happen </a:t>
            </a:r>
            <a:r>
              <a:rPr lang="en-AU" sz="4400" b="1" dirty="0"/>
              <a:t>today</a:t>
            </a:r>
            <a:r>
              <a:rPr lang="en-AU" sz="4400" dirty="0"/>
              <a:t>.</a:t>
            </a:r>
          </a:p>
          <a:p>
            <a:pPr algn="ctr"/>
            <a:endParaRPr lang="en-AU" sz="4400" dirty="0"/>
          </a:p>
          <a:p>
            <a:pPr algn="ctr"/>
            <a:r>
              <a:rPr lang="en-AU" sz="4400" b="1" dirty="0"/>
              <a:t>Record</a:t>
            </a:r>
            <a:r>
              <a:rPr lang="en-AU" sz="4400" dirty="0"/>
              <a:t> an event that is </a:t>
            </a:r>
            <a:r>
              <a:rPr lang="en-AU" sz="4400" b="1" dirty="0"/>
              <a:t>unlikely</a:t>
            </a:r>
            <a:r>
              <a:rPr lang="en-AU" sz="4400" dirty="0"/>
              <a:t> to happen </a:t>
            </a:r>
            <a:r>
              <a:rPr lang="en-AU" sz="4400" b="1" dirty="0"/>
              <a:t>today.</a:t>
            </a:r>
          </a:p>
          <a:p>
            <a:pPr algn="ctr"/>
            <a:endParaRPr lang="en-AU" sz="4400" b="1" dirty="0"/>
          </a:p>
          <a:p>
            <a:pPr algn="ctr"/>
            <a:r>
              <a:rPr lang="en-AU" sz="4400" b="1" dirty="0"/>
              <a:t>Communicate </a:t>
            </a:r>
            <a:r>
              <a:rPr lang="en-AU" sz="4400" dirty="0"/>
              <a:t>your</a:t>
            </a:r>
            <a:r>
              <a:rPr lang="en-AU" sz="4400" b="1" dirty="0"/>
              <a:t> reasoning</a:t>
            </a:r>
            <a:r>
              <a:rPr lang="en-AU" sz="4400" dirty="0"/>
              <a:t>.</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dirty="0"/>
              <a:t>Activity 7 – number patterns</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7F119C2F-7064-8929-366F-C570FC65FD91}"/>
              </a:ext>
            </a:extLst>
          </p:cNvPr>
          <p:cNvSpPr txBox="1"/>
          <p:nvPr/>
        </p:nvSpPr>
        <p:spPr>
          <a:xfrm>
            <a:off x="304801" y="905601"/>
            <a:ext cx="11887199" cy="5904180"/>
          </a:xfrm>
          <a:prstGeom prst="rect">
            <a:avLst/>
          </a:prstGeom>
          <a:noFill/>
        </p:spPr>
        <p:txBody>
          <a:bodyPr wrap="square" lIns="91440" tIns="45720" rIns="91440" bIns="45720" anchor="t">
            <a:spAutoFit/>
          </a:bodyPr>
          <a:lstStyle/>
          <a:p>
            <a:pPr lvl="0" algn="ctr">
              <a:lnSpc>
                <a:spcPct val="150000"/>
              </a:lnSpc>
              <a:spcBef>
                <a:spcPts val="1200"/>
              </a:spcBef>
            </a:pPr>
            <a:r>
              <a:rPr lang="en-AU" sz="3600" dirty="0">
                <a:effectLst/>
                <a:latin typeface="Arial" panose="020B0604020202020204" pitchFamily="34" charset="0"/>
                <a:ea typeface="Calibri" panose="020F0502020204030204" pitchFamily="34" charset="0"/>
              </a:rPr>
              <a:t>66, 63, 60, 57, 54</a:t>
            </a:r>
          </a:p>
          <a:p>
            <a:pPr lvl="0" algn="ctr">
              <a:lnSpc>
                <a:spcPct val="150000"/>
              </a:lnSpc>
            </a:pPr>
            <a:r>
              <a:rPr lang="en-AU" sz="3600" dirty="0">
                <a:effectLst/>
                <a:latin typeface="Arial" panose="020B0604020202020204" pitchFamily="34" charset="0"/>
                <a:ea typeface="Calibri" panose="020F0502020204030204" pitchFamily="34" charset="0"/>
              </a:rPr>
              <a:t>75, 80, 85, 90, 95</a:t>
            </a:r>
          </a:p>
          <a:p>
            <a:pPr lvl="0" algn="ctr">
              <a:lnSpc>
                <a:spcPct val="150000"/>
              </a:lnSpc>
            </a:pPr>
            <a:r>
              <a:rPr lang="en-AU" sz="3600" dirty="0">
                <a:effectLst/>
                <a:latin typeface="Arial"/>
                <a:ea typeface="Calibri"/>
                <a:cs typeface="Arial"/>
              </a:rPr>
              <a:t>110, 108, 106, 104, 102</a:t>
            </a:r>
          </a:p>
          <a:p>
            <a:pPr lvl="0" algn="ctr">
              <a:lnSpc>
                <a:spcPct val="150000"/>
              </a:lnSpc>
            </a:pPr>
            <a:endParaRPr lang="en-AU" sz="1600" dirty="0">
              <a:latin typeface="Arial"/>
              <a:ea typeface="Calibri"/>
              <a:cs typeface="Arial"/>
            </a:endParaRPr>
          </a:p>
          <a:p>
            <a:pPr marL="342900" indent="-342900">
              <a:lnSpc>
                <a:spcPct val="150000"/>
              </a:lnSpc>
              <a:buFont typeface="Arial" panose="020B0604020202020204" pitchFamily="34" charset="0"/>
              <a:buChar char="•"/>
            </a:pPr>
            <a:r>
              <a:rPr lang="en-AU" sz="2800" b="1" dirty="0">
                <a:latin typeface="Arial" panose="020B0604020202020204" pitchFamily="34" charset="0"/>
                <a:ea typeface="Calibri" panose="020F0502020204030204" pitchFamily="34" charset="0"/>
              </a:rPr>
              <a:t>C</a:t>
            </a:r>
            <a:r>
              <a:rPr lang="en-AU" sz="2800" b="1" dirty="0">
                <a:effectLst/>
                <a:latin typeface="Arial" panose="020B0604020202020204" pitchFamily="34" charset="0"/>
                <a:ea typeface="Calibri" panose="020F0502020204030204" pitchFamily="34" charset="0"/>
              </a:rPr>
              <a:t>reate</a:t>
            </a:r>
            <a:r>
              <a:rPr lang="en-AU" sz="2800" dirty="0">
                <a:effectLst/>
                <a:latin typeface="Arial" panose="020B0604020202020204" pitchFamily="34" charset="0"/>
                <a:ea typeface="Calibri" panose="020F0502020204030204" pitchFamily="34" charset="0"/>
              </a:rPr>
              <a:t> and </a:t>
            </a:r>
            <a:r>
              <a:rPr lang="en-AU" sz="2800" b="1" dirty="0">
                <a:effectLst/>
                <a:latin typeface="Arial" panose="020B0604020202020204" pitchFamily="34" charset="0"/>
                <a:ea typeface="Calibri" panose="020F0502020204030204" pitchFamily="34" charset="0"/>
              </a:rPr>
              <a:t>record</a:t>
            </a:r>
            <a:r>
              <a:rPr lang="en-AU" sz="2800" dirty="0">
                <a:effectLst/>
                <a:latin typeface="Arial" panose="020B0604020202020204" pitchFamily="34" charset="0"/>
                <a:ea typeface="Calibri" panose="020F0502020204030204" pitchFamily="34" charset="0"/>
              </a:rPr>
              <a:t> your own number patterns that </a:t>
            </a:r>
            <a:r>
              <a:rPr lang="en-AU" sz="2800" b="1" dirty="0">
                <a:effectLst/>
                <a:latin typeface="Arial" panose="020B0604020202020204" pitchFamily="34" charset="0"/>
                <a:ea typeface="Calibri" panose="020F0502020204030204" pitchFamily="34" charset="0"/>
              </a:rPr>
              <a:t>increase or decrease </a:t>
            </a:r>
            <a:r>
              <a:rPr lang="en-AU" sz="2800" dirty="0">
                <a:effectLst/>
                <a:latin typeface="Arial" panose="020B0604020202020204" pitchFamily="34" charset="0"/>
                <a:ea typeface="Calibri" panose="020F0502020204030204" pitchFamily="34" charset="0"/>
              </a:rPr>
              <a:t>by any number under 12.</a:t>
            </a:r>
          </a:p>
          <a:p>
            <a:pPr marL="342900" indent="-342900">
              <a:lnSpc>
                <a:spcPct val="150000"/>
              </a:lnSpc>
              <a:buFont typeface="Arial" panose="020B0604020202020204" pitchFamily="34" charset="0"/>
              <a:buChar char="•"/>
            </a:pPr>
            <a:r>
              <a:rPr lang="en-AU" sz="2800" dirty="0">
                <a:effectLst/>
                <a:latin typeface="Arial" panose="020B0604020202020204" pitchFamily="34" charset="0"/>
                <a:ea typeface="Calibri" panose="020F0502020204030204" pitchFamily="34" charset="0"/>
              </a:rPr>
              <a:t>G</a:t>
            </a:r>
            <a:r>
              <a:rPr lang="en-AU" sz="2800">
                <a:effectLst/>
                <a:latin typeface="Arial" panose="020B0604020202020204" pitchFamily="34" charset="0"/>
                <a:ea typeface="Calibri" panose="020F0502020204030204" pitchFamily="34" charset="0"/>
              </a:rPr>
              <a:t>ive</a:t>
            </a:r>
            <a:r>
              <a:rPr lang="en-AU" sz="2800" dirty="0">
                <a:effectLst/>
                <a:latin typeface="Arial" panose="020B0604020202020204" pitchFamily="34" charset="0"/>
                <a:ea typeface="Calibri" panose="020F0502020204030204" pitchFamily="34" charset="0"/>
              </a:rPr>
              <a:t> your pattern to a partner and ask them to </a:t>
            </a:r>
            <a:r>
              <a:rPr lang="en-AU" sz="2800" b="1" dirty="0">
                <a:effectLst/>
                <a:latin typeface="Arial" panose="020B0604020202020204" pitchFamily="34" charset="0"/>
                <a:ea typeface="Calibri" panose="020F0502020204030204" pitchFamily="34" charset="0"/>
              </a:rPr>
              <a:t>describe the pattern </a:t>
            </a:r>
            <a:r>
              <a:rPr lang="en-AU" sz="2800" dirty="0">
                <a:effectLst/>
                <a:latin typeface="Arial" panose="020B0604020202020204" pitchFamily="34" charset="0"/>
                <a:ea typeface="Calibri" panose="020F0502020204030204" pitchFamily="34" charset="0"/>
              </a:rPr>
              <a:t>and </a:t>
            </a:r>
            <a:r>
              <a:rPr lang="en-AU" sz="2800" b="1" dirty="0">
                <a:effectLst/>
                <a:latin typeface="Arial" panose="020B0604020202020204" pitchFamily="34" charset="0"/>
                <a:ea typeface="Calibri" panose="020F0502020204030204" pitchFamily="34" charset="0"/>
              </a:rPr>
              <a:t>record</a:t>
            </a:r>
            <a:r>
              <a:rPr lang="en-AU" sz="2800" dirty="0">
                <a:effectLst/>
                <a:latin typeface="Arial" panose="020B0604020202020204" pitchFamily="34" charset="0"/>
                <a:ea typeface="Calibri" panose="020F0502020204030204" pitchFamily="34" charset="0"/>
              </a:rPr>
              <a:t> the next 3 numbers</a:t>
            </a:r>
            <a:r>
              <a:rPr lang="en-AU" dirty="0">
                <a:effectLst/>
                <a:latin typeface="Arial" panose="020B0604020202020204" pitchFamily="34" charset="0"/>
                <a:ea typeface="Calibri" panose="020F0502020204030204" pitchFamily="34" charset="0"/>
              </a:rPr>
              <a:t>.</a:t>
            </a:r>
          </a:p>
          <a:p>
            <a:pPr>
              <a:lnSpc>
                <a:spcPct val="150000"/>
              </a:lnSpc>
            </a:pPr>
            <a:endParaRPr lang="en-AU" sz="1800" dirty="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dirty="0">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p:txBody>
          <a:bodyPr/>
          <a:lstStyle/>
          <a:p>
            <a:pPr algn="ctr"/>
            <a:r>
              <a:rPr lang="en-AU" sz="4400" dirty="0"/>
              <a:t>The following number pattern is </a:t>
            </a:r>
            <a:r>
              <a:rPr lang="en-AU" sz="4400" b="1" dirty="0"/>
              <a:t>decreasing </a:t>
            </a:r>
            <a:r>
              <a:rPr lang="en-AU" sz="4400" dirty="0"/>
              <a:t>by a </a:t>
            </a:r>
            <a:r>
              <a:rPr lang="en-AU" sz="4400" b="1" dirty="0"/>
              <a:t>constant amount</a:t>
            </a:r>
            <a:r>
              <a:rPr lang="en-AU" sz="4400" dirty="0"/>
              <a:t>.</a:t>
            </a:r>
          </a:p>
          <a:p>
            <a:pPr algn="ctr"/>
            <a:r>
              <a:rPr lang="en-AU" sz="4400" dirty="0"/>
              <a:t>85, 80, 75, 70, 65</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131559334"/>
              </p:ext>
            </p:extLst>
          </p:nvPr>
        </p:nvGraphicFramePr>
        <p:xfrm>
          <a:off x="2442980" y="541984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636019A-75DA-FE94-2098-D975781B12B2}"/>
              </a:ext>
            </a:extLst>
          </p:cNvPr>
          <p:cNvSpPr txBox="1"/>
          <p:nvPr/>
        </p:nvSpPr>
        <p:spPr>
          <a:xfrm>
            <a:off x="152400" y="1500554"/>
            <a:ext cx="12039600" cy="3458307"/>
          </a:xfrm>
          <a:prstGeom prst="rect">
            <a:avLst/>
          </a:prstGeom>
          <a:noFill/>
        </p:spPr>
        <p:txBody>
          <a:bodyPr wrap="square" lIns="0" tIns="0" rIns="0" bIns="0" rtlCol="0">
            <a:noAutofit/>
          </a:bodyPr>
          <a:lstStyle/>
          <a:p>
            <a:pPr algn="ctr">
              <a:lnSpc>
                <a:spcPct val="150000"/>
              </a:lnSpc>
            </a:pPr>
            <a:r>
              <a:rPr lang="en-AU" sz="4400" dirty="0"/>
              <a:t>The school canteen is </a:t>
            </a:r>
            <a:r>
              <a:rPr lang="en-AU" sz="4400" b="1" dirty="0"/>
              <a:t>collecting data </a:t>
            </a:r>
            <a:r>
              <a:rPr lang="en-AU" sz="4400" dirty="0"/>
              <a:t>from students by asking them about their favourite lunch choices.</a:t>
            </a:r>
          </a:p>
          <a:p>
            <a:pPr algn="ctr">
              <a:lnSpc>
                <a:spcPct val="150000"/>
              </a:lnSpc>
            </a:pPr>
            <a:r>
              <a:rPr lang="en-AU" sz="4400" b="1" dirty="0"/>
              <a:t>Explain</a:t>
            </a:r>
            <a:r>
              <a:rPr lang="en-AU" sz="4400" dirty="0"/>
              <a:t> how this data could be used to help </a:t>
            </a:r>
            <a:r>
              <a:rPr lang="en-AU" sz="4400" b="1" dirty="0"/>
              <a:t>make</a:t>
            </a:r>
            <a:r>
              <a:rPr lang="en-AU" sz="4400" dirty="0"/>
              <a:t> </a:t>
            </a:r>
            <a:r>
              <a:rPr lang="en-AU" sz="4400" b="1" dirty="0"/>
              <a:t>decisions</a:t>
            </a:r>
            <a:r>
              <a:rPr lang="en-AU" sz="4400" dirty="0"/>
              <a:t>.</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31" name="TextBox 30">
            <a:extLst>
              <a:ext uri="{FF2B5EF4-FFF2-40B4-BE49-F238E27FC236}">
                <a16:creationId xmlns:a16="http://schemas.microsoft.com/office/drawing/2014/main" id="{2EA642D6-C900-E20E-7CCD-939C73DD3EA2}"/>
              </a:ext>
            </a:extLst>
          </p:cNvPr>
          <p:cNvSpPr txBox="1"/>
          <p:nvPr/>
        </p:nvSpPr>
        <p:spPr>
          <a:xfrm>
            <a:off x="1650125" y="2113436"/>
            <a:ext cx="9112471" cy="1639611"/>
          </a:xfrm>
          <a:prstGeom prst="rect">
            <a:avLst/>
          </a:prstGeom>
          <a:noFill/>
        </p:spPr>
        <p:txBody>
          <a:bodyPr wrap="square" lIns="0" tIns="0" rIns="0" bIns="0" rtlCol="0">
            <a:noAutofit/>
          </a:bodyPr>
          <a:lstStyle/>
          <a:p>
            <a:pPr algn="ctr"/>
            <a:r>
              <a:rPr lang="en-AU" sz="4400" b="1" dirty="0"/>
              <a:t>Record</a:t>
            </a:r>
            <a:r>
              <a:rPr lang="en-AU" sz="4400" dirty="0"/>
              <a:t> the </a:t>
            </a:r>
            <a:r>
              <a:rPr lang="en-AU" sz="4400" b="1" dirty="0"/>
              <a:t>fraction</a:t>
            </a:r>
            <a:r>
              <a:rPr lang="en-AU" sz="4400" dirty="0"/>
              <a:t> shown.</a:t>
            </a:r>
          </a:p>
        </p:txBody>
      </p:sp>
      <p:grpSp>
        <p:nvGrpSpPr>
          <p:cNvPr id="12" name="Group 11" descr="A fraction strip of one and one quatrer overlayed onto a number line.">
            <a:extLst>
              <a:ext uri="{FF2B5EF4-FFF2-40B4-BE49-F238E27FC236}">
                <a16:creationId xmlns:a16="http://schemas.microsoft.com/office/drawing/2014/main" id="{A7E6663E-0D31-9B1A-8F62-4E4E0A0A6A3F}"/>
              </a:ext>
            </a:extLst>
          </p:cNvPr>
          <p:cNvGrpSpPr/>
          <p:nvPr/>
        </p:nvGrpSpPr>
        <p:grpSpPr>
          <a:xfrm>
            <a:off x="1114095" y="4204137"/>
            <a:ext cx="10478815" cy="1456171"/>
            <a:chOff x="1114095" y="4204137"/>
            <a:chExt cx="10478815" cy="1456171"/>
          </a:xfrm>
        </p:grpSpPr>
        <p:sp>
          <p:nvSpPr>
            <p:cNvPr id="15" name="Rectangle 14">
              <a:extLst>
                <a:ext uri="{FF2B5EF4-FFF2-40B4-BE49-F238E27FC236}">
                  <a16:creationId xmlns:a16="http://schemas.microsoft.com/office/drawing/2014/main" id="{6E58E5D2-4D15-BAA1-F5DD-4C4392005DCD}"/>
                </a:ext>
              </a:extLst>
            </p:cNvPr>
            <p:cNvSpPr/>
            <p:nvPr/>
          </p:nvSpPr>
          <p:spPr>
            <a:xfrm>
              <a:off x="10107157" y="4204138"/>
              <a:ext cx="1240221" cy="75674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2FF4F45B-660A-EE7C-1F56-8AF4634D139F}"/>
                </a:ext>
              </a:extLst>
            </p:cNvPr>
            <p:cNvSpPr/>
            <p:nvPr/>
          </p:nvSpPr>
          <p:spPr>
            <a:xfrm>
              <a:off x="8858324" y="4204137"/>
              <a:ext cx="1240221" cy="7567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86F62A82-89F2-9554-55C7-79A92A1229CF}"/>
                </a:ext>
              </a:extLst>
            </p:cNvPr>
            <p:cNvSpPr/>
            <p:nvPr/>
          </p:nvSpPr>
          <p:spPr>
            <a:xfrm>
              <a:off x="1324303" y="4204138"/>
              <a:ext cx="1240221" cy="7567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AD5889B2-74B8-9F15-03CA-649315E7576E}"/>
                </a:ext>
              </a:extLst>
            </p:cNvPr>
            <p:cNvSpPr/>
            <p:nvPr/>
          </p:nvSpPr>
          <p:spPr>
            <a:xfrm>
              <a:off x="2564524" y="4204138"/>
              <a:ext cx="1240221" cy="7567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BE893466-4A1A-C433-5D23-AE2885723EE7}"/>
                </a:ext>
              </a:extLst>
            </p:cNvPr>
            <p:cNvSpPr/>
            <p:nvPr/>
          </p:nvSpPr>
          <p:spPr>
            <a:xfrm>
              <a:off x="5044966" y="4204138"/>
              <a:ext cx="1240221" cy="7567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7F3C467C-9D7B-7735-7F6C-0556AE258811}"/>
                </a:ext>
              </a:extLst>
            </p:cNvPr>
            <p:cNvSpPr/>
            <p:nvPr/>
          </p:nvSpPr>
          <p:spPr>
            <a:xfrm>
              <a:off x="3804745" y="4204138"/>
              <a:ext cx="1240221" cy="7567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53862AF7-4179-7C8E-2917-9251272E27D9}"/>
                </a:ext>
              </a:extLst>
            </p:cNvPr>
            <p:cNvSpPr/>
            <p:nvPr/>
          </p:nvSpPr>
          <p:spPr>
            <a:xfrm>
              <a:off x="6369270" y="4204138"/>
              <a:ext cx="1240221" cy="756744"/>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E6692A9F-FE66-9389-DF90-C93FFF4E9383}"/>
                </a:ext>
              </a:extLst>
            </p:cNvPr>
            <p:cNvSpPr/>
            <p:nvPr/>
          </p:nvSpPr>
          <p:spPr>
            <a:xfrm>
              <a:off x="7609491" y="4204138"/>
              <a:ext cx="1240221" cy="75674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Arrow Connector 10">
              <a:extLst>
                <a:ext uri="{FF2B5EF4-FFF2-40B4-BE49-F238E27FC236}">
                  <a16:creationId xmlns:a16="http://schemas.microsoft.com/office/drawing/2014/main" id="{12E3D45C-D414-CE14-1E29-E1FCA86AEB25}"/>
                </a:ext>
              </a:extLst>
            </p:cNvPr>
            <p:cNvCxnSpPr>
              <a:cxnSpLocks/>
            </p:cNvCxnSpPr>
            <p:nvPr/>
          </p:nvCxnSpPr>
          <p:spPr>
            <a:xfrm>
              <a:off x="1177159" y="4960882"/>
              <a:ext cx="10415751"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10CC32F-B8E7-330D-0B22-6294AC17B801}"/>
                    </a:ext>
                  </a:extLst>
                </p:cNvPr>
                <p:cNvSpPr txBox="1"/>
                <p:nvPr/>
              </p:nvSpPr>
              <p:spPr>
                <a:xfrm>
                  <a:off x="6117022" y="5121283"/>
                  <a:ext cx="34684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2400" i="1" smtClean="0">
                            <a:latin typeface="Cambria Math" panose="02040503050406030204" pitchFamily="18" charset="0"/>
                          </a:rPr>
                          <m:t>1</m:t>
                        </m:r>
                      </m:oMath>
                    </m:oMathPara>
                  </a14:m>
                  <a:endParaRPr lang="en-AU" dirty="0"/>
                </a:p>
              </p:txBody>
            </p:sp>
          </mc:Choice>
          <mc:Fallback xmlns="">
            <p:sp>
              <p:nvSpPr>
                <p:cNvPr id="25" name="TextBox 24">
                  <a:extLst>
                    <a:ext uri="{FF2B5EF4-FFF2-40B4-BE49-F238E27FC236}">
                      <a16:creationId xmlns:a16="http://schemas.microsoft.com/office/drawing/2014/main" id="{410CC32F-B8E7-330D-0B22-6294AC17B801}"/>
                    </a:ext>
                  </a:extLst>
                </p:cNvPr>
                <p:cNvSpPr txBox="1">
                  <a:spLocks noRot="1" noChangeAspect="1" noMove="1" noResize="1" noEditPoints="1" noAdjustHandles="1" noChangeArrowheads="1" noChangeShapeType="1" noTextEdit="1"/>
                </p:cNvSpPr>
                <p:nvPr/>
              </p:nvSpPr>
              <p:spPr>
                <a:xfrm>
                  <a:off x="6117022" y="5121283"/>
                  <a:ext cx="346841" cy="461665"/>
                </a:xfrm>
                <a:prstGeom prst="rect">
                  <a:avLst/>
                </a:prstGeom>
                <a:blipFill>
                  <a:blip r:embed="rId4"/>
                  <a:stretch>
                    <a:fillRect l="-3509" r="-7018"/>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396EFED-5D57-E2CA-238D-38E92A902CC2}"/>
                    </a:ext>
                  </a:extLst>
                </p:cNvPr>
                <p:cNvSpPr txBox="1"/>
                <p:nvPr/>
              </p:nvSpPr>
              <p:spPr>
                <a:xfrm>
                  <a:off x="1114095" y="5178214"/>
                  <a:ext cx="34684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0</m:t>
                        </m:r>
                      </m:oMath>
                    </m:oMathPara>
                  </a14:m>
                  <a:endParaRPr lang="en-AU" dirty="0"/>
                </a:p>
              </p:txBody>
            </p:sp>
          </mc:Choice>
          <mc:Fallback xmlns="">
            <p:sp>
              <p:nvSpPr>
                <p:cNvPr id="26" name="TextBox 25">
                  <a:extLst>
                    <a:ext uri="{FF2B5EF4-FFF2-40B4-BE49-F238E27FC236}">
                      <a16:creationId xmlns:a16="http://schemas.microsoft.com/office/drawing/2014/main" id="{2396EFED-5D57-E2CA-238D-38E92A902CC2}"/>
                    </a:ext>
                  </a:extLst>
                </p:cNvPr>
                <p:cNvSpPr txBox="1">
                  <a:spLocks noRot="1" noChangeAspect="1" noMove="1" noResize="1" noEditPoints="1" noAdjustHandles="1" noChangeArrowheads="1" noChangeShapeType="1" noTextEdit="1"/>
                </p:cNvSpPr>
                <p:nvPr/>
              </p:nvSpPr>
              <p:spPr>
                <a:xfrm>
                  <a:off x="1114095" y="5178214"/>
                  <a:ext cx="346841" cy="461665"/>
                </a:xfrm>
                <a:prstGeom prst="rect">
                  <a:avLst/>
                </a:prstGeom>
                <a:blipFill>
                  <a:blip r:embed="rId5"/>
                  <a:stretch>
                    <a:fillRect l="-5263" r="-5263"/>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9B99257-049E-2966-5240-DDBFE0E5110A}"/>
                    </a:ext>
                  </a:extLst>
                </p:cNvPr>
                <p:cNvSpPr txBox="1"/>
                <p:nvPr/>
              </p:nvSpPr>
              <p:spPr>
                <a:xfrm>
                  <a:off x="11246069" y="5198643"/>
                  <a:ext cx="346841"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2</m:t>
                        </m:r>
                      </m:oMath>
                    </m:oMathPara>
                  </a14:m>
                  <a:endParaRPr lang="en-AU" dirty="0"/>
                </a:p>
              </p:txBody>
            </p:sp>
          </mc:Choice>
          <mc:Fallback xmlns="">
            <p:sp>
              <p:nvSpPr>
                <p:cNvPr id="27" name="TextBox 26">
                  <a:extLst>
                    <a:ext uri="{FF2B5EF4-FFF2-40B4-BE49-F238E27FC236}">
                      <a16:creationId xmlns:a16="http://schemas.microsoft.com/office/drawing/2014/main" id="{09B99257-049E-2966-5240-DDBFE0E5110A}"/>
                    </a:ext>
                  </a:extLst>
                </p:cNvPr>
                <p:cNvSpPr txBox="1">
                  <a:spLocks noRot="1" noChangeAspect="1" noMove="1" noResize="1" noEditPoints="1" noAdjustHandles="1" noChangeArrowheads="1" noChangeShapeType="1" noTextEdit="1"/>
                </p:cNvSpPr>
                <p:nvPr/>
              </p:nvSpPr>
              <p:spPr>
                <a:xfrm>
                  <a:off x="11246069" y="5198643"/>
                  <a:ext cx="346841" cy="461665"/>
                </a:xfrm>
                <a:prstGeom prst="rect">
                  <a:avLst/>
                </a:prstGeom>
                <a:blipFill>
                  <a:blip r:embed="rId6"/>
                  <a:stretch>
                    <a:fillRect l="-5263" r="-5263"/>
                  </a:stretch>
                </a:blipFill>
              </p:spPr>
              <p:txBody>
                <a:bodyPr/>
                <a:lstStyle/>
                <a:p>
                  <a:r>
                    <a:rPr lang="en-AU">
                      <a:noFill/>
                    </a:rPr>
                    <a:t> </a:t>
                  </a:r>
                </a:p>
              </p:txBody>
            </p:sp>
          </mc:Fallback>
        </mc:AlternateContent>
      </p:gr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F84ED97-DBD0-AB9A-53FC-1B0B7DB13AA9}"/>
              </a:ext>
            </a:extLst>
          </p:cNvPr>
          <p:cNvSpPr txBox="1"/>
          <p:nvPr/>
        </p:nvSpPr>
        <p:spPr>
          <a:xfrm>
            <a:off x="508000" y="1361594"/>
            <a:ext cx="11437976" cy="3689131"/>
          </a:xfrm>
          <a:prstGeom prst="rect">
            <a:avLst/>
          </a:prstGeom>
          <a:noFill/>
        </p:spPr>
        <p:txBody>
          <a:bodyPr wrap="square" lIns="0" tIns="0" rIns="0" bIns="0" rtlCol="0">
            <a:noAutofit/>
          </a:bodyPr>
          <a:lstStyle/>
          <a:p>
            <a:pPr algn="l">
              <a:lnSpc>
                <a:spcPct val="150000"/>
              </a:lnSpc>
              <a:spcAft>
                <a:spcPts val="1200"/>
              </a:spcAft>
            </a:pPr>
            <a:r>
              <a:rPr lang="en-AU" sz="4400" b="1" dirty="0"/>
              <a:t>Complete</a:t>
            </a:r>
            <a:r>
              <a:rPr lang="en-AU" sz="4400" dirty="0"/>
              <a:t> the sentences:</a:t>
            </a:r>
          </a:p>
          <a:p>
            <a:pPr marL="457200" indent="-457200" algn="l">
              <a:lnSpc>
                <a:spcPct val="150000"/>
              </a:lnSpc>
              <a:spcAft>
                <a:spcPts val="1200"/>
              </a:spcAft>
              <a:buFont typeface="Arial" panose="020B0604020202020204" pitchFamily="34" charset="0"/>
              <a:buChar char="•"/>
            </a:pPr>
            <a:r>
              <a:rPr lang="en-AU" sz="4400" dirty="0"/>
              <a:t>A </a:t>
            </a:r>
            <a:r>
              <a:rPr lang="en-AU" sz="4400" b="1" dirty="0"/>
              <a:t>quarter-hour </a:t>
            </a:r>
            <a:r>
              <a:rPr lang="en-AU" sz="4400" dirty="0"/>
              <a:t>is the same as ___ minutes.</a:t>
            </a:r>
          </a:p>
          <a:p>
            <a:pPr marL="457200" indent="-457200">
              <a:lnSpc>
                <a:spcPct val="150000"/>
              </a:lnSpc>
              <a:spcAft>
                <a:spcPts val="1200"/>
              </a:spcAft>
              <a:buFont typeface="Arial" panose="020B0604020202020204" pitchFamily="34" charset="0"/>
              <a:buChar char="•"/>
            </a:pPr>
            <a:r>
              <a:rPr lang="en-AU" sz="4400" dirty="0"/>
              <a:t>A</a:t>
            </a:r>
            <a:r>
              <a:rPr lang="en-AU" sz="4400" b="1" dirty="0"/>
              <a:t> half-hour </a:t>
            </a:r>
            <a:r>
              <a:rPr lang="en-AU" sz="4400" dirty="0"/>
              <a:t>is the same as ___ minutes. </a:t>
            </a:r>
          </a:p>
          <a:p>
            <a:pPr marL="457200" indent="-457200">
              <a:lnSpc>
                <a:spcPct val="150000"/>
              </a:lnSpc>
              <a:spcAft>
                <a:spcPts val="1200"/>
              </a:spcAft>
              <a:buFont typeface="Arial" panose="020B0604020202020204" pitchFamily="34" charset="0"/>
              <a:buChar char="•"/>
            </a:pPr>
            <a:r>
              <a:rPr lang="en-AU" sz="4400" dirty="0"/>
              <a:t>An</a:t>
            </a:r>
            <a:r>
              <a:rPr lang="en-AU" sz="4400" b="1" dirty="0"/>
              <a:t> hour </a:t>
            </a:r>
            <a:r>
              <a:rPr lang="en-AU" sz="4400" dirty="0"/>
              <a:t>is the same as ___ minutes.</a:t>
            </a:r>
          </a:p>
          <a:p>
            <a:pPr algn="l"/>
            <a:endParaRPr lang="en-AU" sz="1800" dirty="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6045974-7224-DED3-CA05-B21EBE674BFC}"/>
              </a:ext>
            </a:extLst>
          </p:cNvPr>
          <p:cNvSpPr txBox="1"/>
          <p:nvPr/>
        </p:nvSpPr>
        <p:spPr>
          <a:xfrm>
            <a:off x="972804" y="2379218"/>
            <a:ext cx="9922596" cy="2099564"/>
          </a:xfrm>
          <a:prstGeom prst="rect">
            <a:avLst/>
          </a:prstGeom>
          <a:noFill/>
        </p:spPr>
        <p:txBody>
          <a:bodyPr wrap="square" lIns="0" tIns="0" rIns="0" bIns="0" rtlCol="0">
            <a:noAutofit/>
          </a:bodyPr>
          <a:lstStyle/>
          <a:p>
            <a:pPr algn="ctr">
              <a:lnSpc>
                <a:spcPct val="150000"/>
              </a:lnSpc>
            </a:pPr>
            <a:r>
              <a:rPr lang="en-AU" sz="4400" b="1" dirty="0"/>
              <a:t>Draw</a:t>
            </a:r>
            <a:r>
              <a:rPr lang="en-AU" sz="4400" dirty="0"/>
              <a:t> a clock face showing</a:t>
            </a:r>
          </a:p>
          <a:p>
            <a:pPr algn="ctr">
              <a:lnSpc>
                <a:spcPct val="150000"/>
              </a:lnSpc>
            </a:pPr>
            <a:r>
              <a:rPr lang="en-AU" sz="4400" dirty="0"/>
              <a:t>a </a:t>
            </a:r>
            <a:r>
              <a:rPr lang="en-AU" sz="4400" b="1" dirty="0"/>
              <a:t>quarter past 6</a:t>
            </a:r>
            <a:r>
              <a:rPr lang="en-AU" sz="4400" dirty="0"/>
              <a:t>.</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dirty="0"/>
              <a:t>Activity 8 – patterns that increase and decrease</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 row of houses with numbers&#10;">
            <a:extLst>
              <a:ext uri="{FF2B5EF4-FFF2-40B4-BE49-F238E27FC236}">
                <a16:creationId xmlns:a16="http://schemas.microsoft.com/office/drawing/2014/main" id="{809F1256-D028-9DA6-BD0C-A43EEFEE3FA1}"/>
              </a:ext>
            </a:extLst>
          </p:cNvPr>
          <p:cNvPicPr>
            <a:picLocks noChangeAspect="1"/>
          </p:cNvPicPr>
          <p:nvPr/>
        </p:nvPicPr>
        <p:blipFill>
          <a:blip r:embed="rId4">
            <a:extLst>
              <a:ext uri="{28A0092B-C50C-407E-A947-70E740481C1C}">
                <a14:useLocalDpi xmlns:a14="http://schemas.microsoft.com/office/drawing/2010/main" val="0"/>
              </a:ext>
            </a:extLst>
          </a:blip>
          <a:srcRect t="26805" b="30556"/>
          <a:stretch>
            <a:fillRect/>
          </a:stretch>
        </p:blipFill>
        <p:spPr>
          <a:xfrm>
            <a:off x="360000" y="1923774"/>
            <a:ext cx="11255027" cy="3392907"/>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dirty="0">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dirty="0">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1</a:t>
            </a:r>
            <a:endParaRPr sz="1600" kern="0" dirty="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similar to both objects</a:t>
            </a:r>
            <a:endParaRPr sz="1600" kern="0" dirty="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dirty="0">
                <a:solidFill>
                  <a:srgbClr val="000000"/>
                </a:solidFill>
                <a:ea typeface="Montserrat"/>
                <a:cs typeface="Arial" panose="020B0604020202020204" pitchFamily="34" charset="0"/>
                <a:sym typeface="Montserrat"/>
              </a:rPr>
              <a:t>Features of object 2</a:t>
            </a:r>
            <a:endParaRPr sz="1600" kern="0" dirty="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dirty="0">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dirty="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Definition </a:t>
            </a:r>
            <a:endParaRPr sz="2000" dirty="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dirty="0">
                <a:latin typeface="+mj-lt"/>
                <a:ea typeface="Calibri"/>
                <a:cs typeface="Arial" panose="020B0604020202020204" pitchFamily="34" charset="0"/>
                <a:sym typeface="Calibri"/>
              </a:rPr>
              <a:t>Facts/Characteristics</a:t>
            </a:r>
            <a:endParaRPr sz="2000" dirty="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dirty="0">
                <a:latin typeface="+mj-lt"/>
                <a:ea typeface="Calibri"/>
                <a:cs typeface="Arial" panose="020B0604020202020204" pitchFamily="34" charset="0"/>
                <a:sym typeface="Calibri"/>
              </a:rPr>
              <a:t>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dirty="0">
                <a:latin typeface="+mj-lt"/>
                <a:ea typeface="Calibri"/>
                <a:cs typeface="Arial" panose="020B0604020202020204" pitchFamily="34" charset="0"/>
                <a:sym typeface="Calibri"/>
              </a:rPr>
              <a:t>Non-examples</a:t>
            </a:r>
            <a:br>
              <a:rPr lang="en" sz="2000" b="1" dirty="0">
                <a:latin typeface="+mj-lt"/>
                <a:ea typeface="Calibri"/>
                <a:cs typeface="Arial" panose="020B0604020202020204" pitchFamily="34" charset="0"/>
                <a:sym typeface="Calibri"/>
              </a:rPr>
            </a:br>
            <a:endParaRPr sz="2000" dirty="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dirty="0">
                <a:latin typeface="+mj-lt"/>
                <a:ea typeface="Calibri"/>
                <a:cs typeface="Arial" panose="020B0604020202020204" pitchFamily="34" charset="0"/>
                <a:sym typeface="Calibri"/>
              </a:rPr>
              <a:t>Word, term, concept</a:t>
            </a:r>
            <a:endParaRPr dirty="0">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dirty="0">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dirty="0">
                <a:latin typeface="+mj-lt"/>
                <a:cs typeface="Arial" panose="020B0604020202020204" pitchFamily="34" charset="0"/>
                <a:sym typeface="Montserrat"/>
              </a:rPr>
              <a:t>Subject</a:t>
            </a:r>
            <a:endParaRPr sz="2000" b="1" dirty="0">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dirty="0">
                <a:solidFill>
                  <a:srgbClr val="000000"/>
                </a:solidFill>
                <a:cs typeface="Arial" panose="020B0604020202020204" pitchFamily="34" charset="0"/>
                <a:sym typeface="Montserrat Medium"/>
              </a:rPr>
              <a:t>Idea</a:t>
            </a:r>
            <a:endParaRPr sz="1400" dirty="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dirty="0">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1</a:t>
            </a:r>
            <a:endParaRPr dirty="0">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dirty="0">
                <a:ea typeface="Calibri"/>
                <a:cs typeface="Arial" panose="020B0604020202020204" pitchFamily="34" charset="0"/>
                <a:sym typeface="Calibri"/>
              </a:rPr>
              <a:t>Word</a:t>
            </a:r>
            <a:endParaRPr sz="2000" dirty="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dirty="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dirty="0">
                <a:latin typeface="+mj-lt"/>
                <a:sym typeface="Calibri"/>
              </a:rPr>
              <a:t>Concept 2</a:t>
            </a:r>
            <a:endParaRPr dirty="0">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dirty="0">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dirty="0"/>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(5)</a:t>
            </a:r>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dirty="0"/>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t>Multiple choice </a:t>
            </a:r>
            <a:r>
              <a:rPr lang="en-US" dirty="0">
                <a:solidFill>
                  <a:schemeClr val="bg1"/>
                </a:solidFill>
              </a:rPr>
              <a:t>(6)</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dirty="0">
                <a:latin typeface="+mj-lt"/>
              </a:rPr>
              <a:t>References </a:t>
            </a:r>
            <a:r>
              <a:rPr lang="en-AU" dirty="0">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dirty="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dirty="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dirty="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dirty="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dirty="0">
                <a:ln>
                  <a:noFill/>
                </a:ln>
                <a:solidFill>
                  <a:srgbClr val="CBEDFD"/>
                </a:solidFill>
                <a:effectLst/>
                <a:uLnTx/>
                <a:uFillTx/>
                <a:ea typeface="+mn-ea"/>
                <a:cs typeface="+mn-cs"/>
              </a:rPr>
              <a:t> </a:t>
            </a:r>
            <a:r>
              <a:rPr kumimoji="0" lang="en-AU" sz="1200" b="0" i="0" u="none" strike="noStrike" kern="1200" cap="none" spc="0" normalizeH="0" baseline="0" noProof="0" dirty="0">
                <a:ln>
                  <a:noFill/>
                </a:ln>
                <a:solidFill>
                  <a:srgbClr val="FFFFFF"/>
                </a:solidFill>
                <a:effectLst/>
                <a:uLnTx/>
                <a:uFillTx/>
                <a:ea typeface="+mn-ea"/>
                <a:cs typeface="+mn-cs"/>
              </a:rPr>
              <a:t>and the NSW Curriculum website </a:t>
            </a:r>
            <a:r>
              <a:rPr kumimoji="0" lang="en-AU" sz="1200" b="0" i="0" u="none" strike="noStrike" kern="1200" cap="none" spc="0" normalizeH="0" baseline="0" noProof="0" dirty="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dirty="0">
                <a:ln>
                  <a:noFill/>
                </a:ln>
                <a:solidFill>
                  <a:srgbClr val="FFFFFF"/>
                </a:solidFill>
                <a:effectLst/>
                <a:uLnTx/>
                <a:uFillTx/>
                <a:ea typeface="+mn-ea"/>
                <a:cs typeface="+mn-cs"/>
              </a:rPr>
              <a:t>.</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8" name="Content Placeholder 6">
            <a:extLst>
              <a:ext uri="{FF2B5EF4-FFF2-40B4-BE49-F238E27FC236}">
                <a16:creationId xmlns:a16="http://schemas.microsoft.com/office/drawing/2014/main" id="{9BB84ABF-E066-7F8C-444D-7AEFECDDDED8}"/>
              </a:ext>
            </a:extLst>
          </p:cNvPr>
          <p:cNvSpPr>
            <a:spLocks noGrp="1"/>
          </p:cNvSpPr>
          <p:nvPr>
            <p:ph idx="1"/>
          </p:nvPr>
        </p:nvSpPr>
        <p:spPr>
          <a:xfrm>
            <a:off x="360000" y="3428999"/>
            <a:ext cx="11484000" cy="3267001"/>
          </a:xfrm>
        </p:spPr>
        <p:txBody>
          <a:bodyPr/>
          <a:lstStyle/>
          <a:p>
            <a:r>
              <a:rPr lang="en-AU" u="sng" dirty="0">
                <a:hlinkClick r:id="rId6"/>
              </a:rPr>
              <a:t>Mathematics K–10 Syllabus</a:t>
            </a:r>
            <a:r>
              <a:rPr lang="en-AU" dirty="0"/>
              <a:t> © NSW Education Standards Authority (NESA) for and on behalf of the Crown in right of the State of New South Wales, 2022.</a:t>
            </a:r>
          </a:p>
          <a:p>
            <a:r>
              <a:rPr lang="en-AU" u="sng" dirty="0">
                <a:hlinkClick r:id="rId7"/>
              </a:rPr>
              <a:t>National Numeracy Learning Progression</a:t>
            </a:r>
            <a:r>
              <a:rPr lang="en-AU" dirty="0"/>
              <a:t> © Australian Curriculum, Assessment and Reporting Authority (ACARA) 2010 to present, unless otherwise indicated. This material was downloaded from the </a:t>
            </a:r>
            <a:r>
              <a:rPr lang="en-AU" u="sng" dirty="0">
                <a:hlinkClick r:id="rId8"/>
              </a:rPr>
              <a:t>Australian Curriculum</a:t>
            </a:r>
            <a:r>
              <a:rPr lang="en-AU" dirty="0"/>
              <a:t> website (National Numeracy Learning Progression) (</a:t>
            </a:r>
            <a:r>
              <a:rPr lang="en-AU" u="sng" dirty="0"/>
              <a:t>accessed 10 August 2025) and was not modified.</a:t>
            </a:r>
            <a:r>
              <a:rPr lang="en-AU" dirty="0"/>
              <a:t> </a:t>
            </a:r>
          </a:p>
          <a:p>
            <a:r>
              <a:rPr lang="en-AU" dirty="0"/>
              <a:t>Australian Institute of Family Studies (2021) ‘</a:t>
            </a:r>
            <a:r>
              <a:rPr lang="en-AU" u="sng" dirty="0">
                <a:hlinkClick r:id="rId9"/>
              </a:rPr>
              <a:t>Too much time on screens? Screen time effects and guidelines for children and young people</a:t>
            </a:r>
            <a:r>
              <a:rPr lang="en-AU" dirty="0"/>
              <a:t>’, </a:t>
            </a:r>
            <a:r>
              <a:rPr lang="en-AU" i="1" dirty="0"/>
              <a:t>Australian Institute of Family Studies</a:t>
            </a:r>
            <a:r>
              <a:rPr lang="en-AU" dirty="0"/>
              <a:t>, accessed 10 August 2025.</a:t>
            </a:r>
          </a:p>
          <a:p>
            <a:r>
              <a:rPr lang="en-AU" dirty="0"/>
              <a:t>International Union for Conservation of Nature and Natural Resources (2023) </a:t>
            </a:r>
            <a:r>
              <a:rPr lang="en-AU" i="1" u="sng" dirty="0">
                <a:hlinkClick r:id="rId10"/>
              </a:rPr>
              <a:t>The IUCN Red List of Threatened Species</a:t>
            </a:r>
            <a:r>
              <a:rPr lang="en-AU" dirty="0"/>
              <a:t>, IUCN Red List website, accessed 10 August 2025.</a:t>
            </a:r>
          </a:p>
          <a:p>
            <a:r>
              <a:rPr lang="en-AU" dirty="0"/>
              <a:t>McCarthy N (2020) ‘</a:t>
            </a:r>
            <a:r>
              <a:rPr lang="en-AU" u="sng" dirty="0">
                <a:hlinkClick r:id="rId11"/>
              </a:rPr>
              <a:t>Brazil Sees Worst Deforestation In A Decade</a:t>
            </a:r>
            <a:r>
              <a:rPr lang="en-AU" dirty="0"/>
              <a:t>’, </a:t>
            </a:r>
            <a:r>
              <a:rPr lang="en-AU" i="1" dirty="0"/>
              <a:t>Brazil</a:t>
            </a:r>
            <a:r>
              <a:rPr lang="en-AU" dirty="0"/>
              <a:t>, Statista website, accessed 10 August 2025.</a:t>
            </a:r>
          </a:p>
          <a:p>
            <a:r>
              <a:rPr lang="en-AU" dirty="0"/>
              <a:t>New Zealand Ministry of Education (n.d.) ‘True or false’, NZ Maths website, accessed 10 August 2025.</a:t>
            </a:r>
          </a:p>
          <a:p>
            <a:endParaRPr lang="en-AU" dirty="0"/>
          </a:p>
          <a:p>
            <a:endParaRPr lang="en-AU" dirty="0"/>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93DD9-E854-6C5D-F98F-0D0F945446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92EEC6-3336-E9E5-2CC3-4BE7EC5630C3}"/>
              </a:ext>
            </a:extLst>
          </p:cNvPr>
          <p:cNvSpPr>
            <a:spLocks noGrp="1"/>
          </p:cNvSpPr>
          <p:nvPr>
            <p:ph type="title"/>
          </p:nvPr>
        </p:nvSpPr>
        <p:spPr/>
        <p:txBody>
          <a:bodyPr/>
          <a:lstStyle/>
          <a:p>
            <a:r>
              <a:rPr lang="en-AU" dirty="0"/>
              <a:t>References </a:t>
            </a:r>
            <a:r>
              <a:rPr lang="en-AU" dirty="0">
                <a:solidFill>
                  <a:schemeClr val="accent4"/>
                </a:solidFill>
              </a:rPr>
              <a:t>(2)</a:t>
            </a:r>
          </a:p>
        </p:txBody>
      </p:sp>
      <p:sp>
        <p:nvSpPr>
          <p:cNvPr id="6" name="TextBox 5">
            <a:extLst>
              <a:ext uri="{FF2B5EF4-FFF2-40B4-BE49-F238E27FC236}">
                <a16:creationId xmlns:a16="http://schemas.microsoft.com/office/drawing/2014/main" id="{93A18F71-A4D8-C82E-665A-0BA1F8705DEE}"/>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2" name="Slide Number Placeholder 1">
            <a:extLst>
              <a:ext uri="{FF2B5EF4-FFF2-40B4-BE49-F238E27FC236}">
                <a16:creationId xmlns:a16="http://schemas.microsoft.com/office/drawing/2014/main" id="{DB1A6015-2B6E-3B4A-21BC-8F1A3C74D7AD}"/>
              </a:ext>
            </a:extLst>
          </p:cNvPr>
          <p:cNvSpPr>
            <a:spLocks noGrp="1"/>
          </p:cNvSpPr>
          <p:nvPr>
            <p:ph type="sldNum" sz="quarter" idx="10"/>
          </p:nvPr>
        </p:nvSpPr>
        <p:spPr/>
        <p:txBody>
          <a:bodyPr/>
          <a:lstStyle/>
          <a:p>
            <a:fld id="{10A01DC5-1685-4615-8240-15192985C6A2}" type="slidenum">
              <a:rPr lang="en-AU" smtClean="0"/>
              <a:pPr/>
              <a:t>69</a:t>
            </a:fld>
            <a:endParaRPr lang="en-AU"/>
          </a:p>
        </p:txBody>
      </p:sp>
      <p:sp>
        <p:nvSpPr>
          <p:cNvPr id="7" name="Content Placeholder 6">
            <a:extLst>
              <a:ext uri="{FF2B5EF4-FFF2-40B4-BE49-F238E27FC236}">
                <a16:creationId xmlns:a16="http://schemas.microsoft.com/office/drawing/2014/main" id="{C39F6042-CDB9-B929-BAD0-83BB66A988B3}"/>
              </a:ext>
            </a:extLst>
          </p:cNvPr>
          <p:cNvSpPr>
            <a:spLocks noGrp="1"/>
          </p:cNvSpPr>
          <p:nvPr>
            <p:ph idx="1"/>
          </p:nvPr>
        </p:nvSpPr>
        <p:spPr>
          <a:xfrm>
            <a:off x="360000" y="3273062"/>
            <a:ext cx="11484000" cy="3584938"/>
          </a:xfrm>
        </p:spPr>
        <p:txBody>
          <a:bodyPr/>
          <a:lstStyle/>
          <a:p>
            <a:r>
              <a:rPr lang="en-AU" dirty="0"/>
              <a:t>Santos-Longhorn A (November 27 2018) ‘</a:t>
            </a:r>
            <a:r>
              <a:rPr lang="en-AU" u="sng" dirty="0">
                <a:hlinkClick r:id="rId6"/>
              </a:rPr>
              <a:t>How Many Steps Do People Take Per Day on Average?</a:t>
            </a:r>
            <a:r>
              <a:rPr lang="en-AU" dirty="0"/>
              <a:t>’, Healthline website, accessed 10 August 2025.</a:t>
            </a:r>
          </a:p>
          <a:p>
            <a:r>
              <a:rPr lang="en-AU" dirty="0"/>
              <a:t>State of New South Wales (Department of Education) (2023) ‘</a:t>
            </a:r>
            <a:r>
              <a:rPr lang="en-AU" u="sng" dirty="0">
                <a:hlinkClick r:id="rId7"/>
              </a:rPr>
              <a:t>Counting game (by multiples of 5)</a:t>
            </a:r>
            <a:r>
              <a:rPr lang="en-AU" dirty="0"/>
              <a:t>’, </a:t>
            </a:r>
            <a:r>
              <a:rPr lang="en-AU" i="1" dirty="0"/>
              <a:t>Mathematics K-6 resources</a:t>
            </a:r>
            <a:r>
              <a:rPr lang="en-AU" dirty="0"/>
              <a:t>, NSW Department of Education website, accessed 10 August 2025.</a:t>
            </a:r>
          </a:p>
          <a:p>
            <a:r>
              <a:rPr lang="en-AU" dirty="0"/>
              <a:t>State of New South Wales (Department of Education) (2023) ‘</a:t>
            </a:r>
            <a:r>
              <a:rPr lang="en-AU" u="sng" dirty="0">
                <a:hlinkClick r:id="rId8"/>
              </a:rPr>
              <a:t>Data toss – Stage 2 and 3</a:t>
            </a:r>
            <a:r>
              <a:rPr lang="en-AU" dirty="0"/>
              <a:t>’, </a:t>
            </a:r>
            <a:r>
              <a:rPr lang="en-AU" i="1" dirty="0"/>
              <a:t>Mathematics K-6 resources</a:t>
            </a:r>
            <a:r>
              <a:rPr lang="en-AU" dirty="0"/>
              <a:t>, NSW Department of Education website, accessed 10 August 2025.</a:t>
            </a:r>
          </a:p>
          <a:p>
            <a:r>
              <a:rPr lang="en-AU" dirty="0"/>
              <a:t>State of New South Wales (Department of Education) (2023) ‘</a:t>
            </a:r>
            <a:r>
              <a:rPr lang="en-AU" u="sng" dirty="0">
                <a:hlinkClick r:id="rId9"/>
              </a:rPr>
              <a:t>Hit it (3-digit numbers)</a:t>
            </a:r>
            <a:r>
              <a:rPr lang="en-AU" dirty="0"/>
              <a:t>’, </a:t>
            </a:r>
            <a:r>
              <a:rPr lang="en-AU" i="1" dirty="0"/>
              <a:t>Mathematics K-6 resources</a:t>
            </a:r>
            <a:r>
              <a:rPr lang="en-AU" dirty="0"/>
              <a:t>, NSW Department of Education website, accessed 10 August 2025.</a:t>
            </a:r>
          </a:p>
          <a:p>
            <a:r>
              <a:rPr lang="en-AU" dirty="0"/>
              <a:t>University of Cambridge (n.d.) </a:t>
            </a:r>
            <a:r>
              <a:rPr lang="en-AU" i="1" u="sng" dirty="0">
                <a:hlinkClick r:id="rId10"/>
              </a:rPr>
              <a:t>Largest even</a:t>
            </a:r>
            <a:r>
              <a:rPr lang="en-AU" dirty="0"/>
              <a:t>, NRICH website, accessed 10 August 2025.</a:t>
            </a:r>
          </a:p>
          <a:p>
            <a:r>
              <a:rPr lang="en-AU" dirty="0"/>
              <a:t>——(n.d.) </a:t>
            </a:r>
            <a:r>
              <a:rPr lang="en-AU" i="1" u="sng" dirty="0">
                <a:hlinkClick r:id="rId11"/>
              </a:rPr>
              <a:t>Street sequences</a:t>
            </a:r>
            <a:r>
              <a:rPr lang="en-AU" dirty="0"/>
              <a:t>, NRICH website, accessed 10 August 2025.</a:t>
            </a:r>
          </a:p>
          <a:p>
            <a:endParaRPr lang="en-AU" dirty="0"/>
          </a:p>
          <a:p>
            <a:endParaRPr lang="en-AU" dirty="0"/>
          </a:p>
        </p:txBody>
      </p:sp>
    </p:spTree>
    <p:extLst>
      <p:ext uri="{BB962C8B-B14F-4D97-AF65-F5344CB8AC3E}">
        <p14:creationId xmlns:p14="http://schemas.microsoft.com/office/powerpoint/2010/main" val="303611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dirty="0">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dirty="0">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dirty="0">
                <a:solidFill>
                  <a:schemeClr val="bg1"/>
                </a:solidFill>
              </a:rPr>
              <a:t>The copyright material published in this resource is subject to the </a:t>
            </a:r>
            <a:r>
              <a:rPr lang="en-AU" sz="1200" i="1" dirty="0">
                <a:solidFill>
                  <a:schemeClr val="bg1"/>
                </a:solidFill>
              </a:rPr>
              <a:t>Copyright Act 1968</a:t>
            </a:r>
            <a:r>
              <a:rPr lang="en-AU" sz="1200" dirty="0">
                <a:solidFill>
                  <a:schemeClr val="bg1"/>
                </a:solidFill>
              </a:rPr>
              <a:t> (</a:t>
            </a:r>
            <a:r>
              <a:rPr lang="en-AU" sz="1200" dirty="0" err="1">
                <a:solidFill>
                  <a:schemeClr val="bg1"/>
                </a:solidFill>
              </a:rPr>
              <a:t>Cth</a:t>
            </a:r>
            <a:r>
              <a:rPr lang="en-AU" sz="1200" dirty="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dirty="0">
                <a:solidFill>
                  <a:schemeClr val="bg1"/>
                </a:solidFill>
              </a:rPr>
              <a:t>Copyright material available in this resource and owned by the NSW Department of Education is licensed under a </a:t>
            </a:r>
            <a:r>
              <a:rPr lang="en-AU" sz="1200" dirty="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dirty="0">
                <a:solidFill>
                  <a:schemeClr val="bg1"/>
                </a:solidFill>
              </a:rPr>
              <a:t>.</a:t>
            </a:r>
          </a:p>
          <a:p>
            <a:pPr algn="l">
              <a:lnSpc>
                <a:spcPct val="150000"/>
              </a:lnSpc>
              <a:spcAft>
                <a:spcPts val="600"/>
              </a:spcAft>
            </a:pPr>
            <a:r>
              <a:rPr lang="en-AU" sz="1200" dirty="0">
                <a:solidFill>
                  <a:schemeClr val="bg1"/>
                </a:solidFill>
              </a:rPr>
              <a:t>This license allows you to share and adapt the material for any purpose, even commercially.</a:t>
            </a:r>
          </a:p>
          <a:p>
            <a:pPr algn="l">
              <a:lnSpc>
                <a:spcPct val="150000"/>
              </a:lnSpc>
              <a:spcAft>
                <a:spcPts val="600"/>
              </a:spcAft>
            </a:pPr>
            <a:r>
              <a:rPr lang="en-AU" sz="1200" dirty="0">
                <a:solidFill>
                  <a:schemeClr val="bg1"/>
                </a:solidFill>
              </a:rPr>
              <a:t>Attribution should be given to © State of New South Wales (Department of Education), 2025.</a:t>
            </a:r>
          </a:p>
          <a:p>
            <a:pPr algn="l">
              <a:lnSpc>
                <a:spcPct val="150000"/>
              </a:lnSpc>
            </a:pPr>
            <a:r>
              <a:rPr lang="en-AU" sz="1200" dirty="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dirty="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dirty="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dirty="0">
                <a:solidFill>
                  <a:schemeClr val="bg1"/>
                </a:solidFill>
                <a:latin typeface="+mj-lt"/>
              </a:rPr>
              <a:t>Links to third-party material and websites</a:t>
            </a:r>
          </a:p>
          <a:p>
            <a:pPr algn="l">
              <a:lnSpc>
                <a:spcPct val="150000"/>
              </a:lnSpc>
              <a:spcAft>
                <a:spcPts val="600"/>
              </a:spcAft>
            </a:pPr>
            <a:r>
              <a:rPr lang="en-AU" sz="1200" dirty="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dirty="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dirty="0">
                <a:solidFill>
                  <a:schemeClr val="bg1"/>
                </a:solidFill>
              </a:rPr>
              <a:t>Copyright Act 1968 </a:t>
            </a:r>
            <a:r>
              <a:rPr lang="en-AU" sz="1200" dirty="0">
                <a:solidFill>
                  <a:schemeClr val="bg1"/>
                </a:solidFill>
              </a:rPr>
              <a:t>(</a:t>
            </a:r>
            <a:r>
              <a:rPr lang="en-AU" sz="1200" dirty="0" err="1">
                <a:solidFill>
                  <a:schemeClr val="bg1"/>
                </a:solidFill>
              </a:rPr>
              <a:t>Cth</a:t>
            </a:r>
            <a:r>
              <a:rPr lang="en-AU" sz="1200" dirty="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A79ED5-3D27-435D-B83C-BD2537F20B0A}">
  <ds:schemaRefs>
    <ds:schemaRef ds:uri="http://purl.org/dc/dcmitype/"/>
    <ds:schemaRef ds:uri="7e763d47-3c66-4c58-9425-1477fd3ccd1e"/>
    <ds:schemaRef ds:uri="60129b06-f64b-40a8-96e2-c5b2f86112b1"/>
    <ds:schemaRef ds:uri="http://schemas.microsoft.com/office/2006/documentManagement/types"/>
    <ds:schemaRef ds:uri="http://schemas.microsoft.com/office/2006/metadata/properties"/>
    <ds:schemaRef ds:uri="http://purl.org/dc/terms/"/>
    <ds:schemaRef ds:uri="http://www.w3.org/XML/1998/namespace"/>
    <ds:schemaRef ds:uri="http://schemas.microsoft.com/office/infopath/2007/PartnerControls"/>
    <ds:schemaRef ds:uri="http://schemas.openxmlformats.org/package/2006/metadata/core-properties"/>
    <ds:schemaRef ds:uri="http://purl.org/dc/elements/1.1/"/>
  </ds:schemaRefs>
</ds:datastoreItem>
</file>

<file path=customXml/itemProps2.xml><?xml version="1.0" encoding="utf-8"?>
<ds:datastoreItem xmlns:ds="http://schemas.openxmlformats.org/officeDocument/2006/customXml" ds:itemID="{8B0FD8ED-B58D-4611-B1EF-779497ADA3CB}"/>
</file>

<file path=customXml/itemProps3.xml><?xml version="1.0" encoding="utf-8"?>
<ds:datastoreItem xmlns:ds="http://schemas.openxmlformats.org/officeDocument/2006/customXml" ds:itemID="{1E00DA3D-9F99-458E-9DAB-0CE3DD324C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Template>
  <TotalTime>4679</TotalTime>
  <Words>6898</Words>
  <Application>Microsoft Office PowerPoint</Application>
  <PresentationFormat>Widescreen</PresentationFormat>
  <Paragraphs>888</Paragraphs>
  <Slides>70</Slides>
  <Notes>70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Wingdings</vt:lpstr>
      <vt:lpstr>Arial</vt:lpstr>
      <vt:lpstr>Times New Roman</vt:lpstr>
      <vt:lpstr>Calibri</vt:lpstr>
      <vt:lpstr>Montserrat</vt:lpstr>
      <vt:lpstr>Public Sans</vt:lpstr>
      <vt:lpstr>Cambria Math</vt:lpstr>
      <vt:lpstr>Public Sans Light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read and record 4-digit numbers</vt:lpstr>
      <vt:lpstr>Review of learning 2</vt:lpstr>
      <vt:lpstr>True or false (1)</vt:lpstr>
      <vt:lpstr>Short response (5)</vt:lpstr>
      <vt:lpstr>Short response (6)</vt:lpstr>
      <vt:lpstr>Short response (7)</vt:lpstr>
      <vt:lpstr>Short response (8)</vt:lpstr>
      <vt:lpstr>Activity 2 – identifying 4-digit numbers</vt:lpstr>
      <vt:lpstr>Review of learning 3</vt:lpstr>
      <vt:lpstr>Multiple choice (2)</vt:lpstr>
      <vt:lpstr>Short response (9)</vt:lpstr>
      <vt:lpstr>Short response (10)</vt:lpstr>
      <vt:lpstr>Short response (11)</vt:lpstr>
      <vt:lpstr>Short response (12)</vt:lpstr>
      <vt:lpstr>Activity 3 – partitioning numbers up to 4 digits (1)</vt:lpstr>
      <vt:lpstr>Activity 3 – partitioning numbers up to 4 digits (2)</vt:lpstr>
      <vt:lpstr>Review of learning 4</vt:lpstr>
      <vt:lpstr>True or false (2)</vt:lpstr>
      <vt:lpstr>Short response (13)</vt:lpstr>
      <vt:lpstr>Short response (14)</vt:lpstr>
      <vt:lpstr>Short response (15)</vt:lpstr>
      <vt:lpstr>Short response (16)</vt:lpstr>
      <vt:lpstr>Activity 4 – ordering 4-digit numbers</vt:lpstr>
      <vt:lpstr>Review of learning 5</vt:lpstr>
      <vt:lpstr>Multiple choice (3)</vt:lpstr>
      <vt:lpstr>Short response (17)</vt:lpstr>
      <vt:lpstr>Short response (18)</vt:lpstr>
      <vt:lpstr>Short response (19)</vt:lpstr>
      <vt:lpstr>Short response (20)</vt:lpstr>
      <vt:lpstr>Activity 5 – number patterns and multiples</vt:lpstr>
      <vt:lpstr>Review of learning 6</vt:lpstr>
      <vt:lpstr>True or false (3)</vt:lpstr>
      <vt:lpstr>Short response (21)</vt:lpstr>
      <vt:lpstr>Short response (22)</vt:lpstr>
      <vt:lpstr>Short response (23)</vt:lpstr>
      <vt:lpstr>Short response (24)</vt:lpstr>
      <vt:lpstr>Activity 6 – largest even and odd numbers</vt:lpstr>
      <vt:lpstr>Review of learning 7</vt:lpstr>
      <vt:lpstr>Multiple choice (4)</vt:lpstr>
      <vt:lpstr>Short response (25)</vt:lpstr>
      <vt:lpstr>Short response (26)</vt:lpstr>
      <vt:lpstr>Short response (27)</vt:lpstr>
      <vt:lpstr>Short response (28)</vt:lpstr>
      <vt:lpstr>Activity 7 – number patterns</vt:lpstr>
      <vt:lpstr>Review of learning 8</vt:lpstr>
      <vt:lpstr>True or false (4)</vt:lpstr>
      <vt:lpstr>Short response (29)</vt:lpstr>
      <vt:lpstr>Short response (30)</vt:lpstr>
      <vt:lpstr>Short response (31)</vt:lpstr>
      <vt:lpstr>Short response (32)</vt:lpstr>
      <vt:lpstr>Activity 8 – patterns that increase and decrease</vt:lpstr>
      <vt:lpstr>Double Venn diagram</vt:lpstr>
      <vt:lpstr>Frayer</vt:lpstr>
      <vt:lpstr>Spider map</vt:lpstr>
      <vt:lpstr>Cline</vt:lpstr>
      <vt:lpstr>Compare and contrast</vt:lpstr>
      <vt:lpstr>Multiple choice (5)</vt:lpstr>
      <vt:lpstr>Multiple choice (6)</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11</cp:revision>
  <dcterms:created xsi:type="dcterms:W3CDTF">2025-08-01T06:37:50Z</dcterms:created>
  <dcterms:modified xsi:type="dcterms:W3CDTF">2025-12-01T01:49:41Z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